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1.xml" ContentType="application/vnd.openxmlformats-officedocument.drawingml.chartshapes+xml"/>
  <Override PartName="/ppt/notesSlides/notesSlide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2.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theme/themeOverride1.xml" ContentType="application/vnd.openxmlformats-officedocument.themeOverrid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theme/themeOverride2.xml" ContentType="application/vnd.openxmlformats-officedocument.themeOverride+xml"/>
  <Override PartName="/ppt/notesSlides/notesSlide2.xml" ContentType="application/vnd.openxmlformats-officedocument.presentationml.notesSlide+xml"/>
  <Override PartName="/ppt/theme/themeOverride3.xml" ContentType="application/vnd.openxmlformats-officedocument.themeOverrid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2">
  <p:sldMasterIdLst>
    <p:sldMasterId id="2147483648" r:id="rId1"/>
  </p:sldMasterIdLst>
  <p:notesMasterIdLst>
    <p:notesMasterId r:id="rId28"/>
  </p:notesMasterIdLst>
  <p:handoutMasterIdLst>
    <p:handoutMasterId r:id="rId29"/>
  </p:handoutMasterIdLst>
  <p:sldIdLst>
    <p:sldId id="2134804413" r:id="rId2"/>
    <p:sldId id="2134804414" r:id="rId3"/>
    <p:sldId id="2134804408" r:id="rId4"/>
    <p:sldId id="2134804409" r:id="rId5"/>
    <p:sldId id="2134804395" r:id="rId6"/>
    <p:sldId id="2134804398" r:id="rId7"/>
    <p:sldId id="2134804378" r:id="rId8"/>
    <p:sldId id="2134804389" r:id="rId9"/>
    <p:sldId id="2134804410" r:id="rId10"/>
    <p:sldId id="2134804405" r:id="rId11"/>
    <p:sldId id="2134804412" r:id="rId12"/>
    <p:sldId id="2134804396" r:id="rId13"/>
    <p:sldId id="2134804387" r:id="rId14"/>
    <p:sldId id="2134804411" r:id="rId15"/>
    <p:sldId id="2134804355" r:id="rId16"/>
    <p:sldId id="2134804360" r:id="rId17"/>
    <p:sldId id="1438" r:id="rId18"/>
    <p:sldId id="2134804385" r:id="rId19"/>
    <p:sldId id="1424" r:id="rId20"/>
    <p:sldId id="2134804388" r:id="rId21"/>
    <p:sldId id="2134804390" r:id="rId22"/>
    <p:sldId id="2134804316" r:id="rId23"/>
    <p:sldId id="2134804403" r:id="rId24"/>
    <p:sldId id="2134804402" r:id="rId25"/>
    <p:sldId id="2134804404" r:id="rId26"/>
    <p:sldId id="2134804354" r:id="rId27"/>
  </p:sldIdLst>
  <p:sldSz cx="12192000" cy="6858000"/>
  <p:notesSz cx="6797675" cy="9926638"/>
  <p:custDataLst>
    <p:tags r:id="rId3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4D27BEB-33D4-576E-988A-32969632F6C9}" name="Neelam Nizar Verjee" initials="NV" userId="S::nverjee@worldbank.org::e1d5fb58-5d01-4929-9734-88be1983e7e5"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Paulo Guilherme Correa" initials="PGC" lastIdx="0" clrIdx="0">
    <p:extLst>
      <p:ext uri="{19B8F6BF-5375-455C-9EA6-DF929625EA0E}">
        <p15:presenceInfo xmlns:p15="http://schemas.microsoft.com/office/powerpoint/2012/main" userId="S::pcorrea@worldbank.org::870f2a1b-8f05-43bf-bddb-3b63d1bf3b8a" providerId="AD"/>
      </p:ext>
    </p:extLst>
  </p:cmAuthor>
  <p:cmAuthor id="2" name="Fernanda Ailina Pedro Massarongo Chivulele" initials="FAPMC" lastIdx="3" clrIdx="1">
    <p:extLst>
      <p:ext uri="{19B8F6BF-5375-455C-9EA6-DF929625EA0E}">
        <p15:presenceInfo xmlns:p15="http://schemas.microsoft.com/office/powerpoint/2012/main" userId="S::fmassarongochivu@worldbank.org::e7ac58eb-e9b2-4ac1-8c7e-c4290564e50d"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A734829-6AEE-448D-92E1-3217DCE0D28A}" v="60" dt="2022-06-06T14:09:33.84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36" autoAdjust="0"/>
    <p:restoredTop sz="93239" autoAdjust="0"/>
  </p:normalViewPr>
  <p:slideViewPr>
    <p:cSldViewPr snapToGrid="0">
      <p:cViewPr varScale="1">
        <p:scale>
          <a:sx n="89" d="100"/>
          <a:sy n="89" d="100"/>
        </p:scale>
        <p:origin x="1410" y="96"/>
      </p:cViewPr>
      <p:guideLst/>
    </p:cSldViewPr>
  </p:slideViewPr>
  <p:notesTextViewPr>
    <p:cViewPr>
      <p:scale>
        <a:sx n="3" d="2"/>
        <a:sy n="3" d="2"/>
      </p:scale>
      <p:origin x="0" y="0"/>
    </p:cViewPr>
  </p:notesTextViewPr>
  <p:notesViewPr>
    <p:cSldViewPr snapToGrid="0">
      <p:cViewPr varScale="1">
        <p:scale>
          <a:sx n="44" d="100"/>
          <a:sy n="44" d="100"/>
        </p:scale>
        <p:origin x="2852" y="2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38"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ags" Target="tags/tag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ulo Guilherme Correa" userId="870f2a1b-8f05-43bf-bddb-3b63d1bf3b8a" providerId="ADAL" clId="{3A734829-6AEE-448D-92E1-3217DCE0D28A}"/>
    <pc:docChg chg="undo custSel modSld">
      <pc:chgData name="Paulo Guilherme Correa" userId="870f2a1b-8f05-43bf-bddb-3b63d1bf3b8a" providerId="ADAL" clId="{3A734829-6AEE-448D-92E1-3217DCE0D28A}" dt="2022-06-07T12:24:07.435" v="376" actId="6549"/>
      <pc:docMkLst>
        <pc:docMk/>
      </pc:docMkLst>
      <pc:sldChg chg="modSp mod">
        <pc:chgData name="Paulo Guilherme Correa" userId="870f2a1b-8f05-43bf-bddb-3b63d1bf3b8a" providerId="ADAL" clId="{3A734829-6AEE-448D-92E1-3217DCE0D28A}" dt="2022-06-06T14:12:56.755" v="201" actId="1076"/>
        <pc:sldMkLst>
          <pc:docMk/>
          <pc:sldMk cId="164693797" sldId="1438"/>
        </pc:sldMkLst>
        <pc:spChg chg="mod">
          <ac:chgData name="Paulo Guilherme Correa" userId="870f2a1b-8f05-43bf-bddb-3b63d1bf3b8a" providerId="ADAL" clId="{3A734829-6AEE-448D-92E1-3217DCE0D28A}" dt="2022-06-06T14:12:56.755" v="201" actId="1076"/>
          <ac:spMkLst>
            <pc:docMk/>
            <pc:sldMk cId="164693797" sldId="1438"/>
            <ac:spMk id="34" creationId="{02498E19-A5E1-4FF3-8593-77DDFB633840}"/>
          </ac:spMkLst>
        </pc:spChg>
      </pc:sldChg>
      <pc:sldChg chg="modSp mod">
        <pc:chgData name="Paulo Guilherme Correa" userId="870f2a1b-8f05-43bf-bddb-3b63d1bf3b8a" providerId="ADAL" clId="{3A734829-6AEE-448D-92E1-3217DCE0D28A}" dt="2022-06-06T14:19:32.002" v="276" actId="1076"/>
        <pc:sldMkLst>
          <pc:docMk/>
          <pc:sldMk cId="228573786" sldId="2134804316"/>
        </pc:sldMkLst>
        <pc:spChg chg="mod">
          <ac:chgData name="Paulo Guilherme Correa" userId="870f2a1b-8f05-43bf-bddb-3b63d1bf3b8a" providerId="ADAL" clId="{3A734829-6AEE-448D-92E1-3217DCE0D28A}" dt="2022-06-06T14:19:32.002" v="276" actId="1076"/>
          <ac:spMkLst>
            <pc:docMk/>
            <pc:sldMk cId="228573786" sldId="2134804316"/>
            <ac:spMk id="9" creationId="{EF7E496C-CAB6-4016-A81A-D54963B89A2D}"/>
          </ac:spMkLst>
        </pc:spChg>
      </pc:sldChg>
      <pc:sldChg chg="modSp mod">
        <pc:chgData name="Paulo Guilherme Correa" userId="870f2a1b-8f05-43bf-bddb-3b63d1bf3b8a" providerId="ADAL" clId="{3A734829-6AEE-448D-92E1-3217DCE0D28A}" dt="2022-06-06T13:53:06.682" v="143" actId="113"/>
        <pc:sldMkLst>
          <pc:docMk/>
          <pc:sldMk cId="2098239625" sldId="2134804378"/>
        </pc:sldMkLst>
        <pc:spChg chg="mod">
          <ac:chgData name="Paulo Guilherme Correa" userId="870f2a1b-8f05-43bf-bddb-3b63d1bf3b8a" providerId="ADAL" clId="{3A734829-6AEE-448D-92E1-3217DCE0D28A}" dt="2022-06-06T13:53:06.682" v="143" actId="113"/>
          <ac:spMkLst>
            <pc:docMk/>
            <pc:sldMk cId="2098239625" sldId="2134804378"/>
            <ac:spMk id="7" creationId="{FF5C214D-5EAE-4BCF-B630-4930BE12178E}"/>
          </ac:spMkLst>
        </pc:spChg>
      </pc:sldChg>
      <pc:sldChg chg="modSp mod">
        <pc:chgData name="Paulo Guilherme Correa" userId="870f2a1b-8f05-43bf-bddb-3b63d1bf3b8a" providerId="ADAL" clId="{3A734829-6AEE-448D-92E1-3217DCE0D28A}" dt="2022-06-06T14:13:35.381" v="206" actId="5793"/>
        <pc:sldMkLst>
          <pc:docMk/>
          <pc:sldMk cId="2480337501" sldId="2134804385"/>
        </pc:sldMkLst>
        <pc:spChg chg="mod">
          <ac:chgData name="Paulo Guilherme Correa" userId="870f2a1b-8f05-43bf-bddb-3b63d1bf3b8a" providerId="ADAL" clId="{3A734829-6AEE-448D-92E1-3217DCE0D28A}" dt="2022-06-06T14:13:35.381" v="206" actId="5793"/>
          <ac:spMkLst>
            <pc:docMk/>
            <pc:sldMk cId="2480337501" sldId="2134804385"/>
            <ac:spMk id="3" creationId="{D4328182-DCAC-44BE-B53C-25FEF02C2D3B}"/>
          </ac:spMkLst>
        </pc:spChg>
      </pc:sldChg>
      <pc:sldChg chg="modSp mod">
        <pc:chgData name="Paulo Guilherme Correa" userId="870f2a1b-8f05-43bf-bddb-3b63d1bf3b8a" providerId="ADAL" clId="{3A734829-6AEE-448D-92E1-3217DCE0D28A}" dt="2022-06-07T12:24:07.435" v="376" actId="6549"/>
        <pc:sldMkLst>
          <pc:docMk/>
          <pc:sldMk cId="1591212298" sldId="2134804387"/>
        </pc:sldMkLst>
        <pc:spChg chg="mod">
          <ac:chgData name="Paulo Guilherme Correa" userId="870f2a1b-8f05-43bf-bddb-3b63d1bf3b8a" providerId="ADAL" clId="{3A734829-6AEE-448D-92E1-3217DCE0D28A}" dt="2022-06-07T12:24:07.435" v="376" actId="6549"/>
          <ac:spMkLst>
            <pc:docMk/>
            <pc:sldMk cId="1591212298" sldId="2134804387"/>
            <ac:spMk id="3" creationId="{43620D38-256E-4067-AE12-400CAF4C9E44}"/>
          </ac:spMkLst>
        </pc:spChg>
      </pc:sldChg>
      <pc:sldChg chg="modSp mod">
        <pc:chgData name="Paulo Guilherme Correa" userId="870f2a1b-8f05-43bf-bddb-3b63d1bf3b8a" providerId="ADAL" clId="{3A734829-6AEE-448D-92E1-3217DCE0D28A}" dt="2022-06-06T14:17:26.813" v="214" actId="1076"/>
        <pc:sldMkLst>
          <pc:docMk/>
          <pc:sldMk cId="3822225861" sldId="2134804388"/>
        </pc:sldMkLst>
        <pc:spChg chg="mod">
          <ac:chgData name="Paulo Guilherme Correa" userId="870f2a1b-8f05-43bf-bddb-3b63d1bf3b8a" providerId="ADAL" clId="{3A734829-6AEE-448D-92E1-3217DCE0D28A}" dt="2022-06-06T14:17:23.377" v="213" actId="1076"/>
          <ac:spMkLst>
            <pc:docMk/>
            <pc:sldMk cId="3822225861" sldId="2134804388"/>
            <ac:spMk id="2" creationId="{23A3676B-4603-455B-9BA6-AAFD3FF0ACAB}"/>
          </ac:spMkLst>
        </pc:spChg>
        <pc:spChg chg="mod">
          <ac:chgData name="Paulo Guilherme Correa" userId="870f2a1b-8f05-43bf-bddb-3b63d1bf3b8a" providerId="ADAL" clId="{3A734829-6AEE-448D-92E1-3217DCE0D28A}" dt="2022-06-06T14:17:26.813" v="214" actId="1076"/>
          <ac:spMkLst>
            <pc:docMk/>
            <pc:sldMk cId="3822225861" sldId="2134804388"/>
            <ac:spMk id="3" creationId="{95DD31EA-D262-4017-A859-112A4B3C2A17}"/>
          </ac:spMkLst>
        </pc:spChg>
      </pc:sldChg>
      <pc:sldChg chg="modSp mod">
        <pc:chgData name="Paulo Guilherme Correa" userId="870f2a1b-8f05-43bf-bddb-3b63d1bf3b8a" providerId="ADAL" clId="{3A734829-6AEE-448D-92E1-3217DCE0D28A}" dt="2022-06-06T13:55:15.945" v="149" actId="20577"/>
        <pc:sldMkLst>
          <pc:docMk/>
          <pc:sldMk cId="3355522750" sldId="2134804389"/>
        </pc:sldMkLst>
        <pc:spChg chg="mod">
          <ac:chgData name="Paulo Guilherme Correa" userId="870f2a1b-8f05-43bf-bddb-3b63d1bf3b8a" providerId="ADAL" clId="{3A734829-6AEE-448D-92E1-3217DCE0D28A}" dt="2022-06-06T13:55:15.945" v="149" actId="20577"/>
          <ac:spMkLst>
            <pc:docMk/>
            <pc:sldMk cId="3355522750" sldId="2134804389"/>
            <ac:spMk id="6" creationId="{113BE710-35E0-4B80-8E28-6785528D3EDB}"/>
          </ac:spMkLst>
        </pc:spChg>
      </pc:sldChg>
      <pc:sldChg chg="modSp mod">
        <pc:chgData name="Paulo Guilherme Correa" userId="870f2a1b-8f05-43bf-bddb-3b63d1bf3b8a" providerId="ADAL" clId="{3A734829-6AEE-448D-92E1-3217DCE0D28A}" dt="2022-06-06T14:18:19.701" v="222" actId="20577"/>
        <pc:sldMkLst>
          <pc:docMk/>
          <pc:sldMk cId="1963031688" sldId="2134804390"/>
        </pc:sldMkLst>
        <pc:spChg chg="mod">
          <ac:chgData name="Paulo Guilherme Correa" userId="870f2a1b-8f05-43bf-bddb-3b63d1bf3b8a" providerId="ADAL" clId="{3A734829-6AEE-448D-92E1-3217DCE0D28A}" dt="2022-06-06T14:17:35.081" v="215" actId="1076"/>
          <ac:spMkLst>
            <pc:docMk/>
            <pc:sldMk cId="1963031688" sldId="2134804390"/>
            <ac:spMk id="2" creationId="{31E02326-9E63-4DF0-AF0D-21FCFEC54D28}"/>
          </ac:spMkLst>
        </pc:spChg>
        <pc:spChg chg="mod">
          <ac:chgData name="Paulo Guilherme Correa" userId="870f2a1b-8f05-43bf-bddb-3b63d1bf3b8a" providerId="ADAL" clId="{3A734829-6AEE-448D-92E1-3217DCE0D28A}" dt="2022-06-06T14:18:19.701" v="222" actId="20577"/>
          <ac:spMkLst>
            <pc:docMk/>
            <pc:sldMk cId="1963031688" sldId="2134804390"/>
            <ac:spMk id="3" creationId="{CB65E0F7-FCC9-4A64-911C-50F2460F3EEB}"/>
          </ac:spMkLst>
        </pc:spChg>
      </pc:sldChg>
      <pc:sldChg chg="modSp mod">
        <pc:chgData name="Paulo Guilherme Correa" userId="870f2a1b-8f05-43bf-bddb-3b63d1bf3b8a" providerId="ADAL" clId="{3A734829-6AEE-448D-92E1-3217DCE0D28A}" dt="2022-06-06T13:53:34.707" v="145" actId="27918"/>
        <pc:sldMkLst>
          <pc:docMk/>
          <pc:sldMk cId="279434536" sldId="2134804395"/>
        </pc:sldMkLst>
        <pc:spChg chg="mod">
          <ac:chgData name="Paulo Guilherme Correa" userId="870f2a1b-8f05-43bf-bddb-3b63d1bf3b8a" providerId="ADAL" clId="{3A734829-6AEE-448D-92E1-3217DCE0D28A}" dt="2022-06-06T13:48:58.446" v="93" actId="20577"/>
          <ac:spMkLst>
            <pc:docMk/>
            <pc:sldMk cId="279434536" sldId="2134804395"/>
            <ac:spMk id="7" creationId="{FF5C214D-5EAE-4BCF-B630-4930BE12178E}"/>
          </ac:spMkLst>
        </pc:spChg>
        <pc:graphicFrameChg chg="mod">
          <ac:chgData name="Paulo Guilherme Correa" userId="870f2a1b-8f05-43bf-bddb-3b63d1bf3b8a" providerId="ADAL" clId="{3A734829-6AEE-448D-92E1-3217DCE0D28A}" dt="2022-06-06T13:52:04.079" v="139" actId="20577"/>
          <ac:graphicFrameMkLst>
            <pc:docMk/>
            <pc:sldMk cId="279434536" sldId="2134804395"/>
            <ac:graphicFrameMk id="9" creationId="{410C8409-F0C1-4A06-B33B-032AB030B33D}"/>
          </ac:graphicFrameMkLst>
        </pc:graphicFrameChg>
        <pc:graphicFrameChg chg="mod">
          <ac:chgData name="Paulo Guilherme Correa" userId="870f2a1b-8f05-43bf-bddb-3b63d1bf3b8a" providerId="ADAL" clId="{3A734829-6AEE-448D-92E1-3217DCE0D28A}" dt="2022-06-06T13:51:51.318" v="100" actId="20577"/>
          <ac:graphicFrameMkLst>
            <pc:docMk/>
            <pc:sldMk cId="279434536" sldId="2134804395"/>
            <ac:graphicFrameMk id="11" creationId="{C72742A9-AFDE-48B8-85B0-5CF91FC7EC7A}"/>
          </ac:graphicFrameMkLst>
        </pc:graphicFrameChg>
      </pc:sldChg>
      <pc:sldChg chg="modSp mod">
        <pc:chgData name="Paulo Guilherme Correa" userId="870f2a1b-8f05-43bf-bddb-3b63d1bf3b8a" providerId="ADAL" clId="{3A734829-6AEE-448D-92E1-3217DCE0D28A}" dt="2022-06-06T14:10:39.028" v="200" actId="1076"/>
        <pc:sldMkLst>
          <pc:docMk/>
          <pc:sldMk cId="893228102" sldId="2134804396"/>
        </pc:sldMkLst>
        <pc:spChg chg="mod">
          <ac:chgData name="Paulo Guilherme Correa" userId="870f2a1b-8f05-43bf-bddb-3b63d1bf3b8a" providerId="ADAL" clId="{3A734829-6AEE-448D-92E1-3217DCE0D28A}" dt="2022-06-06T14:10:34.407" v="198" actId="14100"/>
          <ac:spMkLst>
            <pc:docMk/>
            <pc:sldMk cId="893228102" sldId="2134804396"/>
            <ac:spMk id="3" creationId="{D13B107D-9314-4019-A8AC-8BDA69837A5E}"/>
          </ac:spMkLst>
        </pc:spChg>
        <pc:spChg chg="mod">
          <ac:chgData name="Paulo Guilherme Correa" userId="870f2a1b-8f05-43bf-bddb-3b63d1bf3b8a" providerId="ADAL" clId="{3A734829-6AEE-448D-92E1-3217DCE0D28A}" dt="2022-06-06T14:10:39.028" v="200" actId="1076"/>
          <ac:spMkLst>
            <pc:docMk/>
            <pc:sldMk cId="893228102" sldId="2134804396"/>
            <ac:spMk id="9" creationId="{6122B999-DE86-4BC0-AC20-DE5BD83111C8}"/>
          </ac:spMkLst>
        </pc:spChg>
        <pc:graphicFrameChg chg="mod modGraphic">
          <ac:chgData name="Paulo Guilherme Correa" userId="870f2a1b-8f05-43bf-bddb-3b63d1bf3b8a" providerId="ADAL" clId="{3A734829-6AEE-448D-92E1-3217DCE0D28A}" dt="2022-06-06T14:10:37.211" v="199" actId="14100"/>
          <ac:graphicFrameMkLst>
            <pc:docMk/>
            <pc:sldMk cId="893228102" sldId="2134804396"/>
            <ac:graphicFrameMk id="7" creationId="{32DB655D-42A7-4817-899F-7D22316FD394}"/>
          </ac:graphicFrameMkLst>
        </pc:graphicFrameChg>
      </pc:sldChg>
      <pc:sldChg chg="modSp">
        <pc:chgData name="Paulo Guilherme Correa" userId="870f2a1b-8f05-43bf-bddb-3b63d1bf3b8a" providerId="ADAL" clId="{3A734829-6AEE-448D-92E1-3217DCE0D28A}" dt="2022-06-06T13:52:33.621" v="141" actId="14100"/>
        <pc:sldMkLst>
          <pc:docMk/>
          <pc:sldMk cId="1570841410" sldId="2134804398"/>
        </pc:sldMkLst>
        <pc:graphicFrameChg chg="mod">
          <ac:chgData name="Paulo Guilherme Correa" userId="870f2a1b-8f05-43bf-bddb-3b63d1bf3b8a" providerId="ADAL" clId="{3A734829-6AEE-448D-92E1-3217DCE0D28A}" dt="2022-06-06T13:52:33.621" v="141" actId="14100"/>
          <ac:graphicFrameMkLst>
            <pc:docMk/>
            <pc:sldMk cId="1570841410" sldId="2134804398"/>
            <ac:graphicFrameMk id="5" creationId="{C9A68FB0-9030-48F4-90BB-6738D978B96B}"/>
          </ac:graphicFrameMkLst>
        </pc:graphicFrameChg>
        <pc:graphicFrameChg chg="mod">
          <ac:chgData name="Paulo Guilherme Correa" userId="870f2a1b-8f05-43bf-bddb-3b63d1bf3b8a" providerId="ADAL" clId="{3A734829-6AEE-448D-92E1-3217DCE0D28A}" dt="2022-06-06T13:52:31.181" v="140" actId="14100"/>
          <ac:graphicFrameMkLst>
            <pc:docMk/>
            <pc:sldMk cId="1570841410" sldId="2134804398"/>
            <ac:graphicFrameMk id="7" creationId="{CD771C82-20D9-438B-98BF-9F1AA3BE667C}"/>
          </ac:graphicFrameMkLst>
        </pc:graphicFrameChg>
      </pc:sldChg>
      <pc:sldChg chg="modSp mod modNotesTx">
        <pc:chgData name="Paulo Guilherme Correa" userId="870f2a1b-8f05-43bf-bddb-3b63d1bf3b8a" providerId="ADAL" clId="{3A734829-6AEE-448D-92E1-3217DCE0D28A}" dt="2022-06-06T14:20:11.608" v="279" actId="20577"/>
        <pc:sldMkLst>
          <pc:docMk/>
          <pc:sldMk cId="336790590" sldId="2134804402"/>
        </pc:sldMkLst>
        <pc:spChg chg="mod">
          <ac:chgData name="Paulo Guilherme Correa" userId="870f2a1b-8f05-43bf-bddb-3b63d1bf3b8a" providerId="ADAL" clId="{3A734829-6AEE-448D-92E1-3217DCE0D28A}" dt="2022-06-06T14:20:07.989" v="278" actId="20577"/>
          <ac:spMkLst>
            <pc:docMk/>
            <pc:sldMk cId="336790590" sldId="2134804402"/>
            <ac:spMk id="3" creationId="{2D9E4DBD-86F0-4B7F-911F-E98F78863434}"/>
          </ac:spMkLst>
        </pc:spChg>
      </pc:sldChg>
      <pc:sldChg chg="modSp mod">
        <pc:chgData name="Paulo Guilherme Correa" userId="870f2a1b-8f05-43bf-bddb-3b63d1bf3b8a" providerId="ADAL" clId="{3A734829-6AEE-448D-92E1-3217DCE0D28A}" dt="2022-06-06T14:19:56.615" v="277" actId="20577"/>
        <pc:sldMkLst>
          <pc:docMk/>
          <pc:sldMk cId="1294046964" sldId="2134804403"/>
        </pc:sldMkLst>
        <pc:spChg chg="mod">
          <ac:chgData name="Paulo Guilherme Correa" userId="870f2a1b-8f05-43bf-bddb-3b63d1bf3b8a" providerId="ADAL" clId="{3A734829-6AEE-448D-92E1-3217DCE0D28A}" dt="2022-06-06T14:19:56.615" v="277" actId="20577"/>
          <ac:spMkLst>
            <pc:docMk/>
            <pc:sldMk cId="1294046964" sldId="2134804403"/>
            <ac:spMk id="3" creationId="{0AAF4E04-EEC2-485A-878B-D07B4647ED1C}"/>
          </ac:spMkLst>
        </pc:spChg>
      </pc:sldChg>
      <pc:sldChg chg="modNotesTx">
        <pc:chgData name="Paulo Guilherme Correa" userId="870f2a1b-8f05-43bf-bddb-3b63d1bf3b8a" providerId="ADAL" clId="{3A734829-6AEE-448D-92E1-3217DCE0D28A}" dt="2022-06-06T14:20:28.606" v="280" actId="20577"/>
        <pc:sldMkLst>
          <pc:docMk/>
          <pc:sldMk cId="502533941" sldId="2134804404"/>
        </pc:sldMkLst>
      </pc:sldChg>
      <pc:sldChg chg="modSp mod">
        <pc:chgData name="Paulo Guilherme Correa" userId="870f2a1b-8f05-43bf-bddb-3b63d1bf3b8a" providerId="ADAL" clId="{3A734829-6AEE-448D-92E1-3217DCE0D28A}" dt="2022-06-06T13:55:37.735" v="150" actId="113"/>
        <pc:sldMkLst>
          <pc:docMk/>
          <pc:sldMk cId="1765248067" sldId="2134804405"/>
        </pc:sldMkLst>
        <pc:spChg chg="mod">
          <ac:chgData name="Paulo Guilherme Correa" userId="870f2a1b-8f05-43bf-bddb-3b63d1bf3b8a" providerId="ADAL" clId="{3A734829-6AEE-448D-92E1-3217DCE0D28A}" dt="2022-06-06T13:55:37.735" v="150" actId="113"/>
          <ac:spMkLst>
            <pc:docMk/>
            <pc:sldMk cId="1765248067" sldId="2134804405"/>
            <ac:spMk id="3" creationId="{AD41F2BB-97F4-4383-8764-F002A22E027D}"/>
          </ac:spMkLst>
        </pc:spChg>
      </pc:sldChg>
      <pc:sldChg chg="modSp mod">
        <pc:chgData name="Paulo Guilherme Correa" userId="870f2a1b-8f05-43bf-bddb-3b63d1bf3b8a" providerId="ADAL" clId="{3A734829-6AEE-448D-92E1-3217DCE0D28A}" dt="2022-06-06T13:56:40.231" v="158" actId="20577"/>
        <pc:sldMkLst>
          <pc:docMk/>
          <pc:sldMk cId="1828922060" sldId="2134804409"/>
        </pc:sldMkLst>
        <pc:spChg chg="mod">
          <ac:chgData name="Paulo Guilherme Correa" userId="870f2a1b-8f05-43bf-bddb-3b63d1bf3b8a" providerId="ADAL" clId="{3A734829-6AEE-448D-92E1-3217DCE0D28A}" dt="2022-06-06T13:56:40.231" v="158" actId="20577"/>
          <ac:spMkLst>
            <pc:docMk/>
            <pc:sldMk cId="1828922060" sldId="2134804409"/>
            <ac:spMk id="3" creationId="{A71C13BF-78D7-4831-B2B9-0342F47476B7}"/>
          </ac:spMkLst>
        </pc:spChg>
      </pc:sldChg>
      <pc:sldChg chg="modSp mod">
        <pc:chgData name="Paulo Guilherme Correa" userId="870f2a1b-8f05-43bf-bddb-3b63d1bf3b8a" providerId="ADAL" clId="{3A734829-6AEE-448D-92E1-3217DCE0D28A}" dt="2022-06-06T13:57:55.044" v="159" actId="20577"/>
        <pc:sldMkLst>
          <pc:docMk/>
          <pc:sldMk cId="3817913634" sldId="2134804410"/>
        </pc:sldMkLst>
        <pc:spChg chg="mod">
          <ac:chgData name="Paulo Guilherme Correa" userId="870f2a1b-8f05-43bf-bddb-3b63d1bf3b8a" providerId="ADAL" clId="{3A734829-6AEE-448D-92E1-3217DCE0D28A}" dt="2022-06-06T13:57:55.044" v="159" actId="20577"/>
          <ac:spMkLst>
            <pc:docMk/>
            <pc:sldMk cId="3817913634" sldId="2134804410"/>
            <ac:spMk id="3" creationId="{A71C13BF-78D7-4831-B2B9-0342F47476B7}"/>
          </ac:spMkLst>
        </pc:spChg>
      </pc:sldChg>
      <pc:sldChg chg="modSp mod">
        <pc:chgData name="Paulo Guilherme Correa" userId="870f2a1b-8f05-43bf-bddb-3b63d1bf3b8a" providerId="ADAL" clId="{3A734829-6AEE-448D-92E1-3217DCE0D28A}" dt="2022-06-06T13:58:00.042" v="160" actId="20577"/>
        <pc:sldMkLst>
          <pc:docMk/>
          <pc:sldMk cId="1566909184" sldId="2134804411"/>
        </pc:sldMkLst>
        <pc:spChg chg="mod">
          <ac:chgData name="Paulo Guilherme Correa" userId="870f2a1b-8f05-43bf-bddb-3b63d1bf3b8a" providerId="ADAL" clId="{3A734829-6AEE-448D-92E1-3217DCE0D28A}" dt="2022-06-06T13:58:00.042" v="160" actId="20577"/>
          <ac:spMkLst>
            <pc:docMk/>
            <pc:sldMk cId="1566909184" sldId="2134804411"/>
            <ac:spMk id="3" creationId="{A71C13BF-78D7-4831-B2B9-0342F47476B7}"/>
          </ac:spMkLst>
        </pc:spChg>
      </pc:sldChg>
      <pc:sldChg chg="modSp mod">
        <pc:chgData name="Paulo Guilherme Correa" userId="870f2a1b-8f05-43bf-bddb-3b63d1bf3b8a" providerId="ADAL" clId="{3A734829-6AEE-448D-92E1-3217DCE0D28A}" dt="2022-06-06T14:09:56.134" v="194" actId="14100"/>
        <pc:sldMkLst>
          <pc:docMk/>
          <pc:sldMk cId="594525742" sldId="2134804412"/>
        </pc:sldMkLst>
        <pc:spChg chg="mod">
          <ac:chgData name="Paulo Guilherme Correa" userId="870f2a1b-8f05-43bf-bddb-3b63d1bf3b8a" providerId="ADAL" clId="{3A734829-6AEE-448D-92E1-3217DCE0D28A}" dt="2022-06-06T14:09:56.134" v="194" actId="14100"/>
          <ac:spMkLst>
            <pc:docMk/>
            <pc:sldMk cId="594525742" sldId="2134804412"/>
            <ac:spMk id="3" creationId="{AD41F2BB-97F4-4383-8764-F002A22E027D}"/>
          </ac:spMkLst>
        </pc:spChg>
        <pc:spChg chg="mod">
          <ac:chgData name="Paulo Guilherme Correa" userId="870f2a1b-8f05-43bf-bddb-3b63d1bf3b8a" providerId="ADAL" clId="{3A734829-6AEE-448D-92E1-3217DCE0D28A}" dt="2022-06-06T14:09:30.434" v="192" actId="1076"/>
          <ac:spMkLst>
            <pc:docMk/>
            <pc:sldMk cId="594525742" sldId="2134804412"/>
            <ac:spMk id="10" creationId="{2F08AA56-3BA1-41C9-8EC2-A2B8C5546FC8}"/>
          </ac:spMkLst>
        </pc:spChg>
        <pc:graphicFrameChg chg="mod">
          <ac:chgData name="Paulo Guilherme Correa" userId="870f2a1b-8f05-43bf-bddb-3b63d1bf3b8a" providerId="ADAL" clId="{3A734829-6AEE-448D-92E1-3217DCE0D28A}" dt="2022-06-06T14:09:33.848" v="193"/>
          <ac:graphicFrameMkLst>
            <pc:docMk/>
            <pc:sldMk cId="594525742" sldId="2134804412"/>
            <ac:graphicFrameMk id="9" creationId="{A5499A8E-A137-4699-BE3A-E5C6193DB181}"/>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wb208545\AppData\Local\Microsoft\Windows\INetCache\Content.Outlook\6T69VSB3\WEO_Data.xls.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3" Type="http://schemas.openxmlformats.org/officeDocument/2006/relationships/oleObject" Target="../embeddings/oleObject1.bin"/><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embeddings/oleObject2.bin"/><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3" Type="http://schemas.openxmlformats.org/officeDocument/2006/relationships/oleObject" Target="../embeddings/oleObject3.bin"/><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embeddings/oleObject4.bin"/><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embeddings/oleObject5.bin"/><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embeddings/oleObject6.bin"/><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package" Target="../embeddings/Microsoft_Excel_Worksheet1.xlsx"/></Relationships>
</file>

<file path=ppt/charts/_rels/chart10.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oleObject" Target="../embeddings/oleObject7.bin"/></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11.xml"/><Relationship Id="rId1" Type="http://schemas.microsoft.com/office/2011/relationships/chartStyle" Target="style1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050" b="1" i="0" u="none" strike="noStrike" kern="1200" spc="0" baseline="0" dirty="0" smtClean="0">
                <a:solidFill>
                  <a:schemeClr val="tx1"/>
                </a:solidFill>
                <a:latin typeface="Arial" panose="020B0604020202020204" pitchFamily="34" charset="0"/>
                <a:ea typeface="+mn-ea"/>
                <a:cs typeface="Arial" panose="020B0604020202020204" pitchFamily="34" charset="0"/>
              </a:defRPr>
            </a:pPr>
            <a:r>
              <a:rPr lang="en-US" sz="1050" b="1" i="0" u="none" strike="noStrike" kern="1200" spc="0" baseline="0" dirty="0">
                <a:solidFill>
                  <a:schemeClr val="tx1"/>
                </a:solidFill>
                <a:latin typeface="Arial" panose="020B0604020202020204" pitchFamily="34" charset="0"/>
                <a:ea typeface="+mn-ea"/>
                <a:cs typeface="Arial" panose="020B0604020202020204" pitchFamily="34" charset="0"/>
              </a:rPr>
              <a:t>Taux de pauvreté et nombre total de pauvres </a:t>
            </a:r>
          </a:p>
        </c:rich>
      </c:tx>
      <c:layout>
        <c:manualLayout>
          <c:xMode val="edge"/>
          <c:yMode val="edge"/>
          <c:x val="9.1588992193222724E-2"/>
          <c:y val="0"/>
        </c:manualLayout>
      </c:layout>
      <c:overlay val="0"/>
      <c:spPr>
        <a:noFill/>
        <a:ln>
          <a:noFill/>
        </a:ln>
        <a:effectLst/>
      </c:spPr>
      <c:txPr>
        <a:bodyPr rot="0" spcFirstLastPara="1" vertOverflow="ellipsis" vert="horz" wrap="square" anchor="ctr" anchorCtr="1"/>
        <a:lstStyle/>
        <a:p>
          <a:pPr>
            <a:defRPr lang="en-US" sz="1050" b="1" i="0" u="none" strike="noStrike" kern="1200" spc="0" baseline="0" dirty="0" smtClean="0">
              <a:solidFill>
                <a:schemeClr val="tx1"/>
              </a:solidFill>
              <a:latin typeface="Arial" panose="020B0604020202020204" pitchFamily="34" charset="0"/>
              <a:ea typeface="+mn-ea"/>
              <a:cs typeface="Arial" panose="020B0604020202020204" pitchFamily="34" charset="0"/>
            </a:defRPr>
          </a:pPr>
          <a:endParaRPr lang="en-US"/>
        </a:p>
      </c:txPr>
    </c:title>
    <c:autoTitleDeleted val="0"/>
    <c:plotArea>
      <c:layout>
        <c:manualLayout>
          <c:layoutTarget val="inner"/>
          <c:xMode val="edge"/>
          <c:yMode val="edge"/>
          <c:x val="0.13577741126953724"/>
          <c:y val="0.15256668497833117"/>
          <c:w val="0.68613505237520989"/>
          <c:h val="0.63899570693198227"/>
        </c:manualLayout>
      </c:layout>
      <c:lineChart>
        <c:grouping val="standard"/>
        <c:varyColors val="0"/>
        <c:ser>
          <c:idx val="6"/>
          <c:order val="0"/>
          <c:tx>
            <c:strRef>
              <c:f>chart!$I$28</c:f>
              <c:strCache>
                <c:ptCount val="1"/>
                <c:pt idx="0">
                  <c:v>Taxa International de pobreza (Eixo Esq)</c:v>
                </c:pt>
              </c:strCache>
            </c:strRef>
          </c:tx>
          <c:spPr>
            <a:ln w="25400" cap="rnd">
              <a:solidFill>
                <a:srgbClr val="7A6563"/>
              </a:solidFill>
              <a:round/>
            </a:ln>
            <a:effectLst/>
          </c:spPr>
          <c:marker>
            <c:symbol val="none"/>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chart!$AO$4:$AO$20</c:f>
              <c:numCache>
                <c:formatCode>General</c:formatCode>
                <c:ptCount val="17"/>
                <c:pt idx="0">
                  <c:v>#N/A</c:v>
                </c:pt>
                <c:pt idx="1">
                  <c:v>#N/A</c:v>
                </c:pt>
                <c:pt idx="2">
                  <c:v>#N/A</c:v>
                </c:pt>
                <c:pt idx="3">
                  <c:v>69.65290274427916</c:v>
                </c:pt>
                <c:pt idx="4">
                  <c:v>#N/A</c:v>
                </c:pt>
                <c:pt idx="5">
                  <c:v>#N/A</c:v>
                </c:pt>
                <c:pt idx="6">
                  <c:v>#N/A</c:v>
                </c:pt>
                <c:pt idx="7">
                  <c:v>#N/A</c:v>
                </c:pt>
                <c:pt idx="8">
                  <c:v>#N/A</c:v>
                </c:pt>
                <c:pt idx="9">
                  <c:v>63.680985966479739</c:v>
                </c:pt>
                <c:pt idx="10">
                  <c:v>#N/A</c:v>
                </c:pt>
                <c:pt idx="11">
                  <c:v>#N/A</c:v>
                </c:pt>
                <c:pt idx="12">
                  <c:v>#N/A</c:v>
                </c:pt>
                <c:pt idx="13">
                  <c:v>#N/A</c:v>
                </c:pt>
                <c:pt idx="14">
                  <c:v>#N/A</c:v>
                </c:pt>
                <c:pt idx="15">
                  <c:v>#N/A</c:v>
                </c:pt>
                <c:pt idx="16">
                  <c:v>#N/A</c:v>
                </c:pt>
              </c:numCache>
            </c:numRef>
          </c:val>
          <c:smooth val="1"/>
          <c:extLst>
            <c:ext xmlns:c16="http://schemas.microsoft.com/office/drawing/2014/chart" uri="{C3380CC4-5D6E-409C-BE32-E72D297353CC}">
              <c16:uniqueId val="{00000000-640A-45DA-9777-4CBE0359EE15}"/>
            </c:ext>
          </c:extLst>
        </c:ser>
        <c:ser>
          <c:idx val="7"/>
          <c:order val="1"/>
          <c:tx>
            <c:strRef>
              <c:f>chart!$K$28</c:f>
              <c:strCache>
                <c:ptCount val="1"/>
                <c:pt idx="0">
                  <c:v>Upper middle-income pov. rate</c:v>
                </c:pt>
              </c:strCache>
            </c:strRef>
          </c:tx>
          <c:spPr>
            <a:ln w="25400" cap="rnd">
              <a:solidFill>
                <a:srgbClr val="CACAAA"/>
              </a:solidFill>
              <a:round/>
            </a:ln>
            <a:effectLst/>
          </c:spPr>
          <c:marker>
            <c:symbol val="circle"/>
            <c:size val="5"/>
            <c:spPr>
              <a:solidFill>
                <a:srgbClr val="CACAAA"/>
              </a:solidFill>
              <a:ln w="12700">
                <a:solidFill>
                  <a:srgbClr val="CACAAA"/>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chart!$AQ$4:$AQ$23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1"/>
          <c:extLst>
            <c:ext xmlns:c16="http://schemas.microsoft.com/office/drawing/2014/chart" uri="{C3380CC4-5D6E-409C-BE32-E72D297353CC}">
              <c16:uniqueId val="{00000001-640A-45DA-9777-4CBE0359EE15}"/>
            </c:ext>
          </c:extLst>
        </c:ser>
        <c:ser>
          <c:idx val="11"/>
          <c:order val="3"/>
          <c:tx>
            <c:strRef>
              <c:f>chart!$BK$3</c:f>
              <c:strCache>
                <c:ptCount val="1"/>
                <c:pt idx="0">
                  <c:v>IPR0*</c:v>
                </c:pt>
              </c:strCache>
            </c:strRef>
          </c:tx>
          <c:spPr>
            <a:ln w="25400" cap="rnd">
              <a:solidFill>
                <a:srgbClr val="7A6563"/>
              </a:solidFill>
              <a:prstDash val="solid"/>
              <a:round/>
            </a:ln>
            <a:effectLst/>
          </c:spPr>
          <c:marker>
            <c:symbol val="none"/>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chart!$BK$4:$BK$20</c:f>
              <c:numCache>
                <c:formatCode>General</c:formatCode>
                <c:ptCount val="17"/>
                <c:pt idx="0">
                  <c:v>#N/A</c:v>
                </c:pt>
                <c:pt idx="1">
                  <c:v>#N/A</c:v>
                </c:pt>
                <c:pt idx="2">
                  <c:v>#N/A</c:v>
                </c:pt>
                <c:pt idx="3">
                  <c:v>#N/A</c:v>
                </c:pt>
                <c:pt idx="4">
                  <c:v>#N/A</c:v>
                </c:pt>
                <c:pt idx="5">
                  <c:v>#N/A</c:v>
                </c:pt>
                <c:pt idx="6">
                  <c:v>#N/A</c:v>
                </c:pt>
                <c:pt idx="7">
                  <c:v>#N/A</c:v>
                </c:pt>
                <c:pt idx="8">
                  <c:v>#N/A</c:v>
                </c:pt>
                <c:pt idx="9">
                  <c:v>63.680985966479739</c:v>
                </c:pt>
                <c:pt idx="10">
                  <c:v>62.419725833929739</c:v>
                </c:pt>
                <c:pt idx="11">
                  <c:v>62.116122417403098</c:v>
                </c:pt>
                <c:pt idx="12">
                  <c:v>61.801116062157107</c:v>
                </c:pt>
                <c:pt idx="13">
                  <c:v>61.646681282770558</c:v>
                </c:pt>
                <c:pt idx="14">
                  <c:v>61.85320075671347</c:v>
                </c:pt>
                <c:pt idx="15">
                  <c:v>63.266051265540213</c:v>
                </c:pt>
                <c:pt idx="16">
                  <c:v>63.514261170090229</c:v>
                </c:pt>
              </c:numCache>
            </c:numRef>
          </c:val>
          <c:smooth val="1"/>
          <c:extLst>
            <c:ext xmlns:c16="http://schemas.microsoft.com/office/drawing/2014/chart" uri="{C3380CC4-5D6E-409C-BE32-E72D297353CC}">
              <c16:uniqueId val="{00000002-640A-45DA-9777-4CBE0359EE15}"/>
            </c:ext>
          </c:extLst>
        </c:ser>
        <c:ser>
          <c:idx val="1"/>
          <c:order val="5"/>
          <c:tx>
            <c:strRef>
              <c:f>chart!$BM$3</c:f>
              <c:strCache>
                <c:ptCount val="1"/>
                <c:pt idx="0">
                  <c:v>UMPR0*</c:v>
                </c:pt>
              </c:strCache>
            </c:strRef>
          </c:tx>
          <c:spPr>
            <a:ln w="25400" cap="rnd">
              <a:solidFill>
                <a:srgbClr val="CACAAA"/>
              </a:solidFill>
              <a:prstDash val="sysDot"/>
              <a:round/>
            </a:ln>
            <a:effectLst/>
          </c:spPr>
          <c:marker>
            <c:symbol val="circle"/>
            <c:size val="5"/>
            <c:spPr>
              <a:solidFill>
                <a:srgbClr val="CACAAA"/>
              </a:solidFill>
              <a:ln w="12700">
                <a:solidFill>
                  <a:srgbClr val="CACAAA"/>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chart!$BM$4:$BM$23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1"/>
          <c:extLst>
            <c:ext xmlns:c16="http://schemas.microsoft.com/office/drawing/2014/chart" uri="{C3380CC4-5D6E-409C-BE32-E72D297353CC}">
              <c16:uniqueId val="{00000003-640A-45DA-9777-4CBE0359EE15}"/>
            </c:ext>
          </c:extLst>
        </c:ser>
        <c:ser>
          <c:idx val="2"/>
          <c:order val="6"/>
          <c:tx>
            <c:strRef>
              <c:f>chart!$AR$3</c:f>
              <c:strCache>
                <c:ptCount val="1"/>
                <c:pt idx="0">
                  <c:v>IPL1</c:v>
                </c:pt>
              </c:strCache>
            </c:strRef>
          </c:tx>
          <c:spPr>
            <a:ln w="25400" cap="rnd">
              <a:solidFill>
                <a:schemeClr val="accent3"/>
              </a:solidFill>
              <a:round/>
            </a:ln>
            <a:effectLst/>
          </c:spPr>
          <c:marker>
            <c:symbol val="circle"/>
            <c:size val="5"/>
            <c:spPr>
              <a:solidFill>
                <a:srgbClr val="7A6563"/>
              </a:solidFill>
              <a:ln w="12700">
                <a:solidFill>
                  <a:schemeClr val="accent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chart!$AR$4:$AR$23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4-640A-45DA-9777-4CBE0359EE15}"/>
            </c:ext>
          </c:extLst>
        </c:ser>
        <c:ser>
          <c:idx val="4"/>
          <c:order val="7"/>
          <c:tx>
            <c:strRef>
              <c:f>chart!$AS$3</c:f>
              <c:strCache>
                <c:ptCount val="1"/>
                <c:pt idx="0">
                  <c:v>LMIC1</c:v>
                </c:pt>
              </c:strCache>
            </c:strRef>
          </c:tx>
          <c:spPr>
            <a:ln w="25400" cap="rnd">
              <a:solidFill>
                <a:schemeClr val="accent2"/>
              </a:solidFill>
              <a:round/>
            </a:ln>
            <a:effectLst/>
          </c:spPr>
          <c:marker>
            <c:symbol val="none"/>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chart!$AS$4:$AS$23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5-640A-45DA-9777-4CBE0359EE15}"/>
            </c:ext>
          </c:extLst>
        </c:ser>
        <c:ser>
          <c:idx val="5"/>
          <c:order val="8"/>
          <c:tx>
            <c:strRef>
              <c:f>chart!$AT$3</c:f>
              <c:strCache>
                <c:ptCount val="1"/>
                <c:pt idx="0">
                  <c:v>UMIC1</c:v>
                </c:pt>
              </c:strCache>
            </c:strRef>
          </c:tx>
          <c:spPr>
            <a:ln w="25400" cap="rnd">
              <a:solidFill>
                <a:srgbClr val="CACAAA"/>
              </a:solidFill>
              <a:round/>
            </a:ln>
            <a:effectLst/>
          </c:spPr>
          <c:marker>
            <c:symbol val="circle"/>
            <c:size val="5"/>
            <c:spPr>
              <a:solidFill>
                <a:srgbClr val="CACAAA"/>
              </a:solidFill>
              <a:ln w="12700">
                <a:solidFill>
                  <a:srgbClr val="CACAAA"/>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chart!$AT$4:$AT$23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6-640A-45DA-9777-4CBE0359EE15}"/>
            </c:ext>
          </c:extLst>
        </c:ser>
        <c:ser>
          <c:idx val="10"/>
          <c:order val="9"/>
          <c:tx>
            <c:strRef>
              <c:f>chart!$AU$3</c:f>
              <c:strCache>
                <c:ptCount val="1"/>
                <c:pt idx="0">
                  <c:v>IPL2</c:v>
                </c:pt>
              </c:strCache>
            </c:strRef>
          </c:tx>
          <c:spPr>
            <a:ln w="25400" cap="rnd">
              <a:solidFill>
                <a:srgbClr val="7A6563"/>
              </a:solidFill>
              <a:round/>
            </a:ln>
            <a:effectLst/>
          </c:spPr>
          <c:marker>
            <c:symbol val="circle"/>
            <c:size val="5"/>
            <c:spPr>
              <a:solidFill>
                <a:srgbClr val="7A6563"/>
              </a:solidFill>
              <a:ln w="12700">
                <a:solidFill>
                  <a:srgbClr val="7A656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chart!$AU$4:$AU$23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7-640A-45DA-9777-4CBE0359EE15}"/>
            </c:ext>
          </c:extLst>
        </c:ser>
        <c:ser>
          <c:idx val="12"/>
          <c:order val="10"/>
          <c:tx>
            <c:strRef>
              <c:f>chart!$AV$3</c:f>
              <c:strCache>
                <c:ptCount val="1"/>
                <c:pt idx="0">
                  <c:v>LMIC2</c:v>
                </c:pt>
              </c:strCache>
            </c:strRef>
          </c:tx>
          <c:spPr>
            <a:ln w="25400" cap="rnd">
              <a:solidFill>
                <a:srgbClr val="DE6E4B"/>
              </a:solidFill>
              <a:round/>
            </a:ln>
            <a:effectLst/>
          </c:spPr>
          <c:marker>
            <c:symbol val="circle"/>
            <c:size val="5"/>
            <c:spPr>
              <a:solidFill>
                <a:srgbClr val="DE6E4B"/>
              </a:solidFill>
              <a:ln w="12700">
                <a:solidFill>
                  <a:srgbClr val="DE6E4B"/>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chart!$AV$4:$AV$23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8-640A-45DA-9777-4CBE0359EE15}"/>
            </c:ext>
          </c:extLst>
        </c:ser>
        <c:ser>
          <c:idx val="13"/>
          <c:order val="11"/>
          <c:tx>
            <c:strRef>
              <c:f>chart!$AW$3</c:f>
              <c:strCache>
                <c:ptCount val="1"/>
                <c:pt idx="0">
                  <c:v>UMIC2</c:v>
                </c:pt>
              </c:strCache>
            </c:strRef>
          </c:tx>
          <c:spPr>
            <a:ln w="25400" cap="rnd">
              <a:solidFill>
                <a:schemeClr val="accent4"/>
              </a:solidFill>
              <a:round/>
            </a:ln>
            <a:effectLst/>
          </c:spPr>
          <c:marker>
            <c:symbol val="circle"/>
            <c:size val="5"/>
            <c:spPr>
              <a:solidFill>
                <a:srgbClr val="CACAAA"/>
              </a:solidFill>
              <a:ln w="12700">
                <a:solidFill>
                  <a:srgbClr val="CACAAA"/>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chart!$AW$4:$AW$23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9-640A-45DA-9777-4CBE0359EE15}"/>
            </c:ext>
          </c:extLst>
        </c:ser>
        <c:ser>
          <c:idx val="14"/>
          <c:order val="12"/>
          <c:tx>
            <c:strRef>
              <c:f>chart!$AX$3</c:f>
              <c:strCache>
                <c:ptCount val="1"/>
                <c:pt idx="0">
                  <c:v>IPL3</c:v>
                </c:pt>
              </c:strCache>
            </c:strRef>
          </c:tx>
          <c:spPr>
            <a:ln w="25400" cap="rnd">
              <a:solidFill>
                <a:srgbClr val="7A6563"/>
              </a:solidFill>
              <a:round/>
            </a:ln>
            <a:effectLst/>
          </c:spPr>
          <c:marker>
            <c:symbol val="circle"/>
            <c:size val="5"/>
            <c:spPr>
              <a:solidFill>
                <a:srgbClr val="7A6563"/>
              </a:solidFill>
              <a:ln w="12700">
                <a:solidFill>
                  <a:srgbClr val="7A656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chart!$AX$4:$AX$23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A-640A-45DA-9777-4CBE0359EE15}"/>
            </c:ext>
          </c:extLst>
        </c:ser>
        <c:ser>
          <c:idx val="15"/>
          <c:order val="13"/>
          <c:tx>
            <c:strRef>
              <c:f>chart!$AY$3</c:f>
              <c:strCache>
                <c:ptCount val="1"/>
                <c:pt idx="0">
                  <c:v>LMIC3</c:v>
                </c:pt>
              </c:strCache>
            </c:strRef>
          </c:tx>
          <c:spPr>
            <a:ln w="25400" cap="rnd">
              <a:solidFill>
                <a:srgbClr val="DE6E4B"/>
              </a:solidFill>
              <a:round/>
            </a:ln>
            <a:effectLst/>
          </c:spPr>
          <c:marker>
            <c:symbol val="circle"/>
            <c:size val="5"/>
            <c:spPr>
              <a:solidFill>
                <a:srgbClr val="DE6E4B"/>
              </a:solidFill>
              <a:ln w="12700">
                <a:solidFill>
                  <a:srgbClr val="DE6E4B"/>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chart!$AY$4:$AY$23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B-640A-45DA-9777-4CBE0359EE15}"/>
            </c:ext>
          </c:extLst>
        </c:ser>
        <c:ser>
          <c:idx val="16"/>
          <c:order val="14"/>
          <c:tx>
            <c:strRef>
              <c:f>chart!$AZ$3</c:f>
              <c:strCache>
                <c:ptCount val="1"/>
                <c:pt idx="0">
                  <c:v>UMIC3</c:v>
                </c:pt>
              </c:strCache>
            </c:strRef>
          </c:tx>
          <c:spPr>
            <a:ln w="25400" cap="rnd">
              <a:solidFill>
                <a:schemeClr val="accent4"/>
              </a:solidFill>
              <a:round/>
            </a:ln>
            <a:effectLst/>
          </c:spPr>
          <c:marker>
            <c:symbol val="circle"/>
            <c:size val="5"/>
            <c:spPr>
              <a:solidFill>
                <a:schemeClr val="accent4"/>
              </a:solidFill>
              <a:ln w="12700">
                <a:solidFill>
                  <a:schemeClr val="accent4"/>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chart!$AZ$4:$AZ$23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C-640A-45DA-9777-4CBE0359EE15}"/>
            </c:ext>
          </c:extLst>
        </c:ser>
        <c:ser>
          <c:idx val="17"/>
          <c:order val="15"/>
          <c:tx>
            <c:strRef>
              <c:f>chart!$BA$3</c:f>
              <c:strCache>
                <c:ptCount val="1"/>
                <c:pt idx="0">
                  <c:v>IPL4</c:v>
                </c:pt>
              </c:strCache>
            </c:strRef>
          </c:tx>
          <c:spPr>
            <a:ln w="25400" cap="rnd">
              <a:solidFill>
                <a:srgbClr val="7A6563"/>
              </a:solidFill>
              <a:round/>
            </a:ln>
            <a:effectLst/>
          </c:spPr>
          <c:marker>
            <c:symbol val="circle"/>
            <c:size val="5"/>
            <c:spPr>
              <a:solidFill>
                <a:srgbClr val="7A6563"/>
              </a:solidFill>
              <a:ln w="12700">
                <a:solidFill>
                  <a:srgbClr val="7A656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chart!$BA$4:$BA$23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D-640A-45DA-9777-4CBE0359EE15}"/>
            </c:ext>
          </c:extLst>
        </c:ser>
        <c:ser>
          <c:idx val="18"/>
          <c:order val="16"/>
          <c:tx>
            <c:strRef>
              <c:f>chart!$BB$3</c:f>
              <c:strCache>
                <c:ptCount val="1"/>
                <c:pt idx="0">
                  <c:v>LMIC4</c:v>
                </c:pt>
              </c:strCache>
            </c:strRef>
          </c:tx>
          <c:spPr>
            <a:ln w="25400" cap="rnd">
              <a:solidFill>
                <a:srgbClr val="DE6E4B"/>
              </a:solidFill>
              <a:round/>
            </a:ln>
            <a:effectLst/>
          </c:spPr>
          <c:marker>
            <c:symbol val="circle"/>
            <c:size val="5"/>
            <c:spPr>
              <a:solidFill>
                <a:schemeClr val="accent2">
                  <a:alpha val="99000"/>
                </a:schemeClr>
              </a:solidFill>
              <a:ln w="12700">
                <a:solidFill>
                  <a:srgbClr val="DE6E4B"/>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chart!$BB$4:$BB$23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E-640A-45DA-9777-4CBE0359EE15}"/>
            </c:ext>
          </c:extLst>
        </c:ser>
        <c:ser>
          <c:idx val="19"/>
          <c:order val="17"/>
          <c:tx>
            <c:strRef>
              <c:f>chart!$BC$3</c:f>
              <c:strCache>
                <c:ptCount val="1"/>
                <c:pt idx="0">
                  <c:v>UMIC4</c:v>
                </c:pt>
              </c:strCache>
            </c:strRef>
          </c:tx>
          <c:spPr>
            <a:ln w="25400" cap="rnd">
              <a:solidFill>
                <a:srgbClr val="CACAAA"/>
              </a:solidFill>
              <a:round/>
            </a:ln>
            <a:effectLst/>
          </c:spPr>
          <c:marker>
            <c:symbol val="circle"/>
            <c:size val="5"/>
            <c:spPr>
              <a:solidFill>
                <a:schemeClr val="accent4"/>
              </a:solidFill>
              <a:ln w="12700">
                <a:solidFill>
                  <a:schemeClr val="accent4"/>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chart!$BC$4:$BC$23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0F-640A-45DA-9777-4CBE0359EE15}"/>
            </c:ext>
          </c:extLst>
        </c:ser>
        <c:ser>
          <c:idx val="20"/>
          <c:order val="18"/>
          <c:tx>
            <c:strRef>
              <c:f>chart!$BD$3</c:f>
              <c:strCache>
                <c:ptCount val="1"/>
                <c:pt idx="0">
                  <c:v>IPL5</c:v>
                </c:pt>
              </c:strCache>
            </c:strRef>
          </c:tx>
          <c:spPr>
            <a:ln w="25400" cap="rnd">
              <a:solidFill>
                <a:srgbClr val="7A6563"/>
              </a:solidFill>
              <a:round/>
            </a:ln>
            <a:effectLst/>
          </c:spPr>
          <c:marker>
            <c:symbol val="circle"/>
            <c:size val="5"/>
            <c:spPr>
              <a:solidFill>
                <a:srgbClr val="7A6563"/>
              </a:solidFill>
              <a:ln w="12700">
                <a:solidFill>
                  <a:srgbClr val="7A6563"/>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chart!$BD$4:$BD$23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0-640A-45DA-9777-4CBE0359EE15}"/>
            </c:ext>
          </c:extLst>
        </c:ser>
        <c:ser>
          <c:idx val="21"/>
          <c:order val="19"/>
          <c:tx>
            <c:strRef>
              <c:f>chart!$BE$3</c:f>
              <c:strCache>
                <c:ptCount val="1"/>
                <c:pt idx="0">
                  <c:v>LMIC5</c:v>
                </c:pt>
              </c:strCache>
            </c:strRef>
          </c:tx>
          <c:spPr>
            <a:ln w="25400" cap="rnd">
              <a:solidFill>
                <a:srgbClr val="DE6E4B"/>
              </a:solidFill>
              <a:round/>
            </a:ln>
            <a:effectLst/>
          </c:spPr>
          <c:marker>
            <c:symbol val="circle"/>
            <c:size val="5"/>
            <c:spPr>
              <a:solidFill>
                <a:schemeClr val="accent2"/>
              </a:solidFill>
              <a:ln w="12700">
                <a:solidFill>
                  <a:srgbClr val="DE6E4B"/>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chart!$BE$4:$BE$23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1-640A-45DA-9777-4CBE0359EE15}"/>
            </c:ext>
          </c:extLst>
        </c:ser>
        <c:ser>
          <c:idx val="22"/>
          <c:order val="20"/>
          <c:tx>
            <c:strRef>
              <c:f>chart!$BF$3</c:f>
              <c:strCache>
                <c:ptCount val="1"/>
                <c:pt idx="0">
                  <c:v>UMIC5</c:v>
                </c:pt>
              </c:strCache>
            </c:strRef>
          </c:tx>
          <c:spPr>
            <a:ln w="25400" cap="rnd">
              <a:solidFill>
                <a:srgbClr val="CACAAA"/>
              </a:solidFill>
              <a:round/>
            </a:ln>
            <a:effectLst/>
          </c:spPr>
          <c:marker>
            <c:symbol val="circle"/>
            <c:size val="5"/>
            <c:spPr>
              <a:solidFill>
                <a:srgbClr val="CACAAA"/>
              </a:solidFill>
              <a:ln w="12700">
                <a:solidFill>
                  <a:schemeClr val="accent4"/>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chart!$BF$4:$BF$23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2-640A-45DA-9777-4CBE0359EE15}"/>
            </c:ext>
          </c:extLst>
        </c:ser>
        <c:dLbls>
          <c:showLegendKey val="0"/>
          <c:showVal val="0"/>
          <c:showCatName val="0"/>
          <c:showSerName val="0"/>
          <c:showPercent val="0"/>
          <c:showBubbleSize val="0"/>
        </c:dLbls>
        <c:marker val="1"/>
        <c:smooth val="0"/>
        <c:axId val="347074904"/>
        <c:axId val="347075296"/>
      </c:lineChart>
      <c:lineChart>
        <c:grouping val="standard"/>
        <c:varyColors val="0"/>
        <c:ser>
          <c:idx val="9"/>
          <c:order val="4"/>
          <c:tx>
            <c:strRef>
              <c:f>chart!$F$3</c:f>
              <c:strCache>
                <c:ptCount val="1"/>
                <c:pt idx="0">
                  <c:v>Numero de Pobres (Eixo Dto)</c:v>
                </c:pt>
              </c:strCache>
            </c:strRef>
          </c:tx>
          <c:spPr>
            <a:ln w="28575" cap="rnd">
              <a:solidFill>
                <a:schemeClr val="accent4">
                  <a:lumMod val="60000"/>
                </a:schemeClr>
              </a:solidFill>
              <a:round/>
            </a:ln>
            <a:effectLst/>
          </c:spPr>
          <c:marker>
            <c:symbol val="none"/>
          </c:marker>
          <c:dPt>
            <c:idx val="0"/>
            <c:marker>
              <c:symbol val="none"/>
            </c:marker>
            <c:bubble3D val="0"/>
            <c:spPr>
              <a:ln w="28575" cap="rnd">
                <a:solidFill>
                  <a:srgbClr val="7A6563"/>
                </a:solidFill>
                <a:round/>
              </a:ln>
              <a:effectLst/>
            </c:spPr>
            <c:extLst>
              <c:ext xmlns:c16="http://schemas.microsoft.com/office/drawing/2014/chart" uri="{C3380CC4-5D6E-409C-BE32-E72D297353CC}">
                <c16:uniqueId val="{00000014-640A-45DA-9777-4CBE0359EE15}"/>
              </c:ext>
            </c:extLst>
          </c:dPt>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chart!$F$4:$F$20</c:f>
              <c:numCache>
                <c:formatCode>General</c:formatCode>
                <c:ptCount val="17"/>
                <c:pt idx="3">
                  <c:v>20000000</c:v>
                </c:pt>
                <c:pt idx="9">
                  <c:v>16739287.975513671</c:v>
                </c:pt>
                <c:pt idx="10">
                  <c:v>16879544.456932545</c:v>
                </c:pt>
                <c:pt idx="11">
                  <c:v>17286882.147430629</c:v>
                </c:pt>
                <c:pt idx="12">
                  <c:v>17705407.925265193</c:v>
                </c:pt>
                <c:pt idx="13">
                  <c:v>18183398.974682286</c:v>
                </c:pt>
                <c:pt idx="14">
                  <c:v>18798840.547084846</c:v>
                </c:pt>
                <c:pt idx="15">
                  <c:v>19735766.389045063</c:v>
                </c:pt>
                <c:pt idx="16">
                  <c:v>20328952.032127716</c:v>
                </c:pt>
              </c:numCache>
            </c:numRef>
          </c:val>
          <c:smooth val="1"/>
          <c:extLst>
            <c:ext xmlns:c16="http://schemas.microsoft.com/office/drawing/2014/chart" uri="{C3380CC4-5D6E-409C-BE32-E72D297353CC}">
              <c16:uniqueId val="{00000015-640A-45DA-9777-4CBE0359EE15}"/>
            </c:ext>
          </c:extLst>
        </c:ser>
        <c:ser>
          <c:idx val="23"/>
          <c:order val="21"/>
          <c:tx>
            <c:strRef>
              <c:f>chart!$BG$3</c:f>
              <c:strCache>
                <c:ptCount val="1"/>
                <c:pt idx="0">
                  <c:v>IPL6</c:v>
                </c:pt>
              </c:strCache>
            </c:strRef>
          </c:tx>
          <c:spPr>
            <a:ln w="28575" cap="rnd">
              <a:solidFill>
                <a:schemeClr val="accent6">
                  <a:lumMod val="80000"/>
                </a:schemeClr>
              </a:solidFill>
              <a:round/>
            </a:ln>
            <a:effectLst/>
          </c:spPr>
          <c:marker>
            <c:symbol val="circle"/>
            <c:size val="5"/>
            <c:spPr>
              <a:solidFill>
                <a:schemeClr val="accent6">
                  <a:lumMod val="80000"/>
                </a:schemeClr>
              </a:solidFill>
              <a:ln w="9525">
                <a:solidFill>
                  <a:schemeClr val="accent6">
                    <a:lumMod val="80000"/>
                  </a:schemeClr>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chart!$BG$4:$BG$23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6-640A-45DA-9777-4CBE0359EE15}"/>
            </c:ext>
          </c:extLst>
        </c:ser>
        <c:ser>
          <c:idx val="24"/>
          <c:order val="22"/>
          <c:tx>
            <c:strRef>
              <c:f>chart!$BH$3</c:f>
              <c:strCache>
                <c:ptCount val="1"/>
                <c:pt idx="0">
                  <c:v>LMIC6</c:v>
                </c:pt>
              </c:strCache>
            </c:strRef>
          </c:tx>
          <c:spPr>
            <a:ln w="28575" cap="rnd">
              <a:solidFill>
                <a:schemeClr val="accent1">
                  <a:lumMod val="60000"/>
                  <a:lumOff val="40000"/>
                </a:schemeClr>
              </a:solidFill>
              <a:round/>
            </a:ln>
            <a:effectLst/>
          </c:spPr>
          <c:marker>
            <c:symbol val="circle"/>
            <c:size val="5"/>
            <c:spPr>
              <a:solidFill>
                <a:schemeClr val="accent1">
                  <a:lumMod val="60000"/>
                  <a:lumOff val="40000"/>
                </a:schemeClr>
              </a:solidFill>
              <a:ln w="9525">
                <a:solidFill>
                  <a:schemeClr val="accent1">
                    <a:lumMod val="60000"/>
                    <a:lumOff val="40000"/>
                  </a:schemeClr>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chart!$BH$4:$BH$23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7-640A-45DA-9777-4CBE0359EE15}"/>
            </c:ext>
          </c:extLst>
        </c:ser>
        <c:ser>
          <c:idx val="25"/>
          <c:order val="23"/>
          <c:tx>
            <c:strRef>
              <c:f>chart!$BI$3</c:f>
              <c:strCache>
                <c:ptCount val="1"/>
                <c:pt idx="0">
                  <c:v>UMIC6</c:v>
                </c:pt>
              </c:strCache>
            </c:strRef>
          </c:tx>
          <c:spPr>
            <a:ln w="28575" cap="rnd">
              <a:solidFill>
                <a:schemeClr val="accent2">
                  <a:lumMod val="60000"/>
                  <a:lumOff val="40000"/>
                </a:schemeClr>
              </a:solidFill>
              <a:round/>
            </a:ln>
            <a:effectLst/>
          </c:spPr>
          <c:marker>
            <c:symbol val="circle"/>
            <c:size val="5"/>
            <c:spPr>
              <a:solidFill>
                <a:schemeClr val="accent2">
                  <a:lumMod val="60000"/>
                  <a:lumOff val="40000"/>
                </a:schemeClr>
              </a:solidFill>
              <a:ln w="9525">
                <a:solidFill>
                  <a:schemeClr val="accent2">
                    <a:lumMod val="60000"/>
                    <a:lumOff val="40000"/>
                  </a:schemeClr>
                </a:solidFill>
              </a:ln>
              <a:effectLst/>
            </c:spPr>
          </c:marker>
          <c:cat>
            <c:numRef>
              <c:f>chart!$AM$4:$AM$20</c:f>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f>chart!$BI$4:$BI$23</c:f>
              <c:numCache>
                <c:formatCode>General</c:formatCode>
                <c:ptCount val="20"/>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numCache>
            </c:numRef>
          </c:val>
          <c:smooth val="0"/>
          <c:extLst>
            <c:ext xmlns:c16="http://schemas.microsoft.com/office/drawing/2014/chart" uri="{C3380CC4-5D6E-409C-BE32-E72D297353CC}">
              <c16:uniqueId val="{00000018-640A-45DA-9777-4CBE0359EE15}"/>
            </c:ext>
          </c:extLst>
        </c:ser>
        <c:dLbls>
          <c:showLegendKey val="0"/>
          <c:showVal val="0"/>
          <c:showCatName val="0"/>
          <c:showSerName val="0"/>
          <c:showPercent val="0"/>
          <c:showBubbleSize val="0"/>
        </c:dLbls>
        <c:marker val="1"/>
        <c:smooth val="0"/>
        <c:axId val="347076080"/>
        <c:axId val="347075688"/>
        <c:extLst>
          <c:ext xmlns:c15="http://schemas.microsoft.com/office/drawing/2012/chart" uri="{02D57815-91ED-43cb-92C2-25804820EDAC}">
            <c15:filteredLineSeries>
              <c15:ser>
                <c:idx val="3"/>
                <c:order val="2"/>
                <c:tx>
                  <c:strRef>
                    <c:extLst>
                      <c:ext uri="{02D57815-91ED-43cb-92C2-25804820EDAC}">
                        <c15:formulaRef>
                          <c15:sqref>chart!$BJ$3</c15:sqref>
                        </c15:formulaRef>
                      </c:ext>
                    </c:extLst>
                    <c:strCache>
                      <c:ptCount val="1"/>
                      <c:pt idx="0">
                        <c:v>GDP pc</c:v>
                      </c:pt>
                    </c:strCache>
                  </c:strRef>
                </c:tx>
                <c:spPr>
                  <a:ln w="25400" cap="rnd">
                    <a:solidFill>
                      <a:srgbClr val="7FD1B9">
                        <a:alpha val="93000"/>
                      </a:srgbClr>
                    </a:solidFill>
                    <a:prstDash val="sysDot"/>
                    <a:round/>
                  </a:ln>
                  <a:effectLst/>
                </c:spPr>
                <c:marker>
                  <c:symbol val="circle"/>
                  <c:size val="5"/>
                  <c:spPr>
                    <a:solidFill>
                      <a:srgbClr val="7FD1B9"/>
                    </a:solidFill>
                    <a:ln w="12700">
                      <a:solidFill>
                        <a:srgbClr val="7FD1B9"/>
                      </a:solidFill>
                      <a:prstDash val="solid"/>
                    </a:ln>
                    <a:effectLst/>
                  </c:spPr>
                </c:marker>
                <c:cat>
                  <c:numRef>
                    <c:extLst>
                      <c:ext uri="{02D57815-91ED-43cb-92C2-25804820EDAC}">
                        <c15:formulaRef>
                          <c15:sqref>chart!$AM$4:$AM$20</c15:sqref>
                        </c15:formulaRef>
                      </c:ext>
                    </c:extLst>
                    <c:numCache>
                      <c:formatCode>0</c:formatCode>
                      <c:ptCount val="17"/>
                      <c:pt idx="0">
                        <c:v>#N/A</c:v>
                      </c:pt>
                      <c:pt idx="1">
                        <c:v>#N/A</c:v>
                      </c:pt>
                      <c:pt idx="2">
                        <c:v>#N/A</c:v>
                      </c:pt>
                      <c:pt idx="3">
                        <c:v>2008</c:v>
                      </c:pt>
                      <c:pt idx="4">
                        <c:v>2009</c:v>
                      </c:pt>
                      <c:pt idx="5">
                        <c:v>2010</c:v>
                      </c:pt>
                      <c:pt idx="6">
                        <c:v>2011</c:v>
                      </c:pt>
                      <c:pt idx="7">
                        <c:v>2012</c:v>
                      </c:pt>
                      <c:pt idx="8">
                        <c:v>2013</c:v>
                      </c:pt>
                      <c:pt idx="9">
                        <c:v>2014</c:v>
                      </c:pt>
                      <c:pt idx="10">
                        <c:v>2015</c:v>
                      </c:pt>
                      <c:pt idx="11">
                        <c:v>2016</c:v>
                      </c:pt>
                      <c:pt idx="12">
                        <c:v>2017</c:v>
                      </c:pt>
                      <c:pt idx="13">
                        <c:v>2018</c:v>
                      </c:pt>
                      <c:pt idx="14">
                        <c:v>2019</c:v>
                      </c:pt>
                      <c:pt idx="15">
                        <c:v>2020</c:v>
                      </c:pt>
                      <c:pt idx="16">
                        <c:v>2021</c:v>
                      </c:pt>
                    </c:numCache>
                  </c:numRef>
                </c:cat>
                <c:val>
                  <c:numRef>
                    <c:extLst>
                      <c:ext uri="{02D57815-91ED-43cb-92C2-25804820EDAC}">
                        <c15:formulaRef>
                          <c15:sqref>chart!$BJ$4:$BJ$20</c15:sqref>
                        </c15:formulaRef>
                      </c:ext>
                    </c:extLst>
                    <c:numCache>
                      <c:formatCode>General</c:formatCode>
                      <c:ptCount val="17"/>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21213.024724533054</c:v>
                      </c:pt>
                    </c:numCache>
                  </c:numRef>
                </c:val>
                <c:smooth val="1"/>
                <c:extLst>
                  <c:ext xmlns:c16="http://schemas.microsoft.com/office/drawing/2014/chart" uri="{C3380CC4-5D6E-409C-BE32-E72D297353CC}">
                    <c16:uniqueId val="{00000019-640A-45DA-9777-4CBE0359EE15}"/>
                  </c:ext>
                </c:extLst>
              </c15:ser>
            </c15:filteredLineSeries>
          </c:ext>
        </c:extLst>
      </c:lineChart>
      <c:dateAx>
        <c:axId val="347074904"/>
        <c:scaling>
          <c:orientation val="minMax"/>
        </c:scaling>
        <c:delete val="0"/>
        <c:axPos val="b"/>
        <c:numFmt formatCode="0" sourceLinked="1"/>
        <c:majorTickMark val="out"/>
        <c:minorTickMark val="out"/>
        <c:tickLblPos val="low"/>
        <c:spPr>
          <a:noFill/>
          <a:ln w="12700" cap="flat" cmpd="sng" algn="ctr">
            <a:solidFill>
              <a:srgbClr val="CCCCCC"/>
            </a:solidFill>
            <a:round/>
          </a:ln>
          <a:effectLst/>
        </c:spPr>
        <c:txPr>
          <a:bodyPr rot="0" spcFirstLastPara="1" vertOverflow="ellipsis" wrap="square" anchor="ctr" anchorCtr="1"/>
          <a:lstStyle/>
          <a:p>
            <a:pPr>
              <a:defRPr lang="en-US" sz="800" b="0" i="0" u="none" strike="noStrike" kern="1200" baseline="0">
                <a:solidFill>
                  <a:sysClr val="windowText" lastClr="000000"/>
                </a:solidFill>
                <a:latin typeface="+mn-lt"/>
                <a:ea typeface="+mn-ea"/>
                <a:cs typeface="+mn-cs"/>
              </a:defRPr>
            </a:pPr>
            <a:endParaRPr lang="en-US"/>
          </a:p>
        </c:txPr>
        <c:crossAx val="347075296"/>
        <c:crosses val="autoZero"/>
        <c:auto val="0"/>
        <c:lblOffset val="100"/>
        <c:baseTimeUnit val="days"/>
      </c:dateAx>
      <c:valAx>
        <c:axId val="347075296"/>
        <c:scaling>
          <c:orientation val="minMax"/>
        </c:scaling>
        <c:delete val="0"/>
        <c:axPos val="l"/>
        <c:title>
          <c:tx>
            <c:rich>
              <a:bodyPr rot="-54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r>
                  <a:rPr lang="en-US"/>
                  <a:t>Taux de pauvreté (%)</a:t>
                </a:r>
              </a:p>
            </c:rich>
          </c:tx>
          <c:layout>
            <c:manualLayout>
              <c:xMode val="edge"/>
              <c:yMode val="edge"/>
              <c:x val="6.3636471116786065E-3"/>
              <c:y val="0.25779602162132836"/>
            </c:manualLayout>
          </c:layout>
          <c:overlay val="0"/>
          <c:spPr>
            <a:noFill/>
            <a:ln>
              <a:noFill/>
            </a:ln>
            <a:effectLst/>
          </c:spPr>
          <c:txPr>
            <a:bodyPr rot="-54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endParaRPr lang="en-US"/>
            </a:p>
          </c:txPr>
        </c:title>
        <c:numFmt formatCode="0" sourceLinked="0"/>
        <c:majorTickMark val="out"/>
        <c:minorTickMark val="none"/>
        <c:tickLblPos val="nextTo"/>
        <c:spPr>
          <a:noFill/>
          <a:ln w="12700">
            <a:solidFill>
              <a:srgbClr val="CCCCCC"/>
            </a:solidFill>
          </a:ln>
          <a:effectLst/>
        </c:spPr>
        <c:txPr>
          <a:bodyPr rot="-600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endParaRPr lang="en-US"/>
          </a:p>
        </c:txPr>
        <c:crossAx val="347074904"/>
        <c:crosses val="autoZero"/>
        <c:crossBetween val="between"/>
      </c:valAx>
      <c:valAx>
        <c:axId val="347075688"/>
        <c:scaling>
          <c:orientation val="minMax"/>
        </c:scaling>
        <c:delete val="0"/>
        <c:axPos val="r"/>
        <c:title>
          <c:tx>
            <c:rich>
              <a:bodyPr rot="-54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r>
                  <a:rPr lang="en-US" dirty="0" err="1"/>
                  <a:t>Nombre</a:t>
                </a:r>
                <a:r>
                  <a:rPr lang="en-US" dirty="0"/>
                  <a:t> de </a:t>
                </a:r>
                <a:r>
                  <a:rPr lang="en-US" dirty="0" err="1"/>
                  <a:t>pauvres</a:t>
                </a:r>
                <a:r>
                  <a:rPr lang="en-US" dirty="0"/>
                  <a:t> 
</a:t>
                </a:r>
              </a:p>
            </c:rich>
          </c:tx>
          <c:layout>
            <c:manualLayout>
              <c:xMode val="edge"/>
              <c:yMode val="edge"/>
              <c:x val="0.91475491239270756"/>
              <c:y val="0.24633427604495176"/>
            </c:manualLayout>
          </c:layout>
          <c:overlay val="0"/>
          <c:spPr>
            <a:noFill/>
            <a:ln>
              <a:noFill/>
            </a:ln>
            <a:effectLst/>
          </c:spPr>
          <c:txPr>
            <a:bodyPr rot="-54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endParaRPr lang="en-US"/>
            </a:p>
          </c:txPr>
        </c:title>
        <c:numFmt formatCode="#,##0" sourceLinked="0"/>
        <c:majorTickMark val="out"/>
        <c:minorTickMark val="none"/>
        <c:tickLblPos val="nextTo"/>
        <c:spPr>
          <a:noFill/>
          <a:ln w="12700">
            <a:solidFill>
              <a:srgbClr val="CCCCCC"/>
            </a:solidFill>
          </a:ln>
          <a:effectLst/>
        </c:spPr>
        <c:txPr>
          <a:bodyPr rot="-60000000" spcFirstLastPara="1" vertOverflow="ellipsis" vert="horz" wrap="square" anchor="ctr" anchorCtr="1"/>
          <a:lstStyle/>
          <a:p>
            <a:pPr>
              <a:defRPr lang="en-US" sz="800" b="0" i="0" u="none" strike="noStrike" kern="1200" baseline="0">
                <a:solidFill>
                  <a:sysClr val="windowText" lastClr="000000"/>
                </a:solidFill>
                <a:latin typeface="+mn-lt"/>
                <a:ea typeface="+mn-ea"/>
                <a:cs typeface="+mn-cs"/>
              </a:defRPr>
            </a:pPr>
            <a:endParaRPr lang="en-US"/>
          </a:p>
        </c:txPr>
        <c:crossAx val="347076080"/>
        <c:crosses val="max"/>
        <c:crossBetween val="between"/>
        <c:dispUnits>
          <c:builtInUnit val="millions"/>
          <c:dispUnitsLbl>
            <c:layout>
              <c:manualLayout>
                <c:xMode val="edge"/>
                <c:yMode val="edge"/>
                <c:x val="0.87551902295996786"/>
                <c:y val="0.36789829565877907"/>
              </c:manualLayout>
            </c:layout>
            <c:spPr>
              <a:noFill/>
              <a:ln>
                <a:noFill/>
              </a:ln>
              <a:effectLst/>
            </c:spPr>
            <c:txPr>
              <a:bodyPr rot="-5400000" spcFirstLastPara="1" vertOverflow="ellipsis" vert="horz" wrap="square" anchor="ctr" anchorCtr="1"/>
              <a:lstStyle/>
              <a:p>
                <a:pPr>
                  <a:defRPr lang="en-US" sz="800" b="0" i="0" u="none" strike="noStrike" kern="1200" baseline="0" smtClean="0">
                    <a:solidFill>
                      <a:sysClr val="windowText" lastClr="000000"/>
                    </a:solidFill>
                    <a:latin typeface="+mn-lt"/>
                    <a:ea typeface="+mn-ea"/>
                    <a:cs typeface="+mn-cs"/>
                  </a:defRPr>
                </a:pPr>
                <a:endParaRPr lang="en-US"/>
              </a:p>
            </c:txPr>
          </c:dispUnitsLbl>
        </c:dispUnits>
      </c:valAx>
      <c:dateAx>
        <c:axId val="347076080"/>
        <c:scaling>
          <c:orientation val="minMax"/>
        </c:scaling>
        <c:delete val="1"/>
        <c:axPos val="b"/>
        <c:numFmt formatCode="0" sourceLinked="1"/>
        <c:majorTickMark val="out"/>
        <c:minorTickMark val="none"/>
        <c:tickLblPos val="nextTo"/>
        <c:crossAx val="347075688"/>
        <c:crosses val="autoZero"/>
        <c:auto val="0"/>
        <c:lblOffset val="100"/>
        <c:baseTimeUnit val="days"/>
      </c:dateAx>
      <c:spPr>
        <a:noFill/>
        <a:ln w="25400">
          <a:noFill/>
        </a:ln>
        <a:effectLst/>
      </c:spPr>
    </c:plotArea>
    <c:legend>
      <c:legendPos val="b"/>
      <c:legendEntry>
        <c:idx val="1"/>
        <c:delete val="1"/>
      </c:legendEntry>
      <c:legendEntry>
        <c:idx val="2"/>
        <c:delete val="1"/>
      </c:legendEntry>
      <c:legendEntry>
        <c:idx val="3"/>
        <c:delete val="1"/>
      </c:legendEntry>
      <c:legendEntry>
        <c:idx val="4"/>
        <c:delete val="1"/>
      </c:legendEntry>
      <c:legendEntry>
        <c:idx val="5"/>
        <c:delete val="1"/>
      </c:legendEntry>
      <c:legendEntry>
        <c:idx val="6"/>
        <c:delete val="1"/>
      </c:legendEntry>
      <c:legendEntry>
        <c:idx val="7"/>
        <c:delete val="1"/>
      </c:legendEntry>
      <c:legendEntry>
        <c:idx val="8"/>
        <c:delete val="1"/>
      </c:legendEntry>
      <c:legendEntry>
        <c:idx val="9"/>
        <c:delete val="1"/>
      </c:legendEntry>
      <c:legendEntry>
        <c:idx val="10"/>
        <c:delete val="1"/>
      </c:legendEntry>
      <c:legendEntry>
        <c:idx val="11"/>
        <c:delete val="1"/>
      </c:legendEntry>
      <c:legendEntry>
        <c:idx val="12"/>
        <c:delete val="1"/>
      </c:legendEntry>
      <c:legendEntry>
        <c:idx val="13"/>
        <c:delete val="1"/>
      </c:legendEntry>
      <c:legendEntry>
        <c:idx val="14"/>
        <c:delete val="1"/>
      </c:legendEntry>
      <c:legendEntry>
        <c:idx val="15"/>
        <c:delete val="1"/>
      </c:legendEntry>
      <c:legendEntry>
        <c:idx val="16"/>
        <c:delete val="1"/>
      </c:legendEntry>
      <c:legendEntry>
        <c:idx val="17"/>
        <c:delete val="1"/>
      </c:legendEntry>
      <c:legendEntry>
        <c:idx val="18"/>
        <c:delete val="1"/>
      </c:legendEntry>
      <c:legendEntry>
        <c:idx val="20"/>
        <c:delete val="1"/>
      </c:legendEntry>
      <c:legendEntry>
        <c:idx val="21"/>
        <c:delete val="1"/>
      </c:legendEntry>
      <c:legendEntry>
        <c:idx val="22"/>
        <c:delete val="1"/>
      </c:legendEntry>
      <c:layout>
        <c:manualLayout>
          <c:xMode val="edge"/>
          <c:yMode val="edge"/>
          <c:x val="8.7589051368578939E-3"/>
          <c:y val="0.89981913318527473"/>
          <c:w val="0.98538595561786746"/>
          <c:h val="0.10018078803884993"/>
        </c:manualLayout>
      </c:layout>
      <c:overlay val="0"/>
      <c:spPr>
        <a:noFill/>
        <a:ln>
          <a:noFill/>
        </a:ln>
        <a:effectLst/>
      </c:spPr>
      <c:txPr>
        <a:bodyPr rot="0" spcFirstLastPara="1" vertOverflow="ellipsis" vert="horz" wrap="square" anchor="ctr" anchorCtr="1"/>
        <a:lstStyle/>
        <a:p>
          <a:pPr>
            <a:defRPr lang="en-US" sz="750" b="0" i="0" u="none" strike="noStrike" kern="1200" baseline="0">
              <a:solidFill>
                <a:sysClr val="windowText" lastClr="000000"/>
              </a:solidFill>
              <a:latin typeface="+mn-lt"/>
              <a:ea typeface="+mn-ea"/>
              <a:cs typeface="+mn-cs"/>
            </a:defRPr>
          </a:pPr>
          <a:endParaRPr lang="en-US"/>
        </a:p>
      </c:txPr>
    </c:legend>
    <c:plotVisOnly val="1"/>
    <c:dispBlanksAs val="span"/>
    <c:showDLblsOverMax val="0"/>
  </c:chart>
  <c:spPr>
    <a:noFill/>
    <a:ln w="9525" cap="flat" cmpd="sng" algn="ctr">
      <a:noFill/>
      <a:round/>
    </a:ln>
    <a:effectLst/>
  </c:spPr>
  <c:txPr>
    <a:bodyPr/>
    <a:lstStyle/>
    <a:p>
      <a:pPr algn="ctr">
        <a:defRPr lang="en-US" sz="800" b="0" i="0" u="none" strike="noStrike" kern="1200" baseline="0">
          <a:solidFill>
            <a:sysClr val="windowText" lastClr="000000"/>
          </a:solidFill>
          <a:latin typeface="+mn-lt"/>
          <a:ea typeface="+mn-ea"/>
          <a:cs typeface="+mn-cs"/>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rtl="0">
              <a:defRPr sz="960" b="1" i="0" u="none" strike="noStrike" kern="1200" spc="0" baseline="0">
                <a:solidFill>
                  <a:schemeClr val="tx1"/>
                </a:solidFill>
                <a:latin typeface="Arial" panose="020B0604020202020204" pitchFamily="34" charset="0"/>
                <a:ea typeface="+mn-ea"/>
                <a:cs typeface="Arial" panose="020B0604020202020204" pitchFamily="34" charset="0"/>
              </a:defRPr>
            </a:pPr>
            <a:r>
              <a:rPr lang="en-US" b="1" dirty="0"/>
              <a:t>PIB nominal par habitant (1998 - 2021) </a:t>
            </a:r>
          </a:p>
        </c:rich>
      </c:tx>
      <c:layout>
        <c:manualLayout>
          <c:xMode val="edge"/>
          <c:yMode val="edge"/>
          <c:x val="0.17644002269986522"/>
          <c:y val="4.0669274383337742E-2"/>
        </c:manualLayout>
      </c:layout>
      <c:overlay val="0"/>
      <c:spPr>
        <a:noFill/>
        <a:ln>
          <a:noFill/>
        </a:ln>
        <a:effectLst/>
      </c:spPr>
      <c:txPr>
        <a:bodyPr rot="0" spcFirstLastPara="1" vertOverflow="ellipsis" vert="horz" wrap="square" anchor="ctr" anchorCtr="1"/>
        <a:lstStyle/>
        <a:p>
          <a:pPr algn="ctr" rtl="0">
            <a:defRPr sz="960" b="1" i="0" u="none" strike="noStrike" kern="1200" spc="0" baseline="0">
              <a:solidFill>
                <a:schemeClr val="tx1"/>
              </a:solidFill>
              <a:latin typeface="Arial" panose="020B0604020202020204" pitchFamily="34" charset="0"/>
              <a:ea typeface="+mn-ea"/>
              <a:cs typeface="Arial" panose="020B0604020202020204" pitchFamily="34" charset="0"/>
            </a:defRPr>
          </a:pPr>
          <a:endParaRPr lang="en-US"/>
        </a:p>
      </c:txPr>
    </c:title>
    <c:autoTitleDeleted val="0"/>
    <c:plotArea>
      <c:layout>
        <c:manualLayout>
          <c:layoutTarget val="inner"/>
          <c:xMode val="edge"/>
          <c:yMode val="edge"/>
          <c:x val="0.15397849761091456"/>
          <c:y val="0.18604658792650919"/>
          <c:w val="0.79448656181298138"/>
          <c:h val="0.61513204744755745"/>
        </c:manualLayout>
      </c:layout>
      <c:lineChart>
        <c:grouping val="standard"/>
        <c:varyColors val="0"/>
        <c:ser>
          <c:idx val="0"/>
          <c:order val="0"/>
          <c:spPr>
            <a:ln w="22225" cap="rnd">
              <a:solidFill>
                <a:schemeClr val="accent1"/>
              </a:solidFill>
              <a:round/>
            </a:ln>
            <a:effectLst/>
          </c:spPr>
          <c:marker>
            <c:symbol val="none"/>
          </c:marker>
          <c:trendline>
            <c:spPr>
              <a:ln w="38100" cap="rnd">
                <a:solidFill>
                  <a:schemeClr val="accent1"/>
                </a:solidFill>
                <a:prstDash val="sysDot"/>
              </a:ln>
              <a:effectLst/>
            </c:spPr>
            <c:trendlineType val="linear"/>
            <c:dispRSqr val="0"/>
            <c:dispEq val="0"/>
          </c:trendline>
          <c:cat>
            <c:numRef>
              <c:f>WEO_Data!$N$1:$AK$1</c:f>
              <c:numCache>
                <c:formatCode>General</c:formatCode>
                <c:ptCount val="24"/>
                <c:pt idx="0">
                  <c:v>1998</c:v>
                </c:pt>
                <c:pt idx="1">
                  <c:v>1999</c:v>
                </c:pt>
                <c:pt idx="2">
                  <c:v>2000</c:v>
                </c:pt>
                <c:pt idx="3">
                  <c:v>2001</c:v>
                </c:pt>
                <c:pt idx="4">
                  <c:v>2002</c:v>
                </c:pt>
                <c:pt idx="5">
                  <c:v>2003</c:v>
                </c:pt>
                <c:pt idx="6">
                  <c:v>2004</c:v>
                </c:pt>
                <c:pt idx="7">
                  <c:v>2005</c:v>
                </c:pt>
                <c:pt idx="8">
                  <c:v>2006</c:v>
                </c:pt>
                <c:pt idx="9">
                  <c:v>2007</c:v>
                </c:pt>
                <c:pt idx="10">
                  <c:v>2008</c:v>
                </c:pt>
                <c:pt idx="11">
                  <c:v>2009</c:v>
                </c:pt>
                <c:pt idx="12">
                  <c:v>2010</c:v>
                </c:pt>
                <c:pt idx="13">
                  <c:v>2011</c:v>
                </c:pt>
                <c:pt idx="14">
                  <c:v>2012</c:v>
                </c:pt>
                <c:pt idx="15">
                  <c:v>2013</c:v>
                </c:pt>
                <c:pt idx="16">
                  <c:v>2014</c:v>
                </c:pt>
                <c:pt idx="17">
                  <c:v>2015</c:v>
                </c:pt>
                <c:pt idx="18">
                  <c:v>2016</c:v>
                </c:pt>
                <c:pt idx="19">
                  <c:v>2017</c:v>
                </c:pt>
                <c:pt idx="20">
                  <c:v>2018</c:v>
                </c:pt>
                <c:pt idx="21">
                  <c:v>2019</c:v>
                </c:pt>
                <c:pt idx="22">
                  <c:v>2020</c:v>
                </c:pt>
                <c:pt idx="23">
                  <c:v>2021</c:v>
                </c:pt>
              </c:numCache>
            </c:numRef>
          </c:cat>
          <c:val>
            <c:numRef>
              <c:f>WEO_Data!$N$2:$AK$2</c:f>
              <c:numCache>
                <c:formatCode>0</c:formatCode>
                <c:ptCount val="24"/>
                <c:pt idx="0">
                  <c:v>313.06400000000002</c:v>
                </c:pt>
                <c:pt idx="1">
                  <c:v>346.57400000000001</c:v>
                </c:pt>
                <c:pt idx="2">
                  <c:v>319.358</c:v>
                </c:pt>
                <c:pt idx="3">
                  <c:v>296.26799999999997</c:v>
                </c:pt>
                <c:pt idx="4">
                  <c:v>302.54599999999999</c:v>
                </c:pt>
                <c:pt idx="5">
                  <c:v>326.07499999999999</c:v>
                </c:pt>
                <c:pt idx="6">
                  <c:v>383.27</c:v>
                </c:pt>
                <c:pt idx="7">
                  <c:v>416.81099999999998</c:v>
                </c:pt>
                <c:pt idx="8">
                  <c:v>435.334</c:v>
                </c:pt>
                <c:pt idx="9">
                  <c:v>482.19799999999998</c:v>
                </c:pt>
                <c:pt idx="10">
                  <c:v>563.649</c:v>
                </c:pt>
                <c:pt idx="11">
                  <c:v>520.40300000000002</c:v>
                </c:pt>
                <c:pt idx="12">
                  <c:v>471.904</c:v>
                </c:pt>
                <c:pt idx="13">
                  <c:v>594.58600000000001</c:v>
                </c:pt>
                <c:pt idx="14">
                  <c:v>657.64499999999998</c:v>
                </c:pt>
                <c:pt idx="15">
                  <c:v>664.07799999999997</c:v>
                </c:pt>
                <c:pt idx="16">
                  <c:v>673.96900000000005</c:v>
                </c:pt>
                <c:pt idx="17">
                  <c:v>589.86</c:v>
                </c:pt>
                <c:pt idx="18">
                  <c:v>428.92700000000002</c:v>
                </c:pt>
                <c:pt idx="19">
                  <c:v>461.41500000000002</c:v>
                </c:pt>
                <c:pt idx="20">
                  <c:v>503.30200000000002</c:v>
                </c:pt>
                <c:pt idx="21">
                  <c:v>506.81700000000001</c:v>
                </c:pt>
                <c:pt idx="22">
                  <c:v>448.84399999999999</c:v>
                </c:pt>
                <c:pt idx="23">
                  <c:v>492.27300000000002</c:v>
                </c:pt>
              </c:numCache>
            </c:numRef>
          </c:val>
          <c:smooth val="0"/>
          <c:extLst>
            <c:ext xmlns:c16="http://schemas.microsoft.com/office/drawing/2014/chart" uri="{C3380CC4-5D6E-409C-BE32-E72D297353CC}">
              <c16:uniqueId val="{00000001-B8A7-4445-9761-209A75DFFF5E}"/>
            </c:ext>
          </c:extLst>
        </c:ser>
        <c:dLbls>
          <c:showLegendKey val="0"/>
          <c:showVal val="0"/>
          <c:showCatName val="0"/>
          <c:showSerName val="0"/>
          <c:showPercent val="0"/>
          <c:showBubbleSize val="0"/>
        </c:dLbls>
        <c:smooth val="0"/>
        <c:axId val="1373882991"/>
        <c:axId val="1373882575"/>
      </c:lineChart>
      <c:catAx>
        <c:axId val="137388299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1373882575"/>
        <c:crosses val="autoZero"/>
        <c:auto val="1"/>
        <c:lblAlgn val="ctr"/>
        <c:lblOffset val="100"/>
        <c:noMultiLvlLbl val="0"/>
      </c:catAx>
      <c:valAx>
        <c:axId val="1373882575"/>
        <c:scaling>
          <c:orientation val="minMax"/>
          <c:max val="800"/>
          <c:min val="20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800" b="0" i="0" u="none" strike="noStrike" kern="1200" baseline="0">
                    <a:solidFill>
                      <a:schemeClr val="tx1"/>
                    </a:solidFill>
                    <a:latin typeface="Arial" panose="020B0604020202020204" pitchFamily="34" charset="0"/>
                    <a:ea typeface="+mn-ea"/>
                    <a:cs typeface="Arial" panose="020B0604020202020204" pitchFamily="34" charset="0"/>
                  </a:defRPr>
                </a:pPr>
                <a:r>
                  <a:rPr lang="en-US"/>
                  <a:t>USD</a:t>
                </a:r>
              </a:p>
            </c:rich>
          </c:tx>
          <c:overlay val="0"/>
          <c:spPr>
            <a:noFill/>
            <a:ln>
              <a:noFill/>
            </a:ln>
            <a:effectLst/>
          </c:spPr>
          <c:txPr>
            <a:bodyPr rot="-5400000" spcFirstLastPara="1" vertOverflow="ellipsis" vert="horz" wrap="square" anchor="ctr" anchorCtr="1"/>
            <a:lstStyle/>
            <a:p>
              <a:pPr>
                <a:defRPr sz="8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1373882991"/>
        <c:crossesAt val="1"/>
        <c:crossBetween val="midCat"/>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800">
          <a:solidFill>
            <a:schemeClr val="tx1"/>
          </a:solidFill>
          <a:latin typeface="Arial" panose="020B0604020202020204" pitchFamily="34" charset="0"/>
          <a:cs typeface="Arial" panose="020B0604020202020204" pitchFamily="34" charset="0"/>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000" b="1" i="0" u="none" strike="noStrike" kern="1200" spc="0" baseline="0">
                <a:solidFill>
                  <a:schemeClr val="tx1"/>
                </a:solidFill>
                <a:latin typeface="+mn-lt"/>
                <a:ea typeface="+mn-ea"/>
                <a:cs typeface="+mn-cs"/>
              </a:defRPr>
            </a:pPr>
            <a:r>
              <a:rPr lang="en-US" sz="1000" b="1" dirty="0"/>
              <a:t>Ghana</a:t>
            </a:r>
          </a:p>
        </c:rich>
      </c:tx>
      <c:layout>
        <c:manualLayout>
          <c:xMode val="edge"/>
          <c:yMode val="edge"/>
          <c:x val="0.43990959463400414"/>
          <c:y val="2.9845391074027772E-2"/>
        </c:manualLayout>
      </c:layout>
      <c:overlay val="0"/>
      <c:spPr>
        <a:noFill/>
        <a:ln>
          <a:noFill/>
        </a:ln>
        <a:effectLst/>
      </c:spPr>
      <c:txPr>
        <a:bodyPr rot="0" spcFirstLastPara="1" vertOverflow="ellipsis" vert="horz" wrap="square" anchor="ctr" anchorCtr="1"/>
        <a:lstStyle/>
        <a:p>
          <a:pPr>
            <a:defRPr sz="1000" b="1" i="0" u="none" strike="noStrike" kern="1200" spc="0" baseline="0">
              <a:solidFill>
                <a:schemeClr val="tx1"/>
              </a:solidFill>
              <a:latin typeface="+mn-lt"/>
              <a:ea typeface="+mn-ea"/>
              <a:cs typeface="+mn-cs"/>
            </a:defRPr>
          </a:pPr>
          <a:endParaRPr lang="en-US"/>
        </a:p>
      </c:txPr>
    </c:title>
    <c:autoTitleDeleted val="0"/>
    <c:plotArea>
      <c:layout>
        <c:manualLayout>
          <c:layoutTarget val="inner"/>
          <c:xMode val="edge"/>
          <c:yMode val="edge"/>
          <c:x val="0.16055159049439793"/>
          <c:y val="0.14632725436291447"/>
          <c:w val="0.81699165217111958"/>
          <c:h val="0.64778554555626755"/>
        </c:manualLayout>
      </c:layout>
      <c:lineChart>
        <c:grouping val="standard"/>
        <c:varyColors val="0"/>
        <c:ser>
          <c:idx val="0"/>
          <c:order val="0"/>
          <c:tx>
            <c:strRef>
              <c:f>'Employment other countries'!$B$8</c:f>
              <c:strCache>
                <c:ptCount val="1"/>
                <c:pt idx="0">
                  <c:v>Agriculture</c:v>
                </c:pt>
              </c:strCache>
            </c:strRef>
          </c:tx>
          <c:spPr>
            <a:ln w="28575" cap="rnd">
              <a:solidFill>
                <a:schemeClr val="accent1"/>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countries'!$C$8:$AE$8</c:f>
              <c:numCache>
                <c:formatCode>0</c:formatCode>
                <c:ptCount val="29"/>
                <c:pt idx="0">
                  <c:v>57.119998931884801</c:v>
                </c:pt>
                <c:pt idx="1">
                  <c:v>56.939998626708999</c:v>
                </c:pt>
                <c:pt idx="2">
                  <c:v>56.680000305175803</c:v>
                </c:pt>
                <c:pt idx="3">
                  <c:v>56.490001678466797</c:v>
                </c:pt>
                <c:pt idx="4">
                  <c:v>56.240001678466797</c:v>
                </c:pt>
                <c:pt idx="5">
                  <c:v>55.970001220703097</c:v>
                </c:pt>
                <c:pt idx="6">
                  <c:v>55.659999847412102</c:v>
                </c:pt>
                <c:pt idx="7">
                  <c:v>55.299999237060497</c:v>
                </c:pt>
                <c:pt idx="8">
                  <c:v>54.950000762939503</c:v>
                </c:pt>
                <c:pt idx="9">
                  <c:v>55.029998779296903</c:v>
                </c:pt>
                <c:pt idx="10">
                  <c:v>55.099998474121101</c:v>
                </c:pt>
                <c:pt idx="11">
                  <c:v>55.119998931884801</c:v>
                </c:pt>
                <c:pt idx="12">
                  <c:v>55.099998474121101</c:v>
                </c:pt>
                <c:pt idx="13">
                  <c:v>55.049999237060497</c:v>
                </c:pt>
                <c:pt idx="14">
                  <c:v>54.959999084472699</c:v>
                </c:pt>
                <c:pt idx="15">
                  <c:v>54.930000305175803</c:v>
                </c:pt>
                <c:pt idx="16">
                  <c:v>53.939998626708999</c:v>
                </c:pt>
                <c:pt idx="17">
                  <c:v>52.630001068115199</c:v>
                </c:pt>
                <c:pt idx="18">
                  <c:v>51.509998321533203</c:v>
                </c:pt>
                <c:pt idx="19">
                  <c:v>50.110000610351598</c:v>
                </c:pt>
                <c:pt idx="20">
                  <c:v>48.360000610351598</c:v>
                </c:pt>
                <c:pt idx="21">
                  <c:v>46.849998474121101</c:v>
                </c:pt>
                <c:pt idx="22">
                  <c:v>45.380001068115199</c:v>
                </c:pt>
                <c:pt idx="23">
                  <c:v>40.409999847412102</c:v>
                </c:pt>
                <c:pt idx="24">
                  <c:v>35.180000305175803</c:v>
                </c:pt>
                <c:pt idx="25">
                  <c:v>33.889999389648402</c:v>
                </c:pt>
                <c:pt idx="26">
                  <c:v>32.569999694824197</c:v>
                </c:pt>
                <c:pt idx="27">
                  <c:v>31.049999237060501</c:v>
                </c:pt>
                <c:pt idx="28">
                  <c:v>29.75</c:v>
                </c:pt>
              </c:numCache>
            </c:numRef>
          </c:val>
          <c:smooth val="0"/>
          <c:extLst>
            <c:ext xmlns:c16="http://schemas.microsoft.com/office/drawing/2014/chart" uri="{C3380CC4-5D6E-409C-BE32-E72D297353CC}">
              <c16:uniqueId val="{00000000-D36D-44E7-9431-96E9731FE797}"/>
            </c:ext>
          </c:extLst>
        </c:ser>
        <c:ser>
          <c:idx val="1"/>
          <c:order val="1"/>
          <c:tx>
            <c:strRef>
              <c:f>'Employment other countries'!$B$9</c:f>
              <c:strCache>
                <c:ptCount val="1"/>
                <c:pt idx="0">
                  <c:v>Industry</c:v>
                </c:pt>
              </c:strCache>
            </c:strRef>
          </c:tx>
          <c:spPr>
            <a:ln w="28575" cap="rnd">
              <a:solidFill>
                <a:schemeClr val="tx2"/>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countries'!$C$9:$AE$9</c:f>
              <c:numCache>
                <c:formatCode>0</c:formatCode>
                <c:ptCount val="29"/>
                <c:pt idx="0">
                  <c:v>14.0100002288818</c:v>
                </c:pt>
                <c:pt idx="1">
                  <c:v>14</c:v>
                </c:pt>
                <c:pt idx="2">
                  <c:v>14.060000419616699</c:v>
                </c:pt>
                <c:pt idx="3">
                  <c:v>14.0299997329712</c:v>
                </c:pt>
                <c:pt idx="4">
                  <c:v>14.0100002288818</c:v>
                </c:pt>
                <c:pt idx="5">
                  <c:v>13.9700002670288</c:v>
                </c:pt>
                <c:pt idx="6">
                  <c:v>13.9799995422363</c:v>
                </c:pt>
                <c:pt idx="7">
                  <c:v>13.9700002670288</c:v>
                </c:pt>
                <c:pt idx="8">
                  <c:v>13.9899997711182</c:v>
                </c:pt>
                <c:pt idx="9">
                  <c:v>14</c:v>
                </c:pt>
                <c:pt idx="10">
                  <c:v>14.0100002288818</c:v>
                </c:pt>
                <c:pt idx="11">
                  <c:v>14.039999961853001</c:v>
                </c:pt>
                <c:pt idx="12">
                  <c:v>14.069999694824199</c:v>
                </c:pt>
                <c:pt idx="13">
                  <c:v>14.1099996566772</c:v>
                </c:pt>
                <c:pt idx="14">
                  <c:v>14.180000305175801</c:v>
                </c:pt>
                <c:pt idx="15">
                  <c:v>14.2299995422363</c:v>
                </c:pt>
                <c:pt idx="16">
                  <c:v>14.069999694824199</c:v>
                </c:pt>
                <c:pt idx="17">
                  <c:v>13.949999809265099</c:v>
                </c:pt>
                <c:pt idx="18">
                  <c:v>13.8699998855591</c:v>
                </c:pt>
                <c:pt idx="19">
                  <c:v>13.9099998474121</c:v>
                </c:pt>
                <c:pt idx="20">
                  <c:v>13.9799995422363</c:v>
                </c:pt>
                <c:pt idx="21">
                  <c:v>14</c:v>
                </c:pt>
                <c:pt idx="22">
                  <c:v>14.069999694824199</c:v>
                </c:pt>
                <c:pt idx="23">
                  <c:v>16.200000762939499</c:v>
                </c:pt>
                <c:pt idx="24">
                  <c:v>18.690000534057599</c:v>
                </c:pt>
                <c:pt idx="25">
                  <c:v>19.129999160766602</c:v>
                </c:pt>
                <c:pt idx="26">
                  <c:v>19.620000839233398</c:v>
                </c:pt>
                <c:pt idx="27">
                  <c:v>20.469999313354499</c:v>
                </c:pt>
                <c:pt idx="28">
                  <c:v>21.049999237060501</c:v>
                </c:pt>
              </c:numCache>
            </c:numRef>
          </c:val>
          <c:smooth val="0"/>
          <c:extLst>
            <c:ext xmlns:c16="http://schemas.microsoft.com/office/drawing/2014/chart" uri="{C3380CC4-5D6E-409C-BE32-E72D297353CC}">
              <c16:uniqueId val="{00000001-D36D-44E7-9431-96E9731FE797}"/>
            </c:ext>
          </c:extLst>
        </c:ser>
        <c:ser>
          <c:idx val="2"/>
          <c:order val="2"/>
          <c:tx>
            <c:strRef>
              <c:f>'Employment other countries'!$B$10</c:f>
              <c:strCache>
                <c:ptCount val="1"/>
                <c:pt idx="0">
                  <c:v>Services</c:v>
                </c:pt>
              </c:strCache>
            </c:strRef>
          </c:tx>
          <c:spPr>
            <a:ln w="28575" cap="rnd">
              <a:solidFill>
                <a:schemeClr val="accent3"/>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countries'!$C$10:$AE$10</c:f>
              <c:numCache>
                <c:formatCode>0</c:formatCode>
                <c:ptCount val="29"/>
                <c:pt idx="0">
                  <c:v>28.870000839233398</c:v>
                </c:pt>
                <c:pt idx="1">
                  <c:v>29.059999465942401</c:v>
                </c:pt>
                <c:pt idx="2">
                  <c:v>29.2600002288818</c:v>
                </c:pt>
                <c:pt idx="3">
                  <c:v>29.4799995422363</c:v>
                </c:pt>
                <c:pt idx="4">
                  <c:v>29.75</c:v>
                </c:pt>
                <c:pt idx="5">
                  <c:v>30.059999465942401</c:v>
                </c:pt>
                <c:pt idx="6">
                  <c:v>30.360000610351602</c:v>
                </c:pt>
                <c:pt idx="7">
                  <c:v>30.7299995422363</c:v>
                </c:pt>
                <c:pt idx="8">
                  <c:v>31.069999694824201</c:v>
                </c:pt>
                <c:pt idx="9">
                  <c:v>30.969999313354499</c:v>
                </c:pt>
                <c:pt idx="10">
                  <c:v>30.899999618530298</c:v>
                </c:pt>
                <c:pt idx="11">
                  <c:v>30.850000381469702</c:v>
                </c:pt>
                <c:pt idx="12">
                  <c:v>30.840000152587901</c:v>
                </c:pt>
                <c:pt idx="13">
                  <c:v>30.850000381469702</c:v>
                </c:pt>
                <c:pt idx="14">
                  <c:v>30.860000610351602</c:v>
                </c:pt>
                <c:pt idx="15">
                  <c:v>30.840000152587901</c:v>
                </c:pt>
                <c:pt idx="16">
                  <c:v>31.9899997711182</c:v>
                </c:pt>
                <c:pt idx="17">
                  <c:v>33.419998168945298</c:v>
                </c:pt>
                <c:pt idx="18">
                  <c:v>34.619998931884801</c:v>
                </c:pt>
                <c:pt idx="19">
                  <c:v>35.9799995422363</c:v>
                </c:pt>
                <c:pt idx="20">
                  <c:v>37.650001525878899</c:v>
                </c:pt>
                <c:pt idx="21">
                  <c:v>39.150001525878899</c:v>
                </c:pt>
                <c:pt idx="22">
                  <c:v>40.549999237060497</c:v>
                </c:pt>
                <c:pt idx="23">
                  <c:v>43.389999389648402</c:v>
                </c:pt>
                <c:pt idx="24">
                  <c:v>46.139999389648402</c:v>
                </c:pt>
                <c:pt idx="25">
                  <c:v>46.9799995422363</c:v>
                </c:pt>
                <c:pt idx="26">
                  <c:v>47.810001373291001</c:v>
                </c:pt>
                <c:pt idx="27">
                  <c:v>48.4799995422363</c:v>
                </c:pt>
                <c:pt idx="28">
                  <c:v>49.209999084472699</c:v>
                </c:pt>
              </c:numCache>
            </c:numRef>
          </c:val>
          <c:smooth val="0"/>
          <c:extLst>
            <c:ext xmlns:c16="http://schemas.microsoft.com/office/drawing/2014/chart" uri="{C3380CC4-5D6E-409C-BE32-E72D297353CC}">
              <c16:uniqueId val="{00000002-D36D-44E7-9431-96E9731FE797}"/>
            </c:ext>
          </c:extLst>
        </c:ser>
        <c:dLbls>
          <c:showLegendKey val="0"/>
          <c:showVal val="0"/>
          <c:showCatName val="0"/>
          <c:showSerName val="0"/>
          <c:showPercent val="0"/>
          <c:showBubbleSize val="0"/>
        </c:dLbls>
        <c:smooth val="0"/>
        <c:axId val="1659466655"/>
        <c:axId val="1617463791"/>
      </c:lineChart>
      <c:catAx>
        <c:axId val="165946665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617463791"/>
        <c:crosses val="autoZero"/>
        <c:auto val="1"/>
        <c:lblAlgn val="ctr"/>
        <c:lblOffset val="100"/>
        <c:noMultiLvlLbl val="0"/>
      </c:catAx>
      <c:valAx>
        <c:axId val="161746379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659466655"/>
        <c:crosses val="autoZero"/>
        <c:crossBetween val="between"/>
      </c:valAx>
      <c:spPr>
        <a:noFill/>
        <a:ln>
          <a:noFill/>
        </a:ln>
        <a:effectLst/>
      </c:spPr>
    </c:plotArea>
    <c:legend>
      <c:legendPos val="b"/>
      <c:layout>
        <c:manualLayout>
          <c:xMode val="edge"/>
          <c:yMode val="edge"/>
          <c:x val="6.9645900648737782E-2"/>
          <c:y val="0.28320246191586995"/>
          <c:w val="0.67092812956675563"/>
          <c:h val="0.1400610442883446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900">
          <a:solidFill>
            <a:schemeClr val="tx1"/>
          </a:solidFill>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250039424352364"/>
          <c:y val="5.3898434823404499E-2"/>
          <c:w val="0.80134246431326561"/>
          <c:h val="0.73563982139795736"/>
        </c:manualLayout>
      </c:layout>
      <c:lineChart>
        <c:grouping val="standard"/>
        <c:varyColors val="0"/>
        <c:ser>
          <c:idx val="0"/>
          <c:order val="0"/>
          <c:tx>
            <c:strRef>
              <c:f>'Employment other countries'!$B$17</c:f>
              <c:strCache>
                <c:ptCount val="1"/>
                <c:pt idx="0">
                  <c:v>Agriculture</c:v>
                </c:pt>
              </c:strCache>
            </c:strRef>
          </c:tx>
          <c:spPr>
            <a:ln w="28575" cap="rnd">
              <a:solidFill>
                <a:schemeClr val="accent1"/>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countries'!$C$17:$AE$17</c:f>
              <c:numCache>
                <c:formatCode>0</c:formatCode>
                <c:ptCount val="29"/>
                <c:pt idx="0">
                  <c:v>70.879997253417997</c:v>
                </c:pt>
                <c:pt idx="1">
                  <c:v>69.809997558593807</c:v>
                </c:pt>
                <c:pt idx="2">
                  <c:v>68.779998779296903</c:v>
                </c:pt>
                <c:pt idx="3">
                  <c:v>67.819999694824205</c:v>
                </c:pt>
                <c:pt idx="4">
                  <c:v>66.970001220703097</c:v>
                </c:pt>
                <c:pt idx="5">
                  <c:v>66.309997558593807</c:v>
                </c:pt>
                <c:pt idx="6">
                  <c:v>65.279998779296903</c:v>
                </c:pt>
                <c:pt idx="7">
                  <c:v>64.769996643066406</c:v>
                </c:pt>
                <c:pt idx="8">
                  <c:v>64.989997863769503</c:v>
                </c:pt>
                <c:pt idx="9">
                  <c:v>65.25</c:v>
                </c:pt>
                <c:pt idx="10">
                  <c:v>63.990001678466797</c:v>
                </c:pt>
                <c:pt idx="11">
                  <c:v>62.040000915527301</c:v>
                </c:pt>
                <c:pt idx="12">
                  <c:v>59.680000305175803</c:v>
                </c:pt>
                <c:pt idx="13">
                  <c:v>57.900001525878899</c:v>
                </c:pt>
                <c:pt idx="14">
                  <c:v>54.830001831054702</c:v>
                </c:pt>
                <c:pt idx="15">
                  <c:v>51.669998168945298</c:v>
                </c:pt>
                <c:pt idx="16">
                  <c:v>49.279998779296903</c:v>
                </c:pt>
                <c:pt idx="17">
                  <c:v>48.619998931884801</c:v>
                </c:pt>
                <c:pt idx="18">
                  <c:v>47.549999237060497</c:v>
                </c:pt>
                <c:pt idx="19">
                  <c:v>48.709999084472699</c:v>
                </c:pt>
                <c:pt idx="20">
                  <c:v>48.310001373291001</c:v>
                </c:pt>
                <c:pt idx="21">
                  <c:v>47.369998931884801</c:v>
                </c:pt>
                <c:pt idx="22">
                  <c:v>46.810001373291001</c:v>
                </c:pt>
                <c:pt idx="23">
                  <c:v>46.340000152587898</c:v>
                </c:pt>
                <c:pt idx="24">
                  <c:v>44.0200004577637</c:v>
                </c:pt>
                <c:pt idx="25">
                  <c:v>41.869998931884801</c:v>
                </c:pt>
                <c:pt idx="26">
                  <c:v>40.159999847412102</c:v>
                </c:pt>
                <c:pt idx="27">
                  <c:v>38.700000762939503</c:v>
                </c:pt>
                <c:pt idx="28">
                  <c:v>37.220001220703097</c:v>
                </c:pt>
              </c:numCache>
            </c:numRef>
          </c:val>
          <c:smooth val="0"/>
          <c:extLst>
            <c:ext xmlns:c16="http://schemas.microsoft.com/office/drawing/2014/chart" uri="{C3380CC4-5D6E-409C-BE32-E72D297353CC}">
              <c16:uniqueId val="{00000000-846F-46D3-AEDC-D7A1A13074D5}"/>
            </c:ext>
          </c:extLst>
        </c:ser>
        <c:ser>
          <c:idx val="1"/>
          <c:order val="1"/>
          <c:tx>
            <c:strRef>
              <c:f>'Employment other countries'!$B$18</c:f>
              <c:strCache>
                <c:ptCount val="1"/>
                <c:pt idx="0">
                  <c:v>Industry</c:v>
                </c:pt>
              </c:strCache>
            </c:strRef>
          </c:tx>
          <c:spPr>
            <a:ln w="28575" cap="rnd">
              <a:solidFill>
                <a:schemeClr val="tx2"/>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countries'!$C$18:$AE$18</c:f>
              <c:numCache>
                <c:formatCode>0</c:formatCode>
                <c:ptCount val="29"/>
                <c:pt idx="0">
                  <c:v>10.1199998855591</c:v>
                </c:pt>
                <c:pt idx="1">
                  <c:v>10.579999923706101</c:v>
                </c:pt>
                <c:pt idx="2">
                  <c:v>11.0900001525879</c:v>
                </c:pt>
                <c:pt idx="3">
                  <c:v>11.4700002670288</c:v>
                </c:pt>
                <c:pt idx="4">
                  <c:v>11.819999694824199</c:v>
                </c:pt>
                <c:pt idx="5">
                  <c:v>12.25</c:v>
                </c:pt>
                <c:pt idx="6">
                  <c:v>12.680000305175801</c:v>
                </c:pt>
                <c:pt idx="7">
                  <c:v>11.579999923706101</c:v>
                </c:pt>
                <c:pt idx="8">
                  <c:v>11.9899997711182</c:v>
                </c:pt>
                <c:pt idx="9">
                  <c:v>12.439999580383301</c:v>
                </c:pt>
                <c:pt idx="10">
                  <c:v>13.8999996185303</c:v>
                </c:pt>
                <c:pt idx="11">
                  <c:v>14.699999809265099</c:v>
                </c:pt>
                <c:pt idx="12">
                  <c:v>16.409999847412099</c:v>
                </c:pt>
                <c:pt idx="13">
                  <c:v>17.350000381469702</c:v>
                </c:pt>
                <c:pt idx="14">
                  <c:v>18.7399997711182</c:v>
                </c:pt>
                <c:pt idx="15">
                  <c:v>20.190000534057599</c:v>
                </c:pt>
                <c:pt idx="16">
                  <c:v>20.389999389648398</c:v>
                </c:pt>
                <c:pt idx="17">
                  <c:v>21</c:v>
                </c:pt>
                <c:pt idx="18">
                  <c:v>21.850000381469702</c:v>
                </c:pt>
                <c:pt idx="19">
                  <c:v>21.680000305175799</c:v>
                </c:pt>
                <c:pt idx="20">
                  <c:v>21.280000686645501</c:v>
                </c:pt>
                <c:pt idx="21">
                  <c:v>21.190000534057599</c:v>
                </c:pt>
                <c:pt idx="22">
                  <c:v>21.180000305175799</c:v>
                </c:pt>
                <c:pt idx="23">
                  <c:v>21.450000762939499</c:v>
                </c:pt>
                <c:pt idx="24">
                  <c:v>22.7399997711182</c:v>
                </c:pt>
                <c:pt idx="25">
                  <c:v>24.7600002288818</c:v>
                </c:pt>
                <c:pt idx="26">
                  <c:v>25.780000686645501</c:v>
                </c:pt>
                <c:pt idx="27">
                  <c:v>26.639999389648398</c:v>
                </c:pt>
                <c:pt idx="28">
                  <c:v>27.440000534057599</c:v>
                </c:pt>
              </c:numCache>
            </c:numRef>
          </c:val>
          <c:smooth val="0"/>
          <c:extLst>
            <c:ext xmlns:c16="http://schemas.microsoft.com/office/drawing/2014/chart" uri="{C3380CC4-5D6E-409C-BE32-E72D297353CC}">
              <c16:uniqueId val="{00000001-846F-46D3-AEDC-D7A1A13074D5}"/>
            </c:ext>
          </c:extLst>
        </c:ser>
        <c:ser>
          <c:idx val="2"/>
          <c:order val="2"/>
          <c:tx>
            <c:strRef>
              <c:f>'Employment other countries'!$B$19</c:f>
              <c:strCache>
                <c:ptCount val="1"/>
                <c:pt idx="0">
                  <c:v>Services</c:v>
                </c:pt>
              </c:strCache>
            </c:strRef>
          </c:tx>
          <c:spPr>
            <a:ln w="28575" cap="rnd">
              <a:solidFill>
                <a:schemeClr val="accent3"/>
              </a:solidFill>
              <a:round/>
            </a:ln>
            <a:effectLst/>
          </c:spPr>
          <c:marker>
            <c:symbol val="none"/>
          </c:marker>
          <c:cat>
            <c:strRef>
              <c:f>'Employment other countries'!$C$4:$AE$4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 other countries'!$C$19:$AE$19</c:f>
              <c:numCache>
                <c:formatCode>0</c:formatCode>
                <c:ptCount val="29"/>
                <c:pt idx="0">
                  <c:v>19</c:v>
                </c:pt>
                <c:pt idx="1">
                  <c:v>19.620000839233398</c:v>
                </c:pt>
                <c:pt idx="2">
                  <c:v>20.129999160766602</c:v>
                </c:pt>
                <c:pt idx="3">
                  <c:v>20.709999084472699</c:v>
                </c:pt>
                <c:pt idx="4">
                  <c:v>21.219999313354499</c:v>
                </c:pt>
                <c:pt idx="5">
                  <c:v>21.440000534057599</c:v>
                </c:pt>
                <c:pt idx="6">
                  <c:v>22.040000915527301</c:v>
                </c:pt>
                <c:pt idx="7">
                  <c:v>23.649999618530298</c:v>
                </c:pt>
                <c:pt idx="8">
                  <c:v>23.0200004577637</c:v>
                </c:pt>
                <c:pt idx="9">
                  <c:v>22.309999465942401</c:v>
                </c:pt>
                <c:pt idx="10">
                  <c:v>22.110000610351602</c:v>
                </c:pt>
                <c:pt idx="11">
                  <c:v>23.2600002288818</c:v>
                </c:pt>
                <c:pt idx="12">
                  <c:v>23.909999847412099</c:v>
                </c:pt>
                <c:pt idx="13">
                  <c:v>24.75</c:v>
                </c:pt>
                <c:pt idx="14">
                  <c:v>26.440000534057599</c:v>
                </c:pt>
                <c:pt idx="15">
                  <c:v>28.149999618530298</c:v>
                </c:pt>
                <c:pt idx="16">
                  <c:v>30.329999923706101</c:v>
                </c:pt>
                <c:pt idx="17">
                  <c:v>30.379999160766602</c:v>
                </c:pt>
                <c:pt idx="18">
                  <c:v>30.600000381469702</c:v>
                </c:pt>
                <c:pt idx="19">
                  <c:v>29.610000610351602</c:v>
                </c:pt>
                <c:pt idx="20">
                  <c:v>30.409999847412099</c:v>
                </c:pt>
                <c:pt idx="21">
                  <c:v>31.440000534057599</c:v>
                </c:pt>
                <c:pt idx="22">
                  <c:v>32</c:v>
                </c:pt>
                <c:pt idx="23">
                  <c:v>32.220001220703097</c:v>
                </c:pt>
                <c:pt idx="24">
                  <c:v>33.240001678466797</c:v>
                </c:pt>
                <c:pt idx="25">
                  <c:v>33.369998931884801</c:v>
                </c:pt>
                <c:pt idx="26">
                  <c:v>34.069999694824197</c:v>
                </c:pt>
                <c:pt idx="27">
                  <c:v>34.659999847412102</c:v>
                </c:pt>
                <c:pt idx="28">
                  <c:v>35.340000152587898</c:v>
                </c:pt>
              </c:numCache>
            </c:numRef>
          </c:val>
          <c:smooth val="0"/>
          <c:extLst>
            <c:ext xmlns:c16="http://schemas.microsoft.com/office/drawing/2014/chart" uri="{C3380CC4-5D6E-409C-BE32-E72D297353CC}">
              <c16:uniqueId val="{00000002-846F-46D3-AEDC-D7A1A13074D5}"/>
            </c:ext>
          </c:extLst>
        </c:ser>
        <c:dLbls>
          <c:showLegendKey val="0"/>
          <c:showVal val="0"/>
          <c:showCatName val="0"/>
          <c:showSerName val="0"/>
          <c:showPercent val="0"/>
          <c:showBubbleSize val="0"/>
        </c:dLbls>
        <c:smooth val="0"/>
        <c:axId val="1672639951"/>
        <c:axId val="1678579311"/>
      </c:lineChart>
      <c:catAx>
        <c:axId val="167263995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678579311"/>
        <c:crosses val="autoZero"/>
        <c:auto val="1"/>
        <c:lblAlgn val="ctr"/>
        <c:lblOffset val="100"/>
        <c:noMultiLvlLbl val="0"/>
      </c:catAx>
      <c:valAx>
        <c:axId val="167857931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672639951"/>
        <c:crosses val="autoZero"/>
        <c:crossBetween val="between"/>
      </c:valAx>
      <c:spPr>
        <a:noFill/>
        <a:ln>
          <a:noFill/>
        </a:ln>
        <a:effectLst/>
      </c:spPr>
    </c:plotArea>
    <c:legend>
      <c:legendPos val="b"/>
      <c:layout>
        <c:manualLayout>
          <c:xMode val="edge"/>
          <c:yMode val="edge"/>
          <c:x val="3.6296923858670921E-2"/>
          <c:y val="0.35244715098352108"/>
          <c:w val="0.47782195117767134"/>
          <c:h val="0.16682884302942511"/>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800">
          <a:solidFill>
            <a:schemeClr val="tx1"/>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960" b="0" i="0" u="none" strike="noStrike" kern="1200" spc="0" baseline="0">
                <a:solidFill>
                  <a:schemeClr val="tx1"/>
                </a:solidFill>
                <a:latin typeface="+mn-lt"/>
                <a:ea typeface="+mn-ea"/>
                <a:cs typeface="+mn-cs"/>
              </a:defRPr>
            </a:pPr>
            <a:r>
              <a:rPr lang="en-US" sz="1000" b="1" dirty="0"/>
              <a:t>Mozambique</a:t>
            </a:r>
          </a:p>
        </c:rich>
      </c:tx>
      <c:layout>
        <c:manualLayout>
          <c:xMode val="edge"/>
          <c:yMode val="edge"/>
          <c:x val="0.34561719958354936"/>
          <c:y val="1.6252761496656221E-2"/>
        </c:manualLayout>
      </c:layout>
      <c:overlay val="0"/>
      <c:spPr>
        <a:noFill/>
        <a:ln>
          <a:noFill/>
        </a:ln>
        <a:effectLst/>
      </c:spPr>
      <c:txPr>
        <a:bodyPr rot="0" spcFirstLastPara="1" vertOverflow="ellipsis" vert="horz" wrap="square" anchor="ctr" anchorCtr="1"/>
        <a:lstStyle/>
        <a:p>
          <a:pPr>
            <a:defRPr sz="960" b="0" i="0" u="none" strike="noStrike" kern="1200" spc="0" baseline="0">
              <a:solidFill>
                <a:schemeClr val="tx1"/>
              </a:solidFill>
              <a:latin typeface="+mn-lt"/>
              <a:ea typeface="+mn-ea"/>
              <a:cs typeface="+mn-cs"/>
            </a:defRPr>
          </a:pPr>
          <a:endParaRPr lang="en-US"/>
        </a:p>
      </c:txPr>
    </c:title>
    <c:autoTitleDeleted val="0"/>
    <c:plotArea>
      <c:layout>
        <c:manualLayout>
          <c:layoutTarget val="inner"/>
          <c:xMode val="edge"/>
          <c:yMode val="edge"/>
          <c:x val="0.11987652152304404"/>
          <c:y val="8.8635095751140841E-2"/>
          <c:w val="0.8202694075860858"/>
          <c:h val="0.70460925273463015"/>
        </c:manualLayout>
      </c:layout>
      <c:lineChart>
        <c:grouping val="standard"/>
        <c:varyColors val="0"/>
        <c:ser>
          <c:idx val="0"/>
          <c:order val="0"/>
          <c:tx>
            <c:strRef>
              <c:f>Employment!$B$8</c:f>
              <c:strCache>
                <c:ptCount val="1"/>
                <c:pt idx="0">
                  <c:v>Agriculture </c:v>
                </c:pt>
              </c:strCache>
            </c:strRef>
          </c:tx>
          <c:spPr>
            <a:ln w="28575" cap="rnd">
              <a:solidFill>
                <a:schemeClr val="accent1"/>
              </a:solidFill>
              <a:round/>
            </a:ln>
            <a:effectLst/>
          </c:spPr>
          <c:marker>
            <c:symbol val="none"/>
          </c:marker>
          <c:cat>
            <c:strRef>
              <c:f>Employment!$C$4:$AE$4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Employment!$C$8:$AE$8</c:f>
              <c:numCache>
                <c:formatCode>0</c:formatCode>
                <c:ptCount val="29"/>
                <c:pt idx="0">
                  <c:v>84.430000305175795</c:v>
                </c:pt>
                <c:pt idx="1">
                  <c:v>84.540000915527301</c:v>
                </c:pt>
                <c:pt idx="2">
                  <c:v>84.360000610351605</c:v>
                </c:pt>
                <c:pt idx="3">
                  <c:v>84.230003356933594</c:v>
                </c:pt>
                <c:pt idx="4">
                  <c:v>84.160003662109403</c:v>
                </c:pt>
                <c:pt idx="5">
                  <c:v>83.819999694824205</c:v>
                </c:pt>
                <c:pt idx="6">
                  <c:v>83.419998168945298</c:v>
                </c:pt>
                <c:pt idx="7">
                  <c:v>82.970001220703097</c:v>
                </c:pt>
                <c:pt idx="8">
                  <c:v>82.410003662109403</c:v>
                </c:pt>
                <c:pt idx="9">
                  <c:v>82.220001220703097</c:v>
                </c:pt>
                <c:pt idx="10">
                  <c:v>81.519996643066406</c:v>
                </c:pt>
                <c:pt idx="11">
                  <c:v>80.949996948242202</c:v>
                </c:pt>
                <c:pt idx="12">
                  <c:v>80.470001220703097</c:v>
                </c:pt>
                <c:pt idx="13">
                  <c:v>79.980003356933594</c:v>
                </c:pt>
                <c:pt idx="14">
                  <c:v>79.510002136230497</c:v>
                </c:pt>
                <c:pt idx="15">
                  <c:v>78.860000610351605</c:v>
                </c:pt>
                <c:pt idx="16">
                  <c:v>78.260002136230497</c:v>
                </c:pt>
                <c:pt idx="17">
                  <c:v>77.650001525878906</c:v>
                </c:pt>
                <c:pt idx="18">
                  <c:v>77.050003051757798</c:v>
                </c:pt>
                <c:pt idx="19">
                  <c:v>76.389999389648395</c:v>
                </c:pt>
                <c:pt idx="20">
                  <c:v>75.629997253417997</c:v>
                </c:pt>
                <c:pt idx="21">
                  <c:v>74.849998474121094</c:v>
                </c:pt>
                <c:pt idx="22">
                  <c:v>74.019996643066406</c:v>
                </c:pt>
                <c:pt idx="23">
                  <c:v>73.120002746582003</c:v>
                </c:pt>
                <c:pt idx="24">
                  <c:v>72.120002746582003</c:v>
                </c:pt>
                <c:pt idx="25">
                  <c:v>71.559997558593807</c:v>
                </c:pt>
                <c:pt idx="26">
                  <c:v>71.059997558593807</c:v>
                </c:pt>
                <c:pt idx="27">
                  <c:v>70.589996337890597</c:v>
                </c:pt>
                <c:pt idx="28">
                  <c:v>70.220001220703097</c:v>
                </c:pt>
              </c:numCache>
            </c:numRef>
          </c:val>
          <c:smooth val="0"/>
          <c:extLst>
            <c:ext xmlns:c16="http://schemas.microsoft.com/office/drawing/2014/chart" uri="{C3380CC4-5D6E-409C-BE32-E72D297353CC}">
              <c16:uniqueId val="{00000000-50D6-49F2-97EA-7AB7A7CC293B}"/>
            </c:ext>
          </c:extLst>
        </c:ser>
        <c:ser>
          <c:idx val="1"/>
          <c:order val="1"/>
          <c:tx>
            <c:strRef>
              <c:f>Employment!$B$9</c:f>
              <c:strCache>
                <c:ptCount val="1"/>
                <c:pt idx="0">
                  <c:v>Industry</c:v>
                </c:pt>
              </c:strCache>
            </c:strRef>
          </c:tx>
          <c:spPr>
            <a:ln w="28575" cap="rnd">
              <a:solidFill>
                <a:schemeClr val="tx1"/>
              </a:solidFill>
              <a:round/>
            </a:ln>
            <a:effectLst/>
          </c:spPr>
          <c:marker>
            <c:symbol val="none"/>
          </c:marker>
          <c:cat>
            <c:strRef>
              <c:f>Employment!$C$4:$AE$4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Employment!$C$9:$AE$9</c:f>
              <c:numCache>
                <c:formatCode>0</c:formatCode>
                <c:ptCount val="29"/>
                <c:pt idx="0">
                  <c:v>2.5</c:v>
                </c:pt>
                <c:pt idx="1">
                  <c:v>2.5099999904632599</c:v>
                </c:pt>
                <c:pt idx="2">
                  <c:v>2.5199999809265101</c:v>
                </c:pt>
                <c:pt idx="3">
                  <c:v>2.53999996185303</c:v>
                </c:pt>
                <c:pt idx="4">
                  <c:v>2.5599999427795401</c:v>
                </c:pt>
                <c:pt idx="5">
                  <c:v>2.6099998950958301</c:v>
                </c:pt>
                <c:pt idx="6">
                  <c:v>2.6800000667571999</c:v>
                </c:pt>
                <c:pt idx="7">
                  <c:v>2.7599999904632599</c:v>
                </c:pt>
                <c:pt idx="8">
                  <c:v>2.8499999046325701</c:v>
                </c:pt>
                <c:pt idx="9">
                  <c:v>2.9500000476837198</c:v>
                </c:pt>
                <c:pt idx="10">
                  <c:v>3.0999999046325701</c:v>
                </c:pt>
                <c:pt idx="11">
                  <c:v>3.2300000190734899</c:v>
                </c:pt>
                <c:pt idx="12">
                  <c:v>3.3900001049041699</c:v>
                </c:pt>
                <c:pt idx="13">
                  <c:v>3.6099998950958301</c:v>
                </c:pt>
                <c:pt idx="14">
                  <c:v>3.8399999141693102</c:v>
                </c:pt>
                <c:pt idx="15">
                  <c:v>4.1100001335143999</c:v>
                </c:pt>
                <c:pt idx="16">
                  <c:v>4.3800001144409197</c:v>
                </c:pt>
                <c:pt idx="17">
                  <c:v>4.6799998283386204</c:v>
                </c:pt>
                <c:pt idx="18">
                  <c:v>5</c:v>
                </c:pt>
                <c:pt idx="19">
                  <c:v>5.3600001335143999</c:v>
                </c:pt>
                <c:pt idx="20">
                  <c:v>5.7600002288818404</c:v>
                </c:pt>
                <c:pt idx="21">
                  <c:v>6.1799998283386204</c:v>
                </c:pt>
                <c:pt idx="22">
                  <c:v>6.6500000953674299</c:v>
                </c:pt>
                <c:pt idx="23">
                  <c:v>7.1500000953674299</c:v>
                </c:pt>
                <c:pt idx="24">
                  <c:v>7.75</c:v>
                </c:pt>
                <c:pt idx="25">
                  <c:v>8.0299997329711896</c:v>
                </c:pt>
                <c:pt idx="26">
                  <c:v>8.25</c:v>
                </c:pt>
                <c:pt idx="27">
                  <c:v>8.4499998092651403</c:v>
                </c:pt>
                <c:pt idx="28">
                  <c:v>8.5900001525878906</c:v>
                </c:pt>
              </c:numCache>
            </c:numRef>
          </c:val>
          <c:smooth val="0"/>
          <c:extLst>
            <c:ext xmlns:c16="http://schemas.microsoft.com/office/drawing/2014/chart" uri="{C3380CC4-5D6E-409C-BE32-E72D297353CC}">
              <c16:uniqueId val="{00000001-50D6-49F2-97EA-7AB7A7CC293B}"/>
            </c:ext>
          </c:extLst>
        </c:ser>
        <c:ser>
          <c:idx val="2"/>
          <c:order val="2"/>
          <c:tx>
            <c:strRef>
              <c:f>Employment!$B$10</c:f>
              <c:strCache>
                <c:ptCount val="1"/>
                <c:pt idx="0">
                  <c:v>Services</c:v>
                </c:pt>
              </c:strCache>
            </c:strRef>
          </c:tx>
          <c:spPr>
            <a:ln w="28575" cap="rnd">
              <a:solidFill>
                <a:schemeClr val="accent3"/>
              </a:solidFill>
              <a:round/>
            </a:ln>
            <a:effectLst/>
          </c:spPr>
          <c:marker>
            <c:symbol val="none"/>
          </c:marker>
          <c:cat>
            <c:strRef>
              <c:f>Employment!$C$4:$AE$4</c:f>
              <c:strCache>
                <c:ptCount val="29"/>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strCache>
            </c:strRef>
          </c:cat>
          <c:val>
            <c:numRef>
              <c:f>Employment!$C$10:$AE$10</c:f>
              <c:numCache>
                <c:formatCode>0</c:formatCode>
                <c:ptCount val="29"/>
                <c:pt idx="0">
                  <c:v>13.069999694824199</c:v>
                </c:pt>
                <c:pt idx="1">
                  <c:v>12.960000038146999</c:v>
                </c:pt>
                <c:pt idx="2">
                  <c:v>13.1199998855591</c:v>
                </c:pt>
                <c:pt idx="3">
                  <c:v>13.2299995422363</c:v>
                </c:pt>
                <c:pt idx="4">
                  <c:v>13.2799997329712</c:v>
                </c:pt>
                <c:pt idx="5">
                  <c:v>13.560000419616699</c:v>
                </c:pt>
                <c:pt idx="6">
                  <c:v>13.9099998474121</c:v>
                </c:pt>
                <c:pt idx="7">
                  <c:v>14.2700004577637</c:v>
                </c:pt>
                <c:pt idx="8">
                  <c:v>14.7399997711182</c:v>
                </c:pt>
                <c:pt idx="9">
                  <c:v>14.829999923706101</c:v>
                </c:pt>
                <c:pt idx="10">
                  <c:v>15.3800001144409</c:v>
                </c:pt>
                <c:pt idx="11">
                  <c:v>15.819999694824199</c:v>
                </c:pt>
                <c:pt idx="12">
                  <c:v>16.139999389648398</c:v>
                </c:pt>
                <c:pt idx="13">
                  <c:v>16.409999847412099</c:v>
                </c:pt>
                <c:pt idx="14">
                  <c:v>16.649999618530298</c:v>
                </c:pt>
                <c:pt idx="15">
                  <c:v>17.030000686645501</c:v>
                </c:pt>
                <c:pt idx="16">
                  <c:v>17.360000610351602</c:v>
                </c:pt>
                <c:pt idx="17">
                  <c:v>17.670000076293899</c:v>
                </c:pt>
                <c:pt idx="18">
                  <c:v>17.950000762939499</c:v>
                </c:pt>
                <c:pt idx="19">
                  <c:v>18.25</c:v>
                </c:pt>
                <c:pt idx="20">
                  <c:v>18.610000610351602</c:v>
                </c:pt>
                <c:pt idx="21">
                  <c:v>18.969999313354499</c:v>
                </c:pt>
                <c:pt idx="22">
                  <c:v>19.340000152587901</c:v>
                </c:pt>
                <c:pt idx="23">
                  <c:v>19.7399997711182</c:v>
                </c:pt>
                <c:pt idx="24">
                  <c:v>20.139999389648398</c:v>
                </c:pt>
                <c:pt idx="25">
                  <c:v>20.409999847412099</c:v>
                </c:pt>
                <c:pt idx="26">
                  <c:v>20.700000762939499</c:v>
                </c:pt>
                <c:pt idx="27">
                  <c:v>20.959999084472699</c:v>
                </c:pt>
                <c:pt idx="28">
                  <c:v>21.190000534057599</c:v>
                </c:pt>
              </c:numCache>
            </c:numRef>
          </c:val>
          <c:smooth val="0"/>
          <c:extLst>
            <c:ext xmlns:c16="http://schemas.microsoft.com/office/drawing/2014/chart" uri="{C3380CC4-5D6E-409C-BE32-E72D297353CC}">
              <c16:uniqueId val="{00000002-50D6-49F2-97EA-7AB7A7CC293B}"/>
            </c:ext>
          </c:extLst>
        </c:ser>
        <c:dLbls>
          <c:showLegendKey val="0"/>
          <c:showVal val="0"/>
          <c:showCatName val="0"/>
          <c:showSerName val="0"/>
          <c:showPercent val="0"/>
          <c:showBubbleSize val="0"/>
        </c:dLbls>
        <c:smooth val="0"/>
        <c:axId val="1564359999"/>
        <c:axId val="1577186079"/>
      </c:lineChart>
      <c:catAx>
        <c:axId val="156435999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577186079"/>
        <c:crosses val="autoZero"/>
        <c:auto val="1"/>
        <c:lblAlgn val="ctr"/>
        <c:lblOffset val="100"/>
        <c:noMultiLvlLbl val="0"/>
      </c:catAx>
      <c:valAx>
        <c:axId val="1577186079"/>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1564359999"/>
        <c:crosses val="autoZero"/>
        <c:crossBetween val="between"/>
      </c:valAx>
      <c:spPr>
        <a:noFill/>
        <a:ln>
          <a:noFill/>
        </a:ln>
        <a:effectLst/>
      </c:spPr>
    </c:plotArea>
    <c:legend>
      <c:legendPos val="b"/>
      <c:layout>
        <c:manualLayout>
          <c:xMode val="edge"/>
          <c:yMode val="edge"/>
          <c:x val="0.15338409004245912"/>
          <c:y val="0.33700968895635741"/>
          <c:w val="0.37763719949785995"/>
          <c:h val="0.18051951475362046"/>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800">
          <a:solidFill>
            <a:schemeClr val="tx1"/>
          </a:solidFill>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960" b="1" i="0" u="none" strike="noStrike" kern="1200" spc="0" baseline="0">
                <a:solidFill>
                  <a:schemeClr val="tx1"/>
                </a:solidFill>
                <a:latin typeface="+mn-lt"/>
                <a:ea typeface="+mn-ea"/>
                <a:cs typeface="+mn-cs"/>
              </a:defRPr>
            </a:pPr>
            <a:r>
              <a:rPr lang="pt-PT" b="1" dirty="0"/>
              <a:t>Croissance réelle du PIB (milliards de Meticais )</a:t>
            </a:r>
          </a:p>
        </c:rich>
      </c:tx>
      <c:layout>
        <c:manualLayout>
          <c:xMode val="edge"/>
          <c:yMode val="edge"/>
          <c:x val="0.18621016122984627"/>
          <c:y val="3.6745406824146981E-2"/>
        </c:manualLayout>
      </c:layout>
      <c:overlay val="0"/>
      <c:spPr>
        <a:noFill/>
        <a:ln>
          <a:noFill/>
        </a:ln>
        <a:effectLst/>
      </c:spPr>
      <c:txPr>
        <a:bodyPr rot="0" spcFirstLastPara="1" vertOverflow="ellipsis" vert="horz" wrap="square" anchor="ctr" anchorCtr="1"/>
        <a:lstStyle/>
        <a:p>
          <a:pPr>
            <a:defRPr sz="960" b="1" i="0" u="none" strike="noStrike" kern="1200" spc="0" baseline="0">
              <a:solidFill>
                <a:schemeClr val="tx1"/>
              </a:solidFill>
              <a:latin typeface="+mn-lt"/>
              <a:ea typeface="+mn-ea"/>
              <a:cs typeface="+mn-cs"/>
            </a:defRPr>
          </a:pPr>
          <a:endParaRPr lang="en-US"/>
        </a:p>
      </c:txPr>
    </c:title>
    <c:autoTitleDeleted val="0"/>
    <c:plotArea>
      <c:layout>
        <c:manualLayout>
          <c:layoutTarget val="inner"/>
          <c:xMode val="edge"/>
          <c:yMode val="edge"/>
          <c:x val="0.15345988001499813"/>
          <c:y val="0.21031062062124123"/>
          <c:w val="0.79876580574008049"/>
          <c:h val="0.44322648645297291"/>
        </c:manualLayout>
      </c:layout>
      <c:lineChart>
        <c:grouping val="standard"/>
        <c:varyColors val="0"/>
        <c:ser>
          <c:idx val="0"/>
          <c:order val="0"/>
          <c:tx>
            <c:strRef>
              <c:f>'Macro indicators_Scenarios'!$B$3</c:f>
              <c:strCache>
                <c:ptCount val="1"/>
                <c:pt idx="0">
                  <c:v>GDP without LNG</c:v>
                </c:pt>
              </c:strCache>
            </c:strRef>
          </c:tx>
          <c:spPr>
            <a:ln w="28575" cap="rnd">
              <a:solidFill>
                <a:schemeClr val="accent1"/>
              </a:solidFill>
              <a:round/>
            </a:ln>
            <a:effectLst/>
          </c:spPr>
          <c:marker>
            <c:symbol val="none"/>
          </c:marker>
          <c:cat>
            <c:numRef>
              <c:f>'Macro indicators_Scenarios'!$C$2:$AG$2</c:f>
              <c:numCache>
                <c:formatCode>General</c:formatCode>
                <c:ptCount val="16"/>
                <c:pt idx="0">
                  <c:v>2018</c:v>
                </c:pt>
                <c:pt idx="1">
                  <c:v>2019</c:v>
                </c:pt>
                <c:pt idx="2">
                  <c:v>2020</c:v>
                </c:pt>
                <c:pt idx="3">
                  <c:v>2021</c:v>
                </c:pt>
                <c:pt idx="4">
                  <c:v>2022</c:v>
                </c:pt>
                <c:pt idx="5">
                  <c:v>2023</c:v>
                </c:pt>
                <c:pt idx="6">
                  <c:v>2024</c:v>
                </c:pt>
                <c:pt idx="7">
                  <c:v>2025</c:v>
                </c:pt>
                <c:pt idx="8">
                  <c:v>2026</c:v>
                </c:pt>
                <c:pt idx="9">
                  <c:v>2027</c:v>
                </c:pt>
                <c:pt idx="10">
                  <c:v>2028</c:v>
                </c:pt>
                <c:pt idx="11">
                  <c:v>2029</c:v>
                </c:pt>
                <c:pt idx="12">
                  <c:v>2030</c:v>
                </c:pt>
                <c:pt idx="13">
                  <c:v>2031</c:v>
                </c:pt>
                <c:pt idx="14">
                  <c:v>2032</c:v>
                </c:pt>
                <c:pt idx="15">
                  <c:v>2033</c:v>
                </c:pt>
              </c:numCache>
              <c:extLst/>
            </c:numRef>
          </c:cat>
          <c:val>
            <c:numRef>
              <c:f>'Macro indicators_Scenarios'!$C$3:$AG$3</c:f>
              <c:numCache>
                <c:formatCode>_(* #,##0_);_(* \(#,##0\);_(* "-"??_);_(@_)</c:formatCode>
                <c:ptCount val="16"/>
                <c:pt idx="0">
                  <c:v>660475.90047073364</c:v>
                </c:pt>
                <c:pt idx="1">
                  <c:v>675557.9517326355</c:v>
                </c:pt>
                <c:pt idx="2">
                  <c:v>679855.21094950335</c:v>
                </c:pt>
                <c:pt idx="3">
                  <c:v>699792.46552849095</c:v>
                </c:pt>
                <c:pt idx="4">
                  <c:v>722394.96930213703</c:v>
                </c:pt>
                <c:pt idx="5">
                  <c:v>747645.22392207873</c:v>
                </c:pt>
                <c:pt idx="6">
                  <c:v>773869.86768189236</c:v>
                </c:pt>
                <c:pt idx="7">
                  <c:v>796277.69076249679</c:v>
                </c:pt>
                <c:pt idx="8">
                  <c:v>819431.35840654687</c:v>
                </c:pt>
                <c:pt idx="9">
                  <c:v>843358.06269267004</c:v>
                </c:pt>
                <c:pt idx="10">
                  <c:v>868086.05315755727</c:v>
                </c:pt>
                <c:pt idx="11">
                  <c:v>893644.67997541185</c:v>
                </c:pt>
                <c:pt idx="12">
                  <c:v>920064.4389692574</c:v>
                </c:pt>
                <c:pt idx="13">
                  <c:v>947377.01853422867</c:v>
                </c:pt>
                <c:pt idx="14">
                  <c:v>975615.34855655301</c:v>
                </c:pt>
                <c:pt idx="15">
                  <c:v>1004813.651415695</c:v>
                </c:pt>
              </c:numCache>
              <c:extLst/>
            </c:numRef>
          </c:val>
          <c:smooth val="0"/>
          <c:extLst>
            <c:ext xmlns:c16="http://schemas.microsoft.com/office/drawing/2014/chart" uri="{C3380CC4-5D6E-409C-BE32-E72D297353CC}">
              <c16:uniqueId val="{00000000-33DC-4EC3-BFEC-76EBA48B8139}"/>
            </c:ext>
          </c:extLst>
        </c:ser>
        <c:ser>
          <c:idx val="2"/>
          <c:order val="2"/>
          <c:tx>
            <c:v>GDP with LNG</c:v>
          </c:tx>
          <c:spPr>
            <a:ln w="28575" cap="rnd">
              <a:solidFill>
                <a:schemeClr val="accent3"/>
              </a:solidFill>
              <a:round/>
            </a:ln>
            <a:effectLst/>
          </c:spPr>
          <c:marker>
            <c:symbol val="none"/>
          </c:marker>
          <c:cat>
            <c:numRef>
              <c:f>'Macro indicators_Scenarios'!$C$2:$AG$2</c:f>
              <c:numCache>
                <c:formatCode>General</c:formatCode>
                <c:ptCount val="16"/>
                <c:pt idx="0">
                  <c:v>2018</c:v>
                </c:pt>
                <c:pt idx="1">
                  <c:v>2019</c:v>
                </c:pt>
                <c:pt idx="2">
                  <c:v>2020</c:v>
                </c:pt>
                <c:pt idx="3">
                  <c:v>2021</c:v>
                </c:pt>
                <c:pt idx="4">
                  <c:v>2022</c:v>
                </c:pt>
                <c:pt idx="5">
                  <c:v>2023</c:v>
                </c:pt>
                <c:pt idx="6">
                  <c:v>2024</c:v>
                </c:pt>
                <c:pt idx="7">
                  <c:v>2025</c:v>
                </c:pt>
                <c:pt idx="8">
                  <c:v>2026</c:v>
                </c:pt>
                <c:pt idx="9">
                  <c:v>2027</c:v>
                </c:pt>
                <c:pt idx="10">
                  <c:v>2028</c:v>
                </c:pt>
                <c:pt idx="11">
                  <c:v>2029</c:v>
                </c:pt>
                <c:pt idx="12">
                  <c:v>2030</c:v>
                </c:pt>
                <c:pt idx="13">
                  <c:v>2031</c:v>
                </c:pt>
                <c:pt idx="14">
                  <c:v>2032</c:v>
                </c:pt>
                <c:pt idx="15">
                  <c:v>2033</c:v>
                </c:pt>
              </c:numCache>
              <c:extLst/>
            </c:numRef>
          </c:cat>
          <c:val>
            <c:numRef>
              <c:f>'Macro indicators_Scenarios'!$C$5:$AG$5</c:f>
              <c:numCache>
                <c:formatCode>_(* #,##0_);_(* \(#,##0\);_(* "-"??_);_(@_)</c:formatCode>
                <c:ptCount val="16"/>
                <c:pt idx="0">
                  <c:v>667202.64812743722</c:v>
                </c:pt>
                <c:pt idx="1">
                  <c:v>684896.98289692053</c:v>
                </c:pt>
                <c:pt idx="2">
                  <c:v>691351.01319641795</c:v>
                </c:pt>
                <c:pt idx="3">
                  <c:v>735977.67333207279</c:v>
                </c:pt>
                <c:pt idx="4">
                  <c:v>799816.10440437438</c:v>
                </c:pt>
                <c:pt idx="5">
                  <c:v>911872.33640954609</c:v>
                </c:pt>
                <c:pt idx="6">
                  <c:v>927827.61688503972</c:v>
                </c:pt>
                <c:pt idx="7">
                  <c:v>1061913.5705534103</c:v>
                </c:pt>
                <c:pt idx="8">
                  <c:v>1527397.0913652813</c:v>
                </c:pt>
                <c:pt idx="9">
                  <c:v>1516893.6062039351</c:v>
                </c:pt>
                <c:pt idx="10">
                  <c:v>1521839.679317337</c:v>
                </c:pt>
                <c:pt idx="11">
                  <c:v>1521573.9598987373</c:v>
                </c:pt>
                <c:pt idx="12">
                  <c:v>1541022.7038377482</c:v>
                </c:pt>
                <c:pt idx="13">
                  <c:v>1581134.5253437296</c:v>
                </c:pt>
                <c:pt idx="14">
                  <c:v>1611586.7276827712</c:v>
                </c:pt>
                <c:pt idx="15">
                  <c:v>1639868.4636517013</c:v>
                </c:pt>
              </c:numCache>
              <c:extLst/>
            </c:numRef>
          </c:val>
          <c:smooth val="0"/>
          <c:extLst>
            <c:ext xmlns:c16="http://schemas.microsoft.com/office/drawing/2014/chart" uri="{C3380CC4-5D6E-409C-BE32-E72D297353CC}">
              <c16:uniqueId val="{00000001-33DC-4EC3-BFEC-76EBA48B8139}"/>
            </c:ext>
          </c:extLst>
        </c:ser>
        <c:ser>
          <c:idx val="3"/>
          <c:order val="3"/>
          <c:tx>
            <c:v>GDP with LNG - Mamba delay</c:v>
          </c:tx>
          <c:spPr>
            <a:ln w="28575" cap="rnd">
              <a:solidFill>
                <a:schemeClr val="accent4"/>
              </a:solidFill>
              <a:prstDash val="sysDash"/>
              <a:round/>
            </a:ln>
            <a:effectLst/>
          </c:spPr>
          <c:marker>
            <c:symbol val="none"/>
          </c:marker>
          <c:cat>
            <c:numRef>
              <c:f>'Macro indicators_Scenarios'!$C$2:$AG$2</c:f>
              <c:numCache>
                <c:formatCode>General</c:formatCode>
                <c:ptCount val="16"/>
                <c:pt idx="0">
                  <c:v>2018</c:v>
                </c:pt>
                <c:pt idx="1">
                  <c:v>2019</c:v>
                </c:pt>
                <c:pt idx="2">
                  <c:v>2020</c:v>
                </c:pt>
                <c:pt idx="3">
                  <c:v>2021</c:v>
                </c:pt>
                <c:pt idx="4">
                  <c:v>2022</c:v>
                </c:pt>
                <c:pt idx="5">
                  <c:v>2023</c:v>
                </c:pt>
                <c:pt idx="6">
                  <c:v>2024</c:v>
                </c:pt>
                <c:pt idx="7">
                  <c:v>2025</c:v>
                </c:pt>
                <c:pt idx="8">
                  <c:v>2026</c:v>
                </c:pt>
                <c:pt idx="9">
                  <c:v>2027</c:v>
                </c:pt>
                <c:pt idx="10">
                  <c:v>2028</c:v>
                </c:pt>
                <c:pt idx="11">
                  <c:v>2029</c:v>
                </c:pt>
                <c:pt idx="12">
                  <c:v>2030</c:v>
                </c:pt>
                <c:pt idx="13">
                  <c:v>2031</c:v>
                </c:pt>
                <c:pt idx="14">
                  <c:v>2032</c:v>
                </c:pt>
                <c:pt idx="15">
                  <c:v>2033</c:v>
                </c:pt>
              </c:numCache>
              <c:extLst/>
            </c:numRef>
          </c:cat>
          <c:val>
            <c:numRef>
              <c:f>'Macro indicators_Scenarios'!$C$6:$AG$6</c:f>
              <c:numCache>
                <c:formatCode>_(* #,##0_);_(* \(#,##0\);_(* "-"??_);_(@_)</c:formatCode>
                <c:ptCount val="16"/>
                <c:pt idx="0">
                  <c:v>667202.64812743722</c:v>
                </c:pt>
                <c:pt idx="1">
                  <c:v>684896.98289692053</c:v>
                </c:pt>
                <c:pt idx="2">
                  <c:v>691351.01319641795</c:v>
                </c:pt>
                <c:pt idx="3">
                  <c:v>727073.64339029393</c:v>
                </c:pt>
                <c:pt idx="4">
                  <c:v>767797.57798569114</c:v>
                </c:pt>
                <c:pt idx="5">
                  <c:v>880541.93433574308</c:v>
                </c:pt>
                <c:pt idx="6">
                  <c:v>872232.83024711441</c:v>
                </c:pt>
                <c:pt idx="7">
                  <c:v>1035971.187115716</c:v>
                </c:pt>
                <c:pt idx="8">
                  <c:v>1207572.6599682651</c:v>
                </c:pt>
                <c:pt idx="9">
                  <c:v>1214101.3863621061</c:v>
                </c:pt>
                <c:pt idx="10">
                  <c:v>1249210.3729032476</c:v>
                </c:pt>
                <c:pt idx="11">
                  <c:v>1251093.6093817996</c:v>
                </c:pt>
                <c:pt idx="12">
                  <c:v>1565372.3291573955</c:v>
                </c:pt>
                <c:pt idx="13">
                  <c:v>1592234.8416456962</c:v>
                </c:pt>
                <c:pt idx="14">
                  <c:v>1620540.5582557167</c:v>
                </c:pt>
                <c:pt idx="15">
                  <c:v>1641181.3359769424</c:v>
                </c:pt>
              </c:numCache>
              <c:extLst/>
            </c:numRef>
          </c:val>
          <c:smooth val="0"/>
          <c:extLst>
            <c:ext xmlns:c16="http://schemas.microsoft.com/office/drawing/2014/chart" uri="{C3380CC4-5D6E-409C-BE32-E72D297353CC}">
              <c16:uniqueId val="{00000002-33DC-4EC3-BFEC-76EBA48B8139}"/>
            </c:ext>
          </c:extLst>
        </c:ser>
        <c:dLbls>
          <c:showLegendKey val="0"/>
          <c:showVal val="0"/>
          <c:showCatName val="0"/>
          <c:showSerName val="0"/>
          <c:showPercent val="0"/>
          <c:showBubbleSize val="0"/>
        </c:dLbls>
        <c:smooth val="0"/>
        <c:axId val="72501183"/>
        <c:axId val="66742943"/>
        <c:extLst>
          <c:ext xmlns:c15="http://schemas.microsoft.com/office/drawing/2012/chart" uri="{02D57815-91ED-43cb-92C2-25804820EDAC}">
            <c15:filteredLineSeries>
              <c15:ser>
                <c:idx val="1"/>
                <c:order val="1"/>
                <c:tx>
                  <c:strRef>
                    <c:extLst>
                      <c:ext uri="{02D57815-91ED-43cb-92C2-25804820EDAC}">
                        <c15:formulaRef>
                          <c15:sqref>'Macro indicators_Scenarios'!$B$4</c15:sqref>
                        </c15:formulaRef>
                      </c:ext>
                    </c:extLst>
                    <c:strCache>
                      <c:ptCount val="1"/>
                      <c:pt idx="0">
                        <c:v>GDP with LNG Pre-COVID</c:v>
                      </c:pt>
                    </c:strCache>
                  </c:strRef>
                </c:tx>
                <c:spPr>
                  <a:ln w="28575" cap="rnd">
                    <a:solidFill>
                      <a:schemeClr val="accent2"/>
                    </a:solidFill>
                    <a:round/>
                  </a:ln>
                  <a:effectLst/>
                </c:spPr>
                <c:marker>
                  <c:symbol val="none"/>
                </c:marker>
                <c:cat>
                  <c:numRef>
                    <c:extLst>
                      <c:ext uri="{02D57815-91ED-43cb-92C2-25804820EDAC}">
                        <c15:formulaRef>
                          <c15:sqref>'Macro indicators_Scenarios'!$C$2:$AG$2</c15:sqref>
                        </c15:formulaRef>
                      </c:ext>
                    </c:extLst>
                    <c:numCache>
                      <c:formatCode>General</c:formatCode>
                      <c:ptCount val="16"/>
                      <c:pt idx="0">
                        <c:v>2018</c:v>
                      </c:pt>
                      <c:pt idx="1">
                        <c:v>2019</c:v>
                      </c:pt>
                      <c:pt idx="2">
                        <c:v>2020</c:v>
                      </c:pt>
                      <c:pt idx="3">
                        <c:v>2021</c:v>
                      </c:pt>
                      <c:pt idx="4">
                        <c:v>2022</c:v>
                      </c:pt>
                      <c:pt idx="5">
                        <c:v>2023</c:v>
                      </c:pt>
                      <c:pt idx="6">
                        <c:v>2024</c:v>
                      </c:pt>
                      <c:pt idx="7">
                        <c:v>2025</c:v>
                      </c:pt>
                      <c:pt idx="8">
                        <c:v>2026</c:v>
                      </c:pt>
                      <c:pt idx="9">
                        <c:v>2027</c:v>
                      </c:pt>
                      <c:pt idx="10">
                        <c:v>2028</c:v>
                      </c:pt>
                      <c:pt idx="11">
                        <c:v>2029</c:v>
                      </c:pt>
                      <c:pt idx="12">
                        <c:v>2030</c:v>
                      </c:pt>
                      <c:pt idx="13">
                        <c:v>2031</c:v>
                      </c:pt>
                      <c:pt idx="14">
                        <c:v>2032</c:v>
                      </c:pt>
                      <c:pt idx="15">
                        <c:v>2033</c:v>
                      </c:pt>
                    </c:numCache>
                  </c:numRef>
                </c:cat>
                <c:val>
                  <c:numRef>
                    <c:extLst>
                      <c:ext uri="{02D57815-91ED-43cb-92C2-25804820EDAC}">
                        <c15:formulaRef>
                          <c15:sqref>'Macro indicators_Scenarios'!$C$4:$AG$4</c15:sqref>
                        </c15:formulaRef>
                      </c:ext>
                    </c:extLst>
                    <c:numCache>
                      <c:formatCode>_(* #,##0_);_(* \(#,##0\);_(* "-"??_);_(@_)</c:formatCode>
                      <c:ptCount val="16"/>
                      <c:pt idx="0">
                        <c:v>667199.75511004566</c:v>
                      </c:pt>
                      <c:pt idx="1">
                        <c:v>684895.15477170597</c:v>
                      </c:pt>
                      <c:pt idx="2">
                        <c:v>720458.98792401014</c:v>
                      </c:pt>
                      <c:pt idx="3">
                        <c:v>756565.08953939297</c:v>
                      </c:pt>
                      <c:pt idx="4">
                        <c:v>832960.58518370823</c:v>
                      </c:pt>
                      <c:pt idx="5">
                        <c:v>919791.69441168127</c:v>
                      </c:pt>
                      <c:pt idx="6">
                        <c:v>1228800.8313534469</c:v>
                      </c:pt>
                      <c:pt idx="7">
                        <c:v>1573236.7894078775</c:v>
                      </c:pt>
                      <c:pt idx="8">
                        <c:v>1553619.4291697955</c:v>
                      </c:pt>
                      <c:pt idx="9">
                        <c:v>1548872.2185857981</c:v>
                      </c:pt>
                      <c:pt idx="10">
                        <c:v>1534978.8077910193</c:v>
                      </c:pt>
                      <c:pt idx="11">
                        <c:v>1534382.4698318117</c:v>
                      </c:pt>
                      <c:pt idx="12">
                        <c:v>1542867.291493779</c:v>
                      </c:pt>
                      <c:pt idx="13">
                        <c:v>1583065.7893440635</c:v>
                      </c:pt>
                      <c:pt idx="14">
                        <c:v>1613555.8373746022</c:v>
                      </c:pt>
                      <c:pt idx="15">
                        <c:v>1641860.4071525927</c:v>
                      </c:pt>
                    </c:numCache>
                  </c:numRef>
                </c:val>
                <c:smooth val="0"/>
                <c:extLst>
                  <c:ext xmlns:c16="http://schemas.microsoft.com/office/drawing/2014/chart" uri="{C3380CC4-5D6E-409C-BE32-E72D297353CC}">
                    <c16:uniqueId val="{00000003-33DC-4EC3-BFEC-76EBA48B8139}"/>
                  </c:ext>
                </c:extLst>
              </c15:ser>
            </c15:filteredLineSeries>
          </c:ext>
        </c:extLst>
      </c:lineChart>
      <c:catAx>
        <c:axId val="7250118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66742943"/>
        <c:crosses val="autoZero"/>
        <c:auto val="1"/>
        <c:lblAlgn val="ctr"/>
        <c:lblOffset val="100"/>
        <c:noMultiLvlLbl val="0"/>
      </c:catAx>
      <c:valAx>
        <c:axId val="66742943"/>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72501183"/>
        <c:crosses val="autoZero"/>
        <c:crossBetween val="between"/>
        <c:majorUnit val="300000"/>
        <c:dispUnits>
          <c:builtInUnit val="thousands"/>
        </c:dispUnits>
      </c:valAx>
      <c:spPr>
        <a:noFill/>
        <a:ln>
          <a:noFill/>
        </a:ln>
        <a:effectLst/>
      </c:spPr>
    </c:plotArea>
    <c:legend>
      <c:legendPos val="b"/>
      <c:layout>
        <c:manualLayout>
          <c:xMode val="edge"/>
          <c:yMode val="edge"/>
          <c:x val="2.2952456675814536E-2"/>
          <c:y val="0.86273037931651109"/>
          <c:w val="0.97581061324989082"/>
          <c:h val="0.13726962068348894"/>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800">
          <a:solidFill>
            <a:schemeClr val="tx1"/>
          </a:solidFill>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000" b="1" i="0" u="none" strike="noStrike" kern="1200" cap="none" spc="20" baseline="0" smtClean="0">
                <a:solidFill>
                  <a:schemeClr val="tx1"/>
                </a:solidFill>
                <a:latin typeface="+mn-lt"/>
                <a:ea typeface="+mn-ea"/>
                <a:cs typeface="+mn-cs"/>
              </a:defRPr>
            </a:pPr>
            <a:r>
              <a:rPr lang="en-US" sz="1000" b="1"/>
              <a:t>Encours total de la dette publique (% du PIB)</a:t>
            </a:r>
          </a:p>
        </c:rich>
      </c:tx>
      <c:layout>
        <c:manualLayout>
          <c:xMode val="edge"/>
          <c:yMode val="edge"/>
          <c:x val="0.15155321867661278"/>
          <c:y val="2.5839083546709229E-2"/>
        </c:manualLayout>
      </c:layout>
      <c:overlay val="0"/>
      <c:spPr>
        <a:noFill/>
        <a:ln>
          <a:noFill/>
        </a:ln>
        <a:effectLst/>
      </c:spPr>
      <c:txPr>
        <a:bodyPr rot="0" spcFirstLastPara="1" vertOverflow="ellipsis" vert="horz" wrap="square" anchor="ctr" anchorCtr="1"/>
        <a:lstStyle/>
        <a:p>
          <a:pPr>
            <a:defRPr lang="en-US" sz="1000" b="1" i="0" u="none" strike="noStrike" kern="1200" cap="none" spc="20" baseline="0" smtClean="0">
              <a:solidFill>
                <a:schemeClr val="tx1"/>
              </a:solidFill>
              <a:latin typeface="+mn-lt"/>
              <a:ea typeface="+mn-ea"/>
              <a:cs typeface="+mn-cs"/>
            </a:defRPr>
          </a:pPr>
          <a:endParaRPr lang="en-US"/>
        </a:p>
      </c:txPr>
    </c:title>
    <c:autoTitleDeleted val="0"/>
    <c:plotArea>
      <c:layout>
        <c:manualLayout>
          <c:layoutTarget val="inner"/>
          <c:xMode val="edge"/>
          <c:yMode val="edge"/>
          <c:x val="0.15113678224432472"/>
          <c:y val="0.16278381868933051"/>
          <c:w val="0.82167766303641088"/>
          <c:h val="0.62774109326877991"/>
        </c:manualLayout>
      </c:layout>
      <c:lineChart>
        <c:grouping val="standard"/>
        <c:varyColors val="0"/>
        <c:ser>
          <c:idx val="0"/>
          <c:order val="0"/>
          <c:spPr>
            <a:ln w="28575" cap="rnd" cmpd="sng" algn="ctr">
              <a:solidFill>
                <a:schemeClr val="accent1"/>
              </a:solidFill>
              <a:round/>
            </a:ln>
            <a:effectLst/>
          </c:spPr>
          <c:marker>
            <c:symbol val="none"/>
          </c:marker>
          <c:cat>
            <c:numRef>
              <c:f>Sheet1!$C$4:$C$25</c:f>
              <c:numCache>
                <c:formatCode>General</c:formatCode>
                <c:ptCount val="22"/>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pt idx="17">
                  <c:v>2017</c:v>
                </c:pt>
                <c:pt idx="18">
                  <c:v>2018</c:v>
                </c:pt>
                <c:pt idx="19">
                  <c:v>2019</c:v>
                </c:pt>
                <c:pt idx="20">
                  <c:v>2020</c:v>
                </c:pt>
                <c:pt idx="21">
                  <c:v>2021</c:v>
                </c:pt>
              </c:numCache>
            </c:numRef>
          </c:cat>
          <c:val>
            <c:numRef>
              <c:f>Sheet1!$D$4:$D$25</c:f>
              <c:numCache>
                <c:formatCode>0%</c:formatCode>
                <c:ptCount val="22"/>
                <c:pt idx="0">
                  <c:v>1.01</c:v>
                </c:pt>
                <c:pt idx="1">
                  <c:v>0.92</c:v>
                </c:pt>
                <c:pt idx="2">
                  <c:v>0.63</c:v>
                </c:pt>
                <c:pt idx="3">
                  <c:v>0.62</c:v>
                </c:pt>
                <c:pt idx="4">
                  <c:v>0.57999999999999996</c:v>
                </c:pt>
                <c:pt idx="5">
                  <c:v>0.54</c:v>
                </c:pt>
                <c:pt idx="6">
                  <c:v>0.35</c:v>
                </c:pt>
                <c:pt idx="7">
                  <c:v>0.31</c:v>
                </c:pt>
                <c:pt idx="8">
                  <c:v>0.28999999999999998</c:v>
                </c:pt>
                <c:pt idx="9">
                  <c:v>0.35</c:v>
                </c:pt>
                <c:pt idx="10">
                  <c:v>0.36</c:v>
                </c:pt>
                <c:pt idx="11">
                  <c:v>0.31</c:v>
                </c:pt>
                <c:pt idx="12">
                  <c:v>0.31</c:v>
                </c:pt>
                <c:pt idx="13">
                  <c:v>0.44</c:v>
                </c:pt>
                <c:pt idx="14">
                  <c:v>0.54</c:v>
                </c:pt>
                <c:pt idx="15">
                  <c:v>0.66</c:v>
                </c:pt>
                <c:pt idx="16">
                  <c:v>0.91</c:v>
                </c:pt>
                <c:pt idx="17">
                  <c:v>0.94</c:v>
                </c:pt>
                <c:pt idx="18">
                  <c:v>0.97</c:v>
                </c:pt>
                <c:pt idx="19">
                  <c:v>1.01</c:v>
                </c:pt>
                <c:pt idx="20">
                  <c:v>1.3</c:v>
                </c:pt>
                <c:pt idx="21">
                  <c:v>1.2</c:v>
                </c:pt>
              </c:numCache>
            </c:numRef>
          </c:val>
          <c:smooth val="0"/>
          <c:extLst>
            <c:ext xmlns:c16="http://schemas.microsoft.com/office/drawing/2014/chart" uri="{C3380CC4-5D6E-409C-BE32-E72D297353CC}">
              <c16:uniqueId val="{00000000-BFD7-46F0-B4AA-84090A1EFD14}"/>
            </c:ext>
          </c:extLst>
        </c:ser>
        <c:dLbls>
          <c:showLegendKey val="0"/>
          <c:showVal val="0"/>
          <c:showCatName val="0"/>
          <c:showSerName val="0"/>
          <c:showPercent val="0"/>
          <c:showBubbleSize val="0"/>
        </c:dLbls>
        <c:dropLines>
          <c:spPr>
            <a:ln w="9525" cap="flat" cmpd="sng" algn="ctr">
              <a:solidFill>
                <a:schemeClr val="dk1">
                  <a:lumMod val="35000"/>
                  <a:lumOff val="65000"/>
                  <a:alpha val="33000"/>
                </a:schemeClr>
              </a:solidFill>
              <a:round/>
            </a:ln>
            <a:effectLst/>
          </c:spPr>
        </c:dropLines>
        <c:smooth val="0"/>
        <c:axId val="589083823"/>
        <c:axId val="589091727"/>
      </c:lineChart>
      <c:catAx>
        <c:axId val="589083823"/>
        <c:scaling>
          <c:orientation val="minMax"/>
        </c:scaling>
        <c:delete val="0"/>
        <c:axPos val="b"/>
        <c:numFmt formatCode="General" sourceLinked="1"/>
        <c:majorTickMark val="none"/>
        <c:minorTickMark val="none"/>
        <c:tickLblPos val="nextTo"/>
        <c:spPr>
          <a:noFill/>
          <a:ln w="9525" cap="flat" cmpd="sng" algn="ctr">
            <a:solidFill>
              <a:schemeClr val="bg1">
                <a:lumMod val="50000"/>
              </a:schemeClr>
            </a:solidFill>
            <a:round/>
          </a:ln>
          <a:effectLst/>
        </c:spPr>
        <c:txPr>
          <a:bodyPr rot="-5400000" spcFirstLastPara="1" vertOverflow="ellipsis" wrap="square" anchor="ctr" anchorCtr="1"/>
          <a:lstStyle/>
          <a:p>
            <a:pPr>
              <a:defRPr sz="900" b="0" i="0" u="none" strike="noStrike" kern="1200" spc="20" baseline="0">
                <a:solidFill>
                  <a:schemeClr val="tx1"/>
                </a:solidFill>
                <a:latin typeface="+mn-lt"/>
                <a:ea typeface="+mn-ea"/>
                <a:cs typeface="+mn-cs"/>
              </a:defRPr>
            </a:pPr>
            <a:endParaRPr lang="en-US"/>
          </a:p>
        </c:txPr>
        <c:crossAx val="589091727"/>
        <c:crosses val="autoZero"/>
        <c:auto val="1"/>
        <c:lblAlgn val="ctr"/>
        <c:lblOffset val="100"/>
        <c:noMultiLvlLbl val="0"/>
      </c:catAx>
      <c:valAx>
        <c:axId val="589091727"/>
        <c:scaling>
          <c:orientation val="minMax"/>
        </c:scaling>
        <c:delete val="0"/>
        <c:axPos val="l"/>
        <c:numFmt formatCode="0%" sourceLinked="1"/>
        <c:majorTickMark val="none"/>
        <c:minorTickMark val="none"/>
        <c:tickLblPos val="nextTo"/>
        <c:spPr>
          <a:noFill/>
          <a:ln>
            <a:solidFill>
              <a:schemeClr val="bg1">
                <a:lumMod val="50000"/>
              </a:schemeClr>
            </a:solidFill>
          </a:ln>
          <a:effectLst/>
        </c:spPr>
        <c:txPr>
          <a:bodyPr rot="-60000000" spcFirstLastPara="1" vertOverflow="ellipsis" vert="horz" wrap="square" anchor="ctr" anchorCtr="1"/>
          <a:lstStyle/>
          <a:p>
            <a:pPr>
              <a:defRPr sz="900" b="0" i="0" u="none" strike="noStrike" kern="1200" spc="20" baseline="0">
                <a:solidFill>
                  <a:schemeClr val="tx1"/>
                </a:solidFill>
                <a:latin typeface="+mn-lt"/>
                <a:ea typeface="+mn-ea"/>
                <a:cs typeface="+mn-cs"/>
              </a:defRPr>
            </a:pPr>
            <a:endParaRPr lang="en-US"/>
          </a:p>
        </c:txPr>
        <c:crossAx val="589083823"/>
        <c:crosses val="autoZero"/>
        <c:crossBetween val="between"/>
      </c:valAx>
      <c:spPr>
        <a:gradFill>
          <a:gsLst>
            <a:gs pos="100000">
              <a:schemeClr val="lt1">
                <a:lumMod val="95000"/>
              </a:schemeClr>
            </a:gs>
            <a:gs pos="0">
              <a:schemeClr val="lt1"/>
            </a:gs>
          </a:gsLst>
          <a:lin ang="5400000" scaled="0"/>
        </a:grad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lt1"/>
    </a:solidFill>
    <a:ln>
      <a:noFill/>
    </a:ln>
    <a:effectLst/>
  </c:spPr>
  <c:txPr>
    <a:bodyPr/>
    <a:lstStyle/>
    <a:p>
      <a:pPr>
        <a:defRPr>
          <a:solidFill>
            <a:schemeClr val="tx1"/>
          </a:solidFill>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050" b="1" i="0" u="none" strike="noStrike" kern="1200" spc="0" baseline="0" smtClean="0">
                <a:solidFill>
                  <a:schemeClr val="tx1"/>
                </a:solidFill>
                <a:latin typeface="Arial" panose="020B0604020202020204" pitchFamily="34" charset="0"/>
                <a:ea typeface="+mn-ea"/>
                <a:cs typeface="Arial" panose="020B0604020202020204" pitchFamily="34" charset="0"/>
              </a:defRPr>
            </a:pPr>
            <a:r>
              <a:rPr lang="en-US" sz="1050" b="1"/>
              <a:t>Croissance annuelle du PIB</a:t>
            </a:r>
          </a:p>
        </c:rich>
      </c:tx>
      <c:overlay val="0"/>
      <c:spPr>
        <a:noFill/>
        <a:ln>
          <a:noFill/>
        </a:ln>
        <a:effectLst/>
      </c:spPr>
      <c:txPr>
        <a:bodyPr rot="0" spcFirstLastPara="1" vertOverflow="ellipsis" vert="horz" wrap="square" anchor="ctr" anchorCtr="1"/>
        <a:lstStyle/>
        <a:p>
          <a:pPr>
            <a:defRPr lang="en-US" sz="1050" b="1" i="0" u="none" strike="noStrike" kern="1200" spc="0" baseline="0" smtClean="0">
              <a:solidFill>
                <a:schemeClr val="tx1"/>
              </a:solidFill>
              <a:latin typeface="Arial" panose="020B0604020202020204" pitchFamily="34" charset="0"/>
              <a:ea typeface="+mn-ea"/>
              <a:cs typeface="Arial" panose="020B0604020202020204" pitchFamily="34" charset="0"/>
            </a:defRPr>
          </a:pPr>
          <a:endParaRPr lang="en-US"/>
        </a:p>
      </c:txPr>
    </c:title>
    <c:autoTitleDeleted val="0"/>
    <c:plotArea>
      <c:layout>
        <c:manualLayout>
          <c:layoutTarget val="inner"/>
          <c:xMode val="edge"/>
          <c:yMode val="edge"/>
          <c:x val="0.12561156006814939"/>
          <c:y val="7.4553701620630755E-2"/>
          <c:w val="0.84049277541421585"/>
          <c:h val="0.74201818522684659"/>
        </c:manualLayout>
      </c:layout>
      <c:barChart>
        <c:barDir val="col"/>
        <c:grouping val="stacked"/>
        <c:varyColors val="0"/>
        <c:ser>
          <c:idx val="0"/>
          <c:order val="0"/>
          <c:tx>
            <c:strRef>
              <c:f>'GDP Data'!$A$2</c:f>
              <c:strCache>
                <c:ptCount val="1"/>
                <c:pt idx="0">
                  <c:v>Mozambique</c:v>
                </c:pt>
              </c:strCache>
            </c:strRef>
          </c:tx>
          <c:spPr>
            <a:solidFill>
              <a:schemeClr val="accent1"/>
            </a:solidFill>
            <a:ln>
              <a:noFill/>
            </a:ln>
            <a:effectLst/>
          </c:spPr>
          <c:invertIfNegative val="0"/>
          <c:cat>
            <c:numRef>
              <c:f>'GDP Data'!$B$1:$AH$1</c:f>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f>'GDP Data'!$B$2:$AH$2</c:f>
              <c:numCache>
                <c:formatCode>0.0</c:formatCode>
                <c:ptCount val="30"/>
                <c:pt idx="0">
                  <c:v>4.9254512574701721</c:v>
                </c:pt>
                <c:pt idx="1">
                  <c:v>-6.1247154506177992</c:v>
                </c:pt>
                <c:pt idx="2">
                  <c:v>10.598529673232136</c:v>
                </c:pt>
                <c:pt idx="3">
                  <c:v>6.5333964579059227</c:v>
                </c:pt>
                <c:pt idx="4">
                  <c:v>2.2597571775733911</c:v>
                </c:pt>
                <c:pt idx="5">
                  <c:v>11.202519603498004</c:v>
                </c:pt>
                <c:pt idx="6">
                  <c:v>11.301068648208897</c:v>
                </c:pt>
                <c:pt idx="7">
                  <c:v>9.9312519493834941</c:v>
                </c:pt>
                <c:pt idx="8">
                  <c:v>11.698523715901189</c:v>
                </c:pt>
                <c:pt idx="9">
                  <c:v>1.1803007889161563</c:v>
                </c:pt>
                <c:pt idx="10">
                  <c:v>12.086874401640998</c:v>
                </c:pt>
                <c:pt idx="11">
                  <c:v>9.2910518852059596</c:v>
                </c:pt>
                <c:pt idx="12">
                  <c:v>6.8785328719577592</c:v>
                </c:pt>
                <c:pt idx="13">
                  <c:v>7.9164078363794204</c:v>
                </c:pt>
                <c:pt idx="14">
                  <c:v>6.6459082805728968</c:v>
                </c:pt>
                <c:pt idx="15">
                  <c:v>9.6943740917428585</c:v>
                </c:pt>
                <c:pt idx="16">
                  <c:v>7.7297462424837988</c:v>
                </c:pt>
                <c:pt idx="17">
                  <c:v>7.3177553239303705</c:v>
                </c:pt>
                <c:pt idx="18">
                  <c:v>6.3181972324890268</c:v>
                </c:pt>
                <c:pt idx="19">
                  <c:v>6.5023531151979057</c:v>
                </c:pt>
                <c:pt idx="20">
                  <c:v>7.4173843155939068</c:v>
                </c:pt>
                <c:pt idx="21">
                  <c:v>7.2584392525877774</c:v>
                </c:pt>
                <c:pt idx="22">
                  <c:v>6.9636071348707134</c:v>
                </c:pt>
                <c:pt idx="23">
                  <c:v>7.3985127971386362</c:v>
                </c:pt>
                <c:pt idx="24">
                  <c:v>6.7232787803581857</c:v>
                </c:pt>
                <c:pt idx="25">
                  <c:v>3.824214319211876</c:v>
                </c:pt>
                <c:pt idx="26">
                  <c:v>3.7413175931256433</c:v>
                </c:pt>
                <c:pt idx="27">
                  <c:v>3.4438138397146218</c:v>
                </c:pt>
                <c:pt idx="28">
                  <c:v>2.2835972030121496</c:v>
                </c:pt>
                <c:pt idx="29">
                  <c:v>-1.3</c:v>
                </c:pt>
              </c:numCache>
            </c:numRef>
          </c:val>
          <c:extLst>
            <c:ext xmlns:c16="http://schemas.microsoft.com/office/drawing/2014/chart" uri="{C3380CC4-5D6E-409C-BE32-E72D297353CC}">
              <c16:uniqueId val="{00000000-32C8-4B9C-9781-65A3F23583AD}"/>
            </c:ext>
          </c:extLst>
        </c:ser>
        <c:dLbls>
          <c:showLegendKey val="0"/>
          <c:showVal val="0"/>
          <c:showCatName val="0"/>
          <c:showSerName val="0"/>
          <c:showPercent val="0"/>
          <c:showBubbleSize val="0"/>
        </c:dLbls>
        <c:gapWidth val="150"/>
        <c:overlap val="100"/>
        <c:axId val="430087344"/>
        <c:axId val="418464864"/>
      </c:barChart>
      <c:lineChart>
        <c:grouping val="standard"/>
        <c:varyColors val="0"/>
        <c:ser>
          <c:idx val="2"/>
          <c:order val="2"/>
          <c:tx>
            <c:strRef>
              <c:f>'GDP Data'!$A$4</c:f>
              <c:strCache>
                <c:ptCount val="1"/>
                <c:pt idx="0">
                  <c:v>Sub-Saharan Africa</c:v>
                </c:pt>
              </c:strCache>
            </c:strRef>
          </c:tx>
          <c:spPr>
            <a:ln w="28575" cap="rnd">
              <a:solidFill>
                <a:srgbClr val="FF0000"/>
              </a:solidFill>
              <a:round/>
            </a:ln>
            <a:effectLst/>
          </c:spPr>
          <c:marker>
            <c:symbol val="none"/>
          </c:marker>
          <c:cat>
            <c:numRef>
              <c:f>'GDP Data'!$B$1:$AH$1</c:f>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f>'GDP Data'!$B$4:$AH$4</c:f>
              <c:numCache>
                <c:formatCode>0.0</c:formatCode>
                <c:ptCount val="30"/>
                <c:pt idx="0">
                  <c:v>0.37883973567581108</c:v>
                </c:pt>
                <c:pt idx="1">
                  <c:v>-0.34210021494052967</c:v>
                </c:pt>
                <c:pt idx="2">
                  <c:v>-0.88323080146508914</c:v>
                </c:pt>
                <c:pt idx="3">
                  <c:v>1.186235421797349</c:v>
                </c:pt>
                <c:pt idx="4">
                  <c:v>3.4115738971970018</c:v>
                </c:pt>
                <c:pt idx="5">
                  <c:v>5.1003801502508992</c:v>
                </c:pt>
                <c:pt idx="6">
                  <c:v>3.5540577440119847</c:v>
                </c:pt>
                <c:pt idx="7">
                  <c:v>2.3845140034811152</c:v>
                </c:pt>
                <c:pt idx="8">
                  <c:v>2.1796272126436236</c:v>
                </c:pt>
                <c:pt idx="9">
                  <c:v>3.4623029555638283</c:v>
                </c:pt>
                <c:pt idx="10">
                  <c:v>4.2500935219682106</c:v>
                </c:pt>
                <c:pt idx="11">
                  <c:v>6.3555425809505834</c:v>
                </c:pt>
                <c:pt idx="12">
                  <c:v>4.2395920720278042</c:v>
                </c:pt>
                <c:pt idx="13">
                  <c:v>6.5072095757116273</c:v>
                </c:pt>
                <c:pt idx="14">
                  <c:v>6.1976801925190728</c:v>
                </c:pt>
                <c:pt idx="15">
                  <c:v>6.166762311186929</c:v>
                </c:pt>
                <c:pt idx="16">
                  <c:v>6.4878003693707598</c:v>
                </c:pt>
                <c:pt idx="17">
                  <c:v>5.3479010146539849</c:v>
                </c:pt>
                <c:pt idx="18">
                  <c:v>3.0969394445383074</c:v>
                </c:pt>
                <c:pt idx="19">
                  <c:v>5.5767645236600032</c:v>
                </c:pt>
                <c:pt idx="20">
                  <c:v>4.4834682454876429</c:v>
                </c:pt>
                <c:pt idx="21">
                  <c:v>4.125614017036483</c:v>
                </c:pt>
                <c:pt idx="22">
                  <c:v>4.956723738830604</c:v>
                </c:pt>
                <c:pt idx="23">
                  <c:v>4.6561904621861885</c:v>
                </c:pt>
                <c:pt idx="24">
                  <c:v>2.7809778929204469</c:v>
                </c:pt>
                <c:pt idx="25">
                  <c:v>1.1611996609763224</c:v>
                </c:pt>
                <c:pt idx="26">
                  <c:v>2.3809231937332669</c:v>
                </c:pt>
                <c:pt idx="27">
                  <c:v>2.3865132187756615</c:v>
                </c:pt>
                <c:pt idx="28">
                  <c:v>2.2874659639174837</c:v>
                </c:pt>
                <c:pt idx="29">
                  <c:v>0</c:v>
                </c:pt>
              </c:numCache>
            </c:numRef>
          </c:val>
          <c:smooth val="0"/>
          <c:extLst>
            <c:ext xmlns:c16="http://schemas.microsoft.com/office/drawing/2014/chart" uri="{C3380CC4-5D6E-409C-BE32-E72D297353CC}">
              <c16:uniqueId val="{00000001-32C8-4B9C-9781-65A3F23583AD}"/>
            </c:ext>
          </c:extLst>
        </c:ser>
        <c:ser>
          <c:idx val="3"/>
          <c:order val="3"/>
          <c:tx>
            <c:strRef>
              <c:f>'GDP Data'!$A$5</c:f>
              <c:strCache>
                <c:ptCount val="1"/>
                <c:pt idx="0">
                  <c:v>Low income Countries</c:v>
                </c:pt>
              </c:strCache>
              <c:extLst xmlns:c15="http://schemas.microsoft.com/office/drawing/2012/chart"/>
            </c:strRef>
          </c:tx>
          <c:spPr>
            <a:ln w="28575" cap="rnd">
              <a:solidFill>
                <a:srgbClr val="FFC000"/>
              </a:solidFill>
              <a:round/>
            </a:ln>
            <a:effectLst/>
          </c:spPr>
          <c:marker>
            <c:symbol val="none"/>
          </c:marker>
          <c:cat>
            <c:numRef>
              <c:f>'GDP Data'!$B$1:$AH$1</c:f>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extLst xmlns:c15="http://schemas.microsoft.com/office/drawing/2012/chart"/>
            </c:numRef>
          </c:cat>
          <c:val>
            <c:numRef>
              <c:f>'GDP Data'!$B$5:$AH$5</c:f>
              <c:numCache>
                <c:formatCode>0.0</c:formatCode>
                <c:ptCount val="30"/>
                <c:pt idx="0">
                  <c:v>0.46610201196423873</c:v>
                </c:pt>
                <c:pt idx="1">
                  <c:v>-2.5622172190570609</c:v>
                </c:pt>
                <c:pt idx="2">
                  <c:v>-0.46058909177104113</c:v>
                </c:pt>
                <c:pt idx="3">
                  <c:v>-0.62152950096505322</c:v>
                </c:pt>
                <c:pt idx="4">
                  <c:v>4.8424186162719991</c:v>
                </c:pt>
                <c:pt idx="5">
                  <c:v>4.79145154443232</c:v>
                </c:pt>
                <c:pt idx="6">
                  <c:v>4.5441332533684857</c:v>
                </c:pt>
                <c:pt idx="7">
                  <c:v>3.4255924500228332</c:v>
                </c:pt>
                <c:pt idx="8">
                  <c:v>3.271331525716036</c:v>
                </c:pt>
                <c:pt idx="9">
                  <c:v>2.7615965506397657</c:v>
                </c:pt>
                <c:pt idx="10">
                  <c:v>5.0630202587021529</c:v>
                </c:pt>
                <c:pt idx="11">
                  <c:v>4.2195534200164957</c:v>
                </c:pt>
                <c:pt idx="12">
                  <c:v>5.1450848633310073</c:v>
                </c:pt>
                <c:pt idx="13">
                  <c:v>5.6692216703239922</c:v>
                </c:pt>
                <c:pt idx="14">
                  <c:v>6.926637043446874</c:v>
                </c:pt>
                <c:pt idx="15">
                  <c:v>6.5677149666268662</c:v>
                </c:pt>
                <c:pt idx="16">
                  <c:v>7.5218876511437429</c:v>
                </c:pt>
                <c:pt idx="17">
                  <c:v>6.4622496107546539</c:v>
                </c:pt>
                <c:pt idx="18">
                  <c:v>5.0813603224052031</c:v>
                </c:pt>
                <c:pt idx="19">
                  <c:v>6.4681324061609047</c:v>
                </c:pt>
                <c:pt idx="20">
                  <c:v>2.2386091573524283</c:v>
                </c:pt>
                <c:pt idx="21">
                  <c:v>2.6863512373343639</c:v>
                </c:pt>
                <c:pt idx="22">
                  <c:v>5.6411238766425242</c:v>
                </c:pt>
                <c:pt idx="23">
                  <c:v>5.0582523079691271</c:v>
                </c:pt>
                <c:pt idx="24">
                  <c:v>2.0452917285648056</c:v>
                </c:pt>
                <c:pt idx="25">
                  <c:v>3.8426693172219757</c:v>
                </c:pt>
                <c:pt idx="26">
                  <c:v>3.7100744799314356</c:v>
                </c:pt>
                <c:pt idx="27">
                  <c:v>3.6897573827344985</c:v>
                </c:pt>
                <c:pt idx="28">
                  <c:v>3.9553191234186897</c:v>
                </c:pt>
                <c:pt idx="29">
                  <c:v>0</c:v>
                </c:pt>
              </c:numCache>
              <c:extLst xmlns:c15="http://schemas.microsoft.com/office/drawing/2012/chart"/>
            </c:numRef>
          </c:val>
          <c:smooth val="0"/>
          <c:extLst xmlns:c15="http://schemas.microsoft.com/office/drawing/2012/chart">
            <c:ext xmlns:c16="http://schemas.microsoft.com/office/drawing/2014/chart" uri="{C3380CC4-5D6E-409C-BE32-E72D297353CC}">
              <c16:uniqueId val="{00000002-32C8-4B9C-9781-65A3F23583AD}"/>
            </c:ext>
          </c:extLst>
        </c:ser>
        <c:dLbls>
          <c:showLegendKey val="0"/>
          <c:showVal val="0"/>
          <c:showCatName val="0"/>
          <c:showSerName val="0"/>
          <c:showPercent val="0"/>
          <c:showBubbleSize val="0"/>
        </c:dLbls>
        <c:marker val="1"/>
        <c:smooth val="0"/>
        <c:axId val="430087344"/>
        <c:axId val="418464864"/>
        <c:extLst>
          <c:ext xmlns:c15="http://schemas.microsoft.com/office/drawing/2012/chart" uri="{02D57815-91ED-43cb-92C2-25804820EDAC}">
            <c15:filteredLineSeries>
              <c15:ser>
                <c:idx val="1"/>
                <c:order val="1"/>
                <c:tx>
                  <c:strRef>
                    <c:extLst>
                      <c:ext uri="{02D57815-91ED-43cb-92C2-25804820EDAC}">
                        <c15:formulaRef>
                          <c15:sqref>'GDP Data'!$A$3</c15:sqref>
                        </c15:formulaRef>
                      </c:ext>
                    </c:extLst>
                    <c:strCache>
                      <c:ptCount val="1"/>
                      <c:pt idx="0">
                        <c:v>Sub-Saharan Africa (excluding high income)</c:v>
                      </c:pt>
                    </c:strCache>
                  </c:strRef>
                </c:tx>
                <c:spPr>
                  <a:ln w="28575" cap="rnd">
                    <a:solidFill>
                      <a:schemeClr val="accent2"/>
                    </a:solidFill>
                    <a:round/>
                  </a:ln>
                  <a:effectLst/>
                </c:spPr>
                <c:marker>
                  <c:symbol val="none"/>
                </c:marker>
                <c:cat>
                  <c:numRef>
                    <c:extLst>
                      <c:ex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c:ext uri="{02D57815-91ED-43cb-92C2-25804820EDAC}">
                        <c15:formulaRef>
                          <c15:sqref>'GDP Data'!$B$3:$AH$3</c15:sqref>
                        </c15:formulaRef>
                      </c:ext>
                    </c:extLst>
                    <c:numCache>
                      <c:formatCode>0.0</c:formatCode>
                      <c:ptCount val="30"/>
                      <c:pt idx="0">
                        <c:v>0.35177860941561789</c:v>
                      </c:pt>
                      <c:pt idx="1">
                        <c:v>-0.39250751376161475</c:v>
                      </c:pt>
                      <c:pt idx="2">
                        <c:v>-0.93059726057983028</c:v>
                      </c:pt>
                      <c:pt idx="3">
                        <c:v>1.1665730900453752</c:v>
                      </c:pt>
                      <c:pt idx="4">
                        <c:v>3.4089368628595196</c:v>
                      </c:pt>
                      <c:pt idx="5">
                        <c:v>5.0968469193424681</c:v>
                      </c:pt>
                      <c:pt idx="6">
                        <c:v>3.5302962491116148</c:v>
                      </c:pt>
                      <c:pt idx="7">
                        <c:v>2.3500220050314908</c:v>
                      </c:pt>
                      <c:pt idx="8">
                        <c:v>2.1764651836701177</c:v>
                      </c:pt>
                      <c:pt idx="9">
                        <c:v>3.4259149656741954</c:v>
                      </c:pt>
                      <c:pt idx="10">
                        <c:v>4.2642323365023742</c:v>
                      </c:pt>
                      <c:pt idx="11">
                        <c:v>6.4000567760049876</c:v>
                      </c:pt>
                      <c:pt idx="12">
                        <c:v>4.2351236053207231</c:v>
                      </c:pt>
                      <c:pt idx="13">
                        <c:v>6.5324267926606865</c:v>
                      </c:pt>
                      <c:pt idx="14">
                        <c:v>6.2308050711682057</c:v>
                      </c:pt>
                      <c:pt idx="15">
                        <c:v>6.1742490477868728</c:v>
                      </c:pt>
                      <c:pt idx="16">
                        <c:v>6.4904819674471952</c:v>
                      </c:pt>
                      <c:pt idx="17">
                        <c:v>5.3536320106479849</c:v>
                      </c:pt>
                      <c:pt idx="18">
                        <c:v>3.0984284704204157</c:v>
                      </c:pt>
                      <c:pt idx="19">
                        <c:v>5.5853941368519031</c:v>
                      </c:pt>
                      <c:pt idx="20">
                        <c:v>4.4840248030612031</c:v>
                      </c:pt>
                      <c:pt idx="21">
                        <c:v>4.1323229779213619</c:v>
                      </c:pt>
                      <c:pt idx="22">
                        <c:v>4.9675673969261851</c:v>
                      </c:pt>
                      <c:pt idx="23">
                        <c:v>4.6628240369170015</c:v>
                      </c:pt>
                      <c:pt idx="24">
                        <c:v>2.7739463169666152</c:v>
                      </c:pt>
                      <c:pt idx="25">
                        <c:v>1.1394618211281227</c:v>
                      </c:pt>
                      <c:pt idx="26">
                        <c:v>2.3688308266620766</c:v>
                      </c:pt>
                      <c:pt idx="27">
                        <c:v>2.375180383196934</c:v>
                      </c:pt>
                      <c:pt idx="28">
                        <c:v>2.2795647607438667</c:v>
                      </c:pt>
                      <c:pt idx="29">
                        <c:v>0</c:v>
                      </c:pt>
                    </c:numCache>
                  </c:numRef>
                </c:val>
                <c:smooth val="0"/>
                <c:extLst>
                  <c:ext xmlns:c16="http://schemas.microsoft.com/office/drawing/2014/chart" uri="{C3380CC4-5D6E-409C-BE32-E72D297353CC}">
                    <c16:uniqueId val="{00000003-32C8-4B9C-9781-65A3F23583AD}"/>
                  </c:ext>
                </c:extLst>
              </c15:ser>
            </c15:filteredLineSeries>
            <c15:filteredLineSeries>
              <c15:ser>
                <c:idx val="4"/>
                <c:order val="4"/>
                <c:tx>
                  <c:strRef>
                    <c:extLst xmlns:c15="http://schemas.microsoft.com/office/drawing/2012/chart">
                      <c:ext xmlns:c15="http://schemas.microsoft.com/office/drawing/2012/chart" uri="{02D57815-91ED-43cb-92C2-25804820EDAC}">
                        <c15:formulaRef>
                          <c15:sqref>'GDP Data'!$A$6</c15:sqref>
                        </c15:formulaRef>
                      </c:ext>
                    </c:extLst>
                    <c:strCache>
                      <c:ptCount val="1"/>
                      <c:pt idx="0">
                        <c:v>Tanzania</c:v>
                      </c:pt>
                    </c:strCache>
                  </c:strRef>
                </c:tx>
                <c:spPr>
                  <a:ln w="28575" cap="rnd">
                    <a:solidFill>
                      <a:schemeClr val="accent5"/>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Data'!$B$6:$AH$6</c15:sqref>
                        </c15:formulaRef>
                      </c:ext>
                    </c:extLst>
                    <c:numCache>
                      <c:formatCode>General</c:formatCode>
                      <c:ptCount val="30"/>
                      <c:pt idx="0">
                        <c:v>2.0719882112220773</c:v>
                      </c:pt>
                      <c:pt idx="1">
                        <c:v>0.58432213408326561</c:v>
                      </c:pt>
                      <c:pt idx="2">
                        <c:v>1.2058008083940308</c:v>
                      </c:pt>
                      <c:pt idx="3">
                        <c:v>1.567661765625644</c:v>
                      </c:pt>
                      <c:pt idx="4">
                        <c:v>3.5699118684430005</c:v>
                      </c:pt>
                      <c:pt idx="5">
                        <c:v>4.544366801874375</c:v>
                      </c:pt>
                      <c:pt idx="6">
                        <c:v>3.5252781913522426</c:v>
                      </c:pt>
                      <c:pt idx="7">
                        <c:v>3.7085115960772299</c:v>
                      </c:pt>
                      <c:pt idx="8">
                        <c:v>4.8638637551705131</c:v>
                      </c:pt>
                      <c:pt idx="9">
                        <c:v>4.5207846348832135</c:v>
                      </c:pt>
                      <c:pt idx="10">
                        <c:v>6.0708082884781618</c:v>
                      </c:pt>
                      <c:pt idx="11">
                        <c:v>7.0931949835368613</c:v>
                      </c:pt>
                      <c:pt idx="12">
                        <c:v>6.6727898290831433</c:v>
                      </c:pt>
                      <c:pt idx="13">
                        <c:v>7.5038146604771612</c:v>
                      </c:pt>
                      <c:pt idx="14">
                        <c:v>7.4763192578229223</c:v>
                      </c:pt>
                      <c:pt idx="15">
                        <c:v>6.5322213903017001</c:v>
                      </c:pt>
                      <c:pt idx="16">
                        <c:v>6.7685352018066283</c:v>
                      </c:pt>
                      <c:pt idx="17">
                        <c:v>5.6864168597641935</c:v>
                      </c:pt>
                      <c:pt idx="18">
                        <c:v>5.2691052479185316</c:v>
                      </c:pt>
                      <c:pt idx="19">
                        <c:v>6.336523427474944</c:v>
                      </c:pt>
                      <c:pt idx="20">
                        <c:v>7.6721554349938401</c:v>
                      </c:pt>
                      <c:pt idx="21">
                        <c:v>4.500153559821257</c:v>
                      </c:pt>
                      <c:pt idx="22">
                        <c:v>6.781585600653159</c:v>
                      </c:pt>
                      <c:pt idx="23">
                        <c:v>6.7324618683248332</c:v>
                      </c:pt>
                      <c:pt idx="24">
                        <c:v>6.1606287740668222</c:v>
                      </c:pt>
                      <c:pt idx="25">
                        <c:v>6.8671161964455081</c:v>
                      </c:pt>
                      <c:pt idx="26">
                        <c:v>6.7856801140519849</c:v>
                      </c:pt>
                      <c:pt idx="27">
                        <c:v>5.4449676318963469</c:v>
                      </c:pt>
                      <c:pt idx="28">
                        <c:v>5.7913713763207113</c:v>
                      </c:pt>
                      <c:pt idx="29">
                        <c:v>0</c:v>
                      </c:pt>
                    </c:numCache>
                  </c:numRef>
                </c:val>
                <c:smooth val="0"/>
                <c:extLst xmlns:c15="http://schemas.microsoft.com/office/drawing/2012/chart">
                  <c:ext xmlns:c16="http://schemas.microsoft.com/office/drawing/2014/chart" uri="{C3380CC4-5D6E-409C-BE32-E72D297353CC}">
                    <c16:uniqueId val="{00000004-32C8-4B9C-9781-65A3F23583AD}"/>
                  </c:ext>
                </c:extLst>
              </c15:ser>
            </c15:filteredLineSeries>
            <c15:filteredLineSeries>
              <c15:ser>
                <c:idx val="5"/>
                <c:order val="5"/>
                <c:tx>
                  <c:strRef>
                    <c:extLst xmlns:c15="http://schemas.microsoft.com/office/drawing/2012/chart">
                      <c:ext xmlns:c15="http://schemas.microsoft.com/office/drawing/2012/chart" uri="{02D57815-91ED-43cb-92C2-25804820EDAC}">
                        <c15:formulaRef>
                          <c15:sqref>'GDP Data'!$A$7</c15:sqref>
                        </c15:formulaRef>
                      </c:ext>
                    </c:extLst>
                    <c:strCache>
                      <c:ptCount val="1"/>
                      <c:pt idx="0">
                        <c:v>Uganda</c:v>
                      </c:pt>
                    </c:strCache>
                  </c:strRef>
                </c:tx>
                <c:spPr>
                  <a:ln w="28575" cap="rnd">
                    <a:solidFill>
                      <a:schemeClr val="accent6"/>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Data'!$B$7:$AH$7</c15:sqref>
                        </c15:formulaRef>
                      </c:ext>
                    </c:extLst>
                    <c:numCache>
                      <c:formatCode>General</c:formatCode>
                      <c:ptCount val="30"/>
                      <c:pt idx="0">
                        <c:v>5.5540954958915876</c:v>
                      </c:pt>
                      <c:pt idx="1">
                        <c:v>3.4183568915428566</c:v>
                      </c:pt>
                      <c:pt idx="2">
                        <c:v>8.3262925203511315</c:v>
                      </c:pt>
                      <c:pt idx="3">
                        <c:v>6.4036357435314812</c:v>
                      </c:pt>
                      <c:pt idx="4">
                        <c:v>11.523243807939451</c:v>
                      </c:pt>
                      <c:pt idx="5">
                        <c:v>9.0721145821438967</c:v>
                      </c:pt>
                      <c:pt idx="6">
                        <c:v>5.1000018634794912</c:v>
                      </c:pt>
                      <c:pt idx="7">
                        <c:v>4.9052654838678507</c:v>
                      </c:pt>
                      <c:pt idx="8">
                        <c:v>8.0539483766469857</c:v>
                      </c:pt>
                      <c:pt idx="9">
                        <c:v>3.1419073382414524</c:v>
                      </c:pt>
                      <c:pt idx="10">
                        <c:v>5.1836611264320993</c:v>
                      </c:pt>
                      <c:pt idx="11">
                        <c:v>8.7326857639324231</c:v>
                      </c:pt>
                      <c:pt idx="12">
                        <c:v>6.4732586714905267</c:v>
                      </c:pt>
                      <c:pt idx="13">
                        <c:v>6.807233344186443</c:v>
                      </c:pt>
                      <c:pt idx="14">
                        <c:v>6.3325651162993353</c:v>
                      </c:pt>
                      <c:pt idx="15">
                        <c:v>10.784744386125155</c:v>
                      </c:pt>
                      <c:pt idx="16">
                        <c:v>8.4124259655278451</c:v>
                      </c:pt>
                      <c:pt idx="17">
                        <c:v>8.7087519013216337</c:v>
                      </c:pt>
                      <c:pt idx="18">
                        <c:v>6.8015173480652038</c:v>
                      </c:pt>
                      <c:pt idx="19">
                        <c:v>5.637611637931343</c:v>
                      </c:pt>
                      <c:pt idx="20">
                        <c:v>9.3916554929118519</c:v>
                      </c:pt>
                      <c:pt idx="21">
                        <c:v>3.8374556059260954</c:v>
                      </c:pt>
                      <c:pt idx="22">
                        <c:v>3.5869058263615869</c:v>
                      </c:pt>
                      <c:pt idx="23">
                        <c:v>5.1063073242765284</c:v>
                      </c:pt>
                      <c:pt idx="24">
                        <c:v>5.1878598625543617</c:v>
                      </c:pt>
                      <c:pt idx="25">
                        <c:v>4.7810002914464746</c:v>
                      </c:pt>
                      <c:pt idx="26">
                        <c:v>3.8091290293244242</c:v>
                      </c:pt>
                      <c:pt idx="27">
                        <c:v>6.1626191390034819</c:v>
                      </c:pt>
                      <c:pt idx="28">
                        <c:v>6.8033268132823537</c:v>
                      </c:pt>
                      <c:pt idx="29">
                        <c:v>0</c:v>
                      </c:pt>
                    </c:numCache>
                  </c:numRef>
                </c:val>
                <c:smooth val="0"/>
                <c:extLst xmlns:c15="http://schemas.microsoft.com/office/drawing/2012/chart">
                  <c:ext xmlns:c16="http://schemas.microsoft.com/office/drawing/2014/chart" uri="{C3380CC4-5D6E-409C-BE32-E72D297353CC}">
                    <c16:uniqueId val="{00000005-32C8-4B9C-9781-65A3F23583AD}"/>
                  </c:ext>
                </c:extLst>
              </c15:ser>
            </c15:filteredLineSeries>
            <c15:filteredLineSeries>
              <c15:ser>
                <c:idx val="6"/>
                <c:order val="6"/>
                <c:tx>
                  <c:strRef>
                    <c:extLst xmlns:c15="http://schemas.microsoft.com/office/drawing/2012/chart">
                      <c:ext xmlns:c15="http://schemas.microsoft.com/office/drawing/2012/chart" uri="{02D57815-91ED-43cb-92C2-25804820EDAC}">
                        <c15:formulaRef>
                          <c15:sqref>'GDP Data'!$A$8</c15:sqref>
                        </c15:formulaRef>
                      </c:ext>
                    </c:extLst>
                    <c:strCache>
                      <c:ptCount val="1"/>
                      <c:pt idx="0">
                        <c:v>Malawi</c:v>
                      </c:pt>
                    </c:strCache>
                  </c:strRef>
                </c:tx>
                <c:spPr>
                  <a:ln w="28575" cap="rnd">
                    <a:solidFill>
                      <a:schemeClr val="accent1">
                        <a:lumMod val="60000"/>
                      </a:schemeClr>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Data'!$B$8:$AH$8</c15:sqref>
                        </c15:formulaRef>
                      </c:ext>
                    </c:extLst>
                    <c:numCache>
                      <c:formatCode>General</c:formatCode>
                      <c:ptCount val="30"/>
                      <c:pt idx="0">
                        <c:v>8.7302318286141372</c:v>
                      </c:pt>
                      <c:pt idx="1">
                        <c:v>-7.332978135323188</c:v>
                      </c:pt>
                      <c:pt idx="2">
                        <c:v>9.6918402678066258</c:v>
                      </c:pt>
                      <c:pt idx="3">
                        <c:v>-10.240181733893522</c:v>
                      </c:pt>
                      <c:pt idx="4">
                        <c:v>16.728817592001505</c:v>
                      </c:pt>
                      <c:pt idx="5">
                        <c:v>7.3166815111922432</c:v>
                      </c:pt>
                      <c:pt idx="6">
                        <c:v>3.7924190989626823</c:v>
                      </c:pt>
                      <c:pt idx="7">
                        <c:v>3.895253629637125</c:v>
                      </c:pt>
                      <c:pt idx="8">
                        <c:v>3.0422780913400089</c:v>
                      </c:pt>
                      <c:pt idx="9">
                        <c:v>1.5760778373466593</c:v>
                      </c:pt>
                      <c:pt idx="10">
                        <c:v>-4.9749638464944042</c:v>
                      </c:pt>
                      <c:pt idx="11">
                        <c:v>1.7000000136307563</c:v>
                      </c:pt>
                      <c:pt idx="12">
                        <c:v>5.7056394374716035</c:v>
                      </c:pt>
                      <c:pt idx="13">
                        <c:v>5.4204976936605505</c:v>
                      </c:pt>
                      <c:pt idx="14">
                        <c:v>3.2687258275752953</c:v>
                      </c:pt>
                      <c:pt idx="15">
                        <c:v>4.6999999920261075</c:v>
                      </c:pt>
                      <c:pt idx="16">
                        <c:v>9.6000000026081835</c:v>
                      </c:pt>
                      <c:pt idx="17">
                        <c:v>7.6397367741039233</c:v>
                      </c:pt>
                      <c:pt idx="18">
                        <c:v>8.3281102762457522</c:v>
                      </c:pt>
                      <c:pt idx="19">
                        <c:v>6.8740656350095435</c:v>
                      </c:pt>
                      <c:pt idx="20">
                        <c:v>4.8540551089832178</c:v>
                      </c:pt>
                      <c:pt idx="21">
                        <c:v>1.8857995073186657</c:v>
                      </c:pt>
                      <c:pt idx="22">
                        <c:v>5.1999999983554943</c:v>
                      </c:pt>
                      <c:pt idx="23">
                        <c:v>5.7000000037720895</c:v>
                      </c:pt>
                      <c:pt idx="24">
                        <c:v>2.7999999990033331</c:v>
                      </c:pt>
                      <c:pt idx="25">
                        <c:v>2.4840406264186754</c:v>
                      </c:pt>
                      <c:pt idx="26">
                        <c:v>4.0000305165304155</c:v>
                      </c:pt>
                      <c:pt idx="27">
                        <c:v>3.1700032203733031</c:v>
                      </c:pt>
                      <c:pt idx="28">
                        <c:v>4.3692389907521658</c:v>
                      </c:pt>
                      <c:pt idx="29">
                        <c:v>0</c:v>
                      </c:pt>
                    </c:numCache>
                  </c:numRef>
                </c:val>
                <c:smooth val="0"/>
                <c:extLst xmlns:c15="http://schemas.microsoft.com/office/drawing/2012/chart">
                  <c:ext xmlns:c16="http://schemas.microsoft.com/office/drawing/2014/chart" uri="{C3380CC4-5D6E-409C-BE32-E72D297353CC}">
                    <c16:uniqueId val="{00000006-32C8-4B9C-9781-65A3F23583AD}"/>
                  </c:ext>
                </c:extLst>
              </c15:ser>
            </c15:filteredLineSeries>
            <c15:filteredLineSeries>
              <c15:ser>
                <c:idx val="7"/>
                <c:order val="7"/>
                <c:tx>
                  <c:strRef>
                    <c:extLst xmlns:c15="http://schemas.microsoft.com/office/drawing/2012/chart">
                      <c:ext xmlns:c15="http://schemas.microsoft.com/office/drawing/2012/chart" uri="{02D57815-91ED-43cb-92C2-25804820EDAC}">
                        <c15:formulaRef>
                          <c15:sqref>'GDP Data'!$A$9</c15:sqref>
                        </c15:formulaRef>
                      </c:ext>
                    </c:extLst>
                    <c:strCache>
                      <c:ptCount val="1"/>
                      <c:pt idx="0">
                        <c:v>Angola</c:v>
                      </c:pt>
                    </c:strCache>
                  </c:strRef>
                </c:tx>
                <c:spPr>
                  <a:ln w="28575" cap="rnd">
                    <a:solidFill>
                      <a:schemeClr val="accent2">
                        <a:lumMod val="60000"/>
                      </a:schemeClr>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Data'!$B$9:$AH$9</c15:sqref>
                        </c15:formulaRef>
                      </c:ext>
                    </c:extLst>
                    <c:numCache>
                      <c:formatCode>General</c:formatCode>
                      <c:ptCount val="30"/>
                      <c:pt idx="0">
                        <c:v>0.99135930146087503</c:v>
                      </c:pt>
                      <c:pt idx="1">
                        <c:v>-5.8382807331314126</c:v>
                      </c:pt>
                      <c:pt idx="2">
                        <c:v>-23.983417442057799</c:v>
                      </c:pt>
                      <c:pt idx="3">
                        <c:v>1.3393634364799141</c:v>
                      </c:pt>
                      <c:pt idx="4">
                        <c:v>15.000000028863369</c:v>
                      </c:pt>
                      <c:pt idx="5">
                        <c:v>13.544369755102565</c:v>
                      </c:pt>
                      <c:pt idx="6">
                        <c:v>7.2742773546037256</c:v>
                      </c:pt>
                      <c:pt idx="7">
                        <c:v>4.6911464509355199</c:v>
                      </c:pt>
                      <c:pt idx="8">
                        <c:v>2.1814897184045776</c:v>
                      </c:pt>
                      <c:pt idx="9">
                        <c:v>3.0546242343078518</c:v>
                      </c:pt>
                      <c:pt idx="10">
                        <c:v>4.2059985561950981</c:v>
                      </c:pt>
                      <c:pt idx="11">
                        <c:v>13.665686523023155</c:v>
                      </c:pt>
                      <c:pt idx="12">
                        <c:v>2.9898500103955286</c:v>
                      </c:pt>
                      <c:pt idx="13">
                        <c:v>10.952861768710264</c:v>
                      </c:pt>
                      <c:pt idx="14">
                        <c:v>15.028915317530192</c:v>
                      </c:pt>
                      <c:pt idx="15">
                        <c:v>11.547683178163254</c:v>
                      </c:pt>
                      <c:pt idx="16">
                        <c:v>14.010018242632796</c:v>
                      </c:pt>
                      <c:pt idx="17">
                        <c:v>11.166138330361377</c:v>
                      </c:pt>
                      <c:pt idx="18">
                        <c:v>0.858712615098284</c:v>
                      </c:pt>
                      <c:pt idx="19">
                        <c:v>4.4039325434376053</c:v>
                      </c:pt>
                      <c:pt idx="20">
                        <c:v>3.4719763445402378</c:v>
                      </c:pt>
                      <c:pt idx="21">
                        <c:v>8.5421876426537153</c:v>
                      </c:pt>
                      <c:pt idx="22">
                        <c:v>4.9545446463618674</c:v>
                      </c:pt>
                      <c:pt idx="23">
                        <c:v>4.8226275683899615</c:v>
                      </c:pt>
                      <c:pt idx="24">
                        <c:v>0.94357156132500108</c:v>
                      </c:pt>
                      <c:pt idx="25">
                        <c:v>-2.5800496440493248</c:v>
                      </c:pt>
                      <c:pt idx="26">
                        <c:v>-0.14721294108575478</c:v>
                      </c:pt>
                      <c:pt idx="27">
                        <c:v>-2.0036297273020125</c:v>
                      </c:pt>
                      <c:pt idx="28">
                        <c:v>-0.62464431770689544</c:v>
                      </c:pt>
                      <c:pt idx="29">
                        <c:v>0</c:v>
                      </c:pt>
                    </c:numCache>
                  </c:numRef>
                </c:val>
                <c:smooth val="0"/>
                <c:extLst xmlns:c15="http://schemas.microsoft.com/office/drawing/2012/chart">
                  <c:ext xmlns:c16="http://schemas.microsoft.com/office/drawing/2014/chart" uri="{C3380CC4-5D6E-409C-BE32-E72D297353CC}">
                    <c16:uniqueId val="{00000007-32C8-4B9C-9781-65A3F23583AD}"/>
                  </c:ext>
                </c:extLst>
              </c15:ser>
            </c15:filteredLineSeries>
            <c15:filteredLineSeries>
              <c15:ser>
                <c:idx val="8"/>
                <c:order val="8"/>
                <c:tx>
                  <c:strRef>
                    <c:extLst xmlns:c15="http://schemas.microsoft.com/office/drawing/2012/chart">
                      <c:ext xmlns:c15="http://schemas.microsoft.com/office/drawing/2012/chart" uri="{02D57815-91ED-43cb-92C2-25804820EDAC}">
                        <c15:formulaRef>
                          <c15:sqref>'GDP Data'!$A$10</c15:sqref>
                        </c15:formulaRef>
                      </c:ext>
                    </c:extLst>
                    <c:strCache>
                      <c:ptCount val="1"/>
                      <c:pt idx="0">
                        <c:v>Botswana</c:v>
                      </c:pt>
                    </c:strCache>
                  </c:strRef>
                </c:tx>
                <c:spPr>
                  <a:ln w="28575" cap="rnd">
                    <a:solidFill>
                      <a:schemeClr val="accent3">
                        <a:lumMod val="60000"/>
                      </a:schemeClr>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Data'!$B$10:$AH$10</c15:sqref>
                        </c15:formulaRef>
                      </c:ext>
                    </c:extLst>
                    <c:numCache>
                      <c:formatCode>General</c:formatCode>
                      <c:ptCount val="30"/>
                      <c:pt idx="0">
                        <c:v>7.4587091123188003</c:v>
                      </c:pt>
                      <c:pt idx="1">
                        <c:v>2.9170703069254245</c:v>
                      </c:pt>
                      <c:pt idx="2">
                        <c:v>1.9161071417014313</c:v>
                      </c:pt>
                      <c:pt idx="3">
                        <c:v>3.6279160209385708</c:v>
                      </c:pt>
                      <c:pt idx="4">
                        <c:v>7.03041026074564</c:v>
                      </c:pt>
                      <c:pt idx="5">
                        <c:v>5.8298000784227497</c:v>
                      </c:pt>
                      <c:pt idx="6">
                        <c:v>8.3258908984286535</c:v>
                      </c:pt>
                      <c:pt idx="7">
                        <c:v>0.44366348033824465</c:v>
                      </c:pt>
                      <c:pt idx="8">
                        <c:v>9.667240741511975</c:v>
                      </c:pt>
                      <c:pt idx="9">
                        <c:v>1.9876958543875389</c:v>
                      </c:pt>
                      <c:pt idx="10">
                        <c:v>0.25057386672273196</c:v>
                      </c:pt>
                      <c:pt idx="11">
                        <c:v>6.069530867650144</c:v>
                      </c:pt>
                      <c:pt idx="12">
                        <c:v>4.625894791915556</c:v>
                      </c:pt>
                      <c:pt idx="13">
                        <c:v>2.70582173663567</c:v>
                      </c:pt>
                      <c:pt idx="14">
                        <c:v>4.5566456573284455</c:v>
                      </c:pt>
                      <c:pt idx="15">
                        <c:v>8.3638710689572662</c:v>
                      </c:pt>
                      <c:pt idx="16">
                        <c:v>8.2767637934696836</c:v>
                      </c:pt>
                      <c:pt idx="17">
                        <c:v>6.2454373629087883</c:v>
                      </c:pt>
                      <c:pt idx="18">
                        <c:v>-7.652310202534764</c:v>
                      </c:pt>
                      <c:pt idx="19">
                        <c:v>8.5636307922088974</c:v>
                      </c:pt>
                      <c:pt idx="20">
                        <c:v>6.0483614546898821</c:v>
                      </c:pt>
                      <c:pt idx="21">
                        <c:v>4.456144470595774</c:v>
                      </c:pt>
                      <c:pt idx="22">
                        <c:v>11.343396971349677</c:v>
                      </c:pt>
                      <c:pt idx="23">
                        <c:v>4.1492622552040217</c:v>
                      </c:pt>
                      <c:pt idx="24">
                        <c:v>-1.6979354267597415</c:v>
                      </c:pt>
                      <c:pt idx="25">
                        <c:v>4.3037674480267469</c:v>
                      </c:pt>
                      <c:pt idx="26">
                        <c:v>2.9039977321092749</c:v>
                      </c:pt>
                      <c:pt idx="27">
                        <c:v>4.47883655345764</c:v>
                      </c:pt>
                      <c:pt idx="28">
                        <c:v>2.9661256478123335</c:v>
                      </c:pt>
                      <c:pt idx="29">
                        <c:v>0</c:v>
                      </c:pt>
                    </c:numCache>
                  </c:numRef>
                </c:val>
                <c:smooth val="0"/>
                <c:extLst xmlns:c15="http://schemas.microsoft.com/office/drawing/2012/chart">
                  <c:ext xmlns:c16="http://schemas.microsoft.com/office/drawing/2014/chart" uri="{C3380CC4-5D6E-409C-BE32-E72D297353CC}">
                    <c16:uniqueId val="{00000008-32C8-4B9C-9781-65A3F23583AD}"/>
                  </c:ext>
                </c:extLst>
              </c15:ser>
            </c15:filteredLineSeries>
            <c15:filteredLineSeries>
              <c15:ser>
                <c:idx val="9"/>
                <c:order val="9"/>
                <c:tx>
                  <c:strRef>
                    <c:extLst xmlns:c15="http://schemas.microsoft.com/office/drawing/2012/chart">
                      <c:ext xmlns:c15="http://schemas.microsoft.com/office/drawing/2012/chart" uri="{02D57815-91ED-43cb-92C2-25804820EDAC}">
                        <c15:formulaRef>
                          <c15:sqref>'GDP Data'!$A$11</c15:sqref>
                        </c15:formulaRef>
                      </c:ext>
                    </c:extLst>
                    <c:strCache>
                      <c:ptCount val="1"/>
                      <c:pt idx="0">
                        <c:v>Zimbabwe</c:v>
                      </c:pt>
                    </c:strCache>
                  </c:strRef>
                </c:tx>
                <c:spPr>
                  <a:ln w="28575" cap="rnd">
                    <a:solidFill>
                      <a:schemeClr val="accent4">
                        <a:lumMod val="60000"/>
                      </a:schemeClr>
                    </a:solidFill>
                    <a:round/>
                  </a:ln>
                  <a:effectLst/>
                </c:spPr>
                <c:marker>
                  <c:symbol val="none"/>
                </c:marker>
                <c:cat>
                  <c:numRef>
                    <c:extLst xmlns:c15="http://schemas.microsoft.com/office/drawing/2012/chart">
                      <c:ext xmlns:c15="http://schemas.microsoft.com/office/drawing/2012/chart" uri="{02D57815-91ED-43cb-92C2-25804820EDAC}">
                        <c15:formulaRef>
                          <c15:sqref>'GDP Data'!$B$1:$AH$1</c15:sqref>
                        </c15:formulaRef>
                      </c:ext>
                    </c:extLst>
                    <c:numCache>
                      <c:formatCode>General</c:formatCode>
                      <c:ptCount val="30"/>
                      <c:pt idx="0">
                        <c:v>1991</c:v>
                      </c:pt>
                      <c:pt idx="1">
                        <c:v>1992</c:v>
                      </c:pt>
                      <c:pt idx="2">
                        <c:v>1993</c:v>
                      </c:pt>
                      <c:pt idx="3">
                        <c:v>1994</c:v>
                      </c:pt>
                      <c:pt idx="4">
                        <c:v>1995</c:v>
                      </c:pt>
                      <c:pt idx="5">
                        <c:v>1996</c:v>
                      </c:pt>
                      <c:pt idx="6">
                        <c:v>1997</c:v>
                      </c:pt>
                      <c:pt idx="7">
                        <c:v>1998</c:v>
                      </c:pt>
                      <c:pt idx="8">
                        <c:v>1999</c:v>
                      </c:pt>
                      <c:pt idx="9">
                        <c:v>2000</c:v>
                      </c:pt>
                      <c:pt idx="10">
                        <c:v>2001</c:v>
                      </c:pt>
                      <c:pt idx="11">
                        <c:v>2002</c:v>
                      </c:pt>
                      <c:pt idx="12">
                        <c:v>2003</c:v>
                      </c:pt>
                      <c:pt idx="13">
                        <c:v>2004</c:v>
                      </c:pt>
                      <c:pt idx="14">
                        <c:v>2005</c:v>
                      </c:pt>
                      <c:pt idx="15">
                        <c:v>2006</c:v>
                      </c:pt>
                      <c:pt idx="16">
                        <c:v>2007</c:v>
                      </c:pt>
                      <c:pt idx="17">
                        <c:v>2008</c:v>
                      </c:pt>
                      <c:pt idx="18">
                        <c:v>2009</c:v>
                      </c:pt>
                      <c:pt idx="19">
                        <c:v>2010</c:v>
                      </c:pt>
                      <c:pt idx="20">
                        <c:v>2011</c:v>
                      </c:pt>
                      <c:pt idx="21">
                        <c:v>2012</c:v>
                      </c:pt>
                      <c:pt idx="22">
                        <c:v>2013</c:v>
                      </c:pt>
                      <c:pt idx="23">
                        <c:v>2014</c:v>
                      </c:pt>
                      <c:pt idx="24">
                        <c:v>2015</c:v>
                      </c:pt>
                      <c:pt idx="25">
                        <c:v>2016</c:v>
                      </c:pt>
                      <c:pt idx="26">
                        <c:v>2017</c:v>
                      </c:pt>
                      <c:pt idx="27">
                        <c:v>2018</c:v>
                      </c:pt>
                      <c:pt idx="28">
                        <c:v>2019</c:v>
                      </c:pt>
                      <c:pt idx="29">
                        <c:v>2020</c:v>
                      </c:pt>
                    </c:numCache>
                  </c:numRef>
                </c:cat>
                <c:val>
                  <c:numRef>
                    <c:extLst xmlns:c15="http://schemas.microsoft.com/office/drawing/2012/chart">
                      <c:ext xmlns:c15="http://schemas.microsoft.com/office/drawing/2012/chart" uri="{02D57815-91ED-43cb-92C2-25804820EDAC}">
                        <c15:formulaRef>
                          <c15:sqref>'GDP Data'!$B$11:$AH$11</c15:sqref>
                        </c15:formulaRef>
                      </c:ext>
                    </c:extLst>
                    <c:numCache>
                      <c:formatCode>General</c:formatCode>
                      <c:ptCount val="30"/>
                      <c:pt idx="0">
                        <c:v>5.5317823960983219</c:v>
                      </c:pt>
                      <c:pt idx="1">
                        <c:v>-9.0155700862609223</c:v>
                      </c:pt>
                      <c:pt idx="2">
                        <c:v>1.0514586257693423</c:v>
                      </c:pt>
                      <c:pt idx="3">
                        <c:v>9.2351988610601694</c:v>
                      </c:pt>
                      <c:pt idx="4">
                        <c:v>0.15802565144909408</c:v>
                      </c:pt>
                      <c:pt idx="5">
                        <c:v>10.360696769806481</c:v>
                      </c:pt>
                      <c:pt idx="6">
                        <c:v>2.6805941737397774</c:v>
                      </c:pt>
                      <c:pt idx="7">
                        <c:v>2.88521180627896</c:v>
                      </c:pt>
                      <c:pt idx="8">
                        <c:v>-0.81782101628289183</c:v>
                      </c:pt>
                      <c:pt idx="9">
                        <c:v>-3.0591897618037933</c:v>
                      </c:pt>
                      <c:pt idx="10">
                        <c:v>1.4396153844897555</c:v>
                      </c:pt>
                      <c:pt idx="11">
                        <c:v>-8.894023633042849</c:v>
                      </c:pt>
                      <c:pt idx="12">
                        <c:v>-16.995074694026187</c:v>
                      </c:pt>
                      <c:pt idx="13">
                        <c:v>-5.8075380553470808</c:v>
                      </c:pt>
                      <c:pt idx="14">
                        <c:v>-5.7110836797259878</c:v>
                      </c:pt>
                      <c:pt idx="15">
                        <c:v>-3.4614951923160646</c:v>
                      </c:pt>
                      <c:pt idx="16">
                        <c:v>-3.6533268588292032</c:v>
                      </c:pt>
                      <c:pt idx="17">
                        <c:v>-17.668946285205351</c:v>
                      </c:pt>
                      <c:pt idx="18">
                        <c:v>12.019559926898538</c:v>
                      </c:pt>
                      <c:pt idx="19">
                        <c:v>19.675323142464492</c:v>
                      </c:pt>
                      <c:pt idx="20">
                        <c:v>14.19391295721617</c:v>
                      </c:pt>
                      <c:pt idx="21">
                        <c:v>16.665428768467862</c:v>
                      </c:pt>
                      <c:pt idx="22">
                        <c:v>1.989492762072075</c:v>
                      </c:pt>
                      <c:pt idx="23">
                        <c:v>2.3769293269800329</c:v>
                      </c:pt>
                      <c:pt idx="24">
                        <c:v>1.7798727034029866</c:v>
                      </c:pt>
                      <c:pt idx="25">
                        <c:v>0.75586925093060131</c:v>
                      </c:pt>
                      <c:pt idx="26">
                        <c:v>4.7040353905471335</c:v>
                      </c:pt>
                      <c:pt idx="27">
                        <c:v>4.8296735910921171</c:v>
                      </c:pt>
                      <c:pt idx="28">
                        <c:v>-8.1000001988609256</c:v>
                      </c:pt>
                      <c:pt idx="29">
                        <c:v>0</c:v>
                      </c:pt>
                    </c:numCache>
                  </c:numRef>
                </c:val>
                <c:smooth val="0"/>
                <c:extLst xmlns:c15="http://schemas.microsoft.com/office/drawing/2012/chart">
                  <c:ext xmlns:c16="http://schemas.microsoft.com/office/drawing/2014/chart" uri="{C3380CC4-5D6E-409C-BE32-E72D297353CC}">
                    <c16:uniqueId val="{00000009-32C8-4B9C-9781-65A3F23583AD}"/>
                  </c:ext>
                </c:extLst>
              </c15:ser>
            </c15:filteredLineSeries>
          </c:ext>
        </c:extLst>
      </c:lineChart>
      <c:catAx>
        <c:axId val="430087344"/>
        <c:scaling>
          <c:orientation val="minMax"/>
        </c:scaling>
        <c:delete val="0"/>
        <c:axPos val="b"/>
        <c:numFmt formatCode="General" sourceLinked="1"/>
        <c:majorTickMark val="none"/>
        <c:minorTickMark val="none"/>
        <c:tickLblPos val="nextTo"/>
        <c:spPr>
          <a:noFill/>
          <a:ln w="9525" cap="flat" cmpd="sng" algn="ctr">
            <a:solidFill>
              <a:schemeClr val="bg1">
                <a:lumMod val="50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418464864"/>
        <c:crosses val="autoZero"/>
        <c:auto val="1"/>
        <c:lblAlgn val="ctr"/>
        <c:lblOffset val="100"/>
        <c:noMultiLvlLbl val="0"/>
      </c:catAx>
      <c:valAx>
        <c:axId val="418464864"/>
        <c:scaling>
          <c:orientation val="minMax"/>
          <c:min val="-5"/>
        </c:scaling>
        <c:delete val="0"/>
        <c:axPos val="l"/>
        <c:title>
          <c:tx>
            <c:rich>
              <a:bodyPr rot="-54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r>
                  <a:rPr lang="en-US" dirty="0"/>
                  <a:t>%</a:t>
                </a:r>
              </a:p>
            </c:rich>
          </c:tx>
          <c:layout>
            <c:manualLayout>
              <c:xMode val="edge"/>
              <c:yMode val="edge"/>
              <c:x val="7.9715775659621492E-3"/>
              <c:y val="0.3174504228638087"/>
            </c:manualLayout>
          </c:layout>
          <c:overlay val="0"/>
          <c:spPr>
            <a:noFill/>
            <a:ln>
              <a:noFill/>
            </a:ln>
            <a:effectLst/>
          </c:spPr>
          <c:txPr>
            <a:bodyPr rot="-54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title>
        <c:numFmt formatCode="0" sourceLinked="0"/>
        <c:majorTickMark val="none"/>
        <c:minorTickMark val="none"/>
        <c:tickLblPos val="nextTo"/>
        <c:spPr>
          <a:noFill/>
          <a:ln>
            <a:solidFill>
              <a:schemeClr val="bg1">
                <a:lumMod val="50000"/>
              </a:schemeClr>
            </a:solidFill>
          </a:ln>
          <a:effectLst/>
        </c:spPr>
        <c:txPr>
          <a:bodyPr rot="-6000000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crossAx val="430087344"/>
        <c:crosses val="autoZero"/>
        <c:crossBetween val="between"/>
      </c:valAx>
      <c:spPr>
        <a:noFill/>
        <a:ln>
          <a:noFill/>
        </a:ln>
        <a:effectLst/>
      </c:spPr>
    </c:plotArea>
    <c:legend>
      <c:legendPos val="b"/>
      <c:layout>
        <c:manualLayout>
          <c:xMode val="edge"/>
          <c:yMode val="edge"/>
          <c:x val="2.6107256584187628E-2"/>
          <c:y val="0.85991303325890256"/>
          <c:w val="0.93030644492575854"/>
          <c:h val="0.13423387923743949"/>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Arial" panose="020B0604020202020204" pitchFamily="34" charset="0"/>
              <a:ea typeface="+mn-ea"/>
              <a:cs typeface="Arial" panose="020B0604020202020204" pitchFamily="34" charset="0"/>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900">
          <a:solidFill>
            <a:schemeClr val="tx1"/>
          </a:solidFill>
          <a:latin typeface="Arial" panose="020B0604020202020204" pitchFamily="34" charset="0"/>
          <a:cs typeface="Arial" panose="020B0604020202020204" pitchFamily="34" charset="0"/>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200" b="1" i="0" u="none" strike="noStrike" kern="1200" baseline="0">
                <a:solidFill>
                  <a:schemeClr val="tx2"/>
                </a:solidFill>
                <a:latin typeface="+mn-lt"/>
                <a:ea typeface="+mn-ea"/>
                <a:cs typeface="+mn-cs"/>
              </a:defRPr>
            </a:pPr>
            <a:r>
              <a:rPr lang="pt-BR" sz="1200" dirty="0"/>
              <a:t>Croissance annuelle du PIB – Projection</a:t>
            </a:r>
            <a:endParaRPr lang="en-US" sz="1200" dirty="0"/>
          </a:p>
        </c:rich>
      </c:tx>
      <c:overlay val="0"/>
      <c:spPr>
        <a:noFill/>
        <a:ln>
          <a:noFill/>
        </a:ln>
        <a:effectLst/>
      </c:spPr>
      <c:txPr>
        <a:bodyPr rot="0" spcFirstLastPara="1" vertOverflow="ellipsis" vert="horz" wrap="square" anchor="ctr" anchorCtr="1"/>
        <a:lstStyle/>
        <a:p>
          <a:pPr>
            <a:defRPr sz="1200" b="1" i="0" u="none" strike="noStrike" kern="1200" baseline="0">
              <a:solidFill>
                <a:schemeClr val="tx2"/>
              </a:solidFill>
              <a:latin typeface="+mn-lt"/>
              <a:ea typeface="+mn-ea"/>
              <a:cs typeface="+mn-cs"/>
            </a:defRPr>
          </a:pPr>
          <a:endParaRPr lang="en-US"/>
        </a:p>
      </c:txPr>
    </c:title>
    <c:autoTitleDeleted val="0"/>
    <c:plotArea>
      <c:layout/>
      <c:lineChart>
        <c:grouping val="standard"/>
        <c:varyColors val="0"/>
        <c:ser>
          <c:idx val="0"/>
          <c:order val="0"/>
          <c:tx>
            <c:strRef>
              <c:f>'https://worldbankgroup.sharepoint.com/sites/MZMPMFiles/Shared Documents/Operations/MTI/Economic monitoring/Mozambique Economic Framework/2022/[20220319 Mozambique Macro Framework_Baseline_Grants Adjusted_Simulationfor Mathew-PCDJFVRY33.xlsx]Select Econ and Financial CPF'!$A$7</c:f>
              <c:strCache>
                <c:ptCount val="1"/>
                <c:pt idx="0">
                  <c:v>GDP at constant prices</c:v>
                </c:pt>
              </c:strCache>
            </c:strRef>
          </c:tx>
          <c:spPr>
            <a:ln w="31750" cap="rnd">
              <a:solidFill>
                <a:schemeClr val="accent1"/>
              </a:solidFill>
              <a:round/>
            </a:ln>
            <a:effectLst/>
          </c:spPr>
          <c:marker>
            <c:symbol val="none"/>
          </c:marker>
          <c:cat>
            <c:strRef>
              <c:f>'[1]Select Econ and Financial CPF'!$B$2:$M$2</c:f>
              <c:strCache>
                <c:ptCount val="12"/>
                <c:pt idx="0">
                  <c:v>2016</c:v>
                </c:pt>
                <c:pt idx="1">
                  <c:v>2017</c:v>
                </c:pt>
                <c:pt idx="2">
                  <c:v>2018</c:v>
                </c:pt>
                <c:pt idx="3">
                  <c:v>2019</c:v>
                </c:pt>
                <c:pt idx="4">
                  <c:v>2020</c:v>
                </c:pt>
                <c:pt idx="5">
                  <c:v>2021</c:v>
                </c:pt>
                <c:pt idx="6">
                  <c:v>2022 </c:v>
                </c:pt>
                <c:pt idx="7">
                  <c:v>2023</c:v>
                </c:pt>
                <c:pt idx="8">
                  <c:v>2024</c:v>
                </c:pt>
                <c:pt idx="9">
                  <c:v>2025</c:v>
                </c:pt>
                <c:pt idx="10">
                  <c:v>2026</c:v>
                </c:pt>
                <c:pt idx="11">
                  <c:v>2027</c:v>
                </c:pt>
              </c:strCache>
            </c:strRef>
          </c:cat>
          <c:val>
            <c:numRef>
              <c:f>'[1]Select Econ and Financial CPF'!$B$7:$M$7</c:f>
              <c:numCache>
                <c:formatCode>General</c:formatCode>
                <c:ptCount val="12"/>
                <c:pt idx="0">
                  <c:v>3.8242063698648243</c:v>
                </c:pt>
                <c:pt idx="1">
                  <c:v>3.7413190418151165</c:v>
                </c:pt>
                <c:pt idx="2">
                  <c:v>3.4438156642854656</c:v>
                </c:pt>
                <c:pt idx="3">
                  <c:v>2.2927369306402268</c:v>
                </c:pt>
                <c:pt idx="4">
                  <c:v>-1.2127911653609935</c:v>
                </c:pt>
                <c:pt idx="5">
                  <c:v>2.2273631917444803</c:v>
                </c:pt>
                <c:pt idx="6">
                  <c:v>3.646451938635864</c:v>
                </c:pt>
                <c:pt idx="7">
                  <c:v>5.3539020373436941</c:v>
                </c:pt>
                <c:pt idx="8">
                  <c:v>7.3939917866207905</c:v>
                </c:pt>
                <c:pt idx="9">
                  <c:v>5.3650699212903552</c:v>
                </c:pt>
                <c:pt idx="10">
                  <c:v>13</c:v>
                </c:pt>
                <c:pt idx="11">
                  <c:v>10</c:v>
                </c:pt>
              </c:numCache>
            </c:numRef>
          </c:val>
          <c:smooth val="0"/>
          <c:extLst>
            <c:ext xmlns:c16="http://schemas.microsoft.com/office/drawing/2014/chart" uri="{C3380CC4-5D6E-409C-BE32-E72D297353CC}">
              <c16:uniqueId val="{00000000-C692-41DF-B099-32B405B7F08C}"/>
            </c:ext>
          </c:extLst>
        </c:ser>
        <c:ser>
          <c:idx val="1"/>
          <c:order val="1"/>
          <c:tx>
            <c:strRef>
              <c:f>'https://worldbankgroup.sharepoint.com/sites/MZMPMFiles/Shared Documents/Operations/MTI/Economic monitoring/Mozambique Economic Framework/2022/[20220319 Mozambique Macro Framework_Baseline_Grants Adjusted_Simulationfor Mathew-PCDJFVRY33.xlsx]Select Econ and Financial CPF'!$A$8</c:f>
              <c:strCache>
                <c:ptCount val="1"/>
                <c:pt idx="0">
                  <c:v>GDP at constant prices, ex. extractive sector</c:v>
                </c:pt>
              </c:strCache>
            </c:strRef>
          </c:tx>
          <c:spPr>
            <a:ln w="31750" cap="rnd">
              <a:solidFill>
                <a:schemeClr val="accent2"/>
              </a:solidFill>
              <a:round/>
            </a:ln>
            <a:effectLst/>
          </c:spPr>
          <c:marker>
            <c:symbol val="none"/>
          </c:marker>
          <c:cat>
            <c:strRef>
              <c:f>'[1]Select Econ and Financial CPF'!$B$2:$M$2</c:f>
              <c:strCache>
                <c:ptCount val="12"/>
                <c:pt idx="0">
                  <c:v>2016</c:v>
                </c:pt>
                <c:pt idx="1">
                  <c:v>2017</c:v>
                </c:pt>
                <c:pt idx="2">
                  <c:v>2018</c:v>
                </c:pt>
                <c:pt idx="3">
                  <c:v>2019</c:v>
                </c:pt>
                <c:pt idx="4">
                  <c:v>2020</c:v>
                </c:pt>
                <c:pt idx="5">
                  <c:v>2021</c:v>
                </c:pt>
                <c:pt idx="6">
                  <c:v>2022 </c:v>
                </c:pt>
                <c:pt idx="7">
                  <c:v>2023</c:v>
                </c:pt>
                <c:pt idx="8">
                  <c:v>2024</c:v>
                </c:pt>
                <c:pt idx="9">
                  <c:v>2025</c:v>
                </c:pt>
                <c:pt idx="10">
                  <c:v>2026</c:v>
                </c:pt>
                <c:pt idx="11">
                  <c:v>2027</c:v>
                </c:pt>
              </c:strCache>
            </c:strRef>
          </c:cat>
          <c:val>
            <c:numRef>
              <c:f>'[1]Select Econ and Financial CPF'!$B$8:$M$8</c:f>
              <c:numCache>
                <c:formatCode>General</c:formatCode>
                <c:ptCount val="12"/>
                <c:pt idx="0">
                  <c:v>3.0764137800959017</c:v>
                </c:pt>
                <c:pt idx="1">
                  <c:v>1.5367224174446528</c:v>
                </c:pt>
                <c:pt idx="2">
                  <c:v>2.6433189826118717</c:v>
                </c:pt>
                <c:pt idx="3">
                  <c:v>2.5357585148552655</c:v>
                </c:pt>
                <c:pt idx="4">
                  <c:v>-0.22592321687047412</c:v>
                </c:pt>
                <c:pt idx="5">
                  <c:v>2.2897791388444686</c:v>
                </c:pt>
                <c:pt idx="6">
                  <c:v>2.846451938635858</c:v>
                </c:pt>
                <c:pt idx="7">
                  <c:v>4.2789020373437019</c:v>
                </c:pt>
                <c:pt idx="8">
                  <c:v>3.5064917866207876</c:v>
                </c:pt>
                <c:pt idx="9">
                  <c:v>0.12989013857533069</c:v>
                </c:pt>
                <c:pt idx="10">
                  <c:v>2.6384279875132735</c:v>
                </c:pt>
                <c:pt idx="11">
                  <c:v>2.0916033042364641</c:v>
                </c:pt>
              </c:numCache>
            </c:numRef>
          </c:val>
          <c:smooth val="0"/>
          <c:extLst>
            <c:ext xmlns:c16="http://schemas.microsoft.com/office/drawing/2014/chart" uri="{C3380CC4-5D6E-409C-BE32-E72D297353CC}">
              <c16:uniqueId val="{00000001-C692-41DF-B099-32B405B7F08C}"/>
            </c:ext>
          </c:extLst>
        </c:ser>
        <c:dLbls>
          <c:showLegendKey val="0"/>
          <c:showVal val="0"/>
          <c:showCatName val="0"/>
          <c:showSerName val="0"/>
          <c:showPercent val="0"/>
          <c:showBubbleSize val="0"/>
        </c:dLbls>
        <c:smooth val="0"/>
        <c:axId val="588589392"/>
        <c:axId val="588586896"/>
      </c:lineChart>
      <c:catAx>
        <c:axId val="588589392"/>
        <c:scaling>
          <c:orientation val="minMax"/>
        </c:scaling>
        <c:delete val="0"/>
        <c:axPos val="b"/>
        <c:numFmt formatCode="General" sourceLinked="1"/>
        <c:majorTickMark val="out"/>
        <c:minorTickMark val="none"/>
        <c:tickLblPos val="nextTo"/>
        <c:spPr>
          <a:noFill/>
          <a:ln w="9525" cap="flat" cmpd="sng" algn="ctr">
            <a:solidFill>
              <a:schemeClr val="tx2">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2"/>
                </a:solidFill>
                <a:latin typeface="+mn-lt"/>
                <a:ea typeface="+mn-ea"/>
                <a:cs typeface="+mn-cs"/>
              </a:defRPr>
            </a:pPr>
            <a:endParaRPr lang="en-US"/>
          </a:p>
        </c:txPr>
        <c:crossAx val="588586896"/>
        <c:crosses val="autoZero"/>
        <c:auto val="1"/>
        <c:lblAlgn val="ctr"/>
        <c:lblOffset val="100"/>
        <c:noMultiLvlLbl val="0"/>
      </c:catAx>
      <c:valAx>
        <c:axId val="588586896"/>
        <c:scaling>
          <c:orientation val="minMax"/>
        </c:scaling>
        <c:delete val="0"/>
        <c:axPos val="l"/>
        <c:majorGridlines>
          <c:spPr>
            <a:ln w="9525" cap="flat" cmpd="sng" algn="ctr">
              <a:solidFill>
                <a:schemeClr val="tx2">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2"/>
                </a:solidFill>
                <a:latin typeface="+mn-lt"/>
                <a:ea typeface="+mn-ea"/>
                <a:cs typeface="+mn-cs"/>
              </a:defRPr>
            </a:pPr>
            <a:endParaRPr lang="en-US"/>
          </a:p>
        </c:txPr>
        <c:crossAx val="58858939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2"/>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4">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lang="pt-BR" sz="1000" b="0" i="0" u="none" strike="noStrike" kern="1200" cap="all" baseline="0" smtClean="0">
                <a:solidFill>
                  <a:schemeClr val="tx1"/>
                </a:solidFill>
                <a:latin typeface="+mj-lt"/>
                <a:ea typeface="+mn-ea"/>
                <a:cs typeface="+mn-cs"/>
              </a:defRPr>
            </a:pPr>
            <a:r>
              <a:rPr lang="en-US" sz="1000" b="1" dirty="0">
                <a:solidFill>
                  <a:schemeClr val="tx1"/>
                </a:solidFill>
                <a:latin typeface="+mj-lt"/>
              </a:rPr>
              <a:t>Objectifs</a:t>
            </a:r>
            <a:r>
              <a:rPr lang="en-US" sz="1000" b="1" baseline="0" dirty="0">
                <a:solidFill>
                  <a:schemeClr val="tx1"/>
                </a:solidFill>
                <a:latin typeface="+mj-lt"/>
              </a:rPr>
              <a:t> </a:t>
            </a:r>
            <a:r>
              <a:rPr lang="en-US" sz="1000" b="1" dirty="0">
                <a:solidFill>
                  <a:schemeClr val="tx1"/>
                </a:solidFill>
                <a:latin typeface="+mj-lt"/>
              </a:rPr>
              <a:t>de financement</a:t>
            </a:r>
            <a:r>
              <a:rPr lang="en-US" sz="1000" b="1" baseline="0" dirty="0">
                <a:solidFill>
                  <a:schemeClr val="tx1"/>
                </a:solidFill>
                <a:latin typeface="+mj-lt"/>
              </a:rPr>
              <a:t>  </a:t>
            </a:r>
            <a:r>
              <a:rPr lang="en-US" sz="1000" b="1" dirty="0">
                <a:solidFill>
                  <a:schemeClr val="tx1"/>
                </a:solidFill>
                <a:latin typeface="+mj-lt"/>
              </a:rPr>
              <a:t>sur la période du CPF EB17-21 (% du total des engagements)</a:t>
            </a:r>
            <a:r>
              <a:rPr lang="pt-BR" sz="1000" b="0" dirty="0">
                <a:solidFill>
                  <a:schemeClr val="tx1"/>
                </a:solidFill>
                <a:latin typeface="+mj-lt"/>
              </a:rPr>
              <a:t>
</a:t>
            </a:r>
          </a:p>
        </c:rich>
      </c:tx>
      <c:layout>
        <c:manualLayout>
          <c:xMode val="edge"/>
          <c:yMode val="edge"/>
          <c:x val="0.19834392431471143"/>
          <c:y val="0"/>
        </c:manualLayout>
      </c:layout>
      <c:overlay val="0"/>
      <c:spPr>
        <a:noFill/>
        <a:ln>
          <a:noFill/>
        </a:ln>
        <a:effectLst/>
      </c:spPr>
      <c:txPr>
        <a:bodyPr rot="0" spcFirstLastPara="1" vertOverflow="ellipsis" vert="horz" wrap="square" anchor="ctr" anchorCtr="1"/>
        <a:lstStyle/>
        <a:p>
          <a:pPr>
            <a:defRPr lang="pt-BR" sz="1000" b="0" i="0" u="none" strike="noStrike" kern="1200" cap="all" baseline="0" smtClean="0">
              <a:solidFill>
                <a:schemeClr val="tx1"/>
              </a:solidFill>
              <a:latin typeface="+mj-lt"/>
              <a:ea typeface="+mn-ea"/>
              <a:cs typeface="+mn-cs"/>
            </a:defRPr>
          </a:pPr>
          <a:endParaRPr lang="en-US"/>
        </a:p>
      </c:txPr>
    </c:title>
    <c:autoTitleDeleted val="0"/>
    <c:plotArea>
      <c:layout/>
      <c:pieChart>
        <c:varyColors val="1"/>
        <c:ser>
          <c:idx val="0"/>
          <c:order val="0"/>
          <c:tx>
            <c:strRef>
              <c:f>'Portfolio by CPF objective'!$E$67</c:f>
              <c:strCache>
                <c:ptCount val="1"/>
                <c:pt idx="0">
                  <c:v>Percentage of total portfolio (%)</c:v>
                </c:pt>
              </c:strCache>
            </c:strRef>
          </c:tx>
          <c:dPt>
            <c:idx val="0"/>
            <c:bubble3D val="0"/>
            <c:spPr>
              <a:solidFill>
                <a:schemeClr val="accent1"/>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1-F231-4CE8-A179-C3BE7835BECE}"/>
              </c:ext>
            </c:extLst>
          </c:dPt>
          <c:dPt>
            <c:idx val="1"/>
            <c:bubble3D val="0"/>
            <c:spPr>
              <a:solidFill>
                <a:schemeClr val="accent2"/>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3-F231-4CE8-A179-C3BE7835BECE}"/>
              </c:ext>
            </c:extLst>
          </c:dPt>
          <c:dPt>
            <c:idx val="2"/>
            <c:bubble3D val="0"/>
            <c:spPr>
              <a:solidFill>
                <a:schemeClr val="accent3"/>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5-F231-4CE8-A179-C3BE7835BECE}"/>
              </c:ext>
            </c:extLst>
          </c:dPt>
          <c:dPt>
            <c:idx val="3"/>
            <c:bubble3D val="0"/>
            <c:spPr>
              <a:solidFill>
                <a:schemeClr val="accent4"/>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7-F231-4CE8-A179-C3BE7835BECE}"/>
              </c:ext>
            </c:extLst>
          </c:dPt>
          <c:dPt>
            <c:idx val="4"/>
            <c:bubble3D val="0"/>
            <c:spPr>
              <a:solidFill>
                <a:schemeClr val="accent5"/>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9-F231-4CE8-A179-C3BE7835BECE}"/>
              </c:ext>
            </c:extLst>
          </c:dPt>
          <c:dPt>
            <c:idx val="5"/>
            <c:bubble3D val="0"/>
            <c:spPr>
              <a:solidFill>
                <a:schemeClr val="accent6"/>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B-F231-4CE8-A179-C3BE7835BECE}"/>
              </c:ext>
            </c:extLst>
          </c:dPt>
          <c:dPt>
            <c:idx val="6"/>
            <c:bubble3D val="0"/>
            <c:spPr>
              <a:solidFill>
                <a:schemeClr val="accent1">
                  <a:lumMod val="60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D-F231-4CE8-A179-C3BE7835BECE}"/>
              </c:ext>
            </c:extLst>
          </c:dPt>
          <c:dPt>
            <c:idx val="7"/>
            <c:bubble3D val="0"/>
            <c:spPr>
              <a:solidFill>
                <a:schemeClr val="accent2">
                  <a:lumMod val="60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F-F231-4CE8-A179-C3BE7835BECE}"/>
              </c:ext>
            </c:extLst>
          </c:dPt>
          <c:dPt>
            <c:idx val="8"/>
            <c:bubble3D val="0"/>
            <c:spPr>
              <a:solidFill>
                <a:schemeClr val="accent3">
                  <a:lumMod val="60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11-F231-4CE8-A179-C3BE7835BECE}"/>
              </c:ext>
            </c:extLst>
          </c:dPt>
          <c:dLbls>
            <c:dLbl>
              <c:idx val="0"/>
              <c:layout>
                <c:manualLayout>
                  <c:x val="9.6456841018841805E-2"/>
                  <c:y val="6.9453703458823249E-2"/>
                </c:manualLayout>
              </c:layout>
              <c:tx>
                <c:rich>
                  <a:bodyPr rot="0" spcFirstLastPara="1" vertOverflow="ellipsis" vert="horz" wrap="square" lIns="38100" tIns="19050" rIns="38100" bIns="19050" anchor="ctr" anchorCtr="1">
                    <a:spAutoFit/>
                  </a:bodyPr>
                  <a:lstStyle/>
                  <a:p>
                    <a:pPr>
                      <a:defRPr lang="pt-BR" sz="1000" b="1" i="0" u="none" strike="noStrike" kern="1200" spc="0" baseline="0" smtClean="0">
                        <a:solidFill>
                          <a:schemeClr val="accent1"/>
                        </a:solidFill>
                        <a:latin typeface="+mn-lt"/>
                        <a:ea typeface="+mn-ea"/>
                        <a:cs typeface="+mn-cs"/>
                      </a:defRPr>
                    </a:pPr>
                    <a:r>
                      <a:rPr lang="en-US"/>
                      <a:t>1 : Amélioration de la gestion économique, 6,6 %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pt-BR"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F231-4CE8-A179-C3BE7835BECE}"/>
                </c:ext>
              </c:extLst>
            </c:dLbl>
            <c:dLbl>
              <c:idx val="1"/>
              <c:layout>
                <c:manualLayout>
                  <c:x val="0"/>
                  <c:y val="-2.5714285714285766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2 : Augmentation de la croissance agricole, 30,2 %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F231-4CE8-A179-C3BE7835BECE}"/>
                </c:ext>
              </c:extLst>
            </c:dLbl>
            <c:dLbl>
              <c:idx val="2"/>
              <c:layout>
                <c:manualLayout>
                  <c:x val="8.6556169429097468E-2"/>
                  <c:y val="-0.11714285714285724"/>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3 : Amélioration de l'environnement des affaires pour la création d'emplois, 3,5 %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F231-4CE8-A179-C3BE7835BECE}"/>
                </c:ext>
              </c:extLst>
            </c:dLbl>
            <c:dLbl>
              <c:idx val="3"/>
              <c:layout>
                <c:manualLayout>
                  <c:x val="-1.7631260185855847E-2"/>
                  <c:y val="0"/>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4 : Étendre l'accès et améliorer la fiabilité de l'électricité, 8,0 %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F231-4CE8-A179-C3BE7835BECE}"/>
                </c:ext>
              </c:extLst>
            </c:dLbl>
            <c:dLbl>
              <c:idx val="4"/>
              <c:layout>
                <c:manualLayout>
                  <c:x val="1.8416206261510096E-2"/>
                  <c:y val="2.8571428571428571E-3"/>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5 : Améliorer la base de compétences, 13,8 %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F231-4CE8-A179-C3BE7835BECE}"/>
                </c:ext>
              </c:extLst>
            </c:dLbl>
            <c:dLbl>
              <c:idx val="5"/>
              <c:layout>
                <c:manualLayout>
                  <c:x val="-4.9723756906077346E-2"/>
                  <c:y val="1.4285714285714181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6 : Améliorer la prestation du service de santé, 2,8 %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F231-4CE8-A179-C3BE7835BECE}"/>
                </c:ext>
              </c:extLst>
            </c:dLbl>
            <c:dLbl>
              <c:idx val="6"/>
              <c:layout>
                <c:manualLayout>
                  <c:x val="-2.0257826887661159E-2"/>
                  <c:y val="-3.4285714285714392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7 : Améliorer l'accès à l'eau et à l'assainissement, 6,6 %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F231-4CE8-A179-C3BE7835BECE}"/>
                </c:ext>
              </c:extLst>
            </c:dLbl>
            <c:dLbl>
              <c:idx val="7"/>
              <c:layout>
                <c:manualLayout>
                  <c:x val="-5.5248618784530384E-3"/>
                  <c:y val="2.5714285714285766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a:t>8 : Soutien au relèvement et à la résilience, 21,1 %</a:t>
                    </a:r>
                    <a:endParaRPr lang="en-US" baseline="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F231-4CE8-A179-C3BE7835BECE}"/>
                </c:ext>
              </c:extLst>
            </c:dLbl>
            <c:dLbl>
              <c:idx val="8"/>
              <c:layout>
                <c:manualLayout>
                  <c:x val="-0.15086687138108701"/>
                  <c:y val="6.0153447834029011E-2"/>
                </c:manualLayout>
              </c:layout>
              <c:tx>
                <c:rich>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r>
                      <a:rPr lang="en-US" dirty="0"/>
                      <a:t>9 : Promouvoir une urbanisation et une décentralisation inclusives, 7,5 %</a:t>
                    </a:r>
                    <a:endParaRPr lang="en-US" baseline="0" dirty="0"/>
                  </a:p>
                </c:rich>
              </c:tx>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smtClean="0">
                      <a:solidFill>
                        <a:schemeClr val="accent1"/>
                      </a:solidFill>
                      <a:latin typeface="+mn-lt"/>
                      <a:ea typeface="+mn-ea"/>
                      <a:cs typeface="+mn-cs"/>
                    </a:defRPr>
                  </a:pPr>
                  <a:endParaRPr lang="en-US"/>
                </a:p>
              </c:txPr>
              <c:dLblPos val="bestFit"/>
              <c:showLegendKey val="0"/>
              <c:showVal val="1"/>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F231-4CE8-A179-C3BE7835BECE}"/>
                </c:ext>
              </c:extLst>
            </c:dLbl>
            <c:spPr>
              <a:noFill/>
              <a:ln>
                <a:noFill/>
              </a:ln>
              <a:effectLst/>
            </c:spPr>
            <c:dLblPos val="outEnd"/>
            <c:showLegendKey val="0"/>
            <c:showVal val="1"/>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'Portfolio by CPF objective'!$B$68:$B$76</c:f>
              <c:strCache>
                <c:ptCount val="9"/>
                <c:pt idx="0">
                  <c:v>1: Improved Economic Management</c:v>
                </c:pt>
                <c:pt idx="1">
                  <c:v>2: Increasing Agricultural Growth</c:v>
                </c:pt>
                <c:pt idx="2">
                  <c:v>3: Improving the Business Environment for Job Creation</c:v>
                </c:pt>
                <c:pt idx="3">
                  <c:v>4: Expand Access and Improved Reliability of Electricity</c:v>
                </c:pt>
                <c:pt idx="4">
                  <c:v>5: Enhancing the Skills Base</c:v>
                </c:pt>
                <c:pt idx="5">
                  <c:v>6: Improving Health Service Delivery</c:v>
                </c:pt>
                <c:pt idx="6">
                  <c:v>7: Improving Access to Water and Sanitation</c:v>
                </c:pt>
                <c:pt idx="7">
                  <c:v>8: Supporting Recovery and Resilience</c:v>
                </c:pt>
                <c:pt idx="8">
                  <c:v>9: Promoting Inclusive Urbanization and Decentralization </c:v>
                </c:pt>
              </c:strCache>
            </c:strRef>
          </c:cat>
          <c:val>
            <c:numRef>
              <c:f>'Portfolio by CPF objective'!$E$68:$E$76</c:f>
              <c:numCache>
                <c:formatCode>0.0%</c:formatCode>
                <c:ptCount val="9"/>
                <c:pt idx="0">
                  <c:v>6.5664420252289621E-2</c:v>
                </c:pt>
                <c:pt idx="1">
                  <c:v>0.30240193537238641</c:v>
                </c:pt>
                <c:pt idx="2">
                  <c:v>3.4560221185415588E-2</c:v>
                </c:pt>
                <c:pt idx="3">
                  <c:v>8.0179713150164159E-2</c:v>
                </c:pt>
                <c:pt idx="4">
                  <c:v>0.13754968031795403</c:v>
                </c:pt>
                <c:pt idx="5">
                  <c:v>2.7648176948332468E-2</c:v>
                </c:pt>
                <c:pt idx="6">
                  <c:v>6.5664420252289621E-2</c:v>
                </c:pt>
                <c:pt idx="7">
                  <c:v>0.21133575254881631</c:v>
                </c:pt>
                <c:pt idx="8">
                  <c:v>7.499567997235182E-2</c:v>
                </c:pt>
              </c:numCache>
            </c:numRef>
          </c:val>
          <c:extLst>
            <c:ext xmlns:c16="http://schemas.microsoft.com/office/drawing/2014/chart" uri="{C3380CC4-5D6E-409C-BE32-E72D297353CC}">
              <c16:uniqueId val="{00000012-F231-4CE8-A179-C3BE7835BECE}"/>
            </c:ext>
          </c:extLst>
        </c:ser>
        <c:dLbls>
          <c:dLblPos val="outEnd"/>
          <c:showLegendKey val="0"/>
          <c:showVal val="0"/>
          <c:showCatName val="1"/>
          <c:showSerName val="0"/>
          <c:showPercent val="0"/>
          <c:showBubbleSize val="0"/>
          <c:showLeaderLines val="1"/>
        </c:dLbls>
        <c:firstSliceAng val="0"/>
      </c:pie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4">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400" b="0" i="0" u="none" strike="noStrike" kern="1200" spc="0" baseline="0" smtClean="0">
                <a:solidFill>
                  <a:schemeClr val="tx1">
                    <a:lumMod val="65000"/>
                    <a:lumOff val="35000"/>
                  </a:schemeClr>
                </a:solidFill>
                <a:latin typeface="+mn-lt"/>
                <a:ea typeface="+mn-ea"/>
                <a:cs typeface="+mn-cs"/>
              </a:defRPr>
            </a:pPr>
            <a:r>
              <a:rPr lang="en-US" dirty="0">
                <a:solidFill>
                  <a:schemeClr val="tx1"/>
                </a:solidFill>
              </a:rPr>
              <a:t>% du total des fonds non décaissés</a:t>
            </a:r>
            <a:r>
              <a:rPr lang="en-US" dirty="0"/>
              <a:t>*
</a:t>
            </a:r>
          </a:p>
        </c:rich>
      </c:tx>
      <c:overlay val="0"/>
      <c:spPr>
        <a:noFill/>
        <a:ln>
          <a:noFill/>
        </a:ln>
        <a:effectLst/>
      </c:spPr>
      <c:txPr>
        <a:bodyPr rot="0" spcFirstLastPara="1" vertOverflow="ellipsis" vert="horz" wrap="square" anchor="ctr" anchorCtr="1"/>
        <a:lstStyle/>
        <a:p>
          <a:pPr>
            <a:defRPr lang="en-US" sz="1400" b="0" i="0" u="none" strike="noStrike" kern="1200" spc="0" baseline="0" smtClean="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Sheet1!$E$61</c:f>
              <c:strCache>
                <c:ptCount val="1"/>
                <c:pt idx="0">
                  <c:v>% of total undisbursed</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C385-4D10-B6BF-629B6787E96B}"/>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C385-4D10-B6BF-629B6787E96B}"/>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C385-4D10-B6BF-629B6787E96B}"/>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C385-4D10-B6BF-629B6787E96B}"/>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Sheet1!$D$62:$D$65</c:f>
              <c:strCache>
                <c:ptCount val="4"/>
                <c:pt idx="0">
                  <c:v>EFI</c:v>
                </c:pt>
                <c:pt idx="1">
                  <c:v>SD</c:v>
                </c:pt>
                <c:pt idx="2">
                  <c:v>HD</c:v>
                </c:pt>
                <c:pt idx="3">
                  <c:v>INFRA</c:v>
                </c:pt>
              </c:strCache>
            </c:strRef>
          </c:cat>
          <c:val>
            <c:numRef>
              <c:f>Sheet1!$E$62:$E$65</c:f>
              <c:numCache>
                <c:formatCode>0%</c:formatCode>
                <c:ptCount val="4"/>
                <c:pt idx="0">
                  <c:v>0.16586350447836506</c:v>
                </c:pt>
                <c:pt idx="1">
                  <c:v>0.36288633783272367</c:v>
                </c:pt>
                <c:pt idx="2">
                  <c:v>0.17613220638324714</c:v>
                </c:pt>
                <c:pt idx="3">
                  <c:v>0.29511795130566415</c:v>
                </c:pt>
              </c:numCache>
            </c:numRef>
          </c:val>
          <c:extLst>
            <c:ext xmlns:c16="http://schemas.microsoft.com/office/drawing/2014/chart" uri="{C3380CC4-5D6E-409C-BE32-E72D297353CC}">
              <c16:uniqueId val="{00000008-C385-4D10-B6BF-629B6787E96B}"/>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30">
  <cs:axisTitle>
    <cs:lnRef idx="0"/>
    <cs:fillRef idx="0"/>
    <cs:effectRef idx="0"/>
    <cs:fontRef idx="minor">
      <a:schemeClr val="dk1">
        <a:lumMod val="65000"/>
        <a:lumOff val="35000"/>
      </a:schemeClr>
    </cs:fontRef>
    <cs:defRPr sz="900" kern="1200" cap="all"/>
  </cs:axisTitle>
  <cs:category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900" b="0" kern="1200" spc="20" baseline="0"/>
  </cs:categoryAxis>
  <cs:chartArea mods="allowNoLineOverride">
    <cs:lnRef idx="0"/>
    <cs:fillRef idx="0"/>
    <cs:effectRef idx="0"/>
    <cs:fontRef idx="minor">
      <a:schemeClr val="dk1"/>
    </cs:fontRef>
    <cs:spPr>
      <a:solidFill>
        <a:schemeClr val="lt1"/>
      </a:solidFill>
      <a:ln w="9525" cap="flat" cmpd="sng" algn="ctr">
        <a:solidFill>
          <a:schemeClr val="dk1">
            <a:lumMod val="15000"/>
            <a:lumOff val="85000"/>
          </a:schemeClr>
        </a:solidFill>
        <a:round/>
      </a:ln>
    </cs:spPr>
    <cs:defRPr sz="900" kern="1200"/>
  </cs:chartArea>
  <cs:dataLabel>
    <cs:lnRef idx="0"/>
    <cs:fillRef idx="0"/>
    <cs:effectRef idx="0"/>
    <cs:fontRef idx="minor">
      <a:schemeClr val="dk1">
        <a:lumMod val="65000"/>
        <a:lumOff val="3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
  <cs:dataPoint3D>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3D>
  <cs:dataPointLine>
    <cs:lnRef idx="0">
      <cs:styleClr val="auto"/>
    </cs:lnRef>
    <cs:fillRef idx="0"/>
    <cs:effectRef idx="0"/>
    <cs:fontRef idx="minor">
      <a:schemeClr val="dk1"/>
    </cs:fontRef>
    <cs:spPr>
      <a:ln w="22225" cap="rnd" cmpd="sng" algn="ctr">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cap="flat" cmpd="sng" algn="ctr">
        <a:solidFill>
          <a:schemeClr val="phClr"/>
        </a:solidFill>
        <a:round/>
      </a:ln>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dk1">
            <a:lumMod val="65000"/>
            <a:lumOff val="35000"/>
          </a:schemeClr>
        </a:solidFill>
      </a:ln>
    </cs:spPr>
  </cs:downBar>
  <cs:dropLine>
    <cs:lnRef idx="0"/>
    <cs:fillRef idx="0"/>
    <cs:effectRef idx="0"/>
    <cs:fontRef idx="minor">
      <a:schemeClr val="dk1"/>
    </cs:fontRef>
    <cs:spPr>
      <a:ln w="9525" cap="flat" cmpd="sng" algn="ctr">
        <a:solidFill>
          <a:schemeClr val="dk1">
            <a:lumMod val="35000"/>
            <a:lumOff val="65000"/>
            <a:alpha val="33000"/>
          </a:schemeClr>
        </a:solidFill>
        <a:round/>
      </a:ln>
    </cs:spPr>
  </cs:dropLine>
  <cs:errorBar>
    <cs:lnRef idx="0"/>
    <cs:fillRef idx="0"/>
    <cs:effectRef idx="0"/>
    <cs:fontRef idx="minor">
      <a:schemeClr val="dk1"/>
    </cs:fontRef>
    <cs:spPr>
      <a:ln w="9525">
        <a:solidFill>
          <a:schemeClr val="dk1">
            <a:lumMod val="65000"/>
            <a:lumOff val="35000"/>
          </a:schemeClr>
        </a:solidFill>
      </a:ln>
    </cs:spPr>
  </cs:errorBar>
  <cs:floor>
    <cs:lnRef idx="0"/>
    <cs:fillRef idx="0"/>
    <cs:effectRef idx="0"/>
    <cs:fontRef idx="minor">
      <a:schemeClr val="dk1"/>
    </cs:fontRef>
  </cs:floor>
  <cs:gridlineMajor>
    <cs:lnRef idx="0"/>
    <cs:fillRef idx="0"/>
    <cs:effectRef idx="0"/>
    <cs:fontRef idx="minor">
      <a:schemeClr val="dk1"/>
    </cs:fontRef>
    <cs:spPr>
      <a:ln>
        <a:solidFill>
          <a:schemeClr val="dk1">
            <a:lumMod val="15000"/>
            <a:lumOff val="85000"/>
          </a:schemeClr>
        </a:solidFill>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35000"/>
            <a:lumOff val="65000"/>
          </a:schemeClr>
        </a:solidFill>
      </a:ln>
    </cs:spPr>
  </cs:hiLoLine>
  <cs:leaderLine>
    <cs:lnRef idx="0"/>
    <cs:fillRef idx="0"/>
    <cs:effectRef idx="0"/>
    <cs:fontRef idx="minor">
      <a:schemeClr val="dk1"/>
    </cs:fontRef>
    <cs:spPr>
      <a:ln w="9525">
        <a:solidFill>
          <a:schemeClr val="dk1">
            <a:lumMod val="35000"/>
            <a:lumOff val="65000"/>
          </a:schemeClr>
        </a:solidFill>
      </a:ln>
    </cs:spPr>
  </cs:leaderLine>
  <cs:legend>
    <cs:lnRef idx="0"/>
    <cs:fillRef idx="0"/>
    <cs:effectRef idx="0"/>
    <cs:fontRef idx="minor">
      <a:schemeClr val="dk1">
        <a:lumMod val="65000"/>
        <a:lumOff val="35000"/>
      </a:schemeClr>
    </cs:fontRef>
    <cs:defRPr sz="900" kern="1200"/>
  </cs:legend>
  <cs:plotArea>
    <cs:lnRef idx="0"/>
    <cs:fillRef idx="0"/>
    <cs:effectRef idx="0"/>
    <cs:fontRef idx="minor">
      <a:schemeClr val="dk1"/>
    </cs:fontRef>
    <cs:spPr>
      <a:gradFill>
        <a:gsLst>
          <a:gs pos="100000">
            <a:schemeClr val="lt1">
              <a:lumMod val="95000"/>
            </a:schemeClr>
          </a:gs>
          <a:gs pos="0">
            <a:schemeClr val="lt1"/>
          </a:gs>
        </a:gsLst>
        <a:lin ang="5400000" scaled="0"/>
      </a:gradFill>
    </cs:spPr>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900" kern="1200"/>
  </cs:seriesAxis>
  <cs:seriesLine>
    <cs:lnRef idx="0"/>
    <cs:fillRef idx="0"/>
    <cs:effectRef idx="0"/>
    <cs:fontRef idx="minor">
      <a:schemeClr val="dk1"/>
    </cs:fontRef>
    <cs:spPr>
      <a:ln w="9525">
        <a:solidFill>
          <a:schemeClr val="dk1">
            <a:lumMod val="35000"/>
            <a:lumOff val="65000"/>
          </a:schemeClr>
        </a:solidFill>
        <a:prstDash val="dash"/>
      </a:ln>
    </cs:spPr>
  </cs:seriesLine>
  <cs:title>
    <cs:lnRef idx="0"/>
    <cs:fillRef idx="0"/>
    <cs:effectRef idx="0"/>
    <cs:fontRef idx="minor">
      <a:schemeClr val="dk1">
        <a:lumMod val="50000"/>
        <a:lumOff val="50000"/>
      </a:schemeClr>
    </cs:fontRef>
    <cs:defRPr sz="1400" kern="1200" cap="none" spc="20" baseline="0"/>
  </cs:title>
  <cs:trendline>
    <cs:lnRef idx="0">
      <cs:styleClr val="auto"/>
    </cs:lnRef>
    <cs:fillRef idx="0"/>
    <cs:effectRef idx="0"/>
    <cs:fontRef idx="minor">
      <a:schemeClr val="dk1"/>
    </cs:fontRef>
    <cs:spPr>
      <a:ln w="9525" cap="rnd">
        <a:solidFill>
          <a:schemeClr val="phClr"/>
        </a:solidFill>
      </a:ln>
    </cs:spPr>
  </cs:trendline>
  <cs:trendlineLabel>
    <cs:lnRef idx="0"/>
    <cs:fillRef idx="0"/>
    <cs:effectRef idx="0"/>
    <cs:fontRef idx="minor">
      <a:schemeClr val="dk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65000"/>
        <a:lumOff val="35000"/>
      </a:schemeClr>
    </cs:fontRef>
    <cs:defRPr sz="900" kern="1200" spc="20" baseline="0"/>
  </cs:valueAxis>
  <cs:wall>
    <cs:lnRef idx="0"/>
    <cs:fillRef idx="0"/>
    <cs:effectRef idx="0"/>
    <cs:fontRef idx="minor">
      <a:schemeClr val="dk1"/>
    </cs:fontRef>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31">
  <cs:axisTitle>
    <cs:lnRef idx="0"/>
    <cs:fillRef idx="0"/>
    <cs:effectRef idx="0"/>
    <cs:fontRef idx="minor">
      <a:schemeClr val="tx2"/>
    </cs:fontRef>
    <cs:defRPr sz="900" b="1" kern="1200"/>
  </cs:axisTitle>
  <cs:categoryAxis>
    <cs:lnRef idx="0"/>
    <cs:fillRef idx="0"/>
    <cs:effectRef idx="0"/>
    <cs:fontRef idx="minor">
      <a:schemeClr val="tx2"/>
    </cs:fontRef>
    <cs:spPr>
      <a:ln w="9525" cap="flat" cmpd="sng" algn="ctr">
        <a:solidFill>
          <a:schemeClr val="tx2">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2">
            <a:lumMod val="15000"/>
            <a:lumOff val="85000"/>
          </a:schemeClr>
        </a:solidFill>
        <a:round/>
      </a:ln>
    </cs:spPr>
    <cs:defRPr sz="900" kern="1200"/>
  </cs:chartArea>
  <cs:dataLabel>
    <cs:lnRef idx="0"/>
    <cs:fillRef idx="0"/>
    <cs:effectRef idx="0"/>
    <cs:fontRef idx="minor">
      <a:schemeClr val="tx2"/>
    </cs:fontRef>
    <cs:defRPr sz="900" kern="1200"/>
  </cs:dataLabel>
  <cs:dataLabelCallout>
    <cs:lnRef idx="0"/>
    <cs:fillRef idx="0"/>
    <cs:effectRef idx="0"/>
    <cs:fontRef idx="minor">
      <a:schemeClr val="dk2">
        <a:lumMod val="7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2"/>
    <cs:fontRef idx="minor">
      <a:schemeClr val="tx2"/>
    </cs:fontRef>
  </cs:dataPoint>
  <cs:dataPoint3D>
    <cs:lnRef idx="0"/>
    <cs:fillRef idx="3">
      <cs:styleClr val="auto"/>
    </cs:fillRef>
    <cs:effectRef idx="2"/>
    <cs:fontRef idx="minor">
      <a:schemeClr val="tx2"/>
    </cs:fontRef>
  </cs:dataPoint3D>
  <cs:dataPointLine>
    <cs:lnRef idx="0">
      <cs:styleClr val="auto"/>
    </cs:lnRef>
    <cs:fillRef idx="3"/>
    <cs:effectRef idx="2"/>
    <cs:fontRef idx="minor">
      <a:schemeClr val="tx2"/>
    </cs:fontRef>
    <cs:spPr>
      <a:ln w="31750" cap="rnd">
        <a:solidFill>
          <a:schemeClr val="phClr"/>
        </a:solidFill>
        <a:round/>
      </a:ln>
    </cs:spPr>
  </cs:dataPointLine>
  <cs:dataPointMarker>
    <cs:lnRef idx="0"/>
    <cs:fillRef idx="3">
      <cs:styleClr val="auto"/>
    </cs:fillRef>
    <cs:effectRef idx="2"/>
    <cs:fontRef idx="minor">
      <a:schemeClr val="tx2"/>
    </cs:fontRef>
    <cs:spPr>
      <a:ln w="12700">
        <a:solidFill>
          <a:schemeClr val="lt2"/>
        </a:solidFill>
        <a:round/>
      </a:ln>
    </cs:spPr>
  </cs:dataPointMarker>
  <cs:dataPointMarkerLayout symbol="circle" size="6"/>
  <cs:dataPointWireframe>
    <cs:lnRef idx="0">
      <cs:styleClr val="auto"/>
    </cs:lnRef>
    <cs:fillRef idx="3"/>
    <cs:effectRef idx="2"/>
    <cs:fontRef idx="minor">
      <a:schemeClr val="tx2"/>
    </cs:fontRef>
    <cs:spPr>
      <a:ln w="9525" cap="rnd">
        <a:solidFill>
          <a:schemeClr val="phClr"/>
        </a:solidFill>
        <a:round/>
      </a:ln>
    </cs:spPr>
  </cs:dataPointWireframe>
  <cs:dataTable>
    <cs:lnRef idx="0"/>
    <cs:fillRef idx="0"/>
    <cs:effectRef idx="0"/>
    <cs:fontRef idx="minor">
      <a:schemeClr val="tx2"/>
    </cs:fontRef>
    <cs:spPr>
      <a:ln w="9525">
        <a:solidFill>
          <a:schemeClr val="tx2">
            <a:lumMod val="15000"/>
            <a:lumOff val="85000"/>
          </a:schemeClr>
        </a:solidFill>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2"/>
    </cs:fontRef>
    <cs:spPr>
      <a:ln w="9525">
        <a:solidFill>
          <a:schemeClr val="tx2">
            <a:lumMod val="60000"/>
            <a:lumOff val="40000"/>
          </a:schemeClr>
        </a:solidFill>
        <a:prstDash val="dash"/>
      </a:ln>
    </cs:spPr>
  </cs:dropLine>
  <cs:errorBar>
    <cs:lnRef idx="0"/>
    <cs:fillRef idx="0"/>
    <cs:effectRef idx="0"/>
    <cs:fontRef idx="minor">
      <a:schemeClr val="tx2"/>
    </cs:fontRef>
    <cs:spPr>
      <a:ln w="9525">
        <a:solidFill>
          <a:schemeClr val="tx2">
            <a:lumMod val="75000"/>
          </a:schemeClr>
        </a:solidFill>
        <a:round/>
      </a:ln>
    </cs:spPr>
  </cs:errorBar>
  <cs:floor>
    <cs:lnRef idx="0"/>
    <cs:fillRef idx="0"/>
    <cs:effectRef idx="0"/>
    <cs:fontRef idx="minor">
      <a:schemeClr val="tx2"/>
    </cs:fontRef>
  </cs:floor>
  <cs:gridlineMajor>
    <cs:lnRef idx="0"/>
    <cs:fillRef idx="0"/>
    <cs:effectRef idx="0"/>
    <cs:fontRef idx="minor">
      <a:schemeClr val="tx2"/>
    </cs:fontRef>
    <cs:spPr>
      <a:ln w="9525" cap="flat" cmpd="sng" algn="ctr">
        <a:solidFill>
          <a:schemeClr val="tx2">
            <a:lumMod val="15000"/>
            <a:lumOff val="85000"/>
          </a:schemeClr>
        </a:solidFill>
        <a:round/>
      </a:ln>
    </cs:spPr>
  </cs:gridlineMajor>
  <cs:gridlineMinor>
    <cs:lnRef idx="0"/>
    <cs:fillRef idx="0"/>
    <cs:effectRef idx="0"/>
    <cs:fontRef idx="minor">
      <a:schemeClr val="tx2"/>
    </cs:fontRef>
    <cs:spPr>
      <a:ln>
        <a:solidFill>
          <a:schemeClr val="tx2">
            <a:lumMod val="5000"/>
            <a:lumOff val="95000"/>
          </a:schemeClr>
        </a:solidFill>
      </a:ln>
    </cs:spPr>
  </cs:gridlineMinor>
  <cs:hiLoLine>
    <cs:lnRef idx="0"/>
    <cs:fillRef idx="0"/>
    <cs:effectRef idx="0"/>
    <cs:fontRef idx="minor">
      <a:schemeClr val="tx2"/>
    </cs:fontRef>
    <cs:spPr>
      <a:ln w="9525">
        <a:solidFill>
          <a:schemeClr val="tx2">
            <a:lumMod val="60000"/>
            <a:lumOff val="40000"/>
          </a:schemeClr>
        </a:solidFill>
        <a:prstDash val="dash"/>
      </a:ln>
    </cs:spPr>
  </cs:hiLoLine>
  <cs:leaderLine>
    <cs:lnRef idx="0"/>
    <cs:fillRef idx="0"/>
    <cs:effectRef idx="0"/>
    <cs:fontRef idx="minor">
      <a:schemeClr val="tx2"/>
    </cs:fontRef>
    <cs:spPr>
      <a:ln w="9525">
        <a:solidFill>
          <a:schemeClr val="tx2">
            <a:lumMod val="35000"/>
            <a:lumOff val="65000"/>
          </a:schemeClr>
        </a:solidFill>
      </a:ln>
    </cs:spPr>
  </cs:leaderLine>
  <cs:legend>
    <cs:lnRef idx="0"/>
    <cs:fillRef idx="0"/>
    <cs:effectRef idx="0"/>
    <cs:fontRef idx="minor">
      <a:schemeClr val="tx2"/>
    </cs:fontRef>
    <cs:defRPr sz="900" kern="1200"/>
  </cs:legend>
  <cs:plotArea>
    <cs:lnRef idx="0"/>
    <cs:fillRef idx="0"/>
    <cs:effectRef idx="0"/>
    <cs:fontRef idx="minor">
      <a:schemeClr val="tx2"/>
    </cs:fontRef>
  </cs:plotArea>
  <cs:plotArea3D>
    <cs:lnRef idx="0"/>
    <cs:fillRef idx="0"/>
    <cs:effectRef idx="0"/>
    <cs:fontRef idx="minor">
      <a:schemeClr val="tx2"/>
    </cs:fontRef>
  </cs:plotArea3D>
  <cs:seriesAxis>
    <cs:lnRef idx="0"/>
    <cs:fillRef idx="0"/>
    <cs:effectRef idx="0"/>
    <cs:fontRef idx="minor">
      <a:schemeClr val="tx2"/>
    </cs:fontRef>
    <cs:spPr>
      <a:ln w="9525" cap="flat" cmpd="sng" algn="ctr">
        <a:solidFill>
          <a:schemeClr val="tx2">
            <a:lumMod val="15000"/>
            <a:lumOff val="85000"/>
          </a:schemeClr>
        </a:solidFill>
        <a:round/>
      </a:ln>
    </cs:spPr>
    <cs:defRPr sz="900" kern="1200"/>
  </cs:seriesAxis>
  <cs:seriesLine>
    <cs:lnRef idx="0"/>
    <cs:fillRef idx="0"/>
    <cs:effectRef idx="0"/>
    <cs:fontRef idx="minor">
      <a:schemeClr val="tx2"/>
    </cs:fontRef>
    <cs:spPr>
      <a:ln w="9525">
        <a:solidFill>
          <a:schemeClr val="tx2">
            <a:lumMod val="60000"/>
            <a:lumOff val="40000"/>
          </a:schemeClr>
        </a:solidFill>
        <a:prstDash val="dash"/>
      </a:ln>
    </cs:spPr>
  </cs:seriesLine>
  <cs:title>
    <cs:lnRef idx="0"/>
    <cs:fillRef idx="0"/>
    <cs:effectRef idx="0"/>
    <cs:fontRef idx="minor">
      <a:schemeClr val="tx2"/>
    </cs:fontRef>
    <cs:defRPr sz="1600" b="1" kern="1200"/>
  </cs:title>
  <cs:trendline>
    <cs:lnRef idx="0">
      <cs:styleClr val="auto"/>
    </cs:lnRef>
    <cs:fillRef idx="0"/>
    <cs:effectRef idx="0"/>
    <cs:fontRef idx="minor">
      <a:schemeClr val="tx2"/>
    </cs:fontRef>
    <cs:spPr>
      <a:ln w="19050" cap="rnd">
        <a:solidFill>
          <a:schemeClr val="phClr"/>
        </a:solidFill>
        <a:prstDash val="sysDash"/>
      </a:ln>
    </cs:spPr>
  </cs:trendline>
  <cs:trendlineLabel>
    <cs:lnRef idx="0"/>
    <cs:fillRef idx="0"/>
    <cs:effectRef idx="0"/>
    <cs:fontRef idx="minor">
      <a:schemeClr val="tx2"/>
    </cs:fontRef>
    <cs:defRPr sz="900" kern="1200"/>
  </cs:trendlineLabel>
  <cs:upBar>
    <cs:lnRef idx="0"/>
    <cs:fillRef idx="0"/>
    <cs:effectRef idx="0"/>
    <cs:fontRef idx="minor">
      <a:schemeClr val="tx2"/>
    </cs:fontRef>
    <cs:spPr>
      <a:solidFill>
        <a:schemeClr val="lt1"/>
      </a:solidFill>
      <a:ln w="9525">
        <a:solidFill>
          <a:schemeClr val="tx1">
            <a:lumMod val="15000"/>
            <a:lumOff val="85000"/>
          </a:schemeClr>
        </a:solidFill>
      </a:ln>
    </cs:spPr>
  </cs:upBar>
  <cs:valueAxis>
    <cs:lnRef idx="0"/>
    <cs:fillRef idx="0"/>
    <cs:effectRef idx="0"/>
    <cs:fontRef idx="minor">
      <a:schemeClr val="tx2"/>
    </cs:fontRef>
    <cs:defRPr sz="900" kern="1200"/>
  </cs:valueAxis>
  <cs:wall>
    <cs:lnRef idx="0"/>
    <cs:fillRef idx="0"/>
    <cs:effectRef idx="0"/>
    <cs:fontRef idx="minor">
      <a:schemeClr val="tx2"/>
    </cs:fontRef>
  </cs:wall>
</cs:chartStyle>
</file>

<file path=ppt/charts/style10.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cs:styleClr val="auto"/>
    </cs:fontRef>
    <cs:defRPr sz="100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00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0.13219</cdr:x>
      <cdr:y>0.19764</cdr:y>
    </cdr:from>
    <cdr:to>
      <cdr:x>0.93841</cdr:x>
      <cdr:y>0.80236</cdr:y>
    </cdr:to>
    <cdr:cxnSp macro="">
      <cdr:nvCxnSpPr>
        <cdr:cNvPr id="2" name="Straight Connector 1">
          <a:extLst xmlns:a="http://schemas.openxmlformats.org/drawingml/2006/main">
            <a:ext uri="{FF2B5EF4-FFF2-40B4-BE49-F238E27FC236}">
              <a16:creationId xmlns:a16="http://schemas.microsoft.com/office/drawing/2014/main" id="{8F7742B3-C0C8-46D0-B264-E366980DD992}"/>
            </a:ext>
          </a:extLst>
        </cdr:cNvPr>
        <cdr:cNvCxnSpPr>
          <a:cxnSpLocks xmlns:a="http://schemas.openxmlformats.org/drawingml/2006/main"/>
        </cdr:cNvCxnSpPr>
      </cdr:nvCxnSpPr>
      <cdr:spPr>
        <a:xfrm xmlns:a="http://schemas.openxmlformats.org/drawingml/2006/main" flipV="1">
          <a:off x="1349376" y="1276350"/>
          <a:ext cx="8229600" cy="3905250"/>
        </a:xfrm>
        <a:prstGeom xmlns:a="http://schemas.openxmlformats.org/drawingml/2006/main" prst="line">
          <a:avLst/>
        </a:prstGeom>
        <a:ln xmlns:a="http://schemas.openxmlformats.org/drawingml/2006/main">
          <a:prstDash val="sysDot"/>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0.2203</cdr:x>
      <cdr:y>0.12788</cdr:y>
    </cdr:from>
    <cdr:to>
      <cdr:x>1</cdr:x>
      <cdr:y>0.25321</cdr:y>
    </cdr:to>
    <cdr:sp macro="" textlink="">
      <cdr:nvSpPr>
        <cdr:cNvPr id="2" name="TextBox 14">
          <a:extLst xmlns:a="http://schemas.openxmlformats.org/drawingml/2006/main">
            <a:ext uri="{FF2B5EF4-FFF2-40B4-BE49-F238E27FC236}">
              <a16:creationId xmlns:a16="http://schemas.microsoft.com/office/drawing/2014/main" id="{7440E17E-E14A-4B80-B9C9-4A77A8EEC8BA}"/>
            </a:ext>
          </a:extLst>
        </cdr:cNvPr>
        <cdr:cNvSpPr txBox="1"/>
      </cdr:nvSpPr>
      <cdr:spPr>
        <a:xfrm xmlns:a="http://schemas.openxmlformats.org/drawingml/2006/main">
          <a:off x="568999" y="234213"/>
          <a:ext cx="2013838" cy="229558"/>
        </a:xfrm>
        <a:prstGeom xmlns:a="http://schemas.openxmlformats.org/drawingml/2006/main" prst="rect">
          <a:avLst/>
        </a:prstGeom>
        <a:noFill xmlns:a="http://schemas.openxmlformats.org/drawingml/2006/main"/>
      </cdr:spPr>
      <cdr:txBody>
        <a:bodyPr xmlns:a="http://schemas.openxmlformats.org/drawingml/2006/main" wrap="square">
          <a:spAutoFit/>
        </a:bodyPr>
        <a:lstStyle xmlns:a="http://schemas.openxmlformats.org/drawingml/2006/main">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pPr algn="ctr" rtl="0">
            <a:defRPr sz="1080" b="1" i="0" u="none" strike="noStrike" kern="1200" spc="0" baseline="0">
              <a:solidFill>
                <a:prstClr val="black"/>
              </a:solidFill>
              <a:latin typeface="+mn-lt"/>
              <a:ea typeface="+mn-ea"/>
              <a:cs typeface="+mn-cs"/>
            </a:defRPr>
          </a:pPr>
          <a:r>
            <a:rPr lang="en-US" b="1" dirty="0"/>
            <a:t>Vietnam</a:t>
          </a: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73AA1D7-AF98-455A-9A7A-8CFEE420734F}"/>
              </a:ext>
            </a:extLst>
          </p:cNvPr>
          <p:cNvSpPr>
            <a:spLocks noGrp="1"/>
          </p:cNvSpPr>
          <p:nvPr>
            <p:ph type="hdr" sz="quarter"/>
          </p:nvPr>
        </p:nvSpPr>
        <p:spPr>
          <a:xfrm>
            <a:off x="3" y="0"/>
            <a:ext cx="2946247" cy="498329"/>
          </a:xfrm>
          <a:prstGeom prst="rect">
            <a:avLst/>
          </a:prstGeom>
        </p:spPr>
        <p:txBody>
          <a:bodyPr vert="horz" lIns="91426" tIns="45713" rIns="91426" bIns="45713" rtlCol="0"/>
          <a:lstStyle>
            <a:lvl1pPr algn="l">
              <a:defRPr sz="1200"/>
            </a:lvl1pPr>
          </a:lstStyle>
          <a:p>
            <a:endParaRPr lang="en-US" dirty="0"/>
          </a:p>
        </p:txBody>
      </p:sp>
      <p:sp>
        <p:nvSpPr>
          <p:cNvPr id="3" name="Date Placeholder 2">
            <a:extLst>
              <a:ext uri="{FF2B5EF4-FFF2-40B4-BE49-F238E27FC236}">
                <a16:creationId xmlns:a16="http://schemas.microsoft.com/office/drawing/2014/main" id="{7D7A5696-9A19-4628-ACCA-A3DCFF8AD72B}"/>
              </a:ext>
            </a:extLst>
          </p:cNvPr>
          <p:cNvSpPr>
            <a:spLocks noGrp="1"/>
          </p:cNvSpPr>
          <p:nvPr>
            <p:ph type="dt" sz="quarter" idx="1"/>
          </p:nvPr>
        </p:nvSpPr>
        <p:spPr>
          <a:xfrm>
            <a:off x="3849828" y="0"/>
            <a:ext cx="2946246" cy="498329"/>
          </a:xfrm>
          <a:prstGeom prst="rect">
            <a:avLst/>
          </a:prstGeom>
        </p:spPr>
        <p:txBody>
          <a:bodyPr vert="horz" lIns="91426" tIns="45713" rIns="91426" bIns="45713" rtlCol="0"/>
          <a:lstStyle>
            <a:lvl1pPr algn="r">
              <a:defRPr sz="1200"/>
            </a:lvl1pPr>
          </a:lstStyle>
          <a:p>
            <a:fld id="{DC49F002-5576-4460-9897-0CD73B752ACD}" type="datetimeFigureOut">
              <a:rPr lang="en-US" smtClean="0"/>
              <a:t>6/7/2022</a:t>
            </a:fld>
            <a:endParaRPr lang="en-US" dirty="0"/>
          </a:p>
        </p:txBody>
      </p:sp>
      <p:sp>
        <p:nvSpPr>
          <p:cNvPr id="4" name="Footer Placeholder 3">
            <a:extLst>
              <a:ext uri="{FF2B5EF4-FFF2-40B4-BE49-F238E27FC236}">
                <a16:creationId xmlns:a16="http://schemas.microsoft.com/office/drawing/2014/main" id="{36BD86EA-268B-482F-9959-54B027B8231D}"/>
              </a:ext>
            </a:extLst>
          </p:cNvPr>
          <p:cNvSpPr>
            <a:spLocks noGrp="1"/>
          </p:cNvSpPr>
          <p:nvPr>
            <p:ph type="ftr" sz="quarter" idx="2"/>
          </p:nvPr>
        </p:nvSpPr>
        <p:spPr>
          <a:xfrm>
            <a:off x="3" y="9428309"/>
            <a:ext cx="2946247" cy="498329"/>
          </a:xfrm>
          <a:prstGeom prst="rect">
            <a:avLst/>
          </a:prstGeom>
        </p:spPr>
        <p:txBody>
          <a:bodyPr vert="horz" lIns="91426" tIns="45713" rIns="91426" bIns="45713"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28A1EB5-E0E2-42AC-B9BD-422D4B599A14}"/>
              </a:ext>
            </a:extLst>
          </p:cNvPr>
          <p:cNvSpPr>
            <a:spLocks noGrp="1"/>
          </p:cNvSpPr>
          <p:nvPr>
            <p:ph type="sldNum" sz="quarter" idx="3"/>
          </p:nvPr>
        </p:nvSpPr>
        <p:spPr>
          <a:xfrm>
            <a:off x="3849828" y="9428309"/>
            <a:ext cx="2946246" cy="498329"/>
          </a:xfrm>
          <a:prstGeom prst="rect">
            <a:avLst/>
          </a:prstGeom>
        </p:spPr>
        <p:txBody>
          <a:bodyPr vert="horz" lIns="91426" tIns="45713" rIns="91426" bIns="45713" rtlCol="0" anchor="b"/>
          <a:lstStyle>
            <a:lvl1pPr algn="r">
              <a:defRPr sz="1200"/>
            </a:lvl1pPr>
          </a:lstStyle>
          <a:p>
            <a:fld id="{084BD0F0-B3B8-4DBD-B975-A67D569A062B}" type="slidenum">
              <a:rPr lang="en-US" smtClean="0"/>
              <a:t>‹#›</a:t>
            </a:fld>
            <a:endParaRPr lang="en-US" dirty="0"/>
          </a:p>
        </p:txBody>
      </p:sp>
    </p:spTree>
    <p:extLst>
      <p:ext uri="{BB962C8B-B14F-4D97-AF65-F5344CB8AC3E}">
        <p14:creationId xmlns:p14="http://schemas.microsoft.com/office/powerpoint/2010/main" val="137306400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 y="5"/>
            <a:ext cx="2945659" cy="498053"/>
          </a:xfrm>
          <a:prstGeom prst="rect">
            <a:avLst/>
          </a:prstGeom>
        </p:spPr>
        <p:txBody>
          <a:bodyPr vert="horz" lIns="91426" tIns="45713" rIns="91426" bIns="45713" rtlCol="0"/>
          <a:lstStyle>
            <a:lvl1pPr algn="l">
              <a:defRPr sz="1200"/>
            </a:lvl1pPr>
          </a:lstStyle>
          <a:p>
            <a:endParaRPr lang="en-US" dirty="0"/>
          </a:p>
        </p:txBody>
      </p:sp>
      <p:sp>
        <p:nvSpPr>
          <p:cNvPr id="3" name="Date Placeholder 2"/>
          <p:cNvSpPr>
            <a:spLocks noGrp="1"/>
          </p:cNvSpPr>
          <p:nvPr>
            <p:ph type="dt" idx="1"/>
          </p:nvPr>
        </p:nvSpPr>
        <p:spPr>
          <a:xfrm>
            <a:off x="3850445" y="5"/>
            <a:ext cx="2945659" cy="498053"/>
          </a:xfrm>
          <a:prstGeom prst="rect">
            <a:avLst/>
          </a:prstGeom>
        </p:spPr>
        <p:txBody>
          <a:bodyPr vert="horz" lIns="91426" tIns="45713" rIns="91426" bIns="45713" rtlCol="0"/>
          <a:lstStyle>
            <a:lvl1pPr algn="r">
              <a:defRPr sz="1200"/>
            </a:lvl1pPr>
          </a:lstStyle>
          <a:p>
            <a:fld id="{055B727A-A6C2-43F7-B160-2402E4C3B09C}" type="datetimeFigureOut">
              <a:rPr lang="en-US" smtClean="0"/>
              <a:t>6/7/2022</a:t>
            </a:fld>
            <a:endParaRPr lang="en-US" dirty="0"/>
          </a:p>
        </p:txBody>
      </p:sp>
      <p:sp>
        <p:nvSpPr>
          <p:cNvPr id="4" name="Slide Image Placeholder 3"/>
          <p:cNvSpPr>
            <a:spLocks noGrp="1" noRot="1" noChangeAspect="1"/>
          </p:cNvSpPr>
          <p:nvPr>
            <p:ph type="sldImg" idx="2"/>
          </p:nvPr>
        </p:nvSpPr>
        <p:spPr>
          <a:xfrm>
            <a:off x="422275" y="1239838"/>
            <a:ext cx="5953125" cy="3349625"/>
          </a:xfrm>
          <a:prstGeom prst="rect">
            <a:avLst/>
          </a:prstGeom>
          <a:noFill/>
          <a:ln w="12700">
            <a:solidFill>
              <a:prstClr val="black"/>
            </a:solidFill>
          </a:ln>
        </p:spPr>
      </p:sp>
      <p:sp>
        <p:nvSpPr>
          <p:cNvPr id="5" name="Notes Placeholder 4"/>
          <p:cNvSpPr>
            <a:spLocks noGrp="1"/>
          </p:cNvSpPr>
          <p:nvPr>
            <p:ph type="body" sz="quarter" idx="3"/>
          </p:nvPr>
        </p:nvSpPr>
        <p:spPr>
          <a:xfrm>
            <a:off x="679768" y="4777202"/>
            <a:ext cx="5438140" cy="3908614"/>
          </a:xfrm>
          <a:prstGeom prst="rect">
            <a:avLst/>
          </a:prstGeom>
        </p:spPr>
        <p:txBody>
          <a:bodyPr vert="horz" lIns="91426" tIns="45713" rIns="91426" bIns="45713"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4" y="9428589"/>
            <a:ext cx="2945659" cy="498053"/>
          </a:xfrm>
          <a:prstGeom prst="rect">
            <a:avLst/>
          </a:prstGeom>
        </p:spPr>
        <p:txBody>
          <a:bodyPr vert="horz" lIns="91426" tIns="45713" rIns="91426" bIns="45713"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50445" y="9428589"/>
            <a:ext cx="2945659" cy="498053"/>
          </a:xfrm>
          <a:prstGeom prst="rect">
            <a:avLst/>
          </a:prstGeom>
        </p:spPr>
        <p:txBody>
          <a:bodyPr vert="horz" lIns="91426" tIns="45713" rIns="91426" bIns="45713" rtlCol="0" anchor="b"/>
          <a:lstStyle>
            <a:lvl1pPr algn="r">
              <a:defRPr sz="1200"/>
            </a:lvl1pPr>
          </a:lstStyle>
          <a:p>
            <a:fld id="{959ACFB9-F186-49C5-BAAE-4F331520327C}" type="slidenum">
              <a:rPr lang="en-US" smtClean="0"/>
              <a:t>‹#›</a:t>
            </a:fld>
            <a:endParaRPr lang="en-US" dirty="0"/>
          </a:p>
        </p:txBody>
      </p:sp>
    </p:spTree>
    <p:extLst>
      <p:ext uri="{BB962C8B-B14F-4D97-AF65-F5344CB8AC3E}">
        <p14:creationId xmlns:p14="http://schemas.microsoft.com/office/powerpoint/2010/main" val="31406685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59ACFB9-F186-49C5-BAAE-4F331520327C}" type="slidenum">
              <a:rPr lang="en-US" smtClean="0"/>
              <a:t>6</a:t>
            </a:fld>
            <a:endParaRPr lang="en-US" dirty="0"/>
          </a:p>
        </p:txBody>
      </p:sp>
    </p:spTree>
    <p:extLst>
      <p:ext uri="{BB962C8B-B14F-4D97-AF65-F5344CB8AC3E}">
        <p14:creationId xmlns:p14="http://schemas.microsoft.com/office/powerpoint/2010/main" val="30885995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14259">
              <a:defRPr/>
            </a:pPr>
            <a:r>
              <a:rPr lang="pt" dirty="0">
                <a:highlight>
                  <a:srgbClr val="000000">
                    <a:alpha val="0"/>
                  </a:srgbClr>
                </a:highlight>
                <a:latin typeface="Calibri"/>
              </a:rPr>
              <a:t>Desde o terceiro trimestre de 2021, o governo moçambicano tem vindo a rever a Estratégia Nacional de Desenvolvimento (ENDE) para 2015-2030.</a:t>
            </a:r>
          </a:p>
          <a:p>
            <a:pPr defTabSz="914259">
              <a:defRPr/>
            </a:pPr>
            <a:endParaRPr lang="en-US" dirty="0">
              <a:latin typeface="Calibri" pitchFamily="34" charset="0"/>
            </a:endParaRPr>
          </a:p>
          <a:p>
            <a:pPr algn="just" defTabSz="914259">
              <a:lnSpc>
                <a:spcPct val="90000"/>
              </a:lnSpc>
              <a:defRPr/>
            </a:pPr>
            <a:r>
              <a:rPr lang="pt" b="1" dirty="0">
                <a:solidFill>
                  <a:srgbClr val="000000"/>
                </a:solidFill>
                <a:highlight>
                  <a:srgbClr val="000000">
                    <a:alpha val="0"/>
                  </a:srgbClr>
                </a:highlight>
                <a:latin typeface="Calibri"/>
                <a:ea typeface="Times New Roman"/>
              </a:rPr>
              <a:t>O actual plano de desenvolvimento quinquenal é moldado em torno de três prioridades principais, três pilares e temas transversais. </a:t>
            </a:r>
          </a:p>
          <a:p>
            <a:pPr algn="just">
              <a:spcBef>
                <a:spcPts val="600"/>
              </a:spcBef>
              <a:defRPr/>
            </a:pPr>
            <a:r>
              <a:rPr lang="pt" dirty="0">
                <a:solidFill>
                  <a:srgbClr val="000000"/>
                </a:solidFill>
                <a:highlight>
                  <a:srgbClr val="000000">
                    <a:alpha val="0"/>
                  </a:srgbClr>
                </a:highlight>
                <a:latin typeface="Calibri"/>
                <a:ea typeface="Times New Roman"/>
              </a:rPr>
              <a:t>O PQG 2020 - 2024 é orientado por três prioridades: (i) crescimento económico, produtividade, e criação de emprego; (ii) desenvolvimento do capital humano e justiça social; e (iii) gestão sustentável dos recursos naturais e ambientais. </a:t>
            </a:r>
          </a:p>
          <a:p>
            <a:pPr algn="just">
              <a:spcBef>
                <a:spcPts val="600"/>
              </a:spcBef>
              <a:defRPr/>
            </a:pPr>
            <a:r>
              <a:rPr lang="pt" dirty="0">
                <a:solidFill>
                  <a:srgbClr val="000000"/>
                </a:solidFill>
                <a:highlight>
                  <a:srgbClr val="000000">
                    <a:alpha val="0"/>
                  </a:srgbClr>
                </a:highlight>
                <a:latin typeface="Calibri"/>
                <a:ea typeface="Times New Roman"/>
              </a:rPr>
              <a:t>Além disso, o programa é sustentado por três pilares: (i) democracia e coesão social, (ii) boa governação e descentralização; e (iii) cooperação internacional. </a:t>
            </a:r>
          </a:p>
          <a:p>
            <a:pPr algn="just">
              <a:spcBef>
                <a:spcPts val="600"/>
              </a:spcBef>
              <a:defRPr/>
            </a:pPr>
            <a:r>
              <a:rPr lang="pt" dirty="0">
                <a:solidFill>
                  <a:srgbClr val="000000"/>
                </a:solidFill>
                <a:highlight>
                  <a:srgbClr val="000000">
                    <a:alpha val="0"/>
                  </a:srgbClr>
                </a:highlight>
                <a:latin typeface="Calibri"/>
                <a:ea typeface="Times New Roman"/>
              </a:rPr>
              <a:t>Por último, o PQG 2020-2024 presta especial atenção aos temas transversais: (a) jovens, mulheres e antigos combatentes; b) habitação e emprego; e c) agricultura, industrialização, e turismo como centrais para a modernização da economia. </a:t>
            </a:r>
          </a:p>
          <a:p>
            <a:pPr algn="just">
              <a:spcBef>
                <a:spcPts val="600"/>
              </a:spcBef>
              <a:defRPr/>
            </a:pPr>
            <a:r>
              <a:rPr lang="pt" dirty="0">
                <a:solidFill>
                  <a:srgbClr val="000000"/>
                </a:solidFill>
                <a:highlight>
                  <a:srgbClr val="000000">
                    <a:alpha val="0"/>
                  </a:srgbClr>
                </a:highlight>
                <a:latin typeface="Calibri"/>
                <a:ea typeface="Times New Roman"/>
              </a:rPr>
              <a:t>O Programa também articula, os objectivos de alcançar o acesso universal até 2030 e o posicionamento de Moçambique como um centro regional de electricidade. </a:t>
            </a:r>
          </a:p>
          <a:p>
            <a:pPr algn="just">
              <a:spcBef>
                <a:spcPts val="600"/>
              </a:spcBef>
              <a:defRPr/>
            </a:pPr>
            <a:endParaRPr lang="en-US" dirty="0">
              <a:solidFill>
                <a:prstClr val="black"/>
              </a:solidFill>
              <a:latin typeface="Calibri" pitchFamily="34" charset="0"/>
              <a:ea typeface="Times New Roman" panose="02020603050405020304" pitchFamily="18" charset="0"/>
            </a:endParaRPr>
          </a:p>
          <a:p>
            <a:pPr algn="just" rtl="0">
              <a:lnSpc>
                <a:spcPct val="90000"/>
              </a:lnSpc>
              <a:defRPr/>
            </a:pPr>
            <a:r>
              <a:rPr lang="pt" b="1" dirty="0">
                <a:highlight>
                  <a:srgbClr val="000000">
                    <a:alpha val="0"/>
                  </a:srgbClr>
                </a:highlight>
                <a:latin typeface="Calibri"/>
                <a:cs typeface="Calibri"/>
              </a:rPr>
              <a:t>O Governo desenvolveu uma Estratégia de Prevenção de Conflitos e Violência, como parte do processo de assegurar a elegibilidade para a Alocação de Prevenção e Resiliência (PRA, Prevention and Resilience Allocation) ao abrigo do IDA19.</a:t>
            </a:r>
            <a:endParaRPr lang="en-US" dirty="0">
              <a:latin typeface="Calibri"/>
              <a:cs typeface="Calibri"/>
            </a:endParaRPr>
          </a:p>
          <a:p>
            <a:pPr algn="just">
              <a:lnSpc>
                <a:spcPct val="90000"/>
              </a:lnSpc>
              <a:defRPr/>
            </a:pPr>
            <a:endParaRPr lang="en-US" dirty="0">
              <a:solidFill>
                <a:prstClr val="black"/>
              </a:solidFill>
              <a:latin typeface="Calibri" pitchFamily="34" charset="0"/>
            </a:endParaRPr>
          </a:p>
          <a:p>
            <a:pPr marL="285706" indent="-285706" algn="just">
              <a:lnSpc>
                <a:spcPct val="90000"/>
              </a:lnSpc>
              <a:buFont typeface="Arial" panose="020B0604020202020204" pitchFamily="34" charset="0"/>
              <a:buChar char="•"/>
              <a:defRPr/>
            </a:pPr>
            <a:r>
              <a:rPr lang="pt" dirty="0">
                <a:highlight>
                  <a:srgbClr val="000000">
                    <a:alpha val="0"/>
                  </a:srgbClr>
                </a:highlight>
                <a:latin typeface="Calibri"/>
                <a:cs typeface="Calibri"/>
              </a:rPr>
              <a:t>O objectivo desta Estratégia era delinear uma abordagem para o desenvolvimento da coesão nacional, abordando ao mesmo tempo algumas das principais queixas que têm estado no centro dos surtos e da recorrência de conflitos desde a independência. </a:t>
            </a:r>
            <a:endParaRPr lang="en-US" dirty="0">
              <a:latin typeface="Calibri" pitchFamily="34" charset="0"/>
              <a:cs typeface="Calibri"/>
            </a:endParaRPr>
          </a:p>
          <a:p>
            <a:pPr marL="285706" indent="-285706" algn="just">
              <a:lnSpc>
                <a:spcPct val="90000"/>
              </a:lnSpc>
              <a:buFont typeface="Arial" panose="020B0604020202020204" pitchFamily="34" charset="0"/>
              <a:buChar char="•"/>
              <a:defRPr/>
            </a:pPr>
            <a:endParaRPr lang="en-US" dirty="0">
              <a:solidFill>
                <a:prstClr val="black"/>
              </a:solidFill>
              <a:latin typeface="Calibri" panose="020F0502020204030204" pitchFamily="34" charset="0"/>
            </a:endParaRPr>
          </a:p>
          <a:p>
            <a:pPr marL="285706" indent="-285706" algn="just">
              <a:lnSpc>
                <a:spcPct val="90000"/>
              </a:lnSpc>
              <a:buFont typeface="Arial" panose="020B0604020202020204" pitchFamily="34" charset="0"/>
              <a:buChar char="•"/>
              <a:defRPr/>
            </a:pPr>
            <a:r>
              <a:rPr lang="pt" dirty="0">
                <a:highlight>
                  <a:srgbClr val="000000">
                    <a:alpha val="0"/>
                  </a:srgbClr>
                </a:highlight>
                <a:latin typeface="Calibri"/>
                <a:cs typeface="Calibri"/>
              </a:rPr>
              <a:t>Associado a esta Estratégia, o Governo também articulou um quadro de monitoria para a prevenção e a resiliência, compreendendo uma série de marcos que decorrem entre o AF21 e o AF23 que procuram abordar os principais desafios da fragilidade em todo o país. </a:t>
            </a:r>
            <a:endParaRPr lang="en-US" dirty="0">
              <a:latin typeface="Calibri" panose="020F0502020204030204" pitchFamily="34" charset="0"/>
              <a:cs typeface="Calibri"/>
            </a:endParaRPr>
          </a:p>
          <a:p>
            <a:pPr marL="285706" indent="-285706" algn="just">
              <a:lnSpc>
                <a:spcPct val="90000"/>
              </a:lnSpc>
              <a:buFont typeface="Arial" panose="020B0604020202020204" pitchFamily="34" charset="0"/>
              <a:buChar char="•"/>
              <a:defRPr/>
            </a:pPr>
            <a:endParaRPr lang="en-US" dirty="0">
              <a:solidFill>
                <a:prstClr val="black"/>
              </a:solidFill>
              <a:latin typeface="Calibri" panose="020F0502020204030204" pitchFamily="34" charset="0"/>
            </a:endParaRPr>
          </a:p>
          <a:p>
            <a:pPr marL="285706" indent="-285706" algn="just">
              <a:lnSpc>
                <a:spcPct val="90000"/>
              </a:lnSpc>
              <a:buFont typeface="Arial" panose="020B0604020202020204" pitchFamily="34" charset="0"/>
              <a:buChar char="•"/>
              <a:defRPr/>
            </a:pPr>
            <a:r>
              <a:rPr lang="pt" dirty="0">
                <a:highlight>
                  <a:srgbClr val="000000">
                    <a:alpha val="0"/>
                  </a:srgbClr>
                </a:highlight>
                <a:latin typeface="Calibri"/>
                <a:cs typeface="Calibri"/>
              </a:rPr>
              <a:t>Moçambique tornou-se o terceiro país a assegurar a elegibilidade para a PRA em Março de 2021, o que permitiu ao Governo ter acesso a um reforço do financiamento para evitar o início, a recorrência e a escalada de conflitos violentos. </a:t>
            </a:r>
          </a:p>
          <a:p>
            <a:pPr algn="just">
              <a:lnSpc>
                <a:spcPct val="90000"/>
              </a:lnSpc>
              <a:defRPr/>
            </a:pPr>
            <a:endParaRPr lang="en-US" dirty="0">
              <a:latin typeface="Calibri" panose="020F0502020204030204"/>
              <a:cs typeface="Calibri"/>
            </a:endParaRPr>
          </a:p>
          <a:p>
            <a:pPr marL="285706" indent="-285706" algn="just">
              <a:lnSpc>
                <a:spcPct val="90000"/>
              </a:lnSpc>
              <a:buFont typeface="Arial" panose="020B0604020202020204" pitchFamily="34" charset="0"/>
              <a:buChar char="•"/>
              <a:defRPr/>
            </a:pPr>
            <a:r>
              <a:rPr lang="pt" dirty="0">
                <a:highlight>
                  <a:srgbClr val="000000">
                    <a:alpha val="0"/>
                  </a:srgbClr>
                </a:highlight>
                <a:latin typeface="Calibri"/>
                <a:cs typeface="Calibri"/>
              </a:rPr>
              <a:t>Como parte do diálogo em torno da PRA o Governo solicitou apoio para a formulação da sua Estratégia Integrada de Desenvolvimento e Resiliência para o Norte.</a:t>
            </a:r>
          </a:p>
          <a:p>
            <a:pPr algn="just">
              <a:spcBef>
                <a:spcPts val="600"/>
              </a:spcBef>
              <a:defRPr/>
            </a:pPr>
            <a:endParaRPr lang="en-US" dirty="0">
              <a:solidFill>
                <a:prstClr val="black"/>
              </a:solidFill>
              <a:latin typeface="Calibri" panose="020F0502020204030204" pitchFamily="34" charset="0"/>
              <a:ea typeface="Times New Roman" panose="02020603050405020304" pitchFamily="18" charset="0"/>
            </a:endParaRPr>
          </a:p>
          <a:p>
            <a:pPr defTabSz="914259">
              <a:defRPr/>
            </a:pPr>
            <a:endParaRPr lang="en-US" dirty="0">
              <a:latin typeface="Calibri" panose="020F0502020204030204" pitchFamily="34" charset="0"/>
            </a:endParaRPr>
          </a:p>
          <a:p>
            <a:endParaRPr lang="en-US" dirty="0"/>
          </a:p>
        </p:txBody>
      </p:sp>
      <p:sp>
        <p:nvSpPr>
          <p:cNvPr id="4" name="Slide Number Placeholder 3"/>
          <p:cNvSpPr>
            <a:spLocks noGrp="1"/>
          </p:cNvSpPr>
          <p:nvPr>
            <p:ph type="sldNum" sz="quarter" idx="5"/>
          </p:nvPr>
        </p:nvSpPr>
        <p:spPr/>
        <p:txBody>
          <a:bodyPr/>
          <a:lstStyle/>
          <a:p>
            <a:fld id="{959ACFB9-F186-49C5-BAAE-4F331520327C}" type="slidenum">
              <a:rPr lang="en-US" smtClean="0"/>
              <a:t>15</a:t>
            </a:fld>
            <a:endParaRPr lang="en-US"/>
          </a:p>
        </p:txBody>
      </p:sp>
    </p:spTree>
    <p:extLst>
      <p:ext uri="{BB962C8B-B14F-4D97-AF65-F5344CB8AC3E}">
        <p14:creationId xmlns:p14="http://schemas.microsoft.com/office/powerpoint/2010/main" val="2571206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fld id="{959ACFB9-F186-49C5-BAAE-4F331520327C}" type="slidenum">
              <a:rPr lang="en-US" smtClean="0"/>
              <a:t>23</a:t>
            </a:fld>
            <a:endParaRPr lang="en-US"/>
          </a:p>
        </p:txBody>
      </p:sp>
    </p:spTree>
    <p:extLst>
      <p:ext uri="{BB962C8B-B14F-4D97-AF65-F5344CB8AC3E}">
        <p14:creationId xmlns:p14="http://schemas.microsoft.com/office/powerpoint/2010/main" val="14115616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nSpc>
                <a:spcPct val="100000"/>
              </a:lnSpc>
              <a:spcBef>
                <a:spcPts val="0"/>
              </a:spcBef>
              <a:spcAft>
                <a:spcPts val="0"/>
              </a:spcAft>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pt-BR" dirty="0"/>
          </a:p>
        </p:txBody>
      </p:sp>
      <p:sp>
        <p:nvSpPr>
          <p:cNvPr id="4" name="Slide Number Placeholder 3"/>
          <p:cNvSpPr>
            <a:spLocks noGrp="1"/>
          </p:cNvSpPr>
          <p:nvPr>
            <p:ph type="sldNum" sz="quarter" idx="5"/>
          </p:nvPr>
        </p:nvSpPr>
        <p:spPr/>
        <p:txBody>
          <a:bodyPr/>
          <a:lstStyle/>
          <a:p>
            <a:fld id="{959ACFB9-F186-49C5-BAAE-4F331520327C}" type="slidenum">
              <a:rPr lang="en-US" smtClean="0"/>
              <a:t>24</a:t>
            </a:fld>
            <a:endParaRPr lang="en-US"/>
          </a:p>
        </p:txBody>
      </p:sp>
    </p:spTree>
    <p:extLst>
      <p:ext uri="{BB962C8B-B14F-4D97-AF65-F5344CB8AC3E}">
        <p14:creationId xmlns:p14="http://schemas.microsoft.com/office/powerpoint/2010/main" val="1496593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fld id="{959ACFB9-F186-49C5-BAAE-4F331520327C}" type="slidenum">
              <a:rPr lang="en-US" smtClean="0"/>
              <a:t>25</a:t>
            </a:fld>
            <a:endParaRPr lang="en-US"/>
          </a:p>
        </p:txBody>
      </p:sp>
    </p:spTree>
    <p:extLst>
      <p:ext uri="{BB962C8B-B14F-4D97-AF65-F5344CB8AC3E}">
        <p14:creationId xmlns:p14="http://schemas.microsoft.com/office/powerpoint/2010/main" val="16104004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A0981-943C-4992-B149-9C63154546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135F9E7-E9BF-4016-B324-B6A646CDAF6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38B3994-86FB-4F29-9C45-09B27D9BF43F}"/>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35F1EF73-4840-48FC-9630-B433A9F908A2}"/>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D4EFB3C5-81C6-4829-BAC3-420F2F492BEA}"/>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267712704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E4F2B-05FF-445D-98BD-7B90CF93E0FC}"/>
              </a:ext>
            </a:extLst>
          </p:cNvPr>
          <p:cNvSpPr>
            <a:spLocks noGrp="1"/>
          </p:cNvSpPr>
          <p:nvPr>
            <p:ph type="title"/>
          </p:nvPr>
        </p:nvSpPr>
        <p:spPr/>
        <p:txBody>
          <a:bodyPr>
            <a:normAutofit/>
          </a:bodyPr>
          <a:lstStyle>
            <a:lvl1pPr>
              <a:defRPr lang="en-US" sz="2300" b="1" kern="1200">
                <a:solidFill>
                  <a:schemeClr val="accent1">
                    <a:lumMod val="75000"/>
                  </a:schemeClr>
                </a:solidFill>
                <a:latin typeface="Arial"/>
                <a:ea typeface="+mj-ea"/>
                <a:cs typeface="Arial"/>
              </a:defRPr>
            </a:lvl1pPr>
          </a:lstStyle>
          <a:p>
            <a:r>
              <a:rPr lang="en-US"/>
              <a:t>Click to edit Master title style</a:t>
            </a:r>
          </a:p>
        </p:txBody>
      </p:sp>
      <p:sp>
        <p:nvSpPr>
          <p:cNvPr id="3" name="Content Placeholder 2">
            <a:extLst>
              <a:ext uri="{FF2B5EF4-FFF2-40B4-BE49-F238E27FC236}">
                <a16:creationId xmlns:a16="http://schemas.microsoft.com/office/drawing/2014/main" id="{BB87B212-47F3-4A5B-A949-19A7F167572C}"/>
              </a:ext>
            </a:extLst>
          </p:cNvPr>
          <p:cNvSpPr>
            <a:spLocks noGrp="1"/>
          </p:cNvSpPr>
          <p:nvPr>
            <p:ph idx="1"/>
          </p:nvPr>
        </p:nvSpPr>
        <p:spPr/>
        <p:txBody>
          <a:bodyPr/>
          <a:lstStyle>
            <a:lvl1pPr>
              <a:defRPr lang="en-US" sz="1400" kern="1200">
                <a:solidFill>
                  <a:schemeClr val="tx1"/>
                </a:solidFill>
                <a:latin typeface="Arial" panose="020B0604020202020204" pitchFamily="34" charset="0"/>
                <a:ea typeface="+mn-ea"/>
                <a:cs typeface="Arial" panose="020B0604020202020204" pitchFamily="34" charset="0"/>
              </a:defRPr>
            </a:lvl1pPr>
            <a:lvl2pPr marL="228600" indent="-228600">
              <a:defRPr sz="1200">
                <a:latin typeface="Arial" panose="020B0604020202020204" pitchFamily="34" charset="0"/>
                <a:cs typeface="Arial" panose="020B0604020202020204" pitchFamily="34" charset="0"/>
              </a:defRPr>
            </a:lvl2pPr>
            <a:lvl3pPr marL="228600" indent="-228600">
              <a:defRPr sz="1100">
                <a:latin typeface="Arial" panose="020B0604020202020204" pitchFamily="34" charset="0"/>
                <a:cs typeface="Arial" panose="020B0604020202020204" pitchFamily="34" charset="0"/>
              </a:defRPr>
            </a:lvl3pPr>
          </a:lstStyle>
          <a:p>
            <a:pPr lvl="0"/>
            <a:r>
              <a:rPr lang="en-US"/>
              <a:t>Click to edit Master text styles</a:t>
            </a:r>
          </a:p>
          <a:p>
            <a:pPr marL="228600" marR="0" lvl="0" indent="-228600" algn="l" defTabSz="914400" rtl="0" eaLnBrk="1" fontAlgn="auto" latinLnBrk="0" hangingPunct="1">
              <a:lnSpc>
                <a:spcPct val="90000"/>
              </a:lnSpc>
              <a:spcBef>
                <a:spcPts val="1000"/>
              </a:spcBef>
              <a:spcAft>
                <a:spcPct val="0"/>
              </a:spcAft>
              <a:buClrTx/>
              <a:buSzTx/>
              <a:buFont typeface="Arial" panose="020B0604020202020204" pitchFamily="34" charset="0"/>
              <a:buChar char="•"/>
              <a:defRPr/>
            </a:pPr>
            <a:r>
              <a:rPr lang="en-US"/>
              <a:t>Second level</a:t>
            </a:r>
            <a:r>
              <a:rPr lang="en-US" b="1" i="0">
                <a:solidFill>
                  <a:srgbClr val="030303"/>
                </a:solidFill>
                <a:effectLst/>
                <a:latin typeface="YouTube Sans"/>
              </a:rPr>
              <a:t> owerPoint: Changing the font of all slides at once</a:t>
            </a:r>
          </a:p>
          <a:p>
            <a:pPr marL="228600" lvl="0" indent="-228600" algn="l" defTabSz="914400" rtl="0" eaLnBrk="1" latinLnBrk="0" hangingPunct="1">
              <a:lnSpc>
                <a:spcPct val="90000"/>
              </a:lnSpc>
              <a:spcBef>
                <a:spcPts val="1000"/>
              </a:spcBef>
              <a:buFont typeface="Arial" panose="020B0604020202020204" pitchFamily="34" charset="0"/>
              <a:buChar char="•"/>
            </a:pPr>
            <a:endParaRPr lang="en-US"/>
          </a:p>
          <a:p>
            <a:pPr marL="228600" lvl="0" indent="-228600" algn="l" defTabSz="914400" rtl="0" eaLnBrk="1" latinLnBrk="0" hangingPunct="1">
              <a:lnSpc>
                <a:spcPct val="90000"/>
              </a:lnSpc>
              <a:spcBef>
                <a:spcPts val="1000"/>
              </a:spcBef>
              <a:buFont typeface="Arial" panose="020B0604020202020204" pitchFamily="34" charset="0"/>
              <a:buChar char="•"/>
            </a:pPr>
            <a:r>
              <a:rPr lang="en-US"/>
              <a:t>Third level</a:t>
            </a:r>
          </a:p>
        </p:txBody>
      </p:sp>
      <p:sp>
        <p:nvSpPr>
          <p:cNvPr id="4" name="Date Placeholder 3">
            <a:extLst>
              <a:ext uri="{FF2B5EF4-FFF2-40B4-BE49-F238E27FC236}">
                <a16:creationId xmlns:a16="http://schemas.microsoft.com/office/drawing/2014/main" id="{6CC95B8F-D1C2-401F-BD84-8DDECCBA8092}"/>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3367B9EA-B7E1-4EF8-A46E-2E8CFE0B0FC8}"/>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A8183F10-E48C-4566-BC2B-FF2F486A6998}"/>
              </a:ext>
            </a:extLst>
          </p:cNvPr>
          <p:cNvSpPr>
            <a:spLocks noGrp="1"/>
          </p:cNvSpPr>
          <p:nvPr>
            <p:ph type="sldNum" sz="quarter" idx="12"/>
          </p:nvPr>
        </p:nvSpPr>
        <p:spPr/>
        <p:txBody>
          <a:bodyPr/>
          <a:lstStyle>
            <a:lvl1pPr>
              <a:defRPr sz="1200"/>
            </a:lvl1pPr>
          </a:lstStyle>
          <a:p>
            <a:fld id="{B8473C9A-9E91-4025-B5E2-D7B202510636}" type="slidenum">
              <a:rPr lang="en-US" smtClean="0"/>
              <a:t>‹#›</a:t>
            </a:fld>
            <a:endParaRPr lang="en-US" dirty="0"/>
          </a:p>
        </p:txBody>
      </p:sp>
    </p:spTree>
    <p:extLst>
      <p:ext uri="{BB962C8B-B14F-4D97-AF65-F5344CB8AC3E}">
        <p14:creationId xmlns:p14="http://schemas.microsoft.com/office/powerpoint/2010/main" val="3940487273"/>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004923-E02C-4624-A21A-65B68F28C343}"/>
              </a:ext>
            </a:extLst>
          </p:cNvPr>
          <p:cNvSpPr>
            <a:spLocks noGrp="1"/>
          </p:cNvSpPr>
          <p:nvPr>
            <p:ph type="title"/>
          </p:nvPr>
        </p:nvSpPr>
        <p:spPr>
          <a:xfrm>
            <a:off x="831850" y="1709738"/>
            <a:ext cx="10515600" cy="2852737"/>
          </a:xfrm>
        </p:spPr>
        <p:txBody>
          <a:bodyPr anchor="ctr" anchorCtr="0"/>
          <a:lstStyle>
            <a:lvl1pPr algn="ctr">
              <a:defRPr sz="6000"/>
            </a:lvl1pPr>
          </a:lstStyle>
          <a:p>
            <a:r>
              <a:rPr lang="en-US"/>
              <a:t>Click to edit Master title style</a:t>
            </a:r>
          </a:p>
        </p:txBody>
      </p:sp>
      <p:sp>
        <p:nvSpPr>
          <p:cNvPr id="3" name="Text Placeholder 2">
            <a:extLst>
              <a:ext uri="{FF2B5EF4-FFF2-40B4-BE49-F238E27FC236}">
                <a16:creationId xmlns:a16="http://schemas.microsoft.com/office/drawing/2014/main" id="{9DAE0A33-1BB3-4E42-B621-A472B874EAD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576DB44-0DB5-40B5-BA14-1EDA86A4D24B}"/>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55AA5C62-6202-4358-AC75-4E0415B24F7B}"/>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DED24AA5-8997-4524-A317-F3333E4AAC4B}"/>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3538393001"/>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D9D26-49ED-4CF7-B672-8637E4AD5E6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43621A-9D07-4DF4-9D5A-48B41E7955E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2B0EFF8-B574-4682-B3A9-AA6161FFE7B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9C375E7-1F3E-4EF7-B071-48DF4593E1E2}"/>
              </a:ext>
            </a:extLst>
          </p:cNvPr>
          <p:cNvSpPr>
            <a:spLocks noGrp="1"/>
          </p:cNvSpPr>
          <p:nvPr>
            <p:ph type="dt" sz="half" idx="10"/>
          </p:nvPr>
        </p:nvSpPr>
        <p:spPr/>
        <p:txBody>
          <a:bodyPr/>
          <a:lstStyle/>
          <a:p>
            <a:r>
              <a:rPr lang="en-US"/>
              <a:t>3/1/2022</a:t>
            </a:r>
            <a:endParaRPr lang="en-US" dirty="0"/>
          </a:p>
        </p:txBody>
      </p:sp>
      <p:sp>
        <p:nvSpPr>
          <p:cNvPr id="6" name="Footer Placeholder 5">
            <a:extLst>
              <a:ext uri="{FF2B5EF4-FFF2-40B4-BE49-F238E27FC236}">
                <a16:creationId xmlns:a16="http://schemas.microsoft.com/office/drawing/2014/main" id="{A8096E2A-D6F0-42E1-93F5-D99EDE9CF8F7}"/>
              </a:ext>
            </a:extLst>
          </p:cNvPr>
          <p:cNvSpPr>
            <a:spLocks noGrp="1"/>
          </p:cNvSpPr>
          <p:nvPr>
            <p:ph type="ftr" sz="quarter" idx="11"/>
          </p:nvPr>
        </p:nvSpPr>
        <p:spPr/>
        <p:txBody>
          <a:bodyPr/>
          <a:lstStyle/>
          <a:p>
            <a:r>
              <a:rPr lang="en-US"/>
              <a:t>CPF 2023-2027. Public Version. Maputo, May 2022.</a:t>
            </a:r>
            <a:endParaRPr lang="en-US" dirty="0"/>
          </a:p>
        </p:txBody>
      </p:sp>
      <p:sp>
        <p:nvSpPr>
          <p:cNvPr id="7" name="Slide Number Placeholder 6">
            <a:extLst>
              <a:ext uri="{FF2B5EF4-FFF2-40B4-BE49-F238E27FC236}">
                <a16:creationId xmlns:a16="http://schemas.microsoft.com/office/drawing/2014/main" id="{F3C9BC91-D20F-4D2A-ACDC-D462531E7E32}"/>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1338663112"/>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5CCE41-EFB1-46F9-8C61-340395BFD3D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886AD4D-5D04-485B-BBDF-BC3CA5A179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2C38865-AD92-4EF6-8AC6-2D3C28823F1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51AF0F8-46DF-422B-8C36-DFEB6BFB411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F8E853-9A78-4653-AF85-F954C3714EB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91138F-1A14-4A55-8651-B0A6BBE21A45}"/>
              </a:ext>
            </a:extLst>
          </p:cNvPr>
          <p:cNvSpPr>
            <a:spLocks noGrp="1"/>
          </p:cNvSpPr>
          <p:nvPr>
            <p:ph type="dt" sz="half" idx="10"/>
          </p:nvPr>
        </p:nvSpPr>
        <p:spPr/>
        <p:txBody>
          <a:bodyPr/>
          <a:lstStyle/>
          <a:p>
            <a:r>
              <a:rPr lang="en-US"/>
              <a:t>3/1/2022</a:t>
            </a:r>
            <a:endParaRPr lang="en-US" dirty="0"/>
          </a:p>
        </p:txBody>
      </p:sp>
      <p:sp>
        <p:nvSpPr>
          <p:cNvPr id="8" name="Footer Placeholder 7">
            <a:extLst>
              <a:ext uri="{FF2B5EF4-FFF2-40B4-BE49-F238E27FC236}">
                <a16:creationId xmlns:a16="http://schemas.microsoft.com/office/drawing/2014/main" id="{6E29D1E1-3806-4AFD-A62F-2206BB742E6A}"/>
              </a:ext>
            </a:extLst>
          </p:cNvPr>
          <p:cNvSpPr>
            <a:spLocks noGrp="1"/>
          </p:cNvSpPr>
          <p:nvPr>
            <p:ph type="ftr" sz="quarter" idx="11"/>
          </p:nvPr>
        </p:nvSpPr>
        <p:spPr/>
        <p:txBody>
          <a:bodyPr/>
          <a:lstStyle/>
          <a:p>
            <a:r>
              <a:rPr lang="en-US"/>
              <a:t>CPF 2023-2027. Public Version. Maputo, May 2022.</a:t>
            </a:r>
            <a:endParaRPr lang="en-US" dirty="0"/>
          </a:p>
        </p:txBody>
      </p:sp>
      <p:sp>
        <p:nvSpPr>
          <p:cNvPr id="9" name="Slide Number Placeholder 8">
            <a:extLst>
              <a:ext uri="{FF2B5EF4-FFF2-40B4-BE49-F238E27FC236}">
                <a16:creationId xmlns:a16="http://schemas.microsoft.com/office/drawing/2014/main" id="{A5E3FB99-8FE9-4D09-8A4F-12CF1277B750}"/>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3128242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1D9C5-5AA6-4565-BCC7-41B79AC8DB9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C5F545B-A0EE-43AE-A42B-5A8CB9C82F1A}"/>
              </a:ext>
            </a:extLst>
          </p:cNvPr>
          <p:cNvSpPr>
            <a:spLocks noGrp="1"/>
          </p:cNvSpPr>
          <p:nvPr>
            <p:ph type="dt" sz="half" idx="10"/>
          </p:nvPr>
        </p:nvSpPr>
        <p:spPr/>
        <p:txBody>
          <a:bodyPr/>
          <a:lstStyle/>
          <a:p>
            <a:r>
              <a:rPr lang="en-US"/>
              <a:t>3/1/2022</a:t>
            </a:r>
            <a:endParaRPr lang="en-US" dirty="0"/>
          </a:p>
        </p:txBody>
      </p:sp>
      <p:sp>
        <p:nvSpPr>
          <p:cNvPr id="4" name="Footer Placeholder 3">
            <a:extLst>
              <a:ext uri="{FF2B5EF4-FFF2-40B4-BE49-F238E27FC236}">
                <a16:creationId xmlns:a16="http://schemas.microsoft.com/office/drawing/2014/main" id="{107FCC15-8266-4DE3-B290-D16AFE7F7167}"/>
              </a:ext>
            </a:extLst>
          </p:cNvPr>
          <p:cNvSpPr>
            <a:spLocks noGrp="1"/>
          </p:cNvSpPr>
          <p:nvPr>
            <p:ph type="ftr" sz="quarter" idx="11"/>
          </p:nvPr>
        </p:nvSpPr>
        <p:spPr/>
        <p:txBody>
          <a:bodyPr/>
          <a:lstStyle/>
          <a:p>
            <a:r>
              <a:rPr lang="en-US"/>
              <a:t>CPF 2023-2027. Public Version. Maputo, May 2022.</a:t>
            </a:r>
            <a:endParaRPr lang="en-US" dirty="0"/>
          </a:p>
        </p:txBody>
      </p:sp>
      <p:sp>
        <p:nvSpPr>
          <p:cNvPr id="5" name="Slide Number Placeholder 4">
            <a:extLst>
              <a:ext uri="{FF2B5EF4-FFF2-40B4-BE49-F238E27FC236}">
                <a16:creationId xmlns:a16="http://schemas.microsoft.com/office/drawing/2014/main" id="{CEFA89CF-916B-4108-9529-CE8B895436F5}"/>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68770266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D218153-E68F-4442-824A-844A7D495AA3}"/>
              </a:ext>
            </a:extLst>
          </p:cNvPr>
          <p:cNvSpPr>
            <a:spLocks noGrp="1"/>
          </p:cNvSpPr>
          <p:nvPr>
            <p:ph type="dt" sz="half" idx="10"/>
          </p:nvPr>
        </p:nvSpPr>
        <p:spPr/>
        <p:txBody>
          <a:bodyPr/>
          <a:lstStyle/>
          <a:p>
            <a:r>
              <a:rPr lang="en-US"/>
              <a:t>3/1/2022</a:t>
            </a:r>
            <a:endParaRPr lang="en-US" dirty="0"/>
          </a:p>
        </p:txBody>
      </p:sp>
      <p:sp>
        <p:nvSpPr>
          <p:cNvPr id="3" name="Footer Placeholder 2">
            <a:extLst>
              <a:ext uri="{FF2B5EF4-FFF2-40B4-BE49-F238E27FC236}">
                <a16:creationId xmlns:a16="http://schemas.microsoft.com/office/drawing/2014/main" id="{03F8DE74-6A59-4828-A8A1-BCE6E8201FF0}"/>
              </a:ext>
            </a:extLst>
          </p:cNvPr>
          <p:cNvSpPr>
            <a:spLocks noGrp="1"/>
          </p:cNvSpPr>
          <p:nvPr>
            <p:ph type="ftr" sz="quarter" idx="11"/>
          </p:nvPr>
        </p:nvSpPr>
        <p:spPr/>
        <p:txBody>
          <a:bodyPr/>
          <a:lstStyle/>
          <a:p>
            <a:r>
              <a:rPr lang="en-US"/>
              <a:t>CPF 2023-2027. Public Version. Maputo, May 2022.</a:t>
            </a:r>
            <a:endParaRPr lang="en-US" dirty="0"/>
          </a:p>
        </p:txBody>
      </p:sp>
      <p:sp>
        <p:nvSpPr>
          <p:cNvPr id="4" name="Slide Number Placeholder 3">
            <a:extLst>
              <a:ext uri="{FF2B5EF4-FFF2-40B4-BE49-F238E27FC236}">
                <a16:creationId xmlns:a16="http://schemas.microsoft.com/office/drawing/2014/main" id="{B5D5FB75-E157-4016-BB05-C4EA32485B45}"/>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4133135752"/>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2A399-BC8D-4019-ADD6-FABA8E1DB50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BD1820-8456-48C2-89AE-2E5C2597A5D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5E4EECB-192E-4E2F-BF38-CF293360E8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DDBDF5D-D784-48F1-81D7-0C79EF1FCD50}"/>
              </a:ext>
            </a:extLst>
          </p:cNvPr>
          <p:cNvSpPr>
            <a:spLocks noGrp="1"/>
          </p:cNvSpPr>
          <p:nvPr>
            <p:ph type="dt" sz="half" idx="10"/>
          </p:nvPr>
        </p:nvSpPr>
        <p:spPr/>
        <p:txBody>
          <a:bodyPr/>
          <a:lstStyle/>
          <a:p>
            <a:r>
              <a:rPr lang="en-US"/>
              <a:t>3/1/2022</a:t>
            </a:r>
            <a:endParaRPr lang="en-US" dirty="0"/>
          </a:p>
        </p:txBody>
      </p:sp>
      <p:sp>
        <p:nvSpPr>
          <p:cNvPr id="6" name="Footer Placeholder 5">
            <a:extLst>
              <a:ext uri="{FF2B5EF4-FFF2-40B4-BE49-F238E27FC236}">
                <a16:creationId xmlns:a16="http://schemas.microsoft.com/office/drawing/2014/main" id="{F2EDED05-F5A3-4456-AAE2-C3FC42BF1B84}"/>
              </a:ext>
            </a:extLst>
          </p:cNvPr>
          <p:cNvSpPr>
            <a:spLocks noGrp="1"/>
          </p:cNvSpPr>
          <p:nvPr>
            <p:ph type="ftr" sz="quarter" idx="11"/>
          </p:nvPr>
        </p:nvSpPr>
        <p:spPr/>
        <p:txBody>
          <a:bodyPr/>
          <a:lstStyle/>
          <a:p>
            <a:r>
              <a:rPr lang="en-US"/>
              <a:t>CPF 2023-2027. Public Version. Maputo, May 2022.</a:t>
            </a:r>
            <a:endParaRPr lang="en-US" dirty="0"/>
          </a:p>
        </p:txBody>
      </p:sp>
      <p:sp>
        <p:nvSpPr>
          <p:cNvPr id="7" name="Slide Number Placeholder 6">
            <a:extLst>
              <a:ext uri="{FF2B5EF4-FFF2-40B4-BE49-F238E27FC236}">
                <a16:creationId xmlns:a16="http://schemas.microsoft.com/office/drawing/2014/main" id="{BD739283-FA12-4D86-B3B8-162D2AD6EE1C}"/>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3297643938"/>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14276-E124-4822-AE88-D4627D1FF09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908839D-E988-4BD9-8192-034C390DB79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BB006194-79AA-47B5-B06A-1D26087D97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FA16CA-0CE4-4B33-9522-59AE6B24FD4C}"/>
              </a:ext>
            </a:extLst>
          </p:cNvPr>
          <p:cNvSpPr>
            <a:spLocks noGrp="1"/>
          </p:cNvSpPr>
          <p:nvPr>
            <p:ph type="dt" sz="half" idx="10"/>
          </p:nvPr>
        </p:nvSpPr>
        <p:spPr/>
        <p:txBody>
          <a:bodyPr/>
          <a:lstStyle/>
          <a:p>
            <a:r>
              <a:rPr lang="en-US"/>
              <a:t>3/1/2022</a:t>
            </a:r>
            <a:endParaRPr lang="en-US" dirty="0"/>
          </a:p>
        </p:txBody>
      </p:sp>
      <p:sp>
        <p:nvSpPr>
          <p:cNvPr id="6" name="Footer Placeholder 5">
            <a:extLst>
              <a:ext uri="{FF2B5EF4-FFF2-40B4-BE49-F238E27FC236}">
                <a16:creationId xmlns:a16="http://schemas.microsoft.com/office/drawing/2014/main" id="{057DB9C9-06CA-4D74-A969-385FA95945E0}"/>
              </a:ext>
            </a:extLst>
          </p:cNvPr>
          <p:cNvSpPr>
            <a:spLocks noGrp="1"/>
          </p:cNvSpPr>
          <p:nvPr>
            <p:ph type="ftr" sz="quarter" idx="11"/>
          </p:nvPr>
        </p:nvSpPr>
        <p:spPr/>
        <p:txBody>
          <a:bodyPr/>
          <a:lstStyle/>
          <a:p>
            <a:r>
              <a:rPr lang="en-US"/>
              <a:t>CPF 2023-2027. Public Version. Maputo, May 2022.</a:t>
            </a:r>
            <a:endParaRPr lang="en-US" dirty="0"/>
          </a:p>
        </p:txBody>
      </p:sp>
      <p:sp>
        <p:nvSpPr>
          <p:cNvPr id="7" name="Slide Number Placeholder 6">
            <a:extLst>
              <a:ext uri="{FF2B5EF4-FFF2-40B4-BE49-F238E27FC236}">
                <a16:creationId xmlns:a16="http://schemas.microsoft.com/office/drawing/2014/main" id="{674B40EA-325A-4083-BC00-E020C278AFB4}"/>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2318989364"/>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EEE8B-52C8-4D0E-9B59-100CC319455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AFB71DF-8F2E-41E0-90D8-F0867FCE591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336933-965A-42BF-BC5E-F5270FB08831}"/>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D213B8D8-22A8-44DA-8D39-16D2B387B4FE}"/>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3FF45202-30E5-4A59-9E8B-E9D32D0495AE}"/>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777895961"/>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A64F7B4-623F-4251-A5D4-87BCB8B300B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D21CC42-BF23-435E-A17B-32B1994D038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80AC62-88AB-4CA1-9BF0-D64BDEF499A4}"/>
              </a:ext>
            </a:extLst>
          </p:cNvPr>
          <p:cNvSpPr>
            <a:spLocks noGrp="1"/>
          </p:cNvSpPr>
          <p:nvPr>
            <p:ph type="dt" sz="half" idx="10"/>
          </p:nvPr>
        </p:nvSpPr>
        <p:spPr/>
        <p:txBody>
          <a:bodyPr/>
          <a:lstStyle/>
          <a:p>
            <a:r>
              <a:rPr lang="en-US"/>
              <a:t>3/1/2022</a:t>
            </a:r>
            <a:endParaRPr lang="en-US" dirty="0"/>
          </a:p>
        </p:txBody>
      </p:sp>
      <p:sp>
        <p:nvSpPr>
          <p:cNvPr id="5" name="Footer Placeholder 4">
            <a:extLst>
              <a:ext uri="{FF2B5EF4-FFF2-40B4-BE49-F238E27FC236}">
                <a16:creationId xmlns:a16="http://schemas.microsoft.com/office/drawing/2014/main" id="{ED5A17B2-9369-455E-AE27-CABD90682E99}"/>
              </a:ext>
            </a:extLst>
          </p:cNvPr>
          <p:cNvSpPr>
            <a:spLocks noGrp="1"/>
          </p:cNvSpPr>
          <p:nvPr>
            <p:ph type="ftr" sz="quarter" idx="11"/>
          </p:nvPr>
        </p:nvSpPr>
        <p:spPr/>
        <p:txBody>
          <a:body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301464D7-E0B8-4E56-A956-7D67DF7B9E01}"/>
              </a:ext>
            </a:extLst>
          </p:cNvPr>
          <p:cNvSpPr>
            <a:spLocks noGrp="1"/>
          </p:cNvSpPr>
          <p:nvPr>
            <p:ph type="sldNum" sz="quarter" idx="12"/>
          </p:nvPr>
        </p:nvSpPr>
        <p:spPr/>
        <p:txBody>
          <a:bodyPr/>
          <a:lstStyle/>
          <a:p>
            <a:fld id="{B8473C9A-9E91-4025-B5E2-D7B202510636}" type="slidenum">
              <a:rPr lang="en-US" smtClean="0"/>
              <a:t>‹#›</a:t>
            </a:fld>
            <a:endParaRPr lang="en-US" dirty="0"/>
          </a:p>
        </p:txBody>
      </p:sp>
    </p:spTree>
    <p:extLst>
      <p:ext uri="{BB962C8B-B14F-4D97-AF65-F5344CB8AC3E}">
        <p14:creationId xmlns:p14="http://schemas.microsoft.com/office/powerpoint/2010/main" val="2753450378"/>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DB8478B-5CB2-4010-9BAD-DDE1B57B6D4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1844C9-7239-4961-887C-AC146B867F6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F53078-3A3C-4896-826A-FFAB7387376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3/1/2022</a:t>
            </a:r>
            <a:endParaRPr lang="en-US" dirty="0"/>
          </a:p>
        </p:txBody>
      </p:sp>
      <p:sp>
        <p:nvSpPr>
          <p:cNvPr id="5" name="Footer Placeholder 4">
            <a:extLst>
              <a:ext uri="{FF2B5EF4-FFF2-40B4-BE49-F238E27FC236}">
                <a16:creationId xmlns:a16="http://schemas.microsoft.com/office/drawing/2014/main" id="{4D59D87B-A001-4556-86DF-10D2F25F200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CPF 2023-2027. Public Version. Maputo, May 2022.</a:t>
            </a:r>
            <a:endParaRPr lang="en-US" dirty="0"/>
          </a:p>
        </p:txBody>
      </p:sp>
      <p:sp>
        <p:nvSpPr>
          <p:cNvPr id="6" name="Slide Number Placeholder 5">
            <a:extLst>
              <a:ext uri="{FF2B5EF4-FFF2-40B4-BE49-F238E27FC236}">
                <a16:creationId xmlns:a16="http://schemas.microsoft.com/office/drawing/2014/main" id="{1634FC28-C244-49C3-A074-6C1DE31C99A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473C9A-9E91-4025-B5E2-D7B202510636}" type="slidenum">
              <a:rPr lang="en-US" smtClean="0"/>
              <a:t>‹#›</a:t>
            </a:fld>
            <a:endParaRPr lang="en-US" dirty="0"/>
          </a:p>
        </p:txBody>
      </p:sp>
    </p:spTree>
    <p:extLst>
      <p:ext uri="{BB962C8B-B14F-4D97-AF65-F5344CB8AC3E}">
        <p14:creationId xmlns:p14="http://schemas.microsoft.com/office/powerpoint/2010/main" val="12715432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hf hdr="0" dt="0"/>
  <p:txStyles>
    <p:titleStyle>
      <a:lvl1pPr algn="l" defTabSz="914400" rtl="0" eaLnBrk="1" latinLnBrk="0" hangingPunct="1">
        <a:lnSpc>
          <a:spcPct val="90000"/>
        </a:lnSpc>
        <a:spcBef>
          <a:spcPct val="0"/>
        </a:spcBef>
        <a:buNone/>
        <a:defRPr sz="2400" kern="1200">
          <a:solidFill>
            <a:schemeClr val="accent1">
              <a:lumMod val="75000"/>
            </a:schemeClr>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3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chart" Target="../charts/chart6.xml"/><Relationship Id="rId5" Type="http://schemas.openxmlformats.org/officeDocument/2006/relationships/chart" Target="../charts/chart5.xml"/><Relationship Id="rId4" Type="http://schemas.openxmlformats.org/officeDocument/2006/relationships/chart" Target="../charts/chart4.xml"/></Relationships>
</file>

<file path=ppt/slides/_rels/slide7.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chart" Target="../charts/chart9.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chart" Target="../charts/chart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slideLayout" Target="../slideLayouts/slideLayout2.xml"/><Relationship Id="rId1" Type="http://schemas.openxmlformats.org/officeDocument/2006/relationships/themeOverride" Target="../theme/themeOverride3.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D45F1-E8F8-426E-8AF3-E6EF0913E3A5}"/>
              </a:ext>
            </a:extLst>
          </p:cNvPr>
          <p:cNvSpPr>
            <a:spLocks noGrp="1"/>
          </p:cNvSpPr>
          <p:nvPr>
            <p:ph type="ctrTitle"/>
          </p:nvPr>
        </p:nvSpPr>
        <p:spPr>
          <a:xfrm>
            <a:off x="1933672" y="2558409"/>
            <a:ext cx="8969172" cy="2876985"/>
          </a:xfrm>
        </p:spPr>
        <p:txBody>
          <a:bodyPr anchor="ctr">
            <a:noAutofit/>
          </a:bodyPr>
          <a:lstStyle/>
          <a:p>
            <a:r>
              <a:rPr lang="en-US" sz="3600" b="1" dirty="0">
                <a:latin typeface="Times New Roman" panose="02020603050405020304" pitchFamily="18" charset="0"/>
                <a:cs typeface="Times New Roman" panose="02020603050405020304" pitchFamily="18" charset="0"/>
              </a:rPr>
              <a:t>Groupe de la Banque mondiale (GBM) Mozambique : Cadre de partenariat-pays (CPF) 2023-2027 Résumé de la note de cadrage Version publique  Maputo, mai 2022</a:t>
            </a:r>
          </a:p>
        </p:txBody>
      </p:sp>
      <p:pic>
        <p:nvPicPr>
          <p:cNvPr id="4" name="Picture 3">
            <a:extLst>
              <a:ext uri="{FF2B5EF4-FFF2-40B4-BE49-F238E27FC236}">
                <a16:creationId xmlns:a16="http://schemas.microsoft.com/office/drawing/2014/main" id="{2E96012B-60E5-41DF-BE81-115A7F0F5D0E}"/>
              </a:ext>
            </a:extLst>
          </p:cNvPr>
          <p:cNvPicPr>
            <a:picLocks noChangeAspect="1"/>
          </p:cNvPicPr>
          <p:nvPr/>
        </p:nvPicPr>
        <p:blipFill>
          <a:blip r:embed="rId2"/>
          <a:stretch>
            <a:fillRect/>
          </a:stretch>
        </p:blipFill>
        <p:spPr>
          <a:xfrm>
            <a:off x="827106" y="1944052"/>
            <a:ext cx="1352550" cy="1114425"/>
          </a:xfrm>
          <a:prstGeom prst="rect">
            <a:avLst/>
          </a:prstGeom>
        </p:spPr>
      </p:pic>
      <p:pic>
        <p:nvPicPr>
          <p:cNvPr id="6" name="Picture 5">
            <a:extLst>
              <a:ext uri="{FF2B5EF4-FFF2-40B4-BE49-F238E27FC236}">
                <a16:creationId xmlns:a16="http://schemas.microsoft.com/office/drawing/2014/main" id="{303B5CDB-EA56-4525-A8DA-73F7F88B8A77}"/>
              </a:ext>
            </a:extLst>
          </p:cNvPr>
          <p:cNvPicPr>
            <a:picLocks noChangeAspect="1"/>
          </p:cNvPicPr>
          <p:nvPr/>
        </p:nvPicPr>
        <p:blipFill>
          <a:blip r:embed="rId3"/>
          <a:stretch>
            <a:fillRect/>
          </a:stretch>
        </p:blipFill>
        <p:spPr>
          <a:xfrm>
            <a:off x="712806" y="3406352"/>
            <a:ext cx="1466850" cy="1181100"/>
          </a:xfrm>
          <a:prstGeom prst="rect">
            <a:avLst/>
          </a:prstGeom>
        </p:spPr>
      </p:pic>
      <p:pic>
        <p:nvPicPr>
          <p:cNvPr id="9" name="Picture 8">
            <a:extLst>
              <a:ext uri="{FF2B5EF4-FFF2-40B4-BE49-F238E27FC236}">
                <a16:creationId xmlns:a16="http://schemas.microsoft.com/office/drawing/2014/main" id="{7A855204-D46C-4DCB-85FD-454B26A9C91E}"/>
              </a:ext>
            </a:extLst>
          </p:cNvPr>
          <p:cNvPicPr>
            <a:picLocks noChangeAspect="1"/>
          </p:cNvPicPr>
          <p:nvPr/>
        </p:nvPicPr>
        <p:blipFill>
          <a:blip r:embed="rId4"/>
          <a:stretch>
            <a:fillRect/>
          </a:stretch>
        </p:blipFill>
        <p:spPr>
          <a:xfrm>
            <a:off x="808345" y="4587452"/>
            <a:ext cx="1257300" cy="1400175"/>
          </a:xfrm>
          <a:prstGeom prst="rect">
            <a:avLst/>
          </a:prstGeom>
        </p:spPr>
      </p:pic>
      <p:pic>
        <p:nvPicPr>
          <p:cNvPr id="11" name="Picture 10">
            <a:extLst>
              <a:ext uri="{FF2B5EF4-FFF2-40B4-BE49-F238E27FC236}">
                <a16:creationId xmlns:a16="http://schemas.microsoft.com/office/drawing/2014/main" id="{AEC0D9E3-C5B8-4B1E-8087-056D82A4FC9C}"/>
              </a:ext>
            </a:extLst>
          </p:cNvPr>
          <p:cNvPicPr>
            <a:picLocks noChangeAspect="1"/>
          </p:cNvPicPr>
          <p:nvPr/>
        </p:nvPicPr>
        <p:blipFill>
          <a:blip r:embed="rId5"/>
          <a:stretch>
            <a:fillRect/>
          </a:stretch>
        </p:blipFill>
        <p:spPr>
          <a:xfrm>
            <a:off x="827106" y="710732"/>
            <a:ext cx="1200150" cy="1133475"/>
          </a:xfrm>
          <a:prstGeom prst="rect">
            <a:avLst/>
          </a:prstGeom>
        </p:spPr>
      </p:pic>
    </p:spTree>
    <p:extLst>
      <p:ext uri="{BB962C8B-B14F-4D97-AF65-F5344CB8AC3E}">
        <p14:creationId xmlns:p14="http://schemas.microsoft.com/office/powerpoint/2010/main" val="3156487675"/>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90289-7D55-41E3-8ECB-E9F924A19E96}"/>
              </a:ext>
            </a:extLst>
          </p:cNvPr>
          <p:cNvSpPr>
            <a:spLocks noGrp="1"/>
          </p:cNvSpPr>
          <p:nvPr>
            <p:ph type="title"/>
          </p:nvPr>
        </p:nvSpPr>
        <p:spPr/>
        <p:txBody>
          <a:bodyPr>
            <a:normAutofit/>
          </a:bodyPr>
          <a:lstStyle/>
          <a:p>
            <a:r>
              <a:rPr lang="en-US" dirty="0"/>
              <a:t>Introduction : qu'est-ce que le CPF, pourquoi les consultations et quelles sont les attentes</a:t>
            </a:r>
          </a:p>
        </p:txBody>
      </p:sp>
      <p:sp>
        <p:nvSpPr>
          <p:cNvPr id="3" name="Content Placeholder 2">
            <a:extLst>
              <a:ext uri="{FF2B5EF4-FFF2-40B4-BE49-F238E27FC236}">
                <a16:creationId xmlns:a16="http://schemas.microsoft.com/office/drawing/2014/main" id="{D9688905-696E-4501-8134-4A2E66E94513}"/>
              </a:ext>
            </a:extLst>
          </p:cNvPr>
          <p:cNvSpPr>
            <a:spLocks noGrp="1"/>
          </p:cNvSpPr>
          <p:nvPr>
            <p:ph idx="1"/>
          </p:nvPr>
        </p:nvSpPr>
        <p:spPr>
          <a:xfrm>
            <a:off x="838200" y="1549101"/>
            <a:ext cx="10515600" cy="4627862"/>
          </a:xfrm>
        </p:spPr>
        <p:txBody>
          <a:bodyPr>
            <a:normAutofit/>
          </a:bodyPr>
          <a:lstStyle/>
          <a:p>
            <a:r>
              <a:rPr lang="en-US" dirty="0"/>
              <a:t>Le Cadre de partenariat-pays (CPF) pour le Mozambique est l'instrument directeur du soutien apporté par le Groupe de la Banque mondiale (GBM), y compris l'IFC et la MIGA, au Mozambique dans la poursuite de ses objectifs de développement.</a:t>
            </a:r>
          </a:p>
          <a:p>
            <a:r>
              <a:rPr lang="en-US" dirty="0"/>
              <a:t>Le CPF définit les objectifs et les résultats attendus du partenariat entre le GBM et le gouvernement du Mozambique sur une période donnée (4 à 5 ans).</a:t>
            </a:r>
          </a:p>
          <a:p>
            <a:r>
              <a:rPr lang="en-US" dirty="0"/>
              <a:t>Le CPF repose sur les éléments suivants : (i) les priorités définies par les plans de développement du pays (PQG, ENDE, etc.) ; (ii) un Diagnostic-pays systématique (SCD) de la Banque mondiale, ainsi que d'autres analyses et connaissances produites ; (iii) les enseignements tirés de la mise en œuvre des stratégies antérieures (CLR) et les avantages comparatifs de la Banque mondiale.</a:t>
            </a:r>
          </a:p>
          <a:p>
            <a:r>
              <a:rPr lang="en-US" dirty="0"/>
              <a:t>Le travail du GBM est axé sur l'élimination de l'extrême pauvreté et la réduction des inégalités.</a:t>
            </a:r>
          </a:p>
          <a:p>
            <a:r>
              <a:rPr lang="en-US" dirty="0"/>
              <a:t>Le GBM élabore actuellement un CPF actualisé couvrant la période des exercices budgétaires 23-27. </a:t>
            </a:r>
          </a:p>
          <a:p>
            <a:r>
              <a:rPr lang="en-US" dirty="0"/>
              <a:t>Le nouveau CPF expose les aspirations et objectifs préliminaires du partenariat avec le Mozambique pour les cinq prochaines années. </a:t>
            </a:r>
          </a:p>
          <a:p>
            <a:r>
              <a:rPr lang="en-US" dirty="0"/>
              <a:t>Le présent document présente un résumé de la note de cadrage du CPF afin de recueillir des contributions sur les questions suivantes :</a:t>
            </a:r>
          </a:p>
          <a:p>
            <a:r>
              <a:rPr lang="en-US" dirty="0"/>
              <a:t>Approfondir la discussion sur chaque pilier de la stratégie et ses objectifs.</a:t>
            </a:r>
          </a:p>
          <a:p>
            <a:r>
              <a:rPr lang="en-US" dirty="0"/>
              <a:t>Définition des priorités et des instruments (y compris le financement), en tenant compte du contexte et des défis spécifiques de développement.</a:t>
            </a:r>
          </a:p>
          <a:p>
            <a:r>
              <a:rPr lang="en-US" dirty="0"/>
              <a:t>Définition des mécanismes de suivi du CPF (indicateurs)</a:t>
            </a:r>
          </a:p>
        </p:txBody>
      </p:sp>
      <p:sp>
        <p:nvSpPr>
          <p:cNvPr id="4" name="Footer Placeholder 3">
            <a:extLst>
              <a:ext uri="{FF2B5EF4-FFF2-40B4-BE49-F238E27FC236}">
                <a16:creationId xmlns:a16="http://schemas.microsoft.com/office/drawing/2014/main" id="{478EA24B-3077-4E29-A782-8ABABF70C5CF}"/>
              </a:ext>
            </a:extLst>
          </p:cNvPr>
          <p:cNvSpPr>
            <a:spLocks noGrp="1"/>
          </p:cNvSpPr>
          <p:nvPr>
            <p:ph type="ftr" sz="quarter" idx="11"/>
          </p:nvPr>
        </p:nvSpPr>
        <p:spPr/>
        <p:txBody>
          <a:bodyPr/>
          <a:lstStyle/>
          <a:p>
            <a:r>
              <a:rPr lang="en-US"/>
              <a:t>CPF 2023-2027. Version publique. Maputo, mai 2022.</a:t>
            </a:r>
          </a:p>
        </p:txBody>
      </p:sp>
      <p:sp>
        <p:nvSpPr>
          <p:cNvPr id="5" name="Slide Number Placeholder 4">
            <a:extLst>
              <a:ext uri="{FF2B5EF4-FFF2-40B4-BE49-F238E27FC236}">
                <a16:creationId xmlns:a16="http://schemas.microsoft.com/office/drawing/2014/main" id="{789BF642-FDE3-42E2-AB0F-94576DDD9EF4}"/>
              </a:ext>
            </a:extLst>
          </p:cNvPr>
          <p:cNvSpPr>
            <a:spLocks noGrp="1"/>
          </p:cNvSpPr>
          <p:nvPr>
            <p:ph type="sldNum" sz="quarter" idx="12"/>
          </p:nvPr>
        </p:nvSpPr>
        <p:spPr/>
        <p:txBody>
          <a:bodyPr/>
          <a:lstStyle/>
          <a:p>
            <a:fld id="{B8473C9A-9E91-4025-B5E2-D7B202510636}" type="slidenum">
              <a:rPr lang="en-US" smtClean="0"/>
              <a:t>2</a:t>
            </a:fld>
            <a:endParaRPr lang="en-US" dirty="0"/>
          </a:p>
        </p:txBody>
      </p:sp>
    </p:spTree>
    <p:extLst>
      <p:ext uri="{BB962C8B-B14F-4D97-AF65-F5344CB8AC3E}">
        <p14:creationId xmlns:p14="http://schemas.microsoft.com/office/powerpoint/2010/main" val="216634312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8BF6E-3F48-4133-BFA3-5A80DFDCB4E2}"/>
              </a:ext>
            </a:extLst>
          </p:cNvPr>
          <p:cNvSpPr>
            <a:spLocks noGrp="1"/>
          </p:cNvSpPr>
          <p:nvPr>
            <p:ph type="title"/>
          </p:nvPr>
        </p:nvSpPr>
        <p:spPr>
          <a:xfrm>
            <a:off x="763623" y="527128"/>
            <a:ext cx="10515600" cy="1325563"/>
          </a:xfrm>
        </p:spPr>
        <p:txBody>
          <a:bodyPr>
            <a:noAutofit/>
          </a:bodyPr>
          <a:lstStyle/>
          <a:p>
            <a:r>
              <a:rPr lang="en-US" sz="4000" dirty="0"/>
              <a:t>Structure de la présentation
</a:t>
            </a:r>
          </a:p>
          <a:p>
            <a:r>
              <a:rPr lang="en-US" sz="4000" dirty="0"/>
              <a:t/>
            </a:r>
          </a:p>
        </p:txBody>
      </p:sp>
      <p:sp>
        <p:nvSpPr>
          <p:cNvPr id="3" name="Content Placeholder 2">
            <a:extLst>
              <a:ext uri="{FF2B5EF4-FFF2-40B4-BE49-F238E27FC236}">
                <a16:creationId xmlns:a16="http://schemas.microsoft.com/office/drawing/2014/main" id="{A71C13BF-78D7-4831-B2B9-0342F47476B7}"/>
              </a:ext>
            </a:extLst>
          </p:cNvPr>
          <p:cNvSpPr>
            <a:spLocks noGrp="1"/>
          </p:cNvSpPr>
          <p:nvPr>
            <p:ph idx="1"/>
          </p:nvPr>
        </p:nvSpPr>
        <p:spPr>
          <a:xfrm>
            <a:off x="342731" y="2187277"/>
            <a:ext cx="11357385" cy="4648256"/>
          </a:xfrm>
        </p:spPr>
        <p:txBody>
          <a:bodyPr>
            <a:noAutofit/>
          </a:bodyPr>
          <a:lstStyle/>
          <a:p>
            <a:r>
              <a:rPr lang="en-US" sz="3200" b="1" dirty="0"/>
              <a:t>Vision du Groupe de la Banque mondiale sur les principaux défis stratégiques du pays   
</a:t>
            </a:r>
          </a:p>
          <a:p>
            <a:r>
              <a:rPr lang="en-US" sz="3200" b="1" dirty="0"/>
              <a:t>Principaux enseignements du CPF précédent (2017-2021)
</a:t>
            </a:r>
          </a:p>
          <a:p>
            <a:r>
              <a:rPr lang="en-US" sz="3200" b="1" dirty="0"/>
              <a:t>Proposition initiale pour le CPF 2023-2027</a:t>
            </a:r>
          </a:p>
        </p:txBody>
      </p:sp>
      <p:sp>
        <p:nvSpPr>
          <p:cNvPr id="7" name="Footer Placeholder 6">
            <a:extLst>
              <a:ext uri="{FF2B5EF4-FFF2-40B4-BE49-F238E27FC236}">
                <a16:creationId xmlns:a16="http://schemas.microsoft.com/office/drawing/2014/main" id="{5A8D5BC3-36C6-44D5-8F65-39323B859A56}"/>
              </a:ext>
            </a:extLst>
          </p:cNvPr>
          <p:cNvSpPr>
            <a:spLocks noGrp="1"/>
          </p:cNvSpPr>
          <p:nvPr>
            <p:ph type="ftr" sz="quarter" idx="11"/>
          </p:nvPr>
        </p:nvSpPr>
        <p:spPr/>
        <p:txBody>
          <a:bodyPr/>
          <a:lstStyle/>
          <a:p>
            <a:r>
              <a:rPr lang="en-US"/>
              <a:t>CPF 2023-2027. Version publique. Maputo, mai 2022.</a:t>
            </a:r>
          </a:p>
        </p:txBody>
      </p:sp>
      <p:sp>
        <p:nvSpPr>
          <p:cNvPr id="8" name="Slide Number Placeholder 7">
            <a:extLst>
              <a:ext uri="{FF2B5EF4-FFF2-40B4-BE49-F238E27FC236}">
                <a16:creationId xmlns:a16="http://schemas.microsoft.com/office/drawing/2014/main" id="{71478635-062B-4B7C-8ED3-5DABD8F8816D}"/>
              </a:ext>
            </a:extLst>
          </p:cNvPr>
          <p:cNvSpPr>
            <a:spLocks noGrp="1"/>
          </p:cNvSpPr>
          <p:nvPr>
            <p:ph type="sldNum" sz="quarter" idx="12"/>
          </p:nvPr>
        </p:nvSpPr>
        <p:spPr/>
        <p:txBody>
          <a:bodyPr/>
          <a:lstStyle/>
          <a:p>
            <a:fld id="{B8473C9A-9E91-4025-B5E2-D7B202510636}" type="slidenum">
              <a:rPr lang="en-US" smtClean="0"/>
              <a:t>3</a:t>
            </a:fld>
            <a:endParaRPr lang="en-US" dirty="0"/>
          </a:p>
        </p:txBody>
      </p:sp>
      <p:pic>
        <p:nvPicPr>
          <p:cNvPr id="4" name="Picture 3">
            <a:extLst>
              <a:ext uri="{FF2B5EF4-FFF2-40B4-BE49-F238E27FC236}">
                <a16:creationId xmlns:a16="http://schemas.microsoft.com/office/drawing/2014/main" id="{BD132FF2-B2A1-4911-8DA1-958860068B65}"/>
              </a:ext>
            </a:extLst>
          </p:cNvPr>
          <p:cNvPicPr>
            <a:picLocks noChangeAspect="1"/>
          </p:cNvPicPr>
          <p:nvPr/>
        </p:nvPicPr>
        <p:blipFill>
          <a:blip r:embed="rId2"/>
          <a:stretch>
            <a:fillRect/>
          </a:stretch>
        </p:blipFill>
        <p:spPr>
          <a:xfrm>
            <a:off x="342731" y="365570"/>
            <a:ext cx="2809141" cy="559716"/>
          </a:xfrm>
          <a:prstGeom prst="rect">
            <a:avLst/>
          </a:prstGeom>
        </p:spPr>
      </p:pic>
    </p:spTree>
    <p:extLst>
      <p:ext uri="{BB962C8B-B14F-4D97-AF65-F5344CB8AC3E}">
        <p14:creationId xmlns:p14="http://schemas.microsoft.com/office/powerpoint/2010/main" val="927229812"/>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8BF6E-3F48-4133-BFA3-5A80DFDCB4E2}"/>
              </a:ext>
            </a:extLst>
          </p:cNvPr>
          <p:cNvSpPr>
            <a:spLocks noGrp="1"/>
          </p:cNvSpPr>
          <p:nvPr>
            <p:ph type="title"/>
          </p:nvPr>
        </p:nvSpPr>
        <p:spPr>
          <a:xfrm>
            <a:off x="838200" y="747656"/>
            <a:ext cx="10515600" cy="1325563"/>
          </a:xfrm>
        </p:spPr>
        <p:txBody>
          <a:bodyPr>
            <a:noAutofit/>
          </a:bodyPr>
          <a:lstStyle/>
          <a:p>
            <a:r>
              <a:rPr lang="en-US" sz="4000" dirty="0"/>
              <a:t>Structure de la présentation
</a:t>
            </a:r>
          </a:p>
          <a:p>
            <a:r>
              <a:rPr lang="en-US" sz="4000" dirty="0"/>
              <a:t/>
            </a:r>
          </a:p>
        </p:txBody>
      </p:sp>
      <p:sp>
        <p:nvSpPr>
          <p:cNvPr id="3" name="Content Placeholder 2">
            <a:extLst>
              <a:ext uri="{FF2B5EF4-FFF2-40B4-BE49-F238E27FC236}">
                <a16:creationId xmlns:a16="http://schemas.microsoft.com/office/drawing/2014/main" id="{A71C13BF-78D7-4831-B2B9-0342F47476B7}"/>
              </a:ext>
            </a:extLst>
          </p:cNvPr>
          <p:cNvSpPr>
            <a:spLocks noGrp="1"/>
          </p:cNvSpPr>
          <p:nvPr>
            <p:ph idx="1"/>
          </p:nvPr>
        </p:nvSpPr>
        <p:spPr>
          <a:xfrm>
            <a:off x="417307" y="2073219"/>
            <a:ext cx="11357385" cy="4648256"/>
          </a:xfrm>
        </p:spPr>
        <p:txBody>
          <a:bodyPr>
            <a:noAutofit/>
          </a:bodyPr>
          <a:lstStyle/>
          <a:p>
            <a:r>
              <a:rPr lang="en-US" sz="3200" b="1" dirty="0"/>
              <a:t>Vision du Groupe de la Banque mondiale sur les principaux défis stratégiques du pays   
</a:t>
            </a:r>
          </a:p>
          <a:p>
            <a:r>
              <a:rPr lang="en-US" sz="3200" b="1" dirty="0"/>
              <a:t>Principaux enseignements du CPF précédent (2017-2021) 
</a:t>
            </a:r>
          </a:p>
          <a:p>
            <a:r>
              <a:rPr lang="en-US" sz="3200" b="1" dirty="0"/>
              <a:t>Proposition initiale pour le CPF 2023-2027</a:t>
            </a:r>
          </a:p>
        </p:txBody>
      </p:sp>
      <p:sp>
        <p:nvSpPr>
          <p:cNvPr id="7" name="Footer Placeholder 6">
            <a:extLst>
              <a:ext uri="{FF2B5EF4-FFF2-40B4-BE49-F238E27FC236}">
                <a16:creationId xmlns:a16="http://schemas.microsoft.com/office/drawing/2014/main" id="{5EDF98AD-ADCD-4758-AAE6-443CAF4DC2F9}"/>
              </a:ext>
            </a:extLst>
          </p:cNvPr>
          <p:cNvSpPr>
            <a:spLocks noGrp="1"/>
          </p:cNvSpPr>
          <p:nvPr>
            <p:ph type="ftr" sz="quarter" idx="11"/>
          </p:nvPr>
        </p:nvSpPr>
        <p:spPr/>
        <p:txBody>
          <a:bodyPr/>
          <a:lstStyle/>
          <a:p>
            <a:r>
              <a:rPr lang="en-US"/>
              <a:t>CPF 2023-2027. Version publique. Maputo, mai 2022.</a:t>
            </a:r>
          </a:p>
        </p:txBody>
      </p:sp>
      <p:sp>
        <p:nvSpPr>
          <p:cNvPr id="8" name="Slide Number Placeholder 7">
            <a:extLst>
              <a:ext uri="{FF2B5EF4-FFF2-40B4-BE49-F238E27FC236}">
                <a16:creationId xmlns:a16="http://schemas.microsoft.com/office/drawing/2014/main" id="{382C3AA1-90AF-49C0-92C0-FFB37AB72625}"/>
              </a:ext>
            </a:extLst>
          </p:cNvPr>
          <p:cNvSpPr>
            <a:spLocks noGrp="1"/>
          </p:cNvSpPr>
          <p:nvPr>
            <p:ph type="sldNum" sz="quarter" idx="12"/>
          </p:nvPr>
        </p:nvSpPr>
        <p:spPr/>
        <p:txBody>
          <a:bodyPr/>
          <a:lstStyle/>
          <a:p>
            <a:fld id="{B8473C9A-9E91-4025-B5E2-D7B202510636}" type="slidenum">
              <a:rPr lang="en-US" smtClean="0"/>
              <a:t>4</a:t>
            </a:fld>
            <a:endParaRPr lang="en-US" dirty="0"/>
          </a:p>
        </p:txBody>
      </p:sp>
      <p:pic>
        <p:nvPicPr>
          <p:cNvPr id="6" name="Picture 5">
            <a:extLst>
              <a:ext uri="{FF2B5EF4-FFF2-40B4-BE49-F238E27FC236}">
                <a16:creationId xmlns:a16="http://schemas.microsoft.com/office/drawing/2014/main" id="{B50684B2-DFCC-454F-BF34-FF297E1A6047}"/>
              </a:ext>
            </a:extLst>
          </p:cNvPr>
          <p:cNvPicPr>
            <a:picLocks noChangeAspect="1"/>
          </p:cNvPicPr>
          <p:nvPr/>
        </p:nvPicPr>
        <p:blipFill>
          <a:blip r:embed="rId2"/>
          <a:stretch>
            <a:fillRect/>
          </a:stretch>
        </p:blipFill>
        <p:spPr>
          <a:xfrm>
            <a:off x="517218" y="586097"/>
            <a:ext cx="2521846" cy="502473"/>
          </a:xfrm>
          <a:prstGeom prst="rect">
            <a:avLst/>
          </a:prstGeom>
        </p:spPr>
      </p:pic>
    </p:spTree>
    <p:extLst>
      <p:ext uri="{BB962C8B-B14F-4D97-AF65-F5344CB8AC3E}">
        <p14:creationId xmlns:p14="http://schemas.microsoft.com/office/powerpoint/2010/main" val="1828922060"/>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4B562-863E-411E-8C8D-327DA3E88280}"/>
              </a:ext>
            </a:extLst>
          </p:cNvPr>
          <p:cNvSpPr>
            <a:spLocks noGrp="1"/>
          </p:cNvSpPr>
          <p:nvPr>
            <p:ph type="title"/>
          </p:nvPr>
        </p:nvSpPr>
        <p:spPr>
          <a:xfrm>
            <a:off x="2458581" y="149854"/>
            <a:ext cx="11053131" cy="547685"/>
          </a:xfrm>
        </p:spPr>
        <p:txBody>
          <a:bodyPr>
            <a:noAutofit/>
          </a:bodyPr>
          <a:lstStyle/>
          <a:p>
            <a:r>
              <a:rPr lang="pt" sz="2400" b="1" i="0" u="none" strike="noStrike" dirty="0">
                <a:highlight>
                  <a:srgbClr val="000000">
                    <a:alpha val="0"/>
                  </a:srgbClr>
                </a:highlight>
                <a:latin typeface="Arial"/>
              </a:rPr>
              <a:t>Contexte national : défis et opportunités de développement</a:t>
            </a:r>
          </a:p>
        </p:txBody>
      </p:sp>
      <p:sp>
        <p:nvSpPr>
          <p:cNvPr id="7" name="Content Placeholder 6">
            <a:extLst>
              <a:ext uri="{FF2B5EF4-FFF2-40B4-BE49-F238E27FC236}">
                <a16:creationId xmlns:a16="http://schemas.microsoft.com/office/drawing/2014/main" id="{FF5C214D-5EAE-4BCF-B630-4930BE12178E}"/>
              </a:ext>
            </a:extLst>
          </p:cNvPr>
          <p:cNvSpPr>
            <a:spLocks noGrp="1"/>
          </p:cNvSpPr>
          <p:nvPr>
            <p:ph idx="1"/>
          </p:nvPr>
        </p:nvSpPr>
        <p:spPr>
          <a:xfrm>
            <a:off x="154086" y="750686"/>
            <a:ext cx="11594969" cy="5854702"/>
          </a:xfrm>
        </p:spPr>
        <p:txBody>
          <a:bodyPr>
            <a:noAutofit/>
          </a:bodyPr>
          <a:lstStyle/>
          <a:p>
            <a:r>
              <a:rPr lang="en-US" sz="1600" b="1" i="0" u="none" strike="noStrike" dirty="0">
                <a:highlight>
                  <a:srgbClr val="000000">
                    <a:alpha val="0"/>
                  </a:srgbClr>
                </a:highlight>
                <a:latin typeface="Arial"/>
                <a:ea typeface="Calibri"/>
                <a:cs typeface="Times New Roman"/>
              </a:rPr>
              <a:t/>
            </a:r>
          </a:p>
          <a:p>
            <a:r>
              <a:rPr lang="en-US" sz="1600" b="1" i="0" u="none" strike="noStrike" dirty="0">
                <a:highlight>
                  <a:srgbClr val="000000">
                    <a:alpha val="0"/>
                  </a:srgbClr>
                </a:highlight>
                <a:latin typeface="Arial"/>
                <a:ea typeface="Calibri"/>
                <a:cs typeface="Times New Roman"/>
              </a:rPr>
              <a:t>Contexte de développement. Le Mozambique demeure un pays à faible revenu (LIC) malgré ses vastes ressources naturelles et sa situation géographique favorable. La majeure partie de la population vit dans l'extrême pauvreté, les inégalités sont élevées, l'Indice du capital humain figure parmi les plus faibles au monde et les taux de fécondité sont comparativement élevés. </a:t>
            </a:r>
          </a:p>
          <a:p>
            <a:r>
              <a:rPr lang="en-US" sz="1600" b="1" i="0" u="none" strike="noStrike" dirty="0">
                <a:highlight>
                  <a:srgbClr val="000000">
                    <a:alpha val="0"/>
                  </a:srgbClr>
                </a:highlight>
                <a:latin typeface="Arial"/>
                <a:ea typeface="Calibri"/>
                <a:cs typeface="Times New Roman"/>
              </a:rPr>
              <a:t>Ces défis de développement sont aggravés par une fragilité structurelle et une forte exposition aux risques climatiques et sanitaires – dont, plus récemment, deux cyclones majeurs en 2019 et la pandémie de Covid-19.</a:t>
            </a:r>
          </a:p>
          <a:p>
            <a:r>
              <a:rPr lang="en-US" sz="1600" b="1" i="0" u="none" strike="noStrike" dirty="0">
                <a:highlight>
                  <a:srgbClr val="000000">
                    <a:alpha val="0"/>
                  </a:srgbClr>
                </a:highlight>
                <a:latin typeface="Arial"/>
                <a:ea typeface="Calibri"/>
                <a:cs typeface="Times New Roman"/>
              </a:rPr>
              <a:t>Fragilité structurelle. La fragilité profondément enracinée du Mozambique découle de la faiblesse de ses institutions, qui remonte à des causes historiques et géographiques et s'est manifestée par des cycles récurrents de conflit et de violence. Les inégalités et la pauvreté renforcent la fragilité et sont renforcées par elle. L'insurrection à Cabo Delgado en est la manifestation la plus récente.</a:t>
            </a:r>
          </a:p>
          <a:p>
            <a:r>
              <a:rPr lang="en-US" sz="1600" b="1" i="0" u="none" strike="noStrike" dirty="0">
                <a:highlight>
                  <a:srgbClr val="000000">
                    <a:alpha val="0"/>
                  </a:srgbClr>
                </a:highlight>
                <a:latin typeface="Arial"/>
                <a:ea typeface="Calibri"/>
                <a:cs typeface="Times New Roman"/>
              </a:rPr>
              <a:t/>
            </a:r>
          </a:p>
        </p:txBody>
      </p:sp>
      <p:grpSp>
        <p:nvGrpSpPr>
          <p:cNvPr id="5" name="Group 4">
            <a:extLst>
              <a:ext uri="{FF2B5EF4-FFF2-40B4-BE49-F238E27FC236}">
                <a16:creationId xmlns:a16="http://schemas.microsoft.com/office/drawing/2014/main" id="{4F3625D2-207D-4F4B-B47F-3D62A9AD09EB}"/>
              </a:ext>
            </a:extLst>
          </p:cNvPr>
          <p:cNvGrpSpPr/>
          <p:nvPr/>
        </p:nvGrpSpPr>
        <p:grpSpPr>
          <a:xfrm>
            <a:off x="8218978" y="3597004"/>
            <a:ext cx="3588997" cy="2886437"/>
            <a:chOff x="6541789" y="2100492"/>
            <a:chExt cx="5157813" cy="3995469"/>
          </a:xfrm>
        </p:grpSpPr>
        <p:pic>
          <p:nvPicPr>
            <p:cNvPr id="6" name="Picture 5">
              <a:extLst>
                <a:ext uri="{FF2B5EF4-FFF2-40B4-BE49-F238E27FC236}">
                  <a16:creationId xmlns:a16="http://schemas.microsoft.com/office/drawing/2014/main" id="{EF694F57-C4AC-4B52-8F4B-F21947EC0700}"/>
                </a:ext>
              </a:extLst>
            </p:cNvPr>
            <p:cNvPicPr>
              <a:picLocks noChangeAspect="1"/>
            </p:cNvPicPr>
            <p:nvPr/>
          </p:nvPicPr>
          <p:blipFill>
            <a:blip r:embed="rId2">
              <a:duotone>
                <a:schemeClr val="accent1">
                  <a:shade val="45000"/>
                  <a:satMod val="135000"/>
                </a:schemeClr>
                <a:prstClr val="white"/>
              </a:duotone>
            </a:blip>
            <a:stretch>
              <a:fillRect/>
            </a:stretch>
          </p:blipFill>
          <p:spPr>
            <a:xfrm>
              <a:off x="6541789" y="2100492"/>
              <a:ext cx="5065909" cy="3558448"/>
            </a:xfrm>
            <a:prstGeom prst="rect">
              <a:avLst/>
            </a:prstGeom>
          </p:spPr>
        </p:pic>
        <p:sp>
          <p:nvSpPr>
            <p:cNvPr id="8" name="TextBox 7">
              <a:extLst>
                <a:ext uri="{FF2B5EF4-FFF2-40B4-BE49-F238E27FC236}">
                  <a16:creationId xmlns:a16="http://schemas.microsoft.com/office/drawing/2014/main" id="{79A74CF3-3D80-4298-B0F9-7653E146BF38}"/>
                </a:ext>
              </a:extLst>
            </p:cNvPr>
            <p:cNvSpPr txBox="1"/>
            <p:nvPr/>
          </p:nvSpPr>
          <p:spPr>
            <a:xfrm>
              <a:off x="6672238" y="5751940"/>
              <a:ext cx="5027364" cy="344021"/>
            </a:xfrm>
            <a:prstGeom prst="rect">
              <a:avLst/>
            </a:prstGeom>
            <a:noFill/>
          </p:spPr>
          <p:txBody>
            <a:bodyPr wrap="square">
              <a:spAutoFit/>
            </a:bodyPr>
            <a:lstStyle/>
            <a:p>
              <a:pPr marL="0" marR="0" algn="just">
                <a:lnSpc>
                  <a:spcPct val="106000"/>
                </a:lnSpc>
                <a:spcBef>
                  <a:spcPts val="0"/>
                </a:spcBef>
                <a:spcAft>
                  <a:spcPts val="0"/>
                </a:spcAft>
              </a:pPr>
              <a:endParaRPr lang="en-US" sz="1000" b="1" dirty="0">
                <a:effectLst/>
                <a:latin typeface="Calibri" panose="020F0502020204030204" pitchFamily="34" charset="0"/>
                <a:ea typeface="Calibri" panose="020F0502020204030204" pitchFamily="34" charset="0"/>
                <a:cs typeface="Times New Roman" panose="02020603050405020304" pitchFamily="18" charset="0"/>
              </a:endParaRPr>
            </a:p>
          </p:txBody>
        </p:sp>
      </p:grpSp>
      <p:graphicFrame>
        <p:nvGraphicFramePr>
          <p:cNvPr id="9" name="Chart 8">
            <a:extLst>
              <a:ext uri="{FF2B5EF4-FFF2-40B4-BE49-F238E27FC236}">
                <a16:creationId xmlns:a16="http://schemas.microsoft.com/office/drawing/2014/main" id="{410C8409-F0C1-4A06-B33B-032AB030B33D}"/>
              </a:ext>
            </a:extLst>
          </p:cNvPr>
          <p:cNvGraphicFramePr>
            <a:graphicFrameLocks/>
          </p:cNvGraphicFramePr>
          <p:nvPr>
            <p:extLst>
              <p:ext uri="{D42A27DB-BD31-4B8C-83A1-F6EECF244321}">
                <p14:modId xmlns:p14="http://schemas.microsoft.com/office/powerpoint/2010/main" val="3770359055"/>
              </p:ext>
            </p:extLst>
          </p:nvPr>
        </p:nvGraphicFramePr>
        <p:xfrm>
          <a:off x="4512313" y="3690055"/>
          <a:ext cx="3687713" cy="26420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0">
            <a:extLst>
              <a:ext uri="{FF2B5EF4-FFF2-40B4-BE49-F238E27FC236}">
                <a16:creationId xmlns:a16="http://schemas.microsoft.com/office/drawing/2014/main" id="{C72742A9-AFDE-48B8-85B0-5CF91FC7EC7A}"/>
              </a:ext>
            </a:extLst>
          </p:cNvPr>
          <p:cNvGraphicFramePr>
            <a:graphicFrameLocks/>
          </p:cNvGraphicFramePr>
          <p:nvPr>
            <p:extLst>
              <p:ext uri="{D42A27DB-BD31-4B8C-83A1-F6EECF244321}">
                <p14:modId xmlns:p14="http://schemas.microsoft.com/office/powerpoint/2010/main" val="2896171518"/>
              </p:ext>
            </p:extLst>
          </p:nvPr>
        </p:nvGraphicFramePr>
        <p:xfrm>
          <a:off x="154086" y="3536403"/>
          <a:ext cx="4134513" cy="2753250"/>
        </p:xfrm>
        <a:graphic>
          <a:graphicData uri="http://schemas.openxmlformats.org/drawingml/2006/chart">
            <c:chart xmlns:c="http://schemas.openxmlformats.org/drawingml/2006/chart" xmlns:r="http://schemas.openxmlformats.org/officeDocument/2006/relationships" r:id="rId4"/>
          </a:graphicData>
        </a:graphic>
      </p:graphicFrame>
      <p:sp>
        <p:nvSpPr>
          <p:cNvPr id="12" name="Footer Placeholder 11">
            <a:extLst>
              <a:ext uri="{FF2B5EF4-FFF2-40B4-BE49-F238E27FC236}">
                <a16:creationId xmlns:a16="http://schemas.microsoft.com/office/drawing/2014/main" id="{6EA1F737-8F98-48C5-8192-5697092CD6C1}"/>
              </a:ext>
            </a:extLst>
          </p:cNvPr>
          <p:cNvSpPr>
            <a:spLocks noGrp="1"/>
          </p:cNvSpPr>
          <p:nvPr>
            <p:ph type="ftr" sz="quarter" idx="11"/>
          </p:nvPr>
        </p:nvSpPr>
        <p:spPr/>
        <p:txBody>
          <a:bodyPr/>
          <a:lstStyle/>
          <a:p>
            <a:r>
              <a:rPr lang="en-US"/>
              <a:t>CPF 2023-2027. Version publique. Maputo, mai 2022.</a:t>
            </a:r>
          </a:p>
        </p:txBody>
      </p:sp>
      <p:sp>
        <p:nvSpPr>
          <p:cNvPr id="13" name="Slide Number Placeholder 12">
            <a:extLst>
              <a:ext uri="{FF2B5EF4-FFF2-40B4-BE49-F238E27FC236}">
                <a16:creationId xmlns:a16="http://schemas.microsoft.com/office/drawing/2014/main" id="{1EFCE3CB-231A-40FF-B856-B69577BA0C88}"/>
              </a:ext>
            </a:extLst>
          </p:cNvPr>
          <p:cNvSpPr>
            <a:spLocks noGrp="1"/>
          </p:cNvSpPr>
          <p:nvPr>
            <p:ph type="sldNum" sz="quarter" idx="12"/>
          </p:nvPr>
        </p:nvSpPr>
        <p:spPr/>
        <p:txBody>
          <a:bodyPr/>
          <a:lstStyle/>
          <a:p>
            <a:fld id="{B8473C9A-9E91-4025-B5E2-D7B202510636}" type="slidenum">
              <a:rPr lang="en-US" smtClean="0"/>
              <a:t>5</a:t>
            </a:fld>
            <a:endParaRPr lang="en-US" dirty="0"/>
          </a:p>
        </p:txBody>
      </p:sp>
      <p:pic>
        <p:nvPicPr>
          <p:cNvPr id="10" name="Picture 9">
            <a:extLst>
              <a:ext uri="{FF2B5EF4-FFF2-40B4-BE49-F238E27FC236}">
                <a16:creationId xmlns:a16="http://schemas.microsoft.com/office/drawing/2014/main" id="{E74DA3C4-F2F7-4345-8A1B-D7D3601FB5A9}"/>
              </a:ext>
            </a:extLst>
          </p:cNvPr>
          <p:cNvPicPr>
            <a:picLocks noChangeAspect="1"/>
          </p:cNvPicPr>
          <p:nvPr/>
        </p:nvPicPr>
        <p:blipFill>
          <a:blip r:embed="rId5"/>
          <a:stretch>
            <a:fillRect/>
          </a:stretch>
        </p:blipFill>
        <p:spPr>
          <a:xfrm>
            <a:off x="462789" y="262138"/>
            <a:ext cx="1995792" cy="397658"/>
          </a:xfrm>
          <a:prstGeom prst="rect">
            <a:avLst/>
          </a:prstGeom>
        </p:spPr>
      </p:pic>
    </p:spTree>
    <p:extLst>
      <p:ext uri="{BB962C8B-B14F-4D97-AF65-F5344CB8AC3E}">
        <p14:creationId xmlns:p14="http://schemas.microsoft.com/office/powerpoint/2010/main" val="279434536"/>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DF05D-5034-4DC6-A334-0DEA65804A79}"/>
              </a:ext>
            </a:extLst>
          </p:cNvPr>
          <p:cNvSpPr>
            <a:spLocks noGrp="1"/>
          </p:cNvSpPr>
          <p:nvPr>
            <p:ph type="title"/>
          </p:nvPr>
        </p:nvSpPr>
        <p:spPr>
          <a:xfrm>
            <a:off x="2531857" y="74189"/>
            <a:ext cx="10515600" cy="720725"/>
          </a:xfrm>
        </p:spPr>
        <p:txBody>
          <a:bodyPr>
            <a:normAutofit/>
          </a:bodyPr>
          <a:lstStyle/>
          <a:p>
            <a:r>
              <a:rPr lang="pt" sz="2400" b="1" i="0" u="none" strike="noStrike" dirty="0">
                <a:highlight>
                  <a:srgbClr val="000000">
                    <a:alpha val="0"/>
                  </a:srgbClr>
                </a:highlight>
                <a:latin typeface="Arial"/>
              </a:rPr>
              <a:t>Contexte national : défis et opportunités de développement</a:t>
            </a:r>
          </a:p>
        </p:txBody>
      </p:sp>
      <p:sp>
        <p:nvSpPr>
          <p:cNvPr id="3" name="Content Placeholder 2">
            <a:extLst>
              <a:ext uri="{FF2B5EF4-FFF2-40B4-BE49-F238E27FC236}">
                <a16:creationId xmlns:a16="http://schemas.microsoft.com/office/drawing/2014/main" id="{281EBEE0-492E-419C-8FAD-FE8529FC3CD2}"/>
              </a:ext>
            </a:extLst>
          </p:cNvPr>
          <p:cNvSpPr>
            <a:spLocks noGrp="1"/>
          </p:cNvSpPr>
          <p:nvPr>
            <p:ph idx="1"/>
          </p:nvPr>
        </p:nvSpPr>
        <p:spPr>
          <a:xfrm>
            <a:off x="466725" y="928120"/>
            <a:ext cx="5343525" cy="2062730"/>
          </a:xfrm>
        </p:spPr>
        <p:txBody>
          <a:bodyPr>
            <a:normAutofit/>
          </a:bodyPr>
          <a:lstStyle/>
          <a:p>
            <a:r>
              <a:rPr lang="en-US" sz="1500" b="1" dirty="0">
                <a:latin typeface="Arial"/>
                <a:cs typeface="Times New Roman"/>
              </a:rPr>
              <a:t>Transformation économique et spatiale très limitée au cours des dernières décennies. Jusqu'en 2019, environ 70,1 % de la main-d'œuvre travaillait encore dans l'agriculture (de subsistance). La transformation spatiale s'est récemment accentuée, mais près de 60 % de la population vit toujours en zone rurale – signe d'un processus de migration lent malgré l'écart de revenu important entre les zones rurales et urbaines.</a:t>
            </a:r>
          </a:p>
          <a:p>
            <a:r>
              <a:rPr lang="en-US" sz="1500" b="1" dirty="0">
                <a:latin typeface="Arial"/>
                <a:cs typeface="Times New Roman"/>
              </a:rPr>
              <a:t/>
            </a:r>
          </a:p>
        </p:txBody>
      </p:sp>
      <p:graphicFrame>
        <p:nvGraphicFramePr>
          <p:cNvPr id="5" name="Chart 4">
            <a:extLst>
              <a:ext uri="{FF2B5EF4-FFF2-40B4-BE49-F238E27FC236}">
                <a16:creationId xmlns:a16="http://schemas.microsoft.com/office/drawing/2014/main" id="{C9A68FB0-9030-48F4-90BB-6738D978B96B}"/>
              </a:ext>
            </a:extLst>
          </p:cNvPr>
          <p:cNvGraphicFramePr>
            <a:graphicFrameLocks/>
          </p:cNvGraphicFramePr>
          <p:nvPr>
            <p:extLst>
              <p:ext uri="{D42A27DB-BD31-4B8C-83A1-F6EECF244321}">
                <p14:modId xmlns:p14="http://schemas.microsoft.com/office/powerpoint/2010/main" val="1471947526"/>
              </p:ext>
            </p:extLst>
          </p:nvPr>
        </p:nvGraphicFramePr>
        <p:xfrm>
          <a:off x="3138487" y="2623264"/>
          <a:ext cx="2331720" cy="240055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ontent Placeholder 3">
            <a:extLst>
              <a:ext uri="{FF2B5EF4-FFF2-40B4-BE49-F238E27FC236}">
                <a16:creationId xmlns:a16="http://schemas.microsoft.com/office/drawing/2014/main" id="{589B26A9-2176-422F-B50B-B5ACA70F2700}"/>
              </a:ext>
            </a:extLst>
          </p:cNvPr>
          <p:cNvGraphicFramePr>
            <a:graphicFrameLocks/>
          </p:cNvGraphicFramePr>
          <p:nvPr>
            <p:extLst>
              <p:ext uri="{D42A27DB-BD31-4B8C-83A1-F6EECF244321}">
                <p14:modId xmlns:p14="http://schemas.microsoft.com/office/powerpoint/2010/main" val="1271775604"/>
              </p:ext>
            </p:extLst>
          </p:nvPr>
        </p:nvGraphicFramePr>
        <p:xfrm>
          <a:off x="690353" y="4819200"/>
          <a:ext cx="2582837" cy="183155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Chart 6">
            <a:extLst>
              <a:ext uri="{FF2B5EF4-FFF2-40B4-BE49-F238E27FC236}">
                <a16:creationId xmlns:a16="http://schemas.microsoft.com/office/drawing/2014/main" id="{CD771C82-20D9-438B-98BF-9F1AA3BE667C}"/>
              </a:ext>
            </a:extLst>
          </p:cNvPr>
          <p:cNvGraphicFramePr>
            <a:graphicFrameLocks/>
          </p:cNvGraphicFramePr>
          <p:nvPr>
            <p:extLst>
              <p:ext uri="{D42A27DB-BD31-4B8C-83A1-F6EECF244321}">
                <p14:modId xmlns:p14="http://schemas.microsoft.com/office/powerpoint/2010/main" val="2249426108"/>
              </p:ext>
            </p:extLst>
          </p:nvPr>
        </p:nvGraphicFramePr>
        <p:xfrm>
          <a:off x="653430" y="2724477"/>
          <a:ext cx="2334010" cy="2210157"/>
        </p:xfrm>
        <a:graphic>
          <a:graphicData uri="http://schemas.openxmlformats.org/drawingml/2006/chart">
            <c:chart xmlns:c="http://schemas.openxmlformats.org/drawingml/2006/chart" xmlns:r="http://schemas.openxmlformats.org/officeDocument/2006/relationships" r:id="rId5"/>
          </a:graphicData>
        </a:graphic>
      </p:graphicFrame>
      <p:sp>
        <p:nvSpPr>
          <p:cNvPr id="8" name="Content Placeholder 2">
            <a:extLst>
              <a:ext uri="{FF2B5EF4-FFF2-40B4-BE49-F238E27FC236}">
                <a16:creationId xmlns:a16="http://schemas.microsoft.com/office/drawing/2014/main" id="{D4AF8D4F-8551-458C-8226-39194518EAB1}"/>
              </a:ext>
            </a:extLst>
          </p:cNvPr>
          <p:cNvSpPr txBox="1">
            <a:spLocks/>
          </p:cNvSpPr>
          <p:nvPr/>
        </p:nvSpPr>
        <p:spPr>
          <a:xfrm>
            <a:off x="6096000" y="928120"/>
            <a:ext cx="5343525"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US" sz="1400" kern="1200">
                <a:solidFill>
                  <a:schemeClr val="tx1"/>
                </a:solidFill>
                <a:latin typeface="Arial" panose="020B0604020202020204" pitchFamily="34" charset="0"/>
                <a:ea typeface="+mn-ea"/>
                <a:cs typeface="Arial" panose="020B0604020202020204" pitchFamily="34" charset="0"/>
              </a:defRPr>
            </a:lvl1pPr>
            <a:lvl2pPr marL="2286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Arial" panose="020B0604020202020204" pitchFamily="34" charset="0"/>
                <a:ea typeface="+mn-ea"/>
                <a:cs typeface="Arial" panose="020B0604020202020204" pitchFamily="34" charset="0"/>
              </a:defRPr>
            </a:lvl2pPr>
            <a:lvl3pPr marL="228600" indent="-22860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500" b="1" dirty="0">
                <a:highlight>
                  <a:srgbClr val="000000">
                    <a:alpha val="0"/>
                  </a:srgbClr>
                </a:highlight>
                <a:latin typeface="Arial"/>
                <a:ea typeface="Calibri"/>
                <a:cs typeface="Times New Roman"/>
              </a:rPr>
              <a:t>L'arrivée du gaz naturel offre une occasion de transformation économique, mais celle-ci ne sera pas automatique. Le PIB réel pourrait être 1,63 fois plus élevé d'ici 2033 dans un scénario optimiste, et même en cas de retard dans la mise en œuvre du projet Mamba, le PIB réel serait supérieur de 60 % à ce qu'il serait sans production de GNL. Cela porterait le PIB par habitant à près de 1 000 USD d'ici 2033 (contre 485 USD estimés pour 2020).</a:t>
            </a:r>
          </a:p>
        </p:txBody>
      </p:sp>
      <p:graphicFrame>
        <p:nvGraphicFramePr>
          <p:cNvPr id="9" name="Chart 8">
            <a:extLst>
              <a:ext uri="{FF2B5EF4-FFF2-40B4-BE49-F238E27FC236}">
                <a16:creationId xmlns:a16="http://schemas.microsoft.com/office/drawing/2014/main" id="{B945B5D1-6043-4EC3-814D-734603086A64}"/>
              </a:ext>
            </a:extLst>
          </p:cNvPr>
          <p:cNvGraphicFramePr/>
          <p:nvPr>
            <p:extLst>
              <p:ext uri="{D42A27DB-BD31-4B8C-83A1-F6EECF244321}">
                <p14:modId xmlns:p14="http://schemas.microsoft.com/office/powerpoint/2010/main" val="3449040667"/>
              </p:ext>
            </p:extLst>
          </p:nvPr>
        </p:nvGraphicFramePr>
        <p:xfrm>
          <a:off x="6575947" y="3161433"/>
          <a:ext cx="4601247" cy="3099517"/>
        </p:xfrm>
        <a:graphic>
          <a:graphicData uri="http://schemas.openxmlformats.org/drawingml/2006/chart">
            <c:chart xmlns:c="http://schemas.openxmlformats.org/drawingml/2006/chart" xmlns:r="http://schemas.openxmlformats.org/officeDocument/2006/relationships" r:id="rId6"/>
          </a:graphicData>
        </a:graphic>
      </p:graphicFrame>
      <p:sp>
        <p:nvSpPr>
          <p:cNvPr id="12" name="Footer Placeholder 11">
            <a:extLst>
              <a:ext uri="{FF2B5EF4-FFF2-40B4-BE49-F238E27FC236}">
                <a16:creationId xmlns:a16="http://schemas.microsoft.com/office/drawing/2014/main" id="{73A9F09F-4CEE-491F-BBC7-7BD60569AFEF}"/>
              </a:ext>
            </a:extLst>
          </p:cNvPr>
          <p:cNvSpPr>
            <a:spLocks noGrp="1"/>
          </p:cNvSpPr>
          <p:nvPr>
            <p:ph type="ftr" sz="quarter" idx="11"/>
          </p:nvPr>
        </p:nvSpPr>
        <p:spPr/>
        <p:txBody>
          <a:bodyPr/>
          <a:lstStyle/>
          <a:p>
            <a:r>
              <a:rPr lang="en-US"/>
              <a:t>CPF 2023-2027. Version publique. Maputo, mai 2022.</a:t>
            </a:r>
          </a:p>
        </p:txBody>
      </p:sp>
      <p:sp>
        <p:nvSpPr>
          <p:cNvPr id="13" name="Slide Number Placeholder 12">
            <a:extLst>
              <a:ext uri="{FF2B5EF4-FFF2-40B4-BE49-F238E27FC236}">
                <a16:creationId xmlns:a16="http://schemas.microsoft.com/office/drawing/2014/main" id="{2EC9E5E6-1F15-44BC-9EAF-EF7E1CD44E46}"/>
              </a:ext>
            </a:extLst>
          </p:cNvPr>
          <p:cNvSpPr>
            <a:spLocks noGrp="1"/>
          </p:cNvSpPr>
          <p:nvPr>
            <p:ph type="sldNum" sz="quarter" idx="12"/>
          </p:nvPr>
        </p:nvSpPr>
        <p:spPr/>
        <p:txBody>
          <a:bodyPr/>
          <a:lstStyle/>
          <a:p>
            <a:fld id="{B8473C9A-9E91-4025-B5E2-D7B202510636}" type="slidenum">
              <a:rPr lang="en-US" smtClean="0"/>
              <a:t>6</a:t>
            </a:fld>
            <a:endParaRPr lang="en-US" dirty="0"/>
          </a:p>
        </p:txBody>
      </p:sp>
      <p:pic>
        <p:nvPicPr>
          <p:cNvPr id="4" name="Picture 3">
            <a:extLst>
              <a:ext uri="{FF2B5EF4-FFF2-40B4-BE49-F238E27FC236}">
                <a16:creationId xmlns:a16="http://schemas.microsoft.com/office/drawing/2014/main" id="{E0A0AE54-87D8-42E6-8DE7-271AD90217CA}"/>
              </a:ext>
            </a:extLst>
          </p:cNvPr>
          <p:cNvPicPr>
            <a:picLocks noChangeAspect="1"/>
          </p:cNvPicPr>
          <p:nvPr/>
        </p:nvPicPr>
        <p:blipFill>
          <a:blip r:embed="rId7"/>
          <a:stretch>
            <a:fillRect/>
          </a:stretch>
        </p:blipFill>
        <p:spPr>
          <a:xfrm>
            <a:off x="82631" y="202883"/>
            <a:ext cx="2316681" cy="463336"/>
          </a:xfrm>
          <a:prstGeom prst="rect">
            <a:avLst/>
          </a:prstGeom>
        </p:spPr>
      </p:pic>
    </p:spTree>
    <p:extLst>
      <p:ext uri="{BB962C8B-B14F-4D97-AF65-F5344CB8AC3E}">
        <p14:creationId xmlns:p14="http://schemas.microsoft.com/office/powerpoint/2010/main" val="1570841410"/>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4B562-863E-411E-8C8D-327DA3E88280}"/>
              </a:ext>
            </a:extLst>
          </p:cNvPr>
          <p:cNvSpPr>
            <a:spLocks noGrp="1"/>
          </p:cNvSpPr>
          <p:nvPr>
            <p:ph type="title"/>
          </p:nvPr>
        </p:nvSpPr>
        <p:spPr>
          <a:xfrm>
            <a:off x="2550928" y="102307"/>
            <a:ext cx="11053131" cy="547685"/>
          </a:xfrm>
        </p:spPr>
        <p:txBody>
          <a:bodyPr>
            <a:noAutofit/>
          </a:bodyPr>
          <a:lstStyle/>
          <a:p>
            <a:r>
              <a:rPr lang="en-US" sz="2400" b="1" i="0" u="none" strike="noStrike" dirty="0">
                <a:highlight>
                  <a:srgbClr val="000000">
                    <a:alpha val="0"/>
                  </a:srgbClr>
                </a:highlight>
                <a:latin typeface="Arial"/>
              </a:rPr>
              <a:t>Contexte national : défis et opportunités de développement</a:t>
            </a:r>
          </a:p>
        </p:txBody>
      </p:sp>
      <p:sp>
        <p:nvSpPr>
          <p:cNvPr id="7" name="Content Placeholder 6">
            <a:extLst>
              <a:ext uri="{FF2B5EF4-FFF2-40B4-BE49-F238E27FC236}">
                <a16:creationId xmlns:a16="http://schemas.microsoft.com/office/drawing/2014/main" id="{FF5C214D-5EAE-4BCF-B630-4930BE12178E}"/>
              </a:ext>
            </a:extLst>
          </p:cNvPr>
          <p:cNvSpPr>
            <a:spLocks noGrp="1"/>
          </p:cNvSpPr>
          <p:nvPr>
            <p:ph idx="1"/>
          </p:nvPr>
        </p:nvSpPr>
        <p:spPr>
          <a:xfrm>
            <a:off x="298515" y="717938"/>
            <a:ext cx="11594969" cy="5570466"/>
          </a:xfrm>
        </p:spPr>
        <p:txBody>
          <a:bodyPr>
            <a:noAutofit/>
          </a:bodyPr>
          <a:lstStyle/>
          <a:p>
            <a:r>
              <a:rPr lang="en-US" sz="1600" b="1" i="0" u="none" strike="noStrike" dirty="0">
                <a:highlight>
                  <a:srgbClr val="000000">
                    <a:alpha val="0"/>
                  </a:srgbClr>
                </a:highlight>
                <a:latin typeface="Arial"/>
                <a:ea typeface="Calibri"/>
                <a:cs typeface="Times New Roman"/>
              </a:rPr>
              <a:t>Évolutions économiques récentes. La situation macroéconomique à court terme est stable, mais la croissance a stagné ces dernières années. Le pays présente un risque élevé de surendettement, mais la dette est jugée soutenable dans une perspective prospective, compte tenu des recettes potentielles du GNL.</a:t>
            </a:r>
          </a:p>
          <a:p>
            <a:r>
              <a:rPr lang="en-US" sz="1600" b="1" i="0" u="none" strike="noStrike" dirty="0">
                <a:highlight>
                  <a:srgbClr val="000000">
                    <a:alpha val="0"/>
                  </a:srgbClr>
                </a:highlight>
                <a:latin typeface="Arial"/>
                <a:ea typeface="Calibri"/>
                <a:cs typeface="Times New Roman"/>
              </a:rPr>
              <a:t>	Les perspectives de croissance à moyen et long terme sont positives, mais soumises à des risques considérables, notamment une nouvelle 	vague de Covid-19, de nouveaux chocs climatiques, la résurgence du conflit dans le Nord et les effets de la guerre en 	Ukraine.</a:t>
            </a:r>
          </a:p>
          <a:p>
            <a:r>
              <a:rPr lang="en-US" sz="1600" b="1" i="0" u="none" strike="noStrike" dirty="0">
                <a:highlight>
                  <a:srgbClr val="000000">
                    <a:alpha val="0"/>
                  </a:srgbClr>
                </a:highlight>
                <a:latin typeface="Arial"/>
                <a:ea typeface="Calibri"/>
                <a:cs typeface="Times New Roman"/>
              </a:rPr>
              <a:t>	Les risques macroéconomiques et leur incidence sur la pauvreté sont considérables (inflation, taux d'intérêt, pression budgétaire et 	aggravation du déficit de la balance commerciale). Les effets sur la pauvreté seront directs (prix des denrées alimentaires et des carburants) et indirects 	(création d'emplois), mais devraient se manifester différemment dans les zones urbaines et rurales et selon 	les différents niveaux de pauvreté.	</a:t>
            </a:r>
          </a:p>
          <a:p>
            <a:r>
              <a:rPr lang="en-US" sz="1600" b="1" i="0" u="none" strike="noStrike" dirty="0">
                <a:highlight>
                  <a:srgbClr val="000000">
                    <a:alpha val="0"/>
                  </a:srgbClr>
                </a:highlight>
                <a:latin typeface="Arial"/>
                <a:ea typeface="Calibri"/>
                <a:cs typeface="Times New Roman"/>
              </a:rPr>
              <a:t/>
            </a:r>
          </a:p>
        </p:txBody>
      </p:sp>
      <p:graphicFrame>
        <p:nvGraphicFramePr>
          <p:cNvPr id="5" name="Chart 4">
            <a:extLst>
              <a:ext uri="{FF2B5EF4-FFF2-40B4-BE49-F238E27FC236}">
                <a16:creationId xmlns:a16="http://schemas.microsoft.com/office/drawing/2014/main" id="{3D41A04A-4887-4AD2-B706-BBE0CC35588A}"/>
              </a:ext>
            </a:extLst>
          </p:cNvPr>
          <p:cNvGraphicFramePr>
            <a:graphicFrameLocks/>
          </p:cNvGraphicFramePr>
          <p:nvPr>
            <p:extLst>
              <p:ext uri="{D42A27DB-BD31-4B8C-83A1-F6EECF244321}">
                <p14:modId xmlns:p14="http://schemas.microsoft.com/office/powerpoint/2010/main" val="3151101138"/>
              </p:ext>
            </p:extLst>
          </p:nvPr>
        </p:nvGraphicFramePr>
        <p:xfrm>
          <a:off x="4231634" y="3503171"/>
          <a:ext cx="3474720" cy="263900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Chart 5">
            <a:extLst>
              <a:ext uri="{FF2B5EF4-FFF2-40B4-BE49-F238E27FC236}">
                <a16:creationId xmlns:a16="http://schemas.microsoft.com/office/drawing/2014/main" id="{F2CE7B03-3D15-45B4-B378-C6A4BB74DD36}"/>
              </a:ext>
            </a:extLst>
          </p:cNvPr>
          <p:cNvGraphicFramePr/>
          <p:nvPr>
            <p:extLst>
              <p:ext uri="{D42A27DB-BD31-4B8C-83A1-F6EECF244321}">
                <p14:modId xmlns:p14="http://schemas.microsoft.com/office/powerpoint/2010/main" val="411118899"/>
              </p:ext>
            </p:extLst>
          </p:nvPr>
        </p:nvGraphicFramePr>
        <p:xfrm>
          <a:off x="442429" y="3641656"/>
          <a:ext cx="3474720" cy="250570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B25FF02-534B-44B0-808F-BC53F910134C}"/>
              </a:ext>
            </a:extLst>
          </p:cNvPr>
          <p:cNvGraphicFramePr>
            <a:graphicFrameLocks/>
          </p:cNvGraphicFramePr>
          <p:nvPr>
            <p:extLst>
              <p:ext uri="{D42A27DB-BD31-4B8C-83A1-F6EECF244321}">
                <p14:modId xmlns:p14="http://schemas.microsoft.com/office/powerpoint/2010/main" val="1247624014"/>
              </p:ext>
            </p:extLst>
          </p:nvPr>
        </p:nvGraphicFramePr>
        <p:xfrm>
          <a:off x="8274853" y="3429000"/>
          <a:ext cx="3149854" cy="2773496"/>
        </p:xfrm>
        <a:graphic>
          <a:graphicData uri="http://schemas.openxmlformats.org/drawingml/2006/chart">
            <c:chart xmlns:c="http://schemas.openxmlformats.org/drawingml/2006/chart" xmlns:r="http://schemas.openxmlformats.org/officeDocument/2006/relationships" r:id="rId4"/>
          </a:graphicData>
        </a:graphic>
      </p:graphicFrame>
      <p:sp>
        <p:nvSpPr>
          <p:cNvPr id="11" name="Footer Placeholder 10">
            <a:extLst>
              <a:ext uri="{FF2B5EF4-FFF2-40B4-BE49-F238E27FC236}">
                <a16:creationId xmlns:a16="http://schemas.microsoft.com/office/drawing/2014/main" id="{5BAE0BB4-F29E-449A-990E-1183D83444ED}"/>
              </a:ext>
            </a:extLst>
          </p:cNvPr>
          <p:cNvSpPr>
            <a:spLocks noGrp="1"/>
          </p:cNvSpPr>
          <p:nvPr>
            <p:ph type="ftr" sz="quarter" idx="11"/>
          </p:nvPr>
        </p:nvSpPr>
        <p:spPr/>
        <p:txBody>
          <a:bodyPr/>
          <a:lstStyle/>
          <a:p>
            <a:r>
              <a:rPr lang="en-US"/>
              <a:t>CPF 2023-2027. Version publique. Maputo, mai 2022.</a:t>
            </a:r>
          </a:p>
        </p:txBody>
      </p:sp>
      <p:sp>
        <p:nvSpPr>
          <p:cNvPr id="12" name="Slide Number Placeholder 11">
            <a:extLst>
              <a:ext uri="{FF2B5EF4-FFF2-40B4-BE49-F238E27FC236}">
                <a16:creationId xmlns:a16="http://schemas.microsoft.com/office/drawing/2014/main" id="{BF81D8F4-0773-4704-86D5-9D8A927D0707}"/>
              </a:ext>
            </a:extLst>
          </p:cNvPr>
          <p:cNvSpPr>
            <a:spLocks noGrp="1"/>
          </p:cNvSpPr>
          <p:nvPr>
            <p:ph type="sldNum" sz="quarter" idx="12"/>
          </p:nvPr>
        </p:nvSpPr>
        <p:spPr/>
        <p:txBody>
          <a:bodyPr/>
          <a:lstStyle/>
          <a:p>
            <a:fld id="{B8473C9A-9E91-4025-B5E2-D7B202510636}" type="slidenum">
              <a:rPr lang="en-US" smtClean="0"/>
              <a:t>7</a:t>
            </a:fld>
            <a:endParaRPr lang="en-US" dirty="0"/>
          </a:p>
        </p:txBody>
      </p:sp>
      <p:pic>
        <p:nvPicPr>
          <p:cNvPr id="3" name="Picture 2">
            <a:extLst>
              <a:ext uri="{FF2B5EF4-FFF2-40B4-BE49-F238E27FC236}">
                <a16:creationId xmlns:a16="http://schemas.microsoft.com/office/drawing/2014/main" id="{17C60831-09AB-497C-8558-6E05650896B0}"/>
              </a:ext>
            </a:extLst>
          </p:cNvPr>
          <p:cNvPicPr>
            <a:picLocks noChangeAspect="1"/>
          </p:cNvPicPr>
          <p:nvPr/>
        </p:nvPicPr>
        <p:blipFill>
          <a:blip r:embed="rId5"/>
          <a:stretch>
            <a:fillRect/>
          </a:stretch>
        </p:blipFill>
        <p:spPr>
          <a:xfrm>
            <a:off x="104401" y="89392"/>
            <a:ext cx="2316681" cy="463336"/>
          </a:xfrm>
          <a:prstGeom prst="rect">
            <a:avLst/>
          </a:prstGeom>
        </p:spPr>
      </p:pic>
    </p:spTree>
    <p:extLst>
      <p:ext uri="{BB962C8B-B14F-4D97-AF65-F5344CB8AC3E}">
        <p14:creationId xmlns:p14="http://schemas.microsoft.com/office/powerpoint/2010/main" val="2098239625"/>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A676C-DAD8-44C2-9338-EA1C8E264E64}"/>
              </a:ext>
            </a:extLst>
          </p:cNvPr>
          <p:cNvSpPr>
            <a:spLocks noGrp="1"/>
          </p:cNvSpPr>
          <p:nvPr>
            <p:ph type="title"/>
          </p:nvPr>
        </p:nvSpPr>
        <p:spPr>
          <a:xfrm>
            <a:off x="2689720" y="340605"/>
            <a:ext cx="9094385" cy="701675"/>
          </a:xfrm>
        </p:spPr>
        <p:txBody>
          <a:bodyPr>
            <a:noAutofit/>
          </a:bodyPr>
          <a:lstStyle/>
          <a:p>
            <a:r>
              <a:rPr lang="en-US" b="1" i="0" u="none" strike="noStrike" dirty="0">
                <a:highlight>
                  <a:srgbClr val="000000">
                    <a:alpha val="0"/>
                  </a:srgbClr>
                </a:highlight>
                <a:latin typeface="Arial"/>
              </a:rPr>
              <a:t>Diagnostic-pays systématique (SCD) de la Banque mondiale et recommandations – Résumé</a:t>
            </a:r>
          </a:p>
        </p:txBody>
      </p:sp>
      <p:sp>
        <p:nvSpPr>
          <p:cNvPr id="3" name="Content Placeholder 2">
            <a:extLst>
              <a:ext uri="{FF2B5EF4-FFF2-40B4-BE49-F238E27FC236}">
                <a16:creationId xmlns:a16="http://schemas.microsoft.com/office/drawing/2014/main" id="{BD23C6FE-0CFA-4E2B-A31B-8491CCC3C067}"/>
              </a:ext>
            </a:extLst>
          </p:cNvPr>
          <p:cNvSpPr>
            <a:spLocks noGrp="1"/>
          </p:cNvSpPr>
          <p:nvPr>
            <p:ph idx="1"/>
          </p:nvPr>
        </p:nvSpPr>
        <p:spPr>
          <a:xfrm>
            <a:off x="536986" y="1259226"/>
            <a:ext cx="5738870" cy="5267955"/>
          </a:xfrm>
        </p:spPr>
        <p:txBody>
          <a:bodyPr>
            <a:noAutofit/>
          </a:bodyPr>
          <a:lstStyle/>
          <a:p>
            <a:r>
              <a:rPr lang="en-US" sz="1700" b="0" i="0" u="none" strike="noStrike" dirty="0">
                <a:highlight>
                  <a:srgbClr val="000000">
                    <a:alpha val="0"/>
                  </a:srgbClr>
                </a:highlight>
                <a:latin typeface="Arial"/>
              </a:rPr>
              <a:t>L'actualisation du SCD du Mozambique a conclu que, dans l'ensemble, les principaux défis du pays demeurent inchangés par rapport au diagnostic précédent (2016).</a:t>
            </a:r>
          </a:p>
          <a:p>
            <a:r>
              <a:rPr lang="en-US" sz="1700" b="0" i="0" u="none" strike="noStrike" dirty="0">
                <a:highlight>
                  <a:srgbClr val="000000">
                    <a:alpha val="0"/>
                  </a:srgbClr>
                </a:highlight>
                <a:latin typeface="Arial"/>
              </a:rPr>
              <a:t>Pour accélérer le développement, le Mozambique doit s'engager sur une trajectoire de développement plus inclusive, durable et résiliente (GRID).</a:t>
            </a:r>
          </a:p>
          <a:p>
            <a:r>
              <a:rPr lang="en-US" sz="1700" b="0" i="0" u="none" strike="noStrike" dirty="0">
                <a:highlight>
                  <a:srgbClr val="000000">
                    <a:alpha val="0"/>
                  </a:srgbClr>
                </a:highlight>
                <a:latin typeface="Arial"/>
              </a:rPr>
              <a:t>Une croissance accélérée est importante, mais il est nécessaire de revoir le modèle pour le rendre plus inclusif. Cela exigera une transformation structurelle accélérée, des investissements accrus et de meilleure qualité dans la population, ainsi qu'une réforme des institutions centrales afin d'améliorer l'efficacité de l'État et la gouvernance – renforçant la capacité du pays à faire face aux risques climatiques et sanitaires et à prévenir les conflits et la violence.</a:t>
            </a:r>
          </a:p>
          <a:p>
            <a:r>
              <a:rPr lang="en-US" sz="1700" b="0" i="0" u="none" strike="noStrike" dirty="0">
                <a:highlight>
                  <a:srgbClr val="000000">
                    <a:alpha val="0"/>
                  </a:srgbClr>
                </a:highlight>
                <a:latin typeface="Arial"/>
              </a:rPr>
              <a:t>Les réformes et politiques nécessaires pour atteindre ces objectifs ont été recensées dans l'actualisation du SCD à partir d'études récentes du GBM.</a:t>
            </a:r>
          </a:p>
        </p:txBody>
      </p:sp>
      <p:pic>
        <p:nvPicPr>
          <p:cNvPr id="5" name="Content Placeholder 6">
            <a:extLst>
              <a:ext uri="{FF2B5EF4-FFF2-40B4-BE49-F238E27FC236}">
                <a16:creationId xmlns:a16="http://schemas.microsoft.com/office/drawing/2014/main" id="{283EB72C-05AB-42AE-8FAE-631966134AA5}"/>
              </a:ext>
            </a:extLst>
          </p:cNvPr>
          <p:cNvPicPr>
            <a:picLocks/>
          </p:cNvPicPr>
          <p:nvPr/>
        </p:nvPicPr>
        <p:blipFill rotWithShape="1">
          <a:blip r:embed="rId2">
            <a:extLst>
              <a:ext uri="{28A0092B-C50C-407E-A947-70E740481C1C}">
                <a14:useLocalDpi xmlns:a14="http://schemas.microsoft.com/office/drawing/2010/main" val="0"/>
              </a:ext>
            </a:extLst>
          </a:blip>
          <a:srcRect l="6213" t="2555" r="5327"/>
          <a:stretch/>
        </p:blipFill>
        <p:spPr bwMode="auto">
          <a:xfrm>
            <a:off x="6462659" y="1602641"/>
            <a:ext cx="5192355" cy="4924157"/>
          </a:xfrm>
          <a:prstGeom prst="rect">
            <a:avLst/>
          </a:prstGeom>
          <a:extLst>
            <a:ext uri="{53640926-AAD7-44D8-BBD7-CCE9431645EC}">
              <a14:shadowObscured xmlns:a14="http://schemas.microsoft.com/office/drawing/2010/main"/>
            </a:ext>
          </a:extLst>
        </p:spPr>
      </p:pic>
      <p:sp>
        <p:nvSpPr>
          <p:cNvPr id="6" name="Title 1">
            <a:extLst>
              <a:ext uri="{FF2B5EF4-FFF2-40B4-BE49-F238E27FC236}">
                <a16:creationId xmlns:a16="http://schemas.microsoft.com/office/drawing/2014/main" id="{113BE710-35E0-4B80-8E28-6785528D3EDB}"/>
              </a:ext>
            </a:extLst>
          </p:cNvPr>
          <p:cNvSpPr txBox="1">
            <a:spLocks/>
          </p:cNvSpPr>
          <p:nvPr/>
        </p:nvSpPr>
        <p:spPr>
          <a:xfrm>
            <a:off x="6702014" y="1081353"/>
            <a:ext cx="4953000" cy="7016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lang="en-US" sz="2300" b="1" kern="1200">
                <a:solidFill>
                  <a:schemeClr val="accent1">
                    <a:lumMod val="75000"/>
                  </a:schemeClr>
                </a:solidFill>
                <a:latin typeface="Arial"/>
                <a:ea typeface="+mj-ea"/>
                <a:cs typeface="Arial"/>
              </a:defRPr>
            </a:lvl1pPr>
          </a:lstStyle>
          <a:p>
            <a:r>
              <a:rPr lang="en-US" sz="1050" dirty="0"/>
              <a:t>Diagnostic-pays systématique (SCD) de la Banque mondiale selon les objectifs définis en 2016
</a:t>
            </a:r>
          </a:p>
          <a:p>
            <a:r>
              <a:rPr lang="en-US" sz="1050" dirty="0"/>
              <a:t/>
            </a:r>
          </a:p>
        </p:txBody>
      </p:sp>
      <p:sp>
        <p:nvSpPr>
          <p:cNvPr id="9" name="Footer Placeholder 8">
            <a:extLst>
              <a:ext uri="{FF2B5EF4-FFF2-40B4-BE49-F238E27FC236}">
                <a16:creationId xmlns:a16="http://schemas.microsoft.com/office/drawing/2014/main" id="{DAC65E50-89AB-4177-9273-DB727ADF80FD}"/>
              </a:ext>
            </a:extLst>
          </p:cNvPr>
          <p:cNvSpPr>
            <a:spLocks noGrp="1"/>
          </p:cNvSpPr>
          <p:nvPr>
            <p:ph type="ftr" sz="quarter" idx="11"/>
          </p:nvPr>
        </p:nvSpPr>
        <p:spPr/>
        <p:txBody>
          <a:bodyPr/>
          <a:lstStyle/>
          <a:p>
            <a:r>
              <a:rPr lang="en-US"/>
              <a:t>CPF 2023-2027. Version publique. Maputo, mai 2022.</a:t>
            </a:r>
          </a:p>
        </p:txBody>
      </p:sp>
      <p:sp>
        <p:nvSpPr>
          <p:cNvPr id="10" name="Slide Number Placeholder 9">
            <a:extLst>
              <a:ext uri="{FF2B5EF4-FFF2-40B4-BE49-F238E27FC236}">
                <a16:creationId xmlns:a16="http://schemas.microsoft.com/office/drawing/2014/main" id="{445B123D-B40D-4386-B9CF-E9BAAC87872E}"/>
              </a:ext>
            </a:extLst>
          </p:cNvPr>
          <p:cNvSpPr>
            <a:spLocks noGrp="1"/>
          </p:cNvSpPr>
          <p:nvPr>
            <p:ph type="sldNum" sz="quarter" idx="12"/>
          </p:nvPr>
        </p:nvSpPr>
        <p:spPr/>
        <p:txBody>
          <a:bodyPr/>
          <a:lstStyle/>
          <a:p>
            <a:fld id="{B8473C9A-9E91-4025-B5E2-D7B202510636}" type="slidenum">
              <a:rPr lang="en-US" smtClean="0"/>
              <a:t>8</a:t>
            </a:fld>
            <a:endParaRPr lang="en-US" dirty="0"/>
          </a:p>
        </p:txBody>
      </p:sp>
      <p:pic>
        <p:nvPicPr>
          <p:cNvPr id="4" name="Picture 3">
            <a:extLst>
              <a:ext uri="{FF2B5EF4-FFF2-40B4-BE49-F238E27FC236}">
                <a16:creationId xmlns:a16="http://schemas.microsoft.com/office/drawing/2014/main" id="{C7949A21-272C-4FC9-8A3B-5DD99DD162F7}"/>
              </a:ext>
            </a:extLst>
          </p:cNvPr>
          <p:cNvPicPr>
            <a:picLocks noChangeAspect="1"/>
          </p:cNvPicPr>
          <p:nvPr/>
        </p:nvPicPr>
        <p:blipFill>
          <a:blip r:embed="rId3"/>
          <a:stretch>
            <a:fillRect/>
          </a:stretch>
        </p:blipFill>
        <p:spPr>
          <a:xfrm>
            <a:off x="536986" y="228106"/>
            <a:ext cx="2316681" cy="463336"/>
          </a:xfrm>
          <a:prstGeom prst="rect">
            <a:avLst/>
          </a:prstGeom>
        </p:spPr>
      </p:pic>
    </p:spTree>
    <p:extLst>
      <p:ext uri="{BB962C8B-B14F-4D97-AF65-F5344CB8AC3E}">
        <p14:creationId xmlns:p14="http://schemas.microsoft.com/office/powerpoint/2010/main" val="3355522750"/>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8BF6E-3F48-4133-BFA3-5A80DFDCB4E2}"/>
              </a:ext>
            </a:extLst>
          </p:cNvPr>
          <p:cNvSpPr>
            <a:spLocks noGrp="1"/>
          </p:cNvSpPr>
          <p:nvPr>
            <p:ph type="title"/>
          </p:nvPr>
        </p:nvSpPr>
        <p:spPr>
          <a:xfrm>
            <a:off x="967292" y="250925"/>
            <a:ext cx="10515600" cy="1325563"/>
          </a:xfrm>
        </p:spPr>
        <p:txBody>
          <a:bodyPr>
            <a:noAutofit/>
          </a:bodyPr>
          <a:lstStyle/>
          <a:p>
            <a:r>
              <a:rPr lang="en-US" sz="4000" dirty="0"/>
              <a:t>Structure de la présentation
</a:t>
            </a:r>
          </a:p>
          <a:p>
            <a:r>
              <a:rPr lang="en-US" sz="4000" dirty="0"/>
              <a:t/>
            </a:r>
          </a:p>
        </p:txBody>
      </p:sp>
      <p:sp>
        <p:nvSpPr>
          <p:cNvPr id="3" name="Content Placeholder 2">
            <a:extLst>
              <a:ext uri="{FF2B5EF4-FFF2-40B4-BE49-F238E27FC236}">
                <a16:creationId xmlns:a16="http://schemas.microsoft.com/office/drawing/2014/main" id="{A71C13BF-78D7-4831-B2B9-0342F47476B7}"/>
              </a:ext>
            </a:extLst>
          </p:cNvPr>
          <p:cNvSpPr>
            <a:spLocks noGrp="1"/>
          </p:cNvSpPr>
          <p:nvPr>
            <p:ph idx="1"/>
          </p:nvPr>
        </p:nvSpPr>
        <p:spPr>
          <a:xfrm>
            <a:off x="217843" y="1462089"/>
            <a:ext cx="11357385" cy="4648256"/>
          </a:xfrm>
        </p:spPr>
        <p:txBody>
          <a:bodyPr>
            <a:noAutofit/>
          </a:bodyPr>
          <a:lstStyle/>
          <a:p>
            <a:r>
              <a:rPr lang="en-US" sz="3200" b="1" dirty="0">
                <a:solidFill>
                  <a:schemeClr val="bg2">
                    <a:lumMod val="90000"/>
                  </a:schemeClr>
                </a:solidFill>
              </a:rPr>
              <a:t>Vision du Groupe de la Banque mondiale sur les principaux défis stratégiques du pays   
</a:t>
            </a:r>
          </a:p>
          <a:p>
            <a:r>
              <a:rPr lang="en-US" sz="3200" b="1" dirty="0">
                <a:solidFill>
                  <a:schemeClr val="bg2">
                    <a:lumMod val="90000"/>
                  </a:schemeClr>
                </a:solidFill>
              </a:rPr>
              <a:t>Principaux enseignements du CPF précédent (2017-2021)</a:t>
            </a:r>
          </a:p>
          <a:p>
            <a:r>
              <a:rPr lang="en-US" sz="3200" b="1" dirty="0">
                <a:solidFill>
                  <a:schemeClr val="bg2">
                    <a:lumMod val="90000"/>
                  </a:schemeClr>
                </a:solidFill>
              </a:rPr>
              <a:t>Proposition initiale pour le CPF 2023-2027</a:t>
            </a:r>
          </a:p>
          <a:p>
            <a:r>
              <a:rPr lang="en-US" sz="3200" b="1" dirty="0">
                <a:solidFill>
                  <a:schemeClr val="bg2">
                    <a:lumMod val="90000"/>
                  </a:schemeClr>
                </a:solidFill>
              </a:rPr>
              <a:t/>
            </a:r>
          </a:p>
        </p:txBody>
      </p:sp>
      <p:sp>
        <p:nvSpPr>
          <p:cNvPr id="7" name="Footer Placeholder 6">
            <a:extLst>
              <a:ext uri="{FF2B5EF4-FFF2-40B4-BE49-F238E27FC236}">
                <a16:creationId xmlns:a16="http://schemas.microsoft.com/office/drawing/2014/main" id="{64BAC93B-91C7-4C10-A50E-D811EFA7120E}"/>
              </a:ext>
            </a:extLst>
          </p:cNvPr>
          <p:cNvSpPr>
            <a:spLocks noGrp="1"/>
          </p:cNvSpPr>
          <p:nvPr>
            <p:ph type="ftr" sz="quarter" idx="11"/>
          </p:nvPr>
        </p:nvSpPr>
        <p:spPr/>
        <p:txBody>
          <a:bodyPr/>
          <a:lstStyle/>
          <a:p>
            <a:r>
              <a:rPr lang="en-US"/>
              <a:t>CPF 2023-2027. Version publique. Maputo, mai 2022.</a:t>
            </a:r>
          </a:p>
        </p:txBody>
      </p:sp>
      <p:sp>
        <p:nvSpPr>
          <p:cNvPr id="8" name="Slide Number Placeholder 7">
            <a:extLst>
              <a:ext uri="{FF2B5EF4-FFF2-40B4-BE49-F238E27FC236}">
                <a16:creationId xmlns:a16="http://schemas.microsoft.com/office/drawing/2014/main" id="{C7FE97E1-662E-4A4B-9785-3AB102713595}"/>
              </a:ext>
            </a:extLst>
          </p:cNvPr>
          <p:cNvSpPr>
            <a:spLocks noGrp="1"/>
          </p:cNvSpPr>
          <p:nvPr>
            <p:ph type="sldNum" sz="quarter" idx="12"/>
          </p:nvPr>
        </p:nvSpPr>
        <p:spPr/>
        <p:txBody>
          <a:bodyPr/>
          <a:lstStyle/>
          <a:p>
            <a:fld id="{B8473C9A-9E91-4025-B5E2-D7B202510636}" type="slidenum">
              <a:rPr lang="en-US" smtClean="0"/>
              <a:t>9</a:t>
            </a:fld>
            <a:endParaRPr lang="en-US" dirty="0"/>
          </a:p>
        </p:txBody>
      </p:sp>
      <p:pic>
        <p:nvPicPr>
          <p:cNvPr id="4" name="Picture 3">
            <a:extLst>
              <a:ext uri="{FF2B5EF4-FFF2-40B4-BE49-F238E27FC236}">
                <a16:creationId xmlns:a16="http://schemas.microsoft.com/office/drawing/2014/main" id="{39D2B0C9-56D1-42EE-9614-AB89754E7CB6}"/>
              </a:ext>
            </a:extLst>
          </p:cNvPr>
          <p:cNvPicPr>
            <a:picLocks noChangeAspect="1"/>
          </p:cNvPicPr>
          <p:nvPr/>
        </p:nvPicPr>
        <p:blipFill>
          <a:blip r:embed="rId2"/>
          <a:stretch>
            <a:fillRect/>
          </a:stretch>
        </p:blipFill>
        <p:spPr>
          <a:xfrm>
            <a:off x="365659" y="393171"/>
            <a:ext cx="2316681" cy="463336"/>
          </a:xfrm>
          <a:prstGeom prst="rect">
            <a:avLst/>
          </a:prstGeom>
        </p:spPr>
      </p:pic>
    </p:spTree>
    <p:extLst>
      <p:ext uri="{BB962C8B-B14F-4D97-AF65-F5344CB8AC3E}">
        <p14:creationId xmlns:p14="http://schemas.microsoft.com/office/powerpoint/2010/main" val="3817913634"/>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E39DA-BD7E-4AD0-924F-E915A4271702}"/>
              </a:ext>
            </a:extLst>
          </p:cNvPr>
          <p:cNvSpPr>
            <a:spLocks noGrp="1"/>
          </p:cNvSpPr>
          <p:nvPr>
            <p:ph type="title"/>
          </p:nvPr>
        </p:nvSpPr>
        <p:spPr>
          <a:xfrm>
            <a:off x="3259566" y="-20638"/>
            <a:ext cx="7998983" cy="1325563"/>
          </a:xfrm>
        </p:spPr>
        <p:txBody>
          <a:bodyPr>
            <a:normAutofit/>
          </a:bodyPr>
          <a:lstStyle/>
          <a:p>
            <a:r>
              <a:rPr lang="en-US" sz="2400" dirty="0"/>
              <a:t>CPF EB2017-2021 : principales caractéristiques</a:t>
            </a:r>
          </a:p>
        </p:txBody>
      </p:sp>
      <p:sp>
        <p:nvSpPr>
          <p:cNvPr id="3" name="Content Placeholder 2">
            <a:extLst>
              <a:ext uri="{FF2B5EF4-FFF2-40B4-BE49-F238E27FC236}">
                <a16:creationId xmlns:a16="http://schemas.microsoft.com/office/drawing/2014/main" id="{AD41F2BB-97F4-4383-8764-F002A22E027D}"/>
              </a:ext>
            </a:extLst>
          </p:cNvPr>
          <p:cNvSpPr>
            <a:spLocks noGrp="1"/>
          </p:cNvSpPr>
          <p:nvPr>
            <p:ph idx="1"/>
          </p:nvPr>
        </p:nvSpPr>
        <p:spPr>
          <a:xfrm>
            <a:off x="300387" y="1171352"/>
            <a:ext cx="5735623" cy="5283236"/>
          </a:xfrm>
        </p:spPr>
        <p:txBody>
          <a:bodyPr>
            <a:noAutofit/>
          </a:bodyPr>
          <a:lstStyle/>
          <a:p>
            <a:r>
              <a:rPr lang="en-US" dirty="0">
                <a:latin typeface="+mn-lt"/>
              </a:rPr>
              <a:t>Un contexte dans lequel la croissance rapide des années précédentes avait pris fin. La prise de conscience que l'effet de la croissance sur la réduction de la pauvreté avait été moindre que nécessaire.</a:t>
            </a:r>
          </a:p>
          <a:p>
            <a:r>
              <a:rPr lang="en-US" dirty="0">
                <a:latin typeface="+mn-lt"/>
              </a:rPr>
              <a:t/>
            </a:r>
          </a:p>
          <a:p>
            <a:r>
              <a:rPr lang="en-US" dirty="0">
                <a:latin typeface="+mn-lt"/>
              </a:rPr>
              <a:t>Le choc de la dette cachée a réduit la confiance dans le pays, faisant baisser les investissements.</a:t>
            </a:r>
          </a:p>
          <a:p>
            <a:r>
              <a:rPr lang="en-US" dirty="0">
                <a:latin typeface="+mn-lt"/>
              </a:rPr>
              <a:t/>
            </a:r>
          </a:p>
          <a:p>
            <a:r>
              <a:rPr lang="en-US" dirty="0">
                <a:latin typeface="+mn-lt"/>
              </a:rPr>
              <a:t>Le CPF EB17-EB21 avait pour objectif global d'aider le Mozambique à « parvenir à une croissance inclusive en favorisant l'emploi et en améliorant durablement la productivité ».</a:t>
            </a:r>
          </a:p>
          <a:p>
            <a:r>
              <a:rPr lang="en-US" dirty="0">
                <a:latin typeface="+mn-lt"/>
              </a:rPr>
              <a:t/>
            </a:r>
          </a:p>
          <a:p>
            <a:r>
              <a:rPr lang="en-US" dirty="0">
                <a:latin typeface="+mn-lt"/>
              </a:rPr>
              <a:t>Le programme comportait 3 axes prioritaires : (i) Promouvoir une croissance diversifiée et une productivité renforcée, (ii) Investir dans le capital humain et (iii) Renforcer la durabilité et la résilience.</a:t>
            </a:r>
          </a:p>
          <a:p>
            <a:r>
              <a:rPr lang="en-US" dirty="0">
                <a:latin typeface="+mn-lt"/>
              </a:rPr>
              <a:t/>
            </a:r>
          </a:p>
          <a:p>
            <a:r>
              <a:rPr lang="en-US" dirty="0">
                <a:latin typeface="+mn-lt"/>
              </a:rPr>
              <a:t>Le portefeuille de la Banque mondiale est passé de 1,6 milliard de dollars US au départ à environ 2,9 milliards de dollars US d'engagements sur l'ensemble de la période du CPF.</a:t>
            </a:r>
          </a:p>
          <a:p>
            <a:r>
              <a:rPr lang="en-US" dirty="0">
                <a:latin typeface="+mn-lt"/>
              </a:rPr>
              <a:t/>
            </a:r>
          </a:p>
          <a:p>
            <a:r>
              <a:rPr lang="en-US" dirty="0">
                <a:latin typeface="+mn-lt"/>
              </a:rPr>
              <a:t>En outre : 700 millions de dollars US pour la prévention des conflits et de la violence (EB 2022) par l'intermédiaire de</a:t>
            </a:r>
          </a:p>
          <a:p>
            <a:r>
              <a:rPr lang="en-US" dirty="0">
                <a:latin typeface="+mn-lt"/>
              </a:rPr>
              <a:t/>
            </a:r>
          </a:p>
          <a:p>
            <a:r>
              <a:rPr lang="en-US" dirty="0">
                <a:latin typeface="+mn-lt"/>
              </a:rPr>
              <a:t>Les investissements de l'IFC et de la MIGA dans le secteur privé, axés sur des projets transformateurs de création d'emplois et de réduction de la pauvreté.</a:t>
            </a:r>
          </a:p>
        </p:txBody>
      </p:sp>
      <p:pic>
        <p:nvPicPr>
          <p:cNvPr id="11" name="Picture 10">
            <a:extLst>
              <a:ext uri="{FF2B5EF4-FFF2-40B4-BE49-F238E27FC236}">
                <a16:creationId xmlns:a16="http://schemas.microsoft.com/office/drawing/2014/main" id="{90336BA4-DAFB-496E-BA23-FD9499BC806B}"/>
              </a:ext>
            </a:extLst>
          </p:cNvPr>
          <p:cNvPicPr>
            <a:picLocks noChangeAspect="1"/>
          </p:cNvPicPr>
          <p:nvPr/>
        </p:nvPicPr>
        <p:blipFill>
          <a:blip r:embed="rId2"/>
          <a:stretch>
            <a:fillRect/>
          </a:stretch>
        </p:blipFill>
        <p:spPr>
          <a:xfrm>
            <a:off x="6036010" y="992982"/>
            <a:ext cx="5942634" cy="5144804"/>
          </a:xfrm>
          <a:prstGeom prst="rect">
            <a:avLst/>
          </a:prstGeom>
        </p:spPr>
      </p:pic>
      <p:sp>
        <p:nvSpPr>
          <p:cNvPr id="5" name="Rectangle 4">
            <a:extLst>
              <a:ext uri="{FF2B5EF4-FFF2-40B4-BE49-F238E27FC236}">
                <a16:creationId xmlns:a16="http://schemas.microsoft.com/office/drawing/2014/main" id="{EBE7ADC5-130D-44E2-A535-813420EF7862}"/>
              </a:ext>
            </a:extLst>
          </p:cNvPr>
          <p:cNvSpPr/>
          <p:nvPr/>
        </p:nvSpPr>
        <p:spPr>
          <a:xfrm>
            <a:off x="7551867" y="992981"/>
            <a:ext cx="645459" cy="4270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ooter Placeholder 12">
            <a:extLst>
              <a:ext uri="{FF2B5EF4-FFF2-40B4-BE49-F238E27FC236}">
                <a16:creationId xmlns:a16="http://schemas.microsoft.com/office/drawing/2014/main" id="{B32BD148-6C39-46D7-BA00-253237AE35AE}"/>
              </a:ext>
            </a:extLst>
          </p:cNvPr>
          <p:cNvSpPr>
            <a:spLocks noGrp="1"/>
          </p:cNvSpPr>
          <p:nvPr>
            <p:ph type="ftr" sz="quarter" idx="11"/>
          </p:nvPr>
        </p:nvSpPr>
        <p:spPr/>
        <p:txBody>
          <a:bodyPr/>
          <a:lstStyle/>
          <a:p>
            <a:r>
              <a:rPr lang="en-US"/>
              <a:t>CPF 2023-2027. Version publique. Maputo, mai 2022.</a:t>
            </a:r>
          </a:p>
        </p:txBody>
      </p:sp>
      <p:pic>
        <p:nvPicPr>
          <p:cNvPr id="4" name="Picture 3">
            <a:extLst>
              <a:ext uri="{FF2B5EF4-FFF2-40B4-BE49-F238E27FC236}">
                <a16:creationId xmlns:a16="http://schemas.microsoft.com/office/drawing/2014/main" id="{3534EC23-E592-4B24-A636-726B7F88939A}"/>
              </a:ext>
            </a:extLst>
          </p:cNvPr>
          <p:cNvPicPr>
            <a:picLocks noChangeAspect="1"/>
          </p:cNvPicPr>
          <p:nvPr/>
        </p:nvPicPr>
        <p:blipFill>
          <a:blip r:embed="rId3"/>
          <a:stretch>
            <a:fillRect/>
          </a:stretch>
        </p:blipFill>
        <p:spPr>
          <a:xfrm>
            <a:off x="222790" y="343689"/>
            <a:ext cx="2316681" cy="463336"/>
          </a:xfrm>
          <a:prstGeom prst="rect">
            <a:avLst/>
          </a:prstGeom>
        </p:spPr>
      </p:pic>
      <p:sp>
        <p:nvSpPr>
          <p:cNvPr id="6" name="Slide Number Placeholder 5">
            <a:extLst>
              <a:ext uri="{FF2B5EF4-FFF2-40B4-BE49-F238E27FC236}">
                <a16:creationId xmlns:a16="http://schemas.microsoft.com/office/drawing/2014/main" id="{9A2C55B6-CA07-4ECE-B7AD-6DC69A70C6AD}"/>
              </a:ext>
            </a:extLst>
          </p:cNvPr>
          <p:cNvSpPr>
            <a:spLocks noGrp="1"/>
          </p:cNvSpPr>
          <p:nvPr>
            <p:ph type="sldNum" sz="quarter" idx="12"/>
          </p:nvPr>
        </p:nvSpPr>
        <p:spPr/>
        <p:txBody>
          <a:bodyPr/>
          <a:lstStyle/>
          <a:p>
            <a:fld id="{B8473C9A-9E91-4025-B5E2-D7B202510636}" type="slidenum">
              <a:rPr lang="en-US" smtClean="0"/>
              <a:t>10</a:t>
            </a:fld>
            <a:endParaRPr lang="en-US" dirty="0"/>
          </a:p>
        </p:txBody>
      </p:sp>
    </p:spTree>
    <p:extLst>
      <p:ext uri="{BB962C8B-B14F-4D97-AF65-F5344CB8AC3E}">
        <p14:creationId xmlns:p14="http://schemas.microsoft.com/office/powerpoint/2010/main" val="1765248067"/>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E39DA-BD7E-4AD0-924F-E915A4271702}"/>
              </a:ext>
            </a:extLst>
          </p:cNvPr>
          <p:cNvSpPr>
            <a:spLocks noGrp="1"/>
          </p:cNvSpPr>
          <p:nvPr>
            <p:ph type="title"/>
          </p:nvPr>
        </p:nvSpPr>
        <p:spPr>
          <a:xfrm>
            <a:off x="2657811" y="-255665"/>
            <a:ext cx="10515600" cy="1325563"/>
          </a:xfrm>
        </p:spPr>
        <p:txBody>
          <a:bodyPr>
            <a:normAutofit/>
          </a:bodyPr>
          <a:lstStyle/>
          <a:p>
            <a:r>
              <a:rPr lang="en-US" sz="2400" dirty="0"/>
              <a:t>CPF EB2017-2021 : principales caractéristiques</a:t>
            </a:r>
          </a:p>
        </p:txBody>
      </p:sp>
      <p:sp>
        <p:nvSpPr>
          <p:cNvPr id="3" name="Content Placeholder 2">
            <a:extLst>
              <a:ext uri="{FF2B5EF4-FFF2-40B4-BE49-F238E27FC236}">
                <a16:creationId xmlns:a16="http://schemas.microsoft.com/office/drawing/2014/main" id="{AD41F2BB-97F4-4383-8764-F002A22E027D}"/>
              </a:ext>
            </a:extLst>
          </p:cNvPr>
          <p:cNvSpPr>
            <a:spLocks noGrp="1"/>
          </p:cNvSpPr>
          <p:nvPr>
            <p:ph idx="1"/>
          </p:nvPr>
        </p:nvSpPr>
        <p:spPr>
          <a:xfrm>
            <a:off x="490296" y="992981"/>
            <a:ext cx="6341966" cy="5544790"/>
          </a:xfrm>
        </p:spPr>
        <p:txBody>
          <a:bodyPr>
            <a:noAutofit/>
          </a:bodyPr>
          <a:lstStyle/>
          <a:p>
            <a:r>
              <a:rPr lang="en-US" sz="1400" b="1" dirty="0"/>
              <a:t/>
            </a:r>
          </a:p>
          <a:p>
            <a:r>
              <a:rPr lang="en-US" sz="1400" b="1" dirty="0"/>
              <a:t>Accent mis sur les régions et les secteurs où se concentrent les pauvres. </a:t>
            </a:r>
          </a:p>
          <a:p>
            <a:r>
              <a:rPr lang="en-US" sz="1400" b="1" dirty="0"/>
              <a:t>Les opérations d'agriculture de subsistance devraient passer de 6 % dans le CPF précédent à 20 %.</a:t>
            </a:r>
          </a:p>
          <a:p>
            <a:r>
              <a:rPr lang="en-US" sz="1400" b="1" dirty="0"/>
              <a:t>Environ 30 % du portefeuille a été consacré à l'agriculture et aux zones rurales (contre 6 % au cours du cycle précédent).</a:t>
            </a:r>
          </a:p>
          <a:p>
            <a:r>
              <a:rPr lang="en-US" sz="1400" b="1" dirty="0"/>
              <a:t>Une grande partie des ressources a été consacrée aux investissements dans les infrastructures, en particulier dans les zones rurales et la reconstruction post-cyclone.</a:t>
            </a:r>
          </a:p>
          <a:p>
            <a:r>
              <a:rPr lang="en-US" sz="1400" b="1" dirty="0"/>
              <a:t>Adoption d'une approche intégrative, regroupant les investissements dans les infrastructures et la protection sociale.</a:t>
            </a:r>
          </a:p>
          <a:p>
            <a:r>
              <a:rPr lang="en-US" sz="1400" b="1" dirty="0"/>
              <a:t>Priorisation des réponses à Cabo Delgado (EB 2022).</a:t>
            </a:r>
          </a:p>
          <a:p>
            <a:r>
              <a:rPr lang="en-US" sz="1400" b="1" dirty="0"/>
              <a:t>Accent mis sur l'amélioration de la capacité de gestion macroéconomique, en particulier la gestion de la dette, des risques budgétaires et de l'investissement public.</a:t>
            </a:r>
          </a:p>
          <a:p>
            <a:r>
              <a:rPr lang="en-US" sz="1400" b="1" dirty="0"/>
              <a:t>Le CPF précédent a accordé une grande priorité aux études permettant de mieux comprendre les défis du pays, telles que le Diagnostic du secteur privé du pays, le Mémorandum économique du pays, la Revue urbaine et le Diagnostic des revenus ruraux, entre autres. </a:t>
            </a:r>
          </a:p>
          <a:p>
            <a:r>
              <a:rPr lang="en-US" sz="1400" b="1" dirty="0"/>
              <a:t>Une étude sur les impacts du changement climatique (CCDR), une actualisation de l'étude sur la pauvreté (Poverty Assessment) et une analyse détaillée de la question du genre (Gender Assessment) sont en cours.</a:t>
            </a:r>
          </a:p>
          <a:p>
            <a:r>
              <a:rPr lang="en-US" sz="1400" b="1" dirty="0"/>
              <a:t/>
            </a:r>
          </a:p>
          <a:p>
            <a:r>
              <a:rPr lang="en-US" sz="1400" b="1" dirty="0"/>
              <a:t/>
            </a:r>
          </a:p>
          <a:p>
            <a:r>
              <a:rPr lang="en-US" sz="1400" b="1" dirty="0"/>
              <a:t/>
            </a:r>
          </a:p>
        </p:txBody>
      </p:sp>
      <p:graphicFrame>
        <p:nvGraphicFramePr>
          <p:cNvPr id="9" name="Chart 8">
            <a:extLst>
              <a:ext uri="{FF2B5EF4-FFF2-40B4-BE49-F238E27FC236}">
                <a16:creationId xmlns:a16="http://schemas.microsoft.com/office/drawing/2014/main" id="{A5499A8E-A137-4699-BE3A-E5C6193DB181}"/>
              </a:ext>
            </a:extLst>
          </p:cNvPr>
          <p:cNvGraphicFramePr>
            <a:graphicFrameLocks/>
          </p:cNvGraphicFramePr>
          <p:nvPr>
            <p:extLst>
              <p:ext uri="{D42A27DB-BD31-4B8C-83A1-F6EECF244321}">
                <p14:modId xmlns:p14="http://schemas.microsoft.com/office/powerpoint/2010/main" val="1040687743"/>
              </p:ext>
            </p:extLst>
          </p:nvPr>
        </p:nvGraphicFramePr>
        <p:xfrm>
          <a:off x="7088146" y="1290918"/>
          <a:ext cx="4836977" cy="4311557"/>
        </p:xfrm>
        <a:graphic>
          <a:graphicData uri="http://schemas.openxmlformats.org/drawingml/2006/chart">
            <c:chart xmlns:c="http://schemas.openxmlformats.org/drawingml/2006/chart" xmlns:r="http://schemas.openxmlformats.org/officeDocument/2006/relationships" r:id="rId2"/>
          </a:graphicData>
        </a:graphic>
      </p:graphicFrame>
      <p:sp>
        <p:nvSpPr>
          <p:cNvPr id="10" name="Title 1">
            <a:extLst>
              <a:ext uri="{FF2B5EF4-FFF2-40B4-BE49-F238E27FC236}">
                <a16:creationId xmlns:a16="http://schemas.microsoft.com/office/drawing/2014/main" id="{2F08AA56-3BA1-41C9-8EC2-A2B8C5546FC8}"/>
              </a:ext>
            </a:extLst>
          </p:cNvPr>
          <p:cNvSpPr txBox="1">
            <a:spLocks/>
          </p:cNvSpPr>
          <p:nvPr/>
        </p:nvSpPr>
        <p:spPr>
          <a:xfrm>
            <a:off x="8513782" y="887892"/>
            <a:ext cx="2467370" cy="8060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2300" b="1" kern="1200">
                <a:solidFill>
                  <a:schemeClr val="accent1">
                    <a:lumMod val="75000"/>
                  </a:schemeClr>
                </a:solidFill>
                <a:latin typeface="Arial"/>
                <a:ea typeface="+mj-ea"/>
                <a:cs typeface="Arial"/>
              </a:defRPr>
            </a:lvl1pPr>
          </a:lstStyle>
          <a:p>
            <a:r>
              <a:rPr lang="pt-BR" sz="1000" cap="all" dirty="0">
                <a:solidFill>
                  <a:schemeClr val="tx1"/>
                </a:solidFill>
                <a:latin typeface="+mj-lt"/>
                <a:ea typeface="+mn-ea"/>
                <a:cs typeface="+mn-cs"/>
              </a:rPr>
              <a:t>Allocation finale
</a:t>
            </a:r>
          </a:p>
          <a:p>
            <a:r>
              <a:rPr lang="pt-BR" sz="1000" cap="all" dirty="0">
                <a:solidFill>
                  <a:schemeClr val="tx1"/>
                </a:solidFill>
                <a:latin typeface="+mj-lt"/>
                <a:ea typeface="+mn-ea"/>
                <a:cs typeface="+mn-cs"/>
              </a:rPr>
              <a:t/>
            </a:r>
          </a:p>
        </p:txBody>
      </p:sp>
      <p:sp>
        <p:nvSpPr>
          <p:cNvPr id="7" name="Footer Placeholder 6">
            <a:extLst>
              <a:ext uri="{FF2B5EF4-FFF2-40B4-BE49-F238E27FC236}">
                <a16:creationId xmlns:a16="http://schemas.microsoft.com/office/drawing/2014/main" id="{AF70A6BA-9FEE-4FF3-9D26-0762E13834EE}"/>
              </a:ext>
            </a:extLst>
          </p:cNvPr>
          <p:cNvSpPr>
            <a:spLocks noGrp="1"/>
          </p:cNvSpPr>
          <p:nvPr>
            <p:ph type="ftr" sz="quarter" idx="11"/>
          </p:nvPr>
        </p:nvSpPr>
        <p:spPr>
          <a:xfrm>
            <a:off x="4038600" y="6557048"/>
            <a:ext cx="4114800" cy="365125"/>
          </a:xfrm>
        </p:spPr>
        <p:txBody>
          <a:bodyPr/>
          <a:lstStyle/>
          <a:p>
            <a:r>
              <a:rPr lang="en-US"/>
              <a:t>CPF 2023-2027. Version publique. Maputo, mai 2022.</a:t>
            </a:r>
          </a:p>
        </p:txBody>
      </p:sp>
      <p:sp>
        <p:nvSpPr>
          <p:cNvPr id="8" name="Slide Number Placeholder 7">
            <a:extLst>
              <a:ext uri="{FF2B5EF4-FFF2-40B4-BE49-F238E27FC236}">
                <a16:creationId xmlns:a16="http://schemas.microsoft.com/office/drawing/2014/main" id="{CCD3979E-F30D-4DBB-BFB4-CA06FA9C5C4E}"/>
              </a:ext>
            </a:extLst>
          </p:cNvPr>
          <p:cNvSpPr>
            <a:spLocks noGrp="1"/>
          </p:cNvSpPr>
          <p:nvPr>
            <p:ph type="sldNum" sz="quarter" idx="12"/>
          </p:nvPr>
        </p:nvSpPr>
        <p:spPr/>
        <p:txBody>
          <a:bodyPr/>
          <a:lstStyle/>
          <a:p>
            <a:fld id="{B8473C9A-9E91-4025-B5E2-D7B202510636}" type="slidenum">
              <a:rPr lang="en-US" smtClean="0"/>
              <a:t>11</a:t>
            </a:fld>
            <a:endParaRPr lang="en-US" dirty="0"/>
          </a:p>
        </p:txBody>
      </p:sp>
      <p:pic>
        <p:nvPicPr>
          <p:cNvPr id="4" name="Picture 3">
            <a:extLst>
              <a:ext uri="{FF2B5EF4-FFF2-40B4-BE49-F238E27FC236}">
                <a16:creationId xmlns:a16="http://schemas.microsoft.com/office/drawing/2014/main" id="{BDFFB0C1-E31A-47B0-BD50-98DAE498F8F0}"/>
              </a:ext>
            </a:extLst>
          </p:cNvPr>
          <p:cNvPicPr>
            <a:picLocks noChangeAspect="1"/>
          </p:cNvPicPr>
          <p:nvPr/>
        </p:nvPicPr>
        <p:blipFill>
          <a:blip r:embed="rId3"/>
          <a:stretch>
            <a:fillRect/>
          </a:stretch>
        </p:blipFill>
        <p:spPr>
          <a:xfrm>
            <a:off x="281614" y="320229"/>
            <a:ext cx="2316681" cy="463336"/>
          </a:xfrm>
          <a:prstGeom prst="rect">
            <a:avLst/>
          </a:prstGeom>
        </p:spPr>
      </p:pic>
    </p:spTree>
    <p:extLst>
      <p:ext uri="{BB962C8B-B14F-4D97-AF65-F5344CB8AC3E}">
        <p14:creationId xmlns:p14="http://schemas.microsoft.com/office/powerpoint/2010/main" val="594525742"/>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267A4-0F4F-479B-832F-37F8FDAE666F}"/>
              </a:ext>
            </a:extLst>
          </p:cNvPr>
          <p:cNvSpPr>
            <a:spLocks noGrp="1"/>
          </p:cNvSpPr>
          <p:nvPr>
            <p:ph type="title"/>
          </p:nvPr>
        </p:nvSpPr>
        <p:spPr>
          <a:xfrm>
            <a:off x="3743661" y="-22415"/>
            <a:ext cx="7448214" cy="815975"/>
          </a:xfrm>
        </p:spPr>
        <p:txBody>
          <a:bodyPr>
            <a:normAutofit/>
          </a:bodyPr>
          <a:lstStyle/>
          <a:p>
            <a:r>
              <a:rPr lang="en-US" sz="2400" dirty="0"/>
              <a:t>CPF EB2017-2021 : résultats 
</a:t>
            </a:r>
          </a:p>
          <a:p>
            <a:r>
              <a:rPr lang="en-US" sz="2400" dirty="0"/>
              <a:t/>
            </a:r>
          </a:p>
        </p:txBody>
      </p:sp>
      <p:sp>
        <p:nvSpPr>
          <p:cNvPr id="3" name="Content Placeholder 2">
            <a:extLst>
              <a:ext uri="{FF2B5EF4-FFF2-40B4-BE49-F238E27FC236}">
                <a16:creationId xmlns:a16="http://schemas.microsoft.com/office/drawing/2014/main" id="{D13B107D-9314-4019-A8AC-8BDA69837A5E}"/>
              </a:ext>
            </a:extLst>
          </p:cNvPr>
          <p:cNvSpPr>
            <a:spLocks noGrp="1"/>
          </p:cNvSpPr>
          <p:nvPr>
            <p:ph idx="1"/>
          </p:nvPr>
        </p:nvSpPr>
        <p:spPr>
          <a:xfrm>
            <a:off x="676274" y="754918"/>
            <a:ext cx="10677525" cy="4995863"/>
          </a:xfrm>
        </p:spPr>
        <p:txBody>
          <a:bodyPr/>
          <a:lstStyle/>
          <a:p>
            <a:r>
              <a:rPr lang="en-US" sz="1400" b="0" i="0" u="none" strike="noStrike" dirty="0">
                <a:highlight>
                  <a:srgbClr val="000000">
                    <a:alpha val="0"/>
                  </a:srgbClr>
                </a:highlight>
                <a:latin typeface="Arial"/>
              </a:rPr>
              <a:t>Le CPF EB17-EB21 a été préparé et mis en œuvre dans un contexte économique défavorable. Sa mise en œuvre a néanmoins été modérément satisfaisante.</a:t>
            </a:r>
          </a:p>
          <a:p>
            <a:r>
              <a:rPr lang="en-US" sz="1400" b="0" i="0" u="none" strike="noStrike" dirty="0">
                <a:highlight>
                  <a:srgbClr val="000000">
                    <a:alpha val="0"/>
                  </a:srgbClr>
                </a:highlight>
                <a:latin typeface="Arial"/>
              </a:rPr>
              <a:t>Le CPF a atteint à 100 % l'un de ses neuf objectifs stratégiques (SO) ; six ont été en grande partie atteints et deux « partiellement atteints ».</a:t>
            </a:r>
          </a:p>
        </p:txBody>
      </p:sp>
      <p:graphicFrame>
        <p:nvGraphicFramePr>
          <p:cNvPr id="7" name="Table 6">
            <a:extLst>
              <a:ext uri="{FF2B5EF4-FFF2-40B4-BE49-F238E27FC236}">
                <a16:creationId xmlns:a16="http://schemas.microsoft.com/office/drawing/2014/main" id="{32DB655D-42A7-4817-899F-7D22316FD394}"/>
              </a:ext>
            </a:extLst>
          </p:cNvPr>
          <p:cNvGraphicFramePr>
            <a:graphicFrameLocks noGrp="1"/>
          </p:cNvGraphicFramePr>
          <p:nvPr>
            <p:extLst>
              <p:ext uri="{D42A27DB-BD31-4B8C-83A1-F6EECF244321}">
                <p14:modId xmlns:p14="http://schemas.microsoft.com/office/powerpoint/2010/main" val="3011176160"/>
              </p:ext>
            </p:extLst>
          </p:nvPr>
        </p:nvGraphicFramePr>
        <p:xfrm>
          <a:off x="676275" y="1721224"/>
          <a:ext cx="10677524" cy="4276751"/>
        </p:xfrm>
        <a:graphic>
          <a:graphicData uri="http://schemas.openxmlformats.org/drawingml/2006/table">
            <a:tbl>
              <a:tblPr firstRow="1" firstCol="1" bandRow="1"/>
              <a:tblGrid>
                <a:gridCol w="1427558">
                  <a:extLst>
                    <a:ext uri="{9D8B030D-6E8A-4147-A177-3AD203B41FA5}">
                      <a16:colId xmlns:a16="http://schemas.microsoft.com/office/drawing/2014/main" val="3118927508"/>
                    </a:ext>
                  </a:extLst>
                </a:gridCol>
                <a:gridCol w="6525977">
                  <a:extLst>
                    <a:ext uri="{9D8B030D-6E8A-4147-A177-3AD203B41FA5}">
                      <a16:colId xmlns:a16="http://schemas.microsoft.com/office/drawing/2014/main" val="1649127289"/>
                    </a:ext>
                  </a:extLst>
                </a:gridCol>
                <a:gridCol w="2553741">
                  <a:extLst>
                    <a:ext uri="{9D8B030D-6E8A-4147-A177-3AD203B41FA5}">
                      <a16:colId xmlns:a16="http://schemas.microsoft.com/office/drawing/2014/main" val="3918980264"/>
                    </a:ext>
                  </a:extLst>
                </a:gridCol>
                <a:gridCol w="170248">
                  <a:extLst>
                    <a:ext uri="{9D8B030D-6E8A-4147-A177-3AD203B41FA5}">
                      <a16:colId xmlns:a16="http://schemas.microsoft.com/office/drawing/2014/main" val="2105357082"/>
                    </a:ext>
                  </a:extLst>
                </a:gridCol>
              </a:tblGrid>
              <a:tr h="251795">
                <a:tc gridSpan="2">
                  <a:txBody>
                    <a:bodyPr/>
                    <a:lstStyle/>
                    <a:p>
                      <a:pPr marL="0" marR="0" algn="ctr">
                        <a:lnSpc>
                          <a:spcPct val="107000"/>
                        </a:lnSpc>
                        <a:spcBef>
                          <a:spcPts val="0"/>
                        </a:spcBef>
                        <a:spcAft>
                          <a:spcPts val="0"/>
                        </a:spcAft>
                      </a:pPr>
                      <a:r>
                        <a:rPr lang="pt-BR" sz="1300" b="1" dirty="0">
                          <a:solidFill>
                            <a:srgbClr val="000000"/>
                          </a:solidFill>
                          <a:effectLst/>
                          <a:latin typeface="+mn-lt"/>
                          <a:ea typeface="Times New Roman" panose="02020603050405020304" pitchFamily="18" charset="0"/>
                          <a:cs typeface="Times New Roman" panose="02020603050405020304" pitchFamily="18" charset="0"/>
                        </a:rPr>
                        <a:t>Focus Area /Strategic Objective</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dirty="0"/>
                    </a:p>
                  </a:txBody>
                  <a:tcPr/>
                </a:tc>
                <a:tc>
                  <a:txBody>
                    <a:bodyPr/>
                    <a:lstStyle/>
                    <a:p>
                      <a:pPr marL="0" marR="0" algn="ctr">
                        <a:lnSpc>
                          <a:spcPct val="107000"/>
                        </a:lnSpc>
                        <a:spcBef>
                          <a:spcPts val="0"/>
                        </a:spcBef>
                        <a:spcAft>
                          <a:spcPts val="0"/>
                        </a:spcAft>
                      </a:pPr>
                      <a:r>
                        <a:rPr lang="pt-BR" sz="1300" b="1" dirty="0">
                          <a:solidFill>
                            <a:srgbClr val="000000"/>
                          </a:solidFill>
                          <a:effectLst/>
                          <a:latin typeface="+mn-lt"/>
                          <a:ea typeface="Times New Roman" panose="02020603050405020304" pitchFamily="18" charset="0"/>
                          <a:cs typeface="Times New Roman" panose="02020603050405020304" pitchFamily="18" charset="0"/>
                        </a:rPr>
                        <a:t>Classification</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36956950"/>
                  </a:ext>
                </a:extLst>
              </a:tr>
              <a:tr h="251795">
                <a:tc>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Domaine prioritaire 1 :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gridSpan="3">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Promote diversified growth and enhanced productivity – Moderately Satisfactory</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350130769"/>
                  </a:ext>
                </a:extLst>
              </a:tr>
              <a:tr h="351623">
                <a:tc gridSpan="2">
                  <a:txBody>
                    <a:bodyPr/>
                    <a:lstStyle/>
                    <a:p>
                      <a:pPr marL="0" marR="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1: Improved economic management</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En grande partie atteint </a:t>
                      </a:r>
                      <a:br/>
                      <a:r>
                        <a:rPr lang="en-US" sz="1300" dirty="0">
                          <a:solidFill>
                            <a:srgbClr val="000000"/>
                          </a:solidFill>
                          <a:effectLst/>
                          <a:latin typeface="+mn-lt"/>
                          <a:ea typeface="Times New Roman" panose="02020603050405020304" pitchFamily="18" charset="0"/>
                          <a:cs typeface="Times New Roman" panose="02020603050405020304" pitchFamily="18" charset="0"/>
                        </a:rPr>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4093988670"/>
                  </a:ext>
                </a:extLst>
              </a:tr>
              <a:tr h="556526">
                <a:tc gridSpan="2">
                  <a:txBody>
                    <a:bodyPr/>
                    <a:lstStyle/>
                    <a:p>
                      <a:pPr marL="0" marR="0" algn="l">
                        <a:lnSpc>
                          <a:spcPct val="70000"/>
                        </a:lnSpc>
                        <a:spcBef>
                          <a:spcPts val="0"/>
                        </a:spcBef>
                        <a:spcAft>
                          <a:spcPts val="0"/>
                        </a:spcAft>
                      </a:pPr>
                      <a:r>
                        <a:rPr lang="en-US" sz="1300" dirty="0">
                          <a:effectLst/>
                          <a:latin typeface="+mn-lt"/>
                          <a:ea typeface="Times New Roman" panose="02020603050405020304" pitchFamily="18" charset="0"/>
                          <a:cs typeface="Times New Roman" panose="02020603050405020304" pitchFamily="18" charset="0"/>
                        </a:rPr>
                        <a:t>Objective 2: Increase in Agricultural Income and Increase in Land Security</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En grande partie atteint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878411351"/>
                  </a:ext>
                </a:extLst>
              </a:tr>
              <a:tr h="351623">
                <a:tc gridSpan="2">
                  <a:txBody>
                    <a:bodyPr/>
                    <a:lstStyle/>
                    <a:p>
                      <a:pPr marL="0" marR="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3: Improve the Business Environment for Job Creation</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Partiellement atteint </a:t>
                      </a:r>
                      <a:br/>
                      <a:r>
                        <a:rPr lang="en-US" sz="1300" dirty="0">
                          <a:solidFill>
                            <a:srgbClr val="000000"/>
                          </a:solidFill>
                          <a:effectLst/>
                          <a:latin typeface="+mn-lt"/>
                          <a:ea typeface="Times New Roman" panose="02020603050405020304" pitchFamily="18" charset="0"/>
                          <a:cs typeface="Times New Roman" panose="02020603050405020304" pitchFamily="18" charset="0"/>
                        </a:rPr>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422386611"/>
                  </a:ext>
                </a:extLst>
              </a:tr>
              <a:tr h="298667">
                <a:tc gridSpan="2">
                  <a:txBody>
                    <a:bodyPr/>
                    <a:lstStyle/>
                    <a:p>
                      <a:pPr marL="0" marR="0" algn="l">
                        <a:lnSpc>
                          <a:spcPct val="70000"/>
                        </a:lnSpc>
                        <a:spcBef>
                          <a:spcPts val="0"/>
                        </a:spcBef>
                        <a:spcAft>
                          <a:spcPts val="0"/>
                        </a:spcAft>
                      </a:pPr>
                      <a:r>
                        <a:rPr lang="en-US" sz="1300" b="1" dirty="0">
                          <a:solidFill>
                            <a:srgbClr val="000000"/>
                          </a:solidFill>
                          <a:effectLst/>
                          <a:latin typeface="+mn-lt"/>
                          <a:ea typeface="Times New Roman" panose="02020603050405020304" pitchFamily="18" charset="0"/>
                          <a:cs typeface="Times New Roman" panose="02020603050405020304" pitchFamily="18" charset="0"/>
                        </a:rPr>
                        <a:t>Objective 4: Expand Access and Improve Electricity Reliability</a:t>
                      </a:r>
                      <a:endParaRPr lang="en-US" sz="1300" b="1"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kern="1200" dirty="0">
                          <a:solidFill>
                            <a:srgbClr val="000000"/>
                          </a:solidFill>
                          <a:effectLst/>
                          <a:latin typeface="+mn-lt"/>
                          <a:ea typeface="Times New Roman" panose="02020603050405020304" pitchFamily="18" charset="0"/>
                          <a:cs typeface="Times New Roman" panose="02020603050405020304" pitchFamily="18" charset="0"/>
                        </a:rPr>
                        <a:t>Atteint </a:t>
                      </a:r>
                      <a:br/>
                      <a:r>
                        <a:rPr lang="en-US" sz="1300" kern="1200" dirty="0">
                          <a:solidFill>
                            <a:srgbClr val="000000"/>
                          </a:solidFill>
                          <a:effectLst/>
                          <a:latin typeface="+mn-lt"/>
                          <a:ea typeface="Times New Roman" panose="02020603050405020304" pitchFamily="18" charset="0"/>
                          <a:cs typeface="Times New Roman" panose="02020603050405020304" pitchFamily="18" charset="0"/>
                        </a:rPr>
                        <a:t/>
                      </a:r>
                      <a:r>
                        <a:rPr lang="en-US" sz="1300" dirty="0">
                          <a:solidFill>
                            <a:srgbClr val="000000"/>
                          </a:solidFill>
                          <a:effectLst/>
                          <a:latin typeface="+mn-lt"/>
                          <a:ea typeface="Times New Roman" panose="02020603050405020304" pitchFamily="18" charset="0"/>
                          <a:cs typeface="Times New Roman" panose="02020603050405020304" pitchFamily="18" charset="0"/>
                        </a:rPr>
                        <a:t>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1201050771"/>
                  </a:ext>
                </a:extLst>
              </a:tr>
              <a:tr h="209486">
                <a:tc>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Domaine prioritaire 2 :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Investir dans le capital humain – Modérément satisfaisant</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a:txBody>
                    <a:bodyPr/>
                    <a:lstStyle/>
                    <a:p>
                      <a:pPr marL="16383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1638501185"/>
                  </a:ext>
                </a:extLst>
              </a:tr>
              <a:tr h="251795">
                <a:tc gridSpan="2">
                  <a:txBody>
                    <a:bodyPr/>
                    <a:lstStyle/>
                    <a:p>
                      <a:pPr marL="0" marR="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5: Improve the Competency Base</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En grande partie atteint</a:t>
                      </a:r>
                      <a:r>
                        <a:rPr lang="en-US" sz="1300" dirty="0" err="1">
                          <a:solidFill>
                            <a:srgbClr val="000000"/>
                          </a:solidFill>
                          <a:effectLst/>
                          <a:latin typeface="+mn-lt"/>
                          <a:ea typeface="Times New Roman" panose="02020603050405020304" pitchFamily="18" charset="0"/>
                          <a:cs typeface="Times New Roman" panose="02020603050405020304" pitchFamily="18" charset="0"/>
                        </a:rPr>
                        <a:t>acheived</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071956371"/>
                  </a:ext>
                </a:extLst>
              </a:tr>
              <a:tr h="334803">
                <a:tc gridSpan="2">
                  <a:txBody>
                    <a:bodyPr/>
                    <a:lstStyle/>
                    <a:p>
                      <a:pPr marL="0" marR="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6: Improve Health Service Delivery</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En grande partie atteint</a:t>
                      </a:r>
                      <a:r>
                        <a:rPr lang="en-US" sz="1300" dirty="0" err="1">
                          <a:solidFill>
                            <a:srgbClr val="000000"/>
                          </a:solidFill>
                          <a:effectLst/>
                          <a:latin typeface="+mn-lt"/>
                          <a:ea typeface="Times New Roman" panose="02020603050405020304" pitchFamily="18" charset="0"/>
                          <a:cs typeface="Times New Roman" panose="02020603050405020304" pitchFamily="18" charset="0"/>
                        </a:rPr>
                        <a:t>acheived</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1159681145"/>
                  </a:ext>
                </a:extLst>
              </a:tr>
              <a:tr h="328322">
                <a:tc gridSpan="2">
                  <a:txBody>
                    <a:bodyPr/>
                    <a:lstStyle/>
                    <a:p>
                      <a:pPr marL="0" marR="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Objective 7: Improve Access to Water and Sanitation</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107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En grande partie atteint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2866303018"/>
                  </a:ext>
                </a:extLst>
              </a:tr>
              <a:tr h="343363">
                <a:tc>
                  <a:txBody>
                    <a:bodyPr/>
                    <a:lstStyle/>
                    <a:p>
                      <a:pPr marL="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Domaine prioritaire 3 :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gridSpan="3">
                  <a:txBody>
                    <a:bodyPr/>
                    <a:lstStyle/>
                    <a:p>
                      <a:pPr marL="163830" marR="0" algn="l">
                        <a:lnSpc>
                          <a:spcPct val="107000"/>
                        </a:lnSpc>
                        <a:spcBef>
                          <a:spcPts val="0"/>
                        </a:spcBef>
                        <a:spcAft>
                          <a:spcPts val="0"/>
                        </a:spcAft>
                      </a:pPr>
                      <a:r>
                        <a:rPr lang="en-US" sz="1300" dirty="0">
                          <a:solidFill>
                            <a:srgbClr val="FFFFFF"/>
                          </a:solidFill>
                          <a:effectLst/>
                          <a:latin typeface="+mn-lt"/>
                          <a:ea typeface="Times New Roman" panose="02020603050405020304" pitchFamily="18" charset="0"/>
                          <a:cs typeface="Times New Roman" panose="02020603050405020304" pitchFamily="18" charset="0"/>
                        </a:rPr>
                        <a:t>Strengthening Sustainability and Resilience - Moderately Satisfactory</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1">
                        <a:lumMod val="75000"/>
                      </a:schemeClr>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507405816"/>
                  </a:ext>
                </a:extLst>
              </a:tr>
              <a:tr h="395330">
                <a:tc gridSpan="2">
                  <a:txBody>
                    <a:bodyPr/>
                    <a:lstStyle/>
                    <a:p>
                      <a:pPr marL="0" marR="0" algn="l">
                        <a:lnSpc>
                          <a:spcPct val="70000"/>
                        </a:lnSpc>
                        <a:spcBef>
                          <a:spcPts val="0"/>
                        </a:spcBef>
                        <a:spcAft>
                          <a:spcPts val="0"/>
                        </a:spcAft>
                      </a:pPr>
                      <a:r>
                        <a:rPr lang="en-US" sz="1300" b="1" dirty="0">
                          <a:solidFill>
                            <a:srgbClr val="000000"/>
                          </a:solidFill>
                          <a:effectLst/>
                          <a:latin typeface="+mn-lt"/>
                          <a:ea typeface="Times New Roman" panose="02020603050405020304" pitchFamily="18" charset="0"/>
                          <a:cs typeface="Times New Roman" panose="02020603050405020304" pitchFamily="18" charset="0"/>
                        </a:rPr>
                        <a:t>Objective 8: Support for Recovery and Resilience</a:t>
                      </a:r>
                      <a:endParaRPr lang="en-US" sz="1300" b="1"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just">
                        <a:lnSpc>
                          <a:spcPct val="70000"/>
                        </a:lnSpc>
                        <a:spcBef>
                          <a:spcPts val="0"/>
                        </a:spcBef>
                        <a:spcAft>
                          <a:spcPts val="0"/>
                        </a:spcAft>
                      </a:pPr>
                      <a:r>
                        <a:rPr lang="en-US" sz="1300" dirty="0">
                          <a:effectLst/>
                          <a:latin typeface="+mn-lt"/>
                          <a:ea typeface="Times New Roman" panose="02020603050405020304" pitchFamily="18" charset="0"/>
                          <a:cs typeface="Times New Roman" panose="02020603050405020304" pitchFamily="18" charset="0"/>
                        </a:rPr>
                        <a:t>En grande partie atteint </a:t>
                      </a:r>
                      <a:br/>
                      <a:r>
                        <a:rPr lang="en-US" sz="1300" dirty="0">
                          <a:effectLst/>
                          <a:latin typeface="+mn-lt"/>
                          <a:ea typeface="Times New Roman" panose="02020603050405020304" pitchFamily="18" charset="0"/>
                          <a:cs typeface="Times New Roman" panose="02020603050405020304" pitchFamily="18" charset="0"/>
                        </a:rPr>
                        <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just">
                        <a:lnSpc>
                          <a:spcPct val="107000"/>
                        </a:lnSpc>
                        <a:spcBef>
                          <a:spcPts val="0"/>
                        </a:spcBef>
                        <a:spcAft>
                          <a:spcPts val="0"/>
                        </a:spcAft>
                      </a:pPr>
                      <a:r>
                        <a:rPr lang="en-US" sz="130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2492229537"/>
                  </a:ext>
                </a:extLst>
              </a:tr>
              <a:tr h="351623">
                <a:tc gridSpan="2">
                  <a:txBody>
                    <a:bodyPr/>
                    <a:lstStyle/>
                    <a:p>
                      <a:pPr marL="0" marR="0" algn="l">
                        <a:lnSpc>
                          <a:spcPct val="70000"/>
                        </a:lnSpc>
                        <a:spcBef>
                          <a:spcPts val="0"/>
                        </a:spcBef>
                        <a:spcAft>
                          <a:spcPts val="0"/>
                        </a:spcAft>
                      </a:pPr>
                      <a:r>
                        <a:rPr lang="pt-BR" sz="1300" dirty="0">
                          <a:solidFill>
                            <a:srgbClr val="000000"/>
                          </a:solidFill>
                          <a:effectLst/>
                          <a:latin typeface="+mn-lt"/>
                          <a:ea typeface="Times New Roman" panose="02020603050405020304" pitchFamily="18" charset="0"/>
                          <a:cs typeface="Times New Roman" panose="02020603050405020304" pitchFamily="18" charset="0"/>
                        </a:rPr>
                        <a:t>Objective9: </a:t>
                      </a:r>
                      <a:r>
                        <a:rPr lang="en-US" sz="1300" dirty="0">
                          <a:solidFill>
                            <a:srgbClr val="000000"/>
                          </a:solidFill>
                          <a:effectLst/>
                          <a:latin typeface="+mn-lt"/>
                          <a:ea typeface="Times New Roman" panose="02020603050405020304" pitchFamily="18" charset="0"/>
                          <a:cs typeface="Times New Roman" panose="02020603050405020304" pitchFamily="18" charset="0"/>
                        </a:rPr>
                        <a:t>Promote Inclusive Urbanization and Decentralization</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a:txBody>
                    <a:bodyPr/>
                    <a:lstStyle/>
                    <a:p>
                      <a:pPr marL="163830" marR="0" indent="114300" algn="l">
                        <a:lnSpc>
                          <a:spcPct val="70000"/>
                        </a:lnSpc>
                        <a:spcBef>
                          <a:spcPts val="0"/>
                        </a:spcBef>
                        <a:spcAft>
                          <a:spcPts val="0"/>
                        </a:spcAft>
                      </a:pPr>
                      <a:r>
                        <a:rPr lang="en-US" sz="1300" dirty="0">
                          <a:solidFill>
                            <a:srgbClr val="000000"/>
                          </a:solidFill>
                          <a:effectLst/>
                          <a:latin typeface="+mn-lt"/>
                          <a:ea typeface="Times New Roman" panose="02020603050405020304" pitchFamily="18" charset="0"/>
                          <a:cs typeface="Times New Roman" panose="02020603050405020304" pitchFamily="18" charset="0"/>
                        </a:rPr>
                        <a:t>Partiellement atteint </a:t>
                      </a:r>
                      <a:br/>
                      <a:r>
                        <a:rPr lang="en-US" sz="1300" dirty="0">
                          <a:solidFill>
                            <a:srgbClr val="000000"/>
                          </a:solidFill>
                          <a:effectLst/>
                          <a:latin typeface="+mn-lt"/>
                          <a:ea typeface="Times New Roman" panose="02020603050405020304" pitchFamily="18" charset="0"/>
                          <a:cs typeface="Times New Roman" panose="02020603050405020304" pitchFamily="18" charset="0"/>
                        </a:rPr>
                        <a:t/>
                      </a:r>
                      <a:endParaRPr lang="en-US" sz="1300" dirty="0">
                        <a:effectLst/>
                        <a:latin typeface="+mn-lt"/>
                        <a:ea typeface="Times New Roman" panose="02020603050405020304" pitchFamily="18"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marL="0" marR="0" algn="just">
                        <a:lnSpc>
                          <a:spcPct val="107000"/>
                        </a:lnSpc>
                        <a:spcBef>
                          <a:spcPts val="0"/>
                        </a:spcBef>
                        <a:spcAft>
                          <a:spcPts val="0"/>
                        </a:spcAft>
                      </a:pPr>
                      <a:r>
                        <a:rPr lang="en-US" sz="1300" dirty="0">
                          <a:effectLst/>
                          <a:latin typeface="+mn-lt"/>
                          <a:ea typeface="Times New Roman" panose="02020603050405020304" pitchFamily="18" charset="0"/>
                          <a:cs typeface="Times New Roman" panose="02020603050405020304" pitchFamily="18" charset="0"/>
                        </a:rPr>
                        <a:t> </a:t>
                      </a:r>
                    </a:p>
                  </a:txBody>
                  <a:tcPr marL="0" marR="0" marT="0" marB="0" anchor="ctr">
                    <a:lnL>
                      <a:noFill/>
                    </a:lnL>
                    <a:lnR>
                      <a:noFill/>
                    </a:lnR>
                    <a:lnT>
                      <a:noFill/>
                    </a:lnT>
                    <a:lnB>
                      <a:noFill/>
                    </a:lnB>
                  </a:tcPr>
                </a:tc>
                <a:extLst>
                  <a:ext uri="{0D108BD9-81ED-4DB2-BD59-A6C34878D82A}">
                    <a16:rowId xmlns:a16="http://schemas.microsoft.com/office/drawing/2014/main" val="1212770644"/>
                  </a:ext>
                </a:extLst>
              </a:tr>
            </a:tbl>
          </a:graphicData>
        </a:graphic>
      </p:graphicFrame>
      <p:sp>
        <p:nvSpPr>
          <p:cNvPr id="9" name="TextBox 8">
            <a:extLst>
              <a:ext uri="{FF2B5EF4-FFF2-40B4-BE49-F238E27FC236}">
                <a16:creationId xmlns:a16="http://schemas.microsoft.com/office/drawing/2014/main" id="{6122B999-DE86-4BC0-AC20-DE5BD83111C8}"/>
              </a:ext>
            </a:extLst>
          </p:cNvPr>
          <p:cNvSpPr txBox="1"/>
          <p:nvPr/>
        </p:nvSpPr>
        <p:spPr>
          <a:xfrm>
            <a:off x="534297" y="5932887"/>
            <a:ext cx="10981428" cy="430887"/>
          </a:xfrm>
          <a:prstGeom prst="rect">
            <a:avLst/>
          </a:prstGeom>
          <a:noFill/>
        </p:spPr>
        <p:txBody>
          <a:bodyPr wrap="square">
            <a:spAutoFit/>
          </a:bodyPr>
          <a:lstStyle/>
          <a:p>
            <a:r>
              <a:rPr lang="en-US" sz="1100" i="1" dirty="0">
                <a:latin typeface="+mj-lt"/>
              </a:rPr>
              <a:t>La classification des objectifs suit les catégories « atteint », « en grande partie atteint », « partiellement atteint » et « non atteint », selon le niveau de réalisation des indicateurs et l'existence de preuves qualitatives.</a:t>
            </a:r>
          </a:p>
        </p:txBody>
      </p:sp>
      <p:sp>
        <p:nvSpPr>
          <p:cNvPr id="11" name="Footer Placeholder 10">
            <a:extLst>
              <a:ext uri="{FF2B5EF4-FFF2-40B4-BE49-F238E27FC236}">
                <a16:creationId xmlns:a16="http://schemas.microsoft.com/office/drawing/2014/main" id="{49100E84-E54D-4FC1-B0A7-C901995EB704}"/>
              </a:ext>
            </a:extLst>
          </p:cNvPr>
          <p:cNvSpPr>
            <a:spLocks noGrp="1"/>
          </p:cNvSpPr>
          <p:nvPr>
            <p:ph type="ftr" sz="quarter" idx="11"/>
          </p:nvPr>
        </p:nvSpPr>
        <p:spPr/>
        <p:txBody>
          <a:bodyPr/>
          <a:lstStyle/>
          <a:p>
            <a:r>
              <a:rPr lang="en-US"/>
              <a:t>CPF 2023-2027. Version publique. Maputo, mai 2022.</a:t>
            </a:r>
          </a:p>
        </p:txBody>
      </p:sp>
      <p:sp>
        <p:nvSpPr>
          <p:cNvPr id="12" name="Slide Number Placeholder 11">
            <a:extLst>
              <a:ext uri="{FF2B5EF4-FFF2-40B4-BE49-F238E27FC236}">
                <a16:creationId xmlns:a16="http://schemas.microsoft.com/office/drawing/2014/main" id="{DCA6AA61-52B4-4F2B-A9A8-A05E87711509}"/>
              </a:ext>
            </a:extLst>
          </p:cNvPr>
          <p:cNvSpPr>
            <a:spLocks noGrp="1"/>
          </p:cNvSpPr>
          <p:nvPr>
            <p:ph type="sldNum" sz="quarter" idx="12"/>
          </p:nvPr>
        </p:nvSpPr>
        <p:spPr/>
        <p:txBody>
          <a:bodyPr/>
          <a:lstStyle/>
          <a:p>
            <a:fld id="{B8473C9A-9E91-4025-B5E2-D7B202510636}" type="slidenum">
              <a:rPr lang="en-US" smtClean="0"/>
              <a:t>12</a:t>
            </a:fld>
            <a:endParaRPr lang="en-US" dirty="0"/>
          </a:p>
        </p:txBody>
      </p:sp>
      <p:pic>
        <p:nvPicPr>
          <p:cNvPr id="4" name="Picture 3">
            <a:extLst>
              <a:ext uri="{FF2B5EF4-FFF2-40B4-BE49-F238E27FC236}">
                <a16:creationId xmlns:a16="http://schemas.microsoft.com/office/drawing/2014/main" id="{2398D764-93B7-4422-BA17-F14E0FDF98F1}"/>
              </a:ext>
            </a:extLst>
          </p:cNvPr>
          <p:cNvPicPr>
            <a:picLocks noChangeAspect="1"/>
          </p:cNvPicPr>
          <p:nvPr/>
        </p:nvPicPr>
        <p:blipFill>
          <a:blip r:embed="rId2"/>
          <a:stretch>
            <a:fillRect/>
          </a:stretch>
        </p:blipFill>
        <p:spPr>
          <a:xfrm>
            <a:off x="534297" y="123148"/>
            <a:ext cx="2316681" cy="463336"/>
          </a:xfrm>
          <a:prstGeom prst="rect">
            <a:avLst/>
          </a:prstGeom>
        </p:spPr>
      </p:pic>
    </p:spTree>
    <p:extLst>
      <p:ext uri="{BB962C8B-B14F-4D97-AF65-F5344CB8AC3E}">
        <p14:creationId xmlns:p14="http://schemas.microsoft.com/office/powerpoint/2010/main" val="893228102"/>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35D587-1EC5-4652-83A4-1E754AF01E64}"/>
              </a:ext>
            </a:extLst>
          </p:cNvPr>
          <p:cNvSpPr>
            <a:spLocks noGrp="1"/>
          </p:cNvSpPr>
          <p:nvPr>
            <p:ph type="title"/>
          </p:nvPr>
        </p:nvSpPr>
        <p:spPr>
          <a:xfrm>
            <a:off x="3238724" y="165474"/>
            <a:ext cx="10515600" cy="813680"/>
          </a:xfrm>
        </p:spPr>
        <p:txBody>
          <a:bodyPr>
            <a:noAutofit/>
          </a:bodyPr>
          <a:lstStyle/>
          <a:p>
            <a:r>
              <a:rPr lang="en-US" sz="2400" dirty="0"/>
              <a:t>CPF EB2017-2021 : enseignements tirés
</a:t>
            </a:r>
          </a:p>
          <a:p>
            <a:r>
              <a:rPr lang="en-US" sz="2400" dirty="0"/>
              <a:t/>
            </a:r>
          </a:p>
        </p:txBody>
      </p:sp>
      <p:sp>
        <p:nvSpPr>
          <p:cNvPr id="3" name="Content Placeholder 2">
            <a:extLst>
              <a:ext uri="{FF2B5EF4-FFF2-40B4-BE49-F238E27FC236}">
                <a16:creationId xmlns:a16="http://schemas.microsoft.com/office/drawing/2014/main" id="{43620D38-256E-4067-AE12-400CAF4C9E44}"/>
              </a:ext>
            </a:extLst>
          </p:cNvPr>
          <p:cNvSpPr>
            <a:spLocks noGrp="1"/>
          </p:cNvSpPr>
          <p:nvPr>
            <p:ph idx="1"/>
          </p:nvPr>
        </p:nvSpPr>
        <p:spPr>
          <a:xfrm>
            <a:off x="838200" y="980501"/>
            <a:ext cx="10515600" cy="5640635"/>
          </a:xfrm>
        </p:spPr>
        <p:txBody>
          <a:bodyPr>
            <a:noAutofit/>
          </a:bodyPr>
          <a:lstStyle/>
          <a:p>
            <a:r>
              <a:rPr lang="en-US" b="1" dirty="0">
                <a:highlight>
                  <a:srgbClr val="000000">
                    <a:alpha val="0"/>
                  </a:srgbClr>
                </a:highlight>
              </a:rPr>
              <a:t>Importance d'un alignement solide sur les objectifs du gouvernement, du recours à des ressources additionnelles, de l'utilisation d'une série d'instruments de financement et d'autres dispositifs (financement supplémentaire).</a:t>
            </a:r>
          </a:p>
          <a:p>
            <a:r>
              <a:rPr lang="en-US" b="1" dirty="0">
                <a:highlight>
                  <a:srgbClr val="000000">
                    <a:alpha val="0"/>
                  </a:srgbClr>
                </a:highlight>
              </a:rPr>
              <a:t>	Souplesse permettant d'ajuster rapidement le programme aux réalités changeantes et aux nouvelles priorités du gouvernement.</a:t>
            </a:r>
          </a:p>
          <a:p>
            <a:r>
              <a:rPr lang="en-US" b="1" dirty="0">
                <a:highlight>
                  <a:srgbClr val="000000">
                    <a:alpha val="0"/>
                  </a:srgbClr>
                </a:highlight>
              </a:rPr>
              <a:t>Soutien continu à la réponse aux crises, à la préparation et à la prévention, comme l'illustre l'accent mis par le CPF précédent sur la reprise et la résilience – dans lequel le GBM a mobilisé son expertise technique et sa capacité de mobilisation de ressources pour accroître les capacités de réponse et investir dans la prévention. </a:t>
            </a:r>
          </a:p>
          <a:p>
            <a:r>
              <a:rPr lang="en-US" b="1" dirty="0">
                <a:highlight>
                  <a:srgbClr val="000000">
                    <a:alpha val="0"/>
                  </a:srgbClr>
                </a:highlight>
              </a:rPr>
              <a:t>Pauvreté et agriculture. Bien que le soutien à la productivité agricole et au développement rural représente jusqu'à 30 % de l'allocation financière globale de la Banque mondiale, il semble n'avoir contribué que de façon marginale à l'augmentation de la productivité agricole globale et, partant, à la réduction de la pauvreté.</a:t>
            </a:r>
          </a:p>
          <a:p>
            <a:r>
              <a:rPr lang="en-US" b="1" dirty="0">
                <a:highlight>
                  <a:srgbClr val="000000">
                    <a:alpha val="0"/>
                  </a:srgbClr>
                </a:highlight>
              </a:rPr>
              <a:t>Un accent renouvelé sur le renforcement institutionnel et les réformes économiques pourrait accroître l'impact du futur CPF, ce qui impliquerait de réintroduire des opérations d'appui budgétaire combinées à une assistance technique et à des études – complétées au besoin par d'autres instruments de financement.</a:t>
            </a:r>
          </a:p>
        </p:txBody>
      </p:sp>
      <p:sp>
        <p:nvSpPr>
          <p:cNvPr id="7" name="Footer Placeholder 6">
            <a:extLst>
              <a:ext uri="{FF2B5EF4-FFF2-40B4-BE49-F238E27FC236}">
                <a16:creationId xmlns:a16="http://schemas.microsoft.com/office/drawing/2014/main" id="{EA26D24A-3B7F-448D-A0A9-325CA054BE8D}"/>
              </a:ext>
            </a:extLst>
          </p:cNvPr>
          <p:cNvSpPr>
            <a:spLocks noGrp="1"/>
          </p:cNvSpPr>
          <p:nvPr>
            <p:ph type="ftr" sz="quarter" idx="11"/>
          </p:nvPr>
        </p:nvSpPr>
        <p:spPr/>
        <p:txBody>
          <a:bodyPr/>
          <a:lstStyle/>
          <a:p>
            <a:r>
              <a:rPr lang="en-US"/>
              <a:t>CPF 2023-2027. Version publique. Maputo, mai 2022.</a:t>
            </a:r>
          </a:p>
        </p:txBody>
      </p:sp>
      <p:sp>
        <p:nvSpPr>
          <p:cNvPr id="8" name="Slide Number Placeholder 7">
            <a:extLst>
              <a:ext uri="{FF2B5EF4-FFF2-40B4-BE49-F238E27FC236}">
                <a16:creationId xmlns:a16="http://schemas.microsoft.com/office/drawing/2014/main" id="{49CB3C9C-220F-4711-ADCB-DE773403F0D2}"/>
              </a:ext>
            </a:extLst>
          </p:cNvPr>
          <p:cNvSpPr>
            <a:spLocks noGrp="1"/>
          </p:cNvSpPr>
          <p:nvPr>
            <p:ph type="sldNum" sz="quarter" idx="12"/>
          </p:nvPr>
        </p:nvSpPr>
        <p:spPr/>
        <p:txBody>
          <a:bodyPr/>
          <a:lstStyle/>
          <a:p>
            <a:fld id="{B8473C9A-9E91-4025-B5E2-D7B202510636}" type="slidenum">
              <a:rPr lang="en-US" smtClean="0"/>
              <a:t>13</a:t>
            </a:fld>
            <a:endParaRPr lang="en-US" dirty="0"/>
          </a:p>
        </p:txBody>
      </p:sp>
      <p:pic>
        <p:nvPicPr>
          <p:cNvPr id="4" name="Picture 3">
            <a:extLst>
              <a:ext uri="{FF2B5EF4-FFF2-40B4-BE49-F238E27FC236}">
                <a16:creationId xmlns:a16="http://schemas.microsoft.com/office/drawing/2014/main" id="{CE072EBA-EE85-483D-962C-E95907C911AA}"/>
              </a:ext>
            </a:extLst>
          </p:cNvPr>
          <p:cNvPicPr>
            <a:picLocks noChangeAspect="1"/>
          </p:cNvPicPr>
          <p:nvPr/>
        </p:nvPicPr>
        <p:blipFill>
          <a:blip r:embed="rId2"/>
          <a:stretch>
            <a:fillRect/>
          </a:stretch>
        </p:blipFill>
        <p:spPr>
          <a:xfrm>
            <a:off x="441859" y="236864"/>
            <a:ext cx="2316681" cy="463336"/>
          </a:xfrm>
          <a:prstGeom prst="rect">
            <a:avLst/>
          </a:prstGeom>
        </p:spPr>
      </p:pic>
    </p:spTree>
    <p:extLst>
      <p:ext uri="{BB962C8B-B14F-4D97-AF65-F5344CB8AC3E}">
        <p14:creationId xmlns:p14="http://schemas.microsoft.com/office/powerpoint/2010/main" val="159121229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8BF6E-3F48-4133-BFA3-5A80DFDCB4E2}"/>
              </a:ext>
            </a:extLst>
          </p:cNvPr>
          <p:cNvSpPr>
            <a:spLocks noGrp="1"/>
          </p:cNvSpPr>
          <p:nvPr>
            <p:ph type="title"/>
          </p:nvPr>
        </p:nvSpPr>
        <p:spPr>
          <a:xfrm>
            <a:off x="838200" y="136525"/>
            <a:ext cx="10515600" cy="1325563"/>
          </a:xfrm>
        </p:spPr>
        <p:txBody>
          <a:bodyPr>
            <a:noAutofit/>
          </a:bodyPr>
          <a:lstStyle/>
          <a:p>
            <a:r>
              <a:rPr lang="en-US" sz="4000" dirty="0"/>
              <a:t>Structure de la présentation
</a:t>
            </a:r>
          </a:p>
          <a:p>
            <a:r>
              <a:rPr lang="en-US" sz="4000" dirty="0"/>
              <a:t/>
            </a:r>
          </a:p>
        </p:txBody>
      </p:sp>
      <p:sp>
        <p:nvSpPr>
          <p:cNvPr id="3" name="Content Placeholder 2">
            <a:extLst>
              <a:ext uri="{FF2B5EF4-FFF2-40B4-BE49-F238E27FC236}">
                <a16:creationId xmlns:a16="http://schemas.microsoft.com/office/drawing/2014/main" id="{A71C13BF-78D7-4831-B2B9-0342F47476B7}"/>
              </a:ext>
            </a:extLst>
          </p:cNvPr>
          <p:cNvSpPr>
            <a:spLocks noGrp="1"/>
          </p:cNvSpPr>
          <p:nvPr>
            <p:ph idx="1"/>
          </p:nvPr>
        </p:nvSpPr>
        <p:spPr>
          <a:xfrm>
            <a:off x="217843" y="1462089"/>
            <a:ext cx="11357385" cy="4648256"/>
          </a:xfrm>
        </p:spPr>
        <p:txBody>
          <a:bodyPr>
            <a:noAutofit/>
          </a:bodyPr>
          <a:lstStyle/>
          <a:p>
            <a:r>
              <a:rPr lang="en-US" sz="3200" b="1" dirty="0">
                <a:solidFill>
                  <a:schemeClr val="bg2">
                    <a:lumMod val="90000"/>
                  </a:schemeClr>
                </a:solidFill>
              </a:rPr>
              <a:t>Vision du Groupe de la Banque mondiale sur les principaux défis stratégiques du pays   
</a:t>
            </a:r>
          </a:p>
          <a:p>
            <a:r>
              <a:rPr lang="en-US" sz="3200" b="1" dirty="0">
                <a:solidFill>
                  <a:schemeClr val="bg2">
                    <a:lumMod val="90000"/>
                  </a:schemeClr>
                </a:solidFill>
              </a:rPr>
              <a:t>Principaux enseignements du CPF précédent (2017-2021)</a:t>
            </a:r>
          </a:p>
          <a:p>
            <a:r>
              <a:rPr lang="en-US" sz="3200" b="1" dirty="0">
                <a:solidFill>
                  <a:schemeClr val="bg2">
                    <a:lumMod val="90000"/>
                  </a:schemeClr>
                </a:solidFill>
              </a:rPr>
              <a:t>Proposition initiale pour le CPF 2023-2027</a:t>
            </a:r>
          </a:p>
        </p:txBody>
      </p:sp>
      <p:sp>
        <p:nvSpPr>
          <p:cNvPr id="7" name="Footer Placeholder 6">
            <a:extLst>
              <a:ext uri="{FF2B5EF4-FFF2-40B4-BE49-F238E27FC236}">
                <a16:creationId xmlns:a16="http://schemas.microsoft.com/office/drawing/2014/main" id="{7A6A430E-5458-416E-A9AB-A23A8820A72E}"/>
              </a:ext>
            </a:extLst>
          </p:cNvPr>
          <p:cNvSpPr>
            <a:spLocks noGrp="1"/>
          </p:cNvSpPr>
          <p:nvPr>
            <p:ph type="ftr" sz="quarter" idx="11"/>
          </p:nvPr>
        </p:nvSpPr>
        <p:spPr/>
        <p:txBody>
          <a:bodyPr/>
          <a:lstStyle/>
          <a:p>
            <a:r>
              <a:rPr lang="en-US"/>
              <a:t>CPF 2023-2027. Version publique. Maputo, mai 2022.</a:t>
            </a:r>
          </a:p>
        </p:txBody>
      </p:sp>
      <p:sp>
        <p:nvSpPr>
          <p:cNvPr id="8" name="Slide Number Placeholder 7">
            <a:extLst>
              <a:ext uri="{FF2B5EF4-FFF2-40B4-BE49-F238E27FC236}">
                <a16:creationId xmlns:a16="http://schemas.microsoft.com/office/drawing/2014/main" id="{4D9E7C67-67A0-4D86-94F9-54FE0825882C}"/>
              </a:ext>
            </a:extLst>
          </p:cNvPr>
          <p:cNvSpPr>
            <a:spLocks noGrp="1"/>
          </p:cNvSpPr>
          <p:nvPr>
            <p:ph type="sldNum" sz="quarter" idx="12"/>
          </p:nvPr>
        </p:nvSpPr>
        <p:spPr/>
        <p:txBody>
          <a:bodyPr/>
          <a:lstStyle/>
          <a:p>
            <a:fld id="{B8473C9A-9E91-4025-B5E2-D7B202510636}" type="slidenum">
              <a:rPr lang="en-US" smtClean="0"/>
              <a:t>14</a:t>
            </a:fld>
            <a:endParaRPr lang="en-US" dirty="0"/>
          </a:p>
        </p:txBody>
      </p:sp>
      <p:pic>
        <p:nvPicPr>
          <p:cNvPr id="4" name="Picture 3">
            <a:extLst>
              <a:ext uri="{FF2B5EF4-FFF2-40B4-BE49-F238E27FC236}">
                <a16:creationId xmlns:a16="http://schemas.microsoft.com/office/drawing/2014/main" id="{B1281B00-F5BC-4B51-A637-214484886365}"/>
              </a:ext>
            </a:extLst>
          </p:cNvPr>
          <p:cNvPicPr>
            <a:picLocks noChangeAspect="1"/>
          </p:cNvPicPr>
          <p:nvPr/>
        </p:nvPicPr>
        <p:blipFill>
          <a:blip r:embed="rId2"/>
          <a:stretch>
            <a:fillRect/>
          </a:stretch>
        </p:blipFill>
        <p:spPr>
          <a:xfrm>
            <a:off x="217843" y="284319"/>
            <a:ext cx="2316681" cy="463336"/>
          </a:xfrm>
          <a:prstGeom prst="rect">
            <a:avLst/>
          </a:prstGeom>
        </p:spPr>
      </p:pic>
    </p:spTree>
    <p:extLst>
      <p:ext uri="{BB962C8B-B14F-4D97-AF65-F5344CB8AC3E}">
        <p14:creationId xmlns:p14="http://schemas.microsoft.com/office/powerpoint/2010/main" val="1566909184"/>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8FB915-6269-468D-BE41-290933A67848}"/>
              </a:ext>
            </a:extLst>
          </p:cNvPr>
          <p:cNvSpPr>
            <a:spLocks noGrp="1"/>
          </p:cNvSpPr>
          <p:nvPr>
            <p:ph type="title"/>
          </p:nvPr>
        </p:nvSpPr>
        <p:spPr>
          <a:xfrm>
            <a:off x="210151" y="117383"/>
            <a:ext cx="11674365" cy="974115"/>
          </a:xfrm>
        </p:spPr>
        <p:txBody>
          <a:bodyPr>
            <a:noAutofit/>
          </a:bodyPr>
          <a:lstStyle/>
          <a:p>
            <a:r>
              <a:rPr lang="en-US" sz="2400" b="1" i="0" u="none" strike="noStrike" dirty="0">
                <a:highlight>
                  <a:srgbClr val="000000">
                    <a:alpha val="0"/>
                  </a:srgbClr>
                </a:highlight>
                <a:latin typeface="Arial"/>
              </a:rPr>
              <a:t>Programme du gouvernement et stratégie à moyen terme (1-2)</a:t>
            </a:r>
          </a:p>
        </p:txBody>
      </p:sp>
      <p:sp>
        <p:nvSpPr>
          <p:cNvPr id="3" name="Content Placeholder 2">
            <a:extLst>
              <a:ext uri="{FF2B5EF4-FFF2-40B4-BE49-F238E27FC236}">
                <a16:creationId xmlns:a16="http://schemas.microsoft.com/office/drawing/2014/main" id="{AB67758D-AD88-4CBF-86DB-74D79CEE14E6}"/>
              </a:ext>
            </a:extLst>
          </p:cNvPr>
          <p:cNvSpPr>
            <a:spLocks noGrp="1"/>
          </p:cNvSpPr>
          <p:nvPr>
            <p:ph idx="1"/>
          </p:nvPr>
        </p:nvSpPr>
        <p:spPr>
          <a:xfrm>
            <a:off x="2885431" y="920048"/>
            <a:ext cx="9096418" cy="5436302"/>
          </a:xfrm>
        </p:spPr>
        <p:txBody>
          <a:bodyPr>
            <a:noAutofit/>
          </a:bodyPr>
          <a:lstStyle/>
          <a:p>
            <a:r>
              <a:rPr lang="en-US" sz="1400" b="1" i="0" u="none" strike="noStrike" dirty="0">
                <a:highlight>
                  <a:srgbClr val="000000">
                    <a:alpha val="0"/>
                  </a:srgbClr>
                </a:highlight>
                <a:latin typeface="Arial"/>
              </a:rPr>
              <a:t>Le gouvernement du Mozambique élabore une Stratégie nationale de développement (ENDE) pour 2015-2030. Suivant le cadre défini dans cette stratégie, le gouvernement définit ensuite des plans de développement sectoriels et territoriaux ; les plans quinquennaux correspondants ; le scénario budgétaire à moyen terme et le plan social, économique et budgétaire de l'État.</a:t>
            </a:r>
          </a:p>
          <a:p>
            <a:r>
              <a:rPr lang="en-US" sz="1400" b="1" i="0" u="none" strike="noStrike" dirty="0">
                <a:highlight>
                  <a:srgbClr val="000000">
                    <a:alpha val="0"/>
                  </a:srgbClr>
                </a:highlight>
                <a:latin typeface="Arial"/>
              </a:rPr>
              <a:t>ENDE : 2022-2042. Vision : « Élever le niveau de vie de la population par la transformation structurelle de l'économie, d'une économie primaire vers une économie industrialisée et de services ». Nouveaux axes prioritaires proposés : (i) transformation économique, (ii) transformation sociale, (iii) gouvernance et (iv) environnement et économie circulaire.</a:t>
            </a:r>
          </a:p>
          <a:p>
            <a:r>
              <a:rPr lang="en-US" sz="1400" b="1" i="0" u="none" strike="noStrike" dirty="0">
                <a:highlight>
                  <a:srgbClr val="000000">
                    <a:alpha val="0"/>
                  </a:srgbClr>
                </a:highlight>
                <a:latin typeface="Arial"/>
              </a:rPr>
              <a:t>Le Programme quinquennal du gouvernement (PQG) 2020-2024 restera le principal guide des interventions et stratégies gouvernementales en 2023-24. Un nouveau PQG devrait être élaboré après les élections nationales de 2024. Le gouvernement a élaboré une Stratégie de prévention des conflits et de la violence dans le cadre du processus visant à garantir l'éligibilité à l'Allocation pour la prévention et la résilience (PRA, Prevention and Resilience Allocation) au titre de l'IDA19.</a:t>
            </a:r>
          </a:p>
          <a:p>
            <a:r>
              <a:rPr lang="en-US" sz="1400" b="1" i="0" u="none" strike="noStrike" dirty="0">
                <a:highlight>
                  <a:srgbClr val="000000">
                    <a:alpha val="0"/>
                  </a:srgbClr>
                </a:highlight>
                <a:latin typeface="Arial"/>
              </a:rPr>
              <a:t>Le gouvernement dispose également d'une stratégie solide pour le secteur de l'énergie. La Stratégie énergétique pour la période 2015-2024 vise à : (i) accroître les infrastructures et la production d'énergie pour les marchés locaux et les exportations d'énergie (gaz et électricité) ; (ii) porter l'accès local à l'électricité de 25 % en 2015 à 62 % d'ici la fin de 2024, ce qui devrait donner une impulsion majeure au développement économique et social du pays.</a:t>
            </a:r>
          </a:p>
          <a:p>
            <a:r>
              <a:rPr lang="en-US" sz="1400" b="1" i="0" u="none" strike="noStrike" dirty="0">
                <a:highlight>
                  <a:srgbClr val="000000">
                    <a:alpha val="0"/>
                  </a:srgbClr>
                </a:highlight>
                <a:latin typeface="Arial"/>
              </a:rPr>
              <a:t>Le gouvernement a approuvé la Stratégie nationale d'adaptation au changement climatique et d'atténuation de ses effets, qui fournit le cadre général d'action pour orienter la planification et le développement résilients au climat. La révision en cours de l'ENDE offre l'occasion d'intégrer le changement climatique dans votre stratégie de développement.</a:t>
            </a:r>
          </a:p>
          <a:p>
            <a:r>
              <a:rPr lang="en-US" sz="1400" b="1" i="0" u="none" strike="noStrike" dirty="0">
                <a:highlight>
                  <a:srgbClr val="000000">
                    <a:alpha val="0"/>
                  </a:srgbClr>
                </a:highlight>
                <a:latin typeface="Arial"/>
              </a:rPr>
              <a:t/>
            </a:r>
          </a:p>
          <a:p>
            <a:r>
              <a:rPr lang="en-US" sz="1400" b="1" i="0" u="none" strike="noStrike" dirty="0">
                <a:highlight>
                  <a:srgbClr val="000000">
                    <a:alpha val="0"/>
                  </a:srgbClr>
                </a:highlight>
                <a:latin typeface="Arial"/>
              </a:rPr>
              <a:t/>
            </a:r>
          </a:p>
        </p:txBody>
      </p:sp>
      <p:sp>
        <p:nvSpPr>
          <p:cNvPr id="13" name="TextBox 12">
            <a:extLst>
              <a:ext uri="{FF2B5EF4-FFF2-40B4-BE49-F238E27FC236}">
                <a16:creationId xmlns:a16="http://schemas.microsoft.com/office/drawing/2014/main" id="{275A71C0-DD1F-4344-896E-1E6D79421314}"/>
              </a:ext>
            </a:extLst>
          </p:cNvPr>
          <p:cNvSpPr txBox="1"/>
          <p:nvPr/>
        </p:nvSpPr>
        <p:spPr>
          <a:xfrm>
            <a:off x="421936" y="1091498"/>
            <a:ext cx="2251710" cy="830997"/>
          </a:xfrm>
          <a:prstGeom prst="rect">
            <a:avLst/>
          </a:prstGeom>
          <a:noFill/>
        </p:spPr>
        <p:txBody>
          <a:bodyPr wrap="square">
            <a:noAutofit/>
          </a:bodyPr>
          <a:lstStyle/>
          <a:p>
            <a:r>
              <a:rPr lang="en-US" sz="1600" b="1" i="0" u="none" strike="noStrike">
                <a:highlight>
                  <a:srgbClr val="000000">
                    <a:alpha val="0"/>
                  </a:srgbClr>
                </a:highlight>
                <a:latin typeface="Arial"/>
                <a:ea typeface="Times New Roman"/>
              </a:rPr>
              <a:t>Cadre de planification stratégique du Mozambique</a:t>
            </a:r>
          </a:p>
        </p:txBody>
      </p:sp>
      <p:sp>
        <p:nvSpPr>
          <p:cNvPr id="7" name="Footer Placeholder 6">
            <a:extLst>
              <a:ext uri="{FF2B5EF4-FFF2-40B4-BE49-F238E27FC236}">
                <a16:creationId xmlns:a16="http://schemas.microsoft.com/office/drawing/2014/main" id="{3C07539B-E0FF-42CA-B8A4-65A60A9256F0}"/>
              </a:ext>
            </a:extLst>
          </p:cNvPr>
          <p:cNvSpPr>
            <a:spLocks noGrp="1"/>
          </p:cNvSpPr>
          <p:nvPr>
            <p:ph type="ftr" sz="quarter" idx="11"/>
          </p:nvPr>
        </p:nvSpPr>
        <p:spPr/>
        <p:txBody>
          <a:bodyPr/>
          <a:lstStyle/>
          <a:p>
            <a:r>
              <a:rPr lang="en-US"/>
              <a:t>CPF 2023-2027. Version publique. Maputo, mai 2022.</a:t>
            </a:r>
          </a:p>
        </p:txBody>
      </p:sp>
      <p:sp>
        <p:nvSpPr>
          <p:cNvPr id="8" name="Slide Number Placeholder 7">
            <a:extLst>
              <a:ext uri="{FF2B5EF4-FFF2-40B4-BE49-F238E27FC236}">
                <a16:creationId xmlns:a16="http://schemas.microsoft.com/office/drawing/2014/main" id="{08206547-D93E-4655-9380-0A7EF5A3B216}"/>
              </a:ext>
            </a:extLst>
          </p:cNvPr>
          <p:cNvSpPr>
            <a:spLocks noGrp="1"/>
          </p:cNvSpPr>
          <p:nvPr>
            <p:ph type="sldNum" sz="quarter" idx="12"/>
          </p:nvPr>
        </p:nvSpPr>
        <p:spPr/>
        <p:txBody>
          <a:bodyPr/>
          <a:lstStyle/>
          <a:p>
            <a:fld id="{B8473C9A-9E91-4025-B5E2-D7B202510636}" type="slidenum">
              <a:rPr lang="en-US" smtClean="0"/>
              <a:t>15</a:t>
            </a:fld>
            <a:endParaRPr lang="en-US" dirty="0"/>
          </a:p>
        </p:txBody>
      </p:sp>
      <p:pic>
        <p:nvPicPr>
          <p:cNvPr id="5" name="Picture 4">
            <a:extLst>
              <a:ext uri="{FF2B5EF4-FFF2-40B4-BE49-F238E27FC236}">
                <a16:creationId xmlns:a16="http://schemas.microsoft.com/office/drawing/2014/main" id="{B154BE3C-E233-49B7-A33C-58E1AF92F8FF}"/>
              </a:ext>
            </a:extLst>
          </p:cNvPr>
          <p:cNvPicPr>
            <a:picLocks noChangeAspect="1"/>
          </p:cNvPicPr>
          <p:nvPr/>
        </p:nvPicPr>
        <p:blipFill>
          <a:blip r:embed="rId3"/>
          <a:stretch>
            <a:fillRect/>
          </a:stretch>
        </p:blipFill>
        <p:spPr>
          <a:xfrm>
            <a:off x="275447" y="1922495"/>
            <a:ext cx="2609984" cy="1371670"/>
          </a:xfrm>
          <a:prstGeom prst="rect">
            <a:avLst/>
          </a:prstGeom>
        </p:spPr>
      </p:pic>
      <p:pic>
        <p:nvPicPr>
          <p:cNvPr id="6" name="Picture 5">
            <a:extLst>
              <a:ext uri="{FF2B5EF4-FFF2-40B4-BE49-F238E27FC236}">
                <a16:creationId xmlns:a16="http://schemas.microsoft.com/office/drawing/2014/main" id="{82A4F521-947E-4F41-8989-A9E808E1FB24}"/>
              </a:ext>
            </a:extLst>
          </p:cNvPr>
          <p:cNvPicPr>
            <a:picLocks noChangeAspect="1"/>
          </p:cNvPicPr>
          <p:nvPr/>
        </p:nvPicPr>
        <p:blipFill>
          <a:blip r:embed="rId4"/>
          <a:stretch>
            <a:fillRect/>
          </a:stretch>
        </p:blipFill>
        <p:spPr>
          <a:xfrm>
            <a:off x="581456" y="2695170"/>
            <a:ext cx="1943200" cy="1028753"/>
          </a:xfrm>
          <a:prstGeom prst="rect">
            <a:avLst/>
          </a:prstGeom>
        </p:spPr>
      </p:pic>
      <p:pic>
        <p:nvPicPr>
          <p:cNvPr id="9" name="Picture 8">
            <a:extLst>
              <a:ext uri="{FF2B5EF4-FFF2-40B4-BE49-F238E27FC236}">
                <a16:creationId xmlns:a16="http://schemas.microsoft.com/office/drawing/2014/main" id="{93473CB6-38EC-401B-8248-CA013BA9AD4B}"/>
              </a:ext>
            </a:extLst>
          </p:cNvPr>
          <p:cNvPicPr>
            <a:picLocks noChangeAspect="1"/>
          </p:cNvPicPr>
          <p:nvPr/>
        </p:nvPicPr>
        <p:blipFill>
          <a:blip r:embed="rId5"/>
          <a:stretch>
            <a:fillRect/>
          </a:stretch>
        </p:blipFill>
        <p:spPr>
          <a:xfrm>
            <a:off x="842905" y="3416946"/>
            <a:ext cx="1409772" cy="914447"/>
          </a:xfrm>
          <a:prstGeom prst="rect">
            <a:avLst/>
          </a:prstGeom>
        </p:spPr>
      </p:pic>
      <p:pic>
        <p:nvPicPr>
          <p:cNvPr id="12" name="Picture 11">
            <a:extLst>
              <a:ext uri="{FF2B5EF4-FFF2-40B4-BE49-F238E27FC236}">
                <a16:creationId xmlns:a16="http://schemas.microsoft.com/office/drawing/2014/main" id="{695A486F-A69A-4D7E-9A13-4053BA05D168}"/>
              </a:ext>
            </a:extLst>
          </p:cNvPr>
          <p:cNvPicPr>
            <a:picLocks noChangeAspect="1"/>
          </p:cNvPicPr>
          <p:nvPr/>
        </p:nvPicPr>
        <p:blipFill>
          <a:blip r:embed="rId6"/>
          <a:stretch>
            <a:fillRect/>
          </a:stretch>
        </p:blipFill>
        <p:spPr>
          <a:xfrm>
            <a:off x="961282" y="4068498"/>
            <a:ext cx="1238314" cy="704886"/>
          </a:xfrm>
          <a:prstGeom prst="rect">
            <a:avLst/>
          </a:prstGeom>
        </p:spPr>
      </p:pic>
      <p:pic>
        <p:nvPicPr>
          <p:cNvPr id="14" name="Picture 13">
            <a:extLst>
              <a:ext uri="{FF2B5EF4-FFF2-40B4-BE49-F238E27FC236}">
                <a16:creationId xmlns:a16="http://schemas.microsoft.com/office/drawing/2014/main" id="{3AD427A3-5513-40A2-8EB4-47A749B68E50}"/>
              </a:ext>
            </a:extLst>
          </p:cNvPr>
          <p:cNvPicPr>
            <a:picLocks noChangeAspect="1"/>
          </p:cNvPicPr>
          <p:nvPr/>
        </p:nvPicPr>
        <p:blipFill>
          <a:blip r:embed="rId7"/>
          <a:stretch>
            <a:fillRect/>
          </a:stretch>
        </p:blipFill>
        <p:spPr>
          <a:xfrm>
            <a:off x="961282" y="4575006"/>
            <a:ext cx="1085906" cy="1085906"/>
          </a:xfrm>
          <a:prstGeom prst="rect">
            <a:avLst/>
          </a:prstGeom>
        </p:spPr>
      </p:pic>
      <p:pic>
        <p:nvPicPr>
          <p:cNvPr id="15" name="Picture 14">
            <a:extLst>
              <a:ext uri="{FF2B5EF4-FFF2-40B4-BE49-F238E27FC236}">
                <a16:creationId xmlns:a16="http://schemas.microsoft.com/office/drawing/2014/main" id="{60585D39-674F-4998-BCCE-060C6E065B1D}"/>
              </a:ext>
            </a:extLst>
          </p:cNvPr>
          <p:cNvPicPr>
            <a:picLocks noChangeAspect="1"/>
          </p:cNvPicPr>
          <p:nvPr/>
        </p:nvPicPr>
        <p:blipFill>
          <a:blip r:embed="rId8"/>
          <a:stretch>
            <a:fillRect/>
          </a:stretch>
        </p:blipFill>
        <p:spPr>
          <a:xfrm>
            <a:off x="389450" y="198404"/>
            <a:ext cx="2316681" cy="463336"/>
          </a:xfrm>
          <a:prstGeom prst="rect">
            <a:avLst/>
          </a:prstGeom>
        </p:spPr>
      </p:pic>
    </p:spTree>
    <p:extLst>
      <p:ext uri="{BB962C8B-B14F-4D97-AF65-F5344CB8AC3E}">
        <p14:creationId xmlns:p14="http://schemas.microsoft.com/office/powerpoint/2010/main" val="2691485022"/>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0905DBB9-16CF-4238-810E-D8E86FC842AF}"/>
              </a:ext>
            </a:extLst>
          </p:cNvPr>
          <p:cNvSpPr txBox="1"/>
          <p:nvPr/>
        </p:nvSpPr>
        <p:spPr>
          <a:xfrm>
            <a:off x="342901" y="803128"/>
            <a:ext cx="11527970" cy="5553222"/>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400" b="1" i="0" u="none" strike="noStrike" dirty="0">
                <a:highlight>
                  <a:srgbClr val="000000">
                    <a:alpha val="0"/>
                  </a:srgbClr>
                </a:highlight>
                <a:latin typeface="Arial"/>
              </a:rPr>
              <a:t>Le gouvernement a également adopté un plan ambitieux d'amélioration de la gouvernance fondé sur le Rapport de diagnostic sur la transparence, la gouvernance et la corruption, à la suite de la crise de la dette cachée de 2016.</a:t>
            </a:r>
          </a:p>
          <a:p>
            <a:r>
              <a:rPr lang="en-US" sz="1400" b="1" i="0" u="none" strike="noStrike" dirty="0">
                <a:highlight>
                  <a:srgbClr val="000000">
                    <a:alpha val="0"/>
                  </a:srgbClr>
                </a:highlight>
                <a:latin typeface="Arial"/>
              </a:rPr>
              <a:t>Les autorités ont pris plusieurs mesures pour contenir les dépenses publiques. Un solide programme de consolidation budgétaire a réduit le déficit primaire de 6 % à 2 % du PIB entre 2015 et 2018 et avait placé la dette publique sur une trajectoire décroissante.</a:t>
            </a:r>
          </a:p>
          <a:p>
            <a:r>
              <a:rPr lang="en-US" sz="1400" b="1" i="0" u="none" strike="noStrike" dirty="0">
                <a:highlight>
                  <a:srgbClr val="000000">
                    <a:alpha val="0"/>
                  </a:srgbClr>
                </a:highlight>
                <a:latin typeface="Arial"/>
              </a:rPr>
              <a:t>La supervision des entreprises publiques a été renforcée. Seul le ministère de l'Économie et des Finances peut signer des garanties au nom du gouvernement, à condition de rester en deçà du plafond approuvé par le Parlement dans la loi de finances annuelle. En 2018, la gouvernance des entreprises publiques a également été renforcée par une nouvelle loi sur les entreprises publiques.</a:t>
            </a:r>
          </a:p>
          <a:p>
            <a:r>
              <a:rPr lang="en-US" sz="1400" b="1" i="0" u="none" strike="noStrike" dirty="0">
                <a:highlight>
                  <a:srgbClr val="000000">
                    <a:alpha val="0"/>
                  </a:srgbClr>
                </a:highlight>
                <a:latin typeface="Arial"/>
              </a:rPr>
              <a:t>Des progrès substantiels ont été réalisés en matière de transparence budgétaire, avec la publication régulière de déclarations sur les risques budgétaires et de rapports complets sur la dette liée aux entreprises publiques et au GNL.</a:t>
            </a:r>
          </a:p>
          <a:p>
            <a:r>
              <a:rPr lang="en-US" sz="1400" b="1" i="0" u="none" strike="noStrike" dirty="0">
                <a:highlight>
                  <a:srgbClr val="000000">
                    <a:alpha val="0"/>
                  </a:srgbClr>
                </a:highlight>
                <a:latin typeface="Arial"/>
              </a:rPr>
              <a:t>En 2020, une nouvelle loi globale sur les finances publiques a été adoptée, intégrant les entreprises publiques et les administrations infranationales dans le système budgétaire.</a:t>
            </a:r>
          </a:p>
          <a:p>
            <a:r>
              <a:rPr lang="en-US" sz="1400" b="1" i="0" u="none" strike="noStrike" dirty="0">
                <a:highlight>
                  <a:srgbClr val="000000">
                    <a:alpha val="0"/>
                  </a:srgbClr>
                </a:highlight>
                <a:latin typeface="Arial"/>
              </a:rPr>
              <a:t>Des mesures de politique liées au climat et aux catastrophes sont mises en œuvre depuis 2010.</a:t>
            </a:r>
          </a:p>
          <a:p>
            <a:r>
              <a:rPr lang="en-US" sz="1400" b="1" i="0" u="none" strike="noStrike" dirty="0">
                <a:highlight>
                  <a:srgbClr val="000000">
                    <a:alpha val="0"/>
                  </a:srgbClr>
                </a:highlight>
                <a:latin typeface="Arial"/>
              </a:rPr>
              <a:t>Le gouvernement a approuvé la Stratégie nationale d'adaptation au changement climatique et d'atténuation de ses effets, qui fournit le cadre général d'action pour orienter la planification et le développement résilients au climat.</a:t>
            </a:r>
          </a:p>
          <a:p>
            <a:r>
              <a:rPr lang="en-US" sz="1400" b="1" i="0" u="none" strike="noStrike" dirty="0">
                <a:highlight>
                  <a:srgbClr val="000000">
                    <a:alpha val="0"/>
                  </a:srgbClr>
                </a:highlight>
                <a:latin typeface="Arial"/>
              </a:rPr>
              <a:t>Un Programme national complet de gestion des risques de catastrophe a été approuvé pour promouvoir le développement résilient du Mozambique par la prévention, la préparation, la réponse et le relèvement face aux catastrophes, ainsi que l'intégration de la gestion des risques de catastrophe (DRM) dans les finances publiques, les investissements et la planification du développement dans tous les secteurs.</a:t>
            </a:r>
          </a:p>
          <a:p>
            <a:r>
              <a:rPr lang="en-US" sz="1400" b="1" i="0" u="none" strike="noStrike" dirty="0">
                <a:highlight>
                  <a:srgbClr val="000000">
                    <a:alpha val="0"/>
                  </a:srgbClr>
                </a:highlight>
                <a:latin typeface="Arial"/>
              </a:rPr>
              <a:t>Une étape clé de ce programme a été la création, la capitalisation et l'opérationnalisation d'un Fonds national de gestion des catastrophes ainsi que l'adoption et l'application de nouvelles normes visant la résilience climatique dans des secteurs clés (éducation, transport).</a:t>
            </a:r>
          </a:p>
          <a:p>
            <a:r>
              <a:rPr lang="en-US" sz="1400" b="1" i="0" u="none" strike="noStrike" dirty="0">
                <a:highlight>
                  <a:srgbClr val="000000">
                    <a:alpha val="0"/>
                  </a:srgbClr>
                </a:highlight>
                <a:latin typeface="Arial"/>
              </a:rPr>
              <a:t/>
            </a:r>
          </a:p>
          <a:p>
            <a:r>
              <a:rPr lang="en-US" sz="1400" b="1" i="0" u="none" strike="noStrike" dirty="0">
                <a:highlight>
                  <a:srgbClr val="000000">
                    <a:alpha val="0"/>
                  </a:srgbClr>
                </a:highlight>
                <a:latin typeface="Arial"/>
              </a:rPr>
              <a:t/>
            </a:r>
          </a:p>
        </p:txBody>
      </p:sp>
      <p:sp>
        <p:nvSpPr>
          <p:cNvPr id="7" name="Title 1">
            <a:extLst>
              <a:ext uri="{FF2B5EF4-FFF2-40B4-BE49-F238E27FC236}">
                <a16:creationId xmlns:a16="http://schemas.microsoft.com/office/drawing/2014/main" id="{7E1960F2-7C30-42B1-8F7A-3F07757B68C5}"/>
              </a:ext>
            </a:extLst>
          </p:cNvPr>
          <p:cNvSpPr txBox="1"/>
          <p:nvPr/>
        </p:nvSpPr>
        <p:spPr>
          <a:xfrm>
            <a:off x="2366682" y="266915"/>
            <a:ext cx="9825318" cy="711292"/>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b="1" dirty="0">
                <a:solidFill>
                  <a:srgbClr val="2F5597"/>
                </a:solidFill>
              </a:rPr>
              <a:t>Programme du gouvernement et stratégie à moyen terme (1-2)
</a:t>
            </a:r>
          </a:p>
          <a:p>
            <a:r>
              <a:rPr lang="en-US" sz="2400" b="1" dirty="0">
                <a:solidFill>
                  <a:srgbClr val="2F5597"/>
                </a:solidFill>
              </a:rPr>
              <a:t/>
            </a:r>
          </a:p>
        </p:txBody>
      </p:sp>
      <p:sp>
        <p:nvSpPr>
          <p:cNvPr id="6" name="Footer Placeholder 5">
            <a:extLst>
              <a:ext uri="{FF2B5EF4-FFF2-40B4-BE49-F238E27FC236}">
                <a16:creationId xmlns:a16="http://schemas.microsoft.com/office/drawing/2014/main" id="{EADDD79C-C7B6-4A6E-97AF-8DB4ECD26A8E}"/>
              </a:ext>
            </a:extLst>
          </p:cNvPr>
          <p:cNvSpPr>
            <a:spLocks noGrp="1"/>
          </p:cNvSpPr>
          <p:nvPr>
            <p:ph type="ftr" sz="quarter" idx="11"/>
          </p:nvPr>
        </p:nvSpPr>
        <p:spPr>
          <a:xfrm>
            <a:off x="3978729" y="6591085"/>
            <a:ext cx="4114800" cy="365125"/>
          </a:xfrm>
        </p:spPr>
        <p:txBody>
          <a:bodyPr/>
          <a:lstStyle/>
          <a:p>
            <a:r>
              <a:rPr lang="en-US"/>
              <a:t>CPF 2023-2027. Version publique. Maputo, mai 2022.</a:t>
            </a:r>
          </a:p>
        </p:txBody>
      </p:sp>
      <p:sp>
        <p:nvSpPr>
          <p:cNvPr id="8" name="Slide Number Placeholder 7">
            <a:extLst>
              <a:ext uri="{FF2B5EF4-FFF2-40B4-BE49-F238E27FC236}">
                <a16:creationId xmlns:a16="http://schemas.microsoft.com/office/drawing/2014/main" id="{BCD46C9F-CCE9-4530-9958-DCC0E2E66395}"/>
              </a:ext>
            </a:extLst>
          </p:cNvPr>
          <p:cNvSpPr>
            <a:spLocks noGrp="1"/>
          </p:cNvSpPr>
          <p:nvPr>
            <p:ph type="sldNum" sz="quarter" idx="12"/>
          </p:nvPr>
        </p:nvSpPr>
        <p:spPr/>
        <p:txBody>
          <a:bodyPr/>
          <a:lstStyle/>
          <a:p>
            <a:fld id="{B8473C9A-9E91-4025-B5E2-D7B202510636}" type="slidenum">
              <a:rPr lang="en-US" smtClean="0"/>
              <a:t>16</a:t>
            </a:fld>
            <a:endParaRPr lang="en-US" dirty="0"/>
          </a:p>
        </p:txBody>
      </p:sp>
      <p:pic>
        <p:nvPicPr>
          <p:cNvPr id="2" name="Picture 1">
            <a:extLst>
              <a:ext uri="{FF2B5EF4-FFF2-40B4-BE49-F238E27FC236}">
                <a16:creationId xmlns:a16="http://schemas.microsoft.com/office/drawing/2014/main" id="{2EDC6EAF-1287-40CD-82FF-60AD0D1CE264}"/>
              </a:ext>
            </a:extLst>
          </p:cNvPr>
          <p:cNvPicPr>
            <a:picLocks noChangeAspect="1"/>
          </p:cNvPicPr>
          <p:nvPr/>
        </p:nvPicPr>
        <p:blipFill>
          <a:blip r:embed="rId2"/>
          <a:stretch>
            <a:fillRect/>
          </a:stretch>
        </p:blipFill>
        <p:spPr>
          <a:xfrm>
            <a:off x="342901" y="206335"/>
            <a:ext cx="2316681" cy="463336"/>
          </a:xfrm>
          <a:prstGeom prst="rect">
            <a:avLst/>
          </a:prstGeom>
        </p:spPr>
      </p:pic>
    </p:spTree>
    <p:extLst>
      <p:ext uri="{BB962C8B-B14F-4D97-AF65-F5344CB8AC3E}">
        <p14:creationId xmlns:p14="http://schemas.microsoft.com/office/powerpoint/2010/main" val="3381025737"/>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Group 39">
            <a:extLst>
              <a:ext uri="{FF2B5EF4-FFF2-40B4-BE49-F238E27FC236}">
                <a16:creationId xmlns:a16="http://schemas.microsoft.com/office/drawing/2014/main" id="{F5759940-B30E-472A-AF4F-173A4D4CA100}"/>
              </a:ext>
            </a:extLst>
          </p:cNvPr>
          <p:cNvGrpSpPr/>
          <p:nvPr/>
        </p:nvGrpSpPr>
        <p:grpSpPr>
          <a:xfrm>
            <a:off x="6902048" y="3026892"/>
            <a:ext cx="5049327" cy="3339205"/>
            <a:chOff x="-3167528" y="-865701"/>
            <a:chExt cx="7897716" cy="2630133"/>
          </a:xfrm>
        </p:grpSpPr>
        <p:sp>
          <p:nvSpPr>
            <p:cNvPr id="41" name="TextBox 20">
              <a:extLst>
                <a:ext uri="{FF2B5EF4-FFF2-40B4-BE49-F238E27FC236}">
                  <a16:creationId xmlns:a16="http://schemas.microsoft.com/office/drawing/2014/main" id="{48A3B9E8-0F2B-4E8C-A956-776C8184EC2E}"/>
                </a:ext>
              </a:extLst>
            </p:cNvPr>
            <p:cNvSpPr txBox="1"/>
            <p:nvPr/>
          </p:nvSpPr>
          <p:spPr>
            <a:xfrm>
              <a:off x="-3167528" y="-865701"/>
              <a:ext cx="7842229" cy="678778"/>
            </a:xfrm>
            <a:prstGeom prst="rect">
              <a:avLst/>
            </a:prstGeom>
            <a:solidFill>
              <a:srgbClr val="002060"/>
            </a:solidFill>
          </p:spPr>
          <p:txBody>
            <a:bodyPr wrap="square" rtlCol="0">
              <a:spAutoFit/>
            </a:bodyPr>
            <a:lstStyle/>
            <a:p>
              <a:r>
                <a:rPr kumimoji="0" lang="en-US" sz="1600" b="1"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Times New Roman" panose="02020603050405020304" pitchFamily="18" charset="0"/>
                </a:rPr>
                <a:t>HLO3. Améliorer le capital humain et autonomiser les femmes</a:t>
              </a:r>
            </a:p>
            <a:p>
              <a:r>
                <a:rPr kumimoji="0" lang="en-US" sz="1600" b="1"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Times New Roman" panose="02020603050405020304" pitchFamily="18" charset="0"/>
                </a:rPr>
                <a:t/>
              </a:r>
            </a:p>
            <a:p>
              <a:r>
                <a:rPr kumimoji="0" lang="en-US" sz="1600" b="1" i="0" u="none" strike="noStrike" kern="1200" cap="none" spc="0" normalizeH="0" baseline="0" noProof="0" dirty="0">
                  <a:ln>
                    <a:noFill/>
                  </a:ln>
                  <a:solidFill>
                    <a:prstClr val="white"/>
                  </a:solidFill>
                  <a:effectLst/>
                  <a:uLnTx/>
                  <a:uFillTx/>
                  <a:latin typeface="Calibri" panose="020F0502020204030204" pitchFamily="34" charset="0"/>
                  <a:ea typeface="Times New Roman" panose="02020603050405020304" pitchFamily="18" charset="0"/>
                  <a:cs typeface="Times New Roman" panose="02020603050405020304" pitchFamily="18" charset="0"/>
                </a:rPr>
                <a:t/>
              </a:r>
            </a:p>
          </p:txBody>
        </p:sp>
        <p:sp>
          <p:nvSpPr>
            <p:cNvPr id="42" name="TextBox 27">
              <a:extLst>
                <a:ext uri="{FF2B5EF4-FFF2-40B4-BE49-F238E27FC236}">
                  <a16:creationId xmlns:a16="http://schemas.microsoft.com/office/drawing/2014/main" id="{0592111B-E078-4582-B08D-1779B5DA9631}"/>
                </a:ext>
              </a:extLst>
            </p:cNvPr>
            <p:cNvSpPr txBox="1"/>
            <p:nvPr/>
          </p:nvSpPr>
          <p:spPr>
            <a:xfrm>
              <a:off x="2350242" y="-12591"/>
              <a:ext cx="2379946" cy="1769673"/>
            </a:xfrm>
            <a:prstGeom prst="rect">
              <a:avLst/>
            </a:prstGeom>
            <a:solidFill>
              <a:srgbClr val="00B0F0"/>
            </a:solidFill>
          </p:spPr>
          <p:txBody>
            <a:bodyPr wrap="square" rtlCol="0">
              <a:spAutoFit/>
            </a:bodyPr>
            <a:lstStyle/>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9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Meilleur accès aux services de prévention des grossesses chez les adolescentes et de promotion de la participation économique des femmes</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p:txBody>
        </p:sp>
        <p:sp>
          <p:nvSpPr>
            <p:cNvPr id="43" name="TextBox 28">
              <a:extLst>
                <a:ext uri="{FF2B5EF4-FFF2-40B4-BE49-F238E27FC236}">
                  <a16:creationId xmlns:a16="http://schemas.microsoft.com/office/drawing/2014/main" id="{A9A137C2-4A53-41CC-909B-078D228AAFE8}"/>
                </a:ext>
              </a:extLst>
            </p:cNvPr>
            <p:cNvSpPr txBox="1"/>
            <p:nvPr/>
          </p:nvSpPr>
          <p:spPr>
            <a:xfrm>
              <a:off x="-450438" y="-5241"/>
              <a:ext cx="2590533" cy="1769672"/>
            </a:xfrm>
            <a:prstGeom prst="rect">
              <a:avLst/>
            </a:prstGeom>
            <a:solidFill>
              <a:srgbClr val="00B0F0"/>
            </a:solidFill>
          </p:spPr>
          <p:txBody>
            <a:bodyPr wrap="square" rtlCol="0">
              <a:spAutoFit/>
            </a:bodyPr>
            <a:lstStyle/>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8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Accroître l'efficacité et la couverture effective des services sociaux intégrés et durables</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p:txBody>
        </p:sp>
        <p:sp>
          <p:nvSpPr>
            <p:cNvPr id="44" name="TextBox 33">
              <a:extLst>
                <a:ext uri="{FF2B5EF4-FFF2-40B4-BE49-F238E27FC236}">
                  <a16:creationId xmlns:a16="http://schemas.microsoft.com/office/drawing/2014/main" id="{8FCE60F2-7AAD-469F-99FA-A7907C1C8144}"/>
                </a:ext>
              </a:extLst>
            </p:cNvPr>
            <p:cNvSpPr txBox="1"/>
            <p:nvPr/>
          </p:nvSpPr>
          <p:spPr>
            <a:xfrm>
              <a:off x="-3121845" y="-5241"/>
              <a:ext cx="2461261" cy="1769673"/>
            </a:xfrm>
            <a:prstGeom prst="rect">
              <a:avLst/>
            </a:prstGeom>
            <a:solidFill>
              <a:srgbClr val="00B0F0"/>
            </a:solidFill>
          </p:spPr>
          <p:txBody>
            <a:bodyPr wrap="square" rtlCol="0">
              <a:spAutoFit/>
            </a:bodyPr>
            <a:lstStyle/>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7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Améliorer les principaux résultats en matière de santé et d'éducation</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p:txBody>
        </p:sp>
      </p:grpSp>
      <p:sp>
        <p:nvSpPr>
          <p:cNvPr id="48" name="TextBox 20">
            <a:extLst>
              <a:ext uri="{FF2B5EF4-FFF2-40B4-BE49-F238E27FC236}">
                <a16:creationId xmlns:a16="http://schemas.microsoft.com/office/drawing/2014/main" id="{61DD58FA-691C-40D4-A443-0BF04F16BDA4}"/>
              </a:ext>
            </a:extLst>
          </p:cNvPr>
          <p:cNvSpPr txBox="1"/>
          <p:nvPr/>
        </p:nvSpPr>
        <p:spPr>
          <a:xfrm>
            <a:off x="367495" y="829071"/>
            <a:ext cx="11530224" cy="646331"/>
          </a:xfrm>
          <a:prstGeom prst="rect">
            <a:avLst/>
          </a:prstGeom>
          <a:solidFill>
            <a:srgbClr val="002060"/>
          </a:solidFill>
        </p:spPr>
        <p:txBody>
          <a:bodyPr wrap="square" rtlCol="0">
            <a:spAutoFit/>
          </a:bodyPr>
          <a:lstStyle/>
          <a:p>
            <a:r>
              <a:rPr lang="en-US"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HLO 1 : Des institutions plus inclusives
</a:t>
            </a:r>
          </a:p>
          <a:p>
            <a:r>
              <a:rPr lang="en-US"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p:txBody>
      </p:sp>
      <p:sp>
        <p:nvSpPr>
          <p:cNvPr id="50" name="TextBox 28">
            <a:extLst>
              <a:ext uri="{FF2B5EF4-FFF2-40B4-BE49-F238E27FC236}">
                <a16:creationId xmlns:a16="http://schemas.microsoft.com/office/drawing/2014/main" id="{6DCAB71F-0043-4348-B2CA-13ED368C292D}"/>
              </a:ext>
            </a:extLst>
          </p:cNvPr>
          <p:cNvSpPr txBox="1"/>
          <p:nvPr/>
        </p:nvSpPr>
        <p:spPr>
          <a:xfrm>
            <a:off x="4081340" y="1524409"/>
            <a:ext cx="4029319" cy="1169551"/>
          </a:xfrm>
          <a:prstGeom prst="rect">
            <a:avLst/>
          </a:prstGeom>
          <a:solidFill>
            <a:srgbClr val="00B0F0"/>
          </a:solidFill>
        </p:spPr>
        <p:txBody>
          <a:bodyPr wrap="square" rtlCol="0">
            <a:spAutoFit/>
          </a:bodyPr>
          <a:lstStyle/>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2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Accroître l'efficacité du secteur public pour une prestation de services meilleure et plus durable</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et des politiques plus équitables</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p:txBody>
      </p:sp>
      <p:sp>
        <p:nvSpPr>
          <p:cNvPr id="51" name="TextBox 33">
            <a:extLst>
              <a:ext uri="{FF2B5EF4-FFF2-40B4-BE49-F238E27FC236}">
                <a16:creationId xmlns:a16="http://schemas.microsoft.com/office/drawing/2014/main" id="{07CF0438-65B6-4F90-A587-44EFFB9C0EBB}"/>
              </a:ext>
            </a:extLst>
          </p:cNvPr>
          <p:cNvSpPr txBox="1"/>
          <p:nvPr/>
        </p:nvSpPr>
        <p:spPr>
          <a:xfrm>
            <a:off x="367495" y="1515609"/>
            <a:ext cx="3665451" cy="1169551"/>
          </a:xfrm>
          <a:prstGeom prst="rect">
            <a:avLst/>
          </a:prstGeom>
          <a:solidFill>
            <a:srgbClr val="00B0F0"/>
          </a:solidFill>
        </p:spPr>
        <p:txBody>
          <a:bodyPr wrap="square" rtlCol="0">
            <a:spAutoFit/>
          </a:bodyPr>
          <a:lstStyle/>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1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Améliorer la gestion économique pour une création d'emplois durable et résiliente, une meilleure capacité de dépense et un risque souverain plus faible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p:txBody>
      </p:sp>
      <p:grpSp>
        <p:nvGrpSpPr>
          <p:cNvPr id="55" name="Group 54">
            <a:extLst>
              <a:ext uri="{FF2B5EF4-FFF2-40B4-BE49-F238E27FC236}">
                <a16:creationId xmlns:a16="http://schemas.microsoft.com/office/drawing/2014/main" id="{640C48EE-017A-4A83-A3F5-13D2C23B3CD6}"/>
              </a:ext>
            </a:extLst>
          </p:cNvPr>
          <p:cNvGrpSpPr/>
          <p:nvPr/>
        </p:nvGrpSpPr>
        <p:grpSpPr>
          <a:xfrm>
            <a:off x="294281" y="3949567"/>
            <a:ext cx="3180023" cy="2677656"/>
            <a:chOff x="-9838606" y="1606149"/>
            <a:chExt cx="4973915" cy="2023367"/>
          </a:xfrm>
        </p:grpSpPr>
        <p:sp>
          <p:nvSpPr>
            <p:cNvPr id="58" name="TextBox 28">
              <a:extLst>
                <a:ext uri="{FF2B5EF4-FFF2-40B4-BE49-F238E27FC236}">
                  <a16:creationId xmlns:a16="http://schemas.microsoft.com/office/drawing/2014/main" id="{7A7D9AE5-C3BD-4177-85EE-8BE5CFD01A0D}"/>
                </a:ext>
              </a:extLst>
            </p:cNvPr>
            <p:cNvSpPr txBox="1"/>
            <p:nvPr/>
          </p:nvSpPr>
          <p:spPr>
            <a:xfrm>
              <a:off x="-7246575" y="1606149"/>
              <a:ext cx="2381884" cy="2023367"/>
            </a:xfrm>
            <a:prstGeom prst="rect">
              <a:avLst/>
            </a:prstGeom>
            <a:solidFill>
              <a:srgbClr val="00B0F0"/>
            </a:solidFill>
          </p:spPr>
          <p:txBody>
            <a:bodyPr wrap="square" rtlCol="0">
              <a:spAutoFit/>
            </a:bodyPr>
            <a:lstStyle/>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5 du CPF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Promouvoir la croissance de la productivité dans des industries à forte intensité de main-d'œuvre sélectionnées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p:txBody>
        </p:sp>
        <p:sp>
          <p:nvSpPr>
            <p:cNvPr id="59" name="TextBox 33">
              <a:extLst>
                <a:ext uri="{FF2B5EF4-FFF2-40B4-BE49-F238E27FC236}">
                  <a16:creationId xmlns:a16="http://schemas.microsoft.com/office/drawing/2014/main" id="{A9F25950-3269-4593-8FC9-BE603435FFB8}"/>
                </a:ext>
              </a:extLst>
            </p:cNvPr>
            <p:cNvSpPr txBox="1"/>
            <p:nvPr/>
          </p:nvSpPr>
          <p:spPr>
            <a:xfrm>
              <a:off x="-9838606" y="1606149"/>
              <a:ext cx="2381884" cy="2023367"/>
            </a:xfrm>
            <a:prstGeom prst="rect">
              <a:avLst/>
            </a:prstGeom>
            <a:solidFill>
              <a:srgbClr val="00B0F0"/>
            </a:solidFill>
          </p:spPr>
          <p:txBody>
            <a:bodyPr wrap="square" rtlCol="0">
              <a:spAutoFit/>
            </a:bodyPr>
            <a:lstStyle/>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4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Permettre une croissance durable de secteurs de ressources naturelles sélectionnés qui exploitent des avantages comparatifs régionaux et mondiaux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p:txBody>
        </p:sp>
      </p:grpSp>
      <p:sp>
        <p:nvSpPr>
          <p:cNvPr id="28" name="TextBox 20">
            <a:extLst>
              <a:ext uri="{FF2B5EF4-FFF2-40B4-BE49-F238E27FC236}">
                <a16:creationId xmlns:a16="http://schemas.microsoft.com/office/drawing/2014/main" id="{11125F59-7817-4321-BD2E-A1252531A912}"/>
              </a:ext>
            </a:extLst>
          </p:cNvPr>
          <p:cNvSpPr txBox="1"/>
          <p:nvPr/>
        </p:nvSpPr>
        <p:spPr>
          <a:xfrm>
            <a:off x="294281" y="2980869"/>
            <a:ext cx="5010043" cy="830997"/>
          </a:xfrm>
          <a:prstGeom prst="rect">
            <a:avLst/>
          </a:prstGeom>
          <a:solidFill>
            <a:srgbClr val="002060"/>
          </a:solidFill>
        </p:spPr>
        <p:txBody>
          <a:bodyPr wrap="square" rtlCol="0">
            <a:spAutoFit/>
          </a:bodyPr>
          <a:lstStyle/>
          <a:p>
            <a:r>
              <a:rPr lang="en-US"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HLO2 : Augmentation de la création inclusive d'emplois</a:t>
            </a:r>
          </a:p>
          <a:p>
            <a:r>
              <a:rPr lang="en-US"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t>
            </a:r>
          </a:p>
          <a:p>
            <a:r>
              <a:rPr lang="en-US"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
            </a:r>
          </a:p>
        </p:txBody>
      </p:sp>
      <p:sp>
        <p:nvSpPr>
          <p:cNvPr id="34" name="TextBox 33">
            <a:extLst>
              <a:ext uri="{FF2B5EF4-FFF2-40B4-BE49-F238E27FC236}">
                <a16:creationId xmlns:a16="http://schemas.microsoft.com/office/drawing/2014/main" id="{02498E19-A5E1-4FF3-8593-77DDFB633840}"/>
              </a:ext>
            </a:extLst>
          </p:cNvPr>
          <p:cNvSpPr txBox="1"/>
          <p:nvPr/>
        </p:nvSpPr>
        <p:spPr>
          <a:xfrm>
            <a:off x="8190125" y="1532767"/>
            <a:ext cx="3725775" cy="1169551"/>
          </a:xfrm>
          <a:prstGeom prst="rect">
            <a:avLst/>
          </a:prstGeom>
          <a:solidFill>
            <a:srgbClr val="00B0F0"/>
          </a:solidFill>
        </p:spPr>
        <p:txBody>
          <a:bodyPr wrap="square" rtlCol="0">
            <a:spAutoFit/>
          </a:bodyPr>
          <a:lstStyle/>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3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Renforcer la coordination, les politiques et les capacités pour une meilleure préparation et une meilleure réponse aux catastrophes naturelles, aux pandémies et à d'autres chocs multidimensionnels</a:t>
            </a:r>
          </a:p>
        </p:txBody>
      </p:sp>
      <p:sp>
        <p:nvSpPr>
          <p:cNvPr id="35" name="TextBox 34">
            <a:extLst>
              <a:ext uri="{FF2B5EF4-FFF2-40B4-BE49-F238E27FC236}">
                <a16:creationId xmlns:a16="http://schemas.microsoft.com/office/drawing/2014/main" id="{A9BC120A-2D09-4578-9211-2DC58272B03D}"/>
              </a:ext>
            </a:extLst>
          </p:cNvPr>
          <p:cNvSpPr txBox="1"/>
          <p:nvPr/>
        </p:nvSpPr>
        <p:spPr>
          <a:xfrm>
            <a:off x="3633722" y="3949567"/>
            <a:ext cx="1656232" cy="2677656"/>
          </a:xfrm>
          <a:prstGeom prst="rect">
            <a:avLst/>
          </a:prstGeom>
          <a:solidFill>
            <a:srgbClr val="00B0F0"/>
          </a:solidFill>
        </p:spPr>
        <p:txBody>
          <a:bodyPr wrap="square" rtlCol="0">
            <a:spAutoFit/>
          </a:bodyPr>
          <a:lstStyle/>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Objectif 6 :</a:t>
            </a:r>
          </a:p>
          <a:p>
            <a:r>
              <a:rPr lang="en-US" sz="1400" b="1" dirty="0">
                <a:solidFill>
                  <a:srgbClr val="FFFFFF"/>
                </a:solidFill>
                <a:latin typeface="Calibri" panose="020F0502020204030204" pitchFamily="34" charset="0"/>
                <a:ea typeface="Times New Roman" panose="02020603050405020304" pitchFamily="18" charset="0"/>
                <a:cs typeface="Times New Roman" panose="02020603050405020304" pitchFamily="18" charset="0"/>
              </a:rPr>
              <a:t>Étendre des services abordables, fiables et résilients au climat pour l'accès des plus défavorisés et accélérer une urbanisation durable et l'agglomération économique</a:t>
            </a:r>
          </a:p>
        </p:txBody>
      </p:sp>
      <p:sp>
        <p:nvSpPr>
          <p:cNvPr id="19" name="Title 1">
            <a:extLst>
              <a:ext uri="{FF2B5EF4-FFF2-40B4-BE49-F238E27FC236}">
                <a16:creationId xmlns:a16="http://schemas.microsoft.com/office/drawing/2014/main" id="{0E673E36-BCC7-485A-B2E2-9DE06668B038}"/>
              </a:ext>
            </a:extLst>
          </p:cNvPr>
          <p:cNvSpPr txBox="1">
            <a:spLocks/>
          </p:cNvSpPr>
          <p:nvPr/>
        </p:nvSpPr>
        <p:spPr>
          <a:xfrm>
            <a:off x="367495" y="154262"/>
            <a:ext cx="10515600" cy="315912"/>
          </a:xfrm>
          <a:prstGeom prst="rect">
            <a:avLst/>
          </a:prstGeom>
        </p:spPr>
        <p:txBody>
          <a:bodyPr>
            <a:noAutofit/>
          </a:bodyPr>
          <a:lstStyle>
            <a:lvl1pPr algn="l" defTabSz="914400" rtl="0" eaLnBrk="1" latinLnBrk="0" hangingPunct="1">
              <a:lnSpc>
                <a:spcPct val="90000"/>
              </a:lnSpc>
              <a:spcBef>
                <a:spcPct val="0"/>
              </a:spcBef>
              <a:buNone/>
              <a:defRPr sz="2400" kern="1200">
                <a:solidFill>
                  <a:schemeClr val="accent1">
                    <a:lumMod val="75000"/>
                  </a:schemeClr>
                </a:solidFill>
                <a:latin typeface="Arial" panose="020B0604020202020204" pitchFamily="34" charset="0"/>
                <a:ea typeface="+mj-ea"/>
                <a:cs typeface="Arial" panose="020B0604020202020204" pitchFamily="34" charset="0"/>
              </a:defRPr>
            </a:lvl1pPr>
          </a:lstStyle>
          <a:p>
            <a:r>
              <a:rPr lang="en-US" b="1" dirty="0">
                <a:latin typeface="Arial"/>
                <a:cs typeface="Times New Roman"/>
              </a:rPr>
              <a:t/>
            </a:r>
          </a:p>
          <a:p>
            <a:r>
              <a:rPr lang="en-US" b="1" dirty="0">
                <a:latin typeface="Arial"/>
                <a:cs typeface="Times New Roman"/>
              </a:rPr>
              <a:t>CPF 2023-2027 : aspirations et objectifs
</a:t>
            </a:r>
          </a:p>
          <a:p>
            <a:r>
              <a:rPr lang="en-US" b="1" dirty="0">
                <a:latin typeface="Arial"/>
                <a:cs typeface="Times New Roman"/>
              </a:rPr>
              <a:t/>
            </a:r>
          </a:p>
        </p:txBody>
      </p:sp>
      <p:sp>
        <p:nvSpPr>
          <p:cNvPr id="6" name="Footer Placeholder 5">
            <a:extLst>
              <a:ext uri="{FF2B5EF4-FFF2-40B4-BE49-F238E27FC236}">
                <a16:creationId xmlns:a16="http://schemas.microsoft.com/office/drawing/2014/main" id="{E9D66B6B-A600-4FC2-B12C-788AB7A08DAE}"/>
              </a:ext>
            </a:extLst>
          </p:cNvPr>
          <p:cNvSpPr>
            <a:spLocks noGrp="1"/>
          </p:cNvSpPr>
          <p:nvPr>
            <p:ph type="ftr" sz="quarter" idx="11"/>
          </p:nvPr>
        </p:nvSpPr>
        <p:spPr>
          <a:xfrm>
            <a:off x="4495800" y="6627223"/>
            <a:ext cx="4114800" cy="365125"/>
          </a:xfrm>
        </p:spPr>
        <p:txBody>
          <a:bodyPr/>
          <a:lstStyle/>
          <a:p>
            <a:r>
              <a:rPr lang="en-US"/>
              <a:t>CPF 2023-2027. Version publique. Maputo, mai 2022.</a:t>
            </a:r>
          </a:p>
        </p:txBody>
      </p:sp>
      <p:sp>
        <p:nvSpPr>
          <p:cNvPr id="7" name="Slide Number Placeholder 6">
            <a:extLst>
              <a:ext uri="{FF2B5EF4-FFF2-40B4-BE49-F238E27FC236}">
                <a16:creationId xmlns:a16="http://schemas.microsoft.com/office/drawing/2014/main" id="{F7F5C800-7776-4432-9E55-C18FBDC68D15}"/>
              </a:ext>
            </a:extLst>
          </p:cNvPr>
          <p:cNvSpPr>
            <a:spLocks noGrp="1"/>
          </p:cNvSpPr>
          <p:nvPr>
            <p:ph type="sldNum" sz="quarter" idx="12"/>
          </p:nvPr>
        </p:nvSpPr>
        <p:spPr/>
        <p:txBody>
          <a:bodyPr/>
          <a:lstStyle/>
          <a:p>
            <a:fld id="{B8473C9A-9E91-4025-B5E2-D7B202510636}" type="slidenum">
              <a:rPr lang="en-US" smtClean="0"/>
              <a:t>17</a:t>
            </a:fld>
            <a:endParaRPr lang="en-US" dirty="0"/>
          </a:p>
        </p:txBody>
      </p:sp>
      <p:pic>
        <p:nvPicPr>
          <p:cNvPr id="2" name="Picture 1">
            <a:extLst>
              <a:ext uri="{FF2B5EF4-FFF2-40B4-BE49-F238E27FC236}">
                <a16:creationId xmlns:a16="http://schemas.microsoft.com/office/drawing/2014/main" id="{7EA3193B-CD46-4350-99F0-6608A5D56148}"/>
              </a:ext>
            </a:extLst>
          </p:cNvPr>
          <p:cNvPicPr>
            <a:picLocks noChangeAspect="1"/>
          </p:cNvPicPr>
          <p:nvPr/>
        </p:nvPicPr>
        <p:blipFill>
          <a:blip r:embed="rId2"/>
          <a:stretch>
            <a:fillRect/>
          </a:stretch>
        </p:blipFill>
        <p:spPr>
          <a:xfrm>
            <a:off x="150564" y="113964"/>
            <a:ext cx="2316681" cy="463336"/>
          </a:xfrm>
          <a:prstGeom prst="rect">
            <a:avLst/>
          </a:prstGeom>
        </p:spPr>
      </p:pic>
    </p:spTree>
    <p:extLst>
      <p:ext uri="{BB962C8B-B14F-4D97-AF65-F5344CB8AC3E}">
        <p14:creationId xmlns:p14="http://schemas.microsoft.com/office/powerpoint/2010/main" val="164693797"/>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4328182-DCAC-44BE-B53C-25FEF02C2D3B}"/>
              </a:ext>
            </a:extLst>
          </p:cNvPr>
          <p:cNvSpPr>
            <a:spLocks noGrp="1"/>
          </p:cNvSpPr>
          <p:nvPr>
            <p:ph idx="1"/>
          </p:nvPr>
        </p:nvSpPr>
        <p:spPr>
          <a:xfrm>
            <a:off x="398205" y="1215594"/>
            <a:ext cx="11567711" cy="5856585"/>
          </a:xfrm>
        </p:spPr>
        <p:txBody>
          <a:bodyPr>
            <a:noAutofit/>
          </a:bodyPr>
          <a:lstStyle/>
          <a:p>
            <a:r>
              <a:rPr lang="en-US" sz="1600" b="0" i="0" u="none" strike="noStrike" dirty="0">
                <a:latin typeface="Arial"/>
                <a:cs typeface="Times New Roman"/>
              </a:rPr>
              <a:t>Conformément aux enseignements du CLR, aux recommandations de l'actualisation du SCD et aux cibles gouvernementales définies dans le plan quinquennal 2020-24 et dans la révision en cours de la stratégie nationale de développement, le CPF proposé pour les EB2023-2027 vise à contribuer à la transition du Mozambique vers une trajectoire de croissance plus verte, plus résiliente et plus inclusive.</a:t>
            </a:r>
          </a:p>
          <a:p>
            <a:r>
              <a:rPr lang="en-US" sz="1600" b="0" i="0" u="none" strike="noStrike" dirty="0">
                <a:latin typeface="Arial"/>
                <a:cs typeface="Times New Roman"/>
              </a:rPr>
              <a:t/>
            </a:r>
          </a:p>
          <a:p>
            <a:r>
              <a:rPr lang="en-US" sz="1600" b="0" i="0" u="none" strike="noStrike" dirty="0">
                <a:latin typeface="Arial"/>
                <a:cs typeface="Times New Roman"/>
              </a:rPr>
              <a:t>À cette fin, le CPF soutiendra les réformes et investissements du gouvernement susceptibles de contribuer aux résultats de haut niveau suivants :</a:t>
            </a:r>
          </a:p>
          <a:p>
            <a:r>
              <a:rPr lang="en-US" sz="1600" b="0" i="0" u="none" strike="noStrike" dirty="0">
                <a:latin typeface="Arial"/>
                <a:cs typeface="Times New Roman"/>
              </a:rPr>
              <a:t>Résultat 1 : Des institutions plus inclusives grâce à (i) une meilleure gestion macroéconomique pour une meilleure capacité de dépense et un risque souverain plus faible ; (ii) l'accroissement de l'efficacité du secteur public ; et (iii) le renforcement de la préparation et de la réponse aux chocs multidimensionnels.</a:t>
            </a:r>
          </a:p>
          <a:p>
            <a:r>
              <a:rPr lang="en-US" sz="1600" b="0" i="0" u="none" strike="noStrike" dirty="0">
                <a:latin typeface="Arial"/>
                <a:cs typeface="Times New Roman"/>
              </a:rPr>
              <a:t>Résultat 2 : Une création d'emplois inclusive accrue (accélération du processus de transformation structurelle), ce qui requiert à son tour (i) de permettre une croissance durable dans des secteurs de ressources naturelles sélectionnés ; (ii) de promouvoir la croissance de la productivité dans des industries intensives sélectionnées ; et (iii) l'expansion des services d'infrastructure et d'urbanisation.</a:t>
            </a:r>
          </a:p>
          <a:p>
            <a:r>
              <a:rPr lang="en-US" sz="1600" b="0" i="0" u="none" strike="noStrike" dirty="0">
                <a:latin typeface="Arial"/>
                <a:cs typeface="Times New Roman"/>
              </a:rPr>
              <a:t>Résultat 3 : Améliorer l'accumulation de capital humain et l'autonomisation des femmes grâce à (i) de meilleurs résultats en santé et en éducation ; (ii) une couverture plus efficace et efficiente des services sociaux intégrés et durables ; et (iii) un meilleur accès aux services de prévention des grossesses chez les adolescentes et de promotion de la participation économique des femmes.</a:t>
            </a:r>
          </a:p>
        </p:txBody>
      </p:sp>
      <p:sp>
        <p:nvSpPr>
          <p:cNvPr id="5" name="Title 1">
            <a:extLst>
              <a:ext uri="{FF2B5EF4-FFF2-40B4-BE49-F238E27FC236}">
                <a16:creationId xmlns:a16="http://schemas.microsoft.com/office/drawing/2014/main" id="{4B231BE4-1971-4CE5-AEE8-9DE02D918533}"/>
              </a:ext>
            </a:extLst>
          </p:cNvPr>
          <p:cNvSpPr txBox="1">
            <a:spLocks/>
          </p:cNvSpPr>
          <p:nvPr/>
        </p:nvSpPr>
        <p:spPr>
          <a:xfrm>
            <a:off x="557995" y="183853"/>
            <a:ext cx="11899360" cy="315912"/>
          </a:xfrm>
          <a:prstGeom prst="rect">
            <a:avLst/>
          </a:prstGeom>
        </p:spPr>
        <p:txBody>
          <a:bodyPr>
            <a:noAutofit/>
          </a:bodyPr>
          <a:lstStyle>
            <a:lvl1pPr algn="l" defTabSz="914400" rtl="0" eaLnBrk="1" latinLnBrk="0" hangingPunct="1">
              <a:lnSpc>
                <a:spcPct val="90000"/>
              </a:lnSpc>
              <a:spcBef>
                <a:spcPct val="0"/>
              </a:spcBef>
              <a:buNone/>
              <a:defRPr sz="2400" kern="1200">
                <a:solidFill>
                  <a:schemeClr val="accent1">
                    <a:lumMod val="75000"/>
                  </a:schemeClr>
                </a:solidFill>
                <a:latin typeface="Arial" panose="020B0604020202020204" pitchFamily="34" charset="0"/>
                <a:ea typeface="+mj-ea"/>
                <a:cs typeface="Arial" panose="020B0604020202020204" pitchFamily="34" charset="0"/>
              </a:defRPr>
            </a:lvl1pPr>
          </a:lstStyle>
          <a:p>
            <a:r>
              <a:rPr lang="en-US" b="1" dirty="0">
                <a:latin typeface="Arial"/>
                <a:cs typeface="Times New Roman"/>
              </a:rPr>
              <a:t/>
            </a:r>
          </a:p>
          <a:p>
            <a:r>
              <a:rPr lang="en-US" b="1" dirty="0">
                <a:latin typeface="Arial"/>
                <a:cs typeface="Times New Roman"/>
              </a:rPr>
              <a:t>Proposition de CPF 2023-2027 : objectifs et aspirations  
</a:t>
            </a:r>
          </a:p>
          <a:p>
            <a:r>
              <a:rPr lang="en-US" b="1" dirty="0">
                <a:latin typeface="Arial"/>
                <a:cs typeface="Times New Roman"/>
              </a:rPr>
              <a:t/>
            </a:r>
          </a:p>
        </p:txBody>
      </p:sp>
      <p:sp>
        <p:nvSpPr>
          <p:cNvPr id="7" name="Footer Placeholder 6">
            <a:extLst>
              <a:ext uri="{FF2B5EF4-FFF2-40B4-BE49-F238E27FC236}">
                <a16:creationId xmlns:a16="http://schemas.microsoft.com/office/drawing/2014/main" id="{C6694D3A-16E4-4B4F-81CE-0521DA87762F}"/>
              </a:ext>
            </a:extLst>
          </p:cNvPr>
          <p:cNvSpPr>
            <a:spLocks noGrp="1"/>
          </p:cNvSpPr>
          <p:nvPr>
            <p:ph type="ftr" sz="quarter" idx="11"/>
          </p:nvPr>
        </p:nvSpPr>
        <p:spPr/>
        <p:txBody>
          <a:bodyPr/>
          <a:lstStyle/>
          <a:p>
            <a:r>
              <a:rPr lang="en-US"/>
              <a:t>CPF 2023-2027. Version publique. Maputo, mai 2022.</a:t>
            </a:r>
          </a:p>
        </p:txBody>
      </p:sp>
      <p:sp>
        <p:nvSpPr>
          <p:cNvPr id="8" name="Slide Number Placeholder 7">
            <a:extLst>
              <a:ext uri="{FF2B5EF4-FFF2-40B4-BE49-F238E27FC236}">
                <a16:creationId xmlns:a16="http://schemas.microsoft.com/office/drawing/2014/main" id="{E5D60ABE-C9A0-48B5-9F37-61CF9EDB2909}"/>
              </a:ext>
            </a:extLst>
          </p:cNvPr>
          <p:cNvSpPr>
            <a:spLocks noGrp="1"/>
          </p:cNvSpPr>
          <p:nvPr>
            <p:ph type="sldNum" sz="quarter" idx="12"/>
          </p:nvPr>
        </p:nvSpPr>
        <p:spPr/>
        <p:txBody>
          <a:bodyPr/>
          <a:lstStyle/>
          <a:p>
            <a:fld id="{B8473C9A-9E91-4025-B5E2-D7B202510636}" type="slidenum">
              <a:rPr lang="en-US" smtClean="0"/>
              <a:t>18</a:t>
            </a:fld>
            <a:endParaRPr lang="en-US" dirty="0"/>
          </a:p>
        </p:txBody>
      </p:sp>
      <p:pic>
        <p:nvPicPr>
          <p:cNvPr id="2" name="Picture 1">
            <a:extLst>
              <a:ext uri="{FF2B5EF4-FFF2-40B4-BE49-F238E27FC236}">
                <a16:creationId xmlns:a16="http://schemas.microsoft.com/office/drawing/2014/main" id="{11D92885-4A44-4A01-9CF0-BB87C0F89DF1}"/>
              </a:ext>
            </a:extLst>
          </p:cNvPr>
          <p:cNvPicPr>
            <a:picLocks noChangeAspect="1"/>
          </p:cNvPicPr>
          <p:nvPr/>
        </p:nvPicPr>
        <p:blipFill>
          <a:blip r:embed="rId2"/>
          <a:stretch>
            <a:fillRect/>
          </a:stretch>
        </p:blipFill>
        <p:spPr>
          <a:xfrm>
            <a:off x="159744" y="195328"/>
            <a:ext cx="2316681" cy="463336"/>
          </a:xfrm>
          <a:prstGeom prst="rect">
            <a:avLst/>
          </a:prstGeom>
        </p:spPr>
      </p:pic>
    </p:spTree>
    <p:extLst>
      <p:ext uri="{BB962C8B-B14F-4D97-AF65-F5344CB8AC3E}">
        <p14:creationId xmlns:p14="http://schemas.microsoft.com/office/powerpoint/2010/main" val="248033750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Text Box 101">
            <a:extLst>
              <a:ext uri="{FF2B5EF4-FFF2-40B4-BE49-F238E27FC236}">
                <a16:creationId xmlns:a16="http://schemas.microsoft.com/office/drawing/2014/main" id="{67A4BA36-F678-40DF-B41E-24EC39261E03}"/>
              </a:ext>
            </a:extLst>
          </p:cNvPr>
          <p:cNvSpPr txBox="1"/>
          <p:nvPr/>
        </p:nvSpPr>
        <p:spPr>
          <a:xfrm>
            <a:off x="1628064" y="3840380"/>
            <a:ext cx="1655078" cy="1469998"/>
          </a:xfrm>
          <a:prstGeom prst="rect">
            <a:avLst/>
          </a:prstGeom>
          <a:solidFill>
            <a:schemeClr val="bg1"/>
          </a:solidFill>
          <a:ln w="6350">
            <a:solidFill>
              <a:prstClr val="black"/>
            </a:solidFill>
            <a:prstDash val="dash"/>
          </a:ln>
        </p:spPr>
        <p:txBody>
          <a:bodyPr rot="0" spcFirstLastPara="0" vert="horz" wrap="square" lIns="91440" tIns="45720" rIns="91440" bIns="45720" numCol="1" spcCol="0" rtlCol="0" fromWordArt="0" anchor="t" anchorCtr="0" forceAA="0" compatLnSpc="1">
            <a:prstTxWarp prst="textNoShape">
              <a:avLst/>
            </a:prstTxWarp>
            <a:noAutofit/>
          </a:bodyPr>
          <a:lstStyle/>
          <a:p>
            <a:pPr marL="0" marR="0">
              <a:spcBef>
                <a:spcPct val="0"/>
              </a:spcBef>
              <a:spcAft>
                <a:spcPct val="0"/>
              </a:spcAft>
            </a:pPr>
            <a:r>
              <a:rPr lang="en-US" sz="900">
                <a:effectLst/>
                <a:latin typeface="Calibri" panose="020F0502020204030204" pitchFamily="34" charset="0"/>
                <a:ea typeface="Times New Roman" panose="02020603050405020304" pitchFamily="18" charset="0"/>
                <a:cs typeface="Times New Roman" panose="02020603050405020304" pitchFamily="18" charset="0"/>
              </a:rPr>
              <a:t> </a:t>
            </a:r>
            <a:endParaRPr lang="en-US" sz="1200">
              <a:effectLst/>
              <a:latin typeface="Calibri" pitchFamily="34" charset="0"/>
              <a:ea typeface="Times New Roman" panose="02020603050405020304" pitchFamily="18" charset="0"/>
              <a:cs typeface="Times New Roman" panose="02020603050405020304" pitchFamily="18" charset="0"/>
            </a:endParaRPr>
          </a:p>
        </p:txBody>
      </p:sp>
      <p:sp>
        <p:nvSpPr>
          <p:cNvPr id="39" name="Text Box 108">
            <a:extLst>
              <a:ext uri="{FF2B5EF4-FFF2-40B4-BE49-F238E27FC236}">
                <a16:creationId xmlns:a16="http://schemas.microsoft.com/office/drawing/2014/main" id="{D880BB68-451F-426C-9D42-1B37F6EA4CE3}"/>
              </a:ext>
            </a:extLst>
          </p:cNvPr>
          <p:cNvSpPr txBox="1">
            <a:spLocks noChangeArrowheads="1"/>
          </p:cNvSpPr>
          <p:nvPr/>
        </p:nvSpPr>
        <p:spPr bwMode="auto">
          <a:xfrm>
            <a:off x="1689028" y="621010"/>
            <a:ext cx="1487794" cy="561967"/>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sz="1000" b="1">
                <a:solidFill>
                  <a:srgbClr val="000000"/>
                </a:solidFill>
                <a:latin typeface="Calibri"/>
                <a:ea typeface="Times New Roman"/>
                <a:cs typeface="Times New Roman"/>
              </a:rPr>
              <a:t>Programmes du GOUVERNEMENT
</a:t>
            </a:r>
          </a:p>
          <a:p>
            <a:r>
              <a:rPr lang="en-US" sz="1000" b="1">
                <a:solidFill>
                  <a:srgbClr val="000000"/>
                </a:solidFill>
                <a:latin typeface="Calibri"/>
                <a:ea typeface="Times New Roman"/>
                <a:cs typeface="Times New Roman"/>
              </a:rPr>
              <a:t>(Piliers de l'ENDE)
</a:t>
            </a:r>
          </a:p>
          <a:p>
            <a:r>
              <a:rPr lang="en-US" sz="1000" b="1">
                <a:solidFill>
                  <a:srgbClr val="000000"/>
                </a:solidFill>
                <a:latin typeface="Calibri"/>
                <a:ea typeface="Times New Roman"/>
                <a:cs typeface="Times New Roman"/>
              </a:rPr>
              <a:t/>
            </a:r>
          </a:p>
        </p:txBody>
      </p:sp>
      <p:sp>
        <p:nvSpPr>
          <p:cNvPr id="40" name="Text Box 98">
            <a:extLst>
              <a:ext uri="{FF2B5EF4-FFF2-40B4-BE49-F238E27FC236}">
                <a16:creationId xmlns:a16="http://schemas.microsoft.com/office/drawing/2014/main" id="{EA5287A0-920D-4491-8462-CB8149A79B30}"/>
              </a:ext>
            </a:extLst>
          </p:cNvPr>
          <p:cNvSpPr txBox="1">
            <a:spLocks noChangeArrowheads="1"/>
          </p:cNvSpPr>
          <p:nvPr/>
        </p:nvSpPr>
        <p:spPr bwMode="auto">
          <a:xfrm>
            <a:off x="1723407" y="5785622"/>
            <a:ext cx="1547010" cy="451368"/>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t>
            </a:r>
          </a:p>
          <a:p>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Transformation sociale
</a:t>
            </a:r>
          </a:p>
          <a:p>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r>
          </a:p>
        </p:txBody>
      </p:sp>
      <p:sp>
        <p:nvSpPr>
          <p:cNvPr id="41" name="Text Box 105">
            <a:extLst>
              <a:ext uri="{FF2B5EF4-FFF2-40B4-BE49-F238E27FC236}">
                <a16:creationId xmlns:a16="http://schemas.microsoft.com/office/drawing/2014/main" id="{C65457A2-F255-48B1-BBEE-C8A6E6CECFA3}"/>
              </a:ext>
            </a:extLst>
          </p:cNvPr>
          <p:cNvSpPr txBox="1">
            <a:spLocks noChangeArrowheads="1"/>
          </p:cNvSpPr>
          <p:nvPr/>
        </p:nvSpPr>
        <p:spPr bwMode="auto">
          <a:xfrm>
            <a:off x="1737562" y="3983520"/>
            <a:ext cx="1487794" cy="458264"/>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altLang="zh-CN" sz="900" b="1" dirty="0">
                <a:latin typeface="Calibri" pitchFamily="34" charset="0"/>
                <a:ea typeface="Times New Roman" panose="02020603050405020304" pitchFamily="18" charset="0"/>
                <a:cs typeface="Times New Roman" panose="02020603050405020304" pitchFamily="18" charset="0"/>
              </a:rPr>
              <a:t>
</a:t>
            </a:r>
          </a:p>
          <a:p>
            <a:r>
              <a:rPr lang="en-US" altLang="zh-CN" sz="900" b="1" dirty="0">
                <a:latin typeface="Calibri" pitchFamily="34" charset="0"/>
                <a:ea typeface="Times New Roman" panose="02020603050405020304" pitchFamily="18" charset="0"/>
                <a:cs typeface="Times New Roman" panose="02020603050405020304" pitchFamily="18" charset="0"/>
              </a:rPr>
              <a:t>Transformation économique
</a:t>
            </a:r>
          </a:p>
          <a:p>
            <a:r>
              <a:rPr lang="en-US" altLang="zh-CN" sz="900" b="1" dirty="0">
                <a:latin typeface="Calibri" pitchFamily="34" charset="0"/>
                <a:ea typeface="Times New Roman" panose="02020603050405020304" pitchFamily="18" charset="0"/>
                <a:cs typeface="Times New Roman" panose="02020603050405020304" pitchFamily="18" charset="0"/>
              </a:rPr>
              <a:t/>
            </a:r>
          </a:p>
        </p:txBody>
      </p:sp>
      <p:sp>
        <p:nvSpPr>
          <p:cNvPr id="42" name="Text Box 104">
            <a:extLst>
              <a:ext uri="{FF2B5EF4-FFF2-40B4-BE49-F238E27FC236}">
                <a16:creationId xmlns:a16="http://schemas.microsoft.com/office/drawing/2014/main" id="{510FCC56-B892-48A2-8B7D-98EABBE3CF2F}"/>
              </a:ext>
            </a:extLst>
          </p:cNvPr>
          <p:cNvSpPr txBox="1">
            <a:spLocks noChangeArrowheads="1"/>
          </p:cNvSpPr>
          <p:nvPr/>
        </p:nvSpPr>
        <p:spPr bwMode="auto">
          <a:xfrm>
            <a:off x="1701756" y="1780978"/>
            <a:ext cx="1487794" cy="561967"/>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t>
            </a:r>
          </a:p>
          <a:p>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Gouvernance
</a:t>
            </a:r>
          </a:p>
          <a:p>
            <a:r>
              <a:rPr lang="en-US" altLang="zh-CN" sz="900" b="1" dirty="0">
                <a:latin typeface="Calibri" panose="020F0502020204030204" pitchFamily="34" charset="0"/>
                <a:ea typeface="Times New Roman" panose="02020603050405020304" pitchFamily="18" charset="0"/>
                <a:cs typeface="Times New Roman" panose="02020603050405020304" pitchFamily="18" charset="0"/>
              </a:rPr>
              <a:t/>
            </a:r>
          </a:p>
        </p:txBody>
      </p:sp>
      <p:sp>
        <p:nvSpPr>
          <p:cNvPr id="43" name="Text Box 106">
            <a:extLst>
              <a:ext uri="{FF2B5EF4-FFF2-40B4-BE49-F238E27FC236}">
                <a16:creationId xmlns:a16="http://schemas.microsoft.com/office/drawing/2014/main" id="{5961C23B-B674-4B10-9F36-54A5C208B615}"/>
              </a:ext>
            </a:extLst>
          </p:cNvPr>
          <p:cNvSpPr txBox="1">
            <a:spLocks noChangeArrowheads="1"/>
          </p:cNvSpPr>
          <p:nvPr/>
        </p:nvSpPr>
        <p:spPr bwMode="auto">
          <a:xfrm>
            <a:off x="1715652" y="4573488"/>
            <a:ext cx="1487794" cy="508000"/>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sz="900" b="1" dirty="0">
                <a:solidFill>
                  <a:srgbClr val="000000"/>
                </a:solidFill>
                <a:latin typeface="Calibri"/>
                <a:ea typeface="Times New Roman"/>
                <a:cs typeface="Times New Roman"/>
              </a:rPr>
              <a:t> Environnement/Ressources naturelles (économie circulaire)
</a:t>
            </a:r>
          </a:p>
          <a:p>
            <a:r>
              <a:rPr lang="en-US" sz="900" b="1" dirty="0">
                <a:solidFill>
                  <a:srgbClr val="000000"/>
                </a:solidFill>
                <a:latin typeface="Calibri"/>
                <a:ea typeface="Times New Roman"/>
                <a:cs typeface="Times New Roman"/>
              </a:rPr>
              <a:t/>
            </a:r>
          </a:p>
        </p:txBody>
      </p:sp>
      <p:sp>
        <p:nvSpPr>
          <p:cNvPr id="44" name="Text Box 107">
            <a:extLst>
              <a:ext uri="{FF2B5EF4-FFF2-40B4-BE49-F238E27FC236}">
                <a16:creationId xmlns:a16="http://schemas.microsoft.com/office/drawing/2014/main" id="{E6A1E2E5-0BF7-45AD-9F1D-92118FA6438F}"/>
              </a:ext>
            </a:extLst>
          </p:cNvPr>
          <p:cNvSpPr txBox="1">
            <a:spLocks noChangeArrowheads="1"/>
          </p:cNvSpPr>
          <p:nvPr/>
        </p:nvSpPr>
        <p:spPr bwMode="auto">
          <a:xfrm>
            <a:off x="3473057" y="500153"/>
            <a:ext cx="2008892" cy="370445"/>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kumimoji="0" lang="pt" sz="900" b="1" i="0" u="none" strike="noStrike" cap="none" normalizeH="0" baseline="0" dirty="0">
                <a:solidFill>
                  <a:srgbClr val="000000"/>
                </a:solidFill>
                <a:highlight>
                  <a:srgbClr val="000000">
                    <a:alpha val="0"/>
                  </a:srgbClr>
                </a:highlight>
                <a:latin typeface="Calibri"/>
                <a:ea typeface="Times New Roman"/>
                <a:cs typeface="Times New Roman"/>
              </a:rPr>
              <a:t>PRIORITÉS DE L'ACTUALISATION DU SCD DE LA BM </a:t>
            </a:r>
          </a:p>
        </p:txBody>
      </p:sp>
      <p:sp>
        <p:nvSpPr>
          <p:cNvPr id="45" name="Text Box 102">
            <a:extLst>
              <a:ext uri="{FF2B5EF4-FFF2-40B4-BE49-F238E27FC236}">
                <a16:creationId xmlns:a16="http://schemas.microsoft.com/office/drawing/2014/main" id="{37F53BF3-9C92-442B-8A9B-85DFBF303E13}"/>
              </a:ext>
            </a:extLst>
          </p:cNvPr>
          <p:cNvSpPr txBox="1">
            <a:spLocks noChangeArrowheads="1"/>
          </p:cNvSpPr>
          <p:nvPr/>
        </p:nvSpPr>
        <p:spPr bwMode="auto">
          <a:xfrm>
            <a:off x="5873624" y="516380"/>
            <a:ext cx="2315458" cy="410865"/>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kumimoji="0" lang="pt" sz="1000" b="1" i="0" u="none" strike="noStrike" cap="none" normalizeH="0" baseline="0" dirty="0">
                <a:solidFill>
                  <a:srgbClr val="000000"/>
                </a:solidFill>
                <a:highlight>
                  <a:srgbClr val="000000">
                    <a:alpha val="0"/>
                  </a:srgbClr>
                </a:highlight>
                <a:latin typeface="Calibri"/>
                <a:ea typeface="Times New Roman"/>
                <a:cs typeface="Times New Roman"/>
              </a:rPr>
              <a:t>OBJECTIFS DU CPF DU GBM</a:t>
            </a:r>
          </a:p>
        </p:txBody>
      </p:sp>
      <p:sp>
        <p:nvSpPr>
          <p:cNvPr id="46" name="Text Box 86">
            <a:extLst>
              <a:ext uri="{FF2B5EF4-FFF2-40B4-BE49-F238E27FC236}">
                <a16:creationId xmlns:a16="http://schemas.microsoft.com/office/drawing/2014/main" id="{A79229F4-4E13-47DF-B0B6-A443023CE6D5}"/>
              </a:ext>
            </a:extLst>
          </p:cNvPr>
          <p:cNvSpPr txBox="1">
            <a:spLocks noChangeArrowheads="1"/>
          </p:cNvSpPr>
          <p:nvPr/>
        </p:nvSpPr>
        <p:spPr bwMode="auto">
          <a:xfrm>
            <a:off x="8643949" y="557913"/>
            <a:ext cx="1378820" cy="369332"/>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sz="1000" b="1" dirty="0">
                <a:solidFill>
                  <a:srgbClr val="000000"/>
                </a:solidFill>
                <a:latin typeface="Calibri"/>
                <a:ea typeface="Times New Roman"/>
                <a:cs typeface="Times New Roman"/>
              </a:rPr>
              <a:t>OBJECTIFS DE HAUT NIVEAU (HLO)
</a:t>
            </a:r>
          </a:p>
          <a:p>
            <a:r>
              <a:rPr lang="en-US" sz="1000" b="1" dirty="0">
                <a:solidFill>
                  <a:srgbClr val="000000"/>
                </a:solidFill>
                <a:latin typeface="Calibri"/>
                <a:ea typeface="Times New Roman"/>
                <a:cs typeface="Times New Roman"/>
              </a:rPr>
              <a:t/>
            </a:r>
          </a:p>
        </p:txBody>
      </p:sp>
      <p:sp>
        <p:nvSpPr>
          <p:cNvPr id="47" name="Text Box 90">
            <a:extLst>
              <a:ext uri="{FF2B5EF4-FFF2-40B4-BE49-F238E27FC236}">
                <a16:creationId xmlns:a16="http://schemas.microsoft.com/office/drawing/2014/main" id="{82398FA7-E5D3-44D7-A639-37FF35396638}"/>
              </a:ext>
            </a:extLst>
          </p:cNvPr>
          <p:cNvSpPr txBox="1">
            <a:spLocks noChangeArrowheads="1"/>
          </p:cNvSpPr>
          <p:nvPr/>
        </p:nvSpPr>
        <p:spPr bwMode="auto">
          <a:xfrm>
            <a:off x="8731922" y="2676998"/>
            <a:ext cx="1228725" cy="1784350"/>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sz="900" dirty="0">
                <a:solidFill>
                  <a:srgbClr val="000000"/>
                </a:solidFill>
                <a:latin typeface="Calibri"/>
                <a:ea typeface="Times New Roman"/>
                <a:cs typeface="Times New Roman"/>
              </a:rPr>
              <a:t/>
            </a:r>
          </a:p>
          <a:p>
            <a:r>
              <a:rPr lang="en-US" sz="900" dirty="0">
                <a:solidFill>
                  <a:srgbClr val="000000"/>
                </a:solidFill>
                <a:latin typeface="Calibri"/>
                <a:ea typeface="Times New Roman"/>
                <a:cs typeface="Times New Roman"/>
              </a:rPr>
              <a:t>HLO 2 : Accroître la création inclusive d'emplois
</a:t>
            </a:r>
          </a:p>
          <a:p>
            <a:r>
              <a:rPr lang="en-US" sz="900" dirty="0">
                <a:solidFill>
                  <a:srgbClr val="000000"/>
                </a:solidFill>
                <a:latin typeface="Calibri"/>
                <a:ea typeface="Times New Roman"/>
                <a:cs typeface="Times New Roman"/>
              </a:rPr>
              <a:t/>
            </a:r>
          </a:p>
          <a:p>
            <a:r>
              <a:rPr lang="en-US" sz="900" dirty="0">
                <a:solidFill>
                  <a:srgbClr val="000000"/>
                </a:solidFill>
                <a:latin typeface="Calibri"/>
                <a:ea typeface="Times New Roman"/>
                <a:cs typeface="Times New Roman"/>
              </a:rPr>
              <a:t/>
            </a:r>
          </a:p>
        </p:txBody>
      </p:sp>
      <p:sp>
        <p:nvSpPr>
          <p:cNvPr id="48" name="Text Box 89">
            <a:extLst>
              <a:ext uri="{FF2B5EF4-FFF2-40B4-BE49-F238E27FC236}">
                <a16:creationId xmlns:a16="http://schemas.microsoft.com/office/drawing/2014/main" id="{1BA8E8A2-B286-49EC-AD72-B7F8B644098E}"/>
              </a:ext>
            </a:extLst>
          </p:cNvPr>
          <p:cNvSpPr txBox="1">
            <a:spLocks noChangeArrowheads="1"/>
          </p:cNvSpPr>
          <p:nvPr/>
        </p:nvSpPr>
        <p:spPr bwMode="auto">
          <a:xfrm>
            <a:off x="8751614" y="4565163"/>
            <a:ext cx="1245010" cy="1791188"/>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sz="900" dirty="0">
                <a:solidFill>
                  <a:srgbClr val="000000"/>
                </a:solidFill>
                <a:latin typeface="Calibri"/>
                <a:ea typeface="Times New Roman"/>
                <a:cs typeface="Times New Roman"/>
              </a:rPr>
              <a:t>HLO3 : Améliorer le capital humain et l'autonomisation des femmes
</a:t>
            </a:r>
          </a:p>
          <a:p>
            <a:r>
              <a:rPr lang="en-US" sz="900" dirty="0">
                <a:solidFill>
                  <a:srgbClr val="000000"/>
                </a:solidFill>
                <a:latin typeface="Calibri"/>
                <a:ea typeface="Times New Roman"/>
                <a:cs typeface="Times New Roman"/>
              </a:rPr>
              <a:t/>
            </a:r>
          </a:p>
          <a:p>
            <a:r>
              <a:rPr lang="en-US" sz="900" dirty="0">
                <a:solidFill>
                  <a:srgbClr val="000000"/>
                </a:solidFill>
                <a:latin typeface="Calibri"/>
                <a:ea typeface="Times New Roman"/>
                <a:cs typeface="Times New Roman"/>
              </a:rPr>
              <a:t/>
            </a:r>
          </a:p>
          <a:p>
            <a:r>
              <a:rPr lang="en-US" sz="900" dirty="0">
                <a:solidFill>
                  <a:srgbClr val="000000"/>
                </a:solidFill>
                <a:latin typeface="Calibri"/>
                <a:ea typeface="Times New Roman"/>
                <a:cs typeface="Times New Roman"/>
              </a:rPr>
              <a:t/>
            </a:r>
          </a:p>
        </p:txBody>
      </p:sp>
      <p:sp>
        <p:nvSpPr>
          <p:cNvPr id="49" name="Text Box 87">
            <a:extLst>
              <a:ext uri="{FF2B5EF4-FFF2-40B4-BE49-F238E27FC236}">
                <a16:creationId xmlns:a16="http://schemas.microsoft.com/office/drawing/2014/main" id="{EB613E97-5EF1-4040-8C44-108B0C84469B}"/>
              </a:ext>
            </a:extLst>
          </p:cNvPr>
          <p:cNvSpPr txBox="1">
            <a:spLocks noChangeArrowheads="1"/>
          </p:cNvSpPr>
          <p:nvPr/>
        </p:nvSpPr>
        <p:spPr bwMode="auto">
          <a:xfrm>
            <a:off x="8730879" y="985005"/>
            <a:ext cx="1217885" cy="1577135"/>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sz="900" dirty="0">
                <a:solidFill>
                  <a:srgbClr val="000000"/>
                </a:solidFill>
                <a:latin typeface="Calibri"/>
                <a:ea typeface="Times New Roman"/>
                <a:cs typeface="Times New Roman"/>
              </a:rPr>
              <a:t/>
            </a:r>
          </a:p>
          <a:p>
            <a:r>
              <a:rPr lang="en-US" sz="900" dirty="0">
                <a:solidFill>
                  <a:srgbClr val="000000"/>
                </a:solidFill>
                <a:latin typeface="Calibri"/>
                <a:ea typeface="Times New Roman"/>
                <a:cs typeface="Times New Roman"/>
              </a:rPr>
              <a:t>HLO 1 : Des institutions inclusives
</a:t>
            </a:r>
          </a:p>
          <a:p>
            <a:r>
              <a:rPr lang="en-US" sz="900" dirty="0">
                <a:solidFill>
                  <a:srgbClr val="000000"/>
                </a:solidFill>
                <a:latin typeface="Calibri"/>
                <a:ea typeface="Times New Roman"/>
                <a:cs typeface="Times New Roman"/>
              </a:rPr>
              <a:t/>
            </a:r>
          </a:p>
          <a:p>
            <a:r>
              <a:rPr lang="en-US" sz="900" dirty="0">
                <a:solidFill>
                  <a:srgbClr val="000000"/>
                </a:solidFill>
                <a:latin typeface="Calibri"/>
                <a:ea typeface="Times New Roman"/>
                <a:cs typeface="Times New Roman"/>
              </a:rPr>
              <a:t/>
            </a:r>
          </a:p>
        </p:txBody>
      </p:sp>
      <p:sp>
        <p:nvSpPr>
          <p:cNvPr id="50" name="Text Box 78">
            <a:extLst>
              <a:ext uri="{FF2B5EF4-FFF2-40B4-BE49-F238E27FC236}">
                <a16:creationId xmlns:a16="http://schemas.microsoft.com/office/drawing/2014/main" id="{26218C6F-E2B8-47F3-AB8A-41F3A5B8937B}"/>
              </a:ext>
            </a:extLst>
          </p:cNvPr>
          <p:cNvSpPr txBox="1">
            <a:spLocks noChangeArrowheads="1"/>
          </p:cNvSpPr>
          <p:nvPr/>
        </p:nvSpPr>
        <p:spPr bwMode="auto">
          <a:xfrm>
            <a:off x="3476341" y="950870"/>
            <a:ext cx="1985206" cy="766959"/>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sz="900" dirty="0">
                <a:solidFill>
                  <a:srgbClr val="000000"/>
                </a:solidFill>
                <a:latin typeface="Calibri"/>
                <a:ea typeface="Times New Roman"/>
                <a:cs typeface="Times New Roman"/>
              </a:rPr>
              <a:t>Un fardeau de la dette élevé, un cadre macro-budgétaire fragile et d'autres risques défavorables exposent l'économie à l'instabilité macroéconomique et minent la confiance des investisseurs.</a:t>
            </a:r>
          </a:p>
          <a:p>
            <a:r>
              <a:rPr lang="en-US" sz="900" dirty="0">
                <a:solidFill>
                  <a:srgbClr val="000000"/>
                </a:solidFill>
                <a:latin typeface="Calibri"/>
                <a:ea typeface="Times New Roman"/>
                <a:cs typeface="Times New Roman"/>
              </a:rPr>
              <a:t/>
            </a:r>
          </a:p>
        </p:txBody>
      </p:sp>
      <p:sp>
        <p:nvSpPr>
          <p:cNvPr id="51" name="Text Box 79">
            <a:extLst>
              <a:ext uri="{FF2B5EF4-FFF2-40B4-BE49-F238E27FC236}">
                <a16:creationId xmlns:a16="http://schemas.microsoft.com/office/drawing/2014/main" id="{A00457DF-E278-4418-AF56-D23781F3E4F1}"/>
              </a:ext>
            </a:extLst>
          </p:cNvPr>
          <p:cNvSpPr txBox="1">
            <a:spLocks noChangeArrowheads="1"/>
          </p:cNvSpPr>
          <p:nvPr/>
        </p:nvSpPr>
        <p:spPr bwMode="auto">
          <a:xfrm>
            <a:off x="3483879" y="2879630"/>
            <a:ext cx="2020094" cy="650875"/>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sz="900" dirty="0">
                <a:solidFill>
                  <a:srgbClr val="000000"/>
                </a:solidFill>
                <a:latin typeface="Calibri"/>
                <a:ea typeface="Times New Roman"/>
                <a:cs typeface="Times New Roman"/>
              </a:rPr>
              <a:t>Un processus de décentralisation lent, déséquilibré et insuffisamment financé rend difficile la délégation de pouvoirs aux administrations locales.
</a:t>
            </a:r>
          </a:p>
          <a:p>
            <a:r>
              <a:rPr lang="en-US" sz="900" dirty="0">
                <a:solidFill>
                  <a:srgbClr val="000000"/>
                </a:solidFill>
                <a:latin typeface="Calibri"/>
                <a:ea typeface="Times New Roman"/>
                <a:cs typeface="Times New Roman"/>
              </a:rPr>
              <a:t/>
            </a:r>
          </a:p>
        </p:txBody>
      </p:sp>
      <p:sp>
        <p:nvSpPr>
          <p:cNvPr id="52" name="Text Box 103">
            <a:extLst>
              <a:ext uri="{FF2B5EF4-FFF2-40B4-BE49-F238E27FC236}">
                <a16:creationId xmlns:a16="http://schemas.microsoft.com/office/drawing/2014/main" id="{DCC56B25-B63F-4588-A26A-6E4BD0B39749}"/>
              </a:ext>
            </a:extLst>
          </p:cNvPr>
          <p:cNvSpPr txBox="1">
            <a:spLocks noChangeArrowheads="1"/>
          </p:cNvSpPr>
          <p:nvPr/>
        </p:nvSpPr>
        <p:spPr bwMode="auto">
          <a:xfrm>
            <a:off x="5908040" y="1016226"/>
            <a:ext cx="2296354" cy="1942731"/>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sz="900" dirty="0">
                <a:solidFill>
                  <a:srgbClr val="000000"/>
                </a:solidFill>
                <a:latin typeface="Calibri"/>
                <a:ea typeface="Times New Roman"/>
                <a:cs typeface="Times New Roman"/>
              </a:rPr>
              <a:t>1. Améliorer la gestion économique pour la création d'emplois durables et résilients, une meilleure capacité d'exécution et un risque souverain plus faible
</a:t>
            </a:r>
          </a:p>
          <a:p>
            <a:r>
              <a:rPr lang="en-US" sz="900" dirty="0">
                <a:solidFill>
                  <a:srgbClr val="000000"/>
                </a:solidFill>
                <a:latin typeface="Calibri"/>
                <a:ea typeface="Times New Roman"/>
                <a:cs typeface="Times New Roman"/>
              </a:rPr>
              <a:t>2. Accroître l'efficacité du secteur public pour une prestation de services inclusive et transparente et des politiques plus durables, résilientes et équitables 
</a:t>
            </a:r>
          </a:p>
          <a:p>
            <a:r>
              <a:rPr lang="en-US" sz="900" dirty="0">
                <a:solidFill>
                  <a:srgbClr val="000000"/>
                </a:solidFill>
                <a:latin typeface="Calibri"/>
                <a:ea typeface="Times New Roman"/>
                <a:cs typeface="Times New Roman"/>
              </a:rPr>
              <a:t>3. Renforcer la coordination, les politiques et les capacités pour une meilleure préparation et une meilleure réponse aux catastrophes naturelles, aux désastres et à d'autres chocs multidimensionnels
</a:t>
            </a:r>
          </a:p>
          <a:p>
            <a:r>
              <a:rPr lang="en-US" sz="900" dirty="0">
                <a:solidFill>
                  <a:srgbClr val="000000"/>
                </a:solidFill>
                <a:latin typeface="Calibri"/>
                <a:ea typeface="Times New Roman"/>
                <a:cs typeface="Times New Roman"/>
              </a:rPr>
              <a:t/>
            </a:r>
          </a:p>
        </p:txBody>
      </p:sp>
      <p:sp>
        <p:nvSpPr>
          <p:cNvPr id="53" name="Text Box 97">
            <a:extLst>
              <a:ext uri="{FF2B5EF4-FFF2-40B4-BE49-F238E27FC236}">
                <a16:creationId xmlns:a16="http://schemas.microsoft.com/office/drawing/2014/main" id="{53F47CE3-06C6-4A6F-A118-A959D8740BD4}"/>
              </a:ext>
            </a:extLst>
          </p:cNvPr>
          <p:cNvSpPr txBox="1">
            <a:spLocks noChangeArrowheads="1"/>
          </p:cNvSpPr>
          <p:nvPr/>
        </p:nvSpPr>
        <p:spPr bwMode="auto">
          <a:xfrm>
            <a:off x="5902449" y="5105628"/>
            <a:ext cx="2265505" cy="1318554"/>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sz="900" dirty="0">
                <a:solidFill>
                  <a:srgbClr val="000000"/>
                </a:solidFill>
                <a:latin typeface="Calibri"/>
                <a:ea typeface="Times New Roman"/>
                <a:cs typeface="Times New Roman"/>
              </a:rPr>
              <a:t>7. Améliorer durablement les principaux résultats en matière de santé et d'éducation
</a:t>
            </a:r>
          </a:p>
          <a:p>
            <a:r>
              <a:rPr lang="en-US" sz="900" dirty="0">
                <a:solidFill>
                  <a:srgbClr val="000000"/>
                </a:solidFill>
                <a:latin typeface="Calibri"/>
                <a:ea typeface="Times New Roman"/>
                <a:cs typeface="Times New Roman"/>
              </a:rPr>
              <a:t>8. Accroître l'efficacité et la couverture effective des services sociaux intégrés et durables
</a:t>
            </a:r>
          </a:p>
          <a:p>
            <a:r>
              <a:rPr lang="en-US" sz="900" dirty="0">
                <a:solidFill>
                  <a:srgbClr val="000000"/>
                </a:solidFill>
                <a:latin typeface="Calibri"/>
                <a:ea typeface="Times New Roman"/>
                <a:cs typeface="Times New Roman"/>
              </a:rPr>
              <a:t>9. Améliorer l'accès aux services de prévention des grossesses chez les adolescentes et de promotion de la participation des femmes 
</a:t>
            </a:r>
          </a:p>
          <a:p>
            <a:r>
              <a:rPr lang="en-US" sz="900" dirty="0">
                <a:solidFill>
                  <a:srgbClr val="000000"/>
                </a:solidFill>
                <a:latin typeface="Calibri"/>
                <a:ea typeface="Times New Roman"/>
                <a:cs typeface="Times New Roman"/>
              </a:rPr>
              <a:t/>
            </a:r>
          </a:p>
        </p:txBody>
      </p:sp>
      <p:sp>
        <p:nvSpPr>
          <p:cNvPr id="54" name="Text Box 99">
            <a:extLst>
              <a:ext uri="{FF2B5EF4-FFF2-40B4-BE49-F238E27FC236}">
                <a16:creationId xmlns:a16="http://schemas.microsoft.com/office/drawing/2014/main" id="{CC38D241-29A8-4D06-871B-D72391375300}"/>
              </a:ext>
            </a:extLst>
          </p:cNvPr>
          <p:cNvSpPr txBox="1">
            <a:spLocks noChangeArrowheads="1"/>
          </p:cNvSpPr>
          <p:nvPr/>
        </p:nvSpPr>
        <p:spPr bwMode="auto">
          <a:xfrm>
            <a:off x="10751963" y="2104449"/>
            <a:ext cx="561779" cy="3471862"/>
          </a:xfrm>
          <a:prstGeom prst="rect">
            <a:avLst/>
          </a:prstGeom>
          <a:solidFill>
            <a:srgbClr val="FFFFFF"/>
          </a:solidFill>
          <a:ln w="6350">
            <a:solidFill>
              <a:srgbClr val="000000"/>
            </a:solidFill>
            <a:miter lim="800000"/>
          </a:ln>
        </p:spPr>
        <p:txBody>
          <a:bodyPr vert="vert270" wrap="square" lIns="91440" tIns="45720" rIns="91440" bIns="45720" numCol="1" anchor="t" anchorCtr="0" compatLnSpc="1">
            <a:prstTxWarp prst="textNoShape">
              <a:avLst/>
            </a:prstTxWarp>
            <a:noAutofit/>
          </a:bodyPr>
          <a:lstStyle/>
          <a:p>
            <a:r>
              <a:rPr lang="en-US" sz="1000" b="1" dirty="0">
                <a:solidFill>
                  <a:srgbClr val="000000"/>
                </a:solidFill>
                <a:latin typeface="Calibri"/>
                <a:ea typeface="Times New Roman"/>
                <a:cs typeface="Times New Roman"/>
              </a:rPr>
              <a:t>Les deux objectifs jumeaux de la Banque mondiale (dans le contexte de la fragilité, des conflits et de la violence)</a:t>
            </a:r>
          </a:p>
        </p:txBody>
      </p:sp>
      <p:sp>
        <p:nvSpPr>
          <p:cNvPr id="55" name="Text Box 100">
            <a:extLst>
              <a:ext uri="{FF2B5EF4-FFF2-40B4-BE49-F238E27FC236}">
                <a16:creationId xmlns:a16="http://schemas.microsoft.com/office/drawing/2014/main" id="{6DC054EA-390C-4274-A3B4-61AE519AFF93}"/>
              </a:ext>
            </a:extLst>
          </p:cNvPr>
          <p:cNvSpPr txBox="1">
            <a:spLocks noChangeArrowheads="1"/>
          </p:cNvSpPr>
          <p:nvPr/>
        </p:nvSpPr>
        <p:spPr bwMode="auto">
          <a:xfrm>
            <a:off x="5890371" y="3060927"/>
            <a:ext cx="2296353" cy="1942731"/>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sz="900" dirty="0">
                <a:solidFill>
                  <a:srgbClr val="000000"/>
                </a:solidFill>
                <a:latin typeface="Calibri"/>
                <a:ea typeface="Times New Roman"/>
                <a:cs typeface="Times New Roman"/>
              </a:rPr>
              <a:t>4. Permettre une croissance durable de secteurs de ressources naturelles sélectionnés en exploitant les avantages comparatifs régionaux et mondiaux
</a:t>
            </a:r>
          </a:p>
          <a:p>
            <a:r>
              <a:rPr lang="en-US" sz="900" dirty="0">
                <a:solidFill>
                  <a:srgbClr val="000000"/>
                </a:solidFill>
                <a:latin typeface="Calibri"/>
                <a:ea typeface="Times New Roman"/>
                <a:cs typeface="Times New Roman"/>
              </a:rPr>
              <a:t>5. Promouvoir la croissance de la productivité dans des industries à forte intensité de main-d'œuvre sélectionnées 
</a:t>
            </a:r>
          </a:p>
          <a:p>
            <a:r>
              <a:rPr lang="en-US" sz="900" dirty="0">
                <a:solidFill>
                  <a:srgbClr val="000000"/>
                </a:solidFill>
                <a:latin typeface="Calibri"/>
                <a:ea typeface="Times New Roman"/>
                <a:cs typeface="Times New Roman"/>
              </a:rPr>
              <a:t>6. Étendre des services accessibles, fiables et résilients au climat afin d'améliorer l'accès des plus défavorisés, renforcer l'urbanisation durable et l'agglomération économique
</a:t>
            </a:r>
          </a:p>
          <a:p>
            <a:r>
              <a:rPr lang="en-US" sz="900" dirty="0">
                <a:solidFill>
                  <a:srgbClr val="000000"/>
                </a:solidFill>
                <a:latin typeface="Calibri"/>
                <a:ea typeface="Times New Roman"/>
                <a:cs typeface="Times New Roman"/>
              </a:rPr>
              <a:t/>
            </a:r>
          </a:p>
        </p:txBody>
      </p:sp>
      <p:sp>
        <p:nvSpPr>
          <p:cNvPr id="57" name="Text Box 77">
            <a:extLst>
              <a:ext uri="{FF2B5EF4-FFF2-40B4-BE49-F238E27FC236}">
                <a16:creationId xmlns:a16="http://schemas.microsoft.com/office/drawing/2014/main" id="{6A5089EA-F723-4FD1-838A-0D3BD4FEB79A}"/>
              </a:ext>
            </a:extLst>
          </p:cNvPr>
          <p:cNvSpPr txBox="1">
            <a:spLocks noChangeArrowheads="1"/>
          </p:cNvSpPr>
          <p:nvPr/>
        </p:nvSpPr>
        <p:spPr bwMode="auto">
          <a:xfrm>
            <a:off x="3473057" y="1798101"/>
            <a:ext cx="2016001" cy="1017953"/>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sz="900" dirty="0">
                <a:solidFill>
                  <a:srgbClr val="000000"/>
                </a:solidFill>
                <a:latin typeface="Calibri"/>
                <a:ea typeface="Times New Roman"/>
                <a:cs typeface="Times New Roman"/>
              </a:rPr>
              <a:t>Une faible transparence, un environnement de données déficient et une supervision et une responsabilité insuffisantes de la gestion des finances publiques et des entreprises publiques minent l'efficience et l'efficacité des ressources publiques.</a:t>
            </a:r>
          </a:p>
          <a:p>
            <a:r>
              <a:rPr lang="en-US" sz="900" dirty="0">
                <a:solidFill>
                  <a:srgbClr val="000000"/>
                </a:solidFill>
                <a:latin typeface="Calibri"/>
                <a:ea typeface="Times New Roman"/>
                <a:cs typeface="Times New Roman"/>
              </a:rPr>
              <a:t/>
            </a:r>
          </a:p>
        </p:txBody>
      </p:sp>
      <p:sp>
        <p:nvSpPr>
          <p:cNvPr id="58" name="Text Box 81">
            <a:extLst>
              <a:ext uri="{FF2B5EF4-FFF2-40B4-BE49-F238E27FC236}">
                <a16:creationId xmlns:a16="http://schemas.microsoft.com/office/drawing/2014/main" id="{89AF3C58-1D52-43BE-BD43-B1B4B9388F1D}"/>
              </a:ext>
            </a:extLst>
          </p:cNvPr>
          <p:cNvSpPr txBox="1">
            <a:spLocks noChangeArrowheads="1"/>
          </p:cNvSpPr>
          <p:nvPr/>
        </p:nvSpPr>
        <p:spPr bwMode="auto">
          <a:xfrm>
            <a:off x="3483879" y="3760745"/>
            <a:ext cx="2008891" cy="681038"/>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sz="900" dirty="0">
                <a:solidFill>
                  <a:srgbClr val="000000"/>
                </a:solidFill>
                <a:latin typeface="Calibri"/>
                <a:ea typeface="Times New Roman"/>
                <a:cs typeface="Times New Roman"/>
              </a:rPr>
              <a:t>Les conditions de formation, de réglementation et de marché essentielles à la croissance, à la diversification et à la création d'emplois du secteur privé sont sous-développées.
</a:t>
            </a:r>
          </a:p>
          <a:p>
            <a:r>
              <a:rPr lang="en-US" sz="900" dirty="0">
                <a:solidFill>
                  <a:srgbClr val="000000"/>
                </a:solidFill>
                <a:latin typeface="Calibri"/>
                <a:ea typeface="Times New Roman"/>
                <a:cs typeface="Times New Roman"/>
              </a:rPr>
              <a:t/>
            </a:r>
          </a:p>
        </p:txBody>
      </p:sp>
      <p:sp>
        <p:nvSpPr>
          <p:cNvPr id="59" name="Text Box 80">
            <a:extLst>
              <a:ext uri="{FF2B5EF4-FFF2-40B4-BE49-F238E27FC236}">
                <a16:creationId xmlns:a16="http://schemas.microsoft.com/office/drawing/2014/main" id="{9D0FC625-5B93-4F5D-8146-D81344F7F31C}"/>
              </a:ext>
            </a:extLst>
          </p:cNvPr>
          <p:cNvSpPr txBox="1">
            <a:spLocks noChangeArrowheads="1"/>
          </p:cNvSpPr>
          <p:nvPr/>
        </p:nvSpPr>
        <p:spPr bwMode="auto">
          <a:xfrm>
            <a:off x="3476341" y="4532866"/>
            <a:ext cx="2008892" cy="690562"/>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sz="900" dirty="0">
                <a:solidFill>
                  <a:srgbClr val="000000"/>
                </a:solidFill>
                <a:latin typeface="Calibri"/>
                <a:ea typeface="Times New Roman"/>
                <a:cs typeface="Times New Roman"/>
              </a:rPr>
              <a:t>Les défaillances de marchés clés, dont certaines sont induites par les politiques, affectent la productivité, la commercialisation et la gestion des risques.</a:t>
            </a:r>
          </a:p>
          <a:p>
            <a:r>
              <a:rPr lang="en-US" sz="900" dirty="0">
                <a:solidFill>
                  <a:srgbClr val="000000"/>
                </a:solidFill>
                <a:latin typeface="Calibri"/>
                <a:ea typeface="Times New Roman"/>
                <a:cs typeface="Times New Roman"/>
              </a:rPr>
              <a:t/>
            </a:r>
          </a:p>
        </p:txBody>
      </p:sp>
      <p:sp>
        <p:nvSpPr>
          <p:cNvPr id="60" name="Text Box 82">
            <a:extLst>
              <a:ext uri="{FF2B5EF4-FFF2-40B4-BE49-F238E27FC236}">
                <a16:creationId xmlns:a16="http://schemas.microsoft.com/office/drawing/2014/main" id="{1080C6B7-4DA5-4A14-8AF1-82F56116F321}"/>
              </a:ext>
            </a:extLst>
          </p:cNvPr>
          <p:cNvSpPr txBox="1">
            <a:spLocks noChangeArrowheads="1"/>
          </p:cNvSpPr>
          <p:nvPr/>
        </p:nvSpPr>
        <p:spPr bwMode="auto">
          <a:xfrm>
            <a:off x="3483878" y="5528860"/>
            <a:ext cx="2002521" cy="899160"/>
          </a:xfrm>
          <a:prstGeom prst="rect">
            <a:avLst/>
          </a:prstGeom>
          <a:solidFill>
            <a:srgbClr val="FFFFFF"/>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r>
              <a:rPr lang="en-US" sz="900" dirty="0">
                <a:solidFill>
                  <a:srgbClr val="000000"/>
                </a:solidFill>
                <a:latin typeface="Calibri"/>
                <a:ea typeface="Times New Roman"/>
                <a:cs typeface="Times New Roman"/>
              </a:rPr>
              <a:t>Une responsabilité limitée et des incitations fondées sur la performance ainsi qu'une mauvaise coordination institutionnelle limitent l'efficacité et l'efficience de la prestation de services et de la formation du capital humain.</a:t>
            </a:r>
          </a:p>
          <a:p>
            <a:r>
              <a:rPr lang="en-US" sz="900" dirty="0">
                <a:solidFill>
                  <a:srgbClr val="000000"/>
                </a:solidFill>
                <a:latin typeface="Calibri"/>
                <a:ea typeface="Times New Roman"/>
                <a:cs typeface="Times New Roman"/>
              </a:rPr>
              <a:t/>
            </a:r>
          </a:p>
        </p:txBody>
      </p:sp>
      <p:sp>
        <p:nvSpPr>
          <p:cNvPr id="62" name="Right Arrow 23">
            <a:extLst>
              <a:ext uri="{FF2B5EF4-FFF2-40B4-BE49-F238E27FC236}">
                <a16:creationId xmlns:a16="http://schemas.microsoft.com/office/drawing/2014/main" id="{F7B8CA4A-EE30-47E3-B96F-AAF1B6C4697F}"/>
              </a:ext>
            </a:extLst>
          </p:cNvPr>
          <p:cNvSpPr/>
          <p:nvPr/>
        </p:nvSpPr>
        <p:spPr>
          <a:xfrm>
            <a:off x="8345501" y="3798099"/>
            <a:ext cx="298447" cy="185420"/>
          </a:xfrm>
          <a:prstGeom prst="rightArrow">
            <a:avLst/>
          </a:prstGeom>
          <a:solidFill>
            <a:srgbClr val="4472C4"/>
          </a:solidFill>
          <a:ln w="12700" cap="flat" cmpd="sng" algn="ctr">
            <a:solidFill>
              <a:srgbClr val="4472C4">
                <a:shade val="50000"/>
              </a:srgbClr>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3" name="Right Arrow 23">
            <a:extLst>
              <a:ext uri="{FF2B5EF4-FFF2-40B4-BE49-F238E27FC236}">
                <a16:creationId xmlns:a16="http://schemas.microsoft.com/office/drawing/2014/main" id="{807A0D66-CC7C-4916-A863-58A2936E001D}"/>
              </a:ext>
            </a:extLst>
          </p:cNvPr>
          <p:cNvSpPr/>
          <p:nvPr/>
        </p:nvSpPr>
        <p:spPr>
          <a:xfrm>
            <a:off x="8318413" y="1679133"/>
            <a:ext cx="298447" cy="185420"/>
          </a:xfrm>
          <a:prstGeom prst="rightArrow">
            <a:avLst/>
          </a:prstGeom>
          <a:solidFill>
            <a:srgbClr val="4472C4"/>
          </a:solidFill>
          <a:ln w="12700" cap="flat" cmpd="sng" algn="ctr">
            <a:solidFill>
              <a:srgbClr val="4472C4">
                <a:shade val="50000"/>
              </a:srgbClr>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4" name="Right Brace 63">
            <a:extLst>
              <a:ext uri="{FF2B5EF4-FFF2-40B4-BE49-F238E27FC236}">
                <a16:creationId xmlns:a16="http://schemas.microsoft.com/office/drawing/2014/main" id="{AD63B931-3E8E-4C11-B57C-F8A9FAD3BFA0}"/>
              </a:ext>
            </a:extLst>
          </p:cNvPr>
          <p:cNvSpPr/>
          <p:nvPr/>
        </p:nvSpPr>
        <p:spPr>
          <a:xfrm>
            <a:off x="9975578" y="1009196"/>
            <a:ext cx="795153" cy="5622290"/>
          </a:xfrm>
          <a:prstGeom prst="rightBrace">
            <a:avLst>
              <a:gd name="adj1" fmla="val 0"/>
              <a:gd name="adj2" fmla="val 48780"/>
            </a:avLst>
          </a:prstGeom>
        </p:spPr>
        <p:style>
          <a:lnRef idx="1">
            <a:schemeClr val="accent1"/>
          </a:lnRef>
          <a:fillRef idx="0">
            <a:schemeClr val="accent1"/>
          </a:fillRef>
          <a:effectRef idx="0">
            <a:schemeClr val="accent1"/>
          </a:effectRef>
          <a:fontRef idx="minor">
            <a:schemeClr val="tx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5" name="Right Arrow 23">
            <a:extLst>
              <a:ext uri="{FF2B5EF4-FFF2-40B4-BE49-F238E27FC236}">
                <a16:creationId xmlns:a16="http://schemas.microsoft.com/office/drawing/2014/main" id="{E176EB49-8380-4BF9-B5CD-94A2BBD3D968}"/>
              </a:ext>
            </a:extLst>
          </p:cNvPr>
          <p:cNvSpPr/>
          <p:nvPr/>
        </p:nvSpPr>
        <p:spPr>
          <a:xfrm>
            <a:off x="8312093" y="5566932"/>
            <a:ext cx="298447" cy="185420"/>
          </a:xfrm>
          <a:prstGeom prst="rightArrow">
            <a:avLst/>
          </a:prstGeom>
          <a:solidFill>
            <a:srgbClr val="4472C4"/>
          </a:solidFill>
          <a:ln w="12700" cap="flat" cmpd="sng" algn="ctr">
            <a:solidFill>
              <a:srgbClr val="4472C4">
                <a:shade val="50000"/>
              </a:srgbClr>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6" name="Right Brace 65">
            <a:extLst>
              <a:ext uri="{FF2B5EF4-FFF2-40B4-BE49-F238E27FC236}">
                <a16:creationId xmlns:a16="http://schemas.microsoft.com/office/drawing/2014/main" id="{9BD27318-54AE-44F0-B8A0-1D07DE47F16A}"/>
              </a:ext>
            </a:extLst>
          </p:cNvPr>
          <p:cNvSpPr/>
          <p:nvPr/>
        </p:nvSpPr>
        <p:spPr>
          <a:xfrm>
            <a:off x="5541669" y="918522"/>
            <a:ext cx="322443" cy="2598945"/>
          </a:xfrm>
          <a:prstGeom prst="rightBrace">
            <a:avLst>
              <a:gd name="adj1" fmla="val 0"/>
              <a:gd name="adj2" fmla="val 50000"/>
            </a:avLst>
          </a:prstGeom>
          <a:noFill/>
          <a:ln w="6350" cap="flat" cmpd="sng" algn="ctr">
            <a:solidFill>
              <a:srgbClr val="4472C4"/>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7" name="Right Brace 66">
            <a:extLst>
              <a:ext uri="{FF2B5EF4-FFF2-40B4-BE49-F238E27FC236}">
                <a16:creationId xmlns:a16="http://schemas.microsoft.com/office/drawing/2014/main" id="{17BA87D7-AAFC-4A88-88D7-39B35CF00A45}"/>
              </a:ext>
            </a:extLst>
          </p:cNvPr>
          <p:cNvSpPr/>
          <p:nvPr/>
        </p:nvSpPr>
        <p:spPr>
          <a:xfrm>
            <a:off x="5554535" y="3753428"/>
            <a:ext cx="278613" cy="1469999"/>
          </a:xfrm>
          <a:prstGeom prst="rightBrace">
            <a:avLst>
              <a:gd name="adj1" fmla="val 0"/>
              <a:gd name="adj2" fmla="val 37200"/>
            </a:avLst>
          </a:prstGeom>
          <a:noFill/>
          <a:ln w="6350" cap="flat" cmpd="sng" algn="ctr">
            <a:solidFill>
              <a:srgbClr val="4472C4"/>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68" name="Right Brace 67">
            <a:extLst>
              <a:ext uri="{FF2B5EF4-FFF2-40B4-BE49-F238E27FC236}">
                <a16:creationId xmlns:a16="http://schemas.microsoft.com/office/drawing/2014/main" id="{485910CA-A043-4F81-B5DB-931EE68D20BA}"/>
              </a:ext>
            </a:extLst>
          </p:cNvPr>
          <p:cNvSpPr/>
          <p:nvPr/>
        </p:nvSpPr>
        <p:spPr>
          <a:xfrm>
            <a:off x="5541669" y="5566932"/>
            <a:ext cx="360982" cy="857250"/>
          </a:xfrm>
          <a:prstGeom prst="rightBrace">
            <a:avLst>
              <a:gd name="adj1" fmla="val 0"/>
              <a:gd name="adj2" fmla="val 37200"/>
            </a:avLst>
          </a:prstGeom>
          <a:noFill/>
          <a:ln w="6350" cap="flat" cmpd="sng" algn="ctr">
            <a:solidFill>
              <a:srgbClr val="4472C4"/>
            </a:solid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dirty="0"/>
          </a:p>
        </p:txBody>
      </p:sp>
      <p:sp>
        <p:nvSpPr>
          <p:cNvPr id="75" name="Rectangle 120">
            <a:extLst>
              <a:ext uri="{FF2B5EF4-FFF2-40B4-BE49-F238E27FC236}">
                <a16:creationId xmlns:a16="http://schemas.microsoft.com/office/drawing/2014/main" id="{B4C827BB-E166-4720-BAE3-E8852D546BA4}"/>
              </a:ext>
            </a:extLst>
          </p:cNvPr>
          <p:cNvSpPr>
            <a:spLocks noChangeArrowheads="1"/>
          </p:cNvSpPr>
          <p:nvPr/>
        </p:nvSpPr>
        <p:spPr bwMode="auto">
          <a:xfrm>
            <a:off x="-843300" y="2883334"/>
            <a:ext cx="11369407"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noAutofit/>
          </a:bodyPr>
          <a:lstStyle/>
          <a:p>
            <a:endParaRPr lang="en-US" dirty="0"/>
          </a:p>
        </p:txBody>
      </p:sp>
      <p:sp>
        <p:nvSpPr>
          <p:cNvPr id="82" name="TextBox 81">
            <a:extLst>
              <a:ext uri="{FF2B5EF4-FFF2-40B4-BE49-F238E27FC236}">
                <a16:creationId xmlns:a16="http://schemas.microsoft.com/office/drawing/2014/main" id="{435911EA-4749-40E7-B920-CA8554FC37D6}"/>
              </a:ext>
            </a:extLst>
          </p:cNvPr>
          <p:cNvSpPr txBox="1"/>
          <p:nvPr/>
        </p:nvSpPr>
        <p:spPr>
          <a:xfrm>
            <a:off x="262384" y="38488"/>
            <a:ext cx="11141528" cy="461665"/>
          </a:xfrm>
          <a:prstGeom prst="rect">
            <a:avLst/>
          </a:prstGeom>
          <a:noFill/>
        </p:spPr>
        <p:txBody>
          <a:bodyPr wrap="square">
            <a:noAutofit/>
          </a:bodyPr>
          <a:lstStyle/>
          <a:p>
            <a:r>
              <a:rPr lang="en-US" sz="2300" b="1" dirty="0">
                <a:solidFill>
                  <a:srgbClr val="2F5597"/>
                </a:solidFill>
                <a:ea typeface="+mj-ea"/>
              </a:rPr>
              <a:t>Programme du gouvernement, priorités du SCD et CPF 2023-2027</a:t>
            </a:r>
          </a:p>
        </p:txBody>
      </p:sp>
      <p:sp>
        <p:nvSpPr>
          <p:cNvPr id="33" name="Text Box 86">
            <a:extLst>
              <a:ext uri="{FF2B5EF4-FFF2-40B4-BE49-F238E27FC236}">
                <a16:creationId xmlns:a16="http://schemas.microsoft.com/office/drawing/2014/main" id="{3E71666A-E496-4F48-9C63-1C4953AF4D3C}"/>
              </a:ext>
            </a:extLst>
          </p:cNvPr>
          <p:cNvSpPr txBox="1">
            <a:spLocks noChangeArrowheads="1"/>
          </p:cNvSpPr>
          <p:nvPr/>
        </p:nvSpPr>
        <p:spPr bwMode="auto">
          <a:xfrm>
            <a:off x="10251894" y="582104"/>
            <a:ext cx="1378820" cy="369332"/>
          </a:xfrm>
          <a:prstGeom prst="rect">
            <a:avLst/>
          </a:prstGeom>
          <a:solidFill>
            <a:schemeClr val="bg2"/>
          </a:solidFill>
          <a:ln w="6350">
            <a:solidFill>
              <a:srgbClr val="000000"/>
            </a:solidFill>
            <a:miter lim="800000"/>
          </a:ln>
        </p:spPr>
        <p:txBody>
          <a:bodyPr vert="horz" wrap="square" lIns="91440" tIns="45720" rIns="91440" bIns="45720" numCol="1" anchor="t" anchorCtr="0" compatLnSpc="1">
            <a:prstTxWarp prst="textNoShape">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pPr>
            <a:r>
              <a:rPr kumimoji="0" lang="pt" sz="1200" b="1" i="0" u="none" strike="noStrike" cap="none" normalizeH="0" baseline="0" dirty="0">
                <a:solidFill>
                  <a:srgbClr val="000000"/>
                </a:solidFill>
                <a:highlight>
                  <a:srgbClr val="000000">
                    <a:alpha val="0"/>
                  </a:srgbClr>
                </a:highlight>
                <a:latin typeface="Calibri"/>
                <a:ea typeface="Times New Roman"/>
                <a:cs typeface="Times New Roman"/>
              </a:rPr>
              <a:t>IMPACT</a:t>
            </a:r>
            <a:r>
              <a:rPr kumimoji="0" lang="pt" sz="1000" b="1" i="0" u="none" strike="noStrike" cap="none" normalizeH="0" baseline="0" dirty="0">
                <a:solidFill>
                  <a:srgbClr val="000000"/>
                </a:solidFill>
                <a:highlight>
                  <a:srgbClr val="000000">
                    <a:alpha val="0"/>
                  </a:srgbClr>
                </a:highlight>
                <a:latin typeface="Calibri"/>
                <a:ea typeface="Times New Roman"/>
                <a:cs typeface="Times New Roman"/>
              </a:rPr>
              <a:t> </a:t>
            </a:r>
            <a:endParaRPr kumimoji="0" lang="en-US" altLang="zh-CN" sz="1800" b="0" i="0" u="none" strike="noStrike" cap="none" normalizeH="0" baseline="0" dirty="0">
              <a:ln>
                <a:noFill/>
              </a:ln>
              <a:solidFill>
                <a:schemeClr val="tx1"/>
              </a:solidFill>
              <a:effectLst/>
              <a:latin typeface="Arial" panose="020B0604020202020204" pitchFamily="34" charset="0"/>
            </a:endParaRPr>
          </a:p>
        </p:txBody>
      </p:sp>
      <p:sp>
        <p:nvSpPr>
          <p:cNvPr id="5" name="Footer Placeholder 4">
            <a:extLst>
              <a:ext uri="{FF2B5EF4-FFF2-40B4-BE49-F238E27FC236}">
                <a16:creationId xmlns:a16="http://schemas.microsoft.com/office/drawing/2014/main" id="{3426EFB2-C29A-47AE-B735-FDA626614932}"/>
              </a:ext>
            </a:extLst>
          </p:cNvPr>
          <p:cNvSpPr>
            <a:spLocks noGrp="1"/>
          </p:cNvSpPr>
          <p:nvPr>
            <p:ph type="ftr" sz="quarter" idx="11"/>
          </p:nvPr>
        </p:nvSpPr>
        <p:spPr>
          <a:xfrm>
            <a:off x="4037499" y="6485618"/>
            <a:ext cx="4114800" cy="365125"/>
          </a:xfrm>
        </p:spPr>
        <p:txBody>
          <a:bodyPr/>
          <a:lstStyle/>
          <a:p>
            <a:r>
              <a:rPr lang="en-US"/>
              <a:t>CPF 2023-2027. Version publique. Maputo, mai 2022.</a:t>
            </a:r>
          </a:p>
        </p:txBody>
      </p:sp>
      <p:sp>
        <p:nvSpPr>
          <p:cNvPr id="6" name="Slide Number Placeholder 5">
            <a:extLst>
              <a:ext uri="{FF2B5EF4-FFF2-40B4-BE49-F238E27FC236}">
                <a16:creationId xmlns:a16="http://schemas.microsoft.com/office/drawing/2014/main" id="{209C3A3E-73B2-4CAB-BCDC-283C09B7A996}"/>
              </a:ext>
            </a:extLst>
          </p:cNvPr>
          <p:cNvSpPr>
            <a:spLocks noGrp="1"/>
          </p:cNvSpPr>
          <p:nvPr>
            <p:ph type="sldNum" sz="quarter" idx="12"/>
          </p:nvPr>
        </p:nvSpPr>
        <p:spPr/>
        <p:txBody>
          <a:bodyPr/>
          <a:lstStyle/>
          <a:p>
            <a:fld id="{B8473C9A-9E91-4025-B5E2-D7B202510636}" type="slidenum">
              <a:rPr lang="en-US" smtClean="0"/>
              <a:t>19</a:t>
            </a:fld>
            <a:endParaRPr lang="en-US" dirty="0"/>
          </a:p>
        </p:txBody>
      </p:sp>
      <p:graphicFrame>
        <p:nvGraphicFramePr>
          <p:cNvPr id="2" name="Table 2">
            <a:extLst>
              <a:ext uri="{FF2B5EF4-FFF2-40B4-BE49-F238E27FC236}">
                <a16:creationId xmlns:a16="http://schemas.microsoft.com/office/drawing/2014/main" id="{1C2F015B-084F-4D5A-AFF8-CBC5391288D9}"/>
              </a:ext>
            </a:extLst>
          </p:cNvPr>
          <p:cNvGraphicFramePr>
            <a:graphicFrameLocks noGrp="1"/>
          </p:cNvGraphicFramePr>
          <p:nvPr>
            <p:extLst>
              <p:ext uri="{D42A27DB-BD31-4B8C-83A1-F6EECF244321}">
                <p14:modId xmlns:p14="http://schemas.microsoft.com/office/powerpoint/2010/main" val="1381787384"/>
              </p:ext>
            </p:extLst>
          </p:nvPr>
        </p:nvGraphicFramePr>
        <p:xfrm>
          <a:off x="5862279" y="494314"/>
          <a:ext cx="2366680" cy="432931"/>
        </p:xfrm>
        <a:graphic>
          <a:graphicData uri="http://schemas.openxmlformats.org/drawingml/2006/table">
            <a:tbl>
              <a:tblPr firstRow="1" bandRow="1">
                <a:tableStyleId>{5C22544A-7EE6-4342-B048-85BDC9FD1C3A}</a:tableStyleId>
              </a:tblPr>
              <a:tblGrid>
                <a:gridCol w="2366680">
                  <a:extLst>
                    <a:ext uri="{9D8B030D-6E8A-4147-A177-3AD203B41FA5}">
                      <a16:colId xmlns:a16="http://schemas.microsoft.com/office/drawing/2014/main" val="3780125749"/>
                    </a:ext>
                  </a:extLst>
                </a:gridCol>
              </a:tblGrid>
              <a:tr h="432931">
                <a:tc>
                  <a:txBody>
                    <a:bodyPr/>
                    <a:lstStyle/>
                    <a:p>
                      <a:pPr algn="ctr"/>
                      <a:r>
                        <a:rPr lang="en-US" sz="900" dirty="0"/>
                        <a:t>Objectifs CPF du GBM </a:t>
                      </a:r>
                    </a:p>
                  </a:txBody>
                  <a:tcPr/>
                </a:tc>
                <a:extLst>
                  <a:ext uri="{0D108BD9-81ED-4DB2-BD59-A6C34878D82A}">
                    <a16:rowId xmlns:a16="http://schemas.microsoft.com/office/drawing/2014/main" val="4082223956"/>
                  </a:ext>
                </a:extLst>
              </a:tr>
            </a:tbl>
          </a:graphicData>
        </a:graphic>
      </p:graphicFrame>
      <p:graphicFrame>
        <p:nvGraphicFramePr>
          <p:cNvPr id="3" name="Table 3">
            <a:extLst>
              <a:ext uri="{FF2B5EF4-FFF2-40B4-BE49-F238E27FC236}">
                <a16:creationId xmlns:a16="http://schemas.microsoft.com/office/drawing/2014/main" id="{5152482C-7E96-4C99-AE17-9509514AE1B3}"/>
              </a:ext>
            </a:extLst>
          </p:cNvPr>
          <p:cNvGraphicFramePr>
            <a:graphicFrameLocks noGrp="1"/>
          </p:cNvGraphicFramePr>
          <p:nvPr>
            <p:extLst>
              <p:ext uri="{D42A27DB-BD31-4B8C-83A1-F6EECF244321}">
                <p14:modId xmlns:p14="http://schemas.microsoft.com/office/powerpoint/2010/main" val="2921258018"/>
              </p:ext>
            </p:extLst>
          </p:nvPr>
        </p:nvGraphicFramePr>
        <p:xfrm>
          <a:off x="3348429" y="493305"/>
          <a:ext cx="2284725" cy="457200"/>
        </p:xfrm>
        <a:graphic>
          <a:graphicData uri="http://schemas.openxmlformats.org/drawingml/2006/table">
            <a:tbl>
              <a:tblPr firstRow="1" bandRow="1">
                <a:tableStyleId>{5C22544A-7EE6-4342-B048-85BDC9FD1C3A}</a:tableStyleId>
              </a:tblPr>
              <a:tblGrid>
                <a:gridCol w="2284725">
                  <a:extLst>
                    <a:ext uri="{9D8B030D-6E8A-4147-A177-3AD203B41FA5}">
                      <a16:colId xmlns:a16="http://schemas.microsoft.com/office/drawing/2014/main" val="566056220"/>
                    </a:ext>
                  </a:extLst>
                </a:gridCol>
              </a:tblGrid>
              <a:tr h="457200">
                <a:tc>
                  <a:txBody>
                    <a:bodyPr/>
                    <a:lstStyle/>
                    <a:p>
                      <a:pPr algn="ctr"/>
                      <a:r>
                        <a:rPr lang="en-US" sz="900" dirty="0"/>
                        <a:t>Priorités SCD du GBM </a:t>
                      </a:r>
                    </a:p>
                  </a:txBody>
                  <a:tcPr/>
                </a:tc>
                <a:extLst>
                  <a:ext uri="{0D108BD9-81ED-4DB2-BD59-A6C34878D82A}">
                    <a16:rowId xmlns:a16="http://schemas.microsoft.com/office/drawing/2014/main" val="3967305129"/>
                  </a:ext>
                </a:extLst>
              </a:tr>
            </a:tbl>
          </a:graphicData>
        </a:graphic>
      </p:graphicFrame>
      <p:pic>
        <p:nvPicPr>
          <p:cNvPr id="4" name="Picture 3">
            <a:extLst>
              <a:ext uri="{FF2B5EF4-FFF2-40B4-BE49-F238E27FC236}">
                <a16:creationId xmlns:a16="http://schemas.microsoft.com/office/drawing/2014/main" id="{52416E96-0776-48B0-B21E-A364D77FC888}"/>
              </a:ext>
            </a:extLst>
          </p:cNvPr>
          <p:cNvPicPr>
            <a:picLocks noChangeAspect="1"/>
          </p:cNvPicPr>
          <p:nvPr/>
        </p:nvPicPr>
        <p:blipFill>
          <a:blip r:embed="rId2"/>
          <a:stretch>
            <a:fillRect/>
          </a:stretch>
        </p:blipFill>
        <p:spPr>
          <a:xfrm>
            <a:off x="262384" y="103568"/>
            <a:ext cx="2316681" cy="463336"/>
          </a:xfrm>
          <a:prstGeom prst="rect">
            <a:avLst/>
          </a:prstGeom>
        </p:spPr>
      </p:pic>
    </p:spTree>
    <p:extLst>
      <p:ext uri="{BB962C8B-B14F-4D97-AF65-F5344CB8AC3E}">
        <p14:creationId xmlns:p14="http://schemas.microsoft.com/office/powerpoint/2010/main" val="1068890068"/>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676B-4603-455B-9BA6-AAFD3FF0ACAB}"/>
              </a:ext>
            </a:extLst>
          </p:cNvPr>
          <p:cNvSpPr>
            <a:spLocks noGrp="1"/>
          </p:cNvSpPr>
          <p:nvPr>
            <p:ph type="title"/>
          </p:nvPr>
        </p:nvSpPr>
        <p:spPr>
          <a:xfrm>
            <a:off x="838200" y="229481"/>
            <a:ext cx="10515600" cy="922299"/>
          </a:xfrm>
        </p:spPr>
        <p:txBody>
          <a:bodyPr>
            <a:noAutofit/>
          </a:bodyPr>
          <a:lstStyle/>
          <a:p>
            <a:r>
              <a:rPr lang="en-US" sz="2400" dirty="0"/>
              <a:t>Mise en œuvre du CPF 2023-2027 : priorisation
</a:t>
            </a:r>
          </a:p>
          <a:p>
            <a:r>
              <a:rPr lang="en-US" sz="2400" dirty="0"/>
              <a:t/>
            </a:r>
          </a:p>
        </p:txBody>
      </p:sp>
      <p:sp>
        <p:nvSpPr>
          <p:cNvPr id="3" name="Content Placeholder 2">
            <a:extLst>
              <a:ext uri="{FF2B5EF4-FFF2-40B4-BE49-F238E27FC236}">
                <a16:creationId xmlns:a16="http://schemas.microsoft.com/office/drawing/2014/main" id="{95DD31EA-D262-4017-A859-112A4B3C2A17}"/>
              </a:ext>
            </a:extLst>
          </p:cNvPr>
          <p:cNvSpPr>
            <a:spLocks noGrp="1"/>
          </p:cNvSpPr>
          <p:nvPr>
            <p:ph idx="1"/>
          </p:nvPr>
        </p:nvSpPr>
        <p:spPr>
          <a:xfrm>
            <a:off x="838200" y="1568672"/>
            <a:ext cx="10515600" cy="4700703"/>
          </a:xfrm>
        </p:spPr>
        <p:txBody>
          <a:bodyPr>
            <a:noAutofit/>
          </a:bodyPr>
          <a:lstStyle/>
          <a:p>
            <a:r>
              <a:rPr lang="en-US" sz="1600" b="1" i="0" u="none" strike="noStrike" dirty="0">
                <a:highlight>
                  <a:srgbClr val="000000">
                    <a:alpha val="0"/>
                  </a:srgbClr>
                </a:highlight>
                <a:latin typeface="Arial"/>
              </a:rPr>
              <a:t>Au cours des 12 à 24 prochains mois, le CPF accordera la priorité aux réformes et investissements susceptibles de protéger les perspectives de croissance du pays. À moyen terme, le CPF privilégiera certaines réformes et investissements transformateurs susceptibles d'enclencher une croissance plus verte et plus inclusive.</a:t>
            </a:r>
          </a:p>
          <a:p>
            <a:r>
              <a:rPr lang="en-US" sz="1600" b="1" i="0" u="none" strike="noStrike" dirty="0">
                <a:highlight>
                  <a:srgbClr val="000000">
                    <a:alpha val="0"/>
                  </a:srgbClr>
                </a:highlight>
                <a:latin typeface="Arial"/>
              </a:rPr>
              <a:t>Pour faire face aux vents contraires d'une économie mondiale difficile, le CPF privilégiera les activités qui préservent davantage la stabilité macroéconomique, améliorent la préparation aux chocs climatiques et garantissent la stabilité et la sécurité dans le Nord, tout en maintenant l'accent sur la prévention des crises, la réponse et la résilience, sur la base de l'Allocation pour la prévention et la résilience.</a:t>
            </a:r>
          </a:p>
          <a:p>
            <a:r>
              <a:rPr lang="en-US" sz="1600" b="1" i="0" u="none" strike="noStrike" dirty="0">
                <a:highlight>
                  <a:srgbClr val="000000">
                    <a:alpha val="0"/>
                  </a:srgbClr>
                </a:highlight>
                <a:latin typeface="Arial"/>
              </a:rPr>
              <a:t>Le CPF aidera également le gouvernement à débloquer des investissements privés supplémentaires et des gains de productivité potentiels susceptibles d'accélérer la croissance économique et l'inclusion à court terme.</a:t>
            </a:r>
          </a:p>
          <a:p>
            <a:r>
              <a:rPr lang="en-US" sz="1600" b="1" i="0" u="none" strike="noStrike" dirty="0">
                <a:highlight>
                  <a:srgbClr val="000000">
                    <a:alpha val="0"/>
                  </a:srgbClr>
                </a:highlight>
                <a:latin typeface="Arial"/>
              </a:rPr>
              <a:t>Pour libérer une croissance plus verte et plus inclusive, le CPF privilégiera les activités qui (i) permettent l'exploitation d'une ressource naturelle tout en renforçant la gestion des ressources naturelles – orientant progressivement le pays vers une trajectoire bas carbone (intégrant la recommandation du Rapport sur le changement climatique et le développement (à paraître prochainement)) – et (ii) accélèrent le processus de transformation structurelle (économique et spatiale), notamment par la modernisation de l'agriculture et une meilleure gestion du processus d'urbanisation.</a:t>
            </a:r>
          </a:p>
        </p:txBody>
      </p:sp>
      <p:sp>
        <p:nvSpPr>
          <p:cNvPr id="7" name="Footer Placeholder 6">
            <a:extLst>
              <a:ext uri="{FF2B5EF4-FFF2-40B4-BE49-F238E27FC236}">
                <a16:creationId xmlns:a16="http://schemas.microsoft.com/office/drawing/2014/main" id="{A33C755C-B279-42BF-B058-8A1E73B24E63}"/>
              </a:ext>
            </a:extLst>
          </p:cNvPr>
          <p:cNvSpPr>
            <a:spLocks noGrp="1"/>
          </p:cNvSpPr>
          <p:nvPr>
            <p:ph type="ftr" sz="quarter" idx="11"/>
          </p:nvPr>
        </p:nvSpPr>
        <p:spPr/>
        <p:txBody>
          <a:bodyPr/>
          <a:lstStyle/>
          <a:p>
            <a:r>
              <a:rPr lang="en-US"/>
              <a:t>CPF 2023-2027. Version publique. Maputo, mai 2022.</a:t>
            </a:r>
          </a:p>
        </p:txBody>
      </p:sp>
      <p:sp>
        <p:nvSpPr>
          <p:cNvPr id="8" name="Slide Number Placeholder 7">
            <a:extLst>
              <a:ext uri="{FF2B5EF4-FFF2-40B4-BE49-F238E27FC236}">
                <a16:creationId xmlns:a16="http://schemas.microsoft.com/office/drawing/2014/main" id="{B051C23C-5BC7-4AE8-9AFF-BBE32842FF8B}"/>
              </a:ext>
            </a:extLst>
          </p:cNvPr>
          <p:cNvSpPr>
            <a:spLocks noGrp="1"/>
          </p:cNvSpPr>
          <p:nvPr>
            <p:ph type="sldNum" sz="quarter" idx="12"/>
          </p:nvPr>
        </p:nvSpPr>
        <p:spPr/>
        <p:txBody>
          <a:bodyPr/>
          <a:lstStyle/>
          <a:p>
            <a:fld id="{B8473C9A-9E91-4025-B5E2-D7B202510636}" type="slidenum">
              <a:rPr lang="en-US" smtClean="0"/>
              <a:t>20</a:t>
            </a:fld>
            <a:endParaRPr lang="en-US" dirty="0"/>
          </a:p>
        </p:txBody>
      </p:sp>
      <p:pic>
        <p:nvPicPr>
          <p:cNvPr id="4" name="Picture 3">
            <a:extLst>
              <a:ext uri="{FF2B5EF4-FFF2-40B4-BE49-F238E27FC236}">
                <a16:creationId xmlns:a16="http://schemas.microsoft.com/office/drawing/2014/main" id="{39A1D7FE-ED6A-414B-A3D8-9F7D4FC8C4AF}"/>
              </a:ext>
            </a:extLst>
          </p:cNvPr>
          <p:cNvPicPr>
            <a:picLocks noChangeAspect="1"/>
          </p:cNvPicPr>
          <p:nvPr/>
        </p:nvPicPr>
        <p:blipFill>
          <a:blip r:embed="rId2"/>
          <a:stretch>
            <a:fillRect/>
          </a:stretch>
        </p:blipFill>
        <p:spPr>
          <a:xfrm>
            <a:off x="245916" y="229481"/>
            <a:ext cx="2316681" cy="463336"/>
          </a:xfrm>
          <a:prstGeom prst="rect">
            <a:avLst/>
          </a:prstGeom>
        </p:spPr>
      </p:pic>
    </p:spTree>
    <p:extLst>
      <p:ext uri="{BB962C8B-B14F-4D97-AF65-F5344CB8AC3E}">
        <p14:creationId xmlns:p14="http://schemas.microsoft.com/office/powerpoint/2010/main" val="3822225861"/>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02326-9E63-4DF0-AF0D-21FCFEC54D28}"/>
              </a:ext>
            </a:extLst>
          </p:cNvPr>
          <p:cNvSpPr>
            <a:spLocks noGrp="1"/>
          </p:cNvSpPr>
          <p:nvPr>
            <p:ph type="title"/>
          </p:nvPr>
        </p:nvSpPr>
        <p:spPr>
          <a:xfrm>
            <a:off x="838200" y="482493"/>
            <a:ext cx="10515600" cy="674333"/>
          </a:xfrm>
        </p:spPr>
        <p:txBody>
          <a:bodyPr>
            <a:noAutofit/>
          </a:bodyPr>
          <a:lstStyle/>
          <a:p>
            <a:r>
              <a:rPr lang="en-US" sz="2400" dirty="0"/>
              <a:t>Mise en œuvre du CPF 2023-2027 : priorisation
</a:t>
            </a:r>
          </a:p>
          <a:p>
            <a:r>
              <a:rPr lang="en-US" sz="2400" dirty="0"/>
              <a:t/>
            </a:r>
          </a:p>
        </p:txBody>
      </p:sp>
      <p:sp>
        <p:nvSpPr>
          <p:cNvPr id="3" name="Content Placeholder 2">
            <a:extLst>
              <a:ext uri="{FF2B5EF4-FFF2-40B4-BE49-F238E27FC236}">
                <a16:creationId xmlns:a16="http://schemas.microsoft.com/office/drawing/2014/main" id="{CB65E0F7-FCC9-4A64-911C-50F2460F3EEB}"/>
              </a:ext>
            </a:extLst>
          </p:cNvPr>
          <p:cNvSpPr>
            <a:spLocks noGrp="1"/>
          </p:cNvSpPr>
          <p:nvPr>
            <p:ph idx="1"/>
          </p:nvPr>
        </p:nvSpPr>
        <p:spPr>
          <a:xfrm>
            <a:off x="668878" y="1012489"/>
            <a:ext cx="10515600" cy="4351338"/>
          </a:xfrm>
        </p:spPr>
        <p:txBody>
          <a:bodyPr>
            <a:noAutofit/>
          </a:bodyPr>
          <a:lstStyle/>
          <a:p>
            <a:r>
              <a:rPr lang="en-US" sz="1600" b="0" i="0" u="none" strike="noStrike" dirty="0">
                <a:highlight>
                  <a:srgbClr val="000000">
                    <a:alpha val="0"/>
                  </a:srgbClr>
                </a:highlight>
                <a:latin typeface="Arial"/>
              </a:rPr>
              <a:t>Les réformes accorderont la priorité aux industries identifiées par l'IFC dans sa Stratégie EB22-26 afin de maximiser la mobilisation de capitaux privés. Les priorités finales seront toutefois choisies sur la base de consultations supplémentaires avec le gouvernement.</a:t>
            </a:r>
          </a:p>
          <a:p>
            <a:r>
              <a:rPr lang="en-US" sz="1600" b="0" i="0" u="none" strike="noStrike" dirty="0">
                <a:highlight>
                  <a:srgbClr val="000000">
                    <a:alpha val="0"/>
                  </a:srgbClr>
                </a:highlight>
                <a:latin typeface="Arial"/>
              </a:rPr>
              <a:t>Les engagements du pays en matière d'objectifs et de réformes pour la prévention des conflits et de la violence (PRA) constituent l'un des fondements du prochain CPF.</a:t>
            </a:r>
          </a:p>
          <a:p>
            <a:r>
              <a:rPr lang="en-US" sz="1600" b="0" i="0" u="none" strike="noStrike" dirty="0">
                <a:highlight>
                  <a:srgbClr val="000000">
                    <a:alpha val="0"/>
                  </a:srgbClr>
                </a:highlight>
                <a:latin typeface="Arial"/>
              </a:rPr>
              <a:t>En complément du portefeuille actuel non décaissé, le pipeline proposé remettra l'accent sur l'appui budgétaire – avec une éventuelle série de trois Opérations de politique de développement (DPO) à l'étude.</a:t>
            </a:r>
          </a:p>
          <a:p>
            <a:r>
              <a:rPr lang="en-US" sz="1600" b="0" i="0" u="none" strike="noStrike" dirty="0">
                <a:highlight>
                  <a:srgbClr val="000000">
                    <a:alpha val="0"/>
                  </a:srgbClr>
                </a:highlight>
                <a:latin typeface="Arial"/>
              </a:rPr>
              <a:t>Cet accent s'appuie sur (i) l'intérêt renouvelé pour les réformes gouvernementales et (ii) le récent accord entre le FMI et le gouvernement au titre de la Facilité élargie de crédit (FEC) pour 2022-2025.</a:t>
            </a:r>
          </a:p>
          <a:p>
            <a:r>
              <a:rPr lang="en-US" sz="1600" b="0" i="0" u="none" strike="noStrike" dirty="0">
                <a:highlight>
                  <a:srgbClr val="000000">
                    <a:alpha val="0"/>
                  </a:srgbClr>
                </a:highlight>
                <a:latin typeface="Arial"/>
              </a:rPr>
              <a:t>Le nouveau CPF renforcera également les opérations définies sur une base spatiale.</a:t>
            </a:r>
          </a:p>
          <a:p>
            <a:r>
              <a:rPr lang="en-US" sz="1600" b="0" i="0" u="none" strike="noStrike" dirty="0">
                <a:highlight>
                  <a:srgbClr val="000000">
                    <a:alpha val="0"/>
                  </a:srgbClr>
                </a:highlight>
                <a:latin typeface="Arial"/>
              </a:rPr>
              <a:t>Durant la mise en œuvre du CPF, des efforts seront déployés pour exécuter efficacement le portefeuille de la Banque mondiale.</a:t>
            </a:r>
          </a:p>
          <a:p>
            <a:r>
              <a:rPr lang="en-US" sz="1600" b="0" i="0" u="none" strike="noStrike" dirty="0">
                <a:highlight>
                  <a:srgbClr val="000000">
                    <a:alpha val="0"/>
                  </a:srgbClr>
                </a:highlight>
                <a:latin typeface="Arial"/>
              </a:rPr>
              <a:t>Le nouveau CPF s'attachera à privilégier un nombre réduit de projets, de plus grande valeur et aux objectifs multisectoriels.</a:t>
            </a:r>
          </a:p>
          <a:p>
            <a:r>
              <a:rPr lang="en-US" sz="1600" b="0" i="0" u="none" strike="noStrike" dirty="0">
                <a:highlight>
                  <a:srgbClr val="000000">
                    <a:alpha val="0"/>
                  </a:srgbClr>
                </a:highlight>
                <a:latin typeface="Arial"/>
              </a:rPr>
              <a:t>Les thèmes pertinents (transversaux) seront notamment le climat, le genre, l'engagement citoyen et la collaboration public-privé.</a:t>
            </a:r>
          </a:p>
          <a:p>
            <a:r>
              <a:rPr lang="en-US" sz="1600" b="0" i="0" u="none" strike="noStrike" dirty="0">
                <a:highlight>
                  <a:srgbClr val="000000">
                    <a:alpha val="0"/>
                  </a:srgbClr>
                </a:highlight>
                <a:latin typeface="Arial"/>
              </a:rPr>
              <a:t> Le CPF tiendra également compte des opportunités ouvertes par les accords commerciaux régionaux, en particulier la Zone de libre-échange continentale africaine.</a:t>
            </a:r>
          </a:p>
        </p:txBody>
      </p:sp>
      <p:sp>
        <p:nvSpPr>
          <p:cNvPr id="7" name="Footer Placeholder 6">
            <a:extLst>
              <a:ext uri="{FF2B5EF4-FFF2-40B4-BE49-F238E27FC236}">
                <a16:creationId xmlns:a16="http://schemas.microsoft.com/office/drawing/2014/main" id="{C5C0DE30-DEC6-46C6-9FC7-8A106AADC3D2}"/>
              </a:ext>
            </a:extLst>
          </p:cNvPr>
          <p:cNvSpPr>
            <a:spLocks noGrp="1"/>
          </p:cNvSpPr>
          <p:nvPr>
            <p:ph type="ftr" sz="quarter" idx="11"/>
          </p:nvPr>
        </p:nvSpPr>
        <p:spPr/>
        <p:txBody>
          <a:bodyPr/>
          <a:lstStyle/>
          <a:p>
            <a:r>
              <a:rPr lang="en-US"/>
              <a:t>CPF 2023-2027. Version publique. Maputo, mai 2022.</a:t>
            </a:r>
          </a:p>
        </p:txBody>
      </p:sp>
      <p:sp>
        <p:nvSpPr>
          <p:cNvPr id="8" name="Slide Number Placeholder 7">
            <a:extLst>
              <a:ext uri="{FF2B5EF4-FFF2-40B4-BE49-F238E27FC236}">
                <a16:creationId xmlns:a16="http://schemas.microsoft.com/office/drawing/2014/main" id="{A47F46B3-9248-4F35-A216-8D81D0B745B8}"/>
              </a:ext>
            </a:extLst>
          </p:cNvPr>
          <p:cNvSpPr>
            <a:spLocks noGrp="1"/>
          </p:cNvSpPr>
          <p:nvPr>
            <p:ph type="sldNum" sz="quarter" idx="12"/>
          </p:nvPr>
        </p:nvSpPr>
        <p:spPr/>
        <p:txBody>
          <a:bodyPr/>
          <a:lstStyle/>
          <a:p>
            <a:fld id="{B8473C9A-9E91-4025-B5E2-D7B202510636}" type="slidenum">
              <a:rPr lang="en-US" smtClean="0"/>
              <a:t>21</a:t>
            </a:fld>
            <a:endParaRPr lang="en-US" dirty="0"/>
          </a:p>
        </p:txBody>
      </p:sp>
      <p:pic>
        <p:nvPicPr>
          <p:cNvPr id="4" name="Picture 3">
            <a:extLst>
              <a:ext uri="{FF2B5EF4-FFF2-40B4-BE49-F238E27FC236}">
                <a16:creationId xmlns:a16="http://schemas.microsoft.com/office/drawing/2014/main" id="{04754607-0E7F-4AE3-8261-F3B7D4568D6A}"/>
              </a:ext>
            </a:extLst>
          </p:cNvPr>
          <p:cNvPicPr>
            <a:picLocks noChangeAspect="1"/>
          </p:cNvPicPr>
          <p:nvPr/>
        </p:nvPicPr>
        <p:blipFill>
          <a:blip r:embed="rId2"/>
          <a:stretch>
            <a:fillRect/>
          </a:stretch>
        </p:blipFill>
        <p:spPr>
          <a:xfrm>
            <a:off x="213259" y="163494"/>
            <a:ext cx="2316681" cy="463336"/>
          </a:xfrm>
          <a:prstGeom prst="rect">
            <a:avLst/>
          </a:prstGeom>
        </p:spPr>
      </p:pic>
    </p:spTree>
    <p:extLst>
      <p:ext uri="{BB962C8B-B14F-4D97-AF65-F5344CB8AC3E}">
        <p14:creationId xmlns:p14="http://schemas.microsoft.com/office/powerpoint/2010/main" val="1963031688"/>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5D60C23-4EAA-4BE3-827F-B4843990E7B3}"/>
              </a:ext>
            </a:extLst>
          </p:cNvPr>
          <p:cNvSpPr txBox="1"/>
          <p:nvPr/>
        </p:nvSpPr>
        <p:spPr>
          <a:xfrm>
            <a:off x="8880804" y="4780312"/>
            <a:ext cx="2355192" cy="430887"/>
          </a:xfrm>
          <a:prstGeom prst="rect">
            <a:avLst/>
          </a:prstGeom>
          <a:noFill/>
        </p:spPr>
        <p:txBody>
          <a:bodyPr wrap="square">
            <a:spAutoFit/>
          </a:bodyPr>
          <a:lstStyle/>
          <a:p>
            <a:r>
              <a:rPr kumimoji="0" lang="en-US" sz="1100" b="0" i="1" u="none" strike="noStrike" kern="1200" cap="none" spc="0" normalizeH="0" baseline="0" noProof="0" dirty="0">
                <a:ln>
                  <a:noFill/>
                </a:ln>
                <a:solidFill>
                  <a:prstClr val="black"/>
                </a:solidFill>
                <a:effectLst/>
                <a:uLnTx/>
                <a:uFillTx/>
                <a:latin typeface="Calibri" panose="020F0502020204030204"/>
                <a:ea typeface="+mn-ea"/>
                <a:cs typeface="+mn-cs"/>
              </a:rPr>
              <a:t>(*) En supposant l'exécution du pipeline EB22. Valeurs approximatives </a:t>
            </a:r>
          </a:p>
        </p:txBody>
      </p:sp>
      <p:sp>
        <p:nvSpPr>
          <p:cNvPr id="9" name="Content Placeholder 2">
            <a:extLst>
              <a:ext uri="{FF2B5EF4-FFF2-40B4-BE49-F238E27FC236}">
                <a16:creationId xmlns:a16="http://schemas.microsoft.com/office/drawing/2014/main" id="{EF7E496C-CAB6-4016-A81A-D54963B89A2D}"/>
              </a:ext>
            </a:extLst>
          </p:cNvPr>
          <p:cNvSpPr txBox="1">
            <a:spLocks/>
          </p:cNvSpPr>
          <p:nvPr/>
        </p:nvSpPr>
        <p:spPr>
          <a:xfrm>
            <a:off x="426138" y="1496144"/>
            <a:ext cx="7460451" cy="371505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dirty="0">
                <a:solidFill>
                  <a:prstClr val="black"/>
                </a:solidFill>
                <a:latin typeface="Arial" panose="020B0604020202020204" pitchFamily="34" charset="0"/>
                <a:cs typeface="Arial" panose="020B0604020202020204" pitchFamily="34" charset="0"/>
              </a:rPr>
              <a:t>Le nouveau CPF héritera d'un portefeuille de 34 projets (au 22 février), totalisant environ 4,1 milliards de dollars US, dont 74 % n'avaient pas été décaissés (au 22 février).</a:t>
            </a:r>
          </a:p>
          <a:p>
            <a:r>
              <a:rPr lang="en-US" sz="1600" dirty="0">
                <a:solidFill>
                  <a:prstClr val="black"/>
                </a:solidFill>
                <a:latin typeface="Arial" panose="020B0604020202020204" pitchFamily="34" charset="0"/>
                <a:cs typeface="Arial" panose="020B0604020202020204" pitchFamily="34" charset="0"/>
              </a:rPr>
              <a:t>15 projets (environ 30 % du portefeuille actuel, correspondant à 1,4 milliard de dollars US) ont une date de fin antérieure à janvier 2025 (la moitié du cycle du CPF).</a:t>
            </a:r>
          </a:p>
          <a:p>
            <a:r>
              <a:rPr lang="en-US" sz="1600" dirty="0">
                <a:solidFill>
                  <a:prstClr val="black"/>
                </a:solidFill>
                <a:latin typeface="Arial" panose="020B0604020202020204" pitchFamily="34" charset="0"/>
                <a:cs typeface="Arial" panose="020B0604020202020204" pitchFamily="34" charset="0"/>
              </a:rPr>
              <a:t>Environ 66 % du total des fonds non décaissés relèvent des secteurs du Développement durable (SD) et des Infrastructures (INFRA).</a:t>
            </a:r>
          </a:p>
          <a:p>
            <a:r>
              <a:rPr lang="en-US" sz="1600" dirty="0">
                <a:solidFill>
                  <a:prstClr val="black"/>
                </a:solidFill>
                <a:latin typeface="Arial" panose="020B0604020202020204" pitchFamily="34" charset="0"/>
                <a:cs typeface="Arial" panose="020B0604020202020204" pitchFamily="34" charset="0"/>
              </a:rPr>
              <a:t>Nouvelle IDA PBA (estimée) : 1,7 milliard de dollars US</a:t>
            </a:r>
          </a:p>
          <a:p>
            <a:r>
              <a:rPr lang="en-US" sz="1600" dirty="0">
                <a:solidFill>
                  <a:prstClr val="black"/>
                </a:solidFill>
                <a:latin typeface="Arial" panose="020B0604020202020204" pitchFamily="34" charset="0"/>
                <a:cs typeface="Arial" panose="020B0604020202020204" pitchFamily="34" charset="0"/>
              </a:rPr>
              <a:t>IDA – Guichet PRA (potentiel) : 700 millions de dollars US (IDA-20)</a:t>
            </a:r>
          </a:p>
          <a:p>
            <a:r>
              <a:rPr lang="en-US" sz="1600" dirty="0">
                <a:solidFill>
                  <a:prstClr val="black"/>
                </a:solidFill>
                <a:latin typeface="Arial" panose="020B0604020202020204" pitchFamily="34" charset="0"/>
                <a:cs typeface="Arial" panose="020B0604020202020204" pitchFamily="34" charset="0"/>
              </a:rPr>
              <a:t>Investissements de l'IFC : la Stratégie de l'IFC prévoit des investissements pouvant atteindre 923 milliards de dollars US (scénario le plus optimiste) </a:t>
            </a:r>
          </a:p>
          <a:p>
            <a:r>
              <a:rPr lang="en-US" sz="1600" dirty="0">
                <a:solidFill>
                  <a:prstClr val="black"/>
                </a:solidFill>
                <a:latin typeface="Arial" panose="020B0604020202020204" pitchFamily="34" charset="0"/>
                <a:cs typeface="Arial" panose="020B0604020202020204" pitchFamily="34" charset="0"/>
              </a:rPr>
              <a:t/>
            </a:r>
          </a:p>
          <a:p>
            <a:r>
              <a:rPr lang="en-US" sz="1600" dirty="0">
                <a:solidFill>
                  <a:prstClr val="black"/>
                </a:solidFill>
                <a:latin typeface="Arial" panose="020B0604020202020204" pitchFamily="34" charset="0"/>
                <a:cs typeface="Arial" panose="020B0604020202020204" pitchFamily="34" charset="0"/>
              </a:rPr>
              <a:t/>
            </a:r>
          </a:p>
        </p:txBody>
      </p:sp>
      <p:sp>
        <p:nvSpPr>
          <p:cNvPr id="16" name="Title 1">
            <a:extLst>
              <a:ext uri="{FF2B5EF4-FFF2-40B4-BE49-F238E27FC236}">
                <a16:creationId xmlns:a16="http://schemas.microsoft.com/office/drawing/2014/main" id="{FD72820B-0641-4C78-B07B-4B4F61ABAE47}"/>
              </a:ext>
            </a:extLst>
          </p:cNvPr>
          <p:cNvSpPr>
            <a:spLocks noGrp="1"/>
          </p:cNvSpPr>
          <p:nvPr>
            <p:ph type="title"/>
          </p:nvPr>
        </p:nvSpPr>
        <p:spPr>
          <a:xfrm>
            <a:off x="676274" y="195177"/>
            <a:ext cx="10515600" cy="717550"/>
          </a:xfrm>
        </p:spPr>
        <p:txBody>
          <a:bodyPr>
            <a:normAutofit fontScale="90000"/>
          </a:bodyPr>
          <a:lstStyle/>
          <a:p>
            <a:r>
              <a:rPr lang="en-US" sz="2400" dirty="0"/>
              <a:t>Ressources potentiellement disponibles 
</a:t>
            </a:r>
          </a:p>
          <a:p>
            <a:r>
              <a:rPr lang="en-US" sz="2400" dirty="0"/>
              <a:t/>
            </a:r>
          </a:p>
        </p:txBody>
      </p:sp>
      <p:graphicFrame>
        <p:nvGraphicFramePr>
          <p:cNvPr id="13" name="Chart 12">
            <a:extLst>
              <a:ext uri="{FF2B5EF4-FFF2-40B4-BE49-F238E27FC236}">
                <a16:creationId xmlns:a16="http://schemas.microsoft.com/office/drawing/2014/main" id="{43D818A6-8DA6-4E48-8705-2DD87F03BCBD}"/>
              </a:ext>
            </a:extLst>
          </p:cNvPr>
          <p:cNvGraphicFramePr>
            <a:graphicFrameLocks/>
          </p:cNvGraphicFramePr>
          <p:nvPr>
            <p:extLst>
              <p:ext uri="{D42A27DB-BD31-4B8C-83A1-F6EECF244321}">
                <p14:modId xmlns:p14="http://schemas.microsoft.com/office/powerpoint/2010/main" val="2190897355"/>
              </p:ext>
            </p:extLst>
          </p:nvPr>
        </p:nvGraphicFramePr>
        <p:xfrm>
          <a:off x="7839075" y="931863"/>
          <a:ext cx="4019550" cy="3565073"/>
        </p:xfrm>
        <a:graphic>
          <a:graphicData uri="http://schemas.openxmlformats.org/drawingml/2006/chart">
            <c:chart xmlns:c="http://schemas.openxmlformats.org/drawingml/2006/chart" xmlns:r="http://schemas.openxmlformats.org/officeDocument/2006/relationships" r:id="rId3"/>
          </a:graphicData>
        </a:graphic>
      </p:graphicFrame>
      <p:sp>
        <p:nvSpPr>
          <p:cNvPr id="6" name="Footer Placeholder 5">
            <a:extLst>
              <a:ext uri="{FF2B5EF4-FFF2-40B4-BE49-F238E27FC236}">
                <a16:creationId xmlns:a16="http://schemas.microsoft.com/office/drawing/2014/main" id="{3B730F81-412E-4CD4-8242-B4D118CB1F2C}"/>
              </a:ext>
            </a:extLst>
          </p:cNvPr>
          <p:cNvSpPr>
            <a:spLocks noGrp="1"/>
          </p:cNvSpPr>
          <p:nvPr>
            <p:ph type="ftr" sz="quarter" idx="11"/>
          </p:nvPr>
        </p:nvSpPr>
        <p:spPr>
          <a:xfrm>
            <a:off x="3581401" y="5920922"/>
            <a:ext cx="4114800" cy="365125"/>
          </a:xfrm>
        </p:spPr>
        <p:txBody>
          <a:bodyPr/>
          <a:lstStyle/>
          <a:p>
            <a:r>
              <a:rPr lang="en-US"/>
              <a:t>CPF 2023-2027. Version publique. Maputo, mai 2022.</a:t>
            </a:r>
          </a:p>
        </p:txBody>
      </p:sp>
      <p:sp>
        <p:nvSpPr>
          <p:cNvPr id="7" name="Slide Number Placeholder 6">
            <a:extLst>
              <a:ext uri="{FF2B5EF4-FFF2-40B4-BE49-F238E27FC236}">
                <a16:creationId xmlns:a16="http://schemas.microsoft.com/office/drawing/2014/main" id="{14466471-119E-4F6D-AB99-1533AE3B4EB8}"/>
              </a:ext>
            </a:extLst>
          </p:cNvPr>
          <p:cNvSpPr>
            <a:spLocks noGrp="1"/>
          </p:cNvSpPr>
          <p:nvPr>
            <p:ph type="sldNum" sz="quarter" idx="12"/>
          </p:nvPr>
        </p:nvSpPr>
        <p:spPr/>
        <p:txBody>
          <a:bodyPr/>
          <a:lstStyle/>
          <a:p>
            <a:fld id="{B8473C9A-9E91-4025-B5E2-D7B202510636}" type="slidenum">
              <a:rPr lang="en-US" smtClean="0"/>
              <a:t>22</a:t>
            </a:fld>
            <a:endParaRPr lang="en-US" dirty="0"/>
          </a:p>
        </p:txBody>
      </p:sp>
      <p:pic>
        <p:nvPicPr>
          <p:cNvPr id="2" name="Picture 1">
            <a:extLst>
              <a:ext uri="{FF2B5EF4-FFF2-40B4-BE49-F238E27FC236}">
                <a16:creationId xmlns:a16="http://schemas.microsoft.com/office/drawing/2014/main" id="{23BF31A8-AA25-4A78-B99A-C6890A445C11}"/>
              </a:ext>
            </a:extLst>
          </p:cNvPr>
          <p:cNvPicPr>
            <a:picLocks noChangeAspect="1"/>
          </p:cNvPicPr>
          <p:nvPr/>
        </p:nvPicPr>
        <p:blipFill>
          <a:blip r:embed="rId4"/>
          <a:stretch>
            <a:fillRect/>
          </a:stretch>
        </p:blipFill>
        <p:spPr>
          <a:xfrm>
            <a:off x="676274" y="176041"/>
            <a:ext cx="2316681" cy="463336"/>
          </a:xfrm>
          <a:prstGeom prst="rect">
            <a:avLst/>
          </a:prstGeom>
        </p:spPr>
      </p:pic>
    </p:spTree>
    <p:extLst>
      <p:ext uri="{BB962C8B-B14F-4D97-AF65-F5344CB8AC3E}">
        <p14:creationId xmlns:p14="http://schemas.microsoft.com/office/powerpoint/2010/main" val="228573786"/>
      </p:ext>
    </p:extLst>
  </p:cSld>
  <p:clrMapOvr>
    <a:overrideClrMapping bg1="lt1" tx1="dk1" bg2="lt2" tx2="dk2" accent1="accent1" accent2="accent2" accent3="accent3" accent4="accent4" accent5="accent5" accent6="accent6" hlink="hlink" folHlink="folHlink"/>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73C1A-F33C-43DA-8F19-DDC23E574DBE}"/>
              </a:ext>
            </a:extLst>
          </p:cNvPr>
          <p:cNvSpPr>
            <a:spLocks noGrp="1"/>
          </p:cNvSpPr>
          <p:nvPr>
            <p:ph type="title"/>
          </p:nvPr>
        </p:nvSpPr>
        <p:spPr/>
        <p:txBody>
          <a:bodyPr/>
          <a:lstStyle/>
          <a:p>
            <a:r>
              <a:rPr lang="en-US" dirty="0"/>
              <a:t>HLO 1 : Des institutions plus inclusives
</a:t>
            </a:r>
          </a:p>
          <a:p>
            <a:r>
              <a:rPr lang="en-US" dirty="0"/>
              <a:t/>
            </a:r>
          </a:p>
        </p:txBody>
      </p:sp>
      <p:sp>
        <p:nvSpPr>
          <p:cNvPr id="3" name="Content Placeholder 2">
            <a:extLst>
              <a:ext uri="{FF2B5EF4-FFF2-40B4-BE49-F238E27FC236}">
                <a16:creationId xmlns:a16="http://schemas.microsoft.com/office/drawing/2014/main" id="{0AAF4E04-EEC2-485A-878B-D07B4647ED1C}"/>
              </a:ext>
            </a:extLst>
          </p:cNvPr>
          <p:cNvSpPr>
            <a:spLocks noGrp="1"/>
          </p:cNvSpPr>
          <p:nvPr>
            <p:ph idx="1"/>
          </p:nvPr>
        </p:nvSpPr>
        <p:spPr>
          <a:xfrm>
            <a:off x="838200" y="1438032"/>
            <a:ext cx="10515600" cy="4918318"/>
          </a:xfrm>
        </p:spPr>
        <p:txBody>
          <a:bodyPr>
            <a:noAutofit/>
          </a:bodyPr>
          <a:lstStyle/>
          <a:p>
            <a:r>
              <a:rPr lang="en-US" sz="1600" b="1" kern="1200" dirty="0">
                <a:solidFill>
                  <a:schemeClr val="accent1">
                    <a:lumMod val="50000"/>
                  </a:schemeClr>
                </a:solidFill>
                <a:effectLst/>
                <a:ea typeface="Times New Roman" panose="02020603050405020304" pitchFamily="18" charset="0"/>
              </a:rPr>
              <a:t>Objectif 1 : Améliorer la gestion macroéconomique afin de faciliter une création d'emplois résiliente et durable, d'accroître la capacité d'investissement productif (public et privé) et de réduire le risque souverain.</a:t>
            </a:r>
          </a:p>
          <a:p>
            <a:r>
              <a:rPr lang="en-US" sz="1600" b="1" kern="1200" dirty="0">
                <a:solidFill>
                  <a:schemeClr val="accent1">
                    <a:lumMod val="50000"/>
                  </a:schemeClr>
                </a:solidFill>
                <a:effectLst/>
                <a:ea typeface="Times New Roman" panose="02020603050405020304" pitchFamily="18" charset="0"/>
              </a:rPr>
              <a:t/>
            </a:r>
          </a:p>
          <a:p>
            <a:r>
              <a:rPr lang="en-US" sz="1600" b="1" kern="1200" dirty="0">
                <a:solidFill>
                  <a:schemeClr val="accent1">
                    <a:lumMod val="50000"/>
                  </a:schemeClr>
                </a:solidFill>
                <a:effectLst/>
                <a:ea typeface="Times New Roman" panose="02020603050405020304" pitchFamily="18" charset="0"/>
              </a:rPr>
              <a:t>Objectif 2 : Accroître l'efficacité du secteur public afin d'améliorer la qualité, la durabilité et l'équité des politiques publiques. Accent sur :</a:t>
            </a:r>
          </a:p>
          <a:p>
            <a:r>
              <a:rPr lang="en-US" sz="1600" b="1" kern="1200" dirty="0">
                <a:solidFill>
                  <a:schemeClr val="accent1">
                    <a:lumMod val="50000"/>
                  </a:schemeClr>
                </a:solidFill>
                <a:effectLst/>
                <a:ea typeface="Times New Roman" panose="02020603050405020304" pitchFamily="18" charset="0"/>
              </a:rPr>
              <a:t>les fonctions essentielles de l'État – telles que l'amélioration de la gestion des finances publiques (PFM) et de la commande publique ;</a:t>
            </a:r>
          </a:p>
          <a:p>
            <a:r>
              <a:rPr lang="en-US" sz="1600" b="1" kern="1200" dirty="0">
                <a:solidFill>
                  <a:schemeClr val="accent1">
                    <a:lumMod val="50000"/>
                  </a:schemeClr>
                </a:solidFill>
                <a:effectLst/>
                <a:ea typeface="Times New Roman" panose="02020603050405020304" pitchFamily="18" charset="0"/>
              </a:rPr>
              <a:t>le renforcement de la participation citoyenne et du contrôle externe ;</a:t>
            </a:r>
          </a:p>
          <a:p>
            <a:r>
              <a:rPr lang="en-US" sz="1600" b="1" kern="1200" dirty="0">
                <a:solidFill>
                  <a:schemeClr val="accent1">
                    <a:lumMod val="50000"/>
                  </a:schemeClr>
                </a:solidFill>
                <a:effectLst/>
                <a:ea typeface="Times New Roman" panose="02020603050405020304" pitchFamily="18" charset="0"/>
              </a:rPr>
              <a:t>la décentralisation opérationnelle des dépenses de santé et d'éducation.</a:t>
            </a:r>
          </a:p>
          <a:p>
            <a:r>
              <a:rPr lang="en-US" sz="1600" b="1" kern="1200" dirty="0">
                <a:solidFill>
                  <a:schemeClr val="accent1">
                    <a:lumMod val="50000"/>
                  </a:schemeClr>
                </a:solidFill>
                <a:effectLst/>
                <a:ea typeface="Times New Roman" panose="02020603050405020304" pitchFamily="18" charset="0"/>
              </a:rPr>
              <a:t>L'accent sera également mis sur l'accroissement de la transparence et de l'accès à l'information.</a:t>
            </a:r>
          </a:p>
          <a:p>
            <a:r>
              <a:rPr lang="en-US" sz="1600" b="1" kern="1200" dirty="0">
                <a:solidFill>
                  <a:schemeClr val="accent1">
                    <a:lumMod val="50000"/>
                  </a:schemeClr>
                </a:solidFill>
                <a:effectLst/>
                <a:ea typeface="Times New Roman" panose="02020603050405020304" pitchFamily="18" charset="0"/>
              </a:rPr>
              <a:t/>
            </a:r>
          </a:p>
          <a:p>
            <a:r>
              <a:rPr lang="en-US" sz="1600" b="1" kern="1200" dirty="0">
                <a:solidFill>
                  <a:schemeClr val="accent1">
                    <a:lumMod val="50000"/>
                  </a:schemeClr>
                </a:solidFill>
                <a:effectLst/>
                <a:ea typeface="Times New Roman" panose="02020603050405020304" pitchFamily="18" charset="0"/>
              </a:rPr>
              <a:t>Objectif 3 : Renforcer la coordination des politiques ainsi que la capacité de préparation et de réponse du gouvernement aux catastrophes naturelles et à d'autres chocs multidimensionnels. La gestion des risques de catastrophe (DRM) a été un domaine aux résultats exemplaires dans le CPF précédent. Un accent accru sur la prévention/préparation est proposé, en particulier en ce qui concerne les risques de conflit et de violence.</a:t>
            </a:r>
          </a:p>
          <a:p>
            <a:r>
              <a:rPr lang="en-US" sz="1600" b="1" kern="1200" dirty="0">
                <a:solidFill>
                  <a:schemeClr val="accent1">
                    <a:lumMod val="50000"/>
                  </a:schemeClr>
                </a:solidFill>
                <a:effectLst/>
                <a:ea typeface="Times New Roman" panose="02020603050405020304" pitchFamily="18" charset="0"/>
              </a:rPr>
              <a:t/>
            </a:r>
          </a:p>
          <a:p>
            <a:r>
              <a:rPr lang="en-US" sz="1600" b="1" kern="1200" dirty="0">
                <a:solidFill>
                  <a:schemeClr val="accent1">
                    <a:lumMod val="50000"/>
                  </a:schemeClr>
                </a:solidFill>
                <a:effectLst/>
                <a:ea typeface="Times New Roman" panose="02020603050405020304" pitchFamily="18" charset="0"/>
              </a:rPr>
              <a:t/>
            </a:r>
          </a:p>
          <a:p>
            <a:r>
              <a:rPr lang="en-US" sz="1600" b="1" kern="1200" dirty="0">
                <a:solidFill>
                  <a:schemeClr val="accent1">
                    <a:lumMod val="50000"/>
                  </a:schemeClr>
                </a:solidFill>
                <a:effectLst/>
                <a:ea typeface="Times New Roman" panose="02020603050405020304" pitchFamily="18" charset="0"/>
              </a:rPr>
              <a:t/>
            </a:r>
          </a:p>
          <a:p>
            <a:r>
              <a:rPr lang="en-US" sz="1600" b="1" kern="1200" dirty="0">
                <a:solidFill>
                  <a:schemeClr val="accent1">
                    <a:lumMod val="50000"/>
                  </a:schemeClr>
                </a:solidFill>
                <a:effectLst/>
                <a:ea typeface="Times New Roman" panose="02020603050405020304" pitchFamily="18" charset="0"/>
              </a:rPr>
              <a:t/>
            </a:r>
          </a:p>
          <a:p>
            <a:r>
              <a:rPr lang="en-US" sz="1600" b="1" kern="1200" dirty="0">
                <a:solidFill>
                  <a:schemeClr val="accent1">
                    <a:lumMod val="50000"/>
                  </a:schemeClr>
                </a:solidFill>
                <a:effectLst/>
                <a:ea typeface="Times New Roman" panose="02020603050405020304" pitchFamily="18" charset="0"/>
              </a:rPr>
              <a:t/>
            </a:r>
          </a:p>
        </p:txBody>
      </p:sp>
      <p:sp>
        <p:nvSpPr>
          <p:cNvPr id="7" name="Footer Placeholder 6">
            <a:extLst>
              <a:ext uri="{FF2B5EF4-FFF2-40B4-BE49-F238E27FC236}">
                <a16:creationId xmlns:a16="http://schemas.microsoft.com/office/drawing/2014/main" id="{57D7A019-3AE6-49C3-97A9-030D351C2B3C}"/>
              </a:ext>
            </a:extLst>
          </p:cNvPr>
          <p:cNvSpPr>
            <a:spLocks noGrp="1"/>
          </p:cNvSpPr>
          <p:nvPr>
            <p:ph type="ftr" sz="quarter" idx="11"/>
          </p:nvPr>
        </p:nvSpPr>
        <p:spPr/>
        <p:txBody>
          <a:bodyPr/>
          <a:lstStyle/>
          <a:p>
            <a:r>
              <a:rPr lang="en-US"/>
              <a:t>CPF 2023-2027. Version publique. Maputo, mai 2022.</a:t>
            </a:r>
          </a:p>
        </p:txBody>
      </p:sp>
      <p:sp>
        <p:nvSpPr>
          <p:cNvPr id="8" name="Slide Number Placeholder 7">
            <a:extLst>
              <a:ext uri="{FF2B5EF4-FFF2-40B4-BE49-F238E27FC236}">
                <a16:creationId xmlns:a16="http://schemas.microsoft.com/office/drawing/2014/main" id="{E808550B-56D7-415A-8CC6-F671D44F6CB5}"/>
              </a:ext>
            </a:extLst>
          </p:cNvPr>
          <p:cNvSpPr>
            <a:spLocks noGrp="1"/>
          </p:cNvSpPr>
          <p:nvPr>
            <p:ph type="sldNum" sz="quarter" idx="12"/>
          </p:nvPr>
        </p:nvSpPr>
        <p:spPr/>
        <p:txBody>
          <a:bodyPr/>
          <a:lstStyle/>
          <a:p>
            <a:fld id="{B8473C9A-9E91-4025-B5E2-D7B202510636}" type="slidenum">
              <a:rPr lang="en-US" smtClean="0"/>
              <a:t>23</a:t>
            </a:fld>
            <a:endParaRPr lang="en-US" dirty="0"/>
          </a:p>
        </p:txBody>
      </p:sp>
      <p:pic>
        <p:nvPicPr>
          <p:cNvPr id="4" name="Picture 3">
            <a:extLst>
              <a:ext uri="{FF2B5EF4-FFF2-40B4-BE49-F238E27FC236}">
                <a16:creationId xmlns:a16="http://schemas.microsoft.com/office/drawing/2014/main" id="{F26FCB00-B725-46EA-9B65-E447CA3C6A3B}"/>
              </a:ext>
            </a:extLst>
          </p:cNvPr>
          <p:cNvPicPr>
            <a:picLocks noChangeAspect="1"/>
          </p:cNvPicPr>
          <p:nvPr/>
        </p:nvPicPr>
        <p:blipFill>
          <a:blip r:embed="rId3"/>
          <a:stretch>
            <a:fillRect/>
          </a:stretch>
        </p:blipFill>
        <p:spPr>
          <a:xfrm>
            <a:off x="838200" y="365125"/>
            <a:ext cx="2316681" cy="463336"/>
          </a:xfrm>
          <a:prstGeom prst="rect">
            <a:avLst/>
          </a:prstGeom>
        </p:spPr>
      </p:pic>
    </p:spTree>
    <p:extLst>
      <p:ext uri="{BB962C8B-B14F-4D97-AF65-F5344CB8AC3E}">
        <p14:creationId xmlns:p14="http://schemas.microsoft.com/office/powerpoint/2010/main" val="1294046964"/>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E99CA-4701-471B-B315-854A3422944A}"/>
              </a:ext>
            </a:extLst>
          </p:cNvPr>
          <p:cNvSpPr>
            <a:spLocks noGrp="1"/>
          </p:cNvSpPr>
          <p:nvPr>
            <p:ph type="title"/>
          </p:nvPr>
        </p:nvSpPr>
        <p:spPr>
          <a:xfrm>
            <a:off x="838200" y="365125"/>
            <a:ext cx="10515600" cy="1036862"/>
          </a:xfrm>
        </p:spPr>
        <p:txBody>
          <a:bodyPr/>
          <a:lstStyle/>
          <a:p>
            <a:r>
              <a:rPr lang="en-US" dirty="0"/>
              <a:t>HLO 2 : Accroître la création inclusive d'emplois</a:t>
            </a:r>
          </a:p>
        </p:txBody>
      </p:sp>
      <p:sp>
        <p:nvSpPr>
          <p:cNvPr id="3" name="Content Placeholder 2">
            <a:extLst>
              <a:ext uri="{FF2B5EF4-FFF2-40B4-BE49-F238E27FC236}">
                <a16:creationId xmlns:a16="http://schemas.microsoft.com/office/drawing/2014/main" id="{2D9E4DBD-86F0-4B7F-911F-E98F78863434}"/>
              </a:ext>
            </a:extLst>
          </p:cNvPr>
          <p:cNvSpPr>
            <a:spLocks noGrp="1"/>
          </p:cNvSpPr>
          <p:nvPr>
            <p:ph idx="1"/>
          </p:nvPr>
        </p:nvSpPr>
        <p:spPr>
          <a:xfrm>
            <a:off x="430306" y="1131205"/>
            <a:ext cx="11564470" cy="5097473"/>
          </a:xfrm>
        </p:spPr>
        <p:txBody>
          <a:bodyPr>
            <a:noAutofit/>
          </a:bodyPr>
          <a:lstStyle/>
          <a:p>
            <a:r>
              <a:rPr lang="en-US" sz="1600" b="1" dirty="0">
                <a:solidFill>
                  <a:schemeClr val="accent1">
                    <a:lumMod val="75000"/>
                  </a:schemeClr>
                </a:solidFill>
                <a:latin typeface="+mn-lt"/>
                <a:cs typeface="Calibri" panose="020F0502020204030204" pitchFamily="34" charset="0"/>
              </a:rPr>
              <a:t>Objectif 4 : Permettre la croissance durable de secteurs de ressources naturelles sélectionnés, en exploitant les avantages comparatifs régionaux et mondiaux. Trois objectifs intermédiaires : 
</a:t>
            </a:r>
          </a:p>
          <a:p>
            <a:r>
              <a:rPr lang="en-US" sz="1600" b="1" dirty="0">
                <a:solidFill>
                  <a:schemeClr val="accent1">
                    <a:lumMod val="75000"/>
                  </a:schemeClr>
                </a:solidFill>
                <a:latin typeface="+mn-lt"/>
                <a:cs typeface="Calibri" panose="020F0502020204030204" pitchFamily="34" charset="0"/>
              </a:rPr>
              <a:t>Renforcer la durabilité des investissements dans les secteurs du gaz naturel et des mines en remédiant aux externalités négatives du secteur et en exploitant les retombées positives
</a:t>
            </a:r>
          </a:p>
          <a:p>
            <a:r>
              <a:rPr lang="en-US" sz="1600" b="1" dirty="0">
                <a:solidFill>
                  <a:schemeClr val="accent1">
                    <a:lumMod val="75000"/>
                  </a:schemeClr>
                </a:solidFill>
                <a:latin typeface="+mn-lt"/>
                <a:cs typeface="Calibri" panose="020F0502020204030204" pitchFamily="34" charset="0"/>
              </a:rPr>
              <a:t>Accroître la productivité agricole 
</a:t>
            </a:r>
          </a:p>
          <a:p>
            <a:r>
              <a:rPr lang="en-US" sz="1600" b="1" dirty="0">
                <a:solidFill>
                  <a:schemeClr val="accent1">
                    <a:lumMod val="75000"/>
                  </a:schemeClr>
                </a:solidFill>
                <a:latin typeface="+mn-lt"/>
                <a:cs typeface="Calibri" panose="020F0502020204030204" pitchFamily="34" charset="0"/>
              </a:rPr>
              <a:t>Renforcer la gestion des ressources naturelles et libérer les investissements privés dans le secteur vert, y compris l'écotourisme, la pêche et la sylviculture</a:t>
            </a:r>
          </a:p>
          <a:p>
            <a:r>
              <a:rPr lang="en-US" sz="1600" b="1" dirty="0">
                <a:solidFill>
                  <a:schemeClr val="accent1">
                    <a:lumMod val="75000"/>
                  </a:schemeClr>
                </a:solidFill>
                <a:latin typeface="+mn-lt"/>
                <a:cs typeface="Calibri" panose="020F0502020204030204" pitchFamily="34" charset="0"/>
              </a:rPr>
              <a:t/>
            </a:r>
          </a:p>
          <a:p>
            <a:r>
              <a:rPr lang="en-US" sz="1600" b="1" dirty="0">
                <a:solidFill>
                  <a:schemeClr val="accent1">
                    <a:lumMod val="75000"/>
                  </a:schemeClr>
                </a:solidFill>
                <a:latin typeface="+mn-lt"/>
                <a:cs typeface="Calibri" panose="020F0502020204030204" pitchFamily="34" charset="0"/>
              </a:rPr>
              <a:t>Objectif 5 : Promouvoir la croissance de la productivité dans des industries à forte intensité de main-d'œuvre sélectionnées. Comment ? Services, PME, économies verte et bleue ; ciblage sectoriel et territorial ; maximiser les retombées des grands projets, notamment autour des corridors de transport, et informalité (expérimentation des politiques et évaluation d'impact).</a:t>
            </a:r>
          </a:p>
          <a:p>
            <a:r>
              <a:rPr lang="en-US" sz="1600" b="1" dirty="0">
                <a:solidFill>
                  <a:schemeClr val="accent1">
                    <a:lumMod val="75000"/>
                  </a:schemeClr>
                </a:solidFill>
                <a:latin typeface="+mn-lt"/>
                <a:cs typeface="Calibri" panose="020F0502020204030204" pitchFamily="34" charset="0"/>
              </a:rPr>
              <a:t>
</a:t>
            </a:r>
          </a:p>
          <a:p>
            <a:r>
              <a:rPr lang="en-US" sz="1600" b="1" dirty="0">
                <a:solidFill>
                  <a:schemeClr val="accent1">
                    <a:lumMod val="75000"/>
                  </a:schemeClr>
                </a:solidFill>
                <a:latin typeface="+mn-lt"/>
                <a:cs typeface="Calibri" panose="020F0502020204030204" pitchFamily="34" charset="0"/>
              </a:rPr>
              <a:t>Objectif 6 : Étendre des services abordables, fiables et résilients au climat afin d'améliorer l'accès des pauvres et de renforcer l'urbanisation durable et l'agglomération économique. 
</a:t>
            </a:r>
          </a:p>
          <a:p>
            <a:r>
              <a:rPr lang="en-US" sz="1600" b="1" dirty="0">
                <a:solidFill>
                  <a:schemeClr val="accent1">
                    <a:lumMod val="75000"/>
                  </a:schemeClr>
                </a:solidFill>
                <a:latin typeface="+mn-lt"/>
                <a:cs typeface="Calibri" panose="020F0502020204030204" pitchFamily="34" charset="0"/>
              </a:rPr>
              <a:t>Alors que le portefeuille existant continue de financer des investissements d'infrastructure en zone rurale, les nouvelles activités mettront l'accent sur des investissements d'infrastructure susceptibles de soutenir la croissance, notamment dans les domaines de l'économie numérique et des routes. 
</a:t>
            </a:r>
          </a:p>
          <a:p>
            <a:r>
              <a:rPr lang="en-US" sz="1600" b="1" dirty="0">
                <a:solidFill>
                  <a:schemeClr val="accent1">
                    <a:lumMod val="75000"/>
                  </a:schemeClr>
                </a:solidFill>
                <a:latin typeface="+mn-lt"/>
                <a:cs typeface="Calibri" panose="020F0502020204030204" pitchFamily="34" charset="0"/>
              </a:rPr>
              <a:t/>
            </a:r>
          </a:p>
          <a:p>
            <a:r>
              <a:rPr lang="en-US" sz="1600" b="1" dirty="0">
                <a:solidFill>
                  <a:schemeClr val="accent1">
                    <a:lumMod val="75000"/>
                  </a:schemeClr>
                </a:solidFill>
                <a:latin typeface="+mn-lt"/>
                <a:cs typeface="Calibri" panose="020F0502020204030204" pitchFamily="34" charset="0"/>
              </a:rPr>
              <a:t>Le prochain CPF accordera la priorité à la capacité du gouvernement à gérer le processus d'urbanisation tout en permettant la migration des zones rurales vers les zones urbaines. Malgré quelques réalisations positives lors du cycle précédent du CPF, le SCD a estimé que le processus de gestion de l'urbanisation est au point mort. </a:t>
            </a:r>
          </a:p>
        </p:txBody>
      </p:sp>
      <p:sp>
        <p:nvSpPr>
          <p:cNvPr id="7" name="Footer Placeholder 6">
            <a:extLst>
              <a:ext uri="{FF2B5EF4-FFF2-40B4-BE49-F238E27FC236}">
                <a16:creationId xmlns:a16="http://schemas.microsoft.com/office/drawing/2014/main" id="{41635F35-5505-4957-B463-781A6222E420}"/>
              </a:ext>
            </a:extLst>
          </p:cNvPr>
          <p:cNvSpPr>
            <a:spLocks noGrp="1"/>
          </p:cNvSpPr>
          <p:nvPr>
            <p:ph type="ftr" sz="quarter" idx="11"/>
          </p:nvPr>
        </p:nvSpPr>
        <p:spPr/>
        <p:txBody>
          <a:bodyPr/>
          <a:lstStyle/>
          <a:p>
            <a:r>
              <a:rPr lang="en-US"/>
              <a:t>CPF 2023-2027. Version publique. Maputo, mai 2022.</a:t>
            </a:r>
          </a:p>
        </p:txBody>
      </p:sp>
      <p:sp>
        <p:nvSpPr>
          <p:cNvPr id="8" name="Slide Number Placeholder 7">
            <a:extLst>
              <a:ext uri="{FF2B5EF4-FFF2-40B4-BE49-F238E27FC236}">
                <a16:creationId xmlns:a16="http://schemas.microsoft.com/office/drawing/2014/main" id="{3F38001A-DA6B-488C-A464-0037CCFAE83C}"/>
              </a:ext>
            </a:extLst>
          </p:cNvPr>
          <p:cNvSpPr>
            <a:spLocks noGrp="1"/>
          </p:cNvSpPr>
          <p:nvPr>
            <p:ph type="sldNum" sz="quarter" idx="12"/>
          </p:nvPr>
        </p:nvSpPr>
        <p:spPr/>
        <p:txBody>
          <a:bodyPr/>
          <a:lstStyle/>
          <a:p>
            <a:fld id="{B8473C9A-9E91-4025-B5E2-D7B202510636}" type="slidenum">
              <a:rPr lang="en-US" smtClean="0"/>
              <a:t>24</a:t>
            </a:fld>
            <a:endParaRPr lang="en-US" dirty="0"/>
          </a:p>
        </p:txBody>
      </p:sp>
      <p:pic>
        <p:nvPicPr>
          <p:cNvPr id="4" name="Picture 3">
            <a:extLst>
              <a:ext uri="{FF2B5EF4-FFF2-40B4-BE49-F238E27FC236}">
                <a16:creationId xmlns:a16="http://schemas.microsoft.com/office/drawing/2014/main" id="{2011BC4A-1F14-4C1E-8CCE-B1DBAAC5B4BB}"/>
              </a:ext>
            </a:extLst>
          </p:cNvPr>
          <p:cNvPicPr>
            <a:picLocks noChangeAspect="1"/>
          </p:cNvPicPr>
          <p:nvPr/>
        </p:nvPicPr>
        <p:blipFill>
          <a:blip r:embed="rId3"/>
          <a:stretch>
            <a:fillRect/>
          </a:stretch>
        </p:blipFill>
        <p:spPr>
          <a:xfrm>
            <a:off x="430306" y="165986"/>
            <a:ext cx="2316681" cy="463336"/>
          </a:xfrm>
          <a:prstGeom prst="rect">
            <a:avLst/>
          </a:prstGeom>
        </p:spPr>
      </p:pic>
    </p:spTree>
    <p:extLst>
      <p:ext uri="{BB962C8B-B14F-4D97-AF65-F5344CB8AC3E}">
        <p14:creationId xmlns:p14="http://schemas.microsoft.com/office/powerpoint/2010/main" val="336790590"/>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A10FE-8054-40F6-8E7D-D8D483647B55}"/>
              </a:ext>
            </a:extLst>
          </p:cNvPr>
          <p:cNvSpPr>
            <a:spLocks noGrp="1"/>
          </p:cNvSpPr>
          <p:nvPr>
            <p:ph type="title"/>
          </p:nvPr>
        </p:nvSpPr>
        <p:spPr/>
        <p:txBody>
          <a:bodyPr/>
          <a:lstStyle/>
          <a:p>
            <a:r>
              <a:rPr lang="en-US" dirty="0"/>
              <a:t>HLO 3 : Améliorer le capital humain et l'autonomisation des femmes </a:t>
            </a:r>
          </a:p>
        </p:txBody>
      </p:sp>
      <p:sp>
        <p:nvSpPr>
          <p:cNvPr id="3" name="Content Placeholder 2">
            <a:extLst>
              <a:ext uri="{FF2B5EF4-FFF2-40B4-BE49-F238E27FC236}">
                <a16:creationId xmlns:a16="http://schemas.microsoft.com/office/drawing/2014/main" id="{00A5A4FC-2740-42EE-8E12-6101A40FDE38}"/>
              </a:ext>
            </a:extLst>
          </p:cNvPr>
          <p:cNvSpPr>
            <a:spLocks noGrp="1"/>
          </p:cNvSpPr>
          <p:nvPr>
            <p:ph idx="1"/>
          </p:nvPr>
        </p:nvSpPr>
        <p:spPr>
          <a:xfrm>
            <a:off x="838200" y="1301675"/>
            <a:ext cx="10515600" cy="4875288"/>
          </a:xfrm>
        </p:spPr>
        <p:txBody>
          <a:bodyPr>
            <a:normAutofit lnSpcReduction="10000"/>
          </a:bodyPr>
          <a:lstStyle/>
          <a:p>
            <a:r>
              <a:rPr lang="en-US" sz="1600" b="1" dirty="0">
                <a:solidFill>
                  <a:schemeClr val="accent1">
                    <a:lumMod val="75000"/>
                  </a:schemeClr>
                </a:solidFill>
                <a:latin typeface="+mn-lt"/>
                <a:cs typeface="Calibri" panose="020F0502020204030204" pitchFamily="34" charset="0"/>
              </a:rPr>
              <a:t>Objectif 7 : Améliorer les principaux résultats en matière d'éducation et de santé. Promouvoir des investissements budgétairement soutenables dans le capital humain, en mettant l'accent sur l'amélioration du rapport coût-bénéfice des dépenses publiques afin d'améliorer les principaux résultats en santé et en éducation. Un processus de décentralisation limité nuit à l'efficacité de la prestation des services de santé et d'éducation.</a:t>
            </a:r>
          </a:p>
          <a:p>
            <a:r>
              <a:rPr lang="en-US" sz="1600" b="1" dirty="0">
                <a:solidFill>
                  <a:schemeClr val="accent1">
                    <a:lumMod val="75000"/>
                  </a:schemeClr>
                </a:solidFill>
                <a:latin typeface="+mn-lt"/>
                <a:cs typeface="Calibri" panose="020F0502020204030204" pitchFamily="34" charset="0"/>
              </a:rPr>
              <a:t>Objectif 8 : Accroître l'efficacité des dépenses et la couverture effective des services sociaux intégrés. 
</a:t>
            </a:r>
          </a:p>
          <a:p>
            <a:r>
              <a:rPr lang="en-US" sz="1600" b="1" dirty="0">
                <a:solidFill>
                  <a:schemeClr val="accent1">
                    <a:lumMod val="75000"/>
                  </a:schemeClr>
                </a:solidFill>
                <a:latin typeface="+mn-lt"/>
                <a:cs typeface="Calibri" panose="020F0502020204030204" pitchFamily="34" charset="0"/>
              </a:rPr>
              <a:t>La prochaine Commission de la sécurité sociale renforcera le ciblage des programmes de protection sociale afin d'améliorer le rapport coût-bénéfice, notamment en encourageant la consolidation des politiques sociales, en assurant des mécanismes de premier niveau et des liens avec l'emploi et la participation à la population active, et en soutenant une stratégie nationale de protection sociale sensible aux chocs. 
</a:t>
            </a:r>
          </a:p>
          <a:p>
            <a:r>
              <a:rPr lang="en-US" sz="1600" b="1" dirty="0">
                <a:solidFill>
                  <a:schemeClr val="accent1">
                    <a:lumMod val="75000"/>
                  </a:schemeClr>
                </a:solidFill>
                <a:latin typeface="+mn-lt"/>
                <a:cs typeface="Calibri" panose="020F0502020204030204" pitchFamily="34" charset="0"/>
              </a:rPr>
              <a:t>L'objectif principal est de créer une structure budgétairement soutenable pour l'intégration des politiques sociales en faveur de l'accumulation du capital humain et de la réduction de l'extrême pauvreté, tout en autonomisant les femmes et en garantissant la résilience aux chocs.
</a:t>
            </a:r>
          </a:p>
          <a:p>
            <a:r>
              <a:rPr lang="en-US" sz="1600" b="1" dirty="0">
                <a:solidFill>
                  <a:schemeClr val="accent1">
                    <a:lumMod val="75000"/>
                  </a:schemeClr>
                </a:solidFill>
                <a:latin typeface="+mn-lt"/>
                <a:cs typeface="Calibri" panose="020F0502020204030204" pitchFamily="34" charset="0"/>
              </a:rPr>
              <a:t>Objectif 9 : Améliorer l'accès aux services de prévention des grossesses chez les adolescentes et de promotion de la participation économique des femmes.
</a:t>
            </a:r>
          </a:p>
          <a:p>
            <a:r>
              <a:rPr lang="en-US" sz="1600" b="1" dirty="0">
                <a:solidFill>
                  <a:schemeClr val="accent1">
                    <a:lumMod val="75000"/>
                  </a:schemeClr>
                </a:solidFill>
                <a:latin typeface="+mn-lt"/>
                <a:cs typeface="Calibri" panose="020F0502020204030204" pitchFamily="34" charset="0"/>
              </a:rPr>
              <a:t>Le Mozambique présente le quatrième taux de fécondité le plus élevé chez les adolescentes et le dixième taux le plus élevé de mariage d'enfants au monde, et ces taux augmentent au lieu de diminuer, ce qui contribue au faible niveau de qualification et à la faible productivité des femmes dans </a:t>
            </a:r>
          </a:p>
        </p:txBody>
      </p:sp>
      <p:sp>
        <p:nvSpPr>
          <p:cNvPr id="7" name="Footer Placeholder 6">
            <a:extLst>
              <a:ext uri="{FF2B5EF4-FFF2-40B4-BE49-F238E27FC236}">
                <a16:creationId xmlns:a16="http://schemas.microsoft.com/office/drawing/2014/main" id="{126C6B1E-1C18-488F-AC4A-85F26E37D61F}"/>
              </a:ext>
            </a:extLst>
          </p:cNvPr>
          <p:cNvSpPr>
            <a:spLocks noGrp="1"/>
          </p:cNvSpPr>
          <p:nvPr>
            <p:ph type="ftr" sz="quarter" idx="11"/>
          </p:nvPr>
        </p:nvSpPr>
        <p:spPr>
          <a:xfrm>
            <a:off x="3794760" y="5972901"/>
            <a:ext cx="4114800" cy="365125"/>
          </a:xfrm>
        </p:spPr>
        <p:txBody>
          <a:bodyPr/>
          <a:lstStyle/>
          <a:p>
            <a:r>
              <a:rPr lang="en-US"/>
              <a:t>CPF 2023-2027. Version publique. Maputo, mai 2022.</a:t>
            </a:r>
          </a:p>
        </p:txBody>
      </p:sp>
      <p:sp>
        <p:nvSpPr>
          <p:cNvPr id="8" name="Slide Number Placeholder 7">
            <a:extLst>
              <a:ext uri="{FF2B5EF4-FFF2-40B4-BE49-F238E27FC236}">
                <a16:creationId xmlns:a16="http://schemas.microsoft.com/office/drawing/2014/main" id="{84467695-3A8C-4A22-AEDD-992486ED255C}"/>
              </a:ext>
            </a:extLst>
          </p:cNvPr>
          <p:cNvSpPr>
            <a:spLocks noGrp="1"/>
          </p:cNvSpPr>
          <p:nvPr>
            <p:ph type="sldNum" sz="quarter" idx="12"/>
          </p:nvPr>
        </p:nvSpPr>
        <p:spPr/>
        <p:txBody>
          <a:bodyPr/>
          <a:lstStyle/>
          <a:p>
            <a:fld id="{B8473C9A-9E91-4025-B5E2-D7B202510636}" type="slidenum">
              <a:rPr lang="en-US" smtClean="0"/>
              <a:t>25</a:t>
            </a:fld>
            <a:endParaRPr lang="en-US" dirty="0"/>
          </a:p>
        </p:txBody>
      </p:sp>
      <p:pic>
        <p:nvPicPr>
          <p:cNvPr id="4" name="Picture 3">
            <a:extLst>
              <a:ext uri="{FF2B5EF4-FFF2-40B4-BE49-F238E27FC236}">
                <a16:creationId xmlns:a16="http://schemas.microsoft.com/office/drawing/2014/main" id="{158F71C0-494B-4195-962A-80957CD687E2}"/>
              </a:ext>
            </a:extLst>
          </p:cNvPr>
          <p:cNvPicPr>
            <a:picLocks noChangeAspect="1"/>
          </p:cNvPicPr>
          <p:nvPr/>
        </p:nvPicPr>
        <p:blipFill>
          <a:blip r:embed="rId3"/>
          <a:stretch>
            <a:fillRect/>
          </a:stretch>
        </p:blipFill>
        <p:spPr>
          <a:xfrm>
            <a:off x="572488" y="217701"/>
            <a:ext cx="2316681" cy="463336"/>
          </a:xfrm>
          <a:prstGeom prst="rect">
            <a:avLst/>
          </a:prstGeom>
        </p:spPr>
      </p:pic>
    </p:spTree>
    <p:extLst>
      <p:ext uri="{BB962C8B-B14F-4D97-AF65-F5344CB8AC3E}">
        <p14:creationId xmlns:p14="http://schemas.microsoft.com/office/powerpoint/2010/main" val="502533941"/>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33A49-979B-4F05-870B-CD45EDB79FB7}"/>
              </a:ext>
            </a:extLst>
          </p:cNvPr>
          <p:cNvSpPr>
            <a:spLocks noGrp="1"/>
          </p:cNvSpPr>
          <p:nvPr>
            <p:ph type="title"/>
          </p:nvPr>
        </p:nvSpPr>
        <p:spPr/>
        <p:txBody>
          <a:bodyPr>
            <a:noAutofit/>
          </a:bodyPr>
          <a:lstStyle/>
          <a:p>
            <a:r>
              <a:rPr lang="en-US" sz="3200" b="1" dirty="0">
                <a:solidFill>
                  <a:srgbClr val="203864"/>
                </a:solidFill>
                <a:latin typeface="Arial"/>
              </a:rPr>
              <a:t>Merci !</a:t>
            </a:r>
          </a:p>
        </p:txBody>
      </p:sp>
      <p:sp>
        <p:nvSpPr>
          <p:cNvPr id="3" name="Footer Placeholder 2">
            <a:extLst>
              <a:ext uri="{FF2B5EF4-FFF2-40B4-BE49-F238E27FC236}">
                <a16:creationId xmlns:a16="http://schemas.microsoft.com/office/drawing/2014/main" id="{F3371D7B-4997-4238-A35F-5554E8330F27}"/>
              </a:ext>
            </a:extLst>
          </p:cNvPr>
          <p:cNvSpPr>
            <a:spLocks noGrp="1"/>
          </p:cNvSpPr>
          <p:nvPr>
            <p:ph type="ftr" sz="quarter" idx="11"/>
          </p:nvPr>
        </p:nvSpPr>
        <p:spPr/>
        <p:txBody>
          <a:bodyPr/>
          <a:lstStyle/>
          <a:p>
            <a:r>
              <a:rPr lang="en-US"/>
              <a:t>CPF 2023-2027. Version publique. Maputo, mai 2022.</a:t>
            </a:r>
          </a:p>
        </p:txBody>
      </p:sp>
      <p:sp>
        <p:nvSpPr>
          <p:cNvPr id="4" name="Slide Number Placeholder 3">
            <a:extLst>
              <a:ext uri="{FF2B5EF4-FFF2-40B4-BE49-F238E27FC236}">
                <a16:creationId xmlns:a16="http://schemas.microsoft.com/office/drawing/2014/main" id="{FDB7C57F-15A8-4EA1-92A6-4596F96579F2}"/>
              </a:ext>
            </a:extLst>
          </p:cNvPr>
          <p:cNvSpPr>
            <a:spLocks noGrp="1"/>
          </p:cNvSpPr>
          <p:nvPr>
            <p:ph type="sldNum" sz="quarter" idx="12"/>
          </p:nvPr>
        </p:nvSpPr>
        <p:spPr/>
        <p:txBody>
          <a:bodyPr/>
          <a:lstStyle/>
          <a:p>
            <a:fld id="{B8473C9A-9E91-4025-B5E2-D7B202510636}" type="slidenum">
              <a:rPr lang="en-US" smtClean="0"/>
              <a:t>26</a:t>
            </a:fld>
            <a:endParaRPr lang="en-US" dirty="0"/>
          </a:p>
        </p:txBody>
      </p:sp>
    </p:spTree>
    <p:extLst>
      <p:ext uri="{BB962C8B-B14F-4D97-AF65-F5344CB8AC3E}">
        <p14:creationId xmlns:p14="http://schemas.microsoft.com/office/powerpoint/2010/main" val="376825688"/>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3.1.12"/>
  <p:tag name="AS_OS" val="Unix 4.14.225.169"/>
  <p:tag name="AS_RELEASE_DATE" val="2020.03.14"/>
  <p:tag name="AS_TITLE" val="Aspose.Slides for .NET Standard 2.0"/>
  <p:tag name="AS_VERSION" val="20.3"/>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PF">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rial"/>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rial"/>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rial"/>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rial"/>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otalTime>9414</TotalTime>
  <Words>5422</Words>
  <Application>Microsoft Office PowerPoint</Application>
  <PresentationFormat>Widescreen</PresentationFormat>
  <Paragraphs>342</Paragraphs>
  <Slides>26</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Arial</vt:lpstr>
      <vt:lpstr>Calibri</vt:lpstr>
      <vt:lpstr>Calibri Light</vt:lpstr>
      <vt:lpstr>Times New Roman</vt:lpstr>
      <vt:lpstr>YouTube Sans</vt:lpstr>
      <vt:lpstr>Office Theme</vt:lpstr>
      <vt:lpstr>World Bank Group (WBG)   Mozambique: Country Partnership Framework (CPF) 2023-2027   Concept Note Summary   Public Version    Maputo, May 2022  </vt:lpstr>
      <vt:lpstr>Introduction: What is the CPF, why the consultations and what are the expectations</vt:lpstr>
      <vt:lpstr>Presentation structure
</vt:lpstr>
      <vt:lpstr>Presentation structure
</vt:lpstr>
      <vt:lpstr> Country Context: Development Challanges and Opportunities</vt:lpstr>
      <vt:lpstr>Country Context: Development Challanges and Opportunities</vt:lpstr>
      <vt:lpstr>Country Context: Development Challenges and Opportunities</vt:lpstr>
      <vt:lpstr>World Bank Systematic Country Diagnostic (SCD) and Recommendations- Summary</vt:lpstr>
      <vt:lpstr>Presentation structure
</vt:lpstr>
      <vt:lpstr>CPF AF2017-2021: Main Features</vt:lpstr>
      <vt:lpstr>  CPF AF2017-2021: Main Features</vt:lpstr>
      <vt:lpstr>CPF AF2017-2021: Results 
</vt:lpstr>
      <vt:lpstr>CPF FY2017-2021: Lessons Learned
</vt:lpstr>
      <vt:lpstr>Presentation structure
</vt:lpstr>
      <vt:lpstr>Government Program and Medium-Term Strategy (1-2)</vt:lpstr>
      <vt:lpstr>PowerPoint Presentation</vt:lpstr>
      <vt:lpstr>PowerPoint Presentation</vt:lpstr>
      <vt:lpstr>PowerPoint Presentation</vt:lpstr>
      <vt:lpstr>PowerPoint Presentation</vt:lpstr>
      <vt:lpstr>   Implementation of CPF 2023-2027: Prioritization
</vt:lpstr>
      <vt:lpstr>CPF Implementation 2023-2027: Prioritization
</vt:lpstr>
      <vt:lpstr>Potentially available resources 
</vt:lpstr>
      <vt:lpstr>HLO 1: More inclusive institutions
</vt:lpstr>
      <vt:lpstr>HLO 2: Increasing inclusive job creation </vt:lpstr>
      <vt:lpstr>HLO 3: Improving Human Capital and Women's Empowerment  </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Paulo Guilherme Correa</dc:creator>
  <cp:lastModifiedBy>Paulo Guilherme Correa</cp:lastModifiedBy>
  <cp:revision>86</cp:revision>
  <cp:lastPrinted>2022-05-26T16:13:25Z</cp:lastPrinted>
  <dcterms:created xsi:type="dcterms:W3CDTF">2022-02-23T20:10:42Z</dcterms:created>
  <dcterms:modified xsi:type="dcterms:W3CDTF">2022-06-07T12:24:10Z</dcterms:modified>
</cp:coreProperties>
</file>