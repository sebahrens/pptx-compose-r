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1.xml" ContentType="application/vnd.openxmlformats-officedocument.drawingml.chartshapes+xml"/>
  <Override PartName="/ppt/notesSlides/notesSlide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2.xml" ContentType="application/vnd.openxmlformats-officedocument.drawingml.chartshape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1.xml" ContentType="application/vnd.openxmlformats-officedocument.themeOverr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48" r:id="rId1"/>
  </p:sldMasterIdLst>
  <p:notesMasterIdLst>
    <p:notesMasterId r:id="rId28"/>
  </p:notesMasterIdLst>
  <p:handoutMasterIdLst>
    <p:handoutMasterId r:id="rId29"/>
  </p:handoutMasterIdLst>
  <p:sldIdLst>
    <p:sldId id="2134804413" r:id="rId2"/>
    <p:sldId id="2134804414" r:id="rId3"/>
    <p:sldId id="2134804408" r:id="rId4"/>
    <p:sldId id="2134804409" r:id="rId5"/>
    <p:sldId id="2134804395" r:id="rId6"/>
    <p:sldId id="2134804398" r:id="rId7"/>
    <p:sldId id="2134804378" r:id="rId8"/>
    <p:sldId id="2134804389" r:id="rId9"/>
    <p:sldId id="2134804410" r:id="rId10"/>
    <p:sldId id="2134804405" r:id="rId11"/>
    <p:sldId id="2134804412" r:id="rId12"/>
    <p:sldId id="2134804396" r:id="rId13"/>
    <p:sldId id="2134804387" r:id="rId14"/>
    <p:sldId id="2134804411" r:id="rId15"/>
    <p:sldId id="2134804355" r:id="rId16"/>
    <p:sldId id="2134804360" r:id="rId17"/>
    <p:sldId id="1438" r:id="rId18"/>
    <p:sldId id="2134804385" r:id="rId19"/>
    <p:sldId id="1424" r:id="rId20"/>
    <p:sldId id="2134804388" r:id="rId21"/>
    <p:sldId id="2134804390" r:id="rId22"/>
    <p:sldId id="2134804316" r:id="rId23"/>
    <p:sldId id="2134804403" r:id="rId24"/>
    <p:sldId id="2134804402" r:id="rId25"/>
    <p:sldId id="2134804404" r:id="rId26"/>
    <p:sldId id="2134804354" r:id="rId27"/>
  </p:sldIdLst>
  <p:sldSz cx="12192000" cy="6858000"/>
  <p:notesSz cx="6797675" cy="9926638"/>
  <p:custDataLst>
    <p:tags r:id="rId3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4D27BEB-33D4-576E-988A-32969632F6C9}" name="Neelam Nizar Verjee" initials="NV" userId="S::nverjee@worldbank.org::e1d5fb58-5d01-4929-9734-88be1983e7e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ulo Guilherme Correa" initials="PGC" lastIdx="0" clrIdx="0">
    <p:extLst>
      <p:ext uri="{19B8F6BF-5375-455C-9EA6-DF929625EA0E}">
        <p15:presenceInfo xmlns:p15="http://schemas.microsoft.com/office/powerpoint/2012/main" userId="S::pcorrea@worldbank.org::870f2a1b-8f05-43bf-bddb-3b63d1bf3b8a" providerId="AD"/>
      </p:ext>
    </p:extLst>
  </p:cmAuthor>
  <p:cmAuthor id="2" name="Fernanda Ailina Pedro Massarongo Chivulele" initials="FAPMC" lastIdx="3" clrIdx="1">
    <p:extLst>
      <p:ext uri="{19B8F6BF-5375-455C-9EA6-DF929625EA0E}">
        <p15:presenceInfo xmlns:p15="http://schemas.microsoft.com/office/powerpoint/2012/main" userId="S::fmassarongochivu@worldbank.org::e7ac58eb-e9b2-4ac1-8c7e-c4290564e50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734829-6AEE-448D-92E1-3217DCE0D28A}" v="60" dt="2022-06-06T14:09:33.8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36" autoAdjust="0"/>
    <p:restoredTop sz="93239" autoAdjust="0"/>
  </p:normalViewPr>
  <p:slideViewPr>
    <p:cSldViewPr snapToGrid="0">
      <p:cViewPr varScale="1">
        <p:scale>
          <a:sx n="89" d="100"/>
          <a:sy n="89" d="100"/>
        </p:scale>
        <p:origin x="1410" y="96"/>
      </p:cViewPr>
      <p:guideLst/>
    </p:cSldViewPr>
  </p:slideViewPr>
  <p:notesTextViewPr>
    <p:cViewPr>
      <p:scale>
        <a:sx n="3" d="2"/>
        <a:sy n="3" d="2"/>
      </p:scale>
      <p:origin x="0" y="0"/>
    </p:cViewPr>
  </p:notesTextViewPr>
  <p:notesViewPr>
    <p:cSldViewPr snapToGrid="0">
      <p:cViewPr varScale="1">
        <p:scale>
          <a:sx n="44" d="100"/>
          <a:sy n="44" d="100"/>
        </p:scale>
        <p:origin x="2852" y="2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38"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o Guilherme Correa" userId="870f2a1b-8f05-43bf-bddb-3b63d1bf3b8a" providerId="ADAL" clId="{3A734829-6AEE-448D-92E1-3217DCE0D28A}"/>
    <pc:docChg chg="undo custSel modSld">
      <pc:chgData name="Paulo Guilherme Correa" userId="870f2a1b-8f05-43bf-bddb-3b63d1bf3b8a" providerId="ADAL" clId="{3A734829-6AEE-448D-92E1-3217DCE0D28A}" dt="2022-06-07T12:24:07.435" v="376" actId="6549"/>
      <pc:docMkLst>
        <pc:docMk/>
      </pc:docMkLst>
      <pc:sldChg chg="modSp mod">
        <pc:chgData name="Paulo Guilherme Correa" userId="870f2a1b-8f05-43bf-bddb-3b63d1bf3b8a" providerId="ADAL" clId="{3A734829-6AEE-448D-92E1-3217DCE0D28A}" dt="2022-06-06T14:12:56.755" v="201" actId="1076"/>
        <pc:sldMkLst>
          <pc:docMk/>
          <pc:sldMk cId="164693797" sldId="1438"/>
        </pc:sldMkLst>
        <pc:spChg chg="mod">
          <ac:chgData name="Paulo Guilherme Correa" userId="870f2a1b-8f05-43bf-bddb-3b63d1bf3b8a" providerId="ADAL" clId="{3A734829-6AEE-448D-92E1-3217DCE0D28A}" dt="2022-06-06T14:12:56.755" v="201" actId="1076"/>
          <ac:spMkLst>
            <pc:docMk/>
            <pc:sldMk cId="164693797" sldId="1438"/>
            <ac:spMk id="34" creationId="{02498E19-A5E1-4FF3-8593-77DDFB633840}"/>
          </ac:spMkLst>
        </pc:spChg>
      </pc:sldChg>
      <pc:sldChg chg="modSp mod">
        <pc:chgData name="Paulo Guilherme Correa" userId="870f2a1b-8f05-43bf-bddb-3b63d1bf3b8a" providerId="ADAL" clId="{3A734829-6AEE-448D-92E1-3217DCE0D28A}" dt="2022-06-06T14:19:32.002" v="276" actId="1076"/>
        <pc:sldMkLst>
          <pc:docMk/>
          <pc:sldMk cId="228573786" sldId="2134804316"/>
        </pc:sldMkLst>
        <pc:spChg chg="mod">
          <ac:chgData name="Paulo Guilherme Correa" userId="870f2a1b-8f05-43bf-bddb-3b63d1bf3b8a" providerId="ADAL" clId="{3A734829-6AEE-448D-92E1-3217DCE0D28A}" dt="2022-06-06T14:19:32.002" v="276" actId="1076"/>
          <ac:spMkLst>
            <pc:docMk/>
            <pc:sldMk cId="228573786" sldId="2134804316"/>
            <ac:spMk id="9" creationId="{EF7E496C-CAB6-4016-A81A-D54963B89A2D}"/>
          </ac:spMkLst>
        </pc:spChg>
      </pc:sldChg>
      <pc:sldChg chg="modSp mod">
        <pc:chgData name="Paulo Guilherme Correa" userId="870f2a1b-8f05-43bf-bddb-3b63d1bf3b8a" providerId="ADAL" clId="{3A734829-6AEE-448D-92E1-3217DCE0D28A}" dt="2022-06-06T13:53:06.682" v="143" actId="113"/>
        <pc:sldMkLst>
          <pc:docMk/>
          <pc:sldMk cId="2098239625" sldId="2134804378"/>
        </pc:sldMkLst>
        <pc:spChg chg="mod">
          <ac:chgData name="Paulo Guilherme Correa" userId="870f2a1b-8f05-43bf-bddb-3b63d1bf3b8a" providerId="ADAL" clId="{3A734829-6AEE-448D-92E1-3217DCE0D28A}" dt="2022-06-06T13:53:06.682" v="143" actId="113"/>
          <ac:spMkLst>
            <pc:docMk/>
            <pc:sldMk cId="2098239625" sldId="2134804378"/>
            <ac:spMk id="7" creationId="{FF5C214D-5EAE-4BCF-B630-4930BE12178E}"/>
          </ac:spMkLst>
        </pc:spChg>
      </pc:sldChg>
      <pc:sldChg chg="modSp mod">
        <pc:chgData name="Paulo Guilherme Correa" userId="870f2a1b-8f05-43bf-bddb-3b63d1bf3b8a" providerId="ADAL" clId="{3A734829-6AEE-448D-92E1-3217DCE0D28A}" dt="2022-06-06T14:13:35.381" v="206" actId="5793"/>
        <pc:sldMkLst>
          <pc:docMk/>
          <pc:sldMk cId="2480337501" sldId="2134804385"/>
        </pc:sldMkLst>
        <pc:spChg chg="mod">
          <ac:chgData name="Paulo Guilherme Correa" userId="870f2a1b-8f05-43bf-bddb-3b63d1bf3b8a" providerId="ADAL" clId="{3A734829-6AEE-448D-92E1-3217DCE0D28A}" dt="2022-06-06T14:13:35.381" v="206" actId="5793"/>
          <ac:spMkLst>
            <pc:docMk/>
            <pc:sldMk cId="2480337501" sldId="2134804385"/>
            <ac:spMk id="3" creationId="{D4328182-DCAC-44BE-B53C-25FEF02C2D3B}"/>
          </ac:spMkLst>
        </pc:spChg>
      </pc:sldChg>
      <pc:sldChg chg="modSp mod">
        <pc:chgData name="Paulo Guilherme Correa" userId="870f2a1b-8f05-43bf-bddb-3b63d1bf3b8a" providerId="ADAL" clId="{3A734829-6AEE-448D-92E1-3217DCE0D28A}" dt="2022-06-07T12:24:07.435" v="376" actId="6549"/>
        <pc:sldMkLst>
          <pc:docMk/>
          <pc:sldMk cId="1591212298" sldId="2134804387"/>
        </pc:sldMkLst>
        <pc:spChg chg="mod">
          <ac:chgData name="Paulo Guilherme Correa" userId="870f2a1b-8f05-43bf-bddb-3b63d1bf3b8a" providerId="ADAL" clId="{3A734829-6AEE-448D-92E1-3217DCE0D28A}" dt="2022-06-07T12:24:07.435" v="376" actId="6549"/>
          <ac:spMkLst>
            <pc:docMk/>
            <pc:sldMk cId="1591212298" sldId="2134804387"/>
            <ac:spMk id="3" creationId="{43620D38-256E-4067-AE12-400CAF4C9E44}"/>
          </ac:spMkLst>
        </pc:spChg>
      </pc:sldChg>
      <pc:sldChg chg="modSp mod">
        <pc:chgData name="Paulo Guilherme Correa" userId="870f2a1b-8f05-43bf-bddb-3b63d1bf3b8a" providerId="ADAL" clId="{3A734829-6AEE-448D-92E1-3217DCE0D28A}" dt="2022-06-06T14:17:26.813" v="214" actId="1076"/>
        <pc:sldMkLst>
          <pc:docMk/>
          <pc:sldMk cId="3822225861" sldId="2134804388"/>
        </pc:sldMkLst>
        <pc:spChg chg="mod">
          <ac:chgData name="Paulo Guilherme Correa" userId="870f2a1b-8f05-43bf-bddb-3b63d1bf3b8a" providerId="ADAL" clId="{3A734829-6AEE-448D-92E1-3217DCE0D28A}" dt="2022-06-06T14:17:23.377" v="213" actId="1076"/>
          <ac:spMkLst>
            <pc:docMk/>
            <pc:sldMk cId="3822225861" sldId="2134804388"/>
            <ac:spMk id="2" creationId="{23A3676B-4603-455B-9BA6-AAFD3FF0ACAB}"/>
          </ac:spMkLst>
        </pc:spChg>
        <pc:spChg chg="mod">
          <ac:chgData name="Paulo Guilherme Correa" userId="870f2a1b-8f05-43bf-bddb-3b63d1bf3b8a" providerId="ADAL" clId="{3A734829-6AEE-448D-92E1-3217DCE0D28A}" dt="2022-06-06T14:17:26.813" v="214" actId="1076"/>
          <ac:spMkLst>
            <pc:docMk/>
            <pc:sldMk cId="3822225861" sldId="2134804388"/>
            <ac:spMk id="3" creationId="{95DD31EA-D262-4017-A859-112A4B3C2A17}"/>
          </ac:spMkLst>
        </pc:spChg>
      </pc:sldChg>
      <pc:sldChg chg="modSp mod">
        <pc:chgData name="Paulo Guilherme Correa" userId="870f2a1b-8f05-43bf-bddb-3b63d1bf3b8a" providerId="ADAL" clId="{3A734829-6AEE-448D-92E1-3217DCE0D28A}" dt="2022-06-06T13:55:15.945" v="149" actId="20577"/>
        <pc:sldMkLst>
          <pc:docMk/>
          <pc:sldMk cId="3355522750" sldId="2134804389"/>
        </pc:sldMkLst>
        <pc:spChg chg="mod">
          <ac:chgData name="Paulo Guilherme Correa" userId="870f2a1b-8f05-43bf-bddb-3b63d1bf3b8a" providerId="ADAL" clId="{3A734829-6AEE-448D-92E1-3217DCE0D28A}" dt="2022-06-06T13:55:15.945" v="149" actId="20577"/>
          <ac:spMkLst>
            <pc:docMk/>
            <pc:sldMk cId="3355522750" sldId="2134804389"/>
            <ac:spMk id="6" creationId="{113BE710-35E0-4B80-8E28-6785528D3EDB}"/>
          </ac:spMkLst>
        </pc:spChg>
      </pc:sldChg>
      <pc:sldChg chg="modSp mod">
        <pc:chgData name="Paulo Guilherme Correa" userId="870f2a1b-8f05-43bf-bddb-3b63d1bf3b8a" providerId="ADAL" clId="{3A734829-6AEE-448D-92E1-3217DCE0D28A}" dt="2022-06-06T14:18:19.701" v="222" actId="20577"/>
        <pc:sldMkLst>
          <pc:docMk/>
          <pc:sldMk cId="1963031688" sldId="2134804390"/>
        </pc:sldMkLst>
        <pc:spChg chg="mod">
          <ac:chgData name="Paulo Guilherme Correa" userId="870f2a1b-8f05-43bf-bddb-3b63d1bf3b8a" providerId="ADAL" clId="{3A734829-6AEE-448D-92E1-3217DCE0D28A}" dt="2022-06-06T14:17:35.081" v="215" actId="1076"/>
          <ac:spMkLst>
            <pc:docMk/>
            <pc:sldMk cId="1963031688" sldId="2134804390"/>
            <ac:spMk id="2" creationId="{31E02326-9E63-4DF0-AF0D-21FCFEC54D28}"/>
          </ac:spMkLst>
        </pc:spChg>
        <pc:spChg chg="mod">
          <ac:chgData name="Paulo Guilherme Correa" userId="870f2a1b-8f05-43bf-bddb-3b63d1bf3b8a" providerId="ADAL" clId="{3A734829-6AEE-448D-92E1-3217DCE0D28A}" dt="2022-06-06T14:18:19.701" v="222" actId="20577"/>
          <ac:spMkLst>
            <pc:docMk/>
            <pc:sldMk cId="1963031688" sldId="2134804390"/>
            <ac:spMk id="3" creationId="{CB65E0F7-FCC9-4A64-911C-50F2460F3EEB}"/>
          </ac:spMkLst>
        </pc:spChg>
      </pc:sldChg>
      <pc:sldChg chg="modSp mod">
        <pc:chgData name="Paulo Guilherme Correa" userId="870f2a1b-8f05-43bf-bddb-3b63d1bf3b8a" providerId="ADAL" clId="{3A734829-6AEE-448D-92E1-3217DCE0D28A}" dt="2022-06-06T13:53:34.707" v="145" actId="27918"/>
        <pc:sldMkLst>
          <pc:docMk/>
          <pc:sldMk cId="279434536" sldId="2134804395"/>
        </pc:sldMkLst>
        <pc:spChg chg="mod">
          <ac:chgData name="Paulo Guilherme Correa" userId="870f2a1b-8f05-43bf-bddb-3b63d1bf3b8a" providerId="ADAL" clId="{3A734829-6AEE-448D-92E1-3217DCE0D28A}" dt="2022-06-06T13:48:58.446" v="93" actId="20577"/>
          <ac:spMkLst>
            <pc:docMk/>
            <pc:sldMk cId="279434536" sldId="2134804395"/>
            <ac:spMk id="7" creationId="{FF5C214D-5EAE-4BCF-B630-4930BE12178E}"/>
          </ac:spMkLst>
        </pc:spChg>
        <pc:graphicFrameChg chg="mod">
          <ac:chgData name="Paulo Guilherme Correa" userId="870f2a1b-8f05-43bf-bddb-3b63d1bf3b8a" providerId="ADAL" clId="{3A734829-6AEE-448D-92E1-3217DCE0D28A}" dt="2022-06-06T13:52:04.079" v="139" actId="20577"/>
          <ac:graphicFrameMkLst>
            <pc:docMk/>
            <pc:sldMk cId="279434536" sldId="2134804395"/>
            <ac:graphicFrameMk id="9" creationId="{410C8409-F0C1-4A06-B33B-032AB030B33D}"/>
          </ac:graphicFrameMkLst>
        </pc:graphicFrameChg>
        <pc:graphicFrameChg chg="mod">
          <ac:chgData name="Paulo Guilherme Correa" userId="870f2a1b-8f05-43bf-bddb-3b63d1bf3b8a" providerId="ADAL" clId="{3A734829-6AEE-448D-92E1-3217DCE0D28A}" dt="2022-06-06T13:51:51.318" v="100" actId="20577"/>
          <ac:graphicFrameMkLst>
            <pc:docMk/>
            <pc:sldMk cId="279434536" sldId="2134804395"/>
            <ac:graphicFrameMk id="11" creationId="{C72742A9-AFDE-48B8-85B0-5CF91FC7EC7A}"/>
          </ac:graphicFrameMkLst>
        </pc:graphicFrameChg>
      </pc:sldChg>
      <pc:sldChg chg="modSp mod">
        <pc:chgData name="Paulo Guilherme Correa" userId="870f2a1b-8f05-43bf-bddb-3b63d1bf3b8a" providerId="ADAL" clId="{3A734829-6AEE-448D-92E1-3217DCE0D28A}" dt="2022-06-06T14:10:39.028" v="200" actId="1076"/>
        <pc:sldMkLst>
          <pc:docMk/>
          <pc:sldMk cId="893228102" sldId="2134804396"/>
        </pc:sldMkLst>
        <pc:spChg chg="mod">
          <ac:chgData name="Paulo Guilherme Correa" userId="870f2a1b-8f05-43bf-bddb-3b63d1bf3b8a" providerId="ADAL" clId="{3A734829-6AEE-448D-92E1-3217DCE0D28A}" dt="2022-06-06T14:10:34.407" v="198" actId="14100"/>
          <ac:spMkLst>
            <pc:docMk/>
            <pc:sldMk cId="893228102" sldId="2134804396"/>
            <ac:spMk id="3" creationId="{D13B107D-9314-4019-A8AC-8BDA69837A5E}"/>
          </ac:spMkLst>
        </pc:spChg>
        <pc:spChg chg="mod">
          <ac:chgData name="Paulo Guilherme Correa" userId="870f2a1b-8f05-43bf-bddb-3b63d1bf3b8a" providerId="ADAL" clId="{3A734829-6AEE-448D-92E1-3217DCE0D28A}" dt="2022-06-06T14:10:39.028" v="200" actId="1076"/>
          <ac:spMkLst>
            <pc:docMk/>
            <pc:sldMk cId="893228102" sldId="2134804396"/>
            <ac:spMk id="9" creationId="{6122B999-DE86-4BC0-AC20-DE5BD83111C8}"/>
          </ac:spMkLst>
        </pc:spChg>
        <pc:graphicFrameChg chg="mod modGraphic">
          <ac:chgData name="Paulo Guilherme Correa" userId="870f2a1b-8f05-43bf-bddb-3b63d1bf3b8a" providerId="ADAL" clId="{3A734829-6AEE-448D-92E1-3217DCE0D28A}" dt="2022-06-06T14:10:37.211" v="199" actId="14100"/>
          <ac:graphicFrameMkLst>
            <pc:docMk/>
            <pc:sldMk cId="893228102" sldId="2134804396"/>
            <ac:graphicFrameMk id="7" creationId="{32DB655D-42A7-4817-899F-7D22316FD394}"/>
          </ac:graphicFrameMkLst>
        </pc:graphicFrameChg>
      </pc:sldChg>
      <pc:sldChg chg="modSp">
        <pc:chgData name="Paulo Guilherme Correa" userId="870f2a1b-8f05-43bf-bddb-3b63d1bf3b8a" providerId="ADAL" clId="{3A734829-6AEE-448D-92E1-3217DCE0D28A}" dt="2022-06-06T13:52:33.621" v="141" actId="14100"/>
        <pc:sldMkLst>
          <pc:docMk/>
          <pc:sldMk cId="1570841410" sldId="2134804398"/>
        </pc:sldMkLst>
        <pc:graphicFrameChg chg="mod">
          <ac:chgData name="Paulo Guilherme Correa" userId="870f2a1b-8f05-43bf-bddb-3b63d1bf3b8a" providerId="ADAL" clId="{3A734829-6AEE-448D-92E1-3217DCE0D28A}" dt="2022-06-06T13:52:33.621" v="141" actId="14100"/>
          <ac:graphicFrameMkLst>
            <pc:docMk/>
            <pc:sldMk cId="1570841410" sldId="2134804398"/>
            <ac:graphicFrameMk id="5" creationId="{C9A68FB0-9030-48F4-90BB-6738D978B96B}"/>
          </ac:graphicFrameMkLst>
        </pc:graphicFrameChg>
        <pc:graphicFrameChg chg="mod">
          <ac:chgData name="Paulo Guilherme Correa" userId="870f2a1b-8f05-43bf-bddb-3b63d1bf3b8a" providerId="ADAL" clId="{3A734829-6AEE-448D-92E1-3217DCE0D28A}" dt="2022-06-06T13:52:31.181" v="140" actId="14100"/>
          <ac:graphicFrameMkLst>
            <pc:docMk/>
            <pc:sldMk cId="1570841410" sldId="2134804398"/>
            <ac:graphicFrameMk id="7" creationId="{CD771C82-20D9-438B-98BF-9F1AA3BE667C}"/>
          </ac:graphicFrameMkLst>
        </pc:graphicFrameChg>
      </pc:sldChg>
      <pc:sldChg chg="modSp mod modNotesTx">
        <pc:chgData name="Paulo Guilherme Correa" userId="870f2a1b-8f05-43bf-bddb-3b63d1bf3b8a" providerId="ADAL" clId="{3A734829-6AEE-448D-92E1-3217DCE0D28A}" dt="2022-06-06T14:20:11.608" v="279" actId="20577"/>
        <pc:sldMkLst>
          <pc:docMk/>
          <pc:sldMk cId="336790590" sldId="2134804402"/>
        </pc:sldMkLst>
        <pc:spChg chg="mod">
          <ac:chgData name="Paulo Guilherme Correa" userId="870f2a1b-8f05-43bf-bddb-3b63d1bf3b8a" providerId="ADAL" clId="{3A734829-6AEE-448D-92E1-3217DCE0D28A}" dt="2022-06-06T14:20:07.989" v="278" actId="20577"/>
          <ac:spMkLst>
            <pc:docMk/>
            <pc:sldMk cId="336790590" sldId="2134804402"/>
            <ac:spMk id="3" creationId="{2D9E4DBD-86F0-4B7F-911F-E98F78863434}"/>
          </ac:spMkLst>
        </pc:spChg>
      </pc:sldChg>
      <pc:sldChg chg="modSp mod">
        <pc:chgData name="Paulo Guilherme Correa" userId="870f2a1b-8f05-43bf-bddb-3b63d1bf3b8a" providerId="ADAL" clId="{3A734829-6AEE-448D-92E1-3217DCE0D28A}" dt="2022-06-06T14:19:56.615" v="277" actId="20577"/>
        <pc:sldMkLst>
          <pc:docMk/>
          <pc:sldMk cId="1294046964" sldId="2134804403"/>
        </pc:sldMkLst>
        <pc:spChg chg="mod">
          <ac:chgData name="Paulo Guilherme Correa" userId="870f2a1b-8f05-43bf-bddb-3b63d1bf3b8a" providerId="ADAL" clId="{3A734829-6AEE-448D-92E1-3217DCE0D28A}" dt="2022-06-06T14:19:56.615" v="277" actId="20577"/>
          <ac:spMkLst>
            <pc:docMk/>
            <pc:sldMk cId="1294046964" sldId="2134804403"/>
            <ac:spMk id="3" creationId="{0AAF4E04-EEC2-485A-878B-D07B4647ED1C}"/>
          </ac:spMkLst>
        </pc:spChg>
      </pc:sldChg>
      <pc:sldChg chg="modNotesTx">
        <pc:chgData name="Paulo Guilherme Correa" userId="870f2a1b-8f05-43bf-bddb-3b63d1bf3b8a" providerId="ADAL" clId="{3A734829-6AEE-448D-92E1-3217DCE0D28A}" dt="2022-06-06T14:20:28.606" v="280" actId="20577"/>
        <pc:sldMkLst>
          <pc:docMk/>
          <pc:sldMk cId="502533941" sldId="2134804404"/>
        </pc:sldMkLst>
      </pc:sldChg>
      <pc:sldChg chg="modSp mod">
        <pc:chgData name="Paulo Guilherme Correa" userId="870f2a1b-8f05-43bf-bddb-3b63d1bf3b8a" providerId="ADAL" clId="{3A734829-6AEE-448D-92E1-3217DCE0D28A}" dt="2022-06-06T13:55:37.735" v="150" actId="113"/>
        <pc:sldMkLst>
          <pc:docMk/>
          <pc:sldMk cId="1765248067" sldId="2134804405"/>
        </pc:sldMkLst>
        <pc:spChg chg="mod">
          <ac:chgData name="Paulo Guilherme Correa" userId="870f2a1b-8f05-43bf-bddb-3b63d1bf3b8a" providerId="ADAL" clId="{3A734829-6AEE-448D-92E1-3217DCE0D28A}" dt="2022-06-06T13:55:37.735" v="150" actId="113"/>
          <ac:spMkLst>
            <pc:docMk/>
            <pc:sldMk cId="1765248067" sldId="2134804405"/>
            <ac:spMk id="3" creationId="{AD41F2BB-97F4-4383-8764-F002A22E027D}"/>
          </ac:spMkLst>
        </pc:spChg>
      </pc:sldChg>
      <pc:sldChg chg="modSp mod">
        <pc:chgData name="Paulo Guilherme Correa" userId="870f2a1b-8f05-43bf-bddb-3b63d1bf3b8a" providerId="ADAL" clId="{3A734829-6AEE-448D-92E1-3217DCE0D28A}" dt="2022-06-06T13:56:40.231" v="158" actId="20577"/>
        <pc:sldMkLst>
          <pc:docMk/>
          <pc:sldMk cId="1828922060" sldId="2134804409"/>
        </pc:sldMkLst>
        <pc:spChg chg="mod">
          <ac:chgData name="Paulo Guilherme Correa" userId="870f2a1b-8f05-43bf-bddb-3b63d1bf3b8a" providerId="ADAL" clId="{3A734829-6AEE-448D-92E1-3217DCE0D28A}" dt="2022-06-06T13:56:40.231" v="158" actId="20577"/>
          <ac:spMkLst>
            <pc:docMk/>
            <pc:sldMk cId="1828922060" sldId="2134804409"/>
            <ac:spMk id="3" creationId="{A71C13BF-78D7-4831-B2B9-0342F47476B7}"/>
          </ac:spMkLst>
        </pc:spChg>
      </pc:sldChg>
      <pc:sldChg chg="modSp mod">
        <pc:chgData name="Paulo Guilherme Correa" userId="870f2a1b-8f05-43bf-bddb-3b63d1bf3b8a" providerId="ADAL" clId="{3A734829-6AEE-448D-92E1-3217DCE0D28A}" dt="2022-06-06T13:57:55.044" v="159" actId="20577"/>
        <pc:sldMkLst>
          <pc:docMk/>
          <pc:sldMk cId="3817913634" sldId="2134804410"/>
        </pc:sldMkLst>
        <pc:spChg chg="mod">
          <ac:chgData name="Paulo Guilherme Correa" userId="870f2a1b-8f05-43bf-bddb-3b63d1bf3b8a" providerId="ADAL" clId="{3A734829-6AEE-448D-92E1-3217DCE0D28A}" dt="2022-06-06T13:57:55.044" v="159" actId="20577"/>
          <ac:spMkLst>
            <pc:docMk/>
            <pc:sldMk cId="3817913634" sldId="2134804410"/>
            <ac:spMk id="3" creationId="{A71C13BF-78D7-4831-B2B9-0342F47476B7}"/>
          </ac:spMkLst>
        </pc:spChg>
      </pc:sldChg>
      <pc:sldChg chg="modSp mod">
        <pc:chgData name="Paulo Guilherme Correa" userId="870f2a1b-8f05-43bf-bddb-3b63d1bf3b8a" providerId="ADAL" clId="{3A734829-6AEE-448D-92E1-3217DCE0D28A}" dt="2022-06-06T13:58:00.042" v="160" actId="20577"/>
        <pc:sldMkLst>
          <pc:docMk/>
          <pc:sldMk cId="1566909184" sldId="2134804411"/>
        </pc:sldMkLst>
        <pc:spChg chg="mod">
          <ac:chgData name="Paulo Guilherme Correa" userId="870f2a1b-8f05-43bf-bddb-3b63d1bf3b8a" providerId="ADAL" clId="{3A734829-6AEE-448D-92E1-3217DCE0D28A}" dt="2022-06-06T13:58:00.042" v="160" actId="20577"/>
          <ac:spMkLst>
            <pc:docMk/>
            <pc:sldMk cId="1566909184" sldId="2134804411"/>
            <ac:spMk id="3" creationId="{A71C13BF-78D7-4831-B2B9-0342F47476B7}"/>
          </ac:spMkLst>
        </pc:spChg>
      </pc:sldChg>
      <pc:sldChg chg="modSp mod">
        <pc:chgData name="Paulo Guilherme Correa" userId="870f2a1b-8f05-43bf-bddb-3b63d1bf3b8a" providerId="ADAL" clId="{3A734829-6AEE-448D-92E1-3217DCE0D28A}" dt="2022-06-06T14:09:56.134" v="194" actId="14100"/>
        <pc:sldMkLst>
          <pc:docMk/>
          <pc:sldMk cId="594525742" sldId="2134804412"/>
        </pc:sldMkLst>
        <pc:spChg chg="mod">
          <ac:chgData name="Paulo Guilherme Correa" userId="870f2a1b-8f05-43bf-bddb-3b63d1bf3b8a" providerId="ADAL" clId="{3A734829-6AEE-448D-92E1-3217DCE0D28A}" dt="2022-06-06T14:09:56.134" v="194" actId="14100"/>
          <ac:spMkLst>
            <pc:docMk/>
            <pc:sldMk cId="594525742" sldId="2134804412"/>
            <ac:spMk id="3" creationId="{AD41F2BB-97F4-4383-8764-F002A22E027D}"/>
          </ac:spMkLst>
        </pc:spChg>
        <pc:spChg chg="mod">
          <ac:chgData name="Paulo Guilherme Correa" userId="870f2a1b-8f05-43bf-bddb-3b63d1bf3b8a" providerId="ADAL" clId="{3A734829-6AEE-448D-92E1-3217DCE0D28A}" dt="2022-06-06T14:09:30.434" v="192" actId="1076"/>
          <ac:spMkLst>
            <pc:docMk/>
            <pc:sldMk cId="594525742" sldId="2134804412"/>
            <ac:spMk id="10" creationId="{2F08AA56-3BA1-41C9-8EC2-A2B8C5546FC8}"/>
          </ac:spMkLst>
        </pc:spChg>
        <pc:graphicFrameChg chg="mod">
          <ac:chgData name="Paulo Guilherme Correa" userId="870f2a1b-8f05-43bf-bddb-3b63d1bf3b8a" providerId="ADAL" clId="{3A734829-6AEE-448D-92E1-3217DCE0D28A}" dt="2022-06-06T14:09:33.848" v="193"/>
          <ac:graphicFrameMkLst>
            <pc:docMk/>
            <pc:sldMk cId="594525742" sldId="2134804412"/>
            <ac:graphicFrameMk id="9" creationId="{A5499A8E-A137-4699-BE3A-E5C6193DB181}"/>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wb208545\AppData\Local\Microsoft\Windows\INetCache\Content.Outlook\6T69VSB3\WEO_Data.xls.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1.xml"/></Relationships>
</file>

<file path=ppt/charts/_rels/chart3.xml.rels><?xml version="1.0" encoding="UTF-8" standalone="yes"?>
<Relationships xmlns="http://schemas.openxmlformats.org/package/2006/relationships"><Relationship Id="rId3" Type="http://schemas.openxmlformats.org/officeDocument/2006/relationships/oleObject" Target="../embeddings/oleObject1.bin"/><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embeddings/oleObject2.bin"/><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2.xml"/></Relationships>
</file>

<file path=ppt/charts/_rels/chart5.xml.rels><?xml version="1.0" encoding="UTF-8" standalone="yes"?>
<Relationships xmlns="http://schemas.openxmlformats.org/package/2006/relationships"><Relationship Id="rId3" Type="http://schemas.openxmlformats.org/officeDocument/2006/relationships/oleObject" Target="../embeddings/oleObject3.bin"/><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embeddings/oleObject4.bin"/><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embeddings/oleObject5.bin"/><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embeddings/oleObject6.bin"/><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package" Target="../embeddings/Microsoft_Excel_Worksheet1.xlsx"/></Relationships>
</file>

<file path=ppt/charts/_rels/chart10.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embeddings/oleObject7.bin"/></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050" b="1" i="0" u="none" strike="noStrike" kern="1200" spc="0" baseline="0" dirty="0" smtClean="0">
                <a:solidFill>
                  <a:schemeClr val="tx1"/>
                </a:solidFill>
                <a:latin typeface="Arial" panose="020B0604020202020204" pitchFamily="34" charset="0"/>
                <a:ea typeface="+mn-ea"/>
                <a:cs typeface="Arial" panose="020B0604020202020204" pitchFamily="34" charset="0"/>
              </a:defRPr>
            </a:pPr>
            <a:r>
              <a:rPr lang="en-US" sz="1050" b="1" i="0" u="none" strike="noStrike" kern="1200" spc="0" baseline="0" dirty="0">
                <a:solidFill>
                  <a:schemeClr val="tx1"/>
                </a:solidFill>
                <a:latin typeface="Arial" panose="020B0604020202020204" pitchFamily="34" charset="0"/>
                <a:ea typeface="+mn-ea"/>
                <a:cs typeface="Arial" panose="020B0604020202020204" pitchFamily="34" charset="0"/>
              </a:rPr>
              <a:t>Poverty rates and total number of poor </a:t>
            </a:r>
          </a:p>
        </c:rich>
      </c:tx>
      <c:layout>
        <c:manualLayout>
          <c:xMode val="edge"/>
          <c:yMode val="edge"/>
          <c:x val="9.1588992193222724E-2"/>
          <c:y val="0"/>
        </c:manualLayout>
      </c:layout>
      <c:overlay val="0"/>
      <c:spPr>
        <a:noFill/>
        <a:ln>
          <a:noFill/>
        </a:ln>
        <a:effectLst/>
      </c:spPr>
      <c:txPr>
        <a:bodyPr rot="0" spcFirstLastPara="1" vertOverflow="ellipsis" vert="horz" wrap="square" anchor="ctr" anchorCtr="1"/>
        <a:lstStyle/>
        <a:p>
          <a:pPr>
            <a:defRPr lang="en-US" sz="1050" b="1" i="0" u="none" strike="noStrike" kern="1200" spc="0" baseline="0" dirty="0" smtClean="0">
              <a:solidFill>
                <a:schemeClr val="tx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0.13577741126953724"/>
          <c:y val="0.15256668497833117"/>
          <c:w val="0.68613505237520989"/>
          <c:h val="0.63899570693198227"/>
        </c:manualLayout>
      </c:layout>
      <c:lineChart>
        <c:grouping val="standard"/>
        <c:varyColors val="0"/>
        <c:ser>
          <c:idx val="6"/>
          <c:order val="0"/>
          <c:tx>
            <c:strRef>
              <c:f>chart!$I$28</c:f>
              <c:strCache>
                <c:ptCount val="1"/>
                <c:pt idx="0">
                  <c:v>Taxa International de pobreza (Eixo Esq)</c:v>
                </c:pt>
              </c:strCache>
            </c:strRef>
          </c:tx>
          <c:spPr>
            <a:ln w="25400" cap="rnd">
              <a:solidFill>
                <a:srgbClr val="7A6563"/>
              </a:solidFill>
              <a:round/>
            </a:ln>
            <a:effectLst/>
          </c:spPr>
          <c:marker>
            <c:symbol val="none"/>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chart!$AO$4:$AO$20</c:f>
              <c:numCache>
                <c:formatCode>General</c:formatCode>
                <c:ptCount val="17"/>
                <c:pt idx="0">
                  <c:v>#N/A</c:v>
                </c:pt>
                <c:pt idx="1">
                  <c:v>#N/A</c:v>
                </c:pt>
                <c:pt idx="2">
                  <c:v>#N/A</c:v>
                </c:pt>
                <c:pt idx="3">
                  <c:v>69.65290274427916</c:v>
                </c:pt>
                <c:pt idx="4">
                  <c:v>#N/A</c:v>
                </c:pt>
                <c:pt idx="5">
                  <c:v>#N/A</c:v>
                </c:pt>
                <c:pt idx="6">
                  <c:v>#N/A</c:v>
                </c:pt>
                <c:pt idx="7">
                  <c:v>#N/A</c:v>
                </c:pt>
                <c:pt idx="8">
                  <c:v>#N/A</c:v>
                </c:pt>
                <c:pt idx="9">
                  <c:v>63.680985966479739</c:v>
                </c:pt>
                <c:pt idx="10">
                  <c:v>#N/A</c:v>
                </c:pt>
                <c:pt idx="11">
                  <c:v>#N/A</c:v>
                </c:pt>
                <c:pt idx="12">
                  <c:v>#N/A</c:v>
                </c:pt>
                <c:pt idx="13">
                  <c:v>#N/A</c:v>
                </c:pt>
                <c:pt idx="14">
                  <c:v>#N/A</c:v>
                </c:pt>
                <c:pt idx="15">
                  <c:v>#N/A</c:v>
                </c:pt>
                <c:pt idx="16">
                  <c:v>#N/A</c:v>
                </c:pt>
              </c:numCache>
            </c:numRef>
          </c:val>
          <c:smooth val="1"/>
          <c:extLst>
            <c:ext xmlns:c16="http://schemas.microsoft.com/office/drawing/2014/chart" uri="{C3380CC4-5D6E-409C-BE32-E72D297353CC}">
              <c16:uniqueId val="{00000000-640A-45DA-9777-4CBE0359EE15}"/>
            </c:ext>
          </c:extLst>
        </c:ser>
        <c:ser>
          <c:idx val="7"/>
          <c:order val="1"/>
          <c:tx>
            <c:strRef>
              <c:f>chart!$K$28</c:f>
              <c:strCache>
                <c:ptCount val="1"/>
                <c:pt idx="0">
                  <c:v>Upper middle-income pov. rate</c:v>
                </c:pt>
              </c:strCache>
            </c:strRef>
          </c:tx>
          <c:spPr>
            <a:ln w="25400" cap="rnd">
              <a:solidFill>
                <a:srgbClr val="CACAAA"/>
              </a:solidFill>
              <a:round/>
            </a:ln>
            <a:effectLst/>
          </c:spPr>
          <c:marker>
            <c:symbol val="circle"/>
            <c:size val="5"/>
            <c:spPr>
              <a:solidFill>
                <a:srgbClr val="CACAAA"/>
              </a:solidFill>
              <a:ln w="12700">
                <a:solidFill>
                  <a:srgbClr val="CACAAA"/>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chart!$AQ$4:$AQ$23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1"/>
          <c:extLst>
            <c:ext xmlns:c16="http://schemas.microsoft.com/office/drawing/2014/chart" uri="{C3380CC4-5D6E-409C-BE32-E72D297353CC}">
              <c16:uniqueId val="{00000001-640A-45DA-9777-4CBE0359EE15}"/>
            </c:ext>
          </c:extLst>
        </c:ser>
        <c:ser>
          <c:idx val="11"/>
          <c:order val="3"/>
          <c:tx>
            <c:strRef>
              <c:f>chart!$BK$3</c:f>
              <c:strCache>
                <c:ptCount val="1"/>
                <c:pt idx="0">
                  <c:v>IPR0*</c:v>
                </c:pt>
              </c:strCache>
            </c:strRef>
          </c:tx>
          <c:spPr>
            <a:ln w="25400" cap="rnd">
              <a:solidFill>
                <a:srgbClr val="7A6563"/>
              </a:solidFill>
              <a:prstDash val="solid"/>
              <a:round/>
            </a:ln>
            <a:effectLst/>
          </c:spPr>
          <c:marker>
            <c:symbol val="none"/>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chart!$BK$4:$BK$20</c:f>
              <c:numCache>
                <c:formatCode>General</c:formatCode>
                <c:ptCount val="17"/>
                <c:pt idx="0">
                  <c:v>#N/A</c:v>
                </c:pt>
                <c:pt idx="1">
                  <c:v>#N/A</c:v>
                </c:pt>
                <c:pt idx="2">
                  <c:v>#N/A</c:v>
                </c:pt>
                <c:pt idx="3">
                  <c:v>#N/A</c:v>
                </c:pt>
                <c:pt idx="4">
                  <c:v>#N/A</c:v>
                </c:pt>
                <c:pt idx="5">
                  <c:v>#N/A</c:v>
                </c:pt>
                <c:pt idx="6">
                  <c:v>#N/A</c:v>
                </c:pt>
                <c:pt idx="7">
                  <c:v>#N/A</c:v>
                </c:pt>
                <c:pt idx="8">
                  <c:v>#N/A</c:v>
                </c:pt>
                <c:pt idx="9">
                  <c:v>63.680985966479739</c:v>
                </c:pt>
                <c:pt idx="10">
                  <c:v>62.419725833929739</c:v>
                </c:pt>
                <c:pt idx="11">
                  <c:v>62.116122417403098</c:v>
                </c:pt>
                <c:pt idx="12">
                  <c:v>61.801116062157107</c:v>
                </c:pt>
                <c:pt idx="13">
                  <c:v>61.646681282770558</c:v>
                </c:pt>
                <c:pt idx="14">
                  <c:v>61.85320075671347</c:v>
                </c:pt>
                <c:pt idx="15">
                  <c:v>63.266051265540213</c:v>
                </c:pt>
                <c:pt idx="16">
                  <c:v>63.514261170090229</c:v>
                </c:pt>
              </c:numCache>
            </c:numRef>
          </c:val>
          <c:smooth val="1"/>
          <c:extLst>
            <c:ext xmlns:c16="http://schemas.microsoft.com/office/drawing/2014/chart" uri="{C3380CC4-5D6E-409C-BE32-E72D297353CC}">
              <c16:uniqueId val="{00000002-640A-45DA-9777-4CBE0359EE15}"/>
            </c:ext>
          </c:extLst>
        </c:ser>
        <c:ser>
          <c:idx val="1"/>
          <c:order val="5"/>
          <c:tx>
            <c:strRef>
              <c:f>chart!$BM$3</c:f>
              <c:strCache>
                <c:ptCount val="1"/>
                <c:pt idx="0">
                  <c:v>UMPR0*</c:v>
                </c:pt>
              </c:strCache>
            </c:strRef>
          </c:tx>
          <c:spPr>
            <a:ln w="25400" cap="rnd">
              <a:solidFill>
                <a:srgbClr val="CACAAA"/>
              </a:solidFill>
              <a:prstDash val="sysDot"/>
              <a:round/>
            </a:ln>
            <a:effectLst/>
          </c:spPr>
          <c:marker>
            <c:symbol val="circle"/>
            <c:size val="5"/>
            <c:spPr>
              <a:solidFill>
                <a:srgbClr val="CACAAA"/>
              </a:solidFill>
              <a:ln w="12700">
                <a:solidFill>
                  <a:srgbClr val="CACAAA"/>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chart!$BM$4:$BM$23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1"/>
          <c:extLst>
            <c:ext xmlns:c16="http://schemas.microsoft.com/office/drawing/2014/chart" uri="{C3380CC4-5D6E-409C-BE32-E72D297353CC}">
              <c16:uniqueId val="{00000003-640A-45DA-9777-4CBE0359EE15}"/>
            </c:ext>
          </c:extLst>
        </c:ser>
        <c:ser>
          <c:idx val="2"/>
          <c:order val="6"/>
          <c:tx>
            <c:strRef>
              <c:f>chart!$AR$3</c:f>
              <c:strCache>
                <c:ptCount val="1"/>
                <c:pt idx="0">
                  <c:v>IPL1</c:v>
                </c:pt>
              </c:strCache>
            </c:strRef>
          </c:tx>
          <c:spPr>
            <a:ln w="25400" cap="rnd">
              <a:solidFill>
                <a:schemeClr val="accent3"/>
              </a:solidFill>
              <a:round/>
            </a:ln>
            <a:effectLst/>
          </c:spPr>
          <c:marker>
            <c:symbol val="circle"/>
            <c:size val="5"/>
            <c:spPr>
              <a:solidFill>
                <a:srgbClr val="7A6563"/>
              </a:solidFill>
              <a:ln w="12700">
                <a:solidFill>
                  <a:schemeClr val="accent3"/>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chart!$AR$4:$AR$23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4-640A-45DA-9777-4CBE0359EE15}"/>
            </c:ext>
          </c:extLst>
        </c:ser>
        <c:ser>
          <c:idx val="4"/>
          <c:order val="7"/>
          <c:tx>
            <c:strRef>
              <c:f>chart!$AS$3</c:f>
              <c:strCache>
                <c:ptCount val="1"/>
                <c:pt idx="0">
                  <c:v>LMIC1</c:v>
                </c:pt>
              </c:strCache>
            </c:strRef>
          </c:tx>
          <c:spPr>
            <a:ln w="25400" cap="rnd">
              <a:solidFill>
                <a:schemeClr val="accent2"/>
              </a:solidFill>
              <a:round/>
            </a:ln>
            <a:effectLst/>
          </c:spPr>
          <c:marker>
            <c:symbol val="none"/>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chart!$AS$4:$AS$23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5-640A-45DA-9777-4CBE0359EE15}"/>
            </c:ext>
          </c:extLst>
        </c:ser>
        <c:ser>
          <c:idx val="5"/>
          <c:order val="8"/>
          <c:tx>
            <c:strRef>
              <c:f>chart!$AT$3</c:f>
              <c:strCache>
                <c:ptCount val="1"/>
                <c:pt idx="0">
                  <c:v>UMIC1</c:v>
                </c:pt>
              </c:strCache>
            </c:strRef>
          </c:tx>
          <c:spPr>
            <a:ln w="25400" cap="rnd">
              <a:solidFill>
                <a:srgbClr val="CACAAA"/>
              </a:solidFill>
              <a:round/>
            </a:ln>
            <a:effectLst/>
          </c:spPr>
          <c:marker>
            <c:symbol val="circle"/>
            <c:size val="5"/>
            <c:spPr>
              <a:solidFill>
                <a:srgbClr val="CACAAA"/>
              </a:solidFill>
              <a:ln w="12700">
                <a:solidFill>
                  <a:srgbClr val="CACAAA"/>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chart!$AT$4:$AT$23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6-640A-45DA-9777-4CBE0359EE15}"/>
            </c:ext>
          </c:extLst>
        </c:ser>
        <c:ser>
          <c:idx val="10"/>
          <c:order val="9"/>
          <c:tx>
            <c:strRef>
              <c:f>chart!$AU$3</c:f>
              <c:strCache>
                <c:ptCount val="1"/>
                <c:pt idx="0">
                  <c:v>IPL2</c:v>
                </c:pt>
              </c:strCache>
            </c:strRef>
          </c:tx>
          <c:spPr>
            <a:ln w="25400" cap="rnd">
              <a:solidFill>
                <a:srgbClr val="7A6563"/>
              </a:solidFill>
              <a:round/>
            </a:ln>
            <a:effectLst/>
          </c:spPr>
          <c:marker>
            <c:symbol val="circle"/>
            <c:size val="5"/>
            <c:spPr>
              <a:solidFill>
                <a:srgbClr val="7A6563"/>
              </a:solidFill>
              <a:ln w="12700">
                <a:solidFill>
                  <a:srgbClr val="7A6563"/>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chart!$AU$4:$AU$23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7-640A-45DA-9777-4CBE0359EE15}"/>
            </c:ext>
          </c:extLst>
        </c:ser>
        <c:ser>
          <c:idx val="12"/>
          <c:order val="10"/>
          <c:tx>
            <c:strRef>
              <c:f>chart!$AV$3</c:f>
              <c:strCache>
                <c:ptCount val="1"/>
                <c:pt idx="0">
                  <c:v>LMIC2</c:v>
                </c:pt>
              </c:strCache>
            </c:strRef>
          </c:tx>
          <c:spPr>
            <a:ln w="25400" cap="rnd">
              <a:solidFill>
                <a:srgbClr val="DE6E4B"/>
              </a:solidFill>
              <a:round/>
            </a:ln>
            <a:effectLst/>
          </c:spPr>
          <c:marker>
            <c:symbol val="circle"/>
            <c:size val="5"/>
            <c:spPr>
              <a:solidFill>
                <a:srgbClr val="DE6E4B"/>
              </a:solidFill>
              <a:ln w="12700">
                <a:solidFill>
                  <a:srgbClr val="DE6E4B"/>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chart!$AV$4:$AV$23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8-640A-45DA-9777-4CBE0359EE15}"/>
            </c:ext>
          </c:extLst>
        </c:ser>
        <c:ser>
          <c:idx val="13"/>
          <c:order val="11"/>
          <c:tx>
            <c:strRef>
              <c:f>chart!$AW$3</c:f>
              <c:strCache>
                <c:ptCount val="1"/>
                <c:pt idx="0">
                  <c:v>UMIC2</c:v>
                </c:pt>
              </c:strCache>
            </c:strRef>
          </c:tx>
          <c:spPr>
            <a:ln w="25400" cap="rnd">
              <a:solidFill>
                <a:schemeClr val="accent4"/>
              </a:solidFill>
              <a:round/>
            </a:ln>
            <a:effectLst/>
          </c:spPr>
          <c:marker>
            <c:symbol val="circle"/>
            <c:size val="5"/>
            <c:spPr>
              <a:solidFill>
                <a:srgbClr val="CACAAA"/>
              </a:solidFill>
              <a:ln w="12700">
                <a:solidFill>
                  <a:srgbClr val="CACAAA"/>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chart!$AW$4:$AW$23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9-640A-45DA-9777-4CBE0359EE15}"/>
            </c:ext>
          </c:extLst>
        </c:ser>
        <c:ser>
          <c:idx val="14"/>
          <c:order val="12"/>
          <c:tx>
            <c:strRef>
              <c:f>chart!$AX$3</c:f>
              <c:strCache>
                <c:ptCount val="1"/>
                <c:pt idx="0">
                  <c:v>IPL3</c:v>
                </c:pt>
              </c:strCache>
            </c:strRef>
          </c:tx>
          <c:spPr>
            <a:ln w="25400" cap="rnd">
              <a:solidFill>
                <a:srgbClr val="7A6563"/>
              </a:solidFill>
              <a:round/>
            </a:ln>
            <a:effectLst/>
          </c:spPr>
          <c:marker>
            <c:symbol val="circle"/>
            <c:size val="5"/>
            <c:spPr>
              <a:solidFill>
                <a:srgbClr val="7A6563"/>
              </a:solidFill>
              <a:ln w="12700">
                <a:solidFill>
                  <a:srgbClr val="7A6563"/>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chart!$AX$4:$AX$23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A-640A-45DA-9777-4CBE0359EE15}"/>
            </c:ext>
          </c:extLst>
        </c:ser>
        <c:ser>
          <c:idx val="15"/>
          <c:order val="13"/>
          <c:tx>
            <c:strRef>
              <c:f>chart!$AY$3</c:f>
              <c:strCache>
                <c:ptCount val="1"/>
                <c:pt idx="0">
                  <c:v>LMIC3</c:v>
                </c:pt>
              </c:strCache>
            </c:strRef>
          </c:tx>
          <c:spPr>
            <a:ln w="25400" cap="rnd">
              <a:solidFill>
                <a:srgbClr val="DE6E4B"/>
              </a:solidFill>
              <a:round/>
            </a:ln>
            <a:effectLst/>
          </c:spPr>
          <c:marker>
            <c:symbol val="circle"/>
            <c:size val="5"/>
            <c:spPr>
              <a:solidFill>
                <a:srgbClr val="DE6E4B"/>
              </a:solidFill>
              <a:ln w="12700">
                <a:solidFill>
                  <a:srgbClr val="DE6E4B"/>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chart!$AY$4:$AY$23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B-640A-45DA-9777-4CBE0359EE15}"/>
            </c:ext>
          </c:extLst>
        </c:ser>
        <c:ser>
          <c:idx val="16"/>
          <c:order val="14"/>
          <c:tx>
            <c:strRef>
              <c:f>chart!$AZ$3</c:f>
              <c:strCache>
                <c:ptCount val="1"/>
                <c:pt idx="0">
                  <c:v>UMIC3</c:v>
                </c:pt>
              </c:strCache>
            </c:strRef>
          </c:tx>
          <c:spPr>
            <a:ln w="25400" cap="rnd">
              <a:solidFill>
                <a:schemeClr val="accent4"/>
              </a:solidFill>
              <a:round/>
            </a:ln>
            <a:effectLst/>
          </c:spPr>
          <c:marker>
            <c:symbol val="circle"/>
            <c:size val="5"/>
            <c:spPr>
              <a:solidFill>
                <a:schemeClr val="accent4"/>
              </a:solidFill>
              <a:ln w="12700">
                <a:solidFill>
                  <a:schemeClr val="accent4"/>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chart!$AZ$4:$AZ$23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C-640A-45DA-9777-4CBE0359EE15}"/>
            </c:ext>
          </c:extLst>
        </c:ser>
        <c:ser>
          <c:idx val="17"/>
          <c:order val="15"/>
          <c:tx>
            <c:strRef>
              <c:f>chart!$BA$3</c:f>
              <c:strCache>
                <c:ptCount val="1"/>
                <c:pt idx="0">
                  <c:v>IPL4</c:v>
                </c:pt>
              </c:strCache>
            </c:strRef>
          </c:tx>
          <c:spPr>
            <a:ln w="25400" cap="rnd">
              <a:solidFill>
                <a:srgbClr val="7A6563"/>
              </a:solidFill>
              <a:round/>
            </a:ln>
            <a:effectLst/>
          </c:spPr>
          <c:marker>
            <c:symbol val="circle"/>
            <c:size val="5"/>
            <c:spPr>
              <a:solidFill>
                <a:srgbClr val="7A6563"/>
              </a:solidFill>
              <a:ln w="12700">
                <a:solidFill>
                  <a:srgbClr val="7A6563"/>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chart!$BA$4:$BA$23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D-640A-45DA-9777-4CBE0359EE15}"/>
            </c:ext>
          </c:extLst>
        </c:ser>
        <c:ser>
          <c:idx val="18"/>
          <c:order val="16"/>
          <c:tx>
            <c:strRef>
              <c:f>chart!$BB$3</c:f>
              <c:strCache>
                <c:ptCount val="1"/>
                <c:pt idx="0">
                  <c:v>LMIC4</c:v>
                </c:pt>
              </c:strCache>
            </c:strRef>
          </c:tx>
          <c:spPr>
            <a:ln w="25400" cap="rnd">
              <a:solidFill>
                <a:srgbClr val="DE6E4B"/>
              </a:solidFill>
              <a:round/>
            </a:ln>
            <a:effectLst/>
          </c:spPr>
          <c:marker>
            <c:symbol val="circle"/>
            <c:size val="5"/>
            <c:spPr>
              <a:solidFill>
                <a:schemeClr val="accent2">
                  <a:alpha val="99000"/>
                </a:schemeClr>
              </a:solidFill>
              <a:ln w="12700">
                <a:solidFill>
                  <a:srgbClr val="DE6E4B"/>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chart!$BB$4:$BB$23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E-640A-45DA-9777-4CBE0359EE15}"/>
            </c:ext>
          </c:extLst>
        </c:ser>
        <c:ser>
          <c:idx val="19"/>
          <c:order val="17"/>
          <c:tx>
            <c:strRef>
              <c:f>chart!$BC$3</c:f>
              <c:strCache>
                <c:ptCount val="1"/>
                <c:pt idx="0">
                  <c:v>UMIC4</c:v>
                </c:pt>
              </c:strCache>
            </c:strRef>
          </c:tx>
          <c:spPr>
            <a:ln w="25400" cap="rnd">
              <a:solidFill>
                <a:srgbClr val="CACAAA"/>
              </a:solidFill>
              <a:round/>
            </a:ln>
            <a:effectLst/>
          </c:spPr>
          <c:marker>
            <c:symbol val="circle"/>
            <c:size val="5"/>
            <c:spPr>
              <a:solidFill>
                <a:schemeClr val="accent4"/>
              </a:solidFill>
              <a:ln w="12700">
                <a:solidFill>
                  <a:schemeClr val="accent4"/>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chart!$BC$4:$BC$23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F-640A-45DA-9777-4CBE0359EE15}"/>
            </c:ext>
          </c:extLst>
        </c:ser>
        <c:ser>
          <c:idx val="20"/>
          <c:order val="18"/>
          <c:tx>
            <c:strRef>
              <c:f>chart!$BD$3</c:f>
              <c:strCache>
                <c:ptCount val="1"/>
                <c:pt idx="0">
                  <c:v>IPL5</c:v>
                </c:pt>
              </c:strCache>
            </c:strRef>
          </c:tx>
          <c:spPr>
            <a:ln w="25400" cap="rnd">
              <a:solidFill>
                <a:srgbClr val="7A6563"/>
              </a:solidFill>
              <a:round/>
            </a:ln>
            <a:effectLst/>
          </c:spPr>
          <c:marker>
            <c:symbol val="circle"/>
            <c:size val="5"/>
            <c:spPr>
              <a:solidFill>
                <a:srgbClr val="7A6563"/>
              </a:solidFill>
              <a:ln w="12700">
                <a:solidFill>
                  <a:srgbClr val="7A6563"/>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chart!$BD$4:$BD$23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10-640A-45DA-9777-4CBE0359EE15}"/>
            </c:ext>
          </c:extLst>
        </c:ser>
        <c:ser>
          <c:idx val="21"/>
          <c:order val="19"/>
          <c:tx>
            <c:strRef>
              <c:f>chart!$BE$3</c:f>
              <c:strCache>
                <c:ptCount val="1"/>
                <c:pt idx="0">
                  <c:v>LMIC5</c:v>
                </c:pt>
              </c:strCache>
            </c:strRef>
          </c:tx>
          <c:spPr>
            <a:ln w="25400" cap="rnd">
              <a:solidFill>
                <a:srgbClr val="DE6E4B"/>
              </a:solidFill>
              <a:round/>
            </a:ln>
            <a:effectLst/>
          </c:spPr>
          <c:marker>
            <c:symbol val="circle"/>
            <c:size val="5"/>
            <c:spPr>
              <a:solidFill>
                <a:schemeClr val="accent2"/>
              </a:solidFill>
              <a:ln w="12700">
                <a:solidFill>
                  <a:srgbClr val="DE6E4B"/>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chart!$BE$4:$BE$23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11-640A-45DA-9777-4CBE0359EE15}"/>
            </c:ext>
          </c:extLst>
        </c:ser>
        <c:ser>
          <c:idx val="22"/>
          <c:order val="20"/>
          <c:tx>
            <c:strRef>
              <c:f>chart!$BF$3</c:f>
              <c:strCache>
                <c:ptCount val="1"/>
                <c:pt idx="0">
                  <c:v>UMIC5</c:v>
                </c:pt>
              </c:strCache>
            </c:strRef>
          </c:tx>
          <c:spPr>
            <a:ln w="25400" cap="rnd">
              <a:solidFill>
                <a:srgbClr val="CACAAA"/>
              </a:solidFill>
              <a:round/>
            </a:ln>
            <a:effectLst/>
          </c:spPr>
          <c:marker>
            <c:symbol val="circle"/>
            <c:size val="5"/>
            <c:spPr>
              <a:solidFill>
                <a:srgbClr val="CACAAA"/>
              </a:solidFill>
              <a:ln w="12700">
                <a:solidFill>
                  <a:schemeClr val="accent4"/>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chart!$BF$4:$BF$23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12-640A-45DA-9777-4CBE0359EE15}"/>
            </c:ext>
          </c:extLst>
        </c:ser>
        <c:dLbls>
          <c:showLegendKey val="0"/>
          <c:showVal val="0"/>
          <c:showCatName val="0"/>
          <c:showSerName val="0"/>
          <c:showPercent val="0"/>
          <c:showBubbleSize val="0"/>
        </c:dLbls>
        <c:marker val="1"/>
        <c:smooth val="0"/>
        <c:axId val="347074904"/>
        <c:axId val="347075296"/>
      </c:lineChart>
      <c:lineChart>
        <c:grouping val="standard"/>
        <c:varyColors val="0"/>
        <c:ser>
          <c:idx val="9"/>
          <c:order val="4"/>
          <c:tx>
            <c:strRef>
              <c:f>chart!$F$3</c:f>
              <c:strCache>
                <c:ptCount val="1"/>
                <c:pt idx="0">
                  <c:v>Numero de Pobres (Eixo Dto)</c:v>
                </c:pt>
              </c:strCache>
            </c:strRef>
          </c:tx>
          <c:spPr>
            <a:ln w="28575" cap="rnd">
              <a:solidFill>
                <a:schemeClr val="accent4">
                  <a:lumMod val="60000"/>
                </a:schemeClr>
              </a:solidFill>
              <a:round/>
            </a:ln>
            <a:effectLst/>
          </c:spPr>
          <c:marker>
            <c:symbol val="none"/>
          </c:marker>
          <c:dPt>
            <c:idx val="0"/>
            <c:marker>
              <c:symbol val="none"/>
            </c:marker>
            <c:bubble3D val="0"/>
            <c:spPr>
              <a:ln w="28575" cap="rnd">
                <a:solidFill>
                  <a:srgbClr val="7A6563"/>
                </a:solidFill>
                <a:round/>
              </a:ln>
              <a:effectLst/>
            </c:spPr>
            <c:extLst>
              <c:ext xmlns:c16="http://schemas.microsoft.com/office/drawing/2014/chart" uri="{C3380CC4-5D6E-409C-BE32-E72D297353CC}">
                <c16:uniqueId val="{00000014-640A-45DA-9777-4CBE0359EE15}"/>
              </c:ext>
            </c:extLst>
          </c:dPt>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chart!$F$4:$F$20</c:f>
              <c:numCache>
                <c:formatCode>General</c:formatCode>
                <c:ptCount val="17"/>
                <c:pt idx="3">
                  <c:v>20000000</c:v>
                </c:pt>
                <c:pt idx="9">
                  <c:v>16739287.975513671</c:v>
                </c:pt>
                <c:pt idx="10">
                  <c:v>16879544.456932545</c:v>
                </c:pt>
                <c:pt idx="11">
                  <c:v>17286882.147430629</c:v>
                </c:pt>
                <c:pt idx="12">
                  <c:v>17705407.925265193</c:v>
                </c:pt>
                <c:pt idx="13">
                  <c:v>18183398.974682286</c:v>
                </c:pt>
                <c:pt idx="14">
                  <c:v>18798840.547084846</c:v>
                </c:pt>
                <c:pt idx="15">
                  <c:v>19735766.389045063</c:v>
                </c:pt>
                <c:pt idx="16">
                  <c:v>20328952.032127716</c:v>
                </c:pt>
              </c:numCache>
            </c:numRef>
          </c:val>
          <c:smooth val="1"/>
          <c:extLst>
            <c:ext xmlns:c16="http://schemas.microsoft.com/office/drawing/2014/chart" uri="{C3380CC4-5D6E-409C-BE32-E72D297353CC}">
              <c16:uniqueId val="{00000015-640A-45DA-9777-4CBE0359EE15}"/>
            </c:ext>
          </c:extLst>
        </c:ser>
        <c:ser>
          <c:idx val="23"/>
          <c:order val="21"/>
          <c:tx>
            <c:strRef>
              <c:f>chart!$BG$3</c:f>
              <c:strCache>
                <c:ptCount val="1"/>
                <c:pt idx="0">
                  <c:v>IPL6</c:v>
                </c:pt>
              </c:strCache>
            </c:strRef>
          </c:tx>
          <c:spPr>
            <a:ln w="28575" cap="rnd">
              <a:solidFill>
                <a:schemeClr val="accent6">
                  <a:lumMod val="80000"/>
                </a:schemeClr>
              </a:solidFill>
              <a:round/>
            </a:ln>
            <a:effectLst/>
          </c:spPr>
          <c:marker>
            <c:symbol val="circle"/>
            <c:size val="5"/>
            <c:spPr>
              <a:solidFill>
                <a:schemeClr val="accent6">
                  <a:lumMod val="80000"/>
                </a:schemeClr>
              </a:solidFill>
              <a:ln w="9525">
                <a:solidFill>
                  <a:schemeClr val="accent6">
                    <a:lumMod val="80000"/>
                  </a:schemeClr>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chart!$BG$4:$BG$23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16-640A-45DA-9777-4CBE0359EE15}"/>
            </c:ext>
          </c:extLst>
        </c:ser>
        <c:ser>
          <c:idx val="24"/>
          <c:order val="22"/>
          <c:tx>
            <c:strRef>
              <c:f>chart!$BH$3</c:f>
              <c:strCache>
                <c:ptCount val="1"/>
                <c:pt idx="0">
                  <c:v>LMIC6</c:v>
                </c:pt>
              </c:strCache>
            </c:strRef>
          </c:tx>
          <c:spPr>
            <a:ln w="28575" cap="rnd">
              <a:solidFill>
                <a:schemeClr val="accent1">
                  <a:lumMod val="60000"/>
                  <a:lumOff val="40000"/>
                </a:schemeClr>
              </a:solidFill>
              <a:round/>
            </a:ln>
            <a:effectLst/>
          </c:spPr>
          <c:marker>
            <c:symbol val="circle"/>
            <c:size val="5"/>
            <c:spPr>
              <a:solidFill>
                <a:schemeClr val="accent1">
                  <a:lumMod val="60000"/>
                  <a:lumOff val="40000"/>
                </a:schemeClr>
              </a:solidFill>
              <a:ln w="9525">
                <a:solidFill>
                  <a:schemeClr val="accent1">
                    <a:lumMod val="60000"/>
                    <a:lumOff val="40000"/>
                  </a:schemeClr>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chart!$BH$4:$BH$23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17-640A-45DA-9777-4CBE0359EE15}"/>
            </c:ext>
          </c:extLst>
        </c:ser>
        <c:ser>
          <c:idx val="25"/>
          <c:order val="23"/>
          <c:tx>
            <c:strRef>
              <c:f>chart!$BI$3</c:f>
              <c:strCache>
                <c:ptCount val="1"/>
                <c:pt idx="0">
                  <c:v>UMIC6</c:v>
                </c:pt>
              </c:strCache>
            </c:strRef>
          </c:tx>
          <c:spPr>
            <a:ln w="28575" cap="rnd">
              <a:solidFill>
                <a:schemeClr val="accent2">
                  <a:lumMod val="60000"/>
                  <a:lumOff val="40000"/>
                </a:schemeClr>
              </a:solidFill>
              <a:round/>
            </a:ln>
            <a:effectLst/>
          </c:spPr>
          <c:marker>
            <c:symbol val="circle"/>
            <c:size val="5"/>
            <c:spPr>
              <a:solidFill>
                <a:schemeClr val="accent2">
                  <a:lumMod val="60000"/>
                  <a:lumOff val="40000"/>
                </a:schemeClr>
              </a:solidFill>
              <a:ln w="9525">
                <a:solidFill>
                  <a:schemeClr val="accent2">
                    <a:lumMod val="60000"/>
                    <a:lumOff val="40000"/>
                  </a:schemeClr>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chart!$BI$4:$BI$23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18-640A-45DA-9777-4CBE0359EE15}"/>
            </c:ext>
          </c:extLst>
        </c:ser>
        <c:dLbls>
          <c:showLegendKey val="0"/>
          <c:showVal val="0"/>
          <c:showCatName val="0"/>
          <c:showSerName val="0"/>
          <c:showPercent val="0"/>
          <c:showBubbleSize val="0"/>
        </c:dLbls>
        <c:marker val="1"/>
        <c:smooth val="0"/>
        <c:axId val="347076080"/>
        <c:axId val="347075688"/>
        <c:extLst>
          <c:ext xmlns:c15="http://schemas.microsoft.com/office/drawing/2012/chart" uri="{02D57815-91ED-43cb-92C2-25804820EDAC}">
            <c15:filteredLineSeries>
              <c15:ser>
                <c:idx val="3"/>
                <c:order val="2"/>
                <c:tx>
                  <c:strRef>
                    <c:extLst>
                      <c:ext uri="{02D57815-91ED-43cb-92C2-25804820EDAC}">
                        <c15:formulaRef>
                          <c15:sqref>chart!$BJ$3</c15:sqref>
                        </c15:formulaRef>
                      </c:ext>
                    </c:extLst>
                    <c:strCache>
                      <c:ptCount val="1"/>
                      <c:pt idx="0">
                        <c:v>GDP pc</c:v>
                      </c:pt>
                    </c:strCache>
                  </c:strRef>
                </c:tx>
                <c:spPr>
                  <a:ln w="25400" cap="rnd">
                    <a:solidFill>
                      <a:srgbClr val="7FD1B9">
                        <a:alpha val="93000"/>
                      </a:srgbClr>
                    </a:solidFill>
                    <a:prstDash val="sysDot"/>
                    <a:round/>
                  </a:ln>
                  <a:effectLst/>
                </c:spPr>
                <c:marker>
                  <c:symbol val="circle"/>
                  <c:size val="5"/>
                  <c:spPr>
                    <a:solidFill>
                      <a:srgbClr val="7FD1B9"/>
                    </a:solidFill>
                    <a:ln w="12700">
                      <a:solidFill>
                        <a:srgbClr val="7FD1B9"/>
                      </a:solidFill>
                      <a:prstDash val="solid"/>
                    </a:ln>
                    <a:effectLst/>
                  </c:spPr>
                </c:marker>
                <c:cat>
                  <c:numRef>
                    <c:extLst>
                      <c:ext uri="{02D57815-91ED-43cb-92C2-25804820EDAC}">
                        <c15:formulaRef>
                          <c15:sqref>chart!$AM$4:$AM$20</c15:sqref>
                        </c15:formulaRef>
                      </c:ext>
                    </c:extLst>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extLst>
                      <c:ext uri="{02D57815-91ED-43cb-92C2-25804820EDAC}">
                        <c15:formulaRef>
                          <c15:sqref>chart!$BJ$4:$BJ$20</c15:sqref>
                        </c15:formulaRef>
                      </c:ext>
                    </c:extLst>
                    <c:numCache>
                      <c:formatCode>General</c:formatCode>
                      <c:ptCount val="17"/>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21213.024724533054</c:v>
                      </c:pt>
                    </c:numCache>
                  </c:numRef>
                </c:val>
                <c:smooth val="1"/>
                <c:extLst>
                  <c:ext xmlns:c16="http://schemas.microsoft.com/office/drawing/2014/chart" uri="{C3380CC4-5D6E-409C-BE32-E72D297353CC}">
                    <c16:uniqueId val="{00000019-640A-45DA-9777-4CBE0359EE15}"/>
                  </c:ext>
                </c:extLst>
              </c15:ser>
            </c15:filteredLineSeries>
          </c:ext>
        </c:extLst>
      </c:lineChart>
      <c:dateAx>
        <c:axId val="347074904"/>
        <c:scaling>
          <c:orientation val="minMax"/>
        </c:scaling>
        <c:delete val="0"/>
        <c:axPos val="b"/>
        <c:numFmt formatCode="0" sourceLinked="1"/>
        <c:majorTickMark val="out"/>
        <c:minorTickMark val="out"/>
        <c:tickLblPos val="low"/>
        <c:spPr>
          <a:noFill/>
          <a:ln w="12700" cap="flat" cmpd="sng" algn="ctr">
            <a:solidFill>
              <a:srgbClr val="CCCCCC"/>
            </a:solidFill>
            <a:round/>
          </a:ln>
          <a:effectLst/>
        </c:spPr>
        <c:txPr>
          <a:bodyPr rot="0" spcFirstLastPara="1" vertOverflow="ellipsis" wrap="square" anchor="ctr" anchorCtr="1"/>
          <a:lstStyle/>
          <a:p>
            <a:pPr>
              <a:defRPr lang="en-US" sz="800" b="0" i="0" u="none" strike="noStrike" kern="1200" baseline="0">
                <a:solidFill>
                  <a:sysClr val="windowText" lastClr="000000"/>
                </a:solidFill>
                <a:latin typeface="+mn-lt"/>
                <a:ea typeface="+mn-ea"/>
                <a:cs typeface="+mn-cs"/>
              </a:defRPr>
            </a:pPr>
            <a:endParaRPr lang="en-US"/>
          </a:p>
        </c:txPr>
        <c:crossAx val="347075296"/>
        <c:crosses val="autoZero"/>
        <c:auto val="0"/>
        <c:lblOffset val="100"/>
        <c:baseTimeUnit val="days"/>
      </c:dateAx>
      <c:valAx>
        <c:axId val="347075296"/>
        <c:scaling>
          <c:orientation val="minMax"/>
        </c:scaling>
        <c:delete val="0"/>
        <c:axPos val="l"/>
        <c:title>
          <c:tx>
            <c:rich>
              <a:bodyPr rot="-5400000" spcFirstLastPara="1" vertOverflow="ellipsis" vert="horz" wrap="square" anchor="ctr" anchorCtr="1"/>
              <a:lstStyle/>
              <a:p>
                <a:pPr>
                  <a:defRPr lang="en-US" sz="800" b="0" i="0" u="none" strike="noStrike" kern="1200" baseline="0">
                    <a:solidFill>
                      <a:sysClr val="windowText" lastClr="000000"/>
                    </a:solidFill>
                    <a:latin typeface="+mn-lt"/>
                    <a:ea typeface="+mn-ea"/>
                    <a:cs typeface="+mn-cs"/>
                  </a:defRPr>
                </a:pPr>
                <a:r>
                  <a:rPr lang="en-US"/>
                  <a:t>Taxa de Pobreza (%)</a:t>
                </a:r>
              </a:p>
            </c:rich>
          </c:tx>
          <c:layout>
            <c:manualLayout>
              <c:xMode val="edge"/>
              <c:yMode val="edge"/>
              <c:x val="6.3636471116786065E-3"/>
              <c:y val="0.25779602162132836"/>
            </c:manualLayout>
          </c:layout>
          <c:overlay val="0"/>
          <c:spPr>
            <a:noFill/>
            <a:ln>
              <a:noFill/>
            </a:ln>
            <a:effectLst/>
          </c:spPr>
          <c:txPr>
            <a:bodyPr rot="-5400000" spcFirstLastPara="1" vertOverflow="ellipsis" vert="horz" wrap="square" anchor="ctr" anchorCtr="1"/>
            <a:lstStyle/>
            <a:p>
              <a:pPr>
                <a:defRPr lang="en-US" sz="800" b="0" i="0" u="none" strike="noStrike" kern="1200" baseline="0">
                  <a:solidFill>
                    <a:sysClr val="windowText" lastClr="000000"/>
                  </a:solidFill>
                  <a:latin typeface="+mn-lt"/>
                  <a:ea typeface="+mn-ea"/>
                  <a:cs typeface="+mn-cs"/>
                </a:defRPr>
              </a:pPr>
              <a:endParaRPr lang="en-US"/>
            </a:p>
          </c:txPr>
        </c:title>
        <c:numFmt formatCode="0" sourceLinked="0"/>
        <c:majorTickMark val="out"/>
        <c:minorTickMark val="none"/>
        <c:tickLblPos val="nextTo"/>
        <c:spPr>
          <a:noFill/>
          <a:ln w="12700">
            <a:solidFill>
              <a:srgbClr val="CCCCCC"/>
            </a:solidFill>
          </a:ln>
          <a:effectLst/>
        </c:spPr>
        <c:txPr>
          <a:bodyPr rot="-60000000" spcFirstLastPara="1" vertOverflow="ellipsis" vert="horz" wrap="square" anchor="ctr" anchorCtr="1"/>
          <a:lstStyle/>
          <a:p>
            <a:pPr>
              <a:defRPr lang="en-US" sz="800" b="0" i="0" u="none" strike="noStrike" kern="1200" baseline="0">
                <a:solidFill>
                  <a:sysClr val="windowText" lastClr="000000"/>
                </a:solidFill>
                <a:latin typeface="+mn-lt"/>
                <a:ea typeface="+mn-ea"/>
                <a:cs typeface="+mn-cs"/>
              </a:defRPr>
            </a:pPr>
            <a:endParaRPr lang="en-US"/>
          </a:p>
        </c:txPr>
        <c:crossAx val="347074904"/>
        <c:crosses val="autoZero"/>
        <c:crossBetween val="between"/>
      </c:valAx>
      <c:valAx>
        <c:axId val="347075688"/>
        <c:scaling>
          <c:orientation val="minMax"/>
        </c:scaling>
        <c:delete val="0"/>
        <c:axPos val="r"/>
        <c:title>
          <c:tx>
            <c:rich>
              <a:bodyPr rot="-5400000" spcFirstLastPara="1" vertOverflow="ellipsis" vert="horz" wrap="square" anchor="ctr" anchorCtr="1"/>
              <a:lstStyle/>
              <a:p>
                <a:pPr>
                  <a:defRPr lang="en-US" sz="800" b="0" i="0" u="none" strike="noStrike" kern="1200" baseline="0">
                    <a:solidFill>
                      <a:sysClr val="windowText" lastClr="000000"/>
                    </a:solidFill>
                    <a:latin typeface="+mn-lt"/>
                    <a:ea typeface="+mn-ea"/>
                    <a:cs typeface="+mn-cs"/>
                  </a:defRPr>
                </a:pPr>
                <a:r>
                  <a:rPr lang="en-US" dirty="0" err="1"/>
                  <a:t>Número</a:t>
                </a:r>
                <a:r>
                  <a:rPr lang="en-US" dirty="0"/>
                  <a:t> de </a:t>
                </a:r>
                <a:r>
                  <a:rPr lang="en-US" dirty="0" err="1"/>
                  <a:t>pobres</a:t>
                </a:r>
                <a:r>
                  <a:rPr lang="en-US" dirty="0"/>
                  <a:t> 
</a:t>
                </a:r>
              </a:p>
            </c:rich>
          </c:tx>
          <c:layout>
            <c:manualLayout>
              <c:xMode val="edge"/>
              <c:yMode val="edge"/>
              <c:x val="0.91475491239270756"/>
              <c:y val="0.24633427604495176"/>
            </c:manualLayout>
          </c:layout>
          <c:overlay val="0"/>
          <c:spPr>
            <a:noFill/>
            <a:ln>
              <a:noFill/>
            </a:ln>
            <a:effectLst/>
          </c:spPr>
          <c:txPr>
            <a:bodyPr rot="-5400000" spcFirstLastPara="1" vertOverflow="ellipsis" vert="horz" wrap="square" anchor="ctr" anchorCtr="1"/>
            <a:lstStyle/>
            <a:p>
              <a:pPr>
                <a:defRPr lang="en-US" sz="800" b="0" i="0" u="none" strike="noStrike" kern="1200" baseline="0">
                  <a:solidFill>
                    <a:sysClr val="windowText" lastClr="000000"/>
                  </a:solidFill>
                  <a:latin typeface="+mn-lt"/>
                  <a:ea typeface="+mn-ea"/>
                  <a:cs typeface="+mn-cs"/>
                </a:defRPr>
              </a:pPr>
              <a:endParaRPr lang="en-US"/>
            </a:p>
          </c:txPr>
        </c:title>
        <c:numFmt formatCode="#,##0" sourceLinked="0"/>
        <c:majorTickMark val="out"/>
        <c:minorTickMark val="none"/>
        <c:tickLblPos val="nextTo"/>
        <c:spPr>
          <a:noFill/>
          <a:ln w="12700">
            <a:solidFill>
              <a:srgbClr val="CCCCCC"/>
            </a:solidFill>
          </a:ln>
          <a:effectLst/>
        </c:spPr>
        <c:txPr>
          <a:bodyPr rot="-60000000" spcFirstLastPara="1" vertOverflow="ellipsis" vert="horz" wrap="square" anchor="ctr" anchorCtr="1"/>
          <a:lstStyle/>
          <a:p>
            <a:pPr>
              <a:defRPr lang="en-US" sz="800" b="0" i="0" u="none" strike="noStrike" kern="1200" baseline="0">
                <a:solidFill>
                  <a:sysClr val="windowText" lastClr="000000"/>
                </a:solidFill>
                <a:latin typeface="+mn-lt"/>
                <a:ea typeface="+mn-ea"/>
                <a:cs typeface="+mn-cs"/>
              </a:defRPr>
            </a:pPr>
            <a:endParaRPr lang="en-US"/>
          </a:p>
        </c:txPr>
        <c:crossAx val="347076080"/>
        <c:crosses val="max"/>
        <c:crossBetween val="between"/>
        <c:dispUnits>
          <c:builtInUnit val="millions"/>
          <c:dispUnitsLbl>
            <c:layout>
              <c:manualLayout>
                <c:xMode val="edge"/>
                <c:yMode val="edge"/>
                <c:x val="0.87551902295996786"/>
                <c:y val="0.36789829565877907"/>
              </c:manualLayout>
            </c:layout>
            <c:spPr>
              <a:noFill/>
              <a:ln>
                <a:noFill/>
              </a:ln>
              <a:effectLst/>
            </c:spPr>
            <c:txPr>
              <a:bodyPr rot="-5400000" spcFirstLastPara="1" vertOverflow="ellipsis" vert="horz" wrap="square" anchor="ctr" anchorCtr="1"/>
              <a:lstStyle/>
              <a:p>
                <a:pPr>
                  <a:defRPr lang="en-US" sz="800" b="0" i="0" u="none" strike="noStrike" kern="1200" baseline="0" smtClean="0">
                    <a:solidFill>
                      <a:sysClr val="windowText" lastClr="000000"/>
                    </a:solidFill>
                    <a:latin typeface="+mn-lt"/>
                    <a:ea typeface="+mn-ea"/>
                    <a:cs typeface="+mn-cs"/>
                  </a:defRPr>
                </a:pPr>
                <a:endParaRPr lang="en-US"/>
              </a:p>
            </c:txPr>
          </c:dispUnitsLbl>
        </c:dispUnits>
      </c:valAx>
      <c:dateAx>
        <c:axId val="347076080"/>
        <c:scaling>
          <c:orientation val="minMax"/>
        </c:scaling>
        <c:delete val="1"/>
        <c:axPos val="b"/>
        <c:numFmt formatCode="0" sourceLinked="1"/>
        <c:majorTickMark val="out"/>
        <c:minorTickMark val="none"/>
        <c:tickLblPos val="nextTo"/>
        <c:crossAx val="347075688"/>
        <c:crosses val="autoZero"/>
        <c:auto val="0"/>
        <c:lblOffset val="100"/>
        <c:baseTimeUnit val="days"/>
      </c:dateAx>
      <c:spPr>
        <a:noFill/>
        <a:ln w="25400">
          <a:noFill/>
        </a:ln>
        <a:effectLst/>
      </c:spPr>
    </c:plotArea>
    <c:legend>
      <c:legendPos val="b"/>
      <c:legendEntry>
        <c:idx val="1"/>
        <c:delete val="1"/>
      </c:legendEntry>
      <c:legendEntry>
        <c:idx val="2"/>
        <c:delete val="1"/>
      </c:legendEntry>
      <c:legendEntry>
        <c:idx val="3"/>
        <c:delete val="1"/>
      </c:legendEntry>
      <c:legendEntry>
        <c:idx val="4"/>
        <c:delete val="1"/>
      </c:legendEntry>
      <c:legendEntry>
        <c:idx val="5"/>
        <c:delete val="1"/>
      </c:legendEntry>
      <c:legendEntry>
        <c:idx val="6"/>
        <c:delete val="1"/>
      </c:legendEntry>
      <c:legendEntry>
        <c:idx val="7"/>
        <c:delete val="1"/>
      </c:legendEntry>
      <c:legendEntry>
        <c:idx val="8"/>
        <c:delete val="1"/>
      </c:legendEntry>
      <c:legendEntry>
        <c:idx val="9"/>
        <c:delete val="1"/>
      </c:legendEntry>
      <c:legendEntry>
        <c:idx val="10"/>
        <c:delete val="1"/>
      </c:legendEntry>
      <c:legendEntry>
        <c:idx val="11"/>
        <c:delete val="1"/>
      </c:legendEntry>
      <c:legendEntry>
        <c:idx val="12"/>
        <c:delete val="1"/>
      </c:legendEntry>
      <c:legendEntry>
        <c:idx val="13"/>
        <c:delete val="1"/>
      </c:legendEntry>
      <c:legendEntry>
        <c:idx val="14"/>
        <c:delete val="1"/>
      </c:legendEntry>
      <c:legendEntry>
        <c:idx val="15"/>
        <c:delete val="1"/>
      </c:legendEntry>
      <c:legendEntry>
        <c:idx val="16"/>
        <c:delete val="1"/>
      </c:legendEntry>
      <c:legendEntry>
        <c:idx val="17"/>
        <c:delete val="1"/>
      </c:legendEntry>
      <c:legendEntry>
        <c:idx val="18"/>
        <c:delete val="1"/>
      </c:legendEntry>
      <c:legendEntry>
        <c:idx val="20"/>
        <c:delete val="1"/>
      </c:legendEntry>
      <c:legendEntry>
        <c:idx val="21"/>
        <c:delete val="1"/>
      </c:legendEntry>
      <c:legendEntry>
        <c:idx val="22"/>
        <c:delete val="1"/>
      </c:legendEntry>
      <c:layout>
        <c:manualLayout>
          <c:xMode val="edge"/>
          <c:yMode val="edge"/>
          <c:x val="8.7589051368578939E-3"/>
          <c:y val="0.89981913318527473"/>
          <c:w val="0.98538595561786746"/>
          <c:h val="0.10018078803884993"/>
        </c:manualLayout>
      </c:layout>
      <c:overlay val="0"/>
      <c:spPr>
        <a:noFill/>
        <a:ln>
          <a:noFill/>
        </a:ln>
        <a:effectLst/>
      </c:spPr>
      <c:txPr>
        <a:bodyPr rot="0" spcFirstLastPara="1" vertOverflow="ellipsis" vert="horz" wrap="square" anchor="ctr" anchorCtr="1"/>
        <a:lstStyle/>
        <a:p>
          <a:pPr>
            <a:defRPr lang="en-US" sz="750" b="0" i="0" u="none" strike="noStrike" kern="1200" baseline="0">
              <a:solidFill>
                <a:sysClr val="windowText" lastClr="000000"/>
              </a:solidFill>
              <a:latin typeface="+mn-lt"/>
              <a:ea typeface="+mn-ea"/>
              <a:cs typeface="+mn-cs"/>
            </a:defRPr>
          </a:pPr>
          <a:endParaRPr lang="en-US"/>
        </a:p>
      </c:txPr>
    </c:legend>
    <c:plotVisOnly val="1"/>
    <c:dispBlanksAs val="span"/>
    <c:showDLblsOverMax val="0"/>
  </c:chart>
  <c:spPr>
    <a:noFill/>
    <a:ln w="9525" cap="flat" cmpd="sng" algn="ctr">
      <a:noFill/>
      <a:round/>
    </a:ln>
    <a:effectLst/>
  </c:spPr>
  <c:txPr>
    <a:bodyPr/>
    <a:lstStyle/>
    <a:p>
      <a:pPr algn="ctr">
        <a:defRPr lang="en-US" sz="800" b="0" i="0" u="none" strike="noStrike" kern="1200" baseline="0">
          <a:solidFill>
            <a:sysClr val="windowText" lastClr="000000"/>
          </a:solidFill>
          <a:latin typeface="+mn-lt"/>
          <a:ea typeface="+mn-ea"/>
          <a:cs typeface="+mn-cs"/>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sz="960" b="1" i="0" u="none" strike="noStrike" kern="1200" spc="0" baseline="0">
                <a:solidFill>
                  <a:schemeClr val="tx1"/>
                </a:solidFill>
                <a:latin typeface="Arial" panose="020B0604020202020204" pitchFamily="34" charset="0"/>
                <a:ea typeface="+mn-ea"/>
                <a:cs typeface="Arial" panose="020B0604020202020204" pitchFamily="34" charset="0"/>
              </a:defRPr>
            </a:pPr>
            <a:r>
              <a:rPr lang="en-US" b="1" dirty="0"/>
              <a:t>Nominal GDP per Capita (1998 - 2021) </a:t>
            </a:r>
          </a:p>
        </c:rich>
      </c:tx>
      <c:layout>
        <c:manualLayout>
          <c:xMode val="edge"/>
          <c:yMode val="edge"/>
          <c:x val="0.17644002269986522"/>
          <c:y val="4.0669274383337742E-2"/>
        </c:manualLayout>
      </c:layout>
      <c:overlay val="0"/>
      <c:spPr>
        <a:noFill/>
        <a:ln>
          <a:noFill/>
        </a:ln>
        <a:effectLst/>
      </c:spPr>
      <c:txPr>
        <a:bodyPr rot="0" spcFirstLastPara="1" vertOverflow="ellipsis" vert="horz" wrap="square" anchor="ctr" anchorCtr="1"/>
        <a:lstStyle/>
        <a:p>
          <a:pPr algn="ctr" rtl="0">
            <a:defRPr sz="960" b="1" i="0" u="none" strike="noStrike" kern="1200" spc="0" baseline="0">
              <a:solidFill>
                <a:schemeClr val="tx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0.15397849761091456"/>
          <c:y val="0.18604658792650919"/>
          <c:w val="0.79448656181298138"/>
          <c:h val="0.61513204744755745"/>
        </c:manualLayout>
      </c:layout>
      <c:lineChart>
        <c:grouping val="standard"/>
        <c:varyColors val="0"/>
        <c:ser>
          <c:idx val="0"/>
          <c:order val="0"/>
          <c:spPr>
            <a:ln w="22225" cap="rnd">
              <a:solidFill>
                <a:schemeClr val="accent1"/>
              </a:solidFill>
              <a:round/>
            </a:ln>
            <a:effectLst/>
          </c:spPr>
          <c:marker>
            <c:symbol val="none"/>
          </c:marker>
          <c:trendline>
            <c:spPr>
              <a:ln w="38100" cap="rnd">
                <a:solidFill>
                  <a:schemeClr val="accent1"/>
                </a:solidFill>
                <a:prstDash val="sysDot"/>
              </a:ln>
              <a:effectLst/>
            </c:spPr>
            <c:trendlineType val="linear"/>
            <c:dispRSqr val="0"/>
            <c:dispEq val="0"/>
          </c:trendline>
          <c:cat>
            <c:numRef>
              <c:f>WEO_Data!$N$1:$AK$1</c:f>
              <c:numCache>
                <c:formatCode>General</c:formatCode>
                <c:ptCount val="24"/>
                <c:pt idx="0">
                  <c:v>1998</c:v>
                </c:pt>
                <c:pt idx="1">
                  <c:v>1999</c:v>
                </c:pt>
                <c:pt idx="2">
                  <c:v>2000</c:v>
                </c:pt>
                <c:pt idx="3">
                  <c:v>2001</c:v>
                </c:pt>
                <c:pt idx="4">
                  <c:v>2002</c:v>
                </c:pt>
                <c:pt idx="5">
                  <c:v>2003</c:v>
                </c:pt>
                <c:pt idx="6">
                  <c:v>2004</c:v>
                </c:pt>
                <c:pt idx="7">
                  <c:v>2005</c:v>
                </c:pt>
                <c:pt idx="8">
                  <c:v>2006</c:v>
                </c:pt>
                <c:pt idx="9">
                  <c:v>2007</c:v>
                </c:pt>
                <c:pt idx="10">
                  <c:v>2008</c:v>
                </c:pt>
                <c:pt idx="11">
                  <c:v>2009</c:v>
                </c:pt>
                <c:pt idx="12">
                  <c:v>2010</c:v>
                </c:pt>
                <c:pt idx="13">
                  <c:v>2011</c:v>
                </c:pt>
                <c:pt idx="14">
                  <c:v>2012</c:v>
                </c:pt>
                <c:pt idx="15">
                  <c:v>2013</c:v>
                </c:pt>
                <c:pt idx="16">
                  <c:v>2014</c:v>
                </c:pt>
                <c:pt idx="17">
                  <c:v>2015</c:v>
                </c:pt>
                <c:pt idx="18">
                  <c:v>2016</c:v>
                </c:pt>
                <c:pt idx="19">
                  <c:v>2017</c:v>
                </c:pt>
                <c:pt idx="20">
                  <c:v>2018</c:v>
                </c:pt>
                <c:pt idx="21">
                  <c:v>2019</c:v>
                </c:pt>
                <c:pt idx="22">
                  <c:v>2020</c:v>
                </c:pt>
                <c:pt idx="23">
                  <c:v>2021</c:v>
                </c:pt>
              </c:numCache>
            </c:numRef>
          </c:cat>
          <c:val>
            <c:numRef>
              <c:f>WEO_Data!$N$2:$AK$2</c:f>
              <c:numCache>
                <c:formatCode>0</c:formatCode>
                <c:ptCount val="24"/>
                <c:pt idx="0">
                  <c:v>313.06400000000002</c:v>
                </c:pt>
                <c:pt idx="1">
                  <c:v>346.57400000000001</c:v>
                </c:pt>
                <c:pt idx="2">
                  <c:v>319.358</c:v>
                </c:pt>
                <c:pt idx="3">
                  <c:v>296.26799999999997</c:v>
                </c:pt>
                <c:pt idx="4">
                  <c:v>302.54599999999999</c:v>
                </c:pt>
                <c:pt idx="5">
                  <c:v>326.07499999999999</c:v>
                </c:pt>
                <c:pt idx="6">
                  <c:v>383.27</c:v>
                </c:pt>
                <c:pt idx="7">
                  <c:v>416.81099999999998</c:v>
                </c:pt>
                <c:pt idx="8">
                  <c:v>435.334</c:v>
                </c:pt>
                <c:pt idx="9">
                  <c:v>482.19799999999998</c:v>
                </c:pt>
                <c:pt idx="10">
                  <c:v>563.649</c:v>
                </c:pt>
                <c:pt idx="11">
                  <c:v>520.40300000000002</c:v>
                </c:pt>
                <c:pt idx="12">
                  <c:v>471.904</c:v>
                </c:pt>
                <c:pt idx="13">
                  <c:v>594.58600000000001</c:v>
                </c:pt>
                <c:pt idx="14">
                  <c:v>657.64499999999998</c:v>
                </c:pt>
                <c:pt idx="15">
                  <c:v>664.07799999999997</c:v>
                </c:pt>
                <c:pt idx="16">
                  <c:v>673.96900000000005</c:v>
                </c:pt>
                <c:pt idx="17">
                  <c:v>589.86</c:v>
                </c:pt>
                <c:pt idx="18">
                  <c:v>428.92700000000002</c:v>
                </c:pt>
                <c:pt idx="19">
                  <c:v>461.41500000000002</c:v>
                </c:pt>
                <c:pt idx="20">
                  <c:v>503.30200000000002</c:v>
                </c:pt>
                <c:pt idx="21">
                  <c:v>506.81700000000001</c:v>
                </c:pt>
                <c:pt idx="22">
                  <c:v>448.84399999999999</c:v>
                </c:pt>
                <c:pt idx="23">
                  <c:v>492.27300000000002</c:v>
                </c:pt>
              </c:numCache>
            </c:numRef>
          </c:val>
          <c:smooth val="0"/>
          <c:extLst>
            <c:ext xmlns:c16="http://schemas.microsoft.com/office/drawing/2014/chart" uri="{C3380CC4-5D6E-409C-BE32-E72D297353CC}">
              <c16:uniqueId val="{00000001-B8A7-4445-9761-209A75DFFF5E}"/>
            </c:ext>
          </c:extLst>
        </c:ser>
        <c:dLbls>
          <c:showLegendKey val="0"/>
          <c:showVal val="0"/>
          <c:showCatName val="0"/>
          <c:showSerName val="0"/>
          <c:showPercent val="0"/>
          <c:showBubbleSize val="0"/>
        </c:dLbls>
        <c:smooth val="0"/>
        <c:axId val="1373882991"/>
        <c:axId val="1373882575"/>
      </c:lineChart>
      <c:catAx>
        <c:axId val="13738829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373882575"/>
        <c:crosses val="autoZero"/>
        <c:auto val="1"/>
        <c:lblAlgn val="ctr"/>
        <c:lblOffset val="100"/>
        <c:noMultiLvlLbl val="0"/>
      </c:catAx>
      <c:valAx>
        <c:axId val="1373882575"/>
        <c:scaling>
          <c:orientation val="minMax"/>
          <c:max val="800"/>
          <c:min val="2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800" b="0" i="0" u="none" strike="noStrike" kern="1200" baseline="0">
                    <a:solidFill>
                      <a:schemeClr val="tx1"/>
                    </a:solidFill>
                    <a:latin typeface="Arial" panose="020B0604020202020204" pitchFamily="34" charset="0"/>
                    <a:ea typeface="+mn-ea"/>
                    <a:cs typeface="Arial" panose="020B0604020202020204" pitchFamily="34" charset="0"/>
                  </a:defRPr>
                </a:pPr>
                <a:r>
                  <a:rPr lang="en-US"/>
                  <a:t>USD</a:t>
                </a:r>
              </a:p>
            </c:rich>
          </c:tx>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373882991"/>
        <c:crossesAt val="1"/>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800">
          <a:solidFill>
            <a:schemeClr val="tx1"/>
          </a:solidFill>
          <a:latin typeface="Arial" panose="020B0604020202020204" pitchFamily="34" charset="0"/>
          <a:cs typeface="Arial" panose="020B0604020202020204" pitchFamily="34" charset="0"/>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mn-lt"/>
                <a:ea typeface="+mn-ea"/>
                <a:cs typeface="+mn-cs"/>
              </a:defRPr>
            </a:pPr>
            <a:r>
              <a:rPr lang="en-US" sz="1000" b="1" dirty="0"/>
              <a:t>Ghana</a:t>
            </a:r>
          </a:p>
        </c:rich>
      </c:tx>
      <c:layout>
        <c:manualLayout>
          <c:xMode val="edge"/>
          <c:yMode val="edge"/>
          <c:x val="0.43990959463400414"/>
          <c:y val="2.9845391074027772E-2"/>
        </c:manualLayout>
      </c:layout>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16055159049439793"/>
          <c:y val="0.14632725436291447"/>
          <c:w val="0.81699165217111958"/>
          <c:h val="0.64778554555626755"/>
        </c:manualLayout>
      </c:layout>
      <c:lineChart>
        <c:grouping val="standard"/>
        <c:varyColors val="0"/>
        <c:ser>
          <c:idx val="0"/>
          <c:order val="0"/>
          <c:tx>
            <c:strRef>
              <c:f>'Employment other countries'!$B$8</c:f>
              <c:strCache>
                <c:ptCount val="1"/>
                <c:pt idx="0">
                  <c:v>Agriculture</c:v>
                </c:pt>
              </c:strCache>
            </c:strRef>
          </c:tx>
          <c:spPr>
            <a:ln w="28575" cap="rnd">
              <a:solidFill>
                <a:schemeClr val="accent1"/>
              </a:solidFill>
              <a:round/>
            </a:ln>
            <a:effectLst/>
          </c:spPr>
          <c:marker>
            <c:symbol val="none"/>
          </c:marker>
          <c:cat>
            <c:strRef>
              <c:f>'Employment other countries'!$C$4:$AE$4</c:f>
              <c:strCach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strCache>
            </c:strRef>
          </c:cat>
          <c:val>
            <c:numRef>
              <c:f>'Employment other countries'!$C$8:$AE$8</c:f>
              <c:numCache>
                <c:formatCode>0</c:formatCode>
                <c:ptCount val="29"/>
                <c:pt idx="0">
                  <c:v>57.119998931884801</c:v>
                </c:pt>
                <c:pt idx="1">
                  <c:v>56.939998626708999</c:v>
                </c:pt>
                <c:pt idx="2">
                  <c:v>56.680000305175803</c:v>
                </c:pt>
                <c:pt idx="3">
                  <c:v>56.490001678466797</c:v>
                </c:pt>
                <c:pt idx="4">
                  <c:v>56.240001678466797</c:v>
                </c:pt>
                <c:pt idx="5">
                  <c:v>55.970001220703097</c:v>
                </c:pt>
                <c:pt idx="6">
                  <c:v>55.659999847412102</c:v>
                </c:pt>
                <c:pt idx="7">
                  <c:v>55.299999237060497</c:v>
                </c:pt>
                <c:pt idx="8">
                  <c:v>54.950000762939503</c:v>
                </c:pt>
                <c:pt idx="9">
                  <c:v>55.029998779296903</c:v>
                </c:pt>
                <c:pt idx="10">
                  <c:v>55.099998474121101</c:v>
                </c:pt>
                <c:pt idx="11">
                  <c:v>55.119998931884801</c:v>
                </c:pt>
                <c:pt idx="12">
                  <c:v>55.099998474121101</c:v>
                </c:pt>
                <c:pt idx="13">
                  <c:v>55.049999237060497</c:v>
                </c:pt>
                <c:pt idx="14">
                  <c:v>54.959999084472699</c:v>
                </c:pt>
                <c:pt idx="15">
                  <c:v>54.930000305175803</c:v>
                </c:pt>
                <c:pt idx="16">
                  <c:v>53.939998626708999</c:v>
                </c:pt>
                <c:pt idx="17">
                  <c:v>52.630001068115199</c:v>
                </c:pt>
                <c:pt idx="18">
                  <c:v>51.509998321533203</c:v>
                </c:pt>
                <c:pt idx="19">
                  <c:v>50.110000610351598</c:v>
                </c:pt>
                <c:pt idx="20">
                  <c:v>48.360000610351598</c:v>
                </c:pt>
                <c:pt idx="21">
                  <c:v>46.849998474121101</c:v>
                </c:pt>
                <c:pt idx="22">
                  <c:v>45.380001068115199</c:v>
                </c:pt>
                <c:pt idx="23">
                  <c:v>40.409999847412102</c:v>
                </c:pt>
                <c:pt idx="24">
                  <c:v>35.180000305175803</c:v>
                </c:pt>
                <c:pt idx="25">
                  <c:v>33.889999389648402</c:v>
                </c:pt>
                <c:pt idx="26">
                  <c:v>32.569999694824197</c:v>
                </c:pt>
                <c:pt idx="27">
                  <c:v>31.049999237060501</c:v>
                </c:pt>
                <c:pt idx="28">
                  <c:v>29.75</c:v>
                </c:pt>
              </c:numCache>
            </c:numRef>
          </c:val>
          <c:smooth val="0"/>
          <c:extLst>
            <c:ext xmlns:c16="http://schemas.microsoft.com/office/drawing/2014/chart" uri="{C3380CC4-5D6E-409C-BE32-E72D297353CC}">
              <c16:uniqueId val="{00000000-D36D-44E7-9431-96E9731FE797}"/>
            </c:ext>
          </c:extLst>
        </c:ser>
        <c:ser>
          <c:idx val="1"/>
          <c:order val="1"/>
          <c:tx>
            <c:strRef>
              <c:f>'Employment other countries'!$B$9</c:f>
              <c:strCache>
                <c:ptCount val="1"/>
                <c:pt idx="0">
                  <c:v>Industry</c:v>
                </c:pt>
              </c:strCache>
            </c:strRef>
          </c:tx>
          <c:spPr>
            <a:ln w="28575" cap="rnd">
              <a:solidFill>
                <a:schemeClr val="tx2"/>
              </a:solidFill>
              <a:round/>
            </a:ln>
            <a:effectLst/>
          </c:spPr>
          <c:marker>
            <c:symbol val="none"/>
          </c:marker>
          <c:cat>
            <c:strRef>
              <c:f>'Employment other countries'!$C$4:$AE$4</c:f>
              <c:strCach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strCache>
            </c:strRef>
          </c:cat>
          <c:val>
            <c:numRef>
              <c:f>'Employment other countries'!$C$9:$AE$9</c:f>
              <c:numCache>
                <c:formatCode>0</c:formatCode>
                <c:ptCount val="29"/>
                <c:pt idx="0">
                  <c:v>14.0100002288818</c:v>
                </c:pt>
                <c:pt idx="1">
                  <c:v>14</c:v>
                </c:pt>
                <c:pt idx="2">
                  <c:v>14.060000419616699</c:v>
                </c:pt>
                <c:pt idx="3">
                  <c:v>14.0299997329712</c:v>
                </c:pt>
                <c:pt idx="4">
                  <c:v>14.0100002288818</c:v>
                </c:pt>
                <c:pt idx="5">
                  <c:v>13.9700002670288</c:v>
                </c:pt>
                <c:pt idx="6">
                  <c:v>13.9799995422363</c:v>
                </c:pt>
                <c:pt idx="7">
                  <c:v>13.9700002670288</c:v>
                </c:pt>
                <c:pt idx="8">
                  <c:v>13.9899997711182</c:v>
                </c:pt>
                <c:pt idx="9">
                  <c:v>14</c:v>
                </c:pt>
                <c:pt idx="10">
                  <c:v>14.0100002288818</c:v>
                </c:pt>
                <c:pt idx="11">
                  <c:v>14.039999961853001</c:v>
                </c:pt>
                <c:pt idx="12">
                  <c:v>14.069999694824199</c:v>
                </c:pt>
                <c:pt idx="13">
                  <c:v>14.1099996566772</c:v>
                </c:pt>
                <c:pt idx="14">
                  <c:v>14.180000305175801</c:v>
                </c:pt>
                <c:pt idx="15">
                  <c:v>14.2299995422363</c:v>
                </c:pt>
                <c:pt idx="16">
                  <c:v>14.069999694824199</c:v>
                </c:pt>
                <c:pt idx="17">
                  <c:v>13.949999809265099</c:v>
                </c:pt>
                <c:pt idx="18">
                  <c:v>13.8699998855591</c:v>
                </c:pt>
                <c:pt idx="19">
                  <c:v>13.9099998474121</c:v>
                </c:pt>
                <c:pt idx="20">
                  <c:v>13.9799995422363</c:v>
                </c:pt>
                <c:pt idx="21">
                  <c:v>14</c:v>
                </c:pt>
                <c:pt idx="22">
                  <c:v>14.069999694824199</c:v>
                </c:pt>
                <c:pt idx="23">
                  <c:v>16.200000762939499</c:v>
                </c:pt>
                <c:pt idx="24">
                  <c:v>18.690000534057599</c:v>
                </c:pt>
                <c:pt idx="25">
                  <c:v>19.129999160766602</c:v>
                </c:pt>
                <c:pt idx="26">
                  <c:v>19.620000839233398</c:v>
                </c:pt>
                <c:pt idx="27">
                  <c:v>20.469999313354499</c:v>
                </c:pt>
                <c:pt idx="28">
                  <c:v>21.049999237060501</c:v>
                </c:pt>
              </c:numCache>
            </c:numRef>
          </c:val>
          <c:smooth val="0"/>
          <c:extLst>
            <c:ext xmlns:c16="http://schemas.microsoft.com/office/drawing/2014/chart" uri="{C3380CC4-5D6E-409C-BE32-E72D297353CC}">
              <c16:uniqueId val="{00000001-D36D-44E7-9431-96E9731FE797}"/>
            </c:ext>
          </c:extLst>
        </c:ser>
        <c:ser>
          <c:idx val="2"/>
          <c:order val="2"/>
          <c:tx>
            <c:strRef>
              <c:f>'Employment other countries'!$B$10</c:f>
              <c:strCache>
                <c:ptCount val="1"/>
                <c:pt idx="0">
                  <c:v>Services</c:v>
                </c:pt>
              </c:strCache>
            </c:strRef>
          </c:tx>
          <c:spPr>
            <a:ln w="28575" cap="rnd">
              <a:solidFill>
                <a:schemeClr val="accent3"/>
              </a:solidFill>
              <a:round/>
            </a:ln>
            <a:effectLst/>
          </c:spPr>
          <c:marker>
            <c:symbol val="none"/>
          </c:marker>
          <c:cat>
            <c:strRef>
              <c:f>'Employment other countries'!$C$4:$AE$4</c:f>
              <c:strCach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strCache>
            </c:strRef>
          </c:cat>
          <c:val>
            <c:numRef>
              <c:f>'Employment other countries'!$C$10:$AE$10</c:f>
              <c:numCache>
                <c:formatCode>0</c:formatCode>
                <c:ptCount val="29"/>
                <c:pt idx="0">
                  <c:v>28.870000839233398</c:v>
                </c:pt>
                <c:pt idx="1">
                  <c:v>29.059999465942401</c:v>
                </c:pt>
                <c:pt idx="2">
                  <c:v>29.2600002288818</c:v>
                </c:pt>
                <c:pt idx="3">
                  <c:v>29.4799995422363</c:v>
                </c:pt>
                <c:pt idx="4">
                  <c:v>29.75</c:v>
                </c:pt>
                <c:pt idx="5">
                  <c:v>30.059999465942401</c:v>
                </c:pt>
                <c:pt idx="6">
                  <c:v>30.360000610351602</c:v>
                </c:pt>
                <c:pt idx="7">
                  <c:v>30.7299995422363</c:v>
                </c:pt>
                <c:pt idx="8">
                  <c:v>31.069999694824201</c:v>
                </c:pt>
                <c:pt idx="9">
                  <c:v>30.969999313354499</c:v>
                </c:pt>
                <c:pt idx="10">
                  <c:v>30.899999618530298</c:v>
                </c:pt>
                <c:pt idx="11">
                  <c:v>30.850000381469702</c:v>
                </c:pt>
                <c:pt idx="12">
                  <c:v>30.840000152587901</c:v>
                </c:pt>
                <c:pt idx="13">
                  <c:v>30.850000381469702</c:v>
                </c:pt>
                <c:pt idx="14">
                  <c:v>30.860000610351602</c:v>
                </c:pt>
                <c:pt idx="15">
                  <c:v>30.840000152587901</c:v>
                </c:pt>
                <c:pt idx="16">
                  <c:v>31.9899997711182</c:v>
                </c:pt>
                <c:pt idx="17">
                  <c:v>33.419998168945298</c:v>
                </c:pt>
                <c:pt idx="18">
                  <c:v>34.619998931884801</c:v>
                </c:pt>
                <c:pt idx="19">
                  <c:v>35.9799995422363</c:v>
                </c:pt>
                <c:pt idx="20">
                  <c:v>37.650001525878899</c:v>
                </c:pt>
                <c:pt idx="21">
                  <c:v>39.150001525878899</c:v>
                </c:pt>
                <c:pt idx="22">
                  <c:v>40.549999237060497</c:v>
                </c:pt>
                <c:pt idx="23">
                  <c:v>43.389999389648402</c:v>
                </c:pt>
                <c:pt idx="24">
                  <c:v>46.139999389648402</c:v>
                </c:pt>
                <c:pt idx="25">
                  <c:v>46.9799995422363</c:v>
                </c:pt>
                <c:pt idx="26">
                  <c:v>47.810001373291001</c:v>
                </c:pt>
                <c:pt idx="27">
                  <c:v>48.4799995422363</c:v>
                </c:pt>
                <c:pt idx="28">
                  <c:v>49.209999084472699</c:v>
                </c:pt>
              </c:numCache>
            </c:numRef>
          </c:val>
          <c:smooth val="0"/>
          <c:extLst>
            <c:ext xmlns:c16="http://schemas.microsoft.com/office/drawing/2014/chart" uri="{C3380CC4-5D6E-409C-BE32-E72D297353CC}">
              <c16:uniqueId val="{00000002-D36D-44E7-9431-96E9731FE797}"/>
            </c:ext>
          </c:extLst>
        </c:ser>
        <c:dLbls>
          <c:showLegendKey val="0"/>
          <c:showVal val="0"/>
          <c:showCatName val="0"/>
          <c:showSerName val="0"/>
          <c:showPercent val="0"/>
          <c:showBubbleSize val="0"/>
        </c:dLbls>
        <c:smooth val="0"/>
        <c:axId val="1659466655"/>
        <c:axId val="1617463791"/>
      </c:lineChart>
      <c:catAx>
        <c:axId val="16594666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617463791"/>
        <c:crosses val="autoZero"/>
        <c:auto val="1"/>
        <c:lblAlgn val="ctr"/>
        <c:lblOffset val="100"/>
        <c:noMultiLvlLbl val="0"/>
      </c:catAx>
      <c:valAx>
        <c:axId val="161746379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659466655"/>
        <c:crosses val="autoZero"/>
        <c:crossBetween val="between"/>
      </c:valAx>
      <c:spPr>
        <a:noFill/>
        <a:ln>
          <a:noFill/>
        </a:ln>
        <a:effectLst/>
      </c:spPr>
    </c:plotArea>
    <c:legend>
      <c:legendPos val="b"/>
      <c:layout>
        <c:manualLayout>
          <c:xMode val="edge"/>
          <c:yMode val="edge"/>
          <c:x val="6.9645900648737782E-2"/>
          <c:y val="0.28320246191586995"/>
          <c:w val="0.67092812956675563"/>
          <c:h val="0.14006104428834462"/>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solidFill>
            <a:schemeClr val="tx1"/>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250039424352364"/>
          <c:y val="5.3898434823404499E-2"/>
          <c:w val="0.80134246431326561"/>
          <c:h val="0.73563982139795736"/>
        </c:manualLayout>
      </c:layout>
      <c:lineChart>
        <c:grouping val="standard"/>
        <c:varyColors val="0"/>
        <c:ser>
          <c:idx val="0"/>
          <c:order val="0"/>
          <c:tx>
            <c:strRef>
              <c:f>'Employment other countries'!$B$17</c:f>
              <c:strCache>
                <c:ptCount val="1"/>
                <c:pt idx="0">
                  <c:v>Agriculture</c:v>
                </c:pt>
              </c:strCache>
            </c:strRef>
          </c:tx>
          <c:spPr>
            <a:ln w="28575" cap="rnd">
              <a:solidFill>
                <a:schemeClr val="accent1"/>
              </a:solidFill>
              <a:round/>
            </a:ln>
            <a:effectLst/>
          </c:spPr>
          <c:marker>
            <c:symbol val="none"/>
          </c:marker>
          <c:cat>
            <c:strRef>
              <c:f>'Employment other countries'!$C$4:$AE$4</c:f>
              <c:strCach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strCache>
            </c:strRef>
          </c:cat>
          <c:val>
            <c:numRef>
              <c:f>'Employment other countries'!$C$17:$AE$17</c:f>
              <c:numCache>
                <c:formatCode>0</c:formatCode>
                <c:ptCount val="29"/>
                <c:pt idx="0">
                  <c:v>70.879997253417997</c:v>
                </c:pt>
                <c:pt idx="1">
                  <c:v>69.809997558593807</c:v>
                </c:pt>
                <c:pt idx="2">
                  <c:v>68.779998779296903</c:v>
                </c:pt>
                <c:pt idx="3">
                  <c:v>67.819999694824205</c:v>
                </c:pt>
                <c:pt idx="4">
                  <c:v>66.970001220703097</c:v>
                </c:pt>
                <c:pt idx="5">
                  <c:v>66.309997558593807</c:v>
                </c:pt>
                <c:pt idx="6">
                  <c:v>65.279998779296903</c:v>
                </c:pt>
                <c:pt idx="7">
                  <c:v>64.769996643066406</c:v>
                </c:pt>
                <c:pt idx="8">
                  <c:v>64.989997863769503</c:v>
                </c:pt>
                <c:pt idx="9">
                  <c:v>65.25</c:v>
                </c:pt>
                <c:pt idx="10">
                  <c:v>63.990001678466797</c:v>
                </c:pt>
                <c:pt idx="11">
                  <c:v>62.040000915527301</c:v>
                </c:pt>
                <c:pt idx="12">
                  <c:v>59.680000305175803</c:v>
                </c:pt>
                <c:pt idx="13">
                  <c:v>57.900001525878899</c:v>
                </c:pt>
                <c:pt idx="14">
                  <c:v>54.830001831054702</c:v>
                </c:pt>
                <c:pt idx="15">
                  <c:v>51.669998168945298</c:v>
                </c:pt>
                <c:pt idx="16">
                  <c:v>49.279998779296903</c:v>
                </c:pt>
                <c:pt idx="17">
                  <c:v>48.619998931884801</c:v>
                </c:pt>
                <c:pt idx="18">
                  <c:v>47.549999237060497</c:v>
                </c:pt>
                <c:pt idx="19">
                  <c:v>48.709999084472699</c:v>
                </c:pt>
                <c:pt idx="20">
                  <c:v>48.310001373291001</c:v>
                </c:pt>
                <c:pt idx="21">
                  <c:v>47.369998931884801</c:v>
                </c:pt>
                <c:pt idx="22">
                  <c:v>46.810001373291001</c:v>
                </c:pt>
                <c:pt idx="23">
                  <c:v>46.340000152587898</c:v>
                </c:pt>
                <c:pt idx="24">
                  <c:v>44.0200004577637</c:v>
                </c:pt>
                <c:pt idx="25">
                  <c:v>41.869998931884801</c:v>
                </c:pt>
                <c:pt idx="26">
                  <c:v>40.159999847412102</c:v>
                </c:pt>
                <c:pt idx="27">
                  <c:v>38.700000762939503</c:v>
                </c:pt>
                <c:pt idx="28">
                  <c:v>37.220001220703097</c:v>
                </c:pt>
              </c:numCache>
            </c:numRef>
          </c:val>
          <c:smooth val="0"/>
          <c:extLst>
            <c:ext xmlns:c16="http://schemas.microsoft.com/office/drawing/2014/chart" uri="{C3380CC4-5D6E-409C-BE32-E72D297353CC}">
              <c16:uniqueId val="{00000000-846F-46D3-AEDC-D7A1A13074D5}"/>
            </c:ext>
          </c:extLst>
        </c:ser>
        <c:ser>
          <c:idx val="1"/>
          <c:order val="1"/>
          <c:tx>
            <c:strRef>
              <c:f>'Employment other countries'!$B$18</c:f>
              <c:strCache>
                <c:ptCount val="1"/>
                <c:pt idx="0">
                  <c:v>Industry</c:v>
                </c:pt>
              </c:strCache>
            </c:strRef>
          </c:tx>
          <c:spPr>
            <a:ln w="28575" cap="rnd">
              <a:solidFill>
                <a:schemeClr val="tx2"/>
              </a:solidFill>
              <a:round/>
            </a:ln>
            <a:effectLst/>
          </c:spPr>
          <c:marker>
            <c:symbol val="none"/>
          </c:marker>
          <c:cat>
            <c:strRef>
              <c:f>'Employment other countries'!$C$4:$AE$4</c:f>
              <c:strCach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strCache>
            </c:strRef>
          </c:cat>
          <c:val>
            <c:numRef>
              <c:f>'Employment other countries'!$C$18:$AE$18</c:f>
              <c:numCache>
                <c:formatCode>0</c:formatCode>
                <c:ptCount val="29"/>
                <c:pt idx="0">
                  <c:v>10.1199998855591</c:v>
                </c:pt>
                <c:pt idx="1">
                  <c:v>10.579999923706101</c:v>
                </c:pt>
                <c:pt idx="2">
                  <c:v>11.0900001525879</c:v>
                </c:pt>
                <c:pt idx="3">
                  <c:v>11.4700002670288</c:v>
                </c:pt>
                <c:pt idx="4">
                  <c:v>11.819999694824199</c:v>
                </c:pt>
                <c:pt idx="5">
                  <c:v>12.25</c:v>
                </c:pt>
                <c:pt idx="6">
                  <c:v>12.680000305175801</c:v>
                </c:pt>
                <c:pt idx="7">
                  <c:v>11.579999923706101</c:v>
                </c:pt>
                <c:pt idx="8">
                  <c:v>11.9899997711182</c:v>
                </c:pt>
                <c:pt idx="9">
                  <c:v>12.439999580383301</c:v>
                </c:pt>
                <c:pt idx="10">
                  <c:v>13.8999996185303</c:v>
                </c:pt>
                <c:pt idx="11">
                  <c:v>14.699999809265099</c:v>
                </c:pt>
                <c:pt idx="12">
                  <c:v>16.409999847412099</c:v>
                </c:pt>
                <c:pt idx="13">
                  <c:v>17.350000381469702</c:v>
                </c:pt>
                <c:pt idx="14">
                  <c:v>18.7399997711182</c:v>
                </c:pt>
                <c:pt idx="15">
                  <c:v>20.190000534057599</c:v>
                </c:pt>
                <c:pt idx="16">
                  <c:v>20.389999389648398</c:v>
                </c:pt>
                <c:pt idx="17">
                  <c:v>21</c:v>
                </c:pt>
                <c:pt idx="18">
                  <c:v>21.850000381469702</c:v>
                </c:pt>
                <c:pt idx="19">
                  <c:v>21.680000305175799</c:v>
                </c:pt>
                <c:pt idx="20">
                  <c:v>21.280000686645501</c:v>
                </c:pt>
                <c:pt idx="21">
                  <c:v>21.190000534057599</c:v>
                </c:pt>
                <c:pt idx="22">
                  <c:v>21.180000305175799</c:v>
                </c:pt>
                <c:pt idx="23">
                  <c:v>21.450000762939499</c:v>
                </c:pt>
                <c:pt idx="24">
                  <c:v>22.7399997711182</c:v>
                </c:pt>
                <c:pt idx="25">
                  <c:v>24.7600002288818</c:v>
                </c:pt>
                <c:pt idx="26">
                  <c:v>25.780000686645501</c:v>
                </c:pt>
                <c:pt idx="27">
                  <c:v>26.639999389648398</c:v>
                </c:pt>
                <c:pt idx="28">
                  <c:v>27.440000534057599</c:v>
                </c:pt>
              </c:numCache>
            </c:numRef>
          </c:val>
          <c:smooth val="0"/>
          <c:extLst>
            <c:ext xmlns:c16="http://schemas.microsoft.com/office/drawing/2014/chart" uri="{C3380CC4-5D6E-409C-BE32-E72D297353CC}">
              <c16:uniqueId val="{00000001-846F-46D3-AEDC-D7A1A13074D5}"/>
            </c:ext>
          </c:extLst>
        </c:ser>
        <c:ser>
          <c:idx val="2"/>
          <c:order val="2"/>
          <c:tx>
            <c:strRef>
              <c:f>'Employment other countries'!$B$19</c:f>
              <c:strCache>
                <c:ptCount val="1"/>
                <c:pt idx="0">
                  <c:v>Services</c:v>
                </c:pt>
              </c:strCache>
            </c:strRef>
          </c:tx>
          <c:spPr>
            <a:ln w="28575" cap="rnd">
              <a:solidFill>
                <a:schemeClr val="accent3"/>
              </a:solidFill>
              <a:round/>
            </a:ln>
            <a:effectLst/>
          </c:spPr>
          <c:marker>
            <c:symbol val="none"/>
          </c:marker>
          <c:cat>
            <c:strRef>
              <c:f>'Employment other countries'!$C$4:$AE$4</c:f>
              <c:strCach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strCache>
            </c:strRef>
          </c:cat>
          <c:val>
            <c:numRef>
              <c:f>'Employment other countries'!$C$19:$AE$19</c:f>
              <c:numCache>
                <c:formatCode>0</c:formatCode>
                <c:ptCount val="29"/>
                <c:pt idx="0">
                  <c:v>19</c:v>
                </c:pt>
                <c:pt idx="1">
                  <c:v>19.620000839233398</c:v>
                </c:pt>
                <c:pt idx="2">
                  <c:v>20.129999160766602</c:v>
                </c:pt>
                <c:pt idx="3">
                  <c:v>20.709999084472699</c:v>
                </c:pt>
                <c:pt idx="4">
                  <c:v>21.219999313354499</c:v>
                </c:pt>
                <c:pt idx="5">
                  <c:v>21.440000534057599</c:v>
                </c:pt>
                <c:pt idx="6">
                  <c:v>22.040000915527301</c:v>
                </c:pt>
                <c:pt idx="7">
                  <c:v>23.649999618530298</c:v>
                </c:pt>
                <c:pt idx="8">
                  <c:v>23.0200004577637</c:v>
                </c:pt>
                <c:pt idx="9">
                  <c:v>22.309999465942401</c:v>
                </c:pt>
                <c:pt idx="10">
                  <c:v>22.110000610351602</c:v>
                </c:pt>
                <c:pt idx="11">
                  <c:v>23.2600002288818</c:v>
                </c:pt>
                <c:pt idx="12">
                  <c:v>23.909999847412099</c:v>
                </c:pt>
                <c:pt idx="13">
                  <c:v>24.75</c:v>
                </c:pt>
                <c:pt idx="14">
                  <c:v>26.440000534057599</c:v>
                </c:pt>
                <c:pt idx="15">
                  <c:v>28.149999618530298</c:v>
                </c:pt>
                <c:pt idx="16">
                  <c:v>30.329999923706101</c:v>
                </c:pt>
                <c:pt idx="17">
                  <c:v>30.379999160766602</c:v>
                </c:pt>
                <c:pt idx="18">
                  <c:v>30.600000381469702</c:v>
                </c:pt>
                <c:pt idx="19">
                  <c:v>29.610000610351602</c:v>
                </c:pt>
                <c:pt idx="20">
                  <c:v>30.409999847412099</c:v>
                </c:pt>
                <c:pt idx="21">
                  <c:v>31.440000534057599</c:v>
                </c:pt>
                <c:pt idx="22">
                  <c:v>32</c:v>
                </c:pt>
                <c:pt idx="23">
                  <c:v>32.220001220703097</c:v>
                </c:pt>
                <c:pt idx="24">
                  <c:v>33.240001678466797</c:v>
                </c:pt>
                <c:pt idx="25">
                  <c:v>33.369998931884801</c:v>
                </c:pt>
                <c:pt idx="26">
                  <c:v>34.069999694824197</c:v>
                </c:pt>
                <c:pt idx="27">
                  <c:v>34.659999847412102</c:v>
                </c:pt>
                <c:pt idx="28">
                  <c:v>35.340000152587898</c:v>
                </c:pt>
              </c:numCache>
            </c:numRef>
          </c:val>
          <c:smooth val="0"/>
          <c:extLst>
            <c:ext xmlns:c16="http://schemas.microsoft.com/office/drawing/2014/chart" uri="{C3380CC4-5D6E-409C-BE32-E72D297353CC}">
              <c16:uniqueId val="{00000002-846F-46D3-AEDC-D7A1A13074D5}"/>
            </c:ext>
          </c:extLst>
        </c:ser>
        <c:dLbls>
          <c:showLegendKey val="0"/>
          <c:showVal val="0"/>
          <c:showCatName val="0"/>
          <c:showSerName val="0"/>
          <c:showPercent val="0"/>
          <c:showBubbleSize val="0"/>
        </c:dLbls>
        <c:smooth val="0"/>
        <c:axId val="1672639951"/>
        <c:axId val="1678579311"/>
      </c:lineChart>
      <c:catAx>
        <c:axId val="16726399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678579311"/>
        <c:crosses val="autoZero"/>
        <c:auto val="1"/>
        <c:lblAlgn val="ctr"/>
        <c:lblOffset val="100"/>
        <c:noMultiLvlLbl val="0"/>
      </c:catAx>
      <c:valAx>
        <c:axId val="167857931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672639951"/>
        <c:crosses val="autoZero"/>
        <c:crossBetween val="between"/>
      </c:valAx>
      <c:spPr>
        <a:noFill/>
        <a:ln>
          <a:noFill/>
        </a:ln>
        <a:effectLst/>
      </c:spPr>
    </c:plotArea>
    <c:legend>
      <c:legendPos val="b"/>
      <c:layout>
        <c:manualLayout>
          <c:xMode val="edge"/>
          <c:yMode val="edge"/>
          <c:x val="3.6296923858670921E-2"/>
          <c:y val="0.35244715098352108"/>
          <c:w val="0.47782195117767134"/>
          <c:h val="0.16682884302942511"/>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800">
          <a:solidFill>
            <a:schemeClr val="tx1"/>
          </a:solidFill>
        </a:defRPr>
      </a:pPr>
      <a:endParaRPr lang="en-US"/>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60" b="0" i="0" u="none" strike="noStrike" kern="1200" spc="0" baseline="0">
                <a:solidFill>
                  <a:schemeClr val="tx1"/>
                </a:solidFill>
                <a:latin typeface="+mn-lt"/>
                <a:ea typeface="+mn-ea"/>
                <a:cs typeface="+mn-cs"/>
              </a:defRPr>
            </a:pPr>
            <a:r>
              <a:rPr lang="en-US" sz="1000" b="1" dirty="0"/>
              <a:t>Mozambique</a:t>
            </a:r>
          </a:p>
        </c:rich>
      </c:tx>
      <c:layout>
        <c:manualLayout>
          <c:xMode val="edge"/>
          <c:yMode val="edge"/>
          <c:x val="0.34561719958354936"/>
          <c:y val="1.6252761496656221E-2"/>
        </c:manualLayout>
      </c:layout>
      <c:overlay val="0"/>
      <c:spPr>
        <a:noFill/>
        <a:ln>
          <a:noFill/>
        </a:ln>
        <a:effectLst/>
      </c:spPr>
      <c:txPr>
        <a:bodyPr rot="0" spcFirstLastPara="1" vertOverflow="ellipsis" vert="horz" wrap="square" anchor="ctr" anchorCtr="1"/>
        <a:lstStyle/>
        <a:p>
          <a:pPr>
            <a:defRPr sz="96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11987652152304404"/>
          <c:y val="8.8635095751140841E-2"/>
          <c:w val="0.8202694075860858"/>
          <c:h val="0.70460925273463015"/>
        </c:manualLayout>
      </c:layout>
      <c:lineChart>
        <c:grouping val="standard"/>
        <c:varyColors val="0"/>
        <c:ser>
          <c:idx val="0"/>
          <c:order val="0"/>
          <c:tx>
            <c:strRef>
              <c:f>Employment!$B$8</c:f>
              <c:strCache>
                <c:ptCount val="1"/>
                <c:pt idx="0">
                  <c:v>Agriculture </c:v>
                </c:pt>
              </c:strCache>
            </c:strRef>
          </c:tx>
          <c:spPr>
            <a:ln w="28575" cap="rnd">
              <a:solidFill>
                <a:schemeClr val="accent1"/>
              </a:solidFill>
              <a:round/>
            </a:ln>
            <a:effectLst/>
          </c:spPr>
          <c:marker>
            <c:symbol val="none"/>
          </c:marker>
          <c:cat>
            <c:strRef>
              <c:f>Employment!$C$4:$AE$4</c:f>
              <c:strCach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strCache>
            </c:strRef>
          </c:cat>
          <c:val>
            <c:numRef>
              <c:f>Employment!$C$8:$AE$8</c:f>
              <c:numCache>
                <c:formatCode>0</c:formatCode>
                <c:ptCount val="29"/>
                <c:pt idx="0">
                  <c:v>84.430000305175795</c:v>
                </c:pt>
                <c:pt idx="1">
                  <c:v>84.540000915527301</c:v>
                </c:pt>
                <c:pt idx="2">
                  <c:v>84.360000610351605</c:v>
                </c:pt>
                <c:pt idx="3">
                  <c:v>84.230003356933594</c:v>
                </c:pt>
                <c:pt idx="4">
                  <c:v>84.160003662109403</c:v>
                </c:pt>
                <c:pt idx="5">
                  <c:v>83.819999694824205</c:v>
                </c:pt>
                <c:pt idx="6">
                  <c:v>83.419998168945298</c:v>
                </c:pt>
                <c:pt idx="7">
                  <c:v>82.970001220703097</c:v>
                </c:pt>
                <c:pt idx="8">
                  <c:v>82.410003662109403</c:v>
                </c:pt>
                <c:pt idx="9">
                  <c:v>82.220001220703097</c:v>
                </c:pt>
                <c:pt idx="10">
                  <c:v>81.519996643066406</c:v>
                </c:pt>
                <c:pt idx="11">
                  <c:v>80.949996948242202</c:v>
                </c:pt>
                <c:pt idx="12">
                  <c:v>80.470001220703097</c:v>
                </c:pt>
                <c:pt idx="13">
                  <c:v>79.980003356933594</c:v>
                </c:pt>
                <c:pt idx="14">
                  <c:v>79.510002136230497</c:v>
                </c:pt>
                <c:pt idx="15">
                  <c:v>78.860000610351605</c:v>
                </c:pt>
                <c:pt idx="16">
                  <c:v>78.260002136230497</c:v>
                </c:pt>
                <c:pt idx="17">
                  <c:v>77.650001525878906</c:v>
                </c:pt>
                <c:pt idx="18">
                  <c:v>77.050003051757798</c:v>
                </c:pt>
                <c:pt idx="19">
                  <c:v>76.389999389648395</c:v>
                </c:pt>
                <c:pt idx="20">
                  <c:v>75.629997253417997</c:v>
                </c:pt>
                <c:pt idx="21">
                  <c:v>74.849998474121094</c:v>
                </c:pt>
                <c:pt idx="22">
                  <c:v>74.019996643066406</c:v>
                </c:pt>
                <c:pt idx="23">
                  <c:v>73.120002746582003</c:v>
                </c:pt>
                <c:pt idx="24">
                  <c:v>72.120002746582003</c:v>
                </c:pt>
                <c:pt idx="25">
                  <c:v>71.559997558593807</c:v>
                </c:pt>
                <c:pt idx="26">
                  <c:v>71.059997558593807</c:v>
                </c:pt>
                <c:pt idx="27">
                  <c:v>70.589996337890597</c:v>
                </c:pt>
                <c:pt idx="28">
                  <c:v>70.220001220703097</c:v>
                </c:pt>
              </c:numCache>
            </c:numRef>
          </c:val>
          <c:smooth val="0"/>
          <c:extLst>
            <c:ext xmlns:c16="http://schemas.microsoft.com/office/drawing/2014/chart" uri="{C3380CC4-5D6E-409C-BE32-E72D297353CC}">
              <c16:uniqueId val="{00000000-50D6-49F2-97EA-7AB7A7CC293B}"/>
            </c:ext>
          </c:extLst>
        </c:ser>
        <c:ser>
          <c:idx val="1"/>
          <c:order val="1"/>
          <c:tx>
            <c:strRef>
              <c:f>Employment!$B$9</c:f>
              <c:strCache>
                <c:ptCount val="1"/>
                <c:pt idx="0">
                  <c:v>Industry</c:v>
                </c:pt>
              </c:strCache>
            </c:strRef>
          </c:tx>
          <c:spPr>
            <a:ln w="28575" cap="rnd">
              <a:solidFill>
                <a:schemeClr val="tx1"/>
              </a:solidFill>
              <a:round/>
            </a:ln>
            <a:effectLst/>
          </c:spPr>
          <c:marker>
            <c:symbol val="none"/>
          </c:marker>
          <c:cat>
            <c:strRef>
              <c:f>Employment!$C$4:$AE$4</c:f>
              <c:strCach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strCache>
            </c:strRef>
          </c:cat>
          <c:val>
            <c:numRef>
              <c:f>Employment!$C$9:$AE$9</c:f>
              <c:numCache>
                <c:formatCode>0</c:formatCode>
                <c:ptCount val="29"/>
                <c:pt idx="0">
                  <c:v>2.5</c:v>
                </c:pt>
                <c:pt idx="1">
                  <c:v>2.5099999904632599</c:v>
                </c:pt>
                <c:pt idx="2">
                  <c:v>2.5199999809265101</c:v>
                </c:pt>
                <c:pt idx="3">
                  <c:v>2.53999996185303</c:v>
                </c:pt>
                <c:pt idx="4">
                  <c:v>2.5599999427795401</c:v>
                </c:pt>
                <c:pt idx="5">
                  <c:v>2.6099998950958301</c:v>
                </c:pt>
                <c:pt idx="6">
                  <c:v>2.6800000667571999</c:v>
                </c:pt>
                <c:pt idx="7">
                  <c:v>2.7599999904632599</c:v>
                </c:pt>
                <c:pt idx="8">
                  <c:v>2.8499999046325701</c:v>
                </c:pt>
                <c:pt idx="9">
                  <c:v>2.9500000476837198</c:v>
                </c:pt>
                <c:pt idx="10">
                  <c:v>3.0999999046325701</c:v>
                </c:pt>
                <c:pt idx="11">
                  <c:v>3.2300000190734899</c:v>
                </c:pt>
                <c:pt idx="12">
                  <c:v>3.3900001049041699</c:v>
                </c:pt>
                <c:pt idx="13">
                  <c:v>3.6099998950958301</c:v>
                </c:pt>
                <c:pt idx="14">
                  <c:v>3.8399999141693102</c:v>
                </c:pt>
                <c:pt idx="15">
                  <c:v>4.1100001335143999</c:v>
                </c:pt>
                <c:pt idx="16">
                  <c:v>4.3800001144409197</c:v>
                </c:pt>
                <c:pt idx="17">
                  <c:v>4.6799998283386204</c:v>
                </c:pt>
                <c:pt idx="18">
                  <c:v>5</c:v>
                </c:pt>
                <c:pt idx="19">
                  <c:v>5.3600001335143999</c:v>
                </c:pt>
                <c:pt idx="20">
                  <c:v>5.7600002288818404</c:v>
                </c:pt>
                <c:pt idx="21">
                  <c:v>6.1799998283386204</c:v>
                </c:pt>
                <c:pt idx="22">
                  <c:v>6.6500000953674299</c:v>
                </c:pt>
                <c:pt idx="23">
                  <c:v>7.1500000953674299</c:v>
                </c:pt>
                <c:pt idx="24">
                  <c:v>7.75</c:v>
                </c:pt>
                <c:pt idx="25">
                  <c:v>8.0299997329711896</c:v>
                </c:pt>
                <c:pt idx="26">
                  <c:v>8.25</c:v>
                </c:pt>
                <c:pt idx="27">
                  <c:v>8.4499998092651403</c:v>
                </c:pt>
                <c:pt idx="28">
                  <c:v>8.5900001525878906</c:v>
                </c:pt>
              </c:numCache>
            </c:numRef>
          </c:val>
          <c:smooth val="0"/>
          <c:extLst>
            <c:ext xmlns:c16="http://schemas.microsoft.com/office/drawing/2014/chart" uri="{C3380CC4-5D6E-409C-BE32-E72D297353CC}">
              <c16:uniqueId val="{00000001-50D6-49F2-97EA-7AB7A7CC293B}"/>
            </c:ext>
          </c:extLst>
        </c:ser>
        <c:ser>
          <c:idx val="2"/>
          <c:order val="2"/>
          <c:tx>
            <c:strRef>
              <c:f>Employment!$B$10</c:f>
              <c:strCache>
                <c:ptCount val="1"/>
                <c:pt idx="0">
                  <c:v>Services</c:v>
                </c:pt>
              </c:strCache>
            </c:strRef>
          </c:tx>
          <c:spPr>
            <a:ln w="28575" cap="rnd">
              <a:solidFill>
                <a:schemeClr val="accent3"/>
              </a:solidFill>
              <a:round/>
            </a:ln>
            <a:effectLst/>
          </c:spPr>
          <c:marker>
            <c:symbol val="none"/>
          </c:marker>
          <c:cat>
            <c:strRef>
              <c:f>Employment!$C$4:$AE$4</c:f>
              <c:strCach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strCache>
            </c:strRef>
          </c:cat>
          <c:val>
            <c:numRef>
              <c:f>Employment!$C$10:$AE$10</c:f>
              <c:numCache>
                <c:formatCode>0</c:formatCode>
                <c:ptCount val="29"/>
                <c:pt idx="0">
                  <c:v>13.069999694824199</c:v>
                </c:pt>
                <c:pt idx="1">
                  <c:v>12.960000038146999</c:v>
                </c:pt>
                <c:pt idx="2">
                  <c:v>13.1199998855591</c:v>
                </c:pt>
                <c:pt idx="3">
                  <c:v>13.2299995422363</c:v>
                </c:pt>
                <c:pt idx="4">
                  <c:v>13.2799997329712</c:v>
                </c:pt>
                <c:pt idx="5">
                  <c:v>13.560000419616699</c:v>
                </c:pt>
                <c:pt idx="6">
                  <c:v>13.9099998474121</c:v>
                </c:pt>
                <c:pt idx="7">
                  <c:v>14.2700004577637</c:v>
                </c:pt>
                <c:pt idx="8">
                  <c:v>14.7399997711182</c:v>
                </c:pt>
                <c:pt idx="9">
                  <c:v>14.829999923706101</c:v>
                </c:pt>
                <c:pt idx="10">
                  <c:v>15.3800001144409</c:v>
                </c:pt>
                <c:pt idx="11">
                  <c:v>15.819999694824199</c:v>
                </c:pt>
                <c:pt idx="12">
                  <c:v>16.139999389648398</c:v>
                </c:pt>
                <c:pt idx="13">
                  <c:v>16.409999847412099</c:v>
                </c:pt>
                <c:pt idx="14">
                  <c:v>16.649999618530298</c:v>
                </c:pt>
                <c:pt idx="15">
                  <c:v>17.030000686645501</c:v>
                </c:pt>
                <c:pt idx="16">
                  <c:v>17.360000610351602</c:v>
                </c:pt>
                <c:pt idx="17">
                  <c:v>17.670000076293899</c:v>
                </c:pt>
                <c:pt idx="18">
                  <c:v>17.950000762939499</c:v>
                </c:pt>
                <c:pt idx="19">
                  <c:v>18.25</c:v>
                </c:pt>
                <c:pt idx="20">
                  <c:v>18.610000610351602</c:v>
                </c:pt>
                <c:pt idx="21">
                  <c:v>18.969999313354499</c:v>
                </c:pt>
                <c:pt idx="22">
                  <c:v>19.340000152587901</c:v>
                </c:pt>
                <c:pt idx="23">
                  <c:v>19.7399997711182</c:v>
                </c:pt>
                <c:pt idx="24">
                  <c:v>20.139999389648398</c:v>
                </c:pt>
                <c:pt idx="25">
                  <c:v>20.409999847412099</c:v>
                </c:pt>
                <c:pt idx="26">
                  <c:v>20.700000762939499</c:v>
                </c:pt>
                <c:pt idx="27">
                  <c:v>20.959999084472699</c:v>
                </c:pt>
                <c:pt idx="28">
                  <c:v>21.190000534057599</c:v>
                </c:pt>
              </c:numCache>
            </c:numRef>
          </c:val>
          <c:smooth val="0"/>
          <c:extLst>
            <c:ext xmlns:c16="http://schemas.microsoft.com/office/drawing/2014/chart" uri="{C3380CC4-5D6E-409C-BE32-E72D297353CC}">
              <c16:uniqueId val="{00000002-50D6-49F2-97EA-7AB7A7CC293B}"/>
            </c:ext>
          </c:extLst>
        </c:ser>
        <c:dLbls>
          <c:showLegendKey val="0"/>
          <c:showVal val="0"/>
          <c:showCatName val="0"/>
          <c:showSerName val="0"/>
          <c:showPercent val="0"/>
          <c:showBubbleSize val="0"/>
        </c:dLbls>
        <c:smooth val="0"/>
        <c:axId val="1564359999"/>
        <c:axId val="1577186079"/>
      </c:lineChart>
      <c:catAx>
        <c:axId val="15643599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577186079"/>
        <c:crosses val="autoZero"/>
        <c:auto val="1"/>
        <c:lblAlgn val="ctr"/>
        <c:lblOffset val="100"/>
        <c:noMultiLvlLbl val="0"/>
      </c:catAx>
      <c:valAx>
        <c:axId val="1577186079"/>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564359999"/>
        <c:crosses val="autoZero"/>
        <c:crossBetween val="between"/>
      </c:valAx>
      <c:spPr>
        <a:noFill/>
        <a:ln>
          <a:noFill/>
        </a:ln>
        <a:effectLst/>
      </c:spPr>
    </c:plotArea>
    <c:legend>
      <c:legendPos val="b"/>
      <c:layout>
        <c:manualLayout>
          <c:xMode val="edge"/>
          <c:yMode val="edge"/>
          <c:x val="0.15338409004245912"/>
          <c:y val="0.33700968895635741"/>
          <c:w val="0.37763719949785995"/>
          <c:h val="0.18051951475362046"/>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800">
          <a:solidFill>
            <a:schemeClr val="tx1"/>
          </a:solidFill>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60" b="1" i="0" u="none" strike="noStrike" kern="1200" spc="0" baseline="0">
                <a:solidFill>
                  <a:schemeClr val="tx1"/>
                </a:solidFill>
                <a:latin typeface="+mn-lt"/>
                <a:ea typeface="+mn-ea"/>
                <a:cs typeface="+mn-cs"/>
              </a:defRPr>
            </a:pPr>
            <a:r>
              <a:rPr lang="pt-PT" b="1" dirty="0"/>
              <a:t>Crescimento Real do PIB (billion de Meticais )</a:t>
            </a:r>
          </a:p>
        </c:rich>
      </c:tx>
      <c:layout>
        <c:manualLayout>
          <c:xMode val="edge"/>
          <c:yMode val="edge"/>
          <c:x val="0.18621016122984627"/>
          <c:y val="3.6745406824146981E-2"/>
        </c:manualLayout>
      </c:layout>
      <c:overlay val="0"/>
      <c:spPr>
        <a:noFill/>
        <a:ln>
          <a:noFill/>
        </a:ln>
        <a:effectLst/>
      </c:spPr>
      <c:txPr>
        <a:bodyPr rot="0" spcFirstLastPara="1" vertOverflow="ellipsis" vert="horz" wrap="square" anchor="ctr" anchorCtr="1"/>
        <a:lstStyle/>
        <a:p>
          <a:pPr>
            <a:defRPr sz="96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15345988001499813"/>
          <c:y val="0.21031062062124123"/>
          <c:w val="0.79876580574008049"/>
          <c:h val="0.44322648645297291"/>
        </c:manualLayout>
      </c:layout>
      <c:lineChart>
        <c:grouping val="standard"/>
        <c:varyColors val="0"/>
        <c:ser>
          <c:idx val="0"/>
          <c:order val="0"/>
          <c:tx>
            <c:strRef>
              <c:f>'Macro indicators_Scenarios'!$B$3</c:f>
              <c:strCache>
                <c:ptCount val="1"/>
                <c:pt idx="0">
                  <c:v>GDP without LNG</c:v>
                </c:pt>
              </c:strCache>
            </c:strRef>
          </c:tx>
          <c:spPr>
            <a:ln w="28575" cap="rnd">
              <a:solidFill>
                <a:schemeClr val="accent1"/>
              </a:solidFill>
              <a:round/>
            </a:ln>
            <a:effectLst/>
          </c:spPr>
          <c:marker>
            <c:symbol val="none"/>
          </c:marker>
          <c:cat>
            <c:numRef>
              <c:f>'Macro indicators_Scenarios'!$C$2:$AG$2</c:f>
              <c:numCache>
                <c:formatCode>General</c:formatCode>
                <c:ptCount val="16"/>
                <c:pt idx="0">
                  <c:v>2018</c:v>
                </c:pt>
                <c:pt idx="1">
                  <c:v>2019</c:v>
                </c:pt>
                <c:pt idx="2">
                  <c:v>2020</c:v>
                </c:pt>
                <c:pt idx="3">
                  <c:v>2021</c:v>
                </c:pt>
                <c:pt idx="4">
                  <c:v>2022</c:v>
                </c:pt>
                <c:pt idx="5">
                  <c:v>2023</c:v>
                </c:pt>
                <c:pt idx="6">
                  <c:v>2024</c:v>
                </c:pt>
                <c:pt idx="7">
                  <c:v>2025</c:v>
                </c:pt>
                <c:pt idx="8">
                  <c:v>2026</c:v>
                </c:pt>
                <c:pt idx="9">
                  <c:v>2027</c:v>
                </c:pt>
                <c:pt idx="10">
                  <c:v>2028</c:v>
                </c:pt>
                <c:pt idx="11">
                  <c:v>2029</c:v>
                </c:pt>
                <c:pt idx="12">
                  <c:v>2030</c:v>
                </c:pt>
                <c:pt idx="13">
                  <c:v>2031</c:v>
                </c:pt>
                <c:pt idx="14">
                  <c:v>2032</c:v>
                </c:pt>
                <c:pt idx="15">
                  <c:v>2033</c:v>
                </c:pt>
              </c:numCache>
              <c:extLst/>
            </c:numRef>
          </c:cat>
          <c:val>
            <c:numRef>
              <c:f>'Macro indicators_Scenarios'!$C$3:$AG$3</c:f>
              <c:numCache>
                <c:formatCode>_(* #,##0_);_(* \(#,##0\);_(* "-"??_);_(@_)</c:formatCode>
                <c:ptCount val="16"/>
                <c:pt idx="0">
                  <c:v>660475.90047073364</c:v>
                </c:pt>
                <c:pt idx="1">
                  <c:v>675557.9517326355</c:v>
                </c:pt>
                <c:pt idx="2">
                  <c:v>679855.21094950335</c:v>
                </c:pt>
                <c:pt idx="3">
                  <c:v>699792.46552849095</c:v>
                </c:pt>
                <c:pt idx="4">
                  <c:v>722394.96930213703</c:v>
                </c:pt>
                <c:pt idx="5">
                  <c:v>747645.22392207873</c:v>
                </c:pt>
                <c:pt idx="6">
                  <c:v>773869.86768189236</c:v>
                </c:pt>
                <c:pt idx="7">
                  <c:v>796277.69076249679</c:v>
                </c:pt>
                <c:pt idx="8">
                  <c:v>819431.35840654687</c:v>
                </c:pt>
                <c:pt idx="9">
                  <c:v>843358.06269267004</c:v>
                </c:pt>
                <c:pt idx="10">
                  <c:v>868086.05315755727</c:v>
                </c:pt>
                <c:pt idx="11">
                  <c:v>893644.67997541185</c:v>
                </c:pt>
                <c:pt idx="12">
                  <c:v>920064.4389692574</c:v>
                </c:pt>
                <c:pt idx="13">
                  <c:v>947377.01853422867</c:v>
                </c:pt>
                <c:pt idx="14">
                  <c:v>975615.34855655301</c:v>
                </c:pt>
                <c:pt idx="15">
                  <c:v>1004813.651415695</c:v>
                </c:pt>
              </c:numCache>
              <c:extLst/>
            </c:numRef>
          </c:val>
          <c:smooth val="0"/>
          <c:extLst>
            <c:ext xmlns:c16="http://schemas.microsoft.com/office/drawing/2014/chart" uri="{C3380CC4-5D6E-409C-BE32-E72D297353CC}">
              <c16:uniqueId val="{00000000-33DC-4EC3-BFEC-76EBA48B8139}"/>
            </c:ext>
          </c:extLst>
        </c:ser>
        <c:ser>
          <c:idx val="2"/>
          <c:order val="2"/>
          <c:tx>
            <c:v>GDP with LNG</c:v>
          </c:tx>
          <c:spPr>
            <a:ln w="28575" cap="rnd">
              <a:solidFill>
                <a:schemeClr val="accent3"/>
              </a:solidFill>
              <a:round/>
            </a:ln>
            <a:effectLst/>
          </c:spPr>
          <c:marker>
            <c:symbol val="none"/>
          </c:marker>
          <c:cat>
            <c:numRef>
              <c:f>'Macro indicators_Scenarios'!$C$2:$AG$2</c:f>
              <c:numCache>
                <c:formatCode>General</c:formatCode>
                <c:ptCount val="16"/>
                <c:pt idx="0">
                  <c:v>2018</c:v>
                </c:pt>
                <c:pt idx="1">
                  <c:v>2019</c:v>
                </c:pt>
                <c:pt idx="2">
                  <c:v>2020</c:v>
                </c:pt>
                <c:pt idx="3">
                  <c:v>2021</c:v>
                </c:pt>
                <c:pt idx="4">
                  <c:v>2022</c:v>
                </c:pt>
                <c:pt idx="5">
                  <c:v>2023</c:v>
                </c:pt>
                <c:pt idx="6">
                  <c:v>2024</c:v>
                </c:pt>
                <c:pt idx="7">
                  <c:v>2025</c:v>
                </c:pt>
                <c:pt idx="8">
                  <c:v>2026</c:v>
                </c:pt>
                <c:pt idx="9">
                  <c:v>2027</c:v>
                </c:pt>
                <c:pt idx="10">
                  <c:v>2028</c:v>
                </c:pt>
                <c:pt idx="11">
                  <c:v>2029</c:v>
                </c:pt>
                <c:pt idx="12">
                  <c:v>2030</c:v>
                </c:pt>
                <c:pt idx="13">
                  <c:v>2031</c:v>
                </c:pt>
                <c:pt idx="14">
                  <c:v>2032</c:v>
                </c:pt>
                <c:pt idx="15">
                  <c:v>2033</c:v>
                </c:pt>
              </c:numCache>
              <c:extLst/>
            </c:numRef>
          </c:cat>
          <c:val>
            <c:numRef>
              <c:f>'Macro indicators_Scenarios'!$C$5:$AG$5</c:f>
              <c:numCache>
                <c:formatCode>_(* #,##0_);_(* \(#,##0\);_(* "-"??_);_(@_)</c:formatCode>
                <c:ptCount val="16"/>
                <c:pt idx="0">
                  <c:v>667202.64812743722</c:v>
                </c:pt>
                <c:pt idx="1">
                  <c:v>684896.98289692053</c:v>
                </c:pt>
                <c:pt idx="2">
                  <c:v>691351.01319641795</c:v>
                </c:pt>
                <c:pt idx="3">
                  <c:v>735977.67333207279</c:v>
                </c:pt>
                <c:pt idx="4">
                  <c:v>799816.10440437438</c:v>
                </c:pt>
                <c:pt idx="5">
                  <c:v>911872.33640954609</c:v>
                </c:pt>
                <c:pt idx="6">
                  <c:v>927827.61688503972</c:v>
                </c:pt>
                <c:pt idx="7">
                  <c:v>1061913.5705534103</c:v>
                </c:pt>
                <c:pt idx="8">
                  <c:v>1527397.0913652813</c:v>
                </c:pt>
                <c:pt idx="9">
                  <c:v>1516893.6062039351</c:v>
                </c:pt>
                <c:pt idx="10">
                  <c:v>1521839.679317337</c:v>
                </c:pt>
                <c:pt idx="11">
                  <c:v>1521573.9598987373</c:v>
                </c:pt>
                <c:pt idx="12">
                  <c:v>1541022.7038377482</c:v>
                </c:pt>
                <c:pt idx="13">
                  <c:v>1581134.5253437296</c:v>
                </c:pt>
                <c:pt idx="14">
                  <c:v>1611586.7276827712</c:v>
                </c:pt>
                <c:pt idx="15">
                  <c:v>1639868.4636517013</c:v>
                </c:pt>
              </c:numCache>
              <c:extLst/>
            </c:numRef>
          </c:val>
          <c:smooth val="0"/>
          <c:extLst>
            <c:ext xmlns:c16="http://schemas.microsoft.com/office/drawing/2014/chart" uri="{C3380CC4-5D6E-409C-BE32-E72D297353CC}">
              <c16:uniqueId val="{00000001-33DC-4EC3-BFEC-76EBA48B8139}"/>
            </c:ext>
          </c:extLst>
        </c:ser>
        <c:ser>
          <c:idx val="3"/>
          <c:order val="3"/>
          <c:tx>
            <c:v>GDP with LNG - Mamba delay</c:v>
          </c:tx>
          <c:spPr>
            <a:ln w="28575" cap="rnd">
              <a:solidFill>
                <a:schemeClr val="accent4"/>
              </a:solidFill>
              <a:prstDash val="sysDash"/>
              <a:round/>
            </a:ln>
            <a:effectLst/>
          </c:spPr>
          <c:marker>
            <c:symbol val="none"/>
          </c:marker>
          <c:cat>
            <c:numRef>
              <c:f>'Macro indicators_Scenarios'!$C$2:$AG$2</c:f>
              <c:numCache>
                <c:formatCode>General</c:formatCode>
                <c:ptCount val="16"/>
                <c:pt idx="0">
                  <c:v>2018</c:v>
                </c:pt>
                <c:pt idx="1">
                  <c:v>2019</c:v>
                </c:pt>
                <c:pt idx="2">
                  <c:v>2020</c:v>
                </c:pt>
                <c:pt idx="3">
                  <c:v>2021</c:v>
                </c:pt>
                <c:pt idx="4">
                  <c:v>2022</c:v>
                </c:pt>
                <c:pt idx="5">
                  <c:v>2023</c:v>
                </c:pt>
                <c:pt idx="6">
                  <c:v>2024</c:v>
                </c:pt>
                <c:pt idx="7">
                  <c:v>2025</c:v>
                </c:pt>
                <c:pt idx="8">
                  <c:v>2026</c:v>
                </c:pt>
                <c:pt idx="9">
                  <c:v>2027</c:v>
                </c:pt>
                <c:pt idx="10">
                  <c:v>2028</c:v>
                </c:pt>
                <c:pt idx="11">
                  <c:v>2029</c:v>
                </c:pt>
                <c:pt idx="12">
                  <c:v>2030</c:v>
                </c:pt>
                <c:pt idx="13">
                  <c:v>2031</c:v>
                </c:pt>
                <c:pt idx="14">
                  <c:v>2032</c:v>
                </c:pt>
                <c:pt idx="15">
                  <c:v>2033</c:v>
                </c:pt>
              </c:numCache>
              <c:extLst/>
            </c:numRef>
          </c:cat>
          <c:val>
            <c:numRef>
              <c:f>'Macro indicators_Scenarios'!$C$6:$AG$6</c:f>
              <c:numCache>
                <c:formatCode>_(* #,##0_);_(* \(#,##0\);_(* "-"??_);_(@_)</c:formatCode>
                <c:ptCount val="16"/>
                <c:pt idx="0">
                  <c:v>667202.64812743722</c:v>
                </c:pt>
                <c:pt idx="1">
                  <c:v>684896.98289692053</c:v>
                </c:pt>
                <c:pt idx="2">
                  <c:v>691351.01319641795</c:v>
                </c:pt>
                <c:pt idx="3">
                  <c:v>727073.64339029393</c:v>
                </c:pt>
                <c:pt idx="4">
                  <c:v>767797.57798569114</c:v>
                </c:pt>
                <c:pt idx="5">
                  <c:v>880541.93433574308</c:v>
                </c:pt>
                <c:pt idx="6">
                  <c:v>872232.83024711441</c:v>
                </c:pt>
                <c:pt idx="7">
                  <c:v>1035971.187115716</c:v>
                </c:pt>
                <c:pt idx="8">
                  <c:v>1207572.6599682651</c:v>
                </c:pt>
                <c:pt idx="9">
                  <c:v>1214101.3863621061</c:v>
                </c:pt>
                <c:pt idx="10">
                  <c:v>1249210.3729032476</c:v>
                </c:pt>
                <c:pt idx="11">
                  <c:v>1251093.6093817996</c:v>
                </c:pt>
                <c:pt idx="12">
                  <c:v>1565372.3291573955</c:v>
                </c:pt>
                <c:pt idx="13">
                  <c:v>1592234.8416456962</c:v>
                </c:pt>
                <c:pt idx="14">
                  <c:v>1620540.5582557167</c:v>
                </c:pt>
                <c:pt idx="15">
                  <c:v>1641181.3359769424</c:v>
                </c:pt>
              </c:numCache>
              <c:extLst/>
            </c:numRef>
          </c:val>
          <c:smooth val="0"/>
          <c:extLst>
            <c:ext xmlns:c16="http://schemas.microsoft.com/office/drawing/2014/chart" uri="{C3380CC4-5D6E-409C-BE32-E72D297353CC}">
              <c16:uniqueId val="{00000002-33DC-4EC3-BFEC-76EBA48B8139}"/>
            </c:ext>
          </c:extLst>
        </c:ser>
        <c:dLbls>
          <c:showLegendKey val="0"/>
          <c:showVal val="0"/>
          <c:showCatName val="0"/>
          <c:showSerName val="0"/>
          <c:showPercent val="0"/>
          <c:showBubbleSize val="0"/>
        </c:dLbls>
        <c:smooth val="0"/>
        <c:axId val="72501183"/>
        <c:axId val="66742943"/>
        <c:extLst>
          <c:ext xmlns:c15="http://schemas.microsoft.com/office/drawing/2012/chart" uri="{02D57815-91ED-43cb-92C2-25804820EDAC}">
            <c15:filteredLineSeries>
              <c15:ser>
                <c:idx val="1"/>
                <c:order val="1"/>
                <c:tx>
                  <c:strRef>
                    <c:extLst>
                      <c:ext uri="{02D57815-91ED-43cb-92C2-25804820EDAC}">
                        <c15:formulaRef>
                          <c15:sqref>'Macro indicators_Scenarios'!$B$4</c15:sqref>
                        </c15:formulaRef>
                      </c:ext>
                    </c:extLst>
                    <c:strCache>
                      <c:ptCount val="1"/>
                      <c:pt idx="0">
                        <c:v>GDP with LNG Pre-COVID</c:v>
                      </c:pt>
                    </c:strCache>
                  </c:strRef>
                </c:tx>
                <c:spPr>
                  <a:ln w="28575" cap="rnd">
                    <a:solidFill>
                      <a:schemeClr val="accent2"/>
                    </a:solidFill>
                    <a:round/>
                  </a:ln>
                  <a:effectLst/>
                </c:spPr>
                <c:marker>
                  <c:symbol val="none"/>
                </c:marker>
                <c:cat>
                  <c:numRef>
                    <c:extLst>
                      <c:ext uri="{02D57815-91ED-43cb-92C2-25804820EDAC}">
                        <c15:formulaRef>
                          <c15:sqref>'Macro indicators_Scenarios'!$C$2:$AG$2</c15:sqref>
                        </c15:formulaRef>
                      </c:ext>
                    </c:extLst>
                    <c:numCache>
                      <c:formatCode>General</c:formatCode>
                      <c:ptCount val="16"/>
                      <c:pt idx="0">
                        <c:v>2018</c:v>
                      </c:pt>
                      <c:pt idx="1">
                        <c:v>2019</c:v>
                      </c:pt>
                      <c:pt idx="2">
                        <c:v>2020</c:v>
                      </c:pt>
                      <c:pt idx="3">
                        <c:v>2021</c:v>
                      </c:pt>
                      <c:pt idx="4">
                        <c:v>2022</c:v>
                      </c:pt>
                      <c:pt idx="5">
                        <c:v>2023</c:v>
                      </c:pt>
                      <c:pt idx="6">
                        <c:v>2024</c:v>
                      </c:pt>
                      <c:pt idx="7">
                        <c:v>2025</c:v>
                      </c:pt>
                      <c:pt idx="8">
                        <c:v>2026</c:v>
                      </c:pt>
                      <c:pt idx="9">
                        <c:v>2027</c:v>
                      </c:pt>
                      <c:pt idx="10">
                        <c:v>2028</c:v>
                      </c:pt>
                      <c:pt idx="11">
                        <c:v>2029</c:v>
                      </c:pt>
                      <c:pt idx="12">
                        <c:v>2030</c:v>
                      </c:pt>
                      <c:pt idx="13">
                        <c:v>2031</c:v>
                      </c:pt>
                      <c:pt idx="14">
                        <c:v>2032</c:v>
                      </c:pt>
                      <c:pt idx="15">
                        <c:v>2033</c:v>
                      </c:pt>
                    </c:numCache>
                  </c:numRef>
                </c:cat>
                <c:val>
                  <c:numRef>
                    <c:extLst>
                      <c:ext uri="{02D57815-91ED-43cb-92C2-25804820EDAC}">
                        <c15:formulaRef>
                          <c15:sqref>'Macro indicators_Scenarios'!$C$4:$AG$4</c15:sqref>
                        </c15:formulaRef>
                      </c:ext>
                    </c:extLst>
                    <c:numCache>
                      <c:formatCode>_(* #,##0_);_(* \(#,##0\);_(* "-"??_);_(@_)</c:formatCode>
                      <c:ptCount val="16"/>
                      <c:pt idx="0">
                        <c:v>667199.75511004566</c:v>
                      </c:pt>
                      <c:pt idx="1">
                        <c:v>684895.15477170597</c:v>
                      </c:pt>
                      <c:pt idx="2">
                        <c:v>720458.98792401014</c:v>
                      </c:pt>
                      <c:pt idx="3">
                        <c:v>756565.08953939297</c:v>
                      </c:pt>
                      <c:pt idx="4">
                        <c:v>832960.58518370823</c:v>
                      </c:pt>
                      <c:pt idx="5">
                        <c:v>919791.69441168127</c:v>
                      </c:pt>
                      <c:pt idx="6">
                        <c:v>1228800.8313534469</c:v>
                      </c:pt>
                      <c:pt idx="7">
                        <c:v>1573236.7894078775</c:v>
                      </c:pt>
                      <c:pt idx="8">
                        <c:v>1553619.4291697955</c:v>
                      </c:pt>
                      <c:pt idx="9">
                        <c:v>1548872.2185857981</c:v>
                      </c:pt>
                      <c:pt idx="10">
                        <c:v>1534978.8077910193</c:v>
                      </c:pt>
                      <c:pt idx="11">
                        <c:v>1534382.4698318117</c:v>
                      </c:pt>
                      <c:pt idx="12">
                        <c:v>1542867.291493779</c:v>
                      </c:pt>
                      <c:pt idx="13">
                        <c:v>1583065.7893440635</c:v>
                      </c:pt>
                      <c:pt idx="14">
                        <c:v>1613555.8373746022</c:v>
                      </c:pt>
                      <c:pt idx="15">
                        <c:v>1641860.4071525927</c:v>
                      </c:pt>
                    </c:numCache>
                  </c:numRef>
                </c:val>
                <c:smooth val="0"/>
                <c:extLst>
                  <c:ext xmlns:c16="http://schemas.microsoft.com/office/drawing/2014/chart" uri="{C3380CC4-5D6E-409C-BE32-E72D297353CC}">
                    <c16:uniqueId val="{00000003-33DC-4EC3-BFEC-76EBA48B8139}"/>
                  </c:ext>
                </c:extLst>
              </c15:ser>
            </c15:filteredLineSeries>
          </c:ext>
        </c:extLst>
      </c:lineChart>
      <c:catAx>
        <c:axId val="725011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66742943"/>
        <c:crosses val="autoZero"/>
        <c:auto val="1"/>
        <c:lblAlgn val="ctr"/>
        <c:lblOffset val="100"/>
        <c:noMultiLvlLbl val="0"/>
      </c:catAx>
      <c:valAx>
        <c:axId val="66742943"/>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72501183"/>
        <c:crosses val="autoZero"/>
        <c:crossBetween val="between"/>
        <c:majorUnit val="300000"/>
        <c:dispUnits>
          <c:builtInUnit val="thousands"/>
        </c:dispUnits>
      </c:valAx>
      <c:spPr>
        <a:noFill/>
        <a:ln>
          <a:noFill/>
        </a:ln>
        <a:effectLst/>
      </c:spPr>
    </c:plotArea>
    <c:legend>
      <c:legendPos val="b"/>
      <c:layout>
        <c:manualLayout>
          <c:xMode val="edge"/>
          <c:yMode val="edge"/>
          <c:x val="2.2952456675814536E-2"/>
          <c:y val="0.86273037931651109"/>
          <c:w val="0.97581061324989082"/>
          <c:h val="0.13726962068348894"/>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800">
          <a:solidFill>
            <a:schemeClr val="tx1"/>
          </a:solidFill>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000" b="1" i="0" u="none" strike="noStrike" kern="1200" cap="none" spc="20" baseline="0" smtClean="0">
                <a:solidFill>
                  <a:schemeClr val="tx1"/>
                </a:solidFill>
                <a:latin typeface="+mn-lt"/>
                <a:ea typeface="+mn-ea"/>
                <a:cs typeface="+mn-cs"/>
              </a:defRPr>
            </a:pPr>
            <a:r>
              <a:rPr lang="en-US" sz="1000" b="1"/>
              <a:t>Total Public Debt Stock (% GDP)
</a:t>
            </a:r>
          </a:p>
        </c:rich>
      </c:tx>
      <c:layout>
        <c:manualLayout>
          <c:xMode val="edge"/>
          <c:yMode val="edge"/>
          <c:x val="0.15155321867661278"/>
          <c:y val="2.5839083546709229E-2"/>
        </c:manualLayout>
      </c:layout>
      <c:overlay val="0"/>
      <c:spPr>
        <a:noFill/>
        <a:ln>
          <a:noFill/>
        </a:ln>
        <a:effectLst/>
      </c:spPr>
      <c:txPr>
        <a:bodyPr rot="0" spcFirstLastPara="1" vertOverflow="ellipsis" vert="horz" wrap="square" anchor="ctr" anchorCtr="1"/>
        <a:lstStyle/>
        <a:p>
          <a:pPr>
            <a:defRPr lang="en-US" sz="1000" b="1" i="0" u="none" strike="noStrike" kern="1200" cap="none" spc="20" baseline="0" smtClean="0">
              <a:solidFill>
                <a:schemeClr val="tx1"/>
              </a:solidFill>
              <a:latin typeface="+mn-lt"/>
              <a:ea typeface="+mn-ea"/>
              <a:cs typeface="+mn-cs"/>
            </a:defRPr>
          </a:pPr>
          <a:endParaRPr lang="en-US"/>
        </a:p>
      </c:txPr>
    </c:title>
    <c:autoTitleDeleted val="0"/>
    <c:plotArea>
      <c:layout>
        <c:manualLayout>
          <c:layoutTarget val="inner"/>
          <c:xMode val="edge"/>
          <c:yMode val="edge"/>
          <c:x val="0.15113678224432472"/>
          <c:y val="0.16278381868933051"/>
          <c:w val="0.82167766303641088"/>
          <c:h val="0.62774109326877991"/>
        </c:manualLayout>
      </c:layout>
      <c:lineChart>
        <c:grouping val="standard"/>
        <c:varyColors val="0"/>
        <c:ser>
          <c:idx val="0"/>
          <c:order val="0"/>
          <c:spPr>
            <a:ln w="28575" cap="rnd" cmpd="sng" algn="ctr">
              <a:solidFill>
                <a:schemeClr val="accent1"/>
              </a:solidFill>
              <a:round/>
            </a:ln>
            <a:effectLst/>
          </c:spPr>
          <c:marker>
            <c:symbol val="none"/>
          </c:marker>
          <c:cat>
            <c:numRef>
              <c:f>Sheet1!$C$4:$C$25</c:f>
              <c:numCache>
                <c:formatCode>General</c:formatCode>
                <c:ptCount val="22"/>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numCache>
            </c:numRef>
          </c:cat>
          <c:val>
            <c:numRef>
              <c:f>Sheet1!$D$4:$D$25</c:f>
              <c:numCache>
                <c:formatCode>0%</c:formatCode>
                <c:ptCount val="22"/>
                <c:pt idx="0">
                  <c:v>1.01</c:v>
                </c:pt>
                <c:pt idx="1">
                  <c:v>0.92</c:v>
                </c:pt>
                <c:pt idx="2">
                  <c:v>0.63</c:v>
                </c:pt>
                <c:pt idx="3">
                  <c:v>0.62</c:v>
                </c:pt>
                <c:pt idx="4">
                  <c:v>0.57999999999999996</c:v>
                </c:pt>
                <c:pt idx="5">
                  <c:v>0.54</c:v>
                </c:pt>
                <c:pt idx="6">
                  <c:v>0.35</c:v>
                </c:pt>
                <c:pt idx="7">
                  <c:v>0.31</c:v>
                </c:pt>
                <c:pt idx="8">
                  <c:v>0.28999999999999998</c:v>
                </c:pt>
                <c:pt idx="9">
                  <c:v>0.35</c:v>
                </c:pt>
                <c:pt idx="10">
                  <c:v>0.36</c:v>
                </c:pt>
                <c:pt idx="11">
                  <c:v>0.31</c:v>
                </c:pt>
                <c:pt idx="12">
                  <c:v>0.31</c:v>
                </c:pt>
                <c:pt idx="13">
                  <c:v>0.44</c:v>
                </c:pt>
                <c:pt idx="14">
                  <c:v>0.54</c:v>
                </c:pt>
                <c:pt idx="15">
                  <c:v>0.66</c:v>
                </c:pt>
                <c:pt idx="16">
                  <c:v>0.91</c:v>
                </c:pt>
                <c:pt idx="17">
                  <c:v>0.94</c:v>
                </c:pt>
                <c:pt idx="18">
                  <c:v>0.97</c:v>
                </c:pt>
                <c:pt idx="19">
                  <c:v>1.01</c:v>
                </c:pt>
                <c:pt idx="20">
                  <c:v>1.3</c:v>
                </c:pt>
                <c:pt idx="21">
                  <c:v>1.2</c:v>
                </c:pt>
              </c:numCache>
            </c:numRef>
          </c:val>
          <c:smooth val="0"/>
          <c:extLst>
            <c:ext xmlns:c16="http://schemas.microsoft.com/office/drawing/2014/chart" uri="{C3380CC4-5D6E-409C-BE32-E72D297353CC}">
              <c16:uniqueId val="{00000000-BFD7-46F0-B4AA-84090A1EFD14}"/>
            </c:ext>
          </c:extLst>
        </c:ser>
        <c:dLbls>
          <c:showLegendKey val="0"/>
          <c:showVal val="0"/>
          <c:showCatName val="0"/>
          <c:showSerName val="0"/>
          <c:showPercent val="0"/>
          <c:showBubbleSize val="0"/>
        </c:dLbls>
        <c:dropLines>
          <c:spPr>
            <a:ln w="9525" cap="flat" cmpd="sng" algn="ctr">
              <a:solidFill>
                <a:schemeClr val="dk1">
                  <a:lumMod val="35000"/>
                  <a:lumOff val="65000"/>
                  <a:alpha val="33000"/>
                </a:schemeClr>
              </a:solidFill>
              <a:round/>
            </a:ln>
            <a:effectLst/>
          </c:spPr>
        </c:dropLines>
        <c:smooth val="0"/>
        <c:axId val="589083823"/>
        <c:axId val="589091727"/>
      </c:lineChart>
      <c:catAx>
        <c:axId val="589083823"/>
        <c:scaling>
          <c:orientation val="minMax"/>
        </c:scaling>
        <c:delete val="0"/>
        <c:axPos val="b"/>
        <c:numFmt formatCode="General" sourceLinked="1"/>
        <c:majorTickMark val="none"/>
        <c:minorTickMark val="none"/>
        <c:tickLblPos val="nextTo"/>
        <c:spPr>
          <a:noFill/>
          <a:ln w="9525" cap="flat" cmpd="sng" algn="ctr">
            <a:solidFill>
              <a:schemeClr val="bg1">
                <a:lumMod val="50000"/>
              </a:schemeClr>
            </a:solidFill>
            <a:round/>
          </a:ln>
          <a:effectLst/>
        </c:spPr>
        <c:txPr>
          <a:bodyPr rot="-5400000" spcFirstLastPara="1" vertOverflow="ellipsis" wrap="square" anchor="ctr" anchorCtr="1"/>
          <a:lstStyle/>
          <a:p>
            <a:pPr>
              <a:defRPr sz="900" b="0" i="0" u="none" strike="noStrike" kern="1200" spc="20" baseline="0">
                <a:solidFill>
                  <a:schemeClr val="tx1"/>
                </a:solidFill>
                <a:latin typeface="+mn-lt"/>
                <a:ea typeface="+mn-ea"/>
                <a:cs typeface="+mn-cs"/>
              </a:defRPr>
            </a:pPr>
            <a:endParaRPr lang="en-US"/>
          </a:p>
        </c:txPr>
        <c:crossAx val="589091727"/>
        <c:crosses val="autoZero"/>
        <c:auto val="1"/>
        <c:lblAlgn val="ctr"/>
        <c:lblOffset val="100"/>
        <c:noMultiLvlLbl val="0"/>
      </c:catAx>
      <c:valAx>
        <c:axId val="589091727"/>
        <c:scaling>
          <c:orientation val="minMax"/>
        </c:scaling>
        <c:delete val="0"/>
        <c:axPos val="l"/>
        <c:numFmt formatCode="0%" sourceLinked="1"/>
        <c:majorTickMark val="none"/>
        <c:minorTickMark val="none"/>
        <c:tickLblPos val="nextTo"/>
        <c:spPr>
          <a:noFill/>
          <a:ln>
            <a:solidFill>
              <a:schemeClr val="bg1">
                <a:lumMod val="50000"/>
              </a:schemeClr>
            </a:solidFill>
          </a:ln>
          <a:effectLst/>
        </c:spPr>
        <c:txPr>
          <a:bodyPr rot="-60000000" spcFirstLastPara="1" vertOverflow="ellipsis" vert="horz" wrap="square" anchor="ctr" anchorCtr="1"/>
          <a:lstStyle/>
          <a:p>
            <a:pPr>
              <a:defRPr sz="900" b="0" i="0" u="none" strike="noStrike" kern="1200" spc="20" baseline="0">
                <a:solidFill>
                  <a:schemeClr val="tx1"/>
                </a:solidFill>
                <a:latin typeface="+mn-lt"/>
                <a:ea typeface="+mn-ea"/>
                <a:cs typeface="+mn-cs"/>
              </a:defRPr>
            </a:pPr>
            <a:endParaRPr lang="en-US"/>
          </a:p>
        </c:txPr>
        <c:crossAx val="589083823"/>
        <c:crosses val="autoZero"/>
        <c:crossBetween val="between"/>
      </c:valAx>
      <c:spPr>
        <a:gradFill>
          <a:gsLst>
            <a:gs pos="100000">
              <a:schemeClr val="lt1">
                <a:lumMod val="95000"/>
              </a:schemeClr>
            </a:gs>
            <a:gs pos="0">
              <a:schemeClr val="lt1"/>
            </a:gs>
          </a:gsLst>
          <a:lin ang="5400000" scaled="0"/>
        </a:gra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a:noFill/>
    </a:ln>
    <a:effectLst/>
  </c:spPr>
  <c:txPr>
    <a:bodyPr/>
    <a:lstStyle/>
    <a:p>
      <a:pPr>
        <a:defRPr>
          <a:solidFill>
            <a:schemeClr val="tx1"/>
          </a:solidFill>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050" b="1" i="0" u="none" strike="noStrike" kern="1200" spc="0" baseline="0" smtClean="0">
                <a:solidFill>
                  <a:schemeClr val="tx1"/>
                </a:solidFill>
                <a:latin typeface="Arial" panose="020B0604020202020204" pitchFamily="34" charset="0"/>
                <a:ea typeface="+mn-ea"/>
                <a:cs typeface="Arial" panose="020B0604020202020204" pitchFamily="34" charset="0"/>
              </a:defRPr>
            </a:pPr>
            <a:r>
              <a:rPr lang="en-US" sz="1050" b="1"/>
              <a:t>Annual GDP Growth
</a:t>
            </a:r>
          </a:p>
        </c:rich>
      </c:tx>
      <c:overlay val="0"/>
      <c:spPr>
        <a:noFill/>
        <a:ln>
          <a:noFill/>
        </a:ln>
        <a:effectLst/>
      </c:spPr>
      <c:txPr>
        <a:bodyPr rot="0" spcFirstLastPara="1" vertOverflow="ellipsis" vert="horz" wrap="square" anchor="ctr" anchorCtr="1"/>
        <a:lstStyle/>
        <a:p>
          <a:pPr>
            <a:defRPr lang="en-US" sz="1050" b="1" i="0" u="none" strike="noStrike" kern="1200" spc="0" baseline="0" smtClean="0">
              <a:solidFill>
                <a:schemeClr val="tx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0.12561156006814939"/>
          <c:y val="7.4553701620630755E-2"/>
          <c:w val="0.84049277541421585"/>
          <c:h val="0.74201818522684659"/>
        </c:manualLayout>
      </c:layout>
      <c:barChart>
        <c:barDir val="col"/>
        <c:grouping val="stacked"/>
        <c:varyColors val="0"/>
        <c:ser>
          <c:idx val="0"/>
          <c:order val="0"/>
          <c:tx>
            <c:strRef>
              <c:f>'GDP Data'!$A$2</c:f>
              <c:strCache>
                <c:ptCount val="1"/>
                <c:pt idx="0">
                  <c:v>Mozambique</c:v>
                </c:pt>
              </c:strCache>
            </c:strRef>
          </c:tx>
          <c:spPr>
            <a:solidFill>
              <a:schemeClr val="accent1"/>
            </a:solidFill>
            <a:ln>
              <a:noFill/>
            </a:ln>
            <a:effectLst/>
          </c:spPr>
          <c:invertIfNegative val="0"/>
          <c:cat>
            <c:numRef>
              <c:f>'GDP Data'!$B$1:$AH$1</c:f>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f>'GDP Data'!$B$2:$AH$2</c:f>
              <c:numCache>
                <c:formatCode>0.0</c:formatCode>
                <c:ptCount val="30"/>
                <c:pt idx="0">
                  <c:v>4.9254512574701721</c:v>
                </c:pt>
                <c:pt idx="1">
                  <c:v>-6.1247154506177992</c:v>
                </c:pt>
                <c:pt idx="2">
                  <c:v>10.598529673232136</c:v>
                </c:pt>
                <c:pt idx="3">
                  <c:v>6.5333964579059227</c:v>
                </c:pt>
                <c:pt idx="4">
                  <c:v>2.2597571775733911</c:v>
                </c:pt>
                <c:pt idx="5">
                  <c:v>11.202519603498004</c:v>
                </c:pt>
                <c:pt idx="6">
                  <c:v>11.301068648208897</c:v>
                </c:pt>
                <c:pt idx="7">
                  <c:v>9.9312519493834941</c:v>
                </c:pt>
                <c:pt idx="8">
                  <c:v>11.698523715901189</c:v>
                </c:pt>
                <c:pt idx="9">
                  <c:v>1.1803007889161563</c:v>
                </c:pt>
                <c:pt idx="10">
                  <c:v>12.086874401640998</c:v>
                </c:pt>
                <c:pt idx="11">
                  <c:v>9.2910518852059596</c:v>
                </c:pt>
                <c:pt idx="12">
                  <c:v>6.8785328719577592</c:v>
                </c:pt>
                <c:pt idx="13">
                  <c:v>7.9164078363794204</c:v>
                </c:pt>
                <c:pt idx="14">
                  <c:v>6.6459082805728968</c:v>
                </c:pt>
                <c:pt idx="15">
                  <c:v>9.6943740917428585</c:v>
                </c:pt>
                <c:pt idx="16">
                  <c:v>7.7297462424837988</c:v>
                </c:pt>
                <c:pt idx="17">
                  <c:v>7.3177553239303705</c:v>
                </c:pt>
                <c:pt idx="18">
                  <c:v>6.3181972324890268</c:v>
                </c:pt>
                <c:pt idx="19">
                  <c:v>6.5023531151979057</c:v>
                </c:pt>
                <c:pt idx="20">
                  <c:v>7.4173843155939068</c:v>
                </c:pt>
                <c:pt idx="21">
                  <c:v>7.2584392525877774</c:v>
                </c:pt>
                <c:pt idx="22">
                  <c:v>6.9636071348707134</c:v>
                </c:pt>
                <c:pt idx="23">
                  <c:v>7.3985127971386362</c:v>
                </c:pt>
                <c:pt idx="24">
                  <c:v>6.7232787803581857</c:v>
                </c:pt>
                <c:pt idx="25">
                  <c:v>3.824214319211876</c:v>
                </c:pt>
                <c:pt idx="26">
                  <c:v>3.7413175931256433</c:v>
                </c:pt>
                <c:pt idx="27">
                  <c:v>3.4438138397146218</c:v>
                </c:pt>
                <c:pt idx="28">
                  <c:v>2.2835972030121496</c:v>
                </c:pt>
                <c:pt idx="29">
                  <c:v>-1.3</c:v>
                </c:pt>
              </c:numCache>
            </c:numRef>
          </c:val>
          <c:extLst>
            <c:ext xmlns:c16="http://schemas.microsoft.com/office/drawing/2014/chart" uri="{C3380CC4-5D6E-409C-BE32-E72D297353CC}">
              <c16:uniqueId val="{00000000-32C8-4B9C-9781-65A3F23583AD}"/>
            </c:ext>
          </c:extLst>
        </c:ser>
        <c:dLbls>
          <c:showLegendKey val="0"/>
          <c:showVal val="0"/>
          <c:showCatName val="0"/>
          <c:showSerName val="0"/>
          <c:showPercent val="0"/>
          <c:showBubbleSize val="0"/>
        </c:dLbls>
        <c:gapWidth val="150"/>
        <c:overlap val="100"/>
        <c:axId val="430087344"/>
        <c:axId val="418464864"/>
      </c:barChart>
      <c:lineChart>
        <c:grouping val="standard"/>
        <c:varyColors val="0"/>
        <c:ser>
          <c:idx val="2"/>
          <c:order val="2"/>
          <c:tx>
            <c:strRef>
              <c:f>'GDP Data'!$A$4</c:f>
              <c:strCache>
                <c:ptCount val="1"/>
                <c:pt idx="0">
                  <c:v>Sub-Saharan Africa</c:v>
                </c:pt>
              </c:strCache>
            </c:strRef>
          </c:tx>
          <c:spPr>
            <a:ln w="28575" cap="rnd">
              <a:solidFill>
                <a:srgbClr val="FF0000"/>
              </a:solidFill>
              <a:round/>
            </a:ln>
            <a:effectLst/>
          </c:spPr>
          <c:marker>
            <c:symbol val="none"/>
          </c:marker>
          <c:cat>
            <c:numRef>
              <c:f>'GDP Data'!$B$1:$AH$1</c:f>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f>'GDP Data'!$B$4:$AH$4</c:f>
              <c:numCache>
                <c:formatCode>0.0</c:formatCode>
                <c:ptCount val="30"/>
                <c:pt idx="0">
                  <c:v>0.37883973567581108</c:v>
                </c:pt>
                <c:pt idx="1">
                  <c:v>-0.34210021494052967</c:v>
                </c:pt>
                <c:pt idx="2">
                  <c:v>-0.88323080146508914</c:v>
                </c:pt>
                <c:pt idx="3">
                  <c:v>1.186235421797349</c:v>
                </c:pt>
                <c:pt idx="4">
                  <c:v>3.4115738971970018</c:v>
                </c:pt>
                <c:pt idx="5">
                  <c:v>5.1003801502508992</c:v>
                </c:pt>
                <c:pt idx="6">
                  <c:v>3.5540577440119847</c:v>
                </c:pt>
                <c:pt idx="7">
                  <c:v>2.3845140034811152</c:v>
                </c:pt>
                <c:pt idx="8">
                  <c:v>2.1796272126436236</c:v>
                </c:pt>
                <c:pt idx="9">
                  <c:v>3.4623029555638283</c:v>
                </c:pt>
                <c:pt idx="10">
                  <c:v>4.2500935219682106</c:v>
                </c:pt>
                <c:pt idx="11">
                  <c:v>6.3555425809505834</c:v>
                </c:pt>
                <c:pt idx="12">
                  <c:v>4.2395920720278042</c:v>
                </c:pt>
                <c:pt idx="13">
                  <c:v>6.5072095757116273</c:v>
                </c:pt>
                <c:pt idx="14">
                  <c:v>6.1976801925190728</c:v>
                </c:pt>
                <c:pt idx="15">
                  <c:v>6.166762311186929</c:v>
                </c:pt>
                <c:pt idx="16">
                  <c:v>6.4878003693707598</c:v>
                </c:pt>
                <c:pt idx="17">
                  <c:v>5.3479010146539849</c:v>
                </c:pt>
                <c:pt idx="18">
                  <c:v>3.0969394445383074</c:v>
                </c:pt>
                <c:pt idx="19">
                  <c:v>5.5767645236600032</c:v>
                </c:pt>
                <c:pt idx="20">
                  <c:v>4.4834682454876429</c:v>
                </c:pt>
                <c:pt idx="21">
                  <c:v>4.125614017036483</c:v>
                </c:pt>
                <c:pt idx="22">
                  <c:v>4.956723738830604</c:v>
                </c:pt>
                <c:pt idx="23">
                  <c:v>4.6561904621861885</c:v>
                </c:pt>
                <c:pt idx="24">
                  <c:v>2.7809778929204469</c:v>
                </c:pt>
                <c:pt idx="25">
                  <c:v>1.1611996609763224</c:v>
                </c:pt>
                <c:pt idx="26">
                  <c:v>2.3809231937332669</c:v>
                </c:pt>
                <c:pt idx="27">
                  <c:v>2.3865132187756615</c:v>
                </c:pt>
                <c:pt idx="28">
                  <c:v>2.2874659639174837</c:v>
                </c:pt>
                <c:pt idx="29">
                  <c:v>0</c:v>
                </c:pt>
              </c:numCache>
            </c:numRef>
          </c:val>
          <c:smooth val="0"/>
          <c:extLst>
            <c:ext xmlns:c16="http://schemas.microsoft.com/office/drawing/2014/chart" uri="{C3380CC4-5D6E-409C-BE32-E72D297353CC}">
              <c16:uniqueId val="{00000001-32C8-4B9C-9781-65A3F23583AD}"/>
            </c:ext>
          </c:extLst>
        </c:ser>
        <c:ser>
          <c:idx val="3"/>
          <c:order val="3"/>
          <c:tx>
            <c:strRef>
              <c:f>'GDP Data'!$A$5</c:f>
              <c:strCache>
                <c:ptCount val="1"/>
                <c:pt idx="0">
                  <c:v>Low income Countries</c:v>
                </c:pt>
              </c:strCache>
              <c:extLst xmlns:c15="http://schemas.microsoft.com/office/drawing/2012/chart"/>
            </c:strRef>
          </c:tx>
          <c:spPr>
            <a:ln w="28575" cap="rnd">
              <a:solidFill>
                <a:srgbClr val="FFC000"/>
              </a:solidFill>
              <a:round/>
            </a:ln>
            <a:effectLst/>
          </c:spPr>
          <c:marker>
            <c:symbol val="none"/>
          </c:marker>
          <c:cat>
            <c:numRef>
              <c:f>'GDP Data'!$B$1:$AH$1</c:f>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extLst xmlns:c15="http://schemas.microsoft.com/office/drawing/2012/chart"/>
            </c:numRef>
          </c:cat>
          <c:val>
            <c:numRef>
              <c:f>'GDP Data'!$B$5:$AH$5</c:f>
              <c:numCache>
                <c:formatCode>0.0</c:formatCode>
                <c:ptCount val="30"/>
                <c:pt idx="0">
                  <c:v>0.46610201196423873</c:v>
                </c:pt>
                <c:pt idx="1">
                  <c:v>-2.5622172190570609</c:v>
                </c:pt>
                <c:pt idx="2">
                  <c:v>-0.46058909177104113</c:v>
                </c:pt>
                <c:pt idx="3">
                  <c:v>-0.62152950096505322</c:v>
                </c:pt>
                <c:pt idx="4">
                  <c:v>4.8424186162719991</c:v>
                </c:pt>
                <c:pt idx="5">
                  <c:v>4.79145154443232</c:v>
                </c:pt>
                <c:pt idx="6">
                  <c:v>4.5441332533684857</c:v>
                </c:pt>
                <c:pt idx="7">
                  <c:v>3.4255924500228332</c:v>
                </c:pt>
                <c:pt idx="8">
                  <c:v>3.271331525716036</c:v>
                </c:pt>
                <c:pt idx="9">
                  <c:v>2.7615965506397657</c:v>
                </c:pt>
                <c:pt idx="10">
                  <c:v>5.0630202587021529</c:v>
                </c:pt>
                <c:pt idx="11">
                  <c:v>4.2195534200164957</c:v>
                </c:pt>
                <c:pt idx="12">
                  <c:v>5.1450848633310073</c:v>
                </c:pt>
                <c:pt idx="13">
                  <c:v>5.6692216703239922</c:v>
                </c:pt>
                <c:pt idx="14">
                  <c:v>6.926637043446874</c:v>
                </c:pt>
                <c:pt idx="15">
                  <c:v>6.5677149666268662</c:v>
                </c:pt>
                <c:pt idx="16">
                  <c:v>7.5218876511437429</c:v>
                </c:pt>
                <c:pt idx="17">
                  <c:v>6.4622496107546539</c:v>
                </c:pt>
                <c:pt idx="18">
                  <c:v>5.0813603224052031</c:v>
                </c:pt>
                <c:pt idx="19">
                  <c:v>6.4681324061609047</c:v>
                </c:pt>
                <c:pt idx="20">
                  <c:v>2.2386091573524283</c:v>
                </c:pt>
                <c:pt idx="21">
                  <c:v>2.6863512373343639</c:v>
                </c:pt>
                <c:pt idx="22">
                  <c:v>5.6411238766425242</c:v>
                </c:pt>
                <c:pt idx="23">
                  <c:v>5.0582523079691271</c:v>
                </c:pt>
                <c:pt idx="24">
                  <c:v>2.0452917285648056</c:v>
                </c:pt>
                <c:pt idx="25">
                  <c:v>3.8426693172219757</c:v>
                </c:pt>
                <c:pt idx="26">
                  <c:v>3.7100744799314356</c:v>
                </c:pt>
                <c:pt idx="27">
                  <c:v>3.6897573827344985</c:v>
                </c:pt>
                <c:pt idx="28">
                  <c:v>3.9553191234186897</c:v>
                </c:pt>
                <c:pt idx="29">
                  <c:v>0</c:v>
                </c:pt>
              </c:numCache>
              <c:extLst xmlns:c15="http://schemas.microsoft.com/office/drawing/2012/chart"/>
            </c:numRef>
          </c:val>
          <c:smooth val="0"/>
          <c:extLst xmlns:c15="http://schemas.microsoft.com/office/drawing/2012/chart">
            <c:ext xmlns:c16="http://schemas.microsoft.com/office/drawing/2014/chart" uri="{C3380CC4-5D6E-409C-BE32-E72D297353CC}">
              <c16:uniqueId val="{00000002-32C8-4B9C-9781-65A3F23583AD}"/>
            </c:ext>
          </c:extLst>
        </c:ser>
        <c:dLbls>
          <c:showLegendKey val="0"/>
          <c:showVal val="0"/>
          <c:showCatName val="0"/>
          <c:showSerName val="0"/>
          <c:showPercent val="0"/>
          <c:showBubbleSize val="0"/>
        </c:dLbls>
        <c:marker val="1"/>
        <c:smooth val="0"/>
        <c:axId val="430087344"/>
        <c:axId val="418464864"/>
        <c:extLst>
          <c:ext xmlns:c15="http://schemas.microsoft.com/office/drawing/2012/chart" uri="{02D57815-91ED-43cb-92C2-25804820EDAC}">
            <c15:filteredLineSeries>
              <c15:ser>
                <c:idx val="1"/>
                <c:order val="1"/>
                <c:tx>
                  <c:strRef>
                    <c:extLst>
                      <c:ext uri="{02D57815-91ED-43cb-92C2-25804820EDAC}">
                        <c15:formulaRef>
                          <c15:sqref>'GDP Data'!$A$3</c15:sqref>
                        </c15:formulaRef>
                      </c:ext>
                    </c:extLst>
                    <c:strCache>
                      <c:ptCount val="1"/>
                      <c:pt idx="0">
                        <c:v>Sub-Saharan Africa (excluding high income)</c:v>
                      </c:pt>
                    </c:strCache>
                  </c:strRef>
                </c:tx>
                <c:spPr>
                  <a:ln w="28575" cap="rnd">
                    <a:solidFill>
                      <a:schemeClr val="accent2"/>
                    </a:solidFill>
                    <a:round/>
                  </a:ln>
                  <a:effectLst/>
                </c:spPr>
                <c:marker>
                  <c:symbol val="none"/>
                </c:marker>
                <c:cat>
                  <c:numRef>
                    <c:extLst>
                      <c:ext uri="{02D57815-91ED-43cb-92C2-25804820EDAC}">
                        <c15:formulaRef>
                          <c15:sqref>'GDP Data'!$B$1:$AH$1</c15:sqref>
                        </c15:formulaRef>
                      </c:ext>
                    </c:extLst>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extLst>
                      <c:ext uri="{02D57815-91ED-43cb-92C2-25804820EDAC}">
                        <c15:formulaRef>
                          <c15:sqref>'GDP Data'!$B$3:$AH$3</c15:sqref>
                        </c15:formulaRef>
                      </c:ext>
                    </c:extLst>
                    <c:numCache>
                      <c:formatCode>0.0</c:formatCode>
                      <c:ptCount val="30"/>
                      <c:pt idx="0">
                        <c:v>0.35177860941561789</c:v>
                      </c:pt>
                      <c:pt idx="1">
                        <c:v>-0.39250751376161475</c:v>
                      </c:pt>
                      <c:pt idx="2">
                        <c:v>-0.93059726057983028</c:v>
                      </c:pt>
                      <c:pt idx="3">
                        <c:v>1.1665730900453752</c:v>
                      </c:pt>
                      <c:pt idx="4">
                        <c:v>3.4089368628595196</c:v>
                      </c:pt>
                      <c:pt idx="5">
                        <c:v>5.0968469193424681</c:v>
                      </c:pt>
                      <c:pt idx="6">
                        <c:v>3.5302962491116148</c:v>
                      </c:pt>
                      <c:pt idx="7">
                        <c:v>2.3500220050314908</c:v>
                      </c:pt>
                      <c:pt idx="8">
                        <c:v>2.1764651836701177</c:v>
                      </c:pt>
                      <c:pt idx="9">
                        <c:v>3.4259149656741954</c:v>
                      </c:pt>
                      <c:pt idx="10">
                        <c:v>4.2642323365023742</c:v>
                      </c:pt>
                      <c:pt idx="11">
                        <c:v>6.4000567760049876</c:v>
                      </c:pt>
                      <c:pt idx="12">
                        <c:v>4.2351236053207231</c:v>
                      </c:pt>
                      <c:pt idx="13">
                        <c:v>6.5324267926606865</c:v>
                      </c:pt>
                      <c:pt idx="14">
                        <c:v>6.2308050711682057</c:v>
                      </c:pt>
                      <c:pt idx="15">
                        <c:v>6.1742490477868728</c:v>
                      </c:pt>
                      <c:pt idx="16">
                        <c:v>6.4904819674471952</c:v>
                      </c:pt>
                      <c:pt idx="17">
                        <c:v>5.3536320106479849</c:v>
                      </c:pt>
                      <c:pt idx="18">
                        <c:v>3.0984284704204157</c:v>
                      </c:pt>
                      <c:pt idx="19">
                        <c:v>5.5853941368519031</c:v>
                      </c:pt>
                      <c:pt idx="20">
                        <c:v>4.4840248030612031</c:v>
                      </c:pt>
                      <c:pt idx="21">
                        <c:v>4.1323229779213619</c:v>
                      </c:pt>
                      <c:pt idx="22">
                        <c:v>4.9675673969261851</c:v>
                      </c:pt>
                      <c:pt idx="23">
                        <c:v>4.6628240369170015</c:v>
                      </c:pt>
                      <c:pt idx="24">
                        <c:v>2.7739463169666152</c:v>
                      </c:pt>
                      <c:pt idx="25">
                        <c:v>1.1394618211281227</c:v>
                      </c:pt>
                      <c:pt idx="26">
                        <c:v>2.3688308266620766</c:v>
                      </c:pt>
                      <c:pt idx="27">
                        <c:v>2.375180383196934</c:v>
                      </c:pt>
                      <c:pt idx="28">
                        <c:v>2.2795647607438667</c:v>
                      </c:pt>
                      <c:pt idx="29">
                        <c:v>0</c:v>
                      </c:pt>
                    </c:numCache>
                  </c:numRef>
                </c:val>
                <c:smooth val="0"/>
                <c:extLst>
                  <c:ext xmlns:c16="http://schemas.microsoft.com/office/drawing/2014/chart" uri="{C3380CC4-5D6E-409C-BE32-E72D297353CC}">
                    <c16:uniqueId val="{00000003-32C8-4B9C-9781-65A3F23583AD}"/>
                  </c:ext>
                </c:extLst>
              </c15:ser>
            </c15:filteredLineSeries>
            <c15:filteredLineSeries>
              <c15:ser>
                <c:idx val="4"/>
                <c:order val="4"/>
                <c:tx>
                  <c:strRef>
                    <c:extLst xmlns:c15="http://schemas.microsoft.com/office/drawing/2012/chart">
                      <c:ext xmlns:c15="http://schemas.microsoft.com/office/drawing/2012/chart" uri="{02D57815-91ED-43cb-92C2-25804820EDAC}">
                        <c15:formulaRef>
                          <c15:sqref>'GDP Data'!$A$6</c15:sqref>
                        </c15:formulaRef>
                      </c:ext>
                    </c:extLst>
                    <c:strCache>
                      <c:ptCount val="1"/>
                      <c:pt idx="0">
                        <c:v>Tanzania</c:v>
                      </c:pt>
                    </c:strCache>
                  </c:strRef>
                </c:tx>
                <c:spPr>
                  <a:ln w="28575" cap="rnd">
                    <a:solidFill>
                      <a:schemeClr val="accent5"/>
                    </a:solidFill>
                    <a:round/>
                  </a:ln>
                  <a:effectLst/>
                </c:spPr>
                <c:marker>
                  <c:symbol val="none"/>
                </c:marker>
                <c:cat>
                  <c:numRef>
                    <c:extLst xmlns:c15="http://schemas.microsoft.com/office/drawing/2012/chart">
                      <c:ext xmlns:c15="http://schemas.microsoft.com/office/drawing/2012/chart" uri="{02D57815-91ED-43cb-92C2-25804820EDAC}">
                        <c15:formulaRef>
                          <c15:sqref>'GDP Data'!$B$1:$AH$1</c15:sqref>
                        </c15:formulaRef>
                      </c:ext>
                    </c:extLst>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extLst xmlns:c15="http://schemas.microsoft.com/office/drawing/2012/chart">
                      <c:ext xmlns:c15="http://schemas.microsoft.com/office/drawing/2012/chart" uri="{02D57815-91ED-43cb-92C2-25804820EDAC}">
                        <c15:formulaRef>
                          <c15:sqref>'GDP Data'!$B$6:$AH$6</c15:sqref>
                        </c15:formulaRef>
                      </c:ext>
                    </c:extLst>
                    <c:numCache>
                      <c:formatCode>General</c:formatCode>
                      <c:ptCount val="30"/>
                      <c:pt idx="0">
                        <c:v>2.0719882112220773</c:v>
                      </c:pt>
                      <c:pt idx="1">
                        <c:v>0.58432213408326561</c:v>
                      </c:pt>
                      <c:pt idx="2">
                        <c:v>1.2058008083940308</c:v>
                      </c:pt>
                      <c:pt idx="3">
                        <c:v>1.567661765625644</c:v>
                      </c:pt>
                      <c:pt idx="4">
                        <c:v>3.5699118684430005</c:v>
                      </c:pt>
                      <c:pt idx="5">
                        <c:v>4.544366801874375</c:v>
                      </c:pt>
                      <c:pt idx="6">
                        <c:v>3.5252781913522426</c:v>
                      </c:pt>
                      <c:pt idx="7">
                        <c:v>3.7085115960772299</c:v>
                      </c:pt>
                      <c:pt idx="8">
                        <c:v>4.8638637551705131</c:v>
                      </c:pt>
                      <c:pt idx="9">
                        <c:v>4.5207846348832135</c:v>
                      </c:pt>
                      <c:pt idx="10">
                        <c:v>6.0708082884781618</c:v>
                      </c:pt>
                      <c:pt idx="11">
                        <c:v>7.0931949835368613</c:v>
                      </c:pt>
                      <c:pt idx="12">
                        <c:v>6.6727898290831433</c:v>
                      </c:pt>
                      <c:pt idx="13">
                        <c:v>7.5038146604771612</c:v>
                      </c:pt>
                      <c:pt idx="14">
                        <c:v>7.4763192578229223</c:v>
                      </c:pt>
                      <c:pt idx="15">
                        <c:v>6.5322213903017001</c:v>
                      </c:pt>
                      <c:pt idx="16">
                        <c:v>6.7685352018066283</c:v>
                      </c:pt>
                      <c:pt idx="17">
                        <c:v>5.6864168597641935</c:v>
                      </c:pt>
                      <c:pt idx="18">
                        <c:v>5.2691052479185316</c:v>
                      </c:pt>
                      <c:pt idx="19">
                        <c:v>6.336523427474944</c:v>
                      </c:pt>
                      <c:pt idx="20">
                        <c:v>7.6721554349938401</c:v>
                      </c:pt>
                      <c:pt idx="21">
                        <c:v>4.500153559821257</c:v>
                      </c:pt>
                      <c:pt idx="22">
                        <c:v>6.781585600653159</c:v>
                      </c:pt>
                      <c:pt idx="23">
                        <c:v>6.7324618683248332</c:v>
                      </c:pt>
                      <c:pt idx="24">
                        <c:v>6.1606287740668222</c:v>
                      </c:pt>
                      <c:pt idx="25">
                        <c:v>6.8671161964455081</c:v>
                      </c:pt>
                      <c:pt idx="26">
                        <c:v>6.7856801140519849</c:v>
                      </c:pt>
                      <c:pt idx="27">
                        <c:v>5.4449676318963469</c:v>
                      </c:pt>
                      <c:pt idx="28">
                        <c:v>5.7913713763207113</c:v>
                      </c:pt>
                      <c:pt idx="29">
                        <c:v>0</c:v>
                      </c:pt>
                    </c:numCache>
                  </c:numRef>
                </c:val>
                <c:smooth val="0"/>
                <c:extLst xmlns:c15="http://schemas.microsoft.com/office/drawing/2012/chart">
                  <c:ext xmlns:c16="http://schemas.microsoft.com/office/drawing/2014/chart" uri="{C3380CC4-5D6E-409C-BE32-E72D297353CC}">
                    <c16:uniqueId val="{00000004-32C8-4B9C-9781-65A3F23583AD}"/>
                  </c:ext>
                </c:extLst>
              </c15:ser>
            </c15:filteredLineSeries>
            <c15:filteredLineSeries>
              <c15:ser>
                <c:idx val="5"/>
                <c:order val="5"/>
                <c:tx>
                  <c:strRef>
                    <c:extLst xmlns:c15="http://schemas.microsoft.com/office/drawing/2012/chart">
                      <c:ext xmlns:c15="http://schemas.microsoft.com/office/drawing/2012/chart" uri="{02D57815-91ED-43cb-92C2-25804820EDAC}">
                        <c15:formulaRef>
                          <c15:sqref>'GDP Data'!$A$7</c15:sqref>
                        </c15:formulaRef>
                      </c:ext>
                    </c:extLst>
                    <c:strCache>
                      <c:ptCount val="1"/>
                      <c:pt idx="0">
                        <c:v>Uganda</c:v>
                      </c:pt>
                    </c:strCache>
                  </c:strRef>
                </c:tx>
                <c:spPr>
                  <a:ln w="28575" cap="rnd">
                    <a:solidFill>
                      <a:schemeClr val="accent6"/>
                    </a:solidFill>
                    <a:round/>
                  </a:ln>
                  <a:effectLst/>
                </c:spPr>
                <c:marker>
                  <c:symbol val="none"/>
                </c:marker>
                <c:cat>
                  <c:numRef>
                    <c:extLst xmlns:c15="http://schemas.microsoft.com/office/drawing/2012/chart">
                      <c:ext xmlns:c15="http://schemas.microsoft.com/office/drawing/2012/chart" uri="{02D57815-91ED-43cb-92C2-25804820EDAC}">
                        <c15:formulaRef>
                          <c15:sqref>'GDP Data'!$B$1:$AH$1</c15:sqref>
                        </c15:formulaRef>
                      </c:ext>
                    </c:extLst>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extLst xmlns:c15="http://schemas.microsoft.com/office/drawing/2012/chart">
                      <c:ext xmlns:c15="http://schemas.microsoft.com/office/drawing/2012/chart" uri="{02D57815-91ED-43cb-92C2-25804820EDAC}">
                        <c15:formulaRef>
                          <c15:sqref>'GDP Data'!$B$7:$AH$7</c15:sqref>
                        </c15:formulaRef>
                      </c:ext>
                    </c:extLst>
                    <c:numCache>
                      <c:formatCode>General</c:formatCode>
                      <c:ptCount val="30"/>
                      <c:pt idx="0">
                        <c:v>5.5540954958915876</c:v>
                      </c:pt>
                      <c:pt idx="1">
                        <c:v>3.4183568915428566</c:v>
                      </c:pt>
                      <c:pt idx="2">
                        <c:v>8.3262925203511315</c:v>
                      </c:pt>
                      <c:pt idx="3">
                        <c:v>6.4036357435314812</c:v>
                      </c:pt>
                      <c:pt idx="4">
                        <c:v>11.523243807939451</c:v>
                      </c:pt>
                      <c:pt idx="5">
                        <c:v>9.0721145821438967</c:v>
                      </c:pt>
                      <c:pt idx="6">
                        <c:v>5.1000018634794912</c:v>
                      </c:pt>
                      <c:pt idx="7">
                        <c:v>4.9052654838678507</c:v>
                      </c:pt>
                      <c:pt idx="8">
                        <c:v>8.0539483766469857</c:v>
                      </c:pt>
                      <c:pt idx="9">
                        <c:v>3.1419073382414524</c:v>
                      </c:pt>
                      <c:pt idx="10">
                        <c:v>5.1836611264320993</c:v>
                      </c:pt>
                      <c:pt idx="11">
                        <c:v>8.7326857639324231</c:v>
                      </c:pt>
                      <c:pt idx="12">
                        <c:v>6.4732586714905267</c:v>
                      </c:pt>
                      <c:pt idx="13">
                        <c:v>6.807233344186443</c:v>
                      </c:pt>
                      <c:pt idx="14">
                        <c:v>6.3325651162993353</c:v>
                      </c:pt>
                      <c:pt idx="15">
                        <c:v>10.784744386125155</c:v>
                      </c:pt>
                      <c:pt idx="16">
                        <c:v>8.4124259655278451</c:v>
                      </c:pt>
                      <c:pt idx="17">
                        <c:v>8.7087519013216337</c:v>
                      </c:pt>
                      <c:pt idx="18">
                        <c:v>6.8015173480652038</c:v>
                      </c:pt>
                      <c:pt idx="19">
                        <c:v>5.637611637931343</c:v>
                      </c:pt>
                      <c:pt idx="20">
                        <c:v>9.3916554929118519</c:v>
                      </c:pt>
                      <c:pt idx="21">
                        <c:v>3.8374556059260954</c:v>
                      </c:pt>
                      <c:pt idx="22">
                        <c:v>3.5869058263615869</c:v>
                      </c:pt>
                      <c:pt idx="23">
                        <c:v>5.1063073242765284</c:v>
                      </c:pt>
                      <c:pt idx="24">
                        <c:v>5.1878598625543617</c:v>
                      </c:pt>
                      <c:pt idx="25">
                        <c:v>4.7810002914464746</c:v>
                      </c:pt>
                      <c:pt idx="26">
                        <c:v>3.8091290293244242</c:v>
                      </c:pt>
                      <c:pt idx="27">
                        <c:v>6.1626191390034819</c:v>
                      </c:pt>
                      <c:pt idx="28">
                        <c:v>6.8033268132823537</c:v>
                      </c:pt>
                      <c:pt idx="29">
                        <c:v>0</c:v>
                      </c:pt>
                    </c:numCache>
                  </c:numRef>
                </c:val>
                <c:smooth val="0"/>
                <c:extLst xmlns:c15="http://schemas.microsoft.com/office/drawing/2012/chart">
                  <c:ext xmlns:c16="http://schemas.microsoft.com/office/drawing/2014/chart" uri="{C3380CC4-5D6E-409C-BE32-E72D297353CC}">
                    <c16:uniqueId val="{00000005-32C8-4B9C-9781-65A3F23583AD}"/>
                  </c:ext>
                </c:extLst>
              </c15:ser>
            </c15:filteredLineSeries>
            <c15:filteredLineSeries>
              <c15:ser>
                <c:idx val="6"/>
                <c:order val="6"/>
                <c:tx>
                  <c:strRef>
                    <c:extLst xmlns:c15="http://schemas.microsoft.com/office/drawing/2012/chart">
                      <c:ext xmlns:c15="http://schemas.microsoft.com/office/drawing/2012/chart" uri="{02D57815-91ED-43cb-92C2-25804820EDAC}">
                        <c15:formulaRef>
                          <c15:sqref>'GDP Data'!$A$8</c15:sqref>
                        </c15:formulaRef>
                      </c:ext>
                    </c:extLst>
                    <c:strCache>
                      <c:ptCount val="1"/>
                      <c:pt idx="0">
                        <c:v>Malawi</c:v>
                      </c:pt>
                    </c:strCache>
                  </c:strRef>
                </c:tx>
                <c:spPr>
                  <a:ln w="28575" cap="rnd">
                    <a:solidFill>
                      <a:schemeClr val="accent1">
                        <a:lumMod val="60000"/>
                      </a:schemeClr>
                    </a:solidFill>
                    <a:round/>
                  </a:ln>
                  <a:effectLst/>
                </c:spPr>
                <c:marker>
                  <c:symbol val="none"/>
                </c:marker>
                <c:cat>
                  <c:numRef>
                    <c:extLst xmlns:c15="http://schemas.microsoft.com/office/drawing/2012/chart">
                      <c:ext xmlns:c15="http://schemas.microsoft.com/office/drawing/2012/chart" uri="{02D57815-91ED-43cb-92C2-25804820EDAC}">
                        <c15:formulaRef>
                          <c15:sqref>'GDP Data'!$B$1:$AH$1</c15:sqref>
                        </c15:formulaRef>
                      </c:ext>
                    </c:extLst>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extLst xmlns:c15="http://schemas.microsoft.com/office/drawing/2012/chart">
                      <c:ext xmlns:c15="http://schemas.microsoft.com/office/drawing/2012/chart" uri="{02D57815-91ED-43cb-92C2-25804820EDAC}">
                        <c15:formulaRef>
                          <c15:sqref>'GDP Data'!$B$8:$AH$8</c15:sqref>
                        </c15:formulaRef>
                      </c:ext>
                    </c:extLst>
                    <c:numCache>
                      <c:formatCode>General</c:formatCode>
                      <c:ptCount val="30"/>
                      <c:pt idx="0">
                        <c:v>8.7302318286141372</c:v>
                      </c:pt>
                      <c:pt idx="1">
                        <c:v>-7.332978135323188</c:v>
                      </c:pt>
                      <c:pt idx="2">
                        <c:v>9.6918402678066258</c:v>
                      </c:pt>
                      <c:pt idx="3">
                        <c:v>-10.240181733893522</c:v>
                      </c:pt>
                      <c:pt idx="4">
                        <c:v>16.728817592001505</c:v>
                      </c:pt>
                      <c:pt idx="5">
                        <c:v>7.3166815111922432</c:v>
                      </c:pt>
                      <c:pt idx="6">
                        <c:v>3.7924190989626823</c:v>
                      </c:pt>
                      <c:pt idx="7">
                        <c:v>3.895253629637125</c:v>
                      </c:pt>
                      <c:pt idx="8">
                        <c:v>3.0422780913400089</c:v>
                      </c:pt>
                      <c:pt idx="9">
                        <c:v>1.5760778373466593</c:v>
                      </c:pt>
                      <c:pt idx="10">
                        <c:v>-4.9749638464944042</c:v>
                      </c:pt>
                      <c:pt idx="11">
                        <c:v>1.7000000136307563</c:v>
                      </c:pt>
                      <c:pt idx="12">
                        <c:v>5.7056394374716035</c:v>
                      </c:pt>
                      <c:pt idx="13">
                        <c:v>5.4204976936605505</c:v>
                      </c:pt>
                      <c:pt idx="14">
                        <c:v>3.2687258275752953</c:v>
                      </c:pt>
                      <c:pt idx="15">
                        <c:v>4.6999999920261075</c:v>
                      </c:pt>
                      <c:pt idx="16">
                        <c:v>9.6000000026081835</c:v>
                      </c:pt>
                      <c:pt idx="17">
                        <c:v>7.6397367741039233</c:v>
                      </c:pt>
                      <c:pt idx="18">
                        <c:v>8.3281102762457522</c:v>
                      </c:pt>
                      <c:pt idx="19">
                        <c:v>6.8740656350095435</c:v>
                      </c:pt>
                      <c:pt idx="20">
                        <c:v>4.8540551089832178</c:v>
                      </c:pt>
                      <c:pt idx="21">
                        <c:v>1.8857995073186657</c:v>
                      </c:pt>
                      <c:pt idx="22">
                        <c:v>5.1999999983554943</c:v>
                      </c:pt>
                      <c:pt idx="23">
                        <c:v>5.7000000037720895</c:v>
                      </c:pt>
                      <c:pt idx="24">
                        <c:v>2.7999999990033331</c:v>
                      </c:pt>
                      <c:pt idx="25">
                        <c:v>2.4840406264186754</c:v>
                      </c:pt>
                      <c:pt idx="26">
                        <c:v>4.0000305165304155</c:v>
                      </c:pt>
                      <c:pt idx="27">
                        <c:v>3.1700032203733031</c:v>
                      </c:pt>
                      <c:pt idx="28">
                        <c:v>4.3692389907521658</c:v>
                      </c:pt>
                      <c:pt idx="29">
                        <c:v>0</c:v>
                      </c:pt>
                    </c:numCache>
                  </c:numRef>
                </c:val>
                <c:smooth val="0"/>
                <c:extLst xmlns:c15="http://schemas.microsoft.com/office/drawing/2012/chart">
                  <c:ext xmlns:c16="http://schemas.microsoft.com/office/drawing/2014/chart" uri="{C3380CC4-5D6E-409C-BE32-E72D297353CC}">
                    <c16:uniqueId val="{00000006-32C8-4B9C-9781-65A3F23583AD}"/>
                  </c:ext>
                </c:extLst>
              </c15:ser>
            </c15:filteredLineSeries>
            <c15:filteredLineSeries>
              <c15:ser>
                <c:idx val="7"/>
                <c:order val="7"/>
                <c:tx>
                  <c:strRef>
                    <c:extLst xmlns:c15="http://schemas.microsoft.com/office/drawing/2012/chart">
                      <c:ext xmlns:c15="http://schemas.microsoft.com/office/drawing/2012/chart" uri="{02D57815-91ED-43cb-92C2-25804820EDAC}">
                        <c15:formulaRef>
                          <c15:sqref>'GDP Data'!$A$9</c15:sqref>
                        </c15:formulaRef>
                      </c:ext>
                    </c:extLst>
                    <c:strCache>
                      <c:ptCount val="1"/>
                      <c:pt idx="0">
                        <c:v>Angola</c:v>
                      </c:pt>
                    </c:strCache>
                  </c:strRef>
                </c:tx>
                <c:spPr>
                  <a:ln w="28575" cap="rnd">
                    <a:solidFill>
                      <a:schemeClr val="accent2">
                        <a:lumMod val="60000"/>
                      </a:schemeClr>
                    </a:solidFill>
                    <a:round/>
                  </a:ln>
                  <a:effectLst/>
                </c:spPr>
                <c:marker>
                  <c:symbol val="none"/>
                </c:marker>
                <c:cat>
                  <c:numRef>
                    <c:extLst xmlns:c15="http://schemas.microsoft.com/office/drawing/2012/chart">
                      <c:ext xmlns:c15="http://schemas.microsoft.com/office/drawing/2012/chart" uri="{02D57815-91ED-43cb-92C2-25804820EDAC}">
                        <c15:formulaRef>
                          <c15:sqref>'GDP Data'!$B$1:$AH$1</c15:sqref>
                        </c15:formulaRef>
                      </c:ext>
                    </c:extLst>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extLst xmlns:c15="http://schemas.microsoft.com/office/drawing/2012/chart">
                      <c:ext xmlns:c15="http://schemas.microsoft.com/office/drawing/2012/chart" uri="{02D57815-91ED-43cb-92C2-25804820EDAC}">
                        <c15:formulaRef>
                          <c15:sqref>'GDP Data'!$B$9:$AH$9</c15:sqref>
                        </c15:formulaRef>
                      </c:ext>
                    </c:extLst>
                    <c:numCache>
                      <c:formatCode>General</c:formatCode>
                      <c:ptCount val="30"/>
                      <c:pt idx="0">
                        <c:v>0.99135930146087503</c:v>
                      </c:pt>
                      <c:pt idx="1">
                        <c:v>-5.8382807331314126</c:v>
                      </c:pt>
                      <c:pt idx="2">
                        <c:v>-23.983417442057799</c:v>
                      </c:pt>
                      <c:pt idx="3">
                        <c:v>1.3393634364799141</c:v>
                      </c:pt>
                      <c:pt idx="4">
                        <c:v>15.000000028863369</c:v>
                      </c:pt>
                      <c:pt idx="5">
                        <c:v>13.544369755102565</c:v>
                      </c:pt>
                      <c:pt idx="6">
                        <c:v>7.2742773546037256</c:v>
                      </c:pt>
                      <c:pt idx="7">
                        <c:v>4.6911464509355199</c:v>
                      </c:pt>
                      <c:pt idx="8">
                        <c:v>2.1814897184045776</c:v>
                      </c:pt>
                      <c:pt idx="9">
                        <c:v>3.0546242343078518</c:v>
                      </c:pt>
                      <c:pt idx="10">
                        <c:v>4.2059985561950981</c:v>
                      </c:pt>
                      <c:pt idx="11">
                        <c:v>13.665686523023155</c:v>
                      </c:pt>
                      <c:pt idx="12">
                        <c:v>2.9898500103955286</c:v>
                      </c:pt>
                      <c:pt idx="13">
                        <c:v>10.952861768710264</c:v>
                      </c:pt>
                      <c:pt idx="14">
                        <c:v>15.028915317530192</c:v>
                      </c:pt>
                      <c:pt idx="15">
                        <c:v>11.547683178163254</c:v>
                      </c:pt>
                      <c:pt idx="16">
                        <c:v>14.010018242632796</c:v>
                      </c:pt>
                      <c:pt idx="17">
                        <c:v>11.166138330361377</c:v>
                      </c:pt>
                      <c:pt idx="18">
                        <c:v>0.858712615098284</c:v>
                      </c:pt>
                      <c:pt idx="19">
                        <c:v>4.4039325434376053</c:v>
                      </c:pt>
                      <c:pt idx="20">
                        <c:v>3.4719763445402378</c:v>
                      </c:pt>
                      <c:pt idx="21">
                        <c:v>8.5421876426537153</c:v>
                      </c:pt>
                      <c:pt idx="22">
                        <c:v>4.9545446463618674</c:v>
                      </c:pt>
                      <c:pt idx="23">
                        <c:v>4.8226275683899615</c:v>
                      </c:pt>
                      <c:pt idx="24">
                        <c:v>0.94357156132500108</c:v>
                      </c:pt>
                      <c:pt idx="25">
                        <c:v>-2.5800496440493248</c:v>
                      </c:pt>
                      <c:pt idx="26">
                        <c:v>-0.14721294108575478</c:v>
                      </c:pt>
                      <c:pt idx="27">
                        <c:v>-2.0036297273020125</c:v>
                      </c:pt>
                      <c:pt idx="28">
                        <c:v>-0.62464431770689544</c:v>
                      </c:pt>
                      <c:pt idx="29">
                        <c:v>0</c:v>
                      </c:pt>
                    </c:numCache>
                  </c:numRef>
                </c:val>
                <c:smooth val="0"/>
                <c:extLst xmlns:c15="http://schemas.microsoft.com/office/drawing/2012/chart">
                  <c:ext xmlns:c16="http://schemas.microsoft.com/office/drawing/2014/chart" uri="{C3380CC4-5D6E-409C-BE32-E72D297353CC}">
                    <c16:uniqueId val="{00000007-32C8-4B9C-9781-65A3F23583AD}"/>
                  </c:ext>
                </c:extLst>
              </c15:ser>
            </c15:filteredLineSeries>
            <c15:filteredLineSeries>
              <c15:ser>
                <c:idx val="8"/>
                <c:order val="8"/>
                <c:tx>
                  <c:strRef>
                    <c:extLst xmlns:c15="http://schemas.microsoft.com/office/drawing/2012/chart">
                      <c:ext xmlns:c15="http://schemas.microsoft.com/office/drawing/2012/chart" uri="{02D57815-91ED-43cb-92C2-25804820EDAC}">
                        <c15:formulaRef>
                          <c15:sqref>'GDP Data'!$A$10</c15:sqref>
                        </c15:formulaRef>
                      </c:ext>
                    </c:extLst>
                    <c:strCache>
                      <c:ptCount val="1"/>
                      <c:pt idx="0">
                        <c:v>Botswana</c:v>
                      </c:pt>
                    </c:strCache>
                  </c:strRef>
                </c:tx>
                <c:spPr>
                  <a:ln w="28575" cap="rnd">
                    <a:solidFill>
                      <a:schemeClr val="accent3">
                        <a:lumMod val="60000"/>
                      </a:schemeClr>
                    </a:solidFill>
                    <a:round/>
                  </a:ln>
                  <a:effectLst/>
                </c:spPr>
                <c:marker>
                  <c:symbol val="none"/>
                </c:marker>
                <c:cat>
                  <c:numRef>
                    <c:extLst xmlns:c15="http://schemas.microsoft.com/office/drawing/2012/chart">
                      <c:ext xmlns:c15="http://schemas.microsoft.com/office/drawing/2012/chart" uri="{02D57815-91ED-43cb-92C2-25804820EDAC}">
                        <c15:formulaRef>
                          <c15:sqref>'GDP Data'!$B$1:$AH$1</c15:sqref>
                        </c15:formulaRef>
                      </c:ext>
                    </c:extLst>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extLst xmlns:c15="http://schemas.microsoft.com/office/drawing/2012/chart">
                      <c:ext xmlns:c15="http://schemas.microsoft.com/office/drawing/2012/chart" uri="{02D57815-91ED-43cb-92C2-25804820EDAC}">
                        <c15:formulaRef>
                          <c15:sqref>'GDP Data'!$B$10:$AH$10</c15:sqref>
                        </c15:formulaRef>
                      </c:ext>
                    </c:extLst>
                    <c:numCache>
                      <c:formatCode>General</c:formatCode>
                      <c:ptCount val="30"/>
                      <c:pt idx="0">
                        <c:v>7.4587091123188003</c:v>
                      </c:pt>
                      <c:pt idx="1">
                        <c:v>2.9170703069254245</c:v>
                      </c:pt>
                      <c:pt idx="2">
                        <c:v>1.9161071417014313</c:v>
                      </c:pt>
                      <c:pt idx="3">
                        <c:v>3.6279160209385708</c:v>
                      </c:pt>
                      <c:pt idx="4">
                        <c:v>7.03041026074564</c:v>
                      </c:pt>
                      <c:pt idx="5">
                        <c:v>5.8298000784227497</c:v>
                      </c:pt>
                      <c:pt idx="6">
                        <c:v>8.3258908984286535</c:v>
                      </c:pt>
                      <c:pt idx="7">
                        <c:v>0.44366348033824465</c:v>
                      </c:pt>
                      <c:pt idx="8">
                        <c:v>9.667240741511975</c:v>
                      </c:pt>
                      <c:pt idx="9">
                        <c:v>1.9876958543875389</c:v>
                      </c:pt>
                      <c:pt idx="10">
                        <c:v>0.25057386672273196</c:v>
                      </c:pt>
                      <c:pt idx="11">
                        <c:v>6.069530867650144</c:v>
                      </c:pt>
                      <c:pt idx="12">
                        <c:v>4.625894791915556</c:v>
                      </c:pt>
                      <c:pt idx="13">
                        <c:v>2.70582173663567</c:v>
                      </c:pt>
                      <c:pt idx="14">
                        <c:v>4.5566456573284455</c:v>
                      </c:pt>
                      <c:pt idx="15">
                        <c:v>8.3638710689572662</c:v>
                      </c:pt>
                      <c:pt idx="16">
                        <c:v>8.2767637934696836</c:v>
                      </c:pt>
                      <c:pt idx="17">
                        <c:v>6.2454373629087883</c:v>
                      </c:pt>
                      <c:pt idx="18">
                        <c:v>-7.652310202534764</c:v>
                      </c:pt>
                      <c:pt idx="19">
                        <c:v>8.5636307922088974</c:v>
                      </c:pt>
                      <c:pt idx="20">
                        <c:v>6.0483614546898821</c:v>
                      </c:pt>
                      <c:pt idx="21">
                        <c:v>4.456144470595774</c:v>
                      </c:pt>
                      <c:pt idx="22">
                        <c:v>11.343396971349677</c:v>
                      </c:pt>
                      <c:pt idx="23">
                        <c:v>4.1492622552040217</c:v>
                      </c:pt>
                      <c:pt idx="24">
                        <c:v>-1.6979354267597415</c:v>
                      </c:pt>
                      <c:pt idx="25">
                        <c:v>4.3037674480267469</c:v>
                      </c:pt>
                      <c:pt idx="26">
                        <c:v>2.9039977321092749</c:v>
                      </c:pt>
                      <c:pt idx="27">
                        <c:v>4.47883655345764</c:v>
                      </c:pt>
                      <c:pt idx="28">
                        <c:v>2.9661256478123335</c:v>
                      </c:pt>
                      <c:pt idx="29">
                        <c:v>0</c:v>
                      </c:pt>
                    </c:numCache>
                  </c:numRef>
                </c:val>
                <c:smooth val="0"/>
                <c:extLst xmlns:c15="http://schemas.microsoft.com/office/drawing/2012/chart">
                  <c:ext xmlns:c16="http://schemas.microsoft.com/office/drawing/2014/chart" uri="{C3380CC4-5D6E-409C-BE32-E72D297353CC}">
                    <c16:uniqueId val="{00000008-32C8-4B9C-9781-65A3F23583AD}"/>
                  </c:ext>
                </c:extLst>
              </c15:ser>
            </c15:filteredLineSeries>
            <c15:filteredLineSeries>
              <c15:ser>
                <c:idx val="9"/>
                <c:order val="9"/>
                <c:tx>
                  <c:strRef>
                    <c:extLst xmlns:c15="http://schemas.microsoft.com/office/drawing/2012/chart">
                      <c:ext xmlns:c15="http://schemas.microsoft.com/office/drawing/2012/chart" uri="{02D57815-91ED-43cb-92C2-25804820EDAC}">
                        <c15:formulaRef>
                          <c15:sqref>'GDP Data'!$A$11</c15:sqref>
                        </c15:formulaRef>
                      </c:ext>
                    </c:extLst>
                    <c:strCache>
                      <c:ptCount val="1"/>
                      <c:pt idx="0">
                        <c:v>Zimbabwe</c:v>
                      </c:pt>
                    </c:strCache>
                  </c:strRef>
                </c:tx>
                <c:spPr>
                  <a:ln w="28575" cap="rnd">
                    <a:solidFill>
                      <a:schemeClr val="accent4">
                        <a:lumMod val="60000"/>
                      </a:schemeClr>
                    </a:solidFill>
                    <a:round/>
                  </a:ln>
                  <a:effectLst/>
                </c:spPr>
                <c:marker>
                  <c:symbol val="none"/>
                </c:marker>
                <c:cat>
                  <c:numRef>
                    <c:extLst xmlns:c15="http://schemas.microsoft.com/office/drawing/2012/chart">
                      <c:ext xmlns:c15="http://schemas.microsoft.com/office/drawing/2012/chart" uri="{02D57815-91ED-43cb-92C2-25804820EDAC}">
                        <c15:formulaRef>
                          <c15:sqref>'GDP Data'!$B$1:$AH$1</c15:sqref>
                        </c15:formulaRef>
                      </c:ext>
                    </c:extLst>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extLst xmlns:c15="http://schemas.microsoft.com/office/drawing/2012/chart">
                      <c:ext xmlns:c15="http://schemas.microsoft.com/office/drawing/2012/chart" uri="{02D57815-91ED-43cb-92C2-25804820EDAC}">
                        <c15:formulaRef>
                          <c15:sqref>'GDP Data'!$B$11:$AH$11</c15:sqref>
                        </c15:formulaRef>
                      </c:ext>
                    </c:extLst>
                    <c:numCache>
                      <c:formatCode>General</c:formatCode>
                      <c:ptCount val="30"/>
                      <c:pt idx="0">
                        <c:v>5.5317823960983219</c:v>
                      </c:pt>
                      <c:pt idx="1">
                        <c:v>-9.0155700862609223</c:v>
                      </c:pt>
                      <c:pt idx="2">
                        <c:v>1.0514586257693423</c:v>
                      </c:pt>
                      <c:pt idx="3">
                        <c:v>9.2351988610601694</c:v>
                      </c:pt>
                      <c:pt idx="4">
                        <c:v>0.15802565144909408</c:v>
                      </c:pt>
                      <c:pt idx="5">
                        <c:v>10.360696769806481</c:v>
                      </c:pt>
                      <c:pt idx="6">
                        <c:v>2.6805941737397774</c:v>
                      </c:pt>
                      <c:pt idx="7">
                        <c:v>2.88521180627896</c:v>
                      </c:pt>
                      <c:pt idx="8">
                        <c:v>-0.81782101628289183</c:v>
                      </c:pt>
                      <c:pt idx="9">
                        <c:v>-3.0591897618037933</c:v>
                      </c:pt>
                      <c:pt idx="10">
                        <c:v>1.4396153844897555</c:v>
                      </c:pt>
                      <c:pt idx="11">
                        <c:v>-8.894023633042849</c:v>
                      </c:pt>
                      <c:pt idx="12">
                        <c:v>-16.995074694026187</c:v>
                      </c:pt>
                      <c:pt idx="13">
                        <c:v>-5.8075380553470808</c:v>
                      </c:pt>
                      <c:pt idx="14">
                        <c:v>-5.7110836797259878</c:v>
                      </c:pt>
                      <c:pt idx="15">
                        <c:v>-3.4614951923160646</c:v>
                      </c:pt>
                      <c:pt idx="16">
                        <c:v>-3.6533268588292032</c:v>
                      </c:pt>
                      <c:pt idx="17">
                        <c:v>-17.668946285205351</c:v>
                      </c:pt>
                      <c:pt idx="18">
                        <c:v>12.019559926898538</c:v>
                      </c:pt>
                      <c:pt idx="19">
                        <c:v>19.675323142464492</c:v>
                      </c:pt>
                      <c:pt idx="20">
                        <c:v>14.19391295721617</c:v>
                      </c:pt>
                      <c:pt idx="21">
                        <c:v>16.665428768467862</c:v>
                      </c:pt>
                      <c:pt idx="22">
                        <c:v>1.989492762072075</c:v>
                      </c:pt>
                      <c:pt idx="23">
                        <c:v>2.3769293269800329</c:v>
                      </c:pt>
                      <c:pt idx="24">
                        <c:v>1.7798727034029866</c:v>
                      </c:pt>
                      <c:pt idx="25">
                        <c:v>0.75586925093060131</c:v>
                      </c:pt>
                      <c:pt idx="26">
                        <c:v>4.7040353905471335</c:v>
                      </c:pt>
                      <c:pt idx="27">
                        <c:v>4.8296735910921171</c:v>
                      </c:pt>
                      <c:pt idx="28">
                        <c:v>-8.1000001988609256</c:v>
                      </c:pt>
                      <c:pt idx="29">
                        <c:v>0</c:v>
                      </c:pt>
                    </c:numCache>
                  </c:numRef>
                </c:val>
                <c:smooth val="0"/>
                <c:extLst xmlns:c15="http://schemas.microsoft.com/office/drawing/2012/chart">
                  <c:ext xmlns:c16="http://schemas.microsoft.com/office/drawing/2014/chart" uri="{C3380CC4-5D6E-409C-BE32-E72D297353CC}">
                    <c16:uniqueId val="{00000009-32C8-4B9C-9781-65A3F23583AD}"/>
                  </c:ext>
                </c:extLst>
              </c15:ser>
            </c15:filteredLineSeries>
          </c:ext>
        </c:extLst>
      </c:lineChart>
      <c:catAx>
        <c:axId val="430087344"/>
        <c:scaling>
          <c:orientation val="minMax"/>
        </c:scaling>
        <c:delete val="0"/>
        <c:axPos val="b"/>
        <c:numFmt formatCode="General" sourceLinked="1"/>
        <c:majorTickMark val="none"/>
        <c:minorTickMark val="none"/>
        <c:tickLblPos val="nextTo"/>
        <c:spPr>
          <a:noFill/>
          <a:ln w="9525" cap="flat" cmpd="sng" algn="ctr">
            <a:solidFill>
              <a:schemeClr val="bg1">
                <a:lumMod val="50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418464864"/>
        <c:crosses val="autoZero"/>
        <c:auto val="1"/>
        <c:lblAlgn val="ctr"/>
        <c:lblOffset val="100"/>
        <c:noMultiLvlLbl val="0"/>
      </c:catAx>
      <c:valAx>
        <c:axId val="418464864"/>
        <c:scaling>
          <c:orientation val="minMax"/>
          <c:min val="-5"/>
        </c:scaling>
        <c:delete val="0"/>
        <c:axPos val="l"/>
        <c:title>
          <c:tx>
            <c:rich>
              <a:bodyPr rot="-54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r>
                  <a:rPr lang="en-US" dirty="0"/>
                  <a:t>%</a:t>
                </a:r>
              </a:p>
            </c:rich>
          </c:tx>
          <c:layout>
            <c:manualLayout>
              <c:xMode val="edge"/>
              <c:yMode val="edge"/>
              <c:x val="7.9715775659621492E-3"/>
              <c:y val="0.3174504228638087"/>
            </c:manualLayout>
          </c:layout>
          <c:overlay val="0"/>
          <c:spPr>
            <a:noFill/>
            <a:ln>
              <a:noFill/>
            </a:ln>
            <a:effectLst/>
          </c:spPr>
          <c:txPr>
            <a:bodyPr rot="-54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title>
        <c:numFmt formatCode="0" sourceLinked="0"/>
        <c:majorTickMark val="none"/>
        <c:minorTickMark val="none"/>
        <c:tickLblPos val="nextTo"/>
        <c:spPr>
          <a:noFill/>
          <a:ln>
            <a:solidFill>
              <a:schemeClr val="bg1">
                <a:lumMod val="50000"/>
              </a:schemeClr>
            </a:solidFill>
          </a:ln>
          <a:effectLst/>
        </c:spPr>
        <c:txPr>
          <a:bodyPr rot="-600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430087344"/>
        <c:crosses val="autoZero"/>
        <c:crossBetween val="between"/>
      </c:valAx>
      <c:spPr>
        <a:noFill/>
        <a:ln>
          <a:noFill/>
        </a:ln>
        <a:effectLst/>
      </c:spPr>
    </c:plotArea>
    <c:legend>
      <c:legendPos val="b"/>
      <c:layout>
        <c:manualLayout>
          <c:xMode val="edge"/>
          <c:yMode val="edge"/>
          <c:x val="2.6107256584187628E-2"/>
          <c:y val="0.85991303325890256"/>
          <c:w val="0.93030644492575854"/>
          <c:h val="0.1342338792374394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900">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1" i="0" u="none" strike="noStrike" kern="1200" baseline="0">
                <a:solidFill>
                  <a:schemeClr val="tx2"/>
                </a:solidFill>
                <a:latin typeface="+mn-lt"/>
                <a:ea typeface="+mn-ea"/>
                <a:cs typeface="+mn-cs"/>
              </a:defRPr>
            </a:pPr>
            <a:r>
              <a:rPr lang="pt-BR" sz="1200" dirty="0"/>
              <a:t>Annual GDP Growth - Projected
</a:t>
            </a:r>
            <a:endParaRPr lang="en-US" sz="1200" dirty="0"/>
          </a:p>
        </c:rich>
      </c:tx>
      <c:overlay val="0"/>
      <c:spPr>
        <a:noFill/>
        <a:ln>
          <a:noFill/>
        </a:ln>
        <a:effectLst/>
      </c:spPr>
      <c:txPr>
        <a:bodyPr rot="0" spcFirstLastPara="1" vertOverflow="ellipsis" vert="horz" wrap="square" anchor="ctr" anchorCtr="1"/>
        <a:lstStyle/>
        <a:p>
          <a:pPr>
            <a:defRPr sz="1200" b="1" i="0" u="none" strike="noStrike" kern="1200" baseline="0">
              <a:solidFill>
                <a:schemeClr val="tx2"/>
              </a:solidFill>
              <a:latin typeface="+mn-lt"/>
              <a:ea typeface="+mn-ea"/>
              <a:cs typeface="+mn-cs"/>
            </a:defRPr>
          </a:pPr>
          <a:endParaRPr lang="en-US"/>
        </a:p>
      </c:txPr>
    </c:title>
    <c:autoTitleDeleted val="0"/>
    <c:plotArea>
      <c:layout/>
      <c:lineChart>
        <c:grouping val="standard"/>
        <c:varyColors val="0"/>
        <c:ser>
          <c:idx val="0"/>
          <c:order val="0"/>
          <c:tx>
            <c:strRef>
              <c:f>'https://worldbankgroup.sharepoint.com/sites/MZMPMFiles/Shared Documents/Operations/MTI/Economic monitoring/Mozambique Economic Framework/2022/[20220319 Mozambique Macro Framework_Baseline_Grants Adjusted_Simulationfor Mathew-PCDJFVRY33.xlsx]Select Econ and Financial CPF'!$A$7</c:f>
              <c:strCache>
                <c:ptCount val="1"/>
                <c:pt idx="0">
                  <c:v>GDP at constant prices</c:v>
                </c:pt>
              </c:strCache>
            </c:strRef>
          </c:tx>
          <c:spPr>
            <a:ln w="31750" cap="rnd">
              <a:solidFill>
                <a:schemeClr val="accent1"/>
              </a:solidFill>
              <a:round/>
            </a:ln>
            <a:effectLst/>
          </c:spPr>
          <c:marker>
            <c:symbol val="none"/>
          </c:marker>
          <c:cat>
            <c:strRef>
              <c:f>'[1]Select Econ and Financial CPF'!$B$2:$M$2</c:f>
              <c:strCache>
                <c:ptCount val="12"/>
                <c:pt idx="0">
                  <c:v>2016</c:v>
                </c:pt>
                <c:pt idx="1">
                  <c:v>2017</c:v>
                </c:pt>
                <c:pt idx="2">
                  <c:v>2018</c:v>
                </c:pt>
                <c:pt idx="3">
                  <c:v>2019</c:v>
                </c:pt>
                <c:pt idx="4">
                  <c:v>2020</c:v>
                </c:pt>
                <c:pt idx="5">
                  <c:v>2021</c:v>
                </c:pt>
                <c:pt idx="6">
                  <c:v>2022 </c:v>
                </c:pt>
                <c:pt idx="7">
                  <c:v>2023</c:v>
                </c:pt>
                <c:pt idx="8">
                  <c:v>2024</c:v>
                </c:pt>
                <c:pt idx="9">
                  <c:v>2025</c:v>
                </c:pt>
                <c:pt idx="10">
                  <c:v>2026</c:v>
                </c:pt>
                <c:pt idx="11">
                  <c:v>2027</c:v>
                </c:pt>
              </c:strCache>
            </c:strRef>
          </c:cat>
          <c:val>
            <c:numRef>
              <c:f>'[1]Select Econ and Financial CPF'!$B$7:$M$7</c:f>
              <c:numCache>
                <c:formatCode>General</c:formatCode>
                <c:ptCount val="12"/>
                <c:pt idx="0">
                  <c:v>3.8242063698648243</c:v>
                </c:pt>
                <c:pt idx="1">
                  <c:v>3.7413190418151165</c:v>
                </c:pt>
                <c:pt idx="2">
                  <c:v>3.4438156642854656</c:v>
                </c:pt>
                <c:pt idx="3">
                  <c:v>2.2927369306402268</c:v>
                </c:pt>
                <c:pt idx="4">
                  <c:v>-1.2127911653609935</c:v>
                </c:pt>
                <c:pt idx="5">
                  <c:v>2.2273631917444803</c:v>
                </c:pt>
                <c:pt idx="6">
                  <c:v>3.646451938635864</c:v>
                </c:pt>
                <c:pt idx="7">
                  <c:v>5.3539020373436941</c:v>
                </c:pt>
                <c:pt idx="8">
                  <c:v>7.3939917866207905</c:v>
                </c:pt>
                <c:pt idx="9">
                  <c:v>5.3650699212903552</c:v>
                </c:pt>
                <c:pt idx="10">
                  <c:v>13</c:v>
                </c:pt>
                <c:pt idx="11">
                  <c:v>10</c:v>
                </c:pt>
              </c:numCache>
            </c:numRef>
          </c:val>
          <c:smooth val="0"/>
          <c:extLst>
            <c:ext xmlns:c16="http://schemas.microsoft.com/office/drawing/2014/chart" uri="{C3380CC4-5D6E-409C-BE32-E72D297353CC}">
              <c16:uniqueId val="{00000000-C692-41DF-B099-32B405B7F08C}"/>
            </c:ext>
          </c:extLst>
        </c:ser>
        <c:ser>
          <c:idx val="1"/>
          <c:order val="1"/>
          <c:tx>
            <c:strRef>
              <c:f>'https://worldbankgroup.sharepoint.com/sites/MZMPMFiles/Shared Documents/Operations/MTI/Economic monitoring/Mozambique Economic Framework/2022/[20220319 Mozambique Macro Framework_Baseline_Grants Adjusted_Simulationfor Mathew-PCDJFVRY33.xlsx]Select Econ and Financial CPF'!$A$8</c:f>
              <c:strCache>
                <c:ptCount val="1"/>
                <c:pt idx="0">
                  <c:v>GDP at constant prices, ex. extractive sector</c:v>
                </c:pt>
              </c:strCache>
            </c:strRef>
          </c:tx>
          <c:spPr>
            <a:ln w="31750" cap="rnd">
              <a:solidFill>
                <a:schemeClr val="accent2"/>
              </a:solidFill>
              <a:round/>
            </a:ln>
            <a:effectLst/>
          </c:spPr>
          <c:marker>
            <c:symbol val="none"/>
          </c:marker>
          <c:cat>
            <c:strRef>
              <c:f>'[1]Select Econ and Financial CPF'!$B$2:$M$2</c:f>
              <c:strCache>
                <c:ptCount val="12"/>
                <c:pt idx="0">
                  <c:v>2016</c:v>
                </c:pt>
                <c:pt idx="1">
                  <c:v>2017</c:v>
                </c:pt>
                <c:pt idx="2">
                  <c:v>2018</c:v>
                </c:pt>
                <c:pt idx="3">
                  <c:v>2019</c:v>
                </c:pt>
                <c:pt idx="4">
                  <c:v>2020</c:v>
                </c:pt>
                <c:pt idx="5">
                  <c:v>2021</c:v>
                </c:pt>
                <c:pt idx="6">
                  <c:v>2022 </c:v>
                </c:pt>
                <c:pt idx="7">
                  <c:v>2023</c:v>
                </c:pt>
                <c:pt idx="8">
                  <c:v>2024</c:v>
                </c:pt>
                <c:pt idx="9">
                  <c:v>2025</c:v>
                </c:pt>
                <c:pt idx="10">
                  <c:v>2026</c:v>
                </c:pt>
                <c:pt idx="11">
                  <c:v>2027</c:v>
                </c:pt>
              </c:strCache>
            </c:strRef>
          </c:cat>
          <c:val>
            <c:numRef>
              <c:f>'[1]Select Econ and Financial CPF'!$B$8:$M$8</c:f>
              <c:numCache>
                <c:formatCode>General</c:formatCode>
                <c:ptCount val="12"/>
                <c:pt idx="0">
                  <c:v>3.0764137800959017</c:v>
                </c:pt>
                <c:pt idx="1">
                  <c:v>1.5367224174446528</c:v>
                </c:pt>
                <c:pt idx="2">
                  <c:v>2.6433189826118717</c:v>
                </c:pt>
                <c:pt idx="3">
                  <c:v>2.5357585148552655</c:v>
                </c:pt>
                <c:pt idx="4">
                  <c:v>-0.22592321687047412</c:v>
                </c:pt>
                <c:pt idx="5">
                  <c:v>2.2897791388444686</c:v>
                </c:pt>
                <c:pt idx="6">
                  <c:v>2.846451938635858</c:v>
                </c:pt>
                <c:pt idx="7">
                  <c:v>4.2789020373437019</c:v>
                </c:pt>
                <c:pt idx="8">
                  <c:v>3.5064917866207876</c:v>
                </c:pt>
                <c:pt idx="9">
                  <c:v>0.12989013857533069</c:v>
                </c:pt>
                <c:pt idx="10">
                  <c:v>2.6384279875132735</c:v>
                </c:pt>
                <c:pt idx="11">
                  <c:v>2.0916033042364641</c:v>
                </c:pt>
              </c:numCache>
            </c:numRef>
          </c:val>
          <c:smooth val="0"/>
          <c:extLst>
            <c:ext xmlns:c16="http://schemas.microsoft.com/office/drawing/2014/chart" uri="{C3380CC4-5D6E-409C-BE32-E72D297353CC}">
              <c16:uniqueId val="{00000001-C692-41DF-B099-32B405B7F08C}"/>
            </c:ext>
          </c:extLst>
        </c:ser>
        <c:dLbls>
          <c:showLegendKey val="0"/>
          <c:showVal val="0"/>
          <c:showCatName val="0"/>
          <c:showSerName val="0"/>
          <c:showPercent val="0"/>
          <c:showBubbleSize val="0"/>
        </c:dLbls>
        <c:smooth val="0"/>
        <c:axId val="588589392"/>
        <c:axId val="588586896"/>
      </c:lineChart>
      <c:catAx>
        <c:axId val="588589392"/>
        <c:scaling>
          <c:orientation val="minMax"/>
        </c:scaling>
        <c:delete val="0"/>
        <c:axPos val="b"/>
        <c:numFmt formatCode="General" sourceLinked="1"/>
        <c:majorTickMark val="out"/>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588586896"/>
        <c:crosses val="autoZero"/>
        <c:auto val="1"/>
        <c:lblAlgn val="ctr"/>
        <c:lblOffset val="100"/>
        <c:noMultiLvlLbl val="0"/>
      </c:catAx>
      <c:valAx>
        <c:axId val="588586896"/>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5885893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pt-BR" sz="1000" b="0" i="0" u="none" strike="noStrike" kern="1200" cap="all" baseline="0" smtClean="0">
                <a:solidFill>
                  <a:schemeClr val="tx1"/>
                </a:solidFill>
                <a:latin typeface="+mj-lt"/>
                <a:ea typeface="+mn-ea"/>
                <a:cs typeface="+mn-cs"/>
              </a:defRPr>
            </a:pPr>
            <a:r>
              <a:rPr lang="en-US" sz="1000" b="1" dirty="0">
                <a:solidFill>
                  <a:schemeClr val="tx1"/>
                </a:solidFill>
                <a:latin typeface="+mj-lt"/>
              </a:rPr>
              <a:t>Funding</a:t>
            </a:r>
            <a:r>
              <a:rPr lang="en-US" sz="1000" b="1" baseline="0" dirty="0">
                <a:solidFill>
                  <a:schemeClr val="tx1"/>
                </a:solidFill>
                <a:latin typeface="+mj-lt"/>
              </a:rPr>
              <a:t> </a:t>
            </a:r>
            <a:r>
              <a:rPr lang="en-US" sz="1000" b="1" dirty="0">
                <a:solidFill>
                  <a:schemeClr val="tx1"/>
                </a:solidFill>
                <a:latin typeface="+mj-lt"/>
              </a:rPr>
              <a:t>objectives</a:t>
            </a:r>
            <a:r>
              <a:rPr lang="en-US" sz="1000" b="1" baseline="0" dirty="0">
                <a:solidFill>
                  <a:schemeClr val="tx1"/>
                </a:solidFill>
                <a:latin typeface="+mj-lt"/>
              </a:rPr>
              <a:t>  </a:t>
            </a:r>
            <a:r>
              <a:rPr lang="en-US" sz="1000" b="1" dirty="0">
                <a:solidFill>
                  <a:schemeClr val="tx1"/>
                </a:solidFill>
                <a:latin typeface="+mj-lt"/>
              </a:rPr>
              <a:t>in the FY17-21 CPF period (% of total commitments)
</a:t>
            </a:r>
            <a:r>
              <a:rPr lang="pt-BR" sz="1000" b="0" dirty="0">
                <a:solidFill>
                  <a:schemeClr val="tx1"/>
                </a:solidFill>
                <a:latin typeface="+mj-lt"/>
              </a:rPr>
              <a:t>
</a:t>
            </a:r>
          </a:p>
        </c:rich>
      </c:tx>
      <c:layout>
        <c:manualLayout>
          <c:xMode val="edge"/>
          <c:yMode val="edge"/>
          <c:x val="0.19834392431471143"/>
          <c:y val="0"/>
        </c:manualLayout>
      </c:layout>
      <c:overlay val="0"/>
      <c:spPr>
        <a:noFill/>
        <a:ln>
          <a:noFill/>
        </a:ln>
        <a:effectLst/>
      </c:spPr>
      <c:txPr>
        <a:bodyPr rot="0" spcFirstLastPara="1" vertOverflow="ellipsis" vert="horz" wrap="square" anchor="ctr" anchorCtr="1"/>
        <a:lstStyle/>
        <a:p>
          <a:pPr>
            <a:defRPr lang="pt-BR" sz="1000" b="0" i="0" u="none" strike="noStrike" kern="1200" cap="all" baseline="0" smtClean="0">
              <a:solidFill>
                <a:schemeClr val="tx1"/>
              </a:solidFill>
              <a:latin typeface="+mj-lt"/>
              <a:ea typeface="+mn-ea"/>
              <a:cs typeface="+mn-cs"/>
            </a:defRPr>
          </a:pPr>
          <a:endParaRPr lang="en-US"/>
        </a:p>
      </c:txPr>
    </c:title>
    <c:autoTitleDeleted val="0"/>
    <c:plotArea>
      <c:layout/>
      <c:pieChart>
        <c:varyColors val="1"/>
        <c:ser>
          <c:idx val="0"/>
          <c:order val="0"/>
          <c:tx>
            <c:strRef>
              <c:f>'Portfolio by CPF objective'!$E$67</c:f>
              <c:strCache>
                <c:ptCount val="1"/>
                <c:pt idx="0">
                  <c:v>Percentage of total portfolio (%)</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F231-4CE8-A179-C3BE7835BECE}"/>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F231-4CE8-A179-C3BE7835BECE}"/>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F231-4CE8-A179-C3BE7835BECE}"/>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F231-4CE8-A179-C3BE7835BECE}"/>
              </c:ext>
            </c:extLst>
          </c:dPt>
          <c:dPt>
            <c:idx val="4"/>
            <c:bubble3D val="0"/>
            <c:spPr>
              <a:solidFill>
                <a:schemeClr val="accent5"/>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9-F231-4CE8-A179-C3BE7835BECE}"/>
              </c:ext>
            </c:extLst>
          </c:dPt>
          <c:dPt>
            <c:idx val="5"/>
            <c:bubble3D val="0"/>
            <c:spPr>
              <a:solidFill>
                <a:schemeClr val="accent6"/>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B-F231-4CE8-A179-C3BE7835BECE}"/>
              </c:ext>
            </c:extLst>
          </c:dPt>
          <c:dPt>
            <c:idx val="6"/>
            <c:bubble3D val="0"/>
            <c:spPr>
              <a:solidFill>
                <a:schemeClr val="accent1">
                  <a:lumMod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D-F231-4CE8-A179-C3BE7835BECE}"/>
              </c:ext>
            </c:extLst>
          </c:dPt>
          <c:dPt>
            <c:idx val="7"/>
            <c:bubble3D val="0"/>
            <c:spPr>
              <a:solidFill>
                <a:schemeClr val="accent2">
                  <a:lumMod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F-F231-4CE8-A179-C3BE7835BECE}"/>
              </c:ext>
            </c:extLst>
          </c:dPt>
          <c:dPt>
            <c:idx val="8"/>
            <c:bubble3D val="0"/>
            <c:spPr>
              <a:solidFill>
                <a:schemeClr val="accent3">
                  <a:lumMod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1-F231-4CE8-A179-C3BE7835BECE}"/>
              </c:ext>
            </c:extLst>
          </c:dPt>
          <c:dLbls>
            <c:dLbl>
              <c:idx val="0"/>
              <c:layout>
                <c:manualLayout>
                  <c:x val="9.6456841018841805E-2"/>
                  <c:y val="6.9453703458823249E-2"/>
                </c:manualLayout>
              </c:layout>
              <c:tx>
                <c:rich>
                  <a:bodyPr rot="0" spcFirstLastPara="1" vertOverflow="ellipsis" vert="horz" wrap="square" lIns="38100" tIns="19050" rIns="38100" bIns="19050" anchor="ctr" anchorCtr="1">
                    <a:spAutoFit/>
                  </a:bodyPr>
                  <a:lstStyle/>
                  <a:p>
                    <a:pPr>
                      <a:defRPr lang="pt-BR" sz="1000" b="1" i="0" u="none" strike="noStrike" kern="1200" spc="0" baseline="0" smtClean="0">
                        <a:solidFill>
                          <a:schemeClr val="accent1"/>
                        </a:solidFill>
                        <a:latin typeface="+mn-lt"/>
                        <a:ea typeface="+mn-ea"/>
                        <a:cs typeface="+mn-cs"/>
                      </a:defRPr>
                    </a:pPr>
                    <a:r>
                      <a:rPr lang="en-US"/>
                      <a:t>1: Improved economic management, 6.6%
</a:t>
                    </a:r>
                    <a:endParaRPr lang="en-US" baseline="0"/>
                  </a:p>
                </c:rich>
              </c:tx>
              <c:spPr>
                <a:noFill/>
                <a:ln>
                  <a:noFill/>
                </a:ln>
                <a:effectLst/>
              </c:spPr>
              <c:txPr>
                <a:bodyPr rot="0" spcFirstLastPara="1" vertOverflow="ellipsis" vert="horz" wrap="square" lIns="38100" tIns="19050" rIns="38100" bIns="19050" anchor="ctr" anchorCtr="1">
                  <a:spAutoFit/>
                </a:bodyPr>
                <a:lstStyle/>
                <a:p>
                  <a:pPr>
                    <a:defRPr lang="pt-BR" sz="1000" b="1" i="0" u="none" strike="noStrike" kern="1200" spc="0" baseline="0" smtClean="0">
                      <a:solidFill>
                        <a:schemeClr val="accent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F231-4CE8-A179-C3BE7835BECE}"/>
                </c:ext>
              </c:extLst>
            </c:dLbl>
            <c:dLbl>
              <c:idx val="1"/>
              <c:layout>
                <c:manualLayout>
                  <c:x val="0"/>
                  <c:y val="-2.5714285714285766E-2"/>
                </c:manualLayout>
              </c:layout>
              <c:tx>
                <c:rich>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r>
                      <a:rPr lang="en-US"/>
                      <a:t>2: Increase in Agricultural Growth, 30.2%
</a:t>
                    </a:r>
                    <a:endParaRPr lang="en-US" baseline="0"/>
                  </a:p>
                </c:rich>
              </c:tx>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F231-4CE8-A179-C3BE7835BECE}"/>
                </c:ext>
              </c:extLst>
            </c:dLbl>
            <c:dLbl>
              <c:idx val="2"/>
              <c:layout>
                <c:manualLayout>
                  <c:x val="8.6556169429097468E-2"/>
                  <c:y val="-0.11714285714285724"/>
                </c:manualLayout>
              </c:layout>
              <c:tx>
                <c:rich>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r>
                      <a:rPr lang="en-US"/>
                      <a:t>3: Improving the Business Environment for Job Creation, 3.5%
</a:t>
                    </a:r>
                    <a:endParaRPr lang="en-US" baseline="0"/>
                  </a:p>
                </c:rich>
              </c:tx>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F231-4CE8-A179-C3BE7835BECE}"/>
                </c:ext>
              </c:extLst>
            </c:dLbl>
            <c:dLbl>
              <c:idx val="3"/>
              <c:layout>
                <c:manualLayout>
                  <c:x val="-1.7631260185855847E-2"/>
                  <c:y val="0"/>
                </c:manualLayout>
              </c:layout>
              <c:tx>
                <c:rich>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r>
                      <a:rPr lang="en-US"/>
                      <a:t>4: Expand access and improve electricity reliability, 8.0%
</a:t>
                    </a:r>
                    <a:endParaRPr lang="en-US" baseline="0"/>
                  </a:p>
                </c:rich>
              </c:tx>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F231-4CE8-A179-C3BE7835BECE}"/>
                </c:ext>
              </c:extLst>
            </c:dLbl>
            <c:dLbl>
              <c:idx val="4"/>
              <c:layout>
                <c:manualLayout>
                  <c:x val="1.8416206261510096E-2"/>
                  <c:y val="2.8571428571428571E-3"/>
                </c:manualLayout>
              </c:layout>
              <c:tx>
                <c:rich>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r>
                      <a:rPr lang="en-US"/>
                      <a:t>5: Improve the Skills Base, 13.8%
</a:t>
                    </a:r>
                    <a:endParaRPr lang="en-US" baseline="0"/>
                  </a:p>
                </c:rich>
              </c:tx>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F231-4CE8-A179-C3BE7835BECE}"/>
                </c:ext>
              </c:extLst>
            </c:dLbl>
            <c:dLbl>
              <c:idx val="5"/>
              <c:layout>
                <c:manualLayout>
                  <c:x val="-4.9723756906077346E-2"/>
                  <c:y val="1.4285714285714181E-2"/>
                </c:manualLayout>
              </c:layout>
              <c:tx>
                <c:rich>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r>
                      <a:rPr lang="en-US"/>
                      <a:t>6: Improving the provision of the Health Service, 2.8%
</a:t>
                    </a:r>
                    <a:endParaRPr lang="en-US" baseline="0"/>
                  </a:p>
                </c:rich>
              </c:tx>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F231-4CE8-A179-C3BE7835BECE}"/>
                </c:ext>
              </c:extLst>
            </c:dLbl>
            <c:dLbl>
              <c:idx val="6"/>
              <c:layout>
                <c:manualLayout>
                  <c:x val="-2.0257826887661159E-2"/>
                  <c:y val="-3.4285714285714392E-2"/>
                </c:manualLayout>
              </c:layout>
              <c:tx>
                <c:rich>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r>
                      <a:rPr lang="en-US"/>
                      <a:t>7: Improving access to water and sanitation, 6.6%
</a:t>
                    </a:r>
                    <a:endParaRPr lang="en-US" baseline="0"/>
                  </a:p>
                </c:rich>
              </c:tx>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F231-4CE8-A179-C3BE7835BECE}"/>
                </c:ext>
              </c:extLst>
            </c:dLbl>
            <c:dLbl>
              <c:idx val="7"/>
              <c:layout>
                <c:manualLayout>
                  <c:x val="-5.5248618784530384E-3"/>
                  <c:y val="2.5714285714285766E-2"/>
                </c:manualLayout>
              </c:layout>
              <c:tx>
                <c:rich>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r>
                      <a:rPr lang="en-US"/>
                      <a:t>8: Support for Recovery and Resilience, 21.1%
</a:t>
                    </a:r>
                    <a:endParaRPr lang="en-US" baseline="0"/>
                  </a:p>
                </c:rich>
              </c:tx>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F231-4CE8-A179-C3BE7835BECE}"/>
                </c:ext>
              </c:extLst>
            </c:dLbl>
            <c:dLbl>
              <c:idx val="8"/>
              <c:layout>
                <c:manualLayout>
                  <c:x val="-0.15086687138108701"/>
                  <c:y val="6.0153447834029011E-2"/>
                </c:manualLayout>
              </c:layout>
              <c:tx>
                <c:rich>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r>
                      <a:rPr lang="en-US" dirty="0"/>
                      <a:t>9: Promoting Inclusive Urbanization and Decentralization7.5%
</a:t>
                    </a:r>
                    <a:endParaRPr lang="en-US" baseline="0" dirty="0"/>
                  </a:p>
                </c:rich>
              </c:tx>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1-F231-4CE8-A179-C3BE7835BECE}"/>
                </c:ext>
              </c:extLst>
            </c:dLbl>
            <c:spPr>
              <a:noFill/>
              <a:ln>
                <a:noFill/>
              </a:ln>
              <a:effectLst/>
            </c:spPr>
            <c:dLblPos val="outEnd"/>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'Portfolio by CPF objective'!$B$68:$B$76</c:f>
              <c:strCache>
                <c:ptCount val="9"/>
                <c:pt idx="0">
                  <c:v>1: Improved Economic Management</c:v>
                </c:pt>
                <c:pt idx="1">
                  <c:v>2: Increasing Agricultural Growth</c:v>
                </c:pt>
                <c:pt idx="2">
                  <c:v>3: Improving the Business Environment for Job Creation</c:v>
                </c:pt>
                <c:pt idx="3">
                  <c:v>4: Expand Access and Improved Reliability of Electricity</c:v>
                </c:pt>
                <c:pt idx="4">
                  <c:v>5: Enhancing the Skills Base</c:v>
                </c:pt>
                <c:pt idx="5">
                  <c:v>6: Improving Health Service Delivery</c:v>
                </c:pt>
                <c:pt idx="6">
                  <c:v>7: Improving Access to Water and Sanitation</c:v>
                </c:pt>
                <c:pt idx="7">
                  <c:v>8: Supporting Recovery and Resilience</c:v>
                </c:pt>
                <c:pt idx="8">
                  <c:v>9: Promoting Inclusive Urbanization and Decentralization </c:v>
                </c:pt>
              </c:strCache>
            </c:strRef>
          </c:cat>
          <c:val>
            <c:numRef>
              <c:f>'Portfolio by CPF objective'!$E$68:$E$76</c:f>
              <c:numCache>
                <c:formatCode>0.0%</c:formatCode>
                <c:ptCount val="9"/>
                <c:pt idx="0">
                  <c:v>6.5664420252289621E-2</c:v>
                </c:pt>
                <c:pt idx="1">
                  <c:v>0.30240193537238641</c:v>
                </c:pt>
                <c:pt idx="2">
                  <c:v>3.4560221185415588E-2</c:v>
                </c:pt>
                <c:pt idx="3">
                  <c:v>8.0179713150164159E-2</c:v>
                </c:pt>
                <c:pt idx="4">
                  <c:v>0.13754968031795403</c:v>
                </c:pt>
                <c:pt idx="5">
                  <c:v>2.7648176948332468E-2</c:v>
                </c:pt>
                <c:pt idx="6">
                  <c:v>6.5664420252289621E-2</c:v>
                </c:pt>
                <c:pt idx="7">
                  <c:v>0.21133575254881631</c:v>
                </c:pt>
                <c:pt idx="8">
                  <c:v>7.499567997235182E-2</c:v>
                </c:pt>
              </c:numCache>
            </c:numRef>
          </c:val>
          <c:extLst>
            <c:ext xmlns:c16="http://schemas.microsoft.com/office/drawing/2014/chart" uri="{C3380CC4-5D6E-409C-BE32-E72D297353CC}">
              <c16:uniqueId val="{00000012-F231-4CE8-A179-C3BE7835BECE}"/>
            </c:ext>
          </c:extLst>
        </c:ser>
        <c:dLbls>
          <c:dLblPos val="outEnd"/>
          <c:showLegendKey val="0"/>
          <c:showVal val="0"/>
          <c:showCatName val="1"/>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smtClean="0">
                <a:solidFill>
                  <a:schemeClr val="tx1">
                    <a:lumMod val="65000"/>
                    <a:lumOff val="35000"/>
                  </a:schemeClr>
                </a:solidFill>
                <a:latin typeface="+mn-lt"/>
                <a:ea typeface="+mn-ea"/>
                <a:cs typeface="+mn-cs"/>
              </a:defRPr>
            </a:pPr>
            <a:r>
              <a:rPr lang="en-US" dirty="0">
                <a:solidFill>
                  <a:schemeClr val="tx1"/>
                </a:solidFill>
              </a:rPr>
              <a:t>% of total undisbursed funds</a:t>
            </a:r>
            <a:r>
              <a:rPr lang="en-US" dirty="0"/>
              <a:t>*
</a:t>
            </a:r>
          </a:p>
        </c:rich>
      </c:tx>
      <c:overlay val="0"/>
      <c:spPr>
        <a:noFill/>
        <a:ln>
          <a:noFill/>
        </a:ln>
        <a:effectLst/>
      </c:spPr>
      <c:txPr>
        <a:bodyPr rot="0" spcFirstLastPara="1" vertOverflow="ellipsis" vert="horz" wrap="square" anchor="ctr" anchorCtr="1"/>
        <a:lstStyle/>
        <a:p>
          <a:pPr>
            <a:defRPr lang="en-US" sz="1400" b="0" i="0" u="none" strike="noStrike" kern="1200" spc="0" baseline="0" smtClean="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Sheet1!$E$61</c:f>
              <c:strCache>
                <c:ptCount val="1"/>
                <c:pt idx="0">
                  <c:v>% of total undisbursed</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385-4D10-B6BF-629B6787E96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385-4D10-B6BF-629B6787E96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385-4D10-B6BF-629B6787E96B}"/>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385-4D10-B6BF-629B6787E96B}"/>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Sheet1!$D$62:$D$65</c:f>
              <c:strCache>
                <c:ptCount val="4"/>
                <c:pt idx="0">
                  <c:v>EFI</c:v>
                </c:pt>
                <c:pt idx="1">
                  <c:v>SD</c:v>
                </c:pt>
                <c:pt idx="2">
                  <c:v>HD</c:v>
                </c:pt>
                <c:pt idx="3">
                  <c:v>INFRA</c:v>
                </c:pt>
              </c:strCache>
            </c:strRef>
          </c:cat>
          <c:val>
            <c:numRef>
              <c:f>Sheet1!$E$62:$E$65</c:f>
              <c:numCache>
                <c:formatCode>0%</c:formatCode>
                <c:ptCount val="4"/>
                <c:pt idx="0">
                  <c:v>0.16586350447836506</c:v>
                </c:pt>
                <c:pt idx="1">
                  <c:v>0.36288633783272367</c:v>
                </c:pt>
                <c:pt idx="2">
                  <c:v>0.17613220638324714</c:v>
                </c:pt>
                <c:pt idx="3">
                  <c:v>0.29511795130566415</c:v>
                </c:pt>
              </c:numCache>
            </c:numRef>
          </c:val>
          <c:extLst>
            <c:ext xmlns:c16="http://schemas.microsoft.com/office/drawing/2014/chart" uri="{C3380CC4-5D6E-409C-BE32-E72D297353CC}">
              <c16:uniqueId val="{00000008-C385-4D10-B6BF-629B6787E96B}"/>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30">
  <cs:axisTitle>
    <cs:lnRef idx="0"/>
    <cs:fillRef idx="0"/>
    <cs:effectRef idx="0"/>
    <cs:fontRef idx="minor">
      <a:schemeClr val="dk1">
        <a:lumMod val="65000"/>
        <a:lumOff val="35000"/>
      </a:schemeClr>
    </cs:fontRef>
    <cs:defRPr sz="900" kern="1200" cap="all"/>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b="0" kern="1200" spc="20" baseline="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65000"/>
        <a:lumOff val="3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0"/>
    <cs:effectRef idx="0"/>
    <cs:fontRef idx="minor">
      <a:schemeClr val="dk1"/>
    </cs:fontRef>
    <cs:spPr>
      <a:ln w="22225" cap="rnd" cmpd="sng" algn="ctr">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cap="flat" cmpd="sng" algn="ctr">
        <a:solidFill>
          <a:schemeClr val="phClr"/>
        </a:solidFill>
        <a:round/>
      </a:ln>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dk1">
            <a:lumMod val="65000"/>
            <a:lumOff val="35000"/>
          </a:schemeClr>
        </a:solidFill>
      </a:ln>
    </cs:spPr>
  </cs:downBar>
  <cs:dropLine>
    <cs:lnRef idx="0"/>
    <cs:fillRef idx="0"/>
    <cs:effectRef idx="0"/>
    <cs:fontRef idx="minor">
      <a:schemeClr val="dk1"/>
    </cs:fontRef>
    <cs:spPr>
      <a:ln w="9525" cap="flat" cmpd="sng" algn="ctr">
        <a:solidFill>
          <a:schemeClr val="dk1">
            <a:lumMod val="35000"/>
            <a:lumOff val="65000"/>
            <a:alpha val="33000"/>
          </a:schemeClr>
        </a:solidFill>
        <a:round/>
      </a:ln>
    </cs:spPr>
  </cs:dropLine>
  <cs:errorBar>
    <cs:lnRef idx="0"/>
    <cs:fillRef idx="0"/>
    <cs:effectRef idx="0"/>
    <cs:fontRef idx="minor">
      <a:schemeClr val="dk1"/>
    </cs:fontRef>
    <cs:spPr>
      <a:ln w="9525">
        <a:solidFill>
          <a:schemeClr val="dk1">
            <a:lumMod val="65000"/>
            <a:lumOff val="35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spPr>
      <a:gradFill>
        <a:gsLst>
          <a:gs pos="100000">
            <a:schemeClr val="lt1">
              <a:lumMod val="95000"/>
            </a:schemeClr>
          </a:gs>
          <a:gs pos="0">
            <a:schemeClr val="lt1"/>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35000"/>
            <a:lumOff val="65000"/>
          </a:schemeClr>
        </a:solidFill>
        <a:prstDash val="dash"/>
      </a:ln>
    </cs:spPr>
  </cs:seriesLine>
  <cs:title>
    <cs:lnRef idx="0"/>
    <cs:fillRef idx="0"/>
    <cs:effectRef idx="0"/>
    <cs:fontRef idx="minor">
      <a:schemeClr val="dk1">
        <a:lumMod val="50000"/>
        <a:lumOff val="50000"/>
      </a:schemeClr>
    </cs:fontRef>
    <cs:defRPr sz="1400"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65000"/>
        <a:lumOff val="35000"/>
      </a:schemeClr>
    </cs:fontRef>
    <cs:defRPr sz="900" kern="1200" spc="20" baseline="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31">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10.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0.13219</cdr:x>
      <cdr:y>0.19764</cdr:y>
    </cdr:from>
    <cdr:to>
      <cdr:x>0.93841</cdr:x>
      <cdr:y>0.80236</cdr:y>
    </cdr:to>
    <cdr:cxnSp macro="">
      <cdr:nvCxnSpPr>
        <cdr:cNvPr id="2" name="Straight Connector 1">
          <a:extLst xmlns:a="http://schemas.openxmlformats.org/drawingml/2006/main">
            <a:ext uri="{FF2B5EF4-FFF2-40B4-BE49-F238E27FC236}">
              <a16:creationId xmlns:a16="http://schemas.microsoft.com/office/drawing/2014/main" id="{8F7742B3-C0C8-46D0-B264-E366980DD992}"/>
            </a:ext>
          </a:extLst>
        </cdr:cNvPr>
        <cdr:cNvCxnSpPr>
          <a:cxnSpLocks xmlns:a="http://schemas.openxmlformats.org/drawingml/2006/main"/>
        </cdr:cNvCxnSpPr>
      </cdr:nvCxnSpPr>
      <cdr:spPr>
        <a:xfrm xmlns:a="http://schemas.openxmlformats.org/drawingml/2006/main" flipV="1">
          <a:off x="1349376" y="1276350"/>
          <a:ext cx="8229600" cy="3905250"/>
        </a:xfrm>
        <a:prstGeom xmlns:a="http://schemas.openxmlformats.org/drawingml/2006/main" prst="line">
          <a:avLst/>
        </a:prstGeom>
        <a:ln xmlns:a="http://schemas.openxmlformats.org/drawingml/2006/main">
          <a:prstDash val="sysDot"/>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2.xml><?xml version="1.0" encoding="utf-8"?>
<c:userShapes xmlns:c="http://schemas.openxmlformats.org/drawingml/2006/chart">
  <cdr:relSizeAnchor xmlns:cdr="http://schemas.openxmlformats.org/drawingml/2006/chartDrawing">
    <cdr:from>
      <cdr:x>0.2203</cdr:x>
      <cdr:y>0.12788</cdr:y>
    </cdr:from>
    <cdr:to>
      <cdr:x>1</cdr:x>
      <cdr:y>0.25321</cdr:y>
    </cdr:to>
    <cdr:sp macro="" textlink="">
      <cdr:nvSpPr>
        <cdr:cNvPr id="2" name="TextBox 14">
          <a:extLst xmlns:a="http://schemas.openxmlformats.org/drawingml/2006/main">
            <a:ext uri="{FF2B5EF4-FFF2-40B4-BE49-F238E27FC236}">
              <a16:creationId xmlns:a16="http://schemas.microsoft.com/office/drawing/2014/main" id="{7440E17E-E14A-4B80-B9C9-4A77A8EEC8BA}"/>
            </a:ext>
          </a:extLst>
        </cdr:cNvPr>
        <cdr:cNvSpPr txBox="1"/>
      </cdr:nvSpPr>
      <cdr:spPr>
        <a:xfrm xmlns:a="http://schemas.openxmlformats.org/drawingml/2006/main">
          <a:off x="568999" y="234213"/>
          <a:ext cx="2013838" cy="229558"/>
        </a:xfrm>
        <a:prstGeom xmlns:a="http://schemas.openxmlformats.org/drawingml/2006/main" prst="rect">
          <a:avLst/>
        </a:prstGeom>
        <a:noFill xmlns:a="http://schemas.openxmlformats.org/drawingml/2006/main"/>
      </cdr:spPr>
      <cdr:txBody>
        <a:bodyPr xmlns:a="http://schemas.openxmlformats.org/drawingml/2006/main" wrap="square">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ctr" rtl="0">
            <a:defRPr sz="1080" b="1" i="0" u="none" strike="noStrike" kern="1200" spc="0" baseline="0">
              <a:solidFill>
                <a:prstClr val="black"/>
              </a:solidFill>
              <a:latin typeface="+mn-lt"/>
              <a:ea typeface="+mn-ea"/>
              <a:cs typeface="+mn-cs"/>
            </a:defRPr>
          </a:pPr>
          <a:r>
            <a:rPr lang="en-US" b="1" dirty="0"/>
            <a:t>Vietnam</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3AA1D7-AF98-455A-9A7A-8CFEE420734F}"/>
              </a:ext>
            </a:extLst>
          </p:cNvPr>
          <p:cNvSpPr>
            <a:spLocks noGrp="1"/>
          </p:cNvSpPr>
          <p:nvPr>
            <p:ph type="hdr" sz="quarter"/>
          </p:nvPr>
        </p:nvSpPr>
        <p:spPr>
          <a:xfrm>
            <a:off x="3" y="0"/>
            <a:ext cx="2946247" cy="498329"/>
          </a:xfrm>
          <a:prstGeom prst="rect">
            <a:avLst/>
          </a:prstGeom>
        </p:spPr>
        <p:txBody>
          <a:bodyPr vert="horz" lIns="91426" tIns="45713" rIns="91426" bIns="45713" rtlCol="0"/>
          <a:lstStyle>
            <a:lvl1pPr algn="l">
              <a:defRPr sz="1200"/>
            </a:lvl1pPr>
          </a:lstStyle>
          <a:p>
            <a:endParaRPr lang="en-US" dirty="0"/>
          </a:p>
        </p:txBody>
      </p:sp>
      <p:sp>
        <p:nvSpPr>
          <p:cNvPr id="3" name="Date Placeholder 2">
            <a:extLst>
              <a:ext uri="{FF2B5EF4-FFF2-40B4-BE49-F238E27FC236}">
                <a16:creationId xmlns:a16="http://schemas.microsoft.com/office/drawing/2014/main" id="{7D7A5696-9A19-4628-ACCA-A3DCFF8AD72B}"/>
              </a:ext>
            </a:extLst>
          </p:cNvPr>
          <p:cNvSpPr>
            <a:spLocks noGrp="1"/>
          </p:cNvSpPr>
          <p:nvPr>
            <p:ph type="dt" sz="quarter" idx="1"/>
          </p:nvPr>
        </p:nvSpPr>
        <p:spPr>
          <a:xfrm>
            <a:off x="3849828" y="0"/>
            <a:ext cx="2946246" cy="498329"/>
          </a:xfrm>
          <a:prstGeom prst="rect">
            <a:avLst/>
          </a:prstGeom>
        </p:spPr>
        <p:txBody>
          <a:bodyPr vert="horz" lIns="91426" tIns="45713" rIns="91426" bIns="45713" rtlCol="0"/>
          <a:lstStyle>
            <a:lvl1pPr algn="r">
              <a:defRPr sz="1200"/>
            </a:lvl1pPr>
          </a:lstStyle>
          <a:p>
            <a:fld id="{DC49F002-5576-4460-9897-0CD73B752ACD}" type="datetimeFigureOut">
              <a:rPr lang="en-US" smtClean="0"/>
              <a:t>6/7/2022</a:t>
            </a:fld>
            <a:endParaRPr lang="en-US" dirty="0"/>
          </a:p>
        </p:txBody>
      </p:sp>
      <p:sp>
        <p:nvSpPr>
          <p:cNvPr id="4" name="Footer Placeholder 3">
            <a:extLst>
              <a:ext uri="{FF2B5EF4-FFF2-40B4-BE49-F238E27FC236}">
                <a16:creationId xmlns:a16="http://schemas.microsoft.com/office/drawing/2014/main" id="{36BD86EA-268B-482F-9959-54B027B8231D}"/>
              </a:ext>
            </a:extLst>
          </p:cNvPr>
          <p:cNvSpPr>
            <a:spLocks noGrp="1"/>
          </p:cNvSpPr>
          <p:nvPr>
            <p:ph type="ftr" sz="quarter" idx="2"/>
          </p:nvPr>
        </p:nvSpPr>
        <p:spPr>
          <a:xfrm>
            <a:off x="3" y="9428309"/>
            <a:ext cx="2946247" cy="498329"/>
          </a:xfrm>
          <a:prstGeom prst="rect">
            <a:avLst/>
          </a:prstGeom>
        </p:spPr>
        <p:txBody>
          <a:bodyPr vert="horz" lIns="91426" tIns="45713" rIns="91426" bIns="45713"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8A1EB5-E0E2-42AC-B9BD-422D4B599A14}"/>
              </a:ext>
            </a:extLst>
          </p:cNvPr>
          <p:cNvSpPr>
            <a:spLocks noGrp="1"/>
          </p:cNvSpPr>
          <p:nvPr>
            <p:ph type="sldNum" sz="quarter" idx="3"/>
          </p:nvPr>
        </p:nvSpPr>
        <p:spPr>
          <a:xfrm>
            <a:off x="3849828" y="9428309"/>
            <a:ext cx="2946246" cy="498329"/>
          </a:xfrm>
          <a:prstGeom prst="rect">
            <a:avLst/>
          </a:prstGeom>
        </p:spPr>
        <p:txBody>
          <a:bodyPr vert="horz" lIns="91426" tIns="45713" rIns="91426" bIns="45713" rtlCol="0" anchor="b"/>
          <a:lstStyle>
            <a:lvl1pPr algn="r">
              <a:defRPr sz="1200"/>
            </a:lvl1pPr>
          </a:lstStyle>
          <a:p>
            <a:fld id="{084BD0F0-B3B8-4DBD-B975-A67D569A062B}" type="slidenum">
              <a:rPr lang="en-US" smtClean="0"/>
              <a:t>‹#›</a:t>
            </a:fld>
            <a:endParaRPr lang="en-US" dirty="0"/>
          </a:p>
        </p:txBody>
      </p:sp>
    </p:spTree>
    <p:extLst>
      <p:ext uri="{BB962C8B-B14F-4D97-AF65-F5344CB8AC3E}">
        <p14:creationId xmlns:p14="http://schemas.microsoft.com/office/powerpoint/2010/main" val="13730640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5"/>
            <a:ext cx="2945659" cy="498053"/>
          </a:xfrm>
          <a:prstGeom prst="rect">
            <a:avLst/>
          </a:prstGeom>
        </p:spPr>
        <p:txBody>
          <a:bodyPr vert="horz" lIns="91426" tIns="45713" rIns="91426" bIns="45713" rtlCol="0"/>
          <a:lstStyle>
            <a:lvl1pPr algn="l">
              <a:defRPr sz="1200"/>
            </a:lvl1pPr>
          </a:lstStyle>
          <a:p>
            <a:endParaRPr lang="en-US" dirty="0"/>
          </a:p>
        </p:txBody>
      </p:sp>
      <p:sp>
        <p:nvSpPr>
          <p:cNvPr id="3" name="Date Placeholder 2"/>
          <p:cNvSpPr>
            <a:spLocks noGrp="1"/>
          </p:cNvSpPr>
          <p:nvPr>
            <p:ph type="dt" idx="1"/>
          </p:nvPr>
        </p:nvSpPr>
        <p:spPr>
          <a:xfrm>
            <a:off x="3850445" y="5"/>
            <a:ext cx="2945659" cy="498053"/>
          </a:xfrm>
          <a:prstGeom prst="rect">
            <a:avLst/>
          </a:prstGeom>
        </p:spPr>
        <p:txBody>
          <a:bodyPr vert="horz" lIns="91426" tIns="45713" rIns="91426" bIns="45713" rtlCol="0"/>
          <a:lstStyle>
            <a:lvl1pPr algn="r">
              <a:defRPr sz="1200"/>
            </a:lvl1pPr>
          </a:lstStyle>
          <a:p>
            <a:fld id="{055B727A-A6C2-43F7-B160-2402E4C3B09C}" type="datetimeFigureOut">
              <a:rPr lang="en-US" smtClean="0"/>
              <a:t>6/7/2022</a:t>
            </a:fld>
            <a:endParaRPr lang="en-US" dirty="0"/>
          </a:p>
        </p:txBody>
      </p:sp>
      <p:sp>
        <p:nvSpPr>
          <p:cNvPr id="4" name="Slide Image Placeholder 3"/>
          <p:cNvSpPr>
            <a:spLocks noGrp="1" noRot="1" noChangeAspect="1"/>
          </p:cNvSpPr>
          <p:nvPr>
            <p:ph type="sldImg" idx="2"/>
          </p:nvPr>
        </p:nvSpPr>
        <p:spPr>
          <a:xfrm>
            <a:off x="422275" y="1239838"/>
            <a:ext cx="5953125" cy="3349625"/>
          </a:xfrm>
          <a:prstGeom prst="rect">
            <a:avLst/>
          </a:prstGeom>
          <a:noFill/>
          <a:ln w="12700">
            <a:solidFill>
              <a:prstClr val="black"/>
            </a:solidFill>
          </a:ln>
        </p:spPr>
      </p:sp>
      <p:sp>
        <p:nvSpPr>
          <p:cNvPr id="5" name="Notes Placeholder 4"/>
          <p:cNvSpPr>
            <a:spLocks noGrp="1"/>
          </p:cNvSpPr>
          <p:nvPr>
            <p:ph type="body" sz="quarter" idx="3"/>
          </p:nvPr>
        </p:nvSpPr>
        <p:spPr>
          <a:xfrm>
            <a:off x="679768" y="4777202"/>
            <a:ext cx="5438140" cy="3908614"/>
          </a:xfrm>
          <a:prstGeom prst="rect">
            <a:avLst/>
          </a:prstGeom>
        </p:spPr>
        <p:txBody>
          <a:bodyPr vert="horz" lIns="91426" tIns="45713" rIns="91426" bIns="4571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4" y="9428589"/>
            <a:ext cx="2945659" cy="498053"/>
          </a:xfrm>
          <a:prstGeom prst="rect">
            <a:avLst/>
          </a:prstGeom>
        </p:spPr>
        <p:txBody>
          <a:bodyPr vert="horz" lIns="91426" tIns="45713" rIns="91426" bIns="45713"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50445" y="9428589"/>
            <a:ext cx="2945659" cy="498053"/>
          </a:xfrm>
          <a:prstGeom prst="rect">
            <a:avLst/>
          </a:prstGeom>
        </p:spPr>
        <p:txBody>
          <a:bodyPr vert="horz" lIns="91426" tIns="45713" rIns="91426" bIns="45713" rtlCol="0" anchor="b"/>
          <a:lstStyle>
            <a:lvl1pPr algn="r">
              <a:defRPr sz="1200"/>
            </a:lvl1pPr>
          </a:lstStyle>
          <a:p>
            <a:fld id="{959ACFB9-F186-49C5-BAAE-4F331520327C}" type="slidenum">
              <a:rPr lang="en-US" smtClean="0"/>
              <a:t>‹#›</a:t>
            </a:fld>
            <a:endParaRPr lang="en-US" dirty="0"/>
          </a:p>
        </p:txBody>
      </p:sp>
    </p:spTree>
    <p:extLst>
      <p:ext uri="{BB962C8B-B14F-4D97-AF65-F5344CB8AC3E}">
        <p14:creationId xmlns:p14="http://schemas.microsoft.com/office/powerpoint/2010/main" val="3140668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9ACFB9-F186-49C5-BAAE-4F331520327C}" type="slidenum">
              <a:rPr lang="en-US" smtClean="0"/>
              <a:t>6</a:t>
            </a:fld>
            <a:endParaRPr lang="en-US" dirty="0"/>
          </a:p>
        </p:txBody>
      </p:sp>
    </p:spTree>
    <p:extLst>
      <p:ext uri="{BB962C8B-B14F-4D97-AF65-F5344CB8AC3E}">
        <p14:creationId xmlns:p14="http://schemas.microsoft.com/office/powerpoint/2010/main" val="30885995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4259">
              <a:defRPr/>
            </a:pPr>
            <a:r>
              <a:rPr lang="pt" dirty="0">
                <a:highlight>
                  <a:srgbClr val="000000">
                    <a:alpha val="0"/>
                  </a:srgbClr>
                </a:highlight>
                <a:latin typeface="Calibri"/>
              </a:rPr>
              <a:t>Desde o terceiro trimestre de 2021, o governo moçambicano tem vindo a rever a Estratégia Nacional de Desenvolvimento (ENDE) para 2015-2030.</a:t>
            </a:r>
          </a:p>
          <a:p>
            <a:pPr defTabSz="914259">
              <a:defRPr/>
            </a:pPr>
            <a:endParaRPr lang="en-US" dirty="0">
              <a:latin typeface="Calibri" pitchFamily="34" charset="0"/>
            </a:endParaRPr>
          </a:p>
          <a:p>
            <a:pPr algn="just" defTabSz="914259">
              <a:lnSpc>
                <a:spcPct val="90000"/>
              </a:lnSpc>
              <a:defRPr/>
            </a:pPr>
            <a:r>
              <a:rPr lang="pt" b="1" dirty="0">
                <a:solidFill>
                  <a:srgbClr val="000000"/>
                </a:solidFill>
                <a:highlight>
                  <a:srgbClr val="000000">
                    <a:alpha val="0"/>
                  </a:srgbClr>
                </a:highlight>
                <a:latin typeface="Calibri"/>
                <a:ea typeface="Times New Roman"/>
              </a:rPr>
              <a:t>O actual plano de desenvolvimento quinquenal é moldado em torno de três prioridades principais, três pilares e temas transversais. </a:t>
            </a:r>
          </a:p>
          <a:p>
            <a:pPr algn="just">
              <a:spcBef>
                <a:spcPts val="600"/>
              </a:spcBef>
              <a:defRPr/>
            </a:pPr>
            <a:r>
              <a:rPr lang="pt" dirty="0">
                <a:solidFill>
                  <a:srgbClr val="000000"/>
                </a:solidFill>
                <a:highlight>
                  <a:srgbClr val="000000">
                    <a:alpha val="0"/>
                  </a:srgbClr>
                </a:highlight>
                <a:latin typeface="Calibri"/>
                <a:ea typeface="Times New Roman"/>
              </a:rPr>
              <a:t>O PQG 2020 - 2024 é orientado por três prioridades: (i) crescimento económico, produtividade, e criação de emprego; (ii) desenvolvimento do capital humano e justiça social; e (iii) gestão sustentável dos recursos naturais e ambientais. </a:t>
            </a:r>
          </a:p>
          <a:p>
            <a:pPr algn="just">
              <a:spcBef>
                <a:spcPts val="600"/>
              </a:spcBef>
              <a:defRPr/>
            </a:pPr>
            <a:r>
              <a:rPr lang="pt" dirty="0">
                <a:solidFill>
                  <a:srgbClr val="000000"/>
                </a:solidFill>
                <a:highlight>
                  <a:srgbClr val="000000">
                    <a:alpha val="0"/>
                  </a:srgbClr>
                </a:highlight>
                <a:latin typeface="Calibri"/>
                <a:ea typeface="Times New Roman"/>
              </a:rPr>
              <a:t>Além disso, o programa é sustentado por três pilares: (i) democracia e coesão social, (ii) boa governação e descentralização; e (iii) cooperação internacional. </a:t>
            </a:r>
          </a:p>
          <a:p>
            <a:pPr algn="just">
              <a:spcBef>
                <a:spcPts val="600"/>
              </a:spcBef>
              <a:defRPr/>
            </a:pPr>
            <a:r>
              <a:rPr lang="pt" dirty="0">
                <a:solidFill>
                  <a:srgbClr val="000000"/>
                </a:solidFill>
                <a:highlight>
                  <a:srgbClr val="000000">
                    <a:alpha val="0"/>
                  </a:srgbClr>
                </a:highlight>
                <a:latin typeface="Calibri"/>
                <a:ea typeface="Times New Roman"/>
              </a:rPr>
              <a:t>Por último, o PQG 2020-2024 presta especial atenção aos temas transversais: (a) jovens, mulheres e antigos combatentes; b) habitação e emprego; e c) agricultura, industrialização, e turismo como centrais para a modernização da economia. </a:t>
            </a:r>
          </a:p>
          <a:p>
            <a:pPr algn="just">
              <a:spcBef>
                <a:spcPts val="600"/>
              </a:spcBef>
              <a:defRPr/>
            </a:pPr>
            <a:r>
              <a:rPr lang="pt" dirty="0">
                <a:solidFill>
                  <a:srgbClr val="000000"/>
                </a:solidFill>
                <a:highlight>
                  <a:srgbClr val="000000">
                    <a:alpha val="0"/>
                  </a:srgbClr>
                </a:highlight>
                <a:latin typeface="Calibri"/>
                <a:ea typeface="Times New Roman"/>
              </a:rPr>
              <a:t>O Programa também articula, os objectivos de alcançar o acesso universal até 2030 e o posicionamento de Moçambique como um centro regional de electricidade. </a:t>
            </a:r>
          </a:p>
          <a:p>
            <a:pPr algn="just">
              <a:spcBef>
                <a:spcPts val="600"/>
              </a:spcBef>
              <a:defRPr/>
            </a:pPr>
            <a:endParaRPr lang="en-US" dirty="0">
              <a:solidFill>
                <a:prstClr val="black"/>
              </a:solidFill>
              <a:latin typeface="Calibri" pitchFamily="34" charset="0"/>
              <a:ea typeface="Times New Roman" panose="02020603050405020304" pitchFamily="18" charset="0"/>
            </a:endParaRPr>
          </a:p>
          <a:p>
            <a:pPr algn="just" rtl="0">
              <a:lnSpc>
                <a:spcPct val="90000"/>
              </a:lnSpc>
              <a:defRPr/>
            </a:pPr>
            <a:r>
              <a:rPr lang="pt" b="1" dirty="0">
                <a:highlight>
                  <a:srgbClr val="000000">
                    <a:alpha val="0"/>
                  </a:srgbClr>
                </a:highlight>
                <a:latin typeface="Calibri"/>
                <a:cs typeface="Calibri"/>
              </a:rPr>
              <a:t>O Governo desenvolveu uma Estratégia de Prevenção de Conflitos e Violência, como parte do processo de assegurar a elegibilidade para a Alocação de Prevenção e Resiliência (PRA, Prevention and Resilience Allocation) ao abrigo do IDA19.</a:t>
            </a:r>
            <a:endParaRPr lang="en-US" dirty="0">
              <a:latin typeface="Calibri"/>
              <a:cs typeface="Calibri"/>
            </a:endParaRPr>
          </a:p>
          <a:p>
            <a:pPr algn="just">
              <a:lnSpc>
                <a:spcPct val="90000"/>
              </a:lnSpc>
              <a:defRPr/>
            </a:pPr>
            <a:endParaRPr lang="en-US" dirty="0">
              <a:solidFill>
                <a:prstClr val="black"/>
              </a:solidFill>
              <a:latin typeface="Calibri" pitchFamily="34" charset="0"/>
            </a:endParaRPr>
          </a:p>
          <a:p>
            <a:pPr marL="285706" indent="-285706" algn="just">
              <a:lnSpc>
                <a:spcPct val="90000"/>
              </a:lnSpc>
              <a:buFont typeface="Arial" panose="020B0604020202020204" pitchFamily="34" charset="0"/>
              <a:buChar char="•"/>
              <a:defRPr/>
            </a:pPr>
            <a:r>
              <a:rPr lang="pt" dirty="0">
                <a:highlight>
                  <a:srgbClr val="000000">
                    <a:alpha val="0"/>
                  </a:srgbClr>
                </a:highlight>
                <a:latin typeface="Calibri"/>
                <a:cs typeface="Calibri"/>
              </a:rPr>
              <a:t>O objectivo desta Estratégia era delinear uma abordagem para o desenvolvimento da coesão nacional, abordando ao mesmo tempo algumas das principais queixas que têm estado no centro dos surtos e da recorrência de conflitos desde a independência. </a:t>
            </a:r>
            <a:endParaRPr lang="en-US" dirty="0">
              <a:latin typeface="Calibri" pitchFamily="34" charset="0"/>
              <a:cs typeface="Calibri"/>
            </a:endParaRPr>
          </a:p>
          <a:p>
            <a:pPr marL="285706" indent="-285706" algn="just">
              <a:lnSpc>
                <a:spcPct val="90000"/>
              </a:lnSpc>
              <a:buFont typeface="Arial" panose="020B0604020202020204" pitchFamily="34" charset="0"/>
              <a:buChar char="•"/>
              <a:defRPr/>
            </a:pPr>
            <a:endParaRPr lang="en-US" dirty="0">
              <a:solidFill>
                <a:prstClr val="black"/>
              </a:solidFill>
              <a:latin typeface="Calibri" panose="020F0502020204030204" pitchFamily="34" charset="0"/>
            </a:endParaRPr>
          </a:p>
          <a:p>
            <a:pPr marL="285706" indent="-285706" algn="just">
              <a:lnSpc>
                <a:spcPct val="90000"/>
              </a:lnSpc>
              <a:buFont typeface="Arial" panose="020B0604020202020204" pitchFamily="34" charset="0"/>
              <a:buChar char="•"/>
              <a:defRPr/>
            </a:pPr>
            <a:r>
              <a:rPr lang="pt" dirty="0">
                <a:highlight>
                  <a:srgbClr val="000000">
                    <a:alpha val="0"/>
                  </a:srgbClr>
                </a:highlight>
                <a:latin typeface="Calibri"/>
                <a:cs typeface="Calibri"/>
              </a:rPr>
              <a:t>Associado a esta Estratégia, o Governo também articulou um quadro de monitoria para a prevenção e a resiliência, compreendendo uma série de marcos que decorrem entre o AF21 e o AF23 que procuram abordar os principais desafios da fragilidade em todo o país. </a:t>
            </a:r>
            <a:endParaRPr lang="en-US" dirty="0">
              <a:latin typeface="Calibri" panose="020F0502020204030204" pitchFamily="34" charset="0"/>
              <a:cs typeface="Calibri"/>
            </a:endParaRPr>
          </a:p>
          <a:p>
            <a:pPr marL="285706" indent="-285706" algn="just">
              <a:lnSpc>
                <a:spcPct val="90000"/>
              </a:lnSpc>
              <a:buFont typeface="Arial" panose="020B0604020202020204" pitchFamily="34" charset="0"/>
              <a:buChar char="•"/>
              <a:defRPr/>
            </a:pPr>
            <a:endParaRPr lang="en-US" dirty="0">
              <a:solidFill>
                <a:prstClr val="black"/>
              </a:solidFill>
              <a:latin typeface="Calibri" panose="020F0502020204030204" pitchFamily="34" charset="0"/>
            </a:endParaRPr>
          </a:p>
          <a:p>
            <a:pPr marL="285706" indent="-285706" algn="just">
              <a:lnSpc>
                <a:spcPct val="90000"/>
              </a:lnSpc>
              <a:buFont typeface="Arial" panose="020B0604020202020204" pitchFamily="34" charset="0"/>
              <a:buChar char="•"/>
              <a:defRPr/>
            </a:pPr>
            <a:r>
              <a:rPr lang="pt" dirty="0">
                <a:highlight>
                  <a:srgbClr val="000000">
                    <a:alpha val="0"/>
                  </a:srgbClr>
                </a:highlight>
                <a:latin typeface="Calibri"/>
                <a:cs typeface="Calibri"/>
              </a:rPr>
              <a:t>Moçambique tornou-se o terceiro país a assegurar a elegibilidade para a PRA em Março de 2021, o que permitiu ao Governo ter acesso a um reforço do financiamento para evitar o início, a recorrência e a escalada de conflitos violentos. </a:t>
            </a:r>
          </a:p>
          <a:p>
            <a:pPr algn="just">
              <a:lnSpc>
                <a:spcPct val="90000"/>
              </a:lnSpc>
              <a:defRPr/>
            </a:pPr>
            <a:endParaRPr lang="en-US" dirty="0">
              <a:latin typeface="Calibri" panose="020F0502020204030204"/>
              <a:cs typeface="Calibri"/>
            </a:endParaRPr>
          </a:p>
          <a:p>
            <a:pPr marL="285706" indent="-285706" algn="just">
              <a:lnSpc>
                <a:spcPct val="90000"/>
              </a:lnSpc>
              <a:buFont typeface="Arial" panose="020B0604020202020204" pitchFamily="34" charset="0"/>
              <a:buChar char="•"/>
              <a:defRPr/>
            </a:pPr>
            <a:r>
              <a:rPr lang="pt" dirty="0">
                <a:highlight>
                  <a:srgbClr val="000000">
                    <a:alpha val="0"/>
                  </a:srgbClr>
                </a:highlight>
                <a:latin typeface="Calibri"/>
                <a:cs typeface="Calibri"/>
              </a:rPr>
              <a:t>Como parte do diálogo em torno da PRA o Governo solicitou apoio para a formulação da sua Estratégia Integrada de Desenvolvimento e Resiliência para o Norte.</a:t>
            </a:r>
          </a:p>
          <a:p>
            <a:pPr algn="just">
              <a:spcBef>
                <a:spcPts val="600"/>
              </a:spcBef>
              <a:defRPr/>
            </a:pPr>
            <a:endParaRPr lang="en-US" dirty="0">
              <a:solidFill>
                <a:prstClr val="black"/>
              </a:solidFill>
              <a:latin typeface="Calibri" panose="020F0502020204030204" pitchFamily="34" charset="0"/>
              <a:ea typeface="Times New Roman" panose="02020603050405020304" pitchFamily="18" charset="0"/>
            </a:endParaRPr>
          </a:p>
          <a:p>
            <a:pPr defTabSz="914259">
              <a:defRPr/>
            </a:pPr>
            <a:endParaRPr lang="en-US" dirty="0">
              <a:latin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959ACFB9-F186-49C5-BAAE-4F331520327C}" type="slidenum">
              <a:rPr lang="en-US" smtClean="0"/>
              <a:t>15</a:t>
            </a:fld>
            <a:endParaRPr lang="en-US"/>
          </a:p>
        </p:txBody>
      </p:sp>
    </p:spTree>
    <p:extLst>
      <p:ext uri="{BB962C8B-B14F-4D97-AF65-F5344CB8AC3E}">
        <p14:creationId xmlns:p14="http://schemas.microsoft.com/office/powerpoint/2010/main" val="2571206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959ACFB9-F186-49C5-BAAE-4F331520327C}" type="slidenum">
              <a:rPr lang="en-US" smtClean="0"/>
              <a:t>23</a:t>
            </a:fld>
            <a:endParaRPr lang="en-US"/>
          </a:p>
        </p:txBody>
      </p:sp>
    </p:spTree>
    <p:extLst>
      <p:ext uri="{BB962C8B-B14F-4D97-AF65-F5344CB8AC3E}">
        <p14:creationId xmlns:p14="http://schemas.microsoft.com/office/powerpoint/2010/main" val="14115616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nSpc>
                <a:spcPct val="10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pt-BR" dirty="0"/>
          </a:p>
        </p:txBody>
      </p:sp>
      <p:sp>
        <p:nvSpPr>
          <p:cNvPr id="4" name="Slide Number Placeholder 3"/>
          <p:cNvSpPr>
            <a:spLocks noGrp="1"/>
          </p:cNvSpPr>
          <p:nvPr>
            <p:ph type="sldNum" sz="quarter" idx="5"/>
          </p:nvPr>
        </p:nvSpPr>
        <p:spPr/>
        <p:txBody>
          <a:bodyPr/>
          <a:lstStyle/>
          <a:p>
            <a:fld id="{959ACFB9-F186-49C5-BAAE-4F331520327C}" type="slidenum">
              <a:rPr lang="en-US" smtClean="0"/>
              <a:t>24</a:t>
            </a:fld>
            <a:endParaRPr lang="en-US"/>
          </a:p>
        </p:txBody>
      </p:sp>
    </p:spTree>
    <p:extLst>
      <p:ext uri="{BB962C8B-B14F-4D97-AF65-F5344CB8AC3E}">
        <p14:creationId xmlns:p14="http://schemas.microsoft.com/office/powerpoint/2010/main" val="1496593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959ACFB9-F186-49C5-BAAE-4F331520327C}" type="slidenum">
              <a:rPr lang="en-US" smtClean="0"/>
              <a:t>25</a:t>
            </a:fld>
            <a:endParaRPr lang="en-US"/>
          </a:p>
        </p:txBody>
      </p:sp>
    </p:spTree>
    <p:extLst>
      <p:ext uri="{BB962C8B-B14F-4D97-AF65-F5344CB8AC3E}">
        <p14:creationId xmlns:p14="http://schemas.microsoft.com/office/powerpoint/2010/main" val="1610400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A0981-943C-4992-B149-9C63154546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135F9E7-E9BF-4016-B324-B6A646CDAF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38B3994-86FB-4F29-9C45-09B27D9BF43F}"/>
              </a:ext>
            </a:extLst>
          </p:cNvPr>
          <p:cNvSpPr>
            <a:spLocks noGrp="1"/>
          </p:cNvSpPr>
          <p:nvPr>
            <p:ph type="dt" sz="half" idx="10"/>
          </p:nvPr>
        </p:nvSpPr>
        <p:spPr/>
        <p:txBody>
          <a:bodyPr/>
          <a:lstStyle/>
          <a:p>
            <a:r>
              <a:rPr lang="en-US"/>
              <a:t>3/1/2022</a:t>
            </a:r>
            <a:endParaRPr lang="en-US" dirty="0"/>
          </a:p>
        </p:txBody>
      </p:sp>
      <p:sp>
        <p:nvSpPr>
          <p:cNvPr id="5" name="Footer Placeholder 4">
            <a:extLst>
              <a:ext uri="{FF2B5EF4-FFF2-40B4-BE49-F238E27FC236}">
                <a16:creationId xmlns:a16="http://schemas.microsoft.com/office/drawing/2014/main" id="{35F1EF73-4840-48FC-9630-B433A9F908A2}"/>
              </a:ext>
            </a:extLst>
          </p:cNvPr>
          <p:cNvSpPr>
            <a:spLocks noGrp="1"/>
          </p:cNvSpPr>
          <p:nvPr>
            <p:ph type="ftr" sz="quarter" idx="11"/>
          </p:nvPr>
        </p:nvSpPr>
        <p:spPr/>
        <p:txBody>
          <a:bodyPr/>
          <a:lstStyle/>
          <a:p>
            <a:r>
              <a:rPr lang="en-US"/>
              <a:t>CPF 2023-2027. Public Version. Maputo, May 2022.</a:t>
            </a:r>
            <a:endParaRPr lang="en-US" dirty="0"/>
          </a:p>
        </p:txBody>
      </p:sp>
      <p:sp>
        <p:nvSpPr>
          <p:cNvPr id="6" name="Slide Number Placeholder 5">
            <a:extLst>
              <a:ext uri="{FF2B5EF4-FFF2-40B4-BE49-F238E27FC236}">
                <a16:creationId xmlns:a16="http://schemas.microsoft.com/office/drawing/2014/main" id="{D4EFB3C5-81C6-4829-BAC3-420F2F492BEA}"/>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267712704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E4F2B-05FF-445D-98BD-7B90CF93E0FC}"/>
              </a:ext>
            </a:extLst>
          </p:cNvPr>
          <p:cNvSpPr>
            <a:spLocks noGrp="1"/>
          </p:cNvSpPr>
          <p:nvPr>
            <p:ph type="title"/>
          </p:nvPr>
        </p:nvSpPr>
        <p:spPr/>
        <p:txBody>
          <a:bodyPr>
            <a:normAutofit/>
          </a:bodyPr>
          <a:lstStyle>
            <a:lvl1pPr>
              <a:defRPr lang="en-US" sz="2300" b="1" kern="1200">
                <a:solidFill>
                  <a:schemeClr val="accent1">
                    <a:lumMod val="75000"/>
                  </a:schemeClr>
                </a:solidFill>
                <a:latin typeface="Arial"/>
                <a:ea typeface="+mj-ea"/>
                <a:cs typeface="Arial"/>
              </a:defRPr>
            </a:lvl1pPr>
          </a:lstStyle>
          <a:p>
            <a:r>
              <a:rPr lang="en-US"/>
              <a:t>Click to edit Master title style</a:t>
            </a:r>
          </a:p>
        </p:txBody>
      </p:sp>
      <p:sp>
        <p:nvSpPr>
          <p:cNvPr id="3" name="Content Placeholder 2">
            <a:extLst>
              <a:ext uri="{FF2B5EF4-FFF2-40B4-BE49-F238E27FC236}">
                <a16:creationId xmlns:a16="http://schemas.microsoft.com/office/drawing/2014/main" id="{BB87B212-47F3-4A5B-A949-19A7F167572C}"/>
              </a:ext>
            </a:extLst>
          </p:cNvPr>
          <p:cNvSpPr>
            <a:spLocks noGrp="1"/>
          </p:cNvSpPr>
          <p:nvPr>
            <p:ph idx="1"/>
          </p:nvPr>
        </p:nvSpPr>
        <p:spPr/>
        <p:txBody>
          <a:bodyPr/>
          <a:lstStyle>
            <a:lvl1pPr>
              <a:defRPr lang="en-US" sz="1400" kern="1200">
                <a:solidFill>
                  <a:schemeClr val="tx1"/>
                </a:solidFill>
                <a:latin typeface="Arial" panose="020B0604020202020204" pitchFamily="34" charset="0"/>
                <a:ea typeface="+mn-ea"/>
                <a:cs typeface="Arial" panose="020B0604020202020204" pitchFamily="34" charset="0"/>
              </a:defRPr>
            </a:lvl1pPr>
            <a:lvl2pPr marL="228600" indent="-228600">
              <a:defRPr sz="1200">
                <a:latin typeface="Arial" panose="020B0604020202020204" pitchFamily="34" charset="0"/>
                <a:cs typeface="Arial" panose="020B0604020202020204" pitchFamily="34" charset="0"/>
              </a:defRPr>
            </a:lvl2pPr>
            <a:lvl3pPr marL="228600" indent="-228600">
              <a:defRPr sz="1100">
                <a:latin typeface="Arial" panose="020B0604020202020204" pitchFamily="34" charset="0"/>
                <a:cs typeface="Arial" panose="020B0604020202020204" pitchFamily="34" charset="0"/>
              </a:defRPr>
            </a:lvl3pPr>
          </a:lstStyle>
          <a:p>
            <a:pPr lvl="0"/>
            <a:r>
              <a:rPr lang="en-US"/>
              <a:t>Click to edit Master text styles</a:t>
            </a:r>
          </a:p>
          <a:p>
            <a:pPr marL="228600" marR="0" lvl="0" indent="-228600" algn="l" defTabSz="914400" rtl="0" eaLnBrk="1" fontAlgn="auto" latinLnBrk="0" hangingPunct="1">
              <a:lnSpc>
                <a:spcPct val="90000"/>
              </a:lnSpc>
              <a:spcBef>
                <a:spcPts val="1000"/>
              </a:spcBef>
              <a:spcAft>
                <a:spcPct val="0"/>
              </a:spcAft>
              <a:buClrTx/>
              <a:buSzTx/>
              <a:buFont typeface="Arial" panose="020B0604020202020204" pitchFamily="34" charset="0"/>
              <a:buChar char="•"/>
              <a:defRPr/>
            </a:pPr>
            <a:r>
              <a:rPr lang="en-US"/>
              <a:t>Second level</a:t>
            </a:r>
            <a:r>
              <a:rPr lang="en-US" b="1" i="0">
                <a:solidFill>
                  <a:srgbClr val="030303"/>
                </a:solidFill>
                <a:effectLst/>
                <a:latin typeface="YouTube Sans"/>
              </a:rPr>
              <a:t> owerPoint: Changing the font of all slides at once</a:t>
            </a:r>
          </a:p>
          <a:p>
            <a:pPr marL="228600" lvl="0" indent="-228600" algn="l" defTabSz="914400" rtl="0" eaLnBrk="1" latinLnBrk="0" hangingPunct="1">
              <a:lnSpc>
                <a:spcPct val="90000"/>
              </a:lnSpc>
              <a:spcBef>
                <a:spcPts val="1000"/>
              </a:spcBef>
              <a:buFont typeface="Arial" panose="020B0604020202020204" pitchFamily="34" charset="0"/>
              <a:buChar char="•"/>
            </a:pPr>
            <a:endParaRPr lang="en-US"/>
          </a:p>
          <a:p>
            <a:pPr marL="228600" lvl="0" indent="-228600" algn="l" defTabSz="914400" rtl="0" eaLnBrk="1" latinLnBrk="0" hangingPunct="1">
              <a:lnSpc>
                <a:spcPct val="90000"/>
              </a:lnSpc>
              <a:spcBef>
                <a:spcPts val="1000"/>
              </a:spcBef>
              <a:buFont typeface="Arial" panose="020B0604020202020204" pitchFamily="34" charset="0"/>
              <a:buChar char="•"/>
            </a:pPr>
            <a:r>
              <a:rPr lang="en-US"/>
              <a:t>Third level</a:t>
            </a:r>
          </a:p>
        </p:txBody>
      </p:sp>
      <p:sp>
        <p:nvSpPr>
          <p:cNvPr id="4" name="Date Placeholder 3">
            <a:extLst>
              <a:ext uri="{FF2B5EF4-FFF2-40B4-BE49-F238E27FC236}">
                <a16:creationId xmlns:a16="http://schemas.microsoft.com/office/drawing/2014/main" id="{6CC95B8F-D1C2-401F-BD84-8DDECCBA8092}"/>
              </a:ext>
            </a:extLst>
          </p:cNvPr>
          <p:cNvSpPr>
            <a:spLocks noGrp="1"/>
          </p:cNvSpPr>
          <p:nvPr>
            <p:ph type="dt" sz="half" idx="10"/>
          </p:nvPr>
        </p:nvSpPr>
        <p:spPr/>
        <p:txBody>
          <a:bodyPr/>
          <a:lstStyle/>
          <a:p>
            <a:r>
              <a:rPr lang="en-US"/>
              <a:t>3/1/2022</a:t>
            </a:r>
            <a:endParaRPr lang="en-US" dirty="0"/>
          </a:p>
        </p:txBody>
      </p:sp>
      <p:sp>
        <p:nvSpPr>
          <p:cNvPr id="5" name="Footer Placeholder 4">
            <a:extLst>
              <a:ext uri="{FF2B5EF4-FFF2-40B4-BE49-F238E27FC236}">
                <a16:creationId xmlns:a16="http://schemas.microsoft.com/office/drawing/2014/main" id="{3367B9EA-B7E1-4EF8-A46E-2E8CFE0B0FC8}"/>
              </a:ext>
            </a:extLst>
          </p:cNvPr>
          <p:cNvSpPr>
            <a:spLocks noGrp="1"/>
          </p:cNvSpPr>
          <p:nvPr>
            <p:ph type="ftr" sz="quarter" idx="11"/>
          </p:nvPr>
        </p:nvSpPr>
        <p:spPr/>
        <p:txBody>
          <a:bodyPr/>
          <a:lstStyle/>
          <a:p>
            <a:r>
              <a:rPr lang="en-US"/>
              <a:t>CPF 2023-2027. Public Version. Maputo, May 2022.</a:t>
            </a:r>
            <a:endParaRPr lang="en-US" dirty="0"/>
          </a:p>
        </p:txBody>
      </p:sp>
      <p:sp>
        <p:nvSpPr>
          <p:cNvPr id="6" name="Slide Number Placeholder 5">
            <a:extLst>
              <a:ext uri="{FF2B5EF4-FFF2-40B4-BE49-F238E27FC236}">
                <a16:creationId xmlns:a16="http://schemas.microsoft.com/office/drawing/2014/main" id="{A8183F10-E48C-4566-BC2B-FF2F486A6998}"/>
              </a:ext>
            </a:extLst>
          </p:cNvPr>
          <p:cNvSpPr>
            <a:spLocks noGrp="1"/>
          </p:cNvSpPr>
          <p:nvPr>
            <p:ph type="sldNum" sz="quarter" idx="12"/>
          </p:nvPr>
        </p:nvSpPr>
        <p:spPr/>
        <p:txBody>
          <a:bodyPr/>
          <a:lstStyle>
            <a:lvl1pPr>
              <a:defRPr sz="1200"/>
            </a:lvl1pPr>
          </a:lstStyle>
          <a:p>
            <a:fld id="{B8473C9A-9E91-4025-B5E2-D7B202510636}" type="slidenum">
              <a:rPr lang="en-US" smtClean="0"/>
              <a:t>‹#›</a:t>
            </a:fld>
            <a:endParaRPr lang="en-US" dirty="0"/>
          </a:p>
        </p:txBody>
      </p:sp>
    </p:spTree>
    <p:extLst>
      <p:ext uri="{BB962C8B-B14F-4D97-AF65-F5344CB8AC3E}">
        <p14:creationId xmlns:p14="http://schemas.microsoft.com/office/powerpoint/2010/main" val="3940487273"/>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04923-E02C-4624-A21A-65B68F28C343}"/>
              </a:ext>
            </a:extLst>
          </p:cNvPr>
          <p:cNvSpPr>
            <a:spLocks noGrp="1"/>
          </p:cNvSpPr>
          <p:nvPr>
            <p:ph type="title"/>
          </p:nvPr>
        </p:nvSpPr>
        <p:spPr>
          <a:xfrm>
            <a:off x="831850" y="1709738"/>
            <a:ext cx="10515600" cy="2852737"/>
          </a:xfrm>
        </p:spPr>
        <p:txBody>
          <a:bodyPr anchor="ctr" anchorCtr="0"/>
          <a:lstStyle>
            <a:lvl1pPr algn="ctr">
              <a:defRPr sz="6000"/>
            </a:lvl1pPr>
          </a:lstStyle>
          <a:p>
            <a:r>
              <a:rPr lang="en-US"/>
              <a:t>Click to edit Master title style</a:t>
            </a:r>
          </a:p>
        </p:txBody>
      </p:sp>
      <p:sp>
        <p:nvSpPr>
          <p:cNvPr id="3" name="Text Placeholder 2">
            <a:extLst>
              <a:ext uri="{FF2B5EF4-FFF2-40B4-BE49-F238E27FC236}">
                <a16:creationId xmlns:a16="http://schemas.microsoft.com/office/drawing/2014/main" id="{9DAE0A33-1BB3-4E42-B621-A472B874EA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76DB44-0DB5-40B5-BA14-1EDA86A4D24B}"/>
              </a:ext>
            </a:extLst>
          </p:cNvPr>
          <p:cNvSpPr>
            <a:spLocks noGrp="1"/>
          </p:cNvSpPr>
          <p:nvPr>
            <p:ph type="dt" sz="half" idx="10"/>
          </p:nvPr>
        </p:nvSpPr>
        <p:spPr/>
        <p:txBody>
          <a:bodyPr/>
          <a:lstStyle/>
          <a:p>
            <a:r>
              <a:rPr lang="en-US"/>
              <a:t>3/1/2022</a:t>
            </a:r>
            <a:endParaRPr lang="en-US" dirty="0"/>
          </a:p>
        </p:txBody>
      </p:sp>
      <p:sp>
        <p:nvSpPr>
          <p:cNvPr id="5" name="Footer Placeholder 4">
            <a:extLst>
              <a:ext uri="{FF2B5EF4-FFF2-40B4-BE49-F238E27FC236}">
                <a16:creationId xmlns:a16="http://schemas.microsoft.com/office/drawing/2014/main" id="{55AA5C62-6202-4358-AC75-4E0415B24F7B}"/>
              </a:ext>
            </a:extLst>
          </p:cNvPr>
          <p:cNvSpPr>
            <a:spLocks noGrp="1"/>
          </p:cNvSpPr>
          <p:nvPr>
            <p:ph type="ftr" sz="quarter" idx="11"/>
          </p:nvPr>
        </p:nvSpPr>
        <p:spPr/>
        <p:txBody>
          <a:bodyPr/>
          <a:lstStyle/>
          <a:p>
            <a:r>
              <a:rPr lang="en-US"/>
              <a:t>CPF 2023-2027. Public Version. Maputo, May 2022.</a:t>
            </a:r>
            <a:endParaRPr lang="en-US" dirty="0"/>
          </a:p>
        </p:txBody>
      </p:sp>
      <p:sp>
        <p:nvSpPr>
          <p:cNvPr id="6" name="Slide Number Placeholder 5">
            <a:extLst>
              <a:ext uri="{FF2B5EF4-FFF2-40B4-BE49-F238E27FC236}">
                <a16:creationId xmlns:a16="http://schemas.microsoft.com/office/drawing/2014/main" id="{DED24AA5-8997-4524-A317-F3333E4AAC4B}"/>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353839300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D9D26-49ED-4CF7-B672-8637E4AD5E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43621A-9D07-4DF4-9D5A-48B41E7955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B0EFF8-B574-4682-B3A9-AA6161FFE7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9C375E7-1F3E-4EF7-B071-48DF4593E1E2}"/>
              </a:ext>
            </a:extLst>
          </p:cNvPr>
          <p:cNvSpPr>
            <a:spLocks noGrp="1"/>
          </p:cNvSpPr>
          <p:nvPr>
            <p:ph type="dt" sz="half" idx="10"/>
          </p:nvPr>
        </p:nvSpPr>
        <p:spPr/>
        <p:txBody>
          <a:bodyPr/>
          <a:lstStyle/>
          <a:p>
            <a:r>
              <a:rPr lang="en-US"/>
              <a:t>3/1/2022</a:t>
            </a:r>
            <a:endParaRPr lang="en-US" dirty="0"/>
          </a:p>
        </p:txBody>
      </p:sp>
      <p:sp>
        <p:nvSpPr>
          <p:cNvPr id="6" name="Footer Placeholder 5">
            <a:extLst>
              <a:ext uri="{FF2B5EF4-FFF2-40B4-BE49-F238E27FC236}">
                <a16:creationId xmlns:a16="http://schemas.microsoft.com/office/drawing/2014/main" id="{A8096E2A-D6F0-42E1-93F5-D99EDE9CF8F7}"/>
              </a:ext>
            </a:extLst>
          </p:cNvPr>
          <p:cNvSpPr>
            <a:spLocks noGrp="1"/>
          </p:cNvSpPr>
          <p:nvPr>
            <p:ph type="ftr" sz="quarter" idx="11"/>
          </p:nvPr>
        </p:nvSpPr>
        <p:spPr/>
        <p:txBody>
          <a:bodyPr/>
          <a:lstStyle/>
          <a:p>
            <a:r>
              <a:rPr lang="en-US"/>
              <a:t>CPF 2023-2027. Public Version. Maputo, May 2022.</a:t>
            </a:r>
            <a:endParaRPr lang="en-US" dirty="0"/>
          </a:p>
        </p:txBody>
      </p:sp>
      <p:sp>
        <p:nvSpPr>
          <p:cNvPr id="7" name="Slide Number Placeholder 6">
            <a:extLst>
              <a:ext uri="{FF2B5EF4-FFF2-40B4-BE49-F238E27FC236}">
                <a16:creationId xmlns:a16="http://schemas.microsoft.com/office/drawing/2014/main" id="{F3C9BC91-D20F-4D2A-ACDC-D462531E7E32}"/>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133866311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CCE41-EFB1-46F9-8C61-340395BFD3D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886AD4D-5D04-485B-BBDF-BC3CA5A179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2C38865-AD92-4EF6-8AC6-2D3C28823F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1AF0F8-46DF-422B-8C36-DFEB6BFB41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F8E853-9A78-4653-AF85-F954C3714E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91138F-1A14-4A55-8651-B0A6BBE21A45}"/>
              </a:ext>
            </a:extLst>
          </p:cNvPr>
          <p:cNvSpPr>
            <a:spLocks noGrp="1"/>
          </p:cNvSpPr>
          <p:nvPr>
            <p:ph type="dt" sz="half" idx="10"/>
          </p:nvPr>
        </p:nvSpPr>
        <p:spPr/>
        <p:txBody>
          <a:bodyPr/>
          <a:lstStyle/>
          <a:p>
            <a:r>
              <a:rPr lang="en-US"/>
              <a:t>3/1/2022</a:t>
            </a:r>
            <a:endParaRPr lang="en-US" dirty="0"/>
          </a:p>
        </p:txBody>
      </p:sp>
      <p:sp>
        <p:nvSpPr>
          <p:cNvPr id="8" name="Footer Placeholder 7">
            <a:extLst>
              <a:ext uri="{FF2B5EF4-FFF2-40B4-BE49-F238E27FC236}">
                <a16:creationId xmlns:a16="http://schemas.microsoft.com/office/drawing/2014/main" id="{6E29D1E1-3806-4AFD-A62F-2206BB742E6A}"/>
              </a:ext>
            </a:extLst>
          </p:cNvPr>
          <p:cNvSpPr>
            <a:spLocks noGrp="1"/>
          </p:cNvSpPr>
          <p:nvPr>
            <p:ph type="ftr" sz="quarter" idx="11"/>
          </p:nvPr>
        </p:nvSpPr>
        <p:spPr/>
        <p:txBody>
          <a:bodyPr/>
          <a:lstStyle/>
          <a:p>
            <a:r>
              <a:rPr lang="en-US"/>
              <a:t>CPF 2023-2027. Public Version. Maputo, May 2022.</a:t>
            </a:r>
            <a:endParaRPr lang="en-US" dirty="0"/>
          </a:p>
        </p:txBody>
      </p:sp>
      <p:sp>
        <p:nvSpPr>
          <p:cNvPr id="9" name="Slide Number Placeholder 8">
            <a:extLst>
              <a:ext uri="{FF2B5EF4-FFF2-40B4-BE49-F238E27FC236}">
                <a16:creationId xmlns:a16="http://schemas.microsoft.com/office/drawing/2014/main" id="{A5E3FB99-8FE9-4D09-8A4F-12CF1277B750}"/>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3128242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1D9C5-5AA6-4565-BCC7-41B79AC8DB9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C5F545B-A0EE-43AE-A42B-5A8CB9C82F1A}"/>
              </a:ext>
            </a:extLst>
          </p:cNvPr>
          <p:cNvSpPr>
            <a:spLocks noGrp="1"/>
          </p:cNvSpPr>
          <p:nvPr>
            <p:ph type="dt" sz="half" idx="10"/>
          </p:nvPr>
        </p:nvSpPr>
        <p:spPr/>
        <p:txBody>
          <a:bodyPr/>
          <a:lstStyle/>
          <a:p>
            <a:r>
              <a:rPr lang="en-US"/>
              <a:t>3/1/2022</a:t>
            </a:r>
            <a:endParaRPr lang="en-US" dirty="0"/>
          </a:p>
        </p:txBody>
      </p:sp>
      <p:sp>
        <p:nvSpPr>
          <p:cNvPr id="4" name="Footer Placeholder 3">
            <a:extLst>
              <a:ext uri="{FF2B5EF4-FFF2-40B4-BE49-F238E27FC236}">
                <a16:creationId xmlns:a16="http://schemas.microsoft.com/office/drawing/2014/main" id="{107FCC15-8266-4DE3-B290-D16AFE7F7167}"/>
              </a:ext>
            </a:extLst>
          </p:cNvPr>
          <p:cNvSpPr>
            <a:spLocks noGrp="1"/>
          </p:cNvSpPr>
          <p:nvPr>
            <p:ph type="ftr" sz="quarter" idx="11"/>
          </p:nvPr>
        </p:nvSpPr>
        <p:spPr/>
        <p:txBody>
          <a:bodyPr/>
          <a:lstStyle/>
          <a:p>
            <a:r>
              <a:rPr lang="en-US"/>
              <a:t>CPF 2023-2027. Public Version. Maputo, May 2022.</a:t>
            </a:r>
            <a:endParaRPr lang="en-US" dirty="0"/>
          </a:p>
        </p:txBody>
      </p:sp>
      <p:sp>
        <p:nvSpPr>
          <p:cNvPr id="5" name="Slide Number Placeholder 4">
            <a:extLst>
              <a:ext uri="{FF2B5EF4-FFF2-40B4-BE49-F238E27FC236}">
                <a16:creationId xmlns:a16="http://schemas.microsoft.com/office/drawing/2014/main" id="{CEFA89CF-916B-4108-9529-CE8B895436F5}"/>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68770266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218153-E68F-4442-824A-844A7D495AA3}"/>
              </a:ext>
            </a:extLst>
          </p:cNvPr>
          <p:cNvSpPr>
            <a:spLocks noGrp="1"/>
          </p:cNvSpPr>
          <p:nvPr>
            <p:ph type="dt" sz="half" idx="10"/>
          </p:nvPr>
        </p:nvSpPr>
        <p:spPr/>
        <p:txBody>
          <a:bodyPr/>
          <a:lstStyle/>
          <a:p>
            <a:r>
              <a:rPr lang="en-US"/>
              <a:t>3/1/2022</a:t>
            </a:r>
            <a:endParaRPr lang="en-US" dirty="0"/>
          </a:p>
        </p:txBody>
      </p:sp>
      <p:sp>
        <p:nvSpPr>
          <p:cNvPr id="3" name="Footer Placeholder 2">
            <a:extLst>
              <a:ext uri="{FF2B5EF4-FFF2-40B4-BE49-F238E27FC236}">
                <a16:creationId xmlns:a16="http://schemas.microsoft.com/office/drawing/2014/main" id="{03F8DE74-6A59-4828-A8A1-BCE6E8201FF0}"/>
              </a:ext>
            </a:extLst>
          </p:cNvPr>
          <p:cNvSpPr>
            <a:spLocks noGrp="1"/>
          </p:cNvSpPr>
          <p:nvPr>
            <p:ph type="ftr" sz="quarter" idx="11"/>
          </p:nvPr>
        </p:nvSpPr>
        <p:spPr/>
        <p:txBody>
          <a:bodyPr/>
          <a:lstStyle/>
          <a:p>
            <a:r>
              <a:rPr lang="en-US"/>
              <a:t>CPF 2023-2027. Public Version. Maputo, May 2022.</a:t>
            </a:r>
            <a:endParaRPr lang="en-US" dirty="0"/>
          </a:p>
        </p:txBody>
      </p:sp>
      <p:sp>
        <p:nvSpPr>
          <p:cNvPr id="4" name="Slide Number Placeholder 3">
            <a:extLst>
              <a:ext uri="{FF2B5EF4-FFF2-40B4-BE49-F238E27FC236}">
                <a16:creationId xmlns:a16="http://schemas.microsoft.com/office/drawing/2014/main" id="{B5D5FB75-E157-4016-BB05-C4EA32485B45}"/>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413313575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2A399-BC8D-4019-ADD6-FABA8E1DB5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BD1820-8456-48C2-89AE-2E5C2597A5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E4EECB-192E-4E2F-BF38-CF293360E8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DBDF5D-D784-48F1-81D7-0C79EF1FCD50}"/>
              </a:ext>
            </a:extLst>
          </p:cNvPr>
          <p:cNvSpPr>
            <a:spLocks noGrp="1"/>
          </p:cNvSpPr>
          <p:nvPr>
            <p:ph type="dt" sz="half" idx="10"/>
          </p:nvPr>
        </p:nvSpPr>
        <p:spPr/>
        <p:txBody>
          <a:bodyPr/>
          <a:lstStyle/>
          <a:p>
            <a:r>
              <a:rPr lang="en-US"/>
              <a:t>3/1/2022</a:t>
            </a:r>
            <a:endParaRPr lang="en-US" dirty="0"/>
          </a:p>
        </p:txBody>
      </p:sp>
      <p:sp>
        <p:nvSpPr>
          <p:cNvPr id="6" name="Footer Placeholder 5">
            <a:extLst>
              <a:ext uri="{FF2B5EF4-FFF2-40B4-BE49-F238E27FC236}">
                <a16:creationId xmlns:a16="http://schemas.microsoft.com/office/drawing/2014/main" id="{F2EDED05-F5A3-4456-AAE2-C3FC42BF1B84}"/>
              </a:ext>
            </a:extLst>
          </p:cNvPr>
          <p:cNvSpPr>
            <a:spLocks noGrp="1"/>
          </p:cNvSpPr>
          <p:nvPr>
            <p:ph type="ftr" sz="quarter" idx="11"/>
          </p:nvPr>
        </p:nvSpPr>
        <p:spPr/>
        <p:txBody>
          <a:bodyPr/>
          <a:lstStyle/>
          <a:p>
            <a:r>
              <a:rPr lang="en-US"/>
              <a:t>CPF 2023-2027. Public Version. Maputo, May 2022.</a:t>
            </a:r>
            <a:endParaRPr lang="en-US" dirty="0"/>
          </a:p>
        </p:txBody>
      </p:sp>
      <p:sp>
        <p:nvSpPr>
          <p:cNvPr id="7" name="Slide Number Placeholder 6">
            <a:extLst>
              <a:ext uri="{FF2B5EF4-FFF2-40B4-BE49-F238E27FC236}">
                <a16:creationId xmlns:a16="http://schemas.microsoft.com/office/drawing/2014/main" id="{BD739283-FA12-4D86-B3B8-162D2AD6EE1C}"/>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329764393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14276-E124-4822-AE88-D4627D1FF0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908839D-E988-4BD9-8192-034C390DB7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BB006194-79AA-47B5-B06A-1D26087D97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FA16CA-0CE4-4B33-9522-59AE6B24FD4C}"/>
              </a:ext>
            </a:extLst>
          </p:cNvPr>
          <p:cNvSpPr>
            <a:spLocks noGrp="1"/>
          </p:cNvSpPr>
          <p:nvPr>
            <p:ph type="dt" sz="half" idx="10"/>
          </p:nvPr>
        </p:nvSpPr>
        <p:spPr/>
        <p:txBody>
          <a:bodyPr/>
          <a:lstStyle/>
          <a:p>
            <a:r>
              <a:rPr lang="en-US"/>
              <a:t>3/1/2022</a:t>
            </a:r>
            <a:endParaRPr lang="en-US" dirty="0"/>
          </a:p>
        </p:txBody>
      </p:sp>
      <p:sp>
        <p:nvSpPr>
          <p:cNvPr id="6" name="Footer Placeholder 5">
            <a:extLst>
              <a:ext uri="{FF2B5EF4-FFF2-40B4-BE49-F238E27FC236}">
                <a16:creationId xmlns:a16="http://schemas.microsoft.com/office/drawing/2014/main" id="{057DB9C9-06CA-4D74-A969-385FA95945E0}"/>
              </a:ext>
            </a:extLst>
          </p:cNvPr>
          <p:cNvSpPr>
            <a:spLocks noGrp="1"/>
          </p:cNvSpPr>
          <p:nvPr>
            <p:ph type="ftr" sz="quarter" idx="11"/>
          </p:nvPr>
        </p:nvSpPr>
        <p:spPr/>
        <p:txBody>
          <a:bodyPr/>
          <a:lstStyle/>
          <a:p>
            <a:r>
              <a:rPr lang="en-US"/>
              <a:t>CPF 2023-2027. Public Version. Maputo, May 2022.</a:t>
            </a:r>
            <a:endParaRPr lang="en-US" dirty="0"/>
          </a:p>
        </p:txBody>
      </p:sp>
      <p:sp>
        <p:nvSpPr>
          <p:cNvPr id="7" name="Slide Number Placeholder 6">
            <a:extLst>
              <a:ext uri="{FF2B5EF4-FFF2-40B4-BE49-F238E27FC236}">
                <a16:creationId xmlns:a16="http://schemas.microsoft.com/office/drawing/2014/main" id="{674B40EA-325A-4083-BC00-E020C278AFB4}"/>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231898936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EEE8B-52C8-4D0E-9B59-100CC319455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AFB71DF-8F2E-41E0-90D8-F0867FCE59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336933-965A-42BF-BC5E-F5270FB08831}"/>
              </a:ext>
            </a:extLst>
          </p:cNvPr>
          <p:cNvSpPr>
            <a:spLocks noGrp="1"/>
          </p:cNvSpPr>
          <p:nvPr>
            <p:ph type="dt" sz="half" idx="10"/>
          </p:nvPr>
        </p:nvSpPr>
        <p:spPr/>
        <p:txBody>
          <a:bodyPr/>
          <a:lstStyle/>
          <a:p>
            <a:r>
              <a:rPr lang="en-US"/>
              <a:t>3/1/2022</a:t>
            </a:r>
            <a:endParaRPr lang="en-US" dirty="0"/>
          </a:p>
        </p:txBody>
      </p:sp>
      <p:sp>
        <p:nvSpPr>
          <p:cNvPr id="5" name="Footer Placeholder 4">
            <a:extLst>
              <a:ext uri="{FF2B5EF4-FFF2-40B4-BE49-F238E27FC236}">
                <a16:creationId xmlns:a16="http://schemas.microsoft.com/office/drawing/2014/main" id="{D213B8D8-22A8-44DA-8D39-16D2B387B4FE}"/>
              </a:ext>
            </a:extLst>
          </p:cNvPr>
          <p:cNvSpPr>
            <a:spLocks noGrp="1"/>
          </p:cNvSpPr>
          <p:nvPr>
            <p:ph type="ftr" sz="quarter" idx="11"/>
          </p:nvPr>
        </p:nvSpPr>
        <p:spPr/>
        <p:txBody>
          <a:bodyPr/>
          <a:lstStyle/>
          <a:p>
            <a:r>
              <a:rPr lang="en-US"/>
              <a:t>CPF 2023-2027. Public Version. Maputo, May 2022.</a:t>
            </a:r>
            <a:endParaRPr lang="en-US" dirty="0"/>
          </a:p>
        </p:txBody>
      </p:sp>
      <p:sp>
        <p:nvSpPr>
          <p:cNvPr id="6" name="Slide Number Placeholder 5">
            <a:extLst>
              <a:ext uri="{FF2B5EF4-FFF2-40B4-BE49-F238E27FC236}">
                <a16:creationId xmlns:a16="http://schemas.microsoft.com/office/drawing/2014/main" id="{3FF45202-30E5-4A59-9E8B-E9D32D0495AE}"/>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77789596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64F7B4-623F-4251-A5D4-87BCB8B300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D21CC42-BF23-435E-A17B-32B1994D03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80AC62-88AB-4CA1-9BF0-D64BDEF499A4}"/>
              </a:ext>
            </a:extLst>
          </p:cNvPr>
          <p:cNvSpPr>
            <a:spLocks noGrp="1"/>
          </p:cNvSpPr>
          <p:nvPr>
            <p:ph type="dt" sz="half" idx="10"/>
          </p:nvPr>
        </p:nvSpPr>
        <p:spPr/>
        <p:txBody>
          <a:bodyPr/>
          <a:lstStyle/>
          <a:p>
            <a:r>
              <a:rPr lang="en-US"/>
              <a:t>3/1/2022</a:t>
            </a:r>
            <a:endParaRPr lang="en-US" dirty="0"/>
          </a:p>
        </p:txBody>
      </p:sp>
      <p:sp>
        <p:nvSpPr>
          <p:cNvPr id="5" name="Footer Placeholder 4">
            <a:extLst>
              <a:ext uri="{FF2B5EF4-FFF2-40B4-BE49-F238E27FC236}">
                <a16:creationId xmlns:a16="http://schemas.microsoft.com/office/drawing/2014/main" id="{ED5A17B2-9369-455E-AE27-CABD90682E99}"/>
              </a:ext>
            </a:extLst>
          </p:cNvPr>
          <p:cNvSpPr>
            <a:spLocks noGrp="1"/>
          </p:cNvSpPr>
          <p:nvPr>
            <p:ph type="ftr" sz="quarter" idx="11"/>
          </p:nvPr>
        </p:nvSpPr>
        <p:spPr/>
        <p:txBody>
          <a:bodyPr/>
          <a:lstStyle/>
          <a:p>
            <a:r>
              <a:rPr lang="en-US"/>
              <a:t>CPF 2023-2027. Public Version. Maputo, May 2022.</a:t>
            </a:r>
            <a:endParaRPr lang="en-US" dirty="0"/>
          </a:p>
        </p:txBody>
      </p:sp>
      <p:sp>
        <p:nvSpPr>
          <p:cNvPr id="6" name="Slide Number Placeholder 5">
            <a:extLst>
              <a:ext uri="{FF2B5EF4-FFF2-40B4-BE49-F238E27FC236}">
                <a16:creationId xmlns:a16="http://schemas.microsoft.com/office/drawing/2014/main" id="{301464D7-E0B8-4E56-A956-7D67DF7B9E01}"/>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275345037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B8478B-5CB2-4010-9BAD-DDE1B57B6D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1844C9-7239-4961-887C-AC146B867F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F53078-3A3C-4896-826A-FFAB738737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3/1/2022</a:t>
            </a:r>
            <a:endParaRPr lang="en-US" dirty="0"/>
          </a:p>
        </p:txBody>
      </p:sp>
      <p:sp>
        <p:nvSpPr>
          <p:cNvPr id="5" name="Footer Placeholder 4">
            <a:extLst>
              <a:ext uri="{FF2B5EF4-FFF2-40B4-BE49-F238E27FC236}">
                <a16:creationId xmlns:a16="http://schemas.microsoft.com/office/drawing/2014/main" id="{4D59D87B-A001-4556-86DF-10D2F25F20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CPF 2023-2027. Public Version. Maputo, May 2022.</a:t>
            </a:r>
            <a:endParaRPr lang="en-US" dirty="0"/>
          </a:p>
        </p:txBody>
      </p:sp>
      <p:sp>
        <p:nvSpPr>
          <p:cNvPr id="6" name="Slide Number Placeholder 5">
            <a:extLst>
              <a:ext uri="{FF2B5EF4-FFF2-40B4-BE49-F238E27FC236}">
                <a16:creationId xmlns:a16="http://schemas.microsoft.com/office/drawing/2014/main" id="{1634FC28-C244-49C3-A074-6C1DE31C99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473C9A-9E91-4025-B5E2-D7B202510636}" type="slidenum">
              <a:rPr lang="en-US" smtClean="0"/>
              <a:t>‹#›</a:t>
            </a:fld>
            <a:endParaRPr lang="en-US" dirty="0"/>
          </a:p>
        </p:txBody>
      </p:sp>
    </p:spTree>
    <p:extLst>
      <p:ext uri="{BB962C8B-B14F-4D97-AF65-F5344CB8AC3E}">
        <p14:creationId xmlns:p14="http://schemas.microsoft.com/office/powerpoint/2010/main" val="12715432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hdr="0" dt="0"/>
  <p:txStyles>
    <p:titleStyle>
      <a:lvl1pPr algn="l" defTabSz="914400" rtl="0" eaLnBrk="1" latinLnBrk="0" hangingPunct="1">
        <a:lnSpc>
          <a:spcPct val="90000"/>
        </a:lnSpc>
        <a:spcBef>
          <a:spcPct val="0"/>
        </a:spcBef>
        <a:buNone/>
        <a:defRPr sz="2400" kern="1200">
          <a:solidFill>
            <a:schemeClr val="accent1">
              <a:lumMod val="75000"/>
            </a:schemeClr>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s>
</file>

<file path=ppt/slides/_rels/slide7.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chart" Target="../charts/chart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slideLayout" Target="../slideLayouts/slideLayout2.xml"/><Relationship Id="rId1" Type="http://schemas.openxmlformats.org/officeDocument/2006/relationships/themeOverride" Target="../theme/themeOverride3.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D45F1-E8F8-426E-8AF3-E6EF0913E3A5}"/>
              </a:ext>
            </a:extLst>
          </p:cNvPr>
          <p:cNvSpPr>
            <a:spLocks noGrp="1"/>
          </p:cNvSpPr>
          <p:nvPr>
            <p:ph type="ctrTitle"/>
          </p:nvPr>
        </p:nvSpPr>
        <p:spPr>
          <a:xfrm>
            <a:off x="1933672" y="2558409"/>
            <a:ext cx="8969172" cy="2876985"/>
          </a:xfrm>
        </p:spPr>
        <p:txBody>
          <a:bodyPr anchor="ctr">
            <a:noAutofit/>
          </a:bodyPr>
          <a:lstStyle/>
          <a:p>
            <a:r>
              <a:rPr lang="en-US" sz="3600" b="1" dirty="0">
                <a:latin typeface="Times New Roman" panose="02020603050405020304" pitchFamily="18" charset="0"/>
                <a:cs typeface="Times New Roman" panose="02020603050405020304" pitchFamily="18" charset="0"/>
              </a:rPr>
              <a:t>Groupe de la Banque mondiale (GBM) </a:t>
            </a:r>
            <a:br>
              <a:rPr lang="pt" sz="3600" b="1" dirty="0">
                <a:highlight>
                  <a:srgbClr val="000000">
                    <a:alpha val="0"/>
                  </a:srgbClr>
                </a:highlight>
                <a:latin typeface="Times New Roman" panose="02020603050405020304" pitchFamily="18" charset="0"/>
                <a:cs typeface="Times New Roman" panose="02020603050405020304" pitchFamily="18" charset="0"/>
              </a:rPr>
            </a:br>
            <a:br>
              <a:rPr lang="pt" sz="3600" b="1" dirty="0">
                <a:highlight>
                  <a:srgbClr val="000000">
                    <a:alpha val="0"/>
                  </a:srgbClr>
                </a:highlight>
                <a:latin typeface="Times New Roman" panose="02020603050405020304" pitchFamily="18" charset="0"/>
                <a:cs typeface="Times New Roman" panose="02020603050405020304" pitchFamily="18" charset="0"/>
              </a:rPr>
            </a:br>
            <a:r>
              <a:rPr lang="en-US" sz="3600" b="1" dirty="0">
                <a:highlight>
                  <a:srgbClr val="000000">
                    <a:alpha val="0"/>
                  </a:srgbClr>
                </a:highlight>
                <a:latin typeface="Times New Roman" panose="02020603050405020304" pitchFamily="18" charset="0"/>
                <a:cs typeface="Times New Roman" panose="02020603050405020304" pitchFamily="18" charset="0"/>
              </a:rPr>
              <a:t>Mozambique : Cadre de Partenariat Pays (CPF) 2023-2027 </a:t>
            </a:r>
            <a:br>
              <a:rPr lang="en-US" sz="3600" b="1" dirty="0">
                <a:highlight>
                  <a:srgbClr val="000000">
                    <a:alpha val="0"/>
                  </a:srgbClr>
                </a:highlight>
                <a:latin typeface="Times New Roman" panose="02020603050405020304" pitchFamily="18" charset="0"/>
                <a:cs typeface="Times New Roman" panose="02020603050405020304" pitchFamily="18" charset="0"/>
              </a:rPr>
            </a:br>
            <a:br>
              <a:rPr lang="en-US" sz="3600" b="1" dirty="0">
                <a:highlight>
                  <a:srgbClr val="000000">
                    <a:alpha val="0"/>
                  </a:srgbClr>
                </a:highlight>
                <a:latin typeface="Times New Roman" panose="02020603050405020304" pitchFamily="18" charset="0"/>
                <a:cs typeface="Times New Roman" panose="02020603050405020304" pitchFamily="18" charset="0"/>
              </a:rPr>
            </a:br>
            <a:r>
              <a:rPr lang="en-US" sz="3600" b="1" dirty="0">
                <a:highlight>
                  <a:srgbClr val="000000">
                    <a:alpha val="0"/>
                  </a:srgbClr>
                </a:highlight>
                <a:latin typeface="Times New Roman" panose="02020603050405020304" pitchFamily="18" charset="0"/>
                <a:cs typeface="Times New Roman" panose="02020603050405020304" pitchFamily="18" charset="0"/>
              </a:rPr>
              <a:t>Résumé de la Note de Concept </a:t>
            </a:r>
            <a:br>
              <a:rPr lang="en-US" sz="3600" b="1" dirty="0">
                <a:highlight>
                  <a:srgbClr val="000000">
                    <a:alpha val="0"/>
                  </a:srgbClr>
                </a:highlight>
                <a:latin typeface="Times New Roman" panose="02020603050405020304" pitchFamily="18" charset="0"/>
                <a:cs typeface="Times New Roman" panose="02020603050405020304" pitchFamily="18" charset="0"/>
              </a:rPr>
            </a:br>
            <a:br>
              <a:rPr lang="en-US" sz="3600" b="1" dirty="0">
                <a:highlight>
                  <a:srgbClr val="000000">
                    <a:alpha val="0"/>
                  </a:srgbClr>
                </a:highlight>
                <a:latin typeface="Times New Roman" panose="02020603050405020304" pitchFamily="18" charset="0"/>
                <a:cs typeface="Times New Roman" panose="02020603050405020304" pitchFamily="18" charset="0"/>
              </a:rPr>
            </a:br>
            <a:r>
              <a:rPr lang="en-US" sz="3600" b="1" dirty="0">
                <a:highlight>
                  <a:srgbClr val="000000">
                    <a:alpha val="0"/>
                  </a:srgbClr>
                </a:highlight>
                <a:latin typeface="Times New Roman" panose="02020603050405020304" pitchFamily="18" charset="0"/>
                <a:cs typeface="Times New Roman" panose="02020603050405020304" pitchFamily="18" charset="0"/>
              </a:rPr>
              <a:t>Version publique  </a:t>
            </a:r>
            <a:br>
              <a:rPr lang="en-US" sz="3600" b="1" dirty="0">
                <a:highlight>
                  <a:srgbClr val="000000">
                    <a:alpha val="0"/>
                  </a:srgbClr>
                </a:highlight>
                <a:latin typeface="Times New Roman" panose="02020603050405020304" pitchFamily="18" charset="0"/>
                <a:cs typeface="Times New Roman" panose="02020603050405020304" pitchFamily="18" charset="0"/>
              </a:rPr>
            </a:br>
            <a:br>
              <a:rPr lang="en-US" sz="3600" b="1" dirty="0">
                <a:highlight>
                  <a:srgbClr val="000000">
                    <a:alpha val="0"/>
                  </a:srgbClr>
                </a:highlight>
                <a:latin typeface="Times New Roman" panose="02020603050405020304" pitchFamily="18" charset="0"/>
                <a:cs typeface="Times New Roman" panose="02020603050405020304" pitchFamily="18" charset="0"/>
              </a:rPr>
            </a:br>
            <a:r>
              <a:rPr lang="en-US" sz="3600" b="1" dirty="0">
                <a:highlight>
                  <a:srgbClr val="000000">
                    <a:alpha val="0"/>
                  </a:srgbClr>
                </a:highlight>
                <a:latin typeface="Times New Roman" panose="02020603050405020304" pitchFamily="18" charset="0"/>
                <a:cs typeface="Times New Roman" panose="02020603050405020304" pitchFamily="18" charset="0"/>
              </a:rPr>
              <a:t>Maputo, mai 2022</a:t>
            </a:r>
            <a:br>
              <a:rPr lang="en-US" sz="3600" b="1" dirty="0">
                <a:highlight>
                  <a:srgbClr val="000000">
                    <a:alpha val="0"/>
                  </a:srgbClr>
                </a:highlight>
                <a:latin typeface="Times New Roman" panose="02020603050405020304" pitchFamily="18" charset="0"/>
                <a:cs typeface="Times New Roman" panose="02020603050405020304" pitchFamily="18" charset="0"/>
              </a:rPr>
            </a:br>
            <a:br>
              <a:rPr lang="pt" sz="3600" b="1" dirty="0">
                <a:highlight>
                  <a:srgbClr val="000000">
                    <a:alpha val="0"/>
                  </a:srgbClr>
                </a:highlight>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E96012B-60E5-41DF-BE81-115A7F0F5D0E}"/>
              </a:ext>
            </a:extLst>
          </p:cNvPr>
          <p:cNvPicPr>
            <a:picLocks noChangeAspect="1"/>
          </p:cNvPicPr>
          <p:nvPr/>
        </p:nvPicPr>
        <p:blipFill>
          <a:blip r:embed="rId2"/>
          <a:stretch>
            <a:fillRect/>
          </a:stretch>
        </p:blipFill>
        <p:spPr>
          <a:xfrm>
            <a:off x="827106" y="1944052"/>
            <a:ext cx="1352550" cy="1114425"/>
          </a:xfrm>
          <a:prstGeom prst="rect">
            <a:avLst/>
          </a:prstGeom>
        </p:spPr>
      </p:pic>
      <p:pic>
        <p:nvPicPr>
          <p:cNvPr id="6" name="Picture 5">
            <a:extLst>
              <a:ext uri="{FF2B5EF4-FFF2-40B4-BE49-F238E27FC236}">
                <a16:creationId xmlns:a16="http://schemas.microsoft.com/office/drawing/2014/main" id="{303B5CDB-EA56-4525-A8DA-73F7F88B8A77}"/>
              </a:ext>
            </a:extLst>
          </p:cNvPr>
          <p:cNvPicPr>
            <a:picLocks noChangeAspect="1"/>
          </p:cNvPicPr>
          <p:nvPr/>
        </p:nvPicPr>
        <p:blipFill>
          <a:blip r:embed="rId3"/>
          <a:stretch>
            <a:fillRect/>
          </a:stretch>
        </p:blipFill>
        <p:spPr>
          <a:xfrm>
            <a:off x="712806" y="3406352"/>
            <a:ext cx="1466850" cy="1181100"/>
          </a:xfrm>
          <a:prstGeom prst="rect">
            <a:avLst/>
          </a:prstGeom>
        </p:spPr>
      </p:pic>
      <p:pic>
        <p:nvPicPr>
          <p:cNvPr id="9" name="Picture 8">
            <a:extLst>
              <a:ext uri="{FF2B5EF4-FFF2-40B4-BE49-F238E27FC236}">
                <a16:creationId xmlns:a16="http://schemas.microsoft.com/office/drawing/2014/main" id="{7A855204-D46C-4DCB-85FD-454B26A9C91E}"/>
              </a:ext>
            </a:extLst>
          </p:cNvPr>
          <p:cNvPicPr>
            <a:picLocks noChangeAspect="1"/>
          </p:cNvPicPr>
          <p:nvPr/>
        </p:nvPicPr>
        <p:blipFill>
          <a:blip r:embed="rId4"/>
          <a:stretch>
            <a:fillRect/>
          </a:stretch>
        </p:blipFill>
        <p:spPr>
          <a:xfrm>
            <a:off x="808345" y="4587452"/>
            <a:ext cx="1257300" cy="1400175"/>
          </a:xfrm>
          <a:prstGeom prst="rect">
            <a:avLst/>
          </a:prstGeom>
        </p:spPr>
      </p:pic>
      <p:pic>
        <p:nvPicPr>
          <p:cNvPr id="11" name="Picture 10">
            <a:extLst>
              <a:ext uri="{FF2B5EF4-FFF2-40B4-BE49-F238E27FC236}">
                <a16:creationId xmlns:a16="http://schemas.microsoft.com/office/drawing/2014/main" id="{AEC0D9E3-C5B8-4B1E-8087-056D82A4FC9C}"/>
              </a:ext>
            </a:extLst>
          </p:cNvPr>
          <p:cNvPicPr>
            <a:picLocks noChangeAspect="1"/>
          </p:cNvPicPr>
          <p:nvPr/>
        </p:nvPicPr>
        <p:blipFill>
          <a:blip r:embed="rId5"/>
          <a:stretch>
            <a:fillRect/>
          </a:stretch>
        </p:blipFill>
        <p:spPr>
          <a:xfrm>
            <a:off x="827106" y="710732"/>
            <a:ext cx="1200150" cy="1133475"/>
          </a:xfrm>
          <a:prstGeom prst="rect">
            <a:avLst/>
          </a:prstGeom>
        </p:spPr>
      </p:pic>
    </p:spTree>
    <p:extLst>
      <p:ext uri="{BB962C8B-B14F-4D97-AF65-F5344CB8AC3E}">
        <p14:creationId xmlns:p14="http://schemas.microsoft.com/office/powerpoint/2010/main" val="3156487675"/>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90289-7D55-41E3-8ECB-E9F924A19E96}"/>
              </a:ext>
            </a:extLst>
          </p:cNvPr>
          <p:cNvSpPr>
            <a:spLocks noGrp="1"/>
          </p:cNvSpPr>
          <p:nvPr>
            <p:ph type="title"/>
          </p:nvPr>
        </p:nvSpPr>
        <p:spPr/>
        <p:txBody>
          <a:bodyPr>
            <a:normAutofit/>
          </a:bodyPr>
          <a:lstStyle/>
          <a:p>
            <a:r>
              <a:rPr lang="en-US" dirty="0"/>
              <a:t>Introduction : Qu'est-ce que le CPP, pourquoi les consultations et quelles sont les attentes</a:t>
            </a:r>
          </a:p>
        </p:txBody>
      </p:sp>
      <p:sp>
        <p:nvSpPr>
          <p:cNvPr id="3" name="Content Placeholder 2">
            <a:extLst>
              <a:ext uri="{FF2B5EF4-FFF2-40B4-BE49-F238E27FC236}">
                <a16:creationId xmlns:a16="http://schemas.microsoft.com/office/drawing/2014/main" id="{D9688905-696E-4501-8134-4A2E66E94513}"/>
              </a:ext>
            </a:extLst>
          </p:cNvPr>
          <p:cNvSpPr>
            <a:spLocks noGrp="1"/>
          </p:cNvSpPr>
          <p:nvPr>
            <p:ph idx="1"/>
          </p:nvPr>
        </p:nvSpPr>
        <p:spPr>
          <a:xfrm>
            <a:off x="838200" y="1549101"/>
            <a:ext cx="10515600" cy="4627862"/>
          </a:xfrm>
        </p:spPr>
        <p:txBody>
          <a:bodyPr>
            <a:normAutofit/>
          </a:bodyPr>
          <a:lstStyle/>
          <a:p>
            <a:r>
              <a:rPr lang="en-US" dirty="0"/>
              <a:t>Le Cadre de partenariat pays (CPP) Mozambique est l'instrument directeur du soutien du Groupe de la Banque mondiale (GBM), y compris la SFI et la MIGA, au Mozambique dans la poursuite de ses objectifs de développement.</a:t>
            </a:r>
          </a:p>
          <a:p>
            <a:r>
              <a:rPr lang="en-US" dirty="0"/>
              <a:t>Le CPP définit les objectifs et les résultats attendus du partenariat entre le GBM et le gouvernement du Mozambique sur une période donnée (4 à 5 ans).</a:t>
            </a:r>
          </a:p>
          <a:p>
            <a:r>
              <a:rPr lang="en-US" dirty="0"/>
              <a:t>Le CPF repose sur les éléments suivants : (i) les priorités définies par les plans de développement du pays (PQG, ENDE, </a:t>
            </a:r>
            <a:r>
              <a:rPr lang="en-US" dirty="0" err="1"/>
              <a:t>etc</a:t>
            </a:r>
            <a:r>
              <a:rPr lang="en-US" dirty="0"/>
              <a:t>) ; (ii) un Diagnostic Systématique Pays (SCD) de la Banque mondiale, d'autres analyses et connaissances produites ; (iii) les enseignements tirés de la mise en œuvre des stratégies précédentes (CLR) et les avantages comparatifs de la Banque mondiale.</a:t>
            </a:r>
          </a:p>
          <a:p>
            <a:r>
              <a:rPr lang="en-US" dirty="0"/>
              <a:t>L'axe de travail du GBM est l'élimination de la pauvreté extrême et la réduction des inégalités.</a:t>
            </a:r>
          </a:p>
          <a:p>
            <a:r>
              <a:rPr lang="en-US" dirty="0"/>
              <a:t>Actuellement, le GBM prépare un CPP actualisé couvrant la période exercice budgétaire 23-27. </a:t>
            </a:r>
          </a:p>
          <a:p>
            <a:r>
              <a:rPr lang="en-US" dirty="0"/>
              <a:t>Le nouveau CPP définit les aspirations et objectifs préliminaires du partenariat avec le Mozambique pour les 5 prochaines années. </a:t>
            </a:r>
          </a:p>
          <a:p>
            <a:r>
              <a:rPr lang="en-US" dirty="0"/>
              <a:t>Ce document présente un résumé de la note conceptuelle du CPP dans le but d'obtenir des contributions sur les questions suivantes :</a:t>
            </a:r>
          </a:p>
          <a:p>
            <a:pPr lvl="3">
              <a:lnSpc>
                <a:spcPct val="100000"/>
              </a:lnSpc>
              <a:spcBef>
                <a:spcPts val="1200"/>
              </a:spcBef>
            </a:pPr>
            <a:r>
              <a:rPr lang="en-US" sz="1400" b="1" dirty="0">
                <a:highlight>
                  <a:srgbClr val="000000">
                    <a:alpha val="0"/>
                  </a:srgbClr>
                </a:highlight>
                <a:latin typeface="Arial"/>
              </a:rPr>
              <a:t>Approfondir la discussion sur chaque pilier de la stratégie et ses objectifs.</a:t>
            </a:r>
          </a:p>
          <a:p>
            <a:pPr lvl="3">
              <a:lnSpc>
                <a:spcPct val="100000"/>
              </a:lnSpc>
              <a:spcBef>
                <a:spcPts val="1200"/>
              </a:spcBef>
            </a:pPr>
            <a:r>
              <a:rPr lang="en-US" sz="1400" b="1" dirty="0">
                <a:highlight>
                  <a:srgbClr val="000000">
                    <a:alpha val="0"/>
                  </a:srgbClr>
                </a:highlight>
                <a:latin typeface="Arial"/>
              </a:rPr>
              <a:t>Définition des priorités et des instruments (y compris le financement), en tenant compte du contexte et des défis de développement spécifiques.</a:t>
            </a:r>
          </a:p>
          <a:p>
            <a:pPr lvl="3">
              <a:lnSpc>
                <a:spcPct val="100000"/>
              </a:lnSpc>
              <a:spcBef>
                <a:spcPts val="1200"/>
              </a:spcBef>
            </a:pPr>
            <a:r>
              <a:rPr lang="en-US" sz="1400" b="1" dirty="0">
                <a:highlight>
                  <a:srgbClr val="000000">
                    <a:alpha val="0"/>
                  </a:srgbClr>
                </a:highlight>
                <a:latin typeface="Arial"/>
              </a:rPr>
              <a:t>Définition des mécanismes de suivi du CPP (indicateurs)</a:t>
            </a:r>
          </a:p>
        </p:txBody>
      </p:sp>
      <p:sp>
        <p:nvSpPr>
          <p:cNvPr id="4" name="Footer Placeholder 3">
            <a:extLst>
              <a:ext uri="{FF2B5EF4-FFF2-40B4-BE49-F238E27FC236}">
                <a16:creationId xmlns:a16="http://schemas.microsoft.com/office/drawing/2014/main" id="{478EA24B-3077-4E29-A782-8ABABF70C5CF}"/>
              </a:ext>
            </a:extLst>
          </p:cNvPr>
          <p:cNvSpPr>
            <a:spLocks noGrp="1"/>
          </p:cNvSpPr>
          <p:nvPr>
            <p:ph type="ftr" sz="quarter" idx="11"/>
          </p:nvPr>
        </p:nvSpPr>
        <p:spPr/>
        <p:txBody>
          <a:bodyPr/>
          <a:lstStyle/>
          <a:p>
            <a:r>
              <a:rPr lang="en-US"/>
              <a:t>CPP 2023-2027. Version publique. Maputo, mai 2022.</a:t>
            </a:r>
            <a:endParaRPr lang="en-US" dirty="0"/>
          </a:p>
        </p:txBody>
      </p:sp>
      <p:sp>
        <p:nvSpPr>
          <p:cNvPr id="5" name="Slide Number Placeholder 4">
            <a:extLst>
              <a:ext uri="{FF2B5EF4-FFF2-40B4-BE49-F238E27FC236}">
                <a16:creationId xmlns:a16="http://schemas.microsoft.com/office/drawing/2014/main" id="{789BF642-FDE3-42E2-AB0F-94576DDD9EF4}"/>
              </a:ext>
            </a:extLst>
          </p:cNvPr>
          <p:cNvSpPr>
            <a:spLocks noGrp="1"/>
          </p:cNvSpPr>
          <p:nvPr>
            <p:ph type="sldNum" sz="quarter" idx="12"/>
          </p:nvPr>
        </p:nvSpPr>
        <p:spPr/>
        <p:txBody>
          <a:bodyPr/>
          <a:lstStyle/>
          <a:p>
            <a:fld id="{B8473C9A-9E91-4025-B5E2-D7B202510636}" type="slidenum">
              <a:rPr lang="en-US" smtClean="0"/>
              <a:t>2</a:t>
            </a:fld>
            <a:endParaRPr lang="en-US" dirty="0"/>
          </a:p>
        </p:txBody>
      </p:sp>
    </p:spTree>
    <p:extLst>
      <p:ext uri="{BB962C8B-B14F-4D97-AF65-F5344CB8AC3E}">
        <p14:creationId xmlns:p14="http://schemas.microsoft.com/office/powerpoint/2010/main" val="216634312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8BF6E-3F48-4133-BFA3-5A80DFDCB4E2}"/>
              </a:ext>
            </a:extLst>
          </p:cNvPr>
          <p:cNvSpPr>
            <a:spLocks noGrp="1"/>
          </p:cNvSpPr>
          <p:nvPr>
            <p:ph type="title"/>
          </p:nvPr>
        </p:nvSpPr>
        <p:spPr>
          <a:xfrm>
            <a:off x="763623" y="527128"/>
            <a:ext cx="10515600" cy="1325563"/>
          </a:xfrm>
        </p:spPr>
        <p:txBody>
          <a:bodyPr>
            <a:noAutofit/>
          </a:bodyPr>
          <a:lstStyle/>
          <a:p>
            <a:pPr algn="ctr"/>
            <a:r>
              <a:rPr lang="en-US" sz="4000" dirty="0"/>
              <a:t>Structure de la présentation </a:t>
            </a:r>
            <a:endParaRPr lang="pt" sz="4000" b="0" i="1" u="none" strike="noStrike" dirty="0">
              <a:highlight>
                <a:srgbClr val="000000">
                  <a:alpha val="0"/>
                </a:srgbClr>
              </a:highlight>
              <a:latin typeface="Arial"/>
            </a:endParaRPr>
          </a:p>
        </p:txBody>
      </p:sp>
      <p:sp>
        <p:nvSpPr>
          <p:cNvPr id="3" name="Content Placeholder 2">
            <a:extLst>
              <a:ext uri="{FF2B5EF4-FFF2-40B4-BE49-F238E27FC236}">
                <a16:creationId xmlns:a16="http://schemas.microsoft.com/office/drawing/2014/main" id="{A71C13BF-78D7-4831-B2B9-0342F47476B7}"/>
              </a:ext>
            </a:extLst>
          </p:cNvPr>
          <p:cNvSpPr>
            <a:spLocks noGrp="1"/>
          </p:cNvSpPr>
          <p:nvPr>
            <p:ph idx="1"/>
          </p:nvPr>
        </p:nvSpPr>
        <p:spPr>
          <a:xfrm>
            <a:off x="342731" y="2187277"/>
            <a:ext cx="11357385" cy="4648256"/>
          </a:xfrm>
        </p:spPr>
        <p:txBody>
          <a:bodyPr>
            <a:noAutofit/>
          </a:bodyPr>
          <a:lstStyle/>
          <a:p>
            <a:pPr marL="1371600" lvl="3" indent="-571500">
              <a:lnSpc>
                <a:spcPct val="100000"/>
              </a:lnSpc>
              <a:spcBef>
                <a:spcPts val="1200"/>
              </a:spcBef>
              <a:spcAft>
                <a:spcPts val="1200"/>
              </a:spcAft>
              <a:buFont typeface="+mj-lt"/>
              <a:buAutoNum type="romanUcPeriod"/>
            </a:pPr>
            <a:r>
              <a:rPr lang="en-US" sz="3200" b="1" dirty="0"/>
              <a:t>Vision du Groupe de la Banque mondiale sur les principaux défis stratégiques du pays    Principales leçons du CPP précédent (2017-2021) Proposition initiale pour le CPP 2023-2027</a:t>
            </a:r>
            <a:endParaRPr lang="pt" sz="3200" b="1" i="0" u="none" strike="noStrike" dirty="0">
              <a:highlight>
                <a:srgbClr val="000000">
                  <a:alpha val="0"/>
                </a:srgbClr>
              </a:highlight>
              <a:latin typeface="Arial"/>
            </a:endParaRPr>
          </a:p>
        </p:txBody>
      </p:sp>
      <p:sp>
        <p:nvSpPr>
          <p:cNvPr id="7" name="Footer Placeholder 6">
            <a:extLst>
              <a:ext uri="{FF2B5EF4-FFF2-40B4-BE49-F238E27FC236}">
                <a16:creationId xmlns:a16="http://schemas.microsoft.com/office/drawing/2014/main" id="{5A8D5BC3-36C6-44D5-8F65-39323B859A56}"/>
              </a:ext>
            </a:extLst>
          </p:cNvPr>
          <p:cNvSpPr>
            <a:spLocks noGrp="1"/>
          </p:cNvSpPr>
          <p:nvPr>
            <p:ph type="ftr" sz="quarter" idx="11"/>
          </p:nvPr>
        </p:nvSpPr>
        <p:spPr/>
        <p:txBody>
          <a:bodyPr/>
          <a:lstStyle/>
          <a:p>
            <a:r>
              <a:rPr lang="en-US"/>
              <a:t>CPP 2023-2027. Version publique. Maputo, mai 2022.</a:t>
            </a:r>
            <a:endParaRPr lang="en-US" dirty="0"/>
          </a:p>
        </p:txBody>
      </p:sp>
      <p:sp>
        <p:nvSpPr>
          <p:cNvPr id="8" name="Slide Number Placeholder 7">
            <a:extLst>
              <a:ext uri="{FF2B5EF4-FFF2-40B4-BE49-F238E27FC236}">
                <a16:creationId xmlns:a16="http://schemas.microsoft.com/office/drawing/2014/main" id="{71478635-062B-4B7C-8ED3-5DABD8F8816D}"/>
              </a:ext>
            </a:extLst>
          </p:cNvPr>
          <p:cNvSpPr>
            <a:spLocks noGrp="1"/>
          </p:cNvSpPr>
          <p:nvPr>
            <p:ph type="sldNum" sz="quarter" idx="12"/>
          </p:nvPr>
        </p:nvSpPr>
        <p:spPr/>
        <p:txBody>
          <a:bodyPr/>
          <a:lstStyle/>
          <a:p>
            <a:fld id="{B8473C9A-9E91-4025-B5E2-D7B202510636}" type="slidenum">
              <a:rPr lang="en-US" smtClean="0"/>
              <a:t>3</a:t>
            </a:fld>
            <a:endParaRPr lang="en-US" dirty="0"/>
          </a:p>
        </p:txBody>
      </p:sp>
      <p:pic>
        <p:nvPicPr>
          <p:cNvPr id="4" name="Picture 3">
            <a:extLst>
              <a:ext uri="{FF2B5EF4-FFF2-40B4-BE49-F238E27FC236}">
                <a16:creationId xmlns:a16="http://schemas.microsoft.com/office/drawing/2014/main" id="{BD132FF2-B2A1-4911-8DA1-958860068B65}"/>
              </a:ext>
            </a:extLst>
          </p:cNvPr>
          <p:cNvPicPr>
            <a:picLocks noChangeAspect="1"/>
          </p:cNvPicPr>
          <p:nvPr/>
        </p:nvPicPr>
        <p:blipFill>
          <a:blip r:embed="rId2"/>
          <a:stretch>
            <a:fillRect/>
          </a:stretch>
        </p:blipFill>
        <p:spPr>
          <a:xfrm>
            <a:off x="342731" y="365570"/>
            <a:ext cx="2809141" cy="559716"/>
          </a:xfrm>
          <a:prstGeom prst="rect">
            <a:avLst/>
          </a:prstGeom>
        </p:spPr>
      </p:pic>
    </p:spTree>
    <p:extLst>
      <p:ext uri="{BB962C8B-B14F-4D97-AF65-F5344CB8AC3E}">
        <p14:creationId xmlns:p14="http://schemas.microsoft.com/office/powerpoint/2010/main" val="92722981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8BF6E-3F48-4133-BFA3-5A80DFDCB4E2}"/>
              </a:ext>
            </a:extLst>
          </p:cNvPr>
          <p:cNvSpPr>
            <a:spLocks noGrp="1"/>
          </p:cNvSpPr>
          <p:nvPr>
            <p:ph type="title"/>
          </p:nvPr>
        </p:nvSpPr>
        <p:spPr>
          <a:xfrm>
            <a:off x="838200" y="747656"/>
            <a:ext cx="10515600" cy="1325563"/>
          </a:xfrm>
        </p:spPr>
        <p:txBody>
          <a:bodyPr>
            <a:noAutofit/>
          </a:bodyPr>
          <a:lstStyle/>
          <a:p>
            <a:pPr algn="ctr"/>
            <a:r>
              <a:rPr lang="en-US" sz="4000" dirty="0"/>
              <a:t>Structure de la présentation </a:t>
            </a:r>
            <a:endParaRPr lang="pt" sz="4000" b="0" i="1" u="none" strike="noStrike" dirty="0">
              <a:highlight>
                <a:srgbClr val="000000">
                  <a:alpha val="0"/>
                </a:srgbClr>
              </a:highlight>
              <a:latin typeface="Arial"/>
            </a:endParaRPr>
          </a:p>
        </p:txBody>
      </p:sp>
      <p:sp>
        <p:nvSpPr>
          <p:cNvPr id="3" name="Content Placeholder 2">
            <a:extLst>
              <a:ext uri="{FF2B5EF4-FFF2-40B4-BE49-F238E27FC236}">
                <a16:creationId xmlns:a16="http://schemas.microsoft.com/office/drawing/2014/main" id="{A71C13BF-78D7-4831-B2B9-0342F47476B7}"/>
              </a:ext>
            </a:extLst>
          </p:cNvPr>
          <p:cNvSpPr>
            <a:spLocks noGrp="1"/>
          </p:cNvSpPr>
          <p:nvPr>
            <p:ph idx="1"/>
          </p:nvPr>
        </p:nvSpPr>
        <p:spPr>
          <a:xfrm>
            <a:off x="417307" y="2073219"/>
            <a:ext cx="11357385" cy="4648256"/>
          </a:xfrm>
        </p:spPr>
        <p:txBody>
          <a:bodyPr>
            <a:noAutofit/>
          </a:bodyPr>
          <a:lstStyle/>
          <a:p>
            <a:pPr marL="1371600" lvl="3" indent="-571500">
              <a:lnSpc>
                <a:spcPct val="100000"/>
              </a:lnSpc>
              <a:spcBef>
                <a:spcPts val="1200"/>
              </a:spcBef>
              <a:spcAft>
                <a:spcPts val="1200"/>
              </a:spcAft>
              <a:buFont typeface="+mj-lt"/>
              <a:buAutoNum type="romanUcPeriod"/>
            </a:pPr>
            <a:r>
              <a:rPr lang="en-US" sz="3200" b="1" dirty="0"/>
              <a:t>Vision du Groupe de la Banque mondiale sur les principaux défis stratégiques du pays    </a:t>
            </a:r>
            <a:r>
              <a:rPr lang="en-US" sz="3200" b="1" dirty="0">
                <a:solidFill>
                  <a:schemeClr val="bg2">
                    <a:lumMod val="75000"/>
                  </a:schemeClr>
                </a:solidFill>
              </a:rPr>
              <a:t>Principaux enseignements du CPF précédent (2017-2021)  Proposition initiale pour le CPF 2023-2027</a:t>
            </a:r>
            <a:endParaRPr lang="pt" sz="3200" b="1" i="0" u="none" strike="noStrike" dirty="0">
              <a:solidFill>
                <a:schemeClr val="bg2">
                  <a:lumMod val="75000"/>
                </a:schemeClr>
              </a:solidFill>
              <a:highlight>
                <a:srgbClr val="000000">
                  <a:alpha val="0"/>
                </a:srgbClr>
              </a:highlight>
              <a:latin typeface="Arial"/>
            </a:endParaRPr>
          </a:p>
        </p:txBody>
      </p:sp>
      <p:sp>
        <p:nvSpPr>
          <p:cNvPr id="7" name="Footer Placeholder 6">
            <a:extLst>
              <a:ext uri="{FF2B5EF4-FFF2-40B4-BE49-F238E27FC236}">
                <a16:creationId xmlns:a16="http://schemas.microsoft.com/office/drawing/2014/main" id="{5EDF98AD-ADCD-4758-AAE6-443CAF4DC2F9}"/>
              </a:ext>
            </a:extLst>
          </p:cNvPr>
          <p:cNvSpPr>
            <a:spLocks noGrp="1"/>
          </p:cNvSpPr>
          <p:nvPr>
            <p:ph type="ftr" sz="quarter" idx="11"/>
          </p:nvPr>
        </p:nvSpPr>
        <p:spPr/>
        <p:txBody>
          <a:bodyPr/>
          <a:lstStyle/>
          <a:p>
            <a:r>
              <a:rPr lang="en-US"/>
              <a:t>CPP 2023-2027. Version publique. Maputo, mai 2022.</a:t>
            </a:r>
            <a:endParaRPr lang="en-US" dirty="0"/>
          </a:p>
        </p:txBody>
      </p:sp>
      <p:sp>
        <p:nvSpPr>
          <p:cNvPr id="8" name="Slide Number Placeholder 7">
            <a:extLst>
              <a:ext uri="{FF2B5EF4-FFF2-40B4-BE49-F238E27FC236}">
                <a16:creationId xmlns:a16="http://schemas.microsoft.com/office/drawing/2014/main" id="{382C3AA1-90AF-49C0-92C0-FFB37AB72625}"/>
              </a:ext>
            </a:extLst>
          </p:cNvPr>
          <p:cNvSpPr>
            <a:spLocks noGrp="1"/>
          </p:cNvSpPr>
          <p:nvPr>
            <p:ph type="sldNum" sz="quarter" idx="12"/>
          </p:nvPr>
        </p:nvSpPr>
        <p:spPr/>
        <p:txBody>
          <a:bodyPr/>
          <a:lstStyle/>
          <a:p>
            <a:fld id="{B8473C9A-9E91-4025-B5E2-D7B202510636}" type="slidenum">
              <a:rPr lang="en-US" smtClean="0"/>
              <a:t>4</a:t>
            </a:fld>
            <a:endParaRPr lang="en-US" dirty="0"/>
          </a:p>
        </p:txBody>
      </p:sp>
      <p:pic>
        <p:nvPicPr>
          <p:cNvPr id="6" name="Picture 5">
            <a:extLst>
              <a:ext uri="{FF2B5EF4-FFF2-40B4-BE49-F238E27FC236}">
                <a16:creationId xmlns:a16="http://schemas.microsoft.com/office/drawing/2014/main" id="{B50684B2-DFCC-454F-BF34-FF297E1A6047}"/>
              </a:ext>
            </a:extLst>
          </p:cNvPr>
          <p:cNvPicPr>
            <a:picLocks noChangeAspect="1"/>
          </p:cNvPicPr>
          <p:nvPr/>
        </p:nvPicPr>
        <p:blipFill>
          <a:blip r:embed="rId2"/>
          <a:stretch>
            <a:fillRect/>
          </a:stretch>
        </p:blipFill>
        <p:spPr>
          <a:xfrm>
            <a:off x="517218" y="586097"/>
            <a:ext cx="2521846" cy="502473"/>
          </a:xfrm>
          <a:prstGeom prst="rect">
            <a:avLst/>
          </a:prstGeom>
        </p:spPr>
      </p:pic>
    </p:spTree>
    <p:extLst>
      <p:ext uri="{BB962C8B-B14F-4D97-AF65-F5344CB8AC3E}">
        <p14:creationId xmlns:p14="http://schemas.microsoft.com/office/powerpoint/2010/main" val="182892206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4B562-863E-411E-8C8D-327DA3E88280}"/>
              </a:ext>
            </a:extLst>
          </p:cNvPr>
          <p:cNvSpPr>
            <a:spLocks noGrp="1"/>
          </p:cNvSpPr>
          <p:nvPr>
            <p:ph type="title"/>
          </p:nvPr>
        </p:nvSpPr>
        <p:spPr>
          <a:xfrm>
            <a:off x="2458581" y="149854"/>
            <a:ext cx="11053131" cy="547685"/>
          </a:xfrm>
        </p:spPr>
        <p:txBody>
          <a:bodyPr>
            <a:noAutofit/>
          </a:bodyPr>
          <a:lstStyle/>
          <a:p>
            <a:pPr rtl="0"/>
            <a:br>
              <a:rPr lang="pt" sz="2400" b="1" i="0" u="none" strike="noStrike" dirty="0">
                <a:highlight>
                  <a:srgbClr val="000000">
                    <a:alpha val="0"/>
                  </a:srgbClr>
                </a:highlight>
                <a:latin typeface="Arial"/>
              </a:rPr>
            </a:br>
            <a:r>
              <a:rPr lang="pt" sz="2400" b="1" i="0" u="none" strike="noStrike" dirty="0">
                <a:highlight>
                  <a:srgbClr val="000000">
                    <a:alpha val="0"/>
                  </a:srgbClr>
                </a:highlight>
                <a:latin typeface="Arial"/>
              </a:rPr>
              <a:t>Contexte pays : </a:t>
            </a:r>
            <a:r>
              <a:rPr lang="pt" sz="2400" b="0" i="1" u="none" strike="noStrike" dirty="0">
                <a:highlight>
                  <a:srgbClr val="000000">
                    <a:alpha val="0"/>
                  </a:srgbClr>
                </a:highlight>
                <a:latin typeface="Arial"/>
              </a:rPr>
              <a:t>Défis et opportunités de développement</a:t>
            </a:r>
            <a:endParaRPr lang="en-US" sz="2400" b="0" i="1" dirty="0"/>
          </a:p>
        </p:txBody>
      </p:sp>
      <p:sp>
        <p:nvSpPr>
          <p:cNvPr id="7" name="Content Placeholder 6">
            <a:extLst>
              <a:ext uri="{FF2B5EF4-FFF2-40B4-BE49-F238E27FC236}">
                <a16:creationId xmlns:a16="http://schemas.microsoft.com/office/drawing/2014/main" id="{FF5C214D-5EAE-4BCF-B630-4930BE12178E}"/>
              </a:ext>
            </a:extLst>
          </p:cNvPr>
          <p:cNvSpPr>
            <a:spLocks noGrp="1"/>
          </p:cNvSpPr>
          <p:nvPr>
            <p:ph idx="1"/>
          </p:nvPr>
        </p:nvSpPr>
        <p:spPr>
          <a:xfrm>
            <a:off x="154086" y="750686"/>
            <a:ext cx="11594969" cy="5854702"/>
          </a:xfrm>
        </p:spPr>
        <p:txBody>
          <a:bodyPr>
            <a:noAutofit/>
          </a:bodyPr>
          <a:lstStyle/>
          <a:p>
            <a:pPr marL="342900" indent="-342900" algn="just" rtl="0">
              <a:lnSpc>
                <a:spcPct val="100000"/>
              </a:lnSpc>
              <a:spcBef>
                <a:spcPct val="0"/>
              </a:spcBef>
              <a:spcAft>
                <a:spcPts val="600"/>
              </a:spcAft>
              <a:buFont typeface="+mj-lt"/>
              <a:buAutoNum type="arabicPeriod"/>
            </a:pPr>
            <a:endParaRPr lang="en-US" sz="1600" b="1" i="0" u="none" strike="noStrike" dirty="0">
              <a:highlight>
                <a:srgbClr val="000000">
                  <a:alpha val="0"/>
                </a:srgbClr>
              </a:highlight>
              <a:latin typeface="Arial"/>
              <a:ea typeface="Calibri"/>
              <a:cs typeface="Times New Roman"/>
            </a:endParaRPr>
          </a:p>
          <a:p>
            <a:pPr marL="342900" indent="-342900" algn="just" rtl="0">
              <a:lnSpc>
                <a:spcPct val="100000"/>
              </a:lnSpc>
              <a:spcBef>
                <a:spcPct val="0"/>
              </a:spcBef>
              <a:spcAft>
                <a:spcPts val="600"/>
              </a:spcAft>
              <a:buFont typeface="+mj-lt"/>
              <a:buAutoNum type="arabicPeriod"/>
            </a:pPr>
            <a:r>
              <a:rPr lang="en-US" sz="1600" b="1" i="0" u="none" strike="noStrike" dirty="0">
                <a:highlight>
                  <a:srgbClr val="000000">
                    <a:alpha val="0"/>
                  </a:srgbClr>
                </a:highlight>
                <a:latin typeface="Arial"/>
                <a:ea typeface="Calibri"/>
                <a:cs typeface="Times New Roman"/>
              </a:rPr>
              <a:t>Contexte de développement</a:t>
            </a:r>
            <a:r>
              <a:rPr lang="en-US" sz="1600" b="0" i="0" u="none" strike="noStrike" dirty="0">
                <a:highlight>
                  <a:srgbClr val="000000">
                    <a:alpha val="0"/>
                  </a:srgbClr>
                </a:highlight>
                <a:latin typeface="Arial"/>
                <a:ea typeface="Calibri"/>
                <a:cs typeface="Times New Roman"/>
              </a:rPr>
              <a:t>. Le Mozambique est encore un pays à faible revenu (PFR) malgré ses vastes ressources naturelles et sa situation géographique favorable. </a:t>
            </a:r>
            <a:r>
              <a:rPr lang="en-US" sz="1600" b="1" i="0" u="none" strike="noStrike" dirty="0">
                <a:highlight>
                  <a:srgbClr val="000000">
                    <a:alpha val="0"/>
                  </a:srgbClr>
                </a:highlight>
                <a:latin typeface="Arial"/>
                <a:ea typeface="Calibri"/>
                <a:cs typeface="Times New Roman"/>
              </a:rPr>
              <a:t>La majeure partie de la population vit dans une pauvreté extrême, les inégalités sont élevées</a:t>
            </a:r>
            <a:r>
              <a:rPr lang="en-US" sz="1600" b="0" i="0" u="none" strike="noStrike" dirty="0">
                <a:highlight>
                  <a:srgbClr val="000000">
                    <a:alpha val="0"/>
                  </a:srgbClr>
                </a:highlight>
                <a:latin typeface="Arial"/>
                <a:ea typeface="Calibri"/>
                <a:cs typeface="Times New Roman"/>
              </a:rPr>
              <a:t>, l'Indice de capital humain figure parmi les plus bas au monde et les taux de fécondité sont comparativement élevés. </a:t>
            </a:r>
          </a:p>
          <a:p>
            <a:pPr lvl="3" algn="just">
              <a:lnSpc>
                <a:spcPct val="100000"/>
              </a:lnSpc>
              <a:spcBef>
                <a:spcPct val="0"/>
              </a:spcBef>
              <a:spcAft>
                <a:spcPts val="1200"/>
              </a:spcAft>
            </a:pPr>
            <a:r>
              <a:rPr lang="en-US" sz="1600" dirty="0">
                <a:highlight>
                  <a:srgbClr val="000000">
                    <a:alpha val="0"/>
                  </a:srgbClr>
                </a:highlight>
                <a:latin typeface="Arial"/>
                <a:cs typeface="Times New Roman"/>
              </a:rPr>
              <a:t>Ces défis de développement sont aggravés par la fragilité structurelle et une forte exposition aux risques climatiques et sanitaires — notamment deux cyclones majeurs en 2019 et la pandémie de Covid-19.</a:t>
            </a:r>
          </a:p>
          <a:p>
            <a:pPr marL="342900" indent="-342900" algn="just" rtl="0">
              <a:lnSpc>
                <a:spcPct val="100000"/>
              </a:lnSpc>
              <a:spcBef>
                <a:spcPct val="0"/>
              </a:spcBef>
              <a:spcAft>
                <a:spcPts val="600"/>
              </a:spcAft>
              <a:buFont typeface="+mj-lt"/>
              <a:buAutoNum type="arabicPeriod"/>
            </a:pPr>
            <a:r>
              <a:rPr lang="en-US" sz="1600" b="1" i="0" u="none" strike="noStrike" dirty="0">
                <a:highlight>
                  <a:srgbClr val="000000">
                    <a:alpha val="0"/>
                  </a:srgbClr>
                </a:highlight>
                <a:latin typeface="Arial"/>
                <a:ea typeface="Calibri"/>
                <a:cs typeface="Times New Roman"/>
              </a:rPr>
              <a:t>Fragilité structurelle. </a:t>
            </a:r>
            <a:r>
              <a:rPr lang="en-US" sz="1600" b="0" i="0" u="none" strike="noStrike" dirty="0">
                <a:highlight>
                  <a:srgbClr val="000000">
                    <a:alpha val="0"/>
                  </a:srgbClr>
                </a:highlight>
                <a:latin typeface="Arial"/>
                <a:ea typeface="Calibri"/>
                <a:cs typeface="Times New Roman"/>
              </a:rPr>
              <a:t>La fragilité profondément enracinée du Mozambique découle de la faiblesse de ses institutions, qui remonte à des causes historiques et géographiques, et s'est manifestée dans des cycles récurrents de conflits et de violence. Les inégalités et la pauvreté renforcent la fragilité et en sont renforcées. L'insurrection au Cabo Delgado est la manifestation la plus récente de cette fragilité.</a:t>
            </a:r>
            <a:endParaRPr lang="pt" sz="1600" b="0" i="0" u="none" strike="noStrike" dirty="0">
              <a:highlight>
                <a:srgbClr val="000000">
                  <a:alpha val="0"/>
                </a:srgbClr>
              </a:highlight>
              <a:latin typeface="Arial"/>
              <a:ea typeface="Calibri"/>
              <a:cs typeface="Times New Roman"/>
            </a:endParaRPr>
          </a:p>
          <a:p>
            <a:pPr marL="0" indent="0" algn="just">
              <a:lnSpc>
                <a:spcPct val="100000"/>
              </a:lnSpc>
              <a:spcBef>
                <a:spcPct val="0"/>
              </a:spcBef>
              <a:spcAft>
                <a:spcPts val="600"/>
              </a:spcAft>
              <a:buNone/>
            </a:pPr>
            <a:endParaRPr lang="en-US" sz="1100" dirty="0">
              <a:latin typeface="+mn-lt"/>
              <a:ea typeface="Calibri" panose="020F0502020204030204" pitchFamily="34" charset="0"/>
              <a:cs typeface="Times New Roman"/>
            </a:endParaRPr>
          </a:p>
        </p:txBody>
      </p:sp>
      <p:grpSp>
        <p:nvGrpSpPr>
          <p:cNvPr id="5" name="Group 4">
            <a:extLst>
              <a:ext uri="{FF2B5EF4-FFF2-40B4-BE49-F238E27FC236}">
                <a16:creationId xmlns:a16="http://schemas.microsoft.com/office/drawing/2014/main" id="{4F3625D2-207D-4F4B-B47F-3D62A9AD09EB}"/>
              </a:ext>
            </a:extLst>
          </p:cNvPr>
          <p:cNvGrpSpPr/>
          <p:nvPr/>
        </p:nvGrpSpPr>
        <p:grpSpPr>
          <a:xfrm>
            <a:off x="8218978" y="3597004"/>
            <a:ext cx="3588997" cy="2886437"/>
            <a:chOff x="6541789" y="2100492"/>
            <a:chExt cx="5157813" cy="3995469"/>
          </a:xfrm>
        </p:grpSpPr>
        <p:pic>
          <p:nvPicPr>
            <p:cNvPr id="6" name="Picture 5">
              <a:extLst>
                <a:ext uri="{FF2B5EF4-FFF2-40B4-BE49-F238E27FC236}">
                  <a16:creationId xmlns:a16="http://schemas.microsoft.com/office/drawing/2014/main" id="{EF694F57-C4AC-4B52-8F4B-F21947EC0700}"/>
                </a:ext>
              </a:extLst>
            </p:cNvPr>
            <p:cNvPicPr>
              <a:picLocks noChangeAspect="1"/>
            </p:cNvPicPr>
            <p:nvPr/>
          </p:nvPicPr>
          <p:blipFill>
            <a:blip r:embed="rId2">
              <a:duotone>
                <a:schemeClr val="accent1">
                  <a:shade val="45000"/>
                  <a:satMod val="135000"/>
                </a:schemeClr>
                <a:prstClr val="white"/>
              </a:duotone>
            </a:blip>
            <a:stretch>
              <a:fillRect/>
            </a:stretch>
          </p:blipFill>
          <p:spPr>
            <a:xfrm>
              <a:off x="6541789" y="2100492"/>
              <a:ext cx="5065909" cy="3558448"/>
            </a:xfrm>
            <a:prstGeom prst="rect">
              <a:avLst/>
            </a:prstGeom>
          </p:spPr>
        </p:pic>
        <p:sp>
          <p:nvSpPr>
            <p:cNvPr id="8" name="TextBox 7">
              <a:extLst>
                <a:ext uri="{FF2B5EF4-FFF2-40B4-BE49-F238E27FC236}">
                  <a16:creationId xmlns:a16="http://schemas.microsoft.com/office/drawing/2014/main" id="{79A74CF3-3D80-4298-B0F9-7653E146BF38}"/>
                </a:ext>
              </a:extLst>
            </p:cNvPr>
            <p:cNvSpPr txBox="1"/>
            <p:nvPr/>
          </p:nvSpPr>
          <p:spPr>
            <a:xfrm>
              <a:off x="6672238" y="5751940"/>
              <a:ext cx="5027364" cy="344021"/>
            </a:xfrm>
            <a:prstGeom prst="rect">
              <a:avLst/>
            </a:prstGeom>
            <a:noFill/>
          </p:spPr>
          <p:txBody>
            <a:bodyPr wrap="square">
              <a:spAutoFit/>
            </a:bodyPr>
            <a:lstStyle/>
            <a:p>
              <a:pPr marL="0" marR="0" algn="just">
                <a:lnSpc>
                  <a:spcPct val="106000"/>
                </a:lnSpc>
                <a:spcBef>
                  <a:spcPts val="0"/>
                </a:spcBef>
                <a:spcAft>
                  <a:spcPts val="0"/>
                </a:spcAft>
              </a:pP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p:txBody>
        </p:sp>
      </p:grpSp>
      <p:graphicFrame>
        <p:nvGraphicFramePr>
          <p:cNvPr id="9" name="Chart 8">
            <a:extLst>
              <a:ext uri="{FF2B5EF4-FFF2-40B4-BE49-F238E27FC236}">
                <a16:creationId xmlns:a16="http://schemas.microsoft.com/office/drawing/2014/main" id="{410C8409-F0C1-4A06-B33B-032AB030B33D}"/>
              </a:ext>
            </a:extLst>
          </p:cNvPr>
          <p:cNvGraphicFramePr>
            <a:graphicFrameLocks/>
          </p:cNvGraphicFramePr>
          <p:nvPr>
            <p:extLst>
              <p:ext uri="{D42A27DB-BD31-4B8C-83A1-F6EECF244321}">
                <p14:modId xmlns:p14="http://schemas.microsoft.com/office/powerpoint/2010/main" val="3770359055"/>
              </p:ext>
            </p:extLst>
          </p:nvPr>
        </p:nvGraphicFramePr>
        <p:xfrm>
          <a:off x="4512313" y="3690055"/>
          <a:ext cx="3687713" cy="264202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C72742A9-AFDE-48B8-85B0-5CF91FC7EC7A}"/>
              </a:ext>
            </a:extLst>
          </p:cNvPr>
          <p:cNvGraphicFramePr>
            <a:graphicFrameLocks/>
          </p:cNvGraphicFramePr>
          <p:nvPr>
            <p:extLst>
              <p:ext uri="{D42A27DB-BD31-4B8C-83A1-F6EECF244321}">
                <p14:modId xmlns:p14="http://schemas.microsoft.com/office/powerpoint/2010/main" val="2896171518"/>
              </p:ext>
            </p:extLst>
          </p:nvPr>
        </p:nvGraphicFramePr>
        <p:xfrm>
          <a:off x="154086" y="3536403"/>
          <a:ext cx="4134513" cy="2753250"/>
        </p:xfrm>
        <a:graphic>
          <a:graphicData uri="http://schemas.openxmlformats.org/drawingml/2006/chart">
            <c:chart xmlns:c="http://schemas.openxmlformats.org/drawingml/2006/chart" xmlns:r="http://schemas.openxmlformats.org/officeDocument/2006/relationships" r:id="rId4"/>
          </a:graphicData>
        </a:graphic>
      </p:graphicFrame>
      <p:sp>
        <p:nvSpPr>
          <p:cNvPr id="12" name="Footer Placeholder 11">
            <a:extLst>
              <a:ext uri="{FF2B5EF4-FFF2-40B4-BE49-F238E27FC236}">
                <a16:creationId xmlns:a16="http://schemas.microsoft.com/office/drawing/2014/main" id="{6EA1F737-8F98-48C5-8192-5697092CD6C1}"/>
              </a:ext>
            </a:extLst>
          </p:cNvPr>
          <p:cNvSpPr>
            <a:spLocks noGrp="1"/>
          </p:cNvSpPr>
          <p:nvPr>
            <p:ph type="ftr" sz="quarter" idx="11"/>
          </p:nvPr>
        </p:nvSpPr>
        <p:spPr/>
        <p:txBody>
          <a:bodyPr/>
          <a:lstStyle/>
          <a:p>
            <a:r>
              <a:rPr lang="en-US"/>
              <a:t>CPP 2023-2027. Version publique. Maputo, mai 2022.</a:t>
            </a:r>
            <a:endParaRPr lang="en-US" dirty="0"/>
          </a:p>
        </p:txBody>
      </p:sp>
      <p:sp>
        <p:nvSpPr>
          <p:cNvPr id="13" name="Slide Number Placeholder 12">
            <a:extLst>
              <a:ext uri="{FF2B5EF4-FFF2-40B4-BE49-F238E27FC236}">
                <a16:creationId xmlns:a16="http://schemas.microsoft.com/office/drawing/2014/main" id="{1EFCE3CB-231A-40FF-B856-B69577BA0C88}"/>
              </a:ext>
            </a:extLst>
          </p:cNvPr>
          <p:cNvSpPr>
            <a:spLocks noGrp="1"/>
          </p:cNvSpPr>
          <p:nvPr>
            <p:ph type="sldNum" sz="quarter" idx="12"/>
          </p:nvPr>
        </p:nvSpPr>
        <p:spPr/>
        <p:txBody>
          <a:bodyPr/>
          <a:lstStyle/>
          <a:p>
            <a:fld id="{B8473C9A-9E91-4025-B5E2-D7B202510636}" type="slidenum">
              <a:rPr lang="en-US" smtClean="0"/>
              <a:t>5</a:t>
            </a:fld>
            <a:endParaRPr lang="en-US" dirty="0"/>
          </a:p>
        </p:txBody>
      </p:sp>
      <p:pic>
        <p:nvPicPr>
          <p:cNvPr id="10" name="Picture 9">
            <a:extLst>
              <a:ext uri="{FF2B5EF4-FFF2-40B4-BE49-F238E27FC236}">
                <a16:creationId xmlns:a16="http://schemas.microsoft.com/office/drawing/2014/main" id="{E74DA3C4-F2F7-4345-8A1B-D7D3601FB5A9}"/>
              </a:ext>
            </a:extLst>
          </p:cNvPr>
          <p:cNvPicPr>
            <a:picLocks noChangeAspect="1"/>
          </p:cNvPicPr>
          <p:nvPr/>
        </p:nvPicPr>
        <p:blipFill>
          <a:blip r:embed="rId5"/>
          <a:stretch>
            <a:fillRect/>
          </a:stretch>
        </p:blipFill>
        <p:spPr>
          <a:xfrm>
            <a:off x="462789" y="262138"/>
            <a:ext cx="1995792" cy="397658"/>
          </a:xfrm>
          <a:prstGeom prst="rect">
            <a:avLst/>
          </a:prstGeom>
        </p:spPr>
      </p:pic>
    </p:spTree>
    <p:extLst>
      <p:ext uri="{BB962C8B-B14F-4D97-AF65-F5344CB8AC3E}">
        <p14:creationId xmlns:p14="http://schemas.microsoft.com/office/powerpoint/2010/main" val="27943453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DF05D-5034-4DC6-A334-0DEA65804A79}"/>
              </a:ext>
            </a:extLst>
          </p:cNvPr>
          <p:cNvSpPr>
            <a:spLocks noGrp="1"/>
          </p:cNvSpPr>
          <p:nvPr>
            <p:ph type="title"/>
          </p:nvPr>
        </p:nvSpPr>
        <p:spPr>
          <a:xfrm>
            <a:off x="2531857" y="74189"/>
            <a:ext cx="10515600" cy="720725"/>
          </a:xfrm>
        </p:spPr>
        <p:txBody>
          <a:bodyPr>
            <a:normAutofit/>
          </a:bodyPr>
          <a:lstStyle/>
          <a:p>
            <a:r>
              <a:rPr lang="pt" sz="2400" b="1" i="0" u="none" strike="noStrike" dirty="0">
                <a:highlight>
                  <a:srgbClr val="000000">
                    <a:alpha val="0"/>
                  </a:srgbClr>
                </a:highlight>
                <a:latin typeface="Arial"/>
              </a:rPr>
              <a:t>Contexte pays : Défis et opportunités de développement</a:t>
            </a:r>
            <a:endParaRPr lang="en-US" sz="2400" dirty="0"/>
          </a:p>
        </p:txBody>
      </p:sp>
      <p:sp>
        <p:nvSpPr>
          <p:cNvPr id="3" name="Content Placeholder 2">
            <a:extLst>
              <a:ext uri="{FF2B5EF4-FFF2-40B4-BE49-F238E27FC236}">
                <a16:creationId xmlns:a16="http://schemas.microsoft.com/office/drawing/2014/main" id="{281EBEE0-492E-419C-8FAD-FE8529FC3CD2}"/>
              </a:ext>
            </a:extLst>
          </p:cNvPr>
          <p:cNvSpPr>
            <a:spLocks noGrp="1"/>
          </p:cNvSpPr>
          <p:nvPr>
            <p:ph idx="1"/>
          </p:nvPr>
        </p:nvSpPr>
        <p:spPr>
          <a:xfrm>
            <a:off x="466725" y="928120"/>
            <a:ext cx="5343525" cy="2062730"/>
          </a:xfrm>
        </p:spPr>
        <p:txBody>
          <a:bodyPr>
            <a:normAutofit/>
          </a:bodyPr>
          <a:lstStyle/>
          <a:p>
            <a:pPr marL="342900" indent="-342900" algn="just">
              <a:lnSpc>
                <a:spcPct val="100000"/>
              </a:lnSpc>
              <a:spcBef>
                <a:spcPts val="600"/>
              </a:spcBef>
              <a:spcAft>
                <a:spcPts val="600"/>
              </a:spcAft>
              <a:buFont typeface="+mj-lt"/>
              <a:buAutoNum type="arabicPeriod" startAt="3"/>
            </a:pPr>
            <a:r>
              <a:rPr lang="en-US" sz="1500" b="1" dirty="0">
                <a:latin typeface="Arial"/>
                <a:cs typeface="Times New Roman"/>
              </a:rPr>
              <a:t>Transformation économique et spatiale très limitée au cours des dernières décennies</a:t>
            </a:r>
            <a:r>
              <a:rPr lang="en-US" sz="1500" dirty="0">
                <a:latin typeface="Arial"/>
                <a:cs typeface="Times New Roman"/>
              </a:rPr>
              <a:t>. Jusqu'en 2019, environ 70,1 % de la main-d'œuvre travaillait encore dans l'agriculture (de subsistance). La transformation spatiale s'est accélérée récemment, mais environ 60 % de la population vit encore dans les zones rurales – ce qui indique un processus de migration lent malgré l'écart de revenu rural-urbain significatif.</a:t>
            </a:r>
            <a:endParaRPr lang="pt-BR" sz="1500" i="0" u="none" strike="noStrike" dirty="0">
              <a:latin typeface="Arial"/>
              <a:ea typeface="Calibri"/>
              <a:cs typeface="Times New Roman"/>
            </a:endParaRPr>
          </a:p>
          <a:p>
            <a:pPr marL="342900" indent="-342900" algn="just">
              <a:lnSpc>
                <a:spcPct val="100000"/>
              </a:lnSpc>
              <a:spcBef>
                <a:spcPts val="600"/>
              </a:spcBef>
              <a:spcAft>
                <a:spcPts val="600"/>
              </a:spcAft>
              <a:buFont typeface="+mj-lt"/>
              <a:buAutoNum type="arabicPeriod" startAt="3"/>
            </a:pPr>
            <a:endParaRPr lang="pt-BR" sz="1500" b="1" dirty="0">
              <a:latin typeface="Arial"/>
              <a:ea typeface="Calibri"/>
              <a:cs typeface="Times New Roman"/>
            </a:endParaRPr>
          </a:p>
        </p:txBody>
      </p:sp>
      <p:graphicFrame>
        <p:nvGraphicFramePr>
          <p:cNvPr id="5" name="Chart 4">
            <a:extLst>
              <a:ext uri="{FF2B5EF4-FFF2-40B4-BE49-F238E27FC236}">
                <a16:creationId xmlns:a16="http://schemas.microsoft.com/office/drawing/2014/main" id="{C9A68FB0-9030-48F4-90BB-6738D978B96B}"/>
              </a:ext>
            </a:extLst>
          </p:cNvPr>
          <p:cNvGraphicFramePr>
            <a:graphicFrameLocks/>
          </p:cNvGraphicFramePr>
          <p:nvPr>
            <p:extLst>
              <p:ext uri="{D42A27DB-BD31-4B8C-83A1-F6EECF244321}">
                <p14:modId xmlns:p14="http://schemas.microsoft.com/office/powerpoint/2010/main" val="1471947526"/>
              </p:ext>
            </p:extLst>
          </p:nvPr>
        </p:nvGraphicFramePr>
        <p:xfrm>
          <a:off x="3138487" y="2623264"/>
          <a:ext cx="2331720" cy="240055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ontent Placeholder 3">
            <a:extLst>
              <a:ext uri="{FF2B5EF4-FFF2-40B4-BE49-F238E27FC236}">
                <a16:creationId xmlns:a16="http://schemas.microsoft.com/office/drawing/2014/main" id="{589B26A9-2176-422F-B50B-B5ACA70F2700}"/>
              </a:ext>
            </a:extLst>
          </p:cNvPr>
          <p:cNvGraphicFramePr>
            <a:graphicFrameLocks/>
          </p:cNvGraphicFramePr>
          <p:nvPr>
            <p:extLst>
              <p:ext uri="{D42A27DB-BD31-4B8C-83A1-F6EECF244321}">
                <p14:modId xmlns:p14="http://schemas.microsoft.com/office/powerpoint/2010/main" val="1271775604"/>
              </p:ext>
            </p:extLst>
          </p:nvPr>
        </p:nvGraphicFramePr>
        <p:xfrm>
          <a:off x="690353" y="4819200"/>
          <a:ext cx="2582837" cy="183155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Chart 6">
            <a:extLst>
              <a:ext uri="{FF2B5EF4-FFF2-40B4-BE49-F238E27FC236}">
                <a16:creationId xmlns:a16="http://schemas.microsoft.com/office/drawing/2014/main" id="{CD771C82-20D9-438B-98BF-9F1AA3BE667C}"/>
              </a:ext>
            </a:extLst>
          </p:cNvPr>
          <p:cNvGraphicFramePr>
            <a:graphicFrameLocks/>
          </p:cNvGraphicFramePr>
          <p:nvPr>
            <p:extLst>
              <p:ext uri="{D42A27DB-BD31-4B8C-83A1-F6EECF244321}">
                <p14:modId xmlns:p14="http://schemas.microsoft.com/office/powerpoint/2010/main" val="2249426108"/>
              </p:ext>
            </p:extLst>
          </p:nvPr>
        </p:nvGraphicFramePr>
        <p:xfrm>
          <a:off x="653430" y="2724477"/>
          <a:ext cx="2334010" cy="2210157"/>
        </p:xfrm>
        <a:graphic>
          <a:graphicData uri="http://schemas.openxmlformats.org/drawingml/2006/chart">
            <c:chart xmlns:c="http://schemas.openxmlformats.org/drawingml/2006/chart" xmlns:r="http://schemas.openxmlformats.org/officeDocument/2006/relationships" r:id="rId5"/>
          </a:graphicData>
        </a:graphic>
      </p:graphicFrame>
      <p:sp>
        <p:nvSpPr>
          <p:cNvPr id="8" name="Content Placeholder 2">
            <a:extLst>
              <a:ext uri="{FF2B5EF4-FFF2-40B4-BE49-F238E27FC236}">
                <a16:creationId xmlns:a16="http://schemas.microsoft.com/office/drawing/2014/main" id="{D4AF8D4F-8551-458C-8226-39194518EAB1}"/>
              </a:ext>
            </a:extLst>
          </p:cNvPr>
          <p:cNvSpPr txBox="1">
            <a:spLocks/>
          </p:cNvSpPr>
          <p:nvPr/>
        </p:nvSpPr>
        <p:spPr>
          <a:xfrm>
            <a:off x="6096000" y="928120"/>
            <a:ext cx="53435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1400" kern="1200">
                <a:solidFill>
                  <a:schemeClr val="tx1"/>
                </a:solidFill>
                <a:latin typeface="Arial" panose="020B0604020202020204" pitchFamily="34" charset="0"/>
                <a:ea typeface="+mn-ea"/>
                <a:cs typeface="Arial" panose="020B0604020202020204" pitchFamily="34" charset="0"/>
              </a:defRPr>
            </a:lvl1pPr>
            <a:lvl2pPr marL="2286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2286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0000"/>
              </a:lnSpc>
              <a:spcBef>
                <a:spcPts val="600"/>
              </a:spcBef>
              <a:spcAft>
                <a:spcPts val="600"/>
              </a:spcAft>
              <a:buFont typeface="+mj-lt"/>
              <a:buAutoNum type="arabicPeriod" startAt="4"/>
            </a:pPr>
            <a:r>
              <a:rPr lang="en-US" sz="1500" b="1" dirty="0">
                <a:highlight>
                  <a:srgbClr val="000000">
                    <a:alpha val="0"/>
                  </a:srgbClr>
                </a:highlight>
                <a:latin typeface="Arial"/>
                <a:ea typeface="Calibri"/>
                <a:cs typeface="Times New Roman"/>
              </a:rPr>
              <a:t>L'avènement du gaz naturel offre une opportunité de transformation économique, mais celle-ci ne sera pas automatique. </a:t>
            </a:r>
            <a:r>
              <a:rPr lang="en-US" sz="1500" dirty="0">
                <a:highlight>
                  <a:srgbClr val="000000">
                    <a:alpha val="0"/>
                  </a:srgbClr>
                </a:highlight>
                <a:latin typeface="Arial"/>
                <a:ea typeface="Calibri"/>
                <a:cs typeface="Times New Roman"/>
              </a:rPr>
              <a:t>Le PIB réel pourrait être 1,63 fois plus élevé d'ici 2033 dans un scénario optimiste, et même avec le retard dans la mise en œuvre du projet Mamba, le PIB réel serait 60 % plus élevé que sans production de GNL. Cela porterait le PIB par habitant à près de USD 1 000 d'ici 2033 (contre USD 485 estimé pour 2020).</a:t>
            </a:r>
            <a:endParaRPr lang="pt-BR" sz="1500" dirty="0"/>
          </a:p>
        </p:txBody>
      </p:sp>
      <p:graphicFrame>
        <p:nvGraphicFramePr>
          <p:cNvPr id="9" name="Chart 8">
            <a:extLst>
              <a:ext uri="{FF2B5EF4-FFF2-40B4-BE49-F238E27FC236}">
                <a16:creationId xmlns:a16="http://schemas.microsoft.com/office/drawing/2014/main" id="{B945B5D1-6043-4EC3-814D-734603086A64}"/>
              </a:ext>
            </a:extLst>
          </p:cNvPr>
          <p:cNvGraphicFramePr/>
          <p:nvPr>
            <p:extLst>
              <p:ext uri="{D42A27DB-BD31-4B8C-83A1-F6EECF244321}">
                <p14:modId xmlns:p14="http://schemas.microsoft.com/office/powerpoint/2010/main" val="3449040667"/>
              </p:ext>
            </p:extLst>
          </p:nvPr>
        </p:nvGraphicFramePr>
        <p:xfrm>
          <a:off x="6575947" y="3161433"/>
          <a:ext cx="4601247" cy="3099517"/>
        </p:xfrm>
        <a:graphic>
          <a:graphicData uri="http://schemas.openxmlformats.org/drawingml/2006/chart">
            <c:chart xmlns:c="http://schemas.openxmlformats.org/drawingml/2006/chart" xmlns:r="http://schemas.openxmlformats.org/officeDocument/2006/relationships" r:id="rId6"/>
          </a:graphicData>
        </a:graphic>
      </p:graphicFrame>
      <p:sp>
        <p:nvSpPr>
          <p:cNvPr id="12" name="Footer Placeholder 11">
            <a:extLst>
              <a:ext uri="{FF2B5EF4-FFF2-40B4-BE49-F238E27FC236}">
                <a16:creationId xmlns:a16="http://schemas.microsoft.com/office/drawing/2014/main" id="{73A9F09F-4CEE-491F-BBC7-7BD60569AFEF}"/>
              </a:ext>
            </a:extLst>
          </p:cNvPr>
          <p:cNvSpPr>
            <a:spLocks noGrp="1"/>
          </p:cNvSpPr>
          <p:nvPr>
            <p:ph type="ftr" sz="quarter" idx="11"/>
          </p:nvPr>
        </p:nvSpPr>
        <p:spPr/>
        <p:txBody>
          <a:bodyPr/>
          <a:lstStyle/>
          <a:p>
            <a:r>
              <a:rPr lang="en-US"/>
              <a:t>CPP 2023-2027. Version publique. Maputo, mai 2022.</a:t>
            </a:r>
            <a:endParaRPr lang="en-US" dirty="0"/>
          </a:p>
        </p:txBody>
      </p:sp>
      <p:sp>
        <p:nvSpPr>
          <p:cNvPr id="13" name="Slide Number Placeholder 12">
            <a:extLst>
              <a:ext uri="{FF2B5EF4-FFF2-40B4-BE49-F238E27FC236}">
                <a16:creationId xmlns:a16="http://schemas.microsoft.com/office/drawing/2014/main" id="{2EC9E5E6-1F15-44BC-9EAF-EF7E1CD44E46}"/>
              </a:ext>
            </a:extLst>
          </p:cNvPr>
          <p:cNvSpPr>
            <a:spLocks noGrp="1"/>
          </p:cNvSpPr>
          <p:nvPr>
            <p:ph type="sldNum" sz="quarter" idx="12"/>
          </p:nvPr>
        </p:nvSpPr>
        <p:spPr/>
        <p:txBody>
          <a:bodyPr/>
          <a:lstStyle/>
          <a:p>
            <a:fld id="{B8473C9A-9E91-4025-B5E2-D7B202510636}" type="slidenum">
              <a:rPr lang="en-US" smtClean="0"/>
              <a:t>6</a:t>
            </a:fld>
            <a:endParaRPr lang="en-US" dirty="0"/>
          </a:p>
        </p:txBody>
      </p:sp>
      <p:pic>
        <p:nvPicPr>
          <p:cNvPr id="4" name="Picture 3">
            <a:extLst>
              <a:ext uri="{FF2B5EF4-FFF2-40B4-BE49-F238E27FC236}">
                <a16:creationId xmlns:a16="http://schemas.microsoft.com/office/drawing/2014/main" id="{E0A0AE54-87D8-42E6-8DE7-271AD90217CA}"/>
              </a:ext>
            </a:extLst>
          </p:cNvPr>
          <p:cNvPicPr>
            <a:picLocks noChangeAspect="1"/>
          </p:cNvPicPr>
          <p:nvPr/>
        </p:nvPicPr>
        <p:blipFill>
          <a:blip r:embed="rId7"/>
          <a:stretch>
            <a:fillRect/>
          </a:stretch>
        </p:blipFill>
        <p:spPr>
          <a:xfrm>
            <a:off x="82631" y="202883"/>
            <a:ext cx="2316681" cy="463336"/>
          </a:xfrm>
          <a:prstGeom prst="rect">
            <a:avLst/>
          </a:prstGeom>
        </p:spPr>
      </p:pic>
    </p:spTree>
    <p:extLst>
      <p:ext uri="{BB962C8B-B14F-4D97-AF65-F5344CB8AC3E}">
        <p14:creationId xmlns:p14="http://schemas.microsoft.com/office/powerpoint/2010/main" val="157084141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4B562-863E-411E-8C8D-327DA3E88280}"/>
              </a:ext>
            </a:extLst>
          </p:cNvPr>
          <p:cNvSpPr>
            <a:spLocks noGrp="1"/>
          </p:cNvSpPr>
          <p:nvPr>
            <p:ph type="title"/>
          </p:nvPr>
        </p:nvSpPr>
        <p:spPr>
          <a:xfrm>
            <a:off x="2550928" y="102307"/>
            <a:ext cx="11053131" cy="547685"/>
          </a:xfrm>
        </p:spPr>
        <p:txBody>
          <a:bodyPr>
            <a:noAutofit/>
          </a:bodyPr>
          <a:lstStyle/>
          <a:p>
            <a:pPr rtl="0"/>
            <a:r>
              <a:rPr lang="en-US" sz="2400" b="1" i="0" u="none" strike="noStrike" dirty="0">
                <a:highlight>
                  <a:srgbClr val="000000">
                    <a:alpha val="0"/>
                  </a:srgbClr>
                </a:highlight>
                <a:latin typeface="Arial"/>
              </a:rPr>
              <a:t>Contexte pays : Défis et opportunités de développement</a:t>
            </a:r>
            <a:endParaRPr lang="en-US" sz="2400" dirty="0"/>
          </a:p>
        </p:txBody>
      </p:sp>
      <p:sp>
        <p:nvSpPr>
          <p:cNvPr id="7" name="Content Placeholder 6">
            <a:extLst>
              <a:ext uri="{FF2B5EF4-FFF2-40B4-BE49-F238E27FC236}">
                <a16:creationId xmlns:a16="http://schemas.microsoft.com/office/drawing/2014/main" id="{FF5C214D-5EAE-4BCF-B630-4930BE12178E}"/>
              </a:ext>
            </a:extLst>
          </p:cNvPr>
          <p:cNvSpPr>
            <a:spLocks noGrp="1"/>
          </p:cNvSpPr>
          <p:nvPr>
            <p:ph idx="1"/>
          </p:nvPr>
        </p:nvSpPr>
        <p:spPr>
          <a:xfrm>
            <a:off x="298515" y="717938"/>
            <a:ext cx="11594969" cy="5570466"/>
          </a:xfrm>
        </p:spPr>
        <p:txBody>
          <a:bodyPr>
            <a:noAutofit/>
          </a:bodyPr>
          <a:lstStyle/>
          <a:p>
            <a:pPr marL="342900" indent="-342900" algn="just" rtl="0">
              <a:lnSpc>
                <a:spcPct val="100000"/>
              </a:lnSpc>
              <a:spcBef>
                <a:spcPct val="0"/>
              </a:spcBef>
              <a:spcAft>
                <a:spcPts val="600"/>
              </a:spcAft>
              <a:buFont typeface="+mj-lt"/>
              <a:buAutoNum type="arabicPeriod" startAt="5"/>
            </a:pPr>
            <a:r>
              <a:rPr lang="en-US" sz="1600" b="1" i="0" u="none" strike="noStrike" dirty="0">
                <a:highlight>
                  <a:srgbClr val="000000">
                    <a:alpha val="0"/>
                  </a:srgbClr>
                </a:highlight>
                <a:latin typeface="Arial"/>
                <a:ea typeface="Calibri"/>
                <a:cs typeface="Times New Roman"/>
              </a:rPr>
              <a:t>Évolutions économiques récentes. </a:t>
            </a:r>
            <a:r>
              <a:rPr lang="en-US" sz="1600" i="0" u="none" strike="noStrike" dirty="0">
                <a:highlight>
                  <a:srgbClr val="000000">
                    <a:alpha val="0"/>
                  </a:srgbClr>
                </a:highlight>
                <a:latin typeface="Arial"/>
                <a:ea typeface="Calibri"/>
                <a:cs typeface="Times New Roman"/>
              </a:rPr>
              <a:t>La situation macroéconomique à court terme est stable, mais la croissance a stagné ces dernières années. Le pays présente un risque élevé de surendettement, mais la dette est évaluée comme soutenable dans une perspective prospective, en tenant compte des recettes potentielles du GNL.</a:t>
            </a:r>
          </a:p>
          <a:p>
            <a:pPr marL="0" indent="0" algn="just" rtl="0">
              <a:lnSpc>
                <a:spcPct val="100000"/>
              </a:lnSpc>
              <a:spcBef>
                <a:spcPct val="0"/>
              </a:spcBef>
              <a:spcAft>
                <a:spcPts val="600"/>
              </a:spcAft>
              <a:buNone/>
            </a:pPr>
            <a:r>
              <a:rPr lang="en-US" sz="1600" b="1" i="0" u="none" strike="noStrike" dirty="0">
                <a:highlight>
                  <a:srgbClr val="000000">
                    <a:alpha val="0"/>
                  </a:srgbClr>
                </a:highlight>
                <a:latin typeface="Arial"/>
                <a:ea typeface="Calibri"/>
                <a:cs typeface="Times New Roman"/>
              </a:rPr>
              <a:t>	Les perspectives de croissance à moyen et long terme sont positives mais soumises à des risques considérables</a:t>
            </a:r>
            <a:r>
              <a:rPr lang="en-US" sz="1600" i="0" u="none" strike="noStrike" dirty="0">
                <a:highlight>
                  <a:srgbClr val="000000">
                    <a:alpha val="0"/>
                  </a:srgbClr>
                </a:highlight>
                <a:latin typeface="Arial"/>
                <a:ea typeface="Calibri"/>
                <a:cs typeface="Times New Roman"/>
              </a:rPr>
              <a:t>, notamment une nouvelle 	vague de Covid-19 ; de nouveaux chocs climatiques, la résurgence des conflits dans le Nord et les effets de la guerre en 	Ukraine.</a:t>
            </a:r>
          </a:p>
          <a:p>
            <a:pPr marL="0" indent="0" algn="just" rtl="0">
              <a:lnSpc>
                <a:spcPct val="100000"/>
              </a:lnSpc>
              <a:spcBef>
                <a:spcPct val="0"/>
              </a:spcBef>
              <a:spcAft>
                <a:spcPts val="600"/>
              </a:spcAft>
              <a:buNone/>
            </a:pPr>
            <a:r>
              <a:rPr lang="en-US" sz="1600" i="0" u="none" strike="noStrike" dirty="0">
                <a:highlight>
                  <a:srgbClr val="000000">
                    <a:alpha val="0"/>
                  </a:srgbClr>
                </a:highlight>
                <a:latin typeface="Arial"/>
                <a:ea typeface="Calibri"/>
                <a:cs typeface="Times New Roman"/>
              </a:rPr>
              <a:t>	</a:t>
            </a:r>
            <a:r>
              <a:rPr lang="en-US" sz="1600" b="1" i="0" u="none" strike="noStrike" dirty="0">
                <a:highlight>
                  <a:srgbClr val="000000">
                    <a:alpha val="0"/>
                  </a:srgbClr>
                </a:highlight>
                <a:latin typeface="Arial"/>
                <a:ea typeface="Calibri"/>
                <a:cs typeface="Times New Roman"/>
              </a:rPr>
              <a:t>Les risques macroéconomiques et l'impact sur la pauvreté sont considérables </a:t>
            </a:r>
            <a:r>
              <a:rPr lang="en-US" sz="1600" i="0" u="none" strike="noStrike" dirty="0">
                <a:highlight>
                  <a:srgbClr val="000000">
                    <a:alpha val="0"/>
                  </a:srgbClr>
                </a:highlight>
                <a:latin typeface="Arial"/>
                <a:ea typeface="Calibri"/>
                <a:cs typeface="Times New Roman"/>
              </a:rPr>
              <a:t>(inflation, taux d'intérêt, pression budgétaire et 	augmentation du déficit de la balance commerciale). Les impacts sur la pauvreté seront directs (prix alimentaires et énergétiques) et indirects 	(création d'emplois), mais ils devraient avoir des effets différents selon les zones urbaines et rurales et selon 	les différents niveaux de pauvreté.</a:t>
            </a:r>
            <a:r>
              <a:rPr lang="pt" sz="1600" dirty="0">
                <a:highlight>
                  <a:srgbClr val="000000">
                    <a:alpha val="0"/>
                  </a:srgbClr>
                </a:highlight>
                <a:latin typeface="Arial"/>
                <a:cs typeface="Times New Roman"/>
              </a:rPr>
              <a:t>	</a:t>
            </a:r>
            <a:endParaRPr lang="en-US" sz="1600" dirty="0">
              <a:highlight>
                <a:srgbClr val="000000">
                  <a:alpha val="0"/>
                </a:srgbClr>
              </a:highlight>
              <a:latin typeface="Arial"/>
              <a:cs typeface="Times New Roman"/>
            </a:endParaRPr>
          </a:p>
          <a:p>
            <a:pPr marL="0" indent="0" algn="just">
              <a:lnSpc>
                <a:spcPct val="100000"/>
              </a:lnSpc>
              <a:spcBef>
                <a:spcPct val="0"/>
              </a:spcBef>
              <a:spcAft>
                <a:spcPts val="600"/>
              </a:spcAft>
              <a:buNone/>
            </a:pPr>
            <a:endParaRPr lang="en-US" sz="1100" dirty="0">
              <a:latin typeface="+mn-lt"/>
              <a:ea typeface="Calibri" panose="020F0502020204030204" pitchFamily="34" charset="0"/>
              <a:cs typeface="Times New Roman"/>
            </a:endParaRPr>
          </a:p>
        </p:txBody>
      </p:sp>
      <p:graphicFrame>
        <p:nvGraphicFramePr>
          <p:cNvPr id="5" name="Chart 4">
            <a:extLst>
              <a:ext uri="{FF2B5EF4-FFF2-40B4-BE49-F238E27FC236}">
                <a16:creationId xmlns:a16="http://schemas.microsoft.com/office/drawing/2014/main" id="{3D41A04A-4887-4AD2-B706-BBE0CC35588A}"/>
              </a:ext>
            </a:extLst>
          </p:cNvPr>
          <p:cNvGraphicFramePr>
            <a:graphicFrameLocks/>
          </p:cNvGraphicFramePr>
          <p:nvPr>
            <p:extLst>
              <p:ext uri="{D42A27DB-BD31-4B8C-83A1-F6EECF244321}">
                <p14:modId xmlns:p14="http://schemas.microsoft.com/office/powerpoint/2010/main" val="3151101138"/>
              </p:ext>
            </p:extLst>
          </p:nvPr>
        </p:nvGraphicFramePr>
        <p:xfrm>
          <a:off x="4231634" y="3503171"/>
          <a:ext cx="3474720" cy="263900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F2CE7B03-3D15-45B4-B378-C6A4BB74DD36}"/>
              </a:ext>
            </a:extLst>
          </p:cNvPr>
          <p:cNvGraphicFramePr/>
          <p:nvPr>
            <p:extLst>
              <p:ext uri="{D42A27DB-BD31-4B8C-83A1-F6EECF244321}">
                <p14:modId xmlns:p14="http://schemas.microsoft.com/office/powerpoint/2010/main" val="411118899"/>
              </p:ext>
            </p:extLst>
          </p:nvPr>
        </p:nvGraphicFramePr>
        <p:xfrm>
          <a:off x="442429" y="3641656"/>
          <a:ext cx="3474720" cy="250570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5B25FF02-534B-44B0-808F-BC53F910134C}"/>
              </a:ext>
            </a:extLst>
          </p:cNvPr>
          <p:cNvGraphicFramePr>
            <a:graphicFrameLocks/>
          </p:cNvGraphicFramePr>
          <p:nvPr>
            <p:extLst>
              <p:ext uri="{D42A27DB-BD31-4B8C-83A1-F6EECF244321}">
                <p14:modId xmlns:p14="http://schemas.microsoft.com/office/powerpoint/2010/main" val="1247624014"/>
              </p:ext>
            </p:extLst>
          </p:nvPr>
        </p:nvGraphicFramePr>
        <p:xfrm>
          <a:off x="8274853" y="3429000"/>
          <a:ext cx="3149854" cy="2773496"/>
        </p:xfrm>
        <a:graphic>
          <a:graphicData uri="http://schemas.openxmlformats.org/drawingml/2006/chart">
            <c:chart xmlns:c="http://schemas.openxmlformats.org/drawingml/2006/chart" xmlns:r="http://schemas.openxmlformats.org/officeDocument/2006/relationships" r:id="rId4"/>
          </a:graphicData>
        </a:graphic>
      </p:graphicFrame>
      <p:sp>
        <p:nvSpPr>
          <p:cNvPr id="11" name="Footer Placeholder 10">
            <a:extLst>
              <a:ext uri="{FF2B5EF4-FFF2-40B4-BE49-F238E27FC236}">
                <a16:creationId xmlns:a16="http://schemas.microsoft.com/office/drawing/2014/main" id="{5BAE0BB4-F29E-449A-990E-1183D83444ED}"/>
              </a:ext>
            </a:extLst>
          </p:cNvPr>
          <p:cNvSpPr>
            <a:spLocks noGrp="1"/>
          </p:cNvSpPr>
          <p:nvPr>
            <p:ph type="ftr" sz="quarter" idx="11"/>
          </p:nvPr>
        </p:nvSpPr>
        <p:spPr/>
        <p:txBody>
          <a:bodyPr/>
          <a:lstStyle/>
          <a:p>
            <a:r>
              <a:rPr lang="en-US"/>
              <a:t>CPP 2023-2027. Version publique. Maputo, mai 2022.</a:t>
            </a:r>
            <a:endParaRPr lang="en-US" dirty="0"/>
          </a:p>
        </p:txBody>
      </p:sp>
      <p:sp>
        <p:nvSpPr>
          <p:cNvPr id="12" name="Slide Number Placeholder 11">
            <a:extLst>
              <a:ext uri="{FF2B5EF4-FFF2-40B4-BE49-F238E27FC236}">
                <a16:creationId xmlns:a16="http://schemas.microsoft.com/office/drawing/2014/main" id="{BF81D8F4-0773-4704-86D5-9D8A927D0707}"/>
              </a:ext>
            </a:extLst>
          </p:cNvPr>
          <p:cNvSpPr>
            <a:spLocks noGrp="1"/>
          </p:cNvSpPr>
          <p:nvPr>
            <p:ph type="sldNum" sz="quarter" idx="12"/>
          </p:nvPr>
        </p:nvSpPr>
        <p:spPr/>
        <p:txBody>
          <a:bodyPr/>
          <a:lstStyle/>
          <a:p>
            <a:fld id="{B8473C9A-9E91-4025-B5E2-D7B202510636}" type="slidenum">
              <a:rPr lang="en-US" smtClean="0"/>
              <a:t>7</a:t>
            </a:fld>
            <a:endParaRPr lang="en-US" dirty="0"/>
          </a:p>
        </p:txBody>
      </p:sp>
      <p:pic>
        <p:nvPicPr>
          <p:cNvPr id="3" name="Picture 2">
            <a:extLst>
              <a:ext uri="{FF2B5EF4-FFF2-40B4-BE49-F238E27FC236}">
                <a16:creationId xmlns:a16="http://schemas.microsoft.com/office/drawing/2014/main" id="{17C60831-09AB-497C-8558-6E05650896B0}"/>
              </a:ext>
            </a:extLst>
          </p:cNvPr>
          <p:cNvPicPr>
            <a:picLocks noChangeAspect="1"/>
          </p:cNvPicPr>
          <p:nvPr/>
        </p:nvPicPr>
        <p:blipFill>
          <a:blip r:embed="rId5"/>
          <a:stretch>
            <a:fillRect/>
          </a:stretch>
        </p:blipFill>
        <p:spPr>
          <a:xfrm>
            <a:off x="104401" y="89392"/>
            <a:ext cx="2316681" cy="463336"/>
          </a:xfrm>
          <a:prstGeom prst="rect">
            <a:avLst/>
          </a:prstGeom>
        </p:spPr>
      </p:pic>
    </p:spTree>
    <p:extLst>
      <p:ext uri="{BB962C8B-B14F-4D97-AF65-F5344CB8AC3E}">
        <p14:creationId xmlns:p14="http://schemas.microsoft.com/office/powerpoint/2010/main" val="209823962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A676C-DAD8-44C2-9338-EA1C8E264E64}"/>
              </a:ext>
            </a:extLst>
          </p:cNvPr>
          <p:cNvSpPr>
            <a:spLocks noGrp="1"/>
          </p:cNvSpPr>
          <p:nvPr>
            <p:ph type="title"/>
          </p:nvPr>
        </p:nvSpPr>
        <p:spPr>
          <a:xfrm>
            <a:off x="2689720" y="340605"/>
            <a:ext cx="9094385" cy="701675"/>
          </a:xfrm>
        </p:spPr>
        <p:txBody>
          <a:bodyPr>
            <a:noAutofit/>
          </a:bodyPr>
          <a:lstStyle/>
          <a:p>
            <a:r>
              <a:rPr lang="en-US" b="1" i="0" u="none" strike="noStrike" dirty="0">
                <a:highlight>
                  <a:srgbClr val="000000">
                    <a:alpha val="0"/>
                  </a:srgbClr>
                </a:highlight>
                <a:latin typeface="Arial"/>
              </a:rPr>
              <a:t>Diagnostic systématique pays (DSP) de la Banque mondiale et recommandations - Résumé</a:t>
            </a:r>
            <a:endParaRPr lang="en-US" dirty="0"/>
          </a:p>
        </p:txBody>
      </p:sp>
      <p:sp>
        <p:nvSpPr>
          <p:cNvPr id="3" name="Content Placeholder 2">
            <a:extLst>
              <a:ext uri="{FF2B5EF4-FFF2-40B4-BE49-F238E27FC236}">
                <a16:creationId xmlns:a16="http://schemas.microsoft.com/office/drawing/2014/main" id="{BD23C6FE-0CFA-4E2B-A31B-8491CCC3C067}"/>
              </a:ext>
            </a:extLst>
          </p:cNvPr>
          <p:cNvSpPr>
            <a:spLocks noGrp="1"/>
          </p:cNvSpPr>
          <p:nvPr>
            <p:ph idx="1"/>
          </p:nvPr>
        </p:nvSpPr>
        <p:spPr>
          <a:xfrm>
            <a:off x="536986" y="1259226"/>
            <a:ext cx="5738870" cy="5267955"/>
          </a:xfrm>
        </p:spPr>
        <p:txBody>
          <a:bodyPr>
            <a:noAutofit/>
          </a:bodyPr>
          <a:lstStyle/>
          <a:p>
            <a:pPr algn="just" rtl="0"/>
            <a:r>
              <a:rPr lang="en-US" sz="1700" b="0" i="0" u="none" strike="noStrike" dirty="0">
                <a:highlight>
                  <a:srgbClr val="000000">
                    <a:alpha val="0"/>
                  </a:srgbClr>
                </a:highlight>
                <a:latin typeface="Arial"/>
              </a:rPr>
              <a:t>La mise à jour du DSP du Mozambique a conclu que, dans l'ensemble, les principaux défis du pays demeurent inchangés par rapport au diagnostic précédent (2016).</a:t>
            </a:r>
          </a:p>
          <a:p>
            <a:pPr algn="just" rtl="0"/>
            <a:r>
              <a:rPr lang="en-US" sz="1700" b="0" i="0" u="none" strike="noStrike" dirty="0">
                <a:highlight>
                  <a:srgbClr val="000000">
                    <a:alpha val="0"/>
                  </a:srgbClr>
                </a:highlight>
                <a:latin typeface="Arial"/>
              </a:rPr>
              <a:t>Pour accélérer le développement, le Mozambique doit engager une transition vers une trajectoire de développement plus inclusive, durable et résiliente (GRID).</a:t>
            </a:r>
          </a:p>
          <a:p>
            <a:pPr algn="just" rtl="0"/>
            <a:r>
              <a:rPr lang="en-US" sz="1700" b="1" i="0" u="none" strike="noStrike" dirty="0">
                <a:highlight>
                  <a:srgbClr val="000000">
                    <a:alpha val="0"/>
                  </a:srgbClr>
                </a:highlight>
                <a:latin typeface="Arial"/>
              </a:rPr>
              <a:t>Une croissance accélérée est importante, mais il est nécessaire de revoir le modèle pour le rendre plus inclusif</a:t>
            </a:r>
            <a:r>
              <a:rPr lang="en-US" sz="1700" b="0" i="0" u="none" strike="noStrike" dirty="0">
                <a:highlight>
                  <a:srgbClr val="000000">
                    <a:alpha val="0"/>
                  </a:srgbClr>
                </a:highlight>
                <a:latin typeface="Arial"/>
              </a:rPr>
              <a:t>. Cela nécessitera une transformation structurelle accélérée, des investissements plus importants et de meilleure qualité dans sa population, ainsi qu'une réforme des institutions centrales pour améliorer l'efficacité de l'État et la gouvernance — renforçant la capacité du pays à faire face aux risques climatiques et sanitaires et à la prévention des conflits et de la violence.</a:t>
            </a:r>
          </a:p>
          <a:p>
            <a:pPr algn="just" rtl="0"/>
            <a:r>
              <a:rPr lang="en-US" sz="1700" b="0" i="0" u="none" strike="noStrike" dirty="0">
                <a:highlight>
                  <a:srgbClr val="000000">
                    <a:alpha val="0"/>
                  </a:srgbClr>
                </a:highlight>
                <a:latin typeface="Arial"/>
              </a:rPr>
              <a:t>Les réformes et politiques nécessaires pour atteindre ces objectifs ont été identifiées dans la mise à jour du DSP à partir des études récentes du GBM.</a:t>
            </a:r>
            <a:endParaRPr lang="en-US" sz="1700" dirty="0"/>
          </a:p>
        </p:txBody>
      </p:sp>
      <p:pic>
        <p:nvPicPr>
          <p:cNvPr id="5" name="Content Placeholder 6">
            <a:extLst>
              <a:ext uri="{FF2B5EF4-FFF2-40B4-BE49-F238E27FC236}">
                <a16:creationId xmlns:a16="http://schemas.microsoft.com/office/drawing/2014/main" id="{283EB72C-05AB-42AE-8FAE-631966134AA5}"/>
              </a:ext>
            </a:extLst>
          </p:cNvPr>
          <p:cNvPicPr>
            <a:picLocks/>
          </p:cNvPicPr>
          <p:nvPr/>
        </p:nvPicPr>
        <p:blipFill rotWithShape="1">
          <a:blip r:embed="rId2">
            <a:extLst>
              <a:ext uri="{28A0092B-C50C-407E-A947-70E740481C1C}">
                <a14:useLocalDpi xmlns:a14="http://schemas.microsoft.com/office/drawing/2010/main" val="0"/>
              </a:ext>
            </a:extLst>
          </a:blip>
          <a:srcRect l="6213" t="2555" r="5327"/>
          <a:stretch/>
        </p:blipFill>
        <p:spPr bwMode="auto">
          <a:xfrm>
            <a:off x="6462659" y="1602641"/>
            <a:ext cx="5192355" cy="4924157"/>
          </a:xfrm>
          <a:prstGeom prst="rect">
            <a:avLst/>
          </a:prstGeom>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113BE710-35E0-4B80-8E28-6785528D3EDB}"/>
              </a:ext>
            </a:extLst>
          </p:cNvPr>
          <p:cNvSpPr txBox="1">
            <a:spLocks/>
          </p:cNvSpPr>
          <p:nvPr/>
        </p:nvSpPr>
        <p:spPr>
          <a:xfrm>
            <a:off x="6702014" y="1081353"/>
            <a:ext cx="4953000" cy="7016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2300" b="1" kern="1200">
                <a:solidFill>
                  <a:schemeClr val="accent1">
                    <a:lumMod val="75000"/>
                  </a:schemeClr>
                </a:solidFill>
                <a:latin typeface="Arial"/>
                <a:ea typeface="+mj-ea"/>
                <a:cs typeface="Arial"/>
              </a:defRPr>
            </a:lvl1pPr>
          </a:lstStyle>
          <a:p>
            <a:r>
              <a:rPr lang="en-US" sz="1050" dirty="0"/>
              <a:t>Diagnostic systématique pays (DSP) de la Banque mondiale selon les objectifs identifiés en 2016 </a:t>
            </a:r>
            <a:endParaRPr lang="pt-BR" sz="1050" dirty="0"/>
          </a:p>
        </p:txBody>
      </p:sp>
      <p:sp>
        <p:nvSpPr>
          <p:cNvPr id="9" name="Footer Placeholder 8">
            <a:extLst>
              <a:ext uri="{FF2B5EF4-FFF2-40B4-BE49-F238E27FC236}">
                <a16:creationId xmlns:a16="http://schemas.microsoft.com/office/drawing/2014/main" id="{DAC65E50-89AB-4177-9273-DB727ADF80FD}"/>
              </a:ext>
            </a:extLst>
          </p:cNvPr>
          <p:cNvSpPr>
            <a:spLocks noGrp="1"/>
          </p:cNvSpPr>
          <p:nvPr>
            <p:ph type="ftr" sz="quarter" idx="11"/>
          </p:nvPr>
        </p:nvSpPr>
        <p:spPr/>
        <p:txBody>
          <a:bodyPr/>
          <a:lstStyle/>
          <a:p>
            <a:r>
              <a:rPr lang="en-US"/>
              <a:t>CPP 2023-2027. Version publique. Maputo, mai 2022.</a:t>
            </a:r>
            <a:endParaRPr lang="en-US" dirty="0"/>
          </a:p>
        </p:txBody>
      </p:sp>
      <p:sp>
        <p:nvSpPr>
          <p:cNvPr id="10" name="Slide Number Placeholder 9">
            <a:extLst>
              <a:ext uri="{FF2B5EF4-FFF2-40B4-BE49-F238E27FC236}">
                <a16:creationId xmlns:a16="http://schemas.microsoft.com/office/drawing/2014/main" id="{445B123D-B40D-4386-B9CF-E9BAAC87872E}"/>
              </a:ext>
            </a:extLst>
          </p:cNvPr>
          <p:cNvSpPr>
            <a:spLocks noGrp="1"/>
          </p:cNvSpPr>
          <p:nvPr>
            <p:ph type="sldNum" sz="quarter" idx="12"/>
          </p:nvPr>
        </p:nvSpPr>
        <p:spPr/>
        <p:txBody>
          <a:bodyPr/>
          <a:lstStyle/>
          <a:p>
            <a:fld id="{B8473C9A-9E91-4025-B5E2-D7B202510636}" type="slidenum">
              <a:rPr lang="en-US" smtClean="0"/>
              <a:t>8</a:t>
            </a:fld>
            <a:endParaRPr lang="en-US" dirty="0"/>
          </a:p>
        </p:txBody>
      </p:sp>
      <p:pic>
        <p:nvPicPr>
          <p:cNvPr id="4" name="Picture 3">
            <a:extLst>
              <a:ext uri="{FF2B5EF4-FFF2-40B4-BE49-F238E27FC236}">
                <a16:creationId xmlns:a16="http://schemas.microsoft.com/office/drawing/2014/main" id="{C7949A21-272C-4FC9-8A3B-5DD99DD162F7}"/>
              </a:ext>
            </a:extLst>
          </p:cNvPr>
          <p:cNvPicPr>
            <a:picLocks noChangeAspect="1"/>
          </p:cNvPicPr>
          <p:nvPr/>
        </p:nvPicPr>
        <p:blipFill>
          <a:blip r:embed="rId3"/>
          <a:stretch>
            <a:fillRect/>
          </a:stretch>
        </p:blipFill>
        <p:spPr>
          <a:xfrm>
            <a:off x="536986" y="228106"/>
            <a:ext cx="2316681" cy="463336"/>
          </a:xfrm>
          <a:prstGeom prst="rect">
            <a:avLst/>
          </a:prstGeom>
        </p:spPr>
      </p:pic>
    </p:spTree>
    <p:extLst>
      <p:ext uri="{BB962C8B-B14F-4D97-AF65-F5344CB8AC3E}">
        <p14:creationId xmlns:p14="http://schemas.microsoft.com/office/powerpoint/2010/main" val="335552275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8BF6E-3F48-4133-BFA3-5A80DFDCB4E2}"/>
              </a:ext>
            </a:extLst>
          </p:cNvPr>
          <p:cNvSpPr>
            <a:spLocks noGrp="1"/>
          </p:cNvSpPr>
          <p:nvPr>
            <p:ph type="title"/>
          </p:nvPr>
        </p:nvSpPr>
        <p:spPr>
          <a:xfrm>
            <a:off x="967292" y="250925"/>
            <a:ext cx="10515600" cy="1325563"/>
          </a:xfrm>
        </p:spPr>
        <p:txBody>
          <a:bodyPr>
            <a:noAutofit/>
          </a:bodyPr>
          <a:lstStyle/>
          <a:p>
            <a:pPr algn="ctr"/>
            <a:r>
              <a:rPr lang="en-US" sz="4000" dirty="0"/>
              <a:t>Structure de la présentation </a:t>
            </a:r>
            <a:endParaRPr lang="pt" sz="4000" b="0" i="1" u="none" strike="noStrike" dirty="0">
              <a:highlight>
                <a:srgbClr val="000000">
                  <a:alpha val="0"/>
                </a:srgbClr>
              </a:highlight>
              <a:latin typeface="Arial"/>
            </a:endParaRPr>
          </a:p>
        </p:txBody>
      </p:sp>
      <p:sp>
        <p:nvSpPr>
          <p:cNvPr id="3" name="Content Placeholder 2">
            <a:extLst>
              <a:ext uri="{FF2B5EF4-FFF2-40B4-BE49-F238E27FC236}">
                <a16:creationId xmlns:a16="http://schemas.microsoft.com/office/drawing/2014/main" id="{A71C13BF-78D7-4831-B2B9-0342F47476B7}"/>
              </a:ext>
            </a:extLst>
          </p:cNvPr>
          <p:cNvSpPr>
            <a:spLocks noGrp="1"/>
          </p:cNvSpPr>
          <p:nvPr>
            <p:ph idx="1"/>
          </p:nvPr>
        </p:nvSpPr>
        <p:spPr>
          <a:xfrm>
            <a:off x="217843" y="1462089"/>
            <a:ext cx="11357385" cy="4648256"/>
          </a:xfrm>
        </p:spPr>
        <p:txBody>
          <a:bodyPr>
            <a:noAutofit/>
          </a:bodyPr>
          <a:lstStyle/>
          <a:p>
            <a:pPr marL="1371600" lvl="3" indent="-571500">
              <a:lnSpc>
                <a:spcPct val="100000"/>
              </a:lnSpc>
              <a:spcBef>
                <a:spcPts val="1200"/>
              </a:spcBef>
              <a:spcAft>
                <a:spcPts val="1200"/>
              </a:spcAft>
              <a:buFont typeface="+mj-lt"/>
              <a:buAutoNum type="romanUcPeriod"/>
            </a:pPr>
            <a:r>
              <a:rPr lang="en-US" sz="3200" b="1" dirty="0">
                <a:solidFill>
                  <a:schemeClr val="bg2">
                    <a:lumMod val="90000"/>
                  </a:schemeClr>
                </a:solidFill>
              </a:rPr>
              <a:t>Vision du Groupe de la Banque mondiale sur les principaux défis stratégiques du pays    </a:t>
            </a:r>
            <a:r>
              <a:rPr lang="en-US" sz="3200" b="1" dirty="0"/>
              <a:t>Principaux enseignements du CPF précédent (2017-2021) </a:t>
            </a:r>
            <a:r>
              <a:rPr lang="en-US" sz="3200" b="1" dirty="0">
                <a:solidFill>
                  <a:schemeClr val="bg2">
                    <a:lumMod val="90000"/>
                  </a:schemeClr>
                </a:solidFill>
              </a:rPr>
              <a:t>Proposition initiale pour le CPF 2023-2027</a:t>
            </a:r>
            <a:endParaRPr lang="pt-BR" sz="3200" b="1" i="0" u="none" strike="noStrike" dirty="0">
              <a:solidFill>
                <a:schemeClr val="bg2">
                  <a:lumMod val="90000"/>
                </a:schemeClr>
              </a:solidFill>
              <a:highlight>
                <a:srgbClr val="000000">
                  <a:alpha val="0"/>
                </a:srgbClr>
              </a:highlight>
              <a:latin typeface="Arial"/>
            </a:endParaRPr>
          </a:p>
          <a:p>
            <a:pPr marL="1143000" lvl="3" indent="0">
              <a:lnSpc>
                <a:spcPct val="100000"/>
              </a:lnSpc>
              <a:spcBef>
                <a:spcPts val="1200"/>
              </a:spcBef>
              <a:buNone/>
            </a:pPr>
            <a:endParaRPr lang="pt" sz="3200" b="1" i="0" u="none" strike="noStrike" dirty="0">
              <a:highlight>
                <a:srgbClr val="000000">
                  <a:alpha val="0"/>
                </a:srgbClr>
              </a:highlight>
              <a:latin typeface="Arial"/>
            </a:endParaRPr>
          </a:p>
        </p:txBody>
      </p:sp>
      <p:sp>
        <p:nvSpPr>
          <p:cNvPr id="7" name="Footer Placeholder 6">
            <a:extLst>
              <a:ext uri="{FF2B5EF4-FFF2-40B4-BE49-F238E27FC236}">
                <a16:creationId xmlns:a16="http://schemas.microsoft.com/office/drawing/2014/main" id="{64BAC93B-91C7-4C10-A50E-D811EFA7120E}"/>
              </a:ext>
            </a:extLst>
          </p:cNvPr>
          <p:cNvSpPr>
            <a:spLocks noGrp="1"/>
          </p:cNvSpPr>
          <p:nvPr>
            <p:ph type="ftr" sz="quarter" idx="11"/>
          </p:nvPr>
        </p:nvSpPr>
        <p:spPr/>
        <p:txBody>
          <a:bodyPr/>
          <a:lstStyle/>
          <a:p>
            <a:r>
              <a:rPr lang="en-US"/>
              <a:t>CPP 2023-2027. Version publique. Maputo, mai 2022.</a:t>
            </a:r>
            <a:endParaRPr lang="en-US" dirty="0"/>
          </a:p>
        </p:txBody>
      </p:sp>
      <p:sp>
        <p:nvSpPr>
          <p:cNvPr id="8" name="Slide Number Placeholder 7">
            <a:extLst>
              <a:ext uri="{FF2B5EF4-FFF2-40B4-BE49-F238E27FC236}">
                <a16:creationId xmlns:a16="http://schemas.microsoft.com/office/drawing/2014/main" id="{C7FE97E1-662E-4A4B-9785-3AB102713595}"/>
              </a:ext>
            </a:extLst>
          </p:cNvPr>
          <p:cNvSpPr>
            <a:spLocks noGrp="1"/>
          </p:cNvSpPr>
          <p:nvPr>
            <p:ph type="sldNum" sz="quarter" idx="12"/>
          </p:nvPr>
        </p:nvSpPr>
        <p:spPr/>
        <p:txBody>
          <a:bodyPr/>
          <a:lstStyle/>
          <a:p>
            <a:fld id="{B8473C9A-9E91-4025-B5E2-D7B202510636}" type="slidenum">
              <a:rPr lang="en-US" smtClean="0"/>
              <a:t>9</a:t>
            </a:fld>
            <a:endParaRPr lang="en-US" dirty="0"/>
          </a:p>
        </p:txBody>
      </p:sp>
      <p:pic>
        <p:nvPicPr>
          <p:cNvPr id="4" name="Picture 3">
            <a:extLst>
              <a:ext uri="{FF2B5EF4-FFF2-40B4-BE49-F238E27FC236}">
                <a16:creationId xmlns:a16="http://schemas.microsoft.com/office/drawing/2014/main" id="{39D2B0C9-56D1-42EE-9614-AB89754E7CB6}"/>
              </a:ext>
            </a:extLst>
          </p:cNvPr>
          <p:cNvPicPr>
            <a:picLocks noChangeAspect="1"/>
          </p:cNvPicPr>
          <p:nvPr/>
        </p:nvPicPr>
        <p:blipFill>
          <a:blip r:embed="rId2"/>
          <a:stretch>
            <a:fillRect/>
          </a:stretch>
        </p:blipFill>
        <p:spPr>
          <a:xfrm>
            <a:off x="365659" y="393171"/>
            <a:ext cx="2316681" cy="463336"/>
          </a:xfrm>
          <a:prstGeom prst="rect">
            <a:avLst/>
          </a:prstGeom>
        </p:spPr>
      </p:pic>
    </p:spTree>
    <p:extLst>
      <p:ext uri="{BB962C8B-B14F-4D97-AF65-F5344CB8AC3E}">
        <p14:creationId xmlns:p14="http://schemas.microsoft.com/office/powerpoint/2010/main" val="381791363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E39DA-BD7E-4AD0-924F-E915A4271702}"/>
              </a:ext>
            </a:extLst>
          </p:cNvPr>
          <p:cNvSpPr>
            <a:spLocks noGrp="1"/>
          </p:cNvSpPr>
          <p:nvPr>
            <p:ph type="title"/>
          </p:nvPr>
        </p:nvSpPr>
        <p:spPr>
          <a:xfrm>
            <a:off x="3259566" y="-20638"/>
            <a:ext cx="7998983" cy="1325563"/>
          </a:xfrm>
        </p:spPr>
        <p:txBody>
          <a:bodyPr>
            <a:normAutofit/>
          </a:bodyPr>
          <a:lstStyle/>
          <a:p>
            <a:r>
              <a:rPr lang="en-US" sz="2400" dirty="0"/>
              <a:t>CPP EF2017-2021 : Principales caractéristiques</a:t>
            </a:r>
            <a:endParaRPr lang="en-US" sz="2400" b="0" i="1" dirty="0"/>
          </a:p>
        </p:txBody>
      </p:sp>
      <p:sp>
        <p:nvSpPr>
          <p:cNvPr id="3" name="Content Placeholder 2">
            <a:extLst>
              <a:ext uri="{FF2B5EF4-FFF2-40B4-BE49-F238E27FC236}">
                <a16:creationId xmlns:a16="http://schemas.microsoft.com/office/drawing/2014/main" id="{AD41F2BB-97F4-4383-8764-F002A22E027D}"/>
              </a:ext>
            </a:extLst>
          </p:cNvPr>
          <p:cNvSpPr>
            <a:spLocks noGrp="1"/>
          </p:cNvSpPr>
          <p:nvPr>
            <p:ph idx="1"/>
          </p:nvPr>
        </p:nvSpPr>
        <p:spPr>
          <a:xfrm>
            <a:off x="300387" y="1171352"/>
            <a:ext cx="5735623" cy="5283236"/>
          </a:xfrm>
        </p:spPr>
        <p:txBody>
          <a:bodyPr>
            <a:noAutofit/>
          </a:bodyPr>
          <a:lstStyle/>
          <a:p>
            <a:pPr marL="0" algn="just">
              <a:spcBef>
                <a:spcPts val="0"/>
              </a:spcBef>
            </a:pPr>
            <a:r>
              <a:rPr lang="en-US" dirty="0">
                <a:latin typeface="+mn-lt"/>
              </a:rPr>
              <a:t>Un contexte dans lequel la croissance rapide des années précédentes avait pris fin. Constat que l'impact de la croissance sur la réduction de la pauvreté avait été insuffisant.</a:t>
            </a:r>
          </a:p>
          <a:p>
            <a:pPr marL="0" algn="just">
              <a:spcBef>
                <a:spcPts val="0"/>
              </a:spcBef>
            </a:pPr>
            <a:endParaRPr lang="en-US" dirty="0">
              <a:latin typeface="+mn-lt"/>
            </a:endParaRPr>
          </a:p>
          <a:p>
            <a:pPr marL="0" algn="just">
              <a:spcBef>
                <a:spcPts val="0"/>
              </a:spcBef>
            </a:pPr>
            <a:r>
              <a:rPr lang="en-US" dirty="0">
                <a:latin typeface="+mn-lt"/>
              </a:rPr>
              <a:t>Le choc de la dette cachée a réduit la confiance dans le pays, diminuant les investissements.</a:t>
            </a:r>
          </a:p>
          <a:p>
            <a:pPr marL="0" algn="just">
              <a:spcBef>
                <a:spcPts val="0"/>
              </a:spcBef>
            </a:pPr>
            <a:endParaRPr lang="en-US" dirty="0">
              <a:latin typeface="+mn-lt"/>
            </a:endParaRPr>
          </a:p>
          <a:p>
            <a:pPr marL="0" algn="just">
              <a:spcBef>
                <a:spcPts val="0"/>
              </a:spcBef>
            </a:pPr>
            <a:r>
              <a:rPr lang="en-US" dirty="0">
                <a:latin typeface="+mn-lt"/>
              </a:rPr>
              <a:t>Le CPF AF17-EX21 avait pour objectif global d'aider le Mozambique à «</a:t>
            </a:r>
            <a:r>
              <a:rPr lang="en-US" b="1" dirty="0">
                <a:latin typeface="+mn-lt"/>
              </a:rPr>
              <a:t>atteindre une croissance inclusive en favorisant l'emploi et en améliorant la productivité de manière durable</a:t>
            </a:r>
            <a:r>
              <a:rPr lang="en-US" dirty="0">
                <a:latin typeface="+mn-lt"/>
              </a:rPr>
              <a:t>».</a:t>
            </a:r>
          </a:p>
          <a:p>
            <a:pPr marL="0" algn="just">
              <a:spcBef>
                <a:spcPts val="0"/>
              </a:spcBef>
            </a:pPr>
            <a:endParaRPr lang="en-US" dirty="0">
              <a:latin typeface="+mn-lt"/>
            </a:endParaRPr>
          </a:p>
          <a:p>
            <a:pPr marL="0" algn="just">
              <a:spcBef>
                <a:spcPts val="0"/>
              </a:spcBef>
            </a:pPr>
            <a:r>
              <a:rPr lang="en-US" dirty="0">
                <a:latin typeface="+mn-lt"/>
              </a:rPr>
              <a:t>Le programme comportait 3 axes thématiques : (i) Promouvoir une croissance diversifiée et une productivité accrue, (ii) Investir dans le capital humain, et (iii) Renforcer la durabilité et la résilience.</a:t>
            </a:r>
          </a:p>
          <a:p>
            <a:pPr marL="0" algn="just">
              <a:spcBef>
                <a:spcPts val="0"/>
              </a:spcBef>
            </a:pPr>
            <a:endParaRPr lang="en-US" dirty="0">
              <a:latin typeface="+mn-lt"/>
            </a:endParaRPr>
          </a:p>
          <a:p>
            <a:pPr marL="0" algn="just">
              <a:spcBef>
                <a:spcPts val="0"/>
              </a:spcBef>
            </a:pPr>
            <a:r>
              <a:rPr lang="en-US" dirty="0">
                <a:latin typeface="+mn-lt"/>
              </a:rPr>
              <a:t>Le portefeuille de la Banque mondiale est passé de 1,6 milliard USD au départ à environ 2,9 milliards USD engagés sur toute la durée du CPP.</a:t>
            </a:r>
          </a:p>
          <a:p>
            <a:pPr marL="0" algn="just">
              <a:spcBef>
                <a:spcPts val="0"/>
              </a:spcBef>
            </a:pPr>
            <a:endParaRPr lang="en-US" dirty="0">
              <a:latin typeface="+mn-lt"/>
            </a:endParaRPr>
          </a:p>
          <a:p>
            <a:pPr marL="0" algn="just">
              <a:spcBef>
                <a:spcPts val="0"/>
              </a:spcBef>
            </a:pPr>
            <a:r>
              <a:rPr lang="en-US" dirty="0">
                <a:latin typeface="+mn-lt"/>
              </a:rPr>
              <a:t>En outre : 700 millions USD pour la prévention des conflits et de la violence (EF 2022) par le biais du</a:t>
            </a:r>
          </a:p>
          <a:p>
            <a:pPr marL="0" algn="just">
              <a:spcBef>
                <a:spcPts val="0"/>
              </a:spcBef>
            </a:pPr>
            <a:endParaRPr lang="en-US" dirty="0">
              <a:latin typeface="+mn-lt"/>
            </a:endParaRPr>
          </a:p>
          <a:p>
            <a:pPr marL="0" algn="just">
              <a:spcBef>
                <a:spcPts val="0"/>
              </a:spcBef>
            </a:pPr>
            <a:r>
              <a:rPr lang="en-US" dirty="0">
                <a:latin typeface="+mn-lt"/>
              </a:rPr>
              <a:t>Les investissements de la SFI et de la MIGA dans le secteur privé se sont concentrés sur des projets transformateurs pour la création d'emplois et la réduction de la pauvreté.</a:t>
            </a:r>
          </a:p>
        </p:txBody>
      </p:sp>
      <p:pic>
        <p:nvPicPr>
          <p:cNvPr id="11" name="Picture 10">
            <a:extLst>
              <a:ext uri="{FF2B5EF4-FFF2-40B4-BE49-F238E27FC236}">
                <a16:creationId xmlns:a16="http://schemas.microsoft.com/office/drawing/2014/main" id="{90336BA4-DAFB-496E-BA23-FD9499BC806B}"/>
              </a:ext>
            </a:extLst>
          </p:cNvPr>
          <p:cNvPicPr>
            <a:picLocks noChangeAspect="1"/>
          </p:cNvPicPr>
          <p:nvPr/>
        </p:nvPicPr>
        <p:blipFill>
          <a:blip r:embed="rId2"/>
          <a:stretch>
            <a:fillRect/>
          </a:stretch>
        </p:blipFill>
        <p:spPr>
          <a:xfrm>
            <a:off x="6036010" y="992982"/>
            <a:ext cx="5942634" cy="5144804"/>
          </a:xfrm>
          <a:prstGeom prst="rect">
            <a:avLst/>
          </a:prstGeom>
        </p:spPr>
      </p:pic>
      <p:sp>
        <p:nvSpPr>
          <p:cNvPr id="5" name="Rectangle 4">
            <a:extLst>
              <a:ext uri="{FF2B5EF4-FFF2-40B4-BE49-F238E27FC236}">
                <a16:creationId xmlns:a16="http://schemas.microsoft.com/office/drawing/2014/main" id="{EBE7ADC5-130D-44E2-A535-813420EF7862}"/>
              </a:ext>
            </a:extLst>
          </p:cNvPr>
          <p:cNvSpPr/>
          <p:nvPr/>
        </p:nvSpPr>
        <p:spPr>
          <a:xfrm>
            <a:off x="7551867" y="992981"/>
            <a:ext cx="645459" cy="4270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ooter Placeholder 12">
            <a:extLst>
              <a:ext uri="{FF2B5EF4-FFF2-40B4-BE49-F238E27FC236}">
                <a16:creationId xmlns:a16="http://schemas.microsoft.com/office/drawing/2014/main" id="{B32BD148-6C39-46D7-BA00-253237AE35AE}"/>
              </a:ext>
            </a:extLst>
          </p:cNvPr>
          <p:cNvSpPr>
            <a:spLocks noGrp="1"/>
          </p:cNvSpPr>
          <p:nvPr>
            <p:ph type="ftr" sz="quarter" idx="11"/>
          </p:nvPr>
        </p:nvSpPr>
        <p:spPr/>
        <p:txBody>
          <a:bodyPr/>
          <a:lstStyle/>
          <a:p>
            <a:r>
              <a:rPr lang="en-US"/>
              <a:t>CPP 2023-2027. Version publique. Maputo, mai 2022.</a:t>
            </a:r>
            <a:endParaRPr lang="en-US" dirty="0"/>
          </a:p>
        </p:txBody>
      </p:sp>
      <p:pic>
        <p:nvPicPr>
          <p:cNvPr id="4" name="Picture 3">
            <a:extLst>
              <a:ext uri="{FF2B5EF4-FFF2-40B4-BE49-F238E27FC236}">
                <a16:creationId xmlns:a16="http://schemas.microsoft.com/office/drawing/2014/main" id="{3534EC23-E592-4B24-A636-726B7F88939A}"/>
              </a:ext>
            </a:extLst>
          </p:cNvPr>
          <p:cNvPicPr>
            <a:picLocks noChangeAspect="1"/>
          </p:cNvPicPr>
          <p:nvPr/>
        </p:nvPicPr>
        <p:blipFill>
          <a:blip r:embed="rId3"/>
          <a:stretch>
            <a:fillRect/>
          </a:stretch>
        </p:blipFill>
        <p:spPr>
          <a:xfrm>
            <a:off x="222790" y="343689"/>
            <a:ext cx="2316681" cy="463336"/>
          </a:xfrm>
          <a:prstGeom prst="rect">
            <a:avLst/>
          </a:prstGeom>
        </p:spPr>
      </p:pic>
      <p:sp>
        <p:nvSpPr>
          <p:cNvPr id="6" name="Slide Number Placeholder 5">
            <a:extLst>
              <a:ext uri="{FF2B5EF4-FFF2-40B4-BE49-F238E27FC236}">
                <a16:creationId xmlns:a16="http://schemas.microsoft.com/office/drawing/2014/main" id="{9A2C55B6-CA07-4ECE-B7AD-6DC69A70C6AD}"/>
              </a:ext>
            </a:extLst>
          </p:cNvPr>
          <p:cNvSpPr>
            <a:spLocks noGrp="1"/>
          </p:cNvSpPr>
          <p:nvPr>
            <p:ph type="sldNum" sz="quarter" idx="12"/>
          </p:nvPr>
        </p:nvSpPr>
        <p:spPr/>
        <p:txBody>
          <a:bodyPr/>
          <a:lstStyle/>
          <a:p>
            <a:fld id="{B8473C9A-9E91-4025-B5E2-D7B202510636}" type="slidenum">
              <a:rPr lang="en-US" smtClean="0"/>
              <a:t>10</a:t>
            </a:fld>
            <a:endParaRPr lang="en-US" dirty="0"/>
          </a:p>
        </p:txBody>
      </p:sp>
    </p:spTree>
    <p:extLst>
      <p:ext uri="{BB962C8B-B14F-4D97-AF65-F5344CB8AC3E}">
        <p14:creationId xmlns:p14="http://schemas.microsoft.com/office/powerpoint/2010/main" val="176524806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E39DA-BD7E-4AD0-924F-E915A4271702}"/>
              </a:ext>
            </a:extLst>
          </p:cNvPr>
          <p:cNvSpPr>
            <a:spLocks noGrp="1"/>
          </p:cNvSpPr>
          <p:nvPr>
            <p:ph type="title"/>
          </p:nvPr>
        </p:nvSpPr>
        <p:spPr>
          <a:xfrm>
            <a:off x="2657811" y="-255665"/>
            <a:ext cx="10515600" cy="1325563"/>
          </a:xfrm>
        </p:spPr>
        <p:txBody>
          <a:bodyPr>
            <a:normAutofit/>
          </a:bodyPr>
          <a:lstStyle/>
          <a:p>
            <a:br>
              <a:rPr lang="en-US" sz="2400" dirty="0"/>
            </a:br>
            <a:br>
              <a:rPr lang="en-US" sz="2400" dirty="0"/>
            </a:br>
            <a:r>
              <a:rPr lang="en-US" sz="2400" dirty="0"/>
              <a:t>CPP EF2017-2021 : Principales caractéristiques</a:t>
            </a:r>
            <a:endParaRPr lang="en-US" sz="2400" b="0" i="1" dirty="0"/>
          </a:p>
        </p:txBody>
      </p:sp>
      <p:sp>
        <p:nvSpPr>
          <p:cNvPr id="3" name="Content Placeholder 2">
            <a:extLst>
              <a:ext uri="{FF2B5EF4-FFF2-40B4-BE49-F238E27FC236}">
                <a16:creationId xmlns:a16="http://schemas.microsoft.com/office/drawing/2014/main" id="{AD41F2BB-97F4-4383-8764-F002A22E027D}"/>
              </a:ext>
            </a:extLst>
          </p:cNvPr>
          <p:cNvSpPr>
            <a:spLocks noGrp="1"/>
          </p:cNvSpPr>
          <p:nvPr>
            <p:ph idx="1"/>
          </p:nvPr>
        </p:nvSpPr>
        <p:spPr>
          <a:xfrm>
            <a:off x="490296" y="992981"/>
            <a:ext cx="6341966" cy="5544790"/>
          </a:xfrm>
        </p:spPr>
        <p:txBody>
          <a:bodyPr>
            <a:noAutofit/>
          </a:bodyPr>
          <a:lstStyle/>
          <a:p>
            <a:pPr algn="just"/>
            <a:endParaRPr lang="pt-BR" b="1" u="sng" dirty="0">
              <a:latin typeface="+mn-lt"/>
              <a:ea typeface="Times New Roman" panose="02020603050405020304" pitchFamily="18" charset="0"/>
              <a:cs typeface="Times New Roman" panose="02020603050405020304" pitchFamily="18" charset="0"/>
            </a:endParaRPr>
          </a:p>
          <a:p>
            <a:pPr lvl="2" algn="just"/>
            <a:r>
              <a:rPr lang="en-US" sz="1400" b="1" dirty="0"/>
              <a:t>Accent mis sur les régions et secteurs où se concentrent les pauvres. </a:t>
            </a:r>
          </a:p>
          <a:p>
            <a:pPr marL="914400" lvl="3" indent="-365760" algn="just"/>
            <a:r>
              <a:rPr lang="en-US" sz="1300" dirty="0">
                <a:solidFill>
                  <a:srgbClr val="000000"/>
                </a:solidFill>
                <a:cs typeface="Calibri" panose="020F0502020204030204" pitchFamily="34" charset="0"/>
              </a:rPr>
              <a:t>Les opérations agricoles de subsistance devraient passer de 6 % dans le CPP précédent à 20 %</a:t>
            </a:r>
          </a:p>
          <a:p>
            <a:pPr marL="914400" lvl="3" indent="-365760" algn="just"/>
            <a:r>
              <a:rPr lang="en-US" sz="1300" dirty="0">
                <a:solidFill>
                  <a:srgbClr val="000000"/>
                </a:solidFill>
                <a:cs typeface="Calibri" panose="020F0502020204030204" pitchFamily="34" charset="0"/>
              </a:rPr>
              <a:t>Environ 30 % du portefeuille était consacré à l'agriculture et aux zones rurales (contre 6 % dans le cycle précédent)</a:t>
            </a:r>
            <a:endParaRPr lang="en-US" sz="1400" dirty="0"/>
          </a:p>
          <a:p>
            <a:pPr lvl="2" algn="just"/>
            <a:r>
              <a:rPr lang="en-US" sz="1400" dirty="0"/>
              <a:t>Une grande partie des ressources a été allouée aux investissements en infrastructure, notamment dans les zones rurales et pour la reconstruction post-cyclone.</a:t>
            </a:r>
          </a:p>
          <a:p>
            <a:pPr marL="914400" lvl="3" indent="-365760" algn="just"/>
            <a:r>
              <a:rPr lang="en-US" sz="1300" dirty="0">
                <a:solidFill>
                  <a:srgbClr val="000000"/>
                </a:solidFill>
                <a:cs typeface="Calibri" panose="020F0502020204030204" pitchFamily="34" charset="0"/>
              </a:rPr>
              <a:t>Adoption d'une approche intégrative, regroupant les investissements en infrastructure et en protection sociale.</a:t>
            </a:r>
          </a:p>
          <a:p>
            <a:pPr marL="914400" lvl="3" indent="-365760" algn="just"/>
            <a:r>
              <a:rPr lang="en-US" sz="1300" dirty="0">
                <a:solidFill>
                  <a:srgbClr val="000000"/>
                </a:solidFill>
                <a:cs typeface="Calibri" panose="020F0502020204030204" pitchFamily="34" charset="0"/>
              </a:rPr>
              <a:t>Priorisation des réponses au Cabo Delgado (EF 2022).</a:t>
            </a:r>
          </a:p>
          <a:p>
            <a:pPr lvl="2" algn="just"/>
            <a:r>
              <a:rPr lang="en-US" sz="1400" dirty="0"/>
              <a:t>Accent mis sur le renforcement des capacités de gestion macroéconomique, notamment en matière de gestion de la dette, des risques budgétaires et de l'investissement public.</a:t>
            </a:r>
          </a:p>
          <a:p>
            <a:pPr lvl="2" algn="just"/>
            <a:r>
              <a:rPr lang="en-US" sz="1400" dirty="0"/>
              <a:t>Le CPP précédent a accordé une grande priorité aux études permettant une meilleure compréhension des défis du pays, telles que le Diagnostic du secteur privé national, la Note économique pays, la Revue urbaine et le Diagnostic des revenus ruraux, entre autres. </a:t>
            </a:r>
          </a:p>
          <a:p>
            <a:pPr marL="914400" lvl="3" indent="-365760" algn="just"/>
            <a:r>
              <a:rPr lang="en-US" sz="1300" dirty="0">
                <a:solidFill>
                  <a:srgbClr val="000000"/>
                </a:solidFill>
                <a:cs typeface="Calibri" panose="020F0502020204030204" pitchFamily="34" charset="0"/>
              </a:rPr>
              <a:t>Une étude sur les impacts du changement climatique (CCDR), une mise à jour de l'étude sur la pauvreté (Évaluation de la pauvreté) et une analyse détaillée de la question du genre (Évaluation genre) sont en cours.</a:t>
            </a:r>
            <a:endParaRPr lang="pt" sz="1300" dirty="0">
              <a:solidFill>
                <a:srgbClr val="000000"/>
              </a:solidFill>
              <a:cs typeface="Calibri" panose="020F0502020204030204" pitchFamily="34" charset="0"/>
            </a:endParaRPr>
          </a:p>
          <a:p>
            <a:pPr marL="0" lvl="2" indent="0" algn="just">
              <a:buNone/>
            </a:pPr>
            <a:endParaRPr lang="en-US" sz="1400" dirty="0">
              <a:solidFill>
                <a:srgbClr val="000000"/>
              </a:solidFill>
              <a:ea typeface="Times New Roman" panose="02020603050405020304" pitchFamily="18" charset="0"/>
              <a:cs typeface="Times New Roman" panose="02020603050405020304" pitchFamily="18" charset="0"/>
            </a:endParaRPr>
          </a:p>
          <a:p>
            <a:pPr lvl="2" algn="just"/>
            <a:endParaRPr lang="en-US" sz="1400" dirty="0">
              <a:solidFill>
                <a:srgbClr val="000000"/>
              </a:solidFill>
              <a:cs typeface="Times New Roman" panose="02020603050405020304" pitchFamily="18" charset="0"/>
            </a:endParaRPr>
          </a:p>
          <a:p>
            <a:pPr algn="just"/>
            <a:endParaRPr lang="en-US" dirty="0">
              <a:latin typeface="+mn-lt"/>
            </a:endParaRPr>
          </a:p>
        </p:txBody>
      </p:sp>
      <p:graphicFrame>
        <p:nvGraphicFramePr>
          <p:cNvPr id="9" name="Chart 8">
            <a:extLst>
              <a:ext uri="{FF2B5EF4-FFF2-40B4-BE49-F238E27FC236}">
                <a16:creationId xmlns:a16="http://schemas.microsoft.com/office/drawing/2014/main" id="{A5499A8E-A137-4699-BE3A-E5C6193DB181}"/>
              </a:ext>
            </a:extLst>
          </p:cNvPr>
          <p:cNvGraphicFramePr>
            <a:graphicFrameLocks/>
          </p:cNvGraphicFramePr>
          <p:nvPr>
            <p:extLst>
              <p:ext uri="{D42A27DB-BD31-4B8C-83A1-F6EECF244321}">
                <p14:modId xmlns:p14="http://schemas.microsoft.com/office/powerpoint/2010/main" val="1040687743"/>
              </p:ext>
            </p:extLst>
          </p:nvPr>
        </p:nvGraphicFramePr>
        <p:xfrm>
          <a:off x="7088146" y="1290918"/>
          <a:ext cx="4836977" cy="4311557"/>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1">
            <a:extLst>
              <a:ext uri="{FF2B5EF4-FFF2-40B4-BE49-F238E27FC236}">
                <a16:creationId xmlns:a16="http://schemas.microsoft.com/office/drawing/2014/main" id="{2F08AA56-3BA1-41C9-8EC2-A2B8C5546FC8}"/>
              </a:ext>
            </a:extLst>
          </p:cNvPr>
          <p:cNvSpPr txBox="1">
            <a:spLocks/>
          </p:cNvSpPr>
          <p:nvPr/>
        </p:nvSpPr>
        <p:spPr>
          <a:xfrm>
            <a:off x="8513782" y="887892"/>
            <a:ext cx="2467370" cy="8060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2300" b="1" kern="1200">
                <a:solidFill>
                  <a:schemeClr val="accent1">
                    <a:lumMod val="75000"/>
                  </a:schemeClr>
                </a:solidFill>
                <a:latin typeface="Arial"/>
                <a:ea typeface="+mj-ea"/>
                <a:cs typeface="Arial"/>
              </a:defRPr>
            </a:lvl1pPr>
          </a:lstStyle>
          <a:p>
            <a:r>
              <a:rPr lang="pt-BR" sz="1000" cap="all" dirty="0">
                <a:solidFill>
                  <a:schemeClr val="tx1"/>
                </a:solidFill>
                <a:latin typeface="+mj-lt"/>
                <a:ea typeface="+mn-ea"/>
                <a:cs typeface="+mn-cs"/>
              </a:rPr>
              <a:t>Allocation finale </a:t>
            </a:r>
            <a:endParaRPr lang="en-US" sz="1000" cap="all" dirty="0">
              <a:solidFill>
                <a:schemeClr val="tx1"/>
              </a:solidFill>
              <a:latin typeface="+mj-lt"/>
              <a:ea typeface="+mn-ea"/>
              <a:cs typeface="+mn-cs"/>
            </a:endParaRPr>
          </a:p>
        </p:txBody>
      </p:sp>
      <p:sp>
        <p:nvSpPr>
          <p:cNvPr id="7" name="Footer Placeholder 6">
            <a:extLst>
              <a:ext uri="{FF2B5EF4-FFF2-40B4-BE49-F238E27FC236}">
                <a16:creationId xmlns:a16="http://schemas.microsoft.com/office/drawing/2014/main" id="{AF70A6BA-9FEE-4FF3-9D26-0762E13834EE}"/>
              </a:ext>
            </a:extLst>
          </p:cNvPr>
          <p:cNvSpPr>
            <a:spLocks noGrp="1"/>
          </p:cNvSpPr>
          <p:nvPr>
            <p:ph type="ftr" sz="quarter" idx="11"/>
          </p:nvPr>
        </p:nvSpPr>
        <p:spPr>
          <a:xfrm>
            <a:off x="4038600" y="6557048"/>
            <a:ext cx="4114800" cy="365125"/>
          </a:xfrm>
        </p:spPr>
        <p:txBody>
          <a:bodyPr/>
          <a:lstStyle/>
          <a:p>
            <a:r>
              <a:rPr lang="en-US"/>
              <a:t>CPP 2023-2027. Version publique. Maputo, mai 2022.</a:t>
            </a:r>
            <a:endParaRPr lang="en-US" dirty="0"/>
          </a:p>
        </p:txBody>
      </p:sp>
      <p:sp>
        <p:nvSpPr>
          <p:cNvPr id="8" name="Slide Number Placeholder 7">
            <a:extLst>
              <a:ext uri="{FF2B5EF4-FFF2-40B4-BE49-F238E27FC236}">
                <a16:creationId xmlns:a16="http://schemas.microsoft.com/office/drawing/2014/main" id="{CCD3979E-F30D-4DBB-BFB4-CA06FA9C5C4E}"/>
              </a:ext>
            </a:extLst>
          </p:cNvPr>
          <p:cNvSpPr>
            <a:spLocks noGrp="1"/>
          </p:cNvSpPr>
          <p:nvPr>
            <p:ph type="sldNum" sz="quarter" idx="12"/>
          </p:nvPr>
        </p:nvSpPr>
        <p:spPr/>
        <p:txBody>
          <a:bodyPr/>
          <a:lstStyle/>
          <a:p>
            <a:fld id="{B8473C9A-9E91-4025-B5E2-D7B202510636}" type="slidenum">
              <a:rPr lang="en-US" smtClean="0"/>
              <a:t>11</a:t>
            </a:fld>
            <a:endParaRPr lang="en-US" dirty="0"/>
          </a:p>
        </p:txBody>
      </p:sp>
      <p:pic>
        <p:nvPicPr>
          <p:cNvPr id="4" name="Picture 3">
            <a:extLst>
              <a:ext uri="{FF2B5EF4-FFF2-40B4-BE49-F238E27FC236}">
                <a16:creationId xmlns:a16="http://schemas.microsoft.com/office/drawing/2014/main" id="{BDFFB0C1-E31A-47B0-BD50-98DAE498F8F0}"/>
              </a:ext>
            </a:extLst>
          </p:cNvPr>
          <p:cNvPicPr>
            <a:picLocks noChangeAspect="1"/>
          </p:cNvPicPr>
          <p:nvPr/>
        </p:nvPicPr>
        <p:blipFill>
          <a:blip r:embed="rId3"/>
          <a:stretch>
            <a:fillRect/>
          </a:stretch>
        </p:blipFill>
        <p:spPr>
          <a:xfrm>
            <a:off x="281614" y="320229"/>
            <a:ext cx="2316681" cy="463336"/>
          </a:xfrm>
          <a:prstGeom prst="rect">
            <a:avLst/>
          </a:prstGeom>
        </p:spPr>
      </p:pic>
    </p:spTree>
    <p:extLst>
      <p:ext uri="{BB962C8B-B14F-4D97-AF65-F5344CB8AC3E}">
        <p14:creationId xmlns:p14="http://schemas.microsoft.com/office/powerpoint/2010/main" val="59452574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267A4-0F4F-479B-832F-37F8FDAE666F}"/>
              </a:ext>
            </a:extLst>
          </p:cNvPr>
          <p:cNvSpPr>
            <a:spLocks noGrp="1"/>
          </p:cNvSpPr>
          <p:nvPr>
            <p:ph type="title"/>
          </p:nvPr>
        </p:nvSpPr>
        <p:spPr>
          <a:xfrm>
            <a:off x="3743661" y="-22415"/>
            <a:ext cx="7448214" cy="815975"/>
          </a:xfrm>
        </p:spPr>
        <p:txBody>
          <a:bodyPr>
            <a:normAutofit/>
          </a:bodyPr>
          <a:lstStyle/>
          <a:p>
            <a:r>
              <a:rPr lang="en-US" sz="2400" dirty="0"/>
              <a:t>CPP EF2017-2021 : Résultats  </a:t>
            </a:r>
            <a:endParaRPr lang="en-US" sz="2400" b="0" i="1" dirty="0"/>
          </a:p>
        </p:txBody>
      </p:sp>
      <p:sp>
        <p:nvSpPr>
          <p:cNvPr id="3" name="Content Placeholder 2">
            <a:extLst>
              <a:ext uri="{FF2B5EF4-FFF2-40B4-BE49-F238E27FC236}">
                <a16:creationId xmlns:a16="http://schemas.microsoft.com/office/drawing/2014/main" id="{D13B107D-9314-4019-A8AC-8BDA69837A5E}"/>
              </a:ext>
            </a:extLst>
          </p:cNvPr>
          <p:cNvSpPr>
            <a:spLocks noGrp="1"/>
          </p:cNvSpPr>
          <p:nvPr>
            <p:ph idx="1"/>
          </p:nvPr>
        </p:nvSpPr>
        <p:spPr>
          <a:xfrm>
            <a:off x="676274" y="754918"/>
            <a:ext cx="10677525" cy="4995863"/>
          </a:xfrm>
        </p:spPr>
        <p:txBody>
          <a:bodyPr/>
          <a:lstStyle/>
          <a:p>
            <a:pPr marL="0" indent="0" algn="just">
              <a:buNone/>
            </a:pPr>
            <a:r>
              <a:rPr lang="en-US" sz="1400" b="0" i="0" u="none" strike="noStrike" dirty="0">
                <a:highlight>
                  <a:srgbClr val="000000">
                    <a:alpha val="0"/>
                  </a:srgbClr>
                </a:highlight>
                <a:latin typeface="Arial"/>
              </a:rPr>
              <a:t>Le CPF - AF17-AF21 a été préparé et mis en œuvre dans un contexte économique difficile. Cependant, la mise en œuvre a été </a:t>
            </a:r>
            <a:r>
              <a:rPr lang="en-US" sz="1400" b="1" i="0" u="none" strike="noStrike" dirty="0">
                <a:highlight>
                  <a:srgbClr val="000000">
                    <a:alpha val="0"/>
                  </a:srgbClr>
                </a:highlight>
                <a:latin typeface="Arial"/>
              </a:rPr>
              <a:t>modérément satisfaisante</a:t>
            </a:r>
            <a:r>
              <a:rPr lang="en-US" sz="1400" b="0" i="0" u="none" strike="noStrike" dirty="0">
                <a:highlight>
                  <a:srgbClr val="000000">
                    <a:alpha val="0"/>
                  </a:srgbClr>
                </a:highlight>
                <a:latin typeface="Arial"/>
              </a:rPr>
              <a:t>.</a:t>
            </a:r>
          </a:p>
          <a:p>
            <a:pPr marL="0" indent="0" algn="just">
              <a:buNone/>
            </a:pPr>
            <a:r>
              <a:rPr lang="en-US" sz="1400" b="0" i="0" u="none" strike="noStrike" dirty="0">
                <a:highlight>
                  <a:srgbClr val="000000">
                    <a:alpha val="0"/>
                  </a:srgbClr>
                </a:highlight>
                <a:latin typeface="Arial"/>
              </a:rPr>
              <a:t>Le CPP a atteint à 100 % l'un de ses neuf Objectifs stratégiques (OS) ; six ont été « majoritairement atteints » et deux ont été « partiellement atteints ».</a:t>
            </a:r>
            <a:endParaRPr lang="en-US" dirty="0"/>
          </a:p>
        </p:txBody>
      </p:sp>
      <p:graphicFrame>
        <p:nvGraphicFramePr>
          <p:cNvPr id="7" name="Table 6">
            <a:extLst>
              <a:ext uri="{FF2B5EF4-FFF2-40B4-BE49-F238E27FC236}">
                <a16:creationId xmlns:a16="http://schemas.microsoft.com/office/drawing/2014/main" id="{32DB655D-42A7-4817-899F-7D22316FD394}"/>
              </a:ext>
            </a:extLst>
          </p:cNvPr>
          <p:cNvGraphicFramePr>
            <a:graphicFrameLocks noGrp="1"/>
          </p:cNvGraphicFramePr>
          <p:nvPr>
            <p:extLst>
              <p:ext uri="{D42A27DB-BD31-4B8C-83A1-F6EECF244321}">
                <p14:modId xmlns:p14="http://schemas.microsoft.com/office/powerpoint/2010/main" val="3011176160"/>
              </p:ext>
            </p:extLst>
          </p:nvPr>
        </p:nvGraphicFramePr>
        <p:xfrm>
          <a:off x="676275" y="1721224"/>
          <a:ext cx="10677524" cy="4276751"/>
        </p:xfrm>
        <a:graphic>
          <a:graphicData uri="http://schemas.openxmlformats.org/drawingml/2006/table">
            <a:tbl>
              <a:tblPr firstRow="1" firstCol="1" bandRow="1"/>
              <a:tblGrid>
                <a:gridCol w="1427558">
                  <a:extLst>
                    <a:ext uri="{9D8B030D-6E8A-4147-A177-3AD203B41FA5}">
                      <a16:colId xmlns:a16="http://schemas.microsoft.com/office/drawing/2014/main" val="3118927508"/>
                    </a:ext>
                  </a:extLst>
                </a:gridCol>
                <a:gridCol w="6525977">
                  <a:extLst>
                    <a:ext uri="{9D8B030D-6E8A-4147-A177-3AD203B41FA5}">
                      <a16:colId xmlns:a16="http://schemas.microsoft.com/office/drawing/2014/main" val="1649127289"/>
                    </a:ext>
                  </a:extLst>
                </a:gridCol>
                <a:gridCol w="2553741">
                  <a:extLst>
                    <a:ext uri="{9D8B030D-6E8A-4147-A177-3AD203B41FA5}">
                      <a16:colId xmlns:a16="http://schemas.microsoft.com/office/drawing/2014/main" val="3918980264"/>
                    </a:ext>
                  </a:extLst>
                </a:gridCol>
                <a:gridCol w="170248">
                  <a:extLst>
                    <a:ext uri="{9D8B030D-6E8A-4147-A177-3AD203B41FA5}">
                      <a16:colId xmlns:a16="http://schemas.microsoft.com/office/drawing/2014/main" val="2105357082"/>
                    </a:ext>
                  </a:extLst>
                </a:gridCol>
              </a:tblGrid>
              <a:tr h="251795">
                <a:tc gridSpan="2">
                  <a:txBody>
                    <a:bodyPr/>
                    <a:lstStyle/>
                    <a:p>
                      <a:pPr marL="0" marR="0" algn="ctr">
                        <a:lnSpc>
                          <a:spcPct val="107000"/>
                        </a:lnSpc>
                        <a:spcBef>
                          <a:spcPts val="0"/>
                        </a:spcBef>
                        <a:spcAft>
                          <a:spcPts val="0"/>
                        </a:spcAft>
                      </a:pPr>
                      <a:r>
                        <a:rPr lang="pt-BR" sz="1300" b="1" dirty="0">
                          <a:solidFill>
                            <a:srgbClr val="000000"/>
                          </a:solidFill>
                          <a:effectLst/>
                          <a:latin typeface="+mn-lt"/>
                          <a:ea typeface="Times New Roman" panose="02020603050405020304" pitchFamily="18" charset="0"/>
                          <a:cs typeface="Times New Roman" panose="02020603050405020304" pitchFamily="18" charset="0"/>
                        </a:rPr>
                        <a:t>Focus Area /Strategic Objective</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dirty="0"/>
                    </a:p>
                  </a:txBody>
                  <a:tcPr/>
                </a:tc>
                <a:tc>
                  <a:txBody>
                    <a:bodyPr/>
                    <a:lstStyle/>
                    <a:p>
                      <a:pPr marL="0" marR="0" algn="ctr">
                        <a:lnSpc>
                          <a:spcPct val="107000"/>
                        </a:lnSpc>
                        <a:spcBef>
                          <a:spcPts val="0"/>
                        </a:spcBef>
                        <a:spcAft>
                          <a:spcPts val="0"/>
                        </a:spcAft>
                      </a:pPr>
                      <a:r>
                        <a:rPr lang="pt-BR" sz="1300" b="1" dirty="0">
                          <a:solidFill>
                            <a:srgbClr val="000000"/>
                          </a:solidFill>
                          <a:effectLst/>
                          <a:latin typeface="+mn-lt"/>
                          <a:ea typeface="Times New Roman" panose="02020603050405020304" pitchFamily="18" charset="0"/>
                          <a:cs typeface="Times New Roman" panose="02020603050405020304" pitchFamily="18" charset="0"/>
                        </a:rPr>
                        <a:t>Classification</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236956950"/>
                  </a:ext>
                </a:extLst>
              </a:tr>
              <a:tr h="251795">
                <a:tc>
                  <a:txBody>
                    <a:bodyPr/>
                    <a:lstStyle/>
                    <a:p>
                      <a:pPr marL="0" marR="0" algn="l">
                        <a:lnSpc>
                          <a:spcPct val="107000"/>
                        </a:lnSpc>
                        <a:spcBef>
                          <a:spcPts val="0"/>
                        </a:spcBef>
                        <a:spcAft>
                          <a:spcPts val="0"/>
                        </a:spcAft>
                      </a:pPr>
                      <a:r>
                        <a:rPr lang="en-US" sz="1300" dirty="0">
                          <a:solidFill>
                            <a:srgbClr val="FFFFFF"/>
                          </a:solidFill>
                          <a:effectLst/>
                          <a:latin typeface="+mn-lt"/>
                          <a:ea typeface="Times New Roman" panose="02020603050405020304" pitchFamily="18" charset="0"/>
                          <a:cs typeface="Times New Roman" panose="02020603050405020304" pitchFamily="18" charset="0"/>
                        </a:rPr>
                        <a:t>Focus Area 1: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gridSpan="3">
                  <a:txBody>
                    <a:bodyPr/>
                    <a:lstStyle/>
                    <a:p>
                      <a:pPr marL="0" marR="0" algn="l">
                        <a:lnSpc>
                          <a:spcPct val="107000"/>
                        </a:lnSpc>
                        <a:spcBef>
                          <a:spcPts val="0"/>
                        </a:spcBef>
                        <a:spcAft>
                          <a:spcPts val="0"/>
                        </a:spcAft>
                      </a:pPr>
                      <a:r>
                        <a:rPr lang="en-US" sz="1300" dirty="0">
                          <a:solidFill>
                            <a:srgbClr val="FFFFFF"/>
                          </a:solidFill>
                          <a:effectLst/>
                          <a:latin typeface="+mn-lt"/>
                          <a:ea typeface="Times New Roman" panose="02020603050405020304" pitchFamily="18" charset="0"/>
                          <a:cs typeface="Times New Roman" panose="02020603050405020304" pitchFamily="18" charset="0"/>
                        </a:rPr>
                        <a:t>Promote diversified growth and enhanced productivity – Moderately Satisfactory</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50130769"/>
                  </a:ext>
                </a:extLst>
              </a:tr>
              <a:tr h="351623">
                <a:tc gridSpan="2">
                  <a:txBody>
                    <a:bodyPr/>
                    <a:lstStyle/>
                    <a:p>
                      <a:pPr marL="0" marR="0" algn="l">
                        <a:lnSpc>
                          <a:spcPct val="70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Objective 1: Improved economic management</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163830" marR="0" indent="114300" algn="l">
                        <a:lnSpc>
                          <a:spcPct val="70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Mostly achieved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093988670"/>
                  </a:ext>
                </a:extLst>
              </a:tr>
              <a:tr h="556526">
                <a:tc gridSpan="2">
                  <a:txBody>
                    <a:bodyPr/>
                    <a:lstStyle/>
                    <a:p>
                      <a:pPr marL="0" marR="0" algn="l">
                        <a:lnSpc>
                          <a:spcPct val="70000"/>
                        </a:lnSpc>
                        <a:spcBef>
                          <a:spcPts val="0"/>
                        </a:spcBef>
                        <a:spcAft>
                          <a:spcPts val="0"/>
                        </a:spcAft>
                      </a:pPr>
                      <a:r>
                        <a:rPr lang="en-US" sz="1300" dirty="0">
                          <a:effectLst/>
                          <a:latin typeface="+mn-lt"/>
                          <a:ea typeface="Times New Roman" panose="02020603050405020304" pitchFamily="18" charset="0"/>
                          <a:cs typeface="Times New Roman" panose="02020603050405020304" pitchFamily="18" charset="0"/>
                        </a:rPr>
                        <a:t>Objective 2: Increase in Agricultural Income and Increase in Land Security</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163830" marR="0" indent="114300" algn="l">
                        <a:lnSpc>
                          <a:spcPct val="70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Mostly achieved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2878411351"/>
                  </a:ext>
                </a:extLst>
              </a:tr>
              <a:tr h="351623">
                <a:tc gridSpan="2">
                  <a:txBody>
                    <a:bodyPr/>
                    <a:lstStyle/>
                    <a:p>
                      <a:pPr marL="0" marR="0" algn="l">
                        <a:lnSpc>
                          <a:spcPct val="70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Objective 3: Improve the Business Environment for Job Creation</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163830" marR="0" indent="114300" algn="l">
                        <a:lnSpc>
                          <a:spcPct val="70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Partially achieved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2422386611"/>
                  </a:ext>
                </a:extLst>
              </a:tr>
              <a:tr h="298667">
                <a:tc gridSpan="2">
                  <a:txBody>
                    <a:bodyPr/>
                    <a:lstStyle/>
                    <a:p>
                      <a:pPr marL="0" marR="0" algn="l">
                        <a:lnSpc>
                          <a:spcPct val="70000"/>
                        </a:lnSpc>
                        <a:spcBef>
                          <a:spcPts val="0"/>
                        </a:spcBef>
                        <a:spcAft>
                          <a:spcPts val="0"/>
                        </a:spcAft>
                      </a:pPr>
                      <a:r>
                        <a:rPr lang="en-US" sz="1300" b="1" dirty="0">
                          <a:solidFill>
                            <a:srgbClr val="000000"/>
                          </a:solidFill>
                          <a:effectLst/>
                          <a:latin typeface="+mn-lt"/>
                          <a:ea typeface="Times New Roman" panose="02020603050405020304" pitchFamily="18" charset="0"/>
                          <a:cs typeface="Times New Roman" panose="02020603050405020304" pitchFamily="18" charset="0"/>
                        </a:rPr>
                        <a:t>Objective 4: Expand Access and Improve Electricity Reliability</a:t>
                      </a:r>
                      <a:endParaRPr lang="en-US" sz="1300" b="1"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163830" marR="0" indent="114300" algn="l">
                        <a:lnSpc>
                          <a:spcPct val="70000"/>
                        </a:lnSpc>
                        <a:spcBef>
                          <a:spcPts val="0"/>
                        </a:spcBef>
                        <a:spcAft>
                          <a:spcPts val="0"/>
                        </a:spcAft>
                      </a:pPr>
                      <a:r>
                        <a:rPr lang="en-US" sz="1300" kern="1200" dirty="0">
                          <a:solidFill>
                            <a:srgbClr val="000000"/>
                          </a:solidFill>
                          <a:effectLst/>
                          <a:latin typeface="+mn-lt"/>
                          <a:ea typeface="Times New Roman" panose="02020603050405020304" pitchFamily="18" charset="0"/>
                          <a:cs typeface="Times New Roman" panose="02020603050405020304" pitchFamily="18" charset="0"/>
                        </a:rPr>
                        <a:t>Achieved </a:t>
                      </a:r>
                      <a:r>
                        <a:rPr lang="en-US" sz="1300" dirty="0">
                          <a:solidFill>
                            <a:srgbClr val="000000"/>
                          </a:solidFill>
                          <a:effectLst/>
                          <a:latin typeface="+mn-lt"/>
                          <a:ea typeface="Times New Roman" panose="02020603050405020304" pitchFamily="18" charset="0"/>
                          <a:cs typeface="Times New Roman" panose="02020603050405020304" pitchFamily="18" charset="0"/>
                        </a:rPr>
                        <a:t>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1201050771"/>
                  </a:ext>
                </a:extLst>
              </a:tr>
              <a:tr h="209486">
                <a:tc>
                  <a:txBody>
                    <a:bodyPr/>
                    <a:lstStyle/>
                    <a:p>
                      <a:pPr marL="0" marR="0" algn="l">
                        <a:lnSpc>
                          <a:spcPct val="107000"/>
                        </a:lnSpc>
                        <a:spcBef>
                          <a:spcPts val="0"/>
                        </a:spcBef>
                        <a:spcAft>
                          <a:spcPts val="0"/>
                        </a:spcAft>
                      </a:pPr>
                      <a:r>
                        <a:rPr lang="en-US" sz="1300" dirty="0">
                          <a:solidFill>
                            <a:srgbClr val="FFFFFF"/>
                          </a:solidFill>
                          <a:effectLst/>
                          <a:latin typeface="+mn-lt"/>
                          <a:ea typeface="Times New Roman" panose="02020603050405020304" pitchFamily="18" charset="0"/>
                          <a:cs typeface="Times New Roman" panose="02020603050405020304" pitchFamily="18" charset="0"/>
                        </a:rPr>
                        <a:t>Focus Area 2: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l">
                        <a:lnSpc>
                          <a:spcPct val="107000"/>
                        </a:lnSpc>
                        <a:spcBef>
                          <a:spcPts val="0"/>
                        </a:spcBef>
                        <a:spcAft>
                          <a:spcPts val="0"/>
                        </a:spcAft>
                      </a:pPr>
                      <a:r>
                        <a:rPr lang="en-US" sz="1300" dirty="0">
                          <a:solidFill>
                            <a:srgbClr val="FFFFFF"/>
                          </a:solidFill>
                          <a:effectLst/>
                          <a:latin typeface="+mn-lt"/>
                          <a:ea typeface="Times New Roman" panose="02020603050405020304" pitchFamily="18" charset="0"/>
                          <a:cs typeface="Times New Roman" panose="02020603050405020304" pitchFamily="18" charset="0"/>
                        </a:rPr>
                        <a:t>Investing in Human Capital – Moderately Satisfactory</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163830" marR="0" algn="l">
                        <a:lnSpc>
                          <a:spcPct val="107000"/>
                        </a:lnSpc>
                        <a:spcBef>
                          <a:spcPts val="0"/>
                        </a:spcBef>
                        <a:spcAft>
                          <a:spcPts val="0"/>
                        </a:spcAft>
                      </a:pPr>
                      <a:r>
                        <a:rPr lang="en-US" sz="1300" dirty="0">
                          <a:solidFill>
                            <a:srgbClr val="FFFFFF"/>
                          </a:solidFill>
                          <a:effectLst/>
                          <a:latin typeface="+mn-lt"/>
                          <a:ea typeface="Times New Roman" panose="02020603050405020304" pitchFamily="18" charset="0"/>
                          <a:cs typeface="Times New Roman" panose="02020603050405020304" pitchFamily="18" charset="0"/>
                        </a:rPr>
                        <a:t>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1638501185"/>
                  </a:ext>
                </a:extLst>
              </a:tr>
              <a:tr h="251795">
                <a:tc gridSpan="2">
                  <a:txBody>
                    <a:bodyPr/>
                    <a:lstStyle/>
                    <a:p>
                      <a:pPr marL="0" marR="0" algn="l">
                        <a:lnSpc>
                          <a:spcPct val="107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Objective 5: Improve the Competency Base</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163830" marR="0" indent="114300" algn="l">
                        <a:lnSpc>
                          <a:spcPct val="107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Mostly </a:t>
                      </a:r>
                      <a:r>
                        <a:rPr lang="en-US" sz="1300" dirty="0" err="1">
                          <a:solidFill>
                            <a:srgbClr val="000000"/>
                          </a:solidFill>
                          <a:effectLst/>
                          <a:latin typeface="+mn-lt"/>
                          <a:ea typeface="Times New Roman" panose="02020603050405020304" pitchFamily="18" charset="0"/>
                          <a:cs typeface="Times New Roman" panose="02020603050405020304" pitchFamily="18" charset="0"/>
                        </a:rPr>
                        <a:t>acheived</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2071956371"/>
                  </a:ext>
                </a:extLst>
              </a:tr>
              <a:tr h="334803">
                <a:tc gridSpan="2">
                  <a:txBody>
                    <a:bodyPr/>
                    <a:lstStyle/>
                    <a:p>
                      <a:pPr marL="0" marR="0" algn="l">
                        <a:lnSpc>
                          <a:spcPct val="107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Objective 6: Improve Health Service Delivery</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163830" marR="0" indent="114300" algn="l">
                        <a:lnSpc>
                          <a:spcPct val="107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Mostly </a:t>
                      </a:r>
                      <a:r>
                        <a:rPr lang="en-US" sz="1300" dirty="0" err="1">
                          <a:solidFill>
                            <a:srgbClr val="000000"/>
                          </a:solidFill>
                          <a:effectLst/>
                          <a:latin typeface="+mn-lt"/>
                          <a:ea typeface="Times New Roman" panose="02020603050405020304" pitchFamily="18" charset="0"/>
                          <a:cs typeface="Times New Roman" panose="02020603050405020304" pitchFamily="18" charset="0"/>
                        </a:rPr>
                        <a:t>acheived</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1159681145"/>
                  </a:ext>
                </a:extLst>
              </a:tr>
              <a:tr h="328322">
                <a:tc gridSpan="2">
                  <a:txBody>
                    <a:bodyPr/>
                    <a:lstStyle/>
                    <a:p>
                      <a:pPr marL="0" marR="0" algn="l">
                        <a:lnSpc>
                          <a:spcPct val="107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Objective 7: Improve Access to Water and Sanitation</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163830" marR="0" indent="114300" algn="l">
                        <a:lnSpc>
                          <a:spcPct val="107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Mostly achieved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2866303018"/>
                  </a:ext>
                </a:extLst>
              </a:tr>
              <a:tr h="343363">
                <a:tc>
                  <a:txBody>
                    <a:bodyPr/>
                    <a:lstStyle/>
                    <a:p>
                      <a:pPr marL="0" marR="0" algn="l">
                        <a:lnSpc>
                          <a:spcPct val="107000"/>
                        </a:lnSpc>
                        <a:spcBef>
                          <a:spcPts val="0"/>
                        </a:spcBef>
                        <a:spcAft>
                          <a:spcPts val="0"/>
                        </a:spcAft>
                      </a:pPr>
                      <a:r>
                        <a:rPr lang="en-US" sz="1300" dirty="0">
                          <a:solidFill>
                            <a:srgbClr val="FFFFFF"/>
                          </a:solidFill>
                          <a:effectLst/>
                          <a:latin typeface="+mn-lt"/>
                          <a:ea typeface="Times New Roman" panose="02020603050405020304" pitchFamily="18" charset="0"/>
                          <a:cs typeface="Times New Roman" panose="02020603050405020304" pitchFamily="18" charset="0"/>
                        </a:rPr>
                        <a:t>Focus Area 3: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gridSpan="3">
                  <a:txBody>
                    <a:bodyPr/>
                    <a:lstStyle/>
                    <a:p>
                      <a:pPr marL="163830" marR="0" algn="l">
                        <a:lnSpc>
                          <a:spcPct val="107000"/>
                        </a:lnSpc>
                        <a:spcBef>
                          <a:spcPts val="0"/>
                        </a:spcBef>
                        <a:spcAft>
                          <a:spcPts val="0"/>
                        </a:spcAft>
                      </a:pPr>
                      <a:r>
                        <a:rPr lang="en-US" sz="1300" dirty="0">
                          <a:solidFill>
                            <a:srgbClr val="FFFFFF"/>
                          </a:solidFill>
                          <a:effectLst/>
                          <a:latin typeface="+mn-lt"/>
                          <a:ea typeface="Times New Roman" panose="02020603050405020304" pitchFamily="18" charset="0"/>
                          <a:cs typeface="Times New Roman" panose="02020603050405020304" pitchFamily="18" charset="0"/>
                        </a:rPr>
                        <a:t>Strengthening Sustainability and Resilience - Moderately Satisfactory</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07405816"/>
                  </a:ext>
                </a:extLst>
              </a:tr>
              <a:tr h="395330">
                <a:tc gridSpan="2">
                  <a:txBody>
                    <a:bodyPr/>
                    <a:lstStyle/>
                    <a:p>
                      <a:pPr marL="0" marR="0" algn="l">
                        <a:lnSpc>
                          <a:spcPct val="70000"/>
                        </a:lnSpc>
                        <a:spcBef>
                          <a:spcPts val="0"/>
                        </a:spcBef>
                        <a:spcAft>
                          <a:spcPts val="0"/>
                        </a:spcAft>
                      </a:pPr>
                      <a:r>
                        <a:rPr lang="en-US" sz="1300" b="1" dirty="0">
                          <a:solidFill>
                            <a:srgbClr val="000000"/>
                          </a:solidFill>
                          <a:effectLst/>
                          <a:latin typeface="+mn-lt"/>
                          <a:ea typeface="Times New Roman" panose="02020603050405020304" pitchFamily="18" charset="0"/>
                          <a:cs typeface="Times New Roman" panose="02020603050405020304" pitchFamily="18" charset="0"/>
                        </a:rPr>
                        <a:t>Objective 8: Support for Recovery and Resilience</a:t>
                      </a:r>
                      <a:endParaRPr lang="en-US" sz="1300" b="1"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163830" marR="0" indent="114300" algn="just">
                        <a:lnSpc>
                          <a:spcPct val="70000"/>
                        </a:lnSpc>
                        <a:spcBef>
                          <a:spcPts val="0"/>
                        </a:spcBef>
                        <a:spcAft>
                          <a:spcPts val="0"/>
                        </a:spcAft>
                      </a:pPr>
                      <a:r>
                        <a:rPr lang="en-US" sz="1300" dirty="0">
                          <a:effectLst/>
                          <a:latin typeface="+mn-lt"/>
                          <a:ea typeface="Times New Roman" panose="02020603050405020304" pitchFamily="18" charset="0"/>
                          <a:cs typeface="Times New Roman" panose="02020603050405020304" pitchFamily="18" charset="0"/>
                        </a:rPr>
                        <a:t>Mostly achieved 
</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492229537"/>
                  </a:ext>
                </a:extLst>
              </a:tr>
              <a:tr h="351623">
                <a:tc gridSpan="2">
                  <a:txBody>
                    <a:bodyPr/>
                    <a:lstStyle/>
                    <a:p>
                      <a:pPr marL="0" marR="0" algn="l">
                        <a:lnSpc>
                          <a:spcPct val="70000"/>
                        </a:lnSpc>
                        <a:spcBef>
                          <a:spcPts val="0"/>
                        </a:spcBef>
                        <a:spcAft>
                          <a:spcPts val="0"/>
                        </a:spcAft>
                      </a:pPr>
                      <a:r>
                        <a:rPr lang="pt-BR" sz="1300" dirty="0">
                          <a:solidFill>
                            <a:srgbClr val="000000"/>
                          </a:solidFill>
                          <a:effectLst/>
                          <a:latin typeface="+mn-lt"/>
                          <a:ea typeface="Times New Roman" panose="02020603050405020304" pitchFamily="18" charset="0"/>
                          <a:cs typeface="Times New Roman" panose="02020603050405020304" pitchFamily="18" charset="0"/>
                        </a:rPr>
                        <a:t>Objective9: </a:t>
                      </a:r>
                      <a:r>
                        <a:rPr lang="en-US" sz="1300" dirty="0">
                          <a:solidFill>
                            <a:srgbClr val="000000"/>
                          </a:solidFill>
                          <a:effectLst/>
                          <a:latin typeface="+mn-lt"/>
                          <a:ea typeface="Times New Roman" panose="02020603050405020304" pitchFamily="18" charset="0"/>
                          <a:cs typeface="Times New Roman" panose="02020603050405020304" pitchFamily="18" charset="0"/>
                        </a:rPr>
                        <a:t>Promote Inclusive Urbanization and Decentralization</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163830" marR="0" indent="114300" algn="l">
                        <a:lnSpc>
                          <a:spcPct val="70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Partially achieved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300" dirty="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1212770644"/>
                  </a:ext>
                </a:extLst>
              </a:tr>
            </a:tbl>
          </a:graphicData>
        </a:graphic>
      </p:graphicFrame>
      <p:sp>
        <p:nvSpPr>
          <p:cNvPr id="9" name="TextBox 8">
            <a:extLst>
              <a:ext uri="{FF2B5EF4-FFF2-40B4-BE49-F238E27FC236}">
                <a16:creationId xmlns:a16="http://schemas.microsoft.com/office/drawing/2014/main" id="{6122B999-DE86-4BC0-AC20-DE5BD83111C8}"/>
              </a:ext>
            </a:extLst>
          </p:cNvPr>
          <p:cNvSpPr txBox="1"/>
          <p:nvPr/>
        </p:nvSpPr>
        <p:spPr>
          <a:xfrm>
            <a:off x="534297" y="5932887"/>
            <a:ext cx="10981428" cy="430887"/>
          </a:xfrm>
          <a:prstGeom prst="rect">
            <a:avLst/>
          </a:prstGeom>
          <a:noFill/>
        </p:spPr>
        <p:txBody>
          <a:bodyPr wrap="square">
            <a:spAutoFit/>
          </a:bodyPr>
          <a:lstStyle/>
          <a:p>
            <a:pPr marL="0" indent="0">
              <a:buNone/>
            </a:pPr>
            <a:r>
              <a:rPr lang="en-US" sz="1100" i="1" dirty="0">
                <a:latin typeface="+mj-lt"/>
              </a:rPr>
              <a:t>La classification des objectifs suit les catégories « atteint », « majoritairement atteint », « partiellement atteint » et « non atteint », selon le niveau de réalisation des indicateurs et l'existence de preuves qualitatives.</a:t>
            </a:r>
          </a:p>
        </p:txBody>
      </p:sp>
      <p:sp>
        <p:nvSpPr>
          <p:cNvPr id="11" name="Footer Placeholder 10">
            <a:extLst>
              <a:ext uri="{FF2B5EF4-FFF2-40B4-BE49-F238E27FC236}">
                <a16:creationId xmlns:a16="http://schemas.microsoft.com/office/drawing/2014/main" id="{49100E84-E54D-4FC1-B0A7-C901995EB704}"/>
              </a:ext>
            </a:extLst>
          </p:cNvPr>
          <p:cNvSpPr>
            <a:spLocks noGrp="1"/>
          </p:cNvSpPr>
          <p:nvPr>
            <p:ph type="ftr" sz="quarter" idx="11"/>
          </p:nvPr>
        </p:nvSpPr>
        <p:spPr/>
        <p:txBody>
          <a:bodyPr/>
          <a:lstStyle/>
          <a:p>
            <a:r>
              <a:rPr lang="en-US"/>
              <a:t>CPP 2023-2027. Version publique. Maputo, mai 2022.</a:t>
            </a:r>
            <a:endParaRPr lang="en-US" dirty="0"/>
          </a:p>
        </p:txBody>
      </p:sp>
      <p:sp>
        <p:nvSpPr>
          <p:cNvPr id="12" name="Slide Number Placeholder 11">
            <a:extLst>
              <a:ext uri="{FF2B5EF4-FFF2-40B4-BE49-F238E27FC236}">
                <a16:creationId xmlns:a16="http://schemas.microsoft.com/office/drawing/2014/main" id="{DCA6AA61-52B4-4F2B-A9A8-A05E87711509}"/>
              </a:ext>
            </a:extLst>
          </p:cNvPr>
          <p:cNvSpPr>
            <a:spLocks noGrp="1"/>
          </p:cNvSpPr>
          <p:nvPr>
            <p:ph type="sldNum" sz="quarter" idx="12"/>
          </p:nvPr>
        </p:nvSpPr>
        <p:spPr/>
        <p:txBody>
          <a:bodyPr/>
          <a:lstStyle/>
          <a:p>
            <a:fld id="{B8473C9A-9E91-4025-B5E2-D7B202510636}" type="slidenum">
              <a:rPr lang="en-US" smtClean="0"/>
              <a:t>12</a:t>
            </a:fld>
            <a:endParaRPr lang="en-US" dirty="0"/>
          </a:p>
        </p:txBody>
      </p:sp>
      <p:pic>
        <p:nvPicPr>
          <p:cNvPr id="4" name="Picture 3">
            <a:extLst>
              <a:ext uri="{FF2B5EF4-FFF2-40B4-BE49-F238E27FC236}">
                <a16:creationId xmlns:a16="http://schemas.microsoft.com/office/drawing/2014/main" id="{2398D764-93B7-4422-BA17-F14E0FDF98F1}"/>
              </a:ext>
            </a:extLst>
          </p:cNvPr>
          <p:cNvPicPr>
            <a:picLocks noChangeAspect="1"/>
          </p:cNvPicPr>
          <p:nvPr/>
        </p:nvPicPr>
        <p:blipFill>
          <a:blip r:embed="rId2"/>
          <a:stretch>
            <a:fillRect/>
          </a:stretch>
        </p:blipFill>
        <p:spPr>
          <a:xfrm>
            <a:off x="534297" y="123148"/>
            <a:ext cx="2316681" cy="463336"/>
          </a:xfrm>
          <a:prstGeom prst="rect">
            <a:avLst/>
          </a:prstGeom>
        </p:spPr>
      </p:pic>
    </p:spTree>
    <p:extLst>
      <p:ext uri="{BB962C8B-B14F-4D97-AF65-F5344CB8AC3E}">
        <p14:creationId xmlns:p14="http://schemas.microsoft.com/office/powerpoint/2010/main" val="89322810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5D587-1EC5-4652-83A4-1E754AF01E64}"/>
              </a:ext>
            </a:extLst>
          </p:cNvPr>
          <p:cNvSpPr>
            <a:spLocks noGrp="1"/>
          </p:cNvSpPr>
          <p:nvPr>
            <p:ph type="title"/>
          </p:nvPr>
        </p:nvSpPr>
        <p:spPr>
          <a:xfrm>
            <a:off x="3238724" y="165474"/>
            <a:ext cx="10515600" cy="813680"/>
          </a:xfrm>
        </p:spPr>
        <p:txBody>
          <a:bodyPr>
            <a:noAutofit/>
          </a:bodyPr>
          <a:lstStyle/>
          <a:p>
            <a:r>
              <a:rPr lang="en-US" sz="2400" dirty="0"/>
              <a:t>CPP EF2017-2021 : Leçons apprises </a:t>
            </a:r>
            <a:endParaRPr lang="pt" sz="2400" b="0" i="1" u="none" strike="noStrike" dirty="0">
              <a:highlight>
                <a:srgbClr val="000000">
                  <a:alpha val="0"/>
                </a:srgbClr>
              </a:highlight>
              <a:latin typeface="Arial"/>
            </a:endParaRPr>
          </a:p>
        </p:txBody>
      </p:sp>
      <p:sp>
        <p:nvSpPr>
          <p:cNvPr id="3" name="Content Placeholder 2">
            <a:extLst>
              <a:ext uri="{FF2B5EF4-FFF2-40B4-BE49-F238E27FC236}">
                <a16:creationId xmlns:a16="http://schemas.microsoft.com/office/drawing/2014/main" id="{43620D38-256E-4067-AE12-400CAF4C9E44}"/>
              </a:ext>
            </a:extLst>
          </p:cNvPr>
          <p:cNvSpPr>
            <a:spLocks noGrp="1"/>
          </p:cNvSpPr>
          <p:nvPr>
            <p:ph idx="1"/>
          </p:nvPr>
        </p:nvSpPr>
        <p:spPr>
          <a:xfrm>
            <a:off x="838200" y="980501"/>
            <a:ext cx="10515600" cy="5640635"/>
          </a:xfrm>
        </p:spPr>
        <p:txBody>
          <a:bodyPr>
            <a:noAutofit/>
          </a:bodyPr>
          <a:lstStyle/>
          <a:p>
            <a:pPr marL="365760" lvl="3" indent="-342900" algn="just">
              <a:spcBef>
                <a:spcPts val="1200"/>
              </a:spcBef>
              <a:buFont typeface="+mj-lt"/>
              <a:buAutoNum type="arabicPeriod"/>
            </a:pPr>
            <a:r>
              <a:rPr lang="en-US" b="1" dirty="0">
                <a:highlight>
                  <a:srgbClr val="000000">
                    <a:alpha val="0"/>
                  </a:srgbClr>
                </a:highlight>
              </a:rPr>
              <a:t>Importance d'un alignement solide sur les objectifs du Gouvernement, </a:t>
            </a:r>
            <a:r>
              <a:rPr lang="en-US" dirty="0">
                <a:highlight>
                  <a:srgbClr val="000000">
                    <a:alpha val="0"/>
                  </a:srgbClr>
                </a:highlight>
              </a:rPr>
              <a:t>le recours à des ressources supplémentaires, l'utilisation d'une gamme d'instruments de financement et autres (financements additionnels).</a:t>
            </a:r>
          </a:p>
          <a:p>
            <a:pPr marL="365760" lvl="3" indent="0" algn="just">
              <a:spcBef>
                <a:spcPts val="1200"/>
              </a:spcBef>
              <a:buNone/>
            </a:pPr>
            <a:r>
              <a:rPr lang="pt" b="1" dirty="0">
                <a:highlight>
                  <a:srgbClr val="000000">
                    <a:alpha val="0"/>
                  </a:srgbClr>
                </a:highlight>
              </a:rPr>
              <a:t>	</a:t>
            </a:r>
            <a:r>
              <a:rPr lang="en-US" b="1" dirty="0">
                <a:highlight>
                  <a:srgbClr val="000000">
                    <a:alpha val="0"/>
                  </a:srgbClr>
                </a:highlight>
              </a:rPr>
              <a:t>Flexibilité</a:t>
            </a:r>
            <a:r>
              <a:rPr lang="en-US" dirty="0">
                <a:highlight>
                  <a:srgbClr val="000000">
                    <a:alpha val="0"/>
                  </a:srgbClr>
                </a:highlight>
              </a:rPr>
              <a:t> pour adapter rapidement le programme aux réalités changeantes et aux nouvelles priorités gouvernementales.</a:t>
            </a:r>
            <a:endParaRPr lang="pt" dirty="0">
              <a:highlight>
                <a:srgbClr val="000000">
                  <a:alpha val="0"/>
                </a:srgbClr>
              </a:highlight>
            </a:endParaRPr>
          </a:p>
          <a:p>
            <a:pPr marL="365760" lvl="3" indent="-342900" algn="just">
              <a:spcBef>
                <a:spcPts val="1200"/>
              </a:spcBef>
              <a:buFont typeface="+mj-lt"/>
              <a:buAutoNum type="arabicPeriod" startAt="2"/>
            </a:pPr>
            <a:r>
              <a:rPr lang="en-US" b="1" i="0" u="none" strike="noStrike" dirty="0">
                <a:highlight>
                  <a:srgbClr val="000000">
                    <a:alpha val="0"/>
                  </a:srgbClr>
                </a:highlight>
                <a:latin typeface="Arial"/>
              </a:rPr>
              <a:t>Maintien du soutien à la réponse aux crises, </a:t>
            </a:r>
            <a:r>
              <a:rPr lang="en-US" i="0" u="none" strike="noStrike" dirty="0">
                <a:highlight>
                  <a:srgbClr val="000000">
                    <a:alpha val="0"/>
                  </a:srgbClr>
                </a:highlight>
                <a:latin typeface="Arial"/>
              </a:rPr>
              <a:t>à la préparation et à la prévention, mis en évidence par l'accent mis dans le CPF précédent sur la relèvement et la résilience – dans lequel le GBM a mis à profit son expertise technique et sa capacité de mobilisation des ressources pour renforcer les capacités de réponse et investir dans la prévention .</a:t>
            </a:r>
            <a:r>
              <a:rPr lang="pt" i="0" u="none" strike="noStrike" dirty="0">
                <a:highlight>
                  <a:srgbClr val="000000">
                    <a:alpha val="0"/>
                  </a:srgbClr>
                </a:highlight>
                <a:latin typeface="Arial"/>
              </a:rPr>
              <a:t> </a:t>
            </a:r>
          </a:p>
          <a:p>
            <a:pPr marL="365760" lvl="3" indent="-342900" algn="just">
              <a:spcBef>
                <a:spcPts val="1200"/>
              </a:spcBef>
              <a:buFont typeface="+mj-lt"/>
              <a:buAutoNum type="arabicPeriod" startAt="2"/>
            </a:pPr>
            <a:r>
              <a:rPr lang="en-US" b="1" i="0" u="none" strike="noStrike" dirty="0">
                <a:highlight>
                  <a:srgbClr val="000000">
                    <a:alpha val="0"/>
                  </a:srgbClr>
                </a:highlight>
                <a:latin typeface="Arial"/>
              </a:rPr>
              <a:t>Pauvreté et agriculture. </a:t>
            </a:r>
            <a:r>
              <a:rPr lang="en-US" i="0" u="none" strike="noStrike" dirty="0">
                <a:highlight>
                  <a:srgbClr val="000000">
                    <a:alpha val="0"/>
                  </a:srgbClr>
                </a:highlight>
                <a:latin typeface="Arial"/>
              </a:rPr>
              <a:t>Bien que le soutien à la productivité agricole et au développement rural représente jusqu'à 30 % de l'allocation financière globale de la BM, ce soutien semble n'avoir contribué que marginalement à l'augmentation de la productivité agricole globale et, par conséquent</a:t>
            </a:r>
            <a:r>
              <a:rPr lang="en-US" i="0" u="none" strike="noStrike">
                <a:highlight>
                  <a:srgbClr val="000000">
                    <a:alpha val="0"/>
                  </a:srgbClr>
                </a:highlight>
                <a:latin typeface="Arial"/>
              </a:rPr>
              <a:t>, </a:t>
            </a:r>
            <a:r>
              <a:rPr lang="en-US">
                <a:highlight>
                  <a:srgbClr val="000000">
                    <a:alpha val="0"/>
                  </a:srgbClr>
                </a:highlight>
                <a:latin typeface="Arial"/>
              </a:rPr>
              <a:t>à</a:t>
            </a:r>
            <a:r>
              <a:rPr lang="en-US" i="0" u="none" strike="noStrike">
                <a:highlight>
                  <a:srgbClr val="000000">
                    <a:alpha val="0"/>
                  </a:srgbClr>
                </a:highlight>
                <a:latin typeface="Arial"/>
              </a:rPr>
              <a:t> </a:t>
            </a:r>
            <a:r>
              <a:rPr lang="en-US" i="0" u="none" strike="noStrike" dirty="0">
                <a:highlight>
                  <a:srgbClr val="000000">
                    <a:alpha val="0"/>
                  </a:srgbClr>
                </a:highlight>
                <a:latin typeface="Arial"/>
              </a:rPr>
              <a:t>la réduction de la pauvreté.</a:t>
            </a:r>
          </a:p>
          <a:p>
            <a:pPr marL="365760" lvl="3" indent="-342900" algn="just">
              <a:spcBef>
                <a:spcPts val="1200"/>
              </a:spcBef>
              <a:buFont typeface="+mj-lt"/>
              <a:buAutoNum type="arabicPeriod" startAt="2"/>
            </a:pPr>
            <a:r>
              <a:rPr lang="en-US" b="1" dirty="0"/>
              <a:t>Un recentrage sur le renforcement institutionnel et les réformes économiques </a:t>
            </a:r>
            <a:r>
              <a:rPr lang="en-US" dirty="0"/>
              <a:t>pourrait accroître l'impact du futur CPF, ce qui impliquerait de réintroduire des opérations d'appui budgétaire combinées à de l'assistance technique et des études — complétées par d'autres instruments de financement si nécessaire.</a:t>
            </a:r>
            <a:endParaRPr lang="en-US" sz="1700" dirty="0"/>
          </a:p>
        </p:txBody>
      </p:sp>
      <p:sp>
        <p:nvSpPr>
          <p:cNvPr id="7" name="Footer Placeholder 6">
            <a:extLst>
              <a:ext uri="{FF2B5EF4-FFF2-40B4-BE49-F238E27FC236}">
                <a16:creationId xmlns:a16="http://schemas.microsoft.com/office/drawing/2014/main" id="{EA26D24A-3B7F-448D-A0A9-325CA054BE8D}"/>
              </a:ext>
            </a:extLst>
          </p:cNvPr>
          <p:cNvSpPr>
            <a:spLocks noGrp="1"/>
          </p:cNvSpPr>
          <p:nvPr>
            <p:ph type="ftr" sz="quarter" idx="11"/>
          </p:nvPr>
        </p:nvSpPr>
        <p:spPr/>
        <p:txBody>
          <a:bodyPr/>
          <a:lstStyle/>
          <a:p>
            <a:r>
              <a:rPr lang="en-US"/>
              <a:t>CPP 2023-2027. Version publique. Maputo, mai 2022.</a:t>
            </a:r>
            <a:endParaRPr lang="en-US" dirty="0"/>
          </a:p>
        </p:txBody>
      </p:sp>
      <p:sp>
        <p:nvSpPr>
          <p:cNvPr id="8" name="Slide Number Placeholder 7">
            <a:extLst>
              <a:ext uri="{FF2B5EF4-FFF2-40B4-BE49-F238E27FC236}">
                <a16:creationId xmlns:a16="http://schemas.microsoft.com/office/drawing/2014/main" id="{49CB3C9C-220F-4711-ADCB-DE773403F0D2}"/>
              </a:ext>
            </a:extLst>
          </p:cNvPr>
          <p:cNvSpPr>
            <a:spLocks noGrp="1"/>
          </p:cNvSpPr>
          <p:nvPr>
            <p:ph type="sldNum" sz="quarter" idx="12"/>
          </p:nvPr>
        </p:nvSpPr>
        <p:spPr/>
        <p:txBody>
          <a:bodyPr/>
          <a:lstStyle/>
          <a:p>
            <a:fld id="{B8473C9A-9E91-4025-B5E2-D7B202510636}" type="slidenum">
              <a:rPr lang="en-US" smtClean="0"/>
              <a:t>13</a:t>
            </a:fld>
            <a:endParaRPr lang="en-US" dirty="0"/>
          </a:p>
        </p:txBody>
      </p:sp>
      <p:pic>
        <p:nvPicPr>
          <p:cNvPr id="4" name="Picture 3">
            <a:extLst>
              <a:ext uri="{FF2B5EF4-FFF2-40B4-BE49-F238E27FC236}">
                <a16:creationId xmlns:a16="http://schemas.microsoft.com/office/drawing/2014/main" id="{CE072EBA-EE85-483D-962C-E95907C911AA}"/>
              </a:ext>
            </a:extLst>
          </p:cNvPr>
          <p:cNvPicPr>
            <a:picLocks noChangeAspect="1"/>
          </p:cNvPicPr>
          <p:nvPr/>
        </p:nvPicPr>
        <p:blipFill>
          <a:blip r:embed="rId2"/>
          <a:stretch>
            <a:fillRect/>
          </a:stretch>
        </p:blipFill>
        <p:spPr>
          <a:xfrm>
            <a:off x="441859" y="236864"/>
            <a:ext cx="2316681" cy="463336"/>
          </a:xfrm>
          <a:prstGeom prst="rect">
            <a:avLst/>
          </a:prstGeom>
        </p:spPr>
      </p:pic>
    </p:spTree>
    <p:extLst>
      <p:ext uri="{BB962C8B-B14F-4D97-AF65-F5344CB8AC3E}">
        <p14:creationId xmlns:p14="http://schemas.microsoft.com/office/powerpoint/2010/main" val="159121229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8BF6E-3F48-4133-BFA3-5A80DFDCB4E2}"/>
              </a:ext>
            </a:extLst>
          </p:cNvPr>
          <p:cNvSpPr>
            <a:spLocks noGrp="1"/>
          </p:cNvSpPr>
          <p:nvPr>
            <p:ph type="title"/>
          </p:nvPr>
        </p:nvSpPr>
        <p:spPr>
          <a:xfrm>
            <a:off x="838200" y="136525"/>
            <a:ext cx="10515600" cy="1325563"/>
          </a:xfrm>
        </p:spPr>
        <p:txBody>
          <a:bodyPr>
            <a:noAutofit/>
          </a:bodyPr>
          <a:lstStyle/>
          <a:p>
            <a:pPr algn="ctr"/>
            <a:r>
              <a:rPr lang="en-US" sz="4000" dirty="0"/>
              <a:t>Structure de la présentation </a:t>
            </a:r>
            <a:endParaRPr lang="pt" sz="4000" b="0" i="1" u="none" strike="noStrike" dirty="0">
              <a:highlight>
                <a:srgbClr val="000000">
                  <a:alpha val="0"/>
                </a:srgbClr>
              </a:highlight>
              <a:latin typeface="Arial"/>
            </a:endParaRPr>
          </a:p>
        </p:txBody>
      </p:sp>
      <p:sp>
        <p:nvSpPr>
          <p:cNvPr id="3" name="Content Placeholder 2">
            <a:extLst>
              <a:ext uri="{FF2B5EF4-FFF2-40B4-BE49-F238E27FC236}">
                <a16:creationId xmlns:a16="http://schemas.microsoft.com/office/drawing/2014/main" id="{A71C13BF-78D7-4831-B2B9-0342F47476B7}"/>
              </a:ext>
            </a:extLst>
          </p:cNvPr>
          <p:cNvSpPr>
            <a:spLocks noGrp="1"/>
          </p:cNvSpPr>
          <p:nvPr>
            <p:ph idx="1"/>
          </p:nvPr>
        </p:nvSpPr>
        <p:spPr>
          <a:xfrm>
            <a:off x="217843" y="1462089"/>
            <a:ext cx="11357385" cy="4648256"/>
          </a:xfrm>
        </p:spPr>
        <p:txBody>
          <a:bodyPr>
            <a:noAutofit/>
          </a:bodyPr>
          <a:lstStyle/>
          <a:p>
            <a:pPr marL="1371600" lvl="3" indent="-571500">
              <a:lnSpc>
                <a:spcPct val="100000"/>
              </a:lnSpc>
              <a:spcBef>
                <a:spcPts val="1200"/>
              </a:spcBef>
              <a:spcAft>
                <a:spcPts val="1200"/>
              </a:spcAft>
              <a:buFont typeface="+mj-lt"/>
              <a:buAutoNum type="romanUcPeriod"/>
            </a:pPr>
            <a:r>
              <a:rPr lang="en-US" sz="3200" b="1" dirty="0">
                <a:solidFill>
                  <a:schemeClr val="bg2">
                    <a:lumMod val="90000"/>
                  </a:schemeClr>
                </a:solidFill>
              </a:rPr>
              <a:t>Vision du Groupe de la Banque mondiale sur les principaux défis stratégiques du pays    Principaux enseignements du CPF précédent (2017-2021</a:t>
            </a:r>
            <a:r>
              <a:rPr lang="pt-BR" sz="3200" b="1" i="0" u="none" strike="noStrike" dirty="0">
                <a:solidFill>
                  <a:schemeClr val="bg2">
                    <a:lumMod val="90000"/>
                  </a:schemeClr>
                </a:solidFill>
                <a:highlight>
                  <a:srgbClr val="000000">
                    <a:alpha val="0"/>
                  </a:srgbClr>
                </a:highlight>
                <a:latin typeface="Arial"/>
              </a:rPr>
              <a:t>)</a:t>
            </a:r>
          </a:p>
          <a:p>
            <a:pPr marL="1371600" lvl="3" indent="-571500">
              <a:lnSpc>
                <a:spcPct val="100000"/>
              </a:lnSpc>
              <a:spcBef>
                <a:spcPts val="1200"/>
              </a:spcBef>
              <a:spcAft>
                <a:spcPts val="1200"/>
              </a:spcAft>
              <a:buFont typeface="+mj-lt"/>
              <a:buAutoNum type="romanUcPeriod"/>
            </a:pPr>
            <a:r>
              <a:rPr lang="en-US" sz="3200" b="1" dirty="0"/>
              <a:t>Proposition initiale pour le CPP 2023-2027</a:t>
            </a:r>
            <a:endParaRPr lang="pt" sz="3200" b="1" i="0" u="none" strike="noStrike" dirty="0">
              <a:highlight>
                <a:srgbClr val="000000">
                  <a:alpha val="0"/>
                </a:srgbClr>
              </a:highlight>
              <a:latin typeface="Arial"/>
            </a:endParaRPr>
          </a:p>
        </p:txBody>
      </p:sp>
      <p:sp>
        <p:nvSpPr>
          <p:cNvPr id="7" name="Footer Placeholder 6">
            <a:extLst>
              <a:ext uri="{FF2B5EF4-FFF2-40B4-BE49-F238E27FC236}">
                <a16:creationId xmlns:a16="http://schemas.microsoft.com/office/drawing/2014/main" id="{7A6A430E-5458-416E-A9AB-A23A8820A72E}"/>
              </a:ext>
            </a:extLst>
          </p:cNvPr>
          <p:cNvSpPr>
            <a:spLocks noGrp="1"/>
          </p:cNvSpPr>
          <p:nvPr>
            <p:ph type="ftr" sz="quarter" idx="11"/>
          </p:nvPr>
        </p:nvSpPr>
        <p:spPr/>
        <p:txBody>
          <a:bodyPr/>
          <a:lstStyle/>
          <a:p>
            <a:r>
              <a:rPr lang="en-US"/>
              <a:t>CPP 2023-2027. Version publique. Maputo, mai 2022.</a:t>
            </a:r>
            <a:endParaRPr lang="en-US" dirty="0"/>
          </a:p>
        </p:txBody>
      </p:sp>
      <p:sp>
        <p:nvSpPr>
          <p:cNvPr id="8" name="Slide Number Placeholder 7">
            <a:extLst>
              <a:ext uri="{FF2B5EF4-FFF2-40B4-BE49-F238E27FC236}">
                <a16:creationId xmlns:a16="http://schemas.microsoft.com/office/drawing/2014/main" id="{4D9E7C67-67A0-4D86-94F9-54FE0825882C}"/>
              </a:ext>
            </a:extLst>
          </p:cNvPr>
          <p:cNvSpPr>
            <a:spLocks noGrp="1"/>
          </p:cNvSpPr>
          <p:nvPr>
            <p:ph type="sldNum" sz="quarter" idx="12"/>
          </p:nvPr>
        </p:nvSpPr>
        <p:spPr/>
        <p:txBody>
          <a:bodyPr/>
          <a:lstStyle/>
          <a:p>
            <a:fld id="{B8473C9A-9E91-4025-B5E2-D7B202510636}" type="slidenum">
              <a:rPr lang="en-US" smtClean="0"/>
              <a:t>14</a:t>
            </a:fld>
            <a:endParaRPr lang="en-US" dirty="0"/>
          </a:p>
        </p:txBody>
      </p:sp>
      <p:pic>
        <p:nvPicPr>
          <p:cNvPr id="4" name="Picture 3">
            <a:extLst>
              <a:ext uri="{FF2B5EF4-FFF2-40B4-BE49-F238E27FC236}">
                <a16:creationId xmlns:a16="http://schemas.microsoft.com/office/drawing/2014/main" id="{B1281B00-F5BC-4B51-A637-214484886365}"/>
              </a:ext>
            </a:extLst>
          </p:cNvPr>
          <p:cNvPicPr>
            <a:picLocks noChangeAspect="1"/>
          </p:cNvPicPr>
          <p:nvPr/>
        </p:nvPicPr>
        <p:blipFill>
          <a:blip r:embed="rId2"/>
          <a:stretch>
            <a:fillRect/>
          </a:stretch>
        </p:blipFill>
        <p:spPr>
          <a:xfrm>
            <a:off x="217843" y="284319"/>
            <a:ext cx="2316681" cy="463336"/>
          </a:xfrm>
          <a:prstGeom prst="rect">
            <a:avLst/>
          </a:prstGeom>
        </p:spPr>
      </p:pic>
    </p:spTree>
    <p:extLst>
      <p:ext uri="{BB962C8B-B14F-4D97-AF65-F5344CB8AC3E}">
        <p14:creationId xmlns:p14="http://schemas.microsoft.com/office/powerpoint/2010/main" val="156690918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FB915-6269-468D-BE41-290933A67848}"/>
              </a:ext>
            </a:extLst>
          </p:cNvPr>
          <p:cNvSpPr>
            <a:spLocks noGrp="1"/>
          </p:cNvSpPr>
          <p:nvPr>
            <p:ph type="title"/>
          </p:nvPr>
        </p:nvSpPr>
        <p:spPr>
          <a:xfrm>
            <a:off x="210151" y="117383"/>
            <a:ext cx="11674365" cy="974115"/>
          </a:xfrm>
        </p:spPr>
        <p:txBody>
          <a:bodyPr>
            <a:noAutofit/>
          </a:bodyPr>
          <a:lstStyle/>
          <a:p>
            <a:pPr algn="r" rtl="0"/>
            <a:r>
              <a:rPr lang="en-US" sz="2400" b="1" i="0" u="none" strike="noStrike" dirty="0">
                <a:highlight>
                  <a:srgbClr val="000000">
                    <a:alpha val="0"/>
                  </a:srgbClr>
                </a:highlight>
                <a:latin typeface="Arial"/>
              </a:rPr>
              <a:t>Programme gouvernemental et stratégie à moyen terme (1-2)</a:t>
            </a:r>
            <a:endParaRPr lang="pt" sz="2400" b="1" i="0" u="none" strike="noStrike" dirty="0">
              <a:highlight>
                <a:srgbClr val="000000">
                  <a:alpha val="0"/>
                </a:srgbClr>
              </a:highlight>
              <a:latin typeface="Arial"/>
            </a:endParaRPr>
          </a:p>
        </p:txBody>
      </p:sp>
      <p:sp>
        <p:nvSpPr>
          <p:cNvPr id="3" name="Content Placeholder 2">
            <a:extLst>
              <a:ext uri="{FF2B5EF4-FFF2-40B4-BE49-F238E27FC236}">
                <a16:creationId xmlns:a16="http://schemas.microsoft.com/office/drawing/2014/main" id="{AB67758D-AD88-4CBF-86DB-74D79CEE14E6}"/>
              </a:ext>
            </a:extLst>
          </p:cNvPr>
          <p:cNvSpPr>
            <a:spLocks noGrp="1"/>
          </p:cNvSpPr>
          <p:nvPr>
            <p:ph idx="1"/>
          </p:nvPr>
        </p:nvSpPr>
        <p:spPr>
          <a:xfrm>
            <a:off x="2885431" y="920048"/>
            <a:ext cx="9096418" cy="5436302"/>
          </a:xfrm>
        </p:spPr>
        <p:txBody>
          <a:bodyPr>
            <a:noAutofit/>
          </a:bodyPr>
          <a:lstStyle/>
          <a:p>
            <a:pPr algn="just" rtl="0">
              <a:lnSpc>
                <a:spcPct val="100000"/>
              </a:lnSpc>
            </a:pPr>
            <a:r>
              <a:rPr lang="en-US" sz="1400" b="1" i="0" u="none" strike="noStrike" dirty="0">
                <a:highlight>
                  <a:srgbClr val="000000">
                    <a:alpha val="0"/>
                  </a:srgbClr>
                </a:highlight>
                <a:latin typeface="Arial"/>
              </a:rPr>
              <a:t>Le Gouvernement du Mozambique a élaboré une Stratégie Nationale de Développement (ENDE) pour 2015-2030. </a:t>
            </a:r>
            <a:r>
              <a:rPr lang="en-US" sz="1400" i="0" u="none" strike="noStrike" dirty="0">
                <a:highlight>
                  <a:srgbClr val="000000">
                    <a:alpha val="0"/>
                  </a:srgbClr>
                </a:highlight>
                <a:latin typeface="Arial"/>
              </a:rPr>
              <a:t>Dans le cadre défini par cette stratégie, le gouvernement définit ensuite des plans de développement sectoriels et territoriaux ; les plans quinquennaux correspondants ; le scénario fiscal à moyen terme et le plan budgétaire social, économique et de l'État.</a:t>
            </a:r>
          </a:p>
          <a:p>
            <a:pPr algn="just" rtl="0">
              <a:lnSpc>
                <a:spcPct val="100000"/>
              </a:lnSpc>
            </a:pPr>
            <a:r>
              <a:rPr lang="en-US" sz="1400" b="1" i="0" u="none" strike="noStrike" dirty="0">
                <a:highlight>
                  <a:srgbClr val="000000">
                    <a:alpha val="0"/>
                  </a:srgbClr>
                </a:highlight>
                <a:latin typeface="Arial"/>
              </a:rPr>
              <a:t>END : 2022-2042. Vision : </a:t>
            </a:r>
            <a:r>
              <a:rPr lang="en-US" sz="1400" i="0" u="none" strike="noStrike" dirty="0">
                <a:highlight>
                  <a:srgbClr val="000000">
                    <a:alpha val="0"/>
                  </a:srgbClr>
                </a:highlight>
                <a:latin typeface="Arial"/>
              </a:rPr>
              <a:t>« Améliorer le niveau de vie de la population par la transformation structurelle de l'économie, d'une économie primaire vers une économie industrialisée et de services. » Nouveaux axes prioritaires proposés : (i) transformation économique, (ii) transformation sociale, (iii) gouvernance, et (iv) environnement et économie circulaire.</a:t>
            </a:r>
          </a:p>
          <a:p>
            <a:pPr algn="just" rtl="0">
              <a:lnSpc>
                <a:spcPct val="100000"/>
              </a:lnSpc>
            </a:pPr>
            <a:r>
              <a:rPr lang="en-US" sz="1400" b="1" i="0" u="none" strike="noStrike" dirty="0">
                <a:highlight>
                  <a:srgbClr val="000000">
                    <a:alpha val="0"/>
                  </a:srgbClr>
                </a:highlight>
                <a:latin typeface="Arial"/>
              </a:rPr>
              <a:t>Le Programme Quinquennal du Gouvernement (PQG) 2020-2024  </a:t>
            </a:r>
            <a:r>
              <a:rPr lang="en-US" sz="1400" i="0" u="none" strike="noStrike" dirty="0">
                <a:highlight>
                  <a:srgbClr val="000000">
                    <a:alpha val="0"/>
                  </a:srgbClr>
                </a:highlight>
                <a:latin typeface="Arial"/>
              </a:rPr>
              <a:t>continuera d'être le principal guide des interventions et stratégies gouvernementales en 2023-24. Un nouveau PQG devrait être élaboré après les élections nationales de 2024. Le Gouvernement a développé une Stratégie de Prévention des Conflits et de la Violence dans le cadre du processus visant à garantir l'éligibilité à l'Allocation pour la Prévention et la Résilience (PRA, Prevention and Resilience Allocation) au titre de l'IDA19.</a:t>
            </a:r>
          </a:p>
          <a:p>
            <a:pPr marR="0" algn="just">
              <a:lnSpc>
                <a:spcPct val="100000"/>
              </a:lnSpc>
              <a:spcAft>
                <a:spcPct val="0"/>
              </a:spcAft>
            </a:pPr>
            <a:r>
              <a:rPr lang="en-US" b="1" dirty="0"/>
              <a:t>Le Gouvernement dispose également d'une stratégie solide pour le secteur de l'énergie</a:t>
            </a:r>
            <a:r>
              <a:rPr lang="en-US" dirty="0"/>
              <a:t>. La Stratégie Énergétique pour la période 2015-2024 vise à : (i) Accroître les infrastructures et la production d'énergie pour les marchés locaux et les exportations d'énergie (gaz et électricité). (ii) Étendre l'accès local à l'électricité de 25 % en 2015 à 62 % d'ici fin 2024, ce qui devrait constituer un moteur majeur du développement économique et social du pays.</a:t>
            </a:r>
          </a:p>
          <a:p>
            <a:pPr marR="0" algn="just">
              <a:lnSpc>
                <a:spcPct val="100000"/>
              </a:lnSpc>
              <a:spcAft>
                <a:spcPct val="0"/>
              </a:spcAft>
            </a:pPr>
            <a:r>
              <a:rPr lang="en-US" b="1" dirty="0"/>
              <a:t>Le Gouvernement a approuvé la Stratégie Nationale d'Adaptation et d'Atténuation des Changements Climatiques</a:t>
            </a:r>
            <a:r>
              <a:rPr lang="en-US" dirty="0"/>
              <a:t>, qui fournit le cadre politique global pour orienter la planification et le développement résilients au climat. La révision en cours de l'ENDE crée une opportunité d'intégrer les changements climatiques dans sa stratégie de développement.</a:t>
            </a:r>
          </a:p>
          <a:p>
            <a:pPr marL="0" marR="0" algn="just">
              <a:lnSpc>
                <a:spcPct val="100000"/>
              </a:lnSpc>
              <a:spcBef>
                <a:spcPct val="0"/>
              </a:spcBef>
              <a:spcAft>
                <a:spcPct val="0"/>
              </a:spcAft>
            </a:pPr>
            <a:endParaRPr lang="en-US" dirty="0">
              <a:effectLst/>
              <a:ea typeface="Times New Roman" panose="02020603050405020304" pitchFamily="18" charset="0"/>
            </a:endParaRPr>
          </a:p>
          <a:p>
            <a:pPr>
              <a:lnSpc>
                <a:spcPct val="100000"/>
              </a:lnSpc>
            </a:pPr>
            <a:endParaRPr lang="en-US" dirty="0"/>
          </a:p>
        </p:txBody>
      </p:sp>
      <p:sp>
        <p:nvSpPr>
          <p:cNvPr id="13" name="TextBox 12">
            <a:extLst>
              <a:ext uri="{FF2B5EF4-FFF2-40B4-BE49-F238E27FC236}">
                <a16:creationId xmlns:a16="http://schemas.microsoft.com/office/drawing/2014/main" id="{275A71C0-DD1F-4344-896E-1E6D79421314}"/>
              </a:ext>
            </a:extLst>
          </p:cNvPr>
          <p:cNvSpPr txBox="1"/>
          <p:nvPr/>
        </p:nvSpPr>
        <p:spPr>
          <a:xfrm>
            <a:off x="421936" y="1091498"/>
            <a:ext cx="2251710" cy="830997"/>
          </a:xfrm>
          <a:prstGeom prst="rect">
            <a:avLst/>
          </a:prstGeom>
          <a:noFill/>
        </p:spPr>
        <p:txBody>
          <a:bodyPr wrap="square">
            <a:noAutofit/>
          </a:bodyPr>
          <a:lstStyle/>
          <a:p>
            <a:pPr algn="ctr" rtl="0"/>
            <a:r>
              <a:rPr lang="en-US" sz="1600" b="1" i="0" u="none" strike="noStrike">
                <a:highlight>
                  <a:srgbClr val="000000">
                    <a:alpha val="0"/>
                  </a:srgbClr>
                </a:highlight>
                <a:latin typeface="Arial"/>
                <a:ea typeface="Times New Roman"/>
              </a:rPr>
              <a:t>Cadre de planification stratégique du Mozambique</a:t>
            </a:r>
            <a:endParaRPr lang="en-US" sz="1600" b="1" dirty="0"/>
          </a:p>
        </p:txBody>
      </p:sp>
      <p:sp>
        <p:nvSpPr>
          <p:cNvPr id="7" name="Footer Placeholder 6">
            <a:extLst>
              <a:ext uri="{FF2B5EF4-FFF2-40B4-BE49-F238E27FC236}">
                <a16:creationId xmlns:a16="http://schemas.microsoft.com/office/drawing/2014/main" id="{3C07539B-E0FF-42CA-B8A4-65A60A9256F0}"/>
              </a:ext>
            </a:extLst>
          </p:cNvPr>
          <p:cNvSpPr>
            <a:spLocks noGrp="1"/>
          </p:cNvSpPr>
          <p:nvPr>
            <p:ph type="ftr" sz="quarter" idx="11"/>
          </p:nvPr>
        </p:nvSpPr>
        <p:spPr/>
        <p:txBody>
          <a:bodyPr/>
          <a:lstStyle/>
          <a:p>
            <a:r>
              <a:rPr lang="en-US"/>
              <a:t>CPP 2023-2027. Version publique. Maputo, mai 2022.</a:t>
            </a:r>
            <a:endParaRPr lang="en-US" dirty="0"/>
          </a:p>
        </p:txBody>
      </p:sp>
      <p:sp>
        <p:nvSpPr>
          <p:cNvPr id="8" name="Slide Number Placeholder 7">
            <a:extLst>
              <a:ext uri="{FF2B5EF4-FFF2-40B4-BE49-F238E27FC236}">
                <a16:creationId xmlns:a16="http://schemas.microsoft.com/office/drawing/2014/main" id="{08206547-D93E-4655-9380-0A7EF5A3B216}"/>
              </a:ext>
            </a:extLst>
          </p:cNvPr>
          <p:cNvSpPr>
            <a:spLocks noGrp="1"/>
          </p:cNvSpPr>
          <p:nvPr>
            <p:ph type="sldNum" sz="quarter" idx="12"/>
          </p:nvPr>
        </p:nvSpPr>
        <p:spPr/>
        <p:txBody>
          <a:bodyPr/>
          <a:lstStyle/>
          <a:p>
            <a:fld id="{B8473C9A-9E91-4025-B5E2-D7B202510636}" type="slidenum">
              <a:rPr lang="en-US" smtClean="0"/>
              <a:t>15</a:t>
            </a:fld>
            <a:endParaRPr lang="en-US" dirty="0"/>
          </a:p>
        </p:txBody>
      </p:sp>
      <p:pic>
        <p:nvPicPr>
          <p:cNvPr id="5" name="Picture 4">
            <a:extLst>
              <a:ext uri="{FF2B5EF4-FFF2-40B4-BE49-F238E27FC236}">
                <a16:creationId xmlns:a16="http://schemas.microsoft.com/office/drawing/2014/main" id="{B154BE3C-E233-49B7-A33C-58E1AF92F8FF}"/>
              </a:ext>
            </a:extLst>
          </p:cNvPr>
          <p:cNvPicPr>
            <a:picLocks noChangeAspect="1"/>
          </p:cNvPicPr>
          <p:nvPr/>
        </p:nvPicPr>
        <p:blipFill>
          <a:blip r:embed="rId3"/>
          <a:stretch>
            <a:fillRect/>
          </a:stretch>
        </p:blipFill>
        <p:spPr>
          <a:xfrm>
            <a:off x="275447" y="1922495"/>
            <a:ext cx="2609984" cy="1371670"/>
          </a:xfrm>
          <a:prstGeom prst="rect">
            <a:avLst/>
          </a:prstGeom>
        </p:spPr>
      </p:pic>
      <p:pic>
        <p:nvPicPr>
          <p:cNvPr id="6" name="Picture 5">
            <a:extLst>
              <a:ext uri="{FF2B5EF4-FFF2-40B4-BE49-F238E27FC236}">
                <a16:creationId xmlns:a16="http://schemas.microsoft.com/office/drawing/2014/main" id="{82A4F521-947E-4F41-8989-A9E808E1FB24}"/>
              </a:ext>
            </a:extLst>
          </p:cNvPr>
          <p:cNvPicPr>
            <a:picLocks noChangeAspect="1"/>
          </p:cNvPicPr>
          <p:nvPr/>
        </p:nvPicPr>
        <p:blipFill>
          <a:blip r:embed="rId4"/>
          <a:stretch>
            <a:fillRect/>
          </a:stretch>
        </p:blipFill>
        <p:spPr>
          <a:xfrm>
            <a:off x="581456" y="2695170"/>
            <a:ext cx="1943200" cy="1028753"/>
          </a:xfrm>
          <a:prstGeom prst="rect">
            <a:avLst/>
          </a:prstGeom>
        </p:spPr>
      </p:pic>
      <p:pic>
        <p:nvPicPr>
          <p:cNvPr id="9" name="Picture 8">
            <a:extLst>
              <a:ext uri="{FF2B5EF4-FFF2-40B4-BE49-F238E27FC236}">
                <a16:creationId xmlns:a16="http://schemas.microsoft.com/office/drawing/2014/main" id="{93473CB6-38EC-401B-8248-CA013BA9AD4B}"/>
              </a:ext>
            </a:extLst>
          </p:cNvPr>
          <p:cNvPicPr>
            <a:picLocks noChangeAspect="1"/>
          </p:cNvPicPr>
          <p:nvPr/>
        </p:nvPicPr>
        <p:blipFill>
          <a:blip r:embed="rId5"/>
          <a:stretch>
            <a:fillRect/>
          </a:stretch>
        </p:blipFill>
        <p:spPr>
          <a:xfrm>
            <a:off x="842905" y="3416946"/>
            <a:ext cx="1409772" cy="914447"/>
          </a:xfrm>
          <a:prstGeom prst="rect">
            <a:avLst/>
          </a:prstGeom>
        </p:spPr>
      </p:pic>
      <p:pic>
        <p:nvPicPr>
          <p:cNvPr id="12" name="Picture 11">
            <a:extLst>
              <a:ext uri="{FF2B5EF4-FFF2-40B4-BE49-F238E27FC236}">
                <a16:creationId xmlns:a16="http://schemas.microsoft.com/office/drawing/2014/main" id="{695A486F-A69A-4D7E-9A13-4053BA05D168}"/>
              </a:ext>
            </a:extLst>
          </p:cNvPr>
          <p:cNvPicPr>
            <a:picLocks noChangeAspect="1"/>
          </p:cNvPicPr>
          <p:nvPr/>
        </p:nvPicPr>
        <p:blipFill>
          <a:blip r:embed="rId6"/>
          <a:stretch>
            <a:fillRect/>
          </a:stretch>
        </p:blipFill>
        <p:spPr>
          <a:xfrm>
            <a:off x="961282" y="4068498"/>
            <a:ext cx="1238314" cy="704886"/>
          </a:xfrm>
          <a:prstGeom prst="rect">
            <a:avLst/>
          </a:prstGeom>
        </p:spPr>
      </p:pic>
      <p:pic>
        <p:nvPicPr>
          <p:cNvPr id="14" name="Picture 13">
            <a:extLst>
              <a:ext uri="{FF2B5EF4-FFF2-40B4-BE49-F238E27FC236}">
                <a16:creationId xmlns:a16="http://schemas.microsoft.com/office/drawing/2014/main" id="{3AD427A3-5513-40A2-8EB4-47A749B68E50}"/>
              </a:ext>
            </a:extLst>
          </p:cNvPr>
          <p:cNvPicPr>
            <a:picLocks noChangeAspect="1"/>
          </p:cNvPicPr>
          <p:nvPr/>
        </p:nvPicPr>
        <p:blipFill>
          <a:blip r:embed="rId7"/>
          <a:stretch>
            <a:fillRect/>
          </a:stretch>
        </p:blipFill>
        <p:spPr>
          <a:xfrm>
            <a:off x="961282" y="4575006"/>
            <a:ext cx="1085906" cy="1085906"/>
          </a:xfrm>
          <a:prstGeom prst="rect">
            <a:avLst/>
          </a:prstGeom>
        </p:spPr>
      </p:pic>
      <p:pic>
        <p:nvPicPr>
          <p:cNvPr id="15" name="Picture 14">
            <a:extLst>
              <a:ext uri="{FF2B5EF4-FFF2-40B4-BE49-F238E27FC236}">
                <a16:creationId xmlns:a16="http://schemas.microsoft.com/office/drawing/2014/main" id="{60585D39-674F-4998-BCCE-060C6E065B1D}"/>
              </a:ext>
            </a:extLst>
          </p:cNvPr>
          <p:cNvPicPr>
            <a:picLocks noChangeAspect="1"/>
          </p:cNvPicPr>
          <p:nvPr/>
        </p:nvPicPr>
        <p:blipFill>
          <a:blip r:embed="rId8"/>
          <a:stretch>
            <a:fillRect/>
          </a:stretch>
        </p:blipFill>
        <p:spPr>
          <a:xfrm>
            <a:off x="389450" y="198404"/>
            <a:ext cx="2316681" cy="463336"/>
          </a:xfrm>
          <a:prstGeom prst="rect">
            <a:avLst/>
          </a:prstGeom>
        </p:spPr>
      </p:pic>
    </p:spTree>
    <p:extLst>
      <p:ext uri="{BB962C8B-B14F-4D97-AF65-F5344CB8AC3E}">
        <p14:creationId xmlns:p14="http://schemas.microsoft.com/office/powerpoint/2010/main" val="269148502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0905DBB9-16CF-4238-810E-D8E86FC842AF}"/>
              </a:ext>
            </a:extLst>
          </p:cNvPr>
          <p:cNvSpPr txBox="1"/>
          <p:nvPr/>
        </p:nvSpPr>
        <p:spPr>
          <a:xfrm>
            <a:off x="342901" y="803128"/>
            <a:ext cx="11527970" cy="555322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rtl="0">
              <a:lnSpc>
                <a:spcPct val="100000"/>
              </a:lnSpc>
              <a:spcAft>
                <a:spcPts val="800"/>
              </a:spcAft>
              <a:buNone/>
            </a:pPr>
            <a:r>
              <a:rPr lang="en-US" sz="1400" b="1" i="0" u="none" strike="noStrike" dirty="0">
                <a:highlight>
                  <a:srgbClr val="000000">
                    <a:alpha val="0"/>
                  </a:srgbClr>
                </a:highlight>
                <a:latin typeface="Arial"/>
              </a:rPr>
              <a:t>Le gouvernement a également adopté un plan ambitieux pour améliorer la gouvernance, fondé sur le Rapport de diagnostic sur la transparence, la gouvernance et la corruption dans le sillage de la crise de la dette cachée de 2016.</a:t>
            </a:r>
          </a:p>
          <a:p>
            <a:pPr algn="just">
              <a:lnSpc>
                <a:spcPct val="100000"/>
              </a:lnSpc>
              <a:spcAft>
                <a:spcPts val="800"/>
              </a:spcAft>
            </a:pPr>
            <a:r>
              <a:rPr lang="en-US" sz="1400" i="0" u="none" strike="noStrike" dirty="0">
                <a:highlight>
                  <a:srgbClr val="000000">
                    <a:alpha val="0"/>
                  </a:srgbClr>
                </a:highlight>
                <a:latin typeface="Arial"/>
              </a:rPr>
              <a:t>Les autorités ont pris plusieurs mesures pour contenir les dépenses publiques. Un solide programme de consolidation budgétaire a ramené le déficit primaire de 6 % à 2 % du PIB entre 2015 et 2018 et avait mis la dette publique sur une trajectoire descendante.</a:t>
            </a:r>
          </a:p>
          <a:p>
            <a:pPr algn="just">
              <a:lnSpc>
                <a:spcPct val="100000"/>
              </a:lnSpc>
              <a:spcAft>
                <a:spcPts val="800"/>
              </a:spcAft>
            </a:pPr>
            <a:r>
              <a:rPr lang="en-US" sz="1400" i="0" u="none" strike="noStrike" dirty="0">
                <a:highlight>
                  <a:srgbClr val="000000">
                    <a:alpha val="0"/>
                  </a:srgbClr>
                </a:highlight>
                <a:latin typeface="Arial"/>
              </a:rPr>
              <a:t>La supervision des entreprises publiques a été renforcée. Seul le ministère de l'Économie et des Finances peut signer des garanties au nom du gouvernement si elles se situent en dessous du plafond approuvé par le Parlement dans la loi de finances annuelle. En 2018, la gouvernance des entreprises publiques a également été renforcée par une nouvelle loi sur les entreprises publiques.</a:t>
            </a:r>
          </a:p>
          <a:p>
            <a:pPr algn="just">
              <a:lnSpc>
                <a:spcPct val="100000"/>
              </a:lnSpc>
              <a:spcAft>
                <a:spcPts val="800"/>
              </a:spcAft>
            </a:pPr>
            <a:r>
              <a:rPr lang="en-US" sz="1400" i="0" u="none" strike="noStrike" dirty="0">
                <a:highlight>
                  <a:srgbClr val="000000">
                    <a:alpha val="0"/>
                  </a:srgbClr>
                </a:highlight>
                <a:latin typeface="Arial"/>
              </a:rPr>
              <a:t>Des progrès substantiels ont été réalisés en matière de transparence budgétaire, avec la publication régulière de déclarations de risques budgétaires et de rapports complets sur la dette liée aux entreprises publiques et au GNL.</a:t>
            </a:r>
          </a:p>
          <a:p>
            <a:pPr algn="just">
              <a:lnSpc>
                <a:spcPct val="100000"/>
              </a:lnSpc>
              <a:spcAft>
                <a:spcPts val="800"/>
              </a:spcAft>
            </a:pPr>
            <a:r>
              <a:rPr lang="en-US" sz="1400" i="0" u="none" strike="noStrike" dirty="0">
                <a:highlight>
                  <a:srgbClr val="000000">
                    <a:alpha val="0"/>
                  </a:srgbClr>
                </a:highlight>
                <a:latin typeface="Arial"/>
              </a:rPr>
              <a:t>En 2020, une nouvelle loi globale sur les finances publiques a été adoptée, intégrant les entreprises publiques et les gouvernements infranationaux dans le système budgétaire.</a:t>
            </a:r>
          </a:p>
          <a:p>
            <a:pPr marL="0" indent="0" algn="just">
              <a:lnSpc>
                <a:spcPct val="110000"/>
              </a:lnSpc>
              <a:buNone/>
            </a:pPr>
            <a:r>
              <a:rPr lang="en-US" sz="1400" b="1" dirty="0"/>
              <a:t>Des mesures de politique en matière de climat et de catastrophes ont été mises en œuvre depuis 2010</a:t>
            </a:r>
          </a:p>
          <a:p>
            <a:pPr algn="just">
              <a:lnSpc>
                <a:spcPct val="110000"/>
              </a:lnSpc>
            </a:pPr>
            <a:r>
              <a:rPr lang="en-US" sz="1400" dirty="0"/>
              <a:t>Le gouvernement a approuvé la Stratégie nationale d'adaptation et d'atténuation du changement climatique, qui fournit le cadre politique général pour guider la planification et le développement résilients au climat.</a:t>
            </a:r>
          </a:p>
          <a:p>
            <a:pPr algn="just">
              <a:lnSpc>
                <a:spcPct val="110000"/>
              </a:lnSpc>
            </a:pPr>
            <a:r>
              <a:rPr lang="en-US" sz="1400" dirty="0"/>
              <a:t>Un Programme national complet de gestion des risques de catastrophe a été approuvé pour promouvoir le développement résilient du Mozambique par la prévention, la préparation, la réponse et le relèvement face aux catastrophes, ainsi que l'intégration de la Gestion des risques de catastrophe (GRD) dans les politiques publiques, les investissements et la planification du développement dans tous les secteurs.</a:t>
            </a:r>
          </a:p>
          <a:p>
            <a:pPr algn="just">
              <a:lnSpc>
                <a:spcPct val="110000"/>
              </a:lnSpc>
            </a:pPr>
            <a:r>
              <a:rPr lang="en-US" sz="1400" dirty="0"/>
              <a:t>Une étape clé de ce programme a été la création, la capitalisation et la mise en opération d'un Fonds national de gestion des catastrophes et l'adoption et l'application de nouvelles normes de résilience climatique dans des secteurs clés (éducation, transport).</a:t>
            </a:r>
          </a:p>
          <a:p>
            <a:pPr marL="0" indent="0" algn="just">
              <a:lnSpc>
                <a:spcPct val="110000"/>
              </a:lnSpc>
              <a:buNone/>
            </a:pPr>
            <a:endParaRPr lang="en-US" sz="1400" dirty="0"/>
          </a:p>
          <a:p>
            <a:endParaRPr lang="en-US" sz="1400" dirty="0"/>
          </a:p>
        </p:txBody>
      </p:sp>
      <p:sp>
        <p:nvSpPr>
          <p:cNvPr id="7" name="Title 1">
            <a:extLst>
              <a:ext uri="{FF2B5EF4-FFF2-40B4-BE49-F238E27FC236}">
                <a16:creationId xmlns:a16="http://schemas.microsoft.com/office/drawing/2014/main" id="{7E1960F2-7C30-42B1-8F7A-3F07757B68C5}"/>
              </a:ext>
            </a:extLst>
          </p:cNvPr>
          <p:cNvSpPr txBox="1"/>
          <p:nvPr/>
        </p:nvSpPr>
        <p:spPr>
          <a:xfrm>
            <a:off x="2366682" y="266915"/>
            <a:ext cx="9825318" cy="711292"/>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b="1" dirty="0">
                <a:solidFill>
                  <a:srgbClr val="2F5597"/>
                </a:solidFill>
              </a:rPr>
              <a:t>Programme gouvernemental et stratégie à moyen terme (1-2) </a:t>
            </a:r>
            <a:endParaRPr lang="pt" sz="2400" b="1" i="0" u="none" strike="noStrike" dirty="0">
              <a:solidFill>
                <a:srgbClr val="2F5597"/>
              </a:solidFill>
              <a:highlight>
                <a:srgbClr val="000000">
                  <a:alpha val="0"/>
                </a:srgbClr>
              </a:highlight>
              <a:latin typeface="Arial"/>
              <a:cs typeface="Arial"/>
            </a:endParaRPr>
          </a:p>
        </p:txBody>
      </p:sp>
      <p:sp>
        <p:nvSpPr>
          <p:cNvPr id="6" name="Footer Placeholder 5">
            <a:extLst>
              <a:ext uri="{FF2B5EF4-FFF2-40B4-BE49-F238E27FC236}">
                <a16:creationId xmlns:a16="http://schemas.microsoft.com/office/drawing/2014/main" id="{EADDD79C-C7B6-4A6E-97AF-8DB4ECD26A8E}"/>
              </a:ext>
            </a:extLst>
          </p:cNvPr>
          <p:cNvSpPr>
            <a:spLocks noGrp="1"/>
          </p:cNvSpPr>
          <p:nvPr>
            <p:ph type="ftr" sz="quarter" idx="11"/>
          </p:nvPr>
        </p:nvSpPr>
        <p:spPr>
          <a:xfrm>
            <a:off x="3978729" y="6591085"/>
            <a:ext cx="4114800" cy="365125"/>
          </a:xfrm>
        </p:spPr>
        <p:txBody>
          <a:bodyPr/>
          <a:lstStyle/>
          <a:p>
            <a:r>
              <a:rPr lang="en-US"/>
              <a:t>CPP 2023-2027. Version publique. Maputo, mai 2022.</a:t>
            </a:r>
            <a:endParaRPr lang="en-US" dirty="0"/>
          </a:p>
        </p:txBody>
      </p:sp>
      <p:sp>
        <p:nvSpPr>
          <p:cNvPr id="8" name="Slide Number Placeholder 7">
            <a:extLst>
              <a:ext uri="{FF2B5EF4-FFF2-40B4-BE49-F238E27FC236}">
                <a16:creationId xmlns:a16="http://schemas.microsoft.com/office/drawing/2014/main" id="{BCD46C9F-CCE9-4530-9958-DCC0E2E66395}"/>
              </a:ext>
            </a:extLst>
          </p:cNvPr>
          <p:cNvSpPr>
            <a:spLocks noGrp="1"/>
          </p:cNvSpPr>
          <p:nvPr>
            <p:ph type="sldNum" sz="quarter" idx="12"/>
          </p:nvPr>
        </p:nvSpPr>
        <p:spPr/>
        <p:txBody>
          <a:bodyPr/>
          <a:lstStyle/>
          <a:p>
            <a:fld id="{B8473C9A-9E91-4025-B5E2-D7B202510636}" type="slidenum">
              <a:rPr lang="en-US" smtClean="0"/>
              <a:t>16</a:t>
            </a:fld>
            <a:endParaRPr lang="en-US" dirty="0"/>
          </a:p>
        </p:txBody>
      </p:sp>
      <p:pic>
        <p:nvPicPr>
          <p:cNvPr id="2" name="Picture 1">
            <a:extLst>
              <a:ext uri="{FF2B5EF4-FFF2-40B4-BE49-F238E27FC236}">
                <a16:creationId xmlns:a16="http://schemas.microsoft.com/office/drawing/2014/main" id="{2EDC6EAF-1287-40CD-82FF-60AD0D1CE264}"/>
              </a:ext>
            </a:extLst>
          </p:cNvPr>
          <p:cNvPicPr>
            <a:picLocks noChangeAspect="1"/>
          </p:cNvPicPr>
          <p:nvPr/>
        </p:nvPicPr>
        <p:blipFill>
          <a:blip r:embed="rId2"/>
          <a:stretch>
            <a:fillRect/>
          </a:stretch>
        </p:blipFill>
        <p:spPr>
          <a:xfrm>
            <a:off x="342901" y="206335"/>
            <a:ext cx="2316681" cy="463336"/>
          </a:xfrm>
          <a:prstGeom prst="rect">
            <a:avLst/>
          </a:prstGeom>
        </p:spPr>
      </p:pic>
    </p:spTree>
    <p:extLst>
      <p:ext uri="{BB962C8B-B14F-4D97-AF65-F5344CB8AC3E}">
        <p14:creationId xmlns:p14="http://schemas.microsoft.com/office/powerpoint/2010/main" val="3381025737"/>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a:extLst>
              <a:ext uri="{FF2B5EF4-FFF2-40B4-BE49-F238E27FC236}">
                <a16:creationId xmlns:a16="http://schemas.microsoft.com/office/drawing/2014/main" id="{F5759940-B30E-472A-AF4F-173A4D4CA100}"/>
              </a:ext>
            </a:extLst>
          </p:cNvPr>
          <p:cNvGrpSpPr/>
          <p:nvPr/>
        </p:nvGrpSpPr>
        <p:grpSpPr>
          <a:xfrm>
            <a:off x="6902048" y="3026892"/>
            <a:ext cx="5049327" cy="3339205"/>
            <a:chOff x="-3167528" y="-865701"/>
            <a:chExt cx="7897716" cy="2630133"/>
          </a:xfrm>
        </p:grpSpPr>
        <p:sp>
          <p:nvSpPr>
            <p:cNvPr id="41" name="TextBox 20">
              <a:extLst>
                <a:ext uri="{FF2B5EF4-FFF2-40B4-BE49-F238E27FC236}">
                  <a16:creationId xmlns:a16="http://schemas.microsoft.com/office/drawing/2014/main" id="{48A3B9E8-0F2B-4E8C-A956-776C8184EC2E}"/>
                </a:ext>
              </a:extLst>
            </p:cNvPr>
            <p:cNvSpPr txBox="1"/>
            <p:nvPr/>
          </p:nvSpPr>
          <p:spPr>
            <a:xfrm>
              <a:off x="-3167528" y="-865701"/>
              <a:ext cx="7842229" cy="678778"/>
            </a:xfrm>
            <a:prstGeom prst="rect">
              <a:avLst/>
            </a:prstGeom>
            <a:solidFill>
              <a:srgbClr val="002060"/>
            </a:solidFill>
          </p:spPr>
          <p:txBody>
            <a:bodyPr wrap="square" rtlCol="0">
              <a:spAutoFit/>
            </a:bodyPr>
            <a:lstStyle/>
            <a:p>
              <a:pPr lvl="0" algn="ctr">
                <a:defRPr/>
              </a:pPr>
              <a:r>
                <a:rPr kumimoji="0" lang="en-US" sz="1600" b="1" i="0" u="none" strike="noStrike" kern="1200" cap="none" spc="0" normalizeH="0" baseline="0" noProof="0" dirty="0">
                  <a:ln>
                    <a:noFill/>
                  </a:ln>
                  <a:solidFill>
                    <a:prstClr val="white"/>
                  </a:solidFill>
                  <a:effectLst/>
                  <a:uLnTx/>
                  <a:uFillTx/>
                  <a:latin typeface="Calibri" panose="020F0502020204030204" pitchFamily="34" charset="0"/>
                  <a:ea typeface="Times New Roman" panose="02020603050405020304" pitchFamily="18" charset="0"/>
                  <a:cs typeface="Times New Roman" panose="02020603050405020304" pitchFamily="18" charset="0"/>
                </a:rPr>
                <a:t>OHN3. Améliorer le capital humain et autonomiser les femmes</a:t>
              </a:r>
            </a:p>
            <a:p>
              <a:pPr lvl="0" algn="ctr">
                <a:defRPr/>
              </a:pPr>
              <a:endParaRPr lang="en-US" sz="1600" b="1" dirty="0">
                <a:solidFill>
                  <a:prstClr val="white"/>
                </a:solidFill>
                <a:latin typeface="Calibri" panose="020F0502020204030204" pitchFamily="34" charset="0"/>
                <a:ea typeface="Times New Roman" panose="02020603050405020304" pitchFamily="18" charset="0"/>
                <a:cs typeface="Times New Roman" panose="02020603050405020304" pitchFamily="18" charset="0"/>
              </a:endParaRPr>
            </a:p>
            <a:p>
              <a:pPr lvl="0" algn="ctr">
                <a:defRPr/>
              </a:pPr>
              <a:endParaRPr kumimoji="0" lang="en-US" sz="1800" b="1" i="0" u="none" strike="noStrike" kern="1200" cap="none" spc="0" normalizeH="0" baseline="0" noProof="0" dirty="0">
                <a:ln>
                  <a:noFill/>
                </a:ln>
                <a:solidFill>
                  <a:prstClr val="white"/>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p:txBody>
        </p:sp>
        <p:sp>
          <p:nvSpPr>
            <p:cNvPr id="42" name="TextBox 27">
              <a:extLst>
                <a:ext uri="{FF2B5EF4-FFF2-40B4-BE49-F238E27FC236}">
                  <a16:creationId xmlns:a16="http://schemas.microsoft.com/office/drawing/2014/main" id="{0592111B-E078-4582-B08D-1779B5DA9631}"/>
                </a:ext>
              </a:extLst>
            </p:cNvPr>
            <p:cNvSpPr txBox="1"/>
            <p:nvPr/>
          </p:nvSpPr>
          <p:spPr>
            <a:xfrm>
              <a:off x="2350242" y="-12591"/>
              <a:ext cx="2379946" cy="1769673"/>
            </a:xfrm>
            <a:prstGeom prst="rect">
              <a:avLst/>
            </a:prstGeom>
            <a:solidFill>
              <a:srgbClr val="00B0F0"/>
            </a:solidFill>
          </p:spPr>
          <p:txBody>
            <a:bodyPr wrap="square" rtlCol="0">
              <a:spAutoFit/>
            </a:bodyPr>
            <a:lstStyle/>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Objectif 9 :</a:t>
              </a:r>
            </a:p>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Améliorer l'accès aux services pour prévenir les grossesses chez les adolescentes et promouvoir la participation économique des femmes</a:t>
              </a:r>
            </a:p>
            <a:p>
              <a:pPr lvl="0" algn="ctr">
                <a:defRPr/>
              </a:pPr>
              <a:endParaRPr kumimoji="0" lang="en-US" sz="1400" b="1" i="0" u="none" strike="noStrike" kern="120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p:txBody>
        </p:sp>
        <p:sp>
          <p:nvSpPr>
            <p:cNvPr id="43" name="TextBox 28">
              <a:extLst>
                <a:ext uri="{FF2B5EF4-FFF2-40B4-BE49-F238E27FC236}">
                  <a16:creationId xmlns:a16="http://schemas.microsoft.com/office/drawing/2014/main" id="{A9A137C2-4A53-41CC-909B-078D228AAFE8}"/>
                </a:ext>
              </a:extLst>
            </p:cNvPr>
            <p:cNvSpPr txBox="1"/>
            <p:nvPr/>
          </p:nvSpPr>
          <p:spPr>
            <a:xfrm>
              <a:off x="-450438" y="-5241"/>
              <a:ext cx="2590533" cy="1769672"/>
            </a:xfrm>
            <a:prstGeom prst="rect">
              <a:avLst/>
            </a:prstGeom>
            <a:solidFill>
              <a:srgbClr val="00B0F0"/>
            </a:solidFill>
          </p:spPr>
          <p:txBody>
            <a:bodyPr wrap="square" rtlCol="0">
              <a:spAutoFit/>
            </a:bodyPr>
            <a:lstStyle/>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Objectif 8 :</a:t>
              </a:r>
            </a:p>
            <a:p>
              <a:pPr lvl="0" algn="ctr">
                <a:defRPr/>
              </a:pPr>
              <a:endPar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endParaRPr>
            </a:p>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Accroître l'efficience et la couverture effective des services sociaux intégrés et durables</a:t>
              </a:r>
              <a:endParaRPr kumimoji="0" lang="en-US" sz="1400" b="1" i="0" u="none" strike="noStrike" kern="120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p:txBody>
        </p:sp>
        <p:sp>
          <p:nvSpPr>
            <p:cNvPr id="44" name="TextBox 33">
              <a:extLst>
                <a:ext uri="{FF2B5EF4-FFF2-40B4-BE49-F238E27FC236}">
                  <a16:creationId xmlns:a16="http://schemas.microsoft.com/office/drawing/2014/main" id="{8FCE60F2-7AAD-469F-99FA-A7907C1C8144}"/>
                </a:ext>
              </a:extLst>
            </p:cNvPr>
            <p:cNvSpPr txBox="1"/>
            <p:nvPr/>
          </p:nvSpPr>
          <p:spPr>
            <a:xfrm>
              <a:off x="-3121845" y="-5241"/>
              <a:ext cx="2461261" cy="1769673"/>
            </a:xfrm>
            <a:prstGeom prst="rect">
              <a:avLst/>
            </a:prstGeom>
            <a:solidFill>
              <a:srgbClr val="00B0F0"/>
            </a:solidFill>
          </p:spPr>
          <p:txBody>
            <a:bodyPr wrap="square" rtlCol="0">
              <a:spAutoFit/>
            </a:bodyPr>
            <a:lstStyle/>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Objectif 7 :</a:t>
              </a:r>
            </a:p>
            <a:p>
              <a:pPr lvl="0" algn="ctr">
                <a:defRPr/>
              </a:pPr>
              <a:endPar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endParaRPr>
            </a:p>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Améliorer les principaux résultats en matière de santé et d'éducation</a:t>
              </a:r>
              <a:endParaRPr kumimoji="0" lang="en-US" sz="1400" b="0" i="0" u="none" strike="noStrike" kern="120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p:txBody>
        </p:sp>
      </p:grpSp>
      <p:sp>
        <p:nvSpPr>
          <p:cNvPr id="48" name="TextBox 20">
            <a:extLst>
              <a:ext uri="{FF2B5EF4-FFF2-40B4-BE49-F238E27FC236}">
                <a16:creationId xmlns:a16="http://schemas.microsoft.com/office/drawing/2014/main" id="{61DD58FA-691C-40D4-A443-0BF04F16BDA4}"/>
              </a:ext>
            </a:extLst>
          </p:cNvPr>
          <p:cNvSpPr txBox="1"/>
          <p:nvPr/>
        </p:nvSpPr>
        <p:spPr>
          <a:xfrm>
            <a:off x="367495" y="829071"/>
            <a:ext cx="11530224" cy="646331"/>
          </a:xfrm>
          <a:prstGeom prst="rect">
            <a:avLst/>
          </a:prstGeom>
          <a:solidFill>
            <a:srgbClr val="002060"/>
          </a:solidFill>
        </p:spPr>
        <p:txBody>
          <a:bodyPr wrap="square" rtlCol="0">
            <a:spAutoFit/>
          </a:bodyPr>
          <a:lstStyle/>
          <a:p>
            <a:pPr lvl="0" algn="ctr">
              <a:defRPr/>
            </a:pPr>
            <a:r>
              <a:rPr lang="en-US"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OHN 1 : Des institutions plus inclusives </a:t>
            </a:r>
            <a:r>
              <a:rPr lang="pt-BR"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t>
            </a:r>
            <a:endParaRPr kumimoji="0" lang="en-US" sz="1200" b="0" i="0" u="none" strike="noStrike" kern="1200" cap="none" spc="0" normalizeH="0" baseline="0" noProof="0" dirty="0">
              <a:ln>
                <a:noFill/>
              </a:ln>
              <a:solidFill>
                <a:prstClr val="white"/>
              </a:solidFill>
              <a:effectLst/>
              <a:uLnTx/>
              <a:uFillTx/>
              <a:latin typeface="Calibri" panose="020F0502020204030204" pitchFamily="34" charset="0"/>
              <a:ea typeface="Times New Roman" panose="02020603050405020304" pitchFamily="18" charset="0"/>
              <a:cs typeface="Calibri" panose="020F0502020204030204" pitchFamily="34" charset="0"/>
            </a:endParaRPr>
          </a:p>
        </p:txBody>
      </p:sp>
      <p:sp>
        <p:nvSpPr>
          <p:cNvPr id="50" name="TextBox 28">
            <a:extLst>
              <a:ext uri="{FF2B5EF4-FFF2-40B4-BE49-F238E27FC236}">
                <a16:creationId xmlns:a16="http://schemas.microsoft.com/office/drawing/2014/main" id="{6DCAB71F-0043-4348-B2CA-13ED368C292D}"/>
              </a:ext>
            </a:extLst>
          </p:cNvPr>
          <p:cNvSpPr txBox="1"/>
          <p:nvPr/>
        </p:nvSpPr>
        <p:spPr>
          <a:xfrm>
            <a:off x="4081340" y="1524409"/>
            <a:ext cx="4029319" cy="1169551"/>
          </a:xfrm>
          <a:prstGeom prst="rect">
            <a:avLst/>
          </a:prstGeom>
          <a:solidFill>
            <a:srgbClr val="00B0F0"/>
          </a:solidFill>
        </p:spPr>
        <p:txBody>
          <a:bodyPr wrap="square" rtlCol="0">
            <a:spAutoFit/>
          </a:bodyPr>
          <a:lstStyle/>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Objectif 2 :</a:t>
            </a:r>
          </a:p>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Accroître l'efficacité du secteur public pour une prestation de services meilleure, plus durable</a:t>
            </a:r>
          </a:p>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et des politiques équitables</a:t>
            </a:r>
          </a:p>
          <a:p>
            <a:pPr lvl="0" algn="ctr">
              <a:defRPr/>
            </a:pPr>
            <a:endParaRPr kumimoji="0" lang="en-US" sz="1400" b="0" i="0" u="none" strike="noStrike" kern="120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p:txBody>
      </p:sp>
      <p:sp>
        <p:nvSpPr>
          <p:cNvPr id="51" name="TextBox 33">
            <a:extLst>
              <a:ext uri="{FF2B5EF4-FFF2-40B4-BE49-F238E27FC236}">
                <a16:creationId xmlns:a16="http://schemas.microsoft.com/office/drawing/2014/main" id="{07CF0438-65B6-4F90-A587-44EFFB9C0EBB}"/>
              </a:ext>
            </a:extLst>
          </p:cNvPr>
          <p:cNvSpPr txBox="1"/>
          <p:nvPr/>
        </p:nvSpPr>
        <p:spPr>
          <a:xfrm>
            <a:off x="367495" y="1515609"/>
            <a:ext cx="3665451" cy="1169551"/>
          </a:xfrm>
          <a:prstGeom prst="rect">
            <a:avLst/>
          </a:prstGeom>
          <a:solidFill>
            <a:srgbClr val="00B0F0"/>
          </a:solidFill>
        </p:spPr>
        <p:txBody>
          <a:bodyPr wrap="square" rtlCol="0">
            <a:spAutoFit/>
          </a:bodyPr>
          <a:lstStyle/>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Objectif 1 :</a:t>
            </a:r>
          </a:p>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Améliorer la gestion économique pour une création d'emplois durable et résiliente, une meilleure capacité de dépense et un risque souverain réduit </a:t>
            </a:r>
            <a:r>
              <a:rPr lang="pt-BR"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p:txBody>
      </p:sp>
      <p:grpSp>
        <p:nvGrpSpPr>
          <p:cNvPr id="55" name="Group 54">
            <a:extLst>
              <a:ext uri="{FF2B5EF4-FFF2-40B4-BE49-F238E27FC236}">
                <a16:creationId xmlns:a16="http://schemas.microsoft.com/office/drawing/2014/main" id="{640C48EE-017A-4A83-A3F5-13D2C23B3CD6}"/>
              </a:ext>
            </a:extLst>
          </p:cNvPr>
          <p:cNvGrpSpPr/>
          <p:nvPr/>
        </p:nvGrpSpPr>
        <p:grpSpPr>
          <a:xfrm>
            <a:off x="294281" y="3949567"/>
            <a:ext cx="3180023" cy="2677656"/>
            <a:chOff x="-9838606" y="1606149"/>
            <a:chExt cx="4973915" cy="2023367"/>
          </a:xfrm>
        </p:grpSpPr>
        <p:sp>
          <p:nvSpPr>
            <p:cNvPr id="58" name="TextBox 28">
              <a:extLst>
                <a:ext uri="{FF2B5EF4-FFF2-40B4-BE49-F238E27FC236}">
                  <a16:creationId xmlns:a16="http://schemas.microsoft.com/office/drawing/2014/main" id="{7A7D9AE5-C3BD-4177-85EE-8BE5CFD01A0D}"/>
                </a:ext>
              </a:extLst>
            </p:cNvPr>
            <p:cNvSpPr txBox="1"/>
            <p:nvPr/>
          </p:nvSpPr>
          <p:spPr>
            <a:xfrm>
              <a:off x="-7246575" y="1606149"/>
              <a:ext cx="2381884" cy="2023367"/>
            </a:xfrm>
            <a:prstGeom prst="rect">
              <a:avLst/>
            </a:prstGeom>
            <a:solidFill>
              <a:srgbClr val="00B0F0"/>
            </a:solidFill>
          </p:spPr>
          <p:txBody>
            <a:bodyPr wrap="square" rtlCol="0">
              <a:spAutoFit/>
            </a:bodyPr>
            <a:lstStyle/>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Objectif CPP 5 :</a:t>
              </a:r>
            </a:p>
            <a:p>
              <a:pPr lvl="0" algn="ctr">
                <a:defRPr/>
              </a:pPr>
              <a:endPar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endParaRPr>
            </a:p>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Promouvoir la croissance de la productivité dans des industries à forte intensité de main-d'œuvre sélectionnées </a:t>
              </a:r>
              <a:r>
                <a:rPr lang="pt-BR" sz="1400"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t>
              </a:r>
            </a:p>
            <a:p>
              <a:pPr lvl="0" algn="ctr">
                <a:defRPr/>
              </a:pPr>
              <a:endParaRPr kumimoji="0" lang="pt-BR" sz="1400" i="0" u="none" strike="noStrike" kern="120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lvl="0" algn="ctr">
                <a:defRPr/>
              </a:pPr>
              <a:endParaRPr kumimoji="0" lang="en-US" sz="1400" i="0" u="none" strike="noStrike" kern="120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p:txBody>
        </p:sp>
        <p:sp>
          <p:nvSpPr>
            <p:cNvPr id="59" name="TextBox 33">
              <a:extLst>
                <a:ext uri="{FF2B5EF4-FFF2-40B4-BE49-F238E27FC236}">
                  <a16:creationId xmlns:a16="http://schemas.microsoft.com/office/drawing/2014/main" id="{A9F25950-3269-4593-8FC9-BE603435FFB8}"/>
                </a:ext>
              </a:extLst>
            </p:cNvPr>
            <p:cNvSpPr txBox="1"/>
            <p:nvPr/>
          </p:nvSpPr>
          <p:spPr>
            <a:xfrm>
              <a:off x="-9838606" y="1606149"/>
              <a:ext cx="2381884" cy="2023367"/>
            </a:xfrm>
            <a:prstGeom prst="rect">
              <a:avLst/>
            </a:prstGeom>
            <a:solidFill>
              <a:srgbClr val="00B0F0"/>
            </a:solidFill>
          </p:spPr>
          <p:txBody>
            <a:bodyPr wrap="square" rtlCol="0">
              <a:spAutoFit/>
            </a:bodyPr>
            <a:lstStyle/>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Objectif 4 :</a:t>
              </a:r>
            </a:p>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Permettre une croissance durable des secteurs de ressources naturelles sélectionnés qui exploitent les avantages comparatifs régionaux et mondiaux </a:t>
              </a:r>
              <a:r>
                <a:rPr lang="pt-BR" sz="1400"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t>
              </a:r>
              <a:endParaRPr kumimoji="0" lang="en-US" sz="1400" i="0" u="none" strike="noStrike" kern="1200" cap="none" spc="0" normalizeH="0" baseline="0" noProof="0" dirty="0">
                <a:ln>
                  <a:noFill/>
                </a:ln>
                <a:solidFill>
                  <a:prstClr val="white"/>
                </a:solidFill>
                <a:effectLst/>
                <a:uLnTx/>
                <a:uFillTx/>
                <a:latin typeface="Calibri" panose="020F0502020204030204"/>
                <a:ea typeface="Times New Roman" panose="02020603050405020304" pitchFamily="18" charset="0"/>
                <a:cs typeface="+mn-cs"/>
              </a:endParaRPr>
            </a:p>
          </p:txBody>
        </p:sp>
      </p:grpSp>
      <p:sp>
        <p:nvSpPr>
          <p:cNvPr id="28" name="TextBox 20">
            <a:extLst>
              <a:ext uri="{FF2B5EF4-FFF2-40B4-BE49-F238E27FC236}">
                <a16:creationId xmlns:a16="http://schemas.microsoft.com/office/drawing/2014/main" id="{11125F59-7817-4321-BD2E-A1252531A912}"/>
              </a:ext>
            </a:extLst>
          </p:cNvPr>
          <p:cNvSpPr txBox="1"/>
          <p:nvPr/>
        </p:nvSpPr>
        <p:spPr>
          <a:xfrm>
            <a:off x="294281" y="2980869"/>
            <a:ext cx="5010043" cy="830997"/>
          </a:xfrm>
          <a:prstGeom prst="rect">
            <a:avLst/>
          </a:prstGeom>
          <a:solidFill>
            <a:srgbClr val="002060"/>
          </a:solidFill>
        </p:spPr>
        <p:txBody>
          <a:bodyPr wrap="square" rtlCol="0">
            <a:spAutoFit/>
          </a:bodyPr>
          <a:lstStyle/>
          <a:p>
            <a:pPr lvl="0" algn="ctr">
              <a:defRPr/>
            </a:pPr>
            <a:r>
              <a:rPr lang="en-US"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OHN2 : Augmentation de la création d'emplois inclusifs</a:t>
            </a:r>
            <a:endParaRPr lang="pt-BR"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endParaRPr>
          </a:p>
          <a:p>
            <a:pPr lvl="0" algn="ctr">
              <a:defRPr/>
            </a:pPr>
            <a:r>
              <a:rPr lang="pt-BR"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t>
            </a:r>
            <a:endParaRPr kumimoji="0" lang="en-US" sz="1200" b="0" i="0" u="none" strike="noStrike" kern="1200" cap="none" spc="0" normalizeH="0" baseline="0" noProof="0" dirty="0">
              <a:ln>
                <a:noFill/>
              </a:ln>
              <a:solidFill>
                <a:prstClr val="white"/>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lvl="0">
              <a:defRPr/>
            </a:pPr>
            <a:endParaRPr kumimoji="0" lang="en-US" sz="1200" b="0" i="0" u="none" strike="noStrike" kern="1200" cap="none" spc="0" normalizeH="0" baseline="0" noProof="0" dirty="0">
              <a:ln>
                <a:noFill/>
              </a:ln>
              <a:solidFill>
                <a:prstClr val="white"/>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02498E19-A5E1-4FF3-8593-77DDFB633840}"/>
              </a:ext>
            </a:extLst>
          </p:cNvPr>
          <p:cNvSpPr txBox="1"/>
          <p:nvPr/>
        </p:nvSpPr>
        <p:spPr>
          <a:xfrm>
            <a:off x="8190125" y="1532767"/>
            <a:ext cx="3725775" cy="1169551"/>
          </a:xfrm>
          <a:prstGeom prst="rect">
            <a:avLst/>
          </a:prstGeom>
          <a:solidFill>
            <a:srgbClr val="00B0F0"/>
          </a:solidFill>
        </p:spPr>
        <p:txBody>
          <a:bodyPr wrap="square" rtlCol="0">
            <a:spAutoFit/>
          </a:bodyPr>
          <a:lstStyle/>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Objectif 3 :</a:t>
            </a:r>
          </a:p>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Renforcer la coordination, les politiques et les capacités pour une meilleure préparation et réponse aux catastrophes naturelles, pandémies et autres chocs multidimensionnels</a:t>
            </a:r>
            <a:endParaRPr kumimoji="0" lang="en-US" sz="1400" b="0" i="0" u="none" strike="noStrike" kern="120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A9BC120A-2D09-4578-9211-2DC58272B03D}"/>
              </a:ext>
            </a:extLst>
          </p:cNvPr>
          <p:cNvSpPr txBox="1"/>
          <p:nvPr/>
        </p:nvSpPr>
        <p:spPr>
          <a:xfrm>
            <a:off x="3633722" y="3949567"/>
            <a:ext cx="1656232" cy="2677656"/>
          </a:xfrm>
          <a:prstGeom prst="rect">
            <a:avLst/>
          </a:prstGeom>
          <a:solidFill>
            <a:srgbClr val="00B0F0"/>
          </a:solidFill>
        </p:spPr>
        <p:txBody>
          <a:bodyPr wrap="square" rtlCol="0">
            <a:spAutoFit/>
          </a:bodyPr>
          <a:lstStyle/>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Objectif 6 :</a:t>
            </a:r>
          </a:p>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Étendre des services abordables, fiables et résilients au climat pour améliorer l'accès des plus défavorisés et accélérer l'urbanisation durable et l'agglomération économique</a:t>
            </a:r>
            <a:endParaRPr kumimoji="0" lang="en-US" sz="120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p:txBody>
      </p:sp>
      <p:sp>
        <p:nvSpPr>
          <p:cNvPr id="19" name="Title 1">
            <a:extLst>
              <a:ext uri="{FF2B5EF4-FFF2-40B4-BE49-F238E27FC236}">
                <a16:creationId xmlns:a16="http://schemas.microsoft.com/office/drawing/2014/main" id="{0E673E36-BCC7-485A-B2E2-9DE06668B038}"/>
              </a:ext>
            </a:extLst>
          </p:cNvPr>
          <p:cNvSpPr txBox="1">
            <a:spLocks/>
          </p:cNvSpPr>
          <p:nvPr/>
        </p:nvSpPr>
        <p:spPr>
          <a:xfrm>
            <a:off x="367495" y="154262"/>
            <a:ext cx="10515600" cy="315912"/>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accent1">
                    <a:lumMod val="75000"/>
                  </a:schemeClr>
                </a:solidFill>
                <a:latin typeface="Arial" panose="020B0604020202020204" pitchFamily="34" charset="0"/>
                <a:ea typeface="+mj-ea"/>
                <a:cs typeface="Arial" panose="020B0604020202020204" pitchFamily="34" charset="0"/>
              </a:defRPr>
            </a:lvl1pPr>
          </a:lstStyle>
          <a:p>
            <a:pPr algn="ctr"/>
            <a:endParaRPr lang="en-US" b="1" dirty="0">
              <a:latin typeface="Arial"/>
              <a:cs typeface="Times New Roman"/>
            </a:endParaRPr>
          </a:p>
          <a:p>
            <a:pPr algn="ctr"/>
            <a:r>
              <a:rPr lang="en-US" b="1" dirty="0">
                <a:latin typeface="Arial"/>
                <a:cs typeface="Times New Roman"/>
              </a:rPr>
              <a:t>CPP 2023-2027 : Aspirations et objectifs </a:t>
            </a:r>
            <a:endParaRPr lang="pt" i="1" dirty="0">
              <a:highlight>
                <a:srgbClr val="000000">
                  <a:alpha val="0"/>
                </a:srgbClr>
              </a:highlight>
              <a:latin typeface="Arial"/>
            </a:endParaRPr>
          </a:p>
        </p:txBody>
      </p:sp>
      <p:sp>
        <p:nvSpPr>
          <p:cNvPr id="6" name="Footer Placeholder 5">
            <a:extLst>
              <a:ext uri="{FF2B5EF4-FFF2-40B4-BE49-F238E27FC236}">
                <a16:creationId xmlns:a16="http://schemas.microsoft.com/office/drawing/2014/main" id="{E9D66B6B-A600-4FC2-B12C-788AB7A08DAE}"/>
              </a:ext>
            </a:extLst>
          </p:cNvPr>
          <p:cNvSpPr>
            <a:spLocks noGrp="1"/>
          </p:cNvSpPr>
          <p:nvPr>
            <p:ph type="ftr" sz="quarter" idx="11"/>
          </p:nvPr>
        </p:nvSpPr>
        <p:spPr>
          <a:xfrm>
            <a:off x="4495800" y="6627223"/>
            <a:ext cx="4114800" cy="365125"/>
          </a:xfrm>
        </p:spPr>
        <p:txBody>
          <a:bodyPr/>
          <a:lstStyle/>
          <a:p>
            <a:r>
              <a:rPr lang="en-US"/>
              <a:t>CPP 2023-2027. Version publique. Maputo, mai 2022.</a:t>
            </a:r>
            <a:endParaRPr lang="en-US" dirty="0"/>
          </a:p>
        </p:txBody>
      </p:sp>
      <p:sp>
        <p:nvSpPr>
          <p:cNvPr id="7" name="Slide Number Placeholder 6">
            <a:extLst>
              <a:ext uri="{FF2B5EF4-FFF2-40B4-BE49-F238E27FC236}">
                <a16:creationId xmlns:a16="http://schemas.microsoft.com/office/drawing/2014/main" id="{F7F5C800-7776-4432-9E55-C18FBDC68D15}"/>
              </a:ext>
            </a:extLst>
          </p:cNvPr>
          <p:cNvSpPr>
            <a:spLocks noGrp="1"/>
          </p:cNvSpPr>
          <p:nvPr>
            <p:ph type="sldNum" sz="quarter" idx="12"/>
          </p:nvPr>
        </p:nvSpPr>
        <p:spPr/>
        <p:txBody>
          <a:bodyPr/>
          <a:lstStyle/>
          <a:p>
            <a:fld id="{B8473C9A-9E91-4025-B5E2-D7B202510636}" type="slidenum">
              <a:rPr lang="en-US" smtClean="0"/>
              <a:t>17</a:t>
            </a:fld>
            <a:endParaRPr lang="en-US" dirty="0"/>
          </a:p>
        </p:txBody>
      </p:sp>
      <p:pic>
        <p:nvPicPr>
          <p:cNvPr id="2" name="Picture 1">
            <a:extLst>
              <a:ext uri="{FF2B5EF4-FFF2-40B4-BE49-F238E27FC236}">
                <a16:creationId xmlns:a16="http://schemas.microsoft.com/office/drawing/2014/main" id="{7EA3193B-CD46-4350-99F0-6608A5D56148}"/>
              </a:ext>
            </a:extLst>
          </p:cNvPr>
          <p:cNvPicPr>
            <a:picLocks noChangeAspect="1"/>
          </p:cNvPicPr>
          <p:nvPr/>
        </p:nvPicPr>
        <p:blipFill>
          <a:blip r:embed="rId2"/>
          <a:stretch>
            <a:fillRect/>
          </a:stretch>
        </p:blipFill>
        <p:spPr>
          <a:xfrm>
            <a:off x="150564" y="113964"/>
            <a:ext cx="2316681" cy="463336"/>
          </a:xfrm>
          <a:prstGeom prst="rect">
            <a:avLst/>
          </a:prstGeom>
        </p:spPr>
      </p:pic>
    </p:spTree>
    <p:extLst>
      <p:ext uri="{BB962C8B-B14F-4D97-AF65-F5344CB8AC3E}">
        <p14:creationId xmlns:p14="http://schemas.microsoft.com/office/powerpoint/2010/main" val="16469379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328182-DCAC-44BE-B53C-25FEF02C2D3B}"/>
              </a:ext>
            </a:extLst>
          </p:cNvPr>
          <p:cNvSpPr>
            <a:spLocks noGrp="1"/>
          </p:cNvSpPr>
          <p:nvPr>
            <p:ph idx="1"/>
          </p:nvPr>
        </p:nvSpPr>
        <p:spPr>
          <a:xfrm>
            <a:off x="398205" y="1215594"/>
            <a:ext cx="11567711" cy="5856585"/>
          </a:xfrm>
        </p:spPr>
        <p:txBody>
          <a:bodyPr>
            <a:noAutofit/>
          </a:bodyPr>
          <a:lstStyle/>
          <a:p>
            <a:pPr marL="342900" indent="-342900" algn="just" rtl="0">
              <a:lnSpc>
                <a:spcPct val="100000"/>
              </a:lnSpc>
              <a:spcBef>
                <a:spcPct val="0"/>
              </a:spcBef>
              <a:spcAft>
                <a:spcPts val="600"/>
              </a:spcAft>
              <a:buFont typeface="+mj-lt"/>
              <a:buAutoNum type="arabicPeriod"/>
            </a:pPr>
            <a:r>
              <a:rPr lang="en-US" sz="1600" b="0" i="0" u="none" strike="noStrike" dirty="0">
                <a:latin typeface="Arial"/>
                <a:cs typeface="Times New Roman"/>
              </a:rPr>
              <a:t>Dans le prolongement des enseignements du CLR, des recommandations de la mise à jour du SCD et des objectifs gouvernementaux tels qu'exposés dans le plan quinquennal 2020-24 et la révision en cours de la stratégie nationale de développement, le CPF proposé pour l'EX2023-2027 vise à contribuer à la transition du Mozambique vers une trajectoire de croissance </a:t>
            </a:r>
            <a:r>
              <a:rPr lang="en-US" sz="1600" b="1" i="0" u="none" strike="noStrike" dirty="0">
                <a:latin typeface="Arial"/>
                <a:cs typeface="Times New Roman"/>
              </a:rPr>
              <a:t>plus verte,</a:t>
            </a:r>
            <a:r>
              <a:rPr lang="en-US" sz="1600" b="0" i="0" u="none" strike="noStrike" dirty="0">
                <a:latin typeface="Arial"/>
                <a:cs typeface="Times New Roman"/>
              </a:rPr>
              <a:t> </a:t>
            </a:r>
            <a:r>
              <a:rPr lang="en-US" sz="1600" b="1" i="0" u="none" strike="noStrike" dirty="0">
                <a:latin typeface="Arial"/>
                <a:cs typeface="Times New Roman"/>
              </a:rPr>
              <a:t>plus résiliente et plus inclusive.</a:t>
            </a:r>
          </a:p>
          <a:p>
            <a:pPr marL="342900" indent="-342900" algn="just" rtl="0">
              <a:lnSpc>
                <a:spcPct val="100000"/>
              </a:lnSpc>
              <a:spcBef>
                <a:spcPct val="0"/>
              </a:spcBef>
              <a:spcAft>
                <a:spcPts val="600"/>
              </a:spcAft>
              <a:buFont typeface="+mj-lt"/>
              <a:buAutoNum type="arabicPeriod"/>
            </a:pPr>
            <a:endParaRPr lang="en-US" sz="1600" b="1" dirty="0">
              <a:latin typeface="+mn-lt"/>
              <a:ea typeface="Calibri" panose="020F0502020204030204" pitchFamily="34" charset="0"/>
              <a:cs typeface="Times New Roman"/>
            </a:endParaRPr>
          </a:p>
          <a:p>
            <a:pPr marL="342900" indent="-342900" algn="just" rtl="0">
              <a:lnSpc>
                <a:spcPct val="100000"/>
              </a:lnSpc>
              <a:spcBef>
                <a:spcPct val="0"/>
              </a:spcBef>
              <a:spcAft>
                <a:spcPts val="600"/>
              </a:spcAft>
              <a:buFont typeface="+mj-lt"/>
              <a:buAutoNum type="arabicPeriod"/>
            </a:pPr>
            <a:r>
              <a:rPr lang="en-US" sz="1600" b="0" i="0" u="none" strike="noStrike" dirty="0">
                <a:highlight>
                  <a:srgbClr val="000000">
                    <a:alpha val="0"/>
                  </a:srgbClr>
                </a:highlight>
                <a:latin typeface="Arial"/>
                <a:ea typeface="Calibri"/>
                <a:cs typeface="Times New Roman"/>
              </a:rPr>
              <a:t>À cet effet, le CPP appuiera les réformes et investissements gouvernementaux susceptibles de contribuer aux résultats de haut niveau suivants :</a:t>
            </a:r>
          </a:p>
          <a:p>
            <a:pPr lvl="3" algn="just">
              <a:lnSpc>
                <a:spcPct val="100000"/>
              </a:lnSpc>
              <a:spcBef>
                <a:spcPct val="0"/>
              </a:spcBef>
              <a:spcAft>
                <a:spcPts val="600"/>
              </a:spcAft>
            </a:pPr>
            <a:r>
              <a:rPr lang="en-US" sz="1600" b="1" i="0" u="none" strike="noStrike" dirty="0">
                <a:highlight>
                  <a:srgbClr val="000000">
                    <a:alpha val="0"/>
                  </a:srgbClr>
                </a:highlight>
                <a:latin typeface="Arial"/>
                <a:ea typeface="Calibri"/>
                <a:cs typeface="Times New Roman"/>
              </a:rPr>
              <a:t>Résultat 1 : Des institutions plus inclusives grâce à </a:t>
            </a:r>
            <a:r>
              <a:rPr lang="en-US" sz="1600" b="0" i="0" u="none" strike="noStrike" dirty="0">
                <a:highlight>
                  <a:srgbClr val="000000">
                    <a:alpha val="0"/>
                  </a:srgbClr>
                </a:highlight>
                <a:latin typeface="Arial"/>
                <a:ea typeface="Calibri"/>
                <a:cs typeface="Times New Roman"/>
              </a:rPr>
              <a:t>(i) une meilleure gestion macroéconomique pour améliorer les capacités de dépenses et réduire le risque souverain ; (ii) le renforcement de l'efficacité du secteur public ; et (iii) le renforcement de la préparation et de la réponse aux chocs multidimensionnels.</a:t>
            </a:r>
          </a:p>
          <a:p>
            <a:pPr lvl="3" algn="just">
              <a:lnSpc>
                <a:spcPct val="100000"/>
              </a:lnSpc>
              <a:spcBef>
                <a:spcPct val="0"/>
              </a:spcBef>
              <a:spcAft>
                <a:spcPts val="600"/>
              </a:spcAft>
            </a:pPr>
            <a:r>
              <a:rPr lang="en-US" sz="1600" b="1" i="0" u="none" strike="noStrike" dirty="0">
                <a:highlight>
                  <a:srgbClr val="000000">
                    <a:alpha val="0"/>
                  </a:srgbClr>
                </a:highlight>
                <a:latin typeface="Arial"/>
                <a:ea typeface="Calibri"/>
                <a:cs typeface="Times New Roman"/>
              </a:rPr>
              <a:t>Résultat 2 : Augmentation de la création d'emplois inclusifs </a:t>
            </a:r>
            <a:r>
              <a:rPr lang="en-US" sz="1600" b="0" i="0" u="none" strike="noStrike" dirty="0">
                <a:highlight>
                  <a:srgbClr val="000000">
                    <a:alpha val="0"/>
                  </a:srgbClr>
                </a:highlight>
                <a:latin typeface="Arial"/>
                <a:ea typeface="Calibri"/>
                <a:cs typeface="Times New Roman"/>
              </a:rPr>
              <a:t>(accélération du processus de transformation structurelle) qui requiert à son tour (i) de favoriser une croissance durable dans certains secteurs de ressources naturelles ; (ii) de promouvoir la croissance de la productivité dans certaines industries à forte intensité de main-d'œuvre ; et (iii) l'expansion des services d'infrastructure et d'urbanisation.</a:t>
            </a:r>
          </a:p>
          <a:p>
            <a:pPr lvl="3" algn="just">
              <a:lnSpc>
                <a:spcPct val="100000"/>
              </a:lnSpc>
              <a:spcBef>
                <a:spcPct val="0"/>
              </a:spcBef>
              <a:spcAft>
                <a:spcPts val="600"/>
              </a:spcAft>
            </a:pPr>
            <a:r>
              <a:rPr lang="en-US" sz="1600" b="1" i="0" u="none" strike="noStrike" dirty="0">
                <a:highlight>
                  <a:srgbClr val="000000">
                    <a:alpha val="0"/>
                  </a:srgbClr>
                </a:highlight>
                <a:latin typeface="Arial"/>
                <a:ea typeface="Calibri"/>
                <a:cs typeface="Times New Roman"/>
              </a:rPr>
              <a:t>Résultat 3 : Améliorer l'accumulation de capital humain</a:t>
            </a:r>
            <a:r>
              <a:rPr lang="en-US" sz="1600" b="0" i="0" u="none" strike="noStrike" dirty="0">
                <a:highlight>
                  <a:srgbClr val="000000">
                    <a:alpha val="0"/>
                  </a:srgbClr>
                </a:highlight>
                <a:latin typeface="Arial"/>
                <a:ea typeface="Calibri"/>
                <a:cs typeface="Times New Roman"/>
              </a:rPr>
              <a:t> </a:t>
            </a:r>
            <a:r>
              <a:rPr lang="en-US" sz="1600" b="1" i="0" u="none" strike="noStrike" dirty="0">
                <a:highlight>
                  <a:srgbClr val="000000">
                    <a:alpha val="0"/>
                  </a:srgbClr>
                </a:highlight>
                <a:latin typeface="Arial"/>
                <a:ea typeface="Calibri"/>
                <a:cs typeface="Times New Roman"/>
              </a:rPr>
              <a:t>et l'autonomisation des femmes grâce à </a:t>
            </a:r>
            <a:r>
              <a:rPr lang="en-US" sz="1600" b="0" i="0" u="none" strike="noStrike" dirty="0">
                <a:highlight>
                  <a:srgbClr val="000000">
                    <a:alpha val="0"/>
                  </a:srgbClr>
                </a:highlight>
                <a:latin typeface="Arial"/>
                <a:ea typeface="Calibri"/>
                <a:cs typeface="Times New Roman"/>
              </a:rPr>
              <a:t>(i) de meilleurs résultats en matière de santé et d'éducation ; (ii) une couverture plus efficiente et efficace des services sociaux intégrés et durables ; et (iii) un meilleur accès aux services pour prévenir les grossesses précoces et promouvoir la participation économique des femmes.</a:t>
            </a:r>
            <a:endParaRPr lang="en-US" sz="1600" dirty="0">
              <a:latin typeface="+mn-lt"/>
            </a:endParaRPr>
          </a:p>
        </p:txBody>
      </p:sp>
      <p:sp>
        <p:nvSpPr>
          <p:cNvPr id="5" name="Title 1">
            <a:extLst>
              <a:ext uri="{FF2B5EF4-FFF2-40B4-BE49-F238E27FC236}">
                <a16:creationId xmlns:a16="http://schemas.microsoft.com/office/drawing/2014/main" id="{4B231BE4-1971-4CE5-AEE8-9DE02D918533}"/>
              </a:ext>
            </a:extLst>
          </p:cNvPr>
          <p:cNvSpPr txBox="1">
            <a:spLocks/>
          </p:cNvSpPr>
          <p:nvPr/>
        </p:nvSpPr>
        <p:spPr>
          <a:xfrm>
            <a:off x="557995" y="183853"/>
            <a:ext cx="11899360" cy="315912"/>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accent1">
                    <a:lumMod val="75000"/>
                  </a:schemeClr>
                </a:solidFill>
                <a:latin typeface="Arial" panose="020B0604020202020204" pitchFamily="34" charset="0"/>
                <a:ea typeface="+mj-ea"/>
                <a:cs typeface="Arial" panose="020B0604020202020204" pitchFamily="34" charset="0"/>
              </a:defRPr>
            </a:lvl1pPr>
          </a:lstStyle>
          <a:p>
            <a:pPr algn="ctr"/>
            <a:endParaRPr lang="en-US" b="1" dirty="0">
              <a:latin typeface="Arial"/>
              <a:cs typeface="Times New Roman"/>
            </a:endParaRPr>
          </a:p>
          <a:p>
            <a:pPr algn="ctr"/>
            <a:r>
              <a:rPr lang="en-US" b="1" dirty="0">
                <a:latin typeface="Arial"/>
                <a:cs typeface="Times New Roman"/>
              </a:rPr>
              <a:t>Proposition CPP 2023-2027 : Objectifs et aspirations   </a:t>
            </a:r>
            <a:endParaRPr lang="pt" sz="2000" i="1" dirty="0">
              <a:highlight>
                <a:srgbClr val="000000">
                  <a:alpha val="0"/>
                </a:srgbClr>
              </a:highlight>
              <a:latin typeface="Arial"/>
            </a:endParaRPr>
          </a:p>
        </p:txBody>
      </p:sp>
      <p:sp>
        <p:nvSpPr>
          <p:cNvPr id="7" name="Footer Placeholder 6">
            <a:extLst>
              <a:ext uri="{FF2B5EF4-FFF2-40B4-BE49-F238E27FC236}">
                <a16:creationId xmlns:a16="http://schemas.microsoft.com/office/drawing/2014/main" id="{C6694D3A-16E4-4B4F-81CE-0521DA87762F}"/>
              </a:ext>
            </a:extLst>
          </p:cNvPr>
          <p:cNvSpPr>
            <a:spLocks noGrp="1"/>
          </p:cNvSpPr>
          <p:nvPr>
            <p:ph type="ftr" sz="quarter" idx="11"/>
          </p:nvPr>
        </p:nvSpPr>
        <p:spPr/>
        <p:txBody>
          <a:bodyPr/>
          <a:lstStyle/>
          <a:p>
            <a:r>
              <a:rPr lang="en-US"/>
              <a:t>CPP 2023-2027. Version publique. Maputo, mai 2022.</a:t>
            </a:r>
            <a:endParaRPr lang="en-US" dirty="0"/>
          </a:p>
        </p:txBody>
      </p:sp>
      <p:sp>
        <p:nvSpPr>
          <p:cNvPr id="8" name="Slide Number Placeholder 7">
            <a:extLst>
              <a:ext uri="{FF2B5EF4-FFF2-40B4-BE49-F238E27FC236}">
                <a16:creationId xmlns:a16="http://schemas.microsoft.com/office/drawing/2014/main" id="{E5D60ABE-C9A0-48B5-9F37-61CF9EDB2909}"/>
              </a:ext>
            </a:extLst>
          </p:cNvPr>
          <p:cNvSpPr>
            <a:spLocks noGrp="1"/>
          </p:cNvSpPr>
          <p:nvPr>
            <p:ph type="sldNum" sz="quarter" idx="12"/>
          </p:nvPr>
        </p:nvSpPr>
        <p:spPr/>
        <p:txBody>
          <a:bodyPr/>
          <a:lstStyle/>
          <a:p>
            <a:fld id="{B8473C9A-9E91-4025-B5E2-D7B202510636}" type="slidenum">
              <a:rPr lang="en-US" smtClean="0"/>
              <a:t>18</a:t>
            </a:fld>
            <a:endParaRPr lang="en-US" dirty="0"/>
          </a:p>
        </p:txBody>
      </p:sp>
      <p:pic>
        <p:nvPicPr>
          <p:cNvPr id="2" name="Picture 1">
            <a:extLst>
              <a:ext uri="{FF2B5EF4-FFF2-40B4-BE49-F238E27FC236}">
                <a16:creationId xmlns:a16="http://schemas.microsoft.com/office/drawing/2014/main" id="{11D92885-4A44-4A01-9CF0-BB87C0F89DF1}"/>
              </a:ext>
            </a:extLst>
          </p:cNvPr>
          <p:cNvPicPr>
            <a:picLocks noChangeAspect="1"/>
          </p:cNvPicPr>
          <p:nvPr/>
        </p:nvPicPr>
        <p:blipFill>
          <a:blip r:embed="rId2"/>
          <a:stretch>
            <a:fillRect/>
          </a:stretch>
        </p:blipFill>
        <p:spPr>
          <a:xfrm>
            <a:off x="159744" y="195328"/>
            <a:ext cx="2316681" cy="463336"/>
          </a:xfrm>
          <a:prstGeom prst="rect">
            <a:avLst/>
          </a:prstGeom>
        </p:spPr>
      </p:pic>
    </p:spTree>
    <p:extLst>
      <p:ext uri="{BB962C8B-B14F-4D97-AF65-F5344CB8AC3E}">
        <p14:creationId xmlns:p14="http://schemas.microsoft.com/office/powerpoint/2010/main" val="248033750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 Box 101">
            <a:extLst>
              <a:ext uri="{FF2B5EF4-FFF2-40B4-BE49-F238E27FC236}">
                <a16:creationId xmlns:a16="http://schemas.microsoft.com/office/drawing/2014/main" id="{67A4BA36-F678-40DF-B41E-24EC39261E03}"/>
              </a:ext>
            </a:extLst>
          </p:cNvPr>
          <p:cNvSpPr txBox="1"/>
          <p:nvPr/>
        </p:nvSpPr>
        <p:spPr>
          <a:xfrm>
            <a:off x="1628064" y="3840380"/>
            <a:ext cx="1655078" cy="1469998"/>
          </a:xfrm>
          <a:prstGeom prst="rect">
            <a:avLst/>
          </a:prstGeom>
          <a:solidFill>
            <a:schemeClr val="bg1"/>
          </a:solidFill>
          <a:ln w="6350">
            <a:solidFill>
              <a:prstClr val="black"/>
            </a:solidFill>
            <a:prstDash val="dash"/>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spcBef>
                <a:spcPct val="0"/>
              </a:spcBef>
              <a:spcAft>
                <a:spcPct val="0"/>
              </a:spcAft>
            </a:pPr>
            <a:r>
              <a:rPr lang="en-US" sz="90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200">
              <a:effectLst/>
              <a:latin typeface="Calibri" pitchFamily="34" charset="0"/>
              <a:ea typeface="Times New Roman" panose="02020603050405020304" pitchFamily="18" charset="0"/>
              <a:cs typeface="Times New Roman" panose="02020603050405020304" pitchFamily="18" charset="0"/>
            </a:endParaRPr>
          </a:p>
        </p:txBody>
      </p:sp>
      <p:sp>
        <p:nvSpPr>
          <p:cNvPr id="39" name="Text Box 108">
            <a:extLst>
              <a:ext uri="{FF2B5EF4-FFF2-40B4-BE49-F238E27FC236}">
                <a16:creationId xmlns:a16="http://schemas.microsoft.com/office/drawing/2014/main" id="{D880BB68-451F-426C-9D42-1B37F6EA4CE3}"/>
              </a:ext>
            </a:extLst>
          </p:cNvPr>
          <p:cNvSpPr txBox="1">
            <a:spLocks noChangeArrowheads="1"/>
          </p:cNvSpPr>
          <p:nvPr/>
        </p:nvSpPr>
        <p:spPr bwMode="auto">
          <a:xfrm>
            <a:off x="1689028" y="621010"/>
            <a:ext cx="1487794" cy="561967"/>
          </a:xfrm>
          <a:prstGeom prst="rect">
            <a:avLst/>
          </a:prstGeom>
          <a:solidFill>
            <a:schemeClr val="bg2"/>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1000" b="1">
                <a:solidFill>
                  <a:srgbClr val="000000"/>
                </a:solidFill>
                <a:latin typeface="Calibri"/>
                <a:ea typeface="Times New Roman"/>
                <a:cs typeface="Times New Roman"/>
              </a:rPr>
              <a:t>Programmes GOUVERNEMENTAUX (Piliers ENDE)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40" name="Text Box 98">
            <a:extLst>
              <a:ext uri="{FF2B5EF4-FFF2-40B4-BE49-F238E27FC236}">
                <a16:creationId xmlns:a16="http://schemas.microsoft.com/office/drawing/2014/main" id="{EA5287A0-920D-4491-8462-CB8149A79B30}"/>
              </a:ext>
            </a:extLst>
          </p:cNvPr>
          <p:cNvSpPr txBox="1">
            <a:spLocks noChangeArrowheads="1"/>
          </p:cNvSpPr>
          <p:nvPr/>
        </p:nvSpPr>
        <p:spPr bwMode="auto">
          <a:xfrm>
            <a:off x="1723407" y="5785622"/>
            <a:ext cx="1547010" cy="451368"/>
          </a:xfrm>
          <a:prstGeom prst="rect">
            <a:avLst/>
          </a:prstGeom>
          <a:solidFill>
            <a:schemeClr val="bg2"/>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altLang="zh-CN" sz="900" b="1" dirty="0">
                <a:latin typeface="Calibri" panose="020F0502020204030204" pitchFamily="34" charset="0"/>
                <a:ea typeface="Times New Roman" panose="02020603050405020304" pitchFamily="18" charset="0"/>
                <a:cs typeface="Times New Roman" panose="02020603050405020304" pitchFamily="18" charset="0"/>
              </a:rPr>
              <a:t>  Transformation sociale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41" name="Text Box 105">
            <a:extLst>
              <a:ext uri="{FF2B5EF4-FFF2-40B4-BE49-F238E27FC236}">
                <a16:creationId xmlns:a16="http://schemas.microsoft.com/office/drawing/2014/main" id="{C65457A2-F255-48B1-BBEE-C8A6E6CECFA3}"/>
              </a:ext>
            </a:extLst>
          </p:cNvPr>
          <p:cNvSpPr txBox="1">
            <a:spLocks noChangeArrowheads="1"/>
          </p:cNvSpPr>
          <p:nvPr/>
        </p:nvSpPr>
        <p:spPr bwMode="auto">
          <a:xfrm>
            <a:off x="1737562" y="3983520"/>
            <a:ext cx="1487794" cy="458264"/>
          </a:xfrm>
          <a:prstGeom prst="rect">
            <a:avLst/>
          </a:prstGeom>
          <a:solidFill>
            <a:schemeClr val="bg2"/>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altLang="zh-CN" sz="900" b="1" dirty="0">
                <a:latin typeface="Calibri" pitchFamily="34" charset="0"/>
                <a:ea typeface="Times New Roman" panose="02020603050405020304" pitchFamily="18" charset="0"/>
                <a:cs typeface="Times New Roman" panose="02020603050405020304" pitchFamily="18" charset="0"/>
              </a:rPr>
              <a:t> Transformation économique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42" name="Text Box 104">
            <a:extLst>
              <a:ext uri="{FF2B5EF4-FFF2-40B4-BE49-F238E27FC236}">
                <a16:creationId xmlns:a16="http://schemas.microsoft.com/office/drawing/2014/main" id="{510FCC56-B892-48A2-8B7D-98EABBE3CF2F}"/>
              </a:ext>
            </a:extLst>
          </p:cNvPr>
          <p:cNvSpPr txBox="1">
            <a:spLocks noChangeArrowheads="1"/>
          </p:cNvSpPr>
          <p:nvPr/>
        </p:nvSpPr>
        <p:spPr bwMode="auto">
          <a:xfrm>
            <a:off x="1701756" y="1780978"/>
            <a:ext cx="1487794" cy="561967"/>
          </a:xfrm>
          <a:prstGeom prst="rect">
            <a:avLst/>
          </a:prstGeom>
          <a:solidFill>
            <a:schemeClr val="bg2"/>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altLang="zh-CN" sz="900" b="1" dirty="0">
                <a:latin typeface="Calibri" panose="020F0502020204030204" pitchFamily="34" charset="0"/>
                <a:ea typeface="Times New Roman" panose="02020603050405020304" pitchFamily="18" charset="0"/>
                <a:cs typeface="Times New Roman" panose="02020603050405020304" pitchFamily="18" charset="0"/>
              </a:rPr>
              <a:t> Gouvernance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43" name="Text Box 106">
            <a:extLst>
              <a:ext uri="{FF2B5EF4-FFF2-40B4-BE49-F238E27FC236}">
                <a16:creationId xmlns:a16="http://schemas.microsoft.com/office/drawing/2014/main" id="{5961C23B-B674-4B10-9F36-54A5C208B615}"/>
              </a:ext>
            </a:extLst>
          </p:cNvPr>
          <p:cNvSpPr txBox="1">
            <a:spLocks noChangeArrowheads="1"/>
          </p:cNvSpPr>
          <p:nvPr/>
        </p:nvSpPr>
        <p:spPr bwMode="auto">
          <a:xfrm>
            <a:off x="1715652" y="4573488"/>
            <a:ext cx="1487794" cy="508000"/>
          </a:xfrm>
          <a:prstGeom prst="rect">
            <a:avLst/>
          </a:prstGeom>
          <a:solidFill>
            <a:schemeClr val="bg2"/>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900" b="1" dirty="0">
                <a:solidFill>
                  <a:srgbClr val="000000"/>
                </a:solidFill>
                <a:latin typeface="Calibri"/>
                <a:ea typeface="Times New Roman"/>
                <a:cs typeface="Times New Roman"/>
              </a:rPr>
              <a:t> Environnement/Ressources naturelles (économie circulaire)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44" name="Text Box 107">
            <a:extLst>
              <a:ext uri="{FF2B5EF4-FFF2-40B4-BE49-F238E27FC236}">
                <a16:creationId xmlns:a16="http://schemas.microsoft.com/office/drawing/2014/main" id="{E6A1E2E5-0BF7-45AD-9F1D-92118FA6438F}"/>
              </a:ext>
            </a:extLst>
          </p:cNvPr>
          <p:cNvSpPr txBox="1">
            <a:spLocks noChangeArrowheads="1"/>
          </p:cNvSpPr>
          <p:nvPr/>
        </p:nvSpPr>
        <p:spPr bwMode="auto">
          <a:xfrm>
            <a:off x="3473057" y="500153"/>
            <a:ext cx="2008892" cy="370445"/>
          </a:xfrm>
          <a:prstGeom prst="rect">
            <a:avLst/>
          </a:prstGeom>
          <a:solidFill>
            <a:schemeClr val="bg2"/>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pt" sz="900" b="1" i="0" u="none" strike="noStrike" cap="none" normalizeH="0" baseline="0" dirty="0">
                <a:solidFill>
                  <a:srgbClr val="000000"/>
                </a:solidFill>
                <a:highlight>
                  <a:srgbClr val="000000">
                    <a:alpha val="0"/>
                  </a:srgbClr>
                </a:highlight>
                <a:latin typeface="Calibri"/>
                <a:ea typeface="Times New Roman"/>
                <a:cs typeface="Times New Roman"/>
              </a:rPr>
              <a:t>PRIORITÉS DE LA MISE À JOUR DU DSP DE LA BM</a:t>
            </a:r>
            <a:endParaRPr kumimoji="0" lang="en-US" altLang="zh-CN" sz="1600" b="0" i="0" u="none" strike="noStrike" cap="none" normalizeH="0" baseline="0" dirty="0">
              <a:ln>
                <a:noFill/>
              </a:ln>
              <a:solidFill>
                <a:schemeClr val="tx1"/>
              </a:solidFill>
              <a:effectLst/>
              <a:latin typeface="Arial" panose="020B0604020202020204" pitchFamily="34" charset="0"/>
            </a:endParaRPr>
          </a:p>
        </p:txBody>
      </p:sp>
      <p:sp>
        <p:nvSpPr>
          <p:cNvPr id="45" name="Text Box 102">
            <a:extLst>
              <a:ext uri="{FF2B5EF4-FFF2-40B4-BE49-F238E27FC236}">
                <a16:creationId xmlns:a16="http://schemas.microsoft.com/office/drawing/2014/main" id="{37F53BF3-9C92-442B-8A9B-85DFBF303E13}"/>
              </a:ext>
            </a:extLst>
          </p:cNvPr>
          <p:cNvSpPr txBox="1">
            <a:spLocks noChangeArrowheads="1"/>
          </p:cNvSpPr>
          <p:nvPr/>
        </p:nvSpPr>
        <p:spPr bwMode="auto">
          <a:xfrm>
            <a:off x="5873624" y="516380"/>
            <a:ext cx="2315458" cy="410865"/>
          </a:xfrm>
          <a:prstGeom prst="rect">
            <a:avLst/>
          </a:prstGeom>
          <a:solidFill>
            <a:schemeClr val="bg2"/>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pt" sz="1000" b="1" i="0" u="none" strike="noStrike" cap="none" normalizeH="0" baseline="0" dirty="0">
                <a:solidFill>
                  <a:srgbClr val="000000"/>
                </a:solidFill>
                <a:highlight>
                  <a:srgbClr val="000000">
                    <a:alpha val="0"/>
                  </a:srgbClr>
                </a:highlight>
                <a:latin typeface="Calibri"/>
                <a:ea typeface="Times New Roman"/>
                <a:cs typeface="Times New Roman"/>
              </a:rPr>
              <a:t>OBJECTIFS DU CPP DU GBM</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46" name="Text Box 86">
            <a:extLst>
              <a:ext uri="{FF2B5EF4-FFF2-40B4-BE49-F238E27FC236}">
                <a16:creationId xmlns:a16="http://schemas.microsoft.com/office/drawing/2014/main" id="{A79229F4-4E13-47DF-B0B6-A443023CE6D5}"/>
              </a:ext>
            </a:extLst>
          </p:cNvPr>
          <p:cNvSpPr txBox="1">
            <a:spLocks noChangeArrowheads="1"/>
          </p:cNvSpPr>
          <p:nvPr/>
        </p:nvSpPr>
        <p:spPr bwMode="auto">
          <a:xfrm>
            <a:off x="8643949" y="557913"/>
            <a:ext cx="1378820" cy="369332"/>
          </a:xfrm>
          <a:prstGeom prst="rect">
            <a:avLst/>
          </a:prstGeom>
          <a:solidFill>
            <a:schemeClr val="bg2"/>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1000" b="1" dirty="0">
                <a:solidFill>
                  <a:srgbClr val="000000"/>
                </a:solidFill>
                <a:latin typeface="Calibri"/>
                <a:ea typeface="Times New Roman"/>
                <a:cs typeface="Times New Roman"/>
              </a:rPr>
              <a:t>OBJECTIFS DE HAUT NIVEAU (OHN)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47" name="Text Box 90">
            <a:extLst>
              <a:ext uri="{FF2B5EF4-FFF2-40B4-BE49-F238E27FC236}">
                <a16:creationId xmlns:a16="http://schemas.microsoft.com/office/drawing/2014/main" id="{82398FA7-E5D3-44D7-A639-37FF35396638}"/>
              </a:ext>
            </a:extLst>
          </p:cNvPr>
          <p:cNvSpPr txBox="1">
            <a:spLocks noChangeArrowheads="1"/>
          </p:cNvSpPr>
          <p:nvPr/>
        </p:nvSpPr>
        <p:spPr bwMode="auto">
          <a:xfrm>
            <a:off x="8731922" y="2676998"/>
            <a:ext cx="1228725" cy="1784350"/>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pPr>
            <a:endParaRPr kumimoji="0" lang="en-US" altLang="zh-CN" sz="900" b="0" i="0" u="none" strike="noStrike" cap="none" normalizeH="0" baseline="0" dirty="0">
              <a:ln>
                <a:noFill/>
              </a:ln>
              <a:solidFill>
                <a:schemeClr val="tx1"/>
              </a:solidFill>
              <a:effectLst/>
              <a:latin typeface="Calibri" pitchFamily="34" charset="0"/>
              <a:ea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r>
              <a:rPr lang="en-US" sz="900" dirty="0">
                <a:solidFill>
                  <a:srgbClr val="000000"/>
                </a:solidFill>
                <a:latin typeface="Calibri"/>
                <a:ea typeface="Times New Roman"/>
                <a:cs typeface="Times New Roman"/>
              </a:rPr>
              <a:t>OHN 2 : Augmentation de la création d'emplois inclusifs </a:t>
            </a:r>
            <a:endParaRPr kumimoji="0" lang="en-US" altLang="zh-CN" sz="900" b="0" i="1" u="none" strike="noStrike" cap="none" normalizeH="0" baseline="0" dirty="0">
              <a:ln>
                <a:noFill/>
              </a:ln>
              <a:solidFill>
                <a:schemeClr val="tx1"/>
              </a:solidFill>
              <a:effectLst/>
              <a:latin typeface="Calibri" pitchFamily="34" charset="0"/>
              <a:ea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48" name="Text Box 89">
            <a:extLst>
              <a:ext uri="{FF2B5EF4-FFF2-40B4-BE49-F238E27FC236}">
                <a16:creationId xmlns:a16="http://schemas.microsoft.com/office/drawing/2014/main" id="{1BA8E8A2-B286-49EC-AD72-B7F8B644098E}"/>
              </a:ext>
            </a:extLst>
          </p:cNvPr>
          <p:cNvSpPr txBox="1">
            <a:spLocks noChangeArrowheads="1"/>
          </p:cNvSpPr>
          <p:nvPr/>
        </p:nvSpPr>
        <p:spPr bwMode="auto">
          <a:xfrm>
            <a:off x="8751614" y="4565163"/>
            <a:ext cx="1245010" cy="1791188"/>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900" dirty="0">
                <a:solidFill>
                  <a:srgbClr val="000000"/>
                </a:solidFill>
                <a:latin typeface="Calibri"/>
                <a:ea typeface="Times New Roman"/>
                <a:cs typeface="Times New Roman"/>
              </a:rPr>
              <a:t>OHN3 : Améliorer le capital humain et l'autonomisation des femmes </a:t>
            </a:r>
            <a:endParaRPr kumimoji="0" lang="en-US" altLang="zh-CN" sz="9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endParaRPr kumimoji="0" lang="en-US" altLang="zh-CN" sz="9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endParaRPr lang="en-US" altLang="zh-CN" sz="900" i="1" dirty="0">
              <a:latin typeface="Calibri" pitchFamily="34" charset="0"/>
              <a:ea typeface="Times New Roman" panose="02020603050405020304" pitchFamily="18" charset="0"/>
              <a:cs typeface="Times New Roman" panose="02020603050405020304" pitchFamily="18" charset="0"/>
            </a:endParaRPr>
          </a:p>
        </p:txBody>
      </p:sp>
      <p:sp>
        <p:nvSpPr>
          <p:cNvPr id="49" name="Text Box 87">
            <a:extLst>
              <a:ext uri="{FF2B5EF4-FFF2-40B4-BE49-F238E27FC236}">
                <a16:creationId xmlns:a16="http://schemas.microsoft.com/office/drawing/2014/main" id="{EB613E97-5EF1-4040-8C44-108B0C84469B}"/>
              </a:ext>
            </a:extLst>
          </p:cNvPr>
          <p:cNvSpPr txBox="1">
            <a:spLocks noChangeArrowheads="1"/>
          </p:cNvSpPr>
          <p:nvPr/>
        </p:nvSpPr>
        <p:spPr bwMode="auto">
          <a:xfrm>
            <a:off x="8730879" y="985005"/>
            <a:ext cx="1217885" cy="1577135"/>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pPr>
            <a:endParaRPr kumimoji="0" lang="en-US" altLang="zh-CN" sz="9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r>
              <a:rPr lang="en-US" sz="900" dirty="0">
                <a:solidFill>
                  <a:srgbClr val="000000"/>
                </a:solidFill>
                <a:latin typeface="Calibri"/>
                <a:ea typeface="Times New Roman"/>
                <a:cs typeface="Times New Roman"/>
              </a:rPr>
              <a:t>OHN 1 : Institutions inclusives </a:t>
            </a:r>
            <a:endParaRPr kumimoji="0" lang="en-US" altLang="zh-CN" sz="9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p>
            <a:pPr algn="ctr" eaLnBrk="0" fontAlgn="base" hangingPunct="0">
              <a:spcBef>
                <a:spcPct val="0"/>
              </a:spcBef>
              <a:spcAft>
                <a:spcPct val="0"/>
              </a:spcAft>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50" name="Text Box 78">
            <a:extLst>
              <a:ext uri="{FF2B5EF4-FFF2-40B4-BE49-F238E27FC236}">
                <a16:creationId xmlns:a16="http://schemas.microsoft.com/office/drawing/2014/main" id="{26218C6F-E2B8-47F3-AB8A-41F3A5B8937B}"/>
              </a:ext>
            </a:extLst>
          </p:cNvPr>
          <p:cNvSpPr txBox="1">
            <a:spLocks noChangeArrowheads="1"/>
          </p:cNvSpPr>
          <p:nvPr/>
        </p:nvSpPr>
        <p:spPr bwMode="auto">
          <a:xfrm>
            <a:off x="3476341" y="950870"/>
            <a:ext cx="1985206" cy="766959"/>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900" dirty="0">
                <a:solidFill>
                  <a:srgbClr val="000000"/>
                </a:solidFill>
                <a:latin typeface="Calibri"/>
                <a:ea typeface="Times New Roman"/>
                <a:cs typeface="Times New Roman"/>
              </a:rPr>
              <a:t>Un lourd fardeau de la dette, un cadre macro-budgétaire fragile et d'autres risques défavorables exposent l'économie à l'instabilité macroéconomique et érodent la confiance des investisseurs</a:t>
            </a:r>
            <a:r>
              <a:rPr kumimoji="0" lang="pt" sz="900" b="0" i="0" u="none" strike="noStrike" cap="none" normalizeH="0" baseline="0" dirty="0">
                <a:solidFill>
                  <a:srgbClr val="000000"/>
                </a:solidFill>
                <a:highlight>
                  <a:srgbClr val="000000">
                    <a:alpha val="0"/>
                  </a:srgbClr>
                </a:highlight>
                <a:latin typeface="Calibri"/>
                <a:ea typeface="Times New Roman"/>
                <a:cs typeface="Times New Roman"/>
              </a:rPr>
              <a:t>.</a:t>
            </a:r>
            <a:endParaRPr kumimoji="0" lang="en-US" altLang="zh-CN"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51" name="Text Box 79">
            <a:extLst>
              <a:ext uri="{FF2B5EF4-FFF2-40B4-BE49-F238E27FC236}">
                <a16:creationId xmlns:a16="http://schemas.microsoft.com/office/drawing/2014/main" id="{A00457DF-E278-4418-AF56-D23781F3E4F1}"/>
              </a:ext>
            </a:extLst>
          </p:cNvPr>
          <p:cNvSpPr txBox="1">
            <a:spLocks noChangeArrowheads="1"/>
          </p:cNvSpPr>
          <p:nvPr/>
        </p:nvSpPr>
        <p:spPr bwMode="auto">
          <a:xfrm>
            <a:off x="3483879" y="2879630"/>
            <a:ext cx="2020094" cy="650875"/>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900" dirty="0">
                <a:solidFill>
                  <a:srgbClr val="000000"/>
                </a:solidFill>
                <a:latin typeface="Calibri"/>
                <a:ea typeface="Times New Roman"/>
                <a:cs typeface="Times New Roman"/>
              </a:rPr>
              <a:t>Un processus de décentralisation lent, déséquilibré et sous-financé rend difficile la délégation de pouvoirs aux gouvernements locaux.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52" name="Text Box 103">
            <a:extLst>
              <a:ext uri="{FF2B5EF4-FFF2-40B4-BE49-F238E27FC236}">
                <a16:creationId xmlns:a16="http://schemas.microsoft.com/office/drawing/2014/main" id="{DCC56B25-B63F-4588-A26A-6E4BD0B39749}"/>
              </a:ext>
            </a:extLst>
          </p:cNvPr>
          <p:cNvSpPr txBox="1">
            <a:spLocks noChangeArrowheads="1"/>
          </p:cNvSpPr>
          <p:nvPr/>
        </p:nvSpPr>
        <p:spPr bwMode="auto">
          <a:xfrm>
            <a:off x="5908040" y="1016226"/>
            <a:ext cx="2296354" cy="1942731"/>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900" dirty="0">
                <a:solidFill>
                  <a:srgbClr val="000000"/>
                </a:solidFill>
                <a:latin typeface="Calibri"/>
                <a:ea typeface="Times New Roman"/>
                <a:cs typeface="Times New Roman"/>
              </a:rPr>
              <a:t>1. Améliorer la gestion économique pour la création d'emplois durables et résilients, une meilleure capacité d'exécution et un risque souverain réduit 2. Renforcer l'efficacité du secteur public pour une prestation de services inclusive, transparente, plus durable, résiliente et équitable  3. Renforcer la coordination, les politiques et les capacités pour une meilleure préparation et réponse aux catastrophes naturelles, aux sinistres et aux autres chocs multidimensionnels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53" name="Text Box 97">
            <a:extLst>
              <a:ext uri="{FF2B5EF4-FFF2-40B4-BE49-F238E27FC236}">
                <a16:creationId xmlns:a16="http://schemas.microsoft.com/office/drawing/2014/main" id="{53F47CE3-06C6-4A6F-A118-A959D8740BD4}"/>
              </a:ext>
            </a:extLst>
          </p:cNvPr>
          <p:cNvSpPr txBox="1">
            <a:spLocks noChangeArrowheads="1"/>
          </p:cNvSpPr>
          <p:nvPr/>
        </p:nvSpPr>
        <p:spPr bwMode="auto">
          <a:xfrm>
            <a:off x="5902449" y="5105628"/>
            <a:ext cx="2265505" cy="1318554"/>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900" dirty="0">
                <a:solidFill>
                  <a:srgbClr val="000000"/>
                </a:solidFill>
                <a:latin typeface="Calibri"/>
                <a:ea typeface="Times New Roman"/>
                <a:cs typeface="Times New Roman"/>
              </a:rPr>
              <a:t>7. Améliorer durablement les principaux résultats en matière de santé et d'éducation 8. Accroître l'efficience des dépenses et la couverture effective des services sociaux intégrés et durables 9. Améliorer l'accès aux services pour prévenir les grossesses chez les adolescentes et promouvoir la participation des femmes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54" name="Text Box 99">
            <a:extLst>
              <a:ext uri="{FF2B5EF4-FFF2-40B4-BE49-F238E27FC236}">
                <a16:creationId xmlns:a16="http://schemas.microsoft.com/office/drawing/2014/main" id="{CC38D241-29A8-4D06-871B-D72391375300}"/>
              </a:ext>
            </a:extLst>
          </p:cNvPr>
          <p:cNvSpPr txBox="1">
            <a:spLocks noChangeArrowheads="1"/>
          </p:cNvSpPr>
          <p:nvPr/>
        </p:nvSpPr>
        <p:spPr bwMode="auto">
          <a:xfrm>
            <a:off x="10751963" y="2104449"/>
            <a:ext cx="561779" cy="3471862"/>
          </a:xfrm>
          <a:prstGeom prst="rect">
            <a:avLst/>
          </a:prstGeom>
          <a:solidFill>
            <a:srgbClr val="FFFFFF"/>
          </a:solidFill>
          <a:ln w="6350">
            <a:solidFill>
              <a:srgbClr val="000000"/>
            </a:solidFill>
            <a:miter lim="800000"/>
          </a:ln>
        </p:spPr>
        <p:txBody>
          <a:bodyPr vert="vert270"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1000" b="1" dirty="0">
                <a:solidFill>
                  <a:srgbClr val="000000"/>
                </a:solidFill>
                <a:latin typeface="Calibri"/>
                <a:ea typeface="Times New Roman"/>
                <a:cs typeface="Times New Roman"/>
              </a:rPr>
              <a:t>Les doubles objectifs de la Banque mondiale (dans le contexte de la </a:t>
            </a:r>
            <a:r>
              <a:rPr lang="en-US" sz="1000" i="1" dirty="0">
                <a:solidFill>
                  <a:srgbClr val="000000"/>
                </a:solidFill>
                <a:latin typeface="Calibri"/>
                <a:ea typeface="Times New Roman"/>
                <a:cs typeface="Times New Roman"/>
              </a:rPr>
              <a:t>Fragilité, des Conflits et de la Violence)</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55" name="Text Box 100">
            <a:extLst>
              <a:ext uri="{FF2B5EF4-FFF2-40B4-BE49-F238E27FC236}">
                <a16:creationId xmlns:a16="http://schemas.microsoft.com/office/drawing/2014/main" id="{6DC054EA-390C-4274-A3B4-61AE519AFF93}"/>
              </a:ext>
            </a:extLst>
          </p:cNvPr>
          <p:cNvSpPr txBox="1">
            <a:spLocks noChangeArrowheads="1"/>
          </p:cNvSpPr>
          <p:nvPr/>
        </p:nvSpPr>
        <p:spPr bwMode="auto">
          <a:xfrm>
            <a:off x="5890371" y="3060927"/>
            <a:ext cx="2296353" cy="1942731"/>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900" dirty="0">
                <a:solidFill>
                  <a:srgbClr val="000000"/>
                </a:solidFill>
                <a:latin typeface="Calibri"/>
                <a:ea typeface="Times New Roman"/>
                <a:cs typeface="Times New Roman"/>
              </a:rPr>
              <a:t>4. Permettre une croissance durable des secteurs de ressources naturelles sélectionnés en exploitant les avantages comparatifs régionaux et mondiaux 5. Promouvoir la croissance de la productivité dans des industries à forte intensité de main-d'œuvre sélectionnées  6. Étendre des services accessibles, fiables et résilients au climat pour améliorer l'accès des plus défavorisés, renforcer l'urbanisation durable et l'agglomération économique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57" name="Text Box 77">
            <a:extLst>
              <a:ext uri="{FF2B5EF4-FFF2-40B4-BE49-F238E27FC236}">
                <a16:creationId xmlns:a16="http://schemas.microsoft.com/office/drawing/2014/main" id="{6A5089EA-F723-4FD1-838A-0D3BD4FEB79A}"/>
              </a:ext>
            </a:extLst>
          </p:cNvPr>
          <p:cNvSpPr txBox="1">
            <a:spLocks noChangeArrowheads="1"/>
          </p:cNvSpPr>
          <p:nvPr/>
        </p:nvSpPr>
        <p:spPr bwMode="auto">
          <a:xfrm>
            <a:off x="3473057" y="1798101"/>
            <a:ext cx="2016001" cy="1017953"/>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900" dirty="0">
                <a:solidFill>
                  <a:srgbClr val="000000"/>
                </a:solidFill>
                <a:latin typeface="Calibri"/>
                <a:ea typeface="Times New Roman"/>
                <a:cs typeface="Times New Roman"/>
              </a:rPr>
              <a:t>Le manque de transparence, un environnement des données insuffisant ainsi qu'une supervision et une responsabilisation insuffisantes de la gestion des finances publiques et des entreprises publiques compromettent l'efficience et l'efficacité des ressources publiques </a:t>
            </a:r>
            <a:r>
              <a:rPr kumimoji="0" lang="pt" sz="900" b="0" i="0" u="none" strike="noStrike" cap="none" normalizeH="0" baseline="0" dirty="0">
                <a:solidFill>
                  <a:srgbClr val="000000"/>
                </a:solidFill>
                <a:highlight>
                  <a:srgbClr val="000000">
                    <a:alpha val="0"/>
                  </a:srgbClr>
                </a:highlight>
                <a:latin typeface="Calibri"/>
                <a:ea typeface="Times New Roman"/>
                <a:cs typeface="Times New Roman"/>
              </a:rPr>
              <a:t>.</a:t>
            </a:r>
            <a:endParaRPr kumimoji="0" lang="en-US" altLang="zh-CN"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58" name="Text Box 81">
            <a:extLst>
              <a:ext uri="{FF2B5EF4-FFF2-40B4-BE49-F238E27FC236}">
                <a16:creationId xmlns:a16="http://schemas.microsoft.com/office/drawing/2014/main" id="{89AF3C58-1D52-43BE-BD43-B1B4B9388F1D}"/>
              </a:ext>
            </a:extLst>
          </p:cNvPr>
          <p:cNvSpPr txBox="1">
            <a:spLocks noChangeArrowheads="1"/>
          </p:cNvSpPr>
          <p:nvPr/>
        </p:nvSpPr>
        <p:spPr bwMode="auto">
          <a:xfrm>
            <a:off x="3483879" y="3760745"/>
            <a:ext cx="2008891" cy="681038"/>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900" dirty="0">
                <a:solidFill>
                  <a:srgbClr val="000000"/>
                </a:solidFill>
                <a:latin typeface="Calibri"/>
                <a:ea typeface="Times New Roman"/>
                <a:cs typeface="Times New Roman"/>
              </a:rPr>
              <a:t>Les conditions de formation, de réglementation et les marchés essentiels à la croissance, la diversification et la création d'emplois du secteur privé sont sous-développés.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59" name="Text Box 80">
            <a:extLst>
              <a:ext uri="{FF2B5EF4-FFF2-40B4-BE49-F238E27FC236}">
                <a16:creationId xmlns:a16="http://schemas.microsoft.com/office/drawing/2014/main" id="{9D0FC625-5B93-4F5D-8146-D81344F7F31C}"/>
              </a:ext>
            </a:extLst>
          </p:cNvPr>
          <p:cNvSpPr txBox="1">
            <a:spLocks noChangeArrowheads="1"/>
          </p:cNvSpPr>
          <p:nvPr/>
        </p:nvSpPr>
        <p:spPr bwMode="auto">
          <a:xfrm>
            <a:off x="3476341" y="4532866"/>
            <a:ext cx="2008892" cy="690562"/>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900" dirty="0">
                <a:solidFill>
                  <a:srgbClr val="000000"/>
                </a:solidFill>
                <a:latin typeface="Calibri"/>
                <a:ea typeface="Times New Roman"/>
                <a:cs typeface="Times New Roman"/>
              </a:rPr>
              <a:t>Des défaillances dans les marchés clés, dont certaines sont induites par les politiques, freinent la productivité, la commercialisation et la gestion des risques</a:t>
            </a:r>
            <a:r>
              <a:rPr kumimoji="0" lang="pt" sz="900" b="0" i="0" u="none" strike="noStrike" cap="none" normalizeH="0" baseline="0" dirty="0">
                <a:solidFill>
                  <a:srgbClr val="000000"/>
                </a:solidFill>
                <a:highlight>
                  <a:srgbClr val="000000">
                    <a:alpha val="0"/>
                  </a:srgbClr>
                </a:highlight>
                <a:latin typeface="Calibri"/>
                <a:ea typeface="Times New Roman"/>
                <a:cs typeface="Times New Roman"/>
              </a:rPr>
              <a:t>.</a:t>
            </a:r>
            <a:endParaRPr kumimoji="0" lang="en-US" altLang="zh-CN"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60" name="Text Box 82">
            <a:extLst>
              <a:ext uri="{FF2B5EF4-FFF2-40B4-BE49-F238E27FC236}">
                <a16:creationId xmlns:a16="http://schemas.microsoft.com/office/drawing/2014/main" id="{1080C6B7-4DA5-4A14-8AF1-82F56116F321}"/>
              </a:ext>
            </a:extLst>
          </p:cNvPr>
          <p:cNvSpPr txBox="1">
            <a:spLocks noChangeArrowheads="1"/>
          </p:cNvSpPr>
          <p:nvPr/>
        </p:nvSpPr>
        <p:spPr bwMode="auto">
          <a:xfrm>
            <a:off x="3483878" y="5528860"/>
            <a:ext cx="2002521" cy="899160"/>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900" dirty="0">
                <a:solidFill>
                  <a:srgbClr val="000000"/>
                </a:solidFill>
                <a:latin typeface="Calibri"/>
                <a:ea typeface="Times New Roman"/>
                <a:cs typeface="Times New Roman"/>
              </a:rPr>
              <a:t>La faiblesse des incitations fondées sur la responsabilité et la performance, ainsi que la mauvaise coordination institutionnelle, limitent l'efficacité et l'efficience de la prestation de services et la formation du capital humain</a:t>
            </a:r>
            <a:r>
              <a:rPr kumimoji="0" lang="pt" sz="900" b="0" i="0" u="none" strike="noStrike" cap="none" normalizeH="0" baseline="0" dirty="0">
                <a:solidFill>
                  <a:srgbClr val="000000"/>
                </a:solidFill>
                <a:highlight>
                  <a:srgbClr val="000000">
                    <a:alpha val="0"/>
                  </a:srgbClr>
                </a:highlight>
                <a:latin typeface="Calibri"/>
                <a:ea typeface="Times New Roman"/>
                <a:cs typeface="Times New Roman"/>
              </a:rPr>
              <a:t>.</a:t>
            </a:r>
            <a:endParaRPr kumimoji="0" lang="en-US" altLang="zh-CN"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62" name="Right Arrow 23">
            <a:extLst>
              <a:ext uri="{FF2B5EF4-FFF2-40B4-BE49-F238E27FC236}">
                <a16:creationId xmlns:a16="http://schemas.microsoft.com/office/drawing/2014/main" id="{F7B8CA4A-EE30-47E3-B96F-AAF1B6C4697F}"/>
              </a:ext>
            </a:extLst>
          </p:cNvPr>
          <p:cNvSpPr/>
          <p:nvPr/>
        </p:nvSpPr>
        <p:spPr>
          <a:xfrm>
            <a:off x="8345501" y="3798099"/>
            <a:ext cx="298447" cy="185420"/>
          </a:xfrm>
          <a:prstGeom prst="rightArrow">
            <a:avLst/>
          </a:prstGeom>
          <a:solidFill>
            <a:srgbClr val="4472C4"/>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63" name="Right Arrow 23">
            <a:extLst>
              <a:ext uri="{FF2B5EF4-FFF2-40B4-BE49-F238E27FC236}">
                <a16:creationId xmlns:a16="http://schemas.microsoft.com/office/drawing/2014/main" id="{807A0D66-CC7C-4916-A863-58A2936E001D}"/>
              </a:ext>
            </a:extLst>
          </p:cNvPr>
          <p:cNvSpPr/>
          <p:nvPr/>
        </p:nvSpPr>
        <p:spPr>
          <a:xfrm>
            <a:off x="8318413" y="1679133"/>
            <a:ext cx="298447" cy="185420"/>
          </a:xfrm>
          <a:prstGeom prst="rightArrow">
            <a:avLst/>
          </a:prstGeom>
          <a:solidFill>
            <a:srgbClr val="4472C4"/>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64" name="Right Brace 63">
            <a:extLst>
              <a:ext uri="{FF2B5EF4-FFF2-40B4-BE49-F238E27FC236}">
                <a16:creationId xmlns:a16="http://schemas.microsoft.com/office/drawing/2014/main" id="{AD63B931-3E8E-4C11-B57C-F8A9FAD3BFA0}"/>
              </a:ext>
            </a:extLst>
          </p:cNvPr>
          <p:cNvSpPr/>
          <p:nvPr/>
        </p:nvSpPr>
        <p:spPr>
          <a:xfrm>
            <a:off x="9975578" y="1009196"/>
            <a:ext cx="795153" cy="5622290"/>
          </a:xfrm>
          <a:prstGeom prst="rightBrace">
            <a:avLst>
              <a:gd name="adj1" fmla="val 0"/>
              <a:gd name="adj2" fmla="val 48780"/>
            </a:avLst>
          </a:prstGeom>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65" name="Right Arrow 23">
            <a:extLst>
              <a:ext uri="{FF2B5EF4-FFF2-40B4-BE49-F238E27FC236}">
                <a16:creationId xmlns:a16="http://schemas.microsoft.com/office/drawing/2014/main" id="{E176EB49-8380-4BF9-B5CD-94A2BBD3D968}"/>
              </a:ext>
            </a:extLst>
          </p:cNvPr>
          <p:cNvSpPr/>
          <p:nvPr/>
        </p:nvSpPr>
        <p:spPr>
          <a:xfrm>
            <a:off x="8312093" y="5566932"/>
            <a:ext cx="298447" cy="185420"/>
          </a:xfrm>
          <a:prstGeom prst="rightArrow">
            <a:avLst/>
          </a:prstGeom>
          <a:solidFill>
            <a:srgbClr val="4472C4"/>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66" name="Right Brace 65">
            <a:extLst>
              <a:ext uri="{FF2B5EF4-FFF2-40B4-BE49-F238E27FC236}">
                <a16:creationId xmlns:a16="http://schemas.microsoft.com/office/drawing/2014/main" id="{9BD27318-54AE-44F0-B8A0-1D07DE47F16A}"/>
              </a:ext>
            </a:extLst>
          </p:cNvPr>
          <p:cNvSpPr/>
          <p:nvPr/>
        </p:nvSpPr>
        <p:spPr>
          <a:xfrm>
            <a:off x="5541669" y="918522"/>
            <a:ext cx="322443" cy="2598945"/>
          </a:xfrm>
          <a:prstGeom prst="rightBrace">
            <a:avLst>
              <a:gd name="adj1" fmla="val 0"/>
              <a:gd name="adj2" fmla="val 50000"/>
            </a:avLst>
          </a:prstGeom>
          <a:noFill/>
          <a:ln w="6350" cap="flat" cmpd="sng" algn="ctr">
            <a:solidFill>
              <a:srgbClr val="4472C4"/>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67" name="Right Brace 66">
            <a:extLst>
              <a:ext uri="{FF2B5EF4-FFF2-40B4-BE49-F238E27FC236}">
                <a16:creationId xmlns:a16="http://schemas.microsoft.com/office/drawing/2014/main" id="{17BA87D7-AAFC-4A88-88D7-39B35CF00A45}"/>
              </a:ext>
            </a:extLst>
          </p:cNvPr>
          <p:cNvSpPr/>
          <p:nvPr/>
        </p:nvSpPr>
        <p:spPr>
          <a:xfrm>
            <a:off x="5554535" y="3753428"/>
            <a:ext cx="278613" cy="1469999"/>
          </a:xfrm>
          <a:prstGeom prst="rightBrace">
            <a:avLst>
              <a:gd name="adj1" fmla="val 0"/>
              <a:gd name="adj2" fmla="val 37200"/>
            </a:avLst>
          </a:prstGeom>
          <a:noFill/>
          <a:ln w="6350" cap="flat" cmpd="sng" algn="ctr">
            <a:solidFill>
              <a:srgbClr val="4472C4"/>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68" name="Right Brace 67">
            <a:extLst>
              <a:ext uri="{FF2B5EF4-FFF2-40B4-BE49-F238E27FC236}">
                <a16:creationId xmlns:a16="http://schemas.microsoft.com/office/drawing/2014/main" id="{485910CA-A043-4F81-B5DB-931EE68D20BA}"/>
              </a:ext>
            </a:extLst>
          </p:cNvPr>
          <p:cNvSpPr/>
          <p:nvPr/>
        </p:nvSpPr>
        <p:spPr>
          <a:xfrm>
            <a:off x="5541669" y="5566932"/>
            <a:ext cx="360982" cy="857250"/>
          </a:xfrm>
          <a:prstGeom prst="rightBrace">
            <a:avLst>
              <a:gd name="adj1" fmla="val 0"/>
              <a:gd name="adj2" fmla="val 37200"/>
            </a:avLst>
          </a:prstGeom>
          <a:noFill/>
          <a:ln w="6350" cap="flat" cmpd="sng" algn="ctr">
            <a:solidFill>
              <a:srgbClr val="4472C4"/>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75" name="Rectangle 120">
            <a:extLst>
              <a:ext uri="{FF2B5EF4-FFF2-40B4-BE49-F238E27FC236}">
                <a16:creationId xmlns:a16="http://schemas.microsoft.com/office/drawing/2014/main" id="{B4C827BB-E166-4720-BAE3-E8852D546BA4}"/>
              </a:ext>
            </a:extLst>
          </p:cNvPr>
          <p:cNvSpPr>
            <a:spLocks noChangeArrowheads="1"/>
          </p:cNvSpPr>
          <p:nvPr/>
        </p:nvSpPr>
        <p:spPr bwMode="auto">
          <a:xfrm>
            <a:off x="-843300" y="2883334"/>
            <a:ext cx="1136940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p>
            <a:endParaRPr lang="en-US" dirty="0"/>
          </a:p>
        </p:txBody>
      </p:sp>
      <p:sp>
        <p:nvSpPr>
          <p:cNvPr id="82" name="TextBox 81">
            <a:extLst>
              <a:ext uri="{FF2B5EF4-FFF2-40B4-BE49-F238E27FC236}">
                <a16:creationId xmlns:a16="http://schemas.microsoft.com/office/drawing/2014/main" id="{435911EA-4749-40E7-B920-CA8554FC37D6}"/>
              </a:ext>
            </a:extLst>
          </p:cNvPr>
          <p:cNvSpPr txBox="1"/>
          <p:nvPr/>
        </p:nvSpPr>
        <p:spPr>
          <a:xfrm>
            <a:off x="262384" y="38488"/>
            <a:ext cx="11141528" cy="461665"/>
          </a:xfrm>
          <a:prstGeom prst="rect">
            <a:avLst/>
          </a:prstGeom>
          <a:noFill/>
        </p:spPr>
        <p:txBody>
          <a:bodyPr wrap="square">
            <a:noAutofit/>
          </a:bodyPr>
          <a:lstStyle/>
          <a:p>
            <a:pPr lvl="0" algn="r" eaLnBrk="0" fontAlgn="base" hangingPunct="0">
              <a:spcBef>
                <a:spcPct val="0"/>
              </a:spcBef>
              <a:spcAft>
                <a:spcPct val="0"/>
              </a:spcAft>
            </a:pPr>
            <a:r>
              <a:rPr lang="en-US" sz="2300" b="1" dirty="0">
                <a:solidFill>
                  <a:srgbClr val="2F5597"/>
                </a:solidFill>
                <a:ea typeface="+mj-ea"/>
              </a:rPr>
              <a:t>Programme gouvernemental, priorités du DSP et CPP 2023-2027</a:t>
            </a:r>
            <a:endParaRPr lang="pt" sz="2300" b="1" i="0" u="none" strike="noStrike" dirty="0">
              <a:solidFill>
                <a:srgbClr val="2F5597"/>
              </a:solidFill>
              <a:highlight>
                <a:srgbClr val="000000">
                  <a:alpha val="0"/>
                </a:srgbClr>
              </a:highlight>
              <a:latin typeface="Arial"/>
              <a:ea typeface="+mj-ea"/>
              <a:cs typeface="Arial"/>
            </a:endParaRPr>
          </a:p>
        </p:txBody>
      </p:sp>
      <p:sp>
        <p:nvSpPr>
          <p:cNvPr id="33" name="Text Box 86">
            <a:extLst>
              <a:ext uri="{FF2B5EF4-FFF2-40B4-BE49-F238E27FC236}">
                <a16:creationId xmlns:a16="http://schemas.microsoft.com/office/drawing/2014/main" id="{3E71666A-E496-4F48-9C63-1C4953AF4D3C}"/>
              </a:ext>
            </a:extLst>
          </p:cNvPr>
          <p:cNvSpPr txBox="1">
            <a:spLocks noChangeArrowheads="1"/>
          </p:cNvSpPr>
          <p:nvPr/>
        </p:nvSpPr>
        <p:spPr bwMode="auto">
          <a:xfrm>
            <a:off x="10251894" y="582104"/>
            <a:ext cx="1378820" cy="369332"/>
          </a:xfrm>
          <a:prstGeom prst="rect">
            <a:avLst/>
          </a:prstGeom>
          <a:solidFill>
            <a:schemeClr val="bg2"/>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pt" sz="1200" b="1" i="0" u="none" strike="noStrike" cap="none" normalizeH="0" baseline="0" dirty="0">
                <a:solidFill>
                  <a:srgbClr val="000000"/>
                </a:solidFill>
                <a:highlight>
                  <a:srgbClr val="000000">
                    <a:alpha val="0"/>
                  </a:srgbClr>
                </a:highlight>
                <a:latin typeface="Calibri"/>
                <a:ea typeface="Times New Roman"/>
                <a:cs typeface="Times New Roman"/>
              </a:rPr>
              <a:t>IMPACT</a:t>
            </a:r>
            <a:r>
              <a:rPr kumimoji="0" lang="pt" sz="1000" b="1" i="0" u="none" strike="noStrike" cap="none" normalizeH="0" baseline="0" dirty="0">
                <a:solidFill>
                  <a:srgbClr val="000000"/>
                </a:solidFill>
                <a:highlight>
                  <a:srgbClr val="000000">
                    <a:alpha val="0"/>
                  </a:srgbClr>
                </a:highlight>
                <a:latin typeface="Calibri"/>
                <a:ea typeface="Times New Roman"/>
                <a:cs typeface="Times New Roman"/>
              </a:rPr>
              <a:t>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5" name="Footer Placeholder 4">
            <a:extLst>
              <a:ext uri="{FF2B5EF4-FFF2-40B4-BE49-F238E27FC236}">
                <a16:creationId xmlns:a16="http://schemas.microsoft.com/office/drawing/2014/main" id="{3426EFB2-C29A-47AE-B735-FDA626614932}"/>
              </a:ext>
            </a:extLst>
          </p:cNvPr>
          <p:cNvSpPr>
            <a:spLocks noGrp="1"/>
          </p:cNvSpPr>
          <p:nvPr>
            <p:ph type="ftr" sz="quarter" idx="11"/>
          </p:nvPr>
        </p:nvSpPr>
        <p:spPr>
          <a:xfrm>
            <a:off x="4037499" y="6485618"/>
            <a:ext cx="4114800" cy="365125"/>
          </a:xfrm>
        </p:spPr>
        <p:txBody>
          <a:bodyPr/>
          <a:lstStyle/>
          <a:p>
            <a:r>
              <a:rPr lang="en-US"/>
              <a:t>CPP 2023-2027. Version publique. Maputo, mai 2022.</a:t>
            </a:r>
            <a:endParaRPr lang="en-US" dirty="0"/>
          </a:p>
        </p:txBody>
      </p:sp>
      <p:sp>
        <p:nvSpPr>
          <p:cNvPr id="6" name="Slide Number Placeholder 5">
            <a:extLst>
              <a:ext uri="{FF2B5EF4-FFF2-40B4-BE49-F238E27FC236}">
                <a16:creationId xmlns:a16="http://schemas.microsoft.com/office/drawing/2014/main" id="{209C3A3E-73B2-4CAB-BCDC-283C09B7A996}"/>
              </a:ext>
            </a:extLst>
          </p:cNvPr>
          <p:cNvSpPr>
            <a:spLocks noGrp="1"/>
          </p:cNvSpPr>
          <p:nvPr>
            <p:ph type="sldNum" sz="quarter" idx="12"/>
          </p:nvPr>
        </p:nvSpPr>
        <p:spPr/>
        <p:txBody>
          <a:bodyPr/>
          <a:lstStyle/>
          <a:p>
            <a:fld id="{B8473C9A-9E91-4025-B5E2-D7B202510636}" type="slidenum">
              <a:rPr lang="en-US" smtClean="0"/>
              <a:t>19</a:t>
            </a:fld>
            <a:endParaRPr lang="en-US" dirty="0"/>
          </a:p>
        </p:txBody>
      </p:sp>
      <p:graphicFrame>
        <p:nvGraphicFramePr>
          <p:cNvPr id="2" name="Table 2">
            <a:extLst>
              <a:ext uri="{FF2B5EF4-FFF2-40B4-BE49-F238E27FC236}">
                <a16:creationId xmlns:a16="http://schemas.microsoft.com/office/drawing/2014/main" id="{1C2F015B-084F-4D5A-AFF8-CBC5391288D9}"/>
              </a:ext>
            </a:extLst>
          </p:cNvPr>
          <p:cNvGraphicFramePr>
            <a:graphicFrameLocks noGrp="1"/>
          </p:cNvGraphicFramePr>
          <p:nvPr>
            <p:extLst>
              <p:ext uri="{D42A27DB-BD31-4B8C-83A1-F6EECF244321}">
                <p14:modId xmlns:p14="http://schemas.microsoft.com/office/powerpoint/2010/main" val="1381787384"/>
              </p:ext>
            </p:extLst>
          </p:nvPr>
        </p:nvGraphicFramePr>
        <p:xfrm>
          <a:off x="5862279" y="494314"/>
          <a:ext cx="2366680" cy="432931"/>
        </p:xfrm>
        <a:graphic>
          <a:graphicData uri="http://schemas.openxmlformats.org/drawingml/2006/table">
            <a:tbl>
              <a:tblPr firstRow="1" bandRow="1">
                <a:tableStyleId>{5C22544A-7EE6-4342-B048-85BDC9FD1C3A}</a:tableStyleId>
              </a:tblPr>
              <a:tblGrid>
                <a:gridCol w="2366680">
                  <a:extLst>
                    <a:ext uri="{9D8B030D-6E8A-4147-A177-3AD203B41FA5}">
                      <a16:colId xmlns:a16="http://schemas.microsoft.com/office/drawing/2014/main" val="3780125749"/>
                    </a:ext>
                  </a:extLst>
                </a:gridCol>
              </a:tblGrid>
              <a:tr h="432931">
                <a:tc>
                  <a:txBody>
                    <a:bodyPr/>
                    <a:lstStyle/>
                    <a:p>
                      <a:pPr algn="ctr"/>
                      <a:r>
                        <a:rPr lang="en-US" sz="900" dirty="0"/>
                        <a:t>WBG CPF Objectives </a:t>
                      </a:r>
                    </a:p>
                  </a:txBody>
                  <a:tcPr/>
                </a:tc>
                <a:extLst>
                  <a:ext uri="{0D108BD9-81ED-4DB2-BD59-A6C34878D82A}">
                    <a16:rowId xmlns:a16="http://schemas.microsoft.com/office/drawing/2014/main" val="4082223956"/>
                  </a:ext>
                </a:extLst>
              </a:tr>
            </a:tbl>
          </a:graphicData>
        </a:graphic>
      </p:graphicFrame>
      <p:graphicFrame>
        <p:nvGraphicFramePr>
          <p:cNvPr id="3" name="Table 3">
            <a:extLst>
              <a:ext uri="{FF2B5EF4-FFF2-40B4-BE49-F238E27FC236}">
                <a16:creationId xmlns:a16="http://schemas.microsoft.com/office/drawing/2014/main" id="{5152482C-7E96-4C99-AE17-9509514AE1B3}"/>
              </a:ext>
            </a:extLst>
          </p:cNvPr>
          <p:cNvGraphicFramePr>
            <a:graphicFrameLocks noGrp="1"/>
          </p:cNvGraphicFramePr>
          <p:nvPr>
            <p:extLst>
              <p:ext uri="{D42A27DB-BD31-4B8C-83A1-F6EECF244321}">
                <p14:modId xmlns:p14="http://schemas.microsoft.com/office/powerpoint/2010/main" val="2921258018"/>
              </p:ext>
            </p:extLst>
          </p:nvPr>
        </p:nvGraphicFramePr>
        <p:xfrm>
          <a:off x="3348429" y="493305"/>
          <a:ext cx="2284725" cy="457200"/>
        </p:xfrm>
        <a:graphic>
          <a:graphicData uri="http://schemas.openxmlformats.org/drawingml/2006/table">
            <a:tbl>
              <a:tblPr firstRow="1" bandRow="1">
                <a:tableStyleId>{5C22544A-7EE6-4342-B048-85BDC9FD1C3A}</a:tableStyleId>
              </a:tblPr>
              <a:tblGrid>
                <a:gridCol w="2284725">
                  <a:extLst>
                    <a:ext uri="{9D8B030D-6E8A-4147-A177-3AD203B41FA5}">
                      <a16:colId xmlns:a16="http://schemas.microsoft.com/office/drawing/2014/main" val="566056220"/>
                    </a:ext>
                  </a:extLst>
                </a:gridCol>
              </a:tblGrid>
              <a:tr h="457200">
                <a:tc>
                  <a:txBody>
                    <a:bodyPr/>
                    <a:lstStyle/>
                    <a:p>
                      <a:pPr algn="ctr"/>
                      <a:r>
                        <a:rPr lang="en-US" sz="900" dirty="0"/>
                        <a:t>WBG SCD Priorities </a:t>
                      </a:r>
                    </a:p>
                  </a:txBody>
                  <a:tcPr/>
                </a:tc>
                <a:extLst>
                  <a:ext uri="{0D108BD9-81ED-4DB2-BD59-A6C34878D82A}">
                    <a16:rowId xmlns:a16="http://schemas.microsoft.com/office/drawing/2014/main" val="3967305129"/>
                  </a:ext>
                </a:extLst>
              </a:tr>
            </a:tbl>
          </a:graphicData>
        </a:graphic>
      </p:graphicFrame>
      <p:pic>
        <p:nvPicPr>
          <p:cNvPr id="4" name="Picture 3">
            <a:extLst>
              <a:ext uri="{FF2B5EF4-FFF2-40B4-BE49-F238E27FC236}">
                <a16:creationId xmlns:a16="http://schemas.microsoft.com/office/drawing/2014/main" id="{52416E96-0776-48B0-B21E-A364D77FC888}"/>
              </a:ext>
            </a:extLst>
          </p:cNvPr>
          <p:cNvPicPr>
            <a:picLocks noChangeAspect="1"/>
          </p:cNvPicPr>
          <p:nvPr/>
        </p:nvPicPr>
        <p:blipFill>
          <a:blip r:embed="rId2"/>
          <a:stretch>
            <a:fillRect/>
          </a:stretch>
        </p:blipFill>
        <p:spPr>
          <a:xfrm>
            <a:off x="262384" y="103568"/>
            <a:ext cx="2316681" cy="463336"/>
          </a:xfrm>
          <a:prstGeom prst="rect">
            <a:avLst/>
          </a:prstGeom>
        </p:spPr>
      </p:pic>
    </p:spTree>
    <p:extLst>
      <p:ext uri="{BB962C8B-B14F-4D97-AF65-F5344CB8AC3E}">
        <p14:creationId xmlns:p14="http://schemas.microsoft.com/office/powerpoint/2010/main" val="1068890068"/>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676B-4603-455B-9BA6-AAFD3FF0ACAB}"/>
              </a:ext>
            </a:extLst>
          </p:cNvPr>
          <p:cNvSpPr>
            <a:spLocks noGrp="1"/>
          </p:cNvSpPr>
          <p:nvPr>
            <p:ph type="title"/>
          </p:nvPr>
        </p:nvSpPr>
        <p:spPr>
          <a:xfrm>
            <a:off x="838200" y="229481"/>
            <a:ext cx="10515600" cy="922299"/>
          </a:xfrm>
        </p:spPr>
        <p:txBody>
          <a:bodyPr>
            <a:noAutofit/>
          </a:bodyPr>
          <a:lstStyle/>
          <a:p>
            <a:pPr algn="ctr"/>
            <a:br>
              <a:rPr lang="en-US" sz="2400" dirty="0"/>
            </a:br>
            <a:br>
              <a:rPr lang="en-US" sz="2400" dirty="0"/>
            </a:br>
            <a:br>
              <a:rPr lang="en-US" sz="2400" dirty="0"/>
            </a:br>
            <a:r>
              <a:rPr lang="en-US" sz="2400" dirty="0"/>
              <a:t>Mise en œuvre du CPP 2023-2027 : Priorisation </a:t>
            </a:r>
            <a:endParaRPr lang="pt" sz="2400" b="0" i="1" u="none" strike="noStrike" dirty="0">
              <a:highlight>
                <a:srgbClr val="000000">
                  <a:alpha val="0"/>
                </a:srgbClr>
              </a:highlight>
              <a:latin typeface="Arial"/>
            </a:endParaRPr>
          </a:p>
        </p:txBody>
      </p:sp>
      <p:sp>
        <p:nvSpPr>
          <p:cNvPr id="3" name="Content Placeholder 2">
            <a:extLst>
              <a:ext uri="{FF2B5EF4-FFF2-40B4-BE49-F238E27FC236}">
                <a16:creationId xmlns:a16="http://schemas.microsoft.com/office/drawing/2014/main" id="{95DD31EA-D262-4017-A859-112A4B3C2A17}"/>
              </a:ext>
            </a:extLst>
          </p:cNvPr>
          <p:cNvSpPr>
            <a:spLocks noGrp="1"/>
          </p:cNvSpPr>
          <p:nvPr>
            <p:ph idx="1"/>
          </p:nvPr>
        </p:nvSpPr>
        <p:spPr>
          <a:xfrm>
            <a:off x="838200" y="1568672"/>
            <a:ext cx="10515600" cy="4700703"/>
          </a:xfrm>
        </p:spPr>
        <p:txBody>
          <a:bodyPr>
            <a:noAutofit/>
          </a:bodyPr>
          <a:lstStyle/>
          <a:p>
            <a:pPr algn="just" rtl="0"/>
            <a:r>
              <a:rPr lang="en-US" sz="1600" b="1" i="0" u="none" strike="noStrike" dirty="0">
                <a:highlight>
                  <a:srgbClr val="000000">
                    <a:alpha val="0"/>
                  </a:srgbClr>
                </a:highlight>
                <a:latin typeface="Arial"/>
              </a:rPr>
              <a:t>Au cours des 12 à 24 prochains mois, le CPF donnera la priorité aux réformes et aux investissements susceptibles de protéger les perspectives de croissance du pays.</a:t>
            </a:r>
            <a:r>
              <a:rPr lang="en-US" sz="1600" i="0" u="none" strike="noStrike" dirty="0">
                <a:highlight>
                  <a:srgbClr val="000000">
                    <a:alpha val="0"/>
                  </a:srgbClr>
                </a:highlight>
                <a:latin typeface="Arial"/>
              </a:rPr>
              <a:t> À moyen terme, le CPF donnera la priorité à certaines réformes et certains investissements transformateurs susceptibles de déclencher une croissance plus verte et plus inclusive.</a:t>
            </a:r>
            <a:endParaRPr lang="en-US" sz="1600" b="1" i="0" u="none" strike="noStrike" dirty="0">
              <a:highlight>
                <a:srgbClr val="000000">
                  <a:alpha val="0"/>
                </a:srgbClr>
              </a:highlight>
              <a:latin typeface="Arial"/>
            </a:endParaRPr>
          </a:p>
          <a:p>
            <a:pPr algn="just" rtl="0"/>
            <a:r>
              <a:rPr lang="en-US" sz="1600" b="1" i="0" u="none" strike="noStrike" dirty="0">
                <a:highlight>
                  <a:srgbClr val="000000">
                    <a:alpha val="0"/>
                  </a:srgbClr>
                </a:highlight>
                <a:latin typeface="Arial"/>
              </a:rPr>
              <a:t>Pour faire face aux vents contraires d'une économie mondiale difficile, le CPF privilégiera les activités qui renforcent davantage la stabilité macroéconomique, améliorent la préparation aux chocs climatiques </a:t>
            </a:r>
            <a:r>
              <a:rPr lang="en-US" sz="1600" i="0" u="none" strike="noStrike" dirty="0">
                <a:highlight>
                  <a:srgbClr val="000000">
                    <a:alpha val="0"/>
                  </a:srgbClr>
                </a:highlight>
                <a:latin typeface="Arial"/>
              </a:rPr>
              <a:t>et garantissent la stabilité et la sécurité dans le Nord, tout en maintenant un accent sur la prévention des crises, la réponse et la résilience, sur la base de l'Allocation pour la Prévention et la Résilience.</a:t>
            </a:r>
            <a:endParaRPr lang="en-US" sz="1600" b="1" i="0" u="none" strike="noStrike" dirty="0">
              <a:highlight>
                <a:srgbClr val="000000">
                  <a:alpha val="0"/>
                </a:srgbClr>
              </a:highlight>
              <a:latin typeface="Arial"/>
            </a:endParaRPr>
          </a:p>
          <a:p>
            <a:pPr algn="just" rtl="0"/>
            <a:r>
              <a:rPr lang="en-US" sz="1600" b="1" i="0" u="none" strike="noStrike" dirty="0">
                <a:highlight>
                  <a:srgbClr val="000000">
                    <a:alpha val="0"/>
                  </a:srgbClr>
                </a:highlight>
                <a:latin typeface="Arial"/>
              </a:rPr>
              <a:t>Le CPF aidera également le gouvernement à débloquer des investissements privés supplémentaires </a:t>
            </a:r>
            <a:r>
              <a:rPr lang="en-US" sz="1600" i="0" u="none" strike="noStrike" dirty="0">
                <a:highlight>
                  <a:srgbClr val="000000">
                    <a:alpha val="0"/>
                  </a:srgbClr>
                </a:highlight>
                <a:latin typeface="Arial"/>
              </a:rPr>
              <a:t>et des gains de productivité potentiels susceptibles d'accélérer la croissance économique et l'inclusion à court terme.</a:t>
            </a:r>
            <a:endParaRPr lang="en-US" sz="1600" b="1" i="0" u="none" strike="noStrike" dirty="0">
              <a:highlight>
                <a:srgbClr val="000000">
                  <a:alpha val="0"/>
                </a:srgbClr>
              </a:highlight>
              <a:latin typeface="Arial"/>
            </a:endParaRPr>
          </a:p>
          <a:p>
            <a:pPr algn="just" rtl="0"/>
            <a:r>
              <a:rPr lang="en-US" sz="1600" b="1" i="0" u="none" strike="noStrike" dirty="0">
                <a:highlight>
                  <a:srgbClr val="000000">
                    <a:alpha val="0"/>
                  </a:srgbClr>
                </a:highlight>
                <a:latin typeface="Arial"/>
              </a:rPr>
              <a:t>Pour libérer une croissance plus verte et plus inclusive</a:t>
            </a:r>
            <a:r>
              <a:rPr lang="en-US" sz="1600" i="0" u="none" strike="noStrike" dirty="0">
                <a:highlight>
                  <a:srgbClr val="000000">
                    <a:alpha val="0"/>
                  </a:srgbClr>
                </a:highlight>
                <a:latin typeface="Arial"/>
              </a:rPr>
              <a:t>, le CPF donnera la priorité aux activités qui (i) permettent l'exploitation d'une ressource naturelle tout en renforçant la gestion des ressources naturelles — orientant progressivement le pays vers une trajectoire bas carbone (en intégrant les recommandations du Rapport sur le Changement Climatique et le Développement (à paraître prochainement)) et (ii) accélèrent le processus de transformation structurelle (économique et spatiale), notamment par la modernisation de l'agriculture et une meilleure gestion du processus d'urbanisation.</a:t>
            </a:r>
            <a:endParaRPr lang="en-US" sz="1600" dirty="0"/>
          </a:p>
        </p:txBody>
      </p:sp>
      <p:sp>
        <p:nvSpPr>
          <p:cNvPr id="7" name="Footer Placeholder 6">
            <a:extLst>
              <a:ext uri="{FF2B5EF4-FFF2-40B4-BE49-F238E27FC236}">
                <a16:creationId xmlns:a16="http://schemas.microsoft.com/office/drawing/2014/main" id="{A33C755C-B279-42BF-B058-8A1E73B24E63}"/>
              </a:ext>
            </a:extLst>
          </p:cNvPr>
          <p:cNvSpPr>
            <a:spLocks noGrp="1"/>
          </p:cNvSpPr>
          <p:nvPr>
            <p:ph type="ftr" sz="quarter" idx="11"/>
          </p:nvPr>
        </p:nvSpPr>
        <p:spPr/>
        <p:txBody>
          <a:bodyPr/>
          <a:lstStyle/>
          <a:p>
            <a:r>
              <a:rPr lang="en-US"/>
              <a:t>CPP 2023-2027. Version publique. Maputo, mai 2022.</a:t>
            </a:r>
            <a:endParaRPr lang="en-US" dirty="0"/>
          </a:p>
        </p:txBody>
      </p:sp>
      <p:sp>
        <p:nvSpPr>
          <p:cNvPr id="8" name="Slide Number Placeholder 7">
            <a:extLst>
              <a:ext uri="{FF2B5EF4-FFF2-40B4-BE49-F238E27FC236}">
                <a16:creationId xmlns:a16="http://schemas.microsoft.com/office/drawing/2014/main" id="{B051C23C-5BC7-4AE8-9AFF-BBE32842FF8B}"/>
              </a:ext>
            </a:extLst>
          </p:cNvPr>
          <p:cNvSpPr>
            <a:spLocks noGrp="1"/>
          </p:cNvSpPr>
          <p:nvPr>
            <p:ph type="sldNum" sz="quarter" idx="12"/>
          </p:nvPr>
        </p:nvSpPr>
        <p:spPr/>
        <p:txBody>
          <a:bodyPr/>
          <a:lstStyle/>
          <a:p>
            <a:fld id="{B8473C9A-9E91-4025-B5E2-D7B202510636}" type="slidenum">
              <a:rPr lang="en-US" smtClean="0"/>
              <a:t>20</a:t>
            </a:fld>
            <a:endParaRPr lang="en-US" dirty="0"/>
          </a:p>
        </p:txBody>
      </p:sp>
      <p:pic>
        <p:nvPicPr>
          <p:cNvPr id="4" name="Picture 3">
            <a:extLst>
              <a:ext uri="{FF2B5EF4-FFF2-40B4-BE49-F238E27FC236}">
                <a16:creationId xmlns:a16="http://schemas.microsoft.com/office/drawing/2014/main" id="{39A1D7FE-ED6A-414B-A3D8-9F7D4FC8C4AF}"/>
              </a:ext>
            </a:extLst>
          </p:cNvPr>
          <p:cNvPicPr>
            <a:picLocks noChangeAspect="1"/>
          </p:cNvPicPr>
          <p:nvPr/>
        </p:nvPicPr>
        <p:blipFill>
          <a:blip r:embed="rId2"/>
          <a:stretch>
            <a:fillRect/>
          </a:stretch>
        </p:blipFill>
        <p:spPr>
          <a:xfrm>
            <a:off x="245916" y="229481"/>
            <a:ext cx="2316681" cy="463336"/>
          </a:xfrm>
          <a:prstGeom prst="rect">
            <a:avLst/>
          </a:prstGeom>
        </p:spPr>
      </p:pic>
    </p:spTree>
    <p:extLst>
      <p:ext uri="{BB962C8B-B14F-4D97-AF65-F5344CB8AC3E}">
        <p14:creationId xmlns:p14="http://schemas.microsoft.com/office/powerpoint/2010/main" val="382222586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02326-9E63-4DF0-AF0D-21FCFEC54D28}"/>
              </a:ext>
            </a:extLst>
          </p:cNvPr>
          <p:cNvSpPr>
            <a:spLocks noGrp="1"/>
          </p:cNvSpPr>
          <p:nvPr>
            <p:ph type="title"/>
          </p:nvPr>
        </p:nvSpPr>
        <p:spPr>
          <a:xfrm>
            <a:off x="838200" y="482493"/>
            <a:ext cx="10515600" cy="674333"/>
          </a:xfrm>
        </p:spPr>
        <p:txBody>
          <a:bodyPr>
            <a:noAutofit/>
          </a:bodyPr>
          <a:lstStyle/>
          <a:p>
            <a:pPr algn="ctr"/>
            <a:r>
              <a:rPr lang="en-US" sz="2400" dirty="0"/>
              <a:t>Mise en œuvre du CPP 2023-2027 : Priorisation </a:t>
            </a:r>
            <a:endParaRPr lang="pt" sz="2400" b="1" i="0" u="none" strike="noStrike" dirty="0">
              <a:highlight>
                <a:srgbClr val="000000">
                  <a:alpha val="0"/>
                </a:srgbClr>
              </a:highlight>
              <a:latin typeface="Arial"/>
            </a:endParaRPr>
          </a:p>
        </p:txBody>
      </p:sp>
      <p:sp>
        <p:nvSpPr>
          <p:cNvPr id="3" name="Content Placeholder 2">
            <a:extLst>
              <a:ext uri="{FF2B5EF4-FFF2-40B4-BE49-F238E27FC236}">
                <a16:creationId xmlns:a16="http://schemas.microsoft.com/office/drawing/2014/main" id="{CB65E0F7-FCC9-4A64-911C-50F2460F3EEB}"/>
              </a:ext>
            </a:extLst>
          </p:cNvPr>
          <p:cNvSpPr>
            <a:spLocks noGrp="1"/>
          </p:cNvSpPr>
          <p:nvPr>
            <p:ph idx="1"/>
          </p:nvPr>
        </p:nvSpPr>
        <p:spPr>
          <a:xfrm>
            <a:off x="668878" y="1012489"/>
            <a:ext cx="10515600" cy="4351338"/>
          </a:xfrm>
        </p:spPr>
        <p:txBody>
          <a:bodyPr>
            <a:noAutofit/>
          </a:bodyPr>
          <a:lstStyle/>
          <a:p>
            <a:pPr algn="just" rtl="0"/>
            <a:r>
              <a:rPr lang="en-US" sz="1600" b="0" i="0" u="none" strike="noStrike" dirty="0">
                <a:highlight>
                  <a:srgbClr val="000000">
                    <a:alpha val="0"/>
                  </a:srgbClr>
                </a:highlight>
                <a:latin typeface="Arial"/>
              </a:rPr>
              <a:t>Les réformes donneront la priorité aux secteurs identifiés par l'IFC dans le cadre de sa Stratégie </a:t>
            </a:r>
            <a:r>
              <a:rPr lang="en-US" sz="1600" dirty="0">
                <a:highlight>
                  <a:srgbClr val="000000">
                    <a:alpha val="0"/>
                  </a:srgbClr>
                </a:highlight>
                <a:latin typeface="Arial"/>
              </a:rPr>
              <a:t>EX</a:t>
            </a:r>
            <a:r>
              <a:rPr lang="en-US" sz="1600" b="0" i="0" u="none" strike="noStrike" dirty="0">
                <a:highlight>
                  <a:srgbClr val="000000">
                    <a:alpha val="0"/>
                  </a:srgbClr>
                </a:highlight>
                <a:latin typeface="Arial"/>
              </a:rPr>
              <a:t>22-26 afin de maximiser la mobilisation de capitaux privés. Toutefois, les priorités définitives seront choisies sur la base de consultations approfondies avec le gouvernement.</a:t>
            </a:r>
          </a:p>
          <a:p>
            <a:pPr algn="just" rtl="0"/>
            <a:r>
              <a:rPr lang="en-US" sz="1600" b="0" i="0" u="none" strike="noStrike" dirty="0">
                <a:highlight>
                  <a:srgbClr val="000000">
                    <a:alpha val="0"/>
                  </a:srgbClr>
                </a:highlight>
                <a:latin typeface="Arial"/>
              </a:rPr>
              <a:t>Les engagements du pays en faveur d'objectifs et de réformes pour la </a:t>
            </a:r>
            <a:r>
              <a:rPr lang="en-US" sz="1600" b="1" i="0" u="none" strike="noStrike" dirty="0">
                <a:highlight>
                  <a:srgbClr val="000000">
                    <a:alpha val="0"/>
                  </a:srgbClr>
                </a:highlight>
                <a:latin typeface="Arial"/>
              </a:rPr>
              <a:t>prévention des conflits et de la violence </a:t>
            </a:r>
            <a:r>
              <a:rPr lang="en-US" sz="1600" b="0" i="0" u="none" strike="noStrike" dirty="0">
                <a:highlight>
                  <a:srgbClr val="000000">
                    <a:alpha val="0"/>
                  </a:srgbClr>
                </a:highlight>
                <a:latin typeface="Arial"/>
              </a:rPr>
              <a:t>(PRA) constituent l'un des fondements du prochain CPF.</a:t>
            </a:r>
          </a:p>
          <a:p>
            <a:pPr algn="just" rtl="0"/>
            <a:r>
              <a:rPr lang="en-US" sz="1600" b="0" i="0" u="none" strike="noStrike" dirty="0">
                <a:highlight>
                  <a:srgbClr val="000000">
                    <a:alpha val="0"/>
                  </a:srgbClr>
                </a:highlight>
                <a:latin typeface="Arial"/>
              </a:rPr>
              <a:t>En complément du portefeuille actuel non décaissé, le pipeline proposé mettra à nouveau l'accent sur l'appui budgétaire — avec une série potentielle de trois Opérations de politique de développement (OPD) à l'étude.</a:t>
            </a:r>
          </a:p>
          <a:p>
            <a:pPr algn="just" rtl="0"/>
            <a:r>
              <a:rPr lang="en-US" sz="1600" b="0" i="0" u="none" strike="noStrike" dirty="0">
                <a:highlight>
                  <a:srgbClr val="000000">
                    <a:alpha val="0"/>
                  </a:srgbClr>
                </a:highlight>
                <a:latin typeface="Arial"/>
              </a:rPr>
              <a:t>Cet accent s'appuie sur (i) l'intérêt renouvelé du gouvernement pour la réforme et (ii) l'accord récent entre le FMI et le gouvernement dans le cadre de la Facilité de crédit élargie (FCE) pour 2022-2025.</a:t>
            </a:r>
          </a:p>
          <a:p>
            <a:pPr algn="just" rtl="0"/>
            <a:r>
              <a:rPr lang="en-US" sz="1600" b="0" i="0" u="none" strike="noStrike" dirty="0">
                <a:highlight>
                  <a:srgbClr val="000000">
                    <a:alpha val="0"/>
                  </a:srgbClr>
                </a:highlight>
                <a:latin typeface="Arial"/>
              </a:rPr>
              <a:t>Le nouveau CPP renforcera également les opérations à définition spatiale.</a:t>
            </a:r>
          </a:p>
          <a:p>
            <a:pPr algn="just" rtl="0"/>
            <a:r>
              <a:rPr lang="en-US" sz="1600" b="0" i="0" u="none" strike="noStrike" dirty="0">
                <a:highlight>
                  <a:srgbClr val="000000">
                    <a:alpha val="0"/>
                  </a:srgbClr>
                </a:highlight>
                <a:latin typeface="Arial"/>
              </a:rPr>
              <a:t>Pendant la mise en œuvre du CPP, des efforts seront déployés pour mettre en œuvre efficacement le portefeuille de la Banque mondiale.</a:t>
            </a:r>
          </a:p>
          <a:p>
            <a:pPr algn="just" rtl="0"/>
            <a:r>
              <a:rPr lang="en-US" sz="1600" b="0" i="0" u="none" strike="noStrike" dirty="0">
                <a:highlight>
                  <a:srgbClr val="000000">
                    <a:alpha val="0"/>
                  </a:srgbClr>
                </a:highlight>
                <a:latin typeface="Arial"/>
              </a:rPr>
              <a:t>Le nouveau CPP visera à prioriser un nombre réduit de projets, de plus grande valeur et à objectifs multisectoriels.</a:t>
            </a:r>
          </a:p>
          <a:p>
            <a:pPr algn="just" rtl="0"/>
            <a:r>
              <a:rPr lang="en-US" sz="1600" b="0" i="0" u="none" strike="noStrike" dirty="0">
                <a:highlight>
                  <a:srgbClr val="000000">
                    <a:alpha val="0"/>
                  </a:srgbClr>
                </a:highlight>
                <a:latin typeface="Arial"/>
              </a:rPr>
              <a:t>Les thèmes transversaux pertinents seront, entre autres, le climat, le genre, l'engagement citoyen et la collaboration public-privé.</a:t>
            </a:r>
          </a:p>
          <a:p>
            <a:pPr algn="just" rtl="0"/>
            <a:r>
              <a:rPr lang="en-US" sz="1600" b="0" i="0" u="none" strike="noStrike" dirty="0">
                <a:highlight>
                  <a:srgbClr val="000000">
                    <a:alpha val="0"/>
                  </a:srgbClr>
                </a:highlight>
                <a:latin typeface="Arial"/>
              </a:rPr>
              <a:t> Le CPF examinera également les opportunités offertes par les accords commerciaux régionaux, en particulier la </a:t>
            </a:r>
            <a:r>
              <a:rPr lang="pt" sz="1600" i="1" dirty="0">
                <a:highlight>
                  <a:srgbClr val="000000">
                    <a:alpha val="0"/>
                  </a:srgbClr>
                </a:highlight>
                <a:latin typeface="Arial"/>
              </a:rPr>
              <a:t>Zone de Libre-Échange Continentale Africaine.</a:t>
            </a:r>
            <a:endParaRPr lang="pt" sz="1600" b="0" i="0" u="none" strike="noStrike" dirty="0">
              <a:highlight>
                <a:srgbClr val="000000">
                  <a:alpha val="0"/>
                </a:srgbClr>
              </a:highlight>
              <a:latin typeface="Arial"/>
            </a:endParaRPr>
          </a:p>
        </p:txBody>
      </p:sp>
      <p:sp>
        <p:nvSpPr>
          <p:cNvPr id="7" name="Footer Placeholder 6">
            <a:extLst>
              <a:ext uri="{FF2B5EF4-FFF2-40B4-BE49-F238E27FC236}">
                <a16:creationId xmlns:a16="http://schemas.microsoft.com/office/drawing/2014/main" id="{C5C0DE30-DEC6-46C6-9FC7-8A106AADC3D2}"/>
              </a:ext>
            </a:extLst>
          </p:cNvPr>
          <p:cNvSpPr>
            <a:spLocks noGrp="1"/>
          </p:cNvSpPr>
          <p:nvPr>
            <p:ph type="ftr" sz="quarter" idx="11"/>
          </p:nvPr>
        </p:nvSpPr>
        <p:spPr/>
        <p:txBody>
          <a:bodyPr/>
          <a:lstStyle/>
          <a:p>
            <a:r>
              <a:rPr lang="en-US"/>
              <a:t>CPP 2023-2027. Version publique. Maputo, mai 2022.</a:t>
            </a:r>
            <a:endParaRPr lang="en-US" dirty="0"/>
          </a:p>
        </p:txBody>
      </p:sp>
      <p:sp>
        <p:nvSpPr>
          <p:cNvPr id="8" name="Slide Number Placeholder 7">
            <a:extLst>
              <a:ext uri="{FF2B5EF4-FFF2-40B4-BE49-F238E27FC236}">
                <a16:creationId xmlns:a16="http://schemas.microsoft.com/office/drawing/2014/main" id="{A47F46B3-9248-4F35-A216-8D81D0B745B8}"/>
              </a:ext>
            </a:extLst>
          </p:cNvPr>
          <p:cNvSpPr>
            <a:spLocks noGrp="1"/>
          </p:cNvSpPr>
          <p:nvPr>
            <p:ph type="sldNum" sz="quarter" idx="12"/>
          </p:nvPr>
        </p:nvSpPr>
        <p:spPr/>
        <p:txBody>
          <a:bodyPr/>
          <a:lstStyle/>
          <a:p>
            <a:fld id="{B8473C9A-9E91-4025-B5E2-D7B202510636}" type="slidenum">
              <a:rPr lang="en-US" smtClean="0"/>
              <a:t>21</a:t>
            </a:fld>
            <a:endParaRPr lang="en-US" dirty="0"/>
          </a:p>
        </p:txBody>
      </p:sp>
      <p:pic>
        <p:nvPicPr>
          <p:cNvPr id="4" name="Picture 3">
            <a:extLst>
              <a:ext uri="{FF2B5EF4-FFF2-40B4-BE49-F238E27FC236}">
                <a16:creationId xmlns:a16="http://schemas.microsoft.com/office/drawing/2014/main" id="{04754607-0E7F-4AE3-8261-F3B7D4568D6A}"/>
              </a:ext>
            </a:extLst>
          </p:cNvPr>
          <p:cNvPicPr>
            <a:picLocks noChangeAspect="1"/>
          </p:cNvPicPr>
          <p:nvPr/>
        </p:nvPicPr>
        <p:blipFill>
          <a:blip r:embed="rId2"/>
          <a:stretch>
            <a:fillRect/>
          </a:stretch>
        </p:blipFill>
        <p:spPr>
          <a:xfrm>
            <a:off x="213259" y="163494"/>
            <a:ext cx="2316681" cy="463336"/>
          </a:xfrm>
          <a:prstGeom prst="rect">
            <a:avLst/>
          </a:prstGeom>
        </p:spPr>
      </p:pic>
    </p:spTree>
    <p:extLst>
      <p:ext uri="{BB962C8B-B14F-4D97-AF65-F5344CB8AC3E}">
        <p14:creationId xmlns:p14="http://schemas.microsoft.com/office/powerpoint/2010/main" val="196303168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5D60C23-4EAA-4BE3-827F-B4843990E7B3}"/>
              </a:ext>
            </a:extLst>
          </p:cNvPr>
          <p:cNvSpPr txBox="1"/>
          <p:nvPr/>
        </p:nvSpPr>
        <p:spPr>
          <a:xfrm>
            <a:off x="8880804" y="4780312"/>
            <a:ext cx="2355192" cy="430887"/>
          </a:xfrm>
          <a:prstGeom prst="rect">
            <a:avLst/>
          </a:prstGeom>
          <a:noFill/>
        </p:spPr>
        <p:txBody>
          <a:bodyPr wrap="square">
            <a:spAutoFit/>
          </a:bodyPr>
          <a:lstStyle/>
          <a:p>
            <a:pPr lvl="0">
              <a:defRPr/>
            </a:pPr>
            <a:r>
              <a:rPr kumimoji="0" lang="en-US" sz="1100" b="0" i="1"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1100" i="1" dirty="0">
                <a:solidFill>
                  <a:prstClr val="black"/>
                </a:solidFill>
                <a:latin typeface="Calibri" panose="020F0502020204030204"/>
              </a:rPr>
              <a:t>Sur la base de l'exécution du pipeline AF22. Valeurs approximatives </a:t>
            </a:r>
            <a:endParaRPr kumimoji="0" lang="en-US" sz="110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EF7E496C-CAB6-4016-A81A-D54963B89A2D}"/>
              </a:ext>
            </a:extLst>
          </p:cNvPr>
          <p:cNvSpPr txBox="1">
            <a:spLocks/>
          </p:cNvSpPr>
          <p:nvPr/>
        </p:nvSpPr>
        <p:spPr>
          <a:xfrm>
            <a:off x="426138" y="1496144"/>
            <a:ext cx="7460451" cy="37150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just">
              <a:defRPr/>
            </a:pPr>
            <a:r>
              <a:rPr lang="en-US" sz="1600" dirty="0">
                <a:solidFill>
                  <a:prstClr val="black"/>
                </a:solidFill>
                <a:latin typeface="Arial" panose="020B0604020202020204" pitchFamily="34" charset="0"/>
                <a:cs typeface="Arial" panose="020B0604020202020204" pitchFamily="34" charset="0"/>
              </a:rPr>
              <a:t>Le nouveau CPF héritera d'un portefeuille de 34 projets (au 22 février), totalisant environ US$4,1 milliards, dont </a:t>
            </a:r>
            <a:r>
              <a:rPr lang="en-US" sz="1600" dirty="0">
                <a:latin typeface="Arial" panose="020B0604020202020204" pitchFamily="34" charset="0"/>
                <a:cs typeface="Arial" panose="020B0604020202020204" pitchFamily="34" charset="0"/>
              </a:rPr>
              <a:t>74 % n'avaient pas été décaissés (au 22 février).</a:t>
            </a:r>
          </a:p>
          <a:p>
            <a:pPr lvl="0" algn="just">
              <a:defRPr/>
            </a:pPr>
            <a:r>
              <a:rPr lang="en-US" sz="1600" dirty="0">
                <a:solidFill>
                  <a:prstClr val="black"/>
                </a:solidFill>
                <a:latin typeface="Arial" panose="020B0604020202020204" pitchFamily="34" charset="0"/>
                <a:cs typeface="Arial" panose="020B0604020202020204" pitchFamily="34" charset="0"/>
              </a:rPr>
              <a:t>15 projets (environ 30 % du portefeuille actuel, correspondant à 1,4 milliard USD) ont une date de clôture avant janvier 2025 (mi-cycle du CPP).</a:t>
            </a:r>
          </a:p>
          <a:p>
            <a:pPr lvl="0" algn="just">
              <a:defRPr/>
            </a:pPr>
            <a:r>
              <a:rPr lang="en-US" sz="1600" dirty="0">
                <a:solidFill>
                  <a:prstClr val="black"/>
                </a:solidFill>
                <a:latin typeface="Arial" panose="020B0604020202020204" pitchFamily="34" charset="0"/>
                <a:cs typeface="Arial" panose="020B0604020202020204" pitchFamily="34" charset="0"/>
              </a:rPr>
              <a:t>Environ 66 % des fonds non décaissés totaux se trouvent dans les secteurs du Développement durable (DD) et des Infrastructures (INFRA)</a:t>
            </a:r>
          </a:p>
          <a:p>
            <a:pPr lvl="0" algn="just">
              <a:defRPr/>
            </a:pPr>
            <a:r>
              <a:rPr lang="en-US" sz="1600" dirty="0">
                <a:solidFill>
                  <a:prstClr val="black"/>
                </a:solidFill>
                <a:latin typeface="Arial" panose="020B0604020202020204" pitchFamily="34" charset="0"/>
                <a:cs typeface="Arial" panose="020B0604020202020204" pitchFamily="34" charset="0"/>
              </a:rPr>
              <a:t>Nouvelle ABP IDA (estimée) : 1,7 milliard USD</a:t>
            </a:r>
          </a:p>
          <a:p>
            <a:pPr lvl="0" algn="just">
              <a:defRPr/>
            </a:pPr>
            <a:r>
              <a:rPr lang="en-US" sz="1600" dirty="0">
                <a:solidFill>
                  <a:prstClr val="black"/>
                </a:solidFill>
                <a:latin typeface="Arial" panose="020B0604020202020204" pitchFamily="34" charset="0"/>
                <a:cs typeface="Arial" panose="020B0604020202020204" pitchFamily="34" charset="0"/>
              </a:rPr>
              <a:t>IDA – Fenêtre APR (potentiel) : 700 millions USD (IDA-20)</a:t>
            </a:r>
          </a:p>
          <a:p>
            <a:pPr lvl="0" algn="just">
              <a:defRPr/>
            </a:pPr>
            <a:r>
              <a:rPr lang="en-US" sz="1600" dirty="0">
                <a:solidFill>
                  <a:prstClr val="black"/>
                </a:solidFill>
                <a:latin typeface="Arial" panose="020B0604020202020204" pitchFamily="34" charset="0"/>
                <a:cs typeface="Arial" panose="020B0604020202020204" pitchFamily="34" charset="0"/>
              </a:rPr>
              <a:t>Investissements SFI : La Stratégie de la SFI prévoit des investissements pouvant atteindre 923 milliards USD (scénario plus optimiste) </a:t>
            </a:r>
          </a:p>
          <a:p>
            <a:pPr marL="0" lvl="0" indent="0" algn="just">
              <a:buNone/>
              <a:defRPr/>
            </a:pP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6" name="Title 1">
            <a:extLst>
              <a:ext uri="{FF2B5EF4-FFF2-40B4-BE49-F238E27FC236}">
                <a16:creationId xmlns:a16="http://schemas.microsoft.com/office/drawing/2014/main" id="{FD72820B-0641-4C78-B07B-4B4F61ABAE47}"/>
              </a:ext>
            </a:extLst>
          </p:cNvPr>
          <p:cNvSpPr>
            <a:spLocks noGrp="1"/>
          </p:cNvSpPr>
          <p:nvPr>
            <p:ph type="title"/>
          </p:nvPr>
        </p:nvSpPr>
        <p:spPr>
          <a:xfrm>
            <a:off x="676274" y="195177"/>
            <a:ext cx="10515600" cy="717550"/>
          </a:xfrm>
        </p:spPr>
        <p:txBody>
          <a:bodyPr>
            <a:normAutofit fontScale="90000"/>
          </a:bodyPr>
          <a:lstStyle/>
          <a:p>
            <a:pPr algn="ctr"/>
            <a:r>
              <a:rPr lang="en-US" sz="2400" dirty="0"/>
              <a:t>Ressources potentiellement disponibles  </a:t>
            </a:r>
          </a:p>
        </p:txBody>
      </p:sp>
      <p:graphicFrame>
        <p:nvGraphicFramePr>
          <p:cNvPr id="13" name="Chart 12">
            <a:extLst>
              <a:ext uri="{FF2B5EF4-FFF2-40B4-BE49-F238E27FC236}">
                <a16:creationId xmlns:a16="http://schemas.microsoft.com/office/drawing/2014/main" id="{43D818A6-8DA6-4E48-8705-2DD87F03BCBD}"/>
              </a:ext>
            </a:extLst>
          </p:cNvPr>
          <p:cNvGraphicFramePr>
            <a:graphicFrameLocks/>
          </p:cNvGraphicFramePr>
          <p:nvPr>
            <p:extLst>
              <p:ext uri="{D42A27DB-BD31-4B8C-83A1-F6EECF244321}">
                <p14:modId xmlns:p14="http://schemas.microsoft.com/office/powerpoint/2010/main" val="2190897355"/>
              </p:ext>
            </p:extLst>
          </p:nvPr>
        </p:nvGraphicFramePr>
        <p:xfrm>
          <a:off x="7839075" y="931863"/>
          <a:ext cx="4019550" cy="3565073"/>
        </p:xfrm>
        <a:graphic>
          <a:graphicData uri="http://schemas.openxmlformats.org/drawingml/2006/chart">
            <c:chart xmlns:c="http://schemas.openxmlformats.org/drawingml/2006/chart" xmlns:r="http://schemas.openxmlformats.org/officeDocument/2006/relationships" r:id="rId3"/>
          </a:graphicData>
        </a:graphic>
      </p:graphicFrame>
      <p:sp>
        <p:nvSpPr>
          <p:cNvPr id="6" name="Footer Placeholder 5">
            <a:extLst>
              <a:ext uri="{FF2B5EF4-FFF2-40B4-BE49-F238E27FC236}">
                <a16:creationId xmlns:a16="http://schemas.microsoft.com/office/drawing/2014/main" id="{3B730F81-412E-4CD4-8242-B4D118CB1F2C}"/>
              </a:ext>
            </a:extLst>
          </p:cNvPr>
          <p:cNvSpPr>
            <a:spLocks noGrp="1"/>
          </p:cNvSpPr>
          <p:nvPr>
            <p:ph type="ftr" sz="quarter" idx="11"/>
          </p:nvPr>
        </p:nvSpPr>
        <p:spPr>
          <a:xfrm>
            <a:off x="3581401" y="5920922"/>
            <a:ext cx="4114800" cy="365125"/>
          </a:xfrm>
        </p:spPr>
        <p:txBody>
          <a:bodyPr/>
          <a:lstStyle/>
          <a:p>
            <a:r>
              <a:rPr lang="en-US"/>
              <a:t>CPP 2023-2027. Version publique. Maputo, mai 2022.</a:t>
            </a:r>
            <a:endParaRPr lang="en-US" dirty="0"/>
          </a:p>
        </p:txBody>
      </p:sp>
      <p:sp>
        <p:nvSpPr>
          <p:cNvPr id="7" name="Slide Number Placeholder 6">
            <a:extLst>
              <a:ext uri="{FF2B5EF4-FFF2-40B4-BE49-F238E27FC236}">
                <a16:creationId xmlns:a16="http://schemas.microsoft.com/office/drawing/2014/main" id="{14466471-119E-4F6D-AB99-1533AE3B4EB8}"/>
              </a:ext>
            </a:extLst>
          </p:cNvPr>
          <p:cNvSpPr>
            <a:spLocks noGrp="1"/>
          </p:cNvSpPr>
          <p:nvPr>
            <p:ph type="sldNum" sz="quarter" idx="12"/>
          </p:nvPr>
        </p:nvSpPr>
        <p:spPr/>
        <p:txBody>
          <a:bodyPr/>
          <a:lstStyle/>
          <a:p>
            <a:fld id="{B8473C9A-9E91-4025-B5E2-D7B202510636}" type="slidenum">
              <a:rPr lang="en-US" smtClean="0"/>
              <a:t>22</a:t>
            </a:fld>
            <a:endParaRPr lang="en-US" dirty="0"/>
          </a:p>
        </p:txBody>
      </p:sp>
      <p:pic>
        <p:nvPicPr>
          <p:cNvPr id="2" name="Picture 1">
            <a:extLst>
              <a:ext uri="{FF2B5EF4-FFF2-40B4-BE49-F238E27FC236}">
                <a16:creationId xmlns:a16="http://schemas.microsoft.com/office/drawing/2014/main" id="{23BF31A8-AA25-4A78-B99A-C6890A445C11}"/>
              </a:ext>
            </a:extLst>
          </p:cNvPr>
          <p:cNvPicPr>
            <a:picLocks noChangeAspect="1"/>
          </p:cNvPicPr>
          <p:nvPr/>
        </p:nvPicPr>
        <p:blipFill>
          <a:blip r:embed="rId4"/>
          <a:stretch>
            <a:fillRect/>
          </a:stretch>
        </p:blipFill>
        <p:spPr>
          <a:xfrm>
            <a:off x="676274" y="176041"/>
            <a:ext cx="2316681" cy="463336"/>
          </a:xfrm>
          <a:prstGeom prst="rect">
            <a:avLst/>
          </a:prstGeom>
        </p:spPr>
      </p:pic>
    </p:spTree>
    <p:extLst>
      <p:ext uri="{BB962C8B-B14F-4D97-AF65-F5344CB8AC3E}">
        <p14:creationId xmlns:p14="http://schemas.microsoft.com/office/powerpoint/2010/main" val="228573786"/>
      </p:ext>
    </p:extLst>
  </p:cSld>
  <p:clrMapOvr>
    <a:overrideClrMapping bg1="lt1" tx1="dk1" bg2="lt2" tx2="dk2" accent1="accent1" accent2="accent2" accent3="accent3" accent4="accent4" accent5="accent5" accent6="accent6" hlink="hlink" folHlink="folHlink"/>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73C1A-F33C-43DA-8F19-DDC23E574DBE}"/>
              </a:ext>
            </a:extLst>
          </p:cNvPr>
          <p:cNvSpPr>
            <a:spLocks noGrp="1"/>
          </p:cNvSpPr>
          <p:nvPr>
            <p:ph type="title"/>
          </p:nvPr>
        </p:nvSpPr>
        <p:spPr/>
        <p:txBody>
          <a:bodyPr/>
          <a:lstStyle/>
          <a:p>
            <a:pPr algn="ctr"/>
            <a:r>
              <a:rPr lang="en-US" dirty="0"/>
              <a:t>OHN 1 : Des institutions plus inclusives </a:t>
            </a:r>
            <a:endParaRPr lang="pt-BR" dirty="0"/>
          </a:p>
        </p:txBody>
      </p:sp>
      <p:sp>
        <p:nvSpPr>
          <p:cNvPr id="3" name="Content Placeholder 2">
            <a:extLst>
              <a:ext uri="{FF2B5EF4-FFF2-40B4-BE49-F238E27FC236}">
                <a16:creationId xmlns:a16="http://schemas.microsoft.com/office/drawing/2014/main" id="{0AAF4E04-EEC2-485A-878B-D07B4647ED1C}"/>
              </a:ext>
            </a:extLst>
          </p:cNvPr>
          <p:cNvSpPr>
            <a:spLocks noGrp="1"/>
          </p:cNvSpPr>
          <p:nvPr>
            <p:ph idx="1"/>
          </p:nvPr>
        </p:nvSpPr>
        <p:spPr>
          <a:xfrm>
            <a:off x="838200" y="1438032"/>
            <a:ext cx="10515600" cy="4918318"/>
          </a:xfrm>
        </p:spPr>
        <p:txBody>
          <a:bodyPr>
            <a:noAutofit/>
          </a:bodyPr>
          <a:lstStyle/>
          <a:p>
            <a:pPr marL="0" marR="0" indent="0" algn="just">
              <a:lnSpc>
                <a:spcPct val="107000"/>
              </a:lnSpc>
              <a:spcBef>
                <a:spcPts val="600"/>
              </a:spcBef>
              <a:spcAft>
                <a:spcPts val="0"/>
              </a:spcAft>
              <a:buNone/>
            </a:pPr>
            <a:r>
              <a:rPr lang="en-US" sz="1600" b="1" kern="1200" dirty="0">
                <a:solidFill>
                  <a:schemeClr val="accent1">
                    <a:lumMod val="50000"/>
                  </a:schemeClr>
                </a:solidFill>
                <a:effectLst/>
                <a:ea typeface="Times New Roman" panose="02020603050405020304" pitchFamily="18" charset="0"/>
              </a:rPr>
              <a:t>Objectif 1 : Améliorer la gestion macroéconomique </a:t>
            </a:r>
            <a:r>
              <a:rPr lang="en-US" sz="1600" kern="1200" dirty="0">
                <a:solidFill>
                  <a:srgbClr val="000000"/>
                </a:solidFill>
                <a:effectLst/>
                <a:ea typeface="Times New Roman" panose="02020603050405020304" pitchFamily="18" charset="0"/>
              </a:rPr>
              <a:t>afin de faciliter la création d'emplois résilients et durables, d'accroître la capacité d'investissement productif (public et privé) et de réduire le risque souverain.</a:t>
            </a:r>
          </a:p>
          <a:p>
            <a:pPr marL="0" marR="0" indent="0" algn="just">
              <a:lnSpc>
                <a:spcPct val="107000"/>
              </a:lnSpc>
              <a:spcBef>
                <a:spcPts val="600"/>
              </a:spcBef>
              <a:spcAft>
                <a:spcPts val="0"/>
              </a:spcAft>
              <a:buNone/>
            </a:pPr>
            <a:endParaRPr lang="en-US" sz="1600" kern="1200" dirty="0">
              <a:solidFill>
                <a:srgbClr val="000000"/>
              </a:solidFill>
              <a:effectLst/>
              <a:ea typeface="Times New Roman" panose="02020603050405020304" pitchFamily="18" charset="0"/>
            </a:endParaRPr>
          </a:p>
          <a:p>
            <a:pPr marL="0" marR="0" indent="0" algn="just">
              <a:lnSpc>
                <a:spcPct val="107000"/>
              </a:lnSpc>
              <a:spcBef>
                <a:spcPts val="600"/>
              </a:spcBef>
              <a:spcAft>
                <a:spcPts val="0"/>
              </a:spcAft>
              <a:buNone/>
            </a:pPr>
            <a:r>
              <a:rPr lang="en-US" sz="1600" b="1" kern="1200" dirty="0">
                <a:solidFill>
                  <a:schemeClr val="accent1">
                    <a:lumMod val="50000"/>
                  </a:schemeClr>
                </a:solidFill>
                <a:effectLst/>
                <a:ea typeface="Times New Roman" panose="02020603050405020304" pitchFamily="18" charset="0"/>
              </a:rPr>
              <a:t>Objectif 2 : Renforcer l'efficacité du secteur public pour améliorer la qualité, la durabilité et l'équité des politiques publiques. </a:t>
            </a:r>
            <a:r>
              <a:rPr lang="en-US" sz="1600" b="1" kern="1200" dirty="0">
                <a:solidFill>
                  <a:srgbClr val="000000"/>
                </a:solidFill>
                <a:effectLst/>
                <a:ea typeface="Times New Roman" panose="02020603050405020304" pitchFamily="18" charset="0"/>
              </a:rPr>
              <a:t>Axé sur :</a:t>
            </a:r>
          </a:p>
          <a:p>
            <a:pPr algn="just">
              <a:lnSpc>
                <a:spcPct val="107000"/>
              </a:lnSpc>
              <a:spcBef>
                <a:spcPts val="600"/>
              </a:spcBef>
            </a:pPr>
            <a:r>
              <a:rPr lang="en-US" sz="1600" kern="1200" dirty="0">
                <a:solidFill>
                  <a:srgbClr val="000000"/>
                </a:solidFill>
                <a:effectLst/>
                <a:ea typeface="Times New Roman" panose="02020603050405020304" pitchFamily="18" charset="0"/>
              </a:rPr>
              <a:t>Les fonctions régaliennes de l'État — telles que l'amélioration de la gestion des finances publiques (GFP) et de la passation de marchés publics ;</a:t>
            </a:r>
          </a:p>
          <a:p>
            <a:pPr algn="just">
              <a:lnSpc>
                <a:spcPct val="107000"/>
              </a:lnSpc>
              <a:spcBef>
                <a:spcPts val="600"/>
              </a:spcBef>
            </a:pPr>
            <a:r>
              <a:rPr lang="en-US" sz="1600" kern="1200" dirty="0">
                <a:solidFill>
                  <a:srgbClr val="000000"/>
                </a:solidFill>
                <a:effectLst/>
                <a:ea typeface="Times New Roman" panose="02020603050405020304" pitchFamily="18" charset="0"/>
              </a:rPr>
              <a:t>Renforcer la participation citoyenne et le contrôle externe ;</a:t>
            </a:r>
          </a:p>
          <a:p>
            <a:pPr algn="just">
              <a:lnSpc>
                <a:spcPct val="107000"/>
              </a:lnSpc>
              <a:spcBef>
                <a:spcPts val="600"/>
              </a:spcBef>
            </a:pPr>
            <a:r>
              <a:rPr lang="en-US" sz="1600" kern="1200" dirty="0">
                <a:solidFill>
                  <a:srgbClr val="000000"/>
                </a:solidFill>
                <a:effectLst/>
                <a:ea typeface="Times New Roman" panose="02020603050405020304" pitchFamily="18" charset="0"/>
              </a:rPr>
              <a:t>La décentralisation opérationnelle des dépenses de santé et d'éducation.</a:t>
            </a:r>
          </a:p>
          <a:p>
            <a:pPr algn="just">
              <a:lnSpc>
                <a:spcPct val="107000"/>
              </a:lnSpc>
              <a:spcBef>
                <a:spcPts val="600"/>
              </a:spcBef>
            </a:pPr>
            <a:r>
              <a:rPr lang="en-US" sz="1600" kern="1200" dirty="0">
                <a:solidFill>
                  <a:srgbClr val="000000"/>
                </a:solidFill>
                <a:effectLst/>
                <a:ea typeface="Times New Roman" panose="02020603050405020304" pitchFamily="18" charset="0"/>
              </a:rPr>
              <a:t>L'accent sera également mis sur l'amélioration de la transparence et de l'accès à l'information.</a:t>
            </a:r>
          </a:p>
          <a:p>
            <a:pPr marL="0" marR="0" indent="0" algn="just">
              <a:lnSpc>
                <a:spcPct val="107000"/>
              </a:lnSpc>
              <a:spcBef>
                <a:spcPts val="600"/>
              </a:spcBef>
              <a:spcAft>
                <a:spcPts val="0"/>
              </a:spcAft>
              <a:buNone/>
            </a:pPr>
            <a:endParaRPr lang="en-US" sz="1600" b="1" dirty="0">
              <a:solidFill>
                <a:schemeClr val="accent1">
                  <a:lumMod val="50000"/>
                </a:schemeClr>
              </a:solidFill>
              <a:ea typeface="Times New Roman" panose="02020603050405020304" pitchFamily="18" charset="0"/>
            </a:endParaRPr>
          </a:p>
          <a:p>
            <a:pPr marL="0" marR="0" indent="0" algn="just">
              <a:lnSpc>
                <a:spcPct val="107000"/>
              </a:lnSpc>
              <a:spcBef>
                <a:spcPts val="600"/>
              </a:spcBef>
              <a:spcAft>
                <a:spcPts val="0"/>
              </a:spcAft>
              <a:buNone/>
            </a:pPr>
            <a:r>
              <a:rPr lang="en-US" sz="1600" b="1" dirty="0">
                <a:solidFill>
                  <a:schemeClr val="accent1">
                    <a:lumMod val="50000"/>
                  </a:schemeClr>
                </a:solidFill>
                <a:ea typeface="Times New Roman" panose="02020603050405020304" pitchFamily="18" charset="0"/>
              </a:rPr>
              <a:t>Objectif 3</a:t>
            </a:r>
            <a:r>
              <a:rPr lang="en-US" sz="1600" b="1" kern="1200" dirty="0">
                <a:solidFill>
                  <a:schemeClr val="accent1">
                    <a:lumMod val="50000"/>
                  </a:schemeClr>
                </a:solidFill>
                <a:effectLst/>
                <a:ea typeface="Times New Roman" panose="02020603050405020304" pitchFamily="18" charset="0"/>
              </a:rPr>
              <a:t> : Renforcer la coordination des politiques et les capacités de préparation et de réponse du gouvernement face aux catastrophes naturelles et autres chocs multidimensionnels. </a:t>
            </a:r>
            <a:r>
              <a:rPr lang="en-US" sz="1600" kern="1200" dirty="0">
                <a:solidFill>
                  <a:srgbClr val="000000"/>
                </a:solidFill>
                <a:effectLst/>
                <a:ea typeface="Times New Roman" panose="02020603050405020304" pitchFamily="18" charset="0"/>
              </a:rPr>
              <a:t>La gestion des risques de catastrophe (GRC) était un domaine avec des résultats exemplaires dans le CPF précédent. Un accent accru sur la prévention/préparation est proposé, en particulier en ce qui concerne les risques de conflits et de violence.</a:t>
            </a:r>
            <a:endParaRPr lang="pt-BR" sz="1600" kern="1200" dirty="0">
              <a:solidFill>
                <a:srgbClr val="000000"/>
              </a:solidFill>
              <a:effectLst/>
              <a:ea typeface="Times New Roman" panose="02020603050405020304" pitchFamily="18" charset="0"/>
            </a:endParaRPr>
          </a:p>
          <a:p>
            <a:pPr marL="0" marR="0" indent="0">
              <a:lnSpc>
                <a:spcPct val="107000"/>
              </a:lnSpc>
              <a:spcBef>
                <a:spcPts val="0"/>
              </a:spcBef>
              <a:spcAft>
                <a:spcPts val="800"/>
              </a:spcAft>
              <a:buNone/>
            </a:pPr>
            <a:endParaRPr lang="pt-BR" sz="1600" kern="1200" dirty="0">
              <a:solidFill>
                <a:srgbClr val="000000"/>
              </a:solidFill>
              <a:effectLst/>
              <a:ea typeface="Times New Roman" panose="02020603050405020304" pitchFamily="18" charset="0"/>
            </a:endParaRPr>
          </a:p>
          <a:p>
            <a:pPr marL="0" marR="0" indent="0">
              <a:lnSpc>
                <a:spcPct val="107000"/>
              </a:lnSpc>
              <a:spcBef>
                <a:spcPts val="0"/>
              </a:spcBef>
              <a:spcAft>
                <a:spcPts val="800"/>
              </a:spcAft>
              <a:buNone/>
            </a:pPr>
            <a:endParaRPr lang="pt-BR" sz="1600" dirty="0">
              <a:solidFill>
                <a:srgbClr val="000000"/>
              </a:solidFill>
              <a:ea typeface="Calibri" panose="020F0502020204030204" pitchFamily="34" charset="0"/>
            </a:endParaRPr>
          </a:p>
          <a:p>
            <a:pPr marL="0" marR="0" indent="0">
              <a:lnSpc>
                <a:spcPct val="107000"/>
              </a:lnSpc>
              <a:spcBef>
                <a:spcPts val="0"/>
              </a:spcBef>
              <a:spcAft>
                <a:spcPts val="800"/>
              </a:spcAft>
              <a:buNone/>
            </a:pPr>
            <a:endParaRPr lang="en-US" sz="1600" dirty="0">
              <a:effectLst/>
              <a:ea typeface="Calibri" panose="020F0502020204030204" pitchFamily="34" charset="0"/>
            </a:endParaRPr>
          </a:p>
          <a:p>
            <a:pPr marL="0" indent="0" algn="just">
              <a:lnSpc>
                <a:spcPct val="100000"/>
              </a:lnSpc>
              <a:buNone/>
            </a:pPr>
            <a:endParaRPr lang="en-US" sz="1600" dirty="0"/>
          </a:p>
          <a:p>
            <a:endParaRPr lang="pt-BR" sz="1600" dirty="0"/>
          </a:p>
        </p:txBody>
      </p:sp>
      <p:sp>
        <p:nvSpPr>
          <p:cNvPr id="7" name="Footer Placeholder 6">
            <a:extLst>
              <a:ext uri="{FF2B5EF4-FFF2-40B4-BE49-F238E27FC236}">
                <a16:creationId xmlns:a16="http://schemas.microsoft.com/office/drawing/2014/main" id="{57D7A019-3AE6-49C3-97A9-030D351C2B3C}"/>
              </a:ext>
            </a:extLst>
          </p:cNvPr>
          <p:cNvSpPr>
            <a:spLocks noGrp="1"/>
          </p:cNvSpPr>
          <p:nvPr>
            <p:ph type="ftr" sz="quarter" idx="11"/>
          </p:nvPr>
        </p:nvSpPr>
        <p:spPr/>
        <p:txBody>
          <a:bodyPr/>
          <a:lstStyle/>
          <a:p>
            <a:r>
              <a:rPr lang="en-US"/>
              <a:t>CPP 2023-2027. Version publique. Maputo, mai 2022.</a:t>
            </a:r>
            <a:endParaRPr lang="en-US" dirty="0"/>
          </a:p>
        </p:txBody>
      </p:sp>
      <p:sp>
        <p:nvSpPr>
          <p:cNvPr id="8" name="Slide Number Placeholder 7">
            <a:extLst>
              <a:ext uri="{FF2B5EF4-FFF2-40B4-BE49-F238E27FC236}">
                <a16:creationId xmlns:a16="http://schemas.microsoft.com/office/drawing/2014/main" id="{E808550B-56D7-415A-8CC6-F671D44F6CB5}"/>
              </a:ext>
            </a:extLst>
          </p:cNvPr>
          <p:cNvSpPr>
            <a:spLocks noGrp="1"/>
          </p:cNvSpPr>
          <p:nvPr>
            <p:ph type="sldNum" sz="quarter" idx="12"/>
          </p:nvPr>
        </p:nvSpPr>
        <p:spPr/>
        <p:txBody>
          <a:bodyPr/>
          <a:lstStyle/>
          <a:p>
            <a:fld id="{B8473C9A-9E91-4025-B5E2-D7B202510636}" type="slidenum">
              <a:rPr lang="en-US" smtClean="0"/>
              <a:t>23</a:t>
            </a:fld>
            <a:endParaRPr lang="en-US" dirty="0"/>
          </a:p>
        </p:txBody>
      </p:sp>
      <p:pic>
        <p:nvPicPr>
          <p:cNvPr id="4" name="Picture 3">
            <a:extLst>
              <a:ext uri="{FF2B5EF4-FFF2-40B4-BE49-F238E27FC236}">
                <a16:creationId xmlns:a16="http://schemas.microsoft.com/office/drawing/2014/main" id="{F26FCB00-B725-46EA-9B65-E447CA3C6A3B}"/>
              </a:ext>
            </a:extLst>
          </p:cNvPr>
          <p:cNvPicPr>
            <a:picLocks noChangeAspect="1"/>
          </p:cNvPicPr>
          <p:nvPr/>
        </p:nvPicPr>
        <p:blipFill>
          <a:blip r:embed="rId3"/>
          <a:stretch>
            <a:fillRect/>
          </a:stretch>
        </p:blipFill>
        <p:spPr>
          <a:xfrm>
            <a:off x="838200" y="365125"/>
            <a:ext cx="2316681" cy="463336"/>
          </a:xfrm>
          <a:prstGeom prst="rect">
            <a:avLst/>
          </a:prstGeom>
        </p:spPr>
      </p:pic>
    </p:spTree>
    <p:extLst>
      <p:ext uri="{BB962C8B-B14F-4D97-AF65-F5344CB8AC3E}">
        <p14:creationId xmlns:p14="http://schemas.microsoft.com/office/powerpoint/2010/main" val="129404696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E99CA-4701-471B-B315-854A3422944A}"/>
              </a:ext>
            </a:extLst>
          </p:cNvPr>
          <p:cNvSpPr>
            <a:spLocks noGrp="1"/>
          </p:cNvSpPr>
          <p:nvPr>
            <p:ph type="title"/>
          </p:nvPr>
        </p:nvSpPr>
        <p:spPr>
          <a:xfrm>
            <a:off x="838200" y="365125"/>
            <a:ext cx="10515600" cy="1036862"/>
          </a:xfrm>
        </p:spPr>
        <p:txBody>
          <a:bodyPr/>
          <a:lstStyle/>
          <a:p>
            <a:pPr algn="ctr"/>
            <a:r>
              <a:rPr lang="en-US" dirty="0"/>
              <a:t>OHN 2 : Augmentation de la création d'emplois inclusifs</a:t>
            </a:r>
            <a:br>
              <a:rPr lang="pt-BR" dirty="0"/>
            </a:br>
            <a:endParaRPr lang="pt-BR" dirty="0"/>
          </a:p>
        </p:txBody>
      </p:sp>
      <p:sp>
        <p:nvSpPr>
          <p:cNvPr id="3" name="Content Placeholder 2">
            <a:extLst>
              <a:ext uri="{FF2B5EF4-FFF2-40B4-BE49-F238E27FC236}">
                <a16:creationId xmlns:a16="http://schemas.microsoft.com/office/drawing/2014/main" id="{2D9E4DBD-86F0-4B7F-911F-E98F78863434}"/>
              </a:ext>
            </a:extLst>
          </p:cNvPr>
          <p:cNvSpPr>
            <a:spLocks noGrp="1"/>
          </p:cNvSpPr>
          <p:nvPr>
            <p:ph idx="1"/>
          </p:nvPr>
        </p:nvSpPr>
        <p:spPr>
          <a:xfrm>
            <a:off x="430306" y="1131205"/>
            <a:ext cx="11564470" cy="5097473"/>
          </a:xfrm>
        </p:spPr>
        <p:txBody>
          <a:bodyPr>
            <a:noAutofit/>
          </a:bodyPr>
          <a:lstStyle/>
          <a:p>
            <a:pPr>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chemeClr val="accent1">
                    <a:lumMod val="75000"/>
                  </a:schemeClr>
                </a:solidFill>
                <a:latin typeface="+mn-lt"/>
                <a:cs typeface="Calibri" panose="020F0502020204030204" pitchFamily="34" charset="0"/>
              </a:rPr>
              <a:t>Objectif 4 : Favoriser la croissance durable de secteurs de ressources naturelles sélectionnés, en exploitant les avantages comparatifs régionaux et mondiaux. Trois objectifs intermédiaires : </a:t>
            </a:r>
            <a:r>
              <a:rPr lang="en-US" sz="1600" dirty="0">
                <a:solidFill>
                  <a:schemeClr val="accent1">
                    <a:lumMod val="75000"/>
                  </a:schemeClr>
                </a:solidFill>
                <a:latin typeface="+mn-lt"/>
                <a:cs typeface="Calibri" panose="020F0502020204030204" pitchFamily="34" charset="0"/>
              </a:rPr>
              <a:t>
</a:t>
            </a:r>
            <a:r>
              <a:rPr lang="en-US" sz="1600" dirty="0">
                <a:latin typeface="+mn-lt"/>
                <a:cs typeface="Calibri" panose="020F0502020204030204" pitchFamily="34" charset="0"/>
              </a:rPr>
              <a:t>Renforcer la durabilité des investissements dans les secteurs du gaz naturel et des mines en traitant les externalités négatives du secteur et en exploitant les retombées positives Augmentation de la productivité agricole  Renforcement de la gestion des ressources naturelles et libération des investissements privés dans le secteur vert, notamment l'écotourisme, la pêche et la foresterie</a:t>
            </a:r>
            <a:endParaRPr lang="en-US" sz="1600" b="1" dirty="0">
              <a:solidFill>
                <a:schemeClr val="accent1">
                  <a:lumMod val="75000"/>
                </a:schemeClr>
              </a:solidFill>
              <a:latin typeface="+mn-lt"/>
              <a:cs typeface="Calibri" panose="020F0502020204030204" pitchFamily="34" charset="0"/>
            </a:endParaRPr>
          </a:p>
          <a:p>
            <a:pPr marL="0" indent="0">
              <a:lnSpc>
                <a:spcPct val="10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600" dirty="0">
              <a:solidFill>
                <a:srgbClr val="202124"/>
              </a:solidFill>
              <a:latin typeface="+mn-lt"/>
              <a:cs typeface="Calibri" panose="020F0502020204030204" pitchFamily="34" charset="0"/>
            </a:endParaRPr>
          </a:p>
          <a:p>
            <a:pPr marL="0" indent="0">
              <a:lnSpc>
                <a:spcPct val="10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chemeClr val="accent1">
                    <a:lumMod val="75000"/>
                  </a:schemeClr>
                </a:solidFill>
                <a:latin typeface="+mn-lt"/>
                <a:cs typeface="Calibri" panose="020F0502020204030204" pitchFamily="34" charset="0"/>
              </a:rPr>
              <a:t>Objectif 5 : Promouvoir la croissance de la productivité dans certaines industries à forte intensité de main-d'œuvre. </a:t>
            </a:r>
            <a:r>
              <a:rPr lang="en-US" sz="1600" dirty="0">
                <a:latin typeface="+mn-lt"/>
                <a:cs typeface="Calibri" panose="020F0502020204030204" pitchFamily="34" charset="0"/>
              </a:rPr>
              <a:t>Comment ? Services, PME, économies verte et bleue ; orientation sectorielle et territoriale ; maximiser les retombées des grands projets, notamment autour des corridors de transport et de l'informalité (expérimentation de politiques et évaluation d'impact).</a:t>
            </a:r>
          </a:p>
          <a:p>
            <a:pPr marL="0" indent="0">
              <a:lnSpc>
                <a:spcPct val="10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chemeClr val="accent1">
                    <a:lumMod val="75000"/>
                  </a:schemeClr>
                </a:solidFill>
                <a:latin typeface="+mn-lt"/>
                <a:cs typeface="Calibri" panose="020F0502020204030204" pitchFamily="34" charset="0"/>
              </a:rPr>
              <a:t> Objectif 6 : Développer des services abordables, fiables et résilients au climat pour améliorer l'accès des populations pauvres et favoriser une urbanisation durable et une agglomération économique.  </a:t>
            </a:r>
            <a:r>
              <a:rPr lang="en-US" sz="1600" dirty="0">
                <a:solidFill>
                  <a:srgbClr val="202124"/>
                </a:solidFill>
                <a:latin typeface="+mn-lt"/>
                <a:cs typeface="Calibri" panose="020F0502020204030204" pitchFamily="34" charset="0"/>
              </a:rPr>
              <a:t>Alors que le portefeuille existant continue de financer des investissements dans les infrastructures en milieu rural, les nouvelles activités mettront l'accent sur les investissements dans les infrastructures susceptibles de soutenir la croissance, notamment dans les domaines de l'économie numérique et des routes.  </a:t>
            </a:r>
          </a:p>
          <a:p>
            <a:pPr>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dirty="0">
                <a:solidFill>
                  <a:srgbClr val="202124"/>
                </a:solidFill>
                <a:latin typeface="+mn-lt"/>
                <a:cs typeface="Calibri" panose="020F0502020204030204" pitchFamily="34" charset="0"/>
              </a:rPr>
              <a:t>Le prochain CPF accordera la priorité à la capacité du gouvernement à gérer le processus d'urbanisation de manière à permettre la migration rural-urbain. Malgré quelques réalisations positives au cours du cycle </a:t>
            </a:r>
            <a:r>
              <a:rPr lang="en-US" sz="1600" dirty="0" err="1">
                <a:solidFill>
                  <a:srgbClr val="202124"/>
                </a:solidFill>
                <a:latin typeface="+mn-lt"/>
                <a:cs typeface="Calibri" panose="020F0502020204030204" pitchFamily="34" charset="0"/>
              </a:rPr>
              <a:t>cpf</a:t>
            </a:r>
            <a:r>
              <a:rPr lang="en-US" sz="1600" dirty="0">
                <a:solidFill>
                  <a:srgbClr val="202124"/>
                </a:solidFill>
                <a:latin typeface="+mn-lt"/>
                <a:cs typeface="Calibri" panose="020F0502020204030204" pitchFamily="34" charset="0"/>
              </a:rPr>
              <a:t> précédent, le SCD a estimé que le processus de gestion de l'urbanisation est en stagnation. </a:t>
            </a:r>
            <a:endParaRPr lang="pt-BR" sz="1600" dirty="0">
              <a:solidFill>
                <a:srgbClr val="202124"/>
              </a:solidFill>
              <a:latin typeface="+mn-lt"/>
              <a:cs typeface="Calibri" panose="020F0502020204030204" pitchFamily="34" charset="0"/>
            </a:endParaRPr>
          </a:p>
        </p:txBody>
      </p:sp>
      <p:sp>
        <p:nvSpPr>
          <p:cNvPr id="7" name="Footer Placeholder 6">
            <a:extLst>
              <a:ext uri="{FF2B5EF4-FFF2-40B4-BE49-F238E27FC236}">
                <a16:creationId xmlns:a16="http://schemas.microsoft.com/office/drawing/2014/main" id="{41635F35-5505-4957-B463-781A6222E420}"/>
              </a:ext>
            </a:extLst>
          </p:cNvPr>
          <p:cNvSpPr>
            <a:spLocks noGrp="1"/>
          </p:cNvSpPr>
          <p:nvPr>
            <p:ph type="ftr" sz="quarter" idx="11"/>
          </p:nvPr>
        </p:nvSpPr>
        <p:spPr/>
        <p:txBody>
          <a:bodyPr/>
          <a:lstStyle/>
          <a:p>
            <a:r>
              <a:rPr lang="en-US"/>
              <a:t>CPP 2023-2027. Version publique. Maputo, mai 2022.</a:t>
            </a:r>
            <a:endParaRPr lang="en-US" dirty="0"/>
          </a:p>
        </p:txBody>
      </p:sp>
      <p:sp>
        <p:nvSpPr>
          <p:cNvPr id="8" name="Slide Number Placeholder 7">
            <a:extLst>
              <a:ext uri="{FF2B5EF4-FFF2-40B4-BE49-F238E27FC236}">
                <a16:creationId xmlns:a16="http://schemas.microsoft.com/office/drawing/2014/main" id="{3F38001A-DA6B-488C-A464-0037CCFAE83C}"/>
              </a:ext>
            </a:extLst>
          </p:cNvPr>
          <p:cNvSpPr>
            <a:spLocks noGrp="1"/>
          </p:cNvSpPr>
          <p:nvPr>
            <p:ph type="sldNum" sz="quarter" idx="12"/>
          </p:nvPr>
        </p:nvSpPr>
        <p:spPr/>
        <p:txBody>
          <a:bodyPr/>
          <a:lstStyle/>
          <a:p>
            <a:fld id="{B8473C9A-9E91-4025-B5E2-D7B202510636}" type="slidenum">
              <a:rPr lang="en-US" smtClean="0"/>
              <a:t>24</a:t>
            </a:fld>
            <a:endParaRPr lang="en-US" dirty="0"/>
          </a:p>
        </p:txBody>
      </p:sp>
      <p:pic>
        <p:nvPicPr>
          <p:cNvPr id="4" name="Picture 3">
            <a:extLst>
              <a:ext uri="{FF2B5EF4-FFF2-40B4-BE49-F238E27FC236}">
                <a16:creationId xmlns:a16="http://schemas.microsoft.com/office/drawing/2014/main" id="{2011BC4A-1F14-4C1E-8CCE-B1DBAAC5B4BB}"/>
              </a:ext>
            </a:extLst>
          </p:cNvPr>
          <p:cNvPicPr>
            <a:picLocks noChangeAspect="1"/>
          </p:cNvPicPr>
          <p:nvPr/>
        </p:nvPicPr>
        <p:blipFill>
          <a:blip r:embed="rId3"/>
          <a:stretch>
            <a:fillRect/>
          </a:stretch>
        </p:blipFill>
        <p:spPr>
          <a:xfrm>
            <a:off x="430306" y="165986"/>
            <a:ext cx="2316681" cy="463336"/>
          </a:xfrm>
          <a:prstGeom prst="rect">
            <a:avLst/>
          </a:prstGeom>
        </p:spPr>
      </p:pic>
    </p:spTree>
    <p:extLst>
      <p:ext uri="{BB962C8B-B14F-4D97-AF65-F5344CB8AC3E}">
        <p14:creationId xmlns:p14="http://schemas.microsoft.com/office/powerpoint/2010/main" val="336790590"/>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A10FE-8054-40F6-8E7D-D8D483647B55}"/>
              </a:ext>
            </a:extLst>
          </p:cNvPr>
          <p:cNvSpPr>
            <a:spLocks noGrp="1"/>
          </p:cNvSpPr>
          <p:nvPr>
            <p:ph type="title"/>
          </p:nvPr>
        </p:nvSpPr>
        <p:spPr/>
        <p:txBody>
          <a:bodyPr/>
          <a:lstStyle/>
          <a:p>
            <a:pPr algn="ctr"/>
            <a:r>
              <a:rPr lang="en-US" dirty="0"/>
              <a:t>OHN 3 : Améliorer le capital humain et l'autonomisation des femmes</a:t>
            </a:r>
            <a:br>
              <a:rPr lang="pt-BR" dirty="0"/>
            </a:br>
            <a:endParaRPr lang="pt-BR" dirty="0"/>
          </a:p>
        </p:txBody>
      </p:sp>
      <p:sp>
        <p:nvSpPr>
          <p:cNvPr id="3" name="Content Placeholder 2">
            <a:extLst>
              <a:ext uri="{FF2B5EF4-FFF2-40B4-BE49-F238E27FC236}">
                <a16:creationId xmlns:a16="http://schemas.microsoft.com/office/drawing/2014/main" id="{00A5A4FC-2740-42EE-8E12-6101A40FDE38}"/>
              </a:ext>
            </a:extLst>
          </p:cNvPr>
          <p:cNvSpPr>
            <a:spLocks noGrp="1"/>
          </p:cNvSpPr>
          <p:nvPr>
            <p:ph idx="1"/>
          </p:nvPr>
        </p:nvSpPr>
        <p:spPr>
          <a:xfrm>
            <a:off x="838200" y="1301675"/>
            <a:ext cx="10515600" cy="4875288"/>
          </a:xfrm>
        </p:spPr>
        <p:txBody>
          <a:bodyPr>
            <a:normAutofit lnSpcReduction="10000"/>
          </a:bodyPr>
          <a:lstStyle/>
          <a:p>
            <a:pPr algn="just"/>
            <a:r>
              <a:rPr lang="en-US" sz="1600" b="1" dirty="0">
                <a:solidFill>
                  <a:schemeClr val="accent1">
                    <a:lumMod val="75000"/>
                  </a:schemeClr>
                </a:solidFill>
                <a:latin typeface="+mn-lt"/>
                <a:cs typeface="Calibri" panose="020F0502020204030204" pitchFamily="34" charset="0"/>
              </a:rPr>
              <a:t>Objectif 7 : Améliorer les principaux résultats en matière d'éducation et de santé. </a:t>
            </a:r>
            <a:r>
              <a:rPr lang="en-US" sz="1600" dirty="0">
                <a:latin typeface="+mn-lt"/>
                <a:cs typeface="Calibri" panose="020F0502020204030204" pitchFamily="34" charset="0"/>
              </a:rPr>
              <a:t>Promouvoir des investissements dans le capital humain qui soient budgétairement durables, en mettant l'accent sur l'amélioration du rapport coût-efficacité des dépenses publiques pour améliorer les principaux résultats en matière de santé et d'éducation. Un processus de décentralisation limité affecte l'efficacité de la prestation des services de santé et d'éducation.</a:t>
            </a:r>
          </a:p>
          <a:p>
            <a:pPr algn="just"/>
            <a:r>
              <a:rPr lang="en-US" sz="1600" b="1" dirty="0">
                <a:solidFill>
                  <a:schemeClr val="accent1">
                    <a:lumMod val="75000"/>
                  </a:schemeClr>
                </a:solidFill>
                <a:latin typeface="+mn-lt"/>
                <a:cs typeface="Calibri" panose="020F0502020204030204" pitchFamily="34" charset="0"/>
              </a:rPr>
              <a:t>Objectif 8 : Accroître l'efficience des dépenses et la couverture effective des services sociaux intégrés.  </a:t>
            </a:r>
            <a:r>
              <a:rPr lang="en-US" sz="1600" dirty="0">
                <a:latin typeface="+mn-lt"/>
                <a:cs typeface="Calibri" panose="020F0502020204030204" pitchFamily="34" charset="0"/>
              </a:rPr>
              <a:t>La prochaine Commission de Sécurité Sociale renforcera le ciblage des programmes de Protection Sociale pour améliorer le rapport coût-efficacité, notamment en encourageant la consolidation des politiques sociales, en garantissant des mécanismes de graduation et des liens avec l'emploi et la participation à la population active, et en soutenant une stratégie nationale de protection sociale sensible aux chocs.  L'objectif principal est de créer une structure budgétairement durable pour l'intégration des politiques sociales en faveur de l'accumulation de capital humain et de la réduction de la pauvreté extrême, tout en autonomisant les femmes et en garantissant la résilience aux chocs</a:t>
            </a:r>
            <a:r>
              <a:rPr lang="en-US" sz="1600" b="1" dirty="0">
                <a:solidFill>
                  <a:schemeClr val="accent1">
                    <a:lumMod val="75000"/>
                  </a:schemeClr>
                </a:solidFill>
                <a:latin typeface="+mn-lt"/>
                <a:cs typeface="Calibri" panose="020F0502020204030204" pitchFamily="34" charset="0"/>
              </a:rPr>
              <a:t> Objectif 9 : Améliorer l'accès aux services pour prévenir les grossesses précoces et promouvoir la participation économique des femmes. </a:t>
            </a:r>
            <a:r>
              <a:rPr lang="en-US" sz="1600" dirty="0">
                <a:latin typeface="+mn-lt"/>
                <a:cs typeface="Calibri" panose="020F0502020204030204" pitchFamily="34" charset="0"/>
              </a:rPr>
              <a:t>Le Mozambique affiche le quatrième taux de fécondité adolescente le plus élevé et le dixième taux de mariage d'enfants le plus élevé au monde, et ces taux augmentent au lieu de diminuer, contribuant à la faiblesse des compétences et de la productivité des femmes sur le marché du </a:t>
            </a:r>
            <a:r>
              <a:rPr lang="en-US" sz="1600" dirty="0" err="1">
                <a:latin typeface="+mn-lt"/>
                <a:cs typeface="Calibri" panose="020F0502020204030204" pitchFamily="34" charset="0"/>
              </a:rPr>
              <a:t>travail</a:t>
            </a:r>
            <a:r>
              <a:rPr lang="en-US" sz="1600" dirty="0">
                <a:latin typeface="+mn-lt"/>
                <a:cs typeface="Calibri" panose="020F0502020204030204" pitchFamily="34" charset="0"/>
              </a:rPr>
              <a:t>.</a:t>
            </a:r>
            <a:r>
              <a:rPr lang="en-US" sz="1600" b="1" dirty="0">
                <a:solidFill>
                  <a:schemeClr val="accent1">
                    <a:lumMod val="75000"/>
                  </a:schemeClr>
                </a:solidFill>
                <a:latin typeface="+mn-lt"/>
                <a:cs typeface="Calibri" panose="020F0502020204030204" pitchFamily="34" charset="0"/>
              </a:rPr>
              <a:t>
</a:t>
            </a:r>
            <a:r>
              <a:rPr lang="en-US" sz="1600" dirty="0">
                <a:latin typeface="+mn-lt"/>
                <a:cs typeface="Calibri" panose="020F0502020204030204" pitchFamily="34" charset="0"/>
              </a:rPr>
              <a:t>Le CPF se concentrera sur les questions de mariage d'enfants, de grossesse précoce et de satisfaction des besoins non satisfaits en matière de planification familiale, de scolarisation des filles au lycée et de transition vers le marché du travail — entre autres. </a:t>
            </a:r>
            <a:endParaRPr lang="pt-BR" sz="1600" dirty="0">
              <a:latin typeface="+mn-lt"/>
            </a:endParaRPr>
          </a:p>
        </p:txBody>
      </p:sp>
      <p:sp>
        <p:nvSpPr>
          <p:cNvPr id="7" name="Footer Placeholder 6">
            <a:extLst>
              <a:ext uri="{FF2B5EF4-FFF2-40B4-BE49-F238E27FC236}">
                <a16:creationId xmlns:a16="http://schemas.microsoft.com/office/drawing/2014/main" id="{126C6B1E-1C18-488F-AC4A-85F26E37D61F}"/>
              </a:ext>
            </a:extLst>
          </p:cNvPr>
          <p:cNvSpPr>
            <a:spLocks noGrp="1"/>
          </p:cNvSpPr>
          <p:nvPr>
            <p:ph type="ftr" sz="quarter" idx="11"/>
          </p:nvPr>
        </p:nvSpPr>
        <p:spPr>
          <a:xfrm>
            <a:off x="3794760" y="5972901"/>
            <a:ext cx="4114800" cy="365125"/>
          </a:xfrm>
        </p:spPr>
        <p:txBody>
          <a:bodyPr/>
          <a:lstStyle/>
          <a:p>
            <a:r>
              <a:rPr lang="en-US"/>
              <a:t>CPP 2023-2027. Version publique. Maputo, mai 2022.</a:t>
            </a:r>
            <a:endParaRPr lang="en-US" dirty="0"/>
          </a:p>
        </p:txBody>
      </p:sp>
      <p:sp>
        <p:nvSpPr>
          <p:cNvPr id="8" name="Slide Number Placeholder 7">
            <a:extLst>
              <a:ext uri="{FF2B5EF4-FFF2-40B4-BE49-F238E27FC236}">
                <a16:creationId xmlns:a16="http://schemas.microsoft.com/office/drawing/2014/main" id="{84467695-3A8C-4A22-AEDD-992486ED255C}"/>
              </a:ext>
            </a:extLst>
          </p:cNvPr>
          <p:cNvSpPr>
            <a:spLocks noGrp="1"/>
          </p:cNvSpPr>
          <p:nvPr>
            <p:ph type="sldNum" sz="quarter" idx="12"/>
          </p:nvPr>
        </p:nvSpPr>
        <p:spPr/>
        <p:txBody>
          <a:bodyPr/>
          <a:lstStyle/>
          <a:p>
            <a:fld id="{B8473C9A-9E91-4025-B5E2-D7B202510636}" type="slidenum">
              <a:rPr lang="en-US" smtClean="0"/>
              <a:t>25</a:t>
            </a:fld>
            <a:endParaRPr lang="en-US" dirty="0"/>
          </a:p>
        </p:txBody>
      </p:sp>
      <p:pic>
        <p:nvPicPr>
          <p:cNvPr id="4" name="Picture 3">
            <a:extLst>
              <a:ext uri="{FF2B5EF4-FFF2-40B4-BE49-F238E27FC236}">
                <a16:creationId xmlns:a16="http://schemas.microsoft.com/office/drawing/2014/main" id="{158F71C0-494B-4195-962A-80957CD687E2}"/>
              </a:ext>
            </a:extLst>
          </p:cNvPr>
          <p:cNvPicPr>
            <a:picLocks noChangeAspect="1"/>
          </p:cNvPicPr>
          <p:nvPr/>
        </p:nvPicPr>
        <p:blipFill>
          <a:blip r:embed="rId3"/>
          <a:stretch>
            <a:fillRect/>
          </a:stretch>
        </p:blipFill>
        <p:spPr>
          <a:xfrm>
            <a:off x="572488" y="217701"/>
            <a:ext cx="2316681" cy="463336"/>
          </a:xfrm>
          <a:prstGeom prst="rect">
            <a:avLst/>
          </a:prstGeom>
        </p:spPr>
      </p:pic>
    </p:spTree>
    <p:extLst>
      <p:ext uri="{BB962C8B-B14F-4D97-AF65-F5344CB8AC3E}">
        <p14:creationId xmlns:p14="http://schemas.microsoft.com/office/powerpoint/2010/main" val="50253394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33A49-979B-4F05-870B-CD45EDB79FB7}"/>
              </a:ext>
            </a:extLst>
          </p:cNvPr>
          <p:cNvSpPr>
            <a:spLocks noGrp="1"/>
          </p:cNvSpPr>
          <p:nvPr>
            <p:ph type="title"/>
          </p:nvPr>
        </p:nvSpPr>
        <p:spPr/>
        <p:txBody>
          <a:bodyPr>
            <a:noAutofit/>
          </a:bodyPr>
          <a:lstStyle/>
          <a:p>
            <a:r>
              <a:rPr lang="en-US" sz="3200" b="1" dirty="0">
                <a:solidFill>
                  <a:srgbClr val="203864"/>
                </a:solidFill>
                <a:latin typeface="Arial"/>
              </a:rPr>
              <a:t>Merci !</a:t>
            </a:r>
            <a:br>
              <a:rPr lang="pt" sz="3200" b="1" i="0" u="none" strike="noStrike" dirty="0">
                <a:solidFill>
                  <a:srgbClr val="203864"/>
                </a:solidFill>
                <a:highlight>
                  <a:srgbClr val="000000">
                    <a:alpha val="0"/>
                  </a:srgbClr>
                </a:highlight>
                <a:latin typeface="Arial"/>
              </a:rPr>
            </a:br>
            <a:endParaRPr lang="en-US" sz="3600" b="1" dirty="0">
              <a:solidFill>
                <a:schemeClr val="accent1">
                  <a:lumMod val="50000"/>
                </a:schemeClr>
              </a:solidFill>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F3371D7B-4997-4238-A35F-5554E8330F27}"/>
              </a:ext>
            </a:extLst>
          </p:cNvPr>
          <p:cNvSpPr>
            <a:spLocks noGrp="1"/>
          </p:cNvSpPr>
          <p:nvPr>
            <p:ph type="ftr" sz="quarter" idx="11"/>
          </p:nvPr>
        </p:nvSpPr>
        <p:spPr/>
        <p:txBody>
          <a:bodyPr/>
          <a:lstStyle/>
          <a:p>
            <a:r>
              <a:rPr lang="en-US"/>
              <a:t>CPP 2023-2027. Version publique. Maputo, mai 2022.</a:t>
            </a:r>
            <a:endParaRPr lang="en-US" dirty="0"/>
          </a:p>
        </p:txBody>
      </p:sp>
      <p:sp>
        <p:nvSpPr>
          <p:cNvPr id="4" name="Slide Number Placeholder 3">
            <a:extLst>
              <a:ext uri="{FF2B5EF4-FFF2-40B4-BE49-F238E27FC236}">
                <a16:creationId xmlns:a16="http://schemas.microsoft.com/office/drawing/2014/main" id="{FDB7C57F-15A8-4EA1-92A6-4596F96579F2}"/>
              </a:ext>
            </a:extLst>
          </p:cNvPr>
          <p:cNvSpPr>
            <a:spLocks noGrp="1"/>
          </p:cNvSpPr>
          <p:nvPr>
            <p:ph type="sldNum" sz="quarter" idx="12"/>
          </p:nvPr>
        </p:nvSpPr>
        <p:spPr/>
        <p:txBody>
          <a:bodyPr/>
          <a:lstStyle/>
          <a:p>
            <a:fld id="{B8473C9A-9E91-4025-B5E2-D7B202510636}" type="slidenum">
              <a:rPr lang="en-US" smtClean="0"/>
              <a:t>26</a:t>
            </a:fld>
            <a:endParaRPr lang="en-US" dirty="0"/>
          </a:p>
        </p:txBody>
      </p:sp>
    </p:spTree>
    <p:extLst>
      <p:ext uri="{BB962C8B-B14F-4D97-AF65-F5344CB8AC3E}">
        <p14:creationId xmlns:p14="http://schemas.microsoft.com/office/powerpoint/2010/main" val="376825688"/>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3.1.12"/>
  <p:tag name="AS_OS" val="Unix 4.14.225.169"/>
  <p:tag name="AS_RELEASE_DATE" val="2020.03.14"/>
  <p:tag name="AS_TITLE" val="Aspose.Slides for .NET Standard 2.0"/>
  <p:tag name="AS_VERSION" val="20.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PF">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9414</TotalTime>
  <Words>5422</Words>
  <Application>Microsoft Office PowerPoint</Application>
  <PresentationFormat>Widescreen</PresentationFormat>
  <Paragraphs>342</Paragraphs>
  <Slides>26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Times New Roman</vt:lpstr>
      <vt:lpstr>YouTube Sans</vt:lpstr>
      <vt:lpstr>Office Theme</vt:lpstr>
      <vt:lpstr>World Bank Group (WBG)   Mozambique: Country Partnership Framework (CPF) 2023-2027   Concept Note Summary   Public Version    Maputo, May 2022  </vt:lpstr>
      <vt:lpstr>Introduction: What is the CPF, why the consultations and what are the expectations</vt:lpstr>
      <vt:lpstr>Presentation structure
</vt:lpstr>
      <vt:lpstr>Presentation structure
</vt:lpstr>
      <vt:lpstr> Country Context: Development Challanges and Opportunities</vt:lpstr>
      <vt:lpstr>Country Context: Development Challanges and Opportunities</vt:lpstr>
      <vt:lpstr>Country Context: Development Challenges and Opportunities</vt:lpstr>
      <vt:lpstr>World Bank Systematic Country Diagnostic (SCD) and Recommendations- Summary</vt:lpstr>
      <vt:lpstr>Presentation structure
</vt:lpstr>
      <vt:lpstr>CPF AF2017-2021: Main Features</vt:lpstr>
      <vt:lpstr>  CPF AF2017-2021: Main Features</vt:lpstr>
      <vt:lpstr>CPF AF2017-2021: Results 
</vt:lpstr>
      <vt:lpstr>CPF FY2017-2021: Lessons Learned
</vt:lpstr>
      <vt:lpstr>Presentation structure
</vt:lpstr>
      <vt:lpstr>Government Program and Medium-Term Strategy (1-2)</vt:lpstr>
      <vt:lpstr>PowerPoint Presentation</vt:lpstr>
      <vt:lpstr>PowerPoint Presentation</vt:lpstr>
      <vt:lpstr>PowerPoint Presentation</vt:lpstr>
      <vt:lpstr>PowerPoint Presentation</vt:lpstr>
      <vt:lpstr>   Implementation of CPF 2023-2027: Prioritization
</vt:lpstr>
      <vt:lpstr>CPF Implementation 2023-2027: Prioritization
</vt:lpstr>
      <vt:lpstr>Potentially available resources 
</vt:lpstr>
      <vt:lpstr>HLO 1: More inclusive institutions
</vt:lpstr>
      <vt:lpstr>HLO 2: Increasing inclusive job creation </vt:lpstr>
      <vt:lpstr>HLO 3: Improving Human Capital and Women's Empowerment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Paulo Guilherme Correa</dc:creator>
  <cp:lastModifiedBy>Paulo Guilherme Correa</cp:lastModifiedBy>
  <cp:revision>86</cp:revision>
  <cp:lastPrinted>2022-05-26T16:13:25Z</cp:lastPrinted>
  <dcterms:created xsi:type="dcterms:W3CDTF">2022-02-23T20:10:42Z</dcterms:created>
  <dcterms:modified xsi:type="dcterms:W3CDTF">2022-06-07T12:24:10Z</dcterms:modified>
</cp:coreProperties>
</file>