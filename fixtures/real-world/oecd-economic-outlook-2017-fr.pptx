
<file path=[Content_Types].xml><?xml version="1.0" encoding="utf-8"?>
<Types xmlns="http://schemas.openxmlformats.org/package/2006/content-types">
  <Default Extension="png" ContentType="image/png"/>
  <Default Extension="jpeg" ContentType="image/jpeg"/>
  <Default Extension="emf" ContentType="image/x-emf"/>
  <Default Extension="rels" ContentType="application/vnd.openxmlformats-package.relationships+xml"/>
  <Default Extension="xml" ContentType="application/xml"/>
  <Default Extension="xlsx" ContentType="application/vnd.openxmlformats-officedocument.spreadsheetml.sheet"/>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theme/themeOverride1.xml" ContentType="application/vnd.openxmlformats-officedocument.themeOverride+xml"/>
  <Override PartName="/ppt/drawings/drawing1.xml" ContentType="application/vnd.openxmlformats-officedocument.drawingml.chartshapes+xml"/>
  <Override PartName="/ppt/notesSlides/notesSlide10.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7"/>
    <p:sldMasterId id="2147483665" r:id="rId8"/>
  </p:sldMasterIdLst>
  <p:notesMasterIdLst>
    <p:notesMasterId r:id="rId32"/>
  </p:notesMasterIdLst>
  <p:handoutMasterIdLst>
    <p:handoutMasterId r:id="rId33"/>
  </p:handoutMasterIdLst>
  <p:sldIdLst>
    <p:sldId id="458" r:id="rId9"/>
    <p:sldId id="506" r:id="rId10"/>
    <p:sldId id="446" r:id="rId11"/>
    <p:sldId id="507" r:id="rId12"/>
    <p:sldId id="373" r:id="rId13"/>
    <p:sldId id="388" r:id="rId14"/>
    <p:sldId id="472" r:id="rId15"/>
    <p:sldId id="498" r:id="rId16"/>
    <p:sldId id="466" r:id="rId17"/>
    <p:sldId id="483" r:id="rId18"/>
    <p:sldId id="502" r:id="rId19"/>
    <p:sldId id="484" r:id="rId20"/>
    <p:sldId id="487" r:id="rId21"/>
    <p:sldId id="509" r:id="rId22"/>
    <p:sldId id="488" r:id="rId23"/>
    <p:sldId id="491" r:id="rId24"/>
    <p:sldId id="492" r:id="rId25"/>
    <p:sldId id="501" r:id="rId26"/>
    <p:sldId id="508" r:id="rId27"/>
    <p:sldId id="500" r:id="rId28"/>
    <p:sldId id="505" r:id="rId29"/>
    <p:sldId id="496" r:id="rId30"/>
    <p:sldId id="495" r:id="rId31"/>
  </p:sldIdLst>
  <p:sldSz cx="9144000" cy="6858000" type="screen4x3"/>
  <p:notesSz cx="6794500" cy="9906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BARNARD Geoff" initials="BG" lastIdx="1" clrIdx="0"/>
  <p:cmAuthor id="1" name="DAUDE Christian" initials="DC" lastIdx="3" clrIdx="1"/>
  <p:cmAuthor id="2" name="MANN Catherine" initials="MC" lastIdx="107" clrIdx="2"/>
  <p:cmAuthor id="3" name="WITHERIDGE William" initials="WW" lastIdx="2" clrIdx="3"/>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F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xmlns=""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711" autoAdjust="0"/>
    <p:restoredTop sz="83195" autoAdjust="0"/>
  </p:normalViewPr>
  <p:slideViewPr>
    <p:cSldViewPr>
      <p:cViewPr varScale="1">
        <p:scale>
          <a:sx n="62" d="100"/>
          <a:sy n="62" d="100"/>
        </p:scale>
        <p:origin x="-522" y="-72"/>
      </p:cViewPr>
      <p:guideLst>
        <p:guide orient="horz" pos="2160"/>
        <p:guide pos="2880"/>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Master" Target="slideMasters/slideMaster2.xml"/><Relationship Id="rId13" Type="http://schemas.openxmlformats.org/officeDocument/2006/relationships/slide" Target="slides/slide5.xml"/><Relationship Id="rId18" Type="http://schemas.openxmlformats.org/officeDocument/2006/relationships/slide" Target="slides/slide10.xml"/><Relationship Id="rId26" Type="http://schemas.openxmlformats.org/officeDocument/2006/relationships/slide" Target="slides/slide18.xml"/><Relationship Id="rId3" Type="http://schemas.openxmlformats.org/officeDocument/2006/relationships/customXml" Target="../customXml/item3.xml"/><Relationship Id="rId21" Type="http://schemas.openxmlformats.org/officeDocument/2006/relationships/slide" Target="slides/slide13.xml"/><Relationship Id="rId34" Type="http://schemas.openxmlformats.org/officeDocument/2006/relationships/commentAuthors" Target="commentAuthors.xml"/><Relationship Id="rId7" Type="http://schemas.openxmlformats.org/officeDocument/2006/relationships/slideMaster" Target="slideMasters/slideMaster1.xml"/><Relationship Id="rId12" Type="http://schemas.openxmlformats.org/officeDocument/2006/relationships/slide" Target="slides/slide4.xml"/><Relationship Id="rId17" Type="http://schemas.openxmlformats.org/officeDocument/2006/relationships/slide" Target="slides/slide9.xml"/><Relationship Id="rId25" Type="http://schemas.openxmlformats.org/officeDocument/2006/relationships/slide" Target="slides/slide17.xml"/><Relationship Id="rId33" Type="http://schemas.openxmlformats.org/officeDocument/2006/relationships/handoutMaster" Target="handoutMasters/handoutMaster1.xml"/><Relationship Id="rId38"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8.xml"/><Relationship Id="rId20" Type="http://schemas.openxmlformats.org/officeDocument/2006/relationships/slide" Target="slides/slide12.xml"/><Relationship Id="rId29" Type="http://schemas.openxmlformats.org/officeDocument/2006/relationships/slide" Target="slides/slide21.xml"/><Relationship Id="rId1" Type="http://schemas.openxmlformats.org/officeDocument/2006/relationships/customXml" Target="../customXml/item1.xml"/><Relationship Id="rId6" Type="http://schemas.openxmlformats.org/officeDocument/2006/relationships/customXml" Target="../customXml/item6.xml"/><Relationship Id="rId11" Type="http://schemas.openxmlformats.org/officeDocument/2006/relationships/slide" Target="slides/slide3.xml"/><Relationship Id="rId24" Type="http://schemas.openxmlformats.org/officeDocument/2006/relationships/slide" Target="slides/slide16.xml"/><Relationship Id="rId32" Type="http://schemas.openxmlformats.org/officeDocument/2006/relationships/notesMaster" Target="notesMasters/notesMaster1.xml"/><Relationship Id="rId37" Type="http://schemas.openxmlformats.org/officeDocument/2006/relationships/theme" Target="theme/theme1.xml"/><Relationship Id="rId5" Type="http://schemas.openxmlformats.org/officeDocument/2006/relationships/customXml" Target="../customXml/item5.xml"/><Relationship Id="rId15" Type="http://schemas.openxmlformats.org/officeDocument/2006/relationships/slide" Target="slides/slide7.xml"/><Relationship Id="rId23" Type="http://schemas.openxmlformats.org/officeDocument/2006/relationships/slide" Target="slides/slide15.xml"/><Relationship Id="rId28" Type="http://schemas.openxmlformats.org/officeDocument/2006/relationships/slide" Target="slides/slide20.xml"/><Relationship Id="rId36" Type="http://schemas.openxmlformats.org/officeDocument/2006/relationships/viewProps" Target="viewProps.xml"/><Relationship Id="rId10" Type="http://schemas.openxmlformats.org/officeDocument/2006/relationships/slide" Target="slides/slide2.xml"/><Relationship Id="rId19" Type="http://schemas.openxmlformats.org/officeDocument/2006/relationships/slide" Target="slides/slide11.xml"/><Relationship Id="rId31" Type="http://schemas.openxmlformats.org/officeDocument/2006/relationships/slide" Target="slides/slide23.xml"/><Relationship Id="rId4" Type="http://schemas.openxmlformats.org/officeDocument/2006/relationships/customXml" Target="../customXml/item4.xml"/><Relationship Id="rId9" Type="http://schemas.openxmlformats.org/officeDocument/2006/relationships/slide" Target="slides/slide1.xml"/><Relationship Id="rId14" Type="http://schemas.openxmlformats.org/officeDocument/2006/relationships/slide" Target="slides/slide6.xml"/><Relationship Id="rId22" Type="http://schemas.openxmlformats.org/officeDocument/2006/relationships/slide" Target="slides/slide14.xml"/><Relationship Id="rId27" Type="http://schemas.openxmlformats.org/officeDocument/2006/relationships/slide" Target="slides/slide19.xml"/><Relationship Id="rId30" Type="http://schemas.openxmlformats.org/officeDocument/2006/relationships/slide" Target="slides/slide22.xml"/><Relationship Id="rId35" Type="http://schemas.openxmlformats.org/officeDocument/2006/relationships/presProps" Target="presProps.xml"/></Relationships>
</file>

<file path=ppt/charts/_rels/chart1.xml.rels><?xml version="1.0" encoding="UTF-8" standalone="yes"?>
<Relationships xmlns="http://schemas.openxmlformats.org/package/2006/relationships"><Relationship Id="rId3" Type="http://schemas.openxmlformats.org/officeDocument/2006/relationships/chartUserShapes" Target="../drawings/drawing1.xml"/><Relationship Id="rId2" Type="http://schemas.openxmlformats.org/officeDocument/2006/relationships/package" Target="../embeddings/Microsoft_Excel_Worksheet1.xlsx"/><Relationship Id="rId1" Type="http://schemas.openxmlformats.org/officeDocument/2006/relationships/themeOverride" Target="../theme/themeOverride1.xm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0"/>
    <c:plotArea>
      <c:layout>
        <c:manualLayout>
          <c:layoutTarget val="inner"/>
          <c:xMode val="edge"/>
          <c:yMode val="edge"/>
          <c:x val="0.15427148522105391"/>
          <c:y val="0.17538240984763967"/>
          <c:w val="0.61754314733538818"/>
          <c:h val="0.76463774677036001"/>
        </c:manualLayout>
      </c:layout>
      <c:doughnutChart>
        <c:varyColors val="1"/>
        <c:ser>
          <c:idx val="0"/>
          <c:order val="0"/>
          <c:tx>
            <c:strRef>
              <c:f>'Fig_Box2.1 (2)'!$B$60</c:f>
              <c:strCache>
                <c:ptCount val="1"/>
                <c:pt idx="0">
                  <c:v>1995</c:v>
                </c:pt>
              </c:strCache>
            </c:strRef>
          </c:tx>
          <c:spPr>
            <a:ln w="15875">
              <a:solidFill>
                <a:sysClr val="window" lastClr="FFFFFF"/>
              </a:solidFill>
            </a:ln>
          </c:spPr>
          <c:dPt>
            <c:idx val="0"/>
            <c:bubble3D val="0"/>
            <c:spPr>
              <a:solidFill>
                <a:srgbClr val="0070C0"/>
              </a:solidFill>
              <a:ln w="15875">
                <a:solidFill>
                  <a:sysClr val="window" lastClr="FFFFFF"/>
                </a:solidFill>
              </a:ln>
            </c:spPr>
          </c:dPt>
          <c:dPt>
            <c:idx val="1"/>
            <c:bubble3D val="0"/>
            <c:spPr>
              <a:solidFill>
                <a:schemeClr val="bg1">
                  <a:lumMod val="75000"/>
                </a:schemeClr>
              </a:solidFill>
              <a:ln w="15875">
                <a:solidFill>
                  <a:sysClr val="window" lastClr="FFFFFF"/>
                </a:solidFill>
              </a:ln>
            </c:spPr>
          </c:dPt>
          <c:dPt>
            <c:idx val="2"/>
            <c:bubble3D val="0"/>
            <c:spPr>
              <a:solidFill>
                <a:srgbClr val="FF0000"/>
              </a:solidFill>
              <a:ln w="15875">
                <a:solidFill>
                  <a:sysClr val="window" lastClr="FFFFFF"/>
                </a:solidFill>
              </a:ln>
            </c:spPr>
          </c:dPt>
          <c:dPt>
            <c:idx val="3"/>
            <c:bubble3D val="0"/>
            <c:spPr>
              <a:solidFill>
                <a:srgbClr val="92D050"/>
              </a:solidFill>
              <a:ln w="15875">
                <a:solidFill>
                  <a:sysClr val="window" lastClr="FFFFFF"/>
                </a:solidFill>
              </a:ln>
            </c:spPr>
          </c:dPt>
          <c:cat>
            <c:strRef>
              <c:f>'Fig_Box2.1 (2)'!$C$59:$F$59</c:f>
              <c:strCache>
                <c:ptCount val="4"/>
                <c:pt idx="0">
                  <c:v>OECD</c:v>
                </c:pt>
                <c:pt idx="1">
                  <c:v>Rest of the World</c:v>
                </c:pt>
                <c:pt idx="2">
                  <c:v>China</c:v>
                </c:pt>
                <c:pt idx="3">
                  <c:v>Dynamic Asian Economies</c:v>
                </c:pt>
              </c:strCache>
            </c:strRef>
          </c:cat>
          <c:val>
            <c:numRef>
              <c:f>'Fig_Box2.1 (2)'!$C$60:$F$60</c:f>
              <c:numCache>
                <c:formatCode>0.0</c:formatCode>
                <c:ptCount val="4"/>
                <c:pt idx="0">
                  <c:v>80.230707297010113</c:v>
                </c:pt>
                <c:pt idx="1">
                  <c:v>7.5734855128691745</c:v>
                </c:pt>
                <c:pt idx="2">
                  <c:v>3.1770058938197119</c:v>
                </c:pt>
                <c:pt idx="3">
                  <c:v>9.018801296300996</c:v>
                </c:pt>
              </c:numCache>
            </c:numRef>
          </c:val>
        </c:ser>
        <c:ser>
          <c:idx val="1"/>
          <c:order val="1"/>
          <c:tx>
            <c:strRef>
              <c:f>'Fig_Box2.1 (2)'!$B$61</c:f>
              <c:strCache>
                <c:ptCount val="1"/>
                <c:pt idx="0">
                  <c:v>2015</c:v>
                </c:pt>
              </c:strCache>
            </c:strRef>
          </c:tx>
          <c:spPr>
            <a:ln w="15875">
              <a:solidFill>
                <a:sysClr val="window" lastClr="FFFFFF"/>
              </a:solidFill>
            </a:ln>
          </c:spPr>
          <c:dPt>
            <c:idx val="0"/>
            <c:bubble3D val="0"/>
            <c:spPr>
              <a:solidFill>
                <a:srgbClr val="0070C0"/>
              </a:solidFill>
              <a:ln w="15875">
                <a:solidFill>
                  <a:sysClr val="window" lastClr="FFFFFF"/>
                </a:solidFill>
              </a:ln>
            </c:spPr>
          </c:dPt>
          <c:dPt>
            <c:idx val="1"/>
            <c:bubble3D val="0"/>
            <c:spPr>
              <a:solidFill>
                <a:schemeClr val="bg1">
                  <a:lumMod val="75000"/>
                </a:schemeClr>
              </a:solidFill>
              <a:ln w="15875">
                <a:solidFill>
                  <a:sysClr val="window" lastClr="FFFFFF"/>
                </a:solidFill>
              </a:ln>
            </c:spPr>
          </c:dPt>
          <c:dPt>
            <c:idx val="2"/>
            <c:bubble3D val="0"/>
            <c:spPr>
              <a:solidFill>
                <a:srgbClr val="FF0000"/>
              </a:solidFill>
              <a:ln w="15875">
                <a:solidFill>
                  <a:sysClr val="window" lastClr="FFFFFF"/>
                </a:solidFill>
              </a:ln>
            </c:spPr>
          </c:dPt>
          <c:dPt>
            <c:idx val="3"/>
            <c:bubble3D val="0"/>
            <c:spPr>
              <a:solidFill>
                <a:srgbClr val="92D050"/>
              </a:solidFill>
              <a:ln w="15875">
                <a:solidFill>
                  <a:sysClr val="window" lastClr="FFFFFF"/>
                </a:solidFill>
              </a:ln>
            </c:spPr>
          </c:dPt>
          <c:cat>
            <c:strRef>
              <c:f>'Fig_Box2.1 (2)'!$C$59:$F$59</c:f>
              <c:strCache>
                <c:ptCount val="4"/>
                <c:pt idx="0">
                  <c:v>OECD</c:v>
                </c:pt>
                <c:pt idx="1">
                  <c:v>Rest of the World</c:v>
                </c:pt>
                <c:pt idx="2">
                  <c:v>China</c:v>
                </c:pt>
                <c:pt idx="3">
                  <c:v>Dynamic Asian Economies</c:v>
                </c:pt>
              </c:strCache>
            </c:strRef>
          </c:cat>
          <c:val>
            <c:numRef>
              <c:f>'Fig_Box2.1 (2)'!$C$61:$F$61</c:f>
              <c:numCache>
                <c:formatCode>0.0</c:formatCode>
                <c:ptCount val="4"/>
                <c:pt idx="0">
                  <c:v>58.966807674477685</c:v>
                </c:pt>
                <c:pt idx="1">
                  <c:v>15.817864048220123</c:v>
                </c:pt>
                <c:pt idx="2">
                  <c:v>14.204026643070442</c:v>
                </c:pt>
                <c:pt idx="3">
                  <c:v>11.011301634231749</c:v>
                </c:pt>
              </c:numCache>
            </c:numRef>
          </c:val>
        </c:ser>
        <c:dLbls>
          <c:showLegendKey val="0"/>
          <c:showVal val="0"/>
          <c:showCatName val="0"/>
          <c:showSerName val="0"/>
          <c:showPercent val="0"/>
          <c:showBubbleSize val="0"/>
          <c:showLeaderLines val="1"/>
        </c:dLbls>
        <c:firstSliceAng val="0"/>
        <c:holeSize val="45"/>
      </c:doughnutChart>
    </c:plotArea>
    <c:legend>
      <c:legendPos val="r"/>
      <c:layout>
        <c:manualLayout>
          <c:xMode val="edge"/>
          <c:yMode val="edge"/>
          <c:x val="0.16163083765236153"/>
          <c:y val="2.5926369060130319E-2"/>
          <c:w val="0.65144258559475843"/>
          <c:h val="0.1274077187990105"/>
        </c:manualLayout>
      </c:layout>
      <c:overlay val="0"/>
      <c:spPr>
        <a:ln w="6350"/>
      </c:spPr>
      <c:txPr>
        <a:bodyPr/>
        <a:lstStyle/>
        <a:p>
          <a:pPr>
            <a:defRPr b="1"/>
          </a:pPr>
          <a:endParaRPr lang="en-US"/>
        </a:p>
      </c:txPr>
    </c:legend>
    <c:plotVisOnly val="1"/>
    <c:dispBlanksAs val="gap"/>
    <c:showDLblsOverMax val="0"/>
  </c:chart>
  <c:spPr>
    <a:ln>
      <a:noFill/>
    </a:ln>
  </c:spPr>
  <c:txPr>
    <a:bodyPr/>
    <a:lstStyle/>
    <a:p>
      <a:pPr>
        <a:defRPr sz="1200">
          <a:latin typeface="Arial Narrow" panose="020B0606020202030204" pitchFamily="34" charset="0"/>
        </a:defRPr>
      </a:pPr>
      <a:endParaRPr lang="en-US"/>
    </a:p>
  </c:txPr>
  <c:externalData r:id="rId2">
    <c:autoUpdate val="0"/>
  </c:externalData>
  <c:userShapes r:id="rId3"/>
</c:chartSpac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12AE3AD-150C-4556-B9F3-C5AFE07518AD}"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GB"/>
        </a:p>
      </dgm:t>
    </dgm:pt>
    <dgm:pt modelId="{28AA58F6-D958-4B10-9359-D08D4D103B97}">
      <dgm:prSet/>
      <dgm:spPr/>
      <dgm:t>
        <a:bodyPr/>
        <a:lstStyle/>
        <a:p>
          <a:r>
            <a:rPr lang="en-GB" dirty="0" smtClean="0">
              <a:latin typeface="Calibri" panose="020F0502020204030204" pitchFamily="34" charset="0"/>
            </a:rPr>
            <a:t>Global growth expected to pick-up modestly </a:t>
          </a:r>
          <a:r>
            <a:rPr lang="en-GB" smtClean="0">
              <a:latin typeface="Calibri" panose="020F0502020204030204" pitchFamily="34" charset="0"/>
            </a:rPr>
            <a:t>with upside </a:t>
          </a:r>
          <a:r>
            <a:rPr lang="en-GB" dirty="0" smtClean="0">
              <a:latin typeface="Calibri" panose="020F0502020204030204" pitchFamily="34" charset="0"/>
            </a:rPr>
            <a:t>risks</a:t>
          </a:r>
        </a:p>
      </dgm:t>
    </dgm:pt>
    <dgm:pt modelId="{60C608F0-860E-4FC1-AB6C-6A893EFA9FC9}" type="parTrans" cxnId="{7FC4F6B6-7333-499E-8799-51F96AA60B84}">
      <dgm:prSet/>
      <dgm:spPr/>
      <dgm:t>
        <a:bodyPr/>
        <a:lstStyle/>
        <a:p>
          <a:endParaRPr lang="en-GB">
            <a:latin typeface="Calibri" panose="020F0502020204030204" pitchFamily="34" charset="0"/>
          </a:endParaRPr>
        </a:p>
      </dgm:t>
    </dgm:pt>
    <dgm:pt modelId="{3083AE86-D778-4F5F-B1B6-4FB7AC7CBD51}" type="sibTrans" cxnId="{7FC4F6B6-7333-499E-8799-51F96AA60B84}">
      <dgm:prSet/>
      <dgm:spPr/>
      <dgm:t>
        <a:bodyPr/>
        <a:lstStyle/>
        <a:p>
          <a:endParaRPr lang="en-GB">
            <a:latin typeface="Calibri" panose="020F0502020204030204" pitchFamily="34" charset="0"/>
          </a:endParaRPr>
        </a:p>
      </dgm:t>
    </dgm:pt>
    <dgm:pt modelId="{0BD4BFF3-A846-4400-9B4D-1ECC79EBA5F8}">
      <dgm:prSet/>
      <dgm:spPr/>
      <dgm:t>
        <a:bodyPr/>
        <a:lstStyle/>
        <a:p>
          <a:r>
            <a:rPr lang="en-GB" dirty="0" smtClean="0">
              <a:latin typeface="Calibri" panose="020F0502020204030204" pitchFamily="34" charset="0"/>
            </a:rPr>
            <a:t>More needs to be done to share the gains from structural trends and trade</a:t>
          </a:r>
        </a:p>
      </dgm:t>
    </dgm:pt>
    <dgm:pt modelId="{225C00EA-9FEF-41B6-9C4F-92549965D946}" type="parTrans" cxnId="{6D09A9A1-FFEA-4EA9-A2E8-55285F8C0196}">
      <dgm:prSet/>
      <dgm:spPr/>
      <dgm:t>
        <a:bodyPr/>
        <a:lstStyle/>
        <a:p>
          <a:endParaRPr lang="en-GB">
            <a:latin typeface="Calibri" panose="020F0502020204030204" pitchFamily="34" charset="0"/>
          </a:endParaRPr>
        </a:p>
      </dgm:t>
    </dgm:pt>
    <dgm:pt modelId="{203F14AC-C7A5-4E5E-9CBB-DE0F7A356B5A}" type="sibTrans" cxnId="{6D09A9A1-FFEA-4EA9-A2E8-55285F8C0196}">
      <dgm:prSet/>
      <dgm:spPr/>
      <dgm:t>
        <a:bodyPr/>
        <a:lstStyle/>
        <a:p>
          <a:endParaRPr lang="en-GB">
            <a:latin typeface="Calibri" panose="020F0502020204030204" pitchFamily="34" charset="0"/>
          </a:endParaRPr>
        </a:p>
      </dgm:t>
    </dgm:pt>
    <dgm:pt modelId="{806919CF-651B-46A9-9F55-6A28278294E6}">
      <dgm:prSet/>
      <dgm:spPr/>
      <dgm:t>
        <a:bodyPr/>
        <a:lstStyle/>
        <a:p>
          <a:r>
            <a:rPr lang="en-GB" dirty="0" smtClean="0">
              <a:latin typeface="Calibri" panose="020F0502020204030204" pitchFamily="34" charset="0"/>
            </a:rPr>
            <a:t>An integrated policy approach is needed to make globalisation work for all</a:t>
          </a:r>
        </a:p>
      </dgm:t>
    </dgm:pt>
    <dgm:pt modelId="{C176557D-E82E-4F64-8195-4FBA10DCA65F}" type="parTrans" cxnId="{3315629A-CE00-4EA6-A505-92EEC82995D3}">
      <dgm:prSet/>
      <dgm:spPr/>
      <dgm:t>
        <a:bodyPr/>
        <a:lstStyle/>
        <a:p>
          <a:endParaRPr lang="en-GB">
            <a:latin typeface="Calibri" panose="020F0502020204030204" pitchFamily="34" charset="0"/>
          </a:endParaRPr>
        </a:p>
      </dgm:t>
    </dgm:pt>
    <dgm:pt modelId="{504D45A1-33A0-469C-9F96-5CCFAF0F31C8}" type="sibTrans" cxnId="{3315629A-CE00-4EA6-A505-92EEC82995D3}">
      <dgm:prSet/>
      <dgm:spPr/>
      <dgm:t>
        <a:bodyPr/>
        <a:lstStyle/>
        <a:p>
          <a:endParaRPr lang="en-GB">
            <a:latin typeface="Calibri" panose="020F0502020204030204" pitchFamily="34" charset="0"/>
          </a:endParaRPr>
        </a:p>
      </dgm:t>
    </dgm:pt>
    <dgm:pt modelId="{31CEF85D-C803-49E2-87B0-F5EDAD345FC9}">
      <dgm:prSet/>
      <dgm:spPr/>
      <dgm:t>
        <a:bodyPr/>
        <a:lstStyle/>
        <a:p>
          <a:r>
            <a:rPr lang="en-GB" dirty="0" smtClean="0">
              <a:solidFill>
                <a:schemeClr val="bg2">
                  <a:lumMod val="10000"/>
                </a:schemeClr>
              </a:solidFill>
              <a:latin typeface="Calibri" panose="020F0502020204030204" pitchFamily="34" charset="0"/>
            </a:rPr>
            <a:t>Changes to technology, consumer preferences and trade are occurring simultaneously</a:t>
          </a:r>
        </a:p>
      </dgm:t>
    </dgm:pt>
    <dgm:pt modelId="{F5240D1C-9F1F-45CB-A124-96F539746542}" type="parTrans" cxnId="{D679395B-FE98-42B9-BBBC-D1097520053F}">
      <dgm:prSet/>
      <dgm:spPr/>
      <dgm:t>
        <a:bodyPr/>
        <a:lstStyle/>
        <a:p>
          <a:endParaRPr lang="en-GB">
            <a:latin typeface="Calibri" panose="020F0502020204030204" pitchFamily="34" charset="0"/>
          </a:endParaRPr>
        </a:p>
      </dgm:t>
    </dgm:pt>
    <dgm:pt modelId="{240024B0-F397-4B79-9323-A7BF70B621A9}" type="sibTrans" cxnId="{D679395B-FE98-42B9-BBBC-D1097520053F}">
      <dgm:prSet/>
      <dgm:spPr/>
      <dgm:t>
        <a:bodyPr/>
        <a:lstStyle/>
        <a:p>
          <a:endParaRPr lang="en-GB">
            <a:latin typeface="Calibri" panose="020F0502020204030204" pitchFamily="34" charset="0"/>
          </a:endParaRPr>
        </a:p>
      </dgm:t>
    </dgm:pt>
    <dgm:pt modelId="{2723B6F0-42E6-4D85-ABC3-0B993B034402}">
      <dgm:prSet/>
      <dgm:spPr/>
      <dgm:t>
        <a:bodyPr/>
        <a:lstStyle/>
        <a:p>
          <a:pPr eaLnBrk="1" latinLnBrk="0"/>
          <a:r>
            <a:rPr lang="en-GB" dirty="0" smtClean="0">
              <a:solidFill>
                <a:schemeClr val="bg2">
                  <a:lumMod val="10000"/>
                </a:schemeClr>
              </a:solidFill>
              <a:latin typeface="Calibri" panose="020F0502020204030204" pitchFamily="34" charset="0"/>
            </a:rPr>
            <a:t>A more level playing field for the international system</a:t>
          </a:r>
        </a:p>
      </dgm:t>
    </dgm:pt>
    <dgm:pt modelId="{289978A5-92C7-40F5-BD7A-00AECC89F112}" type="parTrans" cxnId="{53C87B82-B0AB-49B4-8189-CF168536BEE3}">
      <dgm:prSet/>
      <dgm:spPr/>
      <dgm:t>
        <a:bodyPr/>
        <a:lstStyle/>
        <a:p>
          <a:endParaRPr lang="en-GB">
            <a:latin typeface="Calibri" panose="020F0502020204030204" pitchFamily="34" charset="0"/>
          </a:endParaRPr>
        </a:p>
      </dgm:t>
    </dgm:pt>
    <dgm:pt modelId="{51C7EF5C-A804-4B27-AC82-9BD6EE906EB9}" type="sibTrans" cxnId="{53C87B82-B0AB-49B4-8189-CF168536BEE3}">
      <dgm:prSet/>
      <dgm:spPr/>
      <dgm:t>
        <a:bodyPr/>
        <a:lstStyle/>
        <a:p>
          <a:endParaRPr lang="en-GB">
            <a:latin typeface="Calibri" panose="020F0502020204030204" pitchFamily="34" charset="0"/>
          </a:endParaRPr>
        </a:p>
      </dgm:t>
    </dgm:pt>
    <dgm:pt modelId="{5547A09F-9281-4926-AFA4-01F6C5E99E46}">
      <dgm:prSet/>
      <dgm:spPr/>
      <dgm:t>
        <a:bodyPr/>
        <a:lstStyle/>
        <a:p>
          <a:r>
            <a:rPr lang="en-GB" dirty="0" smtClean="0">
              <a:solidFill>
                <a:schemeClr val="bg2">
                  <a:lumMod val="10000"/>
                </a:schemeClr>
              </a:solidFill>
              <a:latin typeface="Calibri" panose="020F0502020204030204" pitchFamily="34" charset="0"/>
            </a:rPr>
            <a:t>Confidence is increasing and investment and trade are picking up from low levels</a:t>
          </a:r>
        </a:p>
      </dgm:t>
    </dgm:pt>
    <dgm:pt modelId="{F3ACEA60-3461-4AC3-BB5D-893E4B822BE9}" type="parTrans" cxnId="{C2BEBCDC-03B2-4D84-A49C-A63F131785DD}">
      <dgm:prSet/>
      <dgm:spPr/>
      <dgm:t>
        <a:bodyPr/>
        <a:lstStyle/>
        <a:p>
          <a:endParaRPr lang="en-GB">
            <a:latin typeface="Calibri" panose="020F0502020204030204" pitchFamily="34" charset="0"/>
          </a:endParaRPr>
        </a:p>
      </dgm:t>
    </dgm:pt>
    <dgm:pt modelId="{F76B773A-F1BB-45AE-853C-30C972F6D272}" type="sibTrans" cxnId="{C2BEBCDC-03B2-4D84-A49C-A63F131785DD}">
      <dgm:prSet/>
      <dgm:spPr/>
      <dgm:t>
        <a:bodyPr/>
        <a:lstStyle/>
        <a:p>
          <a:endParaRPr lang="en-GB">
            <a:latin typeface="Calibri" panose="020F0502020204030204" pitchFamily="34" charset="0"/>
          </a:endParaRPr>
        </a:p>
      </dgm:t>
    </dgm:pt>
    <dgm:pt modelId="{ABFAF83A-6C73-47F6-896E-A9BD27B48A39}">
      <dgm:prSet/>
      <dgm:spPr/>
      <dgm:t>
        <a:bodyPr/>
        <a:lstStyle/>
        <a:p>
          <a:r>
            <a:rPr lang="en-GB" dirty="0" smtClean="0">
              <a:solidFill>
                <a:schemeClr val="bg2">
                  <a:lumMod val="10000"/>
                </a:schemeClr>
              </a:solidFill>
              <a:latin typeface="Calibri" panose="020F0502020204030204" pitchFamily="34" charset="0"/>
            </a:rPr>
            <a:t>Signs of rising demand for high-tech goods and investment to upgrade capital</a:t>
          </a:r>
        </a:p>
      </dgm:t>
    </dgm:pt>
    <dgm:pt modelId="{A75B0344-DEA6-4F23-B9A2-5187C1B55793}" type="parTrans" cxnId="{FEC8D880-A663-402B-A787-3C914236B237}">
      <dgm:prSet/>
      <dgm:spPr/>
      <dgm:t>
        <a:bodyPr/>
        <a:lstStyle/>
        <a:p>
          <a:endParaRPr lang="en-GB">
            <a:latin typeface="Calibri" panose="020F0502020204030204" pitchFamily="34" charset="0"/>
          </a:endParaRPr>
        </a:p>
      </dgm:t>
    </dgm:pt>
    <dgm:pt modelId="{94733AA1-8077-4264-929A-A4870403E5DA}" type="sibTrans" cxnId="{FEC8D880-A663-402B-A787-3C914236B237}">
      <dgm:prSet/>
      <dgm:spPr/>
      <dgm:t>
        <a:bodyPr/>
        <a:lstStyle/>
        <a:p>
          <a:endParaRPr lang="en-GB">
            <a:latin typeface="Calibri" panose="020F0502020204030204" pitchFamily="34" charset="0"/>
          </a:endParaRPr>
        </a:p>
      </dgm:t>
    </dgm:pt>
    <dgm:pt modelId="{596912E9-CAED-4E0C-A5E9-871A9237F95F}">
      <dgm:prSet/>
      <dgm:spPr/>
      <dgm:t>
        <a:bodyPr/>
        <a:lstStyle/>
        <a:p>
          <a:pPr eaLnBrk="1" latinLnBrk="0"/>
          <a:r>
            <a:rPr lang="en-GB" dirty="0" smtClean="0">
              <a:solidFill>
                <a:schemeClr val="bg2">
                  <a:lumMod val="10000"/>
                </a:schemeClr>
              </a:solidFill>
              <a:latin typeface="Calibri" panose="020F0502020204030204" pitchFamily="34" charset="0"/>
            </a:rPr>
            <a:t>Domestic reforms to boost competition, job creation, skills and innovation</a:t>
          </a:r>
        </a:p>
      </dgm:t>
    </dgm:pt>
    <dgm:pt modelId="{E08425F1-88FC-4C62-8AFB-FB401A12C4F8}" type="parTrans" cxnId="{2B09D2B6-5D01-444A-A4FA-190A0096ED59}">
      <dgm:prSet/>
      <dgm:spPr/>
      <dgm:t>
        <a:bodyPr/>
        <a:lstStyle/>
        <a:p>
          <a:endParaRPr lang="en-GB">
            <a:latin typeface="Calibri" panose="020F0502020204030204" pitchFamily="34" charset="0"/>
          </a:endParaRPr>
        </a:p>
      </dgm:t>
    </dgm:pt>
    <dgm:pt modelId="{44FC58D6-B872-4528-BD0F-539ABBFB23E9}" type="sibTrans" cxnId="{2B09D2B6-5D01-444A-A4FA-190A0096ED59}">
      <dgm:prSet/>
      <dgm:spPr/>
      <dgm:t>
        <a:bodyPr/>
        <a:lstStyle/>
        <a:p>
          <a:endParaRPr lang="en-GB">
            <a:latin typeface="Calibri" panose="020F0502020204030204" pitchFamily="34" charset="0"/>
          </a:endParaRPr>
        </a:p>
      </dgm:t>
    </dgm:pt>
    <dgm:pt modelId="{41E053C8-D301-4D12-AD77-7EE97ECC131D}">
      <dgm:prSet/>
      <dgm:spPr/>
      <dgm:t>
        <a:bodyPr/>
        <a:lstStyle/>
        <a:p>
          <a:r>
            <a:rPr lang="en-GB" dirty="0" smtClean="0">
              <a:latin typeface="Calibri" panose="020F0502020204030204" pitchFamily="34" charset="0"/>
            </a:rPr>
            <a:t>Productivity and wage growth remain subdued; financial stability risks persist</a:t>
          </a:r>
        </a:p>
      </dgm:t>
    </dgm:pt>
    <dgm:pt modelId="{E94A589A-0C85-450C-AE1A-FBF4CE0F2A81}" type="parTrans" cxnId="{B0B2F67A-EBA5-48F4-A6DC-6B545647974D}">
      <dgm:prSet/>
      <dgm:spPr/>
      <dgm:t>
        <a:bodyPr/>
        <a:lstStyle/>
        <a:p>
          <a:endParaRPr lang="en-GB">
            <a:latin typeface="Calibri" panose="020F0502020204030204" pitchFamily="34" charset="0"/>
          </a:endParaRPr>
        </a:p>
      </dgm:t>
    </dgm:pt>
    <dgm:pt modelId="{9D04F1D8-B208-4490-A62E-6562FDAC00FC}" type="sibTrans" cxnId="{B0B2F67A-EBA5-48F4-A6DC-6B545647974D}">
      <dgm:prSet/>
      <dgm:spPr/>
      <dgm:t>
        <a:bodyPr/>
        <a:lstStyle/>
        <a:p>
          <a:endParaRPr lang="en-GB">
            <a:latin typeface="Calibri" panose="020F0502020204030204" pitchFamily="34" charset="0"/>
          </a:endParaRPr>
        </a:p>
      </dgm:t>
    </dgm:pt>
    <dgm:pt modelId="{553FD138-D451-4870-97BF-70183F97EA30}">
      <dgm:prSet/>
      <dgm:spPr/>
      <dgm:t>
        <a:bodyPr/>
        <a:lstStyle/>
        <a:p>
          <a:r>
            <a:rPr lang="en-GB" dirty="0" smtClean="0">
              <a:solidFill>
                <a:schemeClr val="bg2">
                  <a:lumMod val="10000"/>
                </a:schemeClr>
              </a:solidFill>
              <a:latin typeface="Calibri" panose="020F0502020204030204" pitchFamily="34" charset="0"/>
            </a:rPr>
            <a:t>Job losses from shifts in activity are concentrated in manufacturing and specific regions</a:t>
          </a:r>
        </a:p>
      </dgm:t>
    </dgm:pt>
    <dgm:pt modelId="{43E28135-AFF9-4B2C-B41B-8023F9E19884}" type="parTrans" cxnId="{33F34D4D-844B-4309-91F1-2D71039CC08C}">
      <dgm:prSet/>
      <dgm:spPr/>
      <dgm:t>
        <a:bodyPr/>
        <a:lstStyle/>
        <a:p>
          <a:endParaRPr lang="en-GB">
            <a:latin typeface="Calibri" panose="020F0502020204030204" pitchFamily="34" charset="0"/>
          </a:endParaRPr>
        </a:p>
      </dgm:t>
    </dgm:pt>
    <dgm:pt modelId="{077F97B1-32C2-453B-AA07-7A8F7DC75B28}" type="sibTrans" cxnId="{33F34D4D-844B-4309-91F1-2D71039CC08C}">
      <dgm:prSet/>
      <dgm:spPr/>
      <dgm:t>
        <a:bodyPr/>
        <a:lstStyle/>
        <a:p>
          <a:endParaRPr lang="en-GB">
            <a:latin typeface="Calibri" panose="020F0502020204030204" pitchFamily="34" charset="0"/>
          </a:endParaRPr>
        </a:p>
      </dgm:t>
    </dgm:pt>
    <dgm:pt modelId="{3BDA06C9-41F1-4324-B47B-FD9322F22076}">
      <dgm:prSet/>
      <dgm:spPr/>
      <dgm:t>
        <a:bodyPr/>
        <a:lstStyle/>
        <a:p>
          <a:r>
            <a:rPr lang="en-US" dirty="0" smtClean="0">
              <a:solidFill>
                <a:schemeClr val="bg2">
                  <a:lumMod val="10000"/>
                </a:schemeClr>
              </a:solidFill>
              <a:latin typeface="Calibri" panose="020F0502020204030204" pitchFamily="34" charset="0"/>
            </a:rPr>
            <a:t>Growth is broad based; recovery in commodity producers helps the modest global upturn</a:t>
          </a:r>
          <a:endParaRPr lang="en-GB" dirty="0" smtClean="0">
            <a:solidFill>
              <a:schemeClr val="bg2">
                <a:lumMod val="10000"/>
              </a:schemeClr>
            </a:solidFill>
            <a:latin typeface="Calibri" panose="020F0502020204030204" pitchFamily="34" charset="0"/>
          </a:endParaRPr>
        </a:p>
      </dgm:t>
    </dgm:pt>
    <dgm:pt modelId="{68A95A56-5757-4B67-8390-A31F0B0037F9}" type="parTrans" cxnId="{43479365-8FA3-41F5-B10E-1E225A4D5723}">
      <dgm:prSet/>
      <dgm:spPr/>
      <dgm:t>
        <a:bodyPr/>
        <a:lstStyle/>
        <a:p>
          <a:endParaRPr lang="en-GB">
            <a:latin typeface="Calibri" panose="020F0502020204030204" pitchFamily="34" charset="0"/>
          </a:endParaRPr>
        </a:p>
      </dgm:t>
    </dgm:pt>
    <dgm:pt modelId="{9FC0B700-BAC5-444B-A109-D6595B3DE849}" type="sibTrans" cxnId="{43479365-8FA3-41F5-B10E-1E225A4D5723}">
      <dgm:prSet/>
      <dgm:spPr/>
      <dgm:t>
        <a:bodyPr/>
        <a:lstStyle/>
        <a:p>
          <a:endParaRPr lang="en-GB">
            <a:latin typeface="Calibri" panose="020F0502020204030204" pitchFamily="34" charset="0"/>
          </a:endParaRPr>
        </a:p>
      </dgm:t>
    </dgm:pt>
    <dgm:pt modelId="{94526619-ADE9-4975-A209-1206B2423C38}">
      <dgm:prSet/>
      <dgm:spPr/>
      <dgm:t>
        <a:bodyPr/>
        <a:lstStyle/>
        <a:p>
          <a:r>
            <a:rPr lang="en-GB" dirty="0" smtClean="0">
              <a:solidFill>
                <a:schemeClr val="bg2">
                  <a:lumMod val="10000"/>
                </a:schemeClr>
              </a:solidFill>
              <a:latin typeface="Calibri" panose="020F0502020204030204" pitchFamily="34" charset="0"/>
            </a:rPr>
            <a:t>Headline employment indicators are improving but labour markets have not recovered</a:t>
          </a:r>
        </a:p>
      </dgm:t>
    </dgm:pt>
    <dgm:pt modelId="{56BF7F1D-70AF-401A-A4BE-6C616B75B134}" type="parTrans" cxnId="{705B9F36-B466-4E78-9711-00BA06938028}">
      <dgm:prSet/>
      <dgm:spPr/>
      <dgm:t>
        <a:bodyPr/>
        <a:lstStyle/>
        <a:p>
          <a:endParaRPr lang="en-GB">
            <a:latin typeface="Calibri" panose="020F0502020204030204" pitchFamily="34" charset="0"/>
          </a:endParaRPr>
        </a:p>
      </dgm:t>
    </dgm:pt>
    <dgm:pt modelId="{EFF9F49E-5A2F-409F-8A4C-43657ADA0126}" type="sibTrans" cxnId="{705B9F36-B466-4E78-9711-00BA06938028}">
      <dgm:prSet/>
      <dgm:spPr/>
      <dgm:t>
        <a:bodyPr/>
        <a:lstStyle/>
        <a:p>
          <a:endParaRPr lang="en-GB">
            <a:latin typeface="Calibri" panose="020F0502020204030204" pitchFamily="34" charset="0"/>
          </a:endParaRPr>
        </a:p>
      </dgm:t>
    </dgm:pt>
    <dgm:pt modelId="{1E9D3748-E159-4EC9-8912-7AFB54D896E8}">
      <dgm:prSet/>
      <dgm:spPr/>
      <dgm:t>
        <a:bodyPr/>
        <a:lstStyle/>
        <a:p>
          <a:r>
            <a:rPr lang="en-US" dirty="0" smtClean="0">
              <a:solidFill>
                <a:schemeClr val="bg2">
                  <a:lumMod val="10000"/>
                </a:schemeClr>
              </a:solidFill>
              <a:latin typeface="Calibri" panose="020F0502020204030204" pitchFamily="34" charset="0"/>
            </a:rPr>
            <a:t>Financial risks from high and rising credit growth, house price increases, interest rate gaps</a:t>
          </a:r>
          <a:endParaRPr lang="en-GB" dirty="0" smtClean="0">
            <a:solidFill>
              <a:schemeClr val="bg2">
                <a:lumMod val="10000"/>
              </a:schemeClr>
            </a:solidFill>
            <a:latin typeface="Calibri" panose="020F0502020204030204" pitchFamily="34" charset="0"/>
          </a:endParaRPr>
        </a:p>
      </dgm:t>
    </dgm:pt>
    <dgm:pt modelId="{20B72C64-47B4-49ED-84C2-031F7AD8C095}" type="parTrans" cxnId="{67B238D7-40B4-47DC-A939-F18AE00B00B1}">
      <dgm:prSet/>
      <dgm:spPr/>
      <dgm:t>
        <a:bodyPr/>
        <a:lstStyle/>
        <a:p>
          <a:endParaRPr lang="en-GB">
            <a:latin typeface="Calibri" panose="020F0502020204030204" pitchFamily="34" charset="0"/>
          </a:endParaRPr>
        </a:p>
      </dgm:t>
    </dgm:pt>
    <dgm:pt modelId="{3B8DAD5D-0ECD-4585-9ADC-D9FCE88A6641}" type="sibTrans" cxnId="{67B238D7-40B4-47DC-A939-F18AE00B00B1}">
      <dgm:prSet/>
      <dgm:spPr/>
      <dgm:t>
        <a:bodyPr/>
        <a:lstStyle/>
        <a:p>
          <a:endParaRPr lang="en-GB">
            <a:latin typeface="Calibri" panose="020F0502020204030204" pitchFamily="34" charset="0"/>
          </a:endParaRPr>
        </a:p>
      </dgm:t>
    </dgm:pt>
    <dgm:pt modelId="{DCA8D2F6-0512-4BE3-8D00-0CD39364103D}">
      <dgm:prSet/>
      <dgm:spPr/>
      <dgm:t>
        <a:bodyPr/>
        <a:lstStyle/>
        <a:p>
          <a:pPr eaLnBrk="1" latinLnBrk="0"/>
          <a:r>
            <a:rPr lang="en-GB" dirty="0" smtClean="0">
              <a:solidFill>
                <a:schemeClr val="bg2">
                  <a:lumMod val="10000"/>
                </a:schemeClr>
              </a:solidFill>
              <a:latin typeface="Calibri" panose="020F0502020204030204" pitchFamily="34" charset="0"/>
            </a:rPr>
            <a:t>Targeted policies to help people who are left behind seize new opportunities</a:t>
          </a:r>
        </a:p>
      </dgm:t>
    </dgm:pt>
    <dgm:pt modelId="{E552743C-E71B-4861-972C-080EFB24BCDA}" type="parTrans" cxnId="{D21F9AFA-1F40-4590-873F-0B7900DE8CA3}">
      <dgm:prSet/>
      <dgm:spPr/>
      <dgm:t>
        <a:bodyPr/>
        <a:lstStyle/>
        <a:p>
          <a:endParaRPr lang="en-GB"/>
        </a:p>
      </dgm:t>
    </dgm:pt>
    <dgm:pt modelId="{20A6B2AA-6C1B-4381-A526-3AD302301D65}" type="sibTrans" cxnId="{D21F9AFA-1F40-4590-873F-0B7900DE8CA3}">
      <dgm:prSet/>
      <dgm:spPr/>
      <dgm:t>
        <a:bodyPr/>
        <a:lstStyle/>
        <a:p>
          <a:endParaRPr lang="en-GB"/>
        </a:p>
      </dgm:t>
    </dgm:pt>
    <dgm:pt modelId="{2E9BD066-5772-45B3-AF70-8A7A03272818}" type="pres">
      <dgm:prSet presAssocID="{312AE3AD-150C-4556-B9F3-C5AFE07518AD}" presName="linear" presStyleCnt="0">
        <dgm:presLayoutVars>
          <dgm:animLvl val="lvl"/>
          <dgm:resizeHandles val="exact"/>
        </dgm:presLayoutVars>
      </dgm:prSet>
      <dgm:spPr/>
      <dgm:t>
        <a:bodyPr/>
        <a:lstStyle/>
        <a:p>
          <a:endParaRPr lang="en-GB"/>
        </a:p>
      </dgm:t>
    </dgm:pt>
    <dgm:pt modelId="{B71E4610-9C7F-4FC1-B45C-3246453F732B}" type="pres">
      <dgm:prSet presAssocID="{28AA58F6-D958-4B10-9359-D08D4D103B97}" presName="parentText" presStyleLbl="node1" presStyleIdx="0" presStyleCnt="4" custScaleY="119926">
        <dgm:presLayoutVars>
          <dgm:chMax val="0"/>
          <dgm:bulletEnabled val="1"/>
        </dgm:presLayoutVars>
      </dgm:prSet>
      <dgm:spPr/>
      <dgm:t>
        <a:bodyPr/>
        <a:lstStyle/>
        <a:p>
          <a:endParaRPr lang="en-GB"/>
        </a:p>
      </dgm:t>
    </dgm:pt>
    <dgm:pt modelId="{59778523-FD02-412B-8EED-12620C0515E9}" type="pres">
      <dgm:prSet presAssocID="{28AA58F6-D958-4B10-9359-D08D4D103B97}" presName="childText" presStyleLbl="revTx" presStyleIdx="0" presStyleCnt="4">
        <dgm:presLayoutVars>
          <dgm:bulletEnabled val="1"/>
        </dgm:presLayoutVars>
      </dgm:prSet>
      <dgm:spPr/>
      <dgm:t>
        <a:bodyPr/>
        <a:lstStyle/>
        <a:p>
          <a:endParaRPr lang="en-GB"/>
        </a:p>
      </dgm:t>
    </dgm:pt>
    <dgm:pt modelId="{86CD86FE-BCDD-4F86-8258-550D41ABF992}" type="pres">
      <dgm:prSet presAssocID="{41E053C8-D301-4D12-AD77-7EE97ECC131D}" presName="parentText" presStyleLbl="node1" presStyleIdx="1" presStyleCnt="4" custScaleY="112620">
        <dgm:presLayoutVars>
          <dgm:chMax val="0"/>
          <dgm:bulletEnabled val="1"/>
        </dgm:presLayoutVars>
      </dgm:prSet>
      <dgm:spPr/>
      <dgm:t>
        <a:bodyPr/>
        <a:lstStyle/>
        <a:p>
          <a:endParaRPr lang="en-GB"/>
        </a:p>
      </dgm:t>
    </dgm:pt>
    <dgm:pt modelId="{4D106606-0D66-4779-A085-E8266C34AB2A}" type="pres">
      <dgm:prSet presAssocID="{41E053C8-D301-4D12-AD77-7EE97ECC131D}" presName="childText" presStyleLbl="revTx" presStyleIdx="1" presStyleCnt="4">
        <dgm:presLayoutVars>
          <dgm:bulletEnabled val="1"/>
        </dgm:presLayoutVars>
      </dgm:prSet>
      <dgm:spPr/>
      <dgm:t>
        <a:bodyPr/>
        <a:lstStyle/>
        <a:p>
          <a:endParaRPr lang="en-GB"/>
        </a:p>
      </dgm:t>
    </dgm:pt>
    <dgm:pt modelId="{9CFD6359-D6AA-429D-ADFE-D05F20309091}" type="pres">
      <dgm:prSet presAssocID="{0BD4BFF3-A846-4400-9B4D-1ECC79EBA5F8}" presName="parentText" presStyleLbl="node1" presStyleIdx="2" presStyleCnt="4" custScaleY="121626" custLinFactNeighborY="3088">
        <dgm:presLayoutVars>
          <dgm:chMax val="0"/>
          <dgm:bulletEnabled val="1"/>
        </dgm:presLayoutVars>
      </dgm:prSet>
      <dgm:spPr/>
      <dgm:t>
        <a:bodyPr/>
        <a:lstStyle/>
        <a:p>
          <a:endParaRPr lang="en-GB"/>
        </a:p>
      </dgm:t>
    </dgm:pt>
    <dgm:pt modelId="{E865CCEF-EA47-42BC-ABAD-CF3E5C00DE2D}" type="pres">
      <dgm:prSet presAssocID="{0BD4BFF3-A846-4400-9B4D-1ECC79EBA5F8}" presName="childText" presStyleLbl="revTx" presStyleIdx="2" presStyleCnt="4" custLinFactNeighborY="3530">
        <dgm:presLayoutVars>
          <dgm:bulletEnabled val="1"/>
        </dgm:presLayoutVars>
      </dgm:prSet>
      <dgm:spPr/>
      <dgm:t>
        <a:bodyPr/>
        <a:lstStyle/>
        <a:p>
          <a:endParaRPr lang="en-GB"/>
        </a:p>
      </dgm:t>
    </dgm:pt>
    <dgm:pt modelId="{2B45D7B7-0834-4D13-8778-0BFAB98C78C2}" type="pres">
      <dgm:prSet presAssocID="{806919CF-651B-46A9-9F55-6A28278294E6}" presName="parentText" presStyleLbl="node1" presStyleIdx="3" presStyleCnt="4" custScaleY="114973" custLinFactNeighborY="2046">
        <dgm:presLayoutVars>
          <dgm:chMax val="0"/>
          <dgm:bulletEnabled val="1"/>
        </dgm:presLayoutVars>
      </dgm:prSet>
      <dgm:spPr/>
      <dgm:t>
        <a:bodyPr/>
        <a:lstStyle/>
        <a:p>
          <a:endParaRPr lang="en-GB"/>
        </a:p>
      </dgm:t>
    </dgm:pt>
    <dgm:pt modelId="{466AD614-18F8-4250-8704-A12C186A2560}" type="pres">
      <dgm:prSet presAssocID="{806919CF-651B-46A9-9F55-6A28278294E6}" presName="childText" presStyleLbl="revTx" presStyleIdx="3" presStyleCnt="4" custLinFactNeighborY="3530">
        <dgm:presLayoutVars>
          <dgm:bulletEnabled val="1"/>
        </dgm:presLayoutVars>
      </dgm:prSet>
      <dgm:spPr/>
      <dgm:t>
        <a:bodyPr/>
        <a:lstStyle/>
        <a:p>
          <a:endParaRPr lang="en-GB"/>
        </a:p>
      </dgm:t>
    </dgm:pt>
  </dgm:ptLst>
  <dgm:cxnLst>
    <dgm:cxn modelId="{F590CECD-2BFA-4266-B254-A6B09807B58B}" type="presOf" srcId="{312AE3AD-150C-4556-B9F3-C5AFE07518AD}" destId="{2E9BD066-5772-45B3-AF70-8A7A03272818}" srcOrd="0" destOrd="0" presId="urn:microsoft.com/office/officeart/2005/8/layout/vList2"/>
    <dgm:cxn modelId="{603FDC0A-637D-4E78-B428-8D08C3E15A4C}" type="presOf" srcId="{28AA58F6-D958-4B10-9359-D08D4D103B97}" destId="{B71E4610-9C7F-4FC1-B45C-3246453F732B}" srcOrd="0" destOrd="0" presId="urn:microsoft.com/office/officeart/2005/8/layout/vList2"/>
    <dgm:cxn modelId="{E64A65F2-6B56-4204-A648-9FD888184D20}" type="presOf" srcId="{0BD4BFF3-A846-4400-9B4D-1ECC79EBA5F8}" destId="{9CFD6359-D6AA-429D-ADFE-D05F20309091}" srcOrd="0" destOrd="0" presId="urn:microsoft.com/office/officeart/2005/8/layout/vList2"/>
    <dgm:cxn modelId="{9462F653-2C88-47FC-B583-152A4B02B81A}" type="presOf" srcId="{553FD138-D451-4870-97BF-70183F97EA30}" destId="{E865CCEF-EA47-42BC-ABAD-CF3E5C00DE2D}" srcOrd="0" destOrd="1" presId="urn:microsoft.com/office/officeart/2005/8/layout/vList2"/>
    <dgm:cxn modelId="{22616761-6D3E-4F0D-BFB4-BA0190F21668}" type="presOf" srcId="{41E053C8-D301-4D12-AD77-7EE97ECC131D}" destId="{86CD86FE-BCDD-4F86-8258-550D41ABF992}" srcOrd="0" destOrd="0" presId="urn:microsoft.com/office/officeart/2005/8/layout/vList2"/>
    <dgm:cxn modelId="{56DCEC49-4C78-46A2-8DDF-3A9F8D6C4D56}" type="presOf" srcId="{94526619-ADE9-4975-A209-1206B2423C38}" destId="{4D106606-0D66-4779-A085-E8266C34AB2A}" srcOrd="0" destOrd="0" presId="urn:microsoft.com/office/officeart/2005/8/layout/vList2"/>
    <dgm:cxn modelId="{B0B2F67A-EBA5-48F4-A6DC-6B545647974D}" srcId="{312AE3AD-150C-4556-B9F3-C5AFE07518AD}" destId="{41E053C8-D301-4D12-AD77-7EE97ECC131D}" srcOrd="1" destOrd="0" parTransId="{E94A589A-0C85-450C-AE1A-FBF4CE0F2A81}" sibTransId="{9D04F1D8-B208-4490-A62E-6562FDAC00FC}"/>
    <dgm:cxn modelId="{D7E958C7-D684-4AB9-9C24-CB1C5BCFFBFA}" type="presOf" srcId="{3BDA06C9-41F1-4324-B47B-FD9322F22076}" destId="{59778523-FD02-412B-8EED-12620C0515E9}" srcOrd="0" destOrd="1" presId="urn:microsoft.com/office/officeart/2005/8/layout/vList2"/>
    <dgm:cxn modelId="{FEC8D880-A663-402B-A787-3C914236B237}" srcId="{28AA58F6-D958-4B10-9359-D08D4D103B97}" destId="{ABFAF83A-6C73-47F6-896E-A9BD27B48A39}" srcOrd="2" destOrd="0" parTransId="{A75B0344-DEA6-4F23-B9A2-5187C1B55793}" sibTransId="{94733AA1-8077-4264-929A-A4870403E5DA}"/>
    <dgm:cxn modelId="{E454A417-3B26-4064-AA44-E1A3E095A938}" type="presOf" srcId="{DCA8D2F6-0512-4BE3-8D00-0CD39364103D}" destId="{466AD614-18F8-4250-8704-A12C186A2560}" srcOrd="0" destOrd="2" presId="urn:microsoft.com/office/officeart/2005/8/layout/vList2"/>
    <dgm:cxn modelId="{B27A379C-FD63-4C1A-89DC-8BCCFEE7E8C4}" type="presOf" srcId="{596912E9-CAED-4E0C-A5E9-871A9237F95F}" destId="{466AD614-18F8-4250-8704-A12C186A2560}" srcOrd="0" destOrd="1" presId="urn:microsoft.com/office/officeart/2005/8/layout/vList2"/>
    <dgm:cxn modelId="{2B09D2B6-5D01-444A-A4FA-190A0096ED59}" srcId="{806919CF-651B-46A9-9F55-6A28278294E6}" destId="{596912E9-CAED-4E0C-A5E9-871A9237F95F}" srcOrd="1" destOrd="0" parTransId="{E08425F1-88FC-4C62-8AFB-FB401A12C4F8}" sibTransId="{44FC58D6-B872-4528-BD0F-539ABBFB23E9}"/>
    <dgm:cxn modelId="{33F34D4D-844B-4309-91F1-2D71039CC08C}" srcId="{0BD4BFF3-A846-4400-9B4D-1ECC79EBA5F8}" destId="{553FD138-D451-4870-97BF-70183F97EA30}" srcOrd="1" destOrd="0" parTransId="{43E28135-AFF9-4B2C-B41B-8023F9E19884}" sibTransId="{077F97B1-32C2-453B-AA07-7A8F7DC75B28}"/>
    <dgm:cxn modelId="{5302161C-846A-4FDA-9CDD-C3F3F1210388}" type="presOf" srcId="{806919CF-651B-46A9-9F55-6A28278294E6}" destId="{2B45D7B7-0834-4D13-8778-0BFAB98C78C2}" srcOrd="0" destOrd="0" presId="urn:microsoft.com/office/officeart/2005/8/layout/vList2"/>
    <dgm:cxn modelId="{7FC4F6B6-7333-499E-8799-51F96AA60B84}" srcId="{312AE3AD-150C-4556-B9F3-C5AFE07518AD}" destId="{28AA58F6-D958-4B10-9359-D08D4D103B97}" srcOrd="0" destOrd="0" parTransId="{60C608F0-860E-4FC1-AB6C-6A893EFA9FC9}" sibTransId="{3083AE86-D778-4F5F-B1B6-4FB7AC7CBD51}"/>
    <dgm:cxn modelId="{FB3611A6-B48D-4A54-9E4F-F3AA4FA9ABAB}" type="presOf" srcId="{2723B6F0-42E6-4D85-ABC3-0B993B034402}" destId="{466AD614-18F8-4250-8704-A12C186A2560}" srcOrd="0" destOrd="0" presId="urn:microsoft.com/office/officeart/2005/8/layout/vList2"/>
    <dgm:cxn modelId="{6D09A9A1-FFEA-4EA9-A2E8-55285F8C0196}" srcId="{312AE3AD-150C-4556-B9F3-C5AFE07518AD}" destId="{0BD4BFF3-A846-4400-9B4D-1ECC79EBA5F8}" srcOrd="2" destOrd="0" parTransId="{225C00EA-9FEF-41B6-9C4F-92549965D946}" sibTransId="{203F14AC-C7A5-4E5E-9CBB-DE0F7A356B5A}"/>
    <dgm:cxn modelId="{D21F9AFA-1F40-4590-873F-0B7900DE8CA3}" srcId="{806919CF-651B-46A9-9F55-6A28278294E6}" destId="{DCA8D2F6-0512-4BE3-8D00-0CD39364103D}" srcOrd="2" destOrd="0" parTransId="{E552743C-E71B-4861-972C-080EFB24BCDA}" sibTransId="{20A6B2AA-6C1B-4381-A526-3AD302301D65}"/>
    <dgm:cxn modelId="{53C87B82-B0AB-49B4-8189-CF168536BEE3}" srcId="{806919CF-651B-46A9-9F55-6A28278294E6}" destId="{2723B6F0-42E6-4D85-ABC3-0B993B034402}" srcOrd="0" destOrd="0" parTransId="{289978A5-92C7-40F5-BD7A-00AECC89F112}" sibTransId="{51C7EF5C-A804-4B27-AC82-9BD6EE906EB9}"/>
    <dgm:cxn modelId="{22EA297E-C433-43DE-A9F8-57D4D82CB461}" type="presOf" srcId="{1E9D3748-E159-4EC9-8912-7AFB54D896E8}" destId="{4D106606-0D66-4779-A085-E8266C34AB2A}" srcOrd="0" destOrd="1" presId="urn:microsoft.com/office/officeart/2005/8/layout/vList2"/>
    <dgm:cxn modelId="{705B9F36-B466-4E78-9711-00BA06938028}" srcId="{41E053C8-D301-4D12-AD77-7EE97ECC131D}" destId="{94526619-ADE9-4975-A209-1206B2423C38}" srcOrd="0" destOrd="0" parTransId="{56BF7F1D-70AF-401A-A4BE-6C616B75B134}" sibTransId="{EFF9F49E-5A2F-409F-8A4C-43657ADA0126}"/>
    <dgm:cxn modelId="{3315629A-CE00-4EA6-A505-92EEC82995D3}" srcId="{312AE3AD-150C-4556-B9F3-C5AFE07518AD}" destId="{806919CF-651B-46A9-9F55-6A28278294E6}" srcOrd="3" destOrd="0" parTransId="{C176557D-E82E-4F64-8195-4FBA10DCA65F}" sibTransId="{504D45A1-33A0-469C-9F96-5CCFAF0F31C8}"/>
    <dgm:cxn modelId="{DB292FF2-CC4D-4050-9997-4883B8C5E792}" type="presOf" srcId="{ABFAF83A-6C73-47F6-896E-A9BD27B48A39}" destId="{59778523-FD02-412B-8EED-12620C0515E9}" srcOrd="0" destOrd="2" presId="urn:microsoft.com/office/officeart/2005/8/layout/vList2"/>
    <dgm:cxn modelId="{12AB3E7D-BD2B-4B16-B4C5-1D6AD6FD6A99}" type="presOf" srcId="{5547A09F-9281-4926-AFA4-01F6C5E99E46}" destId="{59778523-FD02-412B-8EED-12620C0515E9}" srcOrd="0" destOrd="0" presId="urn:microsoft.com/office/officeart/2005/8/layout/vList2"/>
    <dgm:cxn modelId="{43479365-8FA3-41F5-B10E-1E225A4D5723}" srcId="{28AA58F6-D958-4B10-9359-D08D4D103B97}" destId="{3BDA06C9-41F1-4324-B47B-FD9322F22076}" srcOrd="1" destOrd="0" parTransId="{68A95A56-5757-4B67-8390-A31F0B0037F9}" sibTransId="{9FC0B700-BAC5-444B-A109-D6595B3DE849}"/>
    <dgm:cxn modelId="{67B238D7-40B4-47DC-A939-F18AE00B00B1}" srcId="{41E053C8-D301-4D12-AD77-7EE97ECC131D}" destId="{1E9D3748-E159-4EC9-8912-7AFB54D896E8}" srcOrd="1" destOrd="0" parTransId="{20B72C64-47B4-49ED-84C2-031F7AD8C095}" sibTransId="{3B8DAD5D-0ECD-4585-9ADC-D9FCE88A6641}"/>
    <dgm:cxn modelId="{D679395B-FE98-42B9-BBBC-D1097520053F}" srcId="{0BD4BFF3-A846-4400-9B4D-1ECC79EBA5F8}" destId="{31CEF85D-C803-49E2-87B0-F5EDAD345FC9}" srcOrd="0" destOrd="0" parTransId="{F5240D1C-9F1F-45CB-A124-96F539746542}" sibTransId="{240024B0-F397-4B79-9323-A7BF70B621A9}"/>
    <dgm:cxn modelId="{C2BEBCDC-03B2-4D84-A49C-A63F131785DD}" srcId="{28AA58F6-D958-4B10-9359-D08D4D103B97}" destId="{5547A09F-9281-4926-AFA4-01F6C5E99E46}" srcOrd="0" destOrd="0" parTransId="{F3ACEA60-3461-4AC3-BB5D-893E4B822BE9}" sibTransId="{F76B773A-F1BB-45AE-853C-30C972F6D272}"/>
    <dgm:cxn modelId="{3BE347DC-11F6-4A9D-93A7-2379018EBE6B}" type="presOf" srcId="{31CEF85D-C803-49E2-87B0-F5EDAD345FC9}" destId="{E865CCEF-EA47-42BC-ABAD-CF3E5C00DE2D}" srcOrd="0" destOrd="0" presId="urn:microsoft.com/office/officeart/2005/8/layout/vList2"/>
    <dgm:cxn modelId="{FDD43C9A-C0FF-4A65-9C2D-DD5EBFDCF51C}" type="presParOf" srcId="{2E9BD066-5772-45B3-AF70-8A7A03272818}" destId="{B71E4610-9C7F-4FC1-B45C-3246453F732B}" srcOrd="0" destOrd="0" presId="urn:microsoft.com/office/officeart/2005/8/layout/vList2"/>
    <dgm:cxn modelId="{2FABFBCD-C1D7-4148-9241-B06601E9DFE8}" type="presParOf" srcId="{2E9BD066-5772-45B3-AF70-8A7A03272818}" destId="{59778523-FD02-412B-8EED-12620C0515E9}" srcOrd="1" destOrd="0" presId="urn:microsoft.com/office/officeart/2005/8/layout/vList2"/>
    <dgm:cxn modelId="{E372AA16-7338-42E3-BD01-DD58D02C24FA}" type="presParOf" srcId="{2E9BD066-5772-45B3-AF70-8A7A03272818}" destId="{86CD86FE-BCDD-4F86-8258-550D41ABF992}" srcOrd="2" destOrd="0" presId="urn:microsoft.com/office/officeart/2005/8/layout/vList2"/>
    <dgm:cxn modelId="{E518DEB3-03BF-477A-A095-349AA6454BB3}" type="presParOf" srcId="{2E9BD066-5772-45B3-AF70-8A7A03272818}" destId="{4D106606-0D66-4779-A085-E8266C34AB2A}" srcOrd="3" destOrd="0" presId="urn:microsoft.com/office/officeart/2005/8/layout/vList2"/>
    <dgm:cxn modelId="{A693E904-7D2E-4E5D-929D-BA4909CE4DE9}" type="presParOf" srcId="{2E9BD066-5772-45B3-AF70-8A7A03272818}" destId="{9CFD6359-D6AA-429D-ADFE-D05F20309091}" srcOrd="4" destOrd="0" presId="urn:microsoft.com/office/officeart/2005/8/layout/vList2"/>
    <dgm:cxn modelId="{8CEFDE8B-B995-44A2-BF6C-7A588C8CDCDC}" type="presParOf" srcId="{2E9BD066-5772-45B3-AF70-8A7A03272818}" destId="{E865CCEF-EA47-42BC-ABAD-CF3E5C00DE2D}" srcOrd="5" destOrd="0" presId="urn:microsoft.com/office/officeart/2005/8/layout/vList2"/>
    <dgm:cxn modelId="{5DB977C2-0720-479E-92EB-2C9B2BF3C0B3}" type="presParOf" srcId="{2E9BD066-5772-45B3-AF70-8A7A03272818}" destId="{2B45D7B7-0834-4D13-8778-0BFAB98C78C2}" srcOrd="6" destOrd="0" presId="urn:microsoft.com/office/officeart/2005/8/layout/vList2"/>
    <dgm:cxn modelId="{B49B4D58-995B-42D1-BCBE-C90913265EDD}" type="presParOf" srcId="{2E9BD066-5772-45B3-AF70-8A7A03272818}" destId="{466AD614-18F8-4250-8704-A12C186A2560}" srcOrd="7"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12AE3AD-150C-4556-B9F3-C5AFE07518AD}"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GB"/>
        </a:p>
      </dgm:t>
    </dgm:pt>
    <dgm:pt modelId="{28AA58F6-D958-4B10-9359-D08D4D103B97}">
      <dgm:prSet custT="1"/>
      <dgm:spPr/>
      <dgm:t>
        <a:bodyPr/>
        <a:lstStyle/>
        <a:p>
          <a:r>
            <a:rPr lang="en-GB" sz="2000" dirty="0" smtClean="0">
              <a:latin typeface="Calibri" panose="020F0502020204030204" pitchFamily="34" charset="0"/>
            </a:rPr>
            <a:t>Actions to improve the international environment:</a:t>
          </a:r>
        </a:p>
      </dgm:t>
    </dgm:pt>
    <dgm:pt modelId="{60C608F0-860E-4FC1-AB6C-6A893EFA9FC9}" type="parTrans" cxnId="{7FC4F6B6-7333-499E-8799-51F96AA60B84}">
      <dgm:prSet/>
      <dgm:spPr/>
      <dgm:t>
        <a:bodyPr/>
        <a:lstStyle/>
        <a:p>
          <a:endParaRPr lang="en-GB">
            <a:latin typeface="Calibri" panose="020F0502020204030204" pitchFamily="34" charset="0"/>
          </a:endParaRPr>
        </a:p>
      </dgm:t>
    </dgm:pt>
    <dgm:pt modelId="{3083AE86-D778-4F5F-B1B6-4FB7AC7CBD51}" type="sibTrans" cxnId="{7FC4F6B6-7333-499E-8799-51F96AA60B84}">
      <dgm:prSet/>
      <dgm:spPr/>
      <dgm:t>
        <a:bodyPr/>
        <a:lstStyle/>
        <a:p>
          <a:endParaRPr lang="en-GB">
            <a:latin typeface="Calibri" panose="020F0502020204030204" pitchFamily="34" charset="0"/>
          </a:endParaRPr>
        </a:p>
      </dgm:t>
    </dgm:pt>
    <dgm:pt modelId="{31FDEDA6-66D9-439F-8F48-7D1A3D83CB2C}">
      <dgm:prSet custT="1"/>
      <dgm:spPr/>
      <dgm:t>
        <a:bodyPr/>
        <a:lstStyle/>
        <a:p>
          <a:r>
            <a:rPr lang="en-GB" sz="1800" dirty="0" smtClean="0">
              <a:solidFill>
                <a:schemeClr val="bg2">
                  <a:lumMod val="10000"/>
                </a:schemeClr>
              </a:solidFill>
              <a:latin typeface="Calibri" panose="020F0502020204030204" pitchFamily="34" charset="0"/>
            </a:rPr>
            <a:t>Preserve institutions and standards, such as for labour and environmental protection</a:t>
          </a:r>
        </a:p>
      </dgm:t>
    </dgm:pt>
    <dgm:pt modelId="{09E8ADEA-8958-4BC9-B0A6-4BBA6912F297}" type="parTrans" cxnId="{9687FBD7-5570-4EE1-AD8C-0827D8FDFD8B}">
      <dgm:prSet/>
      <dgm:spPr/>
      <dgm:t>
        <a:bodyPr/>
        <a:lstStyle/>
        <a:p>
          <a:endParaRPr lang="en-GB">
            <a:latin typeface="Calibri" panose="020F0502020204030204" pitchFamily="34" charset="0"/>
          </a:endParaRPr>
        </a:p>
      </dgm:t>
    </dgm:pt>
    <dgm:pt modelId="{6D1C52CF-60AE-4EC8-BD3C-432DCD6C2CBF}" type="sibTrans" cxnId="{9687FBD7-5570-4EE1-AD8C-0827D8FDFD8B}">
      <dgm:prSet/>
      <dgm:spPr/>
      <dgm:t>
        <a:bodyPr/>
        <a:lstStyle/>
        <a:p>
          <a:endParaRPr lang="en-GB">
            <a:latin typeface="Calibri" panose="020F0502020204030204" pitchFamily="34" charset="0"/>
          </a:endParaRPr>
        </a:p>
      </dgm:t>
    </dgm:pt>
    <dgm:pt modelId="{5547A09F-9281-4926-AFA4-01F6C5E99E46}">
      <dgm:prSet custT="1"/>
      <dgm:spPr/>
      <dgm:t>
        <a:bodyPr/>
        <a:lstStyle/>
        <a:p>
          <a:r>
            <a:rPr lang="en-GB" sz="1800" dirty="0" smtClean="0">
              <a:solidFill>
                <a:schemeClr val="bg2">
                  <a:lumMod val="10000"/>
                </a:schemeClr>
              </a:solidFill>
              <a:latin typeface="Calibri" panose="020F0502020204030204" pitchFamily="34" charset="0"/>
            </a:rPr>
            <a:t>Pursue open markets for cross-border trade and investment</a:t>
          </a:r>
        </a:p>
      </dgm:t>
    </dgm:pt>
    <dgm:pt modelId="{F3ACEA60-3461-4AC3-BB5D-893E4B822BE9}" type="parTrans" cxnId="{C2BEBCDC-03B2-4D84-A49C-A63F131785DD}">
      <dgm:prSet/>
      <dgm:spPr/>
      <dgm:t>
        <a:bodyPr/>
        <a:lstStyle/>
        <a:p>
          <a:endParaRPr lang="en-GB">
            <a:latin typeface="Calibri" panose="020F0502020204030204" pitchFamily="34" charset="0"/>
          </a:endParaRPr>
        </a:p>
      </dgm:t>
    </dgm:pt>
    <dgm:pt modelId="{F76B773A-F1BB-45AE-853C-30C972F6D272}" type="sibTrans" cxnId="{C2BEBCDC-03B2-4D84-A49C-A63F131785DD}">
      <dgm:prSet/>
      <dgm:spPr/>
      <dgm:t>
        <a:bodyPr/>
        <a:lstStyle/>
        <a:p>
          <a:endParaRPr lang="en-GB">
            <a:latin typeface="Calibri" panose="020F0502020204030204" pitchFamily="34" charset="0"/>
          </a:endParaRPr>
        </a:p>
      </dgm:t>
    </dgm:pt>
    <dgm:pt modelId="{ABFAF83A-6C73-47F6-896E-A9BD27B48A39}">
      <dgm:prSet custT="1"/>
      <dgm:spPr/>
      <dgm:t>
        <a:bodyPr/>
        <a:lstStyle/>
        <a:p>
          <a:r>
            <a:rPr lang="en-GB" sz="1800" dirty="0" smtClean="0">
              <a:solidFill>
                <a:schemeClr val="bg2">
                  <a:lumMod val="10000"/>
                </a:schemeClr>
              </a:solidFill>
              <a:latin typeface="Calibri" panose="020F0502020204030204" pitchFamily="34" charset="0"/>
            </a:rPr>
            <a:t>Promote multilateral cooperation, e.g. on tax base erosion and profit shifting and competition policy</a:t>
          </a:r>
        </a:p>
      </dgm:t>
    </dgm:pt>
    <dgm:pt modelId="{A75B0344-DEA6-4F23-B9A2-5187C1B55793}" type="parTrans" cxnId="{FEC8D880-A663-402B-A787-3C914236B237}">
      <dgm:prSet/>
      <dgm:spPr/>
      <dgm:t>
        <a:bodyPr/>
        <a:lstStyle/>
        <a:p>
          <a:endParaRPr lang="en-GB">
            <a:latin typeface="Calibri" panose="020F0502020204030204" pitchFamily="34" charset="0"/>
          </a:endParaRPr>
        </a:p>
      </dgm:t>
    </dgm:pt>
    <dgm:pt modelId="{94733AA1-8077-4264-929A-A4870403E5DA}" type="sibTrans" cxnId="{FEC8D880-A663-402B-A787-3C914236B237}">
      <dgm:prSet/>
      <dgm:spPr/>
      <dgm:t>
        <a:bodyPr/>
        <a:lstStyle/>
        <a:p>
          <a:endParaRPr lang="en-GB">
            <a:latin typeface="Calibri" panose="020F0502020204030204" pitchFamily="34" charset="0"/>
          </a:endParaRPr>
        </a:p>
      </dgm:t>
    </dgm:pt>
    <dgm:pt modelId="{41E053C8-D301-4D12-AD77-7EE97ECC131D}">
      <dgm:prSet custT="1"/>
      <dgm:spPr/>
      <dgm:t>
        <a:bodyPr/>
        <a:lstStyle/>
        <a:p>
          <a:r>
            <a:rPr lang="en-GB" sz="1800" dirty="0" smtClean="0">
              <a:solidFill>
                <a:schemeClr val="bg2">
                  <a:lumMod val="10000"/>
                </a:schemeClr>
              </a:solidFill>
              <a:latin typeface="Calibri" panose="020F0502020204030204" pitchFamily="34" charset="0"/>
            </a:rPr>
            <a:t>Combat corruption, illicit trade and counterfeiting</a:t>
          </a:r>
        </a:p>
      </dgm:t>
    </dgm:pt>
    <dgm:pt modelId="{E94A589A-0C85-450C-AE1A-FBF4CE0F2A81}" type="parTrans" cxnId="{B0B2F67A-EBA5-48F4-A6DC-6B545647974D}">
      <dgm:prSet/>
      <dgm:spPr/>
      <dgm:t>
        <a:bodyPr/>
        <a:lstStyle/>
        <a:p>
          <a:endParaRPr lang="en-GB">
            <a:latin typeface="Calibri" panose="020F0502020204030204" pitchFamily="34" charset="0"/>
          </a:endParaRPr>
        </a:p>
      </dgm:t>
    </dgm:pt>
    <dgm:pt modelId="{9D04F1D8-B208-4490-A62E-6562FDAC00FC}" type="sibTrans" cxnId="{B0B2F67A-EBA5-48F4-A6DC-6B545647974D}">
      <dgm:prSet/>
      <dgm:spPr/>
      <dgm:t>
        <a:bodyPr/>
        <a:lstStyle/>
        <a:p>
          <a:endParaRPr lang="en-GB">
            <a:latin typeface="Calibri" panose="020F0502020204030204" pitchFamily="34" charset="0"/>
          </a:endParaRPr>
        </a:p>
      </dgm:t>
    </dgm:pt>
    <dgm:pt modelId="{D97F0E23-3469-49AA-8515-E38E0361369C}">
      <dgm:prSet custT="1"/>
      <dgm:spPr/>
      <dgm:t>
        <a:bodyPr/>
        <a:lstStyle/>
        <a:p>
          <a:endParaRPr lang="en-GB" sz="1800" dirty="0" smtClean="0">
            <a:solidFill>
              <a:schemeClr val="bg2">
                <a:lumMod val="10000"/>
              </a:schemeClr>
            </a:solidFill>
            <a:latin typeface="Calibri" panose="020F0502020204030204" pitchFamily="34" charset="0"/>
          </a:endParaRPr>
        </a:p>
      </dgm:t>
    </dgm:pt>
    <dgm:pt modelId="{6AA93C07-A878-4E1C-B974-8C08B510F320}" type="parTrans" cxnId="{ED097170-7D59-4F12-B292-86D74F524A55}">
      <dgm:prSet/>
      <dgm:spPr/>
      <dgm:t>
        <a:bodyPr/>
        <a:lstStyle/>
        <a:p>
          <a:endParaRPr lang="en-GB"/>
        </a:p>
      </dgm:t>
    </dgm:pt>
    <dgm:pt modelId="{C75C3C01-3CE1-4166-B916-4528E996C518}" type="sibTrans" cxnId="{ED097170-7D59-4F12-B292-86D74F524A55}">
      <dgm:prSet/>
      <dgm:spPr/>
      <dgm:t>
        <a:bodyPr/>
        <a:lstStyle/>
        <a:p>
          <a:endParaRPr lang="en-GB"/>
        </a:p>
      </dgm:t>
    </dgm:pt>
    <dgm:pt modelId="{7475AEAB-06AB-45E2-98CA-E2D0B86B0492}">
      <dgm:prSet custT="1"/>
      <dgm:spPr/>
      <dgm:t>
        <a:bodyPr/>
        <a:lstStyle/>
        <a:p>
          <a:endParaRPr lang="en-GB" sz="1800" dirty="0" smtClean="0">
            <a:solidFill>
              <a:schemeClr val="bg2">
                <a:lumMod val="10000"/>
              </a:schemeClr>
            </a:solidFill>
            <a:latin typeface="Calibri" panose="020F0502020204030204" pitchFamily="34" charset="0"/>
          </a:endParaRPr>
        </a:p>
      </dgm:t>
    </dgm:pt>
    <dgm:pt modelId="{66F03EFE-FA69-4CD3-BAA2-63E4651E3CE8}" type="parTrans" cxnId="{B0152A11-1F3E-4872-B78E-1413879CBBAB}">
      <dgm:prSet/>
      <dgm:spPr/>
      <dgm:t>
        <a:bodyPr/>
        <a:lstStyle/>
        <a:p>
          <a:endParaRPr lang="en-GB"/>
        </a:p>
      </dgm:t>
    </dgm:pt>
    <dgm:pt modelId="{10D2B5B8-D750-4282-B55A-26440552C0DA}" type="sibTrans" cxnId="{B0152A11-1F3E-4872-B78E-1413879CBBAB}">
      <dgm:prSet/>
      <dgm:spPr/>
      <dgm:t>
        <a:bodyPr/>
        <a:lstStyle/>
        <a:p>
          <a:endParaRPr lang="en-GB"/>
        </a:p>
      </dgm:t>
    </dgm:pt>
    <dgm:pt modelId="{3F646720-912F-4FB0-9C2E-579D95BB3C0E}">
      <dgm:prSet custT="1"/>
      <dgm:spPr/>
      <dgm:t>
        <a:bodyPr/>
        <a:lstStyle/>
        <a:p>
          <a:endParaRPr lang="en-GB" sz="1800" dirty="0" smtClean="0">
            <a:solidFill>
              <a:schemeClr val="bg2">
                <a:lumMod val="10000"/>
              </a:schemeClr>
            </a:solidFill>
            <a:latin typeface="Calibri" panose="020F0502020204030204" pitchFamily="34" charset="0"/>
          </a:endParaRPr>
        </a:p>
      </dgm:t>
    </dgm:pt>
    <dgm:pt modelId="{571E85A4-9ADF-4A1D-B6FB-2E10710F6424}" type="parTrans" cxnId="{9F9A79EC-6936-4CEB-9252-ADB6E1AE11AF}">
      <dgm:prSet/>
      <dgm:spPr/>
      <dgm:t>
        <a:bodyPr/>
        <a:lstStyle/>
        <a:p>
          <a:endParaRPr lang="en-GB"/>
        </a:p>
      </dgm:t>
    </dgm:pt>
    <dgm:pt modelId="{7AFE8B06-89EC-464A-8376-E7AF0C8DD4E5}" type="sibTrans" cxnId="{9F9A79EC-6936-4CEB-9252-ADB6E1AE11AF}">
      <dgm:prSet/>
      <dgm:spPr/>
      <dgm:t>
        <a:bodyPr/>
        <a:lstStyle/>
        <a:p>
          <a:endParaRPr lang="en-GB"/>
        </a:p>
      </dgm:t>
    </dgm:pt>
    <dgm:pt modelId="{2E9BD066-5772-45B3-AF70-8A7A03272818}" type="pres">
      <dgm:prSet presAssocID="{312AE3AD-150C-4556-B9F3-C5AFE07518AD}" presName="linear" presStyleCnt="0">
        <dgm:presLayoutVars>
          <dgm:animLvl val="lvl"/>
          <dgm:resizeHandles val="exact"/>
        </dgm:presLayoutVars>
      </dgm:prSet>
      <dgm:spPr/>
      <dgm:t>
        <a:bodyPr/>
        <a:lstStyle/>
        <a:p>
          <a:endParaRPr lang="en-GB"/>
        </a:p>
      </dgm:t>
    </dgm:pt>
    <dgm:pt modelId="{B71E4610-9C7F-4FC1-B45C-3246453F732B}" type="pres">
      <dgm:prSet presAssocID="{28AA58F6-D958-4B10-9359-D08D4D103B97}" presName="parentText" presStyleLbl="node1" presStyleIdx="0" presStyleCnt="1" custScaleY="63997" custLinFactNeighborY="-6367">
        <dgm:presLayoutVars>
          <dgm:chMax val="0"/>
          <dgm:bulletEnabled val="1"/>
        </dgm:presLayoutVars>
      </dgm:prSet>
      <dgm:spPr/>
      <dgm:t>
        <a:bodyPr/>
        <a:lstStyle/>
        <a:p>
          <a:endParaRPr lang="en-GB"/>
        </a:p>
      </dgm:t>
    </dgm:pt>
    <dgm:pt modelId="{59778523-FD02-412B-8EED-12620C0515E9}" type="pres">
      <dgm:prSet presAssocID="{28AA58F6-D958-4B10-9359-D08D4D103B97}" presName="childText" presStyleLbl="revTx" presStyleIdx="0" presStyleCnt="1" custScaleY="111489" custLinFactNeighborY="299">
        <dgm:presLayoutVars>
          <dgm:bulletEnabled val="1"/>
        </dgm:presLayoutVars>
      </dgm:prSet>
      <dgm:spPr/>
      <dgm:t>
        <a:bodyPr/>
        <a:lstStyle/>
        <a:p>
          <a:endParaRPr lang="en-GB"/>
        </a:p>
      </dgm:t>
    </dgm:pt>
  </dgm:ptLst>
  <dgm:cxnLst>
    <dgm:cxn modelId="{F6B25572-DB7F-415D-AF92-A43376E886A7}" type="presOf" srcId="{312AE3AD-150C-4556-B9F3-C5AFE07518AD}" destId="{2E9BD066-5772-45B3-AF70-8A7A03272818}" srcOrd="0" destOrd="0" presId="urn:microsoft.com/office/officeart/2005/8/layout/vList2"/>
    <dgm:cxn modelId="{36A437BC-6EDE-4303-A6D1-648012887460}" type="presOf" srcId="{7475AEAB-06AB-45E2-98CA-E2D0B86B0492}" destId="{59778523-FD02-412B-8EED-12620C0515E9}" srcOrd="0" destOrd="3" presId="urn:microsoft.com/office/officeart/2005/8/layout/vList2"/>
    <dgm:cxn modelId="{FD87779F-13BD-4EB3-806B-EFD57224520E}" type="presOf" srcId="{D97F0E23-3469-49AA-8515-E38E0361369C}" destId="{59778523-FD02-412B-8EED-12620C0515E9}" srcOrd="0" destOrd="1" presId="urn:microsoft.com/office/officeart/2005/8/layout/vList2"/>
    <dgm:cxn modelId="{C2BEBCDC-03B2-4D84-A49C-A63F131785DD}" srcId="{28AA58F6-D958-4B10-9359-D08D4D103B97}" destId="{5547A09F-9281-4926-AFA4-01F6C5E99E46}" srcOrd="0" destOrd="0" parTransId="{F3ACEA60-3461-4AC3-BB5D-893E4B822BE9}" sibTransId="{F76B773A-F1BB-45AE-853C-30C972F6D272}"/>
    <dgm:cxn modelId="{9F9A79EC-6936-4CEB-9252-ADB6E1AE11AF}" srcId="{28AA58F6-D958-4B10-9359-D08D4D103B97}" destId="{3F646720-912F-4FB0-9C2E-579D95BB3C0E}" srcOrd="5" destOrd="0" parTransId="{571E85A4-9ADF-4A1D-B6FB-2E10710F6424}" sibTransId="{7AFE8B06-89EC-464A-8376-E7AF0C8DD4E5}"/>
    <dgm:cxn modelId="{7FC4F6B6-7333-499E-8799-51F96AA60B84}" srcId="{312AE3AD-150C-4556-B9F3-C5AFE07518AD}" destId="{28AA58F6-D958-4B10-9359-D08D4D103B97}" srcOrd="0" destOrd="0" parTransId="{60C608F0-860E-4FC1-AB6C-6A893EFA9FC9}" sibTransId="{3083AE86-D778-4F5F-B1B6-4FB7AC7CBD51}"/>
    <dgm:cxn modelId="{B0152A11-1F3E-4872-B78E-1413879CBBAB}" srcId="{28AA58F6-D958-4B10-9359-D08D4D103B97}" destId="{7475AEAB-06AB-45E2-98CA-E2D0B86B0492}" srcOrd="3" destOrd="0" parTransId="{66F03EFE-FA69-4CD3-BAA2-63E4651E3CE8}" sibTransId="{10D2B5B8-D750-4282-B55A-26440552C0DA}"/>
    <dgm:cxn modelId="{5BA1823F-2135-46BA-AE99-EB8EF3E4522C}" type="presOf" srcId="{5547A09F-9281-4926-AFA4-01F6C5E99E46}" destId="{59778523-FD02-412B-8EED-12620C0515E9}" srcOrd="0" destOrd="0" presId="urn:microsoft.com/office/officeart/2005/8/layout/vList2"/>
    <dgm:cxn modelId="{9687FBD7-5570-4EE1-AD8C-0827D8FDFD8B}" srcId="{28AA58F6-D958-4B10-9359-D08D4D103B97}" destId="{31FDEDA6-66D9-439F-8F48-7D1A3D83CB2C}" srcOrd="2" destOrd="0" parTransId="{09E8ADEA-8958-4BC9-B0A6-4BBA6912F297}" sibTransId="{6D1C52CF-60AE-4EC8-BD3C-432DCD6C2CBF}"/>
    <dgm:cxn modelId="{7DCA2CC4-0A7D-43E4-B28B-3481C2FDAEDD}" type="presOf" srcId="{28AA58F6-D958-4B10-9359-D08D4D103B97}" destId="{B71E4610-9C7F-4FC1-B45C-3246453F732B}" srcOrd="0" destOrd="0" presId="urn:microsoft.com/office/officeart/2005/8/layout/vList2"/>
    <dgm:cxn modelId="{243CB387-1595-4467-BFEC-296652B1AC9B}" type="presOf" srcId="{31FDEDA6-66D9-439F-8F48-7D1A3D83CB2C}" destId="{59778523-FD02-412B-8EED-12620C0515E9}" srcOrd="0" destOrd="2" presId="urn:microsoft.com/office/officeart/2005/8/layout/vList2"/>
    <dgm:cxn modelId="{FEC8D880-A663-402B-A787-3C914236B237}" srcId="{28AA58F6-D958-4B10-9359-D08D4D103B97}" destId="{ABFAF83A-6C73-47F6-896E-A9BD27B48A39}" srcOrd="4" destOrd="0" parTransId="{A75B0344-DEA6-4F23-B9A2-5187C1B55793}" sibTransId="{94733AA1-8077-4264-929A-A4870403E5DA}"/>
    <dgm:cxn modelId="{9121E131-06A3-4D6D-9831-53334D27134B}" type="presOf" srcId="{3F646720-912F-4FB0-9C2E-579D95BB3C0E}" destId="{59778523-FD02-412B-8EED-12620C0515E9}" srcOrd="0" destOrd="5" presId="urn:microsoft.com/office/officeart/2005/8/layout/vList2"/>
    <dgm:cxn modelId="{3449CAFA-5480-46E9-A105-1E7FBF18FA42}" type="presOf" srcId="{ABFAF83A-6C73-47F6-896E-A9BD27B48A39}" destId="{59778523-FD02-412B-8EED-12620C0515E9}" srcOrd="0" destOrd="4" presId="urn:microsoft.com/office/officeart/2005/8/layout/vList2"/>
    <dgm:cxn modelId="{B0B2F67A-EBA5-48F4-A6DC-6B545647974D}" srcId="{28AA58F6-D958-4B10-9359-D08D4D103B97}" destId="{41E053C8-D301-4D12-AD77-7EE97ECC131D}" srcOrd="6" destOrd="0" parTransId="{E94A589A-0C85-450C-AE1A-FBF4CE0F2A81}" sibTransId="{9D04F1D8-B208-4490-A62E-6562FDAC00FC}"/>
    <dgm:cxn modelId="{ED097170-7D59-4F12-B292-86D74F524A55}" srcId="{28AA58F6-D958-4B10-9359-D08D4D103B97}" destId="{D97F0E23-3469-49AA-8515-E38E0361369C}" srcOrd="1" destOrd="0" parTransId="{6AA93C07-A878-4E1C-B974-8C08B510F320}" sibTransId="{C75C3C01-3CE1-4166-B916-4528E996C518}"/>
    <dgm:cxn modelId="{69363588-FB2C-42E2-90AB-819EEE464C0B}" type="presOf" srcId="{41E053C8-D301-4D12-AD77-7EE97ECC131D}" destId="{59778523-FD02-412B-8EED-12620C0515E9}" srcOrd="0" destOrd="6" presId="urn:microsoft.com/office/officeart/2005/8/layout/vList2"/>
    <dgm:cxn modelId="{19731FE0-04E1-4335-8190-F4F8766BCB4D}" type="presParOf" srcId="{2E9BD066-5772-45B3-AF70-8A7A03272818}" destId="{B71E4610-9C7F-4FC1-B45C-3246453F732B}" srcOrd="0" destOrd="0" presId="urn:microsoft.com/office/officeart/2005/8/layout/vList2"/>
    <dgm:cxn modelId="{86869DF5-4922-48FF-9D9F-1330D993A69D}" type="presParOf" srcId="{2E9BD066-5772-45B3-AF70-8A7A03272818}" destId="{59778523-FD02-412B-8EED-12620C0515E9}" srcOrd="1"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DACCB16-A97F-4AE7-BD91-9707F88F1702}" type="doc">
      <dgm:prSet loTypeId="urn:microsoft.com/office/officeart/2005/8/layout/pyramid4" loCatId="relationship" qsTypeId="urn:microsoft.com/office/officeart/2005/8/quickstyle/simple1" qsCatId="simple" csTypeId="urn:microsoft.com/office/officeart/2005/8/colors/accent1_2" csCatId="accent1" phldr="1"/>
      <dgm:spPr/>
      <dgm:t>
        <a:bodyPr/>
        <a:lstStyle/>
        <a:p>
          <a:endParaRPr lang="en-GB"/>
        </a:p>
      </dgm:t>
    </dgm:pt>
    <dgm:pt modelId="{894ED217-942A-4E2E-9CE7-D7FE3BFFED54}">
      <dgm:prSet custT="1"/>
      <dgm:spPr/>
      <dgm:t>
        <a:bodyPr anchor="t"/>
        <a:lstStyle/>
        <a:p>
          <a:r>
            <a:rPr lang="en-GB" sz="1600" b="1" dirty="0" smtClean="0">
              <a:latin typeface="Calibri" panose="020F0502020204030204" pitchFamily="34" charset="0"/>
            </a:rPr>
            <a:t>Make the international system fairer and work better</a:t>
          </a:r>
          <a:endParaRPr lang="en-GB" sz="1600" b="1" dirty="0">
            <a:latin typeface="Calibri" panose="020F0502020204030204" pitchFamily="34" charset="0"/>
          </a:endParaRPr>
        </a:p>
      </dgm:t>
    </dgm:pt>
    <dgm:pt modelId="{0E31CBB5-35C9-4F7F-88A8-446173ADC26A}" type="parTrans" cxnId="{F0D27D8E-B81D-403E-8C56-1E6F8F2547EC}">
      <dgm:prSet/>
      <dgm:spPr/>
      <dgm:t>
        <a:bodyPr/>
        <a:lstStyle/>
        <a:p>
          <a:endParaRPr lang="en-GB" sz="1400" b="1">
            <a:latin typeface="Calibri" panose="020F0502020204030204" pitchFamily="34" charset="0"/>
          </a:endParaRPr>
        </a:p>
      </dgm:t>
    </dgm:pt>
    <dgm:pt modelId="{3FE477C9-D35F-4B5A-B4FA-1D112311BBDE}" type="sibTrans" cxnId="{F0D27D8E-B81D-403E-8C56-1E6F8F2547EC}">
      <dgm:prSet/>
      <dgm:spPr/>
      <dgm:t>
        <a:bodyPr/>
        <a:lstStyle/>
        <a:p>
          <a:endParaRPr lang="en-GB" sz="1400" b="1">
            <a:latin typeface="Calibri" panose="020F0502020204030204" pitchFamily="34" charset="0"/>
          </a:endParaRPr>
        </a:p>
      </dgm:t>
    </dgm:pt>
    <dgm:pt modelId="{CFDC4C17-B4A3-402B-8DD0-B7E7A1CE2665}">
      <dgm:prSet phldrT="[Text]" custT="1"/>
      <dgm:spPr/>
      <dgm:t>
        <a:bodyPr/>
        <a:lstStyle/>
        <a:p>
          <a:r>
            <a:rPr lang="en-GB" sz="1600" b="1" dirty="0" smtClean="0">
              <a:solidFill>
                <a:schemeClr val="bg1"/>
              </a:solidFill>
              <a:latin typeface="Calibri" panose="020F0502020204030204" pitchFamily="34" charset="0"/>
            </a:rPr>
            <a:t>Policies to encourage new firms, innovation &amp; job creation</a:t>
          </a:r>
          <a:endParaRPr lang="en-GB" sz="1600" b="1" dirty="0">
            <a:solidFill>
              <a:schemeClr val="bg1"/>
            </a:solidFill>
            <a:latin typeface="Calibri" panose="020F0502020204030204" pitchFamily="34" charset="0"/>
          </a:endParaRPr>
        </a:p>
      </dgm:t>
    </dgm:pt>
    <dgm:pt modelId="{5E3008B7-8F69-4F0C-AD1E-C70E0305C062}" type="parTrans" cxnId="{EDB180D3-2027-459B-AED8-79F8E30CD0EB}">
      <dgm:prSet/>
      <dgm:spPr/>
      <dgm:t>
        <a:bodyPr/>
        <a:lstStyle/>
        <a:p>
          <a:endParaRPr lang="en-GB" sz="1400" b="1">
            <a:latin typeface="Calibri" panose="020F0502020204030204" pitchFamily="34" charset="0"/>
          </a:endParaRPr>
        </a:p>
      </dgm:t>
    </dgm:pt>
    <dgm:pt modelId="{0DA15BDD-8C02-4177-B987-23C4D332A976}" type="sibTrans" cxnId="{EDB180D3-2027-459B-AED8-79F8E30CD0EB}">
      <dgm:prSet/>
      <dgm:spPr/>
      <dgm:t>
        <a:bodyPr/>
        <a:lstStyle/>
        <a:p>
          <a:endParaRPr lang="en-GB" sz="1400" b="1">
            <a:latin typeface="Calibri" panose="020F0502020204030204" pitchFamily="34" charset="0"/>
          </a:endParaRPr>
        </a:p>
      </dgm:t>
    </dgm:pt>
    <dgm:pt modelId="{938A20E0-2977-41EA-BD98-C22B2E5B2A5C}">
      <dgm:prSet phldrT="[Text]" custT="1"/>
      <dgm:spPr/>
      <dgm:t>
        <a:bodyPr/>
        <a:lstStyle/>
        <a:p>
          <a:r>
            <a:rPr lang="en-GB" sz="1600" b="1" dirty="0" smtClean="0">
              <a:latin typeface="Calibri" panose="020F0502020204030204" pitchFamily="34" charset="0"/>
            </a:rPr>
            <a:t>Targeted policies to help people seize new </a:t>
          </a:r>
          <a:r>
            <a:rPr lang="en-GB" sz="1550" b="1" dirty="0" smtClean="0">
              <a:latin typeface="Calibri" panose="020F0502020204030204" pitchFamily="34" charset="0"/>
            </a:rPr>
            <a:t>opportunities</a:t>
          </a:r>
          <a:endParaRPr lang="en-GB" sz="1550" b="1" dirty="0">
            <a:latin typeface="Calibri" panose="020F0502020204030204" pitchFamily="34" charset="0"/>
          </a:endParaRPr>
        </a:p>
      </dgm:t>
    </dgm:pt>
    <dgm:pt modelId="{0724CEDD-2C28-4658-91FF-9AADEAC20DD3}" type="parTrans" cxnId="{D4BBC0C8-3B8A-4ABB-9224-8C6D2347C86B}">
      <dgm:prSet/>
      <dgm:spPr/>
      <dgm:t>
        <a:bodyPr/>
        <a:lstStyle/>
        <a:p>
          <a:endParaRPr lang="en-GB"/>
        </a:p>
      </dgm:t>
    </dgm:pt>
    <dgm:pt modelId="{F477D234-8611-43C6-8163-0E3AD3EA84A6}" type="sibTrans" cxnId="{D4BBC0C8-3B8A-4ABB-9224-8C6D2347C86B}">
      <dgm:prSet/>
      <dgm:spPr/>
      <dgm:t>
        <a:bodyPr/>
        <a:lstStyle/>
        <a:p>
          <a:endParaRPr lang="en-GB"/>
        </a:p>
      </dgm:t>
    </dgm:pt>
    <dgm:pt modelId="{08F48176-C6C2-4E03-A868-8265352F91FF}">
      <dgm:prSet phldrT="[Text]" custT="1"/>
      <dgm:spPr>
        <a:solidFill>
          <a:schemeClr val="accent1">
            <a:lumMod val="40000"/>
            <a:lumOff val="60000"/>
          </a:schemeClr>
        </a:solidFill>
      </dgm:spPr>
      <dgm:t>
        <a:bodyPr/>
        <a:lstStyle/>
        <a:p>
          <a:endParaRPr lang="en-GB" sz="1400" b="1" dirty="0">
            <a:latin typeface="Calibri" panose="020F0502020204030204" pitchFamily="34" charset="0"/>
          </a:endParaRPr>
        </a:p>
      </dgm:t>
    </dgm:pt>
    <dgm:pt modelId="{CFDC7288-346A-4AB1-B045-24CD3680CA50}" type="parTrans" cxnId="{7295D42E-8537-48D4-8280-2B827F8891B2}">
      <dgm:prSet/>
      <dgm:spPr/>
      <dgm:t>
        <a:bodyPr/>
        <a:lstStyle/>
        <a:p>
          <a:endParaRPr lang="en-GB"/>
        </a:p>
      </dgm:t>
    </dgm:pt>
    <dgm:pt modelId="{03A1E7B4-79BC-4E8F-83BA-259BF6086CCB}" type="sibTrans" cxnId="{7295D42E-8537-48D4-8280-2B827F8891B2}">
      <dgm:prSet/>
      <dgm:spPr/>
      <dgm:t>
        <a:bodyPr/>
        <a:lstStyle/>
        <a:p>
          <a:endParaRPr lang="en-GB"/>
        </a:p>
      </dgm:t>
    </dgm:pt>
    <dgm:pt modelId="{C7C00932-50D6-4289-BB7C-788D8094F781}" type="pres">
      <dgm:prSet presAssocID="{DDACCB16-A97F-4AE7-BD91-9707F88F1702}" presName="compositeShape" presStyleCnt="0">
        <dgm:presLayoutVars>
          <dgm:chMax val="9"/>
          <dgm:dir/>
          <dgm:resizeHandles val="exact"/>
        </dgm:presLayoutVars>
      </dgm:prSet>
      <dgm:spPr/>
      <dgm:t>
        <a:bodyPr/>
        <a:lstStyle/>
        <a:p>
          <a:endParaRPr lang="en-GB"/>
        </a:p>
      </dgm:t>
    </dgm:pt>
    <dgm:pt modelId="{6CE2A82E-78D8-4AA1-9997-FA861DC45FCE}" type="pres">
      <dgm:prSet presAssocID="{DDACCB16-A97F-4AE7-BD91-9707F88F1702}" presName="triangle1" presStyleLbl="node1" presStyleIdx="0" presStyleCnt="4">
        <dgm:presLayoutVars>
          <dgm:bulletEnabled val="1"/>
        </dgm:presLayoutVars>
      </dgm:prSet>
      <dgm:spPr/>
      <dgm:t>
        <a:bodyPr/>
        <a:lstStyle/>
        <a:p>
          <a:endParaRPr lang="en-GB"/>
        </a:p>
      </dgm:t>
    </dgm:pt>
    <dgm:pt modelId="{402A8876-6D7F-4D19-8F3D-9BE49D0BE090}" type="pres">
      <dgm:prSet presAssocID="{DDACCB16-A97F-4AE7-BD91-9707F88F1702}" presName="triangle2" presStyleLbl="node1" presStyleIdx="1" presStyleCnt="4">
        <dgm:presLayoutVars>
          <dgm:bulletEnabled val="1"/>
        </dgm:presLayoutVars>
      </dgm:prSet>
      <dgm:spPr/>
      <dgm:t>
        <a:bodyPr/>
        <a:lstStyle/>
        <a:p>
          <a:endParaRPr lang="en-GB"/>
        </a:p>
      </dgm:t>
    </dgm:pt>
    <dgm:pt modelId="{345CFC21-535E-4D1D-A1B2-2506225BE7BD}" type="pres">
      <dgm:prSet presAssocID="{DDACCB16-A97F-4AE7-BD91-9707F88F1702}" presName="triangle3" presStyleLbl="node1" presStyleIdx="2" presStyleCnt="4">
        <dgm:presLayoutVars>
          <dgm:bulletEnabled val="1"/>
        </dgm:presLayoutVars>
      </dgm:prSet>
      <dgm:spPr/>
      <dgm:t>
        <a:bodyPr/>
        <a:lstStyle/>
        <a:p>
          <a:endParaRPr lang="en-GB"/>
        </a:p>
      </dgm:t>
    </dgm:pt>
    <dgm:pt modelId="{9C8B428A-02B9-4336-8CE1-BA240C7BD6D4}" type="pres">
      <dgm:prSet presAssocID="{DDACCB16-A97F-4AE7-BD91-9707F88F1702}" presName="triangle4" presStyleLbl="node1" presStyleIdx="3" presStyleCnt="4">
        <dgm:presLayoutVars>
          <dgm:bulletEnabled val="1"/>
        </dgm:presLayoutVars>
      </dgm:prSet>
      <dgm:spPr/>
      <dgm:t>
        <a:bodyPr/>
        <a:lstStyle/>
        <a:p>
          <a:endParaRPr lang="en-GB"/>
        </a:p>
      </dgm:t>
    </dgm:pt>
  </dgm:ptLst>
  <dgm:cxnLst>
    <dgm:cxn modelId="{C4E21589-0A0C-48C9-B778-CA55B1A17848}" type="presOf" srcId="{938A20E0-2977-41EA-BD98-C22B2E5B2A5C}" destId="{9C8B428A-02B9-4336-8CE1-BA240C7BD6D4}" srcOrd="0" destOrd="0" presId="urn:microsoft.com/office/officeart/2005/8/layout/pyramid4"/>
    <dgm:cxn modelId="{7295D42E-8537-48D4-8280-2B827F8891B2}" srcId="{DDACCB16-A97F-4AE7-BD91-9707F88F1702}" destId="{08F48176-C6C2-4E03-A868-8265352F91FF}" srcOrd="2" destOrd="0" parTransId="{CFDC7288-346A-4AB1-B045-24CD3680CA50}" sibTransId="{03A1E7B4-79BC-4E8F-83BA-259BF6086CCB}"/>
    <dgm:cxn modelId="{D4BBC0C8-3B8A-4ABB-9224-8C6D2347C86B}" srcId="{DDACCB16-A97F-4AE7-BD91-9707F88F1702}" destId="{938A20E0-2977-41EA-BD98-C22B2E5B2A5C}" srcOrd="3" destOrd="0" parTransId="{0724CEDD-2C28-4658-91FF-9AADEAC20DD3}" sibTransId="{F477D234-8611-43C6-8163-0E3AD3EA84A6}"/>
    <dgm:cxn modelId="{EDB180D3-2027-459B-AED8-79F8E30CD0EB}" srcId="{DDACCB16-A97F-4AE7-BD91-9707F88F1702}" destId="{CFDC4C17-B4A3-402B-8DD0-B7E7A1CE2665}" srcOrd="1" destOrd="0" parTransId="{5E3008B7-8F69-4F0C-AD1E-C70E0305C062}" sibTransId="{0DA15BDD-8C02-4177-B987-23C4D332A976}"/>
    <dgm:cxn modelId="{8AEA0CC2-1A97-4516-B0FE-0A92F82ECF2F}" type="presOf" srcId="{894ED217-942A-4E2E-9CE7-D7FE3BFFED54}" destId="{6CE2A82E-78D8-4AA1-9997-FA861DC45FCE}" srcOrd="0" destOrd="0" presId="urn:microsoft.com/office/officeart/2005/8/layout/pyramid4"/>
    <dgm:cxn modelId="{193CDDFD-E7C3-47D4-8B82-48CB95C956BE}" type="presOf" srcId="{CFDC4C17-B4A3-402B-8DD0-B7E7A1CE2665}" destId="{402A8876-6D7F-4D19-8F3D-9BE49D0BE090}" srcOrd="0" destOrd="0" presId="urn:microsoft.com/office/officeart/2005/8/layout/pyramid4"/>
    <dgm:cxn modelId="{6F9879C7-9ED7-45E2-93CC-873BFAB3AF38}" type="presOf" srcId="{08F48176-C6C2-4E03-A868-8265352F91FF}" destId="{345CFC21-535E-4D1D-A1B2-2506225BE7BD}" srcOrd="0" destOrd="0" presId="urn:microsoft.com/office/officeart/2005/8/layout/pyramid4"/>
    <dgm:cxn modelId="{CB3666E2-A1F7-4796-82DA-D105236E0E37}" type="presOf" srcId="{DDACCB16-A97F-4AE7-BD91-9707F88F1702}" destId="{C7C00932-50D6-4289-BB7C-788D8094F781}" srcOrd="0" destOrd="0" presId="urn:microsoft.com/office/officeart/2005/8/layout/pyramid4"/>
    <dgm:cxn modelId="{F0D27D8E-B81D-403E-8C56-1E6F8F2547EC}" srcId="{DDACCB16-A97F-4AE7-BD91-9707F88F1702}" destId="{894ED217-942A-4E2E-9CE7-D7FE3BFFED54}" srcOrd="0" destOrd="0" parTransId="{0E31CBB5-35C9-4F7F-88A8-446173ADC26A}" sibTransId="{3FE477C9-D35F-4B5A-B4FA-1D112311BBDE}"/>
    <dgm:cxn modelId="{F7F37DB8-C702-4688-9BAE-D5B022B7DC6B}" type="presParOf" srcId="{C7C00932-50D6-4289-BB7C-788D8094F781}" destId="{6CE2A82E-78D8-4AA1-9997-FA861DC45FCE}" srcOrd="0" destOrd="0" presId="urn:microsoft.com/office/officeart/2005/8/layout/pyramid4"/>
    <dgm:cxn modelId="{C2F11204-8B2C-42B1-9FE6-D174D0E4BB47}" type="presParOf" srcId="{C7C00932-50D6-4289-BB7C-788D8094F781}" destId="{402A8876-6D7F-4D19-8F3D-9BE49D0BE090}" srcOrd="1" destOrd="0" presId="urn:microsoft.com/office/officeart/2005/8/layout/pyramid4"/>
    <dgm:cxn modelId="{2E40B099-69DF-4C47-8846-8D236B48D11B}" type="presParOf" srcId="{C7C00932-50D6-4289-BB7C-788D8094F781}" destId="{345CFC21-535E-4D1D-A1B2-2506225BE7BD}" srcOrd="2" destOrd="0" presId="urn:microsoft.com/office/officeart/2005/8/layout/pyramid4"/>
    <dgm:cxn modelId="{C1777866-08B9-4250-8F6E-7BFA19C541A0}" type="presParOf" srcId="{C7C00932-50D6-4289-BB7C-788D8094F781}" destId="{9C8B428A-02B9-4336-8CE1-BA240C7BD6D4}" srcOrd="3" destOrd="0" presId="urn:microsoft.com/office/officeart/2005/8/layout/pyramid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71E4610-9C7F-4FC1-B45C-3246453F732B}">
      <dsp:nvSpPr>
        <dsp:cNvPr id="0" name=""/>
        <dsp:cNvSpPr/>
      </dsp:nvSpPr>
      <dsp:spPr>
        <a:xfrm>
          <a:off x="0" y="220817"/>
          <a:ext cx="8280920" cy="57528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lvl="0" algn="l" defTabSz="889000">
            <a:lnSpc>
              <a:spcPct val="90000"/>
            </a:lnSpc>
            <a:spcBef>
              <a:spcPct val="0"/>
            </a:spcBef>
            <a:spcAft>
              <a:spcPct val="35000"/>
            </a:spcAft>
          </a:pPr>
          <a:r>
            <a:rPr lang="en-GB" sz="2000" kern="1200" dirty="0" smtClean="0">
              <a:latin typeface="Calibri" panose="020F0502020204030204" pitchFamily="34" charset="0"/>
            </a:rPr>
            <a:t>Global growth expected to pick-up modestly </a:t>
          </a:r>
          <a:r>
            <a:rPr lang="en-GB" sz="2000" kern="1200" smtClean="0">
              <a:latin typeface="Calibri" panose="020F0502020204030204" pitchFamily="34" charset="0"/>
            </a:rPr>
            <a:t>with upside </a:t>
          </a:r>
          <a:r>
            <a:rPr lang="en-GB" sz="2000" kern="1200" dirty="0" smtClean="0">
              <a:latin typeface="Calibri" panose="020F0502020204030204" pitchFamily="34" charset="0"/>
            </a:rPr>
            <a:t>risks</a:t>
          </a:r>
        </a:p>
      </dsp:txBody>
      <dsp:txXfrm>
        <a:off x="28083" y="248900"/>
        <a:ext cx="8224754" cy="519119"/>
      </dsp:txXfrm>
    </dsp:sp>
    <dsp:sp modelId="{59778523-FD02-412B-8EED-12620C0515E9}">
      <dsp:nvSpPr>
        <dsp:cNvPr id="0" name=""/>
        <dsp:cNvSpPr/>
      </dsp:nvSpPr>
      <dsp:spPr>
        <a:xfrm>
          <a:off x="0" y="796102"/>
          <a:ext cx="8280920" cy="828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62919" tIns="25400" rIns="142240" bIns="25400" numCol="1" spcCol="1270" anchor="t" anchorCtr="0">
          <a:noAutofit/>
        </a:bodyPr>
        <a:lstStyle/>
        <a:p>
          <a:pPr marL="171450" lvl="1" indent="-171450" algn="l" defTabSz="711200">
            <a:lnSpc>
              <a:spcPct val="90000"/>
            </a:lnSpc>
            <a:spcBef>
              <a:spcPct val="0"/>
            </a:spcBef>
            <a:spcAft>
              <a:spcPct val="20000"/>
            </a:spcAft>
            <a:buChar char="••"/>
          </a:pPr>
          <a:r>
            <a:rPr lang="en-GB" sz="1600" kern="1200" dirty="0" smtClean="0">
              <a:solidFill>
                <a:schemeClr val="bg2">
                  <a:lumMod val="10000"/>
                </a:schemeClr>
              </a:solidFill>
              <a:latin typeface="Calibri" panose="020F0502020204030204" pitchFamily="34" charset="0"/>
            </a:rPr>
            <a:t>Confidence is increasing and investment and trade are picking up from low levels</a:t>
          </a:r>
        </a:p>
        <a:p>
          <a:pPr marL="171450" lvl="1" indent="-171450" algn="l" defTabSz="711200">
            <a:lnSpc>
              <a:spcPct val="90000"/>
            </a:lnSpc>
            <a:spcBef>
              <a:spcPct val="0"/>
            </a:spcBef>
            <a:spcAft>
              <a:spcPct val="20000"/>
            </a:spcAft>
            <a:buChar char="••"/>
          </a:pPr>
          <a:r>
            <a:rPr lang="en-US" sz="1600" kern="1200" dirty="0" smtClean="0">
              <a:solidFill>
                <a:schemeClr val="bg2">
                  <a:lumMod val="10000"/>
                </a:schemeClr>
              </a:solidFill>
              <a:latin typeface="Calibri" panose="020F0502020204030204" pitchFamily="34" charset="0"/>
            </a:rPr>
            <a:t>Growth is broad based; recovery in commodity producers helps the modest global upturn</a:t>
          </a:r>
          <a:endParaRPr lang="en-GB" sz="1600" kern="1200" dirty="0" smtClean="0">
            <a:solidFill>
              <a:schemeClr val="bg2">
                <a:lumMod val="10000"/>
              </a:schemeClr>
            </a:solidFill>
            <a:latin typeface="Calibri" panose="020F0502020204030204" pitchFamily="34" charset="0"/>
          </a:endParaRPr>
        </a:p>
        <a:p>
          <a:pPr marL="171450" lvl="1" indent="-171450" algn="l" defTabSz="711200">
            <a:lnSpc>
              <a:spcPct val="90000"/>
            </a:lnSpc>
            <a:spcBef>
              <a:spcPct val="0"/>
            </a:spcBef>
            <a:spcAft>
              <a:spcPct val="20000"/>
            </a:spcAft>
            <a:buChar char="••"/>
          </a:pPr>
          <a:r>
            <a:rPr lang="en-GB" sz="1600" kern="1200" dirty="0" smtClean="0">
              <a:solidFill>
                <a:schemeClr val="bg2">
                  <a:lumMod val="10000"/>
                </a:schemeClr>
              </a:solidFill>
              <a:latin typeface="Calibri" panose="020F0502020204030204" pitchFamily="34" charset="0"/>
            </a:rPr>
            <a:t>Signs of rising demand for high-tech goods and investment to upgrade capital</a:t>
          </a:r>
        </a:p>
      </dsp:txBody>
      <dsp:txXfrm>
        <a:off x="0" y="796102"/>
        <a:ext cx="8280920" cy="828000"/>
      </dsp:txXfrm>
    </dsp:sp>
    <dsp:sp modelId="{86CD86FE-BCDD-4F86-8258-550D41ABF992}">
      <dsp:nvSpPr>
        <dsp:cNvPr id="0" name=""/>
        <dsp:cNvSpPr/>
      </dsp:nvSpPr>
      <dsp:spPr>
        <a:xfrm>
          <a:off x="0" y="1624102"/>
          <a:ext cx="8280920" cy="540238"/>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lvl="0" algn="l" defTabSz="889000">
            <a:lnSpc>
              <a:spcPct val="90000"/>
            </a:lnSpc>
            <a:spcBef>
              <a:spcPct val="0"/>
            </a:spcBef>
            <a:spcAft>
              <a:spcPct val="35000"/>
            </a:spcAft>
          </a:pPr>
          <a:r>
            <a:rPr lang="en-GB" sz="2000" kern="1200" dirty="0" smtClean="0">
              <a:latin typeface="Calibri" panose="020F0502020204030204" pitchFamily="34" charset="0"/>
            </a:rPr>
            <a:t>Productivity and wage growth remain subdued; financial stability risks persist</a:t>
          </a:r>
        </a:p>
      </dsp:txBody>
      <dsp:txXfrm>
        <a:off x="26372" y="1650474"/>
        <a:ext cx="8228176" cy="487494"/>
      </dsp:txXfrm>
    </dsp:sp>
    <dsp:sp modelId="{4D106606-0D66-4779-A085-E8266C34AB2A}">
      <dsp:nvSpPr>
        <dsp:cNvPr id="0" name=""/>
        <dsp:cNvSpPr/>
      </dsp:nvSpPr>
      <dsp:spPr>
        <a:xfrm>
          <a:off x="0" y="2164340"/>
          <a:ext cx="8280920" cy="5485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62919" tIns="25400" rIns="142240" bIns="25400" numCol="1" spcCol="1270" anchor="t" anchorCtr="0">
          <a:noAutofit/>
        </a:bodyPr>
        <a:lstStyle/>
        <a:p>
          <a:pPr marL="171450" lvl="1" indent="-171450" algn="l" defTabSz="711200">
            <a:lnSpc>
              <a:spcPct val="90000"/>
            </a:lnSpc>
            <a:spcBef>
              <a:spcPct val="0"/>
            </a:spcBef>
            <a:spcAft>
              <a:spcPct val="20000"/>
            </a:spcAft>
            <a:buChar char="••"/>
          </a:pPr>
          <a:r>
            <a:rPr lang="en-GB" sz="1600" kern="1200" dirty="0" smtClean="0">
              <a:solidFill>
                <a:schemeClr val="bg2">
                  <a:lumMod val="10000"/>
                </a:schemeClr>
              </a:solidFill>
              <a:latin typeface="Calibri" panose="020F0502020204030204" pitchFamily="34" charset="0"/>
            </a:rPr>
            <a:t>Headline employment indicators are improving but labour markets have not recovered</a:t>
          </a:r>
        </a:p>
        <a:p>
          <a:pPr marL="171450" lvl="1" indent="-171450" algn="l" defTabSz="711200">
            <a:lnSpc>
              <a:spcPct val="90000"/>
            </a:lnSpc>
            <a:spcBef>
              <a:spcPct val="0"/>
            </a:spcBef>
            <a:spcAft>
              <a:spcPct val="20000"/>
            </a:spcAft>
            <a:buChar char="••"/>
          </a:pPr>
          <a:r>
            <a:rPr lang="en-US" sz="1600" kern="1200" dirty="0" smtClean="0">
              <a:solidFill>
                <a:schemeClr val="bg2">
                  <a:lumMod val="10000"/>
                </a:schemeClr>
              </a:solidFill>
              <a:latin typeface="Calibri" panose="020F0502020204030204" pitchFamily="34" charset="0"/>
            </a:rPr>
            <a:t>Financial risks from high and rising credit growth, house price increases, interest rate gaps</a:t>
          </a:r>
          <a:endParaRPr lang="en-GB" sz="1600" kern="1200" dirty="0" smtClean="0">
            <a:solidFill>
              <a:schemeClr val="bg2">
                <a:lumMod val="10000"/>
              </a:schemeClr>
            </a:solidFill>
            <a:latin typeface="Calibri" panose="020F0502020204030204" pitchFamily="34" charset="0"/>
          </a:endParaRPr>
        </a:p>
      </dsp:txBody>
      <dsp:txXfrm>
        <a:off x="0" y="2164340"/>
        <a:ext cx="8280920" cy="548550"/>
      </dsp:txXfrm>
    </dsp:sp>
    <dsp:sp modelId="{9CFD6359-D6AA-429D-ADFE-D05F20309091}">
      <dsp:nvSpPr>
        <dsp:cNvPr id="0" name=""/>
        <dsp:cNvSpPr/>
      </dsp:nvSpPr>
      <dsp:spPr>
        <a:xfrm>
          <a:off x="0" y="2729830"/>
          <a:ext cx="8280920" cy="58343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lvl="0" algn="l" defTabSz="889000">
            <a:lnSpc>
              <a:spcPct val="90000"/>
            </a:lnSpc>
            <a:spcBef>
              <a:spcPct val="0"/>
            </a:spcBef>
            <a:spcAft>
              <a:spcPct val="35000"/>
            </a:spcAft>
          </a:pPr>
          <a:r>
            <a:rPr lang="en-GB" sz="2000" kern="1200" dirty="0" smtClean="0">
              <a:latin typeface="Calibri" panose="020F0502020204030204" pitchFamily="34" charset="0"/>
            </a:rPr>
            <a:t>More needs to be done to share the gains from structural trends and trade</a:t>
          </a:r>
        </a:p>
      </dsp:txBody>
      <dsp:txXfrm>
        <a:off x="28481" y="2758311"/>
        <a:ext cx="8223958" cy="526477"/>
      </dsp:txXfrm>
    </dsp:sp>
    <dsp:sp modelId="{E865CCEF-EA47-42BC-ABAD-CF3E5C00DE2D}">
      <dsp:nvSpPr>
        <dsp:cNvPr id="0" name=""/>
        <dsp:cNvSpPr/>
      </dsp:nvSpPr>
      <dsp:spPr>
        <a:xfrm>
          <a:off x="0" y="3313264"/>
          <a:ext cx="8280920" cy="5485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62919" tIns="25400" rIns="142240" bIns="25400" numCol="1" spcCol="1270" anchor="t" anchorCtr="0">
          <a:noAutofit/>
        </a:bodyPr>
        <a:lstStyle/>
        <a:p>
          <a:pPr marL="171450" lvl="1" indent="-171450" algn="l" defTabSz="711200">
            <a:lnSpc>
              <a:spcPct val="90000"/>
            </a:lnSpc>
            <a:spcBef>
              <a:spcPct val="0"/>
            </a:spcBef>
            <a:spcAft>
              <a:spcPct val="20000"/>
            </a:spcAft>
            <a:buChar char="••"/>
          </a:pPr>
          <a:r>
            <a:rPr lang="en-GB" sz="1600" kern="1200" dirty="0" smtClean="0">
              <a:solidFill>
                <a:schemeClr val="bg2">
                  <a:lumMod val="10000"/>
                </a:schemeClr>
              </a:solidFill>
              <a:latin typeface="Calibri" panose="020F0502020204030204" pitchFamily="34" charset="0"/>
            </a:rPr>
            <a:t>Changes to technology, consumer preferences and trade are occurring simultaneously</a:t>
          </a:r>
        </a:p>
        <a:p>
          <a:pPr marL="171450" lvl="1" indent="-171450" algn="l" defTabSz="711200">
            <a:lnSpc>
              <a:spcPct val="90000"/>
            </a:lnSpc>
            <a:spcBef>
              <a:spcPct val="0"/>
            </a:spcBef>
            <a:spcAft>
              <a:spcPct val="20000"/>
            </a:spcAft>
            <a:buChar char="••"/>
          </a:pPr>
          <a:r>
            <a:rPr lang="en-GB" sz="1600" kern="1200" dirty="0" smtClean="0">
              <a:solidFill>
                <a:schemeClr val="bg2">
                  <a:lumMod val="10000"/>
                </a:schemeClr>
              </a:solidFill>
              <a:latin typeface="Calibri" panose="020F0502020204030204" pitchFamily="34" charset="0"/>
            </a:rPr>
            <a:t>Job losses from shifts in activity are concentrated in manufacturing and specific regions</a:t>
          </a:r>
        </a:p>
      </dsp:txBody>
      <dsp:txXfrm>
        <a:off x="0" y="3313264"/>
        <a:ext cx="8280920" cy="548550"/>
      </dsp:txXfrm>
    </dsp:sp>
    <dsp:sp modelId="{2B45D7B7-0834-4D13-8778-0BFAB98C78C2}">
      <dsp:nvSpPr>
        <dsp:cNvPr id="0" name=""/>
        <dsp:cNvSpPr/>
      </dsp:nvSpPr>
      <dsp:spPr>
        <a:xfrm>
          <a:off x="0" y="3861821"/>
          <a:ext cx="8280920" cy="55152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lvl="0" algn="l" defTabSz="889000">
            <a:lnSpc>
              <a:spcPct val="90000"/>
            </a:lnSpc>
            <a:spcBef>
              <a:spcPct val="0"/>
            </a:spcBef>
            <a:spcAft>
              <a:spcPct val="35000"/>
            </a:spcAft>
          </a:pPr>
          <a:r>
            <a:rPr lang="en-GB" sz="2000" kern="1200" dirty="0" smtClean="0">
              <a:latin typeface="Calibri" panose="020F0502020204030204" pitchFamily="34" charset="0"/>
            </a:rPr>
            <a:t>An integrated policy approach is needed to make globalisation work for all</a:t>
          </a:r>
        </a:p>
      </dsp:txBody>
      <dsp:txXfrm>
        <a:off x="26923" y="3888744"/>
        <a:ext cx="8227074" cy="497679"/>
      </dsp:txXfrm>
    </dsp:sp>
    <dsp:sp modelId="{466AD614-18F8-4250-8704-A12C186A2560}">
      <dsp:nvSpPr>
        <dsp:cNvPr id="0" name=""/>
        <dsp:cNvSpPr/>
      </dsp:nvSpPr>
      <dsp:spPr>
        <a:xfrm>
          <a:off x="0" y="4413339"/>
          <a:ext cx="8280920" cy="828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62919" tIns="25400" rIns="142240" bIns="25400" numCol="1" spcCol="1270" anchor="t" anchorCtr="0">
          <a:noAutofit/>
        </a:bodyPr>
        <a:lstStyle/>
        <a:p>
          <a:pPr marL="171450" lvl="1" indent="-171450" algn="l" defTabSz="711200" eaLnBrk="1" latinLnBrk="0">
            <a:lnSpc>
              <a:spcPct val="90000"/>
            </a:lnSpc>
            <a:spcBef>
              <a:spcPct val="0"/>
            </a:spcBef>
            <a:spcAft>
              <a:spcPct val="20000"/>
            </a:spcAft>
            <a:buChar char="••"/>
          </a:pPr>
          <a:r>
            <a:rPr lang="en-GB" sz="1600" kern="1200" dirty="0" smtClean="0">
              <a:solidFill>
                <a:schemeClr val="bg2">
                  <a:lumMod val="10000"/>
                </a:schemeClr>
              </a:solidFill>
              <a:latin typeface="Calibri" panose="020F0502020204030204" pitchFamily="34" charset="0"/>
            </a:rPr>
            <a:t>A more level playing field for the international system</a:t>
          </a:r>
        </a:p>
        <a:p>
          <a:pPr marL="171450" lvl="1" indent="-171450" algn="l" defTabSz="711200" eaLnBrk="1" latinLnBrk="0">
            <a:lnSpc>
              <a:spcPct val="90000"/>
            </a:lnSpc>
            <a:spcBef>
              <a:spcPct val="0"/>
            </a:spcBef>
            <a:spcAft>
              <a:spcPct val="20000"/>
            </a:spcAft>
            <a:buChar char="••"/>
          </a:pPr>
          <a:r>
            <a:rPr lang="en-GB" sz="1600" kern="1200" dirty="0" smtClean="0">
              <a:solidFill>
                <a:schemeClr val="bg2">
                  <a:lumMod val="10000"/>
                </a:schemeClr>
              </a:solidFill>
              <a:latin typeface="Calibri" panose="020F0502020204030204" pitchFamily="34" charset="0"/>
            </a:rPr>
            <a:t>Domestic reforms to boost competition, job creation, skills and innovation</a:t>
          </a:r>
        </a:p>
        <a:p>
          <a:pPr marL="171450" lvl="1" indent="-171450" algn="l" defTabSz="711200" eaLnBrk="1" latinLnBrk="0">
            <a:lnSpc>
              <a:spcPct val="90000"/>
            </a:lnSpc>
            <a:spcBef>
              <a:spcPct val="0"/>
            </a:spcBef>
            <a:spcAft>
              <a:spcPct val="20000"/>
            </a:spcAft>
            <a:buChar char="••"/>
          </a:pPr>
          <a:r>
            <a:rPr lang="en-GB" sz="1600" kern="1200" dirty="0" smtClean="0">
              <a:solidFill>
                <a:schemeClr val="bg2">
                  <a:lumMod val="10000"/>
                </a:schemeClr>
              </a:solidFill>
              <a:latin typeface="Calibri" panose="020F0502020204030204" pitchFamily="34" charset="0"/>
            </a:rPr>
            <a:t>Targeted policies to help people who are left behind seize new opportunities</a:t>
          </a:r>
        </a:p>
      </dsp:txBody>
      <dsp:txXfrm>
        <a:off x="0" y="4413339"/>
        <a:ext cx="8280920" cy="82800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pyramid4">
  <dgm:title val=""/>
  <dgm:desc val=""/>
  <dgm:catLst>
    <dgm:cat type="pyramid" pri="4000"/>
    <dgm:cat type="relationship" pri="9000"/>
  </dgm:catLst>
  <dgm:samp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sampData>
  <dgm:styleData useDef="1">
    <dgm:dataModel>
      <dgm:ptLst/>
      <dgm:bg/>
      <dgm:whole/>
    </dgm:dataModel>
  </dgm:styleData>
  <dgm:clrData useDef="1">
    <dgm:dataModel>
      <dgm:ptLst/>
      <dgm:bg/>
      <dgm:whole/>
    </dgm:dataModel>
  </dgm:clrData>
  <dgm:layoutNode name="compositeShape">
    <dgm:varLst>
      <dgm:chMax val="9"/>
      <dgm:dir/>
      <dgm:resizeHandles val="exact"/>
    </dgm:varLst>
    <dgm:alg type="composite">
      <dgm:param type="ar" val="1"/>
    </dgm:alg>
    <dgm:shape xmlns:r="http://schemas.openxmlformats.org/officeDocument/2006/relationships" r:blip="">
      <dgm:adjLst/>
    </dgm:shape>
    <dgm:presOf/>
    <dgm:choose name="Name0">
      <dgm:if name="Name1" axis="ch" ptType="node" func="cnt" op="lte" val="4">
        <dgm:choose name="Name2">
          <dgm:if name="Name3" axis="ch" ptType="node" func="cnt" op="equ" val="1">
            <dgm:constrLst>
              <dgm:constr type="primFontSz" for="ch" ptType="node" op="equ" val="65"/>
              <dgm:constr type="t" for="ch" forName="triangle1"/>
              <dgm:constr type="l" for="ch" forName="triangle1"/>
              <dgm:constr type="h" for="ch" forName="triangle1" refType="h"/>
              <dgm:constr type="w" for="ch" forName="triangle1" refType="h"/>
            </dgm:constrLst>
          </dgm:if>
          <dgm:else name="Name4">
            <dgm:constrLst>
              <dgm:constr type="primFontSz" for="ch" ptType="node" op="equ" val="65"/>
              <dgm:constr type="t" for="ch" forName="triangle1"/>
              <dgm:constr type="l" for="ch" forName="triangle1" refType="h" fact="0.25"/>
              <dgm:constr type="h" for="ch" forName="triangle1" refType="h" fact="0.5"/>
              <dgm:constr type="w" for="ch" forName="triangle1" refType="h" fact="0.5"/>
              <dgm:constr type="t" for="ch" forName="triangle2" refType="h" fact="0.5"/>
              <dgm:constr type="l" for="ch" forName="triangle2"/>
              <dgm:constr type="h" for="ch" forName="triangle2" refType="h" fact="0.5"/>
              <dgm:constr type="w" for="ch" forName="triangle2" refType="h" fact="0.5"/>
              <dgm:constr type="t" for="ch" forName="triangle3" refType="h" fact="0.5"/>
              <dgm:constr type="l" for="ch" forName="triangle3" refType="h" fact="0.25"/>
              <dgm:constr type="h" for="ch" forName="triangle3" refType="h" fact="0.5"/>
              <dgm:constr type="w" for="ch" forName="triangle3" refType="h" fact="0.5"/>
              <dgm:constr type="t" for="ch" forName="triangle4" refType="h" fact="0.5"/>
              <dgm:constr type="l" for="ch" forName="triangle4" refType="h" fact="0.5"/>
              <dgm:constr type="h" for="ch" forName="triangle4" refType="h" fact="0.5"/>
              <dgm:constr type="w" for="ch" forName="triangle4" refType="h" fact="0.5"/>
            </dgm:constrLst>
          </dgm:else>
        </dgm:choose>
      </dgm:if>
      <dgm:else name="Name5">
        <dgm:constrLst>
          <dgm:constr type="primFontSz" for="ch" ptType="node" op="equ" val="65"/>
          <dgm:constr type="t" for="ch" forName="triangle1"/>
          <dgm:constr type="l" for="ch" forName="triangle1" refType="h" fact="0.33"/>
          <dgm:constr type="h" for="ch" forName="triangle1" refType="h" fact="0.33"/>
          <dgm:constr type="w" for="ch" forName="triangle1" refType="h" fact="0.33"/>
          <dgm:constr type="t" for="ch" forName="triangle2" refType="h" fact="0.33"/>
          <dgm:constr type="l" for="ch" forName="triangle2" refType="h" fact="0.165"/>
          <dgm:constr type="h" for="ch" forName="triangle2" refType="h" fact="0.33"/>
          <dgm:constr type="w" for="ch" forName="triangle2" refType="h" fact="0.33"/>
          <dgm:constr type="t" for="ch" forName="triangle3" refType="h" fact="0.33"/>
          <dgm:constr type="l" for="ch" forName="triangle3" refType="h" fact="0.33"/>
          <dgm:constr type="h" for="ch" forName="triangle3" refType="h" fact="0.33"/>
          <dgm:constr type="w" for="ch" forName="triangle3" refType="h" fact="0.33"/>
          <dgm:constr type="t" for="ch" forName="triangle4" refType="h" fact="0.33"/>
          <dgm:constr type="l" for="ch" forName="triangle4" refType="h" fact="0.495"/>
          <dgm:constr type="h" for="ch" forName="triangle4" refType="h" fact="0.33"/>
          <dgm:constr type="w" for="ch" forName="triangle4" refType="h" fact="0.33"/>
          <dgm:constr type="t" for="ch" forName="triangle5" refType="h" fact="0.66"/>
          <dgm:constr type="l" for="ch" forName="triangle5"/>
          <dgm:constr type="h" for="ch" forName="triangle5" refType="h" fact="0.33"/>
          <dgm:constr type="w" for="ch" forName="triangle5" refType="h" fact="0.33"/>
          <dgm:constr type="t" for="ch" forName="triangle6" refType="h" fact="0.66"/>
          <dgm:constr type="l" for="ch" forName="triangle6" refType="h" fact="0.165"/>
          <dgm:constr type="h" for="ch" forName="triangle6" refType="h" fact="0.33"/>
          <dgm:constr type="w" for="ch" forName="triangle6" refType="h" fact="0.33"/>
          <dgm:constr type="t" for="ch" forName="triangle7" refType="h" fact="0.66"/>
          <dgm:constr type="l" for="ch" forName="triangle7" refType="h" fact="0.33"/>
          <dgm:constr type="h" for="ch" forName="triangle7" refType="h" fact="0.33"/>
          <dgm:constr type="w" for="ch" forName="triangle7" refType="h" fact="0.33"/>
          <dgm:constr type="t" for="ch" forName="triangle8" refType="h" fact="0.66"/>
          <dgm:constr type="l" for="ch" forName="triangle8" refType="h" fact="0.495"/>
          <dgm:constr type="h" for="ch" forName="triangle8" refType="h" fact="0.33"/>
          <dgm:constr type="w" for="ch" forName="triangle8" refType="h" fact="0.33"/>
          <dgm:constr type="t" for="ch" forName="triangle9" refType="h" fact="0.66"/>
          <dgm:constr type="l" for="ch" forName="triangle9" refType="h" fact="0.66"/>
          <dgm:constr type="h" for="ch" forName="triangle9" refType="h" fact="0.33"/>
          <dgm:constr type="w" for="ch" forName="triangle9" refType="h" fact="0.33"/>
        </dgm:constrLst>
      </dgm:else>
    </dgm:choose>
    <dgm:ruleLst/>
    <dgm:choose name="Name6">
      <dgm:if name="Name7" axis="ch" ptType="node" func="cnt" op="gte" val="1">
        <dgm:layoutNode name="triangle1" styleLbl="node1">
          <dgm:varLst>
            <dgm:bulletEnabled val="1"/>
          </dgm:varLst>
          <dgm:alg type="tx">
            <dgm:param type="txAnchorVertCh" val="mid"/>
          </dgm:alg>
          <dgm:shape xmlns:r="http://schemas.openxmlformats.org/officeDocument/2006/relationships" type="triangle" r:blip="">
            <dgm:adjLst/>
          </dgm:shape>
          <dgm:presOf axis="ch desOrSelf" ptType="node node" st="1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8"/>
    </dgm:choose>
    <dgm:choose name="Name9">
      <dgm:if name="Name10" axis="ch" ptType="node" func="cnt" op="gte" val="2">
        <dgm:layoutNode name="triangle2" styleLbl="node1">
          <dgm:varLst>
            <dgm:bulletEnabled val="1"/>
          </dgm:varLst>
          <dgm:alg type="tx">
            <dgm:param type="txAnchorVertCh" val="mid"/>
          </dgm:alg>
          <dgm:shape xmlns:r="http://schemas.openxmlformats.org/officeDocument/2006/relationships" type="triangle" r:blip="">
            <dgm:adjLst/>
          </dgm:shape>
          <dgm:choose name="Name11">
            <dgm:if name="Name12" func="var" arg="dir" op="equ" val="norm">
              <dgm:presOf axis="ch desOrSelf" ptType="node node" st="2 1" cnt="1 0"/>
            </dgm:if>
            <dgm:else name="Name13">
              <dgm:presOf axis="ch desOrSelf" ptType="node node" st="4 1" cnt="1 0"/>
            </dgm:else>
          </dgm:choos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triangle3" styleLbl="node1">
          <dgm:varLst>
            <dgm:bulletEnabled val="1"/>
          </dgm:varLst>
          <dgm:alg type="tx">
            <dgm:param type="txAnchorVertCh" val="mid"/>
          </dgm:alg>
          <dgm:shape xmlns:r="http://schemas.openxmlformats.org/officeDocument/2006/relationships" rot="180" type="triangle" r:blip="">
            <dgm:adjLst/>
          </dgm:shape>
          <dgm:presOf axis="ch desOrSelf" ptType="node node" st="3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triangle4" styleLbl="node1">
          <dgm:varLst>
            <dgm:bulletEnabled val="1"/>
          </dgm:varLst>
          <dgm:alg type="tx">
            <dgm:param type="txAnchorVertCh" val="mid"/>
          </dgm:alg>
          <dgm:shape xmlns:r="http://schemas.openxmlformats.org/officeDocument/2006/relationships" type="triangle" r:blip="">
            <dgm:adjLst/>
          </dgm:shape>
          <dgm:choose name="Name14">
            <dgm:if name="Name15" func="var" arg="dir" op="equ" val="norm">
              <dgm:presOf axis="ch desOrSelf" ptType="node node" st="4 1" cnt="1 0"/>
            </dgm:if>
            <dgm:else name="Name16">
              <dgm:presOf axis="ch desOrSelf" ptType="node node" st="2 1" cnt="1 0"/>
            </dgm:else>
          </dgm:choos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17"/>
    </dgm:choose>
    <dgm:choose name="Name18">
      <dgm:if name="Name19" axis="ch" ptType="node" func="cnt" op="gte" val="5">
        <dgm:layoutNode name="triangle5" styleLbl="node1">
          <dgm:varLst>
            <dgm:bulletEnabled val="1"/>
          </dgm:varLst>
          <dgm:alg type="tx">
            <dgm:param type="txAnchorVertCh" val="mid"/>
          </dgm:alg>
          <dgm:shape xmlns:r="http://schemas.openxmlformats.org/officeDocument/2006/relationships" type="triangle" r:blip="">
            <dgm:adjLst/>
          </dgm:shape>
          <dgm:choose name="Name20">
            <dgm:if name="Name21" func="var" arg="dir" op="equ" val="norm">
              <dgm:presOf axis="ch desOrSelf" ptType="node node" st="5 1" cnt="1 0"/>
            </dgm:if>
            <dgm:else name="Name22">
              <dgm:presOf axis="ch desOrSelf" ptType="node node" st="9 1" cnt="1 0"/>
            </dgm:else>
          </dgm:choos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triangle6" styleLbl="node1">
          <dgm:varLst>
            <dgm:bulletEnabled val="1"/>
          </dgm:varLst>
          <dgm:alg type="tx">
            <dgm:param type="txAnchorVertCh" val="mid"/>
          </dgm:alg>
          <dgm:shape xmlns:r="http://schemas.openxmlformats.org/officeDocument/2006/relationships" rot="180" type="triangle" r:blip="">
            <dgm:adjLst/>
          </dgm:shape>
          <dgm:choose name="Name23">
            <dgm:if name="Name24" func="var" arg="dir" op="equ" val="norm">
              <dgm:presOf axis="ch desOrSelf" ptType="node node" st="6 1" cnt="1 0"/>
            </dgm:if>
            <dgm:else name="Name25">
              <dgm:presOf axis="ch desOrSelf" ptType="node node" st="8 1" cnt="1 0"/>
            </dgm:else>
          </dgm:choos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triangle7" styleLbl="node1">
          <dgm:varLst>
            <dgm:bulletEnabled val="1"/>
          </dgm:varLst>
          <dgm:alg type="tx">
            <dgm:param type="txAnchorVertCh" val="mid"/>
          </dgm:alg>
          <dgm:shape xmlns:r="http://schemas.openxmlformats.org/officeDocument/2006/relationships" type="triangle" r:blip="">
            <dgm:adjLst/>
          </dgm:shape>
          <dgm:presOf axis="ch desOrSelf" ptType="node node" st="7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triangle8" styleLbl="node1">
          <dgm:varLst>
            <dgm:bulletEnabled val="1"/>
          </dgm:varLst>
          <dgm:alg type="tx">
            <dgm:param type="txAnchorVertCh" val="mid"/>
          </dgm:alg>
          <dgm:shape xmlns:r="http://schemas.openxmlformats.org/officeDocument/2006/relationships" rot="180" type="triangle" r:blip="">
            <dgm:adjLst/>
          </dgm:shape>
          <dgm:choose name="Name26">
            <dgm:if name="Name27" func="var" arg="dir" op="equ" val="norm">
              <dgm:presOf axis="ch desOrSelf" ptType="node node" st="8 1" cnt="1 0"/>
            </dgm:if>
            <dgm:else name="Name28">
              <dgm:presOf axis="ch desOrSelf" ptType="node node" st="6 1" cnt="1 0"/>
            </dgm:else>
          </dgm:choos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triangle9" styleLbl="node1">
          <dgm:varLst>
            <dgm:bulletEnabled val="1"/>
          </dgm:varLst>
          <dgm:alg type="tx">
            <dgm:param type="txAnchorVertCh" val="mid"/>
          </dgm:alg>
          <dgm:shape xmlns:r="http://schemas.openxmlformats.org/officeDocument/2006/relationships" type="triangle" r:blip="">
            <dgm:adjLst/>
          </dgm:shape>
          <dgm:choose name="Name29">
            <dgm:if name="Name30" func="var" arg="dir" op="equ" val="norm">
              <dgm:presOf axis="ch desOrSelf" ptType="node node" st="9 1" cnt="1 0"/>
            </dgm:if>
            <dgm:else name="Name31">
              <dgm:presOf axis="ch desOrSelf" ptType="node node" st="5 1" cnt="1 0"/>
            </dgm:else>
          </dgm:choos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32"/>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drawing1.xml><?xml version="1.0" encoding="utf-8"?>
<c:userShapes xmlns:c="http://schemas.openxmlformats.org/drawingml/2006/chart">
  <cdr:relSizeAnchor xmlns:cdr="http://schemas.openxmlformats.org/drawingml/2006/chartDrawing">
    <cdr:from>
      <cdr:x>0.31343</cdr:x>
      <cdr:y>0.51006</cdr:y>
    </cdr:from>
    <cdr:to>
      <cdr:x>0.46102</cdr:x>
      <cdr:y>0.59425</cdr:y>
    </cdr:to>
    <cdr:sp macro="" textlink="">
      <cdr:nvSpPr>
        <cdr:cNvPr id="2" name="TextBox 1"/>
        <cdr:cNvSpPr txBox="1"/>
      </cdr:nvSpPr>
      <cdr:spPr>
        <a:xfrm xmlns:a="http://schemas.openxmlformats.org/drawingml/2006/main">
          <a:off x="1800200" y="2366005"/>
          <a:ext cx="847695" cy="390530"/>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r>
            <a:rPr lang="en-GB" sz="1400" b="1" dirty="0">
              <a:latin typeface="Arial Narrow" panose="020B0606020202030204" pitchFamily="34" charset="0"/>
            </a:rPr>
            <a:t>1995</a:t>
          </a:r>
        </a:p>
      </cdr:txBody>
    </cdr:sp>
  </cdr:relSizeAnchor>
  <cdr:relSizeAnchor xmlns:cdr="http://schemas.openxmlformats.org/drawingml/2006/chartDrawing">
    <cdr:from>
      <cdr:x>0.08138</cdr:x>
      <cdr:y>0.44963</cdr:y>
    </cdr:from>
    <cdr:to>
      <cdr:x>0.22897</cdr:x>
      <cdr:y>0.53382</cdr:y>
    </cdr:to>
    <cdr:sp macro="" textlink="">
      <cdr:nvSpPr>
        <cdr:cNvPr id="3" name="TextBox 1"/>
        <cdr:cNvSpPr txBox="1"/>
      </cdr:nvSpPr>
      <cdr:spPr>
        <a:xfrm xmlns:a="http://schemas.openxmlformats.org/drawingml/2006/main">
          <a:off x="467440" y="2085676"/>
          <a:ext cx="847694" cy="390530"/>
        </a:xfrm>
        <a:prstGeom xmlns:a="http://schemas.openxmlformats.org/drawingml/2006/main" prst="rect">
          <a:avLst/>
        </a:prstGeom>
      </cdr:spPr>
      <cdr:txBody>
        <a:bodyPr xmlns:a="http://schemas.openxmlformats.org/drawingml/2006/main" wrap="squar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en-GB" sz="1400" b="1" dirty="0">
              <a:latin typeface="Arial Narrow" panose="020B0606020202030204" pitchFamily="34" charset="0"/>
            </a:rPr>
            <a:t>2015</a:t>
          </a:r>
        </a:p>
      </cdr:txBody>
    </cdr: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2944283" cy="495300"/>
          </a:xfrm>
          <a:prstGeom prst="rect">
            <a:avLst/>
          </a:prstGeom>
        </p:spPr>
        <p:txBody>
          <a:bodyPr vert="horz" lIns="91430" tIns="45715" rIns="91430" bIns="45715" rtlCol="0"/>
          <a:lstStyle>
            <a:lvl1pPr algn="l">
              <a:defRPr sz="1200"/>
            </a:lvl1pPr>
          </a:lstStyle>
          <a:p>
            <a:endParaRPr lang="en-GB" dirty="0"/>
          </a:p>
        </p:txBody>
      </p:sp>
      <p:sp>
        <p:nvSpPr>
          <p:cNvPr id="3" name="Date Placeholder 2"/>
          <p:cNvSpPr>
            <a:spLocks noGrp="1"/>
          </p:cNvSpPr>
          <p:nvPr>
            <p:ph type="dt" sz="quarter" idx="1"/>
          </p:nvPr>
        </p:nvSpPr>
        <p:spPr>
          <a:xfrm>
            <a:off x="3848646" y="0"/>
            <a:ext cx="2944283" cy="495300"/>
          </a:xfrm>
          <a:prstGeom prst="rect">
            <a:avLst/>
          </a:prstGeom>
        </p:spPr>
        <p:txBody>
          <a:bodyPr vert="horz" lIns="91430" tIns="45715" rIns="91430" bIns="45715" rtlCol="0"/>
          <a:lstStyle>
            <a:lvl1pPr algn="r">
              <a:defRPr sz="1200"/>
            </a:lvl1pPr>
          </a:lstStyle>
          <a:p>
            <a:fld id="{D9BDB2A1-31CB-4309-9FC4-15F940A51174}" type="datetimeFigureOut">
              <a:rPr lang="en-GB" smtClean="0"/>
              <a:t>07/06/2017</a:t>
            </a:fld>
            <a:endParaRPr lang="en-GB" dirty="0"/>
          </a:p>
        </p:txBody>
      </p:sp>
      <p:sp>
        <p:nvSpPr>
          <p:cNvPr id="4" name="Footer Placeholder 3"/>
          <p:cNvSpPr>
            <a:spLocks noGrp="1"/>
          </p:cNvSpPr>
          <p:nvPr>
            <p:ph type="ftr" sz="quarter" idx="2"/>
          </p:nvPr>
        </p:nvSpPr>
        <p:spPr>
          <a:xfrm>
            <a:off x="1" y="9408981"/>
            <a:ext cx="2944283" cy="495300"/>
          </a:xfrm>
          <a:prstGeom prst="rect">
            <a:avLst/>
          </a:prstGeom>
        </p:spPr>
        <p:txBody>
          <a:bodyPr vert="horz" lIns="91430" tIns="45715" rIns="91430" bIns="45715" rtlCol="0" anchor="b"/>
          <a:lstStyle>
            <a:lvl1pPr algn="l">
              <a:defRPr sz="1200"/>
            </a:lvl1pPr>
          </a:lstStyle>
          <a:p>
            <a:endParaRPr lang="en-GB" dirty="0"/>
          </a:p>
        </p:txBody>
      </p:sp>
      <p:sp>
        <p:nvSpPr>
          <p:cNvPr id="5" name="Slide Number Placeholder 4"/>
          <p:cNvSpPr>
            <a:spLocks noGrp="1"/>
          </p:cNvSpPr>
          <p:nvPr>
            <p:ph type="sldNum" sz="quarter" idx="3"/>
          </p:nvPr>
        </p:nvSpPr>
        <p:spPr>
          <a:xfrm>
            <a:off x="3848646" y="9408981"/>
            <a:ext cx="2944283" cy="495300"/>
          </a:xfrm>
          <a:prstGeom prst="rect">
            <a:avLst/>
          </a:prstGeom>
        </p:spPr>
        <p:txBody>
          <a:bodyPr vert="horz" lIns="91430" tIns="45715" rIns="91430" bIns="45715" rtlCol="0" anchor="b"/>
          <a:lstStyle>
            <a:lvl1pPr algn="r">
              <a:defRPr sz="1200"/>
            </a:lvl1pPr>
          </a:lstStyle>
          <a:p>
            <a:fld id="{86D14058-FEED-42C8-A090-E45E1EA0FF49}" type="slidenum">
              <a:rPr lang="en-GB" smtClean="0"/>
              <a:t>‹#›</a:t>
            </a:fld>
            <a:endParaRPr lang="en-GB" dirty="0"/>
          </a:p>
        </p:txBody>
      </p:sp>
    </p:spTree>
    <p:extLst>
      <p:ext uri="{BB962C8B-B14F-4D97-AF65-F5344CB8AC3E}">
        <p14:creationId xmlns:p14="http://schemas.microsoft.com/office/powerpoint/2010/main" val="235789286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2944283" cy="495300"/>
          </a:xfrm>
          <a:prstGeom prst="rect">
            <a:avLst/>
          </a:prstGeom>
        </p:spPr>
        <p:txBody>
          <a:bodyPr vert="horz" lIns="91430" tIns="45715" rIns="91430" bIns="45715" rtlCol="0"/>
          <a:lstStyle>
            <a:lvl1pPr algn="l">
              <a:defRPr sz="1200"/>
            </a:lvl1pPr>
          </a:lstStyle>
          <a:p>
            <a:endParaRPr lang="en-GB" dirty="0"/>
          </a:p>
        </p:txBody>
      </p:sp>
      <p:sp>
        <p:nvSpPr>
          <p:cNvPr id="3" name="Date Placeholder 2"/>
          <p:cNvSpPr>
            <a:spLocks noGrp="1"/>
          </p:cNvSpPr>
          <p:nvPr>
            <p:ph type="dt" idx="1"/>
          </p:nvPr>
        </p:nvSpPr>
        <p:spPr>
          <a:xfrm>
            <a:off x="3848646" y="0"/>
            <a:ext cx="2944283" cy="495300"/>
          </a:xfrm>
          <a:prstGeom prst="rect">
            <a:avLst/>
          </a:prstGeom>
        </p:spPr>
        <p:txBody>
          <a:bodyPr vert="horz" lIns="91430" tIns="45715" rIns="91430" bIns="45715" rtlCol="0"/>
          <a:lstStyle>
            <a:lvl1pPr algn="r">
              <a:defRPr sz="1200"/>
            </a:lvl1pPr>
          </a:lstStyle>
          <a:p>
            <a:fld id="{389BBE68-B43C-4550-BAC8-3342CCEE016F}" type="datetimeFigureOut">
              <a:rPr lang="en-GB" smtClean="0"/>
              <a:t>07/06/2017</a:t>
            </a:fld>
            <a:endParaRPr lang="en-GB" dirty="0"/>
          </a:p>
        </p:txBody>
      </p:sp>
      <p:sp>
        <p:nvSpPr>
          <p:cNvPr id="4" name="Slide Image Placeholder 3"/>
          <p:cNvSpPr>
            <a:spLocks noGrp="1" noRot="1" noChangeAspect="1"/>
          </p:cNvSpPr>
          <p:nvPr>
            <p:ph type="sldImg" idx="2"/>
          </p:nvPr>
        </p:nvSpPr>
        <p:spPr>
          <a:xfrm>
            <a:off x="920750" y="742950"/>
            <a:ext cx="4953000" cy="3714750"/>
          </a:xfrm>
          <a:prstGeom prst="rect">
            <a:avLst/>
          </a:prstGeom>
          <a:noFill/>
          <a:ln w="12700">
            <a:solidFill>
              <a:prstClr val="black"/>
            </a:solidFill>
          </a:ln>
        </p:spPr>
        <p:txBody>
          <a:bodyPr vert="horz" lIns="91430" tIns="45715" rIns="91430" bIns="45715" rtlCol="0" anchor="ctr"/>
          <a:lstStyle/>
          <a:p>
            <a:endParaRPr lang="en-GB" dirty="0"/>
          </a:p>
        </p:txBody>
      </p:sp>
      <p:sp>
        <p:nvSpPr>
          <p:cNvPr id="5" name="Notes Placeholder 4"/>
          <p:cNvSpPr>
            <a:spLocks noGrp="1"/>
          </p:cNvSpPr>
          <p:nvPr>
            <p:ph type="body" sz="quarter" idx="3"/>
          </p:nvPr>
        </p:nvSpPr>
        <p:spPr>
          <a:xfrm>
            <a:off x="679450" y="4705351"/>
            <a:ext cx="5435600" cy="4457700"/>
          </a:xfrm>
          <a:prstGeom prst="rect">
            <a:avLst/>
          </a:prstGeom>
        </p:spPr>
        <p:txBody>
          <a:bodyPr vert="horz" lIns="91430" tIns="45715" rIns="91430" bIns="45715"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6" name="Footer Placeholder 5"/>
          <p:cNvSpPr>
            <a:spLocks noGrp="1"/>
          </p:cNvSpPr>
          <p:nvPr>
            <p:ph type="ftr" sz="quarter" idx="4"/>
          </p:nvPr>
        </p:nvSpPr>
        <p:spPr>
          <a:xfrm>
            <a:off x="1" y="9408981"/>
            <a:ext cx="2944283" cy="495300"/>
          </a:xfrm>
          <a:prstGeom prst="rect">
            <a:avLst/>
          </a:prstGeom>
        </p:spPr>
        <p:txBody>
          <a:bodyPr vert="horz" lIns="91430" tIns="45715" rIns="91430" bIns="45715" rtlCol="0" anchor="b"/>
          <a:lstStyle>
            <a:lvl1pPr algn="l">
              <a:defRPr sz="1200"/>
            </a:lvl1pPr>
          </a:lstStyle>
          <a:p>
            <a:endParaRPr lang="en-GB" dirty="0"/>
          </a:p>
        </p:txBody>
      </p:sp>
      <p:sp>
        <p:nvSpPr>
          <p:cNvPr id="7" name="Slide Number Placeholder 6"/>
          <p:cNvSpPr>
            <a:spLocks noGrp="1"/>
          </p:cNvSpPr>
          <p:nvPr>
            <p:ph type="sldNum" sz="quarter" idx="5"/>
          </p:nvPr>
        </p:nvSpPr>
        <p:spPr>
          <a:xfrm>
            <a:off x="3848646" y="9408981"/>
            <a:ext cx="2944283" cy="495300"/>
          </a:xfrm>
          <a:prstGeom prst="rect">
            <a:avLst/>
          </a:prstGeom>
        </p:spPr>
        <p:txBody>
          <a:bodyPr vert="horz" lIns="91430" tIns="45715" rIns="91430" bIns="45715" rtlCol="0" anchor="b"/>
          <a:lstStyle>
            <a:lvl1pPr algn="r">
              <a:defRPr sz="1200"/>
            </a:lvl1pPr>
          </a:lstStyle>
          <a:p>
            <a:fld id="{E245DB49-244C-4016-9CFF-C17A45AE8B60}" type="slidenum">
              <a:rPr lang="en-GB" smtClean="0"/>
              <a:t>‹#›</a:t>
            </a:fld>
            <a:endParaRPr lang="en-GB" dirty="0"/>
          </a:p>
        </p:txBody>
      </p:sp>
    </p:spTree>
    <p:extLst>
      <p:ext uri="{BB962C8B-B14F-4D97-AF65-F5344CB8AC3E}">
        <p14:creationId xmlns:p14="http://schemas.microsoft.com/office/powerpoint/2010/main" val="20101825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7"/>
          <p:cNvSpPr>
            <a:spLocks noGrp="1" noChangeArrowheads="1"/>
          </p:cNvSpPr>
          <p:nvPr>
            <p:ph type="sldNum" sz="quarter" idx="5"/>
          </p:nvPr>
        </p:nvSpPr>
        <p:spPr>
          <a:noFill/>
        </p:spPr>
        <p:txBody>
          <a:bodyPr/>
          <a:lstStyle/>
          <a:p>
            <a:fld id="{9C364824-19B6-448E-82B5-5EBA0DE3DC29}" type="slidenum">
              <a:rPr lang="en-US" smtClean="0">
                <a:solidFill>
                  <a:prstClr val="black"/>
                </a:solidFill>
              </a:rPr>
              <a:pPr/>
              <a:t>1</a:t>
            </a:fld>
            <a:endParaRPr lang="en-US" dirty="0" smtClean="0">
              <a:solidFill>
                <a:prstClr val="black"/>
              </a:solidFill>
            </a:endParaRPr>
          </a:p>
        </p:txBody>
      </p:sp>
      <p:sp>
        <p:nvSpPr>
          <p:cNvPr id="25603" name="Rectangle 2"/>
          <p:cNvSpPr>
            <a:spLocks noGrp="1" noRot="1" noChangeAspect="1" noChangeArrowheads="1" noTextEdit="1"/>
          </p:cNvSpPr>
          <p:nvPr>
            <p:ph type="sldImg"/>
          </p:nvPr>
        </p:nvSpPr>
        <p:spPr>
          <a:ln/>
        </p:spPr>
      </p:sp>
      <p:sp>
        <p:nvSpPr>
          <p:cNvPr id="25604" name="Rectangle 3"/>
          <p:cNvSpPr>
            <a:spLocks noGrp="1" noChangeArrowheads="1"/>
          </p:cNvSpPr>
          <p:nvPr>
            <p:ph type="body" idx="1"/>
          </p:nvPr>
        </p:nvSpPr>
        <p:spPr>
          <a:noFill/>
          <a:ln/>
        </p:spPr>
        <p:txBody>
          <a:bodyPr/>
          <a:lstStyle/>
          <a:p>
            <a:pPr eaLnBrk="1" hangingPunct="1"/>
            <a:endParaRPr lang="en-US" dirty="0" smtClean="0">
              <a:latin typeface="Helvetica 65 Medium"/>
              <a:cs typeface="Arial" pitchFamily="34" charset="0"/>
            </a:endParaRPr>
          </a:p>
        </p:txBody>
      </p:sp>
    </p:spTree>
    <p:extLst>
      <p:ext uri="{BB962C8B-B14F-4D97-AF65-F5344CB8AC3E}">
        <p14:creationId xmlns:p14="http://schemas.microsoft.com/office/powerpoint/2010/main" val="15029351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7"/>
          <p:cNvSpPr>
            <a:spLocks noGrp="1" noChangeArrowheads="1"/>
          </p:cNvSpPr>
          <p:nvPr>
            <p:ph type="sldNum" sz="quarter" idx="5"/>
          </p:nvPr>
        </p:nvSpPr>
        <p:spPr>
          <a:noFill/>
        </p:spPr>
        <p:txBody>
          <a:bodyPr/>
          <a:lstStyle/>
          <a:p>
            <a:fld id="{320BD554-BD7E-4943-A37F-0C0EF73F2870}" type="slidenum">
              <a:rPr lang="en-US" smtClean="0"/>
              <a:pPr/>
              <a:t>2</a:t>
            </a:fld>
            <a:endParaRPr lang="en-US" dirty="0" smtClean="0"/>
          </a:p>
        </p:txBody>
      </p:sp>
      <p:sp>
        <p:nvSpPr>
          <p:cNvPr id="26627" name="Rectangle 2"/>
          <p:cNvSpPr>
            <a:spLocks noGrp="1" noRot="1" noChangeAspect="1" noChangeArrowheads="1" noTextEdit="1"/>
          </p:cNvSpPr>
          <p:nvPr>
            <p:ph type="sldImg"/>
          </p:nvPr>
        </p:nvSpPr>
        <p:spPr>
          <a:ln/>
        </p:spPr>
      </p:sp>
      <p:sp>
        <p:nvSpPr>
          <p:cNvPr id="26628" name="Rectangle 3"/>
          <p:cNvSpPr>
            <a:spLocks noGrp="1" noChangeArrowheads="1"/>
          </p:cNvSpPr>
          <p:nvPr>
            <p:ph type="body" idx="1"/>
          </p:nvPr>
        </p:nvSpPr>
        <p:spPr>
          <a:noFill/>
          <a:ln/>
        </p:spPr>
        <p:txBody>
          <a:bodyPr/>
          <a:lstStyle/>
          <a:p>
            <a:pPr eaLnBrk="1" hangingPunct="1"/>
            <a:endParaRPr lang="en-US" dirty="0" smtClean="0">
              <a:latin typeface="Helvetica 65 Medium"/>
              <a:cs typeface="Arial" pitchFamily="34" charset="0"/>
            </a:endParaRPr>
          </a:p>
        </p:txBody>
      </p:sp>
    </p:spTree>
    <p:extLst>
      <p:ext uri="{BB962C8B-B14F-4D97-AF65-F5344CB8AC3E}">
        <p14:creationId xmlns:p14="http://schemas.microsoft.com/office/powerpoint/2010/main" val="9395213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E245DB49-244C-4016-9CFF-C17A45AE8B60}" type="slidenum">
              <a:rPr lang="en-GB" smtClean="0"/>
              <a:t>3</a:t>
            </a:fld>
            <a:endParaRPr lang="en-GB" dirty="0"/>
          </a:p>
        </p:txBody>
      </p:sp>
    </p:spTree>
    <p:extLst>
      <p:ext uri="{BB962C8B-B14F-4D97-AF65-F5344CB8AC3E}">
        <p14:creationId xmlns:p14="http://schemas.microsoft.com/office/powerpoint/2010/main" val="961948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E245DB49-244C-4016-9CFF-C17A45AE8B60}" type="slidenum">
              <a:rPr lang="en-GB" smtClean="0"/>
              <a:t>4</a:t>
            </a:fld>
            <a:endParaRPr lang="en-GB" dirty="0"/>
          </a:p>
        </p:txBody>
      </p:sp>
    </p:spTree>
    <p:extLst>
      <p:ext uri="{BB962C8B-B14F-4D97-AF65-F5344CB8AC3E}">
        <p14:creationId xmlns:p14="http://schemas.microsoft.com/office/powerpoint/2010/main" val="9619489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E245DB49-244C-4016-9CFF-C17A45AE8B60}" type="slidenum">
              <a:rPr lang="en-GB" smtClean="0"/>
              <a:t>5</a:t>
            </a:fld>
            <a:endParaRPr lang="en-GB" dirty="0"/>
          </a:p>
        </p:txBody>
      </p:sp>
    </p:spTree>
    <p:extLst>
      <p:ext uri="{BB962C8B-B14F-4D97-AF65-F5344CB8AC3E}">
        <p14:creationId xmlns:p14="http://schemas.microsoft.com/office/powerpoint/2010/main" val="961948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7"/>
          <p:cNvSpPr>
            <a:spLocks noGrp="1" noChangeArrowheads="1"/>
          </p:cNvSpPr>
          <p:nvPr>
            <p:ph type="sldNum" sz="quarter" idx="5"/>
          </p:nvPr>
        </p:nvSpPr>
        <p:spPr>
          <a:noFill/>
        </p:spPr>
        <p:txBody>
          <a:bodyPr/>
          <a:lstStyle/>
          <a:p>
            <a:fld id="{320BD554-BD7E-4943-A37F-0C0EF73F2870}" type="slidenum">
              <a:rPr lang="en-US" smtClean="0"/>
              <a:pPr/>
              <a:t>6</a:t>
            </a:fld>
            <a:endParaRPr lang="en-US" dirty="0" smtClean="0"/>
          </a:p>
        </p:txBody>
      </p:sp>
      <p:sp>
        <p:nvSpPr>
          <p:cNvPr id="26627" name="Rectangle 2"/>
          <p:cNvSpPr>
            <a:spLocks noGrp="1" noRot="1" noChangeAspect="1" noChangeArrowheads="1" noTextEdit="1"/>
          </p:cNvSpPr>
          <p:nvPr>
            <p:ph type="sldImg"/>
          </p:nvPr>
        </p:nvSpPr>
        <p:spPr>
          <a:ln/>
        </p:spPr>
      </p:sp>
      <p:sp>
        <p:nvSpPr>
          <p:cNvPr id="26628" name="Rectangle 3"/>
          <p:cNvSpPr>
            <a:spLocks noGrp="1" noChangeArrowheads="1"/>
          </p:cNvSpPr>
          <p:nvPr>
            <p:ph type="body" idx="1"/>
          </p:nvPr>
        </p:nvSpPr>
        <p:spPr>
          <a:noFill/>
          <a:ln/>
        </p:spPr>
        <p:txBody>
          <a:bodyPr/>
          <a:lstStyle/>
          <a:p>
            <a:pPr eaLnBrk="1" hangingPunct="1"/>
            <a:endParaRPr lang="en-US" dirty="0" smtClean="0">
              <a:latin typeface="Helvetica 65 Medium"/>
              <a:cs typeface="Arial" pitchFamily="34" charset="0"/>
            </a:endParaRPr>
          </a:p>
        </p:txBody>
      </p:sp>
    </p:spTree>
    <p:extLst>
      <p:ext uri="{BB962C8B-B14F-4D97-AF65-F5344CB8AC3E}">
        <p14:creationId xmlns:p14="http://schemas.microsoft.com/office/powerpoint/2010/main" val="721122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7"/>
          <p:cNvSpPr>
            <a:spLocks noGrp="1" noChangeArrowheads="1"/>
          </p:cNvSpPr>
          <p:nvPr>
            <p:ph type="sldNum" sz="quarter" idx="5"/>
          </p:nvPr>
        </p:nvSpPr>
        <p:spPr>
          <a:noFill/>
        </p:spPr>
        <p:txBody>
          <a:bodyPr/>
          <a:lstStyle/>
          <a:p>
            <a:fld id="{320BD554-BD7E-4943-A37F-0C0EF73F2870}" type="slidenum">
              <a:rPr lang="en-US" smtClean="0"/>
              <a:pPr/>
              <a:t>7</a:t>
            </a:fld>
            <a:endParaRPr lang="en-US" dirty="0" smtClean="0"/>
          </a:p>
        </p:txBody>
      </p:sp>
      <p:sp>
        <p:nvSpPr>
          <p:cNvPr id="26627" name="Rectangle 2"/>
          <p:cNvSpPr>
            <a:spLocks noGrp="1" noRot="1" noChangeAspect="1" noChangeArrowheads="1" noTextEdit="1"/>
          </p:cNvSpPr>
          <p:nvPr>
            <p:ph type="sldImg"/>
          </p:nvPr>
        </p:nvSpPr>
        <p:spPr>
          <a:ln/>
        </p:spPr>
      </p:sp>
      <p:sp>
        <p:nvSpPr>
          <p:cNvPr id="26628" name="Rectangle 3"/>
          <p:cNvSpPr>
            <a:spLocks noGrp="1" noChangeArrowheads="1"/>
          </p:cNvSpPr>
          <p:nvPr>
            <p:ph type="body" idx="1"/>
          </p:nvPr>
        </p:nvSpPr>
        <p:spPr>
          <a:noFill/>
          <a:ln/>
        </p:spPr>
        <p:txBody>
          <a:bodyPr/>
          <a:lstStyle/>
          <a:p>
            <a:pPr eaLnBrk="1" hangingPunct="1"/>
            <a:endParaRPr lang="en-US" dirty="0" smtClean="0">
              <a:latin typeface="Helvetica 65 Medium"/>
              <a:cs typeface="Arial" pitchFamily="34" charset="0"/>
            </a:endParaRPr>
          </a:p>
        </p:txBody>
      </p:sp>
    </p:spTree>
    <p:extLst>
      <p:ext uri="{BB962C8B-B14F-4D97-AF65-F5344CB8AC3E}">
        <p14:creationId xmlns:p14="http://schemas.microsoft.com/office/powerpoint/2010/main" val="721122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7"/>
          <p:cNvSpPr>
            <a:spLocks noGrp="1" noChangeArrowheads="1"/>
          </p:cNvSpPr>
          <p:nvPr>
            <p:ph type="sldNum" sz="quarter" idx="5"/>
          </p:nvPr>
        </p:nvSpPr>
        <p:spPr>
          <a:noFill/>
        </p:spPr>
        <p:txBody>
          <a:bodyPr/>
          <a:lstStyle/>
          <a:p>
            <a:fld id="{320BD554-BD7E-4943-A37F-0C0EF73F2870}" type="slidenum">
              <a:rPr lang="en-US" smtClean="0"/>
              <a:pPr/>
              <a:t>8</a:t>
            </a:fld>
            <a:endParaRPr lang="en-US" dirty="0" smtClean="0"/>
          </a:p>
        </p:txBody>
      </p:sp>
      <p:sp>
        <p:nvSpPr>
          <p:cNvPr id="26627" name="Rectangle 2"/>
          <p:cNvSpPr>
            <a:spLocks noGrp="1" noRot="1" noChangeAspect="1" noChangeArrowheads="1" noTextEdit="1"/>
          </p:cNvSpPr>
          <p:nvPr>
            <p:ph type="sldImg"/>
          </p:nvPr>
        </p:nvSpPr>
        <p:spPr>
          <a:ln/>
        </p:spPr>
      </p:sp>
      <p:sp>
        <p:nvSpPr>
          <p:cNvPr id="26628" name="Rectangle 3"/>
          <p:cNvSpPr>
            <a:spLocks noGrp="1" noChangeArrowheads="1"/>
          </p:cNvSpPr>
          <p:nvPr>
            <p:ph type="body" idx="1"/>
          </p:nvPr>
        </p:nvSpPr>
        <p:spPr>
          <a:noFill/>
          <a:ln/>
        </p:spPr>
        <p:txBody>
          <a:bodyPr/>
          <a:lstStyle/>
          <a:p>
            <a:pPr eaLnBrk="1" hangingPunct="1"/>
            <a:endParaRPr lang="en-US" dirty="0" smtClean="0">
              <a:latin typeface="Helvetica 65 Medium"/>
              <a:cs typeface="Arial" pitchFamily="34" charset="0"/>
            </a:endParaRPr>
          </a:p>
        </p:txBody>
      </p:sp>
    </p:spTree>
    <p:extLst>
      <p:ext uri="{BB962C8B-B14F-4D97-AF65-F5344CB8AC3E}">
        <p14:creationId xmlns:p14="http://schemas.microsoft.com/office/powerpoint/2010/main" val="7211229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7"/>
          <p:cNvSpPr>
            <a:spLocks noGrp="1" noChangeArrowheads="1"/>
          </p:cNvSpPr>
          <p:nvPr>
            <p:ph type="sldNum" sz="quarter" idx="5"/>
          </p:nvPr>
        </p:nvSpPr>
        <p:spPr>
          <a:noFill/>
        </p:spPr>
        <p:txBody>
          <a:bodyPr/>
          <a:lstStyle/>
          <a:p>
            <a:fld id="{320BD554-BD7E-4943-A37F-0C0EF73F2870}" type="slidenum">
              <a:rPr lang="en-US" smtClean="0"/>
              <a:pPr/>
              <a:t>12</a:t>
            </a:fld>
            <a:endParaRPr lang="en-US" dirty="0" smtClean="0"/>
          </a:p>
        </p:txBody>
      </p:sp>
      <p:sp>
        <p:nvSpPr>
          <p:cNvPr id="26627" name="Rectangle 2"/>
          <p:cNvSpPr>
            <a:spLocks noGrp="1" noRot="1" noChangeAspect="1" noChangeArrowheads="1" noTextEdit="1"/>
          </p:cNvSpPr>
          <p:nvPr>
            <p:ph type="sldImg"/>
          </p:nvPr>
        </p:nvSpPr>
        <p:spPr>
          <a:ln/>
        </p:spPr>
      </p:sp>
      <p:sp>
        <p:nvSpPr>
          <p:cNvPr id="26628" name="Rectangle 3"/>
          <p:cNvSpPr>
            <a:spLocks noGrp="1" noChangeArrowheads="1"/>
          </p:cNvSpPr>
          <p:nvPr>
            <p:ph type="body" idx="1"/>
          </p:nvPr>
        </p:nvSpPr>
        <p:spPr>
          <a:noFill/>
          <a:ln/>
        </p:spPr>
        <p:txBody>
          <a:bodyPr/>
          <a:lstStyle/>
          <a:p>
            <a:pPr eaLnBrk="1" hangingPunct="1"/>
            <a:endParaRPr lang="en-US" dirty="0" smtClean="0">
              <a:latin typeface="Helvetica 65 Medium"/>
              <a:cs typeface="Arial" pitchFamily="34" charset="0"/>
            </a:endParaRPr>
          </a:p>
        </p:txBody>
      </p:sp>
    </p:spTree>
    <p:extLst>
      <p:ext uri="{BB962C8B-B14F-4D97-AF65-F5344CB8AC3E}">
        <p14:creationId xmlns:p14="http://schemas.microsoft.com/office/powerpoint/2010/main" val="21340287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7"/>
          <p:cNvSpPr>
            <a:spLocks noGrp="1" noChangeArrowheads="1"/>
          </p:cNvSpPr>
          <p:nvPr>
            <p:ph type="sldNum" sz="quarter" idx="5"/>
          </p:nvPr>
        </p:nvSpPr>
        <p:spPr>
          <a:noFill/>
        </p:spPr>
        <p:txBody>
          <a:bodyPr/>
          <a:lstStyle/>
          <a:p>
            <a:fld id="{320BD554-BD7E-4943-A37F-0C0EF73F2870}" type="slidenum">
              <a:rPr lang="en-US" smtClean="0"/>
              <a:pPr/>
              <a:t>19</a:t>
            </a:fld>
            <a:endParaRPr lang="en-US" dirty="0" smtClean="0"/>
          </a:p>
        </p:txBody>
      </p:sp>
      <p:sp>
        <p:nvSpPr>
          <p:cNvPr id="26627" name="Rectangle 2"/>
          <p:cNvSpPr>
            <a:spLocks noGrp="1" noRot="1" noChangeAspect="1" noChangeArrowheads="1" noTextEdit="1"/>
          </p:cNvSpPr>
          <p:nvPr>
            <p:ph type="sldImg"/>
          </p:nvPr>
        </p:nvSpPr>
        <p:spPr>
          <a:ln/>
        </p:spPr>
      </p:sp>
      <p:sp>
        <p:nvSpPr>
          <p:cNvPr id="26628" name="Rectangle 3"/>
          <p:cNvSpPr>
            <a:spLocks noGrp="1" noChangeArrowheads="1"/>
          </p:cNvSpPr>
          <p:nvPr>
            <p:ph type="body" idx="1"/>
          </p:nvPr>
        </p:nvSpPr>
        <p:spPr>
          <a:noFill/>
          <a:ln/>
        </p:spPr>
        <p:txBody>
          <a:bodyPr/>
          <a:lstStyle/>
          <a:p>
            <a:pPr eaLnBrk="1" hangingPunct="1"/>
            <a:endParaRPr lang="en-US" dirty="0" smtClean="0">
              <a:latin typeface="Helvetica 65 Medium"/>
              <a:cs typeface="Arial" pitchFamily="34" charset="0"/>
            </a:endParaRPr>
          </a:p>
        </p:txBody>
      </p:sp>
    </p:spTree>
    <p:extLst>
      <p:ext uri="{BB962C8B-B14F-4D97-AF65-F5344CB8AC3E}">
        <p14:creationId xmlns:p14="http://schemas.microsoft.com/office/powerpoint/2010/main" val="213402871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7"/>
          <p:cNvSpPr>
            <a:spLocks noGrp="1" noChangeArrowheads="1"/>
          </p:cNvSpPr>
          <p:nvPr>
            <p:ph type="sldNum" sz="quarter" idx="5"/>
          </p:nvPr>
        </p:nvSpPr>
        <p:spPr>
          <a:noFill/>
        </p:spPr>
        <p:txBody>
          <a:bodyPr/>
          <a:lstStyle/>
          <a:p>
            <a:fld id="{320BD554-BD7E-4943-A37F-0C0EF73F2870}" type="slidenum">
              <a:rPr lang="en-US" smtClean="0"/>
              <a:pPr/>
              <a:t>22</a:t>
            </a:fld>
            <a:endParaRPr lang="en-US" dirty="0" smtClean="0"/>
          </a:p>
        </p:txBody>
      </p:sp>
      <p:sp>
        <p:nvSpPr>
          <p:cNvPr id="26627" name="Rectangle 2"/>
          <p:cNvSpPr>
            <a:spLocks noGrp="1" noRot="1" noChangeAspect="1" noChangeArrowheads="1" noTextEdit="1"/>
          </p:cNvSpPr>
          <p:nvPr>
            <p:ph type="sldImg"/>
          </p:nvPr>
        </p:nvSpPr>
        <p:spPr>
          <a:ln/>
        </p:spPr>
      </p:sp>
      <p:sp>
        <p:nvSpPr>
          <p:cNvPr id="26628" name="Rectangle 3"/>
          <p:cNvSpPr>
            <a:spLocks noGrp="1" noChangeArrowheads="1"/>
          </p:cNvSpPr>
          <p:nvPr>
            <p:ph type="body" idx="1"/>
          </p:nvPr>
        </p:nvSpPr>
        <p:spPr>
          <a:noFill/>
          <a:ln/>
        </p:spPr>
        <p:txBody>
          <a:bodyPr/>
          <a:lstStyle/>
          <a:p>
            <a:pPr eaLnBrk="1" hangingPunct="1"/>
            <a:endParaRPr lang="en-US" dirty="0" smtClean="0">
              <a:latin typeface="Helvetica 65 Medium"/>
              <a:cs typeface="Arial" pitchFamily="34" charset="0"/>
            </a:endParaRPr>
          </a:p>
        </p:txBody>
      </p:sp>
    </p:spTree>
    <p:extLst>
      <p:ext uri="{BB962C8B-B14F-4D97-AF65-F5344CB8AC3E}">
        <p14:creationId xmlns:p14="http://schemas.microsoft.com/office/powerpoint/2010/main" val="7211229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7"/>
          <p:cNvSpPr>
            <a:spLocks noGrp="1" noChangeArrowheads="1"/>
          </p:cNvSpPr>
          <p:nvPr>
            <p:ph type="sldNum" sz="quarter" idx="5"/>
          </p:nvPr>
        </p:nvSpPr>
        <p:spPr>
          <a:noFill/>
        </p:spPr>
        <p:txBody>
          <a:bodyPr/>
          <a:lstStyle/>
          <a:p>
            <a:fld id="{320BD554-BD7E-4943-A37F-0C0EF73F2870}" type="slidenum">
              <a:rPr lang="en-US" smtClean="0"/>
              <a:pPr/>
              <a:t>23</a:t>
            </a:fld>
            <a:endParaRPr lang="en-US" dirty="0" smtClean="0"/>
          </a:p>
        </p:txBody>
      </p:sp>
      <p:sp>
        <p:nvSpPr>
          <p:cNvPr id="26627" name="Rectangle 2"/>
          <p:cNvSpPr>
            <a:spLocks noGrp="1" noRot="1" noChangeAspect="1" noChangeArrowheads="1" noTextEdit="1"/>
          </p:cNvSpPr>
          <p:nvPr>
            <p:ph type="sldImg"/>
          </p:nvPr>
        </p:nvSpPr>
        <p:spPr>
          <a:ln/>
        </p:spPr>
      </p:sp>
      <p:sp>
        <p:nvSpPr>
          <p:cNvPr id="26628" name="Rectangle 3"/>
          <p:cNvSpPr>
            <a:spLocks noGrp="1" noChangeArrowheads="1"/>
          </p:cNvSpPr>
          <p:nvPr>
            <p:ph type="body" idx="1"/>
          </p:nvPr>
        </p:nvSpPr>
        <p:spPr>
          <a:noFill/>
          <a:ln/>
        </p:spPr>
        <p:txBody>
          <a:bodyPr/>
          <a:lstStyle/>
          <a:p>
            <a:pPr eaLnBrk="1" hangingPunct="1"/>
            <a:endParaRPr lang="en-US" dirty="0" smtClean="0">
              <a:latin typeface="Helvetica 65 Medium"/>
              <a:cs typeface="Arial" pitchFamily="34" charset="0"/>
            </a:endParaRPr>
          </a:p>
        </p:txBody>
      </p:sp>
    </p:spTree>
    <p:extLst>
      <p:ext uri="{BB962C8B-B14F-4D97-AF65-F5344CB8AC3E}">
        <p14:creationId xmlns:p14="http://schemas.microsoft.com/office/powerpoint/2010/main" val="72112293"/>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4.png"/><Relationship Id="rId1" Type="http://schemas.openxmlformats.org/officeDocument/2006/relationships/slideMaster" Target="../slideMasters/slideMaster2.xml"/><Relationship Id="rId4"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emf"/><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38" name="Image 1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516000" y="2628508"/>
            <a:ext cx="2628000" cy="4229631"/>
          </a:xfrm>
          <a:prstGeom prst="rect">
            <a:avLst/>
          </a:prstGeom>
        </p:spPr>
      </p:pic>
      <p:pic>
        <p:nvPicPr>
          <p:cNvPr id="36" name="Image 1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10800000">
            <a:off x="0" y="508"/>
            <a:ext cx="2628000" cy="4229631"/>
          </a:xfrm>
          <a:prstGeom prst="rect">
            <a:avLst/>
          </a:prstGeom>
        </p:spPr>
      </p:pic>
      <p:sp>
        <p:nvSpPr>
          <p:cNvPr id="8" name="Title 7"/>
          <p:cNvSpPr>
            <a:spLocks noGrp="1"/>
          </p:cNvSpPr>
          <p:nvPr>
            <p:ph type="ctrTitle" hasCustomPrompt="1"/>
          </p:nvPr>
        </p:nvSpPr>
        <p:spPr>
          <a:xfrm>
            <a:off x="1368000" y="2480400"/>
            <a:ext cx="6300000" cy="1267200"/>
          </a:xfrm>
          <a:prstGeom prst="rect">
            <a:avLst/>
          </a:prstGeom>
        </p:spPr>
        <p:txBody>
          <a:bodyPr lIns="90000" rIns="90000" anchor="b">
            <a:spAutoFit/>
          </a:bodyPr>
          <a:lstStyle>
            <a:lvl1pPr>
              <a:lnSpc>
                <a:spcPts val="4500"/>
              </a:lnSpc>
              <a:defRPr sz="4500" cap="all" baseline="0">
                <a:solidFill>
                  <a:schemeClr val="bg1"/>
                </a:solidFill>
              </a:defRPr>
            </a:lvl1pPr>
          </a:lstStyle>
          <a:p>
            <a:r>
              <a:rPr kumimoji="0" lang="en-US" dirty="0" smtClean="0"/>
              <a:t>Click to edit Presentation title</a:t>
            </a:r>
            <a:endParaRPr kumimoji="0" lang="en-US" dirty="0"/>
          </a:p>
        </p:txBody>
      </p:sp>
      <p:sp>
        <p:nvSpPr>
          <p:cNvPr id="9" name="Subtitle 8"/>
          <p:cNvSpPr>
            <a:spLocks noGrp="1"/>
          </p:cNvSpPr>
          <p:nvPr>
            <p:ph type="subTitle" idx="1" hasCustomPrompt="1"/>
          </p:nvPr>
        </p:nvSpPr>
        <p:spPr>
          <a:xfrm>
            <a:off x="1368000" y="3805200"/>
            <a:ext cx="6300000" cy="352800"/>
          </a:xfrm>
        </p:spPr>
        <p:txBody>
          <a:bodyPr lIns="90000" rIns="90000">
            <a:spAutoFit/>
          </a:bodyPr>
          <a:lstStyle>
            <a:lvl1pPr marL="0" indent="0" algn="l">
              <a:lnSpc>
                <a:spcPts val="2000"/>
              </a:lnSpc>
              <a:spcBef>
                <a:spcPts val="0"/>
              </a:spcBef>
              <a:buNone/>
              <a:defRPr sz="1800" baseline="0">
                <a:solidFill>
                  <a:schemeClr val="bg1"/>
                </a:solidFill>
                <a:latin typeface="+mj-lt"/>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fr-FR" dirty="0" smtClean="0"/>
              <a:t>Click to </a:t>
            </a:r>
            <a:r>
              <a:rPr kumimoji="0" lang="fr-FR" dirty="0" err="1" smtClean="0"/>
              <a:t>edit</a:t>
            </a:r>
            <a:r>
              <a:rPr kumimoji="0" lang="fr-FR" dirty="0" smtClean="0"/>
              <a:t> </a:t>
            </a:r>
            <a:r>
              <a:rPr kumimoji="0" lang="fr-FR" dirty="0" err="1" smtClean="0"/>
              <a:t>Subtitle</a:t>
            </a:r>
            <a:endParaRPr kumimoji="0" lang="en-US" dirty="0"/>
          </a:p>
        </p:txBody>
      </p:sp>
      <p:pic>
        <p:nvPicPr>
          <p:cNvPr id="37" name="Image 11"/>
          <p:cNvPicPr>
            <a:picLocks noChangeAspect="1"/>
          </p:cNvPicPr>
          <p:nvPr/>
        </p:nvPicPr>
        <p:blipFill>
          <a:blip r:embed="rId3" cstate="print"/>
          <a:stretch>
            <a:fillRect/>
          </a:stretch>
        </p:blipFill>
        <p:spPr>
          <a:xfrm>
            <a:off x="511200" y="432000"/>
            <a:ext cx="692307" cy="1440000"/>
          </a:xfrm>
          <a:prstGeom prst="rect">
            <a:avLst/>
          </a:prstGeom>
        </p:spPr>
      </p:pic>
      <p:sp>
        <p:nvSpPr>
          <p:cNvPr id="12" name="Date Placeholder 3"/>
          <p:cNvSpPr>
            <a:spLocks noGrp="1"/>
          </p:cNvSpPr>
          <p:nvPr>
            <p:ph type="dt" sz="half" idx="2"/>
          </p:nvPr>
        </p:nvSpPr>
        <p:spPr>
          <a:xfrm>
            <a:off x="403200" y="6411600"/>
            <a:ext cx="900000" cy="244800"/>
          </a:xfrm>
          <a:prstGeom prst="rect">
            <a:avLst/>
          </a:prstGeom>
        </p:spPr>
        <p:txBody>
          <a:bodyPr vert="horz" lIns="91440" tIns="45720" rIns="91440" bIns="45720" rtlCol="0" anchor="t" anchorCtr="0"/>
          <a:lstStyle>
            <a:lvl1pPr algn="l">
              <a:defRPr sz="1000" baseline="0">
                <a:solidFill>
                  <a:schemeClr val="bg1"/>
                </a:solidFill>
                <a:latin typeface="Arial"/>
              </a:defRPr>
            </a:lvl1pPr>
          </a:lstStyle>
          <a:p>
            <a:fld id="{768535E4-3955-413F-9D3C-D9DDE1963FF9}" type="datetime1">
              <a:rPr lang="en-GB" smtClean="0"/>
              <a:t>07/06/2017</a:t>
            </a:fld>
            <a:endParaRPr lang="en-GB" dirty="0"/>
          </a:p>
        </p:txBody>
      </p:sp>
      <p:sp>
        <p:nvSpPr>
          <p:cNvPr id="13" name="Footer Placeholder 4"/>
          <p:cNvSpPr>
            <a:spLocks noGrp="1"/>
          </p:cNvSpPr>
          <p:nvPr>
            <p:ph type="ftr" sz="quarter" idx="3"/>
          </p:nvPr>
        </p:nvSpPr>
        <p:spPr>
          <a:xfrm>
            <a:off x="1368000" y="6411600"/>
            <a:ext cx="4680000" cy="244800"/>
          </a:xfrm>
          <a:prstGeom prst="rect">
            <a:avLst/>
          </a:prstGeom>
        </p:spPr>
        <p:txBody>
          <a:bodyPr vert="horz" lIns="91440" tIns="45720" rIns="91440" bIns="45720" rtlCol="0" anchor="t" anchorCtr="0"/>
          <a:lstStyle>
            <a:lvl1pPr algn="l">
              <a:defRPr sz="1000" kern="1200" baseline="0">
                <a:solidFill>
                  <a:schemeClr val="bg1"/>
                </a:solidFill>
                <a:latin typeface="Arial"/>
              </a:defRPr>
            </a:lvl1pPr>
          </a:lstStyle>
          <a:p>
            <a:endParaRPr lang="en-GB" dirty="0"/>
          </a:p>
        </p:txBody>
      </p:sp>
      <p:pic>
        <p:nvPicPr>
          <p:cNvPr id="10" name="Imag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164000" y="6055200"/>
            <a:ext cx="1742400" cy="578821"/>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eaLnBrk="1" latinLnBrk="0" hangingPunct="1">
              <a:defRPr/>
            </a:lvl1pPr>
            <a:lvl2pPr eaLnBrk="1" latinLnBrk="0" hangingPunct="1">
              <a:defRPr/>
            </a:lvl2pPr>
            <a:lvl3pPr eaLnBrk="1" latinLnBrk="0" hangingPunct="1">
              <a:defRPr/>
            </a:lvl3pPr>
            <a:lvl4pPr eaLnBrk="1" latinLnBrk="0" hangingPunct="1">
              <a:defRPr/>
            </a:lvl4pPr>
            <a:lvl5pPr eaLnBrk="1" latinLnBrk="0" hangingPunct="1">
              <a:defRPr/>
            </a:lvl5p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dirty="0"/>
          </a:p>
        </p:txBody>
      </p:sp>
      <p:sp>
        <p:nvSpPr>
          <p:cNvPr id="8" name="Date Placeholder 3"/>
          <p:cNvSpPr>
            <a:spLocks noGrp="1"/>
          </p:cNvSpPr>
          <p:nvPr>
            <p:ph type="dt" sz="half" idx="2"/>
          </p:nvPr>
        </p:nvSpPr>
        <p:spPr>
          <a:xfrm>
            <a:off x="403200" y="6411600"/>
            <a:ext cx="900000" cy="244800"/>
          </a:xfrm>
          <a:prstGeom prst="rect">
            <a:avLst/>
          </a:prstGeom>
        </p:spPr>
        <p:txBody>
          <a:bodyPr vert="horz" lIns="91440" tIns="45720" rIns="91440" bIns="45720" rtlCol="0" anchor="t" anchorCtr="0"/>
          <a:lstStyle>
            <a:lvl1pPr algn="l">
              <a:defRPr sz="1000" baseline="0">
                <a:solidFill>
                  <a:srgbClr val="727272"/>
                </a:solidFill>
                <a:latin typeface="Arial"/>
              </a:defRPr>
            </a:lvl1pPr>
          </a:lstStyle>
          <a:p>
            <a:fld id="{998C901B-E87E-45FE-B420-65379E6BC032}" type="datetime1">
              <a:rPr lang="en-GB" smtClean="0"/>
              <a:t>07/06/2017</a:t>
            </a:fld>
            <a:endParaRPr lang="en-GB" dirty="0"/>
          </a:p>
        </p:txBody>
      </p:sp>
      <p:sp>
        <p:nvSpPr>
          <p:cNvPr id="9" name="Footer Placeholder 4"/>
          <p:cNvSpPr>
            <a:spLocks noGrp="1"/>
          </p:cNvSpPr>
          <p:nvPr>
            <p:ph type="ftr" sz="quarter" idx="3"/>
          </p:nvPr>
        </p:nvSpPr>
        <p:spPr>
          <a:xfrm>
            <a:off x="1368000" y="6411600"/>
            <a:ext cx="4680000" cy="244800"/>
          </a:xfrm>
          <a:prstGeom prst="rect">
            <a:avLst/>
          </a:prstGeom>
        </p:spPr>
        <p:txBody>
          <a:bodyPr vert="horz" lIns="91440" tIns="45720" rIns="91440" bIns="45720" rtlCol="0" anchor="t" anchorCtr="0"/>
          <a:lstStyle>
            <a:lvl1pPr algn="l">
              <a:defRPr sz="1000" kern="1200" baseline="0">
                <a:solidFill>
                  <a:srgbClr val="727272"/>
                </a:solidFill>
                <a:latin typeface="Arial"/>
              </a:defRPr>
            </a:lvl1pPr>
          </a:lstStyle>
          <a:p>
            <a:endParaRPr lang="en-GB" dirty="0"/>
          </a:p>
        </p:txBody>
      </p:sp>
      <p:sp>
        <p:nvSpPr>
          <p:cNvPr id="10" name="Slide Number Placeholder 5"/>
          <p:cNvSpPr>
            <a:spLocks noGrp="1"/>
          </p:cNvSpPr>
          <p:nvPr>
            <p:ph type="sldNum" sz="quarter" idx="4"/>
          </p:nvPr>
        </p:nvSpPr>
        <p:spPr>
          <a:xfrm>
            <a:off x="8640000" y="6411600"/>
            <a:ext cx="342000" cy="244800"/>
          </a:xfrm>
          <a:prstGeom prst="rect">
            <a:avLst/>
          </a:prstGeom>
        </p:spPr>
        <p:txBody>
          <a:bodyPr vert="horz" wrap="none" lIns="91440" tIns="45720" rIns="91440" bIns="45720" rtlCol="0" anchor="t" anchorCtr="0"/>
          <a:lstStyle>
            <a:lvl1pPr algn="r">
              <a:defRPr sz="1000" baseline="0">
                <a:solidFill>
                  <a:schemeClr val="bg1"/>
                </a:solidFill>
                <a:latin typeface="Arial"/>
              </a:defRPr>
            </a:lvl1pPr>
          </a:lstStyle>
          <a:p>
            <a:fld id="{FCE284C4-5ED1-4D6C-B7CC-2049C3062C5E}" type="slidenum">
              <a:rPr lang="en-GB" smtClean="0"/>
              <a:t>‹#›</a:t>
            </a:fld>
            <a:endParaRPr lang="en-GB" dirty="0"/>
          </a:p>
        </p:txBody>
      </p:sp>
      <p:sp>
        <p:nvSpPr>
          <p:cNvPr id="11" name="Title Placeholder 1"/>
          <p:cNvSpPr>
            <a:spLocks noGrp="1"/>
          </p:cNvSpPr>
          <p:nvPr>
            <p:ph type="title" hasCustomPrompt="1"/>
          </p:nvPr>
        </p:nvSpPr>
        <p:spPr>
          <a:xfrm>
            <a:off x="1080000" y="237600"/>
            <a:ext cx="7416000" cy="1022400"/>
          </a:xfrm>
          <a:prstGeom prst="rect">
            <a:avLst/>
          </a:prstGeom>
        </p:spPr>
        <p:txBody>
          <a:bodyPr vert="horz" lIns="91440" tIns="45720" rIns="91440" bIns="45720" rtlCol="0" anchor="ctr">
            <a:noAutofit/>
          </a:bodyPr>
          <a:lstStyle>
            <a:lvl1pPr>
              <a:defRPr/>
            </a:lvl1pPr>
          </a:lstStyle>
          <a:p>
            <a:r>
              <a:rPr lang="en-US" dirty="0" smtClean="0"/>
              <a:t>Click to edit Slide title</a:t>
            </a:r>
            <a:br>
              <a:rPr lang="en-US" dirty="0" smtClean="0"/>
            </a:br>
            <a:r>
              <a:rPr lang="en-US" dirty="0" smtClean="0"/>
              <a:t>Slide title can be extended to two lines</a:t>
            </a:r>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pic>
        <p:nvPicPr>
          <p:cNvPr id="7" name="Image 6"/>
          <p:cNvPicPr>
            <a:picLocks noChangeAspect="1"/>
          </p:cNvPicPr>
          <p:nvPr/>
        </p:nvPicPr>
        <p:blipFill>
          <a:blip r:embed="rId2" cstate="print"/>
          <a:stretch>
            <a:fillRect/>
          </a:stretch>
        </p:blipFill>
        <p:spPr>
          <a:xfrm>
            <a:off x="8193600" y="5328000"/>
            <a:ext cx="950407" cy="1530000"/>
          </a:xfrm>
          <a:prstGeom prst="rect">
            <a:avLst/>
          </a:prstGeom>
        </p:spPr>
      </p:pic>
      <p:pic>
        <p:nvPicPr>
          <p:cNvPr id="8" name="Image 7"/>
          <p:cNvPicPr>
            <a:picLocks noChangeAspect="1"/>
          </p:cNvPicPr>
          <p:nvPr/>
        </p:nvPicPr>
        <p:blipFill>
          <a:blip r:embed="rId3" cstate="print"/>
          <a:stretch>
            <a:fillRect/>
          </a:stretch>
        </p:blipFill>
        <p:spPr>
          <a:xfrm>
            <a:off x="579600" y="468000"/>
            <a:ext cx="692308" cy="1440000"/>
          </a:xfrm>
          <a:prstGeom prst="rect">
            <a:avLst/>
          </a:prstGeom>
        </p:spPr>
      </p:pic>
      <p:sp>
        <p:nvSpPr>
          <p:cNvPr id="9" name="Title 1"/>
          <p:cNvSpPr>
            <a:spLocks noGrp="1"/>
          </p:cNvSpPr>
          <p:nvPr>
            <p:ph type="title" hasCustomPrompt="1"/>
          </p:nvPr>
        </p:nvSpPr>
        <p:spPr>
          <a:xfrm>
            <a:off x="1260000" y="2928144"/>
            <a:ext cx="6624000" cy="1041311"/>
          </a:xfrm>
        </p:spPr>
        <p:txBody>
          <a:bodyPr anchor="ctr" anchorCtr="0">
            <a:spAutoFit/>
          </a:bodyPr>
          <a:lstStyle>
            <a:lvl1pPr algn="ctr">
              <a:lnSpc>
                <a:spcPts val="3700"/>
              </a:lnSpc>
              <a:defRPr sz="3700" b="0" i="0" cap="all" baseline="0">
                <a:solidFill>
                  <a:schemeClr val="bg1"/>
                </a:solidFill>
              </a:defRPr>
            </a:lvl1pPr>
          </a:lstStyle>
          <a:p>
            <a:r>
              <a:rPr lang="en-US" dirty="0" smtClean="0"/>
              <a:t>Click to edit Section Header title</a:t>
            </a:r>
            <a:endParaRPr lang="en-US" dirty="0"/>
          </a:p>
        </p:txBody>
      </p:sp>
      <p:sp>
        <p:nvSpPr>
          <p:cNvPr id="10" name="Date Placeholder 3"/>
          <p:cNvSpPr>
            <a:spLocks noGrp="1"/>
          </p:cNvSpPr>
          <p:nvPr>
            <p:ph type="dt" sz="half" idx="2"/>
          </p:nvPr>
        </p:nvSpPr>
        <p:spPr>
          <a:xfrm>
            <a:off x="403200" y="6411600"/>
            <a:ext cx="900000" cy="244800"/>
          </a:xfrm>
          <a:prstGeom prst="rect">
            <a:avLst/>
          </a:prstGeom>
        </p:spPr>
        <p:txBody>
          <a:bodyPr vert="horz" lIns="91440" tIns="45720" rIns="91440" bIns="45720" rtlCol="0" anchor="t" anchorCtr="0"/>
          <a:lstStyle>
            <a:lvl1pPr algn="l">
              <a:defRPr sz="1000" baseline="0">
                <a:solidFill>
                  <a:schemeClr val="bg1"/>
                </a:solidFill>
                <a:latin typeface="Arial"/>
              </a:defRPr>
            </a:lvl1pPr>
          </a:lstStyle>
          <a:p>
            <a:fld id="{A2B785B9-06B0-42D9-9A9B-49D01274C45E}" type="datetime1">
              <a:rPr lang="en-GB" smtClean="0"/>
              <a:t>07/06/2017</a:t>
            </a:fld>
            <a:endParaRPr lang="en-GB" dirty="0"/>
          </a:p>
        </p:txBody>
      </p:sp>
      <p:sp>
        <p:nvSpPr>
          <p:cNvPr id="11" name="Footer Placeholder 4"/>
          <p:cNvSpPr>
            <a:spLocks noGrp="1"/>
          </p:cNvSpPr>
          <p:nvPr>
            <p:ph type="ftr" sz="quarter" idx="3"/>
          </p:nvPr>
        </p:nvSpPr>
        <p:spPr>
          <a:xfrm>
            <a:off x="1368000" y="6411600"/>
            <a:ext cx="4680000" cy="244800"/>
          </a:xfrm>
          <a:prstGeom prst="rect">
            <a:avLst/>
          </a:prstGeom>
        </p:spPr>
        <p:txBody>
          <a:bodyPr vert="horz" lIns="91440" tIns="45720" rIns="91440" bIns="45720" rtlCol="0" anchor="t" anchorCtr="0"/>
          <a:lstStyle>
            <a:lvl1pPr algn="l">
              <a:defRPr sz="1000" kern="1200" baseline="0">
                <a:solidFill>
                  <a:schemeClr val="bg1"/>
                </a:solidFill>
                <a:latin typeface="Arial"/>
              </a:defRPr>
            </a:lvl1pPr>
          </a:lstStyle>
          <a:p>
            <a:endParaRPr lang="en-GB" dirty="0"/>
          </a:p>
        </p:txBody>
      </p:sp>
      <p:sp>
        <p:nvSpPr>
          <p:cNvPr id="12" name="Slide Number Placeholder 5"/>
          <p:cNvSpPr>
            <a:spLocks noGrp="1"/>
          </p:cNvSpPr>
          <p:nvPr>
            <p:ph type="sldNum" sz="quarter" idx="4"/>
          </p:nvPr>
        </p:nvSpPr>
        <p:spPr>
          <a:xfrm>
            <a:off x="8640000" y="6411600"/>
            <a:ext cx="342000" cy="244800"/>
          </a:xfrm>
          <a:prstGeom prst="rect">
            <a:avLst/>
          </a:prstGeom>
        </p:spPr>
        <p:txBody>
          <a:bodyPr vert="horz" wrap="none" lIns="91440" tIns="45720" rIns="91440" bIns="45720" rtlCol="0" anchor="t" anchorCtr="0"/>
          <a:lstStyle>
            <a:lvl1pPr algn="r">
              <a:defRPr sz="1000" baseline="0">
                <a:solidFill>
                  <a:schemeClr val="tx2"/>
                </a:solidFill>
                <a:latin typeface="Arial"/>
              </a:defRPr>
            </a:lvl1pPr>
          </a:lstStyle>
          <a:p>
            <a:fld id="{FCE284C4-5ED1-4D6C-B7CC-2049C3062C5E}" type="slidenum">
              <a:rPr lang="en-GB" smtClean="0"/>
              <a:t>‹#›</a:t>
            </a:fld>
            <a:endParaRPr lang="en-GB"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732FEDD-5D26-4597-93F8-43A13583B74D}" type="datetime1">
              <a:rPr lang="en-GB" smtClean="0"/>
              <a:t>07/06/2017</a:t>
            </a:fld>
            <a:endParaRPr lang="en-GB" dirty="0"/>
          </a:p>
        </p:txBody>
      </p:sp>
      <p:sp>
        <p:nvSpPr>
          <p:cNvPr id="3" name="Footer Placeholder 2"/>
          <p:cNvSpPr>
            <a:spLocks noGrp="1"/>
          </p:cNvSpPr>
          <p:nvPr>
            <p:ph type="ftr" sz="quarter" idx="11"/>
          </p:nvPr>
        </p:nvSpPr>
        <p:spPr/>
        <p:txBody>
          <a:bodyPr/>
          <a:lstStyle/>
          <a:p>
            <a:endParaRPr lang="en-GB" dirty="0"/>
          </a:p>
        </p:txBody>
      </p:sp>
      <p:sp>
        <p:nvSpPr>
          <p:cNvPr id="4" name="Slide Number Placeholder 3"/>
          <p:cNvSpPr>
            <a:spLocks noGrp="1"/>
          </p:cNvSpPr>
          <p:nvPr>
            <p:ph type="sldNum" sz="quarter" idx="12"/>
          </p:nvPr>
        </p:nvSpPr>
        <p:spPr/>
        <p:txBody>
          <a:bodyPr/>
          <a:lstStyle/>
          <a:p>
            <a:fld id="{FCE284C4-5ED1-4D6C-B7CC-2049C3062C5E}" type="slidenum">
              <a:rPr lang="en-GB" smtClean="0"/>
              <a:t>‹#›</a:t>
            </a:fld>
            <a:endParaRPr lang="en-GB" dirty="0"/>
          </a:p>
        </p:txBody>
      </p:sp>
    </p:spTree>
    <p:extLst>
      <p:ext uri="{BB962C8B-B14F-4D97-AF65-F5344CB8AC3E}">
        <p14:creationId xmlns:p14="http://schemas.microsoft.com/office/powerpoint/2010/main" val="409363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tx2"/>
        </a:solidFill>
        <a:effectLst/>
      </p:bgPr>
    </p:bg>
    <p:spTree>
      <p:nvGrpSpPr>
        <p:cNvPr id="1" name=""/>
        <p:cNvGrpSpPr/>
        <p:nvPr/>
      </p:nvGrpSpPr>
      <p:grpSpPr>
        <a:xfrm>
          <a:off x="0" y="0"/>
          <a:ext cx="0" cy="0"/>
          <a:chOff x="0" y="0"/>
          <a:chExt cx="0" cy="0"/>
        </a:xfrm>
      </p:grpSpPr>
      <p:pic>
        <p:nvPicPr>
          <p:cNvPr id="38" name="Image 1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516000" y="2628508"/>
            <a:ext cx="2628000" cy="4229631"/>
          </a:xfrm>
          <a:prstGeom prst="rect">
            <a:avLst/>
          </a:prstGeom>
        </p:spPr>
      </p:pic>
      <p:pic>
        <p:nvPicPr>
          <p:cNvPr id="36" name="Image 1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10800000">
            <a:off x="0" y="508"/>
            <a:ext cx="2628000" cy="4229631"/>
          </a:xfrm>
          <a:prstGeom prst="rect">
            <a:avLst/>
          </a:prstGeom>
        </p:spPr>
      </p:pic>
      <p:sp>
        <p:nvSpPr>
          <p:cNvPr id="8" name="Title 7"/>
          <p:cNvSpPr>
            <a:spLocks noGrp="1"/>
          </p:cNvSpPr>
          <p:nvPr>
            <p:ph type="ctrTitle" hasCustomPrompt="1"/>
          </p:nvPr>
        </p:nvSpPr>
        <p:spPr>
          <a:xfrm>
            <a:off x="1368000" y="2480400"/>
            <a:ext cx="6300000" cy="1267200"/>
          </a:xfrm>
          <a:prstGeom prst="rect">
            <a:avLst/>
          </a:prstGeom>
        </p:spPr>
        <p:txBody>
          <a:bodyPr lIns="90000" rIns="90000" anchor="b">
            <a:spAutoFit/>
          </a:bodyPr>
          <a:lstStyle>
            <a:lvl1pPr>
              <a:lnSpc>
                <a:spcPts val="4500"/>
              </a:lnSpc>
              <a:defRPr sz="4500" cap="all" baseline="0">
                <a:solidFill>
                  <a:schemeClr val="bg1"/>
                </a:solidFill>
              </a:defRPr>
            </a:lvl1pPr>
          </a:lstStyle>
          <a:p>
            <a:r>
              <a:rPr kumimoji="0" lang="en-US" dirty="0" smtClean="0"/>
              <a:t>Click to edit Presentation title</a:t>
            </a:r>
            <a:endParaRPr kumimoji="0" lang="en-US" dirty="0"/>
          </a:p>
        </p:txBody>
      </p:sp>
      <p:sp>
        <p:nvSpPr>
          <p:cNvPr id="9" name="Subtitle 8"/>
          <p:cNvSpPr>
            <a:spLocks noGrp="1"/>
          </p:cNvSpPr>
          <p:nvPr>
            <p:ph type="subTitle" idx="1" hasCustomPrompt="1"/>
          </p:nvPr>
        </p:nvSpPr>
        <p:spPr>
          <a:xfrm>
            <a:off x="1368000" y="3805200"/>
            <a:ext cx="6300000" cy="352800"/>
          </a:xfrm>
        </p:spPr>
        <p:txBody>
          <a:bodyPr lIns="90000" rIns="90000">
            <a:spAutoFit/>
          </a:bodyPr>
          <a:lstStyle>
            <a:lvl1pPr marL="0" indent="0" algn="l">
              <a:lnSpc>
                <a:spcPts val="2000"/>
              </a:lnSpc>
              <a:spcBef>
                <a:spcPts val="0"/>
              </a:spcBef>
              <a:buNone/>
              <a:defRPr sz="1800" baseline="0">
                <a:solidFill>
                  <a:schemeClr val="bg1"/>
                </a:solidFill>
                <a:latin typeface="+mj-lt"/>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fr-FR" dirty="0" smtClean="0"/>
              <a:t>Click to </a:t>
            </a:r>
            <a:r>
              <a:rPr kumimoji="0" lang="fr-FR" dirty="0" err="1" smtClean="0"/>
              <a:t>edit</a:t>
            </a:r>
            <a:r>
              <a:rPr kumimoji="0" lang="fr-FR" dirty="0" smtClean="0"/>
              <a:t> </a:t>
            </a:r>
            <a:r>
              <a:rPr kumimoji="0" lang="fr-FR" dirty="0" err="1" smtClean="0"/>
              <a:t>Subtitle</a:t>
            </a:r>
            <a:endParaRPr kumimoji="0" lang="en-US" dirty="0"/>
          </a:p>
        </p:txBody>
      </p:sp>
      <p:pic>
        <p:nvPicPr>
          <p:cNvPr id="37" name="Image 11"/>
          <p:cNvPicPr>
            <a:picLocks noChangeAspect="1"/>
          </p:cNvPicPr>
          <p:nvPr/>
        </p:nvPicPr>
        <p:blipFill>
          <a:blip r:embed="rId3" cstate="print"/>
          <a:stretch>
            <a:fillRect/>
          </a:stretch>
        </p:blipFill>
        <p:spPr>
          <a:xfrm>
            <a:off x="511200" y="432000"/>
            <a:ext cx="692307" cy="1440000"/>
          </a:xfrm>
          <a:prstGeom prst="rect">
            <a:avLst/>
          </a:prstGeom>
        </p:spPr>
      </p:pic>
      <p:sp>
        <p:nvSpPr>
          <p:cNvPr id="12" name="Date Placeholder 3"/>
          <p:cNvSpPr>
            <a:spLocks noGrp="1"/>
          </p:cNvSpPr>
          <p:nvPr>
            <p:ph type="dt" sz="half" idx="2"/>
          </p:nvPr>
        </p:nvSpPr>
        <p:spPr>
          <a:xfrm>
            <a:off x="403200" y="6411600"/>
            <a:ext cx="900000" cy="244800"/>
          </a:xfrm>
          <a:prstGeom prst="rect">
            <a:avLst/>
          </a:prstGeom>
        </p:spPr>
        <p:txBody>
          <a:bodyPr vert="horz" lIns="91440" tIns="45720" rIns="91440" bIns="45720" rtlCol="0" anchor="t" anchorCtr="0"/>
          <a:lstStyle>
            <a:lvl1pPr algn="l">
              <a:defRPr sz="1000" baseline="0">
                <a:solidFill>
                  <a:schemeClr val="bg1"/>
                </a:solidFill>
                <a:latin typeface="Arial"/>
              </a:defRPr>
            </a:lvl1pPr>
          </a:lstStyle>
          <a:p>
            <a:fld id="{768535E4-3955-413F-9D3C-D9DDE1963FF9}" type="datetime1">
              <a:rPr lang="en-GB" smtClean="0">
                <a:solidFill>
                  <a:prstClr val="white"/>
                </a:solidFill>
              </a:rPr>
              <a:pPr/>
              <a:t>07/06/2017</a:t>
            </a:fld>
            <a:endParaRPr lang="en-GB" dirty="0">
              <a:solidFill>
                <a:prstClr val="white"/>
              </a:solidFill>
            </a:endParaRPr>
          </a:p>
        </p:txBody>
      </p:sp>
      <p:sp>
        <p:nvSpPr>
          <p:cNvPr id="13" name="Footer Placeholder 4"/>
          <p:cNvSpPr>
            <a:spLocks noGrp="1"/>
          </p:cNvSpPr>
          <p:nvPr>
            <p:ph type="ftr" sz="quarter" idx="3"/>
          </p:nvPr>
        </p:nvSpPr>
        <p:spPr>
          <a:xfrm>
            <a:off x="1368000" y="6411600"/>
            <a:ext cx="4680000" cy="244800"/>
          </a:xfrm>
          <a:prstGeom prst="rect">
            <a:avLst/>
          </a:prstGeom>
        </p:spPr>
        <p:txBody>
          <a:bodyPr vert="horz" lIns="91440" tIns="45720" rIns="91440" bIns="45720" rtlCol="0" anchor="t" anchorCtr="0"/>
          <a:lstStyle>
            <a:lvl1pPr algn="l">
              <a:defRPr sz="1000" kern="1200" baseline="0">
                <a:solidFill>
                  <a:schemeClr val="bg1"/>
                </a:solidFill>
                <a:latin typeface="Arial"/>
              </a:defRPr>
            </a:lvl1pPr>
          </a:lstStyle>
          <a:p>
            <a:endParaRPr lang="en-GB" dirty="0">
              <a:solidFill>
                <a:prstClr val="white"/>
              </a:solidFill>
            </a:endParaRPr>
          </a:p>
        </p:txBody>
      </p:sp>
      <p:pic>
        <p:nvPicPr>
          <p:cNvPr id="10" name="Imag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164000" y="6055200"/>
            <a:ext cx="1742400" cy="578821"/>
          </a:xfrm>
          <a:prstGeom prst="rect">
            <a:avLst/>
          </a:prstGeom>
        </p:spPr>
      </p:pic>
    </p:spTree>
    <p:extLst>
      <p:ext uri="{BB962C8B-B14F-4D97-AF65-F5344CB8AC3E}">
        <p14:creationId xmlns:p14="http://schemas.microsoft.com/office/powerpoint/2010/main" val="31874637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eaLnBrk="1" latinLnBrk="0" hangingPunct="1">
              <a:defRPr/>
            </a:lvl1pPr>
            <a:lvl2pPr eaLnBrk="1" latinLnBrk="0" hangingPunct="1">
              <a:defRPr/>
            </a:lvl2pPr>
            <a:lvl3pPr eaLnBrk="1" latinLnBrk="0" hangingPunct="1">
              <a:defRPr/>
            </a:lvl3pPr>
            <a:lvl4pPr eaLnBrk="1" latinLnBrk="0" hangingPunct="1">
              <a:defRPr/>
            </a:lvl4pPr>
            <a:lvl5pPr eaLnBrk="1" latinLnBrk="0" hangingPunct="1">
              <a:defRPr/>
            </a:lvl5p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dirty="0"/>
          </a:p>
        </p:txBody>
      </p:sp>
      <p:sp>
        <p:nvSpPr>
          <p:cNvPr id="8" name="Date Placeholder 3"/>
          <p:cNvSpPr>
            <a:spLocks noGrp="1"/>
          </p:cNvSpPr>
          <p:nvPr>
            <p:ph type="dt" sz="half" idx="2"/>
          </p:nvPr>
        </p:nvSpPr>
        <p:spPr>
          <a:xfrm>
            <a:off x="403200" y="6411600"/>
            <a:ext cx="900000" cy="244800"/>
          </a:xfrm>
          <a:prstGeom prst="rect">
            <a:avLst/>
          </a:prstGeom>
        </p:spPr>
        <p:txBody>
          <a:bodyPr vert="horz" lIns="91440" tIns="45720" rIns="91440" bIns="45720" rtlCol="0" anchor="t" anchorCtr="0"/>
          <a:lstStyle>
            <a:lvl1pPr algn="l">
              <a:defRPr sz="1000" baseline="0">
                <a:solidFill>
                  <a:srgbClr val="727272"/>
                </a:solidFill>
                <a:latin typeface="Arial"/>
              </a:defRPr>
            </a:lvl1pPr>
          </a:lstStyle>
          <a:p>
            <a:fld id="{998C901B-E87E-45FE-B420-65379E6BC032}" type="datetime1">
              <a:rPr lang="en-GB" smtClean="0"/>
              <a:pPr/>
              <a:t>07/06/2017</a:t>
            </a:fld>
            <a:endParaRPr lang="en-GB" dirty="0"/>
          </a:p>
        </p:txBody>
      </p:sp>
      <p:sp>
        <p:nvSpPr>
          <p:cNvPr id="9" name="Footer Placeholder 4"/>
          <p:cNvSpPr>
            <a:spLocks noGrp="1"/>
          </p:cNvSpPr>
          <p:nvPr>
            <p:ph type="ftr" sz="quarter" idx="3"/>
          </p:nvPr>
        </p:nvSpPr>
        <p:spPr>
          <a:xfrm>
            <a:off x="1368000" y="6411600"/>
            <a:ext cx="4680000" cy="244800"/>
          </a:xfrm>
          <a:prstGeom prst="rect">
            <a:avLst/>
          </a:prstGeom>
        </p:spPr>
        <p:txBody>
          <a:bodyPr vert="horz" lIns="91440" tIns="45720" rIns="91440" bIns="45720" rtlCol="0" anchor="t" anchorCtr="0"/>
          <a:lstStyle>
            <a:lvl1pPr algn="l">
              <a:defRPr sz="1000" kern="1200" baseline="0">
                <a:solidFill>
                  <a:srgbClr val="727272"/>
                </a:solidFill>
                <a:latin typeface="Arial"/>
              </a:defRPr>
            </a:lvl1pPr>
          </a:lstStyle>
          <a:p>
            <a:endParaRPr lang="en-GB" dirty="0"/>
          </a:p>
        </p:txBody>
      </p:sp>
      <p:sp>
        <p:nvSpPr>
          <p:cNvPr id="10" name="Slide Number Placeholder 5"/>
          <p:cNvSpPr>
            <a:spLocks noGrp="1"/>
          </p:cNvSpPr>
          <p:nvPr>
            <p:ph type="sldNum" sz="quarter" idx="4"/>
          </p:nvPr>
        </p:nvSpPr>
        <p:spPr>
          <a:xfrm>
            <a:off x="8640000" y="6411600"/>
            <a:ext cx="342000" cy="244800"/>
          </a:xfrm>
          <a:prstGeom prst="rect">
            <a:avLst/>
          </a:prstGeom>
        </p:spPr>
        <p:txBody>
          <a:bodyPr vert="horz" wrap="none" lIns="91440" tIns="45720" rIns="91440" bIns="45720" rtlCol="0" anchor="t" anchorCtr="0"/>
          <a:lstStyle>
            <a:lvl1pPr algn="r">
              <a:defRPr sz="1000" baseline="0">
                <a:solidFill>
                  <a:schemeClr val="bg1"/>
                </a:solidFill>
                <a:latin typeface="Arial"/>
              </a:defRPr>
            </a:lvl1pPr>
          </a:lstStyle>
          <a:p>
            <a:fld id="{FCE284C4-5ED1-4D6C-B7CC-2049C3062C5E}" type="slidenum">
              <a:rPr lang="en-GB" smtClean="0">
                <a:solidFill>
                  <a:prstClr val="white"/>
                </a:solidFill>
              </a:rPr>
              <a:pPr/>
              <a:t>‹#›</a:t>
            </a:fld>
            <a:endParaRPr lang="en-GB" dirty="0">
              <a:solidFill>
                <a:prstClr val="white"/>
              </a:solidFill>
            </a:endParaRPr>
          </a:p>
        </p:txBody>
      </p:sp>
      <p:sp>
        <p:nvSpPr>
          <p:cNvPr id="11" name="Title Placeholder 1"/>
          <p:cNvSpPr>
            <a:spLocks noGrp="1"/>
          </p:cNvSpPr>
          <p:nvPr>
            <p:ph type="title" hasCustomPrompt="1"/>
          </p:nvPr>
        </p:nvSpPr>
        <p:spPr>
          <a:xfrm>
            <a:off x="1080000" y="237600"/>
            <a:ext cx="7416000" cy="1022400"/>
          </a:xfrm>
          <a:prstGeom prst="rect">
            <a:avLst/>
          </a:prstGeom>
        </p:spPr>
        <p:txBody>
          <a:bodyPr vert="horz" lIns="91440" tIns="45720" rIns="91440" bIns="45720" rtlCol="0" anchor="ctr">
            <a:noAutofit/>
          </a:bodyPr>
          <a:lstStyle>
            <a:lvl1pPr>
              <a:defRPr/>
            </a:lvl1pPr>
          </a:lstStyle>
          <a:p>
            <a:r>
              <a:rPr lang="en-US" dirty="0" smtClean="0"/>
              <a:t>Click to edit Slide title</a:t>
            </a:r>
            <a:br>
              <a:rPr lang="en-US" dirty="0" smtClean="0"/>
            </a:br>
            <a:r>
              <a:rPr lang="en-US" dirty="0" smtClean="0"/>
              <a:t>Slide title can be extended to two lines</a:t>
            </a:r>
            <a:endParaRPr lang="en-US" dirty="0"/>
          </a:p>
        </p:txBody>
      </p:sp>
    </p:spTree>
    <p:extLst>
      <p:ext uri="{BB962C8B-B14F-4D97-AF65-F5344CB8AC3E}">
        <p14:creationId xmlns:p14="http://schemas.microsoft.com/office/powerpoint/2010/main" val="24360755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Section Header">
    <p:bg>
      <p:bgPr>
        <a:solidFill>
          <a:schemeClr val="tx1"/>
        </a:solidFill>
        <a:effectLst/>
      </p:bgPr>
    </p:bg>
    <p:spTree>
      <p:nvGrpSpPr>
        <p:cNvPr id="1" name=""/>
        <p:cNvGrpSpPr/>
        <p:nvPr/>
      </p:nvGrpSpPr>
      <p:grpSpPr>
        <a:xfrm>
          <a:off x="0" y="0"/>
          <a:ext cx="0" cy="0"/>
          <a:chOff x="0" y="0"/>
          <a:chExt cx="0" cy="0"/>
        </a:xfrm>
      </p:grpSpPr>
      <p:pic>
        <p:nvPicPr>
          <p:cNvPr id="7" name="Image 6"/>
          <p:cNvPicPr>
            <a:picLocks noChangeAspect="1"/>
          </p:cNvPicPr>
          <p:nvPr/>
        </p:nvPicPr>
        <p:blipFill>
          <a:blip r:embed="rId2" cstate="print"/>
          <a:stretch>
            <a:fillRect/>
          </a:stretch>
        </p:blipFill>
        <p:spPr>
          <a:xfrm>
            <a:off x="8193600" y="5328000"/>
            <a:ext cx="950407" cy="1530000"/>
          </a:xfrm>
          <a:prstGeom prst="rect">
            <a:avLst/>
          </a:prstGeom>
        </p:spPr>
      </p:pic>
      <p:pic>
        <p:nvPicPr>
          <p:cNvPr id="8" name="Image 7"/>
          <p:cNvPicPr>
            <a:picLocks noChangeAspect="1"/>
          </p:cNvPicPr>
          <p:nvPr/>
        </p:nvPicPr>
        <p:blipFill>
          <a:blip r:embed="rId3" cstate="print"/>
          <a:stretch>
            <a:fillRect/>
          </a:stretch>
        </p:blipFill>
        <p:spPr>
          <a:xfrm>
            <a:off x="579600" y="468000"/>
            <a:ext cx="692308" cy="1440000"/>
          </a:xfrm>
          <a:prstGeom prst="rect">
            <a:avLst/>
          </a:prstGeom>
        </p:spPr>
      </p:pic>
      <p:sp>
        <p:nvSpPr>
          <p:cNvPr id="9" name="Title 1"/>
          <p:cNvSpPr>
            <a:spLocks noGrp="1"/>
          </p:cNvSpPr>
          <p:nvPr>
            <p:ph type="title" hasCustomPrompt="1"/>
          </p:nvPr>
        </p:nvSpPr>
        <p:spPr>
          <a:xfrm>
            <a:off x="1260000" y="2928144"/>
            <a:ext cx="6624000" cy="1041311"/>
          </a:xfrm>
        </p:spPr>
        <p:txBody>
          <a:bodyPr anchor="ctr" anchorCtr="0">
            <a:spAutoFit/>
          </a:bodyPr>
          <a:lstStyle>
            <a:lvl1pPr algn="ctr">
              <a:lnSpc>
                <a:spcPts val="3700"/>
              </a:lnSpc>
              <a:defRPr sz="3700" b="0" i="0" cap="all" baseline="0">
                <a:solidFill>
                  <a:schemeClr val="bg1"/>
                </a:solidFill>
              </a:defRPr>
            </a:lvl1pPr>
          </a:lstStyle>
          <a:p>
            <a:r>
              <a:rPr lang="en-US" dirty="0" smtClean="0"/>
              <a:t>Click to edit Section Header title</a:t>
            </a:r>
            <a:endParaRPr lang="en-US" dirty="0"/>
          </a:p>
        </p:txBody>
      </p:sp>
      <p:sp>
        <p:nvSpPr>
          <p:cNvPr id="10" name="Date Placeholder 3"/>
          <p:cNvSpPr>
            <a:spLocks noGrp="1"/>
          </p:cNvSpPr>
          <p:nvPr>
            <p:ph type="dt" sz="half" idx="2"/>
          </p:nvPr>
        </p:nvSpPr>
        <p:spPr>
          <a:xfrm>
            <a:off x="403200" y="6411600"/>
            <a:ext cx="900000" cy="244800"/>
          </a:xfrm>
          <a:prstGeom prst="rect">
            <a:avLst/>
          </a:prstGeom>
        </p:spPr>
        <p:txBody>
          <a:bodyPr vert="horz" lIns="91440" tIns="45720" rIns="91440" bIns="45720" rtlCol="0" anchor="t" anchorCtr="0"/>
          <a:lstStyle>
            <a:lvl1pPr algn="l">
              <a:defRPr sz="1000" baseline="0">
                <a:solidFill>
                  <a:schemeClr val="bg1"/>
                </a:solidFill>
                <a:latin typeface="Arial"/>
              </a:defRPr>
            </a:lvl1pPr>
          </a:lstStyle>
          <a:p>
            <a:fld id="{A2B785B9-06B0-42D9-9A9B-49D01274C45E}" type="datetime1">
              <a:rPr lang="en-GB" smtClean="0">
                <a:solidFill>
                  <a:prstClr val="white"/>
                </a:solidFill>
              </a:rPr>
              <a:pPr/>
              <a:t>07/06/2017</a:t>
            </a:fld>
            <a:endParaRPr lang="en-GB" dirty="0">
              <a:solidFill>
                <a:prstClr val="white"/>
              </a:solidFill>
            </a:endParaRPr>
          </a:p>
        </p:txBody>
      </p:sp>
      <p:sp>
        <p:nvSpPr>
          <p:cNvPr id="11" name="Footer Placeholder 4"/>
          <p:cNvSpPr>
            <a:spLocks noGrp="1"/>
          </p:cNvSpPr>
          <p:nvPr>
            <p:ph type="ftr" sz="quarter" idx="3"/>
          </p:nvPr>
        </p:nvSpPr>
        <p:spPr>
          <a:xfrm>
            <a:off x="1368000" y="6411600"/>
            <a:ext cx="4680000" cy="244800"/>
          </a:xfrm>
          <a:prstGeom prst="rect">
            <a:avLst/>
          </a:prstGeom>
        </p:spPr>
        <p:txBody>
          <a:bodyPr vert="horz" lIns="91440" tIns="45720" rIns="91440" bIns="45720" rtlCol="0" anchor="t" anchorCtr="0"/>
          <a:lstStyle>
            <a:lvl1pPr algn="l">
              <a:defRPr sz="1000" kern="1200" baseline="0">
                <a:solidFill>
                  <a:schemeClr val="bg1"/>
                </a:solidFill>
                <a:latin typeface="Arial"/>
              </a:defRPr>
            </a:lvl1pPr>
          </a:lstStyle>
          <a:p>
            <a:endParaRPr lang="en-GB" dirty="0">
              <a:solidFill>
                <a:prstClr val="white"/>
              </a:solidFill>
            </a:endParaRPr>
          </a:p>
        </p:txBody>
      </p:sp>
      <p:sp>
        <p:nvSpPr>
          <p:cNvPr id="12" name="Slide Number Placeholder 5"/>
          <p:cNvSpPr>
            <a:spLocks noGrp="1"/>
          </p:cNvSpPr>
          <p:nvPr>
            <p:ph type="sldNum" sz="quarter" idx="4"/>
          </p:nvPr>
        </p:nvSpPr>
        <p:spPr>
          <a:xfrm>
            <a:off x="8640000" y="6411600"/>
            <a:ext cx="342000" cy="244800"/>
          </a:xfrm>
          <a:prstGeom prst="rect">
            <a:avLst/>
          </a:prstGeom>
        </p:spPr>
        <p:txBody>
          <a:bodyPr vert="horz" wrap="none" lIns="91440" tIns="45720" rIns="91440" bIns="45720" rtlCol="0" anchor="t" anchorCtr="0"/>
          <a:lstStyle>
            <a:lvl1pPr algn="r">
              <a:defRPr sz="1000" baseline="0">
                <a:solidFill>
                  <a:schemeClr val="tx2"/>
                </a:solidFill>
                <a:latin typeface="Arial"/>
              </a:defRPr>
            </a:lvl1pPr>
          </a:lstStyle>
          <a:p>
            <a:fld id="{FCE284C4-5ED1-4D6C-B7CC-2049C3062C5E}" type="slidenum">
              <a:rPr lang="en-GB" smtClean="0">
                <a:solidFill>
                  <a:srgbClr val="006299"/>
                </a:solidFill>
              </a:rPr>
              <a:pPr/>
              <a:t>‹#›</a:t>
            </a:fld>
            <a:endParaRPr lang="en-GB" dirty="0">
              <a:solidFill>
                <a:srgbClr val="006299"/>
              </a:solidFill>
            </a:endParaRPr>
          </a:p>
        </p:txBody>
      </p:sp>
    </p:spTree>
    <p:extLst>
      <p:ext uri="{BB962C8B-B14F-4D97-AF65-F5344CB8AC3E}">
        <p14:creationId xmlns:p14="http://schemas.microsoft.com/office/powerpoint/2010/main" val="29157529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732FEDD-5D26-4597-93F8-43A13583B74D}" type="datetime1">
              <a:rPr lang="en-GB" smtClean="0"/>
              <a:pPr/>
              <a:t>07/06/2017</a:t>
            </a:fld>
            <a:endParaRPr lang="en-GB" dirty="0"/>
          </a:p>
        </p:txBody>
      </p:sp>
      <p:sp>
        <p:nvSpPr>
          <p:cNvPr id="3" name="Footer Placeholder 2"/>
          <p:cNvSpPr>
            <a:spLocks noGrp="1"/>
          </p:cNvSpPr>
          <p:nvPr>
            <p:ph type="ftr" sz="quarter" idx="11"/>
          </p:nvPr>
        </p:nvSpPr>
        <p:spPr/>
        <p:txBody>
          <a:bodyPr/>
          <a:lstStyle/>
          <a:p>
            <a:endParaRPr lang="en-GB" dirty="0"/>
          </a:p>
        </p:txBody>
      </p:sp>
      <p:sp>
        <p:nvSpPr>
          <p:cNvPr id="4" name="Slide Number Placeholder 3"/>
          <p:cNvSpPr>
            <a:spLocks noGrp="1"/>
          </p:cNvSpPr>
          <p:nvPr>
            <p:ph type="sldNum" sz="quarter" idx="12"/>
          </p:nvPr>
        </p:nvSpPr>
        <p:spPr/>
        <p:txBody>
          <a:bodyPr/>
          <a:lstStyle/>
          <a:p>
            <a:fld id="{FCE284C4-5ED1-4D6C-B7CC-2049C3062C5E}" type="slidenum">
              <a:rPr lang="en-GB" smtClean="0">
                <a:solidFill>
                  <a:prstClr val="white"/>
                </a:solidFill>
              </a:rPr>
              <a:pPr/>
              <a:t>‹#›</a:t>
            </a:fld>
            <a:endParaRPr lang="en-GB" dirty="0">
              <a:solidFill>
                <a:prstClr val="white"/>
              </a:solidFill>
            </a:endParaRPr>
          </a:p>
        </p:txBody>
      </p:sp>
    </p:spTree>
    <p:extLst>
      <p:ext uri="{BB962C8B-B14F-4D97-AF65-F5344CB8AC3E}">
        <p14:creationId xmlns:p14="http://schemas.microsoft.com/office/powerpoint/2010/main" val="1154682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cSld name="Titre et contenu">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eaLnBrk="1" latinLnBrk="0" hangingPunct="1">
              <a:defRPr/>
            </a:lvl1pPr>
            <a:lvl2pPr eaLnBrk="1" latinLnBrk="0" hangingPunct="1">
              <a:defRPr/>
            </a:lvl2pPr>
            <a:lvl3pPr eaLnBrk="1" latinLnBrk="0" hangingPunct="1">
              <a:defRPr/>
            </a:lvl3pPr>
            <a:lvl4pPr eaLnBrk="1" latinLnBrk="0" hangingPunct="1">
              <a:defRPr/>
            </a:lvl4pPr>
            <a:lvl5pPr eaLnBrk="1" latinLnBrk="0" hangingPunct="1">
              <a:defRPr/>
            </a:lvl5pPr>
          </a:lstStyle>
          <a:p>
            <a:pPr lvl="0" eaLnBrk="1" latinLnBrk="0" hangingPunct="1"/>
            <a:r>
              <a:rPr lang="fr-FR" dirty="0" smtClean="0"/>
              <a:t>Cliquez pour modifier les styles du texte du masque</a:t>
            </a:r>
            <a:endParaRPr lang="en-US" dirty="0" smtClean="0"/>
          </a:p>
          <a:p>
            <a:pPr lvl="1" eaLnBrk="1" latinLnBrk="0" hangingPunct="1"/>
            <a:r>
              <a:rPr lang="en-US" dirty="0" err="1" smtClean="0"/>
              <a:t>Deuxième</a:t>
            </a:r>
            <a:r>
              <a:rPr lang="en-US" dirty="0" smtClean="0"/>
              <a:t> </a:t>
            </a:r>
            <a:r>
              <a:rPr lang="en-US" dirty="0" err="1" smtClean="0"/>
              <a:t>niveau</a:t>
            </a:r>
            <a:endParaRPr lang="en-US" dirty="0" smtClean="0"/>
          </a:p>
          <a:p>
            <a:pPr lvl="2" eaLnBrk="1" latinLnBrk="0" hangingPunct="1"/>
            <a:r>
              <a:rPr lang="en-US" dirty="0" err="1" smtClean="0"/>
              <a:t>Troisième</a:t>
            </a:r>
            <a:r>
              <a:rPr lang="en-US" dirty="0" smtClean="0"/>
              <a:t> </a:t>
            </a:r>
            <a:r>
              <a:rPr lang="en-US" dirty="0" err="1" smtClean="0"/>
              <a:t>niveau</a:t>
            </a:r>
            <a:endParaRPr lang="en-US" dirty="0" smtClean="0"/>
          </a:p>
          <a:p>
            <a:pPr lvl="3" eaLnBrk="1" latinLnBrk="0" hangingPunct="1"/>
            <a:r>
              <a:rPr lang="en-US" dirty="0" err="1" smtClean="0"/>
              <a:t>Quatrième</a:t>
            </a:r>
            <a:r>
              <a:rPr lang="en-US" dirty="0" smtClean="0"/>
              <a:t> </a:t>
            </a:r>
            <a:r>
              <a:rPr lang="en-US" dirty="0" err="1" smtClean="0"/>
              <a:t>niveau</a:t>
            </a:r>
            <a:endParaRPr lang="en-US" dirty="0" smtClean="0"/>
          </a:p>
          <a:p>
            <a:pPr lvl="4" eaLnBrk="1" latinLnBrk="0" hangingPunct="1"/>
            <a:r>
              <a:rPr lang="en-US" dirty="0" err="1" smtClean="0"/>
              <a:t>Cinquième</a:t>
            </a:r>
            <a:r>
              <a:rPr lang="en-US" dirty="0" smtClean="0"/>
              <a:t> </a:t>
            </a:r>
            <a:r>
              <a:rPr lang="en-US" dirty="0" err="1" smtClean="0"/>
              <a:t>niveau</a:t>
            </a:r>
            <a:endParaRPr kumimoji="0" lang="en-US" dirty="0"/>
          </a:p>
        </p:txBody>
      </p:sp>
      <p:sp>
        <p:nvSpPr>
          <p:cNvPr id="8" name="Date Placeholder 3"/>
          <p:cNvSpPr>
            <a:spLocks noGrp="1"/>
          </p:cNvSpPr>
          <p:nvPr>
            <p:ph type="dt" sz="half" idx="2"/>
          </p:nvPr>
        </p:nvSpPr>
        <p:spPr>
          <a:xfrm>
            <a:off x="403200" y="6411600"/>
            <a:ext cx="900000" cy="244800"/>
          </a:xfrm>
          <a:prstGeom prst="rect">
            <a:avLst/>
          </a:prstGeom>
        </p:spPr>
        <p:txBody>
          <a:bodyPr vert="horz" lIns="91440" tIns="45720" rIns="91440" bIns="45720" rtlCol="0" anchor="t" anchorCtr="0"/>
          <a:lstStyle>
            <a:lvl1pPr algn="l">
              <a:defRPr sz="1000" baseline="0">
                <a:solidFill>
                  <a:srgbClr val="727272"/>
                </a:solidFill>
                <a:latin typeface="Arial"/>
              </a:defRPr>
            </a:lvl1pPr>
          </a:lstStyle>
          <a:p>
            <a:endParaRPr lang="en-US" dirty="0"/>
          </a:p>
        </p:txBody>
      </p:sp>
      <p:sp>
        <p:nvSpPr>
          <p:cNvPr id="9" name="Footer Placeholder 4"/>
          <p:cNvSpPr>
            <a:spLocks noGrp="1"/>
          </p:cNvSpPr>
          <p:nvPr>
            <p:ph type="ftr" sz="quarter" idx="3"/>
          </p:nvPr>
        </p:nvSpPr>
        <p:spPr>
          <a:xfrm>
            <a:off x="1368000" y="6411600"/>
            <a:ext cx="4680000" cy="244800"/>
          </a:xfrm>
          <a:prstGeom prst="rect">
            <a:avLst/>
          </a:prstGeom>
        </p:spPr>
        <p:txBody>
          <a:bodyPr vert="horz" lIns="91440" tIns="45720" rIns="91440" bIns="45720" rtlCol="0" anchor="t" anchorCtr="0"/>
          <a:lstStyle>
            <a:lvl1pPr algn="l">
              <a:defRPr sz="1000" kern="1200" baseline="0">
                <a:solidFill>
                  <a:srgbClr val="727272"/>
                </a:solidFill>
                <a:latin typeface="Arial"/>
              </a:defRPr>
            </a:lvl1pPr>
          </a:lstStyle>
          <a:p>
            <a:endParaRPr lang="en-US" dirty="0"/>
          </a:p>
        </p:txBody>
      </p:sp>
      <p:sp>
        <p:nvSpPr>
          <p:cNvPr id="10" name="Slide Number Placeholder 5"/>
          <p:cNvSpPr>
            <a:spLocks noGrp="1"/>
          </p:cNvSpPr>
          <p:nvPr>
            <p:ph type="sldNum" sz="quarter" idx="4"/>
          </p:nvPr>
        </p:nvSpPr>
        <p:spPr>
          <a:xfrm>
            <a:off x="8640000" y="6411600"/>
            <a:ext cx="342000" cy="244800"/>
          </a:xfrm>
          <a:prstGeom prst="rect">
            <a:avLst/>
          </a:prstGeom>
        </p:spPr>
        <p:txBody>
          <a:bodyPr vert="horz" wrap="none" lIns="91440" tIns="45720" rIns="91440" bIns="45720" rtlCol="0" anchor="t" anchorCtr="0"/>
          <a:lstStyle>
            <a:lvl1pPr algn="r">
              <a:defRPr sz="1000" baseline="0">
                <a:solidFill>
                  <a:schemeClr val="bg1"/>
                </a:solidFill>
                <a:latin typeface="Arial"/>
              </a:defRPr>
            </a:lvl1pPr>
          </a:lstStyle>
          <a:p>
            <a:fld id="{58A3AF47-B4FA-4D1F-8A11-2DCF56C6D06A}" type="slidenum">
              <a:rPr lang="en-US" smtClean="0">
                <a:solidFill>
                  <a:prstClr val="white"/>
                </a:solidFill>
              </a:rPr>
              <a:pPr/>
              <a:t>‹#›</a:t>
            </a:fld>
            <a:endParaRPr lang="en-US" dirty="0">
              <a:solidFill>
                <a:prstClr val="white"/>
              </a:solidFill>
            </a:endParaRPr>
          </a:p>
        </p:txBody>
      </p:sp>
      <p:sp>
        <p:nvSpPr>
          <p:cNvPr id="11" name="Title Placeholder 1"/>
          <p:cNvSpPr>
            <a:spLocks noGrp="1"/>
          </p:cNvSpPr>
          <p:nvPr>
            <p:ph type="title" hasCustomPrompt="1"/>
          </p:nvPr>
        </p:nvSpPr>
        <p:spPr>
          <a:xfrm>
            <a:off x="1080000" y="237600"/>
            <a:ext cx="7416000" cy="1022400"/>
          </a:xfrm>
          <a:prstGeom prst="rect">
            <a:avLst/>
          </a:prstGeom>
        </p:spPr>
        <p:txBody>
          <a:bodyPr vert="horz" lIns="91440" tIns="45720" rIns="91440" bIns="45720" rtlCol="0" anchor="ctr">
            <a:noAutofit/>
          </a:bodyPr>
          <a:lstStyle/>
          <a:p>
            <a:r>
              <a:rPr lang="fr-FR" dirty="0" smtClean="0"/>
              <a:t>Cliquez pour modifier le titre</a:t>
            </a:r>
            <a:br>
              <a:rPr lang="fr-FR" dirty="0" smtClean="0"/>
            </a:br>
            <a:r>
              <a:rPr lang="fr-FR" dirty="0" smtClean="0"/>
              <a:t>Le titre peut-être étendu sur deux lignes</a:t>
            </a:r>
            <a:endParaRPr lang="en-US" dirty="0"/>
          </a:p>
        </p:txBody>
      </p:sp>
    </p:spTree>
    <p:extLst>
      <p:ext uri="{BB962C8B-B14F-4D97-AF65-F5344CB8AC3E}">
        <p14:creationId xmlns:p14="http://schemas.microsoft.com/office/powerpoint/2010/main" val="185499054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emf"/><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3.emf"/><Relationship Id="rId3" Type="http://schemas.openxmlformats.org/officeDocument/2006/relationships/slideLayout" Target="../slideLayouts/slideLayout7.xml"/><Relationship Id="rId7" Type="http://schemas.openxmlformats.org/officeDocument/2006/relationships/image" Target="../media/image2.png"/><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theme" Target="../theme/theme2.xml"/><Relationship Id="rId5" Type="http://schemas.openxmlformats.org/officeDocument/2006/relationships/slideLayout" Target="../slideLayouts/slideLayout9.xml"/><Relationship Id="rId4"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20" name="Image 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8193600" y="5328184"/>
            <a:ext cx="950407" cy="1529631"/>
          </a:xfrm>
          <a:prstGeom prst="rect">
            <a:avLst/>
          </a:prstGeom>
        </p:spPr>
      </p:pic>
      <p:sp>
        <p:nvSpPr>
          <p:cNvPr id="21" name="Rectangle 20"/>
          <p:cNvSpPr/>
          <p:nvPr/>
        </p:nvSpPr>
        <p:spPr bwMode="auto">
          <a:xfrm>
            <a:off x="504000" y="1306800"/>
            <a:ext cx="8154000" cy="0"/>
          </a:xfrm>
          <a:prstGeom prst="rect">
            <a:avLst/>
          </a:prstGeom>
          <a:noFill/>
          <a:ln w="6350" cap="flat" cmpd="sng" algn="ctr">
            <a:solidFill>
              <a:srgbClr val="727272"/>
            </a:solidFill>
            <a:prstDash val="solid"/>
            <a:miter lim="800000"/>
            <a:headEnd type="none" w="med" len="med"/>
            <a:tailEnd type="none" w="med" len="med"/>
          </a:ln>
          <a:effectLst/>
        </p:spPr>
        <p:txBody>
          <a:bodyPr vert="horz" wrap="non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fr-FR" sz="2000" b="0" i="0" u="none" strike="noStrike" cap="none" normalizeH="0" baseline="0" dirty="0" smtClean="0">
              <a:ln>
                <a:noFill/>
              </a:ln>
              <a:solidFill>
                <a:schemeClr val="tx1"/>
              </a:solidFill>
              <a:effectLst/>
              <a:latin typeface="Helvetica 65 Medium" pitchFamily="34" charset="0"/>
            </a:endParaRPr>
          </a:p>
        </p:txBody>
      </p:sp>
      <p:pic>
        <p:nvPicPr>
          <p:cNvPr id="24" name="Image 7"/>
          <p:cNvPicPr>
            <a:picLocks noChangeAspect="1"/>
          </p:cNvPicPr>
          <p:nvPr/>
        </p:nvPicPr>
        <p:blipFill>
          <a:blip r:embed="rId7" cstate="print"/>
          <a:stretch>
            <a:fillRect/>
          </a:stretch>
        </p:blipFill>
        <p:spPr>
          <a:xfrm>
            <a:off x="500400" y="288000"/>
            <a:ext cx="458653" cy="954000"/>
          </a:xfrm>
          <a:prstGeom prst="rect">
            <a:avLst/>
          </a:prstGeom>
        </p:spPr>
      </p:pic>
      <p:sp>
        <p:nvSpPr>
          <p:cNvPr id="13" name="Text Placeholder 12"/>
          <p:cNvSpPr>
            <a:spLocks noGrp="1"/>
          </p:cNvSpPr>
          <p:nvPr>
            <p:ph type="body" idx="1"/>
          </p:nvPr>
        </p:nvSpPr>
        <p:spPr>
          <a:xfrm>
            <a:off x="468000" y="1602000"/>
            <a:ext cx="8218800" cy="4525200"/>
          </a:xfrm>
          <a:prstGeom prst="rect">
            <a:avLst/>
          </a:prstGeom>
        </p:spPr>
        <p:txBody>
          <a:bodyPr vert="horz">
            <a:normAutofit/>
          </a:bodyPr>
          <a:lstStyle/>
          <a:p>
            <a:pPr lvl="0" eaLnBrk="1" latinLnBrk="0" hangingPunct="1"/>
            <a:r>
              <a:rPr kumimoji="0" lang="en-US" smtClean="0"/>
              <a:t>Click to edit Master text styles</a:t>
            </a:r>
          </a:p>
          <a:p>
            <a:pPr lvl="1" eaLnBrk="1" latinLnBrk="0" hangingPunct="1"/>
            <a:r>
              <a:rPr kumimoji="0" lang="en-US" smtClean="0"/>
              <a:t>Second level</a:t>
            </a:r>
          </a:p>
          <a:p>
            <a:pPr lvl="2" eaLnBrk="1" latinLnBrk="0" hangingPunct="1"/>
            <a:r>
              <a:rPr kumimoji="0" lang="en-US" smtClean="0"/>
              <a:t>Third level</a:t>
            </a:r>
          </a:p>
          <a:p>
            <a:pPr lvl="3" eaLnBrk="1" latinLnBrk="0" hangingPunct="1"/>
            <a:r>
              <a:rPr kumimoji="0" lang="en-US" smtClean="0"/>
              <a:t>Fourth level</a:t>
            </a:r>
          </a:p>
          <a:p>
            <a:pPr lvl="4" eaLnBrk="1" latinLnBrk="0" hangingPunct="1"/>
            <a:r>
              <a:rPr kumimoji="0" lang="en-US" smtClean="0"/>
              <a:t>Fifth level</a:t>
            </a:r>
            <a:endParaRPr kumimoji="0" lang="en-US" dirty="0"/>
          </a:p>
        </p:txBody>
      </p:sp>
      <p:sp>
        <p:nvSpPr>
          <p:cNvPr id="25" name="Title Placeholder 1"/>
          <p:cNvSpPr>
            <a:spLocks noGrp="1"/>
          </p:cNvSpPr>
          <p:nvPr>
            <p:ph type="title"/>
          </p:nvPr>
        </p:nvSpPr>
        <p:spPr>
          <a:xfrm>
            <a:off x="1080000" y="237600"/>
            <a:ext cx="7416000" cy="1022400"/>
          </a:xfrm>
          <a:prstGeom prst="rect">
            <a:avLst/>
          </a:prstGeom>
        </p:spPr>
        <p:txBody>
          <a:bodyPr vert="horz" lIns="91440" tIns="45720" rIns="91440" bIns="45720" rtlCol="0" anchor="ctr">
            <a:noAutofit/>
          </a:bodyPr>
          <a:lstStyle/>
          <a:p>
            <a:r>
              <a:rPr lang="en-US" dirty="0" smtClean="0"/>
              <a:t>Click to edit Slide title</a:t>
            </a:r>
            <a:br>
              <a:rPr lang="en-US" dirty="0" smtClean="0"/>
            </a:br>
            <a:r>
              <a:rPr lang="en-US" dirty="0" smtClean="0"/>
              <a:t>Slide title can be extended to two lines</a:t>
            </a:r>
            <a:endParaRPr lang="en-US" dirty="0"/>
          </a:p>
        </p:txBody>
      </p:sp>
      <p:sp>
        <p:nvSpPr>
          <p:cNvPr id="26" name="Date Placeholder 3"/>
          <p:cNvSpPr>
            <a:spLocks noGrp="1"/>
          </p:cNvSpPr>
          <p:nvPr>
            <p:ph type="dt" sz="half" idx="2"/>
          </p:nvPr>
        </p:nvSpPr>
        <p:spPr>
          <a:xfrm>
            <a:off x="403200" y="6411600"/>
            <a:ext cx="900000" cy="244800"/>
          </a:xfrm>
          <a:prstGeom prst="rect">
            <a:avLst/>
          </a:prstGeom>
        </p:spPr>
        <p:txBody>
          <a:bodyPr vert="horz" lIns="91440" tIns="45720" rIns="91440" bIns="45720" rtlCol="0" anchor="t" anchorCtr="0"/>
          <a:lstStyle>
            <a:lvl1pPr algn="l">
              <a:defRPr sz="1000" baseline="0">
                <a:solidFill>
                  <a:srgbClr val="727272"/>
                </a:solidFill>
                <a:latin typeface="Arial"/>
              </a:defRPr>
            </a:lvl1pPr>
          </a:lstStyle>
          <a:p>
            <a:fld id="{B8370864-E9EA-44BF-8598-F5589D64693F}" type="datetime1">
              <a:rPr lang="en-GB" smtClean="0"/>
              <a:t>07/06/2017</a:t>
            </a:fld>
            <a:endParaRPr lang="en-GB" dirty="0"/>
          </a:p>
        </p:txBody>
      </p:sp>
      <p:sp>
        <p:nvSpPr>
          <p:cNvPr id="27" name="Footer Placeholder 4"/>
          <p:cNvSpPr>
            <a:spLocks noGrp="1"/>
          </p:cNvSpPr>
          <p:nvPr>
            <p:ph type="ftr" sz="quarter" idx="3"/>
          </p:nvPr>
        </p:nvSpPr>
        <p:spPr>
          <a:xfrm>
            <a:off x="1368000" y="6411600"/>
            <a:ext cx="4680000" cy="244800"/>
          </a:xfrm>
          <a:prstGeom prst="rect">
            <a:avLst/>
          </a:prstGeom>
        </p:spPr>
        <p:txBody>
          <a:bodyPr vert="horz" lIns="91440" tIns="45720" rIns="91440" bIns="45720" rtlCol="0" anchor="t" anchorCtr="0"/>
          <a:lstStyle>
            <a:lvl1pPr algn="l">
              <a:defRPr sz="1000" kern="1200" baseline="0">
                <a:solidFill>
                  <a:srgbClr val="727272"/>
                </a:solidFill>
                <a:latin typeface="Arial"/>
              </a:defRPr>
            </a:lvl1pPr>
          </a:lstStyle>
          <a:p>
            <a:endParaRPr lang="en-GB" dirty="0"/>
          </a:p>
        </p:txBody>
      </p:sp>
      <p:sp>
        <p:nvSpPr>
          <p:cNvPr id="41" name="Slide Number Placeholder 5"/>
          <p:cNvSpPr>
            <a:spLocks noGrp="1"/>
          </p:cNvSpPr>
          <p:nvPr>
            <p:ph type="sldNum" sz="quarter" idx="4"/>
          </p:nvPr>
        </p:nvSpPr>
        <p:spPr>
          <a:xfrm>
            <a:off x="8640000" y="6411600"/>
            <a:ext cx="342000" cy="244800"/>
          </a:xfrm>
          <a:prstGeom prst="rect">
            <a:avLst/>
          </a:prstGeom>
        </p:spPr>
        <p:txBody>
          <a:bodyPr vert="horz" wrap="none" lIns="91440" tIns="45720" rIns="91440" bIns="45720" rtlCol="0" anchor="t" anchorCtr="0"/>
          <a:lstStyle>
            <a:lvl1pPr algn="r">
              <a:defRPr sz="1000" baseline="0">
                <a:solidFill>
                  <a:schemeClr val="bg1"/>
                </a:solidFill>
                <a:latin typeface="Arial"/>
              </a:defRPr>
            </a:lvl1pPr>
          </a:lstStyle>
          <a:p>
            <a:fld id="{FCE284C4-5ED1-4D6C-B7CC-2049C3062C5E}" type="slidenum">
              <a:rPr lang="en-GB" smtClean="0"/>
              <a:t>‹#›</a:t>
            </a:fld>
            <a:endParaRPr lang="en-GB"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Lst>
  <p:hf hdr="0" ftr="0" dt="0"/>
  <p:txStyles>
    <p:titleStyle>
      <a:lvl1pPr algn="l" rtl="0" eaLnBrk="1" latinLnBrk="0" hangingPunct="1">
        <a:spcBef>
          <a:spcPct val="0"/>
        </a:spcBef>
        <a:buNone/>
        <a:defRPr kumimoji="0" sz="3200" kern="1200">
          <a:solidFill>
            <a:schemeClr val="tx1"/>
          </a:solidFill>
          <a:latin typeface="+mj-lt"/>
          <a:ea typeface="+mj-ea"/>
          <a:cs typeface="+mj-cs"/>
        </a:defRPr>
      </a:lvl1pPr>
    </p:titleStyle>
    <p:bodyStyle>
      <a:lvl1pPr marL="342000" indent="-342000" algn="l" rtl="0" eaLnBrk="1" latinLnBrk="0" hangingPunct="1">
        <a:spcBef>
          <a:spcPts val="768"/>
        </a:spcBef>
        <a:buClr>
          <a:schemeClr val="tx1"/>
        </a:buClr>
        <a:buFont typeface="Arial" pitchFamily="34" charset="0"/>
        <a:buChar char="•"/>
        <a:defRPr kumimoji="0" sz="3200" kern="1200">
          <a:solidFill>
            <a:schemeClr val="tx1"/>
          </a:solidFill>
          <a:latin typeface="+mn-lt"/>
          <a:ea typeface="+mn-ea"/>
          <a:cs typeface="+mn-cs"/>
        </a:defRPr>
      </a:lvl1pPr>
      <a:lvl2pPr marL="741600" indent="-284400" algn="l" rtl="0" eaLnBrk="1" latinLnBrk="0" hangingPunct="1">
        <a:spcBef>
          <a:spcPts val="672"/>
        </a:spcBef>
        <a:buClr>
          <a:schemeClr val="tx1"/>
        </a:buClr>
        <a:buFont typeface="Arial" pitchFamily="34" charset="0"/>
        <a:buChar char="–"/>
        <a:defRPr kumimoji="0" sz="2800" kern="1200">
          <a:solidFill>
            <a:schemeClr val="tx1"/>
          </a:solidFill>
          <a:latin typeface="+mn-lt"/>
          <a:ea typeface="+mn-ea"/>
          <a:cs typeface="+mn-cs"/>
        </a:defRPr>
      </a:lvl2pPr>
      <a:lvl3pPr marL="1144800" indent="-230400" algn="l" rtl="0" eaLnBrk="1" latinLnBrk="0" hangingPunct="1">
        <a:spcBef>
          <a:spcPts val="576"/>
        </a:spcBef>
        <a:buClr>
          <a:schemeClr val="tx1"/>
        </a:buClr>
        <a:buFont typeface="Arial" pitchFamily="34" charset="0"/>
        <a:buChar char="•"/>
        <a:defRPr kumimoji="0" sz="2400" kern="1200">
          <a:solidFill>
            <a:schemeClr val="tx1"/>
          </a:solidFill>
          <a:latin typeface="+mn-lt"/>
          <a:ea typeface="+mn-ea"/>
          <a:cs typeface="+mn-cs"/>
        </a:defRPr>
      </a:lvl3pPr>
      <a:lvl4pPr marL="1602000" indent="-230400" algn="l" rtl="0" eaLnBrk="1" latinLnBrk="0" hangingPunct="1">
        <a:spcBef>
          <a:spcPts val="480"/>
        </a:spcBef>
        <a:buClr>
          <a:schemeClr val="tx1"/>
        </a:buClr>
        <a:buFont typeface="Arial" pitchFamily="34" charset="0"/>
        <a:buChar char="–"/>
        <a:defRPr kumimoji="0" sz="2000" kern="1200">
          <a:solidFill>
            <a:schemeClr val="tx1"/>
          </a:solidFill>
          <a:latin typeface="+mn-lt"/>
          <a:ea typeface="+mn-ea"/>
          <a:cs typeface="+mn-cs"/>
        </a:defRPr>
      </a:lvl4pPr>
      <a:lvl5pPr marL="2059200" indent="-230400" algn="l" rtl="0" eaLnBrk="1" latinLnBrk="0" hangingPunct="1">
        <a:spcBef>
          <a:spcPts val="480"/>
        </a:spcBef>
        <a:buClr>
          <a:schemeClr val="tx1"/>
        </a:buClr>
        <a:buFont typeface="Arial" pitchFamily="34" charset="0"/>
        <a:buChar char="»"/>
        <a:defRPr kumimoji="0" sz="2000" kern="1200">
          <a:solidFill>
            <a:schemeClr val="tx1"/>
          </a:solidFill>
          <a:latin typeface="+mn-lt"/>
          <a:ea typeface="+mn-ea"/>
          <a:cs typeface="+mn-cs"/>
        </a:defRPr>
      </a:lvl5pPr>
      <a:lvl6pPr marL="1609344" indent="-182880" algn="l" rtl="0" eaLnBrk="1" latinLnBrk="0" hangingPunct="1">
        <a:spcBef>
          <a:spcPts val="300"/>
        </a:spcBef>
        <a:buClr>
          <a:schemeClr val="accent3"/>
        </a:buClr>
        <a:buFont typeface="Georgia"/>
        <a:buChar char="▫"/>
        <a:defRPr kumimoji="0" sz="1800" kern="1200">
          <a:solidFill>
            <a:schemeClr val="accent3"/>
          </a:solidFill>
          <a:latin typeface="+mn-lt"/>
          <a:ea typeface="+mn-ea"/>
          <a:cs typeface="+mn-cs"/>
        </a:defRPr>
      </a:lvl6pPr>
      <a:lvl7pPr marL="1828800" indent="-182880" algn="l" rtl="0" eaLnBrk="1" latinLnBrk="0" hangingPunct="1">
        <a:spcBef>
          <a:spcPts val="300"/>
        </a:spcBef>
        <a:buClr>
          <a:schemeClr val="accent3"/>
        </a:buClr>
        <a:buFont typeface="Georgia"/>
        <a:buChar char="▫"/>
        <a:defRPr kumimoji="0" sz="1600" kern="1200">
          <a:solidFill>
            <a:schemeClr val="accent3"/>
          </a:solidFill>
          <a:latin typeface="+mn-lt"/>
          <a:ea typeface="+mn-ea"/>
          <a:cs typeface="+mn-cs"/>
        </a:defRPr>
      </a:lvl7pPr>
      <a:lvl8pPr marL="2029968" indent="-182880" algn="l" rtl="0" eaLnBrk="1" latinLnBrk="0" hangingPunct="1">
        <a:spcBef>
          <a:spcPts val="300"/>
        </a:spcBef>
        <a:buClr>
          <a:schemeClr val="accent3"/>
        </a:buClr>
        <a:buFont typeface="Georgia"/>
        <a:buChar char="◦"/>
        <a:defRPr kumimoji="0" sz="1500" kern="1200">
          <a:solidFill>
            <a:schemeClr val="accent3"/>
          </a:solidFill>
          <a:latin typeface="+mn-lt"/>
          <a:ea typeface="+mn-ea"/>
          <a:cs typeface="+mn-cs"/>
        </a:defRPr>
      </a:lvl8pPr>
      <a:lvl9pPr marL="2240280" indent="-182880" algn="l" rtl="0" eaLnBrk="1" latinLnBrk="0" hangingPunct="1">
        <a:spcBef>
          <a:spcPts val="300"/>
        </a:spcBef>
        <a:buClr>
          <a:schemeClr val="accent3"/>
        </a:buClr>
        <a:buFont typeface="Georgia"/>
        <a:buChar char="◦"/>
        <a:defRPr kumimoji="0" sz="1400" kern="1200" baseline="0">
          <a:solidFill>
            <a:schemeClr val="accent3"/>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20" name="Image 8"/>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193600" y="5328184"/>
            <a:ext cx="950407" cy="1529631"/>
          </a:xfrm>
          <a:prstGeom prst="rect">
            <a:avLst/>
          </a:prstGeom>
        </p:spPr>
      </p:pic>
      <p:sp>
        <p:nvSpPr>
          <p:cNvPr id="21" name="Rectangle 20"/>
          <p:cNvSpPr/>
          <p:nvPr/>
        </p:nvSpPr>
        <p:spPr bwMode="auto">
          <a:xfrm>
            <a:off x="504000" y="1306800"/>
            <a:ext cx="8154000" cy="0"/>
          </a:xfrm>
          <a:prstGeom prst="rect">
            <a:avLst/>
          </a:prstGeom>
          <a:noFill/>
          <a:ln w="6350" cap="flat" cmpd="sng" algn="ctr">
            <a:solidFill>
              <a:srgbClr val="727272"/>
            </a:solidFill>
            <a:prstDash val="solid"/>
            <a:miter lim="800000"/>
            <a:headEnd type="none" w="med" len="med"/>
            <a:tailEnd type="none" w="med" len="med"/>
          </a:ln>
          <a:effectLst/>
        </p:spPr>
        <p:txBody>
          <a:bodyPr vert="horz" wrap="none" lIns="91440" tIns="45720" rIns="91440" bIns="45720" numCol="1" rtlCol="0" anchor="t" anchorCtr="0" compatLnSpc="1">
            <a:prstTxWarp prst="textNoShape">
              <a:avLst/>
            </a:prstTxWarp>
          </a:bodyPr>
          <a:lstStyle/>
          <a:p>
            <a:pPr algn="ctr" eaLnBrk="0" fontAlgn="base" hangingPunct="0">
              <a:spcBef>
                <a:spcPct val="0"/>
              </a:spcBef>
              <a:spcAft>
                <a:spcPct val="0"/>
              </a:spcAft>
            </a:pPr>
            <a:endParaRPr lang="fr-FR" sz="2000" dirty="0" smtClean="0">
              <a:solidFill>
                <a:srgbClr val="727272"/>
              </a:solidFill>
              <a:latin typeface="Helvetica 65 Medium" pitchFamily="34" charset="0"/>
            </a:endParaRPr>
          </a:p>
        </p:txBody>
      </p:sp>
      <p:pic>
        <p:nvPicPr>
          <p:cNvPr id="24" name="Image 7"/>
          <p:cNvPicPr>
            <a:picLocks noChangeAspect="1"/>
          </p:cNvPicPr>
          <p:nvPr/>
        </p:nvPicPr>
        <p:blipFill>
          <a:blip r:embed="rId8" cstate="print"/>
          <a:stretch>
            <a:fillRect/>
          </a:stretch>
        </p:blipFill>
        <p:spPr>
          <a:xfrm>
            <a:off x="500400" y="288000"/>
            <a:ext cx="458653" cy="954000"/>
          </a:xfrm>
          <a:prstGeom prst="rect">
            <a:avLst/>
          </a:prstGeom>
        </p:spPr>
      </p:pic>
      <p:sp>
        <p:nvSpPr>
          <p:cNvPr id="13" name="Text Placeholder 12"/>
          <p:cNvSpPr>
            <a:spLocks noGrp="1"/>
          </p:cNvSpPr>
          <p:nvPr>
            <p:ph type="body" idx="1"/>
          </p:nvPr>
        </p:nvSpPr>
        <p:spPr>
          <a:xfrm>
            <a:off x="468000" y="1602000"/>
            <a:ext cx="8218800" cy="4525200"/>
          </a:xfrm>
          <a:prstGeom prst="rect">
            <a:avLst/>
          </a:prstGeom>
        </p:spPr>
        <p:txBody>
          <a:bodyPr vert="horz">
            <a:normAutofit/>
          </a:bodyPr>
          <a:lstStyle/>
          <a:p>
            <a:pPr lvl="0" eaLnBrk="1" latinLnBrk="0" hangingPunct="1"/>
            <a:r>
              <a:rPr kumimoji="0" lang="en-US" smtClean="0"/>
              <a:t>Click to edit Master text styles</a:t>
            </a:r>
          </a:p>
          <a:p>
            <a:pPr lvl="1" eaLnBrk="1" latinLnBrk="0" hangingPunct="1"/>
            <a:r>
              <a:rPr kumimoji="0" lang="en-US" smtClean="0"/>
              <a:t>Second level</a:t>
            </a:r>
          </a:p>
          <a:p>
            <a:pPr lvl="2" eaLnBrk="1" latinLnBrk="0" hangingPunct="1"/>
            <a:r>
              <a:rPr kumimoji="0" lang="en-US" smtClean="0"/>
              <a:t>Third level</a:t>
            </a:r>
          </a:p>
          <a:p>
            <a:pPr lvl="3" eaLnBrk="1" latinLnBrk="0" hangingPunct="1"/>
            <a:r>
              <a:rPr kumimoji="0" lang="en-US" smtClean="0"/>
              <a:t>Fourth level</a:t>
            </a:r>
          </a:p>
          <a:p>
            <a:pPr lvl="4" eaLnBrk="1" latinLnBrk="0" hangingPunct="1"/>
            <a:r>
              <a:rPr kumimoji="0" lang="en-US" smtClean="0"/>
              <a:t>Fifth level</a:t>
            </a:r>
            <a:endParaRPr kumimoji="0" lang="en-US" dirty="0"/>
          </a:p>
        </p:txBody>
      </p:sp>
      <p:sp>
        <p:nvSpPr>
          <p:cNvPr id="25" name="Title Placeholder 1"/>
          <p:cNvSpPr>
            <a:spLocks noGrp="1"/>
          </p:cNvSpPr>
          <p:nvPr>
            <p:ph type="title"/>
          </p:nvPr>
        </p:nvSpPr>
        <p:spPr>
          <a:xfrm>
            <a:off x="1080000" y="237600"/>
            <a:ext cx="7416000" cy="1022400"/>
          </a:xfrm>
          <a:prstGeom prst="rect">
            <a:avLst/>
          </a:prstGeom>
        </p:spPr>
        <p:txBody>
          <a:bodyPr vert="horz" lIns="91440" tIns="45720" rIns="91440" bIns="45720" rtlCol="0" anchor="ctr">
            <a:noAutofit/>
          </a:bodyPr>
          <a:lstStyle/>
          <a:p>
            <a:r>
              <a:rPr lang="en-US" dirty="0" smtClean="0"/>
              <a:t>Click to edit Slide title</a:t>
            </a:r>
            <a:br>
              <a:rPr lang="en-US" dirty="0" smtClean="0"/>
            </a:br>
            <a:r>
              <a:rPr lang="en-US" dirty="0" smtClean="0"/>
              <a:t>Slide title can be extended to two lines</a:t>
            </a:r>
            <a:endParaRPr lang="en-US" dirty="0"/>
          </a:p>
        </p:txBody>
      </p:sp>
      <p:sp>
        <p:nvSpPr>
          <p:cNvPr id="26" name="Date Placeholder 3"/>
          <p:cNvSpPr>
            <a:spLocks noGrp="1"/>
          </p:cNvSpPr>
          <p:nvPr>
            <p:ph type="dt" sz="half" idx="2"/>
          </p:nvPr>
        </p:nvSpPr>
        <p:spPr>
          <a:xfrm>
            <a:off x="403200" y="6411600"/>
            <a:ext cx="900000" cy="244800"/>
          </a:xfrm>
          <a:prstGeom prst="rect">
            <a:avLst/>
          </a:prstGeom>
        </p:spPr>
        <p:txBody>
          <a:bodyPr vert="horz" lIns="91440" tIns="45720" rIns="91440" bIns="45720" rtlCol="0" anchor="t" anchorCtr="0"/>
          <a:lstStyle>
            <a:lvl1pPr algn="l">
              <a:defRPr sz="1000" baseline="0">
                <a:solidFill>
                  <a:srgbClr val="727272"/>
                </a:solidFill>
                <a:latin typeface="Arial"/>
              </a:defRPr>
            </a:lvl1pPr>
          </a:lstStyle>
          <a:p>
            <a:fld id="{B8370864-E9EA-44BF-8598-F5589D64693F}" type="datetime1">
              <a:rPr lang="en-GB" smtClean="0"/>
              <a:pPr/>
              <a:t>07/06/2017</a:t>
            </a:fld>
            <a:endParaRPr lang="en-GB" dirty="0"/>
          </a:p>
        </p:txBody>
      </p:sp>
      <p:sp>
        <p:nvSpPr>
          <p:cNvPr id="27" name="Footer Placeholder 4"/>
          <p:cNvSpPr>
            <a:spLocks noGrp="1"/>
          </p:cNvSpPr>
          <p:nvPr>
            <p:ph type="ftr" sz="quarter" idx="3"/>
          </p:nvPr>
        </p:nvSpPr>
        <p:spPr>
          <a:xfrm>
            <a:off x="1368000" y="6411600"/>
            <a:ext cx="4680000" cy="244800"/>
          </a:xfrm>
          <a:prstGeom prst="rect">
            <a:avLst/>
          </a:prstGeom>
        </p:spPr>
        <p:txBody>
          <a:bodyPr vert="horz" lIns="91440" tIns="45720" rIns="91440" bIns="45720" rtlCol="0" anchor="t" anchorCtr="0"/>
          <a:lstStyle>
            <a:lvl1pPr algn="l">
              <a:defRPr sz="1000" kern="1200" baseline="0">
                <a:solidFill>
                  <a:srgbClr val="727272"/>
                </a:solidFill>
                <a:latin typeface="Arial"/>
              </a:defRPr>
            </a:lvl1pPr>
          </a:lstStyle>
          <a:p>
            <a:endParaRPr lang="en-GB" dirty="0"/>
          </a:p>
        </p:txBody>
      </p:sp>
      <p:sp>
        <p:nvSpPr>
          <p:cNvPr id="41" name="Slide Number Placeholder 5"/>
          <p:cNvSpPr>
            <a:spLocks noGrp="1"/>
          </p:cNvSpPr>
          <p:nvPr>
            <p:ph type="sldNum" sz="quarter" idx="4"/>
          </p:nvPr>
        </p:nvSpPr>
        <p:spPr>
          <a:xfrm>
            <a:off x="8640000" y="6411600"/>
            <a:ext cx="342000" cy="244800"/>
          </a:xfrm>
          <a:prstGeom prst="rect">
            <a:avLst/>
          </a:prstGeom>
        </p:spPr>
        <p:txBody>
          <a:bodyPr vert="horz" wrap="none" lIns="91440" tIns="45720" rIns="91440" bIns="45720" rtlCol="0" anchor="t" anchorCtr="0"/>
          <a:lstStyle>
            <a:lvl1pPr algn="r">
              <a:defRPr sz="1000" baseline="0">
                <a:solidFill>
                  <a:schemeClr val="bg1"/>
                </a:solidFill>
                <a:latin typeface="Arial"/>
              </a:defRPr>
            </a:lvl1pPr>
          </a:lstStyle>
          <a:p>
            <a:fld id="{FCE284C4-5ED1-4D6C-B7CC-2049C3062C5E}" type="slidenum">
              <a:rPr lang="en-GB" smtClean="0">
                <a:solidFill>
                  <a:prstClr val="white"/>
                </a:solidFill>
              </a:rPr>
              <a:pPr/>
              <a:t>‹#›</a:t>
            </a:fld>
            <a:endParaRPr lang="en-GB" dirty="0">
              <a:solidFill>
                <a:prstClr val="white"/>
              </a:solidFill>
            </a:endParaRPr>
          </a:p>
        </p:txBody>
      </p:sp>
    </p:spTree>
    <p:extLst>
      <p:ext uri="{BB962C8B-B14F-4D97-AF65-F5344CB8AC3E}">
        <p14:creationId xmlns:p14="http://schemas.microsoft.com/office/powerpoint/2010/main" val="3699918942"/>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68" r:id="rId3"/>
    <p:sldLayoutId id="2147483669" r:id="rId4"/>
    <p:sldLayoutId id="2147483670" r:id="rId5"/>
  </p:sldLayoutIdLst>
  <p:hf hdr="0" ftr="0" dt="0"/>
  <p:txStyles>
    <p:titleStyle>
      <a:lvl1pPr algn="l" rtl="0" eaLnBrk="1" latinLnBrk="0" hangingPunct="1">
        <a:spcBef>
          <a:spcPct val="0"/>
        </a:spcBef>
        <a:buNone/>
        <a:defRPr kumimoji="0" sz="3200" kern="1200">
          <a:solidFill>
            <a:schemeClr val="tx1"/>
          </a:solidFill>
          <a:latin typeface="+mj-lt"/>
          <a:ea typeface="+mj-ea"/>
          <a:cs typeface="+mj-cs"/>
        </a:defRPr>
      </a:lvl1pPr>
    </p:titleStyle>
    <p:bodyStyle>
      <a:lvl1pPr marL="342000" indent="-342000" algn="l" rtl="0" eaLnBrk="1" latinLnBrk="0" hangingPunct="1">
        <a:spcBef>
          <a:spcPts val="768"/>
        </a:spcBef>
        <a:buClr>
          <a:schemeClr val="tx1"/>
        </a:buClr>
        <a:buFont typeface="Arial" pitchFamily="34" charset="0"/>
        <a:buChar char="•"/>
        <a:defRPr kumimoji="0" sz="3200" kern="1200">
          <a:solidFill>
            <a:schemeClr val="tx1"/>
          </a:solidFill>
          <a:latin typeface="+mn-lt"/>
          <a:ea typeface="+mn-ea"/>
          <a:cs typeface="+mn-cs"/>
        </a:defRPr>
      </a:lvl1pPr>
      <a:lvl2pPr marL="741600" indent="-284400" algn="l" rtl="0" eaLnBrk="1" latinLnBrk="0" hangingPunct="1">
        <a:spcBef>
          <a:spcPts val="672"/>
        </a:spcBef>
        <a:buClr>
          <a:schemeClr val="tx1"/>
        </a:buClr>
        <a:buFont typeface="Arial" pitchFamily="34" charset="0"/>
        <a:buChar char="–"/>
        <a:defRPr kumimoji="0" sz="2800" kern="1200">
          <a:solidFill>
            <a:schemeClr val="tx1"/>
          </a:solidFill>
          <a:latin typeface="+mn-lt"/>
          <a:ea typeface="+mn-ea"/>
          <a:cs typeface="+mn-cs"/>
        </a:defRPr>
      </a:lvl2pPr>
      <a:lvl3pPr marL="1144800" indent="-230400" algn="l" rtl="0" eaLnBrk="1" latinLnBrk="0" hangingPunct="1">
        <a:spcBef>
          <a:spcPts val="576"/>
        </a:spcBef>
        <a:buClr>
          <a:schemeClr val="tx1"/>
        </a:buClr>
        <a:buFont typeface="Arial" pitchFamily="34" charset="0"/>
        <a:buChar char="•"/>
        <a:defRPr kumimoji="0" sz="2400" kern="1200">
          <a:solidFill>
            <a:schemeClr val="tx1"/>
          </a:solidFill>
          <a:latin typeface="+mn-lt"/>
          <a:ea typeface="+mn-ea"/>
          <a:cs typeface="+mn-cs"/>
        </a:defRPr>
      </a:lvl3pPr>
      <a:lvl4pPr marL="1602000" indent="-230400" algn="l" rtl="0" eaLnBrk="1" latinLnBrk="0" hangingPunct="1">
        <a:spcBef>
          <a:spcPts val="480"/>
        </a:spcBef>
        <a:buClr>
          <a:schemeClr val="tx1"/>
        </a:buClr>
        <a:buFont typeface="Arial" pitchFamily="34" charset="0"/>
        <a:buChar char="–"/>
        <a:defRPr kumimoji="0" sz="2000" kern="1200">
          <a:solidFill>
            <a:schemeClr val="tx1"/>
          </a:solidFill>
          <a:latin typeface="+mn-lt"/>
          <a:ea typeface="+mn-ea"/>
          <a:cs typeface="+mn-cs"/>
        </a:defRPr>
      </a:lvl4pPr>
      <a:lvl5pPr marL="2059200" indent="-230400" algn="l" rtl="0" eaLnBrk="1" latinLnBrk="0" hangingPunct="1">
        <a:spcBef>
          <a:spcPts val="480"/>
        </a:spcBef>
        <a:buClr>
          <a:schemeClr val="tx1"/>
        </a:buClr>
        <a:buFont typeface="Arial" pitchFamily="34" charset="0"/>
        <a:buChar char="»"/>
        <a:defRPr kumimoji="0" sz="2000" kern="1200">
          <a:solidFill>
            <a:schemeClr val="tx1"/>
          </a:solidFill>
          <a:latin typeface="+mn-lt"/>
          <a:ea typeface="+mn-ea"/>
          <a:cs typeface="+mn-cs"/>
        </a:defRPr>
      </a:lvl5pPr>
      <a:lvl6pPr marL="1609344" indent="-182880" algn="l" rtl="0" eaLnBrk="1" latinLnBrk="0" hangingPunct="1">
        <a:spcBef>
          <a:spcPts val="300"/>
        </a:spcBef>
        <a:buClr>
          <a:schemeClr val="accent3"/>
        </a:buClr>
        <a:buFont typeface="Georgia"/>
        <a:buChar char="▫"/>
        <a:defRPr kumimoji="0" sz="1800" kern="1200">
          <a:solidFill>
            <a:schemeClr val="accent3"/>
          </a:solidFill>
          <a:latin typeface="+mn-lt"/>
          <a:ea typeface="+mn-ea"/>
          <a:cs typeface="+mn-cs"/>
        </a:defRPr>
      </a:lvl6pPr>
      <a:lvl7pPr marL="1828800" indent="-182880" algn="l" rtl="0" eaLnBrk="1" latinLnBrk="0" hangingPunct="1">
        <a:spcBef>
          <a:spcPts val="300"/>
        </a:spcBef>
        <a:buClr>
          <a:schemeClr val="accent3"/>
        </a:buClr>
        <a:buFont typeface="Georgia"/>
        <a:buChar char="▫"/>
        <a:defRPr kumimoji="0" sz="1600" kern="1200">
          <a:solidFill>
            <a:schemeClr val="accent3"/>
          </a:solidFill>
          <a:latin typeface="+mn-lt"/>
          <a:ea typeface="+mn-ea"/>
          <a:cs typeface="+mn-cs"/>
        </a:defRPr>
      </a:lvl7pPr>
      <a:lvl8pPr marL="2029968" indent="-182880" algn="l" rtl="0" eaLnBrk="1" latinLnBrk="0" hangingPunct="1">
        <a:spcBef>
          <a:spcPts val="300"/>
        </a:spcBef>
        <a:buClr>
          <a:schemeClr val="accent3"/>
        </a:buClr>
        <a:buFont typeface="Georgia"/>
        <a:buChar char="◦"/>
        <a:defRPr kumimoji="0" sz="1500" kern="1200">
          <a:solidFill>
            <a:schemeClr val="accent3"/>
          </a:solidFill>
          <a:latin typeface="+mn-lt"/>
          <a:ea typeface="+mn-ea"/>
          <a:cs typeface="+mn-cs"/>
        </a:defRPr>
      </a:lvl8pPr>
      <a:lvl9pPr marL="2240280" indent="-182880" algn="l" rtl="0" eaLnBrk="1" latinLnBrk="0" hangingPunct="1">
        <a:spcBef>
          <a:spcPts val="300"/>
        </a:spcBef>
        <a:buClr>
          <a:schemeClr val="accent3"/>
        </a:buClr>
        <a:buFont typeface="Georgia"/>
        <a:buChar char="◦"/>
        <a:defRPr kumimoji="0" sz="1400" kern="1200" baseline="0">
          <a:solidFill>
            <a:schemeClr val="accent3"/>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8.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4.xml"/><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image" Target="../media/image30.png"/><Relationship Id="rId1" Type="http://schemas.openxmlformats.org/officeDocument/2006/relationships/slideLayout" Target="../slideLayouts/slideLayout4.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765760" y="1052736"/>
            <a:ext cx="8019526" cy="2400657"/>
          </a:xfrm>
          <a:prstGeom prst="rect">
            <a:avLst/>
          </a:prstGeom>
          <a:noFill/>
        </p:spPr>
        <p:txBody>
          <a:bodyPr wrap="square" rtlCol="0">
            <a:spAutoFit/>
          </a:bodyPr>
          <a:lstStyle/>
          <a:p>
            <a:pPr algn="ctr"/>
            <a:r>
              <a:rPr lang="en-GB" sz="3400" b="1" dirty="0" smtClean="0">
                <a:solidFill>
                  <a:prstClr val="white"/>
                </a:solidFill>
                <a:latin typeface="Arial"/>
              </a:rPr>
              <a:t/>
            </a:r>
            <a:br>
              <a:rPr lang="en-GB" sz="3400" b="1" dirty="0" smtClean="0">
                <a:solidFill>
                  <a:prstClr val="white"/>
                </a:solidFill>
                <a:latin typeface="Arial"/>
              </a:rPr>
            </a:br>
            <a:r>
              <a:rPr lang="en-GB" sz="3600" b="1" dirty="0" smtClean="0">
                <a:solidFill>
                  <a:prstClr val="white"/>
                </a:solidFill>
                <a:latin typeface="Arial"/>
              </a:rPr>
              <a:t>PERSPECTIVES ÉCONOMIQUES DE L'OCDE</a:t>
            </a:r>
            <a:r>
              <a:rPr lang="en-GB" sz="3400" b="1" dirty="0" smtClean="0">
                <a:solidFill>
                  <a:prstClr val="white"/>
                </a:solidFill>
                <a:latin typeface="Arial"/>
              </a:rPr>
              <a:t/>
            </a:r>
            <a:br>
              <a:rPr lang="en-GB" sz="3400" b="1" dirty="0" smtClean="0">
                <a:solidFill>
                  <a:prstClr val="white"/>
                </a:solidFill>
                <a:latin typeface="Arial"/>
              </a:rPr>
            </a:br>
            <a:endParaRPr lang="en-US" sz="3600" i="1" dirty="0" smtClean="0">
              <a:solidFill>
                <a:prstClr val="white"/>
              </a:solidFill>
              <a:latin typeface="Arial"/>
            </a:endParaRPr>
          </a:p>
          <a:p>
            <a:pPr algn="ctr"/>
            <a:r>
              <a:rPr lang="en-US" sz="4400" i="1" dirty="0" smtClean="0">
                <a:solidFill>
                  <a:prstClr val="white"/>
                </a:solidFill>
                <a:latin typeface="Arial"/>
              </a:rPr>
              <a:t>Mieux, mais pas encore suffisant</a:t>
            </a:r>
            <a:endParaRPr lang="en-US" sz="4400" i="1" dirty="0">
              <a:solidFill>
                <a:prstClr val="white"/>
              </a:solidFill>
              <a:latin typeface="Arial"/>
            </a:endParaRPr>
          </a:p>
        </p:txBody>
      </p:sp>
      <p:sp>
        <p:nvSpPr>
          <p:cNvPr id="6" name="TextBox 5"/>
          <p:cNvSpPr txBox="1"/>
          <p:nvPr/>
        </p:nvSpPr>
        <p:spPr>
          <a:xfrm>
            <a:off x="755576" y="6169422"/>
            <a:ext cx="5616624" cy="584775"/>
          </a:xfrm>
          <a:prstGeom prst="rect">
            <a:avLst/>
          </a:prstGeom>
          <a:noFill/>
        </p:spPr>
        <p:txBody>
          <a:bodyPr wrap="square" rtlCol="0">
            <a:spAutoFit/>
          </a:bodyPr>
          <a:lstStyle/>
          <a:p>
            <a:r>
              <a:rPr lang="en-GB" sz="1600" dirty="0" smtClean="0">
                <a:solidFill>
                  <a:prstClr val="white"/>
                </a:solidFill>
                <a:latin typeface="Arial"/>
              </a:rPr>
              <a:t>www.oecd.org/economy/economicoutlook.htm</a:t>
            </a:r>
          </a:p>
          <a:p>
            <a:r>
              <a:rPr lang="en-GB" sz="1600" dirty="0" smtClean="0">
                <a:solidFill>
                  <a:prstClr val="white"/>
                </a:solidFill>
                <a:latin typeface="Arial"/>
              </a:rPr>
              <a:t>Blog ECOSCOPE : oecdecoscope.wordpress.com</a:t>
            </a:r>
            <a:endParaRPr lang="en-GB" sz="1600" dirty="0">
              <a:solidFill>
                <a:prstClr val="white"/>
              </a:solidFill>
              <a:latin typeface="Arial"/>
            </a:endParaRPr>
          </a:p>
        </p:txBody>
      </p:sp>
      <p:sp>
        <p:nvSpPr>
          <p:cNvPr id="8" name="Rectangle 5"/>
          <p:cNvSpPr txBox="1">
            <a:spLocks noChangeArrowheads="1"/>
          </p:cNvSpPr>
          <p:nvPr/>
        </p:nvSpPr>
        <p:spPr bwMode="auto">
          <a:xfrm>
            <a:off x="80554" y="2564904"/>
            <a:ext cx="8974666" cy="2471913"/>
          </a:xfrm>
          <a:prstGeom prst="rect">
            <a:avLst/>
          </a:prstGeom>
          <a:noFill/>
          <a:ln w="9525">
            <a:noFill/>
            <a:miter lim="800000"/>
            <a:headEnd/>
            <a:tailEnd/>
          </a:ln>
        </p:spPr>
        <p:txBody>
          <a:bodyPr/>
          <a:lstStyle/>
          <a:p>
            <a:pPr lvl="0" algn="ctr" eaLnBrk="0" hangingPunct="0">
              <a:defRPr/>
            </a:pPr>
            <a:r>
              <a:rPr lang="en-GB" sz="2800" b="1" dirty="0" smtClean="0">
                <a:solidFill>
                  <a:srgbClr val="898989"/>
                </a:solidFill>
                <a:latin typeface="+mn-lt"/>
                <a:cs typeface="+mn-cs"/>
              </a:rPr>
              <a:t> </a:t>
            </a:r>
            <a:r>
              <a:rPr lang="en-US" b="1" dirty="0" smtClean="0">
                <a:solidFill>
                  <a:schemeClr val="bg1"/>
                </a:solidFill>
                <a:latin typeface="+mj-lt"/>
                <a:cs typeface="+mn-cs"/>
              </a:rPr>
              <a:t/>
            </a:r>
            <a:br>
              <a:rPr lang="en-US" b="1" dirty="0" smtClean="0">
                <a:solidFill>
                  <a:schemeClr val="bg1"/>
                </a:solidFill>
                <a:latin typeface="+mj-lt"/>
                <a:cs typeface="+mn-cs"/>
              </a:rPr>
            </a:br>
            <a:r>
              <a:rPr lang="en-GB" b="1" dirty="0" smtClean="0">
                <a:solidFill>
                  <a:schemeClr val="bg1"/>
                </a:solidFill>
                <a:latin typeface="+mj-lt"/>
                <a:cs typeface="+mn-cs"/>
              </a:rPr>
              <a:t/>
            </a:r>
            <a:br>
              <a:rPr lang="en-GB" b="1" dirty="0" smtClean="0">
                <a:solidFill>
                  <a:schemeClr val="bg1"/>
                </a:solidFill>
                <a:latin typeface="+mj-lt"/>
                <a:cs typeface="+mn-cs"/>
              </a:rPr>
            </a:br>
            <a:endParaRPr lang="en-GB" b="1" dirty="0" smtClean="0">
              <a:solidFill>
                <a:schemeClr val="bg1"/>
              </a:solidFill>
              <a:latin typeface="+mj-lt"/>
              <a:cs typeface="+mn-cs"/>
            </a:endParaRPr>
          </a:p>
          <a:p>
            <a:pPr lvl="0" algn="ctr" eaLnBrk="0" hangingPunct="0">
              <a:defRPr/>
            </a:pPr>
            <a:r>
              <a:rPr lang="en-GB" b="1" dirty="0" smtClean="0">
                <a:solidFill>
                  <a:schemeClr val="bg1"/>
                </a:solidFill>
                <a:latin typeface="+mj-lt"/>
                <a:cs typeface="+mn-cs"/>
              </a:rPr>
              <a:t/>
            </a:r>
            <a:br>
              <a:rPr lang="en-GB" b="1" dirty="0" smtClean="0">
                <a:solidFill>
                  <a:schemeClr val="bg1"/>
                </a:solidFill>
                <a:latin typeface="+mj-lt"/>
                <a:cs typeface="+mn-cs"/>
              </a:rPr>
            </a:br>
            <a:endParaRPr lang="en-GB" sz="800" b="1" dirty="0" smtClean="0">
              <a:solidFill>
                <a:schemeClr val="tx2">
                  <a:lumMod val="40000"/>
                  <a:lumOff val="60000"/>
                </a:schemeClr>
              </a:solidFill>
              <a:latin typeface="+mj-lt"/>
              <a:cs typeface="+mn-cs"/>
            </a:endParaRPr>
          </a:p>
          <a:p>
            <a:pPr algn="ctr" eaLnBrk="0" hangingPunct="0">
              <a:spcBef>
                <a:spcPts val="0"/>
              </a:spcBef>
              <a:defRPr/>
            </a:pPr>
            <a:r>
              <a:rPr lang="en-GB" sz="2600" b="1" dirty="0" smtClean="0">
                <a:solidFill>
                  <a:schemeClr val="tx2">
                    <a:lumMod val="40000"/>
                    <a:lumOff val="60000"/>
                  </a:schemeClr>
                </a:solidFill>
                <a:latin typeface="+mj-lt"/>
                <a:cs typeface="+mn-cs"/>
              </a:rPr>
              <a:t>Catherine L. Mann</a:t>
            </a:r>
          </a:p>
          <a:p>
            <a:pPr algn="ctr" eaLnBrk="0" hangingPunct="0">
              <a:spcBef>
                <a:spcPts val="0"/>
              </a:spcBef>
              <a:defRPr/>
            </a:pPr>
            <a:r>
              <a:rPr lang="en-GB" sz="2200" b="1" dirty="0" smtClean="0">
                <a:solidFill>
                  <a:schemeClr val="tx2">
                    <a:lumMod val="40000"/>
                    <a:lumOff val="60000"/>
                  </a:schemeClr>
                </a:solidFill>
                <a:latin typeface="+mj-lt"/>
                <a:cs typeface="+mn-cs"/>
              </a:rPr>
              <a:t>Chef économiste de l'OCDE </a:t>
            </a:r>
            <a:r>
              <a:rPr lang="en-GB" sz="2200" b="1" dirty="0">
                <a:solidFill>
                  <a:schemeClr val="tx2">
                    <a:lumMod val="40000"/>
                    <a:lumOff val="60000"/>
                  </a:schemeClr>
                </a:solidFill>
                <a:latin typeface="+mj-lt"/>
                <a:cs typeface="+mn-cs"/>
              </a:rPr>
              <a:t>Chef économiste</a:t>
            </a:r>
          </a:p>
        </p:txBody>
      </p:sp>
      <p:sp>
        <p:nvSpPr>
          <p:cNvPr id="9" name="Rectangle 5"/>
          <p:cNvSpPr txBox="1">
            <a:spLocks noChangeArrowheads="1"/>
          </p:cNvSpPr>
          <p:nvPr/>
        </p:nvSpPr>
        <p:spPr bwMode="auto">
          <a:xfrm>
            <a:off x="107188" y="5066925"/>
            <a:ext cx="8974666" cy="827549"/>
          </a:xfrm>
          <a:prstGeom prst="rect">
            <a:avLst/>
          </a:prstGeom>
          <a:noFill/>
          <a:ln w="9525">
            <a:noFill/>
            <a:miter lim="800000"/>
            <a:headEnd/>
            <a:tailEnd/>
          </a:ln>
        </p:spPr>
        <p:txBody>
          <a:bodyPr/>
          <a:lstStyle/>
          <a:p>
            <a:pPr lvl="0" algn="ctr" eaLnBrk="0" hangingPunct="0">
              <a:defRPr/>
            </a:pPr>
            <a:r>
              <a:rPr lang="en-GB" sz="2800" b="1" dirty="0" smtClean="0">
                <a:solidFill>
                  <a:srgbClr val="898989"/>
                </a:solidFill>
                <a:latin typeface="+mn-lt"/>
                <a:cs typeface="+mn-cs"/>
              </a:rPr>
              <a:t> </a:t>
            </a:r>
            <a:r>
              <a:rPr lang="en-US" b="1" dirty="0" smtClean="0">
                <a:solidFill>
                  <a:schemeClr val="bg1"/>
                </a:solidFill>
                <a:latin typeface="+mj-lt"/>
                <a:cs typeface="+mn-cs"/>
              </a:rPr>
              <a:t>7 juin 2017</a:t>
            </a:r>
            <a:br>
              <a:rPr lang="en-US" b="1" dirty="0" smtClean="0">
                <a:solidFill>
                  <a:schemeClr val="bg1"/>
                </a:solidFill>
                <a:latin typeface="+mj-lt"/>
                <a:cs typeface="+mn-cs"/>
              </a:rPr>
            </a:br>
            <a:r>
              <a:rPr lang="en-US" b="1" dirty="0" smtClean="0">
                <a:solidFill>
                  <a:schemeClr val="bg1"/>
                </a:solidFill>
                <a:latin typeface="+mj-lt"/>
                <a:cs typeface="+mn-cs"/>
              </a:rPr>
              <a:t>Paris</a:t>
            </a:r>
            <a:r>
              <a:rPr lang="en-GB" b="1" dirty="0" smtClean="0">
                <a:solidFill>
                  <a:schemeClr val="bg1"/>
                </a:solidFill>
                <a:latin typeface="+mj-lt"/>
                <a:cs typeface="+mn-cs"/>
              </a:rPr>
              <a:t/>
            </a:r>
            <a:br>
              <a:rPr lang="en-GB" b="1" dirty="0" smtClean="0">
                <a:solidFill>
                  <a:schemeClr val="bg1"/>
                </a:solidFill>
                <a:latin typeface="+mj-lt"/>
                <a:cs typeface="+mn-cs"/>
              </a:rPr>
            </a:br>
            <a:endParaRPr lang="en-GB" sz="2200" b="1" dirty="0">
              <a:solidFill>
                <a:schemeClr val="tx2">
                  <a:lumMod val="40000"/>
                  <a:lumOff val="60000"/>
                </a:schemeClr>
              </a:solidFill>
              <a:latin typeface="+mj-lt"/>
              <a:cs typeface="+mn-cs"/>
            </a:endParaRPr>
          </a:p>
        </p:txBody>
      </p:sp>
    </p:spTree>
    <p:extLst>
      <p:ext uri="{BB962C8B-B14F-4D97-AF65-F5344CB8AC3E}">
        <p14:creationId xmlns:p14="http://schemas.microsoft.com/office/powerpoint/2010/main" val="2293048075"/>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973415" y="476672"/>
            <a:ext cx="7366001" cy="523220"/>
          </a:xfrm>
          <a:prstGeom prst="rect">
            <a:avLst/>
          </a:prstGeom>
        </p:spPr>
        <p:txBody>
          <a:bodyPr wrap="square">
            <a:spAutoFit/>
          </a:bodyPr>
          <a:lstStyle/>
          <a:p>
            <a:pPr algn="ctr">
              <a:defRPr/>
            </a:pPr>
            <a:r>
              <a:rPr lang="en-GB" sz="2800" b="1" dirty="0" smtClean="0">
                <a:solidFill>
                  <a:schemeClr val="tx2"/>
                </a:solidFill>
                <a:latin typeface="+mj-lt"/>
              </a:rPr>
              <a:t>Messages clés</a:t>
            </a:r>
            <a:endParaRPr lang="en-GB" sz="2800" b="1" dirty="0">
              <a:solidFill>
                <a:schemeClr val="tx2"/>
              </a:solidFill>
              <a:latin typeface="+mj-lt"/>
            </a:endParaRPr>
          </a:p>
        </p:txBody>
      </p:sp>
      <p:sp>
        <p:nvSpPr>
          <p:cNvPr id="2" name="Slide Number Placeholder 1"/>
          <p:cNvSpPr>
            <a:spLocks noGrp="1"/>
          </p:cNvSpPr>
          <p:nvPr>
            <p:ph type="sldNum" sz="quarter" idx="12"/>
          </p:nvPr>
        </p:nvSpPr>
        <p:spPr/>
        <p:txBody>
          <a:bodyPr/>
          <a:lstStyle/>
          <a:p>
            <a:fld id="{FCE284C4-5ED1-4D6C-B7CC-2049C3062C5E}" type="slidenum">
              <a:rPr lang="en-GB" smtClean="0"/>
              <a:t>2</a:t>
            </a:fld>
            <a:endParaRPr lang="en-GB" dirty="0"/>
          </a:p>
        </p:txBody>
      </p:sp>
      <p:graphicFrame>
        <p:nvGraphicFramePr>
          <p:cNvPr id="9" name="Diagram 8"/>
          <p:cNvGraphicFramePr/>
          <p:nvPr>
            <p:extLst>
              <p:ext uri="{D42A27DB-BD31-4B8C-83A1-F6EECF244321}">
                <p14:modId xmlns:p14="http://schemas.microsoft.com/office/powerpoint/2010/main" val="2103504004"/>
              </p:ext>
            </p:extLst>
          </p:nvPr>
        </p:nvGraphicFramePr>
        <p:xfrm>
          <a:off x="459000" y="1260370"/>
          <a:ext cx="8280920" cy="544522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93186841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ain.oecd.org\sdataECO\Units\FRONTOFFICE\Economic Outlooks\EO101\Data and charts\PPT_Figs_E\E_Handout_Fig_Global_Growth_1_2P_P2CL.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9586" y="1540823"/>
            <a:ext cx="8085074" cy="5181457"/>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725330" y="260648"/>
            <a:ext cx="8378047" cy="954107"/>
          </a:xfrm>
          <a:prstGeom prst="rect">
            <a:avLst/>
          </a:prstGeom>
        </p:spPr>
        <p:txBody>
          <a:bodyPr wrap="square">
            <a:spAutoFit/>
          </a:bodyPr>
          <a:lstStyle/>
          <a:p>
            <a:pPr algn="ctr">
              <a:defRPr/>
            </a:pPr>
            <a:r>
              <a:rPr lang="en-GB" sz="2800" b="1" dirty="0" smtClean="0">
                <a:solidFill>
                  <a:schemeClr val="tx2"/>
                </a:solidFill>
                <a:latin typeface="+mj-lt"/>
              </a:rPr>
              <a:t>La croissance du PIB mondial devrait se redresser modestement </a:t>
            </a:r>
          </a:p>
          <a:p>
            <a:pPr algn="ctr">
              <a:defRPr/>
            </a:pPr>
            <a:r>
              <a:rPr lang="en-GB" sz="2800" b="1" dirty="0" smtClean="0">
                <a:solidFill>
                  <a:schemeClr val="tx2"/>
                </a:solidFill>
                <a:latin typeface="+mj-lt"/>
              </a:rPr>
              <a:t>mais reste en deçà des normes historiques</a:t>
            </a:r>
            <a:endParaRPr lang="en-GB" sz="2800" b="1" dirty="0">
              <a:solidFill>
                <a:schemeClr val="tx2"/>
              </a:solidFill>
              <a:latin typeface="+mj-lt"/>
            </a:endParaRPr>
          </a:p>
        </p:txBody>
      </p:sp>
      <p:sp>
        <p:nvSpPr>
          <p:cNvPr id="11" name="Slide Number Placeholder 10"/>
          <p:cNvSpPr>
            <a:spLocks noGrp="1"/>
          </p:cNvSpPr>
          <p:nvPr>
            <p:ph type="sldNum" sz="quarter" idx="12"/>
          </p:nvPr>
        </p:nvSpPr>
        <p:spPr/>
        <p:txBody>
          <a:bodyPr/>
          <a:lstStyle/>
          <a:p>
            <a:fld id="{FCE284C4-5ED1-4D6C-B7CC-2049C3062C5E}" type="slidenum">
              <a:rPr lang="en-GB" smtClean="0"/>
              <a:t>3</a:t>
            </a:fld>
            <a:endParaRPr lang="en-GB" dirty="0"/>
          </a:p>
        </p:txBody>
      </p:sp>
      <p:sp>
        <p:nvSpPr>
          <p:cNvPr id="13" name="TextBox 12"/>
          <p:cNvSpPr txBox="1"/>
          <p:nvPr/>
        </p:nvSpPr>
        <p:spPr>
          <a:xfrm>
            <a:off x="589585" y="6211669"/>
            <a:ext cx="8495040" cy="646331"/>
          </a:xfrm>
          <a:prstGeom prst="rect">
            <a:avLst/>
          </a:prstGeom>
          <a:noFill/>
        </p:spPr>
        <p:txBody>
          <a:bodyPr wrap="square" rtlCol="0">
            <a:spAutoFit/>
          </a:bodyPr>
          <a:lstStyle/>
          <a:p>
            <a:r>
              <a:rPr lang="en-US" sz="1200" dirty="0" smtClean="0">
                <a:solidFill>
                  <a:schemeClr val="bg2">
                    <a:lumMod val="10000"/>
                  </a:schemeClr>
                </a:solidFill>
                <a:latin typeface="Calibri" panose="020F0502020204030204" pitchFamily="34" charset="0"/>
              </a:rPr>
              <a:t/>
            </a:r>
            <a:br>
              <a:rPr lang="en-US" sz="1200" dirty="0" smtClean="0">
                <a:solidFill>
                  <a:schemeClr val="bg2">
                    <a:lumMod val="10000"/>
                  </a:schemeClr>
                </a:solidFill>
                <a:latin typeface="Calibri" panose="020F0502020204030204" pitchFamily="34" charset="0"/>
              </a:rPr>
            </a:br>
            <a:r>
              <a:rPr lang="en-US" sz="1200" dirty="0" smtClean="0">
                <a:solidFill>
                  <a:schemeClr val="bg2">
                    <a:lumMod val="10000"/>
                  </a:schemeClr>
                </a:solidFill>
                <a:latin typeface="Calibri" panose="020F0502020204030204" pitchFamily="34" charset="0"/>
              </a:rPr>
              <a:t/>
            </a:r>
            <a:br>
              <a:rPr lang="en-US" sz="1200" dirty="0" smtClean="0">
                <a:solidFill>
                  <a:schemeClr val="bg2">
                    <a:lumMod val="10000"/>
                  </a:schemeClr>
                </a:solidFill>
                <a:latin typeface="Calibri" panose="020F0502020204030204" pitchFamily="34" charset="0"/>
              </a:rPr>
            </a:br>
            <a:r>
              <a:rPr lang="en-US" sz="1200" dirty="0" smtClean="0">
                <a:solidFill>
                  <a:schemeClr val="bg2">
                    <a:lumMod val="10000"/>
                  </a:schemeClr>
                </a:solidFill>
                <a:latin typeface="Calibri" panose="020F0502020204030204" pitchFamily="34" charset="0"/>
              </a:rPr>
              <a:t>Source</a:t>
            </a:r>
            <a:r>
              <a:rPr lang="en-US" sz="1200" dirty="0">
                <a:solidFill>
                  <a:schemeClr val="bg2">
                    <a:lumMod val="10000"/>
                  </a:schemeClr>
                </a:solidFill>
                <a:latin typeface="Calibri" panose="020F0502020204030204" pitchFamily="34" charset="0"/>
              </a:rPr>
              <a:t> : OCDE </a:t>
            </a:r>
            <a:r>
              <a:rPr lang="en-US" sz="1200" dirty="0" smtClean="0">
                <a:solidFill>
                  <a:schemeClr val="bg2">
                    <a:lumMod val="10000"/>
                  </a:schemeClr>
                </a:solidFill>
                <a:latin typeface="Calibri" panose="020F0502020204030204" pitchFamily="34" charset="0"/>
              </a:rPr>
              <a:t>juin </a:t>
            </a:r>
            <a:r>
              <a:rPr lang="en-US" sz="1200" dirty="0">
                <a:solidFill>
                  <a:schemeClr val="bg2">
                    <a:lumMod val="10000"/>
                  </a:schemeClr>
                </a:solidFill>
                <a:latin typeface="Calibri" panose="020F0502020204030204" pitchFamily="34" charset="0"/>
              </a:rPr>
              <a:t>2017 </a:t>
            </a:r>
            <a:r>
              <a:rPr lang="en-US" sz="1200" dirty="0" smtClean="0">
                <a:solidFill>
                  <a:schemeClr val="bg2">
                    <a:lumMod val="10000"/>
                  </a:schemeClr>
                </a:solidFill>
                <a:latin typeface="Calibri" panose="020F0502020204030204" pitchFamily="34" charset="0"/>
              </a:rPr>
              <a:t>base de données des Perspectives économiques.</a:t>
            </a:r>
            <a:endParaRPr lang="en-GB" sz="1200" dirty="0">
              <a:solidFill>
                <a:schemeClr val="bg2">
                  <a:lumMod val="10000"/>
                </a:schemeClr>
              </a:solidFill>
              <a:latin typeface="Calibri" panose="020F0502020204030204" pitchFamily="34" charset="0"/>
            </a:endParaRPr>
          </a:p>
        </p:txBody>
      </p:sp>
      <p:sp>
        <p:nvSpPr>
          <p:cNvPr id="21" name="TextBox 20"/>
          <p:cNvSpPr txBox="1"/>
          <p:nvPr/>
        </p:nvSpPr>
        <p:spPr>
          <a:xfrm>
            <a:off x="2507887" y="1340768"/>
            <a:ext cx="4248472" cy="400110"/>
          </a:xfrm>
          <a:prstGeom prst="rect">
            <a:avLst/>
          </a:prstGeom>
          <a:noFill/>
        </p:spPr>
        <p:txBody>
          <a:bodyPr wrap="square" rtlCol="0">
            <a:spAutoFit/>
          </a:bodyPr>
          <a:lstStyle/>
          <a:p>
            <a:pPr algn="ctr"/>
            <a:r>
              <a:rPr lang="en-US" sz="2000" b="1" dirty="0" smtClean="0">
                <a:solidFill>
                  <a:schemeClr val="bg2">
                    <a:lumMod val="10000"/>
                  </a:schemeClr>
                </a:solidFill>
                <a:latin typeface="Calibri" pitchFamily="34" charset="0"/>
              </a:rPr>
              <a:t>Croissance du PIB mondial</a:t>
            </a:r>
          </a:p>
        </p:txBody>
      </p:sp>
    </p:spTree>
    <p:extLst>
      <p:ext uri="{BB962C8B-B14F-4D97-AF65-F5344CB8AC3E}">
        <p14:creationId xmlns:p14="http://schemas.microsoft.com/office/powerpoint/2010/main" val="188784582"/>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main.oecd.org\sdataECO\Units\FRONTOFFICE\Economic Outlooks\EO101\Data and charts\PPT_Figs_E\E_Handout_Fig_GDPV_CAP_1_2P_P2C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72" y="1700808"/>
            <a:ext cx="4592546" cy="4752528"/>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694508" y="240100"/>
            <a:ext cx="8378047" cy="954107"/>
          </a:xfrm>
          <a:prstGeom prst="rect">
            <a:avLst/>
          </a:prstGeom>
        </p:spPr>
        <p:txBody>
          <a:bodyPr wrap="square">
            <a:spAutoFit/>
          </a:bodyPr>
          <a:lstStyle/>
          <a:p>
            <a:pPr algn="ctr">
              <a:defRPr/>
            </a:pPr>
            <a:r>
              <a:rPr lang="en-GB" sz="2800" b="1" dirty="0" smtClean="0">
                <a:solidFill>
                  <a:schemeClr val="tx2"/>
                </a:solidFill>
                <a:latin typeface="+mj-lt"/>
              </a:rPr>
              <a:t>La croissance du PIB par habitant est inférieure aux niveaux historiques </a:t>
            </a:r>
          </a:p>
          <a:p>
            <a:pPr algn="ctr">
              <a:defRPr/>
            </a:pPr>
            <a:r>
              <a:rPr lang="en-GB" sz="2800" b="1" dirty="0" smtClean="0">
                <a:solidFill>
                  <a:schemeClr val="tx2"/>
                </a:solidFill>
                <a:latin typeface="+mj-lt"/>
              </a:rPr>
              <a:t>et les inégalités de revenus continuent d'augmenter</a:t>
            </a:r>
            <a:endParaRPr lang="en-GB" sz="2800" b="1" dirty="0">
              <a:solidFill>
                <a:schemeClr val="tx2"/>
              </a:solidFill>
              <a:latin typeface="+mj-lt"/>
            </a:endParaRPr>
          </a:p>
        </p:txBody>
      </p:sp>
      <p:sp>
        <p:nvSpPr>
          <p:cNvPr id="11" name="Slide Number Placeholder 10"/>
          <p:cNvSpPr>
            <a:spLocks noGrp="1"/>
          </p:cNvSpPr>
          <p:nvPr>
            <p:ph type="sldNum" sz="quarter" idx="12"/>
          </p:nvPr>
        </p:nvSpPr>
        <p:spPr/>
        <p:txBody>
          <a:bodyPr/>
          <a:lstStyle/>
          <a:p>
            <a:fld id="{FCE284C4-5ED1-4D6C-B7CC-2049C3062C5E}" type="slidenum">
              <a:rPr lang="en-GB" smtClean="0"/>
              <a:t>4</a:t>
            </a:fld>
            <a:endParaRPr lang="en-GB" dirty="0"/>
          </a:p>
        </p:txBody>
      </p:sp>
      <p:sp>
        <p:nvSpPr>
          <p:cNvPr id="15" name="TextBox 14"/>
          <p:cNvSpPr txBox="1"/>
          <p:nvPr/>
        </p:nvSpPr>
        <p:spPr>
          <a:xfrm>
            <a:off x="134557" y="1307502"/>
            <a:ext cx="4248472" cy="584775"/>
          </a:xfrm>
          <a:prstGeom prst="rect">
            <a:avLst/>
          </a:prstGeom>
          <a:noFill/>
        </p:spPr>
        <p:txBody>
          <a:bodyPr wrap="square" rtlCol="0">
            <a:spAutoFit/>
          </a:bodyPr>
          <a:lstStyle/>
          <a:p>
            <a:pPr algn="ctr"/>
            <a:r>
              <a:rPr lang="en-US" sz="2000" b="1" dirty="0" smtClean="0">
                <a:solidFill>
                  <a:schemeClr val="bg2">
                    <a:lumMod val="10000"/>
                  </a:schemeClr>
                </a:solidFill>
                <a:latin typeface="Calibri" pitchFamily="34" charset="0"/>
              </a:rPr>
              <a:t>Croissance du PIB par habitant</a:t>
            </a:r>
          </a:p>
          <a:p>
            <a:pPr lvl="0" algn="ctr"/>
            <a:r>
              <a:rPr lang="en-US" sz="1200" i="1" dirty="0">
                <a:solidFill>
                  <a:srgbClr val="E6E6E6">
                    <a:lumMod val="10000"/>
                  </a:srgbClr>
                </a:solidFill>
                <a:latin typeface="Calibri" pitchFamily="34" charset="0"/>
              </a:rPr>
              <a:t>Les lignes horizontales représentent les moyennes pour </a:t>
            </a:r>
            <a:r>
              <a:rPr lang="en-US" sz="1200" i="1" dirty="0" smtClean="0">
                <a:solidFill>
                  <a:srgbClr val="E6E6E6">
                    <a:lumMod val="10000"/>
                  </a:srgbClr>
                </a:solidFill>
                <a:latin typeface="Calibri" pitchFamily="34" charset="0"/>
              </a:rPr>
              <a:t>1987-2007</a:t>
            </a:r>
            <a:endParaRPr lang="en-US" sz="1200" i="1" dirty="0">
              <a:solidFill>
                <a:srgbClr val="E6E6E6">
                  <a:lumMod val="10000"/>
                </a:srgbClr>
              </a:solidFill>
              <a:latin typeface="Calibri" pitchFamily="34" charset="0"/>
            </a:endParaRPr>
          </a:p>
        </p:txBody>
      </p:sp>
      <p:sp>
        <p:nvSpPr>
          <p:cNvPr id="12" name="TextBox 11"/>
          <p:cNvSpPr txBox="1"/>
          <p:nvPr/>
        </p:nvSpPr>
        <p:spPr>
          <a:xfrm>
            <a:off x="4256058" y="1302256"/>
            <a:ext cx="5063780" cy="584775"/>
          </a:xfrm>
          <a:prstGeom prst="rect">
            <a:avLst/>
          </a:prstGeom>
          <a:noFill/>
        </p:spPr>
        <p:txBody>
          <a:bodyPr wrap="square" rtlCol="0">
            <a:spAutoFit/>
          </a:bodyPr>
          <a:lstStyle/>
          <a:p>
            <a:pPr lvl="0" algn="ctr"/>
            <a:r>
              <a:rPr lang="en-US" sz="2000" b="1" dirty="0" smtClean="0">
                <a:solidFill>
                  <a:schemeClr val="bg2">
                    <a:lumMod val="10000"/>
                  </a:schemeClr>
                </a:solidFill>
                <a:latin typeface="Calibri" pitchFamily="34" charset="0"/>
              </a:rPr>
              <a:t>Les inégalités de revenu augmentent au sein de l'OCDE</a:t>
            </a:r>
            <a:r>
              <a:rPr lang="en-US" b="1" dirty="0" smtClean="0">
                <a:solidFill>
                  <a:schemeClr val="bg2">
                    <a:lumMod val="10000"/>
                  </a:schemeClr>
                </a:solidFill>
                <a:latin typeface="Calibri" pitchFamily="34" charset="0"/>
              </a:rPr>
              <a:t> </a:t>
            </a:r>
            <a:br>
              <a:rPr lang="en-US" b="1" dirty="0" smtClean="0">
                <a:solidFill>
                  <a:schemeClr val="bg2">
                    <a:lumMod val="10000"/>
                  </a:schemeClr>
                </a:solidFill>
                <a:latin typeface="Calibri" pitchFamily="34" charset="0"/>
              </a:rPr>
            </a:br>
            <a:r>
              <a:rPr lang="en-US" sz="1200" i="1" dirty="0" smtClean="0">
                <a:solidFill>
                  <a:schemeClr val="bg2">
                    <a:lumMod val="10000"/>
                  </a:schemeClr>
                </a:solidFill>
                <a:latin typeface="Calibri" pitchFamily="34" charset="0"/>
              </a:rPr>
              <a:t>Revenu disponible réel des </a:t>
            </a:r>
            <a:r>
              <a:rPr lang="en-US" sz="1200" i="1" dirty="0">
                <a:solidFill>
                  <a:schemeClr val="bg2">
                    <a:lumMod val="10000"/>
                  </a:schemeClr>
                </a:solidFill>
                <a:latin typeface="Calibri" pitchFamily="34" charset="0"/>
              </a:rPr>
              <a:t>ménages, </a:t>
            </a:r>
            <a:r>
              <a:rPr lang="en-US" sz="1200" i="1" dirty="0" smtClean="0">
                <a:solidFill>
                  <a:schemeClr val="bg2">
                    <a:lumMod val="10000"/>
                  </a:schemeClr>
                </a:solidFill>
                <a:latin typeface="Calibri" pitchFamily="34" charset="0"/>
              </a:rPr>
              <a:t>population totale</a:t>
            </a:r>
            <a:endParaRPr lang="en-US" sz="1200" i="1" dirty="0">
              <a:solidFill>
                <a:schemeClr val="bg2">
                  <a:lumMod val="10000"/>
                </a:schemeClr>
              </a:solidFill>
              <a:latin typeface="Calibri" pitchFamily="34" charset="0"/>
            </a:endParaRPr>
          </a:p>
        </p:txBody>
      </p:sp>
      <p:pic>
        <p:nvPicPr>
          <p:cNvPr id="8194" name="Picture 2" descr="\\main.oecd.org\sdataECO\Units\FRONTOFFICE\Economic Outlooks\EO101\Data and charts\PPT_Figs_E\E_Handout_Fig_inequality_1_2P_P2CL.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82274" y="1887031"/>
            <a:ext cx="4541651" cy="4823515"/>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p:cNvSpPr txBox="1"/>
          <p:nvPr/>
        </p:nvSpPr>
        <p:spPr>
          <a:xfrm>
            <a:off x="461547" y="6396335"/>
            <a:ext cx="8641830" cy="461665"/>
          </a:xfrm>
          <a:prstGeom prst="rect">
            <a:avLst/>
          </a:prstGeom>
          <a:noFill/>
        </p:spPr>
        <p:txBody>
          <a:bodyPr wrap="square" rtlCol="0">
            <a:spAutoFit/>
          </a:bodyPr>
          <a:lstStyle/>
          <a:p>
            <a:r>
              <a:rPr lang="en-US" sz="1200" dirty="0">
                <a:solidFill>
                  <a:schemeClr val="bg2">
                    <a:lumMod val="10000"/>
                  </a:schemeClr>
                </a:solidFill>
                <a:latin typeface="Calibri" panose="020F0502020204030204" pitchFamily="34" charset="0"/>
              </a:rPr>
              <a:t>Note : </a:t>
            </a:r>
            <a:r>
              <a:rPr lang="en-US" sz="1200" dirty="0" smtClean="0">
                <a:solidFill>
                  <a:schemeClr val="bg2">
                    <a:lumMod val="10000"/>
                  </a:schemeClr>
                </a:solidFill>
                <a:latin typeface="Calibri" panose="020F0502020204030204" pitchFamily="34" charset="0"/>
              </a:rPr>
              <a:t>L'axe de droite représente la </a:t>
            </a:r>
            <a:r>
              <a:rPr lang="en-US" sz="1200" dirty="0">
                <a:solidFill>
                  <a:schemeClr val="bg2">
                    <a:lumMod val="10000"/>
                  </a:schemeClr>
                </a:solidFill>
                <a:latin typeface="Calibri" panose="020F0502020204030204" pitchFamily="34" charset="0"/>
              </a:rPr>
              <a:t>moyenne non pondérée de </a:t>
            </a:r>
            <a:r>
              <a:rPr lang="en-US" sz="1200" dirty="0" smtClean="0">
                <a:solidFill>
                  <a:schemeClr val="bg2">
                    <a:lumMod val="10000"/>
                  </a:schemeClr>
                </a:solidFill>
                <a:latin typeface="Calibri" panose="020F0502020204030204" pitchFamily="34" charset="0"/>
              </a:rPr>
              <a:t>17 pays de l'OCDE.</a:t>
            </a:r>
          </a:p>
          <a:p>
            <a:r>
              <a:rPr lang="en-US" sz="1200" dirty="0">
                <a:solidFill>
                  <a:schemeClr val="bg2">
                    <a:lumMod val="10000"/>
                  </a:schemeClr>
                </a:solidFill>
                <a:latin typeface="Calibri" panose="020F0502020204030204" pitchFamily="34" charset="0"/>
              </a:rPr>
              <a:t>Source : OCDE base de données des Perspectives économiques de juin 2017 </a:t>
            </a:r>
            <a:r>
              <a:rPr lang="en-US" sz="1200" dirty="0" smtClean="0">
                <a:solidFill>
                  <a:schemeClr val="bg2">
                    <a:lumMod val="10000"/>
                  </a:schemeClr>
                </a:solidFill>
                <a:latin typeface="Calibri" panose="020F0502020204030204" pitchFamily="34" charset="0"/>
              </a:rPr>
              <a:t>; </a:t>
            </a:r>
            <a:r>
              <a:rPr lang="en-US" sz="1200" dirty="0">
                <a:solidFill>
                  <a:schemeClr val="bg2">
                    <a:lumMod val="10000"/>
                  </a:schemeClr>
                </a:solidFill>
                <a:latin typeface="Calibri" panose="020F0502020204030204" pitchFamily="34" charset="0"/>
              </a:rPr>
              <a:t>et </a:t>
            </a:r>
            <a:r>
              <a:rPr lang="en-US" sz="1200" dirty="0" smtClean="0">
                <a:solidFill>
                  <a:schemeClr val="bg2">
                    <a:lumMod val="10000"/>
                  </a:schemeClr>
                </a:solidFill>
                <a:latin typeface="Calibri" panose="020F0502020204030204" pitchFamily="34" charset="0"/>
              </a:rPr>
              <a:t>OCDE </a:t>
            </a:r>
            <a:r>
              <a:rPr lang="en-US" sz="1200" dirty="0">
                <a:solidFill>
                  <a:schemeClr val="bg2">
                    <a:lumMod val="10000"/>
                  </a:schemeClr>
                </a:solidFill>
                <a:latin typeface="Calibri" panose="020F0502020204030204" pitchFamily="34" charset="0"/>
              </a:rPr>
              <a:t>base de données sur la distribution des revenus.</a:t>
            </a:r>
          </a:p>
        </p:txBody>
      </p:sp>
    </p:spTree>
    <p:extLst>
      <p:ext uri="{BB962C8B-B14F-4D97-AF65-F5344CB8AC3E}">
        <p14:creationId xmlns:p14="http://schemas.microsoft.com/office/powerpoint/2010/main" val="162281900"/>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637669" y="442666"/>
            <a:ext cx="8378047" cy="523220"/>
          </a:xfrm>
          <a:prstGeom prst="rect">
            <a:avLst/>
          </a:prstGeom>
        </p:spPr>
        <p:txBody>
          <a:bodyPr wrap="square">
            <a:spAutoFit/>
          </a:bodyPr>
          <a:lstStyle/>
          <a:p>
            <a:pPr algn="ctr">
              <a:defRPr/>
            </a:pPr>
            <a:r>
              <a:rPr lang="en-GB" sz="2800" b="1" dirty="0" smtClean="0">
                <a:solidFill>
                  <a:schemeClr val="tx2"/>
                </a:solidFill>
                <a:latin typeface="+mj-lt"/>
              </a:rPr>
              <a:t>Projections des Perspectives économiques de l'OCDE</a:t>
            </a:r>
            <a:endParaRPr lang="en-GB" sz="2800" b="1" dirty="0">
              <a:solidFill>
                <a:schemeClr val="tx2"/>
              </a:solidFill>
              <a:latin typeface="+mj-lt"/>
            </a:endParaRPr>
          </a:p>
        </p:txBody>
      </p:sp>
      <p:sp>
        <p:nvSpPr>
          <p:cNvPr id="11" name="Slide Number Placeholder 10"/>
          <p:cNvSpPr>
            <a:spLocks noGrp="1"/>
          </p:cNvSpPr>
          <p:nvPr>
            <p:ph type="sldNum" sz="quarter" idx="12"/>
          </p:nvPr>
        </p:nvSpPr>
        <p:spPr/>
        <p:txBody>
          <a:bodyPr/>
          <a:lstStyle/>
          <a:p>
            <a:fld id="{FCE284C4-5ED1-4D6C-B7CC-2049C3062C5E}" type="slidenum">
              <a:rPr lang="en-GB" smtClean="0"/>
              <a:t>5</a:t>
            </a:fld>
            <a:endParaRPr lang="en-GB" dirty="0"/>
          </a:p>
        </p:txBody>
      </p:sp>
      <p:sp>
        <p:nvSpPr>
          <p:cNvPr id="6" name="TextBox 5"/>
          <p:cNvSpPr txBox="1"/>
          <p:nvPr/>
        </p:nvSpPr>
        <p:spPr>
          <a:xfrm>
            <a:off x="529723" y="1286395"/>
            <a:ext cx="8136904" cy="584775"/>
          </a:xfrm>
          <a:prstGeom prst="rect">
            <a:avLst/>
          </a:prstGeom>
          <a:noFill/>
        </p:spPr>
        <p:txBody>
          <a:bodyPr wrap="square" rtlCol="0">
            <a:spAutoFit/>
          </a:bodyPr>
          <a:lstStyle/>
          <a:p>
            <a:pPr algn="ctr"/>
            <a:r>
              <a:rPr lang="en-GB" sz="2000" b="1" dirty="0" smtClean="0">
                <a:solidFill>
                  <a:schemeClr val="bg2">
                    <a:lumMod val="10000"/>
                  </a:schemeClr>
                </a:solidFill>
                <a:latin typeface="Calibri" pitchFamily="34" charset="0"/>
              </a:rPr>
              <a:t>Croissance du PIB réel</a:t>
            </a:r>
          </a:p>
          <a:p>
            <a:pPr algn="ctr"/>
            <a:r>
              <a:rPr lang="en-GB" sz="1200" i="1" dirty="0" smtClean="0">
                <a:solidFill>
                  <a:schemeClr val="bg2">
                    <a:lumMod val="10000"/>
                  </a:schemeClr>
                </a:solidFill>
                <a:latin typeface="Calibri" pitchFamily="34" charset="0"/>
              </a:rPr>
              <a:t>Glissement annuel, %</a:t>
            </a:r>
          </a:p>
        </p:txBody>
      </p:sp>
      <p:sp>
        <p:nvSpPr>
          <p:cNvPr id="7" name="TextBox 6"/>
          <p:cNvSpPr txBox="1"/>
          <p:nvPr/>
        </p:nvSpPr>
        <p:spPr>
          <a:xfrm>
            <a:off x="1426363" y="5834281"/>
            <a:ext cx="8738087" cy="1015663"/>
          </a:xfrm>
          <a:prstGeom prst="rect">
            <a:avLst/>
          </a:prstGeom>
          <a:noFill/>
        </p:spPr>
        <p:txBody>
          <a:bodyPr wrap="square" rtlCol="0">
            <a:spAutoFit/>
          </a:bodyPr>
          <a:lstStyle/>
          <a:p>
            <a:r>
              <a:rPr lang="en-US" sz="1200" dirty="0" smtClean="0">
                <a:solidFill>
                  <a:schemeClr val="bg2">
                    <a:lumMod val="10000"/>
                  </a:schemeClr>
                </a:solidFill>
                <a:latin typeface="Calibri" panose="020F0502020204030204" pitchFamily="34" charset="0"/>
              </a:rPr>
              <a:t/>
            </a:r>
            <a:br>
              <a:rPr lang="en-US" sz="1200" dirty="0" smtClean="0">
                <a:solidFill>
                  <a:schemeClr val="bg2">
                    <a:lumMod val="10000"/>
                  </a:schemeClr>
                </a:solidFill>
                <a:latin typeface="Calibri" panose="020F0502020204030204" pitchFamily="34" charset="0"/>
              </a:rPr>
            </a:br>
            <a:r>
              <a:rPr lang="en-US" sz="1200" dirty="0" smtClean="0">
                <a:solidFill>
                  <a:schemeClr val="bg2">
                    <a:lumMod val="10000"/>
                  </a:schemeClr>
                </a:solidFill>
                <a:latin typeface="Calibri" panose="020F0502020204030204" pitchFamily="34" charset="0"/>
              </a:rPr>
              <a:t>Note : Différence </a:t>
            </a:r>
            <a:r>
              <a:rPr lang="en-US" sz="1200" dirty="0">
                <a:solidFill>
                  <a:schemeClr val="bg2">
                    <a:lumMod val="10000"/>
                  </a:schemeClr>
                </a:solidFill>
                <a:latin typeface="Calibri" panose="020F0502020204030204" pitchFamily="34" charset="0"/>
              </a:rPr>
              <a:t>en points de pourcentage calculée sur des chiffres arrondis. </a:t>
            </a:r>
            <a:endParaRPr lang="en-US" sz="1200" dirty="0" smtClean="0">
              <a:solidFill>
                <a:schemeClr val="bg2">
                  <a:lumMod val="10000"/>
                </a:schemeClr>
              </a:solidFill>
              <a:latin typeface="Calibri" panose="020F0502020204030204" pitchFamily="34" charset="0"/>
            </a:endParaRPr>
          </a:p>
          <a:p>
            <a:r>
              <a:rPr lang="en-US" sz="1200" dirty="0" smtClean="0">
                <a:solidFill>
                  <a:schemeClr val="bg2">
                    <a:lumMod val="10000"/>
                  </a:schemeClr>
                </a:solidFill>
                <a:latin typeface="Calibri" panose="020F0502020204030204" pitchFamily="34" charset="0"/>
              </a:rPr>
              <a:t>1. La croissance de l'Irlande en 2015 est calculée à partir de la valeur ajoutée brute à prix constants, hors</a:t>
            </a:r>
            <a:br>
              <a:rPr lang="en-US" sz="1200" dirty="0" smtClean="0">
                <a:solidFill>
                  <a:schemeClr val="bg2">
                    <a:lumMod val="10000"/>
                  </a:schemeClr>
                </a:solidFill>
                <a:latin typeface="Calibri" panose="020F0502020204030204" pitchFamily="34" charset="0"/>
              </a:rPr>
            </a:br>
            <a:r>
              <a:rPr lang="en-US" sz="1200" dirty="0" smtClean="0">
                <a:solidFill>
                  <a:schemeClr val="bg2">
                    <a:lumMod val="10000"/>
                  </a:schemeClr>
                </a:solidFill>
                <a:latin typeface="Calibri" panose="020F0502020204030204" pitchFamily="34" charset="0"/>
              </a:rPr>
              <a:t>secteurs dominés par les entreprises multinationales à capitaux étrangers.</a:t>
            </a:r>
          </a:p>
          <a:p>
            <a:r>
              <a:rPr lang="en-US" sz="1200" dirty="0" smtClean="0">
                <a:solidFill>
                  <a:schemeClr val="bg2">
                    <a:lumMod val="10000"/>
                  </a:schemeClr>
                </a:solidFill>
                <a:latin typeface="Calibri" panose="020F0502020204030204" pitchFamily="34" charset="0"/>
              </a:rPr>
              <a:t>2. Exercices </a:t>
            </a:r>
            <a:r>
              <a:rPr lang="en-US" sz="1200" dirty="0">
                <a:solidFill>
                  <a:schemeClr val="bg2">
                    <a:lumMod val="10000"/>
                  </a:schemeClr>
                </a:solidFill>
                <a:latin typeface="Calibri" panose="020F0502020204030204" pitchFamily="34" charset="0"/>
              </a:rPr>
              <a:t>budgétaires débutant en avril</a:t>
            </a:r>
            <a:r>
              <a:rPr lang="en-US" sz="1200" dirty="0" smtClean="0">
                <a:solidFill>
                  <a:schemeClr val="bg2">
                    <a:lumMod val="10000"/>
                  </a:schemeClr>
                </a:solidFill>
                <a:latin typeface="Calibri" panose="020F0502020204030204" pitchFamily="34" charset="0"/>
              </a:rPr>
              <a:t>.</a:t>
            </a:r>
          </a:p>
        </p:txBody>
      </p:sp>
      <p:pic>
        <p:nvPicPr>
          <p:cNvPr id="8" name="Picture 7"/>
          <p:cNvPicPr/>
          <p:nvPr/>
        </p:nvPicPr>
        <p:blipFill>
          <a:blip r:embed="rId3">
            <a:extLst>
              <a:ext uri="{28A0092B-C50C-407E-A947-70E740481C1C}">
                <a14:useLocalDpi xmlns:a14="http://schemas.microsoft.com/office/drawing/2010/main" val="0"/>
              </a:ext>
            </a:extLst>
          </a:blip>
          <a:srcRect/>
          <a:stretch>
            <a:fillRect/>
          </a:stretch>
        </p:blipFill>
        <p:spPr bwMode="auto">
          <a:xfrm>
            <a:off x="1383292" y="1834981"/>
            <a:ext cx="6213044" cy="4222126"/>
          </a:xfrm>
          <a:prstGeom prst="rect">
            <a:avLst/>
          </a:prstGeom>
          <a:noFill/>
          <a:ln>
            <a:noFill/>
          </a:ln>
        </p:spPr>
      </p:pic>
    </p:spTree>
    <p:extLst>
      <p:ext uri="{BB962C8B-B14F-4D97-AF65-F5344CB8AC3E}">
        <p14:creationId xmlns:p14="http://schemas.microsoft.com/office/powerpoint/2010/main" val="1272527024"/>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71" name="Picture 3" descr="\\main.oecd.org\sdataECO\Units\FRONTOFFICE\Economic Outlooks\EO101\Data and charts\PPT_Figs_E\E_Handout_Fig_Confidence_indicators_1_2P_P2C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512" y="1598788"/>
            <a:ext cx="4678679" cy="4844184"/>
          </a:xfrm>
          <a:prstGeom prst="rect">
            <a:avLst/>
          </a:prstGeom>
          <a:noFill/>
          <a:extLst>
            <a:ext uri="{909E8E84-426E-40DD-AFC4-6F175D3DCCD1}">
              <a14:hiddenFill xmlns:a14="http://schemas.microsoft.com/office/drawing/2010/main">
                <a:solidFill>
                  <a:srgbClr val="FFFFFF"/>
                </a:solidFill>
              </a14:hiddenFill>
            </a:ext>
          </a:extLst>
        </p:spPr>
      </p:pic>
      <p:pic>
        <p:nvPicPr>
          <p:cNvPr id="1027" name="Picture 3" descr="\\main.oecd.org\sdataECO\Units\FRONTOFFICE\Economic Outlooks\EO101\Data and charts\Figs_E\E_Handout_Fig_Confidence_indicators_rolling_1_2P_P2CL.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77716" y="1598788"/>
            <a:ext cx="4697106" cy="4844184"/>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p:cNvSpPr/>
          <p:nvPr/>
        </p:nvSpPr>
        <p:spPr>
          <a:xfrm>
            <a:off x="798860" y="260648"/>
            <a:ext cx="7920880" cy="954107"/>
          </a:xfrm>
          <a:prstGeom prst="rect">
            <a:avLst/>
          </a:prstGeom>
        </p:spPr>
        <p:txBody>
          <a:bodyPr wrap="square">
            <a:spAutoFit/>
          </a:bodyPr>
          <a:lstStyle/>
          <a:p>
            <a:pPr algn="ctr">
              <a:defRPr/>
            </a:pPr>
            <a:r>
              <a:rPr lang="en-US" sz="2800" b="1" dirty="0" smtClean="0">
                <a:solidFill>
                  <a:schemeClr val="tx2"/>
                </a:solidFill>
                <a:latin typeface="+mj-lt"/>
              </a:rPr>
              <a:t>Les indicateurs de confiance annoncent une reprise,</a:t>
            </a:r>
            <a:br>
              <a:rPr lang="en-US" sz="2800" b="1" dirty="0" smtClean="0">
                <a:solidFill>
                  <a:schemeClr val="tx2"/>
                </a:solidFill>
                <a:latin typeface="+mj-lt"/>
              </a:rPr>
            </a:br>
            <a:r>
              <a:rPr lang="en-US" sz="2800" b="1" dirty="0" smtClean="0">
                <a:solidFill>
                  <a:schemeClr val="tx2"/>
                </a:solidFill>
                <a:latin typeface="+mj-lt"/>
              </a:rPr>
              <a:t>mais ils sont devenus moins fiables</a:t>
            </a:r>
          </a:p>
        </p:txBody>
      </p:sp>
      <p:sp>
        <p:nvSpPr>
          <p:cNvPr id="7" name="Slide Number Placeholder 6"/>
          <p:cNvSpPr>
            <a:spLocks noGrp="1"/>
          </p:cNvSpPr>
          <p:nvPr>
            <p:ph type="sldNum" sz="quarter" idx="12"/>
          </p:nvPr>
        </p:nvSpPr>
        <p:spPr/>
        <p:txBody>
          <a:bodyPr/>
          <a:lstStyle/>
          <a:p>
            <a:fld id="{FCE284C4-5ED1-4D6C-B7CC-2049C3062C5E}" type="slidenum">
              <a:rPr lang="en-GB" smtClean="0"/>
              <a:t>6</a:t>
            </a:fld>
            <a:endParaRPr lang="en-GB" dirty="0"/>
          </a:p>
        </p:txBody>
      </p:sp>
      <p:sp>
        <p:nvSpPr>
          <p:cNvPr id="10" name="TextBox 9"/>
          <p:cNvSpPr txBox="1"/>
          <p:nvPr/>
        </p:nvSpPr>
        <p:spPr>
          <a:xfrm>
            <a:off x="-333763" y="1306400"/>
            <a:ext cx="5202324" cy="584775"/>
          </a:xfrm>
          <a:prstGeom prst="rect">
            <a:avLst/>
          </a:prstGeom>
          <a:noFill/>
        </p:spPr>
        <p:txBody>
          <a:bodyPr wrap="square" rtlCol="0">
            <a:spAutoFit/>
          </a:bodyPr>
          <a:lstStyle/>
          <a:p>
            <a:pPr algn="ctr"/>
            <a:r>
              <a:rPr lang="en-GB" sz="2000" b="1" dirty="0" smtClean="0">
                <a:solidFill>
                  <a:schemeClr val="bg2">
                    <a:lumMod val="10000"/>
                  </a:schemeClr>
                </a:solidFill>
                <a:latin typeface="Calibri" pitchFamily="34" charset="0"/>
              </a:rPr>
              <a:t>Confiance des consommateurs et des entreprises</a:t>
            </a:r>
            <a:br>
              <a:rPr lang="en-GB" sz="2000" b="1" dirty="0" smtClean="0">
                <a:solidFill>
                  <a:schemeClr val="bg2">
                    <a:lumMod val="10000"/>
                  </a:schemeClr>
                </a:solidFill>
                <a:latin typeface="Calibri" pitchFamily="34" charset="0"/>
              </a:rPr>
            </a:br>
            <a:r>
              <a:rPr lang="en-GB" sz="1200" i="1" dirty="0">
                <a:solidFill>
                  <a:srgbClr val="E6E6E6">
                    <a:lumMod val="10000"/>
                  </a:srgbClr>
                </a:solidFill>
                <a:latin typeface="Calibri" pitchFamily="34" charset="0"/>
              </a:rPr>
              <a:t>OCDE et </a:t>
            </a:r>
            <a:r>
              <a:rPr lang="en-GB" sz="1200" i="1" dirty="0" smtClean="0">
                <a:solidFill>
                  <a:srgbClr val="E6E6E6">
                    <a:lumMod val="10000"/>
                  </a:srgbClr>
                </a:solidFill>
                <a:latin typeface="Calibri" pitchFamily="34" charset="0"/>
              </a:rPr>
              <a:t>BRIICS, indice</a:t>
            </a:r>
            <a:endParaRPr lang="en-GB" sz="2000" baseline="30000" dirty="0">
              <a:solidFill>
                <a:schemeClr val="bg2">
                  <a:lumMod val="10000"/>
                </a:schemeClr>
              </a:solidFill>
              <a:latin typeface="Calibri" pitchFamily="34" charset="0"/>
            </a:endParaRPr>
          </a:p>
        </p:txBody>
      </p:sp>
      <p:sp>
        <p:nvSpPr>
          <p:cNvPr id="12" name="TextBox 11"/>
          <p:cNvSpPr txBox="1"/>
          <p:nvPr/>
        </p:nvSpPr>
        <p:spPr>
          <a:xfrm>
            <a:off x="171736" y="6211669"/>
            <a:ext cx="8438329" cy="646331"/>
          </a:xfrm>
          <a:prstGeom prst="rect">
            <a:avLst/>
          </a:prstGeom>
          <a:noFill/>
        </p:spPr>
        <p:txBody>
          <a:bodyPr wrap="square" rtlCol="0">
            <a:spAutoFit/>
          </a:bodyPr>
          <a:lstStyle/>
          <a:p>
            <a:r>
              <a:rPr lang="en-US" sz="1200" dirty="0">
                <a:solidFill>
                  <a:schemeClr val="bg2">
                    <a:lumMod val="10000"/>
                  </a:schemeClr>
                </a:solidFill>
                <a:latin typeface="Calibri" panose="020F0502020204030204" pitchFamily="34" charset="0"/>
              </a:rPr>
              <a:t>Note : Les indices de confiance sont des moyennes pondérées par le PIB en PPA des </a:t>
            </a:r>
            <a:r>
              <a:rPr lang="en-US" sz="1200" dirty="0" smtClean="0">
                <a:solidFill>
                  <a:schemeClr val="bg2">
                    <a:lumMod val="10000"/>
                  </a:schemeClr>
                </a:solidFill>
                <a:latin typeface="Calibri" panose="020F0502020204030204" pitchFamily="34" charset="0"/>
              </a:rPr>
              <a:t>séries standardisées nationales où la moyenne à long terme = 100. </a:t>
            </a:r>
            <a:br>
              <a:rPr lang="en-US" sz="1200" dirty="0" smtClean="0">
                <a:solidFill>
                  <a:schemeClr val="bg2">
                    <a:lumMod val="10000"/>
                  </a:schemeClr>
                </a:solidFill>
                <a:latin typeface="Calibri" panose="020F0502020204030204" pitchFamily="34" charset="0"/>
              </a:rPr>
            </a:br>
            <a:r>
              <a:rPr lang="en-US" sz="1200" dirty="0" smtClean="0">
                <a:solidFill>
                  <a:schemeClr val="bg2">
                    <a:lumMod val="10000"/>
                  </a:schemeClr>
                </a:solidFill>
                <a:latin typeface="Calibri" panose="020F0502020204030204" pitchFamily="34" charset="0"/>
              </a:rPr>
              <a:t>La confiance des </a:t>
            </a:r>
            <a:r>
              <a:rPr lang="en-US" sz="1200" dirty="0">
                <a:solidFill>
                  <a:schemeClr val="bg2">
                    <a:lumMod val="10000"/>
                  </a:schemeClr>
                </a:solidFill>
                <a:latin typeface="Calibri" panose="020F0502020204030204" pitchFamily="34" charset="0"/>
              </a:rPr>
              <a:t>consommateurs est </a:t>
            </a:r>
            <a:r>
              <a:rPr lang="en-US" sz="1200" dirty="0" smtClean="0">
                <a:solidFill>
                  <a:schemeClr val="bg2">
                    <a:lumMod val="10000"/>
                  </a:schemeClr>
                </a:solidFill>
                <a:latin typeface="Calibri" panose="020F0502020204030204" pitchFamily="34" charset="0"/>
              </a:rPr>
              <a:t>en corrélation </a:t>
            </a:r>
            <a:r>
              <a:rPr lang="en-US" sz="1200" dirty="0">
                <a:solidFill>
                  <a:schemeClr val="bg2">
                    <a:lumMod val="10000"/>
                  </a:schemeClr>
                </a:solidFill>
                <a:latin typeface="Calibri" panose="020F0502020204030204" pitchFamily="34" charset="0"/>
              </a:rPr>
              <a:t>avec la croissance des ventes au détail mondiales </a:t>
            </a:r>
            <a:r>
              <a:rPr lang="en-US" sz="1200" dirty="0" smtClean="0">
                <a:solidFill>
                  <a:schemeClr val="bg2">
                    <a:lumMod val="10000"/>
                  </a:schemeClr>
                </a:solidFill>
                <a:latin typeface="Calibri" panose="020F0502020204030204" pitchFamily="34" charset="0"/>
              </a:rPr>
              <a:t>et la confiance des </a:t>
            </a:r>
            <a:r>
              <a:rPr lang="en-US" sz="1200" dirty="0">
                <a:solidFill>
                  <a:schemeClr val="bg2">
                    <a:lumMod val="10000"/>
                  </a:schemeClr>
                </a:solidFill>
                <a:latin typeface="Calibri" panose="020F0502020204030204" pitchFamily="34" charset="0"/>
              </a:rPr>
              <a:t>e</a:t>
            </a:r>
            <a:r>
              <a:rPr lang="en-US" sz="1200" dirty="0" smtClean="0">
                <a:solidFill>
                  <a:schemeClr val="bg2">
                    <a:lumMod val="10000"/>
                  </a:schemeClr>
                </a:solidFill>
                <a:latin typeface="Calibri" panose="020F0502020204030204" pitchFamily="34" charset="0"/>
              </a:rPr>
              <a:t>ntreprises </a:t>
            </a:r>
            <a:r>
              <a:rPr lang="en-US" sz="1200" dirty="0">
                <a:solidFill>
                  <a:schemeClr val="bg2">
                    <a:lumMod val="10000"/>
                  </a:schemeClr>
                </a:solidFill>
                <a:latin typeface="Calibri" panose="020F0502020204030204" pitchFamily="34" charset="0"/>
              </a:rPr>
              <a:t>est en corrélation </a:t>
            </a:r>
            <a:r>
              <a:rPr lang="en-US" sz="1200" dirty="0" smtClean="0">
                <a:solidFill>
                  <a:schemeClr val="bg2">
                    <a:lumMod val="10000"/>
                  </a:schemeClr>
                </a:solidFill>
                <a:latin typeface="Calibri" panose="020F0502020204030204" pitchFamily="34" charset="0"/>
              </a:rPr>
              <a:t>avec la croissance de la </a:t>
            </a:r>
            <a:r>
              <a:rPr lang="en-US" sz="1200" dirty="0">
                <a:solidFill>
                  <a:schemeClr val="bg2">
                    <a:lumMod val="10000"/>
                  </a:schemeClr>
                </a:solidFill>
                <a:latin typeface="Calibri" panose="020F0502020204030204" pitchFamily="34" charset="0"/>
              </a:rPr>
              <a:t>production industrielle </a:t>
            </a:r>
            <a:r>
              <a:rPr lang="en-US" sz="1200" dirty="0" smtClean="0">
                <a:solidFill>
                  <a:schemeClr val="bg2">
                    <a:lumMod val="10000"/>
                  </a:schemeClr>
                </a:solidFill>
                <a:latin typeface="Calibri" panose="020F0502020204030204" pitchFamily="34" charset="0"/>
              </a:rPr>
              <a:t>mondiale.</a:t>
            </a:r>
          </a:p>
          <a:p>
            <a:r>
              <a:rPr lang="en-US" sz="1200" dirty="0" smtClean="0">
                <a:solidFill>
                  <a:schemeClr val="bg2">
                    <a:lumMod val="10000"/>
                  </a:schemeClr>
                </a:solidFill>
                <a:latin typeface="Calibri" panose="020F0502020204030204" pitchFamily="34" charset="0"/>
              </a:rPr>
              <a:t>Source : OCDE </a:t>
            </a:r>
            <a:r>
              <a:rPr lang="en-US" sz="1200" dirty="0">
                <a:solidFill>
                  <a:schemeClr val="bg2">
                    <a:lumMod val="10000"/>
                  </a:schemeClr>
                </a:solidFill>
                <a:latin typeface="Calibri" panose="020F0502020204030204" pitchFamily="34" charset="0"/>
              </a:rPr>
              <a:t>base de données des Indicateurs économiques principaux ; </a:t>
            </a:r>
            <a:r>
              <a:rPr lang="en-US" sz="1200" dirty="0" smtClean="0">
                <a:solidFill>
                  <a:schemeClr val="bg2">
                    <a:lumMod val="10000"/>
                  </a:schemeClr>
                </a:solidFill>
                <a:latin typeface="Calibri" panose="020F0502020204030204" pitchFamily="34" charset="0"/>
              </a:rPr>
              <a:t>et </a:t>
            </a:r>
            <a:r>
              <a:rPr lang="en-US" sz="1200" dirty="0">
                <a:solidFill>
                  <a:schemeClr val="bg2">
                    <a:lumMod val="10000"/>
                  </a:schemeClr>
                </a:solidFill>
                <a:latin typeface="Calibri" panose="020F0502020204030204" pitchFamily="34" charset="0"/>
              </a:rPr>
              <a:t>calculs de l'OCDE.</a:t>
            </a:r>
            <a:endParaRPr lang="en-US" sz="1200" dirty="0" smtClean="0">
              <a:solidFill>
                <a:schemeClr val="bg2">
                  <a:lumMod val="10000"/>
                </a:schemeClr>
              </a:solidFill>
              <a:latin typeface="Calibri" panose="020F0502020204030204" pitchFamily="34" charset="0"/>
            </a:endParaRPr>
          </a:p>
        </p:txBody>
      </p:sp>
      <p:sp>
        <p:nvSpPr>
          <p:cNvPr id="8" name="TextBox 7"/>
          <p:cNvSpPr txBox="1"/>
          <p:nvPr/>
        </p:nvSpPr>
        <p:spPr>
          <a:xfrm>
            <a:off x="4139952" y="1306401"/>
            <a:ext cx="5202324" cy="584775"/>
          </a:xfrm>
          <a:prstGeom prst="rect">
            <a:avLst/>
          </a:prstGeom>
          <a:noFill/>
        </p:spPr>
        <p:txBody>
          <a:bodyPr wrap="square" rtlCol="0">
            <a:spAutoFit/>
          </a:bodyPr>
          <a:lstStyle/>
          <a:p>
            <a:pPr algn="ctr"/>
            <a:r>
              <a:rPr lang="en-GB" sz="2000" b="1" dirty="0" smtClean="0">
                <a:solidFill>
                  <a:schemeClr val="bg2">
                    <a:lumMod val="10000"/>
                  </a:schemeClr>
                </a:solidFill>
                <a:latin typeface="Calibri" pitchFamily="34" charset="0"/>
              </a:rPr>
              <a:t>Performance des indicateurs de confiance</a:t>
            </a:r>
          </a:p>
          <a:p>
            <a:pPr algn="ctr"/>
            <a:r>
              <a:rPr lang="en-GB" sz="1200" i="1" dirty="0">
                <a:solidFill>
                  <a:srgbClr val="E6E6E6">
                    <a:lumMod val="10000"/>
                  </a:srgbClr>
                </a:solidFill>
                <a:latin typeface="Calibri" pitchFamily="34" charset="0"/>
              </a:rPr>
              <a:t>OCDE et </a:t>
            </a:r>
            <a:r>
              <a:rPr lang="en-GB" sz="1200" i="1" dirty="0" smtClean="0">
                <a:solidFill>
                  <a:srgbClr val="E6E6E6">
                    <a:lumMod val="10000"/>
                  </a:srgbClr>
                </a:solidFill>
                <a:latin typeface="Calibri" pitchFamily="34" charset="0"/>
              </a:rPr>
              <a:t>BRIICS, corrélation sur 5 ans avec l'activité</a:t>
            </a:r>
            <a:endParaRPr lang="en-GB" sz="2000" baseline="30000" dirty="0">
              <a:solidFill>
                <a:schemeClr val="bg2">
                  <a:lumMod val="10000"/>
                </a:schemeClr>
              </a:solidFill>
              <a:latin typeface="Calibri" pitchFamily="34" charset="0"/>
            </a:endParaRPr>
          </a:p>
        </p:txBody>
      </p:sp>
    </p:spTree>
    <p:extLst>
      <p:ext uri="{BB962C8B-B14F-4D97-AF65-F5344CB8AC3E}">
        <p14:creationId xmlns:p14="http://schemas.microsoft.com/office/powerpoint/2010/main" val="258316876"/>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main.oecd.org\sdataECO\Units\FRONTOFFICE\Economic Outlooks\EO101\Data and charts\PPT_Figs_E\E_Handout_Fig_High_tech_1_2P_P2C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02732" y="1604989"/>
            <a:ext cx="4537260" cy="4571490"/>
          </a:xfrm>
          <a:prstGeom prst="rect">
            <a:avLst/>
          </a:prstGeom>
          <a:noFill/>
          <a:extLst>
            <a:ext uri="{909E8E84-426E-40DD-AFC4-6F175D3DCCD1}">
              <a14:hiddenFill xmlns:a14="http://schemas.microsoft.com/office/drawing/2010/main">
                <a:solidFill>
                  <a:srgbClr val="FFFFFF"/>
                </a:solidFill>
              </a14:hiddenFill>
            </a:ext>
          </a:extLst>
        </p:spPr>
      </p:pic>
      <p:pic>
        <p:nvPicPr>
          <p:cNvPr id="3075" name="Picture 3" descr="\\main.oecd.org\sdataECO\Units\FRONTOFFICE\Economic Outlooks\EO101\Data and charts\PPT_Figs_E\E_Handout_Fig_Fig_Productive_Capital_Stock_1_2P_P2CL.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4573" y="1604989"/>
            <a:ext cx="4475419" cy="4571490"/>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p:cNvSpPr/>
          <p:nvPr/>
        </p:nvSpPr>
        <p:spPr>
          <a:xfrm>
            <a:off x="802183" y="233427"/>
            <a:ext cx="8235069" cy="923330"/>
          </a:xfrm>
          <a:prstGeom prst="rect">
            <a:avLst/>
          </a:prstGeom>
        </p:spPr>
        <p:txBody>
          <a:bodyPr wrap="square">
            <a:spAutoFit/>
          </a:bodyPr>
          <a:lstStyle/>
          <a:p>
            <a:pPr algn="ctr">
              <a:defRPr/>
            </a:pPr>
            <a:r>
              <a:rPr lang="en-US" sz="2700" b="1" dirty="0" smtClean="0">
                <a:solidFill>
                  <a:schemeClr val="tx2"/>
                </a:solidFill>
                <a:latin typeface="+mj-lt"/>
              </a:rPr>
              <a:t>L'investissement augmente mais le stock de capital est vieillissant </a:t>
            </a:r>
            <a:r>
              <a:rPr lang="en-US" sz="2700" b="1" dirty="0">
                <a:solidFill>
                  <a:schemeClr val="tx2"/>
                </a:solidFill>
                <a:latin typeface="+mj-lt"/>
              </a:rPr>
              <a:t>P</a:t>
            </a:r>
            <a:r>
              <a:rPr lang="en-US" sz="2700" b="1" dirty="0" smtClean="0">
                <a:solidFill>
                  <a:schemeClr val="tx2"/>
                </a:solidFill>
                <a:latin typeface="+mj-lt"/>
              </a:rPr>
              <a:t>otentiel haussier grâce à la modernisation technologique</a:t>
            </a:r>
          </a:p>
        </p:txBody>
      </p:sp>
      <p:sp>
        <p:nvSpPr>
          <p:cNvPr id="7" name="Slide Number Placeholder 6"/>
          <p:cNvSpPr>
            <a:spLocks noGrp="1"/>
          </p:cNvSpPr>
          <p:nvPr>
            <p:ph type="sldNum" sz="quarter" idx="12"/>
          </p:nvPr>
        </p:nvSpPr>
        <p:spPr/>
        <p:txBody>
          <a:bodyPr/>
          <a:lstStyle/>
          <a:p>
            <a:fld id="{FCE284C4-5ED1-4D6C-B7CC-2049C3062C5E}" type="slidenum">
              <a:rPr lang="en-GB" smtClean="0"/>
              <a:t>7</a:t>
            </a:fld>
            <a:endParaRPr lang="en-GB" dirty="0"/>
          </a:p>
        </p:txBody>
      </p:sp>
      <p:sp>
        <p:nvSpPr>
          <p:cNvPr id="11" name="TextBox 10"/>
          <p:cNvSpPr txBox="1"/>
          <p:nvPr/>
        </p:nvSpPr>
        <p:spPr>
          <a:xfrm>
            <a:off x="99037" y="5966214"/>
            <a:ext cx="8496944" cy="900246"/>
          </a:xfrm>
          <a:prstGeom prst="rect">
            <a:avLst/>
          </a:prstGeom>
          <a:noFill/>
        </p:spPr>
        <p:txBody>
          <a:bodyPr wrap="square" rtlCol="0">
            <a:spAutoFit/>
          </a:bodyPr>
          <a:lstStyle/>
          <a:p>
            <a:r>
              <a:rPr lang="en-US" sz="1050" dirty="0" smtClean="0">
                <a:solidFill>
                  <a:schemeClr val="bg2">
                    <a:lumMod val="10000"/>
                  </a:schemeClr>
                </a:solidFill>
                <a:latin typeface="Calibri" panose="020F0502020204030204" pitchFamily="34" charset="0"/>
              </a:rPr>
              <a:t>Note</a:t>
            </a:r>
            <a:r>
              <a:rPr lang="en-US" sz="1050" dirty="0">
                <a:solidFill>
                  <a:schemeClr val="bg2">
                    <a:lumMod val="10000"/>
                  </a:schemeClr>
                </a:solidFill>
                <a:latin typeface="Calibri" panose="020F0502020204030204" pitchFamily="34" charset="0"/>
              </a:rPr>
              <a:t> : </a:t>
            </a:r>
            <a:r>
              <a:rPr lang="en-US" sz="1050" dirty="0" smtClean="0">
                <a:solidFill>
                  <a:schemeClr val="bg2">
                    <a:lumMod val="10000"/>
                  </a:schemeClr>
                </a:solidFill>
                <a:latin typeface="Calibri" panose="020F0502020204030204" pitchFamily="34" charset="0"/>
              </a:rPr>
              <a:t>Facturation mondiale </a:t>
            </a:r>
            <a:r>
              <a:rPr lang="en-US" sz="1050" dirty="0">
                <a:solidFill>
                  <a:schemeClr val="bg2">
                    <a:lumMod val="10000"/>
                  </a:schemeClr>
                </a:solidFill>
                <a:latin typeface="Calibri" panose="020F0502020204030204" pitchFamily="34" charset="0"/>
              </a:rPr>
              <a:t>de semi-conducteurs en dollars américains courants. </a:t>
            </a:r>
            <a:r>
              <a:rPr lang="en-US" sz="1050" dirty="0" smtClean="0">
                <a:solidFill>
                  <a:schemeClr val="bg2">
                    <a:lumMod val="10000"/>
                  </a:schemeClr>
                </a:solidFill>
                <a:latin typeface="Calibri" panose="020F0502020204030204" pitchFamily="34" charset="0"/>
              </a:rPr>
              <a:t>La production des principaux ordinateurs avancés </a:t>
            </a:r>
            <a:r>
              <a:rPr lang="en-US" sz="1050" dirty="0">
                <a:solidFill>
                  <a:schemeClr val="bg2">
                    <a:lumMod val="10000"/>
                  </a:schemeClr>
                </a:solidFill>
                <a:latin typeface="Calibri" panose="020F0502020204030204" pitchFamily="34" charset="0"/>
              </a:rPr>
              <a:t>et de l'électronique est une moyenne pondérée de la production de produits informatiques et électroniques </a:t>
            </a:r>
            <a:r>
              <a:rPr lang="en-US" sz="1050" dirty="0" smtClean="0">
                <a:solidFill>
                  <a:schemeClr val="bg2">
                    <a:lumMod val="10000"/>
                  </a:schemeClr>
                </a:solidFill>
                <a:latin typeface="Calibri" panose="020F0502020204030204" pitchFamily="34" charset="0"/>
              </a:rPr>
              <a:t>pour les États-Unis, </a:t>
            </a:r>
            <a:r>
              <a:rPr lang="en-US" sz="1050" dirty="0">
                <a:solidFill>
                  <a:schemeClr val="bg2">
                    <a:lumMod val="10000"/>
                  </a:schemeClr>
                </a:solidFill>
                <a:latin typeface="Calibri" panose="020F0502020204030204" pitchFamily="34" charset="0"/>
              </a:rPr>
              <a:t>de la production d'ordinateurs, </a:t>
            </a:r>
            <a:r>
              <a:rPr lang="en-US" sz="1050" dirty="0" smtClean="0">
                <a:solidFill>
                  <a:schemeClr val="bg2">
                    <a:lumMod val="10000"/>
                  </a:schemeClr>
                </a:solidFill>
                <a:latin typeface="Calibri" panose="020F0502020204030204" pitchFamily="34" charset="0"/>
              </a:rPr>
              <a:t>de produits électroniques </a:t>
            </a:r>
            <a:r>
              <a:rPr lang="en-US" sz="1050" dirty="0">
                <a:solidFill>
                  <a:schemeClr val="bg2">
                    <a:lumMod val="10000"/>
                  </a:schemeClr>
                </a:solidFill>
                <a:latin typeface="Calibri" panose="020F0502020204030204" pitchFamily="34" charset="0"/>
              </a:rPr>
              <a:t>et optiques pour l'Allemagne, </a:t>
            </a:r>
            <a:r>
              <a:rPr lang="en-US" sz="1050" dirty="0" smtClean="0">
                <a:solidFill>
                  <a:schemeClr val="bg2">
                    <a:lumMod val="10000"/>
                  </a:schemeClr>
                </a:solidFill>
                <a:latin typeface="Calibri" panose="020F0502020204030204" pitchFamily="34" charset="0"/>
              </a:rPr>
              <a:t>et de la production d'équipements électroniques de communication et d'information </a:t>
            </a:r>
            <a:r>
              <a:rPr lang="en-US" sz="1050" dirty="0">
                <a:solidFill>
                  <a:schemeClr val="bg2">
                    <a:lumMod val="10000"/>
                  </a:schemeClr>
                </a:solidFill>
                <a:latin typeface="Calibri" panose="020F0502020204030204" pitchFamily="34" charset="0"/>
              </a:rPr>
              <a:t>ainsi que de pièces et dispositifs électroniques </a:t>
            </a:r>
            <a:r>
              <a:rPr lang="en-US" sz="1050" dirty="0" smtClean="0">
                <a:solidFill>
                  <a:schemeClr val="bg2">
                    <a:lumMod val="10000"/>
                  </a:schemeClr>
                </a:solidFill>
                <a:latin typeface="Calibri" panose="020F0502020204030204" pitchFamily="34" charset="0"/>
              </a:rPr>
              <a:t>pour le Japon.</a:t>
            </a:r>
            <a:br>
              <a:rPr lang="en-US" sz="1050" dirty="0" smtClean="0">
                <a:solidFill>
                  <a:schemeClr val="bg2">
                    <a:lumMod val="10000"/>
                  </a:schemeClr>
                </a:solidFill>
                <a:latin typeface="Calibri" panose="020F0502020204030204" pitchFamily="34" charset="0"/>
              </a:rPr>
            </a:br>
            <a:r>
              <a:rPr lang="en-US" sz="1050" dirty="0" smtClean="0">
                <a:solidFill>
                  <a:schemeClr val="bg2">
                    <a:lumMod val="10000"/>
                  </a:schemeClr>
                </a:solidFill>
                <a:latin typeface="Calibri" panose="020F0502020204030204" pitchFamily="34" charset="0"/>
              </a:rPr>
              <a:t>Source : OCDE base de données des Perspectives économiques de juin 2017</a:t>
            </a:r>
            <a:r>
              <a:rPr lang="en-US" sz="1050" dirty="0">
                <a:solidFill>
                  <a:schemeClr val="bg2">
                    <a:lumMod val="10000"/>
                  </a:schemeClr>
                </a:solidFill>
                <a:latin typeface="Calibri" panose="020F0502020204030204" pitchFamily="34" charset="0"/>
              </a:rPr>
              <a:t> ; World Semi-Conductor Statistics ; Eurostat ; Board of Governors of the Federal Reserve System ; </a:t>
            </a:r>
            <a:r>
              <a:rPr lang="en-US" sz="1050" dirty="0" smtClean="0">
                <a:solidFill>
                  <a:schemeClr val="bg2">
                    <a:lumMod val="10000"/>
                  </a:schemeClr>
                </a:solidFill>
                <a:latin typeface="Calibri" panose="020F0502020204030204" pitchFamily="34" charset="0"/>
              </a:rPr>
              <a:t>Japan Ministry </a:t>
            </a:r>
            <a:r>
              <a:rPr lang="en-US" sz="1050" dirty="0">
                <a:solidFill>
                  <a:schemeClr val="bg2">
                    <a:lumMod val="10000"/>
                  </a:schemeClr>
                </a:solidFill>
                <a:latin typeface="Calibri" panose="020F0502020204030204" pitchFamily="34" charset="0"/>
              </a:rPr>
              <a:t>of Economy, Trade and </a:t>
            </a:r>
            <a:r>
              <a:rPr lang="en-US" sz="1050" dirty="0" smtClean="0">
                <a:solidFill>
                  <a:schemeClr val="bg2">
                    <a:lumMod val="10000"/>
                  </a:schemeClr>
                </a:solidFill>
                <a:latin typeface="Calibri" panose="020F0502020204030204" pitchFamily="34" charset="0"/>
              </a:rPr>
              <a:t>Industry ; </a:t>
            </a:r>
            <a:r>
              <a:rPr lang="en-US" sz="1050" dirty="0">
                <a:solidFill>
                  <a:schemeClr val="bg2">
                    <a:lumMod val="10000"/>
                  </a:schemeClr>
                </a:solidFill>
                <a:latin typeface="Calibri" panose="020F0502020204030204" pitchFamily="34" charset="0"/>
              </a:rPr>
              <a:t>et calculs de l'OCDE</a:t>
            </a:r>
            <a:r>
              <a:rPr lang="en-US" sz="1050" dirty="0" smtClean="0">
                <a:solidFill>
                  <a:schemeClr val="bg2">
                    <a:lumMod val="10000"/>
                  </a:schemeClr>
                </a:solidFill>
                <a:latin typeface="Calibri" panose="020F0502020204030204" pitchFamily="34" charset="0"/>
              </a:rPr>
              <a:t>.</a:t>
            </a:r>
          </a:p>
        </p:txBody>
      </p:sp>
      <p:sp>
        <p:nvSpPr>
          <p:cNvPr id="9" name="TextBox 8"/>
          <p:cNvSpPr txBox="1"/>
          <p:nvPr/>
        </p:nvSpPr>
        <p:spPr>
          <a:xfrm>
            <a:off x="4165430" y="1281780"/>
            <a:ext cx="5202324" cy="605294"/>
          </a:xfrm>
          <a:prstGeom prst="rect">
            <a:avLst/>
          </a:prstGeom>
          <a:noFill/>
        </p:spPr>
        <p:txBody>
          <a:bodyPr wrap="square" rtlCol="0">
            <a:spAutoFit/>
          </a:bodyPr>
          <a:lstStyle/>
          <a:p>
            <a:pPr algn="ctr"/>
            <a:r>
              <a:rPr lang="en-GB" sz="2000" b="1" dirty="0" smtClean="0">
                <a:solidFill>
                  <a:schemeClr val="bg2">
                    <a:lumMod val="10000"/>
                  </a:schemeClr>
                </a:solidFill>
                <a:latin typeface="Calibri" pitchFamily="34" charset="0"/>
              </a:rPr>
              <a:t>Produits de haute technologie</a:t>
            </a:r>
            <a:br>
              <a:rPr lang="en-GB" sz="2000" b="1" dirty="0" smtClean="0">
                <a:solidFill>
                  <a:schemeClr val="bg2">
                    <a:lumMod val="10000"/>
                  </a:schemeClr>
                </a:solidFill>
                <a:latin typeface="Calibri" pitchFamily="34" charset="0"/>
              </a:rPr>
            </a:br>
            <a:endParaRPr lang="en-GB" sz="2000" baseline="30000" dirty="0">
              <a:solidFill>
                <a:schemeClr val="bg2">
                  <a:lumMod val="10000"/>
                </a:schemeClr>
              </a:solidFill>
              <a:latin typeface="Calibri" pitchFamily="34" charset="0"/>
            </a:endParaRPr>
          </a:p>
        </p:txBody>
      </p:sp>
      <p:sp>
        <p:nvSpPr>
          <p:cNvPr id="8" name="TextBox 7"/>
          <p:cNvSpPr txBox="1"/>
          <p:nvPr/>
        </p:nvSpPr>
        <p:spPr>
          <a:xfrm>
            <a:off x="-563133" y="1281780"/>
            <a:ext cx="5650830" cy="400110"/>
          </a:xfrm>
          <a:prstGeom prst="rect">
            <a:avLst/>
          </a:prstGeom>
          <a:noFill/>
        </p:spPr>
        <p:txBody>
          <a:bodyPr wrap="square" rtlCol="0">
            <a:spAutoFit/>
          </a:bodyPr>
          <a:lstStyle/>
          <a:p>
            <a:pPr algn="ctr"/>
            <a:r>
              <a:rPr lang="en-US" sz="2000" b="1" dirty="0" smtClean="0">
                <a:solidFill>
                  <a:schemeClr val="bg2">
                    <a:lumMod val="10000"/>
                  </a:schemeClr>
                </a:solidFill>
                <a:latin typeface="Calibri" pitchFamily="34" charset="0"/>
              </a:rPr>
              <a:t>Croissance du stock de capital productif</a:t>
            </a:r>
          </a:p>
        </p:txBody>
      </p:sp>
    </p:spTree>
    <p:extLst>
      <p:ext uri="{BB962C8B-B14F-4D97-AF65-F5344CB8AC3E}">
        <p14:creationId xmlns:p14="http://schemas.microsoft.com/office/powerpoint/2010/main" val="942901438"/>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9" name="Picture 3" descr="\\main.oecd.org\sdataECO\Units\FRONTOFFICE\Economic Outlooks\EO101\Data and charts\PPT_Figs_E\E_Handout_Fig_China_Investment_1_2P_P2C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8104" y="1772816"/>
            <a:ext cx="3611416" cy="4710689"/>
          </a:xfrm>
          <a:prstGeom prst="rect">
            <a:avLst/>
          </a:prstGeom>
          <a:noFill/>
          <a:extLst>
            <a:ext uri="{909E8E84-426E-40DD-AFC4-6F175D3DCCD1}">
              <a14:hiddenFill xmlns:a14="http://schemas.microsoft.com/office/drawing/2010/main">
                <a:solidFill>
                  <a:srgbClr val="FFFFFF"/>
                </a:solidFill>
              </a14:hiddenFill>
            </a:ext>
          </a:extLst>
        </p:spPr>
      </p:pic>
      <p:pic>
        <p:nvPicPr>
          <p:cNvPr id="4098" name="Picture 2" descr="\\main.oecd.org\sdataECO\Units\FRONTOFFICE\Economic Outlooks\EO101\Data and charts\PPT_Figs_E\E_Handout_Fig_World_Trade_contributions_1_2P_P2CL.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676" y="1443800"/>
            <a:ext cx="5482702" cy="5086514"/>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p:cNvSpPr/>
          <p:nvPr/>
        </p:nvSpPr>
        <p:spPr>
          <a:xfrm>
            <a:off x="777992" y="250359"/>
            <a:ext cx="8136904" cy="954107"/>
          </a:xfrm>
          <a:prstGeom prst="rect">
            <a:avLst/>
          </a:prstGeom>
        </p:spPr>
        <p:txBody>
          <a:bodyPr wrap="square">
            <a:spAutoFit/>
          </a:bodyPr>
          <a:lstStyle/>
          <a:p>
            <a:pPr algn="ctr">
              <a:defRPr/>
            </a:pPr>
            <a:r>
              <a:rPr lang="en-US" sz="2800" b="1" dirty="0">
                <a:solidFill>
                  <a:schemeClr val="tx2"/>
                </a:solidFill>
                <a:latin typeface="+mj-lt"/>
              </a:rPr>
              <a:t>Le commerce mondial s'est récemment redressé grâce à un important soutien du </a:t>
            </a:r>
            <a:r>
              <a:rPr lang="en-US" sz="2800" b="1" dirty="0" smtClean="0">
                <a:solidFill>
                  <a:schemeClr val="tx2"/>
                </a:solidFill>
                <a:latin typeface="+mj-lt"/>
              </a:rPr>
              <a:t>programme de relance en Chine</a:t>
            </a:r>
          </a:p>
        </p:txBody>
      </p:sp>
      <p:sp>
        <p:nvSpPr>
          <p:cNvPr id="7" name="Slide Number Placeholder 6"/>
          <p:cNvSpPr>
            <a:spLocks noGrp="1"/>
          </p:cNvSpPr>
          <p:nvPr>
            <p:ph type="sldNum" sz="quarter" idx="12"/>
          </p:nvPr>
        </p:nvSpPr>
        <p:spPr/>
        <p:txBody>
          <a:bodyPr/>
          <a:lstStyle/>
          <a:p>
            <a:fld id="{FCE284C4-5ED1-4D6C-B7CC-2049C3062C5E}" type="slidenum">
              <a:rPr lang="en-GB" smtClean="0"/>
              <a:t>8</a:t>
            </a:fld>
            <a:endParaRPr lang="en-GB" dirty="0"/>
          </a:p>
        </p:txBody>
      </p:sp>
      <p:sp>
        <p:nvSpPr>
          <p:cNvPr id="10" name="TextBox 9"/>
          <p:cNvSpPr txBox="1"/>
          <p:nvPr/>
        </p:nvSpPr>
        <p:spPr>
          <a:xfrm>
            <a:off x="201595" y="1278732"/>
            <a:ext cx="5202324" cy="605294"/>
          </a:xfrm>
          <a:prstGeom prst="rect">
            <a:avLst/>
          </a:prstGeom>
          <a:noFill/>
        </p:spPr>
        <p:txBody>
          <a:bodyPr wrap="square" rtlCol="0">
            <a:spAutoFit/>
          </a:bodyPr>
          <a:lstStyle/>
          <a:p>
            <a:pPr algn="ctr"/>
            <a:r>
              <a:rPr lang="en-GB" sz="2000" b="1" dirty="0" smtClean="0">
                <a:solidFill>
                  <a:schemeClr val="bg2">
                    <a:lumMod val="10000"/>
                  </a:schemeClr>
                </a:solidFill>
                <a:latin typeface="Calibri" pitchFamily="34" charset="0"/>
              </a:rPr>
              <a:t>Contributions à la croissance du commerce mondial</a:t>
            </a:r>
            <a:br>
              <a:rPr lang="en-GB" sz="2000" b="1" dirty="0" smtClean="0">
                <a:solidFill>
                  <a:schemeClr val="bg2">
                    <a:lumMod val="10000"/>
                  </a:schemeClr>
                </a:solidFill>
                <a:latin typeface="Calibri" pitchFamily="34" charset="0"/>
              </a:rPr>
            </a:br>
            <a:endParaRPr lang="en-GB" sz="2000" baseline="30000" dirty="0">
              <a:solidFill>
                <a:schemeClr val="bg2">
                  <a:lumMod val="10000"/>
                </a:schemeClr>
              </a:solidFill>
              <a:latin typeface="Calibri" pitchFamily="34" charset="0"/>
            </a:endParaRPr>
          </a:p>
        </p:txBody>
      </p:sp>
      <p:sp>
        <p:nvSpPr>
          <p:cNvPr id="11" name="TextBox 10"/>
          <p:cNvSpPr txBox="1"/>
          <p:nvPr/>
        </p:nvSpPr>
        <p:spPr>
          <a:xfrm>
            <a:off x="323528" y="6068006"/>
            <a:ext cx="8136904" cy="830997"/>
          </a:xfrm>
          <a:prstGeom prst="rect">
            <a:avLst/>
          </a:prstGeom>
          <a:noFill/>
        </p:spPr>
        <p:txBody>
          <a:bodyPr wrap="square" rtlCol="0">
            <a:spAutoFit/>
          </a:bodyPr>
          <a:lstStyle/>
          <a:p>
            <a:r>
              <a:rPr lang="en-US" sz="1200" dirty="0" smtClean="0">
                <a:solidFill>
                  <a:schemeClr val="bg2">
                    <a:lumMod val="10000"/>
                  </a:schemeClr>
                </a:solidFill>
                <a:latin typeface="Calibri" panose="020F0502020204030204" pitchFamily="34" charset="0"/>
              </a:rPr>
              <a:t/>
            </a:r>
            <a:br>
              <a:rPr lang="en-US" sz="1200" dirty="0" smtClean="0">
                <a:solidFill>
                  <a:schemeClr val="bg2">
                    <a:lumMod val="10000"/>
                  </a:schemeClr>
                </a:solidFill>
                <a:latin typeface="Calibri" panose="020F0502020204030204" pitchFamily="34" charset="0"/>
              </a:rPr>
            </a:br>
            <a:r>
              <a:rPr lang="en-US" sz="1200" dirty="0" smtClean="0">
                <a:solidFill>
                  <a:schemeClr val="bg2">
                    <a:lumMod val="10000"/>
                  </a:schemeClr>
                </a:solidFill>
                <a:latin typeface="Calibri" panose="020F0502020204030204" pitchFamily="34" charset="0"/>
              </a:rPr>
              <a:t>Note : Les producteurs de matières premières comprennent l'Argentine, l'Australie, le Brésil, le Chili, la Colombie, la Norvège, la Nouvelle-Zélande, la Russie, l'Arabie saoudite, l'Afrique du Sud et d'autres pays producteurs de pétrole.</a:t>
            </a:r>
            <a:br>
              <a:rPr lang="en-US" sz="1200" dirty="0" smtClean="0">
                <a:solidFill>
                  <a:schemeClr val="bg2">
                    <a:lumMod val="10000"/>
                  </a:schemeClr>
                </a:solidFill>
                <a:latin typeface="Calibri" panose="020F0502020204030204" pitchFamily="34" charset="0"/>
              </a:rPr>
            </a:br>
            <a:r>
              <a:rPr lang="en-US" sz="1200" dirty="0" smtClean="0">
                <a:solidFill>
                  <a:schemeClr val="bg2">
                    <a:lumMod val="10000"/>
                  </a:schemeClr>
                </a:solidFill>
                <a:latin typeface="Calibri" panose="020F0502020204030204" pitchFamily="34" charset="0"/>
              </a:rPr>
              <a:t>Source : OCDE base de données des Perspectives économiques de juin 2017</a:t>
            </a:r>
            <a:r>
              <a:rPr lang="en-US" sz="1200" dirty="0">
                <a:solidFill>
                  <a:schemeClr val="bg2">
                    <a:lumMod val="10000"/>
                  </a:schemeClr>
                </a:solidFill>
                <a:latin typeface="Calibri" panose="020F0502020204030204" pitchFamily="34" charset="0"/>
              </a:rPr>
              <a:t> ; </a:t>
            </a:r>
            <a:r>
              <a:rPr lang="en-US" sz="1200" dirty="0" smtClean="0">
                <a:solidFill>
                  <a:schemeClr val="bg2">
                    <a:lumMod val="10000"/>
                  </a:schemeClr>
                </a:solidFill>
                <a:latin typeface="Calibri" panose="020F0502020204030204" pitchFamily="34" charset="0"/>
              </a:rPr>
              <a:t>et Bureau national </a:t>
            </a:r>
            <a:r>
              <a:rPr lang="en-US" sz="1200" dirty="0">
                <a:solidFill>
                  <a:schemeClr val="bg2">
                    <a:lumMod val="10000"/>
                  </a:schemeClr>
                </a:solidFill>
                <a:latin typeface="Calibri" panose="020F0502020204030204" pitchFamily="34" charset="0"/>
              </a:rPr>
              <a:t>des statistiques de </a:t>
            </a:r>
            <a:r>
              <a:rPr lang="en-US" sz="1200" dirty="0" smtClean="0">
                <a:solidFill>
                  <a:schemeClr val="bg2">
                    <a:lumMod val="10000"/>
                  </a:schemeClr>
                </a:solidFill>
                <a:latin typeface="Calibri" panose="020F0502020204030204" pitchFamily="34" charset="0"/>
              </a:rPr>
              <a:t>Chine.</a:t>
            </a:r>
          </a:p>
        </p:txBody>
      </p:sp>
      <p:sp>
        <p:nvSpPr>
          <p:cNvPr id="9" name="TextBox 8"/>
          <p:cNvSpPr txBox="1"/>
          <p:nvPr/>
        </p:nvSpPr>
        <p:spPr>
          <a:xfrm>
            <a:off x="4514444" y="1239593"/>
            <a:ext cx="5650830" cy="707886"/>
          </a:xfrm>
          <a:prstGeom prst="rect">
            <a:avLst/>
          </a:prstGeom>
          <a:noFill/>
        </p:spPr>
        <p:txBody>
          <a:bodyPr wrap="square" rtlCol="0">
            <a:spAutoFit/>
          </a:bodyPr>
          <a:lstStyle/>
          <a:p>
            <a:pPr algn="ctr"/>
            <a:r>
              <a:rPr lang="en-US" sz="2000" b="1" dirty="0" smtClean="0">
                <a:solidFill>
                  <a:schemeClr val="bg2">
                    <a:lumMod val="10000"/>
                  </a:schemeClr>
                </a:solidFill>
                <a:latin typeface="Calibri" pitchFamily="34" charset="0"/>
              </a:rPr>
              <a:t>Investissement nominal chinois en </a:t>
            </a:r>
            <a:br>
              <a:rPr lang="en-US" sz="2000" b="1" dirty="0" smtClean="0">
                <a:solidFill>
                  <a:schemeClr val="bg2">
                    <a:lumMod val="10000"/>
                  </a:schemeClr>
                </a:solidFill>
                <a:latin typeface="Calibri" pitchFamily="34" charset="0"/>
              </a:rPr>
            </a:br>
            <a:r>
              <a:rPr lang="en-US" sz="2000" b="1" dirty="0" smtClean="0">
                <a:solidFill>
                  <a:schemeClr val="bg2">
                    <a:lumMod val="10000"/>
                  </a:schemeClr>
                </a:solidFill>
                <a:latin typeface="Calibri" pitchFamily="34" charset="0"/>
              </a:rPr>
              <a:t>actifs fixes</a:t>
            </a:r>
          </a:p>
        </p:txBody>
      </p:sp>
    </p:spTree>
    <p:extLst>
      <p:ext uri="{BB962C8B-B14F-4D97-AF65-F5344CB8AC3E}">
        <p14:creationId xmlns:p14="http://schemas.microsoft.com/office/powerpoint/2010/main" val="3921955359"/>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3" name="Picture 3" descr="\\main.oecd.org\sdataECO\Units\FRONTOFFICE\Economic Outlooks\EO101\Data and charts\PPT_Figs_E\E_Handout_Fig_Real_Wage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99992" y="1614391"/>
            <a:ext cx="4644008" cy="4781945"/>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main.oecd.org\sdataECO\Units\FRONTOFFICE\Economic Outlooks\EO101\Data and charts\PPT_Figs_E\E_Handout_Fig_Employment_1_2P_P2C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986" y="1614392"/>
            <a:ext cx="4477006" cy="4781944"/>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1"/>
          <p:cNvSpPr>
            <a:spLocks noGrp="1"/>
          </p:cNvSpPr>
          <p:nvPr>
            <p:ph type="sldNum" sz="quarter" idx="12"/>
          </p:nvPr>
        </p:nvSpPr>
        <p:spPr/>
        <p:txBody>
          <a:bodyPr/>
          <a:lstStyle/>
          <a:p>
            <a:fld id="{FCE284C4-5ED1-4D6C-B7CC-2049C3062C5E}" type="slidenum">
              <a:rPr lang="en-GB" smtClean="0"/>
              <a:t>9</a:t>
            </a:fld>
            <a:endParaRPr lang="en-GB" dirty="0"/>
          </a:p>
        </p:txBody>
      </p:sp>
      <p:sp>
        <p:nvSpPr>
          <p:cNvPr id="4" name="Rectangle 3"/>
          <p:cNvSpPr/>
          <p:nvPr/>
        </p:nvSpPr>
        <p:spPr>
          <a:xfrm>
            <a:off x="651603" y="224152"/>
            <a:ext cx="8378047" cy="954107"/>
          </a:xfrm>
          <a:prstGeom prst="rect">
            <a:avLst/>
          </a:prstGeom>
        </p:spPr>
        <p:txBody>
          <a:bodyPr wrap="square">
            <a:spAutoFit/>
          </a:bodyPr>
          <a:lstStyle/>
          <a:p>
            <a:pPr algn="ctr">
              <a:defRPr/>
            </a:pPr>
            <a:r>
              <a:rPr lang="en-US" sz="2800" b="1" dirty="0" smtClean="0">
                <a:solidFill>
                  <a:schemeClr val="tx2"/>
                </a:solidFill>
                <a:latin typeface="+mj-lt"/>
              </a:rPr>
              <a:t>Le redressement du marché du travail est incomplet </a:t>
            </a:r>
            <a:br>
              <a:rPr lang="en-US" sz="2800" b="1" dirty="0" smtClean="0">
                <a:solidFill>
                  <a:schemeClr val="tx2"/>
                </a:solidFill>
                <a:latin typeface="+mj-lt"/>
              </a:rPr>
            </a:br>
            <a:r>
              <a:rPr lang="en-US" sz="2800" b="1" dirty="0" smtClean="0">
                <a:solidFill>
                  <a:schemeClr val="tx2"/>
                </a:solidFill>
                <a:latin typeface="+mj-lt"/>
              </a:rPr>
              <a:t>et la croissance des salaires réels reste atone</a:t>
            </a:r>
            <a:endParaRPr lang="en-GB" sz="2800" b="1" dirty="0">
              <a:solidFill>
                <a:schemeClr val="tx2"/>
              </a:solidFill>
              <a:latin typeface="+mj-lt"/>
            </a:endParaRPr>
          </a:p>
        </p:txBody>
      </p:sp>
      <p:sp>
        <p:nvSpPr>
          <p:cNvPr id="16" name="TextBox 15"/>
          <p:cNvSpPr txBox="1"/>
          <p:nvPr/>
        </p:nvSpPr>
        <p:spPr>
          <a:xfrm>
            <a:off x="-296731" y="1322004"/>
            <a:ext cx="5063780" cy="584775"/>
          </a:xfrm>
          <a:prstGeom prst="rect">
            <a:avLst/>
          </a:prstGeom>
          <a:noFill/>
        </p:spPr>
        <p:txBody>
          <a:bodyPr wrap="square" rtlCol="0">
            <a:spAutoFit/>
          </a:bodyPr>
          <a:lstStyle/>
          <a:p>
            <a:pPr lvl="0" algn="ctr"/>
            <a:r>
              <a:rPr lang="en-US" sz="2000" b="1" dirty="0" smtClean="0">
                <a:solidFill>
                  <a:schemeClr val="bg2">
                    <a:lumMod val="10000"/>
                  </a:schemeClr>
                </a:solidFill>
                <a:latin typeface="Calibri" pitchFamily="34" charset="0"/>
              </a:rPr>
              <a:t>Chômage et sous-emploi</a:t>
            </a:r>
            <a:br>
              <a:rPr lang="en-US" sz="2000" b="1" dirty="0" smtClean="0">
                <a:solidFill>
                  <a:schemeClr val="bg2">
                    <a:lumMod val="10000"/>
                  </a:schemeClr>
                </a:solidFill>
                <a:latin typeface="Calibri" pitchFamily="34" charset="0"/>
              </a:rPr>
            </a:br>
            <a:r>
              <a:rPr lang="en-US" sz="1200" i="1" dirty="0" smtClean="0">
                <a:solidFill>
                  <a:schemeClr val="bg2">
                    <a:lumMod val="10000"/>
                  </a:schemeClr>
                </a:solidFill>
                <a:latin typeface="Calibri" pitchFamily="34" charset="0"/>
              </a:rPr>
              <a:t>OCDE, part de la population active</a:t>
            </a:r>
            <a:endParaRPr lang="en-US" sz="1200" i="1" dirty="0">
              <a:solidFill>
                <a:schemeClr val="bg2">
                  <a:lumMod val="10000"/>
                </a:schemeClr>
              </a:solidFill>
              <a:latin typeface="Calibri" pitchFamily="34" charset="0"/>
            </a:endParaRPr>
          </a:p>
        </p:txBody>
      </p:sp>
      <p:sp>
        <p:nvSpPr>
          <p:cNvPr id="11" name="TextBox 10"/>
          <p:cNvSpPr txBox="1"/>
          <p:nvPr/>
        </p:nvSpPr>
        <p:spPr>
          <a:xfrm>
            <a:off x="305640" y="6207203"/>
            <a:ext cx="8280920" cy="646331"/>
          </a:xfrm>
          <a:prstGeom prst="rect">
            <a:avLst/>
          </a:prstGeom>
          <a:noFill/>
        </p:spPr>
        <p:txBody>
          <a:bodyPr wrap="square" rtlCol="0">
            <a:spAutoFit/>
          </a:bodyPr>
          <a:lstStyle/>
          <a:p>
            <a:r>
              <a:rPr lang="en-US" sz="1200" dirty="0">
                <a:solidFill>
                  <a:schemeClr val="bg2">
                    <a:lumMod val="10000"/>
                  </a:schemeClr>
                </a:solidFill>
                <a:latin typeface="Calibri" panose="020F0502020204030204" pitchFamily="34" charset="0"/>
              </a:rPr>
              <a:t>Note : </a:t>
            </a:r>
            <a:r>
              <a:rPr lang="en-US" sz="1200" dirty="0" smtClean="0">
                <a:solidFill>
                  <a:schemeClr val="bg2">
                    <a:lumMod val="10000"/>
                  </a:schemeClr>
                </a:solidFill>
                <a:latin typeface="Calibri" panose="020F0502020204030204" pitchFamily="34" charset="0"/>
              </a:rPr>
              <a:t>Les salaires réels mesurés par la </a:t>
            </a:r>
            <a:r>
              <a:rPr lang="en-US" sz="1200" dirty="0">
                <a:solidFill>
                  <a:schemeClr val="bg2">
                    <a:lumMod val="10000"/>
                  </a:schemeClr>
                </a:solidFill>
                <a:latin typeface="Calibri" panose="020F0502020204030204" pitchFamily="34" charset="0"/>
              </a:rPr>
              <a:t>rémunération du travail par salarié </a:t>
            </a:r>
            <a:r>
              <a:rPr lang="en-US" sz="1200" dirty="0" smtClean="0">
                <a:solidFill>
                  <a:schemeClr val="bg2">
                    <a:lumMod val="10000"/>
                  </a:schemeClr>
                </a:solidFill>
                <a:latin typeface="Calibri" panose="020F0502020204030204" pitchFamily="34" charset="0"/>
              </a:rPr>
              <a:t>corrigée </a:t>
            </a:r>
            <a:r>
              <a:rPr lang="en-US" sz="1200" dirty="0">
                <a:solidFill>
                  <a:schemeClr val="bg2">
                    <a:lumMod val="10000"/>
                  </a:schemeClr>
                </a:solidFill>
                <a:latin typeface="Calibri" panose="020F0502020204030204" pitchFamily="34" charset="0"/>
              </a:rPr>
              <a:t>du </a:t>
            </a:r>
            <a:r>
              <a:rPr lang="en-US" sz="1200" dirty="0" smtClean="0">
                <a:solidFill>
                  <a:schemeClr val="bg2">
                    <a:lumMod val="10000"/>
                  </a:schemeClr>
                </a:solidFill>
                <a:latin typeface="Calibri" panose="020F0502020204030204" pitchFamily="34" charset="0"/>
              </a:rPr>
              <a:t>déflateur du PIB</a:t>
            </a:r>
            <a:r>
              <a:rPr lang="en-US" sz="1200" dirty="0">
                <a:solidFill>
                  <a:schemeClr val="bg2">
                    <a:lumMod val="10000"/>
                  </a:schemeClr>
                </a:solidFill>
                <a:latin typeface="Calibri" panose="020F0502020204030204" pitchFamily="34" charset="0"/>
              </a:rPr>
              <a:t>.</a:t>
            </a:r>
            <a:br>
              <a:rPr lang="en-US" sz="1200" dirty="0">
                <a:solidFill>
                  <a:schemeClr val="bg2">
                    <a:lumMod val="10000"/>
                  </a:schemeClr>
                </a:solidFill>
                <a:latin typeface="Calibri" panose="020F0502020204030204" pitchFamily="34" charset="0"/>
              </a:rPr>
            </a:br>
            <a:r>
              <a:rPr lang="en-US" sz="1200" dirty="0">
                <a:solidFill>
                  <a:schemeClr val="bg2">
                    <a:lumMod val="10000"/>
                  </a:schemeClr>
                </a:solidFill>
                <a:latin typeface="Calibri" panose="020F0502020204030204" pitchFamily="34" charset="0"/>
              </a:rPr>
              <a:t>Source : OCDE base de données des Perspectives économiques de juin 2017 ; OCDE base de données sur l'emploi ; US Bureau of Labor Statistics ; Eurostat ; et Japan Statistics Bureau.</a:t>
            </a:r>
            <a:endParaRPr lang="en-US" sz="1200" dirty="0" smtClean="0">
              <a:solidFill>
                <a:schemeClr val="bg2">
                  <a:lumMod val="10000"/>
                </a:schemeClr>
              </a:solidFill>
              <a:latin typeface="Calibri" panose="020F0502020204030204" pitchFamily="34" charset="0"/>
            </a:endParaRPr>
          </a:p>
        </p:txBody>
      </p:sp>
      <p:sp>
        <p:nvSpPr>
          <p:cNvPr id="8" name="TextBox 7"/>
          <p:cNvSpPr txBox="1"/>
          <p:nvPr/>
        </p:nvSpPr>
        <p:spPr>
          <a:xfrm>
            <a:off x="4282712" y="1313126"/>
            <a:ext cx="5063780" cy="584775"/>
          </a:xfrm>
          <a:prstGeom prst="rect">
            <a:avLst/>
          </a:prstGeom>
          <a:noFill/>
        </p:spPr>
        <p:txBody>
          <a:bodyPr wrap="square" rtlCol="0">
            <a:spAutoFit/>
          </a:bodyPr>
          <a:lstStyle/>
          <a:p>
            <a:pPr lvl="0" algn="ctr"/>
            <a:r>
              <a:rPr lang="en-US" sz="2000" b="1" dirty="0" smtClean="0">
                <a:solidFill>
                  <a:schemeClr val="bg2">
                    <a:lumMod val="10000"/>
                  </a:schemeClr>
                </a:solidFill>
                <a:latin typeface="Calibri" pitchFamily="34" charset="0"/>
              </a:rPr>
              <a:t>Croissance des salaires réels</a:t>
            </a:r>
          </a:p>
          <a:p>
            <a:pPr lvl="0" algn="ctr"/>
            <a:r>
              <a:rPr lang="en-US" sz="1200" i="1" dirty="0" smtClean="0">
                <a:solidFill>
                  <a:srgbClr val="E6E6E6">
                    <a:lumMod val="10000"/>
                  </a:srgbClr>
                </a:solidFill>
                <a:latin typeface="Calibri" pitchFamily="34" charset="0"/>
              </a:rPr>
              <a:t>Les lignes horizontales représentent les moyennes 1987-2007</a:t>
            </a:r>
            <a:endParaRPr lang="en-US" sz="1200" i="1" dirty="0">
              <a:solidFill>
                <a:schemeClr val="bg2">
                  <a:lumMod val="10000"/>
                </a:schemeClr>
              </a:solidFill>
              <a:latin typeface="Calibri" pitchFamily="34" charset="0"/>
            </a:endParaRPr>
          </a:p>
        </p:txBody>
      </p:sp>
    </p:spTree>
    <p:extLst>
      <p:ext uri="{BB962C8B-B14F-4D97-AF65-F5344CB8AC3E}">
        <p14:creationId xmlns:p14="http://schemas.microsoft.com/office/powerpoint/2010/main" val="2487611241"/>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7" name="Picture 3" descr="\\main.oecd.org\sdataECO\Units\FRONTOFFICE\Economic Outlooks\EO101\Data and charts\PPT_Figs_E\E_Handout_Fig_House_Rent_Ratios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44009" y="1578082"/>
            <a:ext cx="4436444" cy="4820180"/>
          </a:xfrm>
          <a:prstGeom prst="rect">
            <a:avLst/>
          </a:prstGeom>
          <a:noFill/>
          <a:extLst>
            <a:ext uri="{909E8E84-426E-40DD-AFC4-6F175D3DCCD1}">
              <a14:hiddenFill xmlns:a14="http://schemas.microsoft.com/office/drawing/2010/main">
                <a:solidFill>
                  <a:srgbClr val="FFFFFF"/>
                </a:solidFill>
              </a14:hiddenFill>
            </a:ext>
          </a:extLst>
        </p:spPr>
      </p:pic>
      <p:pic>
        <p:nvPicPr>
          <p:cNvPr id="6146" name="Picture 2" descr="\\main.oecd.org\sdataECO\Units\FRONTOFFICE\Economic Outlooks\EO101\Data and charts\PPT_Figs_E\E_Handout_Fig_Private_credit_1_2P_P2C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739" y="1576536"/>
            <a:ext cx="4619269" cy="4876800"/>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1"/>
          <p:cNvSpPr>
            <a:spLocks noGrp="1"/>
          </p:cNvSpPr>
          <p:nvPr>
            <p:ph type="sldNum" sz="quarter" idx="12"/>
          </p:nvPr>
        </p:nvSpPr>
        <p:spPr/>
        <p:txBody>
          <a:bodyPr/>
          <a:lstStyle/>
          <a:p>
            <a:fld id="{FCE284C4-5ED1-4D6C-B7CC-2049C3062C5E}" type="slidenum">
              <a:rPr lang="en-GB" smtClean="0"/>
              <a:t>10</a:t>
            </a:fld>
            <a:endParaRPr lang="en-GB" dirty="0"/>
          </a:p>
        </p:txBody>
      </p:sp>
      <p:sp>
        <p:nvSpPr>
          <p:cNvPr id="4" name="Rectangle 3"/>
          <p:cNvSpPr/>
          <p:nvPr/>
        </p:nvSpPr>
        <p:spPr>
          <a:xfrm>
            <a:off x="736273" y="224152"/>
            <a:ext cx="8378047" cy="954107"/>
          </a:xfrm>
          <a:prstGeom prst="rect">
            <a:avLst/>
          </a:prstGeom>
        </p:spPr>
        <p:txBody>
          <a:bodyPr wrap="square">
            <a:spAutoFit/>
          </a:bodyPr>
          <a:lstStyle/>
          <a:p>
            <a:pPr algn="ctr">
              <a:defRPr/>
            </a:pPr>
            <a:r>
              <a:rPr lang="en-US" sz="2800" b="1" dirty="0" smtClean="0">
                <a:solidFill>
                  <a:schemeClr val="tx2"/>
                </a:solidFill>
                <a:latin typeface="+mj-lt"/>
              </a:rPr>
              <a:t>Hausse du crédit privé dans les EME et </a:t>
            </a:r>
            <a:br>
              <a:rPr lang="en-US" sz="2800" b="1" dirty="0" smtClean="0">
                <a:solidFill>
                  <a:schemeClr val="tx2"/>
                </a:solidFill>
                <a:latin typeface="+mj-lt"/>
              </a:rPr>
            </a:br>
            <a:r>
              <a:rPr lang="en-US" sz="2800" b="1" dirty="0" smtClean="0">
                <a:solidFill>
                  <a:schemeClr val="tx2"/>
                </a:solidFill>
                <a:latin typeface="+mj-lt"/>
              </a:rPr>
              <a:t>risques sur les marchés immobiliers dans les économies avancées</a:t>
            </a:r>
            <a:endParaRPr lang="en-GB" sz="2800" b="1" dirty="0">
              <a:solidFill>
                <a:schemeClr val="tx2"/>
              </a:solidFill>
              <a:latin typeface="+mj-lt"/>
            </a:endParaRPr>
          </a:p>
        </p:txBody>
      </p:sp>
      <p:sp>
        <p:nvSpPr>
          <p:cNvPr id="10" name="TextBox 9"/>
          <p:cNvSpPr txBox="1"/>
          <p:nvPr/>
        </p:nvSpPr>
        <p:spPr>
          <a:xfrm>
            <a:off x="249870" y="6210405"/>
            <a:ext cx="8378047" cy="646331"/>
          </a:xfrm>
          <a:prstGeom prst="rect">
            <a:avLst/>
          </a:prstGeom>
          <a:noFill/>
        </p:spPr>
        <p:txBody>
          <a:bodyPr wrap="square" rtlCol="0">
            <a:spAutoFit/>
          </a:bodyPr>
          <a:lstStyle/>
          <a:p>
            <a:r>
              <a:rPr lang="en-US" sz="1200" dirty="0" smtClean="0">
                <a:solidFill>
                  <a:schemeClr val="bg2">
                    <a:lumMod val="10000"/>
                  </a:schemeClr>
                </a:solidFill>
                <a:latin typeface="Calibri" panose="020F0502020204030204" pitchFamily="34" charset="0"/>
              </a:rPr>
              <a:t>Note : Les EME hors Chine représentent une moyenne non pondérée des ratios pour l'Argentine, le Brésil, la Colombie</a:t>
            </a:r>
            <a:r>
              <a:rPr lang="en-US" sz="1200" dirty="0">
                <a:solidFill>
                  <a:schemeClr val="bg2">
                    <a:lumMod val="10000"/>
                  </a:schemeClr>
                </a:solidFill>
                <a:latin typeface="Calibri" panose="020F0502020204030204" pitchFamily="34" charset="0"/>
              </a:rPr>
              <a:t>, l'Inde, l'Indonésie, le Mexique, la Russie, la Malaisie, </a:t>
            </a:r>
            <a:r>
              <a:rPr lang="en-US" sz="1200" dirty="0" smtClean="0">
                <a:solidFill>
                  <a:schemeClr val="bg2">
                    <a:lumMod val="10000"/>
                  </a:schemeClr>
                </a:solidFill>
                <a:latin typeface="Calibri" panose="020F0502020204030204" pitchFamily="34" charset="0"/>
              </a:rPr>
              <a:t>l'Afrique </a:t>
            </a:r>
            <a:r>
              <a:rPr lang="en-US" sz="1200" dirty="0">
                <a:solidFill>
                  <a:schemeClr val="bg2">
                    <a:lumMod val="10000"/>
                  </a:schemeClr>
                </a:solidFill>
                <a:latin typeface="Calibri" panose="020F0502020204030204" pitchFamily="34" charset="0"/>
              </a:rPr>
              <a:t>du Sud et la Turquie.</a:t>
            </a:r>
            <a:br>
              <a:rPr lang="en-US" sz="1200" dirty="0">
                <a:solidFill>
                  <a:schemeClr val="bg2">
                    <a:lumMod val="10000"/>
                  </a:schemeClr>
                </a:solidFill>
                <a:latin typeface="Calibri" panose="020F0502020204030204" pitchFamily="34" charset="0"/>
              </a:rPr>
            </a:br>
            <a:r>
              <a:rPr lang="en-US" sz="1200" dirty="0" smtClean="0">
                <a:solidFill>
                  <a:schemeClr val="bg2">
                    <a:lumMod val="10000"/>
                  </a:schemeClr>
                </a:solidFill>
                <a:latin typeface="Calibri" panose="020F0502020204030204" pitchFamily="34" charset="0"/>
              </a:rPr>
              <a:t>Source</a:t>
            </a:r>
            <a:r>
              <a:rPr lang="en-US" sz="1200" dirty="0">
                <a:solidFill>
                  <a:schemeClr val="bg2">
                    <a:lumMod val="10000"/>
                  </a:schemeClr>
                </a:solidFill>
                <a:latin typeface="Calibri" panose="020F0502020204030204" pitchFamily="34" charset="0"/>
              </a:rPr>
              <a:t> : </a:t>
            </a:r>
            <a:r>
              <a:rPr lang="en-US" sz="1200" dirty="0" smtClean="0">
                <a:solidFill>
                  <a:schemeClr val="bg2">
                    <a:lumMod val="10000"/>
                  </a:schemeClr>
                </a:solidFill>
                <a:latin typeface="Calibri" panose="020F0502020204030204" pitchFamily="34" charset="0"/>
              </a:rPr>
              <a:t>BIS ; </a:t>
            </a:r>
            <a:r>
              <a:rPr lang="en-US" sz="1200" dirty="0">
                <a:solidFill>
                  <a:schemeClr val="bg2">
                    <a:lumMod val="10000"/>
                  </a:schemeClr>
                </a:solidFill>
                <a:latin typeface="Calibri" panose="020F0502020204030204" pitchFamily="34" charset="0"/>
              </a:rPr>
              <a:t>OCDE base de données analytique sur les prix immobiliers ; </a:t>
            </a:r>
            <a:r>
              <a:rPr lang="en-US" sz="1200" dirty="0" smtClean="0">
                <a:solidFill>
                  <a:schemeClr val="bg2">
                    <a:lumMod val="10000"/>
                  </a:schemeClr>
                </a:solidFill>
                <a:latin typeface="Calibri" panose="020F0502020204030204" pitchFamily="34" charset="0"/>
              </a:rPr>
              <a:t>et </a:t>
            </a:r>
            <a:r>
              <a:rPr lang="en-US" sz="1200" dirty="0">
                <a:solidFill>
                  <a:schemeClr val="bg2">
                    <a:lumMod val="10000"/>
                  </a:schemeClr>
                </a:solidFill>
                <a:latin typeface="Calibri" panose="020F0502020204030204" pitchFamily="34" charset="0"/>
              </a:rPr>
              <a:t>calculs de l'OCDE.</a:t>
            </a:r>
            <a:endParaRPr lang="en-US" sz="1200" dirty="0" smtClean="0">
              <a:solidFill>
                <a:schemeClr val="bg2">
                  <a:lumMod val="10000"/>
                </a:schemeClr>
              </a:solidFill>
              <a:latin typeface="Calibri" panose="020F0502020204030204" pitchFamily="34" charset="0"/>
            </a:endParaRPr>
          </a:p>
        </p:txBody>
      </p:sp>
      <p:sp>
        <p:nvSpPr>
          <p:cNvPr id="12" name="Rectangle 11"/>
          <p:cNvSpPr/>
          <p:nvPr/>
        </p:nvSpPr>
        <p:spPr>
          <a:xfrm>
            <a:off x="323528" y="1268760"/>
            <a:ext cx="3771930" cy="615553"/>
          </a:xfrm>
          <a:prstGeom prst="rect">
            <a:avLst/>
          </a:prstGeom>
        </p:spPr>
        <p:txBody>
          <a:bodyPr wrap="none">
            <a:spAutoFit/>
          </a:bodyPr>
          <a:lstStyle/>
          <a:p>
            <a:pPr algn="ctr"/>
            <a:r>
              <a:rPr lang="en-GB" sz="2000" b="1" dirty="0" smtClean="0">
                <a:solidFill>
                  <a:schemeClr val="bg2">
                    <a:lumMod val="10000"/>
                  </a:schemeClr>
                </a:solidFill>
                <a:latin typeface="Calibri" pitchFamily="34" charset="0"/>
              </a:rPr>
              <a:t>Crédit au secteur privé non financier</a:t>
            </a:r>
          </a:p>
          <a:p>
            <a:pPr algn="ctr"/>
            <a:endParaRPr lang="en-GB" sz="1400" i="1" dirty="0" smtClean="0">
              <a:solidFill>
                <a:schemeClr val="bg2">
                  <a:lumMod val="10000"/>
                </a:schemeClr>
              </a:solidFill>
              <a:latin typeface="Calibri" pitchFamily="34" charset="0"/>
            </a:endParaRPr>
          </a:p>
        </p:txBody>
      </p:sp>
      <p:sp>
        <p:nvSpPr>
          <p:cNvPr id="13" name="Rectangle 12"/>
          <p:cNvSpPr/>
          <p:nvPr/>
        </p:nvSpPr>
        <p:spPr>
          <a:xfrm>
            <a:off x="5416096" y="1268760"/>
            <a:ext cx="2820259" cy="584775"/>
          </a:xfrm>
          <a:prstGeom prst="rect">
            <a:avLst/>
          </a:prstGeom>
        </p:spPr>
        <p:txBody>
          <a:bodyPr wrap="none">
            <a:spAutoFit/>
          </a:bodyPr>
          <a:lstStyle/>
          <a:p>
            <a:pPr algn="ctr"/>
            <a:r>
              <a:rPr lang="en-GB" sz="2000" b="1" dirty="0" smtClean="0">
                <a:solidFill>
                  <a:schemeClr val="bg2">
                    <a:lumMod val="10000"/>
                  </a:schemeClr>
                </a:solidFill>
                <a:latin typeface="Calibri" pitchFamily="34" charset="0"/>
              </a:rPr>
              <a:t>Ratio prix des logements/loyers</a:t>
            </a:r>
          </a:p>
          <a:p>
            <a:pPr lvl="0" algn="ctr"/>
            <a:r>
              <a:rPr lang="en-US" sz="1200" i="1" dirty="0" smtClean="0">
                <a:solidFill>
                  <a:srgbClr val="E6E6E6">
                    <a:lumMod val="10000"/>
                  </a:srgbClr>
                </a:solidFill>
                <a:latin typeface="Calibri" pitchFamily="34" charset="0"/>
              </a:rPr>
              <a:t>Moyenne depuis 1980 = 100</a:t>
            </a:r>
            <a:endParaRPr lang="en-US" sz="1200" i="1" dirty="0">
              <a:solidFill>
                <a:srgbClr val="E6E6E6">
                  <a:lumMod val="10000"/>
                </a:srgbClr>
              </a:solidFill>
              <a:latin typeface="Calibri" pitchFamily="34" charset="0"/>
            </a:endParaRPr>
          </a:p>
        </p:txBody>
      </p:sp>
    </p:spTree>
    <p:extLst>
      <p:ext uri="{BB962C8B-B14F-4D97-AF65-F5344CB8AC3E}">
        <p14:creationId xmlns:p14="http://schemas.microsoft.com/office/powerpoint/2010/main" val="4075728812"/>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70" name="Picture 2" descr="\\main.oecd.org\sdataECO\Units\FRONTOFFICE\Economic Outlooks\EO101\Data and charts\PPT_Figs_E\E_Handout_Fig_Core_inflation_2005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56" y="1536187"/>
            <a:ext cx="4524044" cy="5133171"/>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1"/>
          <p:cNvSpPr>
            <a:spLocks noGrp="1"/>
          </p:cNvSpPr>
          <p:nvPr>
            <p:ph type="sldNum" sz="quarter" idx="12"/>
          </p:nvPr>
        </p:nvSpPr>
        <p:spPr/>
        <p:txBody>
          <a:bodyPr/>
          <a:lstStyle/>
          <a:p>
            <a:fld id="{FCE284C4-5ED1-4D6C-B7CC-2049C3062C5E}" type="slidenum">
              <a:rPr lang="en-GB" smtClean="0"/>
              <a:t>11</a:t>
            </a:fld>
            <a:endParaRPr lang="en-GB" dirty="0"/>
          </a:p>
        </p:txBody>
      </p:sp>
      <p:sp>
        <p:nvSpPr>
          <p:cNvPr id="4" name="Rectangle 3"/>
          <p:cNvSpPr/>
          <p:nvPr/>
        </p:nvSpPr>
        <p:spPr>
          <a:xfrm>
            <a:off x="797998" y="241893"/>
            <a:ext cx="8378047" cy="954107"/>
          </a:xfrm>
          <a:prstGeom prst="rect">
            <a:avLst/>
          </a:prstGeom>
        </p:spPr>
        <p:txBody>
          <a:bodyPr wrap="square">
            <a:spAutoFit/>
          </a:bodyPr>
          <a:lstStyle/>
          <a:p>
            <a:pPr algn="ctr">
              <a:defRPr/>
            </a:pPr>
            <a:r>
              <a:rPr lang="en-US" sz="2800" b="1" dirty="0" smtClean="0">
                <a:solidFill>
                  <a:schemeClr val="tx2"/>
                </a:solidFill>
                <a:latin typeface="+mj-lt"/>
              </a:rPr>
              <a:t>Inflation généralement en deçà des objectifs ; la divergence potentielle des taux d'intérêt crée des </a:t>
            </a:r>
            <a:r>
              <a:rPr lang="en-US" sz="2800" b="1" dirty="0">
                <a:solidFill>
                  <a:schemeClr val="tx2"/>
                </a:solidFill>
                <a:latin typeface="+mj-lt"/>
              </a:rPr>
              <a:t>risques </a:t>
            </a:r>
            <a:r>
              <a:rPr lang="en-US" sz="2800" b="1" dirty="0" smtClean="0">
                <a:solidFill>
                  <a:schemeClr val="tx2"/>
                </a:solidFill>
                <a:latin typeface="+mj-lt"/>
              </a:rPr>
              <a:t>financiers</a:t>
            </a:r>
            <a:endParaRPr lang="en-GB" sz="2800" b="1" dirty="0">
              <a:solidFill>
                <a:schemeClr val="tx2"/>
              </a:solidFill>
              <a:latin typeface="+mj-lt"/>
            </a:endParaRPr>
          </a:p>
        </p:txBody>
      </p:sp>
      <p:sp>
        <p:nvSpPr>
          <p:cNvPr id="5" name="TextBox 4"/>
          <p:cNvSpPr txBox="1"/>
          <p:nvPr/>
        </p:nvSpPr>
        <p:spPr>
          <a:xfrm>
            <a:off x="-66286" y="1319510"/>
            <a:ext cx="4824536" cy="523220"/>
          </a:xfrm>
          <a:prstGeom prst="rect">
            <a:avLst/>
          </a:prstGeom>
          <a:noFill/>
        </p:spPr>
        <p:txBody>
          <a:bodyPr wrap="square" rtlCol="0">
            <a:spAutoFit/>
          </a:bodyPr>
          <a:lstStyle/>
          <a:p>
            <a:pPr algn="ctr"/>
            <a:r>
              <a:rPr lang="en-US" sz="2000" b="1" dirty="0" smtClean="0">
                <a:solidFill>
                  <a:schemeClr val="bg2">
                    <a:lumMod val="10000"/>
                  </a:schemeClr>
                </a:solidFill>
                <a:latin typeface="Calibri" pitchFamily="34" charset="0"/>
              </a:rPr>
              <a:t>Inflation sous-jacente</a:t>
            </a:r>
            <a:br>
              <a:rPr lang="en-US" sz="2000" b="1" dirty="0" smtClean="0">
                <a:solidFill>
                  <a:schemeClr val="bg2">
                    <a:lumMod val="10000"/>
                  </a:schemeClr>
                </a:solidFill>
                <a:latin typeface="Calibri" pitchFamily="34" charset="0"/>
              </a:rPr>
            </a:br>
            <a:endParaRPr lang="en-GB" sz="1200" i="1" baseline="30000" dirty="0">
              <a:solidFill>
                <a:schemeClr val="bg2">
                  <a:lumMod val="10000"/>
                </a:schemeClr>
              </a:solidFill>
              <a:latin typeface="Calibri" pitchFamily="34" charset="0"/>
            </a:endParaRPr>
          </a:p>
        </p:txBody>
      </p:sp>
      <p:sp>
        <p:nvSpPr>
          <p:cNvPr id="7" name="TextBox 6"/>
          <p:cNvSpPr txBox="1"/>
          <p:nvPr/>
        </p:nvSpPr>
        <p:spPr>
          <a:xfrm>
            <a:off x="161255" y="6042154"/>
            <a:ext cx="8352930" cy="830997"/>
          </a:xfrm>
          <a:prstGeom prst="rect">
            <a:avLst/>
          </a:prstGeom>
          <a:noFill/>
        </p:spPr>
        <p:txBody>
          <a:bodyPr wrap="square" rtlCol="0">
            <a:spAutoFit/>
          </a:bodyPr>
          <a:lstStyle/>
          <a:p>
            <a:r>
              <a:rPr lang="en-GB" sz="1200" dirty="0" smtClean="0">
                <a:solidFill>
                  <a:schemeClr val="bg2">
                    <a:lumMod val="10000"/>
                  </a:schemeClr>
                </a:solidFill>
                <a:latin typeface="Calibri" panose="020F0502020204030204" pitchFamily="34" charset="0"/>
              </a:rPr>
              <a:t/>
            </a:r>
            <a:br>
              <a:rPr lang="en-GB" sz="1200" dirty="0" smtClean="0">
                <a:solidFill>
                  <a:schemeClr val="bg2">
                    <a:lumMod val="10000"/>
                  </a:schemeClr>
                </a:solidFill>
                <a:latin typeface="Calibri" panose="020F0502020204030204" pitchFamily="34" charset="0"/>
              </a:rPr>
            </a:br>
            <a:r>
              <a:rPr lang="en-GB" sz="1200" dirty="0" smtClean="0">
                <a:solidFill>
                  <a:schemeClr val="bg2">
                    <a:lumMod val="10000"/>
                  </a:schemeClr>
                </a:solidFill>
                <a:latin typeface="Calibri" panose="020F0502020204030204" pitchFamily="34" charset="0"/>
              </a:rPr>
              <a:t/>
            </a:r>
            <a:br>
              <a:rPr lang="en-GB" sz="1200" dirty="0" smtClean="0">
                <a:solidFill>
                  <a:schemeClr val="bg2">
                    <a:lumMod val="10000"/>
                  </a:schemeClr>
                </a:solidFill>
                <a:latin typeface="Calibri" panose="020F0502020204030204" pitchFamily="34" charset="0"/>
              </a:rPr>
            </a:br>
            <a:r>
              <a:rPr lang="en-GB" sz="1200" dirty="0" smtClean="0">
                <a:solidFill>
                  <a:schemeClr val="bg2">
                    <a:lumMod val="10000"/>
                  </a:schemeClr>
                </a:solidFill>
                <a:latin typeface="Calibri" panose="020F0502020204030204" pitchFamily="34" charset="0"/>
              </a:rPr>
              <a:t>Note : L'inflation sous-jacente au Japon est corrigée de l'impact des hausses de la taxe à la consommation.</a:t>
            </a:r>
            <a:br>
              <a:rPr lang="en-GB" sz="1200" dirty="0" smtClean="0">
                <a:solidFill>
                  <a:schemeClr val="bg2">
                    <a:lumMod val="10000"/>
                  </a:schemeClr>
                </a:solidFill>
                <a:latin typeface="Calibri" panose="020F0502020204030204" pitchFamily="34" charset="0"/>
              </a:rPr>
            </a:br>
            <a:r>
              <a:rPr lang="en-GB" sz="1200" dirty="0" smtClean="0">
                <a:solidFill>
                  <a:schemeClr val="bg2">
                    <a:lumMod val="10000"/>
                  </a:schemeClr>
                </a:solidFill>
                <a:latin typeface="Calibri" panose="020F0502020204030204" pitchFamily="34" charset="0"/>
              </a:rPr>
              <a:t>Source : </a:t>
            </a:r>
            <a:r>
              <a:rPr lang="en-US" sz="1200" dirty="0" smtClean="0">
                <a:solidFill>
                  <a:schemeClr val="bg2">
                    <a:lumMod val="10000"/>
                  </a:schemeClr>
                </a:solidFill>
                <a:latin typeface="Calibri" panose="020F0502020204030204" pitchFamily="34" charset="0"/>
              </a:rPr>
              <a:t>OCDE base de données des Perspectives économiques de juin 2017 ; Bloomberg ; et calculs de l'OCDE.</a:t>
            </a:r>
            <a:endParaRPr lang="en-GB" sz="1200" dirty="0">
              <a:solidFill>
                <a:schemeClr val="bg2">
                  <a:lumMod val="10000"/>
                </a:schemeClr>
              </a:solidFill>
              <a:latin typeface="Calibri" panose="020F0502020204030204" pitchFamily="34" charset="0"/>
            </a:endParaRPr>
          </a:p>
        </p:txBody>
      </p:sp>
      <p:pic>
        <p:nvPicPr>
          <p:cNvPr id="7171" name="Picture 3" descr="\\main.oecd.org\sdataECO\Units\FRONTOFFICE\Economic Outlooks\EO101\Data and charts\PPT_Figs_E\E_Handout_Fig_IR_expected_1_2P_P2C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27985" y="1772816"/>
            <a:ext cx="4659328" cy="4896542"/>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p:cNvSpPr txBox="1"/>
          <p:nvPr/>
        </p:nvSpPr>
        <p:spPr>
          <a:xfrm>
            <a:off x="4337720" y="1245618"/>
            <a:ext cx="4824536" cy="1015663"/>
          </a:xfrm>
          <a:prstGeom prst="rect">
            <a:avLst/>
          </a:prstGeom>
          <a:noFill/>
        </p:spPr>
        <p:txBody>
          <a:bodyPr wrap="square" rtlCol="0">
            <a:spAutoFit/>
          </a:bodyPr>
          <a:lstStyle/>
          <a:p>
            <a:pPr algn="ctr"/>
            <a:r>
              <a:rPr lang="en-US" sz="2000" b="1" dirty="0" smtClean="0">
                <a:solidFill>
                  <a:schemeClr val="bg2">
                    <a:lumMod val="10000"/>
                  </a:schemeClr>
                </a:solidFill>
                <a:latin typeface="Calibri" pitchFamily="34" charset="0"/>
              </a:rPr>
              <a:t>Anticipations des marchés concernant les</a:t>
            </a:r>
            <a:br>
              <a:rPr lang="en-US" sz="2000" b="1" dirty="0" smtClean="0">
                <a:solidFill>
                  <a:schemeClr val="bg2">
                    <a:lumMod val="10000"/>
                  </a:schemeClr>
                </a:solidFill>
                <a:latin typeface="Calibri" pitchFamily="34" charset="0"/>
              </a:rPr>
            </a:br>
            <a:r>
              <a:rPr lang="en-US" sz="2000" b="1" dirty="0" smtClean="0">
                <a:solidFill>
                  <a:schemeClr val="bg2">
                    <a:lumMod val="10000"/>
                  </a:schemeClr>
                </a:solidFill>
                <a:latin typeface="Calibri" pitchFamily="34" charset="0"/>
              </a:rPr>
              <a:t>taux d'intérêt au jour le jour</a:t>
            </a:r>
          </a:p>
          <a:p>
            <a:pPr algn="ctr"/>
            <a:r>
              <a:rPr lang="en-US" sz="1200" i="1" dirty="0" smtClean="0">
                <a:solidFill>
                  <a:schemeClr val="bg2">
                    <a:lumMod val="10000"/>
                  </a:schemeClr>
                </a:solidFill>
                <a:latin typeface="Calibri" pitchFamily="34" charset="0"/>
              </a:rPr>
              <a:t>Moyenne mobile sur 15 jours</a:t>
            </a:r>
            <a:r>
              <a:rPr lang="en-US" sz="1200" i="1" dirty="0">
                <a:solidFill>
                  <a:schemeClr val="bg2">
                    <a:lumMod val="10000"/>
                  </a:schemeClr>
                </a:solidFill>
                <a:latin typeface="Calibri" pitchFamily="34" charset="0"/>
              </a:rPr>
              <a:t/>
            </a:r>
            <a:br>
              <a:rPr lang="en-US" sz="1200" i="1" dirty="0">
                <a:solidFill>
                  <a:schemeClr val="bg2">
                    <a:lumMod val="10000"/>
                  </a:schemeClr>
                </a:solidFill>
                <a:latin typeface="Calibri" pitchFamily="34" charset="0"/>
              </a:rPr>
            </a:br>
            <a:endParaRPr lang="en-GB" sz="1200" i="1" baseline="30000" dirty="0">
              <a:solidFill>
                <a:schemeClr val="bg2">
                  <a:lumMod val="10000"/>
                </a:schemeClr>
              </a:solidFill>
              <a:latin typeface="Calibri" pitchFamily="34" charset="0"/>
            </a:endParaRPr>
          </a:p>
        </p:txBody>
      </p:sp>
      <p:cxnSp>
        <p:nvCxnSpPr>
          <p:cNvPr id="9" name="Straight Arrow Connector 8"/>
          <p:cNvCxnSpPr/>
          <p:nvPr/>
        </p:nvCxnSpPr>
        <p:spPr>
          <a:xfrm>
            <a:off x="8524459" y="4848612"/>
            <a:ext cx="0" cy="720080"/>
          </a:xfrm>
          <a:prstGeom prst="straightConnector1">
            <a:avLst/>
          </a:prstGeom>
          <a:ln w="22225">
            <a:solidFill>
              <a:schemeClr val="bg2">
                <a:lumMod val="10000"/>
              </a:schemeClr>
            </a:solidFill>
            <a:headEnd type="arrow"/>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416785"/>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p:txBody>
          <a:bodyPr/>
          <a:lstStyle/>
          <a:p>
            <a:fld id="{FCE284C4-5ED1-4D6C-B7CC-2049C3062C5E}" type="slidenum">
              <a:rPr lang="en-GB" smtClean="0"/>
              <a:t>12</a:t>
            </a:fld>
            <a:endParaRPr lang="en-GB" dirty="0"/>
          </a:p>
        </p:txBody>
      </p:sp>
      <p:sp>
        <p:nvSpPr>
          <p:cNvPr id="9" name="Rectangle 8"/>
          <p:cNvSpPr/>
          <p:nvPr/>
        </p:nvSpPr>
        <p:spPr>
          <a:xfrm>
            <a:off x="333802" y="2554540"/>
            <a:ext cx="8568952" cy="1323439"/>
          </a:xfrm>
          <a:prstGeom prst="rect">
            <a:avLst/>
          </a:prstGeom>
        </p:spPr>
        <p:txBody>
          <a:bodyPr wrap="square">
            <a:spAutoFit/>
          </a:bodyPr>
          <a:lstStyle/>
          <a:p>
            <a:pPr algn="ctr">
              <a:defRPr/>
            </a:pPr>
            <a:r>
              <a:rPr lang="en-US" sz="4000" b="1" dirty="0" smtClean="0">
                <a:solidFill>
                  <a:schemeClr val="tx2"/>
                </a:solidFill>
                <a:latin typeface="+mj-lt"/>
              </a:rPr>
              <a:t>Diagnostiquer le défi </a:t>
            </a:r>
          </a:p>
          <a:p>
            <a:pPr algn="ctr">
              <a:defRPr/>
            </a:pPr>
            <a:r>
              <a:rPr lang="en-US" sz="4000" b="1" dirty="0" smtClean="0">
                <a:solidFill>
                  <a:schemeClr val="tx2"/>
                </a:solidFill>
                <a:latin typeface="+mj-lt"/>
              </a:rPr>
              <a:t>des tendances structurelles </a:t>
            </a:r>
          </a:p>
        </p:txBody>
      </p:sp>
    </p:spTree>
    <p:extLst>
      <p:ext uri="{BB962C8B-B14F-4D97-AF65-F5344CB8AC3E}">
        <p14:creationId xmlns:p14="http://schemas.microsoft.com/office/powerpoint/2010/main" val="1988327798"/>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main.oecd.org\sdataECO\Units\FRONTOFFICE\Economic Outlooks\EO101\Data and charts\PPT_Figs_E\E_Handout_Fig_Trade_by_type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99993" y="1674697"/>
            <a:ext cx="4608512" cy="4634623"/>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p:cNvSpPr>
            <a:spLocks noGrp="1"/>
          </p:cNvSpPr>
          <p:nvPr>
            <p:ph type="sldNum" sz="quarter" idx="4"/>
          </p:nvPr>
        </p:nvSpPr>
        <p:spPr/>
        <p:txBody>
          <a:bodyPr/>
          <a:lstStyle/>
          <a:p>
            <a:fld id="{FCE284C4-5ED1-4D6C-B7CC-2049C3062C5E}" type="slidenum">
              <a:rPr lang="en-GB" smtClean="0"/>
              <a:t>13</a:t>
            </a:fld>
            <a:endParaRPr lang="en-GB" dirty="0"/>
          </a:p>
        </p:txBody>
      </p:sp>
      <p:sp>
        <p:nvSpPr>
          <p:cNvPr id="11" name="Rectangle 10"/>
          <p:cNvSpPr/>
          <p:nvPr/>
        </p:nvSpPr>
        <p:spPr>
          <a:xfrm>
            <a:off x="638751" y="457533"/>
            <a:ext cx="8640960" cy="523220"/>
          </a:xfrm>
          <a:prstGeom prst="rect">
            <a:avLst/>
          </a:prstGeom>
        </p:spPr>
        <p:txBody>
          <a:bodyPr wrap="square">
            <a:spAutoFit/>
          </a:bodyPr>
          <a:lstStyle/>
          <a:p>
            <a:pPr algn="ctr">
              <a:defRPr/>
            </a:pPr>
            <a:r>
              <a:rPr lang="en-US" sz="2800" b="1" dirty="0" smtClean="0">
                <a:solidFill>
                  <a:schemeClr val="tx2"/>
                </a:solidFill>
                <a:latin typeface="+mj-lt"/>
              </a:rPr>
              <a:t>Les spécialisations et les structures du commerce ont évolué</a:t>
            </a:r>
          </a:p>
        </p:txBody>
      </p:sp>
      <p:sp>
        <p:nvSpPr>
          <p:cNvPr id="8" name="TextBox 7"/>
          <p:cNvSpPr txBox="1"/>
          <p:nvPr/>
        </p:nvSpPr>
        <p:spPr>
          <a:xfrm>
            <a:off x="-180528" y="1268050"/>
            <a:ext cx="5063780" cy="584775"/>
          </a:xfrm>
          <a:prstGeom prst="rect">
            <a:avLst/>
          </a:prstGeom>
          <a:noFill/>
        </p:spPr>
        <p:txBody>
          <a:bodyPr wrap="square" rtlCol="0">
            <a:spAutoFit/>
          </a:bodyPr>
          <a:lstStyle/>
          <a:p>
            <a:pPr lvl="0" algn="ctr"/>
            <a:r>
              <a:rPr lang="en-US" sz="2000" b="1" dirty="0">
                <a:solidFill>
                  <a:schemeClr val="bg2">
                    <a:lumMod val="10000"/>
                  </a:schemeClr>
                </a:solidFill>
                <a:latin typeface="Calibri" pitchFamily="34" charset="0"/>
              </a:rPr>
              <a:t>C</a:t>
            </a:r>
            <a:r>
              <a:rPr lang="en-US" sz="2000" b="1" dirty="0" smtClean="0">
                <a:solidFill>
                  <a:schemeClr val="bg2">
                    <a:lumMod val="10000"/>
                  </a:schemeClr>
                </a:solidFill>
                <a:latin typeface="Calibri" pitchFamily="34" charset="0"/>
              </a:rPr>
              <a:t>ommerce mondial de marchandises</a:t>
            </a:r>
            <a:endParaRPr lang="en-US" sz="2000" b="1" dirty="0">
              <a:solidFill>
                <a:schemeClr val="bg2">
                  <a:lumMod val="10000"/>
                </a:schemeClr>
              </a:solidFill>
              <a:latin typeface="Calibri" pitchFamily="34" charset="0"/>
            </a:endParaRPr>
          </a:p>
          <a:p>
            <a:pPr lvl="0" algn="ctr"/>
            <a:r>
              <a:rPr lang="en-US" sz="1200" i="1" dirty="0">
                <a:solidFill>
                  <a:schemeClr val="bg2">
                    <a:lumMod val="10000"/>
                  </a:schemeClr>
                </a:solidFill>
                <a:latin typeface="Calibri" pitchFamily="34" charset="0"/>
              </a:rPr>
              <a:t>Part des </a:t>
            </a:r>
            <a:r>
              <a:rPr lang="en-US" sz="1200" i="1">
                <a:solidFill>
                  <a:schemeClr val="bg2">
                    <a:lumMod val="10000"/>
                  </a:schemeClr>
                </a:solidFill>
                <a:latin typeface="Calibri" pitchFamily="34" charset="0"/>
              </a:rPr>
              <a:t>exportations mondiales de </a:t>
            </a:r>
            <a:r>
              <a:rPr lang="en-US" sz="1200" i="1" smtClean="0">
                <a:solidFill>
                  <a:schemeClr val="bg2">
                    <a:lumMod val="10000"/>
                  </a:schemeClr>
                </a:solidFill>
                <a:latin typeface="Calibri" pitchFamily="34" charset="0"/>
              </a:rPr>
              <a:t>marchandises, </a:t>
            </a:r>
            <a:r>
              <a:rPr lang="en-US" sz="1200" i="1" dirty="0" smtClean="0">
                <a:solidFill>
                  <a:schemeClr val="bg2">
                    <a:lumMod val="10000"/>
                  </a:schemeClr>
                </a:solidFill>
                <a:latin typeface="Calibri" pitchFamily="34" charset="0"/>
              </a:rPr>
              <a:t>volumes</a:t>
            </a:r>
            <a:endParaRPr lang="en-US" sz="1200" i="1" dirty="0">
              <a:solidFill>
                <a:schemeClr val="bg2">
                  <a:lumMod val="10000"/>
                </a:schemeClr>
              </a:solidFill>
              <a:latin typeface="Calibri" pitchFamily="34" charset="0"/>
            </a:endParaRPr>
          </a:p>
        </p:txBody>
      </p:sp>
      <p:sp>
        <p:nvSpPr>
          <p:cNvPr id="15" name="TextBox 14"/>
          <p:cNvSpPr txBox="1"/>
          <p:nvPr/>
        </p:nvSpPr>
        <p:spPr>
          <a:xfrm>
            <a:off x="4386149" y="1264791"/>
            <a:ext cx="4836199" cy="892552"/>
          </a:xfrm>
          <a:prstGeom prst="rect">
            <a:avLst/>
          </a:prstGeom>
          <a:noFill/>
        </p:spPr>
        <p:txBody>
          <a:bodyPr wrap="square" rtlCol="0">
            <a:spAutoFit/>
          </a:bodyPr>
          <a:lstStyle/>
          <a:p>
            <a:pPr lvl="0" algn="ctr"/>
            <a:r>
              <a:rPr lang="en-US" sz="2000" b="1" dirty="0" smtClean="0">
                <a:solidFill>
                  <a:schemeClr val="bg2">
                    <a:lumMod val="10000"/>
                  </a:schemeClr>
                </a:solidFill>
                <a:latin typeface="Calibri" pitchFamily="34" charset="0"/>
              </a:rPr>
              <a:t>Commerce mondial par type</a:t>
            </a:r>
          </a:p>
          <a:p>
            <a:pPr lvl="0" algn="ctr"/>
            <a:r>
              <a:rPr lang="en-US" sz="1200" i="1" dirty="0" smtClean="0">
                <a:solidFill>
                  <a:srgbClr val="E6E6E6">
                    <a:lumMod val="10000"/>
                  </a:srgbClr>
                </a:solidFill>
                <a:latin typeface="Calibri" pitchFamily="34" charset="0"/>
              </a:rPr>
              <a:t>Exportations, valeurs</a:t>
            </a:r>
            <a:endParaRPr lang="en-US" sz="1200" i="1" dirty="0">
              <a:solidFill>
                <a:srgbClr val="E6E6E6">
                  <a:lumMod val="10000"/>
                </a:srgbClr>
              </a:solidFill>
              <a:latin typeface="Calibri" pitchFamily="34" charset="0"/>
            </a:endParaRPr>
          </a:p>
          <a:p>
            <a:pPr lvl="0" algn="ctr"/>
            <a:endParaRPr lang="en-US" sz="2000" b="1" dirty="0" smtClean="0">
              <a:solidFill>
                <a:schemeClr val="bg2">
                  <a:lumMod val="10000"/>
                </a:schemeClr>
              </a:solidFill>
              <a:latin typeface="Calibri" pitchFamily="34" charset="0"/>
            </a:endParaRPr>
          </a:p>
        </p:txBody>
      </p:sp>
      <p:graphicFrame>
        <p:nvGraphicFramePr>
          <p:cNvPr id="14" name="Chart 13"/>
          <p:cNvGraphicFramePr>
            <a:graphicFrameLocks/>
          </p:cNvGraphicFramePr>
          <p:nvPr>
            <p:extLst>
              <p:ext uri="{D42A27DB-BD31-4B8C-83A1-F6EECF244321}">
                <p14:modId xmlns:p14="http://schemas.microsoft.com/office/powerpoint/2010/main" val="3083796744"/>
              </p:ext>
            </p:extLst>
          </p:nvPr>
        </p:nvGraphicFramePr>
        <p:xfrm>
          <a:off x="-252536" y="1711067"/>
          <a:ext cx="5743576" cy="4638675"/>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Box 9"/>
          <p:cNvSpPr txBox="1"/>
          <p:nvPr/>
        </p:nvSpPr>
        <p:spPr>
          <a:xfrm>
            <a:off x="323528" y="6112036"/>
            <a:ext cx="8208912" cy="769441"/>
          </a:xfrm>
          <a:prstGeom prst="rect">
            <a:avLst/>
          </a:prstGeom>
          <a:noFill/>
        </p:spPr>
        <p:txBody>
          <a:bodyPr wrap="square" rtlCol="0">
            <a:spAutoFit/>
          </a:bodyPr>
          <a:lstStyle/>
          <a:p>
            <a:r>
              <a:rPr lang="en-GB" sz="1100" dirty="0" smtClean="0">
                <a:solidFill>
                  <a:srgbClr val="171717"/>
                </a:solidFill>
                <a:latin typeface="Calibri" panose="020F0502020204030204" pitchFamily="34" charset="0"/>
              </a:rPr>
              <a:t>Note :</a:t>
            </a:r>
            <a:r>
              <a:rPr lang="en-GB" sz="1100" i="1" dirty="0" smtClean="0">
                <a:solidFill>
                  <a:srgbClr val="171717"/>
                </a:solidFill>
                <a:latin typeface="Calibri" panose="020F0502020204030204" pitchFamily="34" charset="0"/>
              </a:rPr>
              <a:t> </a:t>
            </a:r>
            <a:r>
              <a:rPr lang="en-GB" sz="1100" dirty="0" smtClean="0">
                <a:solidFill>
                  <a:srgbClr val="171717"/>
                </a:solidFill>
                <a:latin typeface="Calibri" panose="020F0502020204030204" pitchFamily="34" charset="0"/>
              </a:rPr>
              <a:t>Axe gauche – </a:t>
            </a:r>
            <a:r>
              <a:rPr lang="en-GB" sz="1100" dirty="0">
                <a:solidFill>
                  <a:srgbClr val="171717"/>
                </a:solidFill>
                <a:latin typeface="Calibri" panose="020F0502020204030204" pitchFamily="34" charset="0"/>
              </a:rPr>
              <a:t>Les économies asiatiques dynamiques comprennent la Malaisie, les Philippines, Singapour, la Thaïlande, le Vietnam, le Taipei chinois et Hong Kong</a:t>
            </a:r>
            <a:r>
              <a:rPr lang="en-GB" sz="1100" dirty="0" smtClean="0">
                <a:solidFill>
                  <a:srgbClr val="171717"/>
                </a:solidFill>
                <a:latin typeface="Calibri" panose="020F0502020204030204" pitchFamily="34" charset="0"/>
              </a:rPr>
              <a:t>.</a:t>
            </a:r>
            <a:r>
              <a:rPr lang="en-US" sz="1100" dirty="0" smtClean="0">
                <a:solidFill>
                  <a:srgbClr val="171717"/>
                </a:solidFill>
                <a:latin typeface="Calibri" panose="020F0502020204030204" pitchFamily="34" charset="0"/>
              </a:rPr>
              <a:t/>
            </a:r>
            <a:br>
              <a:rPr lang="en-US" sz="1100" dirty="0" smtClean="0">
                <a:solidFill>
                  <a:srgbClr val="171717"/>
                </a:solidFill>
                <a:latin typeface="Calibri" panose="020F0502020204030204" pitchFamily="34" charset="0"/>
              </a:rPr>
            </a:br>
            <a:r>
              <a:rPr lang="en-US" sz="1100" dirty="0" smtClean="0">
                <a:solidFill>
                  <a:srgbClr val="171717"/>
                </a:solidFill>
                <a:latin typeface="Calibri" panose="020F0502020204030204" pitchFamily="34" charset="0"/>
              </a:rPr>
              <a:t>Axe droit – Les services aux </a:t>
            </a:r>
            <a:r>
              <a:rPr lang="en-US" sz="1100" dirty="0">
                <a:solidFill>
                  <a:srgbClr val="171717"/>
                </a:solidFill>
                <a:latin typeface="Calibri" panose="020F0502020204030204" pitchFamily="34" charset="0"/>
              </a:rPr>
              <a:t>entreprises </a:t>
            </a:r>
            <a:r>
              <a:rPr lang="en-US" sz="1100" dirty="0" smtClean="0">
                <a:solidFill>
                  <a:srgbClr val="171717"/>
                </a:solidFill>
                <a:latin typeface="Calibri" panose="020F0502020204030204" pitchFamily="34" charset="0"/>
              </a:rPr>
              <a:t>comprennent la R&amp;D, les TIC, l'immobilier et autres activités commerciales. Les services financiers comprennent l'intermédiation financière, les assurances, les fonds de pension et autres activités financières. </a:t>
            </a:r>
            <a:endParaRPr lang="en-GB" sz="1100" dirty="0" smtClean="0">
              <a:solidFill>
                <a:srgbClr val="171717"/>
              </a:solidFill>
              <a:latin typeface="Calibri" panose="020F0502020204030204" pitchFamily="34" charset="0"/>
            </a:endParaRPr>
          </a:p>
          <a:p>
            <a:r>
              <a:rPr lang="en-GB" sz="1100" dirty="0" smtClean="0">
                <a:solidFill>
                  <a:srgbClr val="171717"/>
                </a:solidFill>
                <a:latin typeface="Calibri" panose="020F0502020204030204" pitchFamily="34" charset="0"/>
              </a:rPr>
              <a:t>Source</a:t>
            </a:r>
            <a:r>
              <a:rPr lang="en-GB" sz="1100" dirty="0">
                <a:solidFill>
                  <a:srgbClr val="171717"/>
                </a:solidFill>
                <a:latin typeface="Calibri" panose="020F0502020204030204" pitchFamily="34" charset="0"/>
              </a:rPr>
              <a:t>:</a:t>
            </a:r>
            <a:r>
              <a:rPr lang="en-US" sz="1100" i="1" dirty="0">
                <a:solidFill>
                  <a:srgbClr val="171717"/>
                </a:solidFill>
                <a:latin typeface="Calibri" panose="020F0502020204030204" pitchFamily="34" charset="0"/>
              </a:rPr>
              <a:t> </a:t>
            </a:r>
            <a:r>
              <a:rPr lang="en-US" sz="1100" dirty="0" smtClean="0">
                <a:solidFill>
                  <a:srgbClr val="171717"/>
                </a:solidFill>
                <a:latin typeface="Calibri" panose="020F0502020204030204" pitchFamily="34" charset="0"/>
              </a:rPr>
              <a:t>OCDE-OMC base de données sur le commerce en valeur ajoutée (TiVA)</a:t>
            </a:r>
            <a:r>
              <a:rPr lang="en-US" sz="1100" dirty="0">
                <a:solidFill>
                  <a:srgbClr val="171717"/>
                </a:solidFill>
                <a:latin typeface="Calibri" panose="020F0502020204030204" pitchFamily="34" charset="0"/>
              </a:rPr>
              <a:t> ; UN </a:t>
            </a:r>
            <a:r>
              <a:rPr lang="en-US" sz="1100" dirty="0" smtClean="0">
                <a:solidFill>
                  <a:srgbClr val="171717"/>
                </a:solidFill>
                <a:latin typeface="Calibri" panose="020F0502020204030204" pitchFamily="34" charset="0"/>
              </a:rPr>
              <a:t>base de données Comtrade ; et </a:t>
            </a:r>
            <a:r>
              <a:rPr lang="en-US" sz="1100" dirty="0">
                <a:solidFill>
                  <a:srgbClr val="171717"/>
                </a:solidFill>
                <a:latin typeface="Calibri" panose="020F0502020204030204" pitchFamily="34" charset="0"/>
              </a:rPr>
              <a:t>calculs de l'OCDE.</a:t>
            </a:r>
            <a:endParaRPr lang="en-GB" sz="1100" dirty="0">
              <a:solidFill>
                <a:srgbClr val="171717"/>
              </a:solidFill>
              <a:latin typeface="Calibri" panose="020F0502020204030204" pitchFamily="34" charset="0"/>
            </a:endParaRPr>
          </a:p>
        </p:txBody>
      </p:sp>
    </p:spTree>
    <p:extLst>
      <p:ext uri="{BB962C8B-B14F-4D97-AF65-F5344CB8AC3E}">
        <p14:creationId xmlns:p14="http://schemas.microsoft.com/office/powerpoint/2010/main" val="948950872"/>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descr="\\main.oecd.org\sdataECO\Units\FRONTOFFICE\Economic Outlooks\EO101\Data and charts\PPT_Figs_E\E_Handout_Fig_Job_polarisation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1286" y="1519894"/>
            <a:ext cx="7920880" cy="4809090"/>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p:cNvSpPr>
            <a:spLocks noGrp="1"/>
          </p:cNvSpPr>
          <p:nvPr>
            <p:ph type="sldNum" sz="quarter" idx="4"/>
          </p:nvPr>
        </p:nvSpPr>
        <p:spPr/>
        <p:txBody>
          <a:bodyPr/>
          <a:lstStyle/>
          <a:p>
            <a:fld id="{FCE284C4-5ED1-4D6C-B7CC-2049C3062C5E}" type="slidenum">
              <a:rPr lang="en-GB" smtClean="0"/>
              <a:t>14</a:t>
            </a:fld>
            <a:endParaRPr lang="en-GB" dirty="0"/>
          </a:p>
        </p:txBody>
      </p:sp>
      <p:sp>
        <p:nvSpPr>
          <p:cNvPr id="4" name="Title 3"/>
          <p:cNvSpPr>
            <a:spLocks noGrp="1"/>
          </p:cNvSpPr>
          <p:nvPr>
            <p:ph type="title"/>
          </p:nvPr>
        </p:nvSpPr>
        <p:spPr>
          <a:xfrm>
            <a:off x="837687" y="188640"/>
            <a:ext cx="7416000" cy="1022400"/>
          </a:xfrm>
        </p:spPr>
        <p:txBody>
          <a:bodyPr/>
          <a:lstStyle/>
          <a:p>
            <a:pPr algn="ctr">
              <a:defRPr/>
            </a:pPr>
            <a:r>
              <a:rPr lang="en-US" sz="2800" b="1" dirty="0" smtClean="0">
                <a:solidFill>
                  <a:schemeClr val="tx2"/>
                </a:solidFill>
              </a:rPr>
              <a:t>Les pertes d'emplois se sont concentrées sur </a:t>
            </a:r>
            <a:br>
              <a:rPr lang="en-US" sz="2800" b="1" dirty="0" smtClean="0">
                <a:solidFill>
                  <a:schemeClr val="tx2"/>
                </a:solidFill>
              </a:rPr>
            </a:br>
            <a:r>
              <a:rPr lang="en-US" sz="2800" b="1" dirty="0" smtClean="0">
                <a:solidFill>
                  <a:schemeClr val="tx2"/>
                </a:solidFill>
              </a:rPr>
              <a:t>les personnes ayant des compétences intermédiaires</a:t>
            </a:r>
            <a:endParaRPr lang="en-GB" sz="2800" b="1" dirty="0">
              <a:solidFill>
                <a:schemeClr val="tx2"/>
              </a:solidFill>
            </a:endParaRPr>
          </a:p>
        </p:txBody>
      </p:sp>
      <p:sp>
        <p:nvSpPr>
          <p:cNvPr id="9" name="TextBox 8"/>
          <p:cNvSpPr txBox="1"/>
          <p:nvPr/>
        </p:nvSpPr>
        <p:spPr>
          <a:xfrm>
            <a:off x="782187" y="6242491"/>
            <a:ext cx="8208912" cy="646331"/>
          </a:xfrm>
          <a:prstGeom prst="rect">
            <a:avLst/>
          </a:prstGeom>
          <a:noFill/>
        </p:spPr>
        <p:txBody>
          <a:bodyPr wrap="square" rtlCol="0">
            <a:spAutoFit/>
          </a:bodyPr>
          <a:lstStyle/>
          <a:p>
            <a:r>
              <a:rPr lang="en-GB" sz="1200" dirty="0" smtClean="0">
                <a:solidFill>
                  <a:srgbClr val="171717"/>
                </a:solidFill>
                <a:latin typeface="Calibri" panose="020F0502020204030204" pitchFamily="34" charset="0"/>
              </a:rPr>
              <a:t>Note : l'OCDE représente la moyenne non pondérée de 24 pays. Pour le Japon, 1995-2010.</a:t>
            </a:r>
          </a:p>
          <a:p>
            <a:r>
              <a:rPr lang="en-GB" sz="1200" dirty="0" smtClean="0">
                <a:solidFill>
                  <a:srgbClr val="171717"/>
                </a:solidFill>
                <a:latin typeface="Calibri" panose="020F0502020204030204" pitchFamily="34" charset="0"/>
              </a:rPr>
              <a:t>Source</a:t>
            </a:r>
            <a:r>
              <a:rPr lang="en-GB" sz="1200" dirty="0">
                <a:solidFill>
                  <a:srgbClr val="171717"/>
                </a:solidFill>
                <a:latin typeface="Calibri" panose="020F0502020204030204" pitchFamily="34" charset="0"/>
              </a:rPr>
              <a:t>:</a:t>
            </a:r>
            <a:r>
              <a:rPr lang="en-US" sz="1200" dirty="0">
                <a:solidFill>
                  <a:srgbClr val="171717"/>
                </a:solidFill>
                <a:latin typeface="Calibri" panose="020F0502020204030204" pitchFamily="34" charset="0"/>
              </a:rPr>
              <a:t> </a:t>
            </a:r>
            <a:r>
              <a:rPr lang="en-US" sz="1200" dirty="0" smtClean="0">
                <a:solidFill>
                  <a:srgbClr val="171717"/>
                </a:solidFill>
                <a:latin typeface="Calibri" panose="020F0502020204030204" pitchFamily="34" charset="0"/>
              </a:rPr>
              <a:t>OCDE Perspectives de l'emploi 2017 ; Enquête sur les forces de travail de l'Union européenne ; </a:t>
            </a:r>
            <a:r>
              <a:rPr lang="en-US" sz="1200" dirty="0">
                <a:solidFill>
                  <a:srgbClr val="171717"/>
                </a:solidFill>
                <a:latin typeface="Calibri" panose="020F0502020204030204" pitchFamily="34" charset="0"/>
              </a:rPr>
              <a:t>enquête sur la population </a:t>
            </a:r>
            <a:r>
              <a:rPr lang="en-US" sz="1200" dirty="0" smtClean="0">
                <a:solidFill>
                  <a:srgbClr val="171717"/>
                </a:solidFill>
                <a:latin typeface="Calibri" panose="020F0502020204030204" pitchFamily="34" charset="0"/>
              </a:rPr>
              <a:t>active ; enquêtes sur la </a:t>
            </a:r>
            <a:r>
              <a:rPr lang="en-US" sz="1200" dirty="0">
                <a:solidFill>
                  <a:srgbClr val="171717"/>
                </a:solidFill>
                <a:latin typeface="Calibri" panose="020F0502020204030204" pitchFamily="34" charset="0"/>
              </a:rPr>
              <a:t>population active pour </a:t>
            </a:r>
            <a:r>
              <a:rPr lang="en-US" sz="1200" dirty="0" smtClean="0">
                <a:solidFill>
                  <a:srgbClr val="171717"/>
                </a:solidFill>
                <a:latin typeface="Calibri" panose="020F0502020204030204" pitchFamily="34" charset="0"/>
              </a:rPr>
              <a:t>le Canada, </a:t>
            </a:r>
            <a:r>
              <a:rPr lang="en-US" sz="1200" dirty="0">
                <a:solidFill>
                  <a:srgbClr val="171717"/>
                </a:solidFill>
                <a:latin typeface="Calibri" panose="020F0502020204030204" pitchFamily="34" charset="0"/>
              </a:rPr>
              <a:t>le Japon </a:t>
            </a:r>
            <a:r>
              <a:rPr lang="en-US" sz="1200" dirty="0" smtClean="0">
                <a:solidFill>
                  <a:srgbClr val="171717"/>
                </a:solidFill>
                <a:latin typeface="Calibri" panose="020F0502020204030204" pitchFamily="34" charset="0"/>
              </a:rPr>
              <a:t/>
            </a:r>
            <a:br>
              <a:rPr lang="en-US" sz="1200" dirty="0" smtClean="0">
                <a:solidFill>
                  <a:srgbClr val="171717"/>
                </a:solidFill>
                <a:latin typeface="Calibri" panose="020F0502020204030204" pitchFamily="34" charset="0"/>
              </a:rPr>
            </a:br>
            <a:r>
              <a:rPr lang="en-US" sz="1200" dirty="0" smtClean="0">
                <a:solidFill>
                  <a:srgbClr val="171717"/>
                </a:solidFill>
                <a:latin typeface="Calibri" panose="020F0502020204030204" pitchFamily="34" charset="0"/>
              </a:rPr>
              <a:t>et </a:t>
            </a:r>
            <a:r>
              <a:rPr lang="en-US" sz="1200" dirty="0">
                <a:solidFill>
                  <a:srgbClr val="171717"/>
                </a:solidFill>
                <a:latin typeface="Calibri" panose="020F0502020204030204" pitchFamily="34" charset="0"/>
              </a:rPr>
              <a:t>les États-</a:t>
            </a:r>
            <a:r>
              <a:rPr lang="en-US" sz="1200" dirty="0" smtClean="0">
                <a:solidFill>
                  <a:srgbClr val="171717"/>
                </a:solidFill>
                <a:latin typeface="Calibri" panose="020F0502020204030204" pitchFamily="34" charset="0"/>
              </a:rPr>
              <a:t>Unis</a:t>
            </a:r>
            <a:r>
              <a:rPr lang="en-US" sz="1200" dirty="0">
                <a:solidFill>
                  <a:srgbClr val="171717"/>
                </a:solidFill>
                <a:latin typeface="Calibri" panose="020F0502020204030204" pitchFamily="34" charset="0"/>
              </a:rPr>
              <a:t> ; et calculs de l'OCDE.</a:t>
            </a:r>
            <a:endParaRPr lang="en-GB" sz="1200" dirty="0">
              <a:solidFill>
                <a:srgbClr val="171717"/>
              </a:solidFill>
              <a:latin typeface="Calibri" panose="020F0502020204030204" pitchFamily="34" charset="0"/>
            </a:endParaRPr>
          </a:p>
        </p:txBody>
      </p:sp>
      <p:sp>
        <p:nvSpPr>
          <p:cNvPr id="10" name="TextBox 9"/>
          <p:cNvSpPr txBox="1"/>
          <p:nvPr/>
        </p:nvSpPr>
        <p:spPr>
          <a:xfrm>
            <a:off x="1213354" y="1276185"/>
            <a:ext cx="6696744" cy="584775"/>
          </a:xfrm>
          <a:prstGeom prst="rect">
            <a:avLst/>
          </a:prstGeom>
          <a:noFill/>
        </p:spPr>
        <p:txBody>
          <a:bodyPr wrap="square" rtlCol="0">
            <a:spAutoFit/>
          </a:bodyPr>
          <a:lstStyle/>
          <a:p>
            <a:pPr lvl="0" algn="ctr"/>
            <a:r>
              <a:rPr lang="en-US" sz="2000" b="1" dirty="0" smtClean="0">
                <a:solidFill>
                  <a:schemeClr val="bg2">
                    <a:lumMod val="10000"/>
                  </a:schemeClr>
                </a:solidFill>
                <a:latin typeface="Calibri" pitchFamily="34" charset="0"/>
              </a:rPr>
              <a:t>Polarisation de l'emploi par pays</a:t>
            </a:r>
          </a:p>
          <a:p>
            <a:pPr algn="ctr"/>
            <a:r>
              <a:rPr lang="en-US" sz="1200" i="1" dirty="0">
                <a:solidFill>
                  <a:srgbClr val="000000"/>
                </a:solidFill>
                <a:latin typeface="Calibri" panose="020F0502020204030204" pitchFamily="34" charset="0"/>
              </a:rPr>
              <a:t>Variation </a:t>
            </a:r>
            <a:r>
              <a:rPr lang="en-US" sz="1200" i="1" dirty="0" smtClean="0">
                <a:solidFill>
                  <a:srgbClr val="000000"/>
                </a:solidFill>
                <a:latin typeface="Calibri" panose="020F0502020204030204" pitchFamily="34" charset="0"/>
              </a:rPr>
              <a:t>de la part </a:t>
            </a:r>
            <a:r>
              <a:rPr lang="en-US" sz="1200" i="1" dirty="0">
                <a:solidFill>
                  <a:srgbClr val="000000"/>
                </a:solidFill>
                <a:latin typeface="Calibri" panose="020F0502020204030204" pitchFamily="34" charset="0"/>
              </a:rPr>
              <a:t>de l'emploi total </a:t>
            </a:r>
            <a:r>
              <a:rPr lang="en-US" sz="1200" i="1" dirty="0" smtClean="0">
                <a:solidFill>
                  <a:srgbClr val="000000"/>
                </a:solidFill>
                <a:latin typeface="Calibri" panose="020F0502020204030204" pitchFamily="34" charset="0"/>
              </a:rPr>
              <a:t>par niveau de </a:t>
            </a:r>
            <a:r>
              <a:rPr lang="en-US" sz="1200" i="1" dirty="0">
                <a:solidFill>
                  <a:srgbClr val="000000"/>
                </a:solidFill>
                <a:latin typeface="Calibri" panose="020F0502020204030204" pitchFamily="34" charset="0"/>
              </a:rPr>
              <a:t>compétences, </a:t>
            </a:r>
            <a:r>
              <a:rPr lang="en-US" sz="1200" i="1" dirty="0" smtClean="0">
                <a:solidFill>
                  <a:srgbClr val="000000"/>
                </a:solidFill>
                <a:latin typeface="Calibri" panose="020F0502020204030204" pitchFamily="34" charset="0"/>
              </a:rPr>
              <a:t>1995-2015</a:t>
            </a:r>
            <a:endParaRPr lang="en-US" sz="1200" i="1" dirty="0">
              <a:solidFill>
                <a:schemeClr val="bg2">
                  <a:lumMod val="10000"/>
                </a:schemeClr>
              </a:solidFill>
              <a:latin typeface="Calibri" pitchFamily="34" charset="0"/>
            </a:endParaRPr>
          </a:p>
        </p:txBody>
      </p:sp>
      <p:sp>
        <p:nvSpPr>
          <p:cNvPr id="8" name="Rectangle 7"/>
          <p:cNvSpPr/>
          <p:nvPr/>
        </p:nvSpPr>
        <p:spPr>
          <a:xfrm rot="10800000">
            <a:off x="4983498" y="2726899"/>
            <a:ext cx="853824" cy="3334601"/>
          </a:xfrm>
          <a:prstGeom prst="rect">
            <a:avLst/>
          </a:prstGeom>
          <a:noFill/>
          <a:ln w="38100">
            <a:solidFill>
              <a:schemeClr val="bg2">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803983649"/>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descr="\\main.oecd.org\sdataECO\Units\FRONTOFFICE\Economic Outlooks\EO101\Data and charts\PPT_Figs_E\E_Handout_Fig_Export_complexity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6710" y="1587614"/>
            <a:ext cx="8055276" cy="4799135"/>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p:cNvSpPr>
            <a:spLocks noGrp="1"/>
          </p:cNvSpPr>
          <p:nvPr>
            <p:ph type="sldNum" sz="quarter" idx="4"/>
          </p:nvPr>
        </p:nvSpPr>
        <p:spPr/>
        <p:txBody>
          <a:bodyPr/>
          <a:lstStyle/>
          <a:p>
            <a:fld id="{FCE284C4-5ED1-4D6C-B7CC-2049C3062C5E}" type="slidenum">
              <a:rPr lang="en-GB" smtClean="0"/>
              <a:t>15</a:t>
            </a:fld>
            <a:endParaRPr lang="en-GB" dirty="0"/>
          </a:p>
        </p:txBody>
      </p:sp>
      <p:sp>
        <p:nvSpPr>
          <p:cNvPr id="7" name="Rectangle 6"/>
          <p:cNvSpPr/>
          <p:nvPr/>
        </p:nvSpPr>
        <p:spPr>
          <a:xfrm>
            <a:off x="576709" y="242718"/>
            <a:ext cx="8640960" cy="954107"/>
          </a:xfrm>
          <a:prstGeom prst="rect">
            <a:avLst/>
          </a:prstGeom>
        </p:spPr>
        <p:txBody>
          <a:bodyPr wrap="square">
            <a:spAutoFit/>
          </a:bodyPr>
          <a:lstStyle/>
          <a:p>
            <a:pPr algn="ctr">
              <a:defRPr/>
            </a:pPr>
            <a:r>
              <a:rPr lang="en-US" sz="2800" b="1" dirty="0">
                <a:solidFill>
                  <a:schemeClr val="tx2"/>
                </a:solidFill>
                <a:latin typeface="+mj-lt"/>
              </a:rPr>
              <a:t>Les économies avancées ont progressé dans la </a:t>
            </a:r>
            <a:r>
              <a:rPr lang="en-US" sz="2800" b="1" dirty="0" smtClean="0">
                <a:solidFill>
                  <a:schemeClr val="tx2"/>
                </a:solidFill>
                <a:latin typeface="+mj-lt"/>
              </a:rPr>
              <a:t/>
            </a:r>
            <a:br>
              <a:rPr lang="en-US" sz="2800" b="1" dirty="0" smtClean="0">
                <a:solidFill>
                  <a:schemeClr val="tx2"/>
                </a:solidFill>
                <a:latin typeface="+mj-lt"/>
              </a:rPr>
            </a:br>
            <a:r>
              <a:rPr lang="en-US" sz="2800" b="1" dirty="0" smtClean="0">
                <a:solidFill>
                  <a:schemeClr val="tx2"/>
                </a:solidFill>
                <a:latin typeface="+mj-lt"/>
              </a:rPr>
              <a:t>chaîne de </a:t>
            </a:r>
            <a:r>
              <a:rPr lang="en-US" sz="2800" b="1" dirty="0">
                <a:solidFill>
                  <a:schemeClr val="tx2"/>
                </a:solidFill>
                <a:latin typeface="+mj-lt"/>
              </a:rPr>
              <a:t>valeur, mais les EME progressent également</a:t>
            </a:r>
            <a:endParaRPr lang="en-GB" sz="2800" b="1" dirty="0">
              <a:solidFill>
                <a:schemeClr val="tx2"/>
              </a:solidFill>
              <a:latin typeface="+mj-lt"/>
            </a:endParaRPr>
          </a:p>
        </p:txBody>
      </p:sp>
      <p:sp>
        <p:nvSpPr>
          <p:cNvPr id="11" name="TextBox 10"/>
          <p:cNvSpPr txBox="1"/>
          <p:nvPr/>
        </p:nvSpPr>
        <p:spPr>
          <a:xfrm>
            <a:off x="187979" y="6130595"/>
            <a:ext cx="8444006" cy="769441"/>
          </a:xfrm>
          <a:prstGeom prst="rect">
            <a:avLst/>
          </a:prstGeom>
          <a:noFill/>
        </p:spPr>
        <p:txBody>
          <a:bodyPr wrap="square" rtlCol="0">
            <a:spAutoFit/>
          </a:bodyPr>
          <a:lstStyle/>
          <a:p>
            <a:r>
              <a:rPr lang="en-GB" sz="1100" dirty="0" smtClean="0">
                <a:solidFill>
                  <a:srgbClr val="171717"/>
                </a:solidFill>
                <a:latin typeface="Calibri" panose="020F0502020204030204" pitchFamily="34" charset="0"/>
              </a:rPr>
              <a:t>Note : En termes nominaux. Le moins complexe est le 1</a:t>
            </a:r>
            <a:r>
              <a:rPr lang="en-GB" sz="1100" baseline="30000" dirty="0" smtClean="0">
                <a:solidFill>
                  <a:srgbClr val="171717"/>
                </a:solidFill>
                <a:latin typeface="Calibri" panose="020F0502020204030204" pitchFamily="34" charset="0"/>
              </a:rPr>
              <a:t>er</a:t>
            </a:r>
            <a:r>
              <a:rPr lang="en-GB" sz="1100" dirty="0" smtClean="0">
                <a:solidFill>
                  <a:srgbClr val="171717"/>
                </a:solidFill>
                <a:latin typeface="Calibri" panose="020F0502020204030204" pitchFamily="34" charset="0"/>
              </a:rPr>
              <a:t> </a:t>
            </a:r>
            <a:r>
              <a:rPr lang="en-GB" sz="1100" dirty="0">
                <a:solidFill>
                  <a:srgbClr val="171717"/>
                </a:solidFill>
                <a:latin typeface="Calibri" panose="020F0502020204030204" pitchFamily="34" charset="0"/>
              </a:rPr>
              <a:t>q</a:t>
            </a:r>
            <a:r>
              <a:rPr lang="en-GB" sz="1100" dirty="0" smtClean="0">
                <a:solidFill>
                  <a:srgbClr val="171717"/>
                </a:solidFill>
                <a:latin typeface="Calibri" panose="020F0502020204030204" pitchFamily="34" charset="0"/>
              </a:rPr>
              <a:t>uartile de produits par complexité (par ex. crayons de couleur), le plus </a:t>
            </a:r>
            <a:r>
              <a:rPr lang="en-GB" sz="1100" dirty="0">
                <a:solidFill>
                  <a:srgbClr val="171717"/>
                </a:solidFill>
                <a:latin typeface="Calibri" panose="020F0502020204030204" pitchFamily="34" charset="0"/>
              </a:rPr>
              <a:t>complexe </a:t>
            </a:r>
            <a:r>
              <a:rPr lang="en-GB" sz="1100" dirty="0" smtClean="0">
                <a:solidFill>
                  <a:srgbClr val="171717"/>
                </a:solidFill>
                <a:latin typeface="Calibri" panose="020F0502020204030204" pitchFamily="34" charset="0"/>
              </a:rPr>
              <a:t>est le 4</a:t>
            </a:r>
            <a:r>
              <a:rPr lang="en-GB" sz="1100" baseline="30000" dirty="0" smtClean="0">
                <a:solidFill>
                  <a:srgbClr val="171717"/>
                </a:solidFill>
                <a:latin typeface="Calibri" panose="020F0502020204030204" pitchFamily="34" charset="0"/>
              </a:rPr>
              <a:t>e</a:t>
            </a:r>
            <a:r>
              <a:rPr lang="en-GB" sz="1100" dirty="0" smtClean="0">
                <a:solidFill>
                  <a:srgbClr val="171717"/>
                </a:solidFill>
                <a:latin typeface="Calibri" panose="020F0502020204030204" pitchFamily="34" charset="0"/>
              </a:rPr>
              <a:t> quartile (par ex. équipements médicaux), hors principales matières premières. Les économies asiatiques dynamiques comprennent </a:t>
            </a:r>
            <a:r>
              <a:rPr lang="en-US" sz="1100" dirty="0" smtClean="0">
                <a:solidFill>
                  <a:srgbClr val="171717"/>
                </a:solidFill>
                <a:latin typeface="Calibri" panose="020F0502020204030204" pitchFamily="34" charset="0"/>
              </a:rPr>
              <a:t>la Malaisie</a:t>
            </a:r>
            <a:r>
              <a:rPr lang="en-US" sz="1100" dirty="0">
                <a:solidFill>
                  <a:srgbClr val="171717"/>
                </a:solidFill>
                <a:latin typeface="Calibri" panose="020F0502020204030204" pitchFamily="34" charset="0"/>
              </a:rPr>
              <a:t>, les Philippines, Singapour, </a:t>
            </a:r>
            <a:r>
              <a:rPr lang="en-US" sz="1100" dirty="0" smtClean="0">
                <a:solidFill>
                  <a:srgbClr val="171717"/>
                </a:solidFill>
                <a:latin typeface="Calibri" panose="020F0502020204030204" pitchFamily="34" charset="0"/>
              </a:rPr>
              <a:t>la Thaïlande, le Vietnam</a:t>
            </a:r>
            <a:r>
              <a:rPr lang="en-US" sz="1100" dirty="0">
                <a:solidFill>
                  <a:srgbClr val="171717"/>
                </a:solidFill>
                <a:latin typeface="Calibri" panose="020F0502020204030204" pitchFamily="34" charset="0"/>
              </a:rPr>
              <a:t>, le Taipei </a:t>
            </a:r>
            <a:r>
              <a:rPr lang="en-US" sz="1100" dirty="0" smtClean="0">
                <a:solidFill>
                  <a:srgbClr val="171717"/>
                </a:solidFill>
                <a:latin typeface="Calibri" panose="020F0502020204030204" pitchFamily="34" charset="0"/>
              </a:rPr>
              <a:t>chinois et </a:t>
            </a:r>
            <a:r>
              <a:rPr lang="en-US" sz="1100" dirty="0">
                <a:solidFill>
                  <a:srgbClr val="171717"/>
                </a:solidFill>
                <a:latin typeface="Calibri" panose="020F0502020204030204" pitchFamily="34" charset="0"/>
              </a:rPr>
              <a:t>Hong </a:t>
            </a:r>
            <a:r>
              <a:rPr lang="en-US" sz="1100" dirty="0" smtClean="0">
                <a:solidFill>
                  <a:srgbClr val="171717"/>
                </a:solidFill>
                <a:latin typeface="Calibri" panose="020F0502020204030204" pitchFamily="34" charset="0"/>
              </a:rPr>
              <a:t>Kong. L'Europe est la moyenne non pondérée de la République tchèque, de la France, de l'Allemagne, de l'Irlande, de l'Italie, de la Pologne, du Portugal et du Royaume-Uni.</a:t>
            </a:r>
            <a:endParaRPr lang="en-GB" sz="1100" dirty="0" smtClean="0">
              <a:solidFill>
                <a:srgbClr val="171717"/>
              </a:solidFill>
              <a:latin typeface="Calibri" panose="020F0502020204030204" pitchFamily="34" charset="0"/>
            </a:endParaRPr>
          </a:p>
          <a:p>
            <a:r>
              <a:rPr lang="en-GB" sz="1100" dirty="0" smtClean="0">
                <a:solidFill>
                  <a:srgbClr val="171717"/>
                </a:solidFill>
                <a:latin typeface="Calibri" panose="020F0502020204030204" pitchFamily="34" charset="0"/>
              </a:rPr>
              <a:t>Source</a:t>
            </a:r>
            <a:r>
              <a:rPr lang="en-GB" sz="1100" dirty="0">
                <a:solidFill>
                  <a:srgbClr val="171717"/>
                </a:solidFill>
                <a:latin typeface="Calibri" panose="020F0502020204030204" pitchFamily="34" charset="0"/>
              </a:rPr>
              <a:t>:</a:t>
            </a:r>
            <a:r>
              <a:rPr lang="en-US" sz="1100" i="1" dirty="0">
                <a:solidFill>
                  <a:srgbClr val="171717"/>
                </a:solidFill>
                <a:latin typeface="Calibri" panose="020F0502020204030204" pitchFamily="34" charset="0"/>
              </a:rPr>
              <a:t> </a:t>
            </a:r>
            <a:r>
              <a:rPr lang="en-US" sz="1100" dirty="0" smtClean="0">
                <a:solidFill>
                  <a:srgbClr val="171717"/>
                </a:solidFill>
                <a:latin typeface="Calibri" panose="020F0502020204030204" pitchFamily="34" charset="0"/>
              </a:rPr>
              <a:t>base de données UN Comtrade ; et calculs de l'OCDE.</a:t>
            </a:r>
            <a:endParaRPr lang="en-GB" sz="1100" dirty="0">
              <a:solidFill>
                <a:srgbClr val="171717"/>
              </a:solidFill>
              <a:latin typeface="Calibri" panose="020F0502020204030204" pitchFamily="34" charset="0"/>
            </a:endParaRPr>
          </a:p>
        </p:txBody>
      </p:sp>
      <p:cxnSp>
        <p:nvCxnSpPr>
          <p:cNvPr id="4" name="Straight Connector 3"/>
          <p:cNvCxnSpPr/>
          <p:nvPr/>
        </p:nvCxnSpPr>
        <p:spPr>
          <a:xfrm>
            <a:off x="3887766" y="2174042"/>
            <a:ext cx="0" cy="3744506"/>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2267744" y="1265431"/>
            <a:ext cx="4536504" cy="400110"/>
          </a:xfrm>
          <a:prstGeom prst="rect">
            <a:avLst/>
          </a:prstGeom>
          <a:noFill/>
        </p:spPr>
        <p:txBody>
          <a:bodyPr wrap="square" rtlCol="0">
            <a:spAutoFit/>
          </a:bodyPr>
          <a:lstStyle/>
          <a:p>
            <a:pPr lvl="0" algn="ctr"/>
            <a:r>
              <a:rPr lang="en-US" sz="2000" b="1" dirty="0" smtClean="0">
                <a:solidFill>
                  <a:schemeClr val="bg2">
                    <a:lumMod val="10000"/>
                  </a:schemeClr>
                </a:solidFill>
                <a:latin typeface="Calibri" pitchFamily="34" charset="0"/>
              </a:rPr>
              <a:t>Part des exportations de </a:t>
            </a:r>
            <a:r>
              <a:rPr lang="en-US" sz="2000" b="1" dirty="0">
                <a:solidFill>
                  <a:schemeClr val="bg2">
                    <a:lumMod val="10000"/>
                  </a:schemeClr>
                </a:solidFill>
                <a:latin typeface="Calibri" pitchFamily="34" charset="0"/>
              </a:rPr>
              <a:t>marchandises par </a:t>
            </a:r>
            <a:r>
              <a:rPr lang="en-US" sz="2000" b="1" dirty="0" smtClean="0">
                <a:solidFill>
                  <a:schemeClr val="bg2">
                    <a:lumMod val="10000"/>
                  </a:schemeClr>
                </a:solidFill>
                <a:latin typeface="Calibri" pitchFamily="34" charset="0"/>
              </a:rPr>
              <a:t>complexité</a:t>
            </a:r>
          </a:p>
        </p:txBody>
      </p:sp>
    </p:spTree>
    <p:extLst>
      <p:ext uri="{BB962C8B-B14F-4D97-AF65-F5344CB8AC3E}">
        <p14:creationId xmlns:p14="http://schemas.microsoft.com/office/powerpoint/2010/main" val="548937691"/>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C:\Users\Witheridge_W\AppData\Local\Microsoft\Windows\Temporary Internet Files\Content.Outlook\4375M1S6\E_Handout_Fig_Factors_Manuf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8452" y="1592450"/>
            <a:ext cx="8546943" cy="4666068"/>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p:cNvSpPr>
            <a:spLocks noGrp="1"/>
          </p:cNvSpPr>
          <p:nvPr>
            <p:ph type="sldNum" sz="quarter" idx="4"/>
          </p:nvPr>
        </p:nvSpPr>
        <p:spPr/>
        <p:txBody>
          <a:bodyPr/>
          <a:lstStyle/>
          <a:p>
            <a:fld id="{FCE284C4-5ED1-4D6C-B7CC-2049C3062C5E}" type="slidenum">
              <a:rPr lang="en-GB" smtClean="0"/>
              <a:t>16</a:t>
            </a:fld>
            <a:endParaRPr lang="en-GB" dirty="0"/>
          </a:p>
        </p:txBody>
      </p:sp>
      <p:sp>
        <p:nvSpPr>
          <p:cNvPr id="4" name="Title 3"/>
          <p:cNvSpPr>
            <a:spLocks noGrp="1"/>
          </p:cNvSpPr>
          <p:nvPr>
            <p:ph type="title"/>
          </p:nvPr>
        </p:nvSpPr>
        <p:spPr>
          <a:xfrm>
            <a:off x="772213" y="188640"/>
            <a:ext cx="8352928" cy="1022400"/>
          </a:xfrm>
        </p:spPr>
        <p:txBody>
          <a:bodyPr/>
          <a:lstStyle/>
          <a:p>
            <a:pPr algn="ctr"/>
            <a:r>
              <a:rPr lang="en-GB" sz="2800" b="1" dirty="0" smtClean="0">
                <a:solidFill>
                  <a:schemeClr val="tx2"/>
                </a:solidFill>
                <a:ea typeface="+mn-ea"/>
                <a:cs typeface="+mn-cs"/>
              </a:rPr>
              <a:t>Pertes d'emplois industriels et rôle de la </a:t>
            </a:r>
            <a:br>
              <a:rPr lang="en-GB" sz="2800" b="1" dirty="0" smtClean="0">
                <a:solidFill>
                  <a:schemeClr val="tx2"/>
                </a:solidFill>
                <a:ea typeface="+mn-ea"/>
                <a:cs typeface="+mn-cs"/>
              </a:rPr>
            </a:br>
            <a:r>
              <a:rPr lang="en-GB" sz="2800" b="1" dirty="0" smtClean="0">
                <a:solidFill>
                  <a:schemeClr val="tx2"/>
                </a:solidFill>
                <a:ea typeface="+mn-ea"/>
                <a:cs typeface="+mn-cs"/>
              </a:rPr>
              <a:t>technologie  Préférences des consommateurs vs commerce</a:t>
            </a:r>
            <a:endParaRPr lang="en-GB" sz="2800" b="1" dirty="0">
              <a:solidFill>
                <a:schemeClr val="tx2"/>
              </a:solidFill>
              <a:ea typeface="+mn-ea"/>
              <a:cs typeface="+mn-cs"/>
            </a:endParaRPr>
          </a:p>
        </p:txBody>
      </p:sp>
      <p:sp>
        <p:nvSpPr>
          <p:cNvPr id="9" name="TextBox 8"/>
          <p:cNvSpPr txBox="1"/>
          <p:nvPr/>
        </p:nvSpPr>
        <p:spPr>
          <a:xfrm>
            <a:off x="755576" y="6088558"/>
            <a:ext cx="7992888" cy="769441"/>
          </a:xfrm>
          <a:prstGeom prst="rect">
            <a:avLst/>
          </a:prstGeom>
          <a:noFill/>
        </p:spPr>
        <p:txBody>
          <a:bodyPr wrap="square" rtlCol="0">
            <a:spAutoFit/>
          </a:bodyPr>
          <a:lstStyle/>
          <a:p>
            <a:r>
              <a:rPr lang="en-GB" sz="1100" dirty="0" smtClean="0">
                <a:solidFill>
                  <a:srgbClr val="171717"/>
                </a:solidFill>
                <a:latin typeface="Calibri" panose="020F0502020204030204" pitchFamily="34" charset="0"/>
              </a:rPr>
              <a:t/>
            </a:r>
            <a:br>
              <a:rPr lang="en-GB" sz="1100" dirty="0" smtClean="0">
                <a:solidFill>
                  <a:srgbClr val="171717"/>
                </a:solidFill>
                <a:latin typeface="Calibri" panose="020F0502020204030204" pitchFamily="34" charset="0"/>
              </a:rPr>
            </a:br>
            <a:r>
              <a:rPr lang="en-GB" sz="1100" dirty="0" smtClean="0">
                <a:solidFill>
                  <a:srgbClr val="171717"/>
                </a:solidFill>
                <a:latin typeface="Calibri" panose="020F0502020204030204" pitchFamily="34" charset="0"/>
              </a:rPr>
              <a:t>Note : </a:t>
            </a:r>
            <a:r>
              <a:rPr lang="en-US" sz="1100" dirty="0" smtClean="0">
                <a:solidFill>
                  <a:srgbClr val="171717"/>
                </a:solidFill>
                <a:latin typeface="Calibri" panose="020F0502020204030204" pitchFamily="34" charset="0"/>
              </a:rPr>
              <a:t>Décomposition </a:t>
            </a:r>
            <a:r>
              <a:rPr lang="en-US" sz="1100" dirty="0">
                <a:solidFill>
                  <a:srgbClr val="171717"/>
                </a:solidFill>
                <a:latin typeface="Calibri" panose="020F0502020204030204" pitchFamily="34" charset="0"/>
              </a:rPr>
              <a:t>basée sur </a:t>
            </a:r>
            <a:r>
              <a:rPr lang="en-US" sz="1100" dirty="0" smtClean="0">
                <a:solidFill>
                  <a:srgbClr val="171717"/>
                </a:solidFill>
                <a:latin typeface="Calibri" panose="020F0502020204030204" pitchFamily="34" charset="0"/>
              </a:rPr>
              <a:t>une estimation par régression. Chaque facteur est calculé sur la variation au cours de la période. La technologie et les préférences des consommateurs comprennent les investissements en TIC et en machines, les variations de la part de consommation manufacturière et des effets spécifiques dans le temps.</a:t>
            </a:r>
            <a:endParaRPr lang="en-GB" sz="1100" dirty="0" smtClean="0">
              <a:solidFill>
                <a:srgbClr val="171717"/>
              </a:solidFill>
              <a:latin typeface="Calibri" panose="020F0502020204030204" pitchFamily="34" charset="0"/>
            </a:endParaRPr>
          </a:p>
          <a:p>
            <a:r>
              <a:rPr lang="en-GB" sz="1100" dirty="0" smtClean="0">
                <a:solidFill>
                  <a:srgbClr val="171717"/>
                </a:solidFill>
                <a:latin typeface="Calibri" panose="020F0502020204030204" pitchFamily="34" charset="0"/>
              </a:rPr>
              <a:t>Source</a:t>
            </a:r>
            <a:r>
              <a:rPr lang="en-GB" sz="1100" dirty="0">
                <a:solidFill>
                  <a:srgbClr val="171717"/>
                </a:solidFill>
                <a:latin typeface="Calibri" panose="020F0502020204030204" pitchFamily="34" charset="0"/>
              </a:rPr>
              <a:t>:</a:t>
            </a:r>
            <a:r>
              <a:rPr lang="en-US" sz="1100" dirty="0">
                <a:solidFill>
                  <a:srgbClr val="171717"/>
                </a:solidFill>
                <a:latin typeface="Calibri" panose="020F0502020204030204" pitchFamily="34" charset="0"/>
              </a:rPr>
              <a:t> </a:t>
            </a:r>
            <a:r>
              <a:rPr lang="en-US" sz="1100" dirty="0" smtClean="0">
                <a:solidFill>
                  <a:srgbClr val="171717"/>
                </a:solidFill>
                <a:latin typeface="Calibri" panose="020F0502020204030204" pitchFamily="34" charset="0"/>
              </a:rPr>
              <a:t>OCDE base de données des Perspectives économiques ; base de données STAN ; et calculs de l'OCDE.</a:t>
            </a:r>
            <a:endParaRPr lang="en-GB" sz="1100" dirty="0">
              <a:solidFill>
                <a:srgbClr val="171717"/>
              </a:solidFill>
              <a:latin typeface="Calibri" panose="020F0502020204030204" pitchFamily="34" charset="0"/>
            </a:endParaRPr>
          </a:p>
        </p:txBody>
      </p:sp>
      <p:sp>
        <p:nvSpPr>
          <p:cNvPr id="7" name="TextBox 6"/>
          <p:cNvSpPr txBox="1"/>
          <p:nvPr/>
        </p:nvSpPr>
        <p:spPr>
          <a:xfrm>
            <a:off x="1149484" y="1289593"/>
            <a:ext cx="6696744" cy="584775"/>
          </a:xfrm>
          <a:prstGeom prst="rect">
            <a:avLst/>
          </a:prstGeom>
          <a:noFill/>
        </p:spPr>
        <p:txBody>
          <a:bodyPr wrap="square" rtlCol="0">
            <a:spAutoFit/>
          </a:bodyPr>
          <a:lstStyle/>
          <a:p>
            <a:pPr lvl="0" algn="ctr"/>
            <a:r>
              <a:rPr lang="en-US" sz="2000" b="1" dirty="0" smtClean="0">
                <a:solidFill>
                  <a:schemeClr val="bg2">
                    <a:lumMod val="10000"/>
                  </a:schemeClr>
                </a:solidFill>
                <a:latin typeface="Calibri" pitchFamily="34" charset="0"/>
              </a:rPr>
              <a:t>Facteurs expliquant le recul des emplois manufacturiers</a:t>
            </a:r>
          </a:p>
          <a:p>
            <a:pPr lvl="0" algn="ctr"/>
            <a:r>
              <a:rPr lang="en-US" sz="1200" i="1" dirty="0" smtClean="0">
                <a:solidFill>
                  <a:srgbClr val="000000"/>
                </a:solidFill>
                <a:latin typeface="Calibri" panose="020F0502020204030204" pitchFamily="34" charset="0"/>
              </a:rPr>
              <a:t>Variation </a:t>
            </a:r>
            <a:r>
              <a:rPr lang="en-US" sz="1200" i="1" dirty="0">
                <a:solidFill>
                  <a:srgbClr val="000000"/>
                </a:solidFill>
                <a:latin typeface="Calibri" panose="020F0502020204030204" pitchFamily="34" charset="0"/>
              </a:rPr>
              <a:t>de la </a:t>
            </a:r>
            <a:r>
              <a:rPr lang="en-US" sz="1200" i="1" dirty="0" smtClean="0">
                <a:solidFill>
                  <a:srgbClr val="000000"/>
                </a:solidFill>
                <a:latin typeface="Calibri" panose="020F0502020204030204" pitchFamily="34" charset="0"/>
              </a:rPr>
              <a:t>part </a:t>
            </a:r>
            <a:r>
              <a:rPr lang="en-US" sz="1200" i="1" dirty="0">
                <a:solidFill>
                  <a:srgbClr val="000000"/>
                </a:solidFill>
                <a:latin typeface="Calibri" panose="020F0502020204030204" pitchFamily="34" charset="0"/>
              </a:rPr>
              <a:t>de </a:t>
            </a:r>
            <a:r>
              <a:rPr lang="en-US" sz="1200" i="1" dirty="0" smtClean="0">
                <a:solidFill>
                  <a:srgbClr val="000000"/>
                </a:solidFill>
                <a:latin typeface="Calibri" panose="020F0502020204030204" pitchFamily="34" charset="0"/>
              </a:rPr>
              <a:t>l'emploi total, </a:t>
            </a:r>
            <a:r>
              <a:rPr lang="en-US" sz="1200" i="1" dirty="0">
                <a:solidFill>
                  <a:srgbClr val="000000"/>
                </a:solidFill>
                <a:latin typeface="Calibri" panose="020F0502020204030204" pitchFamily="34" charset="0"/>
              </a:rPr>
              <a:t>moyenne </a:t>
            </a:r>
            <a:r>
              <a:rPr lang="en-US" sz="1200" i="1" dirty="0" smtClean="0">
                <a:solidFill>
                  <a:srgbClr val="000000"/>
                </a:solidFill>
                <a:latin typeface="Calibri" panose="020F0502020204030204" pitchFamily="34" charset="0"/>
              </a:rPr>
              <a:t>annuelle 1990-2008</a:t>
            </a:r>
            <a:endParaRPr lang="en-US" sz="1200" i="1" dirty="0">
              <a:solidFill>
                <a:schemeClr val="bg2">
                  <a:lumMod val="10000"/>
                </a:schemeClr>
              </a:solidFill>
              <a:latin typeface="Calibri" pitchFamily="34" charset="0"/>
            </a:endParaRPr>
          </a:p>
        </p:txBody>
      </p:sp>
    </p:spTree>
    <p:extLst>
      <p:ext uri="{BB962C8B-B14F-4D97-AF65-F5344CB8AC3E}">
        <p14:creationId xmlns:p14="http://schemas.microsoft.com/office/powerpoint/2010/main" val="236218518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main.oecd.org\sdataECO\Units\FRONTOFFICE\Economic Outlooks\EO101\Data and charts\PPT_Figs_E\E_Handout_Fig_Geographical_concentration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7324" y="1536187"/>
            <a:ext cx="7551099" cy="4654273"/>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p:cNvSpPr>
            <a:spLocks noGrp="1"/>
          </p:cNvSpPr>
          <p:nvPr>
            <p:ph type="sldNum" sz="quarter" idx="4"/>
          </p:nvPr>
        </p:nvSpPr>
        <p:spPr/>
        <p:txBody>
          <a:bodyPr/>
          <a:lstStyle/>
          <a:p>
            <a:fld id="{FCE284C4-5ED1-4D6C-B7CC-2049C3062C5E}" type="slidenum">
              <a:rPr lang="en-GB" smtClean="0"/>
              <a:t>17</a:t>
            </a:fld>
            <a:endParaRPr lang="en-GB" dirty="0"/>
          </a:p>
        </p:txBody>
      </p:sp>
      <p:sp>
        <p:nvSpPr>
          <p:cNvPr id="4" name="Title 3"/>
          <p:cNvSpPr>
            <a:spLocks noGrp="1"/>
          </p:cNvSpPr>
          <p:nvPr>
            <p:ph type="title"/>
          </p:nvPr>
        </p:nvSpPr>
        <p:spPr>
          <a:xfrm>
            <a:off x="1080000" y="194269"/>
            <a:ext cx="7416000" cy="1022400"/>
          </a:xfrm>
        </p:spPr>
        <p:txBody>
          <a:bodyPr/>
          <a:lstStyle/>
          <a:p>
            <a:pPr algn="ctr">
              <a:defRPr/>
            </a:pPr>
            <a:r>
              <a:rPr lang="en-US" sz="2800" b="1" dirty="0" smtClean="0">
                <a:solidFill>
                  <a:schemeClr val="tx2"/>
                </a:solidFill>
              </a:rPr>
              <a:t>Le recul de l'industrie manufacturière est préoccupant car l'activité est </a:t>
            </a:r>
            <a:r>
              <a:rPr lang="en-US" sz="2800" b="1" dirty="0">
                <a:solidFill>
                  <a:schemeClr val="tx2"/>
                </a:solidFill>
              </a:rPr>
              <a:t>concentrée </a:t>
            </a:r>
            <a:r>
              <a:rPr lang="en-US" sz="2800" b="1" dirty="0" smtClean="0">
                <a:solidFill>
                  <a:schemeClr val="tx2"/>
                </a:solidFill>
              </a:rPr>
              <a:t>régionalement</a:t>
            </a:r>
            <a:endParaRPr lang="en-GB" sz="2800" b="1" dirty="0">
              <a:solidFill>
                <a:schemeClr val="tx2"/>
              </a:solidFill>
            </a:endParaRPr>
          </a:p>
        </p:txBody>
      </p:sp>
      <p:sp>
        <p:nvSpPr>
          <p:cNvPr id="6" name="TextBox 5"/>
          <p:cNvSpPr txBox="1"/>
          <p:nvPr/>
        </p:nvSpPr>
        <p:spPr>
          <a:xfrm>
            <a:off x="1620652" y="1269371"/>
            <a:ext cx="5832648" cy="584775"/>
          </a:xfrm>
          <a:prstGeom prst="rect">
            <a:avLst/>
          </a:prstGeom>
          <a:noFill/>
        </p:spPr>
        <p:txBody>
          <a:bodyPr wrap="square" rtlCol="0">
            <a:spAutoFit/>
          </a:bodyPr>
          <a:lstStyle/>
          <a:p>
            <a:pPr lvl="0" algn="ctr"/>
            <a:r>
              <a:rPr lang="en-US" sz="2000" b="1" dirty="0" smtClean="0">
                <a:solidFill>
                  <a:schemeClr val="bg2">
                    <a:lumMod val="10000"/>
                  </a:schemeClr>
                </a:solidFill>
                <a:latin typeface="Calibri" pitchFamily="34" charset="0"/>
              </a:rPr>
              <a:t>Indice de concentration géographique par secteur</a:t>
            </a:r>
          </a:p>
          <a:p>
            <a:pPr lvl="0" algn="ctr"/>
            <a:r>
              <a:rPr lang="en-US" sz="1200" i="1" dirty="0">
                <a:solidFill>
                  <a:schemeClr val="bg2">
                    <a:lumMod val="10000"/>
                  </a:schemeClr>
                </a:solidFill>
                <a:latin typeface="Calibri" pitchFamily="34" charset="0"/>
              </a:rPr>
              <a:t>Moyenne 2000-2015 ou dernière année disponible</a:t>
            </a:r>
          </a:p>
        </p:txBody>
      </p:sp>
      <p:sp>
        <p:nvSpPr>
          <p:cNvPr id="7" name="TextBox 6"/>
          <p:cNvSpPr txBox="1"/>
          <p:nvPr/>
        </p:nvSpPr>
        <p:spPr>
          <a:xfrm>
            <a:off x="73637" y="5991622"/>
            <a:ext cx="8435360" cy="900246"/>
          </a:xfrm>
          <a:prstGeom prst="rect">
            <a:avLst/>
          </a:prstGeom>
          <a:noFill/>
        </p:spPr>
        <p:txBody>
          <a:bodyPr wrap="square" rtlCol="0">
            <a:spAutoFit/>
          </a:bodyPr>
          <a:lstStyle/>
          <a:p>
            <a:r>
              <a:rPr lang="en-US" sz="1050" dirty="0">
                <a:solidFill>
                  <a:srgbClr val="171717"/>
                </a:solidFill>
                <a:latin typeface="Calibri" panose="020F0502020204030204" pitchFamily="34" charset="0"/>
              </a:rPr>
              <a:t>Note : « Commerce de distribution » comprend le commerce de détail et de gros, les réparations, le transport et l'entreposage, l'hébergement et la restauration. </a:t>
            </a:r>
            <a:r>
              <a:rPr lang="en-US" sz="1050" dirty="0" smtClean="0">
                <a:solidFill>
                  <a:srgbClr val="171717"/>
                </a:solidFill>
                <a:latin typeface="Calibri" panose="020F0502020204030204" pitchFamily="34" charset="0"/>
              </a:rPr>
              <a:t>L'indice mesure </a:t>
            </a:r>
            <a:r>
              <a:rPr lang="en-US" sz="1050" dirty="0">
                <a:solidFill>
                  <a:srgbClr val="171717"/>
                </a:solidFill>
                <a:latin typeface="Calibri" panose="020F0502020204030204" pitchFamily="34" charset="0"/>
              </a:rPr>
              <a:t>la mesure dans laquelle </a:t>
            </a:r>
            <a:r>
              <a:rPr lang="en-US" sz="1050" dirty="0" smtClean="0">
                <a:solidFill>
                  <a:srgbClr val="171717"/>
                </a:solidFill>
                <a:latin typeface="Calibri" panose="020F0502020204030204" pitchFamily="34" charset="0"/>
              </a:rPr>
              <a:t>l'emploi est </a:t>
            </a:r>
            <a:r>
              <a:rPr lang="en-US" sz="1050" dirty="0">
                <a:solidFill>
                  <a:srgbClr val="171717"/>
                </a:solidFill>
                <a:latin typeface="Calibri" panose="020F0502020204030204" pitchFamily="34" charset="0"/>
              </a:rPr>
              <a:t>concentré dans certaines régions, variant entre 0 (aucune </a:t>
            </a:r>
            <a:r>
              <a:rPr lang="en-US" sz="1050" dirty="0" smtClean="0">
                <a:solidFill>
                  <a:srgbClr val="171717"/>
                </a:solidFill>
                <a:latin typeface="Calibri" panose="020F0502020204030204" pitchFamily="34" charset="0"/>
              </a:rPr>
              <a:t>concentration, où toutes les </a:t>
            </a:r>
            <a:r>
              <a:rPr lang="en-US" sz="1050" dirty="0">
                <a:solidFill>
                  <a:srgbClr val="171717"/>
                </a:solidFill>
                <a:latin typeface="Calibri" panose="020F0502020204030204" pitchFamily="34" charset="0"/>
              </a:rPr>
              <a:t>régions d'un pays ont le même taux d'emploi manufacturier </a:t>
            </a:r>
            <a:r>
              <a:rPr lang="en-US" sz="1050" dirty="0" smtClean="0">
                <a:solidFill>
                  <a:srgbClr val="171717"/>
                </a:solidFill>
                <a:latin typeface="Calibri" panose="020F0502020204030204" pitchFamily="34" charset="0"/>
              </a:rPr>
              <a:t>) </a:t>
            </a:r>
            <a:r>
              <a:rPr lang="en-US" sz="1050" dirty="0">
                <a:solidFill>
                  <a:srgbClr val="171717"/>
                </a:solidFill>
                <a:latin typeface="Calibri" panose="020F0502020204030204" pitchFamily="34" charset="0"/>
              </a:rPr>
              <a:t>et </a:t>
            </a:r>
            <a:r>
              <a:rPr lang="en-US" sz="1050" dirty="0" smtClean="0">
                <a:solidFill>
                  <a:srgbClr val="171717"/>
                </a:solidFill>
                <a:latin typeface="Calibri" panose="020F0502020204030204" pitchFamily="34" charset="0"/>
              </a:rPr>
              <a:t>100 </a:t>
            </a:r>
            <a:r>
              <a:rPr lang="en-US" sz="1050" dirty="0">
                <a:solidFill>
                  <a:srgbClr val="171717"/>
                </a:solidFill>
                <a:latin typeface="Calibri" panose="020F0502020204030204" pitchFamily="34" charset="0"/>
              </a:rPr>
              <a:t>(concentration </a:t>
            </a:r>
            <a:r>
              <a:rPr lang="en-US" sz="1050" dirty="0" smtClean="0">
                <a:solidFill>
                  <a:srgbClr val="171717"/>
                </a:solidFill>
                <a:latin typeface="Calibri" panose="020F0502020204030204" pitchFamily="34" charset="0"/>
              </a:rPr>
              <a:t>maximale, où tout </a:t>
            </a:r>
            <a:r>
              <a:rPr lang="en-US" sz="1050" dirty="0">
                <a:solidFill>
                  <a:srgbClr val="171717"/>
                </a:solidFill>
                <a:latin typeface="Calibri" panose="020F0502020204030204" pitchFamily="34" charset="0"/>
              </a:rPr>
              <a:t>l'emploi manufacturier est concentré dans la plus petite région</a:t>
            </a:r>
            <a:r>
              <a:rPr lang="en-US" sz="1050" dirty="0" smtClean="0">
                <a:solidFill>
                  <a:srgbClr val="171717"/>
                </a:solidFill>
                <a:latin typeface="Calibri" panose="020F0502020204030204" pitchFamily="34" charset="0"/>
              </a:rPr>
              <a:t>). L'indice tient compte de la taille de la région et est basé sur l'OCDE </a:t>
            </a:r>
            <a:r>
              <a:rPr lang="en-US" sz="1050" dirty="0">
                <a:solidFill>
                  <a:srgbClr val="171717"/>
                </a:solidFill>
                <a:latin typeface="Calibri" panose="020F0502020204030204" pitchFamily="34" charset="0"/>
              </a:rPr>
              <a:t>(2003</a:t>
            </a:r>
            <a:r>
              <a:rPr lang="en-US" sz="1050" dirty="0" smtClean="0">
                <a:solidFill>
                  <a:srgbClr val="171717"/>
                </a:solidFill>
                <a:latin typeface="Calibri" panose="020F0502020204030204" pitchFamily="34" charset="0"/>
              </a:rPr>
              <a:t>) </a:t>
            </a:r>
            <a:r>
              <a:rPr lang="en-US" sz="1050" dirty="0">
                <a:solidFill>
                  <a:srgbClr val="171717"/>
                </a:solidFill>
                <a:latin typeface="Calibri" panose="020F0502020204030204" pitchFamily="34" charset="0"/>
              </a:rPr>
              <a:t>« Concentration géographique et disparité territoriale dans les pays de l'OCDE »</a:t>
            </a:r>
            <a:r>
              <a:rPr lang="en-US" sz="1050" dirty="0" smtClean="0">
                <a:solidFill>
                  <a:srgbClr val="171717"/>
                </a:solidFill>
                <a:latin typeface="Calibri" panose="020F0502020204030204" pitchFamily="34" charset="0"/>
              </a:rPr>
              <a:t>. </a:t>
            </a:r>
            <a:br>
              <a:rPr lang="en-US" sz="1050" dirty="0" smtClean="0">
                <a:solidFill>
                  <a:srgbClr val="171717"/>
                </a:solidFill>
                <a:latin typeface="Calibri" panose="020F0502020204030204" pitchFamily="34" charset="0"/>
              </a:rPr>
            </a:br>
            <a:r>
              <a:rPr lang="en-GB" sz="1050" dirty="0" smtClean="0">
                <a:solidFill>
                  <a:srgbClr val="171717"/>
                </a:solidFill>
                <a:latin typeface="Calibri" panose="020F0502020204030204" pitchFamily="34" charset="0"/>
              </a:rPr>
              <a:t>Source :</a:t>
            </a:r>
            <a:r>
              <a:rPr lang="en-US" sz="1050" i="1" dirty="0" smtClean="0">
                <a:solidFill>
                  <a:srgbClr val="171717"/>
                </a:solidFill>
                <a:latin typeface="Calibri" panose="020F0502020204030204" pitchFamily="34" charset="0"/>
              </a:rPr>
              <a:t> </a:t>
            </a:r>
            <a:r>
              <a:rPr lang="en-US" sz="1050" dirty="0">
                <a:solidFill>
                  <a:srgbClr val="171717"/>
                </a:solidFill>
                <a:latin typeface="Calibri" panose="020F0502020204030204" pitchFamily="34" charset="0"/>
              </a:rPr>
              <a:t>OCDE base de données </a:t>
            </a:r>
            <a:r>
              <a:rPr lang="en-US" sz="1050" dirty="0" smtClean="0">
                <a:solidFill>
                  <a:srgbClr val="171717"/>
                </a:solidFill>
                <a:latin typeface="Calibri" panose="020F0502020204030204" pitchFamily="34" charset="0"/>
              </a:rPr>
              <a:t>régionale ; </a:t>
            </a:r>
            <a:r>
              <a:rPr lang="en-US" sz="1050" dirty="0">
                <a:solidFill>
                  <a:srgbClr val="171717"/>
                </a:solidFill>
                <a:latin typeface="Calibri" panose="020F0502020204030204" pitchFamily="34" charset="0"/>
              </a:rPr>
              <a:t>et calculs de l'OCDE</a:t>
            </a:r>
            <a:r>
              <a:rPr lang="en-US" sz="1050" dirty="0" smtClean="0">
                <a:solidFill>
                  <a:srgbClr val="171717"/>
                </a:solidFill>
                <a:latin typeface="Calibri" panose="020F0502020204030204" pitchFamily="34" charset="0"/>
              </a:rPr>
              <a:t>.</a:t>
            </a:r>
            <a:endParaRPr lang="en-GB" sz="1050" dirty="0">
              <a:solidFill>
                <a:srgbClr val="171717"/>
              </a:solidFill>
              <a:latin typeface="Calibri" panose="020F0502020204030204" pitchFamily="34" charset="0"/>
            </a:endParaRPr>
          </a:p>
        </p:txBody>
      </p:sp>
      <p:cxnSp>
        <p:nvCxnSpPr>
          <p:cNvPr id="8" name="Straight Arrow Connector 7"/>
          <p:cNvCxnSpPr/>
          <p:nvPr/>
        </p:nvCxnSpPr>
        <p:spPr>
          <a:xfrm flipV="1">
            <a:off x="6129959" y="2518348"/>
            <a:ext cx="0" cy="948264"/>
          </a:xfrm>
          <a:prstGeom prst="straightConnector1">
            <a:avLst/>
          </a:prstGeom>
          <a:ln w="12700">
            <a:solidFill>
              <a:schemeClr val="bg2">
                <a:lumMod val="10000"/>
              </a:schemeClr>
            </a:solidFill>
            <a:tailEnd type="arrow"/>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5982487" y="2704622"/>
            <a:ext cx="1345891" cy="523220"/>
          </a:xfrm>
          <a:prstGeom prst="rect">
            <a:avLst/>
          </a:prstGeom>
          <a:noFill/>
        </p:spPr>
        <p:txBody>
          <a:bodyPr wrap="square" rtlCol="0">
            <a:spAutoFit/>
          </a:bodyPr>
          <a:lstStyle/>
          <a:p>
            <a:pPr algn="ctr"/>
            <a:r>
              <a:rPr lang="en-GB" sz="1400" b="1" dirty="0" smtClean="0">
                <a:solidFill>
                  <a:schemeClr val="bg2">
                    <a:lumMod val="10000"/>
                  </a:schemeClr>
                </a:solidFill>
                <a:latin typeface="Calibri" panose="020F0502020204030204" pitchFamily="34" charset="0"/>
              </a:rPr>
              <a:t>Plus concentré</a:t>
            </a:r>
            <a:endParaRPr lang="en-GB" sz="1400" b="1" dirty="0">
              <a:solidFill>
                <a:schemeClr val="bg2">
                  <a:lumMod val="10000"/>
                </a:schemeClr>
              </a:solidFill>
              <a:latin typeface="Calibri" panose="020F0502020204030204" pitchFamily="34" charset="0"/>
            </a:endParaRPr>
          </a:p>
        </p:txBody>
      </p:sp>
    </p:spTree>
    <p:extLst>
      <p:ext uri="{BB962C8B-B14F-4D97-AF65-F5344CB8AC3E}">
        <p14:creationId xmlns:p14="http://schemas.microsoft.com/office/powerpoint/2010/main" val="1939038586"/>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314" name="Picture 2" descr="\\main.oecd.org\sdataECO\Units\FRONTOFFICE\Economic Outlooks\EO101\Data and charts\PPT_Figs_E\E_Handout_Fig_Manufacturing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71600" y="1484744"/>
            <a:ext cx="8387061" cy="5011438"/>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p:cNvSpPr>
            <a:spLocks noGrp="1"/>
          </p:cNvSpPr>
          <p:nvPr>
            <p:ph type="sldNum" sz="quarter" idx="4"/>
          </p:nvPr>
        </p:nvSpPr>
        <p:spPr/>
        <p:txBody>
          <a:bodyPr/>
          <a:lstStyle/>
          <a:p>
            <a:fld id="{FCE284C4-5ED1-4D6C-B7CC-2049C3062C5E}" type="slidenum">
              <a:rPr lang="en-GB" smtClean="0"/>
              <a:t>18</a:t>
            </a:fld>
            <a:endParaRPr lang="en-GB" dirty="0"/>
          </a:p>
        </p:txBody>
      </p:sp>
      <p:sp>
        <p:nvSpPr>
          <p:cNvPr id="4" name="Title 3"/>
          <p:cNvSpPr>
            <a:spLocks noGrp="1"/>
          </p:cNvSpPr>
          <p:nvPr>
            <p:ph type="title"/>
          </p:nvPr>
        </p:nvSpPr>
        <p:spPr>
          <a:xfrm>
            <a:off x="1009408" y="188640"/>
            <a:ext cx="7632024" cy="1022400"/>
          </a:xfrm>
        </p:spPr>
        <p:txBody>
          <a:bodyPr/>
          <a:lstStyle/>
          <a:p>
            <a:pPr algn="ctr"/>
            <a:r>
              <a:rPr lang="en-US" sz="2800" b="1" dirty="0" smtClean="0">
                <a:solidFill>
                  <a:schemeClr val="tx2"/>
                </a:solidFill>
              </a:rPr>
              <a:t>Les pays ayant connu les plus fortes pertes d'emplois manufacturiers ont vu croître les inégalités régionales</a:t>
            </a:r>
            <a:endParaRPr lang="en-US" sz="2800" b="1" dirty="0">
              <a:solidFill>
                <a:schemeClr val="tx2"/>
              </a:solidFill>
            </a:endParaRPr>
          </a:p>
        </p:txBody>
      </p:sp>
      <p:sp>
        <p:nvSpPr>
          <p:cNvPr id="6" name="TextBox 5"/>
          <p:cNvSpPr txBox="1"/>
          <p:nvPr/>
        </p:nvSpPr>
        <p:spPr>
          <a:xfrm>
            <a:off x="1065079" y="6411722"/>
            <a:ext cx="8208912" cy="461665"/>
          </a:xfrm>
          <a:prstGeom prst="rect">
            <a:avLst/>
          </a:prstGeom>
          <a:noFill/>
        </p:spPr>
        <p:txBody>
          <a:bodyPr wrap="square" rtlCol="0">
            <a:spAutoFit/>
          </a:bodyPr>
          <a:lstStyle/>
          <a:p>
            <a:r>
              <a:rPr lang="en-GB" sz="1200" dirty="0" smtClean="0">
                <a:solidFill>
                  <a:srgbClr val="171717"/>
                </a:solidFill>
                <a:latin typeface="Calibri" panose="020F0502020204030204" pitchFamily="34" charset="0"/>
              </a:rPr>
              <a:t/>
            </a:r>
            <a:br>
              <a:rPr lang="en-GB" sz="1200" dirty="0" smtClean="0">
                <a:solidFill>
                  <a:srgbClr val="171717"/>
                </a:solidFill>
                <a:latin typeface="Calibri" panose="020F0502020204030204" pitchFamily="34" charset="0"/>
              </a:rPr>
            </a:br>
            <a:r>
              <a:rPr lang="en-GB" sz="1200" dirty="0" smtClean="0">
                <a:solidFill>
                  <a:srgbClr val="171717"/>
                </a:solidFill>
                <a:latin typeface="Calibri" panose="020F0502020204030204" pitchFamily="34" charset="0"/>
              </a:rPr>
              <a:t>Source :</a:t>
            </a:r>
            <a:r>
              <a:rPr lang="en-US" sz="1200" i="1" dirty="0" smtClean="0">
                <a:solidFill>
                  <a:srgbClr val="171717"/>
                </a:solidFill>
                <a:latin typeface="Calibri" panose="020F0502020204030204" pitchFamily="34" charset="0"/>
              </a:rPr>
              <a:t> </a:t>
            </a:r>
            <a:r>
              <a:rPr lang="en-US" sz="1200" dirty="0" smtClean="0">
                <a:solidFill>
                  <a:srgbClr val="171717"/>
                </a:solidFill>
                <a:latin typeface="Calibri" panose="020F0502020204030204" pitchFamily="34" charset="0"/>
              </a:rPr>
              <a:t>OCDE base de données régionale ; et calculs de l'OCDE.</a:t>
            </a:r>
            <a:endParaRPr lang="en-GB" sz="1200" dirty="0">
              <a:solidFill>
                <a:srgbClr val="171717"/>
              </a:solidFill>
              <a:latin typeface="Calibri" panose="020F0502020204030204" pitchFamily="34" charset="0"/>
            </a:endParaRPr>
          </a:p>
        </p:txBody>
      </p:sp>
      <p:sp>
        <p:nvSpPr>
          <p:cNvPr id="18" name="TextBox 17"/>
          <p:cNvSpPr txBox="1"/>
          <p:nvPr/>
        </p:nvSpPr>
        <p:spPr>
          <a:xfrm>
            <a:off x="3777136" y="1312302"/>
            <a:ext cx="5832648" cy="492443"/>
          </a:xfrm>
          <a:prstGeom prst="rect">
            <a:avLst/>
          </a:prstGeom>
          <a:noFill/>
        </p:spPr>
        <p:txBody>
          <a:bodyPr wrap="square" rtlCol="0">
            <a:spAutoFit/>
          </a:bodyPr>
          <a:lstStyle/>
          <a:p>
            <a:pPr lvl="0" algn="ctr"/>
            <a:r>
              <a:rPr lang="en-US" sz="1400" b="1" dirty="0" smtClean="0">
                <a:solidFill>
                  <a:schemeClr val="bg2">
                    <a:lumMod val="10000"/>
                  </a:schemeClr>
                </a:solidFill>
                <a:latin typeface="Calibri" pitchFamily="34" charset="0"/>
              </a:rPr>
              <a:t>Variation des </a:t>
            </a:r>
            <a:r>
              <a:rPr lang="en-US" sz="1400" b="1" dirty="0">
                <a:solidFill>
                  <a:schemeClr val="bg2">
                    <a:lumMod val="10000"/>
                  </a:schemeClr>
                </a:solidFill>
                <a:latin typeface="Calibri" pitchFamily="34" charset="0"/>
              </a:rPr>
              <a:t>inégalités de revenus moyennes </a:t>
            </a:r>
            <a:r>
              <a:rPr lang="en-US" sz="1400" b="1" dirty="0" smtClean="0">
                <a:solidFill>
                  <a:schemeClr val="bg2">
                    <a:lumMod val="10000"/>
                  </a:schemeClr>
                </a:solidFill>
                <a:latin typeface="Calibri" pitchFamily="34" charset="0"/>
              </a:rPr>
              <a:t>entre régions</a:t>
            </a:r>
            <a:r>
              <a:rPr lang="en-US" sz="1400" dirty="0" smtClean="0">
                <a:solidFill>
                  <a:schemeClr val="bg2">
                    <a:lumMod val="10000"/>
                  </a:schemeClr>
                </a:solidFill>
                <a:latin typeface="Calibri" pitchFamily="34" charset="0"/>
              </a:rPr>
              <a:t/>
            </a:r>
            <a:br>
              <a:rPr lang="en-US" sz="1400" dirty="0" smtClean="0">
                <a:solidFill>
                  <a:schemeClr val="bg2">
                    <a:lumMod val="10000"/>
                  </a:schemeClr>
                </a:solidFill>
                <a:latin typeface="Calibri" pitchFamily="34" charset="0"/>
              </a:rPr>
            </a:br>
            <a:r>
              <a:rPr lang="en-US" sz="1200" i="1" dirty="0" smtClean="0">
                <a:solidFill>
                  <a:schemeClr val="bg2">
                    <a:lumMod val="10000"/>
                  </a:schemeClr>
                </a:solidFill>
                <a:latin typeface="Calibri" pitchFamily="34" charset="0"/>
              </a:rPr>
              <a:t>2000 à 2015 ou dernière année disponible, ratio percentiles 90:50, </a:t>
            </a:r>
            <a:r>
              <a:rPr lang="en-US" sz="1200" i="1" dirty="0">
                <a:solidFill>
                  <a:schemeClr val="bg2">
                    <a:lumMod val="10000"/>
                  </a:schemeClr>
                </a:solidFill>
                <a:latin typeface="Calibri" pitchFamily="34" charset="0"/>
              </a:rPr>
              <a:t>% </a:t>
            </a:r>
            <a:r>
              <a:rPr lang="en-US" sz="1200" i="1" dirty="0" smtClean="0">
                <a:solidFill>
                  <a:schemeClr val="bg2">
                    <a:lumMod val="10000"/>
                  </a:schemeClr>
                </a:solidFill>
                <a:latin typeface="Calibri" pitchFamily="34" charset="0"/>
              </a:rPr>
              <a:t>pts</a:t>
            </a:r>
            <a:endParaRPr lang="en-US" sz="1400" i="1" dirty="0" smtClean="0">
              <a:solidFill>
                <a:schemeClr val="bg2">
                  <a:lumMod val="10000"/>
                </a:schemeClr>
              </a:solidFill>
              <a:latin typeface="Calibri" pitchFamily="34" charset="0"/>
            </a:endParaRPr>
          </a:p>
        </p:txBody>
      </p:sp>
      <p:sp>
        <p:nvSpPr>
          <p:cNvPr id="19" name="TextBox 18"/>
          <p:cNvSpPr txBox="1"/>
          <p:nvPr/>
        </p:nvSpPr>
        <p:spPr>
          <a:xfrm>
            <a:off x="3344003" y="6093934"/>
            <a:ext cx="6316577" cy="492443"/>
          </a:xfrm>
          <a:prstGeom prst="rect">
            <a:avLst/>
          </a:prstGeom>
          <a:noFill/>
        </p:spPr>
        <p:txBody>
          <a:bodyPr wrap="square" rtlCol="0">
            <a:spAutoFit/>
          </a:bodyPr>
          <a:lstStyle/>
          <a:p>
            <a:pPr lvl="0" algn="ctr"/>
            <a:r>
              <a:rPr lang="en-US" sz="1400" b="1" dirty="0" smtClean="0">
                <a:solidFill>
                  <a:schemeClr val="bg2">
                    <a:lumMod val="10000"/>
                  </a:schemeClr>
                </a:solidFill>
                <a:latin typeface="Calibri" pitchFamily="34" charset="0"/>
              </a:rPr>
              <a:t>Variation du taux d'emploi manufacturier national</a:t>
            </a:r>
            <a:r>
              <a:rPr lang="en-US" sz="1400" dirty="0" smtClean="0">
                <a:solidFill>
                  <a:schemeClr val="bg2">
                    <a:lumMod val="10000"/>
                  </a:schemeClr>
                </a:solidFill>
                <a:latin typeface="Calibri" pitchFamily="34" charset="0"/>
              </a:rPr>
              <a:t/>
            </a:r>
            <a:br>
              <a:rPr lang="en-US" sz="1400" dirty="0" smtClean="0">
                <a:solidFill>
                  <a:schemeClr val="bg2">
                    <a:lumMod val="10000"/>
                  </a:schemeClr>
                </a:solidFill>
                <a:latin typeface="Calibri" pitchFamily="34" charset="0"/>
              </a:rPr>
            </a:br>
            <a:r>
              <a:rPr lang="en-US" sz="1200" i="1" dirty="0">
                <a:solidFill>
                  <a:schemeClr val="bg2">
                    <a:lumMod val="10000"/>
                  </a:schemeClr>
                </a:solidFill>
                <a:latin typeface="Calibri" pitchFamily="34" charset="0"/>
              </a:rPr>
              <a:t>2000 à 2015 ou </a:t>
            </a:r>
            <a:r>
              <a:rPr lang="en-US" sz="1200" i="1" dirty="0" smtClean="0">
                <a:solidFill>
                  <a:schemeClr val="bg2">
                    <a:lumMod val="10000"/>
                  </a:schemeClr>
                </a:solidFill>
                <a:latin typeface="Calibri" pitchFamily="34" charset="0"/>
              </a:rPr>
              <a:t>dernière année disponible, % pts</a:t>
            </a:r>
            <a:endParaRPr lang="en-US" sz="1400" i="1" dirty="0" smtClean="0">
              <a:solidFill>
                <a:schemeClr val="bg2">
                  <a:lumMod val="10000"/>
                </a:schemeClr>
              </a:solidFill>
              <a:latin typeface="Calibri" pitchFamily="34" charset="0"/>
            </a:endParaRPr>
          </a:p>
        </p:txBody>
      </p:sp>
      <p:cxnSp>
        <p:nvCxnSpPr>
          <p:cNvPr id="20" name="Straight Arrow Connector 19"/>
          <p:cNvCxnSpPr/>
          <p:nvPr/>
        </p:nvCxnSpPr>
        <p:spPr>
          <a:xfrm flipV="1">
            <a:off x="1403759" y="2239070"/>
            <a:ext cx="0" cy="1296144"/>
          </a:xfrm>
          <a:prstGeom prst="straightConnector1">
            <a:avLst/>
          </a:prstGeom>
          <a:ln w="12700">
            <a:solidFill>
              <a:schemeClr val="bg2">
                <a:lumMod val="10000"/>
              </a:schemeClr>
            </a:solidFill>
            <a:tailEnd type="arrow"/>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1" y="2485347"/>
            <a:ext cx="1455962" cy="738664"/>
          </a:xfrm>
          <a:prstGeom prst="rect">
            <a:avLst/>
          </a:prstGeom>
          <a:noFill/>
        </p:spPr>
        <p:txBody>
          <a:bodyPr wrap="square" rtlCol="0">
            <a:spAutoFit/>
          </a:bodyPr>
          <a:lstStyle/>
          <a:p>
            <a:pPr algn="ctr"/>
            <a:r>
              <a:rPr lang="en-US" sz="1400" b="1" dirty="0">
                <a:solidFill>
                  <a:schemeClr val="bg2">
                    <a:lumMod val="10000"/>
                  </a:schemeClr>
                </a:solidFill>
                <a:latin typeface="Calibri" panose="020F0502020204030204" pitchFamily="34" charset="0"/>
              </a:rPr>
              <a:t>Élargissement de la dispersion des revenus régionaux</a:t>
            </a:r>
            <a:endParaRPr lang="en-GB" sz="1400" b="1" dirty="0">
              <a:solidFill>
                <a:schemeClr val="bg2">
                  <a:lumMod val="10000"/>
                </a:schemeClr>
              </a:solidFill>
              <a:latin typeface="Calibri" panose="020F0502020204030204" pitchFamily="34" charset="0"/>
            </a:endParaRPr>
          </a:p>
        </p:txBody>
      </p:sp>
      <p:sp>
        <p:nvSpPr>
          <p:cNvPr id="22" name="TextBox 21"/>
          <p:cNvSpPr txBox="1"/>
          <p:nvPr/>
        </p:nvSpPr>
        <p:spPr>
          <a:xfrm>
            <a:off x="1344490" y="5273326"/>
            <a:ext cx="2343700" cy="523220"/>
          </a:xfrm>
          <a:prstGeom prst="rect">
            <a:avLst/>
          </a:prstGeom>
          <a:noFill/>
        </p:spPr>
        <p:txBody>
          <a:bodyPr wrap="square" rtlCol="0">
            <a:spAutoFit/>
          </a:bodyPr>
          <a:lstStyle/>
          <a:p>
            <a:pPr algn="ctr"/>
            <a:r>
              <a:rPr lang="en-GB" sz="1400" b="1" dirty="0" smtClean="0">
                <a:solidFill>
                  <a:schemeClr val="bg2">
                    <a:lumMod val="10000"/>
                  </a:schemeClr>
                </a:solidFill>
                <a:latin typeface="Calibri" panose="020F0502020204030204" pitchFamily="34" charset="0"/>
              </a:rPr>
              <a:t>Baisse de la part des</a:t>
            </a:r>
            <a:br>
              <a:rPr lang="en-GB" sz="1400" b="1" dirty="0" smtClean="0">
                <a:solidFill>
                  <a:schemeClr val="bg2">
                    <a:lumMod val="10000"/>
                  </a:schemeClr>
                </a:solidFill>
                <a:latin typeface="Calibri" panose="020F0502020204030204" pitchFamily="34" charset="0"/>
              </a:rPr>
            </a:br>
            <a:r>
              <a:rPr lang="en-GB" sz="1400" b="1" dirty="0" smtClean="0">
                <a:solidFill>
                  <a:schemeClr val="bg2">
                    <a:lumMod val="10000"/>
                  </a:schemeClr>
                </a:solidFill>
                <a:latin typeface="Calibri" panose="020F0502020204030204" pitchFamily="34" charset="0"/>
              </a:rPr>
              <a:t>emplois manufacturiers</a:t>
            </a:r>
            <a:endParaRPr lang="en-GB" sz="1400" b="1" dirty="0">
              <a:solidFill>
                <a:schemeClr val="bg2">
                  <a:lumMod val="10000"/>
                </a:schemeClr>
              </a:solidFill>
              <a:latin typeface="Calibri" panose="020F0502020204030204" pitchFamily="34" charset="0"/>
            </a:endParaRPr>
          </a:p>
        </p:txBody>
      </p:sp>
      <p:cxnSp>
        <p:nvCxnSpPr>
          <p:cNvPr id="23" name="Straight Arrow Connector 22"/>
          <p:cNvCxnSpPr/>
          <p:nvPr/>
        </p:nvCxnSpPr>
        <p:spPr>
          <a:xfrm flipH="1">
            <a:off x="1803890" y="5244298"/>
            <a:ext cx="1440160" cy="0"/>
          </a:xfrm>
          <a:prstGeom prst="straightConnector1">
            <a:avLst/>
          </a:prstGeom>
          <a:ln w="12700">
            <a:solidFill>
              <a:schemeClr val="bg2">
                <a:lumMod val="10000"/>
              </a:schemeClr>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08571023"/>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p:txBody>
          <a:bodyPr/>
          <a:lstStyle/>
          <a:p>
            <a:fld id="{FCE284C4-5ED1-4D6C-B7CC-2049C3062C5E}" type="slidenum">
              <a:rPr lang="en-GB" smtClean="0"/>
              <a:t>19</a:t>
            </a:fld>
            <a:endParaRPr lang="en-GB" dirty="0"/>
          </a:p>
        </p:txBody>
      </p:sp>
      <p:sp>
        <p:nvSpPr>
          <p:cNvPr id="9" name="Rectangle 8"/>
          <p:cNvSpPr/>
          <p:nvPr/>
        </p:nvSpPr>
        <p:spPr>
          <a:xfrm>
            <a:off x="323528" y="2492896"/>
            <a:ext cx="8568952" cy="2554545"/>
          </a:xfrm>
          <a:prstGeom prst="rect">
            <a:avLst/>
          </a:prstGeom>
        </p:spPr>
        <p:txBody>
          <a:bodyPr wrap="square">
            <a:spAutoFit/>
          </a:bodyPr>
          <a:lstStyle/>
          <a:p>
            <a:pPr lvl="0" algn="ctr">
              <a:defRPr/>
            </a:pPr>
            <a:r>
              <a:rPr lang="en-US" sz="4000" b="1" dirty="0" smtClean="0">
                <a:solidFill>
                  <a:srgbClr val="006299"/>
                </a:solidFill>
                <a:latin typeface="Arial"/>
              </a:rPr>
              <a:t>Une </a:t>
            </a:r>
            <a:r>
              <a:rPr lang="en-US" sz="4000" b="1" dirty="0">
                <a:solidFill>
                  <a:srgbClr val="006299"/>
                </a:solidFill>
                <a:latin typeface="Arial"/>
              </a:rPr>
              <a:t>approche </a:t>
            </a:r>
            <a:r>
              <a:rPr lang="en-US" sz="4000" b="1" dirty="0" smtClean="0">
                <a:solidFill>
                  <a:srgbClr val="006299"/>
                </a:solidFill>
                <a:latin typeface="Arial"/>
              </a:rPr>
              <a:t>intégrée des </a:t>
            </a:r>
            <a:br>
              <a:rPr lang="en-US" sz="4000" b="1" dirty="0" smtClean="0">
                <a:solidFill>
                  <a:srgbClr val="006299"/>
                </a:solidFill>
                <a:latin typeface="Arial"/>
              </a:rPr>
            </a:br>
            <a:r>
              <a:rPr lang="en-US" sz="4000" b="1" dirty="0" smtClean="0">
                <a:solidFill>
                  <a:srgbClr val="006299"/>
                </a:solidFill>
                <a:latin typeface="Arial"/>
              </a:rPr>
              <a:t>politiques </a:t>
            </a:r>
            <a:r>
              <a:rPr lang="en-US" sz="4000" b="1" dirty="0">
                <a:solidFill>
                  <a:srgbClr val="006299"/>
                </a:solidFill>
                <a:latin typeface="Arial"/>
              </a:rPr>
              <a:t>est </a:t>
            </a:r>
            <a:r>
              <a:rPr lang="en-US" sz="4000" b="1" dirty="0" smtClean="0">
                <a:solidFill>
                  <a:srgbClr val="006299"/>
                </a:solidFill>
                <a:latin typeface="Arial"/>
              </a:rPr>
              <a:t>nécessaire pour répondre aux </a:t>
            </a:r>
            <a:br>
              <a:rPr lang="en-US" sz="4000" b="1" dirty="0" smtClean="0">
                <a:solidFill>
                  <a:srgbClr val="006299"/>
                </a:solidFill>
                <a:latin typeface="Arial"/>
              </a:rPr>
            </a:br>
            <a:r>
              <a:rPr lang="en-US" sz="4000" b="1" dirty="0" smtClean="0">
                <a:solidFill>
                  <a:srgbClr val="006299"/>
                </a:solidFill>
                <a:latin typeface="Arial"/>
              </a:rPr>
              <a:t>tendances structurelles et faire en sorte que la </a:t>
            </a:r>
            <a:br>
              <a:rPr lang="en-US" sz="4000" b="1" dirty="0" smtClean="0">
                <a:solidFill>
                  <a:srgbClr val="006299"/>
                </a:solidFill>
                <a:latin typeface="Arial"/>
              </a:rPr>
            </a:br>
            <a:r>
              <a:rPr lang="en-US" sz="4000" b="1" dirty="0" smtClean="0">
                <a:solidFill>
                  <a:srgbClr val="006299"/>
                </a:solidFill>
                <a:latin typeface="Arial"/>
              </a:rPr>
              <a:t>mondialisation </a:t>
            </a:r>
            <a:r>
              <a:rPr lang="en-US" sz="4000" b="1" dirty="0">
                <a:solidFill>
                  <a:srgbClr val="006299"/>
                </a:solidFill>
                <a:latin typeface="Arial"/>
              </a:rPr>
              <a:t>profite à tous</a:t>
            </a:r>
          </a:p>
        </p:txBody>
      </p:sp>
    </p:spTree>
    <p:extLst>
      <p:ext uri="{BB962C8B-B14F-4D97-AF65-F5344CB8AC3E}">
        <p14:creationId xmlns:p14="http://schemas.microsoft.com/office/powerpoint/2010/main" val="3418968418"/>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2" descr="\\main.oecd.org\sdataECO\Units\FRONTOFFICE\Economic Outlooks\EO101\Data and charts\PPT_Figs_E\E_Handout_Fig_GfG_Reforms_Trade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2466" y="1803122"/>
            <a:ext cx="4277184" cy="4938246"/>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1"/>
          <p:cNvSpPr>
            <a:spLocks noGrp="1"/>
          </p:cNvSpPr>
          <p:nvPr>
            <p:ph type="sldNum" sz="quarter" idx="12"/>
          </p:nvPr>
        </p:nvSpPr>
        <p:spPr/>
        <p:txBody>
          <a:bodyPr/>
          <a:lstStyle/>
          <a:p>
            <a:fld id="{FCE284C4-5ED1-4D6C-B7CC-2049C3062C5E}" type="slidenum">
              <a:rPr lang="en-GB" smtClean="0"/>
              <a:t>20</a:t>
            </a:fld>
            <a:endParaRPr lang="en-GB" dirty="0"/>
          </a:p>
        </p:txBody>
      </p:sp>
      <p:sp>
        <p:nvSpPr>
          <p:cNvPr id="4" name="Rectangle 3"/>
          <p:cNvSpPr/>
          <p:nvPr/>
        </p:nvSpPr>
        <p:spPr>
          <a:xfrm>
            <a:off x="539552" y="246721"/>
            <a:ext cx="8509760" cy="954107"/>
          </a:xfrm>
          <a:prstGeom prst="rect">
            <a:avLst/>
          </a:prstGeom>
        </p:spPr>
        <p:txBody>
          <a:bodyPr wrap="square">
            <a:spAutoFit/>
          </a:bodyPr>
          <a:lstStyle/>
          <a:p>
            <a:pPr lvl="0" algn="ctr"/>
            <a:r>
              <a:rPr lang="en-GB" sz="2800" b="1" dirty="0">
                <a:solidFill>
                  <a:srgbClr val="006299"/>
                </a:solidFill>
                <a:latin typeface="Arial"/>
              </a:rPr>
              <a:t>Améliorer le fonctionnement du système international </a:t>
            </a:r>
            <a:r>
              <a:rPr lang="en-GB" sz="2800" b="1" dirty="0" smtClean="0">
                <a:solidFill>
                  <a:srgbClr val="006299"/>
                </a:solidFill>
                <a:latin typeface="Arial"/>
              </a:rPr>
              <a:t>et mieux l'adapter,</a:t>
            </a:r>
            <a:br>
              <a:rPr lang="en-GB" sz="2800" b="1" dirty="0" smtClean="0">
                <a:solidFill>
                  <a:srgbClr val="006299"/>
                </a:solidFill>
                <a:latin typeface="Arial"/>
              </a:rPr>
            </a:br>
            <a:r>
              <a:rPr lang="en-GB" sz="2800" b="1" dirty="0" smtClean="0">
                <a:solidFill>
                  <a:srgbClr val="006299"/>
                </a:solidFill>
                <a:latin typeface="Arial"/>
              </a:rPr>
              <a:t>afin de </a:t>
            </a:r>
            <a:r>
              <a:rPr lang="en-GB" sz="2800" b="1" dirty="0">
                <a:solidFill>
                  <a:srgbClr val="006299"/>
                </a:solidFill>
                <a:latin typeface="Arial"/>
              </a:rPr>
              <a:t>créer des conditions de concurrence plus équitables</a:t>
            </a:r>
          </a:p>
        </p:txBody>
      </p:sp>
      <p:graphicFrame>
        <p:nvGraphicFramePr>
          <p:cNvPr id="16" name="Diagram 15"/>
          <p:cNvGraphicFramePr/>
          <p:nvPr>
            <p:extLst>
              <p:ext uri="{D42A27DB-BD31-4B8C-83A1-F6EECF244321}">
                <p14:modId xmlns:p14="http://schemas.microsoft.com/office/powerpoint/2010/main" val="2048557882"/>
              </p:ext>
            </p:extLst>
          </p:nvPr>
        </p:nvGraphicFramePr>
        <p:xfrm>
          <a:off x="4499992" y="1628800"/>
          <a:ext cx="4536504" cy="4896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2" name="TextBox 11"/>
          <p:cNvSpPr txBox="1"/>
          <p:nvPr/>
        </p:nvSpPr>
        <p:spPr>
          <a:xfrm>
            <a:off x="298439" y="6442502"/>
            <a:ext cx="4248472" cy="415498"/>
          </a:xfrm>
          <a:prstGeom prst="rect">
            <a:avLst/>
          </a:prstGeom>
          <a:noFill/>
        </p:spPr>
        <p:txBody>
          <a:bodyPr wrap="square" rtlCol="0">
            <a:spAutoFit/>
          </a:bodyPr>
          <a:lstStyle/>
          <a:p>
            <a:r>
              <a:rPr lang="en-GB" sz="1050" dirty="0" smtClean="0">
                <a:solidFill>
                  <a:schemeClr val="bg2">
                    <a:lumMod val="10000"/>
                  </a:schemeClr>
                </a:solidFill>
                <a:latin typeface="Calibri" panose="020F0502020204030204" pitchFamily="34" charset="0"/>
              </a:rPr>
              <a:t>Note : inclut tous les pays de l'OCDE et les BRIICS, l'UE et la Colombie.</a:t>
            </a:r>
          </a:p>
          <a:p>
            <a:r>
              <a:rPr lang="en-GB" sz="1050" dirty="0" smtClean="0">
                <a:solidFill>
                  <a:schemeClr val="bg2">
                    <a:lumMod val="10000"/>
                  </a:schemeClr>
                </a:solidFill>
                <a:latin typeface="Calibri" panose="020F0502020204030204" pitchFamily="34" charset="0"/>
              </a:rPr>
              <a:t>Source : OCDE </a:t>
            </a:r>
            <a:r>
              <a:rPr lang="en-GB" sz="1050" i="1" dirty="0" smtClean="0">
                <a:solidFill>
                  <a:schemeClr val="bg2">
                    <a:lumMod val="10000"/>
                  </a:schemeClr>
                </a:solidFill>
                <a:latin typeface="Calibri" panose="020F0502020204030204" pitchFamily="34" charset="0"/>
              </a:rPr>
              <a:t>Objectif croissance </a:t>
            </a:r>
            <a:r>
              <a:rPr lang="en-GB" sz="1050" dirty="0" smtClean="0">
                <a:solidFill>
                  <a:schemeClr val="bg2">
                    <a:lumMod val="10000"/>
                  </a:schemeClr>
                </a:solidFill>
                <a:latin typeface="Calibri" panose="020F0502020204030204" pitchFamily="34" charset="0"/>
              </a:rPr>
              <a:t>2017</a:t>
            </a:r>
            <a:endParaRPr lang="en-GB" sz="1050" dirty="0">
              <a:solidFill>
                <a:schemeClr val="bg2">
                  <a:lumMod val="10000"/>
                </a:schemeClr>
              </a:solidFill>
              <a:latin typeface="Calibri" panose="020F0502020204030204" pitchFamily="34" charset="0"/>
            </a:endParaRPr>
          </a:p>
        </p:txBody>
      </p:sp>
      <p:sp>
        <p:nvSpPr>
          <p:cNvPr id="10" name="TextBox 9"/>
          <p:cNvSpPr txBox="1"/>
          <p:nvPr/>
        </p:nvSpPr>
        <p:spPr>
          <a:xfrm>
            <a:off x="-244002" y="1323915"/>
            <a:ext cx="4824536" cy="769441"/>
          </a:xfrm>
          <a:prstGeom prst="rect">
            <a:avLst/>
          </a:prstGeom>
          <a:noFill/>
        </p:spPr>
        <p:txBody>
          <a:bodyPr wrap="square" rtlCol="0">
            <a:spAutoFit/>
          </a:bodyPr>
          <a:lstStyle/>
          <a:p>
            <a:pPr lvl="0" algn="ctr"/>
            <a:r>
              <a:rPr lang="en-US" sz="1600" b="1" dirty="0">
                <a:solidFill>
                  <a:schemeClr val="bg2">
                    <a:lumMod val="10000"/>
                  </a:schemeClr>
                </a:solidFill>
                <a:latin typeface="Calibri" pitchFamily="34" charset="0"/>
              </a:rPr>
              <a:t>Mesures prises en réponse aux recommandations de l'OCDE </a:t>
            </a:r>
            <a:r>
              <a:rPr lang="en-US" sz="1600" b="1" i="1" dirty="0">
                <a:solidFill>
                  <a:schemeClr val="bg2">
                    <a:lumMod val="10000"/>
                  </a:schemeClr>
                </a:solidFill>
                <a:latin typeface="Calibri" pitchFamily="34" charset="0"/>
              </a:rPr>
              <a:t>Objectif croissance </a:t>
            </a:r>
            <a:r>
              <a:rPr lang="en-US" sz="1600" b="1" dirty="0" smtClean="0">
                <a:solidFill>
                  <a:schemeClr val="bg2">
                    <a:lumMod val="10000"/>
                  </a:schemeClr>
                </a:solidFill>
                <a:latin typeface="Calibri" pitchFamily="34" charset="0"/>
              </a:rPr>
              <a:t>recommandations</a:t>
            </a:r>
            <a:br>
              <a:rPr lang="en-US" sz="1600" b="1" dirty="0" smtClean="0">
                <a:solidFill>
                  <a:schemeClr val="bg2">
                    <a:lumMod val="10000"/>
                  </a:schemeClr>
                </a:solidFill>
                <a:latin typeface="Calibri" pitchFamily="34" charset="0"/>
              </a:rPr>
            </a:br>
            <a:r>
              <a:rPr lang="en-US" sz="1200" i="1" dirty="0" smtClean="0">
                <a:solidFill>
                  <a:schemeClr val="bg2">
                    <a:lumMod val="10000"/>
                  </a:schemeClr>
                </a:solidFill>
                <a:latin typeface="Calibri" pitchFamily="34" charset="0"/>
              </a:rPr>
              <a:t>Nombre de réformes, 2015-16</a:t>
            </a:r>
            <a:endParaRPr lang="en-US" sz="1200" i="1" dirty="0">
              <a:solidFill>
                <a:schemeClr val="bg2">
                  <a:lumMod val="10000"/>
                </a:schemeClr>
              </a:solidFill>
              <a:latin typeface="Calibri" pitchFamily="34" charset="0"/>
            </a:endParaRPr>
          </a:p>
        </p:txBody>
      </p:sp>
    </p:spTree>
    <p:extLst>
      <p:ext uri="{BB962C8B-B14F-4D97-AF65-F5344CB8AC3E}">
        <p14:creationId xmlns:p14="http://schemas.microsoft.com/office/powerpoint/2010/main" val="546262073"/>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362" name="Picture 2" descr="\\main.oecd.org\sdataECO\Units\FRONTOFFICE\Economic Outlooks\EO101\Data and charts\PPT_Figs_E\E_Handout_Fig_GfG_Reforms_Others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7504" y="1635074"/>
            <a:ext cx="8957618" cy="4890270"/>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1"/>
          <p:cNvSpPr>
            <a:spLocks noGrp="1"/>
          </p:cNvSpPr>
          <p:nvPr>
            <p:ph type="sldNum" sz="quarter" idx="12"/>
          </p:nvPr>
        </p:nvSpPr>
        <p:spPr/>
        <p:txBody>
          <a:bodyPr/>
          <a:lstStyle/>
          <a:p>
            <a:fld id="{FCE284C4-5ED1-4D6C-B7CC-2049C3062C5E}" type="slidenum">
              <a:rPr lang="en-GB" smtClean="0"/>
              <a:t>21</a:t>
            </a:fld>
            <a:endParaRPr lang="en-GB" dirty="0"/>
          </a:p>
        </p:txBody>
      </p:sp>
      <p:sp>
        <p:nvSpPr>
          <p:cNvPr id="4" name="Rectangle 3"/>
          <p:cNvSpPr/>
          <p:nvPr/>
        </p:nvSpPr>
        <p:spPr>
          <a:xfrm>
            <a:off x="467544" y="221321"/>
            <a:ext cx="8509760" cy="954107"/>
          </a:xfrm>
          <a:prstGeom prst="rect">
            <a:avLst/>
          </a:prstGeom>
        </p:spPr>
        <p:txBody>
          <a:bodyPr wrap="square">
            <a:spAutoFit/>
          </a:bodyPr>
          <a:lstStyle/>
          <a:p>
            <a:pPr algn="ctr">
              <a:defRPr/>
            </a:pPr>
            <a:r>
              <a:rPr lang="en-US" sz="2800" b="1" dirty="0" smtClean="0">
                <a:solidFill>
                  <a:schemeClr val="tx2"/>
                </a:solidFill>
                <a:latin typeface="+mj-lt"/>
              </a:rPr>
              <a:t>Mettre en œuvre des programmes de réformes nationales</a:t>
            </a:r>
            <a:br>
              <a:rPr lang="en-US" sz="2800" b="1" dirty="0" smtClean="0">
                <a:solidFill>
                  <a:schemeClr val="tx2"/>
                </a:solidFill>
                <a:latin typeface="+mj-lt"/>
              </a:rPr>
            </a:br>
            <a:r>
              <a:rPr lang="en-US" sz="2800" b="1" dirty="0" smtClean="0">
                <a:solidFill>
                  <a:schemeClr val="tx2"/>
                </a:solidFill>
                <a:latin typeface="+mj-lt"/>
              </a:rPr>
              <a:t>pour renforcer une croissance inclusive</a:t>
            </a:r>
            <a:endParaRPr lang="en-GB" sz="2800" b="1" dirty="0">
              <a:solidFill>
                <a:schemeClr val="tx2"/>
              </a:solidFill>
              <a:latin typeface="+mj-lt"/>
            </a:endParaRPr>
          </a:p>
        </p:txBody>
      </p:sp>
      <p:sp>
        <p:nvSpPr>
          <p:cNvPr id="8" name="TextBox 7"/>
          <p:cNvSpPr txBox="1"/>
          <p:nvPr/>
        </p:nvSpPr>
        <p:spPr>
          <a:xfrm>
            <a:off x="886272" y="1315367"/>
            <a:ext cx="7327056" cy="338554"/>
          </a:xfrm>
          <a:prstGeom prst="rect">
            <a:avLst/>
          </a:prstGeom>
          <a:noFill/>
        </p:spPr>
        <p:txBody>
          <a:bodyPr wrap="square" rtlCol="0">
            <a:spAutoFit/>
          </a:bodyPr>
          <a:lstStyle/>
          <a:p>
            <a:pPr lvl="0" algn="ctr"/>
            <a:r>
              <a:rPr lang="en-US" sz="1600" b="1" dirty="0">
                <a:solidFill>
                  <a:schemeClr val="bg2">
                    <a:lumMod val="10000"/>
                  </a:schemeClr>
                </a:solidFill>
                <a:latin typeface="Calibri" pitchFamily="34" charset="0"/>
              </a:rPr>
              <a:t>Mesures prises en réponse aux recommandations de l'OCDE </a:t>
            </a:r>
            <a:r>
              <a:rPr lang="en-US" sz="1600" b="1" i="1" dirty="0">
                <a:solidFill>
                  <a:schemeClr val="bg2">
                    <a:lumMod val="10000"/>
                  </a:schemeClr>
                </a:solidFill>
                <a:latin typeface="Calibri" pitchFamily="34" charset="0"/>
              </a:rPr>
              <a:t>Objectif croissance </a:t>
            </a:r>
            <a:r>
              <a:rPr lang="en-US" sz="1600" b="1" dirty="0" smtClean="0">
                <a:solidFill>
                  <a:schemeClr val="bg2">
                    <a:lumMod val="10000"/>
                  </a:schemeClr>
                </a:solidFill>
                <a:latin typeface="Calibri" pitchFamily="34" charset="0"/>
              </a:rPr>
              <a:t>recommandations</a:t>
            </a:r>
            <a:endParaRPr lang="en-US" sz="1600" b="1" dirty="0">
              <a:solidFill>
                <a:schemeClr val="bg2">
                  <a:lumMod val="10000"/>
                </a:schemeClr>
              </a:solidFill>
              <a:latin typeface="Calibri" pitchFamily="34" charset="0"/>
            </a:endParaRPr>
          </a:p>
        </p:txBody>
      </p:sp>
      <p:sp>
        <p:nvSpPr>
          <p:cNvPr id="9" name="TextBox 8"/>
          <p:cNvSpPr txBox="1"/>
          <p:nvPr/>
        </p:nvSpPr>
        <p:spPr>
          <a:xfrm>
            <a:off x="755576" y="6441871"/>
            <a:ext cx="4248472" cy="415498"/>
          </a:xfrm>
          <a:prstGeom prst="rect">
            <a:avLst/>
          </a:prstGeom>
          <a:noFill/>
        </p:spPr>
        <p:txBody>
          <a:bodyPr wrap="square" rtlCol="0">
            <a:spAutoFit/>
          </a:bodyPr>
          <a:lstStyle/>
          <a:p>
            <a:r>
              <a:rPr lang="en-GB" sz="1050" dirty="0" smtClean="0">
                <a:solidFill>
                  <a:schemeClr val="bg2">
                    <a:lumMod val="10000"/>
                  </a:schemeClr>
                </a:solidFill>
                <a:latin typeface="Calibri" panose="020F0502020204030204" pitchFamily="34" charset="0"/>
              </a:rPr>
              <a:t>Note : inclut tous les pays de l'OCDE et les BRIICS, l'UE et la Colombie.</a:t>
            </a:r>
          </a:p>
          <a:p>
            <a:r>
              <a:rPr lang="en-GB" sz="1050" dirty="0" smtClean="0">
                <a:solidFill>
                  <a:schemeClr val="bg2">
                    <a:lumMod val="10000"/>
                  </a:schemeClr>
                </a:solidFill>
                <a:latin typeface="Calibri" panose="020F0502020204030204" pitchFamily="34" charset="0"/>
              </a:rPr>
              <a:t>Source : OCDE </a:t>
            </a:r>
            <a:r>
              <a:rPr lang="en-GB" sz="1050" i="1" dirty="0" smtClean="0">
                <a:solidFill>
                  <a:schemeClr val="bg2">
                    <a:lumMod val="10000"/>
                  </a:schemeClr>
                </a:solidFill>
                <a:latin typeface="Calibri" panose="020F0502020204030204" pitchFamily="34" charset="0"/>
              </a:rPr>
              <a:t>Objectif croissance </a:t>
            </a:r>
            <a:r>
              <a:rPr lang="en-GB" sz="1050" dirty="0" smtClean="0">
                <a:solidFill>
                  <a:schemeClr val="bg2">
                    <a:lumMod val="10000"/>
                  </a:schemeClr>
                </a:solidFill>
                <a:latin typeface="Calibri" panose="020F0502020204030204" pitchFamily="34" charset="0"/>
              </a:rPr>
              <a:t>2017</a:t>
            </a:r>
            <a:endParaRPr lang="en-GB" sz="1050" dirty="0">
              <a:solidFill>
                <a:schemeClr val="bg2">
                  <a:lumMod val="10000"/>
                </a:schemeClr>
              </a:solidFill>
              <a:latin typeface="Calibri" panose="020F0502020204030204" pitchFamily="34" charset="0"/>
            </a:endParaRPr>
          </a:p>
        </p:txBody>
      </p:sp>
    </p:spTree>
    <p:extLst>
      <p:ext uri="{BB962C8B-B14F-4D97-AF65-F5344CB8AC3E}">
        <p14:creationId xmlns:p14="http://schemas.microsoft.com/office/powerpoint/2010/main" val="344726614"/>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827584" y="243713"/>
            <a:ext cx="7920880" cy="954107"/>
          </a:xfrm>
          <a:prstGeom prst="rect">
            <a:avLst/>
          </a:prstGeom>
        </p:spPr>
        <p:txBody>
          <a:bodyPr wrap="square">
            <a:spAutoFit/>
          </a:bodyPr>
          <a:lstStyle/>
          <a:p>
            <a:pPr algn="ctr">
              <a:defRPr/>
            </a:pPr>
            <a:r>
              <a:rPr lang="en-US" sz="2800" b="1" dirty="0" smtClean="0">
                <a:solidFill>
                  <a:schemeClr val="tx2"/>
                </a:solidFill>
                <a:latin typeface="+mj-lt"/>
              </a:rPr>
              <a:t> Aider les personnes et les travailleurs déplacés </a:t>
            </a:r>
            <a:br>
              <a:rPr lang="en-US" sz="2800" b="1" dirty="0" smtClean="0">
                <a:solidFill>
                  <a:schemeClr val="tx2"/>
                </a:solidFill>
                <a:latin typeface="+mj-lt"/>
              </a:rPr>
            </a:br>
            <a:r>
              <a:rPr lang="en-US" sz="2800" b="1" dirty="0" smtClean="0">
                <a:solidFill>
                  <a:schemeClr val="tx2"/>
                </a:solidFill>
                <a:latin typeface="+mj-lt"/>
              </a:rPr>
              <a:t>à s'adapter et à saisir de nouvelles opportunités</a:t>
            </a:r>
          </a:p>
        </p:txBody>
      </p:sp>
      <p:sp>
        <p:nvSpPr>
          <p:cNvPr id="7" name="Slide Number Placeholder 6"/>
          <p:cNvSpPr>
            <a:spLocks noGrp="1"/>
          </p:cNvSpPr>
          <p:nvPr>
            <p:ph type="sldNum" sz="quarter" idx="12"/>
          </p:nvPr>
        </p:nvSpPr>
        <p:spPr/>
        <p:txBody>
          <a:bodyPr/>
          <a:lstStyle/>
          <a:p>
            <a:fld id="{FCE284C4-5ED1-4D6C-B7CC-2049C3062C5E}" type="slidenum">
              <a:rPr lang="en-GB" smtClean="0"/>
              <a:t>22</a:t>
            </a:fld>
            <a:endParaRPr lang="en-GB" dirty="0"/>
          </a:p>
        </p:txBody>
      </p:sp>
      <p:sp>
        <p:nvSpPr>
          <p:cNvPr id="6" name="TextBox 5"/>
          <p:cNvSpPr txBox="1"/>
          <p:nvPr/>
        </p:nvSpPr>
        <p:spPr>
          <a:xfrm>
            <a:off x="792229" y="6396335"/>
            <a:ext cx="7297353" cy="461665"/>
          </a:xfrm>
          <a:prstGeom prst="rect">
            <a:avLst/>
          </a:prstGeom>
          <a:noFill/>
        </p:spPr>
        <p:txBody>
          <a:bodyPr wrap="square" rtlCol="0">
            <a:spAutoFit/>
          </a:bodyPr>
          <a:lstStyle/>
          <a:p>
            <a:endParaRPr lang="en-US" sz="1200" dirty="0" smtClean="0">
              <a:solidFill>
                <a:schemeClr val="bg2">
                  <a:lumMod val="10000"/>
                </a:schemeClr>
              </a:solidFill>
              <a:latin typeface="Calibri" panose="020F0502020204030204" pitchFamily="34" charset="0"/>
            </a:endParaRPr>
          </a:p>
          <a:p>
            <a:r>
              <a:rPr lang="en-GB" sz="1200" dirty="0" smtClean="0">
                <a:solidFill>
                  <a:schemeClr val="bg2">
                    <a:lumMod val="10000"/>
                  </a:schemeClr>
                </a:solidFill>
                <a:latin typeface="Calibri" panose="020F0502020204030204" pitchFamily="34" charset="0"/>
              </a:rPr>
              <a:t>Source : </a:t>
            </a:r>
            <a:r>
              <a:rPr lang="en-US" sz="1200" dirty="0" smtClean="0">
                <a:solidFill>
                  <a:schemeClr val="bg2">
                    <a:lumMod val="10000"/>
                  </a:schemeClr>
                </a:solidFill>
                <a:latin typeface="Calibri" panose="020F0502020204030204" pitchFamily="34" charset="0"/>
              </a:rPr>
              <a:t>OCDE </a:t>
            </a:r>
            <a:r>
              <a:rPr lang="en-US" sz="1200" i="1" dirty="0" smtClean="0">
                <a:solidFill>
                  <a:schemeClr val="bg2">
                    <a:lumMod val="10000"/>
                  </a:schemeClr>
                </a:solidFill>
                <a:latin typeface="Calibri" panose="020F0502020204030204" pitchFamily="34" charset="0"/>
              </a:rPr>
              <a:t>Objectif croissance </a:t>
            </a:r>
            <a:r>
              <a:rPr lang="en-US" sz="1200" dirty="0" smtClean="0">
                <a:solidFill>
                  <a:schemeClr val="bg2">
                    <a:lumMod val="10000"/>
                  </a:schemeClr>
                </a:solidFill>
                <a:latin typeface="Calibri" panose="020F0502020204030204" pitchFamily="34" charset="0"/>
              </a:rPr>
              <a:t>2017.</a:t>
            </a:r>
            <a:endParaRPr lang="en-GB" sz="1200" dirty="0">
              <a:solidFill>
                <a:schemeClr val="bg2">
                  <a:lumMod val="10000"/>
                </a:schemeClr>
              </a:solidFill>
              <a:latin typeface="Calibri" panose="020F050202020403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3501722210"/>
              </p:ext>
            </p:extLst>
          </p:nvPr>
        </p:nvGraphicFramePr>
        <p:xfrm>
          <a:off x="738565" y="1412772"/>
          <a:ext cx="7937892" cy="5036646"/>
        </p:xfrm>
        <a:graphic>
          <a:graphicData uri="http://schemas.openxmlformats.org/drawingml/2006/table">
            <a:tbl>
              <a:tblPr/>
              <a:tblGrid>
                <a:gridCol w="661491"/>
                <a:gridCol w="661491"/>
                <a:gridCol w="661491"/>
                <a:gridCol w="661491"/>
                <a:gridCol w="661491"/>
                <a:gridCol w="661491"/>
                <a:gridCol w="661491"/>
                <a:gridCol w="661491"/>
                <a:gridCol w="661491"/>
                <a:gridCol w="661491"/>
                <a:gridCol w="661491"/>
                <a:gridCol w="661491"/>
              </a:tblGrid>
              <a:tr h="383161">
                <a:tc gridSpan="7">
                  <a:txBody>
                    <a:bodyPr/>
                    <a:lstStyle/>
                    <a:p>
                      <a:pPr algn="l" rtl="0" fontAlgn="t"/>
                      <a:r>
                        <a:rPr lang="en-GB" sz="1600" b="0" i="1" u="none" strike="noStrike" dirty="0">
                          <a:solidFill>
                            <a:srgbClr val="171717"/>
                          </a:solidFill>
                          <a:effectLst/>
                          <a:latin typeface="Calibri"/>
                        </a:rPr>
                        <a:t> </a:t>
                      </a:r>
                    </a:p>
                  </a:txBody>
                  <a:tcPr marL="9525" marR="9525" marT="9525" marB="0">
                    <a:lnL>
                      <a:noFill/>
                    </a:lnL>
                    <a:lnR>
                      <a:noFill/>
                    </a:lnR>
                    <a:lnT>
                      <a:noFill/>
                    </a:lnT>
                    <a:lnB>
                      <a:noFill/>
                    </a:lnB>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gridSpan="4">
                  <a:txBody>
                    <a:bodyPr/>
                    <a:lstStyle/>
                    <a:p>
                      <a:pPr marL="0" algn="ctr" rtl="0" eaLnBrk="1" fontAlgn="ctr" latinLnBrk="0" hangingPunct="1"/>
                      <a:r>
                        <a:rPr kumimoji="0" lang="en-GB" sz="1400" b="1" i="0" u="none" strike="noStrike" kern="1200" dirty="0">
                          <a:solidFill>
                            <a:srgbClr val="171717"/>
                          </a:solidFill>
                          <a:effectLst/>
                          <a:latin typeface="Calibri"/>
                          <a:ea typeface="+mn-ea"/>
                          <a:cs typeface="+mn-cs"/>
                        </a:rPr>
                        <a:t>Countries with </a:t>
                      </a:r>
                      <a:r>
                        <a:rPr kumimoji="0" lang="en-GB" sz="1400" b="1" i="0" u="none" strike="noStrike" kern="1200" dirty="0" smtClean="0">
                          <a:solidFill>
                            <a:srgbClr val="171717"/>
                          </a:solidFill>
                          <a:effectLst/>
                          <a:latin typeface="Calibri"/>
                          <a:ea typeface="+mn-ea"/>
                          <a:cs typeface="+mn-cs"/>
                        </a:rPr>
                        <a:t>OECD</a:t>
                      </a:r>
                      <a:r>
                        <a:rPr kumimoji="0" lang="en-GB" sz="1400" b="1" i="0" u="none" strike="noStrike" kern="1200" baseline="0" dirty="0" smtClean="0">
                          <a:solidFill>
                            <a:srgbClr val="171717"/>
                          </a:solidFill>
                          <a:effectLst/>
                          <a:latin typeface="Calibri"/>
                          <a:ea typeface="+mn-ea"/>
                          <a:cs typeface="+mn-cs"/>
                        </a:rPr>
                        <a:t> </a:t>
                      </a:r>
                      <a:br>
                        <a:rPr kumimoji="0" lang="en-GB" sz="1400" b="1" i="0" u="none" strike="noStrike" kern="1200" baseline="0" dirty="0" smtClean="0">
                          <a:solidFill>
                            <a:srgbClr val="171717"/>
                          </a:solidFill>
                          <a:effectLst/>
                          <a:latin typeface="Calibri"/>
                          <a:ea typeface="+mn-ea"/>
                          <a:cs typeface="+mn-cs"/>
                        </a:rPr>
                      </a:br>
                      <a:r>
                        <a:rPr kumimoji="0" lang="en-GB" sz="1400" b="1" i="1" u="none" strike="noStrike" kern="1200" baseline="0" dirty="0" smtClean="0">
                          <a:solidFill>
                            <a:srgbClr val="171717"/>
                          </a:solidFill>
                          <a:effectLst/>
                          <a:latin typeface="Calibri"/>
                          <a:ea typeface="+mn-ea"/>
                          <a:cs typeface="+mn-cs"/>
                        </a:rPr>
                        <a:t>Going for Growth </a:t>
                      </a:r>
                      <a:r>
                        <a:rPr kumimoji="0" lang="en-GB" sz="1400" b="1" i="0" u="none" strike="noStrike" kern="1200" dirty="0" smtClean="0">
                          <a:solidFill>
                            <a:srgbClr val="171717"/>
                          </a:solidFill>
                          <a:effectLst/>
                          <a:latin typeface="Calibri"/>
                          <a:ea typeface="+mn-ea"/>
                          <a:cs typeface="+mn-cs"/>
                        </a:rPr>
                        <a:t>reform</a:t>
                      </a:r>
                      <a:r>
                        <a:rPr kumimoji="0" lang="en-GB" sz="1400" b="1" i="0" u="none" strike="noStrike" kern="1200" baseline="0" dirty="0" smtClean="0">
                          <a:solidFill>
                            <a:srgbClr val="171717"/>
                          </a:solidFill>
                          <a:effectLst/>
                          <a:latin typeface="Calibri"/>
                          <a:ea typeface="+mn-ea"/>
                          <a:cs typeface="+mn-cs"/>
                        </a:rPr>
                        <a:t> </a:t>
                      </a:r>
                      <a:r>
                        <a:rPr kumimoji="0" lang="en-GB" sz="1400" b="1" i="0" u="none" strike="noStrike" kern="1200" dirty="0" smtClean="0">
                          <a:solidFill>
                            <a:srgbClr val="171717"/>
                          </a:solidFill>
                          <a:effectLst/>
                          <a:latin typeface="Calibri"/>
                          <a:ea typeface="+mn-ea"/>
                          <a:cs typeface="+mn-cs"/>
                        </a:rPr>
                        <a:t>priority </a:t>
                      </a:r>
                      <a:endParaRPr kumimoji="0" lang="en-GB" sz="1400" b="1" i="0" u="none" strike="noStrike" kern="1200" dirty="0">
                        <a:solidFill>
                          <a:srgbClr val="171717"/>
                        </a:solidFill>
                        <a:effectLst/>
                        <a:latin typeface="Calibri"/>
                        <a:ea typeface="+mn-ea"/>
                        <a:cs typeface="+mn-cs"/>
                      </a:endParaRPr>
                    </a:p>
                  </a:txBody>
                  <a:tcPr marL="9525" marR="9525" marT="9525" marB="0" anchor="ctr">
                    <a:lnL>
                      <a:noFill/>
                    </a:lnL>
                    <a:lnR>
                      <a:noFill/>
                    </a:lnR>
                    <a:lnT>
                      <a:noFill/>
                    </a:lnT>
                    <a:lnB w="12700" cap="flat" cmpd="sng" algn="ctr">
                      <a:solidFill>
                        <a:schemeClr val="bg2">
                          <a:lumMod val="10000"/>
                        </a:schemeClr>
                      </a:solidFill>
                      <a:prstDash val="solid"/>
                      <a:round/>
                      <a:headEnd type="none" w="med" len="med"/>
                      <a:tailEnd type="none" w="med" len="med"/>
                    </a:lnB>
                  </a:tcPr>
                </a:tc>
                <a:tc hMerge="1">
                  <a:txBody>
                    <a:bodyPr/>
                    <a:lstStyle/>
                    <a:p>
                      <a:endParaRPr lang="en-GB"/>
                    </a:p>
                  </a:txBody>
                  <a:tcPr/>
                </a:tc>
                <a:tc hMerge="1">
                  <a:txBody>
                    <a:bodyPr/>
                    <a:lstStyle/>
                    <a:p>
                      <a:endParaRPr lang="en-GB"/>
                    </a:p>
                  </a:txBody>
                  <a:tcPr/>
                </a:tc>
                <a:tc hMerge="1">
                  <a:txBody>
                    <a:bodyPr/>
                    <a:lstStyle/>
                    <a:p>
                      <a:endParaRPr lang="en-GB"/>
                    </a:p>
                  </a:txBody>
                  <a:tcPr/>
                </a:tc>
                <a:tc rowSpan="2">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a:noFill/>
                    </a:lnT>
                    <a:lnB w="12700" cap="flat" cmpd="sng" algn="ctr">
                      <a:noFill/>
                      <a:prstDash val="solid"/>
                      <a:round/>
                      <a:headEnd type="none" w="med" len="med"/>
                      <a:tailEnd type="none" w="med" len="med"/>
                    </a:lnB>
                  </a:tcPr>
                </a:tc>
              </a:tr>
              <a:tr h="395521">
                <a:tc gridSpan="7">
                  <a:txBody>
                    <a:bodyPr/>
                    <a:lstStyle/>
                    <a:p>
                      <a:pPr algn="l" rtl="0" fontAlgn="ctr"/>
                      <a:r>
                        <a:rPr kumimoji="0" lang="en-GB" sz="1800" b="1" kern="1200" dirty="0" smtClean="0">
                          <a:solidFill>
                            <a:srgbClr val="17B917"/>
                          </a:solidFill>
                          <a:latin typeface="Calibri" panose="020F0502020204030204" pitchFamily="34" charset="0"/>
                          <a:ea typeface="+mn-ea"/>
                          <a:cs typeface="+mn-cs"/>
                        </a:rPr>
                        <a:t>Help laid-off</a:t>
                      </a:r>
                      <a:r>
                        <a:rPr kumimoji="0" lang="en-GB" sz="1800" b="1" kern="1200" baseline="0" dirty="0" smtClean="0">
                          <a:solidFill>
                            <a:srgbClr val="17B917"/>
                          </a:solidFill>
                          <a:latin typeface="Calibri" panose="020F0502020204030204" pitchFamily="34" charset="0"/>
                          <a:ea typeface="+mn-ea"/>
                          <a:cs typeface="+mn-cs"/>
                        </a:rPr>
                        <a:t> workers to find a new job</a:t>
                      </a:r>
                      <a:endParaRPr lang="en-GB" sz="1800" b="1" i="0" u="none" strike="noStrike" dirty="0">
                        <a:solidFill>
                          <a:srgbClr val="171717"/>
                        </a:solidFill>
                        <a:effectLst/>
                        <a:latin typeface="Calibri"/>
                      </a:endParaRPr>
                    </a:p>
                  </a:txBody>
                  <a:tcPr marL="9525" marR="9525" marT="9525" marB="0" anchor="ctr">
                    <a:lnL>
                      <a:noFill/>
                    </a:lnL>
                    <a:lnR>
                      <a:noFill/>
                    </a:lnR>
                    <a:lnT>
                      <a:noFill/>
                    </a:lnT>
                    <a:lnB>
                      <a:noFill/>
                    </a:lnB>
                  </a:tcPr>
                </a:tc>
                <a:tc hMerge="1">
                  <a:txBody>
                    <a:bodyPr/>
                    <a:lstStyle/>
                    <a:p>
                      <a:pPr algn="l" rtl="0" fontAlgn="ctr"/>
                      <a:endParaRPr lang="en-GB" sz="1600" b="1" i="0" u="none" strike="noStrike" dirty="0">
                        <a:solidFill>
                          <a:srgbClr val="171717"/>
                        </a:solidFill>
                        <a:effectLst/>
                        <a:latin typeface="Calibri"/>
                      </a:endParaRPr>
                    </a:p>
                  </a:txBody>
                  <a:tcPr marL="9525" marR="9525" marT="9525" marB="0" anchor="ctr">
                    <a:lnL>
                      <a:noFill/>
                    </a:lnL>
                    <a:lnR>
                      <a:noFill/>
                    </a:lnR>
                    <a:lnT>
                      <a:noFill/>
                    </a:lnT>
                    <a:lnB>
                      <a:noFill/>
                    </a:lnB>
                  </a:tcPr>
                </a:tc>
                <a:tc hMerge="1">
                  <a:txBody>
                    <a:bodyPr/>
                    <a:lstStyle/>
                    <a:p>
                      <a:pPr algn="l" rtl="0" fontAlgn="ctr"/>
                      <a:endParaRPr lang="en-GB" sz="1600" b="1" i="0" u="none" strike="noStrike" dirty="0">
                        <a:solidFill>
                          <a:srgbClr val="171717"/>
                        </a:solidFill>
                        <a:effectLst/>
                        <a:latin typeface="Calibri"/>
                      </a:endParaRPr>
                    </a:p>
                  </a:txBody>
                  <a:tcPr marL="9525" marR="9525" marT="9525" marB="0" anchor="ctr">
                    <a:lnL>
                      <a:noFill/>
                    </a:lnL>
                    <a:lnR>
                      <a:noFill/>
                    </a:lnR>
                    <a:lnT>
                      <a:noFill/>
                    </a:lnT>
                    <a:lnB>
                      <a:noFill/>
                    </a:lnB>
                  </a:tcPr>
                </a:tc>
                <a:tc hMerge="1">
                  <a:txBody>
                    <a:bodyPr/>
                    <a:lstStyle/>
                    <a:p>
                      <a:pPr algn="l" rtl="0" fontAlgn="ctr"/>
                      <a:endParaRPr lang="en-GB" sz="1600" b="1" i="0" u="none" strike="noStrike" dirty="0">
                        <a:solidFill>
                          <a:srgbClr val="171717"/>
                        </a:solidFill>
                        <a:effectLst/>
                        <a:latin typeface="Calibri"/>
                      </a:endParaRPr>
                    </a:p>
                  </a:txBody>
                  <a:tcPr marL="9525" marR="9525" marT="9525" marB="0" anchor="ctr">
                    <a:lnL>
                      <a:noFill/>
                    </a:lnL>
                    <a:lnR>
                      <a:noFill/>
                    </a:lnR>
                    <a:lnT>
                      <a:noFill/>
                    </a:lnT>
                    <a:lnB>
                      <a:noFill/>
                    </a:lnB>
                  </a:tcPr>
                </a:tc>
                <a:tc hMerge="1">
                  <a:txBody>
                    <a:bodyPr/>
                    <a:lstStyle/>
                    <a:p>
                      <a:pPr algn="l" rtl="0" fontAlgn="ctr"/>
                      <a:endParaRPr lang="en-GB" sz="1600" b="1" i="0" u="none" strike="noStrike" dirty="0">
                        <a:solidFill>
                          <a:srgbClr val="171717"/>
                        </a:solidFill>
                        <a:effectLst/>
                        <a:latin typeface="Calibri"/>
                      </a:endParaRPr>
                    </a:p>
                  </a:txBody>
                  <a:tcPr marL="9525" marR="9525" marT="9525" marB="0" anchor="ctr">
                    <a:lnL>
                      <a:noFill/>
                    </a:lnL>
                    <a:lnR>
                      <a:noFill/>
                    </a:lnR>
                    <a:lnT>
                      <a:noFill/>
                    </a:lnT>
                    <a:lnB>
                      <a:noFill/>
                    </a:lnB>
                  </a:tcPr>
                </a:tc>
                <a:tc hMerge="1">
                  <a:txBody>
                    <a:bodyPr/>
                    <a:lstStyle/>
                    <a:p>
                      <a:pPr algn="l" rtl="0" fontAlgn="ctr"/>
                      <a:endParaRPr lang="en-GB" sz="1600" b="1" i="0" u="none" strike="noStrike" dirty="0">
                        <a:solidFill>
                          <a:srgbClr val="171717"/>
                        </a:solidFill>
                        <a:effectLst/>
                        <a:latin typeface="Calibri"/>
                      </a:endParaRPr>
                    </a:p>
                  </a:txBody>
                  <a:tcPr marL="9525" marR="9525" marT="9525" marB="0" anchor="ctr">
                    <a:lnL>
                      <a:noFill/>
                    </a:lnL>
                    <a:lnR>
                      <a:noFill/>
                    </a:lnR>
                    <a:lnT>
                      <a:noFill/>
                    </a:lnT>
                    <a:lnB>
                      <a:noFill/>
                    </a:lnB>
                  </a:tcPr>
                </a:tc>
                <a:tc hMerge="1">
                  <a:txBody>
                    <a:bodyPr/>
                    <a:lstStyle/>
                    <a:p>
                      <a:pPr algn="l" rtl="0" fontAlgn="ctr"/>
                      <a:endParaRPr lang="en-GB" sz="1600" b="1" i="0" u="none" strike="noStrike" dirty="0">
                        <a:solidFill>
                          <a:srgbClr val="171717"/>
                        </a:solidFill>
                        <a:effectLst/>
                        <a:latin typeface="Calibri"/>
                      </a:endParaRPr>
                    </a:p>
                  </a:txBody>
                  <a:tcPr marL="9525" marR="9525" marT="9525" marB="0" anchor="ctr">
                    <a:lnL>
                      <a:noFill/>
                    </a:lnL>
                    <a:lnR>
                      <a:noFill/>
                    </a:lnR>
                    <a:lnT>
                      <a:noFill/>
                    </a:lnT>
                    <a:lnB>
                      <a:noFill/>
                    </a:lnB>
                  </a:tcPr>
                </a:tc>
                <a:tc>
                  <a:txBody>
                    <a:bodyPr/>
                    <a:lstStyle/>
                    <a:p>
                      <a:pPr algn="ctr" rtl="0" fontAlgn="ctr"/>
                      <a:r>
                        <a:rPr lang="en-GB" sz="1400" b="1" i="0" u="none" strike="noStrike" dirty="0">
                          <a:solidFill>
                            <a:srgbClr val="171717"/>
                          </a:solidFill>
                          <a:effectLst/>
                          <a:latin typeface="Arial Narrow"/>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rgbClr val="171717"/>
                      </a:solidFill>
                      <a:prstDash val="solid"/>
                      <a:round/>
                      <a:headEnd type="none" w="med" len="med"/>
                      <a:tailEnd type="none" w="med" len="med"/>
                    </a:lnB>
                    <a:solidFill>
                      <a:srgbClr val="FFFFFF"/>
                    </a:solidFill>
                  </a:tcPr>
                </a:tc>
                <a:tc>
                  <a:txBody>
                    <a:bodyPr/>
                    <a:lstStyle/>
                    <a:p>
                      <a:pPr algn="ctr" rtl="0" fontAlgn="ctr"/>
                      <a:r>
                        <a:rPr lang="en-GB" sz="1400" b="1" i="0" u="none" strike="noStrike" dirty="0">
                          <a:solidFill>
                            <a:srgbClr val="171717"/>
                          </a:solidFill>
                          <a:effectLst/>
                          <a:latin typeface="Arial Narrow"/>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rgbClr val="171717"/>
                      </a:solidFill>
                      <a:prstDash val="solid"/>
                      <a:round/>
                      <a:headEnd type="none" w="med" len="med"/>
                      <a:tailEnd type="none" w="med" len="med"/>
                    </a:lnB>
                    <a:solidFill>
                      <a:srgbClr val="FFFFFF"/>
                    </a:solidFill>
                  </a:tcPr>
                </a:tc>
                <a:tc>
                  <a:txBody>
                    <a:bodyPr/>
                    <a:lstStyle/>
                    <a:p>
                      <a:pPr algn="ctr" rtl="0" fontAlgn="ctr"/>
                      <a:r>
                        <a:rPr lang="en-GB" sz="1400" b="1" i="0" u="none" strike="noStrike" dirty="0">
                          <a:solidFill>
                            <a:srgbClr val="171717"/>
                          </a:solidFill>
                          <a:effectLst/>
                          <a:latin typeface="Arial Narrow"/>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rgbClr val="171717"/>
                      </a:solidFill>
                      <a:prstDash val="solid"/>
                      <a:round/>
                      <a:headEnd type="none" w="med" len="med"/>
                      <a:tailEnd type="none" w="med" len="med"/>
                    </a:lnB>
                    <a:solidFill>
                      <a:srgbClr val="FFFFFF"/>
                    </a:solidFill>
                  </a:tcPr>
                </a:tc>
                <a:tc>
                  <a:txBody>
                    <a:bodyPr/>
                    <a:lstStyle/>
                    <a:p>
                      <a:pPr algn="ctr" rtl="0" fontAlgn="ctr"/>
                      <a:r>
                        <a:rPr lang="en-GB" sz="1400" b="1" i="0" u="none" strike="noStrike" dirty="0">
                          <a:solidFill>
                            <a:srgbClr val="171717"/>
                          </a:solidFill>
                          <a:effectLst/>
                          <a:latin typeface="Arial Narrow"/>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rgbClr val="171717"/>
                      </a:solidFill>
                      <a:prstDash val="solid"/>
                      <a:round/>
                      <a:headEnd type="none" w="med" len="med"/>
                      <a:tailEnd type="none" w="med" len="med"/>
                    </a:lnB>
                    <a:solidFill>
                      <a:srgbClr val="FFFFFF"/>
                    </a:solidFill>
                  </a:tcPr>
                </a:tc>
                <a:tc vMerge="1">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w="12700" cap="flat" cmpd="sng" algn="ctr">
                      <a:solidFill>
                        <a:schemeClr val="tx1"/>
                      </a:solidFill>
                      <a:prstDash val="solid"/>
                      <a:round/>
                      <a:headEnd type="none" w="med" len="med"/>
                      <a:tailEnd type="none" w="med" len="med"/>
                    </a:lnT>
                    <a:lnB>
                      <a:noFill/>
                    </a:lnB>
                  </a:tcPr>
                </a:tc>
              </a:tr>
              <a:tr h="766321">
                <a:tc gridSpan="7">
                  <a:txBody>
                    <a:bodyPr/>
                    <a:lstStyle/>
                    <a:p>
                      <a:pPr algn="l" rtl="0" fontAlgn="ctr"/>
                      <a:r>
                        <a:rPr lang="en-US" sz="1600" b="1" i="0" u="none" strike="noStrike" dirty="0" smtClean="0">
                          <a:solidFill>
                            <a:schemeClr val="bg2">
                              <a:lumMod val="10000"/>
                            </a:schemeClr>
                          </a:solidFill>
                          <a:effectLst/>
                          <a:latin typeface="Calibri"/>
                        </a:rPr>
                        <a:t>Increase the scope and efficiency of active labour market policies</a:t>
                      </a:r>
                    </a:p>
                  </a:txBody>
                  <a:tcPr marL="9525" marR="9525" marT="9525" marB="0" anchor="ctr">
                    <a:lnL>
                      <a:noFill/>
                    </a:lnL>
                    <a:lnR w="12700" cap="flat" cmpd="sng" algn="ctr">
                      <a:solidFill>
                        <a:srgbClr val="171717"/>
                      </a:solidFill>
                      <a:prstDash val="solid"/>
                      <a:round/>
                      <a:headEnd type="none" w="med" len="med"/>
                      <a:tailEnd type="none" w="med" len="med"/>
                    </a:lnR>
                    <a:lnT>
                      <a:noFill/>
                    </a:lnT>
                    <a:lnB>
                      <a:noFill/>
                    </a:lnB>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gridSpan="4">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GB" sz="1400" b="1" kern="1200" dirty="0" smtClean="0">
                          <a:solidFill>
                            <a:schemeClr val="bg2">
                              <a:lumMod val="10000"/>
                            </a:schemeClr>
                          </a:solidFill>
                          <a:latin typeface="Arial Narrow" panose="020B0606020202030204" pitchFamily="34" charset="0"/>
                          <a:ea typeface="+mn-ea"/>
                          <a:cs typeface="+mn-cs"/>
                        </a:rPr>
                        <a:t>ARG ESP EST GBR GRC ISR ITA JPN LTU LUX LVA NLD SVN SVK USA ZAF</a:t>
                      </a:r>
                      <a:endParaRPr kumimoji="0" lang="en-GB" sz="1400" b="1" kern="1200" dirty="0">
                        <a:solidFill>
                          <a:schemeClr val="bg2">
                            <a:lumMod val="10000"/>
                          </a:schemeClr>
                        </a:solidFill>
                        <a:latin typeface="Arial Narrow" panose="020B0606020202030204" pitchFamily="34" charset="0"/>
                        <a:ea typeface="+mn-ea"/>
                        <a:cs typeface="+mn-cs"/>
                      </a:endParaRPr>
                    </a:p>
                  </a:txBody>
                  <a:tcPr marL="9525" marR="9525" marT="9525" marB="0" anchor="ctr">
                    <a:lnL w="12700" cap="flat" cmpd="sng" algn="ctr">
                      <a:solidFill>
                        <a:srgbClr val="171717"/>
                      </a:solidFill>
                      <a:prstDash val="solid"/>
                      <a:round/>
                      <a:headEnd type="none" w="med" len="med"/>
                      <a:tailEnd type="none" w="med" len="med"/>
                    </a:lnL>
                    <a:lnR w="12700" cap="flat" cmpd="sng" algn="ctr">
                      <a:solidFill>
                        <a:srgbClr val="171717"/>
                      </a:solidFill>
                      <a:prstDash val="solid"/>
                      <a:round/>
                      <a:headEnd type="none" w="med" len="med"/>
                      <a:tailEnd type="none" w="med" len="med"/>
                    </a:lnR>
                    <a:lnT w="12700" cap="flat" cmpd="sng" algn="ctr">
                      <a:solidFill>
                        <a:srgbClr val="171717"/>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solidFill>
                      <a:srgbClr val="FFFFFF"/>
                    </a:solidFill>
                  </a:tcPr>
                </a:tc>
                <a:tc hMerge="1">
                  <a:txBody>
                    <a:bodyPr/>
                    <a:lstStyle/>
                    <a:p>
                      <a:endParaRPr lang="en-GB"/>
                    </a:p>
                  </a:txBody>
                  <a:tcPr/>
                </a:tc>
                <a:tc hMerge="1">
                  <a:txBody>
                    <a:bodyPr/>
                    <a:lstStyle/>
                    <a:p>
                      <a:endParaRPr lang="en-GB"/>
                    </a:p>
                  </a:txBody>
                  <a:tcPr/>
                </a:tc>
                <a:tc hMerge="1">
                  <a:txBody>
                    <a:bodyPr/>
                    <a:lstStyle/>
                    <a:p>
                      <a:endParaRPr lang="en-GB"/>
                    </a:p>
                  </a:txBody>
                  <a:tcPr/>
                </a:tc>
                <a:tc>
                  <a:txBody>
                    <a:bodyPr/>
                    <a:lstStyle/>
                    <a:p>
                      <a:pPr algn="l" fontAlgn="ctr"/>
                      <a:endParaRPr lang="en-GB" sz="1800" b="0" i="0" u="none" strike="noStrike" dirty="0">
                        <a:solidFill>
                          <a:srgbClr val="000000"/>
                        </a:solidFill>
                        <a:effectLst/>
                        <a:latin typeface="Arial"/>
                      </a:endParaRPr>
                    </a:p>
                  </a:txBody>
                  <a:tcPr marL="9525" marR="9525" marT="9525" marB="0" anchor="ctr">
                    <a:lnL w="12700" cap="flat" cmpd="sng" algn="ctr">
                      <a:solidFill>
                        <a:srgbClr val="171717"/>
                      </a:solidFill>
                      <a:prstDash val="solid"/>
                      <a:round/>
                      <a:headEnd type="none" w="med" len="med"/>
                      <a:tailEnd type="none" w="med" len="med"/>
                    </a:lnL>
                    <a:lnR>
                      <a:noFill/>
                    </a:lnR>
                    <a:lnT>
                      <a:noFill/>
                    </a:lnT>
                    <a:lnB>
                      <a:noFill/>
                    </a:lnB>
                  </a:tcPr>
                </a:tc>
              </a:tr>
              <a:tr h="395521">
                <a:tc>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a:noFill/>
                    </a:lnT>
                    <a:lnB>
                      <a:noFill/>
                    </a:lnB>
                  </a:tcPr>
                </a:tc>
                <a:tc>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a:noFill/>
                    </a:lnT>
                    <a:lnB>
                      <a:noFill/>
                    </a:lnB>
                  </a:tcPr>
                </a:tc>
                <a:tc>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a:noFill/>
                    </a:lnT>
                    <a:lnB>
                      <a:noFill/>
                    </a:lnB>
                  </a:tcPr>
                </a:tc>
                <a:tc>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a:noFill/>
                    </a:lnT>
                    <a:lnB>
                      <a:noFill/>
                    </a:lnB>
                  </a:tcPr>
                </a:tc>
                <a:tc>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a:noFill/>
                    </a:lnT>
                    <a:lnB>
                      <a:noFill/>
                    </a:lnB>
                  </a:tcPr>
                </a:tc>
                <a:tc>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a:noFill/>
                    </a:lnT>
                    <a:lnB>
                      <a:noFill/>
                    </a:lnB>
                  </a:tcPr>
                </a:tc>
                <a:tc>
                  <a:txBody>
                    <a:bodyPr/>
                    <a:lstStyle/>
                    <a:p>
                      <a:pPr algn="ctr" rtl="0" fontAlgn="ctr"/>
                      <a:endParaRPr lang="en-GB" sz="1400" b="0" i="0" u="none" strike="noStrike" dirty="0">
                        <a:solidFill>
                          <a:srgbClr val="171717"/>
                        </a:solidFill>
                        <a:effectLst/>
                        <a:latin typeface="Calibri"/>
                      </a:endParaRPr>
                    </a:p>
                  </a:txBody>
                  <a:tcPr marL="9525" marR="9525" marT="9525" marB="0" anchor="ctr">
                    <a:lnL>
                      <a:noFill/>
                    </a:lnL>
                    <a:lnR>
                      <a:noFill/>
                    </a:lnR>
                    <a:lnT>
                      <a:noFill/>
                    </a:lnT>
                    <a:lnB>
                      <a:noFill/>
                    </a:lnB>
                  </a:tcPr>
                </a:tc>
                <a:tc>
                  <a:txBody>
                    <a:bodyPr/>
                    <a:lstStyle/>
                    <a:p>
                      <a:pPr algn="ctr" fontAlgn="ctr"/>
                      <a:r>
                        <a:rPr lang="en-GB" sz="1800" b="0" i="0" u="none" strike="noStrike" dirty="0">
                          <a:solidFill>
                            <a:srgbClr val="000000"/>
                          </a:solidFill>
                          <a:effectLst/>
                          <a:latin typeface="Arial"/>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ctr"/>
                      <a:r>
                        <a:rPr lang="en-GB" sz="1800" b="0" i="0" u="none" strike="noStrike" dirty="0">
                          <a:solidFill>
                            <a:srgbClr val="000000"/>
                          </a:solidFill>
                          <a:effectLst/>
                          <a:latin typeface="Arial"/>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ctr"/>
                      <a:r>
                        <a:rPr lang="en-GB" sz="1800" b="0" i="0" u="none" strike="noStrike" dirty="0">
                          <a:solidFill>
                            <a:srgbClr val="000000"/>
                          </a:solidFill>
                          <a:effectLst/>
                          <a:latin typeface="Arial"/>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ctr"/>
                      <a:r>
                        <a:rPr lang="en-GB" sz="1800" b="0" i="0" u="none" strike="noStrike" dirty="0">
                          <a:solidFill>
                            <a:srgbClr val="000000"/>
                          </a:solidFill>
                          <a:effectLst/>
                          <a:latin typeface="Arial"/>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ctr"/>
                      <a:endParaRPr lang="en-GB" sz="1800" b="0" i="0" u="none" strike="noStrike" dirty="0">
                        <a:solidFill>
                          <a:srgbClr val="000000"/>
                        </a:solidFill>
                        <a:effectLst/>
                        <a:latin typeface="Arial"/>
                      </a:endParaRPr>
                    </a:p>
                  </a:txBody>
                  <a:tcPr marL="9525" marR="9525" marT="9525" marB="0" anchor="ctr">
                    <a:lnL>
                      <a:noFill/>
                    </a:lnL>
                    <a:lnR>
                      <a:noFill/>
                    </a:lnR>
                    <a:lnT>
                      <a:noFill/>
                    </a:lnT>
                    <a:lnB>
                      <a:noFill/>
                    </a:lnB>
                  </a:tcPr>
                </a:tc>
              </a:tr>
              <a:tr h="645193">
                <a:tc gridSpan="7">
                  <a:txBody>
                    <a:bodyPr/>
                    <a:lstStyle/>
                    <a:p>
                      <a:pPr algn="l" rtl="0" fontAlgn="ctr"/>
                      <a:r>
                        <a:rPr lang="en-US" sz="1600" b="1" i="0" u="none" strike="noStrike" dirty="0" smtClean="0">
                          <a:solidFill>
                            <a:schemeClr val="bg2">
                              <a:lumMod val="10000"/>
                            </a:schemeClr>
                          </a:solidFill>
                          <a:effectLst/>
                          <a:latin typeface="Calibri"/>
                        </a:rPr>
                        <a:t>Boost job creation by reducing the tax wedge on </a:t>
                      </a:r>
                      <a:br>
                        <a:rPr lang="en-US" sz="1600" b="1" i="0" u="none" strike="noStrike" dirty="0" smtClean="0">
                          <a:solidFill>
                            <a:schemeClr val="bg2">
                              <a:lumMod val="10000"/>
                            </a:schemeClr>
                          </a:solidFill>
                          <a:effectLst/>
                          <a:latin typeface="Calibri"/>
                        </a:rPr>
                      </a:br>
                      <a:r>
                        <a:rPr lang="en-US" sz="1600" b="1" i="0" u="none" strike="noStrike" dirty="0" smtClean="0">
                          <a:solidFill>
                            <a:schemeClr val="bg2">
                              <a:lumMod val="10000"/>
                            </a:schemeClr>
                          </a:solidFill>
                          <a:effectLst/>
                          <a:latin typeface="Calibri"/>
                        </a:rPr>
                        <a:t>low-skilled workers </a:t>
                      </a:r>
                    </a:p>
                  </a:txBody>
                  <a:tcPr marL="9525" marR="9525" marT="9525" marB="0" anchor="ctr">
                    <a:lnL>
                      <a:noFill/>
                    </a:lnL>
                    <a:lnR w="12700" cap="flat" cmpd="sng" algn="ctr">
                      <a:solidFill>
                        <a:schemeClr val="bg2">
                          <a:lumMod val="10000"/>
                        </a:schemeClr>
                      </a:solidFill>
                      <a:prstDash val="solid"/>
                      <a:round/>
                      <a:headEnd type="none" w="med" len="med"/>
                      <a:tailEnd type="none" w="med" len="med"/>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gridSpan="4">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kumimoji="0" lang="en-GB" sz="1400" b="1" kern="1200" dirty="0" smtClean="0">
                          <a:solidFill>
                            <a:schemeClr val="bg2">
                              <a:lumMod val="10000"/>
                            </a:schemeClr>
                          </a:solidFill>
                          <a:latin typeface="Arial Narrow" panose="020B0606020202030204" pitchFamily="34" charset="0"/>
                          <a:ea typeface="+mn-ea"/>
                          <a:cs typeface="+mn-cs"/>
                        </a:rPr>
                        <a:t>BEL DEU ESP EST HUN </a:t>
                      </a:r>
                      <a:br>
                        <a:rPr kumimoji="0" lang="en-GB" sz="1400" b="1" kern="1200" dirty="0" smtClean="0">
                          <a:solidFill>
                            <a:schemeClr val="bg2">
                              <a:lumMod val="10000"/>
                            </a:schemeClr>
                          </a:solidFill>
                          <a:latin typeface="Arial Narrow" panose="020B0606020202030204" pitchFamily="34" charset="0"/>
                          <a:ea typeface="+mn-ea"/>
                          <a:cs typeface="+mn-cs"/>
                        </a:rPr>
                      </a:br>
                      <a:r>
                        <a:rPr kumimoji="0" lang="en-GB" sz="1400" b="1" kern="1200" dirty="0" smtClean="0">
                          <a:solidFill>
                            <a:schemeClr val="bg2">
                              <a:lumMod val="10000"/>
                            </a:schemeClr>
                          </a:solidFill>
                          <a:latin typeface="Arial Narrow" panose="020B0606020202030204" pitchFamily="34" charset="0"/>
                          <a:ea typeface="+mn-ea"/>
                          <a:cs typeface="+mn-cs"/>
                        </a:rPr>
                        <a:t>ITA LVA NLD POL TUR</a:t>
                      </a:r>
                      <a:endParaRPr kumimoji="0" lang="en-GB" sz="1400" b="1" kern="1200" dirty="0">
                        <a:solidFill>
                          <a:schemeClr val="bg2">
                            <a:lumMod val="10000"/>
                          </a:schemeClr>
                        </a:solidFill>
                        <a:latin typeface="Arial Narrow" panose="020B0606020202030204" pitchFamily="34" charset="0"/>
                        <a:ea typeface="+mn-ea"/>
                        <a:cs typeface="+mn-cs"/>
                      </a:endParaRPr>
                    </a:p>
                  </a:txBody>
                  <a:tcPr marL="9525" marR="9525" marT="9525" marB="0" anchor="ctr">
                    <a:lnL w="12700" cap="flat" cmpd="sng" algn="ctr">
                      <a:solidFill>
                        <a:schemeClr val="bg2">
                          <a:lumMod val="10000"/>
                        </a:schemeClr>
                      </a:solidFill>
                      <a:prstDash val="solid"/>
                      <a:round/>
                      <a:headEnd type="none" w="med" len="med"/>
                      <a:tailEnd type="none" w="med" len="med"/>
                    </a:lnL>
                    <a:lnR w="12700" cap="flat" cmpd="sng" algn="ctr">
                      <a:solidFill>
                        <a:schemeClr val="bg2">
                          <a:lumMod val="10000"/>
                        </a:schemeClr>
                      </a:solidFill>
                      <a:prstDash val="solid"/>
                      <a:round/>
                      <a:headEnd type="none" w="med" len="med"/>
                      <a:tailEnd type="none" w="med" len="med"/>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endParaRPr lang="en-GB" sz="1800" b="0" i="0" u="none" strike="noStrike" dirty="0">
                        <a:solidFill>
                          <a:srgbClr val="000000"/>
                        </a:solidFill>
                        <a:effectLst/>
                        <a:latin typeface="Arial"/>
                      </a:endParaRPr>
                    </a:p>
                  </a:txBody>
                  <a:tcPr marL="9525" marR="9525" marT="9525" marB="0" anchor="ctr">
                    <a:lnL w="12700" cap="flat" cmpd="sng" algn="ctr">
                      <a:solidFill>
                        <a:schemeClr val="bg2">
                          <a:lumMod val="10000"/>
                        </a:schemeClr>
                      </a:solidFill>
                      <a:prstDash val="solid"/>
                      <a:round/>
                      <a:headEnd type="none" w="med" len="med"/>
                      <a:tailEnd type="none" w="med" len="med"/>
                    </a:lnL>
                    <a:lnR>
                      <a:noFill/>
                    </a:lnR>
                    <a:lnT>
                      <a:noFill/>
                    </a:lnT>
                    <a:lnB>
                      <a:noFill/>
                    </a:lnB>
                  </a:tcPr>
                </a:tc>
              </a:tr>
              <a:tr h="395521">
                <a:tc gridSpan="6">
                  <a:txBody>
                    <a:bodyPr/>
                    <a:lstStyle/>
                    <a:p>
                      <a:pPr algn="l" fontAlgn="ctr"/>
                      <a:endParaRPr lang="en-GB" sz="1800" b="0" i="0" u="none" strike="noStrike" dirty="0">
                        <a:solidFill>
                          <a:srgbClr val="000000"/>
                        </a:solidFill>
                        <a:effectLst/>
                        <a:latin typeface="Calibri" panose="020F0502020204030204" pitchFamily="34" charset="0"/>
                      </a:endParaRPr>
                    </a:p>
                  </a:txBody>
                  <a:tcPr marL="9525" marR="9525" marT="9525" marB="0" anchor="ctr">
                    <a:lnL>
                      <a:noFill/>
                    </a:lnL>
                    <a:lnR>
                      <a:noFill/>
                    </a:lnR>
                    <a:lnT>
                      <a:noFill/>
                    </a:lnT>
                    <a:lnB>
                      <a:noFill/>
                    </a:lnB>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gridSpan="6">
                  <a:txBody>
                    <a:bodyPr/>
                    <a:lstStyle/>
                    <a:p>
                      <a:pPr algn="ctr" rtl="0" fontAlgn="ctr"/>
                      <a:endParaRPr lang="en-GB" sz="1400" b="0" i="0" u="none" strike="noStrike" dirty="0">
                        <a:solidFill>
                          <a:srgbClr val="171717"/>
                        </a:solidFill>
                        <a:effectLst/>
                        <a:latin typeface="Calibri"/>
                      </a:endParaRPr>
                    </a:p>
                  </a:txBody>
                  <a:tcPr marL="9525" marR="9525" marT="9525" marB="0" anchor="ctr">
                    <a:lnL>
                      <a:noFill/>
                    </a:lnL>
                    <a:lnR>
                      <a:noFill/>
                    </a:lnR>
                    <a:lnT>
                      <a:noFill/>
                    </a:lnT>
                    <a:lnB>
                      <a:noFill/>
                    </a:lnB>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r>
              <a:tr h="395521">
                <a:tc gridSpan="6">
                  <a:txBody>
                    <a:bodyPr/>
                    <a:lstStyle/>
                    <a:p>
                      <a:pPr algn="l" fontAlgn="ctr"/>
                      <a:r>
                        <a:rPr kumimoji="0" lang="en-GB" b="1" kern="1200" dirty="0" smtClean="0">
                          <a:solidFill>
                            <a:srgbClr val="17B917"/>
                          </a:solidFill>
                          <a:latin typeface="Calibri" panose="020F0502020204030204" pitchFamily="34" charset="0"/>
                          <a:ea typeface="+mn-ea"/>
                          <a:cs typeface="+mn-cs"/>
                        </a:rPr>
                        <a:t>Better prepare</a:t>
                      </a:r>
                      <a:r>
                        <a:rPr kumimoji="0" lang="en-GB" b="1" kern="1200" baseline="0" dirty="0" smtClean="0">
                          <a:solidFill>
                            <a:srgbClr val="17B917"/>
                          </a:solidFill>
                          <a:latin typeface="Calibri" panose="020F0502020204030204" pitchFamily="34" charset="0"/>
                          <a:ea typeface="+mn-ea"/>
                          <a:cs typeface="+mn-cs"/>
                        </a:rPr>
                        <a:t> people</a:t>
                      </a:r>
                      <a:r>
                        <a:rPr kumimoji="0" lang="en-GB" b="1" kern="1200" dirty="0" smtClean="0">
                          <a:solidFill>
                            <a:srgbClr val="17B917"/>
                          </a:solidFill>
                          <a:latin typeface="Calibri" panose="020F0502020204030204" pitchFamily="34" charset="0"/>
                          <a:ea typeface="+mn-ea"/>
                          <a:cs typeface="+mn-cs"/>
                        </a:rPr>
                        <a:t> for work</a:t>
                      </a:r>
                      <a:endParaRPr lang="en-GB" sz="1800" b="0" i="0" u="none" strike="noStrike" dirty="0">
                        <a:solidFill>
                          <a:srgbClr val="000000"/>
                        </a:solidFill>
                        <a:effectLst/>
                        <a:latin typeface="Calibri" panose="020F0502020204030204" pitchFamily="34" charset="0"/>
                      </a:endParaRPr>
                    </a:p>
                  </a:txBody>
                  <a:tcPr marL="9525" marR="9525" marT="9525" marB="0" anchor="ct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gridSpan="6">
                  <a:txBody>
                    <a:bodyPr/>
                    <a:lstStyle/>
                    <a:p>
                      <a:pPr algn="ctr" rtl="0" fontAlgn="ctr"/>
                      <a:endParaRPr lang="en-GB" sz="1400" b="0" i="0" u="none" strike="noStrike" dirty="0">
                        <a:solidFill>
                          <a:srgbClr val="171717"/>
                        </a:solidFill>
                        <a:effectLst/>
                        <a:latin typeface="Calibri"/>
                      </a:endParaRPr>
                    </a:p>
                  </a:txBody>
                  <a:tcPr marL="9525" marR="9525" marT="9525" marB="0" anchor="ctr">
                    <a:lnL>
                      <a:noFill/>
                    </a:lnL>
                    <a:lnR>
                      <a:noFill/>
                    </a:lnR>
                    <a:lnT>
                      <a:noFill/>
                    </a:lnT>
                    <a:lnB>
                      <a:noFill/>
                    </a:lnB>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a:noFill/>
                    </a:lnT>
                    <a:lnB>
                      <a:noFill/>
                    </a:lnB>
                  </a:tcPr>
                </a:tc>
              </a:tr>
              <a:tr h="645193">
                <a:tc gridSpan="7">
                  <a:txBody>
                    <a:bodyPr/>
                    <a:lstStyle/>
                    <a:p>
                      <a:pPr algn="l" rtl="0" fontAlgn="ctr"/>
                      <a:r>
                        <a:rPr lang="en-US" sz="1600" b="1" i="0" u="none" strike="noStrike" dirty="0" smtClean="0">
                          <a:solidFill>
                            <a:srgbClr val="171717"/>
                          </a:solidFill>
                          <a:effectLst/>
                          <a:latin typeface="Calibri"/>
                        </a:rPr>
                        <a:t>Expand and improve vocational training </a:t>
                      </a:r>
                      <a:br>
                        <a:rPr lang="en-US" sz="1600" b="1" i="0" u="none" strike="noStrike" dirty="0" smtClean="0">
                          <a:solidFill>
                            <a:srgbClr val="171717"/>
                          </a:solidFill>
                          <a:effectLst/>
                          <a:latin typeface="Calibri"/>
                        </a:rPr>
                      </a:br>
                      <a:r>
                        <a:rPr lang="en-US" sz="1600" b="1" i="0" u="none" strike="noStrike" dirty="0" smtClean="0">
                          <a:solidFill>
                            <a:srgbClr val="171717"/>
                          </a:solidFill>
                          <a:effectLst/>
                          <a:latin typeface="Calibri"/>
                        </a:rPr>
                        <a:t>and education</a:t>
                      </a:r>
                      <a:endParaRPr lang="en-US" sz="1600" b="1" i="0" u="none" strike="noStrike" dirty="0">
                        <a:solidFill>
                          <a:srgbClr val="171717"/>
                        </a:solidFill>
                        <a:effectLst/>
                        <a:latin typeface="Calibri"/>
                      </a:endParaRPr>
                    </a:p>
                  </a:txBody>
                  <a:tcPr marL="9525" marR="9525" marT="9525" marB="0" anchor="ctr">
                    <a:lnL>
                      <a:noFill/>
                    </a:lnL>
                    <a:lnR w="12700" cap="flat" cmpd="sng" algn="ctr">
                      <a:solidFill>
                        <a:schemeClr val="bg2">
                          <a:lumMod val="10000"/>
                        </a:schemeClr>
                      </a:solidFill>
                      <a:prstDash val="solid"/>
                      <a:round/>
                      <a:headEnd type="none" w="med" len="med"/>
                      <a:tailEnd type="none" w="med" len="med"/>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gridSpan="4">
                  <a:txBody>
                    <a:bodyPr/>
                    <a:lstStyle/>
                    <a:p>
                      <a:pPr algn="ctr" rtl="0" fontAlgn="ctr"/>
                      <a:r>
                        <a:rPr lang="en-GB" sz="1400" b="1" i="0" u="none" strike="noStrike" dirty="0" smtClean="0">
                          <a:solidFill>
                            <a:srgbClr val="171717"/>
                          </a:solidFill>
                          <a:effectLst/>
                          <a:latin typeface="Arial Narrow"/>
                        </a:rPr>
                        <a:t>ARG BRA CHN DNK ESP EST FRA GBR GRC IND POL PRT TUR ZAF</a:t>
                      </a:r>
                      <a:endParaRPr lang="en-GB" sz="1400" b="1" i="0" u="none" strike="noStrike" dirty="0">
                        <a:solidFill>
                          <a:srgbClr val="171717"/>
                        </a:solidFill>
                        <a:effectLst/>
                        <a:latin typeface="Arial Narrow"/>
                      </a:endParaRPr>
                    </a:p>
                  </a:txBody>
                  <a:tcPr marL="9525" marR="9525" marT="9525" marB="0" anchor="ctr">
                    <a:lnL w="12700" cap="flat" cmpd="sng" algn="ctr">
                      <a:solidFill>
                        <a:schemeClr val="bg2">
                          <a:lumMod val="10000"/>
                        </a:schemeClr>
                      </a:solidFill>
                      <a:prstDash val="solid"/>
                      <a:round/>
                      <a:headEnd type="none" w="med" len="med"/>
                      <a:tailEnd type="none" w="med" len="med"/>
                    </a:lnL>
                    <a:lnR w="12700" cap="flat" cmpd="sng" algn="ctr">
                      <a:solidFill>
                        <a:schemeClr val="bg2">
                          <a:lumMod val="10000"/>
                        </a:schemeClr>
                      </a:solidFill>
                      <a:prstDash val="solid"/>
                      <a:round/>
                      <a:headEnd type="none" w="med" len="med"/>
                      <a:tailEnd type="none" w="med" len="med"/>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fontAlgn="ctr"/>
                      <a:endParaRPr lang="en-GB" sz="1400" b="1" i="0" u="none" strike="noStrike" dirty="0">
                        <a:solidFill>
                          <a:srgbClr val="171717"/>
                        </a:solidFill>
                        <a:effectLst/>
                        <a:latin typeface="Arial Narrow"/>
                      </a:endParaRPr>
                    </a:p>
                  </a:txBody>
                  <a:tcPr marL="9525" marR="9525" marT="9525" marB="0" anchor="ctr">
                    <a:lnL w="12700" cap="flat" cmpd="sng" algn="ctr">
                      <a:solidFill>
                        <a:schemeClr val="bg2">
                          <a:lumMod val="10000"/>
                        </a:schemeClr>
                      </a:solidFill>
                      <a:prstDash val="solid"/>
                      <a:round/>
                      <a:headEnd type="none" w="med" len="med"/>
                      <a:tailEnd type="none" w="med" len="med"/>
                    </a:lnL>
                    <a:lnR>
                      <a:noFill/>
                    </a:lnR>
                    <a:lnT>
                      <a:noFill/>
                    </a:lnT>
                    <a:lnB>
                      <a:noFill/>
                    </a:lnB>
                  </a:tcPr>
                </a:tc>
              </a:tr>
              <a:tr h="395521">
                <a:tc gridSpan="6">
                  <a:txBody>
                    <a:bodyPr/>
                    <a:lstStyle/>
                    <a:p>
                      <a:pPr marL="0" marR="0" indent="0" algn="l" defTabSz="914400" rtl="0" eaLnBrk="1" fontAlgn="ctr" latinLnBrk="0" hangingPunct="1">
                        <a:lnSpc>
                          <a:spcPct val="100000"/>
                        </a:lnSpc>
                        <a:spcBef>
                          <a:spcPts val="0"/>
                        </a:spcBef>
                        <a:spcAft>
                          <a:spcPts val="0"/>
                        </a:spcAft>
                        <a:buClrTx/>
                        <a:buSzTx/>
                        <a:buFontTx/>
                        <a:buNone/>
                        <a:tabLst/>
                        <a:defRPr/>
                      </a:pPr>
                      <a:endParaRPr lang="en-GB" sz="1800" b="0" i="0" u="none" strike="noStrike" dirty="0" smtClean="0">
                        <a:solidFill>
                          <a:srgbClr val="000000"/>
                        </a:solidFill>
                        <a:effectLst/>
                        <a:latin typeface="Calibri" panose="020F0502020204030204" pitchFamily="34" charset="0"/>
                      </a:endParaRPr>
                    </a:p>
                  </a:txBody>
                  <a:tcPr marL="9525" marR="9525" marT="9525" marB="0" anchor="ct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a:noFill/>
                    </a:lnT>
                    <a:lnB>
                      <a:noFill/>
                    </a:lnB>
                  </a:tcPr>
                </a:tc>
                <a:tc>
                  <a:txBody>
                    <a:bodyPr/>
                    <a:lstStyle/>
                    <a:p>
                      <a:pPr algn="ctr" rtl="0" fontAlgn="ctr"/>
                      <a:r>
                        <a:rPr lang="en-GB" sz="1400" b="1" i="0" u="none" strike="noStrike" dirty="0">
                          <a:solidFill>
                            <a:srgbClr val="171717"/>
                          </a:solidFill>
                          <a:effectLst/>
                          <a:latin typeface="Arial Narrow"/>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fontAlgn="ctr"/>
                      <a:r>
                        <a:rPr lang="en-GB" sz="1400" b="1" i="0" u="none" strike="noStrike" dirty="0">
                          <a:solidFill>
                            <a:srgbClr val="171717"/>
                          </a:solidFill>
                          <a:effectLst/>
                          <a:latin typeface="Arial Narrow"/>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fontAlgn="ctr"/>
                      <a:r>
                        <a:rPr lang="en-GB" sz="1400" b="1" i="0" u="none" strike="noStrike" dirty="0">
                          <a:solidFill>
                            <a:srgbClr val="171717"/>
                          </a:solidFill>
                          <a:effectLst/>
                          <a:latin typeface="Arial Narrow"/>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fontAlgn="ctr"/>
                      <a:r>
                        <a:rPr lang="en-GB" sz="1400" b="1" i="0" u="none" strike="noStrike" dirty="0">
                          <a:solidFill>
                            <a:srgbClr val="171717"/>
                          </a:solidFill>
                          <a:effectLst/>
                          <a:latin typeface="Arial Narrow"/>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a:noFill/>
                    </a:lnT>
                    <a:lnB>
                      <a:noFill/>
                    </a:lnB>
                  </a:tcPr>
                </a:tc>
              </a:tr>
              <a:tr h="566089">
                <a:tc gridSpan="7">
                  <a:txBody>
                    <a:bodyPr/>
                    <a:lstStyle/>
                    <a:p>
                      <a:pPr algn="l" rtl="0" fontAlgn="ctr"/>
                      <a:r>
                        <a:rPr lang="en-US" sz="1600" b="1" i="0" u="none" strike="noStrike" dirty="0" smtClean="0">
                          <a:solidFill>
                            <a:srgbClr val="171717"/>
                          </a:solidFill>
                          <a:effectLst/>
                          <a:latin typeface="Calibri"/>
                        </a:rPr>
                        <a:t>Allocate education</a:t>
                      </a:r>
                      <a:r>
                        <a:rPr lang="en-US" sz="1600" b="1" i="0" u="none" strike="noStrike" baseline="0" dirty="0" smtClean="0">
                          <a:solidFill>
                            <a:srgbClr val="171717"/>
                          </a:solidFill>
                          <a:effectLst/>
                          <a:latin typeface="Calibri"/>
                        </a:rPr>
                        <a:t> </a:t>
                      </a:r>
                      <a:r>
                        <a:rPr lang="en-US" sz="1600" b="1" i="0" u="none" strike="noStrike" dirty="0" smtClean="0">
                          <a:solidFill>
                            <a:srgbClr val="171717"/>
                          </a:solidFill>
                          <a:effectLst/>
                          <a:latin typeface="Calibri"/>
                        </a:rPr>
                        <a:t>resources more equitably </a:t>
                      </a:r>
                      <a:endParaRPr lang="en-US" sz="1600" b="1" i="0" u="none" strike="noStrike" dirty="0">
                        <a:solidFill>
                          <a:srgbClr val="171717"/>
                        </a:solidFill>
                        <a:effectLst/>
                        <a:latin typeface="Calibri"/>
                      </a:endParaRPr>
                    </a:p>
                  </a:txBody>
                  <a:tcPr marL="9525" marR="9525" marT="9525" marB="0" anchor="ctr">
                    <a:lnL>
                      <a:noFill/>
                    </a:lnL>
                    <a:lnR w="12700" cap="flat" cmpd="sng" algn="ctr">
                      <a:solidFill>
                        <a:schemeClr val="bg2">
                          <a:lumMod val="10000"/>
                        </a:schemeClr>
                      </a:solidFill>
                      <a:prstDash val="solid"/>
                      <a:round/>
                      <a:headEnd type="none" w="med" len="med"/>
                      <a:tailEnd type="none" w="med" len="med"/>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dirty="0"/>
                    </a:p>
                  </a:txBody>
                  <a:tcPr>
                    <a:lnL>
                      <a:noFill/>
                    </a:lnL>
                    <a:lnR>
                      <a:noFill/>
                    </a:lnR>
                    <a:lnT>
                      <a:noFill/>
                    </a:lnT>
                    <a:lnB>
                      <a:noFill/>
                    </a:lnB>
                  </a:tcPr>
                </a:tc>
                <a:tc gridSpan="4">
                  <a:txBody>
                    <a:bodyPr/>
                    <a:lstStyle/>
                    <a:p>
                      <a:pPr algn="ctr" rtl="0" fontAlgn="ctr"/>
                      <a:r>
                        <a:rPr lang="en-GB" sz="1400" b="1" i="0" u="none" strike="noStrike" dirty="0" smtClean="0">
                          <a:solidFill>
                            <a:srgbClr val="171717"/>
                          </a:solidFill>
                          <a:effectLst/>
                          <a:latin typeface="Arial Narrow"/>
                        </a:rPr>
                        <a:t>CRI CZE DEU DNK FRA HUN </a:t>
                      </a:r>
                      <a:br>
                        <a:rPr lang="en-GB" sz="1400" b="1" i="0" u="none" strike="noStrike" dirty="0" smtClean="0">
                          <a:solidFill>
                            <a:srgbClr val="171717"/>
                          </a:solidFill>
                          <a:effectLst/>
                          <a:latin typeface="Arial Narrow"/>
                        </a:rPr>
                      </a:br>
                      <a:r>
                        <a:rPr lang="en-GB" sz="1400" b="1" i="0" u="none" strike="noStrike" dirty="0" smtClean="0">
                          <a:solidFill>
                            <a:srgbClr val="171717"/>
                          </a:solidFill>
                          <a:effectLst/>
                          <a:latin typeface="Arial Narrow"/>
                        </a:rPr>
                        <a:t>NZL POL PRT SWE USA</a:t>
                      </a:r>
                      <a:endParaRPr lang="en-GB" sz="1400" b="1" i="0" u="none" strike="noStrike" dirty="0">
                        <a:solidFill>
                          <a:srgbClr val="171717"/>
                        </a:solidFill>
                        <a:effectLst/>
                        <a:latin typeface="Arial Narrow"/>
                      </a:endParaRPr>
                    </a:p>
                  </a:txBody>
                  <a:tcPr marL="9525" marR="9525" marT="9525" marB="0" anchor="ctr">
                    <a:lnL w="12700" cap="flat" cmpd="sng" algn="ctr">
                      <a:solidFill>
                        <a:schemeClr val="bg2">
                          <a:lumMod val="10000"/>
                        </a:schemeClr>
                      </a:solidFill>
                      <a:prstDash val="solid"/>
                      <a:round/>
                      <a:headEnd type="none" w="med" len="med"/>
                      <a:tailEnd type="none" w="med" len="med"/>
                    </a:lnL>
                    <a:lnR w="12700" cap="flat" cmpd="sng" algn="ctr">
                      <a:solidFill>
                        <a:schemeClr val="bg2">
                          <a:lumMod val="10000"/>
                        </a:schemeClr>
                      </a:solidFill>
                      <a:prstDash val="solid"/>
                      <a:round/>
                      <a:headEnd type="none" w="med" len="med"/>
                      <a:tailEnd type="none" w="med" len="med"/>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endParaRPr lang="en-GB" sz="1800" b="0" i="0" u="none" strike="noStrike" dirty="0">
                        <a:solidFill>
                          <a:srgbClr val="000000"/>
                        </a:solidFill>
                        <a:effectLst/>
                        <a:latin typeface="Arial"/>
                      </a:endParaRPr>
                    </a:p>
                  </a:txBody>
                  <a:tcPr marL="9525" marR="9525" marT="9525" marB="0" anchor="ctr">
                    <a:lnL w="12700" cap="flat" cmpd="sng" algn="ctr">
                      <a:solidFill>
                        <a:schemeClr val="bg2">
                          <a:lumMod val="10000"/>
                        </a:schemeClr>
                      </a:solidFill>
                      <a:prstDash val="solid"/>
                      <a:round/>
                      <a:headEnd type="none" w="med" len="med"/>
                      <a:tailEnd type="none" w="med" len="med"/>
                    </a:lnL>
                    <a:lnR>
                      <a:noFill/>
                    </a:lnR>
                    <a:lnT>
                      <a:noFill/>
                    </a:lnT>
                    <a:lnB>
                      <a:noFill/>
                    </a:lnB>
                  </a:tcPr>
                </a:tc>
              </a:tr>
            </a:tbl>
          </a:graphicData>
        </a:graphic>
      </p:graphicFrame>
    </p:spTree>
    <p:extLst>
      <p:ext uri="{BB962C8B-B14F-4D97-AF65-F5344CB8AC3E}">
        <p14:creationId xmlns:p14="http://schemas.microsoft.com/office/powerpoint/2010/main" val="583728017"/>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683568" y="238255"/>
            <a:ext cx="7920880" cy="954107"/>
          </a:xfrm>
          <a:prstGeom prst="rect">
            <a:avLst/>
          </a:prstGeom>
        </p:spPr>
        <p:txBody>
          <a:bodyPr wrap="square">
            <a:spAutoFit/>
          </a:bodyPr>
          <a:lstStyle/>
          <a:p>
            <a:pPr lvl="0" algn="ctr">
              <a:defRPr/>
            </a:pPr>
            <a:r>
              <a:rPr lang="en-US" sz="2800" b="1" dirty="0" smtClean="0">
                <a:solidFill>
                  <a:srgbClr val="006299"/>
                </a:solidFill>
                <a:latin typeface="Arial"/>
              </a:rPr>
              <a:t>Agir pour renforcer une croissance inclusive et </a:t>
            </a:r>
            <a:br>
              <a:rPr lang="en-US" sz="2800" b="1" dirty="0" smtClean="0">
                <a:solidFill>
                  <a:srgbClr val="006299"/>
                </a:solidFill>
                <a:latin typeface="Arial"/>
              </a:rPr>
            </a:br>
            <a:r>
              <a:rPr lang="en-US" sz="2800" b="1" dirty="0" smtClean="0">
                <a:solidFill>
                  <a:srgbClr val="006299"/>
                </a:solidFill>
                <a:latin typeface="Arial"/>
              </a:rPr>
              <a:t>faire en sorte que la mondialisation profite à tous</a:t>
            </a:r>
            <a:endParaRPr lang="en-US" sz="2800" b="1" dirty="0">
              <a:solidFill>
                <a:srgbClr val="006299"/>
              </a:solidFill>
              <a:latin typeface="Arial"/>
            </a:endParaRPr>
          </a:p>
        </p:txBody>
      </p:sp>
      <p:sp>
        <p:nvSpPr>
          <p:cNvPr id="7" name="Slide Number Placeholder 6"/>
          <p:cNvSpPr>
            <a:spLocks noGrp="1"/>
          </p:cNvSpPr>
          <p:nvPr>
            <p:ph type="sldNum" sz="quarter" idx="12"/>
          </p:nvPr>
        </p:nvSpPr>
        <p:spPr/>
        <p:txBody>
          <a:bodyPr/>
          <a:lstStyle/>
          <a:p>
            <a:fld id="{FCE284C4-5ED1-4D6C-B7CC-2049C3062C5E}" type="slidenum">
              <a:rPr lang="en-GB" smtClean="0"/>
              <a:t>23</a:t>
            </a:fld>
            <a:endParaRPr lang="en-GB" dirty="0"/>
          </a:p>
        </p:txBody>
      </p:sp>
      <p:graphicFrame>
        <p:nvGraphicFramePr>
          <p:cNvPr id="5" name="Diagram 4"/>
          <p:cNvGraphicFramePr/>
          <p:nvPr>
            <p:extLst>
              <p:ext uri="{D42A27DB-BD31-4B8C-83A1-F6EECF244321}">
                <p14:modId xmlns:p14="http://schemas.microsoft.com/office/powerpoint/2010/main" val="2357626800"/>
              </p:ext>
            </p:extLst>
          </p:nvPr>
        </p:nvGraphicFramePr>
        <p:xfrm>
          <a:off x="539552" y="1412776"/>
          <a:ext cx="8208912" cy="504056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TextBox 5"/>
          <p:cNvSpPr txBox="1"/>
          <p:nvPr/>
        </p:nvSpPr>
        <p:spPr>
          <a:xfrm>
            <a:off x="827584" y="2564904"/>
            <a:ext cx="2664296" cy="400110"/>
          </a:xfrm>
          <a:prstGeom prst="rect">
            <a:avLst/>
          </a:prstGeom>
          <a:noFill/>
        </p:spPr>
        <p:txBody>
          <a:bodyPr wrap="square" rtlCol="0">
            <a:spAutoFit/>
          </a:bodyPr>
          <a:lstStyle/>
          <a:p>
            <a:pPr lvl="0"/>
            <a:r>
              <a:rPr lang="en-US" sz="2000" b="1" dirty="0" smtClean="0">
                <a:solidFill>
                  <a:schemeClr val="bg2">
                    <a:lumMod val="10000"/>
                  </a:schemeClr>
                </a:solidFill>
                <a:latin typeface="Calibri" pitchFamily="34" charset="0"/>
              </a:rPr>
              <a:t>Politiques internationales</a:t>
            </a:r>
          </a:p>
        </p:txBody>
      </p:sp>
      <p:sp>
        <p:nvSpPr>
          <p:cNvPr id="8" name="TextBox 7"/>
          <p:cNvSpPr txBox="1"/>
          <p:nvPr/>
        </p:nvSpPr>
        <p:spPr>
          <a:xfrm>
            <a:off x="395536" y="5063698"/>
            <a:ext cx="2664296" cy="400110"/>
          </a:xfrm>
          <a:prstGeom prst="rect">
            <a:avLst/>
          </a:prstGeom>
          <a:noFill/>
        </p:spPr>
        <p:txBody>
          <a:bodyPr wrap="square" rtlCol="0">
            <a:spAutoFit/>
          </a:bodyPr>
          <a:lstStyle/>
          <a:p>
            <a:pPr lvl="0"/>
            <a:r>
              <a:rPr lang="en-US" sz="2000" b="1" dirty="0" smtClean="0">
                <a:solidFill>
                  <a:schemeClr val="bg2">
                    <a:lumMod val="10000"/>
                  </a:schemeClr>
                </a:solidFill>
                <a:latin typeface="Calibri" pitchFamily="34" charset="0"/>
              </a:rPr>
              <a:t>Politiques nationales</a:t>
            </a:r>
          </a:p>
        </p:txBody>
      </p:sp>
    </p:spTree>
    <p:extLst>
      <p:ext uri="{BB962C8B-B14F-4D97-AF65-F5344CB8AC3E}">
        <p14:creationId xmlns:p14="http://schemas.microsoft.com/office/powerpoint/2010/main" val="1673071390"/>
      </p:ext>
    </p:extLst>
  </p:cSld>
  <p:clrMapOvr>
    <a:masterClrMapping/>
  </p:clrMapOvr>
  <p:timing>
    <p:tnLst>
      <p:par>
        <p:cTn id="1" dur="indefinite" restart="never" nodeType="tmRoot"/>
      </p:par>
    </p:tn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ECD_English_white">
  <a:themeElements>
    <a:clrScheme name="OECD white">
      <a:dk1>
        <a:srgbClr val="727272"/>
      </a:dk1>
      <a:lt1>
        <a:sysClr val="window" lastClr="FFFFFF"/>
      </a:lt1>
      <a:dk2>
        <a:srgbClr val="006299"/>
      </a:dk2>
      <a:lt2>
        <a:srgbClr val="E6E6E6"/>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ECD">
      <a:majorFont>
        <a:latin typeface="Arial"/>
        <a:ea typeface=""/>
        <a:cs typeface=""/>
      </a:majorFont>
      <a:minorFont>
        <a:latin typeface="Georgia"/>
        <a:ea typeface=""/>
        <a:cs typeface=""/>
      </a:minorFont>
    </a:fontScheme>
    <a:fmtScheme name="Urban">
      <a:fillStyleLst>
        <a:solidFill>
          <a:schemeClr val="phClr"/>
        </a:solidFill>
        <a:gradFill rotWithShape="1">
          <a:gsLst>
            <a:gs pos="0">
              <a:schemeClr val="phClr">
                <a:tint val="1000"/>
                <a:satMod val="255000"/>
              </a:schemeClr>
            </a:gs>
            <a:gs pos="55000">
              <a:schemeClr val="phClr">
                <a:tint val="12000"/>
                <a:satMod val="255000"/>
              </a:schemeClr>
            </a:gs>
            <a:gs pos="100000">
              <a:schemeClr val="phClr">
                <a:tint val="45000"/>
                <a:satMod val="250000"/>
              </a:schemeClr>
            </a:gs>
          </a:gsLst>
          <a:path path="circle">
            <a:fillToRect l="-40000" t="-90000" r="140000" b="190000"/>
          </a:path>
        </a:gradFill>
        <a:gradFill rotWithShape="1">
          <a:gsLst>
            <a:gs pos="0">
              <a:schemeClr val="phClr">
                <a:tint val="43000"/>
                <a:satMod val="165000"/>
              </a:schemeClr>
            </a:gs>
            <a:gs pos="55000">
              <a:schemeClr val="phClr">
                <a:tint val="83000"/>
                <a:satMod val="155000"/>
              </a:schemeClr>
            </a:gs>
            <a:gs pos="100000">
              <a:schemeClr val="phClr">
                <a:shade val="85000"/>
              </a:schemeClr>
            </a:gs>
          </a:gsLst>
          <a:path path="circle">
            <a:fillToRect l="-40000" t="-90000" r="140000" b="190000"/>
          </a:path>
        </a:gradFill>
      </a:fillStyleLst>
      <a:lnStyleLst>
        <a:ln w="9525" cap="flat" cmpd="sng" algn="ctr">
          <a:solidFill>
            <a:schemeClr val="phClr"/>
          </a:solidFill>
          <a:prstDash val="solid"/>
        </a:ln>
        <a:ln w="19050" cap="flat" cmpd="sng" algn="ctr">
          <a:solidFill>
            <a:schemeClr val="phClr"/>
          </a:solidFill>
          <a:prstDash val="solid"/>
        </a:ln>
        <a:ln w="31750" cap="flat" cmpd="sng" algn="ctr">
          <a:solidFill>
            <a:schemeClr val="phClr"/>
          </a:solidFill>
          <a:prstDash val="solid"/>
        </a:ln>
      </a:lnStyleLst>
      <a:effectStyleLst>
        <a:effectStyle>
          <a:effectLst>
            <a:outerShdw blurRad="51500" dist="25400" dir="5400000" rotWithShape="0">
              <a:srgbClr val="000000">
                <a:alpha val="40000"/>
              </a:srgbClr>
            </a:outerShdw>
          </a:effectLst>
        </a:effectStyle>
        <a:effectStyle>
          <a:effectLst>
            <a:outerShdw blurRad="50800" dist="25400" dir="5400000" rotWithShape="0">
              <a:srgbClr val="000000">
                <a:alpha val="45000"/>
              </a:srgbClr>
            </a:outerShdw>
          </a:effectLst>
        </a:effectStyle>
        <a:effectStyle>
          <a:effectLst>
            <a:outerShdw blurRad="50800" dist="25400" dir="5400000" rotWithShape="0">
              <a:srgbClr val="000000">
                <a:alpha val="45000"/>
              </a:srgbClr>
            </a:outerShdw>
          </a:effectLst>
          <a:scene3d>
            <a:camera prst="orthographicFront" fov="0">
              <a:rot lat="0" lon="0" rev="0"/>
            </a:camera>
            <a:lightRig rig="flat" dir="t">
              <a:rot lat="0" lon="0" rev="20040000"/>
            </a:lightRig>
          </a:scene3d>
          <a:sp3d contourW="12700" prstMaterial="dkEdge">
            <a:bevelT w="25400" h="38100" prst="convex"/>
            <a:contourClr>
              <a:schemeClr val="phClr">
                <a:satMod val="115000"/>
              </a:schemeClr>
            </a:contourClr>
          </a:sp3d>
        </a:effectStyle>
      </a:effectStyleLst>
      <a:bgFillStyleLst>
        <a:solidFill>
          <a:schemeClr val="phClr"/>
        </a:solidFill>
        <a:gradFill rotWithShape="1">
          <a:gsLst>
            <a:gs pos="100000">
              <a:schemeClr val="phClr">
                <a:tint val="80000"/>
                <a:satMod val="250000"/>
              </a:schemeClr>
            </a:gs>
            <a:gs pos="60000">
              <a:schemeClr val="phClr">
                <a:shade val="38000"/>
                <a:satMod val="175000"/>
              </a:schemeClr>
            </a:gs>
            <a:gs pos="0">
              <a:schemeClr val="phClr">
                <a:shade val="30000"/>
                <a:satMod val="175000"/>
              </a:schemeClr>
            </a:gs>
          </a:gsLst>
          <a:lin ang="5400000" scaled="0"/>
        </a:gradFill>
        <a:blipFill>
          <a:blip xmlns:r="http://schemas.openxmlformats.org/officeDocument/2006/relationships" r:embed="rId1">
            <a:duotone>
              <a:schemeClr val="phClr">
                <a:shade val="48000"/>
              </a:schemeClr>
              <a:schemeClr val="phClr">
                <a:tint val="96000"/>
                <a:satMod val="150000"/>
              </a:schemeClr>
            </a:duotone>
          </a:blip>
          <a:tile tx="0" ty="0" sx="80000" sy="80000" flip="none" algn="tl"/>
        </a:blipFill>
      </a:bgFillStyleLst>
    </a:fmtScheme>
  </a:themeElements>
  <a:objectDefaults/>
  <a:extraClrSchemeLst/>
</a:theme>
</file>

<file path=ppt/theme/theme2.xml><?xml version="1.0" encoding="utf-8"?>
<a:theme xmlns:a="http://schemas.openxmlformats.org/drawingml/2006/main" name="1_OECD_English_white">
  <a:themeElements>
    <a:clrScheme name="OECD white">
      <a:dk1>
        <a:srgbClr val="727272"/>
      </a:dk1>
      <a:lt1>
        <a:sysClr val="window" lastClr="FFFFFF"/>
      </a:lt1>
      <a:dk2>
        <a:srgbClr val="006299"/>
      </a:dk2>
      <a:lt2>
        <a:srgbClr val="E6E6E6"/>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ECD">
      <a:majorFont>
        <a:latin typeface="Arial"/>
        <a:ea typeface=""/>
        <a:cs typeface=""/>
      </a:majorFont>
      <a:minorFont>
        <a:latin typeface="Georgia"/>
        <a:ea typeface=""/>
        <a:cs typeface=""/>
      </a:minorFont>
    </a:fontScheme>
    <a:fmtScheme name="Urban">
      <a:fillStyleLst>
        <a:solidFill>
          <a:schemeClr val="phClr"/>
        </a:solidFill>
        <a:gradFill rotWithShape="1">
          <a:gsLst>
            <a:gs pos="0">
              <a:schemeClr val="phClr">
                <a:tint val="1000"/>
                <a:satMod val="255000"/>
              </a:schemeClr>
            </a:gs>
            <a:gs pos="55000">
              <a:schemeClr val="phClr">
                <a:tint val="12000"/>
                <a:satMod val="255000"/>
              </a:schemeClr>
            </a:gs>
            <a:gs pos="100000">
              <a:schemeClr val="phClr">
                <a:tint val="45000"/>
                <a:satMod val="250000"/>
              </a:schemeClr>
            </a:gs>
          </a:gsLst>
          <a:path path="circle">
            <a:fillToRect l="-40000" t="-90000" r="140000" b="190000"/>
          </a:path>
        </a:gradFill>
        <a:gradFill rotWithShape="1">
          <a:gsLst>
            <a:gs pos="0">
              <a:schemeClr val="phClr">
                <a:tint val="43000"/>
                <a:satMod val="165000"/>
              </a:schemeClr>
            </a:gs>
            <a:gs pos="55000">
              <a:schemeClr val="phClr">
                <a:tint val="83000"/>
                <a:satMod val="155000"/>
              </a:schemeClr>
            </a:gs>
            <a:gs pos="100000">
              <a:schemeClr val="phClr">
                <a:shade val="85000"/>
              </a:schemeClr>
            </a:gs>
          </a:gsLst>
          <a:path path="circle">
            <a:fillToRect l="-40000" t="-90000" r="140000" b="190000"/>
          </a:path>
        </a:gradFill>
      </a:fillStyleLst>
      <a:lnStyleLst>
        <a:ln w="9525" cap="flat" cmpd="sng" algn="ctr">
          <a:solidFill>
            <a:schemeClr val="phClr"/>
          </a:solidFill>
          <a:prstDash val="solid"/>
        </a:ln>
        <a:ln w="19050" cap="flat" cmpd="sng" algn="ctr">
          <a:solidFill>
            <a:schemeClr val="phClr"/>
          </a:solidFill>
          <a:prstDash val="solid"/>
        </a:ln>
        <a:ln w="31750" cap="flat" cmpd="sng" algn="ctr">
          <a:solidFill>
            <a:schemeClr val="phClr"/>
          </a:solidFill>
          <a:prstDash val="solid"/>
        </a:ln>
      </a:lnStyleLst>
      <a:effectStyleLst>
        <a:effectStyle>
          <a:effectLst>
            <a:outerShdw blurRad="51500" dist="25400" dir="5400000" rotWithShape="0">
              <a:srgbClr val="000000">
                <a:alpha val="40000"/>
              </a:srgbClr>
            </a:outerShdw>
          </a:effectLst>
        </a:effectStyle>
        <a:effectStyle>
          <a:effectLst>
            <a:outerShdw blurRad="50800" dist="25400" dir="5400000" rotWithShape="0">
              <a:srgbClr val="000000">
                <a:alpha val="45000"/>
              </a:srgbClr>
            </a:outerShdw>
          </a:effectLst>
        </a:effectStyle>
        <a:effectStyle>
          <a:effectLst>
            <a:outerShdw blurRad="50800" dist="25400" dir="5400000" rotWithShape="0">
              <a:srgbClr val="000000">
                <a:alpha val="45000"/>
              </a:srgbClr>
            </a:outerShdw>
          </a:effectLst>
          <a:scene3d>
            <a:camera prst="orthographicFront" fov="0">
              <a:rot lat="0" lon="0" rev="0"/>
            </a:camera>
            <a:lightRig rig="flat" dir="t">
              <a:rot lat="0" lon="0" rev="20040000"/>
            </a:lightRig>
          </a:scene3d>
          <a:sp3d contourW="12700" prstMaterial="dkEdge">
            <a:bevelT w="25400" h="38100" prst="convex"/>
            <a:contourClr>
              <a:schemeClr val="phClr">
                <a:satMod val="115000"/>
              </a:schemeClr>
            </a:contourClr>
          </a:sp3d>
        </a:effectStyle>
      </a:effectStyleLst>
      <a:bgFillStyleLst>
        <a:solidFill>
          <a:schemeClr val="phClr"/>
        </a:solidFill>
        <a:gradFill rotWithShape="1">
          <a:gsLst>
            <a:gs pos="100000">
              <a:schemeClr val="phClr">
                <a:tint val="80000"/>
                <a:satMod val="250000"/>
              </a:schemeClr>
            </a:gs>
            <a:gs pos="60000">
              <a:schemeClr val="phClr">
                <a:shade val="38000"/>
                <a:satMod val="175000"/>
              </a:schemeClr>
            </a:gs>
            <a:gs pos="0">
              <a:schemeClr val="phClr">
                <a:shade val="30000"/>
                <a:satMod val="175000"/>
              </a:schemeClr>
            </a:gs>
          </a:gsLst>
          <a:lin ang="5400000" scaled="0"/>
        </a:gradFill>
        <a:blipFill>
          <a:blip xmlns:r="http://schemas.openxmlformats.org/officeDocument/2006/relationships" r:embed="rId1">
            <a:duotone>
              <a:schemeClr val="phClr">
                <a:shade val="48000"/>
              </a:schemeClr>
              <a:schemeClr val="phClr">
                <a:tint val="96000"/>
                <a:satMod val="150000"/>
              </a:schemeClr>
            </a:duotone>
          </a:blip>
          <a:tile tx="0" ty="0" sx="80000" sy="80000" flip="none" algn="tl"/>
        </a:blip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item1.xml><?xml version="1.0" encoding="utf-8"?>
<ct:contentTypeSchema xmlns:ct="http://schemas.microsoft.com/office/2006/metadata/contentType" xmlns:ma="http://schemas.microsoft.com/office/2006/metadata/properties/metaAttributes" ct:_="" ma:_="" ma:contentTypeName="Working Document" ma:contentTypeID="0x0101008B4DD370EC31429186F3AD49F0D3098F00D44DBCB9EB4F45278CB5C9765BE5299500A4858B360C6A491AA753F8BCA47AA91000293773D153AD3C41920164F348570E54" ma:contentTypeVersion="509" ma:contentTypeDescription="Create a new document." ma:contentTypeScope="" ma:versionID="c4c89322ac7d9f1996d365e3690382e3">
  <xsd:schema xmlns:xsd="http://www.w3.org/2001/XMLSchema" xmlns:xs="http://www.w3.org/2001/XMLSchema" xmlns:p="http://schemas.microsoft.com/office/2006/metadata/properties" xmlns:ns1="http://schemas.microsoft.com/sharepoint/v3" xmlns:ns2="54c4cd27-f286-408f-9ce0-33c1e0f3ab39" xmlns:ns3="464847da-6e18-4144-8ad5-5857903e06b6" xmlns:ns4="b028c3f4-2795-4946-841c-2e1644b148e5" xmlns:ns5="c9f238dd-bb73-4aef-a7a5-d644ad823e52" xmlns:ns6="ca82dde9-3436-4d3d-bddd-d31447390034" xmlns:ns7="http://schemas.microsoft.com/sharepoint/v4" targetNamespace="http://schemas.microsoft.com/office/2006/metadata/properties" ma:root="true" ma:fieldsID="2df2112354f40aebef67c0cef3c00b8d" ns1:_="" ns2:_="" ns3:_="" ns4:_="" ns5:_="" ns6:_="" ns7:_="">
    <xsd:import namespace="http://schemas.microsoft.com/sharepoint/v3"/>
    <xsd:import namespace="54c4cd27-f286-408f-9ce0-33c1e0f3ab39"/>
    <xsd:import namespace="464847da-6e18-4144-8ad5-5857903e06b6"/>
    <xsd:import namespace="b028c3f4-2795-4946-841c-2e1644b148e5"/>
    <xsd:import namespace="c9f238dd-bb73-4aef-a7a5-d644ad823e52"/>
    <xsd:import namespace="ca82dde9-3436-4d3d-bddd-d31447390034"/>
    <xsd:import namespace="http://schemas.microsoft.com/sharepoint/v4"/>
    <xsd:element name="properties">
      <xsd:complexType>
        <xsd:sequence>
          <xsd:element name="documentManagement">
            <xsd:complexType>
              <xsd:all>
                <xsd:element ref="ns2:OECDKimStatus" minOccurs="0"/>
                <xsd:element ref="ns4:OECDProjectLookup"/>
                <xsd:element ref="ns3:_dlc_DocId" minOccurs="0"/>
                <xsd:element ref="ns3:_dlc_DocIdUrl" minOccurs="0"/>
                <xsd:element ref="ns4:OECDProjectManager" minOccurs="0"/>
                <xsd:element ref="ns4:OECDProjectMembers" minOccurs="0"/>
                <xsd:element ref="ns4:OECDTagsCache" minOccurs="0"/>
                <xsd:element ref="ns4:OECDPinnedBy" minOccurs="0"/>
                <xsd:element ref="ns5:eShareCountryTaxHTField0" minOccurs="0"/>
                <xsd:element ref="ns5:eShareTopicTaxHTField0" minOccurs="0"/>
                <xsd:element ref="ns5:eShareKeywordsTaxHTField0" minOccurs="0"/>
                <xsd:element ref="ns5:eShareCommitteeTaxHTField0" minOccurs="0"/>
                <xsd:element ref="ns5:eSharePWBTaxHTField0" minOccurs="0"/>
                <xsd:element ref="ns6:TaxCatchAll" minOccurs="0"/>
                <xsd:element ref="ns7:IconOverlay" minOccurs="0"/>
                <xsd:element ref="ns4:OECDMainProject" minOccurs="0"/>
                <xsd:element ref="ns2:OECDKimProvenance" minOccurs="0"/>
                <xsd:element ref="ns1:DocumentSetDescription" minOccurs="0"/>
                <xsd:element ref="ns3:OECDExpirationDate" minOccurs="0"/>
                <xsd:element ref="ns6:TaxCatchAllLabel" minOccurs="0"/>
                <xsd:element ref="ns2:OECDDocumentType" minOccurs="0"/>
                <xsd:element ref="ns2:OECDKimBussinessContext" minOccurs="0"/>
                <xsd:element ref="ns4:Project_x003A_ID1" minOccurs="0"/>
                <xsd:element ref="ns4:Project_x003a_Project_x0020_status" minOccurs="0"/>
                <xsd:element ref="ns4:Project_x003a_ID" minOccurs="0"/>
                <xsd:element ref="ns3:_dlc_DocIdPersistId" minOccurs="0"/>
                <xsd:element ref="ns3:bc65155f859f476689f41d2e239f3b65" minOccurs="0"/>
                <xsd:element ref="ns4:k521ff600dac4d78b40e1e44ce493525" minOccurs="0"/>
                <xsd:element ref="ns4:d6c688cd0ee448e4bbaea66e1be015fd" minOccurs="0"/>
                <xsd:element ref="ns4:g2112f02a3d4495984eca02be0a4d37c" minOccurs="0"/>
                <xsd:element ref="ns4:h8a48b2c364f47209a9f385904d38df5"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DocumentSetDescription" ma:index="33" nillable="true" ma:displayName="Description" ma:description="A description of the Document Set" ma:internalName="DocumentSetDescription" ma:readOnly="fals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54c4cd27-f286-408f-9ce0-33c1e0f3ab39" elementFormDefault="qualified">
    <xsd:import namespace="http://schemas.microsoft.com/office/2006/documentManagement/types"/>
    <xsd:import namespace="http://schemas.microsoft.com/office/infopath/2007/PartnerControls"/>
    <xsd:element name="OECDKimStatus" ma:index="7" nillable="true" ma:displayName="Kim status" ma:default="Draft" ma:description="" ma:format="Dropdown" ma:hidden="true" ma:internalName="OECDKimStatus">
      <xsd:simpleType>
        <xsd:restriction base="dms:Choice">
          <xsd:enumeration value="Draft"/>
          <xsd:enumeration value="Final"/>
        </xsd:restriction>
      </xsd:simpleType>
    </xsd:element>
    <xsd:element name="OECDKimProvenance" ma:index="30" nillable="true" ma:displayName="Kim provenance" ma:description="" ma:hidden="true" ma:internalName="OECDKimProvenance">
      <xsd:simpleType>
        <xsd:restriction base="dms:Text"/>
      </xsd:simpleType>
    </xsd:element>
    <xsd:element name="OECDDocumentType" ma:index="36" nillable="true" ma:displayName="Document Type" ma:description="" ma:hidden="true" ma:internalName="OECDDocumentType" ma:readOnly="false">
      <xsd:simpleType>
        <xsd:restriction base="dms:Text"/>
      </xsd:simpleType>
    </xsd:element>
    <xsd:element name="OECDKimBussinessContext" ma:index="37" nillable="true" ma:displayName="Kim business context" ma:description="" ma:hidden="true" ma:internalName="OECDKimBussinessContext">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64847da-6e18-4144-8ad5-5857903e06b6" elementFormDefault="qualified">
    <xsd:import namespace="http://schemas.microsoft.com/office/2006/documentManagement/types"/>
    <xsd:import namespace="http://schemas.microsoft.com/office/infopath/2007/PartnerControls"/>
    <xsd:element name="_dlc_DocId" ma:index="14" nillable="true" ma:displayName="Document ID" ma:description="" ma:hidden="true" ma:internalName="_dlc_DocId" ma:readOnly="true">
      <xsd:simpleType>
        <xsd:restriction base="dms:Text"/>
      </xsd:simpleType>
    </xsd:element>
    <xsd:element name="_dlc_DocIdUrl" ma:index="15" nillable="true" ma:displayName="Document ID" ma:description=""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OECDExpirationDate" ma:index="34" nillable="true" ma:displayName="Highlights" ma:default="" ma:description="" ma:format="DateOnly" ma:indexed="true" ma:internalName="OECDExpirationDate">
      <xsd:simpleType>
        <xsd:restriction base="dms:DateTime"/>
      </xsd:simpleType>
    </xsd:element>
    <xsd:element name="_dlc_DocIdPersistId" ma:index="42" nillable="true" ma:displayName="Persist ID" ma:description="Keep ID on add." ma:hidden="true" ma:internalName="_dlc_DocIdPersistId" ma:readOnly="true">
      <xsd:simpleType>
        <xsd:restriction base="dms:Boolean"/>
      </xsd:simpleType>
    </xsd:element>
    <xsd:element name="bc65155f859f476689f41d2e239f3b65" ma:index="43" nillable="true" ma:taxonomy="true" ma:internalName="bc65155f859f476689f41d2e239f3b65" ma:taxonomyFieldName="OECDHorizontalProjects" ma:displayName="Horizontal project" ma:default="" ma:fieldId="bc65155f-859f-4766-89f4-1d2e239f3b65" ma:taxonomyMulti="true" ma:sspId="27ec883c-a62c-444f-a935-fcddb579e39d" ma:termSetId="d3ca0e0e-65f9-44bf-9d98-5271504f6d61"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b028c3f4-2795-4946-841c-2e1644b148e5" elementFormDefault="qualified">
    <xsd:import namespace="http://schemas.microsoft.com/office/2006/documentManagement/types"/>
    <xsd:import namespace="http://schemas.microsoft.com/office/infopath/2007/PartnerControls"/>
    <xsd:element name="OECDProjectLookup" ma:index="8" ma:displayName="Project" ma:indexed="true" ma:list="8fd64a43-52c7-4b87-a931-a975dc3d108c" ma:internalName="OECDProjectLookup" ma:readOnly="false" ma:showField="OECDShortProjectName" ma:web="b028c3f4-2795-4946-841c-2e1644b148e5">
      <xsd:simpleType>
        <xsd:restriction base="dms:Unknown"/>
      </xsd:simpleType>
    </xsd:element>
    <xsd:element name="OECDProjectManager" ma:index="16" nillable="true" ma:displayName="Project manager" ma:description="" ma:hidden="true" ma:indexed="true" ma:internalName="OECDProjectManager" ma:readOnly="fals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OECDProjectMembers" ma:index="17" nillable="true" ma:displayName="Project members" ma:description="" ma:hidden="true" ma:internalName="OECDProjectMembers" ma:readOnly="fals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OECDTagsCache" ma:index="19" nillable="true" ma:displayName="Tags cache" ma:description="" ma:hidden="true" ma:internalName="OECDTagsCache">
      <xsd:simpleType>
        <xsd:restriction base="dms:Note">
          <xsd:maxLength value="255"/>
        </xsd:restriction>
      </xsd:simpleType>
    </xsd:element>
    <xsd:element name="OECDPinnedBy" ma:index="20" nillable="true" ma:displayName="Pinned by" ma:description="" ma:hidden="true" ma:internalName="OECDPinnedBy">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OECDMainProject" ma:index="29" nillable="true" ma:displayName="Main project" ma:description="" ma:hidden="true" ma:list="8fd64a43-52c7-4b87-a931-a975dc3d108c" ma:internalName="OECDMainProject" ma:readOnly="false" ma:showField="OECDShortProjectName" ma:web="b028c3f4-2795-4946-841c-2e1644b148e5">
      <xsd:simpleType>
        <xsd:restriction base="dms:Unknown"/>
      </xsd:simpleType>
    </xsd:element>
    <xsd:element name="Project_x003A_ID1" ma:index="39" nillable="true" ma:displayName="Project:ID" ma:list="8fd64a43-52c7-4b87-a931-a975dc3d108c" ma:internalName="Project_x003A_ID1" ma:readOnly="true" ma:showField="ID" ma:web="b028c3f4-2795-4946-841c-2e1644b148e5">
      <xsd:simpleType>
        <xsd:restriction base="dms:Lookup"/>
      </xsd:simpleType>
    </xsd:element>
    <xsd:element name="Project_x003a_Project_x0020_status" ma:index="40" nillable="true" ma:displayName="Project:Project status" ma:hidden="true" ma:list="8fd64a43-52c7-4b87-a931-a975dc3d108c" ma:internalName="Project_x003A_Project_x0020_status" ma:readOnly="true" ma:showField="OECDProjectStatus" ma:web="b028c3f4-2795-4946-841c-2e1644b148e5">
      <xsd:simpleType>
        <xsd:restriction base="dms:Lookup"/>
      </xsd:simpleType>
    </xsd:element>
    <xsd:element name="Project_x003a_ID" ma:index="41" nillable="true" ma:displayName="Project:ID" ma:hidden="true" ma:list="8fd64a43-52c7-4b87-a931-a975dc3d108c" ma:internalName="Project_x003A_ID" ma:readOnly="true" ma:showField="ID" ma:web="b028c3f4-2795-4946-841c-2e1644b148e5">
      <xsd:simpleType>
        <xsd:restriction base="dms:Lookup"/>
      </xsd:simpleType>
    </xsd:element>
    <xsd:element name="k521ff600dac4d78b40e1e44ce493525" ma:index="44" nillable="true" ma:taxonomy="true" ma:internalName="k521ff600dac4d78b40e1e44ce493525" ma:taxonomyFieldName="OECDProjectOwnerStructure" ma:displayName="Project owner" ma:indexed="true" ma:readOnly="false" ma:default="" ma:fieldId="4521ff60-0dac-4d78-b40e-1e44ce493525" ma:sspId="27ec883c-a62c-444f-a935-fcddb579e39d" ma:termSetId="aeec4dcb-19ee-4bc0-941f-681845b568c9" ma:anchorId="00000000-0000-0000-0000-000000000000" ma:open="false" ma:isKeyword="false">
      <xsd:complexType>
        <xsd:sequence>
          <xsd:element ref="pc:Terms" minOccurs="0" maxOccurs="1"/>
        </xsd:sequence>
      </xsd:complexType>
    </xsd:element>
    <xsd:element name="d6c688cd0ee448e4bbaea66e1be015fd" ma:index="45" nillable="true" ma:displayName="Project partners_0" ma:hidden="true" ma:internalName="d6c688cd0ee448e4bbaea66e1be015fd">
      <xsd:simpleType>
        <xsd:restriction base="dms:Note"/>
      </xsd:simpleType>
    </xsd:element>
    <xsd:element name="g2112f02a3d4495984eca02be0a4d37c" ma:index="46" nillable="true" ma:displayName="Deliverable partners_0" ma:hidden="true" ma:internalName="g2112f02a3d4495984eca02be0a4d37c">
      <xsd:simpleType>
        <xsd:restriction base="dms:Note"/>
      </xsd:simpleType>
    </xsd:element>
    <xsd:element name="h8a48b2c364f47209a9f385904d38df5" ma:index="47" nillable="true" ma:displayName="Deliverable owner_0" ma:hidden="true" ma:internalName="h8a48b2c364f47209a9f385904d38df5">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9f238dd-bb73-4aef-a7a5-d644ad823e52" elementFormDefault="qualified">
    <xsd:import namespace="http://schemas.microsoft.com/office/2006/documentManagement/types"/>
    <xsd:import namespace="http://schemas.microsoft.com/office/infopath/2007/PartnerControls"/>
    <xsd:element name="eShareCountryTaxHTField0" ma:index="22" nillable="true" ma:displayName="eShareCountry_0" ma:description="" ma:hidden="true" ma:internalName="eShareCountryTaxHTField0">
      <xsd:simpleType>
        <xsd:restriction base="dms:Note"/>
      </xsd:simpleType>
    </xsd:element>
    <xsd:element name="eShareTopicTaxHTField0" ma:index="23" nillable="true" ma:displayName="eShareTopic_0" ma:description="" ma:hidden="true" ma:internalName="eShareTopicTaxHTField0">
      <xsd:simpleType>
        <xsd:restriction base="dms:Note"/>
      </xsd:simpleType>
    </xsd:element>
    <xsd:element name="eShareKeywordsTaxHTField0" ma:index="24" nillable="true" ma:displayName="eShareKeywords_0" ma:description="" ma:hidden="true" ma:internalName="eShareKeywordsTaxHTField0">
      <xsd:simpleType>
        <xsd:restriction base="dms:Note"/>
      </xsd:simpleType>
    </xsd:element>
    <xsd:element name="eShareCommitteeTaxHTField0" ma:index="25" nillable="true" ma:displayName="eShareCommittee_0" ma:description="" ma:hidden="true" ma:internalName="eShareCommitteeTaxHTField0">
      <xsd:simpleType>
        <xsd:restriction base="dms:Note"/>
      </xsd:simpleType>
    </xsd:element>
    <xsd:element name="eSharePWBTaxHTField0" ma:index="26" nillable="true" ma:displayName="eSharePWB_0" ma:description="" ma:hidden="true" ma:internalName="eSharePWBTaxHTField0">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a82dde9-3436-4d3d-bddd-d31447390034" elementFormDefault="qualified">
    <xsd:import namespace="http://schemas.microsoft.com/office/2006/documentManagement/types"/>
    <xsd:import namespace="http://schemas.microsoft.com/office/infopath/2007/PartnerControls"/>
    <xsd:element name="TaxCatchAll" ma:index="27" nillable="true" ma:displayName="Taxonomy Catch All Column" ma:hidden="true" ma:list="{f238c0b0-3384-41ab-af60-ab39d110a44d}" ma:internalName="TaxCatchAll" ma:showField="CatchAllData" ma:web="464847da-6e18-4144-8ad5-5857903e06b6">
      <xsd:complexType>
        <xsd:complexContent>
          <xsd:extension base="dms:MultiChoiceLookup">
            <xsd:sequence>
              <xsd:element name="Value" type="dms:Lookup" maxOccurs="unbounded" minOccurs="0" nillable="true"/>
            </xsd:sequence>
          </xsd:extension>
        </xsd:complexContent>
      </xsd:complexType>
    </xsd:element>
    <xsd:element name="TaxCatchAllLabel" ma:index="35" nillable="true" ma:displayName="Taxonomy Catch All Column1" ma:hidden="true" ma:list="{f238c0b0-3384-41ab-af60-ab39d110a44d}" ma:internalName="TaxCatchAllLabel" ma:readOnly="true" ma:showField="CatchAllDataLabel" ma:web="464847da-6e18-4144-8ad5-5857903e06b6">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4" elementFormDefault="qualified">
    <xsd:import namespace="http://schemas.microsoft.com/office/2006/documentManagement/types"/>
    <xsd:import namespace="http://schemas.microsoft.com/office/infopath/2007/PartnerControls"/>
    <xsd:element name="IconOverlay" ma:index="28" nillable="true" ma:displayName="IconOverlay" ma:hidden="true" ma:internalName="IconOverlay">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10" ma:displayName="Content Type"/>
        <xsd:element ref="dc:title" minOccurs="0" maxOccurs="1" ma:index="0"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CtFieldPriority xmlns="http://www.oecd.org/eshare/projectsentre/CtFieldPriority/" xmlns:i="http://www.w3.org/2001/XMLSchema-instance" NameSpaceURI="http://www.oecd.org/eshare/projectsentre/CtFieldPriority/">
  <PriorityFields xmlns:a="http://schemas.microsoft.com/2003/10/Serialization/Arrays">
    <a:string>Title</a:string>
    <a:string>FileLeafRef</a:string>
    <a:string>OECDCountry</a:string>
    <a:string>OECDTopic</a:string>
    <a:string>OECDKeywords</a:string>
  </PriorityFields>
</CtFieldPriority>
</file>

<file path=customXml/item3.xml><?xml version="1.0" encoding="utf-8"?>
<?mso-contentType ?>
<spe:Receivers xmlns:spe="http://schemas.microsoft.com/sharepoint/events"/>
</file>

<file path=customXml/item4.xml><?xml version="1.0" encoding="utf-8"?>
<?mso-contentType ?>
<SharedContentType xmlns="Microsoft.SharePoint.Taxonomy.ContentTypeSync" SourceId="27ec883c-a62c-444f-a935-fcddb579e39d" ContentTypeId="0x0101008B4DD370EC31429186F3AD49F0D3098F00D44DBCB9EB4F45278CB5C9765BE52995" PreviousValue="false"/>
</file>

<file path=customXml/item5.xml><?xml version="1.0" encoding="utf-8"?>
<p:properties xmlns:p="http://schemas.microsoft.com/office/2006/metadata/properties" xmlns:xsi="http://www.w3.org/2001/XMLSchema-instance" xmlns:pc="http://schemas.microsoft.com/office/infopath/2007/PartnerControls">
  <documentManagement>
    <bc65155f859f476689f41d2e239f3b65 xmlns="464847da-6e18-4144-8ad5-5857903e06b6">
      <Terms xmlns="http://schemas.microsoft.com/office/infopath/2007/PartnerControls"/>
    </bc65155f859f476689f41d2e239f3b65>
    <OECDProjectLookup xmlns="b028c3f4-2795-4946-841c-2e1644b148e5">34</OECDProjectLookup>
    <OECDKimBussinessContext xmlns="54c4cd27-f286-408f-9ce0-33c1e0f3ab39" xsi:nil="true"/>
    <eSharePWBTaxHTField0 xmlns="c9f238dd-bb73-4aef-a7a5-d644ad823e52">(n/a)|3adabb5f-45b7-4a20-bdde-219e8d9477af</eSharePWBTaxHTField0>
    <IconOverlay xmlns="http://schemas.microsoft.com/sharepoint/v4" xsi:nil="true"/>
    <DocumentSetDescription xmlns="http://schemas.microsoft.com/sharepoint/v3" xsi:nil="true"/>
    <OECDPinnedBy xmlns="b028c3f4-2795-4946-841c-2e1644b148e5">
      <UserInfo>
        <DisplayName/>
        <AccountId xsi:nil="true"/>
        <AccountType/>
      </UserInfo>
    </OECDPinnedBy>
    <OECDExpirationDate xmlns="464847da-6e18-4144-8ad5-5857903e06b6" xsi:nil="true"/>
    <g2112f02a3d4495984eca02be0a4d37c xmlns="b028c3f4-2795-4946-841c-2e1644b148e5" xsi:nil="true"/>
    <OECDDocumentType xmlns="54c4cd27-f286-408f-9ce0-33c1e0f3ab39" xsi:nil="true"/>
    <d6c688cd0ee448e4bbaea66e1be015fd xmlns="b028c3f4-2795-4946-841c-2e1644b148e5" xsi:nil="true"/>
    <OECDTagsCache xmlns="b028c3f4-2795-4946-841c-2e1644b148e5" xsi:nil="true"/>
    <eShareCommitteeTaxHTField0 xmlns="c9f238dd-bb73-4aef-a7a5-d644ad823e52" xsi:nil="true"/>
    <OECDProjectManager xmlns="b028c3f4-2795-4946-841c-2e1644b148e5">
      <UserInfo>
        <DisplayName/>
        <AccountId>774</AccountId>
        <AccountType/>
      </UserInfo>
    </OECDProjectManager>
    <OECDKimProvenance xmlns="54c4cd27-f286-408f-9ce0-33c1e0f3ab39" xsi:nil="true"/>
    <OECDMainProject xmlns="b028c3f4-2795-4946-841c-2e1644b148e5" xsi:nil="true"/>
    <k521ff600dac4d78b40e1e44ce493525 xmlns="b028c3f4-2795-4946-841c-2e1644b148e5">
      <Terms xmlns="http://schemas.microsoft.com/office/infopath/2007/PartnerControls">
        <TermInfo xmlns="http://schemas.microsoft.com/office/infopath/2007/PartnerControls">
          <TermName xmlns="http://schemas.microsoft.com/office/infopath/2007/PartnerControls">ECO/FO</TermName>
          <TermId xmlns="http://schemas.microsoft.com/office/infopath/2007/PartnerControls">0421869f-dd6d-4a57-aa68-f68dc47925ad</TermId>
        </TermInfo>
      </Terms>
    </k521ff600dac4d78b40e1e44ce493525>
    <OECDKimStatus xmlns="54c4cd27-f286-408f-9ce0-33c1e0f3ab39">Draft</OECDKimStatus>
    <eShareCountryTaxHTField0 xmlns="c9f238dd-bb73-4aef-a7a5-d644ad823e52" xsi:nil="true"/>
    <eShareTopicTaxHTField0 xmlns="c9f238dd-bb73-4aef-a7a5-d644ad823e52">Economic growth|9eba0011-22c6-4045-a791-62556867fb22</eShareTopicTaxHTField0>
    <eShareKeywordsTaxHTField0 xmlns="c9f238dd-bb73-4aef-a7a5-d644ad823e52">Economic Outlook|a9443a1a-b32f-49f3-97a5-13870ae66f90</eShareKeywordsTaxHTField0>
    <OECDProjectMembers xmlns="b028c3f4-2795-4946-841c-2e1644b148e5">
      <UserInfo>
        <DisplayName>MANN Catherine, ECO</DisplayName>
        <AccountId>774</AccountId>
        <AccountType/>
      </UserInfo>
      <UserInfo>
        <DisplayName>GUICHARD Stéphanie, ECO</DisplayName>
        <AccountId>229</AccountId>
        <AccountType/>
      </UserInfo>
      <UserInfo>
        <DisplayName>BARNES Sebastian, ECO</DisplayName>
        <AccountId>116</AccountId>
        <AccountType/>
      </UserInfo>
      <UserInfo>
        <DisplayName>BARNARD Geoff, ECO</DisplayName>
        <AccountId>142</AccountId>
        <AccountType/>
      </UserInfo>
      <UserInfo>
        <DisplayName>ELGHADAB Penny, ECO</DisplayName>
        <AccountId>83</AccountId>
        <AccountType/>
      </UserInfo>
      <UserInfo>
        <DisplayName>PURTELL Susan, ECO</DisplayName>
        <AccountId>71</AccountId>
        <AccountType/>
      </UserInfo>
      <UserInfo>
        <DisplayName>MENKYNA Fusako, ECO</DisplayName>
        <AccountId>478</AccountId>
        <AccountType/>
      </UserInfo>
      <UserInfo>
        <DisplayName>STOKLE Wendy, ECO</DisplayName>
        <AccountId>65</AccountId>
        <AccountType/>
      </UserInfo>
    </OECDProjectMembers>
    <TaxCatchAll xmlns="ca82dde9-3436-4d3d-bddd-d31447390034">
      <Value>43</Value>
      <Value>314</Value>
      <Value>399</Value>
      <Value>407</Value>
    </TaxCatchAll>
    <h8a48b2c364f47209a9f385904d38df5 xmlns="b028c3f4-2795-4946-841c-2e1644b148e5" xsi:nil="true"/>
  </documentManagement>
</p:properties>
</file>

<file path=customXml/item6.xml><?xml version="1.0" encoding="utf-8"?>
<?mso-contentType ?>
<FormTemplates xmlns="http://schemas.microsoft.com/sharepoint/v3/contenttype/forms">
  <Display>OECDListFormCollapsible</Display>
  <Edit>OECDListFormCollapsible</Edit>
  <New>OECDListFormCollapsible</New>
</FormTemplates>
</file>

<file path=customXml/itemProps1.xml><?xml version="1.0" encoding="utf-8"?>
<ds:datastoreItem xmlns:ds="http://schemas.openxmlformats.org/officeDocument/2006/customXml" ds:itemID="{4991A6FE-5E0A-4F82-A1EC-3DDFDB13A2F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54c4cd27-f286-408f-9ce0-33c1e0f3ab39"/>
    <ds:schemaRef ds:uri="464847da-6e18-4144-8ad5-5857903e06b6"/>
    <ds:schemaRef ds:uri="b028c3f4-2795-4946-841c-2e1644b148e5"/>
    <ds:schemaRef ds:uri="c9f238dd-bb73-4aef-a7a5-d644ad823e52"/>
    <ds:schemaRef ds:uri="ca82dde9-3436-4d3d-bddd-d31447390034"/>
    <ds:schemaRef ds:uri="http://schemas.microsoft.com/sharepoint/v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B57D3AFC-6D8E-4A5F-8C17-C5F4174B9291}">
  <ds:schemaRefs>
    <ds:schemaRef ds:uri="http://www.oecd.org/eshare/projectsentre/CtFieldPriority/"/>
    <ds:schemaRef ds:uri="http://schemas.microsoft.com/2003/10/Serialization/Arrays"/>
  </ds:schemaRefs>
</ds:datastoreItem>
</file>

<file path=customXml/itemProps3.xml><?xml version="1.0" encoding="utf-8"?>
<ds:datastoreItem xmlns:ds="http://schemas.openxmlformats.org/officeDocument/2006/customXml" ds:itemID="{BFE38C3E-D15A-4F60-97F7-250E70E1EA31}">
  <ds:schemaRefs>
    <ds:schemaRef ds:uri="http://schemas.microsoft.com/sharepoint/events"/>
  </ds:schemaRefs>
</ds:datastoreItem>
</file>

<file path=customXml/itemProps4.xml><?xml version="1.0" encoding="utf-8"?>
<ds:datastoreItem xmlns:ds="http://schemas.openxmlformats.org/officeDocument/2006/customXml" ds:itemID="{FD206EC9-3D5A-4486-AF89-FC69493CBCE0}">
  <ds:schemaRefs>
    <ds:schemaRef ds:uri="Microsoft.SharePoint.Taxonomy.ContentTypeSync"/>
  </ds:schemaRefs>
</ds:datastoreItem>
</file>

<file path=customXml/itemProps5.xml><?xml version="1.0" encoding="utf-8"?>
<ds:datastoreItem xmlns:ds="http://schemas.openxmlformats.org/officeDocument/2006/customXml" ds:itemID="{C09397EE-C9A3-4290-85EF-2ACE6E5A9E27}">
  <ds:schemaRefs>
    <ds:schemaRef ds:uri="http://schemas.microsoft.com/office/2006/documentManagement/types"/>
    <ds:schemaRef ds:uri="http://schemas.microsoft.com/office/infopath/2007/PartnerControls"/>
    <ds:schemaRef ds:uri="http://schemas.openxmlformats.org/package/2006/metadata/core-properties"/>
    <ds:schemaRef ds:uri="54c4cd27-f286-408f-9ce0-33c1e0f3ab39"/>
    <ds:schemaRef ds:uri="http://schemas.microsoft.com/office/2006/metadata/properties"/>
    <ds:schemaRef ds:uri="http://purl.org/dc/elements/1.1/"/>
    <ds:schemaRef ds:uri="464847da-6e18-4144-8ad5-5857903e06b6"/>
    <ds:schemaRef ds:uri="b028c3f4-2795-4946-841c-2e1644b148e5"/>
    <ds:schemaRef ds:uri="http://schemas.microsoft.com/sharepoint/v4"/>
    <ds:schemaRef ds:uri="ca82dde9-3436-4d3d-bddd-d31447390034"/>
    <ds:schemaRef ds:uri="http://www.w3.org/XML/1998/namespace"/>
    <ds:schemaRef ds:uri="http://purl.org/dc/terms/"/>
    <ds:schemaRef ds:uri="c9f238dd-bb73-4aef-a7a5-d644ad823e52"/>
    <ds:schemaRef ds:uri="http://schemas.microsoft.com/sharepoint/v3"/>
    <ds:schemaRef ds:uri="http://purl.org/dc/dcmitype/"/>
  </ds:schemaRefs>
</ds:datastoreItem>
</file>

<file path=customXml/itemProps6.xml><?xml version="1.0" encoding="utf-8"?>
<ds:datastoreItem xmlns:ds="http://schemas.openxmlformats.org/officeDocument/2006/customXml" ds:itemID="{003DD83D-4AB0-4B12-ADA5-F949E8BC24F5}">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OECD_English_white</Template>
  <TotalTime>29205</TotalTime>
  <Words>1189</Words>
  <Application>Microsoft Office PowerPoint</Application>
  <PresentationFormat>On-screen Show (4:3)</PresentationFormat>
  <Paragraphs>187</Paragraphs>
  <Slides>23</Slides>
  <Notes>12</Notes>
  <HiddenSlides>0</HiddenSlides>
  <MMClips>0</MMClips>
  <ScaleCrop>false</ScaleCrop>
  <HeadingPairs>
    <vt:vector size="4" baseType="variant">
      <vt:variant>
        <vt:lpstr>Theme</vt:lpstr>
      </vt:variant>
      <vt:variant>
        <vt:i4>2</vt:i4>
      </vt:variant>
      <vt:variant>
        <vt:lpstr>Slide Titles</vt:lpstr>
      </vt:variant>
      <vt:variant>
        <vt:i4>23</vt:i4>
      </vt:variant>
    </vt:vector>
  </HeadingPairs>
  <TitlesOfParts>
    <vt:vector size="25" baseType="lpstr">
      <vt:lpstr>OECD_English_white</vt:lpstr>
      <vt:lpstr>1_OECD_English_white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Job losses have centred on  people with mid-level skills</vt:lpstr>
      <vt:lpstr>PowerPoint Presentation</vt:lpstr>
      <vt:lpstr>Manufacturing job losses and role for  Technology &amp; Consumer Preferences vs Trade</vt:lpstr>
      <vt:lpstr>Decline in manufacturing matters because activity is regionally concentrated</vt:lpstr>
      <vt:lpstr>Countries with larger falls in manufacturing jobs have increased regional inequality</vt:lpstr>
      <vt:lpstr>PowerPoint Presentation</vt:lpstr>
      <vt:lpstr>PowerPoint Presentation</vt:lpstr>
      <vt:lpstr>PowerPoint Presentation</vt:lpstr>
      <vt:lpstr>PowerPoint Presentation</vt:lpstr>
      <vt:lpstr>PowerPoint Presentation</vt:lpstr>
    </vt:vector>
  </TitlesOfParts>
  <Company>OECD</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MENKYNA Fusako</dc:creator>
  <cp:lastModifiedBy>ELGHADAB Penny</cp:lastModifiedBy>
  <cp:revision>1565</cp:revision>
  <cp:lastPrinted>2017-06-02T15:04:18Z</cp:lastPrinted>
  <dcterms:created xsi:type="dcterms:W3CDTF">2015-02-27T14:51:11Z</dcterms:created>
  <dcterms:modified xsi:type="dcterms:W3CDTF">2017-06-07T07:23:31Z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0x0101008B4DD370EC31429186F3AD49F0D3098F00D44DBCB9EB4F45278CB5C9765BE5299500A4858B360C6A491AA753F8BCA47AA91000293773D153AD3C41920164F348570E54</vt:lpwstr>
  </property>
  <property fmtid="{D5CDD505-2E9C-101B-9397-08002B2CF9AE}" pid="3" name="OECDProjectOwnerStructure">
    <vt:lpwstr>407;#ECO/FO|0421869f-dd6d-4a57-aa68-f68dc47925ad</vt:lpwstr>
  </property>
  <property fmtid="{D5CDD505-2E9C-101B-9397-08002B2CF9AE}" pid="4" name="OECDProjectPageLink">
    <vt:lpwstr>8830</vt:lpwstr>
  </property>
  <property fmtid="{D5CDD505-2E9C-101B-9397-08002B2CF9AE}" pid="5" name="OECDCountry">
    <vt:lpwstr/>
  </property>
  <property fmtid="{D5CDD505-2E9C-101B-9397-08002B2CF9AE}" pid="6" name="OECDTopic">
    <vt:lpwstr>399;#Economic growth|9eba0011-22c6-4045-a791-62556867fb22</vt:lpwstr>
  </property>
  <property fmtid="{D5CDD505-2E9C-101B-9397-08002B2CF9AE}" pid="7" name="OECDCommittee">
    <vt:lpwstr/>
  </property>
  <property fmtid="{D5CDD505-2E9C-101B-9397-08002B2CF9AE}" pid="8" name="OECDProjectPartnersStructure">
    <vt:lpwstr/>
  </property>
  <property fmtid="{D5CDD505-2E9C-101B-9397-08002B2CF9AE}" pid="9" name="OECDPWB">
    <vt:lpwstr>43;#(n/a)|3adabb5f-45b7-4a20-bdde-219e8d9477af</vt:lpwstr>
  </property>
  <property fmtid="{D5CDD505-2E9C-101B-9397-08002B2CF9AE}" pid="10" name="OECDKeywords">
    <vt:lpwstr>314;#Economic Outlook|a9443a1a-b32f-49f3-97a5-13870ae66f90</vt:lpwstr>
  </property>
  <property fmtid="{D5CDD505-2E9C-101B-9397-08002B2CF9AE}" pid="11" name="eShareOrganisationTaxHTField0">
    <vt:lpwstr/>
  </property>
  <property fmtid="{D5CDD505-2E9C-101B-9397-08002B2CF9AE}" pid="12" name="OECDHorizontalProjects">
    <vt:lpwstr/>
  </property>
  <property fmtid="{D5CDD505-2E9C-101B-9397-08002B2CF9AE}" pid="13" name="OECDProject">
    <vt:lpwstr/>
  </property>
  <property fmtid="{D5CDD505-2E9C-101B-9397-08002B2CF9AE}" pid="14" name="d0b6f6ac229144c2899590f0436d9385">
    <vt:lpwstr/>
  </property>
  <property fmtid="{D5CDD505-2E9C-101B-9397-08002B2CF9AE}" pid="15" name="OECDOrganisation">
    <vt:lpwstr/>
  </property>
</Properties>
</file>