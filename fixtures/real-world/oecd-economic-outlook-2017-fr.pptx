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drawings/drawing1.xml" ContentType="application/vnd.openxmlformats-officedocument.drawingml.chartshapes+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7"/>
    <p:sldMasterId id="2147483665" r:id="rId8"/>
  </p:sldMasterIdLst>
  <p:notesMasterIdLst>
    <p:notesMasterId r:id="rId32"/>
  </p:notesMasterIdLst>
  <p:handoutMasterIdLst>
    <p:handoutMasterId r:id="rId33"/>
  </p:handoutMasterIdLst>
  <p:sldIdLst>
    <p:sldId id="458" r:id="rId9"/>
    <p:sldId id="506" r:id="rId10"/>
    <p:sldId id="446" r:id="rId11"/>
    <p:sldId id="507" r:id="rId12"/>
    <p:sldId id="373" r:id="rId13"/>
    <p:sldId id="388" r:id="rId14"/>
    <p:sldId id="472" r:id="rId15"/>
    <p:sldId id="498" r:id="rId16"/>
    <p:sldId id="466" r:id="rId17"/>
    <p:sldId id="483" r:id="rId18"/>
    <p:sldId id="502" r:id="rId19"/>
    <p:sldId id="484" r:id="rId20"/>
    <p:sldId id="487" r:id="rId21"/>
    <p:sldId id="509" r:id="rId22"/>
    <p:sldId id="488" r:id="rId23"/>
    <p:sldId id="491" r:id="rId24"/>
    <p:sldId id="492" r:id="rId25"/>
    <p:sldId id="501" r:id="rId26"/>
    <p:sldId id="508" r:id="rId27"/>
    <p:sldId id="500" r:id="rId28"/>
    <p:sldId id="505" r:id="rId29"/>
    <p:sldId id="496" r:id="rId30"/>
    <p:sldId id="495" r:id="rId31"/>
  </p:sldIdLst>
  <p:sldSz cx="9144000" cy="6858000" type="screen4x3"/>
  <p:notesSz cx="6794500" cy="9906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NARD Geoff" initials="BG" lastIdx="1" clrIdx="0"/>
  <p:cmAuthor id="1" name="DAUDE Christian" initials="DC" lastIdx="3" clrIdx="1"/>
  <p:cmAuthor id="2" name="MANN Catherine" initials="MC" lastIdx="107" clrIdx="2"/>
  <p:cmAuthor id="3" name="WITHERIDGE William" initials="WW" lastIdx="2" clrIdx="3"/>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11" autoAdjust="0"/>
    <p:restoredTop sz="83195" autoAdjust="0"/>
  </p:normalViewPr>
  <p:slideViewPr>
    <p:cSldViewPr>
      <p:cViewPr varScale="1">
        <p:scale>
          <a:sx n="62" d="100"/>
          <a:sy n="62" d="100"/>
        </p:scale>
        <p:origin x="-522" y="-7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2.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customXml" Target="../customXml/item3.xml"/><Relationship Id="rId21" Type="http://schemas.openxmlformats.org/officeDocument/2006/relationships/slide" Target="slides/slide13.xml"/><Relationship Id="rId34" Type="http://schemas.openxmlformats.org/officeDocument/2006/relationships/commentAuthors" Target="commentAuthors.xml"/><Relationship Id="rId7" Type="http://schemas.openxmlformats.org/officeDocument/2006/relationships/slideMaster" Target="slideMasters/slideMaster1.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customXml" Target="../customXml/item5.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viewProps" Target="viewProp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chartUserShapes" Target="../drawings/drawing1.xml"/><Relationship Id="rId2" Type="http://schemas.openxmlformats.org/officeDocument/2006/relationships/package" Target="../embeddings/Microsoft_Excel_Worksheet1.xlsx"/><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15427148522105391"/>
          <c:y val="0.17538240984763967"/>
          <c:w val="0.61754314733538818"/>
          <c:h val="0.76463774677036001"/>
        </c:manualLayout>
      </c:layout>
      <c:doughnutChart>
        <c:varyColors val="1"/>
        <c:ser>
          <c:idx val="0"/>
          <c:order val="0"/>
          <c:tx>
            <c:strRef>
              <c:f>'Fig_Box2.1 (2)'!$B$60</c:f>
              <c:strCache>
                <c:ptCount val="1"/>
                <c:pt idx="0">
                  <c:v>1995</c:v>
                </c:pt>
              </c:strCache>
            </c:strRef>
          </c:tx>
          <c:spPr>
            <a:ln w="15875">
              <a:solidFill>
                <a:sysClr val="window" lastClr="FFFFFF"/>
              </a:solidFill>
            </a:ln>
          </c:spPr>
          <c:dPt>
            <c:idx val="0"/>
            <c:bubble3D val="0"/>
            <c:spPr>
              <a:solidFill>
                <a:srgbClr val="0070C0"/>
              </a:solidFill>
              <a:ln w="15875">
                <a:solidFill>
                  <a:sysClr val="window" lastClr="FFFFFF"/>
                </a:solidFill>
              </a:ln>
            </c:spPr>
          </c:dPt>
          <c:dPt>
            <c:idx val="1"/>
            <c:bubble3D val="0"/>
            <c:spPr>
              <a:solidFill>
                <a:schemeClr val="bg1">
                  <a:lumMod val="75000"/>
                </a:schemeClr>
              </a:solidFill>
              <a:ln w="15875">
                <a:solidFill>
                  <a:sysClr val="window" lastClr="FFFFFF"/>
                </a:solidFill>
              </a:ln>
            </c:spPr>
          </c:dPt>
          <c:dPt>
            <c:idx val="2"/>
            <c:bubble3D val="0"/>
            <c:spPr>
              <a:solidFill>
                <a:srgbClr val="FF0000"/>
              </a:solidFill>
              <a:ln w="15875">
                <a:solidFill>
                  <a:sysClr val="window" lastClr="FFFFFF"/>
                </a:solidFill>
              </a:ln>
            </c:spPr>
          </c:dPt>
          <c:dPt>
            <c:idx val="3"/>
            <c:bubble3D val="0"/>
            <c:spPr>
              <a:solidFill>
                <a:srgbClr val="92D050"/>
              </a:solidFill>
              <a:ln w="15875">
                <a:solidFill>
                  <a:sysClr val="window" lastClr="FFFFFF"/>
                </a:solidFill>
              </a:ln>
            </c:spPr>
          </c:dPt>
          <c:cat>
            <c:strRef>
              <c:f>'Fig_Box2.1 (2)'!$C$59:$F$59</c:f>
              <c:strCache>
                <c:ptCount val="4"/>
                <c:pt idx="0">
                  <c:v>OECD</c:v>
                </c:pt>
                <c:pt idx="1">
                  <c:v>Rest of the World</c:v>
                </c:pt>
                <c:pt idx="2">
                  <c:v>China</c:v>
                </c:pt>
                <c:pt idx="3">
                  <c:v>Dynamic Asian Economies</c:v>
                </c:pt>
              </c:strCache>
            </c:strRef>
          </c:cat>
          <c:val>
            <c:numRef>
              <c:f>'Fig_Box2.1 (2)'!$C$60:$F$60</c:f>
              <c:numCache>
                <c:formatCode>0.0</c:formatCode>
                <c:ptCount val="4"/>
                <c:pt idx="0">
                  <c:v>80.230707297010113</c:v>
                </c:pt>
                <c:pt idx="1">
                  <c:v>7.5734855128691745</c:v>
                </c:pt>
                <c:pt idx="2">
                  <c:v>3.1770058938197119</c:v>
                </c:pt>
                <c:pt idx="3">
                  <c:v>9.018801296300996</c:v>
                </c:pt>
              </c:numCache>
            </c:numRef>
          </c:val>
        </c:ser>
        <c:ser>
          <c:idx val="1"/>
          <c:order val="1"/>
          <c:tx>
            <c:strRef>
              <c:f>'Fig_Box2.1 (2)'!$B$61</c:f>
              <c:strCache>
                <c:ptCount val="1"/>
                <c:pt idx="0">
                  <c:v>2015</c:v>
                </c:pt>
              </c:strCache>
            </c:strRef>
          </c:tx>
          <c:spPr>
            <a:ln w="15875">
              <a:solidFill>
                <a:sysClr val="window" lastClr="FFFFFF"/>
              </a:solidFill>
            </a:ln>
          </c:spPr>
          <c:dPt>
            <c:idx val="0"/>
            <c:bubble3D val="0"/>
            <c:spPr>
              <a:solidFill>
                <a:srgbClr val="0070C0"/>
              </a:solidFill>
              <a:ln w="15875">
                <a:solidFill>
                  <a:sysClr val="window" lastClr="FFFFFF"/>
                </a:solidFill>
              </a:ln>
            </c:spPr>
          </c:dPt>
          <c:dPt>
            <c:idx val="1"/>
            <c:bubble3D val="0"/>
            <c:spPr>
              <a:solidFill>
                <a:schemeClr val="bg1">
                  <a:lumMod val="75000"/>
                </a:schemeClr>
              </a:solidFill>
              <a:ln w="15875">
                <a:solidFill>
                  <a:sysClr val="window" lastClr="FFFFFF"/>
                </a:solidFill>
              </a:ln>
            </c:spPr>
          </c:dPt>
          <c:dPt>
            <c:idx val="2"/>
            <c:bubble3D val="0"/>
            <c:spPr>
              <a:solidFill>
                <a:srgbClr val="FF0000"/>
              </a:solidFill>
              <a:ln w="15875">
                <a:solidFill>
                  <a:sysClr val="window" lastClr="FFFFFF"/>
                </a:solidFill>
              </a:ln>
            </c:spPr>
          </c:dPt>
          <c:dPt>
            <c:idx val="3"/>
            <c:bubble3D val="0"/>
            <c:spPr>
              <a:solidFill>
                <a:srgbClr val="92D050"/>
              </a:solidFill>
              <a:ln w="15875">
                <a:solidFill>
                  <a:sysClr val="window" lastClr="FFFFFF"/>
                </a:solidFill>
              </a:ln>
            </c:spPr>
          </c:dPt>
          <c:cat>
            <c:strRef>
              <c:f>'Fig_Box2.1 (2)'!$C$59:$F$59</c:f>
              <c:strCache>
                <c:ptCount val="4"/>
                <c:pt idx="0">
                  <c:v>OECD</c:v>
                </c:pt>
                <c:pt idx="1">
                  <c:v>Rest of the World</c:v>
                </c:pt>
                <c:pt idx="2">
                  <c:v>China</c:v>
                </c:pt>
                <c:pt idx="3">
                  <c:v>Dynamic Asian Economies</c:v>
                </c:pt>
              </c:strCache>
            </c:strRef>
          </c:cat>
          <c:val>
            <c:numRef>
              <c:f>'Fig_Box2.1 (2)'!$C$61:$F$61</c:f>
              <c:numCache>
                <c:formatCode>0.0</c:formatCode>
                <c:ptCount val="4"/>
                <c:pt idx="0">
                  <c:v>58.966807674477685</c:v>
                </c:pt>
                <c:pt idx="1">
                  <c:v>15.817864048220123</c:v>
                </c:pt>
                <c:pt idx="2">
                  <c:v>14.204026643070442</c:v>
                </c:pt>
                <c:pt idx="3">
                  <c:v>11.011301634231749</c:v>
                </c:pt>
              </c:numCache>
            </c:numRef>
          </c:val>
        </c:ser>
        <c:dLbls>
          <c:showLegendKey val="0"/>
          <c:showVal val="0"/>
          <c:showCatName val="0"/>
          <c:showSerName val="0"/>
          <c:showPercent val="0"/>
          <c:showBubbleSize val="0"/>
          <c:showLeaderLines val="1"/>
        </c:dLbls>
        <c:firstSliceAng val="0"/>
        <c:holeSize val="45"/>
      </c:doughnutChart>
    </c:plotArea>
    <c:legend>
      <c:legendPos val="r"/>
      <c:layout>
        <c:manualLayout>
          <c:xMode val="edge"/>
          <c:yMode val="edge"/>
          <c:x val="0.16163083765236153"/>
          <c:y val="2.5926369060130319E-2"/>
          <c:w val="0.65144258559475843"/>
          <c:h val="0.1274077187990105"/>
        </c:manualLayout>
      </c:layout>
      <c:overlay val="0"/>
      <c:spPr>
        <a:ln w="6350"/>
      </c:spPr>
      <c:txPr>
        <a:bodyPr/>
        <a:lstStyle/>
        <a:p>
          <a:pPr>
            <a:defRPr b="1"/>
          </a:pPr>
          <a:endParaRPr lang="en-US"/>
        </a:p>
      </c:txPr>
    </c:legend>
    <c:plotVisOnly val="1"/>
    <c:dispBlanksAs val="gap"/>
    <c:showDLblsOverMax val="0"/>
  </c:chart>
  <c:spPr>
    <a:ln>
      <a:noFill/>
    </a:ln>
  </c:spPr>
  <c:txPr>
    <a:bodyPr/>
    <a:lstStyle/>
    <a:p>
      <a:pPr>
        <a:defRPr sz="1200">
          <a:latin typeface="Arial Narrow" panose="020B0606020202030204" pitchFamily="34" charset="0"/>
        </a:defRPr>
      </a:pPr>
      <a:endParaRPr lang="en-US"/>
    </a:p>
  </c:txPr>
  <c:externalData r:id="rId2">
    <c:autoUpdate val="0"/>
  </c:externalData>
  <c:userShapes r:id="rId3"/>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2AE3AD-150C-4556-B9F3-C5AFE07518A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28AA58F6-D958-4B10-9359-D08D4D103B97}">
      <dgm:prSet/>
      <dgm:spPr/>
      <dgm:t>
        <a:bodyPr/>
        <a:lstStyle/>
        <a:p>
          <a:r>
            <a:rPr lang="en-GB" dirty="0" smtClean="0">
              <a:latin typeface="Calibri" panose="020F0502020204030204" pitchFamily="34" charset="0"/>
            </a:rPr>
            <a:t>La croissance mondiale devrait se redresser modérément </a:t>
          </a:r>
          <a:r>
            <a:rPr lang="en-GB" smtClean="0">
              <a:latin typeface="Calibri" panose="020F0502020204030204" pitchFamily="34" charset="0"/>
            </a:rPr>
            <a:t>avec des risques </a:t>
          </a:r>
          <a:r>
            <a:rPr lang="en-GB" dirty="0" smtClean="0">
              <a:latin typeface="Calibri" panose="020F0502020204030204" pitchFamily="34" charset="0"/>
            </a:rPr>
            <a:t>haussiers</a:t>
          </a:r>
        </a:p>
      </dgm:t>
    </dgm:pt>
    <dgm:pt modelId="{60C608F0-860E-4FC1-AB6C-6A893EFA9FC9}" type="parTrans" cxnId="{7FC4F6B6-7333-499E-8799-51F96AA60B84}">
      <dgm:prSet/>
      <dgm:spPr/>
      <dgm:t>
        <a:bodyPr/>
        <a:lstStyle/>
        <a:p>
          <a:endParaRPr lang="en-GB">
            <a:latin typeface="Calibri" panose="020F0502020204030204" pitchFamily="34" charset="0"/>
          </a:endParaRPr>
        </a:p>
      </dgm:t>
    </dgm:pt>
    <dgm:pt modelId="{3083AE86-D778-4F5F-B1B6-4FB7AC7CBD51}" type="sibTrans" cxnId="{7FC4F6B6-7333-499E-8799-51F96AA60B84}">
      <dgm:prSet/>
      <dgm:spPr/>
      <dgm:t>
        <a:bodyPr/>
        <a:lstStyle/>
        <a:p>
          <a:endParaRPr lang="en-GB">
            <a:latin typeface="Calibri" panose="020F0502020204030204" pitchFamily="34" charset="0"/>
          </a:endParaRPr>
        </a:p>
      </dgm:t>
    </dgm:pt>
    <dgm:pt modelId="{0BD4BFF3-A846-4400-9B4D-1ECC79EBA5F8}">
      <dgm:prSet/>
      <dgm:spPr/>
      <dgm:t>
        <a:bodyPr/>
        <a:lstStyle/>
        <a:p>
          <a:r>
            <a:rPr lang="en-GB" dirty="0" smtClean="0">
              <a:latin typeface="Calibri" panose="020F0502020204030204" pitchFamily="34" charset="0"/>
            </a:rPr>
            <a:t>Davantage d'efforts sont nécessaires pour mieux partager les gains des tendances structurelles et du commerce</a:t>
          </a:r>
        </a:p>
      </dgm:t>
    </dgm:pt>
    <dgm:pt modelId="{225C00EA-9FEF-41B6-9C4F-92549965D946}" type="parTrans" cxnId="{6D09A9A1-FFEA-4EA9-A2E8-55285F8C0196}">
      <dgm:prSet/>
      <dgm:spPr/>
      <dgm:t>
        <a:bodyPr/>
        <a:lstStyle/>
        <a:p>
          <a:endParaRPr lang="en-GB">
            <a:latin typeface="Calibri" panose="020F0502020204030204" pitchFamily="34" charset="0"/>
          </a:endParaRPr>
        </a:p>
      </dgm:t>
    </dgm:pt>
    <dgm:pt modelId="{203F14AC-C7A5-4E5E-9CBB-DE0F7A356B5A}" type="sibTrans" cxnId="{6D09A9A1-FFEA-4EA9-A2E8-55285F8C0196}">
      <dgm:prSet/>
      <dgm:spPr/>
      <dgm:t>
        <a:bodyPr/>
        <a:lstStyle/>
        <a:p>
          <a:endParaRPr lang="en-GB">
            <a:latin typeface="Calibri" panose="020F0502020204030204" pitchFamily="34" charset="0"/>
          </a:endParaRPr>
        </a:p>
      </dgm:t>
    </dgm:pt>
    <dgm:pt modelId="{806919CF-651B-46A9-9F55-6A28278294E6}">
      <dgm:prSet/>
      <dgm:spPr/>
      <dgm:t>
        <a:bodyPr/>
        <a:lstStyle/>
        <a:p>
          <a:r>
            <a:rPr lang="en-GB" dirty="0" smtClean="0">
              <a:latin typeface="Calibri" panose="020F0502020204030204" pitchFamily="34" charset="0"/>
            </a:rPr>
            <a:t>Une approche intégrée des politiques est nécessaire pour que la mondialisation profite à tous</a:t>
          </a:r>
        </a:p>
      </dgm:t>
    </dgm:pt>
    <dgm:pt modelId="{C176557D-E82E-4F64-8195-4FBA10DCA65F}" type="parTrans" cxnId="{3315629A-CE00-4EA6-A505-92EEC82995D3}">
      <dgm:prSet/>
      <dgm:spPr/>
      <dgm:t>
        <a:bodyPr/>
        <a:lstStyle/>
        <a:p>
          <a:endParaRPr lang="en-GB">
            <a:latin typeface="Calibri" panose="020F0502020204030204" pitchFamily="34" charset="0"/>
          </a:endParaRPr>
        </a:p>
      </dgm:t>
    </dgm:pt>
    <dgm:pt modelId="{504D45A1-33A0-469C-9F96-5CCFAF0F31C8}" type="sibTrans" cxnId="{3315629A-CE00-4EA6-A505-92EEC82995D3}">
      <dgm:prSet/>
      <dgm:spPr/>
      <dgm:t>
        <a:bodyPr/>
        <a:lstStyle/>
        <a:p>
          <a:endParaRPr lang="en-GB">
            <a:latin typeface="Calibri" panose="020F0502020204030204" pitchFamily="34" charset="0"/>
          </a:endParaRPr>
        </a:p>
      </dgm:t>
    </dgm:pt>
    <dgm:pt modelId="{31CEF85D-C803-49E2-87B0-F5EDAD345FC9}">
      <dgm:prSet/>
      <dgm:spPr/>
      <dgm:t>
        <a:bodyPr/>
        <a:lstStyle/>
        <a:p>
          <a:r>
            <a:rPr lang="en-GB" dirty="0" smtClean="0">
              <a:solidFill>
                <a:schemeClr val="bg2">
                  <a:lumMod val="10000"/>
                </a:schemeClr>
              </a:solidFill>
              <a:latin typeface="Calibri" panose="020F0502020204030204" pitchFamily="34" charset="0"/>
            </a:rPr>
            <a:t>Les évolutions de la technologie, des préférences des consommateurs et du commerce surviennent simultanément</a:t>
          </a:r>
        </a:p>
      </dgm:t>
    </dgm:pt>
    <dgm:pt modelId="{F5240D1C-9F1F-45CB-A124-96F539746542}" type="parTrans" cxnId="{D679395B-FE98-42B9-BBBC-D1097520053F}">
      <dgm:prSet/>
      <dgm:spPr/>
      <dgm:t>
        <a:bodyPr/>
        <a:lstStyle/>
        <a:p>
          <a:endParaRPr lang="en-GB">
            <a:latin typeface="Calibri" panose="020F0502020204030204" pitchFamily="34" charset="0"/>
          </a:endParaRPr>
        </a:p>
      </dgm:t>
    </dgm:pt>
    <dgm:pt modelId="{240024B0-F397-4B79-9323-A7BF70B621A9}" type="sibTrans" cxnId="{D679395B-FE98-42B9-BBBC-D1097520053F}">
      <dgm:prSet/>
      <dgm:spPr/>
      <dgm:t>
        <a:bodyPr/>
        <a:lstStyle/>
        <a:p>
          <a:endParaRPr lang="en-GB">
            <a:latin typeface="Calibri" panose="020F0502020204030204" pitchFamily="34" charset="0"/>
          </a:endParaRPr>
        </a:p>
      </dgm:t>
    </dgm:pt>
    <dgm:pt modelId="{2723B6F0-42E6-4D85-ABC3-0B993B034402}">
      <dgm:prSet/>
      <dgm:spPr/>
      <dgm:t>
        <a:bodyPr/>
        <a:lstStyle/>
        <a:p>
          <a:pPr eaLnBrk="1" latinLnBrk="0"/>
          <a:r>
            <a:rPr lang="en-GB" dirty="0" smtClean="0">
              <a:solidFill>
                <a:schemeClr val="bg2">
                  <a:lumMod val="10000"/>
                </a:schemeClr>
              </a:solidFill>
              <a:latin typeface="Calibri" panose="020F0502020204030204" pitchFamily="34" charset="0"/>
            </a:rPr>
            <a:t>Des conditions de concurrence plus équitables pour le système international</a:t>
          </a:r>
        </a:p>
      </dgm:t>
    </dgm:pt>
    <dgm:pt modelId="{289978A5-92C7-40F5-BD7A-00AECC89F112}" type="parTrans" cxnId="{53C87B82-B0AB-49B4-8189-CF168536BEE3}">
      <dgm:prSet/>
      <dgm:spPr/>
      <dgm:t>
        <a:bodyPr/>
        <a:lstStyle/>
        <a:p>
          <a:endParaRPr lang="en-GB">
            <a:latin typeface="Calibri" panose="020F0502020204030204" pitchFamily="34" charset="0"/>
          </a:endParaRPr>
        </a:p>
      </dgm:t>
    </dgm:pt>
    <dgm:pt modelId="{51C7EF5C-A804-4B27-AC82-9BD6EE906EB9}" type="sibTrans" cxnId="{53C87B82-B0AB-49B4-8189-CF168536BEE3}">
      <dgm:prSet/>
      <dgm:spPr/>
      <dgm:t>
        <a:bodyPr/>
        <a:lstStyle/>
        <a:p>
          <a:endParaRPr lang="en-GB">
            <a:latin typeface="Calibri" panose="020F0502020204030204" pitchFamily="34" charset="0"/>
          </a:endParaRPr>
        </a:p>
      </dgm:t>
    </dgm:pt>
    <dgm:pt modelId="{5547A09F-9281-4926-AFA4-01F6C5E99E46}">
      <dgm:prSet/>
      <dgm:spPr/>
      <dgm:t>
        <a:bodyPr/>
        <a:lstStyle/>
        <a:p>
          <a:r>
            <a:rPr lang="en-GB" dirty="0" smtClean="0">
              <a:solidFill>
                <a:schemeClr val="bg2">
                  <a:lumMod val="10000"/>
                </a:schemeClr>
              </a:solidFill>
              <a:latin typeface="Calibri" panose="020F0502020204030204" pitchFamily="34" charset="0"/>
            </a:rPr>
            <a:t>La confiance s'améliore et l'investissement et le commerce repartent à partir de niveaux faibles</a:t>
          </a:r>
        </a:p>
      </dgm:t>
    </dgm:pt>
    <dgm:pt modelId="{F3ACEA60-3461-4AC3-BB5D-893E4B822BE9}" type="parTrans" cxnId="{C2BEBCDC-03B2-4D84-A49C-A63F131785DD}">
      <dgm:prSet/>
      <dgm:spPr/>
      <dgm:t>
        <a:bodyPr/>
        <a:lstStyle/>
        <a:p>
          <a:endParaRPr lang="en-GB">
            <a:latin typeface="Calibri" panose="020F0502020204030204" pitchFamily="34" charset="0"/>
          </a:endParaRPr>
        </a:p>
      </dgm:t>
    </dgm:pt>
    <dgm:pt modelId="{F76B773A-F1BB-45AE-853C-30C972F6D272}" type="sibTrans" cxnId="{C2BEBCDC-03B2-4D84-A49C-A63F131785DD}">
      <dgm:prSet/>
      <dgm:spPr/>
      <dgm:t>
        <a:bodyPr/>
        <a:lstStyle/>
        <a:p>
          <a:endParaRPr lang="en-GB">
            <a:latin typeface="Calibri" panose="020F0502020204030204" pitchFamily="34" charset="0"/>
          </a:endParaRPr>
        </a:p>
      </dgm:t>
    </dgm:pt>
    <dgm:pt modelId="{ABFAF83A-6C73-47F6-896E-A9BD27B48A39}">
      <dgm:prSet/>
      <dgm:spPr/>
      <dgm:t>
        <a:bodyPr/>
        <a:lstStyle/>
        <a:p>
          <a:r>
            <a:rPr lang="en-GB" dirty="0" smtClean="0">
              <a:solidFill>
                <a:schemeClr val="bg2">
                  <a:lumMod val="10000"/>
                </a:schemeClr>
              </a:solidFill>
              <a:latin typeface="Calibri" panose="020F0502020204030204" pitchFamily="34" charset="0"/>
            </a:rPr>
            <a:t>Signes d'une demande accrue de biens de haute technologie et d'investissements pour moderniser le capital</a:t>
          </a:r>
        </a:p>
      </dgm:t>
    </dgm:pt>
    <dgm:pt modelId="{A75B0344-DEA6-4F23-B9A2-5187C1B55793}" type="parTrans" cxnId="{FEC8D880-A663-402B-A787-3C914236B237}">
      <dgm:prSet/>
      <dgm:spPr/>
      <dgm:t>
        <a:bodyPr/>
        <a:lstStyle/>
        <a:p>
          <a:endParaRPr lang="en-GB">
            <a:latin typeface="Calibri" panose="020F0502020204030204" pitchFamily="34" charset="0"/>
          </a:endParaRPr>
        </a:p>
      </dgm:t>
    </dgm:pt>
    <dgm:pt modelId="{94733AA1-8077-4264-929A-A4870403E5DA}" type="sibTrans" cxnId="{FEC8D880-A663-402B-A787-3C914236B237}">
      <dgm:prSet/>
      <dgm:spPr/>
      <dgm:t>
        <a:bodyPr/>
        <a:lstStyle/>
        <a:p>
          <a:endParaRPr lang="en-GB">
            <a:latin typeface="Calibri" panose="020F0502020204030204" pitchFamily="34" charset="0"/>
          </a:endParaRPr>
        </a:p>
      </dgm:t>
    </dgm:pt>
    <dgm:pt modelId="{596912E9-CAED-4E0C-A5E9-871A9237F95F}">
      <dgm:prSet/>
      <dgm:spPr/>
      <dgm:t>
        <a:bodyPr/>
        <a:lstStyle/>
        <a:p>
          <a:pPr eaLnBrk="1" latinLnBrk="0"/>
          <a:r>
            <a:rPr lang="en-GB" dirty="0" smtClean="0">
              <a:solidFill>
                <a:schemeClr val="bg2">
                  <a:lumMod val="10000"/>
                </a:schemeClr>
              </a:solidFill>
              <a:latin typeface="Calibri" panose="020F0502020204030204" pitchFamily="34" charset="0"/>
            </a:rPr>
            <a:t>Réformes intérieures pour stimuler la concurrence, la création d'emplois, les compétences et l'innovation</a:t>
          </a:r>
        </a:p>
      </dgm:t>
    </dgm:pt>
    <dgm:pt modelId="{E08425F1-88FC-4C62-8AFB-FB401A12C4F8}" type="parTrans" cxnId="{2B09D2B6-5D01-444A-A4FA-190A0096ED59}">
      <dgm:prSet/>
      <dgm:spPr/>
      <dgm:t>
        <a:bodyPr/>
        <a:lstStyle/>
        <a:p>
          <a:endParaRPr lang="en-GB">
            <a:latin typeface="Calibri" panose="020F0502020204030204" pitchFamily="34" charset="0"/>
          </a:endParaRPr>
        </a:p>
      </dgm:t>
    </dgm:pt>
    <dgm:pt modelId="{44FC58D6-B872-4528-BD0F-539ABBFB23E9}" type="sibTrans" cxnId="{2B09D2B6-5D01-444A-A4FA-190A0096ED59}">
      <dgm:prSet/>
      <dgm:spPr/>
      <dgm:t>
        <a:bodyPr/>
        <a:lstStyle/>
        <a:p>
          <a:endParaRPr lang="en-GB">
            <a:latin typeface="Calibri" panose="020F0502020204030204" pitchFamily="34" charset="0"/>
          </a:endParaRPr>
        </a:p>
      </dgm:t>
    </dgm:pt>
    <dgm:pt modelId="{41E053C8-D301-4D12-AD77-7EE97ECC131D}">
      <dgm:prSet/>
      <dgm:spPr/>
      <dgm:t>
        <a:bodyPr/>
        <a:lstStyle/>
        <a:p>
          <a:r>
            <a:rPr lang="en-GB" dirty="0" smtClean="0">
              <a:latin typeface="Calibri" panose="020F0502020204030204" pitchFamily="34" charset="0"/>
            </a:rPr>
            <a:t>La croissance de la productivité et des salaires reste modérée ; les risques pour la stabilité financière persistent</a:t>
          </a:r>
        </a:p>
      </dgm:t>
    </dgm:pt>
    <dgm:pt modelId="{E94A589A-0C85-450C-AE1A-FBF4CE0F2A81}" type="parTrans" cxnId="{B0B2F67A-EBA5-48F4-A6DC-6B545647974D}">
      <dgm:prSet/>
      <dgm:spPr/>
      <dgm:t>
        <a:bodyPr/>
        <a:lstStyle/>
        <a:p>
          <a:endParaRPr lang="en-GB">
            <a:latin typeface="Calibri" panose="020F0502020204030204" pitchFamily="34" charset="0"/>
          </a:endParaRPr>
        </a:p>
      </dgm:t>
    </dgm:pt>
    <dgm:pt modelId="{9D04F1D8-B208-4490-A62E-6562FDAC00FC}" type="sibTrans" cxnId="{B0B2F67A-EBA5-48F4-A6DC-6B545647974D}">
      <dgm:prSet/>
      <dgm:spPr/>
      <dgm:t>
        <a:bodyPr/>
        <a:lstStyle/>
        <a:p>
          <a:endParaRPr lang="en-GB">
            <a:latin typeface="Calibri" panose="020F0502020204030204" pitchFamily="34" charset="0"/>
          </a:endParaRPr>
        </a:p>
      </dgm:t>
    </dgm:pt>
    <dgm:pt modelId="{553FD138-D451-4870-97BF-70183F97EA30}">
      <dgm:prSet/>
      <dgm:spPr/>
      <dgm:t>
        <a:bodyPr/>
        <a:lstStyle/>
        <a:p>
          <a:r>
            <a:rPr lang="en-GB" dirty="0" smtClean="0">
              <a:solidFill>
                <a:schemeClr val="bg2">
                  <a:lumMod val="10000"/>
                </a:schemeClr>
              </a:solidFill>
              <a:latin typeface="Calibri" panose="020F0502020204030204" pitchFamily="34" charset="0"/>
            </a:rPr>
            <a:t>Les pertes d'emplois dues aux réorientations de l'activité se concentrent dans l'industrie manufacturière et certaines régions</a:t>
          </a:r>
        </a:p>
      </dgm:t>
    </dgm:pt>
    <dgm:pt modelId="{43E28135-AFF9-4B2C-B41B-8023F9E19884}" type="parTrans" cxnId="{33F34D4D-844B-4309-91F1-2D71039CC08C}">
      <dgm:prSet/>
      <dgm:spPr/>
      <dgm:t>
        <a:bodyPr/>
        <a:lstStyle/>
        <a:p>
          <a:endParaRPr lang="en-GB">
            <a:latin typeface="Calibri" panose="020F0502020204030204" pitchFamily="34" charset="0"/>
          </a:endParaRPr>
        </a:p>
      </dgm:t>
    </dgm:pt>
    <dgm:pt modelId="{077F97B1-32C2-453B-AA07-7A8F7DC75B28}" type="sibTrans" cxnId="{33F34D4D-844B-4309-91F1-2D71039CC08C}">
      <dgm:prSet/>
      <dgm:spPr/>
      <dgm:t>
        <a:bodyPr/>
        <a:lstStyle/>
        <a:p>
          <a:endParaRPr lang="en-GB">
            <a:latin typeface="Calibri" panose="020F0502020204030204" pitchFamily="34" charset="0"/>
          </a:endParaRPr>
        </a:p>
      </dgm:t>
    </dgm:pt>
    <dgm:pt modelId="{3BDA06C9-41F1-4324-B47B-FD9322F22076}">
      <dgm:prSet/>
      <dgm:spPr/>
      <dgm:t>
        <a:bodyPr/>
        <a:lstStyle/>
        <a:p>
          <a:r>
            <a:rPr lang="en-US" dirty="0" smtClean="0">
              <a:solidFill>
                <a:schemeClr val="bg2">
                  <a:lumMod val="10000"/>
                </a:schemeClr>
              </a:solidFill>
              <a:latin typeface="Calibri" panose="020F0502020204030204" pitchFamily="34" charset="0"/>
            </a:rPr>
            <a:t>La croissance est généralisée ; la reprise chez les producteurs de matières premières soutient la modeste embellie mondiale</a:t>
          </a:r>
          <a:endParaRPr lang="en-GB" dirty="0" smtClean="0">
            <a:solidFill>
              <a:schemeClr val="bg2">
                <a:lumMod val="10000"/>
              </a:schemeClr>
            </a:solidFill>
            <a:latin typeface="Calibri" panose="020F0502020204030204" pitchFamily="34" charset="0"/>
          </a:endParaRPr>
        </a:p>
      </dgm:t>
    </dgm:pt>
    <dgm:pt modelId="{68A95A56-5757-4B67-8390-A31F0B0037F9}" type="parTrans" cxnId="{43479365-8FA3-41F5-B10E-1E225A4D5723}">
      <dgm:prSet/>
      <dgm:spPr/>
      <dgm:t>
        <a:bodyPr/>
        <a:lstStyle/>
        <a:p>
          <a:endParaRPr lang="en-GB">
            <a:latin typeface="Calibri" panose="020F0502020204030204" pitchFamily="34" charset="0"/>
          </a:endParaRPr>
        </a:p>
      </dgm:t>
    </dgm:pt>
    <dgm:pt modelId="{9FC0B700-BAC5-444B-A109-D6595B3DE849}" type="sibTrans" cxnId="{43479365-8FA3-41F5-B10E-1E225A4D5723}">
      <dgm:prSet/>
      <dgm:spPr/>
      <dgm:t>
        <a:bodyPr/>
        <a:lstStyle/>
        <a:p>
          <a:endParaRPr lang="en-GB">
            <a:latin typeface="Calibri" panose="020F0502020204030204" pitchFamily="34" charset="0"/>
          </a:endParaRPr>
        </a:p>
      </dgm:t>
    </dgm:pt>
    <dgm:pt modelId="{94526619-ADE9-4975-A209-1206B2423C38}">
      <dgm:prSet/>
      <dgm:spPr/>
      <dgm:t>
        <a:bodyPr/>
        <a:lstStyle/>
        <a:p>
          <a:r>
            <a:rPr lang="en-GB" dirty="0" smtClean="0">
              <a:solidFill>
                <a:schemeClr val="bg2">
                  <a:lumMod val="10000"/>
                </a:schemeClr>
              </a:solidFill>
              <a:latin typeface="Calibri" panose="020F0502020204030204" pitchFamily="34" charset="0"/>
            </a:rPr>
            <a:t>Les principaux indicateurs de l'emploi s'améliorent, mais les marchés du travail ne se sont pas redressés</a:t>
          </a:r>
        </a:p>
      </dgm:t>
    </dgm:pt>
    <dgm:pt modelId="{56BF7F1D-70AF-401A-A4BE-6C616B75B134}" type="parTrans" cxnId="{705B9F36-B466-4E78-9711-00BA06938028}">
      <dgm:prSet/>
      <dgm:spPr/>
      <dgm:t>
        <a:bodyPr/>
        <a:lstStyle/>
        <a:p>
          <a:endParaRPr lang="en-GB">
            <a:latin typeface="Calibri" panose="020F0502020204030204" pitchFamily="34" charset="0"/>
          </a:endParaRPr>
        </a:p>
      </dgm:t>
    </dgm:pt>
    <dgm:pt modelId="{EFF9F49E-5A2F-409F-8A4C-43657ADA0126}" type="sibTrans" cxnId="{705B9F36-B466-4E78-9711-00BA06938028}">
      <dgm:prSet/>
      <dgm:spPr/>
      <dgm:t>
        <a:bodyPr/>
        <a:lstStyle/>
        <a:p>
          <a:endParaRPr lang="en-GB">
            <a:latin typeface="Calibri" panose="020F0502020204030204" pitchFamily="34" charset="0"/>
          </a:endParaRPr>
        </a:p>
      </dgm:t>
    </dgm:pt>
    <dgm:pt modelId="{1E9D3748-E159-4EC9-8912-7AFB54D896E8}">
      <dgm:prSet/>
      <dgm:spPr/>
      <dgm:t>
        <a:bodyPr/>
        <a:lstStyle/>
        <a:p>
          <a:r>
            <a:rPr lang="en-US" dirty="0" smtClean="0">
              <a:solidFill>
                <a:schemeClr val="bg2">
                  <a:lumMod val="10000"/>
                </a:schemeClr>
              </a:solidFill>
              <a:latin typeface="Calibri" panose="020F0502020204030204" pitchFamily="34" charset="0"/>
            </a:rPr>
            <a:t>Risques financiers liés à une croissance du crédit élevée et en hausse, à la hausse des prix de l'immobilier et aux écarts de taux d'intérêt</a:t>
          </a:r>
          <a:endParaRPr lang="en-GB" dirty="0" smtClean="0">
            <a:solidFill>
              <a:schemeClr val="bg2">
                <a:lumMod val="10000"/>
              </a:schemeClr>
            </a:solidFill>
            <a:latin typeface="Calibri" panose="020F0502020204030204" pitchFamily="34" charset="0"/>
          </a:endParaRPr>
        </a:p>
      </dgm:t>
    </dgm:pt>
    <dgm:pt modelId="{20B72C64-47B4-49ED-84C2-031F7AD8C095}" type="parTrans" cxnId="{67B238D7-40B4-47DC-A939-F18AE00B00B1}">
      <dgm:prSet/>
      <dgm:spPr/>
      <dgm:t>
        <a:bodyPr/>
        <a:lstStyle/>
        <a:p>
          <a:endParaRPr lang="en-GB">
            <a:latin typeface="Calibri" panose="020F0502020204030204" pitchFamily="34" charset="0"/>
          </a:endParaRPr>
        </a:p>
      </dgm:t>
    </dgm:pt>
    <dgm:pt modelId="{3B8DAD5D-0ECD-4585-9ADC-D9FCE88A6641}" type="sibTrans" cxnId="{67B238D7-40B4-47DC-A939-F18AE00B00B1}">
      <dgm:prSet/>
      <dgm:spPr/>
      <dgm:t>
        <a:bodyPr/>
        <a:lstStyle/>
        <a:p>
          <a:endParaRPr lang="en-GB">
            <a:latin typeface="Calibri" panose="020F0502020204030204" pitchFamily="34" charset="0"/>
          </a:endParaRPr>
        </a:p>
      </dgm:t>
    </dgm:pt>
    <dgm:pt modelId="{DCA8D2F6-0512-4BE3-8D00-0CD39364103D}">
      <dgm:prSet/>
      <dgm:spPr/>
      <dgm:t>
        <a:bodyPr/>
        <a:lstStyle/>
        <a:p>
          <a:pPr eaLnBrk="1" latinLnBrk="0"/>
          <a:r>
            <a:rPr lang="en-GB" dirty="0" smtClean="0">
              <a:solidFill>
                <a:schemeClr val="bg2">
                  <a:lumMod val="10000"/>
                </a:schemeClr>
              </a:solidFill>
              <a:latin typeface="Calibri" panose="020F0502020204030204" pitchFamily="34" charset="0"/>
            </a:rPr>
            <a:t>Des politiques ciblées pour aider les personnes laissées de côté à saisir de nouvelles opportunités</a:t>
          </a:r>
        </a:p>
      </dgm:t>
    </dgm:pt>
    <dgm:pt modelId="{E552743C-E71B-4861-972C-080EFB24BCDA}" type="parTrans" cxnId="{D21F9AFA-1F40-4590-873F-0B7900DE8CA3}">
      <dgm:prSet/>
      <dgm:spPr/>
      <dgm:t>
        <a:bodyPr/>
        <a:lstStyle/>
        <a:p>
          <a:endParaRPr lang="en-GB"/>
        </a:p>
      </dgm:t>
    </dgm:pt>
    <dgm:pt modelId="{20A6B2AA-6C1B-4381-A526-3AD302301D65}" type="sibTrans" cxnId="{D21F9AFA-1F40-4590-873F-0B7900DE8CA3}">
      <dgm:prSet/>
      <dgm:spPr/>
      <dgm:t>
        <a:bodyPr/>
        <a:lstStyle/>
        <a:p>
          <a:endParaRPr lang="en-GB"/>
        </a:p>
      </dgm:t>
    </dgm:pt>
    <dgm:pt modelId="{2E9BD066-5772-45B3-AF70-8A7A03272818}" type="pres">
      <dgm:prSet presAssocID="{312AE3AD-150C-4556-B9F3-C5AFE07518AD}" presName="linear" presStyleCnt="0">
        <dgm:presLayoutVars>
          <dgm:animLvl val="lvl"/>
          <dgm:resizeHandles val="exact"/>
        </dgm:presLayoutVars>
      </dgm:prSet>
      <dgm:spPr/>
      <dgm:t>
        <a:bodyPr/>
        <a:lstStyle/>
        <a:p>
          <a:endParaRPr lang="en-GB"/>
        </a:p>
      </dgm:t>
    </dgm:pt>
    <dgm:pt modelId="{B71E4610-9C7F-4FC1-B45C-3246453F732B}" type="pres">
      <dgm:prSet presAssocID="{28AA58F6-D958-4B10-9359-D08D4D103B97}" presName="parentText" presStyleLbl="node1" presStyleIdx="0" presStyleCnt="4" custScaleY="119926">
        <dgm:presLayoutVars>
          <dgm:chMax val="0"/>
          <dgm:bulletEnabled val="1"/>
        </dgm:presLayoutVars>
      </dgm:prSet>
      <dgm:spPr/>
      <dgm:t>
        <a:bodyPr/>
        <a:lstStyle/>
        <a:p>
          <a:endParaRPr lang="en-GB"/>
        </a:p>
      </dgm:t>
    </dgm:pt>
    <dgm:pt modelId="{59778523-FD02-412B-8EED-12620C0515E9}" type="pres">
      <dgm:prSet presAssocID="{28AA58F6-D958-4B10-9359-D08D4D103B97}" presName="childText" presStyleLbl="revTx" presStyleIdx="0" presStyleCnt="4">
        <dgm:presLayoutVars>
          <dgm:bulletEnabled val="1"/>
        </dgm:presLayoutVars>
      </dgm:prSet>
      <dgm:spPr/>
      <dgm:t>
        <a:bodyPr/>
        <a:lstStyle/>
        <a:p>
          <a:endParaRPr lang="en-GB"/>
        </a:p>
      </dgm:t>
    </dgm:pt>
    <dgm:pt modelId="{86CD86FE-BCDD-4F86-8258-550D41ABF992}" type="pres">
      <dgm:prSet presAssocID="{41E053C8-D301-4D12-AD77-7EE97ECC131D}" presName="parentText" presStyleLbl="node1" presStyleIdx="1" presStyleCnt="4" custScaleY="112620">
        <dgm:presLayoutVars>
          <dgm:chMax val="0"/>
          <dgm:bulletEnabled val="1"/>
        </dgm:presLayoutVars>
      </dgm:prSet>
      <dgm:spPr/>
      <dgm:t>
        <a:bodyPr/>
        <a:lstStyle/>
        <a:p>
          <a:endParaRPr lang="en-GB"/>
        </a:p>
      </dgm:t>
    </dgm:pt>
    <dgm:pt modelId="{4D106606-0D66-4779-A085-E8266C34AB2A}" type="pres">
      <dgm:prSet presAssocID="{41E053C8-D301-4D12-AD77-7EE97ECC131D}" presName="childText" presStyleLbl="revTx" presStyleIdx="1" presStyleCnt="4">
        <dgm:presLayoutVars>
          <dgm:bulletEnabled val="1"/>
        </dgm:presLayoutVars>
      </dgm:prSet>
      <dgm:spPr/>
      <dgm:t>
        <a:bodyPr/>
        <a:lstStyle/>
        <a:p>
          <a:endParaRPr lang="en-GB"/>
        </a:p>
      </dgm:t>
    </dgm:pt>
    <dgm:pt modelId="{9CFD6359-D6AA-429D-ADFE-D05F20309091}" type="pres">
      <dgm:prSet presAssocID="{0BD4BFF3-A846-4400-9B4D-1ECC79EBA5F8}" presName="parentText" presStyleLbl="node1" presStyleIdx="2" presStyleCnt="4" custScaleY="121626" custLinFactNeighborY="3088">
        <dgm:presLayoutVars>
          <dgm:chMax val="0"/>
          <dgm:bulletEnabled val="1"/>
        </dgm:presLayoutVars>
      </dgm:prSet>
      <dgm:spPr/>
      <dgm:t>
        <a:bodyPr/>
        <a:lstStyle/>
        <a:p>
          <a:endParaRPr lang="en-GB"/>
        </a:p>
      </dgm:t>
    </dgm:pt>
    <dgm:pt modelId="{E865CCEF-EA47-42BC-ABAD-CF3E5C00DE2D}" type="pres">
      <dgm:prSet presAssocID="{0BD4BFF3-A846-4400-9B4D-1ECC79EBA5F8}" presName="childText" presStyleLbl="revTx" presStyleIdx="2" presStyleCnt="4" custLinFactNeighborY="3530">
        <dgm:presLayoutVars>
          <dgm:bulletEnabled val="1"/>
        </dgm:presLayoutVars>
      </dgm:prSet>
      <dgm:spPr/>
      <dgm:t>
        <a:bodyPr/>
        <a:lstStyle/>
        <a:p>
          <a:endParaRPr lang="en-GB"/>
        </a:p>
      </dgm:t>
    </dgm:pt>
    <dgm:pt modelId="{2B45D7B7-0834-4D13-8778-0BFAB98C78C2}" type="pres">
      <dgm:prSet presAssocID="{806919CF-651B-46A9-9F55-6A28278294E6}" presName="parentText" presStyleLbl="node1" presStyleIdx="3" presStyleCnt="4" custScaleY="114973" custLinFactNeighborY="2046">
        <dgm:presLayoutVars>
          <dgm:chMax val="0"/>
          <dgm:bulletEnabled val="1"/>
        </dgm:presLayoutVars>
      </dgm:prSet>
      <dgm:spPr/>
      <dgm:t>
        <a:bodyPr/>
        <a:lstStyle/>
        <a:p>
          <a:endParaRPr lang="en-GB"/>
        </a:p>
      </dgm:t>
    </dgm:pt>
    <dgm:pt modelId="{466AD614-18F8-4250-8704-A12C186A2560}" type="pres">
      <dgm:prSet presAssocID="{806919CF-651B-46A9-9F55-6A28278294E6}" presName="childText" presStyleLbl="revTx" presStyleIdx="3" presStyleCnt="4" custLinFactNeighborY="3530">
        <dgm:presLayoutVars>
          <dgm:bulletEnabled val="1"/>
        </dgm:presLayoutVars>
      </dgm:prSet>
      <dgm:spPr/>
      <dgm:t>
        <a:bodyPr/>
        <a:lstStyle/>
        <a:p>
          <a:endParaRPr lang="en-GB"/>
        </a:p>
      </dgm:t>
    </dgm:pt>
  </dgm:ptLst>
  <dgm:cxnLst>
    <dgm:cxn modelId="{F590CECD-2BFA-4266-B254-A6B09807B58B}" type="presOf" srcId="{312AE3AD-150C-4556-B9F3-C5AFE07518AD}" destId="{2E9BD066-5772-45B3-AF70-8A7A03272818}" srcOrd="0" destOrd="0" presId="urn:microsoft.com/office/officeart/2005/8/layout/vList2"/>
    <dgm:cxn modelId="{603FDC0A-637D-4E78-B428-8D08C3E15A4C}" type="presOf" srcId="{28AA58F6-D958-4B10-9359-D08D4D103B97}" destId="{B71E4610-9C7F-4FC1-B45C-3246453F732B}" srcOrd="0" destOrd="0" presId="urn:microsoft.com/office/officeart/2005/8/layout/vList2"/>
    <dgm:cxn modelId="{E64A65F2-6B56-4204-A648-9FD888184D20}" type="presOf" srcId="{0BD4BFF3-A846-4400-9B4D-1ECC79EBA5F8}" destId="{9CFD6359-D6AA-429D-ADFE-D05F20309091}" srcOrd="0" destOrd="0" presId="urn:microsoft.com/office/officeart/2005/8/layout/vList2"/>
    <dgm:cxn modelId="{9462F653-2C88-47FC-B583-152A4B02B81A}" type="presOf" srcId="{553FD138-D451-4870-97BF-70183F97EA30}" destId="{E865CCEF-EA47-42BC-ABAD-CF3E5C00DE2D}" srcOrd="0" destOrd="1" presId="urn:microsoft.com/office/officeart/2005/8/layout/vList2"/>
    <dgm:cxn modelId="{22616761-6D3E-4F0D-BFB4-BA0190F21668}" type="presOf" srcId="{41E053C8-D301-4D12-AD77-7EE97ECC131D}" destId="{86CD86FE-BCDD-4F86-8258-550D41ABF992}" srcOrd="0" destOrd="0" presId="urn:microsoft.com/office/officeart/2005/8/layout/vList2"/>
    <dgm:cxn modelId="{56DCEC49-4C78-46A2-8DDF-3A9F8D6C4D56}" type="presOf" srcId="{94526619-ADE9-4975-A209-1206B2423C38}" destId="{4D106606-0D66-4779-A085-E8266C34AB2A}" srcOrd="0" destOrd="0" presId="urn:microsoft.com/office/officeart/2005/8/layout/vList2"/>
    <dgm:cxn modelId="{B0B2F67A-EBA5-48F4-A6DC-6B545647974D}" srcId="{312AE3AD-150C-4556-B9F3-C5AFE07518AD}" destId="{41E053C8-D301-4D12-AD77-7EE97ECC131D}" srcOrd="1" destOrd="0" parTransId="{E94A589A-0C85-450C-AE1A-FBF4CE0F2A81}" sibTransId="{9D04F1D8-B208-4490-A62E-6562FDAC00FC}"/>
    <dgm:cxn modelId="{D7E958C7-D684-4AB9-9C24-CB1C5BCFFBFA}" type="presOf" srcId="{3BDA06C9-41F1-4324-B47B-FD9322F22076}" destId="{59778523-FD02-412B-8EED-12620C0515E9}" srcOrd="0" destOrd="1" presId="urn:microsoft.com/office/officeart/2005/8/layout/vList2"/>
    <dgm:cxn modelId="{FEC8D880-A663-402B-A787-3C914236B237}" srcId="{28AA58F6-D958-4B10-9359-D08D4D103B97}" destId="{ABFAF83A-6C73-47F6-896E-A9BD27B48A39}" srcOrd="2" destOrd="0" parTransId="{A75B0344-DEA6-4F23-B9A2-5187C1B55793}" sibTransId="{94733AA1-8077-4264-929A-A4870403E5DA}"/>
    <dgm:cxn modelId="{E454A417-3B26-4064-AA44-E1A3E095A938}" type="presOf" srcId="{DCA8D2F6-0512-4BE3-8D00-0CD39364103D}" destId="{466AD614-18F8-4250-8704-A12C186A2560}" srcOrd="0" destOrd="2" presId="urn:microsoft.com/office/officeart/2005/8/layout/vList2"/>
    <dgm:cxn modelId="{B27A379C-FD63-4C1A-89DC-8BCCFEE7E8C4}" type="presOf" srcId="{596912E9-CAED-4E0C-A5E9-871A9237F95F}" destId="{466AD614-18F8-4250-8704-A12C186A2560}" srcOrd="0" destOrd="1" presId="urn:microsoft.com/office/officeart/2005/8/layout/vList2"/>
    <dgm:cxn modelId="{2B09D2B6-5D01-444A-A4FA-190A0096ED59}" srcId="{806919CF-651B-46A9-9F55-6A28278294E6}" destId="{596912E9-CAED-4E0C-A5E9-871A9237F95F}" srcOrd="1" destOrd="0" parTransId="{E08425F1-88FC-4C62-8AFB-FB401A12C4F8}" sibTransId="{44FC58D6-B872-4528-BD0F-539ABBFB23E9}"/>
    <dgm:cxn modelId="{33F34D4D-844B-4309-91F1-2D71039CC08C}" srcId="{0BD4BFF3-A846-4400-9B4D-1ECC79EBA5F8}" destId="{553FD138-D451-4870-97BF-70183F97EA30}" srcOrd="1" destOrd="0" parTransId="{43E28135-AFF9-4B2C-B41B-8023F9E19884}" sibTransId="{077F97B1-32C2-453B-AA07-7A8F7DC75B28}"/>
    <dgm:cxn modelId="{5302161C-846A-4FDA-9CDD-C3F3F1210388}" type="presOf" srcId="{806919CF-651B-46A9-9F55-6A28278294E6}" destId="{2B45D7B7-0834-4D13-8778-0BFAB98C78C2}" srcOrd="0" destOrd="0" presId="urn:microsoft.com/office/officeart/2005/8/layout/vList2"/>
    <dgm:cxn modelId="{7FC4F6B6-7333-499E-8799-51F96AA60B84}" srcId="{312AE3AD-150C-4556-B9F3-C5AFE07518AD}" destId="{28AA58F6-D958-4B10-9359-D08D4D103B97}" srcOrd="0" destOrd="0" parTransId="{60C608F0-860E-4FC1-AB6C-6A893EFA9FC9}" sibTransId="{3083AE86-D778-4F5F-B1B6-4FB7AC7CBD51}"/>
    <dgm:cxn modelId="{FB3611A6-B48D-4A54-9E4F-F3AA4FA9ABAB}" type="presOf" srcId="{2723B6F0-42E6-4D85-ABC3-0B993B034402}" destId="{466AD614-18F8-4250-8704-A12C186A2560}" srcOrd="0" destOrd="0" presId="urn:microsoft.com/office/officeart/2005/8/layout/vList2"/>
    <dgm:cxn modelId="{6D09A9A1-FFEA-4EA9-A2E8-55285F8C0196}" srcId="{312AE3AD-150C-4556-B9F3-C5AFE07518AD}" destId="{0BD4BFF3-A846-4400-9B4D-1ECC79EBA5F8}" srcOrd="2" destOrd="0" parTransId="{225C00EA-9FEF-41B6-9C4F-92549965D946}" sibTransId="{203F14AC-C7A5-4E5E-9CBB-DE0F7A356B5A}"/>
    <dgm:cxn modelId="{D21F9AFA-1F40-4590-873F-0B7900DE8CA3}" srcId="{806919CF-651B-46A9-9F55-6A28278294E6}" destId="{DCA8D2F6-0512-4BE3-8D00-0CD39364103D}" srcOrd="2" destOrd="0" parTransId="{E552743C-E71B-4861-972C-080EFB24BCDA}" sibTransId="{20A6B2AA-6C1B-4381-A526-3AD302301D65}"/>
    <dgm:cxn modelId="{53C87B82-B0AB-49B4-8189-CF168536BEE3}" srcId="{806919CF-651B-46A9-9F55-6A28278294E6}" destId="{2723B6F0-42E6-4D85-ABC3-0B993B034402}" srcOrd="0" destOrd="0" parTransId="{289978A5-92C7-40F5-BD7A-00AECC89F112}" sibTransId="{51C7EF5C-A804-4B27-AC82-9BD6EE906EB9}"/>
    <dgm:cxn modelId="{22EA297E-C433-43DE-A9F8-57D4D82CB461}" type="presOf" srcId="{1E9D3748-E159-4EC9-8912-7AFB54D896E8}" destId="{4D106606-0D66-4779-A085-E8266C34AB2A}" srcOrd="0" destOrd="1" presId="urn:microsoft.com/office/officeart/2005/8/layout/vList2"/>
    <dgm:cxn modelId="{705B9F36-B466-4E78-9711-00BA06938028}" srcId="{41E053C8-D301-4D12-AD77-7EE97ECC131D}" destId="{94526619-ADE9-4975-A209-1206B2423C38}" srcOrd="0" destOrd="0" parTransId="{56BF7F1D-70AF-401A-A4BE-6C616B75B134}" sibTransId="{EFF9F49E-5A2F-409F-8A4C-43657ADA0126}"/>
    <dgm:cxn modelId="{3315629A-CE00-4EA6-A505-92EEC82995D3}" srcId="{312AE3AD-150C-4556-B9F3-C5AFE07518AD}" destId="{806919CF-651B-46A9-9F55-6A28278294E6}" srcOrd="3" destOrd="0" parTransId="{C176557D-E82E-4F64-8195-4FBA10DCA65F}" sibTransId="{504D45A1-33A0-469C-9F96-5CCFAF0F31C8}"/>
    <dgm:cxn modelId="{DB292FF2-CC4D-4050-9997-4883B8C5E792}" type="presOf" srcId="{ABFAF83A-6C73-47F6-896E-A9BD27B48A39}" destId="{59778523-FD02-412B-8EED-12620C0515E9}" srcOrd="0" destOrd="2" presId="urn:microsoft.com/office/officeart/2005/8/layout/vList2"/>
    <dgm:cxn modelId="{12AB3E7D-BD2B-4B16-B4C5-1D6AD6FD6A99}" type="presOf" srcId="{5547A09F-9281-4926-AFA4-01F6C5E99E46}" destId="{59778523-FD02-412B-8EED-12620C0515E9}" srcOrd="0" destOrd="0" presId="urn:microsoft.com/office/officeart/2005/8/layout/vList2"/>
    <dgm:cxn modelId="{43479365-8FA3-41F5-B10E-1E225A4D5723}" srcId="{28AA58F6-D958-4B10-9359-D08D4D103B97}" destId="{3BDA06C9-41F1-4324-B47B-FD9322F22076}" srcOrd="1" destOrd="0" parTransId="{68A95A56-5757-4B67-8390-A31F0B0037F9}" sibTransId="{9FC0B700-BAC5-444B-A109-D6595B3DE849}"/>
    <dgm:cxn modelId="{67B238D7-40B4-47DC-A939-F18AE00B00B1}" srcId="{41E053C8-D301-4D12-AD77-7EE97ECC131D}" destId="{1E9D3748-E159-4EC9-8912-7AFB54D896E8}" srcOrd="1" destOrd="0" parTransId="{20B72C64-47B4-49ED-84C2-031F7AD8C095}" sibTransId="{3B8DAD5D-0ECD-4585-9ADC-D9FCE88A6641}"/>
    <dgm:cxn modelId="{D679395B-FE98-42B9-BBBC-D1097520053F}" srcId="{0BD4BFF3-A846-4400-9B4D-1ECC79EBA5F8}" destId="{31CEF85D-C803-49E2-87B0-F5EDAD345FC9}" srcOrd="0" destOrd="0" parTransId="{F5240D1C-9F1F-45CB-A124-96F539746542}" sibTransId="{240024B0-F397-4B79-9323-A7BF70B621A9}"/>
    <dgm:cxn modelId="{C2BEBCDC-03B2-4D84-A49C-A63F131785DD}" srcId="{28AA58F6-D958-4B10-9359-D08D4D103B97}" destId="{5547A09F-9281-4926-AFA4-01F6C5E99E46}" srcOrd="0" destOrd="0" parTransId="{F3ACEA60-3461-4AC3-BB5D-893E4B822BE9}" sibTransId="{F76B773A-F1BB-45AE-853C-30C972F6D272}"/>
    <dgm:cxn modelId="{3BE347DC-11F6-4A9D-93A7-2379018EBE6B}" type="presOf" srcId="{31CEF85D-C803-49E2-87B0-F5EDAD345FC9}" destId="{E865CCEF-EA47-42BC-ABAD-CF3E5C00DE2D}" srcOrd="0" destOrd="0" presId="urn:microsoft.com/office/officeart/2005/8/layout/vList2"/>
    <dgm:cxn modelId="{FDD43C9A-C0FF-4A65-9C2D-DD5EBFDCF51C}" type="presParOf" srcId="{2E9BD066-5772-45B3-AF70-8A7A03272818}" destId="{B71E4610-9C7F-4FC1-B45C-3246453F732B}" srcOrd="0" destOrd="0" presId="urn:microsoft.com/office/officeart/2005/8/layout/vList2"/>
    <dgm:cxn modelId="{2FABFBCD-C1D7-4148-9241-B06601E9DFE8}" type="presParOf" srcId="{2E9BD066-5772-45B3-AF70-8A7A03272818}" destId="{59778523-FD02-412B-8EED-12620C0515E9}" srcOrd="1" destOrd="0" presId="urn:microsoft.com/office/officeart/2005/8/layout/vList2"/>
    <dgm:cxn modelId="{E372AA16-7338-42E3-BD01-DD58D02C24FA}" type="presParOf" srcId="{2E9BD066-5772-45B3-AF70-8A7A03272818}" destId="{86CD86FE-BCDD-4F86-8258-550D41ABF992}" srcOrd="2" destOrd="0" presId="urn:microsoft.com/office/officeart/2005/8/layout/vList2"/>
    <dgm:cxn modelId="{E518DEB3-03BF-477A-A095-349AA6454BB3}" type="presParOf" srcId="{2E9BD066-5772-45B3-AF70-8A7A03272818}" destId="{4D106606-0D66-4779-A085-E8266C34AB2A}" srcOrd="3" destOrd="0" presId="urn:microsoft.com/office/officeart/2005/8/layout/vList2"/>
    <dgm:cxn modelId="{A693E904-7D2E-4E5D-929D-BA4909CE4DE9}" type="presParOf" srcId="{2E9BD066-5772-45B3-AF70-8A7A03272818}" destId="{9CFD6359-D6AA-429D-ADFE-D05F20309091}" srcOrd="4" destOrd="0" presId="urn:microsoft.com/office/officeart/2005/8/layout/vList2"/>
    <dgm:cxn modelId="{8CEFDE8B-B995-44A2-BF6C-7A588C8CDCDC}" type="presParOf" srcId="{2E9BD066-5772-45B3-AF70-8A7A03272818}" destId="{E865CCEF-EA47-42BC-ABAD-CF3E5C00DE2D}" srcOrd="5" destOrd="0" presId="urn:microsoft.com/office/officeart/2005/8/layout/vList2"/>
    <dgm:cxn modelId="{5DB977C2-0720-479E-92EB-2C9B2BF3C0B3}" type="presParOf" srcId="{2E9BD066-5772-45B3-AF70-8A7A03272818}" destId="{2B45D7B7-0834-4D13-8778-0BFAB98C78C2}" srcOrd="6" destOrd="0" presId="urn:microsoft.com/office/officeart/2005/8/layout/vList2"/>
    <dgm:cxn modelId="{B49B4D58-995B-42D1-BCBE-C90913265EDD}" type="presParOf" srcId="{2E9BD066-5772-45B3-AF70-8A7A03272818}" destId="{466AD614-18F8-4250-8704-A12C186A2560}" srcOrd="7"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2AE3AD-150C-4556-B9F3-C5AFE07518A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28AA58F6-D958-4B10-9359-D08D4D103B97}">
      <dgm:prSet custT="1"/>
      <dgm:spPr/>
      <dgm:t>
        <a:bodyPr/>
        <a:lstStyle/>
        <a:p>
          <a:r>
            <a:rPr lang="en-GB" sz="2000" dirty="0" smtClean="0">
              <a:latin typeface="Calibri" panose="020F0502020204030204" pitchFamily="34" charset="0"/>
            </a:rPr>
            <a:t>Mesures pour améliorer l'environnement international :</a:t>
          </a:r>
        </a:p>
      </dgm:t>
    </dgm:pt>
    <dgm:pt modelId="{60C608F0-860E-4FC1-AB6C-6A893EFA9FC9}" type="parTrans" cxnId="{7FC4F6B6-7333-499E-8799-51F96AA60B84}">
      <dgm:prSet/>
      <dgm:spPr/>
      <dgm:t>
        <a:bodyPr/>
        <a:lstStyle/>
        <a:p>
          <a:endParaRPr lang="en-GB">
            <a:latin typeface="Calibri" panose="020F0502020204030204" pitchFamily="34" charset="0"/>
          </a:endParaRPr>
        </a:p>
      </dgm:t>
    </dgm:pt>
    <dgm:pt modelId="{3083AE86-D778-4F5F-B1B6-4FB7AC7CBD51}" type="sibTrans" cxnId="{7FC4F6B6-7333-499E-8799-51F96AA60B84}">
      <dgm:prSet/>
      <dgm:spPr/>
      <dgm:t>
        <a:bodyPr/>
        <a:lstStyle/>
        <a:p>
          <a:endParaRPr lang="en-GB">
            <a:latin typeface="Calibri" panose="020F0502020204030204" pitchFamily="34" charset="0"/>
          </a:endParaRPr>
        </a:p>
      </dgm:t>
    </dgm:pt>
    <dgm:pt modelId="{31FDEDA6-66D9-439F-8F48-7D1A3D83CB2C}">
      <dgm:prSet custT="1"/>
      <dgm:spPr/>
      <dgm:t>
        <a:bodyPr/>
        <a:lstStyle/>
        <a:p>
          <a:r>
            <a:rPr lang="en-GB" sz="1800" dirty="0" smtClean="0">
              <a:solidFill>
                <a:schemeClr val="bg2">
                  <a:lumMod val="10000"/>
                </a:schemeClr>
              </a:solidFill>
              <a:latin typeface="Calibri" panose="020F0502020204030204" pitchFamily="34" charset="0"/>
            </a:rPr>
            <a:t>Préserver les institutions et les normes, notamment en matière de protection du travail et de l'environnement</a:t>
          </a:r>
        </a:p>
      </dgm:t>
    </dgm:pt>
    <dgm:pt modelId="{09E8ADEA-8958-4BC9-B0A6-4BBA6912F297}" type="parTrans" cxnId="{9687FBD7-5570-4EE1-AD8C-0827D8FDFD8B}">
      <dgm:prSet/>
      <dgm:spPr/>
      <dgm:t>
        <a:bodyPr/>
        <a:lstStyle/>
        <a:p>
          <a:endParaRPr lang="en-GB">
            <a:latin typeface="Calibri" panose="020F0502020204030204" pitchFamily="34" charset="0"/>
          </a:endParaRPr>
        </a:p>
      </dgm:t>
    </dgm:pt>
    <dgm:pt modelId="{6D1C52CF-60AE-4EC8-BD3C-432DCD6C2CBF}" type="sibTrans" cxnId="{9687FBD7-5570-4EE1-AD8C-0827D8FDFD8B}">
      <dgm:prSet/>
      <dgm:spPr/>
      <dgm:t>
        <a:bodyPr/>
        <a:lstStyle/>
        <a:p>
          <a:endParaRPr lang="en-GB">
            <a:latin typeface="Calibri" panose="020F0502020204030204" pitchFamily="34" charset="0"/>
          </a:endParaRPr>
        </a:p>
      </dgm:t>
    </dgm:pt>
    <dgm:pt modelId="{5547A09F-9281-4926-AFA4-01F6C5E99E46}">
      <dgm:prSet custT="1"/>
      <dgm:spPr/>
      <dgm:t>
        <a:bodyPr/>
        <a:lstStyle/>
        <a:p>
          <a:r>
            <a:rPr lang="en-GB" sz="1800" dirty="0" smtClean="0">
              <a:solidFill>
                <a:schemeClr val="bg2">
                  <a:lumMod val="10000"/>
                </a:schemeClr>
              </a:solidFill>
              <a:latin typeface="Calibri" panose="020F0502020204030204" pitchFamily="34" charset="0"/>
            </a:rPr>
            <a:t>Promouvoir l'ouverture des marchés au commerce et à l'investissement transfrontaliers</a:t>
          </a:r>
        </a:p>
      </dgm:t>
    </dgm:pt>
    <dgm:pt modelId="{F3ACEA60-3461-4AC3-BB5D-893E4B822BE9}" type="parTrans" cxnId="{C2BEBCDC-03B2-4D84-A49C-A63F131785DD}">
      <dgm:prSet/>
      <dgm:spPr/>
      <dgm:t>
        <a:bodyPr/>
        <a:lstStyle/>
        <a:p>
          <a:endParaRPr lang="en-GB">
            <a:latin typeface="Calibri" panose="020F0502020204030204" pitchFamily="34" charset="0"/>
          </a:endParaRPr>
        </a:p>
      </dgm:t>
    </dgm:pt>
    <dgm:pt modelId="{F76B773A-F1BB-45AE-853C-30C972F6D272}" type="sibTrans" cxnId="{C2BEBCDC-03B2-4D84-A49C-A63F131785DD}">
      <dgm:prSet/>
      <dgm:spPr/>
      <dgm:t>
        <a:bodyPr/>
        <a:lstStyle/>
        <a:p>
          <a:endParaRPr lang="en-GB">
            <a:latin typeface="Calibri" panose="020F0502020204030204" pitchFamily="34" charset="0"/>
          </a:endParaRPr>
        </a:p>
      </dgm:t>
    </dgm:pt>
    <dgm:pt modelId="{ABFAF83A-6C73-47F6-896E-A9BD27B48A39}">
      <dgm:prSet custT="1"/>
      <dgm:spPr/>
      <dgm:t>
        <a:bodyPr/>
        <a:lstStyle/>
        <a:p>
          <a:r>
            <a:rPr lang="en-GB" sz="1800" dirty="0" smtClean="0">
              <a:solidFill>
                <a:schemeClr val="bg2">
                  <a:lumMod val="10000"/>
                </a:schemeClr>
              </a:solidFill>
              <a:latin typeface="Calibri" panose="020F0502020204030204" pitchFamily="34" charset="0"/>
            </a:rPr>
            <a:t>Favoriser la coopération multilatérale, p. ex. sur l'érosion de la base d'imposition et le transfert de bénéfices et la politique de concurrence</a:t>
          </a:r>
        </a:p>
      </dgm:t>
    </dgm:pt>
    <dgm:pt modelId="{A75B0344-DEA6-4F23-B9A2-5187C1B55793}" type="parTrans" cxnId="{FEC8D880-A663-402B-A787-3C914236B237}">
      <dgm:prSet/>
      <dgm:spPr/>
      <dgm:t>
        <a:bodyPr/>
        <a:lstStyle/>
        <a:p>
          <a:endParaRPr lang="en-GB">
            <a:latin typeface="Calibri" panose="020F0502020204030204" pitchFamily="34" charset="0"/>
          </a:endParaRPr>
        </a:p>
      </dgm:t>
    </dgm:pt>
    <dgm:pt modelId="{94733AA1-8077-4264-929A-A4870403E5DA}" type="sibTrans" cxnId="{FEC8D880-A663-402B-A787-3C914236B237}">
      <dgm:prSet/>
      <dgm:spPr/>
      <dgm:t>
        <a:bodyPr/>
        <a:lstStyle/>
        <a:p>
          <a:endParaRPr lang="en-GB">
            <a:latin typeface="Calibri" panose="020F0502020204030204" pitchFamily="34" charset="0"/>
          </a:endParaRPr>
        </a:p>
      </dgm:t>
    </dgm:pt>
    <dgm:pt modelId="{41E053C8-D301-4D12-AD77-7EE97ECC131D}">
      <dgm:prSet custT="1"/>
      <dgm:spPr/>
      <dgm:t>
        <a:bodyPr/>
        <a:lstStyle/>
        <a:p>
          <a:r>
            <a:rPr lang="en-GB" sz="1800" dirty="0" smtClean="0">
              <a:solidFill>
                <a:schemeClr val="bg2">
                  <a:lumMod val="10000"/>
                </a:schemeClr>
              </a:solidFill>
              <a:latin typeface="Calibri" panose="020F0502020204030204" pitchFamily="34" charset="0"/>
            </a:rPr>
            <a:t>Lutter contre la corruption, le commerce illicite et la contrefaçon</a:t>
          </a:r>
        </a:p>
      </dgm:t>
    </dgm:pt>
    <dgm:pt modelId="{E94A589A-0C85-450C-AE1A-FBF4CE0F2A81}" type="parTrans" cxnId="{B0B2F67A-EBA5-48F4-A6DC-6B545647974D}">
      <dgm:prSet/>
      <dgm:spPr/>
      <dgm:t>
        <a:bodyPr/>
        <a:lstStyle/>
        <a:p>
          <a:endParaRPr lang="en-GB">
            <a:latin typeface="Calibri" panose="020F0502020204030204" pitchFamily="34" charset="0"/>
          </a:endParaRPr>
        </a:p>
      </dgm:t>
    </dgm:pt>
    <dgm:pt modelId="{9D04F1D8-B208-4490-A62E-6562FDAC00FC}" type="sibTrans" cxnId="{B0B2F67A-EBA5-48F4-A6DC-6B545647974D}">
      <dgm:prSet/>
      <dgm:spPr/>
      <dgm:t>
        <a:bodyPr/>
        <a:lstStyle/>
        <a:p>
          <a:endParaRPr lang="en-GB">
            <a:latin typeface="Calibri" panose="020F0502020204030204" pitchFamily="34" charset="0"/>
          </a:endParaRPr>
        </a:p>
      </dgm:t>
    </dgm:pt>
    <dgm:pt modelId="{D97F0E23-3469-49AA-8515-E38E0361369C}">
      <dgm:prSet custT="1"/>
      <dgm:spPr/>
      <dgm:t>
        <a:bodyPr/>
        <a:lstStyle/>
        <a:p>
          <a:endParaRPr lang="en-GB" sz="1800" dirty="0" smtClean="0">
            <a:solidFill>
              <a:schemeClr val="bg2">
                <a:lumMod val="10000"/>
              </a:schemeClr>
            </a:solidFill>
            <a:latin typeface="Calibri" panose="020F0502020204030204" pitchFamily="34" charset="0"/>
          </a:endParaRPr>
        </a:p>
      </dgm:t>
    </dgm:pt>
    <dgm:pt modelId="{6AA93C07-A878-4E1C-B974-8C08B510F320}" type="parTrans" cxnId="{ED097170-7D59-4F12-B292-86D74F524A55}">
      <dgm:prSet/>
      <dgm:spPr/>
      <dgm:t>
        <a:bodyPr/>
        <a:lstStyle/>
        <a:p>
          <a:endParaRPr lang="en-GB"/>
        </a:p>
      </dgm:t>
    </dgm:pt>
    <dgm:pt modelId="{C75C3C01-3CE1-4166-B916-4528E996C518}" type="sibTrans" cxnId="{ED097170-7D59-4F12-B292-86D74F524A55}">
      <dgm:prSet/>
      <dgm:spPr/>
      <dgm:t>
        <a:bodyPr/>
        <a:lstStyle/>
        <a:p>
          <a:endParaRPr lang="en-GB"/>
        </a:p>
      </dgm:t>
    </dgm:pt>
    <dgm:pt modelId="{7475AEAB-06AB-45E2-98CA-E2D0B86B0492}">
      <dgm:prSet custT="1"/>
      <dgm:spPr/>
      <dgm:t>
        <a:bodyPr/>
        <a:lstStyle/>
        <a:p>
          <a:endParaRPr lang="en-GB" sz="1800" dirty="0" smtClean="0">
            <a:solidFill>
              <a:schemeClr val="bg2">
                <a:lumMod val="10000"/>
              </a:schemeClr>
            </a:solidFill>
            <a:latin typeface="Calibri" panose="020F0502020204030204" pitchFamily="34" charset="0"/>
          </a:endParaRPr>
        </a:p>
      </dgm:t>
    </dgm:pt>
    <dgm:pt modelId="{66F03EFE-FA69-4CD3-BAA2-63E4651E3CE8}" type="parTrans" cxnId="{B0152A11-1F3E-4872-B78E-1413879CBBAB}">
      <dgm:prSet/>
      <dgm:spPr/>
      <dgm:t>
        <a:bodyPr/>
        <a:lstStyle/>
        <a:p>
          <a:endParaRPr lang="en-GB"/>
        </a:p>
      </dgm:t>
    </dgm:pt>
    <dgm:pt modelId="{10D2B5B8-D750-4282-B55A-26440552C0DA}" type="sibTrans" cxnId="{B0152A11-1F3E-4872-B78E-1413879CBBAB}">
      <dgm:prSet/>
      <dgm:spPr/>
      <dgm:t>
        <a:bodyPr/>
        <a:lstStyle/>
        <a:p>
          <a:endParaRPr lang="en-GB"/>
        </a:p>
      </dgm:t>
    </dgm:pt>
    <dgm:pt modelId="{3F646720-912F-4FB0-9C2E-579D95BB3C0E}">
      <dgm:prSet custT="1"/>
      <dgm:spPr/>
      <dgm:t>
        <a:bodyPr/>
        <a:lstStyle/>
        <a:p>
          <a:endParaRPr lang="en-GB" sz="1800" dirty="0" smtClean="0">
            <a:solidFill>
              <a:schemeClr val="bg2">
                <a:lumMod val="10000"/>
              </a:schemeClr>
            </a:solidFill>
            <a:latin typeface="Calibri" panose="020F0502020204030204" pitchFamily="34" charset="0"/>
          </a:endParaRPr>
        </a:p>
      </dgm:t>
    </dgm:pt>
    <dgm:pt modelId="{571E85A4-9ADF-4A1D-B6FB-2E10710F6424}" type="parTrans" cxnId="{9F9A79EC-6936-4CEB-9252-ADB6E1AE11AF}">
      <dgm:prSet/>
      <dgm:spPr/>
      <dgm:t>
        <a:bodyPr/>
        <a:lstStyle/>
        <a:p>
          <a:endParaRPr lang="en-GB"/>
        </a:p>
      </dgm:t>
    </dgm:pt>
    <dgm:pt modelId="{7AFE8B06-89EC-464A-8376-E7AF0C8DD4E5}" type="sibTrans" cxnId="{9F9A79EC-6936-4CEB-9252-ADB6E1AE11AF}">
      <dgm:prSet/>
      <dgm:spPr/>
      <dgm:t>
        <a:bodyPr/>
        <a:lstStyle/>
        <a:p>
          <a:endParaRPr lang="en-GB"/>
        </a:p>
      </dgm:t>
    </dgm:pt>
    <dgm:pt modelId="{2E9BD066-5772-45B3-AF70-8A7A03272818}" type="pres">
      <dgm:prSet presAssocID="{312AE3AD-150C-4556-B9F3-C5AFE07518AD}" presName="linear" presStyleCnt="0">
        <dgm:presLayoutVars>
          <dgm:animLvl val="lvl"/>
          <dgm:resizeHandles val="exact"/>
        </dgm:presLayoutVars>
      </dgm:prSet>
      <dgm:spPr/>
      <dgm:t>
        <a:bodyPr/>
        <a:lstStyle/>
        <a:p>
          <a:endParaRPr lang="en-GB"/>
        </a:p>
      </dgm:t>
    </dgm:pt>
    <dgm:pt modelId="{B71E4610-9C7F-4FC1-B45C-3246453F732B}" type="pres">
      <dgm:prSet presAssocID="{28AA58F6-D958-4B10-9359-D08D4D103B97}" presName="parentText" presStyleLbl="node1" presStyleIdx="0" presStyleCnt="1" custScaleY="63997" custLinFactNeighborY="-6367">
        <dgm:presLayoutVars>
          <dgm:chMax val="0"/>
          <dgm:bulletEnabled val="1"/>
        </dgm:presLayoutVars>
      </dgm:prSet>
      <dgm:spPr/>
      <dgm:t>
        <a:bodyPr/>
        <a:lstStyle/>
        <a:p>
          <a:endParaRPr lang="en-GB"/>
        </a:p>
      </dgm:t>
    </dgm:pt>
    <dgm:pt modelId="{59778523-FD02-412B-8EED-12620C0515E9}" type="pres">
      <dgm:prSet presAssocID="{28AA58F6-D958-4B10-9359-D08D4D103B97}" presName="childText" presStyleLbl="revTx" presStyleIdx="0" presStyleCnt="1" custScaleY="111489" custLinFactNeighborY="299">
        <dgm:presLayoutVars>
          <dgm:bulletEnabled val="1"/>
        </dgm:presLayoutVars>
      </dgm:prSet>
      <dgm:spPr/>
      <dgm:t>
        <a:bodyPr/>
        <a:lstStyle/>
        <a:p>
          <a:endParaRPr lang="en-GB"/>
        </a:p>
      </dgm:t>
    </dgm:pt>
  </dgm:ptLst>
  <dgm:cxnLst>
    <dgm:cxn modelId="{F6B25572-DB7F-415D-AF92-A43376E886A7}" type="presOf" srcId="{312AE3AD-150C-4556-B9F3-C5AFE07518AD}" destId="{2E9BD066-5772-45B3-AF70-8A7A03272818}" srcOrd="0" destOrd="0" presId="urn:microsoft.com/office/officeart/2005/8/layout/vList2"/>
    <dgm:cxn modelId="{36A437BC-6EDE-4303-A6D1-648012887460}" type="presOf" srcId="{7475AEAB-06AB-45E2-98CA-E2D0B86B0492}" destId="{59778523-FD02-412B-8EED-12620C0515E9}" srcOrd="0" destOrd="3" presId="urn:microsoft.com/office/officeart/2005/8/layout/vList2"/>
    <dgm:cxn modelId="{FD87779F-13BD-4EB3-806B-EFD57224520E}" type="presOf" srcId="{D97F0E23-3469-49AA-8515-E38E0361369C}" destId="{59778523-FD02-412B-8EED-12620C0515E9}" srcOrd="0" destOrd="1" presId="urn:microsoft.com/office/officeart/2005/8/layout/vList2"/>
    <dgm:cxn modelId="{C2BEBCDC-03B2-4D84-A49C-A63F131785DD}" srcId="{28AA58F6-D958-4B10-9359-D08D4D103B97}" destId="{5547A09F-9281-4926-AFA4-01F6C5E99E46}" srcOrd="0" destOrd="0" parTransId="{F3ACEA60-3461-4AC3-BB5D-893E4B822BE9}" sibTransId="{F76B773A-F1BB-45AE-853C-30C972F6D272}"/>
    <dgm:cxn modelId="{9F9A79EC-6936-4CEB-9252-ADB6E1AE11AF}" srcId="{28AA58F6-D958-4B10-9359-D08D4D103B97}" destId="{3F646720-912F-4FB0-9C2E-579D95BB3C0E}" srcOrd="5" destOrd="0" parTransId="{571E85A4-9ADF-4A1D-B6FB-2E10710F6424}" sibTransId="{7AFE8B06-89EC-464A-8376-E7AF0C8DD4E5}"/>
    <dgm:cxn modelId="{7FC4F6B6-7333-499E-8799-51F96AA60B84}" srcId="{312AE3AD-150C-4556-B9F3-C5AFE07518AD}" destId="{28AA58F6-D958-4B10-9359-D08D4D103B97}" srcOrd="0" destOrd="0" parTransId="{60C608F0-860E-4FC1-AB6C-6A893EFA9FC9}" sibTransId="{3083AE86-D778-4F5F-B1B6-4FB7AC7CBD51}"/>
    <dgm:cxn modelId="{B0152A11-1F3E-4872-B78E-1413879CBBAB}" srcId="{28AA58F6-D958-4B10-9359-D08D4D103B97}" destId="{7475AEAB-06AB-45E2-98CA-E2D0B86B0492}" srcOrd="3" destOrd="0" parTransId="{66F03EFE-FA69-4CD3-BAA2-63E4651E3CE8}" sibTransId="{10D2B5B8-D750-4282-B55A-26440552C0DA}"/>
    <dgm:cxn modelId="{5BA1823F-2135-46BA-AE99-EB8EF3E4522C}" type="presOf" srcId="{5547A09F-9281-4926-AFA4-01F6C5E99E46}" destId="{59778523-FD02-412B-8EED-12620C0515E9}" srcOrd="0" destOrd="0" presId="urn:microsoft.com/office/officeart/2005/8/layout/vList2"/>
    <dgm:cxn modelId="{9687FBD7-5570-4EE1-AD8C-0827D8FDFD8B}" srcId="{28AA58F6-D958-4B10-9359-D08D4D103B97}" destId="{31FDEDA6-66D9-439F-8F48-7D1A3D83CB2C}" srcOrd="2" destOrd="0" parTransId="{09E8ADEA-8958-4BC9-B0A6-4BBA6912F297}" sibTransId="{6D1C52CF-60AE-4EC8-BD3C-432DCD6C2CBF}"/>
    <dgm:cxn modelId="{7DCA2CC4-0A7D-43E4-B28B-3481C2FDAEDD}" type="presOf" srcId="{28AA58F6-D958-4B10-9359-D08D4D103B97}" destId="{B71E4610-9C7F-4FC1-B45C-3246453F732B}" srcOrd="0" destOrd="0" presId="urn:microsoft.com/office/officeart/2005/8/layout/vList2"/>
    <dgm:cxn modelId="{243CB387-1595-4467-BFEC-296652B1AC9B}" type="presOf" srcId="{31FDEDA6-66D9-439F-8F48-7D1A3D83CB2C}" destId="{59778523-FD02-412B-8EED-12620C0515E9}" srcOrd="0" destOrd="2" presId="urn:microsoft.com/office/officeart/2005/8/layout/vList2"/>
    <dgm:cxn modelId="{FEC8D880-A663-402B-A787-3C914236B237}" srcId="{28AA58F6-D958-4B10-9359-D08D4D103B97}" destId="{ABFAF83A-6C73-47F6-896E-A9BD27B48A39}" srcOrd="4" destOrd="0" parTransId="{A75B0344-DEA6-4F23-B9A2-5187C1B55793}" sibTransId="{94733AA1-8077-4264-929A-A4870403E5DA}"/>
    <dgm:cxn modelId="{9121E131-06A3-4D6D-9831-53334D27134B}" type="presOf" srcId="{3F646720-912F-4FB0-9C2E-579D95BB3C0E}" destId="{59778523-FD02-412B-8EED-12620C0515E9}" srcOrd="0" destOrd="5" presId="urn:microsoft.com/office/officeart/2005/8/layout/vList2"/>
    <dgm:cxn modelId="{3449CAFA-5480-46E9-A105-1E7FBF18FA42}" type="presOf" srcId="{ABFAF83A-6C73-47F6-896E-A9BD27B48A39}" destId="{59778523-FD02-412B-8EED-12620C0515E9}" srcOrd="0" destOrd="4" presId="urn:microsoft.com/office/officeart/2005/8/layout/vList2"/>
    <dgm:cxn modelId="{B0B2F67A-EBA5-48F4-A6DC-6B545647974D}" srcId="{28AA58F6-D958-4B10-9359-D08D4D103B97}" destId="{41E053C8-D301-4D12-AD77-7EE97ECC131D}" srcOrd="6" destOrd="0" parTransId="{E94A589A-0C85-450C-AE1A-FBF4CE0F2A81}" sibTransId="{9D04F1D8-B208-4490-A62E-6562FDAC00FC}"/>
    <dgm:cxn modelId="{ED097170-7D59-4F12-B292-86D74F524A55}" srcId="{28AA58F6-D958-4B10-9359-D08D4D103B97}" destId="{D97F0E23-3469-49AA-8515-E38E0361369C}" srcOrd="1" destOrd="0" parTransId="{6AA93C07-A878-4E1C-B974-8C08B510F320}" sibTransId="{C75C3C01-3CE1-4166-B916-4528E996C518}"/>
    <dgm:cxn modelId="{69363588-FB2C-42E2-90AB-819EEE464C0B}" type="presOf" srcId="{41E053C8-D301-4D12-AD77-7EE97ECC131D}" destId="{59778523-FD02-412B-8EED-12620C0515E9}" srcOrd="0" destOrd="6" presId="urn:microsoft.com/office/officeart/2005/8/layout/vList2"/>
    <dgm:cxn modelId="{19731FE0-04E1-4335-8190-F4F8766BCB4D}" type="presParOf" srcId="{2E9BD066-5772-45B3-AF70-8A7A03272818}" destId="{B71E4610-9C7F-4FC1-B45C-3246453F732B}" srcOrd="0" destOrd="0" presId="urn:microsoft.com/office/officeart/2005/8/layout/vList2"/>
    <dgm:cxn modelId="{86869DF5-4922-48FF-9D9F-1330D993A69D}" type="presParOf" srcId="{2E9BD066-5772-45B3-AF70-8A7A03272818}" destId="{59778523-FD02-412B-8EED-12620C0515E9}"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DACCB16-A97F-4AE7-BD91-9707F88F1702}" type="doc">
      <dgm:prSet loTypeId="urn:microsoft.com/office/officeart/2005/8/layout/pyramid4" loCatId="relationship" qsTypeId="urn:microsoft.com/office/officeart/2005/8/quickstyle/simple1" qsCatId="simple" csTypeId="urn:microsoft.com/office/officeart/2005/8/colors/accent1_2" csCatId="accent1" phldr="1"/>
      <dgm:spPr/>
      <dgm:t>
        <a:bodyPr/>
        <a:lstStyle/>
        <a:p>
          <a:endParaRPr lang="en-GB"/>
        </a:p>
      </dgm:t>
    </dgm:pt>
    <dgm:pt modelId="{894ED217-942A-4E2E-9CE7-D7FE3BFFED54}">
      <dgm:prSet custT="1"/>
      <dgm:spPr/>
      <dgm:t>
        <a:bodyPr anchor="t"/>
        <a:lstStyle/>
        <a:p>
          <a:r>
            <a:rPr lang="en-GB" sz="1600" b="1" dirty="0" smtClean="0">
              <a:latin typeface="Calibri" panose="020F0502020204030204" pitchFamily="34" charset="0"/>
            </a:rPr>
            <a:t>Rendre le système international plus équitable et plus efficace</a:t>
          </a:r>
          <a:endParaRPr lang="en-GB" sz="1600" b="1" dirty="0">
            <a:latin typeface="Calibri" panose="020F0502020204030204" pitchFamily="34" charset="0"/>
          </a:endParaRPr>
        </a:p>
      </dgm:t>
    </dgm:pt>
    <dgm:pt modelId="{0E31CBB5-35C9-4F7F-88A8-446173ADC26A}" type="parTrans" cxnId="{F0D27D8E-B81D-403E-8C56-1E6F8F2547EC}">
      <dgm:prSet/>
      <dgm:spPr/>
      <dgm:t>
        <a:bodyPr/>
        <a:lstStyle/>
        <a:p>
          <a:endParaRPr lang="en-GB" sz="1400" b="1">
            <a:latin typeface="Calibri" panose="020F0502020204030204" pitchFamily="34" charset="0"/>
          </a:endParaRPr>
        </a:p>
      </dgm:t>
    </dgm:pt>
    <dgm:pt modelId="{3FE477C9-D35F-4B5A-B4FA-1D112311BBDE}" type="sibTrans" cxnId="{F0D27D8E-B81D-403E-8C56-1E6F8F2547EC}">
      <dgm:prSet/>
      <dgm:spPr/>
      <dgm:t>
        <a:bodyPr/>
        <a:lstStyle/>
        <a:p>
          <a:endParaRPr lang="en-GB" sz="1400" b="1">
            <a:latin typeface="Calibri" panose="020F0502020204030204" pitchFamily="34" charset="0"/>
          </a:endParaRPr>
        </a:p>
      </dgm:t>
    </dgm:pt>
    <dgm:pt modelId="{CFDC4C17-B4A3-402B-8DD0-B7E7A1CE2665}">
      <dgm:prSet phldrT="[Text]" custT="1"/>
      <dgm:spPr/>
      <dgm:t>
        <a:bodyPr/>
        <a:lstStyle/>
        <a:p>
          <a:r>
            <a:rPr lang="en-GB" sz="1600" b="1" dirty="0" smtClean="0">
              <a:solidFill>
                <a:schemeClr val="bg1"/>
              </a:solidFill>
              <a:latin typeface="Calibri" panose="020F0502020204030204" pitchFamily="34" charset="0"/>
            </a:rPr>
            <a:t>Politiques pour encourager les nouvelles entreprises, l'innovation et la création d'emplois</a:t>
          </a:r>
          <a:endParaRPr lang="en-GB" sz="1600" b="1" dirty="0">
            <a:solidFill>
              <a:schemeClr val="bg1"/>
            </a:solidFill>
            <a:latin typeface="Calibri" panose="020F0502020204030204" pitchFamily="34" charset="0"/>
          </a:endParaRPr>
        </a:p>
      </dgm:t>
    </dgm:pt>
    <dgm:pt modelId="{5E3008B7-8F69-4F0C-AD1E-C70E0305C062}" type="parTrans" cxnId="{EDB180D3-2027-459B-AED8-79F8E30CD0EB}">
      <dgm:prSet/>
      <dgm:spPr/>
      <dgm:t>
        <a:bodyPr/>
        <a:lstStyle/>
        <a:p>
          <a:endParaRPr lang="en-GB" sz="1400" b="1">
            <a:latin typeface="Calibri" panose="020F0502020204030204" pitchFamily="34" charset="0"/>
          </a:endParaRPr>
        </a:p>
      </dgm:t>
    </dgm:pt>
    <dgm:pt modelId="{0DA15BDD-8C02-4177-B987-23C4D332A976}" type="sibTrans" cxnId="{EDB180D3-2027-459B-AED8-79F8E30CD0EB}">
      <dgm:prSet/>
      <dgm:spPr/>
      <dgm:t>
        <a:bodyPr/>
        <a:lstStyle/>
        <a:p>
          <a:endParaRPr lang="en-GB" sz="1400" b="1">
            <a:latin typeface="Calibri" panose="020F0502020204030204" pitchFamily="34" charset="0"/>
          </a:endParaRPr>
        </a:p>
      </dgm:t>
    </dgm:pt>
    <dgm:pt modelId="{938A20E0-2977-41EA-BD98-C22B2E5B2A5C}">
      <dgm:prSet phldrT="[Text]" custT="1"/>
      <dgm:spPr/>
      <dgm:t>
        <a:bodyPr/>
        <a:lstStyle/>
        <a:p>
          <a:r>
            <a:rPr lang="en-GB" sz="1600" b="1" dirty="0" smtClean="0">
              <a:latin typeface="Calibri" panose="020F0502020204030204" pitchFamily="34" charset="0"/>
            </a:rPr>
            <a:t>Des politiques ciblées pour aider les personnes à saisir de nouvelles </a:t>
          </a:r>
          <a:r>
            <a:rPr lang="en-GB" sz="1550" b="1" dirty="0" smtClean="0">
              <a:latin typeface="Calibri" panose="020F0502020204030204" pitchFamily="34" charset="0"/>
            </a:rPr>
            <a:t>opportunités</a:t>
          </a:r>
          <a:endParaRPr lang="en-GB" sz="1550" b="1" dirty="0">
            <a:latin typeface="Calibri" panose="020F0502020204030204" pitchFamily="34" charset="0"/>
          </a:endParaRPr>
        </a:p>
      </dgm:t>
    </dgm:pt>
    <dgm:pt modelId="{0724CEDD-2C28-4658-91FF-9AADEAC20DD3}" type="parTrans" cxnId="{D4BBC0C8-3B8A-4ABB-9224-8C6D2347C86B}">
      <dgm:prSet/>
      <dgm:spPr/>
      <dgm:t>
        <a:bodyPr/>
        <a:lstStyle/>
        <a:p>
          <a:endParaRPr lang="en-GB"/>
        </a:p>
      </dgm:t>
    </dgm:pt>
    <dgm:pt modelId="{F477D234-8611-43C6-8163-0E3AD3EA84A6}" type="sibTrans" cxnId="{D4BBC0C8-3B8A-4ABB-9224-8C6D2347C86B}">
      <dgm:prSet/>
      <dgm:spPr/>
      <dgm:t>
        <a:bodyPr/>
        <a:lstStyle/>
        <a:p>
          <a:endParaRPr lang="en-GB"/>
        </a:p>
      </dgm:t>
    </dgm:pt>
    <dgm:pt modelId="{08F48176-C6C2-4E03-A868-8265352F91FF}">
      <dgm:prSet phldrT="[Text]" custT="1"/>
      <dgm:spPr>
        <a:solidFill>
          <a:schemeClr val="accent1">
            <a:lumMod val="40000"/>
            <a:lumOff val="60000"/>
          </a:schemeClr>
        </a:solidFill>
      </dgm:spPr>
      <dgm:t>
        <a:bodyPr/>
        <a:lstStyle/>
        <a:p>
          <a:endParaRPr lang="en-GB" sz="1400" b="1" dirty="0">
            <a:latin typeface="Calibri" panose="020F0502020204030204" pitchFamily="34" charset="0"/>
          </a:endParaRPr>
        </a:p>
      </dgm:t>
    </dgm:pt>
    <dgm:pt modelId="{CFDC7288-346A-4AB1-B045-24CD3680CA50}" type="parTrans" cxnId="{7295D42E-8537-48D4-8280-2B827F8891B2}">
      <dgm:prSet/>
      <dgm:spPr/>
      <dgm:t>
        <a:bodyPr/>
        <a:lstStyle/>
        <a:p>
          <a:endParaRPr lang="en-GB"/>
        </a:p>
      </dgm:t>
    </dgm:pt>
    <dgm:pt modelId="{03A1E7B4-79BC-4E8F-83BA-259BF6086CCB}" type="sibTrans" cxnId="{7295D42E-8537-48D4-8280-2B827F8891B2}">
      <dgm:prSet/>
      <dgm:spPr/>
      <dgm:t>
        <a:bodyPr/>
        <a:lstStyle/>
        <a:p>
          <a:endParaRPr lang="en-GB"/>
        </a:p>
      </dgm:t>
    </dgm:pt>
    <dgm:pt modelId="{C7C00932-50D6-4289-BB7C-788D8094F781}" type="pres">
      <dgm:prSet presAssocID="{DDACCB16-A97F-4AE7-BD91-9707F88F1702}" presName="compositeShape" presStyleCnt="0">
        <dgm:presLayoutVars>
          <dgm:chMax val="9"/>
          <dgm:dir/>
          <dgm:resizeHandles val="exact"/>
        </dgm:presLayoutVars>
      </dgm:prSet>
      <dgm:spPr/>
      <dgm:t>
        <a:bodyPr/>
        <a:lstStyle/>
        <a:p>
          <a:endParaRPr lang="en-GB"/>
        </a:p>
      </dgm:t>
    </dgm:pt>
    <dgm:pt modelId="{6CE2A82E-78D8-4AA1-9997-FA861DC45FCE}" type="pres">
      <dgm:prSet presAssocID="{DDACCB16-A97F-4AE7-BD91-9707F88F1702}" presName="triangle1" presStyleLbl="node1" presStyleIdx="0" presStyleCnt="4">
        <dgm:presLayoutVars>
          <dgm:bulletEnabled val="1"/>
        </dgm:presLayoutVars>
      </dgm:prSet>
      <dgm:spPr/>
      <dgm:t>
        <a:bodyPr/>
        <a:lstStyle/>
        <a:p>
          <a:endParaRPr lang="en-GB"/>
        </a:p>
      </dgm:t>
    </dgm:pt>
    <dgm:pt modelId="{402A8876-6D7F-4D19-8F3D-9BE49D0BE090}" type="pres">
      <dgm:prSet presAssocID="{DDACCB16-A97F-4AE7-BD91-9707F88F1702}" presName="triangle2" presStyleLbl="node1" presStyleIdx="1" presStyleCnt="4">
        <dgm:presLayoutVars>
          <dgm:bulletEnabled val="1"/>
        </dgm:presLayoutVars>
      </dgm:prSet>
      <dgm:spPr/>
      <dgm:t>
        <a:bodyPr/>
        <a:lstStyle/>
        <a:p>
          <a:endParaRPr lang="en-GB"/>
        </a:p>
      </dgm:t>
    </dgm:pt>
    <dgm:pt modelId="{345CFC21-535E-4D1D-A1B2-2506225BE7BD}" type="pres">
      <dgm:prSet presAssocID="{DDACCB16-A97F-4AE7-BD91-9707F88F1702}" presName="triangle3" presStyleLbl="node1" presStyleIdx="2" presStyleCnt="4">
        <dgm:presLayoutVars>
          <dgm:bulletEnabled val="1"/>
        </dgm:presLayoutVars>
      </dgm:prSet>
      <dgm:spPr/>
      <dgm:t>
        <a:bodyPr/>
        <a:lstStyle/>
        <a:p>
          <a:endParaRPr lang="en-GB"/>
        </a:p>
      </dgm:t>
    </dgm:pt>
    <dgm:pt modelId="{9C8B428A-02B9-4336-8CE1-BA240C7BD6D4}" type="pres">
      <dgm:prSet presAssocID="{DDACCB16-A97F-4AE7-BD91-9707F88F1702}" presName="triangle4" presStyleLbl="node1" presStyleIdx="3" presStyleCnt="4">
        <dgm:presLayoutVars>
          <dgm:bulletEnabled val="1"/>
        </dgm:presLayoutVars>
      </dgm:prSet>
      <dgm:spPr/>
      <dgm:t>
        <a:bodyPr/>
        <a:lstStyle/>
        <a:p>
          <a:endParaRPr lang="en-GB"/>
        </a:p>
      </dgm:t>
    </dgm:pt>
  </dgm:ptLst>
  <dgm:cxnLst>
    <dgm:cxn modelId="{C4E21589-0A0C-48C9-B778-CA55B1A17848}" type="presOf" srcId="{938A20E0-2977-41EA-BD98-C22B2E5B2A5C}" destId="{9C8B428A-02B9-4336-8CE1-BA240C7BD6D4}" srcOrd="0" destOrd="0" presId="urn:microsoft.com/office/officeart/2005/8/layout/pyramid4"/>
    <dgm:cxn modelId="{7295D42E-8537-48D4-8280-2B827F8891B2}" srcId="{DDACCB16-A97F-4AE7-BD91-9707F88F1702}" destId="{08F48176-C6C2-4E03-A868-8265352F91FF}" srcOrd="2" destOrd="0" parTransId="{CFDC7288-346A-4AB1-B045-24CD3680CA50}" sibTransId="{03A1E7B4-79BC-4E8F-83BA-259BF6086CCB}"/>
    <dgm:cxn modelId="{D4BBC0C8-3B8A-4ABB-9224-8C6D2347C86B}" srcId="{DDACCB16-A97F-4AE7-BD91-9707F88F1702}" destId="{938A20E0-2977-41EA-BD98-C22B2E5B2A5C}" srcOrd="3" destOrd="0" parTransId="{0724CEDD-2C28-4658-91FF-9AADEAC20DD3}" sibTransId="{F477D234-8611-43C6-8163-0E3AD3EA84A6}"/>
    <dgm:cxn modelId="{EDB180D3-2027-459B-AED8-79F8E30CD0EB}" srcId="{DDACCB16-A97F-4AE7-BD91-9707F88F1702}" destId="{CFDC4C17-B4A3-402B-8DD0-B7E7A1CE2665}" srcOrd="1" destOrd="0" parTransId="{5E3008B7-8F69-4F0C-AD1E-C70E0305C062}" sibTransId="{0DA15BDD-8C02-4177-B987-23C4D332A976}"/>
    <dgm:cxn modelId="{8AEA0CC2-1A97-4516-B0FE-0A92F82ECF2F}" type="presOf" srcId="{894ED217-942A-4E2E-9CE7-D7FE3BFFED54}" destId="{6CE2A82E-78D8-4AA1-9997-FA861DC45FCE}" srcOrd="0" destOrd="0" presId="urn:microsoft.com/office/officeart/2005/8/layout/pyramid4"/>
    <dgm:cxn modelId="{193CDDFD-E7C3-47D4-8B82-48CB95C956BE}" type="presOf" srcId="{CFDC4C17-B4A3-402B-8DD0-B7E7A1CE2665}" destId="{402A8876-6D7F-4D19-8F3D-9BE49D0BE090}" srcOrd="0" destOrd="0" presId="urn:microsoft.com/office/officeart/2005/8/layout/pyramid4"/>
    <dgm:cxn modelId="{6F9879C7-9ED7-45E2-93CC-873BFAB3AF38}" type="presOf" srcId="{08F48176-C6C2-4E03-A868-8265352F91FF}" destId="{345CFC21-535E-4D1D-A1B2-2506225BE7BD}" srcOrd="0" destOrd="0" presId="urn:microsoft.com/office/officeart/2005/8/layout/pyramid4"/>
    <dgm:cxn modelId="{CB3666E2-A1F7-4796-82DA-D105236E0E37}" type="presOf" srcId="{DDACCB16-A97F-4AE7-BD91-9707F88F1702}" destId="{C7C00932-50D6-4289-BB7C-788D8094F781}" srcOrd="0" destOrd="0" presId="urn:microsoft.com/office/officeart/2005/8/layout/pyramid4"/>
    <dgm:cxn modelId="{F0D27D8E-B81D-403E-8C56-1E6F8F2547EC}" srcId="{DDACCB16-A97F-4AE7-BD91-9707F88F1702}" destId="{894ED217-942A-4E2E-9CE7-D7FE3BFFED54}" srcOrd="0" destOrd="0" parTransId="{0E31CBB5-35C9-4F7F-88A8-446173ADC26A}" sibTransId="{3FE477C9-D35F-4B5A-B4FA-1D112311BBDE}"/>
    <dgm:cxn modelId="{F7F37DB8-C702-4688-9BAE-D5B022B7DC6B}" type="presParOf" srcId="{C7C00932-50D6-4289-BB7C-788D8094F781}" destId="{6CE2A82E-78D8-4AA1-9997-FA861DC45FCE}" srcOrd="0" destOrd="0" presId="urn:microsoft.com/office/officeart/2005/8/layout/pyramid4"/>
    <dgm:cxn modelId="{C2F11204-8B2C-42B1-9FE6-D174D0E4BB47}" type="presParOf" srcId="{C7C00932-50D6-4289-BB7C-788D8094F781}" destId="{402A8876-6D7F-4D19-8F3D-9BE49D0BE090}" srcOrd="1" destOrd="0" presId="urn:microsoft.com/office/officeart/2005/8/layout/pyramid4"/>
    <dgm:cxn modelId="{2E40B099-69DF-4C47-8846-8D236B48D11B}" type="presParOf" srcId="{C7C00932-50D6-4289-BB7C-788D8094F781}" destId="{345CFC21-535E-4D1D-A1B2-2506225BE7BD}" srcOrd="2" destOrd="0" presId="urn:microsoft.com/office/officeart/2005/8/layout/pyramid4"/>
    <dgm:cxn modelId="{C1777866-08B9-4250-8F6E-7BFA19C541A0}" type="presParOf" srcId="{C7C00932-50D6-4289-BB7C-788D8094F781}" destId="{9C8B428A-02B9-4336-8CE1-BA240C7BD6D4}" srcOrd="3" destOrd="0" presId="urn:microsoft.com/office/officeart/2005/8/layout/pyramid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1E4610-9C7F-4FC1-B45C-3246453F732B}">
      <dsp:nvSpPr>
        <dsp:cNvPr id="0" name=""/>
        <dsp:cNvSpPr/>
      </dsp:nvSpPr>
      <dsp:spPr>
        <a:xfrm>
          <a:off x="0" y="220817"/>
          <a:ext cx="8280920" cy="57528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GB" sz="2000" kern="1200" dirty="0" smtClean="0">
              <a:latin typeface="Calibri" panose="020F0502020204030204" pitchFamily="34" charset="0"/>
            </a:rPr>
            <a:t>La croissance mondiale devrait se redresser modérément </a:t>
          </a:r>
          <a:r>
            <a:rPr lang="en-GB" sz="2000" kern="1200" smtClean="0">
              <a:latin typeface="Calibri" panose="020F0502020204030204" pitchFamily="34" charset="0"/>
            </a:rPr>
            <a:t>avec des risques </a:t>
          </a:r>
          <a:r>
            <a:rPr lang="en-GB" sz="2000" kern="1200" dirty="0" smtClean="0">
              <a:latin typeface="Calibri" panose="020F0502020204030204" pitchFamily="34" charset="0"/>
            </a:rPr>
            <a:t>haussiers</a:t>
          </a:r>
        </a:p>
      </dsp:txBody>
      <dsp:txXfrm>
        <a:off x="28083" y="248900"/>
        <a:ext cx="8224754" cy="519119"/>
      </dsp:txXfrm>
    </dsp:sp>
    <dsp:sp modelId="{59778523-FD02-412B-8EED-12620C0515E9}">
      <dsp:nvSpPr>
        <dsp:cNvPr id="0" name=""/>
        <dsp:cNvSpPr/>
      </dsp:nvSpPr>
      <dsp:spPr>
        <a:xfrm>
          <a:off x="0" y="796102"/>
          <a:ext cx="8280920" cy="82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2919"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GB" sz="1600" kern="1200" dirty="0" smtClean="0">
              <a:solidFill>
                <a:schemeClr val="bg2">
                  <a:lumMod val="10000"/>
                </a:schemeClr>
              </a:solidFill>
              <a:latin typeface="Calibri" panose="020F0502020204030204" pitchFamily="34" charset="0"/>
            </a:rPr>
            <a:t>Davantage d'efforts sont nécessaires pour mieux partager les gains des tendances structurelles et du commerce</a:t>
          </a:r>
        </a:p>
        <a:p>
          <a:pPr marL="171450" lvl="1" indent="-171450" algn="l" defTabSz="711200">
            <a:lnSpc>
              <a:spcPct val="90000"/>
            </a:lnSpc>
            <a:spcBef>
              <a:spcPct val="0"/>
            </a:spcBef>
            <a:spcAft>
              <a:spcPct val="20000"/>
            </a:spcAft>
            <a:buChar char="••"/>
          </a:pPr>
          <a:r>
            <a:rPr lang="en-US" sz="1600" kern="1200" dirty="0" smtClean="0">
              <a:solidFill>
                <a:schemeClr val="bg2">
                  <a:lumMod val="10000"/>
                </a:schemeClr>
              </a:solidFill>
              <a:latin typeface="Calibri" panose="020F0502020204030204" pitchFamily="34" charset="0"/>
            </a:rPr>
            <a:t>Une approche intégrée des politiques est nécessaire pour que la mondialisation profite à tous</a:t>
          </a:r>
          <a:endParaRPr lang="en-GB" sz="1600" kern="1200" dirty="0" smtClean="0">
            <a:solidFill>
              <a:schemeClr val="bg2">
                <a:lumMod val="10000"/>
              </a:schemeClr>
            </a:solidFill>
            <a:latin typeface="Calibri" panose="020F0502020204030204" pitchFamily="34" charset="0"/>
          </a:endParaRPr>
        </a:p>
        <a:p>
          <a:pPr marL="171450" lvl="1" indent="-171450" algn="l" defTabSz="711200">
            <a:lnSpc>
              <a:spcPct val="90000"/>
            </a:lnSpc>
            <a:spcBef>
              <a:spcPct val="0"/>
            </a:spcBef>
            <a:spcAft>
              <a:spcPct val="20000"/>
            </a:spcAft>
            <a:buChar char="••"/>
          </a:pPr>
          <a:r>
            <a:rPr lang="en-GB" sz="1600" kern="1200" dirty="0" smtClean="0">
              <a:solidFill>
                <a:schemeClr val="bg2">
                  <a:lumMod val="10000"/>
                </a:schemeClr>
              </a:solidFill>
              <a:latin typeface="Calibri" panose="020F0502020204030204" pitchFamily="34" charset="0"/>
            </a:rPr>
            <a:t>Les évolutions de la technologie, des préférences des consommateurs et du commerce surviennent simultanément</a:t>
          </a:r>
        </a:p>
      </dsp:txBody>
      <dsp:txXfrm>
        <a:off x="0" y="796102"/>
        <a:ext cx="8280920" cy="828000"/>
      </dsp:txXfrm>
    </dsp:sp>
    <dsp:sp modelId="{86CD86FE-BCDD-4F86-8258-550D41ABF992}">
      <dsp:nvSpPr>
        <dsp:cNvPr id="0" name=""/>
        <dsp:cNvSpPr/>
      </dsp:nvSpPr>
      <dsp:spPr>
        <a:xfrm>
          <a:off x="0" y="1624102"/>
          <a:ext cx="8280920" cy="54023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GB" sz="2000" kern="1200" dirty="0" smtClean="0">
              <a:latin typeface="Calibri" panose="020F0502020204030204" pitchFamily="34" charset="0"/>
            </a:rPr>
            <a:t>Des conditions de concurrence plus équitables pour le système international</a:t>
          </a:r>
        </a:p>
      </dsp:txBody>
      <dsp:txXfrm>
        <a:off x="26372" y="1650474"/>
        <a:ext cx="8228176" cy="487494"/>
      </dsp:txXfrm>
    </dsp:sp>
    <dsp:sp modelId="{4D106606-0D66-4779-A085-E8266C34AB2A}">
      <dsp:nvSpPr>
        <dsp:cNvPr id="0" name=""/>
        <dsp:cNvSpPr/>
      </dsp:nvSpPr>
      <dsp:spPr>
        <a:xfrm>
          <a:off x="0" y="2164340"/>
          <a:ext cx="8280920" cy="5485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2919"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GB" sz="1600" kern="1200" dirty="0" smtClean="0">
              <a:solidFill>
                <a:schemeClr val="bg2">
                  <a:lumMod val="10000"/>
                </a:schemeClr>
              </a:solidFill>
              <a:latin typeface="Calibri" panose="020F0502020204030204" pitchFamily="34" charset="0"/>
            </a:rPr>
            <a:t>La confiance s'améliore et l'investissement et le commerce repartent à partir de niveaux faibles</a:t>
          </a:r>
        </a:p>
        <a:p>
          <a:pPr marL="171450" lvl="1" indent="-171450" algn="l" defTabSz="711200">
            <a:lnSpc>
              <a:spcPct val="90000"/>
            </a:lnSpc>
            <a:spcBef>
              <a:spcPct val="0"/>
            </a:spcBef>
            <a:spcAft>
              <a:spcPct val="20000"/>
            </a:spcAft>
            <a:buChar char="••"/>
          </a:pPr>
          <a:r>
            <a:rPr lang="en-US" sz="1600" kern="1200" dirty="0" smtClean="0">
              <a:solidFill>
                <a:schemeClr val="bg2">
                  <a:lumMod val="10000"/>
                </a:schemeClr>
              </a:solidFill>
              <a:latin typeface="Calibri" panose="020F0502020204030204" pitchFamily="34" charset="0"/>
            </a:rPr>
            <a:t>Signes d'une demande accrue de biens de haute technologie et d'investissements pour moderniser le capital</a:t>
          </a:r>
          <a:endParaRPr lang="en-GB" sz="1600" kern="1200" dirty="0" smtClean="0">
            <a:solidFill>
              <a:schemeClr val="bg2">
                <a:lumMod val="10000"/>
              </a:schemeClr>
            </a:solidFill>
            <a:latin typeface="Calibri" panose="020F0502020204030204" pitchFamily="34" charset="0"/>
          </a:endParaRPr>
        </a:p>
      </dsp:txBody>
      <dsp:txXfrm>
        <a:off x="0" y="2164340"/>
        <a:ext cx="8280920" cy="548550"/>
      </dsp:txXfrm>
    </dsp:sp>
    <dsp:sp modelId="{9CFD6359-D6AA-429D-ADFE-D05F20309091}">
      <dsp:nvSpPr>
        <dsp:cNvPr id="0" name=""/>
        <dsp:cNvSpPr/>
      </dsp:nvSpPr>
      <dsp:spPr>
        <a:xfrm>
          <a:off x="0" y="2729830"/>
          <a:ext cx="8280920" cy="58343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GB" sz="2000" kern="1200" dirty="0" smtClean="0">
              <a:latin typeface="Calibri" panose="020F0502020204030204" pitchFamily="34" charset="0"/>
            </a:rPr>
            <a:t>Réformes intérieures pour stimuler la concurrence, la création d'emplois, les compétences et l'innovation</a:t>
          </a:r>
        </a:p>
      </dsp:txBody>
      <dsp:txXfrm>
        <a:off x="28481" y="2758311"/>
        <a:ext cx="8223958" cy="526477"/>
      </dsp:txXfrm>
    </dsp:sp>
    <dsp:sp modelId="{E865CCEF-EA47-42BC-ABAD-CF3E5C00DE2D}">
      <dsp:nvSpPr>
        <dsp:cNvPr id="0" name=""/>
        <dsp:cNvSpPr/>
      </dsp:nvSpPr>
      <dsp:spPr>
        <a:xfrm>
          <a:off x="0" y="3313264"/>
          <a:ext cx="8280920" cy="5485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2919"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en-GB" sz="1600" kern="1200" dirty="0" smtClean="0">
              <a:solidFill>
                <a:schemeClr val="bg2">
                  <a:lumMod val="10000"/>
                </a:schemeClr>
              </a:solidFill>
              <a:latin typeface="Calibri" panose="020F0502020204030204" pitchFamily="34" charset="0"/>
            </a:rPr>
            <a:t>La croissance de la productivité et des salaires reste modérée ; les risques pour la stabilité financière persistent</a:t>
          </a:r>
        </a:p>
        <a:p>
          <a:pPr marL="171450" lvl="1" indent="-171450" algn="l" defTabSz="711200">
            <a:lnSpc>
              <a:spcPct val="90000"/>
            </a:lnSpc>
            <a:spcBef>
              <a:spcPct val="0"/>
            </a:spcBef>
            <a:spcAft>
              <a:spcPct val="20000"/>
            </a:spcAft>
            <a:buChar char="••"/>
          </a:pPr>
          <a:r>
            <a:rPr lang="en-GB" sz="1600" kern="1200" dirty="0" smtClean="0">
              <a:solidFill>
                <a:schemeClr val="bg2">
                  <a:lumMod val="10000"/>
                </a:schemeClr>
              </a:solidFill>
              <a:latin typeface="Calibri" panose="020F0502020204030204" pitchFamily="34" charset="0"/>
            </a:rPr>
            <a:t>Les pertes d'emplois dues aux réorientations de l'activité se concentrent dans l'industrie manufacturière et certaines régions</a:t>
          </a:r>
        </a:p>
      </dsp:txBody>
      <dsp:txXfrm>
        <a:off x="0" y="3313264"/>
        <a:ext cx="8280920" cy="548550"/>
      </dsp:txXfrm>
    </dsp:sp>
    <dsp:sp modelId="{2B45D7B7-0834-4D13-8778-0BFAB98C78C2}">
      <dsp:nvSpPr>
        <dsp:cNvPr id="0" name=""/>
        <dsp:cNvSpPr/>
      </dsp:nvSpPr>
      <dsp:spPr>
        <a:xfrm>
          <a:off x="0" y="3861821"/>
          <a:ext cx="8280920" cy="55152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a:lnSpc>
              <a:spcPct val="90000"/>
            </a:lnSpc>
            <a:spcBef>
              <a:spcPct val="0"/>
            </a:spcBef>
            <a:spcAft>
              <a:spcPct val="35000"/>
            </a:spcAft>
          </a:pPr>
          <a:r>
            <a:rPr lang="en-GB" sz="2000" kern="1200" dirty="0" smtClean="0">
              <a:latin typeface="Calibri" panose="020F0502020204030204" pitchFamily="34" charset="0"/>
            </a:rPr>
            <a:t>La croissance est généralisée ; la reprise chez les producteurs de matières premières soutient la modeste embellie mondiale</a:t>
          </a:r>
        </a:p>
      </dsp:txBody>
      <dsp:txXfrm>
        <a:off x="26923" y="3888744"/>
        <a:ext cx="8227074" cy="497679"/>
      </dsp:txXfrm>
    </dsp:sp>
    <dsp:sp modelId="{466AD614-18F8-4250-8704-A12C186A2560}">
      <dsp:nvSpPr>
        <dsp:cNvPr id="0" name=""/>
        <dsp:cNvSpPr/>
      </dsp:nvSpPr>
      <dsp:spPr>
        <a:xfrm>
          <a:off x="0" y="4413339"/>
          <a:ext cx="8280920" cy="82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2919" tIns="25400" rIns="142240" bIns="25400" numCol="1" spcCol="1270" anchor="t" anchorCtr="0">
          <a:noAutofit/>
        </a:bodyPr>
        <a:lstStyle/>
        <a:p>
          <a:pPr marL="171450" lvl="1" indent="-171450" algn="l" defTabSz="711200" eaLnBrk="1" latinLnBrk="0">
            <a:lnSpc>
              <a:spcPct val="90000"/>
            </a:lnSpc>
            <a:spcBef>
              <a:spcPct val="0"/>
            </a:spcBef>
            <a:spcAft>
              <a:spcPct val="20000"/>
            </a:spcAft>
            <a:buChar char="••"/>
          </a:pPr>
          <a:r>
            <a:rPr lang="en-GB" sz="1600" kern="1200" dirty="0" smtClean="0">
              <a:solidFill>
                <a:schemeClr val="bg2">
                  <a:lumMod val="10000"/>
                </a:schemeClr>
              </a:solidFill>
              <a:latin typeface="Calibri" panose="020F0502020204030204" pitchFamily="34" charset="0"/>
            </a:rPr>
            <a:t>Les principaux indicateurs de l'emploi s'améliorent, mais les marchés du travail ne se sont pas redressés</a:t>
          </a:r>
        </a:p>
        <a:p>
          <a:pPr marL="171450" lvl="1" indent="-171450" algn="l" defTabSz="711200" eaLnBrk="1" latinLnBrk="0">
            <a:lnSpc>
              <a:spcPct val="90000"/>
            </a:lnSpc>
            <a:spcBef>
              <a:spcPct val="0"/>
            </a:spcBef>
            <a:spcAft>
              <a:spcPct val="20000"/>
            </a:spcAft>
            <a:buChar char="••"/>
          </a:pPr>
          <a:r>
            <a:rPr lang="en-GB" sz="1600" kern="1200" dirty="0" smtClean="0">
              <a:solidFill>
                <a:schemeClr val="bg2">
                  <a:lumMod val="10000"/>
                </a:schemeClr>
              </a:solidFill>
              <a:latin typeface="Calibri" panose="020F0502020204030204" pitchFamily="34" charset="0"/>
            </a:rPr>
            <a:t>Risques financiers liés à une croissance du crédit élevée et en hausse, à la hausse des prix de l'immobilier et aux écarts de taux d'intérêt</a:t>
          </a:r>
        </a:p>
        <a:p>
          <a:pPr marL="171450" lvl="1" indent="-171450" algn="l" defTabSz="711200" eaLnBrk="1" latinLnBrk="0">
            <a:lnSpc>
              <a:spcPct val="90000"/>
            </a:lnSpc>
            <a:spcBef>
              <a:spcPct val="0"/>
            </a:spcBef>
            <a:spcAft>
              <a:spcPct val="20000"/>
            </a:spcAft>
            <a:buChar char="••"/>
          </a:pPr>
          <a:r>
            <a:rPr lang="en-GB" sz="1600" kern="1200" dirty="0" smtClean="0">
              <a:solidFill>
                <a:schemeClr val="bg2">
                  <a:lumMod val="10000"/>
                </a:schemeClr>
              </a:solidFill>
              <a:latin typeface="Calibri" panose="020F0502020204030204" pitchFamily="34" charset="0"/>
            </a:rPr>
            <a:t>Des politiques ciblées pour aider les personnes laissées de côté à saisir de nouvelles opportunités</a:t>
          </a:r>
        </a:p>
      </dsp:txBody>
      <dsp:txXfrm>
        <a:off x="0" y="4413339"/>
        <a:ext cx="8280920" cy="828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0.31343</cdr:x>
      <cdr:y>0.51006</cdr:y>
    </cdr:from>
    <cdr:to>
      <cdr:x>0.46102</cdr:x>
      <cdr:y>0.59425</cdr:y>
    </cdr:to>
    <cdr:sp macro="" textlink="">
      <cdr:nvSpPr>
        <cdr:cNvPr id="2" name="TextBox 1"/>
        <cdr:cNvSpPr txBox="1"/>
      </cdr:nvSpPr>
      <cdr:spPr>
        <a:xfrm xmlns:a="http://schemas.openxmlformats.org/drawingml/2006/main">
          <a:off x="1800200" y="2366005"/>
          <a:ext cx="847695" cy="39053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GB" sz="1400" b="1" dirty="0">
              <a:latin typeface="Arial Narrow" panose="020B0606020202030204" pitchFamily="34" charset="0"/>
            </a:rPr>
            <a:t>1995</a:t>
          </a:r>
        </a:p>
      </cdr:txBody>
    </cdr:sp>
  </cdr:relSizeAnchor>
  <cdr:relSizeAnchor xmlns:cdr="http://schemas.openxmlformats.org/drawingml/2006/chartDrawing">
    <cdr:from>
      <cdr:x>0.08138</cdr:x>
      <cdr:y>0.44963</cdr:y>
    </cdr:from>
    <cdr:to>
      <cdr:x>0.22897</cdr:x>
      <cdr:y>0.53382</cdr:y>
    </cdr:to>
    <cdr:sp macro="" textlink="">
      <cdr:nvSpPr>
        <cdr:cNvPr id="3" name="TextBox 1"/>
        <cdr:cNvSpPr txBox="1"/>
      </cdr:nvSpPr>
      <cdr:spPr>
        <a:xfrm xmlns:a="http://schemas.openxmlformats.org/drawingml/2006/main">
          <a:off x="467440" y="2085676"/>
          <a:ext cx="847694" cy="390530"/>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GB" sz="1400" b="1" dirty="0">
              <a:latin typeface="Arial Narrow" panose="020B0606020202030204" pitchFamily="34" charset="0"/>
            </a:rPr>
            <a:t>2015</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4283" cy="495300"/>
          </a:xfrm>
          <a:prstGeom prst="rect">
            <a:avLst/>
          </a:prstGeom>
        </p:spPr>
        <p:txBody>
          <a:bodyPr vert="horz" lIns="91430" tIns="45715" rIns="91430" bIns="45715" rtlCol="0"/>
          <a:lstStyle>
            <a:lvl1pPr algn="l">
              <a:defRPr sz="1200"/>
            </a:lvl1pPr>
          </a:lstStyle>
          <a:p>
            <a:endParaRPr lang="en-GB" dirty="0"/>
          </a:p>
        </p:txBody>
      </p:sp>
      <p:sp>
        <p:nvSpPr>
          <p:cNvPr id="3" name="Date Placeholder 2"/>
          <p:cNvSpPr>
            <a:spLocks noGrp="1"/>
          </p:cNvSpPr>
          <p:nvPr>
            <p:ph type="dt" sz="quarter" idx="1"/>
          </p:nvPr>
        </p:nvSpPr>
        <p:spPr>
          <a:xfrm>
            <a:off x="3848646" y="0"/>
            <a:ext cx="2944283" cy="495300"/>
          </a:xfrm>
          <a:prstGeom prst="rect">
            <a:avLst/>
          </a:prstGeom>
        </p:spPr>
        <p:txBody>
          <a:bodyPr vert="horz" lIns="91430" tIns="45715" rIns="91430" bIns="45715" rtlCol="0"/>
          <a:lstStyle>
            <a:lvl1pPr algn="r">
              <a:defRPr sz="1200"/>
            </a:lvl1pPr>
          </a:lstStyle>
          <a:p>
            <a:fld id="{D9BDB2A1-31CB-4309-9FC4-15F940A51174}" type="datetimeFigureOut">
              <a:rPr lang="en-GB" smtClean="0"/>
              <a:t>07/06/2017</a:t>
            </a:fld>
            <a:endParaRPr lang="en-GB" dirty="0"/>
          </a:p>
        </p:txBody>
      </p:sp>
      <p:sp>
        <p:nvSpPr>
          <p:cNvPr id="4" name="Footer Placeholder 3"/>
          <p:cNvSpPr>
            <a:spLocks noGrp="1"/>
          </p:cNvSpPr>
          <p:nvPr>
            <p:ph type="ftr" sz="quarter" idx="2"/>
          </p:nvPr>
        </p:nvSpPr>
        <p:spPr>
          <a:xfrm>
            <a:off x="1" y="9408981"/>
            <a:ext cx="2944283" cy="495300"/>
          </a:xfrm>
          <a:prstGeom prst="rect">
            <a:avLst/>
          </a:prstGeom>
        </p:spPr>
        <p:txBody>
          <a:bodyPr vert="horz" lIns="91430" tIns="45715" rIns="91430" bIns="45715"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48646" y="9408981"/>
            <a:ext cx="2944283" cy="495300"/>
          </a:xfrm>
          <a:prstGeom prst="rect">
            <a:avLst/>
          </a:prstGeom>
        </p:spPr>
        <p:txBody>
          <a:bodyPr vert="horz" lIns="91430" tIns="45715" rIns="91430" bIns="45715" rtlCol="0" anchor="b"/>
          <a:lstStyle>
            <a:lvl1pPr algn="r">
              <a:defRPr sz="1200"/>
            </a:lvl1pPr>
          </a:lstStyle>
          <a:p>
            <a:fld id="{86D14058-FEED-42C8-A090-E45E1EA0FF49}" type="slidenum">
              <a:rPr lang="en-GB" smtClean="0"/>
              <a:t>‹#›</a:t>
            </a:fld>
            <a:endParaRPr lang="en-GB" dirty="0"/>
          </a:p>
        </p:txBody>
      </p:sp>
    </p:spTree>
    <p:extLst>
      <p:ext uri="{BB962C8B-B14F-4D97-AF65-F5344CB8AC3E}">
        <p14:creationId xmlns:p14="http://schemas.microsoft.com/office/powerpoint/2010/main" val="23578928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4283" cy="495300"/>
          </a:xfrm>
          <a:prstGeom prst="rect">
            <a:avLst/>
          </a:prstGeom>
        </p:spPr>
        <p:txBody>
          <a:bodyPr vert="horz" lIns="91430" tIns="45715" rIns="91430" bIns="45715" rtlCol="0"/>
          <a:lstStyle>
            <a:lvl1pPr algn="l">
              <a:defRPr sz="1200"/>
            </a:lvl1pPr>
          </a:lstStyle>
          <a:p>
            <a:endParaRPr lang="en-GB" dirty="0"/>
          </a:p>
        </p:txBody>
      </p:sp>
      <p:sp>
        <p:nvSpPr>
          <p:cNvPr id="3" name="Date Placeholder 2"/>
          <p:cNvSpPr>
            <a:spLocks noGrp="1"/>
          </p:cNvSpPr>
          <p:nvPr>
            <p:ph type="dt" idx="1"/>
          </p:nvPr>
        </p:nvSpPr>
        <p:spPr>
          <a:xfrm>
            <a:off x="3848646" y="0"/>
            <a:ext cx="2944283" cy="495300"/>
          </a:xfrm>
          <a:prstGeom prst="rect">
            <a:avLst/>
          </a:prstGeom>
        </p:spPr>
        <p:txBody>
          <a:bodyPr vert="horz" lIns="91430" tIns="45715" rIns="91430" bIns="45715" rtlCol="0"/>
          <a:lstStyle>
            <a:lvl1pPr algn="r">
              <a:defRPr sz="1200"/>
            </a:lvl1pPr>
          </a:lstStyle>
          <a:p>
            <a:fld id="{389BBE68-B43C-4550-BAC8-3342CCEE016F}" type="datetimeFigureOut">
              <a:rPr lang="en-GB" smtClean="0"/>
              <a:t>07/06/2017</a:t>
            </a:fld>
            <a:endParaRPr lang="en-GB" dirty="0"/>
          </a:p>
        </p:txBody>
      </p:sp>
      <p:sp>
        <p:nvSpPr>
          <p:cNvPr id="4" name="Slide Image Placeholder 3"/>
          <p:cNvSpPr>
            <a:spLocks noGrp="1" noRot="1" noChangeAspect="1"/>
          </p:cNvSpPr>
          <p:nvPr>
            <p:ph type="sldImg" idx="2"/>
          </p:nvPr>
        </p:nvSpPr>
        <p:spPr>
          <a:xfrm>
            <a:off x="920750" y="742950"/>
            <a:ext cx="4953000" cy="3714750"/>
          </a:xfrm>
          <a:prstGeom prst="rect">
            <a:avLst/>
          </a:prstGeom>
          <a:noFill/>
          <a:ln w="12700">
            <a:solidFill>
              <a:prstClr val="black"/>
            </a:solidFill>
          </a:ln>
        </p:spPr>
        <p:txBody>
          <a:bodyPr vert="horz" lIns="91430" tIns="45715" rIns="91430" bIns="45715" rtlCol="0" anchor="ctr"/>
          <a:lstStyle/>
          <a:p>
            <a:endParaRPr lang="en-GB" dirty="0"/>
          </a:p>
        </p:txBody>
      </p:sp>
      <p:sp>
        <p:nvSpPr>
          <p:cNvPr id="5" name="Notes Placeholder 4"/>
          <p:cNvSpPr>
            <a:spLocks noGrp="1"/>
          </p:cNvSpPr>
          <p:nvPr>
            <p:ph type="body" sz="quarter" idx="3"/>
          </p:nvPr>
        </p:nvSpPr>
        <p:spPr>
          <a:xfrm>
            <a:off x="679450" y="4705351"/>
            <a:ext cx="5435600" cy="4457700"/>
          </a:xfrm>
          <a:prstGeom prst="rect">
            <a:avLst/>
          </a:prstGeom>
        </p:spPr>
        <p:txBody>
          <a:bodyPr vert="horz" lIns="91430" tIns="45715" rIns="91430" bIns="45715"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1" y="9408981"/>
            <a:ext cx="2944283" cy="495300"/>
          </a:xfrm>
          <a:prstGeom prst="rect">
            <a:avLst/>
          </a:prstGeom>
        </p:spPr>
        <p:txBody>
          <a:bodyPr vert="horz" lIns="91430" tIns="45715" rIns="91430" bIns="45715"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48646" y="9408981"/>
            <a:ext cx="2944283" cy="495300"/>
          </a:xfrm>
          <a:prstGeom prst="rect">
            <a:avLst/>
          </a:prstGeom>
        </p:spPr>
        <p:txBody>
          <a:bodyPr vert="horz" lIns="91430" tIns="45715" rIns="91430" bIns="45715" rtlCol="0" anchor="b"/>
          <a:lstStyle>
            <a:lvl1pPr algn="r">
              <a:defRPr sz="1200"/>
            </a:lvl1pPr>
          </a:lstStyle>
          <a:p>
            <a:fld id="{E245DB49-244C-4016-9CFF-C17A45AE8B60}" type="slidenum">
              <a:rPr lang="en-GB" smtClean="0"/>
              <a:t>‹#›</a:t>
            </a:fld>
            <a:endParaRPr lang="en-GB" dirty="0"/>
          </a:p>
        </p:txBody>
      </p:sp>
    </p:spTree>
    <p:extLst>
      <p:ext uri="{BB962C8B-B14F-4D97-AF65-F5344CB8AC3E}">
        <p14:creationId xmlns:p14="http://schemas.microsoft.com/office/powerpoint/2010/main" val="20101825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fld id="{9C364824-19B6-448E-82B5-5EBA0DE3DC29}" type="slidenum">
              <a:rPr lang="en-US" smtClean="0">
                <a:solidFill>
                  <a:prstClr val="black"/>
                </a:solidFill>
              </a:rPr>
              <a:pPr/>
              <a:t>1</a:t>
            </a:fld>
            <a:endParaRPr lang="en-US" dirty="0" smtClean="0">
              <a:solidFill>
                <a:prstClr val="black"/>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p:spPr>
        <p:txBody>
          <a:bodyPr/>
          <a:lstStyle/>
          <a:p>
            <a:pPr eaLnBrk="1" hangingPunct="1"/>
            <a:endParaRPr lang="en-US" dirty="0" smtClean="0">
              <a:latin typeface="Helvetica 65 Medium"/>
              <a:cs typeface="Arial" pitchFamily="34" charset="0"/>
            </a:endParaRPr>
          </a:p>
        </p:txBody>
      </p:sp>
    </p:spTree>
    <p:extLst>
      <p:ext uri="{BB962C8B-B14F-4D97-AF65-F5344CB8AC3E}">
        <p14:creationId xmlns:p14="http://schemas.microsoft.com/office/powerpoint/2010/main" val="15029351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320BD554-BD7E-4943-A37F-0C0EF73F2870}" type="slidenum">
              <a:rPr lang="en-US" smtClean="0"/>
              <a:pPr/>
              <a:t>2</a:t>
            </a:fld>
            <a:endParaRPr lang="en-US" dirty="0" smtClean="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pPr eaLnBrk="1" hangingPunct="1"/>
            <a:endParaRPr lang="en-US" dirty="0" smtClean="0">
              <a:latin typeface="Helvetica 65 Medium"/>
              <a:cs typeface="Arial" pitchFamily="34" charset="0"/>
            </a:endParaRPr>
          </a:p>
        </p:txBody>
      </p:sp>
    </p:spTree>
    <p:extLst>
      <p:ext uri="{BB962C8B-B14F-4D97-AF65-F5344CB8AC3E}">
        <p14:creationId xmlns:p14="http://schemas.microsoft.com/office/powerpoint/2010/main" val="939521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245DB49-244C-4016-9CFF-C17A45AE8B60}" type="slidenum">
              <a:rPr lang="en-GB" smtClean="0"/>
              <a:t>3</a:t>
            </a:fld>
            <a:endParaRPr lang="en-GB" dirty="0"/>
          </a:p>
        </p:txBody>
      </p:sp>
    </p:spTree>
    <p:extLst>
      <p:ext uri="{BB962C8B-B14F-4D97-AF65-F5344CB8AC3E}">
        <p14:creationId xmlns:p14="http://schemas.microsoft.com/office/powerpoint/2010/main" val="96194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245DB49-244C-4016-9CFF-C17A45AE8B60}" type="slidenum">
              <a:rPr lang="en-GB" smtClean="0"/>
              <a:t>4</a:t>
            </a:fld>
            <a:endParaRPr lang="en-GB" dirty="0"/>
          </a:p>
        </p:txBody>
      </p:sp>
    </p:spTree>
    <p:extLst>
      <p:ext uri="{BB962C8B-B14F-4D97-AF65-F5344CB8AC3E}">
        <p14:creationId xmlns:p14="http://schemas.microsoft.com/office/powerpoint/2010/main" val="961948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245DB49-244C-4016-9CFF-C17A45AE8B60}" type="slidenum">
              <a:rPr lang="en-GB" smtClean="0"/>
              <a:t>5</a:t>
            </a:fld>
            <a:endParaRPr lang="en-GB" dirty="0"/>
          </a:p>
        </p:txBody>
      </p:sp>
    </p:spTree>
    <p:extLst>
      <p:ext uri="{BB962C8B-B14F-4D97-AF65-F5344CB8AC3E}">
        <p14:creationId xmlns:p14="http://schemas.microsoft.com/office/powerpoint/2010/main" val="961948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320BD554-BD7E-4943-A37F-0C0EF73F2870}" type="slidenum">
              <a:rPr lang="en-US" smtClean="0"/>
              <a:pPr/>
              <a:t>6</a:t>
            </a:fld>
            <a:endParaRPr lang="en-US" dirty="0" smtClean="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pPr eaLnBrk="1" hangingPunct="1"/>
            <a:endParaRPr lang="en-US" dirty="0" smtClean="0">
              <a:latin typeface="Helvetica 65 Medium"/>
              <a:cs typeface="Arial" pitchFamily="34" charset="0"/>
            </a:endParaRPr>
          </a:p>
        </p:txBody>
      </p:sp>
    </p:spTree>
    <p:extLst>
      <p:ext uri="{BB962C8B-B14F-4D97-AF65-F5344CB8AC3E}">
        <p14:creationId xmlns:p14="http://schemas.microsoft.com/office/powerpoint/2010/main" val="721122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320BD554-BD7E-4943-A37F-0C0EF73F2870}" type="slidenum">
              <a:rPr lang="en-US" smtClean="0"/>
              <a:pPr/>
              <a:t>7</a:t>
            </a:fld>
            <a:endParaRPr lang="en-US" dirty="0" smtClean="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pPr eaLnBrk="1" hangingPunct="1"/>
            <a:endParaRPr lang="en-US" dirty="0" smtClean="0">
              <a:latin typeface="Helvetica 65 Medium"/>
              <a:cs typeface="Arial" pitchFamily="34" charset="0"/>
            </a:endParaRPr>
          </a:p>
        </p:txBody>
      </p:sp>
    </p:spTree>
    <p:extLst>
      <p:ext uri="{BB962C8B-B14F-4D97-AF65-F5344CB8AC3E}">
        <p14:creationId xmlns:p14="http://schemas.microsoft.com/office/powerpoint/2010/main" val="721122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320BD554-BD7E-4943-A37F-0C0EF73F2870}" type="slidenum">
              <a:rPr lang="en-US" smtClean="0"/>
              <a:pPr/>
              <a:t>8</a:t>
            </a:fld>
            <a:endParaRPr lang="en-US" dirty="0" smtClean="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pPr eaLnBrk="1" hangingPunct="1"/>
            <a:endParaRPr lang="en-US" dirty="0" smtClean="0">
              <a:latin typeface="Helvetica 65 Medium"/>
              <a:cs typeface="Arial" pitchFamily="34" charset="0"/>
            </a:endParaRPr>
          </a:p>
        </p:txBody>
      </p:sp>
    </p:spTree>
    <p:extLst>
      <p:ext uri="{BB962C8B-B14F-4D97-AF65-F5344CB8AC3E}">
        <p14:creationId xmlns:p14="http://schemas.microsoft.com/office/powerpoint/2010/main" val="721122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320BD554-BD7E-4943-A37F-0C0EF73F2870}" type="slidenum">
              <a:rPr lang="en-US" smtClean="0"/>
              <a:pPr/>
              <a:t>12</a:t>
            </a:fld>
            <a:endParaRPr lang="en-US" dirty="0" smtClean="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pPr eaLnBrk="1" hangingPunct="1"/>
            <a:endParaRPr lang="en-US" dirty="0" smtClean="0">
              <a:latin typeface="Helvetica 65 Medium"/>
              <a:cs typeface="Arial" pitchFamily="34" charset="0"/>
            </a:endParaRPr>
          </a:p>
        </p:txBody>
      </p:sp>
    </p:spTree>
    <p:extLst>
      <p:ext uri="{BB962C8B-B14F-4D97-AF65-F5344CB8AC3E}">
        <p14:creationId xmlns:p14="http://schemas.microsoft.com/office/powerpoint/2010/main" val="21340287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320BD554-BD7E-4943-A37F-0C0EF73F2870}" type="slidenum">
              <a:rPr lang="en-US" smtClean="0"/>
              <a:pPr/>
              <a:t>19</a:t>
            </a:fld>
            <a:endParaRPr lang="en-US" dirty="0" smtClean="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pPr eaLnBrk="1" hangingPunct="1"/>
            <a:endParaRPr lang="en-US" dirty="0" smtClean="0">
              <a:latin typeface="Helvetica 65 Medium"/>
              <a:cs typeface="Arial" pitchFamily="34" charset="0"/>
            </a:endParaRPr>
          </a:p>
        </p:txBody>
      </p:sp>
    </p:spTree>
    <p:extLst>
      <p:ext uri="{BB962C8B-B14F-4D97-AF65-F5344CB8AC3E}">
        <p14:creationId xmlns:p14="http://schemas.microsoft.com/office/powerpoint/2010/main" val="21340287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320BD554-BD7E-4943-A37F-0C0EF73F2870}" type="slidenum">
              <a:rPr lang="en-US" smtClean="0"/>
              <a:pPr/>
              <a:t>22</a:t>
            </a:fld>
            <a:endParaRPr lang="en-US" dirty="0" smtClean="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pPr eaLnBrk="1" hangingPunct="1"/>
            <a:endParaRPr lang="en-US" dirty="0" smtClean="0">
              <a:latin typeface="Helvetica 65 Medium"/>
              <a:cs typeface="Arial" pitchFamily="34" charset="0"/>
            </a:endParaRPr>
          </a:p>
        </p:txBody>
      </p:sp>
    </p:spTree>
    <p:extLst>
      <p:ext uri="{BB962C8B-B14F-4D97-AF65-F5344CB8AC3E}">
        <p14:creationId xmlns:p14="http://schemas.microsoft.com/office/powerpoint/2010/main" val="721122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320BD554-BD7E-4943-A37F-0C0EF73F2870}" type="slidenum">
              <a:rPr lang="en-US" smtClean="0"/>
              <a:pPr/>
              <a:t>23</a:t>
            </a:fld>
            <a:endParaRPr lang="en-US" dirty="0" smtClean="0"/>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pPr eaLnBrk="1" hangingPunct="1"/>
            <a:endParaRPr lang="en-US" dirty="0" smtClean="0">
              <a:latin typeface="Helvetica 65 Medium"/>
              <a:cs typeface="Arial" pitchFamily="34" charset="0"/>
            </a:endParaRPr>
          </a:p>
        </p:txBody>
      </p:sp>
    </p:spTree>
    <p:extLst>
      <p:ext uri="{BB962C8B-B14F-4D97-AF65-F5344CB8AC3E}">
        <p14:creationId xmlns:p14="http://schemas.microsoft.com/office/powerpoint/2010/main" val="721122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38" name="Image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16000" y="2628508"/>
            <a:ext cx="2628000" cy="4229631"/>
          </a:xfrm>
          <a:prstGeom prst="rect">
            <a:avLst/>
          </a:prstGeom>
        </p:spPr>
      </p:pic>
      <p:pic>
        <p:nvPicPr>
          <p:cNvPr id="36" name="Imag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0800000">
            <a:off x="0" y="508"/>
            <a:ext cx="2628000" cy="4229631"/>
          </a:xfrm>
          <a:prstGeom prst="rect">
            <a:avLst/>
          </a:prstGeom>
        </p:spPr>
      </p:pic>
      <p:sp>
        <p:nvSpPr>
          <p:cNvPr id="8" name="Title 7"/>
          <p:cNvSpPr>
            <a:spLocks noGrp="1"/>
          </p:cNvSpPr>
          <p:nvPr>
            <p:ph type="ctrTitle" hasCustomPrompt="1"/>
          </p:nvPr>
        </p:nvSpPr>
        <p:spPr>
          <a:xfrm>
            <a:off x="1368000" y="2480400"/>
            <a:ext cx="6300000" cy="1267200"/>
          </a:xfrm>
          <a:prstGeom prst="rect">
            <a:avLst/>
          </a:prstGeom>
        </p:spPr>
        <p:txBody>
          <a:bodyPr lIns="90000" rIns="90000" anchor="b">
            <a:spAutoFit/>
          </a:bodyPr>
          <a:lstStyle>
            <a:lvl1pPr>
              <a:lnSpc>
                <a:spcPts val="4500"/>
              </a:lnSpc>
              <a:defRPr sz="4500" cap="all" baseline="0">
                <a:solidFill>
                  <a:schemeClr val="bg1"/>
                </a:solidFill>
              </a:defRPr>
            </a:lvl1pPr>
          </a:lstStyle>
          <a:p>
            <a:r>
              <a:rPr kumimoji="0" lang="en-US" dirty="0" smtClean="0"/>
              <a:t>Click to edit Presentation title</a:t>
            </a:r>
            <a:endParaRPr kumimoji="0" lang="en-US" dirty="0"/>
          </a:p>
        </p:txBody>
      </p:sp>
      <p:sp>
        <p:nvSpPr>
          <p:cNvPr id="9" name="Subtitle 8"/>
          <p:cNvSpPr>
            <a:spLocks noGrp="1"/>
          </p:cNvSpPr>
          <p:nvPr>
            <p:ph type="subTitle" idx="1" hasCustomPrompt="1"/>
          </p:nvPr>
        </p:nvSpPr>
        <p:spPr>
          <a:xfrm>
            <a:off x="1368000" y="3805200"/>
            <a:ext cx="6300000" cy="352800"/>
          </a:xfrm>
        </p:spPr>
        <p:txBody>
          <a:bodyPr lIns="90000" rIns="90000">
            <a:spAutoFit/>
          </a:bodyPr>
          <a:lstStyle>
            <a:lvl1pPr marL="0" indent="0" algn="l">
              <a:lnSpc>
                <a:spcPts val="2000"/>
              </a:lnSpc>
              <a:spcBef>
                <a:spcPts val="0"/>
              </a:spcBef>
              <a:buNone/>
              <a:defRPr sz="1800" baseline="0">
                <a:solidFill>
                  <a:schemeClr val="bg1"/>
                </a:solidFill>
                <a:latin typeface="+mj-l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dirty="0" smtClean="0"/>
              <a:t>Click to </a:t>
            </a:r>
            <a:r>
              <a:rPr kumimoji="0" lang="fr-FR" dirty="0" err="1" smtClean="0"/>
              <a:t>edit</a:t>
            </a:r>
            <a:r>
              <a:rPr kumimoji="0" lang="fr-FR" dirty="0" smtClean="0"/>
              <a:t> </a:t>
            </a:r>
            <a:r>
              <a:rPr kumimoji="0" lang="fr-FR" dirty="0" err="1" smtClean="0"/>
              <a:t>Subtitle</a:t>
            </a:r>
            <a:endParaRPr kumimoji="0" lang="en-US" dirty="0"/>
          </a:p>
        </p:txBody>
      </p:sp>
      <p:pic>
        <p:nvPicPr>
          <p:cNvPr id="37" name="Image 11"/>
          <p:cNvPicPr>
            <a:picLocks noChangeAspect="1"/>
          </p:cNvPicPr>
          <p:nvPr/>
        </p:nvPicPr>
        <p:blipFill>
          <a:blip r:embed="rId3" cstate="print"/>
          <a:stretch>
            <a:fillRect/>
          </a:stretch>
        </p:blipFill>
        <p:spPr>
          <a:xfrm>
            <a:off x="511200" y="432000"/>
            <a:ext cx="692307" cy="1440000"/>
          </a:xfrm>
          <a:prstGeom prst="rect">
            <a:avLst/>
          </a:prstGeom>
        </p:spPr>
      </p:pic>
      <p:sp>
        <p:nvSpPr>
          <p:cNvPr id="12" name="Date Placeholder 3"/>
          <p:cNvSpPr>
            <a:spLocks noGrp="1"/>
          </p:cNvSpPr>
          <p:nvPr>
            <p:ph type="dt" sz="half" idx="2"/>
          </p:nvPr>
        </p:nvSpPr>
        <p:spPr>
          <a:xfrm>
            <a:off x="403200" y="6411600"/>
            <a:ext cx="900000" cy="244800"/>
          </a:xfrm>
          <a:prstGeom prst="rect">
            <a:avLst/>
          </a:prstGeom>
        </p:spPr>
        <p:txBody>
          <a:bodyPr vert="horz" lIns="91440" tIns="45720" rIns="91440" bIns="45720" rtlCol="0" anchor="t" anchorCtr="0"/>
          <a:lstStyle>
            <a:lvl1pPr algn="l">
              <a:defRPr sz="1000" baseline="0">
                <a:solidFill>
                  <a:schemeClr val="bg1"/>
                </a:solidFill>
                <a:latin typeface="Arial"/>
              </a:defRPr>
            </a:lvl1pPr>
          </a:lstStyle>
          <a:p>
            <a:fld id="{768535E4-3955-413F-9D3C-D9DDE1963FF9}" type="datetime1">
              <a:rPr lang="en-GB" smtClean="0"/>
              <a:t>07/06/2017</a:t>
            </a:fld>
            <a:endParaRPr lang="en-GB" dirty="0"/>
          </a:p>
        </p:txBody>
      </p:sp>
      <p:sp>
        <p:nvSpPr>
          <p:cNvPr id="13" name="Footer Placeholder 4"/>
          <p:cNvSpPr>
            <a:spLocks noGrp="1"/>
          </p:cNvSpPr>
          <p:nvPr>
            <p:ph type="ftr" sz="quarter" idx="3"/>
          </p:nvPr>
        </p:nvSpPr>
        <p:spPr>
          <a:xfrm>
            <a:off x="1368000" y="6411600"/>
            <a:ext cx="4680000" cy="244800"/>
          </a:xfrm>
          <a:prstGeom prst="rect">
            <a:avLst/>
          </a:prstGeom>
        </p:spPr>
        <p:txBody>
          <a:bodyPr vert="horz" lIns="91440" tIns="45720" rIns="91440" bIns="45720" rtlCol="0" anchor="t" anchorCtr="0"/>
          <a:lstStyle>
            <a:lvl1pPr algn="l">
              <a:defRPr sz="1000" kern="1200" baseline="0">
                <a:solidFill>
                  <a:schemeClr val="bg1"/>
                </a:solidFill>
                <a:latin typeface="Arial"/>
              </a:defRPr>
            </a:lvl1pPr>
          </a:lstStyle>
          <a:p>
            <a:endParaRPr lang="en-GB" dirty="0"/>
          </a:p>
        </p:txBody>
      </p:sp>
      <p:pic>
        <p:nvPicPr>
          <p:cNvPr id="10" name="Imag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64000" y="6055200"/>
            <a:ext cx="1742400" cy="578821"/>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eaLnBrk="1" latinLnBrk="0" hangingPunct="1">
              <a:defRPr/>
            </a:lvl1pPr>
            <a:lvl2pPr eaLnBrk="1" latinLnBrk="0" hangingPunct="1">
              <a:defRPr/>
            </a:lvl2pPr>
            <a:lvl3pPr eaLnBrk="1" latinLnBrk="0" hangingPunct="1">
              <a:defRPr/>
            </a:lvl3pPr>
            <a:lvl4pPr eaLnBrk="1" latinLnBrk="0" hangingPunct="1">
              <a:defRPr/>
            </a:lvl4pPr>
            <a:lvl5pPr eaLnBrk="1" latinLnBrk="0" hangingPunct="1">
              <a:defRPr/>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dirty="0"/>
          </a:p>
        </p:txBody>
      </p:sp>
      <p:sp>
        <p:nvSpPr>
          <p:cNvPr id="8" name="Date Placeholder 3"/>
          <p:cNvSpPr>
            <a:spLocks noGrp="1"/>
          </p:cNvSpPr>
          <p:nvPr>
            <p:ph type="dt" sz="half" idx="2"/>
          </p:nvPr>
        </p:nvSpPr>
        <p:spPr>
          <a:xfrm>
            <a:off x="403200" y="6411600"/>
            <a:ext cx="900000" cy="244800"/>
          </a:xfrm>
          <a:prstGeom prst="rect">
            <a:avLst/>
          </a:prstGeom>
        </p:spPr>
        <p:txBody>
          <a:bodyPr vert="horz" lIns="91440" tIns="45720" rIns="91440" bIns="45720" rtlCol="0" anchor="t" anchorCtr="0"/>
          <a:lstStyle>
            <a:lvl1pPr algn="l">
              <a:defRPr sz="1000" baseline="0">
                <a:solidFill>
                  <a:srgbClr val="727272"/>
                </a:solidFill>
                <a:latin typeface="Arial"/>
              </a:defRPr>
            </a:lvl1pPr>
          </a:lstStyle>
          <a:p>
            <a:fld id="{998C901B-E87E-45FE-B420-65379E6BC032}" type="datetime1">
              <a:rPr lang="en-GB" smtClean="0"/>
              <a:t>07/06/2017</a:t>
            </a:fld>
            <a:endParaRPr lang="en-GB" dirty="0"/>
          </a:p>
        </p:txBody>
      </p:sp>
      <p:sp>
        <p:nvSpPr>
          <p:cNvPr id="9" name="Footer Placeholder 4"/>
          <p:cNvSpPr>
            <a:spLocks noGrp="1"/>
          </p:cNvSpPr>
          <p:nvPr>
            <p:ph type="ftr" sz="quarter" idx="3"/>
          </p:nvPr>
        </p:nvSpPr>
        <p:spPr>
          <a:xfrm>
            <a:off x="1368000" y="6411600"/>
            <a:ext cx="4680000" cy="244800"/>
          </a:xfrm>
          <a:prstGeom prst="rect">
            <a:avLst/>
          </a:prstGeom>
        </p:spPr>
        <p:txBody>
          <a:bodyPr vert="horz" lIns="91440" tIns="45720" rIns="91440" bIns="45720" rtlCol="0" anchor="t" anchorCtr="0"/>
          <a:lstStyle>
            <a:lvl1pPr algn="l">
              <a:defRPr sz="1000" kern="1200" baseline="0">
                <a:solidFill>
                  <a:srgbClr val="727272"/>
                </a:solidFill>
                <a:latin typeface="Arial"/>
              </a:defRPr>
            </a:lvl1pPr>
          </a:lstStyle>
          <a:p>
            <a:endParaRPr lang="en-GB" dirty="0"/>
          </a:p>
        </p:txBody>
      </p:sp>
      <p:sp>
        <p:nvSpPr>
          <p:cNvPr id="10" name="Slide Number Placeholder 5"/>
          <p:cNvSpPr>
            <a:spLocks noGrp="1"/>
          </p:cNvSpPr>
          <p:nvPr>
            <p:ph type="sldNum" sz="quarter" idx="4"/>
          </p:nvPr>
        </p:nvSpPr>
        <p:spPr>
          <a:xfrm>
            <a:off x="8640000" y="6411600"/>
            <a:ext cx="342000" cy="244800"/>
          </a:xfrm>
          <a:prstGeom prst="rect">
            <a:avLst/>
          </a:prstGeom>
        </p:spPr>
        <p:txBody>
          <a:bodyPr vert="horz" wrap="none" lIns="91440" tIns="45720" rIns="91440" bIns="45720" rtlCol="0" anchor="t" anchorCtr="0"/>
          <a:lstStyle>
            <a:lvl1pPr algn="r">
              <a:defRPr sz="1000" baseline="0">
                <a:solidFill>
                  <a:schemeClr val="bg1"/>
                </a:solidFill>
                <a:latin typeface="Arial"/>
              </a:defRPr>
            </a:lvl1pPr>
          </a:lstStyle>
          <a:p>
            <a:fld id="{FCE284C4-5ED1-4D6C-B7CC-2049C3062C5E}" type="slidenum">
              <a:rPr lang="en-GB" smtClean="0"/>
              <a:t>‹#›</a:t>
            </a:fld>
            <a:endParaRPr lang="en-GB" dirty="0"/>
          </a:p>
        </p:txBody>
      </p:sp>
      <p:sp>
        <p:nvSpPr>
          <p:cNvPr id="11" name="Title Placeholder 1"/>
          <p:cNvSpPr>
            <a:spLocks noGrp="1"/>
          </p:cNvSpPr>
          <p:nvPr>
            <p:ph type="title" hasCustomPrompt="1"/>
          </p:nvPr>
        </p:nvSpPr>
        <p:spPr>
          <a:xfrm>
            <a:off x="1080000" y="237600"/>
            <a:ext cx="7416000" cy="1022400"/>
          </a:xfrm>
          <a:prstGeom prst="rect">
            <a:avLst/>
          </a:prstGeom>
        </p:spPr>
        <p:txBody>
          <a:bodyPr vert="horz" lIns="91440" tIns="45720" rIns="91440" bIns="45720" rtlCol="0" anchor="ctr">
            <a:noAutofit/>
          </a:bodyPr>
          <a:lstStyle>
            <a:lvl1pPr>
              <a:defRPr/>
            </a:lvl1pPr>
          </a:lstStyle>
          <a:p>
            <a:r>
              <a:rPr lang="en-US" dirty="0" smtClean="0"/>
              <a:t>Click to edit Slide title</a:t>
            </a:r>
            <a:br>
              <a:rPr lang="en-US" dirty="0" smtClean="0"/>
            </a:br>
            <a:r>
              <a:rPr lang="en-US" dirty="0" smtClean="0"/>
              <a:t>Slide title can be extended to two lines</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7" name="Image 6"/>
          <p:cNvPicPr>
            <a:picLocks noChangeAspect="1"/>
          </p:cNvPicPr>
          <p:nvPr/>
        </p:nvPicPr>
        <p:blipFill>
          <a:blip r:embed="rId2" cstate="print"/>
          <a:stretch>
            <a:fillRect/>
          </a:stretch>
        </p:blipFill>
        <p:spPr>
          <a:xfrm>
            <a:off x="8193600" y="5328000"/>
            <a:ext cx="950407" cy="1530000"/>
          </a:xfrm>
          <a:prstGeom prst="rect">
            <a:avLst/>
          </a:prstGeom>
        </p:spPr>
      </p:pic>
      <p:pic>
        <p:nvPicPr>
          <p:cNvPr id="8" name="Image 7"/>
          <p:cNvPicPr>
            <a:picLocks noChangeAspect="1"/>
          </p:cNvPicPr>
          <p:nvPr/>
        </p:nvPicPr>
        <p:blipFill>
          <a:blip r:embed="rId3" cstate="print"/>
          <a:stretch>
            <a:fillRect/>
          </a:stretch>
        </p:blipFill>
        <p:spPr>
          <a:xfrm>
            <a:off x="579600" y="468000"/>
            <a:ext cx="692308" cy="1440000"/>
          </a:xfrm>
          <a:prstGeom prst="rect">
            <a:avLst/>
          </a:prstGeom>
        </p:spPr>
      </p:pic>
      <p:sp>
        <p:nvSpPr>
          <p:cNvPr id="9" name="Title 1"/>
          <p:cNvSpPr>
            <a:spLocks noGrp="1"/>
          </p:cNvSpPr>
          <p:nvPr>
            <p:ph type="title" hasCustomPrompt="1"/>
          </p:nvPr>
        </p:nvSpPr>
        <p:spPr>
          <a:xfrm>
            <a:off x="1260000" y="2928144"/>
            <a:ext cx="6624000" cy="1041311"/>
          </a:xfrm>
        </p:spPr>
        <p:txBody>
          <a:bodyPr anchor="ctr" anchorCtr="0">
            <a:spAutoFit/>
          </a:bodyPr>
          <a:lstStyle>
            <a:lvl1pPr algn="ctr">
              <a:lnSpc>
                <a:spcPts val="3700"/>
              </a:lnSpc>
              <a:defRPr sz="3700" b="0" i="0" cap="all" baseline="0">
                <a:solidFill>
                  <a:schemeClr val="bg1"/>
                </a:solidFill>
              </a:defRPr>
            </a:lvl1pPr>
          </a:lstStyle>
          <a:p>
            <a:r>
              <a:rPr lang="en-US" dirty="0" smtClean="0"/>
              <a:t>Click to edit Section Header title</a:t>
            </a:r>
            <a:endParaRPr lang="en-US" dirty="0"/>
          </a:p>
        </p:txBody>
      </p:sp>
      <p:sp>
        <p:nvSpPr>
          <p:cNvPr id="10" name="Date Placeholder 3"/>
          <p:cNvSpPr>
            <a:spLocks noGrp="1"/>
          </p:cNvSpPr>
          <p:nvPr>
            <p:ph type="dt" sz="half" idx="2"/>
          </p:nvPr>
        </p:nvSpPr>
        <p:spPr>
          <a:xfrm>
            <a:off x="403200" y="6411600"/>
            <a:ext cx="900000" cy="244800"/>
          </a:xfrm>
          <a:prstGeom prst="rect">
            <a:avLst/>
          </a:prstGeom>
        </p:spPr>
        <p:txBody>
          <a:bodyPr vert="horz" lIns="91440" tIns="45720" rIns="91440" bIns="45720" rtlCol="0" anchor="t" anchorCtr="0"/>
          <a:lstStyle>
            <a:lvl1pPr algn="l">
              <a:defRPr sz="1000" baseline="0">
                <a:solidFill>
                  <a:schemeClr val="bg1"/>
                </a:solidFill>
                <a:latin typeface="Arial"/>
              </a:defRPr>
            </a:lvl1pPr>
          </a:lstStyle>
          <a:p>
            <a:fld id="{A2B785B9-06B0-42D9-9A9B-49D01274C45E}" type="datetime1">
              <a:rPr lang="en-GB" smtClean="0"/>
              <a:t>07/06/2017</a:t>
            </a:fld>
            <a:endParaRPr lang="en-GB" dirty="0"/>
          </a:p>
        </p:txBody>
      </p:sp>
      <p:sp>
        <p:nvSpPr>
          <p:cNvPr id="11" name="Footer Placeholder 4"/>
          <p:cNvSpPr>
            <a:spLocks noGrp="1"/>
          </p:cNvSpPr>
          <p:nvPr>
            <p:ph type="ftr" sz="quarter" idx="3"/>
          </p:nvPr>
        </p:nvSpPr>
        <p:spPr>
          <a:xfrm>
            <a:off x="1368000" y="6411600"/>
            <a:ext cx="4680000" cy="244800"/>
          </a:xfrm>
          <a:prstGeom prst="rect">
            <a:avLst/>
          </a:prstGeom>
        </p:spPr>
        <p:txBody>
          <a:bodyPr vert="horz" lIns="91440" tIns="45720" rIns="91440" bIns="45720" rtlCol="0" anchor="t" anchorCtr="0"/>
          <a:lstStyle>
            <a:lvl1pPr algn="l">
              <a:defRPr sz="1000" kern="1200" baseline="0">
                <a:solidFill>
                  <a:schemeClr val="bg1"/>
                </a:solidFill>
                <a:latin typeface="Arial"/>
              </a:defRPr>
            </a:lvl1pPr>
          </a:lstStyle>
          <a:p>
            <a:endParaRPr lang="en-GB" dirty="0"/>
          </a:p>
        </p:txBody>
      </p:sp>
      <p:sp>
        <p:nvSpPr>
          <p:cNvPr id="12" name="Slide Number Placeholder 5"/>
          <p:cNvSpPr>
            <a:spLocks noGrp="1"/>
          </p:cNvSpPr>
          <p:nvPr>
            <p:ph type="sldNum" sz="quarter" idx="4"/>
          </p:nvPr>
        </p:nvSpPr>
        <p:spPr>
          <a:xfrm>
            <a:off x="8640000" y="6411600"/>
            <a:ext cx="342000" cy="244800"/>
          </a:xfrm>
          <a:prstGeom prst="rect">
            <a:avLst/>
          </a:prstGeom>
        </p:spPr>
        <p:txBody>
          <a:bodyPr vert="horz" wrap="none" lIns="91440" tIns="45720" rIns="91440" bIns="45720" rtlCol="0" anchor="t" anchorCtr="0"/>
          <a:lstStyle>
            <a:lvl1pPr algn="r">
              <a:defRPr sz="1000" baseline="0">
                <a:solidFill>
                  <a:schemeClr val="tx2"/>
                </a:solidFill>
                <a:latin typeface="Arial"/>
              </a:defRPr>
            </a:lvl1pPr>
          </a:lstStyle>
          <a:p>
            <a:fld id="{FCE284C4-5ED1-4D6C-B7CC-2049C3062C5E}" type="slidenum">
              <a:rPr lang="en-GB" smtClean="0"/>
              <a:t>‹#›</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32FEDD-5D26-4597-93F8-43A13583B74D}" type="datetime1">
              <a:rPr lang="en-GB" smtClean="0"/>
              <a:t>07/06/2017</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FCE284C4-5ED1-4D6C-B7CC-2049C3062C5E}" type="slidenum">
              <a:rPr lang="en-GB" smtClean="0"/>
              <a:t>‹#›</a:t>
            </a:fld>
            <a:endParaRPr lang="en-GB" dirty="0"/>
          </a:p>
        </p:txBody>
      </p:sp>
    </p:spTree>
    <p:extLst>
      <p:ext uri="{BB962C8B-B14F-4D97-AF65-F5344CB8AC3E}">
        <p14:creationId xmlns:p14="http://schemas.microsoft.com/office/powerpoint/2010/main" val="409363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2"/>
        </a:solidFill>
        <a:effectLst/>
      </p:bgPr>
    </p:bg>
    <p:spTree>
      <p:nvGrpSpPr>
        <p:cNvPr id="1" name=""/>
        <p:cNvGrpSpPr/>
        <p:nvPr/>
      </p:nvGrpSpPr>
      <p:grpSpPr>
        <a:xfrm>
          <a:off x="0" y="0"/>
          <a:ext cx="0" cy="0"/>
          <a:chOff x="0" y="0"/>
          <a:chExt cx="0" cy="0"/>
        </a:xfrm>
      </p:grpSpPr>
      <p:pic>
        <p:nvPicPr>
          <p:cNvPr id="38" name="Image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16000" y="2628508"/>
            <a:ext cx="2628000" cy="4229631"/>
          </a:xfrm>
          <a:prstGeom prst="rect">
            <a:avLst/>
          </a:prstGeom>
        </p:spPr>
      </p:pic>
      <p:pic>
        <p:nvPicPr>
          <p:cNvPr id="36" name="Imag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0800000">
            <a:off x="0" y="508"/>
            <a:ext cx="2628000" cy="4229631"/>
          </a:xfrm>
          <a:prstGeom prst="rect">
            <a:avLst/>
          </a:prstGeom>
        </p:spPr>
      </p:pic>
      <p:sp>
        <p:nvSpPr>
          <p:cNvPr id="8" name="Title 7"/>
          <p:cNvSpPr>
            <a:spLocks noGrp="1"/>
          </p:cNvSpPr>
          <p:nvPr>
            <p:ph type="ctrTitle" hasCustomPrompt="1"/>
          </p:nvPr>
        </p:nvSpPr>
        <p:spPr>
          <a:xfrm>
            <a:off x="1368000" y="2480400"/>
            <a:ext cx="6300000" cy="1267200"/>
          </a:xfrm>
          <a:prstGeom prst="rect">
            <a:avLst/>
          </a:prstGeom>
        </p:spPr>
        <p:txBody>
          <a:bodyPr lIns="90000" rIns="90000" anchor="b">
            <a:spAutoFit/>
          </a:bodyPr>
          <a:lstStyle>
            <a:lvl1pPr>
              <a:lnSpc>
                <a:spcPts val="4500"/>
              </a:lnSpc>
              <a:defRPr sz="4500" cap="all" baseline="0">
                <a:solidFill>
                  <a:schemeClr val="bg1"/>
                </a:solidFill>
              </a:defRPr>
            </a:lvl1pPr>
          </a:lstStyle>
          <a:p>
            <a:r>
              <a:rPr kumimoji="0" lang="en-US" dirty="0" smtClean="0"/>
              <a:t>Click to edit Presentation title</a:t>
            </a:r>
            <a:endParaRPr kumimoji="0" lang="en-US" dirty="0"/>
          </a:p>
        </p:txBody>
      </p:sp>
      <p:sp>
        <p:nvSpPr>
          <p:cNvPr id="9" name="Subtitle 8"/>
          <p:cNvSpPr>
            <a:spLocks noGrp="1"/>
          </p:cNvSpPr>
          <p:nvPr>
            <p:ph type="subTitle" idx="1" hasCustomPrompt="1"/>
          </p:nvPr>
        </p:nvSpPr>
        <p:spPr>
          <a:xfrm>
            <a:off x="1368000" y="3805200"/>
            <a:ext cx="6300000" cy="352800"/>
          </a:xfrm>
        </p:spPr>
        <p:txBody>
          <a:bodyPr lIns="90000" rIns="90000">
            <a:spAutoFit/>
          </a:bodyPr>
          <a:lstStyle>
            <a:lvl1pPr marL="0" indent="0" algn="l">
              <a:lnSpc>
                <a:spcPts val="2000"/>
              </a:lnSpc>
              <a:spcBef>
                <a:spcPts val="0"/>
              </a:spcBef>
              <a:buNone/>
              <a:defRPr sz="1800" baseline="0">
                <a:solidFill>
                  <a:schemeClr val="bg1"/>
                </a:solidFill>
                <a:latin typeface="+mj-l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dirty="0" smtClean="0"/>
              <a:t>Click to </a:t>
            </a:r>
            <a:r>
              <a:rPr kumimoji="0" lang="fr-FR" dirty="0" err="1" smtClean="0"/>
              <a:t>edit</a:t>
            </a:r>
            <a:r>
              <a:rPr kumimoji="0" lang="fr-FR" dirty="0" smtClean="0"/>
              <a:t> </a:t>
            </a:r>
            <a:r>
              <a:rPr kumimoji="0" lang="fr-FR" dirty="0" err="1" smtClean="0"/>
              <a:t>Subtitle</a:t>
            </a:r>
            <a:endParaRPr kumimoji="0" lang="en-US" dirty="0"/>
          </a:p>
        </p:txBody>
      </p:sp>
      <p:pic>
        <p:nvPicPr>
          <p:cNvPr id="37" name="Image 11"/>
          <p:cNvPicPr>
            <a:picLocks noChangeAspect="1"/>
          </p:cNvPicPr>
          <p:nvPr/>
        </p:nvPicPr>
        <p:blipFill>
          <a:blip r:embed="rId3" cstate="print"/>
          <a:stretch>
            <a:fillRect/>
          </a:stretch>
        </p:blipFill>
        <p:spPr>
          <a:xfrm>
            <a:off x="511200" y="432000"/>
            <a:ext cx="692307" cy="1440000"/>
          </a:xfrm>
          <a:prstGeom prst="rect">
            <a:avLst/>
          </a:prstGeom>
        </p:spPr>
      </p:pic>
      <p:sp>
        <p:nvSpPr>
          <p:cNvPr id="12" name="Date Placeholder 3"/>
          <p:cNvSpPr>
            <a:spLocks noGrp="1"/>
          </p:cNvSpPr>
          <p:nvPr>
            <p:ph type="dt" sz="half" idx="2"/>
          </p:nvPr>
        </p:nvSpPr>
        <p:spPr>
          <a:xfrm>
            <a:off x="403200" y="6411600"/>
            <a:ext cx="900000" cy="244800"/>
          </a:xfrm>
          <a:prstGeom prst="rect">
            <a:avLst/>
          </a:prstGeom>
        </p:spPr>
        <p:txBody>
          <a:bodyPr vert="horz" lIns="91440" tIns="45720" rIns="91440" bIns="45720" rtlCol="0" anchor="t" anchorCtr="0"/>
          <a:lstStyle>
            <a:lvl1pPr algn="l">
              <a:defRPr sz="1000" baseline="0">
                <a:solidFill>
                  <a:schemeClr val="bg1"/>
                </a:solidFill>
                <a:latin typeface="Arial"/>
              </a:defRPr>
            </a:lvl1pPr>
          </a:lstStyle>
          <a:p>
            <a:fld id="{768535E4-3955-413F-9D3C-D9DDE1963FF9}" type="datetime1">
              <a:rPr lang="en-GB" smtClean="0">
                <a:solidFill>
                  <a:prstClr val="white"/>
                </a:solidFill>
              </a:rPr>
              <a:pPr/>
              <a:t>07/06/2017</a:t>
            </a:fld>
            <a:endParaRPr lang="en-GB" dirty="0">
              <a:solidFill>
                <a:prstClr val="white"/>
              </a:solidFill>
            </a:endParaRPr>
          </a:p>
        </p:txBody>
      </p:sp>
      <p:sp>
        <p:nvSpPr>
          <p:cNvPr id="13" name="Footer Placeholder 4"/>
          <p:cNvSpPr>
            <a:spLocks noGrp="1"/>
          </p:cNvSpPr>
          <p:nvPr>
            <p:ph type="ftr" sz="quarter" idx="3"/>
          </p:nvPr>
        </p:nvSpPr>
        <p:spPr>
          <a:xfrm>
            <a:off x="1368000" y="6411600"/>
            <a:ext cx="4680000" cy="244800"/>
          </a:xfrm>
          <a:prstGeom prst="rect">
            <a:avLst/>
          </a:prstGeom>
        </p:spPr>
        <p:txBody>
          <a:bodyPr vert="horz" lIns="91440" tIns="45720" rIns="91440" bIns="45720" rtlCol="0" anchor="t" anchorCtr="0"/>
          <a:lstStyle>
            <a:lvl1pPr algn="l">
              <a:defRPr sz="1000" kern="1200" baseline="0">
                <a:solidFill>
                  <a:schemeClr val="bg1"/>
                </a:solidFill>
                <a:latin typeface="Arial"/>
              </a:defRPr>
            </a:lvl1pPr>
          </a:lstStyle>
          <a:p>
            <a:endParaRPr lang="en-GB" dirty="0">
              <a:solidFill>
                <a:prstClr val="white"/>
              </a:solidFill>
            </a:endParaRPr>
          </a:p>
        </p:txBody>
      </p:sp>
      <p:pic>
        <p:nvPicPr>
          <p:cNvPr id="10" name="Imag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64000" y="6055200"/>
            <a:ext cx="1742400" cy="578821"/>
          </a:xfrm>
          <a:prstGeom prst="rect">
            <a:avLst/>
          </a:prstGeom>
        </p:spPr>
      </p:pic>
    </p:spTree>
    <p:extLst>
      <p:ext uri="{BB962C8B-B14F-4D97-AF65-F5344CB8AC3E}">
        <p14:creationId xmlns:p14="http://schemas.microsoft.com/office/powerpoint/2010/main" val="3187463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eaLnBrk="1" latinLnBrk="0" hangingPunct="1">
              <a:defRPr/>
            </a:lvl1pPr>
            <a:lvl2pPr eaLnBrk="1" latinLnBrk="0" hangingPunct="1">
              <a:defRPr/>
            </a:lvl2pPr>
            <a:lvl3pPr eaLnBrk="1" latinLnBrk="0" hangingPunct="1">
              <a:defRPr/>
            </a:lvl3pPr>
            <a:lvl4pPr eaLnBrk="1" latinLnBrk="0" hangingPunct="1">
              <a:defRPr/>
            </a:lvl4pPr>
            <a:lvl5pPr eaLnBrk="1" latinLnBrk="0" hangingPunct="1">
              <a:defRPr/>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dirty="0"/>
          </a:p>
        </p:txBody>
      </p:sp>
      <p:sp>
        <p:nvSpPr>
          <p:cNvPr id="8" name="Date Placeholder 3"/>
          <p:cNvSpPr>
            <a:spLocks noGrp="1"/>
          </p:cNvSpPr>
          <p:nvPr>
            <p:ph type="dt" sz="half" idx="2"/>
          </p:nvPr>
        </p:nvSpPr>
        <p:spPr>
          <a:xfrm>
            <a:off x="403200" y="6411600"/>
            <a:ext cx="900000" cy="244800"/>
          </a:xfrm>
          <a:prstGeom prst="rect">
            <a:avLst/>
          </a:prstGeom>
        </p:spPr>
        <p:txBody>
          <a:bodyPr vert="horz" lIns="91440" tIns="45720" rIns="91440" bIns="45720" rtlCol="0" anchor="t" anchorCtr="0"/>
          <a:lstStyle>
            <a:lvl1pPr algn="l">
              <a:defRPr sz="1000" baseline="0">
                <a:solidFill>
                  <a:srgbClr val="727272"/>
                </a:solidFill>
                <a:latin typeface="Arial"/>
              </a:defRPr>
            </a:lvl1pPr>
          </a:lstStyle>
          <a:p>
            <a:fld id="{998C901B-E87E-45FE-B420-65379E6BC032}" type="datetime1">
              <a:rPr lang="en-GB" smtClean="0"/>
              <a:pPr/>
              <a:t>07/06/2017</a:t>
            </a:fld>
            <a:endParaRPr lang="en-GB" dirty="0"/>
          </a:p>
        </p:txBody>
      </p:sp>
      <p:sp>
        <p:nvSpPr>
          <p:cNvPr id="9" name="Footer Placeholder 4"/>
          <p:cNvSpPr>
            <a:spLocks noGrp="1"/>
          </p:cNvSpPr>
          <p:nvPr>
            <p:ph type="ftr" sz="quarter" idx="3"/>
          </p:nvPr>
        </p:nvSpPr>
        <p:spPr>
          <a:xfrm>
            <a:off x="1368000" y="6411600"/>
            <a:ext cx="4680000" cy="244800"/>
          </a:xfrm>
          <a:prstGeom prst="rect">
            <a:avLst/>
          </a:prstGeom>
        </p:spPr>
        <p:txBody>
          <a:bodyPr vert="horz" lIns="91440" tIns="45720" rIns="91440" bIns="45720" rtlCol="0" anchor="t" anchorCtr="0"/>
          <a:lstStyle>
            <a:lvl1pPr algn="l">
              <a:defRPr sz="1000" kern="1200" baseline="0">
                <a:solidFill>
                  <a:srgbClr val="727272"/>
                </a:solidFill>
                <a:latin typeface="Arial"/>
              </a:defRPr>
            </a:lvl1pPr>
          </a:lstStyle>
          <a:p>
            <a:endParaRPr lang="en-GB" dirty="0"/>
          </a:p>
        </p:txBody>
      </p:sp>
      <p:sp>
        <p:nvSpPr>
          <p:cNvPr id="10" name="Slide Number Placeholder 5"/>
          <p:cNvSpPr>
            <a:spLocks noGrp="1"/>
          </p:cNvSpPr>
          <p:nvPr>
            <p:ph type="sldNum" sz="quarter" idx="4"/>
          </p:nvPr>
        </p:nvSpPr>
        <p:spPr>
          <a:xfrm>
            <a:off x="8640000" y="6411600"/>
            <a:ext cx="342000" cy="244800"/>
          </a:xfrm>
          <a:prstGeom prst="rect">
            <a:avLst/>
          </a:prstGeom>
        </p:spPr>
        <p:txBody>
          <a:bodyPr vert="horz" wrap="none" lIns="91440" tIns="45720" rIns="91440" bIns="45720" rtlCol="0" anchor="t" anchorCtr="0"/>
          <a:lstStyle>
            <a:lvl1pPr algn="r">
              <a:defRPr sz="1000" baseline="0">
                <a:solidFill>
                  <a:schemeClr val="bg1"/>
                </a:solidFill>
                <a:latin typeface="Arial"/>
              </a:defRPr>
            </a:lvl1pPr>
          </a:lstStyle>
          <a:p>
            <a:fld id="{FCE284C4-5ED1-4D6C-B7CC-2049C3062C5E}" type="slidenum">
              <a:rPr lang="en-GB" smtClean="0">
                <a:solidFill>
                  <a:prstClr val="white"/>
                </a:solidFill>
              </a:rPr>
              <a:pPr/>
              <a:t>‹#›</a:t>
            </a:fld>
            <a:endParaRPr lang="en-GB" dirty="0">
              <a:solidFill>
                <a:prstClr val="white"/>
              </a:solidFill>
            </a:endParaRPr>
          </a:p>
        </p:txBody>
      </p:sp>
      <p:sp>
        <p:nvSpPr>
          <p:cNvPr id="11" name="Title Placeholder 1"/>
          <p:cNvSpPr>
            <a:spLocks noGrp="1"/>
          </p:cNvSpPr>
          <p:nvPr>
            <p:ph type="title" hasCustomPrompt="1"/>
          </p:nvPr>
        </p:nvSpPr>
        <p:spPr>
          <a:xfrm>
            <a:off x="1080000" y="237600"/>
            <a:ext cx="7416000" cy="1022400"/>
          </a:xfrm>
          <a:prstGeom prst="rect">
            <a:avLst/>
          </a:prstGeom>
        </p:spPr>
        <p:txBody>
          <a:bodyPr vert="horz" lIns="91440" tIns="45720" rIns="91440" bIns="45720" rtlCol="0" anchor="ctr">
            <a:noAutofit/>
          </a:bodyPr>
          <a:lstStyle>
            <a:lvl1pPr>
              <a:defRPr/>
            </a:lvl1pPr>
          </a:lstStyle>
          <a:p>
            <a:r>
              <a:rPr lang="en-US" dirty="0" smtClean="0"/>
              <a:t>Click to edit Slide title</a:t>
            </a:r>
            <a:br>
              <a:rPr lang="en-US" dirty="0" smtClean="0"/>
            </a:br>
            <a:r>
              <a:rPr lang="en-US" dirty="0" smtClean="0"/>
              <a:t>Slide title can be extended to two lines</a:t>
            </a:r>
            <a:endParaRPr lang="en-US" dirty="0"/>
          </a:p>
        </p:txBody>
      </p:sp>
    </p:spTree>
    <p:extLst>
      <p:ext uri="{BB962C8B-B14F-4D97-AF65-F5344CB8AC3E}">
        <p14:creationId xmlns:p14="http://schemas.microsoft.com/office/powerpoint/2010/main" val="2436075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tx1"/>
        </a:solidFill>
        <a:effectLst/>
      </p:bgPr>
    </p:bg>
    <p:spTree>
      <p:nvGrpSpPr>
        <p:cNvPr id="1" name=""/>
        <p:cNvGrpSpPr/>
        <p:nvPr/>
      </p:nvGrpSpPr>
      <p:grpSpPr>
        <a:xfrm>
          <a:off x="0" y="0"/>
          <a:ext cx="0" cy="0"/>
          <a:chOff x="0" y="0"/>
          <a:chExt cx="0" cy="0"/>
        </a:xfrm>
      </p:grpSpPr>
      <p:pic>
        <p:nvPicPr>
          <p:cNvPr id="7" name="Image 6"/>
          <p:cNvPicPr>
            <a:picLocks noChangeAspect="1"/>
          </p:cNvPicPr>
          <p:nvPr/>
        </p:nvPicPr>
        <p:blipFill>
          <a:blip r:embed="rId2" cstate="print"/>
          <a:stretch>
            <a:fillRect/>
          </a:stretch>
        </p:blipFill>
        <p:spPr>
          <a:xfrm>
            <a:off x="8193600" y="5328000"/>
            <a:ext cx="950407" cy="1530000"/>
          </a:xfrm>
          <a:prstGeom prst="rect">
            <a:avLst/>
          </a:prstGeom>
        </p:spPr>
      </p:pic>
      <p:pic>
        <p:nvPicPr>
          <p:cNvPr id="8" name="Image 7"/>
          <p:cNvPicPr>
            <a:picLocks noChangeAspect="1"/>
          </p:cNvPicPr>
          <p:nvPr/>
        </p:nvPicPr>
        <p:blipFill>
          <a:blip r:embed="rId3" cstate="print"/>
          <a:stretch>
            <a:fillRect/>
          </a:stretch>
        </p:blipFill>
        <p:spPr>
          <a:xfrm>
            <a:off x="579600" y="468000"/>
            <a:ext cx="692308" cy="1440000"/>
          </a:xfrm>
          <a:prstGeom prst="rect">
            <a:avLst/>
          </a:prstGeom>
        </p:spPr>
      </p:pic>
      <p:sp>
        <p:nvSpPr>
          <p:cNvPr id="9" name="Title 1"/>
          <p:cNvSpPr>
            <a:spLocks noGrp="1"/>
          </p:cNvSpPr>
          <p:nvPr>
            <p:ph type="title" hasCustomPrompt="1"/>
          </p:nvPr>
        </p:nvSpPr>
        <p:spPr>
          <a:xfrm>
            <a:off x="1260000" y="2928144"/>
            <a:ext cx="6624000" cy="1041311"/>
          </a:xfrm>
        </p:spPr>
        <p:txBody>
          <a:bodyPr anchor="ctr" anchorCtr="0">
            <a:spAutoFit/>
          </a:bodyPr>
          <a:lstStyle>
            <a:lvl1pPr algn="ctr">
              <a:lnSpc>
                <a:spcPts val="3700"/>
              </a:lnSpc>
              <a:defRPr sz="3700" b="0" i="0" cap="all" baseline="0">
                <a:solidFill>
                  <a:schemeClr val="bg1"/>
                </a:solidFill>
              </a:defRPr>
            </a:lvl1pPr>
          </a:lstStyle>
          <a:p>
            <a:r>
              <a:rPr lang="en-US" dirty="0" smtClean="0"/>
              <a:t>Click to edit Section Header title</a:t>
            </a:r>
            <a:endParaRPr lang="en-US" dirty="0"/>
          </a:p>
        </p:txBody>
      </p:sp>
      <p:sp>
        <p:nvSpPr>
          <p:cNvPr id="10" name="Date Placeholder 3"/>
          <p:cNvSpPr>
            <a:spLocks noGrp="1"/>
          </p:cNvSpPr>
          <p:nvPr>
            <p:ph type="dt" sz="half" idx="2"/>
          </p:nvPr>
        </p:nvSpPr>
        <p:spPr>
          <a:xfrm>
            <a:off x="403200" y="6411600"/>
            <a:ext cx="900000" cy="244800"/>
          </a:xfrm>
          <a:prstGeom prst="rect">
            <a:avLst/>
          </a:prstGeom>
        </p:spPr>
        <p:txBody>
          <a:bodyPr vert="horz" lIns="91440" tIns="45720" rIns="91440" bIns="45720" rtlCol="0" anchor="t" anchorCtr="0"/>
          <a:lstStyle>
            <a:lvl1pPr algn="l">
              <a:defRPr sz="1000" baseline="0">
                <a:solidFill>
                  <a:schemeClr val="bg1"/>
                </a:solidFill>
                <a:latin typeface="Arial"/>
              </a:defRPr>
            </a:lvl1pPr>
          </a:lstStyle>
          <a:p>
            <a:fld id="{A2B785B9-06B0-42D9-9A9B-49D01274C45E}" type="datetime1">
              <a:rPr lang="en-GB" smtClean="0">
                <a:solidFill>
                  <a:prstClr val="white"/>
                </a:solidFill>
              </a:rPr>
              <a:pPr/>
              <a:t>07/06/2017</a:t>
            </a:fld>
            <a:endParaRPr lang="en-GB" dirty="0">
              <a:solidFill>
                <a:prstClr val="white"/>
              </a:solidFill>
            </a:endParaRPr>
          </a:p>
        </p:txBody>
      </p:sp>
      <p:sp>
        <p:nvSpPr>
          <p:cNvPr id="11" name="Footer Placeholder 4"/>
          <p:cNvSpPr>
            <a:spLocks noGrp="1"/>
          </p:cNvSpPr>
          <p:nvPr>
            <p:ph type="ftr" sz="quarter" idx="3"/>
          </p:nvPr>
        </p:nvSpPr>
        <p:spPr>
          <a:xfrm>
            <a:off x="1368000" y="6411600"/>
            <a:ext cx="4680000" cy="244800"/>
          </a:xfrm>
          <a:prstGeom prst="rect">
            <a:avLst/>
          </a:prstGeom>
        </p:spPr>
        <p:txBody>
          <a:bodyPr vert="horz" lIns="91440" tIns="45720" rIns="91440" bIns="45720" rtlCol="0" anchor="t" anchorCtr="0"/>
          <a:lstStyle>
            <a:lvl1pPr algn="l">
              <a:defRPr sz="1000" kern="1200" baseline="0">
                <a:solidFill>
                  <a:schemeClr val="bg1"/>
                </a:solidFill>
                <a:latin typeface="Arial"/>
              </a:defRPr>
            </a:lvl1pPr>
          </a:lstStyle>
          <a:p>
            <a:endParaRPr lang="en-GB" dirty="0">
              <a:solidFill>
                <a:prstClr val="white"/>
              </a:solidFill>
            </a:endParaRPr>
          </a:p>
        </p:txBody>
      </p:sp>
      <p:sp>
        <p:nvSpPr>
          <p:cNvPr id="12" name="Slide Number Placeholder 5"/>
          <p:cNvSpPr>
            <a:spLocks noGrp="1"/>
          </p:cNvSpPr>
          <p:nvPr>
            <p:ph type="sldNum" sz="quarter" idx="4"/>
          </p:nvPr>
        </p:nvSpPr>
        <p:spPr>
          <a:xfrm>
            <a:off x="8640000" y="6411600"/>
            <a:ext cx="342000" cy="244800"/>
          </a:xfrm>
          <a:prstGeom prst="rect">
            <a:avLst/>
          </a:prstGeom>
        </p:spPr>
        <p:txBody>
          <a:bodyPr vert="horz" wrap="none" lIns="91440" tIns="45720" rIns="91440" bIns="45720" rtlCol="0" anchor="t" anchorCtr="0"/>
          <a:lstStyle>
            <a:lvl1pPr algn="r">
              <a:defRPr sz="1000" baseline="0">
                <a:solidFill>
                  <a:schemeClr val="tx2"/>
                </a:solidFill>
                <a:latin typeface="Arial"/>
              </a:defRPr>
            </a:lvl1pPr>
          </a:lstStyle>
          <a:p>
            <a:fld id="{FCE284C4-5ED1-4D6C-B7CC-2049C3062C5E}" type="slidenum">
              <a:rPr lang="en-GB" smtClean="0">
                <a:solidFill>
                  <a:srgbClr val="006299"/>
                </a:solidFill>
              </a:rPr>
              <a:pPr/>
              <a:t>‹#›</a:t>
            </a:fld>
            <a:endParaRPr lang="en-GB" dirty="0">
              <a:solidFill>
                <a:srgbClr val="006299"/>
              </a:solidFill>
            </a:endParaRPr>
          </a:p>
        </p:txBody>
      </p:sp>
    </p:spTree>
    <p:extLst>
      <p:ext uri="{BB962C8B-B14F-4D97-AF65-F5344CB8AC3E}">
        <p14:creationId xmlns:p14="http://schemas.microsoft.com/office/powerpoint/2010/main" val="2915752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32FEDD-5D26-4597-93F8-43A13583B74D}" type="datetime1">
              <a:rPr lang="en-GB" smtClean="0"/>
              <a:pPr/>
              <a:t>07/06/2017</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FCE284C4-5ED1-4D6C-B7CC-2049C3062C5E}" type="slidenum">
              <a:rPr lang="en-GB" smtClean="0">
                <a:solidFill>
                  <a:prstClr val="white"/>
                </a:solidFill>
              </a:rPr>
              <a:pPr/>
              <a:t>‹#›</a:t>
            </a:fld>
            <a:endParaRPr lang="en-GB" dirty="0">
              <a:solidFill>
                <a:prstClr val="white"/>
              </a:solidFill>
            </a:endParaRPr>
          </a:p>
        </p:txBody>
      </p:sp>
    </p:spTree>
    <p:extLst>
      <p:ext uri="{BB962C8B-B14F-4D97-AF65-F5344CB8AC3E}">
        <p14:creationId xmlns:p14="http://schemas.microsoft.com/office/powerpoint/2010/main" val="115468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re et contenu">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eaLnBrk="1" latinLnBrk="0" hangingPunct="1">
              <a:defRPr/>
            </a:lvl1pPr>
            <a:lvl2pPr eaLnBrk="1" latinLnBrk="0" hangingPunct="1">
              <a:defRPr/>
            </a:lvl2pPr>
            <a:lvl3pPr eaLnBrk="1" latinLnBrk="0" hangingPunct="1">
              <a:defRPr/>
            </a:lvl3pPr>
            <a:lvl4pPr eaLnBrk="1" latinLnBrk="0" hangingPunct="1">
              <a:defRPr/>
            </a:lvl4pPr>
            <a:lvl5pPr eaLnBrk="1" latinLnBrk="0" hangingPunct="1">
              <a:defRPr/>
            </a:lvl5pPr>
          </a:lstStyle>
          <a:p>
            <a:pPr lvl="0" eaLnBrk="1" latinLnBrk="0" hangingPunct="1"/>
            <a:r>
              <a:rPr lang="fr-FR" dirty="0" smtClean="0"/>
              <a:t>Cliquez pour modifier les styles du texte du masque</a:t>
            </a:r>
            <a:endParaRPr lang="en-US" dirty="0" smtClean="0"/>
          </a:p>
          <a:p>
            <a:pPr lvl="1" eaLnBrk="1" latinLnBrk="0" hangingPunct="1"/>
            <a:r>
              <a:rPr lang="en-US" dirty="0" err="1" smtClean="0"/>
              <a:t>Deuxième</a:t>
            </a:r>
            <a:r>
              <a:rPr lang="en-US" dirty="0" smtClean="0"/>
              <a:t> </a:t>
            </a:r>
            <a:r>
              <a:rPr lang="en-US" dirty="0" err="1" smtClean="0"/>
              <a:t>niveau</a:t>
            </a:r>
            <a:endParaRPr lang="en-US" dirty="0" smtClean="0"/>
          </a:p>
          <a:p>
            <a:pPr lvl="2" eaLnBrk="1" latinLnBrk="0" hangingPunct="1"/>
            <a:r>
              <a:rPr lang="en-US" dirty="0" err="1" smtClean="0"/>
              <a:t>Troisième</a:t>
            </a:r>
            <a:r>
              <a:rPr lang="en-US" dirty="0" smtClean="0"/>
              <a:t> </a:t>
            </a:r>
            <a:r>
              <a:rPr lang="en-US" dirty="0" err="1" smtClean="0"/>
              <a:t>niveau</a:t>
            </a:r>
            <a:endParaRPr lang="en-US" dirty="0" smtClean="0"/>
          </a:p>
          <a:p>
            <a:pPr lvl="3" eaLnBrk="1" latinLnBrk="0" hangingPunct="1"/>
            <a:r>
              <a:rPr lang="en-US" dirty="0" err="1" smtClean="0"/>
              <a:t>Quatrième</a:t>
            </a:r>
            <a:r>
              <a:rPr lang="en-US" dirty="0" smtClean="0"/>
              <a:t> </a:t>
            </a:r>
            <a:r>
              <a:rPr lang="en-US" dirty="0" err="1" smtClean="0"/>
              <a:t>niveau</a:t>
            </a:r>
            <a:endParaRPr lang="en-US" dirty="0" smtClean="0"/>
          </a:p>
          <a:p>
            <a:pPr lvl="4" eaLnBrk="1" latinLnBrk="0" hangingPunct="1"/>
            <a:r>
              <a:rPr lang="en-US" dirty="0" err="1" smtClean="0"/>
              <a:t>Cinquième</a:t>
            </a:r>
            <a:r>
              <a:rPr lang="en-US" dirty="0" smtClean="0"/>
              <a:t> </a:t>
            </a:r>
            <a:r>
              <a:rPr lang="en-US" dirty="0" err="1" smtClean="0"/>
              <a:t>niveau</a:t>
            </a:r>
            <a:endParaRPr kumimoji="0" lang="en-US" dirty="0"/>
          </a:p>
        </p:txBody>
      </p:sp>
      <p:sp>
        <p:nvSpPr>
          <p:cNvPr id="8" name="Date Placeholder 3"/>
          <p:cNvSpPr>
            <a:spLocks noGrp="1"/>
          </p:cNvSpPr>
          <p:nvPr>
            <p:ph type="dt" sz="half" idx="2"/>
          </p:nvPr>
        </p:nvSpPr>
        <p:spPr>
          <a:xfrm>
            <a:off x="403200" y="6411600"/>
            <a:ext cx="900000" cy="244800"/>
          </a:xfrm>
          <a:prstGeom prst="rect">
            <a:avLst/>
          </a:prstGeom>
        </p:spPr>
        <p:txBody>
          <a:bodyPr vert="horz" lIns="91440" tIns="45720" rIns="91440" bIns="45720" rtlCol="0" anchor="t" anchorCtr="0"/>
          <a:lstStyle>
            <a:lvl1pPr algn="l">
              <a:defRPr sz="1000" baseline="0">
                <a:solidFill>
                  <a:srgbClr val="727272"/>
                </a:solidFill>
                <a:latin typeface="Arial"/>
              </a:defRPr>
            </a:lvl1pPr>
          </a:lstStyle>
          <a:p>
            <a:endParaRPr lang="en-US" dirty="0"/>
          </a:p>
        </p:txBody>
      </p:sp>
      <p:sp>
        <p:nvSpPr>
          <p:cNvPr id="9" name="Footer Placeholder 4"/>
          <p:cNvSpPr>
            <a:spLocks noGrp="1"/>
          </p:cNvSpPr>
          <p:nvPr>
            <p:ph type="ftr" sz="quarter" idx="3"/>
          </p:nvPr>
        </p:nvSpPr>
        <p:spPr>
          <a:xfrm>
            <a:off x="1368000" y="6411600"/>
            <a:ext cx="4680000" cy="244800"/>
          </a:xfrm>
          <a:prstGeom prst="rect">
            <a:avLst/>
          </a:prstGeom>
        </p:spPr>
        <p:txBody>
          <a:bodyPr vert="horz" lIns="91440" tIns="45720" rIns="91440" bIns="45720" rtlCol="0" anchor="t" anchorCtr="0"/>
          <a:lstStyle>
            <a:lvl1pPr algn="l">
              <a:defRPr sz="1000" kern="1200" baseline="0">
                <a:solidFill>
                  <a:srgbClr val="727272"/>
                </a:solidFill>
                <a:latin typeface="Arial"/>
              </a:defRPr>
            </a:lvl1pPr>
          </a:lstStyle>
          <a:p>
            <a:endParaRPr lang="en-US" dirty="0"/>
          </a:p>
        </p:txBody>
      </p:sp>
      <p:sp>
        <p:nvSpPr>
          <p:cNvPr id="10" name="Slide Number Placeholder 5"/>
          <p:cNvSpPr>
            <a:spLocks noGrp="1"/>
          </p:cNvSpPr>
          <p:nvPr>
            <p:ph type="sldNum" sz="quarter" idx="4"/>
          </p:nvPr>
        </p:nvSpPr>
        <p:spPr>
          <a:xfrm>
            <a:off x="8640000" y="6411600"/>
            <a:ext cx="342000" cy="244800"/>
          </a:xfrm>
          <a:prstGeom prst="rect">
            <a:avLst/>
          </a:prstGeom>
        </p:spPr>
        <p:txBody>
          <a:bodyPr vert="horz" wrap="none" lIns="91440" tIns="45720" rIns="91440" bIns="45720" rtlCol="0" anchor="t" anchorCtr="0"/>
          <a:lstStyle>
            <a:lvl1pPr algn="r">
              <a:defRPr sz="1000" baseline="0">
                <a:solidFill>
                  <a:schemeClr val="bg1"/>
                </a:solidFill>
                <a:latin typeface="Arial"/>
              </a:defRPr>
            </a:lvl1pPr>
          </a:lstStyle>
          <a:p>
            <a:fld id="{58A3AF47-B4FA-4D1F-8A11-2DCF56C6D06A}" type="slidenum">
              <a:rPr lang="en-US" smtClean="0">
                <a:solidFill>
                  <a:prstClr val="white"/>
                </a:solidFill>
              </a:rPr>
              <a:pPr/>
              <a:t>‹#›</a:t>
            </a:fld>
            <a:endParaRPr lang="en-US" dirty="0">
              <a:solidFill>
                <a:prstClr val="white"/>
              </a:solidFill>
            </a:endParaRPr>
          </a:p>
        </p:txBody>
      </p:sp>
      <p:sp>
        <p:nvSpPr>
          <p:cNvPr id="11" name="Title Placeholder 1"/>
          <p:cNvSpPr>
            <a:spLocks noGrp="1"/>
          </p:cNvSpPr>
          <p:nvPr>
            <p:ph type="title" hasCustomPrompt="1"/>
          </p:nvPr>
        </p:nvSpPr>
        <p:spPr>
          <a:xfrm>
            <a:off x="1080000" y="237600"/>
            <a:ext cx="7416000" cy="1022400"/>
          </a:xfrm>
          <a:prstGeom prst="rect">
            <a:avLst/>
          </a:prstGeom>
        </p:spPr>
        <p:txBody>
          <a:bodyPr vert="horz" lIns="91440" tIns="45720" rIns="91440" bIns="45720" rtlCol="0" anchor="ctr">
            <a:noAutofit/>
          </a:bodyPr>
          <a:lstStyle/>
          <a:p>
            <a:r>
              <a:rPr lang="fr-FR" dirty="0" smtClean="0"/>
              <a:t>Cliquez pour modifier le titre</a:t>
            </a:r>
            <a:br>
              <a:rPr lang="fr-FR" dirty="0" smtClean="0"/>
            </a:br>
            <a:r>
              <a:rPr lang="fr-FR" dirty="0" smtClean="0"/>
              <a:t>Le titre peut-être étendu sur deux lignes</a:t>
            </a:r>
            <a:endParaRPr lang="en-US" dirty="0"/>
          </a:p>
        </p:txBody>
      </p:sp>
    </p:spTree>
    <p:extLst>
      <p:ext uri="{BB962C8B-B14F-4D97-AF65-F5344CB8AC3E}">
        <p14:creationId xmlns:p14="http://schemas.microsoft.com/office/powerpoint/2010/main" val="18549905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slideLayout" Target="../slideLayouts/slideLayout7.xml"/><Relationship Id="rId7" Type="http://schemas.openxmlformats.org/officeDocument/2006/relationships/image" Target="../media/image2.png"/><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0"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193600" y="5328184"/>
            <a:ext cx="950407" cy="1529631"/>
          </a:xfrm>
          <a:prstGeom prst="rect">
            <a:avLst/>
          </a:prstGeom>
        </p:spPr>
      </p:pic>
      <p:sp>
        <p:nvSpPr>
          <p:cNvPr id="21" name="Rectangle 20"/>
          <p:cNvSpPr/>
          <p:nvPr/>
        </p:nvSpPr>
        <p:spPr bwMode="auto">
          <a:xfrm>
            <a:off x="504000" y="1306800"/>
            <a:ext cx="8154000" cy="0"/>
          </a:xfrm>
          <a:prstGeom prst="rect">
            <a:avLst/>
          </a:prstGeom>
          <a:noFill/>
          <a:ln w="6350" cap="flat" cmpd="sng" algn="ctr">
            <a:solidFill>
              <a:srgbClr val="727272"/>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fr-FR" sz="2000" b="0" i="0" u="none" strike="noStrike" cap="none" normalizeH="0" baseline="0" dirty="0" smtClean="0">
              <a:ln>
                <a:noFill/>
              </a:ln>
              <a:solidFill>
                <a:schemeClr val="tx1"/>
              </a:solidFill>
              <a:effectLst/>
              <a:latin typeface="Helvetica 65 Medium" pitchFamily="34" charset="0"/>
            </a:endParaRPr>
          </a:p>
        </p:txBody>
      </p:sp>
      <p:pic>
        <p:nvPicPr>
          <p:cNvPr id="24" name="Image 7"/>
          <p:cNvPicPr>
            <a:picLocks noChangeAspect="1"/>
          </p:cNvPicPr>
          <p:nvPr/>
        </p:nvPicPr>
        <p:blipFill>
          <a:blip r:embed="rId7" cstate="print"/>
          <a:stretch>
            <a:fillRect/>
          </a:stretch>
        </p:blipFill>
        <p:spPr>
          <a:xfrm>
            <a:off x="500400" y="288000"/>
            <a:ext cx="458653" cy="954000"/>
          </a:xfrm>
          <a:prstGeom prst="rect">
            <a:avLst/>
          </a:prstGeom>
        </p:spPr>
      </p:pic>
      <p:sp>
        <p:nvSpPr>
          <p:cNvPr id="13" name="Text Placeholder 12"/>
          <p:cNvSpPr>
            <a:spLocks noGrp="1"/>
          </p:cNvSpPr>
          <p:nvPr>
            <p:ph type="body" idx="1"/>
          </p:nvPr>
        </p:nvSpPr>
        <p:spPr>
          <a:xfrm>
            <a:off x="468000" y="1602000"/>
            <a:ext cx="8218800" cy="452520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dirty="0"/>
          </a:p>
        </p:txBody>
      </p:sp>
      <p:sp>
        <p:nvSpPr>
          <p:cNvPr id="25" name="Title Placeholder 1"/>
          <p:cNvSpPr>
            <a:spLocks noGrp="1"/>
          </p:cNvSpPr>
          <p:nvPr>
            <p:ph type="title"/>
          </p:nvPr>
        </p:nvSpPr>
        <p:spPr>
          <a:xfrm>
            <a:off x="1080000" y="237600"/>
            <a:ext cx="7416000" cy="1022400"/>
          </a:xfrm>
          <a:prstGeom prst="rect">
            <a:avLst/>
          </a:prstGeom>
        </p:spPr>
        <p:txBody>
          <a:bodyPr vert="horz" lIns="91440" tIns="45720" rIns="91440" bIns="45720" rtlCol="0" anchor="ctr">
            <a:noAutofit/>
          </a:bodyPr>
          <a:lstStyle/>
          <a:p>
            <a:r>
              <a:rPr lang="en-US" dirty="0" smtClean="0"/>
              <a:t>Click to edit Slide title</a:t>
            </a:r>
            <a:br>
              <a:rPr lang="en-US" dirty="0" smtClean="0"/>
            </a:br>
            <a:r>
              <a:rPr lang="en-US" dirty="0" smtClean="0"/>
              <a:t>Slide title can be extended to two lines</a:t>
            </a:r>
            <a:endParaRPr lang="en-US" dirty="0"/>
          </a:p>
        </p:txBody>
      </p:sp>
      <p:sp>
        <p:nvSpPr>
          <p:cNvPr id="26" name="Date Placeholder 3"/>
          <p:cNvSpPr>
            <a:spLocks noGrp="1"/>
          </p:cNvSpPr>
          <p:nvPr>
            <p:ph type="dt" sz="half" idx="2"/>
          </p:nvPr>
        </p:nvSpPr>
        <p:spPr>
          <a:xfrm>
            <a:off x="403200" y="6411600"/>
            <a:ext cx="900000" cy="244800"/>
          </a:xfrm>
          <a:prstGeom prst="rect">
            <a:avLst/>
          </a:prstGeom>
        </p:spPr>
        <p:txBody>
          <a:bodyPr vert="horz" lIns="91440" tIns="45720" rIns="91440" bIns="45720" rtlCol="0" anchor="t" anchorCtr="0"/>
          <a:lstStyle>
            <a:lvl1pPr algn="l">
              <a:defRPr sz="1000" baseline="0">
                <a:solidFill>
                  <a:srgbClr val="727272"/>
                </a:solidFill>
                <a:latin typeface="Arial"/>
              </a:defRPr>
            </a:lvl1pPr>
          </a:lstStyle>
          <a:p>
            <a:fld id="{B8370864-E9EA-44BF-8598-F5589D64693F}" type="datetime1">
              <a:rPr lang="en-GB" smtClean="0"/>
              <a:t>07/06/2017</a:t>
            </a:fld>
            <a:endParaRPr lang="en-GB" dirty="0"/>
          </a:p>
        </p:txBody>
      </p:sp>
      <p:sp>
        <p:nvSpPr>
          <p:cNvPr id="27" name="Footer Placeholder 4"/>
          <p:cNvSpPr>
            <a:spLocks noGrp="1"/>
          </p:cNvSpPr>
          <p:nvPr>
            <p:ph type="ftr" sz="quarter" idx="3"/>
          </p:nvPr>
        </p:nvSpPr>
        <p:spPr>
          <a:xfrm>
            <a:off x="1368000" y="6411600"/>
            <a:ext cx="4680000" cy="244800"/>
          </a:xfrm>
          <a:prstGeom prst="rect">
            <a:avLst/>
          </a:prstGeom>
        </p:spPr>
        <p:txBody>
          <a:bodyPr vert="horz" lIns="91440" tIns="45720" rIns="91440" bIns="45720" rtlCol="0" anchor="t" anchorCtr="0"/>
          <a:lstStyle>
            <a:lvl1pPr algn="l">
              <a:defRPr sz="1000" kern="1200" baseline="0">
                <a:solidFill>
                  <a:srgbClr val="727272"/>
                </a:solidFill>
                <a:latin typeface="Arial"/>
              </a:defRPr>
            </a:lvl1pPr>
          </a:lstStyle>
          <a:p>
            <a:endParaRPr lang="en-GB" dirty="0"/>
          </a:p>
        </p:txBody>
      </p:sp>
      <p:sp>
        <p:nvSpPr>
          <p:cNvPr id="41" name="Slide Number Placeholder 5"/>
          <p:cNvSpPr>
            <a:spLocks noGrp="1"/>
          </p:cNvSpPr>
          <p:nvPr>
            <p:ph type="sldNum" sz="quarter" idx="4"/>
          </p:nvPr>
        </p:nvSpPr>
        <p:spPr>
          <a:xfrm>
            <a:off x="8640000" y="6411600"/>
            <a:ext cx="342000" cy="244800"/>
          </a:xfrm>
          <a:prstGeom prst="rect">
            <a:avLst/>
          </a:prstGeom>
        </p:spPr>
        <p:txBody>
          <a:bodyPr vert="horz" wrap="none" lIns="91440" tIns="45720" rIns="91440" bIns="45720" rtlCol="0" anchor="t" anchorCtr="0"/>
          <a:lstStyle>
            <a:lvl1pPr algn="r">
              <a:defRPr sz="1000" baseline="0">
                <a:solidFill>
                  <a:schemeClr val="bg1"/>
                </a:solidFill>
                <a:latin typeface="Arial"/>
              </a:defRPr>
            </a:lvl1pPr>
          </a:lstStyle>
          <a:p>
            <a:fld id="{FCE284C4-5ED1-4D6C-B7CC-2049C3062C5E}" type="slidenum">
              <a:rPr lang="en-GB" smtClean="0"/>
              <a:t>‹#›</a:t>
            </a:fld>
            <a:endParaRPr lang="en-GB"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hf hdr="0" ftr="0" dt="0"/>
  <p:txStyles>
    <p:titleStyle>
      <a:lvl1pPr algn="l" rtl="0" eaLnBrk="1" latinLnBrk="0" hangingPunct="1">
        <a:spcBef>
          <a:spcPct val="0"/>
        </a:spcBef>
        <a:buNone/>
        <a:defRPr kumimoji="0" sz="3200" kern="1200">
          <a:solidFill>
            <a:schemeClr val="tx1"/>
          </a:solidFill>
          <a:latin typeface="+mj-lt"/>
          <a:ea typeface="+mj-ea"/>
          <a:cs typeface="+mj-cs"/>
        </a:defRPr>
      </a:lvl1pPr>
    </p:titleStyle>
    <p:bodyStyle>
      <a:lvl1pPr marL="342000" indent="-342000" algn="l" rtl="0" eaLnBrk="1" latinLnBrk="0" hangingPunct="1">
        <a:spcBef>
          <a:spcPts val="768"/>
        </a:spcBef>
        <a:buClr>
          <a:schemeClr val="tx1"/>
        </a:buClr>
        <a:buFont typeface="Arial" pitchFamily="34" charset="0"/>
        <a:buChar char="•"/>
        <a:defRPr kumimoji="0" sz="3200" kern="1200">
          <a:solidFill>
            <a:schemeClr val="tx1"/>
          </a:solidFill>
          <a:latin typeface="+mn-lt"/>
          <a:ea typeface="+mn-ea"/>
          <a:cs typeface="+mn-cs"/>
        </a:defRPr>
      </a:lvl1pPr>
      <a:lvl2pPr marL="741600" indent="-284400" algn="l" rtl="0" eaLnBrk="1" latinLnBrk="0" hangingPunct="1">
        <a:spcBef>
          <a:spcPts val="672"/>
        </a:spcBef>
        <a:buClr>
          <a:schemeClr val="tx1"/>
        </a:buClr>
        <a:buFont typeface="Arial" pitchFamily="34" charset="0"/>
        <a:buChar char="–"/>
        <a:defRPr kumimoji="0" sz="2800" kern="1200">
          <a:solidFill>
            <a:schemeClr val="tx1"/>
          </a:solidFill>
          <a:latin typeface="+mn-lt"/>
          <a:ea typeface="+mn-ea"/>
          <a:cs typeface="+mn-cs"/>
        </a:defRPr>
      </a:lvl2pPr>
      <a:lvl3pPr marL="1144800" indent="-230400" algn="l" rtl="0" eaLnBrk="1" latinLnBrk="0" hangingPunct="1">
        <a:spcBef>
          <a:spcPts val="576"/>
        </a:spcBef>
        <a:buClr>
          <a:schemeClr val="tx1"/>
        </a:buClr>
        <a:buFont typeface="Arial" pitchFamily="34" charset="0"/>
        <a:buChar char="•"/>
        <a:defRPr kumimoji="0" sz="2400" kern="1200">
          <a:solidFill>
            <a:schemeClr val="tx1"/>
          </a:solidFill>
          <a:latin typeface="+mn-lt"/>
          <a:ea typeface="+mn-ea"/>
          <a:cs typeface="+mn-cs"/>
        </a:defRPr>
      </a:lvl3pPr>
      <a:lvl4pPr marL="1602000" indent="-230400" algn="l" rtl="0" eaLnBrk="1" latinLnBrk="0" hangingPunct="1">
        <a:spcBef>
          <a:spcPts val="480"/>
        </a:spcBef>
        <a:buClr>
          <a:schemeClr val="tx1"/>
        </a:buClr>
        <a:buFont typeface="Arial" pitchFamily="34" charset="0"/>
        <a:buChar char="–"/>
        <a:defRPr kumimoji="0" sz="2000" kern="1200">
          <a:solidFill>
            <a:schemeClr val="tx1"/>
          </a:solidFill>
          <a:latin typeface="+mn-lt"/>
          <a:ea typeface="+mn-ea"/>
          <a:cs typeface="+mn-cs"/>
        </a:defRPr>
      </a:lvl4pPr>
      <a:lvl5pPr marL="2059200" indent="-230400" algn="l" rtl="0" eaLnBrk="1" latinLnBrk="0" hangingPunct="1">
        <a:spcBef>
          <a:spcPts val="480"/>
        </a:spcBef>
        <a:buClr>
          <a:schemeClr val="tx1"/>
        </a:buClr>
        <a:buFont typeface="Arial" pitchFamily="34" charset="0"/>
        <a:buChar char="»"/>
        <a:defRPr kumimoji="0" sz="2000" kern="1200">
          <a:solidFill>
            <a:schemeClr val="tx1"/>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0" name="Image 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193600" y="5328184"/>
            <a:ext cx="950407" cy="1529631"/>
          </a:xfrm>
          <a:prstGeom prst="rect">
            <a:avLst/>
          </a:prstGeom>
        </p:spPr>
      </p:pic>
      <p:sp>
        <p:nvSpPr>
          <p:cNvPr id="21" name="Rectangle 20"/>
          <p:cNvSpPr/>
          <p:nvPr/>
        </p:nvSpPr>
        <p:spPr bwMode="auto">
          <a:xfrm>
            <a:off x="504000" y="1306800"/>
            <a:ext cx="8154000" cy="0"/>
          </a:xfrm>
          <a:prstGeom prst="rect">
            <a:avLst/>
          </a:prstGeom>
          <a:noFill/>
          <a:ln w="6350" cap="flat" cmpd="sng" algn="ctr">
            <a:solidFill>
              <a:srgbClr val="727272"/>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eaLnBrk="0" fontAlgn="base" hangingPunct="0">
              <a:spcBef>
                <a:spcPct val="0"/>
              </a:spcBef>
              <a:spcAft>
                <a:spcPct val="0"/>
              </a:spcAft>
            </a:pPr>
            <a:endParaRPr lang="fr-FR" sz="2000" dirty="0" smtClean="0">
              <a:solidFill>
                <a:srgbClr val="727272"/>
              </a:solidFill>
              <a:latin typeface="Helvetica 65 Medium" pitchFamily="34" charset="0"/>
            </a:endParaRPr>
          </a:p>
        </p:txBody>
      </p:sp>
      <p:pic>
        <p:nvPicPr>
          <p:cNvPr id="24" name="Image 7"/>
          <p:cNvPicPr>
            <a:picLocks noChangeAspect="1"/>
          </p:cNvPicPr>
          <p:nvPr/>
        </p:nvPicPr>
        <p:blipFill>
          <a:blip r:embed="rId8" cstate="print"/>
          <a:stretch>
            <a:fillRect/>
          </a:stretch>
        </p:blipFill>
        <p:spPr>
          <a:xfrm>
            <a:off x="500400" y="288000"/>
            <a:ext cx="458653" cy="954000"/>
          </a:xfrm>
          <a:prstGeom prst="rect">
            <a:avLst/>
          </a:prstGeom>
        </p:spPr>
      </p:pic>
      <p:sp>
        <p:nvSpPr>
          <p:cNvPr id="13" name="Text Placeholder 12"/>
          <p:cNvSpPr>
            <a:spLocks noGrp="1"/>
          </p:cNvSpPr>
          <p:nvPr>
            <p:ph type="body" idx="1"/>
          </p:nvPr>
        </p:nvSpPr>
        <p:spPr>
          <a:xfrm>
            <a:off x="468000" y="1602000"/>
            <a:ext cx="8218800" cy="452520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dirty="0"/>
          </a:p>
        </p:txBody>
      </p:sp>
      <p:sp>
        <p:nvSpPr>
          <p:cNvPr id="25" name="Title Placeholder 1"/>
          <p:cNvSpPr>
            <a:spLocks noGrp="1"/>
          </p:cNvSpPr>
          <p:nvPr>
            <p:ph type="title"/>
          </p:nvPr>
        </p:nvSpPr>
        <p:spPr>
          <a:xfrm>
            <a:off x="1080000" y="237600"/>
            <a:ext cx="7416000" cy="1022400"/>
          </a:xfrm>
          <a:prstGeom prst="rect">
            <a:avLst/>
          </a:prstGeom>
        </p:spPr>
        <p:txBody>
          <a:bodyPr vert="horz" lIns="91440" tIns="45720" rIns="91440" bIns="45720" rtlCol="0" anchor="ctr">
            <a:noAutofit/>
          </a:bodyPr>
          <a:lstStyle/>
          <a:p>
            <a:r>
              <a:rPr lang="en-US" dirty="0" smtClean="0"/>
              <a:t>Click to edit Slide title</a:t>
            </a:r>
            <a:br>
              <a:rPr lang="en-US" dirty="0" smtClean="0"/>
            </a:br>
            <a:r>
              <a:rPr lang="en-US" dirty="0" smtClean="0"/>
              <a:t>Slide title can be extended to two lines</a:t>
            </a:r>
            <a:endParaRPr lang="en-US" dirty="0"/>
          </a:p>
        </p:txBody>
      </p:sp>
      <p:sp>
        <p:nvSpPr>
          <p:cNvPr id="26" name="Date Placeholder 3"/>
          <p:cNvSpPr>
            <a:spLocks noGrp="1"/>
          </p:cNvSpPr>
          <p:nvPr>
            <p:ph type="dt" sz="half" idx="2"/>
          </p:nvPr>
        </p:nvSpPr>
        <p:spPr>
          <a:xfrm>
            <a:off x="403200" y="6411600"/>
            <a:ext cx="900000" cy="244800"/>
          </a:xfrm>
          <a:prstGeom prst="rect">
            <a:avLst/>
          </a:prstGeom>
        </p:spPr>
        <p:txBody>
          <a:bodyPr vert="horz" lIns="91440" tIns="45720" rIns="91440" bIns="45720" rtlCol="0" anchor="t" anchorCtr="0"/>
          <a:lstStyle>
            <a:lvl1pPr algn="l">
              <a:defRPr sz="1000" baseline="0">
                <a:solidFill>
                  <a:srgbClr val="727272"/>
                </a:solidFill>
                <a:latin typeface="Arial"/>
              </a:defRPr>
            </a:lvl1pPr>
          </a:lstStyle>
          <a:p>
            <a:fld id="{B8370864-E9EA-44BF-8598-F5589D64693F}" type="datetime1">
              <a:rPr lang="en-GB" smtClean="0"/>
              <a:pPr/>
              <a:t>07/06/2017</a:t>
            </a:fld>
            <a:endParaRPr lang="en-GB" dirty="0"/>
          </a:p>
        </p:txBody>
      </p:sp>
      <p:sp>
        <p:nvSpPr>
          <p:cNvPr id="27" name="Footer Placeholder 4"/>
          <p:cNvSpPr>
            <a:spLocks noGrp="1"/>
          </p:cNvSpPr>
          <p:nvPr>
            <p:ph type="ftr" sz="quarter" idx="3"/>
          </p:nvPr>
        </p:nvSpPr>
        <p:spPr>
          <a:xfrm>
            <a:off x="1368000" y="6411600"/>
            <a:ext cx="4680000" cy="244800"/>
          </a:xfrm>
          <a:prstGeom prst="rect">
            <a:avLst/>
          </a:prstGeom>
        </p:spPr>
        <p:txBody>
          <a:bodyPr vert="horz" lIns="91440" tIns="45720" rIns="91440" bIns="45720" rtlCol="0" anchor="t" anchorCtr="0"/>
          <a:lstStyle>
            <a:lvl1pPr algn="l">
              <a:defRPr sz="1000" kern="1200" baseline="0">
                <a:solidFill>
                  <a:srgbClr val="727272"/>
                </a:solidFill>
                <a:latin typeface="Arial"/>
              </a:defRPr>
            </a:lvl1pPr>
          </a:lstStyle>
          <a:p>
            <a:endParaRPr lang="en-GB" dirty="0"/>
          </a:p>
        </p:txBody>
      </p:sp>
      <p:sp>
        <p:nvSpPr>
          <p:cNvPr id="41" name="Slide Number Placeholder 5"/>
          <p:cNvSpPr>
            <a:spLocks noGrp="1"/>
          </p:cNvSpPr>
          <p:nvPr>
            <p:ph type="sldNum" sz="quarter" idx="4"/>
          </p:nvPr>
        </p:nvSpPr>
        <p:spPr>
          <a:xfrm>
            <a:off x="8640000" y="6411600"/>
            <a:ext cx="342000" cy="244800"/>
          </a:xfrm>
          <a:prstGeom prst="rect">
            <a:avLst/>
          </a:prstGeom>
        </p:spPr>
        <p:txBody>
          <a:bodyPr vert="horz" wrap="none" lIns="91440" tIns="45720" rIns="91440" bIns="45720" rtlCol="0" anchor="t" anchorCtr="0"/>
          <a:lstStyle>
            <a:lvl1pPr algn="r">
              <a:defRPr sz="1000" baseline="0">
                <a:solidFill>
                  <a:schemeClr val="bg1"/>
                </a:solidFill>
                <a:latin typeface="Arial"/>
              </a:defRPr>
            </a:lvl1pPr>
          </a:lstStyle>
          <a:p>
            <a:fld id="{FCE284C4-5ED1-4D6C-B7CC-2049C3062C5E}" type="slidenum">
              <a:rPr lang="en-GB" smtClean="0">
                <a:solidFill>
                  <a:prstClr val="white"/>
                </a:solidFill>
              </a:rPr>
              <a:pPr/>
              <a:t>‹#›</a:t>
            </a:fld>
            <a:endParaRPr lang="en-GB" dirty="0">
              <a:solidFill>
                <a:prstClr val="white"/>
              </a:solidFill>
            </a:endParaRPr>
          </a:p>
        </p:txBody>
      </p:sp>
    </p:spTree>
    <p:extLst>
      <p:ext uri="{BB962C8B-B14F-4D97-AF65-F5344CB8AC3E}">
        <p14:creationId xmlns:p14="http://schemas.microsoft.com/office/powerpoint/2010/main" val="369991894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Lst>
  <p:hf hdr="0" ftr="0" dt="0"/>
  <p:txStyles>
    <p:titleStyle>
      <a:lvl1pPr algn="l" rtl="0" eaLnBrk="1" latinLnBrk="0" hangingPunct="1">
        <a:spcBef>
          <a:spcPct val="0"/>
        </a:spcBef>
        <a:buNone/>
        <a:defRPr kumimoji="0" sz="3200" kern="1200">
          <a:solidFill>
            <a:schemeClr val="tx1"/>
          </a:solidFill>
          <a:latin typeface="+mj-lt"/>
          <a:ea typeface="+mj-ea"/>
          <a:cs typeface="+mj-cs"/>
        </a:defRPr>
      </a:lvl1pPr>
    </p:titleStyle>
    <p:bodyStyle>
      <a:lvl1pPr marL="342000" indent="-342000" algn="l" rtl="0" eaLnBrk="1" latinLnBrk="0" hangingPunct="1">
        <a:spcBef>
          <a:spcPts val="768"/>
        </a:spcBef>
        <a:buClr>
          <a:schemeClr val="tx1"/>
        </a:buClr>
        <a:buFont typeface="Arial" pitchFamily="34" charset="0"/>
        <a:buChar char="•"/>
        <a:defRPr kumimoji="0" sz="3200" kern="1200">
          <a:solidFill>
            <a:schemeClr val="tx1"/>
          </a:solidFill>
          <a:latin typeface="+mn-lt"/>
          <a:ea typeface="+mn-ea"/>
          <a:cs typeface="+mn-cs"/>
        </a:defRPr>
      </a:lvl1pPr>
      <a:lvl2pPr marL="741600" indent="-284400" algn="l" rtl="0" eaLnBrk="1" latinLnBrk="0" hangingPunct="1">
        <a:spcBef>
          <a:spcPts val="672"/>
        </a:spcBef>
        <a:buClr>
          <a:schemeClr val="tx1"/>
        </a:buClr>
        <a:buFont typeface="Arial" pitchFamily="34" charset="0"/>
        <a:buChar char="–"/>
        <a:defRPr kumimoji="0" sz="2800" kern="1200">
          <a:solidFill>
            <a:schemeClr val="tx1"/>
          </a:solidFill>
          <a:latin typeface="+mn-lt"/>
          <a:ea typeface="+mn-ea"/>
          <a:cs typeface="+mn-cs"/>
        </a:defRPr>
      </a:lvl2pPr>
      <a:lvl3pPr marL="1144800" indent="-230400" algn="l" rtl="0" eaLnBrk="1" latinLnBrk="0" hangingPunct="1">
        <a:spcBef>
          <a:spcPts val="576"/>
        </a:spcBef>
        <a:buClr>
          <a:schemeClr val="tx1"/>
        </a:buClr>
        <a:buFont typeface="Arial" pitchFamily="34" charset="0"/>
        <a:buChar char="•"/>
        <a:defRPr kumimoji="0" sz="2400" kern="1200">
          <a:solidFill>
            <a:schemeClr val="tx1"/>
          </a:solidFill>
          <a:latin typeface="+mn-lt"/>
          <a:ea typeface="+mn-ea"/>
          <a:cs typeface="+mn-cs"/>
        </a:defRPr>
      </a:lvl3pPr>
      <a:lvl4pPr marL="1602000" indent="-230400" algn="l" rtl="0" eaLnBrk="1" latinLnBrk="0" hangingPunct="1">
        <a:spcBef>
          <a:spcPts val="480"/>
        </a:spcBef>
        <a:buClr>
          <a:schemeClr val="tx1"/>
        </a:buClr>
        <a:buFont typeface="Arial" pitchFamily="34" charset="0"/>
        <a:buChar char="–"/>
        <a:defRPr kumimoji="0" sz="2000" kern="1200">
          <a:solidFill>
            <a:schemeClr val="tx1"/>
          </a:solidFill>
          <a:latin typeface="+mn-lt"/>
          <a:ea typeface="+mn-ea"/>
          <a:cs typeface="+mn-cs"/>
        </a:defRPr>
      </a:lvl4pPr>
      <a:lvl5pPr marL="2059200" indent="-230400" algn="l" rtl="0" eaLnBrk="1" latinLnBrk="0" hangingPunct="1">
        <a:spcBef>
          <a:spcPts val="480"/>
        </a:spcBef>
        <a:buClr>
          <a:schemeClr val="tx1"/>
        </a:buClr>
        <a:buFont typeface="Arial" pitchFamily="34" charset="0"/>
        <a:buChar char="»"/>
        <a:defRPr kumimoji="0" sz="2000" kern="1200">
          <a:solidFill>
            <a:schemeClr val="tx1"/>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0.png"/><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65760" y="1052736"/>
            <a:ext cx="8019526" cy="2400657"/>
          </a:xfrm>
          <a:prstGeom prst="rect">
            <a:avLst/>
          </a:prstGeom>
          <a:noFill/>
        </p:spPr>
        <p:txBody>
          <a:bodyPr wrap="square" rtlCol="0">
            <a:spAutoFit/>
          </a:bodyPr>
          <a:lstStyle/>
          <a:p>
            <a:r>
              <a:rPr lang="en-GB" sz="3400" b="1" dirty="0" smtClean="0">
                <a:solidFill>
                  <a:prstClr val="white"/>
                </a:solidFill>
                <a:latin typeface="Arial"/>
              </a:rPr>
              <a:t>OECD ECONOMIC OUTLOOK</a:t>
            </a:r>
          </a:p>
          <a:p>
            <a:r>
              <a:rPr lang="en-GB" sz="3400" b="1" dirty="0" smtClean="0">
                <a:solidFill>
                  <a:prstClr val="white"/>
                </a:solidFill>
                <a:latin typeface="Arial"/>
              </a:rPr>
              <a:t>Mieux, mais encore insuffisant</a:t>
            </a:r>
          </a:p>
        </p:txBody>
      </p:sp>
      <p:sp>
        <p:nvSpPr>
          <p:cNvPr id="6" name="TextBox 5"/>
          <p:cNvSpPr txBox="1"/>
          <p:nvPr/>
        </p:nvSpPr>
        <p:spPr>
          <a:xfrm>
            <a:off x="755576" y="6169422"/>
            <a:ext cx="5616624" cy="584775"/>
          </a:xfrm>
          <a:prstGeom prst="rect">
            <a:avLst/>
          </a:prstGeom>
          <a:noFill/>
        </p:spPr>
        <p:txBody>
          <a:bodyPr wrap="square" rtlCol="0">
            <a:spAutoFit/>
          </a:bodyPr>
          <a:lstStyle/>
          <a:p>
            <a:r>
              <a:rPr lang="en-GB" sz="1600" dirty="0" smtClean="0">
                <a:solidFill>
                  <a:prstClr val="white"/>
                </a:solidFill>
                <a:latin typeface="Arial"/>
              </a:rPr>
              <a:t>www.oecd.org/economy/economicoutlook.htm</a:t>
            </a:r>
          </a:p>
          <a:p>
            <a:r>
              <a:rPr lang="en-GB" sz="1600" dirty="0" smtClean="0">
                <a:solidFill>
                  <a:prstClr val="white"/>
                </a:solidFill>
                <a:latin typeface="Arial"/>
              </a:rPr>
              <a:t>Blog ECOSCOPE : oecdecoscope.wordpress.com</a:t>
            </a:r>
          </a:p>
        </p:txBody>
      </p:sp>
      <p:sp>
        <p:nvSpPr>
          <p:cNvPr id="8" name="Rectangle 5"/>
          <p:cNvSpPr txBox="1">
            <a:spLocks noChangeArrowheads="1"/>
          </p:cNvSpPr>
          <p:nvPr/>
        </p:nvSpPr>
        <p:spPr bwMode="auto">
          <a:xfrm>
            <a:off x="80554" y="2564904"/>
            <a:ext cx="8974666" cy="2471913"/>
          </a:xfrm>
          <a:prstGeom prst="rect">
            <a:avLst/>
          </a:prstGeom>
          <a:noFill/>
          <a:ln w="9525">
            <a:noFill/>
            <a:miter lim="800000"/>
            <a:headEnd/>
            <a:tailEnd/>
          </a:ln>
        </p:spPr>
        <p:txBody>
          <a:bodyPr/>
          <a:lstStyle/>
          <a:p>
            <a:r>
              <a:rPr lang="en-GB" sz="2800" b="1" dirty="0" smtClean="0">
                <a:solidFill>
                  <a:srgbClr val="898989"/>
                </a:solidFill>
                <a:latin typeface="+mn-lt"/>
                <a:cs typeface="+mn-cs"/>
              </a:rPr>
              <a:t> </a:t>
            </a:r>
          </a:p>
          <a:p>
            <a:r>
              <a:rPr lang="en-GB" sz="2800" b="1" dirty="0" smtClean="0">
                <a:solidFill>
                  <a:srgbClr val="898989"/>
                </a:solidFill>
                <a:latin typeface="+mn-lt"/>
                <a:cs typeface="+mn-cs"/>
              </a:rPr>
              <a:t/>
            </a:r>
          </a:p>
          <a:p>
            <a:r>
              <a:rPr lang="en-GB" sz="2800" b="1" dirty="0" smtClean="0">
                <a:solidFill>
                  <a:srgbClr val="898989"/>
                </a:solidFill>
                <a:latin typeface="+mn-lt"/>
                <a:cs typeface="+mn-cs"/>
              </a:rPr>
              <a:t>Catherine L. Mann</a:t>
            </a:r>
          </a:p>
          <a:p>
            <a:r>
              <a:rPr lang="en-GB" sz="2800" b="1" dirty="0" smtClean="0">
                <a:solidFill>
                  <a:srgbClr val="898989"/>
                </a:solidFill>
                <a:latin typeface="+mn-lt"/>
                <a:cs typeface="+mn-cs"/>
              </a:rPr>
              <a:t>Économiste en chef de l'OCDE</a:t>
            </a:r>
          </a:p>
        </p:txBody>
      </p:sp>
      <p:sp>
        <p:nvSpPr>
          <p:cNvPr id="9" name="Rectangle 5"/>
          <p:cNvSpPr txBox="1">
            <a:spLocks noChangeArrowheads="1"/>
          </p:cNvSpPr>
          <p:nvPr/>
        </p:nvSpPr>
        <p:spPr bwMode="auto">
          <a:xfrm>
            <a:off x="107188" y="5066925"/>
            <a:ext cx="8974666" cy="827549"/>
          </a:xfrm>
          <a:prstGeom prst="rect">
            <a:avLst/>
          </a:prstGeom>
          <a:noFill/>
          <a:ln w="9525">
            <a:noFill/>
            <a:miter lim="800000"/>
            <a:headEnd/>
            <a:tailEnd/>
          </a:ln>
        </p:spPr>
        <p:txBody>
          <a:bodyPr/>
          <a:lstStyle/>
          <a:p>
            <a:r>
              <a:rPr lang="en-GB" sz="2800" b="1" dirty="0" smtClean="0">
                <a:solidFill>
                  <a:srgbClr val="898989"/>
                </a:solidFill>
                <a:latin typeface="+mn-lt"/>
                <a:cs typeface="+mn-cs"/>
              </a:rPr>
              <a:t> 7 juin 2017Paris</a:t>
            </a:r>
          </a:p>
        </p:txBody>
      </p:sp>
    </p:spTree>
    <p:extLst>
      <p:ext uri="{BB962C8B-B14F-4D97-AF65-F5344CB8AC3E}">
        <p14:creationId xmlns:p14="http://schemas.microsoft.com/office/powerpoint/2010/main" val="22930480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73415" y="476672"/>
            <a:ext cx="7366001" cy="523220"/>
          </a:xfrm>
          <a:prstGeom prst="rect">
            <a:avLst/>
          </a:prstGeom>
        </p:spPr>
        <p:txBody>
          <a:bodyPr wrap="square">
            <a:spAutoFit/>
          </a:bodyPr>
          <a:lstStyle/>
          <a:p>
            <a:r>
              <a:rPr lang="en-GB" sz="2800" b="1" dirty="0" smtClean="0">
                <a:solidFill>
                  <a:schemeClr val="tx2"/>
                </a:solidFill>
                <a:latin typeface="+mj-lt"/>
              </a:rPr>
              <a:t>Messages clés</a:t>
            </a:r>
          </a:p>
        </p:txBody>
      </p:sp>
      <p:sp>
        <p:nvSpPr>
          <p:cNvPr id="2" name="Slide Number Placeholder 1"/>
          <p:cNvSpPr>
            <a:spLocks noGrp="1"/>
          </p:cNvSpPr>
          <p:nvPr>
            <p:ph type="sldNum" sz="quarter" idx="12"/>
          </p:nvPr>
        </p:nvSpPr>
        <p:spPr/>
        <p:txBody>
          <a:bodyPr/>
          <a:lstStyle/>
          <a:p>
            <a:fld id="{FCE284C4-5ED1-4D6C-B7CC-2049C3062C5E}" type="slidenum">
              <a:rPr lang="en-GB" smtClean="0"/>
              <a:t>2</a:t>
            </a:fld>
            <a:endParaRPr lang="en-GB" dirty="0"/>
          </a:p>
        </p:txBody>
      </p:sp>
      <p:graphicFrame>
        <p:nvGraphicFramePr>
          <p:cNvPr id="9" name="Diagram 8"/>
          <p:cNvGraphicFramePr/>
          <p:nvPr>
            <p:extLst>
              <p:ext uri="{D42A27DB-BD31-4B8C-83A1-F6EECF244321}">
                <p14:modId xmlns:p14="http://schemas.microsoft.com/office/powerpoint/2010/main" val="2103504004"/>
              </p:ext>
            </p:extLst>
          </p:nvPr>
        </p:nvGraphicFramePr>
        <p:xfrm>
          <a:off x="459000" y="1260370"/>
          <a:ext cx="8280920" cy="54452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318684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in.oecd.org\sdataECO\Units\FRONTOFFICE\Economic Outlooks\EO101\Data and charts\PPT_Figs_E\E_Handout_Fig_Global_Growth_1_2P_P2CL.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586" y="1540823"/>
            <a:ext cx="8085074" cy="518145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725330" y="260648"/>
            <a:ext cx="8378047" cy="954107"/>
          </a:xfrm>
          <a:prstGeom prst="rect">
            <a:avLst/>
          </a:prstGeom>
        </p:spPr>
        <p:txBody>
          <a:bodyPr wrap="square">
            <a:spAutoFit/>
          </a:bodyPr>
          <a:lstStyle/>
          <a:p>
            <a:r>
              <a:rPr lang="en-GB" sz="2800" b="1" dirty="0" smtClean="0">
                <a:solidFill>
                  <a:schemeClr val="tx2"/>
                </a:solidFill>
                <a:latin typeface="+mj-lt"/>
              </a:rPr>
              <a:t>La croissance du PIB mondial devrait se redresser modérément </a:t>
            </a:r>
          </a:p>
          <a:p>
            <a:r>
              <a:rPr lang="en-GB" sz="2800" b="1" dirty="0" smtClean="0">
                <a:solidFill>
                  <a:schemeClr val="tx2"/>
                </a:solidFill>
                <a:latin typeface="+mj-lt"/>
              </a:rPr>
              <a:t>mais reste inférieure aux normes historiques</a:t>
            </a:r>
          </a:p>
        </p:txBody>
      </p:sp>
      <p:sp>
        <p:nvSpPr>
          <p:cNvPr id="11" name="Slide Number Placeholder 10"/>
          <p:cNvSpPr>
            <a:spLocks noGrp="1"/>
          </p:cNvSpPr>
          <p:nvPr>
            <p:ph type="sldNum" sz="quarter" idx="12"/>
          </p:nvPr>
        </p:nvSpPr>
        <p:spPr/>
        <p:txBody>
          <a:bodyPr/>
          <a:lstStyle/>
          <a:p>
            <a:fld id="{FCE284C4-5ED1-4D6C-B7CC-2049C3062C5E}" type="slidenum">
              <a:rPr lang="en-GB" smtClean="0"/>
              <a:t>3</a:t>
            </a:fld>
            <a:endParaRPr lang="en-GB" dirty="0"/>
          </a:p>
        </p:txBody>
      </p:sp>
      <p:sp>
        <p:nvSpPr>
          <p:cNvPr id="13" name="TextBox 12"/>
          <p:cNvSpPr txBox="1"/>
          <p:nvPr/>
        </p:nvSpPr>
        <p:spPr>
          <a:xfrm>
            <a:off x="589585" y="6211669"/>
            <a:ext cx="8495040" cy="646331"/>
          </a:xfrm>
          <a:prstGeom prst="rect">
            <a:avLst/>
          </a:prstGeom>
          <a:noFill/>
        </p:spPr>
        <p:txBody>
          <a:bodyPr wrap="square" rtlCol="0">
            <a:spAutoFit/>
          </a:bodyPr>
          <a:lstStyle/>
          <a:p>
            <a:r>
              <a:rPr lang="en-US" sz="1200" dirty="0" smtClean="0">
                <a:solidFill>
                  <a:schemeClr val="bg2">
                    <a:lumMod val="10000"/>
                  </a:schemeClr>
                </a:solidFill>
                <a:latin typeface="Calibri" panose="020F0502020204030204" pitchFamily="34" charset="0"/>
              </a:rPr>
              <a:t>Source : base de données de l'OCDE Economic Outlook, juin 2017.</a:t>
            </a:r>
          </a:p>
        </p:txBody>
      </p:sp>
      <p:sp>
        <p:nvSpPr>
          <p:cNvPr id="21" name="TextBox 20"/>
          <p:cNvSpPr txBox="1"/>
          <p:nvPr/>
        </p:nvSpPr>
        <p:spPr>
          <a:xfrm>
            <a:off x="2507887" y="1340768"/>
            <a:ext cx="4248472" cy="400110"/>
          </a:xfrm>
          <a:prstGeom prst="rect">
            <a:avLst/>
          </a:prstGeom>
          <a:noFill/>
        </p:spPr>
        <p:txBody>
          <a:bodyPr wrap="square" rtlCol="0">
            <a:spAutoFit/>
          </a:bodyPr>
          <a:lstStyle/>
          <a:p>
            <a:r>
              <a:rPr lang="en-US" sz="2000" b="1" dirty="0" smtClean="0">
                <a:solidFill>
                  <a:schemeClr val="bg2">
                    <a:lumMod val="10000"/>
                  </a:schemeClr>
                </a:solidFill>
                <a:latin typeface="Calibri" pitchFamily="34" charset="0"/>
              </a:rPr>
              <a:t>Croissance du PIB mondial</a:t>
            </a:r>
          </a:p>
        </p:txBody>
      </p:sp>
    </p:spTree>
    <p:extLst>
      <p:ext uri="{BB962C8B-B14F-4D97-AF65-F5344CB8AC3E}">
        <p14:creationId xmlns:p14="http://schemas.microsoft.com/office/powerpoint/2010/main" val="1887845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main.oecd.org\sdataECO\Units\FRONTOFFICE\Economic Outlooks\EO101\Data and charts\PPT_Figs_E\E_Handout_Fig_GDPV_CAP_1_2P_P2CL.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72" y="1700808"/>
            <a:ext cx="4592546" cy="475252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694508" y="240100"/>
            <a:ext cx="8378047" cy="954107"/>
          </a:xfrm>
          <a:prstGeom prst="rect">
            <a:avLst/>
          </a:prstGeom>
        </p:spPr>
        <p:txBody>
          <a:bodyPr wrap="square">
            <a:spAutoFit/>
          </a:bodyPr>
          <a:lstStyle/>
          <a:p>
            <a:r>
              <a:rPr lang="en-GB" sz="2800" b="1" dirty="0" smtClean="0">
                <a:solidFill>
                  <a:schemeClr val="tx2"/>
                </a:solidFill>
                <a:latin typeface="+mj-lt"/>
              </a:rPr>
              <a:t>La croissance du PIB par habitant est inférieure à la moyenne historique </a:t>
            </a:r>
          </a:p>
          <a:p>
            <a:r>
              <a:rPr lang="en-GB" sz="2800" b="1" dirty="0" smtClean="0">
                <a:solidFill>
                  <a:schemeClr val="tx2"/>
                </a:solidFill>
                <a:latin typeface="+mj-lt"/>
              </a:rPr>
              <a:t>et les inégalités de revenu continuent d'augmenter</a:t>
            </a:r>
          </a:p>
        </p:txBody>
      </p:sp>
      <p:sp>
        <p:nvSpPr>
          <p:cNvPr id="11" name="Slide Number Placeholder 10"/>
          <p:cNvSpPr>
            <a:spLocks noGrp="1"/>
          </p:cNvSpPr>
          <p:nvPr>
            <p:ph type="sldNum" sz="quarter" idx="12"/>
          </p:nvPr>
        </p:nvSpPr>
        <p:spPr/>
        <p:txBody>
          <a:bodyPr/>
          <a:lstStyle/>
          <a:p>
            <a:fld id="{FCE284C4-5ED1-4D6C-B7CC-2049C3062C5E}" type="slidenum">
              <a:rPr lang="en-GB" smtClean="0"/>
              <a:t>4</a:t>
            </a:fld>
            <a:endParaRPr lang="en-GB" dirty="0"/>
          </a:p>
        </p:txBody>
      </p:sp>
      <p:sp>
        <p:nvSpPr>
          <p:cNvPr id="15" name="TextBox 14"/>
          <p:cNvSpPr txBox="1"/>
          <p:nvPr/>
        </p:nvSpPr>
        <p:spPr>
          <a:xfrm>
            <a:off x="134557" y="1307502"/>
            <a:ext cx="4248472" cy="584775"/>
          </a:xfrm>
          <a:prstGeom prst="rect">
            <a:avLst/>
          </a:prstGeom>
          <a:noFill/>
        </p:spPr>
        <p:txBody>
          <a:bodyPr wrap="square" rtlCol="0">
            <a:spAutoFit/>
          </a:bodyPr>
          <a:lstStyle/>
          <a:p>
            <a:r>
              <a:rPr lang="en-US" sz="2000" b="1" dirty="0" smtClean="0">
                <a:solidFill>
                  <a:schemeClr val="bg2">
                    <a:lumMod val="10000"/>
                  </a:schemeClr>
                </a:solidFill>
                <a:latin typeface="Calibri" pitchFamily="34" charset="0"/>
              </a:rPr>
              <a:t>Croissance du PIB par habitant</a:t>
            </a:r>
          </a:p>
          <a:p>
            <a:r>
              <a:rPr lang="en-US" sz="2000" b="1" dirty="0" smtClean="0">
                <a:solidFill>
                  <a:schemeClr val="bg2">
                    <a:lumMod val="10000"/>
                  </a:schemeClr>
                </a:solidFill>
                <a:latin typeface="Calibri" pitchFamily="34" charset="0"/>
              </a:rPr>
              <a:t>Les lignes horizontales sont les moyennes pour 1987-2007</a:t>
            </a:r>
          </a:p>
        </p:txBody>
      </p:sp>
      <p:sp>
        <p:nvSpPr>
          <p:cNvPr id="12" name="TextBox 11"/>
          <p:cNvSpPr txBox="1"/>
          <p:nvPr/>
        </p:nvSpPr>
        <p:spPr>
          <a:xfrm>
            <a:off x="4256058" y="1302256"/>
            <a:ext cx="5063780" cy="584775"/>
          </a:xfrm>
          <a:prstGeom prst="rect">
            <a:avLst/>
          </a:prstGeom>
          <a:noFill/>
        </p:spPr>
        <p:txBody>
          <a:bodyPr wrap="square" rtlCol="0">
            <a:spAutoFit/>
          </a:bodyPr>
          <a:lstStyle/>
          <a:p>
            <a:r>
              <a:rPr lang="en-US" sz="2000" b="1" dirty="0" smtClean="0">
                <a:solidFill>
                  <a:schemeClr val="bg2">
                    <a:lumMod val="10000"/>
                  </a:schemeClr>
                </a:solidFill>
                <a:latin typeface="Calibri" pitchFamily="34" charset="0"/>
              </a:rPr>
              <a:t>Les inégalités de revenu augmentent dans l'OCDE Revenu disponible réel des ménages, population totale</a:t>
            </a:r>
          </a:p>
        </p:txBody>
      </p:sp>
      <p:pic>
        <p:nvPicPr>
          <p:cNvPr id="8194" name="Picture 2" descr="\\main.oecd.org\sdataECO\Units\FRONTOFFICE\Economic Outlooks\EO101\Data and charts\PPT_Figs_E\E_Handout_Fig_inequality_1_2P_P2CL.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82274" y="1887031"/>
            <a:ext cx="4541651" cy="482351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461547" y="6396335"/>
            <a:ext cx="8641830" cy="461665"/>
          </a:xfrm>
          <a:prstGeom prst="rect">
            <a:avLst/>
          </a:prstGeom>
          <a:noFill/>
        </p:spPr>
        <p:txBody>
          <a:bodyPr wrap="square" rtlCol="0">
            <a:spAutoFit/>
          </a:bodyPr>
          <a:lstStyle/>
          <a:p>
            <a:r>
              <a:rPr lang="en-US" sz="1200" dirty="0">
                <a:solidFill>
                  <a:schemeClr val="bg2">
                    <a:lumMod val="10000"/>
                  </a:schemeClr>
                </a:solidFill>
                <a:latin typeface="Calibri" panose="020F0502020204030204" pitchFamily="34" charset="0"/>
              </a:rPr>
              <a:t>Note : l'axe de droite correspond à la moyenne non pondérée de 17 pays de l'OCDE.</a:t>
            </a:r>
          </a:p>
          <a:p>
            <a:r>
              <a:rPr lang="en-US" sz="1200" dirty="0">
                <a:solidFill>
                  <a:schemeClr val="bg2">
                    <a:lumMod val="10000"/>
                  </a:schemeClr>
                </a:solidFill>
                <a:latin typeface="Calibri" panose="020F0502020204030204" pitchFamily="34" charset="0"/>
              </a:rPr>
              <a:t>Source : base de données de l'OCDE Economic Outlook, juin 2017 ; et base de données de l'OCDE Income Distribution.</a:t>
            </a:r>
          </a:p>
        </p:txBody>
      </p:sp>
    </p:spTree>
    <p:extLst>
      <p:ext uri="{BB962C8B-B14F-4D97-AF65-F5344CB8AC3E}">
        <p14:creationId xmlns:p14="http://schemas.microsoft.com/office/powerpoint/2010/main" val="1622819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37669" y="442666"/>
            <a:ext cx="8378047" cy="523220"/>
          </a:xfrm>
          <a:prstGeom prst="rect">
            <a:avLst/>
          </a:prstGeom>
        </p:spPr>
        <p:txBody>
          <a:bodyPr wrap="square">
            <a:spAutoFit/>
          </a:bodyPr>
          <a:lstStyle/>
          <a:p>
            <a:r>
              <a:rPr lang="en-GB" sz="2800" b="1" dirty="0" smtClean="0">
                <a:solidFill>
                  <a:schemeClr val="tx2"/>
                </a:solidFill>
                <a:latin typeface="+mj-lt"/>
              </a:rPr>
              <a:t>Projections de l'OCDE Economic Outlook</a:t>
            </a:r>
          </a:p>
        </p:txBody>
      </p:sp>
      <p:sp>
        <p:nvSpPr>
          <p:cNvPr id="11" name="Slide Number Placeholder 10"/>
          <p:cNvSpPr>
            <a:spLocks noGrp="1"/>
          </p:cNvSpPr>
          <p:nvPr>
            <p:ph type="sldNum" sz="quarter" idx="12"/>
          </p:nvPr>
        </p:nvSpPr>
        <p:spPr/>
        <p:txBody>
          <a:bodyPr/>
          <a:lstStyle/>
          <a:p>
            <a:fld id="{FCE284C4-5ED1-4D6C-B7CC-2049C3062C5E}" type="slidenum">
              <a:rPr lang="en-GB" smtClean="0"/>
              <a:t>5</a:t>
            </a:fld>
            <a:endParaRPr lang="en-GB" dirty="0"/>
          </a:p>
        </p:txBody>
      </p:sp>
      <p:sp>
        <p:nvSpPr>
          <p:cNvPr id="6" name="TextBox 5"/>
          <p:cNvSpPr txBox="1"/>
          <p:nvPr/>
        </p:nvSpPr>
        <p:spPr>
          <a:xfrm>
            <a:off x="529723" y="1286395"/>
            <a:ext cx="8136904" cy="584775"/>
          </a:xfrm>
          <a:prstGeom prst="rect">
            <a:avLst/>
          </a:prstGeom>
          <a:noFill/>
        </p:spPr>
        <p:txBody>
          <a:bodyPr wrap="square" rtlCol="0">
            <a:spAutoFit/>
          </a:bodyPr>
          <a:lstStyle/>
          <a:p>
            <a:r>
              <a:rPr lang="en-GB" sz="2000" b="1" dirty="0" smtClean="0">
                <a:solidFill>
                  <a:schemeClr val="bg2">
                    <a:lumMod val="10000"/>
                  </a:schemeClr>
                </a:solidFill>
                <a:latin typeface="Calibri" pitchFamily="34" charset="0"/>
              </a:rPr>
              <a:t>Croissance du PIB réel</a:t>
            </a:r>
          </a:p>
          <a:p>
            <a:r>
              <a:rPr lang="en-GB" sz="2000" b="1" dirty="0" smtClean="0">
                <a:solidFill>
                  <a:schemeClr val="bg2">
                    <a:lumMod val="10000"/>
                  </a:schemeClr>
                </a:solidFill>
                <a:latin typeface="Calibri" pitchFamily="34" charset="0"/>
              </a:rPr>
              <a:t>En glissement annuel, %</a:t>
            </a:r>
          </a:p>
        </p:txBody>
      </p:sp>
      <p:sp>
        <p:nvSpPr>
          <p:cNvPr id="7" name="TextBox 6"/>
          <p:cNvSpPr txBox="1"/>
          <p:nvPr/>
        </p:nvSpPr>
        <p:spPr>
          <a:xfrm>
            <a:off x="1426363" y="5834281"/>
            <a:ext cx="8738087" cy="1015663"/>
          </a:xfrm>
          <a:prstGeom prst="rect">
            <a:avLst/>
          </a:prstGeom>
          <a:noFill/>
        </p:spPr>
        <p:txBody>
          <a:bodyPr wrap="square" rtlCol="0">
            <a:spAutoFit/>
          </a:bodyPr>
          <a:lstStyle/>
          <a:p>
            <a:r>
              <a:rPr lang="en-US" sz="1200" dirty="0" smtClean="0">
                <a:solidFill>
                  <a:schemeClr val="bg2">
                    <a:lumMod val="10000"/>
                  </a:schemeClr>
                </a:solidFill>
                <a:latin typeface="Calibri" panose="020F0502020204030204" pitchFamily="34" charset="0"/>
              </a:rPr>
              <a:t>Note : écart en points de pourcentage calculé à partir de chiffres arrondis. </a:t>
            </a:r>
          </a:p>
          <a:p>
            <a:r>
              <a:rPr lang="en-US" sz="1200" dirty="0" smtClean="0">
                <a:solidFill>
                  <a:schemeClr val="bg2">
                    <a:lumMod val="10000"/>
                  </a:schemeClr>
                </a:solidFill>
                <a:latin typeface="Calibri" panose="020F0502020204030204" pitchFamily="34" charset="0"/>
              </a:rPr>
              <a:t>1. La croissance de l'Irlande en 2015 est calculée à partir de la valeur ajoutée brute à prix constants, hors secteurs dominés par les multinationales sous contrôle étranger.</a:t>
            </a:r>
          </a:p>
          <a:p>
            <a:r>
              <a:rPr lang="en-US" sz="1200" dirty="0" smtClean="0">
                <a:solidFill>
                  <a:schemeClr val="bg2">
                    <a:lumMod val="10000"/>
                  </a:schemeClr>
                </a:solidFill>
                <a:latin typeface="Calibri" panose="020F0502020204030204" pitchFamily="34" charset="0"/>
              </a:rPr>
              <a:t>2. Exercices budgétaires débutant en avril.</a:t>
            </a:r>
          </a:p>
        </p:txBody>
      </p:sp>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1383292" y="1834981"/>
            <a:ext cx="6213044" cy="4222126"/>
          </a:xfrm>
          <a:prstGeom prst="rect">
            <a:avLst/>
          </a:prstGeom>
          <a:noFill/>
          <a:ln>
            <a:noFill/>
          </a:ln>
        </p:spPr>
      </p:pic>
    </p:spTree>
    <p:extLst>
      <p:ext uri="{BB962C8B-B14F-4D97-AF65-F5344CB8AC3E}">
        <p14:creationId xmlns:p14="http://schemas.microsoft.com/office/powerpoint/2010/main" val="12725270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3" descr="\\main.oecd.org\sdataECO\Units\FRONTOFFICE\Economic Outlooks\EO101\Data and charts\PPT_Figs_E\E_Handout_Fig_Confidence_indicators_1_2P_P2CL.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512" y="1598788"/>
            <a:ext cx="4678679" cy="4844184"/>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main.oecd.org\sdataECO\Units\FRONTOFFICE\Economic Outlooks\EO101\Data and charts\Figs_E\E_Handout_Fig_Confidence_indicators_rolling_1_2P_P2CL.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77716" y="1598788"/>
            <a:ext cx="4697106" cy="484418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98860" y="260648"/>
            <a:ext cx="7920880" cy="954107"/>
          </a:xfrm>
          <a:prstGeom prst="rect">
            <a:avLst/>
          </a:prstGeom>
        </p:spPr>
        <p:txBody>
          <a:bodyPr wrap="square">
            <a:spAutoFit/>
          </a:bodyPr>
          <a:lstStyle/>
          <a:p>
            <a:r>
              <a:rPr lang="en-US" sz="2800" b="1" dirty="0" smtClean="0">
                <a:solidFill>
                  <a:schemeClr val="tx2"/>
                </a:solidFill>
                <a:latin typeface="+mj-lt"/>
              </a:rPr>
              <a:t>Les indicateurs de confiance signalent un redressement, mais ils sont devenus moins fiables</a:t>
            </a:r>
          </a:p>
        </p:txBody>
      </p:sp>
      <p:sp>
        <p:nvSpPr>
          <p:cNvPr id="7" name="Slide Number Placeholder 6"/>
          <p:cNvSpPr>
            <a:spLocks noGrp="1"/>
          </p:cNvSpPr>
          <p:nvPr>
            <p:ph type="sldNum" sz="quarter" idx="12"/>
          </p:nvPr>
        </p:nvSpPr>
        <p:spPr/>
        <p:txBody>
          <a:bodyPr/>
          <a:lstStyle/>
          <a:p>
            <a:fld id="{FCE284C4-5ED1-4D6C-B7CC-2049C3062C5E}" type="slidenum">
              <a:rPr lang="en-GB" smtClean="0"/>
              <a:t>6</a:t>
            </a:fld>
            <a:endParaRPr lang="en-GB" dirty="0"/>
          </a:p>
        </p:txBody>
      </p:sp>
      <p:sp>
        <p:nvSpPr>
          <p:cNvPr id="10" name="TextBox 9"/>
          <p:cNvSpPr txBox="1"/>
          <p:nvPr/>
        </p:nvSpPr>
        <p:spPr>
          <a:xfrm>
            <a:off x="-333763" y="1306400"/>
            <a:ext cx="5202324" cy="584775"/>
          </a:xfrm>
          <a:prstGeom prst="rect">
            <a:avLst/>
          </a:prstGeom>
          <a:noFill/>
        </p:spPr>
        <p:txBody>
          <a:bodyPr wrap="square" rtlCol="0">
            <a:spAutoFit/>
          </a:bodyPr>
          <a:lstStyle/>
          <a:p>
            <a:r>
              <a:rPr lang="en-GB" sz="2000" b="1" dirty="0" smtClean="0">
                <a:solidFill>
                  <a:schemeClr val="bg2">
                    <a:lumMod val="10000"/>
                  </a:schemeClr>
                </a:solidFill>
                <a:latin typeface="Calibri" pitchFamily="34" charset="0"/>
              </a:rPr>
              <a:t>Confiance des consommateurs et des entreprises OCDE et BRIICS, indice</a:t>
            </a:r>
          </a:p>
        </p:txBody>
      </p:sp>
      <p:sp>
        <p:nvSpPr>
          <p:cNvPr id="12" name="TextBox 11"/>
          <p:cNvSpPr txBox="1"/>
          <p:nvPr/>
        </p:nvSpPr>
        <p:spPr>
          <a:xfrm>
            <a:off x="171736" y="6211669"/>
            <a:ext cx="8438329" cy="646331"/>
          </a:xfrm>
          <a:prstGeom prst="rect">
            <a:avLst/>
          </a:prstGeom>
          <a:noFill/>
        </p:spPr>
        <p:txBody>
          <a:bodyPr wrap="square" rtlCol="0">
            <a:spAutoFit/>
          </a:bodyPr>
          <a:lstStyle/>
          <a:p>
            <a:r>
              <a:rPr lang="en-US" sz="1200" dirty="0">
                <a:solidFill>
                  <a:schemeClr val="bg2">
                    <a:lumMod val="10000"/>
                  </a:schemeClr>
                </a:solidFill>
                <a:latin typeface="Calibri" panose="020F0502020204030204" pitchFamily="34" charset="0"/>
              </a:rPr>
              <a:t>Note : les indices de confiance sont des moyennes pondérées par le PIB en PPA de séries nationales standardisées dont la moyenne de long terme = 100. La confiance des consommateurs est corrélée à la croissance mondiale des ventes au détail et la confiance des entreprises à la croissance mondiale de la production industrielle.</a:t>
            </a:r>
          </a:p>
          <a:p>
            <a:r>
              <a:rPr lang="en-US" sz="1200" dirty="0">
                <a:solidFill>
                  <a:schemeClr val="bg2">
                    <a:lumMod val="10000"/>
                  </a:schemeClr>
                </a:solidFill>
                <a:latin typeface="Calibri" panose="020F0502020204030204" pitchFamily="34" charset="0"/>
              </a:rPr>
              <a:t>Source : base de données de l'OCDE Main Economic Indicators ; et calculs de l'OCDE.</a:t>
            </a:r>
          </a:p>
        </p:txBody>
      </p:sp>
      <p:sp>
        <p:nvSpPr>
          <p:cNvPr id="8" name="TextBox 7"/>
          <p:cNvSpPr txBox="1"/>
          <p:nvPr/>
        </p:nvSpPr>
        <p:spPr>
          <a:xfrm>
            <a:off x="4139952" y="1306401"/>
            <a:ext cx="5202324" cy="584775"/>
          </a:xfrm>
          <a:prstGeom prst="rect">
            <a:avLst/>
          </a:prstGeom>
          <a:noFill/>
        </p:spPr>
        <p:txBody>
          <a:bodyPr wrap="square" rtlCol="0">
            <a:spAutoFit/>
          </a:bodyPr>
          <a:lstStyle/>
          <a:p>
            <a:r>
              <a:rPr lang="en-GB" sz="2000" b="1" dirty="0" smtClean="0">
                <a:solidFill>
                  <a:schemeClr val="bg2">
                    <a:lumMod val="10000"/>
                  </a:schemeClr>
                </a:solidFill>
                <a:latin typeface="Calibri" pitchFamily="34" charset="0"/>
              </a:rPr>
              <a:t>Performance des indicateurs de confiance</a:t>
            </a:r>
          </a:p>
          <a:p>
            <a:r>
              <a:rPr lang="en-GB" sz="2000" b="1" dirty="0" smtClean="0">
                <a:solidFill>
                  <a:schemeClr val="bg2">
                    <a:lumMod val="10000"/>
                  </a:schemeClr>
                </a:solidFill>
                <a:latin typeface="Calibri" pitchFamily="34" charset="0"/>
              </a:rPr>
              <a:t>OCDE et BRIICS, corrélation sur 5 ans avec l'activité</a:t>
            </a:r>
          </a:p>
        </p:txBody>
      </p:sp>
    </p:spTree>
    <p:extLst>
      <p:ext uri="{BB962C8B-B14F-4D97-AF65-F5344CB8AC3E}">
        <p14:creationId xmlns:p14="http://schemas.microsoft.com/office/powerpoint/2010/main" val="25831687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main.oecd.org\sdataECO\Units\FRONTOFFICE\Economic Outlooks\EO101\Data and charts\PPT_Figs_E\E_Handout_Fig_High_tech_1_2P_P2CL.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02732" y="1604989"/>
            <a:ext cx="4537260" cy="4571490"/>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main.oecd.org\sdataECO\Units\FRONTOFFICE\Economic Outlooks\EO101\Data and charts\PPT_Figs_E\E_Handout_Fig_Fig_Productive_Capital_Stock_1_2P_P2CL.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573" y="1604989"/>
            <a:ext cx="4475419" cy="457149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802183" y="233427"/>
            <a:ext cx="8235069" cy="923330"/>
          </a:xfrm>
          <a:prstGeom prst="rect">
            <a:avLst/>
          </a:prstGeom>
        </p:spPr>
        <p:txBody>
          <a:bodyPr wrap="square">
            <a:spAutoFit/>
          </a:bodyPr>
          <a:lstStyle/>
          <a:p>
            <a:r>
              <a:rPr lang="en-US" sz="2700" b="1" dirty="0" smtClean="0">
                <a:solidFill>
                  <a:schemeClr val="tx2"/>
                </a:solidFill>
                <a:latin typeface="+mj-lt"/>
              </a:rPr>
              <a:t>L'investissement augmente, mais le stock de capital est ancien Potentiel de hausse lié à la modernisation technologique</a:t>
            </a:r>
          </a:p>
        </p:txBody>
      </p:sp>
      <p:sp>
        <p:nvSpPr>
          <p:cNvPr id="7" name="Slide Number Placeholder 6"/>
          <p:cNvSpPr>
            <a:spLocks noGrp="1"/>
          </p:cNvSpPr>
          <p:nvPr>
            <p:ph type="sldNum" sz="quarter" idx="12"/>
          </p:nvPr>
        </p:nvSpPr>
        <p:spPr/>
        <p:txBody>
          <a:bodyPr/>
          <a:lstStyle/>
          <a:p>
            <a:fld id="{FCE284C4-5ED1-4D6C-B7CC-2049C3062C5E}" type="slidenum">
              <a:rPr lang="en-GB" smtClean="0"/>
              <a:t>7</a:t>
            </a:fld>
            <a:endParaRPr lang="en-GB" dirty="0"/>
          </a:p>
        </p:txBody>
      </p:sp>
      <p:sp>
        <p:nvSpPr>
          <p:cNvPr id="11" name="TextBox 10"/>
          <p:cNvSpPr txBox="1"/>
          <p:nvPr/>
        </p:nvSpPr>
        <p:spPr>
          <a:xfrm>
            <a:off x="99037" y="5966214"/>
            <a:ext cx="8496944" cy="900246"/>
          </a:xfrm>
          <a:prstGeom prst="rect">
            <a:avLst/>
          </a:prstGeom>
          <a:noFill/>
        </p:spPr>
        <p:txBody>
          <a:bodyPr wrap="square" rtlCol="0">
            <a:spAutoFit/>
          </a:bodyPr>
          <a:lstStyle/>
          <a:p>
            <a:r>
              <a:rPr lang="en-US" sz="1050" dirty="0" smtClean="0">
                <a:solidFill>
                  <a:schemeClr val="bg2">
                    <a:lumMod val="10000"/>
                  </a:schemeClr>
                </a:solidFill>
                <a:latin typeface="Calibri" panose="020F0502020204030204" pitchFamily="34" charset="0"/>
              </a:rPr>
              <a:t>Note : facturations mondiales de semi-conducteurs en dollars US nominaux. La production des principaux biens informatiques et électroniques avancés est une moyenne pondérée de la production de produits informatiques et électroniques pour les États-Unis, de la production de produits informatiques, électroniques et optiques pour l'Allemagne, et de la production d'équipements électroniques d'information et de communication ainsi que de composants et dispositifs électroniques pour le Japon.Source : base de données de l'OCDE Economic Outlook, juin 2017 ; World Semi-Conductor Statistics ; Eurostat ; Board of Governors of the Federal Reserve System ; Japan Ministry of Economy, Trade and Industry ; et calculs de l'OCDE.</a:t>
            </a:r>
          </a:p>
        </p:txBody>
      </p:sp>
      <p:sp>
        <p:nvSpPr>
          <p:cNvPr id="9" name="TextBox 8"/>
          <p:cNvSpPr txBox="1"/>
          <p:nvPr/>
        </p:nvSpPr>
        <p:spPr>
          <a:xfrm>
            <a:off x="4165430" y="1281780"/>
            <a:ext cx="5202324" cy="605294"/>
          </a:xfrm>
          <a:prstGeom prst="rect">
            <a:avLst/>
          </a:prstGeom>
          <a:noFill/>
        </p:spPr>
        <p:txBody>
          <a:bodyPr wrap="square" rtlCol="0">
            <a:spAutoFit/>
          </a:bodyPr>
          <a:lstStyle/>
          <a:p>
            <a:r>
              <a:rPr lang="en-GB" sz="2000" b="1" dirty="0" smtClean="0">
                <a:solidFill>
                  <a:schemeClr val="bg2">
                    <a:lumMod val="10000"/>
                  </a:schemeClr>
                </a:solidFill>
                <a:latin typeface="Calibri" pitchFamily="34" charset="0"/>
              </a:rPr>
              <a:t>Produits de haute technologie</a:t>
            </a:r>
          </a:p>
        </p:txBody>
      </p:sp>
      <p:sp>
        <p:nvSpPr>
          <p:cNvPr id="8" name="TextBox 7"/>
          <p:cNvSpPr txBox="1"/>
          <p:nvPr/>
        </p:nvSpPr>
        <p:spPr>
          <a:xfrm>
            <a:off x="-563133" y="1281780"/>
            <a:ext cx="5650830" cy="400110"/>
          </a:xfrm>
          <a:prstGeom prst="rect">
            <a:avLst/>
          </a:prstGeom>
          <a:noFill/>
        </p:spPr>
        <p:txBody>
          <a:bodyPr wrap="square" rtlCol="0">
            <a:spAutoFit/>
          </a:bodyPr>
          <a:lstStyle/>
          <a:p>
            <a:r>
              <a:rPr lang="en-US" sz="2000" b="1" dirty="0" smtClean="0">
                <a:solidFill>
                  <a:schemeClr val="bg2">
                    <a:lumMod val="10000"/>
                  </a:schemeClr>
                </a:solidFill>
                <a:latin typeface="Calibri" pitchFamily="34" charset="0"/>
              </a:rPr>
              <a:t>Croissance du stock de capital productif</a:t>
            </a:r>
          </a:p>
        </p:txBody>
      </p:sp>
    </p:spTree>
    <p:extLst>
      <p:ext uri="{BB962C8B-B14F-4D97-AF65-F5344CB8AC3E}">
        <p14:creationId xmlns:p14="http://schemas.microsoft.com/office/powerpoint/2010/main" val="9429014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descr="\\main.oecd.org\sdataECO\Units\FRONTOFFICE\Economic Outlooks\EO101\Data and charts\PPT_Figs_E\E_Handout_Fig_China_Investment_1_2P_P2CL.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08104" y="1772816"/>
            <a:ext cx="3611416" cy="4710689"/>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main.oecd.org\sdataECO\Units\FRONTOFFICE\Economic Outlooks\EO101\Data and charts\PPT_Figs_E\E_Handout_Fig_World_Trade_contributions_1_2P_P2CL.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676" y="1443800"/>
            <a:ext cx="5482702" cy="508651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77992" y="250359"/>
            <a:ext cx="8136904" cy="954107"/>
          </a:xfrm>
          <a:prstGeom prst="rect">
            <a:avLst/>
          </a:prstGeom>
        </p:spPr>
        <p:txBody>
          <a:bodyPr wrap="square">
            <a:spAutoFit/>
          </a:bodyPr>
          <a:lstStyle/>
          <a:p>
            <a:r>
              <a:rPr lang="en-US" sz="2800" b="1" dirty="0">
                <a:solidFill>
                  <a:schemeClr val="tx2"/>
                </a:solidFill>
                <a:latin typeface="+mj-lt"/>
              </a:rPr>
              <a:t>Le commerce mondial s'est récemment redressé, avec un soutien important des mesures de relance en Chine</a:t>
            </a:r>
          </a:p>
        </p:txBody>
      </p:sp>
      <p:sp>
        <p:nvSpPr>
          <p:cNvPr id="7" name="Slide Number Placeholder 6"/>
          <p:cNvSpPr>
            <a:spLocks noGrp="1"/>
          </p:cNvSpPr>
          <p:nvPr>
            <p:ph type="sldNum" sz="quarter" idx="12"/>
          </p:nvPr>
        </p:nvSpPr>
        <p:spPr/>
        <p:txBody>
          <a:bodyPr/>
          <a:lstStyle/>
          <a:p>
            <a:fld id="{FCE284C4-5ED1-4D6C-B7CC-2049C3062C5E}" type="slidenum">
              <a:rPr lang="en-GB" smtClean="0"/>
              <a:t>8</a:t>
            </a:fld>
            <a:endParaRPr lang="en-GB" dirty="0"/>
          </a:p>
        </p:txBody>
      </p:sp>
      <p:sp>
        <p:nvSpPr>
          <p:cNvPr id="10" name="TextBox 9"/>
          <p:cNvSpPr txBox="1"/>
          <p:nvPr/>
        </p:nvSpPr>
        <p:spPr>
          <a:xfrm>
            <a:off x="201595" y="1278732"/>
            <a:ext cx="5202324" cy="605294"/>
          </a:xfrm>
          <a:prstGeom prst="rect">
            <a:avLst/>
          </a:prstGeom>
          <a:noFill/>
        </p:spPr>
        <p:txBody>
          <a:bodyPr wrap="square" rtlCol="0">
            <a:spAutoFit/>
          </a:bodyPr>
          <a:lstStyle/>
          <a:p>
            <a:r>
              <a:rPr lang="en-GB" sz="2000" b="1" dirty="0" smtClean="0">
                <a:solidFill>
                  <a:schemeClr val="bg2">
                    <a:lumMod val="10000"/>
                  </a:schemeClr>
                </a:solidFill>
                <a:latin typeface="Calibri" pitchFamily="34" charset="0"/>
              </a:rPr>
              <a:t>Contributions à la croissance du commerce mondial</a:t>
            </a:r>
          </a:p>
        </p:txBody>
      </p:sp>
      <p:sp>
        <p:nvSpPr>
          <p:cNvPr id="11" name="TextBox 10"/>
          <p:cNvSpPr txBox="1"/>
          <p:nvPr/>
        </p:nvSpPr>
        <p:spPr>
          <a:xfrm>
            <a:off x="323528" y="6068006"/>
            <a:ext cx="8136904" cy="830997"/>
          </a:xfrm>
          <a:prstGeom prst="rect">
            <a:avLst/>
          </a:prstGeom>
          <a:noFill/>
        </p:spPr>
        <p:txBody>
          <a:bodyPr wrap="square" rtlCol="0">
            <a:spAutoFit/>
          </a:bodyPr>
          <a:lstStyle/>
          <a:p>
            <a:r>
              <a:rPr lang="en-US" sz="1200" dirty="0" smtClean="0">
                <a:solidFill>
                  <a:schemeClr val="bg2">
                    <a:lumMod val="10000"/>
                  </a:schemeClr>
                </a:solidFill>
                <a:latin typeface="Calibri" panose="020F0502020204030204" pitchFamily="34" charset="0"/>
              </a:rPr>
              <a:t>Note : les producteurs de matières premières incluent l'Argentine, l'Australie, le Brésil, le Chili, la Colombie, la Norvège, la Nouvelle-Zélande, la Russie, l'Arabie saoudite, l'Afrique du Sud et d'autres pays producteurs de pétrole.Source : base de données de l'OCDE Economic Outlook, juin 2017 ; et National Bureau of Statistics of China.</a:t>
            </a:r>
          </a:p>
        </p:txBody>
      </p:sp>
      <p:sp>
        <p:nvSpPr>
          <p:cNvPr id="9" name="TextBox 8"/>
          <p:cNvSpPr txBox="1"/>
          <p:nvPr/>
        </p:nvSpPr>
        <p:spPr>
          <a:xfrm>
            <a:off x="4514444" y="1239593"/>
            <a:ext cx="5650830" cy="707886"/>
          </a:xfrm>
          <a:prstGeom prst="rect">
            <a:avLst/>
          </a:prstGeom>
          <a:noFill/>
        </p:spPr>
        <p:txBody>
          <a:bodyPr wrap="square" rtlCol="0">
            <a:spAutoFit/>
          </a:bodyPr>
          <a:lstStyle/>
          <a:p>
            <a:r>
              <a:rPr lang="en-US" sz="2000" b="1" dirty="0" smtClean="0">
                <a:solidFill>
                  <a:schemeClr val="bg2">
                    <a:lumMod val="10000"/>
                  </a:schemeClr>
                </a:solidFill>
                <a:latin typeface="Calibri" pitchFamily="34" charset="0"/>
              </a:rPr>
              <a:t>Investissement nominal en actifs fixes de la Chine</a:t>
            </a:r>
          </a:p>
        </p:txBody>
      </p:sp>
    </p:spTree>
    <p:extLst>
      <p:ext uri="{BB962C8B-B14F-4D97-AF65-F5344CB8AC3E}">
        <p14:creationId xmlns:p14="http://schemas.microsoft.com/office/powerpoint/2010/main" val="39219553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descr="\\main.oecd.org\sdataECO\Units\FRONTOFFICE\Economic Outlooks\EO101\Data and charts\PPT_Figs_E\E_Handout_Fig_Real_Wage_1_2P_P2C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99992" y="1614391"/>
            <a:ext cx="4644008" cy="4781945"/>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main.oecd.org\sdataECO\Units\FRONTOFFICE\Economic Outlooks\EO101\Data and charts\PPT_Figs_E\E_Handout_Fig_Employment_1_2P_P2CL.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986" y="1614392"/>
            <a:ext cx="4477006" cy="4781944"/>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FCE284C4-5ED1-4D6C-B7CC-2049C3062C5E}" type="slidenum">
              <a:rPr lang="en-GB" smtClean="0"/>
              <a:t>9</a:t>
            </a:fld>
            <a:endParaRPr lang="en-GB" dirty="0"/>
          </a:p>
        </p:txBody>
      </p:sp>
      <p:sp>
        <p:nvSpPr>
          <p:cNvPr id="4" name="Rectangle 3"/>
          <p:cNvSpPr/>
          <p:nvPr/>
        </p:nvSpPr>
        <p:spPr>
          <a:xfrm>
            <a:off x="651603" y="224152"/>
            <a:ext cx="8378047" cy="954107"/>
          </a:xfrm>
          <a:prstGeom prst="rect">
            <a:avLst/>
          </a:prstGeom>
        </p:spPr>
        <p:txBody>
          <a:bodyPr wrap="square">
            <a:spAutoFit/>
          </a:bodyPr>
          <a:lstStyle/>
          <a:p>
            <a:r>
              <a:rPr lang="en-US" sz="2800" b="1" dirty="0" smtClean="0">
                <a:solidFill>
                  <a:schemeClr val="tx2"/>
                </a:solidFill>
                <a:latin typeface="+mj-lt"/>
              </a:rPr>
              <a:t>La reprise du marché du travail est incomplète et la croissance des salaires réels reste atone</a:t>
            </a:r>
          </a:p>
        </p:txBody>
      </p:sp>
      <p:sp>
        <p:nvSpPr>
          <p:cNvPr id="16" name="TextBox 15"/>
          <p:cNvSpPr txBox="1"/>
          <p:nvPr/>
        </p:nvSpPr>
        <p:spPr>
          <a:xfrm>
            <a:off x="-296731" y="1322004"/>
            <a:ext cx="5063780" cy="584775"/>
          </a:xfrm>
          <a:prstGeom prst="rect">
            <a:avLst/>
          </a:prstGeom>
          <a:noFill/>
        </p:spPr>
        <p:txBody>
          <a:bodyPr wrap="square" rtlCol="0">
            <a:spAutoFit/>
          </a:bodyPr>
          <a:lstStyle/>
          <a:p>
            <a:r>
              <a:rPr lang="en-US" sz="2000" b="1" dirty="0" smtClean="0">
                <a:solidFill>
                  <a:schemeClr val="bg2">
                    <a:lumMod val="10000"/>
                  </a:schemeClr>
                </a:solidFill>
                <a:latin typeface="Calibri" pitchFamily="34" charset="0"/>
              </a:rPr>
              <a:t>Chômage et sous-emploi OCDE, part de la population active</a:t>
            </a:r>
          </a:p>
        </p:txBody>
      </p:sp>
      <p:sp>
        <p:nvSpPr>
          <p:cNvPr id="11" name="TextBox 10"/>
          <p:cNvSpPr txBox="1"/>
          <p:nvPr/>
        </p:nvSpPr>
        <p:spPr>
          <a:xfrm>
            <a:off x="305640" y="6207203"/>
            <a:ext cx="8280920" cy="646331"/>
          </a:xfrm>
          <a:prstGeom prst="rect">
            <a:avLst/>
          </a:prstGeom>
          <a:noFill/>
        </p:spPr>
        <p:txBody>
          <a:bodyPr wrap="square" rtlCol="0">
            <a:spAutoFit/>
          </a:bodyPr>
          <a:lstStyle/>
          <a:p>
            <a:r>
              <a:rPr lang="en-US" sz="1200" dirty="0">
                <a:solidFill>
                  <a:schemeClr val="bg2">
                    <a:lumMod val="10000"/>
                  </a:schemeClr>
                </a:solidFill>
                <a:latin typeface="Calibri" panose="020F0502020204030204" pitchFamily="34" charset="0"/>
              </a:rPr>
              <a:t>Note : salaires réels mesurés comme la rémunération du travail par salarié ajustée du déflateur du PIB.Source : base de données de l'OCDE Economic Outlook, juin 2017 ; base de données de l'OCDE Employment ; US Bureau of Labor Statistics ; Eurostat ; et Japan Statistics Bureau.</a:t>
            </a:r>
          </a:p>
        </p:txBody>
      </p:sp>
      <p:sp>
        <p:nvSpPr>
          <p:cNvPr id="8" name="TextBox 7"/>
          <p:cNvSpPr txBox="1"/>
          <p:nvPr/>
        </p:nvSpPr>
        <p:spPr>
          <a:xfrm>
            <a:off x="4282712" y="1313126"/>
            <a:ext cx="5063780" cy="584775"/>
          </a:xfrm>
          <a:prstGeom prst="rect">
            <a:avLst/>
          </a:prstGeom>
          <a:noFill/>
        </p:spPr>
        <p:txBody>
          <a:bodyPr wrap="square" rtlCol="0">
            <a:spAutoFit/>
          </a:bodyPr>
          <a:lstStyle/>
          <a:p>
            <a:r>
              <a:rPr lang="en-US" sz="2000" b="1" dirty="0" smtClean="0">
                <a:solidFill>
                  <a:schemeClr val="bg2">
                    <a:lumMod val="10000"/>
                  </a:schemeClr>
                </a:solidFill>
                <a:latin typeface="Calibri" pitchFamily="34" charset="0"/>
              </a:rPr>
              <a:t>Croissance des salaires réels</a:t>
            </a:r>
          </a:p>
          <a:p>
            <a:r>
              <a:rPr lang="en-US" sz="2000" b="1" dirty="0" smtClean="0">
                <a:solidFill>
                  <a:schemeClr val="bg2">
                    <a:lumMod val="10000"/>
                  </a:schemeClr>
                </a:solidFill>
                <a:latin typeface="Calibri" pitchFamily="34" charset="0"/>
              </a:rPr>
              <a:t>Les lignes horizontales sont les moyennes pour 1987-2007</a:t>
            </a:r>
          </a:p>
        </p:txBody>
      </p:sp>
    </p:spTree>
    <p:extLst>
      <p:ext uri="{BB962C8B-B14F-4D97-AF65-F5344CB8AC3E}">
        <p14:creationId xmlns:p14="http://schemas.microsoft.com/office/powerpoint/2010/main" val="24876112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descr="\\main.oecd.org\sdataECO\Units\FRONTOFFICE\Economic Outlooks\EO101\Data and charts\PPT_Figs_E\E_Handout_Fig_House_Rent_Ratios_1_2P_P2C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44009" y="1578082"/>
            <a:ext cx="4436444" cy="4820180"/>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main.oecd.org\sdataECO\Units\FRONTOFFICE\Economic Outlooks\EO101\Data and charts\PPT_Figs_E\E_Handout_Fig_Private_credit_1_2P_P2CL.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739" y="1576536"/>
            <a:ext cx="4619269" cy="48768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FCE284C4-5ED1-4D6C-B7CC-2049C3062C5E}" type="slidenum">
              <a:rPr lang="en-GB" smtClean="0"/>
              <a:t>10</a:t>
            </a:fld>
            <a:endParaRPr lang="en-GB" dirty="0"/>
          </a:p>
        </p:txBody>
      </p:sp>
      <p:sp>
        <p:nvSpPr>
          <p:cNvPr id="4" name="Rectangle 3"/>
          <p:cNvSpPr/>
          <p:nvPr/>
        </p:nvSpPr>
        <p:spPr>
          <a:xfrm>
            <a:off x="736273" y="224152"/>
            <a:ext cx="8378047" cy="954107"/>
          </a:xfrm>
          <a:prstGeom prst="rect">
            <a:avLst/>
          </a:prstGeom>
        </p:spPr>
        <p:txBody>
          <a:bodyPr wrap="square">
            <a:spAutoFit/>
          </a:bodyPr>
          <a:lstStyle/>
          <a:p>
            <a:r>
              <a:rPr lang="en-US" sz="2800" b="1" dirty="0" smtClean="0">
                <a:solidFill>
                  <a:schemeClr val="tx2"/>
                </a:solidFill>
                <a:latin typeface="+mj-lt"/>
              </a:rPr>
              <a:t>Hausse du crédit privé dans les économies de marché émergentes et risques sur le marché du logement dans les économies avancées</a:t>
            </a:r>
          </a:p>
        </p:txBody>
      </p:sp>
      <p:sp>
        <p:nvSpPr>
          <p:cNvPr id="10" name="TextBox 9"/>
          <p:cNvSpPr txBox="1"/>
          <p:nvPr/>
        </p:nvSpPr>
        <p:spPr>
          <a:xfrm>
            <a:off x="249870" y="6210405"/>
            <a:ext cx="8378047" cy="646331"/>
          </a:xfrm>
          <a:prstGeom prst="rect">
            <a:avLst/>
          </a:prstGeom>
          <a:noFill/>
        </p:spPr>
        <p:txBody>
          <a:bodyPr wrap="square" rtlCol="0">
            <a:spAutoFit/>
          </a:bodyPr>
          <a:lstStyle/>
          <a:p>
            <a:r>
              <a:rPr lang="en-US" sz="1200" dirty="0" smtClean="0">
                <a:solidFill>
                  <a:schemeClr val="bg2">
                    <a:lumMod val="10000"/>
                  </a:schemeClr>
                </a:solidFill>
                <a:latin typeface="Calibri" panose="020F0502020204030204" pitchFamily="34" charset="0"/>
              </a:rPr>
              <a:t>Note : les économies de marché émergentes hors Chine correspondent à une moyenne non pondérée des ratios pour l'Argentine, le Brésil, la Colombie, l'Inde, l'Indonésie, le Mexique, la Russie, la Malaisie, l'Afrique du Sud et la Turquie.Source : BRI ; base de données analytique des prix de l'immobilier de l'OCDE ; et calculs de l'OCDE.</a:t>
            </a:r>
          </a:p>
        </p:txBody>
      </p:sp>
      <p:sp>
        <p:nvSpPr>
          <p:cNvPr id="12" name="Rectangle 11"/>
          <p:cNvSpPr/>
          <p:nvPr/>
        </p:nvSpPr>
        <p:spPr>
          <a:xfrm>
            <a:off x="323528" y="1268760"/>
            <a:ext cx="3771930" cy="615553"/>
          </a:xfrm>
          <a:prstGeom prst="rect">
            <a:avLst/>
          </a:prstGeom>
        </p:spPr>
        <p:txBody>
          <a:bodyPr wrap="none">
            <a:spAutoFit/>
          </a:bodyPr>
          <a:lstStyle/>
          <a:p>
            <a:r>
              <a:rPr lang="en-GB" sz="2000" b="1" dirty="0" smtClean="0">
                <a:solidFill>
                  <a:schemeClr val="bg2">
                    <a:lumMod val="10000"/>
                  </a:schemeClr>
                </a:solidFill>
                <a:latin typeface="Calibri" pitchFamily="34" charset="0"/>
              </a:rPr>
              <a:t>Crédit au secteur privé non financier</a:t>
            </a:r>
          </a:p>
          <a:p>
            <a:r>
              <a:rPr lang="en-GB" sz="2000" b="1" dirty="0" smtClean="0">
                <a:solidFill>
                  <a:schemeClr val="bg2">
                    <a:lumMod val="10000"/>
                  </a:schemeClr>
                </a:solidFill>
                <a:latin typeface="Calibri" pitchFamily="34" charset="0"/>
              </a:rPr>
              <a:t/>
            </a:r>
          </a:p>
        </p:txBody>
      </p:sp>
      <p:sp>
        <p:nvSpPr>
          <p:cNvPr id="13" name="Rectangle 12"/>
          <p:cNvSpPr/>
          <p:nvPr/>
        </p:nvSpPr>
        <p:spPr>
          <a:xfrm>
            <a:off x="5416096" y="1268760"/>
            <a:ext cx="2820259" cy="584775"/>
          </a:xfrm>
          <a:prstGeom prst="rect">
            <a:avLst/>
          </a:prstGeom>
        </p:spPr>
        <p:txBody>
          <a:bodyPr wrap="none">
            <a:spAutoFit/>
          </a:bodyPr>
          <a:lstStyle/>
          <a:p>
            <a:r>
              <a:rPr lang="en-GB" sz="2000" b="1" dirty="0" smtClean="0">
                <a:solidFill>
                  <a:schemeClr val="bg2">
                    <a:lumMod val="10000"/>
                  </a:schemeClr>
                </a:solidFill>
                <a:latin typeface="Calibri" pitchFamily="34" charset="0"/>
              </a:rPr>
              <a:t>Ratio prix de l'immobilier/loyer</a:t>
            </a:r>
          </a:p>
          <a:p>
            <a:r>
              <a:rPr lang="en-GB" sz="2000" b="1" dirty="0" smtClean="0">
                <a:solidFill>
                  <a:schemeClr val="bg2">
                    <a:lumMod val="10000"/>
                  </a:schemeClr>
                </a:solidFill>
                <a:latin typeface="Calibri" pitchFamily="34" charset="0"/>
              </a:rPr>
              <a:t>Moyenne depuis 1980 = 100</a:t>
            </a:r>
          </a:p>
        </p:txBody>
      </p:sp>
    </p:spTree>
    <p:extLst>
      <p:ext uri="{BB962C8B-B14F-4D97-AF65-F5344CB8AC3E}">
        <p14:creationId xmlns:p14="http://schemas.microsoft.com/office/powerpoint/2010/main" val="40757288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main.oecd.org\sdataECO\Units\FRONTOFFICE\Economic Outlooks\EO101\Data and charts\PPT_Figs_E\E_Handout_Fig_Core_inflation_2005_1_2P_P2C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56" y="1536187"/>
            <a:ext cx="4524044" cy="5133171"/>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FCE284C4-5ED1-4D6C-B7CC-2049C3062C5E}" type="slidenum">
              <a:rPr lang="en-GB" smtClean="0"/>
              <a:t>11</a:t>
            </a:fld>
            <a:endParaRPr lang="en-GB" dirty="0"/>
          </a:p>
        </p:txBody>
      </p:sp>
      <p:sp>
        <p:nvSpPr>
          <p:cNvPr id="4" name="Rectangle 3"/>
          <p:cNvSpPr/>
          <p:nvPr/>
        </p:nvSpPr>
        <p:spPr>
          <a:xfrm>
            <a:off x="797998" y="241893"/>
            <a:ext cx="8378047" cy="954107"/>
          </a:xfrm>
          <a:prstGeom prst="rect">
            <a:avLst/>
          </a:prstGeom>
        </p:spPr>
        <p:txBody>
          <a:bodyPr wrap="square">
            <a:spAutoFit/>
          </a:bodyPr>
          <a:lstStyle/>
          <a:p>
            <a:r>
              <a:rPr lang="en-US" sz="2800" b="1" dirty="0" smtClean="0">
                <a:solidFill>
                  <a:schemeClr val="tx2"/>
                </a:solidFill>
                <a:latin typeface="+mj-lt"/>
              </a:rPr>
              <a:t>L'inflation est généralement inférieure aux objectifs ; une éventuelle divergence des taux d'intérêt crée des risques financiers</a:t>
            </a:r>
          </a:p>
        </p:txBody>
      </p:sp>
      <p:sp>
        <p:nvSpPr>
          <p:cNvPr id="5" name="TextBox 4"/>
          <p:cNvSpPr txBox="1"/>
          <p:nvPr/>
        </p:nvSpPr>
        <p:spPr>
          <a:xfrm>
            <a:off x="-66286" y="1319510"/>
            <a:ext cx="4824536" cy="523220"/>
          </a:xfrm>
          <a:prstGeom prst="rect">
            <a:avLst/>
          </a:prstGeom>
          <a:noFill/>
        </p:spPr>
        <p:txBody>
          <a:bodyPr wrap="square" rtlCol="0">
            <a:spAutoFit/>
          </a:bodyPr>
          <a:lstStyle/>
          <a:p>
            <a:r>
              <a:rPr lang="en-US" sz="2000" b="1" dirty="0" smtClean="0">
                <a:solidFill>
                  <a:schemeClr val="bg2">
                    <a:lumMod val="10000"/>
                  </a:schemeClr>
                </a:solidFill>
                <a:latin typeface="Calibri" pitchFamily="34" charset="0"/>
              </a:rPr>
              <a:t>Inflation sous-jacente</a:t>
            </a:r>
          </a:p>
        </p:txBody>
      </p:sp>
      <p:sp>
        <p:nvSpPr>
          <p:cNvPr id="7" name="TextBox 6"/>
          <p:cNvSpPr txBox="1"/>
          <p:nvPr/>
        </p:nvSpPr>
        <p:spPr>
          <a:xfrm>
            <a:off x="161255" y="6042154"/>
            <a:ext cx="8352930" cy="830997"/>
          </a:xfrm>
          <a:prstGeom prst="rect">
            <a:avLst/>
          </a:prstGeom>
          <a:noFill/>
        </p:spPr>
        <p:txBody>
          <a:bodyPr wrap="square" rtlCol="0">
            <a:spAutoFit/>
          </a:bodyPr>
          <a:lstStyle/>
          <a:p>
            <a:r>
              <a:rPr lang="en-GB" sz="1200" dirty="0" smtClean="0">
                <a:solidFill>
                  <a:schemeClr val="bg2">
                    <a:lumMod val="10000"/>
                  </a:schemeClr>
                </a:solidFill>
                <a:latin typeface="Calibri" panose="020F0502020204030204" pitchFamily="34" charset="0"/>
              </a:rPr>
              <a:t>Note : l'inflation sous-jacente du Japon est ajustée de l'effet des hausses de la taxe sur la consommation.Source : base de données de l'OCDE Economic Outlook, juin 2017 ; Bloomberg ; et calculs de l'OCDE.</a:t>
            </a:r>
          </a:p>
        </p:txBody>
      </p:sp>
      <p:pic>
        <p:nvPicPr>
          <p:cNvPr id="7171" name="Picture 3" descr="\\main.oecd.org\sdataECO\Units\FRONTOFFICE\Economic Outlooks\EO101\Data and charts\PPT_Figs_E\E_Handout_Fig_IR_expected_1_2P_P2CL.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7985" y="1772816"/>
            <a:ext cx="4659328" cy="489654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4337720" y="1245618"/>
            <a:ext cx="4824536" cy="1015663"/>
          </a:xfrm>
          <a:prstGeom prst="rect">
            <a:avLst/>
          </a:prstGeom>
          <a:noFill/>
        </p:spPr>
        <p:txBody>
          <a:bodyPr wrap="square" rtlCol="0">
            <a:spAutoFit/>
          </a:bodyPr>
          <a:lstStyle/>
          <a:p>
            <a:r>
              <a:rPr lang="en-US" sz="2000" b="1" dirty="0" smtClean="0">
                <a:solidFill>
                  <a:schemeClr val="bg2">
                    <a:lumMod val="10000"/>
                  </a:schemeClr>
                </a:solidFill>
                <a:latin typeface="Calibri" pitchFamily="34" charset="0"/>
              </a:rPr>
              <a:t>Anticipations de marché des taux d'intérêt au jour le jour</a:t>
            </a:r>
          </a:p>
          <a:p>
            <a:r>
              <a:rPr lang="en-US" sz="2000" b="1" dirty="0" smtClean="0">
                <a:solidFill>
                  <a:schemeClr val="bg2">
                    <a:lumMod val="10000"/>
                  </a:schemeClr>
                </a:solidFill>
                <a:latin typeface="Calibri" pitchFamily="34" charset="0"/>
              </a:rPr>
              <a:t>Moyenne mobile sur 15 jours</a:t>
            </a:r>
          </a:p>
        </p:txBody>
      </p:sp>
      <p:cxnSp>
        <p:nvCxnSpPr>
          <p:cNvPr id="9" name="Straight Arrow Connector 8"/>
          <p:cNvCxnSpPr/>
          <p:nvPr/>
        </p:nvCxnSpPr>
        <p:spPr>
          <a:xfrm>
            <a:off x="8524459" y="4848612"/>
            <a:ext cx="0" cy="720080"/>
          </a:xfrm>
          <a:prstGeom prst="straightConnector1">
            <a:avLst/>
          </a:prstGeom>
          <a:ln w="22225">
            <a:solidFill>
              <a:schemeClr val="bg2">
                <a:lumMod val="10000"/>
              </a:schemeClr>
            </a:solidFill>
            <a:headEnd type="arrow"/>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4167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FCE284C4-5ED1-4D6C-B7CC-2049C3062C5E}" type="slidenum">
              <a:rPr lang="en-GB" smtClean="0"/>
              <a:t>12</a:t>
            </a:fld>
            <a:endParaRPr lang="en-GB" dirty="0"/>
          </a:p>
        </p:txBody>
      </p:sp>
      <p:sp>
        <p:nvSpPr>
          <p:cNvPr id="9" name="Rectangle 8"/>
          <p:cNvSpPr/>
          <p:nvPr/>
        </p:nvSpPr>
        <p:spPr>
          <a:xfrm>
            <a:off x="333802" y="2554540"/>
            <a:ext cx="8568952" cy="1323439"/>
          </a:xfrm>
          <a:prstGeom prst="rect">
            <a:avLst/>
          </a:prstGeom>
        </p:spPr>
        <p:txBody>
          <a:bodyPr wrap="square">
            <a:spAutoFit/>
          </a:bodyPr>
          <a:lstStyle/>
          <a:p>
            <a:r>
              <a:rPr lang="en-US" sz="4000" b="1" dirty="0" smtClean="0">
                <a:solidFill>
                  <a:schemeClr val="tx2"/>
                </a:solidFill>
                <a:latin typeface="+mj-lt"/>
              </a:rPr>
              <a:t>Diagnostiquer le défi </a:t>
            </a:r>
          </a:p>
          <a:p>
            <a:r>
              <a:rPr lang="en-US" sz="4000" b="1" dirty="0" smtClean="0">
                <a:solidFill>
                  <a:schemeClr val="tx2"/>
                </a:solidFill>
                <a:latin typeface="+mj-lt"/>
              </a:rPr>
              <a:t>des tendances structurelles </a:t>
            </a:r>
          </a:p>
        </p:txBody>
      </p:sp>
    </p:spTree>
    <p:extLst>
      <p:ext uri="{BB962C8B-B14F-4D97-AF65-F5344CB8AC3E}">
        <p14:creationId xmlns:p14="http://schemas.microsoft.com/office/powerpoint/2010/main" val="198832779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main.oecd.org\sdataECO\Units\FRONTOFFICE\Economic Outlooks\EO101\Data and charts\PPT_Figs_E\E_Handout_Fig_Trade_by_type_1_2P_P2C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99993" y="1674697"/>
            <a:ext cx="4608512" cy="4634623"/>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4"/>
          </p:nvPr>
        </p:nvSpPr>
        <p:spPr/>
        <p:txBody>
          <a:bodyPr/>
          <a:lstStyle/>
          <a:p>
            <a:fld id="{FCE284C4-5ED1-4D6C-B7CC-2049C3062C5E}" type="slidenum">
              <a:rPr lang="en-GB" smtClean="0"/>
              <a:t>13</a:t>
            </a:fld>
            <a:endParaRPr lang="en-GB" dirty="0"/>
          </a:p>
        </p:txBody>
      </p:sp>
      <p:sp>
        <p:nvSpPr>
          <p:cNvPr id="11" name="Rectangle 10"/>
          <p:cNvSpPr/>
          <p:nvPr/>
        </p:nvSpPr>
        <p:spPr>
          <a:xfrm>
            <a:off x="638751" y="457533"/>
            <a:ext cx="8640960" cy="523220"/>
          </a:xfrm>
          <a:prstGeom prst="rect">
            <a:avLst/>
          </a:prstGeom>
        </p:spPr>
        <p:txBody>
          <a:bodyPr wrap="square">
            <a:spAutoFit/>
          </a:bodyPr>
          <a:lstStyle/>
          <a:p>
            <a:r>
              <a:rPr lang="en-US" sz="2800" b="1" dirty="0" smtClean="0">
                <a:solidFill>
                  <a:schemeClr val="tx2"/>
                </a:solidFill>
                <a:latin typeface="+mj-lt"/>
              </a:rPr>
              <a:t>La spécialisation et les schémas du commerce ont évolué</a:t>
            </a:r>
          </a:p>
        </p:txBody>
      </p:sp>
      <p:sp>
        <p:nvSpPr>
          <p:cNvPr id="8" name="TextBox 7"/>
          <p:cNvSpPr txBox="1"/>
          <p:nvPr/>
        </p:nvSpPr>
        <p:spPr>
          <a:xfrm>
            <a:off x="-180528" y="1268050"/>
            <a:ext cx="5063780" cy="584775"/>
          </a:xfrm>
          <a:prstGeom prst="rect">
            <a:avLst/>
          </a:prstGeom>
          <a:noFill/>
        </p:spPr>
        <p:txBody>
          <a:bodyPr wrap="square" rtlCol="0">
            <a:spAutoFit/>
          </a:bodyPr>
          <a:lstStyle/>
          <a:p>
            <a:r>
              <a:rPr lang="en-US" sz="2000" b="1" dirty="0">
                <a:solidFill>
                  <a:schemeClr val="bg2">
                    <a:lumMod val="10000"/>
                  </a:schemeClr>
                </a:solidFill>
                <a:latin typeface="Calibri" pitchFamily="34" charset="0"/>
              </a:rPr>
              <a:t>Commerce mondial de biens</a:t>
            </a:r>
          </a:p>
          <a:p>
            <a:r>
              <a:rPr lang="en-US" sz="2000" b="1" dirty="0">
                <a:solidFill>
                  <a:schemeClr val="bg2">
                    <a:lumMod val="10000"/>
                  </a:schemeClr>
                </a:solidFill>
                <a:latin typeface="Calibri" pitchFamily="34" charset="0"/>
              </a:rPr>
              <a:t>Part des exportations mondiales de biens, en volume</a:t>
            </a:r>
          </a:p>
        </p:txBody>
      </p:sp>
      <p:sp>
        <p:nvSpPr>
          <p:cNvPr id="15" name="TextBox 14"/>
          <p:cNvSpPr txBox="1"/>
          <p:nvPr/>
        </p:nvSpPr>
        <p:spPr>
          <a:xfrm>
            <a:off x="4386149" y="1264791"/>
            <a:ext cx="4836199" cy="892552"/>
          </a:xfrm>
          <a:prstGeom prst="rect">
            <a:avLst/>
          </a:prstGeom>
          <a:noFill/>
        </p:spPr>
        <p:txBody>
          <a:bodyPr wrap="square" rtlCol="0">
            <a:spAutoFit/>
          </a:bodyPr>
          <a:lstStyle/>
          <a:p>
            <a:r>
              <a:rPr lang="en-US" sz="2000" b="1" dirty="0" smtClean="0">
                <a:solidFill>
                  <a:schemeClr val="bg2">
                    <a:lumMod val="10000"/>
                  </a:schemeClr>
                </a:solidFill>
                <a:latin typeface="Calibri" pitchFamily="34" charset="0"/>
              </a:rPr>
              <a:t>Commerce mondial par type</a:t>
            </a:r>
          </a:p>
          <a:p>
            <a:r>
              <a:rPr lang="en-US" sz="2000" b="1" dirty="0" smtClean="0">
                <a:solidFill>
                  <a:schemeClr val="bg2">
                    <a:lumMod val="10000"/>
                  </a:schemeClr>
                </a:solidFill>
                <a:latin typeface="Calibri" pitchFamily="34" charset="0"/>
              </a:rPr>
              <a:t>Exportations, en valeur</a:t>
            </a:r>
          </a:p>
          <a:p>
            <a:r>
              <a:rPr lang="en-US" sz="2000" b="1" dirty="0" smtClean="0">
                <a:solidFill>
                  <a:schemeClr val="bg2">
                    <a:lumMod val="10000"/>
                  </a:schemeClr>
                </a:solidFill>
                <a:latin typeface="Calibri" pitchFamily="34" charset="0"/>
              </a:rPr>
              <a:t/>
            </a:r>
          </a:p>
        </p:txBody>
      </p:sp>
      <p:graphicFrame>
        <p:nvGraphicFramePr>
          <p:cNvPr id="14" name="Chart 13"/>
          <p:cNvGraphicFramePr>
            <a:graphicFrameLocks/>
          </p:cNvGraphicFramePr>
          <p:nvPr>
            <p:extLst>
              <p:ext uri="{D42A27DB-BD31-4B8C-83A1-F6EECF244321}">
                <p14:modId xmlns:p14="http://schemas.microsoft.com/office/powerpoint/2010/main" val="3083796744"/>
              </p:ext>
            </p:extLst>
          </p:nvPr>
        </p:nvGraphicFramePr>
        <p:xfrm>
          <a:off x="-252536" y="1711067"/>
          <a:ext cx="5743576" cy="4638675"/>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323528" y="6112036"/>
            <a:ext cx="8208912" cy="769441"/>
          </a:xfrm>
          <a:prstGeom prst="rect">
            <a:avLst/>
          </a:prstGeom>
          <a:noFill/>
        </p:spPr>
        <p:txBody>
          <a:bodyPr wrap="square" rtlCol="0">
            <a:spAutoFit/>
          </a:bodyPr>
          <a:lstStyle/>
          <a:p>
            <a:r>
              <a:rPr lang="en-GB" sz="1100" dirty="0" smtClean="0">
                <a:solidFill>
                  <a:srgbClr val="171717"/>
                </a:solidFill>
                <a:latin typeface="Calibri" panose="020F0502020204030204" pitchFamily="34" charset="0"/>
              </a:rPr>
              <a:t>Note : axe de gauche – les économies asiatiques dynamiques incluent la Malaisie, les Philippines, Singapour, la Thaïlande, le Vietnam, le Taipei chinois et Hong Kong.Axe de droite – les services aux entreprises incluent la R-D, les TIC, l'immobilier et d'autres activités de services aux entreprises. Les services financiers incluent l'intermédiation financière, l'assurance, les fonds de pension et d'autres activités financières. </a:t>
            </a:r>
          </a:p>
          <a:p>
            <a:r>
              <a:rPr lang="en-GB" sz="1100" dirty="0" smtClean="0">
                <a:solidFill>
                  <a:srgbClr val="171717"/>
                </a:solidFill>
                <a:latin typeface="Calibri" panose="020F0502020204030204" pitchFamily="34" charset="0"/>
              </a:rPr>
              <a:t>Source : base de données OCDE-OMC Trade in Value Added (TiVA) ; base de données UN Comtrade ; et calculs de l'OCDE.</a:t>
            </a:r>
          </a:p>
        </p:txBody>
      </p:sp>
    </p:spTree>
    <p:extLst>
      <p:ext uri="{BB962C8B-B14F-4D97-AF65-F5344CB8AC3E}">
        <p14:creationId xmlns:p14="http://schemas.microsoft.com/office/powerpoint/2010/main" val="9489508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ain.oecd.org\sdataECO\Units\FRONTOFFICE\Economic Outlooks\EO101\Data and charts\PPT_Figs_E\E_Handout_Fig_Job_polarisation_1_2P_P2C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1286" y="1519894"/>
            <a:ext cx="7920880" cy="480909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4"/>
          </p:nvPr>
        </p:nvSpPr>
        <p:spPr/>
        <p:txBody>
          <a:bodyPr/>
          <a:lstStyle/>
          <a:p>
            <a:fld id="{FCE284C4-5ED1-4D6C-B7CC-2049C3062C5E}" type="slidenum">
              <a:rPr lang="en-GB" smtClean="0"/>
              <a:t>14</a:t>
            </a:fld>
            <a:endParaRPr lang="en-GB" dirty="0"/>
          </a:p>
        </p:txBody>
      </p:sp>
      <p:sp>
        <p:nvSpPr>
          <p:cNvPr id="4" name="Title 3"/>
          <p:cNvSpPr>
            <a:spLocks noGrp="1"/>
          </p:cNvSpPr>
          <p:nvPr>
            <p:ph type="title"/>
          </p:nvPr>
        </p:nvSpPr>
        <p:spPr>
          <a:xfrm>
            <a:off x="837687" y="188640"/>
            <a:ext cx="7416000" cy="1022400"/>
          </a:xfrm>
        </p:spPr>
        <p:txBody>
          <a:bodyPr/>
          <a:lstStyle/>
          <a:p>
            <a:r>
              <a:rPr lang="en-US" sz="2800" b="1" dirty="0" smtClean="0">
                <a:solidFill>
                  <a:schemeClr val="tx2"/>
                </a:solidFill>
              </a:rPr>
              <a:t>Les pertes d'emplois ont touché surtout les personnes ayant des compétences de niveau intermédiaire</a:t>
            </a:r>
          </a:p>
        </p:txBody>
      </p:sp>
      <p:sp>
        <p:nvSpPr>
          <p:cNvPr id="9" name="TextBox 8"/>
          <p:cNvSpPr txBox="1"/>
          <p:nvPr/>
        </p:nvSpPr>
        <p:spPr>
          <a:xfrm>
            <a:off x="782187" y="6242491"/>
            <a:ext cx="8208912" cy="646331"/>
          </a:xfrm>
          <a:prstGeom prst="rect">
            <a:avLst/>
          </a:prstGeom>
          <a:noFill/>
        </p:spPr>
        <p:txBody>
          <a:bodyPr wrap="square" rtlCol="0">
            <a:spAutoFit/>
          </a:bodyPr>
          <a:lstStyle/>
          <a:p>
            <a:r>
              <a:rPr lang="en-GB" sz="1200" dirty="0" smtClean="0">
                <a:solidFill>
                  <a:srgbClr val="171717"/>
                </a:solidFill>
                <a:latin typeface="Calibri" panose="020F0502020204030204" pitchFamily="34" charset="0"/>
              </a:rPr>
              <a:t>Note : OCDE correspond à la moyenne non pondérée de 24 pays. Pour le Japon, 1995-2010.</a:t>
            </a:r>
          </a:p>
          <a:p>
            <a:r>
              <a:rPr lang="en-GB" sz="1200" dirty="0" smtClean="0">
                <a:solidFill>
                  <a:srgbClr val="171717"/>
                </a:solidFill>
                <a:latin typeface="Calibri" panose="020F0502020204030204" pitchFamily="34" charset="0"/>
              </a:rPr>
              <a:t>Source : OCDE Employment Outlook 2017 ; enquête sur les forces de travail de l'Union européenne ; enquêtes sur les forces de travail pour le Canada, le Japon et les États-Unis ; et calculs de l'OCDE.</a:t>
            </a:r>
          </a:p>
        </p:txBody>
      </p:sp>
      <p:sp>
        <p:nvSpPr>
          <p:cNvPr id="10" name="TextBox 9"/>
          <p:cNvSpPr txBox="1"/>
          <p:nvPr/>
        </p:nvSpPr>
        <p:spPr>
          <a:xfrm>
            <a:off x="1213354" y="1276185"/>
            <a:ext cx="6696744" cy="584775"/>
          </a:xfrm>
          <a:prstGeom prst="rect">
            <a:avLst/>
          </a:prstGeom>
          <a:noFill/>
        </p:spPr>
        <p:txBody>
          <a:bodyPr wrap="square" rtlCol="0">
            <a:spAutoFit/>
          </a:bodyPr>
          <a:lstStyle/>
          <a:p>
            <a:r>
              <a:rPr lang="en-US" sz="2000" b="1" dirty="0" smtClean="0">
                <a:solidFill>
                  <a:schemeClr val="bg2">
                    <a:lumMod val="10000"/>
                  </a:schemeClr>
                </a:solidFill>
                <a:latin typeface="Calibri" pitchFamily="34" charset="0"/>
              </a:rPr>
              <a:t>Polarisation de l'emploi par pays</a:t>
            </a:r>
          </a:p>
          <a:p>
            <a:r>
              <a:rPr lang="en-US" sz="2000" b="1" dirty="0" smtClean="0">
                <a:solidFill>
                  <a:schemeClr val="bg2">
                    <a:lumMod val="10000"/>
                  </a:schemeClr>
                </a:solidFill>
                <a:latin typeface="Calibri" pitchFamily="34" charset="0"/>
              </a:rPr>
              <a:t>Variation de la part dans l'emploi total par niveau de compétence, 1995-2015</a:t>
            </a:r>
          </a:p>
        </p:txBody>
      </p:sp>
      <p:sp>
        <p:nvSpPr>
          <p:cNvPr id="8" name="Rectangle 7"/>
          <p:cNvSpPr/>
          <p:nvPr/>
        </p:nvSpPr>
        <p:spPr>
          <a:xfrm rot="10800000">
            <a:off x="4983498" y="2726899"/>
            <a:ext cx="853824" cy="3334601"/>
          </a:xfrm>
          <a:prstGeom prst="rect">
            <a:avLst/>
          </a:prstGeom>
          <a:noFill/>
          <a:ln w="38100">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80398364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main.oecd.org\sdataECO\Units\FRONTOFFICE\Economic Outlooks\EO101\Data and charts\PPT_Figs_E\E_Handout_Fig_Export_complexity_1_2P_P2C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6710" y="1587614"/>
            <a:ext cx="8055276" cy="4799135"/>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4"/>
          </p:nvPr>
        </p:nvSpPr>
        <p:spPr/>
        <p:txBody>
          <a:bodyPr/>
          <a:lstStyle/>
          <a:p>
            <a:fld id="{FCE284C4-5ED1-4D6C-B7CC-2049C3062C5E}" type="slidenum">
              <a:rPr lang="en-GB" smtClean="0"/>
              <a:t>15</a:t>
            </a:fld>
            <a:endParaRPr lang="en-GB" dirty="0"/>
          </a:p>
        </p:txBody>
      </p:sp>
      <p:sp>
        <p:nvSpPr>
          <p:cNvPr id="7" name="Rectangle 6"/>
          <p:cNvSpPr/>
          <p:nvPr/>
        </p:nvSpPr>
        <p:spPr>
          <a:xfrm>
            <a:off x="576709" y="242718"/>
            <a:ext cx="8640960" cy="954107"/>
          </a:xfrm>
          <a:prstGeom prst="rect">
            <a:avLst/>
          </a:prstGeom>
        </p:spPr>
        <p:txBody>
          <a:bodyPr wrap="square">
            <a:spAutoFit/>
          </a:bodyPr>
          <a:lstStyle/>
          <a:p>
            <a:r>
              <a:rPr lang="en-US" sz="2800" b="1" dirty="0">
                <a:solidFill>
                  <a:schemeClr val="tx2"/>
                </a:solidFill>
                <a:latin typeface="+mj-lt"/>
              </a:rPr>
              <a:t>Les économies avancées ont progressé dans la chaîne de valeur, mais les économies émergentes progressent elles aussi</a:t>
            </a:r>
          </a:p>
        </p:txBody>
      </p:sp>
      <p:sp>
        <p:nvSpPr>
          <p:cNvPr id="11" name="TextBox 10"/>
          <p:cNvSpPr txBox="1"/>
          <p:nvPr/>
        </p:nvSpPr>
        <p:spPr>
          <a:xfrm>
            <a:off x="187979" y="6130595"/>
            <a:ext cx="8444006" cy="769441"/>
          </a:xfrm>
          <a:prstGeom prst="rect">
            <a:avLst/>
          </a:prstGeom>
          <a:noFill/>
        </p:spPr>
        <p:txBody>
          <a:bodyPr wrap="square" rtlCol="0">
            <a:spAutoFit/>
          </a:bodyPr>
          <a:lstStyle/>
          <a:p>
            <a:r>
              <a:rPr lang="en-GB" sz="1100" dirty="0" smtClean="0">
                <a:solidFill>
                  <a:srgbClr val="171717"/>
                </a:solidFill>
                <a:latin typeface="Calibri" panose="020F0502020204030204" pitchFamily="34" charset="0"/>
              </a:rPr>
              <a:t>Note : en termes nominaux. Les produits les moins complexes correspondent au 1er quartile des produits par complexité (p. ex. crayons de couleur), les plus complexes au 4e quartile (p. ex. équipements médicaux), hors principales matières premières. Les économies asiatiques dynamiques incluent la Malaisie, les Philippines, Singapour, la Thaïlande, le Vietnam, le Taipei chinois et Hong Kong. L'Europe correspond à la moyenne non pondérée de la Tchéquie, de la France, de l'Allemagne, de l'Irlande, de l'Italie, de la Pologne, du Portugal et du Royaume-Uni.</a:t>
            </a:r>
          </a:p>
          <a:p>
            <a:r>
              <a:rPr lang="en-GB" sz="1100" dirty="0" smtClean="0">
                <a:solidFill>
                  <a:srgbClr val="171717"/>
                </a:solidFill>
                <a:latin typeface="Calibri" panose="020F0502020204030204" pitchFamily="34" charset="0"/>
              </a:rPr>
              <a:t>Source : base de données UN Comtrade ; et calculs de l'OCDE.</a:t>
            </a:r>
          </a:p>
        </p:txBody>
      </p:sp>
      <p:cxnSp>
        <p:nvCxnSpPr>
          <p:cNvPr id="4" name="Straight Connector 3"/>
          <p:cNvCxnSpPr/>
          <p:nvPr/>
        </p:nvCxnSpPr>
        <p:spPr>
          <a:xfrm>
            <a:off x="3887766" y="2174042"/>
            <a:ext cx="0" cy="3744506"/>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267744" y="1265431"/>
            <a:ext cx="4536504" cy="400110"/>
          </a:xfrm>
          <a:prstGeom prst="rect">
            <a:avLst/>
          </a:prstGeom>
          <a:noFill/>
        </p:spPr>
        <p:txBody>
          <a:bodyPr wrap="square" rtlCol="0">
            <a:spAutoFit/>
          </a:bodyPr>
          <a:lstStyle/>
          <a:p>
            <a:r>
              <a:rPr lang="en-US" sz="2000" b="1" dirty="0" smtClean="0">
                <a:solidFill>
                  <a:schemeClr val="bg2">
                    <a:lumMod val="10000"/>
                  </a:schemeClr>
                </a:solidFill>
                <a:latin typeface="Calibri" pitchFamily="34" charset="0"/>
              </a:rPr>
              <a:t>Part des biens exportés par niveau de complexité</a:t>
            </a:r>
          </a:p>
        </p:txBody>
      </p:sp>
    </p:spTree>
    <p:extLst>
      <p:ext uri="{BB962C8B-B14F-4D97-AF65-F5344CB8AC3E}">
        <p14:creationId xmlns:p14="http://schemas.microsoft.com/office/powerpoint/2010/main" val="5489376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Witheridge_W\AppData\Local\Microsoft\Windows\Temporary Internet Files\Content.Outlook\4375M1S6\E_Handout_Fig_Factors_Manuf_1_2P_P2C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8452" y="1592450"/>
            <a:ext cx="8546943" cy="466606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4"/>
          </p:nvPr>
        </p:nvSpPr>
        <p:spPr/>
        <p:txBody>
          <a:bodyPr/>
          <a:lstStyle/>
          <a:p>
            <a:fld id="{FCE284C4-5ED1-4D6C-B7CC-2049C3062C5E}" type="slidenum">
              <a:rPr lang="en-GB" smtClean="0"/>
              <a:t>16</a:t>
            </a:fld>
            <a:endParaRPr lang="en-GB" dirty="0"/>
          </a:p>
        </p:txBody>
      </p:sp>
      <p:sp>
        <p:nvSpPr>
          <p:cNvPr id="4" name="Title 3"/>
          <p:cNvSpPr>
            <a:spLocks noGrp="1"/>
          </p:cNvSpPr>
          <p:nvPr>
            <p:ph type="title"/>
          </p:nvPr>
        </p:nvSpPr>
        <p:spPr>
          <a:xfrm>
            <a:off x="772213" y="188640"/>
            <a:ext cx="8352928" cy="1022400"/>
          </a:xfrm>
        </p:spPr>
        <p:txBody>
          <a:bodyPr/>
          <a:lstStyle/>
          <a:p>
            <a:r>
              <a:rPr lang="en-GB" sz="2800" b="1" dirty="0" smtClean="0">
                <a:solidFill>
                  <a:schemeClr val="tx2"/>
                </a:solidFill>
                <a:ea typeface="+mn-ea"/>
                <a:cs typeface="+mn-cs"/>
              </a:rPr>
              <a:t>Pertes d'emplois manufacturiers et rôle de la technologie et des préférences des consommateurs face au commerce</a:t>
            </a:r>
          </a:p>
        </p:txBody>
      </p:sp>
      <p:sp>
        <p:nvSpPr>
          <p:cNvPr id="9" name="TextBox 8"/>
          <p:cNvSpPr txBox="1"/>
          <p:nvPr/>
        </p:nvSpPr>
        <p:spPr>
          <a:xfrm>
            <a:off x="755576" y="6088558"/>
            <a:ext cx="7992888" cy="769441"/>
          </a:xfrm>
          <a:prstGeom prst="rect">
            <a:avLst/>
          </a:prstGeom>
          <a:noFill/>
        </p:spPr>
        <p:txBody>
          <a:bodyPr wrap="square" rtlCol="0">
            <a:spAutoFit/>
          </a:bodyPr>
          <a:lstStyle/>
          <a:p>
            <a:r>
              <a:rPr lang="en-GB" sz="1100" dirty="0" smtClean="0">
                <a:solidFill>
                  <a:srgbClr val="171717"/>
                </a:solidFill>
                <a:latin typeface="Calibri" panose="020F0502020204030204" pitchFamily="34" charset="0"/>
              </a:rPr>
              <a:t>Note : décomposition fondée sur une estimation par régression. Chaque facteur repose sur la variation observée sur la période. La technologie et les préférences des consommateurs incluent l'investissement en TIC et en machines, les variations de la part de la consommation manufacturière et des effets spécifiques à la période.</a:t>
            </a:r>
          </a:p>
          <a:p>
            <a:r>
              <a:rPr lang="en-GB" sz="1100" dirty="0" smtClean="0">
                <a:solidFill>
                  <a:srgbClr val="171717"/>
                </a:solidFill>
                <a:latin typeface="Calibri" panose="020F0502020204030204" pitchFamily="34" charset="0"/>
              </a:rPr>
              <a:t>Source : base de données de l'OCDE Economic Outlook ; base de données STAN ; et calculs de l'OCDE.</a:t>
            </a:r>
          </a:p>
        </p:txBody>
      </p:sp>
      <p:sp>
        <p:nvSpPr>
          <p:cNvPr id="7" name="TextBox 6"/>
          <p:cNvSpPr txBox="1"/>
          <p:nvPr/>
        </p:nvSpPr>
        <p:spPr>
          <a:xfrm>
            <a:off x="1149484" y="1289593"/>
            <a:ext cx="6696744" cy="584775"/>
          </a:xfrm>
          <a:prstGeom prst="rect">
            <a:avLst/>
          </a:prstGeom>
          <a:noFill/>
        </p:spPr>
        <p:txBody>
          <a:bodyPr wrap="square" rtlCol="0">
            <a:spAutoFit/>
          </a:bodyPr>
          <a:lstStyle/>
          <a:p>
            <a:r>
              <a:rPr lang="en-US" sz="2000" b="1" dirty="0" smtClean="0">
                <a:solidFill>
                  <a:schemeClr val="bg2">
                    <a:lumMod val="10000"/>
                  </a:schemeClr>
                </a:solidFill>
                <a:latin typeface="Calibri" pitchFamily="34" charset="0"/>
              </a:rPr>
              <a:t>Facteurs expliquant le recul des emplois manufacturiers</a:t>
            </a:r>
          </a:p>
          <a:p>
            <a:r>
              <a:rPr lang="en-US" sz="2000" b="1" dirty="0" smtClean="0">
                <a:solidFill>
                  <a:schemeClr val="bg2">
                    <a:lumMod val="10000"/>
                  </a:schemeClr>
                </a:solidFill>
                <a:latin typeface="Calibri" pitchFamily="34" charset="0"/>
              </a:rPr>
              <a:t>Variation de la part dans l'emploi total, moyenne annuelle 1990-2008</a:t>
            </a:r>
          </a:p>
        </p:txBody>
      </p:sp>
    </p:spTree>
    <p:extLst>
      <p:ext uri="{BB962C8B-B14F-4D97-AF65-F5344CB8AC3E}">
        <p14:creationId xmlns:p14="http://schemas.microsoft.com/office/powerpoint/2010/main" val="23621851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main.oecd.org\sdataECO\Units\FRONTOFFICE\Economic Outlooks\EO101\Data and charts\PPT_Figs_E\E_Handout_Fig_Geographical_concentration_1_2P_P2C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7324" y="1536187"/>
            <a:ext cx="7551099" cy="4654273"/>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4"/>
          </p:nvPr>
        </p:nvSpPr>
        <p:spPr/>
        <p:txBody>
          <a:bodyPr/>
          <a:lstStyle/>
          <a:p>
            <a:fld id="{FCE284C4-5ED1-4D6C-B7CC-2049C3062C5E}" type="slidenum">
              <a:rPr lang="en-GB" smtClean="0"/>
              <a:t>17</a:t>
            </a:fld>
            <a:endParaRPr lang="en-GB" dirty="0"/>
          </a:p>
        </p:txBody>
      </p:sp>
      <p:sp>
        <p:nvSpPr>
          <p:cNvPr id="4" name="Title 3"/>
          <p:cNvSpPr>
            <a:spLocks noGrp="1"/>
          </p:cNvSpPr>
          <p:nvPr>
            <p:ph type="title"/>
          </p:nvPr>
        </p:nvSpPr>
        <p:spPr>
          <a:xfrm>
            <a:off x="1080000" y="194269"/>
            <a:ext cx="7416000" cy="1022400"/>
          </a:xfrm>
        </p:spPr>
        <p:txBody>
          <a:bodyPr/>
          <a:lstStyle/>
          <a:p>
            <a:r>
              <a:rPr lang="en-US" sz="2800" b="1" dirty="0" smtClean="0">
                <a:solidFill>
                  <a:schemeClr val="tx2"/>
                </a:solidFill>
              </a:rPr>
              <a:t>Le recul de l'industrie manufacturière est important car l'activité est concentrée géographiquement</a:t>
            </a:r>
          </a:p>
        </p:txBody>
      </p:sp>
      <p:sp>
        <p:nvSpPr>
          <p:cNvPr id="6" name="TextBox 5"/>
          <p:cNvSpPr txBox="1"/>
          <p:nvPr/>
        </p:nvSpPr>
        <p:spPr>
          <a:xfrm>
            <a:off x="1620652" y="1269371"/>
            <a:ext cx="5832648" cy="584775"/>
          </a:xfrm>
          <a:prstGeom prst="rect">
            <a:avLst/>
          </a:prstGeom>
          <a:noFill/>
        </p:spPr>
        <p:txBody>
          <a:bodyPr wrap="square" rtlCol="0">
            <a:spAutoFit/>
          </a:bodyPr>
          <a:lstStyle/>
          <a:p>
            <a:r>
              <a:rPr lang="en-US" sz="2000" b="1" dirty="0" smtClean="0">
                <a:solidFill>
                  <a:schemeClr val="bg2">
                    <a:lumMod val="10000"/>
                  </a:schemeClr>
                </a:solidFill>
                <a:latin typeface="Calibri" pitchFamily="34" charset="0"/>
              </a:rPr>
              <a:t>Indice de concentration géographique par secteur</a:t>
            </a:r>
          </a:p>
          <a:p>
            <a:r>
              <a:rPr lang="en-US" sz="2000" b="1" dirty="0" smtClean="0">
                <a:solidFill>
                  <a:schemeClr val="bg2">
                    <a:lumMod val="10000"/>
                  </a:schemeClr>
                </a:solidFill>
                <a:latin typeface="Calibri" pitchFamily="34" charset="0"/>
              </a:rPr>
              <a:t>Moyenne de 2000 à 2015 ou dernière année disponible</a:t>
            </a:r>
          </a:p>
        </p:txBody>
      </p:sp>
      <p:sp>
        <p:nvSpPr>
          <p:cNvPr id="7" name="TextBox 6"/>
          <p:cNvSpPr txBox="1"/>
          <p:nvPr/>
        </p:nvSpPr>
        <p:spPr>
          <a:xfrm>
            <a:off x="73637" y="5991622"/>
            <a:ext cx="8435360" cy="900246"/>
          </a:xfrm>
          <a:prstGeom prst="rect">
            <a:avLst/>
          </a:prstGeom>
          <a:noFill/>
        </p:spPr>
        <p:txBody>
          <a:bodyPr wrap="square" rtlCol="0">
            <a:spAutoFit/>
          </a:bodyPr>
          <a:lstStyle/>
          <a:p>
            <a:r>
              <a:rPr lang="en-US" sz="1050" dirty="0">
                <a:solidFill>
                  <a:srgbClr val="171717"/>
                </a:solidFill>
                <a:latin typeface="Calibri" panose="020F0502020204030204" pitchFamily="34" charset="0"/>
              </a:rPr>
              <a:t>Note : le « commerce et la distribution » incluent le commerce et la distribution, les réparations, les transports et l'entreposage, l'hébergement et la restauration. L'indice mesure le degré de concentration de l'emploi dans certaines régions, variant entre 0 (aucune concentration, lorsque toutes les régions d'un pays présentent le même taux d'emploi manufacturier) et 100 (concentration maximale, lorsque tout l'emploi manufacturier est concentré dans la plus petite région). L'indice tient compte de la taille de la région et s'appuie sur OCDE (2003) « Geographic Concentration and Territorial Disparity in OECD Countries ». Source : base de données de l'OCDE Regional ; et calculs de l'OCDE.</a:t>
            </a:r>
          </a:p>
        </p:txBody>
      </p:sp>
      <p:cxnSp>
        <p:nvCxnSpPr>
          <p:cNvPr id="8" name="Straight Arrow Connector 7"/>
          <p:cNvCxnSpPr/>
          <p:nvPr/>
        </p:nvCxnSpPr>
        <p:spPr>
          <a:xfrm flipV="1">
            <a:off x="6129959" y="2518348"/>
            <a:ext cx="0" cy="948264"/>
          </a:xfrm>
          <a:prstGeom prst="straightConnector1">
            <a:avLst/>
          </a:prstGeom>
          <a:ln w="12700">
            <a:solidFill>
              <a:schemeClr val="bg2">
                <a:lumMod val="10000"/>
              </a:schemeClr>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5982487" y="2704622"/>
            <a:ext cx="1345891" cy="523220"/>
          </a:xfrm>
          <a:prstGeom prst="rect">
            <a:avLst/>
          </a:prstGeom>
          <a:noFill/>
        </p:spPr>
        <p:txBody>
          <a:bodyPr wrap="square" rtlCol="0">
            <a:spAutoFit/>
          </a:bodyPr>
          <a:lstStyle/>
          <a:p>
            <a:r>
              <a:rPr lang="en-GB" sz="1400" b="1" dirty="0" smtClean="0">
                <a:solidFill>
                  <a:schemeClr val="bg2">
                    <a:lumMod val="10000"/>
                  </a:schemeClr>
                </a:solidFill>
                <a:latin typeface="Calibri" panose="020F0502020204030204" pitchFamily="34" charset="0"/>
              </a:rPr>
              <a:t>Plus concentré</a:t>
            </a:r>
          </a:p>
        </p:txBody>
      </p:sp>
    </p:spTree>
    <p:extLst>
      <p:ext uri="{BB962C8B-B14F-4D97-AF65-F5344CB8AC3E}">
        <p14:creationId xmlns:p14="http://schemas.microsoft.com/office/powerpoint/2010/main" val="193903858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main.oecd.org\sdataECO\Units\FRONTOFFICE\Economic Outlooks\EO101\Data and charts\PPT_Figs_E\E_Handout_Fig_Manufacturing_1_2P_P2C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600" y="1484744"/>
            <a:ext cx="8387061" cy="501143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4"/>
          </p:nvPr>
        </p:nvSpPr>
        <p:spPr/>
        <p:txBody>
          <a:bodyPr/>
          <a:lstStyle/>
          <a:p>
            <a:fld id="{FCE284C4-5ED1-4D6C-B7CC-2049C3062C5E}" type="slidenum">
              <a:rPr lang="en-GB" smtClean="0"/>
              <a:t>18</a:t>
            </a:fld>
            <a:endParaRPr lang="en-GB" dirty="0"/>
          </a:p>
        </p:txBody>
      </p:sp>
      <p:sp>
        <p:nvSpPr>
          <p:cNvPr id="4" name="Title 3"/>
          <p:cNvSpPr>
            <a:spLocks noGrp="1"/>
          </p:cNvSpPr>
          <p:nvPr>
            <p:ph type="title"/>
          </p:nvPr>
        </p:nvSpPr>
        <p:spPr>
          <a:xfrm>
            <a:off x="1009408" y="188640"/>
            <a:ext cx="7632024" cy="1022400"/>
          </a:xfrm>
        </p:spPr>
        <p:txBody>
          <a:bodyPr/>
          <a:lstStyle/>
          <a:p>
            <a:r>
              <a:rPr lang="en-US" sz="2800" b="1" dirty="0" smtClean="0">
                <a:solidFill>
                  <a:schemeClr val="tx2"/>
                </a:solidFill>
              </a:rPr>
              <a:t>Les pays ayant connu de plus fortes baisses des emplois manufacturiers ont vu leurs inégalités régionales augmenter</a:t>
            </a:r>
          </a:p>
        </p:txBody>
      </p:sp>
      <p:sp>
        <p:nvSpPr>
          <p:cNvPr id="6" name="TextBox 5"/>
          <p:cNvSpPr txBox="1"/>
          <p:nvPr/>
        </p:nvSpPr>
        <p:spPr>
          <a:xfrm>
            <a:off x="1065079" y="6411722"/>
            <a:ext cx="8208912" cy="461665"/>
          </a:xfrm>
          <a:prstGeom prst="rect">
            <a:avLst/>
          </a:prstGeom>
          <a:noFill/>
        </p:spPr>
        <p:txBody>
          <a:bodyPr wrap="square" rtlCol="0">
            <a:spAutoFit/>
          </a:bodyPr>
          <a:lstStyle/>
          <a:p>
            <a:r>
              <a:rPr lang="en-GB" sz="1200" dirty="0" smtClean="0">
                <a:solidFill>
                  <a:srgbClr val="171717"/>
                </a:solidFill>
                <a:latin typeface="Calibri" panose="020F0502020204030204" pitchFamily="34" charset="0"/>
              </a:rPr>
              <a:t>Source : base de données de l'OCDE Regional ; et calculs de l'OCDE.</a:t>
            </a:r>
          </a:p>
        </p:txBody>
      </p:sp>
      <p:sp>
        <p:nvSpPr>
          <p:cNvPr id="18" name="TextBox 17"/>
          <p:cNvSpPr txBox="1"/>
          <p:nvPr/>
        </p:nvSpPr>
        <p:spPr>
          <a:xfrm>
            <a:off x="3777136" y="1312302"/>
            <a:ext cx="5832648" cy="492443"/>
          </a:xfrm>
          <a:prstGeom prst="rect">
            <a:avLst/>
          </a:prstGeom>
          <a:noFill/>
        </p:spPr>
        <p:txBody>
          <a:bodyPr wrap="square" rtlCol="0">
            <a:spAutoFit/>
          </a:bodyPr>
          <a:lstStyle/>
          <a:p>
            <a:r>
              <a:rPr lang="en-US" sz="1400" b="1" dirty="0" smtClean="0">
                <a:solidFill>
                  <a:schemeClr val="bg2">
                    <a:lumMod val="10000"/>
                  </a:schemeClr>
                </a:solidFill>
                <a:latin typeface="Calibri" pitchFamily="34" charset="0"/>
              </a:rPr>
              <a:t>Variation des inégalités moyennes de revenu entre régions 2000 à 2015 ou dernière année disponible, ratio des centiles 90:50, points de %</a:t>
            </a:r>
          </a:p>
        </p:txBody>
      </p:sp>
      <p:sp>
        <p:nvSpPr>
          <p:cNvPr id="19" name="TextBox 18"/>
          <p:cNvSpPr txBox="1"/>
          <p:nvPr/>
        </p:nvSpPr>
        <p:spPr>
          <a:xfrm>
            <a:off x="3344003" y="6093934"/>
            <a:ext cx="6316577" cy="492443"/>
          </a:xfrm>
          <a:prstGeom prst="rect">
            <a:avLst/>
          </a:prstGeom>
          <a:noFill/>
        </p:spPr>
        <p:txBody>
          <a:bodyPr wrap="square" rtlCol="0">
            <a:spAutoFit/>
          </a:bodyPr>
          <a:lstStyle/>
          <a:p>
            <a:r>
              <a:rPr lang="en-US" sz="1400" b="1" dirty="0" smtClean="0">
                <a:solidFill>
                  <a:schemeClr val="bg2">
                    <a:lumMod val="10000"/>
                  </a:schemeClr>
                </a:solidFill>
                <a:latin typeface="Calibri" pitchFamily="34" charset="0"/>
              </a:rPr>
              <a:t>Variation du taux d'emploi manufacturier national 2000 à 2015 ou dernière année disponible, points de %</a:t>
            </a:r>
          </a:p>
        </p:txBody>
      </p:sp>
      <p:cxnSp>
        <p:nvCxnSpPr>
          <p:cNvPr id="20" name="Straight Arrow Connector 19"/>
          <p:cNvCxnSpPr/>
          <p:nvPr/>
        </p:nvCxnSpPr>
        <p:spPr>
          <a:xfrm flipV="1">
            <a:off x="1403759" y="2239070"/>
            <a:ext cx="0" cy="1296144"/>
          </a:xfrm>
          <a:prstGeom prst="straightConnector1">
            <a:avLst/>
          </a:prstGeom>
          <a:ln w="12700">
            <a:solidFill>
              <a:schemeClr val="bg2">
                <a:lumMod val="10000"/>
              </a:schemeClr>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 y="2485347"/>
            <a:ext cx="1455962" cy="738664"/>
          </a:xfrm>
          <a:prstGeom prst="rect">
            <a:avLst/>
          </a:prstGeom>
          <a:noFill/>
        </p:spPr>
        <p:txBody>
          <a:bodyPr wrap="square" rtlCol="0">
            <a:spAutoFit/>
          </a:bodyPr>
          <a:lstStyle/>
          <a:p>
            <a:r>
              <a:rPr lang="en-US" sz="1400" b="1" dirty="0">
                <a:solidFill>
                  <a:schemeClr val="bg2">
                    <a:lumMod val="10000"/>
                  </a:schemeClr>
                </a:solidFill>
                <a:latin typeface="Calibri" panose="020F0502020204030204" pitchFamily="34" charset="0"/>
              </a:rPr>
              <a:t>Creusement de la dispersion des revenus régionaux</a:t>
            </a:r>
          </a:p>
        </p:txBody>
      </p:sp>
      <p:sp>
        <p:nvSpPr>
          <p:cNvPr id="22" name="TextBox 21"/>
          <p:cNvSpPr txBox="1"/>
          <p:nvPr/>
        </p:nvSpPr>
        <p:spPr>
          <a:xfrm>
            <a:off x="1344490" y="5273326"/>
            <a:ext cx="2343700" cy="523220"/>
          </a:xfrm>
          <a:prstGeom prst="rect">
            <a:avLst/>
          </a:prstGeom>
          <a:noFill/>
        </p:spPr>
        <p:txBody>
          <a:bodyPr wrap="square" rtlCol="0">
            <a:spAutoFit/>
          </a:bodyPr>
          <a:lstStyle/>
          <a:p>
            <a:r>
              <a:rPr lang="en-GB" sz="1400" b="1" dirty="0" smtClean="0">
                <a:solidFill>
                  <a:schemeClr val="bg2">
                    <a:lumMod val="10000"/>
                  </a:schemeClr>
                </a:solidFill>
                <a:latin typeface="Calibri" panose="020F0502020204030204" pitchFamily="34" charset="0"/>
              </a:rPr>
              <a:t>Baisse de la part des emplois manufacturiers</a:t>
            </a:r>
          </a:p>
        </p:txBody>
      </p:sp>
      <p:cxnSp>
        <p:nvCxnSpPr>
          <p:cNvPr id="23" name="Straight Arrow Connector 22"/>
          <p:cNvCxnSpPr/>
          <p:nvPr/>
        </p:nvCxnSpPr>
        <p:spPr>
          <a:xfrm flipH="1">
            <a:off x="1803890" y="5244298"/>
            <a:ext cx="1440160" cy="0"/>
          </a:xfrm>
          <a:prstGeom prst="straightConnector1">
            <a:avLst/>
          </a:prstGeom>
          <a:ln w="12700">
            <a:solidFill>
              <a:schemeClr val="bg2">
                <a:lumMod val="10000"/>
              </a:schemeClr>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857102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FCE284C4-5ED1-4D6C-B7CC-2049C3062C5E}" type="slidenum">
              <a:rPr lang="en-GB" smtClean="0"/>
              <a:t>19</a:t>
            </a:fld>
            <a:endParaRPr lang="en-GB" dirty="0"/>
          </a:p>
        </p:txBody>
      </p:sp>
      <p:sp>
        <p:nvSpPr>
          <p:cNvPr id="9" name="Rectangle 8"/>
          <p:cNvSpPr/>
          <p:nvPr/>
        </p:nvSpPr>
        <p:spPr>
          <a:xfrm>
            <a:off x="323528" y="2492896"/>
            <a:ext cx="8568952" cy="2554545"/>
          </a:xfrm>
          <a:prstGeom prst="rect">
            <a:avLst/>
          </a:prstGeom>
        </p:spPr>
        <p:txBody>
          <a:bodyPr wrap="square">
            <a:spAutoFit/>
          </a:bodyPr>
          <a:lstStyle/>
          <a:p>
            <a:r>
              <a:rPr lang="en-US" sz="4000" b="1" dirty="0" smtClean="0">
                <a:solidFill>
                  <a:srgbClr val="006299"/>
                </a:solidFill>
                <a:latin typeface="Arial"/>
              </a:rPr>
              <a:t>Une approche intégrée des politiques est nécessaire pour répondre aux tendances structurelles et faire en sorte que la mondialisation profite à tous</a:t>
            </a:r>
          </a:p>
        </p:txBody>
      </p:sp>
    </p:spTree>
    <p:extLst>
      <p:ext uri="{BB962C8B-B14F-4D97-AF65-F5344CB8AC3E}">
        <p14:creationId xmlns:p14="http://schemas.microsoft.com/office/powerpoint/2010/main" val="341896841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main.oecd.org\sdataECO\Units\FRONTOFFICE\Economic Outlooks\EO101\Data and charts\PPT_Figs_E\E_Handout_Fig_GfG_Reforms_Trade_1_2P_P2C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466" y="1803122"/>
            <a:ext cx="4277184" cy="4938246"/>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FCE284C4-5ED1-4D6C-B7CC-2049C3062C5E}" type="slidenum">
              <a:rPr lang="en-GB" smtClean="0"/>
              <a:t>20</a:t>
            </a:fld>
            <a:endParaRPr lang="en-GB" dirty="0"/>
          </a:p>
        </p:txBody>
      </p:sp>
      <p:sp>
        <p:nvSpPr>
          <p:cNvPr id="4" name="Rectangle 3"/>
          <p:cNvSpPr/>
          <p:nvPr/>
        </p:nvSpPr>
        <p:spPr>
          <a:xfrm>
            <a:off x="539552" y="246721"/>
            <a:ext cx="8509760" cy="954107"/>
          </a:xfrm>
          <a:prstGeom prst="rect">
            <a:avLst/>
          </a:prstGeom>
        </p:spPr>
        <p:txBody>
          <a:bodyPr wrap="square">
            <a:spAutoFit/>
          </a:bodyPr>
          <a:lstStyle/>
          <a:p>
            <a:r>
              <a:rPr lang="en-GB" sz="2800" b="1" dirty="0">
                <a:solidFill>
                  <a:srgbClr val="006299"/>
                </a:solidFill>
                <a:latin typeface="Arial"/>
              </a:rPr>
              <a:t>Faire mieux fonctionner le système international et créer des conditions de concurrence plus équitables</a:t>
            </a:r>
          </a:p>
        </p:txBody>
      </p:sp>
      <p:graphicFrame>
        <p:nvGraphicFramePr>
          <p:cNvPr id="16" name="Diagram 15"/>
          <p:cNvGraphicFramePr/>
          <p:nvPr>
            <p:extLst>
              <p:ext uri="{D42A27DB-BD31-4B8C-83A1-F6EECF244321}">
                <p14:modId xmlns:p14="http://schemas.microsoft.com/office/powerpoint/2010/main" val="2048557882"/>
              </p:ext>
            </p:extLst>
          </p:nvPr>
        </p:nvGraphicFramePr>
        <p:xfrm>
          <a:off x="4499992" y="1628800"/>
          <a:ext cx="4536504" cy="4896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extBox 11"/>
          <p:cNvSpPr txBox="1"/>
          <p:nvPr/>
        </p:nvSpPr>
        <p:spPr>
          <a:xfrm>
            <a:off x="298439" y="6442502"/>
            <a:ext cx="4248472" cy="415498"/>
          </a:xfrm>
          <a:prstGeom prst="rect">
            <a:avLst/>
          </a:prstGeom>
          <a:noFill/>
        </p:spPr>
        <p:txBody>
          <a:bodyPr wrap="square" rtlCol="0">
            <a:spAutoFit/>
          </a:bodyPr>
          <a:lstStyle/>
          <a:p>
            <a:r>
              <a:rPr lang="en-GB" sz="1050" dirty="0" smtClean="0">
                <a:solidFill>
                  <a:schemeClr val="bg2">
                    <a:lumMod val="10000"/>
                  </a:schemeClr>
                </a:solidFill>
                <a:latin typeface="Calibri" panose="020F0502020204030204" pitchFamily="34" charset="0"/>
              </a:rPr>
              <a:t>Note : inclut tous les pays de l'OCDE et des BRIICS, l'UE et la Colombie.</a:t>
            </a:r>
          </a:p>
          <a:p>
            <a:r>
              <a:rPr lang="en-GB" sz="1050" dirty="0" smtClean="0">
                <a:solidFill>
                  <a:schemeClr val="bg2">
                    <a:lumMod val="10000"/>
                  </a:schemeClr>
                </a:solidFill>
                <a:latin typeface="Calibri" panose="020F0502020204030204" pitchFamily="34" charset="0"/>
              </a:rPr>
              <a:t>Source : OCDE Going for Growth 2017</a:t>
            </a:r>
          </a:p>
        </p:txBody>
      </p:sp>
      <p:sp>
        <p:nvSpPr>
          <p:cNvPr id="10" name="TextBox 9"/>
          <p:cNvSpPr txBox="1"/>
          <p:nvPr/>
        </p:nvSpPr>
        <p:spPr>
          <a:xfrm>
            <a:off x="-244002" y="1323915"/>
            <a:ext cx="4824536" cy="769441"/>
          </a:xfrm>
          <a:prstGeom prst="rect">
            <a:avLst/>
          </a:prstGeom>
          <a:noFill/>
        </p:spPr>
        <p:txBody>
          <a:bodyPr wrap="square" rtlCol="0">
            <a:spAutoFit/>
          </a:bodyPr>
          <a:lstStyle/>
          <a:p>
            <a:r>
              <a:rPr lang="en-US" sz="1600" b="1" dirty="0">
                <a:solidFill>
                  <a:schemeClr val="bg2">
                    <a:lumMod val="10000"/>
                  </a:schemeClr>
                </a:solidFill>
                <a:latin typeface="Calibri" pitchFamily="34" charset="0"/>
              </a:rPr>
              <a:t>Mesures prises en réponse aux recommandations de l'OCDE Going for Growth Nombre de réformes, 2015-16</a:t>
            </a:r>
          </a:p>
        </p:txBody>
      </p:sp>
    </p:spTree>
    <p:extLst>
      <p:ext uri="{BB962C8B-B14F-4D97-AF65-F5344CB8AC3E}">
        <p14:creationId xmlns:p14="http://schemas.microsoft.com/office/powerpoint/2010/main" val="54626207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main.oecd.org\sdataECO\Units\FRONTOFFICE\Economic Outlooks\EO101\Data and charts\PPT_Figs_E\E_Handout_Fig_GfG_Reforms_Others_1_2P_P2C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1635074"/>
            <a:ext cx="8957618" cy="489027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FCE284C4-5ED1-4D6C-B7CC-2049C3062C5E}" type="slidenum">
              <a:rPr lang="en-GB" smtClean="0"/>
              <a:t>21</a:t>
            </a:fld>
            <a:endParaRPr lang="en-GB" dirty="0"/>
          </a:p>
        </p:txBody>
      </p:sp>
      <p:sp>
        <p:nvSpPr>
          <p:cNvPr id="4" name="Rectangle 3"/>
          <p:cNvSpPr/>
          <p:nvPr/>
        </p:nvSpPr>
        <p:spPr>
          <a:xfrm>
            <a:off x="467544" y="221321"/>
            <a:ext cx="8509760" cy="954107"/>
          </a:xfrm>
          <a:prstGeom prst="rect">
            <a:avLst/>
          </a:prstGeom>
        </p:spPr>
        <p:txBody>
          <a:bodyPr wrap="square">
            <a:spAutoFit/>
          </a:bodyPr>
          <a:lstStyle/>
          <a:p>
            <a:r>
              <a:rPr lang="en-US" sz="2800" b="1" dirty="0" smtClean="0">
                <a:solidFill>
                  <a:schemeClr val="tx2"/>
                </a:solidFill>
                <a:latin typeface="+mj-lt"/>
              </a:rPr>
              <a:t>Mettre en œuvre des trains de réformes intérieures pour renforcer une croissance inclusive</a:t>
            </a:r>
          </a:p>
        </p:txBody>
      </p:sp>
      <p:sp>
        <p:nvSpPr>
          <p:cNvPr id="8" name="TextBox 7"/>
          <p:cNvSpPr txBox="1"/>
          <p:nvPr/>
        </p:nvSpPr>
        <p:spPr>
          <a:xfrm>
            <a:off x="886272" y="1315367"/>
            <a:ext cx="7327056" cy="338554"/>
          </a:xfrm>
          <a:prstGeom prst="rect">
            <a:avLst/>
          </a:prstGeom>
          <a:noFill/>
        </p:spPr>
        <p:txBody>
          <a:bodyPr wrap="square" rtlCol="0">
            <a:spAutoFit/>
          </a:bodyPr>
          <a:lstStyle/>
          <a:p>
            <a:r>
              <a:rPr lang="en-US" sz="1600" b="1" dirty="0">
                <a:solidFill>
                  <a:schemeClr val="bg2">
                    <a:lumMod val="10000"/>
                  </a:schemeClr>
                </a:solidFill>
                <a:latin typeface="Calibri" pitchFamily="34" charset="0"/>
              </a:rPr>
              <a:t>Mesures prises en réponse aux recommandations de l'OCDE Going for Growth</a:t>
            </a:r>
          </a:p>
        </p:txBody>
      </p:sp>
      <p:sp>
        <p:nvSpPr>
          <p:cNvPr id="9" name="TextBox 8"/>
          <p:cNvSpPr txBox="1"/>
          <p:nvPr/>
        </p:nvSpPr>
        <p:spPr>
          <a:xfrm>
            <a:off x="755576" y="6441871"/>
            <a:ext cx="4248472" cy="415498"/>
          </a:xfrm>
          <a:prstGeom prst="rect">
            <a:avLst/>
          </a:prstGeom>
          <a:noFill/>
        </p:spPr>
        <p:txBody>
          <a:bodyPr wrap="square" rtlCol="0">
            <a:spAutoFit/>
          </a:bodyPr>
          <a:lstStyle/>
          <a:p>
            <a:r>
              <a:rPr lang="en-GB" sz="1050" dirty="0" smtClean="0">
                <a:solidFill>
                  <a:schemeClr val="bg2">
                    <a:lumMod val="10000"/>
                  </a:schemeClr>
                </a:solidFill>
                <a:latin typeface="Calibri" panose="020F0502020204030204" pitchFamily="34" charset="0"/>
              </a:rPr>
              <a:t>Note : inclut tous les pays de l'OCDE et des BRIICS, l'UE et la Colombie.</a:t>
            </a:r>
          </a:p>
          <a:p>
            <a:r>
              <a:rPr lang="en-GB" sz="1050" dirty="0" smtClean="0">
                <a:solidFill>
                  <a:schemeClr val="bg2">
                    <a:lumMod val="10000"/>
                  </a:schemeClr>
                </a:solidFill>
                <a:latin typeface="Calibri" panose="020F0502020204030204" pitchFamily="34" charset="0"/>
              </a:rPr>
              <a:t>Source : OCDE Going for Growth 2017</a:t>
            </a:r>
          </a:p>
        </p:txBody>
      </p:sp>
    </p:spTree>
    <p:extLst>
      <p:ext uri="{BB962C8B-B14F-4D97-AF65-F5344CB8AC3E}">
        <p14:creationId xmlns:p14="http://schemas.microsoft.com/office/powerpoint/2010/main" val="34472661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27584" y="243713"/>
            <a:ext cx="7920880" cy="954107"/>
          </a:xfrm>
          <a:prstGeom prst="rect">
            <a:avLst/>
          </a:prstGeom>
        </p:spPr>
        <p:txBody>
          <a:bodyPr wrap="square">
            <a:spAutoFit/>
          </a:bodyPr>
          <a:lstStyle/>
          <a:p>
            <a:r>
              <a:rPr lang="en-US" sz="2800" b="1" dirty="0" smtClean="0">
                <a:solidFill>
                  <a:schemeClr val="tx2"/>
                </a:solidFill>
                <a:latin typeface="+mj-lt"/>
              </a:rPr>
              <a:t> Aider les personnes et les travailleurs déplacés à s'adapter et à saisir de nouvelles opportunités</a:t>
            </a:r>
          </a:p>
        </p:txBody>
      </p:sp>
      <p:sp>
        <p:nvSpPr>
          <p:cNvPr id="7" name="Slide Number Placeholder 6"/>
          <p:cNvSpPr>
            <a:spLocks noGrp="1"/>
          </p:cNvSpPr>
          <p:nvPr>
            <p:ph type="sldNum" sz="quarter" idx="12"/>
          </p:nvPr>
        </p:nvSpPr>
        <p:spPr/>
        <p:txBody>
          <a:bodyPr/>
          <a:lstStyle/>
          <a:p>
            <a:fld id="{FCE284C4-5ED1-4D6C-B7CC-2049C3062C5E}" type="slidenum">
              <a:rPr lang="en-GB" smtClean="0"/>
              <a:t>22</a:t>
            </a:fld>
            <a:endParaRPr lang="en-GB" dirty="0"/>
          </a:p>
        </p:txBody>
      </p:sp>
      <p:sp>
        <p:nvSpPr>
          <p:cNvPr id="6" name="TextBox 5"/>
          <p:cNvSpPr txBox="1"/>
          <p:nvPr/>
        </p:nvSpPr>
        <p:spPr>
          <a:xfrm>
            <a:off x="792229" y="6396335"/>
            <a:ext cx="7297353" cy="461665"/>
          </a:xfrm>
          <a:prstGeom prst="rect">
            <a:avLst/>
          </a:prstGeom>
          <a:noFill/>
        </p:spPr>
        <p:txBody>
          <a:bodyPr wrap="square" rtlCol="0">
            <a:spAutoFit/>
          </a:bodyPr>
          <a:lstStyle/>
          <a:p>
            <a:r>
              <a:rPr lang="en-GB" sz="1200" dirty="0" smtClean="0">
                <a:solidFill>
                  <a:schemeClr val="bg2">
                    <a:lumMod val="10000"/>
                  </a:schemeClr>
                </a:solidFill>
                <a:latin typeface="Calibri" panose="020F0502020204030204" pitchFamily="34" charset="0"/>
              </a:rPr>
              <a:t/>
            </a:r>
          </a:p>
          <a:p>
            <a:r>
              <a:rPr lang="en-GB" sz="1200" dirty="0" smtClean="0">
                <a:solidFill>
                  <a:schemeClr val="bg2">
                    <a:lumMod val="10000"/>
                  </a:schemeClr>
                </a:solidFill>
                <a:latin typeface="Calibri" panose="020F0502020204030204" pitchFamily="34" charset="0"/>
              </a:rPr>
              <a:t>Source : OCDE Going for Growth 2017.</a:t>
            </a:r>
          </a:p>
        </p:txBody>
      </p:sp>
      <p:graphicFrame>
        <p:nvGraphicFramePr>
          <p:cNvPr id="5" name="Table 4"/>
          <p:cNvGraphicFramePr>
            <a:graphicFrameLocks noGrp="1"/>
          </p:cNvGraphicFramePr>
          <p:nvPr>
            <p:extLst>
              <p:ext uri="{D42A27DB-BD31-4B8C-83A1-F6EECF244321}">
                <p14:modId xmlns:p14="http://schemas.microsoft.com/office/powerpoint/2010/main" val="3501722210"/>
              </p:ext>
            </p:extLst>
          </p:nvPr>
        </p:nvGraphicFramePr>
        <p:xfrm>
          <a:off x="738565" y="1412772"/>
          <a:ext cx="7937892" cy="5036646"/>
        </p:xfrm>
        <a:graphic>
          <a:graphicData uri="http://schemas.openxmlformats.org/drawingml/2006/table">
            <a:tbl>
              <a:tblPr/>
              <a:tblGrid>
                <a:gridCol w="661491"/>
                <a:gridCol w="661491"/>
                <a:gridCol w="661491"/>
                <a:gridCol w="661491"/>
                <a:gridCol w="661491"/>
                <a:gridCol w="661491"/>
                <a:gridCol w="661491"/>
                <a:gridCol w="661491"/>
                <a:gridCol w="661491"/>
                <a:gridCol w="661491"/>
                <a:gridCol w="661491"/>
                <a:gridCol w="661491"/>
              </a:tblGrid>
              <a:tr h="383161">
                <a:tc gridSpan="7">
                  <a:txBody>
                    <a:bodyPr/>
                    <a:lstStyle/>
                    <a:p>
                      <a:pPr algn="l" rtl="0" fontAlgn="t"/>
                      <a:r>
                        <a:rPr lang="en-GB" sz="1600" b="0" i="1" u="none" strike="noStrike" dirty="0">
                          <a:solidFill>
                            <a:srgbClr val="171717"/>
                          </a:solidFill>
                          <a:effectLst/>
                          <a:latin typeface="Calibri"/>
                        </a:rPr>
                        <a:t> </a:t>
                      </a:r>
                    </a:p>
                  </a:txBody>
                  <a:tcPr marL="9525" marR="9525" marT="9525" marB="0">
                    <a:lnL>
                      <a:noFill/>
                    </a:lnL>
                    <a:lnR>
                      <a:noFill/>
                    </a:lnR>
                    <a:lnT>
                      <a:noFill/>
                    </a:lnT>
                    <a:lnB>
                      <a:noFill/>
                    </a:lnB>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marL="0" algn="ctr" rtl="0" eaLnBrk="1" fontAlgn="ctr" latinLnBrk="0" hangingPunct="1"/>
                      <a:r>
                        <a:rPr kumimoji="0" lang="en-GB" sz="1400" b="1" i="0" u="none" strike="noStrike" kern="1200" dirty="0">
                          <a:solidFill>
                            <a:srgbClr val="171717"/>
                          </a:solidFill>
                          <a:effectLst/>
                          <a:latin typeface="Calibri"/>
                          <a:ea typeface="+mn-ea"/>
                          <a:cs typeface="+mn-cs"/>
                        </a:rPr>
                        <a:t>Countries with </a:t>
                      </a:r>
                      <a:r>
                        <a:rPr kumimoji="0" lang="en-GB" sz="1400" b="1" i="0" u="none" strike="noStrike" kern="1200" dirty="0" smtClean="0">
                          <a:solidFill>
                            <a:srgbClr val="171717"/>
                          </a:solidFill>
                          <a:effectLst/>
                          <a:latin typeface="Calibri"/>
                          <a:ea typeface="+mn-ea"/>
                          <a:cs typeface="+mn-cs"/>
                        </a:rPr>
                        <a:t>OECD</a:t>
                      </a:r>
                      <a:r>
                        <a:rPr kumimoji="0" lang="en-GB" sz="1400" b="1" i="0" u="none" strike="noStrike" kern="1200" baseline="0" dirty="0" smtClean="0">
                          <a:solidFill>
                            <a:srgbClr val="171717"/>
                          </a:solidFill>
                          <a:effectLst/>
                          <a:latin typeface="Calibri"/>
                          <a:ea typeface="+mn-ea"/>
                          <a:cs typeface="+mn-cs"/>
                        </a:rPr>
                        <a:t> </a:t>
                      </a:r>
                      <a:br>
                        <a:rPr kumimoji="0" lang="en-GB" sz="1400" b="1" i="0" u="none" strike="noStrike" kern="1200" baseline="0" dirty="0" smtClean="0">
                          <a:solidFill>
                            <a:srgbClr val="171717"/>
                          </a:solidFill>
                          <a:effectLst/>
                          <a:latin typeface="Calibri"/>
                          <a:ea typeface="+mn-ea"/>
                          <a:cs typeface="+mn-cs"/>
                        </a:rPr>
                      </a:br>
                      <a:r>
                        <a:rPr kumimoji="0" lang="en-GB" sz="1400" b="1" i="1" u="none" strike="noStrike" kern="1200" baseline="0" dirty="0" smtClean="0">
                          <a:solidFill>
                            <a:srgbClr val="171717"/>
                          </a:solidFill>
                          <a:effectLst/>
                          <a:latin typeface="Calibri"/>
                          <a:ea typeface="+mn-ea"/>
                          <a:cs typeface="+mn-cs"/>
                        </a:rPr>
                        <a:t>Going for Growth </a:t>
                      </a:r>
                      <a:r>
                        <a:rPr kumimoji="0" lang="en-GB" sz="1400" b="1" i="0" u="none" strike="noStrike" kern="1200" dirty="0" smtClean="0">
                          <a:solidFill>
                            <a:srgbClr val="171717"/>
                          </a:solidFill>
                          <a:effectLst/>
                          <a:latin typeface="Calibri"/>
                          <a:ea typeface="+mn-ea"/>
                          <a:cs typeface="+mn-cs"/>
                        </a:rPr>
                        <a:t>reform</a:t>
                      </a:r>
                      <a:r>
                        <a:rPr kumimoji="0" lang="en-GB" sz="1400" b="1" i="0" u="none" strike="noStrike" kern="1200" baseline="0" dirty="0" smtClean="0">
                          <a:solidFill>
                            <a:srgbClr val="171717"/>
                          </a:solidFill>
                          <a:effectLst/>
                          <a:latin typeface="Calibri"/>
                          <a:ea typeface="+mn-ea"/>
                          <a:cs typeface="+mn-cs"/>
                        </a:rPr>
                        <a:t> </a:t>
                      </a:r>
                      <a:r>
                        <a:rPr kumimoji="0" lang="en-GB" sz="1400" b="1" i="0" u="none" strike="noStrike" kern="1200" dirty="0" smtClean="0">
                          <a:solidFill>
                            <a:srgbClr val="171717"/>
                          </a:solidFill>
                          <a:effectLst/>
                          <a:latin typeface="Calibri"/>
                          <a:ea typeface="+mn-ea"/>
                          <a:cs typeface="+mn-cs"/>
                        </a:rPr>
                        <a:t>priority </a:t>
                      </a:r>
                      <a:endParaRPr kumimoji="0" lang="en-GB" sz="1400" b="1" i="0" u="none" strike="noStrike" kern="1200" dirty="0">
                        <a:solidFill>
                          <a:srgbClr val="171717"/>
                        </a:solidFill>
                        <a:effectLst/>
                        <a:latin typeface="Calibri"/>
                        <a:ea typeface="+mn-ea"/>
                        <a:cs typeface="+mn-cs"/>
                      </a:endParaRPr>
                    </a:p>
                  </a:txBody>
                  <a:tcPr marL="9525" marR="9525" marT="9525" marB="0" anchor="ctr">
                    <a:lnL>
                      <a:noFill/>
                    </a:lnL>
                    <a:lnR>
                      <a:noFill/>
                    </a:lnR>
                    <a:lnT>
                      <a:noFill/>
                    </a:lnT>
                    <a:lnB w="12700" cap="flat" cmpd="sng" algn="ctr">
                      <a:solidFill>
                        <a:schemeClr val="bg2">
                          <a:lumMod val="10000"/>
                        </a:schemeClr>
                      </a:solidFill>
                      <a:prstDash val="solid"/>
                      <a:round/>
                      <a:headEnd type="none" w="med" len="med"/>
                      <a:tailEnd type="none" w="med" len="med"/>
                    </a:lnB>
                  </a:tcPr>
                </a:tc>
                <a:tc hMerge="1">
                  <a:txBody>
                    <a:bodyPr/>
                    <a:lstStyle/>
                    <a:p>
                      <a:endParaRPr lang="en-GB"/>
                    </a:p>
                  </a:txBody>
                  <a:tcPr/>
                </a:tc>
                <a:tc hMerge="1">
                  <a:txBody>
                    <a:bodyPr/>
                    <a:lstStyle/>
                    <a:p>
                      <a:endParaRPr lang="en-GB"/>
                    </a:p>
                  </a:txBody>
                  <a:tcPr/>
                </a:tc>
                <a:tc hMerge="1">
                  <a:txBody>
                    <a:bodyPr/>
                    <a:lstStyle/>
                    <a:p>
                      <a:endParaRPr lang="en-GB"/>
                    </a:p>
                  </a:txBody>
                  <a:tcPr/>
                </a:tc>
                <a:tc rowSpan="2">
                  <a:txBody>
                    <a:bodyPr/>
                    <a:lstStyle/>
                    <a:p>
                      <a:pPr algn="l" fontAlgn="ctr"/>
                      <a:endParaRPr lang="en-GB" sz="1800" b="0" i="0" u="none" strike="noStrike" dirty="0">
                        <a:solidFill>
                          <a:srgbClr val="000000"/>
                        </a:solidFill>
                        <a:effectLst/>
                        <a:latin typeface="Arial"/>
                      </a:endParaRPr>
                    </a:p>
                  </a:txBody>
                  <a:tcPr marL="9525" marR="9525" marT="9525" marB="0" anchor="ctr">
                    <a:lnL>
                      <a:noFill/>
                    </a:lnL>
                    <a:lnR>
                      <a:noFill/>
                    </a:lnR>
                    <a:lnT>
                      <a:noFill/>
                    </a:lnT>
                    <a:lnB w="12700" cap="flat" cmpd="sng" algn="ctr">
                      <a:noFill/>
                      <a:prstDash val="solid"/>
                      <a:round/>
                      <a:headEnd type="none" w="med" len="med"/>
                      <a:tailEnd type="none" w="med" len="med"/>
                    </a:lnB>
                  </a:tcPr>
                </a:tc>
              </a:tr>
              <a:tr h="395521">
                <a:tc gridSpan="7">
                  <a:txBody>
                    <a:bodyPr/>
                    <a:lstStyle/>
                    <a:p>
                      <a:pPr algn="l" rtl="0" fontAlgn="ctr"/>
                      <a:r>
                        <a:rPr kumimoji="0" lang="en-GB" sz="1800" b="1" kern="1200" dirty="0" smtClean="0">
                          <a:solidFill>
                            <a:srgbClr val="17B917"/>
                          </a:solidFill>
                          <a:latin typeface="Calibri" panose="020F0502020204030204" pitchFamily="34" charset="0"/>
                          <a:ea typeface="+mn-ea"/>
                          <a:cs typeface="+mn-cs"/>
                        </a:rPr>
                        <a:t>Help laid-off</a:t>
                      </a:r>
                      <a:r>
                        <a:rPr kumimoji="0" lang="en-GB" sz="1800" b="1" kern="1200" baseline="0" dirty="0" smtClean="0">
                          <a:solidFill>
                            <a:srgbClr val="17B917"/>
                          </a:solidFill>
                          <a:latin typeface="Calibri" panose="020F0502020204030204" pitchFamily="34" charset="0"/>
                          <a:ea typeface="+mn-ea"/>
                          <a:cs typeface="+mn-cs"/>
                        </a:rPr>
                        <a:t> workers to find a new job</a:t>
                      </a:r>
                      <a:endParaRPr lang="en-GB" sz="1800" b="1" i="0" u="none" strike="noStrike" dirty="0">
                        <a:solidFill>
                          <a:srgbClr val="171717"/>
                        </a:solidFill>
                        <a:effectLst/>
                        <a:latin typeface="Calibri"/>
                      </a:endParaRPr>
                    </a:p>
                  </a:txBody>
                  <a:tcPr marL="9525" marR="9525" marT="9525" marB="0" anchor="ctr">
                    <a:lnL>
                      <a:noFill/>
                    </a:lnL>
                    <a:lnR>
                      <a:noFill/>
                    </a:lnR>
                    <a:lnT>
                      <a:noFill/>
                    </a:lnT>
                    <a:lnB>
                      <a:noFill/>
                    </a:lnB>
                  </a:tcPr>
                </a:tc>
                <a:tc hMerge="1">
                  <a:txBody>
                    <a:bodyPr/>
                    <a:lstStyle/>
                    <a:p>
                      <a:pPr algn="l" rtl="0" fontAlgn="ctr"/>
                      <a:endParaRPr lang="en-GB" sz="1600" b="1" i="0" u="none" strike="noStrike" dirty="0">
                        <a:solidFill>
                          <a:srgbClr val="171717"/>
                        </a:solidFill>
                        <a:effectLst/>
                        <a:latin typeface="Calibri"/>
                      </a:endParaRPr>
                    </a:p>
                  </a:txBody>
                  <a:tcPr marL="9525" marR="9525" marT="9525" marB="0" anchor="ctr">
                    <a:lnL>
                      <a:noFill/>
                    </a:lnL>
                    <a:lnR>
                      <a:noFill/>
                    </a:lnR>
                    <a:lnT>
                      <a:noFill/>
                    </a:lnT>
                    <a:lnB>
                      <a:noFill/>
                    </a:lnB>
                  </a:tcPr>
                </a:tc>
                <a:tc hMerge="1">
                  <a:txBody>
                    <a:bodyPr/>
                    <a:lstStyle/>
                    <a:p>
                      <a:pPr algn="l" rtl="0" fontAlgn="ctr"/>
                      <a:endParaRPr lang="en-GB" sz="1600" b="1" i="0" u="none" strike="noStrike" dirty="0">
                        <a:solidFill>
                          <a:srgbClr val="171717"/>
                        </a:solidFill>
                        <a:effectLst/>
                        <a:latin typeface="Calibri"/>
                      </a:endParaRPr>
                    </a:p>
                  </a:txBody>
                  <a:tcPr marL="9525" marR="9525" marT="9525" marB="0" anchor="ctr">
                    <a:lnL>
                      <a:noFill/>
                    </a:lnL>
                    <a:lnR>
                      <a:noFill/>
                    </a:lnR>
                    <a:lnT>
                      <a:noFill/>
                    </a:lnT>
                    <a:lnB>
                      <a:noFill/>
                    </a:lnB>
                  </a:tcPr>
                </a:tc>
                <a:tc hMerge="1">
                  <a:txBody>
                    <a:bodyPr/>
                    <a:lstStyle/>
                    <a:p>
                      <a:pPr algn="l" rtl="0" fontAlgn="ctr"/>
                      <a:endParaRPr lang="en-GB" sz="1600" b="1" i="0" u="none" strike="noStrike" dirty="0">
                        <a:solidFill>
                          <a:srgbClr val="171717"/>
                        </a:solidFill>
                        <a:effectLst/>
                        <a:latin typeface="Calibri"/>
                      </a:endParaRPr>
                    </a:p>
                  </a:txBody>
                  <a:tcPr marL="9525" marR="9525" marT="9525" marB="0" anchor="ctr">
                    <a:lnL>
                      <a:noFill/>
                    </a:lnL>
                    <a:lnR>
                      <a:noFill/>
                    </a:lnR>
                    <a:lnT>
                      <a:noFill/>
                    </a:lnT>
                    <a:lnB>
                      <a:noFill/>
                    </a:lnB>
                  </a:tcPr>
                </a:tc>
                <a:tc hMerge="1">
                  <a:txBody>
                    <a:bodyPr/>
                    <a:lstStyle/>
                    <a:p>
                      <a:pPr algn="l" rtl="0" fontAlgn="ctr"/>
                      <a:endParaRPr lang="en-GB" sz="1600" b="1" i="0" u="none" strike="noStrike" dirty="0">
                        <a:solidFill>
                          <a:srgbClr val="171717"/>
                        </a:solidFill>
                        <a:effectLst/>
                        <a:latin typeface="Calibri"/>
                      </a:endParaRPr>
                    </a:p>
                  </a:txBody>
                  <a:tcPr marL="9525" marR="9525" marT="9525" marB="0" anchor="ctr">
                    <a:lnL>
                      <a:noFill/>
                    </a:lnL>
                    <a:lnR>
                      <a:noFill/>
                    </a:lnR>
                    <a:lnT>
                      <a:noFill/>
                    </a:lnT>
                    <a:lnB>
                      <a:noFill/>
                    </a:lnB>
                  </a:tcPr>
                </a:tc>
                <a:tc hMerge="1">
                  <a:txBody>
                    <a:bodyPr/>
                    <a:lstStyle/>
                    <a:p>
                      <a:pPr algn="l" rtl="0" fontAlgn="ctr"/>
                      <a:endParaRPr lang="en-GB" sz="1600" b="1" i="0" u="none" strike="noStrike" dirty="0">
                        <a:solidFill>
                          <a:srgbClr val="171717"/>
                        </a:solidFill>
                        <a:effectLst/>
                        <a:latin typeface="Calibri"/>
                      </a:endParaRPr>
                    </a:p>
                  </a:txBody>
                  <a:tcPr marL="9525" marR="9525" marT="9525" marB="0" anchor="ctr">
                    <a:lnL>
                      <a:noFill/>
                    </a:lnL>
                    <a:lnR>
                      <a:noFill/>
                    </a:lnR>
                    <a:lnT>
                      <a:noFill/>
                    </a:lnT>
                    <a:lnB>
                      <a:noFill/>
                    </a:lnB>
                  </a:tcPr>
                </a:tc>
                <a:tc hMerge="1">
                  <a:txBody>
                    <a:bodyPr/>
                    <a:lstStyle/>
                    <a:p>
                      <a:pPr algn="l" rtl="0" fontAlgn="ctr"/>
                      <a:endParaRPr lang="en-GB" sz="1600" b="1" i="0" u="none" strike="noStrike" dirty="0">
                        <a:solidFill>
                          <a:srgbClr val="171717"/>
                        </a:solidFill>
                        <a:effectLst/>
                        <a:latin typeface="Calibri"/>
                      </a:endParaRPr>
                    </a:p>
                  </a:txBody>
                  <a:tcPr marL="9525" marR="9525" marT="9525" marB="0" anchor="ctr">
                    <a:lnL>
                      <a:noFill/>
                    </a:lnL>
                    <a:lnR>
                      <a:noFill/>
                    </a:lnR>
                    <a:lnT>
                      <a:noFill/>
                    </a:lnT>
                    <a:lnB>
                      <a:noFill/>
                    </a:lnB>
                  </a:tcPr>
                </a:tc>
                <a:tc>
                  <a:txBody>
                    <a:bodyPr/>
                    <a:lstStyle/>
                    <a:p>
                      <a:pPr algn="ctr" rtl="0" fontAlgn="ctr"/>
                      <a:r>
                        <a:rPr lang="en-GB" sz="1400" b="1" i="0" u="none" strike="noStrike" dirty="0">
                          <a:solidFill>
                            <a:srgbClr val="171717"/>
                          </a:solidFill>
                          <a:effectLst/>
                          <a:latin typeface="Arial Narrow"/>
                        </a:rPr>
                        <a:t> </a:t>
                      </a:r>
                    </a:p>
                  </a:txBody>
                  <a:tcPr marL="9525" marR="9525" marT="9525" marB="0" anchor="ct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rgbClr val="171717"/>
                      </a:solidFill>
                      <a:prstDash val="solid"/>
                      <a:round/>
                      <a:headEnd type="none" w="med" len="med"/>
                      <a:tailEnd type="none" w="med" len="med"/>
                    </a:lnB>
                    <a:solidFill>
                      <a:srgbClr val="FFFFFF"/>
                    </a:solidFill>
                  </a:tcPr>
                </a:tc>
                <a:tc>
                  <a:txBody>
                    <a:bodyPr/>
                    <a:lstStyle/>
                    <a:p>
                      <a:pPr algn="ctr" rtl="0" fontAlgn="ctr"/>
                      <a:r>
                        <a:rPr lang="en-GB" sz="1400" b="1" i="0" u="none" strike="noStrike" dirty="0">
                          <a:solidFill>
                            <a:srgbClr val="171717"/>
                          </a:solidFill>
                          <a:effectLst/>
                          <a:latin typeface="Arial Narrow"/>
                        </a:rPr>
                        <a:t> </a:t>
                      </a:r>
                    </a:p>
                  </a:txBody>
                  <a:tcPr marL="9525" marR="9525" marT="9525" marB="0" anchor="ct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rgbClr val="171717"/>
                      </a:solidFill>
                      <a:prstDash val="solid"/>
                      <a:round/>
                      <a:headEnd type="none" w="med" len="med"/>
                      <a:tailEnd type="none" w="med" len="med"/>
                    </a:lnB>
                    <a:solidFill>
                      <a:srgbClr val="FFFFFF"/>
                    </a:solidFill>
                  </a:tcPr>
                </a:tc>
                <a:tc>
                  <a:txBody>
                    <a:bodyPr/>
                    <a:lstStyle/>
                    <a:p>
                      <a:pPr algn="ctr" rtl="0" fontAlgn="ctr"/>
                      <a:r>
                        <a:rPr lang="en-GB" sz="1400" b="1" i="0" u="none" strike="noStrike" dirty="0">
                          <a:solidFill>
                            <a:srgbClr val="171717"/>
                          </a:solidFill>
                          <a:effectLst/>
                          <a:latin typeface="Arial Narrow"/>
                        </a:rPr>
                        <a:t> </a:t>
                      </a:r>
                    </a:p>
                  </a:txBody>
                  <a:tcPr marL="9525" marR="9525" marT="9525" marB="0" anchor="ct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rgbClr val="171717"/>
                      </a:solidFill>
                      <a:prstDash val="solid"/>
                      <a:round/>
                      <a:headEnd type="none" w="med" len="med"/>
                      <a:tailEnd type="none" w="med" len="med"/>
                    </a:lnB>
                    <a:solidFill>
                      <a:srgbClr val="FFFFFF"/>
                    </a:solidFill>
                  </a:tcPr>
                </a:tc>
                <a:tc>
                  <a:txBody>
                    <a:bodyPr/>
                    <a:lstStyle/>
                    <a:p>
                      <a:pPr algn="ctr" rtl="0" fontAlgn="ctr"/>
                      <a:r>
                        <a:rPr lang="en-GB" sz="1400" b="1" i="0" u="none" strike="noStrike" dirty="0">
                          <a:solidFill>
                            <a:srgbClr val="171717"/>
                          </a:solidFill>
                          <a:effectLst/>
                          <a:latin typeface="Arial Narrow"/>
                        </a:rPr>
                        <a:t> </a:t>
                      </a:r>
                    </a:p>
                  </a:txBody>
                  <a:tcPr marL="9525" marR="9525" marT="9525" marB="0" anchor="ct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rgbClr val="171717"/>
                      </a:solidFill>
                      <a:prstDash val="solid"/>
                      <a:round/>
                      <a:headEnd type="none" w="med" len="med"/>
                      <a:tailEnd type="none" w="med" len="med"/>
                    </a:lnB>
                    <a:solidFill>
                      <a:srgbClr val="FFFFFF"/>
                    </a:solidFill>
                  </a:tcPr>
                </a:tc>
                <a:tc vMerge="1">
                  <a:txBody>
                    <a:bodyPr/>
                    <a:lstStyle/>
                    <a:p>
                      <a:pPr algn="l" fontAlgn="ctr"/>
                      <a:endParaRPr lang="en-GB" sz="1800" b="0" i="0" u="none" strike="noStrike" dirty="0">
                        <a:solidFill>
                          <a:srgbClr val="000000"/>
                        </a:solidFill>
                        <a:effectLst/>
                        <a:latin typeface="Arial"/>
                      </a:endParaRPr>
                    </a:p>
                  </a:txBody>
                  <a:tcPr marL="9525" marR="9525" marT="9525" marB="0" anchor="ctr">
                    <a:lnL>
                      <a:noFill/>
                    </a:lnL>
                    <a:lnR>
                      <a:noFill/>
                    </a:lnR>
                    <a:lnT w="12700" cap="flat" cmpd="sng" algn="ctr">
                      <a:solidFill>
                        <a:schemeClr val="tx1"/>
                      </a:solidFill>
                      <a:prstDash val="solid"/>
                      <a:round/>
                      <a:headEnd type="none" w="med" len="med"/>
                      <a:tailEnd type="none" w="med" len="med"/>
                    </a:lnT>
                    <a:lnB>
                      <a:noFill/>
                    </a:lnB>
                  </a:tcPr>
                </a:tc>
              </a:tr>
              <a:tr h="766321">
                <a:tc gridSpan="7">
                  <a:txBody>
                    <a:bodyPr/>
                    <a:lstStyle/>
                    <a:p>
                      <a:pPr algn="l" rtl="0" fontAlgn="ctr"/>
                      <a:r>
                        <a:rPr lang="en-US" sz="1600" b="1" i="0" u="none" strike="noStrike" dirty="0" smtClean="0">
                          <a:solidFill>
                            <a:schemeClr val="bg2">
                              <a:lumMod val="10000"/>
                            </a:schemeClr>
                          </a:solidFill>
                          <a:effectLst/>
                          <a:latin typeface="Calibri"/>
                        </a:rPr>
                        <a:t>Increase the scope and efficiency of active labour market policies</a:t>
                      </a:r>
                    </a:p>
                  </a:txBody>
                  <a:tcPr marL="9525" marR="9525" marT="9525" marB="0" anchor="ctr">
                    <a:lnL>
                      <a:noFill/>
                    </a:lnL>
                    <a:lnR w="12700" cap="flat" cmpd="sng" algn="ctr">
                      <a:solidFill>
                        <a:srgbClr val="171717"/>
                      </a:solidFill>
                      <a:prstDash val="solid"/>
                      <a:round/>
                      <a:headEnd type="none" w="med" len="med"/>
                      <a:tailEnd type="none" w="med" len="med"/>
                    </a:lnR>
                    <a:lnT>
                      <a:noFill/>
                    </a:lnT>
                    <a:lnB>
                      <a:noFill/>
                    </a:lnB>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gridSpan="4">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GB" sz="1400" b="1" kern="1200" dirty="0" smtClean="0">
                          <a:solidFill>
                            <a:schemeClr val="bg2">
                              <a:lumMod val="10000"/>
                            </a:schemeClr>
                          </a:solidFill>
                          <a:latin typeface="Arial Narrow" panose="020B0606020202030204" pitchFamily="34" charset="0"/>
                          <a:ea typeface="+mn-ea"/>
                          <a:cs typeface="+mn-cs"/>
                        </a:rPr>
                        <a:t>ARG ESP EST GBR GRC ISR ITA JPN LTU LUX LVA NLD SVN SVK USA ZAF</a:t>
                      </a:r>
                      <a:endParaRPr kumimoji="0" lang="en-GB" sz="1400" b="1" kern="1200" dirty="0">
                        <a:solidFill>
                          <a:schemeClr val="bg2">
                            <a:lumMod val="10000"/>
                          </a:schemeClr>
                        </a:solidFill>
                        <a:latin typeface="Arial Narrow" panose="020B0606020202030204" pitchFamily="34" charset="0"/>
                        <a:ea typeface="+mn-ea"/>
                        <a:cs typeface="+mn-cs"/>
                      </a:endParaRPr>
                    </a:p>
                  </a:txBody>
                  <a:tcPr marL="9525" marR="9525" marT="9525" marB="0" anchor="ctr">
                    <a:lnL w="12700" cap="flat" cmpd="sng" algn="ctr">
                      <a:solidFill>
                        <a:srgbClr val="171717"/>
                      </a:solidFill>
                      <a:prstDash val="solid"/>
                      <a:round/>
                      <a:headEnd type="none" w="med" len="med"/>
                      <a:tailEnd type="none" w="med" len="med"/>
                    </a:lnL>
                    <a:lnR w="12700" cap="flat" cmpd="sng" algn="ctr">
                      <a:solidFill>
                        <a:srgbClr val="171717"/>
                      </a:solidFill>
                      <a:prstDash val="solid"/>
                      <a:round/>
                      <a:headEnd type="none" w="med" len="med"/>
                      <a:tailEnd type="none" w="med" len="med"/>
                    </a:lnR>
                    <a:lnT w="12700" cap="flat" cmpd="sng" algn="ctr">
                      <a:solidFill>
                        <a:srgbClr val="171717"/>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solidFill>
                      <a:srgbClr val="FFFFFF"/>
                    </a:solidFill>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l" fontAlgn="ctr"/>
                      <a:endParaRPr lang="en-GB" sz="1800" b="0" i="0" u="none" strike="noStrike" dirty="0">
                        <a:solidFill>
                          <a:srgbClr val="000000"/>
                        </a:solidFill>
                        <a:effectLst/>
                        <a:latin typeface="Arial"/>
                      </a:endParaRPr>
                    </a:p>
                  </a:txBody>
                  <a:tcPr marL="9525" marR="9525" marT="9525" marB="0" anchor="ctr">
                    <a:lnL w="12700" cap="flat" cmpd="sng" algn="ctr">
                      <a:solidFill>
                        <a:srgbClr val="171717"/>
                      </a:solidFill>
                      <a:prstDash val="solid"/>
                      <a:round/>
                      <a:headEnd type="none" w="med" len="med"/>
                      <a:tailEnd type="none" w="med" len="med"/>
                    </a:lnL>
                    <a:lnR>
                      <a:noFill/>
                    </a:lnR>
                    <a:lnT>
                      <a:noFill/>
                    </a:lnT>
                    <a:lnB>
                      <a:noFill/>
                    </a:lnB>
                  </a:tcPr>
                </a:tc>
              </a:tr>
              <a:tr h="395521">
                <a:tc>
                  <a:txBody>
                    <a:bodyPr/>
                    <a:lstStyle/>
                    <a:p>
                      <a:pPr algn="l" fontAlgn="ctr"/>
                      <a:endParaRPr lang="en-GB" sz="1800" b="0" i="0" u="none" strike="noStrike" dirty="0">
                        <a:solidFill>
                          <a:srgbClr val="000000"/>
                        </a:solidFill>
                        <a:effectLst/>
                        <a:latin typeface="Arial"/>
                      </a:endParaRPr>
                    </a:p>
                  </a:txBody>
                  <a:tcPr marL="9525" marR="9525" marT="9525" marB="0" anchor="ctr">
                    <a:lnL>
                      <a:noFill/>
                    </a:lnL>
                    <a:lnR>
                      <a:noFill/>
                    </a:lnR>
                    <a:lnT>
                      <a:noFill/>
                    </a:lnT>
                    <a:lnB>
                      <a:noFill/>
                    </a:lnB>
                  </a:tcPr>
                </a:tc>
                <a:tc>
                  <a:txBody>
                    <a:bodyPr/>
                    <a:lstStyle/>
                    <a:p>
                      <a:pPr algn="l" fontAlgn="ctr"/>
                      <a:endParaRPr lang="en-GB" sz="1800" b="0" i="0" u="none" strike="noStrike" dirty="0">
                        <a:solidFill>
                          <a:srgbClr val="000000"/>
                        </a:solidFill>
                        <a:effectLst/>
                        <a:latin typeface="Arial"/>
                      </a:endParaRPr>
                    </a:p>
                  </a:txBody>
                  <a:tcPr marL="9525" marR="9525" marT="9525" marB="0" anchor="ctr">
                    <a:lnL>
                      <a:noFill/>
                    </a:lnL>
                    <a:lnR>
                      <a:noFill/>
                    </a:lnR>
                    <a:lnT>
                      <a:noFill/>
                    </a:lnT>
                    <a:lnB>
                      <a:noFill/>
                    </a:lnB>
                  </a:tcPr>
                </a:tc>
                <a:tc>
                  <a:txBody>
                    <a:bodyPr/>
                    <a:lstStyle/>
                    <a:p>
                      <a:pPr algn="l" fontAlgn="ctr"/>
                      <a:endParaRPr lang="en-GB" sz="1800" b="0" i="0" u="none" strike="noStrike" dirty="0">
                        <a:solidFill>
                          <a:srgbClr val="000000"/>
                        </a:solidFill>
                        <a:effectLst/>
                        <a:latin typeface="Arial"/>
                      </a:endParaRPr>
                    </a:p>
                  </a:txBody>
                  <a:tcPr marL="9525" marR="9525" marT="9525" marB="0" anchor="ctr">
                    <a:lnL>
                      <a:noFill/>
                    </a:lnL>
                    <a:lnR>
                      <a:noFill/>
                    </a:lnR>
                    <a:lnT>
                      <a:noFill/>
                    </a:lnT>
                    <a:lnB>
                      <a:noFill/>
                    </a:lnB>
                  </a:tcPr>
                </a:tc>
                <a:tc>
                  <a:txBody>
                    <a:bodyPr/>
                    <a:lstStyle/>
                    <a:p>
                      <a:pPr algn="l" fontAlgn="ctr"/>
                      <a:endParaRPr lang="en-GB" sz="1800" b="0" i="0" u="none" strike="noStrike" dirty="0">
                        <a:solidFill>
                          <a:srgbClr val="000000"/>
                        </a:solidFill>
                        <a:effectLst/>
                        <a:latin typeface="Arial"/>
                      </a:endParaRPr>
                    </a:p>
                  </a:txBody>
                  <a:tcPr marL="9525" marR="9525" marT="9525" marB="0" anchor="ctr">
                    <a:lnL>
                      <a:noFill/>
                    </a:lnL>
                    <a:lnR>
                      <a:noFill/>
                    </a:lnR>
                    <a:lnT>
                      <a:noFill/>
                    </a:lnT>
                    <a:lnB>
                      <a:noFill/>
                    </a:lnB>
                  </a:tcPr>
                </a:tc>
                <a:tc>
                  <a:txBody>
                    <a:bodyPr/>
                    <a:lstStyle/>
                    <a:p>
                      <a:pPr algn="l" fontAlgn="ctr"/>
                      <a:endParaRPr lang="en-GB" sz="1800" b="0" i="0" u="none" strike="noStrike" dirty="0">
                        <a:solidFill>
                          <a:srgbClr val="000000"/>
                        </a:solidFill>
                        <a:effectLst/>
                        <a:latin typeface="Arial"/>
                      </a:endParaRPr>
                    </a:p>
                  </a:txBody>
                  <a:tcPr marL="9525" marR="9525" marT="9525" marB="0" anchor="ctr">
                    <a:lnL>
                      <a:noFill/>
                    </a:lnL>
                    <a:lnR>
                      <a:noFill/>
                    </a:lnR>
                    <a:lnT>
                      <a:noFill/>
                    </a:lnT>
                    <a:lnB>
                      <a:noFill/>
                    </a:lnB>
                  </a:tcPr>
                </a:tc>
                <a:tc>
                  <a:txBody>
                    <a:bodyPr/>
                    <a:lstStyle/>
                    <a:p>
                      <a:pPr algn="l" fontAlgn="ctr"/>
                      <a:endParaRPr lang="en-GB" sz="1800" b="0" i="0" u="none" strike="noStrike" dirty="0">
                        <a:solidFill>
                          <a:srgbClr val="000000"/>
                        </a:solidFill>
                        <a:effectLst/>
                        <a:latin typeface="Arial"/>
                      </a:endParaRPr>
                    </a:p>
                  </a:txBody>
                  <a:tcPr marL="9525" marR="9525" marT="9525" marB="0" anchor="ctr">
                    <a:lnL>
                      <a:noFill/>
                    </a:lnL>
                    <a:lnR>
                      <a:noFill/>
                    </a:lnR>
                    <a:lnT>
                      <a:noFill/>
                    </a:lnT>
                    <a:lnB>
                      <a:noFill/>
                    </a:lnB>
                  </a:tcPr>
                </a:tc>
                <a:tc>
                  <a:txBody>
                    <a:bodyPr/>
                    <a:lstStyle/>
                    <a:p>
                      <a:pPr algn="ctr" rtl="0" fontAlgn="ctr"/>
                      <a:endParaRPr lang="en-GB" sz="1400" b="0" i="0" u="none" strike="noStrike" dirty="0">
                        <a:solidFill>
                          <a:srgbClr val="171717"/>
                        </a:solidFill>
                        <a:effectLst/>
                        <a:latin typeface="Calibri"/>
                      </a:endParaRPr>
                    </a:p>
                  </a:txBody>
                  <a:tcPr marL="9525" marR="9525" marT="9525" marB="0" anchor="ctr">
                    <a:lnL>
                      <a:noFill/>
                    </a:lnL>
                    <a:lnR>
                      <a:noFill/>
                    </a:lnR>
                    <a:lnT>
                      <a:noFill/>
                    </a:lnT>
                    <a:lnB>
                      <a:noFill/>
                    </a:lnB>
                  </a:tcPr>
                </a:tc>
                <a:tc>
                  <a:txBody>
                    <a:bodyPr/>
                    <a:lstStyle/>
                    <a:p>
                      <a:pPr algn="ctr" fontAlgn="ctr"/>
                      <a:r>
                        <a:rPr lang="en-GB" sz="1800" b="0" i="0" u="none" strike="noStrike" dirty="0">
                          <a:solidFill>
                            <a:srgbClr val="000000"/>
                          </a:solidFill>
                          <a:effectLst/>
                          <a:latin typeface="Arial"/>
                        </a:rPr>
                        <a:t> </a:t>
                      </a:r>
                    </a:p>
                  </a:txBody>
                  <a:tcPr marL="9525" marR="9525" marT="9525" marB="0" anchor="ct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GB" sz="1800" b="0" i="0" u="none" strike="noStrike" dirty="0">
                          <a:solidFill>
                            <a:srgbClr val="000000"/>
                          </a:solidFill>
                          <a:effectLst/>
                          <a:latin typeface="Arial"/>
                        </a:rPr>
                        <a:t> </a:t>
                      </a:r>
                    </a:p>
                  </a:txBody>
                  <a:tcPr marL="9525" marR="9525" marT="9525" marB="0" anchor="ct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GB" sz="1800" b="0" i="0" u="none" strike="noStrike" dirty="0">
                          <a:solidFill>
                            <a:srgbClr val="000000"/>
                          </a:solidFill>
                          <a:effectLst/>
                          <a:latin typeface="Arial"/>
                        </a:rPr>
                        <a:t> </a:t>
                      </a:r>
                    </a:p>
                  </a:txBody>
                  <a:tcPr marL="9525" marR="9525" marT="9525" marB="0" anchor="ct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GB" sz="1800" b="0" i="0" u="none" strike="noStrike" dirty="0">
                          <a:solidFill>
                            <a:srgbClr val="000000"/>
                          </a:solidFill>
                          <a:effectLst/>
                          <a:latin typeface="Arial"/>
                        </a:rPr>
                        <a:t> </a:t>
                      </a:r>
                    </a:p>
                  </a:txBody>
                  <a:tcPr marL="9525" marR="9525" marT="9525" marB="0" anchor="ct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GB" sz="1800" b="0" i="0" u="none" strike="noStrike" dirty="0">
                        <a:solidFill>
                          <a:srgbClr val="000000"/>
                        </a:solidFill>
                        <a:effectLst/>
                        <a:latin typeface="Arial"/>
                      </a:endParaRPr>
                    </a:p>
                  </a:txBody>
                  <a:tcPr marL="9525" marR="9525" marT="9525" marB="0" anchor="ctr">
                    <a:lnL>
                      <a:noFill/>
                    </a:lnL>
                    <a:lnR>
                      <a:noFill/>
                    </a:lnR>
                    <a:lnT>
                      <a:noFill/>
                    </a:lnT>
                    <a:lnB>
                      <a:noFill/>
                    </a:lnB>
                  </a:tcPr>
                </a:tc>
              </a:tr>
              <a:tr h="645193">
                <a:tc gridSpan="7">
                  <a:txBody>
                    <a:bodyPr/>
                    <a:lstStyle/>
                    <a:p>
                      <a:pPr algn="l" rtl="0" fontAlgn="ctr"/>
                      <a:r>
                        <a:rPr lang="en-US" sz="1600" b="1" i="0" u="none" strike="noStrike" dirty="0" smtClean="0">
                          <a:solidFill>
                            <a:schemeClr val="bg2">
                              <a:lumMod val="10000"/>
                            </a:schemeClr>
                          </a:solidFill>
                          <a:effectLst/>
                          <a:latin typeface="Calibri"/>
                        </a:rPr>
                        <a:t>Boost job creation by reducing the tax wedge on </a:t>
                      </a:r>
                      <a:br>
                        <a:rPr lang="en-US" sz="1600" b="1" i="0" u="none" strike="noStrike" dirty="0" smtClean="0">
                          <a:solidFill>
                            <a:schemeClr val="bg2">
                              <a:lumMod val="10000"/>
                            </a:schemeClr>
                          </a:solidFill>
                          <a:effectLst/>
                          <a:latin typeface="Calibri"/>
                        </a:rPr>
                      </a:br>
                      <a:r>
                        <a:rPr lang="en-US" sz="1600" b="1" i="0" u="none" strike="noStrike" dirty="0" smtClean="0">
                          <a:solidFill>
                            <a:schemeClr val="bg2">
                              <a:lumMod val="10000"/>
                            </a:schemeClr>
                          </a:solidFill>
                          <a:effectLst/>
                          <a:latin typeface="Calibri"/>
                        </a:rPr>
                        <a:t>low-skilled workers </a:t>
                      </a:r>
                    </a:p>
                  </a:txBody>
                  <a:tcPr marL="9525" marR="9525" marT="9525" marB="0" anchor="ctr">
                    <a:lnL>
                      <a:noFill/>
                    </a:lnL>
                    <a:lnR w="12700" cap="flat" cmpd="sng" algn="ctr">
                      <a:solidFill>
                        <a:schemeClr val="bg2">
                          <a:lumMod val="10000"/>
                        </a:schemeClr>
                      </a:solidFill>
                      <a:prstDash val="solid"/>
                      <a:round/>
                      <a:headEnd type="none" w="med" len="med"/>
                      <a:tailEnd type="none" w="med" len="med"/>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gridSpan="4">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kumimoji="0" lang="en-GB" sz="1400" b="1" kern="1200" dirty="0" smtClean="0">
                          <a:solidFill>
                            <a:schemeClr val="bg2">
                              <a:lumMod val="10000"/>
                            </a:schemeClr>
                          </a:solidFill>
                          <a:latin typeface="Arial Narrow" panose="020B0606020202030204" pitchFamily="34" charset="0"/>
                          <a:ea typeface="+mn-ea"/>
                          <a:cs typeface="+mn-cs"/>
                        </a:rPr>
                        <a:t>BEL DEU ESP EST HUN </a:t>
                      </a:r>
                      <a:br>
                        <a:rPr kumimoji="0" lang="en-GB" sz="1400" b="1" kern="1200" dirty="0" smtClean="0">
                          <a:solidFill>
                            <a:schemeClr val="bg2">
                              <a:lumMod val="10000"/>
                            </a:schemeClr>
                          </a:solidFill>
                          <a:latin typeface="Arial Narrow" panose="020B0606020202030204" pitchFamily="34" charset="0"/>
                          <a:ea typeface="+mn-ea"/>
                          <a:cs typeface="+mn-cs"/>
                        </a:rPr>
                      </a:br>
                      <a:r>
                        <a:rPr kumimoji="0" lang="en-GB" sz="1400" b="1" kern="1200" dirty="0" smtClean="0">
                          <a:solidFill>
                            <a:schemeClr val="bg2">
                              <a:lumMod val="10000"/>
                            </a:schemeClr>
                          </a:solidFill>
                          <a:latin typeface="Arial Narrow" panose="020B0606020202030204" pitchFamily="34" charset="0"/>
                          <a:ea typeface="+mn-ea"/>
                          <a:cs typeface="+mn-cs"/>
                        </a:rPr>
                        <a:t>ITA LVA NLD POL TUR</a:t>
                      </a:r>
                      <a:endParaRPr kumimoji="0" lang="en-GB" sz="1400" b="1" kern="1200" dirty="0">
                        <a:solidFill>
                          <a:schemeClr val="bg2">
                            <a:lumMod val="10000"/>
                          </a:schemeClr>
                        </a:solidFill>
                        <a:latin typeface="Arial Narrow" panose="020B0606020202030204" pitchFamily="34" charset="0"/>
                        <a:ea typeface="+mn-ea"/>
                        <a:cs typeface="+mn-cs"/>
                      </a:endParaRPr>
                    </a:p>
                  </a:txBody>
                  <a:tcPr marL="9525" marR="9525" marT="9525" marB="0"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10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endParaRPr lang="en-GB" sz="1800" b="0" i="0" u="none" strike="noStrike" dirty="0">
                        <a:solidFill>
                          <a:srgbClr val="000000"/>
                        </a:solidFill>
                        <a:effectLst/>
                        <a:latin typeface="Arial"/>
                      </a:endParaRPr>
                    </a:p>
                  </a:txBody>
                  <a:tcPr marL="9525" marR="9525" marT="9525" marB="0" anchor="ctr">
                    <a:lnL w="12700" cap="flat" cmpd="sng" algn="ctr">
                      <a:solidFill>
                        <a:schemeClr val="bg2">
                          <a:lumMod val="10000"/>
                        </a:schemeClr>
                      </a:solidFill>
                      <a:prstDash val="solid"/>
                      <a:round/>
                      <a:headEnd type="none" w="med" len="med"/>
                      <a:tailEnd type="none" w="med" len="med"/>
                    </a:lnL>
                    <a:lnR>
                      <a:noFill/>
                    </a:lnR>
                    <a:lnT>
                      <a:noFill/>
                    </a:lnT>
                    <a:lnB>
                      <a:noFill/>
                    </a:lnB>
                  </a:tcPr>
                </a:tc>
              </a:tr>
              <a:tr h="395521">
                <a:tc gridSpan="6">
                  <a:txBody>
                    <a:bodyPr/>
                    <a:lstStyle/>
                    <a:p>
                      <a:pPr algn="l" fontAlgn="ctr"/>
                      <a:endParaRPr lang="en-GB" sz="18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gridSpan="6">
                  <a:txBody>
                    <a:bodyPr/>
                    <a:lstStyle/>
                    <a:p>
                      <a:pPr algn="ctr" rtl="0" fontAlgn="ctr"/>
                      <a:endParaRPr lang="en-GB" sz="1400" b="0" i="0" u="none" strike="noStrike" dirty="0">
                        <a:solidFill>
                          <a:srgbClr val="171717"/>
                        </a:solidFill>
                        <a:effectLst/>
                        <a:latin typeface="Calibri"/>
                      </a:endParaRPr>
                    </a:p>
                  </a:txBody>
                  <a:tcPr marL="9525" marR="9525" marT="9525" marB="0" anchor="ctr">
                    <a:lnL>
                      <a:noFill/>
                    </a:lnL>
                    <a:lnR>
                      <a:noFill/>
                    </a:lnR>
                    <a:lnT>
                      <a:noFill/>
                    </a:lnT>
                    <a:lnB>
                      <a:noFill/>
                    </a:lnB>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r>
              <a:tr h="395521">
                <a:tc gridSpan="6">
                  <a:txBody>
                    <a:bodyPr/>
                    <a:lstStyle/>
                    <a:p>
                      <a:pPr algn="l" fontAlgn="ctr"/>
                      <a:r>
                        <a:rPr kumimoji="0" lang="en-GB" b="1" kern="1200" dirty="0" smtClean="0">
                          <a:solidFill>
                            <a:srgbClr val="17B917"/>
                          </a:solidFill>
                          <a:latin typeface="Calibri" panose="020F0502020204030204" pitchFamily="34" charset="0"/>
                          <a:ea typeface="+mn-ea"/>
                          <a:cs typeface="+mn-cs"/>
                        </a:rPr>
                        <a:t>Better prepare</a:t>
                      </a:r>
                      <a:r>
                        <a:rPr kumimoji="0" lang="en-GB" b="1" kern="1200" baseline="0" dirty="0" smtClean="0">
                          <a:solidFill>
                            <a:srgbClr val="17B917"/>
                          </a:solidFill>
                          <a:latin typeface="Calibri" panose="020F0502020204030204" pitchFamily="34" charset="0"/>
                          <a:ea typeface="+mn-ea"/>
                          <a:cs typeface="+mn-cs"/>
                        </a:rPr>
                        <a:t> people</a:t>
                      </a:r>
                      <a:r>
                        <a:rPr kumimoji="0" lang="en-GB" b="1" kern="1200" dirty="0" smtClean="0">
                          <a:solidFill>
                            <a:srgbClr val="17B917"/>
                          </a:solidFill>
                          <a:latin typeface="Calibri" panose="020F0502020204030204" pitchFamily="34" charset="0"/>
                          <a:ea typeface="+mn-ea"/>
                          <a:cs typeface="+mn-cs"/>
                        </a:rPr>
                        <a:t> for work</a:t>
                      </a:r>
                      <a:endParaRPr lang="en-GB" sz="1800" b="0" i="0" u="none" strike="noStrike" dirty="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gridSpan="6">
                  <a:txBody>
                    <a:bodyPr/>
                    <a:lstStyle/>
                    <a:p>
                      <a:pPr algn="ctr" rtl="0" fontAlgn="ctr"/>
                      <a:endParaRPr lang="en-GB" sz="1400" b="0" i="0" u="none" strike="noStrike" dirty="0">
                        <a:solidFill>
                          <a:srgbClr val="171717"/>
                        </a:solidFill>
                        <a:effectLst/>
                        <a:latin typeface="Calibri"/>
                      </a:endParaRPr>
                    </a:p>
                  </a:txBody>
                  <a:tcPr marL="9525" marR="9525" marT="9525" marB="0" anchor="ctr">
                    <a:lnL>
                      <a:noFill/>
                    </a:lnL>
                    <a:lnR>
                      <a:noFill/>
                    </a:lnR>
                    <a:lnT>
                      <a:noFill/>
                    </a:lnT>
                    <a:lnB>
                      <a:noFill/>
                    </a:lnB>
                  </a:tcPr>
                </a:tc>
                <a:tc hMerge="1">
                  <a:txBody>
                    <a:bodyPr/>
                    <a:lstStyle/>
                    <a:p>
                      <a:endParaRPr lang="en-GB"/>
                    </a:p>
                  </a:txBody>
                  <a:tcP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a:noFill/>
                    </a:lnL>
                    <a:lnR>
                      <a:noFill/>
                    </a:lnR>
                    <a:lnT>
                      <a:noFill/>
                    </a:lnT>
                    <a:lnB>
                      <a:noFill/>
                    </a:lnB>
                  </a:tcPr>
                </a:tc>
              </a:tr>
              <a:tr h="645193">
                <a:tc gridSpan="7">
                  <a:txBody>
                    <a:bodyPr/>
                    <a:lstStyle/>
                    <a:p>
                      <a:pPr algn="l" rtl="0" fontAlgn="ctr"/>
                      <a:r>
                        <a:rPr lang="en-US" sz="1600" b="1" i="0" u="none" strike="noStrike" dirty="0" smtClean="0">
                          <a:solidFill>
                            <a:srgbClr val="171717"/>
                          </a:solidFill>
                          <a:effectLst/>
                          <a:latin typeface="Calibri"/>
                        </a:rPr>
                        <a:t>Expand and improve vocational training </a:t>
                      </a:r>
                      <a:br>
                        <a:rPr lang="en-US" sz="1600" b="1" i="0" u="none" strike="noStrike" dirty="0" smtClean="0">
                          <a:solidFill>
                            <a:srgbClr val="171717"/>
                          </a:solidFill>
                          <a:effectLst/>
                          <a:latin typeface="Calibri"/>
                        </a:rPr>
                      </a:br>
                      <a:r>
                        <a:rPr lang="en-US" sz="1600" b="1" i="0" u="none" strike="noStrike" dirty="0" smtClean="0">
                          <a:solidFill>
                            <a:srgbClr val="171717"/>
                          </a:solidFill>
                          <a:effectLst/>
                          <a:latin typeface="Calibri"/>
                        </a:rPr>
                        <a:t>and education</a:t>
                      </a:r>
                      <a:endParaRPr lang="en-US" sz="1600" b="1" i="0" u="none" strike="noStrike" dirty="0">
                        <a:solidFill>
                          <a:srgbClr val="171717"/>
                        </a:solidFill>
                        <a:effectLst/>
                        <a:latin typeface="Calibri"/>
                      </a:endParaRPr>
                    </a:p>
                  </a:txBody>
                  <a:tcPr marL="9525" marR="9525" marT="9525" marB="0" anchor="ctr">
                    <a:lnL>
                      <a:noFill/>
                    </a:lnL>
                    <a:lnR w="12700" cap="flat" cmpd="sng" algn="ctr">
                      <a:solidFill>
                        <a:schemeClr val="bg2">
                          <a:lumMod val="10000"/>
                        </a:schemeClr>
                      </a:solidFill>
                      <a:prstDash val="solid"/>
                      <a:round/>
                      <a:headEnd type="none" w="med" len="med"/>
                      <a:tailEnd type="none" w="med" len="med"/>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gridSpan="4">
                  <a:txBody>
                    <a:bodyPr/>
                    <a:lstStyle/>
                    <a:p>
                      <a:pPr algn="ctr" rtl="0" fontAlgn="ctr"/>
                      <a:r>
                        <a:rPr lang="en-GB" sz="1400" b="1" i="0" u="none" strike="noStrike" dirty="0" smtClean="0">
                          <a:solidFill>
                            <a:srgbClr val="171717"/>
                          </a:solidFill>
                          <a:effectLst/>
                          <a:latin typeface="Arial Narrow"/>
                        </a:rPr>
                        <a:t>ARG BRA CHN DNK ESP EST FRA GBR GRC IND POL PRT TUR ZAF</a:t>
                      </a:r>
                      <a:endParaRPr lang="en-GB" sz="1400" b="1" i="0" u="none" strike="noStrike" dirty="0">
                        <a:solidFill>
                          <a:srgbClr val="171717"/>
                        </a:solidFill>
                        <a:effectLst/>
                        <a:latin typeface="Arial Narrow"/>
                      </a:endParaRPr>
                    </a:p>
                  </a:txBody>
                  <a:tcPr marL="9525" marR="9525" marT="9525" marB="0"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10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endParaRPr lang="en-GB" sz="1400" b="1" i="0" u="none" strike="noStrike" dirty="0">
                        <a:solidFill>
                          <a:srgbClr val="171717"/>
                        </a:solidFill>
                        <a:effectLst/>
                        <a:latin typeface="Arial Narrow"/>
                      </a:endParaRPr>
                    </a:p>
                  </a:txBody>
                  <a:tcPr marL="9525" marR="9525" marT="9525" marB="0" anchor="ctr">
                    <a:lnL w="12700" cap="flat" cmpd="sng" algn="ctr">
                      <a:solidFill>
                        <a:schemeClr val="bg2">
                          <a:lumMod val="10000"/>
                        </a:schemeClr>
                      </a:solidFill>
                      <a:prstDash val="solid"/>
                      <a:round/>
                      <a:headEnd type="none" w="med" len="med"/>
                      <a:tailEnd type="none" w="med" len="med"/>
                    </a:lnL>
                    <a:lnR>
                      <a:noFill/>
                    </a:lnR>
                    <a:lnT>
                      <a:noFill/>
                    </a:lnT>
                    <a:lnB>
                      <a:noFill/>
                    </a:lnB>
                  </a:tcPr>
                </a:tc>
              </a:tr>
              <a:tr h="395521">
                <a:tc gridSpan="6">
                  <a:txBody>
                    <a:bodyPr/>
                    <a:lstStyle/>
                    <a:p>
                      <a:pPr marL="0" marR="0" indent="0" algn="l" defTabSz="914400" rtl="0" eaLnBrk="1" fontAlgn="ctr" latinLnBrk="0" hangingPunct="1">
                        <a:lnSpc>
                          <a:spcPct val="100000"/>
                        </a:lnSpc>
                        <a:spcBef>
                          <a:spcPts val="0"/>
                        </a:spcBef>
                        <a:spcAft>
                          <a:spcPts val="0"/>
                        </a:spcAft>
                        <a:buClrTx/>
                        <a:buSzTx/>
                        <a:buFontTx/>
                        <a:buNone/>
                        <a:tabLst/>
                        <a:defRPr/>
                      </a:pPr>
                      <a:endParaRPr lang="en-GB" sz="1800" b="0" i="0" u="none" strike="noStrike" dirty="0" smtClean="0">
                        <a:solidFill>
                          <a:srgbClr val="000000"/>
                        </a:solidFill>
                        <a:effectLst/>
                        <a:latin typeface="Calibri" panose="020F0502020204030204" pitchFamily="34" charset="0"/>
                      </a:endParaRPr>
                    </a:p>
                  </a:txBody>
                  <a:tcPr marL="9525" marR="9525" marT="9525" marB="0" anchor="ct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a:txBody>
                    <a:bodyPr/>
                    <a:lstStyle/>
                    <a:p>
                      <a:pPr algn="l" fontAlgn="ctr"/>
                      <a:endParaRPr lang="en-GB" sz="1800" b="0" i="0" u="none" strike="noStrike" dirty="0">
                        <a:solidFill>
                          <a:srgbClr val="000000"/>
                        </a:solidFill>
                        <a:effectLst/>
                        <a:latin typeface="Arial"/>
                      </a:endParaRPr>
                    </a:p>
                  </a:txBody>
                  <a:tcPr marL="9525" marR="9525" marT="9525" marB="0" anchor="ctr">
                    <a:lnL>
                      <a:noFill/>
                    </a:lnL>
                    <a:lnR>
                      <a:noFill/>
                    </a:lnR>
                    <a:lnT>
                      <a:noFill/>
                    </a:lnT>
                    <a:lnB>
                      <a:noFill/>
                    </a:lnB>
                  </a:tcPr>
                </a:tc>
                <a:tc>
                  <a:txBody>
                    <a:bodyPr/>
                    <a:lstStyle/>
                    <a:p>
                      <a:pPr algn="ctr" rtl="0" fontAlgn="ctr"/>
                      <a:r>
                        <a:rPr lang="en-GB" sz="1400" b="1" i="0" u="none" strike="noStrike" dirty="0">
                          <a:solidFill>
                            <a:srgbClr val="171717"/>
                          </a:solidFill>
                          <a:effectLst/>
                          <a:latin typeface="Arial Narrow"/>
                        </a:rPr>
                        <a:t> </a:t>
                      </a:r>
                    </a:p>
                  </a:txBody>
                  <a:tcPr marL="9525" marR="9525" marT="9525" marB="0" anchor="ct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400" b="1" i="0" u="none" strike="noStrike" dirty="0">
                          <a:solidFill>
                            <a:srgbClr val="171717"/>
                          </a:solidFill>
                          <a:effectLst/>
                          <a:latin typeface="Arial Narrow"/>
                        </a:rPr>
                        <a:t> </a:t>
                      </a:r>
                    </a:p>
                  </a:txBody>
                  <a:tcPr marL="9525" marR="9525" marT="9525" marB="0" anchor="ct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400" b="1" i="0" u="none" strike="noStrike" dirty="0">
                          <a:solidFill>
                            <a:srgbClr val="171717"/>
                          </a:solidFill>
                          <a:effectLst/>
                          <a:latin typeface="Arial Narrow"/>
                        </a:rPr>
                        <a:t> </a:t>
                      </a:r>
                    </a:p>
                  </a:txBody>
                  <a:tcPr marL="9525" marR="9525" marT="9525" marB="0" anchor="ct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400" b="1" i="0" u="none" strike="noStrike" dirty="0">
                          <a:solidFill>
                            <a:srgbClr val="171717"/>
                          </a:solidFill>
                          <a:effectLst/>
                          <a:latin typeface="Arial Narrow"/>
                        </a:rPr>
                        <a:t> </a:t>
                      </a:r>
                    </a:p>
                  </a:txBody>
                  <a:tcPr marL="9525" marR="9525" marT="9525" marB="0" anchor="ctr">
                    <a:lnL>
                      <a:noFill/>
                    </a:lnL>
                    <a:lnR>
                      <a:noFill/>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endParaRPr lang="en-GB" sz="1800" b="0" i="0" u="none" strike="noStrike" dirty="0">
                        <a:solidFill>
                          <a:srgbClr val="000000"/>
                        </a:solidFill>
                        <a:effectLst/>
                        <a:latin typeface="Arial"/>
                      </a:endParaRPr>
                    </a:p>
                  </a:txBody>
                  <a:tcPr marL="9525" marR="9525" marT="9525" marB="0" anchor="ctr">
                    <a:lnL>
                      <a:noFill/>
                    </a:lnL>
                    <a:lnR>
                      <a:noFill/>
                    </a:lnR>
                    <a:lnT>
                      <a:noFill/>
                    </a:lnT>
                    <a:lnB>
                      <a:noFill/>
                    </a:lnB>
                  </a:tcPr>
                </a:tc>
              </a:tr>
              <a:tr h="566089">
                <a:tc gridSpan="7">
                  <a:txBody>
                    <a:bodyPr/>
                    <a:lstStyle/>
                    <a:p>
                      <a:pPr algn="l" rtl="0" fontAlgn="ctr"/>
                      <a:r>
                        <a:rPr lang="en-US" sz="1600" b="1" i="0" u="none" strike="noStrike" dirty="0" smtClean="0">
                          <a:solidFill>
                            <a:srgbClr val="171717"/>
                          </a:solidFill>
                          <a:effectLst/>
                          <a:latin typeface="Calibri"/>
                        </a:rPr>
                        <a:t>Allocate education</a:t>
                      </a:r>
                      <a:r>
                        <a:rPr lang="en-US" sz="1600" b="1" i="0" u="none" strike="noStrike" baseline="0" dirty="0" smtClean="0">
                          <a:solidFill>
                            <a:srgbClr val="171717"/>
                          </a:solidFill>
                          <a:effectLst/>
                          <a:latin typeface="Calibri"/>
                        </a:rPr>
                        <a:t> </a:t>
                      </a:r>
                      <a:r>
                        <a:rPr lang="en-US" sz="1600" b="1" i="0" u="none" strike="noStrike" dirty="0" smtClean="0">
                          <a:solidFill>
                            <a:srgbClr val="171717"/>
                          </a:solidFill>
                          <a:effectLst/>
                          <a:latin typeface="Calibri"/>
                        </a:rPr>
                        <a:t>resources more equitably </a:t>
                      </a:r>
                      <a:endParaRPr lang="en-US" sz="1600" b="1" i="0" u="none" strike="noStrike" dirty="0">
                        <a:solidFill>
                          <a:srgbClr val="171717"/>
                        </a:solidFill>
                        <a:effectLst/>
                        <a:latin typeface="Calibri"/>
                      </a:endParaRPr>
                    </a:p>
                  </a:txBody>
                  <a:tcPr marL="9525" marR="9525" marT="9525" marB="0" anchor="ctr">
                    <a:lnL>
                      <a:noFill/>
                    </a:lnL>
                    <a:lnR w="12700" cap="flat" cmpd="sng" algn="ctr">
                      <a:solidFill>
                        <a:schemeClr val="bg2">
                          <a:lumMod val="10000"/>
                        </a:schemeClr>
                      </a:solidFill>
                      <a:prstDash val="solid"/>
                      <a:round/>
                      <a:headEnd type="none" w="med" len="med"/>
                      <a:tailEnd type="none" w="med" len="med"/>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a:p>
                  </a:txBody>
                  <a:tcPr>
                    <a:lnL>
                      <a:noFill/>
                    </a:lnL>
                    <a:lnR>
                      <a:noFill/>
                    </a:lnR>
                    <a:lnT>
                      <a:noFill/>
                    </a:lnT>
                    <a:lnB>
                      <a:noFill/>
                    </a:lnB>
                  </a:tcPr>
                </a:tc>
                <a:tc hMerge="1">
                  <a:txBody>
                    <a:bodyPr/>
                    <a:lstStyle/>
                    <a:p>
                      <a:endParaRPr lang="en-GB" dirty="0"/>
                    </a:p>
                  </a:txBody>
                  <a:tcPr>
                    <a:lnL>
                      <a:noFill/>
                    </a:lnL>
                    <a:lnR>
                      <a:noFill/>
                    </a:lnR>
                    <a:lnT>
                      <a:noFill/>
                    </a:lnT>
                    <a:lnB>
                      <a:noFill/>
                    </a:lnB>
                  </a:tcPr>
                </a:tc>
                <a:tc gridSpan="4">
                  <a:txBody>
                    <a:bodyPr/>
                    <a:lstStyle/>
                    <a:p>
                      <a:pPr algn="ctr" rtl="0" fontAlgn="ctr"/>
                      <a:r>
                        <a:rPr lang="en-GB" sz="1400" b="1" i="0" u="none" strike="noStrike" dirty="0" smtClean="0">
                          <a:solidFill>
                            <a:srgbClr val="171717"/>
                          </a:solidFill>
                          <a:effectLst/>
                          <a:latin typeface="Arial Narrow"/>
                        </a:rPr>
                        <a:t>CRI CZE DEU DNK FRA HUN </a:t>
                      </a:r>
                      <a:br>
                        <a:rPr lang="en-GB" sz="1400" b="1" i="0" u="none" strike="noStrike" dirty="0" smtClean="0">
                          <a:solidFill>
                            <a:srgbClr val="171717"/>
                          </a:solidFill>
                          <a:effectLst/>
                          <a:latin typeface="Arial Narrow"/>
                        </a:rPr>
                      </a:br>
                      <a:r>
                        <a:rPr lang="en-GB" sz="1400" b="1" i="0" u="none" strike="noStrike" dirty="0" smtClean="0">
                          <a:solidFill>
                            <a:srgbClr val="171717"/>
                          </a:solidFill>
                          <a:effectLst/>
                          <a:latin typeface="Arial Narrow"/>
                        </a:rPr>
                        <a:t>NZL POL PRT SWE USA</a:t>
                      </a:r>
                      <a:endParaRPr lang="en-GB" sz="1400" b="1" i="0" u="none" strike="noStrike" dirty="0">
                        <a:solidFill>
                          <a:srgbClr val="171717"/>
                        </a:solidFill>
                        <a:effectLst/>
                        <a:latin typeface="Arial Narrow"/>
                      </a:endParaRPr>
                    </a:p>
                  </a:txBody>
                  <a:tcPr marL="9525" marR="9525" marT="9525" marB="0" anchor="ctr">
                    <a:lnL w="12700" cap="flat" cmpd="sng" algn="ctr">
                      <a:solidFill>
                        <a:schemeClr val="bg2">
                          <a:lumMod val="10000"/>
                        </a:schemeClr>
                      </a:solidFill>
                      <a:prstDash val="solid"/>
                      <a:round/>
                      <a:headEnd type="none" w="med" len="med"/>
                      <a:tailEnd type="none" w="med" len="med"/>
                    </a:lnL>
                    <a:lnR w="12700" cap="flat" cmpd="sng" algn="ctr">
                      <a:solidFill>
                        <a:schemeClr val="bg2">
                          <a:lumMod val="10000"/>
                        </a:schemeClr>
                      </a:solidFill>
                      <a:prstDash val="solid"/>
                      <a:round/>
                      <a:headEnd type="none" w="med" len="med"/>
                      <a:tailEnd type="none" w="med" len="med"/>
                    </a:lnR>
                    <a:lnT w="12700" cap="flat" cmpd="sng" algn="ctr">
                      <a:solidFill>
                        <a:schemeClr val="bg2">
                          <a:lumMod val="10000"/>
                        </a:schemeClr>
                      </a:solidFill>
                      <a:prstDash val="solid"/>
                      <a:round/>
                      <a:headEnd type="none" w="med" len="med"/>
                      <a:tailEnd type="none" w="med" len="med"/>
                    </a:lnT>
                    <a:lnB w="12700" cap="flat" cmpd="sng" algn="ctr">
                      <a:solidFill>
                        <a:schemeClr val="bg2">
                          <a:lumMod val="1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a:noFill/>
                    </a:lnL>
                    <a:lnR>
                      <a:noFill/>
                    </a:lnR>
                    <a:lnT w="12700" cap="flat" cmpd="sng" algn="ctr">
                      <a:solidFill>
                        <a:schemeClr val="bg2">
                          <a:lumMod val="1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a:noFill/>
                    </a:lnL>
                    <a:lnR>
                      <a:noFill/>
                    </a:lnR>
                    <a:lnT w="12700" cap="flat" cmpd="sng" algn="ctr">
                      <a:solidFill>
                        <a:schemeClr val="bg2">
                          <a:lumMod val="1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GB"/>
                    </a:p>
                  </a:txBody>
                  <a:tcPr>
                    <a:lnL>
                      <a:noFill/>
                    </a:lnL>
                    <a:lnR>
                      <a:noFill/>
                    </a:lnR>
                    <a:lnT w="12700" cap="flat" cmpd="sng" algn="ctr">
                      <a:solidFill>
                        <a:schemeClr val="bg2">
                          <a:lumMod val="1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ctr"/>
                      <a:endParaRPr lang="en-GB" sz="1800" b="0" i="0" u="none" strike="noStrike" dirty="0">
                        <a:solidFill>
                          <a:srgbClr val="000000"/>
                        </a:solidFill>
                        <a:effectLst/>
                        <a:latin typeface="Arial"/>
                      </a:endParaRPr>
                    </a:p>
                  </a:txBody>
                  <a:tcPr marL="9525" marR="9525" marT="9525" marB="0" anchor="ctr">
                    <a:lnL w="12700" cap="flat" cmpd="sng" algn="ctr">
                      <a:solidFill>
                        <a:schemeClr val="bg2">
                          <a:lumMod val="10000"/>
                        </a:schemeClr>
                      </a:solidFill>
                      <a:prstDash val="solid"/>
                      <a:round/>
                      <a:headEnd type="none" w="med" len="med"/>
                      <a:tailEnd type="none" w="med" len="med"/>
                    </a:lnL>
                    <a:lnR>
                      <a:noFill/>
                    </a:lnR>
                    <a:lnT>
                      <a:noFill/>
                    </a:lnT>
                    <a:lnB>
                      <a:noFill/>
                    </a:lnB>
                  </a:tcPr>
                </a:tc>
              </a:tr>
            </a:tbl>
          </a:graphicData>
        </a:graphic>
      </p:graphicFrame>
    </p:spTree>
    <p:extLst>
      <p:ext uri="{BB962C8B-B14F-4D97-AF65-F5344CB8AC3E}">
        <p14:creationId xmlns:p14="http://schemas.microsoft.com/office/powerpoint/2010/main" val="58372801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3568" y="238255"/>
            <a:ext cx="7920880" cy="954107"/>
          </a:xfrm>
          <a:prstGeom prst="rect">
            <a:avLst/>
          </a:prstGeom>
        </p:spPr>
        <p:txBody>
          <a:bodyPr wrap="square">
            <a:spAutoFit/>
          </a:bodyPr>
          <a:lstStyle/>
          <a:p>
            <a:r>
              <a:rPr lang="en-US" sz="2800" b="1" dirty="0" smtClean="0">
                <a:solidFill>
                  <a:srgbClr val="006299"/>
                </a:solidFill>
                <a:latin typeface="Arial"/>
              </a:rPr>
              <a:t>Agir pour renforcer une croissance inclusive et faire en sorte que la mondialisation profite à tous</a:t>
            </a:r>
          </a:p>
        </p:txBody>
      </p:sp>
      <p:sp>
        <p:nvSpPr>
          <p:cNvPr id="7" name="Slide Number Placeholder 6"/>
          <p:cNvSpPr>
            <a:spLocks noGrp="1"/>
          </p:cNvSpPr>
          <p:nvPr>
            <p:ph type="sldNum" sz="quarter" idx="12"/>
          </p:nvPr>
        </p:nvSpPr>
        <p:spPr/>
        <p:txBody>
          <a:bodyPr/>
          <a:lstStyle/>
          <a:p>
            <a:fld id="{FCE284C4-5ED1-4D6C-B7CC-2049C3062C5E}" type="slidenum">
              <a:rPr lang="en-GB" smtClean="0"/>
              <a:t>23</a:t>
            </a:fld>
            <a:endParaRPr lang="en-GB" dirty="0"/>
          </a:p>
        </p:txBody>
      </p:sp>
      <p:graphicFrame>
        <p:nvGraphicFramePr>
          <p:cNvPr id="5" name="Diagram 4"/>
          <p:cNvGraphicFramePr/>
          <p:nvPr>
            <p:extLst>
              <p:ext uri="{D42A27DB-BD31-4B8C-83A1-F6EECF244321}">
                <p14:modId xmlns:p14="http://schemas.microsoft.com/office/powerpoint/2010/main" val="2357626800"/>
              </p:ext>
            </p:extLst>
          </p:nvPr>
        </p:nvGraphicFramePr>
        <p:xfrm>
          <a:off x="539552" y="1412776"/>
          <a:ext cx="8208912" cy="50405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p:cNvSpPr txBox="1"/>
          <p:nvPr/>
        </p:nvSpPr>
        <p:spPr>
          <a:xfrm>
            <a:off x="827584" y="2564904"/>
            <a:ext cx="2664296" cy="400110"/>
          </a:xfrm>
          <a:prstGeom prst="rect">
            <a:avLst/>
          </a:prstGeom>
          <a:noFill/>
        </p:spPr>
        <p:txBody>
          <a:bodyPr wrap="square" rtlCol="0">
            <a:spAutoFit/>
          </a:bodyPr>
          <a:lstStyle/>
          <a:p>
            <a:r>
              <a:rPr lang="en-US" sz="2000" b="1" dirty="0" smtClean="0">
                <a:solidFill>
                  <a:schemeClr val="bg2">
                    <a:lumMod val="10000"/>
                  </a:schemeClr>
                </a:solidFill>
                <a:latin typeface="Calibri" pitchFamily="34" charset="0"/>
              </a:rPr>
              <a:t>Politiques internationales</a:t>
            </a:r>
          </a:p>
        </p:txBody>
      </p:sp>
      <p:sp>
        <p:nvSpPr>
          <p:cNvPr id="8" name="TextBox 7"/>
          <p:cNvSpPr txBox="1"/>
          <p:nvPr/>
        </p:nvSpPr>
        <p:spPr>
          <a:xfrm>
            <a:off x="395536" y="5063698"/>
            <a:ext cx="2664296" cy="400110"/>
          </a:xfrm>
          <a:prstGeom prst="rect">
            <a:avLst/>
          </a:prstGeom>
          <a:noFill/>
        </p:spPr>
        <p:txBody>
          <a:bodyPr wrap="square" rtlCol="0">
            <a:spAutoFit/>
          </a:bodyPr>
          <a:lstStyle/>
          <a:p>
            <a:r>
              <a:rPr lang="en-US" sz="2000" b="1" dirty="0" smtClean="0">
                <a:solidFill>
                  <a:schemeClr val="bg2">
                    <a:lumMod val="10000"/>
                  </a:schemeClr>
                </a:solidFill>
                <a:latin typeface="Calibri" pitchFamily="34" charset="0"/>
              </a:rPr>
              <a:t>Politiques intérieures</a:t>
            </a:r>
          </a:p>
        </p:txBody>
      </p:sp>
    </p:spTree>
    <p:extLst>
      <p:ext uri="{BB962C8B-B14F-4D97-AF65-F5344CB8AC3E}">
        <p14:creationId xmlns:p14="http://schemas.microsoft.com/office/powerpoint/2010/main" val="167307139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ECD_English_white">
  <a:themeElements>
    <a:clrScheme name="OECD white">
      <a:dk1>
        <a:srgbClr val="727272"/>
      </a:dk1>
      <a:lt1>
        <a:sysClr val="window" lastClr="FFFFFF"/>
      </a:lt1>
      <a:dk2>
        <a:srgbClr val="006299"/>
      </a:dk2>
      <a:lt2>
        <a:srgbClr val="E6E6E6"/>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ECD">
      <a:majorFont>
        <a:latin typeface="Arial"/>
        <a:ea typeface=""/>
        <a:cs typeface=""/>
      </a:majorFont>
      <a:minorFont>
        <a:latin typeface="Georgia"/>
        <a:ea typeface=""/>
        <a:cs typeface=""/>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1_OECD_English_white">
  <a:themeElements>
    <a:clrScheme name="OECD white">
      <a:dk1>
        <a:srgbClr val="727272"/>
      </a:dk1>
      <a:lt1>
        <a:sysClr val="window" lastClr="FFFFFF"/>
      </a:lt1>
      <a:dk2>
        <a:srgbClr val="006299"/>
      </a:dk2>
      <a:lt2>
        <a:srgbClr val="E6E6E6"/>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ECD">
      <a:majorFont>
        <a:latin typeface="Arial"/>
        <a:ea typeface=""/>
        <a:cs typeface=""/>
      </a:majorFont>
      <a:minorFont>
        <a:latin typeface="Georgia"/>
        <a:ea typeface=""/>
        <a:cs typeface=""/>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item1.xml><?xml version="1.0" encoding="utf-8"?>
<ct:contentTypeSchema xmlns:ct="http://schemas.microsoft.com/office/2006/metadata/contentType" xmlns:ma="http://schemas.microsoft.com/office/2006/metadata/properties/metaAttributes" ct:_="" ma:_="" ma:contentTypeName="Working Document" ma:contentTypeID="0x0101008B4DD370EC31429186F3AD49F0D3098F00D44DBCB9EB4F45278CB5C9765BE5299500A4858B360C6A491AA753F8BCA47AA91000293773D153AD3C41920164F348570E54" ma:contentTypeVersion="509" ma:contentTypeDescription="Create a new document." ma:contentTypeScope="" ma:versionID="c4c89322ac7d9f1996d365e3690382e3">
  <xsd:schema xmlns:xsd="http://www.w3.org/2001/XMLSchema" xmlns:xs="http://www.w3.org/2001/XMLSchema" xmlns:p="http://schemas.microsoft.com/office/2006/metadata/properties" xmlns:ns1="http://schemas.microsoft.com/sharepoint/v3" xmlns:ns2="54c4cd27-f286-408f-9ce0-33c1e0f3ab39" xmlns:ns3="464847da-6e18-4144-8ad5-5857903e06b6" xmlns:ns4="b028c3f4-2795-4946-841c-2e1644b148e5" xmlns:ns5="c9f238dd-bb73-4aef-a7a5-d644ad823e52" xmlns:ns6="ca82dde9-3436-4d3d-bddd-d31447390034" xmlns:ns7="http://schemas.microsoft.com/sharepoint/v4" targetNamespace="http://schemas.microsoft.com/office/2006/metadata/properties" ma:root="true" ma:fieldsID="2df2112354f40aebef67c0cef3c00b8d" ns1:_="" ns2:_="" ns3:_="" ns4:_="" ns5:_="" ns6:_="" ns7:_="">
    <xsd:import namespace="http://schemas.microsoft.com/sharepoint/v3"/>
    <xsd:import namespace="54c4cd27-f286-408f-9ce0-33c1e0f3ab39"/>
    <xsd:import namespace="464847da-6e18-4144-8ad5-5857903e06b6"/>
    <xsd:import namespace="b028c3f4-2795-4946-841c-2e1644b148e5"/>
    <xsd:import namespace="c9f238dd-bb73-4aef-a7a5-d644ad823e52"/>
    <xsd:import namespace="ca82dde9-3436-4d3d-bddd-d31447390034"/>
    <xsd:import namespace="http://schemas.microsoft.com/sharepoint/v4"/>
    <xsd:element name="properties">
      <xsd:complexType>
        <xsd:sequence>
          <xsd:element name="documentManagement">
            <xsd:complexType>
              <xsd:all>
                <xsd:element ref="ns2:OECDKimStatus" minOccurs="0"/>
                <xsd:element ref="ns4:OECDProjectLookup"/>
                <xsd:element ref="ns3:_dlc_DocId" minOccurs="0"/>
                <xsd:element ref="ns3:_dlc_DocIdUrl" minOccurs="0"/>
                <xsd:element ref="ns4:OECDProjectManager" minOccurs="0"/>
                <xsd:element ref="ns4:OECDProjectMembers" minOccurs="0"/>
                <xsd:element ref="ns4:OECDTagsCache" minOccurs="0"/>
                <xsd:element ref="ns4:OECDPinnedBy" minOccurs="0"/>
                <xsd:element ref="ns5:eShareCountryTaxHTField0" minOccurs="0"/>
                <xsd:element ref="ns5:eShareTopicTaxHTField0" minOccurs="0"/>
                <xsd:element ref="ns5:eShareKeywordsTaxHTField0" minOccurs="0"/>
                <xsd:element ref="ns5:eShareCommitteeTaxHTField0" minOccurs="0"/>
                <xsd:element ref="ns5:eSharePWBTaxHTField0" minOccurs="0"/>
                <xsd:element ref="ns6:TaxCatchAll" minOccurs="0"/>
                <xsd:element ref="ns7:IconOverlay" minOccurs="0"/>
                <xsd:element ref="ns4:OECDMainProject" minOccurs="0"/>
                <xsd:element ref="ns2:OECDKimProvenance" minOccurs="0"/>
                <xsd:element ref="ns1:DocumentSetDescription" minOccurs="0"/>
                <xsd:element ref="ns3:OECDExpirationDate" minOccurs="0"/>
                <xsd:element ref="ns6:TaxCatchAllLabel" minOccurs="0"/>
                <xsd:element ref="ns2:OECDDocumentType" minOccurs="0"/>
                <xsd:element ref="ns2:OECDKimBussinessContext" minOccurs="0"/>
                <xsd:element ref="ns4:Project_x003A_ID1" minOccurs="0"/>
                <xsd:element ref="ns4:Project_x003a_Project_x0020_status" minOccurs="0"/>
                <xsd:element ref="ns4:Project_x003a_ID" minOccurs="0"/>
                <xsd:element ref="ns3:_dlc_DocIdPersistId" minOccurs="0"/>
                <xsd:element ref="ns3:bc65155f859f476689f41d2e239f3b65" minOccurs="0"/>
                <xsd:element ref="ns4:k521ff600dac4d78b40e1e44ce493525" minOccurs="0"/>
                <xsd:element ref="ns4:d6c688cd0ee448e4bbaea66e1be015fd" minOccurs="0"/>
                <xsd:element ref="ns4:g2112f02a3d4495984eca02be0a4d37c" minOccurs="0"/>
                <xsd:element ref="ns4:h8a48b2c364f47209a9f385904d38df5"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DocumentSetDescription" ma:index="33" nillable="true" ma:displayName="Description" ma:description="A description of the Document Set" ma:internalName="DocumentSetDescription" ma:readOnly="fals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4c4cd27-f286-408f-9ce0-33c1e0f3ab39" elementFormDefault="qualified">
    <xsd:import namespace="http://schemas.microsoft.com/office/2006/documentManagement/types"/>
    <xsd:import namespace="http://schemas.microsoft.com/office/infopath/2007/PartnerControls"/>
    <xsd:element name="OECDKimStatus" ma:index="7" nillable="true" ma:displayName="Kim status" ma:default="Draft" ma:description="" ma:format="Dropdown" ma:hidden="true" ma:internalName="OECDKimStatus">
      <xsd:simpleType>
        <xsd:restriction base="dms:Choice">
          <xsd:enumeration value="Draft"/>
          <xsd:enumeration value="Final"/>
        </xsd:restriction>
      </xsd:simpleType>
    </xsd:element>
    <xsd:element name="OECDKimProvenance" ma:index="30" nillable="true" ma:displayName="Kim provenance" ma:description="" ma:hidden="true" ma:internalName="OECDKimProvenance">
      <xsd:simpleType>
        <xsd:restriction base="dms:Text"/>
      </xsd:simpleType>
    </xsd:element>
    <xsd:element name="OECDDocumentType" ma:index="36" nillable="true" ma:displayName="Document Type" ma:description="" ma:hidden="true" ma:internalName="OECDDocumentType" ma:readOnly="false">
      <xsd:simpleType>
        <xsd:restriction base="dms:Text"/>
      </xsd:simpleType>
    </xsd:element>
    <xsd:element name="OECDKimBussinessContext" ma:index="37" nillable="true" ma:displayName="Kim business context" ma:description="" ma:hidden="true" ma:internalName="OECDKimBussinessContext">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64847da-6e18-4144-8ad5-5857903e06b6" elementFormDefault="qualified">
    <xsd:import namespace="http://schemas.microsoft.com/office/2006/documentManagement/types"/>
    <xsd:import namespace="http://schemas.microsoft.com/office/infopath/2007/PartnerControls"/>
    <xsd:element name="_dlc_DocId" ma:index="14" nillable="true" ma:displayName="Document ID" ma:description="" ma:hidden="true" ma:internalName="_dlc_DocId" ma:readOnly="true">
      <xsd:simpleType>
        <xsd:restriction base="dms:Text"/>
      </xsd:simpleType>
    </xsd:element>
    <xsd:element name="_dlc_DocIdUrl" ma:index="15" nillable="true" ma:displayName="Document ID" ma:description=""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OECDExpirationDate" ma:index="34" nillable="true" ma:displayName="Highlights" ma:default="" ma:description="" ma:format="DateOnly" ma:indexed="true" ma:internalName="OECDExpirationDate">
      <xsd:simpleType>
        <xsd:restriction base="dms:DateTime"/>
      </xsd:simpleType>
    </xsd:element>
    <xsd:element name="_dlc_DocIdPersistId" ma:index="42" nillable="true" ma:displayName="Persist ID" ma:description="Keep ID on add." ma:hidden="true" ma:internalName="_dlc_DocIdPersistId" ma:readOnly="true">
      <xsd:simpleType>
        <xsd:restriction base="dms:Boolean"/>
      </xsd:simpleType>
    </xsd:element>
    <xsd:element name="bc65155f859f476689f41d2e239f3b65" ma:index="43" nillable="true" ma:taxonomy="true" ma:internalName="bc65155f859f476689f41d2e239f3b65" ma:taxonomyFieldName="OECDHorizontalProjects" ma:displayName="Horizontal project" ma:default="" ma:fieldId="bc65155f-859f-4766-89f4-1d2e239f3b65" ma:taxonomyMulti="true" ma:sspId="27ec883c-a62c-444f-a935-fcddb579e39d" ma:termSetId="d3ca0e0e-65f9-44bf-9d98-5271504f6d61"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b028c3f4-2795-4946-841c-2e1644b148e5" elementFormDefault="qualified">
    <xsd:import namespace="http://schemas.microsoft.com/office/2006/documentManagement/types"/>
    <xsd:import namespace="http://schemas.microsoft.com/office/infopath/2007/PartnerControls"/>
    <xsd:element name="OECDProjectLookup" ma:index="8" ma:displayName="Project" ma:indexed="true" ma:list="8fd64a43-52c7-4b87-a931-a975dc3d108c" ma:internalName="OECDProjectLookup" ma:readOnly="false" ma:showField="OECDShortProjectName" ma:web="b028c3f4-2795-4946-841c-2e1644b148e5">
      <xsd:simpleType>
        <xsd:restriction base="dms:Unknown"/>
      </xsd:simpleType>
    </xsd:element>
    <xsd:element name="OECDProjectManager" ma:index="16" nillable="true" ma:displayName="Project manager" ma:description="" ma:hidden="true" ma:indexed="true" ma:internalName="OECDProjectManage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ECDProjectMembers" ma:index="17" nillable="true" ma:displayName="Project members" ma:description="" ma:hidden="true" ma:internalName="OECDProjectMembers" ma:readOnly="fals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ECDTagsCache" ma:index="19" nillable="true" ma:displayName="Tags cache" ma:description="" ma:hidden="true" ma:internalName="OECDTagsCache">
      <xsd:simpleType>
        <xsd:restriction base="dms:Note">
          <xsd:maxLength value="255"/>
        </xsd:restriction>
      </xsd:simpleType>
    </xsd:element>
    <xsd:element name="OECDPinnedBy" ma:index="20" nillable="true" ma:displayName="Pinned by" ma:description="" ma:hidden="true" ma:internalName="OECDPinn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ECDMainProject" ma:index="29" nillable="true" ma:displayName="Main project" ma:description="" ma:hidden="true" ma:list="8fd64a43-52c7-4b87-a931-a975dc3d108c" ma:internalName="OECDMainProject" ma:readOnly="false" ma:showField="OECDShortProjectName" ma:web="b028c3f4-2795-4946-841c-2e1644b148e5">
      <xsd:simpleType>
        <xsd:restriction base="dms:Unknown"/>
      </xsd:simpleType>
    </xsd:element>
    <xsd:element name="Project_x003A_ID1" ma:index="39" nillable="true" ma:displayName="Project:ID" ma:list="8fd64a43-52c7-4b87-a931-a975dc3d108c" ma:internalName="Project_x003A_ID1" ma:readOnly="true" ma:showField="ID" ma:web="b028c3f4-2795-4946-841c-2e1644b148e5">
      <xsd:simpleType>
        <xsd:restriction base="dms:Lookup"/>
      </xsd:simpleType>
    </xsd:element>
    <xsd:element name="Project_x003a_Project_x0020_status" ma:index="40" nillable="true" ma:displayName="Project:Project status" ma:hidden="true" ma:list="8fd64a43-52c7-4b87-a931-a975dc3d108c" ma:internalName="Project_x003A_Project_x0020_status" ma:readOnly="true" ma:showField="OECDProjectStatus" ma:web="b028c3f4-2795-4946-841c-2e1644b148e5">
      <xsd:simpleType>
        <xsd:restriction base="dms:Lookup"/>
      </xsd:simpleType>
    </xsd:element>
    <xsd:element name="Project_x003a_ID" ma:index="41" nillable="true" ma:displayName="Project:ID" ma:hidden="true" ma:list="8fd64a43-52c7-4b87-a931-a975dc3d108c" ma:internalName="Project_x003A_ID" ma:readOnly="true" ma:showField="ID" ma:web="b028c3f4-2795-4946-841c-2e1644b148e5">
      <xsd:simpleType>
        <xsd:restriction base="dms:Lookup"/>
      </xsd:simpleType>
    </xsd:element>
    <xsd:element name="k521ff600dac4d78b40e1e44ce493525" ma:index="44" nillable="true" ma:taxonomy="true" ma:internalName="k521ff600dac4d78b40e1e44ce493525" ma:taxonomyFieldName="OECDProjectOwnerStructure" ma:displayName="Project owner" ma:indexed="true" ma:readOnly="false" ma:default="" ma:fieldId="4521ff60-0dac-4d78-b40e-1e44ce493525" ma:sspId="27ec883c-a62c-444f-a935-fcddb579e39d" ma:termSetId="aeec4dcb-19ee-4bc0-941f-681845b568c9" ma:anchorId="00000000-0000-0000-0000-000000000000" ma:open="false" ma:isKeyword="false">
      <xsd:complexType>
        <xsd:sequence>
          <xsd:element ref="pc:Terms" minOccurs="0" maxOccurs="1"/>
        </xsd:sequence>
      </xsd:complexType>
    </xsd:element>
    <xsd:element name="d6c688cd0ee448e4bbaea66e1be015fd" ma:index="45" nillable="true" ma:displayName="Project partners_0" ma:hidden="true" ma:internalName="d6c688cd0ee448e4bbaea66e1be015fd">
      <xsd:simpleType>
        <xsd:restriction base="dms:Note"/>
      </xsd:simpleType>
    </xsd:element>
    <xsd:element name="g2112f02a3d4495984eca02be0a4d37c" ma:index="46" nillable="true" ma:displayName="Deliverable partners_0" ma:hidden="true" ma:internalName="g2112f02a3d4495984eca02be0a4d37c">
      <xsd:simpleType>
        <xsd:restriction base="dms:Note"/>
      </xsd:simpleType>
    </xsd:element>
    <xsd:element name="h8a48b2c364f47209a9f385904d38df5" ma:index="47" nillable="true" ma:displayName="Deliverable owner_0" ma:hidden="true" ma:internalName="h8a48b2c364f47209a9f385904d38df5">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9f238dd-bb73-4aef-a7a5-d644ad823e52" elementFormDefault="qualified">
    <xsd:import namespace="http://schemas.microsoft.com/office/2006/documentManagement/types"/>
    <xsd:import namespace="http://schemas.microsoft.com/office/infopath/2007/PartnerControls"/>
    <xsd:element name="eShareCountryTaxHTField0" ma:index="22" nillable="true" ma:displayName="eShareCountry_0" ma:description="" ma:hidden="true" ma:internalName="eShareCountryTaxHTField0">
      <xsd:simpleType>
        <xsd:restriction base="dms:Note"/>
      </xsd:simpleType>
    </xsd:element>
    <xsd:element name="eShareTopicTaxHTField0" ma:index="23" nillable="true" ma:displayName="eShareTopic_0" ma:description="" ma:hidden="true" ma:internalName="eShareTopicTaxHTField0">
      <xsd:simpleType>
        <xsd:restriction base="dms:Note"/>
      </xsd:simpleType>
    </xsd:element>
    <xsd:element name="eShareKeywordsTaxHTField0" ma:index="24" nillable="true" ma:displayName="eShareKeywords_0" ma:description="" ma:hidden="true" ma:internalName="eShareKeywordsTaxHTField0">
      <xsd:simpleType>
        <xsd:restriction base="dms:Note"/>
      </xsd:simpleType>
    </xsd:element>
    <xsd:element name="eShareCommitteeTaxHTField0" ma:index="25" nillable="true" ma:displayName="eShareCommittee_0" ma:description="" ma:hidden="true" ma:internalName="eShareCommitteeTaxHTField0">
      <xsd:simpleType>
        <xsd:restriction base="dms:Note"/>
      </xsd:simpleType>
    </xsd:element>
    <xsd:element name="eSharePWBTaxHTField0" ma:index="26" nillable="true" ma:displayName="eSharePWB_0" ma:description="" ma:hidden="true" ma:internalName="eSharePWBTaxHTField0">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a82dde9-3436-4d3d-bddd-d31447390034" elementFormDefault="qualified">
    <xsd:import namespace="http://schemas.microsoft.com/office/2006/documentManagement/types"/>
    <xsd:import namespace="http://schemas.microsoft.com/office/infopath/2007/PartnerControls"/>
    <xsd:element name="TaxCatchAll" ma:index="27" nillable="true" ma:displayName="Taxonomy Catch All Column" ma:hidden="true" ma:list="{f238c0b0-3384-41ab-af60-ab39d110a44d}" ma:internalName="TaxCatchAll" ma:showField="CatchAllData" ma:web="464847da-6e18-4144-8ad5-5857903e06b6">
      <xsd:complexType>
        <xsd:complexContent>
          <xsd:extension base="dms:MultiChoiceLookup">
            <xsd:sequence>
              <xsd:element name="Value" type="dms:Lookup" maxOccurs="unbounded" minOccurs="0" nillable="true"/>
            </xsd:sequence>
          </xsd:extension>
        </xsd:complexContent>
      </xsd:complexType>
    </xsd:element>
    <xsd:element name="TaxCatchAllLabel" ma:index="35" nillable="true" ma:displayName="Taxonomy Catch All Column1" ma:hidden="true" ma:list="{f238c0b0-3384-41ab-af60-ab39d110a44d}" ma:internalName="TaxCatchAllLabel" ma:readOnly="true" ma:showField="CatchAllDataLabel" ma:web="464847da-6e18-4144-8ad5-5857903e06b6">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8"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0" ma:displayName="Content Type"/>
        <xsd:element ref="dc:title" minOccurs="0" maxOccurs="1" ma:index="0"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CtFieldPriority xmlns="http://www.oecd.org/eshare/projectsentre/CtFieldPriority/" xmlns:i="http://www.w3.org/2001/XMLSchema-instance" NameSpaceURI="http://www.oecd.org/eshare/projectsentre/CtFieldPriority/">
  <PriorityFields xmlns:a="http://schemas.microsoft.com/2003/10/Serialization/Arrays">
    <a:string>Title</a:string>
    <a:string>FileLeafRef</a:string>
    <a:string>OECDCountry</a:string>
    <a:string>OECDTopic</a:string>
    <a:string>OECDKeywords</a:string>
  </PriorityFields>
</CtFieldPriority>
</file>

<file path=customXml/item3.xml><?xml version="1.0" encoding="utf-8"?>
<?mso-contentType ?>
<spe:Receivers xmlns:spe="http://schemas.microsoft.com/sharepoint/events"/>
</file>

<file path=customXml/item4.xml><?xml version="1.0" encoding="utf-8"?>
<?mso-contentType ?>
<SharedContentType xmlns="Microsoft.SharePoint.Taxonomy.ContentTypeSync" SourceId="27ec883c-a62c-444f-a935-fcddb579e39d" ContentTypeId="0x0101008B4DD370EC31429186F3AD49F0D3098F00D44DBCB9EB4F45278CB5C9765BE52995" PreviousValue="false"/>
</file>

<file path=customXml/item5.xml><?xml version="1.0" encoding="utf-8"?>
<p:properties xmlns:p="http://schemas.microsoft.com/office/2006/metadata/properties" xmlns:xsi="http://www.w3.org/2001/XMLSchema-instance" xmlns:pc="http://schemas.microsoft.com/office/infopath/2007/PartnerControls">
  <documentManagement>
    <bc65155f859f476689f41d2e239f3b65 xmlns="464847da-6e18-4144-8ad5-5857903e06b6">
      <Terms xmlns="http://schemas.microsoft.com/office/infopath/2007/PartnerControls"/>
    </bc65155f859f476689f41d2e239f3b65>
    <OECDProjectLookup xmlns="b028c3f4-2795-4946-841c-2e1644b148e5">34</OECDProjectLookup>
    <OECDKimBussinessContext xmlns="54c4cd27-f286-408f-9ce0-33c1e0f3ab39" xsi:nil="true"/>
    <eSharePWBTaxHTField0 xmlns="c9f238dd-bb73-4aef-a7a5-d644ad823e52">(n/a)|3adabb5f-45b7-4a20-bdde-219e8d9477af</eSharePWBTaxHTField0>
    <IconOverlay xmlns="http://schemas.microsoft.com/sharepoint/v4" xsi:nil="true"/>
    <DocumentSetDescription xmlns="http://schemas.microsoft.com/sharepoint/v3" xsi:nil="true"/>
    <OECDPinnedBy xmlns="b028c3f4-2795-4946-841c-2e1644b148e5">
      <UserInfo>
        <DisplayName/>
        <AccountId xsi:nil="true"/>
        <AccountType/>
      </UserInfo>
    </OECDPinnedBy>
    <OECDExpirationDate xmlns="464847da-6e18-4144-8ad5-5857903e06b6" xsi:nil="true"/>
    <g2112f02a3d4495984eca02be0a4d37c xmlns="b028c3f4-2795-4946-841c-2e1644b148e5" xsi:nil="true"/>
    <OECDDocumentType xmlns="54c4cd27-f286-408f-9ce0-33c1e0f3ab39" xsi:nil="true"/>
    <d6c688cd0ee448e4bbaea66e1be015fd xmlns="b028c3f4-2795-4946-841c-2e1644b148e5" xsi:nil="true"/>
    <OECDTagsCache xmlns="b028c3f4-2795-4946-841c-2e1644b148e5" xsi:nil="true"/>
    <eShareCommitteeTaxHTField0 xmlns="c9f238dd-bb73-4aef-a7a5-d644ad823e52" xsi:nil="true"/>
    <OECDProjectManager xmlns="b028c3f4-2795-4946-841c-2e1644b148e5">
      <UserInfo>
        <DisplayName/>
        <AccountId>774</AccountId>
        <AccountType/>
      </UserInfo>
    </OECDProjectManager>
    <OECDKimProvenance xmlns="54c4cd27-f286-408f-9ce0-33c1e0f3ab39" xsi:nil="true"/>
    <OECDMainProject xmlns="b028c3f4-2795-4946-841c-2e1644b148e5" xsi:nil="true"/>
    <k521ff600dac4d78b40e1e44ce493525 xmlns="b028c3f4-2795-4946-841c-2e1644b148e5">
      <Terms xmlns="http://schemas.microsoft.com/office/infopath/2007/PartnerControls">
        <TermInfo xmlns="http://schemas.microsoft.com/office/infopath/2007/PartnerControls">
          <TermName xmlns="http://schemas.microsoft.com/office/infopath/2007/PartnerControls">ECO/FO</TermName>
          <TermId xmlns="http://schemas.microsoft.com/office/infopath/2007/PartnerControls">0421869f-dd6d-4a57-aa68-f68dc47925ad</TermId>
        </TermInfo>
      </Terms>
    </k521ff600dac4d78b40e1e44ce493525>
    <OECDKimStatus xmlns="54c4cd27-f286-408f-9ce0-33c1e0f3ab39">Draft</OECDKimStatus>
    <eShareCountryTaxHTField0 xmlns="c9f238dd-bb73-4aef-a7a5-d644ad823e52" xsi:nil="true"/>
    <eShareTopicTaxHTField0 xmlns="c9f238dd-bb73-4aef-a7a5-d644ad823e52">Economic growth|9eba0011-22c6-4045-a791-62556867fb22</eShareTopicTaxHTField0>
    <eShareKeywordsTaxHTField0 xmlns="c9f238dd-bb73-4aef-a7a5-d644ad823e52">Economic Outlook|a9443a1a-b32f-49f3-97a5-13870ae66f90</eShareKeywordsTaxHTField0>
    <OECDProjectMembers xmlns="b028c3f4-2795-4946-841c-2e1644b148e5">
      <UserInfo>
        <DisplayName>MANN Catherine, ECO</DisplayName>
        <AccountId>774</AccountId>
        <AccountType/>
      </UserInfo>
      <UserInfo>
        <DisplayName>GUICHARD Stéphanie, ECO</DisplayName>
        <AccountId>229</AccountId>
        <AccountType/>
      </UserInfo>
      <UserInfo>
        <DisplayName>BARNES Sebastian, ECO</DisplayName>
        <AccountId>116</AccountId>
        <AccountType/>
      </UserInfo>
      <UserInfo>
        <DisplayName>BARNARD Geoff, ECO</DisplayName>
        <AccountId>142</AccountId>
        <AccountType/>
      </UserInfo>
      <UserInfo>
        <DisplayName>ELGHADAB Penny, ECO</DisplayName>
        <AccountId>83</AccountId>
        <AccountType/>
      </UserInfo>
      <UserInfo>
        <DisplayName>PURTELL Susan, ECO</DisplayName>
        <AccountId>71</AccountId>
        <AccountType/>
      </UserInfo>
      <UserInfo>
        <DisplayName>MENKYNA Fusako, ECO</DisplayName>
        <AccountId>478</AccountId>
        <AccountType/>
      </UserInfo>
      <UserInfo>
        <DisplayName>STOKLE Wendy, ECO</DisplayName>
        <AccountId>65</AccountId>
        <AccountType/>
      </UserInfo>
    </OECDProjectMembers>
    <TaxCatchAll xmlns="ca82dde9-3436-4d3d-bddd-d31447390034">
      <Value>43</Value>
      <Value>314</Value>
      <Value>399</Value>
      <Value>407</Value>
    </TaxCatchAll>
    <h8a48b2c364f47209a9f385904d38df5 xmlns="b028c3f4-2795-4946-841c-2e1644b148e5" xsi:nil="true"/>
  </documentManagement>
</p:properties>
</file>

<file path=customXml/item6.xml><?xml version="1.0" encoding="utf-8"?>
<?mso-contentType ?>
<FormTemplates xmlns="http://schemas.microsoft.com/sharepoint/v3/contenttype/forms">
  <Display>OECDListFormCollapsible</Display>
  <Edit>OECDListFormCollapsible</Edit>
  <New>OECDListFormCollapsible</New>
</FormTemplates>
</file>

<file path=customXml/itemProps1.xml><?xml version="1.0" encoding="utf-8"?>
<ds:datastoreItem xmlns:ds="http://schemas.openxmlformats.org/officeDocument/2006/customXml" ds:itemID="{4991A6FE-5E0A-4F82-A1EC-3DDFDB13A2F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4c4cd27-f286-408f-9ce0-33c1e0f3ab39"/>
    <ds:schemaRef ds:uri="464847da-6e18-4144-8ad5-5857903e06b6"/>
    <ds:schemaRef ds:uri="b028c3f4-2795-4946-841c-2e1644b148e5"/>
    <ds:schemaRef ds:uri="c9f238dd-bb73-4aef-a7a5-d644ad823e52"/>
    <ds:schemaRef ds:uri="ca82dde9-3436-4d3d-bddd-d31447390034"/>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57D3AFC-6D8E-4A5F-8C17-C5F4174B9291}">
  <ds:schemaRefs>
    <ds:schemaRef ds:uri="http://www.oecd.org/eshare/projectsentre/CtFieldPriority/"/>
    <ds:schemaRef ds:uri="http://schemas.microsoft.com/2003/10/Serialization/Arrays"/>
  </ds:schemaRefs>
</ds:datastoreItem>
</file>

<file path=customXml/itemProps3.xml><?xml version="1.0" encoding="utf-8"?>
<ds:datastoreItem xmlns:ds="http://schemas.openxmlformats.org/officeDocument/2006/customXml" ds:itemID="{BFE38C3E-D15A-4F60-97F7-250E70E1EA31}">
  <ds:schemaRefs>
    <ds:schemaRef ds:uri="http://schemas.microsoft.com/sharepoint/events"/>
  </ds:schemaRefs>
</ds:datastoreItem>
</file>

<file path=customXml/itemProps4.xml><?xml version="1.0" encoding="utf-8"?>
<ds:datastoreItem xmlns:ds="http://schemas.openxmlformats.org/officeDocument/2006/customXml" ds:itemID="{FD206EC9-3D5A-4486-AF89-FC69493CBCE0}">
  <ds:schemaRefs>
    <ds:schemaRef ds:uri="Microsoft.SharePoint.Taxonomy.ContentTypeSync"/>
  </ds:schemaRefs>
</ds:datastoreItem>
</file>

<file path=customXml/itemProps5.xml><?xml version="1.0" encoding="utf-8"?>
<ds:datastoreItem xmlns:ds="http://schemas.openxmlformats.org/officeDocument/2006/customXml" ds:itemID="{C09397EE-C9A3-4290-85EF-2ACE6E5A9E27}">
  <ds:schemaRefs>
    <ds:schemaRef ds:uri="http://schemas.microsoft.com/office/2006/documentManagement/types"/>
    <ds:schemaRef ds:uri="http://schemas.microsoft.com/office/infopath/2007/PartnerControls"/>
    <ds:schemaRef ds:uri="http://schemas.openxmlformats.org/package/2006/metadata/core-properties"/>
    <ds:schemaRef ds:uri="54c4cd27-f286-408f-9ce0-33c1e0f3ab39"/>
    <ds:schemaRef ds:uri="http://schemas.microsoft.com/office/2006/metadata/properties"/>
    <ds:schemaRef ds:uri="http://purl.org/dc/elements/1.1/"/>
    <ds:schemaRef ds:uri="464847da-6e18-4144-8ad5-5857903e06b6"/>
    <ds:schemaRef ds:uri="b028c3f4-2795-4946-841c-2e1644b148e5"/>
    <ds:schemaRef ds:uri="http://schemas.microsoft.com/sharepoint/v4"/>
    <ds:schemaRef ds:uri="ca82dde9-3436-4d3d-bddd-d31447390034"/>
    <ds:schemaRef ds:uri="http://www.w3.org/XML/1998/namespace"/>
    <ds:schemaRef ds:uri="http://purl.org/dc/terms/"/>
    <ds:schemaRef ds:uri="c9f238dd-bb73-4aef-a7a5-d644ad823e52"/>
    <ds:schemaRef ds:uri="http://schemas.microsoft.com/sharepoint/v3"/>
    <ds:schemaRef ds:uri="http://purl.org/dc/dcmitype/"/>
  </ds:schemaRefs>
</ds:datastoreItem>
</file>

<file path=customXml/itemProps6.xml><?xml version="1.0" encoding="utf-8"?>
<ds:datastoreItem xmlns:ds="http://schemas.openxmlformats.org/officeDocument/2006/customXml" ds:itemID="{003DD83D-4AB0-4B12-ADA5-F949E8BC24F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OECD_English_white</Template>
  <TotalTime>29205</TotalTime>
  <Words>1189</Words>
  <Application>Microsoft Office PowerPoint</Application>
  <PresentationFormat>On-screen Show (4:3)</PresentationFormat>
  <Paragraphs>187</Paragraphs>
  <Slides>23</Slides>
  <Notes>12</Notes>
  <HiddenSlides>0</HiddenSlides>
  <MMClips>0</MMClips>
  <ScaleCrop>false</ScaleCrop>
  <HeadingPairs>
    <vt:vector size="4" baseType="variant">
      <vt:variant>
        <vt:lpstr>Theme</vt:lpstr>
      </vt:variant>
      <vt:variant>
        <vt:i4>2</vt:i4>
      </vt:variant>
      <vt:variant>
        <vt:lpstr>Slide Titles</vt:lpstr>
      </vt:variant>
      <vt:variant>
        <vt:i4>23</vt:i4>
      </vt:variant>
    </vt:vector>
  </HeadingPairs>
  <TitlesOfParts>
    <vt:vector size="25" baseType="lpstr">
      <vt:lpstr>OECD_English_white</vt:lpstr>
      <vt:lpstr>1_OECD_English_white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Job losses have centred on  people with mid-level skills</vt:lpstr>
      <vt:lpstr>PowerPoint Presentation</vt:lpstr>
      <vt:lpstr>Manufacturing job losses and role for  Technology &amp; Consumer Preferences vs Trade</vt:lpstr>
      <vt:lpstr>Decline in manufacturing matters because activity is regionally concentrated</vt:lpstr>
      <vt:lpstr>Countries with larger falls in manufacturing jobs have increased regional inequality</vt:lpstr>
      <vt:lpstr>PowerPoint Presentation</vt:lpstr>
      <vt:lpstr>PowerPoint Presentation</vt:lpstr>
      <vt:lpstr>PowerPoint Presentation</vt:lpstr>
      <vt:lpstr>PowerPoint Presentation</vt:lpstr>
      <vt:lpstr>PowerPoint Presentation</vt:lpstr>
    </vt:vector>
  </TitlesOfParts>
  <Company>OECD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MENKYNA Fusako</dc:creator>
  <cp:lastModifiedBy>ELGHADAB Penny</cp:lastModifiedBy>
  <cp:revision>1565</cp:revision>
  <cp:lastPrinted>2017-06-02T15:04:18Z</cp:lastPrinted>
  <dcterms:created xsi:type="dcterms:W3CDTF">2015-02-27T14:51:11Z</dcterms:created>
  <dcterms:modified xsi:type="dcterms:W3CDTF">2017-06-07T07:23:31Z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0x0101008B4DD370EC31429186F3AD49F0D3098F00D44DBCB9EB4F45278CB5C9765BE5299500A4858B360C6A491AA753F8BCA47AA91000293773D153AD3C41920164F348570E54</vt:lpwstr>
  </property>
  <property fmtid="{D5CDD505-2E9C-101B-9397-08002B2CF9AE}" pid="3" name="OECDProjectOwnerStructure">
    <vt:lpwstr>407;#ECO/FO|0421869f-dd6d-4a57-aa68-f68dc47925ad</vt:lpwstr>
  </property>
  <property fmtid="{D5CDD505-2E9C-101B-9397-08002B2CF9AE}" pid="4" name="OECDProjectPageLink">
    <vt:lpwstr>8830</vt:lpwstr>
  </property>
  <property fmtid="{D5CDD505-2E9C-101B-9397-08002B2CF9AE}" pid="5" name="OECDCountry">
    <vt:lpwstr/>
  </property>
  <property fmtid="{D5CDD505-2E9C-101B-9397-08002B2CF9AE}" pid="6" name="OECDTopic">
    <vt:lpwstr>399;#Economic growth|9eba0011-22c6-4045-a791-62556867fb22</vt:lpwstr>
  </property>
  <property fmtid="{D5CDD505-2E9C-101B-9397-08002B2CF9AE}" pid="7" name="OECDCommittee">
    <vt:lpwstr/>
  </property>
  <property fmtid="{D5CDD505-2E9C-101B-9397-08002B2CF9AE}" pid="8" name="OECDProjectPartnersStructure">
    <vt:lpwstr/>
  </property>
  <property fmtid="{D5CDD505-2E9C-101B-9397-08002B2CF9AE}" pid="9" name="OECDPWB">
    <vt:lpwstr>43;#(n/a)|3adabb5f-45b7-4a20-bdde-219e8d9477af</vt:lpwstr>
  </property>
  <property fmtid="{D5CDD505-2E9C-101B-9397-08002B2CF9AE}" pid="10" name="OECDKeywords">
    <vt:lpwstr>314;#Economic Outlook|a9443a1a-b32f-49f3-97a5-13870ae66f90</vt:lpwstr>
  </property>
  <property fmtid="{D5CDD505-2E9C-101B-9397-08002B2CF9AE}" pid="11" name="eShareOrganisationTaxHTField0">
    <vt:lpwstr/>
  </property>
  <property fmtid="{D5CDD505-2E9C-101B-9397-08002B2CF9AE}" pid="12" name="OECDHorizontalProjects">
    <vt:lpwstr/>
  </property>
  <property fmtid="{D5CDD505-2E9C-101B-9397-08002B2CF9AE}" pid="13" name="OECDProject">
    <vt:lpwstr/>
  </property>
  <property fmtid="{D5CDD505-2E9C-101B-9397-08002B2CF9AE}" pid="14" name="d0b6f6ac229144c2899590f0436d9385">
    <vt:lpwstr/>
  </property>
  <property fmtid="{D5CDD505-2E9C-101B-9397-08002B2CF9AE}" pid="15" name="OECDOrganisation">
    <vt:lpwstr/>
  </property>
</Properties>
</file>