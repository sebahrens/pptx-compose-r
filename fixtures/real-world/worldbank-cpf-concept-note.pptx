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1"/>
  </p:sldMasterIdLst>
  <p:notesMasterIdLst>
    <p:notesMasterId r:id="rId28"/>
  </p:notesMasterIdLst>
  <p:handoutMasterIdLst>
    <p:handoutMasterId r:id="rId29"/>
  </p:handoutMasterIdLst>
  <p:sldIdLst>
    <p:sldId id="2134804413" r:id="rId2"/>
    <p:sldId id="2134804414" r:id="rId3"/>
    <p:sldId id="2134804408" r:id="rId4"/>
    <p:sldId id="2134804409" r:id="rId5"/>
    <p:sldId id="2134804395" r:id="rId6"/>
    <p:sldId id="2134804398" r:id="rId7"/>
    <p:sldId id="2134804378" r:id="rId8"/>
    <p:sldId id="2134804389" r:id="rId9"/>
    <p:sldId id="2134804410" r:id="rId10"/>
    <p:sldId id="2134804405" r:id="rId11"/>
    <p:sldId id="2134804412" r:id="rId12"/>
    <p:sldId id="2134804396" r:id="rId13"/>
    <p:sldId id="2134804387" r:id="rId14"/>
    <p:sldId id="2134804411" r:id="rId15"/>
    <p:sldId id="2134804355" r:id="rId16"/>
    <p:sldId id="2134804360" r:id="rId17"/>
    <p:sldId id="1438" r:id="rId18"/>
    <p:sldId id="2134804385" r:id="rId19"/>
    <p:sldId id="1424" r:id="rId20"/>
    <p:sldId id="2134804388" r:id="rId21"/>
    <p:sldId id="2134804390" r:id="rId22"/>
    <p:sldId id="2134804316" r:id="rId23"/>
    <p:sldId id="2134804403" r:id="rId24"/>
    <p:sldId id="2134804402" r:id="rId25"/>
    <p:sldId id="2134804404" r:id="rId26"/>
    <p:sldId id="2134804354" r:id="rId27"/>
  </p:sldIdLst>
  <p:sldSz cx="12192000" cy="6858000"/>
  <p:notesSz cx="6797675" cy="9926638"/>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D27BEB-33D4-576E-988A-32969632F6C9}" name="Neelam Nizar Verjee" initials="NV" userId="S::nverjee@worldbank.org::e1d5fb58-5d01-4929-9734-88be1983e7e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ulo Guilherme Correa" initials="PGC" lastIdx="0" clrIdx="0">
    <p:extLst>
      <p:ext uri="{19B8F6BF-5375-455C-9EA6-DF929625EA0E}">
        <p15:presenceInfo xmlns:p15="http://schemas.microsoft.com/office/powerpoint/2012/main" userId="S::pcorrea@worldbank.org::870f2a1b-8f05-43bf-bddb-3b63d1bf3b8a" providerId="AD"/>
      </p:ext>
    </p:extLst>
  </p:cmAuthor>
  <p:cmAuthor id="2" name="Fernanda Ailina Pedro Massarongo Chivulele" initials="FAPMC" lastIdx="3" clrIdx="1">
    <p:extLst>
      <p:ext uri="{19B8F6BF-5375-455C-9EA6-DF929625EA0E}">
        <p15:presenceInfo xmlns:p15="http://schemas.microsoft.com/office/powerpoint/2012/main" userId="S::fmassarongochivu@worldbank.org::e7ac58eb-e9b2-4ac1-8c7e-c4290564e5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734829-6AEE-448D-92E1-3217DCE0D28A}" v="60" dt="2022-06-06T14:09:33.8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6" autoAdjust="0"/>
    <p:restoredTop sz="93239" autoAdjust="0"/>
  </p:normalViewPr>
  <p:slideViewPr>
    <p:cSldViewPr snapToGrid="0">
      <p:cViewPr varScale="1">
        <p:scale>
          <a:sx n="89" d="100"/>
          <a:sy n="89" d="100"/>
        </p:scale>
        <p:origin x="1410" y="96"/>
      </p:cViewPr>
      <p:guideLst/>
    </p:cSldViewPr>
  </p:slideViewPr>
  <p:notesTextViewPr>
    <p:cViewPr>
      <p:scale>
        <a:sx n="3" d="2"/>
        <a:sy n="3" d="2"/>
      </p:scale>
      <p:origin x="0" y="0"/>
    </p:cViewPr>
  </p:notesTextViewPr>
  <p:notesViewPr>
    <p:cSldViewPr snapToGrid="0">
      <p:cViewPr varScale="1">
        <p:scale>
          <a:sx n="44" d="100"/>
          <a:sy n="44" d="100"/>
        </p:scale>
        <p:origin x="2852"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o Guilherme Correa" userId="870f2a1b-8f05-43bf-bddb-3b63d1bf3b8a" providerId="ADAL" clId="{3A734829-6AEE-448D-92E1-3217DCE0D28A}"/>
    <pc:docChg chg="undo custSel modSld">
      <pc:chgData name="Paulo Guilherme Correa" userId="870f2a1b-8f05-43bf-bddb-3b63d1bf3b8a" providerId="ADAL" clId="{3A734829-6AEE-448D-92E1-3217DCE0D28A}" dt="2022-06-07T12:24:07.435" v="376" actId="6549"/>
      <pc:docMkLst>
        <pc:docMk/>
      </pc:docMkLst>
      <pc:sldChg chg="modSp mod">
        <pc:chgData name="Paulo Guilherme Correa" userId="870f2a1b-8f05-43bf-bddb-3b63d1bf3b8a" providerId="ADAL" clId="{3A734829-6AEE-448D-92E1-3217DCE0D28A}" dt="2022-06-06T14:12:56.755" v="201" actId="1076"/>
        <pc:sldMkLst>
          <pc:docMk/>
          <pc:sldMk cId="164693797" sldId="1438"/>
        </pc:sldMkLst>
        <pc:spChg chg="mod">
          <ac:chgData name="Paulo Guilherme Correa" userId="870f2a1b-8f05-43bf-bddb-3b63d1bf3b8a" providerId="ADAL" clId="{3A734829-6AEE-448D-92E1-3217DCE0D28A}" dt="2022-06-06T14:12:56.755" v="201" actId="1076"/>
          <ac:spMkLst>
            <pc:docMk/>
            <pc:sldMk cId="164693797" sldId="1438"/>
            <ac:spMk id="34" creationId="{02498E19-A5E1-4FF3-8593-77DDFB633840}"/>
          </ac:spMkLst>
        </pc:spChg>
      </pc:sldChg>
      <pc:sldChg chg="modSp mod">
        <pc:chgData name="Paulo Guilherme Correa" userId="870f2a1b-8f05-43bf-bddb-3b63d1bf3b8a" providerId="ADAL" clId="{3A734829-6AEE-448D-92E1-3217DCE0D28A}" dt="2022-06-06T14:19:32.002" v="276" actId="1076"/>
        <pc:sldMkLst>
          <pc:docMk/>
          <pc:sldMk cId="228573786" sldId="2134804316"/>
        </pc:sldMkLst>
        <pc:spChg chg="mod">
          <ac:chgData name="Paulo Guilherme Correa" userId="870f2a1b-8f05-43bf-bddb-3b63d1bf3b8a" providerId="ADAL" clId="{3A734829-6AEE-448D-92E1-3217DCE0D28A}" dt="2022-06-06T14:19:32.002" v="276" actId="1076"/>
          <ac:spMkLst>
            <pc:docMk/>
            <pc:sldMk cId="228573786" sldId="2134804316"/>
            <ac:spMk id="9" creationId="{EF7E496C-CAB6-4016-A81A-D54963B89A2D}"/>
          </ac:spMkLst>
        </pc:spChg>
      </pc:sldChg>
      <pc:sldChg chg="modSp mod">
        <pc:chgData name="Paulo Guilherme Correa" userId="870f2a1b-8f05-43bf-bddb-3b63d1bf3b8a" providerId="ADAL" clId="{3A734829-6AEE-448D-92E1-3217DCE0D28A}" dt="2022-06-06T13:53:06.682" v="143" actId="113"/>
        <pc:sldMkLst>
          <pc:docMk/>
          <pc:sldMk cId="2098239625" sldId="2134804378"/>
        </pc:sldMkLst>
        <pc:spChg chg="mod">
          <ac:chgData name="Paulo Guilherme Correa" userId="870f2a1b-8f05-43bf-bddb-3b63d1bf3b8a" providerId="ADAL" clId="{3A734829-6AEE-448D-92E1-3217DCE0D28A}" dt="2022-06-06T13:53:06.682" v="143" actId="113"/>
          <ac:spMkLst>
            <pc:docMk/>
            <pc:sldMk cId="2098239625" sldId="2134804378"/>
            <ac:spMk id="7" creationId="{FF5C214D-5EAE-4BCF-B630-4930BE12178E}"/>
          </ac:spMkLst>
        </pc:spChg>
      </pc:sldChg>
      <pc:sldChg chg="modSp mod">
        <pc:chgData name="Paulo Guilherme Correa" userId="870f2a1b-8f05-43bf-bddb-3b63d1bf3b8a" providerId="ADAL" clId="{3A734829-6AEE-448D-92E1-3217DCE0D28A}" dt="2022-06-06T14:13:35.381" v="206" actId="5793"/>
        <pc:sldMkLst>
          <pc:docMk/>
          <pc:sldMk cId="2480337501" sldId="2134804385"/>
        </pc:sldMkLst>
        <pc:spChg chg="mod">
          <ac:chgData name="Paulo Guilherme Correa" userId="870f2a1b-8f05-43bf-bddb-3b63d1bf3b8a" providerId="ADAL" clId="{3A734829-6AEE-448D-92E1-3217DCE0D28A}" dt="2022-06-06T14:13:35.381" v="206" actId="5793"/>
          <ac:spMkLst>
            <pc:docMk/>
            <pc:sldMk cId="2480337501" sldId="2134804385"/>
            <ac:spMk id="3" creationId="{D4328182-DCAC-44BE-B53C-25FEF02C2D3B}"/>
          </ac:spMkLst>
        </pc:spChg>
      </pc:sldChg>
      <pc:sldChg chg="modSp mod">
        <pc:chgData name="Paulo Guilherme Correa" userId="870f2a1b-8f05-43bf-bddb-3b63d1bf3b8a" providerId="ADAL" clId="{3A734829-6AEE-448D-92E1-3217DCE0D28A}" dt="2022-06-07T12:24:07.435" v="376" actId="6549"/>
        <pc:sldMkLst>
          <pc:docMk/>
          <pc:sldMk cId="1591212298" sldId="2134804387"/>
        </pc:sldMkLst>
        <pc:spChg chg="mod">
          <ac:chgData name="Paulo Guilherme Correa" userId="870f2a1b-8f05-43bf-bddb-3b63d1bf3b8a" providerId="ADAL" clId="{3A734829-6AEE-448D-92E1-3217DCE0D28A}" dt="2022-06-07T12:24:07.435" v="376" actId="6549"/>
          <ac:spMkLst>
            <pc:docMk/>
            <pc:sldMk cId="1591212298" sldId="2134804387"/>
            <ac:spMk id="3" creationId="{43620D38-256E-4067-AE12-400CAF4C9E44}"/>
          </ac:spMkLst>
        </pc:spChg>
      </pc:sldChg>
      <pc:sldChg chg="modSp mod">
        <pc:chgData name="Paulo Guilherme Correa" userId="870f2a1b-8f05-43bf-bddb-3b63d1bf3b8a" providerId="ADAL" clId="{3A734829-6AEE-448D-92E1-3217DCE0D28A}" dt="2022-06-06T14:17:26.813" v="214" actId="1076"/>
        <pc:sldMkLst>
          <pc:docMk/>
          <pc:sldMk cId="3822225861" sldId="2134804388"/>
        </pc:sldMkLst>
        <pc:spChg chg="mod">
          <ac:chgData name="Paulo Guilherme Correa" userId="870f2a1b-8f05-43bf-bddb-3b63d1bf3b8a" providerId="ADAL" clId="{3A734829-6AEE-448D-92E1-3217DCE0D28A}" dt="2022-06-06T14:17:23.377" v="213" actId="1076"/>
          <ac:spMkLst>
            <pc:docMk/>
            <pc:sldMk cId="3822225861" sldId="2134804388"/>
            <ac:spMk id="2" creationId="{23A3676B-4603-455B-9BA6-AAFD3FF0ACAB}"/>
          </ac:spMkLst>
        </pc:spChg>
        <pc:spChg chg="mod">
          <ac:chgData name="Paulo Guilherme Correa" userId="870f2a1b-8f05-43bf-bddb-3b63d1bf3b8a" providerId="ADAL" clId="{3A734829-6AEE-448D-92E1-3217DCE0D28A}" dt="2022-06-06T14:17:26.813" v="214" actId="1076"/>
          <ac:spMkLst>
            <pc:docMk/>
            <pc:sldMk cId="3822225861" sldId="2134804388"/>
            <ac:spMk id="3" creationId="{95DD31EA-D262-4017-A859-112A4B3C2A17}"/>
          </ac:spMkLst>
        </pc:spChg>
      </pc:sldChg>
      <pc:sldChg chg="modSp mod">
        <pc:chgData name="Paulo Guilherme Correa" userId="870f2a1b-8f05-43bf-bddb-3b63d1bf3b8a" providerId="ADAL" clId="{3A734829-6AEE-448D-92E1-3217DCE0D28A}" dt="2022-06-06T13:55:15.945" v="149" actId="20577"/>
        <pc:sldMkLst>
          <pc:docMk/>
          <pc:sldMk cId="3355522750" sldId="2134804389"/>
        </pc:sldMkLst>
        <pc:spChg chg="mod">
          <ac:chgData name="Paulo Guilherme Correa" userId="870f2a1b-8f05-43bf-bddb-3b63d1bf3b8a" providerId="ADAL" clId="{3A734829-6AEE-448D-92E1-3217DCE0D28A}" dt="2022-06-06T13:55:15.945" v="149" actId="20577"/>
          <ac:spMkLst>
            <pc:docMk/>
            <pc:sldMk cId="3355522750" sldId="2134804389"/>
            <ac:spMk id="6" creationId="{113BE710-35E0-4B80-8E28-6785528D3EDB}"/>
          </ac:spMkLst>
        </pc:spChg>
      </pc:sldChg>
      <pc:sldChg chg="modSp mod">
        <pc:chgData name="Paulo Guilherme Correa" userId="870f2a1b-8f05-43bf-bddb-3b63d1bf3b8a" providerId="ADAL" clId="{3A734829-6AEE-448D-92E1-3217DCE0D28A}" dt="2022-06-06T14:18:19.701" v="222" actId="20577"/>
        <pc:sldMkLst>
          <pc:docMk/>
          <pc:sldMk cId="1963031688" sldId="2134804390"/>
        </pc:sldMkLst>
        <pc:spChg chg="mod">
          <ac:chgData name="Paulo Guilherme Correa" userId="870f2a1b-8f05-43bf-bddb-3b63d1bf3b8a" providerId="ADAL" clId="{3A734829-6AEE-448D-92E1-3217DCE0D28A}" dt="2022-06-06T14:17:35.081" v="215" actId="1076"/>
          <ac:spMkLst>
            <pc:docMk/>
            <pc:sldMk cId="1963031688" sldId="2134804390"/>
            <ac:spMk id="2" creationId="{31E02326-9E63-4DF0-AF0D-21FCFEC54D28}"/>
          </ac:spMkLst>
        </pc:spChg>
        <pc:spChg chg="mod">
          <ac:chgData name="Paulo Guilherme Correa" userId="870f2a1b-8f05-43bf-bddb-3b63d1bf3b8a" providerId="ADAL" clId="{3A734829-6AEE-448D-92E1-3217DCE0D28A}" dt="2022-06-06T14:18:19.701" v="222" actId="20577"/>
          <ac:spMkLst>
            <pc:docMk/>
            <pc:sldMk cId="1963031688" sldId="2134804390"/>
            <ac:spMk id="3" creationId="{CB65E0F7-FCC9-4A64-911C-50F2460F3EEB}"/>
          </ac:spMkLst>
        </pc:spChg>
      </pc:sldChg>
      <pc:sldChg chg="modSp mod">
        <pc:chgData name="Paulo Guilherme Correa" userId="870f2a1b-8f05-43bf-bddb-3b63d1bf3b8a" providerId="ADAL" clId="{3A734829-6AEE-448D-92E1-3217DCE0D28A}" dt="2022-06-06T13:53:34.707" v="145" actId="27918"/>
        <pc:sldMkLst>
          <pc:docMk/>
          <pc:sldMk cId="279434536" sldId="2134804395"/>
        </pc:sldMkLst>
        <pc:spChg chg="mod">
          <ac:chgData name="Paulo Guilherme Correa" userId="870f2a1b-8f05-43bf-bddb-3b63d1bf3b8a" providerId="ADAL" clId="{3A734829-6AEE-448D-92E1-3217DCE0D28A}" dt="2022-06-06T13:48:58.446" v="93" actId="20577"/>
          <ac:spMkLst>
            <pc:docMk/>
            <pc:sldMk cId="279434536" sldId="2134804395"/>
            <ac:spMk id="7" creationId="{FF5C214D-5EAE-4BCF-B630-4930BE12178E}"/>
          </ac:spMkLst>
        </pc:spChg>
        <pc:graphicFrameChg chg="mod">
          <ac:chgData name="Paulo Guilherme Correa" userId="870f2a1b-8f05-43bf-bddb-3b63d1bf3b8a" providerId="ADAL" clId="{3A734829-6AEE-448D-92E1-3217DCE0D28A}" dt="2022-06-06T13:52:04.079" v="139" actId="20577"/>
          <ac:graphicFrameMkLst>
            <pc:docMk/>
            <pc:sldMk cId="279434536" sldId="2134804395"/>
            <ac:graphicFrameMk id="9" creationId="{410C8409-F0C1-4A06-B33B-032AB030B33D}"/>
          </ac:graphicFrameMkLst>
        </pc:graphicFrameChg>
        <pc:graphicFrameChg chg="mod">
          <ac:chgData name="Paulo Guilherme Correa" userId="870f2a1b-8f05-43bf-bddb-3b63d1bf3b8a" providerId="ADAL" clId="{3A734829-6AEE-448D-92E1-3217DCE0D28A}" dt="2022-06-06T13:51:51.318" v="100" actId="20577"/>
          <ac:graphicFrameMkLst>
            <pc:docMk/>
            <pc:sldMk cId="279434536" sldId="2134804395"/>
            <ac:graphicFrameMk id="11" creationId="{C72742A9-AFDE-48B8-85B0-5CF91FC7EC7A}"/>
          </ac:graphicFrameMkLst>
        </pc:graphicFrameChg>
      </pc:sldChg>
      <pc:sldChg chg="modSp mod">
        <pc:chgData name="Paulo Guilherme Correa" userId="870f2a1b-8f05-43bf-bddb-3b63d1bf3b8a" providerId="ADAL" clId="{3A734829-6AEE-448D-92E1-3217DCE0D28A}" dt="2022-06-06T14:10:39.028" v="200" actId="1076"/>
        <pc:sldMkLst>
          <pc:docMk/>
          <pc:sldMk cId="893228102" sldId="2134804396"/>
        </pc:sldMkLst>
        <pc:spChg chg="mod">
          <ac:chgData name="Paulo Guilherme Correa" userId="870f2a1b-8f05-43bf-bddb-3b63d1bf3b8a" providerId="ADAL" clId="{3A734829-6AEE-448D-92E1-3217DCE0D28A}" dt="2022-06-06T14:10:34.407" v="198" actId="14100"/>
          <ac:spMkLst>
            <pc:docMk/>
            <pc:sldMk cId="893228102" sldId="2134804396"/>
            <ac:spMk id="3" creationId="{D13B107D-9314-4019-A8AC-8BDA69837A5E}"/>
          </ac:spMkLst>
        </pc:spChg>
        <pc:spChg chg="mod">
          <ac:chgData name="Paulo Guilherme Correa" userId="870f2a1b-8f05-43bf-bddb-3b63d1bf3b8a" providerId="ADAL" clId="{3A734829-6AEE-448D-92E1-3217DCE0D28A}" dt="2022-06-06T14:10:39.028" v="200" actId="1076"/>
          <ac:spMkLst>
            <pc:docMk/>
            <pc:sldMk cId="893228102" sldId="2134804396"/>
            <ac:spMk id="9" creationId="{6122B999-DE86-4BC0-AC20-DE5BD83111C8}"/>
          </ac:spMkLst>
        </pc:spChg>
        <pc:graphicFrameChg chg="mod modGraphic">
          <ac:chgData name="Paulo Guilherme Correa" userId="870f2a1b-8f05-43bf-bddb-3b63d1bf3b8a" providerId="ADAL" clId="{3A734829-6AEE-448D-92E1-3217DCE0D28A}" dt="2022-06-06T14:10:37.211" v="199" actId="14100"/>
          <ac:graphicFrameMkLst>
            <pc:docMk/>
            <pc:sldMk cId="893228102" sldId="2134804396"/>
            <ac:graphicFrameMk id="7" creationId="{32DB655D-42A7-4817-899F-7D22316FD394}"/>
          </ac:graphicFrameMkLst>
        </pc:graphicFrameChg>
      </pc:sldChg>
      <pc:sldChg chg="modSp">
        <pc:chgData name="Paulo Guilherme Correa" userId="870f2a1b-8f05-43bf-bddb-3b63d1bf3b8a" providerId="ADAL" clId="{3A734829-6AEE-448D-92E1-3217DCE0D28A}" dt="2022-06-06T13:52:33.621" v="141" actId="14100"/>
        <pc:sldMkLst>
          <pc:docMk/>
          <pc:sldMk cId="1570841410" sldId="2134804398"/>
        </pc:sldMkLst>
        <pc:graphicFrameChg chg="mod">
          <ac:chgData name="Paulo Guilherme Correa" userId="870f2a1b-8f05-43bf-bddb-3b63d1bf3b8a" providerId="ADAL" clId="{3A734829-6AEE-448D-92E1-3217DCE0D28A}" dt="2022-06-06T13:52:33.621" v="141" actId="14100"/>
          <ac:graphicFrameMkLst>
            <pc:docMk/>
            <pc:sldMk cId="1570841410" sldId="2134804398"/>
            <ac:graphicFrameMk id="5" creationId="{C9A68FB0-9030-48F4-90BB-6738D978B96B}"/>
          </ac:graphicFrameMkLst>
        </pc:graphicFrameChg>
        <pc:graphicFrameChg chg="mod">
          <ac:chgData name="Paulo Guilherme Correa" userId="870f2a1b-8f05-43bf-bddb-3b63d1bf3b8a" providerId="ADAL" clId="{3A734829-6AEE-448D-92E1-3217DCE0D28A}" dt="2022-06-06T13:52:31.181" v="140" actId="14100"/>
          <ac:graphicFrameMkLst>
            <pc:docMk/>
            <pc:sldMk cId="1570841410" sldId="2134804398"/>
            <ac:graphicFrameMk id="7" creationId="{CD771C82-20D9-438B-98BF-9F1AA3BE667C}"/>
          </ac:graphicFrameMkLst>
        </pc:graphicFrameChg>
      </pc:sldChg>
      <pc:sldChg chg="modSp mod modNotesTx">
        <pc:chgData name="Paulo Guilherme Correa" userId="870f2a1b-8f05-43bf-bddb-3b63d1bf3b8a" providerId="ADAL" clId="{3A734829-6AEE-448D-92E1-3217DCE0D28A}" dt="2022-06-06T14:20:11.608" v="279" actId="20577"/>
        <pc:sldMkLst>
          <pc:docMk/>
          <pc:sldMk cId="336790590" sldId="2134804402"/>
        </pc:sldMkLst>
        <pc:spChg chg="mod">
          <ac:chgData name="Paulo Guilherme Correa" userId="870f2a1b-8f05-43bf-bddb-3b63d1bf3b8a" providerId="ADAL" clId="{3A734829-6AEE-448D-92E1-3217DCE0D28A}" dt="2022-06-06T14:20:07.989" v="278" actId="20577"/>
          <ac:spMkLst>
            <pc:docMk/>
            <pc:sldMk cId="336790590" sldId="2134804402"/>
            <ac:spMk id="3" creationId="{2D9E4DBD-86F0-4B7F-911F-E98F78863434}"/>
          </ac:spMkLst>
        </pc:spChg>
      </pc:sldChg>
      <pc:sldChg chg="modSp mod">
        <pc:chgData name="Paulo Guilherme Correa" userId="870f2a1b-8f05-43bf-bddb-3b63d1bf3b8a" providerId="ADAL" clId="{3A734829-6AEE-448D-92E1-3217DCE0D28A}" dt="2022-06-06T14:19:56.615" v="277" actId="20577"/>
        <pc:sldMkLst>
          <pc:docMk/>
          <pc:sldMk cId="1294046964" sldId="2134804403"/>
        </pc:sldMkLst>
        <pc:spChg chg="mod">
          <ac:chgData name="Paulo Guilherme Correa" userId="870f2a1b-8f05-43bf-bddb-3b63d1bf3b8a" providerId="ADAL" clId="{3A734829-6AEE-448D-92E1-3217DCE0D28A}" dt="2022-06-06T14:19:56.615" v="277" actId="20577"/>
          <ac:spMkLst>
            <pc:docMk/>
            <pc:sldMk cId="1294046964" sldId="2134804403"/>
            <ac:spMk id="3" creationId="{0AAF4E04-EEC2-485A-878B-D07B4647ED1C}"/>
          </ac:spMkLst>
        </pc:spChg>
      </pc:sldChg>
      <pc:sldChg chg="modNotesTx">
        <pc:chgData name="Paulo Guilherme Correa" userId="870f2a1b-8f05-43bf-bddb-3b63d1bf3b8a" providerId="ADAL" clId="{3A734829-6AEE-448D-92E1-3217DCE0D28A}" dt="2022-06-06T14:20:28.606" v="280" actId="20577"/>
        <pc:sldMkLst>
          <pc:docMk/>
          <pc:sldMk cId="502533941" sldId="2134804404"/>
        </pc:sldMkLst>
      </pc:sldChg>
      <pc:sldChg chg="modSp mod">
        <pc:chgData name="Paulo Guilherme Correa" userId="870f2a1b-8f05-43bf-bddb-3b63d1bf3b8a" providerId="ADAL" clId="{3A734829-6AEE-448D-92E1-3217DCE0D28A}" dt="2022-06-06T13:55:37.735" v="150" actId="113"/>
        <pc:sldMkLst>
          <pc:docMk/>
          <pc:sldMk cId="1765248067" sldId="2134804405"/>
        </pc:sldMkLst>
        <pc:spChg chg="mod">
          <ac:chgData name="Paulo Guilherme Correa" userId="870f2a1b-8f05-43bf-bddb-3b63d1bf3b8a" providerId="ADAL" clId="{3A734829-6AEE-448D-92E1-3217DCE0D28A}" dt="2022-06-06T13:55:37.735" v="150" actId="113"/>
          <ac:spMkLst>
            <pc:docMk/>
            <pc:sldMk cId="1765248067" sldId="2134804405"/>
            <ac:spMk id="3" creationId="{AD41F2BB-97F4-4383-8764-F002A22E027D}"/>
          </ac:spMkLst>
        </pc:spChg>
      </pc:sldChg>
      <pc:sldChg chg="modSp mod">
        <pc:chgData name="Paulo Guilherme Correa" userId="870f2a1b-8f05-43bf-bddb-3b63d1bf3b8a" providerId="ADAL" clId="{3A734829-6AEE-448D-92E1-3217DCE0D28A}" dt="2022-06-06T13:56:40.231" v="158" actId="20577"/>
        <pc:sldMkLst>
          <pc:docMk/>
          <pc:sldMk cId="1828922060" sldId="2134804409"/>
        </pc:sldMkLst>
        <pc:spChg chg="mod">
          <ac:chgData name="Paulo Guilherme Correa" userId="870f2a1b-8f05-43bf-bddb-3b63d1bf3b8a" providerId="ADAL" clId="{3A734829-6AEE-448D-92E1-3217DCE0D28A}" dt="2022-06-06T13:56:40.231" v="158" actId="20577"/>
          <ac:spMkLst>
            <pc:docMk/>
            <pc:sldMk cId="1828922060" sldId="2134804409"/>
            <ac:spMk id="3" creationId="{A71C13BF-78D7-4831-B2B9-0342F47476B7}"/>
          </ac:spMkLst>
        </pc:spChg>
      </pc:sldChg>
      <pc:sldChg chg="modSp mod">
        <pc:chgData name="Paulo Guilherme Correa" userId="870f2a1b-8f05-43bf-bddb-3b63d1bf3b8a" providerId="ADAL" clId="{3A734829-6AEE-448D-92E1-3217DCE0D28A}" dt="2022-06-06T13:57:55.044" v="159" actId="20577"/>
        <pc:sldMkLst>
          <pc:docMk/>
          <pc:sldMk cId="3817913634" sldId="2134804410"/>
        </pc:sldMkLst>
        <pc:spChg chg="mod">
          <ac:chgData name="Paulo Guilherme Correa" userId="870f2a1b-8f05-43bf-bddb-3b63d1bf3b8a" providerId="ADAL" clId="{3A734829-6AEE-448D-92E1-3217DCE0D28A}" dt="2022-06-06T13:57:55.044" v="159" actId="20577"/>
          <ac:spMkLst>
            <pc:docMk/>
            <pc:sldMk cId="3817913634" sldId="2134804410"/>
            <ac:spMk id="3" creationId="{A71C13BF-78D7-4831-B2B9-0342F47476B7}"/>
          </ac:spMkLst>
        </pc:spChg>
      </pc:sldChg>
      <pc:sldChg chg="modSp mod">
        <pc:chgData name="Paulo Guilherme Correa" userId="870f2a1b-8f05-43bf-bddb-3b63d1bf3b8a" providerId="ADAL" clId="{3A734829-6AEE-448D-92E1-3217DCE0D28A}" dt="2022-06-06T13:58:00.042" v="160" actId="20577"/>
        <pc:sldMkLst>
          <pc:docMk/>
          <pc:sldMk cId="1566909184" sldId="2134804411"/>
        </pc:sldMkLst>
        <pc:spChg chg="mod">
          <ac:chgData name="Paulo Guilherme Correa" userId="870f2a1b-8f05-43bf-bddb-3b63d1bf3b8a" providerId="ADAL" clId="{3A734829-6AEE-448D-92E1-3217DCE0D28A}" dt="2022-06-06T13:58:00.042" v="160" actId="20577"/>
          <ac:spMkLst>
            <pc:docMk/>
            <pc:sldMk cId="1566909184" sldId="2134804411"/>
            <ac:spMk id="3" creationId="{A71C13BF-78D7-4831-B2B9-0342F47476B7}"/>
          </ac:spMkLst>
        </pc:spChg>
      </pc:sldChg>
      <pc:sldChg chg="modSp mod">
        <pc:chgData name="Paulo Guilherme Correa" userId="870f2a1b-8f05-43bf-bddb-3b63d1bf3b8a" providerId="ADAL" clId="{3A734829-6AEE-448D-92E1-3217DCE0D28A}" dt="2022-06-06T14:09:56.134" v="194" actId="14100"/>
        <pc:sldMkLst>
          <pc:docMk/>
          <pc:sldMk cId="594525742" sldId="2134804412"/>
        </pc:sldMkLst>
        <pc:spChg chg="mod">
          <ac:chgData name="Paulo Guilherme Correa" userId="870f2a1b-8f05-43bf-bddb-3b63d1bf3b8a" providerId="ADAL" clId="{3A734829-6AEE-448D-92E1-3217DCE0D28A}" dt="2022-06-06T14:09:56.134" v="194" actId="14100"/>
          <ac:spMkLst>
            <pc:docMk/>
            <pc:sldMk cId="594525742" sldId="2134804412"/>
            <ac:spMk id="3" creationId="{AD41F2BB-97F4-4383-8764-F002A22E027D}"/>
          </ac:spMkLst>
        </pc:spChg>
        <pc:spChg chg="mod">
          <ac:chgData name="Paulo Guilherme Correa" userId="870f2a1b-8f05-43bf-bddb-3b63d1bf3b8a" providerId="ADAL" clId="{3A734829-6AEE-448D-92E1-3217DCE0D28A}" dt="2022-06-06T14:09:30.434" v="192" actId="1076"/>
          <ac:spMkLst>
            <pc:docMk/>
            <pc:sldMk cId="594525742" sldId="2134804412"/>
            <ac:spMk id="10" creationId="{2F08AA56-3BA1-41C9-8EC2-A2B8C5546FC8}"/>
          </ac:spMkLst>
        </pc:spChg>
        <pc:graphicFrameChg chg="mod">
          <ac:chgData name="Paulo Guilherme Correa" userId="870f2a1b-8f05-43bf-bddb-3b63d1bf3b8a" providerId="ADAL" clId="{3A734829-6AEE-448D-92E1-3217DCE0D28A}" dt="2022-06-06T14:09:33.848" v="193"/>
          <ac:graphicFrameMkLst>
            <pc:docMk/>
            <pc:sldMk cId="594525742" sldId="2134804412"/>
            <ac:graphicFrameMk id="9" creationId="{A5499A8E-A137-4699-BE3A-E5C6193DB181}"/>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wb208545\AppData\Local\Microsoft\Windows\INetCache\Content.Outlook\6T69VSB3\WEO_Data.xl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embeddings/oleObject2.bin"/><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oleObject" Target="../embeddings/oleObject3.bin"/><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embeddings/oleObject4.bin"/><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embeddings/oleObject5.bin"/><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embeddings/oleObject6.bin"/><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1.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embeddings/oleObject7.bin"/></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50" b="1" i="0" u="none" strike="noStrike" kern="1200" spc="0" baseline="0" dirty="0" smtClean="0">
                <a:solidFill>
                  <a:schemeClr val="tx1"/>
                </a:solidFill>
                <a:latin typeface="Arial" panose="020B0604020202020204" pitchFamily="34" charset="0"/>
                <a:ea typeface="+mn-ea"/>
                <a:cs typeface="Arial" panose="020B0604020202020204" pitchFamily="34" charset="0"/>
              </a:defRPr>
            </a:pPr>
            <a:r>
              <a:rPr lang="en-US" sz="1050" b="1" i="0" u="none" strike="noStrike" kern="1200" spc="0" baseline="0" dirty="0">
                <a:solidFill>
                  <a:schemeClr val="tx1"/>
                </a:solidFill>
                <a:latin typeface="Arial" panose="020B0604020202020204" pitchFamily="34" charset="0"/>
                <a:ea typeface="+mn-ea"/>
                <a:cs typeface="Arial" panose="020B0604020202020204" pitchFamily="34" charset="0"/>
              </a:rPr>
              <a:t>Poverty rates and total number of poor </a:t>
            </a:r>
          </a:p>
        </c:rich>
      </c:tx>
      <c:layout>
        <c:manualLayout>
          <c:xMode val="edge"/>
          <c:yMode val="edge"/>
          <c:x val="9.1588992193222724E-2"/>
          <c:y val="0"/>
        </c:manualLayout>
      </c:layout>
      <c:overlay val="0"/>
      <c:spPr>
        <a:noFill/>
        <a:ln>
          <a:noFill/>
        </a:ln>
        <a:effectLst/>
      </c:spPr>
      <c:txPr>
        <a:bodyPr rot="0" spcFirstLastPara="1" vertOverflow="ellipsis" vert="horz" wrap="square" anchor="ctr" anchorCtr="1"/>
        <a:lstStyle/>
        <a:p>
          <a:pPr>
            <a:defRPr lang="en-US" sz="1050" b="1" i="0" u="none" strike="noStrike" kern="1200" spc="0" baseline="0" dirty="0" smtClean="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3577741126953724"/>
          <c:y val="0.15256668497833117"/>
          <c:w val="0.68613505237520989"/>
          <c:h val="0.63899570693198227"/>
        </c:manualLayout>
      </c:layout>
      <c:lineChart>
        <c:grouping val="standard"/>
        <c:varyColors val="0"/>
        <c:ser>
          <c:idx val="6"/>
          <c:order val="0"/>
          <c:tx>
            <c:strRef>
              <c:f>chart!$I$28</c:f>
              <c:strCache>
                <c:ptCount val="1"/>
                <c:pt idx="0">
                  <c:v>Taxa International de pobreza (Eixo Esq)</c:v>
                </c:pt>
              </c:strCache>
            </c:strRef>
          </c:tx>
          <c:spPr>
            <a:ln w="25400" cap="rnd">
              <a:solidFill>
                <a:srgbClr val="7A6563"/>
              </a:solidFill>
              <a:round/>
            </a:ln>
            <a:effectLst/>
          </c:spPr>
          <c:marker>
            <c:symbol val="none"/>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chart!$AO$4:$AO$20</c:f>
              <c:numCache>
                <c:formatCode>General</c:formatCode>
                <c:ptCount val="17"/>
                <c:pt idx="0">
                  <c:v>#N/A</c:v>
                </c:pt>
                <c:pt idx="1">
                  <c:v>#N/A</c:v>
                </c:pt>
                <c:pt idx="2">
                  <c:v>#N/A</c:v>
                </c:pt>
                <c:pt idx="3">
                  <c:v>69.65290274427916</c:v>
                </c:pt>
                <c:pt idx="4">
                  <c:v>#N/A</c:v>
                </c:pt>
                <c:pt idx="5">
                  <c:v>#N/A</c:v>
                </c:pt>
                <c:pt idx="6">
                  <c:v>#N/A</c:v>
                </c:pt>
                <c:pt idx="7">
                  <c:v>#N/A</c:v>
                </c:pt>
                <c:pt idx="8">
                  <c:v>#N/A</c:v>
                </c:pt>
                <c:pt idx="9">
                  <c:v>63.680985966479739</c:v>
                </c:pt>
                <c:pt idx="10">
                  <c:v>#N/A</c:v>
                </c:pt>
                <c:pt idx="11">
                  <c:v>#N/A</c:v>
                </c:pt>
                <c:pt idx="12">
                  <c:v>#N/A</c:v>
                </c:pt>
                <c:pt idx="13">
                  <c:v>#N/A</c:v>
                </c:pt>
                <c:pt idx="14">
                  <c:v>#N/A</c:v>
                </c:pt>
                <c:pt idx="15">
                  <c:v>#N/A</c:v>
                </c:pt>
                <c:pt idx="16">
                  <c:v>#N/A</c:v>
                </c:pt>
              </c:numCache>
            </c:numRef>
          </c:val>
          <c:smooth val="1"/>
          <c:extLst>
            <c:ext xmlns:c16="http://schemas.microsoft.com/office/drawing/2014/chart" uri="{C3380CC4-5D6E-409C-BE32-E72D297353CC}">
              <c16:uniqueId val="{00000000-640A-45DA-9777-4CBE0359EE15}"/>
            </c:ext>
          </c:extLst>
        </c:ser>
        <c:ser>
          <c:idx val="7"/>
          <c:order val="1"/>
          <c:tx>
            <c:strRef>
              <c:f>chart!$K$28</c:f>
              <c:strCache>
                <c:ptCount val="1"/>
                <c:pt idx="0">
                  <c:v>Upper middle-income pov. rate</c:v>
                </c:pt>
              </c:strCache>
            </c:strRef>
          </c:tx>
          <c:spPr>
            <a:ln w="25400" cap="rnd">
              <a:solidFill>
                <a:srgbClr val="CACAAA"/>
              </a:solidFill>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chart!$AQ$4:$AQ$23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1"/>
          <c:extLst>
            <c:ext xmlns:c16="http://schemas.microsoft.com/office/drawing/2014/chart" uri="{C3380CC4-5D6E-409C-BE32-E72D297353CC}">
              <c16:uniqueId val="{00000001-640A-45DA-9777-4CBE0359EE15}"/>
            </c:ext>
          </c:extLst>
        </c:ser>
        <c:ser>
          <c:idx val="11"/>
          <c:order val="3"/>
          <c:tx>
            <c:strRef>
              <c:f>chart!$BK$3</c:f>
              <c:strCache>
                <c:ptCount val="1"/>
                <c:pt idx="0">
                  <c:v>IPR0*</c:v>
                </c:pt>
              </c:strCache>
            </c:strRef>
          </c:tx>
          <c:spPr>
            <a:ln w="25400" cap="rnd">
              <a:solidFill>
                <a:srgbClr val="7A6563"/>
              </a:solidFill>
              <a:prstDash val="solid"/>
              <a:round/>
            </a:ln>
            <a:effectLst/>
          </c:spPr>
          <c:marker>
            <c:symbol val="none"/>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chart!$BK$4:$BK$20</c:f>
              <c:numCache>
                <c:formatCode>General</c:formatCode>
                <c:ptCount val="17"/>
                <c:pt idx="0">
                  <c:v>#N/A</c:v>
                </c:pt>
                <c:pt idx="1">
                  <c:v>#N/A</c:v>
                </c:pt>
                <c:pt idx="2">
                  <c:v>#N/A</c:v>
                </c:pt>
                <c:pt idx="3">
                  <c:v>#N/A</c:v>
                </c:pt>
                <c:pt idx="4">
                  <c:v>#N/A</c:v>
                </c:pt>
                <c:pt idx="5">
                  <c:v>#N/A</c:v>
                </c:pt>
                <c:pt idx="6">
                  <c:v>#N/A</c:v>
                </c:pt>
                <c:pt idx="7">
                  <c:v>#N/A</c:v>
                </c:pt>
                <c:pt idx="8">
                  <c:v>#N/A</c:v>
                </c:pt>
                <c:pt idx="9">
                  <c:v>63.680985966479739</c:v>
                </c:pt>
                <c:pt idx="10">
                  <c:v>62.419725833929739</c:v>
                </c:pt>
                <c:pt idx="11">
                  <c:v>62.116122417403098</c:v>
                </c:pt>
                <c:pt idx="12">
                  <c:v>61.801116062157107</c:v>
                </c:pt>
                <c:pt idx="13">
                  <c:v>61.646681282770558</c:v>
                </c:pt>
                <c:pt idx="14">
                  <c:v>61.85320075671347</c:v>
                </c:pt>
                <c:pt idx="15">
                  <c:v>63.266051265540213</c:v>
                </c:pt>
                <c:pt idx="16">
                  <c:v>63.514261170090229</c:v>
                </c:pt>
              </c:numCache>
            </c:numRef>
          </c:val>
          <c:smooth val="1"/>
          <c:extLst>
            <c:ext xmlns:c16="http://schemas.microsoft.com/office/drawing/2014/chart" uri="{C3380CC4-5D6E-409C-BE32-E72D297353CC}">
              <c16:uniqueId val="{00000002-640A-45DA-9777-4CBE0359EE15}"/>
            </c:ext>
          </c:extLst>
        </c:ser>
        <c:ser>
          <c:idx val="1"/>
          <c:order val="5"/>
          <c:tx>
            <c:strRef>
              <c:f>chart!$BM$3</c:f>
              <c:strCache>
                <c:ptCount val="1"/>
                <c:pt idx="0">
                  <c:v>UMPR0*</c:v>
                </c:pt>
              </c:strCache>
            </c:strRef>
          </c:tx>
          <c:spPr>
            <a:ln w="25400" cap="rnd">
              <a:solidFill>
                <a:srgbClr val="CACAAA"/>
              </a:solidFill>
              <a:prstDash val="sysDot"/>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chart!$BM$4:$BM$23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1"/>
          <c:extLst>
            <c:ext xmlns:c16="http://schemas.microsoft.com/office/drawing/2014/chart" uri="{C3380CC4-5D6E-409C-BE32-E72D297353CC}">
              <c16:uniqueId val="{00000003-640A-45DA-9777-4CBE0359EE15}"/>
            </c:ext>
          </c:extLst>
        </c:ser>
        <c:ser>
          <c:idx val="2"/>
          <c:order val="6"/>
          <c:tx>
            <c:strRef>
              <c:f>chart!$AR$3</c:f>
              <c:strCache>
                <c:ptCount val="1"/>
                <c:pt idx="0">
                  <c:v>IPL1</c:v>
                </c:pt>
              </c:strCache>
            </c:strRef>
          </c:tx>
          <c:spPr>
            <a:ln w="25400" cap="rnd">
              <a:solidFill>
                <a:schemeClr val="accent3"/>
              </a:solidFill>
              <a:round/>
            </a:ln>
            <a:effectLst/>
          </c:spPr>
          <c:marker>
            <c:symbol val="circle"/>
            <c:size val="5"/>
            <c:spPr>
              <a:solidFill>
                <a:srgbClr val="7A6563"/>
              </a:solidFill>
              <a:ln w="12700">
                <a:solidFill>
                  <a:schemeClr val="accent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chart!$AR$4:$AR$23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4-640A-45DA-9777-4CBE0359EE15}"/>
            </c:ext>
          </c:extLst>
        </c:ser>
        <c:ser>
          <c:idx val="4"/>
          <c:order val="7"/>
          <c:tx>
            <c:strRef>
              <c:f>chart!$AS$3</c:f>
              <c:strCache>
                <c:ptCount val="1"/>
                <c:pt idx="0">
                  <c:v>LMIC1</c:v>
                </c:pt>
              </c:strCache>
            </c:strRef>
          </c:tx>
          <c:spPr>
            <a:ln w="25400" cap="rnd">
              <a:solidFill>
                <a:schemeClr val="accent2"/>
              </a:solidFill>
              <a:round/>
            </a:ln>
            <a:effectLst/>
          </c:spPr>
          <c:marker>
            <c:symbol val="none"/>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chart!$AS$4:$AS$23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5-640A-45DA-9777-4CBE0359EE15}"/>
            </c:ext>
          </c:extLst>
        </c:ser>
        <c:ser>
          <c:idx val="5"/>
          <c:order val="8"/>
          <c:tx>
            <c:strRef>
              <c:f>chart!$AT$3</c:f>
              <c:strCache>
                <c:ptCount val="1"/>
                <c:pt idx="0">
                  <c:v>UMIC1</c:v>
                </c:pt>
              </c:strCache>
            </c:strRef>
          </c:tx>
          <c:spPr>
            <a:ln w="25400" cap="rnd">
              <a:solidFill>
                <a:srgbClr val="CACAAA"/>
              </a:solidFill>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chart!$AT$4:$AT$23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6-640A-45DA-9777-4CBE0359EE15}"/>
            </c:ext>
          </c:extLst>
        </c:ser>
        <c:ser>
          <c:idx val="10"/>
          <c:order val="9"/>
          <c:tx>
            <c:strRef>
              <c:f>chart!$AU$3</c:f>
              <c:strCache>
                <c:ptCount val="1"/>
                <c:pt idx="0">
                  <c:v>IPL2</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chart!$AU$4:$AU$23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7-640A-45DA-9777-4CBE0359EE15}"/>
            </c:ext>
          </c:extLst>
        </c:ser>
        <c:ser>
          <c:idx val="12"/>
          <c:order val="10"/>
          <c:tx>
            <c:strRef>
              <c:f>chart!$AV$3</c:f>
              <c:strCache>
                <c:ptCount val="1"/>
                <c:pt idx="0">
                  <c:v>LMIC2</c:v>
                </c:pt>
              </c:strCache>
            </c:strRef>
          </c:tx>
          <c:spPr>
            <a:ln w="25400" cap="rnd">
              <a:solidFill>
                <a:srgbClr val="DE6E4B"/>
              </a:solidFill>
              <a:round/>
            </a:ln>
            <a:effectLst/>
          </c:spPr>
          <c:marker>
            <c:symbol val="circle"/>
            <c:size val="5"/>
            <c:spPr>
              <a:solidFill>
                <a:srgbClr val="DE6E4B"/>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chart!$AV$4:$AV$23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8-640A-45DA-9777-4CBE0359EE15}"/>
            </c:ext>
          </c:extLst>
        </c:ser>
        <c:ser>
          <c:idx val="13"/>
          <c:order val="11"/>
          <c:tx>
            <c:strRef>
              <c:f>chart!$AW$3</c:f>
              <c:strCache>
                <c:ptCount val="1"/>
                <c:pt idx="0">
                  <c:v>UMIC2</c:v>
                </c:pt>
              </c:strCache>
            </c:strRef>
          </c:tx>
          <c:spPr>
            <a:ln w="25400" cap="rnd">
              <a:solidFill>
                <a:schemeClr val="accent4"/>
              </a:solidFill>
              <a:round/>
            </a:ln>
            <a:effectLst/>
          </c:spPr>
          <c:marker>
            <c:symbol val="circle"/>
            <c:size val="5"/>
            <c:spPr>
              <a:solidFill>
                <a:srgbClr val="CACAAA"/>
              </a:solidFill>
              <a:ln w="12700">
                <a:solidFill>
                  <a:srgbClr val="CACAAA"/>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chart!$AW$4:$AW$23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9-640A-45DA-9777-4CBE0359EE15}"/>
            </c:ext>
          </c:extLst>
        </c:ser>
        <c:ser>
          <c:idx val="14"/>
          <c:order val="12"/>
          <c:tx>
            <c:strRef>
              <c:f>chart!$AX$3</c:f>
              <c:strCache>
                <c:ptCount val="1"/>
                <c:pt idx="0">
                  <c:v>IPL3</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chart!$AX$4:$AX$23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A-640A-45DA-9777-4CBE0359EE15}"/>
            </c:ext>
          </c:extLst>
        </c:ser>
        <c:ser>
          <c:idx val="15"/>
          <c:order val="13"/>
          <c:tx>
            <c:strRef>
              <c:f>chart!$AY$3</c:f>
              <c:strCache>
                <c:ptCount val="1"/>
                <c:pt idx="0">
                  <c:v>LMIC3</c:v>
                </c:pt>
              </c:strCache>
            </c:strRef>
          </c:tx>
          <c:spPr>
            <a:ln w="25400" cap="rnd">
              <a:solidFill>
                <a:srgbClr val="DE6E4B"/>
              </a:solidFill>
              <a:round/>
            </a:ln>
            <a:effectLst/>
          </c:spPr>
          <c:marker>
            <c:symbol val="circle"/>
            <c:size val="5"/>
            <c:spPr>
              <a:solidFill>
                <a:srgbClr val="DE6E4B"/>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chart!$AY$4:$AY$23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B-640A-45DA-9777-4CBE0359EE15}"/>
            </c:ext>
          </c:extLst>
        </c:ser>
        <c:ser>
          <c:idx val="16"/>
          <c:order val="14"/>
          <c:tx>
            <c:strRef>
              <c:f>chart!$AZ$3</c:f>
              <c:strCache>
                <c:ptCount val="1"/>
                <c:pt idx="0">
                  <c:v>UMIC3</c:v>
                </c:pt>
              </c:strCache>
            </c:strRef>
          </c:tx>
          <c:spPr>
            <a:ln w="25400" cap="rnd">
              <a:solidFill>
                <a:schemeClr val="accent4"/>
              </a:solidFill>
              <a:round/>
            </a:ln>
            <a:effectLst/>
          </c:spPr>
          <c:marker>
            <c:symbol val="circle"/>
            <c:size val="5"/>
            <c:spPr>
              <a:solidFill>
                <a:schemeClr val="accent4"/>
              </a:solidFill>
              <a:ln w="12700">
                <a:solidFill>
                  <a:schemeClr val="accent4"/>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chart!$AZ$4:$AZ$23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C-640A-45DA-9777-4CBE0359EE15}"/>
            </c:ext>
          </c:extLst>
        </c:ser>
        <c:ser>
          <c:idx val="17"/>
          <c:order val="15"/>
          <c:tx>
            <c:strRef>
              <c:f>chart!$BA$3</c:f>
              <c:strCache>
                <c:ptCount val="1"/>
                <c:pt idx="0">
                  <c:v>IPL4</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chart!$BA$4:$BA$23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D-640A-45DA-9777-4CBE0359EE15}"/>
            </c:ext>
          </c:extLst>
        </c:ser>
        <c:ser>
          <c:idx val="18"/>
          <c:order val="16"/>
          <c:tx>
            <c:strRef>
              <c:f>chart!$BB$3</c:f>
              <c:strCache>
                <c:ptCount val="1"/>
                <c:pt idx="0">
                  <c:v>LMIC4</c:v>
                </c:pt>
              </c:strCache>
            </c:strRef>
          </c:tx>
          <c:spPr>
            <a:ln w="25400" cap="rnd">
              <a:solidFill>
                <a:srgbClr val="DE6E4B"/>
              </a:solidFill>
              <a:round/>
            </a:ln>
            <a:effectLst/>
          </c:spPr>
          <c:marker>
            <c:symbol val="circle"/>
            <c:size val="5"/>
            <c:spPr>
              <a:solidFill>
                <a:schemeClr val="accent2">
                  <a:alpha val="99000"/>
                </a:schemeClr>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chart!$BB$4:$BB$23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E-640A-45DA-9777-4CBE0359EE15}"/>
            </c:ext>
          </c:extLst>
        </c:ser>
        <c:ser>
          <c:idx val="19"/>
          <c:order val="17"/>
          <c:tx>
            <c:strRef>
              <c:f>chart!$BC$3</c:f>
              <c:strCache>
                <c:ptCount val="1"/>
                <c:pt idx="0">
                  <c:v>UMIC4</c:v>
                </c:pt>
              </c:strCache>
            </c:strRef>
          </c:tx>
          <c:spPr>
            <a:ln w="25400" cap="rnd">
              <a:solidFill>
                <a:srgbClr val="CACAAA"/>
              </a:solidFill>
              <a:round/>
            </a:ln>
            <a:effectLst/>
          </c:spPr>
          <c:marker>
            <c:symbol val="circle"/>
            <c:size val="5"/>
            <c:spPr>
              <a:solidFill>
                <a:schemeClr val="accent4"/>
              </a:solidFill>
              <a:ln w="12700">
                <a:solidFill>
                  <a:schemeClr val="accent4"/>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chart!$BC$4:$BC$23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0F-640A-45DA-9777-4CBE0359EE15}"/>
            </c:ext>
          </c:extLst>
        </c:ser>
        <c:ser>
          <c:idx val="20"/>
          <c:order val="18"/>
          <c:tx>
            <c:strRef>
              <c:f>chart!$BD$3</c:f>
              <c:strCache>
                <c:ptCount val="1"/>
                <c:pt idx="0">
                  <c:v>IPL5</c:v>
                </c:pt>
              </c:strCache>
            </c:strRef>
          </c:tx>
          <c:spPr>
            <a:ln w="25400" cap="rnd">
              <a:solidFill>
                <a:srgbClr val="7A6563"/>
              </a:solidFill>
              <a:round/>
            </a:ln>
            <a:effectLst/>
          </c:spPr>
          <c:marker>
            <c:symbol val="circle"/>
            <c:size val="5"/>
            <c:spPr>
              <a:solidFill>
                <a:srgbClr val="7A6563"/>
              </a:solidFill>
              <a:ln w="12700">
                <a:solidFill>
                  <a:srgbClr val="7A6563"/>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chart!$BD$4:$BD$23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0-640A-45DA-9777-4CBE0359EE15}"/>
            </c:ext>
          </c:extLst>
        </c:ser>
        <c:ser>
          <c:idx val="21"/>
          <c:order val="19"/>
          <c:tx>
            <c:strRef>
              <c:f>chart!$BE$3</c:f>
              <c:strCache>
                <c:ptCount val="1"/>
                <c:pt idx="0">
                  <c:v>LMIC5</c:v>
                </c:pt>
              </c:strCache>
            </c:strRef>
          </c:tx>
          <c:spPr>
            <a:ln w="25400" cap="rnd">
              <a:solidFill>
                <a:srgbClr val="DE6E4B"/>
              </a:solidFill>
              <a:round/>
            </a:ln>
            <a:effectLst/>
          </c:spPr>
          <c:marker>
            <c:symbol val="circle"/>
            <c:size val="5"/>
            <c:spPr>
              <a:solidFill>
                <a:schemeClr val="accent2"/>
              </a:solidFill>
              <a:ln w="12700">
                <a:solidFill>
                  <a:srgbClr val="DE6E4B"/>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chart!$BE$4:$BE$23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1-640A-45DA-9777-4CBE0359EE15}"/>
            </c:ext>
          </c:extLst>
        </c:ser>
        <c:ser>
          <c:idx val="22"/>
          <c:order val="20"/>
          <c:tx>
            <c:strRef>
              <c:f>chart!$BF$3</c:f>
              <c:strCache>
                <c:ptCount val="1"/>
                <c:pt idx="0">
                  <c:v>UMIC5</c:v>
                </c:pt>
              </c:strCache>
            </c:strRef>
          </c:tx>
          <c:spPr>
            <a:ln w="25400" cap="rnd">
              <a:solidFill>
                <a:srgbClr val="CACAAA"/>
              </a:solidFill>
              <a:round/>
            </a:ln>
            <a:effectLst/>
          </c:spPr>
          <c:marker>
            <c:symbol val="circle"/>
            <c:size val="5"/>
            <c:spPr>
              <a:solidFill>
                <a:srgbClr val="CACAAA"/>
              </a:solidFill>
              <a:ln w="12700">
                <a:solidFill>
                  <a:schemeClr val="accent4"/>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chart!$BF$4:$BF$23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2-640A-45DA-9777-4CBE0359EE15}"/>
            </c:ext>
          </c:extLst>
        </c:ser>
        <c:dLbls>
          <c:showLegendKey val="0"/>
          <c:showVal val="0"/>
          <c:showCatName val="0"/>
          <c:showSerName val="0"/>
          <c:showPercent val="0"/>
          <c:showBubbleSize val="0"/>
        </c:dLbls>
        <c:marker val="1"/>
        <c:smooth val="0"/>
        <c:axId val="347074904"/>
        <c:axId val="347075296"/>
      </c:lineChart>
      <c:lineChart>
        <c:grouping val="standard"/>
        <c:varyColors val="0"/>
        <c:ser>
          <c:idx val="9"/>
          <c:order val="4"/>
          <c:tx>
            <c:strRef>
              <c:f>chart!$F$3</c:f>
              <c:strCache>
                <c:ptCount val="1"/>
                <c:pt idx="0">
                  <c:v>Numero de Pobres (Eixo Dto)</c:v>
                </c:pt>
              </c:strCache>
            </c:strRef>
          </c:tx>
          <c:spPr>
            <a:ln w="28575" cap="rnd">
              <a:solidFill>
                <a:schemeClr val="accent4">
                  <a:lumMod val="60000"/>
                </a:schemeClr>
              </a:solidFill>
              <a:round/>
            </a:ln>
            <a:effectLst/>
          </c:spPr>
          <c:marker>
            <c:symbol val="none"/>
          </c:marker>
          <c:dPt>
            <c:idx val="0"/>
            <c:marker>
              <c:symbol val="none"/>
            </c:marker>
            <c:bubble3D val="0"/>
            <c:spPr>
              <a:ln w="28575" cap="rnd">
                <a:solidFill>
                  <a:srgbClr val="7A6563"/>
                </a:solidFill>
                <a:round/>
              </a:ln>
              <a:effectLst/>
            </c:spPr>
            <c:extLst>
              <c:ext xmlns:c16="http://schemas.microsoft.com/office/drawing/2014/chart" uri="{C3380CC4-5D6E-409C-BE32-E72D297353CC}">
                <c16:uniqueId val="{00000014-640A-45DA-9777-4CBE0359EE15}"/>
              </c:ext>
            </c:extLst>
          </c:dPt>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chart!$F$4:$F$20</c:f>
              <c:numCache>
                <c:formatCode>General</c:formatCode>
                <c:ptCount val="17"/>
                <c:pt idx="3">
                  <c:v>20000000</c:v>
                </c:pt>
                <c:pt idx="9">
                  <c:v>16739287.975513671</c:v>
                </c:pt>
                <c:pt idx="10">
                  <c:v>16879544.456932545</c:v>
                </c:pt>
                <c:pt idx="11">
                  <c:v>17286882.147430629</c:v>
                </c:pt>
                <c:pt idx="12">
                  <c:v>17705407.925265193</c:v>
                </c:pt>
                <c:pt idx="13">
                  <c:v>18183398.974682286</c:v>
                </c:pt>
                <c:pt idx="14">
                  <c:v>18798840.547084846</c:v>
                </c:pt>
                <c:pt idx="15">
                  <c:v>19735766.389045063</c:v>
                </c:pt>
                <c:pt idx="16">
                  <c:v>20328952.032127716</c:v>
                </c:pt>
              </c:numCache>
            </c:numRef>
          </c:val>
          <c:smooth val="1"/>
          <c:extLst>
            <c:ext xmlns:c16="http://schemas.microsoft.com/office/drawing/2014/chart" uri="{C3380CC4-5D6E-409C-BE32-E72D297353CC}">
              <c16:uniqueId val="{00000015-640A-45DA-9777-4CBE0359EE15}"/>
            </c:ext>
          </c:extLst>
        </c:ser>
        <c:ser>
          <c:idx val="23"/>
          <c:order val="21"/>
          <c:tx>
            <c:strRef>
              <c:f>chart!$BG$3</c:f>
              <c:strCache>
                <c:ptCount val="1"/>
                <c:pt idx="0">
                  <c:v>IPL6</c:v>
                </c:pt>
              </c:strCache>
            </c:strRef>
          </c:tx>
          <c:spPr>
            <a:ln w="28575" cap="rnd">
              <a:solidFill>
                <a:schemeClr val="accent6">
                  <a:lumMod val="80000"/>
                </a:schemeClr>
              </a:solidFill>
              <a:round/>
            </a:ln>
            <a:effectLst/>
          </c:spPr>
          <c:marker>
            <c:symbol val="circle"/>
            <c:size val="5"/>
            <c:spPr>
              <a:solidFill>
                <a:schemeClr val="accent6">
                  <a:lumMod val="80000"/>
                </a:schemeClr>
              </a:solidFill>
              <a:ln w="9525">
                <a:solidFill>
                  <a:schemeClr val="accent6">
                    <a:lumMod val="80000"/>
                  </a:schemeClr>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chart!$BG$4:$BG$23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6-640A-45DA-9777-4CBE0359EE15}"/>
            </c:ext>
          </c:extLst>
        </c:ser>
        <c:ser>
          <c:idx val="24"/>
          <c:order val="22"/>
          <c:tx>
            <c:strRef>
              <c:f>chart!$BH$3</c:f>
              <c:strCache>
                <c:ptCount val="1"/>
                <c:pt idx="0">
                  <c:v>LMIC6</c:v>
                </c:pt>
              </c:strCache>
            </c:strRef>
          </c:tx>
          <c:spPr>
            <a:ln w="28575" cap="rnd">
              <a:solidFill>
                <a:schemeClr val="accent1">
                  <a:lumMod val="60000"/>
                  <a:lumOff val="40000"/>
                </a:schemeClr>
              </a:solidFill>
              <a:round/>
            </a:ln>
            <a:effectLst/>
          </c:spPr>
          <c:marker>
            <c:symbol val="circle"/>
            <c:size val="5"/>
            <c:spPr>
              <a:solidFill>
                <a:schemeClr val="accent1">
                  <a:lumMod val="60000"/>
                  <a:lumOff val="40000"/>
                </a:schemeClr>
              </a:solidFill>
              <a:ln w="9525">
                <a:solidFill>
                  <a:schemeClr val="accent1">
                    <a:lumMod val="60000"/>
                    <a:lumOff val="40000"/>
                  </a:schemeClr>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chart!$BH$4:$BH$23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7-640A-45DA-9777-4CBE0359EE15}"/>
            </c:ext>
          </c:extLst>
        </c:ser>
        <c:ser>
          <c:idx val="25"/>
          <c:order val="23"/>
          <c:tx>
            <c:strRef>
              <c:f>chart!$BI$3</c:f>
              <c:strCache>
                <c:ptCount val="1"/>
                <c:pt idx="0">
                  <c:v>UMIC6</c:v>
                </c:pt>
              </c:strCache>
            </c:strRef>
          </c:tx>
          <c:spPr>
            <a:ln w="28575" cap="rnd">
              <a:solidFill>
                <a:schemeClr val="accent2">
                  <a:lumMod val="60000"/>
                  <a:lumOff val="40000"/>
                </a:schemeClr>
              </a:solidFill>
              <a:round/>
            </a:ln>
            <a:effectLst/>
          </c:spPr>
          <c:marker>
            <c:symbol val="circle"/>
            <c:size val="5"/>
            <c:spPr>
              <a:solidFill>
                <a:schemeClr val="accent2">
                  <a:lumMod val="60000"/>
                  <a:lumOff val="40000"/>
                </a:schemeClr>
              </a:solidFill>
              <a:ln w="9525">
                <a:solidFill>
                  <a:schemeClr val="accent2">
                    <a:lumMod val="60000"/>
                    <a:lumOff val="40000"/>
                  </a:schemeClr>
                </a:solidFill>
              </a:ln>
              <a:effectLst/>
            </c:spPr>
          </c:marker>
          <c:cat>
            <c:numRef>
              <c:f>chart!$AM$4:$AM$20</c:f>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f>chart!$BI$4:$BI$23</c:f>
              <c:numCache>
                <c:formatCode>General</c:formatCode>
                <c:ptCount val="2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numCache>
            </c:numRef>
          </c:val>
          <c:smooth val="0"/>
          <c:extLst>
            <c:ext xmlns:c16="http://schemas.microsoft.com/office/drawing/2014/chart" uri="{C3380CC4-5D6E-409C-BE32-E72D297353CC}">
              <c16:uniqueId val="{00000018-640A-45DA-9777-4CBE0359EE15}"/>
            </c:ext>
          </c:extLst>
        </c:ser>
        <c:dLbls>
          <c:showLegendKey val="0"/>
          <c:showVal val="0"/>
          <c:showCatName val="0"/>
          <c:showSerName val="0"/>
          <c:showPercent val="0"/>
          <c:showBubbleSize val="0"/>
        </c:dLbls>
        <c:marker val="1"/>
        <c:smooth val="0"/>
        <c:axId val="347076080"/>
        <c:axId val="347075688"/>
        <c:extLst>
          <c:ext xmlns:c15="http://schemas.microsoft.com/office/drawing/2012/chart" uri="{02D57815-91ED-43cb-92C2-25804820EDAC}">
            <c15:filteredLineSeries>
              <c15:ser>
                <c:idx val="3"/>
                <c:order val="2"/>
                <c:tx>
                  <c:strRef>
                    <c:extLst>
                      <c:ext uri="{02D57815-91ED-43cb-92C2-25804820EDAC}">
                        <c15:formulaRef>
                          <c15:sqref>chart!$BJ$3</c15:sqref>
                        </c15:formulaRef>
                      </c:ext>
                    </c:extLst>
                    <c:strCache>
                      <c:ptCount val="1"/>
                      <c:pt idx="0">
                        <c:v>GDP pc</c:v>
                      </c:pt>
                    </c:strCache>
                  </c:strRef>
                </c:tx>
                <c:spPr>
                  <a:ln w="25400" cap="rnd">
                    <a:solidFill>
                      <a:srgbClr val="7FD1B9">
                        <a:alpha val="93000"/>
                      </a:srgbClr>
                    </a:solidFill>
                    <a:prstDash val="sysDot"/>
                    <a:round/>
                  </a:ln>
                  <a:effectLst/>
                </c:spPr>
                <c:marker>
                  <c:symbol val="circle"/>
                  <c:size val="5"/>
                  <c:spPr>
                    <a:solidFill>
                      <a:srgbClr val="7FD1B9"/>
                    </a:solidFill>
                    <a:ln w="12700">
                      <a:solidFill>
                        <a:srgbClr val="7FD1B9"/>
                      </a:solidFill>
                      <a:prstDash val="solid"/>
                    </a:ln>
                    <a:effectLst/>
                  </c:spPr>
                </c:marker>
                <c:cat>
                  <c:numRef>
                    <c:extLst>
                      <c:ext uri="{02D57815-91ED-43cb-92C2-25804820EDAC}">
                        <c15:formulaRef>
                          <c15:sqref>chart!$AM$4:$AM$20</c15:sqref>
                        </c15:formulaRef>
                      </c:ext>
                    </c:extLst>
                    <c:numCache>
                      <c:formatCode>0</c:formatCode>
                      <c:ptCount val="17"/>
                      <c:pt idx="0">
                        <c:v>#N/A</c:v>
                      </c:pt>
                      <c:pt idx="1">
                        <c:v>#N/A</c:v>
                      </c:pt>
                      <c:pt idx="2">
                        <c:v>#N/A</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Cache>
                  </c:numRef>
                </c:cat>
                <c:val>
                  <c:numRef>
                    <c:extLst>
                      <c:ext uri="{02D57815-91ED-43cb-92C2-25804820EDAC}">
                        <c15:formulaRef>
                          <c15:sqref>chart!$BJ$4:$BJ$20</c15:sqref>
                        </c15:formulaRef>
                      </c:ext>
                    </c:extLst>
                    <c:numCache>
                      <c:formatCode>General</c:formatCode>
                      <c:ptCount val="17"/>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21213.024724533054</c:v>
                      </c:pt>
                    </c:numCache>
                  </c:numRef>
                </c:val>
                <c:smooth val="1"/>
                <c:extLst>
                  <c:ext xmlns:c16="http://schemas.microsoft.com/office/drawing/2014/chart" uri="{C3380CC4-5D6E-409C-BE32-E72D297353CC}">
                    <c16:uniqueId val="{00000019-640A-45DA-9777-4CBE0359EE15}"/>
                  </c:ext>
                </c:extLst>
              </c15:ser>
            </c15:filteredLineSeries>
          </c:ext>
        </c:extLst>
      </c:lineChart>
      <c:dateAx>
        <c:axId val="347074904"/>
        <c:scaling>
          <c:orientation val="minMax"/>
        </c:scaling>
        <c:delete val="0"/>
        <c:axPos val="b"/>
        <c:numFmt formatCode="0" sourceLinked="1"/>
        <c:majorTickMark val="out"/>
        <c:minorTickMark val="out"/>
        <c:tickLblPos val="low"/>
        <c:spPr>
          <a:noFill/>
          <a:ln w="12700" cap="flat" cmpd="sng" algn="ctr">
            <a:solidFill>
              <a:srgbClr val="CCCCCC"/>
            </a:solidFill>
            <a:round/>
          </a:ln>
          <a:effectLst/>
        </c:spPr>
        <c:txPr>
          <a:bodyPr rot="0" spcFirstLastPara="1" vertOverflow="ellipsis" wrap="square" anchor="ctr" anchorCtr="1"/>
          <a:lstStyle/>
          <a:p>
            <a:pPr>
              <a:defRPr lang="en-US" sz="800" b="0" i="0" u="none" strike="noStrike" kern="1200" baseline="0">
                <a:solidFill>
                  <a:sysClr val="windowText" lastClr="000000"/>
                </a:solidFill>
                <a:latin typeface="+mn-lt"/>
                <a:ea typeface="+mn-ea"/>
                <a:cs typeface="+mn-cs"/>
              </a:defRPr>
            </a:pPr>
            <a:endParaRPr lang="en-US"/>
          </a:p>
        </c:txPr>
        <c:crossAx val="347075296"/>
        <c:crosses val="autoZero"/>
        <c:auto val="0"/>
        <c:lblOffset val="100"/>
        <c:baseTimeUnit val="days"/>
      </c:dateAx>
      <c:valAx>
        <c:axId val="347075296"/>
        <c:scaling>
          <c:orientation val="minMax"/>
        </c:scaling>
        <c:delete val="0"/>
        <c:axPos val="l"/>
        <c:title>
          <c:tx>
            <c:rich>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r>
                  <a:rPr lang="en-US"/>
                  <a:t>Taxa de Pobreza (%)</a:t>
                </a:r>
              </a:p>
            </c:rich>
          </c:tx>
          <c:layout>
            <c:manualLayout>
              <c:xMode val="edge"/>
              <c:yMode val="edge"/>
              <c:x val="6.3636471116786065E-3"/>
              <c:y val="0.25779602162132836"/>
            </c:manualLayout>
          </c:layout>
          <c:overlay val="0"/>
          <c:spPr>
            <a:noFill/>
            <a:ln>
              <a:noFill/>
            </a:ln>
            <a:effectLst/>
          </c:spPr>
          <c:txPr>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title>
        <c:numFmt formatCode="0" sourceLinked="0"/>
        <c:majorTickMark val="out"/>
        <c:minorTickMark val="none"/>
        <c:tickLblPos val="nextTo"/>
        <c:spPr>
          <a:noFill/>
          <a:ln w="12700">
            <a:solidFill>
              <a:srgbClr val="CCCCCC"/>
            </a:solidFill>
          </a:ln>
          <a:effectLst/>
        </c:spPr>
        <c:txPr>
          <a:bodyPr rot="-600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crossAx val="347074904"/>
        <c:crosses val="autoZero"/>
        <c:crossBetween val="between"/>
      </c:valAx>
      <c:valAx>
        <c:axId val="347075688"/>
        <c:scaling>
          <c:orientation val="minMax"/>
        </c:scaling>
        <c:delete val="0"/>
        <c:axPos val="r"/>
        <c:title>
          <c:tx>
            <c:rich>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r>
                  <a:rPr lang="en-US" dirty="0" err="1"/>
                  <a:t>Número</a:t>
                </a:r>
                <a:r>
                  <a:rPr lang="en-US" dirty="0"/>
                  <a:t> de </a:t>
                </a:r>
                <a:r>
                  <a:rPr lang="en-US" dirty="0" err="1"/>
                  <a:t>pobres</a:t>
                </a:r>
                <a:r>
                  <a:rPr lang="en-US" dirty="0"/>
                  <a:t> 
</a:t>
                </a:r>
              </a:p>
            </c:rich>
          </c:tx>
          <c:layout>
            <c:manualLayout>
              <c:xMode val="edge"/>
              <c:yMode val="edge"/>
              <c:x val="0.91475491239270756"/>
              <c:y val="0.24633427604495176"/>
            </c:manualLayout>
          </c:layout>
          <c:overlay val="0"/>
          <c:spPr>
            <a:noFill/>
            <a:ln>
              <a:noFill/>
            </a:ln>
            <a:effectLst/>
          </c:spPr>
          <c:txPr>
            <a:bodyPr rot="-54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title>
        <c:numFmt formatCode="#,##0" sourceLinked="0"/>
        <c:majorTickMark val="out"/>
        <c:minorTickMark val="none"/>
        <c:tickLblPos val="nextTo"/>
        <c:spPr>
          <a:noFill/>
          <a:ln w="12700">
            <a:solidFill>
              <a:srgbClr val="CCCCCC"/>
            </a:solidFill>
          </a:ln>
          <a:effectLst/>
        </c:spPr>
        <c:txPr>
          <a:bodyPr rot="-6000000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crossAx val="347076080"/>
        <c:crosses val="max"/>
        <c:crossBetween val="between"/>
        <c:dispUnits>
          <c:builtInUnit val="millions"/>
          <c:dispUnitsLbl>
            <c:layout>
              <c:manualLayout>
                <c:xMode val="edge"/>
                <c:yMode val="edge"/>
                <c:x val="0.87551902295996786"/>
                <c:y val="0.36789829565877907"/>
              </c:manualLayout>
            </c:layout>
            <c:spPr>
              <a:noFill/>
              <a:ln>
                <a:noFill/>
              </a:ln>
              <a:effectLst/>
            </c:spPr>
            <c:txPr>
              <a:bodyPr rot="-5400000" spcFirstLastPara="1" vertOverflow="ellipsis" vert="horz" wrap="square" anchor="ctr" anchorCtr="1"/>
              <a:lstStyle/>
              <a:p>
                <a:pPr>
                  <a:defRPr lang="en-US" sz="800" b="0" i="0" u="none" strike="noStrike" kern="1200" baseline="0" smtClean="0">
                    <a:solidFill>
                      <a:sysClr val="windowText" lastClr="000000"/>
                    </a:solidFill>
                    <a:latin typeface="+mn-lt"/>
                    <a:ea typeface="+mn-ea"/>
                    <a:cs typeface="+mn-cs"/>
                  </a:defRPr>
                </a:pPr>
                <a:endParaRPr lang="en-US"/>
              </a:p>
            </c:txPr>
          </c:dispUnitsLbl>
        </c:dispUnits>
      </c:valAx>
      <c:dateAx>
        <c:axId val="347076080"/>
        <c:scaling>
          <c:orientation val="minMax"/>
        </c:scaling>
        <c:delete val="1"/>
        <c:axPos val="b"/>
        <c:numFmt formatCode="0" sourceLinked="1"/>
        <c:majorTickMark val="out"/>
        <c:minorTickMark val="none"/>
        <c:tickLblPos val="nextTo"/>
        <c:crossAx val="347075688"/>
        <c:crosses val="autoZero"/>
        <c:auto val="0"/>
        <c:lblOffset val="100"/>
        <c:baseTimeUnit val="days"/>
      </c:dateAx>
      <c:spPr>
        <a:noFill/>
        <a:ln w="25400">
          <a:noFill/>
        </a:ln>
        <a:effectLst/>
      </c:spPr>
    </c:plotArea>
    <c:legend>
      <c:legendPos val="b"/>
      <c:legendEntry>
        <c:idx val="1"/>
        <c:delete val="1"/>
      </c:legendEntry>
      <c:legendEntry>
        <c:idx val="2"/>
        <c:delete val="1"/>
      </c:legendEntry>
      <c:legendEntry>
        <c:idx val="3"/>
        <c:delete val="1"/>
      </c:legendEntry>
      <c:legendEntry>
        <c:idx val="4"/>
        <c:delete val="1"/>
      </c:legendEntry>
      <c:legendEntry>
        <c:idx val="5"/>
        <c:delete val="1"/>
      </c:legendEntry>
      <c:legendEntry>
        <c:idx val="6"/>
        <c:delete val="1"/>
      </c:legendEntry>
      <c:legendEntry>
        <c:idx val="7"/>
        <c:delete val="1"/>
      </c:legendEntry>
      <c:legendEntry>
        <c:idx val="8"/>
        <c:delete val="1"/>
      </c:legendEntry>
      <c:legendEntry>
        <c:idx val="9"/>
        <c:delete val="1"/>
      </c:legendEntry>
      <c:legendEntry>
        <c:idx val="10"/>
        <c:delete val="1"/>
      </c:legendEntry>
      <c:legendEntry>
        <c:idx val="11"/>
        <c:delete val="1"/>
      </c:legendEntry>
      <c:legendEntry>
        <c:idx val="12"/>
        <c:delete val="1"/>
      </c:legendEntry>
      <c:legendEntry>
        <c:idx val="13"/>
        <c:delete val="1"/>
      </c:legendEntry>
      <c:legendEntry>
        <c:idx val="14"/>
        <c:delete val="1"/>
      </c:legendEntry>
      <c:legendEntry>
        <c:idx val="15"/>
        <c:delete val="1"/>
      </c:legendEntry>
      <c:legendEntry>
        <c:idx val="16"/>
        <c:delete val="1"/>
      </c:legendEntry>
      <c:legendEntry>
        <c:idx val="17"/>
        <c:delete val="1"/>
      </c:legendEntry>
      <c:legendEntry>
        <c:idx val="18"/>
        <c:delete val="1"/>
      </c:legendEntry>
      <c:legendEntry>
        <c:idx val="20"/>
        <c:delete val="1"/>
      </c:legendEntry>
      <c:legendEntry>
        <c:idx val="21"/>
        <c:delete val="1"/>
      </c:legendEntry>
      <c:legendEntry>
        <c:idx val="22"/>
        <c:delete val="1"/>
      </c:legendEntry>
      <c:layout>
        <c:manualLayout>
          <c:xMode val="edge"/>
          <c:yMode val="edge"/>
          <c:x val="8.7589051368578939E-3"/>
          <c:y val="0.89981913318527473"/>
          <c:w val="0.98538595561786746"/>
          <c:h val="0.10018078803884993"/>
        </c:manualLayout>
      </c:layout>
      <c:overlay val="0"/>
      <c:spPr>
        <a:noFill/>
        <a:ln>
          <a:noFill/>
        </a:ln>
        <a:effectLst/>
      </c:spPr>
      <c:txPr>
        <a:bodyPr rot="0" spcFirstLastPara="1" vertOverflow="ellipsis" vert="horz" wrap="square" anchor="ctr" anchorCtr="1"/>
        <a:lstStyle/>
        <a:p>
          <a:pPr>
            <a:defRPr lang="en-US" sz="750" b="0" i="0" u="none" strike="noStrike" kern="1200" baseline="0">
              <a:solidFill>
                <a:sysClr val="windowText" lastClr="000000"/>
              </a:solidFill>
              <a:latin typeface="+mn-lt"/>
              <a:ea typeface="+mn-ea"/>
              <a:cs typeface="+mn-cs"/>
            </a:defRPr>
          </a:pPr>
          <a:endParaRPr lang="en-US"/>
        </a:p>
      </c:txPr>
    </c:legend>
    <c:plotVisOnly val="1"/>
    <c:dispBlanksAs val="span"/>
    <c:showDLblsOverMax val="0"/>
  </c:chart>
  <c:spPr>
    <a:noFill/>
    <a:ln w="9525" cap="flat" cmpd="sng" algn="ctr">
      <a:noFill/>
      <a:round/>
    </a:ln>
    <a:effectLst/>
  </c:spPr>
  <c:txPr>
    <a:bodyPr/>
    <a:lstStyle/>
    <a:p>
      <a:pPr algn="ctr">
        <a:defRPr lang="en-US" sz="800" b="0" i="0" u="none" strike="noStrike" kern="1200" baseline="0">
          <a:solidFill>
            <a:sysClr val="windowText" lastClr="000000"/>
          </a:solidFill>
          <a:latin typeface="+mn-lt"/>
          <a:ea typeface="+mn-ea"/>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960" b="1" i="0" u="none" strike="noStrike" kern="1200" spc="0" baseline="0">
                <a:solidFill>
                  <a:schemeClr val="tx1"/>
                </a:solidFill>
                <a:latin typeface="Arial" panose="020B0604020202020204" pitchFamily="34" charset="0"/>
                <a:ea typeface="+mn-ea"/>
                <a:cs typeface="Arial" panose="020B0604020202020204" pitchFamily="34" charset="0"/>
              </a:defRPr>
            </a:pPr>
            <a:r>
              <a:rPr lang="en-US" b="1" dirty="0"/>
              <a:t>Nominal GDP per Capita (1998 - 2021) </a:t>
            </a:r>
          </a:p>
        </c:rich>
      </c:tx>
      <c:layout>
        <c:manualLayout>
          <c:xMode val="edge"/>
          <c:yMode val="edge"/>
          <c:x val="0.17644002269986522"/>
          <c:y val="4.0669274383337742E-2"/>
        </c:manualLayout>
      </c:layout>
      <c:overlay val="0"/>
      <c:spPr>
        <a:noFill/>
        <a:ln>
          <a:noFill/>
        </a:ln>
        <a:effectLst/>
      </c:spPr>
      <c:txPr>
        <a:bodyPr rot="0" spcFirstLastPara="1" vertOverflow="ellipsis" vert="horz" wrap="square" anchor="ctr" anchorCtr="1"/>
        <a:lstStyle/>
        <a:p>
          <a:pPr algn="ctr" rtl="0">
            <a:defRPr sz="960" b="1"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5397849761091456"/>
          <c:y val="0.18604658792650919"/>
          <c:w val="0.79448656181298138"/>
          <c:h val="0.61513204744755745"/>
        </c:manualLayout>
      </c:layout>
      <c:lineChart>
        <c:grouping val="standard"/>
        <c:varyColors val="0"/>
        <c:ser>
          <c:idx val="0"/>
          <c:order val="0"/>
          <c:spPr>
            <a:ln w="22225" cap="rnd">
              <a:solidFill>
                <a:schemeClr val="accent1"/>
              </a:solidFill>
              <a:round/>
            </a:ln>
            <a:effectLst/>
          </c:spPr>
          <c:marker>
            <c:symbol val="none"/>
          </c:marker>
          <c:trendline>
            <c:spPr>
              <a:ln w="38100" cap="rnd">
                <a:solidFill>
                  <a:schemeClr val="accent1"/>
                </a:solidFill>
                <a:prstDash val="sysDot"/>
              </a:ln>
              <a:effectLst/>
            </c:spPr>
            <c:trendlineType val="linear"/>
            <c:dispRSqr val="0"/>
            <c:dispEq val="0"/>
          </c:trendline>
          <c:cat>
            <c:numRef>
              <c:f>WEO_Data!$N$1:$AK$1</c:f>
              <c:numCache>
                <c:formatCode>General</c:formatCode>
                <c:ptCount val="24"/>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pt idx="23">
                  <c:v>2021</c:v>
                </c:pt>
              </c:numCache>
            </c:numRef>
          </c:cat>
          <c:val>
            <c:numRef>
              <c:f>WEO_Data!$N$2:$AK$2</c:f>
              <c:numCache>
                <c:formatCode>0</c:formatCode>
                <c:ptCount val="24"/>
                <c:pt idx="0">
                  <c:v>313.06400000000002</c:v>
                </c:pt>
                <c:pt idx="1">
                  <c:v>346.57400000000001</c:v>
                </c:pt>
                <c:pt idx="2">
                  <c:v>319.358</c:v>
                </c:pt>
                <c:pt idx="3">
                  <c:v>296.26799999999997</c:v>
                </c:pt>
                <c:pt idx="4">
                  <c:v>302.54599999999999</c:v>
                </c:pt>
                <c:pt idx="5">
                  <c:v>326.07499999999999</c:v>
                </c:pt>
                <c:pt idx="6">
                  <c:v>383.27</c:v>
                </c:pt>
                <c:pt idx="7">
                  <c:v>416.81099999999998</c:v>
                </c:pt>
                <c:pt idx="8">
                  <c:v>435.334</c:v>
                </c:pt>
                <c:pt idx="9">
                  <c:v>482.19799999999998</c:v>
                </c:pt>
                <c:pt idx="10">
                  <c:v>563.649</c:v>
                </c:pt>
                <c:pt idx="11">
                  <c:v>520.40300000000002</c:v>
                </c:pt>
                <c:pt idx="12">
                  <c:v>471.904</c:v>
                </c:pt>
                <c:pt idx="13">
                  <c:v>594.58600000000001</c:v>
                </c:pt>
                <c:pt idx="14">
                  <c:v>657.64499999999998</c:v>
                </c:pt>
                <c:pt idx="15">
                  <c:v>664.07799999999997</c:v>
                </c:pt>
                <c:pt idx="16">
                  <c:v>673.96900000000005</c:v>
                </c:pt>
                <c:pt idx="17">
                  <c:v>589.86</c:v>
                </c:pt>
                <c:pt idx="18">
                  <c:v>428.92700000000002</c:v>
                </c:pt>
                <c:pt idx="19">
                  <c:v>461.41500000000002</c:v>
                </c:pt>
                <c:pt idx="20">
                  <c:v>503.30200000000002</c:v>
                </c:pt>
                <c:pt idx="21">
                  <c:v>506.81700000000001</c:v>
                </c:pt>
                <c:pt idx="22">
                  <c:v>448.84399999999999</c:v>
                </c:pt>
                <c:pt idx="23">
                  <c:v>492.27300000000002</c:v>
                </c:pt>
              </c:numCache>
            </c:numRef>
          </c:val>
          <c:smooth val="0"/>
          <c:extLst>
            <c:ext xmlns:c16="http://schemas.microsoft.com/office/drawing/2014/chart" uri="{C3380CC4-5D6E-409C-BE32-E72D297353CC}">
              <c16:uniqueId val="{00000001-B8A7-4445-9761-209A75DFFF5E}"/>
            </c:ext>
          </c:extLst>
        </c:ser>
        <c:dLbls>
          <c:showLegendKey val="0"/>
          <c:showVal val="0"/>
          <c:showCatName val="0"/>
          <c:showSerName val="0"/>
          <c:showPercent val="0"/>
          <c:showBubbleSize val="0"/>
        </c:dLbls>
        <c:smooth val="0"/>
        <c:axId val="1373882991"/>
        <c:axId val="1373882575"/>
      </c:lineChart>
      <c:catAx>
        <c:axId val="1373882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373882575"/>
        <c:crosses val="autoZero"/>
        <c:auto val="1"/>
        <c:lblAlgn val="ctr"/>
        <c:lblOffset val="100"/>
        <c:noMultiLvlLbl val="0"/>
      </c:catAx>
      <c:valAx>
        <c:axId val="1373882575"/>
        <c:scaling>
          <c:orientation val="minMax"/>
          <c:max val="800"/>
          <c:min val="2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r>
                  <a:rPr lang="en-US"/>
                  <a:t>USD</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373882991"/>
        <c:crossesAt val="1"/>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latin typeface="Arial" panose="020B0604020202020204" pitchFamily="34" charset="0"/>
          <a:cs typeface="Arial" panose="020B0604020202020204" pitchFamily="34" charset="0"/>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mn-lt"/>
                <a:ea typeface="+mn-ea"/>
                <a:cs typeface="+mn-cs"/>
              </a:defRPr>
            </a:pPr>
            <a:r>
              <a:rPr lang="en-US" sz="1000" b="1" dirty="0"/>
              <a:t>Ghana</a:t>
            </a:r>
          </a:p>
        </c:rich>
      </c:tx>
      <c:layout>
        <c:manualLayout>
          <c:xMode val="edge"/>
          <c:yMode val="edge"/>
          <c:x val="0.43990959463400414"/>
          <c:y val="2.9845391074027772E-2"/>
        </c:manualLayout>
      </c:layout>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6055159049439793"/>
          <c:y val="0.14632725436291447"/>
          <c:w val="0.81699165217111958"/>
          <c:h val="0.64778554555626755"/>
        </c:manualLayout>
      </c:layout>
      <c:lineChart>
        <c:grouping val="standard"/>
        <c:varyColors val="0"/>
        <c:ser>
          <c:idx val="0"/>
          <c:order val="0"/>
          <c:tx>
            <c:strRef>
              <c:f>'Employment other countries'!$B$8</c:f>
              <c:strCache>
                <c:ptCount val="1"/>
                <c:pt idx="0">
                  <c:v>Agriculture</c:v>
                </c:pt>
              </c:strCache>
            </c:strRef>
          </c:tx>
          <c:spPr>
            <a:ln w="28575" cap="rnd">
              <a:solidFill>
                <a:schemeClr val="accent1"/>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countries'!$C$8:$AE$8</c:f>
              <c:numCache>
                <c:formatCode>0</c:formatCode>
                <c:ptCount val="29"/>
                <c:pt idx="0">
                  <c:v>57.119998931884801</c:v>
                </c:pt>
                <c:pt idx="1">
                  <c:v>56.939998626708999</c:v>
                </c:pt>
                <c:pt idx="2">
                  <c:v>56.680000305175803</c:v>
                </c:pt>
                <c:pt idx="3">
                  <c:v>56.490001678466797</c:v>
                </c:pt>
                <c:pt idx="4">
                  <c:v>56.240001678466797</c:v>
                </c:pt>
                <c:pt idx="5">
                  <c:v>55.970001220703097</c:v>
                </c:pt>
                <c:pt idx="6">
                  <c:v>55.659999847412102</c:v>
                </c:pt>
                <c:pt idx="7">
                  <c:v>55.299999237060497</c:v>
                </c:pt>
                <c:pt idx="8">
                  <c:v>54.950000762939503</c:v>
                </c:pt>
                <c:pt idx="9">
                  <c:v>55.029998779296903</c:v>
                </c:pt>
                <c:pt idx="10">
                  <c:v>55.099998474121101</c:v>
                </c:pt>
                <c:pt idx="11">
                  <c:v>55.119998931884801</c:v>
                </c:pt>
                <c:pt idx="12">
                  <c:v>55.099998474121101</c:v>
                </c:pt>
                <c:pt idx="13">
                  <c:v>55.049999237060497</c:v>
                </c:pt>
                <c:pt idx="14">
                  <c:v>54.959999084472699</c:v>
                </c:pt>
                <c:pt idx="15">
                  <c:v>54.930000305175803</c:v>
                </c:pt>
                <c:pt idx="16">
                  <c:v>53.939998626708999</c:v>
                </c:pt>
                <c:pt idx="17">
                  <c:v>52.630001068115199</c:v>
                </c:pt>
                <c:pt idx="18">
                  <c:v>51.509998321533203</c:v>
                </c:pt>
                <c:pt idx="19">
                  <c:v>50.110000610351598</c:v>
                </c:pt>
                <c:pt idx="20">
                  <c:v>48.360000610351598</c:v>
                </c:pt>
                <c:pt idx="21">
                  <c:v>46.849998474121101</c:v>
                </c:pt>
                <c:pt idx="22">
                  <c:v>45.380001068115199</c:v>
                </c:pt>
                <c:pt idx="23">
                  <c:v>40.409999847412102</c:v>
                </c:pt>
                <c:pt idx="24">
                  <c:v>35.180000305175803</c:v>
                </c:pt>
                <c:pt idx="25">
                  <c:v>33.889999389648402</c:v>
                </c:pt>
                <c:pt idx="26">
                  <c:v>32.569999694824197</c:v>
                </c:pt>
                <c:pt idx="27">
                  <c:v>31.049999237060501</c:v>
                </c:pt>
                <c:pt idx="28">
                  <c:v>29.75</c:v>
                </c:pt>
              </c:numCache>
            </c:numRef>
          </c:val>
          <c:smooth val="0"/>
          <c:extLst>
            <c:ext xmlns:c16="http://schemas.microsoft.com/office/drawing/2014/chart" uri="{C3380CC4-5D6E-409C-BE32-E72D297353CC}">
              <c16:uniqueId val="{00000000-D36D-44E7-9431-96E9731FE797}"/>
            </c:ext>
          </c:extLst>
        </c:ser>
        <c:ser>
          <c:idx val="1"/>
          <c:order val="1"/>
          <c:tx>
            <c:strRef>
              <c:f>'Employment other countries'!$B$9</c:f>
              <c:strCache>
                <c:ptCount val="1"/>
                <c:pt idx="0">
                  <c:v>Industry</c:v>
                </c:pt>
              </c:strCache>
            </c:strRef>
          </c:tx>
          <c:spPr>
            <a:ln w="28575" cap="rnd">
              <a:solidFill>
                <a:schemeClr val="tx2"/>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countries'!$C$9:$AE$9</c:f>
              <c:numCache>
                <c:formatCode>0</c:formatCode>
                <c:ptCount val="29"/>
                <c:pt idx="0">
                  <c:v>14.0100002288818</c:v>
                </c:pt>
                <c:pt idx="1">
                  <c:v>14</c:v>
                </c:pt>
                <c:pt idx="2">
                  <c:v>14.060000419616699</c:v>
                </c:pt>
                <c:pt idx="3">
                  <c:v>14.0299997329712</c:v>
                </c:pt>
                <c:pt idx="4">
                  <c:v>14.0100002288818</c:v>
                </c:pt>
                <c:pt idx="5">
                  <c:v>13.9700002670288</c:v>
                </c:pt>
                <c:pt idx="6">
                  <c:v>13.9799995422363</c:v>
                </c:pt>
                <c:pt idx="7">
                  <c:v>13.9700002670288</c:v>
                </c:pt>
                <c:pt idx="8">
                  <c:v>13.9899997711182</c:v>
                </c:pt>
                <c:pt idx="9">
                  <c:v>14</c:v>
                </c:pt>
                <c:pt idx="10">
                  <c:v>14.0100002288818</c:v>
                </c:pt>
                <c:pt idx="11">
                  <c:v>14.039999961853001</c:v>
                </c:pt>
                <c:pt idx="12">
                  <c:v>14.069999694824199</c:v>
                </c:pt>
                <c:pt idx="13">
                  <c:v>14.1099996566772</c:v>
                </c:pt>
                <c:pt idx="14">
                  <c:v>14.180000305175801</c:v>
                </c:pt>
                <c:pt idx="15">
                  <c:v>14.2299995422363</c:v>
                </c:pt>
                <c:pt idx="16">
                  <c:v>14.069999694824199</c:v>
                </c:pt>
                <c:pt idx="17">
                  <c:v>13.949999809265099</c:v>
                </c:pt>
                <c:pt idx="18">
                  <c:v>13.8699998855591</c:v>
                </c:pt>
                <c:pt idx="19">
                  <c:v>13.9099998474121</c:v>
                </c:pt>
                <c:pt idx="20">
                  <c:v>13.9799995422363</c:v>
                </c:pt>
                <c:pt idx="21">
                  <c:v>14</c:v>
                </c:pt>
                <c:pt idx="22">
                  <c:v>14.069999694824199</c:v>
                </c:pt>
                <c:pt idx="23">
                  <c:v>16.200000762939499</c:v>
                </c:pt>
                <c:pt idx="24">
                  <c:v>18.690000534057599</c:v>
                </c:pt>
                <c:pt idx="25">
                  <c:v>19.129999160766602</c:v>
                </c:pt>
                <c:pt idx="26">
                  <c:v>19.620000839233398</c:v>
                </c:pt>
                <c:pt idx="27">
                  <c:v>20.469999313354499</c:v>
                </c:pt>
                <c:pt idx="28">
                  <c:v>21.049999237060501</c:v>
                </c:pt>
              </c:numCache>
            </c:numRef>
          </c:val>
          <c:smooth val="0"/>
          <c:extLst>
            <c:ext xmlns:c16="http://schemas.microsoft.com/office/drawing/2014/chart" uri="{C3380CC4-5D6E-409C-BE32-E72D297353CC}">
              <c16:uniqueId val="{00000001-D36D-44E7-9431-96E9731FE797}"/>
            </c:ext>
          </c:extLst>
        </c:ser>
        <c:ser>
          <c:idx val="2"/>
          <c:order val="2"/>
          <c:tx>
            <c:strRef>
              <c:f>'Employment other countries'!$B$10</c:f>
              <c:strCache>
                <c:ptCount val="1"/>
                <c:pt idx="0">
                  <c:v>Services</c:v>
                </c:pt>
              </c:strCache>
            </c:strRef>
          </c:tx>
          <c:spPr>
            <a:ln w="28575" cap="rnd">
              <a:solidFill>
                <a:schemeClr val="accent3"/>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countries'!$C$10:$AE$10</c:f>
              <c:numCache>
                <c:formatCode>0</c:formatCode>
                <c:ptCount val="29"/>
                <c:pt idx="0">
                  <c:v>28.870000839233398</c:v>
                </c:pt>
                <c:pt idx="1">
                  <c:v>29.059999465942401</c:v>
                </c:pt>
                <c:pt idx="2">
                  <c:v>29.2600002288818</c:v>
                </c:pt>
                <c:pt idx="3">
                  <c:v>29.4799995422363</c:v>
                </c:pt>
                <c:pt idx="4">
                  <c:v>29.75</c:v>
                </c:pt>
                <c:pt idx="5">
                  <c:v>30.059999465942401</c:v>
                </c:pt>
                <c:pt idx="6">
                  <c:v>30.360000610351602</c:v>
                </c:pt>
                <c:pt idx="7">
                  <c:v>30.7299995422363</c:v>
                </c:pt>
                <c:pt idx="8">
                  <c:v>31.069999694824201</c:v>
                </c:pt>
                <c:pt idx="9">
                  <c:v>30.969999313354499</c:v>
                </c:pt>
                <c:pt idx="10">
                  <c:v>30.899999618530298</c:v>
                </c:pt>
                <c:pt idx="11">
                  <c:v>30.850000381469702</c:v>
                </c:pt>
                <c:pt idx="12">
                  <c:v>30.840000152587901</c:v>
                </c:pt>
                <c:pt idx="13">
                  <c:v>30.850000381469702</c:v>
                </c:pt>
                <c:pt idx="14">
                  <c:v>30.860000610351602</c:v>
                </c:pt>
                <c:pt idx="15">
                  <c:v>30.840000152587901</c:v>
                </c:pt>
                <c:pt idx="16">
                  <c:v>31.9899997711182</c:v>
                </c:pt>
                <c:pt idx="17">
                  <c:v>33.419998168945298</c:v>
                </c:pt>
                <c:pt idx="18">
                  <c:v>34.619998931884801</c:v>
                </c:pt>
                <c:pt idx="19">
                  <c:v>35.9799995422363</c:v>
                </c:pt>
                <c:pt idx="20">
                  <c:v>37.650001525878899</c:v>
                </c:pt>
                <c:pt idx="21">
                  <c:v>39.150001525878899</c:v>
                </c:pt>
                <c:pt idx="22">
                  <c:v>40.549999237060497</c:v>
                </c:pt>
                <c:pt idx="23">
                  <c:v>43.389999389648402</c:v>
                </c:pt>
                <c:pt idx="24">
                  <c:v>46.139999389648402</c:v>
                </c:pt>
                <c:pt idx="25">
                  <c:v>46.9799995422363</c:v>
                </c:pt>
                <c:pt idx="26">
                  <c:v>47.810001373291001</c:v>
                </c:pt>
                <c:pt idx="27">
                  <c:v>48.4799995422363</c:v>
                </c:pt>
                <c:pt idx="28">
                  <c:v>49.209999084472699</c:v>
                </c:pt>
              </c:numCache>
            </c:numRef>
          </c:val>
          <c:smooth val="0"/>
          <c:extLst>
            <c:ext xmlns:c16="http://schemas.microsoft.com/office/drawing/2014/chart" uri="{C3380CC4-5D6E-409C-BE32-E72D297353CC}">
              <c16:uniqueId val="{00000002-D36D-44E7-9431-96E9731FE797}"/>
            </c:ext>
          </c:extLst>
        </c:ser>
        <c:dLbls>
          <c:showLegendKey val="0"/>
          <c:showVal val="0"/>
          <c:showCatName val="0"/>
          <c:showSerName val="0"/>
          <c:showPercent val="0"/>
          <c:showBubbleSize val="0"/>
        </c:dLbls>
        <c:smooth val="0"/>
        <c:axId val="1659466655"/>
        <c:axId val="1617463791"/>
      </c:lineChart>
      <c:catAx>
        <c:axId val="1659466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17463791"/>
        <c:crosses val="autoZero"/>
        <c:auto val="1"/>
        <c:lblAlgn val="ctr"/>
        <c:lblOffset val="100"/>
        <c:noMultiLvlLbl val="0"/>
      </c:catAx>
      <c:valAx>
        <c:axId val="161746379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59466655"/>
        <c:crosses val="autoZero"/>
        <c:crossBetween val="between"/>
      </c:valAx>
      <c:spPr>
        <a:noFill/>
        <a:ln>
          <a:noFill/>
        </a:ln>
        <a:effectLst/>
      </c:spPr>
    </c:plotArea>
    <c:legend>
      <c:legendPos val="b"/>
      <c:layout>
        <c:manualLayout>
          <c:xMode val="edge"/>
          <c:yMode val="edge"/>
          <c:x val="6.9645900648737782E-2"/>
          <c:y val="0.28320246191586995"/>
          <c:w val="0.67092812956675563"/>
          <c:h val="0.1400610442883446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250039424352364"/>
          <c:y val="5.3898434823404499E-2"/>
          <c:w val="0.80134246431326561"/>
          <c:h val="0.73563982139795736"/>
        </c:manualLayout>
      </c:layout>
      <c:lineChart>
        <c:grouping val="standard"/>
        <c:varyColors val="0"/>
        <c:ser>
          <c:idx val="0"/>
          <c:order val="0"/>
          <c:tx>
            <c:strRef>
              <c:f>'Employment other countries'!$B$17</c:f>
              <c:strCache>
                <c:ptCount val="1"/>
                <c:pt idx="0">
                  <c:v>Agriculture</c:v>
                </c:pt>
              </c:strCache>
            </c:strRef>
          </c:tx>
          <c:spPr>
            <a:ln w="28575" cap="rnd">
              <a:solidFill>
                <a:schemeClr val="accent1"/>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countries'!$C$17:$AE$17</c:f>
              <c:numCache>
                <c:formatCode>0</c:formatCode>
                <c:ptCount val="29"/>
                <c:pt idx="0">
                  <c:v>70.879997253417997</c:v>
                </c:pt>
                <c:pt idx="1">
                  <c:v>69.809997558593807</c:v>
                </c:pt>
                <c:pt idx="2">
                  <c:v>68.779998779296903</c:v>
                </c:pt>
                <c:pt idx="3">
                  <c:v>67.819999694824205</c:v>
                </c:pt>
                <c:pt idx="4">
                  <c:v>66.970001220703097</c:v>
                </c:pt>
                <c:pt idx="5">
                  <c:v>66.309997558593807</c:v>
                </c:pt>
                <c:pt idx="6">
                  <c:v>65.279998779296903</c:v>
                </c:pt>
                <c:pt idx="7">
                  <c:v>64.769996643066406</c:v>
                </c:pt>
                <c:pt idx="8">
                  <c:v>64.989997863769503</c:v>
                </c:pt>
                <c:pt idx="9">
                  <c:v>65.25</c:v>
                </c:pt>
                <c:pt idx="10">
                  <c:v>63.990001678466797</c:v>
                </c:pt>
                <c:pt idx="11">
                  <c:v>62.040000915527301</c:v>
                </c:pt>
                <c:pt idx="12">
                  <c:v>59.680000305175803</c:v>
                </c:pt>
                <c:pt idx="13">
                  <c:v>57.900001525878899</c:v>
                </c:pt>
                <c:pt idx="14">
                  <c:v>54.830001831054702</c:v>
                </c:pt>
                <c:pt idx="15">
                  <c:v>51.669998168945298</c:v>
                </c:pt>
                <c:pt idx="16">
                  <c:v>49.279998779296903</c:v>
                </c:pt>
                <c:pt idx="17">
                  <c:v>48.619998931884801</c:v>
                </c:pt>
                <c:pt idx="18">
                  <c:v>47.549999237060497</c:v>
                </c:pt>
                <c:pt idx="19">
                  <c:v>48.709999084472699</c:v>
                </c:pt>
                <c:pt idx="20">
                  <c:v>48.310001373291001</c:v>
                </c:pt>
                <c:pt idx="21">
                  <c:v>47.369998931884801</c:v>
                </c:pt>
                <c:pt idx="22">
                  <c:v>46.810001373291001</c:v>
                </c:pt>
                <c:pt idx="23">
                  <c:v>46.340000152587898</c:v>
                </c:pt>
                <c:pt idx="24">
                  <c:v>44.0200004577637</c:v>
                </c:pt>
                <c:pt idx="25">
                  <c:v>41.869998931884801</c:v>
                </c:pt>
                <c:pt idx="26">
                  <c:v>40.159999847412102</c:v>
                </c:pt>
                <c:pt idx="27">
                  <c:v>38.700000762939503</c:v>
                </c:pt>
                <c:pt idx="28">
                  <c:v>37.220001220703097</c:v>
                </c:pt>
              </c:numCache>
            </c:numRef>
          </c:val>
          <c:smooth val="0"/>
          <c:extLst>
            <c:ext xmlns:c16="http://schemas.microsoft.com/office/drawing/2014/chart" uri="{C3380CC4-5D6E-409C-BE32-E72D297353CC}">
              <c16:uniqueId val="{00000000-846F-46D3-AEDC-D7A1A13074D5}"/>
            </c:ext>
          </c:extLst>
        </c:ser>
        <c:ser>
          <c:idx val="1"/>
          <c:order val="1"/>
          <c:tx>
            <c:strRef>
              <c:f>'Employment other countries'!$B$18</c:f>
              <c:strCache>
                <c:ptCount val="1"/>
                <c:pt idx="0">
                  <c:v>Industry</c:v>
                </c:pt>
              </c:strCache>
            </c:strRef>
          </c:tx>
          <c:spPr>
            <a:ln w="28575" cap="rnd">
              <a:solidFill>
                <a:schemeClr val="tx2"/>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countries'!$C$18:$AE$18</c:f>
              <c:numCache>
                <c:formatCode>0</c:formatCode>
                <c:ptCount val="29"/>
                <c:pt idx="0">
                  <c:v>10.1199998855591</c:v>
                </c:pt>
                <c:pt idx="1">
                  <c:v>10.579999923706101</c:v>
                </c:pt>
                <c:pt idx="2">
                  <c:v>11.0900001525879</c:v>
                </c:pt>
                <c:pt idx="3">
                  <c:v>11.4700002670288</c:v>
                </c:pt>
                <c:pt idx="4">
                  <c:v>11.819999694824199</c:v>
                </c:pt>
                <c:pt idx="5">
                  <c:v>12.25</c:v>
                </c:pt>
                <c:pt idx="6">
                  <c:v>12.680000305175801</c:v>
                </c:pt>
                <c:pt idx="7">
                  <c:v>11.579999923706101</c:v>
                </c:pt>
                <c:pt idx="8">
                  <c:v>11.9899997711182</c:v>
                </c:pt>
                <c:pt idx="9">
                  <c:v>12.439999580383301</c:v>
                </c:pt>
                <c:pt idx="10">
                  <c:v>13.8999996185303</c:v>
                </c:pt>
                <c:pt idx="11">
                  <c:v>14.699999809265099</c:v>
                </c:pt>
                <c:pt idx="12">
                  <c:v>16.409999847412099</c:v>
                </c:pt>
                <c:pt idx="13">
                  <c:v>17.350000381469702</c:v>
                </c:pt>
                <c:pt idx="14">
                  <c:v>18.7399997711182</c:v>
                </c:pt>
                <c:pt idx="15">
                  <c:v>20.190000534057599</c:v>
                </c:pt>
                <c:pt idx="16">
                  <c:v>20.389999389648398</c:v>
                </c:pt>
                <c:pt idx="17">
                  <c:v>21</c:v>
                </c:pt>
                <c:pt idx="18">
                  <c:v>21.850000381469702</c:v>
                </c:pt>
                <c:pt idx="19">
                  <c:v>21.680000305175799</c:v>
                </c:pt>
                <c:pt idx="20">
                  <c:v>21.280000686645501</c:v>
                </c:pt>
                <c:pt idx="21">
                  <c:v>21.190000534057599</c:v>
                </c:pt>
                <c:pt idx="22">
                  <c:v>21.180000305175799</c:v>
                </c:pt>
                <c:pt idx="23">
                  <c:v>21.450000762939499</c:v>
                </c:pt>
                <c:pt idx="24">
                  <c:v>22.7399997711182</c:v>
                </c:pt>
                <c:pt idx="25">
                  <c:v>24.7600002288818</c:v>
                </c:pt>
                <c:pt idx="26">
                  <c:v>25.780000686645501</c:v>
                </c:pt>
                <c:pt idx="27">
                  <c:v>26.639999389648398</c:v>
                </c:pt>
                <c:pt idx="28">
                  <c:v>27.440000534057599</c:v>
                </c:pt>
              </c:numCache>
            </c:numRef>
          </c:val>
          <c:smooth val="0"/>
          <c:extLst>
            <c:ext xmlns:c16="http://schemas.microsoft.com/office/drawing/2014/chart" uri="{C3380CC4-5D6E-409C-BE32-E72D297353CC}">
              <c16:uniqueId val="{00000001-846F-46D3-AEDC-D7A1A13074D5}"/>
            </c:ext>
          </c:extLst>
        </c:ser>
        <c:ser>
          <c:idx val="2"/>
          <c:order val="2"/>
          <c:tx>
            <c:strRef>
              <c:f>'Employment other countries'!$B$19</c:f>
              <c:strCache>
                <c:ptCount val="1"/>
                <c:pt idx="0">
                  <c:v>Services</c:v>
                </c:pt>
              </c:strCache>
            </c:strRef>
          </c:tx>
          <c:spPr>
            <a:ln w="28575" cap="rnd">
              <a:solidFill>
                <a:schemeClr val="accent3"/>
              </a:solidFill>
              <a:round/>
            </a:ln>
            <a:effectLst/>
          </c:spPr>
          <c:marker>
            <c:symbol val="none"/>
          </c:marker>
          <c:cat>
            <c:strRef>
              <c:f>'Employment other countries'!$C$4:$AE$4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 other countries'!$C$19:$AE$19</c:f>
              <c:numCache>
                <c:formatCode>0</c:formatCode>
                <c:ptCount val="29"/>
                <c:pt idx="0">
                  <c:v>19</c:v>
                </c:pt>
                <c:pt idx="1">
                  <c:v>19.620000839233398</c:v>
                </c:pt>
                <c:pt idx="2">
                  <c:v>20.129999160766602</c:v>
                </c:pt>
                <c:pt idx="3">
                  <c:v>20.709999084472699</c:v>
                </c:pt>
                <c:pt idx="4">
                  <c:v>21.219999313354499</c:v>
                </c:pt>
                <c:pt idx="5">
                  <c:v>21.440000534057599</c:v>
                </c:pt>
                <c:pt idx="6">
                  <c:v>22.040000915527301</c:v>
                </c:pt>
                <c:pt idx="7">
                  <c:v>23.649999618530298</c:v>
                </c:pt>
                <c:pt idx="8">
                  <c:v>23.0200004577637</c:v>
                </c:pt>
                <c:pt idx="9">
                  <c:v>22.309999465942401</c:v>
                </c:pt>
                <c:pt idx="10">
                  <c:v>22.110000610351602</c:v>
                </c:pt>
                <c:pt idx="11">
                  <c:v>23.2600002288818</c:v>
                </c:pt>
                <c:pt idx="12">
                  <c:v>23.909999847412099</c:v>
                </c:pt>
                <c:pt idx="13">
                  <c:v>24.75</c:v>
                </c:pt>
                <c:pt idx="14">
                  <c:v>26.440000534057599</c:v>
                </c:pt>
                <c:pt idx="15">
                  <c:v>28.149999618530298</c:v>
                </c:pt>
                <c:pt idx="16">
                  <c:v>30.329999923706101</c:v>
                </c:pt>
                <c:pt idx="17">
                  <c:v>30.379999160766602</c:v>
                </c:pt>
                <c:pt idx="18">
                  <c:v>30.600000381469702</c:v>
                </c:pt>
                <c:pt idx="19">
                  <c:v>29.610000610351602</c:v>
                </c:pt>
                <c:pt idx="20">
                  <c:v>30.409999847412099</c:v>
                </c:pt>
                <c:pt idx="21">
                  <c:v>31.440000534057599</c:v>
                </c:pt>
                <c:pt idx="22">
                  <c:v>32</c:v>
                </c:pt>
                <c:pt idx="23">
                  <c:v>32.220001220703097</c:v>
                </c:pt>
                <c:pt idx="24">
                  <c:v>33.240001678466797</c:v>
                </c:pt>
                <c:pt idx="25">
                  <c:v>33.369998931884801</c:v>
                </c:pt>
                <c:pt idx="26">
                  <c:v>34.069999694824197</c:v>
                </c:pt>
                <c:pt idx="27">
                  <c:v>34.659999847412102</c:v>
                </c:pt>
                <c:pt idx="28">
                  <c:v>35.340000152587898</c:v>
                </c:pt>
              </c:numCache>
            </c:numRef>
          </c:val>
          <c:smooth val="0"/>
          <c:extLst>
            <c:ext xmlns:c16="http://schemas.microsoft.com/office/drawing/2014/chart" uri="{C3380CC4-5D6E-409C-BE32-E72D297353CC}">
              <c16:uniqueId val="{00000002-846F-46D3-AEDC-D7A1A13074D5}"/>
            </c:ext>
          </c:extLst>
        </c:ser>
        <c:dLbls>
          <c:showLegendKey val="0"/>
          <c:showVal val="0"/>
          <c:showCatName val="0"/>
          <c:showSerName val="0"/>
          <c:showPercent val="0"/>
          <c:showBubbleSize val="0"/>
        </c:dLbls>
        <c:smooth val="0"/>
        <c:axId val="1672639951"/>
        <c:axId val="1678579311"/>
      </c:lineChart>
      <c:catAx>
        <c:axId val="1672639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78579311"/>
        <c:crosses val="autoZero"/>
        <c:auto val="1"/>
        <c:lblAlgn val="ctr"/>
        <c:lblOffset val="100"/>
        <c:noMultiLvlLbl val="0"/>
      </c:catAx>
      <c:valAx>
        <c:axId val="16785793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72639951"/>
        <c:crosses val="autoZero"/>
        <c:crossBetween val="between"/>
      </c:valAx>
      <c:spPr>
        <a:noFill/>
        <a:ln>
          <a:noFill/>
        </a:ln>
        <a:effectLst/>
      </c:spPr>
    </c:plotArea>
    <c:legend>
      <c:legendPos val="b"/>
      <c:layout>
        <c:manualLayout>
          <c:xMode val="edge"/>
          <c:yMode val="edge"/>
          <c:x val="3.6296923858670921E-2"/>
          <c:y val="0.35244715098352108"/>
          <c:w val="0.47782195117767134"/>
          <c:h val="0.1668288430294251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r>
              <a:rPr lang="en-US" sz="1000" b="1" dirty="0"/>
              <a:t>Mozambique</a:t>
            </a:r>
          </a:p>
        </c:rich>
      </c:tx>
      <c:layout>
        <c:manualLayout>
          <c:xMode val="edge"/>
          <c:yMode val="edge"/>
          <c:x val="0.34561719958354936"/>
          <c:y val="1.6252761496656221E-2"/>
        </c:manualLayout>
      </c:layout>
      <c:overlay val="0"/>
      <c:spPr>
        <a:noFill/>
        <a:ln>
          <a:noFill/>
        </a:ln>
        <a:effectLst/>
      </c:spPr>
      <c:txPr>
        <a:bodyPr rot="0" spcFirstLastPara="1" vertOverflow="ellipsis" vert="horz" wrap="square" anchor="ctr" anchorCtr="1"/>
        <a:lstStyle/>
        <a:p>
          <a:pPr>
            <a:defRPr sz="96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1987652152304404"/>
          <c:y val="8.8635095751140841E-2"/>
          <c:w val="0.8202694075860858"/>
          <c:h val="0.70460925273463015"/>
        </c:manualLayout>
      </c:layout>
      <c:lineChart>
        <c:grouping val="standard"/>
        <c:varyColors val="0"/>
        <c:ser>
          <c:idx val="0"/>
          <c:order val="0"/>
          <c:tx>
            <c:strRef>
              <c:f>Employment!$B$8</c:f>
              <c:strCache>
                <c:ptCount val="1"/>
                <c:pt idx="0">
                  <c:v>Agriculture </c:v>
                </c:pt>
              </c:strCache>
            </c:strRef>
          </c:tx>
          <c:spPr>
            <a:ln w="28575" cap="rnd">
              <a:solidFill>
                <a:schemeClr val="accent1"/>
              </a:solidFill>
              <a:round/>
            </a:ln>
            <a:effectLst/>
          </c:spPr>
          <c:marker>
            <c:symbol val="none"/>
          </c:marker>
          <c:cat>
            <c:strRef>
              <c:f>Employment!$C$4:$AE$4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Employment!$C$8:$AE$8</c:f>
              <c:numCache>
                <c:formatCode>0</c:formatCode>
                <c:ptCount val="29"/>
                <c:pt idx="0">
                  <c:v>84.430000305175795</c:v>
                </c:pt>
                <c:pt idx="1">
                  <c:v>84.540000915527301</c:v>
                </c:pt>
                <c:pt idx="2">
                  <c:v>84.360000610351605</c:v>
                </c:pt>
                <c:pt idx="3">
                  <c:v>84.230003356933594</c:v>
                </c:pt>
                <c:pt idx="4">
                  <c:v>84.160003662109403</c:v>
                </c:pt>
                <c:pt idx="5">
                  <c:v>83.819999694824205</c:v>
                </c:pt>
                <c:pt idx="6">
                  <c:v>83.419998168945298</c:v>
                </c:pt>
                <c:pt idx="7">
                  <c:v>82.970001220703097</c:v>
                </c:pt>
                <c:pt idx="8">
                  <c:v>82.410003662109403</c:v>
                </c:pt>
                <c:pt idx="9">
                  <c:v>82.220001220703097</c:v>
                </c:pt>
                <c:pt idx="10">
                  <c:v>81.519996643066406</c:v>
                </c:pt>
                <c:pt idx="11">
                  <c:v>80.949996948242202</c:v>
                </c:pt>
                <c:pt idx="12">
                  <c:v>80.470001220703097</c:v>
                </c:pt>
                <c:pt idx="13">
                  <c:v>79.980003356933594</c:v>
                </c:pt>
                <c:pt idx="14">
                  <c:v>79.510002136230497</c:v>
                </c:pt>
                <c:pt idx="15">
                  <c:v>78.860000610351605</c:v>
                </c:pt>
                <c:pt idx="16">
                  <c:v>78.260002136230497</c:v>
                </c:pt>
                <c:pt idx="17">
                  <c:v>77.650001525878906</c:v>
                </c:pt>
                <c:pt idx="18">
                  <c:v>77.050003051757798</c:v>
                </c:pt>
                <c:pt idx="19">
                  <c:v>76.389999389648395</c:v>
                </c:pt>
                <c:pt idx="20">
                  <c:v>75.629997253417997</c:v>
                </c:pt>
                <c:pt idx="21">
                  <c:v>74.849998474121094</c:v>
                </c:pt>
                <c:pt idx="22">
                  <c:v>74.019996643066406</c:v>
                </c:pt>
                <c:pt idx="23">
                  <c:v>73.120002746582003</c:v>
                </c:pt>
                <c:pt idx="24">
                  <c:v>72.120002746582003</c:v>
                </c:pt>
                <c:pt idx="25">
                  <c:v>71.559997558593807</c:v>
                </c:pt>
                <c:pt idx="26">
                  <c:v>71.059997558593807</c:v>
                </c:pt>
                <c:pt idx="27">
                  <c:v>70.589996337890597</c:v>
                </c:pt>
                <c:pt idx="28">
                  <c:v>70.220001220703097</c:v>
                </c:pt>
              </c:numCache>
            </c:numRef>
          </c:val>
          <c:smooth val="0"/>
          <c:extLst>
            <c:ext xmlns:c16="http://schemas.microsoft.com/office/drawing/2014/chart" uri="{C3380CC4-5D6E-409C-BE32-E72D297353CC}">
              <c16:uniqueId val="{00000000-50D6-49F2-97EA-7AB7A7CC293B}"/>
            </c:ext>
          </c:extLst>
        </c:ser>
        <c:ser>
          <c:idx val="1"/>
          <c:order val="1"/>
          <c:tx>
            <c:strRef>
              <c:f>Employment!$B$9</c:f>
              <c:strCache>
                <c:ptCount val="1"/>
                <c:pt idx="0">
                  <c:v>Industry</c:v>
                </c:pt>
              </c:strCache>
            </c:strRef>
          </c:tx>
          <c:spPr>
            <a:ln w="28575" cap="rnd">
              <a:solidFill>
                <a:schemeClr val="tx1"/>
              </a:solidFill>
              <a:round/>
            </a:ln>
            <a:effectLst/>
          </c:spPr>
          <c:marker>
            <c:symbol val="none"/>
          </c:marker>
          <c:cat>
            <c:strRef>
              <c:f>Employment!$C$4:$AE$4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Employment!$C$9:$AE$9</c:f>
              <c:numCache>
                <c:formatCode>0</c:formatCode>
                <c:ptCount val="29"/>
                <c:pt idx="0">
                  <c:v>2.5</c:v>
                </c:pt>
                <c:pt idx="1">
                  <c:v>2.5099999904632599</c:v>
                </c:pt>
                <c:pt idx="2">
                  <c:v>2.5199999809265101</c:v>
                </c:pt>
                <c:pt idx="3">
                  <c:v>2.53999996185303</c:v>
                </c:pt>
                <c:pt idx="4">
                  <c:v>2.5599999427795401</c:v>
                </c:pt>
                <c:pt idx="5">
                  <c:v>2.6099998950958301</c:v>
                </c:pt>
                <c:pt idx="6">
                  <c:v>2.6800000667571999</c:v>
                </c:pt>
                <c:pt idx="7">
                  <c:v>2.7599999904632599</c:v>
                </c:pt>
                <c:pt idx="8">
                  <c:v>2.8499999046325701</c:v>
                </c:pt>
                <c:pt idx="9">
                  <c:v>2.9500000476837198</c:v>
                </c:pt>
                <c:pt idx="10">
                  <c:v>3.0999999046325701</c:v>
                </c:pt>
                <c:pt idx="11">
                  <c:v>3.2300000190734899</c:v>
                </c:pt>
                <c:pt idx="12">
                  <c:v>3.3900001049041699</c:v>
                </c:pt>
                <c:pt idx="13">
                  <c:v>3.6099998950958301</c:v>
                </c:pt>
                <c:pt idx="14">
                  <c:v>3.8399999141693102</c:v>
                </c:pt>
                <c:pt idx="15">
                  <c:v>4.1100001335143999</c:v>
                </c:pt>
                <c:pt idx="16">
                  <c:v>4.3800001144409197</c:v>
                </c:pt>
                <c:pt idx="17">
                  <c:v>4.6799998283386204</c:v>
                </c:pt>
                <c:pt idx="18">
                  <c:v>5</c:v>
                </c:pt>
                <c:pt idx="19">
                  <c:v>5.3600001335143999</c:v>
                </c:pt>
                <c:pt idx="20">
                  <c:v>5.7600002288818404</c:v>
                </c:pt>
                <c:pt idx="21">
                  <c:v>6.1799998283386204</c:v>
                </c:pt>
                <c:pt idx="22">
                  <c:v>6.6500000953674299</c:v>
                </c:pt>
                <c:pt idx="23">
                  <c:v>7.1500000953674299</c:v>
                </c:pt>
                <c:pt idx="24">
                  <c:v>7.75</c:v>
                </c:pt>
                <c:pt idx="25">
                  <c:v>8.0299997329711896</c:v>
                </c:pt>
                <c:pt idx="26">
                  <c:v>8.25</c:v>
                </c:pt>
                <c:pt idx="27">
                  <c:v>8.4499998092651403</c:v>
                </c:pt>
                <c:pt idx="28">
                  <c:v>8.5900001525878906</c:v>
                </c:pt>
              </c:numCache>
            </c:numRef>
          </c:val>
          <c:smooth val="0"/>
          <c:extLst>
            <c:ext xmlns:c16="http://schemas.microsoft.com/office/drawing/2014/chart" uri="{C3380CC4-5D6E-409C-BE32-E72D297353CC}">
              <c16:uniqueId val="{00000001-50D6-49F2-97EA-7AB7A7CC293B}"/>
            </c:ext>
          </c:extLst>
        </c:ser>
        <c:ser>
          <c:idx val="2"/>
          <c:order val="2"/>
          <c:tx>
            <c:strRef>
              <c:f>Employment!$B$10</c:f>
              <c:strCache>
                <c:ptCount val="1"/>
                <c:pt idx="0">
                  <c:v>Services</c:v>
                </c:pt>
              </c:strCache>
            </c:strRef>
          </c:tx>
          <c:spPr>
            <a:ln w="28575" cap="rnd">
              <a:solidFill>
                <a:schemeClr val="accent3"/>
              </a:solidFill>
              <a:round/>
            </a:ln>
            <a:effectLst/>
          </c:spPr>
          <c:marker>
            <c:symbol val="none"/>
          </c:marker>
          <c:cat>
            <c:strRef>
              <c:f>Employment!$C$4:$AE$4</c:f>
              <c:strCach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strCache>
            </c:strRef>
          </c:cat>
          <c:val>
            <c:numRef>
              <c:f>Employment!$C$10:$AE$10</c:f>
              <c:numCache>
                <c:formatCode>0</c:formatCode>
                <c:ptCount val="29"/>
                <c:pt idx="0">
                  <c:v>13.069999694824199</c:v>
                </c:pt>
                <c:pt idx="1">
                  <c:v>12.960000038146999</c:v>
                </c:pt>
                <c:pt idx="2">
                  <c:v>13.1199998855591</c:v>
                </c:pt>
                <c:pt idx="3">
                  <c:v>13.2299995422363</c:v>
                </c:pt>
                <c:pt idx="4">
                  <c:v>13.2799997329712</c:v>
                </c:pt>
                <c:pt idx="5">
                  <c:v>13.560000419616699</c:v>
                </c:pt>
                <c:pt idx="6">
                  <c:v>13.9099998474121</c:v>
                </c:pt>
                <c:pt idx="7">
                  <c:v>14.2700004577637</c:v>
                </c:pt>
                <c:pt idx="8">
                  <c:v>14.7399997711182</c:v>
                </c:pt>
                <c:pt idx="9">
                  <c:v>14.829999923706101</c:v>
                </c:pt>
                <c:pt idx="10">
                  <c:v>15.3800001144409</c:v>
                </c:pt>
                <c:pt idx="11">
                  <c:v>15.819999694824199</c:v>
                </c:pt>
                <c:pt idx="12">
                  <c:v>16.139999389648398</c:v>
                </c:pt>
                <c:pt idx="13">
                  <c:v>16.409999847412099</c:v>
                </c:pt>
                <c:pt idx="14">
                  <c:v>16.649999618530298</c:v>
                </c:pt>
                <c:pt idx="15">
                  <c:v>17.030000686645501</c:v>
                </c:pt>
                <c:pt idx="16">
                  <c:v>17.360000610351602</c:v>
                </c:pt>
                <c:pt idx="17">
                  <c:v>17.670000076293899</c:v>
                </c:pt>
                <c:pt idx="18">
                  <c:v>17.950000762939499</c:v>
                </c:pt>
                <c:pt idx="19">
                  <c:v>18.25</c:v>
                </c:pt>
                <c:pt idx="20">
                  <c:v>18.610000610351602</c:v>
                </c:pt>
                <c:pt idx="21">
                  <c:v>18.969999313354499</c:v>
                </c:pt>
                <c:pt idx="22">
                  <c:v>19.340000152587901</c:v>
                </c:pt>
                <c:pt idx="23">
                  <c:v>19.7399997711182</c:v>
                </c:pt>
                <c:pt idx="24">
                  <c:v>20.139999389648398</c:v>
                </c:pt>
                <c:pt idx="25">
                  <c:v>20.409999847412099</c:v>
                </c:pt>
                <c:pt idx="26">
                  <c:v>20.700000762939499</c:v>
                </c:pt>
                <c:pt idx="27">
                  <c:v>20.959999084472699</c:v>
                </c:pt>
                <c:pt idx="28">
                  <c:v>21.190000534057599</c:v>
                </c:pt>
              </c:numCache>
            </c:numRef>
          </c:val>
          <c:smooth val="0"/>
          <c:extLst>
            <c:ext xmlns:c16="http://schemas.microsoft.com/office/drawing/2014/chart" uri="{C3380CC4-5D6E-409C-BE32-E72D297353CC}">
              <c16:uniqueId val="{00000002-50D6-49F2-97EA-7AB7A7CC293B}"/>
            </c:ext>
          </c:extLst>
        </c:ser>
        <c:dLbls>
          <c:showLegendKey val="0"/>
          <c:showVal val="0"/>
          <c:showCatName val="0"/>
          <c:showSerName val="0"/>
          <c:showPercent val="0"/>
          <c:showBubbleSize val="0"/>
        </c:dLbls>
        <c:smooth val="0"/>
        <c:axId val="1564359999"/>
        <c:axId val="1577186079"/>
      </c:lineChart>
      <c:catAx>
        <c:axId val="15643599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577186079"/>
        <c:crosses val="autoZero"/>
        <c:auto val="1"/>
        <c:lblAlgn val="ctr"/>
        <c:lblOffset val="100"/>
        <c:noMultiLvlLbl val="0"/>
      </c:catAx>
      <c:valAx>
        <c:axId val="157718607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564359999"/>
        <c:crosses val="autoZero"/>
        <c:crossBetween val="between"/>
      </c:valAx>
      <c:spPr>
        <a:noFill/>
        <a:ln>
          <a:noFill/>
        </a:ln>
        <a:effectLst/>
      </c:spPr>
    </c:plotArea>
    <c:legend>
      <c:legendPos val="b"/>
      <c:layout>
        <c:manualLayout>
          <c:xMode val="edge"/>
          <c:yMode val="edge"/>
          <c:x val="0.15338409004245912"/>
          <c:y val="0.33700968895635741"/>
          <c:w val="0.37763719949785995"/>
          <c:h val="0.18051951475362046"/>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r>
              <a:rPr lang="pt-PT" b="1" dirty="0"/>
              <a:t>Crescimento Real do PIB (billion de Meticais )</a:t>
            </a:r>
          </a:p>
        </c:rich>
      </c:tx>
      <c:layout>
        <c:manualLayout>
          <c:xMode val="edge"/>
          <c:yMode val="edge"/>
          <c:x val="0.18621016122984627"/>
          <c:y val="3.6745406824146981E-2"/>
        </c:manualLayout>
      </c:layout>
      <c:overlay val="0"/>
      <c:spPr>
        <a:noFill/>
        <a:ln>
          <a:noFill/>
        </a:ln>
        <a:effectLst/>
      </c:spPr>
      <c:txPr>
        <a:bodyPr rot="0" spcFirstLastPara="1" vertOverflow="ellipsis" vert="horz" wrap="square" anchor="ctr" anchorCtr="1"/>
        <a:lstStyle/>
        <a:p>
          <a:pPr>
            <a:defRPr sz="96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5345988001499813"/>
          <c:y val="0.21031062062124123"/>
          <c:w val="0.79876580574008049"/>
          <c:h val="0.44322648645297291"/>
        </c:manualLayout>
      </c:layout>
      <c:lineChart>
        <c:grouping val="standard"/>
        <c:varyColors val="0"/>
        <c:ser>
          <c:idx val="0"/>
          <c:order val="0"/>
          <c:tx>
            <c:strRef>
              <c:f>'Macro indicators_Scenarios'!$B$3</c:f>
              <c:strCache>
                <c:ptCount val="1"/>
                <c:pt idx="0">
                  <c:v>GDP without LNG</c:v>
                </c:pt>
              </c:strCache>
            </c:strRef>
          </c:tx>
          <c:spPr>
            <a:ln w="28575" cap="rnd">
              <a:solidFill>
                <a:schemeClr val="accent1"/>
              </a:solidFill>
              <a:round/>
            </a:ln>
            <a:effectLst/>
          </c:spPr>
          <c:marker>
            <c:symbol val="none"/>
          </c:marker>
          <c:cat>
            <c:numRef>
              <c:f>'Macro indicators_Scenarios'!$C$2:$AG$2</c:f>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extLst/>
            </c:numRef>
          </c:cat>
          <c:val>
            <c:numRef>
              <c:f>'Macro indicators_Scenarios'!$C$3:$AG$3</c:f>
              <c:numCache>
                <c:formatCode>_(* #,##0_);_(* \(#,##0\);_(* "-"??_);_(@_)</c:formatCode>
                <c:ptCount val="16"/>
                <c:pt idx="0">
                  <c:v>660475.90047073364</c:v>
                </c:pt>
                <c:pt idx="1">
                  <c:v>675557.9517326355</c:v>
                </c:pt>
                <c:pt idx="2">
                  <c:v>679855.21094950335</c:v>
                </c:pt>
                <c:pt idx="3">
                  <c:v>699792.46552849095</c:v>
                </c:pt>
                <c:pt idx="4">
                  <c:v>722394.96930213703</c:v>
                </c:pt>
                <c:pt idx="5">
                  <c:v>747645.22392207873</c:v>
                </c:pt>
                <c:pt idx="6">
                  <c:v>773869.86768189236</c:v>
                </c:pt>
                <c:pt idx="7">
                  <c:v>796277.69076249679</c:v>
                </c:pt>
                <c:pt idx="8">
                  <c:v>819431.35840654687</c:v>
                </c:pt>
                <c:pt idx="9">
                  <c:v>843358.06269267004</c:v>
                </c:pt>
                <c:pt idx="10">
                  <c:v>868086.05315755727</c:v>
                </c:pt>
                <c:pt idx="11">
                  <c:v>893644.67997541185</c:v>
                </c:pt>
                <c:pt idx="12">
                  <c:v>920064.4389692574</c:v>
                </c:pt>
                <c:pt idx="13">
                  <c:v>947377.01853422867</c:v>
                </c:pt>
                <c:pt idx="14">
                  <c:v>975615.34855655301</c:v>
                </c:pt>
                <c:pt idx="15">
                  <c:v>1004813.651415695</c:v>
                </c:pt>
              </c:numCache>
              <c:extLst/>
            </c:numRef>
          </c:val>
          <c:smooth val="0"/>
          <c:extLst>
            <c:ext xmlns:c16="http://schemas.microsoft.com/office/drawing/2014/chart" uri="{C3380CC4-5D6E-409C-BE32-E72D297353CC}">
              <c16:uniqueId val="{00000000-33DC-4EC3-BFEC-76EBA48B8139}"/>
            </c:ext>
          </c:extLst>
        </c:ser>
        <c:ser>
          <c:idx val="2"/>
          <c:order val="2"/>
          <c:tx>
            <c:v>GDP with LNG</c:v>
          </c:tx>
          <c:spPr>
            <a:ln w="28575" cap="rnd">
              <a:solidFill>
                <a:schemeClr val="accent3"/>
              </a:solidFill>
              <a:round/>
            </a:ln>
            <a:effectLst/>
          </c:spPr>
          <c:marker>
            <c:symbol val="none"/>
          </c:marker>
          <c:cat>
            <c:numRef>
              <c:f>'Macro indicators_Scenarios'!$C$2:$AG$2</c:f>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extLst/>
            </c:numRef>
          </c:cat>
          <c:val>
            <c:numRef>
              <c:f>'Macro indicators_Scenarios'!$C$5:$AG$5</c:f>
              <c:numCache>
                <c:formatCode>_(* #,##0_);_(* \(#,##0\);_(* "-"??_);_(@_)</c:formatCode>
                <c:ptCount val="16"/>
                <c:pt idx="0">
                  <c:v>667202.64812743722</c:v>
                </c:pt>
                <c:pt idx="1">
                  <c:v>684896.98289692053</c:v>
                </c:pt>
                <c:pt idx="2">
                  <c:v>691351.01319641795</c:v>
                </c:pt>
                <c:pt idx="3">
                  <c:v>735977.67333207279</c:v>
                </c:pt>
                <c:pt idx="4">
                  <c:v>799816.10440437438</c:v>
                </c:pt>
                <c:pt idx="5">
                  <c:v>911872.33640954609</c:v>
                </c:pt>
                <c:pt idx="6">
                  <c:v>927827.61688503972</c:v>
                </c:pt>
                <c:pt idx="7">
                  <c:v>1061913.5705534103</c:v>
                </c:pt>
                <c:pt idx="8">
                  <c:v>1527397.0913652813</c:v>
                </c:pt>
                <c:pt idx="9">
                  <c:v>1516893.6062039351</c:v>
                </c:pt>
                <c:pt idx="10">
                  <c:v>1521839.679317337</c:v>
                </c:pt>
                <c:pt idx="11">
                  <c:v>1521573.9598987373</c:v>
                </c:pt>
                <c:pt idx="12">
                  <c:v>1541022.7038377482</c:v>
                </c:pt>
                <c:pt idx="13">
                  <c:v>1581134.5253437296</c:v>
                </c:pt>
                <c:pt idx="14">
                  <c:v>1611586.7276827712</c:v>
                </c:pt>
                <c:pt idx="15">
                  <c:v>1639868.4636517013</c:v>
                </c:pt>
              </c:numCache>
              <c:extLst/>
            </c:numRef>
          </c:val>
          <c:smooth val="0"/>
          <c:extLst>
            <c:ext xmlns:c16="http://schemas.microsoft.com/office/drawing/2014/chart" uri="{C3380CC4-5D6E-409C-BE32-E72D297353CC}">
              <c16:uniqueId val="{00000001-33DC-4EC3-BFEC-76EBA48B8139}"/>
            </c:ext>
          </c:extLst>
        </c:ser>
        <c:ser>
          <c:idx val="3"/>
          <c:order val="3"/>
          <c:tx>
            <c:v>GDP with LNG - Mamba delay</c:v>
          </c:tx>
          <c:spPr>
            <a:ln w="28575" cap="rnd">
              <a:solidFill>
                <a:schemeClr val="accent4"/>
              </a:solidFill>
              <a:prstDash val="sysDash"/>
              <a:round/>
            </a:ln>
            <a:effectLst/>
          </c:spPr>
          <c:marker>
            <c:symbol val="none"/>
          </c:marker>
          <c:cat>
            <c:numRef>
              <c:f>'Macro indicators_Scenarios'!$C$2:$AG$2</c:f>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extLst/>
            </c:numRef>
          </c:cat>
          <c:val>
            <c:numRef>
              <c:f>'Macro indicators_Scenarios'!$C$6:$AG$6</c:f>
              <c:numCache>
                <c:formatCode>_(* #,##0_);_(* \(#,##0\);_(* "-"??_);_(@_)</c:formatCode>
                <c:ptCount val="16"/>
                <c:pt idx="0">
                  <c:v>667202.64812743722</c:v>
                </c:pt>
                <c:pt idx="1">
                  <c:v>684896.98289692053</c:v>
                </c:pt>
                <c:pt idx="2">
                  <c:v>691351.01319641795</c:v>
                </c:pt>
                <c:pt idx="3">
                  <c:v>727073.64339029393</c:v>
                </c:pt>
                <c:pt idx="4">
                  <c:v>767797.57798569114</c:v>
                </c:pt>
                <c:pt idx="5">
                  <c:v>880541.93433574308</c:v>
                </c:pt>
                <c:pt idx="6">
                  <c:v>872232.83024711441</c:v>
                </c:pt>
                <c:pt idx="7">
                  <c:v>1035971.187115716</c:v>
                </c:pt>
                <c:pt idx="8">
                  <c:v>1207572.6599682651</c:v>
                </c:pt>
                <c:pt idx="9">
                  <c:v>1214101.3863621061</c:v>
                </c:pt>
                <c:pt idx="10">
                  <c:v>1249210.3729032476</c:v>
                </c:pt>
                <c:pt idx="11">
                  <c:v>1251093.6093817996</c:v>
                </c:pt>
                <c:pt idx="12">
                  <c:v>1565372.3291573955</c:v>
                </c:pt>
                <c:pt idx="13">
                  <c:v>1592234.8416456962</c:v>
                </c:pt>
                <c:pt idx="14">
                  <c:v>1620540.5582557167</c:v>
                </c:pt>
                <c:pt idx="15">
                  <c:v>1641181.3359769424</c:v>
                </c:pt>
              </c:numCache>
              <c:extLst/>
            </c:numRef>
          </c:val>
          <c:smooth val="0"/>
          <c:extLst>
            <c:ext xmlns:c16="http://schemas.microsoft.com/office/drawing/2014/chart" uri="{C3380CC4-5D6E-409C-BE32-E72D297353CC}">
              <c16:uniqueId val="{00000002-33DC-4EC3-BFEC-76EBA48B8139}"/>
            </c:ext>
          </c:extLst>
        </c:ser>
        <c:dLbls>
          <c:showLegendKey val="0"/>
          <c:showVal val="0"/>
          <c:showCatName val="0"/>
          <c:showSerName val="0"/>
          <c:showPercent val="0"/>
          <c:showBubbleSize val="0"/>
        </c:dLbls>
        <c:smooth val="0"/>
        <c:axId val="72501183"/>
        <c:axId val="66742943"/>
        <c:extLst>
          <c:ext xmlns:c15="http://schemas.microsoft.com/office/drawing/2012/chart" uri="{02D57815-91ED-43cb-92C2-25804820EDAC}">
            <c15:filteredLineSeries>
              <c15:ser>
                <c:idx val="1"/>
                <c:order val="1"/>
                <c:tx>
                  <c:strRef>
                    <c:extLst>
                      <c:ext uri="{02D57815-91ED-43cb-92C2-25804820EDAC}">
                        <c15:formulaRef>
                          <c15:sqref>'Macro indicators_Scenarios'!$B$4</c15:sqref>
                        </c15:formulaRef>
                      </c:ext>
                    </c:extLst>
                    <c:strCache>
                      <c:ptCount val="1"/>
                      <c:pt idx="0">
                        <c:v>GDP with LNG Pre-COVID</c:v>
                      </c:pt>
                    </c:strCache>
                  </c:strRef>
                </c:tx>
                <c:spPr>
                  <a:ln w="28575" cap="rnd">
                    <a:solidFill>
                      <a:schemeClr val="accent2"/>
                    </a:solidFill>
                    <a:round/>
                  </a:ln>
                  <a:effectLst/>
                </c:spPr>
                <c:marker>
                  <c:symbol val="none"/>
                </c:marker>
                <c:cat>
                  <c:numRef>
                    <c:extLst>
                      <c:ext uri="{02D57815-91ED-43cb-92C2-25804820EDAC}">
                        <c15:formulaRef>
                          <c15:sqref>'Macro indicators_Scenarios'!$C$2:$AG$2</c15:sqref>
                        </c15:formulaRef>
                      </c:ext>
                    </c:extLst>
                    <c:numCache>
                      <c:formatCode>General</c:formatCode>
                      <c:ptCount val="16"/>
                      <c:pt idx="0">
                        <c:v>2018</c:v>
                      </c:pt>
                      <c:pt idx="1">
                        <c:v>2019</c:v>
                      </c:pt>
                      <c:pt idx="2">
                        <c:v>2020</c:v>
                      </c:pt>
                      <c:pt idx="3">
                        <c:v>2021</c:v>
                      </c:pt>
                      <c:pt idx="4">
                        <c:v>2022</c:v>
                      </c:pt>
                      <c:pt idx="5">
                        <c:v>2023</c:v>
                      </c:pt>
                      <c:pt idx="6">
                        <c:v>2024</c:v>
                      </c:pt>
                      <c:pt idx="7">
                        <c:v>2025</c:v>
                      </c:pt>
                      <c:pt idx="8">
                        <c:v>2026</c:v>
                      </c:pt>
                      <c:pt idx="9">
                        <c:v>2027</c:v>
                      </c:pt>
                      <c:pt idx="10">
                        <c:v>2028</c:v>
                      </c:pt>
                      <c:pt idx="11">
                        <c:v>2029</c:v>
                      </c:pt>
                      <c:pt idx="12">
                        <c:v>2030</c:v>
                      </c:pt>
                      <c:pt idx="13">
                        <c:v>2031</c:v>
                      </c:pt>
                      <c:pt idx="14">
                        <c:v>2032</c:v>
                      </c:pt>
                      <c:pt idx="15">
                        <c:v>2033</c:v>
                      </c:pt>
                    </c:numCache>
                  </c:numRef>
                </c:cat>
                <c:val>
                  <c:numRef>
                    <c:extLst>
                      <c:ext uri="{02D57815-91ED-43cb-92C2-25804820EDAC}">
                        <c15:formulaRef>
                          <c15:sqref>'Macro indicators_Scenarios'!$C$4:$AG$4</c15:sqref>
                        </c15:formulaRef>
                      </c:ext>
                    </c:extLst>
                    <c:numCache>
                      <c:formatCode>_(* #,##0_);_(* \(#,##0\);_(* "-"??_);_(@_)</c:formatCode>
                      <c:ptCount val="16"/>
                      <c:pt idx="0">
                        <c:v>667199.75511004566</c:v>
                      </c:pt>
                      <c:pt idx="1">
                        <c:v>684895.15477170597</c:v>
                      </c:pt>
                      <c:pt idx="2">
                        <c:v>720458.98792401014</c:v>
                      </c:pt>
                      <c:pt idx="3">
                        <c:v>756565.08953939297</c:v>
                      </c:pt>
                      <c:pt idx="4">
                        <c:v>832960.58518370823</c:v>
                      </c:pt>
                      <c:pt idx="5">
                        <c:v>919791.69441168127</c:v>
                      </c:pt>
                      <c:pt idx="6">
                        <c:v>1228800.8313534469</c:v>
                      </c:pt>
                      <c:pt idx="7">
                        <c:v>1573236.7894078775</c:v>
                      </c:pt>
                      <c:pt idx="8">
                        <c:v>1553619.4291697955</c:v>
                      </c:pt>
                      <c:pt idx="9">
                        <c:v>1548872.2185857981</c:v>
                      </c:pt>
                      <c:pt idx="10">
                        <c:v>1534978.8077910193</c:v>
                      </c:pt>
                      <c:pt idx="11">
                        <c:v>1534382.4698318117</c:v>
                      </c:pt>
                      <c:pt idx="12">
                        <c:v>1542867.291493779</c:v>
                      </c:pt>
                      <c:pt idx="13">
                        <c:v>1583065.7893440635</c:v>
                      </c:pt>
                      <c:pt idx="14">
                        <c:v>1613555.8373746022</c:v>
                      </c:pt>
                      <c:pt idx="15">
                        <c:v>1641860.4071525927</c:v>
                      </c:pt>
                    </c:numCache>
                  </c:numRef>
                </c:val>
                <c:smooth val="0"/>
                <c:extLst>
                  <c:ext xmlns:c16="http://schemas.microsoft.com/office/drawing/2014/chart" uri="{C3380CC4-5D6E-409C-BE32-E72D297353CC}">
                    <c16:uniqueId val="{00000003-33DC-4EC3-BFEC-76EBA48B8139}"/>
                  </c:ext>
                </c:extLst>
              </c15:ser>
            </c15:filteredLineSeries>
          </c:ext>
        </c:extLst>
      </c:lineChart>
      <c:catAx>
        <c:axId val="725011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66742943"/>
        <c:crosses val="autoZero"/>
        <c:auto val="1"/>
        <c:lblAlgn val="ctr"/>
        <c:lblOffset val="100"/>
        <c:noMultiLvlLbl val="0"/>
      </c:catAx>
      <c:valAx>
        <c:axId val="6674294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72501183"/>
        <c:crosses val="autoZero"/>
        <c:crossBetween val="between"/>
        <c:majorUnit val="300000"/>
        <c:dispUnits>
          <c:builtInUnit val="thousands"/>
        </c:dispUnits>
      </c:valAx>
      <c:spPr>
        <a:noFill/>
        <a:ln>
          <a:noFill/>
        </a:ln>
        <a:effectLst/>
      </c:spPr>
    </c:plotArea>
    <c:legend>
      <c:legendPos val="b"/>
      <c:layout>
        <c:manualLayout>
          <c:xMode val="edge"/>
          <c:yMode val="edge"/>
          <c:x val="2.2952456675814536E-2"/>
          <c:y val="0.86273037931651109"/>
          <c:w val="0.97581061324989082"/>
          <c:h val="0.13726962068348894"/>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800">
          <a:solidFill>
            <a:schemeClr val="tx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00" b="1" i="0" u="none" strike="noStrike" kern="1200" cap="none" spc="20" baseline="0" smtClean="0">
                <a:solidFill>
                  <a:schemeClr val="tx1"/>
                </a:solidFill>
                <a:latin typeface="+mn-lt"/>
                <a:ea typeface="+mn-ea"/>
                <a:cs typeface="+mn-cs"/>
              </a:defRPr>
            </a:pPr>
            <a:r>
              <a:rPr lang="en-US" sz="1000" b="1"/>
              <a:t>Total Public Debt Stock (% GDP)
</a:t>
            </a:r>
          </a:p>
        </c:rich>
      </c:tx>
      <c:layout>
        <c:manualLayout>
          <c:xMode val="edge"/>
          <c:yMode val="edge"/>
          <c:x val="0.15155321867661278"/>
          <c:y val="2.5839083546709229E-2"/>
        </c:manualLayout>
      </c:layout>
      <c:overlay val="0"/>
      <c:spPr>
        <a:noFill/>
        <a:ln>
          <a:noFill/>
        </a:ln>
        <a:effectLst/>
      </c:spPr>
      <c:txPr>
        <a:bodyPr rot="0" spcFirstLastPara="1" vertOverflow="ellipsis" vert="horz" wrap="square" anchor="ctr" anchorCtr="1"/>
        <a:lstStyle/>
        <a:p>
          <a:pPr>
            <a:defRPr lang="en-US" sz="1000" b="1" i="0" u="none" strike="noStrike" kern="1200" cap="none" spc="20" baseline="0" smtClean="0">
              <a:solidFill>
                <a:schemeClr val="tx1"/>
              </a:solidFill>
              <a:latin typeface="+mn-lt"/>
              <a:ea typeface="+mn-ea"/>
              <a:cs typeface="+mn-cs"/>
            </a:defRPr>
          </a:pPr>
          <a:endParaRPr lang="en-US"/>
        </a:p>
      </c:txPr>
    </c:title>
    <c:autoTitleDeleted val="0"/>
    <c:plotArea>
      <c:layout>
        <c:manualLayout>
          <c:layoutTarget val="inner"/>
          <c:xMode val="edge"/>
          <c:yMode val="edge"/>
          <c:x val="0.15113678224432472"/>
          <c:y val="0.16278381868933051"/>
          <c:w val="0.82167766303641088"/>
          <c:h val="0.62774109326877991"/>
        </c:manualLayout>
      </c:layout>
      <c:lineChart>
        <c:grouping val="standard"/>
        <c:varyColors val="0"/>
        <c:ser>
          <c:idx val="0"/>
          <c:order val="0"/>
          <c:spPr>
            <a:ln w="28575" cap="rnd" cmpd="sng" algn="ctr">
              <a:solidFill>
                <a:schemeClr val="accent1"/>
              </a:solidFill>
              <a:round/>
            </a:ln>
            <a:effectLst/>
          </c:spPr>
          <c:marker>
            <c:symbol val="none"/>
          </c:marker>
          <c:cat>
            <c:numRef>
              <c:f>Sheet1!$C$4:$C$25</c:f>
              <c:numCache>
                <c:formatCode>General</c:formatCod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numCache>
            </c:numRef>
          </c:cat>
          <c:val>
            <c:numRef>
              <c:f>Sheet1!$D$4:$D$25</c:f>
              <c:numCache>
                <c:formatCode>0%</c:formatCode>
                <c:ptCount val="22"/>
                <c:pt idx="0">
                  <c:v>1.01</c:v>
                </c:pt>
                <c:pt idx="1">
                  <c:v>0.92</c:v>
                </c:pt>
                <c:pt idx="2">
                  <c:v>0.63</c:v>
                </c:pt>
                <c:pt idx="3">
                  <c:v>0.62</c:v>
                </c:pt>
                <c:pt idx="4">
                  <c:v>0.57999999999999996</c:v>
                </c:pt>
                <c:pt idx="5">
                  <c:v>0.54</c:v>
                </c:pt>
                <c:pt idx="6">
                  <c:v>0.35</c:v>
                </c:pt>
                <c:pt idx="7">
                  <c:v>0.31</c:v>
                </c:pt>
                <c:pt idx="8">
                  <c:v>0.28999999999999998</c:v>
                </c:pt>
                <c:pt idx="9">
                  <c:v>0.35</c:v>
                </c:pt>
                <c:pt idx="10">
                  <c:v>0.36</c:v>
                </c:pt>
                <c:pt idx="11">
                  <c:v>0.31</c:v>
                </c:pt>
                <c:pt idx="12">
                  <c:v>0.31</c:v>
                </c:pt>
                <c:pt idx="13">
                  <c:v>0.44</c:v>
                </c:pt>
                <c:pt idx="14">
                  <c:v>0.54</c:v>
                </c:pt>
                <c:pt idx="15">
                  <c:v>0.66</c:v>
                </c:pt>
                <c:pt idx="16">
                  <c:v>0.91</c:v>
                </c:pt>
                <c:pt idx="17">
                  <c:v>0.94</c:v>
                </c:pt>
                <c:pt idx="18">
                  <c:v>0.97</c:v>
                </c:pt>
                <c:pt idx="19">
                  <c:v>1.01</c:v>
                </c:pt>
                <c:pt idx="20">
                  <c:v>1.3</c:v>
                </c:pt>
                <c:pt idx="21">
                  <c:v>1.2</c:v>
                </c:pt>
              </c:numCache>
            </c:numRef>
          </c:val>
          <c:smooth val="0"/>
          <c:extLst>
            <c:ext xmlns:c16="http://schemas.microsoft.com/office/drawing/2014/chart" uri="{C3380CC4-5D6E-409C-BE32-E72D297353CC}">
              <c16:uniqueId val="{00000000-BFD7-46F0-B4AA-84090A1EFD14}"/>
            </c:ext>
          </c:extLst>
        </c:ser>
        <c:dLbls>
          <c:showLegendKey val="0"/>
          <c:showVal val="0"/>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589083823"/>
        <c:axId val="589091727"/>
      </c:lineChart>
      <c:catAx>
        <c:axId val="589083823"/>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5400000" spcFirstLastPara="1" vertOverflow="ellipsis" wrap="square" anchor="ctr" anchorCtr="1"/>
          <a:lstStyle/>
          <a:p>
            <a:pPr>
              <a:defRPr sz="900" b="0" i="0" u="none" strike="noStrike" kern="1200" spc="20" baseline="0">
                <a:solidFill>
                  <a:schemeClr val="tx1"/>
                </a:solidFill>
                <a:latin typeface="+mn-lt"/>
                <a:ea typeface="+mn-ea"/>
                <a:cs typeface="+mn-cs"/>
              </a:defRPr>
            </a:pPr>
            <a:endParaRPr lang="en-US"/>
          </a:p>
        </c:txPr>
        <c:crossAx val="589091727"/>
        <c:crosses val="autoZero"/>
        <c:auto val="1"/>
        <c:lblAlgn val="ctr"/>
        <c:lblOffset val="100"/>
        <c:noMultiLvlLbl val="0"/>
      </c:catAx>
      <c:valAx>
        <c:axId val="589091727"/>
        <c:scaling>
          <c:orientation val="minMax"/>
        </c:scaling>
        <c:delete val="0"/>
        <c:axPos val="l"/>
        <c:numFmt formatCode="0%" sourceLinked="1"/>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900" b="0" i="0" u="none" strike="noStrike" kern="1200" spc="20" baseline="0">
                <a:solidFill>
                  <a:schemeClr val="tx1"/>
                </a:solidFill>
                <a:latin typeface="+mn-lt"/>
                <a:ea typeface="+mn-ea"/>
                <a:cs typeface="+mn-cs"/>
              </a:defRPr>
            </a:pPr>
            <a:endParaRPr lang="en-US"/>
          </a:p>
        </c:txPr>
        <c:crossAx val="589083823"/>
        <c:crosses val="autoZero"/>
        <c:crossBetween val="between"/>
      </c:valAx>
      <c:spPr>
        <a:gradFill>
          <a:gsLst>
            <a:gs pos="100000">
              <a:schemeClr val="lt1">
                <a:lumMod val="95000"/>
              </a:schemeClr>
            </a:gs>
            <a:gs pos="0">
              <a:schemeClr val="lt1"/>
            </a:gs>
          </a:gsLst>
          <a:lin ang="5400000" scaled="0"/>
        </a:gra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050" b="1" i="0" u="none" strike="noStrike" kern="1200" spc="0" baseline="0" smtClean="0">
                <a:solidFill>
                  <a:schemeClr val="tx1"/>
                </a:solidFill>
                <a:latin typeface="Arial" panose="020B0604020202020204" pitchFamily="34" charset="0"/>
                <a:ea typeface="+mn-ea"/>
                <a:cs typeface="Arial" panose="020B0604020202020204" pitchFamily="34" charset="0"/>
              </a:defRPr>
            </a:pPr>
            <a:r>
              <a:rPr lang="en-US" sz="1050" b="1"/>
              <a:t>Annual GDP Growth
</a:t>
            </a:r>
          </a:p>
        </c:rich>
      </c:tx>
      <c:overlay val="0"/>
      <c:spPr>
        <a:noFill/>
        <a:ln>
          <a:noFill/>
        </a:ln>
        <a:effectLst/>
      </c:spPr>
      <c:txPr>
        <a:bodyPr rot="0" spcFirstLastPara="1" vertOverflow="ellipsis" vert="horz" wrap="square" anchor="ctr" anchorCtr="1"/>
        <a:lstStyle/>
        <a:p>
          <a:pPr>
            <a:defRPr lang="en-US" sz="1050" b="1" i="0" u="none" strike="noStrike" kern="1200" spc="0" baseline="0" smtClean="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2561156006814939"/>
          <c:y val="7.4553701620630755E-2"/>
          <c:w val="0.84049277541421585"/>
          <c:h val="0.74201818522684659"/>
        </c:manualLayout>
      </c:layout>
      <c:barChart>
        <c:barDir val="col"/>
        <c:grouping val="stacked"/>
        <c:varyColors val="0"/>
        <c:ser>
          <c:idx val="0"/>
          <c:order val="0"/>
          <c:tx>
            <c:strRef>
              <c:f>'GDP Data'!$A$2</c:f>
              <c:strCache>
                <c:ptCount val="1"/>
                <c:pt idx="0">
                  <c:v>Mozambique</c:v>
                </c:pt>
              </c:strCache>
            </c:strRef>
          </c:tx>
          <c:spPr>
            <a:solidFill>
              <a:schemeClr val="accent1"/>
            </a:solidFill>
            <a:ln>
              <a:noFill/>
            </a:ln>
            <a:effectLst/>
          </c:spPr>
          <c:invertIfNegative val="0"/>
          <c:cat>
            <c:numRef>
              <c:f>'GDP Data'!$B$1:$AH$1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'GDP Data'!$B$2:$AH$2</c:f>
              <c:numCache>
                <c:formatCode>0.0</c:formatCode>
                <c:ptCount val="30"/>
                <c:pt idx="0">
                  <c:v>4.9254512574701721</c:v>
                </c:pt>
                <c:pt idx="1">
                  <c:v>-6.1247154506177992</c:v>
                </c:pt>
                <c:pt idx="2">
                  <c:v>10.598529673232136</c:v>
                </c:pt>
                <c:pt idx="3">
                  <c:v>6.5333964579059227</c:v>
                </c:pt>
                <c:pt idx="4">
                  <c:v>2.2597571775733911</c:v>
                </c:pt>
                <c:pt idx="5">
                  <c:v>11.202519603498004</c:v>
                </c:pt>
                <c:pt idx="6">
                  <c:v>11.301068648208897</c:v>
                </c:pt>
                <c:pt idx="7">
                  <c:v>9.9312519493834941</c:v>
                </c:pt>
                <c:pt idx="8">
                  <c:v>11.698523715901189</c:v>
                </c:pt>
                <c:pt idx="9">
                  <c:v>1.1803007889161563</c:v>
                </c:pt>
                <c:pt idx="10">
                  <c:v>12.086874401640998</c:v>
                </c:pt>
                <c:pt idx="11">
                  <c:v>9.2910518852059596</c:v>
                </c:pt>
                <c:pt idx="12">
                  <c:v>6.8785328719577592</c:v>
                </c:pt>
                <c:pt idx="13">
                  <c:v>7.9164078363794204</c:v>
                </c:pt>
                <c:pt idx="14">
                  <c:v>6.6459082805728968</c:v>
                </c:pt>
                <c:pt idx="15">
                  <c:v>9.6943740917428585</c:v>
                </c:pt>
                <c:pt idx="16">
                  <c:v>7.7297462424837988</c:v>
                </c:pt>
                <c:pt idx="17">
                  <c:v>7.3177553239303705</c:v>
                </c:pt>
                <c:pt idx="18">
                  <c:v>6.3181972324890268</c:v>
                </c:pt>
                <c:pt idx="19">
                  <c:v>6.5023531151979057</c:v>
                </c:pt>
                <c:pt idx="20">
                  <c:v>7.4173843155939068</c:v>
                </c:pt>
                <c:pt idx="21">
                  <c:v>7.2584392525877774</c:v>
                </c:pt>
                <c:pt idx="22">
                  <c:v>6.9636071348707134</c:v>
                </c:pt>
                <c:pt idx="23">
                  <c:v>7.3985127971386362</c:v>
                </c:pt>
                <c:pt idx="24">
                  <c:v>6.7232787803581857</c:v>
                </c:pt>
                <c:pt idx="25">
                  <c:v>3.824214319211876</c:v>
                </c:pt>
                <c:pt idx="26">
                  <c:v>3.7413175931256433</c:v>
                </c:pt>
                <c:pt idx="27">
                  <c:v>3.4438138397146218</c:v>
                </c:pt>
                <c:pt idx="28">
                  <c:v>2.2835972030121496</c:v>
                </c:pt>
                <c:pt idx="29">
                  <c:v>-1.3</c:v>
                </c:pt>
              </c:numCache>
            </c:numRef>
          </c:val>
          <c:extLst>
            <c:ext xmlns:c16="http://schemas.microsoft.com/office/drawing/2014/chart" uri="{C3380CC4-5D6E-409C-BE32-E72D297353CC}">
              <c16:uniqueId val="{00000000-32C8-4B9C-9781-65A3F23583AD}"/>
            </c:ext>
          </c:extLst>
        </c:ser>
        <c:dLbls>
          <c:showLegendKey val="0"/>
          <c:showVal val="0"/>
          <c:showCatName val="0"/>
          <c:showSerName val="0"/>
          <c:showPercent val="0"/>
          <c:showBubbleSize val="0"/>
        </c:dLbls>
        <c:gapWidth val="150"/>
        <c:overlap val="100"/>
        <c:axId val="430087344"/>
        <c:axId val="418464864"/>
      </c:barChart>
      <c:lineChart>
        <c:grouping val="standard"/>
        <c:varyColors val="0"/>
        <c:ser>
          <c:idx val="2"/>
          <c:order val="2"/>
          <c:tx>
            <c:strRef>
              <c:f>'GDP Data'!$A$4</c:f>
              <c:strCache>
                <c:ptCount val="1"/>
                <c:pt idx="0">
                  <c:v>Sub-Saharan Africa</c:v>
                </c:pt>
              </c:strCache>
            </c:strRef>
          </c:tx>
          <c:spPr>
            <a:ln w="28575" cap="rnd">
              <a:solidFill>
                <a:srgbClr val="FF0000"/>
              </a:solidFill>
              <a:round/>
            </a:ln>
            <a:effectLst/>
          </c:spPr>
          <c:marker>
            <c:symbol val="none"/>
          </c:marker>
          <c:cat>
            <c:numRef>
              <c:f>'GDP Data'!$B$1:$AH$1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'GDP Data'!$B$4:$AH$4</c:f>
              <c:numCache>
                <c:formatCode>0.0</c:formatCode>
                <c:ptCount val="30"/>
                <c:pt idx="0">
                  <c:v>0.37883973567581108</c:v>
                </c:pt>
                <c:pt idx="1">
                  <c:v>-0.34210021494052967</c:v>
                </c:pt>
                <c:pt idx="2">
                  <c:v>-0.88323080146508914</c:v>
                </c:pt>
                <c:pt idx="3">
                  <c:v>1.186235421797349</c:v>
                </c:pt>
                <c:pt idx="4">
                  <c:v>3.4115738971970018</c:v>
                </c:pt>
                <c:pt idx="5">
                  <c:v>5.1003801502508992</c:v>
                </c:pt>
                <c:pt idx="6">
                  <c:v>3.5540577440119847</c:v>
                </c:pt>
                <c:pt idx="7">
                  <c:v>2.3845140034811152</c:v>
                </c:pt>
                <c:pt idx="8">
                  <c:v>2.1796272126436236</c:v>
                </c:pt>
                <c:pt idx="9">
                  <c:v>3.4623029555638283</c:v>
                </c:pt>
                <c:pt idx="10">
                  <c:v>4.2500935219682106</c:v>
                </c:pt>
                <c:pt idx="11">
                  <c:v>6.3555425809505834</c:v>
                </c:pt>
                <c:pt idx="12">
                  <c:v>4.2395920720278042</c:v>
                </c:pt>
                <c:pt idx="13">
                  <c:v>6.5072095757116273</c:v>
                </c:pt>
                <c:pt idx="14">
                  <c:v>6.1976801925190728</c:v>
                </c:pt>
                <c:pt idx="15">
                  <c:v>6.166762311186929</c:v>
                </c:pt>
                <c:pt idx="16">
                  <c:v>6.4878003693707598</c:v>
                </c:pt>
                <c:pt idx="17">
                  <c:v>5.3479010146539849</c:v>
                </c:pt>
                <c:pt idx="18">
                  <c:v>3.0969394445383074</c:v>
                </c:pt>
                <c:pt idx="19">
                  <c:v>5.5767645236600032</c:v>
                </c:pt>
                <c:pt idx="20">
                  <c:v>4.4834682454876429</c:v>
                </c:pt>
                <c:pt idx="21">
                  <c:v>4.125614017036483</c:v>
                </c:pt>
                <c:pt idx="22">
                  <c:v>4.956723738830604</c:v>
                </c:pt>
                <c:pt idx="23">
                  <c:v>4.6561904621861885</c:v>
                </c:pt>
                <c:pt idx="24">
                  <c:v>2.7809778929204469</c:v>
                </c:pt>
                <c:pt idx="25">
                  <c:v>1.1611996609763224</c:v>
                </c:pt>
                <c:pt idx="26">
                  <c:v>2.3809231937332669</c:v>
                </c:pt>
                <c:pt idx="27">
                  <c:v>2.3865132187756615</c:v>
                </c:pt>
                <c:pt idx="28">
                  <c:v>2.2874659639174837</c:v>
                </c:pt>
                <c:pt idx="29">
                  <c:v>0</c:v>
                </c:pt>
              </c:numCache>
            </c:numRef>
          </c:val>
          <c:smooth val="0"/>
          <c:extLst>
            <c:ext xmlns:c16="http://schemas.microsoft.com/office/drawing/2014/chart" uri="{C3380CC4-5D6E-409C-BE32-E72D297353CC}">
              <c16:uniqueId val="{00000001-32C8-4B9C-9781-65A3F23583AD}"/>
            </c:ext>
          </c:extLst>
        </c:ser>
        <c:ser>
          <c:idx val="3"/>
          <c:order val="3"/>
          <c:tx>
            <c:strRef>
              <c:f>'GDP Data'!$A$5</c:f>
              <c:strCache>
                <c:ptCount val="1"/>
                <c:pt idx="0">
                  <c:v>Low income Countries</c:v>
                </c:pt>
              </c:strCache>
              <c:extLst xmlns:c15="http://schemas.microsoft.com/office/drawing/2012/chart"/>
            </c:strRef>
          </c:tx>
          <c:spPr>
            <a:ln w="28575" cap="rnd">
              <a:solidFill>
                <a:srgbClr val="FFC000"/>
              </a:solidFill>
              <a:round/>
            </a:ln>
            <a:effectLst/>
          </c:spPr>
          <c:marker>
            <c:symbol val="none"/>
          </c:marker>
          <c:cat>
            <c:numRef>
              <c:f>'GDP Data'!$B$1:$AH$1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extLst xmlns:c15="http://schemas.microsoft.com/office/drawing/2012/chart"/>
            </c:numRef>
          </c:cat>
          <c:val>
            <c:numRef>
              <c:f>'GDP Data'!$B$5:$AH$5</c:f>
              <c:numCache>
                <c:formatCode>0.0</c:formatCode>
                <c:ptCount val="30"/>
                <c:pt idx="0">
                  <c:v>0.46610201196423873</c:v>
                </c:pt>
                <c:pt idx="1">
                  <c:v>-2.5622172190570609</c:v>
                </c:pt>
                <c:pt idx="2">
                  <c:v>-0.46058909177104113</c:v>
                </c:pt>
                <c:pt idx="3">
                  <c:v>-0.62152950096505322</c:v>
                </c:pt>
                <c:pt idx="4">
                  <c:v>4.8424186162719991</c:v>
                </c:pt>
                <c:pt idx="5">
                  <c:v>4.79145154443232</c:v>
                </c:pt>
                <c:pt idx="6">
                  <c:v>4.5441332533684857</c:v>
                </c:pt>
                <c:pt idx="7">
                  <c:v>3.4255924500228332</c:v>
                </c:pt>
                <c:pt idx="8">
                  <c:v>3.271331525716036</c:v>
                </c:pt>
                <c:pt idx="9">
                  <c:v>2.7615965506397657</c:v>
                </c:pt>
                <c:pt idx="10">
                  <c:v>5.0630202587021529</c:v>
                </c:pt>
                <c:pt idx="11">
                  <c:v>4.2195534200164957</c:v>
                </c:pt>
                <c:pt idx="12">
                  <c:v>5.1450848633310073</c:v>
                </c:pt>
                <c:pt idx="13">
                  <c:v>5.6692216703239922</c:v>
                </c:pt>
                <c:pt idx="14">
                  <c:v>6.926637043446874</c:v>
                </c:pt>
                <c:pt idx="15">
                  <c:v>6.5677149666268662</c:v>
                </c:pt>
                <c:pt idx="16">
                  <c:v>7.5218876511437429</c:v>
                </c:pt>
                <c:pt idx="17">
                  <c:v>6.4622496107546539</c:v>
                </c:pt>
                <c:pt idx="18">
                  <c:v>5.0813603224052031</c:v>
                </c:pt>
                <c:pt idx="19">
                  <c:v>6.4681324061609047</c:v>
                </c:pt>
                <c:pt idx="20">
                  <c:v>2.2386091573524283</c:v>
                </c:pt>
                <c:pt idx="21">
                  <c:v>2.6863512373343639</c:v>
                </c:pt>
                <c:pt idx="22">
                  <c:v>5.6411238766425242</c:v>
                </c:pt>
                <c:pt idx="23">
                  <c:v>5.0582523079691271</c:v>
                </c:pt>
                <c:pt idx="24">
                  <c:v>2.0452917285648056</c:v>
                </c:pt>
                <c:pt idx="25">
                  <c:v>3.8426693172219757</c:v>
                </c:pt>
                <c:pt idx="26">
                  <c:v>3.7100744799314356</c:v>
                </c:pt>
                <c:pt idx="27">
                  <c:v>3.6897573827344985</c:v>
                </c:pt>
                <c:pt idx="28">
                  <c:v>3.9553191234186897</c:v>
                </c:pt>
                <c:pt idx="29">
                  <c:v>0</c:v>
                </c:pt>
              </c:numCache>
              <c:extLst xmlns:c15="http://schemas.microsoft.com/office/drawing/2012/chart"/>
            </c:numRef>
          </c:val>
          <c:smooth val="0"/>
          <c:extLst xmlns:c15="http://schemas.microsoft.com/office/drawing/2012/chart">
            <c:ext xmlns:c16="http://schemas.microsoft.com/office/drawing/2014/chart" uri="{C3380CC4-5D6E-409C-BE32-E72D297353CC}">
              <c16:uniqueId val="{00000002-32C8-4B9C-9781-65A3F23583AD}"/>
            </c:ext>
          </c:extLst>
        </c:ser>
        <c:dLbls>
          <c:showLegendKey val="0"/>
          <c:showVal val="0"/>
          <c:showCatName val="0"/>
          <c:showSerName val="0"/>
          <c:showPercent val="0"/>
          <c:showBubbleSize val="0"/>
        </c:dLbls>
        <c:marker val="1"/>
        <c:smooth val="0"/>
        <c:axId val="430087344"/>
        <c:axId val="418464864"/>
        <c:extLst>
          <c:ext xmlns:c15="http://schemas.microsoft.com/office/drawing/2012/chart" uri="{02D57815-91ED-43cb-92C2-25804820EDAC}">
            <c15:filteredLineSeries>
              <c15:ser>
                <c:idx val="1"/>
                <c:order val="1"/>
                <c:tx>
                  <c:strRef>
                    <c:extLst>
                      <c:ext uri="{02D57815-91ED-43cb-92C2-25804820EDAC}">
                        <c15:formulaRef>
                          <c15:sqref>'GDP Data'!$A$3</c15:sqref>
                        </c15:formulaRef>
                      </c:ext>
                    </c:extLst>
                    <c:strCache>
                      <c:ptCount val="1"/>
                      <c:pt idx="0">
                        <c:v>Sub-Saharan Africa (excluding high income)</c:v>
                      </c:pt>
                    </c:strCache>
                  </c:strRef>
                </c:tx>
                <c:spPr>
                  <a:ln w="28575" cap="rnd">
                    <a:solidFill>
                      <a:schemeClr val="accent2"/>
                    </a:solidFill>
                    <a:round/>
                  </a:ln>
                  <a:effectLst/>
                </c:spPr>
                <c:marker>
                  <c:symbol val="none"/>
                </c:marker>
                <c:cat>
                  <c:numRef>
                    <c:extLst>
                      <c:ex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c:ext uri="{02D57815-91ED-43cb-92C2-25804820EDAC}">
                        <c15:formulaRef>
                          <c15:sqref>'GDP Data'!$B$3:$AH$3</c15:sqref>
                        </c15:formulaRef>
                      </c:ext>
                    </c:extLst>
                    <c:numCache>
                      <c:formatCode>0.0</c:formatCode>
                      <c:ptCount val="30"/>
                      <c:pt idx="0">
                        <c:v>0.35177860941561789</c:v>
                      </c:pt>
                      <c:pt idx="1">
                        <c:v>-0.39250751376161475</c:v>
                      </c:pt>
                      <c:pt idx="2">
                        <c:v>-0.93059726057983028</c:v>
                      </c:pt>
                      <c:pt idx="3">
                        <c:v>1.1665730900453752</c:v>
                      </c:pt>
                      <c:pt idx="4">
                        <c:v>3.4089368628595196</c:v>
                      </c:pt>
                      <c:pt idx="5">
                        <c:v>5.0968469193424681</c:v>
                      </c:pt>
                      <c:pt idx="6">
                        <c:v>3.5302962491116148</c:v>
                      </c:pt>
                      <c:pt idx="7">
                        <c:v>2.3500220050314908</c:v>
                      </c:pt>
                      <c:pt idx="8">
                        <c:v>2.1764651836701177</c:v>
                      </c:pt>
                      <c:pt idx="9">
                        <c:v>3.4259149656741954</c:v>
                      </c:pt>
                      <c:pt idx="10">
                        <c:v>4.2642323365023742</c:v>
                      </c:pt>
                      <c:pt idx="11">
                        <c:v>6.4000567760049876</c:v>
                      </c:pt>
                      <c:pt idx="12">
                        <c:v>4.2351236053207231</c:v>
                      </c:pt>
                      <c:pt idx="13">
                        <c:v>6.5324267926606865</c:v>
                      </c:pt>
                      <c:pt idx="14">
                        <c:v>6.2308050711682057</c:v>
                      </c:pt>
                      <c:pt idx="15">
                        <c:v>6.1742490477868728</c:v>
                      </c:pt>
                      <c:pt idx="16">
                        <c:v>6.4904819674471952</c:v>
                      </c:pt>
                      <c:pt idx="17">
                        <c:v>5.3536320106479849</c:v>
                      </c:pt>
                      <c:pt idx="18">
                        <c:v>3.0984284704204157</c:v>
                      </c:pt>
                      <c:pt idx="19">
                        <c:v>5.5853941368519031</c:v>
                      </c:pt>
                      <c:pt idx="20">
                        <c:v>4.4840248030612031</c:v>
                      </c:pt>
                      <c:pt idx="21">
                        <c:v>4.1323229779213619</c:v>
                      </c:pt>
                      <c:pt idx="22">
                        <c:v>4.9675673969261851</c:v>
                      </c:pt>
                      <c:pt idx="23">
                        <c:v>4.6628240369170015</c:v>
                      </c:pt>
                      <c:pt idx="24">
                        <c:v>2.7739463169666152</c:v>
                      </c:pt>
                      <c:pt idx="25">
                        <c:v>1.1394618211281227</c:v>
                      </c:pt>
                      <c:pt idx="26">
                        <c:v>2.3688308266620766</c:v>
                      </c:pt>
                      <c:pt idx="27">
                        <c:v>2.375180383196934</c:v>
                      </c:pt>
                      <c:pt idx="28">
                        <c:v>2.2795647607438667</c:v>
                      </c:pt>
                      <c:pt idx="29">
                        <c:v>0</c:v>
                      </c:pt>
                    </c:numCache>
                  </c:numRef>
                </c:val>
                <c:smooth val="0"/>
                <c:extLst>
                  <c:ext xmlns:c16="http://schemas.microsoft.com/office/drawing/2014/chart" uri="{C3380CC4-5D6E-409C-BE32-E72D297353CC}">
                    <c16:uniqueId val="{00000003-32C8-4B9C-9781-65A3F23583AD}"/>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'GDP Data'!$A$6</c15:sqref>
                        </c15:formulaRef>
                      </c:ext>
                    </c:extLst>
                    <c:strCache>
                      <c:ptCount val="1"/>
                      <c:pt idx="0">
                        <c:v>Tanzania</c:v>
                      </c:pt>
                    </c:strCache>
                  </c:strRef>
                </c:tx>
                <c:spPr>
                  <a:ln w="28575" cap="rnd">
                    <a:solidFill>
                      <a:schemeClr val="accent5"/>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Data'!$B$6:$AH$6</c15:sqref>
                        </c15:formulaRef>
                      </c:ext>
                    </c:extLst>
                    <c:numCache>
                      <c:formatCode>General</c:formatCode>
                      <c:ptCount val="30"/>
                      <c:pt idx="0">
                        <c:v>2.0719882112220773</c:v>
                      </c:pt>
                      <c:pt idx="1">
                        <c:v>0.58432213408326561</c:v>
                      </c:pt>
                      <c:pt idx="2">
                        <c:v>1.2058008083940308</c:v>
                      </c:pt>
                      <c:pt idx="3">
                        <c:v>1.567661765625644</c:v>
                      </c:pt>
                      <c:pt idx="4">
                        <c:v>3.5699118684430005</c:v>
                      </c:pt>
                      <c:pt idx="5">
                        <c:v>4.544366801874375</c:v>
                      </c:pt>
                      <c:pt idx="6">
                        <c:v>3.5252781913522426</c:v>
                      </c:pt>
                      <c:pt idx="7">
                        <c:v>3.7085115960772299</c:v>
                      </c:pt>
                      <c:pt idx="8">
                        <c:v>4.8638637551705131</c:v>
                      </c:pt>
                      <c:pt idx="9">
                        <c:v>4.5207846348832135</c:v>
                      </c:pt>
                      <c:pt idx="10">
                        <c:v>6.0708082884781618</c:v>
                      </c:pt>
                      <c:pt idx="11">
                        <c:v>7.0931949835368613</c:v>
                      </c:pt>
                      <c:pt idx="12">
                        <c:v>6.6727898290831433</c:v>
                      </c:pt>
                      <c:pt idx="13">
                        <c:v>7.5038146604771612</c:v>
                      </c:pt>
                      <c:pt idx="14">
                        <c:v>7.4763192578229223</c:v>
                      </c:pt>
                      <c:pt idx="15">
                        <c:v>6.5322213903017001</c:v>
                      </c:pt>
                      <c:pt idx="16">
                        <c:v>6.7685352018066283</c:v>
                      </c:pt>
                      <c:pt idx="17">
                        <c:v>5.6864168597641935</c:v>
                      </c:pt>
                      <c:pt idx="18">
                        <c:v>5.2691052479185316</c:v>
                      </c:pt>
                      <c:pt idx="19">
                        <c:v>6.336523427474944</c:v>
                      </c:pt>
                      <c:pt idx="20">
                        <c:v>7.6721554349938401</c:v>
                      </c:pt>
                      <c:pt idx="21">
                        <c:v>4.500153559821257</c:v>
                      </c:pt>
                      <c:pt idx="22">
                        <c:v>6.781585600653159</c:v>
                      </c:pt>
                      <c:pt idx="23">
                        <c:v>6.7324618683248332</c:v>
                      </c:pt>
                      <c:pt idx="24">
                        <c:v>6.1606287740668222</c:v>
                      </c:pt>
                      <c:pt idx="25">
                        <c:v>6.8671161964455081</c:v>
                      </c:pt>
                      <c:pt idx="26">
                        <c:v>6.7856801140519849</c:v>
                      </c:pt>
                      <c:pt idx="27">
                        <c:v>5.4449676318963469</c:v>
                      </c:pt>
                      <c:pt idx="28">
                        <c:v>5.7913713763207113</c:v>
                      </c:pt>
                      <c:pt idx="29">
                        <c:v>0</c:v>
                      </c:pt>
                    </c:numCache>
                  </c:numRef>
                </c:val>
                <c:smooth val="0"/>
                <c:extLst xmlns:c15="http://schemas.microsoft.com/office/drawing/2012/chart">
                  <c:ext xmlns:c16="http://schemas.microsoft.com/office/drawing/2014/chart" uri="{C3380CC4-5D6E-409C-BE32-E72D297353CC}">
                    <c16:uniqueId val="{00000004-32C8-4B9C-9781-65A3F23583AD}"/>
                  </c:ext>
                </c:extLst>
              </c15:ser>
            </c15:filteredLineSeries>
            <c15:filteredLineSeries>
              <c15:ser>
                <c:idx val="5"/>
                <c:order val="5"/>
                <c:tx>
                  <c:strRef>
                    <c:extLst xmlns:c15="http://schemas.microsoft.com/office/drawing/2012/chart">
                      <c:ext xmlns:c15="http://schemas.microsoft.com/office/drawing/2012/chart" uri="{02D57815-91ED-43cb-92C2-25804820EDAC}">
                        <c15:formulaRef>
                          <c15:sqref>'GDP Data'!$A$7</c15:sqref>
                        </c15:formulaRef>
                      </c:ext>
                    </c:extLst>
                    <c:strCache>
                      <c:ptCount val="1"/>
                      <c:pt idx="0">
                        <c:v>Uganda</c:v>
                      </c:pt>
                    </c:strCache>
                  </c:strRef>
                </c:tx>
                <c:spPr>
                  <a:ln w="28575" cap="rnd">
                    <a:solidFill>
                      <a:schemeClr val="accent6"/>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Data'!$B$7:$AH$7</c15:sqref>
                        </c15:formulaRef>
                      </c:ext>
                    </c:extLst>
                    <c:numCache>
                      <c:formatCode>General</c:formatCode>
                      <c:ptCount val="30"/>
                      <c:pt idx="0">
                        <c:v>5.5540954958915876</c:v>
                      </c:pt>
                      <c:pt idx="1">
                        <c:v>3.4183568915428566</c:v>
                      </c:pt>
                      <c:pt idx="2">
                        <c:v>8.3262925203511315</c:v>
                      </c:pt>
                      <c:pt idx="3">
                        <c:v>6.4036357435314812</c:v>
                      </c:pt>
                      <c:pt idx="4">
                        <c:v>11.523243807939451</c:v>
                      </c:pt>
                      <c:pt idx="5">
                        <c:v>9.0721145821438967</c:v>
                      </c:pt>
                      <c:pt idx="6">
                        <c:v>5.1000018634794912</c:v>
                      </c:pt>
                      <c:pt idx="7">
                        <c:v>4.9052654838678507</c:v>
                      </c:pt>
                      <c:pt idx="8">
                        <c:v>8.0539483766469857</c:v>
                      </c:pt>
                      <c:pt idx="9">
                        <c:v>3.1419073382414524</c:v>
                      </c:pt>
                      <c:pt idx="10">
                        <c:v>5.1836611264320993</c:v>
                      </c:pt>
                      <c:pt idx="11">
                        <c:v>8.7326857639324231</c:v>
                      </c:pt>
                      <c:pt idx="12">
                        <c:v>6.4732586714905267</c:v>
                      </c:pt>
                      <c:pt idx="13">
                        <c:v>6.807233344186443</c:v>
                      </c:pt>
                      <c:pt idx="14">
                        <c:v>6.3325651162993353</c:v>
                      </c:pt>
                      <c:pt idx="15">
                        <c:v>10.784744386125155</c:v>
                      </c:pt>
                      <c:pt idx="16">
                        <c:v>8.4124259655278451</c:v>
                      </c:pt>
                      <c:pt idx="17">
                        <c:v>8.7087519013216337</c:v>
                      </c:pt>
                      <c:pt idx="18">
                        <c:v>6.8015173480652038</c:v>
                      </c:pt>
                      <c:pt idx="19">
                        <c:v>5.637611637931343</c:v>
                      </c:pt>
                      <c:pt idx="20">
                        <c:v>9.3916554929118519</c:v>
                      </c:pt>
                      <c:pt idx="21">
                        <c:v>3.8374556059260954</c:v>
                      </c:pt>
                      <c:pt idx="22">
                        <c:v>3.5869058263615869</c:v>
                      </c:pt>
                      <c:pt idx="23">
                        <c:v>5.1063073242765284</c:v>
                      </c:pt>
                      <c:pt idx="24">
                        <c:v>5.1878598625543617</c:v>
                      </c:pt>
                      <c:pt idx="25">
                        <c:v>4.7810002914464746</c:v>
                      </c:pt>
                      <c:pt idx="26">
                        <c:v>3.8091290293244242</c:v>
                      </c:pt>
                      <c:pt idx="27">
                        <c:v>6.1626191390034819</c:v>
                      </c:pt>
                      <c:pt idx="28">
                        <c:v>6.8033268132823537</c:v>
                      </c:pt>
                      <c:pt idx="29">
                        <c:v>0</c:v>
                      </c:pt>
                    </c:numCache>
                  </c:numRef>
                </c:val>
                <c:smooth val="0"/>
                <c:extLst xmlns:c15="http://schemas.microsoft.com/office/drawing/2012/chart">
                  <c:ext xmlns:c16="http://schemas.microsoft.com/office/drawing/2014/chart" uri="{C3380CC4-5D6E-409C-BE32-E72D297353CC}">
                    <c16:uniqueId val="{00000005-32C8-4B9C-9781-65A3F23583AD}"/>
                  </c:ext>
                </c:extLst>
              </c15:ser>
            </c15:filteredLineSeries>
            <c15:filteredLineSeries>
              <c15:ser>
                <c:idx val="6"/>
                <c:order val="6"/>
                <c:tx>
                  <c:strRef>
                    <c:extLst xmlns:c15="http://schemas.microsoft.com/office/drawing/2012/chart">
                      <c:ext xmlns:c15="http://schemas.microsoft.com/office/drawing/2012/chart" uri="{02D57815-91ED-43cb-92C2-25804820EDAC}">
                        <c15:formulaRef>
                          <c15:sqref>'GDP Data'!$A$8</c15:sqref>
                        </c15:formulaRef>
                      </c:ext>
                    </c:extLst>
                    <c:strCache>
                      <c:ptCount val="1"/>
                      <c:pt idx="0">
                        <c:v>Malawi</c:v>
                      </c:pt>
                    </c:strCache>
                  </c:strRef>
                </c:tx>
                <c:spPr>
                  <a:ln w="28575" cap="rnd">
                    <a:solidFill>
                      <a:schemeClr val="accent1">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Data'!$B$8:$AH$8</c15:sqref>
                        </c15:formulaRef>
                      </c:ext>
                    </c:extLst>
                    <c:numCache>
                      <c:formatCode>General</c:formatCode>
                      <c:ptCount val="30"/>
                      <c:pt idx="0">
                        <c:v>8.7302318286141372</c:v>
                      </c:pt>
                      <c:pt idx="1">
                        <c:v>-7.332978135323188</c:v>
                      </c:pt>
                      <c:pt idx="2">
                        <c:v>9.6918402678066258</c:v>
                      </c:pt>
                      <c:pt idx="3">
                        <c:v>-10.240181733893522</c:v>
                      </c:pt>
                      <c:pt idx="4">
                        <c:v>16.728817592001505</c:v>
                      </c:pt>
                      <c:pt idx="5">
                        <c:v>7.3166815111922432</c:v>
                      </c:pt>
                      <c:pt idx="6">
                        <c:v>3.7924190989626823</c:v>
                      </c:pt>
                      <c:pt idx="7">
                        <c:v>3.895253629637125</c:v>
                      </c:pt>
                      <c:pt idx="8">
                        <c:v>3.0422780913400089</c:v>
                      </c:pt>
                      <c:pt idx="9">
                        <c:v>1.5760778373466593</c:v>
                      </c:pt>
                      <c:pt idx="10">
                        <c:v>-4.9749638464944042</c:v>
                      </c:pt>
                      <c:pt idx="11">
                        <c:v>1.7000000136307563</c:v>
                      </c:pt>
                      <c:pt idx="12">
                        <c:v>5.7056394374716035</c:v>
                      </c:pt>
                      <c:pt idx="13">
                        <c:v>5.4204976936605505</c:v>
                      </c:pt>
                      <c:pt idx="14">
                        <c:v>3.2687258275752953</c:v>
                      </c:pt>
                      <c:pt idx="15">
                        <c:v>4.6999999920261075</c:v>
                      </c:pt>
                      <c:pt idx="16">
                        <c:v>9.6000000026081835</c:v>
                      </c:pt>
                      <c:pt idx="17">
                        <c:v>7.6397367741039233</c:v>
                      </c:pt>
                      <c:pt idx="18">
                        <c:v>8.3281102762457522</c:v>
                      </c:pt>
                      <c:pt idx="19">
                        <c:v>6.8740656350095435</c:v>
                      </c:pt>
                      <c:pt idx="20">
                        <c:v>4.8540551089832178</c:v>
                      </c:pt>
                      <c:pt idx="21">
                        <c:v>1.8857995073186657</c:v>
                      </c:pt>
                      <c:pt idx="22">
                        <c:v>5.1999999983554943</c:v>
                      </c:pt>
                      <c:pt idx="23">
                        <c:v>5.7000000037720895</c:v>
                      </c:pt>
                      <c:pt idx="24">
                        <c:v>2.7999999990033331</c:v>
                      </c:pt>
                      <c:pt idx="25">
                        <c:v>2.4840406264186754</c:v>
                      </c:pt>
                      <c:pt idx="26">
                        <c:v>4.0000305165304155</c:v>
                      </c:pt>
                      <c:pt idx="27">
                        <c:v>3.1700032203733031</c:v>
                      </c:pt>
                      <c:pt idx="28">
                        <c:v>4.3692389907521658</c:v>
                      </c:pt>
                      <c:pt idx="29">
                        <c:v>0</c:v>
                      </c:pt>
                    </c:numCache>
                  </c:numRef>
                </c:val>
                <c:smooth val="0"/>
                <c:extLst xmlns:c15="http://schemas.microsoft.com/office/drawing/2012/chart">
                  <c:ext xmlns:c16="http://schemas.microsoft.com/office/drawing/2014/chart" uri="{C3380CC4-5D6E-409C-BE32-E72D297353CC}">
                    <c16:uniqueId val="{00000006-32C8-4B9C-9781-65A3F23583AD}"/>
                  </c:ext>
                </c:extLst>
              </c15:ser>
            </c15:filteredLineSeries>
            <c15:filteredLineSeries>
              <c15:ser>
                <c:idx val="7"/>
                <c:order val="7"/>
                <c:tx>
                  <c:strRef>
                    <c:extLst xmlns:c15="http://schemas.microsoft.com/office/drawing/2012/chart">
                      <c:ext xmlns:c15="http://schemas.microsoft.com/office/drawing/2012/chart" uri="{02D57815-91ED-43cb-92C2-25804820EDAC}">
                        <c15:formulaRef>
                          <c15:sqref>'GDP Data'!$A$9</c15:sqref>
                        </c15:formulaRef>
                      </c:ext>
                    </c:extLst>
                    <c:strCache>
                      <c:ptCount val="1"/>
                      <c:pt idx="0">
                        <c:v>Angola</c:v>
                      </c:pt>
                    </c:strCache>
                  </c:strRef>
                </c:tx>
                <c:spPr>
                  <a:ln w="28575" cap="rnd">
                    <a:solidFill>
                      <a:schemeClr val="accent2">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Data'!$B$9:$AH$9</c15:sqref>
                        </c15:formulaRef>
                      </c:ext>
                    </c:extLst>
                    <c:numCache>
                      <c:formatCode>General</c:formatCode>
                      <c:ptCount val="30"/>
                      <c:pt idx="0">
                        <c:v>0.99135930146087503</c:v>
                      </c:pt>
                      <c:pt idx="1">
                        <c:v>-5.8382807331314126</c:v>
                      </c:pt>
                      <c:pt idx="2">
                        <c:v>-23.983417442057799</c:v>
                      </c:pt>
                      <c:pt idx="3">
                        <c:v>1.3393634364799141</c:v>
                      </c:pt>
                      <c:pt idx="4">
                        <c:v>15.000000028863369</c:v>
                      </c:pt>
                      <c:pt idx="5">
                        <c:v>13.544369755102565</c:v>
                      </c:pt>
                      <c:pt idx="6">
                        <c:v>7.2742773546037256</c:v>
                      </c:pt>
                      <c:pt idx="7">
                        <c:v>4.6911464509355199</c:v>
                      </c:pt>
                      <c:pt idx="8">
                        <c:v>2.1814897184045776</c:v>
                      </c:pt>
                      <c:pt idx="9">
                        <c:v>3.0546242343078518</c:v>
                      </c:pt>
                      <c:pt idx="10">
                        <c:v>4.2059985561950981</c:v>
                      </c:pt>
                      <c:pt idx="11">
                        <c:v>13.665686523023155</c:v>
                      </c:pt>
                      <c:pt idx="12">
                        <c:v>2.9898500103955286</c:v>
                      </c:pt>
                      <c:pt idx="13">
                        <c:v>10.952861768710264</c:v>
                      </c:pt>
                      <c:pt idx="14">
                        <c:v>15.028915317530192</c:v>
                      </c:pt>
                      <c:pt idx="15">
                        <c:v>11.547683178163254</c:v>
                      </c:pt>
                      <c:pt idx="16">
                        <c:v>14.010018242632796</c:v>
                      </c:pt>
                      <c:pt idx="17">
                        <c:v>11.166138330361377</c:v>
                      </c:pt>
                      <c:pt idx="18">
                        <c:v>0.858712615098284</c:v>
                      </c:pt>
                      <c:pt idx="19">
                        <c:v>4.4039325434376053</c:v>
                      </c:pt>
                      <c:pt idx="20">
                        <c:v>3.4719763445402378</c:v>
                      </c:pt>
                      <c:pt idx="21">
                        <c:v>8.5421876426537153</c:v>
                      </c:pt>
                      <c:pt idx="22">
                        <c:v>4.9545446463618674</c:v>
                      </c:pt>
                      <c:pt idx="23">
                        <c:v>4.8226275683899615</c:v>
                      </c:pt>
                      <c:pt idx="24">
                        <c:v>0.94357156132500108</c:v>
                      </c:pt>
                      <c:pt idx="25">
                        <c:v>-2.5800496440493248</c:v>
                      </c:pt>
                      <c:pt idx="26">
                        <c:v>-0.14721294108575478</c:v>
                      </c:pt>
                      <c:pt idx="27">
                        <c:v>-2.0036297273020125</c:v>
                      </c:pt>
                      <c:pt idx="28">
                        <c:v>-0.62464431770689544</c:v>
                      </c:pt>
                      <c:pt idx="29">
                        <c:v>0</c:v>
                      </c:pt>
                    </c:numCache>
                  </c:numRef>
                </c:val>
                <c:smooth val="0"/>
                <c:extLst xmlns:c15="http://schemas.microsoft.com/office/drawing/2012/chart">
                  <c:ext xmlns:c16="http://schemas.microsoft.com/office/drawing/2014/chart" uri="{C3380CC4-5D6E-409C-BE32-E72D297353CC}">
                    <c16:uniqueId val="{00000007-32C8-4B9C-9781-65A3F23583AD}"/>
                  </c:ext>
                </c:extLst>
              </c15:ser>
            </c15:filteredLineSeries>
            <c15:filteredLineSeries>
              <c15:ser>
                <c:idx val="8"/>
                <c:order val="8"/>
                <c:tx>
                  <c:strRef>
                    <c:extLst xmlns:c15="http://schemas.microsoft.com/office/drawing/2012/chart">
                      <c:ext xmlns:c15="http://schemas.microsoft.com/office/drawing/2012/chart" uri="{02D57815-91ED-43cb-92C2-25804820EDAC}">
                        <c15:formulaRef>
                          <c15:sqref>'GDP Data'!$A$10</c15:sqref>
                        </c15:formulaRef>
                      </c:ext>
                    </c:extLst>
                    <c:strCache>
                      <c:ptCount val="1"/>
                      <c:pt idx="0">
                        <c:v>Botswana</c:v>
                      </c:pt>
                    </c:strCache>
                  </c:strRef>
                </c:tx>
                <c:spPr>
                  <a:ln w="28575" cap="rnd">
                    <a:solidFill>
                      <a:schemeClr val="accent3">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Data'!$B$10:$AH$10</c15:sqref>
                        </c15:formulaRef>
                      </c:ext>
                    </c:extLst>
                    <c:numCache>
                      <c:formatCode>General</c:formatCode>
                      <c:ptCount val="30"/>
                      <c:pt idx="0">
                        <c:v>7.4587091123188003</c:v>
                      </c:pt>
                      <c:pt idx="1">
                        <c:v>2.9170703069254245</c:v>
                      </c:pt>
                      <c:pt idx="2">
                        <c:v>1.9161071417014313</c:v>
                      </c:pt>
                      <c:pt idx="3">
                        <c:v>3.6279160209385708</c:v>
                      </c:pt>
                      <c:pt idx="4">
                        <c:v>7.03041026074564</c:v>
                      </c:pt>
                      <c:pt idx="5">
                        <c:v>5.8298000784227497</c:v>
                      </c:pt>
                      <c:pt idx="6">
                        <c:v>8.3258908984286535</c:v>
                      </c:pt>
                      <c:pt idx="7">
                        <c:v>0.44366348033824465</c:v>
                      </c:pt>
                      <c:pt idx="8">
                        <c:v>9.667240741511975</c:v>
                      </c:pt>
                      <c:pt idx="9">
                        <c:v>1.9876958543875389</c:v>
                      </c:pt>
                      <c:pt idx="10">
                        <c:v>0.25057386672273196</c:v>
                      </c:pt>
                      <c:pt idx="11">
                        <c:v>6.069530867650144</c:v>
                      </c:pt>
                      <c:pt idx="12">
                        <c:v>4.625894791915556</c:v>
                      </c:pt>
                      <c:pt idx="13">
                        <c:v>2.70582173663567</c:v>
                      </c:pt>
                      <c:pt idx="14">
                        <c:v>4.5566456573284455</c:v>
                      </c:pt>
                      <c:pt idx="15">
                        <c:v>8.3638710689572662</c:v>
                      </c:pt>
                      <c:pt idx="16">
                        <c:v>8.2767637934696836</c:v>
                      </c:pt>
                      <c:pt idx="17">
                        <c:v>6.2454373629087883</c:v>
                      </c:pt>
                      <c:pt idx="18">
                        <c:v>-7.652310202534764</c:v>
                      </c:pt>
                      <c:pt idx="19">
                        <c:v>8.5636307922088974</c:v>
                      </c:pt>
                      <c:pt idx="20">
                        <c:v>6.0483614546898821</c:v>
                      </c:pt>
                      <c:pt idx="21">
                        <c:v>4.456144470595774</c:v>
                      </c:pt>
                      <c:pt idx="22">
                        <c:v>11.343396971349677</c:v>
                      </c:pt>
                      <c:pt idx="23">
                        <c:v>4.1492622552040217</c:v>
                      </c:pt>
                      <c:pt idx="24">
                        <c:v>-1.6979354267597415</c:v>
                      </c:pt>
                      <c:pt idx="25">
                        <c:v>4.3037674480267469</c:v>
                      </c:pt>
                      <c:pt idx="26">
                        <c:v>2.9039977321092749</c:v>
                      </c:pt>
                      <c:pt idx="27">
                        <c:v>4.47883655345764</c:v>
                      </c:pt>
                      <c:pt idx="28">
                        <c:v>2.9661256478123335</c:v>
                      </c:pt>
                      <c:pt idx="29">
                        <c:v>0</c:v>
                      </c:pt>
                    </c:numCache>
                  </c:numRef>
                </c:val>
                <c:smooth val="0"/>
                <c:extLst xmlns:c15="http://schemas.microsoft.com/office/drawing/2012/chart">
                  <c:ext xmlns:c16="http://schemas.microsoft.com/office/drawing/2014/chart" uri="{C3380CC4-5D6E-409C-BE32-E72D297353CC}">
                    <c16:uniqueId val="{00000008-32C8-4B9C-9781-65A3F23583AD}"/>
                  </c:ext>
                </c:extLst>
              </c15:ser>
            </c15:filteredLineSeries>
            <c15:filteredLineSeries>
              <c15:ser>
                <c:idx val="9"/>
                <c:order val="9"/>
                <c:tx>
                  <c:strRef>
                    <c:extLst xmlns:c15="http://schemas.microsoft.com/office/drawing/2012/chart">
                      <c:ext xmlns:c15="http://schemas.microsoft.com/office/drawing/2012/chart" uri="{02D57815-91ED-43cb-92C2-25804820EDAC}">
                        <c15:formulaRef>
                          <c15:sqref>'GDP Data'!$A$11</c15:sqref>
                        </c15:formulaRef>
                      </c:ext>
                    </c:extLst>
                    <c:strCache>
                      <c:ptCount val="1"/>
                      <c:pt idx="0">
                        <c:v>Zimbabwe</c:v>
                      </c:pt>
                    </c:strCache>
                  </c:strRef>
                </c:tx>
                <c:spPr>
                  <a:ln w="28575" cap="rnd">
                    <a:solidFill>
                      <a:schemeClr val="accent4">
                        <a:lumMod val="60000"/>
                      </a:schemeClr>
                    </a:solidFill>
                    <a:round/>
                  </a:ln>
                  <a:effectLst/>
                </c:spPr>
                <c:marker>
                  <c:symbol val="none"/>
                </c:marker>
                <c:cat>
                  <c:numRef>
                    <c:extLst xmlns:c15="http://schemas.microsoft.com/office/drawing/2012/chart">
                      <c:ext xmlns:c15="http://schemas.microsoft.com/office/drawing/2012/chart" uri="{02D57815-91ED-43cb-92C2-25804820EDAC}">
                        <c15:formulaRef>
                          <c15:sqref>'GDP Data'!$B$1:$AH$1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'GDP Data'!$B$11:$AH$11</c15:sqref>
                        </c15:formulaRef>
                      </c:ext>
                    </c:extLst>
                    <c:numCache>
                      <c:formatCode>General</c:formatCode>
                      <c:ptCount val="30"/>
                      <c:pt idx="0">
                        <c:v>5.5317823960983219</c:v>
                      </c:pt>
                      <c:pt idx="1">
                        <c:v>-9.0155700862609223</c:v>
                      </c:pt>
                      <c:pt idx="2">
                        <c:v>1.0514586257693423</c:v>
                      </c:pt>
                      <c:pt idx="3">
                        <c:v>9.2351988610601694</c:v>
                      </c:pt>
                      <c:pt idx="4">
                        <c:v>0.15802565144909408</c:v>
                      </c:pt>
                      <c:pt idx="5">
                        <c:v>10.360696769806481</c:v>
                      </c:pt>
                      <c:pt idx="6">
                        <c:v>2.6805941737397774</c:v>
                      </c:pt>
                      <c:pt idx="7">
                        <c:v>2.88521180627896</c:v>
                      </c:pt>
                      <c:pt idx="8">
                        <c:v>-0.81782101628289183</c:v>
                      </c:pt>
                      <c:pt idx="9">
                        <c:v>-3.0591897618037933</c:v>
                      </c:pt>
                      <c:pt idx="10">
                        <c:v>1.4396153844897555</c:v>
                      </c:pt>
                      <c:pt idx="11">
                        <c:v>-8.894023633042849</c:v>
                      </c:pt>
                      <c:pt idx="12">
                        <c:v>-16.995074694026187</c:v>
                      </c:pt>
                      <c:pt idx="13">
                        <c:v>-5.8075380553470808</c:v>
                      </c:pt>
                      <c:pt idx="14">
                        <c:v>-5.7110836797259878</c:v>
                      </c:pt>
                      <c:pt idx="15">
                        <c:v>-3.4614951923160646</c:v>
                      </c:pt>
                      <c:pt idx="16">
                        <c:v>-3.6533268588292032</c:v>
                      </c:pt>
                      <c:pt idx="17">
                        <c:v>-17.668946285205351</c:v>
                      </c:pt>
                      <c:pt idx="18">
                        <c:v>12.019559926898538</c:v>
                      </c:pt>
                      <c:pt idx="19">
                        <c:v>19.675323142464492</c:v>
                      </c:pt>
                      <c:pt idx="20">
                        <c:v>14.19391295721617</c:v>
                      </c:pt>
                      <c:pt idx="21">
                        <c:v>16.665428768467862</c:v>
                      </c:pt>
                      <c:pt idx="22">
                        <c:v>1.989492762072075</c:v>
                      </c:pt>
                      <c:pt idx="23">
                        <c:v>2.3769293269800329</c:v>
                      </c:pt>
                      <c:pt idx="24">
                        <c:v>1.7798727034029866</c:v>
                      </c:pt>
                      <c:pt idx="25">
                        <c:v>0.75586925093060131</c:v>
                      </c:pt>
                      <c:pt idx="26">
                        <c:v>4.7040353905471335</c:v>
                      </c:pt>
                      <c:pt idx="27">
                        <c:v>4.8296735910921171</c:v>
                      </c:pt>
                      <c:pt idx="28">
                        <c:v>-8.1000001988609256</c:v>
                      </c:pt>
                      <c:pt idx="29">
                        <c:v>0</c:v>
                      </c:pt>
                    </c:numCache>
                  </c:numRef>
                </c:val>
                <c:smooth val="0"/>
                <c:extLst xmlns:c15="http://schemas.microsoft.com/office/drawing/2012/chart">
                  <c:ext xmlns:c16="http://schemas.microsoft.com/office/drawing/2014/chart" uri="{C3380CC4-5D6E-409C-BE32-E72D297353CC}">
                    <c16:uniqueId val="{00000009-32C8-4B9C-9781-65A3F23583AD}"/>
                  </c:ext>
                </c:extLst>
              </c15:ser>
            </c15:filteredLineSeries>
          </c:ext>
        </c:extLst>
      </c:lineChart>
      <c:catAx>
        <c:axId val="430087344"/>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18464864"/>
        <c:crosses val="autoZero"/>
        <c:auto val="1"/>
        <c:lblAlgn val="ctr"/>
        <c:lblOffset val="100"/>
        <c:noMultiLvlLbl val="0"/>
      </c:catAx>
      <c:valAx>
        <c:axId val="418464864"/>
        <c:scaling>
          <c:orientation val="minMax"/>
          <c:min val="-5"/>
        </c:scaling>
        <c:delete val="0"/>
        <c:axPos val="l"/>
        <c:title>
          <c:tx>
            <c:rich>
              <a:bodyPr rot="-54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r>
                  <a:rPr lang="en-US" dirty="0"/>
                  <a:t>%</a:t>
                </a:r>
              </a:p>
            </c:rich>
          </c:tx>
          <c:layout>
            <c:manualLayout>
              <c:xMode val="edge"/>
              <c:yMode val="edge"/>
              <c:x val="7.9715775659621492E-3"/>
              <c:y val="0.3174504228638087"/>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title>
        <c:numFmt formatCode="0" sourceLinked="0"/>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30087344"/>
        <c:crosses val="autoZero"/>
        <c:crossBetween val="between"/>
      </c:valAx>
      <c:spPr>
        <a:noFill/>
        <a:ln>
          <a:noFill/>
        </a:ln>
        <a:effectLst/>
      </c:spPr>
    </c:plotArea>
    <c:legend>
      <c:legendPos val="b"/>
      <c:layout>
        <c:manualLayout>
          <c:xMode val="edge"/>
          <c:yMode val="edge"/>
          <c:x val="2.6107256584187628E-2"/>
          <c:y val="0.85991303325890256"/>
          <c:w val="0.93030644492575854"/>
          <c:h val="0.1342338792374394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9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r>
              <a:rPr lang="pt-BR" sz="1200" dirty="0"/>
              <a:t>Annual GDP Growth - Projected
</a:t>
            </a:r>
            <a:endParaRPr lang="en-US" sz="1200" dirty="0"/>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en-US"/>
        </a:p>
      </c:txPr>
    </c:title>
    <c:autoTitleDeleted val="0"/>
    <c:plotArea>
      <c:layout/>
      <c:lineChart>
        <c:grouping val="standard"/>
        <c:varyColors val="0"/>
        <c:ser>
          <c:idx val="0"/>
          <c:order val="0"/>
          <c:tx>
            <c:strRef>
              <c:f>'https://worldbankgroup.sharepoint.com/sites/MZMPMFiles/Shared Documents/Operations/MTI/Economic monitoring/Mozambique Economic Framework/2022/[20220319 Mozambique Macro Framework_Baseline_Grants Adjusted_Simulationfor Mathew-PCDJFVRY33.xlsx]Select Econ and Financial CPF'!$A$7</c:f>
              <c:strCache>
                <c:ptCount val="1"/>
                <c:pt idx="0">
                  <c:v>GDP at constant prices</c:v>
                </c:pt>
              </c:strCache>
            </c:strRef>
          </c:tx>
          <c:spPr>
            <a:ln w="31750" cap="rnd">
              <a:solidFill>
                <a:schemeClr val="accent1"/>
              </a:solidFill>
              <a:round/>
            </a:ln>
            <a:effectLst/>
          </c:spPr>
          <c:marker>
            <c:symbol val="none"/>
          </c:marker>
          <c:cat>
            <c:strRef>
              <c:f>'[1]Select Econ and Financial CPF'!$B$2:$M$2</c:f>
              <c:strCache>
                <c:ptCount val="12"/>
                <c:pt idx="0">
                  <c:v>2016</c:v>
                </c:pt>
                <c:pt idx="1">
                  <c:v>2017</c:v>
                </c:pt>
                <c:pt idx="2">
                  <c:v>2018</c:v>
                </c:pt>
                <c:pt idx="3">
                  <c:v>2019</c:v>
                </c:pt>
                <c:pt idx="4">
                  <c:v>2020</c:v>
                </c:pt>
                <c:pt idx="5">
                  <c:v>2021</c:v>
                </c:pt>
                <c:pt idx="6">
                  <c:v>2022 </c:v>
                </c:pt>
                <c:pt idx="7">
                  <c:v>2023</c:v>
                </c:pt>
                <c:pt idx="8">
                  <c:v>2024</c:v>
                </c:pt>
                <c:pt idx="9">
                  <c:v>2025</c:v>
                </c:pt>
                <c:pt idx="10">
                  <c:v>2026</c:v>
                </c:pt>
                <c:pt idx="11">
                  <c:v>2027</c:v>
                </c:pt>
              </c:strCache>
            </c:strRef>
          </c:cat>
          <c:val>
            <c:numRef>
              <c:f>'[1]Select Econ and Financial CPF'!$B$7:$M$7</c:f>
              <c:numCache>
                <c:formatCode>General</c:formatCode>
                <c:ptCount val="12"/>
                <c:pt idx="0">
                  <c:v>3.8242063698648243</c:v>
                </c:pt>
                <c:pt idx="1">
                  <c:v>3.7413190418151165</c:v>
                </c:pt>
                <c:pt idx="2">
                  <c:v>3.4438156642854656</c:v>
                </c:pt>
                <c:pt idx="3">
                  <c:v>2.2927369306402268</c:v>
                </c:pt>
                <c:pt idx="4">
                  <c:v>-1.2127911653609935</c:v>
                </c:pt>
                <c:pt idx="5">
                  <c:v>2.2273631917444803</c:v>
                </c:pt>
                <c:pt idx="6">
                  <c:v>3.646451938635864</c:v>
                </c:pt>
                <c:pt idx="7">
                  <c:v>5.3539020373436941</c:v>
                </c:pt>
                <c:pt idx="8">
                  <c:v>7.3939917866207905</c:v>
                </c:pt>
                <c:pt idx="9">
                  <c:v>5.3650699212903552</c:v>
                </c:pt>
                <c:pt idx="10">
                  <c:v>13</c:v>
                </c:pt>
                <c:pt idx="11">
                  <c:v>10</c:v>
                </c:pt>
              </c:numCache>
            </c:numRef>
          </c:val>
          <c:smooth val="0"/>
          <c:extLst>
            <c:ext xmlns:c16="http://schemas.microsoft.com/office/drawing/2014/chart" uri="{C3380CC4-5D6E-409C-BE32-E72D297353CC}">
              <c16:uniqueId val="{00000000-C692-41DF-B099-32B405B7F08C}"/>
            </c:ext>
          </c:extLst>
        </c:ser>
        <c:ser>
          <c:idx val="1"/>
          <c:order val="1"/>
          <c:tx>
            <c:strRef>
              <c:f>'https://worldbankgroup.sharepoint.com/sites/MZMPMFiles/Shared Documents/Operations/MTI/Economic monitoring/Mozambique Economic Framework/2022/[20220319 Mozambique Macro Framework_Baseline_Grants Adjusted_Simulationfor Mathew-PCDJFVRY33.xlsx]Select Econ and Financial CPF'!$A$8</c:f>
              <c:strCache>
                <c:ptCount val="1"/>
                <c:pt idx="0">
                  <c:v>GDP at constant prices, ex. extractive sector</c:v>
                </c:pt>
              </c:strCache>
            </c:strRef>
          </c:tx>
          <c:spPr>
            <a:ln w="31750" cap="rnd">
              <a:solidFill>
                <a:schemeClr val="accent2"/>
              </a:solidFill>
              <a:round/>
            </a:ln>
            <a:effectLst/>
          </c:spPr>
          <c:marker>
            <c:symbol val="none"/>
          </c:marker>
          <c:cat>
            <c:strRef>
              <c:f>'[1]Select Econ and Financial CPF'!$B$2:$M$2</c:f>
              <c:strCache>
                <c:ptCount val="12"/>
                <c:pt idx="0">
                  <c:v>2016</c:v>
                </c:pt>
                <c:pt idx="1">
                  <c:v>2017</c:v>
                </c:pt>
                <c:pt idx="2">
                  <c:v>2018</c:v>
                </c:pt>
                <c:pt idx="3">
                  <c:v>2019</c:v>
                </c:pt>
                <c:pt idx="4">
                  <c:v>2020</c:v>
                </c:pt>
                <c:pt idx="5">
                  <c:v>2021</c:v>
                </c:pt>
                <c:pt idx="6">
                  <c:v>2022 </c:v>
                </c:pt>
                <c:pt idx="7">
                  <c:v>2023</c:v>
                </c:pt>
                <c:pt idx="8">
                  <c:v>2024</c:v>
                </c:pt>
                <c:pt idx="9">
                  <c:v>2025</c:v>
                </c:pt>
                <c:pt idx="10">
                  <c:v>2026</c:v>
                </c:pt>
                <c:pt idx="11">
                  <c:v>2027</c:v>
                </c:pt>
              </c:strCache>
            </c:strRef>
          </c:cat>
          <c:val>
            <c:numRef>
              <c:f>'[1]Select Econ and Financial CPF'!$B$8:$M$8</c:f>
              <c:numCache>
                <c:formatCode>General</c:formatCode>
                <c:ptCount val="12"/>
                <c:pt idx="0">
                  <c:v>3.0764137800959017</c:v>
                </c:pt>
                <c:pt idx="1">
                  <c:v>1.5367224174446528</c:v>
                </c:pt>
                <c:pt idx="2">
                  <c:v>2.6433189826118717</c:v>
                </c:pt>
                <c:pt idx="3">
                  <c:v>2.5357585148552655</c:v>
                </c:pt>
                <c:pt idx="4">
                  <c:v>-0.22592321687047412</c:v>
                </c:pt>
                <c:pt idx="5">
                  <c:v>2.2897791388444686</c:v>
                </c:pt>
                <c:pt idx="6">
                  <c:v>2.846451938635858</c:v>
                </c:pt>
                <c:pt idx="7">
                  <c:v>4.2789020373437019</c:v>
                </c:pt>
                <c:pt idx="8">
                  <c:v>3.5064917866207876</c:v>
                </c:pt>
                <c:pt idx="9">
                  <c:v>0.12989013857533069</c:v>
                </c:pt>
                <c:pt idx="10">
                  <c:v>2.6384279875132735</c:v>
                </c:pt>
                <c:pt idx="11">
                  <c:v>2.0916033042364641</c:v>
                </c:pt>
              </c:numCache>
            </c:numRef>
          </c:val>
          <c:smooth val="0"/>
          <c:extLst>
            <c:ext xmlns:c16="http://schemas.microsoft.com/office/drawing/2014/chart" uri="{C3380CC4-5D6E-409C-BE32-E72D297353CC}">
              <c16:uniqueId val="{00000001-C692-41DF-B099-32B405B7F08C}"/>
            </c:ext>
          </c:extLst>
        </c:ser>
        <c:dLbls>
          <c:showLegendKey val="0"/>
          <c:showVal val="0"/>
          <c:showCatName val="0"/>
          <c:showSerName val="0"/>
          <c:showPercent val="0"/>
          <c:showBubbleSize val="0"/>
        </c:dLbls>
        <c:smooth val="0"/>
        <c:axId val="588589392"/>
        <c:axId val="588586896"/>
      </c:lineChart>
      <c:catAx>
        <c:axId val="588589392"/>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88586896"/>
        <c:crosses val="autoZero"/>
        <c:auto val="1"/>
        <c:lblAlgn val="ctr"/>
        <c:lblOffset val="100"/>
        <c:noMultiLvlLbl val="0"/>
      </c:catAx>
      <c:valAx>
        <c:axId val="588586896"/>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5885893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pt-BR" sz="1000" b="0" i="0" u="none" strike="noStrike" kern="1200" cap="all" baseline="0" smtClean="0">
                <a:solidFill>
                  <a:schemeClr val="tx1"/>
                </a:solidFill>
                <a:latin typeface="+mj-lt"/>
                <a:ea typeface="+mn-ea"/>
                <a:cs typeface="+mn-cs"/>
              </a:defRPr>
            </a:pPr>
            <a:r>
              <a:rPr lang="en-US" sz="1000" b="1" dirty="0">
                <a:solidFill>
                  <a:schemeClr val="tx1"/>
                </a:solidFill>
                <a:latin typeface="+mj-lt"/>
              </a:rPr>
              <a:t>Funding</a:t>
            </a:r>
            <a:r>
              <a:rPr lang="en-US" sz="1000" b="1" baseline="0" dirty="0">
                <a:solidFill>
                  <a:schemeClr val="tx1"/>
                </a:solidFill>
                <a:latin typeface="+mj-lt"/>
              </a:rPr>
              <a:t> </a:t>
            </a:r>
            <a:r>
              <a:rPr lang="en-US" sz="1000" b="1" dirty="0">
                <a:solidFill>
                  <a:schemeClr val="tx1"/>
                </a:solidFill>
                <a:latin typeface="+mj-lt"/>
              </a:rPr>
              <a:t>objectives</a:t>
            </a:r>
            <a:r>
              <a:rPr lang="en-US" sz="1000" b="1" baseline="0" dirty="0">
                <a:solidFill>
                  <a:schemeClr val="tx1"/>
                </a:solidFill>
                <a:latin typeface="+mj-lt"/>
              </a:rPr>
              <a:t>  </a:t>
            </a:r>
            <a:r>
              <a:rPr lang="en-US" sz="1000" b="1" dirty="0">
                <a:solidFill>
                  <a:schemeClr val="tx1"/>
                </a:solidFill>
                <a:latin typeface="+mj-lt"/>
              </a:rPr>
              <a:t>in the FY17-21 CPF period (% of total commitments)
</a:t>
            </a:r>
            <a:r>
              <a:rPr lang="pt-BR" sz="1000" b="0" dirty="0">
                <a:solidFill>
                  <a:schemeClr val="tx1"/>
                </a:solidFill>
                <a:latin typeface="+mj-lt"/>
              </a:rPr>
              <a:t>
</a:t>
            </a:r>
          </a:p>
        </c:rich>
      </c:tx>
      <c:layout>
        <c:manualLayout>
          <c:xMode val="edge"/>
          <c:yMode val="edge"/>
          <c:x val="0.19834392431471143"/>
          <c:y val="0"/>
        </c:manualLayout>
      </c:layout>
      <c:overlay val="0"/>
      <c:spPr>
        <a:noFill/>
        <a:ln>
          <a:noFill/>
        </a:ln>
        <a:effectLst/>
      </c:spPr>
      <c:txPr>
        <a:bodyPr rot="0" spcFirstLastPara="1" vertOverflow="ellipsis" vert="horz" wrap="square" anchor="ctr" anchorCtr="1"/>
        <a:lstStyle/>
        <a:p>
          <a:pPr>
            <a:defRPr lang="pt-BR" sz="1000" b="0" i="0" u="none" strike="noStrike" kern="1200" cap="all" baseline="0" smtClean="0">
              <a:solidFill>
                <a:schemeClr val="tx1"/>
              </a:solidFill>
              <a:latin typeface="+mj-lt"/>
              <a:ea typeface="+mn-ea"/>
              <a:cs typeface="+mn-cs"/>
            </a:defRPr>
          </a:pPr>
          <a:endParaRPr lang="en-US"/>
        </a:p>
      </c:txPr>
    </c:title>
    <c:autoTitleDeleted val="0"/>
    <c:plotArea>
      <c:layout/>
      <c:pieChart>
        <c:varyColors val="1"/>
        <c:ser>
          <c:idx val="0"/>
          <c:order val="0"/>
          <c:tx>
            <c:strRef>
              <c:f>'Portfolio by CPF objective'!$E$67</c:f>
              <c:strCache>
                <c:ptCount val="1"/>
                <c:pt idx="0">
                  <c:v>Percentage of total portfolio (%)</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231-4CE8-A179-C3BE7835BECE}"/>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231-4CE8-A179-C3BE7835BECE}"/>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F231-4CE8-A179-C3BE7835BECE}"/>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F231-4CE8-A179-C3BE7835BECE}"/>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F231-4CE8-A179-C3BE7835BECE}"/>
              </c:ext>
            </c:extLst>
          </c:dPt>
          <c:dPt>
            <c:idx val="5"/>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F231-4CE8-A179-C3BE7835BECE}"/>
              </c:ext>
            </c:extLst>
          </c:dPt>
          <c:dPt>
            <c:idx val="6"/>
            <c:bubble3D val="0"/>
            <c:spPr>
              <a:solidFill>
                <a:schemeClr val="accent1">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F231-4CE8-A179-C3BE7835BECE}"/>
              </c:ext>
            </c:extLst>
          </c:dPt>
          <c:dPt>
            <c:idx val="7"/>
            <c:bubble3D val="0"/>
            <c:spPr>
              <a:solidFill>
                <a:schemeClr val="accent2">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F231-4CE8-A179-C3BE7835BECE}"/>
              </c:ext>
            </c:extLst>
          </c:dPt>
          <c:dPt>
            <c:idx val="8"/>
            <c:bubble3D val="0"/>
            <c:spPr>
              <a:solidFill>
                <a:schemeClr val="accent3">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1-F231-4CE8-A179-C3BE7835BECE}"/>
              </c:ext>
            </c:extLst>
          </c:dPt>
          <c:dLbls>
            <c:dLbl>
              <c:idx val="0"/>
              <c:layout>
                <c:manualLayout>
                  <c:x val="9.6456841018841805E-2"/>
                  <c:y val="6.9453703458823249E-2"/>
                </c:manualLayout>
              </c:layout>
              <c:tx>
                <c:rich>
                  <a:bodyPr rot="0" spcFirstLastPara="1" vertOverflow="ellipsis" vert="horz" wrap="square" lIns="38100" tIns="19050" rIns="38100" bIns="19050" anchor="ctr" anchorCtr="1">
                    <a:spAutoFit/>
                  </a:bodyPr>
                  <a:lstStyle/>
                  <a:p>
                    <a:pPr>
                      <a:defRPr lang="pt-BR" sz="1000" b="1" i="0" u="none" strike="noStrike" kern="1200" spc="0" baseline="0" smtClean="0">
                        <a:solidFill>
                          <a:schemeClr val="accent1"/>
                        </a:solidFill>
                        <a:latin typeface="+mn-lt"/>
                        <a:ea typeface="+mn-ea"/>
                        <a:cs typeface="+mn-cs"/>
                      </a:defRPr>
                    </a:pPr>
                    <a:r>
                      <a:rPr lang="en-US"/>
                      <a:t>1: Improved economic management, 6.6%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pt-BR"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231-4CE8-A179-C3BE7835BECE}"/>
                </c:ext>
              </c:extLst>
            </c:dLbl>
            <c:dLbl>
              <c:idx val="1"/>
              <c:layout>
                <c:manualLayout>
                  <c:x val="0"/>
                  <c:y val="-2.5714285714285766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2: Increase in Agricultural Growth, 30.2%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231-4CE8-A179-C3BE7835BECE}"/>
                </c:ext>
              </c:extLst>
            </c:dLbl>
            <c:dLbl>
              <c:idx val="2"/>
              <c:layout>
                <c:manualLayout>
                  <c:x val="8.6556169429097468E-2"/>
                  <c:y val="-0.11714285714285724"/>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3: Improving the Business Environment for Job Creation, 3.5%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231-4CE8-A179-C3BE7835BECE}"/>
                </c:ext>
              </c:extLst>
            </c:dLbl>
            <c:dLbl>
              <c:idx val="3"/>
              <c:layout>
                <c:manualLayout>
                  <c:x val="-1.7631260185855847E-2"/>
                  <c:y val="0"/>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4: Expand access and improve electricity reliability, 8.0%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F231-4CE8-A179-C3BE7835BECE}"/>
                </c:ext>
              </c:extLst>
            </c:dLbl>
            <c:dLbl>
              <c:idx val="4"/>
              <c:layout>
                <c:manualLayout>
                  <c:x val="1.8416206261510096E-2"/>
                  <c:y val="2.8571428571428571E-3"/>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5: Improve the Skills Base, 13.8%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F231-4CE8-A179-C3BE7835BECE}"/>
                </c:ext>
              </c:extLst>
            </c:dLbl>
            <c:dLbl>
              <c:idx val="5"/>
              <c:layout>
                <c:manualLayout>
                  <c:x val="-4.9723756906077346E-2"/>
                  <c:y val="1.4285714285714181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6: Improving the provision of the Health Service, 2.8%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231-4CE8-A179-C3BE7835BECE}"/>
                </c:ext>
              </c:extLst>
            </c:dLbl>
            <c:dLbl>
              <c:idx val="6"/>
              <c:layout>
                <c:manualLayout>
                  <c:x val="-2.0257826887661159E-2"/>
                  <c:y val="-3.4285714285714392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7: Improving access to water and sanitation, 6.6%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F231-4CE8-A179-C3BE7835BECE}"/>
                </c:ext>
              </c:extLst>
            </c:dLbl>
            <c:dLbl>
              <c:idx val="7"/>
              <c:layout>
                <c:manualLayout>
                  <c:x val="-5.5248618784530384E-3"/>
                  <c:y val="2.5714285714285766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a:t>8: Support for Recovery and Resilience, 21.1%
</a:t>
                    </a:r>
                    <a:endParaRPr lang="en-US" baseline="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F231-4CE8-A179-C3BE7835BECE}"/>
                </c:ext>
              </c:extLst>
            </c:dLbl>
            <c:dLbl>
              <c:idx val="8"/>
              <c:layout>
                <c:manualLayout>
                  <c:x val="-0.15086687138108701"/>
                  <c:y val="6.0153447834029011E-2"/>
                </c:manualLayout>
              </c:layout>
              <c:tx>
                <c:rich>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r>
                      <a:rPr lang="en-US" dirty="0"/>
                      <a:t>9: Promoting Inclusive Urbanization and Decentralization7.5%
</a:t>
                    </a:r>
                    <a:endParaRPr lang="en-US" baseline="0" dirty="0"/>
                  </a:p>
                </c:rich>
              </c:tx>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spc="0" baseline="0" smtClean="0">
                      <a:solidFill>
                        <a:schemeClr val="accent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F231-4CE8-A179-C3BE7835BECE}"/>
                </c:ext>
              </c:extLst>
            </c:dLbl>
            <c:spPr>
              <a:noFill/>
              <a:ln>
                <a:noFill/>
              </a:ln>
              <a:effectLst/>
            </c:sp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'Portfolio by CPF objective'!$B$68:$B$76</c:f>
              <c:strCache>
                <c:ptCount val="9"/>
                <c:pt idx="0">
                  <c:v>1: Improved Economic Management</c:v>
                </c:pt>
                <c:pt idx="1">
                  <c:v>2: Increasing Agricultural Growth</c:v>
                </c:pt>
                <c:pt idx="2">
                  <c:v>3: Improving the Business Environment for Job Creation</c:v>
                </c:pt>
                <c:pt idx="3">
                  <c:v>4: Expand Access and Improved Reliability of Electricity</c:v>
                </c:pt>
                <c:pt idx="4">
                  <c:v>5: Enhancing the Skills Base</c:v>
                </c:pt>
                <c:pt idx="5">
                  <c:v>6: Improving Health Service Delivery</c:v>
                </c:pt>
                <c:pt idx="6">
                  <c:v>7: Improving Access to Water and Sanitation</c:v>
                </c:pt>
                <c:pt idx="7">
                  <c:v>8: Supporting Recovery and Resilience</c:v>
                </c:pt>
                <c:pt idx="8">
                  <c:v>9: Promoting Inclusive Urbanization and Decentralization </c:v>
                </c:pt>
              </c:strCache>
            </c:strRef>
          </c:cat>
          <c:val>
            <c:numRef>
              <c:f>'Portfolio by CPF objective'!$E$68:$E$76</c:f>
              <c:numCache>
                <c:formatCode>0.0%</c:formatCode>
                <c:ptCount val="9"/>
                <c:pt idx="0">
                  <c:v>6.5664420252289621E-2</c:v>
                </c:pt>
                <c:pt idx="1">
                  <c:v>0.30240193537238641</c:v>
                </c:pt>
                <c:pt idx="2">
                  <c:v>3.4560221185415588E-2</c:v>
                </c:pt>
                <c:pt idx="3">
                  <c:v>8.0179713150164159E-2</c:v>
                </c:pt>
                <c:pt idx="4">
                  <c:v>0.13754968031795403</c:v>
                </c:pt>
                <c:pt idx="5">
                  <c:v>2.7648176948332468E-2</c:v>
                </c:pt>
                <c:pt idx="6">
                  <c:v>6.5664420252289621E-2</c:v>
                </c:pt>
                <c:pt idx="7">
                  <c:v>0.21133575254881631</c:v>
                </c:pt>
                <c:pt idx="8">
                  <c:v>7.499567997235182E-2</c:v>
                </c:pt>
              </c:numCache>
            </c:numRef>
          </c:val>
          <c:extLst>
            <c:ext xmlns:c16="http://schemas.microsoft.com/office/drawing/2014/chart" uri="{C3380CC4-5D6E-409C-BE32-E72D297353CC}">
              <c16:uniqueId val="{00000012-F231-4CE8-A179-C3BE7835BECE}"/>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smtClean="0">
                <a:solidFill>
                  <a:schemeClr val="tx1">
                    <a:lumMod val="65000"/>
                    <a:lumOff val="35000"/>
                  </a:schemeClr>
                </a:solidFill>
                <a:latin typeface="+mn-lt"/>
                <a:ea typeface="+mn-ea"/>
                <a:cs typeface="+mn-cs"/>
              </a:defRPr>
            </a:pPr>
            <a:r>
              <a:rPr lang="en-US" dirty="0">
                <a:solidFill>
                  <a:schemeClr val="tx1"/>
                </a:solidFill>
              </a:rPr>
              <a:t>% of total undisbursed funds</a:t>
            </a:r>
            <a:r>
              <a:rPr lang="en-US" dirty="0"/>
              <a:t>*
</a:t>
            </a:r>
          </a:p>
        </c:rich>
      </c:tx>
      <c:overlay val="0"/>
      <c:spPr>
        <a:noFill/>
        <a:ln>
          <a:noFill/>
        </a:ln>
        <a:effectLst/>
      </c:spPr>
      <c:txPr>
        <a:bodyPr rot="0" spcFirstLastPara="1" vertOverflow="ellipsis" vert="horz" wrap="square" anchor="ctr" anchorCtr="1"/>
        <a:lstStyle/>
        <a:p>
          <a:pPr>
            <a:defRPr lang="en-US" sz="1400" b="0" i="0" u="none" strike="noStrike" kern="1200" spc="0" baseline="0" smtClean="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Sheet1!$E$61</c:f>
              <c:strCache>
                <c:ptCount val="1"/>
                <c:pt idx="0">
                  <c:v>% of total undisbursed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385-4D10-B6BF-629B6787E96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385-4D10-B6BF-629B6787E96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385-4D10-B6BF-629B6787E96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385-4D10-B6BF-629B6787E96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Sheet1!$D$62:$D$65</c:f>
              <c:strCache>
                <c:ptCount val="4"/>
                <c:pt idx="0">
                  <c:v>EFI</c:v>
                </c:pt>
                <c:pt idx="1">
                  <c:v>SD</c:v>
                </c:pt>
                <c:pt idx="2">
                  <c:v>HD</c:v>
                </c:pt>
                <c:pt idx="3">
                  <c:v>INFRA</c:v>
                </c:pt>
              </c:strCache>
            </c:strRef>
          </c:cat>
          <c:val>
            <c:numRef>
              <c:f>Sheet1!$E$62:$E$65</c:f>
              <c:numCache>
                <c:formatCode>0%</c:formatCode>
                <c:ptCount val="4"/>
                <c:pt idx="0">
                  <c:v>0.16586350447836506</c:v>
                </c:pt>
                <c:pt idx="1">
                  <c:v>0.36288633783272367</c:v>
                </c:pt>
                <c:pt idx="2">
                  <c:v>0.17613220638324714</c:v>
                </c:pt>
                <c:pt idx="3">
                  <c:v>0.29511795130566415</c:v>
                </c:pt>
              </c:numCache>
            </c:numRef>
          </c:val>
          <c:extLst>
            <c:ext xmlns:c16="http://schemas.microsoft.com/office/drawing/2014/chart" uri="{C3380CC4-5D6E-409C-BE32-E72D297353CC}">
              <c16:uniqueId val="{00000008-C385-4D10-B6BF-629B6787E96B}"/>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900"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400"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900" kern="1200" spc="20" baseline="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10.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0.13219</cdr:x>
      <cdr:y>0.19764</cdr:y>
    </cdr:from>
    <cdr:to>
      <cdr:x>0.93841</cdr:x>
      <cdr:y>0.80236</cdr:y>
    </cdr:to>
    <cdr:cxnSp macro="">
      <cdr:nvCxnSpPr>
        <cdr:cNvPr id="2" name="Straight Connector 1">
          <a:extLst xmlns:a="http://schemas.openxmlformats.org/drawingml/2006/main">
            <a:ext uri="{FF2B5EF4-FFF2-40B4-BE49-F238E27FC236}">
              <a16:creationId xmlns:a16="http://schemas.microsoft.com/office/drawing/2014/main" id="{8F7742B3-C0C8-46D0-B264-E366980DD992}"/>
            </a:ext>
          </a:extLst>
        </cdr:cNvPr>
        <cdr:cNvCxnSpPr>
          <a:cxnSpLocks xmlns:a="http://schemas.openxmlformats.org/drawingml/2006/main"/>
        </cdr:cNvCxnSpPr>
      </cdr:nvCxnSpPr>
      <cdr:spPr>
        <a:xfrm xmlns:a="http://schemas.openxmlformats.org/drawingml/2006/main" flipV="1">
          <a:off x="1349376" y="1276350"/>
          <a:ext cx="8229600" cy="3905250"/>
        </a:xfrm>
        <a:prstGeom xmlns:a="http://schemas.openxmlformats.org/drawingml/2006/main" prst="line">
          <a:avLst/>
        </a:prstGeom>
        <a:ln xmlns:a="http://schemas.openxmlformats.org/drawingml/2006/main">
          <a:prstDash val="sysDot"/>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0.2203</cdr:x>
      <cdr:y>0.12788</cdr:y>
    </cdr:from>
    <cdr:to>
      <cdr:x>1</cdr:x>
      <cdr:y>0.25321</cdr:y>
    </cdr:to>
    <cdr:sp macro="" textlink="">
      <cdr:nvSpPr>
        <cdr:cNvPr id="2" name="TextBox 14">
          <a:extLst xmlns:a="http://schemas.openxmlformats.org/drawingml/2006/main">
            <a:ext uri="{FF2B5EF4-FFF2-40B4-BE49-F238E27FC236}">
              <a16:creationId xmlns:a16="http://schemas.microsoft.com/office/drawing/2014/main" id="{7440E17E-E14A-4B80-B9C9-4A77A8EEC8BA}"/>
            </a:ext>
          </a:extLst>
        </cdr:cNvPr>
        <cdr:cNvSpPr txBox="1"/>
      </cdr:nvSpPr>
      <cdr:spPr>
        <a:xfrm xmlns:a="http://schemas.openxmlformats.org/drawingml/2006/main">
          <a:off x="568999" y="234213"/>
          <a:ext cx="2013838" cy="229558"/>
        </a:xfrm>
        <a:prstGeom xmlns:a="http://schemas.openxmlformats.org/drawingml/2006/main" prst="rect">
          <a:avLst/>
        </a:prstGeom>
        <a:noFill xmlns:a="http://schemas.openxmlformats.org/drawingml/2006/main"/>
      </cdr:spPr>
      <cdr:txBody>
        <a:bodyPr xmlns:a="http://schemas.openxmlformats.org/drawingml/2006/main" wrap="square">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rtl="0">
            <a:defRPr sz="1080" b="1" i="0" u="none" strike="noStrike" kern="1200" spc="0" baseline="0">
              <a:solidFill>
                <a:prstClr val="black"/>
              </a:solidFill>
              <a:latin typeface="+mn-lt"/>
              <a:ea typeface="+mn-ea"/>
              <a:cs typeface="+mn-cs"/>
            </a:defRPr>
          </a:pPr>
          <a:r>
            <a:rPr lang="en-US" b="1" dirty="0"/>
            <a:t>Vietnam</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3AA1D7-AF98-455A-9A7A-8CFEE420734F}"/>
              </a:ext>
            </a:extLst>
          </p:cNvPr>
          <p:cNvSpPr>
            <a:spLocks noGrp="1"/>
          </p:cNvSpPr>
          <p:nvPr>
            <p:ph type="hdr" sz="quarter"/>
          </p:nvPr>
        </p:nvSpPr>
        <p:spPr>
          <a:xfrm>
            <a:off x="3" y="0"/>
            <a:ext cx="2946247" cy="498329"/>
          </a:xfrm>
          <a:prstGeom prst="rect">
            <a:avLst/>
          </a:prstGeom>
        </p:spPr>
        <p:txBody>
          <a:bodyPr vert="horz" lIns="91426" tIns="45713" rIns="91426" bIns="45713"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7A5696-9A19-4628-ACCA-A3DCFF8AD72B}"/>
              </a:ext>
            </a:extLst>
          </p:cNvPr>
          <p:cNvSpPr>
            <a:spLocks noGrp="1"/>
          </p:cNvSpPr>
          <p:nvPr>
            <p:ph type="dt" sz="quarter" idx="1"/>
          </p:nvPr>
        </p:nvSpPr>
        <p:spPr>
          <a:xfrm>
            <a:off x="3849828" y="0"/>
            <a:ext cx="2946246" cy="498329"/>
          </a:xfrm>
          <a:prstGeom prst="rect">
            <a:avLst/>
          </a:prstGeom>
        </p:spPr>
        <p:txBody>
          <a:bodyPr vert="horz" lIns="91426" tIns="45713" rIns="91426" bIns="45713" rtlCol="0"/>
          <a:lstStyle>
            <a:lvl1pPr algn="r">
              <a:defRPr sz="1200"/>
            </a:lvl1pPr>
          </a:lstStyle>
          <a:p>
            <a:fld id="{DC49F002-5576-4460-9897-0CD73B752ACD}" type="datetimeFigureOut">
              <a:rPr lang="en-US" smtClean="0"/>
              <a:t>6/7/2022</a:t>
            </a:fld>
            <a:endParaRPr lang="en-US" dirty="0"/>
          </a:p>
        </p:txBody>
      </p:sp>
      <p:sp>
        <p:nvSpPr>
          <p:cNvPr id="4" name="Footer Placeholder 3">
            <a:extLst>
              <a:ext uri="{FF2B5EF4-FFF2-40B4-BE49-F238E27FC236}">
                <a16:creationId xmlns:a16="http://schemas.microsoft.com/office/drawing/2014/main" id="{36BD86EA-268B-482F-9959-54B027B8231D}"/>
              </a:ext>
            </a:extLst>
          </p:cNvPr>
          <p:cNvSpPr>
            <a:spLocks noGrp="1"/>
          </p:cNvSpPr>
          <p:nvPr>
            <p:ph type="ftr" sz="quarter" idx="2"/>
          </p:nvPr>
        </p:nvSpPr>
        <p:spPr>
          <a:xfrm>
            <a:off x="3" y="9428309"/>
            <a:ext cx="2946247" cy="498329"/>
          </a:xfrm>
          <a:prstGeom prst="rect">
            <a:avLst/>
          </a:prstGeom>
        </p:spPr>
        <p:txBody>
          <a:bodyPr vert="horz" lIns="91426" tIns="45713" rIns="91426" bIns="45713"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8A1EB5-E0E2-42AC-B9BD-422D4B599A14}"/>
              </a:ext>
            </a:extLst>
          </p:cNvPr>
          <p:cNvSpPr>
            <a:spLocks noGrp="1"/>
          </p:cNvSpPr>
          <p:nvPr>
            <p:ph type="sldNum" sz="quarter" idx="3"/>
          </p:nvPr>
        </p:nvSpPr>
        <p:spPr>
          <a:xfrm>
            <a:off x="3849828" y="9428309"/>
            <a:ext cx="2946246" cy="498329"/>
          </a:xfrm>
          <a:prstGeom prst="rect">
            <a:avLst/>
          </a:prstGeom>
        </p:spPr>
        <p:txBody>
          <a:bodyPr vert="horz" lIns="91426" tIns="45713" rIns="91426" bIns="45713" rtlCol="0" anchor="b"/>
          <a:lstStyle>
            <a:lvl1pPr algn="r">
              <a:defRPr sz="1200"/>
            </a:lvl1pPr>
          </a:lstStyle>
          <a:p>
            <a:fld id="{084BD0F0-B3B8-4DBD-B975-A67D569A062B}" type="slidenum">
              <a:rPr lang="en-US" smtClean="0"/>
              <a:t>‹#›</a:t>
            </a:fld>
            <a:endParaRPr lang="en-US" dirty="0"/>
          </a:p>
        </p:txBody>
      </p:sp>
    </p:spTree>
    <p:extLst>
      <p:ext uri="{BB962C8B-B14F-4D97-AF65-F5344CB8AC3E}">
        <p14:creationId xmlns:p14="http://schemas.microsoft.com/office/powerpoint/2010/main" val="13730640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5"/>
            <a:ext cx="2945659" cy="498053"/>
          </a:xfrm>
          <a:prstGeom prst="rect">
            <a:avLst/>
          </a:prstGeom>
        </p:spPr>
        <p:txBody>
          <a:bodyPr vert="horz" lIns="91426" tIns="45713" rIns="91426" bIns="45713" rtlCol="0"/>
          <a:lstStyle>
            <a:lvl1pPr algn="l">
              <a:defRPr sz="1200"/>
            </a:lvl1pPr>
          </a:lstStyle>
          <a:p>
            <a:endParaRPr lang="en-US" dirty="0"/>
          </a:p>
        </p:txBody>
      </p:sp>
      <p:sp>
        <p:nvSpPr>
          <p:cNvPr id="3" name="Date Placeholder 2"/>
          <p:cNvSpPr>
            <a:spLocks noGrp="1"/>
          </p:cNvSpPr>
          <p:nvPr>
            <p:ph type="dt" idx="1"/>
          </p:nvPr>
        </p:nvSpPr>
        <p:spPr>
          <a:xfrm>
            <a:off x="3850445" y="5"/>
            <a:ext cx="2945659" cy="498053"/>
          </a:xfrm>
          <a:prstGeom prst="rect">
            <a:avLst/>
          </a:prstGeom>
        </p:spPr>
        <p:txBody>
          <a:bodyPr vert="horz" lIns="91426" tIns="45713" rIns="91426" bIns="45713" rtlCol="0"/>
          <a:lstStyle>
            <a:lvl1pPr algn="r">
              <a:defRPr sz="1200"/>
            </a:lvl1pPr>
          </a:lstStyle>
          <a:p>
            <a:fld id="{055B727A-A6C2-43F7-B160-2402E4C3B09C}" type="datetimeFigureOut">
              <a:rPr lang="en-US" smtClean="0"/>
              <a:t>6/7/2022</a:t>
            </a:fld>
            <a:endParaRPr lang="en-US" dirty="0"/>
          </a:p>
        </p:txBody>
      </p:sp>
      <p:sp>
        <p:nvSpPr>
          <p:cNvPr id="4" name="Slide Image Placeholder 3"/>
          <p:cNvSpPr>
            <a:spLocks noGrp="1" noRot="1" noChangeAspect="1"/>
          </p:cNvSpPr>
          <p:nvPr>
            <p:ph type="sldImg" idx="2"/>
          </p:nvPr>
        </p:nvSpPr>
        <p:spPr>
          <a:xfrm>
            <a:off x="422275" y="1239838"/>
            <a:ext cx="5953125" cy="3349625"/>
          </a:xfrm>
          <a:prstGeom prst="rect">
            <a:avLst/>
          </a:prstGeom>
          <a:noFill/>
          <a:ln w="12700">
            <a:solidFill>
              <a:prstClr val="black"/>
            </a:solidFill>
          </a:ln>
        </p:spPr>
      </p:sp>
      <p:sp>
        <p:nvSpPr>
          <p:cNvPr id="5" name="Notes Placeholder 4"/>
          <p:cNvSpPr>
            <a:spLocks noGrp="1"/>
          </p:cNvSpPr>
          <p:nvPr>
            <p:ph type="body" sz="quarter" idx="3"/>
          </p:nvPr>
        </p:nvSpPr>
        <p:spPr>
          <a:xfrm>
            <a:off x="679768" y="4777202"/>
            <a:ext cx="5438140" cy="3908614"/>
          </a:xfrm>
          <a:prstGeom prst="rect">
            <a:avLst/>
          </a:prstGeom>
        </p:spPr>
        <p:txBody>
          <a:bodyPr vert="horz" lIns="91426" tIns="45713" rIns="91426" bIns="4571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9428589"/>
            <a:ext cx="2945659" cy="498053"/>
          </a:xfrm>
          <a:prstGeom prst="rect">
            <a:avLst/>
          </a:prstGeom>
        </p:spPr>
        <p:txBody>
          <a:bodyPr vert="horz" lIns="91426" tIns="45713" rIns="91426" bIns="45713"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5" y="9428589"/>
            <a:ext cx="2945659" cy="498053"/>
          </a:xfrm>
          <a:prstGeom prst="rect">
            <a:avLst/>
          </a:prstGeom>
        </p:spPr>
        <p:txBody>
          <a:bodyPr vert="horz" lIns="91426" tIns="45713" rIns="91426" bIns="45713" rtlCol="0" anchor="b"/>
          <a:lstStyle>
            <a:lvl1pPr algn="r">
              <a:defRPr sz="1200"/>
            </a:lvl1pPr>
          </a:lstStyle>
          <a:p>
            <a:fld id="{959ACFB9-F186-49C5-BAAE-4F331520327C}" type="slidenum">
              <a:rPr lang="en-US" smtClean="0"/>
              <a:t>‹#›</a:t>
            </a:fld>
            <a:endParaRPr lang="en-US" dirty="0"/>
          </a:p>
        </p:txBody>
      </p:sp>
    </p:spTree>
    <p:extLst>
      <p:ext uri="{BB962C8B-B14F-4D97-AF65-F5344CB8AC3E}">
        <p14:creationId xmlns:p14="http://schemas.microsoft.com/office/powerpoint/2010/main" val="3140668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ACFB9-F186-49C5-BAAE-4F331520327C}" type="slidenum">
              <a:rPr lang="en-US" smtClean="0"/>
              <a:t>6</a:t>
            </a:fld>
            <a:endParaRPr lang="en-US" dirty="0"/>
          </a:p>
        </p:txBody>
      </p:sp>
    </p:spTree>
    <p:extLst>
      <p:ext uri="{BB962C8B-B14F-4D97-AF65-F5344CB8AC3E}">
        <p14:creationId xmlns:p14="http://schemas.microsoft.com/office/powerpoint/2010/main" val="3088599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259">
              <a:defRPr/>
            </a:pPr>
            <a:r>
              <a:rPr lang="pt" dirty="0">
                <a:highlight>
                  <a:srgbClr val="000000">
                    <a:alpha val="0"/>
                  </a:srgbClr>
                </a:highlight>
                <a:latin typeface="Calibri"/>
              </a:rPr>
              <a:t>Desde o terceiro trimestre de 2021, o governo moçambicano tem vindo a rever a Estratégia Nacional de Desenvolvimento (ENDE) para 2015-2030.</a:t>
            </a:r>
          </a:p>
          <a:p>
            <a:pPr defTabSz="914259">
              <a:defRPr/>
            </a:pPr>
            <a:endParaRPr lang="en-US" dirty="0">
              <a:latin typeface="Calibri" pitchFamily="34" charset="0"/>
            </a:endParaRPr>
          </a:p>
          <a:p>
            <a:pPr algn="just" defTabSz="914259">
              <a:lnSpc>
                <a:spcPct val="90000"/>
              </a:lnSpc>
              <a:defRPr/>
            </a:pPr>
            <a:r>
              <a:rPr lang="pt" b="1" dirty="0">
                <a:solidFill>
                  <a:srgbClr val="000000"/>
                </a:solidFill>
                <a:highlight>
                  <a:srgbClr val="000000">
                    <a:alpha val="0"/>
                  </a:srgbClr>
                </a:highlight>
                <a:latin typeface="Calibri"/>
                <a:ea typeface="Times New Roman"/>
              </a:rPr>
              <a:t>O actual plano de desenvolvimento quinquenal é moldado em torno de três prioridades principais, três pilares e temas transversais. </a:t>
            </a:r>
          </a:p>
          <a:p>
            <a:pPr algn="just">
              <a:spcBef>
                <a:spcPts val="600"/>
              </a:spcBef>
              <a:defRPr/>
            </a:pPr>
            <a:r>
              <a:rPr lang="pt" dirty="0">
                <a:solidFill>
                  <a:srgbClr val="000000"/>
                </a:solidFill>
                <a:highlight>
                  <a:srgbClr val="000000">
                    <a:alpha val="0"/>
                  </a:srgbClr>
                </a:highlight>
                <a:latin typeface="Calibri"/>
                <a:ea typeface="Times New Roman"/>
              </a:rPr>
              <a:t>O PQG 2020 - 2024 é orientado por três prioridades: (i) crescimento económico, produtividade, e criação de emprego; (ii) desenvolvimento do capital humano e justiça social; e (iii) gestão sustentável dos recursos naturais e ambientais. </a:t>
            </a:r>
          </a:p>
          <a:p>
            <a:pPr algn="just">
              <a:spcBef>
                <a:spcPts val="600"/>
              </a:spcBef>
              <a:defRPr/>
            </a:pPr>
            <a:r>
              <a:rPr lang="pt" dirty="0">
                <a:solidFill>
                  <a:srgbClr val="000000"/>
                </a:solidFill>
                <a:highlight>
                  <a:srgbClr val="000000">
                    <a:alpha val="0"/>
                  </a:srgbClr>
                </a:highlight>
                <a:latin typeface="Calibri"/>
                <a:ea typeface="Times New Roman"/>
              </a:rPr>
              <a:t>Além disso, o programa é sustentado por três pilares: (i) democracia e coesão social, (ii) boa governação e descentralização; e (iii) cooperação internacional. </a:t>
            </a:r>
          </a:p>
          <a:p>
            <a:pPr algn="just">
              <a:spcBef>
                <a:spcPts val="600"/>
              </a:spcBef>
              <a:defRPr/>
            </a:pPr>
            <a:r>
              <a:rPr lang="pt" dirty="0">
                <a:solidFill>
                  <a:srgbClr val="000000"/>
                </a:solidFill>
                <a:highlight>
                  <a:srgbClr val="000000">
                    <a:alpha val="0"/>
                  </a:srgbClr>
                </a:highlight>
                <a:latin typeface="Calibri"/>
                <a:ea typeface="Times New Roman"/>
              </a:rPr>
              <a:t>Por último, o PQG 2020-2024 presta especial atenção aos temas transversais: (a) jovens, mulheres e antigos combatentes; b) habitação e emprego; e c) agricultura, industrialização, e turismo como centrais para a modernização da economia. </a:t>
            </a:r>
          </a:p>
          <a:p>
            <a:pPr algn="just">
              <a:spcBef>
                <a:spcPts val="600"/>
              </a:spcBef>
              <a:defRPr/>
            </a:pPr>
            <a:r>
              <a:rPr lang="pt" dirty="0">
                <a:solidFill>
                  <a:srgbClr val="000000"/>
                </a:solidFill>
                <a:highlight>
                  <a:srgbClr val="000000">
                    <a:alpha val="0"/>
                  </a:srgbClr>
                </a:highlight>
                <a:latin typeface="Calibri"/>
                <a:ea typeface="Times New Roman"/>
              </a:rPr>
              <a:t>O Programa também articula, os objectivos de alcançar o acesso universal até 2030 e o posicionamento de Moçambique como um centro regional de electricidade. </a:t>
            </a:r>
          </a:p>
          <a:p>
            <a:pPr algn="just">
              <a:spcBef>
                <a:spcPts val="600"/>
              </a:spcBef>
              <a:defRPr/>
            </a:pPr>
            <a:endParaRPr lang="en-US" dirty="0">
              <a:solidFill>
                <a:prstClr val="black"/>
              </a:solidFill>
              <a:latin typeface="Calibri" pitchFamily="34" charset="0"/>
              <a:ea typeface="Times New Roman" panose="02020603050405020304" pitchFamily="18" charset="0"/>
            </a:endParaRPr>
          </a:p>
          <a:p>
            <a:pPr algn="just" rtl="0">
              <a:lnSpc>
                <a:spcPct val="90000"/>
              </a:lnSpc>
              <a:defRPr/>
            </a:pPr>
            <a:r>
              <a:rPr lang="pt" b="1" dirty="0">
                <a:highlight>
                  <a:srgbClr val="000000">
                    <a:alpha val="0"/>
                  </a:srgbClr>
                </a:highlight>
                <a:latin typeface="Calibri"/>
                <a:cs typeface="Calibri"/>
              </a:rPr>
              <a:t>O Governo desenvolveu uma Estratégia de Prevenção de Conflitos e Violência, como parte do processo de assegurar a elegibilidade para a Alocação de Prevenção e Resiliência (PRA, Prevention and Resilience Allocation) ao abrigo do IDA19.</a:t>
            </a:r>
            <a:endParaRPr lang="en-US" dirty="0">
              <a:latin typeface="Calibri"/>
              <a:cs typeface="Calibri"/>
            </a:endParaRPr>
          </a:p>
          <a:p>
            <a:pPr algn="just">
              <a:lnSpc>
                <a:spcPct val="90000"/>
              </a:lnSpc>
              <a:defRPr/>
            </a:pPr>
            <a:endParaRPr lang="en-US" dirty="0">
              <a:solidFill>
                <a:prstClr val="black"/>
              </a:solidFill>
              <a:latin typeface="Calibri" pitchFamily="34" charset="0"/>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O objectivo desta Estratégia era delinear uma abordagem para o desenvolvimento da coesão nacional, abordando ao mesmo tempo algumas das principais queixas que têm estado no centro dos surtos e da recorrência de conflitos desde a independência. </a:t>
            </a:r>
            <a:endParaRPr lang="en-US" dirty="0">
              <a:latin typeface="Calibri" pitchFamily="34" charset="0"/>
              <a:cs typeface="Calibri"/>
            </a:endParaRPr>
          </a:p>
          <a:p>
            <a:pPr marL="285706" indent="-285706" algn="just">
              <a:lnSpc>
                <a:spcPct val="90000"/>
              </a:lnSpc>
              <a:buFont typeface="Arial" panose="020B0604020202020204" pitchFamily="34" charset="0"/>
              <a:buChar char="•"/>
              <a:defRPr/>
            </a:pPr>
            <a:endParaRPr lang="en-US" dirty="0">
              <a:solidFill>
                <a:prstClr val="black"/>
              </a:solidFill>
              <a:latin typeface="Calibri" panose="020F0502020204030204" pitchFamily="34" charset="0"/>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Associado a esta Estratégia, o Governo também articulou um quadro de monitoria para a prevenção e a resiliência, compreendendo uma série de marcos que decorrem entre o AF21 e o AF23 que procuram abordar os principais desafios da fragilidade em todo o país. </a:t>
            </a:r>
            <a:endParaRPr lang="en-US" dirty="0">
              <a:latin typeface="Calibri" panose="020F0502020204030204" pitchFamily="34" charset="0"/>
              <a:cs typeface="Calibri"/>
            </a:endParaRPr>
          </a:p>
          <a:p>
            <a:pPr marL="285706" indent="-285706" algn="just">
              <a:lnSpc>
                <a:spcPct val="90000"/>
              </a:lnSpc>
              <a:buFont typeface="Arial" panose="020B0604020202020204" pitchFamily="34" charset="0"/>
              <a:buChar char="•"/>
              <a:defRPr/>
            </a:pPr>
            <a:endParaRPr lang="en-US" dirty="0">
              <a:solidFill>
                <a:prstClr val="black"/>
              </a:solidFill>
              <a:latin typeface="Calibri" panose="020F0502020204030204" pitchFamily="34" charset="0"/>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Moçambique tornou-se o terceiro país a assegurar a elegibilidade para a PRA em Março de 2021, o que permitiu ao Governo ter acesso a um reforço do financiamento para evitar o início, a recorrência e a escalada de conflitos violentos. </a:t>
            </a:r>
          </a:p>
          <a:p>
            <a:pPr algn="just">
              <a:lnSpc>
                <a:spcPct val="90000"/>
              </a:lnSpc>
              <a:defRPr/>
            </a:pPr>
            <a:endParaRPr lang="en-US" dirty="0">
              <a:latin typeface="Calibri" panose="020F0502020204030204"/>
              <a:cs typeface="Calibri"/>
            </a:endParaRPr>
          </a:p>
          <a:p>
            <a:pPr marL="285706" indent="-285706" algn="just">
              <a:lnSpc>
                <a:spcPct val="90000"/>
              </a:lnSpc>
              <a:buFont typeface="Arial" panose="020B0604020202020204" pitchFamily="34" charset="0"/>
              <a:buChar char="•"/>
              <a:defRPr/>
            </a:pPr>
            <a:r>
              <a:rPr lang="pt" dirty="0">
                <a:highlight>
                  <a:srgbClr val="000000">
                    <a:alpha val="0"/>
                  </a:srgbClr>
                </a:highlight>
                <a:latin typeface="Calibri"/>
                <a:cs typeface="Calibri"/>
              </a:rPr>
              <a:t>Como parte do diálogo em torno da PRA o Governo solicitou apoio para a formulação da sua Estratégia Integrada de Desenvolvimento e Resiliência para o Norte.</a:t>
            </a:r>
          </a:p>
          <a:p>
            <a:pPr algn="just">
              <a:spcBef>
                <a:spcPts val="600"/>
              </a:spcBef>
              <a:defRPr/>
            </a:pPr>
            <a:endParaRPr lang="en-US" dirty="0">
              <a:solidFill>
                <a:prstClr val="black"/>
              </a:solidFill>
              <a:latin typeface="Calibri" panose="020F0502020204030204" pitchFamily="34" charset="0"/>
              <a:ea typeface="Times New Roman" panose="02020603050405020304" pitchFamily="18" charset="0"/>
            </a:endParaRPr>
          </a:p>
          <a:p>
            <a:pPr defTabSz="914259">
              <a:defRPr/>
            </a:pPr>
            <a:endParaRPr lang="en-US" dirty="0">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959ACFB9-F186-49C5-BAAE-4F331520327C}" type="slidenum">
              <a:rPr lang="en-US" smtClean="0"/>
              <a:t>15</a:t>
            </a:fld>
            <a:endParaRPr lang="en-US"/>
          </a:p>
        </p:txBody>
      </p:sp>
    </p:spTree>
    <p:extLst>
      <p:ext uri="{BB962C8B-B14F-4D97-AF65-F5344CB8AC3E}">
        <p14:creationId xmlns:p14="http://schemas.microsoft.com/office/powerpoint/2010/main" val="2571206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959ACFB9-F186-49C5-BAAE-4F331520327C}" type="slidenum">
              <a:rPr lang="en-US" smtClean="0"/>
              <a:t>23</a:t>
            </a:fld>
            <a:endParaRPr lang="en-US"/>
          </a:p>
        </p:txBody>
      </p:sp>
    </p:spTree>
    <p:extLst>
      <p:ext uri="{BB962C8B-B14F-4D97-AF65-F5344CB8AC3E}">
        <p14:creationId xmlns:p14="http://schemas.microsoft.com/office/powerpoint/2010/main" val="1411561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nSpc>
                <a:spcPct val="10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pt-BR" dirty="0"/>
          </a:p>
        </p:txBody>
      </p:sp>
      <p:sp>
        <p:nvSpPr>
          <p:cNvPr id="4" name="Slide Number Placeholder 3"/>
          <p:cNvSpPr>
            <a:spLocks noGrp="1"/>
          </p:cNvSpPr>
          <p:nvPr>
            <p:ph type="sldNum" sz="quarter" idx="5"/>
          </p:nvPr>
        </p:nvSpPr>
        <p:spPr/>
        <p:txBody>
          <a:bodyPr/>
          <a:lstStyle/>
          <a:p>
            <a:fld id="{959ACFB9-F186-49C5-BAAE-4F331520327C}" type="slidenum">
              <a:rPr lang="en-US" smtClean="0"/>
              <a:t>24</a:t>
            </a:fld>
            <a:endParaRPr lang="en-US"/>
          </a:p>
        </p:txBody>
      </p:sp>
    </p:spTree>
    <p:extLst>
      <p:ext uri="{BB962C8B-B14F-4D97-AF65-F5344CB8AC3E}">
        <p14:creationId xmlns:p14="http://schemas.microsoft.com/office/powerpoint/2010/main" val="149659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959ACFB9-F186-49C5-BAAE-4F331520327C}" type="slidenum">
              <a:rPr lang="en-US" smtClean="0"/>
              <a:t>25</a:t>
            </a:fld>
            <a:endParaRPr lang="en-US"/>
          </a:p>
        </p:txBody>
      </p:sp>
    </p:spTree>
    <p:extLst>
      <p:ext uri="{BB962C8B-B14F-4D97-AF65-F5344CB8AC3E}">
        <p14:creationId xmlns:p14="http://schemas.microsoft.com/office/powerpoint/2010/main" val="1610400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A0981-943C-4992-B149-9C63154546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35F9E7-E9BF-4016-B324-B6A646CDAF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8B3994-86FB-4F29-9C45-09B27D9BF43F}"/>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35F1EF73-4840-48FC-9630-B433A9F908A2}"/>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D4EFB3C5-81C6-4829-BAC3-420F2F492BEA}"/>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267712704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E4F2B-05FF-445D-98BD-7B90CF93E0FC}"/>
              </a:ext>
            </a:extLst>
          </p:cNvPr>
          <p:cNvSpPr>
            <a:spLocks noGrp="1"/>
          </p:cNvSpPr>
          <p:nvPr>
            <p:ph type="title"/>
          </p:nvPr>
        </p:nvSpPr>
        <p:spPr/>
        <p:txBody>
          <a:bodyPr>
            <a:normAutofit/>
          </a:bodyPr>
          <a:lstStyle>
            <a:lvl1pPr>
              <a:defRPr lang="en-US" sz="2300" b="1" kern="1200">
                <a:solidFill>
                  <a:schemeClr val="accent1">
                    <a:lumMod val="75000"/>
                  </a:schemeClr>
                </a:solidFill>
                <a:latin typeface="Arial"/>
                <a:ea typeface="+mj-ea"/>
                <a:cs typeface="Arial"/>
              </a:defRPr>
            </a:lvl1pPr>
          </a:lstStyle>
          <a:p>
            <a:r>
              <a:rPr lang="en-US"/>
              <a:t>Click to edit Master title style</a:t>
            </a:r>
          </a:p>
        </p:txBody>
      </p:sp>
      <p:sp>
        <p:nvSpPr>
          <p:cNvPr id="3" name="Content Placeholder 2">
            <a:extLst>
              <a:ext uri="{FF2B5EF4-FFF2-40B4-BE49-F238E27FC236}">
                <a16:creationId xmlns:a16="http://schemas.microsoft.com/office/drawing/2014/main" id="{BB87B212-47F3-4A5B-A949-19A7F167572C}"/>
              </a:ext>
            </a:extLst>
          </p:cNvPr>
          <p:cNvSpPr>
            <a:spLocks noGrp="1"/>
          </p:cNvSpPr>
          <p:nvPr>
            <p:ph idx="1"/>
          </p:nvPr>
        </p:nvSpPr>
        <p:spPr/>
        <p:txBody>
          <a:bodyPr/>
          <a:lstStyle>
            <a:lvl1pPr>
              <a:defRPr lang="en-US" sz="1400" kern="1200">
                <a:solidFill>
                  <a:schemeClr val="tx1"/>
                </a:solidFill>
                <a:latin typeface="Arial" panose="020B0604020202020204" pitchFamily="34" charset="0"/>
                <a:ea typeface="+mn-ea"/>
                <a:cs typeface="Arial" panose="020B0604020202020204" pitchFamily="34" charset="0"/>
              </a:defRPr>
            </a:lvl1pPr>
            <a:lvl2pPr marL="228600" indent="-228600">
              <a:defRPr sz="1200">
                <a:latin typeface="Arial" panose="020B0604020202020204" pitchFamily="34" charset="0"/>
                <a:cs typeface="Arial" panose="020B0604020202020204" pitchFamily="34" charset="0"/>
              </a:defRPr>
            </a:lvl2pPr>
            <a:lvl3pPr marL="228600" indent="-228600">
              <a:defRPr sz="1100">
                <a:latin typeface="Arial" panose="020B0604020202020204" pitchFamily="34" charset="0"/>
                <a:cs typeface="Arial" panose="020B0604020202020204" pitchFamily="34" charset="0"/>
              </a:defRPr>
            </a:lvl3pPr>
          </a:lstStyle>
          <a:p>
            <a:pPr lvl="0"/>
            <a:r>
              <a:rPr lang="en-US"/>
              <a:t>Click to edit Master text styles</a:t>
            </a:r>
          </a:p>
          <a:p>
            <a:pPr marL="228600" marR="0" lvl="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a:pPr>
            <a:r>
              <a:rPr lang="en-US"/>
              <a:t>Second level</a:t>
            </a:r>
            <a:r>
              <a:rPr lang="en-US" b="1" i="0">
                <a:solidFill>
                  <a:srgbClr val="030303"/>
                </a:solidFill>
                <a:effectLst/>
                <a:latin typeface="YouTube Sans"/>
              </a:rPr>
              <a:t> owerPoint: Changing the font of all slides at once</a:t>
            </a:r>
          </a:p>
          <a:p>
            <a:pPr marL="228600" lvl="0" indent="-228600" algn="l" defTabSz="914400" rtl="0" eaLnBrk="1" latinLnBrk="0" hangingPunct="1">
              <a:lnSpc>
                <a:spcPct val="90000"/>
              </a:lnSpc>
              <a:spcBef>
                <a:spcPts val="1000"/>
              </a:spcBef>
              <a:buFont typeface="Arial" panose="020B0604020202020204" pitchFamily="34" charset="0"/>
              <a:buChar char="•"/>
            </a:pPr>
            <a:endParaRPr lang="en-US"/>
          </a:p>
          <a:p>
            <a:pPr marL="228600" lvl="0" indent="-228600" algn="l" defTabSz="914400" rtl="0" eaLnBrk="1" latinLnBrk="0" hangingPunct="1">
              <a:lnSpc>
                <a:spcPct val="90000"/>
              </a:lnSpc>
              <a:spcBef>
                <a:spcPts val="1000"/>
              </a:spcBef>
              <a:buFont typeface="Arial" panose="020B0604020202020204" pitchFamily="34" charset="0"/>
              <a:buChar char="•"/>
            </a:pPr>
            <a:r>
              <a:rPr lang="en-US"/>
              <a:t>Third level</a:t>
            </a:r>
          </a:p>
        </p:txBody>
      </p:sp>
      <p:sp>
        <p:nvSpPr>
          <p:cNvPr id="4" name="Date Placeholder 3">
            <a:extLst>
              <a:ext uri="{FF2B5EF4-FFF2-40B4-BE49-F238E27FC236}">
                <a16:creationId xmlns:a16="http://schemas.microsoft.com/office/drawing/2014/main" id="{6CC95B8F-D1C2-401F-BD84-8DDECCBA8092}"/>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3367B9EA-B7E1-4EF8-A46E-2E8CFE0B0FC8}"/>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A8183F10-E48C-4566-BC2B-FF2F486A6998}"/>
              </a:ext>
            </a:extLst>
          </p:cNvPr>
          <p:cNvSpPr>
            <a:spLocks noGrp="1"/>
          </p:cNvSpPr>
          <p:nvPr>
            <p:ph type="sldNum" sz="quarter" idx="12"/>
          </p:nvPr>
        </p:nvSpPr>
        <p:spPr/>
        <p:txBody>
          <a:bodyPr/>
          <a:lstStyle>
            <a:lvl1pPr>
              <a:defRPr sz="1200"/>
            </a:lvl1pPr>
          </a:lstStyle>
          <a:p>
            <a:fld id="{B8473C9A-9E91-4025-B5E2-D7B202510636}" type="slidenum">
              <a:rPr lang="en-US" smtClean="0"/>
              <a:t>‹#›</a:t>
            </a:fld>
            <a:endParaRPr lang="en-US" dirty="0"/>
          </a:p>
        </p:txBody>
      </p:sp>
    </p:spTree>
    <p:extLst>
      <p:ext uri="{BB962C8B-B14F-4D97-AF65-F5344CB8AC3E}">
        <p14:creationId xmlns:p14="http://schemas.microsoft.com/office/powerpoint/2010/main" val="394048727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04923-E02C-4624-A21A-65B68F28C343}"/>
              </a:ext>
            </a:extLst>
          </p:cNvPr>
          <p:cNvSpPr>
            <a:spLocks noGrp="1"/>
          </p:cNvSpPr>
          <p:nvPr>
            <p:ph type="title"/>
          </p:nvPr>
        </p:nvSpPr>
        <p:spPr>
          <a:xfrm>
            <a:off x="831850" y="1709738"/>
            <a:ext cx="10515600" cy="2852737"/>
          </a:xfrm>
        </p:spPr>
        <p:txBody>
          <a:bodyPr anchor="ctr" anchorCtr="0"/>
          <a:lstStyle>
            <a:lvl1pPr algn="ctr">
              <a:defRPr sz="6000"/>
            </a:lvl1pPr>
          </a:lstStyle>
          <a:p>
            <a:r>
              <a:rPr lang="en-US"/>
              <a:t>Click to edit Master title style</a:t>
            </a:r>
          </a:p>
        </p:txBody>
      </p:sp>
      <p:sp>
        <p:nvSpPr>
          <p:cNvPr id="3" name="Text Placeholder 2">
            <a:extLst>
              <a:ext uri="{FF2B5EF4-FFF2-40B4-BE49-F238E27FC236}">
                <a16:creationId xmlns:a16="http://schemas.microsoft.com/office/drawing/2014/main" id="{9DAE0A33-1BB3-4E42-B621-A472B874EA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76DB44-0DB5-40B5-BA14-1EDA86A4D24B}"/>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55AA5C62-6202-4358-AC75-4E0415B24F7B}"/>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DED24AA5-8997-4524-A317-F3333E4AAC4B}"/>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353839300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D9D26-49ED-4CF7-B672-8637E4AD5E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43621A-9D07-4DF4-9D5A-48B41E7955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B0EFF8-B574-4682-B3A9-AA6161FFE7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C375E7-1F3E-4EF7-B071-48DF4593E1E2}"/>
              </a:ext>
            </a:extLst>
          </p:cNvPr>
          <p:cNvSpPr>
            <a:spLocks noGrp="1"/>
          </p:cNvSpPr>
          <p:nvPr>
            <p:ph type="dt" sz="half" idx="10"/>
          </p:nvPr>
        </p:nvSpPr>
        <p:spPr/>
        <p:txBody>
          <a:bodyPr/>
          <a:lstStyle/>
          <a:p>
            <a:r>
              <a:rPr lang="en-US"/>
              <a:t>3/1/2022</a:t>
            </a:r>
            <a:endParaRPr lang="en-US" dirty="0"/>
          </a:p>
        </p:txBody>
      </p:sp>
      <p:sp>
        <p:nvSpPr>
          <p:cNvPr id="6" name="Footer Placeholder 5">
            <a:extLst>
              <a:ext uri="{FF2B5EF4-FFF2-40B4-BE49-F238E27FC236}">
                <a16:creationId xmlns:a16="http://schemas.microsoft.com/office/drawing/2014/main" id="{A8096E2A-D6F0-42E1-93F5-D99EDE9CF8F7}"/>
              </a:ext>
            </a:extLst>
          </p:cNvPr>
          <p:cNvSpPr>
            <a:spLocks noGrp="1"/>
          </p:cNvSpPr>
          <p:nvPr>
            <p:ph type="ftr" sz="quarter" idx="11"/>
          </p:nvPr>
        </p:nvSpPr>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F3C9BC91-D20F-4D2A-ACDC-D462531E7E32}"/>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133866311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CCE41-EFB1-46F9-8C61-340395BFD3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86AD4D-5D04-485B-BBDF-BC3CA5A179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C38865-AD92-4EF6-8AC6-2D3C28823F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1AF0F8-46DF-422B-8C36-DFEB6BFB41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F8E853-9A78-4653-AF85-F954C3714E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91138F-1A14-4A55-8651-B0A6BBE21A45}"/>
              </a:ext>
            </a:extLst>
          </p:cNvPr>
          <p:cNvSpPr>
            <a:spLocks noGrp="1"/>
          </p:cNvSpPr>
          <p:nvPr>
            <p:ph type="dt" sz="half" idx="10"/>
          </p:nvPr>
        </p:nvSpPr>
        <p:spPr/>
        <p:txBody>
          <a:bodyPr/>
          <a:lstStyle/>
          <a:p>
            <a:r>
              <a:rPr lang="en-US"/>
              <a:t>3/1/2022</a:t>
            </a:r>
            <a:endParaRPr lang="en-US" dirty="0"/>
          </a:p>
        </p:txBody>
      </p:sp>
      <p:sp>
        <p:nvSpPr>
          <p:cNvPr id="8" name="Footer Placeholder 7">
            <a:extLst>
              <a:ext uri="{FF2B5EF4-FFF2-40B4-BE49-F238E27FC236}">
                <a16:creationId xmlns:a16="http://schemas.microsoft.com/office/drawing/2014/main" id="{6E29D1E1-3806-4AFD-A62F-2206BB742E6A}"/>
              </a:ext>
            </a:extLst>
          </p:cNvPr>
          <p:cNvSpPr>
            <a:spLocks noGrp="1"/>
          </p:cNvSpPr>
          <p:nvPr>
            <p:ph type="ftr" sz="quarter" idx="11"/>
          </p:nvPr>
        </p:nvSpPr>
        <p:spPr/>
        <p:txBody>
          <a:bodyPr/>
          <a:lstStyle/>
          <a:p>
            <a:r>
              <a:rPr lang="en-US"/>
              <a:t>CPF 2023-2027. Public Version. Maputo, May 2022.</a:t>
            </a:r>
            <a:endParaRPr lang="en-US" dirty="0"/>
          </a:p>
        </p:txBody>
      </p:sp>
      <p:sp>
        <p:nvSpPr>
          <p:cNvPr id="9" name="Slide Number Placeholder 8">
            <a:extLst>
              <a:ext uri="{FF2B5EF4-FFF2-40B4-BE49-F238E27FC236}">
                <a16:creationId xmlns:a16="http://schemas.microsoft.com/office/drawing/2014/main" id="{A5E3FB99-8FE9-4D09-8A4F-12CF1277B750}"/>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3128242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1D9C5-5AA6-4565-BCC7-41B79AC8DB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5F545B-A0EE-43AE-A42B-5A8CB9C82F1A}"/>
              </a:ext>
            </a:extLst>
          </p:cNvPr>
          <p:cNvSpPr>
            <a:spLocks noGrp="1"/>
          </p:cNvSpPr>
          <p:nvPr>
            <p:ph type="dt" sz="half" idx="10"/>
          </p:nvPr>
        </p:nvSpPr>
        <p:spPr/>
        <p:txBody>
          <a:bodyPr/>
          <a:lstStyle/>
          <a:p>
            <a:r>
              <a:rPr lang="en-US"/>
              <a:t>3/1/2022</a:t>
            </a:r>
            <a:endParaRPr lang="en-US" dirty="0"/>
          </a:p>
        </p:txBody>
      </p:sp>
      <p:sp>
        <p:nvSpPr>
          <p:cNvPr id="4" name="Footer Placeholder 3">
            <a:extLst>
              <a:ext uri="{FF2B5EF4-FFF2-40B4-BE49-F238E27FC236}">
                <a16:creationId xmlns:a16="http://schemas.microsoft.com/office/drawing/2014/main" id="{107FCC15-8266-4DE3-B290-D16AFE7F7167}"/>
              </a:ext>
            </a:extLst>
          </p:cNvPr>
          <p:cNvSpPr>
            <a:spLocks noGrp="1"/>
          </p:cNvSpPr>
          <p:nvPr>
            <p:ph type="ftr" sz="quarter" idx="11"/>
          </p:nvPr>
        </p:nvSpPr>
        <p:spPr/>
        <p:txBody>
          <a:bodyPr/>
          <a:lstStyle/>
          <a:p>
            <a:r>
              <a:rPr lang="en-US"/>
              <a:t>CPF 2023-2027. Public Version. Maputo, May 2022.</a:t>
            </a:r>
            <a:endParaRPr lang="en-US" dirty="0"/>
          </a:p>
        </p:txBody>
      </p:sp>
      <p:sp>
        <p:nvSpPr>
          <p:cNvPr id="5" name="Slide Number Placeholder 4">
            <a:extLst>
              <a:ext uri="{FF2B5EF4-FFF2-40B4-BE49-F238E27FC236}">
                <a16:creationId xmlns:a16="http://schemas.microsoft.com/office/drawing/2014/main" id="{CEFA89CF-916B-4108-9529-CE8B895436F5}"/>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68770266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18153-E68F-4442-824A-844A7D495AA3}"/>
              </a:ext>
            </a:extLst>
          </p:cNvPr>
          <p:cNvSpPr>
            <a:spLocks noGrp="1"/>
          </p:cNvSpPr>
          <p:nvPr>
            <p:ph type="dt" sz="half" idx="10"/>
          </p:nvPr>
        </p:nvSpPr>
        <p:spPr/>
        <p:txBody>
          <a:bodyPr/>
          <a:lstStyle/>
          <a:p>
            <a:r>
              <a:rPr lang="en-US"/>
              <a:t>3/1/2022</a:t>
            </a:r>
            <a:endParaRPr lang="en-US" dirty="0"/>
          </a:p>
        </p:txBody>
      </p:sp>
      <p:sp>
        <p:nvSpPr>
          <p:cNvPr id="3" name="Footer Placeholder 2">
            <a:extLst>
              <a:ext uri="{FF2B5EF4-FFF2-40B4-BE49-F238E27FC236}">
                <a16:creationId xmlns:a16="http://schemas.microsoft.com/office/drawing/2014/main" id="{03F8DE74-6A59-4828-A8A1-BCE6E8201FF0}"/>
              </a:ext>
            </a:extLst>
          </p:cNvPr>
          <p:cNvSpPr>
            <a:spLocks noGrp="1"/>
          </p:cNvSpPr>
          <p:nvPr>
            <p:ph type="ftr" sz="quarter" idx="11"/>
          </p:nvPr>
        </p:nvSpPr>
        <p:spPr/>
        <p:txBody>
          <a:bodyPr/>
          <a:lstStyle/>
          <a:p>
            <a:r>
              <a:rPr lang="en-US"/>
              <a:t>CPF 2023-2027. Public Version. Maputo, May 2022.</a:t>
            </a:r>
            <a:endParaRPr lang="en-US" dirty="0"/>
          </a:p>
        </p:txBody>
      </p:sp>
      <p:sp>
        <p:nvSpPr>
          <p:cNvPr id="4" name="Slide Number Placeholder 3">
            <a:extLst>
              <a:ext uri="{FF2B5EF4-FFF2-40B4-BE49-F238E27FC236}">
                <a16:creationId xmlns:a16="http://schemas.microsoft.com/office/drawing/2014/main" id="{B5D5FB75-E157-4016-BB05-C4EA32485B45}"/>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41331357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2A399-BC8D-4019-ADD6-FABA8E1DB5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BD1820-8456-48C2-89AE-2E5C2597A5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E4EECB-192E-4E2F-BF38-CF293360E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DBDF5D-D784-48F1-81D7-0C79EF1FCD50}"/>
              </a:ext>
            </a:extLst>
          </p:cNvPr>
          <p:cNvSpPr>
            <a:spLocks noGrp="1"/>
          </p:cNvSpPr>
          <p:nvPr>
            <p:ph type="dt" sz="half" idx="10"/>
          </p:nvPr>
        </p:nvSpPr>
        <p:spPr/>
        <p:txBody>
          <a:bodyPr/>
          <a:lstStyle/>
          <a:p>
            <a:r>
              <a:rPr lang="en-US"/>
              <a:t>3/1/2022</a:t>
            </a:r>
            <a:endParaRPr lang="en-US" dirty="0"/>
          </a:p>
        </p:txBody>
      </p:sp>
      <p:sp>
        <p:nvSpPr>
          <p:cNvPr id="6" name="Footer Placeholder 5">
            <a:extLst>
              <a:ext uri="{FF2B5EF4-FFF2-40B4-BE49-F238E27FC236}">
                <a16:creationId xmlns:a16="http://schemas.microsoft.com/office/drawing/2014/main" id="{F2EDED05-F5A3-4456-AAE2-C3FC42BF1B84}"/>
              </a:ext>
            </a:extLst>
          </p:cNvPr>
          <p:cNvSpPr>
            <a:spLocks noGrp="1"/>
          </p:cNvSpPr>
          <p:nvPr>
            <p:ph type="ftr" sz="quarter" idx="11"/>
          </p:nvPr>
        </p:nvSpPr>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BD739283-FA12-4D86-B3B8-162D2AD6EE1C}"/>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32976439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14276-E124-4822-AE88-D4627D1FF0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08839D-E988-4BD9-8192-034C390DB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B006194-79AA-47B5-B06A-1D26087D97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FA16CA-0CE4-4B33-9522-59AE6B24FD4C}"/>
              </a:ext>
            </a:extLst>
          </p:cNvPr>
          <p:cNvSpPr>
            <a:spLocks noGrp="1"/>
          </p:cNvSpPr>
          <p:nvPr>
            <p:ph type="dt" sz="half" idx="10"/>
          </p:nvPr>
        </p:nvSpPr>
        <p:spPr/>
        <p:txBody>
          <a:bodyPr/>
          <a:lstStyle/>
          <a:p>
            <a:r>
              <a:rPr lang="en-US"/>
              <a:t>3/1/2022</a:t>
            </a:r>
            <a:endParaRPr lang="en-US" dirty="0"/>
          </a:p>
        </p:txBody>
      </p:sp>
      <p:sp>
        <p:nvSpPr>
          <p:cNvPr id="6" name="Footer Placeholder 5">
            <a:extLst>
              <a:ext uri="{FF2B5EF4-FFF2-40B4-BE49-F238E27FC236}">
                <a16:creationId xmlns:a16="http://schemas.microsoft.com/office/drawing/2014/main" id="{057DB9C9-06CA-4D74-A969-385FA95945E0}"/>
              </a:ext>
            </a:extLst>
          </p:cNvPr>
          <p:cNvSpPr>
            <a:spLocks noGrp="1"/>
          </p:cNvSpPr>
          <p:nvPr>
            <p:ph type="ftr" sz="quarter" idx="11"/>
          </p:nvPr>
        </p:nvSpPr>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674B40EA-325A-4083-BC00-E020C278AFB4}"/>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2318989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EEE8B-52C8-4D0E-9B59-100CC31945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FB71DF-8F2E-41E0-90D8-F0867FCE59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336933-965A-42BF-BC5E-F5270FB08831}"/>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D213B8D8-22A8-44DA-8D39-16D2B387B4FE}"/>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3FF45202-30E5-4A59-9E8B-E9D32D0495AE}"/>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77789596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64F7B4-623F-4251-A5D4-87BCB8B300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21CC42-BF23-435E-A17B-32B1994D0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0AC62-88AB-4CA1-9BF0-D64BDEF499A4}"/>
              </a:ext>
            </a:extLst>
          </p:cNvPr>
          <p:cNvSpPr>
            <a:spLocks noGrp="1"/>
          </p:cNvSpPr>
          <p:nvPr>
            <p:ph type="dt" sz="half" idx="10"/>
          </p:nvPr>
        </p:nvSpPr>
        <p:spPr/>
        <p:txBody>
          <a:bodyPr/>
          <a:lstStyle/>
          <a:p>
            <a:r>
              <a:rPr lang="en-US"/>
              <a:t>3/1/2022</a:t>
            </a:r>
            <a:endParaRPr lang="en-US" dirty="0"/>
          </a:p>
        </p:txBody>
      </p:sp>
      <p:sp>
        <p:nvSpPr>
          <p:cNvPr id="5" name="Footer Placeholder 4">
            <a:extLst>
              <a:ext uri="{FF2B5EF4-FFF2-40B4-BE49-F238E27FC236}">
                <a16:creationId xmlns:a16="http://schemas.microsoft.com/office/drawing/2014/main" id="{ED5A17B2-9369-455E-AE27-CABD90682E99}"/>
              </a:ext>
            </a:extLst>
          </p:cNvPr>
          <p:cNvSpPr>
            <a:spLocks noGrp="1"/>
          </p:cNvSpPr>
          <p:nvPr>
            <p:ph type="ftr" sz="quarter" idx="11"/>
          </p:nvPr>
        </p:nvSpPr>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301464D7-E0B8-4E56-A956-7D67DF7B9E01}"/>
              </a:ext>
            </a:extLst>
          </p:cNvPr>
          <p:cNvSpPr>
            <a:spLocks noGrp="1"/>
          </p:cNvSpPr>
          <p:nvPr>
            <p:ph type="sldNum" sz="quarter" idx="12"/>
          </p:nvPr>
        </p:nvSpPr>
        <p:spPr/>
        <p:txBody>
          <a:bodyPr/>
          <a:lstStyle/>
          <a:p>
            <a:fld id="{B8473C9A-9E91-4025-B5E2-D7B202510636}" type="slidenum">
              <a:rPr lang="en-US" smtClean="0"/>
              <a:t>‹#›</a:t>
            </a:fld>
            <a:endParaRPr lang="en-US" dirty="0"/>
          </a:p>
        </p:txBody>
      </p:sp>
    </p:spTree>
    <p:extLst>
      <p:ext uri="{BB962C8B-B14F-4D97-AF65-F5344CB8AC3E}">
        <p14:creationId xmlns:p14="http://schemas.microsoft.com/office/powerpoint/2010/main" val="275345037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B8478B-5CB2-4010-9BAD-DDE1B57B6D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1844C9-7239-4961-887C-AC146B867F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53078-3A3C-4896-826A-FFAB738737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3/1/2022</a:t>
            </a:r>
            <a:endParaRPr lang="en-US" dirty="0"/>
          </a:p>
        </p:txBody>
      </p:sp>
      <p:sp>
        <p:nvSpPr>
          <p:cNvPr id="5" name="Footer Placeholder 4">
            <a:extLst>
              <a:ext uri="{FF2B5EF4-FFF2-40B4-BE49-F238E27FC236}">
                <a16:creationId xmlns:a16="http://schemas.microsoft.com/office/drawing/2014/main" id="{4D59D87B-A001-4556-86DF-10D2F25F2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1634FC28-C244-49C3-A074-6C1DE31C99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473C9A-9E91-4025-B5E2-D7B202510636}" type="slidenum">
              <a:rPr lang="en-US" smtClean="0"/>
              <a:t>‹#›</a:t>
            </a:fld>
            <a:endParaRPr lang="en-US" dirty="0"/>
          </a:p>
        </p:txBody>
      </p:sp>
    </p:spTree>
    <p:extLst>
      <p:ext uri="{BB962C8B-B14F-4D97-AF65-F5344CB8AC3E}">
        <p14:creationId xmlns:p14="http://schemas.microsoft.com/office/powerpoint/2010/main" val="1271543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dt="0"/>
  <p:txStyles>
    <p:titleStyle>
      <a:lvl1pPr algn="l" defTabSz="914400" rtl="0" eaLnBrk="1" latinLnBrk="0" hangingPunct="1">
        <a:lnSpc>
          <a:spcPct val="90000"/>
        </a:lnSpc>
        <a:spcBef>
          <a:spcPct val="0"/>
        </a:spcBef>
        <a:buNone/>
        <a:defRPr sz="2400" kern="1200">
          <a:solidFill>
            <a:schemeClr val="accent1">
              <a:lumMod val="75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hart" Target="../charts/chart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D45F1-E8F8-426E-8AF3-E6EF0913E3A5}"/>
              </a:ext>
            </a:extLst>
          </p:cNvPr>
          <p:cNvSpPr>
            <a:spLocks noGrp="1"/>
          </p:cNvSpPr>
          <p:nvPr>
            <p:ph type="ctrTitle"/>
          </p:nvPr>
        </p:nvSpPr>
        <p:spPr>
          <a:xfrm>
            <a:off x="1933672" y="2558409"/>
            <a:ext cx="8969172" cy="2876985"/>
          </a:xfrm>
        </p:spPr>
        <p:txBody>
          <a:bodyPr anchor="ctr">
            <a:noAutofit/>
          </a:bodyPr>
          <a:lstStyle/>
          <a:p>
            <a:r>
              <a:rPr lang="en-US" sz="3600" b="1" dirty="0">
                <a:latin typeface="Times New Roman" panose="02020603050405020304" pitchFamily="18" charset="0"/>
                <a:cs typeface="Times New Roman" panose="02020603050405020304" pitchFamily="18" charset="0"/>
              </a:rPr>
              <a:t>World Bank Group (WBG) </a:t>
            </a:r>
            <a:br>
              <a:rPr lang="pt" sz="3600" b="1" dirty="0">
                <a:highlight>
                  <a:srgbClr val="000000">
                    <a:alpha val="0"/>
                  </a:srgbClr>
                </a:highlight>
                <a:latin typeface="Times New Roman" panose="02020603050405020304" pitchFamily="18" charset="0"/>
                <a:cs typeface="Times New Roman" panose="02020603050405020304" pitchFamily="18" charset="0"/>
              </a:rPr>
            </a:br>
            <a:br>
              <a:rPr lang="pt" sz="3600" b="1" dirty="0">
                <a:highlight>
                  <a:srgbClr val="000000">
                    <a:alpha val="0"/>
                  </a:srgbClr>
                </a:highlight>
                <a:latin typeface="Times New Roman" panose="02020603050405020304" pitchFamily="18" charset="0"/>
                <a:cs typeface="Times New Roman" panose="02020603050405020304" pitchFamily="18" charset="0"/>
              </a:rPr>
            </a:br>
            <a:r>
              <a:rPr lang="en-US" sz="3600" b="1" dirty="0">
                <a:highlight>
                  <a:srgbClr val="000000">
                    <a:alpha val="0"/>
                  </a:srgbClr>
                </a:highlight>
                <a:latin typeface="Times New Roman" panose="02020603050405020304" pitchFamily="18" charset="0"/>
                <a:cs typeface="Times New Roman" panose="02020603050405020304" pitchFamily="18" charset="0"/>
              </a:rPr>
              <a:t>Mozambique: Country Partnership Framework (CPF) 2023-2027 </a:t>
            </a:r>
            <a:br>
              <a:rPr lang="en-US" sz="3600" b="1" dirty="0">
                <a:highlight>
                  <a:srgbClr val="000000">
                    <a:alpha val="0"/>
                  </a:srgbClr>
                </a:highlight>
                <a:latin typeface="Times New Roman" panose="02020603050405020304" pitchFamily="18" charset="0"/>
                <a:cs typeface="Times New Roman" panose="02020603050405020304" pitchFamily="18" charset="0"/>
              </a:rPr>
            </a:br>
            <a:br>
              <a:rPr lang="en-US" sz="3600" b="1" dirty="0">
                <a:highlight>
                  <a:srgbClr val="000000">
                    <a:alpha val="0"/>
                  </a:srgbClr>
                </a:highlight>
                <a:latin typeface="Times New Roman" panose="02020603050405020304" pitchFamily="18" charset="0"/>
                <a:cs typeface="Times New Roman" panose="02020603050405020304" pitchFamily="18" charset="0"/>
              </a:rPr>
            </a:br>
            <a:r>
              <a:rPr lang="en-US" sz="3600" b="1" dirty="0">
                <a:highlight>
                  <a:srgbClr val="000000">
                    <a:alpha val="0"/>
                  </a:srgbClr>
                </a:highlight>
                <a:latin typeface="Times New Roman" panose="02020603050405020304" pitchFamily="18" charset="0"/>
                <a:cs typeface="Times New Roman" panose="02020603050405020304" pitchFamily="18" charset="0"/>
              </a:rPr>
              <a:t>Concept Note Summary </a:t>
            </a:r>
            <a:br>
              <a:rPr lang="en-US" sz="3600" b="1" dirty="0">
                <a:highlight>
                  <a:srgbClr val="000000">
                    <a:alpha val="0"/>
                  </a:srgbClr>
                </a:highlight>
                <a:latin typeface="Times New Roman" panose="02020603050405020304" pitchFamily="18" charset="0"/>
                <a:cs typeface="Times New Roman" panose="02020603050405020304" pitchFamily="18" charset="0"/>
              </a:rPr>
            </a:br>
            <a:br>
              <a:rPr lang="en-US" sz="3600" b="1" dirty="0">
                <a:highlight>
                  <a:srgbClr val="000000">
                    <a:alpha val="0"/>
                  </a:srgbClr>
                </a:highlight>
                <a:latin typeface="Times New Roman" panose="02020603050405020304" pitchFamily="18" charset="0"/>
                <a:cs typeface="Times New Roman" panose="02020603050405020304" pitchFamily="18" charset="0"/>
              </a:rPr>
            </a:br>
            <a:r>
              <a:rPr lang="en-US" sz="3600" b="1" dirty="0">
                <a:highlight>
                  <a:srgbClr val="000000">
                    <a:alpha val="0"/>
                  </a:srgbClr>
                </a:highlight>
                <a:latin typeface="Times New Roman" panose="02020603050405020304" pitchFamily="18" charset="0"/>
                <a:cs typeface="Times New Roman" panose="02020603050405020304" pitchFamily="18" charset="0"/>
              </a:rPr>
              <a:t>Public Version  </a:t>
            </a:r>
            <a:br>
              <a:rPr lang="en-US" sz="3600" b="1" dirty="0">
                <a:highlight>
                  <a:srgbClr val="000000">
                    <a:alpha val="0"/>
                  </a:srgbClr>
                </a:highlight>
                <a:latin typeface="Times New Roman" panose="02020603050405020304" pitchFamily="18" charset="0"/>
                <a:cs typeface="Times New Roman" panose="02020603050405020304" pitchFamily="18" charset="0"/>
              </a:rPr>
            </a:br>
            <a:br>
              <a:rPr lang="en-US" sz="3600" b="1" dirty="0">
                <a:highlight>
                  <a:srgbClr val="000000">
                    <a:alpha val="0"/>
                  </a:srgbClr>
                </a:highlight>
                <a:latin typeface="Times New Roman" panose="02020603050405020304" pitchFamily="18" charset="0"/>
                <a:cs typeface="Times New Roman" panose="02020603050405020304" pitchFamily="18" charset="0"/>
              </a:rPr>
            </a:br>
            <a:r>
              <a:rPr lang="en-US" sz="3600" b="1" dirty="0">
                <a:highlight>
                  <a:srgbClr val="000000">
                    <a:alpha val="0"/>
                  </a:srgbClr>
                </a:highlight>
                <a:latin typeface="Times New Roman" panose="02020603050405020304" pitchFamily="18" charset="0"/>
                <a:cs typeface="Times New Roman" panose="02020603050405020304" pitchFamily="18" charset="0"/>
              </a:rPr>
              <a:t>Maputo, May 2022</a:t>
            </a:r>
            <a:br>
              <a:rPr lang="en-US" sz="3600" b="1" dirty="0">
                <a:highlight>
                  <a:srgbClr val="000000">
                    <a:alpha val="0"/>
                  </a:srgbClr>
                </a:highlight>
                <a:latin typeface="Times New Roman" panose="02020603050405020304" pitchFamily="18" charset="0"/>
                <a:cs typeface="Times New Roman" panose="02020603050405020304" pitchFamily="18" charset="0"/>
              </a:rPr>
            </a:br>
            <a:br>
              <a:rPr lang="pt" sz="3600" b="1" dirty="0">
                <a:highlight>
                  <a:srgbClr val="000000">
                    <a:alpha val="0"/>
                  </a:srgbClr>
                </a:highlight>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E96012B-60E5-41DF-BE81-115A7F0F5D0E}"/>
              </a:ext>
            </a:extLst>
          </p:cNvPr>
          <p:cNvPicPr>
            <a:picLocks noChangeAspect="1"/>
          </p:cNvPicPr>
          <p:nvPr/>
        </p:nvPicPr>
        <p:blipFill>
          <a:blip r:embed="rId2"/>
          <a:stretch>
            <a:fillRect/>
          </a:stretch>
        </p:blipFill>
        <p:spPr>
          <a:xfrm>
            <a:off x="827106" y="1944052"/>
            <a:ext cx="1352550" cy="1114425"/>
          </a:xfrm>
          <a:prstGeom prst="rect">
            <a:avLst/>
          </a:prstGeom>
        </p:spPr>
      </p:pic>
      <p:pic>
        <p:nvPicPr>
          <p:cNvPr id="6" name="Picture 5">
            <a:extLst>
              <a:ext uri="{FF2B5EF4-FFF2-40B4-BE49-F238E27FC236}">
                <a16:creationId xmlns:a16="http://schemas.microsoft.com/office/drawing/2014/main" id="{303B5CDB-EA56-4525-A8DA-73F7F88B8A77}"/>
              </a:ext>
            </a:extLst>
          </p:cNvPr>
          <p:cNvPicPr>
            <a:picLocks noChangeAspect="1"/>
          </p:cNvPicPr>
          <p:nvPr/>
        </p:nvPicPr>
        <p:blipFill>
          <a:blip r:embed="rId3"/>
          <a:stretch>
            <a:fillRect/>
          </a:stretch>
        </p:blipFill>
        <p:spPr>
          <a:xfrm>
            <a:off x="712806" y="3406352"/>
            <a:ext cx="1466850" cy="1181100"/>
          </a:xfrm>
          <a:prstGeom prst="rect">
            <a:avLst/>
          </a:prstGeom>
        </p:spPr>
      </p:pic>
      <p:pic>
        <p:nvPicPr>
          <p:cNvPr id="9" name="Picture 8">
            <a:extLst>
              <a:ext uri="{FF2B5EF4-FFF2-40B4-BE49-F238E27FC236}">
                <a16:creationId xmlns:a16="http://schemas.microsoft.com/office/drawing/2014/main" id="{7A855204-D46C-4DCB-85FD-454B26A9C91E}"/>
              </a:ext>
            </a:extLst>
          </p:cNvPr>
          <p:cNvPicPr>
            <a:picLocks noChangeAspect="1"/>
          </p:cNvPicPr>
          <p:nvPr/>
        </p:nvPicPr>
        <p:blipFill>
          <a:blip r:embed="rId4"/>
          <a:stretch>
            <a:fillRect/>
          </a:stretch>
        </p:blipFill>
        <p:spPr>
          <a:xfrm>
            <a:off x="808345" y="4587452"/>
            <a:ext cx="1257300" cy="1400175"/>
          </a:xfrm>
          <a:prstGeom prst="rect">
            <a:avLst/>
          </a:prstGeom>
        </p:spPr>
      </p:pic>
      <p:pic>
        <p:nvPicPr>
          <p:cNvPr id="11" name="Picture 10">
            <a:extLst>
              <a:ext uri="{FF2B5EF4-FFF2-40B4-BE49-F238E27FC236}">
                <a16:creationId xmlns:a16="http://schemas.microsoft.com/office/drawing/2014/main" id="{AEC0D9E3-C5B8-4B1E-8087-056D82A4FC9C}"/>
              </a:ext>
            </a:extLst>
          </p:cNvPr>
          <p:cNvPicPr>
            <a:picLocks noChangeAspect="1"/>
          </p:cNvPicPr>
          <p:nvPr/>
        </p:nvPicPr>
        <p:blipFill>
          <a:blip r:embed="rId5"/>
          <a:stretch>
            <a:fillRect/>
          </a:stretch>
        </p:blipFill>
        <p:spPr>
          <a:xfrm>
            <a:off x="827106" y="710732"/>
            <a:ext cx="1200150" cy="1133475"/>
          </a:xfrm>
          <a:prstGeom prst="rect">
            <a:avLst/>
          </a:prstGeom>
        </p:spPr>
      </p:pic>
    </p:spTree>
    <p:extLst>
      <p:ext uri="{BB962C8B-B14F-4D97-AF65-F5344CB8AC3E}">
        <p14:creationId xmlns:p14="http://schemas.microsoft.com/office/powerpoint/2010/main" val="315648767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0289-7D55-41E3-8ECB-E9F924A19E96}"/>
              </a:ext>
            </a:extLst>
          </p:cNvPr>
          <p:cNvSpPr>
            <a:spLocks noGrp="1"/>
          </p:cNvSpPr>
          <p:nvPr>
            <p:ph type="title"/>
          </p:nvPr>
        </p:nvSpPr>
        <p:spPr/>
        <p:txBody>
          <a:bodyPr>
            <a:normAutofit/>
          </a:bodyPr>
          <a:lstStyle/>
          <a:p>
            <a:r>
              <a:rPr lang="en-US" dirty="0"/>
              <a:t>Introduction: What is the CPF, why the consultations and what are the expectations</a:t>
            </a:r>
          </a:p>
        </p:txBody>
      </p:sp>
      <p:sp>
        <p:nvSpPr>
          <p:cNvPr id="3" name="Content Placeholder 2">
            <a:extLst>
              <a:ext uri="{FF2B5EF4-FFF2-40B4-BE49-F238E27FC236}">
                <a16:creationId xmlns:a16="http://schemas.microsoft.com/office/drawing/2014/main" id="{D9688905-696E-4501-8134-4A2E66E94513}"/>
              </a:ext>
            </a:extLst>
          </p:cNvPr>
          <p:cNvSpPr>
            <a:spLocks noGrp="1"/>
          </p:cNvSpPr>
          <p:nvPr>
            <p:ph idx="1"/>
          </p:nvPr>
        </p:nvSpPr>
        <p:spPr>
          <a:xfrm>
            <a:off x="838200" y="1549101"/>
            <a:ext cx="10515600" cy="4627862"/>
          </a:xfrm>
        </p:spPr>
        <p:txBody>
          <a:bodyPr>
            <a:normAutofit/>
          </a:bodyPr>
          <a:lstStyle/>
          <a:p>
            <a:r>
              <a:rPr lang="en-US" dirty="0"/>
              <a:t>The Country-Mozambique Partnership Framework (CPF) is the guiding instrument of the World Bank Group's (WBG) support, including IFC and MIGA, to Mozambique in pursuit of its development objectives.</a:t>
            </a:r>
          </a:p>
          <a:p>
            <a:r>
              <a:rPr lang="en-US" dirty="0"/>
              <a:t>The CPF sets out the objectives and expected results of the partnership between the WBG and the government of Mozambique over a period of time (4-5 years).</a:t>
            </a:r>
          </a:p>
          <a:p>
            <a:r>
              <a:rPr lang="en-US" dirty="0"/>
              <a:t>The CPF is based on the following elements: (i) The priorities defined by the country's development plans (PQG, ENDE, </a:t>
            </a:r>
            <a:r>
              <a:rPr lang="en-US" dirty="0" err="1"/>
              <a:t>etc</a:t>
            </a:r>
            <a:r>
              <a:rPr lang="en-US" dirty="0"/>
              <a:t>); (ii) A World Bank Systematic Country Diagnostic (SCD), other analyzes and knowledge produced; (iii) lessons learned from the implementation of previous strategies (CLR) and the World Bank's comparative advantages.</a:t>
            </a:r>
          </a:p>
          <a:p>
            <a:r>
              <a:rPr lang="en-US" dirty="0"/>
              <a:t>The focus of the WBG's work is the elimination of extreme poverty and the reduction of inequality.</a:t>
            </a:r>
          </a:p>
          <a:p>
            <a:r>
              <a:rPr lang="en-US" dirty="0"/>
              <a:t>Currently, the WBG is preparing an updated CPF covering the period Fiscal Year 23-27. </a:t>
            </a:r>
          </a:p>
          <a:p>
            <a:r>
              <a:rPr lang="en-US" dirty="0"/>
              <a:t>The new CPF sets out the preliminary aspirations and objectives for the partnership with Mozambique over the next 5 years. </a:t>
            </a:r>
          </a:p>
          <a:p>
            <a:r>
              <a:rPr lang="en-US" dirty="0"/>
              <a:t>This document presents a summary of the CPF’s concept note with the aim of obtaining inputs around the following issues:</a:t>
            </a:r>
          </a:p>
          <a:p>
            <a:pPr lvl="3">
              <a:lnSpc>
                <a:spcPct val="100000"/>
              </a:lnSpc>
              <a:spcBef>
                <a:spcPts val="1200"/>
              </a:spcBef>
            </a:pPr>
            <a:r>
              <a:rPr lang="en-US" sz="1400" b="1" dirty="0">
                <a:highlight>
                  <a:srgbClr val="000000">
                    <a:alpha val="0"/>
                  </a:srgbClr>
                </a:highlight>
                <a:latin typeface="Arial"/>
              </a:rPr>
              <a:t>Deepening the discussion of each pillar of the strategy and its objectives.</a:t>
            </a:r>
          </a:p>
          <a:p>
            <a:pPr lvl="3">
              <a:lnSpc>
                <a:spcPct val="100000"/>
              </a:lnSpc>
              <a:spcBef>
                <a:spcPts val="1200"/>
              </a:spcBef>
            </a:pPr>
            <a:r>
              <a:rPr lang="en-US" sz="1400" b="1" dirty="0">
                <a:highlight>
                  <a:srgbClr val="000000">
                    <a:alpha val="0"/>
                  </a:srgbClr>
                </a:highlight>
                <a:latin typeface="Arial"/>
              </a:rPr>
              <a:t>Definition of priorities, and instruments (including funding), considering the specific development context and challenges.</a:t>
            </a:r>
          </a:p>
          <a:p>
            <a:pPr lvl="3">
              <a:lnSpc>
                <a:spcPct val="100000"/>
              </a:lnSpc>
              <a:spcBef>
                <a:spcPts val="1200"/>
              </a:spcBef>
            </a:pPr>
            <a:r>
              <a:rPr lang="en-US" sz="1400" b="1" dirty="0">
                <a:highlight>
                  <a:srgbClr val="000000">
                    <a:alpha val="0"/>
                  </a:srgbClr>
                </a:highlight>
                <a:latin typeface="Arial"/>
              </a:rPr>
              <a:t>Definition of CPF monitoring mechanisms (indicators)</a:t>
            </a:r>
          </a:p>
        </p:txBody>
      </p:sp>
      <p:sp>
        <p:nvSpPr>
          <p:cNvPr id="4" name="Footer Placeholder 3">
            <a:extLst>
              <a:ext uri="{FF2B5EF4-FFF2-40B4-BE49-F238E27FC236}">
                <a16:creationId xmlns:a16="http://schemas.microsoft.com/office/drawing/2014/main" id="{478EA24B-3077-4E29-A782-8ABABF70C5CF}"/>
              </a:ext>
            </a:extLst>
          </p:cNvPr>
          <p:cNvSpPr>
            <a:spLocks noGrp="1"/>
          </p:cNvSpPr>
          <p:nvPr>
            <p:ph type="ftr" sz="quarter" idx="11"/>
          </p:nvPr>
        </p:nvSpPr>
        <p:spPr/>
        <p:txBody>
          <a:bodyPr/>
          <a:lstStyle/>
          <a:p>
            <a:r>
              <a:rPr lang="en-US"/>
              <a:t>CPF 2023-2027. Public Version. Maputo, May 2022.</a:t>
            </a:r>
            <a:endParaRPr lang="en-US" dirty="0"/>
          </a:p>
        </p:txBody>
      </p:sp>
      <p:sp>
        <p:nvSpPr>
          <p:cNvPr id="5" name="Slide Number Placeholder 4">
            <a:extLst>
              <a:ext uri="{FF2B5EF4-FFF2-40B4-BE49-F238E27FC236}">
                <a16:creationId xmlns:a16="http://schemas.microsoft.com/office/drawing/2014/main" id="{789BF642-FDE3-42E2-AB0F-94576DDD9EF4}"/>
              </a:ext>
            </a:extLst>
          </p:cNvPr>
          <p:cNvSpPr>
            <a:spLocks noGrp="1"/>
          </p:cNvSpPr>
          <p:nvPr>
            <p:ph type="sldNum" sz="quarter" idx="12"/>
          </p:nvPr>
        </p:nvSpPr>
        <p:spPr/>
        <p:txBody>
          <a:bodyPr/>
          <a:lstStyle/>
          <a:p>
            <a:fld id="{B8473C9A-9E91-4025-B5E2-D7B202510636}" type="slidenum">
              <a:rPr lang="en-US" smtClean="0"/>
              <a:t>2</a:t>
            </a:fld>
            <a:endParaRPr lang="en-US" dirty="0"/>
          </a:p>
        </p:txBody>
      </p:sp>
    </p:spTree>
    <p:extLst>
      <p:ext uri="{BB962C8B-B14F-4D97-AF65-F5344CB8AC3E}">
        <p14:creationId xmlns:p14="http://schemas.microsoft.com/office/powerpoint/2010/main" val="216634312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763623" y="527128"/>
            <a:ext cx="10515600" cy="1325563"/>
          </a:xfrm>
        </p:spPr>
        <p:txBody>
          <a:bodyPr>
            <a:noAutofit/>
          </a:bodyPr>
          <a:lstStyle/>
          <a:p>
            <a:pPr algn="ctr"/>
            <a:r>
              <a:rPr lang="en-US" sz="4000" dirty="0"/>
              <a:t>Presentation structure
</a:t>
            </a:r>
            <a:endParaRPr lang="pt" sz="40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342731" y="2187277"/>
            <a:ext cx="11357385" cy="4648256"/>
          </a:xfrm>
        </p:spPr>
        <p:txBody>
          <a:bodyPr>
            <a:noAutofit/>
          </a:bodyPr>
          <a:lstStyle/>
          <a:p>
            <a:pPr marL="1371600" lvl="3" indent="-571500">
              <a:lnSpc>
                <a:spcPct val="100000"/>
              </a:lnSpc>
              <a:spcBef>
                <a:spcPts val="1200"/>
              </a:spcBef>
              <a:spcAft>
                <a:spcPts val="1200"/>
              </a:spcAft>
              <a:buFont typeface="+mj-lt"/>
              <a:buAutoNum type="romanUcPeriod"/>
            </a:pPr>
            <a:r>
              <a:rPr lang="en-US" sz="3200" b="1" dirty="0"/>
              <a:t>World Bank Group's view on the country's main strategic challenges   
Main lessons from the previous CPF (2017-2021)
Initial Proposal for CPF 2023-2027</a:t>
            </a:r>
            <a:endParaRPr lang="pt" sz="3200" b="1" i="0" u="none" strike="noStrike"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5A8D5BC3-36C6-44D5-8F65-39323B859A56}"/>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71478635-062B-4B7C-8ED3-5DABD8F8816D}"/>
              </a:ext>
            </a:extLst>
          </p:cNvPr>
          <p:cNvSpPr>
            <a:spLocks noGrp="1"/>
          </p:cNvSpPr>
          <p:nvPr>
            <p:ph type="sldNum" sz="quarter" idx="12"/>
          </p:nvPr>
        </p:nvSpPr>
        <p:spPr/>
        <p:txBody>
          <a:bodyPr/>
          <a:lstStyle/>
          <a:p>
            <a:fld id="{B8473C9A-9E91-4025-B5E2-D7B202510636}" type="slidenum">
              <a:rPr lang="en-US" smtClean="0"/>
              <a:t>3</a:t>
            </a:fld>
            <a:endParaRPr lang="en-US" dirty="0"/>
          </a:p>
        </p:txBody>
      </p:sp>
      <p:pic>
        <p:nvPicPr>
          <p:cNvPr id="4" name="Picture 3">
            <a:extLst>
              <a:ext uri="{FF2B5EF4-FFF2-40B4-BE49-F238E27FC236}">
                <a16:creationId xmlns:a16="http://schemas.microsoft.com/office/drawing/2014/main" id="{BD132FF2-B2A1-4911-8DA1-958860068B65}"/>
              </a:ext>
            </a:extLst>
          </p:cNvPr>
          <p:cNvPicPr>
            <a:picLocks noChangeAspect="1"/>
          </p:cNvPicPr>
          <p:nvPr/>
        </p:nvPicPr>
        <p:blipFill>
          <a:blip r:embed="rId2"/>
          <a:stretch>
            <a:fillRect/>
          </a:stretch>
        </p:blipFill>
        <p:spPr>
          <a:xfrm>
            <a:off x="342731" y="365570"/>
            <a:ext cx="2809141" cy="559716"/>
          </a:xfrm>
          <a:prstGeom prst="rect">
            <a:avLst/>
          </a:prstGeom>
        </p:spPr>
      </p:pic>
    </p:spTree>
    <p:extLst>
      <p:ext uri="{BB962C8B-B14F-4D97-AF65-F5344CB8AC3E}">
        <p14:creationId xmlns:p14="http://schemas.microsoft.com/office/powerpoint/2010/main" val="92722981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838200" y="747656"/>
            <a:ext cx="10515600" cy="1325563"/>
          </a:xfrm>
        </p:spPr>
        <p:txBody>
          <a:bodyPr>
            <a:noAutofit/>
          </a:bodyPr>
          <a:lstStyle/>
          <a:p>
            <a:pPr algn="ctr"/>
            <a:r>
              <a:rPr lang="en-US" sz="4000" dirty="0"/>
              <a:t>Presentation structure
</a:t>
            </a:r>
            <a:endParaRPr lang="pt" sz="40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417307" y="2073219"/>
            <a:ext cx="11357385" cy="4648256"/>
          </a:xfrm>
        </p:spPr>
        <p:txBody>
          <a:bodyPr>
            <a:noAutofit/>
          </a:bodyPr>
          <a:lstStyle/>
          <a:p>
            <a:pPr marL="1371600" lvl="3" indent="-571500">
              <a:lnSpc>
                <a:spcPct val="100000"/>
              </a:lnSpc>
              <a:spcBef>
                <a:spcPts val="1200"/>
              </a:spcBef>
              <a:spcAft>
                <a:spcPts val="1200"/>
              </a:spcAft>
              <a:buFont typeface="+mj-lt"/>
              <a:buAutoNum type="romanUcPeriod"/>
            </a:pPr>
            <a:r>
              <a:rPr lang="en-US" sz="3200" b="1" dirty="0"/>
              <a:t>World Bank Group's view on the country's main strategic challenges   
</a:t>
            </a:r>
            <a:r>
              <a:rPr lang="en-US" sz="3200" b="1" dirty="0">
                <a:solidFill>
                  <a:schemeClr val="bg2">
                    <a:lumMod val="75000"/>
                  </a:schemeClr>
                </a:solidFill>
              </a:rPr>
              <a:t>Main lessons from the previous CPF (2017-2021) 
Initial Proposal for CPF 2023-2027</a:t>
            </a:r>
            <a:endParaRPr lang="pt" sz="3200" b="1" i="0" u="none" strike="noStrike" dirty="0">
              <a:solidFill>
                <a:schemeClr val="bg2">
                  <a:lumMod val="75000"/>
                </a:schemeClr>
              </a:solidFill>
              <a:highlight>
                <a:srgbClr val="000000">
                  <a:alpha val="0"/>
                </a:srgbClr>
              </a:highlight>
              <a:latin typeface="Arial"/>
            </a:endParaRPr>
          </a:p>
        </p:txBody>
      </p:sp>
      <p:sp>
        <p:nvSpPr>
          <p:cNvPr id="7" name="Footer Placeholder 6">
            <a:extLst>
              <a:ext uri="{FF2B5EF4-FFF2-40B4-BE49-F238E27FC236}">
                <a16:creationId xmlns:a16="http://schemas.microsoft.com/office/drawing/2014/main" id="{5EDF98AD-ADCD-4758-AAE6-443CAF4DC2F9}"/>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382C3AA1-90AF-49C0-92C0-FFB37AB72625}"/>
              </a:ext>
            </a:extLst>
          </p:cNvPr>
          <p:cNvSpPr>
            <a:spLocks noGrp="1"/>
          </p:cNvSpPr>
          <p:nvPr>
            <p:ph type="sldNum" sz="quarter" idx="12"/>
          </p:nvPr>
        </p:nvSpPr>
        <p:spPr/>
        <p:txBody>
          <a:bodyPr/>
          <a:lstStyle/>
          <a:p>
            <a:fld id="{B8473C9A-9E91-4025-B5E2-D7B202510636}" type="slidenum">
              <a:rPr lang="en-US" smtClean="0"/>
              <a:t>4</a:t>
            </a:fld>
            <a:endParaRPr lang="en-US" dirty="0"/>
          </a:p>
        </p:txBody>
      </p:sp>
      <p:pic>
        <p:nvPicPr>
          <p:cNvPr id="6" name="Picture 5">
            <a:extLst>
              <a:ext uri="{FF2B5EF4-FFF2-40B4-BE49-F238E27FC236}">
                <a16:creationId xmlns:a16="http://schemas.microsoft.com/office/drawing/2014/main" id="{B50684B2-DFCC-454F-BF34-FF297E1A6047}"/>
              </a:ext>
            </a:extLst>
          </p:cNvPr>
          <p:cNvPicPr>
            <a:picLocks noChangeAspect="1"/>
          </p:cNvPicPr>
          <p:nvPr/>
        </p:nvPicPr>
        <p:blipFill>
          <a:blip r:embed="rId2"/>
          <a:stretch>
            <a:fillRect/>
          </a:stretch>
        </p:blipFill>
        <p:spPr>
          <a:xfrm>
            <a:off x="517218" y="586097"/>
            <a:ext cx="2521846" cy="502473"/>
          </a:xfrm>
          <a:prstGeom prst="rect">
            <a:avLst/>
          </a:prstGeom>
        </p:spPr>
      </p:pic>
    </p:spTree>
    <p:extLst>
      <p:ext uri="{BB962C8B-B14F-4D97-AF65-F5344CB8AC3E}">
        <p14:creationId xmlns:p14="http://schemas.microsoft.com/office/powerpoint/2010/main" val="182892206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4B562-863E-411E-8C8D-327DA3E88280}"/>
              </a:ext>
            </a:extLst>
          </p:cNvPr>
          <p:cNvSpPr>
            <a:spLocks noGrp="1"/>
          </p:cNvSpPr>
          <p:nvPr>
            <p:ph type="title"/>
          </p:nvPr>
        </p:nvSpPr>
        <p:spPr>
          <a:xfrm>
            <a:off x="2458581" y="149854"/>
            <a:ext cx="11053131" cy="547685"/>
          </a:xfrm>
        </p:spPr>
        <p:txBody>
          <a:bodyPr>
            <a:noAutofit/>
          </a:bodyPr>
          <a:lstStyle/>
          <a:p>
            <a:pPr rtl="0"/>
            <a:br>
              <a:rPr lang="pt" sz="2400" b="1" i="0" u="none" strike="noStrike" dirty="0">
                <a:highlight>
                  <a:srgbClr val="000000">
                    <a:alpha val="0"/>
                  </a:srgbClr>
                </a:highlight>
                <a:latin typeface="Arial"/>
              </a:rPr>
            </a:br>
            <a:r>
              <a:rPr lang="pt" sz="2400" b="1" i="0" u="none" strike="noStrike" dirty="0">
                <a:highlight>
                  <a:srgbClr val="000000">
                    <a:alpha val="0"/>
                  </a:srgbClr>
                </a:highlight>
                <a:latin typeface="Arial"/>
              </a:rPr>
              <a:t>Country Context: </a:t>
            </a:r>
            <a:r>
              <a:rPr lang="pt" sz="2400" b="0" i="1" u="none" strike="noStrike" dirty="0">
                <a:highlight>
                  <a:srgbClr val="000000">
                    <a:alpha val="0"/>
                  </a:srgbClr>
                </a:highlight>
                <a:latin typeface="Arial"/>
              </a:rPr>
              <a:t>Development Challanges and Opportunities</a:t>
            </a:r>
            <a:endParaRPr lang="en-US" sz="2400" b="0" i="1" dirty="0"/>
          </a:p>
        </p:txBody>
      </p:sp>
      <p:sp>
        <p:nvSpPr>
          <p:cNvPr id="7" name="Content Placeholder 6">
            <a:extLst>
              <a:ext uri="{FF2B5EF4-FFF2-40B4-BE49-F238E27FC236}">
                <a16:creationId xmlns:a16="http://schemas.microsoft.com/office/drawing/2014/main" id="{FF5C214D-5EAE-4BCF-B630-4930BE12178E}"/>
              </a:ext>
            </a:extLst>
          </p:cNvPr>
          <p:cNvSpPr>
            <a:spLocks noGrp="1"/>
          </p:cNvSpPr>
          <p:nvPr>
            <p:ph idx="1"/>
          </p:nvPr>
        </p:nvSpPr>
        <p:spPr>
          <a:xfrm>
            <a:off x="154086" y="750686"/>
            <a:ext cx="11594969" cy="5854702"/>
          </a:xfrm>
        </p:spPr>
        <p:txBody>
          <a:bodyPr>
            <a:noAutofit/>
          </a:bodyPr>
          <a:lstStyle/>
          <a:p>
            <a:pPr marL="342900" indent="-342900" algn="just" rtl="0">
              <a:lnSpc>
                <a:spcPct val="100000"/>
              </a:lnSpc>
              <a:spcBef>
                <a:spcPct val="0"/>
              </a:spcBef>
              <a:spcAft>
                <a:spcPts val="600"/>
              </a:spcAft>
              <a:buFont typeface="+mj-lt"/>
              <a:buAutoNum type="arabicPeriod"/>
            </a:pPr>
            <a:endParaRPr lang="en-US" sz="1600" b="1" i="0" u="none" strike="noStrike" dirty="0">
              <a:highlight>
                <a:srgbClr val="000000">
                  <a:alpha val="0"/>
                </a:srgbClr>
              </a:highlight>
              <a:latin typeface="Arial"/>
              <a:ea typeface="Calibri"/>
              <a:cs typeface="Times New Roman"/>
            </a:endParaRPr>
          </a:p>
          <a:p>
            <a:pPr marL="342900" indent="-342900" algn="just" rtl="0">
              <a:lnSpc>
                <a:spcPct val="100000"/>
              </a:lnSpc>
              <a:spcBef>
                <a:spcPct val="0"/>
              </a:spcBef>
              <a:spcAft>
                <a:spcPts val="600"/>
              </a:spcAft>
              <a:buFont typeface="+mj-lt"/>
              <a:buAutoNum type="arabicPeriod"/>
            </a:pPr>
            <a:r>
              <a:rPr lang="en-US" sz="1600" b="1" i="0" u="none" strike="noStrike" dirty="0">
                <a:highlight>
                  <a:srgbClr val="000000">
                    <a:alpha val="0"/>
                  </a:srgbClr>
                </a:highlight>
                <a:latin typeface="Arial"/>
                <a:ea typeface="Calibri"/>
                <a:cs typeface="Times New Roman"/>
              </a:rPr>
              <a:t>Development context</a:t>
            </a:r>
            <a:r>
              <a:rPr lang="en-US" sz="1600" b="0" i="0" u="none" strike="noStrike" dirty="0">
                <a:highlight>
                  <a:srgbClr val="000000">
                    <a:alpha val="0"/>
                  </a:srgbClr>
                </a:highlight>
                <a:latin typeface="Arial"/>
                <a:ea typeface="Calibri"/>
                <a:cs typeface="Times New Roman"/>
              </a:rPr>
              <a:t>. Mozambique is still a Low-Income Country (LIC) despite its vast natural resources and favorable location. </a:t>
            </a:r>
            <a:r>
              <a:rPr lang="en-US" sz="1600" b="1" i="0" u="none" strike="noStrike" dirty="0">
                <a:highlight>
                  <a:srgbClr val="000000">
                    <a:alpha val="0"/>
                  </a:srgbClr>
                </a:highlight>
                <a:latin typeface="Arial"/>
                <a:ea typeface="Calibri"/>
                <a:cs typeface="Times New Roman"/>
              </a:rPr>
              <a:t>Most of the population lives in extreme poverty, inequality is high</a:t>
            </a:r>
            <a:r>
              <a:rPr lang="en-US" sz="1600" b="0" i="0" u="none" strike="noStrike" dirty="0">
                <a:highlight>
                  <a:srgbClr val="000000">
                    <a:alpha val="0"/>
                  </a:srgbClr>
                </a:highlight>
                <a:latin typeface="Arial"/>
                <a:ea typeface="Calibri"/>
                <a:cs typeface="Times New Roman"/>
              </a:rPr>
              <a:t>, the Human Capital Index is among the lowest in the world and fertility rates are comparatively high. </a:t>
            </a:r>
          </a:p>
          <a:p>
            <a:pPr lvl="3" algn="just">
              <a:lnSpc>
                <a:spcPct val="100000"/>
              </a:lnSpc>
              <a:spcBef>
                <a:spcPct val="0"/>
              </a:spcBef>
              <a:spcAft>
                <a:spcPts val="1200"/>
              </a:spcAft>
            </a:pPr>
            <a:r>
              <a:rPr lang="en-US" sz="1600" dirty="0">
                <a:highlight>
                  <a:srgbClr val="000000">
                    <a:alpha val="0"/>
                  </a:srgbClr>
                </a:highlight>
                <a:latin typeface="Arial"/>
                <a:cs typeface="Times New Roman"/>
              </a:rPr>
              <a:t>These development challenges are compounded by structural fragility and high exposure to climate and health risks – including most recently two major cyclones in 2019, the Covid-19 pandemic.</a:t>
            </a:r>
          </a:p>
          <a:p>
            <a:pPr marL="342900" indent="-342900" algn="just" rtl="0">
              <a:lnSpc>
                <a:spcPct val="100000"/>
              </a:lnSpc>
              <a:spcBef>
                <a:spcPct val="0"/>
              </a:spcBef>
              <a:spcAft>
                <a:spcPts val="600"/>
              </a:spcAft>
              <a:buFont typeface="+mj-lt"/>
              <a:buAutoNum type="arabicPeriod"/>
            </a:pPr>
            <a:r>
              <a:rPr lang="en-US" sz="1600" b="1" i="0" u="none" strike="noStrike" dirty="0">
                <a:highlight>
                  <a:srgbClr val="000000">
                    <a:alpha val="0"/>
                  </a:srgbClr>
                </a:highlight>
                <a:latin typeface="Arial"/>
                <a:ea typeface="Calibri"/>
                <a:cs typeface="Times New Roman"/>
              </a:rPr>
              <a:t>Structural fragility. </a:t>
            </a:r>
            <a:r>
              <a:rPr lang="en-US" sz="1600" b="0" i="0" u="none" strike="noStrike" dirty="0">
                <a:highlight>
                  <a:srgbClr val="000000">
                    <a:alpha val="0"/>
                  </a:srgbClr>
                </a:highlight>
                <a:latin typeface="Arial"/>
                <a:ea typeface="Calibri"/>
                <a:cs typeface="Times New Roman"/>
              </a:rPr>
              <a:t>Mozambique's deeply rooted fragility stems from the weakness of its institutions, which goes back to historical and geographical causes, and has manifested itself in recurring cycles of conflict and violence. Inequality and poverty reinforce and are reinforce by fragility. The insurrection in Cabo Delgado is the most recent manifestation of this fragility.</a:t>
            </a:r>
            <a:endParaRPr lang="pt" sz="1600" b="0" i="0" u="none" strike="noStrike" dirty="0">
              <a:highlight>
                <a:srgbClr val="000000">
                  <a:alpha val="0"/>
                </a:srgbClr>
              </a:highlight>
              <a:latin typeface="Arial"/>
              <a:ea typeface="Calibri"/>
              <a:cs typeface="Times New Roman"/>
            </a:endParaRPr>
          </a:p>
          <a:p>
            <a:pPr marL="0" indent="0" algn="just">
              <a:lnSpc>
                <a:spcPct val="100000"/>
              </a:lnSpc>
              <a:spcBef>
                <a:spcPct val="0"/>
              </a:spcBef>
              <a:spcAft>
                <a:spcPts val="600"/>
              </a:spcAft>
              <a:buNone/>
            </a:pPr>
            <a:endParaRPr lang="en-US" sz="1100" dirty="0">
              <a:latin typeface="+mn-lt"/>
              <a:ea typeface="Calibri" panose="020F0502020204030204" pitchFamily="34" charset="0"/>
              <a:cs typeface="Times New Roman"/>
            </a:endParaRPr>
          </a:p>
        </p:txBody>
      </p:sp>
      <p:grpSp>
        <p:nvGrpSpPr>
          <p:cNvPr id="5" name="Group 4">
            <a:extLst>
              <a:ext uri="{FF2B5EF4-FFF2-40B4-BE49-F238E27FC236}">
                <a16:creationId xmlns:a16="http://schemas.microsoft.com/office/drawing/2014/main" id="{4F3625D2-207D-4F4B-B47F-3D62A9AD09EB}"/>
              </a:ext>
            </a:extLst>
          </p:cNvPr>
          <p:cNvGrpSpPr/>
          <p:nvPr/>
        </p:nvGrpSpPr>
        <p:grpSpPr>
          <a:xfrm>
            <a:off x="8218978" y="3597004"/>
            <a:ext cx="3588997" cy="2886437"/>
            <a:chOff x="6541789" y="2100492"/>
            <a:chExt cx="5157813" cy="3995469"/>
          </a:xfrm>
        </p:grpSpPr>
        <p:pic>
          <p:nvPicPr>
            <p:cNvPr id="6" name="Picture 5">
              <a:extLst>
                <a:ext uri="{FF2B5EF4-FFF2-40B4-BE49-F238E27FC236}">
                  <a16:creationId xmlns:a16="http://schemas.microsoft.com/office/drawing/2014/main" id="{EF694F57-C4AC-4B52-8F4B-F21947EC0700}"/>
                </a:ext>
              </a:extLst>
            </p:cNvPr>
            <p:cNvPicPr>
              <a:picLocks noChangeAspect="1"/>
            </p:cNvPicPr>
            <p:nvPr/>
          </p:nvPicPr>
          <p:blipFill>
            <a:blip r:embed="rId2">
              <a:duotone>
                <a:schemeClr val="accent1">
                  <a:shade val="45000"/>
                  <a:satMod val="135000"/>
                </a:schemeClr>
                <a:prstClr val="white"/>
              </a:duotone>
            </a:blip>
            <a:stretch>
              <a:fillRect/>
            </a:stretch>
          </p:blipFill>
          <p:spPr>
            <a:xfrm>
              <a:off x="6541789" y="2100492"/>
              <a:ext cx="5065909" cy="3558448"/>
            </a:xfrm>
            <a:prstGeom prst="rect">
              <a:avLst/>
            </a:prstGeom>
          </p:spPr>
        </p:pic>
        <p:sp>
          <p:nvSpPr>
            <p:cNvPr id="8" name="TextBox 7">
              <a:extLst>
                <a:ext uri="{FF2B5EF4-FFF2-40B4-BE49-F238E27FC236}">
                  <a16:creationId xmlns:a16="http://schemas.microsoft.com/office/drawing/2014/main" id="{79A74CF3-3D80-4298-B0F9-7653E146BF38}"/>
                </a:ext>
              </a:extLst>
            </p:cNvPr>
            <p:cNvSpPr txBox="1"/>
            <p:nvPr/>
          </p:nvSpPr>
          <p:spPr>
            <a:xfrm>
              <a:off x="6672238" y="5751940"/>
              <a:ext cx="5027364" cy="344021"/>
            </a:xfrm>
            <a:prstGeom prst="rect">
              <a:avLst/>
            </a:prstGeom>
            <a:noFill/>
          </p:spPr>
          <p:txBody>
            <a:bodyPr wrap="square">
              <a:spAutoFit/>
            </a:bodyPr>
            <a:lstStyle/>
            <a:p>
              <a:pPr marL="0" marR="0" algn="just">
                <a:lnSpc>
                  <a:spcPct val="106000"/>
                </a:lnSpc>
                <a:spcBef>
                  <a:spcPts val="0"/>
                </a:spcBef>
                <a:spcAft>
                  <a:spcPts val="0"/>
                </a:spcAft>
              </a:pP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p:txBody>
        </p:sp>
      </p:grpSp>
      <p:graphicFrame>
        <p:nvGraphicFramePr>
          <p:cNvPr id="9" name="Chart 8">
            <a:extLst>
              <a:ext uri="{FF2B5EF4-FFF2-40B4-BE49-F238E27FC236}">
                <a16:creationId xmlns:a16="http://schemas.microsoft.com/office/drawing/2014/main" id="{410C8409-F0C1-4A06-B33B-032AB030B33D}"/>
              </a:ext>
            </a:extLst>
          </p:cNvPr>
          <p:cNvGraphicFramePr>
            <a:graphicFrameLocks/>
          </p:cNvGraphicFramePr>
          <p:nvPr>
            <p:extLst>
              <p:ext uri="{D42A27DB-BD31-4B8C-83A1-F6EECF244321}">
                <p14:modId xmlns:p14="http://schemas.microsoft.com/office/powerpoint/2010/main" val="3770359055"/>
              </p:ext>
            </p:extLst>
          </p:nvPr>
        </p:nvGraphicFramePr>
        <p:xfrm>
          <a:off x="4512313" y="3690055"/>
          <a:ext cx="3687713" cy="26420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C72742A9-AFDE-48B8-85B0-5CF91FC7EC7A}"/>
              </a:ext>
            </a:extLst>
          </p:cNvPr>
          <p:cNvGraphicFramePr>
            <a:graphicFrameLocks/>
          </p:cNvGraphicFramePr>
          <p:nvPr>
            <p:extLst>
              <p:ext uri="{D42A27DB-BD31-4B8C-83A1-F6EECF244321}">
                <p14:modId xmlns:p14="http://schemas.microsoft.com/office/powerpoint/2010/main" val="2896171518"/>
              </p:ext>
            </p:extLst>
          </p:nvPr>
        </p:nvGraphicFramePr>
        <p:xfrm>
          <a:off x="154086" y="3536403"/>
          <a:ext cx="4134513" cy="2753250"/>
        </p:xfrm>
        <a:graphic>
          <a:graphicData uri="http://schemas.openxmlformats.org/drawingml/2006/chart">
            <c:chart xmlns:c="http://schemas.openxmlformats.org/drawingml/2006/chart" xmlns:r="http://schemas.openxmlformats.org/officeDocument/2006/relationships" r:id="rId4"/>
          </a:graphicData>
        </a:graphic>
      </p:graphicFrame>
      <p:sp>
        <p:nvSpPr>
          <p:cNvPr id="12" name="Footer Placeholder 11">
            <a:extLst>
              <a:ext uri="{FF2B5EF4-FFF2-40B4-BE49-F238E27FC236}">
                <a16:creationId xmlns:a16="http://schemas.microsoft.com/office/drawing/2014/main" id="{6EA1F737-8F98-48C5-8192-5697092CD6C1}"/>
              </a:ext>
            </a:extLst>
          </p:cNvPr>
          <p:cNvSpPr>
            <a:spLocks noGrp="1"/>
          </p:cNvSpPr>
          <p:nvPr>
            <p:ph type="ftr" sz="quarter" idx="11"/>
          </p:nvPr>
        </p:nvSpPr>
        <p:spPr/>
        <p:txBody>
          <a:bodyPr/>
          <a:lstStyle/>
          <a:p>
            <a:r>
              <a:rPr lang="en-US"/>
              <a:t>CPF 2023-2027. Public Version. Maputo, May 2022.</a:t>
            </a:r>
            <a:endParaRPr lang="en-US" dirty="0"/>
          </a:p>
        </p:txBody>
      </p:sp>
      <p:sp>
        <p:nvSpPr>
          <p:cNvPr id="13" name="Slide Number Placeholder 12">
            <a:extLst>
              <a:ext uri="{FF2B5EF4-FFF2-40B4-BE49-F238E27FC236}">
                <a16:creationId xmlns:a16="http://schemas.microsoft.com/office/drawing/2014/main" id="{1EFCE3CB-231A-40FF-B856-B69577BA0C88}"/>
              </a:ext>
            </a:extLst>
          </p:cNvPr>
          <p:cNvSpPr>
            <a:spLocks noGrp="1"/>
          </p:cNvSpPr>
          <p:nvPr>
            <p:ph type="sldNum" sz="quarter" idx="12"/>
          </p:nvPr>
        </p:nvSpPr>
        <p:spPr/>
        <p:txBody>
          <a:bodyPr/>
          <a:lstStyle/>
          <a:p>
            <a:fld id="{B8473C9A-9E91-4025-B5E2-D7B202510636}" type="slidenum">
              <a:rPr lang="en-US" smtClean="0"/>
              <a:t>5</a:t>
            </a:fld>
            <a:endParaRPr lang="en-US" dirty="0"/>
          </a:p>
        </p:txBody>
      </p:sp>
      <p:pic>
        <p:nvPicPr>
          <p:cNvPr id="10" name="Picture 9">
            <a:extLst>
              <a:ext uri="{FF2B5EF4-FFF2-40B4-BE49-F238E27FC236}">
                <a16:creationId xmlns:a16="http://schemas.microsoft.com/office/drawing/2014/main" id="{E74DA3C4-F2F7-4345-8A1B-D7D3601FB5A9}"/>
              </a:ext>
            </a:extLst>
          </p:cNvPr>
          <p:cNvPicPr>
            <a:picLocks noChangeAspect="1"/>
          </p:cNvPicPr>
          <p:nvPr/>
        </p:nvPicPr>
        <p:blipFill>
          <a:blip r:embed="rId5"/>
          <a:stretch>
            <a:fillRect/>
          </a:stretch>
        </p:blipFill>
        <p:spPr>
          <a:xfrm>
            <a:off x="462789" y="262138"/>
            <a:ext cx="1995792" cy="397658"/>
          </a:xfrm>
          <a:prstGeom prst="rect">
            <a:avLst/>
          </a:prstGeom>
        </p:spPr>
      </p:pic>
    </p:spTree>
    <p:extLst>
      <p:ext uri="{BB962C8B-B14F-4D97-AF65-F5344CB8AC3E}">
        <p14:creationId xmlns:p14="http://schemas.microsoft.com/office/powerpoint/2010/main" val="27943453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DF05D-5034-4DC6-A334-0DEA65804A79}"/>
              </a:ext>
            </a:extLst>
          </p:cNvPr>
          <p:cNvSpPr>
            <a:spLocks noGrp="1"/>
          </p:cNvSpPr>
          <p:nvPr>
            <p:ph type="title"/>
          </p:nvPr>
        </p:nvSpPr>
        <p:spPr>
          <a:xfrm>
            <a:off x="2531857" y="74189"/>
            <a:ext cx="10515600" cy="720725"/>
          </a:xfrm>
        </p:spPr>
        <p:txBody>
          <a:bodyPr>
            <a:normAutofit/>
          </a:bodyPr>
          <a:lstStyle/>
          <a:p>
            <a:r>
              <a:rPr lang="pt" sz="2400" b="1" i="0" u="none" strike="noStrike" dirty="0">
                <a:highlight>
                  <a:srgbClr val="000000">
                    <a:alpha val="0"/>
                  </a:srgbClr>
                </a:highlight>
                <a:latin typeface="Arial"/>
              </a:rPr>
              <a:t>Country Context: Development Challanges and Opportunities</a:t>
            </a:r>
            <a:endParaRPr lang="en-US" sz="2400" dirty="0"/>
          </a:p>
        </p:txBody>
      </p:sp>
      <p:sp>
        <p:nvSpPr>
          <p:cNvPr id="3" name="Content Placeholder 2">
            <a:extLst>
              <a:ext uri="{FF2B5EF4-FFF2-40B4-BE49-F238E27FC236}">
                <a16:creationId xmlns:a16="http://schemas.microsoft.com/office/drawing/2014/main" id="{281EBEE0-492E-419C-8FAD-FE8529FC3CD2}"/>
              </a:ext>
            </a:extLst>
          </p:cNvPr>
          <p:cNvSpPr>
            <a:spLocks noGrp="1"/>
          </p:cNvSpPr>
          <p:nvPr>
            <p:ph idx="1"/>
          </p:nvPr>
        </p:nvSpPr>
        <p:spPr>
          <a:xfrm>
            <a:off x="466725" y="928120"/>
            <a:ext cx="5343525" cy="2062730"/>
          </a:xfrm>
        </p:spPr>
        <p:txBody>
          <a:bodyPr>
            <a:normAutofit/>
          </a:bodyPr>
          <a:lstStyle/>
          <a:p>
            <a:pPr marL="342900" indent="-342900" algn="just">
              <a:lnSpc>
                <a:spcPct val="100000"/>
              </a:lnSpc>
              <a:spcBef>
                <a:spcPts val="600"/>
              </a:spcBef>
              <a:spcAft>
                <a:spcPts val="600"/>
              </a:spcAft>
              <a:buFont typeface="+mj-lt"/>
              <a:buAutoNum type="arabicPeriod" startAt="3"/>
            </a:pPr>
            <a:r>
              <a:rPr lang="en-US" sz="1500" b="1" dirty="0">
                <a:latin typeface="Arial"/>
                <a:cs typeface="Times New Roman"/>
              </a:rPr>
              <a:t>Very limited economic and spatial transformation in recent decades</a:t>
            </a:r>
            <a:r>
              <a:rPr lang="en-US" sz="1500" dirty="0">
                <a:latin typeface="Arial"/>
                <a:cs typeface="Times New Roman"/>
              </a:rPr>
              <a:t>. Until 2019, about 70.1% of the workforce still worked in agriculture (subsistence). Spatial transformation has increased recently, but around 60% of the population still lives in rural areas – indicating a slow migration process despite the significant rural-urban income gap.</a:t>
            </a:r>
            <a:endParaRPr lang="pt-BR" sz="1500" i="0" u="none" strike="noStrike" dirty="0">
              <a:latin typeface="Arial"/>
              <a:ea typeface="Calibri"/>
              <a:cs typeface="Times New Roman"/>
            </a:endParaRPr>
          </a:p>
          <a:p>
            <a:pPr marL="342900" indent="-342900" algn="just">
              <a:lnSpc>
                <a:spcPct val="100000"/>
              </a:lnSpc>
              <a:spcBef>
                <a:spcPts val="600"/>
              </a:spcBef>
              <a:spcAft>
                <a:spcPts val="600"/>
              </a:spcAft>
              <a:buFont typeface="+mj-lt"/>
              <a:buAutoNum type="arabicPeriod" startAt="3"/>
            </a:pPr>
            <a:endParaRPr lang="pt-BR" sz="1500" b="1" dirty="0">
              <a:latin typeface="Arial"/>
              <a:ea typeface="Calibri"/>
              <a:cs typeface="Times New Roman"/>
            </a:endParaRPr>
          </a:p>
        </p:txBody>
      </p:sp>
      <p:graphicFrame>
        <p:nvGraphicFramePr>
          <p:cNvPr id="5" name="Chart 4">
            <a:extLst>
              <a:ext uri="{FF2B5EF4-FFF2-40B4-BE49-F238E27FC236}">
                <a16:creationId xmlns:a16="http://schemas.microsoft.com/office/drawing/2014/main" id="{C9A68FB0-9030-48F4-90BB-6738D978B96B}"/>
              </a:ext>
            </a:extLst>
          </p:cNvPr>
          <p:cNvGraphicFramePr>
            <a:graphicFrameLocks/>
          </p:cNvGraphicFramePr>
          <p:nvPr>
            <p:extLst>
              <p:ext uri="{D42A27DB-BD31-4B8C-83A1-F6EECF244321}">
                <p14:modId xmlns:p14="http://schemas.microsoft.com/office/powerpoint/2010/main" val="1471947526"/>
              </p:ext>
            </p:extLst>
          </p:nvPr>
        </p:nvGraphicFramePr>
        <p:xfrm>
          <a:off x="3138487" y="2623264"/>
          <a:ext cx="2331720" cy="240055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ontent Placeholder 3">
            <a:extLst>
              <a:ext uri="{FF2B5EF4-FFF2-40B4-BE49-F238E27FC236}">
                <a16:creationId xmlns:a16="http://schemas.microsoft.com/office/drawing/2014/main" id="{589B26A9-2176-422F-B50B-B5ACA70F2700}"/>
              </a:ext>
            </a:extLst>
          </p:cNvPr>
          <p:cNvGraphicFramePr>
            <a:graphicFrameLocks/>
          </p:cNvGraphicFramePr>
          <p:nvPr>
            <p:extLst>
              <p:ext uri="{D42A27DB-BD31-4B8C-83A1-F6EECF244321}">
                <p14:modId xmlns:p14="http://schemas.microsoft.com/office/powerpoint/2010/main" val="1271775604"/>
              </p:ext>
            </p:extLst>
          </p:nvPr>
        </p:nvGraphicFramePr>
        <p:xfrm>
          <a:off x="690353" y="4819200"/>
          <a:ext cx="2582837" cy="18315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CD771C82-20D9-438B-98BF-9F1AA3BE667C}"/>
              </a:ext>
            </a:extLst>
          </p:cNvPr>
          <p:cNvGraphicFramePr>
            <a:graphicFrameLocks/>
          </p:cNvGraphicFramePr>
          <p:nvPr>
            <p:extLst>
              <p:ext uri="{D42A27DB-BD31-4B8C-83A1-F6EECF244321}">
                <p14:modId xmlns:p14="http://schemas.microsoft.com/office/powerpoint/2010/main" val="2249426108"/>
              </p:ext>
            </p:extLst>
          </p:nvPr>
        </p:nvGraphicFramePr>
        <p:xfrm>
          <a:off x="653430" y="2724477"/>
          <a:ext cx="2334010" cy="2210157"/>
        </p:xfrm>
        <a:graphic>
          <a:graphicData uri="http://schemas.openxmlformats.org/drawingml/2006/chart">
            <c:chart xmlns:c="http://schemas.openxmlformats.org/drawingml/2006/chart" xmlns:r="http://schemas.openxmlformats.org/officeDocument/2006/relationships" r:id="rId5"/>
          </a:graphicData>
        </a:graphic>
      </p:graphicFrame>
      <p:sp>
        <p:nvSpPr>
          <p:cNvPr id="8" name="Content Placeholder 2">
            <a:extLst>
              <a:ext uri="{FF2B5EF4-FFF2-40B4-BE49-F238E27FC236}">
                <a16:creationId xmlns:a16="http://schemas.microsoft.com/office/drawing/2014/main" id="{D4AF8D4F-8551-458C-8226-39194518EAB1}"/>
              </a:ext>
            </a:extLst>
          </p:cNvPr>
          <p:cNvSpPr txBox="1">
            <a:spLocks/>
          </p:cNvSpPr>
          <p:nvPr/>
        </p:nvSpPr>
        <p:spPr>
          <a:xfrm>
            <a:off x="6096000" y="928120"/>
            <a:ext cx="53435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a:solidFill>
                  <a:schemeClr val="tx1"/>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2286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600"/>
              </a:spcBef>
              <a:spcAft>
                <a:spcPts val="600"/>
              </a:spcAft>
              <a:buFont typeface="+mj-lt"/>
              <a:buAutoNum type="arabicPeriod" startAt="4"/>
            </a:pPr>
            <a:r>
              <a:rPr lang="en-US" sz="1500" b="1" dirty="0">
                <a:highlight>
                  <a:srgbClr val="000000">
                    <a:alpha val="0"/>
                  </a:srgbClr>
                </a:highlight>
                <a:latin typeface="Arial"/>
                <a:ea typeface="Calibri"/>
                <a:cs typeface="Times New Roman"/>
              </a:rPr>
              <a:t>The advent of natural gas brings an opportunity for economic transformation, but it will not be automatic. </a:t>
            </a:r>
            <a:r>
              <a:rPr lang="en-US" sz="1500" dirty="0">
                <a:highlight>
                  <a:srgbClr val="000000">
                    <a:alpha val="0"/>
                  </a:srgbClr>
                </a:highlight>
                <a:latin typeface="Arial"/>
                <a:ea typeface="Calibri"/>
                <a:cs typeface="Times New Roman"/>
              </a:rPr>
              <a:t>Real GDP could be 1.63 times higher by 2033 in an optimistic scenario, and even with the delay in the implementation of the Mamba project, real GDP would be 60% higher than without LNG production. This brings GDP per capita to almost USD 1,000 by 2033 (from USD 485 estimated for 2020).</a:t>
            </a:r>
            <a:endParaRPr lang="pt-BR" sz="1500" dirty="0"/>
          </a:p>
        </p:txBody>
      </p:sp>
      <p:graphicFrame>
        <p:nvGraphicFramePr>
          <p:cNvPr id="9" name="Chart 8">
            <a:extLst>
              <a:ext uri="{FF2B5EF4-FFF2-40B4-BE49-F238E27FC236}">
                <a16:creationId xmlns:a16="http://schemas.microsoft.com/office/drawing/2014/main" id="{B945B5D1-6043-4EC3-814D-734603086A64}"/>
              </a:ext>
            </a:extLst>
          </p:cNvPr>
          <p:cNvGraphicFramePr/>
          <p:nvPr>
            <p:extLst>
              <p:ext uri="{D42A27DB-BD31-4B8C-83A1-F6EECF244321}">
                <p14:modId xmlns:p14="http://schemas.microsoft.com/office/powerpoint/2010/main" val="3449040667"/>
              </p:ext>
            </p:extLst>
          </p:nvPr>
        </p:nvGraphicFramePr>
        <p:xfrm>
          <a:off x="6575947" y="3161433"/>
          <a:ext cx="4601247" cy="3099517"/>
        </p:xfrm>
        <a:graphic>
          <a:graphicData uri="http://schemas.openxmlformats.org/drawingml/2006/chart">
            <c:chart xmlns:c="http://schemas.openxmlformats.org/drawingml/2006/chart" xmlns:r="http://schemas.openxmlformats.org/officeDocument/2006/relationships" r:id="rId6"/>
          </a:graphicData>
        </a:graphic>
      </p:graphicFrame>
      <p:sp>
        <p:nvSpPr>
          <p:cNvPr id="12" name="Footer Placeholder 11">
            <a:extLst>
              <a:ext uri="{FF2B5EF4-FFF2-40B4-BE49-F238E27FC236}">
                <a16:creationId xmlns:a16="http://schemas.microsoft.com/office/drawing/2014/main" id="{73A9F09F-4CEE-491F-BBC7-7BD60569AFEF}"/>
              </a:ext>
            </a:extLst>
          </p:cNvPr>
          <p:cNvSpPr>
            <a:spLocks noGrp="1"/>
          </p:cNvSpPr>
          <p:nvPr>
            <p:ph type="ftr" sz="quarter" idx="11"/>
          </p:nvPr>
        </p:nvSpPr>
        <p:spPr/>
        <p:txBody>
          <a:bodyPr/>
          <a:lstStyle/>
          <a:p>
            <a:r>
              <a:rPr lang="en-US"/>
              <a:t>CPF 2023-2027. Public Version. Maputo, May 2022.</a:t>
            </a:r>
            <a:endParaRPr lang="en-US" dirty="0"/>
          </a:p>
        </p:txBody>
      </p:sp>
      <p:sp>
        <p:nvSpPr>
          <p:cNvPr id="13" name="Slide Number Placeholder 12">
            <a:extLst>
              <a:ext uri="{FF2B5EF4-FFF2-40B4-BE49-F238E27FC236}">
                <a16:creationId xmlns:a16="http://schemas.microsoft.com/office/drawing/2014/main" id="{2EC9E5E6-1F15-44BC-9EAF-EF7E1CD44E46}"/>
              </a:ext>
            </a:extLst>
          </p:cNvPr>
          <p:cNvSpPr>
            <a:spLocks noGrp="1"/>
          </p:cNvSpPr>
          <p:nvPr>
            <p:ph type="sldNum" sz="quarter" idx="12"/>
          </p:nvPr>
        </p:nvSpPr>
        <p:spPr/>
        <p:txBody>
          <a:bodyPr/>
          <a:lstStyle/>
          <a:p>
            <a:fld id="{B8473C9A-9E91-4025-B5E2-D7B202510636}" type="slidenum">
              <a:rPr lang="en-US" smtClean="0"/>
              <a:t>6</a:t>
            </a:fld>
            <a:endParaRPr lang="en-US" dirty="0"/>
          </a:p>
        </p:txBody>
      </p:sp>
      <p:pic>
        <p:nvPicPr>
          <p:cNvPr id="4" name="Picture 3">
            <a:extLst>
              <a:ext uri="{FF2B5EF4-FFF2-40B4-BE49-F238E27FC236}">
                <a16:creationId xmlns:a16="http://schemas.microsoft.com/office/drawing/2014/main" id="{E0A0AE54-87D8-42E6-8DE7-271AD90217CA}"/>
              </a:ext>
            </a:extLst>
          </p:cNvPr>
          <p:cNvPicPr>
            <a:picLocks noChangeAspect="1"/>
          </p:cNvPicPr>
          <p:nvPr/>
        </p:nvPicPr>
        <p:blipFill>
          <a:blip r:embed="rId7"/>
          <a:stretch>
            <a:fillRect/>
          </a:stretch>
        </p:blipFill>
        <p:spPr>
          <a:xfrm>
            <a:off x="82631" y="202883"/>
            <a:ext cx="2316681" cy="463336"/>
          </a:xfrm>
          <a:prstGeom prst="rect">
            <a:avLst/>
          </a:prstGeom>
        </p:spPr>
      </p:pic>
    </p:spTree>
    <p:extLst>
      <p:ext uri="{BB962C8B-B14F-4D97-AF65-F5344CB8AC3E}">
        <p14:creationId xmlns:p14="http://schemas.microsoft.com/office/powerpoint/2010/main" val="157084141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4B562-863E-411E-8C8D-327DA3E88280}"/>
              </a:ext>
            </a:extLst>
          </p:cNvPr>
          <p:cNvSpPr>
            <a:spLocks noGrp="1"/>
          </p:cNvSpPr>
          <p:nvPr>
            <p:ph type="title"/>
          </p:nvPr>
        </p:nvSpPr>
        <p:spPr>
          <a:xfrm>
            <a:off x="2550928" y="102307"/>
            <a:ext cx="11053131" cy="547685"/>
          </a:xfrm>
        </p:spPr>
        <p:txBody>
          <a:bodyPr>
            <a:noAutofit/>
          </a:bodyPr>
          <a:lstStyle/>
          <a:p>
            <a:pPr rtl="0"/>
            <a:r>
              <a:rPr lang="en-US" sz="2400" b="1" i="0" u="none" strike="noStrike" dirty="0">
                <a:highlight>
                  <a:srgbClr val="000000">
                    <a:alpha val="0"/>
                  </a:srgbClr>
                </a:highlight>
                <a:latin typeface="Arial"/>
              </a:rPr>
              <a:t>Country Context: Development Challenges and Opportunities</a:t>
            </a:r>
            <a:endParaRPr lang="en-US" sz="2400" dirty="0"/>
          </a:p>
        </p:txBody>
      </p:sp>
      <p:sp>
        <p:nvSpPr>
          <p:cNvPr id="7" name="Content Placeholder 6">
            <a:extLst>
              <a:ext uri="{FF2B5EF4-FFF2-40B4-BE49-F238E27FC236}">
                <a16:creationId xmlns:a16="http://schemas.microsoft.com/office/drawing/2014/main" id="{FF5C214D-5EAE-4BCF-B630-4930BE12178E}"/>
              </a:ext>
            </a:extLst>
          </p:cNvPr>
          <p:cNvSpPr>
            <a:spLocks noGrp="1"/>
          </p:cNvSpPr>
          <p:nvPr>
            <p:ph idx="1"/>
          </p:nvPr>
        </p:nvSpPr>
        <p:spPr>
          <a:xfrm>
            <a:off x="298515" y="717938"/>
            <a:ext cx="11594969" cy="5570466"/>
          </a:xfrm>
        </p:spPr>
        <p:txBody>
          <a:bodyPr>
            <a:noAutofit/>
          </a:bodyPr>
          <a:lstStyle/>
          <a:p>
            <a:pPr marL="342900" indent="-342900" algn="just" rtl="0">
              <a:lnSpc>
                <a:spcPct val="100000"/>
              </a:lnSpc>
              <a:spcBef>
                <a:spcPct val="0"/>
              </a:spcBef>
              <a:spcAft>
                <a:spcPts val="600"/>
              </a:spcAft>
              <a:buFont typeface="+mj-lt"/>
              <a:buAutoNum type="arabicPeriod" startAt="5"/>
            </a:pPr>
            <a:r>
              <a:rPr lang="en-US" sz="1600" b="1" i="0" u="none" strike="noStrike" dirty="0">
                <a:highlight>
                  <a:srgbClr val="000000">
                    <a:alpha val="0"/>
                  </a:srgbClr>
                </a:highlight>
                <a:latin typeface="Arial"/>
                <a:ea typeface="Calibri"/>
                <a:cs typeface="Times New Roman"/>
              </a:rPr>
              <a:t>Recent Economic Developments. </a:t>
            </a:r>
            <a:r>
              <a:rPr lang="en-US" sz="1600" i="0" u="none" strike="noStrike" dirty="0">
                <a:highlight>
                  <a:srgbClr val="000000">
                    <a:alpha val="0"/>
                  </a:srgbClr>
                </a:highlight>
                <a:latin typeface="Arial"/>
                <a:ea typeface="Calibri"/>
                <a:cs typeface="Times New Roman"/>
              </a:rPr>
              <a:t>The short-term macroeconomic situation is stable, but growth has stagnated in recent years. The country has a high risk of debt distress, but the debt is assessed as sustainable in a forward-looking sense, taking into account potential LNG revenues.</a:t>
            </a:r>
          </a:p>
          <a:p>
            <a:pPr marL="0" indent="0" algn="just" rtl="0">
              <a:lnSpc>
                <a:spcPct val="100000"/>
              </a:lnSpc>
              <a:spcBef>
                <a:spcPct val="0"/>
              </a:spcBef>
              <a:spcAft>
                <a:spcPts val="600"/>
              </a:spcAft>
              <a:buNone/>
            </a:pPr>
            <a:r>
              <a:rPr lang="en-US" sz="1600" b="1" i="0" u="none" strike="noStrike" dirty="0">
                <a:highlight>
                  <a:srgbClr val="000000">
                    <a:alpha val="0"/>
                  </a:srgbClr>
                </a:highlight>
                <a:latin typeface="Arial"/>
                <a:ea typeface="Calibri"/>
                <a:cs typeface="Times New Roman"/>
              </a:rPr>
              <a:t>	Medium and long-term growth prospects are positive but subject to considerable risks</a:t>
            </a:r>
            <a:r>
              <a:rPr lang="en-US" sz="1600" i="0" u="none" strike="noStrike" dirty="0">
                <a:highlight>
                  <a:srgbClr val="000000">
                    <a:alpha val="0"/>
                  </a:srgbClr>
                </a:highlight>
                <a:latin typeface="Arial"/>
                <a:ea typeface="Calibri"/>
                <a:cs typeface="Times New Roman"/>
              </a:rPr>
              <a:t>, including a new 	wave of Covid-19; new climatic shocks, the resurgence of conflict in the North and the effects of the war in 	Ukraine.</a:t>
            </a:r>
          </a:p>
          <a:p>
            <a:pPr marL="0" indent="0" algn="just" rtl="0">
              <a:lnSpc>
                <a:spcPct val="100000"/>
              </a:lnSpc>
              <a:spcBef>
                <a:spcPct val="0"/>
              </a:spcBef>
              <a:spcAft>
                <a:spcPts val="600"/>
              </a:spcAft>
              <a:buNone/>
            </a:pPr>
            <a:r>
              <a:rPr lang="en-US" sz="1600" i="0" u="none" strike="noStrike" dirty="0">
                <a:highlight>
                  <a:srgbClr val="000000">
                    <a:alpha val="0"/>
                  </a:srgbClr>
                </a:highlight>
                <a:latin typeface="Arial"/>
                <a:ea typeface="Calibri"/>
                <a:cs typeface="Times New Roman"/>
              </a:rPr>
              <a:t>	</a:t>
            </a:r>
            <a:r>
              <a:rPr lang="en-US" sz="1600" b="1" i="0" u="none" strike="noStrike" dirty="0">
                <a:highlight>
                  <a:srgbClr val="000000">
                    <a:alpha val="0"/>
                  </a:srgbClr>
                </a:highlight>
                <a:latin typeface="Arial"/>
                <a:ea typeface="Calibri"/>
                <a:cs typeface="Times New Roman"/>
              </a:rPr>
              <a:t>Macroeconomic risks and impact on poverty are considerable </a:t>
            </a:r>
            <a:r>
              <a:rPr lang="en-US" sz="1600" i="0" u="none" strike="noStrike" dirty="0">
                <a:highlight>
                  <a:srgbClr val="000000">
                    <a:alpha val="0"/>
                  </a:srgbClr>
                </a:highlight>
                <a:latin typeface="Arial"/>
                <a:ea typeface="Calibri"/>
                <a:cs typeface="Times New Roman"/>
              </a:rPr>
              <a:t>(inflation, interest rate, fiscal pressure and 	increase in the trade balance deficit). Impacts on poverty will be direct (food and fuel prices) and indirect 	(creation of employment), but they are expected to have different effects on urban and rural areas and on 	different levels of poverty.</a:t>
            </a:r>
            <a:r>
              <a:rPr lang="pt" sz="1600" dirty="0">
                <a:highlight>
                  <a:srgbClr val="000000">
                    <a:alpha val="0"/>
                  </a:srgbClr>
                </a:highlight>
                <a:latin typeface="Arial"/>
                <a:cs typeface="Times New Roman"/>
              </a:rPr>
              <a:t>	</a:t>
            </a:r>
            <a:endParaRPr lang="en-US" sz="1600" dirty="0">
              <a:highlight>
                <a:srgbClr val="000000">
                  <a:alpha val="0"/>
                </a:srgbClr>
              </a:highlight>
              <a:latin typeface="Arial"/>
              <a:cs typeface="Times New Roman"/>
            </a:endParaRPr>
          </a:p>
          <a:p>
            <a:pPr marL="0" indent="0" algn="just">
              <a:lnSpc>
                <a:spcPct val="100000"/>
              </a:lnSpc>
              <a:spcBef>
                <a:spcPct val="0"/>
              </a:spcBef>
              <a:spcAft>
                <a:spcPts val="600"/>
              </a:spcAft>
              <a:buNone/>
            </a:pPr>
            <a:endParaRPr lang="en-US" sz="1100" dirty="0">
              <a:latin typeface="+mn-lt"/>
              <a:ea typeface="Calibri" panose="020F0502020204030204" pitchFamily="34" charset="0"/>
              <a:cs typeface="Times New Roman"/>
            </a:endParaRPr>
          </a:p>
        </p:txBody>
      </p:sp>
      <p:graphicFrame>
        <p:nvGraphicFramePr>
          <p:cNvPr id="5" name="Chart 4">
            <a:extLst>
              <a:ext uri="{FF2B5EF4-FFF2-40B4-BE49-F238E27FC236}">
                <a16:creationId xmlns:a16="http://schemas.microsoft.com/office/drawing/2014/main" id="{3D41A04A-4887-4AD2-B706-BBE0CC35588A}"/>
              </a:ext>
            </a:extLst>
          </p:cNvPr>
          <p:cNvGraphicFramePr>
            <a:graphicFrameLocks/>
          </p:cNvGraphicFramePr>
          <p:nvPr>
            <p:extLst>
              <p:ext uri="{D42A27DB-BD31-4B8C-83A1-F6EECF244321}">
                <p14:modId xmlns:p14="http://schemas.microsoft.com/office/powerpoint/2010/main" val="3151101138"/>
              </p:ext>
            </p:extLst>
          </p:nvPr>
        </p:nvGraphicFramePr>
        <p:xfrm>
          <a:off x="4231634" y="3503171"/>
          <a:ext cx="3474720" cy="26390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F2CE7B03-3D15-45B4-B378-C6A4BB74DD36}"/>
              </a:ext>
            </a:extLst>
          </p:cNvPr>
          <p:cNvGraphicFramePr/>
          <p:nvPr>
            <p:extLst>
              <p:ext uri="{D42A27DB-BD31-4B8C-83A1-F6EECF244321}">
                <p14:modId xmlns:p14="http://schemas.microsoft.com/office/powerpoint/2010/main" val="411118899"/>
              </p:ext>
            </p:extLst>
          </p:nvPr>
        </p:nvGraphicFramePr>
        <p:xfrm>
          <a:off x="442429" y="3641656"/>
          <a:ext cx="3474720" cy="25057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B25FF02-534B-44B0-808F-BC53F910134C}"/>
              </a:ext>
            </a:extLst>
          </p:cNvPr>
          <p:cNvGraphicFramePr>
            <a:graphicFrameLocks/>
          </p:cNvGraphicFramePr>
          <p:nvPr>
            <p:extLst>
              <p:ext uri="{D42A27DB-BD31-4B8C-83A1-F6EECF244321}">
                <p14:modId xmlns:p14="http://schemas.microsoft.com/office/powerpoint/2010/main" val="1247624014"/>
              </p:ext>
            </p:extLst>
          </p:nvPr>
        </p:nvGraphicFramePr>
        <p:xfrm>
          <a:off x="8274853" y="3429000"/>
          <a:ext cx="3149854" cy="2773496"/>
        </p:xfrm>
        <a:graphic>
          <a:graphicData uri="http://schemas.openxmlformats.org/drawingml/2006/chart">
            <c:chart xmlns:c="http://schemas.openxmlformats.org/drawingml/2006/chart" xmlns:r="http://schemas.openxmlformats.org/officeDocument/2006/relationships" r:id="rId4"/>
          </a:graphicData>
        </a:graphic>
      </p:graphicFrame>
      <p:sp>
        <p:nvSpPr>
          <p:cNvPr id="11" name="Footer Placeholder 10">
            <a:extLst>
              <a:ext uri="{FF2B5EF4-FFF2-40B4-BE49-F238E27FC236}">
                <a16:creationId xmlns:a16="http://schemas.microsoft.com/office/drawing/2014/main" id="{5BAE0BB4-F29E-449A-990E-1183D83444ED}"/>
              </a:ext>
            </a:extLst>
          </p:cNvPr>
          <p:cNvSpPr>
            <a:spLocks noGrp="1"/>
          </p:cNvSpPr>
          <p:nvPr>
            <p:ph type="ftr" sz="quarter" idx="11"/>
          </p:nvPr>
        </p:nvSpPr>
        <p:spPr/>
        <p:txBody>
          <a:bodyPr/>
          <a:lstStyle/>
          <a:p>
            <a:r>
              <a:rPr lang="en-US"/>
              <a:t>CPF 2023-2027. Public Version. Maputo, May 2022.</a:t>
            </a:r>
            <a:endParaRPr lang="en-US" dirty="0"/>
          </a:p>
        </p:txBody>
      </p:sp>
      <p:sp>
        <p:nvSpPr>
          <p:cNvPr id="12" name="Slide Number Placeholder 11">
            <a:extLst>
              <a:ext uri="{FF2B5EF4-FFF2-40B4-BE49-F238E27FC236}">
                <a16:creationId xmlns:a16="http://schemas.microsoft.com/office/drawing/2014/main" id="{BF81D8F4-0773-4704-86D5-9D8A927D0707}"/>
              </a:ext>
            </a:extLst>
          </p:cNvPr>
          <p:cNvSpPr>
            <a:spLocks noGrp="1"/>
          </p:cNvSpPr>
          <p:nvPr>
            <p:ph type="sldNum" sz="quarter" idx="12"/>
          </p:nvPr>
        </p:nvSpPr>
        <p:spPr/>
        <p:txBody>
          <a:bodyPr/>
          <a:lstStyle/>
          <a:p>
            <a:fld id="{B8473C9A-9E91-4025-B5E2-D7B202510636}" type="slidenum">
              <a:rPr lang="en-US" smtClean="0"/>
              <a:t>7</a:t>
            </a:fld>
            <a:endParaRPr lang="en-US" dirty="0"/>
          </a:p>
        </p:txBody>
      </p:sp>
      <p:pic>
        <p:nvPicPr>
          <p:cNvPr id="3" name="Picture 2">
            <a:extLst>
              <a:ext uri="{FF2B5EF4-FFF2-40B4-BE49-F238E27FC236}">
                <a16:creationId xmlns:a16="http://schemas.microsoft.com/office/drawing/2014/main" id="{17C60831-09AB-497C-8558-6E05650896B0}"/>
              </a:ext>
            </a:extLst>
          </p:cNvPr>
          <p:cNvPicPr>
            <a:picLocks noChangeAspect="1"/>
          </p:cNvPicPr>
          <p:nvPr/>
        </p:nvPicPr>
        <p:blipFill>
          <a:blip r:embed="rId5"/>
          <a:stretch>
            <a:fillRect/>
          </a:stretch>
        </p:blipFill>
        <p:spPr>
          <a:xfrm>
            <a:off x="104401" y="89392"/>
            <a:ext cx="2316681" cy="463336"/>
          </a:xfrm>
          <a:prstGeom prst="rect">
            <a:avLst/>
          </a:prstGeom>
        </p:spPr>
      </p:pic>
    </p:spTree>
    <p:extLst>
      <p:ext uri="{BB962C8B-B14F-4D97-AF65-F5344CB8AC3E}">
        <p14:creationId xmlns:p14="http://schemas.microsoft.com/office/powerpoint/2010/main" val="209823962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A676C-DAD8-44C2-9338-EA1C8E264E64}"/>
              </a:ext>
            </a:extLst>
          </p:cNvPr>
          <p:cNvSpPr>
            <a:spLocks noGrp="1"/>
          </p:cNvSpPr>
          <p:nvPr>
            <p:ph type="title"/>
          </p:nvPr>
        </p:nvSpPr>
        <p:spPr>
          <a:xfrm>
            <a:off x="2689720" y="340605"/>
            <a:ext cx="9094385" cy="701675"/>
          </a:xfrm>
        </p:spPr>
        <p:txBody>
          <a:bodyPr>
            <a:noAutofit/>
          </a:bodyPr>
          <a:lstStyle/>
          <a:p>
            <a:r>
              <a:rPr lang="en-US" b="1" i="0" u="none" strike="noStrike" dirty="0">
                <a:highlight>
                  <a:srgbClr val="000000">
                    <a:alpha val="0"/>
                  </a:srgbClr>
                </a:highlight>
                <a:latin typeface="Arial"/>
              </a:rPr>
              <a:t>World Bank Systematic Country Diagnostic (SCD) and Recommendations- Summary</a:t>
            </a:r>
            <a:endParaRPr lang="en-US" dirty="0"/>
          </a:p>
        </p:txBody>
      </p:sp>
      <p:sp>
        <p:nvSpPr>
          <p:cNvPr id="3" name="Content Placeholder 2">
            <a:extLst>
              <a:ext uri="{FF2B5EF4-FFF2-40B4-BE49-F238E27FC236}">
                <a16:creationId xmlns:a16="http://schemas.microsoft.com/office/drawing/2014/main" id="{BD23C6FE-0CFA-4E2B-A31B-8491CCC3C067}"/>
              </a:ext>
            </a:extLst>
          </p:cNvPr>
          <p:cNvSpPr>
            <a:spLocks noGrp="1"/>
          </p:cNvSpPr>
          <p:nvPr>
            <p:ph idx="1"/>
          </p:nvPr>
        </p:nvSpPr>
        <p:spPr>
          <a:xfrm>
            <a:off x="536986" y="1259226"/>
            <a:ext cx="5738870" cy="5267955"/>
          </a:xfrm>
        </p:spPr>
        <p:txBody>
          <a:bodyPr>
            <a:noAutofit/>
          </a:bodyPr>
          <a:lstStyle/>
          <a:p>
            <a:pPr algn="just" rtl="0"/>
            <a:r>
              <a:rPr lang="en-US" sz="1700" b="0" i="0" u="none" strike="noStrike" dirty="0">
                <a:highlight>
                  <a:srgbClr val="000000">
                    <a:alpha val="0"/>
                  </a:srgbClr>
                </a:highlight>
                <a:latin typeface="Arial"/>
              </a:rPr>
              <a:t>The Mozambique SCD Update concluded that, overall, the country's main challenges remain unchanged from the previous diagnosis (2016).</a:t>
            </a:r>
          </a:p>
          <a:p>
            <a:pPr algn="just" rtl="0"/>
            <a:r>
              <a:rPr lang="en-US" sz="1700" b="0" i="0" u="none" strike="noStrike" dirty="0">
                <a:highlight>
                  <a:srgbClr val="000000">
                    <a:alpha val="0"/>
                  </a:srgbClr>
                </a:highlight>
                <a:latin typeface="Arial"/>
              </a:rPr>
              <a:t>To accelerate development, Mozambique needs to transition to a more inclusive, sustainable and resilient development path (GRID).</a:t>
            </a:r>
          </a:p>
          <a:p>
            <a:pPr algn="just" rtl="0"/>
            <a:r>
              <a:rPr lang="en-US" sz="1700" b="1" i="0" u="none" strike="noStrike" dirty="0">
                <a:highlight>
                  <a:srgbClr val="000000">
                    <a:alpha val="0"/>
                  </a:srgbClr>
                </a:highlight>
                <a:latin typeface="Arial"/>
              </a:rPr>
              <a:t>Accelerated growth is important, but there is a need to review the model to make it more inclusive</a:t>
            </a:r>
            <a:r>
              <a:rPr lang="en-US" sz="1700" b="0" i="0" u="none" strike="noStrike" dirty="0">
                <a:highlight>
                  <a:srgbClr val="000000">
                    <a:alpha val="0"/>
                  </a:srgbClr>
                </a:highlight>
                <a:latin typeface="Arial"/>
              </a:rPr>
              <a:t>. This will require accelerated structural transformation, greater and better investment in its population and a reform of central institutions to improve government efficiency and governance -- improving the country's response to climate and health risks and the prevention of conflict and violence.</a:t>
            </a:r>
          </a:p>
          <a:p>
            <a:pPr algn="just" rtl="0"/>
            <a:r>
              <a:rPr lang="en-US" sz="1700" b="0" i="0" u="none" strike="noStrike" dirty="0">
                <a:highlight>
                  <a:srgbClr val="000000">
                    <a:alpha val="0"/>
                  </a:srgbClr>
                </a:highlight>
                <a:latin typeface="Arial"/>
              </a:rPr>
              <a:t>Reforms and policies needed to achieve these goals were identified in the SCD Update on recent WBG studies.</a:t>
            </a:r>
            <a:endParaRPr lang="en-US" sz="1700" dirty="0"/>
          </a:p>
        </p:txBody>
      </p:sp>
      <p:pic>
        <p:nvPicPr>
          <p:cNvPr id="5" name="Content Placeholder 6">
            <a:extLst>
              <a:ext uri="{FF2B5EF4-FFF2-40B4-BE49-F238E27FC236}">
                <a16:creationId xmlns:a16="http://schemas.microsoft.com/office/drawing/2014/main" id="{283EB72C-05AB-42AE-8FAE-631966134AA5}"/>
              </a:ext>
            </a:extLst>
          </p:cNvPr>
          <p:cNvPicPr>
            <a:picLocks/>
          </p:cNvPicPr>
          <p:nvPr/>
        </p:nvPicPr>
        <p:blipFill rotWithShape="1">
          <a:blip r:embed="rId2">
            <a:extLst>
              <a:ext uri="{28A0092B-C50C-407E-A947-70E740481C1C}">
                <a14:useLocalDpi xmlns:a14="http://schemas.microsoft.com/office/drawing/2010/main" val="0"/>
              </a:ext>
            </a:extLst>
          </a:blip>
          <a:srcRect l="6213" t="2555" r="5327"/>
          <a:stretch/>
        </p:blipFill>
        <p:spPr bwMode="auto">
          <a:xfrm>
            <a:off x="6462659" y="1602641"/>
            <a:ext cx="5192355" cy="4924157"/>
          </a:xfrm>
          <a:prstGeom prst="rect">
            <a:avLst/>
          </a:prstGeom>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113BE710-35E0-4B80-8E28-6785528D3EDB}"/>
              </a:ext>
            </a:extLst>
          </p:cNvPr>
          <p:cNvSpPr txBox="1">
            <a:spLocks/>
          </p:cNvSpPr>
          <p:nvPr/>
        </p:nvSpPr>
        <p:spPr>
          <a:xfrm>
            <a:off x="6702014" y="1081353"/>
            <a:ext cx="4953000" cy="7016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2300" b="1" kern="1200">
                <a:solidFill>
                  <a:schemeClr val="accent1">
                    <a:lumMod val="75000"/>
                  </a:schemeClr>
                </a:solidFill>
                <a:latin typeface="Arial"/>
                <a:ea typeface="+mj-ea"/>
                <a:cs typeface="Arial"/>
              </a:defRPr>
            </a:lvl1pPr>
          </a:lstStyle>
          <a:p>
            <a:r>
              <a:rPr lang="en-US" sz="1050" dirty="0"/>
              <a:t>World Bank Systematic Country Diagnostic (SCD) according to objectives identified in 2016
</a:t>
            </a:r>
            <a:endParaRPr lang="pt-BR" sz="1050" dirty="0"/>
          </a:p>
        </p:txBody>
      </p:sp>
      <p:sp>
        <p:nvSpPr>
          <p:cNvPr id="9" name="Footer Placeholder 8">
            <a:extLst>
              <a:ext uri="{FF2B5EF4-FFF2-40B4-BE49-F238E27FC236}">
                <a16:creationId xmlns:a16="http://schemas.microsoft.com/office/drawing/2014/main" id="{DAC65E50-89AB-4177-9273-DB727ADF80FD}"/>
              </a:ext>
            </a:extLst>
          </p:cNvPr>
          <p:cNvSpPr>
            <a:spLocks noGrp="1"/>
          </p:cNvSpPr>
          <p:nvPr>
            <p:ph type="ftr" sz="quarter" idx="11"/>
          </p:nvPr>
        </p:nvSpPr>
        <p:spPr/>
        <p:txBody>
          <a:bodyPr/>
          <a:lstStyle/>
          <a:p>
            <a:r>
              <a:rPr lang="en-US"/>
              <a:t>CPF 2023-2027. Public Version. Maputo, May 2022.</a:t>
            </a:r>
            <a:endParaRPr lang="en-US" dirty="0"/>
          </a:p>
        </p:txBody>
      </p:sp>
      <p:sp>
        <p:nvSpPr>
          <p:cNvPr id="10" name="Slide Number Placeholder 9">
            <a:extLst>
              <a:ext uri="{FF2B5EF4-FFF2-40B4-BE49-F238E27FC236}">
                <a16:creationId xmlns:a16="http://schemas.microsoft.com/office/drawing/2014/main" id="{445B123D-B40D-4386-B9CF-E9BAAC87872E}"/>
              </a:ext>
            </a:extLst>
          </p:cNvPr>
          <p:cNvSpPr>
            <a:spLocks noGrp="1"/>
          </p:cNvSpPr>
          <p:nvPr>
            <p:ph type="sldNum" sz="quarter" idx="12"/>
          </p:nvPr>
        </p:nvSpPr>
        <p:spPr/>
        <p:txBody>
          <a:bodyPr/>
          <a:lstStyle/>
          <a:p>
            <a:fld id="{B8473C9A-9E91-4025-B5E2-D7B202510636}" type="slidenum">
              <a:rPr lang="en-US" smtClean="0"/>
              <a:t>8</a:t>
            </a:fld>
            <a:endParaRPr lang="en-US" dirty="0"/>
          </a:p>
        </p:txBody>
      </p:sp>
      <p:pic>
        <p:nvPicPr>
          <p:cNvPr id="4" name="Picture 3">
            <a:extLst>
              <a:ext uri="{FF2B5EF4-FFF2-40B4-BE49-F238E27FC236}">
                <a16:creationId xmlns:a16="http://schemas.microsoft.com/office/drawing/2014/main" id="{C7949A21-272C-4FC9-8A3B-5DD99DD162F7}"/>
              </a:ext>
            </a:extLst>
          </p:cNvPr>
          <p:cNvPicPr>
            <a:picLocks noChangeAspect="1"/>
          </p:cNvPicPr>
          <p:nvPr/>
        </p:nvPicPr>
        <p:blipFill>
          <a:blip r:embed="rId3"/>
          <a:stretch>
            <a:fillRect/>
          </a:stretch>
        </p:blipFill>
        <p:spPr>
          <a:xfrm>
            <a:off x="536986" y="228106"/>
            <a:ext cx="2316681" cy="463336"/>
          </a:xfrm>
          <a:prstGeom prst="rect">
            <a:avLst/>
          </a:prstGeom>
        </p:spPr>
      </p:pic>
    </p:spTree>
    <p:extLst>
      <p:ext uri="{BB962C8B-B14F-4D97-AF65-F5344CB8AC3E}">
        <p14:creationId xmlns:p14="http://schemas.microsoft.com/office/powerpoint/2010/main" val="335552275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967292" y="250925"/>
            <a:ext cx="10515600" cy="1325563"/>
          </a:xfrm>
        </p:spPr>
        <p:txBody>
          <a:bodyPr>
            <a:noAutofit/>
          </a:bodyPr>
          <a:lstStyle/>
          <a:p>
            <a:pPr algn="ctr"/>
            <a:r>
              <a:rPr lang="en-US" sz="4000" dirty="0"/>
              <a:t>Presentation structure
</a:t>
            </a:r>
            <a:endParaRPr lang="pt" sz="40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217843" y="1462089"/>
            <a:ext cx="11357385" cy="4648256"/>
          </a:xfrm>
        </p:spPr>
        <p:txBody>
          <a:bodyPr>
            <a:noAutofit/>
          </a:bodyPr>
          <a:lstStyle/>
          <a:p>
            <a:pPr marL="1371600" lvl="3" indent="-571500">
              <a:lnSpc>
                <a:spcPct val="100000"/>
              </a:lnSpc>
              <a:spcBef>
                <a:spcPts val="1200"/>
              </a:spcBef>
              <a:spcAft>
                <a:spcPts val="1200"/>
              </a:spcAft>
              <a:buFont typeface="+mj-lt"/>
              <a:buAutoNum type="romanUcPeriod"/>
            </a:pPr>
            <a:r>
              <a:rPr lang="en-US" sz="3200" b="1" dirty="0">
                <a:solidFill>
                  <a:schemeClr val="bg2">
                    <a:lumMod val="90000"/>
                  </a:schemeClr>
                </a:solidFill>
              </a:rPr>
              <a:t>World Bank Group's view on the country's main strategic challenges   
</a:t>
            </a:r>
            <a:r>
              <a:rPr lang="en-US" sz="3200" b="1" dirty="0"/>
              <a:t>Main lessons from the previous CPF (2017-2021)
</a:t>
            </a:r>
            <a:r>
              <a:rPr lang="en-US" sz="3200" b="1" dirty="0">
                <a:solidFill>
                  <a:schemeClr val="bg2">
                    <a:lumMod val="90000"/>
                  </a:schemeClr>
                </a:solidFill>
              </a:rPr>
              <a:t>Initial Proposal for CPF 2023-2027</a:t>
            </a:r>
            <a:endParaRPr lang="pt-BR" sz="3200" b="1" i="0" u="none" strike="noStrike" dirty="0">
              <a:solidFill>
                <a:schemeClr val="bg2">
                  <a:lumMod val="90000"/>
                </a:schemeClr>
              </a:solidFill>
              <a:highlight>
                <a:srgbClr val="000000">
                  <a:alpha val="0"/>
                </a:srgbClr>
              </a:highlight>
              <a:latin typeface="Arial"/>
            </a:endParaRPr>
          </a:p>
          <a:p>
            <a:pPr marL="1143000" lvl="3" indent="0">
              <a:lnSpc>
                <a:spcPct val="100000"/>
              </a:lnSpc>
              <a:spcBef>
                <a:spcPts val="1200"/>
              </a:spcBef>
              <a:buNone/>
            </a:pPr>
            <a:endParaRPr lang="pt" sz="3200" b="1" i="0" u="none" strike="noStrike"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64BAC93B-91C7-4C10-A50E-D811EFA7120E}"/>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C7FE97E1-662E-4A4B-9785-3AB102713595}"/>
              </a:ext>
            </a:extLst>
          </p:cNvPr>
          <p:cNvSpPr>
            <a:spLocks noGrp="1"/>
          </p:cNvSpPr>
          <p:nvPr>
            <p:ph type="sldNum" sz="quarter" idx="12"/>
          </p:nvPr>
        </p:nvSpPr>
        <p:spPr/>
        <p:txBody>
          <a:bodyPr/>
          <a:lstStyle/>
          <a:p>
            <a:fld id="{B8473C9A-9E91-4025-B5E2-D7B202510636}" type="slidenum">
              <a:rPr lang="en-US" smtClean="0"/>
              <a:t>9</a:t>
            </a:fld>
            <a:endParaRPr lang="en-US" dirty="0"/>
          </a:p>
        </p:txBody>
      </p:sp>
      <p:pic>
        <p:nvPicPr>
          <p:cNvPr id="4" name="Picture 3">
            <a:extLst>
              <a:ext uri="{FF2B5EF4-FFF2-40B4-BE49-F238E27FC236}">
                <a16:creationId xmlns:a16="http://schemas.microsoft.com/office/drawing/2014/main" id="{39D2B0C9-56D1-42EE-9614-AB89754E7CB6}"/>
              </a:ext>
            </a:extLst>
          </p:cNvPr>
          <p:cNvPicPr>
            <a:picLocks noChangeAspect="1"/>
          </p:cNvPicPr>
          <p:nvPr/>
        </p:nvPicPr>
        <p:blipFill>
          <a:blip r:embed="rId2"/>
          <a:stretch>
            <a:fillRect/>
          </a:stretch>
        </p:blipFill>
        <p:spPr>
          <a:xfrm>
            <a:off x="365659" y="393171"/>
            <a:ext cx="2316681" cy="463336"/>
          </a:xfrm>
          <a:prstGeom prst="rect">
            <a:avLst/>
          </a:prstGeom>
        </p:spPr>
      </p:pic>
    </p:spTree>
    <p:extLst>
      <p:ext uri="{BB962C8B-B14F-4D97-AF65-F5344CB8AC3E}">
        <p14:creationId xmlns:p14="http://schemas.microsoft.com/office/powerpoint/2010/main" val="381791363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39DA-BD7E-4AD0-924F-E915A4271702}"/>
              </a:ext>
            </a:extLst>
          </p:cNvPr>
          <p:cNvSpPr>
            <a:spLocks noGrp="1"/>
          </p:cNvSpPr>
          <p:nvPr>
            <p:ph type="title"/>
          </p:nvPr>
        </p:nvSpPr>
        <p:spPr>
          <a:xfrm>
            <a:off x="3259566" y="-20638"/>
            <a:ext cx="7998983" cy="1325563"/>
          </a:xfrm>
        </p:spPr>
        <p:txBody>
          <a:bodyPr>
            <a:normAutofit/>
          </a:bodyPr>
          <a:lstStyle/>
          <a:p>
            <a:r>
              <a:rPr lang="en-US" sz="2400" dirty="0"/>
              <a:t>CPF AF2017-2021: Main Features</a:t>
            </a:r>
            <a:endParaRPr lang="en-US" sz="2400" b="0" i="1" dirty="0"/>
          </a:p>
        </p:txBody>
      </p:sp>
      <p:sp>
        <p:nvSpPr>
          <p:cNvPr id="3" name="Content Placeholder 2">
            <a:extLst>
              <a:ext uri="{FF2B5EF4-FFF2-40B4-BE49-F238E27FC236}">
                <a16:creationId xmlns:a16="http://schemas.microsoft.com/office/drawing/2014/main" id="{AD41F2BB-97F4-4383-8764-F002A22E027D}"/>
              </a:ext>
            </a:extLst>
          </p:cNvPr>
          <p:cNvSpPr>
            <a:spLocks noGrp="1"/>
          </p:cNvSpPr>
          <p:nvPr>
            <p:ph idx="1"/>
          </p:nvPr>
        </p:nvSpPr>
        <p:spPr>
          <a:xfrm>
            <a:off x="300387" y="1171352"/>
            <a:ext cx="5735623" cy="5283236"/>
          </a:xfrm>
        </p:spPr>
        <p:txBody>
          <a:bodyPr>
            <a:noAutofit/>
          </a:bodyPr>
          <a:lstStyle/>
          <a:p>
            <a:pPr marL="0" algn="just">
              <a:spcBef>
                <a:spcPts val="0"/>
              </a:spcBef>
            </a:pPr>
            <a:r>
              <a:rPr lang="en-US" dirty="0">
                <a:latin typeface="+mn-lt"/>
              </a:rPr>
              <a:t>A context in which the rapid growth of previous years had ended. Understanding that the impact of growth on poverty reduction had been less than necessary.</a:t>
            </a:r>
          </a:p>
          <a:p>
            <a:pPr marL="0" algn="just">
              <a:spcBef>
                <a:spcPts val="0"/>
              </a:spcBef>
            </a:pPr>
            <a:endParaRPr lang="en-US" dirty="0">
              <a:latin typeface="+mn-lt"/>
            </a:endParaRPr>
          </a:p>
          <a:p>
            <a:pPr marL="0" algn="just">
              <a:spcBef>
                <a:spcPts val="0"/>
              </a:spcBef>
            </a:pPr>
            <a:r>
              <a:rPr lang="en-US" dirty="0">
                <a:latin typeface="+mn-lt"/>
              </a:rPr>
              <a:t>Hidden debt shock reduced confidence in the country, reducing investments.</a:t>
            </a:r>
          </a:p>
          <a:p>
            <a:pPr marL="0" algn="just">
              <a:spcBef>
                <a:spcPts val="0"/>
              </a:spcBef>
            </a:pPr>
            <a:endParaRPr lang="en-US" dirty="0">
              <a:latin typeface="+mn-lt"/>
            </a:endParaRPr>
          </a:p>
          <a:p>
            <a:pPr marL="0" algn="just">
              <a:spcBef>
                <a:spcPts val="0"/>
              </a:spcBef>
            </a:pPr>
            <a:r>
              <a:rPr lang="en-US" dirty="0">
                <a:latin typeface="+mn-lt"/>
              </a:rPr>
              <a:t>CPF AF17-FY21 had the overall objective of helping Mozambique “</a:t>
            </a:r>
            <a:r>
              <a:rPr lang="en-US" b="1" dirty="0">
                <a:latin typeface="+mn-lt"/>
              </a:rPr>
              <a:t>achieve inclusive growth through promoting employment and improving productivity in a sustainable way</a:t>
            </a:r>
            <a:r>
              <a:rPr lang="en-US" dirty="0">
                <a:latin typeface="+mn-lt"/>
              </a:rPr>
              <a:t>”.</a:t>
            </a:r>
          </a:p>
          <a:p>
            <a:pPr marL="0" algn="just">
              <a:spcBef>
                <a:spcPts val="0"/>
              </a:spcBef>
            </a:pPr>
            <a:endParaRPr lang="en-US" dirty="0">
              <a:latin typeface="+mn-lt"/>
            </a:endParaRPr>
          </a:p>
          <a:p>
            <a:pPr marL="0" algn="just">
              <a:spcBef>
                <a:spcPts val="0"/>
              </a:spcBef>
            </a:pPr>
            <a:r>
              <a:rPr lang="en-US" dirty="0">
                <a:latin typeface="+mn-lt"/>
              </a:rPr>
              <a:t>The program had 3 focus areas: (i) Promoting Diversified Growth and Enhanced Productivity, (ii) Investing in Human Capital, and (iii) Strengthening Sustainability and Resilience.</a:t>
            </a:r>
          </a:p>
          <a:p>
            <a:pPr marL="0" algn="just">
              <a:spcBef>
                <a:spcPts val="0"/>
              </a:spcBef>
            </a:pPr>
            <a:endParaRPr lang="en-US" dirty="0">
              <a:latin typeface="+mn-lt"/>
            </a:endParaRPr>
          </a:p>
          <a:p>
            <a:pPr marL="0" algn="just">
              <a:spcBef>
                <a:spcPts val="0"/>
              </a:spcBef>
            </a:pPr>
            <a:r>
              <a:rPr lang="en-US" dirty="0">
                <a:latin typeface="+mn-lt"/>
              </a:rPr>
              <a:t>The World Bank's portfolio grew from US$1.6 billion upfront to about US$2.9 billion committed over the entire CPF period.</a:t>
            </a:r>
          </a:p>
          <a:p>
            <a:pPr marL="0" algn="just">
              <a:spcBef>
                <a:spcPts val="0"/>
              </a:spcBef>
            </a:pPr>
            <a:endParaRPr lang="en-US" dirty="0">
              <a:latin typeface="+mn-lt"/>
            </a:endParaRPr>
          </a:p>
          <a:p>
            <a:pPr marL="0" algn="just">
              <a:spcBef>
                <a:spcPts val="0"/>
              </a:spcBef>
            </a:pPr>
            <a:r>
              <a:rPr lang="en-US" dirty="0">
                <a:latin typeface="+mn-lt"/>
              </a:rPr>
              <a:t>Additionally: US$700 million for the prevention of conflict and violence (AF 2022) through the</a:t>
            </a:r>
          </a:p>
          <a:p>
            <a:pPr marL="0" algn="just">
              <a:spcBef>
                <a:spcPts val="0"/>
              </a:spcBef>
            </a:pPr>
            <a:endParaRPr lang="en-US" dirty="0">
              <a:latin typeface="+mn-lt"/>
            </a:endParaRPr>
          </a:p>
          <a:p>
            <a:pPr marL="0" algn="just">
              <a:spcBef>
                <a:spcPts val="0"/>
              </a:spcBef>
            </a:pPr>
            <a:r>
              <a:rPr lang="en-US" dirty="0">
                <a:latin typeface="+mn-lt"/>
              </a:rPr>
              <a:t>IFC and MIGA investments in the private sector focused on transformative projects for job creation and poverty reduction.</a:t>
            </a:r>
          </a:p>
        </p:txBody>
      </p:sp>
      <p:pic>
        <p:nvPicPr>
          <p:cNvPr id="11" name="Picture 10">
            <a:extLst>
              <a:ext uri="{FF2B5EF4-FFF2-40B4-BE49-F238E27FC236}">
                <a16:creationId xmlns:a16="http://schemas.microsoft.com/office/drawing/2014/main" id="{90336BA4-DAFB-496E-BA23-FD9499BC806B}"/>
              </a:ext>
            </a:extLst>
          </p:cNvPr>
          <p:cNvPicPr>
            <a:picLocks noChangeAspect="1"/>
          </p:cNvPicPr>
          <p:nvPr/>
        </p:nvPicPr>
        <p:blipFill>
          <a:blip r:embed="rId2"/>
          <a:stretch>
            <a:fillRect/>
          </a:stretch>
        </p:blipFill>
        <p:spPr>
          <a:xfrm>
            <a:off x="6036010" y="992982"/>
            <a:ext cx="5942634" cy="5144804"/>
          </a:xfrm>
          <a:prstGeom prst="rect">
            <a:avLst/>
          </a:prstGeom>
        </p:spPr>
      </p:pic>
      <p:sp>
        <p:nvSpPr>
          <p:cNvPr id="5" name="Rectangle 4">
            <a:extLst>
              <a:ext uri="{FF2B5EF4-FFF2-40B4-BE49-F238E27FC236}">
                <a16:creationId xmlns:a16="http://schemas.microsoft.com/office/drawing/2014/main" id="{EBE7ADC5-130D-44E2-A535-813420EF7862}"/>
              </a:ext>
            </a:extLst>
          </p:cNvPr>
          <p:cNvSpPr/>
          <p:nvPr/>
        </p:nvSpPr>
        <p:spPr>
          <a:xfrm>
            <a:off x="7551867" y="992981"/>
            <a:ext cx="645459" cy="4270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oter Placeholder 12">
            <a:extLst>
              <a:ext uri="{FF2B5EF4-FFF2-40B4-BE49-F238E27FC236}">
                <a16:creationId xmlns:a16="http://schemas.microsoft.com/office/drawing/2014/main" id="{B32BD148-6C39-46D7-BA00-253237AE35AE}"/>
              </a:ext>
            </a:extLst>
          </p:cNvPr>
          <p:cNvSpPr>
            <a:spLocks noGrp="1"/>
          </p:cNvSpPr>
          <p:nvPr>
            <p:ph type="ftr" sz="quarter" idx="11"/>
          </p:nvPr>
        </p:nvSpPr>
        <p:spPr/>
        <p:txBody>
          <a:bodyPr/>
          <a:lstStyle/>
          <a:p>
            <a:r>
              <a:rPr lang="en-US"/>
              <a:t>CPF 2023-2027. Public Version. Maputo, May 2022.</a:t>
            </a:r>
            <a:endParaRPr lang="en-US" dirty="0"/>
          </a:p>
        </p:txBody>
      </p:sp>
      <p:pic>
        <p:nvPicPr>
          <p:cNvPr id="4" name="Picture 3">
            <a:extLst>
              <a:ext uri="{FF2B5EF4-FFF2-40B4-BE49-F238E27FC236}">
                <a16:creationId xmlns:a16="http://schemas.microsoft.com/office/drawing/2014/main" id="{3534EC23-E592-4B24-A636-726B7F88939A}"/>
              </a:ext>
            </a:extLst>
          </p:cNvPr>
          <p:cNvPicPr>
            <a:picLocks noChangeAspect="1"/>
          </p:cNvPicPr>
          <p:nvPr/>
        </p:nvPicPr>
        <p:blipFill>
          <a:blip r:embed="rId3"/>
          <a:stretch>
            <a:fillRect/>
          </a:stretch>
        </p:blipFill>
        <p:spPr>
          <a:xfrm>
            <a:off x="222790" y="343689"/>
            <a:ext cx="2316681" cy="463336"/>
          </a:xfrm>
          <a:prstGeom prst="rect">
            <a:avLst/>
          </a:prstGeom>
        </p:spPr>
      </p:pic>
      <p:sp>
        <p:nvSpPr>
          <p:cNvPr id="6" name="Slide Number Placeholder 5">
            <a:extLst>
              <a:ext uri="{FF2B5EF4-FFF2-40B4-BE49-F238E27FC236}">
                <a16:creationId xmlns:a16="http://schemas.microsoft.com/office/drawing/2014/main" id="{9A2C55B6-CA07-4ECE-B7AD-6DC69A70C6AD}"/>
              </a:ext>
            </a:extLst>
          </p:cNvPr>
          <p:cNvSpPr>
            <a:spLocks noGrp="1"/>
          </p:cNvSpPr>
          <p:nvPr>
            <p:ph type="sldNum" sz="quarter" idx="12"/>
          </p:nvPr>
        </p:nvSpPr>
        <p:spPr/>
        <p:txBody>
          <a:bodyPr/>
          <a:lstStyle/>
          <a:p>
            <a:fld id="{B8473C9A-9E91-4025-B5E2-D7B202510636}" type="slidenum">
              <a:rPr lang="en-US" smtClean="0"/>
              <a:t>10</a:t>
            </a:fld>
            <a:endParaRPr lang="en-US" dirty="0"/>
          </a:p>
        </p:txBody>
      </p:sp>
    </p:spTree>
    <p:extLst>
      <p:ext uri="{BB962C8B-B14F-4D97-AF65-F5344CB8AC3E}">
        <p14:creationId xmlns:p14="http://schemas.microsoft.com/office/powerpoint/2010/main" val="176524806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39DA-BD7E-4AD0-924F-E915A4271702}"/>
              </a:ext>
            </a:extLst>
          </p:cNvPr>
          <p:cNvSpPr>
            <a:spLocks noGrp="1"/>
          </p:cNvSpPr>
          <p:nvPr>
            <p:ph type="title"/>
          </p:nvPr>
        </p:nvSpPr>
        <p:spPr>
          <a:xfrm>
            <a:off x="2657811" y="-255665"/>
            <a:ext cx="10515600" cy="1325563"/>
          </a:xfrm>
        </p:spPr>
        <p:txBody>
          <a:bodyPr>
            <a:normAutofit/>
          </a:bodyPr>
          <a:lstStyle/>
          <a:p>
            <a:br>
              <a:rPr lang="en-US" sz="2400" dirty="0"/>
            </a:br>
            <a:br>
              <a:rPr lang="en-US" sz="2400" dirty="0"/>
            </a:br>
            <a:r>
              <a:rPr lang="en-US" sz="2400" dirty="0"/>
              <a:t>CPF AF2017-2021: Main Features</a:t>
            </a:r>
            <a:endParaRPr lang="en-US" sz="2400" b="0" i="1" dirty="0"/>
          </a:p>
        </p:txBody>
      </p:sp>
      <p:sp>
        <p:nvSpPr>
          <p:cNvPr id="3" name="Content Placeholder 2">
            <a:extLst>
              <a:ext uri="{FF2B5EF4-FFF2-40B4-BE49-F238E27FC236}">
                <a16:creationId xmlns:a16="http://schemas.microsoft.com/office/drawing/2014/main" id="{AD41F2BB-97F4-4383-8764-F002A22E027D}"/>
              </a:ext>
            </a:extLst>
          </p:cNvPr>
          <p:cNvSpPr>
            <a:spLocks noGrp="1"/>
          </p:cNvSpPr>
          <p:nvPr>
            <p:ph idx="1"/>
          </p:nvPr>
        </p:nvSpPr>
        <p:spPr>
          <a:xfrm>
            <a:off x="490296" y="992981"/>
            <a:ext cx="6341966" cy="5544790"/>
          </a:xfrm>
        </p:spPr>
        <p:txBody>
          <a:bodyPr>
            <a:noAutofit/>
          </a:bodyPr>
          <a:lstStyle/>
          <a:p>
            <a:pPr algn="just"/>
            <a:endParaRPr lang="pt-BR" b="1" u="sng" dirty="0">
              <a:latin typeface="+mn-lt"/>
              <a:ea typeface="Times New Roman" panose="02020603050405020304" pitchFamily="18" charset="0"/>
              <a:cs typeface="Times New Roman" panose="02020603050405020304" pitchFamily="18" charset="0"/>
            </a:endParaRPr>
          </a:p>
          <a:p>
            <a:pPr lvl="2" algn="just"/>
            <a:r>
              <a:rPr lang="en-US" sz="1400" b="1" dirty="0"/>
              <a:t>Focus on regions and sectors where the poor are concentrated. </a:t>
            </a:r>
          </a:p>
          <a:p>
            <a:pPr marL="914400" lvl="3" indent="-365760" algn="just"/>
            <a:r>
              <a:rPr lang="en-US" sz="1300" dirty="0">
                <a:solidFill>
                  <a:srgbClr val="000000"/>
                </a:solidFill>
                <a:cs typeface="Calibri" panose="020F0502020204030204" pitchFamily="34" charset="0"/>
              </a:rPr>
              <a:t>Subsistence farming operations should increase from 6% in the previous CPF to 20%</a:t>
            </a:r>
          </a:p>
          <a:p>
            <a:pPr marL="914400" lvl="3" indent="-365760" algn="just"/>
            <a:r>
              <a:rPr lang="en-US" sz="1300" dirty="0">
                <a:solidFill>
                  <a:srgbClr val="000000"/>
                </a:solidFill>
                <a:cs typeface="Calibri" panose="020F0502020204030204" pitchFamily="34" charset="0"/>
              </a:rPr>
              <a:t>Around 30% of the portfolio went to agriculture and rural areas (compared to 6% in the previous cycle)</a:t>
            </a:r>
            <a:endParaRPr lang="en-US" sz="1400" dirty="0"/>
          </a:p>
          <a:p>
            <a:pPr lvl="2" algn="just"/>
            <a:r>
              <a:rPr lang="en-US" sz="1400" dirty="0"/>
              <a:t>A large part of the resources was dedicated to investments in infrastructure, especially in rural and post-cyclone reconstruction.</a:t>
            </a:r>
          </a:p>
          <a:p>
            <a:pPr marL="914400" lvl="3" indent="-365760" algn="just"/>
            <a:r>
              <a:rPr lang="en-US" sz="1300" dirty="0">
                <a:solidFill>
                  <a:srgbClr val="000000"/>
                </a:solidFill>
                <a:cs typeface="Calibri" panose="020F0502020204030204" pitchFamily="34" charset="0"/>
              </a:rPr>
              <a:t>Adoption of an integrative approach, aggregating investments in infrastructure and social protection.</a:t>
            </a:r>
          </a:p>
          <a:p>
            <a:pPr marL="914400" lvl="3" indent="-365760" algn="just"/>
            <a:r>
              <a:rPr lang="en-US" sz="1300" dirty="0">
                <a:solidFill>
                  <a:srgbClr val="000000"/>
                </a:solidFill>
                <a:cs typeface="Calibri" panose="020F0502020204030204" pitchFamily="34" charset="0"/>
              </a:rPr>
              <a:t>Prioritization of responses to Cabo Delgado (FY 2022).</a:t>
            </a:r>
          </a:p>
          <a:p>
            <a:pPr lvl="2" algn="just"/>
            <a:r>
              <a:rPr lang="en-US" sz="1400" dirty="0"/>
              <a:t>Focus on improving macroeconomic management capacity, particularly debt management, fiscal risks and public investment.</a:t>
            </a:r>
          </a:p>
          <a:p>
            <a:pPr lvl="2" algn="just"/>
            <a:r>
              <a:rPr lang="en-US" sz="1400" dirty="0"/>
              <a:t>The previous CPF gave great priority to studies that would allow a better understanding of the country's challenges, such as the Country's Private Sector Diagnosis, the Country Economic Memorandum, the Urban Review and the Rural Income Diagnosis, among others. </a:t>
            </a:r>
          </a:p>
          <a:p>
            <a:pPr marL="914400" lvl="3" indent="-365760" algn="just"/>
            <a:r>
              <a:rPr lang="en-US" sz="1300" dirty="0">
                <a:solidFill>
                  <a:srgbClr val="000000"/>
                </a:solidFill>
                <a:cs typeface="Calibri" panose="020F0502020204030204" pitchFamily="34" charset="0"/>
              </a:rPr>
              <a:t>A study on the impacts of climate change (CCDR), an update of the poverty study (Poverty Assessment) and a detailed analysis of the gender issue (Gender Assessment) are in progress.</a:t>
            </a:r>
            <a:endParaRPr lang="pt" sz="1300" dirty="0">
              <a:solidFill>
                <a:srgbClr val="000000"/>
              </a:solidFill>
              <a:cs typeface="Calibri" panose="020F0502020204030204" pitchFamily="34" charset="0"/>
            </a:endParaRPr>
          </a:p>
          <a:p>
            <a:pPr marL="0" lvl="2" indent="0" algn="just">
              <a:buNone/>
            </a:pPr>
            <a:endParaRPr lang="en-US" sz="1400" dirty="0">
              <a:solidFill>
                <a:srgbClr val="000000"/>
              </a:solidFill>
              <a:ea typeface="Times New Roman" panose="02020603050405020304" pitchFamily="18" charset="0"/>
              <a:cs typeface="Times New Roman" panose="02020603050405020304" pitchFamily="18" charset="0"/>
            </a:endParaRPr>
          </a:p>
          <a:p>
            <a:pPr lvl="2" algn="just"/>
            <a:endParaRPr lang="en-US" sz="1400" dirty="0">
              <a:solidFill>
                <a:srgbClr val="000000"/>
              </a:solidFill>
              <a:cs typeface="Times New Roman" panose="02020603050405020304" pitchFamily="18" charset="0"/>
            </a:endParaRPr>
          </a:p>
          <a:p>
            <a:pPr algn="just"/>
            <a:endParaRPr lang="en-US" dirty="0">
              <a:latin typeface="+mn-lt"/>
            </a:endParaRPr>
          </a:p>
        </p:txBody>
      </p:sp>
      <p:graphicFrame>
        <p:nvGraphicFramePr>
          <p:cNvPr id="9" name="Chart 8">
            <a:extLst>
              <a:ext uri="{FF2B5EF4-FFF2-40B4-BE49-F238E27FC236}">
                <a16:creationId xmlns:a16="http://schemas.microsoft.com/office/drawing/2014/main" id="{A5499A8E-A137-4699-BE3A-E5C6193DB181}"/>
              </a:ext>
            </a:extLst>
          </p:cNvPr>
          <p:cNvGraphicFramePr>
            <a:graphicFrameLocks/>
          </p:cNvGraphicFramePr>
          <p:nvPr>
            <p:extLst>
              <p:ext uri="{D42A27DB-BD31-4B8C-83A1-F6EECF244321}">
                <p14:modId xmlns:p14="http://schemas.microsoft.com/office/powerpoint/2010/main" val="1040687743"/>
              </p:ext>
            </p:extLst>
          </p:nvPr>
        </p:nvGraphicFramePr>
        <p:xfrm>
          <a:off x="7088146" y="1290918"/>
          <a:ext cx="4836977" cy="4311557"/>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1">
            <a:extLst>
              <a:ext uri="{FF2B5EF4-FFF2-40B4-BE49-F238E27FC236}">
                <a16:creationId xmlns:a16="http://schemas.microsoft.com/office/drawing/2014/main" id="{2F08AA56-3BA1-41C9-8EC2-A2B8C5546FC8}"/>
              </a:ext>
            </a:extLst>
          </p:cNvPr>
          <p:cNvSpPr txBox="1">
            <a:spLocks/>
          </p:cNvSpPr>
          <p:nvPr/>
        </p:nvSpPr>
        <p:spPr>
          <a:xfrm>
            <a:off x="8513782" y="887892"/>
            <a:ext cx="2467370" cy="806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2300" b="1" kern="1200">
                <a:solidFill>
                  <a:schemeClr val="accent1">
                    <a:lumMod val="75000"/>
                  </a:schemeClr>
                </a:solidFill>
                <a:latin typeface="Arial"/>
                <a:ea typeface="+mj-ea"/>
                <a:cs typeface="Arial"/>
              </a:defRPr>
            </a:lvl1pPr>
          </a:lstStyle>
          <a:p>
            <a:r>
              <a:rPr lang="pt-BR" sz="1000" cap="all" dirty="0">
                <a:solidFill>
                  <a:schemeClr val="tx1"/>
                </a:solidFill>
                <a:latin typeface="+mj-lt"/>
                <a:ea typeface="+mn-ea"/>
                <a:cs typeface="+mn-cs"/>
              </a:rPr>
              <a:t>Final Allocation
</a:t>
            </a:r>
            <a:endParaRPr lang="en-US" sz="1000" cap="all" dirty="0">
              <a:solidFill>
                <a:schemeClr val="tx1"/>
              </a:solidFill>
              <a:latin typeface="+mj-lt"/>
              <a:ea typeface="+mn-ea"/>
              <a:cs typeface="+mn-cs"/>
            </a:endParaRPr>
          </a:p>
        </p:txBody>
      </p:sp>
      <p:sp>
        <p:nvSpPr>
          <p:cNvPr id="7" name="Footer Placeholder 6">
            <a:extLst>
              <a:ext uri="{FF2B5EF4-FFF2-40B4-BE49-F238E27FC236}">
                <a16:creationId xmlns:a16="http://schemas.microsoft.com/office/drawing/2014/main" id="{AF70A6BA-9FEE-4FF3-9D26-0762E13834EE}"/>
              </a:ext>
            </a:extLst>
          </p:cNvPr>
          <p:cNvSpPr>
            <a:spLocks noGrp="1"/>
          </p:cNvSpPr>
          <p:nvPr>
            <p:ph type="ftr" sz="quarter" idx="11"/>
          </p:nvPr>
        </p:nvSpPr>
        <p:spPr>
          <a:xfrm>
            <a:off x="4038600" y="6557048"/>
            <a:ext cx="4114800" cy="365125"/>
          </a:xfrm>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CCD3979E-F30D-4DBB-BFB4-CA06FA9C5C4E}"/>
              </a:ext>
            </a:extLst>
          </p:cNvPr>
          <p:cNvSpPr>
            <a:spLocks noGrp="1"/>
          </p:cNvSpPr>
          <p:nvPr>
            <p:ph type="sldNum" sz="quarter" idx="12"/>
          </p:nvPr>
        </p:nvSpPr>
        <p:spPr/>
        <p:txBody>
          <a:bodyPr/>
          <a:lstStyle/>
          <a:p>
            <a:fld id="{B8473C9A-9E91-4025-B5E2-D7B202510636}" type="slidenum">
              <a:rPr lang="en-US" smtClean="0"/>
              <a:t>11</a:t>
            </a:fld>
            <a:endParaRPr lang="en-US" dirty="0"/>
          </a:p>
        </p:txBody>
      </p:sp>
      <p:pic>
        <p:nvPicPr>
          <p:cNvPr id="4" name="Picture 3">
            <a:extLst>
              <a:ext uri="{FF2B5EF4-FFF2-40B4-BE49-F238E27FC236}">
                <a16:creationId xmlns:a16="http://schemas.microsoft.com/office/drawing/2014/main" id="{BDFFB0C1-E31A-47B0-BD50-98DAE498F8F0}"/>
              </a:ext>
            </a:extLst>
          </p:cNvPr>
          <p:cNvPicPr>
            <a:picLocks noChangeAspect="1"/>
          </p:cNvPicPr>
          <p:nvPr/>
        </p:nvPicPr>
        <p:blipFill>
          <a:blip r:embed="rId3"/>
          <a:stretch>
            <a:fillRect/>
          </a:stretch>
        </p:blipFill>
        <p:spPr>
          <a:xfrm>
            <a:off x="281614" y="320229"/>
            <a:ext cx="2316681" cy="463336"/>
          </a:xfrm>
          <a:prstGeom prst="rect">
            <a:avLst/>
          </a:prstGeom>
        </p:spPr>
      </p:pic>
    </p:spTree>
    <p:extLst>
      <p:ext uri="{BB962C8B-B14F-4D97-AF65-F5344CB8AC3E}">
        <p14:creationId xmlns:p14="http://schemas.microsoft.com/office/powerpoint/2010/main" val="59452574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67A4-0F4F-479B-832F-37F8FDAE666F}"/>
              </a:ext>
            </a:extLst>
          </p:cNvPr>
          <p:cNvSpPr>
            <a:spLocks noGrp="1"/>
          </p:cNvSpPr>
          <p:nvPr>
            <p:ph type="title"/>
          </p:nvPr>
        </p:nvSpPr>
        <p:spPr>
          <a:xfrm>
            <a:off x="3743661" y="-22415"/>
            <a:ext cx="7448214" cy="815975"/>
          </a:xfrm>
        </p:spPr>
        <p:txBody>
          <a:bodyPr>
            <a:normAutofit/>
          </a:bodyPr>
          <a:lstStyle/>
          <a:p>
            <a:r>
              <a:rPr lang="en-US" sz="2400" dirty="0"/>
              <a:t>CPF AF2017-2021: Results 
</a:t>
            </a:r>
            <a:endParaRPr lang="en-US" sz="2400" b="0" i="1" dirty="0"/>
          </a:p>
        </p:txBody>
      </p:sp>
      <p:sp>
        <p:nvSpPr>
          <p:cNvPr id="3" name="Content Placeholder 2">
            <a:extLst>
              <a:ext uri="{FF2B5EF4-FFF2-40B4-BE49-F238E27FC236}">
                <a16:creationId xmlns:a16="http://schemas.microsoft.com/office/drawing/2014/main" id="{D13B107D-9314-4019-A8AC-8BDA69837A5E}"/>
              </a:ext>
            </a:extLst>
          </p:cNvPr>
          <p:cNvSpPr>
            <a:spLocks noGrp="1"/>
          </p:cNvSpPr>
          <p:nvPr>
            <p:ph idx="1"/>
          </p:nvPr>
        </p:nvSpPr>
        <p:spPr>
          <a:xfrm>
            <a:off x="676274" y="754918"/>
            <a:ext cx="10677525" cy="4995863"/>
          </a:xfrm>
        </p:spPr>
        <p:txBody>
          <a:bodyPr/>
          <a:lstStyle/>
          <a:p>
            <a:pPr marL="0" indent="0" algn="just">
              <a:buNone/>
            </a:pPr>
            <a:r>
              <a:rPr lang="en-US" sz="1400" b="0" i="0" u="none" strike="noStrike" dirty="0">
                <a:highlight>
                  <a:srgbClr val="000000">
                    <a:alpha val="0"/>
                  </a:srgbClr>
                </a:highlight>
                <a:latin typeface="Arial"/>
              </a:rPr>
              <a:t>The CPF - AF17-AF21 was prepared and implemented in an adverse economic context. However, implementation was </a:t>
            </a:r>
            <a:r>
              <a:rPr lang="en-US" sz="1400" b="1" i="0" u="none" strike="noStrike" dirty="0">
                <a:highlight>
                  <a:srgbClr val="000000">
                    <a:alpha val="0"/>
                  </a:srgbClr>
                </a:highlight>
                <a:latin typeface="Arial"/>
              </a:rPr>
              <a:t>moderately satisfactory</a:t>
            </a:r>
            <a:r>
              <a:rPr lang="en-US" sz="1400" b="0" i="0" u="none" strike="noStrike" dirty="0">
                <a:highlight>
                  <a:srgbClr val="000000">
                    <a:alpha val="0"/>
                  </a:srgbClr>
                </a:highlight>
                <a:latin typeface="Arial"/>
              </a:rPr>
              <a:t>.</a:t>
            </a:r>
          </a:p>
          <a:p>
            <a:pPr marL="0" indent="0" algn="just">
              <a:buNone/>
            </a:pPr>
            <a:r>
              <a:rPr lang="en-US" sz="1400" b="0" i="0" u="none" strike="noStrike" dirty="0">
                <a:highlight>
                  <a:srgbClr val="000000">
                    <a:alpha val="0"/>
                  </a:srgbClr>
                </a:highlight>
                <a:latin typeface="Arial"/>
              </a:rPr>
              <a:t>CPF reached 100% one of its nine Strategic Objectives (SO); six were mostly hit, and two were "partially hit".</a:t>
            </a:r>
            <a:endParaRPr lang="en-US" dirty="0"/>
          </a:p>
        </p:txBody>
      </p:sp>
      <p:graphicFrame>
        <p:nvGraphicFramePr>
          <p:cNvPr id="7" name="Table 6">
            <a:extLst>
              <a:ext uri="{FF2B5EF4-FFF2-40B4-BE49-F238E27FC236}">
                <a16:creationId xmlns:a16="http://schemas.microsoft.com/office/drawing/2014/main" id="{32DB655D-42A7-4817-899F-7D22316FD394}"/>
              </a:ext>
            </a:extLst>
          </p:cNvPr>
          <p:cNvGraphicFramePr>
            <a:graphicFrameLocks noGrp="1"/>
          </p:cNvGraphicFramePr>
          <p:nvPr>
            <p:extLst>
              <p:ext uri="{D42A27DB-BD31-4B8C-83A1-F6EECF244321}">
                <p14:modId xmlns:p14="http://schemas.microsoft.com/office/powerpoint/2010/main" val="3011176160"/>
              </p:ext>
            </p:extLst>
          </p:nvPr>
        </p:nvGraphicFramePr>
        <p:xfrm>
          <a:off x="676275" y="1721224"/>
          <a:ext cx="10677524" cy="4276751"/>
        </p:xfrm>
        <a:graphic>
          <a:graphicData uri="http://schemas.openxmlformats.org/drawingml/2006/table">
            <a:tbl>
              <a:tblPr firstRow="1" firstCol="1" bandRow="1"/>
              <a:tblGrid>
                <a:gridCol w="1427558">
                  <a:extLst>
                    <a:ext uri="{9D8B030D-6E8A-4147-A177-3AD203B41FA5}">
                      <a16:colId xmlns:a16="http://schemas.microsoft.com/office/drawing/2014/main" val="3118927508"/>
                    </a:ext>
                  </a:extLst>
                </a:gridCol>
                <a:gridCol w="6525977">
                  <a:extLst>
                    <a:ext uri="{9D8B030D-6E8A-4147-A177-3AD203B41FA5}">
                      <a16:colId xmlns:a16="http://schemas.microsoft.com/office/drawing/2014/main" val="1649127289"/>
                    </a:ext>
                  </a:extLst>
                </a:gridCol>
                <a:gridCol w="2553741">
                  <a:extLst>
                    <a:ext uri="{9D8B030D-6E8A-4147-A177-3AD203B41FA5}">
                      <a16:colId xmlns:a16="http://schemas.microsoft.com/office/drawing/2014/main" val="3918980264"/>
                    </a:ext>
                  </a:extLst>
                </a:gridCol>
                <a:gridCol w="170248">
                  <a:extLst>
                    <a:ext uri="{9D8B030D-6E8A-4147-A177-3AD203B41FA5}">
                      <a16:colId xmlns:a16="http://schemas.microsoft.com/office/drawing/2014/main" val="2105357082"/>
                    </a:ext>
                  </a:extLst>
                </a:gridCol>
              </a:tblGrid>
              <a:tr h="251795">
                <a:tc gridSpan="2">
                  <a:txBody>
                    <a:bodyPr/>
                    <a:lstStyle/>
                    <a:p>
                      <a:pPr marL="0" marR="0" algn="ctr">
                        <a:lnSpc>
                          <a:spcPct val="107000"/>
                        </a:lnSpc>
                        <a:spcBef>
                          <a:spcPts val="0"/>
                        </a:spcBef>
                        <a:spcAft>
                          <a:spcPts val="0"/>
                        </a:spcAft>
                      </a:pPr>
                      <a:r>
                        <a:rPr lang="pt-BR" sz="1300" b="1" dirty="0">
                          <a:solidFill>
                            <a:srgbClr val="000000"/>
                          </a:solidFill>
                          <a:effectLst/>
                          <a:latin typeface="+mn-lt"/>
                          <a:ea typeface="Times New Roman" panose="02020603050405020304" pitchFamily="18" charset="0"/>
                          <a:cs typeface="Times New Roman" panose="02020603050405020304" pitchFamily="18" charset="0"/>
                        </a:rPr>
                        <a:t>Focus Area /Strategic Objective</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dirty="0"/>
                    </a:p>
                  </a:txBody>
                  <a:tcPr/>
                </a:tc>
                <a:tc>
                  <a:txBody>
                    <a:bodyPr/>
                    <a:lstStyle/>
                    <a:p>
                      <a:pPr marL="0" marR="0" algn="ctr">
                        <a:lnSpc>
                          <a:spcPct val="107000"/>
                        </a:lnSpc>
                        <a:spcBef>
                          <a:spcPts val="0"/>
                        </a:spcBef>
                        <a:spcAft>
                          <a:spcPts val="0"/>
                        </a:spcAft>
                      </a:pPr>
                      <a:r>
                        <a:rPr lang="pt-BR" sz="1300" b="1" dirty="0">
                          <a:solidFill>
                            <a:srgbClr val="000000"/>
                          </a:solidFill>
                          <a:effectLst/>
                          <a:latin typeface="+mn-lt"/>
                          <a:ea typeface="Times New Roman" panose="02020603050405020304" pitchFamily="18" charset="0"/>
                          <a:cs typeface="Times New Roman" panose="02020603050405020304" pitchFamily="18" charset="0"/>
                        </a:rPr>
                        <a:t>Classification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36956950"/>
                  </a:ext>
                </a:extLst>
              </a:tr>
              <a:tr h="251795">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Focus Area 1: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gridSpan="3">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Promote diversified growth and enhanced productivity – Moderately Satisfactory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0130769"/>
                  </a:ext>
                </a:extLst>
              </a:tr>
              <a:tr h="351623">
                <a:tc gridSpan="2">
                  <a:txBody>
                    <a:bodyPr/>
                    <a:lstStyle/>
                    <a:p>
                      <a:pPr marL="0" marR="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1: Improved economic management</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93988670"/>
                  </a:ext>
                </a:extLst>
              </a:tr>
              <a:tr h="556526">
                <a:tc gridSpan="2">
                  <a:txBody>
                    <a:bodyPr/>
                    <a:lstStyle/>
                    <a:p>
                      <a:pPr marL="0" marR="0" algn="l">
                        <a:lnSpc>
                          <a:spcPct val="70000"/>
                        </a:lnSpc>
                        <a:spcBef>
                          <a:spcPts val="0"/>
                        </a:spcBef>
                        <a:spcAft>
                          <a:spcPts val="0"/>
                        </a:spcAft>
                      </a:pPr>
                      <a:r>
                        <a:rPr lang="en-US" sz="1300" dirty="0">
                          <a:effectLst/>
                          <a:latin typeface="+mn-lt"/>
                          <a:ea typeface="Times New Roman" panose="02020603050405020304" pitchFamily="18" charset="0"/>
                          <a:cs typeface="Times New Roman" panose="02020603050405020304" pitchFamily="18" charset="0"/>
                        </a:rPr>
                        <a:t>Objective 2: Increase in Agricultural Income and Increase in Land Security</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878411351"/>
                  </a:ext>
                </a:extLst>
              </a:tr>
              <a:tr h="351623">
                <a:tc gridSpan="2">
                  <a:txBody>
                    <a:bodyPr/>
                    <a:lstStyle/>
                    <a:p>
                      <a:pPr marL="0" marR="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3: Improve the Business Environment for Job Creation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Partially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422386611"/>
                  </a:ext>
                </a:extLst>
              </a:tr>
              <a:tr h="298667">
                <a:tc gridSpan="2">
                  <a:txBody>
                    <a:bodyPr/>
                    <a:lstStyle/>
                    <a:p>
                      <a:pPr marL="0" marR="0" algn="l">
                        <a:lnSpc>
                          <a:spcPct val="70000"/>
                        </a:lnSpc>
                        <a:spcBef>
                          <a:spcPts val="0"/>
                        </a:spcBef>
                        <a:spcAft>
                          <a:spcPts val="0"/>
                        </a:spcAft>
                      </a:pPr>
                      <a:r>
                        <a:rPr lang="en-US" sz="1300" b="1" dirty="0">
                          <a:solidFill>
                            <a:srgbClr val="000000"/>
                          </a:solidFill>
                          <a:effectLst/>
                          <a:latin typeface="+mn-lt"/>
                          <a:ea typeface="Times New Roman" panose="02020603050405020304" pitchFamily="18" charset="0"/>
                          <a:cs typeface="Times New Roman" panose="02020603050405020304" pitchFamily="18" charset="0"/>
                        </a:rPr>
                        <a:t>Objective 4: Expand Access and Improve Electricity Reliability</a:t>
                      </a:r>
                      <a:endParaRPr lang="en-US" sz="1300" b="1"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kern="1200" dirty="0">
                          <a:solidFill>
                            <a:srgbClr val="000000"/>
                          </a:solidFill>
                          <a:effectLst/>
                          <a:latin typeface="+mn-lt"/>
                          <a:ea typeface="Times New Roman" panose="02020603050405020304" pitchFamily="18" charset="0"/>
                          <a:cs typeface="Times New Roman" panose="02020603050405020304" pitchFamily="18" charset="0"/>
                        </a:rPr>
                        <a:t>Achieved </a:t>
                      </a:r>
                      <a:r>
                        <a:rPr lang="en-US" sz="1300" dirty="0">
                          <a:solidFill>
                            <a:srgbClr val="000000"/>
                          </a:solidFill>
                          <a:effectLst/>
                          <a:latin typeface="+mn-lt"/>
                          <a:ea typeface="Times New Roman" panose="02020603050405020304" pitchFamily="18" charset="0"/>
                          <a:cs typeface="Times New Roman" panose="02020603050405020304" pitchFamily="18" charset="0"/>
                        </a:rPr>
                        <a:t>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201050771"/>
                  </a:ext>
                </a:extLst>
              </a:tr>
              <a:tr h="209486">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Focus Area 2: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Investing in Human Capital – Moderately Satisfactory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16383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638501185"/>
                  </a:ext>
                </a:extLst>
              </a:tr>
              <a:tr h="251795">
                <a:tc gridSpan="2">
                  <a:txBody>
                    <a:bodyPr/>
                    <a:lstStyle/>
                    <a:p>
                      <a:pPr marL="0" marR="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5: Improve the Competency Base</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t>
                      </a:r>
                      <a:r>
                        <a:rPr lang="en-US" sz="1300" dirty="0" err="1">
                          <a:solidFill>
                            <a:srgbClr val="000000"/>
                          </a:solidFill>
                          <a:effectLst/>
                          <a:latin typeface="+mn-lt"/>
                          <a:ea typeface="Times New Roman" panose="02020603050405020304" pitchFamily="18" charset="0"/>
                          <a:cs typeface="Times New Roman" panose="02020603050405020304" pitchFamily="18" charset="0"/>
                        </a:rPr>
                        <a:t>acheived</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071956371"/>
                  </a:ext>
                </a:extLst>
              </a:tr>
              <a:tr h="334803">
                <a:tc gridSpan="2">
                  <a:txBody>
                    <a:bodyPr/>
                    <a:lstStyle/>
                    <a:p>
                      <a:pPr marL="0" marR="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6: Improve Health Service Delivery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t>
                      </a:r>
                      <a:r>
                        <a:rPr lang="en-US" sz="1300" dirty="0" err="1">
                          <a:solidFill>
                            <a:srgbClr val="000000"/>
                          </a:solidFill>
                          <a:effectLst/>
                          <a:latin typeface="+mn-lt"/>
                          <a:ea typeface="Times New Roman" panose="02020603050405020304" pitchFamily="18" charset="0"/>
                          <a:cs typeface="Times New Roman" panose="02020603050405020304" pitchFamily="18" charset="0"/>
                        </a:rPr>
                        <a:t>acheived</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159681145"/>
                  </a:ext>
                </a:extLst>
              </a:tr>
              <a:tr h="328322">
                <a:tc gridSpan="2">
                  <a:txBody>
                    <a:bodyPr/>
                    <a:lstStyle/>
                    <a:p>
                      <a:pPr marL="0" marR="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Objective 7: Improve Access to Water and Sanitation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107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Mostly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2866303018"/>
                  </a:ext>
                </a:extLst>
              </a:tr>
              <a:tr h="343363">
                <a:tc>
                  <a:txBody>
                    <a:bodyPr/>
                    <a:lstStyle/>
                    <a:p>
                      <a:pPr marL="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Focus Area 3: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gridSpan="3">
                  <a:txBody>
                    <a:bodyPr/>
                    <a:lstStyle/>
                    <a:p>
                      <a:pPr marL="163830" marR="0" algn="l">
                        <a:lnSpc>
                          <a:spcPct val="107000"/>
                        </a:lnSpc>
                        <a:spcBef>
                          <a:spcPts val="0"/>
                        </a:spcBef>
                        <a:spcAft>
                          <a:spcPts val="0"/>
                        </a:spcAft>
                      </a:pPr>
                      <a:r>
                        <a:rPr lang="en-US" sz="1300" dirty="0">
                          <a:solidFill>
                            <a:srgbClr val="FFFFFF"/>
                          </a:solidFill>
                          <a:effectLst/>
                          <a:latin typeface="+mn-lt"/>
                          <a:ea typeface="Times New Roman" panose="02020603050405020304" pitchFamily="18" charset="0"/>
                          <a:cs typeface="Times New Roman" panose="02020603050405020304" pitchFamily="18" charset="0"/>
                        </a:rPr>
                        <a:t>Strengthening Sustainability and Resilience - Moderately Satisfactory</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07405816"/>
                  </a:ext>
                </a:extLst>
              </a:tr>
              <a:tr h="395330">
                <a:tc gridSpan="2">
                  <a:txBody>
                    <a:bodyPr/>
                    <a:lstStyle/>
                    <a:p>
                      <a:pPr marL="0" marR="0" algn="l">
                        <a:lnSpc>
                          <a:spcPct val="70000"/>
                        </a:lnSpc>
                        <a:spcBef>
                          <a:spcPts val="0"/>
                        </a:spcBef>
                        <a:spcAft>
                          <a:spcPts val="0"/>
                        </a:spcAft>
                      </a:pPr>
                      <a:r>
                        <a:rPr lang="en-US" sz="1300" b="1" dirty="0">
                          <a:solidFill>
                            <a:srgbClr val="000000"/>
                          </a:solidFill>
                          <a:effectLst/>
                          <a:latin typeface="+mn-lt"/>
                          <a:ea typeface="Times New Roman" panose="02020603050405020304" pitchFamily="18" charset="0"/>
                          <a:cs typeface="Times New Roman" panose="02020603050405020304" pitchFamily="18" charset="0"/>
                        </a:rPr>
                        <a:t>Objective 8: Support for Recovery and Resilience</a:t>
                      </a:r>
                      <a:endParaRPr lang="en-US" sz="1300" b="1"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just">
                        <a:lnSpc>
                          <a:spcPct val="70000"/>
                        </a:lnSpc>
                        <a:spcBef>
                          <a:spcPts val="0"/>
                        </a:spcBef>
                        <a:spcAft>
                          <a:spcPts val="0"/>
                        </a:spcAft>
                      </a:pPr>
                      <a:r>
                        <a:rPr lang="en-US" sz="1300" dirty="0">
                          <a:effectLst/>
                          <a:latin typeface="+mn-lt"/>
                          <a:ea typeface="Times New Roman" panose="02020603050405020304" pitchFamily="18" charset="0"/>
                          <a:cs typeface="Times New Roman" panose="02020603050405020304" pitchFamily="18" charset="0"/>
                        </a:rPr>
                        <a:t>Mostly achieved 
</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30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92229537"/>
                  </a:ext>
                </a:extLst>
              </a:tr>
              <a:tr h="351623">
                <a:tc gridSpan="2">
                  <a:txBody>
                    <a:bodyPr/>
                    <a:lstStyle/>
                    <a:p>
                      <a:pPr marL="0" marR="0" algn="l">
                        <a:lnSpc>
                          <a:spcPct val="70000"/>
                        </a:lnSpc>
                        <a:spcBef>
                          <a:spcPts val="0"/>
                        </a:spcBef>
                        <a:spcAft>
                          <a:spcPts val="0"/>
                        </a:spcAft>
                      </a:pPr>
                      <a:r>
                        <a:rPr lang="pt-BR" sz="1300" dirty="0">
                          <a:solidFill>
                            <a:srgbClr val="000000"/>
                          </a:solidFill>
                          <a:effectLst/>
                          <a:latin typeface="+mn-lt"/>
                          <a:ea typeface="Times New Roman" panose="02020603050405020304" pitchFamily="18" charset="0"/>
                          <a:cs typeface="Times New Roman" panose="02020603050405020304" pitchFamily="18" charset="0"/>
                        </a:rPr>
                        <a:t>Objective9: </a:t>
                      </a:r>
                      <a:r>
                        <a:rPr lang="en-US" sz="1300" dirty="0">
                          <a:solidFill>
                            <a:srgbClr val="000000"/>
                          </a:solidFill>
                          <a:effectLst/>
                          <a:latin typeface="+mn-lt"/>
                          <a:ea typeface="Times New Roman" panose="02020603050405020304" pitchFamily="18" charset="0"/>
                          <a:cs typeface="Times New Roman" panose="02020603050405020304" pitchFamily="18" charset="0"/>
                        </a:rPr>
                        <a:t>Promote Inclusive Urbanization and Decentralization</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a:txBody>
                    <a:bodyPr/>
                    <a:lstStyle/>
                    <a:p>
                      <a:pPr marL="163830" marR="0" indent="114300" algn="l">
                        <a:lnSpc>
                          <a:spcPct val="70000"/>
                        </a:lnSpc>
                        <a:spcBef>
                          <a:spcPts val="0"/>
                        </a:spcBef>
                        <a:spcAft>
                          <a:spcPts val="0"/>
                        </a:spcAft>
                      </a:pPr>
                      <a:r>
                        <a:rPr lang="en-US" sz="1300" dirty="0">
                          <a:solidFill>
                            <a:srgbClr val="000000"/>
                          </a:solidFill>
                          <a:effectLst/>
                          <a:latin typeface="+mn-lt"/>
                          <a:ea typeface="Times New Roman" panose="02020603050405020304" pitchFamily="18" charset="0"/>
                          <a:cs typeface="Times New Roman" panose="02020603050405020304" pitchFamily="18" charset="0"/>
                        </a:rPr>
                        <a:t>Partially achieved 
</a:t>
                      </a:r>
                      <a:endParaRPr lang="en-US" sz="1300" dirty="0">
                        <a:effectLst/>
                        <a:latin typeface="+mn-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07000"/>
                        </a:lnSpc>
                        <a:spcBef>
                          <a:spcPts val="0"/>
                        </a:spcBef>
                        <a:spcAft>
                          <a:spcPts val="0"/>
                        </a:spcAft>
                      </a:pPr>
                      <a:r>
                        <a:rPr lang="en-US" sz="1300" dirty="0">
                          <a:effectLst/>
                          <a:latin typeface="+mn-lt"/>
                          <a:ea typeface="Times New Roman" panose="02020603050405020304" pitchFamily="18"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212770644"/>
                  </a:ext>
                </a:extLst>
              </a:tr>
            </a:tbl>
          </a:graphicData>
        </a:graphic>
      </p:graphicFrame>
      <p:sp>
        <p:nvSpPr>
          <p:cNvPr id="9" name="TextBox 8">
            <a:extLst>
              <a:ext uri="{FF2B5EF4-FFF2-40B4-BE49-F238E27FC236}">
                <a16:creationId xmlns:a16="http://schemas.microsoft.com/office/drawing/2014/main" id="{6122B999-DE86-4BC0-AC20-DE5BD83111C8}"/>
              </a:ext>
            </a:extLst>
          </p:cNvPr>
          <p:cNvSpPr txBox="1"/>
          <p:nvPr/>
        </p:nvSpPr>
        <p:spPr>
          <a:xfrm>
            <a:off x="534297" y="5932887"/>
            <a:ext cx="10981428" cy="430887"/>
          </a:xfrm>
          <a:prstGeom prst="rect">
            <a:avLst/>
          </a:prstGeom>
          <a:noFill/>
        </p:spPr>
        <p:txBody>
          <a:bodyPr wrap="square">
            <a:spAutoFit/>
          </a:bodyPr>
          <a:lstStyle/>
          <a:p>
            <a:pPr marL="0" indent="0">
              <a:buNone/>
            </a:pPr>
            <a:r>
              <a:rPr lang="en-US" sz="1100" i="1" dirty="0">
                <a:latin typeface="+mj-lt"/>
              </a:rPr>
              <a:t>The classification of objectives follows the category of “achieved”, “mostly achieved”, and “partially achieved”, and “not achieved”, depending on the level of achievement of indicators and the existence of qualitative evidence.</a:t>
            </a:r>
          </a:p>
        </p:txBody>
      </p:sp>
      <p:sp>
        <p:nvSpPr>
          <p:cNvPr id="11" name="Footer Placeholder 10">
            <a:extLst>
              <a:ext uri="{FF2B5EF4-FFF2-40B4-BE49-F238E27FC236}">
                <a16:creationId xmlns:a16="http://schemas.microsoft.com/office/drawing/2014/main" id="{49100E84-E54D-4FC1-B0A7-C901995EB704}"/>
              </a:ext>
            </a:extLst>
          </p:cNvPr>
          <p:cNvSpPr>
            <a:spLocks noGrp="1"/>
          </p:cNvSpPr>
          <p:nvPr>
            <p:ph type="ftr" sz="quarter" idx="11"/>
          </p:nvPr>
        </p:nvSpPr>
        <p:spPr/>
        <p:txBody>
          <a:bodyPr/>
          <a:lstStyle/>
          <a:p>
            <a:r>
              <a:rPr lang="en-US"/>
              <a:t>CPF 2023-2027. Public Version. Maputo, May 2022.</a:t>
            </a:r>
            <a:endParaRPr lang="en-US" dirty="0"/>
          </a:p>
        </p:txBody>
      </p:sp>
      <p:sp>
        <p:nvSpPr>
          <p:cNvPr id="12" name="Slide Number Placeholder 11">
            <a:extLst>
              <a:ext uri="{FF2B5EF4-FFF2-40B4-BE49-F238E27FC236}">
                <a16:creationId xmlns:a16="http://schemas.microsoft.com/office/drawing/2014/main" id="{DCA6AA61-52B4-4F2B-A9A8-A05E87711509}"/>
              </a:ext>
            </a:extLst>
          </p:cNvPr>
          <p:cNvSpPr>
            <a:spLocks noGrp="1"/>
          </p:cNvSpPr>
          <p:nvPr>
            <p:ph type="sldNum" sz="quarter" idx="12"/>
          </p:nvPr>
        </p:nvSpPr>
        <p:spPr/>
        <p:txBody>
          <a:bodyPr/>
          <a:lstStyle/>
          <a:p>
            <a:fld id="{B8473C9A-9E91-4025-B5E2-D7B202510636}" type="slidenum">
              <a:rPr lang="en-US" smtClean="0"/>
              <a:t>12</a:t>
            </a:fld>
            <a:endParaRPr lang="en-US" dirty="0"/>
          </a:p>
        </p:txBody>
      </p:sp>
      <p:pic>
        <p:nvPicPr>
          <p:cNvPr id="4" name="Picture 3">
            <a:extLst>
              <a:ext uri="{FF2B5EF4-FFF2-40B4-BE49-F238E27FC236}">
                <a16:creationId xmlns:a16="http://schemas.microsoft.com/office/drawing/2014/main" id="{2398D764-93B7-4422-BA17-F14E0FDF98F1}"/>
              </a:ext>
            </a:extLst>
          </p:cNvPr>
          <p:cNvPicPr>
            <a:picLocks noChangeAspect="1"/>
          </p:cNvPicPr>
          <p:nvPr/>
        </p:nvPicPr>
        <p:blipFill>
          <a:blip r:embed="rId2"/>
          <a:stretch>
            <a:fillRect/>
          </a:stretch>
        </p:blipFill>
        <p:spPr>
          <a:xfrm>
            <a:off x="534297" y="123148"/>
            <a:ext cx="2316681" cy="463336"/>
          </a:xfrm>
          <a:prstGeom prst="rect">
            <a:avLst/>
          </a:prstGeom>
        </p:spPr>
      </p:pic>
    </p:spTree>
    <p:extLst>
      <p:ext uri="{BB962C8B-B14F-4D97-AF65-F5344CB8AC3E}">
        <p14:creationId xmlns:p14="http://schemas.microsoft.com/office/powerpoint/2010/main" val="89322810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D587-1EC5-4652-83A4-1E754AF01E64}"/>
              </a:ext>
            </a:extLst>
          </p:cNvPr>
          <p:cNvSpPr>
            <a:spLocks noGrp="1"/>
          </p:cNvSpPr>
          <p:nvPr>
            <p:ph type="title"/>
          </p:nvPr>
        </p:nvSpPr>
        <p:spPr>
          <a:xfrm>
            <a:off x="3238724" y="165474"/>
            <a:ext cx="10515600" cy="813680"/>
          </a:xfrm>
        </p:spPr>
        <p:txBody>
          <a:bodyPr>
            <a:noAutofit/>
          </a:bodyPr>
          <a:lstStyle/>
          <a:p>
            <a:r>
              <a:rPr lang="en-US" sz="2400" dirty="0"/>
              <a:t>CPF FY2017-2021: Lessons Learned
</a:t>
            </a:r>
            <a:endParaRPr lang="pt" sz="24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43620D38-256E-4067-AE12-400CAF4C9E44}"/>
              </a:ext>
            </a:extLst>
          </p:cNvPr>
          <p:cNvSpPr>
            <a:spLocks noGrp="1"/>
          </p:cNvSpPr>
          <p:nvPr>
            <p:ph idx="1"/>
          </p:nvPr>
        </p:nvSpPr>
        <p:spPr>
          <a:xfrm>
            <a:off x="838200" y="980501"/>
            <a:ext cx="10515600" cy="5640635"/>
          </a:xfrm>
        </p:spPr>
        <p:txBody>
          <a:bodyPr>
            <a:noAutofit/>
          </a:bodyPr>
          <a:lstStyle/>
          <a:p>
            <a:pPr marL="365760" lvl="3" indent="-342900" algn="just">
              <a:spcBef>
                <a:spcPts val="1200"/>
              </a:spcBef>
              <a:buFont typeface="+mj-lt"/>
              <a:buAutoNum type="arabicPeriod"/>
            </a:pPr>
            <a:r>
              <a:rPr lang="en-US" b="1" dirty="0">
                <a:highlight>
                  <a:srgbClr val="000000">
                    <a:alpha val="0"/>
                  </a:srgbClr>
                </a:highlight>
              </a:rPr>
              <a:t>Importance of a solid alignment with the Government's objectives, </a:t>
            </a:r>
            <a:r>
              <a:rPr lang="en-US" dirty="0">
                <a:highlight>
                  <a:srgbClr val="000000">
                    <a:alpha val="0"/>
                  </a:srgbClr>
                </a:highlight>
              </a:rPr>
              <a:t>the use of additional resources, the use of a series of financing instruments and others (extra financing).</a:t>
            </a:r>
          </a:p>
          <a:p>
            <a:pPr marL="365760" lvl="3" indent="0" algn="just">
              <a:spcBef>
                <a:spcPts val="1200"/>
              </a:spcBef>
              <a:buNone/>
            </a:pPr>
            <a:r>
              <a:rPr lang="pt" b="1" dirty="0">
                <a:highlight>
                  <a:srgbClr val="000000">
                    <a:alpha val="0"/>
                  </a:srgbClr>
                </a:highlight>
              </a:rPr>
              <a:t>	</a:t>
            </a:r>
            <a:r>
              <a:rPr lang="en-US" b="1" dirty="0">
                <a:highlight>
                  <a:srgbClr val="000000">
                    <a:alpha val="0"/>
                  </a:srgbClr>
                </a:highlight>
              </a:rPr>
              <a:t>Flexibility</a:t>
            </a:r>
            <a:r>
              <a:rPr lang="en-US" dirty="0">
                <a:highlight>
                  <a:srgbClr val="000000">
                    <a:alpha val="0"/>
                  </a:srgbClr>
                </a:highlight>
              </a:rPr>
              <a:t> to quickly adjust the program to changing realities and new government priorities.</a:t>
            </a:r>
            <a:endParaRPr lang="pt" dirty="0">
              <a:highlight>
                <a:srgbClr val="000000">
                  <a:alpha val="0"/>
                </a:srgbClr>
              </a:highlight>
            </a:endParaRPr>
          </a:p>
          <a:p>
            <a:pPr marL="365760" lvl="3" indent="-342900" algn="just">
              <a:spcBef>
                <a:spcPts val="1200"/>
              </a:spcBef>
              <a:buFont typeface="+mj-lt"/>
              <a:buAutoNum type="arabicPeriod" startAt="2"/>
            </a:pPr>
            <a:r>
              <a:rPr lang="en-US" b="1" i="0" u="none" strike="noStrike" dirty="0">
                <a:highlight>
                  <a:srgbClr val="000000">
                    <a:alpha val="0"/>
                  </a:srgbClr>
                </a:highlight>
                <a:latin typeface="Arial"/>
              </a:rPr>
              <a:t>Continued support for crisis response, </a:t>
            </a:r>
            <a:r>
              <a:rPr lang="en-US" i="0" u="none" strike="noStrike" dirty="0">
                <a:highlight>
                  <a:srgbClr val="000000">
                    <a:alpha val="0"/>
                  </a:srgbClr>
                </a:highlight>
                <a:latin typeface="Arial"/>
              </a:rPr>
              <a:t>preparedness, and prevention evidenced by the previous CPF focus on recovery and resilience – in which the WBG leveraged its technical expertise and resource mobilization power to increase response capacities and invest in prevention .</a:t>
            </a:r>
            <a:r>
              <a:rPr lang="pt" i="0" u="none" strike="noStrike" dirty="0">
                <a:highlight>
                  <a:srgbClr val="000000">
                    <a:alpha val="0"/>
                  </a:srgbClr>
                </a:highlight>
                <a:latin typeface="Arial"/>
              </a:rPr>
              <a:t> </a:t>
            </a:r>
          </a:p>
          <a:p>
            <a:pPr marL="365760" lvl="3" indent="-342900" algn="just">
              <a:spcBef>
                <a:spcPts val="1200"/>
              </a:spcBef>
              <a:buFont typeface="+mj-lt"/>
              <a:buAutoNum type="arabicPeriod" startAt="2"/>
            </a:pPr>
            <a:r>
              <a:rPr lang="en-US" b="1" i="0" u="none" strike="noStrike" dirty="0">
                <a:highlight>
                  <a:srgbClr val="000000">
                    <a:alpha val="0"/>
                  </a:srgbClr>
                </a:highlight>
                <a:latin typeface="Arial"/>
              </a:rPr>
              <a:t>Poverty and agriculture. </a:t>
            </a:r>
            <a:r>
              <a:rPr lang="en-US" i="0" u="none" strike="noStrike" dirty="0">
                <a:highlight>
                  <a:srgbClr val="000000">
                    <a:alpha val="0"/>
                  </a:srgbClr>
                </a:highlight>
                <a:latin typeface="Arial"/>
              </a:rPr>
              <a:t>While support for agricultural productivity and rural development represents up to 30 percent of the WB's overall financial allocation, support for agricultural productivity and rural development appears to have contributed only marginally to the increase in aggregate agricultural productivity and, thereby</a:t>
            </a:r>
            <a:r>
              <a:rPr lang="en-US" i="0" u="none" strike="noStrike">
                <a:highlight>
                  <a:srgbClr val="000000">
                    <a:alpha val="0"/>
                  </a:srgbClr>
                </a:highlight>
                <a:latin typeface="Arial"/>
              </a:rPr>
              <a:t>, </a:t>
            </a:r>
            <a:r>
              <a:rPr lang="en-US">
                <a:highlight>
                  <a:srgbClr val="000000">
                    <a:alpha val="0"/>
                  </a:srgbClr>
                </a:highlight>
                <a:latin typeface="Arial"/>
              </a:rPr>
              <a:t>to</a:t>
            </a:r>
            <a:r>
              <a:rPr lang="en-US" i="0" u="none" strike="noStrike">
                <a:highlight>
                  <a:srgbClr val="000000">
                    <a:alpha val="0"/>
                  </a:srgbClr>
                </a:highlight>
                <a:latin typeface="Arial"/>
              </a:rPr>
              <a:t> </a:t>
            </a:r>
            <a:r>
              <a:rPr lang="en-US" i="0" u="none" strike="noStrike" dirty="0">
                <a:highlight>
                  <a:srgbClr val="000000">
                    <a:alpha val="0"/>
                  </a:srgbClr>
                </a:highlight>
                <a:latin typeface="Arial"/>
              </a:rPr>
              <a:t>poverty reduction.</a:t>
            </a:r>
          </a:p>
          <a:p>
            <a:pPr marL="365760" lvl="3" indent="-342900" algn="just">
              <a:spcBef>
                <a:spcPts val="1200"/>
              </a:spcBef>
              <a:buFont typeface="+mj-lt"/>
              <a:buAutoNum type="arabicPeriod" startAt="2"/>
            </a:pPr>
            <a:r>
              <a:rPr lang="en-US" b="1" dirty="0"/>
              <a:t>A renewed focus on institutional strengthening and economic reforms </a:t>
            </a:r>
            <a:r>
              <a:rPr lang="en-US" dirty="0"/>
              <a:t>could increase the impact of the future CPF, which would involve bringing back budget support operations combined with technical assistance and studies - complemented with other funding instruments when needed.</a:t>
            </a:r>
            <a:endParaRPr lang="en-US" sz="1700" dirty="0"/>
          </a:p>
        </p:txBody>
      </p:sp>
      <p:sp>
        <p:nvSpPr>
          <p:cNvPr id="7" name="Footer Placeholder 6">
            <a:extLst>
              <a:ext uri="{FF2B5EF4-FFF2-40B4-BE49-F238E27FC236}">
                <a16:creationId xmlns:a16="http://schemas.microsoft.com/office/drawing/2014/main" id="{EA26D24A-3B7F-448D-A0A9-325CA054BE8D}"/>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49CB3C9C-220F-4711-ADCB-DE773403F0D2}"/>
              </a:ext>
            </a:extLst>
          </p:cNvPr>
          <p:cNvSpPr>
            <a:spLocks noGrp="1"/>
          </p:cNvSpPr>
          <p:nvPr>
            <p:ph type="sldNum" sz="quarter" idx="12"/>
          </p:nvPr>
        </p:nvSpPr>
        <p:spPr/>
        <p:txBody>
          <a:bodyPr/>
          <a:lstStyle/>
          <a:p>
            <a:fld id="{B8473C9A-9E91-4025-B5E2-D7B202510636}" type="slidenum">
              <a:rPr lang="en-US" smtClean="0"/>
              <a:t>13</a:t>
            </a:fld>
            <a:endParaRPr lang="en-US" dirty="0"/>
          </a:p>
        </p:txBody>
      </p:sp>
      <p:pic>
        <p:nvPicPr>
          <p:cNvPr id="4" name="Picture 3">
            <a:extLst>
              <a:ext uri="{FF2B5EF4-FFF2-40B4-BE49-F238E27FC236}">
                <a16:creationId xmlns:a16="http://schemas.microsoft.com/office/drawing/2014/main" id="{CE072EBA-EE85-483D-962C-E95907C911AA}"/>
              </a:ext>
            </a:extLst>
          </p:cNvPr>
          <p:cNvPicPr>
            <a:picLocks noChangeAspect="1"/>
          </p:cNvPicPr>
          <p:nvPr/>
        </p:nvPicPr>
        <p:blipFill>
          <a:blip r:embed="rId2"/>
          <a:stretch>
            <a:fillRect/>
          </a:stretch>
        </p:blipFill>
        <p:spPr>
          <a:xfrm>
            <a:off x="441859" y="236864"/>
            <a:ext cx="2316681" cy="463336"/>
          </a:xfrm>
          <a:prstGeom prst="rect">
            <a:avLst/>
          </a:prstGeom>
        </p:spPr>
      </p:pic>
    </p:spTree>
    <p:extLst>
      <p:ext uri="{BB962C8B-B14F-4D97-AF65-F5344CB8AC3E}">
        <p14:creationId xmlns:p14="http://schemas.microsoft.com/office/powerpoint/2010/main" val="159121229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BF6E-3F48-4133-BFA3-5A80DFDCB4E2}"/>
              </a:ext>
            </a:extLst>
          </p:cNvPr>
          <p:cNvSpPr>
            <a:spLocks noGrp="1"/>
          </p:cNvSpPr>
          <p:nvPr>
            <p:ph type="title"/>
          </p:nvPr>
        </p:nvSpPr>
        <p:spPr>
          <a:xfrm>
            <a:off x="838200" y="136525"/>
            <a:ext cx="10515600" cy="1325563"/>
          </a:xfrm>
        </p:spPr>
        <p:txBody>
          <a:bodyPr>
            <a:noAutofit/>
          </a:bodyPr>
          <a:lstStyle/>
          <a:p>
            <a:pPr algn="ctr"/>
            <a:r>
              <a:rPr lang="en-US" sz="4000" dirty="0"/>
              <a:t>Presentation structure
</a:t>
            </a:r>
            <a:endParaRPr lang="pt" sz="40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71C13BF-78D7-4831-B2B9-0342F47476B7}"/>
              </a:ext>
            </a:extLst>
          </p:cNvPr>
          <p:cNvSpPr>
            <a:spLocks noGrp="1"/>
          </p:cNvSpPr>
          <p:nvPr>
            <p:ph idx="1"/>
          </p:nvPr>
        </p:nvSpPr>
        <p:spPr>
          <a:xfrm>
            <a:off x="217843" y="1462089"/>
            <a:ext cx="11357385" cy="4648256"/>
          </a:xfrm>
        </p:spPr>
        <p:txBody>
          <a:bodyPr>
            <a:noAutofit/>
          </a:bodyPr>
          <a:lstStyle/>
          <a:p>
            <a:pPr marL="1371600" lvl="3" indent="-571500">
              <a:lnSpc>
                <a:spcPct val="100000"/>
              </a:lnSpc>
              <a:spcBef>
                <a:spcPts val="1200"/>
              </a:spcBef>
              <a:spcAft>
                <a:spcPts val="1200"/>
              </a:spcAft>
              <a:buFont typeface="+mj-lt"/>
              <a:buAutoNum type="romanUcPeriod"/>
            </a:pPr>
            <a:r>
              <a:rPr lang="en-US" sz="3200" b="1" dirty="0">
                <a:solidFill>
                  <a:schemeClr val="bg2">
                    <a:lumMod val="90000"/>
                  </a:schemeClr>
                </a:solidFill>
              </a:rPr>
              <a:t>World Bank Group's view on the country's main strategic challenges   
Main lessons from the previous CPF (2017-2021</a:t>
            </a:r>
            <a:r>
              <a:rPr lang="pt-BR" sz="3200" b="1" i="0" u="none" strike="noStrike" dirty="0">
                <a:solidFill>
                  <a:schemeClr val="bg2">
                    <a:lumMod val="90000"/>
                  </a:schemeClr>
                </a:solidFill>
                <a:highlight>
                  <a:srgbClr val="000000">
                    <a:alpha val="0"/>
                  </a:srgbClr>
                </a:highlight>
                <a:latin typeface="Arial"/>
              </a:rPr>
              <a:t>)</a:t>
            </a:r>
          </a:p>
          <a:p>
            <a:pPr marL="1371600" lvl="3" indent="-571500">
              <a:lnSpc>
                <a:spcPct val="100000"/>
              </a:lnSpc>
              <a:spcBef>
                <a:spcPts val="1200"/>
              </a:spcBef>
              <a:spcAft>
                <a:spcPts val="1200"/>
              </a:spcAft>
              <a:buFont typeface="+mj-lt"/>
              <a:buAutoNum type="romanUcPeriod"/>
            </a:pPr>
            <a:r>
              <a:rPr lang="en-US" sz="3200" b="1" dirty="0"/>
              <a:t>Initial Proposal for CPF 2023-2027</a:t>
            </a:r>
            <a:endParaRPr lang="pt" sz="3200" b="1" i="0" u="none" strike="noStrike"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7A6A430E-5458-416E-A9AB-A23A8820A72E}"/>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4D9E7C67-67A0-4D86-94F9-54FE0825882C}"/>
              </a:ext>
            </a:extLst>
          </p:cNvPr>
          <p:cNvSpPr>
            <a:spLocks noGrp="1"/>
          </p:cNvSpPr>
          <p:nvPr>
            <p:ph type="sldNum" sz="quarter" idx="12"/>
          </p:nvPr>
        </p:nvSpPr>
        <p:spPr/>
        <p:txBody>
          <a:bodyPr/>
          <a:lstStyle/>
          <a:p>
            <a:fld id="{B8473C9A-9E91-4025-B5E2-D7B202510636}" type="slidenum">
              <a:rPr lang="en-US" smtClean="0"/>
              <a:t>14</a:t>
            </a:fld>
            <a:endParaRPr lang="en-US" dirty="0"/>
          </a:p>
        </p:txBody>
      </p:sp>
      <p:pic>
        <p:nvPicPr>
          <p:cNvPr id="4" name="Picture 3">
            <a:extLst>
              <a:ext uri="{FF2B5EF4-FFF2-40B4-BE49-F238E27FC236}">
                <a16:creationId xmlns:a16="http://schemas.microsoft.com/office/drawing/2014/main" id="{B1281B00-F5BC-4B51-A637-214484886365}"/>
              </a:ext>
            </a:extLst>
          </p:cNvPr>
          <p:cNvPicPr>
            <a:picLocks noChangeAspect="1"/>
          </p:cNvPicPr>
          <p:nvPr/>
        </p:nvPicPr>
        <p:blipFill>
          <a:blip r:embed="rId2"/>
          <a:stretch>
            <a:fillRect/>
          </a:stretch>
        </p:blipFill>
        <p:spPr>
          <a:xfrm>
            <a:off x="217843" y="284319"/>
            <a:ext cx="2316681" cy="463336"/>
          </a:xfrm>
          <a:prstGeom prst="rect">
            <a:avLst/>
          </a:prstGeom>
        </p:spPr>
      </p:pic>
    </p:spTree>
    <p:extLst>
      <p:ext uri="{BB962C8B-B14F-4D97-AF65-F5344CB8AC3E}">
        <p14:creationId xmlns:p14="http://schemas.microsoft.com/office/powerpoint/2010/main" val="156690918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FB915-6269-468D-BE41-290933A67848}"/>
              </a:ext>
            </a:extLst>
          </p:cNvPr>
          <p:cNvSpPr>
            <a:spLocks noGrp="1"/>
          </p:cNvSpPr>
          <p:nvPr>
            <p:ph type="title"/>
          </p:nvPr>
        </p:nvSpPr>
        <p:spPr>
          <a:xfrm>
            <a:off x="210151" y="117383"/>
            <a:ext cx="11674365" cy="974115"/>
          </a:xfrm>
        </p:spPr>
        <p:txBody>
          <a:bodyPr>
            <a:noAutofit/>
          </a:bodyPr>
          <a:lstStyle/>
          <a:p>
            <a:pPr algn="r" rtl="0"/>
            <a:r>
              <a:rPr lang="en-US" sz="2400" b="1" i="0" u="none" strike="noStrike" dirty="0">
                <a:highlight>
                  <a:srgbClr val="000000">
                    <a:alpha val="0"/>
                  </a:srgbClr>
                </a:highlight>
                <a:latin typeface="Arial"/>
              </a:rPr>
              <a:t>Government Program and Medium-Term Strategy (1-2)</a:t>
            </a:r>
            <a:endParaRPr lang="pt" sz="2400" b="1" i="0"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AB67758D-AD88-4CBF-86DB-74D79CEE14E6}"/>
              </a:ext>
            </a:extLst>
          </p:cNvPr>
          <p:cNvSpPr>
            <a:spLocks noGrp="1"/>
          </p:cNvSpPr>
          <p:nvPr>
            <p:ph idx="1"/>
          </p:nvPr>
        </p:nvSpPr>
        <p:spPr>
          <a:xfrm>
            <a:off x="2885431" y="920048"/>
            <a:ext cx="9096418" cy="5436302"/>
          </a:xfrm>
        </p:spPr>
        <p:txBody>
          <a:bodyPr>
            <a:noAutofit/>
          </a:bodyPr>
          <a:lstStyle/>
          <a:p>
            <a:pPr algn="just" rtl="0">
              <a:lnSpc>
                <a:spcPct val="100000"/>
              </a:lnSpc>
            </a:pPr>
            <a:r>
              <a:rPr lang="en-US" sz="1400" b="1" i="0" u="none" strike="noStrike" dirty="0">
                <a:highlight>
                  <a:srgbClr val="000000">
                    <a:alpha val="0"/>
                  </a:srgbClr>
                </a:highlight>
                <a:latin typeface="Arial"/>
              </a:rPr>
              <a:t>The Government of Mozambique has been preparing a National Development Strategy (ENDE) for 2015-2030. </a:t>
            </a:r>
            <a:r>
              <a:rPr lang="en-US" sz="1400" i="0" u="none" strike="noStrike" dirty="0">
                <a:highlight>
                  <a:srgbClr val="000000">
                    <a:alpha val="0"/>
                  </a:srgbClr>
                </a:highlight>
                <a:latin typeface="Arial"/>
              </a:rPr>
              <a:t>Following the framework defined in this strategy, the government subsequently defines sectoral and territorial development plans; the corresponding five-year plans; the medium-term fiscal scenario and the social, economic and state budget plan.</a:t>
            </a:r>
          </a:p>
          <a:p>
            <a:pPr algn="just" rtl="0">
              <a:lnSpc>
                <a:spcPct val="100000"/>
              </a:lnSpc>
            </a:pPr>
            <a:r>
              <a:rPr lang="en-US" sz="1400" b="1" i="0" u="none" strike="noStrike" dirty="0">
                <a:highlight>
                  <a:srgbClr val="000000">
                    <a:alpha val="0"/>
                  </a:srgbClr>
                </a:highlight>
                <a:latin typeface="Arial"/>
              </a:rPr>
              <a:t>END: 2022-2042. Vision: </a:t>
            </a:r>
            <a:r>
              <a:rPr lang="en-US" sz="1400" i="0" u="none" strike="noStrike" dirty="0">
                <a:highlight>
                  <a:srgbClr val="000000">
                    <a:alpha val="0"/>
                  </a:srgbClr>
                </a:highlight>
                <a:latin typeface="Arial"/>
              </a:rPr>
              <a:t>"Raising the population's standard of living through the structural transformation of the economy, from a primary economy to an industrialized and services economy" New proposed focus areas: (i) economic transformation, (ii) social transformation, (iii) governance, and (iv) environment and circular economy.</a:t>
            </a:r>
          </a:p>
          <a:p>
            <a:pPr algn="just" rtl="0">
              <a:lnSpc>
                <a:spcPct val="100000"/>
              </a:lnSpc>
            </a:pPr>
            <a:r>
              <a:rPr lang="en-US" sz="1400" b="1" i="0" u="none" strike="noStrike" dirty="0">
                <a:highlight>
                  <a:srgbClr val="000000">
                    <a:alpha val="0"/>
                  </a:srgbClr>
                </a:highlight>
                <a:latin typeface="Arial"/>
              </a:rPr>
              <a:t>The Government's Five-Year Program (PQG) 2020-2024  </a:t>
            </a:r>
            <a:r>
              <a:rPr lang="en-US" sz="1400" i="0" u="none" strike="noStrike" dirty="0">
                <a:highlight>
                  <a:srgbClr val="000000">
                    <a:alpha val="0"/>
                  </a:srgbClr>
                </a:highlight>
                <a:latin typeface="Arial"/>
              </a:rPr>
              <a:t>will continue to be the main guide for government interventions and strategies in 2023-24. A new PQG is expected to be developed after the 2024 national elections. The Government has developed a Conflict and Violence Prevention Strategy as part of the process to ensure eligibility for the Prevention and Resilience Allocation (PRA, Prevention and Resilience Allocation). ) under the IDA19.</a:t>
            </a:r>
          </a:p>
          <a:p>
            <a:pPr marR="0" algn="just">
              <a:lnSpc>
                <a:spcPct val="100000"/>
              </a:lnSpc>
              <a:spcAft>
                <a:spcPct val="0"/>
              </a:spcAft>
            </a:pPr>
            <a:r>
              <a:rPr lang="en-US" b="1" dirty="0"/>
              <a:t>The Government also has a robust strategy for the energy sector</a:t>
            </a:r>
            <a:r>
              <a:rPr lang="en-US" dirty="0"/>
              <a:t>. The Energy Strategy for the period 2015-2024 aims to: (i) Increase infrastructure and energy production for local markets and energy exports (gas and electricity). (ii) Expand local access to electricity from 25 percent in 2015 to 62 percent by the end of 2024, which should provide a major boost to the country's economic and social development.</a:t>
            </a:r>
          </a:p>
          <a:p>
            <a:pPr marR="0" algn="just">
              <a:lnSpc>
                <a:spcPct val="100000"/>
              </a:lnSpc>
              <a:spcAft>
                <a:spcPct val="0"/>
              </a:spcAft>
            </a:pPr>
            <a:r>
              <a:rPr lang="en-US" b="1" dirty="0"/>
              <a:t>The Government approved the National Climate Change Adaptation and Mitigation Strategy</a:t>
            </a:r>
            <a:r>
              <a:rPr lang="en-US" dirty="0"/>
              <a:t>, which provides the overall policy framework to guide climate resilient planning and development. The current revision of the ENDE creates an opportunity to integrate climate change into your development strategy.</a:t>
            </a:r>
          </a:p>
          <a:p>
            <a:pPr marL="0" marR="0" algn="just">
              <a:lnSpc>
                <a:spcPct val="100000"/>
              </a:lnSpc>
              <a:spcBef>
                <a:spcPct val="0"/>
              </a:spcBef>
              <a:spcAft>
                <a:spcPct val="0"/>
              </a:spcAft>
            </a:pPr>
            <a:endParaRPr lang="en-US" dirty="0">
              <a:effectLst/>
              <a:ea typeface="Times New Roman" panose="02020603050405020304" pitchFamily="18" charset="0"/>
            </a:endParaRPr>
          </a:p>
          <a:p>
            <a:pPr>
              <a:lnSpc>
                <a:spcPct val="100000"/>
              </a:lnSpc>
            </a:pPr>
            <a:endParaRPr lang="en-US" dirty="0"/>
          </a:p>
        </p:txBody>
      </p:sp>
      <p:sp>
        <p:nvSpPr>
          <p:cNvPr id="13" name="TextBox 12">
            <a:extLst>
              <a:ext uri="{FF2B5EF4-FFF2-40B4-BE49-F238E27FC236}">
                <a16:creationId xmlns:a16="http://schemas.microsoft.com/office/drawing/2014/main" id="{275A71C0-DD1F-4344-896E-1E6D79421314}"/>
              </a:ext>
            </a:extLst>
          </p:cNvPr>
          <p:cNvSpPr txBox="1"/>
          <p:nvPr/>
        </p:nvSpPr>
        <p:spPr>
          <a:xfrm>
            <a:off x="421936" y="1091498"/>
            <a:ext cx="2251710" cy="830997"/>
          </a:xfrm>
          <a:prstGeom prst="rect">
            <a:avLst/>
          </a:prstGeom>
          <a:noFill/>
        </p:spPr>
        <p:txBody>
          <a:bodyPr wrap="square">
            <a:noAutofit/>
          </a:bodyPr>
          <a:lstStyle/>
          <a:p>
            <a:pPr algn="ctr" rtl="0"/>
            <a:r>
              <a:rPr lang="en-US" sz="1600" b="1" i="0" u="none" strike="noStrike">
                <a:highlight>
                  <a:srgbClr val="000000">
                    <a:alpha val="0"/>
                  </a:srgbClr>
                </a:highlight>
                <a:latin typeface="Arial"/>
                <a:ea typeface="Times New Roman"/>
              </a:rPr>
              <a:t>Mozambique Strategic Planning Framework</a:t>
            </a:r>
            <a:endParaRPr lang="en-US" sz="1600" b="1" dirty="0"/>
          </a:p>
        </p:txBody>
      </p:sp>
      <p:sp>
        <p:nvSpPr>
          <p:cNvPr id="7" name="Footer Placeholder 6">
            <a:extLst>
              <a:ext uri="{FF2B5EF4-FFF2-40B4-BE49-F238E27FC236}">
                <a16:creationId xmlns:a16="http://schemas.microsoft.com/office/drawing/2014/main" id="{3C07539B-E0FF-42CA-B8A4-65A60A9256F0}"/>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08206547-D93E-4655-9380-0A7EF5A3B216}"/>
              </a:ext>
            </a:extLst>
          </p:cNvPr>
          <p:cNvSpPr>
            <a:spLocks noGrp="1"/>
          </p:cNvSpPr>
          <p:nvPr>
            <p:ph type="sldNum" sz="quarter" idx="12"/>
          </p:nvPr>
        </p:nvSpPr>
        <p:spPr/>
        <p:txBody>
          <a:bodyPr/>
          <a:lstStyle/>
          <a:p>
            <a:fld id="{B8473C9A-9E91-4025-B5E2-D7B202510636}" type="slidenum">
              <a:rPr lang="en-US" smtClean="0"/>
              <a:t>15</a:t>
            </a:fld>
            <a:endParaRPr lang="en-US" dirty="0"/>
          </a:p>
        </p:txBody>
      </p:sp>
      <p:pic>
        <p:nvPicPr>
          <p:cNvPr id="5" name="Picture 4">
            <a:extLst>
              <a:ext uri="{FF2B5EF4-FFF2-40B4-BE49-F238E27FC236}">
                <a16:creationId xmlns:a16="http://schemas.microsoft.com/office/drawing/2014/main" id="{B154BE3C-E233-49B7-A33C-58E1AF92F8FF}"/>
              </a:ext>
            </a:extLst>
          </p:cNvPr>
          <p:cNvPicPr>
            <a:picLocks noChangeAspect="1"/>
          </p:cNvPicPr>
          <p:nvPr/>
        </p:nvPicPr>
        <p:blipFill>
          <a:blip r:embed="rId3"/>
          <a:stretch>
            <a:fillRect/>
          </a:stretch>
        </p:blipFill>
        <p:spPr>
          <a:xfrm>
            <a:off x="275447" y="1922495"/>
            <a:ext cx="2609984" cy="1371670"/>
          </a:xfrm>
          <a:prstGeom prst="rect">
            <a:avLst/>
          </a:prstGeom>
        </p:spPr>
      </p:pic>
      <p:pic>
        <p:nvPicPr>
          <p:cNvPr id="6" name="Picture 5">
            <a:extLst>
              <a:ext uri="{FF2B5EF4-FFF2-40B4-BE49-F238E27FC236}">
                <a16:creationId xmlns:a16="http://schemas.microsoft.com/office/drawing/2014/main" id="{82A4F521-947E-4F41-8989-A9E808E1FB24}"/>
              </a:ext>
            </a:extLst>
          </p:cNvPr>
          <p:cNvPicPr>
            <a:picLocks noChangeAspect="1"/>
          </p:cNvPicPr>
          <p:nvPr/>
        </p:nvPicPr>
        <p:blipFill>
          <a:blip r:embed="rId4"/>
          <a:stretch>
            <a:fillRect/>
          </a:stretch>
        </p:blipFill>
        <p:spPr>
          <a:xfrm>
            <a:off x="581456" y="2695170"/>
            <a:ext cx="1943200" cy="1028753"/>
          </a:xfrm>
          <a:prstGeom prst="rect">
            <a:avLst/>
          </a:prstGeom>
        </p:spPr>
      </p:pic>
      <p:pic>
        <p:nvPicPr>
          <p:cNvPr id="9" name="Picture 8">
            <a:extLst>
              <a:ext uri="{FF2B5EF4-FFF2-40B4-BE49-F238E27FC236}">
                <a16:creationId xmlns:a16="http://schemas.microsoft.com/office/drawing/2014/main" id="{93473CB6-38EC-401B-8248-CA013BA9AD4B}"/>
              </a:ext>
            </a:extLst>
          </p:cNvPr>
          <p:cNvPicPr>
            <a:picLocks noChangeAspect="1"/>
          </p:cNvPicPr>
          <p:nvPr/>
        </p:nvPicPr>
        <p:blipFill>
          <a:blip r:embed="rId5"/>
          <a:stretch>
            <a:fillRect/>
          </a:stretch>
        </p:blipFill>
        <p:spPr>
          <a:xfrm>
            <a:off x="842905" y="3416946"/>
            <a:ext cx="1409772" cy="914447"/>
          </a:xfrm>
          <a:prstGeom prst="rect">
            <a:avLst/>
          </a:prstGeom>
        </p:spPr>
      </p:pic>
      <p:pic>
        <p:nvPicPr>
          <p:cNvPr id="12" name="Picture 11">
            <a:extLst>
              <a:ext uri="{FF2B5EF4-FFF2-40B4-BE49-F238E27FC236}">
                <a16:creationId xmlns:a16="http://schemas.microsoft.com/office/drawing/2014/main" id="{695A486F-A69A-4D7E-9A13-4053BA05D168}"/>
              </a:ext>
            </a:extLst>
          </p:cNvPr>
          <p:cNvPicPr>
            <a:picLocks noChangeAspect="1"/>
          </p:cNvPicPr>
          <p:nvPr/>
        </p:nvPicPr>
        <p:blipFill>
          <a:blip r:embed="rId6"/>
          <a:stretch>
            <a:fillRect/>
          </a:stretch>
        </p:blipFill>
        <p:spPr>
          <a:xfrm>
            <a:off x="961282" y="4068498"/>
            <a:ext cx="1238314" cy="704886"/>
          </a:xfrm>
          <a:prstGeom prst="rect">
            <a:avLst/>
          </a:prstGeom>
        </p:spPr>
      </p:pic>
      <p:pic>
        <p:nvPicPr>
          <p:cNvPr id="14" name="Picture 13">
            <a:extLst>
              <a:ext uri="{FF2B5EF4-FFF2-40B4-BE49-F238E27FC236}">
                <a16:creationId xmlns:a16="http://schemas.microsoft.com/office/drawing/2014/main" id="{3AD427A3-5513-40A2-8EB4-47A749B68E50}"/>
              </a:ext>
            </a:extLst>
          </p:cNvPr>
          <p:cNvPicPr>
            <a:picLocks noChangeAspect="1"/>
          </p:cNvPicPr>
          <p:nvPr/>
        </p:nvPicPr>
        <p:blipFill>
          <a:blip r:embed="rId7"/>
          <a:stretch>
            <a:fillRect/>
          </a:stretch>
        </p:blipFill>
        <p:spPr>
          <a:xfrm>
            <a:off x="961282" y="4575006"/>
            <a:ext cx="1085906" cy="1085906"/>
          </a:xfrm>
          <a:prstGeom prst="rect">
            <a:avLst/>
          </a:prstGeom>
        </p:spPr>
      </p:pic>
      <p:pic>
        <p:nvPicPr>
          <p:cNvPr id="15" name="Picture 14">
            <a:extLst>
              <a:ext uri="{FF2B5EF4-FFF2-40B4-BE49-F238E27FC236}">
                <a16:creationId xmlns:a16="http://schemas.microsoft.com/office/drawing/2014/main" id="{60585D39-674F-4998-BCCE-060C6E065B1D}"/>
              </a:ext>
            </a:extLst>
          </p:cNvPr>
          <p:cNvPicPr>
            <a:picLocks noChangeAspect="1"/>
          </p:cNvPicPr>
          <p:nvPr/>
        </p:nvPicPr>
        <p:blipFill>
          <a:blip r:embed="rId8"/>
          <a:stretch>
            <a:fillRect/>
          </a:stretch>
        </p:blipFill>
        <p:spPr>
          <a:xfrm>
            <a:off x="389450" y="198404"/>
            <a:ext cx="2316681" cy="463336"/>
          </a:xfrm>
          <a:prstGeom prst="rect">
            <a:avLst/>
          </a:prstGeom>
        </p:spPr>
      </p:pic>
    </p:spTree>
    <p:extLst>
      <p:ext uri="{BB962C8B-B14F-4D97-AF65-F5344CB8AC3E}">
        <p14:creationId xmlns:p14="http://schemas.microsoft.com/office/powerpoint/2010/main" val="269148502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905DBB9-16CF-4238-810E-D8E86FC842AF}"/>
              </a:ext>
            </a:extLst>
          </p:cNvPr>
          <p:cNvSpPr txBox="1"/>
          <p:nvPr/>
        </p:nvSpPr>
        <p:spPr>
          <a:xfrm>
            <a:off x="342901" y="803128"/>
            <a:ext cx="11527970" cy="555322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rtl="0">
              <a:lnSpc>
                <a:spcPct val="100000"/>
              </a:lnSpc>
              <a:spcAft>
                <a:spcPts val="800"/>
              </a:spcAft>
              <a:buNone/>
            </a:pPr>
            <a:r>
              <a:rPr lang="en-US" sz="1400" b="1" i="0" u="none" strike="noStrike" dirty="0">
                <a:highlight>
                  <a:srgbClr val="000000">
                    <a:alpha val="0"/>
                  </a:srgbClr>
                </a:highlight>
                <a:latin typeface="Arial"/>
              </a:rPr>
              <a:t>The Government has also adopted an ambitious plan to improve governance based on the Diagnostic Report on Transparency, Governance and Corruption in the wake of the 2016 hidden debt crisis.</a:t>
            </a:r>
          </a:p>
          <a:p>
            <a:pPr algn="just">
              <a:lnSpc>
                <a:spcPct val="100000"/>
              </a:lnSpc>
              <a:spcAft>
                <a:spcPts val="800"/>
              </a:spcAft>
            </a:pPr>
            <a:r>
              <a:rPr lang="en-US" sz="1400" i="0" u="none" strike="noStrike" dirty="0">
                <a:highlight>
                  <a:srgbClr val="000000">
                    <a:alpha val="0"/>
                  </a:srgbClr>
                </a:highlight>
                <a:latin typeface="Arial"/>
              </a:rPr>
              <a:t>The authorities took several measures to contain public expenditure. A solid fiscal consolidation program reduced the primary deficit from 6% to 2% of GDP between 2015 and 2018 and had put public debt on a downward path.</a:t>
            </a:r>
          </a:p>
          <a:p>
            <a:pPr algn="just">
              <a:lnSpc>
                <a:spcPct val="100000"/>
              </a:lnSpc>
              <a:spcAft>
                <a:spcPts val="800"/>
              </a:spcAft>
            </a:pPr>
            <a:r>
              <a:rPr lang="en-US" sz="1400" i="0" u="none" strike="noStrike" dirty="0">
                <a:highlight>
                  <a:srgbClr val="000000">
                    <a:alpha val="0"/>
                  </a:srgbClr>
                </a:highlight>
                <a:latin typeface="Arial"/>
              </a:rPr>
              <a:t>Supervision of Public Enterprises was strengthened. Only the Ministry of Economy and Finance can sign guarantees on behalf of the Government if it is below the ceiling approved by Parliament in the annual budget law. In 2018, the governance of public companies was also strengthened through a new law for public companies.</a:t>
            </a:r>
          </a:p>
          <a:p>
            <a:pPr algn="just">
              <a:lnSpc>
                <a:spcPct val="100000"/>
              </a:lnSpc>
              <a:spcAft>
                <a:spcPts val="800"/>
              </a:spcAft>
            </a:pPr>
            <a:r>
              <a:rPr lang="en-US" sz="1400" i="0" u="none" strike="noStrike" dirty="0">
                <a:highlight>
                  <a:srgbClr val="000000">
                    <a:alpha val="0"/>
                  </a:srgbClr>
                </a:highlight>
                <a:latin typeface="Arial"/>
              </a:rPr>
              <a:t>There has been substantial progress on fiscal transparency, with the regular publication of fiscal risk statements and comprehensive reports on debt related to Public Enterprises and LNG.</a:t>
            </a:r>
          </a:p>
          <a:p>
            <a:pPr algn="just">
              <a:lnSpc>
                <a:spcPct val="100000"/>
              </a:lnSpc>
              <a:spcAft>
                <a:spcPts val="800"/>
              </a:spcAft>
            </a:pPr>
            <a:r>
              <a:rPr lang="en-US" sz="1400" i="0" u="none" strike="noStrike" dirty="0">
                <a:highlight>
                  <a:srgbClr val="000000">
                    <a:alpha val="0"/>
                  </a:srgbClr>
                </a:highlight>
                <a:latin typeface="Arial"/>
              </a:rPr>
              <a:t>In 2020, a new global public finance law was passed, integrating public companies and subnational governments into the budget system.</a:t>
            </a:r>
          </a:p>
          <a:p>
            <a:pPr marL="0" indent="0" algn="just">
              <a:lnSpc>
                <a:spcPct val="110000"/>
              </a:lnSpc>
              <a:buNone/>
            </a:pPr>
            <a:r>
              <a:rPr lang="en-US" sz="1400" b="1" dirty="0"/>
              <a:t>Climate and disaster-related policy measures have been implemented since 2010</a:t>
            </a:r>
          </a:p>
          <a:p>
            <a:pPr algn="just">
              <a:lnSpc>
                <a:spcPct val="110000"/>
              </a:lnSpc>
            </a:pPr>
            <a:r>
              <a:rPr lang="en-US" sz="1400" dirty="0"/>
              <a:t>The Government approved the National Climate Change Adaptation and Mitigation Strategy, which provides the overall policy framework to guide climate resilient planning and development.</a:t>
            </a:r>
          </a:p>
          <a:p>
            <a:pPr algn="just">
              <a:lnSpc>
                <a:spcPct val="110000"/>
              </a:lnSpc>
            </a:pPr>
            <a:r>
              <a:rPr lang="en-US" sz="1400" dirty="0"/>
              <a:t>A comprehensive National Disaster Risk Management Program was approved to promote Mozambique's resilient development through disaster prevention, preparedness, response and recovery, as well as the integration of Disaster Risk Management (DRM) into finance. public policies, investments, and development planning in all sectors.</a:t>
            </a:r>
          </a:p>
          <a:p>
            <a:pPr algn="just">
              <a:lnSpc>
                <a:spcPct val="110000"/>
              </a:lnSpc>
            </a:pPr>
            <a:r>
              <a:rPr lang="en-US" sz="1400" dirty="0"/>
              <a:t>A key milestone of this program was the establishment, capitalization and operationalization of a National Disaster Management Fund and the adoption and application of new norms with a view to climate resilience in key sectors (education, transport).</a:t>
            </a:r>
          </a:p>
          <a:p>
            <a:pPr marL="0" indent="0" algn="just">
              <a:lnSpc>
                <a:spcPct val="110000"/>
              </a:lnSpc>
              <a:buNone/>
            </a:pPr>
            <a:endParaRPr lang="en-US" sz="1400" dirty="0"/>
          </a:p>
          <a:p>
            <a:endParaRPr lang="en-US" sz="1400" dirty="0"/>
          </a:p>
        </p:txBody>
      </p:sp>
      <p:sp>
        <p:nvSpPr>
          <p:cNvPr id="7" name="Title 1">
            <a:extLst>
              <a:ext uri="{FF2B5EF4-FFF2-40B4-BE49-F238E27FC236}">
                <a16:creationId xmlns:a16="http://schemas.microsoft.com/office/drawing/2014/main" id="{7E1960F2-7C30-42B1-8F7A-3F07757B68C5}"/>
              </a:ext>
            </a:extLst>
          </p:cNvPr>
          <p:cNvSpPr txBox="1"/>
          <p:nvPr/>
        </p:nvSpPr>
        <p:spPr>
          <a:xfrm>
            <a:off x="2366682" y="266915"/>
            <a:ext cx="9825318" cy="71129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rgbClr val="2F5597"/>
                </a:solidFill>
              </a:rPr>
              <a:t>Government Program and Medium-Term Strategy (1-2)
</a:t>
            </a:r>
            <a:endParaRPr lang="pt" sz="2400" b="1" i="0" u="none" strike="noStrike" dirty="0">
              <a:solidFill>
                <a:srgbClr val="2F5597"/>
              </a:solidFill>
              <a:highlight>
                <a:srgbClr val="000000">
                  <a:alpha val="0"/>
                </a:srgbClr>
              </a:highlight>
              <a:latin typeface="Arial"/>
              <a:cs typeface="Arial"/>
            </a:endParaRPr>
          </a:p>
        </p:txBody>
      </p:sp>
      <p:sp>
        <p:nvSpPr>
          <p:cNvPr id="6" name="Footer Placeholder 5">
            <a:extLst>
              <a:ext uri="{FF2B5EF4-FFF2-40B4-BE49-F238E27FC236}">
                <a16:creationId xmlns:a16="http://schemas.microsoft.com/office/drawing/2014/main" id="{EADDD79C-C7B6-4A6E-97AF-8DB4ECD26A8E}"/>
              </a:ext>
            </a:extLst>
          </p:cNvPr>
          <p:cNvSpPr>
            <a:spLocks noGrp="1"/>
          </p:cNvSpPr>
          <p:nvPr>
            <p:ph type="ftr" sz="quarter" idx="11"/>
          </p:nvPr>
        </p:nvSpPr>
        <p:spPr>
          <a:xfrm>
            <a:off x="3978729" y="6591085"/>
            <a:ext cx="4114800" cy="365125"/>
          </a:xfrm>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BCD46C9F-CCE9-4530-9958-DCC0E2E66395}"/>
              </a:ext>
            </a:extLst>
          </p:cNvPr>
          <p:cNvSpPr>
            <a:spLocks noGrp="1"/>
          </p:cNvSpPr>
          <p:nvPr>
            <p:ph type="sldNum" sz="quarter" idx="12"/>
          </p:nvPr>
        </p:nvSpPr>
        <p:spPr/>
        <p:txBody>
          <a:bodyPr/>
          <a:lstStyle/>
          <a:p>
            <a:fld id="{B8473C9A-9E91-4025-B5E2-D7B202510636}" type="slidenum">
              <a:rPr lang="en-US" smtClean="0"/>
              <a:t>16</a:t>
            </a:fld>
            <a:endParaRPr lang="en-US" dirty="0"/>
          </a:p>
        </p:txBody>
      </p:sp>
      <p:pic>
        <p:nvPicPr>
          <p:cNvPr id="2" name="Picture 1">
            <a:extLst>
              <a:ext uri="{FF2B5EF4-FFF2-40B4-BE49-F238E27FC236}">
                <a16:creationId xmlns:a16="http://schemas.microsoft.com/office/drawing/2014/main" id="{2EDC6EAF-1287-40CD-82FF-60AD0D1CE264}"/>
              </a:ext>
            </a:extLst>
          </p:cNvPr>
          <p:cNvPicPr>
            <a:picLocks noChangeAspect="1"/>
          </p:cNvPicPr>
          <p:nvPr/>
        </p:nvPicPr>
        <p:blipFill>
          <a:blip r:embed="rId2"/>
          <a:stretch>
            <a:fillRect/>
          </a:stretch>
        </p:blipFill>
        <p:spPr>
          <a:xfrm>
            <a:off x="342901" y="206335"/>
            <a:ext cx="2316681" cy="463336"/>
          </a:xfrm>
          <a:prstGeom prst="rect">
            <a:avLst/>
          </a:prstGeom>
        </p:spPr>
      </p:pic>
    </p:spTree>
    <p:extLst>
      <p:ext uri="{BB962C8B-B14F-4D97-AF65-F5344CB8AC3E}">
        <p14:creationId xmlns:p14="http://schemas.microsoft.com/office/powerpoint/2010/main" val="338102573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F5759940-B30E-472A-AF4F-173A4D4CA100}"/>
              </a:ext>
            </a:extLst>
          </p:cNvPr>
          <p:cNvGrpSpPr/>
          <p:nvPr/>
        </p:nvGrpSpPr>
        <p:grpSpPr>
          <a:xfrm>
            <a:off x="6902048" y="3026892"/>
            <a:ext cx="5049327" cy="3339205"/>
            <a:chOff x="-3167528" y="-865701"/>
            <a:chExt cx="7897716" cy="2630133"/>
          </a:xfrm>
        </p:grpSpPr>
        <p:sp>
          <p:nvSpPr>
            <p:cNvPr id="41" name="TextBox 20">
              <a:extLst>
                <a:ext uri="{FF2B5EF4-FFF2-40B4-BE49-F238E27FC236}">
                  <a16:creationId xmlns:a16="http://schemas.microsoft.com/office/drawing/2014/main" id="{48A3B9E8-0F2B-4E8C-A956-776C8184EC2E}"/>
                </a:ext>
              </a:extLst>
            </p:cNvPr>
            <p:cNvSpPr txBox="1"/>
            <p:nvPr/>
          </p:nvSpPr>
          <p:spPr>
            <a:xfrm>
              <a:off x="-3167528" y="-865701"/>
              <a:ext cx="7842229" cy="678778"/>
            </a:xfrm>
            <a:prstGeom prst="rect">
              <a:avLst/>
            </a:prstGeom>
            <a:solidFill>
              <a:srgbClr val="002060"/>
            </a:solidFill>
          </p:spPr>
          <p:txBody>
            <a:bodyPr wrap="square" rtlCol="0">
              <a:spAutoFit/>
            </a:bodyPr>
            <a:lstStyle/>
            <a:p>
              <a:pPr lvl="0" algn="ctr">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rPr>
                <a:t>HLO3. Improving human capital and empowering women</a:t>
              </a:r>
            </a:p>
            <a:p>
              <a:pPr lvl="0" algn="ctr">
                <a:defRPr/>
              </a:pPr>
              <a:endParaRPr lang="en-US" sz="1600" b="1" dirty="0">
                <a:solidFill>
                  <a:prstClr val="white"/>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endParaRPr kumimoji="0" lang="en-US" sz="1800" b="1"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42" name="TextBox 27">
              <a:extLst>
                <a:ext uri="{FF2B5EF4-FFF2-40B4-BE49-F238E27FC236}">
                  <a16:creationId xmlns:a16="http://schemas.microsoft.com/office/drawing/2014/main" id="{0592111B-E078-4582-B08D-1779B5DA9631}"/>
                </a:ext>
              </a:extLst>
            </p:cNvPr>
            <p:cNvSpPr txBox="1"/>
            <p:nvPr/>
          </p:nvSpPr>
          <p:spPr>
            <a:xfrm>
              <a:off x="2350242" y="-12591"/>
              <a:ext cx="2379946" cy="1769673"/>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Objective 9:</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Improved access to services to prevent teenage pregnancy and promote women's economic participation</a:t>
              </a:r>
            </a:p>
            <a:p>
              <a:pPr lvl="0" algn="ctr">
                <a:defRPr/>
              </a:pPr>
              <a:endParaRPr kumimoji="0" lang="en-US" sz="1400" b="1"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43" name="TextBox 28">
              <a:extLst>
                <a:ext uri="{FF2B5EF4-FFF2-40B4-BE49-F238E27FC236}">
                  <a16:creationId xmlns:a16="http://schemas.microsoft.com/office/drawing/2014/main" id="{A9A137C2-4A53-41CC-909B-078D228AAFE8}"/>
                </a:ext>
              </a:extLst>
            </p:cNvPr>
            <p:cNvSpPr txBox="1"/>
            <p:nvPr/>
          </p:nvSpPr>
          <p:spPr>
            <a:xfrm>
              <a:off x="-450438" y="-5241"/>
              <a:ext cx="2590533" cy="1769672"/>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Objective 8:</a:t>
              </a:r>
            </a:p>
            <a:p>
              <a:pPr lvl="0" algn="ctr">
                <a:defRPr/>
              </a:pPr>
              <a:endPar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Increase the efficiency and effective coverage of integrated and sustainable social services</a:t>
              </a:r>
              <a:endParaRPr kumimoji="0" lang="en-US" sz="1400" b="1"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44" name="TextBox 33">
              <a:extLst>
                <a:ext uri="{FF2B5EF4-FFF2-40B4-BE49-F238E27FC236}">
                  <a16:creationId xmlns:a16="http://schemas.microsoft.com/office/drawing/2014/main" id="{8FCE60F2-7AAD-469F-99FA-A7907C1C8144}"/>
                </a:ext>
              </a:extLst>
            </p:cNvPr>
            <p:cNvSpPr txBox="1"/>
            <p:nvPr/>
          </p:nvSpPr>
          <p:spPr>
            <a:xfrm>
              <a:off x="-3121845" y="-5241"/>
              <a:ext cx="2461261" cy="1769673"/>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Objective 7:</a:t>
              </a:r>
            </a:p>
            <a:p>
              <a:pPr lvl="0" algn="ctr">
                <a:defRPr/>
              </a:pPr>
              <a:endPar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Improve key health and education outcomes</a:t>
              </a: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grpSp>
      <p:sp>
        <p:nvSpPr>
          <p:cNvPr id="48" name="TextBox 20">
            <a:extLst>
              <a:ext uri="{FF2B5EF4-FFF2-40B4-BE49-F238E27FC236}">
                <a16:creationId xmlns:a16="http://schemas.microsoft.com/office/drawing/2014/main" id="{61DD58FA-691C-40D4-A443-0BF04F16BDA4}"/>
              </a:ext>
            </a:extLst>
          </p:cNvPr>
          <p:cNvSpPr txBox="1"/>
          <p:nvPr/>
        </p:nvSpPr>
        <p:spPr>
          <a:xfrm>
            <a:off x="367495" y="829071"/>
            <a:ext cx="11530224" cy="646331"/>
          </a:xfrm>
          <a:prstGeom prst="rect">
            <a:avLst/>
          </a:prstGeom>
          <a:solidFill>
            <a:srgbClr val="002060"/>
          </a:solidFill>
        </p:spPr>
        <p:txBody>
          <a:bodyPr wrap="square" rtlCol="0">
            <a:spAutoFit/>
          </a:bodyPr>
          <a:lstStyle/>
          <a:p>
            <a:pPr lvl="0" algn="ctr">
              <a:defRPr/>
            </a:pPr>
            <a:r>
              <a:rPr lang="en-US"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HLO 1: More Inclusive Institutions</a:t>
            </a:r>
            <a:r>
              <a:rPr lang="pt-BR"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endParaRPr kumimoji="0" lang="en-US" sz="12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Calibri" panose="020F0502020204030204" pitchFamily="34" charset="0"/>
            </a:endParaRPr>
          </a:p>
        </p:txBody>
      </p:sp>
      <p:sp>
        <p:nvSpPr>
          <p:cNvPr id="50" name="TextBox 28">
            <a:extLst>
              <a:ext uri="{FF2B5EF4-FFF2-40B4-BE49-F238E27FC236}">
                <a16:creationId xmlns:a16="http://schemas.microsoft.com/office/drawing/2014/main" id="{6DCAB71F-0043-4348-B2CA-13ED368C292D}"/>
              </a:ext>
            </a:extLst>
          </p:cNvPr>
          <p:cNvSpPr txBox="1"/>
          <p:nvPr/>
        </p:nvSpPr>
        <p:spPr>
          <a:xfrm>
            <a:off x="4081340" y="1524409"/>
            <a:ext cx="4029319" cy="1169551"/>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Objective 2:</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Increase public sector effectiveness for better and more sustainable service delivery</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and equitable policies</a:t>
            </a:r>
          </a:p>
          <a:p>
            <a:pPr lvl="0" algn="ctr">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51" name="TextBox 33">
            <a:extLst>
              <a:ext uri="{FF2B5EF4-FFF2-40B4-BE49-F238E27FC236}">
                <a16:creationId xmlns:a16="http://schemas.microsoft.com/office/drawing/2014/main" id="{07CF0438-65B6-4F90-A587-44EFFB9C0EBB}"/>
              </a:ext>
            </a:extLst>
          </p:cNvPr>
          <p:cNvSpPr txBox="1"/>
          <p:nvPr/>
        </p:nvSpPr>
        <p:spPr>
          <a:xfrm>
            <a:off x="367495" y="1515609"/>
            <a:ext cx="3665451" cy="1169551"/>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Objective 1:</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Improve economic management for sustainable and resilient job creation, better spending capacity and lower sovereign risk</a:t>
            </a:r>
            <a:r>
              <a:rPr lang="pt-BR"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grpSp>
        <p:nvGrpSpPr>
          <p:cNvPr id="55" name="Group 54">
            <a:extLst>
              <a:ext uri="{FF2B5EF4-FFF2-40B4-BE49-F238E27FC236}">
                <a16:creationId xmlns:a16="http://schemas.microsoft.com/office/drawing/2014/main" id="{640C48EE-017A-4A83-A3F5-13D2C23B3CD6}"/>
              </a:ext>
            </a:extLst>
          </p:cNvPr>
          <p:cNvGrpSpPr/>
          <p:nvPr/>
        </p:nvGrpSpPr>
        <p:grpSpPr>
          <a:xfrm>
            <a:off x="294281" y="3949567"/>
            <a:ext cx="3180023" cy="2677656"/>
            <a:chOff x="-9838606" y="1606149"/>
            <a:chExt cx="4973915" cy="2023367"/>
          </a:xfrm>
        </p:grpSpPr>
        <p:sp>
          <p:nvSpPr>
            <p:cNvPr id="58" name="TextBox 28">
              <a:extLst>
                <a:ext uri="{FF2B5EF4-FFF2-40B4-BE49-F238E27FC236}">
                  <a16:creationId xmlns:a16="http://schemas.microsoft.com/office/drawing/2014/main" id="{7A7D9AE5-C3BD-4177-85EE-8BE5CFD01A0D}"/>
                </a:ext>
              </a:extLst>
            </p:cNvPr>
            <p:cNvSpPr txBox="1"/>
            <p:nvPr/>
          </p:nvSpPr>
          <p:spPr>
            <a:xfrm>
              <a:off x="-7246575" y="1606149"/>
              <a:ext cx="2381884" cy="2023367"/>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CPF Objective 5:</a:t>
              </a:r>
            </a:p>
            <a:p>
              <a:pPr lvl="0" algn="ctr">
                <a:defRPr/>
              </a:pPr>
              <a:endPar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Promote productivity growth in selected labor-intensive industries</a:t>
              </a:r>
              <a:r>
                <a:rPr lang="pt-BR" sz="1400"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p>
            <a:p>
              <a:pPr lvl="0" algn="ctr">
                <a:defRPr/>
              </a:pPr>
              <a:endParaRPr kumimoji="0" lang="pt-BR" sz="140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endParaRPr kumimoji="0" lang="en-US" sz="140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59" name="TextBox 33">
              <a:extLst>
                <a:ext uri="{FF2B5EF4-FFF2-40B4-BE49-F238E27FC236}">
                  <a16:creationId xmlns:a16="http://schemas.microsoft.com/office/drawing/2014/main" id="{A9F25950-3269-4593-8FC9-BE603435FFB8}"/>
                </a:ext>
              </a:extLst>
            </p:cNvPr>
            <p:cNvSpPr txBox="1"/>
            <p:nvPr/>
          </p:nvSpPr>
          <p:spPr>
            <a:xfrm>
              <a:off x="-9838606" y="1606149"/>
              <a:ext cx="2381884" cy="2023367"/>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Objective 4:</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Enable sustainable growth of selected natural resource sectors that exploit regional and global comparative advantages</a:t>
              </a:r>
              <a:r>
                <a:rPr lang="pt-BR" sz="1400"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endParaRPr kumimoji="0" lang="en-US" sz="140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p:txBody>
        </p:sp>
      </p:grpSp>
      <p:sp>
        <p:nvSpPr>
          <p:cNvPr id="28" name="TextBox 20">
            <a:extLst>
              <a:ext uri="{FF2B5EF4-FFF2-40B4-BE49-F238E27FC236}">
                <a16:creationId xmlns:a16="http://schemas.microsoft.com/office/drawing/2014/main" id="{11125F59-7817-4321-BD2E-A1252531A912}"/>
              </a:ext>
            </a:extLst>
          </p:cNvPr>
          <p:cNvSpPr txBox="1"/>
          <p:nvPr/>
        </p:nvSpPr>
        <p:spPr>
          <a:xfrm>
            <a:off x="294281" y="2980869"/>
            <a:ext cx="5010043" cy="830997"/>
          </a:xfrm>
          <a:prstGeom prst="rect">
            <a:avLst/>
          </a:prstGeom>
          <a:solidFill>
            <a:srgbClr val="002060"/>
          </a:solidFill>
        </p:spPr>
        <p:txBody>
          <a:bodyPr wrap="square" rtlCol="0">
            <a:spAutoFit/>
          </a:bodyPr>
          <a:lstStyle/>
          <a:p>
            <a:pPr lvl="0" algn="ctr">
              <a:defRPr/>
            </a:pPr>
            <a:r>
              <a:rPr lang="en-US"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HLO2: Increase in inclusive job creation</a:t>
            </a:r>
            <a:endParaRPr lang="pt-BR"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endParaRPr>
          </a:p>
          <a:p>
            <a:pPr lvl="0" algn="ctr">
              <a:defRPr/>
            </a:pPr>
            <a:r>
              <a:rPr lang="pt-BR"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 </a:t>
            </a:r>
            <a:endParaRPr kumimoji="0" lang="en-US" sz="12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lvl="0">
              <a:defRPr/>
            </a:pPr>
            <a:endParaRPr kumimoji="0" lang="en-US" sz="12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02498E19-A5E1-4FF3-8593-77DDFB633840}"/>
              </a:ext>
            </a:extLst>
          </p:cNvPr>
          <p:cNvSpPr txBox="1"/>
          <p:nvPr/>
        </p:nvSpPr>
        <p:spPr>
          <a:xfrm>
            <a:off x="8190125" y="1532767"/>
            <a:ext cx="3725775" cy="1169551"/>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Objective 3:</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Strengthen coordination, policies and capacity for better preparedness and response to natural disasters, pandemics and other multidimensional shocks</a:t>
            </a:r>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A9BC120A-2D09-4578-9211-2DC58272B03D}"/>
              </a:ext>
            </a:extLst>
          </p:cNvPr>
          <p:cNvSpPr txBox="1"/>
          <p:nvPr/>
        </p:nvSpPr>
        <p:spPr>
          <a:xfrm>
            <a:off x="3633722" y="3949567"/>
            <a:ext cx="1656232" cy="2677656"/>
          </a:xfrm>
          <a:prstGeom prst="rect">
            <a:avLst/>
          </a:prstGeom>
          <a:solidFill>
            <a:srgbClr val="00B0F0"/>
          </a:solidFill>
        </p:spPr>
        <p:txBody>
          <a:bodyPr wrap="square" rtlCol="0">
            <a:spAutoFit/>
          </a:bodyPr>
          <a:lstStyle/>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Objective 6:</a:t>
            </a:r>
          </a:p>
          <a:p>
            <a:pPr lvl="0" algn="ctr">
              <a:defRPr/>
            </a:pP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Expand affordable, reliable and climate-resilient services for access by the most disadvantaged and accelerate sustainable urbanization and economic agglomeration</a:t>
            </a:r>
            <a:endParaRPr kumimoji="0" lang="en-US" sz="120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
        <p:nvSpPr>
          <p:cNvPr id="19" name="Title 1">
            <a:extLst>
              <a:ext uri="{FF2B5EF4-FFF2-40B4-BE49-F238E27FC236}">
                <a16:creationId xmlns:a16="http://schemas.microsoft.com/office/drawing/2014/main" id="{0E673E36-BCC7-485A-B2E2-9DE06668B038}"/>
              </a:ext>
            </a:extLst>
          </p:cNvPr>
          <p:cNvSpPr txBox="1">
            <a:spLocks/>
          </p:cNvSpPr>
          <p:nvPr/>
        </p:nvSpPr>
        <p:spPr>
          <a:xfrm>
            <a:off x="367495" y="154262"/>
            <a:ext cx="10515600" cy="315912"/>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accent1">
                    <a:lumMod val="75000"/>
                  </a:schemeClr>
                </a:solidFill>
                <a:latin typeface="Arial" panose="020B0604020202020204" pitchFamily="34" charset="0"/>
                <a:ea typeface="+mj-ea"/>
                <a:cs typeface="Arial" panose="020B0604020202020204" pitchFamily="34" charset="0"/>
              </a:defRPr>
            </a:lvl1pPr>
          </a:lstStyle>
          <a:p>
            <a:pPr algn="ctr"/>
            <a:endParaRPr lang="en-US" b="1" dirty="0">
              <a:latin typeface="Arial"/>
              <a:cs typeface="Times New Roman"/>
            </a:endParaRPr>
          </a:p>
          <a:p>
            <a:pPr algn="ctr"/>
            <a:r>
              <a:rPr lang="en-US" b="1" dirty="0">
                <a:latin typeface="Arial"/>
                <a:cs typeface="Times New Roman"/>
              </a:rPr>
              <a:t>CPF 2023-2027: Aspirations and Objectives
</a:t>
            </a:r>
            <a:endParaRPr lang="pt" i="1" dirty="0">
              <a:highlight>
                <a:srgbClr val="000000">
                  <a:alpha val="0"/>
                </a:srgbClr>
              </a:highlight>
              <a:latin typeface="Arial"/>
            </a:endParaRPr>
          </a:p>
        </p:txBody>
      </p:sp>
      <p:sp>
        <p:nvSpPr>
          <p:cNvPr id="6" name="Footer Placeholder 5">
            <a:extLst>
              <a:ext uri="{FF2B5EF4-FFF2-40B4-BE49-F238E27FC236}">
                <a16:creationId xmlns:a16="http://schemas.microsoft.com/office/drawing/2014/main" id="{E9D66B6B-A600-4FC2-B12C-788AB7A08DAE}"/>
              </a:ext>
            </a:extLst>
          </p:cNvPr>
          <p:cNvSpPr>
            <a:spLocks noGrp="1"/>
          </p:cNvSpPr>
          <p:nvPr>
            <p:ph type="ftr" sz="quarter" idx="11"/>
          </p:nvPr>
        </p:nvSpPr>
        <p:spPr>
          <a:xfrm>
            <a:off x="4495800" y="6627223"/>
            <a:ext cx="4114800" cy="365125"/>
          </a:xfrm>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F7F5C800-7776-4432-9E55-C18FBDC68D15}"/>
              </a:ext>
            </a:extLst>
          </p:cNvPr>
          <p:cNvSpPr>
            <a:spLocks noGrp="1"/>
          </p:cNvSpPr>
          <p:nvPr>
            <p:ph type="sldNum" sz="quarter" idx="12"/>
          </p:nvPr>
        </p:nvSpPr>
        <p:spPr/>
        <p:txBody>
          <a:bodyPr/>
          <a:lstStyle/>
          <a:p>
            <a:fld id="{B8473C9A-9E91-4025-B5E2-D7B202510636}" type="slidenum">
              <a:rPr lang="en-US" smtClean="0"/>
              <a:t>17</a:t>
            </a:fld>
            <a:endParaRPr lang="en-US" dirty="0"/>
          </a:p>
        </p:txBody>
      </p:sp>
      <p:pic>
        <p:nvPicPr>
          <p:cNvPr id="2" name="Picture 1">
            <a:extLst>
              <a:ext uri="{FF2B5EF4-FFF2-40B4-BE49-F238E27FC236}">
                <a16:creationId xmlns:a16="http://schemas.microsoft.com/office/drawing/2014/main" id="{7EA3193B-CD46-4350-99F0-6608A5D56148}"/>
              </a:ext>
            </a:extLst>
          </p:cNvPr>
          <p:cNvPicPr>
            <a:picLocks noChangeAspect="1"/>
          </p:cNvPicPr>
          <p:nvPr/>
        </p:nvPicPr>
        <p:blipFill>
          <a:blip r:embed="rId2"/>
          <a:stretch>
            <a:fillRect/>
          </a:stretch>
        </p:blipFill>
        <p:spPr>
          <a:xfrm>
            <a:off x="150564" y="113964"/>
            <a:ext cx="2316681" cy="463336"/>
          </a:xfrm>
          <a:prstGeom prst="rect">
            <a:avLst/>
          </a:prstGeom>
        </p:spPr>
      </p:pic>
    </p:spTree>
    <p:extLst>
      <p:ext uri="{BB962C8B-B14F-4D97-AF65-F5344CB8AC3E}">
        <p14:creationId xmlns:p14="http://schemas.microsoft.com/office/powerpoint/2010/main" val="16469379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328182-DCAC-44BE-B53C-25FEF02C2D3B}"/>
              </a:ext>
            </a:extLst>
          </p:cNvPr>
          <p:cNvSpPr>
            <a:spLocks noGrp="1"/>
          </p:cNvSpPr>
          <p:nvPr>
            <p:ph idx="1"/>
          </p:nvPr>
        </p:nvSpPr>
        <p:spPr>
          <a:xfrm>
            <a:off x="398205" y="1215594"/>
            <a:ext cx="11567711" cy="5856585"/>
          </a:xfrm>
        </p:spPr>
        <p:txBody>
          <a:bodyPr>
            <a:noAutofit/>
          </a:bodyPr>
          <a:lstStyle/>
          <a:p>
            <a:pPr marL="342900" indent="-342900" algn="just" rtl="0">
              <a:lnSpc>
                <a:spcPct val="100000"/>
              </a:lnSpc>
              <a:spcBef>
                <a:spcPct val="0"/>
              </a:spcBef>
              <a:spcAft>
                <a:spcPts val="600"/>
              </a:spcAft>
              <a:buFont typeface="+mj-lt"/>
              <a:buAutoNum type="arabicPeriod"/>
            </a:pPr>
            <a:r>
              <a:rPr lang="en-US" sz="1600" b="0" i="0" u="none" strike="noStrike" dirty="0">
                <a:latin typeface="Arial"/>
                <a:cs typeface="Times New Roman"/>
              </a:rPr>
              <a:t>In line with the lessons of the CLR, the recommendations of the SCD update and the government targets as outlined in the 2020-24 five-year plan and the ongoing review of the national development strategy, the proposed CPF for FY2023-2027 aims to contribute to Mozambique's transition to a </a:t>
            </a:r>
            <a:r>
              <a:rPr lang="en-US" sz="1600" b="1" i="0" u="none" strike="noStrike" dirty="0">
                <a:latin typeface="Arial"/>
                <a:cs typeface="Times New Roman"/>
              </a:rPr>
              <a:t>greener,</a:t>
            </a:r>
            <a:r>
              <a:rPr lang="en-US" sz="1600" b="0" i="0" u="none" strike="noStrike" dirty="0">
                <a:latin typeface="Arial"/>
                <a:cs typeface="Times New Roman"/>
              </a:rPr>
              <a:t> </a:t>
            </a:r>
            <a:r>
              <a:rPr lang="en-US" sz="1600" b="1" i="0" u="none" strike="noStrike" dirty="0">
                <a:latin typeface="Arial"/>
                <a:cs typeface="Times New Roman"/>
              </a:rPr>
              <a:t>more resilient and inclusive growth trajectory.</a:t>
            </a:r>
          </a:p>
          <a:p>
            <a:pPr marL="342900" indent="-342900" algn="just" rtl="0">
              <a:lnSpc>
                <a:spcPct val="100000"/>
              </a:lnSpc>
              <a:spcBef>
                <a:spcPct val="0"/>
              </a:spcBef>
              <a:spcAft>
                <a:spcPts val="600"/>
              </a:spcAft>
              <a:buFont typeface="+mj-lt"/>
              <a:buAutoNum type="arabicPeriod"/>
            </a:pPr>
            <a:endParaRPr lang="en-US" sz="1600" b="1" dirty="0">
              <a:latin typeface="+mn-lt"/>
              <a:ea typeface="Calibri" panose="020F0502020204030204" pitchFamily="34" charset="0"/>
              <a:cs typeface="Times New Roman"/>
            </a:endParaRPr>
          </a:p>
          <a:p>
            <a:pPr marL="342900" indent="-342900" algn="just" rtl="0">
              <a:lnSpc>
                <a:spcPct val="100000"/>
              </a:lnSpc>
              <a:spcBef>
                <a:spcPct val="0"/>
              </a:spcBef>
              <a:spcAft>
                <a:spcPts val="600"/>
              </a:spcAft>
              <a:buFont typeface="+mj-lt"/>
              <a:buAutoNum type="arabicPeriod"/>
            </a:pPr>
            <a:r>
              <a:rPr lang="en-US" sz="1600" b="0" i="0" u="none" strike="noStrike" dirty="0">
                <a:highlight>
                  <a:srgbClr val="000000">
                    <a:alpha val="0"/>
                  </a:srgbClr>
                </a:highlight>
                <a:latin typeface="Arial"/>
                <a:ea typeface="Calibri"/>
                <a:cs typeface="Times New Roman"/>
              </a:rPr>
              <a:t>To that end, the CPF will support government reforms and investments that can contribute to the following high-level outcomes:</a:t>
            </a:r>
          </a:p>
          <a:p>
            <a:pPr lvl="3" algn="just">
              <a:lnSpc>
                <a:spcPct val="100000"/>
              </a:lnSpc>
              <a:spcBef>
                <a:spcPct val="0"/>
              </a:spcBef>
              <a:spcAft>
                <a:spcPts val="600"/>
              </a:spcAft>
            </a:pPr>
            <a:r>
              <a:rPr lang="en-US" sz="1600" b="1" i="0" u="none" strike="noStrike" dirty="0">
                <a:highlight>
                  <a:srgbClr val="000000">
                    <a:alpha val="0"/>
                  </a:srgbClr>
                </a:highlight>
                <a:latin typeface="Arial"/>
                <a:ea typeface="Calibri"/>
                <a:cs typeface="Times New Roman"/>
              </a:rPr>
              <a:t>Outcome 1: More inclusive institutions through </a:t>
            </a:r>
            <a:r>
              <a:rPr lang="en-US" sz="1600" b="0" i="0" u="none" strike="noStrike" dirty="0">
                <a:highlight>
                  <a:srgbClr val="000000">
                    <a:alpha val="0"/>
                  </a:srgbClr>
                </a:highlight>
                <a:latin typeface="Arial"/>
                <a:ea typeface="Calibri"/>
                <a:cs typeface="Times New Roman"/>
              </a:rPr>
              <a:t>(i) improved macroeconomic economic management for better spending capacity and lower sovereign risk; (ii) increasing the effectiveness of the public sector; and (iii) strengthening preparedness and response to multidimensional shocks.</a:t>
            </a:r>
          </a:p>
          <a:p>
            <a:pPr lvl="3" algn="just">
              <a:lnSpc>
                <a:spcPct val="100000"/>
              </a:lnSpc>
              <a:spcBef>
                <a:spcPct val="0"/>
              </a:spcBef>
              <a:spcAft>
                <a:spcPts val="600"/>
              </a:spcAft>
            </a:pPr>
            <a:r>
              <a:rPr lang="en-US" sz="1600" b="1" i="0" u="none" strike="noStrike" dirty="0">
                <a:highlight>
                  <a:srgbClr val="000000">
                    <a:alpha val="0"/>
                  </a:srgbClr>
                </a:highlight>
                <a:latin typeface="Arial"/>
                <a:ea typeface="Calibri"/>
                <a:cs typeface="Times New Roman"/>
              </a:rPr>
              <a:t>Outcome 2: Increased inclusive job creation </a:t>
            </a:r>
            <a:r>
              <a:rPr lang="en-US" sz="1600" b="0" i="0" u="none" strike="noStrike" dirty="0">
                <a:highlight>
                  <a:srgbClr val="000000">
                    <a:alpha val="0"/>
                  </a:srgbClr>
                </a:highlight>
                <a:latin typeface="Arial"/>
                <a:ea typeface="Calibri"/>
                <a:cs typeface="Times New Roman"/>
              </a:rPr>
              <a:t>(accelerating the process of structural transformation) which in turn requires (i) enabling sustainable growth in selected natural resource sectors; (ii) promoting productivity growth in selected intensive industries; and (iii) expansion of infrastructure and urbanization services.</a:t>
            </a:r>
          </a:p>
          <a:p>
            <a:pPr lvl="3" algn="just">
              <a:lnSpc>
                <a:spcPct val="100000"/>
              </a:lnSpc>
              <a:spcBef>
                <a:spcPct val="0"/>
              </a:spcBef>
              <a:spcAft>
                <a:spcPts val="600"/>
              </a:spcAft>
            </a:pPr>
            <a:r>
              <a:rPr lang="en-US" sz="1600" b="1" i="0" u="none" strike="noStrike" dirty="0">
                <a:highlight>
                  <a:srgbClr val="000000">
                    <a:alpha val="0"/>
                  </a:srgbClr>
                </a:highlight>
                <a:latin typeface="Arial"/>
                <a:ea typeface="Calibri"/>
                <a:cs typeface="Times New Roman"/>
              </a:rPr>
              <a:t>Outcome 3: Improve human capital accumulation</a:t>
            </a:r>
            <a:r>
              <a:rPr lang="en-US" sz="1600" b="0" i="0" u="none" strike="noStrike" dirty="0">
                <a:highlight>
                  <a:srgbClr val="000000">
                    <a:alpha val="0"/>
                  </a:srgbClr>
                </a:highlight>
                <a:latin typeface="Arial"/>
                <a:ea typeface="Calibri"/>
                <a:cs typeface="Times New Roman"/>
              </a:rPr>
              <a:t> </a:t>
            </a:r>
            <a:r>
              <a:rPr lang="en-US" sz="1600" b="1" i="0" u="none" strike="noStrike" dirty="0">
                <a:highlight>
                  <a:srgbClr val="000000">
                    <a:alpha val="0"/>
                  </a:srgbClr>
                </a:highlight>
                <a:latin typeface="Arial"/>
                <a:ea typeface="Calibri"/>
                <a:cs typeface="Times New Roman"/>
              </a:rPr>
              <a:t>and women's empowerment through </a:t>
            </a:r>
            <a:r>
              <a:rPr lang="en-US" sz="1600" b="0" i="0" u="none" strike="noStrike" dirty="0">
                <a:highlight>
                  <a:srgbClr val="000000">
                    <a:alpha val="0"/>
                  </a:srgbClr>
                </a:highlight>
                <a:latin typeface="Arial"/>
                <a:ea typeface="Calibri"/>
                <a:cs typeface="Times New Roman"/>
              </a:rPr>
              <a:t>(i) better health and education outcomes; (ii) more efficient and effective coverage of integrated and sustainable social services; and (iii) better access to services to prevent teen pregnancy and promote women's economic participation.</a:t>
            </a:r>
            <a:endParaRPr lang="en-US" sz="1600" dirty="0">
              <a:latin typeface="+mn-lt"/>
            </a:endParaRPr>
          </a:p>
        </p:txBody>
      </p:sp>
      <p:sp>
        <p:nvSpPr>
          <p:cNvPr id="5" name="Title 1">
            <a:extLst>
              <a:ext uri="{FF2B5EF4-FFF2-40B4-BE49-F238E27FC236}">
                <a16:creationId xmlns:a16="http://schemas.microsoft.com/office/drawing/2014/main" id="{4B231BE4-1971-4CE5-AEE8-9DE02D918533}"/>
              </a:ext>
            </a:extLst>
          </p:cNvPr>
          <p:cNvSpPr txBox="1">
            <a:spLocks/>
          </p:cNvSpPr>
          <p:nvPr/>
        </p:nvSpPr>
        <p:spPr>
          <a:xfrm>
            <a:off x="557995" y="183853"/>
            <a:ext cx="11899360" cy="315912"/>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accent1">
                    <a:lumMod val="75000"/>
                  </a:schemeClr>
                </a:solidFill>
                <a:latin typeface="Arial" panose="020B0604020202020204" pitchFamily="34" charset="0"/>
                <a:ea typeface="+mj-ea"/>
                <a:cs typeface="Arial" panose="020B0604020202020204" pitchFamily="34" charset="0"/>
              </a:defRPr>
            </a:lvl1pPr>
          </a:lstStyle>
          <a:p>
            <a:pPr algn="ctr"/>
            <a:endParaRPr lang="en-US" b="1" dirty="0">
              <a:latin typeface="Arial"/>
              <a:cs typeface="Times New Roman"/>
            </a:endParaRPr>
          </a:p>
          <a:p>
            <a:pPr algn="ctr"/>
            <a:r>
              <a:rPr lang="en-US" b="1" dirty="0">
                <a:latin typeface="Arial"/>
                <a:cs typeface="Times New Roman"/>
              </a:rPr>
              <a:t>CPF Proposal 2023-2027: Objectives and Aspirations  
</a:t>
            </a:r>
            <a:endParaRPr lang="pt" sz="2000" i="1"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C6694D3A-16E4-4B4F-81CE-0521DA87762F}"/>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E5D60ABE-C9A0-48B5-9F37-61CF9EDB2909}"/>
              </a:ext>
            </a:extLst>
          </p:cNvPr>
          <p:cNvSpPr>
            <a:spLocks noGrp="1"/>
          </p:cNvSpPr>
          <p:nvPr>
            <p:ph type="sldNum" sz="quarter" idx="12"/>
          </p:nvPr>
        </p:nvSpPr>
        <p:spPr/>
        <p:txBody>
          <a:bodyPr/>
          <a:lstStyle/>
          <a:p>
            <a:fld id="{B8473C9A-9E91-4025-B5E2-D7B202510636}" type="slidenum">
              <a:rPr lang="en-US" smtClean="0"/>
              <a:t>18</a:t>
            </a:fld>
            <a:endParaRPr lang="en-US" dirty="0"/>
          </a:p>
        </p:txBody>
      </p:sp>
      <p:pic>
        <p:nvPicPr>
          <p:cNvPr id="2" name="Picture 1">
            <a:extLst>
              <a:ext uri="{FF2B5EF4-FFF2-40B4-BE49-F238E27FC236}">
                <a16:creationId xmlns:a16="http://schemas.microsoft.com/office/drawing/2014/main" id="{11D92885-4A44-4A01-9CF0-BB87C0F89DF1}"/>
              </a:ext>
            </a:extLst>
          </p:cNvPr>
          <p:cNvPicPr>
            <a:picLocks noChangeAspect="1"/>
          </p:cNvPicPr>
          <p:nvPr/>
        </p:nvPicPr>
        <p:blipFill>
          <a:blip r:embed="rId2"/>
          <a:stretch>
            <a:fillRect/>
          </a:stretch>
        </p:blipFill>
        <p:spPr>
          <a:xfrm>
            <a:off x="159744" y="195328"/>
            <a:ext cx="2316681" cy="463336"/>
          </a:xfrm>
          <a:prstGeom prst="rect">
            <a:avLst/>
          </a:prstGeom>
        </p:spPr>
      </p:pic>
    </p:spTree>
    <p:extLst>
      <p:ext uri="{BB962C8B-B14F-4D97-AF65-F5344CB8AC3E}">
        <p14:creationId xmlns:p14="http://schemas.microsoft.com/office/powerpoint/2010/main" val="248033750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01">
            <a:extLst>
              <a:ext uri="{FF2B5EF4-FFF2-40B4-BE49-F238E27FC236}">
                <a16:creationId xmlns:a16="http://schemas.microsoft.com/office/drawing/2014/main" id="{67A4BA36-F678-40DF-B41E-24EC39261E03}"/>
              </a:ext>
            </a:extLst>
          </p:cNvPr>
          <p:cNvSpPr txBox="1"/>
          <p:nvPr/>
        </p:nvSpPr>
        <p:spPr>
          <a:xfrm>
            <a:off x="1628064" y="3840380"/>
            <a:ext cx="1655078" cy="1469998"/>
          </a:xfrm>
          <a:prstGeom prst="rect">
            <a:avLst/>
          </a:prstGeom>
          <a:solidFill>
            <a:schemeClr val="bg1"/>
          </a:solidFill>
          <a:ln w="6350">
            <a:solidFill>
              <a:prstClr val="black"/>
            </a:solidFill>
            <a:prstDash val="dash"/>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ct val="0"/>
              </a:spcBef>
              <a:spcAft>
                <a:spcPct val="0"/>
              </a:spcAft>
            </a:pPr>
            <a:r>
              <a:rPr lang="en-US" sz="90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200">
              <a:effectLst/>
              <a:latin typeface="Calibri" pitchFamily="34" charset="0"/>
              <a:ea typeface="Times New Roman" panose="02020603050405020304" pitchFamily="18" charset="0"/>
              <a:cs typeface="Times New Roman" panose="02020603050405020304" pitchFamily="18" charset="0"/>
            </a:endParaRPr>
          </a:p>
        </p:txBody>
      </p:sp>
      <p:sp>
        <p:nvSpPr>
          <p:cNvPr id="39" name="Text Box 108">
            <a:extLst>
              <a:ext uri="{FF2B5EF4-FFF2-40B4-BE49-F238E27FC236}">
                <a16:creationId xmlns:a16="http://schemas.microsoft.com/office/drawing/2014/main" id="{D880BB68-451F-426C-9D42-1B37F6EA4CE3}"/>
              </a:ext>
            </a:extLst>
          </p:cNvPr>
          <p:cNvSpPr txBox="1">
            <a:spLocks noChangeArrowheads="1"/>
          </p:cNvSpPr>
          <p:nvPr/>
        </p:nvSpPr>
        <p:spPr bwMode="auto">
          <a:xfrm>
            <a:off x="1689028" y="621010"/>
            <a:ext cx="1487794" cy="561967"/>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1000" b="1">
                <a:solidFill>
                  <a:srgbClr val="000000"/>
                </a:solidFill>
                <a:latin typeface="Calibri"/>
                <a:ea typeface="Times New Roman"/>
                <a:cs typeface="Times New Roman"/>
              </a:rPr>
              <a:t>GOVERNMENT Programs
(ENDE Pillars)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0" name="Text Box 98">
            <a:extLst>
              <a:ext uri="{FF2B5EF4-FFF2-40B4-BE49-F238E27FC236}">
                <a16:creationId xmlns:a16="http://schemas.microsoft.com/office/drawing/2014/main" id="{EA5287A0-920D-4491-8462-CB8149A79B30}"/>
              </a:ext>
            </a:extLst>
          </p:cNvPr>
          <p:cNvSpPr txBox="1">
            <a:spLocks noChangeArrowheads="1"/>
          </p:cNvSpPr>
          <p:nvPr/>
        </p:nvSpPr>
        <p:spPr bwMode="auto">
          <a:xfrm>
            <a:off x="1723407" y="5785622"/>
            <a:ext cx="1547010" cy="451368"/>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 
Social transformation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1" name="Text Box 105">
            <a:extLst>
              <a:ext uri="{FF2B5EF4-FFF2-40B4-BE49-F238E27FC236}">
                <a16:creationId xmlns:a16="http://schemas.microsoft.com/office/drawing/2014/main" id="{C65457A2-F255-48B1-BBEE-C8A6E6CECFA3}"/>
              </a:ext>
            </a:extLst>
          </p:cNvPr>
          <p:cNvSpPr txBox="1">
            <a:spLocks noChangeArrowheads="1"/>
          </p:cNvSpPr>
          <p:nvPr/>
        </p:nvSpPr>
        <p:spPr bwMode="auto">
          <a:xfrm>
            <a:off x="1737562" y="3983520"/>
            <a:ext cx="1487794" cy="458264"/>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altLang="zh-CN" sz="900" b="1" dirty="0">
                <a:latin typeface="Calibri" pitchFamily="34" charset="0"/>
                <a:ea typeface="Times New Roman" panose="02020603050405020304" pitchFamily="18" charset="0"/>
                <a:cs typeface="Times New Roman" panose="02020603050405020304" pitchFamily="18" charset="0"/>
              </a:rPr>
              <a:t>
Economic transformation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2" name="Text Box 104">
            <a:extLst>
              <a:ext uri="{FF2B5EF4-FFF2-40B4-BE49-F238E27FC236}">
                <a16:creationId xmlns:a16="http://schemas.microsoft.com/office/drawing/2014/main" id="{510FCC56-B892-48A2-8B7D-98EABBE3CF2F}"/>
              </a:ext>
            </a:extLst>
          </p:cNvPr>
          <p:cNvSpPr txBox="1">
            <a:spLocks noChangeArrowheads="1"/>
          </p:cNvSpPr>
          <p:nvPr/>
        </p:nvSpPr>
        <p:spPr bwMode="auto">
          <a:xfrm>
            <a:off x="1701756" y="1780978"/>
            <a:ext cx="1487794" cy="561967"/>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altLang="zh-CN" sz="900" b="1" dirty="0">
                <a:latin typeface="Calibri" panose="020F0502020204030204" pitchFamily="34" charset="0"/>
                <a:ea typeface="Times New Roman" panose="02020603050405020304" pitchFamily="18" charset="0"/>
                <a:cs typeface="Times New Roman" panose="02020603050405020304" pitchFamily="18" charset="0"/>
              </a:rPr>
              <a:t>
Governance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3" name="Text Box 106">
            <a:extLst>
              <a:ext uri="{FF2B5EF4-FFF2-40B4-BE49-F238E27FC236}">
                <a16:creationId xmlns:a16="http://schemas.microsoft.com/office/drawing/2014/main" id="{5961C23B-B674-4B10-9F36-54A5C208B615}"/>
              </a:ext>
            </a:extLst>
          </p:cNvPr>
          <p:cNvSpPr txBox="1">
            <a:spLocks noChangeArrowheads="1"/>
          </p:cNvSpPr>
          <p:nvPr/>
        </p:nvSpPr>
        <p:spPr bwMode="auto">
          <a:xfrm>
            <a:off x="1715652" y="4573488"/>
            <a:ext cx="1487794" cy="508000"/>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b="1" dirty="0">
                <a:solidFill>
                  <a:srgbClr val="000000"/>
                </a:solidFill>
                <a:latin typeface="Calibri"/>
                <a:ea typeface="Times New Roman"/>
                <a:cs typeface="Times New Roman"/>
              </a:rPr>
              <a:t> Environment/Natural Resources (circular economy)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4" name="Text Box 107">
            <a:extLst>
              <a:ext uri="{FF2B5EF4-FFF2-40B4-BE49-F238E27FC236}">
                <a16:creationId xmlns:a16="http://schemas.microsoft.com/office/drawing/2014/main" id="{E6A1E2E5-0BF7-45AD-9F1D-92118FA6438F}"/>
              </a:ext>
            </a:extLst>
          </p:cNvPr>
          <p:cNvSpPr txBox="1">
            <a:spLocks noChangeArrowheads="1"/>
          </p:cNvSpPr>
          <p:nvPr/>
        </p:nvSpPr>
        <p:spPr bwMode="auto">
          <a:xfrm>
            <a:off x="3473057" y="500153"/>
            <a:ext cx="2008892" cy="370445"/>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pt" sz="900" b="1" i="0" u="none" strike="noStrike" cap="none" normalizeH="0" baseline="0" dirty="0">
                <a:solidFill>
                  <a:srgbClr val="000000"/>
                </a:solidFill>
                <a:highlight>
                  <a:srgbClr val="000000">
                    <a:alpha val="0"/>
                  </a:srgbClr>
                </a:highlight>
                <a:latin typeface="Calibri"/>
                <a:ea typeface="Times New Roman"/>
                <a:cs typeface="Times New Roman"/>
              </a:rPr>
              <a:t>PRIORIDADES DA ACTUALIZAÇÃO DO SCB do BM </a:t>
            </a:r>
            <a:endParaRPr kumimoji="0" lang="en-US" altLang="zh-CN" sz="1600" b="0" i="0" u="none" strike="noStrike" cap="none" normalizeH="0" baseline="0" dirty="0">
              <a:ln>
                <a:noFill/>
              </a:ln>
              <a:solidFill>
                <a:schemeClr val="tx1"/>
              </a:solidFill>
              <a:effectLst/>
              <a:latin typeface="Arial" panose="020B0604020202020204" pitchFamily="34" charset="0"/>
            </a:endParaRPr>
          </a:p>
        </p:txBody>
      </p:sp>
      <p:sp>
        <p:nvSpPr>
          <p:cNvPr id="45" name="Text Box 102">
            <a:extLst>
              <a:ext uri="{FF2B5EF4-FFF2-40B4-BE49-F238E27FC236}">
                <a16:creationId xmlns:a16="http://schemas.microsoft.com/office/drawing/2014/main" id="{37F53BF3-9C92-442B-8A9B-85DFBF303E13}"/>
              </a:ext>
            </a:extLst>
          </p:cNvPr>
          <p:cNvSpPr txBox="1">
            <a:spLocks noChangeArrowheads="1"/>
          </p:cNvSpPr>
          <p:nvPr/>
        </p:nvSpPr>
        <p:spPr bwMode="auto">
          <a:xfrm>
            <a:off x="5873624" y="516380"/>
            <a:ext cx="2315458" cy="410865"/>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pt" sz="1000" b="1" i="0" u="none" strike="noStrike" cap="none" normalizeH="0" baseline="0" dirty="0">
                <a:solidFill>
                  <a:srgbClr val="000000"/>
                </a:solidFill>
                <a:highlight>
                  <a:srgbClr val="000000">
                    <a:alpha val="0"/>
                  </a:srgbClr>
                </a:highlight>
                <a:latin typeface="Calibri"/>
                <a:ea typeface="Times New Roman"/>
                <a:cs typeface="Times New Roman"/>
              </a:rPr>
              <a:t>OBJECTIVOS DO CPF DO GBM</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6" name="Text Box 86">
            <a:extLst>
              <a:ext uri="{FF2B5EF4-FFF2-40B4-BE49-F238E27FC236}">
                <a16:creationId xmlns:a16="http://schemas.microsoft.com/office/drawing/2014/main" id="{A79229F4-4E13-47DF-B0B6-A443023CE6D5}"/>
              </a:ext>
            </a:extLst>
          </p:cNvPr>
          <p:cNvSpPr txBox="1">
            <a:spLocks noChangeArrowheads="1"/>
          </p:cNvSpPr>
          <p:nvPr/>
        </p:nvSpPr>
        <p:spPr bwMode="auto">
          <a:xfrm>
            <a:off x="8643949" y="557913"/>
            <a:ext cx="1378820" cy="369332"/>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1000" b="1" dirty="0">
                <a:solidFill>
                  <a:srgbClr val="000000"/>
                </a:solidFill>
                <a:latin typeface="Calibri"/>
                <a:ea typeface="Times New Roman"/>
                <a:cs typeface="Times New Roman"/>
              </a:rPr>
              <a:t>HIGH LEVEL OBJECTIVES (HLO)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7" name="Text Box 90">
            <a:extLst>
              <a:ext uri="{FF2B5EF4-FFF2-40B4-BE49-F238E27FC236}">
                <a16:creationId xmlns:a16="http://schemas.microsoft.com/office/drawing/2014/main" id="{82398FA7-E5D3-44D7-A639-37FF35396638}"/>
              </a:ext>
            </a:extLst>
          </p:cNvPr>
          <p:cNvSpPr txBox="1">
            <a:spLocks noChangeArrowheads="1"/>
          </p:cNvSpPr>
          <p:nvPr/>
        </p:nvSpPr>
        <p:spPr bwMode="auto">
          <a:xfrm>
            <a:off x="8731922" y="2676998"/>
            <a:ext cx="1228725" cy="1784350"/>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900" b="0" i="0" u="none" strike="noStrike" cap="none" normalizeH="0" baseline="0" dirty="0">
              <a:ln>
                <a:noFill/>
              </a:ln>
              <a:solidFill>
                <a:schemeClr val="tx1"/>
              </a:solidFill>
              <a:effectLst/>
              <a:latin typeface="Calibri" pitchFamily="34" charset="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900" dirty="0">
                <a:solidFill>
                  <a:srgbClr val="000000"/>
                </a:solidFill>
                <a:latin typeface="Calibri"/>
                <a:ea typeface="Times New Roman"/>
                <a:cs typeface="Times New Roman"/>
              </a:rPr>
              <a:t>HLO 2: Increasing inclusive job creation
</a:t>
            </a:r>
            <a:endParaRPr kumimoji="0" lang="en-US" altLang="zh-CN" sz="900" b="0" i="1" u="none" strike="noStrike" cap="none" normalizeH="0" baseline="0" dirty="0">
              <a:ln>
                <a:noFill/>
              </a:ln>
              <a:solidFill>
                <a:schemeClr val="tx1"/>
              </a:solidFill>
              <a:effectLst/>
              <a:latin typeface="Calibri" pitchFamily="34"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8" name="Text Box 89">
            <a:extLst>
              <a:ext uri="{FF2B5EF4-FFF2-40B4-BE49-F238E27FC236}">
                <a16:creationId xmlns:a16="http://schemas.microsoft.com/office/drawing/2014/main" id="{1BA8E8A2-B286-49EC-AD72-B7F8B644098E}"/>
              </a:ext>
            </a:extLst>
          </p:cNvPr>
          <p:cNvSpPr txBox="1">
            <a:spLocks noChangeArrowheads="1"/>
          </p:cNvSpPr>
          <p:nvPr/>
        </p:nvSpPr>
        <p:spPr bwMode="auto">
          <a:xfrm>
            <a:off x="8751614" y="4565163"/>
            <a:ext cx="1245010" cy="1791188"/>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HLO3: Improving human capital and women's empowerment
</a:t>
            </a:r>
            <a:endParaRPr kumimoji="0" lang="en-US" altLang="zh-CN" sz="9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9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lang="en-US" altLang="zh-CN" sz="900" i="1" dirty="0">
              <a:latin typeface="Calibri" pitchFamily="34" charset="0"/>
              <a:ea typeface="Times New Roman" panose="02020603050405020304" pitchFamily="18" charset="0"/>
              <a:cs typeface="Times New Roman" panose="02020603050405020304" pitchFamily="18" charset="0"/>
            </a:endParaRPr>
          </a:p>
        </p:txBody>
      </p:sp>
      <p:sp>
        <p:nvSpPr>
          <p:cNvPr id="49" name="Text Box 87">
            <a:extLst>
              <a:ext uri="{FF2B5EF4-FFF2-40B4-BE49-F238E27FC236}">
                <a16:creationId xmlns:a16="http://schemas.microsoft.com/office/drawing/2014/main" id="{EB613E97-5EF1-4040-8C44-108B0C84469B}"/>
              </a:ext>
            </a:extLst>
          </p:cNvPr>
          <p:cNvSpPr txBox="1">
            <a:spLocks noChangeArrowheads="1"/>
          </p:cNvSpPr>
          <p:nvPr/>
        </p:nvSpPr>
        <p:spPr bwMode="auto">
          <a:xfrm>
            <a:off x="8730879" y="985005"/>
            <a:ext cx="1217885" cy="1577135"/>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9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900" dirty="0">
                <a:solidFill>
                  <a:srgbClr val="000000"/>
                </a:solidFill>
                <a:latin typeface="Calibri"/>
                <a:ea typeface="Times New Roman"/>
                <a:cs typeface="Times New Roman"/>
              </a:rPr>
              <a:t>HLO 1: Inclusive Institutions
</a:t>
            </a:r>
            <a:endParaRPr kumimoji="0" lang="en-US" altLang="zh-CN" sz="9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algn="ctr" eaLnBrk="0" fontAlgn="base" hangingPunct="0">
              <a:spcBef>
                <a:spcPct val="0"/>
              </a:spcBef>
              <a:spcAft>
                <a:spcPct val="0"/>
              </a:spcAf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0" name="Text Box 78">
            <a:extLst>
              <a:ext uri="{FF2B5EF4-FFF2-40B4-BE49-F238E27FC236}">
                <a16:creationId xmlns:a16="http://schemas.microsoft.com/office/drawing/2014/main" id="{26218C6F-E2B8-47F3-AB8A-41F3A5B8937B}"/>
              </a:ext>
            </a:extLst>
          </p:cNvPr>
          <p:cNvSpPr txBox="1">
            <a:spLocks noChangeArrowheads="1"/>
          </p:cNvSpPr>
          <p:nvPr/>
        </p:nvSpPr>
        <p:spPr bwMode="auto">
          <a:xfrm>
            <a:off x="3476341" y="950870"/>
            <a:ext cx="1985206" cy="766959"/>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High debt burden, a fragile macro-fiscal framework and other adverse risks expose the economy to macroeconomic instability and undermine investor confidence</a:t>
            </a:r>
            <a:r>
              <a:rPr kumimoji="0" lang="pt" sz="900" b="0" i="0" u="none" strike="noStrike" cap="none" normalizeH="0" baseline="0" dirty="0">
                <a:solidFill>
                  <a:srgbClr val="000000"/>
                </a:solidFill>
                <a:highlight>
                  <a:srgbClr val="000000">
                    <a:alpha val="0"/>
                  </a:srgbClr>
                </a:highlight>
                <a:latin typeface="Calibri"/>
                <a:ea typeface="Times New Roman"/>
                <a:cs typeface="Times New Roman"/>
              </a:rPr>
              <a:t>.</a:t>
            </a:r>
            <a:endParaRPr kumimoji="0" lang="en-US" altLang="zh-CN"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1" name="Text Box 79">
            <a:extLst>
              <a:ext uri="{FF2B5EF4-FFF2-40B4-BE49-F238E27FC236}">
                <a16:creationId xmlns:a16="http://schemas.microsoft.com/office/drawing/2014/main" id="{A00457DF-E278-4418-AF56-D23781F3E4F1}"/>
              </a:ext>
            </a:extLst>
          </p:cNvPr>
          <p:cNvSpPr txBox="1">
            <a:spLocks noChangeArrowheads="1"/>
          </p:cNvSpPr>
          <p:nvPr/>
        </p:nvSpPr>
        <p:spPr bwMode="auto">
          <a:xfrm>
            <a:off x="3483879" y="2879630"/>
            <a:ext cx="2020094" cy="650875"/>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A slow, unbalanced and unfunded decentralization process makes it difficult to delegate powers to local governments.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2" name="Text Box 103">
            <a:extLst>
              <a:ext uri="{FF2B5EF4-FFF2-40B4-BE49-F238E27FC236}">
                <a16:creationId xmlns:a16="http://schemas.microsoft.com/office/drawing/2014/main" id="{DCC56B25-B63F-4588-A26A-6E4BD0B39749}"/>
              </a:ext>
            </a:extLst>
          </p:cNvPr>
          <p:cNvSpPr txBox="1">
            <a:spLocks noChangeArrowheads="1"/>
          </p:cNvSpPr>
          <p:nvPr/>
        </p:nvSpPr>
        <p:spPr bwMode="auto">
          <a:xfrm>
            <a:off x="5908040" y="1016226"/>
            <a:ext cx="2296354" cy="1942731"/>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1. Improve economic management for the creation of sustainable and resilient jobs, better execution capacity and lower sovereign risk
2. Increasing the effectiveness of the public sector for inclusive and transparent service delivery and more sustainable, resilient and equitable policies 
3. Strengthen coordination, policies and capacity for better preparedness and response to natural disasters, disasters, and other multidimensional shocks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3" name="Text Box 97">
            <a:extLst>
              <a:ext uri="{FF2B5EF4-FFF2-40B4-BE49-F238E27FC236}">
                <a16:creationId xmlns:a16="http://schemas.microsoft.com/office/drawing/2014/main" id="{53F47CE3-06C6-4A6F-A118-A959D8740BD4}"/>
              </a:ext>
            </a:extLst>
          </p:cNvPr>
          <p:cNvSpPr txBox="1">
            <a:spLocks noChangeArrowheads="1"/>
          </p:cNvSpPr>
          <p:nvPr/>
        </p:nvSpPr>
        <p:spPr bwMode="auto">
          <a:xfrm>
            <a:off x="5902449" y="5105628"/>
            <a:ext cx="2265505" cy="1318554"/>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7. Sustainably improve key health and education outcomes
8. Increasing the efficiency and effective coverage of integrated and sustainable social services
9. Improving access to services to prevent teenage pregnancy and promote women's participation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4" name="Text Box 99">
            <a:extLst>
              <a:ext uri="{FF2B5EF4-FFF2-40B4-BE49-F238E27FC236}">
                <a16:creationId xmlns:a16="http://schemas.microsoft.com/office/drawing/2014/main" id="{CC38D241-29A8-4D06-871B-D72391375300}"/>
              </a:ext>
            </a:extLst>
          </p:cNvPr>
          <p:cNvSpPr txBox="1">
            <a:spLocks noChangeArrowheads="1"/>
          </p:cNvSpPr>
          <p:nvPr/>
        </p:nvSpPr>
        <p:spPr bwMode="auto">
          <a:xfrm>
            <a:off x="10751963" y="2104449"/>
            <a:ext cx="561779" cy="3471862"/>
          </a:xfrm>
          <a:prstGeom prst="rect">
            <a:avLst/>
          </a:prstGeom>
          <a:solidFill>
            <a:srgbClr val="FFFFFF"/>
          </a:solidFill>
          <a:ln w="6350">
            <a:solidFill>
              <a:srgbClr val="000000"/>
            </a:solidFill>
            <a:miter lim="800000"/>
          </a:ln>
        </p:spPr>
        <p:txBody>
          <a:bodyPr vert="vert270"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1000" b="1" dirty="0">
                <a:solidFill>
                  <a:srgbClr val="000000"/>
                </a:solidFill>
                <a:latin typeface="Calibri"/>
                <a:ea typeface="Times New Roman"/>
                <a:cs typeface="Times New Roman"/>
              </a:rPr>
              <a:t>The World Bank's dual objectives (in the context of </a:t>
            </a:r>
            <a:r>
              <a:rPr lang="en-US" sz="1000" i="1" dirty="0">
                <a:solidFill>
                  <a:srgbClr val="000000"/>
                </a:solidFill>
                <a:latin typeface="Calibri"/>
                <a:ea typeface="Times New Roman"/>
                <a:cs typeface="Times New Roman"/>
              </a:rPr>
              <a:t>Fragility Conflict and Violence)</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5" name="Text Box 100">
            <a:extLst>
              <a:ext uri="{FF2B5EF4-FFF2-40B4-BE49-F238E27FC236}">
                <a16:creationId xmlns:a16="http://schemas.microsoft.com/office/drawing/2014/main" id="{6DC054EA-390C-4274-A3B4-61AE519AFF93}"/>
              </a:ext>
            </a:extLst>
          </p:cNvPr>
          <p:cNvSpPr txBox="1">
            <a:spLocks noChangeArrowheads="1"/>
          </p:cNvSpPr>
          <p:nvPr/>
        </p:nvSpPr>
        <p:spPr bwMode="auto">
          <a:xfrm>
            <a:off x="5890371" y="3060927"/>
            <a:ext cx="2296353" cy="1942731"/>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4. Enable sustainable growth of selected natural resource sectors by exploiting regional and global comparative advantages
5. Promote productivity growth in selected labor-intensive industries 
6. Expand accessible, reliable and climate-resilience services to improve access to the most disadvantaged, strengthen sustainable urbanization and economic agglomeration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7" name="Text Box 77">
            <a:extLst>
              <a:ext uri="{FF2B5EF4-FFF2-40B4-BE49-F238E27FC236}">
                <a16:creationId xmlns:a16="http://schemas.microsoft.com/office/drawing/2014/main" id="{6A5089EA-F723-4FD1-838A-0D3BD4FEB79A}"/>
              </a:ext>
            </a:extLst>
          </p:cNvPr>
          <p:cNvSpPr txBox="1">
            <a:spLocks noChangeArrowheads="1"/>
          </p:cNvSpPr>
          <p:nvPr/>
        </p:nvSpPr>
        <p:spPr bwMode="auto">
          <a:xfrm>
            <a:off x="3473057" y="1798101"/>
            <a:ext cx="2016001" cy="1017953"/>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Poor transparency, a weak data environment and insufficient oversight and accountability of public financial management and state-owned enterprises undermine the efficiency and effectiveness of public resources </a:t>
            </a:r>
            <a:r>
              <a:rPr kumimoji="0" lang="pt" sz="900" b="0" i="0" u="none" strike="noStrike" cap="none" normalizeH="0" baseline="0" dirty="0">
                <a:solidFill>
                  <a:srgbClr val="000000"/>
                </a:solidFill>
                <a:highlight>
                  <a:srgbClr val="000000">
                    <a:alpha val="0"/>
                  </a:srgbClr>
                </a:highlight>
                <a:latin typeface="Calibri"/>
                <a:ea typeface="Times New Roman"/>
                <a:cs typeface="Times New Roman"/>
              </a:rPr>
              <a:t>.</a:t>
            </a:r>
            <a:endParaRPr kumimoji="0" lang="en-US" altLang="zh-CN"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8" name="Text Box 81">
            <a:extLst>
              <a:ext uri="{FF2B5EF4-FFF2-40B4-BE49-F238E27FC236}">
                <a16:creationId xmlns:a16="http://schemas.microsoft.com/office/drawing/2014/main" id="{89AF3C58-1D52-43BE-BD43-B1B4B9388F1D}"/>
              </a:ext>
            </a:extLst>
          </p:cNvPr>
          <p:cNvSpPr txBox="1">
            <a:spLocks noChangeArrowheads="1"/>
          </p:cNvSpPr>
          <p:nvPr/>
        </p:nvSpPr>
        <p:spPr bwMode="auto">
          <a:xfrm>
            <a:off x="3483879" y="3760745"/>
            <a:ext cx="2008891" cy="681038"/>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The conditions of training, regulation and markets critical to private sector growth, diversification and job creation are underdeveloped.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9" name="Text Box 80">
            <a:extLst>
              <a:ext uri="{FF2B5EF4-FFF2-40B4-BE49-F238E27FC236}">
                <a16:creationId xmlns:a16="http://schemas.microsoft.com/office/drawing/2014/main" id="{9D0FC625-5B93-4F5D-8146-D81344F7F31C}"/>
              </a:ext>
            </a:extLst>
          </p:cNvPr>
          <p:cNvSpPr txBox="1">
            <a:spLocks noChangeArrowheads="1"/>
          </p:cNvSpPr>
          <p:nvPr/>
        </p:nvSpPr>
        <p:spPr bwMode="auto">
          <a:xfrm>
            <a:off x="3476341" y="4532866"/>
            <a:ext cx="2008892" cy="690562"/>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Failures in key markets, some of which are policy-induced, increase productivity, marketing and risk management</a:t>
            </a:r>
            <a:r>
              <a:rPr kumimoji="0" lang="pt" sz="900" b="0" i="0" u="none" strike="noStrike" cap="none" normalizeH="0" baseline="0" dirty="0">
                <a:solidFill>
                  <a:srgbClr val="000000"/>
                </a:solidFill>
                <a:highlight>
                  <a:srgbClr val="000000">
                    <a:alpha val="0"/>
                  </a:srgbClr>
                </a:highlight>
                <a:latin typeface="Calibri"/>
                <a:ea typeface="Times New Roman"/>
                <a:cs typeface="Times New Roman"/>
              </a:rPr>
              <a:t>.</a:t>
            </a:r>
            <a:endParaRPr kumimoji="0" lang="en-US" altLang="zh-CN"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60" name="Text Box 82">
            <a:extLst>
              <a:ext uri="{FF2B5EF4-FFF2-40B4-BE49-F238E27FC236}">
                <a16:creationId xmlns:a16="http://schemas.microsoft.com/office/drawing/2014/main" id="{1080C6B7-4DA5-4A14-8AF1-82F56116F321}"/>
              </a:ext>
            </a:extLst>
          </p:cNvPr>
          <p:cNvSpPr txBox="1">
            <a:spLocks noChangeArrowheads="1"/>
          </p:cNvSpPr>
          <p:nvPr/>
        </p:nvSpPr>
        <p:spPr bwMode="auto">
          <a:xfrm>
            <a:off x="3483878" y="5528860"/>
            <a:ext cx="2002521" cy="899160"/>
          </a:xfrm>
          <a:prstGeom prst="rect">
            <a:avLst/>
          </a:prstGeom>
          <a:solidFill>
            <a:srgbClr val="FFFFFF"/>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lvl="0" algn="ctr" eaLnBrk="0" fontAlgn="base" hangingPunct="0">
              <a:spcBef>
                <a:spcPct val="0"/>
              </a:spcBef>
              <a:spcAft>
                <a:spcPct val="0"/>
              </a:spcAft>
            </a:pPr>
            <a:r>
              <a:rPr lang="en-US" sz="900" dirty="0">
                <a:solidFill>
                  <a:srgbClr val="000000"/>
                </a:solidFill>
                <a:latin typeface="Calibri"/>
                <a:ea typeface="Times New Roman"/>
                <a:cs typeface="Times New Roman"/>
              </a:rPr>
              <a:t>Limited liability and performance-based incentives and poor institutional coordination limit the effectiveness and efficiency of service delivery and the training of human capital</a:t>
            </a:r>
            <a:r>
              <a:rPr kumimoji="0" lang="pt" sz="900" b="0" i="0" u="none" strike="noStrike" cap="none" normalizeH="0" baseline="0" dirty="0">
                <a:solidFill>
                  <a:srgbClr val="000000"/>
                </a:solidFill>
                <a:highlight>
                  <a:srgbClr val="000000">
                    <a:alpha val="0"/>
                  </a:srgbClr>
                </a:highlight>
                <a:latin typeface="Calibri"/>
                <a:ea typeface="Times New Roman"/>
                <a:cs typeface="Times New Roman"/>
              </a:rPr>
              <a:t>.</a:t>
            </a:r>
            <a:endParaRPr kumimoji="0" lang="en-US" altLang="zh-CN"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62" name="Right Arrow 23">
            <a:extLst>
              <a:ext uri="{FF2B5EF4-FFF2-40B4-BE49-F238E27FC236}">
                <a16:creationId xmlns:a16="http://schemas.microsoft.com/office/drawing/2014/main" id="{F7B8CA4A-EE30-47E3-B96F-AAF1B6C4697F}"/>
              </a:ext>
            </a:extLst>
          </p:cNvPr>
          <p:cNvSpPr/>
          <p:nvPr/>
        </p:nvSpPr>
        <p:spPr>
          <a:xfrm>
            <a:off x="8345501" y="3798099"/>
            <a:ext cx="298447" cy="185420"/>
          </a:xfrm>
          <a:prstGeom prst="rightArrow">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3" name="Right Arrow 23">
            <a:extLst>
              <a:ext uri="{FF2B5EF4-FFF2-40B4-BE49-F238E27FC236}">
                <a16:creationId xmlns:a16="http://schemas.microsoft.com/office/drawing/2014/main" id="{807A0D66-CC7C-4916-A863-58A2936E001D}"/>
              </a:ext>
            </a:extLst>
          </p:cNvPr>
          <p:cNvSpPr/>
          <p:nvPr/>
        </p:nvSpPr>
        <p:spPr>
          <a:xfrm>
            <a:off x="8318413" y="1679133"/>
            <a:ext cx="298447" cy="185420"/>
          </a:xfrm>
          <a:prstGeom prst="rightArrow">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4" name="Right Brace 63">
            <a:extLst>
              <a:ext uri="{FF2B5EF4-FFF2-40B4-BE49-F238E27FC236}">
                <a16:creationId xmlns:a16="http://schemas.microsoft.com/office/drawing/2014/main" id="{AD63B931-3E8E-4C11-B57C-F8A9FAD3BFA0}"/>
              </a:ext>
            </a:extLst>
          </p:cNvPr>
          <p:cNvSpPr/>
          <p:nvPr/>
        </p:nvSpPr>
        <p:spPr>
          <a:xfrm>
            <a:off x="9975578" y="1009196"/>
            <a:ext cx="795153" cy="5622290"/>
          </a:xfrm>
          <a:prstGeom prst="rightBrace">
            <a:avLst>
              <a:gd name="adj1" fmla="val 0"/>
              <a:gd name="adj2" fmla="val 48780"/>
            </a:avLst>
          </a:prstGeom>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5" name="Right Arrow 23">
            <a:extLst>
              <a:ext uri="{FF2B5EF4-FFF2-40B4-BE49-F238E27FC236}">
                <a16:creationId xmlns:a16="http://schemas.microsoft.com/office/drawing/2014/main" id="{E176EB49-8380-4BF9-B5CD-94A2BBD3D968}"/>
              </a:ext>
            </a:extLst>
          </p:cNvPr>
          <p:cNvSpPr/>
          <p:nvPr/>
        </p:nvSpPr>
        <p:spPr>
          <a:xfrm>
            <a:off x="8312093" y="5566932"/>
            <a:ext cx="298447" cy="185420"/>
          </a:xfrm>
          <a:prstGeom prst="rightArrow">
            <a:avLst/>
          </a:prstGeom>
          <a:solidFill>
            <a:srgbClr val="4472C4"/>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6" name="Right Brace 65">
            <a:extLst>
              <a:ext uri="{FF2B5EF4-FFF2-40B4-BE49-F238E27FC236}">
                <a16:creationId xmlns:a16="http://schemas.microsoft.com/office/drawing/2014/main" id="{9BD27318-54AE-44F0-B8A0-1D07DE47F16A}"/>
              </a:ext>
            </a:extLst>
          </p:cNvPr>
          <p:cNvSpPr/>
          <p:nvPr/>
        </p:nvSpPr>
        <p:spPr>
          <a:xfrm>
            <a:off x="5541669" y="918522"/>
            <a:ext cx="322443" cy="2598945"/>
          </a:xfrm>
          <a:prstGeom prst="rightBrace">
            <a:avLst>
              <a:gd name="adj1" fmla="val 0"/>
              <a:gd name="adj2" fmla="val 50000"/>
            </a:avLst>
          </a:prstGeom>
          <a:noFill/>
          <a:ln w="635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7" name="Right Brace 66">
            <a:extLst>
              <a:ext uri="{FF2B5EF4-FFF2-40B4-BE49-F238E27FC236}">
                <a16:creationId xmlns:a16="http://schemas.microsoft.com/office/drawing/2014/main" id="{17BA87D7-AAFC-4A88-88D7-39B35CF00A45}"/>
              </a:ext>
            </a:extLst>
          </p:cNvPr>
          <p:cNvSpPr/>
          <p:nvPr/>
        </p:nvSpPr>
        <p:spPr>
          <a:xfrm>
            <a:off x="5554535" y="3753428"/>
            <a:ext cx="278613" cy="1469999"/>
          </a:xfrm>
          <a:prstGeom prst="rightBrace">
            <a:avLst>
              <a:gd name="adj1" fmla="val 0"/>
              <a:gd name="adj2" fmla="val 37200"/>
            </a:avLst>
          </a:prstGeom>
          <a:noFill/>
          <a:ln w="635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68" name="Right Brace 67">
            <a:extLst>
              <a:ext uri="{FF2B5EF4-FFF2-40B4-BE49-F238E27FC236}">
                <a16:creationId xmlns:a16="http://schemas.microsoft.com/office/drawing/2014/main" id="{485910CA-A043-4F81-B5DB-931EE68D20BA}"/>
              </a:ext>
            </a:extLst>
          </p:cNvPr>
          <p:cNvSpPr/>
          <p:nvPr/>
        </p:nvSpPr>
        <p:spPr>
          <a:xfrm>
            <a:off x="5541669" y="5566932"/>
            <a:ext cx="360982" cy="857250"/>
          </a:xfrm>
          <a:prstGeom prst="rightBrace">
            <a:avLst>
              <a:gd name="adj1" fmla="val 0"/>
              <a:gd name="adj2" fmla="val 37200"/>
            </a:avLst>
          </a:prstGeom>
          <a:noFill/>
          <a:ln w="635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75" name="Rectangle 120">
            <a:extLst>
              <a:ext uri="{FF2B5EF4-FFF2-40B4-BE49-F238E27FC236}">
                <a16:creationId xmlns:a16="http://schemas.microsoft.com/office/drawing/2014/main" id="{B4C827BB-E166-4720-BAE3-E8852D546BA4}"/>
              </a:ext>
            </a:extLst>
          </p:cNvPr>
          <p:cNvSpPr>
            <a:spLocks noChangeArrowheads="1"/>
          </p:cNvSpPr>
          <p:nvPr/>
        </p:nvSpPr>
        <p:spPr bwMode="auto">
          <a:xfrm>
            <a:off x="-843300" y="2883334"/>
            <a:ext cx="1136940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endParaRPr lang="en-US" dirty="0"/>
          </a:p>
        </p:txBody>
      </p:sp>
      <p:sp>
        <p:nvSpPr>
          <p:cNvPr id="82" name="TextBox 81">
            <a:extLst>
              <a:ext uri="{FF2B5EF4-FFF2-40B4-BE49-F238E27FC236}">
                <a16:creationId xmlns:a16="http://schemas.microsoft.com/office/drawing/2014/main" id="{435911EA-4749-40E7-B920-CA8554FC37D6}"/>
              </a:ext>
            </a:extLst>
          </p:cNvPr>
          <p:cNvSpPr txBox="1"/>
          <p:nvPr/>
        </p:nvSpPr>
        <p:spPr>
          <a:xfrm>
            <a:off x="262384" y="38488"/>
            <a:ext cx="11141528" cy="461665"/>
          </a:xfrm>
          <a:prstGeom prst="rect">
            <a:avLst/>
          </a:prstGeom>
          <a:noFill/>
        </p:spPr>
        <p:txBody>
          <a:bodyPr wrap="square">
            <a:noAutofit/>
          </a:bodyPr>
          <a:lstStyle/>
          <a:p>
            <a:pPr lvl="0" algn="r" eaLnBrk="0" fontAlgn="base" hangingPunct="0">
              <a:spcBef>
                <a:spcPct val="0"/>
              </a:spcBef>
              <a:spcAft>
                <a:spcPct val="0"/>
              </a:spcAft>
            </a:pPr>
            <a:r>
              <a:rPr lang="en-US" sz="2300" b="1" dirty="0">
                <a:solidFill>
                  <a:srgbClr val="2F5597"/>
                </a:solidFill>
                <a:ea typeface="+mj-ea"/>
              </a:rPr>
              <a:t>Government Program, SCD Priorities and CPF 2023-2027</a:t>
            </a:r>
            <a:endParaRPr lang="pt" sz="2300" b="1" i="0" u="none" strike="noStrike" dirty="0">
              <a:solidFill>
                <a:srgbClr val="2F5597"/>
              </a:solidFill>
              <a:highlight>
                <a:srgbClr val="000000">
                  <a:alpha val="0"/>
                </a:srgbClr>
              </a:highlight>
              <a:latin typeface="Arial"/>
              <a:ea typeface="+mj-ea"/>
              <a:cs typeface="Arial"/>
            </a:endParaRPr>
          </a:p>
        </p:txBody>
      </p:sp>
      <p:sp>
        <p:nvSpPr>
          <p:cNvPr id="33" name="Text Box 86">
            <a:extLst>
              <a:ext uri="{FF2B5EF4-FFF2-40B4-BE49-F238E27FC236}">
                <a16:creationId xmlns:a16="http://schemas.microsoft.com/office/drawing/2014/main" id="{3E71666A-E496-4F48-9C63-1C4953AF4D3C}"/>
              </a:ext>
            </a:extLst>
          </p:cNvPr>
          <p:cNvSpPr txBox="1">
            <a:spLocks noChangeArrowheads="1"/>
          </p:cNvSpPr>
          <p:nvPr/>
        </p:nvSpPr>
        <p:spPr bwMode="auto">
          <a:xfrm>
            <a:off x="10251894" y="582104"/>
            <a:ext cx="1378820" cy="369332"/>
          </a:xfrm>
          <a:prstGeom prst="rect">
            <a:avLst/>
          </a:prstGeom>
          <a:solidFill>
            <a:schemeClr val="bg2"/>
          </a:solidFill>
          <a:ln w="6350">
            <a:solidFill>
              <a:srgbClr val="000000"/>
            </a:solidFill>
            <a:miter lim="800000"/>
          </a:ln>
        </p:spPr>
        <p:txBody>
          <a:bodyPr vert="horz" wrap="square" lIns="91440" tIns="45720" rIns="91440" bIns="45720" numCol="1"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pt" sz="1200" b="1" i="0" u="none" strike="noStrike" cap="none" normalizeH="0" baseline="0" dirty="0">
                <a:solidFill>
                  <a:srgbClr val="000000"/>
                </a:solidFill>
                <a:highlight>
                  <a:srgbClr val="000000">
                    <a:alpha val="0"/>
                  </a:srgbClr>
                </a:highlight>
                <a:latin typeface="Calibri"/>
                <a:ea typeface="Times New Roman"/>
                <a:cs typeface="Times New Roman"/>
              </a:rPr>
              <a:t>IMPACT</a:t>
            </a:r>
            <a:r>
              <a:rPr kumimoji="0" lang="pt" sz="1000" b="1" i="0" u="none" strike="noStrike" cap="none" normalizeH="0" baseline="0" dirty="0">
                <a:solidFill>
                  <a:srgbClr val="000000"/>
                </a:solidFill>
                <a:highlight>
                  <a:srgbClr val="000000">
                    <a:alpha val="0"/>
                  </a:srgbClr>
                </a:highlight>
                <a:latin typeface="Calibri"/>
                <a:ea typeface="Times New Roman"/>
                <a:cs typeface="Times New Roman"/>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5" name="Footer Placeholder 4">
            <a:extLst>
              <a:ext uri="{FF2B5EF4-FFF2-40B4-BE49-F238E27FC236}">
                <a16:creationId xmlns:a16="http://schemas.microsoft.com/office/drawing/2014/main" id="{3426EFB2-C29A-47AE-B735-FDA626614932}"/>
              </a:ext>
            </a:extLst>
          </p:cNvPr>
          <p:cNvSpPr>
            <a:spLocks noGrp="1"/>
          </p:cNvSpPr>
          <p:nvPr>
            <p:ph type="ftr" sz="quarter" idx="11"/>
          </p:nvPr>
        </p:nvSpPr>
        <p:spPr>
          <a:xfrm>
            <a:off x="4037499" y="6485618"/>
            <a:ext cx="4114800" cy="365125"/>
          </a:xfrm>
        </p:spPr>
        <p:txBody>
          <a:bodyPr/>
          <a:lstStyle/>
          <a:p>
            <a:r>
              <a:rPr lang="en-US"/>
              <a:t>CPF 2023-2027. Public Version. Maputo, May 2022.</a:t>
            </a:r>
            <a:endParaRPr lang="en-US" dirty="0"/>
          </a:p>
        </p:txBody>
      </p:sp>
      <p:sp>
        <p:nvSpPr>
          <p:cNvPr id="6" name="Slide Number Placeholder 5">
            <a:extLst>
              <a:ext uri="{FF2B5EF4-FFF2-40B4-BE49-F238E27FC236}">
                <a16:creationId xmlns:a16="http://schemas.microsoft.com/office/drawing/2014/main" id="{209C3A3E-73B2-4CAB-BCDC-283C09B7A996}"/>
              </a:ext>
            </a:extLst>
          </p:cNvPr>
          <p:cNvSpPr>
            <a:spLocks noGrp="1"/>
          </p:cNvSpPr>
          <p:nvPr>
            <p:ph type="sldNum" sz="quarter" idx="12"/>
          </p:nvPr>
        </p:nvSpPr>
        <p:spPr/>
        <p:txBody>
          <a:bodyPr/>
          <a:lstStyle/>
          <a:p>
            <a:fld id="{B8473C9A-9E91-4025-B5E2-D7B202510636}" type="slidenum">
              <a:rPr lang="en-US" smtClean="0"/>
              <a:t>19</a:t>
            </a:fld>
            <a:endParaRPr lang="en-US" dirty="0"/>
          </a:p>
        </p:txBody>
      </p:sp>
      <p:graphicFrame>
        <p:nvGraphicFramePr>
          <p:cNvPr id="2" name="Table 2">
            <a:extLst>
              <a:ext uri="{FF2B5EF4-FFF2-40B4-BE49-F238E27FC236}">
                <a16:creationId xmlns:a16="http://schemas.microsoft.com/office/drawing/2014/main" id="{1C2F015B-084F-4D5A-AFF8-CBC5391288D9}"/>
              </a:ext>
            </a:extLst>
          </p:cNvPr>
          <p:cNvGraphicFramePr>
            <a:graphicFrameLocks noGrp="1"/>
          </p:cNvGraphicFramePr>
          <p:nvPr>
            <p:extLst>
              <p:ext uri="{D42A27DB-BD31-4B8C-83A1-F6EECF244321}">
                <p14:modId xmlns:p14="http://schemas.microsoft.com/office/powerpoint/2010/main" val="1381787384"/>
              </p:ext>
            </p:extLst>
          </p:nvPr>
        </p:nvGraphicFramePr>
        <p:xfrm>
          <a:off x="5862279" y="494314"/>
          <a:ext cx="2366680" cy="432931"/>
        </p:xfrm>
        <a:graphic>
          <a:graphicData uri="http://schemas.openxmlformats.org/drawingml/2006/table">
            <a:tbl>
              <a:tblPr firstRow="1" bandRow="1">
                <a:tableStyleId>{5C22544A-7EE6-4342-B048-85BDC9FD1C3A}</a:tableStyleId>
              </a:tblPr>
              <a:tblGrid>
                <a:gridCol w="2366680">
                  <a:extLst>
                    <a:ext uri="{9D8B030D-6E8A-4147-A177-3AD203B41FA5}">
                      <a16:colId xmlns:a16="http://schemas.microsoft.com/office/drawing/2014/main" val="3780125749"/>
                    </a:ext>
                  </a:extLst>
                </a:gridCol>
              </a:tblGrid>
              <a:tr h="432931">
                <a:tc>
                  <a:txBody>
                    <a:bodyPr/>
                    <a:lstStyle/>
                    <a:p>
                      <a:pPr algn="ctr"/>
                      <a:r>
                        <a:rPr lang="en-US" sz="900" dirty="0"/>
                        <a:t>WBG CPF Objectives </a:t>
                      </a:r>
                    </a:p>
                  </a:txBody>
                  <a:tcPr/>
                </a:tc>
                <a:extLst>
                  <a:ext uri="{0D108BD9-81ED-4DB2-BD59-A6C34878D82A}">
                    <a16:rowId xmlns:a16="http://schemas.microsoft.com/office/drawing/2014/main" val="4082223956"/>
                  </a:ext>
                </a:extLst>
              </a:tr>
            </a:tbl>
          </a:graphicData>
        </a:graphic>
      </p:graphicFrame>
      <p:graphicFrame>
        <p:nvGraphicFramePr>
          <p:cNvPr id="3" name="Table 3">
            <a:extLst>
              <a:ext uri="{FF2B5EF4-FFF2-40B4-BE49-F238E27FC236}">
                <a16:creationId xmlns:a16="http://schemas.microsoft.com/office/drawing/2014/main" id="{5152482C-7E96-4C99-AE17-9509514AE1B3}"/>
              </a:ext>
            </a:extLst>
          </p:cNvPr>
          <p:cNvGraphicFramePr>
            <a:graphicFrameLocks noGrp="1"/>
          </p:cNvGraphicFramePr>
          <p:nvPr>
            <p:extLst>
              <p:ext uri="{D42A27DB-BD31-4B8C-83A1-F6EECF244321}">
                <p14:modId xmlns:p14="http://schemas.microsoft.com/office/powerpoint/2010/main" val="2921258018"/>
              </p:ext>
            </p:extLst>
          </p:nvPr>
        </p:nvGraphicFramePr>
        <p:xfrm>
          <a:off x="3348429" y="493305"/>
          <a:ext cx="2284725" cy="457200"/>
        </p:xfrm>
        <a:graphic>
          <a:graphicData uri="http://schemas.openxmlformats.org/drawingml/2006/table">
            <a:tbl>
              <a:tblPr firstRow="1" bandRow="1">
                <a:tableStyleId>{5C22544A-7EE6-4342-B048-85BDC9FD1C3A}</a:tableStyleId>
              </a:tblPr>
              <a:tblGrid>
                <a:gridCol w="2284725">
                  <a:extLst>
                    <a:ext uri="{9D8B030D-6E8A-4147-A177-3AD203B41FA5}">
                      <a16:colId xmlns:a16="http://schemas.microsoft.com/office/drawing/2014/main" val="566056220"/>
                    </a:ext>
                  </a:extLst>
                </a:gridCol>
              </a:tblGrid>
              <a:tr h="457200">
                <a:tc>
                  <a:txBody>
                    <a:bodyPr/>
                    <a:lstStyle/>
                    <a:p>
                      <a:pPr algn="ctr"/>
                      <a:r>
                        <a:rPr lang="en-US" sz="900" dirty="0"/>
                        <a:t>WBG SCD Priorities </a:t>
                      </a:r>
                    </a:p>
                  </a:txBody>
                  <a:tcPr/>
                </a:tc>
                <a:extLst>
                  <a:ext uri="{0D108BD9-81ED-4DB2-BD59-A6C34878D82A}">
                    <a16:rowId xmlns:a16="http://schemas.microsoft.com/office/drawing/2014/main" val="3967305129"/>
                  </a:ext>
                </a:extLst>
              </a:tr>
            </a:tbl>
          </a:graphicData>
        </a:graphic>
      </p:graphicFrame>
      <p:pic>
        <p:nvPicPr>
          <p:cNvPr id="4" name="Picture 3">
            <a:extLst>
              <a:ext uri="{FF2B5EF4-FFF2-40B4-BE49-F238E27FC236}">
                <a16:creationId xmlns:a16="http://schemas.microsoft.com/office/drawing/2014/main" id="{52416E96-0776-48B0-B21E-A364D77FC888}"/>
              </a:ext>
            </a:extLst>
          </p:cNvPr>
          <p:cNvPicPr>
            <a:picLocks noChangeAspect="1"/>
          </p:cNvPicPr>
          <p:nvPr/>
        </p:nvPicPr>
        <p:blipFill>
          <a:blip r:embed="rId2"/>
          <a:stretch>
            <a:fillRect/>
          </a:stretch>
        </p:blipFill>
        <p:spPr>
          <a:xfrm>
            <a:off x="262384" y="103568"/>
            <a:ext cx="2316681" cy="463336"/>
          </a:xfrm>
          <a:prstGeom prst="rect">
            <a:avLst/>
          </a:prstGeom>
        </p:spPr>
      </p:pic>
    </p:spTree>
    <p:extLst>
      <p:ext uri="{BB962C8B-B14F-4D97-AF65-F5344CB8AC3E}">
        <p14:creationId xmlns:p14="http://schemas.microsoft.com/office/powerpoint/2010/main" val="106889006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676B-4603-455B-9BA6-AAFD3FF0ACAB}"/>
              </a:ext>
            </a:extLst>
          </p:cNvPr>
          <p:cNvSpPr>
            <a:spLocks noGrp="1"/>
          </p:cNvSpPr>
          <p:nvPr>
            <p:ph type="title"/>
          </p:nvPr>
        </p:nvSpPr>
        <p:spPr>
          <a:xfrm>
            <a:off x="838200" y="229481"/>
            <a:ext cx="10515600" cy="922299"/>
          </a:xfrm>
        </p:spPr>
        <p:txBody>
          <a:bodyPr>
            <a:noAutofit/>
          </a:bodyPr>
          <a:lstStyle/>
          <a:p>
            <a:pPr algn="ctr"/>
            <a:br>
              <a:rPr lang="en-US" sz="2400" dirty="0"/>
            </a:br>
            <a:br>
              <a:rPr lang="en-US" sz="2400" dirty="0"/>
            </a:br>
            <a:br>
              <a:rPr lang="en-US" sz="2400" dirty="0"/>
            </a:br>
            <a:r>
              <a:rPr lang="en-US" sz="2400" dirty="0"/>
              <a:t>Implementation of CPF 2023-2027: Prioritization
</a:t>
            </a:r>
            <a:endParaRPr lang="pt" sz="2400" b="0" i="1"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95DD31EA-D262-4017-A859-112A4B3C2A17}"/>
              </a:ext>
            </a:extLst>
          </p:cNvPr>
          <p:cNvSpPr>
            <a:spLocks noGrp="1"/>
          </p:cNvSpPr>
          <p:nvPr>
            <p:ph idx="1"/>
          </p:nvPr>
        </p:nvSpPr>
        <p:spPr>
          <a:xfrm>
            <a:off x="838200" y="1568672"/>
            <a:ext cx="10515600" cy="4700703"/>
          </a:xfrm>
        </p:spPr>
        <p:txBody>
          <a:bodyPr>
            <a:noAutofit/>
          </a:bodyPr>
          <a:lstStyle/>
          <a:p>
            <a:pPr algn="just" rtl="0"/>
            <a:r>
              <a:rPr lang="en-US" sz="1600" b="1" i="0" u="none" strike="noStrike" dirty="0">
                <a:highlight>
                  <a:srgbClr val="000000">
                    <a:alpha val="0"/>
                  </a:srgbClr>
                </a:highlight>
                <a:latin typeface="Arial"/>
              </a:rPr>
              <a:t>Over the next 12 to 24 months, the CPF will prioritize reforms and investments that can protect the country's growth prospects.</a:t>
            </a:r>
            <a:r>
              <a:rPr lang="en-US" sz="1600" i="0" u="none" strike="noStrike" dirty="0">
                <a:highlight>
                  <a:srgbClr val="000000">
                    <a:alpha val="0"/>
                  </a:srgbClr>
                </a:highlight>
                <a:latin typeface="Arial"/>
              </a:rPr>
              <a:t> In the medium term, the CPF will prioritize some transformative reforms and investments that could trigger greener and more inclusive growth.</a:t>
            </a:r>
            <a:endParaRPr lang="en-US" sz="1600" b="1" i="0" u="none" strike="noStrike" dirty="0">
              <a:highlight>
                <a:srgbClr val="000000">
                  <a:alpha val="0"/>
                </a:srgbClr>
              </a:highlight>
              <a:latin typeface="Arial"/>
            </a:endParaRPr>
          </a:p>
          <a:p>
            <a:pPr algn="just" rtl="0"/>
            <a:r>
              <a:rPr lang="en-US" sz="1600" b="1" i="0" u="none" strike="noStrike" dirty="0">
                <a:highlight>
                  <a:srgbClr val="000000">
                    <a:alpha val="0"/>
                  </a:srgbClr>
                </a:highlight>
                <a:latin typeface="Arial"/>
              </a:rPr>
              <a:t>To address the headwinds of a challenging global economy, the CPF will prioritize activities that further safeguard macroeconomic stability, improve preparedness for climate shocks </a:t>
            </a:r>
            <a:r>
              <a:rPr lang="en-US" sz="1600" i="0" u="none" strike="noStrike" dirty="0">
                <a:highlight>
                  <a:srgbClr val="000000">
                    <a:alpha val="0"/>
                  </a:srgbClr>
                </a:highlight>
                <a:latin typeface="Arial"/>
              </a:rPr>
              <a:t>and ensure stability and security in the North, while maintaining a focus on crisis prevention, response and resilience, based on the Prevention and Resilience Allocation.</a:t>
            </a:r>
            <a:endParaRPr lang="en-US" sz="1600" b="1" i="0" u="none" strike="noStrike" dirty="0">
              <a:highlight>
                <a:srgbClr val="000000">
                  <a:alpha val="0"/>
                </a:srgbClr>
              </a:highlight>
              <a:latin typeface="Arial"/>
            </a:endParaRPr>
          </a:p>
          <a:p>
            <a:pPr algn="just" rtl="0"/>
            <a:r>
              <a:rPr lang="en-US" sz="1600" b="1" i="0" u="none" strike="noStrike" dirty="0">
                <a:highlight>
                  <a:srgbClr val="000000">
                    <a:alpha val="0"/>
                  </a:srgbClr>
                </a:highlight>
                <a:latin typeface="Arial"/>
              </a:rPr>
              <a:t>The CPF will also help the government unlock additional private investment </a:t>
            </a:r>
            <a:r>
              <a:rPr lang="en-US" sz="1600" i="0" u="none" strike="noStrike" dirty="0">
                <a:highlight>
                  <a:srgbClr val="000000">
                    <a:alpha val="0"/>
                  </a:srgbClr>
                </a:highlight>
                <a:latin typeface="Arial"/>
              </a:rPr>
              <a:t>and potential productivity gains that can accelerate economic growth and inclusion in the short term.</a:t>
            </a:r>
            <a:endParaRPr lang="en-US" sz="1600" b="1" i="0" u="none" strike="noStrike" dirty="0">
              <a:highlight>
                <a:srgbClr val="000000">
                  <a:alpha val="0"/>
                </a:srgbClr>
              </a:highlight>
              <a:latin typeface="Arial"/>
            </a:endParaRPr>
          </a:p>
          <a:p>
            <a:pPr algn="just" rtl="0"/>
            <a:r>
              <a:rPr lang="en-US" sz="1600" b="1" i="0" u="none" strike="noStrike" dirty="0">
                <a:highlight>
                  <a:srgbClr val="000000">
                    <a:alpha val="0"/>
                  </a:srgbClr>
                </a:highlight>
                <a:latin typeface="Arial"/>
              </a:rPr>
              <a:t>To unleash greener and more inclusive growth</a:t>
            </a:r>
            <a:r>
              <a:rPr lang="en-US" sz="1600" i="0" u="none" strike="noStrike" dirty="0">
                <a:highlight>
                  <a:srgbClr val="000000">
                    <a:alpha val="0"/>
                  </a:srgbClr>
                </a:highlight>
                <a:latin typeface="Arial"/>
              </a:rPr>
              <a:t>, the CPF will prioritize activities that (i) enable the exploitation of a natural resource while strengthening natural resource management - gradually shifting the country towards a low carbon trajectory (integrating the recommendation of the Report on Climate Change and Development (to be published shortly)) and (ii) accelerating the process of structural (economic and spatial) transformation, namely through the modernization of agriculture and better management of the urbanization process.</a:t>
            </a:r>
            <a:endParaRPr lang="en-US" sz="1600" dirty="0"/>
          </a:p>
        </p:txBody>
      </p:sp>
      <p:sp>
        <p:nvSpPr>
          <p:cNvPr id="7" name="Footer Placeholder 6">
            <a:extLst>
              <a:ext uri="{FF2B5EF4-FFF2-40B4-BE49-F238E27FC236}">
                <a16:creationId xmlns:a16="http://schemas.microsoft.com/office/drawing/2014/main" id="{A33C755C-B279-42BF-B058-8A1E73B24E63}"/>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B051C23C-5BC7-4AE8-9AFF-BBE32842FF8B}"/>
              </a:ext>
            </a:extLst>
          </p:cNvPr>
          <p:cNvSpPr>
            <a:spLocks noGrp="1"/>
          </p:cNvSpPr>
          <p:nvPr>
            <p:ph type="sldNum" sz="quarter" idx="12"/>
          </p:nvPr>
        </p:nvSpPr>
        <p:spPr/>
        <p:txBody>
          <a:bodyPr/>
          <a:lstStyle/>
          <a:p>
            <a:fld id="{B8473C9A-9E91-4025-B5E2-D7B202510636}" type="slidenum">
              <a:rPr lang="en-US" smtClean="0"/>
              <a:t>20</a:t>
            </a:fld>
            <a:endParaRPr lang="en-US" dirty="0"/>
          </a:p>
        </p:txBody>
      </p:sp>
      <p:pic>
        <p:nvPicPr>
          <p:cNvPr id="4" name="Picture 3">
            <a:extLst>
              <a:ext uri="{FF2B5EF4-FFF2-40B4-BE49-F238E27FC236}">
                <a16:creationId xmlns:a16="http://schemas.microsoft.com/office/drawing/2014/main" id="{39A1D7FE-ED6A-414B-A3D8-9F7D4FC8C4AF}"/>
              </a:ext>
            </a:extLst>
          </p:cNvPr>
          <p:cNvPicPr>
            <a:picLocks noChangeAspect="1"/>
          </p:cNvPicPr>
          <p:nvPr/>
        </p:nvPicPr>
        <p:blipFill>
          <a:blip r:embed="rId2"/>
          <a:stretch>
            <a:fillRect/>
          </a:stretch>
        </p:blipFill>
        <p:spPr>
          <a:xfrm>
            <a:off x="245916" y="229481"/>
            <a:ext cx="2316681" cy="463336"/>
          </a:xfrm>
          <a:prstGeom prst="rect">
            <a:avLst/>
          </a:prstGeom>
        </p:spPr>
      </p:pic>
    </p:spTree>
    <p:extLst>
      <p:ext uri="{BB962C8B-B14F-4D97-AF65-F5344CB8AC3E}">
        <p14:creationId xmlns:p14="http://schemas.microsoft.com/office/powerpoint/2010/main" val="382222586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2326-9E63-4DF0-AF0D-21FCFEC54D28}"/>
              </a:ext>
            </a:extLst>
          </p:cNvPr>
          <p:cNvSpPr>
            <a:spLocks noGrp="1"/>
          </p:cNvSpPr>
          <p:nvPr>
            <p:ph type="title"/>
          </p:nvPr>
        </p:nvSpPr>
        <p:spPr>
          <a:xfrm>
            <a:off x="838200" y="482493"/>
            <a:ext cx="10515600" cy="674333"/>
          </a:xfrm>
        </p:spPr>
        <p:txBody>
          <a:bodyPr>
            <a:noAutofit/>
          </a:bodyPr>
          <a:lstStyle/>
          <a:p>
            <a:pPr algn="ctr"/>
            <a:r>
              <a:rPr lang="en-US" sz="2400" dirty="0"/>
              <a:t>CPF Implementation 2023-2027: Prioritization
</a:t>
            </a:r>
            <a:endParaRPr lang="pt" sz="2400" b="1" i="0" u="none" strike="noStrike" dirty="0">
              <a:highlight>
                <a:srgbClr val="000000">
                  <a:alpha val="0"/>
                </a:srgbClr>
              </a:highlight>
              <a:latin typeface="Arial"/>
            </a:endParaRPr>
          </a:p>
        </p:txBody>
      </p:sp>
      <p:sp>
        <p:nvSpPr>
          <p:cNvPr id="3" name="Content Placeholder 2">
            <a:extLst>
              <a:ext uri="{FF2B5EF4-FFF2-40B4-BE49-F238E27FC236}">
                <a16:creationId xmlns:a16="http://schemas.microsoft.com/office/drawing/2014/main" id="{CB65E0F7-FCC9-4A64-911C-50F2460F3EEB}"/>
              </a:ext>
            </a:extLst>
          </p:cNvPr>
          <p:cNvSpPr>
            <a:spLocks noGrp="1"/>
          </p:cNvSpPr>
          <p:nvPr>
            <p:ph idx="1"/>
          </p:nvPr>
        </p:nvSpPr>
        <p:spPr>
          <a:xfrm>
            <a:off x="668878" y="1012489"/>
            <a:ext cx="10515600" cy="4351338"/>
          </a:xfrm>
        </p:spPr>
        <p:txBody>
          <a:bodyPr>
            <a:noAutofit/>
          </a:bodyPr>
          <a:lstStyle/>
          <a:p>
            <a:pPr algn="just" rtl="0"/>
            <a:r>
              <a:rPr lang="en-US" sz="1600" b="0" i="0" u="none" strike="noStrike" dirty="0">
                <a:highlight>
                  <a:srgbClr val="000000">
                    <a:alpha val="0"/>
                  </a:srgbClr>
                </a:highlight>
                <a:latin typeface="Arial"/>
              </a:rPr>
              <a:t>The reforms will prioritize the industries identified by the IFC through its Strategy </a:t>
            </a:r>
            <a:r>
              <a:rPr lang="en-US" sz="1600" dirty="0">
                <a:highlight>
                  <a:srgbClr val="000000">
                    <a:alpha val="0"/>
                  </a:srgbClr>
                </a:highlight>
                <a:latin typeface="Arial"/>
              </a:rPr>
              <a:t>FY</a:t>
            </a:r>
            <a:r>
              <a:rPr lang="en-US" sz="1600" b="0" i="0" u="none" strike="noStrike" dirty="0">
                <a:highlight>
                  <a:srgbClr val="000000">
                    <a:alpha val="0"/>
                  </a:srgbClr>
                </a:highlight>
                <a:latin typeface="Arial"/>
              </a:rPr>
              <a:t>22-26 in order to maximize the mobilization of private capital. However, final priorities will be chosen based on further consultations with the government.</a:t>
            </a:r>
          </a:p>
          <a:p>
            <a:pPr algn="just" rtl="0"/>
            <a:r>
              <a:rPr lang="en-US" sz="1600" b="0" i="0" u="none" strike="noStrike" dirty="0">
                <a:highlight>
                  <a:srgbClr val="000000">
                    <a:alpha val="0"/>
                  </a:srgbClr>
                </a:highlight>
                <a:latin typeface="Arial"/>
              </a:rPr>
              <a:t>The country's commitments to goals and reforms for the </a:t>
            </a:r>
            <a:r>
              <a:rPr lang="en-US" sz="1600" b="1" i="0" u="none" strike="noStrike" dirty="0">
                <a:highlight>
                  <a:srgbClr val="000000">
                    <a:alpha val="0"/>
                  </a:srgbClr>
                </a:highlight>
                <a:latin typeface="Arial"/>
              </a:rPr>
              <a:t>prevention of conflict and violence </a:t>
            </a:r>
            <a:r>
              <a:rPr lang="en-US" sz="1600" b="0" i="0" u="none" strike="noStrike" dirty="0">
                <a:highlight>
                  <a:srgbClr val="000000">
                    <a:alpha val="0"/>
                  </a:srgbClr>
                </a:highlight>
                <a:latin typeface="Arial"/>
              </a:rPr>
              <a:t>(PRA) form one of the foundations of the next CPF.</a:t>
            </a:r>
          </a:p>
          <a:p>
            <a:pPr algn="just" rtl="0"/>
            <a:r>
              <a:rPr lang="en-US" sz="1600" b="0" i="0" u="none" strike="noStrike" dirty="0">
                <a:highlight>
                  <a:srgbClr val="000000">
                    <a:alpha val="0"/>
                  </a:srgbClr>
                </a:highlight>
                <a:latin typeface="Arial"/>
              </a:rPr>
              <a:t>Complementing the current undisbursed portfolio, the proposed pipeline will re-emphasize budget support - with a potential series of three Development Policy Operations (DPO) under consideration.</a:t>
            </a:r>
          </a:p>
          <a:p>
            <a:pPr algn="just" rtl="0"/>
            <a:r>
              <a:rPr lang="en-US" sz="1600" b="0" i="0" u="none" strike="noStrike" dirty="0">
                <a:highlight>
                  <a:srgbClr val="000000">
                    <a:alpha val="0"/>
                  </a:srgbClr>
                </a:highlight>
                <a:latin typeface="Arial"/>
              </a:rPr>
              <a:t>This emphasis builds on (i) the renewed interest in Government reform and (ii) the recent agreement between the IMF and the Government under the Extended Credit Facility (ECF) for 2022-2025.</a:t>
            </a:r>
          </a:p>
          <a:p>
            <a:pPr algn="just" rtl="0"/>
            <a:r>
              <a:rPr lang="en-US" sz="1600" b="0" i="0" u="none" strike="noStrike" dirty="0">
                <a:highlight>
                  <a:srgbClr val="000000">
                    <a:alpha val="0"/>
                  </a:srgbClr>
                </a:highlight>
                <a:latin typeface="Arial"/>
              </a:rPr>
              <a:t>The new CPF will also boost spatially defined operations.</a:t>
            </a:r>
          </a:p>
          <a:p>
            <a:pPr algn="just" rtl="0"/>
            <a:r>
              <a:rPr lang="en-US" sz="1600" b="0" i="0" u="none" strike="noStrike" dirty="0">
                <a:highlight>
                  <a:srgbClr val="000000">
                    <a:alpha val="0"/>
                  </a:srgbClr>
                </a:highlight>
                <a:latin typeface="Arial"/>
              </a:rPr>
              <a:t>During the implementation of the CPF, efforts will be made to efficiently implement the World Bank portfolio</a:t>
            </a:r>
          </a:p>
          <a:p>
            <a:pPr algn="just" rtl="0"/>
            <a:r>
              <a:rPr lang="en-US" sz="1600" b="0" i="0" u="none" strike="noStrike" dirty="0">
                <a:highlight>
                  <a:srgbClr val="000000">
                    <a:alpha val="0"/>
                  </a:srgbClr>
                </a:highlight>
                <a:latin typeface="Arial"/>
              </a:rPr>
              <a:t>The new CPF will use to prioritize a smaller number of projects, of greater value and with multi-sectoral objectives.</a:t>
            </a:r>
          </a:p>
          <a:p>
            <a:pPr algn="just" rtl="0"/>
            <a:r>
              <a:rPr lang="en-US" sz="1600" b="0" i="0" u="none" strike="noStrike" dirty="0">
                <a:highlight>
                  <a:srgbClr val="000000">
                    <a:alpha val="0"/>
                  </a:srgbClr>
                </a:highlight>
                <a:latin typeface="Arial"/>
              </a:rPr>
              <a:t>Relevant (cross-cutting) themes will be, among others, climate, gender, citizen engagement and public-private collaboration.</a:t>
            </a:r>
          </a:p>
          <a:p>
            <a:pPr algn="just" rtl="0"/>
            <a:r>
              <a:rPr lang="en-US" sz="1600" b="0" i="0" u="none" strike="noStrike" dirty="0">
                <a:highlight>
                  <a:srgbClr val="000000">
                    <a:alpha val="0"/>
                  </a:srgbClr>
                </a:highlight>
                <a:latin typeface="Arial"/>
              </a:rPr>
              <a:t> The CPF will also consider opportunities opened up by regional trade agreements, especially the </a:t>
            </a:r>
            <a:r>
              <a:rPr lang="pt" sz="1600" i="1" dirty="0">
                <a:highlight>
                  <a:srgbClr val="000000">
                    <a:alpha val="0"/>
                  </a:srgbClr>
                </a:highlight>
                <a:latin typeface="Arial"/>
              </a:rPr>
              <a:t>African Continental Free Trade Agreement.</a:t>
            </a:r>
            <a:endParaRPr lang="pt" sz="1600" b="0" i="0" u="none" strike="noStrike" dirty="0">
              <a:highlight>
                <a:srgbClr val="000000">
                  <a:alpha val="0"/>
                </a:srgbClr>
              </a:highlight>
              <a:latin typeface="Arial"/>
            </a:endParaRPr>
          </a:p>
        </p:txBody>
      </p:sp>
      <p:sp>
        <p:nvSpPr>
          <p:cNvPr id="7" name="Footer Placeholder 6">
            <a:extLst>
              <a:ext uri="{FF2B5EF4-FFF2-40B4-BE49-F238E27FC236}">
                <a16:creationId xmlns:a16="http://schemas.microsoft.com/office/drawing/2014/main" id="{C5C0DE30-DEC6-46C6-9FC7-8A106AADC3D2}"/>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A47F46B3-9248-4F35-A216-8D81D0B745B8}"/>
              </a:ext>
            </a:extLst>
          </p:cNvPr>
          <p:cNvSpPr>
            <a:spLocks noGrp="1"/>
          </p:cNvSpPr>
          <p:nvPr>
            <p:ph type="sldNum" sz="quarter" idx="12"/>
          </p:nvPr>
        </p:nvSpPr>
        <p:spPr/>
        <p:txBody>
          <a:bodyPr/>
          <a:lstStyle/>
          <a:p>
            <a:fld id="{B8473C9A-9E91-4025-B5E2-D7B202510636}" type="slidenum">
              <a:rPr lang="en-US" smtClean="0"/>
              <a:t>21</a:t>
            </a:fld>
            <a:endParaRPr lang="en-US" dirty="0"/>
          </a:p>
        </p:txBody>
      </p:sp>
      <p:pic>
        <p:nvPicPr>
          <p:cNvPr id="4" name="Picture 3">
            <a:extLst>
              <a:ext uri="{FF2B5EF4-FFF2-40B4-BE49-F238E27FC236}">
                <a16:creationId xmlns:a16="http://schemas.microsoft.com/office/drawing/2014/main" id="{04754607-0E7F-4AE3-8261-F3B7D4568D6A}"/>
              </a:ext>
            </a:extLst>
          </p:cNvPr>
          <p:cNvPicPr>
            <a:picLocks noChangeAspect="1"/>
          </p:cNvPicPr>
          <p:nvPr/>
        </p:nvPicPr>
        <p:blipFill>
          <a:blip r:embed="rId2"/>
          <a:stretch>
            <a:fillRect/>
          </a:stretch>
        </p:blipFill>
        <p:spPr>
          <a:xfrm>
            <a:off x="213259" y="163494"/>
            <a:ext cx="2316681" cy="463336"/>
          </a:xfrm>
          <a:prstGeom prst="rect">
            <a:avLst/>
          </a:prstGeom>
        </p:spPr>
      </p:pic>
    </p:spTree>
    <p:extLst>
      <p:ext uri="{BB962C8B-B14F-4D97-AF65-F5344CB8AC3E}">
        <p14:creationId xmlns:p14="http://schemas.microsoft.com/office/powerpoint/2010/main" val="196303168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5D60C23-4EAA-4BE3-827F-B4843990E7B3}"/>
              </a:ext>
            </a:extLst>
          </p:cNvPr>
          <p:cNvSpPr txBox="1"/>
          <p:nvPr/>
        </p:nvSpPr>
        <p:spPr>
          <a:xfrm>
            <a:off x="8880804" y="4780312"/>
            <a:ext cx="2355192" cy="430887"/>
          </a:xfrm>
          <a:prstGeom prst="rect">
            <a:avLst/>
          </a:prstGeom>
          <a:noFill/>
        </p:spPr>
        <p:txBody>
          <a:bodyPr wrap="square">
            <a:spAutoFit/>
          </a:bodyPr>
          <a:lstStyle/>
          <a:p>
            <a:pPr lvl="0">
              <a:defRPr/>
            </a:pPr>
            <a:r>
              <a:rPr kumimoji="0" lang="en-US" sz="1100" b="0" i="1"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1100" i="1" dirty="0">
                <a:solidFill>
                  <a:prstClr val="black"/>
                </a:solidFill>
                <a:latin typeface="Calibri" panose="020F0502020204030204"/>
              </a:rPr>
              <a:t>Assuming AF22 pipeline execution. Approximate values </a:t>
            </a:r>
            <a:endParaRPr kumimoji="0" lang="en-US" sz="11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EF7E496C-CAB6-4016-A81A-D54963B89A2D}"/>
              </a:ext>
            </a:extLst>
          </p:cNvPr>
          <p:cNvSpPr txBox="1">
            <a:spLocks/>
          </p:cNvSpPr>
          <p:nvPr/>
        </p:nvSpPr>
        <p:spPr>
          <a:xfrm>
            <a:off x="426138" y="1496144"/>
            <a:ext cx="7460451" cy="37150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defRPr/>
            </a:pPr>
            <a:r>
              <a:rPr lang="en-US" sz="1600" dirty="0">
                <a:solidFill>
                  <a:prstClr val="black"/>
                </a:solidFill>
                <a:latin typeface="Arial" panose="020B0604020202020204" pitchFamily="34" charset="0"/>
                <a:cs typeface="Arial" panose="020B0604020202020204" pitchFamily="34" charset="0"/>
              </a:rPr>
              <a:t>The new CPF will inherit a portfolio of 34 projects (as of 22 February), totaling around US$4.1 billion, of which </a:t>
            </a:r>
            <a:r>
              <a:rPr lang="en-US" sz="1600" dirty="0">
                <a:latin typeface="Arial" panose="020B0604020202020204" pitchFamily="34" charset="0"/>
                <a:cs typeface="Arial" panose="020B0604020202020204" pitchFamily="34" charset="0"/>
              </a:rPr>
              <a:t>74% had not been disbursed (as of 22 February).</a:t>
            </a:r>
          </a:p>
          <a:p>
            <a:pPr lvl="0" algn="just">
              <a:defRPr/>
            </a:pPr>
            <a:r>
              <a:rPr lang="en-US" sz="1600" dirty="0">
                <a:solidFill>
                  <a:prstClr val="black"/>
                </a:solidFill>
                <a:latin typeface="Arial" panose="020B0604020202020204" pitchFamily="34" charset="0"/>
                <a:cs typeface="Arial" panose="020B0604020202020204" pitchFamily="34" charset="0"/>
              </a:rPr>
              <a:t>15 projects (about 30% of the current portfolio, corresponding to US$1.4 billion) have an end date before January 2025 (half of the CPF cycle).</a:t>
            </a:r>
          </a:p>
          <a:p>
            <a:pPr lvl="0" algn="just">
              <a:defRPr/>
            </a:pPr>
            <a:r>
              <a:rPr lang="en-US" sz="1600" dirty="0">
                <a:solidFill>
                  <a:prstClr val="black"/>
                </a:solidFill>
                <a:latin typeface="Arial" panose="020B0604020202020204" pitchFamily="34" charset="0"/>
                <a:cs typeface="Arial" panose="020B0604020202020204" pitchFamily="34" charset="0"/>
              </a:rPr>
              <a:t>Approximately 66 percent of total undisbursed funds are in the Sustainable Development (SD) and Infrastructure (INFRA) sectors</a:t>
            </a:r>
          </a:p>
          <a:p>
            <a:pPr lvl="0" algn="just">
              <a:defRPr/>
            </a:pPr>
            <a:r>
              <a:rPr lang="en-US" sz="1600" dirty="0">
                <a:solidFill>
                  <a:prstClr val="black"/>
                </a:solidFill>
                <a:latin typeface="Arial" panose="020B0604020202020204" pitchFamily="34" charset="0"/>
                <a:cs typeface="Arial" panose="020B0604020202020204" pitchFamily="34" charset="0"/>
              </a:rPr>
              <a:t>New IDA PBA (estimated): $1.7 billion</a:t>
            </a:r>
          </a:p>
          <a:p>
            <a:pPr lvl="0" algn="just">
              <a:defRPr/>
            </a:pPr>
            <a:r>
              <a:rPr lang="en-US" sz="1600" dirty="0">
                <a:solidFill>
                  <a:prstClr val="black"/>
                </a:solidFill>
                <a:latin typeface="Arial" panose="020B0604020202020204" pitchFamily="34" charset="0"/>
                <a:cs typeface="Arial" panose="020B0604020202020204" pitchFamily="34" charset="0"/>
              </a:rPr>
              <a:t>IDA – PRA Window (potential): US$ 700 million (IDA-20)</a:t>
            </a:r>
          </a:p>
          <a:p>
            <a:pPr lvl="0" algn="just">
              <a:defRPr/>
            </a:pPr>
            <a:r>
              <a:rPr lang="en-US" sz="1600" dirty="0">
                <a:solidFill>
                  <a:prstClr val="black"/>
                </a:solidFill>
                <a:latin typeface="Arial" panose="020B0604020202020204" pitchFamily="34" charset="0"/>
                <a:cs typeface="Arial" panose="020B0604020202020204" pitchFamily="34" charset="0"/>
              </a:rPr>
              <a:t>IFC Investments: The IFC Strategy plans investments of up to $923 billion (more optimistic scenario) </a:t>
            </a:r>
          </a:p>
          <a:p>
            <a:pPr marL="0" lvl="0" indent="0" algn="just">
              <a:buNone/>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6" name="Title 1">
            <a:extLst>
              <a:ext uri="{FF2B5EF4-FFF2-40B4-BE49-F238E27FC236}">
                <a16:creationId xmlns:a16="http://schemas.microsoft.com/office/drawing/2014/main" id="{FD72820B-0641-4C78-B07B-4B4F61ABAE47}"/>
              </a:ext>
            </a:extLst>
          </p:cNvPr>
          <p:cNvSpPr>
            <a:spLocks noGrp="1"/>
          </p:cNvSpPr>
          <p:nvPr>
            <p:ph type="title"/>
          </p:nvPr>
        </p:nvSpPr>
        <p:spPr>
          <a:xfrm>
            <a:off x="676274" y="195177"/>
            <a:ext cx="10515600" cy="717550"/>
          </a:xfrm>
        </p:spPr>
        <p:txBody>
          <a:bodyPr>
            <a:normAutofit fontScale="90000"/>
          </a:bodyPr>
          <a:lstStyle/>
          <a:p>
            <a:pPr algn="ctr"/>
            <a:r>
              <a:rPr lang="en-US" sz="2400" dirty="0"/>
              <a:t>Potentially available resources 
</a:t>
            </a:r>
          </a:p>
        </p:txBody>
      </p:sp>
      <p:graphicFrame>
        <p:nvGraphicFramePr>
          <p:cNvPr id="13" name="Chart 12">
            <a:extLst>
              <a:ext uri="{FF2B5EF4-FFF2-40B4-BE49-F238E27FC236}">
                <a16:creationId xmlns:a16="http://schemas.microsoft.com/office/drawing/2014/main" id="{43D818A6-8DA6-4E48-8705-2DD87F03BCBD}"/>
              </a:ext>
            </a:extLst>
          </p:cNvPr>
          <p:cNvGraphicFramePr>
            <a:graphicFrameLocks/>
          </p:cNvGraphicFramePr>
          <p:nvPr>
            <p:extLst>
              <p:ext uri="{D42A27DB-BD31-4B8C-83A1-F6EECF244321}">
                <p14:modId xmlns:p14="http://schemas.microsoft.com/office/powerpoint/2010/main" val="2190897355"/>
              </p:ext>
            </p:extLst>
          </p:nvPr>
        </p:nvGraphicFramePr>
        <p:xfrm>
          <a:off x="7839075" y="931863"/>
          <a:ext cx="4019550" cy="3565073"/>
        </p:xfrm>
        <a:graphic>
          <a:graphicData uri="http://schemas.openxmlformats.org/drawingml/2006/chart">
            <c:chart xmlns:c="http://schemas.openxmlformats.org/drawingml/2006/chart" xmlns:r="http://schemas.openxmlformats.org/officeDocument/2006/relationships" r:id="rId3"/>
          </a:graphicData>
        </a:graphic>
      </p:graphicFrame>
      <p:sp>
        <p:nvSpPr>
          <p:cNvPr id="6" name="Footer Placeholder 5">
            <a:extLst>
              <a:ext uri="{FF2B5EF4-FFF2-40B4-BE49-F238E27FC236}">
                <a16:creationId xmlns:a16="http://schemas.microsoft.com/office/drawing/2014/main" id="{3B730F81-412E-4CD4-8242-B4D118CB1F2C}"/>
              </a:ext>
            </a:extLst>
          </p:cNvPr>
          <p:cNvSpPr>
            <a:spLocks noGrp="1"/>
          </p:cNvSpPr>
          <p:nvPr>
            <p:ph type="ftr" sz="quarter" idx="11"/>
          </p:nvPr>
        </p:nvSpPr>
        <p:spPr>
          <a:xfrm>
            <a:off x="3581401" y="5920922"/>
            <a:ext cx="4114800" cy="365125"/>
          </a:xfrm>
        </p:spPr>
        <p:txBody>
          <a:bodyPr/>
          <a:lstStyle/>
          <a:p>
            <a:r>
              <a:rPr lang="en-US"/>
              <a:t>CPF 2023-2027. Public Version. Maputo, May 2022.</a:t>
            </a:r>
            <a:endParaRPr lang="en-US" dirty="0"/>
          </a:p>
        </p:txBody>
      </p:sp>
      <p:sp>
        <p:nvSpPr>
          <p:cNvPr id="7" name="Slide Number Placeholder 6">
            <a:extLst>
              <a:ext uri="{FF2B5EF4-FFF2-40B4-BE49-F238E27FC236}">
                <a16:creationId xmlns:a16="http://schemas.microsoft.com/office/drawing/2014/main" id="{14466471-119E-4F6D-AB99-1533AE3B4EB8}"/>
              </a:ext>
            </a:extLst>
          </p:cNvPr>
          <p:cNvSpPr>
            <a:spLocks noGrp="1"/>
          </p:cNvSpPr>
          <p:nvPr>
            <p:ph type="sldNum" sz="quarter" idx="12"/>
          </p:nvPr>
        </p:nvSpPr>
        <p:spPr/>
        <p:txBody>
          <a:bodyPr/>
          <a:lstStyle/>
          <a:p>
            <a:fld id="{B8473C9A-9E91-4025-B5E2-D7B202510636}" type="slidenum">
              <a:rPr lang="en-US" smtClean="0"/>
              <a:t>22</a:t>
            </a:fld>
            <a:endParaRPr lang="en-US" dirty="0"/>
          </a:p>
        </p:txBody>
      </p:sp>
      <p:pic>
        <p:nvPicPr>
          <p:cNvPr id="2" name="Picture 1">
            <a:extLst>
              <a:ext uri="{FF2B5EF4-FFF2-40B4-BE49-F238E27FC236}">
                <a16:creationId xmlns:a16="http://schemas.microsoft.com/office/drawing/2014/main" id="{23BF31A8-AA25-4A78-B99A-C6890A445C11}"/>
              </a:ext>
            </a:extLst>
          </p:cNvPr>
          <p:cNvPicPr>
            <a:picLocks noChangeAspect="1"/>
          </p:cNvPicPr>
          <p:nvPr/>
        </p:nvPicPr>
        <p:blipFill>
          <a:blip r:embed="rId4"/>
          <a:stretch>
            <a:fillRect/>
          </a:stretch>
        </p:blipFill>
        <p:spPr>
          <a:xfrm>
            <a:off x="676274" y="176041"/>
            <a:ext cx="2316681" cy="463336"/>
          </a:xfrm>
          <a:prstGeom prst="rect">
            <a:avLst/>
          </a:prstGeom>
        </p:spPr>
      </p:pic>
    </p:spTree>
    <p:extLst>
      <p:ext uri="{BB962C8B-B14F-4D97-AF65-F5344CB8AC3E}">
        <p14:creationId xmlns:p14="http://schemas.microsoft.com/office/powerpoint/2010/main" val="228573786"/>
      </p:ext>
    </p:extLst>
  </p:cSld>
  <p:clrMapOvr>
    <a:overrideClrMapping bg1="lt1" tx1="dk1" bg2="lt2" tx2="dk2" accent1="accent1" accent2="accent2" accent3="accent3" accent4="accent4" accent5="accent5" accent6="accent6" hlink="hlink" folHlink="folHlink"/>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73C1A-F33C-43DA-8F19-DDC23E574DBE}"/>
              </a:ext>
            </a:extLst>
          </p:cNvPr>
          <p:cNvSpPr>
            <a:spLocks noGrp="1"/>
          </p:cNvSpPr>
          <p:nvPr>
            <p:ph type="title"/>
          </p:nvPr>
        </p:nvSpPr>
        <p:spPr/>
        <p:txBody>
          <a:bodyPr/>
          <a:lstStyle/>
          <a:p>
            <a:pPr algn="ctr"/>
            <a:r>
              <a:rPr lang="en-US" dirty="0"/>
              <a:t>HLO 1: More inclusive institutions
</a:t>
            </a:r>
            <a:endParaRPr lang="pt-BR" dirty="0"/>
          </a:p>
        </p:txBody>
      </p:sp>
      <p:sp>
        <p:nvSpPr>
          <p:cNvPr id="3" name="Content Placeholder 2">
            <a:extLst>
              <a:ext uri="{FF2B5EF4-FFF2-40B4-BE49-F238E27FC236}">
                <a16:creationId xmlns:a16="http://schemas.microsoft.com/office/drawing/2014/main" id="{0AAF4E04-EEC2-485A-878B-D07B4647ED1C}"/>
              </a:ext>
            </a:extLst>
          </p:cNvPr>
          <p:cNvSpPr>
            <a:spLocks noGrp="1"/>
          </p:cNvSpPr>
          <p:nvPr>
            <p:ph idx="1"/>
          </p:nvPr>
        </p:nvSpPr>
        <p:spPr>
          <a:xfrm>
            <a:off x="838200" y="1438032"/>
            <a:ext cx="10515600" cy="4918318"/>
          </a:xfrm>
        </p:spPr>
        <p:txBody>
          <a:bodyPr>
            <a:noAutofit/>
          </a:bodyPr>
          <a:lstStyle/>
          <a:p>
            <a:pPr marL="0" marR="0" indent="0" algn="just">
              <a:lnSpc>
                <a:spcPct val="107000"/>
              </a:lnSpc>
              <a:spcBef>
                <a:spcPts val="600"/>
              </a:spcBef>
              <a:spcAft>
                <a:spcPts val="0"/>
              </a:spcAft>
              <a:buNone/>
            </a:pPr>
            <a:r>
              <a:rPr lang="en-US" sz="1600" b="1" kern="1200" dirty="0">
                <a:solidFill>
                  <a:schemeClr val="accent1">
                    <a:lumMod val="50000"/>
                  </a:schemeClr>
                </a:solidFill>
                <a:effectLst/>
                <a:ea typeface="Times New Roman" panose="02020603050405020304" pitchFamily="18" charset="0"/>
              </a:rPr>
              <a:t>Objective 1: Improve macroeconomic management </a:t>
            </a:r>
            <a:r>
              <a:rPr lang="en-US" sz="1600" kern="1200" dirty="0">
                <a:solidFill>
                  <a:srgbClr val="000000"/>
                </a:solidFill>
                <a:effectLst/>
                <a:ea typeface="Times New Roman" panose="02020603050405020304" pitchFamily="18" charset="0"/>
              </a:rPr>
              <a:t>to facilitate resilient and sustainable job creation, increase productive investment capacity (public and private) and reduce sovereign risk.</a:t>
            </a:r>
          </a:p>
          <a:p>
            <a:pPr marL="0" marR="0" indent="0" algn="just">
              <a:lnSpc>
                <a:spcPct val="107000"/>
              </a:lnSpc>
              <a:spcBef>
                <a:spcPts val="600"/>
              </a:spcBef>
              <a:spcAft>
                <a:spcPts val="0"/>
              </a:spcAft>
              <a:buNone/>
            </a:pPr>
            <a:endParaRPr lang="en-US" sz="1600" kern="1200" dirty="0">
              <a:solidFill>
                <a:srgbClr val="000000"/>
              </a:solidFill>
              <a:effectLst/>
              <a:ea typeface="Times New Roman" panose="02020603050405020304" pitchFamily="18" charset="0"/>
            </a:endParaRPr>
          </a:p>
          <a:p>
            <a:pPr marL="0" marR="0" indent="0" algn="just">
              <a:lnSpc>
                <a:spcPct val="107000"/>
              </a:lnSpc>
              <a:spcBef>
                <a:spcPts val="600"/>
              </a:spcBef>
              <a:spcAft>
                <a:spcPts val="0"/>
              </a:spcAft>
              <a:buNone/>
            </a:pPr>
            <a:r>
              <a:rPr lang="en-US" sz="1600" b="1" kern="1200" dirty="0">
                <a:solidFill>
                  <a:schemeClr val="accent1">
                    <a:lumMod val="50000"/>
                  </a:schemeClr>
                </a:solidFill>
                <a:effectLst/>
                <a:ea typeface="Times New Roman" panose="02020603050405020304" pitchFamily="18" charset="0"/>
              </a:rPr>
              <a:t>Objective 2: Increase the effectiveness of the public sector to improve the quality, sustainability and equity of public policies. </a:t>
            </a:r>
            <a:r>
              <a:rPr lang="en-US" sz="1600" b="1" kern="1200" dirty="0">
                <a:solidFill>
                  <a:srgbClr val="000000"/>
                </a:solidFill>
                <a:effectLst/>
                <a:ea typeface="Times New Roman" panose="02020603050405020304" pitchFamily="18" charset="0"/>
              </a:rPr>
              <a:t>Focus on:</a:t>
            </a:r>
          </a:p>
          <a:p>
            <a:pPr algn="just">
              <a:lnSpc>
                <a:spcPct val="107000"/>
              </a:lnSpc>
              <a:spcBef>
                <a:spcPts val="600"/>
              </a:spcBef>
            </a:pPr>
            <a:r>
              <a:rPr lang="en-US" sz="1600" kern="1200" dirty="0">
                <a:solidFill>
                  <a:srgbClr val="000000"/>
                </a:solidFill>
                <a:effectLst/>
                <a:ea typeface="Times New Roman" panose="02020603050405020304" pitchFamily="18" charset="0"/>
              </a:rPr>
              <a:t>Basic functions of the State – such as improving financial management (PFM), and public procurement;</a:t>
            </a:r>
          </a:p>
          <a:p>
            <a:pPr algn="just">
              <a:lnSpc>
                <a:spcPct val="107000"/>
              </a:lnSpc>
              <a:spcBef>
                <a:spcPts val="600"/>
              </a:spcBef>
            </a:pPr>
            <a:r>
              <a:rPr lang="en-US" sz="1600" kern="1200" dirty="0">
                <a:solidFill>
                  <a:srgbClr val="000000"/>
                </a:solidFill>
                <a:effectLst/>
                <a:ea typeface="Times New Roman" panose="02020603050405020304" pitchFamily="18" charset="0"/>
              </a:rPr>
              <a:t>Strengthen citizen participation and external control;</a:t>
            </a:r>
          </a:p>
          <a:p>
            <a:pPr algn="just">
              <a:lnSpc>
                <a:spcPct val="107000"/>
              </a:lnSpc>
              <a:spcBef>
                <a:spcPts val="600"/>
              </a:spcBef>
            </a:pPr>
            <a:r>
              <a:rPr lang="en-US" sz="1600" kern="1200" dirty="0">
                <a:solidFill>
                  <a:srgbClr val="000000"/>
                </a:solidFill>
                <a:effectLst/>
                <a:ea typeface="Times New Roman" panose="02020603050405020304" pitchFamily="18" charset="0"/>
              </a:rPr>
              <a:t>Operational decentralization of spending on health and education.</a:t>
            </a:r>
          </a:p>
          <a:p>
            <a:pPr algn="just">
              <a:lnSpc>
                <a:spcPct val="107000"/>
              </a:lnSpc>
              <a:spcBef>
                <a:spcPts val="600"/>
              </a:spcBef>
            </a:pPr>
            <a:r>
              <a:rPr lang="en-US" sz="1600" kern="1200" dirty="0">
                <a:solidFill>
                  <a:srgbClr val="000000"/>
                </a:solidFill>
                <a:effectLst/>
                <a:ea typeface="Times New Roman" panose="02020603050405020304" pitchFamily="18" charset="0"/>
              </a:rPr>
              <a:t>Emphasis will also be placed on increasing transparency and access to information.</a:t>
            </a:r>
          </a:p>
          <a:p>
            <a:pPr marL="0" marR="0" indent="0" algn="just">
              <a:lnSpc>
                <a:spcPct val="107000"/>
              </a:lnSpc>
              <a:spcBef>
                <a:spcPts val="600"/>
              </a:spcBef>
              <a:spcAft>
                <a:spcPts val="0"/>
              </a:spcAft>
              <a:buNone/>
            </a:pPr>
            <a:endParaRPr lang="en-US" sz="1600" b="1" dirty="0">
              <a:solidFill>
                <a:schemeClr val="accent1">
                  <a:lumMod val="50000"/>
                </a:schemeClr>
              </a:solidFill>
              <a:ea typeface="Times New Roman" panose="02020603050405020304" pitchFamily="18" charset="0"/>
            </a:endParaRPr>
          </a:p>
          <a:p>
            <a:pPr marL="0" marR="0" indent="0" algn="just">
              <a:lnSpc>
                <a:spcPct val="107000"/>
              </a:lnSpc>
              <a:spcBef>
                <a:spcPts val="600"/>
              </a:spcBef>
              <a:spcAft>
                <a:spcPts val="0"/>
              </a:spcAft>
              <a:buNone/>
            </a:pPr>
            <a:r>
              <a:rPr lang="en-US" sz="1600" b="1" dirty="0">
                <a:solidFill>
                  <a:schemeClr val="accent1">
                    <a:lumMod val="50000"/>
                  </a:schemeClr>
                </a:solidFill>
                <a:ea typeface="Times New Roman" panose="02020603050405020304" pitchFamily="18" charset="0"/>
              </a:rPr>
              <a:t>Objective 3</a:t>
            </a:r>
            <a:r>
              <a:rPr lang="en-US" sz="1600" b="1" kern="1200" dirty="0">
                <a:solidFill>
                  <a:schemeClr val="accent1">
                    <a:lumMod val="50000"/>
                  </a:schemeClr>
                </a:solidFill>
                <a:effectLst/>
                <a:ea typeface="Times New Roman" panose="02020603050405020304" pitchFamily="18" charset="0"/>
              </a:rPr>
              <a:t>: Strengthen policy coordination and government preparedness and response capacity to natural disasters and other multidimensional shocks. </a:t>
            </a:r>
            <a:r>
              <a:rPr lang="en-US" sz="1600" kern="1200" dirty="0">
                <a:solidFill>
                  <a:srgbClr val="000000"/>
                </a:solidFill>
                <a:effectLst/>
                <a:ea typeface="Times New Roman" panose="02020603050405020304" pitchFamily="18" charset="0"/>
              </a:rPr>
              <a:t>Disaster risk management (DRM) was an area with exemplary results in the past CPF. Greater emphasis on prevention/preparedness is proposed, particularly in relation to the risks of conflict and violence.</a:t>
            </a:r>
            <a:endParaRPr lang="pt-BR" sz="1600" kern="1200" dirty="0">
              <a:solidFill>
                <a:srgbClr val="000000"/>
              </a:solidFill>
              <a:effectLst/>
              <a:ea typeface="Times New Roman" panose="02020603050405020304" pitchFamily="18" charset="0"/>
            </a:endParaRPr>
          </a:p>
          <a:p>
            <a:pPr marL="0" marR="0" indent="0">
              <a:lnSpc>
                <a:spcPct val="107000"/>
              </a:lnSpc>
              <a:spcBef>
                <a:spcPts val="0"/>
              </a:spcBef>
              <a:spcAft>
                <a:spcPts val="800"/>
              </a:spcAft>
              <a:buNone/>
            </a:pPr>
            <a:endParaRPr lang="pt-BR" sz="1600" kern="1200" dirty="0">
              <a:solidFill>
                <a:srgbClr val="000000"/>
              </a:solidFill>
              <a:effectLst/>
              <a:ea typeface="Times New Roman" panose="02020603050405020304" pitchFamily="18" charset="0"/>
            </a:endParaRPr>
          </a:p>
          <a:p>
            <a:pPr marL="0" marR="0" indent="0">
              <a:lnSpc>
                <a:spcPct val="107000"/>
              </a:lnSpc>
              <a:spcBef>
                <a:spcPts val="0"/>
              </a:spcBef>
              <a:spcAft>
                <a:spcPts val="800"/>
              </a:spcAft>
              <a:buNone/>
            </a:pPr>
            <a:endParaRPr lang="pt-BR" sz="1600" dirty="0">
              <a:solidFill>
                <a:srgbClr val="000000"/>
              </a:solidFill>
              <a:ea typeface="Calibri" panose="020F0502020204030204" pitchFamily="34" charset="0"/>
            </a:endParaRPr>
          </a:p>
          <a:p>
            <a:pPr marL="0" marR="0" indent="0">
              <a:lnSpc>
                <a:spcPct val="107000"/>
              </a:lnSpc>
              <a:spcBef>
                <a:spcPts val="0"/>
              </a:spcBef>
              <a:spcAft>
                <a:spcPts val="800"/>
              </a:spcAft>
              <a:buNone/>
            </a:pPr>
            <a:endParaRPr lang="en-US" sz="1600" dirty="0">
              <a:effectLst/>
              <a:ea typeface="Calibri" panose="020F0502020204030204" pitchFamily="34" charset="0"/>
            </a:endParaRPr>
          </a:p>
          <a:p>
            <a:pPr marL="0" indent="0" algn="just">
              <a:lnSpc>
                <a:spcPct val="100000"/>
              </a:lnSpc>
              <a:buNone/>
            </a:pPr>
            <a:endParaRPr lang="en-US" sz="1600" dirty="0"/>
          </a:p>
          <a:p>
            <a:endParaRPr lang="pt-BR" sz="1600" dirty="0"/>
          </a:p>
        </p:txBody>
      </p:sp>
      <p:sp>
        <p:nvSpPr>
          <p:cNvPr id="7" name="Footer Placeholder 6">
            <a:extLst>
              <a:ext uri="{FF2B5EF4-FFF2-40B4-BE49-F238E27FC236}">
                <a16:creationId xmlns:a16="http://schemas.microsoft.com/office/drawing/2014/main" id="{57D7A019-3AE6-49C3-97A9-030D351C2B3C}"/>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E808550B-56D7-415A-8CC6-F671D44F6CB5}"/>
              </a:ext>
            </a:extLst>
          </p:cNvPr>
          <p:cNvSpPr>
            <a:spLocks noGrp="1"/>
          </p:cNvSpPr>
          <p:nvPr>
            <p:ph type="sldNum" sz="quarter" idx="12"/>
          </p:nvPr>
        </p:nvSpPr>
        <p:spPr/>
        <p:txBody>
          <a:bodyPr/>
          <a:lstStyle/>
          <a:p>
            <a:fld id="{B8473C9A-9E91-4025-B5E2-D7B202510636}" type="slidenum">
              <a:rPr lang="en-US" smtClean="0"/>
              <a:t>23</a:t>
            </a:fld>
            <a:endParaRPr lang="en-US" dirty="0"/>
          </a:p>
        </p:txBody>
      </p:sp>
      <p:pic>
        <p:nvPicPr>
          <p:cNvPr id="4" name="Picture 3">
            <a:extLst>
              <a:ext uri="{FF2B5EF4-FFF2-40B4-BE49-F238E27FC236}">
                <a16:creationId xmlns:a16="http://schemas.microsoft.com/office/drawing/2014/main" id="{F26FCB00-B725-46EA-9B65-E447CA3C6A3B}"/>
              </a:ext>
            </a:extLst>
          </p:cNvPr>
          <p:cNvPicPr>
            <a:picLocks noChangeAspect="1"/>
          </p:cNvPicPr>
          <p:nvPr/>
        </p:nvPicPr>
        <p:blipFill>
          <a:blip r:embed="rId3"/>
          <a:stretch>
            <a:fillRect/>
          </a:stretch>
        </p:blipFill>
        <p:spPr>
          <a:xfrm>
            <a:off x="838200" y="365125"/>
            <a:ext cx="2316681" cy="463336"/>
          </a:xfrm>
          <a:prstGeom prst="rect">
            <a:avLst/>
          </a:prstGeom>
        </p:spPr>
      </p:pic>
    </p:spTree>
    <p:extLst>
      <p:ext uri="{BB962C8B-B14F-4D97-AF65-F5344CB8AC3E}">
        <p14:creationId xmlns:p14="http://schemas.microsoft.com/office/powerpoint/2010/main" val="129404696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E99CA-4701-471B-B315-854A3422944A}"/>
              </a:ext>
            </a:extLst>
          </p:cNvPr>
          <p:cNvSpPr>
            <a:spLocks noGrp="1"/>
          </p:cNvSpPr>
          <p:nvPr>
            <p:ph type="title"/>
          </p:nvPr>
        </p:nvSpPr>
        <p:spPr>
          <a:xfrm>
            <a:off x="838200" y="365125"/>
            <a:ext cx="10515600" cy="1036862"/>
          </a:xfrm>
        </p:spPr>
        <p:txBody>
          <a:bodyPr/>
          <a:lstStyle/>
          <a:p>
            <a:pPr algn="ctr"/>
            <a:r>
              <a:rPr lang="en-US" dirty="0"/>
              <a:t>HLO 2: Increasing inclusive job creation</a:t>
            </a:r>
            <a:br>
              <a:rPr lang="pt-BR" dirty="0"/>
            </a:br>
            <a:endParaRPr lang="pt-BR" dirty="0"/>
          </a:p>
        </p:txBody>
      </p:sp>
      <p:sp>
        <p:nvSpPr>
          <p:cNvPr id="3" name="Content Placeholder 2">
            <a:extLst>
              <a:ext uri="{FF2B5EF4-FFF2-40B4-BE49-F238E27FC236}">
                <a16:creationId xmlns:a16="http://schemas.microsoft.com/office/drawing/2014/main" id="{2D9E4DBD-86F0-4B7F-911F-E98F78863434}"/>
              </a:ext>
            </a:extLst>
          </p:cNvPr>
          <p:cNvSpPr>
            <a:spLocks noGrp="1"/>
          </p:cNvSpPr>
          <p:nvPr>
            <p:ph idx="1"/>
          </p:nvPr>
        </p:nvSpPr>
        <p:spPr>
          <a:xfrm>
            <a:off x="430306" y="1131205"/>
            <a:ext cx="11564470" cy="5097473"/>
          </a:xfrm>
        </p:spPr>
        <p:txBody>
          <a:bodyPr>
            <a:noAutofit/>
          </a:bodyPr>
          <a:lstStyle/>
          <a:p>
            <a:pPr>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chemeClr val="accent1">
                    <a:lumMod val="75000"/>
                  </a:schemeClr>
                </a:solidFill>
                <a:latin typeface="+mn-lt"/>
                <a:cs typeface="Calibri" panose="020F0502020204030204" pitchFamily="34" charset="0"/>
              </a:rPr>
              <a:t>Objective 4: To enable the sustainable growth of selected natural resource sectors, exploiting regional and global comparative advantages. Three intermediate objectives: </a:t>
            </a:r>
            <a:r>
              <a:rPr lang="en-US" sz="1600" dirty="0">
                <a:solidFill>
                  <a:schemeClr val="accent1">
                    <a:lumMod val="75000"/>
                  </a:schemeClr>
                </a:solidFill>
                <a:latin typeface="+mn-lt"/>
                <a:cs typeface="Calibri" panose="020F0502020204030204" pitchFamily="34" charset="0"/>
              </a:rPr>
              <a:t>
</a:t>
            </a:r>
            <a:r>
              <a:rPr lang="en-US" sz="1600" dirty="0">
                <a:latin typeface="+mn-lt"/>
                <a:cs typeface="Calibri" panose="020F0502020204030204" pitchFamily="34" charset="0"/>
              </a:rPr>
              <a:t>Strengthening the sustainability of investments in the natural gas and mining sectors by addressing the negative externalities of the sector and exploiting the positive repercussions
Increased agricultural productivity 
Strengthening the management of natural resources and freeing up private investments in the green sector, including ecotourism, fisheries and forestry</a:t>
            </a:r>
            <a:endParaRPr lang="en-US" sz="1600" b="1" dirty="0">
              <a:solidFill>
                <a:schemeClr val="accent1">
                  <a:lumMod val="75000"/>
                </a:schemeClr>
              </a:solidFill>
              <a:latin typeface="+mn-lt"/>
              <a:cs typeface="Calibri" panose="020F0502020204030204" pitchFamily="34" charset="0"/>
            </a:endParaRPr>
          </a:p>
          <a:p>
            <a:pPr marL="0" indent="0">
              <a:lnSpc>
                <a:spcPct val="10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dirty="0">
              <a:solidFill>
                <a:srgbClr val="202124"/>
              </a:solidFill>
              <a:latin typeface="+mn-lt"/>
              <a:cs typeface="Calibri" panose="020F0502020204030204" pitchFamily="34" charset="0"/>
            </a:endParaRPr>
          </a:p>
          <a:p>
            <a:pPr marL="0" indent="0">
              <a:lnSpc>
                <a:spcPct val="10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chemeClr val="accent1">
                    <a:lumMod val="75000"/>
                  </a:schemeClr>
                </a:solidFill>
                <a:latin typeface="+mn-lt"/>
                <a:cs typeface="Calibri" panose="020F0502020204030204" pitchFamily="34" charset="0"/>
              </a:rPr>
              <a:t>Objective 5: Promote productivity growth in selected labor-intensive industries. </a:t>
            </a:r>
            <a:r>
              <a:rPr lang="en-US" sz="1600" dirty="0">
                <a:latin typeface="+mn-lt"/>
                <a:cs typeface="Calibri" panose="020F0502020204030204" pitchFamily="34" charset="0"/>
              </a:rPr>
              <a:t>How? Services, SMEs, green and blue economies;  sectoral and territorial focus; maximize the repercussions of major projects, including around transport corridors and Informality (policy experimentation and impact assessment).</a:t>
            </a:r>
          </a:p>
          <a:p>
            <a:pPr marL="0" indent="0">
              <a:lnSpc>
                <a:spcPct val="100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chemeClr val="accent1">
                    <a:lumMod val="75000"/>
                  </a:schemeClr>
                </a:solidFill>
                <a:latin typeface="+mn-lt"/>
                <a:cs typeface="Calibri" panose="020F0502020204030204" pitchFamily="34" charset="0"/>
              </a:rPr>
              <a:t>
Objective 6: Expand affordable, reliable and climate-resilient services to improve access to the poor and improve sustainable urbanization and economic agglomeration. 
</a:t>
            </a:r>
            <a:r>
              <a:rPr lang="en-US" sz="1600" dirty="0">
                <a:solidFill>
                  <a:srgbClr val="202124"/>
                </a:solidFill>
                <a:latin typeface="+mn-lt"/>
                <a:cs typeface="Calibri" panose="020F0502020204030204" pitchFamily="34" charset="0"/>
              </a:rPr>
              <a:t>While the existing portfolio continues to finance infrastructure investments in rural areas, new activities will emphasize infrastructure investments that can support growth, including in the areas of the digital economy and roads. 
</a:t>
            </a:r>
          </a:p>
          <a:p>
            <a:pPr>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solidFill>
                  <a:srgbClr val="202124"/>
                </a:solidFill>
                <a:latin typeface="+mn-lt"/>
                <a:cs typeface="Calibri" panose="020F0502020204030204" pitchFamily="34" charset="0"/>
              </a:rPr>
              <a:t>The next CPF will give priority to the government's ability to manage the urbanization process in a way, while allowing rural-urban migration. Despite some positive achievements in the previous </a:t>
            </a:r>
            <a:r>
              <a:rPr lang="en-US" sz="1600" dirty="0" err="1">
                <a:solidFill>
                  <a:srgbClr val="202124"/>
                </a:solidFill>
                <a:latin typeface="+mn-lt"/>
                <a:cs typeface="Calibri" panose="020F0502020204030204" pitchFamily="34" charset="0"/>
              </a:rPr>
              <a:t>cpf</a:t>
            </a:r>
            <a:r>
              <a:rPr lang="en-US" sz="1600" dirty="0">
                <a:solidFill>
                  <a:srgbClr val="202124"/>
                </a:solidFill>
                <a:latin typeface="+mn-lt"/>
                <a:cs typeface="Calibri" panose="020F0502020204030204" pitchFamily="34" charset="0"/>
              </a:rPr>
              <a:t> cycle, the SCD assessed that the urbanization management process is stagnant. </a:t>
            </a:r>
            <a:endParaRPr lang="pt-BR" sz="1600" dirty="0">
              <a:solidFill>
                <a:srgbClr val="202124"/>
              </a:solidFill>
              <a:latin typeface="+mn-lt"/>
              <a:cs typeface="Calibri" panose="020F0502020204030204" pitchFamily="34" charset="0"/>
            </a:endParaRPr>
          </a:p>
        </p:txBody>
      </p:sp>
      <p:sp>
        <p:nvSpPr>
          <p:cNvPr id="7" name="Footer Placeholder 6">
            <a:extLst>
              <a:ext uri="{FF2B5EF4-FFF2-40B4-BE49-F238E27FC236}">
                <a16:creationId xmlns:a16="http://schemas.microsoft.com/office/drawing/2014/main" id="{41635F35-5505-4957-B463-781A6222E420}"/>
              </a:ext>
            </a:extLst>
          </p:cNvPr>
          <p:cNvSpPr>
            <a:spLocks noGrp="1"/>
          </p:cNvSpPr>
          <p:nvPr>
            <p:ph type="ftr" sz="quarter" idx="11"/>
          </p:nvPr>
        </p:nvSpPr>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3F38001A-DA6B-488C-A464-0037CCFAE83C}"/>
              </a:ext>
            </a:extLst>
          </p:cNvPr>
          <p:cNvSpPr>
            <a:spLocks noGrp="1"/>
          </p:cNvSpPr>
          <p:nvPr>
            <p:ph type="sldNum" sz="quarter" idx="12"/>
          </p:nvPr>
        </p:nvSpPr>
        <p:spPr/>
        <p:txBody>
          <a:bodyPr/>
          <a:lstStyle/>
          <a:p>
            <a:fld id="{B8473C9A-9E91-4025-B5E2-D7B202510636}" type="slidenum">
              <a:rPr lang="en-US" smtClean="0"/>
              <a:t>24</a:t>
            </a:fld>
            <a:endParaRPr lang="en-US" dirty="0"/>
          </a:p>
        </p:txBody>
      </p:sp>
      <p:pic>
        <p:nvPicPr>
          <p:cNvPr id="4" name="Picture 3">
            <a:extLst>
              <a:ext uri="{FF2B5EF4-FFF2-40B4-BE49-F238E27FC236}">
                <a16:creationId xmlns:a16="http://schemas.microsoft.com/office/drawing/2014/main" id="{2011BC4A-1F14-4C1E-8CCE-B1DBAAC5B4BB}"/>
              </a:ext>
            </a:extLst>
          </p:cNvPr>
          <p:cNvPicPr>
            <a:picLocks noChangeAspect="1"/>
          </p:cNvPicPr>
          <p:nvPr/>
        </p:nvPicPr>
        <p:blipFill>
          <a:blip r:embed="rId3"/>
          <a:stretch>
            <a:fillRect/>
          </a:stretch>
        </p:blipFill>
        <p:spPr>
          <a:xfrm>
            <a:off x="430306" y="165986"/>
            <a:ext cx="2316681" cy="463336"/>
          </a:xfrm>
          <a:prstGeom prst="rect">
            <a:avLst/>
          </a:prstGeom>
        </p:spPr>
      </p:pic>
    </p:spTree>
    <p:extLst>
      <p:ext uri="{BB962C8B-B14F-4D97-AF65-F5344CB8AC3E}">
        <p14:creationId xmlns:p14="http://schemas.microsoft.com/office/powerpoint/2010/main" val="33679059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A10FE-8054-40F6-8E7D-D8D483647B55}"/>
              </a:ext>
            </a:extLst>
          </p:cNvPr>
          <p:cNvSpPr>
            <a:spLocks noGrp="1"/>
          </p:cNvSpPr>
          <p:nvPr>
            <p:ph type="title"/>
          </p:nvPr>
        </p:nvSpPr>
        <p:spPr/>
        <p:txBody>
          <a:bodyPr/>
          <a:lstStyle/>
          <a:p>
            <a:pPr algn="ctr"/>
            <a:r>
              <a:rPr lang="en-US" dirty="0"/>
              <a:t>HLO 3: Improving Human Capital and Women's Empowerment </a:t>
            </a:r>
            <a:br>
              <a:rPr lang="pt-BR" dirty="0"/>
            </a:br>
            <a:endParaRPr lang="pt-BR" dirty="0"/>
          </a:p>
        </p:txBody>
      </p:sp>
      <p:sp>
        <p:nvSpPr>
          <p:cNvPr id="3" name="Content Placeholder 2">
            <a:extLst>
              <a:ext uri="{FF2B5EF4-FFF2-40B4-BE49-F238E27FC236}">
                <a16:creationId xmlns:a16="http://schemas.microsoft.com/office/drawing/2014/main" id="{00A5A4FC-2740-42EE-8E12-6101A40FDE38}"/>
              </a:ext>
            </a:extLst>
          </p:cNvPr>
          <p:cNvSpPr>
            <a:spLocks noGrp="1"/>
          </p:cNvSpPr>
          <p:nvPr>
            <p:ph idx="1"/>
          </p:nvPr>
        </p:nvSpPr>
        <p:spPr>
          <a:xfrm>
            <a:off x="838200" y="1301675"/>
            <a:ext cx="10515600" cy="4875288"/>
          </a:xfrm>
        </p:spPr>
        <p:txBody>
          <a:bodyPr>
            <a:normAutofit lnSpcReduction="10000"/>
          </a:bodyPr>
          <a:lstStyle/>
          <a:p>
            <a:pPr algn="just"/>
            <a:r>
              <a:rPr lang="en-US" sz="1600" b="1" dirty="0">
                <a:solidFill>
                  <a:schemeClr val="accent1">
                    <a:lumMod val="75000"/>
                  </a:schemeClr>
                </a:solidFill>
                <a:latin typeface="+mn-lt"/>
                <a:cs typeface="Calibri" panose="020F0502020204030204" pitchFamily="34" charset="0"/>
              </a:rPr>
              <a:t>Objective 7: Improve the main results of education and health. </a:t>
            </a:r>
            <a:r>
              <a:rPr lang="en-US" sz="1600" dirty="0">
                <a:latin typeface="+mn-lt"/>
                <a:cs typeface="Calibri" panose="020F0502020204030204" pitchFamily="34" charset="0"/>
              </a:rPr>
              <a:t>Promote fiscally sustainable investments in human capital, with emphasis on increasing the cost-benefit ratio of public spending to improve the main results in health and education. A limited decentralization process affects the effectiveness of the provision of health and education services.</a:t>
            </a:r>
          </a:p>
          <a:p>
            <a:pPr algn="just"/>
            <a:r>
              <a:rPr lang="en-US" sz="1600" b="1" dirty="0">
                <a:solidFill>
                  <a:schemeClr val="accent1">
                    <a:lumMod val="75000"/>
                  </a:schemeClr>
                </a:solidFill>
                <a:latin typeface="+mn-lt"/>
                <a:cs typeface="Calibri" panose="020F0502020204030204" pitchFamily="34" charset="0"/>
              </a:rPr>
              <a:t>Objective 8: Increase spending efficiency and effective coverage of integrated social services. 
</a:t>
            </a:r>
            <a:r>
              <a:rPr lang="en-US" sz="1600" dirty="0">
                <a:latin typeface="+mn-lt"/>
                <a:cs typeface="Calibri" panose="020F0502020204030204" pitchFamily="34" charset="0"/>
              </a:rPr>
              <a:t>The next Social Security Commission will increase the focus of Social Protection programs to improve cost-benefit ratio, including encouraging the consolidation of social policies, ensuring undergraduate mechanisms and employment ties and participation in the workforce, and supporting a national shock-sensitive social protection strategy. 
The main objective is to create a fiscally sustainable structure for the integration of social policies for the accumulation of human capital and reduction of extreme poverty, while empowering women and ensuring resilience to shocks</a:t>
            </a:r>
            <a:r>
              <a:rPr lang="en-US" sz="1600" b="1" dirty="0">
                <a:solidFill>
                  <a:schemeClr val="accent1">
                    <a:lumMod val="75000"/>
                  </a:schemeClr>
                </a:solidFill>
                <a:latin typeface="+mn-lt"/>
                <a:cs typeface="Calibri" panose="020F0502020204030204" pitchFamily="34" charset="0"/>
              </a:rPr>
              <a:t>
Objective 9: To improve access to services to prevent teenage pregnancy and promote women's economic participation.
</a:t>
            </a:r>
            <a:r>
              <a:rPr lang="en-US" sz="1600" dirty="0">
                <a:latin typeface="+mn-lt"/>
                <a:cs typeface="Calibri" panose="020F0502020204030204" pitchFamily="34" charset="0"/>
              </a:rPr>
              <a:t>Mozambique has the fourth highest fertility rate in adolescence and the tenth highest rate of child marriage in the world and these rates are increasing and not decreasing, contributing to women's low skills and low productivity in the </a:t>
            </a:r>
            <a:r>
              <a:rPr lang="en-US" sz="1600" dirty="0" err="1">
                <a:latin typeface="+mn-lt"/>
                <a:cs typeface="Calibri" panose="020F0502020204030204" pitchFamily="34" charset="0"/>
              </a:rPr>
              <a:t>labour</a:t>
            </a:r>
            <a:r>
              <a:rPr lang="en-US" sz="1600" dirty="0">
                <a:latin typeface="+mn-lt"/>
                <a:cs typeface="Calibri" panose="020F0502020204030204" pitchFamily="34" charset="0"/>
              </a:rPr>
              <a:t> market.</a:t>
            </a:r>
            <a:r>
              <a:rPr lang="en-US" sz="1600" b="1" dirty="0">
                <a:solidFill>
                  <a:schemeClr val="accent1">
                    <a:lumMod val="75000"/>
                  </a:schemeClr>
                </a:solidFill>
                <a:latin typeface="+mn-lt"/>
                <a:cs typeface="Calibri" panose="020F0502020204030204" pitchFamily="34" charset="0"/>
              </a:rPr>
              <a:t>
</a:t>
            </a:r>
            <a:r>
              <a:rPr lang="en-US" sz="1600" dirty="0">
                <a:latin typeface="+mn-lt"/>
                <a:cs typeface="Calibri" panose="020F0502020204030204" pitchFamily="34" charset="0"/>
              </a:rPr>
              <a:t>The CPF will focus on issues of child marriage, teenage pregnancy and meeting unmet needs of family planning, girls' high school and the transition from the labor market – among others. </a:t>
            </a:r>
            <a:endParaRPr lang="pt-BR" sz="1600" dirty="0">
              <a:latin typeface="+mn-lt"/>
            </a:endParaRPr>
          </a:p>
        </p:txBody>
      </p:sp>
      <p:sp>
        <p:nvSpPr>
          <p:cNvPr id="7" name="Footer Placeholder 6">
            <a:extLst>
              <a:ext uri="{FF2B5EF4-FFF2-40B4-BE49-F238E27FC236}">
                <a16:creationId xmlns:a16="http://schemas.microsoft.com/office/drawing/2014/main" id="{126C6B1E-1C18-488F-AC4A-85F26E37D61F}"/>
              </a:ext>
            </a:extLst>
          </p:cNvPr>
          <p:cNvSpPr>
            <a:spLocks noGrp="1"/>
          </p:cNvSpPr>
          <p:nvPr>
            <p:ph type="ftr" sz="quarter" idx="11"/>
          </p:nvPr>
        </p:nvSpPr>
        <p:spPr>
          <a:xfrm>
            <a:off x="3794760" y="5972901"/>
            <a:ext cx="4114800" cy="365125"/>
          </a:xfrm>
        </p:spPr>
        <p:txBody>
          <a:bodyPr/>
          <a:lstStyle/>
          <a:p>
            <a:r>
              <a:rPr lang="en-US"/>
              <a:t>CPF 2023-2027. Public Version. Maputo, May 2022.</a:t>
            </a:r>
            <a:endParaRPr lang="en-US" dirty="0"/>
          </a:p>
        </p:txBody>
      </p:sp>
      <p:sp>
        <p:nvSpPr>
          <p:cNvPr id="8" name="Slide Number Placeholder 7">
            <a:extLst>
              <a:ext uri="{FF2B5EF4-FFF2-40B4-BE49-F238E27FC236}">
                <a16:creationId xmlns:a16="http://schemas.microsoft.com/office/drawing/2014/main" id="{84467695-3A8C-4A22-AEDD-992486ED255C}"/>
              </a:ext>
            </a:extLst>
          </p:cNvPr>
          <p:cNvSpPr>
            <a:spLocks noGrp="1"/>
          </p:cNvSpPr>
          <p:nvPr>
            <p:ph type="sldNum" sz="quarter" idx="12"/>
          </p:nvPr>
        </p:nvSpPr>
        <p:spPr/>
        <p:txBody>
          <a:bodyPr/>
          <a:lstStyle/>
          <a:p>
            <a:fld id="{B8473C9A-9E91-4025-B5E2-D7B202510636}" type="slidenum">
              <a:rPr lang="en-US" smtClean="0"/>
              <a:t>25</a:t>
            </a:fld>
            <a:endParaRPr lang="en-US" dirty="0"/>
          </a:p>
        </p:txBody>
      </p:sp>
      <p:pic>
        <p:nvPicPr>
          <p:cNvPr id="4" name="Picture 3">
            <a:extLst>
              <a:ext uri="{FF2B5EF4-FFF2-40B4-BE49-F238E27FC236}">
                <a16:creationId xmlns:a16="http://schemas.microsoft.com/office/drawing/2014/main" id="{158F71C0-494B-4195-962A-80957CD687E2}"/>
              </a:ext>
            </a:extLst>
          </p:cNvPr>
          <p:cNvPicPr>
            <a:picLocks noChangeAspect="1"/>
          </p:cNvPicPr>
          <p:nvPr/>
        </p:nvPicPr>
        <p:blipFill>
          <a:blip r:embed="rId3"/>
          <a:stretch>
            <a:fillRect/>
          </a:stretch>
        </p:blipFill>
        <p:spPr>
          <a:xfrm>
            <a:off x="572488" y="217701"/>
            <a:ext cx="2316681" cy="463336"/>
          </a:xfrm>
          <a:prstGeom prst="rect">
            <a:avLst/>
          </a:prstGeom>
        </p:spPr>
      </p:pic>
    </p:spTree>
    <p:extLst>
      <p:ext uri="{BB962C8B-B14F-4D97-AF65-F5344CB8AC3E}">
        <p14:creationId xmlns:p14="http://schemas.microsoft.com/office/powerpoint/2010/main" val="50253394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33A49-979B-4F05-870B-CD45EDB79FB7}"/>
              </a:ext>
            </a:extLst>
          </p:cNvPr>
          <p:cNvSpPr>
            <a:spLocks noGrp="1"/>
          </p:cNvSpPr>
          <p:nvPr>
            <p:ph type="title"/>
          </p:nvPr>
        </p:nvSpPr>
        <p:spPr/>
        <p:txBody>
          <a:bodyPr>
            <a:noAutofit/>
          </a:bodyPr>
          <a:lstStyle/>
          <a:p>
            <a:r>
              <a:rPr lang="en-US" sz="3200" b="1" dirty="0">
                <a:solidFill>
                  <a:srgbClr val="203864"/>
                </a:solidFill>
                <a:latin typeface="Arial"/>
              </a:rPr>
              <a:t>Thank you!</a:t>
            </a:r>
            <a:br>
              <a:rPr lang="pt" sz="3200" b="1" i="0" u="none" strike="noStrike" dirty="0">
                <a:solidFill>
                  <a:srgbClr val="203864"/>
                </a:solidFill>
                <a:highlight>
                  <a:srgbClr val="000000">
                    <a:alpha val="0"/>
                  </a:srgbClr>
                </a:highlight>
                <a:latin typeface="Arial"/>
              </a:rPr>
            </a:br>
            <a:endParaRPr lang="en-US" sz="3600" b="1" dirty="0">
              <a:solidFill>
                <a:schemeClr val="accent1">
                  <a:lumMod val="50000"/>
                </a:schemeClr>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F3371D7B-4997-4238-A35F-5554E8330F27}"/>
              </a:ext>
            </a:extLst>
          </p:cNvPr>
          <p:cNvSpPr>
            <a:spLocks noGrp="1"/>
          </p:cNvSpPr>
          <p:nvPr>
            <p:ph type="ftr" sz="quarter" idx="11"/>
          </p:nvPr>
        </p:nvSpPr>
        <p:spPr/>
        <p:txBody>
          <a:bodyPr/>
          <a:lstStyle/>
          <a:p>
            <a:r>
              <a:rPr lang="en-US"/>
              <a:t>CPF 2023-2027. Public Version. Maputo, May 2022.</a:t>
            </a:r>
            <a:endParaRPr lang="en-US" dirty="0"/>
          </a:p>
        </p:txBody>
      </p:sp>
      <p:sp>
        <p:nvSpPr>
          <p:cNvPr id="4" name="Slide Number Placeholder 3">
            <a:extLst>
              <a:ext uri="{FF2B5EF4-FFF2-40B4-BE49-F238E27FC236}">
                <a16:creationId xmlns:a16="http://schemas.microsoft.com/office/drawing/2014/main" id="{FDB7C57F-15A8-4EA1-92A6-4596F96579F2}"/>
              </a:ext>
            </a:extLst>
          </p:cNvPr>
          <p:cNvSpPr>
            <a:spLocks noGrp="1"/>
          </p:cNvSpPr>
          <p:nvPr>
            <p:ph type="sldNum" sz="quarter" idx="12"/>
          </p:nvPr>
        </p:nvSpPr>
        <p:spPr/>
        <p:txBody>
          <a:bodyPr/>
          <a:lstStyle/>
          <a:p>
            <a:fld id="{B8473C9A-9E91-4025-B5E2-D7B202510636}" type="slidenum">
              <a:rPr lang="en-US" smtClean="0"/>
              <a:t>26</a:t>
            </a:fld>
            <a:endParaRPr lang="en-US" dirty="0"/>
          </a:p>
        </p:txBody>
      </p:sp>
    </p:spTree>
    <p:extLst>
      <p:ext uri="{BB962C8B-B14F-4D97-AF65-F5344CB8AC3E}">
        <p14:creationId xmlns:p14="http://schemas.microsoft.com/office/powerpoint/2010/main" val="37682568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3.1.12"/>
  <p:tag name="AS_OS" val="Unix 4.14.225.169"/>
  <p:tag name="AS_RELEASE_DATE" val="2020.03.14"/>
  <p:tag name="AS_TITLE" val="Aspose.Slides for .NET Standard 2.0"/>
  <p:tag name="AS_VERSION" val="20.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PF">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9414</TotalTime>
  <Words>5422</Words>
  <Application>Microsoft Office PowerPoint</Application>
  <PresentationFormat>Widescreen</PresentationFormat>
  <Paragraphs>342</Paragraphs>
  <Slides>26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YouTube Sans</vt:lpstr>
      <vt:lpstr>Office Theme</vt:lpstr>
      <vt:lpstr>World Bank Group (WBG)   Mozambique: Country Partnership Framework (CPF) 2023-2027   Concept Note Summary   Public Version    Maputo, May 2022  </vt:lpstr>
      <vt:lpstr>Introduction: What is the CPF, why the consultations and what are the expectations</vt:lpstr>
      <vt:lpstr>Presentation structure
</vt:lpstr>
      <vt:lpstr>Presentation structure
</vt:lpstr>
      <vt:lpstr> Country Context: Development Challanges and Opportunities</vt:lpstr>
      <vt:lpstr>Country Context: Development Challanges and Opportunities</vt:lpstr>
      <vt:lpstr>Country Context: Development Challenges and Opportunities</vt:lpstr>
      <vt:lpstr>World Bank Systematic Country Diagnostic (SCD) and Recommendations- Summary</vt:lpstr>
      <vt:lpstr>Presentation structure
</vt:lpstr>
      <vt:lpstr>CPF AF2017-2021: Main Features</vt:lpstr>
      <vt:lpstr>  CPF AF2017-2021: Main Features</vt:lpstr>
      <vt:lpstr>CPF AF2017-2021: Results 
</vt:lpstr>
      <vt:lpstr>CPF FY2017-2021: Lessons Learned
</vt:lpstr>
      <vt:lpstr>Presentation structure
</vt:lpstr>
      <vt:lpstr>Government Program and Medium-Term Strategy (1-2)</vt:lpstr>
      <vt:lpstr>PowerPoint Presentation</vt:lpstr>
      <vt:lpstr>PowerPoint Presentation</vt:lpstr>
      <vt:lpstr>PowerPoint Presentation</vt:lpstr>
      <vt:lpstr>PowerPoint Presentation</vt:lpstr>
      <vt:lpstr>   Implementation of CPF 2023-2027: Prioritization
</vt:lpstr>
      <vt:lpstr>CPF Implementation 2023-2027: Prioritization
</vt:lpstr>
      <vt:lpstr>Potentially available resources 
</vt:lpstr>
      <vt:lpstr>HLO 1: More inclusive institutions
</vt:lpstr>
      <vt:lpstr>HLO 2: Increasing inclusive job creation </vt:lpstr>
      <vt:lpstr>HLO 3: Improving Human Capital and Women's Empowerment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Paulo Guilherme Correa</dc:creator>
  <cp:lastModifiedBy>Paulo Guilherme Correa</cp:lastModifiedBy>
  <cp:revision>86</cp:revision>
  <cp:lastPrinted>2022-05-26T16:13:25Z</cp:lastPrinted>
  <dcterms:created xsi:type="dcterms:W3CDTF">2022-02-23T20:10:42Z</dcterms:created>
  <dcterms:modified xsi:type="dcterms:W3CDTF">2022-06-07T12:24:10Z</dcterms:modified>
</cp:coreProperties>
</file>