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74" r:id="rId2"/>
    <p:sldMasterId id="2147483662" r:id="rId3"/>
  </p:sldMasterIdLst>
  <p:notesMasterIdLst>
    <p:notesMasterId r:id="rId28"/>
  </p:notesMasterIdLst>
  <p:handoutMasterIdLst>
    <p:handoutMasterId r:id="rId29"/>
  </p:handoutMasterIdLst>
  <p:sldIdLst>
    <p:sldId id="256" r:id="rId4"/>
    <p:sldId id="265" r:id="rId5"/>
    <p:sldId id="296" r:id="rId6"/>
    <p:sldId id="303" r:id="rId7"/>
    <p:sldId id="304" r:id="rId8"/>
    <p:sldId id="305" r:id="rId9"/>
    <p:sldId id="298" r:id="rId10"/>
    <p:sldId id="306" r:id="rId11"/>
    <p:sldId id="284" r:id="rId12"/>
    <p:sldId id="295" r:id="rId13"/>
    <p:sldId id="288" r:id="rId14"/>
    <p:sldId id="301" r:id="rId15"/>
    <p:sldId id="292" r:id="rId16"/>
    <p:sldId id="291" r:id="rId17"/>
    <p:sldId id="293" r:id="rId18"/>
    <p:sldId id="294" r:id="rId19"/>
    <p:sldId id="257" r:id="rId20"/>
    <p:sldId id="310" r:id="rId21"/>
    <p:sldId id="307" r:id="rId22"/>
    <p:sldId id="264" r:id="rId23"/>
    <p:sldId id="297" r:id="rId24"/>
    <p:sldId id="263" r:id="rId25"/>
    <p:sldId id="258" r:id="rId26"/>
    <p:sldId id="309" r:id="rId27"/>
  </p:sldIdLst>
  <p:sldSz cx="9144000" cy="6858000" type="screen4x3"/>
  <p:notesSz cx="6797675" cy="9926638"/>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notesView">
  <p:normalViewPr>
    <p:restoredLeft sz="15620"/>
    <p:restoredTop sz="74555" autoAdjust="0"/>
  </p:normalViewPr>
  <p:slideViewPr>
    <p:cSldViewPr>
      <p:cViewPr>
        <p:scale>
          <a:sx n="80" d="100"/>
          <a:sy n="80" d="100"/>
        </p:scale>
        <p:origin x="-226" y="1594"/>
      </p:cViewPr>
      <p:guideLst>
        <p:guide orient="horz" pos="2160"/>
        <p:guide pos="2880"/>
      </p:guideLst>
    </p:cSldViewPr>
  </p:slideViewPr>
  <p:notesTextViewPr>
    <p:cViewPr>
      <p:scale>
        <a:sx n="1" d="1"/>
        <a:sy n="1" d="1"/>
      </p:scale>
      <p:origin x="0" y="0"/>
    </p:cViewPr>
  </p:notesTextViewPr>
  <p:sorterViewPr>
    <p:cViewPr>
      <p:scale>
        <a:sx n="55" d="100"/>
        <a:sy n="55" d="100"/>
      </p:scale>
      <p:origin x="0" y="0"/>
    </p:cViewPr>
  </p:sorterViewPr>
  <p:notesViewPr>
    <p:cSldViewPr>
      <p:cViewPr>
        <p:scale>
          <a:sx n="95" d="100"/>
          <a:sy n="95" d="100"/>
        </p:scale>
        <p:origin x="-994" y="1814"/>
      </p:cViewPr>
      <p:guideLst>
        <p:guide orient="horz" pos="3127"/>
        <p:guide pos="2141"/>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45659" cy="496332"/>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sz="quarter" idx="1"/>
          </p:nvPr>
        </p:nvSpPr>
        <p:spPr>
          <a:xfrm>
            <a:off x="3850443" y="0"/>
            <a:ext cx="2945659" cy="496332"/>
          </a:xfrm>
          <a:prstGeom prst="rect">
            <a:avLst/>
          </a:prstGeom>
        </p:spPr>
        <p:txBody>
          <a:bodyPr vert="horz" lIns="91440" tIns="45720" rIns="91440" bIns="45720" rtlCol="0"/>
          <a:lstStyle>
            <a:lvl1pPr algn="r">
              <a:defRPr sz="1200"/>
            </a:lvl1pPr>
          </a:lstStyle>
          <a:p>
            <a:fld id="{899958FA-D017-4AC0-ABD0-3052F2B97BE8}" type="datetimeFigureOut">
              <a:rPr lang="ko-KR" altLang="en-US" smtClean="0"/>
              <a:pPr/>
              <a:t>2013-06-16</a:t>
            </a:fld>
            <a:endParaRPr lang="ko-KR" altLang="en-US"/>
          </a:p>
        </p:txBody>
      </p:sp>
      <p:sp>
        <p:nvSpPr>
          <p:cNvPr id="4" name="바닥글 개체 틀 3"/>
          <p:cNvSpPr>
            <a:spLocks noGrp="1"/>
          </p:cNvSpPr>
          <p:nvPr>
            <p:ph type="ftr" sz="quarter" idx="2"/>
          </p:nvPr>
        </p:nvSpPr>
        <p:spPr>
          <a:xfrm>
            <a:off x="0" y="9428583"/>
            <a:ext cx="2945659" cy="496332"/>
          </a:xfrm>
          <a:prstGeom prst="rect">
            <a:avLst/>
          </a:prstGeom>
        </p:spPr>
        <p:txBody>
          <a:bodyPr vert="horz" lIns="91440" tIns="45720" rIns="91440" bIns="45720" rtlCol="0" anchor="b"/>
          <a:lstStyle>
            <a:lvl1pPr algn="l">
              <a:defRPr sz="1200"/>
            </a:lvl1pPr>
          </a:lstStyle>
          <a:p>
            <a:endParaRPr lang="ko-KR" altLang="en-US"/>
          </a:p>
        </p:txBody>
      </p:sp>
      <p:sp>
        <p:nvSpPr>
          <p:cNvPr id="5" name="슬라이드 번호 개체 틀 4"/>
          <p:cNvSpPr>
            <a:spLocks noGrp="1"/>
          </p:cNvSpPr>
          <p:nvPr>
            <p:ph type="sldNum" sz="quarter" idx="3"/>
          </p:nvPr>
        </p:nvSpPr>
        <p:spPr>
          <a:xfrm>
            <a:off x="3850443" y="9428583"/>
            <a:ext cx="2945659" cy="496332"/>
          </a:xfrm>
          <a:prstGeom prst="rect">
            <a:avLst/>
          </a:prstGeom>
        </p:spPr>
        <p:txBody>
          <a:bodyPr vert="horz" lIns="91440" tIns="45720" rIns="91440" bIns="45720" rtlCol="0" anchor="b"/>
          <a:lstStyle>
            <a:lvl1pPr algn="r">
              <a:defRPr sz="1200"/>
            </a:lvl1pPr>
          </a:lstStyle>
          <a:p>
            <a:fld id="{5E3F59E1-8BD4-472C-B5F6-5770A6FD8479}" type="slidenum">
              <a:rPr lang="ko-KR" altLang="en-US" smtClean="0"/>
              <a:pPr/>
              <a:t>‹#›</a:t>
            </a:fld>
            <a:endParaRPr lang="ko-KR" altLang="en-US"/>
          </a:p>
        </p:txBody>
      </p:sp>
    </p:spTree>
    <p:extLst>
      <p:ext uri="{BB962C8B-B14F-4D97-AF65-F5344CB8AC3E}">
        <p14:creationId xmlns:p14="http://schemas.microsoft.com/office/powerpoint/2010/main" val="39738387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45659" cy="496332"/>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50443" y="0"/>
            <a:ext cx="2945659" cy="496332"/>
          </a:xfrm>
          <a:prstGeom prst="rect">
            <a:avLst/>
          </a:prstGeom>
        </p:spPr>
        <p:txBody>
          <a:bodyPr vert="horz" lIns="91440" tIns="45720" rIns="91440" bIns="45720" rtlCol="0"/>
          <a:lstStyle>
            <a:lvl1pPr algn="r">
              <a:defRPr sz="1200"/>
            </a:lvl1pPr>
          </a:lstStyle>
          <a:p>
            <a:fld id="{B90870B4-24A4-47E0-AB99-14FFCFEB0E15}" type="datetimeFigureOut">
              <a:rPr lang="ko-KR" altLang="en-US" smtClean="0"/>
              <a:pPr/>
              <a:t>2013-06-16</a:t>
            </a:fld>
            <a:endParaRPr lang="ko-KR" altLang="en-US"/>
          </a:p>
        </p:txBody>
      </p:sp>
      <p:sp>
        <p:nvSpPr>
          <p:cNvPr id="4" name="슬라이드 이미지 개체 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79768" y="4715153"/>
            <a:ext cx="5438140" cy="4466987"/>
          </a:xfrm>
          <a:prstGeom prst="rect">
            <a:avLst/>
          </a:prstGeom>
        </p:spPr>
        <p:txBody>
          <a:bodyPr vert="horz" lIns="91440" tIns="45720" rIns="91440" bIns="45720" rtlCol="0"/>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9428583"/>
            <a:ext cx="2945659" cy="496332"/>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50443" y="9428583"/>
            <a:ext cx="2945659" cy="496332"/>
          </a:xfrm>
          <a:prstGeom prst="rect">
            <a:avLst/>
          </a:prstGeom>
        </p:spPr>
        <p:txBody>
          <a:bodyPr vert="horz" lIns="91440" tIns="45720" rIns="91440" bIns="45720" rtlCol="0" anchor="b"/>
          <a:lstStyle>
            <a:lvl1pPr algn="r">
              <a:defRPr sz="1200"/>
            </a:lvl1pPr>
          </a:lstStyle>
          <a:p>
            <a:fld id="{93DDB83D-7BDD-4132-91FF-D092BCD2E66F}" type="slidenum">
              <a:rPr lang="ko-KR" altLang="en-US" smtClean="0"/>
              <a:pPr/>
              <a:t>‹#›</a:t>
            </a:fld>
            <a:endParaRPr lang="ko-KR" altLang="en-US"/>
          </a:p>
        </p:txBody>
      </p:sp>
    </p:spTree>
    <p:extLst>
      <p:ext uri="{BB962C8B-B14F-4D97-AF65-F5344CB8AC3E}">
        <p14:creationId xmlns:p14="http://schemas.microsoft.com/office/powerpoint/2010/main" val="225154843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bwMode="auto"/>
        <p:txBody>
          <a:bodyPr/>
          <a:lstStyle/>
          <a:p>
            <a:pPr>
              <a:spcBef>
                <a:spcPct val="0"/>
              </a:spcBef>
            </a:pPr>
            <a:r>
              <a:rPr lang="en-US" altLang="ko-KR" dirty="0" err="1">
                <a:latin typeface="+mn-ea"/>
                <a:cs typeface="Arial" pitchFamily="34" charset="0"/>
              </a:rPr>
              <a:t>Excellencies</a:t>
            </a:r>
            <a:r>
              <a:rPr lang="en-US" altLang="ko-KR" dirty="0">
                <a:latin typeface="+mn-ea"/>
                <a:cs typeface="Arial" pitchFamily="34" charset="0"/>
              </a:rPr>
              <a:t>,</a:t>
            </a:r>
          </a:p>
          <a:p>
            <a:pPr>
              <a:spcBef>
                <a:spcPct val="0"/>
              </a:spcBef>
            </a:pPr>
            <a:r>
              <a:rPr lang="en-US" altLang="ko-KR" dirty="0">
                <a:latin typeface="+mn-ea"/>
                <a:cs typeface="Arial" pitchFamily="34" charset="0"/>
              </a:rPr>
              <a:t>Distinguished guests, </a:t>
            </a:r>
          </a:p>
          <a:p>
            <a:pPr>
              <a:spcBef>
                <a:spcPct val="0"/>
              </a:spcBef>
            </a:pPr>
            <a:r>
              <a:rPr lang="en-US" altLang="ko-KR" dirty="0">
                <a:latin typeface="+mn-ea"/>
                <a:cs typeface="Arial" pitchFamily="34" charset="0"/>
              </a:rPr>
              <a:t>Ladies and gentlemen,</a:t>
            </a:r>
          </a:p>
          <a:p>
            <a:endParaRPr lang="en-US" altLang="ko-KR" dirty="0" smtClean="0"/>
          </a:p>
          <a:p>
            <a:r>
              <a:rPr lang="en-US" altLang="ko-KR" dirty="0" smtClean="0"/>
              <a:t>It is a great honor for me to share our experience with you and work together for the rapid economic growth and reduction of poverty rate through smart ICT solution. </a:t>
            </a:r>
          </a:p>
          <a:p>
            <a:r>
              <a:rPr lang="en-US" altLang="ko-KR" dirty="0" smtClean="0"/>
              <a:t>Due to the time constraint my presentation will be very condensed, however I’ll try to deliver the focal points from my presentation.  </a:t>
            </a:r>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1</a:t>
            </a:fld>
            <a:endParaRPr lang="ko-KR" altLang="en-US"/>
          </a:p>
        </p:txBody>
      </p:sp>
    </p:spTree>
    <p:extLst>
      <p:ext uri="{BB962C8B-B14F-4D97-AF65-F5344CB8AC3E}">
        <p14:creationId xmlns:p14="http://schemas.microsoft.com/office/powerpoint/2010/main" val="3567837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a:spcBef>
                <a:spcPct val="0"/>
              </a:spcBef>
            </a:pPr>
            <a:r>
              <a:rPr lang="en-US" altLang="ko-KR" sz="1200" i="0" dirty="0" smtClean="0">
                <a:latin typeface="맑은 고딕" pitchFamily="50" charset="-127"/>
                <a:ea typeface="맑은 고딕" pitchFamily="50" charset="-127"/>
              </a:rPr>
              <a:t>To bring more benefits at the dawn of the smart revolution, we now need a new paradigm for another ICT revolution.</a:t>
            </a:r>
          </a:p>
          <a:p>
            <a:pPr>
              <a:spcBef>
                <a:spcPct val="0"/>
              </a:spcBef>
            </a:pPr>
            <a:endParaRPr lang="en-US" altLang="ko-KR" sz="1200" i="0" dirty="0" smtClean="0">
              <a:latin typeface="맑은 고딕" pitchFamily="50" charset="-127"/>
              <a:ea typeface="맑은 고딕" pitchFamily="50" charset="-127"/>
            </a:endParaRPr>
          </a:p>
          <a:p>
            <a:pPr>
              <a:spcBef>
                <a:spcPct val="0"/>
              </a:spcBef>
            </a:pPr>
            <a:r>
              <a:rPr lang="en-US" altLang="ko-KR" sz="1200" i="0" dirty="0" smtClean="0">
                <a:latin typeface="맑은 고딕" pitchFamily="50" charset="-127"/>
                <a:ea typeface="맑은 고딕" pitchFamily="50" charset="-127"/>
              </a:rPr>
              <a:t>Quantum leap necessitate the correct review of current situation and robust foundation require in each ICT development stage. That is why we benchmark advanced cases. </a:t>
            </a:r>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2</a:t>
            </a:fld>
            <a:endParaRPr lang="ko-KR" altLang="en-US"/>
          </a:p>
        </p:txBody>
      </p:sp>
    </p:spTree>
    <p:extLst>
      <p:ext uri="{BB962C8B-B14F-4D97-AF65-F5344CB8AC3E}">
        <p14:creationId xmlns:p14="http://schemas.microsoft.com/office/powerpoint/2010/main" val="42623135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baseline="0" dirty="0" smtClean="0"/>
              <a:t>The status of South Korea is that it is ranked at or near the top in several Global IT surveys in both the public and private sectors.</a:t>
            </a:r>
          </a:p>
        </p:txBody>
      </p:sp>
      <p:sp>
        <p:nvSpPr>
          <p:cNvPr id="4" name="슬라이드 번호 개체 틀 3"/>
          <p:cNvSpPr>
            <a:spLocks noGrp="1"/>
          </p:cNvSpPr>
          <p:nvPr>
            <p:ph type="sldNum" sz="quarter" idx="10"/>
          </p:nvPr>
        </p:nvSpPr>
        <p:spPr/>
        <p:txBody>
          <a:bodyPr/>
          <a:lstStyle/>
          <a:p>
            <a:fld id="{48030ECF-BAF6-4561-8CAD-A2CA4F017543}" type="slidenum">
              <a:rPr lang="en-US" altLang="ko-KR" smtClean="0"/>
              <a:pPr/>
              <a:t>3</a:t>
            </a:fld>
            <a:endParaRPr lang="en-US" altLang="ko-KR"/>
          </a:p>
        </p:txBody>
      </p:sp>
    </p:spTree>
    <p:extLst>
      <p:ext uri="{BB962C8B-B14F-4D97-AF65-F5344CB8AC3E}">
        <p14:creationId xmlns:p14="http://schemas.microsoft.com/office/powerpoint/2010/main" val="23447306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a:spcBef>
                <a:spcPct val="0"/>
              </a:spcBef>
            </a:pPr>
            <a:r>
              <a:rPr lang="en-US" altLang="ko-KR" dirty="0" smtClean="0">
                <a:latin typeface="Arial" pitchFamily="34" charset="0"/>
                <a:cs typeface="Arial" pitchFamily="34" charset="0"/>
              </a:rPr>
              <a:t>This slide explains </a:t>
            </a:r>
            <a:r>
              <a:rPr lang="en-US" altLang="ko-KR" b="1" dirty="0" smtClean="0">
                <a:latin typeface="Arial" pitchFamily="34" charset="0"/>
                <a:cs typeface="Arial" pitchFamily="34" charset="0"/>
              </a:rPr>
              <a:t>the different stages of e-Government development</a:t>
            </a:r>
            <a:r>
              <a:rPr lang="en-US" altLang="ko-KR" dirty="0" smtClean="0">
                <a:latin typeface="Arial" pitchFamily="34" charset="0"/>
                <a:cs typeface="Arial" pitchFamily="34" charset="0"/>
              </a:rPr>
              <a:t>  and </a:t>
            </a:r>
            <a:r>
              <a:rPr lang="en-US" altLang="ko-KR" b="1" dirty="0" smtClean="0">
                <a:latin typeface="Arial" pitchFamily="34" charset="0"/>
                <a:cs typeface="Arial" pitchFamily="34" charset="0"/>
              </a:rPr>
              <a:t>current status of Korea</a:t>
            </a:r>
            <a:r>
              <a:rPr lang="en-US" altLang="ko-KR" dirty="0" smtClean="0">
                <a:latin typeface="Arial" pitchFamily="34" charset="0"/>
                <a:cs typeface="Arial" pitchFamily="34" charset="0"/>
              </a:rPr>
              <a:t>.</a:t>
            </a:r>
          </a:p>
          <a:p>
            <a:pPr>
              <a:spcBef>
                <a:spcPct val="0"/>
              </a:spcBef>
            </a:pPr>
            <a:endParaRPr lang="en-US" altLang="ko-KR" dirty="0" smtClean="0">
              <a:latin typeface="Arial" pitchFamily="34" charset="0"/>
              <a:cs typeface="Arial" pitchFamily="34" charset="0"/>
            </a:endParaRPr>
          </a:p>
          <a:p>
            <a:pPr>
              <a:spcBef>
                <a:spcPct val="0"/>
              </a:spcBef>
            </a:pPr>
            <a:r>
              <a:rPr lang="en-US" altLang="ko-KR" dirty="0" smtClean="0">
                <a:latin typeface="Arial" pitchFamily="34" charset="0"/>
                <a:cs typeface="Arial" pitchFamily="34" charset="0"/>
              </a:rPr>
              <a:t>According to a UN report, the Korean Government has completed Level 3 and is advancing on to Level 4. </a:t>
            </a:r>
          </a:p>
          <a:p>
            <a:pPr>
              <a:spcBef>
                <a:spcPct val="0"/>
              </a:spcBef>
            </a:pPr>
            <a:endParaRPr lang="en-US" altLang="ko-KR" dirty="0" smtClean="0">
              <a:latin typeface="Arial" pitchFamily="34" charset="0"/>
              <a:cs typeface="Arial" pitchFamily="34" charset="0"/>
            </a:endParaRPr>
          </a:p>
          <a:p>
            <a:pPr>
              <a:spcBef>
                <a:spcPct val="0"/>
              </a:spcBef>
            </a:pPr>
            <a:r>
              <a:rPr lang="en-US" altLang="ko-KR" dirty="0" smtClean="0">
                <a:latin typeface="Arial" pitchFamily="34" charset="0"/>
                <a:cs typeface="Arial" pitchFamily="34" charset="0"/>
              </a:rPr>
              <a:t>At present, Korea has achieved </a:t>
            </a:r>
            <a:r>
              <a:rPr lang="en-US" altLang="ko-KR" b="1" dirty="0" smtClean="0">
                <a:latin typeface="Arial" pitchFamily="34" charset="0"/>
                <a:cs typeface="Arial" pitchFamily="34" charset="0"/>
              </a:rPr>
              <a:t>62% of the Level 4</a:t>
            </a:r>
            <a:r>
              <a:rPr lang="en-US" altLang="ko-KR" dirty="0" smtClean="0">
                <a:latin typeface="Arial" pitchFamily="34" charset="0"/>
                <a:cs typeface="Arial" pitchFamily="34" charset="0"/>
              </a:rPr>
              <a:t> stage.</a:t>
            </a:r>
          </a:p>
          <a:p>
            <a:pPr>
              <a:spcBef>
                <a:spcPct val="0"/>
              </a:spcBef>
            </a:pPr>
            <a:endParaRPr lang="en-US" altLang="ko-KR" dirty="0" smtClean="0">
              <a:latin typeface="Arial" pitchFamily="34" charset="0"/>
              <a:cs typeface="Arial" pitchFamily="34" charset="0"/>
            </a:endParaRPr>
          </a:p>
          <a:p>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4</a:t>
            </a:fld>
            <a:endParaRPr lang="ko-KR" altLang="en-US"/>
          </a:p>
        </p:txBody>
      </p:sp>
    </p:spTree>
    <p:extLst>
      <p:ext uri="{BB962C8B-B14F-4D97-AF65-F5344CB8AC3E}">
        <p14:creationId xmlns:p14="http://schemas.microsoft.com/office/powerpoint/2010/main" val="16933019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a:spcBef>
                <a:spcPct val="0"/>
              </a:spcBef>
            </a:pPr>
            <a:r>
              <a:rPr lang="en-US" altLang="ko-KR" dirty="0">
                <a:latin typeface="Arial" pitchFamily="34" charset="0"/>
                <a:cs typeface="Arial" pitchFamily="34" charset="0"/>
              </a:rPr>
              <a:t>This slide shows </a:t>
            </a:r>
            <a:r>
              <a:rPr lang="en-US" altLang="ko-KR" b="1" dirty="0">
                <a:latin typeface="Arial" pitchFamily="34" charset="0"/>
                <a:cs typeface="Arial" pitchFamily="34" charset="0"/>
              </a:rPr>
              <a:t>Korea’s best e-Government systems</a:t>
            </a:r>
            <a:r>
              <a:rPr lang="en-US" altLang="ko-KR" dirty="0">
                <a:latin typeface="Arial" pitchFamily="34" charset="0"/>
                <a:cs typeface="Arial" pitchFamily="34" charset="0"/>
              </a:rPr>
              <a:t>, that are </a:t>
            </a:r>
            <a:r>
              <a:rPr lang="en-US" altLang="ko-KR" b="1" dirty="0">
                <a:latin typeface="Arial" pitchFamily="34" charset="0"/>
                <a:cs typeface="Arial" pitchFamily="34" charset="0"/>
              </a:rPr>
              <a:t>widely recognized and exported</a:t>
            </a:r>
            <a:r>
              <a:rPr lang="en-US" altLang="ko-KR" dirty="0">
                <a:latin typeface="Arial" pitchFamily="34" charset="0"/>
                <a:cs typeface="Arial" pitchFamily="34" charset="0"/>
              </a:rPr>
              <a:t>  worldwide. </a:t>
            </a:r>
          </a:p>
          <a:p>
            <a:pPr>
              <a:spcBef>
                <a:spcPct val="0"/>
              </a:spcBef>
            </a:pPr>
            <a:endParaRPr lang="en-US" altLang="ko-KR" dirty="0">
              <a:latin typeface="Arial" pitchFamily="34" charset="0"/>
              <a:cs typeface="Arial" pitchFamily="34" charset="0"/>
            </a:endParaRPr>
          </a:p>
          <a:p>
            <a:pPr>
              <a:spcBef>
                <a:spcPct val="0"/>
              </a:spcBef>
            </a:pPr>
            <a:r>
              <a:rPr lang="en-US" altLang="ko-KR" dirty="0">
                <a:latin typeface="Arial" pitchFamily="34" charset="0"/>
                <a:cs typeface="Arial" pitchFamily="34" charset="0"/>
              </a:rPr>
              <a:t>Among them, </a:t>
            </a:r>
            <a:r>
              <a:rPr lang="en-US" altLang="ko-KR" b="1" dirty="0">
                <a:latin typeface="Arial" pitchFamily="34" charset="0"/>
                <a:cs typeface="Arial" pitchFamily="34" charset="0"/>
              </a:rPr>
              <a:t>Online Civil Service Portal, </a:t>
            </a:r>
            <a:r>
              <a:rPr lang="en-US" altLang="ko-KR" dirty="0">
                <a:latin typeface="Arial" pitchFamily="34" charset="0"/>
                <a:cs typeface="Arial" pitchFamily="34" charset="0"/>
              </a:rPr>
              <a:t>called Minwon24, and </a:t>
            </a:r>
            <a:r>
              <a:rPr lang="en-US" altLang="ko-KR" b="1" dirty="0">
                <a:latin typeface="Arial" pitchFamily="34" charset="0"/>
                <a:cs typeface="Arial" pitchFamily="34" charset="0"/>
              </a:rPr>
              <a:t>Korea National e-Procurement System</a:t>
            </a:r>
            <a:r>
              <a:rPr lang="en-US" altLang="ko-KR" dirty="0">
                <a:latin typeface="Arial" pitchFamily="34" charset="0"/>
                <a:cs typeface="Arial" pitchFamily="34" charset="0"/>
              </a:rPr>
              <a:t> called KONEPS,</a:t>
            </a:r>
          </a:p>
          <a:p>
            <a:pPr>
              <a:spcBef>
                <a:spcPct val="0"/>
              </a:spcBef>
            </a:pPr>
            <a:r>
              <a:rPr lang="en-US" altLang="ko-KR" b="1" dirty="0">
                <a:latin typeface="Arial" pitchFamily="34" charset="0"/>
                <a:cs typeface="Arial" pitchFamily="34" charset="0"/>
              </a:rPr>
              <a:t>Immigration Smart Service</a:t>
            </a:r>
            <a:r>
              <a:rPr lang="en-US" altLang="ko-KR" dirty="0">
                <a:latin typeface="Arial" pitchFamily="34" charset="0"/>
                <a:cs typeface="Arial" pitchFamily="34" charset="0"/>
              </a:rPr>
              <a:t>, were cited in various reports and also awarded by international organizations.</a:t>
            </a:r>
          </a:p>
          <a:p>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5</a:t>
            </a:fld>
            <a:endParaRPr lang="ko-KR" altLang="en-US"/>
          </a:p>
        </p:txBody>
      </p:sp>
    </p:spTree>
    <p:extLst>
      <p:ext uri="{BB962C8B-B14F-4D97-AF65-F5344CB8AC3E}">
        <p14:creationId xmlns:p14="http://schemas.microsoft.com/office/powerpoint/2010/main" val="42774021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fontAlgn="auto">
              <a:spcBef>
                <a:spcPts val="0"/>
              </a:spcBef>
              <a:spcAft>
                <a:spcPts val="0"/>
              </a:spcAft>
              <a:defRPr/>
            </a:pPr>
            <a:r>
              <a:rPr lang="en-US" altLang="ko-KR" dirty="0">
                <a:latin typeface="Arial" pitchFamily="34" charset="0"/>
                <a:cs typeface="Arial" pitchFamily="34" charset="0"/>
              </a:rPr>
              <a:t>Continuing on </a:t>
            </a:r>
            <a:r>
              <a:rPr lang="en-US" altLang="ko-KR" b="1" dirty="0">
                <a:latin typeface="Arial" pitchFamily="34" charset="0"/>
                <a:cs typeface="Arial" pitchFamily="34" charset="0"/>
              </a:rPr>
              <a:t>Best Practices</a:t>
            </a:r>
            <a:r>
              <a:rPr lang="en-US" altLang="ko-KR" dirty="0">
                <a:latin typeface="Arial" pitchFamily="34" charset="0"/>
                <a:cs typeface="Arial" pitchFamily="34" charset="0"/>
              </a:rPr>
              <a:t>, I would like to highlight: </a:t>
            </a:r>
          </a:p>
          <a:p>
            <a:pPr fontAlgn="auto">
              <a:spcBef>
                <a:spcPts val="0"/>
              </a:spcBef>
              <a:spcAft>
                <a:spcPts val="0"/>
              </a:spcAft>
              <a:defRPr/>
            </a:pPr>
            <a:endParaRPr lang="en-US" altLang="ko-KR" dirty="0">
              <a:latin typeface="Arial" pitchFamily="34" charset="0"/>
              <a:cs typeface="Arial" pitchFamily="34" charset="0"/>
            </a:endParaRPr>
          </a:p>
          <a:p>
            <a:pPr fontAlgn="auto">
              <a:spcBef>
                <a:spcPts val="0"/>
              </a:spcBef>
              <a:spcAft>
                <a:spcPts val="0"/>
              </a:spcAft>
              <a:buFontTx/>
              <a:buChar char="-"/>
              <a:defRPr/>
            </a:pPr>
            <a:r>
              <a:rPr lang="en-US" altLang="ko-KR" b="1" dirty="0">
                <a:latin typeface="Arial" pitchFamily="34" charset="0"/>
                <a:cs typeface="Arial" pitchFamily="34" charset="0"/>
              </a:rPr>
              <a:t>NCIA (the Korean government’s Integrated Data Center)</a:t>
            </a:r>
            <a:r>
              <a:rPr lang="en-US" altLang="ko-KR" dirty="0">
                <a:latin typeface="Arial" pitchFamily="34" charset="0"/>
                <a:cs typeface="Arial" pitchFamily="34" charset="0"/>
              </a:rPr>
              <a:t>, which integrated 47 government agencies’ information systems </a:t>
            </a:r>
            <a:r>
              <a:rPr lang="en-US" altLang="ko-KR" dirty="0" smtClean="0">
                <a:latin typeface="Arial" pitchFamily="34" charset="0"/>
                <a:cs typeface="Arial" pitchFamily="34" charset="0"/>
              </a:rPr>
              <a:t> in </a:t>
            </a:r>
            <a:r>
              <a:rPr lang="en-US" altLang="ko-KR" dirty="0">
                <a:latin typeface="Arial" pitchFamily="34" charset="0"/>
                <a:cs typeface="Arial" pitchFamily="34" charset="0"/>
              </a:rPr>
              <a:t>order to consolidate and manage information security of governmental data, </a:t>
            </a:r>
          </a:p>
          <a:p>
            <a:pPr fontAlgn="auto">
              <a:spcBef>
                <a:spcPts val="0"/>
              </a:spcBef>
              <a:spcAft>
                <a:spcPts val="0"/>
              </a:spcAft>
              <a:buFontTx/>
              <a:buChar char="-"/>
              <a:defRPr/>
            </a:pPr>
            <a:endParaRPr lang="en-US" altLang="ko-KR" dirty="0">
              <a:latin typeface="Arial" pitchFamily="34" charset="0"/>
              <a:cs typeface="Arial" pitchFamily="34" charset="0"/>
            </a:endParaRPr>
          </a:p>
          <a:p>
            <a:pPr fontAlgn="auto">
              <a:spcBef>
                <a:spcPts val="0"/>
              </a:spcBef>
              <a:spcAft>
                <a:spcPts val="0"/>
              </a:spcAft>
              <a:buFontTx/>
              <a:buNone/>
              <a:defRPr/>
            </a:pPr>
            <a:r>
              <a:rPr lang="en-US" altLang="ko-KR" dirty="0">
                <a:latin typeface="Arial" pitchFamily="34" charset="0"/>
                <a:cs typeface="Arial" pitchFamily="34" charset="0"/>
              </a:rPr>
              <a:t>And, </a:t>
            </a:r>
          </a:p>
          <a:p>
            <a:pPr fontAlgn="auto">
              <a:spcBef>
                <a:spcPts val="0"/>
              </a:spcBef>
              <a:spcAft>
                <a:spcPts val="0"/>
              </a:spcAft>
              <a:buFontTx/>
              <a:buNone/>
              <a:defRPr/>
            </a:pPr>
            <a:endParaRPr lang="en-US" altLang="ko-KR" dirty="0">
              <a:latin typeface="Arial" pitchFamily="34" charset="0"/>
              <a:cs typeface="Arial" pitchFamily="34" charset="0"/>
            </a:endParaRPr>
          </a:p>
          <a:p>
            <a:pPr marL="171450" indent="-171450" fontAlgn="auto">
              <a:spcBef>
                <a:spcPts val="0"/>
              </a:spcBef>
              <a:spcAft>
                <a:spcPts val="0"/>
              </a:spcAft>
              <a:buFontTx/>
              <a:buChar char="-"/>
              <a:defRPr/>
            </a:pPr>
            <a:r>
              <a:rPr lang="en-US" altLang="ko-KR" b="1" dirty="0">
                <a:latin typeface="Arial" pitchFamily="34" charset="0"/>
                <a:cs typeface="Arial" pitchFamily="34" charset="0"/>
              </a:rPr>
              <a:t>Public Information Sharing Center , </a:t>
            </a:r>
            <a:r>
              <a:rPr lang="en-US" altLang="ko-KR" dirty="0">
                <a:latin typeface="Arial" pitchFamily="34" charset="0"/>
                <a:cs typeface="Arial" pitchFamily="34" charset="0"/>
              </a:rPr>
              <a:t>which is an </a:t>
            </a:r>
            <a:r>
              <a:rPr lang="en-US" altLang="ko-KR" b="1" dirty="0">
                <a:latin typeface="Arial" pitchFamily="34" charset="0"/>
                <a:cs typeface="Arial" pitchFamily="34" charset="0"/>
              </a:rPr>
              <a:t>information exchange hub </a:t>
            </a:r>
            <a:r>
              <a:rPr lang="en-US" altLang="ko-KR" dirty="0">
                <a:latin typeface="Arial" pitchFamily="34" charset="0"/>
                <a:cs typeface="Arial" pitchFamily="34" charset="0"/>
              </a:rPr>
              <a:t>to better manage government information collectively. </a:t>
            </a:r>
          </a:p>
          <a:p>
            <a:pPr fontAlgn="auto">
              <a:spcBef>
                <a:spcPts val="0"/>
              </a:spcBef>
              <a:spcAft>
                <a:spcPts val="0"/>
              </a:spcAft>
              <a:defRPr/>
            </a:pPr>
            <a:endParaRPr lang="ko-KR" altLang="en-US" dirty="0">
              <a:latin typeface="Arial" pitchFamily="34" charset="0"/>
              <a:cs typeface="Arial" pitchFamily="34" charset="0"/>
            </a:endParaRPr>
          </a:p>
          <a:p>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6</a:t>
            </a:fld>
            <a:endParaRPr lang="ko-KR" altLang="en-US"/>
          </a:p>
        </p:txBody>
      </p:sp>
    </p:spTree>
    <p:extLst>
      <p:ext uri="{BB962C8B-B14F-4D97-AF65-F5344CB8AC3E}">
        <p14:creationId xmlns:p14="http://schemas.microsoft.com/office/powerpoint/2010/main" val="30646981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b="1" dirty="0" smtClean="0"/>
              <a:t>Here I provide some success factors by the Korea’s e-Government developing stages</a:t>
            </a:r>
          </a:p>
          <a:p>
            <a:endParaRPr lang="en-US" altLang="ko-KR" b="1" dirty="0"/>
          </a:p>
          <a:p>
            <a:r>
              <a:rPr lang="en-US" altLang="ko-KR" b="1" dirty="0" smtClean="0"/>
              <a:t>Firstly</a:t>
            </a:r>
            <a:r>
              <a:rPr lang="en-US" altLang="ko-KR" b="1" dirty="0"/>
              <a:t>, Strong Government Leadership.</a:t>
            </a:r>
          </a:p>
          <a:p>
            <a:r>
              <a:rPr lang="en-US" altLang="ko-KR" dirty="0"/>
              <a:t> </a:t>
            </a:r>
            <a:r>
              <a:rPr lang="en-US" altLang="ko-KR" dirty="0" smtClean="0"/>
              <a:t>  Since </a:t>
            </a:r>
            <a:r>
              <a:rPr lang="en-US" altLang="ko-KR" dirty="0"/>
              <a:t>the 1980s, the top government officers including the President understood the importance of e-government and actively involved in promoting it. This is why Korea was able to establish strategic and sustainable e-government plans.</a:t>
            </a:r>
          </a:p>
          <a:p>
            <a:endParaRPr lang="en-US" altLang="ko-KR" dirty="0"/>
          </a:p>
          <a:p>
            <a:r>
              <a:rPr lang="en-US" altLang="ko-KR" b="1" dirty="0"/>
              <a:t>Secondly, Sustained Investment in the e-Government Budget</a:t>
            </a:r>
          </a:p>
          <a:p>
            <a:r>
              <a:rPr lang="en-US" altLang="ko-KR" dirty="0" smtClean="0"/>
              <a:t>   Over </a:t>
            </a:r>
            <a:r>
              <a:rPr lang="en-US" altLang="ko-KR" dirty="0"/>
              <a:t>the last decade, an average of 1% of the total national budget was invested into e-Government </a:t>
            </a:r>
            <a:r>
              <a:rPr lang="en-US" altLang="ko-KR" dirty="0" smtClean="0"/>
              <a:t>construct ion </a:t>
            </a:r>
            <a:r>
              <a:rPr lang="en-US" altLang="ko-KR" dirty="0"/>
              <a:t>every year. </a:t>
            </a:r>
          </a:p>
          <a:p>
            <a:endParaRPr lang="en-US" altLang="ko-KR" dirty="0"/>
          </a:p>
          <a:p>
            <a:r>
              <a:rPr lang="en-US" altLang="ko-KR" b="1" dirty="0"/>
              <a:t>Third, Technology Support. </a:t>
            </a:r>
          </a:p>
          <a:p>
            <a:r>
              <a:rPr lang="en-US" altLang="ko-KR" dirty="0" smtClean="0"/>
              <a:t>   The Korean government has collaborated closely with system integration companies and specialized IT solution vendors that have adopted practical and efficient technology. </a:t>
            </a:r>
          </a:p>
          <a:p>
            <a:endParaRPr lang="en-US" altLang="ko-KR" dirty="0"/>
          </a:p>
          <a:p>
            <a:endParaRPr lang="en-US" altLang="ko-KR" dirty="0"/>
          </a:p>
          <a:p>
            <a:endParaRPr lang="en-US" altLang="ko-KR" dirty="0"/>
          </a:p>
          <a:p>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7</a:t>
            </a:fld>
            <a:endParaRPr lang="ko-KR" altLang="en-US"/>
          </a:p>
        </p:txBody>
      </p:sp>
    </p:spTree>
    <p:extLst>
      <p:ext uri="{BB962C8B-B14F-4D97-AF65-F5344CB8AC3E}">
        <p14:creationId xmlns:p14="http://schemas.microsoft.com/office/powerpoint/2010/main" val="558956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en-US" altLang="ko-KR" sz="1100" dirty="0"/>
          </a:p>
          <a:p>
            <a:pPr>
              <a:spcBef>
                <a:spcPct val="0"/>
              </a:spcBef>
            </a:pPr>
            <a:r>
              <a:rPr lang="en-US" altLang="ko-KR" sz="1100" b="1" dirty="0">
                <a:latin typeface="Arial" pitchFamily="34" charset="0"/>
                <a:ea typeface="굴림" charset="-127"/>
                <a:cs typeface="Arial" pitchFamily="34" charset="0"/>
              </a:rPr>
              <a:t>Fourth, Effective Change Management.</a:t>
            </a:r>
          </a:p>
          <a:p>
            <a:pPr>
              <a:spcBef>
                <a:spcPct val="0"/>
              </a:spcBef>
            </a:pPr>
            <a:endParaRPr lang="en-US" altLang="ko-KR" sz="1100" dirty="0">
              <a:latin typeface="Arial" pitchFamily="34" charset="0"/>
              <a:ea typeface="굴림" charset="-127"/>
              <a:cs typeface="Arial" pitchFamily="34" charset="0"/>
            </a:endParaRPr>
          </a:p>
          <a:p>
            <a:pPr>
              <a:spcBef>
                <a:spcPct val="0"/>
              </a:spcBef>
            </a:pPr>
            <a:r>
              <a:rPr lang="en-US" altLang="ko-KR" sz="1100" dirty="0">
                <a:latin typeface="Arial" pitchFamily="34" charset="0"/>
                <a:ea typeface="굴림" charset="-127"/>
                <a:cs typeface="Arial" pitchFamily="34" charset="0"/>
              </a:rPr>
              <a:t>To overcome issues such as public officers fear and resistance of workforce reduction, due to e-government services, </a:t>
            </a:r>
            <a:r>
              <a:rPr lang="en-US" altLang="ko-KR" sz="1100" dirty="0" smtClean="0">
                <a:latin typeface="Arial" pitchFamily="34" charset="0"/>
                <a:ea typeface="굴림" charset="-127"/>
                <a:cs typeface="Arial" pitchFamily="34" charset="0"/>
              </a:rPr>
              <a:t>change </a:t>
            </a:r>
            <a:r>
              <a:rPr lang="en-US" altLang="ko-KR" sz="1100" dirty="0">
                <a:latin typeface="Arial" pitchFamily="34" charset="0"/>
                <a:ea typeface="굴림" charset="-127"/>
                <a:cs typeface="Arial" pitchFamily="34" charset="0"/>
              </a:rPr>
              <a:t>management re-training and education were carried out. </a:t>
            </a:r>
          </a:p>
          <a:p>
            <a:pPr>
              <a:spcBef>
                <a:spcPct val="0"/>
              </a:spcBef>
            </a:pPr>
            <a:endParaRPr lang="en-US" altLang="ko-KR" sz="1100" dirty="0">
              <a:latin typeface="Arial" pitchFamily="34" charset="0"/>
              <a:ea typeface="굴림" charset="-127"/>
              <a:cs typeface="Arial" pitchFamily="34" charset="0"/>
            </a:endParaRPr>
          </a:p>
          <a:p>
            <a:pPr>
              <a:spcBef>
                <a:spcPct val="0"/>
              </a:spcBef>
            </a:pPr>
            <a:r>
              <a:rPr lang="en-US" altLang="ko-KR" sz="1100" b="1" dirty="0">
                <a:latin typeface="Arial" pitchFamily="34" charset="0"/>
                <a:ea typeface="굴림" charset="-127"/>
                <a:cs typeface="Arial" pitchFamily="34" charset="0"/>
              </a:rPr>
              <a:t>Fifth, Performance-based Program Management</a:t>
            </a:r>
          </a:p>
          <a:p>
            <a:pPr>
              <a:spcBef>
                <a:spcPct val="0"/>
              </a:spcBef>
            </a:pPr>
            <a:endParaRPr lang="en-US" altLang="ko-KR" sz="1100" dirty="0">
              <a:latin typeface="Arial" pitchFamily="34" charset="0"/>
              <a:ea typeface="굴림" charset="-127"/>
              <a:cs typeface="Arial" pitchFamily="34" charset="0"/>
            </a:endParaRPr>
          </a:p>
          <a:p>
            <a:pPr>
              <a:spcBef>
                <a:spcPct val="0"/>
              </a:spcBef>
            </a:pPr>
            <a:r>
              <a:rPr lang="en-US" altLang="ko-KR" sz="1100" dirty="0">
                <a:latin typeface="Arial" pitchFamily="34" charset="0"/>
                <a:ea typeface="굴림" charset="-127"/>
                <a:cs typeface="Arial" pitchFamily="34" charset="0"/>
              </a:rPr>
              <a:t>To monitor and evaluate e-Government development, it is needed to set clear goals and objectives so we can measure its performance</a:t>
            </a:r>
            <a:r>
              <a:rPr lang="en-US" altLang="ko-KR" sz="1100" dirty="0" smtClean="0">
                <a:latin typeface="Arial" pitchFamily="34" charset="0"/>
                <a:ea typeface="굴림" charset="-127"/>
                <a:cs typeface="Arial" pitchFamily="34" charset="0"/>
              </a:rPr>
              <a:t>, In </a:t>
            </a:r>
            <a:r>
              <a:rPr lang="en-US" altLang="ko-KR" sz="1100" dirty="0">
                <a:latin typeface="Arial" pitchFamily="34" charset="0"/>
                <a:ea typeface="굴림" charset="-127"/>
                <a:cs typeface="Arial" pitchFamily="34" charset="0"/>
              </a:rPr>
              <a:t>line with short and long-term plans. </a:t>
            </a:r>
            <a:endParaRPr lang="en-US" altLang="ko-KR" sz="1100" dirty="0" smtClean="0">
              <a:latin typeface="Arial" pitchFamily="34" charset="0"/>
              <a:ea typeface="굴림" charset="-127"/>
              <a:cs typeface="Arial" pitchFamily="34" charset="0"/>
            </a:endParaRPr>
          </a:p>
          <a:p>
            <a:pPr>
              <a:spcBef>
                <a:spcPct val="0"/>
              </a:spcBef>
            </a:pPr>
            <a:endParaRPr lang="en-US" altLang="ko-KR" sz="1100" dirty="0">
              <a:latin typeface="Arial" pitchFamily="34" charset="0"/>
              <a:ea typeface="굴림" charset="-127"/>
              <a:cs typeface="Arial" pitchFamily="34" charset="0"/>
            </a:endParaRPr>
          </a:p>
          <a:p>
            <a:pPr>
              <a:spcBef>
                <a:spcPct val="0"/>
              </a:spcBef>
            </a:pPr>
            <a:r>
              <a:rPr lang="en-US" altLang="ko-KR" sz="1100" b="1" dirty="0">
                <a:latin typeface="Arial" pitchFamily="34" charset="0"/>
                <a:cs typeface="Arial" pitchFamily="34" charset="0"/>
              </a:rPr>
              <a:t>Sixth, IT Governance.</a:t>
            </a:r>
          </a:p>
          <a:p>
            <a:pPr>
              <a:spcBef>
                <a:spcPct val="0"/>
              </a:spcBef>
            </a:pPr>
            <a:endParaRPr lang="en-US" altLang="ko-KR" sz="1100" dirty="0">
              <a:latin typeface="Arial" pitchFamily="34" charset="0"/>
              <a:cs typeface="Arial" pitchFamily="34" charset="0"/>
            </a:endParaRPr>
          </a:p>
          <a:p>
            <a:pPr>
              <a:spcBef>
                <a:spcPct val="0"/>
              </a:spcBef>
            </a:pPr>
            <a:r>
              <a:rPr lang="en-US" altLang="ko-KR" sz="1100" dirty="0">
                <a:latin typeface="Arial" pitchFamily="34" charset="0"/>
                <a:cs typeface="Arial" pitchFamily="34" charset="0"/>
              </a:rPr>
              <a:t>Creation of IT Governance through establishing the specialized committee and assigning CIO, in line with legislative system is of critical. </a:t>
            </a:r>
          </a:p>
          <a:p>
            <a:pPr>
              <a:spcBef>
                <a:spcPct val="0"/>
              </a:spcBef>
            </a:pPr>
            <a:r>
              <a:rPr lang="en-US" altLang="ko-KR" sz="1100" dirty="0">
                <a:latin typeface="Arial" pitchFamily="34" charset="0"/>
                <a:cs typeface="Arial" pitchFamily="34" charset="0"/>
              </a:rPr>
              <a:t> </a:t>
            </a:r>
          </a:p>
          <a:p>
            <a:pPr>
              <a:spcBef>
                <a:spcPct val="0"/>
              </a:spcBef>
            </a:pPr>
            <a:endParaRPr lang="en-US" altLang="ko-KR" sz="1100" dirty="0">
              <a:latin typeface="Arial" pitchFamily="34" charset="0"/>
              <a:cs typeface="Arial" pitchFamily="34" charset="0"/>
            </a:endParaRPr>
          </a:p>
          <a:p>
            <a:pPr>
              <a:spcBef>
                <a:spcPct val="0"/>
              </a:spcBef>
            </a:pPr>
            <a:r>
              <a:rPr lang="en-US" altLang="ko-KR" sz="1100" b="1" dirty="0">
                <a:latin typeface="Arial" pitchFamily="34" charset="0"/>
                <a:cs typeface="Arial" pitchFamily="34" charset="0"/>
              </a:rPr>
              <a:t>Seventh, Customer Oriented e-Government Services</a:t>
            </a:r>
          </a:p>
          <a:p>
            <a:pPr>
              <a:spcBef>
                <a:spcPct val="0"/>
              </a:spcBef>
            </a:pPr>
            <a:endParaRPr lang="en-US" altLang="ko-KR" sz="1100" dirty="0">
              <a:latin typeface="Arial" pitchFamily="34" charset="0"/>
              <a:cs typeface="Arial" pitchFamily="34" charset="0"/>
            </a:endParaRPr>
          </a:p>
          <a:p>
            <a:pPr>
              <a:spcBef>
                <a:spcPct val="0"/>
              </a:spcBef>
            </a:pPr>
            <a:r>
              <a:rPr lang="en-US" altLang="ko-KR" sz="1100" dirty="0">
                <a:latin typeface="Arial" pitchFamily="34" charset="0"/>
                <a:cs typeface="Arial" pitchFamily="34" charset="0"/>
              </a:rPr>
              <a:t>It is now an imperative for a government </a:t>
            </a:r>
            <a:r>
              <a:rPr lang="en-US" altLang="ko-KR" sz="1100" dirty="0" smtClean="0">
                <a:latin typeface="Arial" pitchFamily="34" charset="0"/>
                <a:cs typeface="Arial" pitchFamily="34" charset="0"/>
              </a:rPr>
              <a:t>that </a:t>
            </a:r>
            <a:r>
              <a:rPr lang="en-US" altLang="ko-KR" sz="1100" dirty="0">
                <a:latin typeface="Arial" pitchFamily="34" charset="0"/>
                <a:cs typeface="Arial" pitchFamily="34" charset="0"/>
              </a:rPr>
              <a:t>we take </a:t>
            </a:r>
            <a:r>
              <a:rPr lang="en-US" altLang="ko-KR" sz="1100" b="1" dirty="0">
                <a:latin typeface="Arial" pitchFamily="34" charset="0"/>
                <a:cs typeface="Arial" pitchFamily="34" charset="0"/>
              </a:rPr>
              <a:t>customer-oriented approach</a:t>
            </a:r>
            <a:r>
              <a:rPr lang="en-US" altLang="ko-KR" sz="1100" dirty="0">
                <a:latin typeface="Arial" pitchFamily="34" charset="0"/>
                <a:cs typeface="Arial" pitchFamily="34" charset="0"/>
              </a:rPr>
              <a:t> into account to </a:t>
            </a:r>
            <a:r>
              <a:rPr lang="en-US" altLang="ko-KR" sz="1100" dirty="0" smtClean="0">
                <a:latin typeface="Arial" pitchFamily="34" charset="0"/>
                <a:cs typeface="Arial" pitchFamily="34" charset="0"/>
              </a:rPr>
              <a:t>devise any </a:t>
            </a:r>
            <a:r>
              <a:rPr lang="en-US" altLang="ko-KR" sz="1100" dirty="0">
                <a:latin typeface="Arial" pitchFamily="34" charset="0"/>
                <a:cs typeface="Arial" pitchFamily="34" charset="0"/>
              </a:rPr>
              <a:t>e-Government services. </a:t>
            </a:r>
          </a:p>
          <a:p>
            <a:pPr>
              <a:spcBef>
                <a:spcPct val="0"/>
              </a:spcBef>
            </a:pPr>
            <a:endParaRPr lang="en-US" altLang="ko-KR" sz="900" dirty="0">
              <a:latin typeface="Arial" pitchFamily="34" charset="0"/>
              <a:cs typeface="Arial" pitchFamily="34" charset="0"/>
            </a:endParaRPr>
          </a:p>
          <a:p>
            <a:pPr>
              <a:spcBef>
                <a:spcPct val="0"/>
              </a:spcBef>
            </a:pPr>
            <a:endParaRPr lang="ko-KR" altLang="en-US" sz="900" dirty="0">
              <a:latin typeface="Arial" pitchFamily="34" charset="0"/>
              <a:cs typeface="Arial" pitchFamily="34" charset="0"/>
            </a:endParaRPr>
          </a:p>
          <a:p>
            <a:pPr>
              <a:spcBef>
                <a:spcPct val="0"/>
              </a:spcBef>
            </a:pPr>
            <a:endParaRPr lang="en-US" altLang="ko-KR" sz="900" dirty="0" smtClean="0">
              <a:latin typeface="Arial" pitchFamily="34" charset="0"/>
              <a:ea typeface="굴림" charset="-127"/>
              <a:cs typeface="Arial" pitchFamily="34" charset="0"/>
            </a:endParaRPr>
          </a:p>
          <a:p>
            <a:pPr>
              <a:spcBef>
                <a:spcPct val="0"/>
              </a:spcBef>
            </a:pPr>
            <a:endParaRPr lang="ko-KR" altLang="en-US" sz="900" dirty="0">
              <a:latin typeface="Arial" pitchFamily="34" charset="0"/>
              <a:cs typeface="Arial" pitchFamily="34" charset="0"/>
            </a:endParaRPr>
          </a:p>
          <a:p>
            <a:pPr>
              <a:spcBef>
                <a:spcPct val="0"/>
              </a:spcBef>
            </a:pPr>
            <a:endParaRPr lang="ko-KR" altLang="en-US" sz="900" dirty="0">
              <a:latin typeface="Arial" pitchFamily="34" charset="0"/>
              <a:cs typeface="Arial" pitchFamily="34" charset="0"/>
            </a:endParaRPr>
          </a:p>
          <a:p>
            <a:endParaRPr lang="en-US" altLang="ko-KR" sz="900" dirty="0"/>
          </a:p>
          <a:p>
            <a:endParaRPr lang="en-US" altLang="ko-KR" sz="900" dirty="0"/>
          </a:p>
          <a:p>
            <a:endParaRPr lang="en-US" altLang="ko-KR" sz="900" dirty="0"/>
          </a:p>
          <a:p>
            <a:endParaRPr lang="ko-KR" altLang="en-US" sz="900"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8</a:t>
            </a:fld>
            <a:endParaRPr lang="ko-KR" altLang="en-US"/>
          </a:p>
        </p:txBody>
      </p:sp>
    </p:spTree>
    <p:extLst>
      <p:ext uri="{BB962C8B-B14F-4D97-AF65-F5344CB8AC3E}">
        <p14:creationId xmlns:p14="http://schemas.microsoft.com/office/powerpoint/2010/main" val="558956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baseline="0" dirty="0" smtClean="0"/>
              <a:t>Based on </a:t>
            </a:r>
            <a:r>
              <a:rPr lang="en-US" altLang="ko-KR" dirty="0"/>
              <a:t>the </a:t>
            </a:r>
            <a:r>
              <a:rPr lang="en-US" altLang="ko-KR" dirty="0" smtClean="0"/>
              <a:t>suggested scheme from the </a:t>
            </a:r>
            <a:r>
              <a:rPr lang="en-US" altLang="ko-KR" dirty="0" err="1" smtClean="0"/>
              <a:t>the</a:t>
            </a:r>
            <a:r>
              <a:rPr lang="en-US" altLang="ko-KR" dirty="0" smtClean="0"/>
              <a:t> </a:t>
            </a:r>
            <a:r>
              <a:rPr lang="en-US" altLang="ko-KR" dirty="0"/>
              <a:t>organizing </a:t>
            </a:r>
            <a:r>
              <a:rPr lang="en-US" altLang="ko-KR" dirty="0" smtClean="0"/>
              <a:t>committee</a:t>
            </a:r>
            <a:r>
              <a:rPr lang="en-US" altLang="ko-KR" dirty="0" smtClean="0"/>
              <a:t> </a:t>
            </a:r>
            <a:r>
              <a:rPr lang="en-US" altLang="ko-KR" dirty="0" smtClean="0"/>
              <a:t>I briefly  </a:t>
            </a:r>
            <a:r>
              <a:rPr lang="en-US" altLang="ko-KR" dirty="0"/>
              <a:t>summarize strategic ICT enablers </a:t>
            </a:r>
            <a:r>
              <a:rPr lang="en-US" altLang="ko-KR" dirty="0" smtClean="0"/>
              <a:t>as shown in this slide and add some special points hereafter</a:t>
            </a:r>
            <a:r>
              <a:rPr lang="en-US" altLang="ko-KR" dirty="0" smtClean="0"/>
              <a:t>.</a:t>
            </a:r>
          </a:p>
          <a:p>
            <a:endParaRPr lang="en-US" altLang="ko-KR" dirty="0"/>
          </a:p>
          <a:p>
            <a:endParaRPr lang="en-US" altLang="ko-KR" dirty="0" smtClean="0"/>
          </a:p>
          <a:p>
            <a:endParaRPr lang="en-US" altLang="ko-KR" dirty="0" smtClean="0"/>
          </a:p>
          <a:p>
            <a:endParaRPr lang="en-US" altLang="ko-KR" dirty="0"/>
          </a:p>
          <a:p>
            <a:endParaRPr lang="en-US" altLang="ko-KR" dirty="0"/>
          </a:p>
          <a:p>
            <a:endParaRPr lang="en-US" altLang="ko-KR" baseline="0" dirty="0" smtClean="0"/>
          </a:p>
          <a:p>
            <a:r>
              <a:rPr lang="en-US" altLang="ko-KR" dirty="0" smtClean="0"/>
              <a:t> </a:t>
            </a:r>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9</a:t>
            </a:fld>
            <a:endParaRPr lang="ko-KR" altLang="en-US"/>
          </a:p>
        </p:txBody>
      </p:sp>
    </p:spTree>
    <p:extLst>
      <p:ext uri="{BB962C8B-B14F-4D97-AF65-F5344CB8AC3E}">
        <p14:creationId xmlns:p14="http://schemas.microsoft.com/office/powerpoint/2010/main" val="13418592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indent="0" algn="l" defTabSz="914400" rtl="0" eaLnBrk="0" fontAlgn="base" latinLnBrk="1" hangingPunct="0">
              <a:lnSpc>
                <a:spcPct val="100000"/>
              </a:lnSpc>
              <a:spcBef>
                <a:spcPct val="30000"/>
              </a:spcBef>
              <a:spcAft>
                <a:spcPct val="0"/>
              </a:spcAft>
              <a:buClrTx/>
              <a:buSzTx/>
              <a:buFontTx/>
              <a:buNone/>
              <a:tabLst/>
              <a:defRPr/>
            </a:pPr>
            <a:r>
              <a:rPr lang="en-US" altLang="ko-KR" sz="1200" i="0" baseline="0" dirty="0" smtClean="0">
                <a:latin typeface="Tahoma" pitchFamily="34" charset="0"/>
                <a:ea typeface="Tahoma" pitchFamily="34" charset="0"/>
                <a:cs typeface="Tahoma" pitchFamily="34" charset="0"/>
              </a:rPr>
              <a:t>There are approximately 35 million, or about 70% of Korean people, using smartphones in Korea now. </a:t>
            </a:r>
          </a:p>
          <a:p>
            <a:pPr marL="0" marR="0" indent="0" algn="l" defTabSz="914400" rtl="0" eaLnBrk="0" fontAlgn="base" latinLnBrk="1" hangingPunct="0">
              <a:lnSpc>
                <a:spcPct val="100000"/>
              </a:lnSpc>
              <a:spcBef>
                <a:spcPct val="30000"/>
              </a:spcBef>
              <a:spcAft>
                <a:spcPct val="0"/>
              </a:spcAft>
              <a:buClrTx/>
              <a:buSzTx/>
              <a:buFontTx/>
              <a:buNone/>
              <a:tabLst/>
              <a:defRPr/>
            </a:pPr>
            <a:r>
              <a:rPr lang="en-US" altLang="ko-KR" sz="1200" i="0" baseline="0" dirty="0" smtClean="0">
                <a:latin typeface="Tahoma" pitchFamily="34" charset="0"/>
                <a:ea typeface="Tahoma" pitchFamily="34" charset="0"/>
                <a:cs typeface="Tahoma" pitchFamily="34" charset="0"/>
              </a:rPr>
              <a:t>Smartphone users and wireless data traffic have exponentially increased, 40 times and 126 times each since 2009.</a:t>
            </a:r>
            <a:endParaRPr lang="en-US" altLang="ko-KR" sz="1200" i="0" dirty="0" smtClean="0">
              <a:latin typeface="Tahoma" pitchFamily="34" charset="0"/>
              <a:ea typeface="Tahoma" pitchFamily="34" charset="0"/>
              <a:cs typeface="Tahoma" pitchFamily="34" charset="0"/>
            </a:endParaRPr>
          </a:p>
          <a:p>
            <a:pPr marL="0" marR="0" indent="0" algn="l" defTabSz="914400" rtl="0" eaLnBrk="0" fontAlgn="base" latinLnBrk="1" hangingPunct="0">
              <a:lnSpc>
                <a:spcPct val="100000"/>
              </a:lnSpc>
              <a:spcBef>
                <a:spcPct val="30000"/>
              </a:spcBef>
              <a:spcAft>
                <a:spcPct val="0"/>
              </a:spcAft>
              <a:buClrTx/>
              <a:buSzTx/>
              <a:buFontTx/>
              <a:buNone/>
              <a:tabLst/>
              <a:defRPr/>
            </a:pPr>
            <a:r>
              <a:rPr lang="en-US" altLang="ko-KR" sz="1200" i="0" dirty="0" smtClean="0">
                <a:latin typeface="Tahoma" pitchFamily="34" charset="0"/>
                <a:ea typeface="Tahoma" pitchFamily="34" charset="0"/>
                <a:cs typeface="Tahoma" pitchFamily="34" charset="0"/>
              </a:rPr>
              <a:t>The world</a:t>
            </a:r>
            <a:r>
              <a:rPr lang="en-US" altLang="ko-KR" sz="1200" i="0" baseline="0" dirty="0" smtClean="0">
                <a:latin typeface="Tahoma" pitchFamily="34" charset="0"/>
                <a:ea typeface="Tahoma" pitchFamily="34" charset="0"/>
                <a:cs typeface="Tahoma" pitchFamily="34" charset="0"/>
              </a:rPr>
              <a:t> average growth rate for wireless data is 17 times. </a:t>
            </a:r>
          </a:p>
        </p:txBody>
      </p:sp>
      <p:sp>
        <p:nvSpPr>
          <p:cNvPr id="4" name="슬라이드 번호 개체 틀 3"/>
          <p:cNvSpPr>
            <a:spLocks noGrp="1"/>
          </p:cNvSpPr>
          <p:nvPr>
            <p:ph type="sldNum" sz="quarter" idx="10"/>
          </p:nvPr>
        </p:nvSpPr>
        <p:spPr/>
        <p:txBody>
          <a:bodyPr/>
          <a:lstStyle/>
          <a:p>
            <a:fld id="{48030ECF-BAF6-4561-8CAD-A2CA4F017543}" type="slidenum">
              <a:rPr lang="en-US" altLang="ko-KR" smtClean="0"/>
              <a:pPr/>
              <a:t>10</a:t>
            </a:fld>
            <a:endParaRPr lang="en-US" altLang="ko-KR"/>
          </a:p>
        </p:txBody>
      </p:sp>
    </p:spTree>
    <p:extLst>
      <p:ext uri="{BB962C8B-B14F-4D97-AF65-F5344CB8AC3E}">
        <p14:creationId xmlns:p14="http://schemas.microsoft.com/office/powerpoint/2010/main" val="8635214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The success of Korea’s high-speed broadband NW was attributable to various factors as pointed in this slide. </a:t>
            </a:r>
          </a:p>
          <a:p>
            <a:endParaRPr lang="en-US" altLang="ko-KR" dirty="0" smtClean="0"/>
          </a:p>
          <a:p>
            <a:r>
              <a:rPr lang="en-US" altLang="ko-KR" dirty="0" smtClean="0"/>
              <a:t>Among them I think that the strong government’s leading role and extra-ordinary arrangements for nationwide</a:t>
            </a:r>
            <a:r>
              <a:rPr lang="en-US" altLang="ko-KR" baseline="0" dirty="0" smtClean="0"/>
              <a:t> </a:t>
            </a:r>
            <a:r>
              <a:rPr lang="en-US" altLang="ko-KR" dirty="0" smtClean="0"/>
              <a:t>dissemination of internet services. </a:t>
            </a:r>
          </a:p>
          <a:p>
            <a:r>
              <a:rPr lang="en-US" altLang="ko-KR" dirty="0" smtClean="0"/>
              <a:t>  </a:t>
            </a:r>
          </a:p>
          <a:p>
            <a:r>
              <a:rPr lang="en-US" altLang="ko-KR" dirty="0" smtClean="0"/>
              <a:t>Let me take one example.  To foster the supply of internet services, government devise the system</a:t>
            </a:r>
            <a:r>
              <a:rPr lang="en-US" altLang="ko-KR" baseline="0" dirty="0" smtClean="0"/>
              <a:t> of set-off refunding.  </a:t>
            </a:r>
            <a:r>
              <a:rPr lang="en-US" altLang="ko-KR" dirty="0" smtClean="0"/>
              <a:t>Government gave financial support to the </a:t>
            </a:r>
            <a:r>
              <a:rPr lang="en-US" altLang="ko-KR" dirty="0" err="1" smtClean="0"/>
              <a:t>telcos</a:t>
            </a:r>
            <a:r>
              <a:rPr lang="en-US" altLang="ko-KR" dirty="0" smtClean="0"/>
              <a:t> who were not willing to invest money to the construction of NW infra because of the uncertainty to yield expected revenues. And deficit amount resulting from low price</a:t>
            </a:r>
            <a:r>
              <a:rPr lang="en-US" altLang="ko-KR" baseline="0" dirty="0" smtClean="0"/>
              <a:t> rate </a:t>
            </a:r>
            <a:r>
              <a:rPr lang="en-US" altLang="ko-KR" dirty="0"/>
              <a:t>in its inception stage </a:t>
            </a:r>
            <a:r>
              <a:rPr lang="en-US" altLang="ko-KR" dirty="0" smtClean="0"/>
              <a:t>was</a:t>
            </a:r>
            <a:r>
              <a:rPr lang="en-US" altLang="ko-KR" baseline="0" dirty="0" smtClean="0"/>
              <a:t> set-off between Government </a:t>
            </a:r>
            <a:r>
              <a:rPr lang="en-US" altLang="ko-KR" baseline="0" dirty="0" err="1" smtClean="0"/>
              <a:t>ane</a:t>
            </a:r>
            <a:r>
              <a:rPr lang="en-US" altLang="ko-KR" baseline="0" dirty="0" smtClean="0"/>
              <a:t> </a:t>
            </a:r>
            <a:r>
              <a:rPr lang="en-US" altLang="ko-KR" baseline="0" dirty="0" err="1" smtClean="0"/>
              <a:t>telcos</a:t>
            </a:r>
            <a:r>
              <a:rPr lang="en-US" altLang="ko-KR" baseline="0" dirty="0" smtClean="0"/>
              <a:t>.</a:t>
            </a:r>
            <a:r>
              <a:rPr lang="en-US" altLang="ko-KR" dirty="0" smtClean="0"/>
              <a:t>  </a:t>
            </a:r>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11</a:t>
            </a:fld>
            <a:endParaRPr lang="ko-KR" altLang="en-US"/>
          </a:p>
        </p:txBody>
      </p:sp>
    </p:spTree>
    <p:extLst>
      <p:ext uri="{BB962C8B-B14F-4D97-AF65-F5344CB8AC3E}">
        <p14:creationId xmlns:p14="http://schemas.microsoft.com/office/powerpoint/2010/main" val="1532106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Cloud computing becomes a</a:t>
            </a:r>
            <a:r>
              <a:rPr lang="en-US" altLang="ko-KR" baseline="0" dirty="0" smtClean="0"/>
              <a:t> main theme to adapt rapidly changing society.</a:t>
            </a:r>
            <a:endParaRPr lang="en-US" altLang="ko-KR" dirty="0" smtClean="0"/>
          </a:p>
          <a:p>
            <a:endParaRPr lang="en-US" altLang="ko-KR" dirty="0"/>
          </a:p>
          <a:p>
            <a:r>
              <a:rPr lang="en-US" altLang="ko-KR" baseline="0" dirty="0" smtClean="0"/>
              <a:t>Responding to the mobile environment and other smart medias like SNS, Korean govern</a:t>
            </a:r>
            <a:r>
              <a:rPr lang="en-US" altLang="ko-KR" dirty="0" smtClean="0"/>
              <a:t>ment </a:t>
            </a:r>
            <a:r>
              <a:rPr lang="en-US" altLang="ko-KR" baseline="0" dirty="0" smtClean="0"/>
              <a:t>actively established national cloud computing policy and is implementing the possible objectives one by one.  </a:t>
            </a:r>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12</a:t>
            </a:fld>
            <a:endParaRPr lang="ko-KR" altLang="en-US"/>
          </a:p>
        </p:txBody>
      </p:sp>
    </p:spTree>
    <p:extLst>
      <p:ext uri="{BB962C8B-B14F-4D97-AF65-F5344CB8AC3E}">
        <p14:creationId xmlns:p14="http://schemas.microsoft.com/office/powerpoint/2010/main" val="27458316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Open data also has</a:t>
            </a:r>
            <a:r>
              <a:rPr lang="en-US" altLang="ko-KR" baseline="0" dirty="0" smtClean="0"/>
              <a:t> </a:t>
            </a:r>
            <a:r>
              <a:rPr lang="en-US" altLang="ko-KR" dirty="0" smtClean="0"/>
              <a:t>become critical</a:t>
            </a:r>
            <a:r>
              <a:rPr lang="en-US" altLang="ko-KR" baseline="0" dirty="0" smtClean="0"/>
              <a:t> issues not only private but public sector.</a:t>
            </a:r>
          </a:p>
          <a:p>
            <a:r>
              <a:rPr lang="en-US" altLang="ko-KR" baseline="0" dirty="0" smtClean="0"/>
              <a:t>Major characteristics of Gov2.0 like participation and communication necessarily require data opened and shared </a:t>
            </a:r>
            <a:r>
              <a:rPr lang="en-US" altLang="ko-KR" baseline="0" dirty="0" err="1" smtClean="0"/>
              <a:t>betwreen</a:t>
            </a:r>
            <a:r>
              <a:rPr lang="en-US" altLang="ko-KR" baseline="0" dirty="0" smtClean="0"/>
              <a:t> </a:t>
            </a:r>
            <a:r>
              <a:rPr lang="en-US" altLang="ko-KR" baseline="0" dirty="0" err="1" smtClean="0"/>
              <a:t>gov</a:t>
            </a:r>
            <a:r>
              <a:rPr lang="en-US" altLang="ko-KR" baseline="0" dirty="0" smtClean="0"/>
              <a:t> and citizen. </a:t>
            </a:r>
          </a:p>
          <a:p>
            <a:endParaRPr lang="en-US" altLang="ko-KR" baseline="0" dirty="0" smtClean="0"/>
          </a:p>
          <a:p>
            <a:r>
              <a:rPr lang="en-US" altLang="ko-KR" baseline="0" dirty="0" smtClean="0"/>
              <a:t>We are operating the </a:t>
            </a:r>
            <a:r>
              <a:rPr lang="en-US" altLang="ko-KR" baseline="0" dirty="0" err="1" smtClean="0"/>
              <a:t>Gov</a:t>
            </a:r>
            <a:r>
              <a:rPr lang="en-US" altLang="ko-KR" baseline="0" dirty="0" smtClean="0"/>
              <a:t> data portal. And Seoul city have an excellent open data </a:t>
            </a:r>
            <a:r>
              <a:rPr lang="en-US" altLang="ko-KR" baseline="0" dirty="0" err="1" smtClean="0"/>
              <a:t>sytem</a:t>
            </a:r>
            <a:r>
              <a:rPr lang="en-US" altLang="ko-KR" baseline="0" dirty="0" smtClean="0"/>
              <a:t> named OASIS of Millions of creative Idea. </a:t>
            </a:r>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13</a:t>
            </a:fld>
            <a:endParaRPr lang="ko-KR" altLang="en-US"/>
          </a:p>
        </p:txBody>
      </p:sp>
    </p:spTree>
    <p:extLst>
      <p:ext uri="{BB962C8B-B14F-4D97-AF65-F5344CB8AC3E}">
        <p14:creationId xmlns:p14="http://schemas.microsoft.com/office/powerpoint/2010/main" val="26013016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In Korea</a:t>
            </a:r>
            <a:r>
              <a:rPr lang="en-US" altLang="ko-KR" baseline="0" dirty="0" smtClean="0"/>
              <a:t>, four independent government departments as shown this slide are in charge of each four major processes of national information projects such as planning, budgeting, development and operation, evaluation. However they can communicate with a common language throughout nation </a:t>
            </a:r>
            <a:r>
              <a:rPr lang="en-US" altLang="ko-KR" baseline="0" dirty="0" err="1" smtClean="0"/>
              <a:t>informatization</a:t>
            </a:r>
            <a:r>
              <a:rPr lang="en-US" altLang="ko-KR" baseline="0" dirty="0" smtClean="0"/>
              <a:t> life-cycle because of GEA.</a:t>
            </a:r>
          </a:p>
          <a:p>
            <a:r>
              <a:rPr lang="en-US" altLang="ko-KR" baseline="0" dirty="0" smtClean="0"/>
              <a:t>It can be achieved only by whole-of-government approach along with participation of all IT processes owners. </a:t>
            </a:r>
            <a:endParaRPr lang="ko-KR" altLang="en-US" dirty="0" smtClean="0"/>
          </a:p>
          <a:p>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14</a:t>
            </a:fld>
            <a:endParaRPr lang="ko-KR" altLang="en-US"/>
          </a:p>
        </p:txBody>
      </p:sp>
    </p:spTree>
    <p:extLst>
      <p:ext uri="{BB962C8B-B14F-4D97-AF65-F5344CB8AC3E}">
        <p14:creationId xmlns:p14="http://schemas.microsoft.com/office/powerpoint/2010/main" val="376712656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indent="0" algn="l" defTabSz="914400" rtl="0" eaLnBrk="0" fontAlgn="base" latinLnBrk="1" hangingPunct="0">
              <a:lnSpc>
                <a:spcPct val="100000"/>
              </a:lnSpc>
              <a:spcBef>
                <a:spcPct val="30000"/>
              </a:spcBef>
              <a:spcAft>
                <a:spcPct val="0"/>
              </a:spcAft>
              <a:buClrTx/>
              <a:buSzTx/>
              <a:buFontTx/>
              <a:buNone/>
              <a:tabLst/>
              <a:defRPr/>
            </a:pPr>
            <a:r>
              <a:rPr lang="en-CA" altLang="ko-KR" sz="1200" kern="1200" dirty="0" smtClean="0">
                <a:solidFill>
                  <a:schemeClr val="tx1"/>
                </a:solidFill>
                <a:effectLst/>
                <a:latin typeface="+mn-lt"/>
                <a:ea typeface="+mn-ea"/>
                <a:cs typeface="+mn-cs"/>
              </a:rPr>
              <a:t>GEA Portal serves</a:t>
            </a:r>
            <a:r>
              <a:rPr lang="en-CA" altLang="ko-KR" sz="1200" kern="1200" baseline="0" dirty="0" smtClean="0">
                <a:solidFill>
                  <a:schemeClr val="tx1"/>
                </a:solidFill>
                <a:effectLst/>
                <a:latin typeface="+mn-lt"/>
                <a:ea typeface="+mn-ea"/>
                <a:cs typeface="+mn-cs"/>
              </a:rPr>
              <a:t> as an IT Dashboard to provide detailed information about all public agencies’ IT resources at a glance. More than </a:t>
            </a:r>
            <a:r>
              <a:rPr lang="en-CA" altLang="ko-KR" sz="1200" kern="1200" dirty="0" smtClean="0">
                <a:solidFill>
                  <a:schemeClr val="tx1"/>
                </a:solidFill>
                <a:effectLst/>
                <a:latin typeface="+mn-lt"/>
                <a:ea typeface="+mn-ea"/>
                <a:cs typeface="+mn-cs"/>
              </a:rPr>
              <a:t>1,400 public agencies in Korea have registered over 17,000 information systems and related national information projects through GEAP, which serves as an information resource sharing forum for all agencies.  Most of all, the implementation of the Government-wide EA portal has made it possible to determine and analyze the current status of information resources efficiently, preventing information resource overlap among agencies.</a:t>
            </a:r>
            <a:endParaRPr lang="ko-KR" altLang="ko-KR" sz="1200" kern="1200" dirty="0" smtClean="0">
              <a:solidFill>
                <a:schemeClr val="tx1"/>
              </a:solidFill>
              <a:effectLst/>
              <a:latin typeface="+mn-lt"/>
              <a:ea typeface="+mn-ea"/>
              <a:cs typeface="+mn-cs"/>
            </a:endParaRPr>
          </a:p>
          <a:p>
            <a:pPr marL="0" marR="0" indent="0" algn="l" defTabSz="914400" rtl="0" eaLnBrk="0" fontAlgn="base" latinLnBrk="1" hangingPunct="0">
              <a:lnSpc>
                <a:spcPct val="100000"/>
              </a:lnSpc>
              <a:spcBef>
                <a:spcPct val="30000"/>
              </a:spcBef>
              <a:spcAft>
                <a:spcPct val="0"/>
              </a:spcAft>
              <a:buClrTx/>
              <a:buSzTx/>
              <a:buFontTx/>
              <a:buNone/>
              <a:tabLst/>
              <a:defRPr/>
            </a:pPr>
            <a:endParaRPr lang="ko-KR" altLang="ko-KR" sz="1200" kern="1200" dirty="0" smtClean="0">
              <a:solidFill>
                <a:schemeClr val="tx1"/>
              </a:solidFill>
              <a:effectLst/>
              <a:latin typeface="+mn-lt"/>
              <a:ea typeface="+mn-ea"/>
              <a:cs typeface="+mn-cs"/>
            </a:endParaRPr>
          </a:p>
          <a:p>
            <a:endParaRPr lang="ko-KR" altLang="en-US" dirty="0" smtClean="0"/>
          </a:p>
          <a:p>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15</a:t>
            </a:fld>
            <a:endParaRPr lang="ko-KR" altLang="en-US"/>
          </a:p>
        </p:txBody>
      </p:sp>
    </p:spTree>
    <p:extLst>
      <p:ext uri="{BB962C8B-B14F-4D97-AF65-F5344CB8AC3E}">
        <p14:creationId xmlns:p14="http://schemas.microsoft.com/office/powerpoint/2010/main" val="33143677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This slide is</a:t>
            </a:r>
            <a:r>
              <a:rPr lang="en-US" altLang="ko-KR" baseline="0" dirty="0" smtClean="0"/>
              <a:t> an example of integrating related agency-level service into whole-of-government service due to government-wide goal.</a:t>
            </a:r>
          </a:p>
          <a:p>
            <a:endParaRPr lang="en-US" altLang="ko-KR" baseline="0" dirty="0" smtClean="0"/>
          </a:p>
          <a:p>
            <a:r>
              <a:rPr lang="en-US" altLang="ko-KR" baseline="0" dirty="0" smtClean="0"/>
              <a:t>This slide shows how the vehicle attachment release service has been changed and after integrating into whole-of-government service how many </a:t>
            </a:r>
            <a:r>
              <a:rPr lang="en-US" altLang="ko-KR" dirty="0" smtClean="0"/>
              <a:t>process and procedures has</a:t>
            </a:r>
            <a:r>
              <a:rPr lang="en-US" altLang="ko-KR" baseline="0" dirty="0" smtClean="0"/>
              <a:t> been decreased dramatically.</a:t>
            </a:r>
            <a:endParaRPr lang="ko-KR" altLang="en-US" dirty="0" smtClean="0"/>
          </a:p>
          <a:p>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16</a:t>
            </a:fld>
            <a:endParaRPr lang="ko-KR" altLang="en-US"/>
          </a:p>
        </p:txBody>
      </p:sp>
    </p:spTree>
    <p:extLst>
      <p:ext uri="{BB962C8B-B14F-4D97-AF65-F5344CB8AC3E}">
        <p14:creationId xmlns:p14="http://schemas.microsoft.com/office/powerpoint/2010/main" val="33521881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We developed the e-Government </a:t>
            </a:r>
            <a:r>
              <a:rPr lang="en-US" altLang="ko-KR" dirty="0" smtClean="0"/>
              <a:t>Standard </a:t>
            </a:r>
            <a:r>
              <a:rPr lang="en-US" altLang="ko-KR" dirty="0" smtClean="0"/>
              <a:t>Framework</a:t>
            </a:r>
            <a:r>
              <a:rPr lang="en-US" altLang="ko-KR" kern="1200" dirty="0" smtClean="0"/>
              <a:t> </a:t>
            </a:r>
            <a:r>
              <a:rPr lang="en-US" altLang="ko-KR" kern="1200" dirty="0" smtClean="0"/>
              <a:t>for developing and operating the e-Government system</a:t>
            </a:r>
          </a:p>
          <a:p>
            <a:pPr marL="0" lvl="1" defTabSz="762000" eaLnBrk="0" latinLnBrk="0" hangingPunct="0">
              <a:lnSpc>
                <a:spcPct val="130000"/>
              </a:lnSpc>
              <a:spcBef>
                <a:spcPts val="300"/>
              </a:spcBef>
              <a:buSzPct val="100000"/>
              <a:tabLst>
                <a:tab pos="482600" algn="l"/>
              </a:tabLst>
              <a:defRPr/>
            </a:pPr>
            <a:r>
              <a:rPr lang="en-US" altLang="ko-KR" sz="1200" b="1" dirty="0" smtClean="0">
                <a:latin typeface="Arial" pitchFamily="34" charset="0"/>
                <a:cs typeface="Arial" pitchFamily="34" charset="0"/>
              </a:rPr>
              <a:t>It not only improve the quality </a:t>
            </a:r>
            <a:r>
              <a:rPr lang="en-US" altLang="ko-KR" sz="1200" b="1" dirty="0" smtClean="0">
                <a:latin typeface="Arial" pitchFamily="34" charset="0"/>
                <a:cs typeface="Arial" pitchFamily="34" charset="0"/>
              </a:rPr>
              <a:t>of e-Government services  and efficiency of ICT </a:t>
            </a:r>
            <a:r>
              <a:rPr lang="en-US" altLang="ko-KR" sz="1200" b="1" dirty="0" smtClean="0">
                <a:latin typeface="Arial" pitchFamily="34" charset="0"/>
                <a:cs typeface="Arial" pitchFamily="34" charset="0"/>
              </a:rPr>
              <a:t>investment but contribute to make fair</a:t>
            </a:r>
            <a:r>
              <a:rPr lang="en-US" altLang="ko-KR" b="1" dirty="0" smtClean="0">
                <a:latin typeface="Arial" pitchFamily="34" charset="0"/>
                <a:ea typeface="HY헤드라인M" pitchFamily="18" charset="-127"/>
                <a:cs typeface="Arial" pitchFamily="34" charset="0"/>
              </a:rPr>
              <a:t> </a:t>
            </a:r>
            <a:r>
              <a:rPr lang="en-US" altLang="ko-KR" b="1" dirty="0">
                <a:latin typeface="Arial" pitchFamily="34" charset="0"/>
                <a:ea typeface="HY헤드라인M" pitchFamily="18" charset="-127"/>
                <a:cs typeface="Arial" pitchFamily="34" charset="0"/>
              </a:rPr>
              <a:t>competition environment created by sharing same basis</a:t>
            </a:r>
          </a:p>
          <a:p>
            <a:pPr marL="0" marR="0" indent="0" algn="l" defTabSz="914400" rtl="0" eaLnBrk="1" fontAlgn="auto" latinLnBrk="1" hangingPunct="1">
              <a:lnSpc>
                <a:spcPct val="100000"/>
              </a:lnSpc>
              <a:spcBef>
                <a:spcPts val="0"/>
              </a:spcBef>
              <a:spcAft>
                <a:spcPts val="0"/>
              </a:spcAft>
              <a:buClrTx/>
              <a:buSzTx/>
              <a:buFontTx/>
              <a:buNone/>
              <a:tabLst/>
              <a:defRPr/>
            </a:pPr>
            <a:endParaRPr lang="en-US" altLang="ko-KR" sz="1200" b="1" dirty="0" smtClean="0">
              <a:solidFill>
                <a:srgbClr val="336600"/>
              </a:solidFill>
              <a:latin typeface="Arial" pitchFamily="34" charset="0"/>
              <a:cs typeface="Arial" pitchFamily="34" charset="0"/>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200" b="1" dirty="0" smtClean="0">
                <a:solidFill>
                  <a:srgbClr val="336600"/>
                </a:solidFill>
                <a:latin typeface="Arial" pitchFamily="34" charset="0"/>
                <a:cs typeface="Arial" pitchFamily="34" charset="0"/>
              </a:rPr>
              <a:t>Reuse common functionalities </a:t>
            </a:r>
          </a:p>
          <a:p>
            <a:pPr lvl="0" algn="l"/>
            <a:r>
              <a:rPr lang="en-US" altLang="ko-KR" sz="1200" b="1" dirty="0" smtClean="0">
                <a:solidFill>
                  <a:srgbClr val="336600"/>
                </a:solidFill>
                <a:latin typeface="Arial" pitchFamily="34" charset="0"/>
                <a:cs typeface="Arial" pitchFamily="34" charset="0"/>
              </a:rPr>
              <a:t>Improve Interoperability</a:t>
            </a:r>
          </a:p>
          <a:p>
            <a:pPr lvl="0" algn="l"/>
            <a:r>
              <a:rPr lang="en-US" altLang="ko-KR" sz="1200" b="1" dirty="0" smtClean="0">
                <a:solidFill>
                  <a:srgbClr val="336600"/>
                </a:solidFill>
                <a:latin typeface="Arial" pitchFamily="34" charset="0"/>
                <a:cs typeface="Arial" pitchFamily="34" charset="0"/>
              </a:rPr>
              <a:t>Up-to-date ICT trends</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smtClean="0">
                <a:solidFill>
                  <a:srgbClr val="336600"/>
                </a:solidFill>
                <a:latin typeface="Arial" pitchFamily="34" charset="0"/>
                <a:cs typeface="Arial" pitchFamily="34" charset="0"/>
              </a:rPr>
              <a:t>Remove vendor dependency</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smtClean="0">
                <a:solidFill>
                  <a:srgbClr val="336600"/>
                </a:solidFill>
                <a:latin typeface="Arial" pitchFamily="34" charset="0"/>
                <a:cs typeface="Arial" pitchFamily="34" charset="0"/>
              </a:rPr>
              <a:t>Enhance SMEs competitiveness</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1200" b="1" dirty="0" smtClean="0">
              <a:solidFill>
                <a:srgbClr val="336600"/>
              </a:solidFill>
              <a:latin typeface="Arial" pitchFamily="34" charset="0"/>
              <a:cs typeface="Arial" pitchFamily="34" charset="0"/>
            </a:endParaRPr>
          </a:p>
          <a:p>
            <a:pPr lvl="0" algn="l"/>
            <a:endParaRPr lang="en-US" altLang="ko-KR" sz="1200" b="1" dirty="0" smtClean="0">
              <a:solidFill>
                <a:srgbClr val="336600"/>
              </a:solidFill>
              <a:latin typeface="Arial" pitchFamily="34" charset="0"/>
              <a:cs typeface="Arial" pitchFamily="34" charset="0"/>
            </a:endParaRPr>
          </a:p>
          <a:p>
            <a:pPr lvl="0" algn="l"/>
            <a:endParaRPr lang="ko-KR" altLang="en-US" sz="1200" b="1" dirty="0" smtClean="0">
              <a:solidFill>
                <a:srgbClr val="336600"/>
              </a:solidFill>
              <a:latin typeface="Arial" pitchFamily="34" charset="0"/>
              <a:cs typeface="Arial" pitchFamily="34" charset="0"/>
            </a:endParaRPr>
          </a:p>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1200" b="1" dirty="0" smtClean="0">
              <a:solidFill>
                <a:srgbClr val="336600"/>
              </a:solidFill>
              <a:latin typeface="Arial" pitchFamily="34" charset="0"/>
              <a:cs typeface="Arial" pitchFamily="34" charset="0"/>
            </a:endParaRPr>
          </a:p>
          <a:p>
            <a:pPr algn="l"/>
            <a:endParaRPr lang="en-US" altLang="ko-KR" sz="1200" b="1" dirty="0" smtClean="0">
              <a:solidFill>
                <a:srgbClr val="002060"/>
              </a:solidFill>
              <a:latin typeface="Arial" pitchFamily="34" charset="0"/>
              <a:cs typeface="Arial" pitchFamily="34" charset="0"/>
            </a:endParaRPr>
          </a:p>
          <a:p>
            <a:pPr algn="l"/>
            <a:endParaRPr lang="ko-KR" altLang="en-US" dirty="0"/>
          </a:p>
        </p:txBody>
      </p:sp>
      <p:sp>
        <p:nvSpPr>
          <p:cNvPr id="4" name="슬라이드 번호 개체 틀 3"/>
          <p:cNvSpPr>
            <a:spLocks noGrp="1"/>
          </p:cNvSpPr>
          <p:nvPr>
            <p:ph type="sldNum" sz="quarter" idx="10"/>
          </p:nvPr>
        </p:nvSpPr>
        <p:spPr/>
        <p:txBody>
          <a:bodyPr/>
          <a:lstStyle/>
          <a:p>
            <a:pPr>
              <a:defRPr/>
            </a:pPr>
            <a:fld id="{D2680D93-DAC8-41AB-8A2F-E4E97A3F9C9F}" type="slidenum">
              <a:rPr lang="ko-KR" altLang="en-US" smtClean="0"/>
              <a:pPr>
                <a:defRPr/>
              </a:pPr>
              <a:t>17</a:t>
            </a:fld>
            <a:endParaRPr lang="ko-KR" altLang="en-US" dirty="0"/>
          </a:p>
        </p:txBody>
      </p:sp>
    </p:spTree>
    <p:extLst>
      <p:ext uri="{BB962C8B-B14F-4D97-AF65-F5344CB8AC3E}">
        <p14:creationId xmlns:p14="http://schemas.microsoft.com/office/powerpoint/2010/main" val="10101808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a:xfrm>
            <a:off x="679767" y="4715153"/>
            <a:ext cx="5527381" cy="4466987"/>
          </a:xfrm>
        </p:spPr>
        <p:txBody>
          <a:bodyPr/>
          <a:lstStyle/>
          <a:p>
            <a:r>
              <a:rPr lang="en-US" altLang="ko-KR" dirty="0" err="1" smtClean="0">
                <a:ln>
                  <a:solidFill>
                    <a:schemeClr val="bg1">
                      <a:lumMod val="75000"/>
                    </a:schemeClr>
                  </a:solidFill>
                </a:ln>
                <a:latin typeface="Tahoma" pitchFamily="34" charset="0"/>
                <a:ea typeface="Tahoma" pitchFamily="34" charset="0"/>
                <a:cs typeface="Tahoma" pitchFamily="34" charset="0"/>
              </a:rPr>
              <a:t>eGovFrame’s</a:t>
            </a:r>
            <a:r>
              <a:rPr lang="en-US" altLang="ko-KR" dirty="0" smtClean="0">
                <a:ln>
                  <a:solidFill>
                    <a:schemeClr val="bg1">
                      <a:lumMod val="75000"/>
                    </a:schemeClr>
                  </a:solidFill>
                </a:ln>
                <a:latin typeface="Tahoma" pitchFamily="34" charset="0"/>
                <a:ea typeface="Tahoma" pitchFamily="34" charset="0"/>
                <a:cs typeface="Tahoma" pitchFamily="34" charset="0"/>
              </a:rPr>
              <a:t> main philosophy is the p</a:t>
            </a:r>
            <a:r>
              <a:rPr lang="en-US" altLang="ko-KR" sz="1200" i="0" dirty="0" smtClean="0">
                <a:ln>
                  <a:solidFill>
                    <a:schemeClr val="bg1">
                      <a:lumMod val="75000"/>
                    </a:schemeClr>
                  </a:solidFill>
                </a:ln>
                <a:latin typeface="Tahoma" pitchFamily="34" charset="0"/>
                <a:ea typeface="Tahoma" pitchFamily="34" charset="0"/>
                <a:cs typeface="Tahoma" pitchFamily="34" charset="0"/>
              </a:rPr>
              <a:t>latform </a:t>
            </a:r>
            <a:r>
              <a:rPr lang="en-US" altLang="ko-KR" sz="1200" i="0" dirty="0" smtClean="0">
                <a:ln>
                  <a:solidFill>
                    <a:schemeClr val="bg1">
                      <a:lumMod val="75000"/>
                    </a:schemeClr>
                  </a:solidFill>
                </a:ln>
                <a:latin typeface="Tahoma" pitchFamily="34" charset="0"/>
                <a:ea typeface="Tahoma" pitchFamily="34" charset="0"/>
                <a:cs typeface="Tahoma" pitchFamily="34" charset="0"/>
              </a:rPr>
              <a:t>approach with multi- benefits for ICT </a:t>
            </a:r>
            <a:r>
              <a:rPr lang="en-US" altLang="ko-KR" sz="1200" i="0" dirty="0" smtClean="0">
                <a:ln>
                  <a:solidFill>
                    <a:schemeClr val="bg1">
                      <a:lumMod val="75000"/>
                    </a:schemeClr>
                  </a:solidFill>
                </a:ln>
                <a:latin typeface="Tahoma" pitchFamily="34" charset="0"/>
                <a:ea typeface="Tahoma" pitchFamily="34" charset="0"/>
                <a:cs typeface="Tahoma" pitchFamily="34" charset="0"/>
              </a:rPr>
              <a:t>project. </a:t>
            </a:r>
          </a:p>
          <a:p>
            <a:r>
              <a:rPr lang="en-US" altLang="ko-KR" sz="1200" i="0" dirty="0" smtClean="0">
                <a:ln>
                  <a:solidFill>
                    <a:schemeClr val="bg1">
                      <a:lumMod val="75000"/>
                    </a:schemeClr>
                  </a:solidFill>
                </a:ln>
                <a:latin typeface="Tahoma" pitchFamily="34" charset="0"/>
                <a:ea typeface="Tahoma" pitchFamily="34" charset="0"/>
                <a:cs typeface="Tahoma" pitchFamily="34" charset="0"/>
              </a:rPr>
              <a:t>It has two basic </a:t>
            </a:r>
            <a:r>
              <a:rPr lang="en-US" altLang="ko-KR" dirty="0" smtClean="0">
                <a:ln>
                  <a:solidFill>
                    <a:schemeClr val="bg1">
                      <a:lumMod val="75000"/>
                    </a:schemeClr>
                  </a:solidFill>
                </a:ln>
                <a:latin typeface="Tahoma" pitchFamily="34" charset="0"/>
                <a:ea typeface="Tahoma" pitchFamily="34" charset="0"/>
                <a:cs typeface="Tahoma" pitchFamily="34" charset="0"/>
              </a:rPr>
              <a:t>ideas </a:t>
            </a:r>
            <a:r>
              <a:rPr lang="en-US" altLang="ko-KR" sz="1200" i="0" dirty="0" smtClean="0">
                <a:ln>
                  <a:solidFill>
                    <a:schemeClr val="bg1">
                      <a:lumMod val="75000"/>
                    </a:schemeClr>
                  </a:solidFill>
                </a:ln>
                <a:latin typeface="Tahoma" pitchFamily="34" charset="0"/>
                <a:ea typeface="Tahoma" pitchFamily="34" charset="0"/>
                <a:cs typeface="Tahoma" pitchFamily="34" charset="0"/>
              </a:rPr>
              <a:t> as following:  </a:t>
            </a:r>
            <a:endParaRPr lang="en-US" altLang="ko-KR" sz="1200" dirty="0" smtClean="0"/>
          </a:p>
          <a:p>
            <a:pPr marL="85725" marR="0" lvl="0" indent="-85725" defTabSz="914400" eaLnBrk="1" fontAlgn="auto" latinLnBrk="0" hangingPunct="1">
              <a:lnSpc>
                <a:spcPct val="125000"/>
              </a:lnSpc>
              <a:spcBef>
                <a:spcPct val="25000"/>
              </a:spcBef>
              <a:spcAft>
                <a:spcPts val="0"/>
              </a:spcAft>
              <a:buClrTx/>
              <a:buSzTx/>
              <a:buFontTx/>
              <a:buChar char="•"/>
              <a:tabLst/>
              <a:defRPr/>
            </a:pPr>
            <a:r>
              <a:rPr kumimoji="0" lang="en-US" altLang="ko-KR" sz="1200" b="1" i="0" u="none" strike="noStrike" kern="0" cap="none" spc="0" normalizeH="0" baseline="0" noProof="0" dirty="0" smtClean="0">
                <a:ln>
                  <a:noFill/>
                </a:ln>
                <a:solidFill>
                  <a:sysClr val="windowText" lastClr="000000"/>
                </a:solidFill>
                <a:effectLst/>
                <a:uLnTx/>
                <a:uFillTx/>
                <a:latin typeface="Arial" pitchFamily="34" charset="0"/>
                <a:ea typeface="맑은 고딕" pitchFamily="50" charset="-127"/>
                <a:cs typeface="Arial" pitchFamily="34" charset="0"/>
              </a:rPr>
              <a:t>Development </a:t>
            </a:r>
            <a:r>
              <a:rPr kumimoji="0" lang="en-US" altLang="ko-KR" sz="1200" b="1" i="0" u="none" strike="noStrike" kern="0" cap="none" spc="0" normalizeH="0" baseline="0" noProof="0" dirty="0" smtClean="0">
                <a:ln>
                  <a:noFill/>
                </a:ln>
                <a:solidFill>
                  <a:srgbClr val="0000FF"/>
                </a:solidFill>
                <a:effectLst/>
                <a:uLnTx/>
                <a:uFillTx/>
                <a:latin typeface="Arial" pitchFamily="34" charset="0"/>
                <a:ea typeface="맑은 고딕" pitchFamily="50" charset="-127"/>
                <a:cs typeface="Arial" pitchFamily="34" charset="0"/>
              </a:rPr>
              <a:t>based on the standard framework</a:t>
            </a:r>
            <a:endParaRPr kumimoji="0" lang="ko-KR" altLang="en-US" sz="1200" b="1" i="0" u="none" strike="noStrike" kern="0" cap="none" spc="0" normalizeH="0" baseline="0" noProof="0" dirty="0" smtClean="0">
              <a:ln>
                <a:noFill/>
              </a:ln>
              <a:solidFill>
                <a:sysClr val="windowText" lastClr="000000"/>
              </a:solidFill>
              <a:effectLst/>
              <a:uLnTx/>
              <a:uFillTx/>
              <a:latin typeface="Arial" pitchFamily="34" charset="0"/>
              <a:ea typeface="맑은 고딕" pitchFamily="50" charset="-127"/>
              <a:cs typeface="Arial" pitchFamily="34" charset="0"/>
            </a:endParaRPr>
          </a:p>
          <a:p>
            <a:pPr marL="85725" marR="0" lvl="0" indent="-85725" defTabSz="914400" eaLnBrk="1" fontAlgn="auto" latinLnBrk="0" hangingPunct="1">
              <a:lnSpc>
                <a:spcPct val="125000"/>
              </a:lnSpc>
              <a:spcBef>
                <a:spcPct val="25000"/>
              </a:spcBef>
              <a:spcAft>
                <a:spcPts val="0"/>
              </a:spcAft>
              <a:buClrTx/>
              <a:buSzTx/>
              <a:buFontTx/>
              <a:buChar char="•"/>
              <a:tabLst/>
              <a:defRPr/>
            </a:pPr>
            <a:r>
              <a:rPr kumimoji="0" lang="en-US" altLang="ko-KR" sz="1200" b="1" i="0" u="none" strike="noStrike" kern="0" cap="none" spc="0" normalizeH="0" baseline="0" noProof="0" dirty="0" smtClean="0">
                <a:ln>
                  <a:noFill/>
                </a:ln>
                <a:solidFill>
                  <a:srgbClr val="0000FF"/>
                </a:solidFill>
                <a:effectLst/>
                <a:uLnTx/>
                <a:uFillTx/>
                <a:latin typeface="Arial" pitchFamily="34" charset="0"/>
                <a:ea typeface="맑은 고딕" pitchFamily="50" charset="-127"/>
                <a:cs typeface="Arial" pitchFamily="34" charset="0"/>
              </a:rPr>
              <a:t>Productivity and quality improvement</a:t>
            </a:r>
            <a:r>
              <a:rPr kumimoji="0" lang="en-US" altLang="ko-KR" sz="1200" b="1" i="0" u="none" strike="noStrike" kern="0" cap="none" spc="0" normalizeH="0" baseline="0" noProof="0" dirty="0" smtClean="0">
                <a:ln>
                  <a:noFill/>
                </a:ln>
                <a:solidFill>
                  <a:sysClr val="windowText" lastClr="000000"/>
                </a:solidFill>
                <a:effectLst/>
                <a:uLnTx/>
                <a:uFillTx/>
                <a:latin typeface="Arial" pitchFamily="34" charset="0"/>
                <a:ea typeface="맑은 고딕" pitchFamily="50" charset="-127"/>
                <a:cs typeface="Arial" pitchFamily="34" charset="0"/>
              </a:rPr>
              <a:t> by reusing common </a:t>
            </a:r>
            <a:r>
              <a:rPr kumimoji="0" lang="en-US" altLang="ko-KR" sz="1200" b="1" i="0" u="none" strike="noStrike" kern="0" cap="none" spc="0" normalizeH="0" baseline="0" noProof="0" dirty="0" smtClean="0">
                <a:ln>
                  <a:noFill/>
                </a:ln>
                <a:solidFill>
                  <a:sysClr val="windowText" lastClr="000000"/>
                </a:solidFill>
                <a:effectLst/>
                <a:uLnTx/>
                <a:uFillTx/>
                <a:latin typeface="Arial" pitchFamily="34" charset="0"/>
                <a:ea typeface="맑은 고딕" pitchFamily="50" charset="-127"/>
                <a:cs typeface="Arial" pitchFamily="34" charset="0"/>
              </a:rPr>
              <a:t>components</a:t>
            </a:r>
            <a:endParaRPr kumimoji="0" lang="ko-KR" altLang="en-US" sz="1200" b="1" i="0" u="none" strike="noStrike" kern="0" cap="none" spc="0" normalizeH="0" baseline="0" noProof="0" dirty="0" smtClean="0">
              <a:ln>
                <a:noFill/>
              </a:ln>
              <a:solidFill>
                <a:srgbClr val="0000FF"/>
              </a:solidFill>
              <a:effectLst/>
              <a:uLnTx/>
              <a:uFillTx/>
              <a:latin typeface="Arial" pitchFamily="34" charset="0"/>
              <a:ea typeface="맑은 고딕" pitchFamily="50" charset="-127"/>
              <a:cs typeface="Arial" pitchFamily="34" charset="0"/>
            </a:endParaRPr>
          </a:p>
          <a:p>
            <a:endParaRPr lang="ko-KR" altLang="en-US" dirty="0"/>
          </a:p>
        </p:txBody>
      </p:sp>
      <p:sp>
        <p:nvSpPr>
          <p:cNvPr id="4" name="슬라이드 번호 개체 틀 3"/>
          <p:cNvSpPr>
            <a:spLocks noGrp="1"/>
          </p:cNvSpPr>
          <p:nvPr>
            <p:ph type="sldNum" sz="quarter" idx="10"/>
          </p:nvPr>
        </p:nvSpPr>
        <p:spPr/>
        <p:txBody>
          <a:bodyPr/>
          <a:lstStyle/>
          <a:p>
            <a:pPr>
              <a:defRPr/>
            </a:pPr>
            <a:fld id="{D2680D93-DAC8-41AB-8A2F-E4E97A3F9C9F}" type="slidenum">
              <a:rPr lang="ko-KR" altLang="en-US" smtClean="0"/>
              <a:pPr>
                <a:defRPr/>
              </a:pPr>
              <a:t>18</a:t>
            </a:fld>
            <a:endParaRPr lang="ko-KR" altLang="en-US" dirty="0"/>
          </a:p>
        </p:txBody>
      </p:sp>
    </p:spTree>
    <p:extLst>
      <p:ext uri="{BB962C8B-B14F-4D97-AF65-F5344CB8AC3E}">
        <p14:creationId xmlns:p14="http://schemas.microsoft.com/office/powerpoint/2010/main" val="10101808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This slide shows the applied cases of mobile features using e-</a:t>
            </a:r>
            <a:r>
              <a:rPr lang="en-US" altLang="ko-KR" dirty="0" err="1" smtClean="0"/>
              <a:t>Govframe</a:t>
            </a:r>
            <a:r>
              <a:rPr lang="en-US" altLang="ko-KR" dirty="0" smtClean="0"/>
              <a:t>. </a:t>
            </a:r>
          </a:p>
          <a:p>
            <a:r>
              <a:rPr lang="en-US" altLang="ko-KR" dirty="0" smtClean="0"/>
              <a:t>Continuing</a:t>
            </a:r>
            <a:r>
              <a:rPr lang="en-US" altLang="ko-KR" baseline="0" dirty="0" smtClean="0"/>
              <a:t> improvement is being made to adapt new ICT environment. </a:t>
            </a:r>
            <a:endParaRPr lang="ko-KR" altLang="en-US" dirty="0"/>
          </a:p>
        </p:txBody>
      </p:sp>
      <p:sp>
        <p:nvSpPr>
          <p:cNvPr id="4" name="슬라이드 번호 개체 틀 3"/>
          <p:cNvSpPr>
            <a:spLocks noGrp="1"/>
          </p:cNvSpPr>
          <p:nvPr>
            <p:ph type="sldNum" sz="quarter" idx="10"/>
          </p:nvPr>
        </p:nvSpPr>
        <p:spPr/>
        <p:txBody>
          <a:bodyPr/>
          <a:lstStyle/>
          <a:p>
            <a:pPr>
              <a:defRPr/>
            </a:pPr>
            <a:fld id="{D2680D93-DAC8-41AB-8A2F-E4E97A3F9C9F}" type="slidenum">
              <a:rPr lang="ko-KR" altLang="en-US" smtClean="0"/>
              <a:pPr>
                <a:defRPr/>
              </a:pPr>
              <a:t>19</a:t>
            </a:fld>
            <a:endParaRPr lang="ko-KR" altLang="en-US" dirty="0"/>
          </a:p>
        </p:txBody>
      </p:sp>
    </p:spTree>
    <p:extLst>
      <p:ext uri="{BB962C8B-B14F-4D97-AF65-F5344CB8AC3E}">
        <p14:creationId xmlns:p14="http://schemas.microsoft.com/office/powerpoint/2010/main" val="10101808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defTabSz="914307">
              <a:defRPr/>
            </a:pPr>
            <a:r>
              <a:rPr lang="en-US" altLang="ko-KR" dirty="0" smtClean="0">
                <a:latin typeface="맑은 고딕" pitchFamily="50" charset="-127"/>
                <a:ea typeface="맑은 고딕" pitchFamily="50" charset="-127"/>
              </a:rPr>
              <a:t>Smart society has more strength to solve social issues </a:t>
            </a:r>
            <a:r>
              <a:rPr lang="en-US" altLang="ko-KR" dirty="0">
                <a:latin typeface="맑은 고딕" pitchFamily="50" charset="-127"/>
                <a:ea typeface="맑은 고딕" pitchFamily="50" charset="-127"/>
              </a:rPr>
              <a:t>effectively </a:t>
            </a:r>
            <a:r>
              <a:rPr lang="en-US" altLang="ko-KR" dirty="0" smtClean="0">
                <a:latin typeface="맑은 고딕" pitchFamily="50" charset="-127"/>
                <a:ea typeface="맑은 고딕" pitchFamily="50" charset="-127"/>
              </a:rPr>
              <a:t>and produce new value than before. </a:t>
            </a:r>
          </a:p>
          <a:p>
            <a:pPr defTabSz="914307">
              <a:defRPr/>
            </a:pPr>
            <a:endParaRPr lang="en-US" altLang="ko-KR" sz="1200" dirty="0" smtClean="0">
              <a:latin typeface="맑은 고딕" pitchFamily="50" charset="-127"/>
              <a:ea typeface="맑은 고딕" pitchFamily="50" charset="-127"/>
            </a:endParaRPr>
          </a:p>
          <a:p>
            <a:pPr defTabSz="914307">
              <a:defRPr/>
            </a:pPr>
            <a:r>
              <a:rPr lang="en-US" altLang="ko-KR" sz="1200" dirty="0" err="1" smtClean="0">
                <a:latin typeface="맑은 고딕" pitchFamily="50" charset="-127"/>
                <a:ea typeface="맑은 고딕" pitchFamily="50" charset="-127"/>
              </a:rPr>
              <a:t>Tha</a:t>
            </a:r>
            <a:r>
              <a:rPr lang="en-US" altLang="ko-KR" sz="1200" dirty="0" smtClean="0">
                <a:latin typeface="맑은 고딕" pitchFamily="50" charset="-127"/>
                <a:ea typeface="맑은 고딕" pitchFamily="50" charset="-127"/>
              </a:rPr>
              <a:t> core key word are “sharing, communication and openness”, “</a:t>
            </a:r>
            <a:r>
              <a:rPr lang="en-US" altLang="ko-KR" sz="1200" dirty="0" err="1" smtClean="0">
                <a:latin typeface="맑은 고딕" pitchFamily="50" charset="-127"/>
                <a:ea typeface="맑은 고딕" pitchFamily="50" charset="-127"/>
              </a:rPr>
              <a:t>innovatio</a:t>
            </a:r>
            <a:r>
              <a:rPr lang="en-US" altLang="ko-KR" sz="1200" dirty="0" smtClean="0">
                <a:latin typeface="맑은 고딕" pitchFamily="50" charset="-127"/>
                <a:ea typeface="맑은 고딕" pitchFamily="50" charset="-127"/>
              </a:rPr>
              <a:t> n-collaboration-creativeness”, “Platform”.</a:t>
            </a:r>
            <a:endParaRPr lang="en-US" altLang="ko-KR" b="1" dirty="0">
              <a:solidFill>
                <a:srgbClr val="00B0F0"/>
              </a:solidFill>
              <a:latin typeface="맑은 고딕" pitchFamily="50" charset="-127"/>
              <a:ea typeface="맑은 고딕" pitchFamily="50" charset="-127"/>
            </a:endParaRPr>
          </a:p>
          <a:p>
            <a:pPr defTabSz="914307">
              <a:defRPr/>
            </a:pPr>
            <a:endParaRPr lang="en-US" altLang="ko-KR" sz="1100" b="1" dirty="0" smtClean="0">
              <a:solidFill>
                <a:srgbClr val="00B0F0"/>
              </a:solidFill>
              <a:latin typeface="맑은 고딕" pitchFamily="50" charset="-127"/>
              <a:ea typeface="맑은 고딕" pitchFamily="50" charset="-127"/>
            </a:endParaRPr>
          </a:p>
          <a:p>
            <a:pPr defTabSz="914307">
              <a:defRPr/>
            </a:pPr>
            <a:r>
              <a:rPr lang="en-US" altLang="ko-KR" dirty="0" smtClean="0">
                <a:latin typeface="맑은 고딕" pitchFamily="50" charset="-127"/>
                <a:ea typeface="맑은 고딕" pitchFamily="50" charset="-127"/>
              </a:rPr>
              <a:t>Smart solution should naturally take into consideration them. And experts comments that simplicity is one of the critical characteristics.  For customer-oriented services becomes major directions in the smart society.  </a:t>
            </a:r>
            <a:endParaRPr lang="ko-KR" altLang="en-US" dirty="0" smtClean="0">
              <a:latin typeface="맑은 고딕" pitchFamily="50" charset="-127"/>
              <a:ea typeface="맑은 고딕" pitchFamily="50" charset="-127"/>
            </a:endParaRPr>
          </a:p>
          <a:p>
            <a:endParaRPr lang="ko-KR" altLang="en-US" dirty="0"/>
          </a:p>
        </p:txBody>
      </p:sp>
      <p:sp>
        <p:nvSpPr>
          <p:cNvPr id="4" name="슬라이드 번호 개체 틀 3"/>
          <p:cNvSpPr>
            <a:spLocks noGrp="1"/>
          </p:cNvSpPr>
          <p:nvPr>
            <p:ph type="sldNum" sz="quarter" idx="10"/>
          </p:nvPr>
        </p:nvSpPr>
        <p:spPr/>
        <p:txBody>
          <a:bodyPr/>
          <a:lstStyle/>
          <a:p>
            <a:fld id="{48030ECF-BAF6-4561-8CAD-A2CA4F017543}" type="slidenum">
              <a:rPr lang="en-US" altLang="ko-KR" smtClean="0"/>
              <a:pPr/>
              <a:t>20</a:t>
            </a:fld>
            <a:endParaRPr lang="en-US" altLang="ko-KR"/>
          </a:p>
        </p:txBody>
      </p:sp>
    </p:spTree>
    <p:extLst>
      <p:ext uri="{BB962C8B-B14F-4D97-AF65-F5344CB8AC3E}">
        <p14:creationId xmlns:p14="http://schemas.microsoft.com/office/powerpoint/2010/main" val="38988110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a:noFill/>
        </p:spPr>
        <p:txBody>
          <a:bodyPr vert="horz" lIns="91440" tIns="45720" rIns="91440" bIns="45720" rtlCol="0">
            <a:normAutofit/>
          </a:bodyPr>
          <a:lstStyle/>
          <a:p>
            <a:pPr>
              <a:spcBef>
                <a:spcPct val="0"/>
              </a:spcBef>
            </a:pPr>
            <a:r>
              <a:rPr lang="en-US" altLang="ko-KR" dirty="0" smtClean="0">
                <a:latin typeface="Arial" pitchFamily="34" charset="0"/>
                <a:ea typeface="굴림" charset="-127"/>
                <a:cs typeface="Arial" pitchFamily="34" charset="0"/>
              </a:rPr>
              <a:t>New innovative national strategies that apply Smart ICT are needed to respond “smartly” and actively to today’s changing environment.  </a:t>
            </a:r>
          </a:p>
          <a:p>
            <a:pPr>
              <a:spcBef>
                <a:spcPct val="0"/>
              </a:spcBef>
            </a:pPr>
            <a:endParaRPr lang="en-US" altLang="ko-KR" dirty="0" smtClean="0">
              <a:latin typeface="Arial" pitchFamily="34" charset="0"/>
              <a:ea typeface="굴림" charset="-127"/>
              <a:cs typeface="Arial" pitchFamily="34" charset="0"/>
            </a:endParaRPr>
          </a:p>
          <a:p>
            <a:pPr>
              <a:spcBef>
                <a:spcPct val="0"/>
              </a:spcBef>
            </a:pPr>
            <a:r>
              <a:rPr lang="en-US" altLang="ko-KR" dirty="0" smtClean="0">
                <a:latin typeface="Arial" pitchFamily="34" charset="0"/>
                <a:ea typeface="굴림" charset="-127"/>
                <a:cs typeface="Arial" pitchFamily="34" charset="0"/>
              </a:rPr>
              <a:t>This is what we in Korea refer to as the </a:t>
            </a:r>
            <a:r>
              <a:rPr lang="en-US" altLang="ko-KR" b="1" dirty="0" smtClean="0">
                <a:latin typeface="Arial" pitchFamily="34" charset="0"/>
                <a:ea typeface="굴림" charset="-127"/>
                <a:cs typeface="Arial" pitchFamily="34" charset="0"/>
              </a:rPr>
              <a:t>“Smart e-Government” Strategy</a:t>
            </a:r>
            <a:r>
              <a:rPr lang="en-US" altLang="ko-KR" dirty="0" smtClean="0">
                <a:latin typeface="Arial" pitchFamily="34" charset="0"/>
                <a:ea typeface="굴림" charset="-127"/>
                <a:cs typeface="Arial" pitchFamily="34" charset="0"/>
              </a:rPr>
              <a:t>,</a:t>
            </a:r>
            <a:r>
              <a:rPr lang="en-US" altLang="ko-KR" baseline="0" dirty="0" smtClean="0">
                <a:latin typeface="Arial" pitchFamily="34" charset="0"/>
                <a:ea typeface="굴림" charset="-127"/>
                <a:cs typeface="Arial" pitchFamily="34" charset="0"/>
              </a:rPr>
              <a:t> composed of 5 agendas shown here. </a:t>
            </a:r>
          </a:p>
          <a:p>
            <a:endParaRPr lang="en-US" altLang="ko-KR" dirty="0" smtClean="0">
              <a:latin typeface="Times New Roman" pitchFamily="18" charset="0"/>
              <a:cs typeface="Times New Roman" pitchFamily="18" charset="0"/>
            </a:endParaRPr>
          </a:p>
          <a:p>
            <a:endParaRPr lang="en-US" altLang="ko-KR" dirty="0" smtClean="0">
              <a:latin typeface="Times New Roman" pitchFamily="18" charset="0"/>
              <a:cs typeface="Times New Roman" pitchFamily="18" charset="0"/>
            </a:endParaRPr>
          </a:p>
          <a:p>
            <a:r>
              <a:rPr lang="en-US" altLang="ko-KR" dirty="0" smtClean="0">
                <a:latin typeface="Times New Roman" pitchFamily="18" charset="0"/>
                <a:cs typeface="Times New Roman" pitchFamily="18" charset="0"/>
              </a:rPr>
              <a:t>Five key agendas that reach out beyond the limit of current e-Government include: </a:t>
            </a:r>
          </a:p>
          <a:p>
            <a:endParaRPr lang="en-US" altLang="ko-KR" dirty="0" smtClean="0">
              <a:latin typeface="Times New Roman" pitchFamily="18" charset="0"/>
              <a:cs typeface="Times New Roman" pitchFamily="18" charset="0"/>
            </a:endParaRPr>
          </a:p>
          <a:p>
            <a:r>
              <a:rPr lang="en-US" altLang="ko-KR" dirty="0" smtClean="0">
                <a:latin typeface="Times New Roman" pitchFamily="18" charset="0"/>
                <a:cs typeface="Times New Roman" pitchFamily="18" charset="0"/>
              </a:rPr>
              <a:t>Firstly, the realization of the world’s best mobile e-Government</a:t>
            </a:r>
            <a:r>
              <a:rPr lang="en-US" altLang="ko-KR" baseline="0" dirty="0" smtClean="0">
                <a:latin typeface="Times New Roman" pitchFamily="18" charset="0"/>
                <a:cs typeface="Times New Roman" pitchFamily="18" charset="0"/>
              </a:rPr>
              <a:t> is considered the most important one of the 5 agendas.</a:t>
            </a:r>
          </a:p>
          <a:p>
            <a:r>
              <a:rPr lang="en-US" altLang="ko-KR" dirty="0" smtClean="0">
                <a:latin typeface="Times New Roman" pitchFamily="18" charset="0"/>
                <a:cs typeface="Times New Roman" pitchFamily="18" charset="0"/>
              </a:rPr>
              <a:t>Second,</a:t>
            </a:r>
          </a:p>
          <a:p>
            <a:r>
              <a:rPr lang="en-US" altLang="ko-KR" baseline="0" dirty="0" smtClean="0">
                <a:latin typeface="Times New Roman" pitchFamily="18" charset="0"/>
                <a:cs typeface="Times New Roman" pitchFamily="18" charset="0"/>
              </a:rPr>
              <a:t>Third,</a:t>
            </a:r>
          </a:p>
          <a:p>
            <a:r>
              <a:rPr lang="en-US" altLang="ko-KR" dirty="0" smtClean="0">
                <a:latin typeface="Times New Roman" pitchFamily="18" charset="0"/>
                <a:cs typeface="Times New Roman" pitchFamily="18" charset="0"/>
              </a:rPr>
              <a:t>Forth,</a:t>
            </a:r>
          </a:p>
          <a:p>
            <a:r>
              <a:rPr lang="en-US" altLang="ko-KR" baseline="0" dirty="0" smtClean="0">
                <a:latin typeface="Times New Roman" pitchFamily="18" charset="0"/>
                <a:cs typeface="Times New Roman" pitchFamily="18" charset="0"/>
              </a:rPr>
              <a:t>Finally</a:t>
            </a:r>
          </a:p>
          <a:p>
            <a:endParaRPr lang="en-US" altLang="ko-KR" baseline="0" dirty="0" smtClean="0">
              <a:latin typeface="Times New Roman" pitchFamily="18" charset="0"/>
              <a:cs typeface="Times New Roman" pitchFamily="18" charset="0"/>
            </a:endParaRPr>
          </a:p>
          <a:p>
            <a:endParaRPr lang="en-US" altLang="ko-KR" dirty="0" smtClean="0">
              <a:latin typeface="Times New Roman" pitchFamily="18" charset="0"/>
              <a:cs typeface="Times New Roman" pitchFamily="18" charset="0"/>
            </a:endParaRPr>
          </a:p>
          <a:p>
            <a:pPr algn="just">
              <a:lnSpc>
                <a:spcPct val="150000"/>
              </a:lnSpc>
              <a:spcBef>
                <a:spcPct val="0"/>
              </a:spcBef>
              <a:defRPr/>
            </a:pPr>
            <a:endParaRPr lang="ko-KR" altLang="en-US" dirty="0" smtClean="0">
              <a:latin typeface="Times New Roman" pitchFamily="18" charset="0"/>
              <a:cs typeface="Times New Roman" pitchFamily="18" charset="0"/>
            </a:endParaRPr>
          </a:p>
          <a:p>
            <a:pPr algn="just">
              <a:lnSpc>
                <a:spcPct val="150000"/>
              </a:lnSpc>
              <a:spcBef>
                <a:spcPct val="0"/>
              </a:spcBef>
              <a:defRPr/>
            </a:pPr>
            <a:endParaRPr lang="ko-KR" altLang="en-US" dirty="0">
              <a:latin typeface="Times New Roman" pitchFamily="18" charset="0"/>
              <a:cs typeface="Times New Roman" pitchFamily="18" charset="0"/>
            </a:endParaRPr>
          </a:p>
        </p:txBody>
      </p:sp>
      <p:sp>
        <p:nvSpPr>
          <p:cNvPr id="4" name="슬라이드 번호 개체 틀 3"/>
          <p:cNvSpPr>
            <a:spLocks noGrp="1"/>
          </p:cNvSpPr>
          <p:nvPr>
            <p:ph type="sldNum" sz="quarter" idx="10"/>
          </p:nvPr>
        </p:nvSpPr>
        <p:spPr/>
        <p:txBody>
          <a:bodyPr/>
          <a:lstStyle/>
          <a:p>
            <a:fld id="{C754DFF0-55CB-42AF-850B-D57679333B35}" type="slidenum">
              <a:rPr lang="ko-KR" altLang="en-US" smtClean="0"/>
              <a:pPr/>
              <a:t>21</a:t>
            </a:fld>
            <a:endParaRPr lang="ko-KR" altLang="en-US"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IT has undergo</a:t>
            </a:r>
            <a:r>
              <a:rPr lang="en-US" altLang="ko-KR" baseline="0" dirty="0" smtClean="0"/>
              <a:t> the changing role from the core instrument of efficiency to </a:t>
            </a:r>
            <a:endParaRPr lang="en-US" altLang="ko-KR" dirty="0" smtClean="0"/>
          </a:p>
          <a:p>
            <a:r>
              <a:rPr lang="en-US" altLang="ko-KR" dirty="0" smtClean="0"/>
              <a:t>the platform of </a:t>
            </a:r>
            <a:r>
              <a:rPr lang="en-US" altLang="ko-KR" baseline="0" dirty="0" smtClean="0"/>
              <a:t>open innovation and c</a:t>
            </a:r>
            <a:r>
              <a:rPr lang="en-US" altLang="ko-KR" dirty="0" smtClean="0"/>
              <a:t>reative</a:t>
            </a:r>
            <a:r>
              <a:rPr lang="en-US" altLang="ko-KR" baseline="0" dirty="0" smtClean="0"/>
              <a:t> collaboration.</a:t>
            </a:r>
            <a:endParaRPr lang="ko-KR" altLang="en-US" dirty="0"/>
          </a:p>
        </p:txBody>
      </p:sp>
      <p:sp>
        <p:nvSpPr>
          <p:cNvPr id="4" name="슬라이드 번호 개체 틀 3"/>
          <p:cNvSpPr>
            <a:spLocks noGrp="1"/>
          </p:cNvSpPr>
          <p:nvPr>
            <p:ph type="sldNum" sz="quarter" idx="10"/>
          </p:nvPr>
        </p:nvSpPr>
        <p:spPr/>
        <p:txBody>
          <a:bodyPr/>
          <a:lstStyle/>
          <a:p>
            <a:fld id="{48030ECF-BAF6-4561-8CAD-A2CA4F017543}" type="slidenum">
              <a:rPr lang="en-US" altLang="ko-KR" smtClean="0"/>
              <a:pPr/>
              <a:t>22</a:t>
            </a:fld>
            <a:endParaRPr lang="en-US" altLang="ko-KR"/>
          </a:p>
        </p:txBody>
      </p:sp>
    </p:spTree>
    <p:extLst>
      <p:ext uri="{BB962C8B-B14F-4D97-AF65-F5344CB8AC3E}">
        <p14:creationId xmlns:p14="http://schemas.microsoft.com/office/powerpoint/2010/main" val="33315580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201" name="슬라이드 이미지 개체 틀 1"/>
          <p:cNvSpPr>
            <a:spLocks noGrp="1" noRot="1" noChangeAspect="1"/>
          </p:cNvSpPr>
          <p:nvPr>
            <p:ph type="sldImg"/>
          </p:nvPr>
        </p:nvSpPr>
        <p:spPr>
          <a:ln/>
        </p:spPr>
      </p:sp>
      <p:sp>
        <p:nvSpPr>
          <p:cNvPr id="3" name="슬라이드 노트 개체 틀 2"/>
          <p:cNvSpPr>
            <a:spLocks noGrp="1"/>
          </p:cNvSpPr>
          <p:nvPr>
            <p:ph type="body" idx="1"/>
          </p:nvPr>
        </p:nvSpPr>
        <p:spPr/>
        <p:txBody>
          <a:bodyPr>
            <a:normAutofit/>
          </a:bodyPr>
          <a:lstStyle/>
          <a:p>
            <a:r>
              <a:rPr lang="en-US" altLang="ko-KR" dirty="0" smtClean="0">
                <a:latin typeface="Arial Unicode MS" pitchFamily="50" charset="-127"/>
                <a:ea typeface="Arial Unicode MS" pitchFamily="50" charset="-127"/>
                <a:cs typeface="Arial Unicode MS" pitchFamily="50" charset="-127"/>
              </a:rPr>
              <a:t>In</a:t>
            </a:r>
            <a:r>
              <a:rPr lang="ko-KR" altLang="en-US" baseline="0" dirty="0" smtClean="0">
                <a:latin typeface="Arial Unicode MS" pitchFamily="50" charset="-127"/>
                <a:ea typeface="Arial Unicode MS" pitchFamily="50" charset="-127"/>
                <a:cs typeface="Arial Unicode MS" pitchFamily="50" charset="-127"/>
              </a:rPr>
              <a:t> </a:t>
            </a:r>
            <a:r>
              <a:rPr lang="en-US" altLang="ko-KR" baseline="0" dirty="0" smtClean="0">
                <a:latin typeface="Arial Unicode MS" pitchFamily="50" charset="-127"/>
                <a:ea typeface="Arial Unicode MS" pitchFamily="50" charset="-127"/>
                <a:cs typeface="Arial Unicode MS" pitchFamily="50" charset="-127"/>
              </a:rPr>
              <a:t>order to realize m-Government, 3 kinds of services are required.</a:t>
            </a:r>
          </a:p>
          <a:p>
            <a:r>
              <a:rPr lang="en-US" altLang="ko-KR" dirty="0" smtClean="0">
                <a:latin typeface="Arial Unicode MS" pitchFamily="50" charset="-127"/>
                <a:ea typeface="Arial Unicode MS" pitchFamily="50" charset="-127"/>
                <a:cs typeface="Arial Unicode MS" pitchFamily="50" charset="-127"/>
              </a:rPr>
              <a:t>That are C2CG, G2C, and G2G.  </a:t>
            </a:r>
          </a:p>
          <a:p>
            <a:r>
              <a:rPr lang="en-US" altLang="ko-KR" dirty="0" smtClean="0">
                <a:latin typeface="Arial Unicode MS" pitchFamily="50" charset="-127"/>
                <a:ea typeface="Arial Unicode MS" pitchFamily="50" charset="-127"/>
                <a:cs typeface="Arial Unicode MS" pitchFamily="50" charset="-127"/>
              </a:rPr>
              <a:t>Among these C2CG is the most characteristic type in the smart government</a:t>
            </a:r>
          </a:p>
          <a:p>
            <a:endParaRPr lang="en-US" altLang="ko-KR" dirty="0">
              <a:latin typeface="Times New Roman" pitchFamily="18" charset="0"/>
              <a:cs typeface="Times New Roman" pitchFamily="18" charset="0"/>
            </a:endParaRPr>
          </a:p>
          <a:p>
            <a:endParaRPr lang="en-US" altLang="ko-KR" dirty="0" smtClean="0">
              <a:latin typeface="Times New Roman" pitchFamily="18" charset="0"/>
              <a:cs typeface="Times New Roman" pitchFamily="18" charset="0"/>
            </a:endParaRPr>
          </a:p>
          <a:p>
            <a:r>
              <a:rPr lang="en-US" altLang="ko-KR" dirty="0" smtClean="0">
                <a:latin typeface="Times New Roman" pitchFamily="18" charset="0"/>
                <a:cs typeface="Times New Roman" pitchFamily="18" charset="0"/>
              </a:rPr>
              <a:t>First, C2CG.</a:t>
            </a:r>
            <a:r>
              <a:rPr lang="en-US" altLang="ko-KR" baseline="0" dirty="0" smtClean="0">
                <a:latin typeface="Times New Roman" pitchFamily="18" charset="0"/>
                <a:cs typeface="Times New Roman" pitchFamily="18" charset="0"/>
              </a:rPr>
              <a:t> This means the services from citizen to citizen and government. Mobile services are used for collaboration between citizens and government. This is the type of service based on creative people power.</a:t>
            </a:r>
          </a:p>
          <a:p>
            <a:endParaRPr lang="en-US" altLang="ko-KR" dirty="0" smtClean="0">
              <a:latin typeface="Times New Roman" pitchFamily="18" charset="0"/>
              <a:cs typeface="Times New Roman" pitchFamily="18" charset="0"/>
            </a:endParaRPr>
          </a:p>
          <a:p>
            <a:r>
              <a:rPr lang="en-US" altLang="ko-KR" dirty="0" smtClean="0">
                <a:latin typeface="Times New Roman" pitchFamily="18" charset="0"/>
                <a:cs typeface="Times New Roman" pitchFamily="18" charset="0"/>
              </a:rPr>
              <a:t>Second</a:t>
            </a:r>
            <a:r>
              <a:rPr lang="en-US" altLang="ko-KR" baseline="0" dirty="0" smtClean="0">
                <a:latin typeface="Times New Roman" pitchFamily="18" charset="0"/>
                <a:cs typeface="Times New Roman" pitchFamily="18" charset="0"/>
              </a:rPr>
              <a:t> is a G2C type. Government provides valuable information to citizens, such as tax information, road traffic conditions, health, etc. Citizens can get real-time information at anywhere and anytime.</a:t>
            </a:r>
          </a:p>
          <a:p>
            <a:endParaRPr lang="en-US" altLang="ko-KR" baseline="0" dirty="0" smtClean="0">
              <a:latin typeface="Times New Roman" pitchFamily="18" charset="0"/>
              <a:cs typeface="Times New Roman" pitchFamily="18" charset="0"/>
            </a:endParaRPr>
          </a:p>
          <a:p>
            <a:r>
              <a:rPr lang="en-US" altLang="ko-KR" baseline="0" dirty="0" smtClean="0">
                <a:latin typeface="Times New Roman" pitchFamily="18" charset="0"/>
                <a:cs typeface="Times New Roman" pitchFamily="18" charset="0"/>
              </a:rPr>
              <a:t>Third, G2G is for enhancing government officials productivity and their convenience, for example, work reporting processes, disaster management out in the field, etc.</a:t>
            </a:r>
          </a:p>
          <a:p>
            <a:endParaRPr lang="en-US" altLang="ko-KR" baseline="0" dirty="0" smtClean="0">
              <a:latin typeface="Times New Roman" pitchFamily="18" charset="0"/>
              <a:cs typeface="Times New Roman" pitchFamily="18" charset="0"/>
            </a:endParaRPr>
          </a:p>
        </p:txBody>
      </p:sp>
      <p:sp>
        <p:nvSpPr>
          <p:cNvPr id="179203" name="슬라이드 번호 개체 틀 3"/>
          <p:cNvSpPr>
            <a:spLocks noGrp="1"/>
          </p:cNvSpPr>
          <p:nvPr>
            <p:ph type="sldNum" sz="quarter" idx="5"/>
          </p:nvPr>
        </p:nvSpPr>
        <p:spPr>
          <a:noFill/>
          <a:ln>
            <a:miter lim="800000"/>
            <a:headEnd/>
            <a:tailEnd/>
          </a:ln>
        </p:spPr>
        <p:txBody>
          <a:bodyPr/>
          <a:lstStyle/>
          <a:p>
            <a:fld id="{C3F60682-0DE4-4A46-99C7-671BDEFE8D50}" type="slidenum">
              <a:rPr lang="en-US" altLang="ko-KR" smtClean="0"/>
              <a:pPr/>
              <a:t>23</a:t>
            </a:fld>
            <a:endParaRPr lang="en-US" altLang="ko-KR" smtClean="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err="1" smtClean="0"/>
              <a:t>Analysing</a:t>
            </a:r>
            <a:r>
              <a:rPr lang="en-US" altLang="ko-KR" dirty="0" smtClean="0"/>
              <a:t> the EU’s recent research on the enablers of ICT-driven </a:t>
            </a:r>
            <a:r>
              <a:rPr lang="en-US" altLang="ko-KR" dirty="0" smtClean="0"/>
              <a:t>public sector </a:t>
            </a:r>
            <a:r>
              <a:rPr lang="en-US" altLang="ko-KR" dirty="0" smtClean="0"/>
              <a:t>innovation and Korea’s approach to Smart society, I ‘d like suggest some actionable considerations for Rwanda. Most of EU research agendas generally coincide with </a:t>
            </a:r>
            <a:r>
              <a:rPr lang="en-US" altLang="ko-KR" dirty="0" smtClean="0"/>
              <a:t>what we have thought </a:t>
            </a:r>
            <a:r>
              <a:rPr lang="en-US" altLang="ko-KR" dirty="0" smtClean="0"/>
              <a:t>and are taking actions. </a:t>
            </a:r>
            <a:endParaRPr lang="en-US" altLang="ko-KR" dirty="0" smtClean="0"/>
          </a:p>
          <a:p>
            <a:endParaRPr lang="en-US" altLang="ko-KR" dirty="0"/>
          </a:p>
          <a:p>
            <a:r>
              <a:rPr lang="en-US" altLang="ko-KR" dirty="0" smtClean="0"/>
              <a:t>The five categories might be generally included in the smart Rwanda program 3.0. T</a:t>
            </a:r>
            <a:r>
              <a:rPr lang="en-US" altLang="ko-KR" dirty="0" smtClean="0"/>
              <a:t>he constraint of physical and human resources and capabilities will be barriers to achieve the vision. But taking step by step approach and applying smart strategy with strong passion for national development thru ICT can overcome those obstacles. </a:t>
            </a:r>
          </a:p>
          <a:p>
            <a:endParaRPr lang="en-US" altLang="ko-KR" dirty="0"/>
          </a:p>
          <a:p>
            <a:pPr fontAlgn="t"/>
            <a:r>
              <a:rPr lang="en-US" altLang="ko-KR" dirty="0" smtClean="0"/>
              <a:t>Infra &amp; process has been and will always be the key enablers of ICT. Cloud</a:t>
            </a:r>
            <a:r>
              <a:rPr lang="en-US" altLang="ko-KR" dirty="0"/>
              <a:t>, EA, </a:t>
            </a:r>
            <a:r>
              <a:rPr lang="en-US" altLang="ko-KR" dirty="0" smtClean="0"/>
              <a:t>methodology</a:t>
            </a:r>
            <a:r>
              <a:rPr lang="en-US" altLang="ko-KR" dirty="0"/>
              <a:t>, PET, e-ID are </a:t>
            </a:r>
            <a:r>
              <a:rPr lang="en-US" altLang="ko-KR" dirty="0" smtClean="0"/>
              <a:t>critical </a:t>
            </a:r>
            <a:r>
              <a:rPr lang="en-US" altLang="ko-KR" dirty="0"/>
              <a:t>for advanced ICT.  To build </a:t>
            </a:r>
            <a:r>
              <a:rPr lang="en-US" altLang="ko-KR" dirty="0" smtClean="0"/>
              <a:t>independent competency </a:t>
            </a:r>
            <a:r>
              <a:rPr lang="en-US" altLang="ko-KR" dirty="0"/>
              <a:t>in this area is </a:t>
            </a:r>
            <a:r>
              <a:rPr lang="en-US" altLang="ko-KR" dirty="0" smtClean="0"/>
              <a:t>very important.</a:t>
            </a:r>
            <a:endParaRPr lang="ko-KR" altLang="ko-KR" dirty="0"/>
          </a:p>
          <a:p>
            <a:pPr fontAlgn="t"/>
            <a:endParaRPr lang="en-US" altLang="ko-KR" dirty="0" smtClean="0"/>
          </a:p>
          <a:p>
            <a:pPr fontAlgn="t"/>
            <a:r>
              <a:rPr lang="en-US" altLang="ko-KR" dirty="0" smtClean="0"/>
              <a:t>Systematic data governance policy and the accumulation </a:t>
            </a:r>
            <a:r>
              <a:rPr lang="en-US" altLang="ko-KR" dirty="0"/>
              <a:t>of </a:t>
            </a:r>
            <a:r>
              <a:rPr lang="en-US" altLang="ko-KR" dirty="0" smtClean="0"/>
              <a:t>basic public </a:t>
            </a:r>
            <a:r>
              <a:rPr lang="en-US" altLang="ko-KR" dirty="0"/>
              <a:t>data </a:t>
            </a:r>
            <a:r>
              <a:rPr lang="en-US" altLang="ko-KR" dirty="0" smtClean="0"/>
              <a:t>is the prerequisite to next generation data policy and technology.</a:t>
            </a:r>
            <a:endParaRPr lang="ko-KR" altLang="ko-KR" dirty="0"/>
          </a:p>
          <a:p>
            <a:pPr fontAlgn="t"/>
            <a:r>
              <a:rPr lang="en-US" altLang="ko-KR" dirty="0" smtClean="0"/>
              <a:t>, </a:t>
            </a:r>
            <a:endParaRPr lang="ko-KR" altLang="ko-KR" dirty="0"/>
          </a:p>
          <a:p>
            <a:pPr fontAlgn="t"/>
            <a:r>
              <a:rPr lang="en-US" altLang="ko-KR" dirty="0"/>
              <a:t>Research </a:t>
            </a:r>
            <a:r>
              <a:rPr lang="en-US" altLang="ko-KR" dirty="0" smtClean="0"/>
              <a:t>on </a:t>
            </a:r>
            <a:r>
              <a:rPr lang="en-US" altLang="ko-KR" dirty="0"/>
              <a:t>proto-type of Rwanda mobile </a:t>
            </a:r>
            <a:r>
              <a:rPr lang="en-US" altLang="ko-KR" dirty="0" smtClean="0"/>
              <a:t>platform is challenging and killer application applicable to the whole Africa  should actively  .</a:t>
            </a:r>
          </a:p>
          <a:p>
            <a:pPr fontAlgn="t"/>
            <a:endParaRPr lang="en-US" altLang="ko-KR" dirty="0" smtClean="0"/>
          </a:p>
          <a:p>
            <a:pPr fontAlgn="t"/>
            <a:r>
              <a:rPr lang="en-US" altLang="ko-KR" dirty="0" smtClean="0"/>
              <a:t>Last, civil servants and working process is as essential in starting country as advanced country. </a:t>
            </a:r>
            <a:endParaRPr lang="ko-KR" altLang="ko-KR" dirty="0"/>
          </a:p>
          <a:p>
            <a:endParaRPr lang="en-US" altLang="ko-KR"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24</a:t>
            </a:fld>
            <a:endParaRPr lang="ko-KR" altLang="en-US"/>
          </a:p>
        </p:txBody>
      </p:sp>
    </p:spTree>
    <p:extLst>
      <p:ext uri="{BB962C8B-B14F-4D97-AF65-F5344CB8AC3E}">
        <p14:creationId xmlns:p14="http://schemas.microsoft.com/office/powerpoint/2010/main" val="14734101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2130425"/>
            <a:ext cx="7772400" cy="1470025"/>
          </a:xfrm>
        </p:spPr>
        <p:txBody>
          <a:bodyPr/>
          <a:lstStyle/>
          <a:p>
            <a:r>
              <a:rPr lang="ko-KR" altLang="en-US" smtClean="0"/>
              <a:t>마스터 제목 스타일 편집</a:t>
            </a:r>
            <a:endParaRPr lang="ko-KR" altLang="en-US"/>
          </a:p>
        </p:txBody>
      </p:sp>
      <p:sp>
        <p:nvSpPr>
          <p:cNvPr id="3" name="부제목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smtClean="0"/>
              <a:t>마스터 부제목 스타일 편집</a:t>
            </a:r>
            <a:endParaRPr lang="ko-KR" altLang="en-US"/>
          </a:p>
        </p:txBody>
      </p:sp>
      <p:sp>
        <p:nvSpPr>
          <p:cNvPr id="4" name="날짜 개체 틀 3"/>
          <p:cNvSpPr>
            <a:spLocks noGrp="1"/>
          </p:cNvSpPr>
          <p:nvPr>
            <p:ph type="dt" sz="half" idx="10"/>
          </p:nvPr>
        </p:nvSpPr>
        <p:spPr/>
        <p:txBody>
          <a:bodyPr/>
          <a:lstStyle/>
          <a:p>
            <a:fld id="{9F2DED90-5877-43A9-B0DC-F5123C38FE76}"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1673211644"/>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내용 개체 틀 2"/>
          <p:cNvSpPr>
            <a:spLocks noGrp="1"/>
          </p:cNvSpPr>
          <p:nvPr>
            <p:ph idx="1"/>
          </p:nvPr>
        </p:nvSpPr>
        <p:spPr/>
        <p:txBody>
          <a:body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10CD63F0-B0B0-4E42-A6CE-B68C82511D23}"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2408993310"/>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4406900"/>
            <a:ext cx="7772400" cy="1362075"/>
          </a:xfrm>
        </p:spPr>
        <p:txBody>
          <a:bodyPr anchor="t"/>
          <a:lstStyle>
            <a:lvl1pPr algn="l">
              <a:defRPr sz="4000" b="1" cap="all"/>
            </a:lvl1p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smtClean="0"/>
              <a:t>마스터 텍스트 스타일을 편집합니다</a:t>
            </a:r>
          </a:p>
        </p:txBody>
      </p:sp>
      <p:sp>
        <p:nvSpPr>
          <p:cNvPr id="4" name="날짜 개체 틀 3"/>
          <p:cNvSpPr>
            <a:spLocks noGrp="1"/>
          </p:cNvSpPr>
          <p:nvPr>
            <p:ph type="dt" sz="half" idx="10"/>
          </p:nvPr>
        </p:nvSpPr>
        <p:spPr/>
        <p:txBody>
          <a:bodyPr/>
          <a:lstStyle/>
          <a:p>
            <a:fld id="{93A49D9A-01B7-45CA-BA2F-111AFF59252F}"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1574366480"/>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내용 개체 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내용 개체 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5" name="날짜 개체 틀 4"/>
          <p:cNvSpPr>
            <a:spLocks noGrp="1"/>
          </p:cNvSpPr>
          <p:nvPr>
            <p:ph type="dt" sz="half" idx="10"/>
          </p:nvPr>
        </p:nvSpPr>
        <p:spPr/>
        <p:txBody>
          <a:bodyPr/>
          <a:lstStyle/>
          <a:p>
            <a:fld id="{50E829FA-D5A0-4636-8397-E8DC6DC38D19}"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8F563537-3992-4579-A065-26E1D23BF530}" type="slidenum">
              <a:rPr lang="ko-KR" altLang="en-US" smtClean="0"/>
              <a:pPr/>
              <a:t>‹#›</a:t>
            </a:fld>
            <a:endParaRPr lang="ko-KR" altLang="en-US"/>
          </a:p>
        </p:txBody>
      </p:sp>
      <p:sp>
        <p:nvSpPr>
          <p:cNvPr id="8" name="직사각형 7"/>
          <p:cNvSpPr/>
          <p:nvPr userDrawn="1"/>
        </p:nvSpPr>
        <p:spPr>
          <a:xfrm>
            <a:off x="-13473" y="260648"/>
            <a:ext cx="971600" cy="288032"/>
          </a:xfrm>
          <a:prstGeom prst="rect">
            <a:avLst/>
          </a:prstGeom>
          <a:solidFill>
            <a:srgbClr val="00ADDC"/>
          </a:solidFill>
          <a:ln w="25400" cap="flat" cmpd="sng" algn="ctr">
            <a:solidFill>
              <a:srgbClr val="00B0F0"/>
            </a:solidFill>
            <a:prstDash val="solid"/>
          </a:ln>
          <a:effectLst/>
        </p:spPr>
        <p:txBody>
          <a:bodyPr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ko-KR" altLang="en-US" sz="1800" b="1" i="0" u="none" strike="noStrike" kern="0" cap="none" spc="0" normalizeH="0" baseline="0" noProof="0" smtClean="0">
              <a:ln>
                <a:noFill/>
              </a:ln>
              <a:solidFill>
                <a:prstClr val="white"/>
              </a:solidFill>
              <a:effectLst/>
              <a:uLnTx/>
              <a:uFillTx/>
              <a:latin typeface="-윤고딕120"/>
              <a:ea typeface="-윤고딕120"/>
              <a:cs typeface="+mn-cs"/>
            </a:endParaRPr>
          </a:p>
        </p:txBody>
      </p:sp>
    </p:spTree>
    <p:extLst>
      <p:ext uri="{BB962C8B-B14F-4D97-AF65-F5344CB8AC3E}">
        <p14:creationId xmlns:p14="http://schemas.microsoft.com/office/powerpoint/2010/main" val="5100662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smtClean="0"/>
              <a:t>마스터 텍스트 스타일을 편집합니다</a:t>
            </a:r>
          </a:p>
        </p:txBody>
      </p:sp>
      <p:sp>
        <p:nvSpPr>
          <p:cNvPr id="4" name="내용 개체 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5" name="텍스트 개체 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smtClean="0"/>
              <a:t>마스터 텍스트 스타일을 편집합니다</a:t>
            </a:r>
          </a:p>
        </p:txBody>
      </p:sp>
      <p:sp>
        <p:nvSpPr>
          <p:cNvPr id="6" name="내용 개체 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7" name="날짜 개체 틀 6"/>
          <p:cNvSpPr>
            <a:spLocks noGrp="1"/>
          </p:cNvSpPr>
          <p:nvPr>
            <p:ph type="dt" sz="half" idx="10"/>
          </p:nvPr>
        </p:nvSpPr>
        <p:spPr/>
        <p:txBody>
          <a:bodyPr/>
          <a:lstStyle/>
          <a:p>
            <a:fld id="{9D051587-0730-4BF1-B0A0-73D5635AC7C7}" type="datetime1">
              <a:rPr lang="ko-KR" altLang="en-US" smtClean="0"/>
              <a:pPr/>
              <a:t>2013-06-16</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19173235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날짜 개체 틀 2"/>
          <p:cNvSpPr>
            <a:spLocks noGrp="1"/>
          </p:cNvSpPr>
          <p:nvPr>
            <p:ph type="dt" sz="half" idx="10"/>
          </p:nvPr>
        </p:nvSpPr>
        <p:spPr/>
        <p:txBody>
          <a:bodyPr/>
          <a:lstStyle/>
          <a:p>
            <a:fld id="{874242D3-866B-4659-9247-427B9951396C}" type="datetime1">
              <a:rPr lang="ko-KR" altLang="en-US" smtClean="0"/>
              <a:pPr/>
              <a:t>2013-06-16</a:t>
            </a:fld>
            <a:endParaRPr lang="ko-KR" altLang="en-US" dirty="0"/>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8F563537-3992-4579-A065-26E1D23BF530}" type="slidenum">
              <a:rPr lang="ko-KR" altLang="en-US" smtClean="0"/>
              <a:pPr/>
              <a:t>‹#›</a:t>
            </a:fld>
            <a:endParaRPr lang="ko-KR" altLang="en-US" dirty="0"/>
          </a:p>
        </p:txBody>
      </p:sp>
    </p:spTree>
    <p:extLst>
      <p:ext uri="{BB962C8B-B14F-4D97-AF65-F5344CB8AC3E}">
        <p14:creationId xmlns:p14="http://schemas.microsoft.com/office/powerpoint/2010/main" val="1899546145"/>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AA996E3A-86BB-4FEB-9277-33D9B69EAE71}" type="datetime1">
              <a:rPr lang="ko-KR" altLang="en-US" smtClean="0"/>
              <a:pPr/>
              <a:t>2013-06-16</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184065144"/>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00" y="273050"/>
            <a:ext cx="3008313" cy="1162050"/>
          </a:xfrm>
        </p:spPr>
        <p:txBody>
          <a:bodyPr anchor="b"/>
          <a:lstStyle>
            <a:lvl1pPr algn="l">
              <a:defRPr sz="2000" b="1"/>
            </a:lvl1pPr>
          </a:lstStyle>
          <a:p>
            <a:r>
              <a:rPr lang="ko-KR" altLang="en-US" smtClean="0"/>
              <a:t>마스터 제목 스타일 편집</a:t>
            </a:r>
            <a:endParaRPr lang="ko-KR" altLang="en-US"/>
          </a:p>
        </p:txBody>
      </p:sp>
      <p:sp>
        <p:nvSpPr>
          <p:cNvPr id="3" name="내용 개체 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텍스트 개체 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smtClean="0"/>
              <a:t>마스터 텍스트 스타일을 편집합니다</a:t>
            </a:r>
          </a:p>
        </p:txBody>
      </p:sp>
      <p:sp>
        <p:nvSpPr>
          <p:cNvPr id="5" name="날짜 개체 틀 4"/>
          <p:cNvSpPr>
            <a:spLocks noGrp="1"/>
          </p:cNvSpPr>
          <p:nvPr>
            <p:ph type="dt" sz="half" idx="10"/>
          </p:nvPr>
        </p:nvSpPr>
        <p:spPr/>
        <p:txBody>
          <a:bodyPr/>
          <a:lstStyle/>
          <a:p>
            <a:fld id="{B4F136D0-AF3A-4860-84B5-2D4C3E1BBE37}"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3229994678"/>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4800600"/>
            <a:ext cx="5486400" cy="566738"/>
          </a:xfrm>
        </p:spPr>
        <p:txBody>
          <a:bodyPr anchor="b"/>
          <a:lstStyle>
            <a:lvl1pPr algn="l">
              <a:defRPr sz="2000" b="1"/>
            </a:lvl1pPr>
          </a:lstStyle>
          <a:p>
            <a:r>
              <a:rPr lang="ko-KR" altLang="en-US" smtClean="0"/>
              <a:t>마스터 제목 스타일 편집</a:t>
            </a:r>
            <a:endParaRPr lang="ko-KR" altLang="en-US"/>
          </a:p>
        </p:txBody>
      </p:sp>
      <p:sp>
        <p:nvSpPr>
          <p:cNvPr id="3" name="그림 개체 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smtClean="0"/>
              <a:t>마스터 텍스트 스타일을 편집합니다</a:t>
            </a:r>
          </a:p>
        </p:txBody>
      </p:sp>
      <p:sp>
        <p:nvSpPr>
          <p:cNvPr id="5" name="날짜 개체 틀 4"/>
          <p:cNvSpPr>
            <a:spLocks noGrp="1"/>
          </p:cNvSpPr>
          <p:nvPr>
            <p:ph type="dt" sz="half" idx="10"/>
          </p:nvPr>
        </p:nvSpPr>
        <p:spPr/>
        <p:txBody>
          <a:bodyPr/>
          <a:lstStyle/>
          <a:p>
            <a:fld id="{B38D2475-6A6B-4BB2-B65C-2E2CE677F868}"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3930681289"/>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세로 텍스트 개체 틀 2"/>
          <p:cNvSpPr>
            <a:spLocks noGrp="1"/>
          </p:cNvSpPr>
          <p:nvPr>
            <p:ph type="body" orient="vert" idx="1"/>
          </p:nvPr>
        </p:nvSpPr>
        <p:spPr/>
        <p:txBody>
          <a:bodyPr vert="eaVert"/>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16657CE8-B598-460B-B401-7964112461D6}"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1406840898"/>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74638"/>
            <a:ext cx="2057400" cy="5851525"/>
          </a:xfrm>
        </p:spPr>
        <p:txBody>
          <a:bodyPr vert="eaVert"/>
          <a:lstStyle/>
          <a:p>
            <a:r>
              <a:rPr lang="ko-KR" altLang="en-US" smtClean="0"/>
              <a:t>마스터 제목 스타일 편집</a:t>
            </a:r>
            <a:endParaRPr lang="ko-KR" altLang="en-US"/>
          </a:p>
        </p:txBody>
      </p:sp>
      <p:sp>
        <p:nvSpPr>
          <p:cNvPr id="3" name="세로 텍스트 개체 틀 2"/>
          <p:cNvSpPr>
            <a:spLocks noGrp="1"/>
          </p:cNvSpPr>
          <p:nvPr>
            <p:ph type="body" orient="vert" idx="1"/>
          </p:nvPr>
        </p:nvSpPr>
        <p:spPr>
          <a:xfrm>
            <a:off x="457200" y="274638"/>
            <a:ext cx="6019800" cy="5851525"/>
          </a:xfrm>
        </p:spPr>
        <p:txBody>
          <a:bodyPr vert="eaVert"/>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51025E5B-218B-49A8-854F-7AEE0537EE12}"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1081233749"/>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제목만 레이아웃">
    <p:spTree>
      <p:nvGrpSpPr>
        <p:cNvPr id="1" name=""/>
        <p:cNvGrpSpPr/>
        <p:nvPr/>
      </p:nvGrpSpPr>
      <p:grpSpPr>
        <a:xfrm>
          <a:off x="0" y="0"/>
          <a:ext cx="0" cy="0"/>
          <a:chOff x="0" y="0"/>
          <a:chExt cx="0" cy="0"/>
        </a:xfrm>
      </p:grpSpPr>
      <p:sp>
        <p:nvSpPr>
          <p:cNvPr id="2" name="제목 1"/>
          <p:cNvSpPr>
            <a:spLocks noGrp="1"/>
          </p:cNvSpPr>
          <p:nvPr>
            <p:ph type="title"/>
          </p:nvPr>
        </p:nvSpPr>
        <p:spPr>
          <a:xfrm>
            <a:off x="396000" y="126000"/>
            <a:ext cx="8352000" cy="522000"/>
          </a:xfrm>
        </p:spPr>
        <p:txBody>
          <a:bodyPr lIns="0" rIns="0">
            <a:normAutofit/>
          </a:bodyPr>
          <a:lstStyle>
            <a:lvl1pPr algn="l">
              <a:defRPr lang="ko-KR" altLang="en-US" sz="2800" i="1" kern="1200" dirty="0">
                <a:ln>
                  <a:solidFill>
                    <a:prstClr val="white">
                      <a:lumMod val="75000"/>
                    </a:prstClr>
                  </a:solidFill>
                </a:ln>
                <a:solidFill>
                  <a:srgbClr val="002060"/>
                </a:solidFill>
                <a:latin typeface="Arial Black" pitchFamily="34" charset="0"/>
                <a:ea typeface="+mn-ea"/>
                <a:cs typeface="Arial" pitchFamily="34" charset="0"/>
              </a:defRPr>
            </a:lvl1pPr>
          </a:lstStyle>
          <a:p>
            <a:r>
              <a:rPr lang="ko-KR" altLang="en-US" dirty="0" smtClean="0"/>
              <a:t>마스터 제목 스타일 편집</a:t>
            </a:r>
            <a:endParaRPr lang="ko-KR" altLang="en-US" dirty="0"/>
          </a:p>
        </p:txBody>
      </p:sp>
    </p:spTree>
    <p:extLst>
      <p:ext uri="{BB962C8B-B14F-4D97-AF65-F5344CB8AC3E}">
        <p14:creationId xmlns:p14="http://schemas.microsoft.com/office/powerpoint/2010/main" val="339135356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smtClean="0"/>
              <a:t>마스터 제목 스타일 편집</a:t>
            </a:r>
            <a:endParaRPr lang="ko-KR" altLang="en-US" dirty="0"/>
          </a:p>
        </p:txBody>
      </p:sp>
      <p:sp>
        <p:nvSpPr>
          <p:cNvPr id="3" name="날짜 개체 틀 2"/>
          <p:cNvSpPr>
            <a:spLocks noGrp="1"/>
          </p:cNvSpPr>
          <p:nvPr>
            <p:ph type="dt" sz="half" idx="10"/>
          </p:nvPr>
        </p:nvSpPr>
        <p:spPr/>
        <p:txBody>
          <a:bodyPr/>
          <a:lstStyle/>
          <a:p>
            <a:fld id="{A8F977D4-8A8B-4F39-84CC-05DB7346FD24}" type="datetime1">
              <a:rPr lang="ko-KR" altLang="en-US" smtClean="0"/>
              <a:pPr/>
              <a:t>2013-06-16</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3380696461"/>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2130425"/>
            <a:ext cx="7772400" cy="1470025"/>
          </a:xfrm>
        </p:spPr>
        <p:txBody>
          <a:bodyPr/>
          <a:lstStyle/>
          <a:p>
            <a:r>
              <a:rPr lang="ko-KR" altLang="en-US" smtClean="0"/>
              <a:t>마스터 제목 스타일 편집</a:t>
            </a:r>
            <a:endParaRPr lang="ko-KR" altLang="en-US"/>
          </a:p>
        </p:txBody>
      </p:sp>
      <p:sp>
        <p:nvSpPr>
          <p:cNvPr id="3" name="부제목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smtClean="0"/>
              <a:t>마스터 부제목 스타일 편집</a:t>
            </a:r>
            <a:endParaRPr lang="ko-KR" altLang="en-US"/>
          </a:p>
        </p:txBody>
      </p:sp>
      <p:sp>
        <p:nvSpPr>
          <p:cNvPr id="4" name="날짜 개체 틀 3"/>
          <p:cNvSpPr>
            <a:spLocks noGrp="1"/>
          </p:cNvSpPr>
          <p:nvPr>
            <p:ph type="dt" sz="half" idx="10"/>
          </p:nvPr>
        </p:nvSpPr>
        <p:spPr/>
        <p:txBody>
          <a:bodyPr/>
          <a:lstStyle/>
          <a:p>
            <a:fld id="{E518ED37-F00E-4C15-82B1-5F3689DC8B39}"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222506126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내용 개체 틀 2"/>
          <p:cNvSpPr>
            <a:spLocks noGrp="1"/>
          </p:cNvSpPr>
          <p:nvPr>
            <p:ph idx="1"/>
          </p:nvPr>
        </p:nvSpPr>
        <p:spPr/>
        <p:txBody>
          <a:body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6691D2AB-6946-4C5C-BC15-35E949B63055}"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23383029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4406900"/>
            <a:ext cx="7772400" cy="1362075"/>
          </a:xfrm>
        </p:spPr>
        <p:txBody>
          <a:bodyPr anchor="t"/>
          <a:lstStyle>
            <a:lvl1pPr algn="l">
              <a:defRPr sz="4000" b="1" cap="all"/>
            </a:lvl1p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smtClean="0"/>
              <a:t>마스터 텍스트 스타일을 편집합니다</a:t>
            </a:r>
          </a:p>
        </p:txBody>
      </p:sp>
      <p:sp>
        <p:nvSpPr>
          <p:cNvPr id="4" name="날짜 개체 틀 3"/>
          <p:cNvSpPr>
            <a:spLocks noGrp="1"/>
          </p:cNvSpPr>
          <p:nvPr>
            <p:ph type="dt" sz="half" idx="10"/>
          </p:nvPr>
        </p:nvSpPr>
        <p:spPr/>
        <p:txBody>
          <a:bodyPr/>
          <a:lstStyle/>
          <a:p>
            <a:fld id="{06AB89E8-EAF1-4D3B-BE2F-CE8FD65C9C92}"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31961916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내용 개체 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내용 개체 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5" name="날짜 개체 틀 4"/>
          <p:cNvSpPr>
            <a:spLocks noGrp="1"/>
          </p:cNvSpPr>
          <p:nvPr>
            <p:ph type="dt" sz="half" idx="10"/>
          </p:nvPr>
        </p:nvSpPr>
        <p:spPr/>
        <p:txBody>
          <a:bodyPr/>
          <a:lstStyle/>
          <a:p>
            <a:fld id="{EFE958C0-EAD8-401D-8471-57223DB2D3BA}"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150772850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smtClean="0"/>
              <a:t>마스터 텍스트 스타일을 편집합니다</a:t>
            </a:r>
          </a:p>
        </p:txBody>
      </p:sp>
      <p:sp>
        <p:nvSpPr>
          <p:cNvPr id="4" name="내용 개체 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5" name="텍스트 개체 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smtClean="0"/>
              <a:t>마스터 텍스트 스타일을 편집합니다</a:t>
            </a:r>
          </a:p>
        </p:txBody>
      </p:sp>
      <p:sp>
        <p:nvSpPr>
          <p:cNvPr id="6" name="내용 개체 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7" name="날짜 개체 틀 6"/>
          <p:cNvSpPr>
            <a:spLocks noGrp="1"/>
          </p:cNvSpPr>
          <p:nvPr>
            <p:ph type="dt" sz="half" idx="10"/>
          </p:nvPr>
        </p:nvSpPr>
        <p:spPr/>
        <p:txBody>
          <a:bodyPr/>
          <a:lstStyle/>
          <a:p>
            <a:fld id="{2EF30435-B955-4030-BBF5-5E5821A2EDB5}" type="datetime1">
              <a:rPr lang="ko-KR" altLang="en-US" smtClean="0"/>
              <a:pPr/>
              <a:t>2013-06-16</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16020515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날짜 개체 틀 2"/>
          <p:cNvSpPr>
            <a:spLocks noGrp="1"/>
          </p:cNvSpPr>
          <p:nvPr>
            <p:ph type="dt" sz="half" idx="10"/>
          </p:nvPr>
        </p:nvSpPr>
        <p:spPr/>
        <p:txBody>
          <a:bodyPr/>
          <a:lstStyle/>
          <a:p>
            <a:fld id="{6095E422-FD4A-456D-A50C-9BAABA91236E}" type="datetime1">
              <a:rPr lang="ko-KR" altLang="en-US" smtClean="0"/>
              <a:pPr/>
              <a:t>2013-06-16</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356360725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20BBB0CF-AD86-40DA-B7B4-E968CC5FEC3B}" type="datetime1">
              <a:rPr lang="ko-KR" altLang="en-US" smtClean="0"/>
              <a:pPr/>
              <a:t>2013-06-16</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119578819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00" y="273050"/>
            <a:ext cx="3008313" cy="1162050"/>
          </a:xfrm>
        </p:spPr>
        <p:txBody>
          <a:bodyPr anchor="b"/>
          <a:lstStyle>
            <a:lvl1pPr algn="l">
              <a:defRPr sz="2000" b="1"/>
            </a:lvl1pPr>
          </a:lstStyle>
          <a:p>
            <a:r>
              <a:rPr lang="ko-KR" altLang="en-US" smtClean="0"/>
              <a:t>마스터 제목 스타일 편집</a:t>
            </a:r>
            <a:endParaRPr lang="ko-KR" altLang="en-US"/>
          </a:p>
        </p:txBody>
      </p:sp>
      <p:sp>
        <p:nvSpPr>
          <p:cNvPr id="3" name="내용 개체 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텍스트 개체 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smtClean="0"/>
              <a:t>마스터 텍스트 스타일을 편집합니다</a:t>
            </a:r>
          </a:p>
        </p:txBody>
      </p:sp>
      <p:sp>
        <p:nvSpPr>
          <p:cNvPr id="5" name="날짜 개체 틀 4"/>
          <p:cNvSpPr>
            <a:spLocks noGrp="1"/>
          </p:cNvSpPr>
          <p:nvPr>
            <p:ph type="dt" sz="half" idx="10"/>
          </p:nvPr>
        </p:nvSpPr>
        <p:spPr/>
        <p:txBody>
          <a:bodyPr/>
          <a:lstStyle/>
          <a:p>
            <a:fld id="{8D96E723-35E5-405D-9CFC-CBE388667AD7}"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145981766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4800600"/>
            <a:ext cx="5486400" cy="566738"/>
          </a:xfrm>
        </p:spPr>
        <p:txBody>
          <a:bodyPr anchor="b"/>
          <a:lstStyle>
            <a:lvl1pPr algn="l">
              <a:defRPr sz="2000" b="1"/>
            </a:lvl1pPr>
          </a:lstStyle>
          <a:p>
            <a:r>
              <a:rPr lang="ko-KR" altLang="en-US" smtClean="0"/>
              <a:t>마스터 제목 스타일 편집</a:t>
            </a:r>
            <a:endParaRPr lang="ko-KR" altLang="en-US"/>
          </a:p>
        </p:txBody>
      </p:sp>
      <p:sp>
        <p:nvSpPr>
          <p:cNvPr id="3" name="그림 개체 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smtClean="0"/>
              <a:t>마스터 텍스트 스타일을 편집합니다</a:t>
            </a:r>
          </a:p>
        </p:txBody>
      </p:sp>
      <p:sp>
        <p:nvSpPr>
          <p:cNvPr id="5" name="날짜 개체 틀 4"/>
          <p:cNvSpPr>
            <a:spLocks noGrp="1"/>
          </p:cNvSpPr>
          <p:nvPr>
            <p:ph type="dt" sz="half" idx="10"/>
          </p:nvPr>
        </p:nvSpPr>
        <p:spPr/>
        <p:txBody>
          <a:bodyPr/>
          <a:lstStyle/>
          <a:p>
            <a:fld id="{9F3EACD1-4014-4229-86D7-FBD0D592F98A}"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2464855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세로 텍스트 개체 틀 2"/>
          <p:cNvSpPr>
            <a:spLocks noGrp="1"/>
          </p:cNvSpPr>
          <p:nvPr>
            <p:ph type="body" orient="vert" idx="1"/>
          </p:nvPr>
        </p:nvSpPr>
        <p:spPr/>
        <p:txBody>
          <a:bodyPr vert="eaVert"/>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BD2B71D7-0EAA-4352-B36F-19E074397240}"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157844483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74638"/>
            <a:ext cx="2057400" cy="5851525"/>
          </a:xfrm>
        </p:spPr>
        <p:txBody>
          <a:bodyPr vert="eaVert"/>
          <a:lstStyle/>
          <a:p>
            <a:r>
              <a:rPr lang="ko-KR" altLang="en-US" smtClean="0"/>
              <a:t>마스터 제목 스타일 편집</a:t>
            </a:r>
            <a:endParaRPr lang="ko-KR" altLang="en-US"/>
          </a:p>
        </p:txBody>
      </p:sp>
      <p:sp>
        <p:nvSpPr>
          <p:cNvPr id="3" name="세로 텍스트 개체 틀 2"/>
          <p:cNvSpPr>
            <a:spLocks noGrp="1"/>
          </p:cNvSpPr>
          <p:nvPr>
            <p:ph type="body" orient="vert" idx="1"/>
          </p:nvPr>
        </p:nvSpPr>
        <p:spPr>
          <a:xfrm>
            <a:off x="457200" y="274638"/>
            <a:ext cx="6019800" cy="5851525"/>
          </a:xfrm>
        </p:spPr>
        <p:txBody>
          <a:bodyPr vert="eaVert"/>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B864723D-03F6-4353-951E-239E57C35E1B}"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343189559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2130425"/>
            <a:ext cx="7772400" cy="1470025"/>
          </a:xfrm>
        </p:spPr>
        <p:txBody>
          <a:bodyPr/>
          <a:lstStyle/>
          <a:p>
            <a:r>
              <a:rPr lang="ko-KR" altLang="en-US" smtClean="0"/>
              <a:t>마스터 제목 스타일 편집</a:t>
            </a:r>
            <a:endParaRPr lang="ko-KR" altLang="en-US"/>
          </a:p>
        </p:txBody>
      </p:sp>
      <p:sp>
        <p:nvSpPr>
          <p:cNvPr id="3" name="부제목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smtClean="0"/>
              <a:t>마스터 부제목 스타일 편집</a:t>
            </a:r>
            <a:endParaRPr lang="ko-KR" altLang="en-US"/>
          </a:p>
        </p:txBody>
      </p:sp>
      <p:sp>
        <p:nvSpPr>
          <p:cNvPr id="4" name="날짜 개체 틀 3"/>
          <p:cNvSpPr>
            <a:spLocks noGrp="1"/>
          </p:cNvSpPr>
          <p:nvPr>
            <p:ph type="dt" sz="half" idx="10"/>
          </p:nvPr>
        </p:nvSpPr>
        <p:spPr/>
        <p:txBody>
          <a:bodyPr/>
          <a:lstStyle/>
          <a:p>
            <a:fld id="{DE2F29E3-7B3E-4054-9853-0A8F03984142}"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28467038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내용 개체 틀 2"/>
          <p:cNvSpPr>
            <a:spLocks noGrp="1"/>
          </p:cNvSpPr>
          <p:nvPr>
            <p:ph idx="1"/>
          </p:nvPr>
        </p:nvSpPr>
        <p:spPr/>
        <p:txBody>
          <a:body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FE14D8AC-CA11-4BA6-A8A5-A0D231F2FECF}"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14297831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4406900"/>
            <a:ext cx="7772400" cy="1362075"/>
          </a:xfrm>
        </p:spPr>
        <p:txBody>
          <a:bodyPr anchor="t"/>
          <a:lstStyle>
            <a:lvl1pPr algn="l">
              <a:defRPr sz="4000" b="1" cap="all"/>
            </a:lvl1p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smtClean="0"/>
              <a:t>마스터 텍스트 스타일을 편집합니다</a:t>
            </a:r>
          </a:p>
        </p:txBody>
      </p:sp>
      <p:sp>
        <p:nvSpPr>
          <p:cNvPr id="4" name="날짜 개체 틀 3"/>
          <p:cNvSpPr>
            <a:spLocks noGrp="1"/>
          </p:cNvSpPr>
          <p:nvPr>
            <p:ph type="dt" sz="half" idx="10"/>
          </p:nvPr>
        </p:nvSpPr>
        <p:spPr/>
        <p:txBody>
          <a:bodyPr/>
          <a:lstStyle/>
          <a:p>
            <a:fld id="{E4366471-7D95-41FE-B2F8-38FF78B23F5A}"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1497455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내용 개체 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내용 개체 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5" name="날짜 개체 틀 4"/>
          <p:cNvSpPr>
            <a:spLocks noGrp="1"/>
          </p:cNvSpPr>
          <p:nvPr>
            <p:ph type="dt" sz="half" idx="10"/>
          </p:nvPr>
        </p:nvSpPr>
        <p:spPr/>
        <p:txBody>
          <a:bodyPr/>
          <a:lstStyle/>
          <a:p>
            <a:fld id="{9BFC61DF-CE7B-4B5C-976D-2E218B49E893}"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21826116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smtClean="0"/>
              <a:t>마스터 텍스트 스타일을 편집합니다</a:t>
            </a:r>
          </a:p>
        </p:txBody>
      </p:sp>
      <p:sp>
        <p:nvSpPr>
          <p:cNvPr id="4" name="내용 개체 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5" name="텍스트 개체 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smtClean="0"/>
              <a:t>마스터 텍스트 스타일을 편집합니다</a:t>
            </a:r>
          </a:p>
        </p:txBody>
      </p:sp>
      <p:sp>
        <p:nvSpPr>
          <p:cNvPr id="6" name="내용 개체 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7" name="날짜 개체 틀 6"/>
          <p:cNvSpPr>
            <a:spLocks noGrp="1"/>
          </p:cNvSpPr>
          <p:nvPr>
            <p:ph type="dt" sz="half" idx="10"/>
          </p:nvPr>
        </p:nvSpPr>
        <p:spPr/>
        <p:txBody>
          <a:bodyPr/>
          <a:lstStyle/>
          <a:p>
            <a:fld id="{DA2C3571-F2E0-4A41-9F37-291FC1641174}" type="datetime1">
              <a:rPr lang="ko-KR" altLang="en-US" smtClean="0"/>
              <a:pPr/>
              <a:t>2013-06-16</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155768682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날짜 개체 틀 2"/>
          <p:cNvSpPr>
            <a:spLocks noGrp="1"/>
          </p:cNvSpPr>
          <p:nvPr>
            <p:ph type="dt" sz="half" idx="10"/>
          </p:nvPr>
        </p:nvSpPr>
        <p:spPr/>
        <p:txBody>
          <a:bodyPr/>
          <a:lstStyle/>
          <a:p>
            <a:fld id="{3BFD10AE-4C2F-4A4B-935A-E2640A4B9DA2}" type="datetime1">
              <a:rPr lang="ko-KR" altLang="en-US" smtClean="0"/>
              <a:pPr/>
              <a:t>2013-06-16</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393013079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D407BC60-E05A-454E-90C9-D48F5389DB07}" type="datetime1">
              <a:rPr lang="ko-KR" altLang="en-US" smtClean="0"/>
              <a:pPr/>
              <a:t>2013-06-16</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369738457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00" y="273050"/>
            <a:ext cx="3008313" cy="1162050"/>
          </a:xfrm>
        </p:spPr>
        <p:txBody>
          <a:bodyPr anchor="b"/>
          <a:lstStyle>
            <a:lvl1pPr algn="l">
              <a:defRPr sz="2000" b="1"/>
            </a:lvl1pPr>
          </a:lstStyle>
          <a:p>
            <a:r>
              <a:rPr lang="ko-KR" altLang="en-US" smtClean="0"/>
              <a:t>마스터 제목 스타일 편집</a:t>
            </a:r>
            <a:endParaRPr lang="ko-KR" altLang="en-US"/>
          </a:p>
        </p:txBody>
      </p:sp>
      <p:sp>
        <p:nvSpPr>
          <p:cNvPr id="3" name="내용 개체 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텍스트 개체 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smtClean="0"/>
              <a:t>마스터 텍스트 스타일을 편집합니다</a:t>
            </a:r>
          </a:p>
        </p:txBody>
      </p:sp>
      <p:sp>
        <p:nvSpPr>
          <p:cNvPr id="5" name="날짜 개체 틀 4"/>
          <p:cNvSpPr>
            <a:spLocks noGrp="1"/>
          </p:cNvSpPr>
          <p:nvPr>
            <p:ph type="dt" sz="half" idx="10"/>
          </p:nvPr>
        </p:nvSpPr>
        <p:spPr/>
        <p:txBody>
          <a:bodyPr/>
          <a:lstStyle/>
          <a:p>
            <a:fld id="{8A3710CD-D6AA-4C69-8EFD-1AD0E7FB7830}"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18944038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4800600"/>
            <a:ext cx="5486400" cy="566738"/>
          </a:xfrm>
        </p:spPr>
        <p:txBody>
          <a:bodyPr anchor="b"/>
          <a:lstStyle>
            <a:lvl1pPr algn="l">
              <a:defRPr sz="2000" b="1"/>
            </a:lvl1pPr>
          </a:lstStyle>
          <a:p>
            <a:r>
              <a:rPr lang="ko-KR" altLang="en-US" smtClean="0"/>
              <a:t>마스터 제목 스타일 편집</a:t>
            </a:r>
            <a:endParaRPr lang="ko-KR" altLang="en-US"/>
          </a:p>
        </p:txBody>
      </p:sp>
      <p:sp>
        <p:nvSpPr>
          <p:cNvPr id="3" name="그림 개체 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smtClean="0"/>
              <a:t>마스터 텍스트 스타일을 편집합니다</a:t>
            </a:r>
          </a:p>
        </p:txBody>
      </p:sp>
      <p:sp>
        <p:nvSpPr>
          <p:cNvPr id="5" name="날짜 개체 틀 4"/>
          <p:cNvSpPr>
            <a:spLocks noGrp="1"/>
          </p:cNvSpPr>
          <p:nvPr>
            <p:ph type="dt" sz="half" idx="10"/>
          </p:nvPr>
        </p:nvSpPr>
        <p:spPr/>
        <p:txBody>
          <a:bodyPr/>
          <a:lstStyle/>
          <a:p>
            <a:fld id="{13004C9E-CD5D-4B02-9606-D472102944A9}"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184637744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세로 텍스트 개체 틀 2"/>
          <p:cNvSpPr>
            <a:spLocks noGrp="1"/>
          </p:cNvSpPr>
          <p:nvPr>
            <p:ph type="body" orient="vert" idx="1"/>
          </p:nvPr>
        </p:nvSpPr>
        <p:spPr/>
        <p:txBody>
          <a:bodyPr vert="eaVert"/>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10C9E370-5CAD-41E1-965D-A215B2FA6B79}"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111049285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74638"/>
            <a:ext cx="2057400" cy="5851525"/>
          </a:xfrm>
        </p:spPr>
        <p:txBody>
          <a:bodyPr vert="eaVert"/>
          <a:lstStyle/>
          <a:p>
            <a:r>
              <a:rPr lang="ko-KR" altLang="en-US" smtClean="0"/>
              <a:t>마스터 제목 스타일 편집</a:t>
            </a:r>
            <a:endParaRPr lang="ko-KR" altLang="en-US"/>
          </a:p>
        </p:txBody>
      </p:sp>
      <p:sp>
        <p:nvSpPr>
          <p:cNvPr id="3" name="세로 텍스트 개체 틀 2"/>
          <p:cNvSpPr>
            <a:spLocks noGrp="1"/>
          </p:cNvSpPr>
          <p:nvPr>
            <p:ph type="body" orient="vert" idx="1"/>
          </p:nvPr>
        </p:nvSpPr>
        <p:spPr>
          <a:xfrm>
            <a:off x="457200" y="274638"/>
            <a:ext cx="6019800" cy="5851525"/>
          </a:xfrm>
        </p:spPr>
        <p:txBody>
          <a:bodyPr vert="eaVert"/>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87C47AC0-CD8D-4A8C-BF57-D5B2EA4CFE61}"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35642793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theme" Target="../theme/theme3.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ko-KR" altLang="en-US" dirty="0" smtClean="0"/>
              <a:t>마스터 제목 스타일 편집</a:t>
            </a:r>
            <a:endParaRPr lang="ko-KR" altLang="en-US" dirty="0"/>
          </a:p>
        </p:txBody>
      </p:sp>
      <p:sp>
        <p:nvSpPr>
          <p:cNvPr id="3" name="텍스트 개체 틀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B9987C7-1BC7-42BF-99BB-CC1791DAC9F4}" type="datetime1">
              <a:rPr lang="ko-KR" altLang="en-US" smtClean="0"/>
              <a:pPr/>
              <a:t>2013-06-16</a:t>
            </a:fld>
            <a:endParaRPr lang="ko-KR" altLang="en-US"/>
          </a:p>
        </p:txBody>
      </p:sp>
      <p:sp>
        <p:nvSpPr>
          <p:cNvPr id="5" name="바닥글 개체 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27328430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hf hdr="0" ftr="0" dt="0"/>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7E8DE44-0E2B-45D6-AE7D-730721918369}" type="datetime1">
              <a:rPr lang="ko-KR" altLang="en-US" smtClean="0"/>
              <a:pPr/>
              <a:t>2013-06-16</a:t>
            </a:fld>
            <a:endParaRPr lang="ko-KR" altLang="en-US"/>
          </a:p>
        </p:txBody>
      </p:sp>
      <p:sp>
        <p:nvSpPr>
          <p:cNvPr id="5" name="바닥글 개체 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4201857191"/>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Lst>
  <p:timing>
    <p:tnLst>
      <p:par>
        <p:cTn id="1" dur="indefinite" restart="never" nodeType="tmRoot"/>
      </p:par>
    </p:tnLst>
  </p:timing>
  <p:hf hdr="0" ftr="0" dt="0"/>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F4F015C-FF5D-48DA-9D73-DE8076F33200}" type="datetime1">
              <a:rPr lang="ko-KR" altLang="en-US" smtClean="0"/>
              <a:pPr/>
              <a:t>2013-06-16</a:t>
            </a:fld>
            <a:endParaRPr lang="ko-KR" altLang="en-US"/>
          </a:p>
        </p:txBody>
      </p:sp>
      <p:sp>
        <p:nvSpPr>
          <p:cNvPr id="5" name="바닥글 개체 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115499200"/>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Lst>
  <p:timing>
    <p:tnLst>
      <p:par>
        <p:cTn id="1" dur="indefinite" restart="never" nodeType="tmRoot"/>
      </p:par>
    </p:tnLst>
  </p:timing>
  <p:hf hdr="0" ftr="0" dt="0"/>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jpe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10.jpeg"/></Relationships>
</file>

<file path=ppt/slides/_rels/slide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19.jpeg"/></Relationships>
</file>

<file path=ppt/slides/_rels/slide1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31.png"/><Relationship Id="rId3" Type="http://schemas.openxmlformats.org/officeDocument/2006/relationships/image" Target="../media/image21.png"/><Relationship Id="rId7" Type="http://schemas.openxmlformats.org/officeDocument/2006/relationships/image" Target="../media/image25.png"/><Relationship Id="rId12"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image" Target="../media/image24.png"/><Relationship Id="rId11" Type="http://schemas.openxmlformats.org/officeDocument/2006/relationships/image" Target="../media/image29.png"/><Relationship Id="rId5" Type="http://schemas.openxmlformats.org/officeDocument/2006/relationships/image" Target="../media/image23.png"/><Relationship Id="rId10" Type="http://schemas.openxmlformats.org/officeDocument/2006/relationships/image" Target="../media/image28.png"/><Relationship Id="rId4" Type="http://schemas.openxmlformats.org/officeDocument/2006/relationships/image" Target="../media/image22.png"/><Relationship Id="rId9" Type="http://schemas.openxmlformats.org/officeDocument/2006/relationships/image" Target="../media/image27.png"/></Relationships>
</file>

<file path=ppt/slides/_rels/slide19.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42.png"/><Relationship Id="rId18" Type="http://schemas.openxmlformats.org/officeDocument/2006/relationships/image" Target="../media/image47.png"/><Relationship Id="rId3" Type="http://schemas.openxmlformats.org/officeDocument/2006/relationships/image" Target="../media/image32.jpeg"/><Relationship Id="rId21" Type="http://schemas.openxmlformats.org/officeDocument/2006/relationships/image" Target="../media/image50.png"/><Relationship Id="rId7" Type="http://schemas.openxmlformats.org/officeDocument/2006/relationships/image" Target="../media/image36.png"/><Relationship Id="rId12" Type="http://schemas.openxmlformats.org/officeDocument/2006/relationships/image" Target="../media/image41.png"/><Relationship Id="rId17" Type="http://schemas.openxmlformats.org/officeDocument/2006/relationships/image" Target="../media/image46.png"/><Relationship Id="rId2" Type="http://schemas.openxmlformats.org/officeDocument/2006/relationships/notesSlide" Target="../notesSlides/notesSlide19.xml"/><Relationship Id="rId16" Type="http://schemas.openxmlformats.org/officeDocument/2006/relationships/image" Target="../media/image45.png"/><Relationship Id="rId20" Type="http://schemas.openxmlformats.org/officeDocument/2006/relationships/image" Target="../media/image49.png"/><Relationship Id="rId1" Type="http://schemas.openxmlformats.org/officeDocument/2006/relationships/slideLayout" Target="../slideLayouts/slideLayout12.xml"/><Relationship Id="rId6" Type="http://schemas.openxmlformats.org/officeDocument/2006/relationships/image" Target="../media/image35.png"/><Relationship Id="rId11" Type="http://schemas.openxmlformats.org/officeDocument/2006/relationships/image" Target="../media/image40.png"/><Relationship Id="rId5" Type="http://schemas.openxmlformats.org/officeDocument/2006/relationships/image" Target="../media/image34.png"/><Relationship Id="rId15" Type="http://schemas.openxmlformats.org/officeDocument/2006/relationships/image" Target="../media/image44.png"/><Relationship Id="rId23" Type="http://schemas.openxmlformats.org/officeDocument/2006/relationships/image" Target="../media/image52.png"/><Relationship Id="rId10" Type="http://schemas.openxmlformats.org/officeDocument/2006/relationships/image" Target="../media/image39.png"/><Relationship Id="rId19" Type="http://schemas.openxmlformats.org/officeDocument/2006/relationships/image" Target="../media/image48.png"/><Relationship Id="rId4" Type="http://schemas.openxmlformats.org/officeDocument/2006/relationships/image" Target="../media/image33.png"/><Relationship Id="rId9" Type="http://schemas.openxmlformats.org/officeDocument/2006/relationships/image" Target="../media/image38.png"/><Relationship Id="rId14" Type="http://schemas.openxmlformats.org/officeDocument/2006/relationships/image" Target="../media/image43.png"/><Relationship Id="rId22" Type="http://schemas.openxmlformats.org/officeDocument/2006/relationships/image" Target="../media/image51.png"/></Relationships>
</file>

<file path=ppt/slides/_rels/slide2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55.png"/><Relationship Id="rId4" Type="http://schemas.openxmlformats.org/officeDocument/2006/relationships/image" Target="../media/image54.png"/></Relationships>
</file>

<file path=ppt/slides/_rels/slide2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57.png"/></Relationships>
</file>

<file path=ppt/slides/_rels/slide2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59.png"/></Relationships>
</file>

<file path=ppt/slides/_rels/slide2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p:txBody>
          <a:bodyPr/>
          <a:lstStyle/>
          <a:p>
            <a:r>
              <a:rPr lang="en-US" altLang="ko-KR" dirty="0" smtClean="0">
                <a:latin typeface="Tahoma" pitchFamily="34" charset="0"/>
                <a:ea typeface="Tahoma" pitchFamily="34" charset="0"/>
                <a:cs typeface="Tahoma" pitchFamily="34" charset="0"/>
              </a:rPr>
              <a:t>Facteurs habilitants Smart en Corée</a:t>
            </a:r>
            <a:endParaRPr lang="ko-KR" altLang="en-US" dirty="0">
              <a:latin typeface="Tahoma" pitchFamily="34" charset="0"/>
              <a:cs typeface="Tahoma" pitchFamily="34" charset="0"/>
            </a:endParaRPr>
          </a:p>
        </p:txBody>
      </p:sp>
      <p:sp>
        <p:nvSpPr>
          <p:cNvPr id="3" name="부제목 2"/>
          <p:cNvSpPr>
            <a:spLocks noGrp="1"/>
          </p:cNvSpPr>
          <p:nvPr>
            <p:ph type="subTitle" idx="1"/>
          </p:nvPr>
        </p:nvSpPr>
        <p:spPr/>
        <p:txBody>
          <a:bodyPr/>
          <a:lstStyle/>
          <a:p>
            <a:r>
              <a:rPr lang="en-US" altLang="ko-KR" dirty="0" smtClean="0">
                <a:latin typeface="Tahoma" pitchFamily="34" charset="0"/>
                <a:ea typeface="Tahoma" pitchFamily="34" charset="0"/>
                <a:cs typeface="Tahoma" pitchFamily="34" charset="0"/>
              </a:rPr>
              <a:t>NIA</a:t>
            </a:r>
          </a:p>
          <a:p>
            <a:r>
              <a:rPr lang="en-US" altLang="ko-KR" dirty="0" smtClean="0">
                <a:latin typeface="Tahoma" pitchFamily="34" charset="0"/>
                <a:ea typeface="Tahoma" pitchFamily="34" charset="0"/>
                <a:cs typeface="Tahoma" pitchFamily="34" charset="0"/>
              </a:rPr>
              <a:t>Dr. </a:t>
            </a:r>
            <a:r>
              <a:rPr lang="en-US" altLang="ko-KR" dirty="0" err="1" smtClean="0">
                <a:latin typeface="Tahoma" pitchFamily="34" charset="0"/>
                <a:ea typeface="Tahoma" pitchFamily="34" charset="0"/>
                <a:cs typeface="Tahoma" pitchFamily="34" charset="0"/>
              </a:rPr>
              <a:t>Wanil</a:t>
            </a:r>
            <a:r>
              <a:rPr lang="en-US" altLang="ko-KR" dirty="0" smtClean="0">
                <a:latin typeface="Tahoma" pitchFamily="34" charset="0"/>
                <a:ea typeface="Tahoma" pitchFamily="34" charset="0"/>
                <a:cs typeface="Tahoma" pitchFamily="34" charset="0"/>
              </a:rPr>
              <a:t> Choi</a:t>
            </a:r>
            <a:endParaRPr lang="ko-KR" altLang="en-US" dirty="0">
              <a:latin typeface="Tahoma" pitchFamily="34" charset="0"/>
              <a:cs typeface="Tahoma" pitchFamily="34" charset="0"/>
            </a:endParaRPr>
          </a:p>
        </p:txBody>
      </p:sp>
      <p:pic>
        <p:nvPicPr>
          <p:cNvPr id="5" name="그림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pic>
        <p:nvPicPr>
          <p:cNvPr id="6" name="Picture 2" descr="I:\★Clipart★\logo\한국정보화진흥원\국문_상하_A [Converted].png"/>
          <p:cNvPicPr>
            <a:picLocks noChangeAspect="1" noChangeArrowheads="1"/>
          </p:cNvPicPr>
          <p:nvPr/>
        </p:nvPicPr>
        <p:blipFill>
          <a:blip r:embed="rId4" cstate="print"/>
          <a:srcRect/>
          <a:stretch>
            <a:fillRect/>
          </a:stretch>
        </p:blipFill>
        <p:spPr bwMode="auto">
          <a:xfrm>
            <a:off x="7740352" y="5877272"/>
            <a:ext cx="1152128" cy="809435"/>
          </a:xfrm>
          <a:prstGeom prst="rect">
            <a:avLst/>
          </a:prstGeom>
          <a:noFill/>
        </p:spPr>
      </p:pic>
      <p:sp>
        <p:nvSpPr>
          <p:cNvPr id="7" name="AutoShape 9"/>
          <p:cNvSpPr>
            <a:spLocks noChangeArrowheads="1"/>
          </p:cNvSpPr>
          <p:nvPr/>
        </p:nvSpPr>
        <p:spPr bwMode="auto">
          <a:xfrm>
            <a:off x="5854107" y="2775595"/>
            <a:ext cx="2592288" cy="360040"/>
          </a:xfrm>
          <a:prstGeom prst="roundRect">
            <a:avLst>
              <a:gd name="adj" fmla="val 16667"/>
            </a:avLst>
          </a:prstGeom>
          <a:solidFill>
            <a:schemeClr val="bg2">
              <a:lumMod val="25000"/>
            </a:schemeClr>
          </a:solidFill>
          <a:ln w="9525">
            <a:noFill/>
            <a:round/>
            <a:headEnd/>
            <a:tailEnd/>
          </a:ln>
        </p:spPr>
        <p:txBody>
          <a:bodyPr wrap="none" anchor="ctr"/>
          <a:lstStyle/>
          <a:p>
            <a:pPr marL="304800" indent="-304800" algn="ctr"/>
            <a:r>
              <a:rPr lang="en-US" altLang="ko-KR" sz="2000" dirty="0" smtClean="0">
                <a:ln>
                  <a:solidFill>
                    <a:schemeClr val="bg1">
                      <a:alpha val="5000"/>
                    </a:schemeClr>
                  </a:solidFill>
                </a:ln>
                <a:solidFill>
                  <a:schemeClr val="bg1"/>
                </a:solidFill>
                <a:latin typeface="나눔고딕 ExtraBold" pitchFamily="50" charset="-127"/>
                <a:ea typeface="나눔고딕 ExtraBold" pitchFamily="50" charset="-127"/>
                <a:cs typeface="Arial" pitchFamily="34" charset="0"/>
              </a:rPr>
              <a:t>June  17, 2013</a:t>
            </a:r>
            <a:endParaRPr lang="ko-KR" altLang="en-US" sz="2000" dirty="0">
              <a:ln>
                <a:solidFill>
                  <a:schemeClr val="bg1">
                    <a:alpha val="5000"/>
                  </a:schemeClr>
                </a:solidFill>
              </a:ln>
              <a:solidFill>
                <a:schemeClr val="bg1"/>
              </a:solidFill>
              <a:latin typeface="나눔고딕 ExtraBold" pitchFamily="50" charset="-127"/>
              <a:ea typeface="나눔고딕 ExtraBold" pitchFamily="50" charset="-127"/>
              <a:cs typeface="Arial" pitchFamily="34" charset="0"/>
            </a:endParaRPr>
          </a:p>
        </p:txBody>
      </p:sp>
      <p:sp>
        <p:nvSpPr>
          <p:cNvPr id="8" name="TextBox 7"/>
          <p:cNvSpPr txBox="1"/>
          <p:nvPr/>
        </p:nvSpPr>
        <p:spPr>
          <a:xfrm>
            <a:off x="2108870" y="1231940"/>
            <a:ext cx="6984776" cy="707886"/>
          </a:xfrm>
          <a:prstGeom prst="rect">
            <a:avLst/>
          </a:prstGeom>
          <a:noFill/>
        </p:spPr>
        <p:txBody>
          <a:bodyPr wrap="square" rtlCol="0">
            <a:spAutoFit/>
          </a:bodyPr>
          <a:lstStyle/>
          <a:p>
            <a:pPr algn="ctr"/>
            <a:r>
              <a:rPr lang="en-US" altLang="ko-KR" sz="4000" b="1" dirty="0" smtClean="0">
                <a:ln>
                  <a:solidFill>
                    <a:schemeClr val="bg1">
                      <a:alpha val="5000"/>
                    </a:schemeClr>
                  </a:solidFill>
                </a:ln>
                <a:solidFill>
                  <a:schemeClr val="bg2">
                    <a:lumMod val="50000"/>
                  </a:schemeClr>
                </a:solidFill>
                <a:latin typeface="나눔고딕 ExtraBold" pitchFamily="50" charset="-127"/>
                <a:ea typeface="나눔고딕 ExtraBold" pitchFamily="50" charset="-127"/>
                <a:cs typeface="Arial" pitchFamily="34" charset="0"/>
              </a:rPr>
              <a:t>Facteurs habilitants Smart </a:t>
            </a:r>
          </a:p>
        </p:txBody>
      </p:sp>
      <p:sp>
        <p:nvSpPr>
          <p:cNvPr id="9" name="직사각형 8"/>
          <p:cNvSpPr/>
          <p:nvPr/>
        </p:nvSpPr>
        <p:spPr>
          <a:xfrm>
            <a:off x="0" y="1340768"/>
            <a:ext cx="2195736" cy="504056"/>
          </a:xfrm>
          <a:prstGeom prst="rect">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나눔고딕 ExtraBold" pitchFamily="50" charset="-127"/>
              <a:ea typeface="나눔고딕 ExtraBold" pitchFamily="50" charset="-127"/>
            </a:endParaRPr>
          </a:p>
        </p:txBody>
      </p:sp>
      <p:sp>
        <p:nvSpPr>
          <p:cNvPr id="10" name="TextBox 9"/>
          <p:cNvSpPr txBox="1"/>
          <p:nvPr/>
        </p:nvSpPr>
        <p:spPr>
          <a:xfrm>
            <a:off x="3030116" y="1907307"/>
            <a:ext cx="5832648" cy="646331"/>
          </a:xfrm>
          <a:prstGeom prst="rect">
            <a:avLst/>
          </a:prstGeom>
          <a:noFill/>
        </p:spPr>
        <p:txBody>
          <a:bodyPr wrap="square" rtlCol="0">
            <a:spAutoFit/>
          </a:bodyPr>
          <a:lstStyle/>
          <a:p>
            <a:pPr algn="ctr"/>
            <a:r>
              <a:rPr lang="en-US" altLang="ko-KR" sz="3600" dirty="0" smtClean="0">
                <a:ln>
                  <a:solidFill>
                    <a:schemeClr val="bg1">
                      <a:alpha val="5000"/>
                    </a:schemeClr>
                  </a:solidFill>
                </a:ln>
                <a:solidFill>
                  <a:schemeClr val="bg2">
                    <a:lumMod val="50000"/>
                  </a:schemeClr>
                </a:solidFill>
                <a:latin typeface="나눔고딕 ExtraBold" pitchFamily="50" charset="-127"/>
                <a:ea typeface="나눔고딕 ExtraBold" pitchFamily="50" charset="-127"/>
                <a:cs typeface="Arial" pitchFamily="34" charset="0"/>
              </a:rPr>
              <a:t>- Cas de la Corée</a:t>
            </a:r>
            <a:endParaRPr lang="ko-KR" altLang="en-US" sz="3600" dirty="0" smtClean="0">
              <a:ln>
                <a:solidFill>
                  <a:schemeClr val="bg1">
                    <a:alpha val="5000"/>
                  </a:schemeClr>
                </a:solidFill>
              </a:ln>
              <a:solidFill>
                <a:schemeClr val="bg2">
                  <a:lumMod val="50000"/>
                </a:schemeClr>
              </a:solidFill>
              <a:latin typeface="나눔고딕 ExtraBold" pitchFamily="50" charset="-127"/>
              <a:ea typeface="나눔고딕 ExtraBold" pitchFamily="50" charset="-127"/>
              <a:cs typeface="Arial" pitchFamily="34" charset="0"/>
            </a:endParaRPr>
          </a:p>
        </p:txBody>
      </p:sp>
      <p:sp>
        <p:nvSpPr>
          <p:cNvPr id="11" name="제목 1"/>
          <p:cNvSpPr txBox="1">
            <a:spLocks/>
          </p:cNvSpPr>
          <p:nvPr/>
        </p:nvSpPr>
        <p:spPr>
          <a:xfrm>
            <a:off x="3707904" y="3284984"/>
            <a:ext cx="4824536" cy="1512168"/>
          </a:xfrm>
          <a:prstGeom prst="rect">
            <a:avLst/>
          </a:prstGeom>
        </p:spPr>
        <p:txBody>
          <a:bodyPr vert="horz" lIns="91440" tIns="45720" rIns="91440" bIns="45720" rtlCol="0" anchor="ctr">
            <a:noAutofit/>
            <a:scene3d>
              <a:camera prst="orthographicFront"/>
              <a:lightRig rig="threePt" dir="t"/>
            </a:scene3d>
            <a:sp3d>
              <a:contourClr>
                <a:schemeClr val="bg1"/>
              </a:contourClr>
            </a:sp3d>
          </a:bodyPr>
          <a:lstStyle>
            <a:lvl1pPr algn="ctr" defTabSz="914400" rtl="0" eaLnBrk="1" latinLnBrk="1" hangingPunct="1">
              <a:spcBef>
                <a:spcPct val="0"/>
              </a:spcBef>
              <a:buNone/>
              <a:defRPr sz="5400" b="1" kern="1200" spc="0">
                <a:ln>
                  <a:solidFill>
                    <a:schemeClr val="bg1">
                      <a:alpha val="5000"/>
                    </a:schemeClr>
                  </a:solidFill>
                </a:ln>
                <a:gradFill flip="none" rotWithShape="1">
                  <a:gsLst>
                    <a:gs pos="0">
                      <a:schemeClr val="tx1">
                        <a:lumMod val="50000"/>
                        <a:lumOff val="50000"/>
                        <a:shade val="30000"/>
                        <a:satMod val="115000"/>
                      </a:schemeClr>
                    </a:gs>
                    <a:gs pos="50000">
                      <a:schemeClr val="tx1">
                        <a:lumMod val="50000"/>
                        <a:lumOff val="50000"/>
                        <a:shade val="67500"/>
                        <a:satMod val="115000"/>
                      </a:schemeClr>
                    </a:gs>
                    <a:gs pos="100000">
                      <a:schemeClr val="tx1">
                        <a:lumMod val="50000"/>
                        <a:lumOff val="50000"/>
                        <a:shade val="100000"/>
                        <a:satMod val="115000"/>
                      </a:schemeClr>
                    </a:gs>
                  </a:gsLst>
                  <a:lin ang="16200000" scaled="1"/>
                  <a:tileRect/>
                </a:gradFill>
                <a:effectLst/>
                <a:latin typeface="+mj-lt"/>
                <a:ea typeface="+mj-ea"/>
                <a:cs typeface="+mj-cs"/>
              </a:defRPr>
            </a:lvl1pPr>
          </a:lstStyle>
          <a:p>
            <a:pPr algn="r"/>
            <a:r>
              <a:rPr lang="en-US" altLang="ko-KR" sz="2800" dirty="0" err="1" smtClean="0">
                <a:solidFill>
                  <a:schemeClr val="tx1">
                    <a:lumMod val="65000"/>
                    <a:lumOff val="35000"/>
                  </a:schemeClr>
                </a:solidFill>
                <a:latin typeface="나눔고딕 ExtraBold" pitchFamily="50" charset="-127"/>
                <a:ea typeface="나눔고딕 ExtraBold" pitchFamily="50" charset="-127"/>
              </a:rPr>
              <a:t>Wanil</a:t>
            </a:r>
            <a:r>
              <a:rPr lang="en-US" altLang="ko-KR" sz="2800" dirty="0" smtClean="0">
                <a:solidFill>
                  <a:schemeClr val="tx1">
                    <a:lumMod val="65000"/>
                    <a:lumOff val="35000"/>
                  </a:schemeClr>
                </a:solidFill>
                <a:latin typeface="나눔고딕 ExtraBold" pitchFamily="50" charset="-127"/>
                <a:ea typeface="나눔고딕 ExtraBold" pitchFamily="50" charset="-127"/>
              </a:rPr>
              <a:t> Choi</a:t>
            </a:r>
          </a:p>
          <a:p>
            <a:pPr algn="r"/>
            <a:endParaRPr lang="ko-KR" altLang="en-US" sz="1200" dirty="0">
              <a:solidFill>
                <a:schemeClr val="tx1">
                  <a:lumMod val="65000"/>
                  <a:lumOff val="35000"/>
                </a:schemeClr>
              </a:solidFill>
              <a:latin typeface="나눔고딕 ExtraBold" pitchFamily="50" charset="-127"/>
              <a:ea typeface="나눔고딕 ExtraBold" pitchFamily="50" charset="-127"/>
            </a:endParaRPr>
          </a:p>
          <a:p>
            <a:pPr algn="r"/>
            <a:r>
              <a:rPr lang="en-US" altLang="ko-KR" sz="1600" dirty="0" smtClean="0">
                <a:solidFill>
                  <a:schemeClr val="tx1">
                    <a:lumMod val="65000"/>
                    <a:lumOff val="35000"/>
                  </a:schemeClr>
                </a:solidFill>
                <a:latin typeface="나눔고딕 ExtraBold" pitchFamily="50" charset="-127"/>
                <a:ea typeface="나눔고딕 ExtraBold" pitchFamily="50" charset="-127"/>
              </a:rPr>
              <a:t>Chercheur / </a:t>
            </a:r>
            <a:r>
              <a:rPr lang="en-US" altLang="ko-KR" sz="1600" dirty="0" err="1" smtClean="0">
                <a:solidFill>
                  <a:schemeClr val="tx1">
                    <a:lumMod val="65000"/>
                    <a:lumOff val="35000"/>
                  </a:schemeClr>
                </a:solidFill>
                <a:latin typeface="나눔고딕 ExtraBold" pitchFamily="50" charset="-127"/>
                <a:ea typeface="나눔고딕 ExtraBold" pitchFamily="50" charset="-127"/>
              </a:rPr>
              <a:t>Ph.D</a:t>
            </a:r>
            <a:endParaRPr lang="en-US" altLang="ko-KR" sz="1600" dirty="0" smtClean="0">
              <a:solidFill>
                <a:schemeClr val="tx1">
                  <a:lumMod val="65000"/>
                  <a:lumOff val="35000"/>
                </a:schemeClr>
              </a:solidFill>
              <a:latin typeface="나눔고딕 ExtraBold" pitchFamily="50" charset="-127"/>
              <a:ea typeface="나눔고딕 ExtraBold" pitchFamily="50" charset="-127"/>
            </a:endParaRPr>
          </a:p>
          <a:p>
            <a:pPr algn="r"/>
            <a:r>
              <a:rPr lang="en-US" altLang="ko-KR" sz="1600" dirty="0" smtClean="0">
                <a:solidFill>
                  <a:schemeClr val="tx1">
                    <a:lumMod val="65000"/>
                    <a:lumOff val="35000"/>
                  </a:schemeClr>
                </a:solidFill>
                <a:latin typeface="나눔고딕 ExtraBold" pitchFamily="50" charset="-127"/>
                <a:ea typeface="나눔고딕 ExtraBold" pitchFamily="50" charset="-127"/>
              </a:rPr>
              <a:t>Agence nationale de la société de l'information</a:t>
            </a:r>
          </a:p>
        </p:txBody>
      </p:sp>
      <p:sp>
        <p:nvSpPr>
          <p:cNvPr id="12" name="직사각형 11"/>
          <p:cNvSpPr/>
          <p:nvPr/>
        </p:nvSpPr>
        <p:spPr>
          <a:xfrm>
            <a:off x="0" y="5834"/>
            <a:ext cx="3680816" cy="369332"/>
          </a:xfrm>
          <a:prstGeom prst="rect">
            <a:avLst/>
          </a:prstGeom>
        </p:spPr>
        <p:txBody>
          <a:bodyPr wrap="none">
            <a:spAutoFit/>
          </a:bodyPr>
          <a:lstStyle/>
          <a:p>
            <a:r>
              <a:rPr lang="en-US" altLang="ko-KR" i="1" dirty="0" smtClean="0">
                <a:solidFill>
                  <a:schemeClr val="tx1">
                    <a:lumMod val="65000"/>
                    <a:lumOff val="35000"/>
                  </a:schemeClr>
                </a:solidFill>
                <a:latin typeface="나눔고딕 ExtraBold" pitchFamily="50" charset="-127"/>
                <a:ea typeface="나눔고딕 ExtraBold" pitchFamily="50" charset="-127"/>
              </a:rPr>
              <a:t>Smart Rwanda days 2013 : Kigali</a:t>
            </a:r>
            <a:endParaRPr lang="en-US" altLang="ko-KR" i="1" dirty="0">
              <a:solidFill>
                <a:schemeClr val="tx1">
                  <a:lumMod val="65000"/>
                  <a:lumOff val="35000"/>
                </a:schemeClr>
              </a:solidFill>
              <a:latin typeface="나눔고딕 ExtraBold" pitchFamily="50" charset="-127"/>
              <a:ea typeface="나눔고딕 ExtraBold" pitchFamily="50" charset="-127"/>
            </a:endParaRPr>
          </a:p>
        </p:txBody>
      </p:sp>
    </p:spTree>
    <p:extLst>
      <p:ext uri="{BB962C8B-B14F-4D97-AF65-F5344CB8AC3E}">
        <p14:creationId xmlns:p14="http://schemas.microsoft.com/office/powerpoint/2010/main" val="3045864143"/>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xfrm>
            <a:off x="755576" y="116632"/>
            <a:ext cx="8100392" cy="634082"/>
          </a:xfrm>
        </p:spPr>
        <p:txBody>
          <a:bodyPr/>
          <a:lstStyle/>
          <a:p>
            <a:r>
              <a:rPr lang="en-US" altLang="ko-KR" sz="2800" dirty="0" smtClean="0">
                <a:latin typeface="Tahoma" pitchFamily="34" charset="0"/>
                <a:ea typeface="Tahoma" pitchFamily="34" charset="0"/>
                <a:cs typeface="Tahoma" pitchFamily="34" charset="0"/>
              </a:rPr>
              <a:t>TI et développement national : Passé-Présent-Avenir</a:t>
            </a:r>
            <a:endParaRPr lang="ko-KR" altLang="en-US" sz="2800" dirty="0">
              <a:latin typeface="Tahoma" pitchFamily="34" charset="0"/>
              <a:ea typeface="나눔고딕 ExtraBold" pitchFamily="50" charset="-127"/>
              <a:cs typeface="Tahoma" pitchFamily="34" charset="0"/>
            </a:endParaRPr>
          </a:p>
        </p:txBody>
      </p:sp>
      <p:sp>
        <p:nvSpPr>
          <p:cNvPr id="16386" name="Rectangle 2"/>
          <p:cNvSpPr>
            <a:spLocks noChangeArrowheads="1"/>
          </p:cNvSpPr>
          <p:nvPr/>
        </p:nvSpPr>
        <p:spPr bwMode="auto">
          <a:xfrm>
            <a:off x="0" y="43934"/>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ko-KR" altLang="en-US">
              <a:latin typeface="Tahoma" pitchFamily="34" charset="0"/>
              <a:ea typeface="HY견고딕" pitchFamily="18" charset="-127"/>
              <a:cs typeface="Tahoma" pitchFamily="34" charset="0"/>
            </a:endParaRPr>
          </a:p>
        </p:txBody>
      </p:sp>
      <p:sp>
        <p:nvSpPr>
          <p:cNvPr id="73" name="직사각형 72"/>
          <p:cNvSpPr/>
          <p:nvPr/>
        </p:nvSpPr>
        <p:spPr>
          <a:xfrm>
            <a:off x="5652120" y="6021288"/>
            <a:ext cx="2592288" cy="432048"/>
          </a:xfrm>
          <a:prstGeom prst="rect">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0" scaled="1"/>
            <a:tileRect/>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600" dirty="0" err="1" smtClean="0">
                <a:ln>
                  <a:solidFill>
                    <a:prstClr val="white">
                      <a:alpha val="5000"/>
                    </a:prstClr>
                  </a:solidFill>
                </a:ln>
                <a:solidFill>
                  <a:schemeClr val="bg1"/>
                </a:solidFill>
                <a:latin typeface="Tahoma" pitchFamily="34" charset="0"/>
                <a:ea typeface="Tahoma" pitchFamily="34" charset="0"/>
                <a:cs typeface="Tahoma" pitchFamily="34" charset="0"/>
              </a:rPr>
              <a:t>Informatisation</a:t>
            </a:r>
            <a:r>
              <a:rPr lang="en-US" altLang="ko-KR" sz="1600" dirty="0" smtClean="0">
                <a:ln>
                  <a:solidFill>
                    <a:prstClr val="white">
                      <a:alpha val="5000"/>
                    </a:prstClr>
                  </a:solidFill>
                </a:ln>
                <a:solidFill>
                  <a:schemeClr val="bg1"/>
                </a:solidFill>
                <a:latin typeface="Tahoma" pitchFamily="34" charset="0"/>
                <a:ea typeface="Tahoma" pitchFamily="34" charset="0"/>
                <a:cs typeface="Tahoma" pitchFamily="34" charset="0"/>
              </a:rPr>
              <a:t> 2.0</a:t>
            </a:r>
            <a:endParaRPr lang="ko-KR" altLang="en-US" sz="1600" dirty="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sp>
        <p:nvSpPr>
          <p:cNvPr id="74" name="오각형 73"/>
          <p:cNvSpPr/>
          <p:nvPr/>
        </p:nvSpPr>
        <p:spPr>
          <a:xfrm>
            <a:off x="2987824" y="6021288"/>
            <a:ext cx="2880320" cy="432048"/>
          </a:xfrm>
          <a:prstGeom prst="homePlate">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0" scaled="1"/>
            <a:tileRect/>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600" dirty="0" err="1" smtClean="0">
                <a:ln>
                  <a:solidFill>
                    <a:prstClr val="white">
                      <a:alpha val="5000"/>
                    </a:prstClr>
                  </a:solidFill>
                </a:ln>
                <a:solidFill>
                  <a:schemeClr val="bg1"/>
                </a:solidFill>
                <a:latin typeface="Tahoma" pitchFamily="34" charset="0"/>
                <a:ea typeface="Tahoma" pitchFamily="34" charset="0"/>
                <a:cs typeface="Tahoma" pitchFamily="34" charset="0"/>
              </a:rPr>
              <a:t>Informatisation</a:t>
            </a:r>
            <a:r>
              <a:rPr lang="ko-KR" altLang="en-US" sz="1600" dirty="0" smtClean="0">
                <a:ln>
                  <a:solidFill>
                    <a:prstClr val="white">
                      <a:alpha val="5000"/>
                    </a:prstClr>
                  </a:solidFill>
                </a:ln>
                <a:solidFill>
                  <a:schemeClr val="bg1"/>
                </a:solidFill>
                <a:latin typeface="Tahoma" pitchFamily="34" charset="0"/>
                <a:ea typeface="나눔고딕 ExtraBold" pitchFamily="50" charset="-127"/>
                <a:cs typeface="Tahoma" pitchFamily="34" charset="0"/>
              </a:rPr>
              <a:t> </a:t>
            </a:r>
            <a:r>
              <a:rPr lang="en-US" altLang="ko-KR" sz="1600" dirty="0">
                <a:ln>
                  <a:solidFill>
                    <a:prstClr val="white">
                      <a:alpha val="5000"/>
                    </a:prstClr>
                  </a:solidFill>
                </a:ln>
                <a:solidFill>
                  <a:schemeClr val="bg1"/>
                </a:solidFill>
                <a:latin typeface="Tahoma" pitchFamily="34" charset="0"/>
                <a:ea typeface="Tahoma" pitchFamily="34" charset="0"/>
                <a:cs typeface="Tahoma" pitchFamily="34" charset="0"/>
              </a:rPr>
              <a:t>1.0</a:t>
            </a:r>
            <a:endParaRPr lang="ko-KR" altLang="en-US" sz="1600" dirty="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cxnSp>
        <p:nvCxnSpPr>
          <p:cNvPr id="75" name="직선 연결선 74"/>
          <p:cNvCxnSpPr/>
          <p:nvPr/>
        </p:nvCxnSpPr>
        <p:spPr>
          <a:xfrm>
            <a:off x="2267744" y="2924944"/>
            <a:ext cx="0" cy="3024336"/>
          </a:xfrm>
          <a:prstGeom prst="line">
            <a:avLst/>
          </a:prstGeom>
          <a:ln w="19050" cap="rnd">
            <a:solidFill>
              <a:schemeClr val="tx2"/>
            </a:solidFill>
            <a:prstDash val="sysDot"/>
          </a:ln>
        </p:spPr>
        <p:style>
          <a:lnRef idx="1">
            <a:schemeClr val="accent1"/>
          </a:lnRef>
          <a:fillRef idx="0">
            <a:schemeClr val="accent1"/>
          </a:fillRef>
          <a:effectRef idx="0">
            <a:schemeClr val="accent1"/>
          </a:effectRef>
          <a:fontRef idx="minor">
            <a:schemeClr val="tx1"/>
          </a:fontRef>
        </p:style>
      </p:cxnSp>
      <p:cxnSp>
        <p:nvCxnSpPr>
          <p:cNvPr id="76" name="직선 연결선 75"/>
          <p:cNvCxnSpPr/>
          <p:nvPr/>
        </p:nvCxnSpPr>
        <p:spPr>
          <a:xfrm>
            <a:off x="4427984" y="2924944"/>
            <a:ext cx="0" cy="3024336"/>
          </a:xfrm>
          <a:prstGeom prst="line">
            <a:avLst/>
          </a:prstGeom>
          <a:ln w="19050" cap="rnd">
            <a:solidFill>
              <a:schemeClr val="tx2"/>
            </a:solidFill>
            <a:prstDash val="sysDot"/>
          </a:ln>
        </p:spPr>
        <p:style>
          <a:lnRef idx="1">
            <a:schemeClr val="accent1"/>
          </a:lnRef>
          <a:fillRef idx="0">
            <a:schemeClr val="accent1"/>
          </a:fillRef>
          <a:effectRef idx="0">
            <a:schemeClr val="accent1"/>
          </a:effectRef>
          <a:fontRef idx="minor">
            <a:schemeClr val="tx1"/>
          </a:fontRef>
        </p:style>
      </p:cxnSp>
      <p:cxnSp>
        <p:nvCxnSpPr>
          <p:cNvPr id="77" name="직선 연결선 76"/>
          <p:cNvCxnSpPr/>
          <p:nvPr/>
        </p:nvCxnSpPr>
        <p:spPr>
          <a:xfrm>
            <a:off x="6516216" y="2924944"/>
            <a:ext cx="0" cy="3024336"/>
          </a:xfrm>
          <a:prstGeom prst="line">
            <a:avLst/>
          </a:prstGeom>
          <a:ln w="19050" cap="rnd">
            <a:solidFill>
              <a:schemeClr val="tx2"/>
            </a:solidFill>
            <a:prstDash val="sysDot"/>
          </a:ln>
        </p:spPr>
        <p:style>
          <a:lnRef idx="1">
            <a:schemeClr val="accent1"/>
          </a:lnRef>
          <a:fillRef idx="0">
            <a:schemeClr val="accent1"/>
          </a:fillRef>
          <a:effectRef idx="0">
            <a:schemeClr val="accent1"/>
          </a:effectRef>
          <a:fontRef idx="minor">
            <a:schemeClr val="tx1"/>
          </a:fontRef>
        </p:style>
      </p:cxnSp>
      <p:pic>
        <p:nvPicPr>
          <p:cNvPr id="78" name="Picture 5" descr="F:\★Clipart★\입체아이콘\문서-사무\301237 [Converted].png"/>
          <p:cNvPicPr>
            <a:picLocks noChangeAspect="1" noChangeArrowheads="1"/>
          </p:cNvPicPr>
          <p:nvPr/>
        </p:nvPicPr>
        <p:blipFill>
          <a:blip r:embed="rId3" cstate="print"/>
          <a:srcRect/>
          <a:stretch>
            <a:fillRect/>
          </a:stretch>
        </p:blipFill>
        <p:spPr bwMode="auto">
          <a:xfrm>
            <a:off x="684807" y="1321570"/>
            <a:ext cx="880488" cy="961962"/>
          </a:xfrm>
          <a:prstGeom prst="rect">
            <a:avLst/>
          </a:prstGeom>
          <a:noFill/>
          <a:effectLst>
            <a:outerShdw blurRad="317500" dist="38100" dir="2700000" algn="tl" rotWithShape="0">
              <a:prstClr val="black">
                <a:alpha val="59000"/>
              </a:prstClr>
            </a:outerShdw>
          </a:effectLst>
        </p:spPr>
      </p:pic>
      <p:pic>
        <p:nvPicPr>
          <p:cNvPr id="79" name="Picture 2" descr="F:\★Clipart★\입체아이콘\문서-사무\346593 [Converted].png"/>
          <p:cNvPicPr>
            <a:picLocks noChangeAspect="1" noChangeArrowheads="1"/>
          </p:cNvPicPr>
          <p:nvPr/>
        </p:nvPicPr>
        <p:blipFill>
          <a:blip r:embed="rId4" cstate="print"/>
          <a:srcRect/>
          <a:stretch>
            <a:fillRect/>
          </a:stretch>
        </p:blipFill>
        <p:spPr bwMode="auto">
          <a:xfrm>
            <a:off x="2795313" y="1374285"/>
            <a:ext cx="1147776" cy="730448"/>
          </a:xfrm>
          <a:prstGeom prst="rect">
            <a:avLst/>
          </a:prstGeom>
          <a:noFill/>
          <a:effectLst>
            <a:outerShdw blurRad="317500" dist="38100" dir="2700000" algn="tl" rotWithShape="0">
              <a:prstClr val="black">
                <a:alpha val="59000"/>
              </a:prstClr>
            </a:outerShdw>
          </a:effectLst>
        </p:spPr>
      </p:pic>
      <p:pic>
        <p:nvPicPr>
          <p:cNvPr id="80" name="Picture 3" descr="F:\★Clipart★\기타\png\MC900431576.PNG"/>
          <p:cNvPicPr>
            <a:picLocks noChangeAspect="1" noChangeArrowheads="1"/>
          </p:cNvPicPr>
          <p:nvPr/>
        </p:nvPicPr>
        <p:blipFill>
          <a:blip r:embed="rId5" cstate="print"/>
          <a:srcRect/>
          <a:stretch>
            <a:fillRect/>
          </a:stretch>
        </p:blipFill>
        <p:spPr bwMode="auto">
          <a:xfrm>
            <a:off x="4880479" y="1190590"/>
            <a:ext cx="1110980" cy="1118386"/>
          </a:xfrm>
          <a:prstGeom prst="rect">
            <a:avLst/>
          </a:prstGeom>
          <a:noFill/>
          <a:effectLst>
            <a:outerShdw blurRad="317500" dist="38100" dir="2700000" algn="tl" rotWithShape="0">
              <a:prstClr val="black">
                <a:alpha val="59000"/>
              </a:prstClr>
            </a:outerShdw>
          </a:effectLst>
        </p:spPr>
      </p:pic>
      <p:sp>
        <p:nvSpPr>
          <p:cNvPr id="81" name="자유형 80"/>
          <p:cNvSpPr/>
          <p:nvPr/>
        </p:nvSpPr>
        <p:spPr>
          <a:xfrm rot="16200000">
            <a:off x="1684644" y="1320965"/>
            <a:ext cx="1008117" cy="562251"/>
          </a:xfrm>
          <a:custGeom>
            <a:avLst/>
            <a:gdLst>
              <a:gd name="connsiteX0" fmla="*/ 0 w 2571768"/>
              <a:gd name="connsiteY0" fmla="*/ 1428760 h 2714644"/>
              <a:gd name="connsiteX1" fmla="*/ 642942 w 2571768"/>
              <a:gd name="connsiteY1" fmla="*/ 1428760 h 2714644"/>
              <a:gd name="connsiteX2" fmla="*/ 642942 w 2571768"/>
              <a:gd name="connsiteY2" fmla="*/ 0 h 2714644"/>
              <a:gd name="connsiteX3" fmla="*/ 1928826 w 2571768"/>
              <a:gd name="connsiteY3" fmla="*/ 0 h 2714644"/>
              <a:gd name="connsiteX4" fmla="*/ 1928826 w 2571768"/>
              <a:gd name="connsiteY4" fmla="*/ 1428760 h 2714644"/>
              <a:gd name="connsiteX5" fmla="*/ 2571768 w 2571768"/>
              <a:gd name="connsiteY5" fmla="*/ 1428760 h 2714644"/>
              <a:gd name="connsiteX6" fmla="*/ 1285884 w 2571768"/>
              <a:gd name="connsiteY6" fmla="*/ 2714644 h 2714644"/>
              <a:gd name="connsiteX7" fmla="*/ 0 w 257176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00029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214578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500066 w 2643238"/>
              <a:gd name="connsiteY1" fmla="*/ 1428760 h 2714644"/>
              <a:gd name="connsiteX2" fmla="*/ 0 w 2643238"/>
              <a:gd name="connsiteY2" fmla="*/ 0 h 2714644"/>
              <a:gd name="connsiteX3" fmla="*/ 2643206 w 2643238"/>
              <a:gd name="connsiteY3" fmla="*/ 0 h 2714644"/>
              <a:gd name="connsiteX4" fmla="*/ 2214578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571568 w 3143336"/>
              <a:gd name="connsiteY0" fmla="*/ 1428760 h 2714644"/>
              <a:gd name="connsiteX1" fmla="*/ 1000164 w 3143336"/>
              <a:gd name="connsiteY1" fmla="*/ 1428760 h 2714644"/>
              <a:gd name="connsiteX2" fmla="*/ 0 w 3143336"/>
              <a:gd name="connsiteY2" fmla="*/ 0 h 2714644"/>
              <a:gd name="connsiteX3" fmla="*/ 3143304 w 3143336"/>
              <a:gd name="connsiteY3" fmla="*/ 0 h 2714644"/>
              <a:gd name="connsiteX4" fmla="*/ 2714676 w 3143336"/>
              <a:gd name="connsiteY4" fmla="*/ 1428760 h 2714644"/>
              <a:gd name="connsiteX5" fmla="*/ 3143336 w 3143336"/>
              <a:gd name="connsiteY5" fmla="*/ 1428760 h 2714644"/>
              <a:gd name="connsiteX6" fmla="*/ 1857452 w 3143336"/>
              <a:gd name="connsiteY6" fmla="*/ 2714644 h 2714644"/>
              <a:gd name="connsiteX7" fmla="*/ 571568 w 3143336"/>
              <a:gd name="connsiteY7" fmla="*/ 1428760 h 2714644"/>
              <a:gd name="connsiteX0" fmla="*/ 571568 w 3143336"/>
              <a:gd name="connsiteY0" fmla="*/ 1428760 h 2714644"/>
              <a:gd name="connsiteX1" fmla="*/ 1000164 w 3143336"/>
              <a:gd name="connsiteY1" fmla="*/ 1428760 h 2714644"/>
              <a:gd name="connsiteX2" fmla="*/ 0 w 3143336"/>
              <a:gd name="connsiteY2" fmla="*/ 0 h 2714644"/>
              <a:gd name="connsiteX3" fmla="*/ 3143304 w 3143336"/>
              <a:gd name="connsiteY3" fmla="*/ 0 h 2714644"/>
              <a:gd name="connsiteX4" fmla="*/ 2714676 w 3143336"/>
              <a:gd name="connsiteY4" fmla="*/ 1428760 h 2714644"/>
              <a:gd name="connsiteX5" fmla="*/ 3143336 w 3143336"/>
              <a:gd name="connsiteY5" fmla="*/ 1428760 h 2714644"/>
              <a:gd name="connsiteX6" fmla="*/ 1857452 w 3143336"/>
              <a:gd name="connsiteY6" fmla="*/ 2714644 h 2714644"/>
              <a:gd name="connsiteX7" fmla="*/ 571568 w 3143336"/>
              <a:gd name="connsiteY7" fmla="*/ 1428760 h 2714644"/>
              <a:gd name="connsiteX0" fmla="*/ 571568 w 3643338"/>
              <a:gd name="connsiteY0" fmla="*/ 1428760 h 2714644"/>
              <a:gd name="connsiteX1" fmla="*/ 1000164 w 3643338"/>
              <a:gd name="connsiteY1" fmla="*/ 1428760 h 2714644"/>
              <a:gd name="connsiteX2" fmla="*/ 0 w 3643338"/>
              <a:gd name="connsiteY2" fmla="*/ 0 h 2714644"/>
              <a:gd name="connsiteX3" fmla="*/ 3643338 w 3643338"/>
              <a:gd name="connsiteY3" fmla="*/ 0 h 2714644"/>
              <a:gd name="connsiteX4" fmla="*/ 2714676 w 3643338"/>
              <a:gd name="connsiteY4" fmla="*/ 1428760 h 2714644"/>
              <a:gd name="connsiteX5" fmla="*/ 3143336 w 3643338"/>
              <a:gd name="connsiteY5" fmla="*/ 1428760 h 2714644"/>
              <a:gd name="connsiteX6" fmla="*/ 1857452 w 3643338"/>
              <a:gd name="connsiteY6" fmla="*/ 2714644 h 2714644"/>
              <a:gd name="connsiteX7" fmla="*/ 571568 w 3643338"/>
              <a:gd name="connsiteY7" fmla="*/ 1428760 h 2714644"/>
              <a:gd name="connsiteX0" fmla="*/ 571568 w 3500430"/>
              <a:gd name="connsiteY0" fmla="*/ 1428760 h 2714644"/>
              <a:gd name="connsiteX1" fmla="*/ 1000164 w 3500430"/>
              <a:gd name="connsiteY1" fmla="*/ 1428760 h 2714644"/>
              <a:gd name="connsiteX2" fmla="*/ 0 w 3500430"/>
              <a:gd name="connsiteY2" fmla="*/ 0 h 2714644"/>
              <a:gd name="connsiteX3" fmla="*/ 3500430 w 3500430"/>
              <a:gd name="connsiteY3" fmla="*/ 0 h 2714644"/>
              <a:gd name="connsiteX4" fmla="*/ 2714676 w 3500430"/>
              <a:gd name="connsiteY4" fmla="*/ 1428760 h 2714644"/>
              <a:gd name="connsiteX5" fmla="*/ 3143336 w 3500430"/>
              <a:gd name="connsiteY5" fmla="*/ 1428760 h 2714644"/>
              <a:gd name="connsiteX6" fmla="*/ 1857452 w 3500430"/>
              <a:gd name="connsiteY6" fmla="*/ 2714644 h 2714644"/>
              <a:gd name="connsiteX7" fmla="*/ 571568 w 3500430"/>
              <a:gd name="connsiteY7" fmla="*/ 1428760 h 2714644"/>
              <a:gd name="connsiteX0" fmla="*/ 571568 w 3643274"/>
              <a:gd name="connsiteY0" fmla="*/ 1428760 h 2714644"/>
              <a:gd name="connsiteX1" fmla="*/ 1000164 w 3643274"/>
              <a:gd name="connsiteY1" fmla="*/ 1428760 h 2714644"/>
              <a:gd name="connsiteX2" fmla="*/ 0 w 3643274"/>
              <a:gd name="connsiteY2" fmla="*/ 0 h 2714644"/>
              <a:gd name="connsiteX3" fmla="*/ 3643274 w 3643274"/>
              <a:gd name="connsiteY3" fmla="*/ 0 h 2714644"/>
              <a:gd name="connsiteX4" fmla="*/ 2714676 w 3643274"/>
              <a:gd name="connsiteY4" fmla="*/ 1428760 h 2714644"/>
              <a:gd name="connsiteX5" fmla="*/ 3143336 w 3643274"/>
              <a:gd name="connsiteY5" fmla="*/ 1428760 h 2714644"/>
              <a:gd name="connsiteX6" fmla="*/ 1857452 w 3643274"/>
              <a:gd name="connsiteY6" fmla="*/ 2714644 h 2714644"/>
              <a:gd name="connsiteX7" fmla="*/ 571568 w 3643274"/>
              <a:gd name="connsiteY7" fmla="*/ 1428760 h 2714644"/>
              <a:gd name="connsiteX0" fmla="*/ 571568 w 3643274"/>
              <a:gd name="connsiteY0" fmla="*/ 1428760 h 2214554"/>
              <a:gd name="connsiteX1" fmla="*/ 1000164 w 3643274"/>
              <a:gd name="connsiteY1" fmla="*/ 1428760 h 2214554"/>
              <a:gd name="connsiteX2" fmla="*/ 0 w 3643274"/>
              <a:gd name="connsiteY2" fmla="*/ 0 h 2214554"/>
              <a:gd name="connsiteX3" fmla="*/ 3643274 w 3643274"/>
              <a:gd name="connsiteY3" fmla="*/ 0 h 2214554"/>
              <a:gd name="connsiteX4" fmla="*/ 2714676 w 3643274"/>
              <a:gd name="connsiteY4" fmla="*/ 1428760 h 2214554"/>
              <a:gd name="connsiteX5" fmla="*/ 3143336 w 3643274"/>
              <a:gd name="connsiteY5" fmla="*/ 1428760 h 2214554"/>
              <a:gd name="connsiteX6" fmla="*/ 1857452 w 3643274"/>
              <a:gd name="connsiteY6" fmla="*/ 2214554 h 2214554"/>
              <a:gd name="connsiteX7" fmla="*/ 571568 w 3643274"/>
              <a:gd name="connsiteY7" fmla="*/ 1428760 h 2214554"/>
              <a:gd name="connsiteX0" fmla="*/ 571568 w 4112594"/>
              <a:gd name="connsiteY0" fmla="*/ 1438103 h 2223897"/>
              <a:gd name="connsiteX1" fmla="*/ 1000164 w 4112594"/>
              <a:gd name="connsiteY1" fmla="*/ 1438103 h 2223897"/>
              <a:gd name="connsiteX2" fmla="*/ 0 w 4112594"/>
              <a:gd name="connsiteY2" fmla="*/ 9343 h 2223897"/>
              <a:gd name="connsiteX3" fmla="*/ 4112594 w 4112594"/>
              <a:gd name="connsiteY3" fmla="*/ 0 h 2223897"/>
              <a:gd name="connsiteX4" fmla="*/ 2714676 w 4112594"/>
              <a:gd name="connsiteY4" fmla="*/ 1438103 h 2223897"/>
              <a:gd name="connsiteX5" fmla="*/ 3143336 w 4112594"/>
              <a:gd name="connsiteY5" fmla="*/ 1438103 h 2223897"/>
              <a:gd name="connsiteX6" fmla="*/ 1857452 w 4112594"/>
              <a:gd name="connsiteY6" fmla="*/ 2223897 h 2223897"/>
              <a:gd name="connsiteX7" fmla="*/ 571568 w 4112594"/>
              <a:gd name="connsiteY7" fmla="*/ 1438103 h 2223897"/>
              <a:gd name="connsiteX0" fmla="*/ 990242 w 4531268"/>
              <a:gd name="connsiteY0" fmla="*/ 1438103 h 2223897"/>
              <a:gd name="connsiteX1" fmla="*/ 1418838 w 4531268"/>
              <a:gd name="connsiteY1" fmla="*/ 1438103 h 2223897"/>
              <a:gd name="connsiteX2" fmla="*/ 0 w 4531268"/>
              <a:gd name="connsiteY2" fmla="*/ 9343 h 2223897"/>
              <a:gd name="connsiteX3" fmla="*/ 4531268 w 4531268"/>
              <a:gd name="connsiteY3" fmla="*/ 0 h 2223897"/>
              <a:gd name="connsiteX4" fmla="*/ 3133350 w 4531268"/>
              <a:gd name="connsiteY4" fmla="*/ 1438103 h 2223897"/>
              <a:gd name="connsiteX5" fmla="*/ 3562010 w 4531268"/>
              <a:gd name="connsiteY5" fmla="*/ 1438103 h 2223897"/>
              <a:gd name="connsiteX6" fmla="*/ 2276126 w 4531268"/>
              <a:gd name="connsiteY6" fmla="*/ 2223897 h 2223897"/>
              <a:gd name="connsiteX7" fmla="*/ 990242 w 4531268"/>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25827" h="2223897">
                <a:moveTo>
                  <a:pt x="1084801" y="1438103"/>
                </a:moveTo>
                <a:lnTo>
                  <a:pt x="1513397" y="1438103"/>
                </a:lnTo>
                <a:cubicBezTo>
                  <a:pt x="1194648" y="525307"/>
                  <a:pt x="392159" y="204990"/>
                  <a:pt x="0" y="9343"/>
                </a:cubicBezTo>
                <a:lnTo>
                  <a:pt x="4625827" y="0"/>
                </a:lnTo>
                <a:cubicBezTo>
                  <a:pt x="4214807" y="196589"/>
                  <a:pt x="3383016" y="496809"/>
                  <a:pt x="3227909" y="1438103"/>
                </a:cubicBezTo>
                <a:lnTo>
                  <a:pt x="3656569" y="1438103"/>
                </a:lnTo>
                <a:lnTo>
                  <a:pt x="2370685" y="2223897"/>
                </a:lnTo>
                <a:lnTo>
                  <a:pt x="1084801" y="1438103"/>
                </a:lnTo>
                <a:close/>
              </a:path>
            </a:pathLst>
          </a:custGeom>
          <a:gradFill flip="none" rotWithShape="1">
            <a:gsLst>
              <a:gs pos="0">
                <a:schemeClr val="bg2">
                  <a:lumMod val="50000"/>
                </a:schemeClr>
              </a:gs>
              <a:gs pos="100000">
                <a:schemeClr val="accent3">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ea typeface="나눔고딕 ExtraBold" pitchFamily="50" charset="-127"/>
              <a:cs typeface="Tahoma" pitchFamily="34" charset="0"/>
            </a:endParaRPr>
          </a:p>
        </p:txBody>
      </p:sp>
      <p:sp>
        <p:nvSpPr>
          <p:cNvPr id="82" name="자유형 81"/>
          <p:cNvSpPr/>
          <p:nvPr/>
        </p:nvSpPr>
        <p:spPr>
          <a:xfrm rot="16200000">
            <a:off x="3916892" y="1320965"/>
            <a:ext cx="1008117" cy="562251"/>
          </a:xfrm>
          <a:custGeom>
            <a:avLst/>
            <a:gdLst>
              <a:gd name="connsiteX0" fmla="*/ 0 w 2571768"/>
              <a:gd name="connsiteY0" fmla="*/ 1428760 h 2714644"/>
              <a:gd name="connsiteX1" fmla="*/ 642942 w 2571768"/>
              <a:gd name="connsiteY1" fmla="*/ 1428760 h 2714644"/>
              <a:gd name="connsiteX2" fmla="*/ 642942 w 2571768"/>
              <a:gd name="connsiteY2" fmla="*/ 0 h 2714644"/>
              <a:gd name="connsiteX3" fmla="*/ 1928826 w 2571768"/>
              <a:gd name="connsiteY3" fmla="*/ 0 h 2714644"/>
              <a:gd name="connsiteX4" fmla="*/ 1928826 w 2571768"/>
              <a:gd name="connsiteY4" fmla="*/ 1428760 h 2714644"/>
              <a:gd name="connsiteX5" fmla="*/ 2571768 w 2571768"/>
              <a:gd name="connsiteY5" fmla="*/ 1428760 h 2714644"/>
              <a:gd name="connsiteX6" fmla="*/ 1285884 w 2571768"/>
              <a:gd name="connsiteY6" fmla="*/ 2714644 h 2714644"/>
              <a:gd name="connsiteX7" fmla="*/ 0 w 257176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00029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214578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500066 w 2643238"/>
              <a:gd name="connsiteY1" fmla="*/ 1428760 h 2714644"/>
              <a:gd name="connsiteX2" fmla="*/ 0 w 2643238"/>
              <a:gd name="connsiteY2" fmla="*/ 0 h 2714644"/>
              <a:gd name="connsiteX3" fmla="*/ 2643206 w 2643238"/>
              <a:gd name="connsiteY3" fmla="*/ 0 h 2714644"/>
              <a:gd name="connsiteX4" fmla="*/ 2214578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571568 w 3143336"/>
              <a:gd name="connsiteY0" fmla="*/ 1428760 h 2714644"/>
              <a:gd name="connsiteX1" fmla="*/ 1000164 w 3143336"/>
              <a:gd name="connsiteY1" fmla="*/ 1428760 h 2714644"/>
              <a:gd name="connsiteX2" fmla="*/ 0 w 3143336"/>
              <a:gd name="connsiteY2" fmla="*/ 0 h 2714644"/>
              <a:gd name="connsiteX3" fmla="*/ 3143304 w 3143336"/>
              <a:gd name="connsiteY3" fmla="*/ 0 h 2714644"/>
              <a:gd name="connsiteX4" fmla="*/ 2714676 w 3143336"/>
              <a:gd name="connsiteY4" fmla="*/ 1428760 h 2714644"/>
              <a:gd name="connsiteX5" fmla="*/ 3143336 w 3143336"/>
              <a:gd name="connsiteY5" fmla="*/ 1428760 h 2714644"/>
              <a:gd name="connsiteX6" fmla="*/ 1857452 w 3143336"/>
              <a:gd name="connsiteY6" fmla="*/ 2714644 h 2714644"/>
              <a:gd name="connsiteX7" fmla="*/ 571568 w 3143336"/>
              <a:gd name="connsiteY7" fmla="*/ 1428760 h 2714644"/>
              <a:gd name="connsiteX0" fmla="*/ 571568 w 3143336"/>
              <a:gd name="connsiteY0" fmla="*/ 1428760 h 2714644"/>
              <a:gd name="connsiteX1" fmla="*/ 1000164 w 3143336"/>
              <a:gd name="connsiteY1" fmla="*/ 1428760 h 2714644"/>
              <a:gd name="connsiteX2" fmla="*/ 0 w 3143336"/>
              <a:gd name="connsiteY2" fmla="*/ 0 h 2714644"/>
              <a:gd name="connsiteX3" fmla="*/ 3143304 w 3143336"/>
              <a:gd name="connsiteY3" fmla="*/ 0 h 2714644"/>
              <a:gd name="connsiteX4" fmla="*/ 2714676 w 3143336"/>
              <a:gd name="connsiteY4" fmla="*/ 1428760 h 2714644"/>
              <a:gd name="connsiteX5" fmla="*/ 3143336 w 3143336"/>
              <a:gd name="connsiteY5" fmla="*/ 1428760 h 2714644"/>
              <a:gd name="connsiteX6" fmla="*/ 1857452 w 3143336"/>
              <a:gd name="connsiteY6" fmla="*/ 2714644 h 2714644"/>
              <a:gd name="connsiteX7" fmla="*/ 571568 w 3143336"/>
              <a:gd name="connsiteY7" fmla="*/ 1428760 h 2714644"/>
              <a:gd name="connsiteX0" fmla="*/ 571568 w 3643338"/>
              <a:gd name="connsiteY0" fmla="*/ 1428760 h 2714644"/>
              <a:gd name="connsiteX1" fmla="*/ 1000164 w 3643338"/>
              <a:gd name="connsiteY1" fmla="*/ 1428760 h 2714644"/>
              <a:gd name="connsiteX2" fmla="*/ 0 w 3643338"/>
              <a:gd name="connsiteY2" fmla="*/ 0 h 2714644"/>
              <a:gd name="connsiteX3" fmla="*/ 3643338 w 3643338"/>
              <a:gd name="connsiteY3" fmla="*/ 0 h 2714644"/>
              <a:gd name="connsiteX4" fmla="*/ 2714676 w 3643338"/>
              <a:gd name="connsiteY4" fmla="*/ 1428760 h 2714644"/>
              <a:gd name="connsiteX5" fmla="*/ 3143336 w 3643338"/>
              <a:gd name="connsiteY5" fmla="*/ 1428760 h 2714644"/>
              <a:gd name="connsiteX6" fmla="*/ 1857452 w 3643338"/>
              <a:gd name="connsiteY6" fmla="*/ 2714644 h 2714644"/>
              <a:gd name="connsiteX7" fmla="*/ 571568 w 3643338"/>
              <a:gd name="connsiteY7" fmla="*/ 1428760 h 2714644"/>
              <a:gd name="connsiteX0" fmla="*/ 571568 w 3500430"/>
              <a:gd name="connsiteY0" fmla="*/ 1428760 h 2714644"/>
              <a:gd name="connsiteX1" fmla="*/ 1000164 w 3500430"/>
              <a:gd name="connsiteY1" fmla="*/ 1428760 h 2714644"/>
              <a:gd name="connsiteX2" fmla="*/ 0 w 3500430"/>
              <a:gd name="connsiteY2" fmla="*/ 0 h 2714644"/>
              <a:gd name="connsiteX3" fmla="*/ 3500430 w 3500430"/>
              <a:gd name="connsiteY3" fmla="*/ 0 h 2714644"/>
              <a:gd name="connsiteX4" fmla="*/ 2714676 w 3500430"/>
              <a:gd name="connsiteY4" fmla="*/ 1428760 h 2714644"/>
              <a:gd name="connsiteX5" fmla="*/ 3143336 w 3500430"/>
              <a:gd name="connsiteY5" fmla="*/ 1428760 h 2714644"/>
              <a:gd name="connsiteX6" fmla="*/ 1857452 w 3500430"/>
              <a:gd name="connsiteY6" fmla="*/ 2714644 h 2714644"/>
              <a:gd name="connsiteX7" fmla="*/ 571568 w 3500430"/>
              <a:gd name="connsiteY7" fmla="*/ 1428760 h 2714644"/>
              <a:gd name="connsiteX0" fmla="*/ 571568 w 3643274"/>
              <a:gd name="connsiteY0" fmla="*/ 1428760 h 2714644"/>
              <a:gd name="connsiteX1" fmla="*/ 1000164 w 3643274"/>
              <a:gd name="connsiteY1" fmla="*/ 1428760 h 2714644"/>
              <a:gd name="connsiteX2" fmla="*/ 0 w 3643274"/>
              <a:gd name="connsiteY2" fmla="*/ 0 h 2714644"/>
              <a:gd name="connsiteX3" fmla="*/ 3643274 w 3643274"/>
              <a:gd name="connsiteY3" fmla="*/ 0 h 2714644"/>
              <a:gd name="connsiteX4" fmla="*/ 2714676 w 3643274"/>
              <a:gd name="connsiteY4" fmla="*/ 1428760 h 2714644"/>
              <a:gd name="connsiteX5" fmla="*/ 3143336 w 3643274"/>
              <a:gd name="connsiteY5" fmla="*/ 1428760 h 2714644"/>
              <a:gd name="connsiteX6" fmla="*/ 1857452 w 3643274"/>
              <a:gd name="connsiteY6" fmla="*/ 2714644 h 2714644"/>
              <a:gd name="connsiteX7" fmla="*/ 571568 w 3643274"/>
              <a:gd name="connsiteY7" fmla="*/ 1428760 h 2714644"/>
              <a:gd name="connsiteX0" fmla="*/ 571568 w 3643274"/>
              <a:gd name="connsiteY0" fmla="*/ 1428760 h 2214554"/>
              <a:gd name="connsiteX1" fmla="*/ 1000164 w 3643274"/>
              <a:gd name="connsiteY1" fmla="*/ 1428760 h 2214554"/>
              <a:gd name="connsiteX2" fmla="*/ 0 w 3643274"/>
              <a:gd name="connsiteY2" fmla="*/ 0 h 2214554"/>
              <a:gd name="connsiteX3" fmla="*/ 3643274 w 3643274"/>
              <a:gd name="connsiteY3" fmla="*/ 0 h 2214554"/>
              <a:gd name="connsiteX4" fmla="*/ 2714676 w 3643274"/>
              <a:gd name="connsiteY4" fmla="*/ 1428760 h 2214554"/>
              <a:gd name="connsiteX5" fmla="*/ 3143336 w 3643274"/>
              <a:gd name="connsiteY5" fmla="*/ 1428760 h 2214554"/>
              <a:gd name="connsiteX6" fmla="*/ 1857452 w 3643274"/>
              <a:gd name="connsiteY6" fmla="*/ 2214554 h 2214554"/>
              <a:gd name="connsiteX7" fmla="*/ 571568 w 3643274"/>
              <a:gd name="connsiteY7" fmla="*/ 1428760 h 2214554"/>
              <a:gd name="connsiteX0" fmla="*/ 571568 w 4112594"/>
              <a:gd name="connsiteY0" fmla="*/ 1438103 h 2223897"/>
              <a:gd name="connsiteX1" fmla="*/ 1000164 w 4112594"/>
              <a:gd name="connsiteY1" fmla="*/ 1438103 h 2223897"/>
              <a:gd name="connsiteX2" fmla="*/ 0 w 4112594"/>
              <a:gd name="connsiteY2" fmla="*/ 9343 h 2223897"/>
              <a:gd name="connsiteX3" fmla="*/ 4112594 w 4112594"/>
              <a:gd name="connsiteY3" fmla="*/ 0 h 2223897"/>
              <a:gd name="connsiteX4" fmla="*/ 2714676 w 4112594"/>
              <a:gd name="connsiteY4" fmla="*/ 1438103 h 2223897"/>
              <a:gd name="connsiteX5" fmla="*/ 3143336 w 4112594"/>
              <a:gd name="connsiteY5" fmla="*/ 1438103 h 2223897"/>
              <a:gd name="connsiteX6" fmla="*/ 1857452 w 4112594"/>
              <a:gd name="connsiteY6" fmla="*/ 2223897 h 2223897"/>
              <a:gd name="connsiteX7" fmla="*/ 571568 w 4112594"/>
              <a:gd name="connsiteY7" fmla="*/ 1438103 h 2223897"/>
              <a:gd name="connsiteX0" fmla="*/ 990242 w 4531268"/>
              <a:gd name="connsiteY0" fmla="*/ 1438103 h 2223897"/>
              <a:gd name="connsiteX1" fmla="*/ 1418838 w 4531268"/>
              <a:gd name="connsiteY1" fmla="*/ 1438103 h 2223897"/>
              <a:gd name="connsiteX2" fmla="*/ 0 w 4531268"/>
              <a:gd name="connsiteY2" fmla="*/ 9343 h 2223897"/>
              <a:gd name="connsiteX3" fmla="*/ 4531268 w 4531268"/>
              <a:gd name="connsiteY3" fmla="*/ 0 h 2223897"/>
              <a:gd name="connsiteX4" fmla="*/ 3133350 w 4531268"/>
              <a:gd name="connsiteY4" fmla="*/ 1438103 h 2223897"/>
              <a:gd name="connsiteX5" fmla="*/ 3562010 w 4531268"/>
              <a:gd name="connsiteY5" fmla="*/ 1438103 h 2223897"/>
              <a:gd name="connsiteX6" fmla="*/ 2276126 w 4531268"/>
              <a:gd name="connsiteY6" fmla="*/ 2223897 h 2223897"/>
              <a:gd name="connsiteX7" fmla="*/ 990242 w 4531268"/>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25827" h="2223897">
                <a:moveTo>
                  <a:pt x="1084801" y="1438103"/>
                </a:moveTo>
                <a:lnTo>
                  <a:pt x="1513397" y="1438103"/>
                </a:lnTo>
                <a:cubicBezTo>
                  <a:pt x="1194648" y="525307"/>
                  <a:pt x="392159" y="204990"/>
                  <a:pt x="0" y="9343"/>
                </a:cubicBezTo>
                <a:lnTo>
                  <a:pt x="4625827" y="0"/>
                </a:lnTo>
                <a:cubicBezTo>
                  <a:pt x="4214807" y="196589"/>
                  <a:pt x="3383016" y="496809"/>
                  <a:pt x="3227909" y="1438103"/>
                </a:cubicBezTo>
                <a:lnTo>
                  <a:pt x="3656569" y="1438103"/>
                </a:lnTo>
                <a:lnTo>
                  <a:pt x="2370685" y="2223897"/>
                </a:lnTo>
                <a:lnTo>
                  <a:pt x="1084801" y="1438103"/>
                </a:lnTo>
                <a:close/>
              </a:path>
            </a:pathLst>
          </a:custGeom>
          <a:gradFill flip="none" rotWithShape="1">
            <a:gsLst>
              <a:gs pos="0">
                <a:schemeClr val="bg2">
                  <a:lumMod val="50000"/>
                </a:schemeClr>
              </a:gs>
              <a:gs pos="100000">
                <a:schemeClr val="accent3">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ea typeface="나눔고딕 ExtraBold" pitchFamily="50" charset="-127"/>
              <a:cs typeface="Tahoma" pitchFamily="34" charset="0"/>
            </a:endParaRPr>
          </a:p>
        </p:txBody>
      </p:sp>
      <p:sp>
        <p:nvSpPr>
          <p:cNvPr id="83" name="자유형 82"/>
          <p:cNvSpPr/>
          <p:nvPr/>
        </p:nvSpPr>
        <p:spPr>
          <a:xfrm rot="16200000">
            <a:off x="6077132" y="1320965"/>
            <a:ext cx="1008117" cy="562251"/>
          </a:xfrm>
          <a:custGeom>
            <a:avLst/>
            <a:gdLst>
              <a:gd name="connsiteX0" fmla="*/ 0 w 2571768"/>
              <a:gd name="connsiteY0" fmla="*/ 1428760 h 2714644"/>
              <a:gd name="connsiteX1" fmla="*/ 642942 w 2571768"/>
              <a:gd name="connsiteY1" fmla="*/ 1428760 h 2714644"/>
              <a:gd name="connsiteX2" fmla="*/ 642942 w 2571768"/>
              <a:gd name="connsiteY2" fmla="*/ 0 h 2714644"/>
              <a:gd name="connsiteX3" fmla="*/ 1928826 w 2571768"/>
              <a:gd name="connsiteY3" fmla="*/ 0 h 2714644"/>
              <a:gd name="connsiteX4" fmla="*/ 1928826 w 2571768"/>
              <a:gd name="connsiteY4" fmla="*/ 1428760 h 2714644"/>
              <a:gd name="connsiteX5" fmla="*/ 2571768 w 2571768"/>
              <a:gd name="connsiteY5" fmla="*/ 1428760 h 2714644"/>
              <a:gd name="connsiteX6" fmla="*/ 1285884 w 2571768"/>
              <a:gd name="connsiteY6" fmla="*/ 2714644 h 2714644"/>
              <a:gd name="connsiteX7" fmla="*/ 0 w 257176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00029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214578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500066 w 2643238"/>
              <a:gd name="connsiteY1" fmla="*/ 1428760 h 2714644"/>
              <a:gd name="connsiteX2" fmla="*/ 0 w 2643238"/>
              <a:gd name="connsiteY2" fmla="*/ 0 h 2714644"/>
              <a:gd name="connsiteX3" fmla="*/ 2643206 w 2643238"/>
              <a:gd name="connsiteY3" fmla="*/ 0 h 2714644"/>
              <a:gd name="connsiteX4" fmla="*/ 2214578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571568 w 3143336"/>
              <a:gd name="connsiteY0" fmla="*/ 1428760 h 2714644"/>
              <a:gd name="connsiteX1" fmla="*/ 1000164 w 3143336"/>
              <a:gd name="connsiteY1" fmla="*/ 1428760 h 2714644"/>
              <a:gd name="connsiteX2" fmla="*/ 0 w 3143336"/>
              <a:gd name="connsiteY2" fmla="*/ 0 h 2714644"/>
              <a:gd name="connsiteX3" fmla="*/ 3143304 w 3143336"/>
              <a:gd name="connsiteY3" fmla="*/ 0 h 2714644"/>
              <a:gd name="connsiteX4" fmla="*/ 2714676 w 3143336"/>
              <a:gd name="connsiteY4" fmla="*/ 1428760 h 2714644"/>
              <a:gd name="connsiteX5" fmla="*/ 3143336 w 3143336"/>
              <a:gd name="connsiteY5" fmla="*/ 1428760 h 2714644"/>
              <a:gd name="connsiteX6" fmla="*/ 1857452 w 3143336"/>
              <a:gd name="connsiteY6" fmla="*/ 2714644 h 2714644"/>
              <a:gd name="connsiteX7" fmla="*/ 571568 w 3143336"/>
              <a:gd name="connsiteY7" fmla="*/ 1428760 h 2714644"/>
              <a:gd name="connsiteX0" fmla="*/ 571568 w 3143336"/>
              <a:gd name="connsiteY0" fmla="*/ 1428760 h 2714644"/>
              <a:gd name="connsiteX1" fmla="*/ 1000164 w 3143336"/>
              <a:gd name="connsiteY1" fmla="*/ 1428760 h 2714644"/>
              <a:gd name="connsiteX2" fmla="*/ 0 w 3143336"/>
              <a:gd name="connsiteY2" fmla="*/ 0 h 2714644"/>
              <a:gd name="connsiteX3" fmla="*/ 3143304 w 3143336"/>
              <a:gd name="connsiteY3" fmla="*/ 0 h 2714644"/>
              <a:gd name="connsiteX4" fmla="*/ 2714676 w 3143336"/>
              <a:gd name="connsiteY4" fmla="*/ 1428760 h 2714644"/>
              <a:gd name="connsiteX5" fmla="*/ 3143336 w 3143336"/>
              <a:gd name="connsiteY5" fmla="*/ 1428760 h 2714644"/>
              <a:gd name="connsiteX6" fmla="*/ 1857452 w 3143336"/>
              <a:gd name="connsiteY6" fmla="*/ 2714644 h 2714644"/>
              <a:gd name="connsiteX7" fmla="*/ 571568 w 3143336"/>
              <a:gd name="connsiteY7" fmla="*/ 1428760 h 2714644"/>
              <a:gd name="connsiteX0" fmla="*/ 571568 w 3643338"/>
              <a:gd name="connsiteY0" fmla="*/ 1428760 h 2714644"/>
              <a:gd name="connsiteX1" fmla="*/ 1000164 w 3643338"/>
              <a:gd name="connsiteY1" fmla="*/ 1428760 h 2714644"/>
              <a:gd name="connsiteX2" fmla="*/ 0 w 3643338"/>
              <a:gd name="connsiteY2" fmla="*/ 0 h 2714644"/>
              <a:gd name="connsiteX3" fmla="*/ 3643338 w 3643338"/>
              <a:gd name="connsiteY3" fmla="*/ 0 h 2714644"/>
              <a:gd name="connsiteX4" fmla="*/ 2714676 w 3643338"/>
              <a:gd name="connsiteY4" fmla="*/ 1428760 h 2714644"/>
              <a:gd name="connsiteX5" fmla="*/ 3143336 w 3643338"/>
              <a:gd name="connsiteY5" fmla="*/ 1428760 h 2714644"/>
              <a:gd name="connsiteX6" fmla="*/ 1857452 w 3643338"/>
              <a:gd name="connsiteY6" fmla="*/ 2714644 h 2714644"/>
              <a:gd name="connsiteX7" fmla="*/ 571568 w 3643338"/>
              <a:gd name="connsiteY7" fmla="*/ 1428760 h 2714644"/>
              <a:gd name="connsiteX0" fmla="*/ 571568 w 3500430"/>
              <a:gd name="connsiteY0" fmla="*/ 1428760 h 2714644"/>
              <a:gd name="connsiteX1" fmla="*/ 1000164 w 3500430"/>
              <a:gd name="connsiteY1" fmla="*/ 1428760 h 2714644"/>
              <a:gd name="connsiteX2" fmla="*/ 0 w 3500430"/>
              <a:gd name="connsiteY2" fmla="*/ 0 h 2714644"/>
              <a:gd name="connsiteX3" fmla="*/ 3500430 w 3500430"/>
              <a:gd name="connsiteY3" fmla="*/ 0 h 2714644"/>
              <a:gd name="connsiteX4" fmla="*/ 2714676 w 3500430"/>
              <a:gd name="connsiteY4" fmla="*/ 1428760 h 2714644"/>
              <a:gd name="connsiteX5" fmla="*/ 3143336 w 3500430"/>
              <a:gd name="connsiteY5" fmla="*/ 1428760 h 2714644"/>
              <a:gd name="connsiteX6" fmla="*/ 1857452 w 3500430"/>
              <a:gd name="connsiteY6" fmla="*/ 2714644 h 2714644"/>
              <a:gd name="connsiteX7" fmla="*/ 571568 w 3500430"/>
              <a:gd name="connsiteY7" fmla="*/ 1428760 h 2714644"/>
              <a:gd name="connsiteX0" fmla="*/ 571568 w 3643274"/>
              <a:gd name="connsiteY0" fmla="*/ 1428760 h 2714644"/>
              <a:gd name="connsiteX1" fmla="*/ 1000164 w 3643274"/>
              <a:gd name="connsiteY1" fmla="*/ 1428760 h 2714644"/>
              <a:gd name="connsiteX2" fmla="*/ 0 w 3643274"/>
              <a:gd name="connsiteY2" fmla="*/ 0 h 2714644"/>
              <a:gd name="connsiteX3" fmla="*/ 3643274 w 3643274"/>
              <a:gd name="connsiteY3" fmla="*/ 0 h 2714644"/>
              <a:gd name="connsiteX4" fmla="*/ 2714676 w 3643274"/>
              <a:gd name="connsiteY4" fmla="*/ 1428760 h 2714644"/>
              <a:gd name="connsiteX5" fmla="*/ 3143336 w 3643274"/>
              <a:gd name="connsiteY5" fmla="*/ 1428760 h 2714644"/>
              <a:gd name="connsiteX6" fmla="*/ 1857452 w 3643274"/>
              <a:gd name="connsiteY6" fmla="*/ 2714644 h 2714644"/>
              <a:gd name="connsiteX7" fmla="*/ 571568 w 3643274"/>
              <a:gd name="connsiteY7" fmla="*/ 1428760 h 2714644"/>
              <a:gd name="connsiteX0" fmla="*/ 571568 w 3643274"/>
              <a:gd name="connsiteY0" fmla="*/ 1428760 h 2214554"/>
              <a:gd name="connsiteX1" fmla="*/ 1000164 w 3643274"/>
              <a:gd name="connsiteY1" fmla="*/ 1428760 h 2214554"/>
              <a:gd name="connsiteX2" fmla="*/ 0 w 3643274"/>
              <a:gd name="connsiteY2" fmla="*/ 0 h 2214554"/>
              <a:gd name="connsiteX3" fmla="*/ 3643274 w 3643274"/>
              <a:gd name="connsiteY3" fmla="*/ 0 h 2214554"/>
              <a:gd name="connsiteX4" fmla="*/ 2714676 w 3643274"/>
              <a:gd name="connsiteY4" fmla="*/ 1428760 h 2214554"/>
              <a:gd name="connsiteX5" fmla="*/ 3143336 w 3643274"/>
              <a:gd name="connsiteY5" fmla="*/ 1428760 h 2214554"/>
              <a:gd name="connsiteX6" fmla="*/ 1857452 w 3643274"/>
              <a:gd name="connsiteY6" fmla="*/ 2214554 h 2214554"/>
              <a:gd name="connsiteX7" fmla="*/ 571568 w 3643274"/>
              <a:gd name="connsiteY7" fmla="*/ 1428760 h 2214554"/>
              <a:gd name="connsiteX0" fmla="*/ 571568 w 4112594"/>
              <a:gd name="connsiteY0" fmla="*/ 1438103 h 2223897"/>
              <a:gd name="connsiteX1" fmla="*/ 1000164 w 4112594"/>
              <a:gd name="connsiteY1" fmla="*/ 1438103 h 2223897"/>
              <a:gd name="connsiteX2" fmla="*/ 0 w 4112594"/>
              <a:gd name="connsiteY2" fmla="*/ 9343 h 2223897"/>
              <a:gd name="connsiteX3" fmla="*/ 4112594 w 4112594"/>
              <a:gd name="connsiteY3" fmla="*/ 0 h 2223897"/>
              <a:gd name="connsiteX4" fmla="*/ 2714676 w 4112594"/>
              <a:gd name="connsiteY4" fmla="*/ 1438103 h 2223897"/>
              <a:gd name="connsiteX5" fmla="*/ 3143336 w 4112594"/>
              <a:gd name="connsiteY5" fmla="*/ 1438103 h 2223897"/>
              <a:gd name="connsiteX6" fmla="*/ 1857452 w 4112594"/>
              <a:gd name="connsiteY6" fmla="*/ 2223897 h 2223897"/>
              <a:gd name="connsiteX7" fmla="*/ 571568 w 4112594"/>
              <a:gd name="connsiteY7" fmla="*/ 1438103 h 2223897"/>
              <a:gd name="connsiteX0" fmla="*/ 990242 w 4531268"/>
              <a:gd name="connsiteY0" fmla="*/ 1438103 h 2223897"/>
              <a:gd name="connsiteX1" fmla="*/ 1418838 w 4531268"/>
              <a:gd name="connsiteY1" fmla="*/ 1438103 h 2223897"/>
              <a:gd name="connsiteX2" fmla="*/ 0 w 4531268"/>
              <a:gd name="connsiteY2" fmla="*/ 9343 h 2223897"/>
              <a:gd name="connsiteX3" fmla="*/ 4531268 w 4531268"/>
              <a:gd name="connsiteY3" fmla="*/ 0 h 2223897"/>
              <a:gd name="connsiteX4" fmla="*/ 3133350 w 4531268"/>
              <a:gd name="connsiteY4" fmla="*/ 1438103 h 2223897"/>
              <a:gd name="connsiteX5" fmla="*/ 3562010 w 4531268"/>
              <a:gd name="connsiteY5" fmla="*/ 1438103 h 2223897"/>
              <a:gd name="connsiteX6" fmla="*/ 2276126 w 4531268"/>
              <a:gd name="connsiteY6" fmla="*/ 2223897 h 2223897"/>
              <a:gd name="connsiteX7" fmla="*/ 990242 w 4531268"/>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25827" h="2223897">
                <a:moveTo>
                  <a:pt x="1084801" y="1438103"/>
                </a:moveTo>
                <a:lnTo>
                  <a:pt x="1513397" y="1438103"/>
                </a:lnTo>
                <a:cubicBezTo>
                  <a:pt x="1194648" y="525307"/>
                  <a:pt x="392159" y="204990"/>
                  <a:pt x="0" y="9343"/>
                </a:cubicBezTo>
                <a:lnTo>
                  <a:pt x="4625827" y="0"/>
                </a:lnTo>
                <a:cubicBezTo>
                  <a:pt x="4214807" y="196589"/>
                  <a:pt x="3383016" y="496809"/>
                  <a:pt x="3227909" y="1438103"/>
                </a:cubicBezTo>
                <a:lnTo>
                  <a:pt x="3656569" y="1438103"/>
                </a:lnTo>
                <a:lnTo>
                  <a:pt x="2370685" y="2223897"/>
                </a:lnTo>
                <a:lnTo>
                  <a:pt x="1084801" y="1438103"/>
                </a:lnTo>
                <a:close/>
              </a:path>
            </a:pathLst>
          </a:custGeom>
          <a:gradFill flip="none" rotWithShape="1">
            <a:gsLst>
              <a:gs pos="0">
                <a:schemeClr val="bg2">
                  <a:lumMod val="50000"/>
                </a:schemeClr>
              </a:gs>
              <a:gs pos="100000">
                <a:schemeClr val="accent3">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ea typeface="나눔고딕 ExtraBold" pitchFamily="50" charset="-127"/>
              <a:cs typeface="Tahoma" pitchFamily="34" charset="0"/>
            </a:endParaRPr>
          </a:p>
        </p:txBody>
      </p:sp>
      <p:pic>
        <p:nvPicPr>
          <p:cNvPr id="84" name="Picture 3" descr="F:\★Clipart★\입체아이콘\인터넷\292182 [Converted].png"/>
          <p:cNvPicPr>
            <a:picLocks noChangeAspect="1" noChangeArrowheads="1"/>
          </p:cNvPicPr>
          <p:nvPr/>
        </p:nvPicPr>
        <p:blipFill>
          <a:blip r:embed="rId6" cstate="print"/>
          <a:srcRect/>
          <a:stretch>
            <a:fillRect/>
          </a:stretch>
        </p:blipFill>
        <p:spPr bwMode="auto">
          <a:xfrm>
            <a:off x="7164161" y="1314056"/>
            <a:ext cx="864096" cy="871782"/>
          </a:xfrm>
          <a:prstGeom prst="rect">
            <a:avLst/>
          </a:prstGeom>
          <a:noFill/>
          <a:effectLst>
            <a:outerShdw blurRad="317500" dist="38100" dir="2700000" algn="tl" rotWithShape="0">
              <a:prstClr val="black">
                <a:alpha val="59000"/>
              </a:prstClr>
            </a:outerShdw>
          </a:effectLst>
        </p:spPr>
      </p:pic>
      <p:sp>
        <p:nvSpPr>
          <p:cNvPr id="85" name="TextBox 84"/>
          <p:cNvSpPr txBox="1"/>
          <p:nvPr/>
        </p:nvSpPr>
        <p:spPr>
          <a:xfrm>
            <a:off x="290033" y="872715"/>
            <a:ext cx="1875835" cy="338554"/>
          </a:xfrm>
          <a:prstGeom prst="rect">
            <a:avLst/>
          </a:prstGeom>
          <a:noFill/>
        </p:spPr>
        <p:txBody>
          <a:bodyPr wrap="none" rtlCol="0">
            <a:spAutoFit/>
          </a:bodyPr>
          <a:lstStyle/>
          <a:p>
            <a:pPr algn="ctr"/>
            <a:r>
              <a:rPr lang="en-US" altLang="ko-KR" sz="1600" b="1" dirty="0" smtClean="0">
                <a:ln>
                  <a:solidFill>
                    <a:schemeClr val="bg1">
                      <a:alpha val="5000"/>
                    </a:schemeClr>
                  </a:solidFill>
                </a:ln>
                <a:solidFill>
                  <a:schemeClr val="bg2">
                    <a:lumMod val="50000"/>
                  </a:schemeClr>
                </a:solidFill>
                <a:latin typeface="Tahoma" pitchFamily="34" charset="0"/>
                <a:ea typeface="Tahoma" pitchFamily="34" charset="0"/>
                <a:cs typeface="Tahoma" pitchFamily="34" charset="0"/>
              </a:rPr>
              <a:t>Document papier</a:t>
            </a:r>
          </a:p>
        </p:txBody>
      </p:sp>
      <p:sp>
        <p:nvSpPr>
          <p:cNvPr id="86" name="TextBox 85"/>
          <p:cNvSpPr txBox="1"/>
          <p:nvPr/>
        </p:nvSpPr>
        <p:spPr>
          <a:xfrm>
            <a:off x="2339205" y="872716"/>
            <a:ext cx="1899880" cy="338554"/>
          </a:xfrm>
          <a:prstGeom prst="rect">
            <a:avLst/>
          </a:prstGeom>
          <a:noFill/>
        </p:spPr>
        <p:txBody>
          <a:bodyPr wrap="none" rtlCol="0">
            <a:spAutoFit/>
          </a:bodyPr>
          <a:lstStyle>
            <a:defPPr>
              <a:defRPr lang="ko-KR"/>
            </a:defPPr>
            <a:lvl1pPr algn="ctr">
              <a:defRPr sz="1600" b="1">
                <a:ln>
                  <a:solidFill>
                    <a:schemeClr val="bg1">
                      <a:alpha val="5000"/>
                    </a:schemeClr>
                  </a:solidFill>
                </a:ln>
                <a:solidFill>
                  <a:schemeClr val="bg2">
                    <a:lumMod val="50000"/>
                  </a:schemeClr>
                </a:solidFill>
                <a:latin typeface="HY견고딕" pitchFamily="18" charset="-127"/>
                <a:ea typeface="HY견고딕" pitchFamily="18" charset="-127"/>
              </a:defRPr>
            </a:lvl1pPr>
          </a:lstStyle>
          <a:p>
            <a:r>
              <a:rPr lang="en-US" altLang="ko-KR" dirty="0" smtClean="0">
                <a:latin typeface="Tahoma" pitchFamily="34" charset="0"/>
                <a:ea typeface="Tahoma" pitchFamily="34" charset="0"/>
                <a:cs typeface="Tahoma" pitchFamily="34" charset="0"/>
              </a:rPr>
              <a:t>Informatique</a:t>
            </a:r>
            <a:endParaRPr lang="ko-KR" altLang="en-US" dirty="0">
              <a:latin typeface="Tahoma" pitchFamily="34" charset="0"/>
              <a:ea typeface="나눔고딕 ExtraBold" pitchFamily="50" charset="-127"/>
              <a:cs typeface="Tahoma" pitchFamily="34" charset="0"/>
            </a:endParaRPr>
          </a:p>
        </p:txBody>
      </p:sp>
      <p:sp>
        <p:nvSpPr>
          <p:cNvPr id="87" name="TextBox 86"/>
          <p:cNvSpPr txBox="1"/>
          <p:nvPr/>
        </p:nvSpPr>
        <p:spPr>
          <a:xfrm>
            <a:off x="4495097" y="836712"/>
            <a:ext cx="1813317" cy="338554"/>
          </a:xfrm>
          <a:prstGeom prst="rect">
            <a:avLst/>
          </a:prstGeom>
          <a:noFill/>
        </p:spPr>
        <p:txBody>
          <a:bodyPr wrap="none" rtlCol="0">
            <a:spAutoFit/>
          </a:bodyPr>
          <a:lstStyle>
            <a:defPPr>
              <a:defRPr lang="ko-KR"/>
            </a:defPPr>
            <a:lvl1pPr algn="ctr">
              <a:defRPr sz="1600" b="1">
                <a:ln>
                  <a:solidFill>
                    <a:schemeClr val="bg1">
                      <a:alpha val="5000"/>
                    </a:schemeClr>
                  </a:solidFill>
                </a:ln>
                <a:solidFill>
                  <a:schemeClr val="bg2">
                    <a:lumMod val="50000"/>
                  </a:schemeClr>
                </a:solidFill>
                <a:latin typeface="HY견고딕" pitchFamily="18" charset="-127"/>
                <a:ea typeface="HY견고딕" pitchFamily="18" charset="-127"/>
              </a:defRPr>
            </a:lvl1pPr>
          </a:lstStyle>
          <a:p>
            <a:r>
              <a:rPr lang="en-US" altLang="ko-KR" dirty="0" err="1" smtClean="0">
                <a:latin typeface="Tahoma" pitchFamily="34" charset="0"/>
                <a:ea typeface="Tahoma" pitchFamily="34" charset="0"/>
                <a:cs typeface="Tahoma" pitchFamily="34" charset="0"/>
              </a:rPr>
              <a:t>Informatisation</a:t>
            </a:r>
            <a:endParaRPr lang="ko-KR" altLang="en-US" dirty="0">
              <a:latin typeface="Tahoma" pitchFamily="34" charset="0"/>
              <a:ea typeface="나눔고딕 ExtraBold" pitchFamily="50" charset="-127"/>
              <a:cs typeface="Tahoma" pitchFamily="34" charset="0"/>
            </a:endParaRPr>
          </a:p>
        </p:txBody>
      </p:sp>
      <p:sp>
        <p:nvSpPr>
          <p:cNvPr id="88" name="TextBox 87"/>
          <p:cNvSpPr txBox="1"/>
          <p:nvPr/>
        </p:nvSpPr>
        <p:spPr>
          <a:xfrm>
            <a:off x="6677610" y="836713"/>
            <a:ext cx="2145139" cy="338554"/>
          </a:xfrm>
          <a:prstGeom prst="rect">
            <a:avLst/>
          </a:prstGeom>
          <a:noFill/>
        </p:spPr>
        <p:txBody>
          <a:bodyPr wrap="none" rtlCol="0">
            <a:spAutoFit/>
          </a:bodyPr>
          <a:lstStyle>
            <a:defPPr>
              <a:defRPr lang="ko-KR"/>
            </a:defPPr>
            <a:lvl1pPr algn="ctr">
              <a:defRPr sz="1600" b="1">
                <a:ln>
                  <a:solidFill>
                    <a:schemeClr val="bg1">
                      <a:alpha val="5000"/>
                    </a:schemeClr>
                  </a:solidFill>
                </a:ln>
                <a:solidFill>
                  <a:schemeClr val="bg2">
                    <a:lumMod val="50000"/>
                  </a:schemeClr>
                </a:solidFill>
                <a:latin typeface="HY견고딕" pitchFamily="18" charset="-127"/>
                <a:ea typeface="HY견고딕" pitchFamily="18" charset="-127"/>
              </a:defRPr>
            </a:lvl1pPr>
          </a:lstStyle>
          <a:p>
            <a:r>
              <a:rPr lang="en-US" altLang="ko-KR" dirty="0" smtClean="0">
                <a:latin typeface="Tahoma" pitchFamily="34" charset="0"/>
                <a:ea typeface="Tahoma" pitchFamily="34" charset="0"/>
                <a:cs typeface="Tahoma" pitchFamily="34" charset="0"/>
              </a:rPr>
              <a:t>Utilisation créative</a:t>
            </a:r>
            <a:endParaRPr lang="ko-KR" altLang="en-US" dirty="0">
              <a:latin typeface="Tahoma" pitchFamily="34" charset="0"/>
              <a:ea typeface="나눔고딕 ExtraBold" pitchFamily="50" charset="-127"/>
              <a:cs typeface="Tahoma" pitchFamily="34" charset="0"/>
            </a:endParaRPr>
          </a:p>
        </p:txBody>
      </p:sp>
      <p:sp>
        <p:nvSpPr>
          <p:cNvPr id="89" name="오른쪽 화살표 88"/>
          <p:cNvSpPr/>
          <p:nvPr/>
        </p:nvSpPr>
        <p:spPr>
          <a:xfrm>
            <a:off x="354250" y="2178152"/>
            <a:ext cx="8538230" cy="504056"/>
          </a:xfrm>
          <a:prstGeom prst="rightArrow">
            <a:avLst>
              <a:gd name="adj1" fmla="val 66797"/>
              <a:gd name="adj2" fmla="val 50000"/>
            </a:avLst>
          </a:prstGeom>
          <a:gradFill flip="none" rotWithShape="1">
            <a:gsLst>
              <a:gs pos="0">
                <a:schemeClr val="bg2">
                  <a:lumMod val="10000"/>
                </a:schemeClr>
              </a:gs>
              <a:gs pos="50000">
                <a:srgbClr val="1C60CE">
                  <a:shade val="67500"/>
                  <a:satMod val="115000"/>
                </a:srgbClr>
              </a:gs>
              <a:gs pos="100000">
                <a:srgbClr val="1C60CE">
                  <a:shade val="100000"/>
                  <a:satMod val="115000"/>
                </a:srgbClr>
              </a:gs>
            </a:gsLst>
            <a:lin ang="0" scaled="1"/>
            <a:tileRect/>
          </a:gradFill>
          <a:ln>
            <a:gradFill>
              <a:gsLst>
                <a:gs pos="0">
                  <a:srgbClr val="FFFFFF"/>
                </a:gs>
                <a:gs pos="16000">
                  <a:srgbClr val="1F1F1F"/>
                </a:gs>
                <a:gs pos="17999">
                  <a:srgbClr val="FFFFFF"/>
                </a:gs>
                <a:gs pos="42000">
                  <a:srgbClr val="636363"/>
                </a:gs>
                <a:gs pos="53000">
                  <a:srgbClr val="CFCFCF"/>
                </a:gs>
                <a:gs pos="66000">
                  <a:srgbClr val="CFCFCF"/>
                </a:gs>
                <a:gs pos="75999">
                  <a:srgbClr val="1F1F1F"/>
                </a:gs>
                <a:gs pos="78999">
                  <a:srgbClr val="FFFFFF"/>
                </a:gs>
                <a:gs pos="100000">
                  <a:srgbClr val="7F7F7F"/>
                </a:gs>
              </a:gsLst>
              <a:lin ang="14400000" scaled="0"/>
            </a:gradFill>
          </a:ln>
          <a:effectLst>
            <a:outerShdw blurRad="152400" dir="2700000" algn="tl" rotWithShape="0">
              <a:schemeClr val="bg2">
                <a:lumMod val="25000"/>
                <a:alpha val="57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base">
              <a:spcBef>
                <a:spcPct val="0"/>
              </a:spcBef>
              <a:spcAft>
                <a:spcPct val="0"/>
              </a:spcAft>
              <a:defRPr/>
            </a:pPr>
            <a:endParaRPr lang="ko-KR" altLang="en-US">
              <a:solidFill>
                <a:srgbClr val="FFFFFF"/>
              </a:solidFill>
              <a:latin typeface="Tahoma" pitchFamily="34" charset="0"/>
              <a:ea typeface="나눔고딕 ExtraBold" pitchFamily="50" charset="-127"/>
              <a:cs typeface="Tahoma" pitchFamily="34" charset="0"/>
            </a:endParaRPr>
          </a:p>
        </p:txBody>
      </p:sp>
      <p:sp>
        <p:nvSpPr>
          <p:cNvPr id="90" name="TextBox 89"/>
          <p:cNvSpPr txBox="1"/>
          <p:nvPr/>
        </p:nvSpPr>
        <p:spPr>
          <a:xfrm>
            <a:off x="1763561" y="2277022"/>
            <a:ext cx="575799" cy="307777"/>
          </a:xfrm>
          <a:prstGeom prst="rect">
            <a:avLst/>
          </a:prstGeom>
          <a:noFill/>
        </p:spPr>
        <p:txBody>
          <a:bodyPr wrap="none" rtlCol="0">
            <a:spAutoFit/>
          </a:bodyPr>
          <a:lstStyle/>
          <a:p>
            <a:r>
              <a:rPr lang="en-US" altLang="ko-KR" sz="1400" dirty="0" smtClean="0">
                <a:ln>
                  <a:solidFill>
                    <a:schemeClr val="bg1">
                      <a:alpha val="5000"/>
                    </a:schemeClr>
                  </a:solidFill>
                </a:ln>
                <a:solidFill>
                  <a:schemeClr val="bg1"/>
                </a:solidFill>
                <a:effectLst>
                  <a:outerShdw blurRad="190500" dist="38100" dir="2700000" algn="tl">
                    <a:srgbClr val="000000">
                      <a:alpha val="43137"/>
                    </a:srgbClr>
                  </a:outerShdw>
                </a:effectLst>
                <a:latin typeface="Tahoma" pitchFamily="34" charset="0"/>
                <a:ea typeface="Tahoma" pitchFamily="34" charset="0"/>
                <a:cs typeface="Tahoma" pitchFamily="34" charset="0"/>
              </a:rPr>
              <a:t>1987</a:t>
            </a:r>
            <a:endParaRPr lang="ko-KR" altLang="en-US" sz="1400" dirty="0" smtClean="0">
              <a:ln>
                <a:solidFill>
                  <a:schemeClr val="bg1">
                    <a:alpha val="5000"/>
                  </a:schemeClr>
                </a:solidFill>
              </a:ln>
              <a:solidFill>
                <a:schemeClr val="bg1"/>
              </a:solidFill>
              <a:effectLst>
                <a:outerShdw blurRad="190500" dist="38100" dir="2700000" algn="tl">
                  <a:srgbClr val="000000">
                    <a:alpha val="43137"/>
                  </a:srgbClr>
                </a:outerShdw>
              </a:effectLst>
              <a:latin typeface="Tahoma" pitchFamily="34" charset="0"/>
              <a:ea typeface="나눔고딕 ExtraBold" pitchFamily="50" charset="-127"/>
              <a:cs typeface="Tahoma" pitchFamily="34" charset="0"/>
            </a:endParaRPr>
          </a:p>
        </p:txBody>
      </p:sp>
      <p:sp>
        <p:nvSpPr>
          <p:cNvPr id="91" name="TextBox 90"/>
          <p:cNvSpPr txBox="1"/>
          <p:nvPr/>
        </p:nvSpPr>
        <p:spPr>
          <a:xfrm>
            <a:off x="3883731" y="2277022"/>
            <a:ext cx="575799" cy="307777"/>
          </a:xfrm>
          <a:prstGeom prst="rect">
            <a:avLst/>
          </a:prstGeom>
          <a:noFill/>
        </p:spPr>
        <p:txBody>
          <a:bodyPr wrap="none" rtlCol="0">
            <a:spAutoFit/>
          </a:bodyPr>
          <a:lstStyle/>
          <a:p>
            <a:r>
              <a:rPr lang="en-US" altLang="ko-KR" sz="1400" dirty="0" smtClean="0">
                <a:ln>
                  <a:solidFill>
                    <a:schemeClr val="bg1">
                      <a:alpha val="5000"/>
                    </a:schemeClr>
                  </a:solidFill>
                </a:ln>
                <a:solidFill>
                  <a:schemeClr val="bg1"/>
                </a:solidFill>
                <a:effectLst>
                  <a:outerShdw blurRad="190500" dist="38100" dir="2700000" algn="tl">
                    <a:srgbClr val="000000">
                      <a:alpha val="43137"/>
                    </a:srgbClr>
                  </a:outerShdw>
                </a:effectLst>
                <a:latin typeface="Tahoma" pitchFamily="34" charset="0"/>
                <a:ea typeface="Tahoma" pitchFamily="34" charset="0"/>
                <a:cs typeface="Tahoma" pitchFamily="34" charset="0"/>
              </a:rPr>
              <a:t>1995</a:t>
            </a:r>
            <a:endParaRPr lang="ko-KR" altLang="en-US" sz="1400" dirty="0" smtClean="0">
              <a:ln>
                <a:solidFill>
                  <a:schemeClr val="bg1">
                    <a:alpha val="5000"/>
                  </a:schemeClr>
                </a:solidFill>
              </a:ln>
              <a:solidFill>
                <a:schemeClr val="bg1"/>
              </a:solidFill>
              <a:effectLst>
                <a:outerShdw blurRad="190500" dist="38100" dir="2700000" algn="tl">
                  <a:srgbClr val="000000">
                    <a:alpha val="43137"/>
                  </a:srgbClr>
                </a:outerShdw>
              </a:effectLst>
              <a:latin typeface="Tahoma" pitchFamily="34" charset="0"/>
              <a:ea typeface="나눔고딕 ExtraBold" pitchFamily="50" charset="-127"/>
              <a:cs typeface="Tahoma" pitchFamily="34" charset="0"/>
            </a:endParaRPr>
          </a:p>
        </p:txBody>
      </p:sp>
      <p:sp>
        <p:nvSpPr>
          <p:cNvPr id="92" name="TextBox 91"/>
          <p:cNvSpPr txBox="1"/>
          <p:nvPr/>
        </p:nvSpPr>
        <p:spPr>
          <a:xfrm>
            <a:off x="6156049" y="2277022"/>
            <a:ext cx="575799" cy="307777"/>
          </a:xfrm>
          <a:prstGeom prst="rect">
            <a:avLst/>
          </a:prstGeom>
          <a:noFill/>
        </p:spPr>
        <p:txBody>
          <a:bodyPr wrap="none" rtlCol="0">
            <a:spAutoFit/>
          </a:bodyPr>
          <a:lstStyle/>
          <a:p>
            <a:r>
              <a:rPr lang="en-US" altLang="ko-KR" sz="1400" dirty="0" smtClean="0">
                <a:ln>
                  <a:solidFill>
                    <a:schemeClr val="bg1">
                      <a:alpha val="5000"/>
                    </a:schemeClr>
                  </a:solidFill>
                </a:ln>
                <a:solidFill>
                  <a:schemeClr val="bg1"/>
                </a:solidFill>
                <a:effectLst>
                  <a:outerShdw blurRad="190500" dist="38100" dir="2700000" algn="tl">
                    <a:srgbClr val="000000">
                      <a:alpha val="43137"/>
                    </a:srgbClr>
                  </a:outerShdw>
                </a:effectLst>
                <a:latin typeface="Tahoma" pitchFamily="34" charset="0"/>
                <a:ea typeface="Tahoma" pitchFamily="34" charset="0"/>
                <a:cs typeface="Tahoma" pitchFamily="34" charset="0"/>
              </a:rPr>
              <a:t>2010</a:t>
            </a:r>
            <a:endParaRPr lang="ko-KR" altLang="en-US" sz="1400" dirty="0" smtClean="0">
              <a:ln>
                <a:solidFill>
                  <a:schemeClr val="bg1">
                    <a:alpha val="5000"/>
                  </a:schemeClr>
                </a:solidFill>
              </a:ln>
              <a:solidFill>
                <a:schemeClr val="bg1"/>
              </a:solidFill>
              <a:effectLst>
                <a:outerShdw blurRad="190500" dist="38100" dir="2700000" algn="tl">
                  <a:srgbClr val="000000">
                    <a:alpha val="43137"/>
                  </a:srgbClr>
                </a:outerShdw>
              </a:effectLst>
              <a:latin typeface="Tahoma" pitchFamily="34" charset="0"/>
              <a:ea typeface="나눔고딕 ExtraBold" pitchFamily="50" charset="-127"/>
              <a:cs typeface="Tahoma" pitchFamily="34" charset="0"/>
            </a:endParaRPr>
          </a:p>
        </p:txBody>
      </p:sp>
      <p:sp>
        <p:nvSpPr>
          <p:cNvPr id="93" name="Freeform 25"/>
          <p:cNvSpPr>
            <a:spLocks/>
          </p:cNvSpPr>
          <p:nvPr/>
        </p:nvSpPr>
        <p:spPr bwMode="auto">
          <a:xfrm>
            <a:off x="557784" y="2996951"/>
            <a:ext cx="7232650" cy="2232249"/>
          </a:xfrm>
          <a:custGeom>
            <a:avLst/>
            <a:gdLst>
              <a:gd name="T0" fmla="*/ 0 w 4354"/>
              <a:gd name="T1" fmla="*/ 2147483647 h 1965"/>
              <a:gd name="T2" fmla="*/ 2147483647 w 4354"/>
              <a:gd name="T3" fmla="*/ 2147483647 h 1965"/>
              <a:gd name="T4" fmla="*/ 2147483647 w 4354"/>
              <a:gd name="T5" fmla="*/ 2147483647 h 1965"/>
              <a:gd name="T6" fmla="*/ 2147483647 w 4354"/>
              <a:gd name="T7" fmla="*/ 2147483647 h 1965"/>
              <a:gd name="T8" fmla="*/ 2147483647 w 4354"/>
              <a:gd name="T9" fmla="*/ 0 h 1965"/>
              <a:gd name="T10" fmla="*/ 0 60000 65536"/>
              <a:gd name="T11" fmla="*/ 0 60000 65536"/>
              <a:gd name="T12" fmla="*/ 0 60000 65536"/>
              <a:gd name="T13" fmla="*/ 0 60000 65536"/>
              <a:gd name="T14" fmla="*/ 0 60000 65536"/>
              <a:gd name="T15" fmla="*/ 0 w 4354"/>
              <a:gd name="T16" fmla="*/ 0 h 1965"/>
              <a:gd name="T17" fmla="*/ 4354 w 4354"/>
              <a:gd name="T18" fmla="*/ 1965 h 1965"/>
            </a:gdLst>
            <a:ahLst/>
            <a:cxnLst>
              <a:cxn ang="T10">
                <a:pos x="T0" y="T1"/>
              </a:cxn>
              <a:cxn ang="T11">
                <a:pos x="T2" y="T3"/>
              </a:cxn>
              <a:cxn ang="T12">
                <a:pos x="T4" y="T5"/>
              </a:cxn>
              <a:cxn ang="T13">
                <a:pos x="T6" y="T7"/>
              </a:cxn>
              <a:cxn ang="T14">
                <a:pos x="T8" y="T9"/>
              </a:cxn>
            </a:cxnLst>
            <a:rect l="T15" t="T16" r="T17" b="T18"/>
            <a:pathLst>
              <a:path w="4354" h="1965">
                <a:moveTo>
                  <a:pt x="0" y="1950"/>
                </a:moveTo>
                <a:cubicBezTo>
                  <a:pt x="453" y="1957"/>
                  <a:pt x="907" y="1965"/>
                  <a:pt x="1270" y="1814"/>
                </a:cubicBezTo>
                <a:cubicBezTo>
                  <a:pt x="1633" y="1663"/>
                  <a:pt x="1844" y="1187"/>
                  <a:pt x="2177" y="1043"/>
                </a:cubicBezTo>
                <a:cubicBezTo>
                  <a:pt x="2510" y="899"/>
                  <a:pt x="2902" y="1126"/>
                  <a:pt x="3265" y="952"/>
                </a:cubicBezTo>
                <a:cubicBezTo>
                  <a:pt x="3628" y="778"/>
                  <a:pt x="4173" y="159"/>
                  <a:pt x="4354" y="0"/>
                </a:cubicBezTo>
              </a:path>
            </a:pathLst>
          </a:custGeom>
          <a:noFill/>
          <a:ln w="57150" cap="rnd">
            <a:solidFill>
              <a:schemeClr val="accent2">
                <a:lumMod val="75000"/>
              </a:schemeClr>
            </a:solidFill>
            <a:round/>
            <a:headEnd/>
            <a:tailEnd/>
          </a:ln>
        </p:spPr>
        <p:txBody>
          <a:bodyPr/>
          <a:lstStyle>
            <a:defPPr>
              <a:defRPr lang="ko-KR"/>
            </a:defPPr>
            <a:lvl1pPr algn="l" rtl="0" fontAlgn="base" latinLnBrk="1">
              <a:spcBef>
                <a:spcPct val="0"/>
              </a:spcBef>
              <a:spcAft>
                <a:spcPct val="0"/>
              </a:spcAft>
              <a:defRPr kumimoji="1" b="1" kern="1200">
                <a:solidFill>
                  <a:schemeClr val="tx1"/>
                </a:solidFill>
                <a:latin typeface="Tahoma" pitchFamily="34" charset="0"/>
                <a:ea typeface="굴림" charset="-127"/>
                <a:cs typeface="+mn-cs"/>
              </a:defRPr>
            </a:lvl1pPr>
            <a:lvl2pPr marL="457200" algn="l" rtl="0" fontAlgn="base" latinLnBrk="1">
              <a:spcBef>
                <a:spcPct val="0"/>
              </a:spcBef>
              <a:spcAft>
                <a:spcPct val="0"/>
              </a:spcAft>
              <a:defRPr kumimoji="1" b="1" kern="1200">
                <a:solidFill>
                  <a:schemeClr val="tx1"/>
                </a:solidFill>
                <a:latin typeface="Tahoma" pitchFamily="34" charset="0"/>
                <a:ea typeface="굴림" charset="-127"/>
                <a:cs typeface="+mn-cs"/>
              </a:defRPr>
            </a:lvl2pPr>
            <a:lvl3pPr marL="914400" algn="l" rtl="0" fontAlgn="base" latinLnBrk="1">
              <a:spcBef>
                <a:spcPct val="0"/>
              </a:spcBef>
              <a:spcAft>
                <a:spcPct val="0"/>
              </a:spcAft>
              <a:defRPr kumimoji="1" b="1" kern="1200">
                <a:solidFill>
                  <a:schemeClr val="tx1"/>
                </a:solidFill>
                <a:latin typeface="Tahoma" pitchFamily="34" charset="0"/>
                <a:ea typeface="굴림" charset="-127"/>
                <a:cs typeface="+mn-cs"/>
              </a:defRPr>
            </a:lvl3pPr>
            <a:lvl4pPr marL="1371600" algn="l" rtl="0" fontAlgn="base" latinLnBrk="1">
              <a:spcBef>
                <a:spcPct val="0"/>
              </a:spcBef>
              <a:spcAft>
                <a:spcPct val="0"/>
              </a:spcAft>
              <a:defRPr kumimoji="1" b="1" kern="1200">
                <a:solidFill>
                  <a:schemeClr val="tx1"/>
                </a:solidFill>
                <a:latin typeface="Tahoma" pitchFamily="34" charset="0"/>
                <a:ea typeface="굴림" charset="-127"/>
                <a:cs typeface="+mn-cs"/>
              </a:defRPr>
            </a:lvl4pPr>
            <a:lvl5pPr marL="1828800" algn="l" rtl="0" fontAlgn="base" latinLnBrk="1">
              <a:spcBef>
                <a:spcPct val="0"/>
              </a:spcBef>
              <a:spcAft>
                <a:spcPct val="0"/>
              </a:spcAft>
              <a:defRPr kumimoji="1" b="1" kern="1200">
                <a:solidFill>
                  <a:schemeClr val="tx1"/>
                </a:solidFill>
                <a:latin typeface="Tahoma" pitchFamily="34" charset="0"/>
                <a:ea typeface="굴림" charset="-127"/>
                <a:cs typeface="+mn-cs"/>
              </a:defRPr>
            </a:lvl5pPr>
            <a:lvl6pPr marL="2286000" algn="l" defTabSz="914400" rtl="0" eaLnBrk="1" latinLnBrk="1" hangingPunct="1">
              <a:defRPr kumimoji="1" b="1" kern="1200">
                <a:solidFill>
                  <a:schemeClr val="tx1"/>
                </a:solidFill>
                <a:latin typeface="Tahoma" pitchFamily="34" charset="0"/>
                <a:ea typeface="굴림" charset="-127"/>
                <a:cs typeface="+mn-cs"/>
              </a:defRPr>
            </a:lvl6pPr>
            <a:lvl7pPr marL="2743200" algn="l" defTabSz="914400" rtl="0" eaLnBrk="1" latinLnBrk="1" hangingPunct="1">
              <a:defRPr kumimoji="1" b="1" kern="1200">
                <a:solidFill>
                  <a:schemeClr val="tx1"/>
                </a:solidFill>
                <a:latin typeface="Tahoma" pitchFamily="34" charset="0"/>
                <a:ea typeface="굴림" charset="-127"/>
                <a:cs typeface="+mn-cs"/>
              </a:defRPr>
            </a:lvl7pPr>
            <a:lvl8pPr marL="3200400" algn="l" defTabSz="914400" rtl="0" eaLnBrk="1" latinLnBrk="1" hangingPunct="1">
              <a:defRPr kumimoji="1" b="1" kern="1200">
                <a:solidFill>
                  <a:schemeClr val="tx1"/>
                </a:solidFill>
                <a:latin typeface="Tahoma" pitchFamily="34" charset="0"/>
                <a:ea typeface="굴림" charset="-127"/>
                <a:cs typeface="+mn-cs"/>
              </a:defRPr>
            </a:lvl8pPr>
            <a:lvl9pPr marL="3657600" algn="l" defTabSz="914400" rtl="0" eaLnBrk="1" latinLnBrk="1" hangingPunct="1">
              <a:defRPr kumimoji="1" b="1" kern="1200">
                <a:solidFill>
                  <a:schemeClr val="tx1"/>
                </a:solidFill>
                <a:latin typeface="Tahoma" pitchFamily="34" charset="0"/>
                <a:ea typeface="굴림" charset="-127"/>
                <a:cs typeface="+mn-cs"/>
              </a:defRPr>
            </a:lvl9pPr>
          </a:lstStyle>
          <a:p>
            <a:endParaRPr lang="ko-KR" altLang="en-US">
              <a:ea typeface="나눔고딕 ExtraBold" pitchFamily="50" charset="-127"/>
              <a:cs typeface="Tahoma" pitchFamily="34" charset="0"/>
            </a:endParaRPr>
          </a:p>
        </p:txBody>
      </p:sp>
      <p:sp>
        <p:nvSpPr>
          <p:cNvPr id="94" name="모서리가 둥근 직사각형 93"/>
          <p:cNvSpPr/>
          <p:nvPr/>
        </p:nvSpPr>
        <p:spPr>
          <a:xfrm>
            <a:off x="539553" y="5417529"/>
            <a:ext cx="1368152" cy="387735"/>
          </a:xfrm>
          <a:prstGeom prst="roundRect">
            <a:avLst>
              <a:gd name="adj" fmla="val 7922"/>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16200000" scaled="1"/>
            <a:tileRect/>
          </a:gradFill>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400" dirty="0" smtClean="0">
                <a:ln>
                  <a:solidFill>
                    <a:prstClr val="white">
                      <a:alpha val="5000"/>
                    </a:prstClr>
                  </a:solidFill>
                </a:ln>
                <a:solidFill>
                  <a:schemeClr val="bg1"/>
                </a:solidFill>
                <a:latin typeface="Tahoma" pitchFamily="34" charset="0"/>
                <a:ea typeface="Tahoma" pitchFamily="34" charset="0"/>
                <a:cs typeface="Tahoma" pitchFamily="34" charset="0"/>
              </a:rPr>
              <a:t>Adoption</a:t>
            </a:r>
            <a:endParaRPr lang="ko-KR" altLang="en-US" sz="1600" dirty="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sp>
        <p:nvSpPr>
          <p:cNvPr id="95" name="모서리가 둥근 직사각형 94"/>
          <p:cNvSpPr/>
          <p:nvPr/>
        </p:nvSpPr>
        <p:spPr>
          <a:xfrm>
            <a:off x="2627784" y="5417529"/>
            <a:ext cx="1368152" cy="387735"/>
          </a:xfrm>
          <a:prstGeom prst="roundRect">
            <a:avLst>
              <a:gd name="adj" fmla="val 7922"/>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16200000" scaled="1"/>
            <a:tileRect/>
          </a:gradFill>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400" dirty="0" smtClean="0">
                <a:ln>
                  <a:solidFill>
                    <a:prstClr val="white">
                      <a:alpha val="5000"/>
                    </a:prstClr>
                  </a:solidFill>
                </a:ln>
                <a:solidFill>
                  <a:schemeClr val="bg1"/>
                </a:solidFill>
                <a:latin typeface="Tahoma" pitchFamily="34" charset="0"/>
                <a:ea typeface="Tahoma" pitchFamily="34" charset="0"/>
                <a:cs typeface="Tahoma" pitchFamily="34" charset="0"/>
              </a:rPr>
              <a:t>Croissance</a:t>
            </a:r>
            <a:endParaRPr lang="ko-KR" altLang="en-US" sz="1400" dirty="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sp>
        <p:nvSpPr>
          <p:cNvPr id="96" name="모서리가 둥근 직사각형 95"/>
          <p:cNvSpPr/>
          <p:nvPr/>
        </p:nvSpPr>
        <p:spPr>
          <a:xfrm>
            <a:off x="4788024" y="5417529"/>
            <a:ext cx="1368152" cy="387735"/>
          </a:xfrm>
          <a:prstGeom prst="roundRect">
            <a:avLst>
              <a:gd name="adj" fmla="val 7922"/>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16200000" scaled="1"/>
            <a:tileRect/>
          </a:gradFill>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400" dirty="0" smtClean="0">
                <a:ln>
                  <a:solidFill>
                    <a:prstClr val="white">
                      <a:alpha val="5000"/>
                    </a:prstClr>
                  </a:solidFill>
                </a:ln>
                <a:solidFill>
                  <a:schemeClr val="bg1"/>
                </a:solidFill>
                <a:latin typeface="Tahoma" pitchFamily="34" charset="0"/>
                <a:ea typeface="Tahoma" pitchFamily="34" charset="0"/>
                <a:cs typeface="Tahoma" pitchFamily="34" charset="0"/>
              </a:rPr>
              <a:t>Maturité</a:t>
            </a:r>
            <a:endParaRPr lang="ko-KR" altLang="en-US" sz="1400" dirty="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sp>
        <p:nvSpPr>
          <p:cNvPr id="97" name="모서리가 둥근 직사각형 96"/>
          <p:cNvSpPr/>
          <p:nvPr/>
        </p:nvSpPr>
        <p:spPr>
          <a:xfrm>
            <a:off x="6876256" y="5417529"/>
            <a:ext cx="1368152" cy="387735"/>
          </a:xfrm>
          <a:prstGeom prst="roundRect">
            <a:avLst>
              <a:gd name="adj" fmla="val 7922"/>
            </a:avLst>
          </a:prstGeom>
          <a:gradFill flip="none" rotWithShape="1">
            <a:gsLst>
              <a:gs pos="0">
                <a:schemeClr val="accent2">
                  <a:lumMod val="75000"/>
                  <a:shade val="30000"/>
                  <a:satMod val="115000"/>
                </a:schemeClr>
              </a:gs>
              <a:gs pos="50000">
                <a:schemeClr val="accent2">
                  <a:lumMod val="75000"/>
                  <a:shade val="67500"/>
                  <a:satMod val="115000"/>
                </a:schemeClr>
              </a:gs>
              <a:gs pos="100000">
                <a:schemeClr val="accent2">
                  <a:lumMod val="75000"/>
                  <a:shade val="100000"/>
                  <a:satMod val="115000"/>
                </a:schemeClr>
              </a:gs>
            </a:gsLst>
            <a:lin ang="16200000" scaled="1"/>
            <a:tileRect/>
          </a:gradFill>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400" dirty="0" smtClean="0">
                <a:ln>
                  <a:solidFill>
                    <a:prstClr val="white">
                      <a:alpha val="5000"/>
                    </a:prstClr>
                  </a:solidFill>
                </a:ln>
                <a:solidFill>
                  <a:schemeClr val="bg1"/>
                </a:solidFill>
                <a:latin typeface="Tahoma" pitchFamily="34" charset="0"/>
                <a:ea typeface="Tahoma" pitchFamily="34" charset="0"/>
                <a:cs typeface="Tahoma" pitchFamily="34" charset="0"/>
              </a:rPr>
              <a:t>Nouveau décollage</a:t>
            </a:r>
            <a:endParaRPr lang="ko-KR" altLang="en-US" sz="1400" dirty="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sp>
        <p:nvSpPr>
          <p:cNvPr id="98" name="오각형 97"/>
          <p:cNvSpPr/>
          <p:nvPr/>
        </p:nvSpPr>
        <p:spPr>
          <a:xfrm>
            <a:off x="539552" y="6021288"/>
            <a:ext cx="2664296" cy="432048"/>
          </a:xfrm>
          <a:prstGeom prst="homePlate">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0" scaled="1"/>
            <a:tileRect/>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600" dirty="0" smtClean="0">
                <a:ln>
                  <a:solidFill>
                    <a:prstClr val="white">
                      <a:alpha val="5000"/>
                    </a:prstClr>
                  </a:solidFill>
                </a:ln>
                <a:solidFill>
                  <a:schemeClr val="bg1"/>
                </a:solidFill>
                <a:latin typeface="Tahoma" pitchFamily="34" charset="0"/>
                <a:ea typeface="Tahoma" pitchFamily="34" charset="0"/>
                <a:cs typeface="Tahoma" pitchFamily="34" charset="0"/>
              </a:rPr>
              <a:t>Informatique</a:t>
            </a:r>
            <a:endParaRPr lang="ko-KR" altLang="en-US" sz="1600" dirty="0" smtClean="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pic>
        <p:nvPicPr>
          <p:cNvPr id="100" name="Picture 6" descr="j0438041[1]"/>
          <p:cNvPicPr>
            <a:picLocks noChangeAspect="1" noChangeArrowheads="1"/>
          </p:cNvPicPr>
          <p:nvPr/>
        </p:nvPicPr>
        <p:blipFill>
          <a:blip r:embed="rId7" cstate="print"/>
          <a:srcRect b="16280"/>
          <a:stretch>
            <a:fillRect/>
          </a:stretch>
        </p:blipFill>
        <p:spPr bwMode="auto">
          <a:xfrm>
            <a:off x="6075214" y="2708920"/>
            <a:ext cx="945058" cy="635661"/>
          </a:xfrm>
          <a:prstGeom prst="rect">
            <a:avLst/>
          </a:prstGeom>
          <a:noFill/>
          <a:ln w="9525">
            <a:noFill/>
            <a:miter lim="800000"/>
            <a:headEnd/>
            <a:tailEnd/>
          </a:ln>
        </p:spPr>
      </p:pic>
      <p:sp>
        <p:nvSpPr>
          <p:cNvPr id="101" name="Text Box 18"/>
          <p:cNvSpPr txBox="1">
            <a:spLocks noChangeArrowheads="1"/>
          </p:cNvSpPr>
          <p:nvPr/>
        </p:nvSpPr>
        <p:spPr bwMode="auto">
          <a:xfrm>
            <a:off x="5839888" y="4293096"/>
            <a:ext cx="1468416" cy="738664"/>
          </a:xfrm>
          <a:prstGeom prst="rect">
            <a:avLst/>
          </a:prstGeom>
          <a:noFill/>
          <a:ln w="9525">
            <a:noFill/>
            <a:miter lim="800000"/>
            <a:headEnd/>
            <a:tailEnd/>
          </a:ln>
        </p:spPr>
        <p:txBody>
          <a:bodyPr wrap="square">
            <a:spAutoFit/>
          </a:bodyPr>
          <a:lstStyle>
            <a:defPPr>
              <a:defRPr lang="ko-KR"/>
            </a:defPPr>
            <a:lvl1pPr algn="l" rtl="0" fontAlgn="base" latinLnBrk="1">
              <a:spcBef>
                <a:spcPct val="0"/>
              </a:spcBef>
              <a:spcAft>
                <a:spcPct val="0"/>
              </a:spcAft>
              <a:defRPr kumimoji="1" b="1" kern="1200">
                <a:solidFill>
                  <a:schemeClr val="tx1"/>
                </a:solidFill>
                <a:latin typeface="Tahoma" pitchFamily="34" charset="0"/>
                <a:ea typeface="굴림" charset="-127"/>
                <a:cs typeface="+mn-cs"/>
              </a:defRPr>
            </a:lvl1pPr>
            <a:lvl2pPr marL="457200" algn="l" rtl="0" fontAlgn="base" latinLnBrk="1">
              <a:spcBef>
                <a:spcPct val="0"/>
              </a:spcBef>
              <a:spcAft>
                <a:spcPct val="0"/>
              </a:spcAft>
              <a:defRPr kumimoji="1" b="1" kern="1200">
                <a:solidFill>
                  <a:schemeClr val="tx1"/>
                </a:solidFill>
                <a:latin typeface="Tahoma" pitchFamily="34" charset="0"/>
                <a:ea typeface="굴림" charset="-127"/>
                <a:cs typeface="+mn-cs"/>
              </a:defRPr>
            </a:lvl2pPr>
            <a:lvl3pPr marL="914400" algn="l" rtl="0" fontAlgn="base" latinLnBrk="1">
              <a:spcBef>
                <a:spcPct val="0"/>
              </a:spcBef>
              <a:spcAft>
                <a:spcPct val="0"/>
              </a:spcAft>
              <a:defRPr kumimoji="1" b="1" kern="1200">
                <a:solidFill>
                  <a:schemeClr val="tx1"/>
                </a:solidFill>
                <a:latin typeface="Tahoma" pitchFamily="34" charset="0"/>
                <a:ea typeface="굴림" charset="-127"/>
                <a:cs typeface="+mn-cs"/>
              </a:defRPr>
            </a:lvl3pPr>
            <a:lvl4pPr marL="1371600" algn="l" rtl="0" fontAlgn="base" latinLnBrk="1">
              <a:spcBef>
                <a:spcPct val="0"/>
              </a:spcBef>
              <a:spcAft>
                <a:spcPct val="0"/>
              </a:spcAft>
              <a:defRPr kumimoji="1" b="1" kern="1200">
                <a:solidFill>
                  <a:schemeClr val="tx1"/>
                </a:solidFill>
                <a:latin typeface="Tahoma" pitchFamily="34" charset="0"/>
                <a:ea typeface="굴림" charset="-127"/>
                <a:cs typeface="+mn-cs"/>
              </a:defRPr>
            </a:lvl4pPr>
            <a:lvl5pPr marL="1828800" algn="l" rtl="0" fontAlgn="base" latinLnBrk="1">
              <a:spcBef>
                <a:spcPct val="0"/>
              </a:spcBef>
              <a:spcAft>
                <a:spcPct val="0"/>
              </a:spcAft>
              <a:defRPr kumimoji="1" b="1" kern="1200">
                <a:solidFill>
                  <a:schemeClr val="tx1"/>
                </a:solidFill>
                <a:latin typeface="Tahoma" pitchFamily="34" charset="0"/>
                <a:ea typeface="굴림" charset="-127"/>
                <a:cs typeface="+mn-cs"/>
              </a:defRPr>
            </a:lvl5pPr>
            <a:lvl6pPr marL="2286000" algn="l" defTabSz="914400" rtl="0" eaLnBrk="1" latinLnBrk="1" hangingPunct="1">
              <a:defRPr kumimoji="1" b="1" kern="1200">
                <a:solidFill>
                  <a:schemeClr val="tx1"/>
                </a:solidFill>
                <a:latin typeface="Tahoma" pitchFamily="34" charset="0"/>
                <a:ea typeface="굴림" charset="-127"/>
                <a:cs typeface="+mn-cs"/>
              </a:defRPr>
            </a:lvl6pPr>
            <a:lvl7pPr marL="2743200" algn="l" defTabSz="914400" rtl="0" eaLnBrk="1" latinLnBrk="1" hangingPunct="1">
              <a:defRPr kumimoji="1" b="1" kern="1200">
                <a:solidFill>
                  <a:schemeClr val="tx1"/>
                </a:solidFill>
                <a:latin typeface="Tahoma" pitchFamily="34" charset="0"/>
                <a:ea typeface="굴림" charset="-127"/>
                <a:cs typeface="+mn-cs"/>
              </a:defRPr>
            </a:lvl7pPr>
            <a:lvl8pPr marL="3200400" algn="l" defTabSz="914400" rtl="0" eaLnBrk="1" latinLnBrk="1" hangingPunct="1">
              <a:defRPr kumimoji="1" b="1" kern="1200">
                <a:solidFill>
                  <a:schemeClr val="tx1"/>
                </a:solidFill>
                <a:latin typeface="Tahoma" pitchFamily="34" charset="0"/>
                <a:ea typeface="굴림" charset="-127"/>
                <a:cs typeface="+mn-cs"/>
              </a:defRPr>
            </a:lvl8pPr>
            <a:lvl9pPr marL="3657600" algn="l" defTabSz="914400" rtl="0" eaLnBrk="1" latinLnBrk="1" hangingPunct="1">
              <a:defRPr kumimoji="1" b="1" kern="1200">
                <a:solidFill>
                  <a:schemeClr val="tx1"/>
                </a:solidFill>
                <a:latin typeface="Tahoma" pitchFamily="34" charset="0"/>
                <a:ea typeface="굴림" charset="-127"/>
                <a:cs typeface="+mn-cs"/>
              </a:defRPr>
            </a:lvl9pPr>
          </a:lstStyle>
          <a:p>
            <a:pPr algn="ctr">
              <a:spcBef>
                <a:spcPts val="100"/>
              </a:spcBef>
            </a:pPr>
            <a:r>
              <a:rPr lang="en-US" altLang="ko-KR" sz="1400" dirty="0" smtClean="0">
                <a:ln>
                  <a:solidFill>
                    <a:schemeClr val="bg1">
                      <a:alpha val="5000"/>
                    </a:schemeClr>
                  </a:solidFill>
                </a:ln>
                <a:gradFill flip="none" rotWithShape="1">
                  <a:gsLst>
                    <a:gs pos="0">
                      <a:schemeClr val="accent2">
                        <a:lumMod val="75000"/>
                        <a:shade val="30000"/>
                        <a:satMod val="115000"/>
                      </a:schemeClr>
                    </a:gs>
                    <a:gs pos="50000">
                      <a:schemeClr val="accent2">
                        <a:lumMod val="75000"/>
                        <a:shade val="67500"/>
                        <a:satMod val="115000"/>
                      </a:schemeClr>
                    </a:gs>
                    <a:gs pos="100000">
                      <a:schemeClr val="accent2">
                        <a:lumMod val="75000"/>
                        <a:shade val="100000"/>
                        <a:satMod val="115000"/>
                      </a:schemeClr>
                    </a:gs>
                  </a:gsLst>
                  <a:lin ang="16200000" scaled="1"/>
                  <a:tileRect/>
                </a:gradFill>
                <a:ea typeface="Tahoma" pitchFamily="34" charset="0"/>
                <a:cs typeface="Tahoma" pitchFamily="34" charset="0"/>
              </a:rPr>
              <a:t>Aube de la révolution Smart</a:t>
            </a:r>
            <a:endParaRPr lang="ko-KR" altLang="en-US" sz="1400" dirty="0">
              <a:ln>
                <a:solidFill>
                  <a:schemeClr val="bg1">
                    <a:alpha val="5000"/>
                  </a:schemeClr>
                </a:solidFill>
              </a:ln>
              <a:gradFill flip="none" rotWithShape="1">
                <a:gsLst>
                  <a:gs pos="0">
                    <a:schemeClr val="accent2">
                      <a:lumMod val="75000"/>
                      <a:shade val="30000"/>
                      <a:satMod val="115000"/>
                    </a:schemeClr>
                  </a:gs>
                  <a:gs pos="50000">
                    <a:schemeClr val="accent2">
                      <a:lumMod val="75000"/>
                      <a:shade val="67500"/>
                      <a:satMod val="115000"/>
                    </a:schemeClr>
                  </a:gs>
                  <a:gs pos="100000">
                    <a:schemeClr val="accent2">
                      <a:lumMod val="75000"/>
                      <a:shade val="100000"/>
                      <a:satMod val="115000"/>
                    </a:schemeClr>
                  </a:gs>
                </a:gsLst>
                <a:lin ang="16200000" scaled="1"/>
                <a:tileRect/>
              </a:gradFill>
              <a:ea typeface="나눔고딕 ExtraBold" pitchFamily="50" charset="-127"/>
              <a:cs typeface="Tahoma" pitchFamily="34" charset="0"/>
            </a:endParaRPr>
          </a:p>
        </p:txBody>
      </p:sp>
      <p:sp>
        <p:nvSpPr>
          <p:cNvPr id="102" name="Text Box 24"/>
          <p:cNvSpPr txBox="1">
            <a:spLocks noChangeArrowheads="1"/>
          </p:cNvSpPr>
          <p:nvPr/>
        </p:nvSpPr>
        <p:spPr bwMode="auto">
          <a:xfrm>
            <a:off x="1723575" y="4293096"/>
            <a:ext cx="1077539" cy="738664"/>
          </a:xfrm>
          <a:prstGeom prst="rect">
            <a:avLst/>
          </a:prstGeom>
          <a:noFill/>
          <a:ln w="9525">
            <a:noFill/>
            <a:miter lim="800000"/>
            <a:headEnd/>
            <a:tailEnd/>
          </a:ln>
        </p:spPr>
        <p:txBody>
          <a:bodyPr wrap="none">
            <a:spAutoFit/>
          </a:bodyPr>
          <a:lstStyle>
            <a:defPPr>
              <a:defRPr lang="ko-KR"/>
            </a:defPPr>
            <a:lvl1pPr algn="l" rtl="0" fontAlgn="base" latinLnBrk="1">
              <a:spcBef>
                <a:spcPct val="0"/>
              </a:spcBef>
              <a:spcAft>
                <a:spcPct val="0"/>
              </a:spcAft>
              <a:defRPr kumimoji="1" b="1" kern="1200">
                <a:solidFill>
                  <a:schemeClr val="tx1"/>
                </a:solidFill>
                <a:latin typeface="Tahoma" pitchFamily="34" charset="0"/>
                <a:ea typeface="굴림" charset="-127"/>
                <a:cs typeface="+mn-cs"/>
              </a:defRPr>
            </a:lvl1pPr>
            <a:lvl2pPr marL="457200" algn="l" rtl="0" fontAlgn="base" latinLnBrk="1">
              <a:spcBef>
                <a:spcPct val="0"/>
              </a:spcBef>
              <a:spcAft>
                <a:spcPct val="0"/>
              </a:spcAft>
              <a:defRPr kumimoji="1" b="1" kern="1200">
                <a:solidFill>
                  <a:schemeClr val="tx1"/>
                </a:solidFill>
                <a:latin typeface="Tahoma" pitchFamily="34" charset="0"/>
                <a:ea typeface="굴림" charset="-127"/>
                <a:cs typeface="+mn-cs"/>
              </a:defRPr>
            </a:lvl2pPr>
            <a:lvl3pPr marL="914400" algn="l" rtl="0" fontAlgn="base" latinLnBrk="1">
              <a:spcBef>
                <a:spcPct val="0"/>
              </a:spcBef>
              <a:spcAft>
                <a:spcPct val="0"/>
              </a:spcAft>
              <a:defRPr kumimoji="1" b="1" kern="1200">
                <a:solidFill>
                  <a:schemeClr val="tx1"/>
                </a:solidFill>
                <a:latin typeface="Tahoma" pitchFamily="34" charset="0"/>
                <a:ea typeface="굴림" charset="-127"/>
                <a:cs typeface="+mn-cs"/>
              </a:defRPr>
            </a:lvl3pPr>
            <a:lvl4pPr marL="1371600" algn="l" rtl="0" fontAlgn="base" latinLnBrk="1">
              <a:spcBef>
                <a:spcPct val="0"/>
              </a:spcBef>
              <a:spcAft>
                <a:spcPct val="0"/>
              </a:spcAft>
              <a:defRPr kumimoji="1" b="1" kern="1200">
                <a:solidFill>
                  <a:schemeClr val="tx1"/>
                </a:solidFill>
                <a:latin typeface="Tahoma" pitchFamily="34" charset="0"/>
                <a:ea typeface="굴림" charset="-127"/>
                <a:cs typeface="+mn-cs"/>
              </a:defRPr>
            </a:lvl4pPr>
            <a:lvl5pPr marL="1828800" algn="l" rtl="0" fontAlgn="base" latinLnBrk="1">
              <a:spcBef>
                <a:spcPct val="0"/>
              </a:spcBef>
              <a:spcAft>
                <a:spcPct val="0"/>
              </a:spcAft>
              <a:defRPr kumimoji="1" b="1" kern="1200">
                <a:solidFill>
                  <a:schemeClr val="tx1"/>
                </a:solidFill>
                <a:latin typeface="Tahoma" pitchFamily="34" charset="0"/>
                <a:ea typeface="굴림" charset="-127"/>
                <a:cs typeface="+mn-cs"/>
              </a:defRPr>
            </a:lvl5pPr>
            <a:lvl6pPr marL="2286000" algn="l" defTabSz="914400" rtl="0" eaLnBrk="1" latinLnBrk="1" hangingPunct="1">
              <a:defRPr kumimoji="1" b="1" kern="1200">
                <a:solidFill>
                  <a:schemeClr val="tx1"/>
                </a:solidFill>
                <a:latin typeface="Tahoma" pitchFamily="34" charset="0"/>
                <a:ea typeface="굴림" charset="-127"/>
                <a:cs typeface="+mn-cs"/>
              </a:defRPr>
            </a:lvl6pPr>
            <a:lvl7pPr marL="2743200" algn="l" defTabSz="914400" rtl="0" eaLnBrk="1" latinLnBrk="1" hangingPunct="1">
              <a:defRPr kumimoji="1" b="1" kern="1200">
                <a:solidFill>
                  <a:schemeClr val="tx1"/>
                </a:solidFill>
                <a:latin typeface="Tahoma" pitchFamily="34" charset="0"/>
                <a:ea typeface="굴림" charset="-127"/>
                <a:cs typeface="+mn-cs"/>
              </a:defRPr>
            </a:lvl7pPr>
            <a:lvl8pPr marL="3200400" algn="l" defTabSz="914400" rtl="0" eaLnBrk="1" latinLnBrk="1" hangingPunct="1">
              <a:defRPr kumimoji="1" b="1" kern="1200">
                <a:solidFill>
                  <a:schemeClr val="tx1"/>
                </a:solidFill>
                <a:latin typeface="Tahoma" pitchFamily="34" charset="0"/>
                <a:ea typeface="굴림" charset="-127"/>
                <a:cs typeface="+mn-cs"/>
              </a:defRPr>
            </a:lvl8pPr>
            <a:lvl9pPr marL="3657600" algn="l" defTabSz="914400" rtl="0" eaLnBrk="1" latinLnBrk="1" hangingPunct="1">
              <a:defRPr kumimoji="1" b="1" kern="1200">
                <a:solidFill>
                  <a:schemeClr val="tx1"/>
                </a:solidFill>
                <a:latin typeface="Tahoma" pitchFamily="34" charset="0"/>
                <a:ea typeface="굴림" charset="-127"/>
                <a:cs typeface="+mn-cs"/>
              </a:defRPr>
            </a:lvl9pPr>
          </a:lstStyle>
          <a:p>
            <a:pPr algn="ctr"/>
            <a:r>
              <a:rPr lang="en-US" altLang="ko-KR" sz="1400" dirty="0" smtClean="0">
                <a:ln>
                  <a:solidFill>
                    <a:schemeClr val="bg1">
                      <a:alpha val="5000"/>
                    </a:schemeClr>
                  </a:solidFill>
                </a:ln>
                <a:solidFill>
                  <a:schemeClr val="tx2">
                    <a:lumMod val="75000"/>
                  </a:schemeClr>
                </a:solidFill>
                <a:ea typeface="Tahoma" pitchFamily="34" charset="0"/>
                <a:cs typeface="Tahoma" pitchFamily="34" charset="0"/>
              </a:rPr>
              <a:t>Paradigme</a:t>
            </a:r>
          </a:p>
          <a:p>
            <a:pPr algn="ctr"/>
            <a:r>
              <a:rPr lang="en-US" altLang="ko-KR" sz="1400" dirty="0" smtClean="0">
                <a:ln>
                  <a:solidFill>
                    <a:schemeClr val="bg1">
                      <a:alpha val="5000"/>
                    </a:schemeClr>
                  </a:solidFill>
                </a:ln>
                <a:solidFill>
                  <a:schemeClr val="tx2">
                    <a:lumMod val="75000"/>
                  </a:schemeClr>
                </a:solidFill>
                <a:ea typeface="Tahoma" pitchFamily="34" charset="0"/>
                <a:cs typeface="Tahoma" pitchFamily="34" charset="0"/>
              </a:rPr>
              <a:t>de la société</a:t>
            </a:r>
          </a:p>
          <a:p>
            <a:pPr algn="ctr"/>
            <a:r>
              <a:rPr lang="en-US" altLang="ko-KR" sz="1400" dirty="0" smtClean="0">
                <a:ln>
                  <a:solidFill>
                    <a:schemeClr val="bg1">
                      <a:alpha val="5000"/>
                    </a:schemeClr>
                  </a:solidFill>
                </a:ln>
                <a:solidFill>
                  <a:schemeClr val="tx2">
                    <a:lumMod val="75000"/>
                  </a:schemeClr>
                </a:solidFill>
                <a:ea typeface="Tahoma" pitchFamily="34" charset="0"/>
                <a:cs typeface="Tahoma" pitchFamily="34" charset="0"/>
              </a:rPr>
              <a:t>industrielle</a:t>
            </a:r>
            <a:endParaRPr lang="ko-KR" altLang="en-US" sz="1400" dirty="0">
              <a:ln>
                <a:solidFill>
                  <a:schemeClr val="bg1">
                    <a:alpha val="5000"/>
                  </a:schemeClr>
                </a:solidFill>
              </a:ln>
              <a:solidFill>
                <a:schemeClr val="tx2">
                  <a:lumMod val="75000"/>
                </a:schemeClr>
              </a:solidFill>
              <a:ea typeface="나눔고딕 ExtraBold" pitchFamily="50" charset="-127"/>
              <a:cs typeface="Tahoma" pitchFamily="34" charset="0"/>
            </a:endParaRPr>
          </a:p>
        </p:txBody>
      </p:sp>
      <p:sp>
        <p:nvSpPr>
          <p:cNvPr id="103" name="Text Box 24"/>
          <p:cNvSpPr txBox="1">
            <a:spLocks noChangeArrowheads="1"/>
          </p:cNvSpPr>
          <p:nvPr/>
        </p:nvSpPr>
        <p:spPr bwMode="auto">
          <a:xfrm>
            <a:off x="3788224" y="3380433"/>
            <a:ext cx="1279517" cy="738664"/>
          </a:xfrm>
          <a:prstGeom prst="rect">
            <a:avLst/>
          </a:prstGeom>
          <a:noFill/>
          <a:ln w="9525">
            <a:noFill/>
            <a:miter lim="800000"/>
            <a:headEnd/>
            <a:tailEnd/>
          </a:ln>
        </p:spPr>
        <p:txBody>
          <a:bodyPr wrap="none">
            <a:spAutoFit/>
          </a:bodyPr>
          <a:lstStyle>
            <a:defPPr>
              <a:defRPr lang="ko-KR"/>
            </a:defPPr>
            <a:lvl1pPr algn="ctr" fontAlgn="base">
              <a:spcBef>
                <a:spcPct val="0"/>
              </a:spcBef>
              <a:spcAft>
                <a:spcPct val="0"/>
              </a:spcAft>
              <a:defRPr kumimoji="1" sz="1400" b="1">
                <a:ln>
                  <a:solidFill>
                    <a:schemeClr val="bg1">
                      <a:alpha val="5000"/>
                    </a:schemeClr>
                  </a:solidFill>
                </a:ln>
                <a:solidFill>
                  <a:schemeClr val="tx2">
                    <a:lumMod val="75000"/>
                  </a:schemeClr>
                </a:solidFill>
                <a:latin typeface="HY견고딕" pitchFamily="18" charset="-127"/>
                <a:ea typeface="HY견고딕" pitchFamily="18" charset="-127"/>
              </a:defRPr>
            </a:lvl1pPr>
            <a:lvl2pPr fontAlgn="base">
              <a:spcBef>
                <a:spcPct val="0"/>
              </a:spcBef>
              <a:spcAft>
                <a:spcPct val="0"/>
              </a:spcAft>
              <a:defRPr kumimoji="1" b="1">
                <a:latin typeface="Tahoma" pitchFamily="34" charset="0"/>
                <a:ea typeface="굴림" charset="-127"/>
              </a:defRPr>
            </a:lvl2pPr>
            <a:lvl3pPr fontAlgn="base">
              <a:spcBef>
                <a:spcPct val="0"/>
              </a:spcBef>
              <a:spcAft>
                <a:spcPct val="0"/>
              </a:spcAft>
              <a:defRPr kumimoji="1" b="1">
                <a:latin typeface="Tahoma" pitchFamily="34" charset="0"/>
                <a:ea typeface="굴림" charset="-127"/>
              </a:defRPr>
            </a:lvl3pPr>
            <a:lvl4pPr fontAlgn="base">
              <a:spcBef>
                <a:spcPct val="0"/>
              </a:spcBef>
              <a:spcAft>
                <a:spcPct val="0"/>
              </a:spcAft>
              <a:defRPr kumimoji="1" b="1">
                <a:latin typeface="Tahoma" pitchFamily="34" charset="0"/>
                <a:ea typeface="굴림" charset="-127"/>
              </a:defRPr>
            </a:lvl4pPr>
            <a:lvl5pPr fontAlgn="base">
              <a:spcBef>
                <a:spcPct val="0"/>
              </a:spcBef>
              <a:spcAft>
                <a:spcPct val="0"/>
              </a:spcAft>
              <a:defRPr kumimoji="1" b="1">
                <a:latin typeface="Tahoma" pitchFamily="34" charset="0"/>
                <a:ea typeface="굴림" charset="-127"/>
              </a:defRPr>
            </a:lvl5pPr>
            <a:lvl6pPr>
              <a:defRPr kumimoji="1" b="1">
                <a:latin typeface="Tahoma" pitchFamily="34" charset="0"/>
                <a:ea typeface="굴림" charset="-127"/>
              </a:defRPr>
            </a:lvl6pPr>
            <a:lvl7pPr>
              <a:defRPr kumimoji="1" b="1">
                <a:latin typeface="Tahoma" pitchFamily="34" charset="0"/>
                <a:ea typeface="굴림" charset="-127"/>
              </a:defRPr>
            </a:lvl7pPr>
            <a:lvl8pPr>
              <a:defRPr kumimoji="1" b="1">
                <a:latin typeface="Tahoma" pitchFamily="34" charset="0"/>
                <a:ea typeface="굴림" charset="-127"/>
              </a:defRPr>
            </a:lvl8pPr>
            <a:lvl9pPr>
              <a:defRPr kumimoji="1" b="1">
                <a:latin typeface="Tahoma" pitchFamily="34" charset="0"/>
                <a:ea typeface="굴림" charset="-127"/>
              </a:defRPr>
            </a:lvl9pPr>
          </a:lstStyle>
          <a:p>
            <a:r>
              <a:rPr lang="en-US" altLang="ko-KR" dirty="0" smtClean="0">
                <a:latin typeface="Tahoma" pitchFamily="34" charset="0"/>
                <a:ea typeface="Tahoma" pitchFamily="34" charset="0"/>
                <a:cs typeface="Tahoma" pitchFamily="34" charset="0"/>
              </a:rPr>
              <a:t>Paradigme</a:t>
            </a:r>
          </a:p>
          <a:p>
            <a:r>
              <a:rPr lang="en-US" altLang="ko-KR" dirty="0" smtClean="0">
                <a:latin typeface="Tahoma" pitchFamily="34" charset="0"/>
                <a:ea typeface="Tahoma" pitchFamily="34" charset="0"/>
                <a:cs typeface="Tahoma" pitchFamily="34" charset="0"/>
              </a:rPr>
              <a:t>de la société</a:t>
            </a:r>
          </a:p>
          <a:p>
            <a:r>
              <a:rPr lang="en-US" altLang="ko-KR" dirty="0" smtClean="0">
                <a:latin typeface="Tahoma" pitchFamily="34" charset="0"/>
                <a:ea typeface="Tahoma" pitchFamily="34" charset="0"/>
                <a:cs typeface="Tahoma" pitchFamily="34" charset="0"/>
              </a:rPr>
              <a:t>de l'information</a:t>
            </a:r>
            <a:endParaRPr lang="ko-KR" altLang="en-US" dirty="0">
              <a:latin typeface="Tahoma" pitchFamily="34" charset="0"/>
              <a:ea typeface="나눔고딕 ExtraBold" pitchFamily="50" charset="-127"/>
              <a:cs typeface="Tahoma" pitchFamily="34" charset="0"/>
            </a:endParaRPr>
          </a:p>
        </p:txBody>
      </p:sp>
      <p:sp>
        <p:nvSpPr>
          <p:cNvPr id="104" name="Text Box 24"/>
          <p:cNvSpPr txBox="1">
            <a:spLocks noChangeArrowheads="1"/>
          </p:cNvSpPr>
          <p:nvPr/>
        </p:nvSpPr>
        <p:spPr bwMode="auto">
          <a:xfrm>
            <a:off x="7112064" y="3420289"/>
            <a:ext cx="1443024" cy="523220"/>
          </a:xfrm>
          <a:prstGeom prst="rect">
            <a:avLst/>
          </a:prstGeom>
          <a:noFill/>
          <a:ln w="9525">
            <a:noFill/>
            <a:miter lim="800000"/>
            <a:headEnd/>
            <a:tailEnd/>
          </a:ln>
          <a:extLst/>
        </p:spPr>
        <p:txBody>
          <a:bodyPr wrap="none">
            <a:spAutoFit/>
          </a:bodyPr>
          <a:lstStyle>
            <a:defPPr>
              <a:defRPr lang="ko-KR"/>
            </a:defPPr>
            <a:lvl1pPr algn="ctr" fontAlgn="base">
              <a:spcBef>
                <a:spcPct val="0"/>
              </a:spcBef>
              <a:spcAft>
                <a:spcPct val="0"/>
              </a:spcAft>
              <a:defRPr kumimoji="1" sz="1400" b="1">
                <a:ln>
                  <a:solidFill>
                    <a:schemeClr val="bg1">
                      <a:alpha val="5000"/>
                    </a:schemeClr>
                  </a:solidFill>
                </a:ln>
                <a:solidFill>
                  <a:schemeClr val="tx2">
                    <a:lumMod val="75000"/>
                  </a:schemeClr>
                </a:solidFill>
                <a:latin typeface="HY견고딕" pitchFamily="18" charset="-127"/>
                <a:ea typeface="HY견고딕" pitchFamily="18" charset="-127"/>
              </a:defRPr>
            </a:lvl1pPr>
            <a:lvl2pPr fontAlgn="base">
              <a:spcBef>
                <a:spcPct val="0"/>
              </a:spcBef>
              <a:spcAft>
                <a:spcPct val="0"/>
              </a:spcAft>
              <a:defRPr kumimoji="1" b="1">
                <a:latin typeface="Tahoma" pitchFamily="34" charset="0"/>
                <a:ea typeface="굴림" charset="-127"/>
              </a:defRPr>
            </a:lvl2pPr>
            <a:lvl3pPr fontAlgn="base">
              <a:spcBef>
                <a:spcPct val="0"/>
              </a:spcBef>
              <a:spcAft>
                <a:spcPct val="0"/>
              </a:spcAft>
              <a:defRPr kumimoji="1" b="1">
                <a:latin typeface="Tahoma" pitchFamily="34" charset="0"/>
                <a:ea typeface="굴림" charset="-127"/>
              </a:defRPr>
            </a:lvl3pPr>
            <a:lvl4pPr fontAlgn="base">
              <a:spcBef>
                <a:spcPct val="0"/>
              </a:spcBef>
              <a:spcAft>
                <a:spcPct val="0"/>
              </a:spcAft>
              <a:defRPr kumimoji="1" b="1">
                <a:latin typeface="Tahoma" pitchFamily="34" charset="0"/>
                <a:ea typeface="굴림" charset="-127"/>
              </a:defRPr>
            </a:lvl4pPr>
            <a:lvl5pPr fontAlgn="base">
              <a:spcBef>
                <a:spcPct val="0"/>
              </a:spcBef>
              <a:spcAft>
                <a:spcPct val="0"/>
              </a:spcAft>
              <a:defRPr kumimoji="1" b="1">
                <a:latin typeface="Tahoma" pitchFamily="34" charset="0"/>
                <a:ea typeface="굴림" charset="-127"/>
              </a:defRPr>
            </a:lvl5pPr>
            <a:lvl6pPr>
              <a:defRPr kumimoji="1" b="1">
                <a:latin typeface="Tahoma" pitchFamily="34" charset="0"/>
                <a:ea typeface="굴림" charset="-127"/>
              </a:defRPr>
            </a:lvl6pPr>
            <a:lvl7pPr>
              <a:defRPr kumimoji="1" b="1">
                <a:latin typeface="Tahoma" pitchFamily="34" charset="0"/>
                <a:ea typeface="굴림" charset="-127"/>
              </a:defRPr>
            </a:lvl7pPr>
            <a:lvl8pPr>
              <a:defRPr kumimoji="1" b="1">
                <a:latin typeface="Tahoma" pitchFamily="34" charset="0"/>
                <a:ea typeface="굴림" charset="-127"/>
              </a:defRPr>
            </a:lvl8pPr>
            <a:lvl9pPr>
              <a:defRPr kumimoji="1" b="1">
                <a:latin typeface="Tahoma" pitchFamily="34" charset="0"/>
                <a:ea typeface="굴림" charset="-127"/>
              </a:defRPr>
            </a:lvl9pPr>
          </a:lstStyle>
          <a:p>
            <a:r>
              <a:rPr lang="en-US" altLang="ko-KR" dirty="0" smtClean="0">
                <a:latin typeface="Tahoma" pitchFamily="34" charset="0"/>
                <a:ea typeface="Tahoma" pitchFamily="34" charset="0"/>
                <a:cs typeface="Tahoma" pitchFamily="34" charset="0"/>
              </a:rPr>
              <a:t>Paradigme de la</a:t>
            </a:r>
          </a:p>
          <a:p>
            <a:r>
              <a:rPr lang="en-US" altLang="ko-KR" dirty="0" smtClean="0">
                <a:latin typeface="Tahoma" pitchFamily="34" charset="0"/>
                <a:ea typeface="Tahoma" pitchFamily="34" charset="0"/>
                <a:cs typeface="Tahoma" pitchFamily="34" charset="0"/>
              </a:rPr>
              <a:t>société Smart</a:t>
            </a:r>
            <a:endParaRPr lang="en-US" altLang="ko-KR" dirty="0">
              <a:latin typeface="Tahoma" pitchFamily="34" charset="0"/>
              <a:ea typeface="Tahoma" pitchFamily="34" charset="0"/>
              <a:cs typeface="Tahoma" pitchFamily="34" charset="0"/>
            </a:endParaRPr>
          </a:p>
        </p:txBody>
      </p:sp>
      <p:pic>
        <p:nvPicPr>
          <p:cNvPr id="105" name="Picture 4" descr="http://inspirida.com/wp-content/uploads/2009/10/iStock_000009820211XSmall-butterfly-growth1-300x95.jpg"/>
          <p:cNvPicPr>
            <a:picLocks noChangeAspect="1" noChangeArrowheads="1"/>
          </p:cNvPicPr>
          <p:nvPr/>
        </p:nvPicPr>
        <p:blipFill>
          <a:blip r:embed="rId8" cstate="print">
            <a:clrChange>
              <a:clrFrom>
                <a:srgbClr val="FFFFFF"/>
              </a:clrFrom>
              <a:clrTo>
                <a:srgbClr val="FFFFFF">
                  <a:alpha val="0"/>
                </a:srgbClr>
              </a:clrTo>
            </a:clrChange>
          </a:blip>
          <a:srcRect t="48607" r="75269"/>
          <a:stretch>
            <a:fillRect/>
          </a:stretch>
        </p:blipFill>
        <p:spPr bwMode="auto">
          <a:xfrm>
            <a:off x="1763688" y="3645024"/>
            <a:ext cx="875384" cy="576064"/>
          </a:xfrm>
          <a:prstGeom prst="rect">
            <a:avLst/>
          </a:prstGeom>
          <a:noFill/>
        </p:spPr>
      </p:pic>
      <p:pic>
        <p:nvPicPr>
          <p:cNvPr id="106" name="Picture 4" descr="http://inspirida.com/wp-content/uploads/2009/10/iStock_000009820211XSmall-butterfly-growth1-300x95.jpg"/>
          <p:cNvPicPr>
            <a:picLocks noChangeAspect="1" noChangeArrowheads="1"/>
          </p:cNvPicPr>
          <p:nvPr/>
        </p:nvPicPr>
        <p:blipFill>
          <a:blip r:embed="rId8" cstate="print">
            <a:clrChange>
              <a:clrFrom>
                <a:srgbClr val="FFFFFF"/>
              </a:clrFrom>
              <a:clrTo>
                <a:srgbClr val="FFFFFF">
                  <a:alpha val="0"/>
                </a:srgbClr>
              </a:clrTo>
            </a:clrChange>
          </a:blip>
          <a:srcRect l="26446" t="48607" r="55245"/>
          <a:stretch>
            <a:fillRect/>
          </a:stretch>
        </p:blipFill>
        <p:spPr bwMode="auto">
          <a:xfrm>
            <a:off x="4103948" y="2924944"/>
            <a:ext cx="756084" cy="672075"/>
          </a:xfrm>
          <a:prstGeom prst="rect">
            <a:avLst/>
          </a:prstGeom>
          <a:noFill/>
        </p:spPr>
      </p:pic>
      <p:sp>
        <p:nvSpPr>
          <p:cNvPr id="107" name="타원 106"/>
          <p:cNvSpPr/>
          <p:nvPr/>
        </p:nvSpPr>
        <p:spPr>
          <a:xfrm>
            <a:off x="6156176" y="3429000"/>
            <a:ext cx="792088" cy="792088"/>
          </a:xfrm>
          <a:prstGeom prst="ellipse">
            <a:avLst/>
          </a:prstGeom>
          <a:solidFill>
            <a:schemeClr val="bg1"/>
          </a:solidFill>
          <a:ln w="57150" cap="rnd">
            <a:solidFill>
              <a:schemeClr val="accent2">
                <a:lumMod val="75000"/>
              </a:schemeClr>
            </a:solidFill>
            <a:round/>
            <a:headEnd/>
            <a:tailEnd/>
          </a:ln>
        </p:spPr>
        <p:txBody>
          <a:bodyPr wrap="none" anchor="ctr" anchorCtr="0"/>
          <a:lstStyle/>
          <a:p>
            <a:pPr algn="ctr" fontAlgn="base">
              <a:spcBef>
                <a:spcPct val="0"/>
              </a:spcBef>
              <a:spcAft>
                <a:spcPct val="0"/>
              </a:spcAft>
            </a:pPr>
            <a:r>
              <a:rPr kumimoji="1" lang="en-US" altLang="ko-KR" sz="1600" b="1" dirty="0" smtClean="0">
                <a:ln>
                  <a:solidFill>
                    <a:schemeClr val="bg1">
                      <a:alpha val="5000"/>
                    </a:schemeClr>
                  </a:solidFill>
                </a:ln>
                <a:gradFill flip="none" rotWithShape="1">
                  <a:gsLst>
                    <a:gs pos="0">
                      <a:schemeClr val="accent2">
                        <a:lumMod val="75000"/>
                        <a:shade val="30000"/>
                        <a:satMod val="115000"/>
                      </a:schemeClr>
                    </a:gs>
                    <a:gs pos="50000">
                      <a:schemeClr val="accent2">
                        <a:lumMod val="75000"/>
                        <a:shade val="67500"/>
                        <a:satMod val="115000"/>
                      </a:schemeClr>
                    </a:gs>
                    <a:gs pos="100000">
                      <a:schemeClr val="accent2">
                        <a:lumMod val="75000"/>
                        <a:shade val="100000"/>
                        <a:satMod val="115000"/>
                      </a:schemeClr>
                    </a:gs>
                  </a:gsLst>
                  <a:lin ang="16200000" scaled="1"/>
                  <a:tileRect/>
                </a:gradFill>
                <a:latin typeface="Tahoma" pitchFamily="34" charset="0"/>
                <a:ea typeface="Tahoma" pitchFamily="34" charset="0"/>
                <a:cs typeface="Tahoma" pitchFamily="34" charset="0"/>
              </a:rPr>
              <a:t>Aujourd'hui</a:t>
            </a:r>
            <a:endParaRPr kumimoji="1" lang="ko-KR" altLang="en-US" sz="1600" b="1" dirty="0" smtClean="0">
              <a:ln>
                <a:solidFill>
                  <a:schemeClr val="bg1">
                    <a:alpha val="5000"/>
                  </a:schemeClr>
                </a:solidFill>
              </a:ln>
              <a:gradFill flip="none" rotWithShape="1">
                <a:gsLst>
                  <a:gs pos="0">
                    <a:schemeClr val="accent2">
                      <a:lumMod val="75000"/>
                      <a:shade val="30000"/>
                      <a:satMod val="115000"/>
                    </a:schemeClr>
                  </a:gs>
                  <a:gs pos="50000">
                    <a:schemeClr val="accent2">
                      <a:lumMod val="75000"/>
                      <a:shade val="67500"/>
                      <a:satMod val="115000"/>
                    </a:schemeClr>
                  </a:gs>
                  <a:gs pos="100000">
                    <a:schemeClr val="accent2">
                      <a:lumMod val="75000"/>
                      <a:shade val="100000"/>
                      <a:satMod val="115000"/>
                    </a:schemeClr>
                  </a:gs>
                </a:gsLst>
                <a:lin ang="16200000" scaled="1"/>
                <a:tileRect/>
              </a:gradFill>
              <a:latin typeface="Tahoma" pitchFamily="34" charset="0"/>
              <a:ea typeface="나눔고딕 ExtraBold" pitchFamily="50" charset="-127"/>
              <a:cs typeface="Tahoma" pitchFamily="34" charset="0"/>
            </a:endParaRPr>
          </a:p>
        </p:txBody>
      </p:sp>
      <p:sp>
        <p:nvSpPr>
          <p:cNvPr id="108" name="모서리가 둥근 사각형 설명선 107"/>
          <p:cNvSpPr/>
          <p:nvPr/>
        </p:nvSpPr>
        <p:spPr>
          <a:xfrm>
            <a:off x="7308304" y="4293096"/>
            <a:ext cx="1800200" cy="578882"/>
          </a:xfrm>
          <a:prstGeom prst="wedgeRoundRectCallout">
            <a:avLst>
              <a:gd name="adj1" fmla="val -75873"/>
              <a:gd name="adj2" fmla="val -94863"/>
              <a:gd name="adj3" fmla="val 16667"/>
            </a:avLst>
          </a:prstGeom>
          <a:solidFill>
            <a:schemeClr val="accent2">
              <a:lumMod val="75000"/>
            </a:schemeClr>
          </a:solidFill>
        </p:spPr>
        <p:txBody>
          <a:bodyPr wrap="square">
            <a:spAutoFit/>
          </a:bodyPr>
          <a:lstStyle/>
          <a:p>
            <a:pPr algn="ctr"/>
            <a:r>
              <a:rPr lang="en-US" altLang="ko-KR" sz="1400" dirty="0" smtClean="0">
                <a:ln>
                  <a:solidFill>
                    <a:prstClr val="white">
                      <a:alpha val="5000"/>
                    </a:prstClr>
                  </a:solidFill>
                </a:ln>
                <a:solidFill>
                  <a:schemeClr val="bg1"/>
                </a:solidFill>
                <a:latin typeface="Tahoma" pitchFamily="34" charset="0"/>
                <a:ea typeface="Tahoma" pitchFamily="34" charset="0"/>
                <a:cs typeface="Tahoma" pitchFamily="34" charset="0"/>
              </a:rPr>
              <a:t>Besoin d'un nouveau paradigme</a:t>
            </a:r>
            <a:endParaRPr lang="ko-KR" altLang="en-US" sz="1400" dirty="0" smtClean="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sp>
        <p:nvSpPr>
          <p:cNvPr id="3" name="슬라이드 번호 개체 틀 2"/>
          <p:cNvSpPr>
            <a:spLocks noGrp="1"/>
          </p:cNvSpPr>
          <p:nvPr>
            <p:ph type="sldNum" sz="quarter" idx="12"/>
          </p:nvPr>
        </p:nvSpPr>
        <p:spPr/>
        <p:txBody>
          <a:bodyPr/>
          <a:lstStyle/>
          <a:p>
            <a:fld id="{8F563537-3992-4579-A065-26E1D23BF530}" type="slidenum">
              <a:rPr lang="ko-KR" altLang="en-US" smtClean="0"/>
              <a:pPr/>
              <a:t>2</a:t>
            </a:fld>
            <a:endParaRPr lang="ko-KR" altLang="en-US" dirty="0"/>
          </a:p>
        </p:txBody>
      </p:sp>
    </p:spTree>
    <p:extLst>
      <p:ext uri="{BB962C8B-B14F-4D97-AF65-F5344CB8AC3E}">
        <p14:creationId xmlns:p14="http://schemas.microsoft.com/office/powerpoint/2010/main" val="70823878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제목 1"/>
          <p:cNvSpPr>
            <a:spLocks noGrp="1"/>
          </p:cNvSpPr>
          <p:nvPr>
            <p:ph type="title"/>
          </p:nvPr>
        </p:nvSpPr>
        <p:spPr/>
        <p:txBody>
          <a:bodyPr>
            <a:normAutofit/>
          </a:bodyPr>
          <a:lstStyle/>
          <a:p>
            <a:r>
              <a:rPr lang="en-US" altLang="ko-KR" sz="3200" dirty="0" smtClean="0">
                <a:latin typeface="Tahoma" pitchFamily="34" charset="0"/>
                <a:ea typeface="Tahoma" pitchFamily="34" charset="0"/>
                <a:cs typeface="Tahoma" pitchFamily="34" charset="0"/>
              </a:rPr>
              <a:t>Classements dans les enquêtes mondiales sur les TI</a:t>
            </a:r>
            <a:endParaRPr lang="en-US" altLang="ko-KR" sz="3200" dirty="0">
              <a:latin typeface="Tahoma" pitchFamily="34" charset="0"/>
              <a:ea typeface="Tahoma" pitchFamily="34" charset="0"/>
              <a:cs typeface="Tahoma" pitchFamily="34" charset="0"/>
            </a:endParaRPr>
          </a:p>
        </p:txBody>
      </p:sp>
      <p:pic>
        <p:nvPicPr>
          <p:cNvPr id="52" name="Picture 2" descr="F:\★Clipart★\입체아이콘\301326 [Converted].png"/>
          <p:cNvPicPr>
            <a:picLocks noChangeAspect="1" noChangeArrowheads="1"/>
          </p:cNvPicPr>
          <p:nvPr/>
        </p:nvPicPr>
        <p:blipFill>
          <a:blip r:embed="rId3" cstate="print"/>
          <a:srcRect/>
          <a:stretch>
            <a:fillRect/>
          </a:stretch>
        </p:blipFill>
        <p:spPr bwMode="auto">
          <a:xfrm>
            <a:off x="45021" y="2531355"/>
            <a:ext cx="1510727" cy="2671001"/>
          </a:xfrm>
          <a:prstGeom prst="rect">
            <a:avLst/>
          </a:prstGeom>
          <a:noFill/>
          <a:effectLst>
            <a:reflection blurRad="6350" stA="50000" endA="300" endPos="38500" dist="50800" dir="5400000" sy="-100000" algn="bl" rotWithShape="0"/>
          </a:effectLst>
        </p:spPr>
      </p:pic>
      <p:pic>
        <p:nvPicPr>
          <p:cNvPr id="3" name="그림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152935" y="1556792"/>
            <a:ext cx="5155369" cy="4387184"/>
          </a:xfrm>
          <a:prstGeom prst="rect">
            <a:avLst/>
          </a:prstGeom>
        </p:spPr>
      </p:pic>
      <p:sp>
        <p:nvSpPr>
          <p:cNvPr id="4" name="슬라이드 번호 개체 틀 3"/>
          <p:cNvSpPr>
            <a:spLocks noGrp="1"/>
          </p:cNvSpPr>
          <p:nvPr>
            <p:ph type="sldNum" sz="quarter" idx="12"/>
          </p:nvPr>
        </p:nvSpPr>
        <p:spPr/>
        <p:txBody>
          <a:bodyPr/>
          <a:lstStyle/>
          <a:p>
            <a:fld id="{8F563537-3992-4579-A065-26E1D23BF530}" type="slidenum">
              <a:rPr lang="ko-KR" altLang="en-US" smtClean="0"/>
              <a:pPr/>
              <a:t>3</a:t>
            </a:fld>
            <a:endParaRPr lang="ko-KR" altLang="en-US" dirty="0"/>
          </a:p>
        </p:txBody>
      </p:sp>
    </p:spTree>
    <p:extLst>
      <p:ext uri="{BB962C8B-B14F-4D97-AF65-F5344CB8AC3E}">
        <p14:creationId xmlns:p14="http://schemas.microsoft.com/office/powerpoint/2010/main" val="393784581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rmAutofit/>
          </a:bodyPr>
          <a:lstStyle/>
          <a:p>
            <a:r>
              <a:rPr lang="en-US" altLang="ko-KR" sz="3200" dirty="0" smtClean="0"/>
              <a:t>État actuel de l'e-Gouvernement en Corée </a:t>
            </a:r>
            <a:endParaRPr lang="ko-KR" altLang="en-US" sz="3200" dirty="0"/>
          </a:p>
        </p:txBody>
      </p:sp>
      <p:pic>
        <p:nvPicPr>
          <p:cNvPr id="4" name="내용 개체 틀 3"/>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1067045" y="1600200"/>
            <a:ext cx="7009909" cy="4525963"/>
          </a:xfrm>
        </p:spPr>
      </p:pic>
      <p:sp>
        <p:nvSpPr>
          <p:cNvPr id="5" name="슬라이드 번호 개체 틀 4"/>
          <p:cNvSpPr>
            <a:spLocks noGrp="1"/>
          </p:cNvSpPr>
          <p:nvPr>
            <p:ph type="sldNum" sz="quarter" idx="12"/>
          </p:nvPr>
        </p:nvSpPr>
        <p:spPr/>
        <p:txBody>
          <a:bodyPr/>
          <a:lstStyle/>
          <a:p>
            <a:fld id="{8F563537-3992-4579-A065-26E1D23BF530}" type="slidenum">
              <a:rPr lang="ko-KR" altLang="en-US" smtClean="0"/>
              <a:pPr/>
              <a:t>4</a:t>
            </a:fld>
            <a:endParaRPr lang="ko-KR" altLang="en-US"/>
          </a:p>
        </p:txBody>
      </p:sp>
    </p:spTree>
    <p:extLst>
      <p:ext uri="{BB962C8B-B14F-4D97-AF65-F5344CB8AC3E}">
        <p14:creationId xmlns:p14="http://schemas.microsoft.com/office/powerpoint/2010/main" val="421845622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rmAutofit/>
          </a:bodyPr>
          <a:lstStyle/>
          <a:p>
            <a:r>
              <a:rPr lang="en-US" altLang="ko-KR" sz="3200" dirty="0"/>
              <a:t>Meilleures pratiques du </a:t>
            </a:r>
            <a:r>
              <a:rPr lang="en-US" altLang="ko-KR" sz="3200" dirty="0" smtClean="0"/>
              <a:t>gouvernement électronique de Corée (1)</a:t>
            </a:r>
            <a:endParaRPr lang="ko-KR" altLang="en-US" sz="3200" dirty="0"/>
          </a:p>
        </p:txBody>
      </p:sp>
      <p:pic>
        <p:nvPicPr>
          <p:cNvPr id="4" name="내용 개체 틀 3"/>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839016" y="1600200"/>
            <a:ext cx="7465968" cy="4525963"/>
          </a:xfrm>
        </p:spPr>
      </p:pic>
      <p:sp>
        <p:nvSpPr>
          <p:cNvPr id="5" name="슬라이드 번호 개체 틀 4"/>
          <p:cNvSpPr>
            <a:spLocks noGrp="1"/>
          </p:cNvSpPr>
          <p:nvPr>
            <p:ph type="sldNum" sz="quarter" idx="12"/>
          </p:nvPr>
        </p:nvSpPr>
        <p:spPr/>
        <p:txBody>
          <a:bodyPr/>
          <a:lstStyle/>
          <a:p>
            <a:fld id="{8F563537-3992-4579-A065-26E1D23BF530}" type="slidenum">
              <a:rPr lang="ko-KR" altLang="en-US" smtClean="0"/>
              <a:pPr/>
              <a:t>5</a:t>
            </a:fld>
            <a:endParaRPr lang="ko-KR" altLang="en-US"/>
          </a:p>
        </p:txBody>
      </p:sp>
    </p:spTree>
    <p:extLst>
      <p:ext uri="{BB962C8B-B14F-4D97-AF65-F5344CB8AC3E}">
        <p14:creationId xmlns:p14="http://schemas.microsoft.com/office/powerpoint/2010/main" val="87818152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rmAutofit/>
          </a:bodyPr>
          <a:lstStyle/>
          <a:p>
            <a:r>
              <a:rPr lang="en-US" altLang="ko-KR" sz="3200" dirty="0" smtClean="0"/>
              <a:t>Meilleures pratiques de l'e-Gouvernement coréen (2)</a:t>
            </a:r>
            <a:endParaRPr lang="ko-KR" altLang="en-US" sz="3200" dirty="0"/>
          </a:p>
        </p:txBody>
      </p:sp>
      <p:pic>
        <p:nvPicPr>
          <p:cNvPr id="4" name="내용 개체 틀 3"/>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1009650" y="1683861"/>
            <a:ext cx="7124700" cy="4358640"/>
          </a:xfrm>
        </p:spPr>
      </p:pic>
      <p:sp>
        <p:nvSpPr>
          <p:cNvPr id="5" name="슬라이드 번호 개체 틀 4"/>
          <p:cNvSpPr>
            <a:spLocks noGrp="1"/>
          </p:cNvSpPr>
          <p:nvPr>
            <p:ph type="sldNum" sz="quarter" idx="12"/>
          </p:nvPr>
        </p:nvSpPr>
        <p:spPr/>
        <p:txBody>
          <a:bodyPr/>
          <a:lstStyle/>
          <a:p>
            <a:fld id="{8F563537-3992-4579-A065-26E1D23BF530}" type="slidenum">
              <a:rPr lang="ko-KR" altLang="en-US" smtClean="0"/>
              <a:pPr/>
              <a:t>6</a:t>
            </a:fld>
            <a:endParaRPr lang="ko-KR" altLang="en-US"/>
          </a:p>
        </p:txBody>
      </p:sp>
    </p:spTree>
    <p:extLst>
      <p:ext uri="{BB962C8B-B14F-4D97-AF65-F5344CB8AC3E}">
        <p14:creationId xmlns:p14="http://schemas.microsoft.com/office/powerpoint/2010/main" val="10514396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Autofit/>
          </a:bodyPr>
          <a:lstStyle/>
          <a:p>
            <a:r>
              <a:rPr lang="en-US" altLang="ko-KR" sz="3600" dirty="0"/>
              <a:t>Facteurs de succès du </a:t>
            </a:r>
            <a:r>
              <a:rPr lang="en-US" altLang="ko-KR" sz="3600" dirty="0" smtClean="0"/>
              <a:t/>
            </a:r>
            <a:br>
              <a:rPr lang="en-US" altLang="ko-KR" sz="3600" dirty="0" smtClean="0"/>
            </a:br>
            <a:r>
              <a:rPr lang="en-US" altLang="ko-KR" sz="3600" dirty="0" smtClean="0"/>
              <a:t>gouvernement électronique coréen</a:t>
            </a:r>
            <a:endParaRPr lang="ko-KR" altLang="en-US" sz="3600" dirty="0"/>
          </a:p>
        </p:txBody>
      </p:sp>
      <p:sp>
        <p:nvSpPr>
          <p:cNvPr id="73" name="AutoShape 110"/>
          <p:cNvSpPr>
            <a:spLocks noChangeArrowheads="1"/>
          </p:cNvSpPr>
          <p:nvPr/>
        </p:nvSpPr>
        <p:spPr bwMode="auto">
          <a:xfrm>
            <a:off x="1010863" y="1844824"/>
            <a:ext cx="2408136" cy="792807"/>
          </a:xfrm>
          <a:prstGeom prst="homePlate">
            <a:avLst>
              <a:gd name="adj" fmla="val 55422"/>
            </a:avLst>
          </a:prstGeom>
          <a:gradFill rotWithShape="0">
            <a:gsLst>
              <a:gs pos="0">
                <a:srgbClr val="FFFFFF"/>
              </a:gs>
              <a:gs pos="100000">
                <a:srgbClr val="4886CA"/>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4886CA"/>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ko-KR" altLang="ko-KR" sz="2000" b="1" i="0" u="none" strike="noStrike" kern="0" cap="none" spc="0" normalizeH="0" baseline="0" noProof="0" smtClean="0">
              <a:ln>
                <a:noFill/>
              </a:ln>
              <a:solidFill>
                <a:srgbClr val="FFFFFF"/>
              </a:solidFill>
              <a:effectLst>
                <a:outerShdw blurRad="38100" dist="38100" dir="2700000" algn="tl">
                  <a:srgbClr val="000000"/>
                </a:outerShdw>
              </a:effectLst>
              <a:uLnTx/>
              <a:uFillTx/>
              <a:latin typeface="Times New Roman" pitchFamily="18" charset="0"/>
              <a:ea typeface="굴림" pitchFamily="50" charset="-127"/>
            </a:endParaRPr>
          </a:p>
        </p:txBody>
      </p:sp>
      <p:sp>
        <p:nvSpPr>
          <p:cNvPr id="74" name="Rectangle 111"/>
          <p:cNvSpPr>
            <a:spLocks noChangeArrowheads="1"/>
          </p:cNvSpPr>
          <p:nvPr/>
        </p:nvSpPr>
        <p:spPr bwMode="auto">
          <a:xfrm>
            <a:off x="1010863" y="2852936"/>
            <a:ext cx="2408136" cy="3384376"/>
          </a:xfrm>
          <a:prstGeom prst="rect">
            <a:avLst/>
          </a:prstGeom>
          <a:gradFill rotWithShape="0">
            <a:gsLst>
              <a:gs pos="0">
                <a:srgbClr val="FFFFFF"/>
              </a:gs>
              <a:gs pos="100000">
                <a:srgbClr val="4886CA"/>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4886CA"/>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defTabSz="914400" eaLnBrk="0" fontAlgn="base" latinLnBrk="0" hangingPunct="0">
              <a:lnSpc>
                <a:spcPct val="160000"/>
              </a:lnSpc>
              <a:spcBef>
                <a:spcPct val="0"/>
              </a:spcBef>
              <a:spcAft>
                <a:spcPct val="0"/>
              </a:spcAft>
              <a:buClrTx/>
              <a:buSzTx/>
              <a:buFontTx/>
              <a:buNone/>
              <a:tabLst/>
              <a:defRPr/>
            </a:pPr>
            <a:r>
              <a:rPr kumimoji="0" lang="en-US" altLang="ko-KR" sz="1800" b="1" i="0" u="none" strike="noStrike" kern="0" cap="none" spc="0" normalizeH="0" baseline="0" noProof="0" smtClean="0">
                <a:ln>
                  <a:noFill/>
                </a:ln>
                <a:solidFill>
                  <a:srgbClr val="000000"/>
                </a:solidFill>
                <a:effectLst/>
                <a:uLnTx/>
                <a:uFillTx/>
                <a:latin typeface="굴림" pitchFamily="50" charset="-127"/>
                <a:ea typeface="굴림" pitchFamily="50" charset="-127"/>
              </a:rPr>
              <a:t> </a:t>
            </a:r>
          </a:p>
        </p:txBody>
      </p:sp>
      <p:grpSp>
        <p:nvGrpSpPr>
          <p:cNvPr id="75" name="Group 112"/>
          <p:cNvGrpSpPr>
            <a:grpSpLocks/>
          </p:cNvGrpSpPr>
          <p:nvPr/>
        </p:nvGrpSpPr>
        <p:grpSpPr bwMode="auto">
          <a:xfrm>
            <a:off x="1620750" y="2420888"/>
            <a:ext cx="143965" cy="715213"/>
            <a:chOff x="4333" y="2636"/>
            <a:chExt cx="110" cy="456"/>
          </a:xfrm>
        </p:grpSpPr>
        <p:sp>
          <p:nvSpPr>
            <p:cNvPr id="103" name="Oval 113"/>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4" name="Oval 114"/>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5" name="Line 115"/>
            <p:cNvSpPr>
              <a:spLocks noChangeShapeType="1"/>
            </p:cNvSpPr>
            <p:nvPr/>
          </p:nvSpPr>
          <p:spPr bwMode="auto">
            <a:xfrm>
              <a:off x="4388" y="2699"/>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grpSp>
        <p:nvGrpSpPr>
          <p:cNvPr id="76" name="Group 116"/>
          <p:cNvGrpSpPr>
            <a:grpSpLocks/>
          </p:cNvGrpSpPr>
          <p:nvPr/>
        </p:nvGrpSpPr>
        <p:grpSpPr bwMode="auto">
          <a:xfrm>
            <a:off x="2267282" y="2420888"/>
            <a:ext cx="146582" cy="715213"/>
            <a:chOff x="4333" y="2636"/>
            <a:chExt cx="110" cy="456"/>
          </a:xfrm>
        </p:grpSpPr>
        <p:sp>
          <p:nvSpPr>
            <p:cNvPr id="100" name="Oval 117"/>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1" name="Oval 118"/>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2" name="Line 119"/>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sp>
        <p:nvSpPr>
          <p:cNvPr id="77" name="Rectangle 219"/>
          <p:cNvSpPr>
            <a:spLocks noChangeArrowheads="1"/>
          </p:cNvSpPr>
          <p:nvPr/>
        </p:nvSpPr>
        <p:spPr bwMode="auto">
          <a:xfrm>
            <a:off x="1107712" y="3284984"/>
            <a:ext cx="1991948" cy="2733041"/>
          </a:xfrm>
          <a:prstGeom prst="rect">
            <a:avLst/>
          </a:prstGeom>
          <a:solidFill>
            <a:srgbClr val="FFFFFF"/>
          </a:solidFill>
          <a:ln>
            <a:noFill/>
          </a:ln>
          <a:effectLst>
            <a:prstShdw prst="shdw18" dist="17961" dir="13500000">
              <a:srgbClr val="FFFFFF">
                <a:gamma/>
                <a:shade val="60000"/>
                <a:invGamma/>
              </a:srgb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marL="228600" lvl="0" indent="-228600" fontAlgn="base" latinLnBrk="0">
              <a:spcBef>
                <a:spcPct val="0"/>
              </a:spcBef>
              <a:spcAft>
                <a:spcPct val="0"/>
              </a:spcAft>
              <a:buAutoNum type="arabicPeriod"/>
            </a:pPr>
            <a:r>
              <a:rPr kumimoji="1" lang="en-US" altLang="ko-KR" sz="1200" b="1" kern="0" dirty="0" smtClean="0">
                <a:solidFill>
                  <a:srgbClr val="000000"/>
                </a:solidFill>
                <a:latin typeface="+mn-ea"/>
                <a:cs typeface="Tahoma" pitchFamily="34" charset="0"/>
              </a:rPr>
              <a:t>Fort </a:t>
            </a:r>
            <a:r>
              <a:rPr kumimoji="1" lang="en-US" altLang="ko-KR" sz="1200" b="1" kern="0" dirty="0">
                <a:solidFill>
                  <a:srgbClr val="000000"/>
                </a:solidFill>
                <a:latin typeface="+mn-ea"/>
                <a:cs typeface="Tahoma" pitchFamily="34" charset="0"/>
              </a:rPr>
              <a:t>soutien de l'État </a:t>
            </a:r>
            <a:endParaRPr kumimoji="1" lang="en-US" altLang="ko-KR" sz="1200" b="1" kern="0" dirty="0" smtClean="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smtClean="0">
                <a:solidFill>
                  <a:srgbClr val="000000"/>
                </a:solidFill>
                <a:latin typeface="+mn-ea"/>
                <a:cs typeface="Tahoma" pitchFamily="34" charset="0"/>
              </a:rPr>
              <a:t>    gouvernemental</a:t>
            </a: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a:solidFill>
                  <a:srgbClr val="000000"/>
                </a:solidFill>
                <a:latin typeface="+mn-ea"/>
                <a:cs typeface="Tahoma" pitchFamily="34" charset="0"/>
              </a:rPr>
              <a:t>2. Investissement </a:t>
            </a:r>
            <a:r>
              <a:rPr kumimoji="1" lang="en-US" altLang="ko-KR" sz="1200" b="1" kern="0" dirty="0" smtClean="0">
                <a:solidFill>
                  <a:srgbClr val="000000"/>
                </a:solidFill>
                <a:latin typeface="+mn-ea"/>
                <a:cs typeface="Tahoma" pitchFamily="34" charset="0"/>
              </a:rPr>
              <a:t>soutenu</a:t>
            </a:r>
          </a:p>
          <a:p>
            <a:pPr lvl="0" fontAlgn="base" latinLnBrk="0">
              <a:spcBef>
                <a:spcPct val="0"/>
              </a:spcBef>
              <a:spcAft>
                <a:spcPct val="0"/>
              </a:spcAft>
            </a:pPr>
            <a:r>
              <a:rPr kumimoji="1" lang="en-US" altLang="ko-KR" sz="1200" b="1" kern="0" dirty="0" smtClean="0">
                <a:solidFill>
                  <a:srgbClr val="000000"/>
                </a:solidFill>
                <a:latin typeface="+mn-ea"/>
                <a:cs typeface="Tahoma" pitchFamily="34" charset="0"/>
              </a:rPr>
              <a:t>    dans le </a:t>
            </a:r>
            <a:r>
              <a:rPr kumimoji="1" lang="en-US" altLang="ko-KR" sz="1200" b="1" kern="0" dirty="0">
                <a:solidFill>
                  <a:srgbClr val="000000"/>
                </a:solidFill>
                <a:latin typeface="+mn-ea"/>
                <a:cs typeface="Tahoma" pitchFamily="34" charset="0"/>
              </a:rPr>
              <a:t>gouvernement électronique </a:t>
            </a:r>
            <a:endParaRPr kumimoji="1" lang="en-US" altLang="ko-KR" sz="1200" b="1" kern="0" dirty="0" smtClean="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a:solidFill>
                  <a:srgbClr val="000000"/>
                </a:solidFill>
                <a:latin typeface="+mn-ea"/>
                <a:cs typeface="Tahoma" pitchFamily="34" charset="0"/>
              </a:rPr>
              <a:t> </a:t>
            </a:r>
            <a:r>
              <a:rPr kumimoji="1" lang="en-US" altLang="ko-KR" sz="1200" b="1" kern="0" dirty="0" smtClean="0">
                <a:solidFill>
                  <a:srgbClr val="000000"/>
                </a:solidFill>
                <a:latin typeface="+mn-ea"/>
                <a:cs typeface="Tahoma" pitchFamily="34" charset="0"/>
              </a:rPr>
              <a:t>    de l'e-Gouvernement</a:t>
            </a: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a:solidFill>
                  <a:srgbClr val="000000"/>
                </a:solidFill>
                <a:latin typeface="+mn-ea"/>
                <a:cs typeface="Tahoma" pitchFamily="34" charset="0"/>
              </a:rPr>
              <a:t>3. Soutien technologique</a:t>
            </a:r>
            <a:endParaRPr kumimoji="1" lang="ko-KR" altLang="en-US" sz="1200" b="1" i="0" u="none" strike="noStrike" kern="0" cap="none" spc="0" normalizeH="0" baseline="0" noProof="0" dirty="0" smtClean="0">
              <a:ln>
                <a:noFill/>
              </a:ln>
              <a:solidFill>
                <a:srgbClr val="000000"/>
              </a:solidFill>
              <a:effectLst/>
              <a:uLnTx/>
              <a:uFillTx/>
              <a:latin typeface="+mn-ea"/>
              <a:cs typeface="Tahoma" pitchFamily="34" charset="0"/>
            </a:endParaRPr>
          </a:p>
        </p:txBody>
      </p:sp>
      <p:sp>
        <p:nvSpPr>
          <p:cNvPr id="78" name="AutoShape 244"/>
          <p:cNvSpPr>
            <a:spLocks noChangeArrowheads="1"/>
          </p:cNvSpPr>
          <p:nvPr/>
        </p:nvSpPr>
        <p:spPr bwMode="auto">
          <a:xfrm>
            <a:off x="3466115" y="1844824"/>
            <a:ext cx="2408136" cy="792807"/>
          </a:xfrm>
          <a:prstGeom prst="chevron">
            <a:avLst>
              <a:gd name="adj" fmla="val 55422"/>
            </a:avLst>
          </a:prstGeom>
          <a:gradFill rotWithShape="0">
            <a:gsLst>
              <a:gs pos="0">
                <a:srgbClr val="FFFFFF"/>
              </a:gs>
              <a:gs pos="100000">
                <a:srgbClr val="ECD770"/>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ECD770"/>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lvl="0" algn="ctr" eaLnBrk="0" fontAlgn="base" latinLnBrk="0" hangingPunct="0">
              <a:spcBef>
                <a:spcPct val="0"/>
              </a:spcBef>
              <a:spcAft>
                <a:spcPct val="0"/>
              </a:spcAft>
            </a:pPr>
            <a:r>
              <a:rPr lang="en-US" altLang="ko-KR" kern="0" dirty="0" smtClean="0">
                <a:latin typeface="맑은 고딕" pitchFamily="50" charset="-127"/>
                <a:ea typeface="맑은 고딕" pitchFamily="50" charset="-127"/>
              </a:rPr>
              <a:t>  Phase </a:t>
            </a:r>
            <a:r>
              <a:rPr lang="en-US" altLang="ko-KR" kern="0" dirty="0">
                <a:latin typeface="맑은 고딕" pitchFamily="50" charset="-127"/>
                <a:ea typeface="맑은 고딕" pitchFamily="50" charset="-127"/>
              </a:rPr>
              <a:t>transactionnelle</a:t>
            </a:r>
            <a:endParaRPr kumimoji="0" lang="ko-KR" altLang="ko-KR" i="0" u="none" strike="noStrike" kern="0" cap="none" spc="0" normalizeH="0" baseline="0" noProof="0" dirty="0" smtClean="0">
              <a:ln>
                <a:noFill/>
              </a:ln>
              <a:uLnTx/>
              <a:uFillTx/>
              <a:latin typeface="맑은 고딕" pitchFamily="50" charset="-127"/>
              <a:ea typeface="맑은 고딕" pitchFamily="50" charset="-127"/>
            </a:endParaRPr>
          </a:p>
        </p:txBody>
      </p:sp>
      <p:sp>
        <p:nvSpPr>
          <p:cNvPr id="79" name="Rectangle 245"/>
          <p:cNvSpPr>
            <a:spLocks noChangeArrowheads="1"/>
          </p:cNvSpPr>
          <p:nvPr/>
        </p:nvSpPr>
        <p:spPr bwMode="auto">
          <a:xfrm>
            <a:off x="3538123" y="2852936"/>
            <a:ext cx="2330021" cy="3384376"/>
          </a:xfrm>
          <a:prstGeom prst="rect">
            <a:avLst/>
          </a:prstGeom>
          <a:gradFill rotWithShape="0">
            <a:gsLst>
              <a:gs pos="0">
                <a:srgbClr val="FFFFFF"/>
              </a:gs>
              <a:gs pos="100000">
                <a:srgbClr val="ECD770"/>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ECD770"/>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defTabSz="914400" eaLnBrk="0" fontAlgn="base" latinLnBrk="0" hangingPunct="0">
              <a:lnSpc>
                <a:spcPct val="210000"/>
              </a:lnSpc>
              <a:spcBef>
                <a:spcPct val="0"/>
              </a:spcBef>
              <a:spcAft>
                <a:spcPct val="0"/>
              </a:spcAft>
              <a:buClrTx/>
              <a:buSzTx/>
              <a:buFontTx/>
              <a:buNone/>
              <a:tabLst/>
              <a:defRPr/>
            </a:pPr>
            <a:r>
              <a:rPr kumimoji="0" lang="en-US" altLang="ko-KR" sz="1800" b="1" i="0" u="none" strike="noStrike" kern="0" cap="none" spc="0" normalizeH="0" baseline="0" noProof="0" smtClean="0">
                <a:ln>
                  <a:noFill/>
                </a:ln>
                <a:solidFill>
                  <a:srgbClr val="000000"/>
                </a:solidFill>
                <a:effectLst/>
                <a:uLnTx/>
                <a:uFillTx/>
                <a:latin typeface="굴림" pitchFamily="50" charset="-127"/>
                <a:ea typeface="굴림" pitchFamily="50" charset="-127"/>
              </a:rPr>
              <a:t> </a:t>
            </a:r>
          </a:p>
        </p:txBody>
      </p:sp>
      <p:grpSp>
        <p:nvGrpSpPr>
          <p:cNvPr id="80" name="Group 246"/>
          <p:cNvGrpSpPr>
            <a:grpSpLocks/>
          </p:cNvGrpSpPr>
          <p:nvPr/>
        </p:nvGrpSpPr>
        <p:grpSpPr bwMode="auto">
          <a:xfrm>
            <a:off x="4076002" y="2420888"/>
            <a:ext cx="143965" cy="715213"/>
            <a:chOff x="4333" y="2636"/>
            <a:chExt cx="110" cy="456"/>
          </a:xfrm>
        </p:grpSpPr>
        <p:sp>
          <p:nvSpPr>
            <p:cNvPr id="97" name="Oval 247"/>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8" name="Oval 248"/>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9" name="Line 249"/>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grpSp>
        <p:nvGrpSpPr>
          <p:cNvPr id="81" name="Group 250"/>
          <p:cNvGrpSpPr>
            <a:grpSpLocks/>
          </p:cNvGrpSpPr>
          <p:nvPr/>
        </p:nvGrpSpPr>
        <p:grpSpPr bwMode="auto">
          <a:xfrm>
            <a:off x="4722534" y="2420888"/>
            <a:ext cx="146582" cy="715213"/>
            <a:chOff x="4333" y="2636"/>
            <a:chExt cx="110" cy="456"/>
          </a:xfrm>
        </p:grpSpPr>
        <p:sp>
          <p:nvSpPr>
            <p:cNvPr id="94" name="Oval 251"/>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5" name="Oval 252"/>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6" name="Line 253"/>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sp>
        <p:nvSpPr>
          <p:cNvPr id="82" name="Rectangle 254"/>
          <p:cNvSpPr>
            <a:spLocks noChangeArrowheads="1"/>
          </p:cNvSpPr>
          <p:nvPr/>
        </p:nvSpPr>
        <p:spPr bwMode="auto">
          <a:xfrm>
            <a:off x="3634972" y="3304825"/>
            <a:ext cx="2088797" cy="2733041"/>
          </a:xfrm>
          <a:prstGeom prst="rect">
            <a:avLst/>
          </a:prstGeom>
          <a:solidFill>
            <a:srgbClr val="FFFFFF"/>
          </a:solidFill>
          <a:ln>
            <a:noFill/>
          </a:ln>
          <a:effectLst>
            <a:prstShdw prst="shdw18" dist="17961" dir="13500000">
              <a:srgbClr val="FFFFFF">
                <a:gamma/>
                <a:shade val="60000"/>
                <a:invGamma/>
              </a:srgb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lvl="0" fontAlgn="base" latinLnBrk="0">
              <a:spcBef>
                <a:spcPct val="0"/>
              </a:spcBef>
              <a:spcAft>
                <a:spcPct val="0"/>
              </a:spcAft>
            </a:pPr>
            <a:r>
              <a:rPr kumimoji="1" lang="en-US" altLang="ko-KR" sz="1200" b="1" kern="0" dirty="0">
                <a:solidFill>
                  <a:srgbClr val="000000"/>
                </a:solidFill>
                <a:latin typeface="+mn-ea"/>
              </a:rPr>
              <a:t>4. Gestion du changement </a:t>
            </a:r>
            <a:endParaRPr kumimoji="1" lang="en-US" altLang="ko-KR" sz="1200" b="1" kern="0" dirty="0" smtClean="0">
              <a:solidFill>
                <a:srgbClr val="000000"/>
              </a:solidFill>
              <a:latin typeface="+mn-ea"/>
            </a:endParaRPr>
          </a:p>
          <a:p>
            <a:pPr lvl="0" fontAlgn="base" latinLnBrk="0">
              <a:spcBef>
                <a:spcPct val="0"/>
              </a:spcBef>
              <a:spcAft>
                <a:spcPct val="0"/>
              </a:spcAft>
            </a:pPr>
            <a:r>
              <a:rPr kumimoji="1" lang="en-US" altLang="ko-KR" sz="1200" b="1" kern="0" dirty="0" smtClean="0">
                <a:solidFill>
                  <a:srgbClr val="000000"/>
                </a:solidFill>
                <a:latin typeface="+mn-ea"/>
              </a:rPr>
              <a:t>    des </a:t>
            </a:r>
            <a:r>
              <a:rPr kumimoji="1" lang="en-US" altLang="ko-KR" sz="1200" b="1" kern="0" dirty="0">
                <a:solidFill>
                  <a:srgbClr val="000000"/>
                </a:solidFill>
                <a:latin typeface="+mn-ea"/>
              </a:rPr>
              <a:t>fonctionnaires publics </a:t>
            </a:r>
            <a:endParaRPr kumimoji="1" lang="en-US" altLang="ko-KR" sz="1200" b="1" kern="0" dirty="0" smtClean="0">
              <a:solidFill>
                <a:srgbClr val="000000"/>
              </a:solidFill>
              <a:latin typeface="+mn-ea"/>
            </a:endParaRPr>
          </a:p>
          <a:p>
            <a:pPr lvl="0" fontAlgn="base" latinLnBrk="0">
              <a:spcBef>
                <a:spcPct val="0"/>
              </a:spcBef>
              <a:spcAft>
                <a:spcPct val="0"/>
              </a:spcAft>
            </a:pPr>
            <a:r>
              <a:rPr kumimoji="1" lang="en-US" altLang="ko-KR" sz="1200" b="1" kern="0" dirty="0">
                <a:solidFill>
                  <a:srgbClr val="000000"/>
                </a:solidFill>
                <a:latin typeface="+mn-ea"/>
              </a:rPr>
              <a:t> </a:t>
            </a:r>
            <a:r>
              <a:rPr kumimoji="1" lang="en-US" altLang="ko-KR" sz="1200" b="1" kern="0" dirty="0" smtClean="0">
                <a:solidFill>
                  <a:srgbClr val="000000"/>
                </a:solidFill>
                <a:latin typeface="+mn-ea"/>
              </a:rPr>
              <a:t>   dans un </a:t>
            </a:r>
            <a:r>
              <a:rPr kumimoji="1" lang="en-US" altLang="ko-KR" sz="1200" b="1" kern="0" dirty="0">
                <a:solidFill>
                  <a:srgbClr val="000000"/>
                </a:solidFill>
                <a:latin typeface="+mn-ea"/>
              </a:rPr>
              <a:t>contexte </a:t>
            </a:r>
            <a:r>
              <a:rPr kumimoji="1" lang="en-US" altLang="ko-KR" sz="1200" b="1" kern="0" dirty="0" smtClean="0">
                <a:solidFill>
                  <a:srgbClr val="000000"/>
                </a:solidFill>
                <a:latin typeface="+mn-ea"/>
              </a:rPr>
              <a:t>en mutation </a:t>
            </a:r>
          </a:p>
          <a:p>
            <a:pPr lvl="0" fontAlgn="base" latinLnBrk="0">
              <a:spcBef>
                <a:spcPct val="0"/>
              </a:spcBef>
              <a:spcAft>
                <a:spcPct val="0"/>
              </a:spcAft>
            </a:pPr>
            <a:r>
              <a:rPr kumimoji="1" lang="en-US" altLang="ko-KR" sz="1200" b="1" kern="0" dirty="0">
                <a:solidFill>
                  <a:srgbClr val="000000"/>
                </a:solidFill>
                <a:latin typeface="+mn-ea"/>
              </a:rPr>
              <a:t> </a:t>
            </a:r>
            <a:r>
              <a:rPr kumimoji="1" lang="en-US" altLang="ko-KR" sz="1200" b="1" kern="0" dirty="0" smtClean="0">
                <a:solidFill>
                  <a:srgbClr val="000000"/>
                </a:solidFill>
                <a:latin typeface="+mn-ea"/>
              </a:rPr>
              <a:t>    d'e-Gouvernement</a:t>
            </a:r>
          </a:p>
          <a:p>
            <a:pPr lvl="0" fontAlgn="base" latinLnBrk="0">
              <a:spcBef>
                <a:spcPct val="0"/>
              </a:spcBef>
              <a:spcAft>
                <a:spcPct val="0"/>
              </a:spcAft>
            </a:pPr>
            <a:r>
              <a:rPr kumimoji="1" lang="en-US" altLang="ko-KR" sz="1200" b="1" kern="0" dirty="0" smtClean="0">
                <a:solidFill>
                  <a:srgbClr val="000000"/>
                </a:solidFill>
                <a:latin typeface="+mn-ea"/>
              </a:rPr>
              <a:t>    </a:t>
            </a:r>
            <a:r>
              <a:rPr kumimoji="1" lang="en-US" altLang="ko-KR" sz="1200" b="1" kern="0" dirty="0" err="1" smtClean="0">
                <a:solidFill>
                  <a:srgbClr val="000000"/>
                </a:solidFill>
                <a:latin typeface="+mn-ea"/>
              </a:rPr>
              <a:t>    en mutation</a:t>
            </a:r>
            <a:endParaRPr kumimoji="1" lang="en-US" altLang="ko-KR" sz="1200" b="1" kern="0" dirty="0">
              <a:solidFill>
                <a:srgbClr val="000000"/>
              </a:solidFill>
              <a:latin typeface="+mn-ea"/>
            </a:endParaRPr>
          </a:p>
          <a:p>
            <a:pPr lvl="0" fontAlgn="base" latinLnBrk="0">
              <a:spcBef>
                <a:spcPct val="0"/>
              </a:spcBef>
              <a:spcAft>
                <a:spcPct val="0"/>
              </a:spcAft>
            </a:pPr>
            <a:endParaRPr kumimoji="1" lang="en-US" altLang="ko-KR" sz="1200" b="1" kern="0" dirty="0">
              <a:solidFill>
                <a:srgbClr val="000000"/>
              </a:solidFill>
              <a:latin typeface="+mn-ea"/>
            </a:endParaRPr>
          </a:p>
          <a:p>
            <a:pPr lvl="0" fontAlgn="base" latinLnBrk="0">
              <a:spcBef>
                <a:spcPct val="0"/>
              </a:spcBef>
              <a:spcAft>
                <a:spcPct val="0"/>
              </a:spcAft>
            </a:pPr>
            <a:r>
              <a:rPr kumimoji="1" lang="en-US" altLang="ko-KR" sz="1200" b="1" kern="0" dirty="0">
                <a:solidFill>
                  <a:srgbClr val="000000"/>
                </a:solidFill>
                <a:latin typeface="+mn-ea"/>
              </a:rPr>
              <a:t>5. </a:t>
            </a:r>
            <a:r>
              <a:rPr kumimoji="1" lang="en-US" altLang="ko-KR" sz="1200" b="1" kern="0" dirty="0" err="1" smtClean="0">
                <a:solidFill>
                  <a:srgbClr val="000000"/>
                </a:solidFill>
                <a:latin typeface="+mn-ea"/>
              </a:rPr>
              <a:t>Performance</a:t>
            </a:r>
            <a:r>
              <a:rPr kumimoji="1" lang="en-US" altLang="ko-KR" sz="1200" b="1" kern="0" dirty="0" smtClean="0">
                <a:solidFill>
                  <a:srgbClr val="000000"/>
                </a:solidFill>
                <a:latin typeface="+mn-ea"/>
              </a:rPr>
              <a:t> axée sur les résultats</a:t>
            </a:r>
          </a:p>
          <a:p>
            <a:pPr lvl="0" fontAlgn="base" latinLnBrk="0">
              <a:spcBef>
                <a:spcPct val="0"/>
              </a:spcBef>
              <a:spcAft>
                <a:spcPct val="0"/>
              </a:spcAft>
            </a:pPr>
            <a:r>
              <a:rPr kumimoji="1" lang="en-US" altLang="ko-KR" sz="1200" b="1" kern="0" dirty="0" smtClean="0">
                <a:solidFill>
                  <a:srgbClr val="000000"/>
                </a:solidFill>
                <a:latin typeface="+mn-ea"/>
              </a:rPr>
              <a:t>    axée sur la performance</a:t>
            </a:r>
            <a:endParaRPr kumimoji="1" lang="ko-KR" altLang="en-US" sz="1200" b="1" i="0" u="none" strike="noStrike" kern="0" cap="none" spc="0" normalizeH="0" baseline="0" noProof="0" dirty="0" smtClean="0">
              <a:ln>
                <a:noFill/>
              </a:ln>
              <a:solidFill>
                <a:srgbClr val="000000"/>
              </a:solidFill>
              <a:effectLst/>
              <a:uLnTx/>
              <a:uFillTx/>
              <a:latin typeface="+mn-ea"/>
            </a:endParaRPr>
          </a:p>
        </p:txBody>
      </p:sp>
      <p:sp>
        <p:nvSpPr>
          <p:cNvPr id="83" name="AutoShape 255"/>
          <p:cNvSpPr>
            <a:spLocks noChangeArrowheads="1"/>
          </p:cNvSpPr>
          <p:nvPr/>
        </p:nvSpPr>
        <p:spPr bwMode="auto">
          <a:xfrm>
            <a:off x="5999894" y="1851259"/>
            <a:ext cx="2408136" cy="792807"/>
          </a:xfrm>
          <a:prstGeom prst="chevron">
            <a:avLst>
              <a:gd name="adj" fmla="val 55422"/>
            </a:avLst>
          </a:prstGeom>
          <a:gradFill rotWithShape="0">
            <a:gsLst>
              <a:gs pos="0">
                <a:srgbClr val="FFFFFF"/>
              </a:gs>
              <a:gs pos="100000">
                <a:srgbClr val="CB8585"/>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CB8585"/>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lvl="0" algn="ctr" eaLnBrk="0" fontAlgn="base" latinLnBrk="0" hangingPunct="0">
              <a:spcBef>
                <a:spcPct val="0"/>
              </a:spcBef>
              <a:spcAft>
                <a:spcPct val="0"/>
              </a:spcAft>
            </a:pPr>
            <a:r>
              <a:rPr lang="en-US" altLang="ko-KR" kern="0" dirty="0" smtClean="0">
                <a:latin typeface="+mn-ea"/>
              </a:rPr>
              <a:t>   Phase </a:t>
            </a:r>
            <a:r>
              <a:rPr lang="en-US" altLang="ko-KR" kern="0" dirty="0">
                <a:latin typeface="+mn-ea"/>
              </a:rPr>
              <a:t>intégrée </a:t>
            </a:r>
            <a:endParaRPr kumimoji="0" lang="ko-KR" altLang="ko-KR" i="0" u="none" strike="noStrike" kern="0" cap="none" spc="0" normalizeH="0" baseline="0" noProof="0" dirty="0" smtClean="0">
              <a:ln>
                <a:noFill/>
              </a:ln>
              <a:uLnTx/>
              <a:uFillTx/>
              <a:latin typeface="+mn-ea"/>
            </a:endParaRPr>
          </a:p>
        </p:txBody>
      </p:sp>
      <p:sp>
        <p:nvSpPr>
          <p:cNvPr id="84" name="Rectangle 256"/>
          <p:cNvSpPr>
            <a:spLocks noChangeArrowheads="1"/>
          </p:cNvSpPr>
          <p:nvPr/>
        </p:nvSpPr>
        <p:spPr bwMode="auto">
          <a:xfrm>
            <a:off x="6019551" y="2852936"/>
            <a:ext cx="2296865" cy="3384376"/>
          </a:xfrm>
          <a:prstGeom prst="rect">
            <a:avLst/>
          </a:prstGeom>
          <a:gradFill rotWithShape="0">
            <a:gsLst>
              <a:gs pos="0">
                <a:srgbClr val="FFFFFF"/>
              </a:gs>
              <a:gs pos="100000">
                <a:srgbClr val="CB8585"/>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CB8585"/>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defTabSz="914400" eaLnBrk="0" fontAlgn="base" latinLnBrk="0" hangingPunct="0">
              <a:lnSpc>
                <a:spcPct val="250000"/>
              </a:lnSpc>
              <a:spcBef>
                <a:spcPct val="0"/>
              </a:spcBef>
              <a:spcAft>
                <a:spcPct val="0"/>
              </a:spcAft>
              <a:buClrTx/>
              <a:buSzTx/>
              <a:buFontTx/>
              <a:buNone/>
              <a:tabLst/>
              <a:defRPr/>
            </a:pPr>
            <a:r>
              <a:rPr kumimoji="0" lang="en-US" altLang="ko-KR" sz="1800" b="1" i="0" u="none" strike="noStrike" kern="0" cap="none" spc="0" normalizeH="0" baseline="0" noProof="0" smtClean="0">
                <a:ln>
                  <a:noFill/>
                </a:ln>
                <a:solidFill>
                  <a:srgbClr val="000000"/>
                </a:solidFill>
                <a:effectLst/>
                <a:uLnTx/>
                <a:uFillTx/>
                <a:latin typeface="굴림" pitchFamily="50" charset="-127"/>
                <a:ea typeface="굴림" pitchFamily="50" charset="-127"/>
              </a:rPr>
              <a:t> </a:t>
            </a:r>
          </a:p>
        </p:txBody>
      </p:sp>
      <p:grpSp>
        <p:nvGrpSpPr>
          <p:cNvPr id="85" name="Group 257"/>
          <p:cNvGrpSpPr>
            <a:grpSpLocks/>
          </p:cNvGrpSpPr>
          <p:nvPr/>
        </p:nvGrpSpPr>
        <p:grpSpPr bwMode="auto">
          <a:xfrm>
            <a:off x="6557429" y="2420888"/>
            <a:ext cx="143965" cy="715213"/>
            <a:chOff x="4333" y="2636"/>
            <a:chExt cx="110" cy="456"/>
          </a:xfrm>
        </p:grpSpPr>
        <p:sp>
          <p:nvSpPr>
            <p:cNvPr id="91" name="Oval 258"/>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2" name="Oval 259"/>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3" name="Line 260"/>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grpSp>
        <p:nvGrpSpPr>
          <p:cNvPr id="86" name="Group 261"/>
          <p:cNvGrpSpPr>
            <a:grpSpLocks/>
          </p:cNvGrpSpPr>
          <p:nvPr/>
        </p:nvGrpSpPr>
        <p:grpSpPr bwMode="auto">
          <a:xfrm>
            <a:off x="7203962" y="2420888"/>
            <a:ext cx="146582" cy="715213"/>
            <a:chOff x="4333" y="2636"/>
            <a:chExt cx="110" cy="456"/>
          </a:xfrm>
        </p:grpSpPr>
        <p:sp>
          <p:nvSpPr>
            <p:cNvPr id="88" name="Oval 262"/>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89" name="Oval 263"/>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0" name="Line 264"/>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sp>
        <p:nvSpPr>
          <p:cNvPr id="87" name="Rectangle 265"/>
          <p:cNvSpPr>
            <a:spLocks noChangeArrowheads="1"/>
          </p:cNvSpPr>
          <p:nvPr/>
        </p:nvSpPr>
        <p:spPr bwMode="auto">
          <a:xfrm>
            <a:off x="6116401" y="3287063"/>
            <a:ext cx="2128008" cy="2733041"/>
          </a:xfrm>
          <a:prstGeom prst="rect">
            <a:avLst/>
          </a:prstGeom>
          <a:solidFill>
            <a:srgbClr val="FFFFFF"/>
          </a:solidFill>
          <a:ln>
            <a:noFill/>
          </a:ln>
          <a:effectLst>
            <a:prstShdw prst="shdw18" dist="17961" dir="13500000">
              <a:srgbClr val="FFFFFF">
                <a:gamma/>
                <a:shade val="60000"/>
                <a:invGamma/>
              </a:srgb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lvl="0" fontAlgn="base" latinLnBrk="0">
              <a:spcBef>
                <a:spcPct val="0"/>
              </a:spcBef>
              <a:spcAft>
                <a:spcPct val="0"/>
              </a:spcAft>
            </a:pPr>
            <a:r>
              <a:rPr kumimoji="1" lang="en-US" altLang="ko-KR" sz="1200" b="1" kern="0" dirty="0">
                <a:solidFill>
                  <a:srgbClr val="000000"/>
                </a:solidFill>
                <a:latin typeface="+mn-ea"/>
              </a:rPr>
              <a:t>6. Gouvernance des TI</a:t>
            </a:r>
          </a:p>
          <a:p>
            <a:pPr lvl="0" fontAlgn="base" latinLnBrk="0">
              <a:spcBef>
                <a:spcPct val="0"/>
              </a:spcBef>
              <a:spcAft>
                <a:spcPct val="0"/>
              </a:spcAft>
            </a:pPr>
            <a:endParaRPr kumimoji="1" lang="en-US" altLang="ko-KR" sz="1200" b="1" kern="0" dirty="0">
              <a:solidFill>
                <a:srgbClr val="000000"/>
              </a:solidFill>
              <a:latin typeface="+mn-ea"/>
            </a:endParaRPr>
          </a:p>
          <a:p>
            <a:pPr lvl="0" fontAlgn="base" latinLnBrk="0">
              <a:spcBef>
                <a:spcPct val="0"/>
              </a:spcBef>
              <a:spcAft>
                <a:spcPct val="0"/>
              </a:spcAft>
            </a:pPr>
            <a:r>
              <a:rPr kumimoji="1" lang="en-US" altLang="ko-KR" sz="1200" b="1" kern="0" dirty="0">
                <a:solidFill>
                  <a:srgbClr val="000000"/>
                </a:solidFill>
                <a:latin typeface="+mn-ea"/>
              </a:rPr>
              <a:t>7. Services d'e-Gouvernement</a:t>
            </a:r>
            <a:endParaRPr kumimoji="1" lang="en-US" altLang="ko-KR" sz="1200" b="1" kern="0" dirty="0" smtClean="0">
              <a:solidFill>
                <a:srgbClr val="000000"/>
              </a:solidFill>
              <a:latin typeface="+mn-ea"/>
            </a:endParaRPr>
          </a:p>
          <a:p>
            <a:pPr lvl="0" fontAlgn="base" latinLnBrk="0">
              <a:spcBef>
                <a:spcPct val="0"/>
              </a:spcBef>
              <a:spcAft>
                <a:spcPct val="0"/>
              </a:spcAft>
            </a:pPr>
            <a:r>
              <a:rPr kumimoji="1" lang="en-US" altLang="ko-KR" sz="1200" b="1" kern="0" dirty="0" smtClean="0">
                <a:solidFill>
                  <a:srgbClr val="000000"/>
                </a:solidFill>
                <a:latin typeface="+mn-ea"/>
              </a:rPr>
              <a:t>   Services de </a:t>
            </a:r>
            <a:r>
              <a:rPr kumimoji="1" lang="en-US" altLang="ko-KR" sz="1200" b="1" kern="0" dirty="0">
                <a:solidFill>
                  <a:srgbClr val="000000"/>
                </a:solidFill>
                <a:latin typeface="+mn-ea"/>
              </a:rPr>
              <a:t>gouvernement électronique</a:t>
            </a:r>
            <a:endParaRPr kumimoji="1" lang="ko-KR" altLang="en-US" sz="1200" b="1" i="0" u="none" strike="noStrike" kern="0" cap="none" spc="0" normalizeH="0" baseline="0" noProof="0" dirty="0" smtClean="0">
              <a:ln>
                <a:noFill/>
              </a:ln>
              <a:solidFill>
                <a:srgbClr val="000000"/>
              </a:solidFill>
              <a:effectLst/>
              <a:uLnTx/>
              <a:uFillTx/>
              <a:latin typeface="+mn-ea"/>
            </a:endParaRPr>
          </a:p>
        </p:txBody>
      </p:sp>
      <p:sp>
        <p:nvSpPr>
          <p:cNvPr id="109" name="직사각형 108"/>
          <p:cNvSpPr/>
          <p:nvPr/>
        </p:nvSpPr>
        <p:spPr>
          <a:xfrm>
            <a:off x="1187624" y="2051556"/>
            <a:ext cx="1838901" cy="369332"/>
          </a:xfrm>
          <a:prstGeom prst="rect">
            <a:avLst/>
          </a:prstGeom>
        </p:spPr>
        <p:txBody>
          <a:bodyPr wrap="none">
            <a:spAutoFit/>
          </a:bodyPr>
          <a:lstStyle/>
          <a:p>
            <a:r>
              <a:rPr lang="en-US" altLang="ko-KR" dirty="0"/>
              <a:t>Stade émergent</a:t>
            </a:r>
            <a:endParaRPr lang="ko-KR" altLang="en-US" dirty="0"/>
          </a:p>
        </p:txBody>
      </p:sp>
      <p:sp>
        <p:nvSpPr>
          <p:cNvPr id="110" name="슬라이드 번호 개체 틀 109"/>
          <p:cNvSpPr>
            <a:spLocks noGrp="1"/>
          </p:cNvSpPr>
          <p:nvPr>
            <p:ph type="sldNum" sz="quarter" idx="12"/>
          </p:nvPr>
        </p:nvSpPr>
        <p:spPr/>
        <p:txBody>
          <a:bodyPr/>
          <a:lstStyle/>
          <a:p>
            <a:fld id="{8F563537-3992-4579-A065-26E1D23BF530}" type="slidenum">
              <a:rPr lang="ko-KR" altLang="en-US" smtClean="0"/>
              <a:pPr/>
              <a:t>7</a:t>
            </a:fld>
            <a:endParaRPr lang="ko-KR" altLang="en-US"/>
          </a:p>
        </p:txBody>
      </p:sp>
    </p:spTree>
    <p:extLst>
      <p:ext uri="{BB962C8B-B14F-4D97-AF65-F5344CB8AC3E}">
        <p14:creationId xmlns:p14="http://schemas.microsoft.com/office/powerpoint/2010/main" val="283983392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Autofit/>
          </a:bodyPr>
          <a:lstStyle/>
          <a:p>
            <a:r>
              <a:rPr lang="en-US" altLang="ko-KR" sz="3600" dirty="0"/>
              <a:t>Facteurs de succès du </a:t>
            </a:r>
            <a:r>
              <a:rPr lang="en-US" altLang="ko-KR" sz="3600" dirty="0" smtClean="0"/>
              <a:t/>
            </a:r>
            <a:br>
              <a:rPr lang="en-US" altLang="ko-KR" sz="3600" dirty="0" smtClean="0"/>
            </a:br>
            <a:r>
              <a:rPr lang="en-US" altLang="ko-KR" sz="3600" dirty="0" smtClean="0"/>
              <a:t>gouvernement électronique coréen</a:t>
            </a:r>
            <a:endParaRPr lang="ko-KR" altLang="en-US" sz="3600" dirty="0"/>
          </a:p>
        </p:txBody>
      </p:sp>
      <p:sp>
        <p:nvSpPr>
          <p:cNvPr id="73" name="AutoShape 110"/>
          <p:cNvSpPr>
            <a:spLocks noChangeArrowheads="1"/>
          </p:cNvSpPr>
          <p:nvPr/>
        </p:nvSpPr>
        <p:spPr bwMode="auto">
          <a:xfrm>
            <a:off x="1010863" y="1844824"/>
            <a:ext cx="2408136" cy="792807"/>
          </a:xfrm>
          <a:prstGeom prst="homePlate">
            <a:avLst>
              <a:gd name="adj" fmla="val 55422"/>
            </a:avLst>
          </a:prstGeom>
          <a:gradFill rotWithShape="0">
            <a:gsLst>
              <a:gs pos="0">
                <a:srgbClr val="FFFFFF"/>
              </a:gs>
              <a:gs pos="100000">
                <a:srgbClr val="4886CA"/>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4886CA"/>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ko-KR" altLang="ko-KR" sz="2000" b="1" i="0" u="none" strike="noStrike" kern="0" cap="none" spc="0" normalizeH="0" baseline="0" noProof="0" smtClean="0">
              <a:ln>
                <a:noFill/>
              </a:ln>
              <a:solidFill>
                <a:srgbClr val="FFFFFF"/>
              </a:solidFill>
              <a:effectLst>
                <a:outerShdw blurRad="38100" dist="38100" dir="2700000" algn="tl">
                  <a:srgbClr val="000000"/>
                </a:outerShdw>
              </a:effectLst>
              <a:uLnTx/>
              <a:uFillTx/>
              <a:latin typeface="Times New Roman" pitchFamily="18" charset="0"/>
              <a:ea typeface="굴림" pitchFamily="50" charset="-127"/>
            </a:endParaRPr>
          </a:p>
        </p:txBody>
      </p:sp>
      <p:sp>
        <p:nvSpPr>
          <p:cNvPr id="74" name="Rectangle 111"/>
          <p:cNvSpPr>
            <a:spLocks noChangeArrowheads="1"/>
          </p:cNvSpPr>
          <p:nvPr/>
        </p:nvSpPr>
        <p:spPr bwMode="auto">
          <a:xfrm>
            <a:off x="1010863" y="2852936"/>
            <a:ext cx="2408136" cy="3384376"/>
          </a:xfrm>
          <a:prstGeom prst="rect">
            <a:avLst/>
          </a:prstGeom>
          <a:gradFill rotWithShape="0">
            <a:gsLst>
              <a:gs pos="0">
                <a:srgbClr val="FFFFFF"/>
              </a:gs>
              <a:gs pos="100000">
                <a:srgbClr val="4886CA"/>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4886CA"/>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defTabSz="914400" eaLnBrk="0" fontAlgn="base" latinLnBrk="0" hangingPunct="0">
              <a:lnSpc>
                <a:spcPct val="160000"/>
              </a:lnSpc>
              <a:spcBef>
                <a:spcPct val="0"/>
              </a:spcBef>
              <a:spcAft>
                <a:spcPct val="0"/>
              </a:spcAft>
              <a:buClrTx/>
              <a:buSzTx/>
              <a:buFontTx/>
              <a:buNone/>
              <a:tabLst/>
              <a:defRPr/>
            </a:pPr>
            <a:r>
              <a:rPr kumimoji="0" lang="en-US" altLang="ko-KR" sz="1800" b="1" i="0" u="none" strike="noStrike" kern="0" cap="none" spc="0" normalizeH="0" baseline="0" noProof="0" smtClean="0">
                <a:ln>
                  <a:noFill/>
                </a:ln>
                <a:solidFill>
                  <a:srgbClr val="000000"/>
                </a:solidFill>
                <a:effectLst/>
                <a:uLnTx/>
                <a:uFillTx/>
                <a:latin typeface="굴림" pitchFamily="50" charset="-127"/>
                <a:ea typeface="굴림" pitchFamily="50" charset="-127"/>
              </a:rPr>
              <a:t> </a:t>
            </a:r>
          </a:p>
        </p:txBody>
      </p:sp>
      <p:grpSp>
        <p:nvGrpSpPr>
          <p:cNvPr id="75" name="Group 112"/>
          <p:cNvGrpSpPr>
            <a:grpSpLocks/>
          </p:cNvGrpSpPr>
          <p:nvPr/>
        </p:nvGrpSpPr>
        <p:grpSpPr bwMode="auto">
          <a:xfrm>
            <a:off x="1620750" y="2420888"/>
            <a:ext cx="143965" cy="715213"/>
            <a:chOff x="4333" y="2636"/>
            <a:chExt cx="110" cy="456"/>
          </a:xfrm>
        </p:grpSpPr>
        <p:sp>
          <p:nvSpPr>
            <p:cNvPr id="103" name="Oval 113"/>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4" name="Oval 114"/>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5" name="Line 115"/>
            <p:cNvSpPr>
              <a:spLocks noChangeShapeType="1"/>
            </p:cNvSpPr>
            <p:nvPr/>
          </p:nvSpPr>
          <p:spPr bwMode="auto">
            <a:xfrm>
              <a:off x="4388" y="2699"/>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grpSp>
        <p:nvGrpSpPr>
          <p:cNvPr id="76" name="Group 116"/>
          <p:cNvGrpSpPr>
            <a:grpSpLocks/>
          </p:cNvGrpSpPr>
          <p:nvPr/>
        </p:nvGrpSpPr>
        <p:grpSpPr bwMode="auto">
          <a:xfrm>
            <a:off x="2267282" y="2420888"/>
            <a:ext cx="146582" cy="715213"/>
            <a:chOff x="4333" y="2636"/>
            <a:chExt cx="110" cy="456"/>
          </a:xfrm>
        </p:grpSpPr>
        <p:sp>
          <p:nvSpPr>
            <p:cNvPr id="100" name="Oval 117"/>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1" name="Oval 118"/>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2" name="Line 119"/>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sp>
        <p:nvSpPr>
          <p:cNvPr id="77" name="Rectangle 219"/>
          <p:cNvSpPr>
            <a:spLocks noChangeArrowheads="1"/>
          </p:cNvSpPr>
          <p:nvPr/>
        </p:nvSpPr>
        <p:spPr bwMode="auto">
          <a:xfrm>
            <a:off x="1107712" y="3284984"/>
            <a:ext cx="1991948" cy="2733041"/>
          </a:xfrm>
          <a:prstGeom prst="rect">
            <a:avLst/>
          </a:prstGeom>
          <a:solidFill>
            <a:srgbClr val="FFFFFF"/>
          </a:solidFill>
          <a:ln>
            <a:noFill/>
          </a:ln>
          <a:effectLst>
            <a:prstShdw prst="shdw18" dist="17961" dir="13500000">
              <a:srgbClr val="FFFFFF">
                <a:gamma/>
                <a:shade val="60000"/>
                <a:invGamma/>
              </a:srgb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marL="228600" lvl="0" indent="-228600" fontAlgn="base" latinLnBrk="0">
              <a:spcBef>
                <a:spcPct val="0"/>
              </a:spcBef>
              <a:spcAft>
                <a:spcPct val="0"/>
              </a:spcAft>
              <a:buAutoNum type="arabicPeriod"/>
            </a:pPr>
            <a:r>
              <a:rPr kumimoji="1" lang="en-US" altLang="ko-KR" sz="1200" b="1" kern="0" dirty="0" smtClean="0">
                <a:solidFill>
                  <a:srgbClr val="000000"/>
                </a:solidFill>
                <a:latin typeface="+mn-ea"/>
                <a:cs typeface="Tahoma" pitchFamily="34" charset="0"/>
              </a:rPr>
              <a:t>Fort </a:t>
            </a:r>
            <a:r>
              <a:rPr kumimoji="1" lang="en-US" altLang="ko-KR" sz="1200" b="1" kern="0" dirty="0">
                <a:solidFill>
                  <a:srgbClr val="000000"/>
                </a:solidFill>
                <a:latin typeface="+mn-ea"/>
                <a:cs typeface="Tahoma" pitchFamily="34" charset="0"/>
              </a:rPr>
              <a:t>soutien de l'État </a:t>
            </a:r>
            <a:endParaRPr kumimoji="1" lang="en-US" altLang="ko-KR" sz="1200" b="1" kern="0" dirty="0" smtClean="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smtClean="0">
                <a:solidFill>
                  <a:srgbClr val="000000"/>
                </a:solidFill>
                <a:latin typeface="+mn-ea"/>
                <a:cs typeface="Tahoma" pitchFamily="34" charset="0"/>
              </a:rPr>
              <a:t>    gouvernemental</a:t>
            </a: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a:solidFill>
                  <a:srgbClr val="000000"/>
                </a:solidFill>
                <a:latin typeface="+mn-ea"/>
                <a:cs typeface="Tahoma" pitchFamily="34" charset="0"/>
              </a:rPr>
              <a:t>2. Investissement </a:t>
            </a:r>
            <a:r>
              <a:rPr kumimoji="1" lang="en-US" altLang="ko-KR" sz="1200" b="1" kern="0" dirty="0" smtClean="0">
                <a:solidFill>
                  <a:srgbClr val="000000"/>
                </a:solidFill>
                <a:latin typeface="+mn-ea"/>
                <a:cs typeface="Tahoma" pitchFamily="34" charset="0"/>
              </a:rPr>
              <a:t>soutenu</a:t>
            </a:r>
          </a:p>
          <a:p>
            <a:pPr lvl="0" fontAlgn="base" latinLnBrk="0">
              <a:spcBef>
                <a:spcPct val="0"/>
              </a:spcBef>
              <a:spcAft>
                <a:spcPct val="0"/>
              </a:spcAft>
            </a:pPr>
            <a:r>
              <a:rPr kumimoji="1" lang="en-US" altLang="ko-KR" sz="1200" b="1" kern="0" dirty="0" smtClean="0">
                <a:solidFill>
                  <a:srgbClr val="000000"/>
                </a:solidFill>
                <a:latin typeface="+mn-ea"/>
                <a:cs typeface="Tahoma" pitchFamily="34" charset="0"/>
              </a:rPr>
              <a:t>    dans le </a:t>
            </a:r>
            <a:r>
              <a:rPr kumimoji="1" lang="en-US" altLang="ko-KR" sz="1200" b="1" kern="0" dirty="0">
                <a:solidFill>
                  <a:srgbClr val="000000"/>
                </a:solidFill>
                <a:latin typeface="+mn-ea"/>
                <a:cs typeface="Tahoma" pitchFamily="34" charset="0"/>
              </a:rPr>
              <a:t>gouvernement électronique </a:t>
            </a:r>
            <a:endParaRPr kumimoji="1" lang="en-US" altLang="ko-KR" sz="1200" b="1" kern="0" dirty="0" smtClean="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a:solidFill>
                  <a:srgbClr val="000000"/>
                </a:solidFill>
                <a:latin typeface="+mn-ea"/>
                <a:cs typeface="Tahoma" pitchFamily="34" charset="0"/>
              </a:rPr>
              <a:t> </a:t>
            </a:r>
            <a:r>
              <a:rPr kumimoji="1" lang="en-US" altLang="ko-KR" sz="1200" b="1" kern="0" dirty="0" smtClean="0">
                <a:solidFill>
                  <a:srgbClr val="000000"/>
                </a:solidFill>
                <a:latin typeface="+mn-ea"/>
                <a:cs typeface="Tahoma" pitchFamily="34" charset="0"/>
              </a:rPr>
              <a:t>    de l'e-Gouvernement</a:t>
            </a: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a:solidFill>
                  <a:srgbClr val="000000"/>
                </a:solidFill>
                <a:latin typeface="+mn-ea"/>
                <a:cs typeface="Tahoma" pitchFamily="34" charset="0"/>
              </a:rPr>
              <a:t>3. Soutien technologique</a:t>
            </a:r>
            <a:endParaRPr kumimoji="1" lang="ko-KR" altLang="en-US" sz="1200" b="1" i="0" u="none" strike="noStrike" kern="0" cap="none" spc="0" normalizeH="0" baseline="0" noProof="0" dirty="0" smtClean="0">
              <a:ln>
                <a:noFill/>
              </a:ln>
              <a:solidFill>
                <a:srgbClr val="000000"/>
              </a:solidFill>
              <a:effectLst/>
              <a:uLnTx/>
              <a:uFillTx/>
              <a:latin typeface="+mn-ea"/>
              <a:cs typeface="Tahoma" pitchFamily="34" charset="0"/>
            </a:endParaRPr>
          </a:p>
        </p:txBody>
      </p:sp>
      <p:sp>
        <p:nvSpPr>
          <p:cNvPr id="78" name="AutoShape 244"/>
          <p:cNvSpPr>
            <a:spLocks noChangeArrowheads="1"/>
          </p:cNvSpPr>
          <p:nvPr/>
        </p:nvSpPr>
        <p:spPr bwMode="auto">
          <a:xfrm>
            <a:off x="3466115" y="1844824"/>
            <a:ext cx="2408136" cy="792807"/>
          </a:xfrm>
          <a:prstGeom prst="chevron">
            <a:avLst>
              <a:gd name="adj" fmla="val 55422"/>
            </a:avLst>
          </a:prstGeom>
          <a:gradFill rotWithShape="0">
            <a:gsLst>
              <a:gs pos="0">
                <a:srgbClr val="FFFFFF"/>
              </a:gs>
              <a:gs pos="100000">
                <a:srgbClr val="ECD770"/>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ECD770"/>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lvl="0" algn="ctr" eaLnBrk="0" fontAlgn="base" latinLnBrk="0" hangingPunct="0">
              <a:spcBef>
                <a:spcPct val="0"/>
              </a:spcBef>
              <a:spcAft>
                <a:spcPct val="0"/>
              </a:spcAft>
            </a:pPr>
            <a:r>
              <a:rPr lang="en-US" altLang="ko-KR" kern="0" dirty="0" smtClean="0">
                <a:latin typeface="맑은 고딕" pitchFamily="50" charset="-127"/>
                <a:ea typeface="맑은 고딕" pitchFamily="50" charset="-127"/>
              </a:rPr>
              <a:t>  Phase </a:t>
            </a:r>
            <a:r>
              <a:rPr lang="en-US" altLang="ko-KR" kern="0" dirty="0">
                <a:latin typeface="맑은 고딕" pitchFamily="50" charset="-127"/>
                <a:ea typeface="맑은 고딕" pitchFamily="50" charset="-127"/>
              </a:rPr>
              <a:t>transactionnelle</a:t>
            </a:r>
            <a:endParaRPr kumimoji="0" lang="ko-KR" altLang="ko-KR" i="0" u="none" strike="noStrike" kern="0" cap="none" spc="0" normalizeH="0" baseline="0" noProof="0" dirty="0" smtClean="0">
              <a:ln>
                <a:noFill/>
              </a:ln>
              <a:uLnTx/>
              <a:uFillTx/>
              <a:latin typeface="맑은 고딕" pitchFamily="50" charset="-127"/>
              <a:ea typeface="맑은 고딕" pitchFamily="50" charset="-127"/>
            </a:endParaRPr>
          </a:p>
        </p:txBody>
      </p:sp>
      <p:sp>
        <p:nvSpPr>
          <p:cNvPr id="79" name="Rectangle 245"/>
          <p:cNvSpPr>
            <a:spLocks noChangeArrowheads="1"/>
          </p:cNvSpPr>
          <p:nvPr/>
        </p:nvSpPr>
        <p:spPr bwMode="auto">
          <a:xfrm>
            <a:off x="3538123" y="2852936"/>
            <a:ext cx="2330021" cy="3384376"/>
          </a:xfrm>
          <a:prstGeom prst="rect">
            <a:avLst/>
          </a:prstGeom>
          <a:gradFill rotWithShape="0">
            <a:gsLst>
              <a:gs pos="0">
                <a:srgbClr val="FFFFFF"/>
              </a:gs>
              <a:gs pos="100000">
                <a:srgbClr val="ECD770"/>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ECD770"/>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defTabSz="914400" eaLnBrk="0" fontAlgn="base" latinLnBrk="0" hangingPunct="0">
              <a:lnSpc>
                <a:spcPct val="210000"/>
              </a:lnSpc>
              <a:spcBef>
                <a:spcPct val="0"/>
              </a:spcBef>
              <a:spcAft>
                <a:spcPct val="0"/>
              </a:spcAft>
              <a:buClrTx/>
              <a:buSzTx/>
              <a:buFontTx/>
              <a:buNone/>
              <a:tabLst/>
              <a:defRPr/>
            </a:pPr>
            <a:r>
              <a:rPr kumimoji="0" lang="en-US" altLang="ko-KR" sz="1800" b="1" i="0" u="none" strike="noStrike" kern="0" cap="none" spc="0" normalizeH="0" baseline="0" noProof="0" smtClean="0">
                <a:ln>
                  <a:noFill/>
                </a:ln>
                <a:solidFill>
                  <a:srgbClr val="000000"/>
                </a:solidFill>
                <a:effectLst/>
                <a:uLnTx/>
                <a:uFillTx/>
                <a:latin typeface="굴림" pitchFamily="50" charset="-127"/>
                <a:ea typeface="굴림" pitchFamily="50" charset="-127"/>
              </a:rPr>
              <a:t> </a:t>
            </a:r>
          </a:p>
        </p:txBody>
      </p:sp>
      <p:grpSp>
        <p:nvGrpSpPr>
          <p:cNvPr id="80" name="Group 246"/>
          <p:cNvGrpSpPr>
            <a:grpSpLocks/>
          </p:cNvGrpSpPr>
          <p:nvPr/>
        </p:nvGrpSpPr>
        <p:grpSpPr bwMode="auto">
          <a:xfrm>
            <a:off x="4076002" y="2420888"/>
            <a:ext cx="143965" cy="715213"/>
            <a:chOff x="4333" y="2636"/>
            <a:chExt cx="110" cy="456"/>
          </a:xfrm>
        </p:grpSpPr>
        <p:sp>
          <p:nvSpPr>
            <p:cNvPr id="97" name="Oval 247"/>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8" name="Oval 248"/>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9" name="Line 249"/>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grpSp>
        <p:nvGrpSpPr>
          <p:cNvPr id="81" name="Group 250"/>
          <p:cNvGrpSpPr>
            <a:grpSpLocks/>
          </p:cNvGrpSpPr>
          <p:nvPr/>
        </p:nvGrpSpPr>
        <p:grpSpPr bwMode="auto">
          <a:xfrm>
            <a:off x="4722534" y="2420888"/>
            <a:ext cx="146582" cy="715213"/>
            <a:chOff x="4333" y="2636"/>
            <a:chExt cx="110" cy="456"/>
          </a:xfrm>
        </p:grpSpPr>
        <p:sp>
          <p:nvSpPr>
            <p:cNvPr id="94" name="Oval 251"/>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5" name="Oval 252"/>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6" name="Line 253"/>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sp>
        <p:nvSpPr>
          <p:cNvPr id="82" name="Rectangle 254"/>
          <p:cNvSpPr>
            <a:spLocks noChangeArrowheads="1"/>
          </p:cNvSpPr>
          <p:nvPr/>
        </p:nvSpPr>
        <p:spPr bwMode="auto">
          <a:xfrm>
            <a:off x="3634972" y="3304825"/>
            <a:ext cx="2088797" cy="2733041"/>
          </a:xfrm>
          <a:prstGeom prst="rect">
            <a:avLst/>
          </a:prstGeom>
          <a:solidFill>
            <a:srgbClr val="FFFFFF"/>
          </a:solidFill>
          <a:ln>
            <a:noFill/>
          </a:ln>
          <a:effectLst>
            <a:prstShdw prst="shdw18" dist="17961" dir="13500000">
              <a:srgbClr val="FFFFFF">
                <a:gamma/>
                <a:shade val="60000"/>
                <a:invGamma/>
              </a:srgb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lvl="0" fontAlgn="base" latinLnBrk="0">
              <a:spcBef>
                <a:spcPct val="0"/>
              </a:spcBef>
              <a:spcAft>
                <a:spcPct val="0"/>
              </a:spcAft>
            </a:pPr>
            <a:r>
              <a:rPr kumimoji="1" lang="en-US" altLang="ko-KR" sz="1200" b="1" kern="0" dirty="0">
                <a:solidFill>
                  <a:srgbClr val="000000"/>
                </a:solidFill>
                <a:latin typeface="+mn-ea"/>
              </a:rPr>
              <a:t>4. Gestion du changement </a:t>
            </a:r>
            <a:endParaRPr kumimoji="1" lang="en-US" altLang="ko-KR" sz="1200" b="1" kern="0" dirty="0" smtClean="0">
              <a:solidFill>
                <a:srgbClr val="000000"/>
              </a:solidFill>
              <a:latin typeface="+mn-ea"/>
            </a:endParaRPr>
          </a:p>
          <a:p>
            <a:pPr lvl="0" fontAlgn="base" latinLnBrk="0">
              <a:spcBef>
                <a:spcPct val="0"/>
              </a:spcBef>
              <a:spcAft>
                <a:spcPct val="0"/>
              </a:spcAft>
            </a:pPr>
            <a:r>
              <a:rPr kumimoji="1" lang="en-US" altLang="ko-KR" sz="1200" b="1" kern="0" dirty="0" smtClean="0">
                <a:solidFill>
                  <a:srgbClr val="000000"/>
                </a:solidFill>
                <a:latin typeface="+mn-ea"/>
              </a:rPr>
              <a:t>    des </a:t>
            </a:r>
            <a:r>
              <a:rPr kumimoji="1" lang="en-US" altLang="ko-KR" sz="1200" b="1" kern="0" dirty="0">
                <a:solidFill>
                  <a:srgbClr val="000000"/>
                </a:solidFill>
                <a:latin typeface="+mn-ea"/>
              </a:rPr>
              <a:t>fonctionnaires publics </a:t>
            </a:r>
            <a:endParaRPr kumimoji="1" lang="en-US" altLang="ko-KR" sz="1200" b="1" kern="0" dirty="0" smtClean="0">
              <a:solidFill>
                <a:srgbClr val="000000"/>
              </a:solidFill>
              <a:latin typeface="+mn-ea"/>
            </a:endParaRPr>
          </a:p>
          <a:p>
            <a:pPr lvl="0" fontAlgn="base" latinLnBrk="0">
              <a:spcBef>
                <a:spcPct val="0"/>
              </a:spcBef>
              <a:spcAft>
                <a:spcPct val="0"/>
              </a:spcAft>
            </a:pPr>
            <a:r>
              <a:rPr kumimoji="1" lang="en-US" altLang="ko-KR" sz="1200" b="1" kern="0" dirty="0">
                <a:solidFill>
                  <a:srgbClr val="000000"/>
                </a:solidFill>
                <a:latin typeface="+mn-ea"/>
              </a:rPr>
              <a:t> </a:t>
            </a:r>
            <a:r>
              <a:rPr kumimoji="1" lang="en-US" altLang="ko-KR" sz="1200" b="1" kern="0" dirty="0" smtClean="0">
                <a:solidFill>
                  <a:srgbClr val="000000"/>
                </a:solidFill>
                <a:latin typeface="+mn-ea"/>
              </a:rPr>
              <a:t>   dans un </a:t>
            </a:r>
            <a:r>
              <a:rPr kumimoji="1" lang="en-US" altLang="ko-KR" sz="1200" b="1" kern="0" dirty="0">
                <a:solidFill>
                  <a:srgbClr val="000000"/>
                </a:solidFill>
                <a:latin typeface="+mn-ea"/>
              </a:rPr>
              <a:t>contexte </a:t>
            </a:r>
            <a:r>
              <a:rPr kumimoji="1" lang="en-US" altLang="ko-KR" sz="1200" b="1" kern="0" dirty="0" smtClean="0">
                <a:solidFill>
                  <a:srgbClr val="000000"/>
                </a:solidFill>
                <a:latin typeface="+mn-ea"/>
              </a:rPr>
              <a:t>en mutation </a:t>
            </a:r>
          </a:p>
          <a:p>
            <a:pPr lvl="0" fontAlgn="base" latinLnBrk="0">
              <a:spcBef>
                <a:spcPct val="0"/>
              </a:spcBef>
              <a:spcAft>
                <a:spcPct val="0"/>
              </a:spcAft>
            </a:pPr>
            <a:r>
              <a:rPr kumimoji="1" lang="en-US" altLang="ko-KR" sz="1200" b="1" kern="0" dirty="0">
                <a:solidFill>
                  <a:srgbClr val="000000"/>
                </a:solidFill>
                <a:latin typeface="+mn-ea"/>
              </a:rPr>
              <a:t> </a:t>
            </a:r>
            <a:r>
              <a:rPr kumimoji="1" lang="en-US" altLang="ko-KR" sz="1200" b="1" kern="0" dirty="0" smtClean="0">
                <a:solidFill>
                  <a:srgbClr val="000000"/>
                </a:solidFill>
                <a:latin typeface="+mn-ea"/>
              </a:rPr>
              <a:t>    d'e-Gouvernement</a:t>
            </a:r>
          </a:p>
          <a:p>
            <a:pPr lvl="0" fontAlgn="base" latinLnBrk="0">
              <a:spcBef>
                <a:spcPct val="0"/>
              </a:spcBef>
              <a:spcAft>
                <a:spcPct val="0"/>
              </a:spcAft>
            </a:pPr>
            <a:r>
              <a:rPr kumimoji="1" lang="en-US" altLang="ko-KR" sz="1200" b="1" kern="0" dirty="0" smtClean="0">
                <a:solidFill>
                  <a:srgbClr val="000000"/>
                </a:solidFill>
                <a:latin typeface="+mn-ea"/>
              </a:rPr>
              <a:t>    </a:t>
            </a:r>
            <a:r>
              <a:rPr kumimoji="1" lang="en-US" altLang="ko-KR" sz="1200" b="1" kern="0" dirty="0" err="1" smtClean="0">
                <a:solidFill>
                  <a:srgbClr val="000000"/>
                </a:solidFill>
                <a:latin typeface="+mn-ea"/>
              </a:rPr>
              <a:t>    en mutation</a:t>
            </a:r>
            <a:endParaRPr kumimoji="1" lang="en-US" altLang="ko-KR" sz="1200" b="1" kern="0" dirty="0">
              <a:solidFill>
                <a:srgbClr val="000000"/>
              </a:solidFill>
              <a:latin typeface="+mn-ea"/>
            </a:endParaRPr>
          </a:p>
          <a:p>
            <a:pPr lvl="0" fontAlgn="base" latinLnBrk="0">
              <a:spcBef>
                <a:spcPct val="0"/>
              </a:spcBef>
              <a:spcAft>
                <a:spcPct val="0"/>
              </a:spcAft>
            </a:pPr>
            <a:endParaRPr kumimoji="1" lang="en-US" altLang="ko-KR" sz="1200" b="1" kern="0" dirty="0">
              <a:solidFill>
                <a:srgbClr val="000000"/>
              </a:solidFill>
              <a:latin typeface="+mn-ea"/>
            </a:endParaRPr>
          </a:p>
          <a:p>
            <a:pPr lvl="0" fontAlgn="base" latinLnBrk="0">
              <a:spcBef>
                <a:spcPct val="0"/>
              </a:spcBef>
              <a:spcAft>
                <a:spcPct val="0"/>
              </a:spcAft>
            </a:pPr>
            <a:r>
              <a:rPr kumimoji="1" lang="en-US" altLang="ko-KR" sz="1200" b="1" kern="0" dirty="0">
                <a:solidFill>
                  <a:srgbClr val="000000"/>
                </a:solidFill>
                <a:latin typeface="+mn-ea"/>
              </a:rPr>
              <a:t>5. </a:t>
            </a:r>
            <a:r>
              <a:rPr kumimoji="1" lang="en-US" altLang="ko-KR" sz="1200" b="1" kern="0" dirty="0" err="1" smtClean="0">
                <a:solidFill>
                  <a:srgbClr val="000000"/>
                </a:solidFill>
                <a:latin typeface="+mn-ea"/>
              </a:rPr>
              <a:t>Performance</a:t>
            </a:r>
            <a:r>
              <a:rPr kumimoji="1" lang="en-US" altLang="ko-KR" sz="1200" b="1" kern="0" dirty="0" smtClean="0">
                <a:solidFill>
                  <a:srgbClr val="000000"/>
                </a:solidFill>
                <a:latin typeface="+mn-ea"/>
              </a:rPr>
              <a:t> axée sur les résultats</a:t>
            </a:r>
          </a:p>
          <a:p>
            <a:pPr lvl="0" fontAlgn="base" latinLnBrk="0">
              <a:spcBef>
                <a:spcPct val="0"/>
              </a:spcBef>
              <a:spcAft>
                <a:spcPct val="0"/>
              </a:spcAft>
            </a:pPr>
            <a:r>
              <a:rPr kumimoji="1" lang="en-US" altLang="ko-KR" sz="1200" b="1" kern="0" dirty="0" smtClean="0">
                <a:solidFill>
                  <a:srgbClr val="000000"/>
                </a:solidFill>
                <a:latin typeface="+mn-ea"/>
              </a:rPr>
              <a:t>    axée sur la performance</a:t>
            </a:r>
            <a:endParaRPr kumimoji="1" lang="ko-KR" altLang="en-US" sz="1200" b="1" i="0" u="none" strike="noStrike" kern="0" cap="none" spc="0" normalizeH="0" baseline="0" noProof="0" dirty="0" smtClean="0">
              <a:ln>
                <a:noFill/>
              </a:ln>
              <a:solidFill>
                <a:srgbClr val="000000"/>
              </a:solidFill>
              <a:effectLst/>
              <a:uLnTx/>
              <a:uFillTx/>
              <a:latin typeface="+mn-ea"/>
            </a:endParaRPr>
          </a:p>
        </p:txBody>
      </p:sp>
      <p:sp>
        <p:nvSpPr>
          <p:cNvPr id="83" name="AutoShape 255"/>
          <p:cNvSpPr>
            <a:spLocks noChangeArrowheads="1"/>
          </p:cNvSpPr>
          <p:nvPr/>
        </p:nvSpPr>
        <p:spPr bwMode="auto">
          <a:xfrm>
            <a:off x="5999894" y="1851259"/>
            <a:ext cx="2408136" cy="792807"/>
          </a:xfrm>
          <a:prstGeom prst="chevron">
            <a:avLst>
              <a:gd name="adj" fmla="val 55422"/>
            </a:avLst>
          </a:prstGeom>
          <a:gradFill rotWithShape="0">
            <a:gsLst>
              <a:gs pos="0">
                <a:srgbClr val="FFFFFF"/>
              </a:gs>
              <a:gs pos="100000">
                <a:srgbClr val="CB8585"/>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CB8585"/>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lvl="0" algn="ctr" eaLnBrk="0" fontAlgn="base" latinLnBrk="0" hangingPunct="0">
              <a:spcBef>
                <a:spcPct val="0"/>
              </a:spcBef>
              <a:spcAft>
                <a:spcPct val="0"/>
              </a:spcAft>
            </a:pPr>
            <a:r>
              <a:rPr lang="en-US" altLang="ko-KR" kern="0" dirty="0" smtClean="0">
                <a:latin typeface="+mn-ea"/>
              </a:rPr>
              <a:t>   Phase </a:t>
            </a:r>
            <a:r>
              <a:rPr lang="en-US" altLang="ko-KR" kern="0" dirty="0">
                <a:latin typeface="+mn-ea"/>
              </a:rPr>
              <a:t>intégrée </a:t>
            </a:r>
            <a:endParaRPr kumimoji="0" lang="ko-KR" altLang="ko-KR" i="0" u="none" strike="noStrike" kern="0" cap="none" spc="0" normalizeH="0" baseline="0" noProof="0" dirty="0" smtClean="0">
              <a:ln>
                <a:noFill/>
              </a:ln>
              <a:uLnTx/>
              <a:uFillTx/>
              <a:latin typeface="+mn-ea"/>
            </a:endParaRPr>
          </a:p>
        </p:txBody>
      </p:sp>
      <p:sp>
        <p:nvSpPr>
          <p:cNvPr id="84" name="Rectangle 256"/>
          <p:cNvSpPr>
            <a:spLocks noChangeArrowheads="1"/>
          </p:cNvSpPr>
          <p:nvPr/>
        </p:nvSpPr>
        <p:spPr bwMode="auto">
          <a:xfrm>
            <a:off x="6019551" y="2852936"/>
            <a:ext cx="2296865" cy="3384376"/>
          </a:xfrm>
          <a:prstGeom prst="rect">
            <a:avLst/>
          </a:prstGeom>
          <a:gradFill rotWithShape="0">
            <a:gsLst>
              <a:gs pos="0">
                <a:srgbClr val="FFFFFF"/>
              </a:gs>
              <a:gs pos="100000">
                <a:srgbClr val="CB8585"/>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CB8585"/>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defTabSz="914400" eaLnBrk="0" fontAlgn="base" latinLnBrk="0" hangingPunct="0">
              <a:lnSpc>
                <a:spcPct val="250000"/>
              </a:lnSpc>
              <a:spcBef>
                <a:spcPct val="0"/>
              </a:spcBef>
              <a:spcAft>
                <a:spcPct val="0"/>
              </a:spcAft>
              <a:buClrTx/>
              <a:buSzTx/>
              <a:buFontTx/>
              <a:buNone/>
              <a:tabLst/>
              <a:defRPr/>
            </a:pPr>
            <a:r>
              <a:rPr kumimoji="0" lang="en-US" altLang="ko-KR" sz="1800" b="1" i="0" u="none" strike="noStrike" kern="0" cap="none" spc="0" normalizeH="0" baseline="0" noProof="0" smtClean="0">
                <a:ln>
                  <a:noFill/>
                </a:ln>
                <a:solidFill>
                  <a:srgbClr val="000000"/>
                </a:solidFill>
                <a:effectLst/>
                <a:uLnTx/>
                <a:uFillTx/>
                <a:latin typeface="굴림" pitchFamily="50" charset="-127"/>
                <a:ea typeface="굴림" pitchFamily="50" charset="-127"/>
              </a:rPr>
              <a:t> </a:t>
            </a:r>
          </a:p>
        </p:txBody>
      </p:sp>
      <p:grpSp>
        <p:nvGrpSpPr>
          <p:cNvPr id="85" name="Group 257"/>
          <p:cNvGrpSpPr>
            <a:grpSpLocks/>
          </p:cNvGrpSpPr>
          <p:nvPr/>
        </p:nvGrpSpPr>
        <p:grpSpPr bwMode="auto">
          <a:xfrm>
            <a:off x="6557429" y="2420888"/>
            <a:ext cx="143965" cy="715213"/>
            <a:chOff x="4333" y="2636"/>
            <a:chExt cx="110" cy="456"/>
          </a:xfrm>
        </p:grpSpPr>
        <p:sp>
          <p:nvSpPr>
            <p:cNvPr id="91" name="Oval 258"/>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2" name="Oval 259"/>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3" name="Line 260"/>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grpSp>
        <p:nvGrpSpPr>
          <p:cNvPr id="86" name="Group 261"/>
          <p:cNvGrpSpPr>
            <a:grpSpLocks/>
          </p:cNvGrpSpPr>
          <p:nvPr/>
        </p:nvGrpSpPr>
        <p:grpSpPr bwMode="auto">
          <a:xfrm>
            <a:off x="7203962" y="2420888"/>
            <a:ext cx="146582" cy="715213"/>
            <a:chOff x="4333" y="2636"/>
            <a:chExt cx="110" cy="456"/>
          </a:xfrm>
        </p:grpSpPr>
        <p:sp>
          <p:nvSpPr>
            <p:cNvPr id="88" name="Oval 262"/>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89" name="Oval 263"/>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0" name="Line 264"/>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sp>
        <p:nvSpPr>
          <p:cNvPr id="87" name="Rectangle 265"/>
          <p:cNvSpPr>
            <a:spLocks noChangeArrowheads="1"/>
          </p:cNvSpPr>
          <p:nvPr/>
        </p:nvSpPr>
        <p:spPr bwMode="auto">
          <a:xfrm>
            <a:off x="6116401" y="3287063"/>
            <a:ext cx="2128008" cy="2733041"/>
          </a:xfrm>
          <a:prstGeom prst="rect">
            <a:avLst/>
          </a:prstGeom>
          <a:solidFill>
            <a:srgbClr val="FFFFFF"/>
          </a:solidFill>
          <a:ln>
            <a:noFill/>
          </a:ln>
          <a:effectLst>
            <a:prstShdw prst="shdw18" dist="17961" dir="13500000">
              <a:srgbClr val="FFFFFF">
                <a:gamma/>
                <a:shade val="60000"/>
                <a:invGamma/>
              </a:srgb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lvl="0" fontAlgn="base" latinLnBrk="0">
              <a:spcBef>
                <a:spcPct val="0"/>
              </a:spcBef>
              <a:spcAft>
                <a:spcPct val="0"/>
              </a:spcAft>
            </a:pPr>
            <a:r>
              <a:rPr kumimoji="1" lang="en-US" altLang="ko-KR" sz="1200" b="1" kern="0" dirty="0">
                <a:solidFill>
                  <a:srgbClr val="000000"/>
                </a:solidFill>
                <a:latin typeface="+mn-ea"/>
              </a:rPr>
              <a:t>6. Gouvernance des TI</a:t>
            </a:r>
          </a:p>
          <a:p>
            <a:pPr lvl="0" fontAlgn="base" latinLnBrk="0">
              <a:spcBef>
                <a:spcPct val="0"/>
              </a:spcBef>
              <a:spcAft>
                <a:spcPct val="0"/>
              </a:spcAft>
            </a:pPr>
            <a:endParaRPr kumimoji="1" lang="en-US" altLang="ko-KR" sz="1200" b="1" kern="0" dirty="0">
              <a:solidFill>
                <a:srgbClr val="000000"/>
              </a:solidFill>
              <a:latin typeface="+mn-ea"/>
            </a:endParaRPr>
          </a:p>
          <a:p>
            <a:pPr lvl="0" fontAlgn="base" latinLnBrk="0">
              <a:spcBef>
                <a:spcPct val="0"/>
              </a:spcBef>
              <a:spcAft>
                <a:spcPct val="0"/>
              </a:spcAft>
            </a:pPr>
            <a:r>
              <a:rPr kumimoji="1" lang="en-US" altLang="ko-KR" sz="1200" b="1" kern="0" dirty="0">
                <a:solidFill>
                  <a:srgbClr val="000000"/>
                </a:solidFill>
                <a:latin typeface="+mn-ea"/>
              </a:rPr>
              <a:t>7. Services d'e-Gouvernement</a:t>
            </a:r>
            <a:endParaRPr kumimoji="1" lang="en-US" altLang="ko-KR" sz="1200" b="1" kern="0" dirty="0" smtClean="0">
              <a:solidFill>
                <a:srgbClr val="000000"/>
              </a:solidFill>
              <a:latin typeface="+mn-ea"/>
            </a:endParaRPr>
          </a:p>
          <a:p>
            <a:pPr lvl="0" fontAlgn="base" latinLnBrk="0">
              <a:spcBef>
                <a:spcPct val="0"/>
              </a:spcBef>
              <a:spcAft>
                <a:spcPct val="0"/>
              </a:spcAft>
            </a:pPr>
            <a:r>
              <a:rPr kumimoji="1" lang="en-US" altLang="ko-KR" sz="1200" b="1" kern="0" dirty="0" smtClean="0">
                <a:solidFill>
                  <a:srgbClr val="000000"/>
                </a:solidFill>
                <a:latin typeface="+mn-ea"/>
              </a:rPr>
              <a:t>   Services de </a:t>
            </a:r>
            <a:r>
              <a:rPr kumimoji="1" lang="en-US" altLang="ko-KR" sz="1200" b="1" kern="0" dirty="0">
                <a:solidFill>
                  <a:srgbClr val="000000"/>
                </a:solidFill>
                <a:latin typeface="+mn-ea"/>
              </a:rPr>
              <a:t>gouvernement électronique</a:t>
            </a:r>
            <a:endParaRPr kumimoji="1" lang="ko-KR" altLang="en-US" sz="1200" b="1" i="0" u="none" strike="noStrike" kern="0" cap="none" spc="0" normalizeH="0" baseline="0" noProof="0" dirty="0" smtClean="0">
              <a:ln>
                <a:noFill/>
              </a:ln>
              <a:solidFill>
                <a:srgbClr val="000000"/>
              </a:solidFill>
              <a:effectLst/>
              <a:uLnTx/>
              <a:uFillTx/>
              <a:latin typeface="+mn-ea"/>
            </a:endParaRPr>
          </a:p>
        </p:txBody>
      </p:sp>
      <p:sp>
        <p:nvSpPr>
          <p:cNvPr id="109" name="직사각형 108"/>
          <p:cNvSpPr/>
          <p:nvPr/>
        </p:nvSpPr>
        <p:spPr>
          <a:xfrm>
            <a:off x="1187624" y="2051556"/>
            <a:ext cx="1838901" cy="369332"/>
          </a:xfrm>
          <a:prstGeom prst="rect">
            <a:avLst/>
          </a:prstGeom>
        </p:spPr>
        <p:txBody>
          <a:bodyPr wrap="none">
            <a:spAutoFit/>
          </a:bodyPr>
          <a:lstStyle/>
          <a:p>
            <a:r>
              <a:rPr lang="en-US" altLang="ko-KR" dirty="0"/>
              <a:t>Stade émergent</a:t>
            </a:r>
            <a:endParaRPr lang="ko-KR" altLang="en-US" dirty="0"/>
          </a:p>
        </p:txBody>
      </p:sp>
      <p:sp>
        <p:nvSpPr>
          <p:cNvPr id="110" name="슬라이드 번호 개체 틀 109"/>
          <p:cNvSpPr>
            <a:spLocks noGrp="1"/>
          </p:cNvSpPr>
          <p:nvPr>
            <p:ph type="sldNum" sz="quarter" idx="12"/>
          </p:nvPr>
        </p:nvSpPr>
        <p:spPr/>
        <p:txBody>
          <a:bodyPr/>
          <a:lstStyle/>
          <a:p>
            <a:fld id="{8F563537-3992-4579-A065-26E1D23BF530}" type="slidenum">
              <a:rPr lang="ko-KR" altLang="en-US" smtClean="0"/>
              <a:pPr/>
              <a:t>8</a:t>
            </a:fld>
            <a:endParaRPr lang="ko-KR" altLang="en-US"/>
          </a:p>
        </p:txBody>
      </p:sp>
    </p:spTree>
    <p:extLst>
      <p:ext uri="{BB962C8B-B14F-4D97-AF65-F5344CB8AC3E}">
        <p14:creationId xmlns:p14="http://schemas.microsoft.com/office/powerpoint/2010/main" val="388957554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rmAutofit/>
          </a:bodyPr>
          <a:lstStyle/>
          <a:p>
            <a:r>
              <a:rPr lang="en-US" altLang="ko-KR" sz="3600" dirty="0" smtClean="0"/>
              <a:t>Facteurs habilitants TIC stratégiques</a:t>
            </a:r>
            <a:endParaRPr lang="ko-KR" altLang="en-US" sz="3600" dirty="0"/>
          </a:p>
        </p:txBody>
      </p:sp>
      <p:sp>
        <p:nvSpPr>
          <p:cNvPr id="3" name="내용 개체 틀 2"/>
          <p:cNvSpPr>
            <a:spLocks noGrp="1"/>
          </p:cNvSpPr>
          <p:nvPr>
            <p:ph idx="1"/>
          </p:nvPr>
        </p:nvSpPr>
        <p:spPr/>
        <p:txBody>
          <a:bodyPr>
            <a:normAutofit fontScale="92500" lnSpcReduction="10000"/>
          </a:bodyPr>
          <a:lstStyle/>
          <a:p>
            <a:r>
              <a:rPr lang="en-US" altLang="ko-KR" sz="1800" dirty="0" smtClean="0"/>
              <a:t>Infrastructure TIC partagée</a:t>
            </a:r>
          </a:p>
          <a:p>
            <a:pPr lvl="1"/>
            <a:r>
              <a:rPr lang="en-US" altLang="ko-KR" sz="1400" dirty="0" smtClean="0"/>
              <a:t>Haut débit, Cloud, RSN, </a:t>
            </a:r>
            <a:r>
              <a:rPr lang="en-US" altLang="ko-KR" sz="1400" dirty="0" err="1" smtClean="0"/>
              <a:t>IoT</a:t>
            </a:r>
            <a:r>
              <a:rPr lang="en-US" altLang="ko-KR" sz="1400" dirty="0" smtClean="0"/>
              <a:t> etc.</a:t>
            </a:r>
          </a:p>
          <a:p>
            <a:r>
              <a:rPr lang="en-US" altLang="ko-KR" sz="1800" dirty="0" smtClean="0"/>
              <a:t>Données ouvertes</a:t>
            </a:r>
          </a:p>
          <a:p>
            <a:pPr lvl="1"/>
            <a:r>
              <a:rPr lang="en-US" altLang="ko-KR" sz="1400" dirty="0" smtClean="0"/>
              <a:t>Portail de données gouvernementales, constitution de bases de données nationales, etc.</a:t>
            </a:r>
          </a:p>
          <a:p>
            <a:r>
              <a:rPr lang="en-US" altLang="ko-KR" sz="1800" dirty="0" smtClean="0"/>
              <a:t>Infrastructure d'innovation (p. ex. laboratoires d'innovation)</a:t>
            </a:r>
          </a:p>
          <a:p>
            <a:pPr lvl="1"/>
            <a:r>
              <a:rPr lang="en-US" altLang="ko-KR" sz="1400" dirty="0" smtClean="0"/>
              <a:t>Projets de R&amp;D associés entre industrie, milieu universitaire et gouvernement</a:t>
            </a:r>
          </a:p>
          <a:p>
            <a:r>
              <a:rPr lang="en-US" altLang="ko-KR" sz="1800" dirty="0" smtClean="0"/>
              <a:t>Formation nationale à l'utilisation de l'informatique</a:t>
            </a:r>
          </a:p>
          <a:p>
            <a:pPr lvl="1"/>
            <a:r>
              <a:rPr lang="en-US" altLang="ko-KR" sz="1400" dirty="0" smtClean="0"/>
              <a:t>Écoles, personnes âgées</a:t>
            </a:r>
          </a:p>
          <a:p>
            <a:r>
              <a:rPr lang="en-US" altLang="ko-KR" sz="1800" dirty="0" smtClean="0"/>
              <a:t>Service partagé dans l'administration publique (ex. </a:t>
            </a:r>
            <a:r>
              <a:rPr lang="en-US" altLang="ko-KR" sz="1800" dirty="0" err="1" smtClean="0"/>
              <a:t>eProcurement</a:t>
            </a:r>
            <a:r>
              <a:rPr lang="en-US" altLang="ko-KR" sz="1800" dirty="0" smtClean="0"/>
              <a:t>)</a:t>
            </a:r>
          </a:p>
          <a:p>
            <a:pPr lvl="1"/>
            <a:r>
              <a:rPr lang="en-US" altLang="ko-KR" sz="1400" dirty="0" smtClean="0"/>
              <a:t>Services TI partagés via GEAP et groupes de travail spéciaux</a:t>
            </a:r>
          </a:p>
          <a:p>
            <a:r>
              <a:rPr lang="en-US" altLang="ko-KR" sz="1800" dirty="0" smtClean="0"/>
              <a:t>Cadre institutionnel, juridique et réglementaire</a:t>
            </a:r>
          </a:p>
          <a:p>
            <a:pPr lvl="1"/>
            <a:r>
              <a:rPr lang="en-US" altLang="ko-KR" sz="1400" dirty="0" smtClean="0"/>
              <a:t>Loi-cadre sur l'</a:t>
            </a:r>
            <a:r>
              <a:rPr lang="en-US" altLang="ko-KR" sz="1400" dirty="0" err="1" smtClean="0"/>
              <a:t>informatisation</a:t>
            </a:r>
            <a:r>
              <a:rPr lang="en-US" altLang="ko-KR" sz="1400" dirty="0" smtClean="0"/>
              <a:t>, Loi sur le gouvernement électronique, etc.</a:t>
            </a:r>
          </a:p>
          <a:p>
            <a:pPr lvl="1"/>
            <a:r>
              <a:rPr lang="en-US" altLang="ko-KR" sz="1400" dirty="0" smtClean="0"/>
              <a:t>Questions de sécurité et de confidentialité</a:t>
            </a:r>
          </a:p>
          <a:p>
            <a:pPr lvl="1"/>
            <a:r>
              <a:rPr lang="en-US" altLang="ko-KR" sz="1400" dirty="0" smtClean="0"/>
              <a:t>Mobilisation et maintien d'un fonds de développement</a:t>
            </a:r>
          </a:p>
          <a:p>
            <a:r>
              <a:rPr lang="en-US" altLang="ko-KR" sz="1800" dirty="0" smtClean="0"/>
              <a:t>Environnement culturel et social propice aux TIC</a:t>
            </a:r>
          </a:p>
          <a:p>
            <a:pPr lvl="1"/>
            <a:r>
              <a:rPr lang="en-US" altLang="ko-KR" sz="1400" dirty="0" smtClean="0"/>
              <a:t>Mouvement culturel TIC piloté par l'État </a:t>
            </a:r>
            <a:r>
              <a:rPr lang="en-US" altLang="ko-KR" sz="1400" dirty="0" err="1" smtClean="0"/>
              <a:t>et diffusion</a:t>
            </a:r>
            <a:r>
              <a:rPr lang="en-US" altLang="ko-KR" sz="1400" dirty="0" smtClean="0"/>
              <a:t>  Extension de l'accès à Internet (ex. cybercafés)</a:t>
            </a:r>
          </a:p>
          <a:p>
            <a:pPr lvl="1"/>
            <a:r>
              <a:rPr lang="en-US" altLang="ko-KR" sz="1400" dirty="0" smtClean="0"/>
              <a:t>Besoins de participation à l'élaboration des politiques et à la vie publique via le web</a:t>
            </a:r>
          </a:p>
          <a:p>
            <a:r>
              <a:rPr lang="en-US" altLang="ko-KR" sz="1800" dirty="0" smtClean="0"/>
              <a:t>Dispositif efficace de gouvernance des TIC</a:t>
            </a:r>
          </a:p>
          <a:p>
            <a:pPr lvl="1"/>
            <a:endParaRPr lang="en-US" altLang="ko-KR" sz="1600" dirty="0" smtClean="0"/>
          </a:p>
          <a:p>
            <a:pPr lvl="1"/>
            <a:endParaRPr lang="en-US" altLang="ko-KR" sz="2000" dirty="0" smtClean="0"/>
          </a:p>
        </p:txBody>
      </p:sp>
      <p:sp>
        <p:nvSpPr>
          <p:cNvPr id="4" name="슬라이드 번호 개체 틀 3"/>
          <p:cNvSpPr>
            <a:spLocks noGrp="1"/>
          </p:cNvSpPr>
          <p:nvPr>
            <p:ph type="sldNum" sz="quarter" idx="12"/>
          </p:nvPr>
        </p:nvSpPr>
        <p:spPr/>
        <p:txBody>
          <a:bodyPr/>
          <a:lstStyle/>
          <a:p>
            <a:fld id="{8F563537-3992-4579-A065-26E1D23BF530}" type="slidenum">
              <a:rPr lang="ko-KR" altLang="en-US" smtClean="0"/>
              <a:pPr/>
              <a:t>9</a:t>
            </a:fld>
            <a:endParaRPr lang="ko-KR" altLang="en-US"/>
          </a:p>
        </p:txBody>
      </p:sp>
    </p:spTree>
    <p:extLst>
      <p:ext uri="{BB962C8B-B14F-4D97-AF65-F5344CB8AC3E}">
        <p14:creationId xmlns:p14="http://schemas.microsoft.com/office/powerpoint/2010/main" val="273216488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Box 15"/>
          <p:cNvSpPr txBox="1"/>
          <p:nvPr/>
        </p:nvSpPr>
        <p:spPr>
          <a:xfrm>
            <a:off x="107504" y="5685929"/>
            <a:ext cx="4952738" cy="276999"/>
          </a:xfrm>
          <a:prstGeom prst="rect">
            <a:avLst/>
          </a:prstGeom>
          <a:noFill/>
        </p:spPr>
        <p:txBody>
          <a:bodyPr wrap="square" rtlCol="0">
            <a:spAutoFit/>
          </a:bodyPr>
          <a:lstStyle/>
          <a:p>
            <a:r>
              <a:rPr lang="en-US" altLang="ko-KR" sz="1200" dirty="0" smtClean="0">
                <a:latin typeface="Tahoma" pitchFamily="34" charset="0"/>
                <a:ea typeface="Tahoma" pitchFamily="34" charset="0"/>
                <a:cs typeface="Tahoma" pitchFamily="34" charset="0"/>
              </a:rPr>
              <a:t>* Source : KCC (Korea Communications Commission), 2012.12</a:t>
            </a:r>
            <a:endParaRPr lang="ko-KR" altLang="en-US" sz="1200" dirty="0">
              <a:latin typeface="Tahoma" pitchFamily="34" charset="0"/>
              <a:cs typeface="Tahoma" pitchFamily="34" charset="0"/>
            </a:endParaRPr>
          </a:p>
        </p:txBody>
      </p:sp>
      <p:sp>
        <p:nvSpPr>
          <p:cNvPr id="17" name="Text Box 4"/>
          <p:cNvSpPr txBox="1">
            <a:spLocks noChangeArrowheads="1"/>
          </p:cNvSpPr>
          <p:nvPr/>
        </p:nvSpPr>
        <p:spPr bwMode="auto">
          <a:xfrm>
            <a:off x="501452" y="836712"/>
            <a:ext cx="4248471" cy="369332"/>
          </a:xfrm>
          <a:prstGeom prst="rect">
            <a:avLst/>
          </a:prstGeom>
          <a:noFill/>
          <a:ln w="9525">
            <a:noFill/>
            <a:miter lim="800000"/>
            <a:headEnd/>
            <a:tailEnd/>
          </a:ln>
          <a:effectLst>
            <a:outerShdw dist="50800" dir="360000" sx="31000" sy="31000" algn="ctr" rotWithShape="0">
              <a:srgbClr val="000000"/>
            </a:outerShdw>
          </a:effectLst>
        </p:spPr>
        <p:txBody>
          <a:bodyPr wrap="square">
            <a:spAutoFit/>
          </a:bodyPr>
          <a:lstStyle/>
          <a:p>
            <a:pPr fontAlgn="auto">
              <a:spcBef>
                <a:spcPts val="0"/>
              </a:spcBef>
              <a:spcAft>
                <a:spcPts val="0"/>
              </a:spcAft>
              <a:defRPr/>
            </a:pPr>
            <a:r>
              <a:rPr kumimoji="0" lang="en-US" altLang="ko-KR" b="0" dirty="0" smtClean="0">
                <a:solidFill>
                  <a:srgbClr val="2411AF"/>
                </a:solidFill>
                <a:effectLst>
                  <a:outerShdw blurRad="38100" dist="38100" dir="2700000" algn="tl">
                    <a:srgbClr val="000000">
                      <a:alpha val="43137"/>
                    </a:srgbClr>
                  </a:outerShdw>
                </a:effectLst>
                <a:latin typeface="Tahoma" pitchFamily="34" charset="0"/>
                <a:ea typeface="Tahoma" pitchFamily="34" charset="0"/>
                <a:cs typeface="Tahoma" pitchFamily="34" charset="0"/>
              </a:rPr>
              <a:t>Abonnés mobiles/Smartphones </a:t>
            </a:r>
            <a:endParaRPr kumimoji="0" lang="en-US" altLang="ko-KR" b="0" dirty="0">
              <a:solidFill>
                <a:srgbClr val="2411AF"/>
              </a:solidFill>
              <a:effectLst>
                <a:outerShdw blurRad="38100" dist="38100" dir="2700000" algn="tl">
                  <a:srgbClr val="000000">
                    <a:alpha val="43137"/>
                  </a:srgbClr>
                </a:outerShdw>
              </a:effectLst>
              <a:latin typeface="Tahoma" pitchFamily="34" charset="0"/>
              <a:ea typeface="Tahoma" pitchFamily="34" charset="0"/>
              <a:cs typeface="Tahoma" pitchFamily="34" charset="0"/>
            </a:endParaRPr>
          </a:p>
        </p:txBody>
      </p:sp>
      <p:sp>
        <p:nvSpPr>
          <p:cNvPr id="18" name="AutoShape 82"/>
          <p:cNvSpPr>
            <a:spLocks noChangeArrowheads="1"/>
          </p:cNvSpPr>
          <p:nvPr/>
        </p:nvSpPr>
        <p:spPr bwMode="auto">
          <a:xfrm>
            <a:off x="627326" y="6097694"/>
            <a:ext cx="7923213" cy="445068"/>
          </a:xfrm>
          <a:prstGeom prst="roundRect">
            <a:avLst>
              <a:gd name="adj" fmla="val 4213"/>
            </a:avLst>
          </a:prstGeom>
          <a:gradFill rotWithShape="1">
            <a:gsLst>
              <a:gs pos="0">
                <a:srgbClr val="196D21"/>
              </a:gs>
              <a:gs pos="50000">
                <a:srgbClr val="61A622"/>
              </a:gs>
              <a:gs pos="100000">
                <a:srgbClr val="196D21"/>
              </a:gs>
            </a:gsLst>
            <a:lin ang="2700000" scaled="1"/>
          </a:gradFill>
          <a:ln>
            <a:noFill/>
          </a:ln>
          <a:effectLst/>
          <a:extLst>
            <a:ext uri="{91240B29-F687-4F45-9708-019B960494DF}">
              <a14:hiddenLine xmlns:a14="http://schemas.microsoft.com/office/drawing/2010/main" w="9525">
                <a:solidFill>
                  <a:srgbClr val="000000"/>
                </a:solidFill>
                <a:round/>
                <a:headEnd/>
                <a:tailEnd/>
              </a14:hiddenLine>
            </a:ext>
          </a:extLst>
        </p:spPr>
        <p:txBody>
          <a:bodyPr lIns="0" tIns="0" rIns="0" bIns="0" anchor="ctr"/>
          <a:lstStyle>
            <a:defPPr>
              <a:defRPr lang="ko-KR"/>
            </a:defPPr>
            <a:lvl1pPr algn="l" rtl="0" fontAlgn="base" latinLnBrk="1">
              <a:spcBef>
                <a:spcPct val="0"/>
              </a:spcBef>
              <a:spcAft>
                <a:spcPct val="0"/>
              </a:spcAft>
              <a:defRPr kumimoji="1" b="1" kern="1200">
                <a:solidFill>
                  <a:schemeClr val="tx1"/>
                </a:solidFill>
                <a:latin typeface="Tahoma" pitchFamily="34" charset="0"/>
                <a:ea typeface="굴림" charset="-127"/>
                <a:cs typeface="+mn-cs"/>
              </a:defRPr>
            </a:lvl1pPr>
            <a:lvl2pPr marL="457200" algn="l" rtl="0" fontAlgn="base" latinLnBrk="1">
              <a:spcBef>
                <a:spcPct val="0"/>
              </a:spcBef>
              <a:spcAft>
                <a:spcPct val="0"/>
              </a:spcAft>
              <a:defRPr kumimoji="1" b="1" kern="1200">
                <a:solidFill>
                  <a:schemeClr val="tx1"/>
                </a:solidFill>
                <a:latin typeface="Tahoma" pitchFamily="34" charset="0"/>
                <a:ea typeface="굴림" charset="-127"/>
                <a:cs typeface="+mn-cs"/>
              </a:defRPr>
            </a:lvl2pPr>
            <a:lvl3pPr marL="914400" algn="l" rtl="0" fontAlgn="base" latinLnBrk="1">
              <a:spcBef>
                <a:spcPct val="0"/>
              </a:spcBef>
              <a:spcAft>
                <a:spcPct val="0"/>
              </a:spcAft>
              <a:defRPr kumimoji="1" b="1" kern="1200">
                <a:solidFill>
                  <a:schemeClr val="tx1"/>
                </a:solidFill>
                <a:latin typeface="Tahoma" pitchFamily="34" charset="0"/>
                <a:ea typeface="굴림" charset="-127"/>
                <a:cs typeface="+mn-cs"/>
              </a:defRPr>
            </a:lvl3pPr>
            <a:lvl4pPr marL="1371600" algn="l" rtl="0" fontAlgn="base" latinLnBrk="1">
              <a:spcBef>
                <a:spcPct val="0"/>
              </a:spcBef>
              <a:spcAft>
                <a:spcPct val="0"/>
              </a:spcAft>
              <a:defRPr kumimoji="1" b="1" kern="1200">
                <a:solidFill>
                  <a:schemeClr val="tx1"/>
                </a:solidFill>
                <a:latin typeface="Tahoma" pitchFamily="34" charset="0"/>
                <a:ea typeface="굴림" charset="-127"/>
                <a:cs typeface="+mn-cs"/>
              </a:defRPr>
            </a:lvl4pPr>
            <a:lvl5pPr marL="1828800" algn="l" rtl="0" fontAlgn="base" latinLnBrk="1">
              <a:spcBef>
                <a:spcPct val="0"/>
              </a:spcBef>
              <a:spcAft>
                <a:spcPct val="0"/>
              </a:spcAft>
              <a:defRPr kumimoji="1" b="1" kern="1200">
                <a:solidFill>
                  <a:schemeClr val="tx1"/>
                </a:solidFill>
                <a:latin typeface="Tahoma" pitchFamily="34" charset="0"/>
                <a:ea typeface="굴림" charset="-127"/>
                <a:cs typeface="+mn-cs"/>
              </a:defRPr>
            </a:lvl5pPr>
            <a:lvl6pPr marL="2286000" algn="l" defTabSz="914400" rtl="0" eaLnBrk="1" latinLnBrk="1" hangingPunct="1">
              <a:defRPr kumimoji="1" b="1" kern="1200">
                <a:solidFill>
                  <a:schemeClr val="tx1"/>
                </a:solidFill>
                <a:latin typeface="Tahoma" pitchFamily="34" charset="0"/>
                <a:ea typeface="굴림" charset="-127"/>
                <a:cs typeface="+mn-cs"/>
              </a:defRPr>
            </a:lvl6pPr>
            <a:lvl7pPr marL="2743200" algn="l" defTabSz="914400" rtl="0" eaLnBrk="1" latinLnBrk="1" hangingPunct="1">
              <a:defRPr kumimoji="1" b="1" kern="1200">
                <a:solidFill>
                  <a:schemeClr val="tx1"/>
                </a:solidFill>
                <a:latin typeface="Tahoma" pitchFamily="34" charset="0"/>
                <a:ea typeface="굴림" charset="-127"/>
                <a:cs typeface="+mn-cs"/>
              </a:defRPr>
            </a:lvl7pPr>
            <a:lvl8pPr marL="3200400" algn="l" defTabSz="914400" rtl="0" eaLnBrk="1" latinLnBrk="1" hangingPunct="1">
              <a:defRPr kumimoji="1" b="1" kern="1200">
                <a:solidFill>
                  <a:schemeClr val="tx1"/>
                </a:solidFill>
                <a:latin typeface="Tahoma" pitchFamily="34" charset="0"/>
                <a:ea typeface="굴림" charset="-127"/>
                <a:cs typeface="+mn-cs"/>
              </a:defRPr>
            </a:lvl8pPr>
            <a:lvl9pPr marL="3657600" algn="l" defTabSz="914400" rtl="0" eaLnBrk="1" latinLnBrk="1" hangingPunct="1">
              <a:defRPr kumimoji="1" b="1" kern="1200">
                <a:solidFill>
                  <a:schemeClr val="tx1"/>
                </a:solidFill>
                <a:latin typeface="Tahoma" pitchFamily="34" charset="0"/>
                <a:ea typeface="굴림" charset="-127"/>
                <a:cs typeface="+mn-cs"/>
              </a:defRPr>
            </a:lvl9pPr>
          </a:lstStyle>
          <a:p>
            <a:pPr algn="ctr">
              <a:buFont typeface="Wingdings" pitchFamily="2" charset="2"/>
              <a:buNone/>
              <a:defRPr/>
            </a:pPr>
            <a:r>
              <a:rPr lang="en-US" altLang="ko-KR" sz="2400" dirty="0">
                <a:ln>
                  <a:solidFill>
                    <a:schemeClr val="bg1">
                      <a:alpha val="5000"/>
                    </a:schemeClr>
                  </a:solidFill>
                </a:ln>
                <a:solidFill>
                  <a:srgbClr val="FFFFFF"/>
                </a:solidFill>
                <a:effectLst>
                  <a:outerShdw blurRad="177800" dist="38100" dir="2700000" algn="tl">
                    <a:srgbClr val="000000"/>
                  </a:outerShdw>
                </a:effectLst>
                <a:ea typeface="Tahoma" pitchFamily="34" charset="0"/>
                <a:cs typeface="Tahoma" pitchFamily="34" charset="0"/>
              </a:rPr>
              <a:t>Très forte demande de services mobiles</a:t>
            </a:r>
          </a:p>
        </p:txBody>
      </p:sp>
      <p:sp>
        <p:nvSpPr>
          <p:cNvPr id="20" name="제목 1"/>
          <p:cNvSpPr>
            <a:spLocks noGrp="1"/>
          </p:cNvSpPr>
          <p:nvPr>
            <p:ph type="title"/>
          </p:nvPr>
        </p:nvSpPr>
        <p:spPr>
          <a:xfrm>
            <a:off x="755576" y="78532"/>
            <a:ext cx="7920880" cy="634082"/>
          </a:xfrm>
        </p:spPr>
        <p:txBody>
          <a:bodyPr>
            <a:noAutofit/>
          </a:bodyPr>
          <a:lstStyle/>
          <a:p>
            <a:r>
              <a:rPr lang="en-US" altLang="ko-KR" sz="3200" dirty="0" smtClean="0">
                <a:latin typeface="Tahoma" pitchFamily="34" charset="0"/>
                <a:ea typeface="Tahoma" pitchFamily="34" charset="0"/>
                <a:cs typeface="Tahoma" pitchFamily="34" charset="0"/>
              </a:rPr>
              <a:t>État du secteur IT </a:t>
            </a:r>
            <a:r>
              <a:rPr lang="en-US" altLang="ko-KR" sz="3200" dirty="0">
                <a:latin typeface="Tahoma" pitchFamily="34" charset="0"/>
                <a:ea typeface="Tahoma" pitchFamily="34" charset="0"/>
                <a:cs typeface="Tahoma" pitchFamily="34" charset="0"/>
              </a:rPr>
              <a:t>,</a:t>
            </a:r>
            <a:r>
              <a:rPr lang="en-US" altLang="ko-KR" sz="3200" dirty="0" smtClean="0">
                <a:latin typeface="Tahoma" pitchFamily="34" charset="0"/>
                <a:ea typeface="Tahoma" pitchFamily="34" charset="0"/>
                <a:cs typeface="Tahoma" pitchFamily="34" charset="0"/>
              </a:rPr>
              <a:t> Corée du Sud</a:t>
            </a:r>
            <a:endParaRPr lang="ko-KR" altLang="en-US" sz="3200" dirty="0">
              <a:latin typeface="Tahoma" pitchFamily="34" charset="0"/>
              <a:ea typeface="나눔고딕 ExtraBold" pitchFamily="50" charset="-127"/>
              <a:cs typeface="Tahoma" pitchFamily="34" charset="0"/>
            </a:endParaRPr>
          </a:p>
        </p:txBody>
      </p:sp>
      <p:sp>
        <p:nvSpPr>
          <p:cNvPr id="27" name="TextBox 26"/>
          <p:cNvSpPr txBox="1"/>
          <p:nvPr/>
        </p:nvSpPr>
        <p:spPr>
          <a:xfrm>
            <a:off x="323528" y="1205988"/>
            <a:ext cx="4935322" cy="1508105"/>
          </a:xfrm>
          <a:prstGeom prst="rect">
            <a:avLst/>
          </a:prstGeom>
          <a:noFill/>
        </p:spPr>
        <p:txBody>
          <a:bodyPr wrap="square" rtlCol="0">
            <a:spAutoFit/>
          </a:bodyPr>
          <a:lstStyle/>
          <a:p>
            <a:pPr marL="285750" indent="-285750">
              <a:buFont typeface="Arial" pitchFamily="34" charset="0"/>
              <a:buChar char="•"/>
            </a:pPr>
            <a:r>
              <a:rPr lang="en-US" altLang="ko-KR" sz="1400" dirty="0" smtClean="0">
                <a:solidFill>
                  <a:schemeClr val="bg2">
                    <a:lumMod val="25000"/>
                  </a:schemeClr>
                </a:solidFill>
                <a:latin typeface="Tahoma" pitchFamily="34" charset="0"/>
                <a:ea typeface="Tahoma" pitchFamily="34" charset="0"/>
                <a:cs typeface="Tahoma" pitchFamily="34" charset="0"/>
              </a:rPr>
              <a:t>Abonnés smartphone : 35M , mai 2013</a:t>
            </a:r>
            <a:br>
              <a:rPr lang="en-US" altLang="ko-KR" sz="1400" dirty="0" smtClean="0">
                <a:solidFill>
                  <a:schemeClr val="bg2">
                    <a:lumMod val="25000"/>
                  </a:schemeClr>
                </a:solidFill>
                <a:latin typeface="Tahoma" pitchFamily="34" charset="0"/>
                <a:ea typeface="Tahoma" pitchFamily="34" charset="0"/>
                <a:cs typeface="Tahoma" pitchFamily="34" charset="0"/>
              </a:rPr>
            </a:br>
            <a:r>
              <a:rPr lang="en-US" altLang="ko-KR" sz="1400" dirty="0" smtClean="0">
                <a:solidFill>
                  <a:schemeClr val="bg2">
                    <a:lumMod val="25000"/>
                  </a:schemeClr>
                </a:solidFill>
                <a:latin typeface="Tahoma" pitchFamily="34" charset="0"/>
                <a:ea typeface="Tahoma" pitchFamily="34" charset="0"/>
                <a:cs typeface="Tahoma" pitchFamily="34" charset="0"/>
              </a:rPr>
              <a:t>- Population : 50M, 70% utilisent les smartphones</a:t>
            </a:r>
            <a:br>
              <a:rPr lang="en-US" altLang="ko-KR" sz="1400" dirty="0" smtClean="0">
                <a:solidFill>
                  <a:schemeClr val="bg2">
                    <a:lumMod val="25000"/>
                  </a:schemeClr>
                </a:solidFill>
                <a:latin typeface="Tahoma" pitchFamily="34" charset="0"/>
                <a:ea typeface="Tahoma" pitchFamily="34" charset="0"/>
                <a:cs typeface="Tahoma" pitchFamily="34" charset="0"/>
              </a:rPr>
            </a:br>
            <a:endParaRPr lang="en-US" altLang="ko-KR" sz="800" dirty="0" smtClean="0">
              <a:solidFill>
                <a:schemeClr val="bg2">
                  <a:lumMod val="25000"/>
                </a:schemeClr>
              </a:solidFill>
              <a:latin typeface="Tahoma" pitchFamily="34" charset="0"/>
              <a:ea typeface="Tahoma" pitchFamily="34" charset="0"/>
              <a:cs typeface="Tahoma" pitchFamily="34" charset="0"/>
            </a:endParaRPr>
          </a:p>
          <a:p>
            <a:pPr marL="285750" indent="-285750">
              <a:buFont typeface="Arial" pitchFamily="34" charset="0"/>
              <a:buChar char="•"/>
            </a:pPr>
            <a:r>
              <a:rPr lang="en-US" altLang="ko-KR" sz="1400" dirty="0" smtClean="0">
                <a:solidFill>
                  <a:schemeClr val="bg2">
                    <a:lumMod val="25000"/>
                  </a:schemeClr>
                </a:solidFill>
                <a:latin typeface="Tahoma" pitchFamily="34" charset="0"/>
                <a:ea typeface="Tahoma" pitchFamily="34" charset="0"/>
                <a:cs typeface="Tahoma" pitchFamily="34" charset="0"/>
              </a:rPr>
              <a:t>Croissance exponentielle : 2009 </a:t>
            </a:r>
            <a:r>
              <a:rPr lang="en-US" altLang="ko-KR" sz="1400" dirty="0" err="1" smtClean="0">
                <a:solidFill>
                  <a:schemeClr val="bg2">
                    <a:lumMod val="25000"/>
                  </a:schemeClr>
                </a:solidFill>
                <a:latin typeface="Tahoma" pitchFamily="34" charset="0"/>
                <a:ea typeface="Tahoma" pitchFamily="34" charset="0"/>
                <a:cs typeface="Tahoma" pitchFamily="34" charset="0"/>
                <a:sym typeface="Wingdings" pitchFamily="2" charset="2"/>
              </a:rPr>
              <a:t>vs</a:t>
            </a:r>
            <a:r>
              <a:rPr lang="en-US" altLang="ko-KR" sz="1400" dirty="0" smtClean="0">
                <a:solidFill>
                  <a:schemeClr val="bg2">
                    <a:lumMod val="25000"/>
                  </a:schemeClr>
                </a:solidFill>
                <a:latin typeface="Tahoma" pitchFamily="34" charset="0"/>
                <a:ea typeface="Tahoma" pitchFamily="34" charset="0"/>
                <a:cs typeface="Tahoma" pitchFamily="34" charset="0"/>
                <a:sym typeface="Wingdings" pitchFamily="2" charset="2"/>
              </a:rPr>
              <a:t> 2012</a:t>
            </a:r>
            <a:r>
              <a:rPr lang="en-US" altLang="ko-KR" sz="1400" dirty="0" smtClean="0">
                <a:solidFill>
                  <a:schemeClr val="bg2">
                    <a:lumMod val="25000"/>
                  </a:schemeClr>
                </a:solidFill>
                <a:latin typeface="Tahoma" pitchFamily="34" charset="0"/>
                <a:ea typeface="Tahoma" pitchFamily="34" charset="0"/>
                <a:cs typeface="Tahoma" pitchFamily="34" charset="0"/>
              </a:rPr>
              <a:t/>
            </a:r>
            <a:br>
              <a:rPr lang="en-US" altLang="ko-KR" sz="1400" dirty="0" smtClean="0">
                <a:solidFill>
                  <a:schemeClr val="bg2">
                    <a:lumMod val="25000"/>
                  </a:schemeClr>
                </a:solidFill>
                <a:latin typeface="Tahoma" pitchFamily="34" charset="0"/>
                <a:ea typeface="Tahoma" pitchFamily="34" charset="0"/>
                <a:cs typeface="Tahoma" pitchFamily="34" charset="0"/>
              </a:rPr>
            </a:br>
            <a:r>
              <a:rPr lang="en-US" altLang="ko-KR" sz="1400" dirty="0" smtClean="0">
                <a:solidFill>
                  <a:schemeClr val="bg2">
                    <a:lumMod val="25000"/>
                  </a:schemeClr>
                </a:solidFill>
                <a:latin typeface="Tahoma" pitchFamily="34" charset="0"/>
                <a:ea typeface="Tahoma" pitchFamily="34" charset="0"/>
                <a:cs typeface="Tahoma" pitchFamily="34" charset="0"/>
              </a:rPr>
              <a:t>- Utilisateurs smartphones : 0,8M </a:t>
            </a:r>
            <a:r>
              <a:rPr lang="en-US" altLang="ko-KR" sz="1400" dirty="0" smtClean="0">
                <a:solidFill>
                  <a:schemeClr val="bg2">
                    <a:lumMod val="25000"/>
                  </a:schemeClr>
                </a:solidFill>
                <a:latin typeface="Tahoma" pitchFamily="34" charset="0"/>
                <a:ea typeface="Tahoma" pitchFamily="34" charset="0"/>
                <a:cs typeface="Tahoma" pitchFamily="34" charset="0"/>
                <a:sym typeface="Wingdings" pitchFamily="2" charset="2"/>
              </a:rPr>
              <a:t> 32,7M (40 fois)</a:t>
            </a:r>
            <a:br>
              <a:rPr lang="en-US" altLang="ko-KR" sz="1400" dirty="0" smtClean="0">
                <a:solidFill>
                  <a:schemeClr val="bg2">
                    <a:lumMod val="25000"/>
                  </a:schemeClr>
                </a:solidFill>
                <a:latin typeface="Tahoma" pitchFamily="34" charset="0"/>
                <a:ea typeface="Tahoma" pitchFamily="34" charset="0"/>
                <a:cs typeface="Tahoma" pitchFamily="34" charset="0"/>
                <a:sym typeface="Wingdings" pitchFamily="2" charset="2"/>
              </a:rPr>
            </a:br>
            <a:r>
              <a:rPr lang="en-US" altLang="ko-KR" sz="1400" dirty="0" smtClean="0">
                <a:solidFill>
                  <a:schemeClr val="bg2">
                    <a:lumMod val="25000"/>
                  </a:schemeClr>
                </a:solidFill>
                <a:latin typeface="Tahoma" pitchFamily="34" charset="0"/>
                <a:ea typeface="Tahoma" pitchFamily="34" charset="0"/>
                <a:cs typeface="Tahoma" pitchFamily="34" charset="0"/>
                <a:sym typeface="Wingdings" pitchFamily="2" charset="2"/>
              </a:rPr>
              <a:t>- Données sans fil : 409TB  51 416TB (126 fois)</a:t>
            </a:r>
            <a:br>
              <a:rPr lang="en-US" altLang="ko-KR" sz="1400" dirty="0" smtClean="0">
                <a:solidFill>
                  <a:schemeClr val="bg2">
                    <a:lumMod val="25000"/>
                  </a:schemeClr>
                </a:solidFill>
                <a:latin typeface="Tahoma" pitchFamily="34" charset="0"/>
                <a:ea typeface="Tahoma" pitchFamily="34" charset="0"/>
                <a:cs typeface="Tahoma" pitchFamily="34" charset="0"/>
                <a:sym typeface="Wingdings" pitchFamily="2" charset="2"/>
              </a:rPr>
            </a:br>
            <a:r>
              <a:rPr lang="en-US" altLang="ko-KR" sz="1200" dirty="0" smtClean="0">
                <a:solidFill>
                  <a:schemeClr val="bg2">
                    <a:lumMod val="25000"/>
                  </a:schemeClr>
                </a:solidFill>
                <a:latin typeface="Tahoma" pitchFamily="34" charset="0"/>
                <a:ea typeface="Tahoma" pitchFamily="34" charset="0"/>
                <a:cs typeface="Tahoma" pitchFamily="34" charset="0"/>
                <a:sym typeface="Wingdings" pitchFamily="2" charset="2"/>
              </a:rPr>
              <a:t>   * Moyenne mondiale données sans fil : 17 fois (Source : KT</a:t>
            </a:r>
            <a:r>
              <a:rPr lang="en-US" altLang="ko-KR" sz="1200" dirty="0" smtClean="0">
                <a:solidFill>
                  <a:schemeClr val="bg2">
                    <a:lumMod val="25000"/>
                  </a:schemeClr>
                </a:solidFill>
                <a:latin typeface="+mj-lt"/>
                <a:cs typeface="Arial" pitchFamily="34" charset="0"/>
                <a:sym typeface="Wingdings" pitchFamily="2" charset="2"/>
              </a:rPr>
              <a:t>)</a:t>
            </a:r>
            <a:endParaRPr lang="ko-KR" altLang="en-US" sz="1200" dirty="0">
              <a:solidFill>
                <a:schemeClr val="bg2">
                  <a:lumMod val="25000"/>
                </a:schemeClr>
              </a:solidFill>
              <a:latin typeface="+mj-lt"/>
              <a:cs typeface="Arial" pitchFamily="34" charset="0"/>
            </a:endParaRPr>
          </a:p>
        </p:txBody>
      </p:sp>
      <p:pic>
        <p:nvPicPr>
          <p:cNvPr id="1028" name="Picture 4"/>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345" y="3068960"/>
            <a:ext cx="4601687" cy="2563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3" name="TextBox 22"/>
          <p:cNvSpPr txBox="1"/>
          <p:nvPr/>
        </p:nvSpPr>
        <p:spPr>
          <a:xfrm>
            <a:off x="3290938" y="2815992"/>
            <a:ext cx="1656184" cy="276999"/>
          </a:xfrm>
          <a:prstGeom prst="rect">
            <a:avLst/>
          </a:prstGeom>
          <a:noFill/>
        </p:spPr>
        <p:txBody>
          <a:bodyPr wrap="square" rtlCol="0">
            <a:spAutoFit/>
          </a:bodyPr>
          <a:lstStyle/>
          <a:p>
            <a:r>
              <a:rPr lang="en-US" altLang="ko-KR" sz="1200" dirty="0" smtClean="0">
                <a:latin typeface="Tahoma" pitchFamily="34" charset="0"/>
                <a:ea typeface="Tahoma" pitchFamily="34" charset="0"/>
                <a:cs typeface="Tahoma" pitchFamily="34" charset="0"/>
              </a:rPr>
              <a:t>( Millions d'abonnés )</a:t>
            </a:r>
            <a:endParaRPr lang="ko-KR" altLang="en-US" sz="1200" dirty="0">
              <a:latin typeface="Tahoma" pitchFamily="34" charset="0"/>
              <a:cs typeface="Tahoma" pitchFamily="34" charset="0"/>
            </a:endParaRPr>
          </a:p>
        </p:txBody>
      </p:sp>
      <p:graphicFrame>
        <p:nvGraphicFramePr>
          <p:cNvPr id="28" name="Group 269"/>
          <p:cNvGraphicFramePr>
            <a:graphicFrameLocks noGrp="1"/>
          </p:cNvGraphicFramePr>
          <p:nvPr>
            <p:extLst>
              <p:ext uri="{D42A27DB-BD31-4B8C-83A1-F6EECF244321}">
                <p14:modId xmlns:p14="http://schemas.microsoft.com/office/powerpoint/2010/main" val="2254868406"/>
              </p:ext>
            </p:extLst>
          </p:nvPr>
        </p:nvGraphicFramePr>
        <p:xfrm>
          <a:off x="5220072" y="1317240"/>
          <a:ext cx="3451882" cy="1751486"/>
        </p:xfrm>
        <a:graphic>
          <a:graphicData uri="http://schemas.openxmlformats.org/drawingml/2006/table">
            <a:tbl>
              <a:tblPr/>
              <a:tblGrid>
                <a:gridCol w="580059"/>
                <a:gridCol w="1364739"/>
                <a:gridCol w="1507084"/>
              </a:tblGrid>
              <a:tr h="324786">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80000"/>
                        </a:lnSpc>
                        <a:spcBef>
                          <a:spcPct val="20000"/>
                        </a:spcBef>
                        <a:spcAft>
                          <a:spcPct val="0"/>
                        </a:spcAft>
                        <a:buClrTx/>
                        <a:buSzTx/>
                        <a:buFontTx/>
                        <a:buNone/>
                        <a:tabLst/>
                      </a:pPr>
                      <a:r>
                        <a:rPr kumimoji="1" lang="en-US" altLang="ko-KR" sz="1400" b="1" i="0" u="none" strike="noStrike" cap="none" normalizeH="0" baseline="0" dirty="0" smtClean="0">
                          <a:ln>
                            <a:noFill/>
                          </a:ln>
                          <a:solidFill>
                            <a:schemeClr val="tx1"/>
                          </a:solidFill>
                          <a:effectLst/>
                          <a:latin typeface="Tahoma" pitchFamily="34" charset="0"/>
                          <a:ea typeface="Tahoma" pitchFamily="34" charset="0"/>
                          <a:cs typeface="Tahoma" pitchFamily="34" charset="0"/>
                        </a:rPr>
                        <a:t>Rank</a:t>
                      </a:r>
                    </a:p>
                  </a:txBody>
                  <a:tcPr marL="36005" marR="36005" marT="35990" marB="35990" anchor="ctr" horzOverflow="overflow">
                    <a:lnL>
                      <a:noFill/>
                    </a:lnL>
                    <a:lnR w="3175" cap="flat" cmpd="sng" algn="ctr">
                      <a:solidFill>
                        <a:srgbClr val="F2F2F2"/>
                      </a:solidFill>
                      <a:prstDash val="solid"/>
                      <a:round/>
                      <a:headEnd type="none" w="med" len="med"/>
                      <a:tailEnd type="none" w="med" len="med"/>
                    </a:lnR>
                    <a:lnT>
                      <a:noFill/>
                    </a:lnT>
                    <a:lnB w="3175" cap="flat" cmpd="sng" algn="ctr">
                      <a:solidFill>
                        <a:srgbClr val="F2F2F2"/>
                      </a:solidFill>
                      <a:prstDash val="solid"/>
                      <a:round/>
                      <a:headEnd type="none" w="med" len="med"/>
                      <a:tailEnd type="none" w="med" len="med"/>
                    </a:lnB>
                    <a:lnTlToBr>
                      <a:noFill/>
                    </a:lnTlToBr>
                    <a:lnBlToTr>
                      <a:noFill/>
                    </a:lnBlToTr>
                    <a:solidFill>
                      <a:schemeClr val="bg1">
                        <a:lumMod val="20000"/>
                        <a:lumOff val="80000"/>
                      </a:schemeClr>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80000"/>
                        </a:lnSpc>
                        <a:spcBef>
                          <a:spcPct val="20000"/>
                        </a:spcBef>
                        <a:spcAft>
                          <a:spcPct val="0"/>
                        </a:spcAft>
                        <a:buClrTx/>
                        <a:buSzTx/>
                        <a:buFontTx/>
                        <a:buNone/>
                        <a:tabLst/>
                      </a:pPr>
                      <a:r>
                        <a:rPr kumimoji="1" lang="en-US" altLang="ko-KR" sz="1400" b="1" i="0" u="none" strike="noStrike" cap="none" normalizeH="0" baseline="0" dirty="0" smtClean="0">
                          <a:ln>
                            <a:noFill/>
                          </a:ln>
                          <a:solidFill>
                            <a:schemeClr val="tx1"/>
                          </a:solidFill>
                          <a:effectLst/>
                          <a:latin typeface="Tahoma" pitchFamily="34" charset="0"/>
                          <a:ea typeface="Tahoma" pitchFamily="34" charset="0"/>
                          <a:cs typeface="Tahoma" pitchFamily="34" charset="0"/>
                        </a:rPr>
                        <a:t>Country</a:t>
                      </a:r>
                    </a:p>
                  </a:txBody>
                  <a:tcPr marL="36005" marR="36005"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a:noFill/>
                    </a:lnT>
                    <a:lnB w="3175" cap="flat" cmpd="sng" algn="ctr">
                      <a:solidFill>
                        <a:srgbClr val="F2F2F2"/>
                      </a:solidFill>
                      <a:prstDash val="solid"/>
                      <a:round/>
                      <a:headEnd type="none" w="med" len="med"/>
                      <a:tailEnd type="none" w="med" len="med"/>
                    </a:lnB>
                    <a:lnTlToBr>
                      <a:noFill/>
                    </a:lnTlToBr>
                    <a:lnBlToTr>
                      <a:noFill/>
                    </a:lnBlToTr>
                    <a:solidFill>
                      <a:schemeClr val="bg1">
                        <a:lumMod val="20000"/>
                        <a:lumOff val="80000"/>
                      </a:schemeClr>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80000"/>
                        </a:lnSpc>
                        <a:spcBef>
                          <a:spcPct val="20000"/>
                        </a:spcBef>
                        <a:spcAft>
                          <a:spcPct val="0"/>
                        </a:spcAft>
                        <a:buClrTx/>
                        <a:buSzTx/>
                        <a:buFontTx/>
                        <a:buNone/>
                        <a:tabLst/>
                      </a:pPr>
                      <a:r>
                        <a:rPr kumimoji="1" lang="en-US" altLang="ko-KR" sz="1400" b="1" i="0" u="none" strike="noStrike" cap="none" normalizeH="0" baseline="0" dirty="0" smtClean="0">
                          <a:ln>
                            <a:noFill/>
                          </a:ln>
                          <a:solidFill>
                            <a:schemeClr val="tx1"/>
                          </a:solidFill>
                          <a:effectLst/>
                          <a:latin typeface="Tahoma" pitchFamily="34" charset="0"/>
                          <a:ea typeface="Tahoma" pitchFamily="34" charset="0"/>
                          <a:cs typeface="Tahoma" pitchFamily="34" charset="0"/>
                        </a:rPr>
                        <a:t>Score</a:t>
                      </a:r>
                    </a:p>
                  </a:txBody>
                  <a:tcPr marL="36005" marR="36005" marT="35990" marB="35990" anchor="ctr" horzOverflow="overflow">
                    <a:lnL w="3175" cap="flat" cmpd="sng" algn="ctr">
                      <a:solidFill>
                        <a:srgbClr val="F2F2F2"/>
                      </a:solidFill>
                      <a:prstDash val="solid"/>
                      <a:round/>
                      <a:headEnd type="none" w="med" len="med"/>
                      <a:tailEnd type="none" w="med" len="med"/>
                    </a:lnL>
                    <a:lnR>
                      <a:noFill/>
                    </a:lnR>
                    <a:lnT>
                      <a:noFill/>
                    </a:lnT>
                    <a:lnB w="3175" cap="flat" cmpd="sng" algn="ctr">
                      <a:solidFill>
                        <a:srgbClr val="F2F2F2"/>
                      </a:solidFill>
                      <a:prstDash val="solid"/>
                      <a:round/>
                      <a:headEnd type="none" w="med" len="med"/>
                      <a:tailEnd type="none" w="med" len="med"/>
                    </a:lnB>
                    <a:lnTlToBr>
                      <a:noFill/>
                    </a:lnTlToBr>
                    <a:lnBlToTr>
                      <a:noFill/>
                    </a:lnBlToTr>
                    <a:solidFill>
                      <a:schemeClr val="bg1">
                        <a:lumMod val="20000"/>
                        <a:lumOff val="80000"/>
                      </a:schemeClr>
                    </a:solidFill>
                  </a:tcPr>
                </a:tc>
              </a:tr>
              <a:tr h="230000">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1" i="0" u="none" strike="noStrike" cap="none" normalizeH="0" baseline="0" dirty="0" smtClean="0">
                          <a:ln>
                            <a:noFill/>
                          </a:ln>
                          <a:solidFill>
                            <a:srgbClr val="FF0000"/>
                          </a:solidFill>
                          <a:effectLst/>
                          <a:latin typeface="Tahoma" pitchFamily="34" charset="0"/>
                          <a:ea typeface="Tahoma" pitchFamily="34" charset="0"/>
                          <a:cs typeface="Tahoma" pitchFamily="34" charset="0"/>
                        </a:rPr>
                        <a:t>1</a:t>
                      </a:r>
                    </a:p>
                  </a:txBody>
                  <a:tcPr marL="36005" marR="36005"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1" i="0" u="none" strike="noStrike" cap="none" normalizeH="0" baseline="0" dirty="0" smtClean="0">
                          <a:ln>
                            <a:noFill/>
                          </a:ln>
                          <a:solidFill>
                            <a:srgbClr val="FF0000"/>
                          </a:solidFill>
                          <a:effectLst/>
                          <a:latin typeface="Tahoma" pitchFamily="34" charset="0"/>
                          <a:ea typeface="Tahoma" pitchFamily="34" charset="0"/>
                          <a:cs typeface="Tahoma" pitchFamily="34" charset="0"/>
                        </a:rPr>
                        <a:t>South Korea</a:t>
                      </a:r>
                    </a:p>
                  </a:txBody>
                  <a:tcPr marL="36005" marR="36005"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1" i="0" u="none" strike="noStrike" cap="none" normalizeH="0" baseline="0" dirty="0" smtClean="0">
                          <a:ln>
                            <a:noFill/>
                          </a:ln>
                          <a:solidFill>
                            <a:srgbClr val="FF0000"/>
                          </a:solidFill>
                          <a:effectLst/>
                          <a:latin typeface="Tahoma" pitchFamily="34" charset="0"/>
                          <a:ea typeface="Tahoma" pitchFamily="34" charset="0"/>
                          <a:cs typeface="Tahoma" pitchFamily="34" charset="0"/>
                        </a:rPr>
                        <a:t>157</a:t>
                      </a:r>
                    </a:p>
                  </a:txBody>
                  <a:tcPr marL="36005" marR="36005"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30000">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2</a:t>
                      </a:r>
                    </a:p>
                  </a:txBody>
                  <a:tcPr marL="36005" marR="36005"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Hong Kong</a:t>
                      </a:r>
                    </a:p>
                  </a:txBody>
                  <a:tcPr marL="36005" marR="36005"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118</a:t>
                      </a:r>
                    </a:p>
                  </a:txBody>
                  <a:tcPr marL="36005" marR="36005"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30000">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3</a:t>
                      </a:r>
                    </a:p>
                  </a:txBody>
                  <a:tcPr marL="36005" marR="36005"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Japan</a:t>
                      </a:r>
                    </a:p>
                  </a:txBody>
                  <a:tcPr marL="36005" marR="36005"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116</a:t>
                      </a:r>
                    </a:p>
                  </a:txBody>
                  <a:tcPr marL="36005" marR="36005"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30000">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4</a:t>
                      </a:r>
                    </a:p>
                  </a:txBody>
                  <a:tcPr marL="36005" marR="36005"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Iceland</a:t>
                      </a:r>
                    </a:p>
                  </a:txBody>
                  <a:tcPr marL="36005" marR="36005"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115</a:t>
                      </a:r>
                    </a:p>
                  </a:txBody>
                  <a:tcPr marL="36005" marR="36005"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30000">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smtClean="0">
                          <a:ln>
                            <a:noFill/>
                          </a:ln>
                          <a:solidFill>
                            <a:schemeClr val="tx1"/>
                          </a:solidFill>
                          <a:effectLst/>
                          <a:latin typeface="Tahoma" pitchFamily="34" charset="0"/>
                          <a:ea typeface="Tahoma" pitchFamily="34" charset="0"/>
                          <a:cs typeface="Tahoma" pitchFamily="34" charset="0"/>
                        </a:rPr>
                        <a:t>5</a:t>
                      </a:r>
                    </a:p>
                  </a:txBody>
                  <a:tcPr marL="36005" marR="36005"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a:noFill/>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Luxembourg</a:t>
                      </a:r>
                    </a:p>
                  </a:txBody>
                  <a:tcPr marL="36005" marR="36005"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a:noFill/>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111</a:t>
                      </a:r>
                    </a:p>
                  </a:txBody>
                  <a:tcPr marL="36005" marR="36005"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a:noFill/>
                    </a:lnB>
                    <a:lnTlToBr>
                      <a:noFill/>
                    </a:lnTlToBr>
                    <a:lnBlToTr>
                      <a:noFill/>
                    </a:lnBlToTr>
                    <a:solidFill>
                      <a:srgbClr val="FFFFFF"/>
                    </a:solidFill>
                  </a:tcPr>
                </a:tc>
              </a:tr>
            </a:tbl>
          </a:graphicData>
        </a:graphic>
      </p:graphicFrame>
      <p:sp>
        <p:nvSpPr>
          <p:cNvPr id="31" name="Text Box 153"/>
          <p:cNvSpPr txBox="1">
            <a:spLocks noChangeArrowheads="1"/>
          </p:cNvSpPr>
          <p:nvPr/>
        </p:nvSpPr>
        <p:spPr bwMode="auto">
          <a:xfrm>
            <a:off x="5219724" y="3117440"/>
            <a:ext cx="2160588" cy="226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90000" tIns="46800" rIns="90000" bIns="46800">
            <a:spAutoFit/>
          </a:bodyPr>
          <a:lstStyle>
            <a:lvl1pPr>
              <a:defRPr kumimoji="1" sz="900" b="1">
                <a:solidFill>
                  <a:srgbClr val="000066"/>
                </a:solidFill>
                <a:latin typeface="Arial" pitchFamily="34" charset="0"/>
                <a:ea typeface="HY견고딕" pitchFamily="18" charset="-127"/>
              </a:defRPr>
            </a:lvl1pPr>
            <a:lvl2pPr marL="742950" indent="-285750">
              <a:defRPr kumimoji="1" sz="900" b="1">
                <a:solidFill>
                  <a:srgbClr val="000066"/>
                </a:solidFill>
                <a:latin typeface="Arial" pitchFamily="34" charset="0"/>
                <a:ea typeface="HY견고딕" pitchFamily="18" charset="-127"/>
              </a:defRPr>
            </a:lvl2pPr>
            <a:lvl3pPr marL="1143000" indent="-228600">
              <a:defRPr kumimoji="1" sz="900" b="1">
                <a:solidFill>
                  <a:srgbClr val="000066"/>
                </a:solidFill>
                <a:latin typeface="Arial" pitchFamily="34" charset="0"/>
                <a:ea typeface="HY견고딕" pitchFamily="18" charset="-127"/>
              </a:defRPr>
            </a:lvl3pPr>
            <a:lvl4pPr marL="1600200" indent="-228600">
              <a:defRPr kumimoji="1" sz="900" b="1">
                <a:solidFill>
                  <a:srgbClr val="000066"/>
                </a:solidFill>
                <a:latin typeface="Arial" pitchFamily="34" charset="0"/>
                <a:ea typeface="HY견고딕" pitchFamily="18" charset="-127"/>
              </a:defRPr>
            </a:lvl4pPr>
            <a:lvl5pPr marL="2057400" indent="-228600">
              <a:defRPr kumimoji="1" sz="900" b="1">
                <a:solidFill>
                  <a:srgbClr val="000066"/>
                </a:solidFill>
                <a:latin typeface="Arial" pitchFamily="34" charset="0"/>
                <a:ea typeface="HY견고딕" pitchFamily="18" charset="-127"/>
              </a:defRPr>
            </a:lvl5pPr>
            <a:lvl6pPr marL="2514600" indent="-228600" eaLnBrk="0" fontAlgn="base" hangingPunct="0">
              <a:lnSpc>
                <a:spcPct val="70000"/>
              </a:lnSpc>
              <a:spcBef>
                <a:spcPct val="50000"/>
              </a:spcBef>
              <a:spcAft>
                <a:spcPct val="0"/>
              </a:spcAft>
              <a:defRPr kumimoji="1" sz="900" b="1">
                <a:solidFill>
                  <a:srgbClr val="000066"/>
                </a:solidFill>
                <a:latin typeface="Arial" pitchFamily="34" charset="0"/>
                <a:ea typeface="HY견고딕" pitchFamily="18" charset="-127"/>
              </a:defRPr>
            </a:lvl6pPr>
            <a:lvl7pPr marL="2971800" indent="-228600" eaLnBrk="0" fontAlgn="base" hangingPunct="0">
              <a:lnSpc>
                <a:spcPct val="70000"/>
              </a:lnSpc>
              <a:spcBef>
                <a:spcPct val="50000"/>
              </a:spcBef>
              <a:spcAft>
                <a:spcPct val="0"/>
              </a:spcAft>
              <a:defRPr kumimoji="1" sz="900" b="1">
                <a:solidFill>
                  <a:srgbClr val="000066"/>
                </a:solidFill>
                <a:latin typeface="Arial" pitchFamily="34" charset="0"/>
                <a:ea typeface="HY견고딕" pitchFamily="18" charset="-127"/>
              </a:defRPr>
            </a:lvl7pPr>
            <a:lvl8pPr marL="3429000" indent="-228600" eaLnBrk="0" fontAlgn="base" hangingPunct="0">
              <a:lnSpc>
                <a:spcPct val="70000"/>
              </a:lnSpc>
              <a:spcBef>
                <a:spcPct val="50000"/>
              </a:spcBef>
              <a:spcAft>
                <a:spcPct val="0"/>
              </a:spcAft>
              <a:defRPr kumimoji="1" sz="900" b="1">
                <a:solidFill>
                  <a:srgbClr val="000066"/>
                </a:solidFill>
                <a:latin typeface="Arial" pitchFamily="34" charset="0"/>
                <a:ea typeface="HY견고딕" pitchFamily="18" charset="-127"/>
              </a:defRPr>
            </a:lvl8pPr>
            <a:lvl9pPr marL="3886200" indent="-228600" eaLnBrk="0" fontAlgn="base" hangingPunct="0">
              <a:lnSpc>
                <a:spcPct val="70000"/>
              </a:lnSpc>
              <a:spcBef>
                <a:spcPct val="50000"/>
              </a:spcBef>
              <a:spcAft>
                <a:spcPct val="0"/>
              </a:spcAft>
              <a:defRPr kumimoji="1" sz="900" b="1">
                <a:solidFill>
                  <a:srgbClr val="000066"/>
                </a:solidFill>
                <a:latin typeface="Arial" pitchFamily="34" charset="0"/>
                <a:ea typeface="HY견고딕" pitchFamily="18" charset="-127"/>
              </a:defRPr>
            </a:lvl9pPr>
          </a:lstStyle>
          <a:p>
            <a:pPr fontAlgn="base" latinLnBrk="0">
              <a:lnSpc>
                <a:spcPct val="70000"/>
              </a:lnSpc>
              <a:spcBef>
                <a:spcPct val="50000"/>
              </a:spcBef>
              <a:spcAft>
                <a:spcPct val="0"/>
              </a:spcAft>
            </a:pPr>
            <a:r>
              <a:rPr kumimoji="0" lang="en-US" altLang="ko-KR" sz="1200" dirty="0">
                <a:solidFill>
                  <a:srgbClr val="000000"/>
                </a:solidFill>
                <a:cs typeface="Arial" pitchFamily="34" charset="0"/>
              </a:rPr>
              <a:t>(Univ. d'Oxford, </a:t>
            </a:r>
            <a:r>
              <a:rPr kumimoji="0" lang="en-US" altLang="ko-KR" sz="1200" dirty="0" smtClean="0">
                <a:solidFill>
                  <a:srgbClr val="000000"/>
                </a:solidFill>
                <a:cs typeface="Arial" pitchFamily="34" charset="0"/>
              </a:rPr>
              <a:t>oct. 2010)</a:t>
            </a:r>
            <a:endParaRPr kumimoji="0" lang="en-US" altLang="ko-KR" sz="1200" dirty="0">
              <a:solidFill>
                <a:srgbClr val="000000"/>
              </a:solidFill>
              <a:cs typeface="Arial" pitchFamily="34" charset="0"/>
            </a:endParaRPr>
          </a:p>
        </p:txBody>
      </p:sp>
      <p:sp>
        <p:nvSpPr>
          <p:cNvPr id="32" name="Text Box 4"/>
          <p:cNvSpPr txBox="1">
            <a:spLocks noChangeArrowheads="1"/>
          </p:cNvSpPr>
          <p:nvPr/>
        </p:nvSpPr>
        <p:spPr bwMode="auto">
          <a:xfrm>
            <a:off x="5571877" y="875900"/>
            <a:ext cx="3587960" cy="369332"/>
          </a:xfrm>
          <a:prstGeom prst="rect">
            <a:avLst/>
          </a:prstGeom>
          <a:noFill/>
          <a:ln w="9525">
            <a:noFill/>
            <a:miter lim="800000"/>
            <a:headEnd/>
            <a:tailEnd/>
          </a:ln>
          <a:effectLst>
            <a:outerShdw dist="50800" dir="360000" sx="31000" sy="31000" algn="ctr" rotWithShape="0">
              <a:srgbClr val="000000"/>
            </a:outerShdw>
          </a:effectLst>
        </p:spPr>
        <p:txBody>
          <a:bodyPr wrap="square">
            <a:spAutoFit/>
          </a:bodyPr>
          <a:lstStyle/>
          <a:p>
            <a:pPr fontAlgn="auto">
              <a:spcBef>
                <a:spcPts val="0"/>
              </a:spcBef>
              <a:spcAft>
                <a:spcPts val="0"/>
              </a:spcAft>
              <a:defRPr/>
            </a:pPr>
            <a:r>
              <a:rPr kumimoji="0" lang="en-US" altLang="ko-KR" b="0" dirty="0" smtClean="0">
                <a:solidFill>
                  <a:srgbClr val="2411AF"/>
                </a:solidFill>
                <a:effectLst>
                  <a:outerShdw blurRad="38100" dist="38100" dir="2700000" algn="tl">
                    <a:srgbClr val="000000">
                      <a:alpha val="43137"/>
                    </a:srgbClr>
                  </a:outerShdw>
                </a:effectLst>
                <a:latin typeface="Tahoma" pitchFamily="34" charset="0"/>
                <a:ea typeface="Tahoma" pitchFamily="34" charset="0"/>
                <a:cs typeface="Tahoma" pitchFamily="34" charset="0"/>
              </a:rPr>
              <a:t>Leadership en haut débit </a:t>
            </a:r>
            <a:endParaRPr kumimoji="0" lang="en-US" altLang="ko-KR" b="0" dirty="0">
              <a:solidFill>
                <a:srgbClr val="2411AF"/>
              </a:solidFill>
              <a:effectLst>
                <a:outerShdw blurRad="38100" dist="38100" dir="2700000" algn="tl">
                  <a:srgbClr val="000000">
                    <a:alpha val="43137"/>
                  </a:srgbClr>
                </a:outerShdw>
              </a:effectLst>
              <a:latin typeface="Tahoma" pitchFamily="34" charset="0"/>
              <a:ea typeface="Tahoma" pitchFamily="34" charset="0"/>
              <a:cs typeface="Tahoma" pitchFamily="34" charset="0"/>
            </a:endParaRPr>
          </a:p>
        </p:txBody>
      </p:sp>
      <p:graphicFrame>
        <p:nvGraphicFramePr>
          <p:cNvPr id="34" name="Group 269"/>
          <p:cNvGraphicFramePr>
            <a:graphicFrameLocks noGrp="1"/>
          </p:cNvGraphicFramePr>
          <p:nvPr>
            <p:extLst>
              <p:ext uri="{D42A27DB-BD31-4B8C-83A1-F6EECF244321}">
                <p14:modId xmlns:p14="http://schemas.microsoft.com/office/powerpoint/2010/main" val="4012228819"/>
              </p:ext>
            </p:extLst>
          </p:nvPr>
        </p:nvGraphicFramePr>
        <p:xfrm>
          <a:off x="5155916" y="3829762"/>
          <a:ext cx="3520541" cy="1747990"/>
        </p:xfrm>
        <a:graphic>
          <a:graphicData uri="http://schemas.openxmlformats.org/drawingml/2006/table">
            <a:tbl>
              <a:tblPr/>
              <a:tblGrid>
                <a:gridCol w="591901"/>
                <a:gridCol w="1390786"/>
                <a:gridCol w="1537854"/>
              </a:tblGrid>
              <a:tr h="321290">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80000"/>
                        </a:lnSpc>
                        <a:spcBef>
                          <a:spcPct val="20000"/>
                        </a:spcBef>
                        <a:spcAft>
                          <a:spcPct val="0"/>
                        </a:spcAft>
                        <a:buClrTx/>
                        <a:buSzTx/>
                        <a:buFontTx/>
                        <a:buNone/>
                        <a:tabLst/>
                      </a:pPr>
                      <a:r>
                        <a:rPr kumimoji="1" lang="en-US" altLang="ko-KR" sz="1400" b="1" i="0" u="none" strike="noStrike" cap="none" normalizeH="0" baseline="0" dirty="0" smtClean="0">
                          <a:ln>
                            <a:noFill/>
                          </a:ln>
                          <a:solidFill>
                            <a:schemeClr val="tx1"/>
                          </a:solidFill>
                          <a:effectLst/>
                          <a:latin typeface="Tahoma" pitchFamily="34" charset="0"/>
                          <a:ea typeface="Tahoma" pitchFamily="34" charset="0"/>
                          <a:cs typeface="Tahoma" pitchFamily="34" charset="0"/>
                        </a:rPr>
                        <a:t>Rank</a:t>
                      </a:r>
                    </a:p>
                  </a:txBody>
                  <a:tcPr marL="35986" marR="35986" marT="35990" marB="35990" anchor="ctr" horzOverflow="overflow">
                    <a:lnL>
                      <a:noFill/>
                    </a:lnL>
                    <a:lnR w="3175" cap="flat" cmpd="sng" algn="ctr">
                      <a:solidFill>
                        <a:srgbClr val="F2F2F2"/>
                      </a:solidFill>
                      <a:prstDash val="solid"/>
                      <a:round/>
                      <a:headEnd type="none" w="med" len="med"/>
                      <a:tailEnd type="none" w="med" len="med"/>
                    </a:lnR>
                    <a:lnT>
                      <a:noFill/>
                    </a:lnT>
                    <a:lnB w="3175" cap="flat" cmpd="sng" algn="ctr">
                      <a:solidFill>
                        <a:srgbClr val="F2F2F2"/>
                      </a:solidFill>
                      <a:prstDash val="solid"/>
                      <a:round/>
                      <a:headEnd type="none" w="med" len="med"/>
                      <a:tailEnd type="none" w="med" len="med"/>
                    </a:lnB>
                    <a:lnTlToBr>
                      <a:noFill/>
                    </a:lnTlToBr>
                    <a:lnBlToTr>
                      <a:noFill/>
                    </a:lnBlToTr>
                    <a:solidFill>
                      <a:schemeClr val="bg1">
                        <a:lumMod val="20000"/>
                        <a:lumOff val="80000"/>
                      </a:schemeClr>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80000"/>
                        </a:lnSpc>
                        <a:spcBef>
                          <a:spcPct val="20000"/>
                        </a:spcBef>
                        <a:spcAft>
                          <a:spcPct val="0"/>
                        </a:spcAft>
                        <a:buClrTx/>
                        <a:buSzTx/>
                        <a:buFontTx/>
                        <a:buNone/>
                        <a:tabLst/>
                      </a:pPr>
                      <a:r>
                        <a:rPr kumimoji="1" lang="en-US" altLang="ko-KR" sz="1400" b="1" i="0" u="none" strike="noStrike" cap="none" normalizeH="0" baseline="0" dirty="0" smtClean="0">
                          <a:ln>
                            <a:noFill/>
                          </a:ln>
                          <a:solidFill>
                            <a:schemeClr val="tx1"/>
                          </a:solidFill>
                          <a:effectLst/>
                          <a:latin typeface="Tahoma" pitchFamily="34" charset="0"/>
                          <a:ea typeface="Tahoma" pitchFamily="34" charset="0"/>
                          <a:cs typeface="Tahoma" pitchFamily="34" charset="0"/>
                        </a:rPr>
                        <a:t>Country</a:t>
                      </a:r>
                    </a:p>
                  </a:txBody>
                  <a:tcPr marL="35986" marR="35986"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a:noFill/>
                    </a:lnT>
                    <a:lnB w="3175" cap="flat" cmpd="sng" algn="ctr">
                      <a:solidFill>
                        <a:srgbClr val="F2F2F2"/>
                      </a:solidFill>
                      <a:prstDash val="solid"/>
                      <a:round/>
                      <a:headEnd type="none" w="med" len="med"/>
                      <a:tailEnd type="none" w="med" len="med"/>
                    </a:lnB>
                    <a:lnTlToBr>
                      <a:noFill/>
                    </a:lnTlToBr>
                    <a:lnBlToTr>
                      <a:noFill/>
                    </a:lnBlToTr>
                    <a:solidFill>
                      <a:schemeClr val="bg1">
                        <a:lumMod val="20000"/>
                        <a:lumOff val="80000"/>
                      </a:schemeClr>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80000"/>
                        </a:lnSpc>
                        <a:spcBef>
                          <a:spcPct val="20000"/>
                        </a:spcBef>
                        <a:spcAft>
                          <a:spcPct val="0"/>
                        </a:spcAft>
                        <a:buClrTx/>
                        <a:buSzTx/>
                        <a:buFontTx/>
                        <a:buNone/>
                        <a:tabLst/>
                      </a:pPr>
                      <a:r>
                        <a:rPr kumimoji="1" lang="en-US" altLang="ko-KR" sz="1400" b="1" i="0" u="none" strike="noStrike" cap="none" normalizeH="0" baseline="0" dirty="0" smtClean="0">
                          <a:ln>
                            <a:noFill/>
                          </a:ln>
                          <a:solidFill>
                            <a:schemeClr val="tx1"/>
                          </a:solidFill>
                          <a:effectLst/>
                          <a:latin typeface="Tahoma" pitchFamily="34" charset="0"/>
                          <a:ea typeface="Tahoma" pitchFamily="34" charset="0"/>
                          <a:cs typeface="Tahoma" pitchFamily="34" charset="0"/>
                        </a:rPr>
                        <a:t>Speed (Mb/s)</a:t>
                      </a:r>
                    </a:p>
                  </a:txBody>
                  <a:tcPr marL="35986" marR="35986" marT="35990" marB="35990" anchor="ctr" horzOverflow="overflow">
                    <a:lnL w="3175" cap="flat" cmpd="sng" algn="ctr">
                      <a:solidFill>
                        <a:srgbClr val="F2F2F2"/>
                      </a:solidFill>
                      <a:prstDash val="solid"/>
                      <a:round/>
                      <a:headEnd type="none" w="med" len="med"/>
                      <a:tailEnd type="none" w="med" len="med"/>
                    </a:lnL>
                    <a:lnR>
                      <a:noFill/>
                    </a:lnR>
                    <a:lnT>
                      <a:noFill/>
                    </a:lnT>
                    <a:lnB w="3175" cap="flat" cmpd="sng" algn="ctr">
                      <a:solidFill>
                        <a:srgbClr val="F2F2F2"/>
                      </a:solidFill>
                      <a:prstDash val="solid"/>
                      <a:round/>
                      <a:headEnd type="none" w="med" len="med"/>
                      <a:tailEnd type="none" w="med" len="med"/>
                    </a:lnB>
                    <a:lnTlToBr>
                      <a:noFill/>
                    </a:lnTlToBr>
                    <a:lnBlToTr>
                      <a:noFill/>
                    </a:lnBlToTr>
                    <a:solidFill>
                      <a:schemeClr val="bg1">
                        <a:lumMod val="20000"/>
                        <a:lumOff val="80000"/>
                      </a:schemeClr>
                    </a:solidFill>
                  </a:tcPr>
                </a:tc>
              </a:tr>
              <a:tr h="227524">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1" i="0" u="none" strike="noStrike" cap="none" normalizeH="0" baseline="0" dirty="0" smtClean="0">
                          <a:ln>
                            <a:noFill/>
                          </a:ln>
                          <a:solidFill>
                            <a:srgbClr val="FF0000"/>
                          </a:solidFill>
                          <a:effectLst/>
                          <a:latin typeface="Tahoma" pitchFamily="34" charset="0"/>
                          <a:ea typeface="Tahoma" pitchFamily="34" charset="0"/>
                          <a:cs typeface="Tahoma" pitchFamily="34" charset="0"/>
                        </a:rPr>
                        <a:t>1</a:t>
                      </a:r>
                    </a:p>
                  </a:txBody>
                  <a:tcPr marL="35986" marR="35986"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1" i="0" u="none" strike="noStrike" cap="none" normalizeH="0" baseline="0" dirty="0" smtClean="0">
                          <a:ln>
                            <a:noFill/>
                          </a:ln>
                          <a:solidFill>
                            <a:srgbClr val="FF0000"/>
                          </a:solidFill>
                          <a:effectLst/>
                          <a:latin typeface="Tahoma" pitchFamily="34" charset="0"/>
                          <a:ea typeface="Tahoma" pitchFamily="34" charset="0"/>
                          <a:cs typeface="Tahoma" pitchFamily="34" charset="0"/>
                        </a:rPr>
                        <a:t>South Korea</a:t>
                      </a:r>
                    </a:p>
                  </a:txBody>
                  <a:tcPr marL="35986" marR="35986"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1" i="0" u="none" strike="noStrike" cap="none" normalizeH="0" baseline="0" dirty="0" smtClean="0">
                          <a:ln>
                            <a:noFill/>
                          </a:ln>
                          <a:solidFill>
                            <a:srgbClr val="FF0000"/>
                          </a:solidFill>
                          <a:effectLst/>
                          <a:latin typeface="Tahoma" pitchFamily="34" charset="0"/>
                          <a:ea typeface="Tahoma" pitchFamily="34" charset="0"/>
                          <a:cs typeface="Tahoma" pitchFamily="34" charset="0"/>
                        </a:rPr>
                        <a:t>14.7</a:t>
                      </a:r>
                    </a:p>
                  </a:txBody>
                  <a:tcPr marL="35986" marR="35986"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27524">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2</a:t>
                      </a:r>
                    </a:p>
                  </a:txBody>
                  <a:tcPr marL="35986" marR="35986"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Japan</a:t>
                      </a:r>
                    </a:p>
                  </a:txBody>
                  <a:tcPr marL="35986" marR="35986"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10.5</a:t>
                      </a:r>
                    </a:p>
                  </a:txBody>
                  <a:tcPr marL="35986" marR="35986"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27524">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3</a:t>
                      </a:r>
                    </a:p>
                  </a:txBody>
                  <a:tcPr marL="35986" marR="35986"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Hong Kong</a:t>
                      </a:r>
                    </a:p>
                  </a:txBody>
                  <a:tcPr marL="35986" marR="35986"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9.0</a:t>
                      </a:r>
                    </a:p>
                  </a:txBody>
                  <a:tcPr marL="35986" marR="35986"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27524">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4</a:t>
                      </a:r>
                    </a:p>
                  </a:txBody>
                  <a:tcPr marL="35986" marR="35986"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Switzerland</a:t>
                      </a:r>
                    </a:p>
                  </a:txBody>
                  <a:tcPr marL="35986" marR="35986"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8.7</a:t>
                      </a:r>
                    </a:p>
                  </a:txBody>
                  <a:tcPr marL="35986" marR="35986"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27524">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5</a:t>
                      </a:r>
                    </a:p>
                  </a:txBody>
                  <a:tcPr marL="35986" marR="35986"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a:noFill/>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Latvia</a:t>
                      </a:r>
                    </a:p>
                  </a:txBody>
                  <a:tcPr marL="35986" marR="35986"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a:noFill/>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8.7</a:t>
                      </a:r>
                    </a:p>
                  </a:txBody>
                  <a:tcPr marL="35986" marR="35986"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a:noFill/>
                    </a:lnB>
                    <a:lnTlToBr>
                      <a:noFill/>
                    </a:lnTlToBr>
                    <a:lnBlToTr>
                      <a:noFill/>
                    </a:lnBlToTr>
                    <a:solidFill>
                      <a:srgbClr val="FFFFFF"/>
                    </a:solidFill>
                  </a:tcPr>
                </a:tc>
              </a:tr>
            </a:tbl>
          </a:graphicData>
        </a:graphic>
      </p:graphicFrame>
      <p:sp>
        <p:nvSpPr>
          <p:cNvPr id="35" name="Text Box 154"/>
          <p:cNvSpPr txBox="1">
            <a:spLocks noChangeArrowheads="1"/>
          </p:cNvSpPr>
          <p:nvPr/>
        </p:nvSpPr>
        <p:spPr bwMode="auto">
          <a:xfrm>
            <a:off x="5155916" y="5560630"/>
            <a:ext cx="2144713" cy="279180"/>
          </a:xfrm>
          <a:prstGeom prst="rect">
            <a:avLst/>
          </a:prstGeom>
          <a:noFill/>
          <a:ln w="9525" algn="ctr">
            <a:noFill/>
            <a:miter lim="800000"/>
            <a:headEnd/>
            <a:tailEnd/>
          </a:ln>
        </p:spPr>
        <p:txBody>
          <a:bodyPr lIns="90000" tIns="46800" rIns="90000" bIns="46800">
            <a:spAutoFit/>
          </a:bodyPr>
          <a:lstStyle/>
          <a:p>
            <a:pPr latinLnBrk="0">
              <a:defRPr/>
            </a:pPr>
            <a:r>
              <a:rPr lang="en-US" altLang="ko-KR" sz="1200" kern="0" dirty="0">
                <a:solidFill>
                  <a:srgbClr val="000000"/>
                </a:solidFill>
                <a:latin typeface="Tahoma" pitchFamily="34" charset="0"/>
                <a:ea typeface="Tahoma" pitchFamily="34" charset="0"/>
                <a:cs typeface="Tahoma" pitchFamily="34" charset="0"/>
              </a:rPr>
              <a:t>(Akamai, Jan., 2013)</a:t>
            </a:r>
          </a:p>
        </p:txBody>
      </p:sp>
      <p:sp>
        <p:nvSpPr>
          <p:cNvPr id="38" name="Text Box 4"/>
          <p:cNvSpPr txBox="1">
            <a:spLocks noChangeArrowheads="1"/>
          </p:cNvSpPr>
          <p:nvPr/>
        </p:nvSpPr>
        <p:spPr bwMode="auto">
          <a:xfrm>
            <a:off x="4986632" y="3362501"/>
            <a:ext cx="4164024" cy="369332"/>
          </a:xfrm>
          <a:prstGeom prst="rect">
            <a:avLst/>
          </a:prstGeom>
          <a:noFill/>
          <a:ln w="9525">
            <a:noFill/>
            <a:miter lim="800000"/>
            <a:headEnd/>
            <a:tailEnd/>
          </a:ln>
          <a:effectLst>
            <a:outerShdw dist="50800" dir="360000" sx="31000" sy="31000" algn="ctr" rotWithShape="0">
              <a:srgbClr val="000000"/>
            </a:outerShdw>
          </a:effectLst>
        </p:spPr>
        <p:txBody>
          <a:bodyPr wrap="square">
            <a:spAutoFit/>
          </a:bodyPr>
          <a:lstStyle/>
          <a:p>
            <a:pPr fontAlgn="auto">
              <a:spcBef>
                <a:spcPts val="0"/>
              </a:spcBef>
              <a:spcAft>
                <a:spcPts val="0"/>
              </a:spcAft>
              <a:defRPr/>
            </a:pPr>
            <a:r>
              <a:rPr kumimoji="0" lang="en-US" altLang="ko-KR" b="0" dirty="0" smtClean="0">
                <a:solidFill>
                  <a:srgbClr val="2411AF"/>
                </a:solidFill>
                <a:effectLst>
                  <a:outerShdw blurRad="38100" dist="38100" dir="2700000" algn="tl">
                    <a:srgbClr val="000000">
                      <a:alpha val="43137"/>
                    </a:srgbClr>
                  </a:outerShdw>
                </a:effectLst>
                <a:latin typeface="Tahoma" pitchFamily="34" charset="0"/>
                <a:ea typeface="Tahoma" pitchFamily="34" charset="0"/>
                <a:cs typeface="Tahoma" pitchFamily="34" charset="0"/>
              </a:rPr>
              <a:t>Vitesse de connexion mesurée moyenne </a:t>
            </a:r>
            <a:endParaRPr kumimoji="0" lang="en-US" altLang="ko-KR" b="0" dirty="0">
              <a:solidFill>
                <a:srgbClr val="2411AF"/>
              </a:solidFill>
              <a:effectLst>
                <a:outerShdw blurRad="38100" dist="38100" dir="2700000" algn="tl">
                  <a:srgbClr val="000000">
                    <a:alpha val="43137"/>
                  </a:srgbClr>
                </a:outerShdw>
              </a:effectLst>
              <a:latin typeface="Tahoma" pitchFamily="34" charset="0"/>
              <a:ea typeface="Tahoma" pitchFamily="34" charset="0"/>
              <a:cs typeface="Tahoma" pitchFamily="34" charset="0"/>
            </a:endParaRPr>
          </a:p>
        </p:txBody>
      </p:sp>
      <p:sp>
        <p:nvSpPr>
          <p:cNvPr id="2" name="슬라이드 번호 개체 틀 1"/>
          <p:cNvSpPr>
            <a:spLocks noGrp="1"/>
          </p:cNvSpPr>
          <p:nvPr>
            <p:ph type="sldNum" sz="quarter" idx="12"/>
          </p:nvPr>
        </p:nvSpPr>
        <p:spPr/>
        <p:txBody>
          <a:bodyPr/>
          <a:lstStyle/>
          <a:p>
            <a:fld id="{8F563537-3992-4579-A065-26E1D23BF530}" type="slidenum">
              <a:rPr lang="ko-KR" altLang="en-US" smtClean="0"/>
              <a:pPr/>
              <a:t>10</a:t>
            </a:fld>
            <a:endParaRPr lang="ko-KR" altLang="en-US" dirty="0"/>
          </a:p>
        </p:txBody>
      </p:sp>
    </p:spTree>
    <p:extLst>
      <p:ext uri="{BB962C8B-B14F-4D97-AF65-F5344CB8AC3E}">
        <p14:creationId xmlns:p14="http://schemas.microsoft.com/office/powerpoint/2010/main" val="174612252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Autofit/>
          </a:bodyPr>
          <a:lstStyle/>
          <a:p>
            <a:r>
              <a:rPr lang="en-US" altLang="ko-KR" sz="3600" dirty="0" smtClean="0"/>
              <a:t>Facteurs de succès de l'</a:t>
            </a:r>
            <a:br>
              <a:rPr lang="en-US" altLang="ko-KR" sz="3600" dirty="0" smtClean="0"/>
            </a:br>
            <a:r>
              <a:rPr lang="en-US" altLang="ko-KR" sz="3600" dirty="0" smtClean="0"/>
              <a:t>infrastructure IT de la Corée</a:t>
            </a:r>
            <a:endParaRPr lang="ko-KR" altLang="en-US" sz="3600" dirty="0"/>
          </a:p>
        </p:txBody>
      </p:sp>
      <p:sp>
        <p:nvSpPr>
          <p:cNvPr id="4" name="내용 개체 틀 3"/>
          <p:cNvSpPr>
            <a:spLocks noGrp="1"/>
          </p:cNvSpPr>
          <p:nvPr>
            <p:ph sz="half" idx="1"/>
          </p:nvPr>
        </p:nvSpPr>
        <p:spPr>
          <a:xfrm>
            <a:off x="457200" y="1600200"/>
            <a:ext cx="3034680" cy="4525963"/>
          </a:xfrm>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w="15875">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p:spPr>
        <p:txBody>
          <a:bodyPr>
            <a:normAutofit fontScale="55000" lnSpcReduction="20000"/>
          </a:bodyPr>
          <a:lstStyle/>
          <a:p>
            <a:pPr marL="0" indent="0">
              <a:buNone/>
            </a:pPr>
            <a:r>
              <a:rPr lang="en-US" altLang="ko-KR" sz="2900" dirty="0" smtClean="0"/>
              <a:t>Facteurs d'avancement de l'infrastructure réseau en Corée</a:t>
            </a:r>
          </a:p>
          <a:p>
            <a:endParaRPr lang="en-US" altLang="ko-KR" dirty="0" smtClean="0"/>
          </a:p>
          <a:p>
            <a:r>
              <a:rPr lang="en-US" altLang="ko-KR" dirty="0" smtClean="0"/>
              <a:t>Les </a:t>
            </a:r>
            <a:r>
              <a:rPr lang="en-US" altLang="ko-KR" dirty="0"/>
              <a:t>efforts agressifs et constants du gouvernement pour mettre en œuvre </a:t>
            </a:r>
            <a:r>
              <a:rPr lang="en-US" altLang="ko-KR" dirty="0" smtClean="0"/>
              <a:t>la politique d'infrastructure IT</a:t>
            </a:r>
          </a:p>
          <a:p>
            <a:r>
              <a:rPr lang="en-US" altLang="ko-KR" dirty="0" smtClean="0"/>
              <a:t>Le </a:t>
            </a:r>
            <a:r>
              <a:rPr lang="en-US" altLang="ko-KR" dirty="0"/>
              <a:t>modèle économique </a:t>
            </a:r>
            <a:r>
              <a:rPr lang="en-US" altLang="ko-KR" dirty="0" smtClean="0"/>
              <a:t>unique de la Corée</a:t>
            </a:r>
            <a:endParaRPr lang="en-US" altLang="ko-KR" dirty="0"/>
          </a:p>
          <a:p>
            <a:r>
              <a:rPr lang="en-US" altLang="ko-KR" dirty="0" smtClean="0"/>
              <a:t>Choix </a:t>
            </a:r>
            <a:r>
              <a:rPr lang="en-US" altLang="ko-KR" dirty="0"/>
              <a:t>de la technique ADSL pour le déploiement initial de l'infrastructure </a:t>
            </a:r>
            <a:r>
              <a:rPr lang="en-US" altLang="ko-KR" dirty="0" smtClean="0"/>
              <a:t> </a:t>
            </a:r>
            <a:endParaRPr lang="en-US" altLang="ko-KR" dirty="0"/>
          </a:p>
          <a:p>
            <a:r>
              <a:rPr lang="en-US" altLang="ko-KR" dirty="0" smtClean="0"/>
              <a:t>Investissement </a:t>
            </a:r>
            <a:r>
              <a:rPr lang="en-US" altLang="ko-KR" dirty="0"/>
              <a:t>prioritaire dans les zones isolées et vulnérables à la diffusion IT, telles que les écoles et les zones rurales </a:t>
            </a:r>
            <a:r>
              <a:rPr lang="en-US" altLang="ko-KR" dirty="0" smtClean="0"/>
              <a:t> </a:t>
            </a:r>
            <a:endParaRPr lang="en-US" altLang="ko-KR" dirty="0"/>
          </a:p>
          <a:p>
            <a:r>
              <a:rPr lang="en-US" altLang="ko-KR" dirty="0" smtClean="0"/>
              <a:t>Mise en place </a:t>
            </a:r>
            <a:r>
              <a:rPr lang="en-US" altLang="ko-KR" dirty="0"/>
              <a:t>d'une structure d'investissement procyclique pilotée par le </a:t>
            </a:r>
            <a:r>
              <a:rPr lang="en-US" altLang="ko-KR" dirty="0" smtClean="0"/>
              <a:t>gouvernement </a:t>
            </a:r>
            <a:endParaRPr lang="en-US" altLang="ko-KR" dirty="0"/>
          </a:p>
          <a:p>
            <a:r>
              <a:rPr lang="en-US" altLang="ko-KR" dirty="0" smtClean="0"/>
              <a:t>Caractéristiques </a:t>
            </a:r>
            <a:r>
              <a:rPr lang="en-US" altLang="ko-KR" dirty="0"/>
              <a:t>culturelles et environnementales</a:t>
            </a:r>
            <a:endParaRPr lang="ko-KR" altLang="en-US" dirty="0"/>
          </a:p>
          <a:p>
            <a:endParaRPr lang="ko-KR" altLang="en-US" dirty="0"/>
          </a:p>
        </p:txBody>
      </p:sp>
      <p:sp>
        <p:nvSpPr>
          <p:cNvPr id="6" name="모서리가 둥근 직사각형 5"/>
          <p:cNvSpPr/>
          <p:nvPr/>
        </p:nvSpPr>
        <p:spPr>
          <a:xfrm>
            <a:off x="5220072" y="3933056"/>
            <a:ext cx="1008112" cy="50405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00" dirty="0" smtClean="0"/>
              <a:t>Extension de l'infrastructure</a:t>
            </a:r>
            <a:endParaRPr lang="ko-KR" altLang="en-US" sz="1000" dirty="0"/>
          </a:p>
        </p:txBody>
      </p:sp>
      <p:sp>
        <p:nvSpPr>
          <p:cNvPr id="7" name="모서리가 둥근 직사각형 6"/>
          <p:cNvSpPr/>
          <p:nvPr/>
        </p:nvSpPr>
        <p:spPr>
          <a:xfrm>
            <a:off x="5076056" y="5110058"/>
            <a:ext cx="1224136" cy="50405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00" dirty="0" smtClean="0"/>
              <a:t>Dynamisation du secteur des </a:t>
            </a:r>
            <a:r>
              <a:rPr lang="en-US" altLang="ko-KR" sz="1000" dirty="0" err="1" smtClean="0"/>
              <a:t>télécommunications</a:t>
            </a:r>
            <a:r>
              <a:rPr lang="en-US" altLang="ko-KR" sz="1000" dirty="0" smtClean="0"/>
              <a:t>  </a:t>
            </a:r>
            <a:endParaRPr lang="ko-KR" altLang="en-US" sz="1000" dirty="0"/>
          </a:p>
        </p:txBody>
      </p:sp>
      <p:sp>
        <p:nvSpPr>
          <p:cNvPr id="8" name="모서리가 둥근 직사각형 7"/>
          <p:cNvSpPr/>
          <p:nvPr/>
        </p:nvSpPr>
        <p:spPr>
          <a:xfrm>
            <a:off x="6444208" y="3933056"/>
            <a:ext cx="1008112" cy="50405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00" dirty="0" smtClean="0"/>
              <a:t>Faible taux d'utilisation</a:t>
            </a:r>
            <a:endParaRPr lang="ko-KR" altLang="en-US" sz="1000" dirty="0"/>
          </a:p>
        </p:txBody>
      </p:sp>
      <p:sp>
        <p:nvSpPr>
          <p:cNvPr id="9" name="모서리가 둥근 직사각형 8"/>
          <p:cNvSpPr/>
          <p:nvPr/>
        </p:nvSpPr>
        <p:spPr>
          <a:xfrm>
            <a:off x="7668344" y="3933056"/>
            <a:ext cx="1008112" cy="50405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00" dirty="0" smtClean="0"/>
              <a:t>Développement des services haut débit</a:t>
            </a:r>
            <a:endParaRPr lang="ko-KR" altLang="en-US" sz="1000" dirty="0"/>
          </a:p>
        </p:txBody>
      </p:sp>
      <p:sp>
        <p:nvSpPr>
          <p:cNvPr id="10" name="모서리가 둥근 직사각형 9"/>
          <p:cNvSpPr/>
          <p:nvPr/>
        </p:nvSpPr>
        <p:spPr>
          <a:xfrm>
            <a:off x="6660232" y="5046712"/>
            <a:ext cx="2016223" cy="61453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00" dirty="0" smtClean="0"/>
              <a:t>Hausse des revenus des opérateurs télécoms</a:t>
            </a:r>
          </a:p>
          <a:p>
            <a:pPr algn="ctr"/>
            <a:r>
              <a:rPr lang="en-US" altLang="ko-KR" sz="1000" dirty="0" smtClean="0"/>
              <a:t> Diffusion de l'</a:t>
            </a:r>
            <a:r>
              <a:rPr lang="en-US" altLang="ko-KR" sz="1000" dirty="0" err="1" smtClean="0"/>
              <a:t>informatisation</a:t>
            </a:r>
            <a:r>
              <a:rPr lang="en-US" altLang="ko-KR" sz="1000" dirty="0" smtClean="0"/>
              <a:t> dans le secteur public</a:t>
            </a:r>
            <a:endParaRPr lang="ko-KR" altLang="en-US" sz="1000" dirty="0"/>
          </a:p>
        </p:txBody>
      </p:sp>
      <p:sp>
        <p:nvSpPr>
          <p:cNvPr id="11" name="TextBox 10"/>
          <p:cNvSpPr txBox="1"/>
          <p:nvPr/>
        </p:nvSpPr>
        <p:spPr>
          <a:xfrm>
            <a:off x="3707904" y="4362671"/>
            <a:ext cx="936104" cy="400110"/>
          </a:xfrm>
          <a:prstGeom prst="rect">
            <a:avLst/>
          </a:prstGeom>
          <a:noFill/>
          <a:ln>
            <a:solidFill>
              <a:schemeClr val="accent1"/>
            </a:solidFill>
          </a:ln>
        </p:spPr>
        <p:txBody>
          <a:bodyPr wrap="square" rtlCol="0">
            <a:spAutoFit/>
          </a:bodyPr>
          <a:lstStyle/>
          <a:p>
            <a:r>
              <a:rPr lang="en-US" altLang="ko-KR" sz="1000" dirty="0" smtClean="0"/>
              <a:t>Investissement privé</a:t>
            </a:r>
            <a:endParaRPr lang="ko-KR" altLang="en-US" sz="1000" dirty="0"/>
          </a:p>
        </p:txBody>
      </p:sp>
      <p:sp>
        <p:nvSpPr>
          <p:cNvPr id="12" name="TextBox 11"/>
          <p:cNvSpPr txBox="1"/>
          <p:nvPr/>
        </p:nvSpPr>
        <p:spPr>
          <a:xfrm>
            <a:off x="3707904" y="3820978"/>
            <a:ext cx="936104" cy="400110"/>
          </a:xfrm>
          <a:prstGeom prst="rect">
            <a:avLst/>
          </a:prstGeom>
          <a:noFill/>
          <a:ln>
            <a:solidFill>
              <a:schemeClr val="accent1"/>
            </a:solidFill>
          </a:ln>
        </p:spPr>
        <p:txBody>
          <a:bodyPr wrap="square" rtlCol="0">
            <a:spAutoFit/>
          </a:bodyPr>
          <a:lstStyle/>
          <a:p>
            <a:r>
              <a:rPr lang="en-US" altLang="ko-KR" sz="1000" dirty="0" smtClean="0"/>
              <a:t>Soutien public</a:t>
            </a:r>
            <a:endParaRPr lang="ko-KR" altLang="en-US" sz="1000" dirty="0"/>
          </a:p>
        </p:txBody>
      </p:sp>
      <p:sp>
        <p:nvSpPr>
          <p:cNvPr id="14" name="TextBox 13"/>
          <p:cNvSpPr txBox="1"/>
          <p:nvPr/>
        </p:nvSpPr>
        <p:spPr>
          <a:xfrm>
            <a:off x="5004048" y="2996952"/>
            <a:ext cx="1296144" cy="400110"/>
          </a:xfrm>
          <a:prstGeom prst="rect">
            <a:avLst/>
          </a:prstGeom>
          <a:noFill/>
          <a:ln>
            <a:solidFill>
              <a:schemeClr val="accent1"/>
            </a:solidFill>
          </a:ln>
        </p:spPr>
        <p:txBody>
          <a:bodyPr wrap="square" rtlCol="0">
            <a:spAutoFit/>
          </a:bodyPr>
          <a:lstStyle/>
          <a:p>
            <a:r>
              <a:rPr lang="en-US" altLang="ko-KR" sz="1000" dirty="0" smtClean="0"/>
              <a:t>Déréglementation, politique de concurrence</a:t>
            </a:r>
            <a:endParaRPr lang="ko-KR" altLang="en-US" sz="1000" dirty="0"/>
          </a:p>
        </p:txBody>
      </p:sp>
      <p:sp>
        <p:nvSpPr>
          <p:cNvPr id="15" name="TextBox 14"/>
          <p:cNvSpPr txBox="1"/>
          <p:nvPr/>
        </p:nvSpPr>
        <p:spPr>
          <a:xfrm>
            <a:off x="7380312" y="2852936"/>
            <a:ext cx="1296144" cy="707886"/>
          </a:xfrm>
          <a:prstGeom prst="rect">
            <a:avLst/>
          </a:prstGeom>
          <a:noFill/>
          <a:ln>
            <a:solidFill>
              <a:schemeClr val="accent1"/>
            </a:solidFill>
          </a:ln>
        </p:spPr>
        <p:txBody>
          <a:bodyPr wrap="square" rtlCol="0">
            <a:spAutoFit/>
          </a:bodyPr>
          <a:lstStyle/>
          <a:p>
            <a:r>
              <a:rPr lang="en-US" altLang="ko-KR" sz="1000" dirty="0" smtClean="0"/>
              <a:t>Formation à l'</a:t>
            </a:r>
            <a:r>
              <a:rPr lang="en-US" altLang="ko-KR" sz="1000" dirty="0" err="1" smtClean="0"/>
              <a:t>informatisation</a:t>
            </a:r>
            <a:r>
              <a:rPr lang="en-US" altLang="ko-KR" sz="1000" dirty="0" smtClean="0"/>
              <a:t>,   </a:t>
            </a:r>
          </a:p>
          <a:p>
            <a:r>
              <a:rPr lang="en-US" altLang="ko-KR" sz="1000" dirty="0" smtClean="0"/>
              <a:t>Politique de diffusion du PC</a:t>
            </a:r>
            <a:endParaRPr lang="ko-KR" altLang="en-US" sz="1000" dirty="0"/>
          </a:p>
        </p:txBody>
      </p:sp>
      <p:sp>
        <p:nvSpPr>
          <p:cNvPr id="16" name="TextBox 15"/>
          <p:cNvSpPr txBox="1"/>
          <p:nvPr/>
        </p:nvSpPr>
        <p:spPr>
          <a:xfrm>
            <a:off x="4016375" y="1979548"/>
            <a:ext cx="4536504" cy="369332"/>
          </a:xfrm>
          <a:prstGeom prst="rect">
            <a:avLst/>
          </a:prstGeom>
          <a:noFill/>
        </p:spPr>
        <p:txBody>
          <a:bodyPr wrap="square" rtlCol="0">
            <a:spAutoFit/>
          </a:bodyPr>
          <a:lstStyle/>
          <a:p>
            <a:r>
              <a:rPr lang="en-US" altLang="ko-KR" dirty="0" smtClean="0">
                <a:solidFill>
                  <a:srgbClr val="0070C0"/>
                </a:solidFill>
              </a:rPr>
              <a:t>Cercle vertueux</a:t>
            </a:r>
            <a:r>
              <a:rPr lang="en-US" altLang="ko-KR" dirty="0" smtClean="0"/>
              <a:t> du réseau public haut débit                 </a:t>
            </a:r>
            <a:endParaRPr lang="ko-KR" altLang="en-US" dirty="0"/>
          </a:p>
        </p:txBody>
      </p:sp>
      <p:cxnSp>
        <p:nvCxnSpPr>
          <p:cNvPr id="18" name="직선 화살표 연결선 17"/>
          <p:cNvCxnSpPr>
            <a:stCxn id="12" idx="3"/>
            <a:endCxn id="6" idx="1"/>
          </p:cNvCxnSpPr>
          <p:nvPr/>
        </p:nvCxnSpPr>
        <p:spPr>
          <a:xfrm>
            <a:off x="4644008" y="4021033"/>
            <a:ext cx="576064" cy="16405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0" name="직선 화살표 연결선 19"/>
          <p:cNvCxnSpPr>
            <a:stCxn id="11" idx="3"/>
            <a:endCxn id="6" idx="1"/>
          </p:cNvCxnSpPr>
          <p:nvPr/>
        </p:nvCxnSpPr>
        <p:spPr>
          <a:xfrm flipV="1">
            <a:off x="4644008" y="4185084"/>
            <a:ext cx="576064" cy="37764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2" name="직선 화살표 연결선 21"/>
          <p:cNvCxnSpPr>
            <a:stCxn id="14" idx="2"/>
          </p:cNvCxnSpPr>
          <p:nvPr/>
        </p:nvCxnSpPr>
        <p:spPr>
          <a:xfrm>
            <a:off x="5652120" y="3397062"/>
            <a:ext cx="0" cy="5359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직선 화살표 연결선 23"/>
          <p:cNvCxnSpPr/>
          <p:nvPr/>
        </p:nvCxnSpPr>
        <p:spPr>
          <a:xfrm>
            <a:off x="8172400" y="3560822"/>
            <a:ext cx="0" cy="37223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6" name="직선 화살표 연결선 25"/>
          <p:cNvCxnSpPr/>
          <p:nvPr/>
        </p:nvCxnSpPr>
        <p:spPr>
          <a:xfrm flipV="1">
            <a:off x="5652120" y="4437112"/>
            <a:ext cx="0" cy="67294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2" name="직선 화살표 연결선 31"/>
          <p:cNvCxnSpPr>
            <a:stCxn id="9" idx="2"/>
          </p:cNvCxnSpPr>
          <p:nvPr/>
        </p:nvCxnSpPr>
        <p:spPr>
          <a:xfrm>
            <a:off x="8172400" y="4437112"/>
            <a:ext cx="0" cy="6096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4" name="직선 화살표 연결선 33"/>
          <p:cNvCxnSpPr/>
          <p:nvPr/>
        </p:nvCxnSpPr>
        <p:spPr>
          <a:xfrm flipH="1">
            <a:off x="6300192" y="5362085"/>
            <a:ext cx="360040"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직선 화살표 연결선 35"/>
          <p:cNvCxnSpPr>
            <a:stCxn id="6" idx="3"/>
          </p:cNvCxnSpPr>
          <p:nvPr/>
        </p:nvCxnSpPr>
        <p:spPr>
          <a:xfrm>
            <a:off x="6228184" y="4185084"/>
            <a:ext cx="216024"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8" name="직선 화살표 연결선 37"/>
          <p:cNvCxnSpPr>
            <a:stCxn id="8" idx="3"/>
            <a:endCxn id="9" idx="1"/>
          </p:cNvCxnSpPr>
          <p:nvPr/>
        </p:nvCxnSpPr>
        <p:spPr>
          <a:xfrm>
            <a:off x="7452320" y="4185084"/>
            <a:ext cx="216024"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 name="슬라이드 번호 개체 틀 2"/>
          <p:cNvSpPr>
            <a:spLocks noGrp="1"/>
          </p:cNvSpPr>
          <p:nvPr>
            <p:ph type="sldNum" sz="quarter" idx="12"/>
          </p:nvPr>
        </p:nvSpPr>
        <p:spPr/>
        <p:txBody>
          <a:bodyPr/>
          <a:lstStyle/>
          <a:p>
            <a:fld id="{8F563537-3992-4579-A065-26E1D23BF530}" type="slidenum">
              <a:rPr lang="ko-KR" altLang="en-US" smtClean="0"/>
              <a:pPr/>
              <a:t>11</a:t>
            </a:fld>
            <a:endParaRPr lang="ko-KR" altLang="en-US"/>
          </a:p>
        </p:txBody>
      </p:sp>
    </p:spTree>
    <p:extLst>
      <p:ext uri="{BB962C8B-B14F-4D97-AF65-F5344CB8AC3E}">
        <p14:creationId xmlns:p14="http://schemas.microsoft.com/office/powerpoint/2010/main" val="413761308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 name="Freeform 265"/>
          <p:cNvSpPr>
            <a:spLocks/>
          </p:cNvSpPr>
          <p:nvPr/>
        </p:nvSpPr>
        <p:spPr bwMode="auto">
          <a:xfrm rot="10800000" flipV="1">
            <a:off x="2586829" y="1878004"/>
            <a:ext cx="5081295" cy="638365"/>
          </a:xfrm>
          <a:custGeom>
            <a:avLst/>
            <a:gdLst/>
            <a:ahLst/>
            <a:cxnLst>
              <a:cxn ang="0">
                <a:pos x="1400" y="0"/>
              </a:cxn>
              <a:cxn ang="0">
                <a:pos x="184" y="712"/>
              </a:cxn>
              <a:cxn ang="0">
                <a:pos x="760" y="712"/>
              </a:cxn>
              <a:cxn ang="0">
                <a:pos x="760" y="920"/>
              </a:cxn>
              <a:cxn ang="0">
                <a:pos x="720" y="1152"/>
              </a:cxn>
              <a:cxn ang="0">
                <a:pos x="640" y="1352"/>
              </a:cxn>
              <a:cxn ang="0">
                <a:pos x="560" y="1536"/>
              </a:cxn>
              <a:cxn ang="0">
                <a:pos x="464" y="1672"/>
              </a:cxn>
              <a:cxn ang="0">
                <a:pos x="328" y="1824"/>
              </a:cxn>
              <a:cxn ang="0">
                <a:pos x="208" y="1912"/>
              </a:cxn>
              <a:cxn ang="0">
                <a:pos x="96" y="1976"/>
              </a:cxn>
              <a:cxn ang="0">
                <a:pos x="0" y="2008"/>
              </a:cxn>
              <a:cxn ang="0">
                <a:pos x="2784" y="2008"/>
              </a:cxn>
              <a:cxn ang="0">
                <a:pos x="2664" y="1952"/>
              </a:cxn>
              <a:cxn ang="0">
                <a:pos x="2568" y="1904"/>
              </a:cxn>
              <a:cxn ang="0">
                <a:pos x="2456" y="1808"/>
              </a:cxn>
              <a:cxn ang="0">
                <a:pos x="2288" y="1616"/>
              </a:cxn>
              <a:cxn ang="0">
                <a:pos x="2200" y="1448"/>
              </a:cxn>
              <a:cxn ang="0">
                <a:pos x="2128" y="1272"/>
              </a:cxn>
              <a:cxn ang="0">
                <a:pos x="2080" y="1080"/>
              </a:cxn>
              <a:cxn ang="0">
                <a:pos x="2048" y="848"/>
              </a:cxn>
              <a:cxn ang="0">
                <a:pos x="2032" y="712"/>
              </a:cxn>
              <a:cxn ang="0">
                <a:pos x="2584" y="712"/>
              </a:cxn>
              <a:cxn ang="0">
                <a:pos x="1400" y="0"/>
              </a:cxn>
            </a:cxnLst>
            <a:rect l="0" t="0" r="r" b="b"/>
            <a:pathLst>
              <a:path w="2785" h="2009">
                <a:moveTo>
                  <a:pt x="1400" y="0"/>
                </a:moveTo>
                <a:lnTo>
                  <a:pt x="184" y="712"/>
                </a:lnTo>
                <a:lnTo>
                  <a:pt x="760" y="712"/>
                </a:lnTo>
                <a:lnTo>
                  <a:pt x="760" y="920"/>
                </a:lnTo>
                <a:lnTo>
                  <a:pt x="720" y="1152"/>
                </a:lnTo>
                <a:lnTo>
                  <a:pt x="640" y="1352"/>
                </a:lnTo>
                <a:lnTo>
                  <a:pt x="560" y="1536"/>
                </a:lnTo>
                <a:lnTo>
                  <a:pt x="464" y="1672"/>
                </a:lnTo>
                <a:lnTo>
                  <a:pt x="328" y="1824"/>
                </a:lnTo>
                <a:lnTo>
                  <a:pt x="208" y="1912"/>
                </a:lnTo>
                <a:lnTo>
                  <a:pt x="96" y="1976"/>
                </a:lnTo>
                <a:lnTo>
                  <a:pt x="0" y="2008"/>
                </a:lnTo>
                <a:lnTo>
                  <a:pt x="2784" y="2008"/>
                </a:lnTo>
                <a:lnTo>
                  <a:pt x="2664" y="1952"/>
                </a:lnTo>
                <a:lnTo>
                  <a:pt x="2568" y="1904"/>
                </a:lnTo>
                <a:lnTo>
                  <a:pt x="2456" y="1808"/>
                </a:lnTo>
                <a:lnTo>
                  <a:pt x="2288" y="1616"/>
                </a:lnTo>
                <a:lnTo>
                  <a:pt x="2200" y="1448"/>
                </a:lnTo>
                <a:lnTo>
                  <a:pt x="2128" y="1272"/>
                </a:lnTo>
                <a:lnTo>
                  <a:pt x="2080" y="1080"/>
                </a:lnTo>
                <a:lnTo>
                  <a:pt x="2048" y="848"/>
                </a:lnTo>
                <a:lnTo>
                  <a:pt x="2032" y="712"/>
                </a:lnTo>
                <a:lnTo>
                  <a:pt x="2584" y="712"/>
                </a:lnTo>
                <a:lnTo>
                  <a:pt x="1400" y="0"/>
                </a:lnTo>
              </a:path>
            </a:pathLst>
          </a:custGeom>
          <a:gradFill rotWithShape="0">
            <a:gsLst>
              <a:gs pos="0">
                <a:srgbClr val="99CCFF">
                  <a:gamma/>
                  <a:tint val="0"/>
                  <a:invGamma/>
                </a:srgbClr>
              </a:gs>
              <a:gs pos="100000">
                <a:srgbClr val="99CCFF"/>
              </a:gs>
            </a:gsLst>
            <a:lin ang="5400000" scaled="1"/>
          </a:gradFill>
          <a:ln w="12700" cap="rnd" cmpd="sng">
            <a:prstDash val="solid"/>
            <a:round/>
            <a:headEnd/>
            <a:tailEnd/>
          </a:ln>
          <a:effectLst/>
          <a:scene3d>
            <a:camera prst="legacyObliqueBottom">
              <a:rot lat="900000" lon="0" rev="0"/>
            </a:camera>
            <a:lightRig rig="legacyFlat3" dir="b"/>
          </a:scene3d>
          <a:sp3d extrusionH="227000" prstMaterial="legacyPlastic">
            <a:bevelT w="13500" h="13500" prst="angle"/>
            <a:bevelB w="13500" h="13500" prst="angle"/>
            <a:extrusionClr>
              <a:srgbClr val="99CCFF"/>
            </a:extrusionClr>
          </a:sp3d>
        </p:spPr>
        <p:txBody>
          <a:bodyPr>
            <a:flatTx/>
          </a:bodyPr>
          <a:lstStyle>
            <a:defPPr>
              <a:defRPr lang="ko-KR"/>
            </a:defPPr>
            <a:lvl1pPr algn="l" rtl="0" fontAlgn="base" latinLnBrk="1">
              <a:spcBef>
                <a:spcPct val="0"/>
              </a:spcBef>
              <a:spcAft>
                <a:spcPct val="0"/>
              </a:spcAft>
              <a:defRPr kumimoji="1" sz="2400" kern="1200">
                <a:solidFill>
                  <a:schemeClr val="tx1"/>
                </a:solidFill>
                <a:latin typeface="굴림" pitchFamily="50" charset="-127"/>
                <a:ea typeface="굴림" pitchFamily="50" charset="-127"/>
                <a:cs typeface="+mn-cs"/>
              </a:defRPr>
            </a:lvl1pPr>
            <a:lvl2pPr marL="457200" algn="l" rtl="0" fontAlgn="base" latinLnBrk="1">
              <a:spcBef>
                <a:spcPct val="0"/>
              </a:spcBef>
              <a:spcAft>
                <a:spcPct val="0"/>
              </a:spcAft>
              <a:defRPr kumimoji="1" sz="2400" kern="1200">
                <a:solidFill>
                  <a:schemeClr val="tx1"/>
                </a:solidFill>
                <a:latin typeface="굴림" pitchFamily="50" charset="-127"/>
                <a:ea typeface="굴림" pitchFamily="50" charset="-127"/>
                <a:cs typeface="+mn-cs"/>
              </a:defRPr>
            </a:lvl2pPr>
            <a:lvl3pPr marL="914400" algn="l" rtl="0" fontAlgn="base" latinLnBrk="1">
              <a:spcBef>
                <a:spcPct val="0"/>
              </a:spcBef>
              <a:spcAft>
                <a:spcPct val="0"/>
              </a:spcAft>
              <a:defRPr kumimoji="1" sz="2400" kern="1200">
                <a:solidFill>
                  <a:schemeClr val="tx1"/>
                </a:solidFill>
                <a:latin typeface="굴림" pitchFamily="50" charset="-127"/>
                <a:ea typeface="굴림" pitchFamily="50" charset="-127"/>
                <a:cs typeface="+mn-cs"/>
              </a:defRPr>
            </a:lvl3pPr>
            <a:lvl4pPr marL="1371600" algn="l" rtl="0" fontAlgn="base" latinLnBrk="1">
              <a:spcBef>
                <a:spcPct val="0"/>
              </a:spcBef>
              <a:spcAft>
                <a:spcPct val="0"/>
              </a:spcAft>
              <a:defRPr kumimoji="1" sz="2400" kern="1200">
                <a:solidFill>
                  <a:schemeClr val="tx1"/>
                </a:solidFill>
                <a:latin typeface="굴림" pitchFamily="50" charset="-127"/>
                <a:ea typeface="굴림" pitchFamily="50" charset="-127"/>
                <a:cs typeface="+mn-cs"/>
              </a:defRPr>
            </a:lvl4pPr>
            <a:lvl5pPr marL="1828800" algn="l" rtl="0" fontAlgn="base" latinLnBrk="1">
              <a:spcBef>
                <a:spcPct val="0"/>
              </a:spcBef>
              <a:spcAft>
                <a:spcPct val="0"/>
              </a:spcAft>
              <a:defRPr kumimoji="1" sz="2400" kern="1200">
                <a:solidFill>
                  <a:schemeClr val="tx1"/>
                </a:solidFill>
                <a:latin typeface="굴림" pitchFamily="50" charset="-127"/>
                <a:ea typeface="굴림" pitchFamily="50" charset="-127"/>
                <a:cs typeface="+mn-cs"/>
              </a:defRPr>
            </a:lvl5pPr>
            <a:lvl6pPr marL="2286000" algn="l" defTabSz="914400" rtl="0" eaLnBrk="1" latinLnBrk="1" hangingPunct="1">
              <a:defRPr kumimoji="1" sz="2400" kern="1200">
                <a:solidFill>
                  <a:schemeClr val="tx1"/>
                </a:solidFill>
                <a:latin typeface="굴림" pitchFamily="50" charset="-127"/>
                <a:ea typeface="굴림" pitchFamily="50" charset="-127"/>
                <a:cs typeface="+mn-cs"/>
              </a:defRPr>
            </a:lvl6pPr>
            <a:lvl7pPr marL="2743200" algn="l" defTabSz="914400" rtl="0" eaLnBrk="1" latinLnBrk="1" hangingPunct="1">
              <a:defRPr kumimoji="1" sz="2400" kern="1200">
                <a:solidFill>
                  <a:schemeClr val="tx1"/>
                </a:solidFill>
                <a:latin typeface="굴림" pitchFamily="50" charset="-127"/>
                <a:ea typeface="굴림" pitchFamily="50" charset="-127"/>
                <a:cs typeface="+mn-cs"/>
              </a:defRPr>
            </a:lvl7pPr>
            <a:lvl8pPr marL="3200400" algn="l" defTabSz="914400" rtl="0" eaLnBrk="1" latinLnBrk="1" hangingPunct="1">
              <a:defRPr kumimoji="1" sz="2400" kern="1200">
                <a:solidFill>
                  <a:schemeClr val="tx1"/>
                </a:solidFill>
                <a:latin typeface="굴림" pitchFamily="50" charset="-127"/>
                <a:ea typeface="굴림" pitchFamily="50" charset="-127"/>
                <a:cs typeface="+mn-cs"/>
              </a:defRPr>
            </a:lvl8pPr>
            <a:lvl9pPr marL="3657600" algn="l" defTabSz="914400" rtl="0" eaLnBrk="1" latinLnBrk="1" hangingPunct="1">
              <a:defRPr kumimoji="1" sz="2400" kern="1200">
                <a:solidFill>
                  <a:schemeClr val="tx1"/>
                </a:solidFill>
                <a:latin typeface="굴림" pitchFamily="50" charset="-127"/>
                <a:ea typeface="굴림" pitchFamily="50" charset="-127"/>
                <a:cs typeface="+mn-cs"/>
              </a:defRPr>
            </a:lvl9pPr>
          </a:lstStyle>
          <a:p>
            <a:endParaRPr lang="ko-KR" altLang="en-US">
              <a:latin typeface="Tahoma" pitchFamily="34" charset="0"/>
              <a:cs typeface="Tahoma" pitchFamily="34" charset="0"/>
            </a:endParaRPr>
          </a:p>
        </p:txBody>
      </p:sp>
      <p:grpSp>
        <p:nvGrpSpPr>
          <p:cNvPr id="37" name="그룹 36"/>
          <p:cNvGrpSpPr/>
          <p:nvPr/>
        </p:nvGrpSpPr>
        <p:grpSpPr>
          <a:xfrm>
            <a:off x="1626300" y="2526075"/>
            <a:ext cx="7056784" cy="4143285"/>
            <a:chOff x="1524000" y="1885279"/>
            <a:chExt cx="6098642" cy="4012217"/>
          </a:xfrm>
        </p:grpSpPr>
        <p:grpSp>
          <p:nvGrpSpPr>
            <p:cNvPr id="24" name="그룹 23"/>
            <p:cNvGrpSpPr/>
            <p:nvPr/>
          </p:nvGrpSpPr>
          <p:grpSpPr>
            <a:xfrm>
              <a:off x="1524000" y="1885279"/>
              <a:ext cx="6095013" cy="3783620"/>
              <a:chOff x="1524000" y="1885279"/>
              <a:chExt cx="6095013" cy="3783620"/>
            </a:xfrm>
          </p:grpSpPr>
          <p:sp>
            <p:nvSpPr>
              <p:cNvPr id="25" name="자유형 24"/>
              <p:cNvSpPr/>
              <p:nvPr/>
            </p:nvSpPr>
            <p:spPr>
              <a:xfrm>
                <a:off x="1524000" y="1885279"/>
                <a:ext cx="6094029" cy="1482525"/>
              </a:xfrm>
              <a:custGeom>
                <a:avLst/>
                <a:gdLst>
                  <a:gd name="connsiteX0" fmla="*/ 0 w 6094029"/>
                  <a:gd name="connsiteY0" fmla="*/ 128191 h 1281906"/>
                  <a:gd name="connsiteX1" fmla="*/ 128191 w 6094029"/>
                  <a:gd name="connsiteY1" fmla="*/ 0 h 1281906"/>
                  <a:gd name="connsiteX2" fmla="*/ 5965838 w 6094029"/>
                  <a:gd name="connsiteY2" fmla="*/ 0 h 1281906"/>
                  <a:gd name="connsiteX3" fmla="*/ 6094029 w 6094029"/>
                  <a:gd name="connsiteY3" fmla="*/ 128191 h 1281906"/>
                  <a:gd name="connsiteX4" fmla="*/ 6094029 w 6094029"/>
                  <a:gd name="connsiteY4" fmla="*/ 1153715 h 1281906"/>
                  <a:gd name="connsiteX5" fmla="*/ 5965838 w 6094029"/>
                  <a:gd name="connsiteY5" fmla="*/ 1281906 h 1281906"/>
                  <a:gd name="connsiteX6" fmla="*/ 128191 w 6094029"/>
                  <a:gd name="connsiteY6" fmla="*/ 1281906 h 1281906"/>
                  <a:gd name="connsiteX7" fmla="*/ 0 w 6094029"/>
                  <a:gd name="connsiteY7" fmla="*/ 1153715 h 1281906"/>
                  <a:gd name="connsiteX8" fmla="*/ 0 w 6094029"/>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4029" h="1281906">
                    <a:moveTo>
                      <a:pt x="0" y="128191"/>
                    </a:moveTo>
                    <a:cubicBezTo>
                      <a:pt x="0" y="57393"/>
                      <a:pt x="57393" y="0"/>
                      <a:pt x="128191" y="0"/>
                    </a:cubicBezTo>
                    <a:lnTo>
                      <a:pt x="5965838" y="0"/>
                    </a:lnTo>
                    <a:cubicBezTo>
                      <a:pt x="6036636" y="0"/>
                      <a:pt x="6094029" y="57393"/>
                      <a:pt x="6094029" y="128191"/>
                    </a:cubicBezTo>
                    <a:lnTo>
                      <a:pt x="6094029" y="1153715"/>
                    </a:lnTo>
                    <a:cubicBezTo>
                      <a:pt x="6094029" y="1224513"/>
                      <a:pt x="6036636" y="1281906"/>
                      <a:pt x="5965838"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1">
                  <a:hueOff val="0"/>
                  <a:satOff val="0"/>
                  <a:lumOff val="0"/>
                  <a:alphaOff val="0"/>
                </a:schemeClr>
              </a:fillRef>
              <a:effectRef idx="3">
                <a:schemeClr val="accent1">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dirty="0">
                  <a:latin typeface="Tahoma" pitchFamily="34" charset="0"/>
                  <a:cs typeface="Tahoma" pitchFamily="34" charset="0"/>
                </a:endParaRPr>
              </a:p>
            </p:txBody>
          </p:sp>
          <p:sp>
            <p:nvSpPr>
              <p:cNvPr id="26" name="자유형 25"/>
              <p:cNvSpPr/>
              <p:nvPr/>
            </p:nvSpPr>
            <p:spPr>
              <a:xfrm>
                <a:off x="1524985" y="3507265"/>
                <a:ext cx="1433214" cy="997970"/>
              </a:xfrm>
              <a:custGeom>
                <a:avLst/>
                <a:gdLst>
                  <a:gd name="connsiteX0" fmla="*/ 0 w 1433214"/>
                  <a:gd name="connsiteY0" fmla="*/ 128191 h 1281906"/>
                  <a:gd name="connsiteX1" fmla="*/ 128191 w 1433214"/>
                  <a:gd name="connsiteY1" fmla="*/ 0 h 1281906"/>
                  <a:gd name="connsiteX2" fmla="*/ 1305023 w 1433214"/>
                  <a:gd name="connsiteY2" fmla="*/ 0 h 1281906"/>
                  <a:gd name="connsiteX3" fmla="*/ 1433214 w 1433214"/>
                  <a:gd name="connsiteY3" fmla="*/ 128191 h 1281906"/>
                  <a:gd name="connsiteX4" fmla="*/ 1433214 w 1433214"/>
                  <a:gd name="connsiteY4" fmla="*/ 1153715 h 1281906"/>
                  <a:gd name="connsiteX5" fmla="*/ 1305023 w 1433214"/>
                  <a:gd name="connsiteY5" fmla="*/ 1281906 h 1281906"/>
                  <a:gd name="connsiteX6" fmla="*/ 128191 w 1433214"/>
                  <a:gd name="connsiteY6" fmla="*/ 1281906 h 1281906"/>
                  <a:gd name="connsiteX7" fmla="*/ 0 w 1433214"/>
                  <a:gd name="connsiteY7" fmla="*/ 1153715 h 1281906"/>
                  <a:gd name="connsiteX8" fmla="*/ 0 w 1433214"/>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3214" h="1281906">
                    <a:moveTo>
                      <a:pt x="0" y="128191"/>
                    </a:moveTo>
                    <a:cubicBezTo>
                      <a:pt x="0" y="57393"/>
                      <a:pt x="57393" y="0"/>
                      <a:pt x="128191" y="0"/>
                    </a:cubicBezTo>
                    <a:lnTo>
                      <a:pt x="1305023" y="0"/>
                    </a:lnTo>
                    <a:cubicBezTo>
                      <a:pt x="1375821" y="0"/>
                      <a:pt x="1433214" y="57393"/>
                      <a:pt x="1433214" y="128191"/>
                    </a:cubicBezTo>
                    <a:lnTo>
                      <a:pt x="1433214" y="1153715"/>
                    </a:lnTo>
                    <a:cubicBezTo>
                      <a:pt x="1433214" y="1224513"/>
                      <a:pt x="1375821" y="1281906"/>
                      <a:pt x="1305023"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2">
                  <a:hueOff val="0"/>
                  <a:satOff val="0"/>
                  <a:lumOff val="0"/>
                  <a:alphaOff val="0"/>
                </a:schemeClr>
              </a:fillRef>
              <a:effectRef idx="3">
                <a:schemeClr val="accent2">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a:latin typeface="Tahoma" pitchFamily="34" charset="0"/>
                  <a:cs typeface="Tahoma" pitchFamily="34" charset="0"/>
                </a:endParaRPr>
              </a:p>
            </p:txBody>
          </p:sp>
          <p:sp>
            <p:nvSpPr>
              <p:cNvPr id="27" name="자유형 26"/>
              <p:cNvSpPr/>
              <p:nvPr/>
            </p:nvSpPr>
            <p:spPr>
              <a:xfrm>
                <a:off x="1524985" y="4665913"/>
                <a:ext cx="1433214" cy="1002985"/>
              </a:xfrm>
              <a:custGeom>
                <a:avLst/>
                <a:gdLst>
                  <a:gd name="connsiteX0" fmla="*/ 0 w 1433214"/>
                  <a:gd name="connsiteY0" fmla="*/ 128191 h 1281906"/>
                  <a:gd name="connsiteX1" fmla="*/ 128191 w 1433214"/>
                  <a:gd name="connsiteY1" fmla="*/ 0 h 1281906"/>
                  <a:gd name="connsiteX2" fmla="*/ 1305023 w 1433214"/>
                  <a:gd name="connsiteY2" fmla="*/ 0 h 1281906"/>
                  <a:gd name="connsiteX3" fmla="*/ 1433214 w 1433214"/>
                  <a:gd name="connsiteY3" fmla="*/ 128191 h 1281906"/>
                  <a:gd name="connsiteX4" fmla="*/ 1433214 w 1433214"/>
                  <a:gd name="connsiteY4" fmla="*/ 1153715 h 1281906"/>
                  <a:gd name="connsiteX5" fmla="*/ 1305023 w 1433214"/>
                  <a:gd name="connsiteY5" fmla="*/ 1281906 h 1281906"/>
                  <a:gd name="connsiteX6" fmla="*/ 128191 w 1433214"/>
                  <a:gd name="connsiteY6" fmla="*/ 1281906 h 1281906"/>
                  <a:gd name="connsiteX7" fmla="*/ 0 w 1433214"/>
                  <a:gd name="connsiteY7" fmla="*/ 1153715 h 1281906"/>
                  <a:gd name="connsiteX8" fmla="*/ 0 w 1433214"/>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3214" h="1281906">
                    <a:moveTo>
                      <a:pt x="0" y="128191"/>
                    </a:moveTo>
                    <a:cubicBezTo>
                      <a:pt x="0" y="57393"/>
                      <a:pt x="57393" y="0"/>
                      <a:pt x="128191" y="0"/>
                    </a:cubicBezTo>
                    <a:lnTo>
                      <a:pt x="1305023" y="0"/>
                    </a:lnTo>
                    <a:cubicBezTo>
                      <a:pt x="1375821" y="0"/>
                      <a:pt x="1433214" y="57393"/>
                      <a:pt x="1433214" y="128191"/>
                    </a:cubicBezTo>
                    <a:lnTo>
                      <a:pt x="1433214" y="1153715"/>
                    </a:lnTo>
                    <a:cubicBezTo>
                      <a:pt x="1433214" y="1224513"/>
                      <a:pt x="1375821" y="1281906"/>
                      <a:pt x="1305023"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3">
                  <a:hueOff val="0"/>
                  <a:satOff val="0"/>
                  <a:lumOff val="0"/>
                  <a:alphaOff val="0"/>
                </a:schemeClr>
              </a:fillRef>
              <a:effectRef idx="3">
                <a:schemeClr val="accent3">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a:latin typeface="Tahoma" pitchFamily="34" charset="0"/>
                  <a:cs typeface="Tahoma" pitchFamily="34" charset="0"/>
                </a:endParaRPr>
              </a:p>
            </p:txBody>
          </p:sp>
          <p:sp>
            <p:nvSpPr>
              <p:cNvPr id="28" name="자유형 27"/>
              <p:cNvSpPr/>
              <p:nvPr/>
            </p:nvSpPr>
            <p:spPr>
              <a:xfrm>
                <a:off x="3078590" y="3507265"/>
                <a:ext cx="1433214" cy="997970"/>
              </a:xfrm>
              <a:custGeom>
                <a:avLst/>
                <a:gdLst>
                  <a:gd name="connsiteX0" fmla="*/ 0 w 1433214"/>
                  <a:gd name="connsiteY0" fmla="*/ 128191 h 1281906"/>
                  <a:gd name="connsiteX1" fmla="*/ 128191 w 1433214"/>
                  <a:gd name="connsiteY1" fmla="*/ 0 h 1281906"/>
                  <a:gd name="connsiteX2" fmla="*/ 1305023 w 1433214"/>
                  <a:gd name="connsiteY2" fmla="*/ 0 h 1281906"/>
                  <a:gd name="connsiteX3" fmla="*/ 1433214 w 1433214"/>
                  <a:gd name="connsiteY3" fmla="*/ 128191 h 1281906"/>
                  <a:gd name="connsiteX4" fmla="*/ 1433214 w 1433214"/>
                  <a:gd name="connsiteY4" fmla="*/ 1153715 h 1281906"/>
                  <a:gd name="connsiteX5" fmla="*/ 1305023 w 1433214"/>
                  <a:gd name="connsiteY5" fmla="*/ 1281906 h 1281906"/>
                  <a:gd name="connsiteX6" fmla="*/ 128191 w 1433214"/>
                  <a:gd name="connsiteY6" fmla="*/ 1281906 h 1281906"/>
                  <a:gd name="connsiteX7" fmla="*/ 0 w 1433214"/>
                  <a:gd name="connsiteY7" fmla="*/ 1153715 h 1281906"/>
                  <a:gd name="connsiteX8" fmla="*/ 0 w 1433214"/>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3214" h="1281906">
                    <a:moveTo>
                      <a:pt x="0" y="128191"/>
                    </a:moveTo>
                    <a:cubicBezTo>
                      <a:pt x="0" y="57393"/>
                      <a:pt x="57393" y="0"/>
                      <a:pt x="128191" y="0"/>
                    </a:cubicBezTo>
                    <a:lnTo>
                      <a:pt x="1305023" y="0"/>
                    </a:lnTo>
                    <a:cubicBezTo>
                      <a:pt x="1375821" y="0"/>
                      <a:pt x="1433214" y="57393"/>
                      <a:pt x="1433214" y="128191"/>
                    </a:cubicBezTo>
                    <a:lnTo>
                      <a:pt x="1433214" y="1153715"/>
                    </a:lnTo>
                    <a:cubicBezTo>
                      <a:pt x="1433214" y="1224513"/>
                      <a:pt x="1375821" y="1281906"/>
                      <a:pt x="1305023"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2">
                  <a:hueOff val="0"/>
                  <a:satOff val="0"/>
                  <a:lumOff val="0"/>
                  <a:alphaOff val="0"/>
                </a:schemeClr>
              </a:fillRef>
              <a:effectRef idx="3">
                <a:schemeClr val="accent2">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dirty="0">
                  <a:latin typeface="Tahoma" pitchFamily="34" charset="0"/>
                  <a:cs typeface="Tahoma" pitchFamily="34" charset="0"/>
                </a:endParaRPr>
              </a:p>
            </p:txBody>
          </p:sp>
          <p:sp>
            <p:nvSpPr>
              <p:cNvPr id="29" name="자유형 28"/>
              <p:cNvSpPr/>
              <p:nvPr/>
            </p:nvSpPr>
            <p:spPr>
              <a:xfrm>
                <a:off x="3078590" y="4665914"/>
                <a:ext cx="1433214" cy="1002985"/>
              </a:xfrm>
              <a:custGeom>
                <a:avLst/>
                <a:gdLst>
                  <a:gd name="connsiteX0" fmla="*/ 0 w 1433214"/>
                  <a:gd name="connsiteY0" fmla="*/ 128191 h 1281906"/>
                  <a:gd name="connsiteX1" fmla="*/ 128191 w 1433214"/>
                  <a:gd name="connsiteY1" fmla="*/ 0 h 1281906"/>
                  <a:gd name="connsiteX2" fmla="*/ 1305023 w 1433214"/>
                  <a:gd name="connsiteY2" fmla="*/ 0 h 1281906"/>
                  <a:gd name="connsiteX3" fmla="*/ 1433214 w 1433214"/>
                  <a:gd name="connsiteY3" fmla="*/ 128191 h 1281906"/>
                  <a:gd name="connsiteX4" fmla="*/ 1433214 w 1433214"/>
                  <a:gd name="connsiteY4" fmla="*/ 1153715 h 1281906"/>
                  <a:gd name="connsiteX5" fmla="*/ 1305023 w 1433214"/>
                  <a:gd name="connsiteY5" fmla="*/ 1281906 h 1281906"/>
                  <a:gd name="connsiteX6" fmla="*/ 128191 w 1433214"/>
                  <a:gd name="connsiteY6" fmla="*/ 1281906 h 1281906"/>
                  <a:gd name="connsiteX7" fmla="*/ 0 w 1433214"/>
                  <a:gd name="connsiteY7" fmla="*/ 1153715 h 1281906"/>
                  <a:gd name="connsiteX8" fmla="*/ 0 w 1433214"/>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3214" h="1281906">
                    <a:moveTo>
                      <a:pt x="0" y="128191"/>
                    </a:moveTo>
                    <a:cubicBezTo>
                      <a:pt x="0" y="57393"/>
                      <a:pt x="57393" y="0"/>
                      <a:pt x="128191" y="0"/>
                    </a:cubicBezTo>
                    <a:lnTo>
                      <a:pt x="1305023" y="0"/>
                    </a:lnTo>
                    <a:cubicBezTo>
                      <a:pt x="1375821" y="0"/>
                      <a:pt x="1433214" y="57393"/>
                      <a:pt x="1433214" y="128191"/>
                    </a:cubicBezTo>
                    <a:lnTo>
                      <a:pt x="1433214" y="1153715"/>
                    </a:lnTo>
                    <a:cubicBezTo>
                      <a:pt x="1433214" y="1224513"/>
                      <a:pt x="1375821" y="1281906"/>
                      <a:pt x="1305023"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3">
                  <a:hueOff val="0"/>
                  <a:satOff val="0"/>
                  <a:lumOff val="0"/>
                  <a:alphaOff val="0"/>
                </a:schemeClr>
              </a:fillRef>
              <a:effectRef idx="3">
                <a:schemeClr val="accent3">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dirty="0">
                  <a:latin typeface="Tahoma" pitchFamily="34" charset="0"/>
                  <a:cs typeface="Tahoma" pitchFamily="34" charset="0"/>
                </a:endParaRPr>
              </a:p>
            </p:txBody>
          </p:sp>
          <p:sp>
            <p:nvSpPr>
              <p:cNvPr id="30" name="자유형 29"/>
              <p:cNvSpPr/>
              <p:nvPr/>
            </p:nvSpPr>
            <p:spPr>
              <a:xfrm>
                <a:off x="4632195" y="3507265"/>
                <a:ext cx="1433214" cy="997970"/>
              </a:xfrm>
              <a:custGeom>
                <a:avLst/>
                <a:gdLst>
                  <a:gd name="connsiteX0" fmla="*/ 0 w 1433214"/>
                  <a:gd name="connsiteY0" fmla="*/ 128191 h 1281906"/>
                  <a:gd name="connsiteX1" fmla="*/ 128191 w 1433214"/>
                  <a:gd name="connsiteY1" fmla="*/ 0 h 1281906"/>
                  <a:gd name="connsiteX2" fmla="*/ 1305023 w 1433214"/>
                  <a:gd name="connsiteY2" fmla="*/ 0 h 1281906"/>
                  <a:gd name="connsiteX3" fmla="*/ 1433214 w 1433214"/>
                  <a:gd name="connsiteY3" fmla="*/ 128191 h 1281906"/>
                  <a:gd name="connsiteX4" fmla="*/ 1433214 w 1433214"/>
                  <a:gd name="connsiteY4" fmla="*/ 1153715 h 1281906"/>
                  <a:gd name="connsiteX5" fmla="*/ 1305023 w 1433214"/>
                  <a:gd name="connsiteY5" fmla="*/ 1281906 h 1281906"/>
                  <a:gd name="connsiteX6" fmla="*/ 128191 w 1433214"/>
                  <a:gd name="connsiteY6" fmla="*/ 1281906 h 1281906"/>
                  <a:gd name="connsiteX7" fmla="*/ 0 w 1433214"/>
                  <a:gd name="connsiteY7" fmla="*/ 1153715 h 1281906"/>
                  <a:gd name="connsiteX8" fmla="*/ 0 w 1433214"/>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3214" h="1281906">
                    <a:moveTo>
                      <a:pt x="0" y="128191"/>
                    </a:moveTo>
                    <a:cubicBezTo>
                      <a:pt x="0" y="57393"/>
                      <a:pt x="57393" y="0"/>
                      <a:pt x="128191" y="0"/>
                    </a:cubicBezTo>
                    <a:lnTo>
                      <a:pt x="1305023" y="0"/>
                    </a:lnTo>
                    <a:cubicBezTo>
                      <a:pt x="1375821" y="0"/>
                      <a:pt x="1433214" y="57393"/>
                      <a:pt x="1433214" y="128191"/>
                    </a:cubicBezTo>
                    <a:lnTo>
                      <a:pt x="1433214" y="1153715"/>
                    </a:lnTo>
                    <a:cubicBezTo>
                      <a:pt x="1433214" y="1224513"/>
                      <a:pt x="1375821" y="1281906"/>
                      <a:pt x="1305023"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2">
                  <a:hueOff val="0"/>
                  <a:satOff val="0"/>
                  <a:lumOff val="0"/>
                  <a:alphaOff val="0"/>
                </a:schemeClr>
              </a:fillRef>
              <a:effectRef idx="3">
                <a:schemeClr val="accent2">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dirty="0">
                  <a:latin typeface="Tahoma" pitchFamily="34" charset="0"/>
                  <a:cs typeface="Tahoma" pitchFamily="34" charset="0"/>
                </a:endParaRPr>
              </a:p>
            </p:txBody>
          </p:sp>
          <p:sp>
            <p:nvSpPr>
              <p:cNvPr id="31" name="자유형 30"/>
              <p:cNvSpPr/>
              <p:nvPr/>
            </p:nvSpPr>
            <p:spPr>
              <a:xfrm>
                <a:off x="4632195" y="4665914"/>
                <a:ext cx="1433214" cy="1002985"/>
              </a:xfrm>
              <a:custGeom>
                <a:avLst/>
                <a:gdLst>
                  <a:gd name="connsiteX0" fmla="*/ 0 w 1433214"/>
                  <a:gd name="connsiteY0" fmla="*/ 128191 h 1281906"/>
                  <a:gd name="connsiteX1" fmla="*/ 128191 w 1433214"/>
                  <a:gd name="connsiteY1" fmla="*/ 0 h 1281906"/>
                  <a:gd name="connsiteX2" fmla="*/ 1305023 w 1433214"/>
                  <a:gd name="connsiteY2" fmla="*/ 0 h 1281906"/>
                  <a:gd name="connsiteX3" fmla="*/ 1433214 w 1433214"/>
                  <a:gd name="connsiteY3" fmla="*/ 128191 h 1281906"/>
                  <a:gd name="connsiteX4" fmla="*/ 1433214 w 1433214"/>
                  <a:gd name="connsiteY4" fmla="*/ 1153715 h 1281906"/>
                  <a:gd name="connsiteX5" fmla="*/ 1305023 w 1433214"/>
                  <a:gd name="connsiteY5" fmla="*/ 1281906 h 1281906"/>
                  <a:gd name="connsiteX6" fmla="*/ 128191 w 1433214"/>
                  <a:gd name="connsiteY6" fmla="*/ 1281906 h 1281906"/>
                  <a:gd name="connsiteX7" fmla="*/ 0 w 1433214"/>
                  <a:gd name="connsiteY7" fmla="*/ 1153715 h 1281906"/>
                  <a:gd name="connsiteX8" fmla="*/ 0 w 1433214"/>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3214" h="1281906">
                    <a:moveTo>
                      <a:pt x="0" y="128191"/>
                    </a:moveTo>
                    <a:cubicBezTo>
                      <a:pt x="0" y="57393"/>
                      <a:pt x="57393" y="0"/>
                      <a:pt x="128191" y="0"/>
                    </a:cubicBezTo>
                    <a:lnTo>
                      <a:pt x="1305023" y="0"/>
                    </a:lnTo>
                    <a:cubicBezTo>
                      <a:pt x="1375821" y="0"/>
                      <a:pt x="1433214" y="57393"/>
                      <a:pt x="1433214" y="128191"/>
                    </a:cubicBezTo>
                    <a:lnTo>
                      <a:pt x="1433214" y="1153715"/>
                    </a:lnTo>
                    <a:cubicBezTo>
                      <a:pt x="1433214" y="1224513"/>
                      <a:pt x="1375821" y="1281906"/>
                      <a:pt x="1305023"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3">
                  <a:hueOff val="0"/>
                  <a:satOff val="0"/>
                  <a:lumOff val="0"/>
                  <a:alphaOff val="0"/>
                </a:schemeClr>
              </a:fillRef>
              <a:effectRef idx="3">
                <a:schemeClr val="accent3">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dirty="0">
                  <a:latin typeface="Tahoma" pitchFamily="34" charset="0"/>
                  <a:cs typeface="Tahoma" pitchFamily="34" charset="0"/>
                </a:endParaRPr>
              </a:p>
            </p:txBody>
          </p:sp>
          <p:sp>
            <p:nvSpPr>
              <p:cNvPr id="32" name="자유형 31"/>
              <p:cNvSpPr/>
              <p:nvPr/>
            </p:nvSpPr>
            <p:spPr>
              <a:xfrm>
                <a:off x="6185799" y="3507265"/>
                <a:ext cx="1433214" cy="997970"/>
              </a:xfrm>
              <a:custGeom>
                <a:avLst/>
                <a:gdLst>
                  <a:gd name="connsiteX0" fmla="*/ 0 w 1433214"/>
                  <a:gd name="connsiteY0" fmla="*/ 128191 h 1281906"/>
                  <a:gd name="connsiteX1" fmla="*/ 128191 w 1433214"/>
                  <a:gd name="connsiteY1" fmla="*/ 0 h 1281906"/>
                  <a:gd name="connsiteX2" fmla="*/ 1305023 w 1433214"/>
                  <a:gd name="connsiteY2" fmla="*/ 0 h 1281906"/>
                  <a:gd name="connsiteX3" fmla="*/ 1433214 w 1433214"/>
                  <a:gd name="connsiteY3" fmla="*/ 128191 h 1281906"/>
                  <a:gd name="connsiteX4" fmla="*/ 1433214 w 1433214"/>
                  <a:gd name="connsiteY4" fmla="*/ 1153715 h 1281906"/>
                  <a:gd name="connsiteX5" fmla="*/ 1305023 w 1433214"/>
                  <a:gd name="connsiteY5" fmla="*/ 1281906 h 1281906"/>
                  <a:gd name="connsiteX6" fmla="*/ 128191 w 1433214"/>
                  <a:gd name="connsiteY6" fmla="*/ 1281906 h 1281906"/>
                  <a:gd name="connsiteX7" fmla="*/ 0 w 1433214"/>
                  <a:gd name="connsiteY7" fmla="*/ 1153715 h 1281906"/>
                  <a:gd name="connsiteX8" fmla="*/ 0 w 1433214"/>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3214" h="1281906">
                    <a:moveTo>
                      <a:pt x="0" y="128191"/>
                    </a:moveTo>
                    <a:cubicBezTo>
                      <a:pt x="0" y="57393"/>
                      <a:pt x="57393" y="0"/>
                      <a:pt x="128191" y="0"/>
                    </a:cubicBezTo>
                    <a:lnTo>
                      <a:pt x="1305023" y="0"/>
                    </a:lnTo>
                    <a:cubicBezTo>
                      <a:pt x="1375821" y="0"/>
                      <a:pt x="1433214" y="57393"/>
                      <a:pt x="1433214" y="128191"/>
                    </a:cubicBezTo>
                    <a:lnTo>
                      <a:pt x="1433214" y="1153715"/>
                    </a:lnTo>
                    <a:cubicBezTo>
                      <a:pt x="1433214" y="1224513"/>
                      <a:pt x="1375821" y="1281906"/>
                      <a:pt x="1305023"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2">
                  <a:hueOff val="0"/>
                  <a:satOff val="0"/>
                  <a:lumOff val="0"/>
                  <a:alphaOff val="0"/>
                </a:schemeClr>
              </a:fillRef>
              <a:effectRef idx="3">
                <a:schemeClr val="accent2">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dirty="0">
                  <a:latin typeface="Tahoma" pitchFamily="34" charset="0"/>
                  <a:cs typeface="Tahoma" pitchFamily="34" charset="0"/>
                </a:endParaRPr>
              </a:p>
            </p:txBody>
          </p:sp>
        </p:grpSp>
        <p:grpSp>
          <p:nvGrpSpPr>
            <p:cNvPr id="12" name="그룹 11"/>
            <p:cNvGrpSpPr/>
            <p:nvPr/>
          </p:nvGrpSpPr>
          <p:grpSpPr>
            <a:xfrm>
              <a:off x="6189428" y="4653135"/>
              <a:ext cx="1433214" cy="1244361"/>
              <a:chOff x="3108195" y="2780632"/>
              <a:chExt cx="1433214" cy="1244361"/>
            </a:xfrm>
          </p:grpSpPr>
          <p:sp>
            <p:nvSpPr>
              <p:cNvPr id="13" name="모서리가 둥근 직사각형 12"/>
              <p:cNvSpPr/>
              <p:nvPr/>
            </p:nvSpPr>
            <p:spPr>
              <a:xfrm>
                <a:off x="3108195" y="2780632"/>
                <a:ext cx="1433214" cy="1002985"/>
              </a:xfrm>
              <a:prstGeom prst="roundRect">
                <a:avLst>
                  <a:gd name="adj" fmla="val 10000"/>
                </a:avLst>
              </a:prstGeom>
            </p:spPr>
            <p:style>
              <a:lnRef idx="0">
                <a:schemeClr val="lt1">
                  <a:hueOff val="0"/>
                  <a:satOff val="0"/>
                  <a:lumOff val="0"/>
                  <a:alphaOff val="0"/>
                </a:schemeClr>
              </a:lnRef>
              <a:fillRef idx="3">
                <a:schemeClr val="accent3">
                  <a:hueOff val="0"/>
                  <a:satOff val="0"/>
                  <a:lumOff val="0"/>
                  <a:alphaOff val="0"/>
                </a:schemeClr>
              </a:fillRef>
              <a:effectRef idx="3">
                <a:schemeClr val="accent3">
                  <a:hueOff val="0"/>
                  <a:satOff val="0"/>
                  <a:lumOff val="0"/>
                  <a:alphaOff val="0"/>
                </a:schemeClr>
              </a:effectRef>
              <a:fontRef idx="minor">
                <a:schemeClr val="lt1"/>
              </a:fontRef>
            </p:style>
          </p:sp>
          <p:sp>
            <p:nvSpPr>
              <p:cNvPr id="14" name="모서리가 둥근 직사각형 4"/>
              <p:cNvSpPr/>
              <p:nvPr/>
            </p:nvSpPr>
            <p:spPr>
              <a:xfrm>
                <a:off x="3145741" y="2818179"/>
                <a:ext cx="1358122" cy="120681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2870" tIns="102870" rIns="102870" bIns="102870" numCol="1" spcCol="1270" anchor="ctr" anchorCtr="0">
                <a:noAutofit/>
              </a:bodyPr>
              <a:lstStyle/>
              <a:p>
                <a:pPr lvl="0" algn="ctr" defTabSz="1200150" latinLnBrk="1">
                  <a:lnSpc>
                    <a:spcPct val="90000"/>
                  </a:lnSpc>
                  <a:spcBef>
                    <a:spcPct val="0"/>
                  </a:spcBef>
                  <a:spcAft>
                    <a:spcPct val="35000"/>
                  </a:spcAft>
                </a:pPr>
                <a:endParaRPr lang="ko-KR" altLang="en-US" sz="2700" kern="1200" dirty="0">
                  <a:latin typeface="Tahoma" pitchFamily="34" charset="0"/>
                  <a:cs typeface="Tahoma" pitchFamily="34" charset="0"/>
                </a:endParaRPr>
              </a:p>
            </p:txBody>
          </p:sp>
        </p:grpSp>
      </p:grpSp>
      <p:sp>
        <p:nvSpPr>
          <p:cNvPr id="34" name="직사각형 33"/>
          <p:cNvSpPr/>
          <p:nvPr/>
        </p:nvSpPr>
        <p:spPr>
          <a:xfrm>
            <a:off x="2236976" y="2771599"/>
            <a:ext cx="2160400"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a:latin typeface="Tahoma" pitchFamily="34" charset="0"/>
                <a:ea typeface="Tahoma" pitchFamily="34" charset="0"/>
                <a:cs typeface="Tahoma" pitchFamily="34" charset="0"/>
              </a:rPr>
              <a:t>Services </a:t>
            </a:r>
            <a:r>
              <a:rPr lang="en-US" altLang="ko-KR" sz="1200" dirty="0" smtClean="0">
                <a:latin typeface="Tahoma" pitchFamily="34" charset="0"/>
                <a:ea typeface="Tahoma" pitchFamily="34" charset="0"/>
                <a:cs typeface="Tahoma" pitchFamily="34" charset="0"/>
              </a:rPr>
              <a:t>WEB et services métiers partagés  </a:t>
            </a:r>
            <a:endParaRPr lang="en-US" altLang="ko-KR" sz="1200" dirty="0">
              <a:latin typeface="Tahoma" pitchFamily="34" charset="0"/>
              <a:ea typeface="Tahoma" pitchFamily="34" charset="0"/>
              <a:cs typeface="Tahoma" pitchFamily="34" charset="0"/>
            </a:endParaRPr>
          </a:p>
        </p:txBody>
      </p:sp>
      <p:sp>
        <p:nvSpPr>
          <p:cNvPr id="35" name="직사각형 34"/>
          <p:cNvSpPr/>
          <p:nvPr/>
        </p:nvSpPr>
        <p:spPr>
          <a:xfrm>
            <a:off x="2037033" y="3181451"/>
            <a:ext cx="2611035"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Adoption de l'OS ouvert • Système</a:t>
            </a:r>
            <a:r>
              <a:rPr lang="ko-KR" altLang="en-US" sz="1200" dirty="0" smtClean="0">
                <a:latin typeface="Tahoma" pitchFamily="34" charset="0"/>
                <a:cs typeface="Tahoma" pitchFamily="34" charset="0"/>
              </a:rPr>
              <a:t> </a:t>
            </a:r>
            <a:r>
              <a:rPr lang="en-US" altLang="ko-KR" sz="1200" dirty="0">
                <a:latin typeface="Tahoma" pitchFamily="34" charset="0"/>
                <a:ea typeface="Tahoma" pitchFamily="34" charset="0"/>
                <a:cs typeface="Tahoma" pitchFamily="34" charset="0"/>
              </a:rPr>
              <a:t>S/W </a:t>
            </a:r>
            <a:endParaRPr lang="ko-KR" altLang="en-US" sz="1200" dirty="0">
              <a:latin typeface="Tahoma" pitchFamily="34" charset="0"/>
              <a:cs typeface="Tahoma" pitchFamily="34" charset="0"/>
            </a:endParaRPr>
          </a:p>
        </p:txBody>
      </p:sp>
      <p:sp>
        <p:nvSpPr>
          <p:cNvPr id="36" name="직사각형 35"/>
          <p:cNvSpPr/>
          <p:nvPr/>
        </p:nvSpPr>
        <p:spPr>
          <a:xfrm>
            <a:off x="2193707" y="3607995"/>
            <a:ext cx="2164439"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Réduction des ressources TI par la mutualisation</a:t>
            </a:r>
            <a:endParaRPr lang="en-US" altLang="ko-KR" sz="1200" dirty="0">
              <a:latin typeface="Tahoma" pitchFamily="34" charset="0"/>
              <a:ea typeface="Tahoma" pitchFamily="34" charset="0"/>
              <a:cs typeface="Tahoma" pitchFamily="34" charset="0"/>
            </a:endParaRPr>
          </a:p>
        </p:txBody>
      </p:sp>
      <p:sp>
        <p:nvSpPr>
          <p:cNvPr id="38" name="순서도: 수행의 시작/종료 37"/>
          <p:cNvSpPr/>
          <p:nvPr/>
        </p:nvSpPr>
        <p:spPr>
          <a:xfrm>
            <a:off x="1829751" y="1229931"/>
            <a:ext cx="6881895" cy="792088"/>
          </a:xfrm>
          <a:prstGeom prst="flowChartTerminator">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39" name="순서도: 대체 처리 38"/>
          <p:cNvSpPr/>
          <p:nvPr/>
        </p:nvSpPr>
        <p:spPr>
          <a:xfrm>
            <a:off x="5082684" y="2768899"/>
            <a:ext cx="2160240" cy="504056"/>
          </a:xfrm>
          <a:prstGeom prst="flowChartAlternateProcess">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40" name="순서도: 대체 처리 39"/>
          <p:cNvSpPr/>
          <p:nvPr/>
        </p:nvSpPr>
        <p:spPr>
          <a:xfrm>
            <a:off x="4950486" y="2670091"/>
            <a:ext cx="3588582" cy="358405"/>
          </a:xfrm>
          <a:prstGeom prst="flowChartAlternate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41" name="순서도: 대체 처리 40"/>
          <p:cNvSpPr/>
          <p:nvPr/>
        </p:nvSpPr>
        <p:spPr>
          <a:xfrm>
            <a:off x="4950486" y="3143704"/>
            <a:ext cx="3588582" cy="358405"/>
          </a:xfrm>
          <a:prstGeom prst="flowChartAlternate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42" name="순서도: 대체 처리 41"/>
          <p:cNvSpPr/>
          <p:nvPr/>
        </p:nvSpPr>
        <p:spPr>
          <a:xfrm>
            <a:off x="4953960" y="3606195"/>
            <a:ext cx="3588582" cy="358405"/>
          </a:xfrm>
          <a:prstGeom prst="flowChartAlternate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49" name="눈물 방울 48"/>
          <p:cNvSpPr/>
          <p:nvPr/>
        </p:nvSpPr>
        <p:spPr>
          <a:xfrm rot="2699434">
            <a:off x="4686167" y="2741282"/>
            <a:ext cx="216024" cy="213489"/>
          </a:xfrm>
          <a:prstGeom prst="teardrop">
            <a:avLst>
              <a:gd name="adj" fmla="val 200000"/>
            </a:avLst>
          </a:prstGeom>
          <a:solidFill>
            <a:schemeClr val="bg1">
              <a:lumMod val="8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50" name="타원 49"/>
          <p:cNvSpPr/>
          <p:nvPr/>
        </p:nvSpPr>
        <p:spPr>
          <a:xfrm>
            <a:off x="4722171" y="2776717"/>
            <a:ext cx="144016" cy="144016"/>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51" name="눈물 방울 50"/>
          <p:cNvSpPr/>
          <p:nvPr/>
        </p:nvSpPr>
        <p:spPr>
          <a:xfrm rot="2699434">
            <a:off x="4690618" y="3211891"/>
            <a:ext cx="216024" cy="213489"/>
          </a:xfrm>
          <a:prstGeom prst="teardrop">
            <a:avLst>
              <a:gd name="adj" fmla="val 200000"/>
            </a:avLst>
          </a:prstGeom>
          <a:solidFill>
            <a:schemeClr val="bg1">
              <a:lumMod val="8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52" name="타원 51"/>
          <p:cNvSpPr/>
          <p:nvPr/>
        </p:nvSpPr>
        <p:spPr>
          <a:xfrm>
            <a:off x="4726622" y="3247326"/>
            <a:ext cx="144016" cy="144016"/>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53" name="눈물 방울 52"/>
          <p:cNvSpPr/>
          <p:nvPr/>
        </p:nvSpPr>
        <p:spPr>
          <a:xfrm rot="2699434">
            <a:off x="4690618" y="3674382"/>
            <a:ext cx="216024" cy="213489"/>
          </a:xfrm>
          <a:prstGeom prst="teardrop">
            <a:avLst>
              <a:gd name="adj" fmla="val 200000"/>
            </a:avLst>
          </a:prstGeom>
          <a:solidFill>
            <a:schemeClr val="bg1">
              <a:lumMod val="8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54" name="타원 53"/>
          <p:cNvSpPr/>
          <p:nvPr/>
        </p:nvSpPr>
        <p:spPr>
          <a:xfrm>
            <a:off x="4726622" y="3709817"/>
            <a:ext cx="144016" cy="144016"/>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55" name="직사각형 54"/>
          <p:cNvSpPr/>
          <p:nvPr/>
        </p:nvSpPr>
        <p:spPr>
          <a:xfrm>
            <a:off x="5221109" y="2713223"/>
            <a:ext cx="3151184"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Migration des activités de l'État vers le cloud</a:t>
            </a:r>
            <a:r>
              <a:rPr lang="ko-KR" altLang="en-US" sz="1200" dirty="0" smtClean="0">
                <a:latin typeface="Tahoma" pitchFamily="34" charset="0"/>
                <a:cs typeface="Tahoma" pitchFamily="34" charset="0"/>
              </a:rPr>
              <a:t> </a:t>
            </a:r>
            <a:r>
              <a:rPr lang="en-US" altLang="ko-KR" sz="1200" dirty="0" smtClean="0">
                <a:solidFill>
                  <a:srgbClr val="FF0000"/>
                </a:solidFill>
                <a:latin typeface="Tahoma" pitchFamily="34" charset="0"/>
                <a:ea typeface="Tahoma" pitchFamily="34" charset="0"/>
                <a:cs typeface="Tahoma" pitchFamily="34" charset="0"/>
              </a:rPr>
              <a:t>transfert 50%</a:t>
            </a:r>
            <a:endParaRPr lang="en-US" altLang="ko-KR" sz="1200" dirty="0">
              <a:solidFill>
                <a:srgbClr val="FF0000"/>
              </a:solidFill>
              <a:latin typeface="Tahoma" pitchFamily="34" charset="0"/>
              <a:ea typeface="Tahoma" pitchFamily="34" charset="0"/>
              <a:cs typeface="Tahoma" pitchFamily="34" charset="0"/>
            </a:endParaRPr>
          </a:p>
        </p:txBody>
      </p:sp>
      <p:sp>
        <p:nvSpPr>
          <p:cNvPr id="56" name="직사각형 55"/>
          <p:cNvSpPr/>
          <p:nvPr/>
        </p:nvSpPr>
        <p:spPr>
          <a:xfrm>
            <a:off x="5195877" y="3175947"/>
            <a:ext cx="2317494"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Logiciel open source</a:t>
            </a:r>
            <a:r>
              <a:rPr lang="ko-KR" altLang="en-US" sz="1200" dirty="0" smtClean="0">
                <a:latin typeface="Tahoma" pitchFamily="34" charset="0"/>
                <a:cs typeface="Tahoma" pitchFamily="34" charset="0"/>
              </a:rPr>
              <a:t> </a:t>
            </a:r>
            <a:r>
              <a:rPr lang="en-US" altLang="ko-KR" sz="1200" dirty="0" smtClean="0">
                <a:solidFill>
                  <a:srgbClr val="FF0000"/>
                </a:solidFill>
                <a:latin typeface="Tahoma" pitchFamily="34" charset="0"/>
                <a:ea typeface="Tahoma" pitchFamily="34" charset="0"/>
                <a:cs typeface="Tahoma" pitchFamily="34" charset="0"/>
              </a:rPr>
              <a:t>adoption 40%</a:t>
            </a:r>
            <a:endParaRPr lang="en-US" altLang="ko-KR" sz="1200" dirty="0">
              <a:solidFill>
                <a:srgbClr val="FF0000"/>
              </a:solidFill>
              <a:latin typeface="Tahoma" pitchFamily="34" charset="0"/>
              <a:ea typeface="Tahoma" pitchFamily="34" charset="0"/>
              <a:cs typeface="Tahoma" pitchFamily="34" charset="0"/>
            </a:endParaRPr>
          </a:p>
        </p:txBody>
      </p:sp>
      <p:sp>
        <p:nvSpPr>
          <p:cNvPr id="57" name="직사각형 56"/>
          <p:cNvSpPr/>
          <p:nvPr/>
        </p:nvSpPr>
        <p:spPr>
          <a:xfrm>
            <a:off x="5230676" y="3647760"/>
            <a:ext cx="2016128"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Coût opérationnel IT</a:t>
            </a:r>
            <a:r>
              <a:rPr lang="ko-KR" altLang="en-US" sz="1200" dirty="0" smtClean="0">
                <a:latin typeface="Tahoma" pitchFamily="34" charset="0"/>
                <a:cs typeface="Tahoma" pitchFamily="34" charset="0"/>
              </a:rPr>
              <a:t> </a:t>
            </a:r>
            <a:r>
              <a:rPr lang="en-US" altLang="ko-KR" sz="1200" dirty="0" smtClean="0">
                <a:solidFill>
                  <a:srgbClr val="FF0000"/>
                </a:solidFill>
                <a:latin typeface="Tahoma" pitchFamily="34" charset="0"/>
                <a:ea typeface="Tahoma" pitchFamily="34" charset="0"/>
                <a:cs typeface="Tahoma" pitchFamily="34" charset="0"/>
              </a:rPr>
              <a:t>réduction 30%  </a:t>
            </a:r>
            <a:endParaRPr lang="en-US" altLang="ko-KR" sz="1200" dirty="0">
              <a:solidFill>
                <a:srgbClr val="FF0000"/>
              </a:solidFill>
              <a:latin typeface="Tahoma" pitchFamily="34" charset="0"/>
              <a:ea typeface="Tahoma" pitchFamily="34" charset="0"/>
              <a:cs typeface="Tahoma" pitchFamily="34" charset="0"/>
            </a:endParaRPr>
          </a:p>
        </p:txBody>
      </p:sp>
      <p:sp>
        <p:nvSpPr>
          <p:cNvPr id="58" name="직사각형 57"/>
          <p:cNvSpPr/>
          <p:nvPr/>
        </p:nvSpPr>
        <p:spPr>
          <a:xfrm>
            <a:off x="1882892" y="4449937"/>
            <a:ext cx="1307089"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Orienté services</a:t>
            </a:r>
            <a:endParaRPr lang="en-US" altLang="ko-KR" sz="1200" dirty="0">
              <a:latin typeface="Tahoma" pitchFamily="34" charset="0"/>
              <a:ea typeface="Tahoma" pitchFamily="34" charset="0"/>
              <a:cs typeface="Tahoma" pitchFamily="34" charset="0"/>
            </a:endParaRPr>
          </a:p>
        </p:txBody>
      </p:sp>
      <p:sp>
        <p:nvSpPr>
          <p:cNvPr id="59" name="직사각형 58"/>
          <p:cNvSpPr/>
          <p:nvPr/>
        </p:nvSpPr>
        <p:spPr>
          <a:xfrm>
            <a:off x="3932043" y="4449937"/>
            <a:ext cx="699229"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Mutualisation</a:t>
            </a:r>
            <a:endParaRPr lang="en-US" altLang="ko-KR" sz="1200" dirty="0">
              <a:latin typeface="Tahoma" pitchFamily="34" charset="0"/>
              <a:ea typeface="Tahoma" pitchFamily="34" charset="0"/>
              <a:cs typeface="Tahoma" pitchFamily="34" charset="0"/>
            </a:endParaRPr>
          </a:p>
        </p:txBody>
      </p:sp>
      <p:sp>
        <p:nvSpPr>
          <p:cNvPr id="60" name="직사각형 59"/>
          <p:cNvSpPr/>
          <p:nvPr/>
        </p:nvSpPr>
        <p:spPr>
          <a:xfrm>
            <a:off x="5568175" y="4449937"/>
            <a:ext cx="1002967"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Basé sur l'ouverture</a:t>
            </a:r>
            <a:endParaRPr lang="en-US" altLang="ko-KR" sz="1200" dirty="0">
              <a:latin typeface="Tahoma" pitchFamily="34" charset="0"/>
              <a:ea typeface="Tahoma" pitchFamily="34" charset="0"/>
              <a:cs typeface="Tahoma" pitchFamily="34" charset="0"/>
            </a:endParaRPr>
          </a:p>
        </p:txBody>
      </p:sp>
      <p:sp>
        <p:nvSpPr>
          <p:cNvPr id="61" name="직사각형 60"/>
          <p:cNvSpPr/>
          <p:nvPr/>
        </p:nvSpPr>
        <p:spPr>
          <a:xfrm>
            <a:off x="7256475" y="4449937"/>
            <a:ext cx="1233864"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Standardisation</a:t>
            </a:r>
            <a:endParaRPr lang="en-US" altLang="ko-KR" sz="1200" dirty="0">
              <a:latin typeface="Tahoma" pitchFamily="34" charset="0"/>
              <a:ea typeface="Tahoma" pitchFamily="34" charset="0"/>
              <a:cs typeface="Tahoma" pitchFamily="34" charset="0"/>
            </a:endParaRPr>
          </a:p>
        </p:txBody>
      </p:sp>
      <p:sp>
        <p:nvSpPr>
          <p:cNvPr id="63" name="순서도: 대체 처리 62"/>
          <p:cNvSpPr/>
          <p:nvPr/>
        </p:nvSpPr>
        <p:spPr>
          <a:xfrm>
            <a:off x="1757638" y="5439749"/>
            <a:ext cx="372717" cy="326685"/>
          </a:xfrm>
          <a:prstGeom prst="flowChartAlternateProcess">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900" dirty="0">
              <a:latin typeface="Tahoma" pitchFamily="34" charset="0"/>
              <a:cs typeface="Tahoma" pitchFamily="34" charset="0"/>
            </a:endParaRPr>
          </a:p>
        </p:txBody>
      </p:sp>
      <p:sp>
        <p:nvSpPr>
          <p:cNvPr id="64" name="순서도: 대체 처리 63"/>
          <p:cNvSpPr/>
          <p:nvPr/>
        </p:nvSpPr>
        <p:spPr>
          <a:xfrm>
            <a:off x="3570516" y="5453464"/>
            <a:ext cx="372717" cy="326685"/>
          </a:xfrm>
          <a:prstGeom prst="flowChartAlternateProcess">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65" name="순서도: 대체 처리 64"/>
          <p:cNvSpPr/>
          <p:nvPr/>
        </p:nvSpPr>
        <p:spPr>
          <a:xfrm>
            <a:off x="5363543" y="5461777"/>
            <a:ext cx="372717" cy="326685"/>
          </a:xfrm>
          <a:prstGeom prst="flowChartAlternateProcess">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66" name="순서도: 대체 처리 65"/>
          <p:cNvSpPr/>
          <p:nvPr/>
        </p:nvSpPr>
        <p:spPr>
          <a:xfrm>
            <a:off x="7162603" y="5456376"/>
            <a:ext cx="372717" cy="326685"/>
          </a:xfrm>
          <a:prstGeom prst="flowChartAlternateProcess">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67" name="TextBox 66"/>
          <p:cNvSpPr txBox="1"/>
          <p:nvPr/>
        </p:nvSpPr>
        <p:spPr>
          <a:xfrm>
            <a:off x="1736443" y="5450162"/>
            <a:ext cx="648072" cy="307777"/>
          </a:xfrm>
          <a:prstGeom prst="rect">
            <a:avLst/>
          </a:prstGeom>
          <a:noFill/>
        </p:spPr>
        <p:txBody>
          <a:bodyPr wrap="square" rtlCol="0">
            <a:spAutoFit/>
          </a:bodyPr>
          <a:lstStyle/>
          <a:p>
            <a:r>
              <a:rPr lang="en-US" altLang="ko-KR" sz="1400" dirty="0" smtClean="0">
                <a:latin typeface="Tahoma" pitchFamily="34" charset="0"/>
                <a:ea typeface="Tahoma" pitchFamily="34" charset="0"/>
                <a:cs typeface="Tahoma" pitchFamily="34" charset="0"/>
              </a:rPr>
              <a:t>A1</a:t>
            </a:r>
            <a:endParaRPr lang="ko-KR" altLang="en-US" sz="1400" dirty="0">
              <a:latin typeface="Tahoma" pitchFamily="34" charset="0"/>
              <a:cs typeface="Tahoma" pitchFamily="34" charset="0"/>
            </a:endParaRPr>
          </a:p>
        </p:txBody>
      </p:sp>
      <p:sp>
        <p:nvSpPr>
          <p:cNvPr id="68" name="TextBox 67"/>
          <p:cNvSpPr txBox="1"/>
          <p:nvPr/>
        </p:nvSpPr>
        <p:spPr>
          <a:xfrm>
            <a:off x="3553890" y="5445151"/>
            <a:ext cx="648072" cy="307777"/>
          </a:xfrm>
          <a:prstGeom prst="rect">
            <a:avLst/>
          </a:prstGeom>
          <a:noFill/>
        </p:spPr>
        <p:txBody>
          <a:bodyPr wrap="square" rtlCol="0">
            <a:spAutoFit/>
          </a:bodyPr>
          <a:lstStyle/>
          <a:p>
            <a:r>
              <a:rPr lang="en-US" altLang="ko-KR" sz="1400" dirty="0" smtClean="0">
                <a:latin typeface="Tahoma" pitchFamily="34" charset="0"/>
                <a:ea typeface="Tahoma" pitchFamily="34" charset="0"/>
                <a:cs typeface="Tahoma" pitchFamily="34" charset="0"/>
              </a:rPr>
              <a:t>A2</a:t>
            </a:r>
            <a:endParaRPr lang="ko-KR" altLang="en-US" sz="1400" dirty="0">
              <a:latin typeface="Tahoma" pitchFamily="34" charset="0"/>
              <a:cs typeface="Tahoma" pitchFamily="34" charset="0"/>
            </a:endParaRPr>
          </a:p>
        </p:txBody>
      </p:sp>
      <p:sp>
        <p:nvSpPr>
          <p:cNvPr id="69" name="TextBox 68"/>
          <p:cNvSpPr txBox="1"/>
          <p:nvPr/>
        </p:nvSpPr>
        <p:spPr>
          <a:xfrm>
            <a:off x="5354090" y="5456273"/>
            <a:ext cx="648072" cy="307777"/>
          </a:xfrm>
          <a:prstGeom prst="rect">
            <a:avLst/>
          </a:prstGeom>
          <a:noFill/>
        </p:spPr>
        <p:txBody>
          <a:bodyPr wrap="square" rtlCol="0">
            <a:spAutoFit/>
          </a:bodyPr>
          <a:lstStyle/>
          <a:p>
            <a:r>
              <a:rPr lang="en-US" altLang="ko-KR" sz="1400" dirty="0" smtClean="0">
                <a:latin typeface="Tahoma" pitchFamily="34" charset="0"/>
                <a:ea typeface="Tahoma" pitchFamily="34" charset="0"/>
                <a:cs typeface="Tahoma" pitchFamily="34" charset="0"/>
              </a:rPr>
              <a:t>A3</a:t>
            </a:r>
            <a:endParaRPr lang="ko-KR" altLang="en-US" sz="1400" dirty="0">
              <a:latin typeface="Tahoma" pitchFamily="34" charset="0"/>
              <a:cs typeface="Tahoma" pitchFamily="34" charset="0"/>
            </a:endParaRPr>
          </a:p>
        </p:txBody>
      </p:sp>
      <p:sp>
        <p:nvSpPr>
          <p:cNvPr id="70" name="TextBox 69"/>
          <p:cNvSpPr txBox="1"/>
          <p:nvPr/>
        </p:nvSpPr>
        <p:spPr>
          <a:xfrm>
            <a:off x="7137664" y="5453464"/>
            <a:ext cx="648072" cy="307777"/>
          </a:xfrm>
          <a:prstGeom prst="rect">
            <a:avLst/>
          </a:prstGeom>
          <a:noFill/>
        </p:spPr>
        <p:txBody>
          <a:bodyPr wrap="square" rtlCol="0">
            <a:spAutoFit/>
          </a:bodyPr>
          <a:lstStyle/>
          <a:p>
            <a:r>
              <a:rPr lang="en-US" altLang="ko-KR" sz="1400" dirty="0" smtClean="0">
                <a:latin typeface="Tahoma" pitchFamily="34" charset="0"/>
                <a:ea typeface="Tahoma" pitchFamily="34" charset="0"/>
                <a:cs typeface="Tahoma" pitchFamily="34" charset="0"/>
              </a:rPr>
              <a:t>A4</a:t>
            </a:r>
            <a:endParaRPr lang="ko-KR" altLang="en-US" sz="1400" dirty="0">
              <a:latin typeface="Tahoma" pitchFamily="34" charset="0"/>
              <a:cs typeface="Tahoma" pitchFamily="34" charset="0"/>
            </a:endParaRPr>
          </a:p>
        </p:txBody>
      </p:sp>
      <p:sp>
        <p:nvSpPr>
          <p:cNvPr id="71" name="직사각형 70"/>
          <p:cNvSpPr/>
          <p:nvPr/>
        </p:nvSpPr>
        <p:spPr>
          <a:xfrm>
            <a:off x="2066661" y="5573887"/>
            <a:ext cx="1139414" cy="489365"/>
          </a:xfrm>
          <a:prstGeom prst="rect">
            <a:avLst/>
          </a:prstGeom>
        </p:spPr>
        <p:txBody>
          <a:bodyPr wrap="none">
            <a:spAutoFit/>
          </a:bodyPr>
          <a:lstStyle/>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Infrastructure cloud</a:t>
            </a:r>
          </a:p>
          <a:p>
            <a:pPr lvl="0" defTabSz="933450">
              <a:lnSpc>
                <a:spcPct val="90000"/>
              </a:lnSpc>
              <a:spcBef>
                <a:spcPct val="0"/>
              </a:spcBef>
              <a:spcAft>
                <a:spcPct val="35000"/>
              </a:spcAft>
            </a:pPr>
            <a:r>
              <a:rPr lang="en-US" altLang="ko-KR" sz="1200" dirty="0">
                <a:latin typeface="Tahoma" pitchFamily="34" charset="0"/>
                <a:ea typeface="Tahoma" pitchFamily="34" charset="0"/>
                <a:cs typeface="Tahoma" pitchFamily="34" charset="0"/>
              </a:rPr>
              <a:t>infrastructure c</a:t>
            </a:r>
            <a:r>
              <a:rPr lang="en-US" altLang="ko-KR" sz="1200" dirty="0" smtClean="0">
                <a:latin typeface="Tahoma" pitchFamily="34" charset="0"/>
                <a:ea typeface="Tahoma" pitchFamily="34" charset="0"/>
                <a:cs typeface="Tahoma" pitchFamily="34" charset="0"/>
              </a:rPr>
              <a:t>loud</a:t>
            </a:r>
            <a:endParaRPr lang="en-US" altLang="ko-KR" sz="1200" dirty="0">
              <a:latin typeface="Tahoma" pitchFamily="34" charset="0"/>
              <a:ea typeface="Tahoma" pitchFamily="34" charset="0"/>
              <a:cs typeface="Tahoma" pitchFamily="34" charset="0"/>
            </a:endParaRPr>
          </a:p>
        </p:txBody>
      </p:sp>
      <p:sp>
        <p:nvSpPr>
          <p:cNvPr id="72" name="직사각형 71"/>
          <p:cNvSpPr/>
          <p:nvPr/>
        </p:nvSpPr>
        <p:spPr>
          <a:xfrm>
            <a:off x="3885375" y="5573887"/>
            <a:ext cx="1133644" cy="720197"/>
          </a:xfrm>
          <a:prstGeom prst="rect">
            <a:avLst/>
          </a:prstGeom>
        </p:spPr>
        <p:txBody>
          <a:bodyPr wrap="none">
            <a:spAutoFit/>
          </a:bodyPr>
          <a:lstStyle/>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Fourniture de</a:t>
            </a:r>
          </a:p>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services cloud</a:t>
            </a:r>
          </a:p>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centrés sur l'utilisateur</a:t>
            </a:r>
            <a:endParaRPr lang="en-US" altLang="ko-KR" sz="1200" dirty="0">
              <a:latin typeface="Tahoma" pitchFamily="34" charset="0"/>
              <a:ea typeface="Tahoma" pitchFamily="34" charset="0"/>
              <a:cs typeface="Tahoma" pitchFamily="34" charset="0"/>
            </a:endParaRPr>
          </a:p>
        </p:txBody>
      </p:sp>
      <p:sp>
        <p:nvSpPr>
          <p:cNvPr id="73" name="직사각형 72"/>
          <p:cNvSpPr/>
          <p:nvPr/>
        </p:nvSpPr>
        <p:spPr>
          <a:xfrm>
            <a:off x="5658748" y="5478403"/>
            <a:ext cx="1212191" cy="951030"/>
          </a:xfrm>
          <a:prstGeom prst="rect">
            <a:avLst/>
          </a:prstGeom>
        </p:spPr>
        <p:txBody>
          <a:bodyPr wrap="none">
            <a:spAutoFit/>
          </a:bodyPr>
          <a:lstStyle/>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Mise en place</a:t>
            </a:r>
          </a:p>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d'une gouvernance</a:t>
            </a:r>
          </a:p>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fondée sur le</a:t>
            </a:r>
          </a:p>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système cloud</a:t>
            </a:r>
            <a:endParaRPr lang="en-US" altLang="ko-KR" sz="1200" dirty="0">
              <a:latin typeface="Tahoma" pitchFamily="34" charset="0"/>
              <a:ea typeface="Tahoma" pitchFamily="34" charset="0"/>
              <a:cs typeface="Tahoma" pitchFamily="34" charset="0"/>
            </a:endParaRPr>
          </a:p>
        </p:txBody>
      </p:sp>
      <p:sp>
        <p:nvSpPr>
          <p:cNvPr id="74" name="직사각형 73"/>
          <p:cNvSpPr/>
          <p:nvPr/>
        </p:nvSpPr>
        <p:spPr>
          <a:xfrm>
            <a:off x="7242924" y="5622419"/>
            <a:ext cx="1313629" cy="720197"/>
          </a:xfrm>
          <a:prstGeom prst="rect">
            <a:avLst/>
          </a:prstGeom>
        </p:spPr>
        <p:txBody>
          <a:bodyPr wrap="none">
            <a:spAutoFit/>
          </a:bodyPr>
          <a:lstStyle/>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Assurer les</a:t>
            </a:r>
          </a:p>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bases de la</a:t>
            </a:r>
          </a:p>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vitalisation du cloud</a:t>
            </a:r>
            <a:endParaRPr lang="en-US" altLang="ko-KR" sz="1200" dirty="0">
              <a:latin typeface="Tahoma" pitchFamily="34" charset="0"/>
              <a:ea typeface="Tahoma" pitchFamily="34" charset="0"/>
              <a:cs typeface="Tahoma" pitchFamily="34" charset="0"/>
            </a:endParaRPr>
          </a:p>
        </p:txBody>
      </p:sp>
      <p:sp>
        <p:nvSpPr>
          <p:cNvPr id="75" name="직사각형 74"/>
          <p:cNvSpPr/>
          <p:nvPr/>
        </p:nvSpPr>
        <p:spPr>
          <a:xfrm>
            <a:off x="330156" y="1196752"/>
            <a:ext cx="1224136" cy="86409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bg1">
                  <a:lumMod val="65000"/>
                </a:schemeClr>
              </a:solidFill>
              <a:latin typeface="Tahoma" pitchFamily="34" charset="0"/>
              <a:cs typeface="Tahoma" pitchFamily="34" charset="0"/>
            </a:endParaRPr>
          </a:p>
        </p:txBody>
      </p:sp>
      <p:sp>
        <p:nvSpPr>
          <p:cNvPr id="76" name="직사각형 75"/>
          <p:cNvSpPr/>
          <p:nvPr/>
        </p:nvSpPr>
        <p:spPr>
          <a:xfrm>
            <a:off x="330156" y="2560180"/>
            <a:ext cx="1224136" cy="1496849"/>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bg1">
                  <a:lumMod val="65000"/>
                </a:schemeClr>
              </a:solidFill>
              <a:latin typeface="Tahoma" pitchFamily="34" charset="0"/>
              <a:cs typeface="Tahoma" pitchFamily="34" charset="0"/>
            </a:endParaRPr>
          </a:p>
        </p:txBody>
      </p:sp>
      <p:sp>
        <p:nvSpPr>
          <p:cNvPr id="77" name="직사각형 76"/>
          <p:cNvSpPr/>
          <p:nvPr/>
        </p:nvSpPr>
        <p:spPr>
          <a:xfrm>
            <a:off x="340179" y="4201047"/>
            <a:ext cx="1224136" cy="1030571"/>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bg1">
                  <a:lumMod val="65000"/>
                </a:schemeClr>
              </a:solidFill>
              <a:latin typeface="Tahoma" pitchFamily="34" charset="0"/>
              <a:cs typeface="Tahoma" pitchFamily="34" charset="0"/>
            </a:endParaRPr>
          </a:p>
        </p:txBody>
      </p:sp>
      <p:sp>
        <p:nvSpPr>
          <p:cNvPr id="78" name="직사각형 77"/>
          <p:cNvSpPr/>
          <p:nvPr/>
        </p:nvSpPr>
        <p:spPr>
          <a:xfrm>
            <a:off x="340179" y="5384350"/>
            <a:ext cx="1224136" cy="1035750"/>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bg1">
                  <a:lumMod val="65000"/>
                </a:schemeClr>
              </a:solidFill>
              <a:latin typeface="Tahoma" pitchFamily="34" charset="0"/>
              <a:cs typeface="Tahoma" pitchFamily="34" charset="0"/>
            </a:endParaRPr>
          </a:p>
        </p:txBody>
      </p:sp>
      <p:sp>
        <p:nvSpPr>
          <p:cNvPr id="79" name="직사각형 78"/>
          <p:cNvSpPr/>
          <p:nvPr/>
        </p:nvSpPr>
        <p:spPr>
          <a:xfrm>
            <a:off x="560153" y="1309255"/>
            <a:ext cx="784189" cy="341632"/>
          </a:xfrm>
          <a:prstGeom prst="rect">
            <a:avLst/>
          </a:prstGeom>
        </p:spPr>
        <p:txBody>
          <a:bodyPr wrap="none">
            <a:spAutoFit/>
          </a:bodyPr>
          <a:lstStyle/>
          <a:p>
            <a:pPr lvl="0" algn="ctr" defTabSz="933450">
              <a:lnSpc>
                <a:spcPct val="90000"/>
              </a:lnSpc>
              <a:spcBef>
                <a:spcPct val="0"/>
              </a:spcBef>
              <a:spcAft>
                <a:spcPct val="35000"/>
              </a:spcAft>
            </a:pPr>
            <a:r>
              <a:rPr lang="en-US" altLang="ko-KR" dirty="0" smtClean="0">
                <a:latin typeface="Tahoma" pitchFamily="34" charset="0"/>
                <a:ea typeface="Tahoma" pitchFamily="34" charset="0"/>
                <a:cs typeface="Tahoma" pitchFamily="34" charset="0"/>
              </a:rPr>
              <a:t>Vision</a:t>
            </a:r>
            <a:endParaRPr lang="en-US" altLang="ko-KR" dirty="0">
              <a:latin typeface="Tahoma" pitchFamily="34" charset="0"/>
              <a:ea typeface="Tahoma" pitchFamily="34" charset="0"/>
              <a:cs typeface="Tahoma" pitchFamily="34" charset="0"/>
            </a:endParaRPr>
          </a:p>
        </p:txBody>
      </p:sp>
      <p:sp>
        <p:nvSpPr>
          <p:cNvPr id="80" name="직사각형 79"/>
          <p:cNvSpPr/>
          <p:nvPr/>
        </p:nvSpPr>
        <p:spPr>
          <a:xfrm>
            <a:off x="372351" y="3109455"/>
            <a:ext cx="1135054" cy="341632"/>
          </a:xfrm>
          <a:prstGeom prst="rect">
            <a:avLst/>
          </a:prstGeom>
        </p:spPr>
        <p:txBody>
          <a:bodyPr wrap="none">
            <a:spAutoFit/>
          </a:bodyPr>
          <a:lstStyle/>
          <a:p>
            <a:pPr lvl="0" algn="ctr" defTabSz="933450">
              <a:lnSpc>
                <a:spcPct val="90000"/>
              </a:lnSpc>
              <a:spcBef>
                <a:spcPct val="0"/>
              </a:spcBef>
              <a:spcAft>
                <a:spcPct val="35000"/>
              </a:spcAft>
            </a:pPr>
            <a:r>
              <a:rPr lang="en-US" altLang="ko-KR" dirty="0" smtClean="0">
                <a:latin typeface="Tahoma" pitchFamily="34" charset="0"/>
                <a:ea typeface="Tahoma" pitchFamily="34" charset="0"/>
                <a:cs typeface="Tahoma" pitchFamily="34" charset="0"/>
              </a:rPr>
              <a:t>Objective</a:t>
            </a:r>
            <a:endParaRPr lang="en-US" altLang="ko-KR" dirty="0">
              <a:latin typeface="Tahoma" pitchFamily="34" charset="0"/>
              <a:ea typeface="Tahoma" pitchFamily="34" charset="0"/>
              <a:cs typeface="Tahoma" pitchFamily="34" charset="0"/>
            </a:endParaRPr>
          </a:p>
        </p:txBody>
      </p:sp>
      <p:sp>
        <p:nvSpPr>
          <p:cNvPr id="81" name="직사각형 80"/>
          <p:cNvSpPr/>
          <p:nvPr/>
        </p:nvSpPr>
        <p:spPr>
          <a:xfrm>
            <a:off x="423135" y="4477607"/>
            <a:ext cx="1033488" cy="341632"/>
          </a:xfrm>
          <a:prstGeom prst="rect">
            <a:avLst/>
          </a:prstGeom>
        </p:spPr>
        <p:txBody>
          <a:bodyPr wrap="none">
            <a:spAutoFit/>
          </a:bodyPr>
          <a:lstStyle/>
          <a:p>
            <a:pPr lvl="0" algn="ctr" defTabSz="933450">
              <a:lnSpc>
                <a:spcPct val="90000"/>
              </a:lnSpc>
              <a:spcBef>
                <a:spcPct val="0"/>
              </a:spcBef>
              <a:spcAft>
                <a:spcPct val="35000"/>
              </a:spcAft>
            </a:pPr>
            <a:r>
              <a:rPr lang="en-US" altLang="ko-KR" dirty="0" smtClean="0">
                <a:latin typeface="Tahoma" pitchFamily="34" charset="0"/>
                <a:ea typeface="Tahoma" pitchFamily="34" charset="0"/>
                <a:cs typeface="Tahoma" pitchFamily="34" charset="0"/>
              </a:rPr>
              <a:t>Strategy</a:t>
            </a:r>
            <a:endParaRPr lang="en-US" altLang="ko-KR" dirty="0">
              <a:latin typeface="Tahoma" pitchFamily="34" charset="0"/>
              <a:ea typeface="Tahoma" pitchFamily="34" charset="0"/>
              <a:cs typeface="Tahoma" pitchFamily="34" charset="0"/>
            </a:endParaRPr>
          </a:p>
        </p:txBody>
      </p:sp>
      <p:sp>
        <p:nvSpPr>
          <p:cNvPr id="82" name="직사각형 81"/>
          <p:cNvSpPr/>
          <p:nvPr/>
        </p:nvSpPr>
        <p:spPr>
          <a:xfrm>
            <a:off x="464429" y="5701743"/>
            <a:ext cx="950901" cy="341632"/>
          </a:xfrm>
          <a:prstGeom prst="rect">
            <a:avLst/>
          </a:prstGeom>
        </p:spPr>
        <p:txBody>
          <a:bodyPr wrap="none">
            <a:spAutoFit/>
          </a:bodyPr>
          <a:lstStyle/>
          <a:p>
            <a:pPr lvl="0" algn="ctr" defTabSz="933450">
              <a:lnSpc>
                <a:spcPct val="90000"/>
              </a:lnSpc>
              <a:spcBef>
                <a:spcPct val="0"/>
              </a:spcBef>
              <a:spcAft>
                <a:spcPct val="35000"/>
              </a:spcAft>
            </a:pPr>
            <a:r>
              <a:rPr lang="en-US" altLang="ko-KR" dirty="0" smtClean="0">
                <a:latin typeface="Tahoma" pitchFamily="34" charset="0"/>
                <a:ea typeface="Tahoma" pitchFamily="34" charset="0"/>
                <a:cs typeface="Tahoma" pitchFamily="34" charset="0"/>
              </a:rPr>
              <a:t>Agenda</a:t>
            </a:r>
            <a:endParaRPr lang="en-US" altLang="ko-KR" dirty="0">
              <a:latin typeface="Tahoma" pitchFamily="34" charset="0"/>
              <a:ea typeface="Tahoma" pitchFamily="34" charset="0"/>
              <a:cs typeface="Tahoma" pitchFamily="34" charset="0"/>
            </a:endParaRPr>
          </a:p>
        </p:txBody>
      </p:sp>
      <p:sp>
        <p:nvSpPr>
          <p:cNvPr id="2" name="TextBox 1"/>
          <p:cNvSpPr txBox="1"/>
          <p:nvPr/>
        </p:nvSpPr>
        <p:spPr>
          <a:xfrm>
            <a:off x="179512" y="116632"/>
            <a:ext cx="8712968" cy="954107"/>
          </a:xfrm>
          <a:prstGeom prst="rect">
            <a:avLst/>
          </a:prstGeom>
          <a:noFill/>
        </p:spPr>
        <p:txBody>
          <a:bodyPr wrap="square" rtlCol="0">
            <a:spAutoFit/>
          </a:bodyPr>
          <a:lstStyle/>
          <a:p>
            <a:pPr algn="ctr"/>
            <a:r>
              <a:rPr lang="en-US" altLang="ko-KR" sz="2800" dirty="0" smtClean="0">
                <a:latin typeface="Tahoma" pitchFamily="34" charset="0"/>
                <a:ea typeface="Tahoma" pitchFamily="34" charset="0"/>
                <a:cs typeface="Tahoma" pitchFamily="34" charset="0"/>
              </a:rPr>
              <a:t>Korea’s Vision and Strategy on the Government     Cloud Services </a:t>
            </a:r>
            <a:endParaRPr lang="ko-KR" altLang="en-US" sz="2800" dirty="0">
              <a:latin typeface="Tahoma" pitchFamily="34" charset="0"/>
              <a:cs typeface="Tahoma" pitchFamily="34" charset="0"/>
            </a:endParaRPr>
          </a:p>
        </p:txBody>
      </p:sp>
      <p:sp>
        <p:nvSpPr>
          <p:cNvPr id="83" name="직사각형 82"/>
          <p:cNvSpPr/>
          <p:nvPr/>
        </p:nvSpPr>
        <p:spPr>
          <a:xfrm>
            <a:off x="1828290" y="1229931"/>
            <a:ext cx="6866730" cy="853311"/>
          </a:xfrm>
          <a:prstGeom prst="rect">
            <a:avLst/>
          </a:prstGeom>
        </p:spPr>
        <p:txBody>
          <a:bodyPr wrap="square">
            <a:spAutoFit/>
          </a:bodyPr>
          <a:lstStyle/>
          <a:p>
            <a:pPr lvl="0" algn="ctr" defTabSz="933450">
              <a:lnSpc>
                <a:spcPct val="90000"/>
              </a:lnSpc>
              <a:spcBef>
                <a:spcPct val="0"/>
              </a:spcBef>
              <a:spcAft>
                <a:spcPct val="35000"/>
              </a:spcAft>
            </a:pPr>
            <a:r>
              <a:rPr lang="en-US" altLang="ko-KR" sz="2300" dirty="0" smtClean="0">
                <a:solidFill>
                  <a:srgbClr val="C00000"/>
                </a:solidFill>
                <a:latin typeface="Tahoma" pitchFamily="34" charset="0"/>
                <a:ea typeface="Tahoma" pitchFamily="34" charset="0"/>
                <a:cs typeface="Tahoma" pitchFamily="34" charset="0"/>
              </a:rPr>
              <a:t>Realization of world best </a:t>
            </a:r>
          </a:p>
          <a:p>
            <a:pPr lvl="0" algn="ctr" defTabSz="933450">
              <a:lnSpc>
                <a:spcPct val="90000"/>
              </a:lnSpc>
              <a:spcBef>
                <a:spcPct val="0"/>
              </a:spcBef>
              <a:spcAft>
                <a:spcPct val="35000"/>
              </a:spcAft>
            </a:pPr>
            <a:r>
              <a:rPr lang="en-US" altLang="ko-KR" sz="2300" dirty="0" smtClean="0">
                <a:solidFill>
                  <a:srgbClr val="C00000"/>
                </a:solidFill>
                <a:latin typeface="Tahoma" pitchFamily="34" charset="0"/>
                <a:ea typeface="Tahoma" pitchFamily="34" charset="0"/>
                <a:cs typeface="Tahoma" pitchFamily="34" charset="0"/>
              </a:rPr>
              <a:t>government cloud service</a:t>
            </a:r>
            <a:endParaRPr lang="en-US" altLang="ko-KR" sz="2300" dirty="0">
              <a:solidFill>
                <a:srgbClr val="C00000"/>
              </a:solidFill>
              <a:latin typeface="Tahoma" pitchFamily="34" charset="0"/>
              <a:ea typeface="Tahoma" pitchFamily="34" charset="0"/>
              <a:cs typeface="Tahoma" pitchFamily="34" charset="0"/>
            </a:endParaRPr>
          </a:p>
        </p:txBody>
      </p:sp>
    </p:spTree>
    <p:extLst>
      <p:ext uri="{BB962C8B-B14F-4D97-AF65-F5344CB8AC3E}">
        <p14:creationId xmlns:p14="http://schemas.microsoft.com/office/powerpoint/2010/main" val="207117223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rmAutofit/>
          </a:bodyPr>
          <a:lstStyle/>
          <a:p>
            <a:r>
              <a:rPr lang="en-US" altLang="ko-KR" sz="3200" i="0" dirty="0" smtClean="0">
                <a:latin typeface="Tahoma" pitchFamily="34" charset="0"/>
                <a:ea typeface="Tahoma" pitchFamily="34" charset="0"/>
                <a:cs typeface="Tahoma" pitchFamily="34" charset="0"/>
              </a:rPr>
              <a:t>Mise en œuvre de la politique de données ouvertes </a:t>
            </a:r>
            <a:endParaRPr lang="ko-KR" altLang="en-US" sz="3200" i="0" dirty="0">
              <a:latin typeface="Tahoma" pitchFamily="34" charset="0"/>
              <a:cs typeface="Tahoma" pitchFamily="34" charset="0"/>
            </a:endParaRPr>
          </a:p>
        </p:txBody>
      </p:sp>
      <p:pic>
        <p:nvPicPr>
          <p:cNvPr id="5" name="내용 개체 틀 4"/>
          <p:cNvPicPr>
            <a:picLocks noGrp="1" noChangeAspect="1"/>
          </p:cNvPicPr>
          <p:nvPr>
            <p:ph sz="half" idx="1"/>
          </p:nvPr>
        </p:nvPicPr>
        <p:blipFill>
          <a:blip r:embed="rId3" cstate="print">
            <a:extLst>
              <a:ext uri="{28A0092B-C50C-407E-A947-70E740481C1C}">
                <a14:useLocalDpi xmlns:a14="http://schemas.microsoft.com/office/drawing/2010/main" val="0"/>
              </a:ext>
            </a:extLst>
          </a:blip>
          <a:stretch>
            <a:fillRect/>
          </a:stretch>
        </p:blipFill>
        <p:spPr>
          <a:xfrm>
            <a:off x="705758" y="2178849"/>
            <a:ext cx="3541483" cy="3986455"/>
          </a:xfrm>
        </p:spPr>
      </p:pic>
      <p:pic>
        <p:nvPicPr>
          <p:cNvPr id="6" name="내용 개체 틀 5"/>
          <p:cNvPicPr>
            <a:picLocks noGrp="1" noChangeAspect="1"/>
          </p:cNvPicPr>
          <p:nvPr>
            <p:ph sz="half" idx="2"/>
          </p:nvPr>
        </p:nvPicPr>
        <p:blipFill>
          <a:blip r:embed="rId4" cstate="print">
            <a:extLst>
              <a:ext uri="{28A0092B-C50C-407E-A947-70E740481C1C}">
                <a14:useLocalDpi xmlns:a14="http://schemas.microsoft.com/office/drawing/2010/main" val="0"/>
              </a:ext>
            </a:extLst>
          </a:blip>
          <a:stretch>
            <a:fillRect/>
          </a:stretch>
        </p:blipFill>
        <p:spPr>
          <a:xfrm>
            <a:off x="4648200" y="2708920"/>
            <a:ext cx="4038600" cy="2657624"/>
          </a:xfrm>
        </p:spPr>
      </p:pic>
      <p:sp>
        <p:nvSpPr>
          <p:cNvPr id="9" name="직사각형 8"/>
          <p:cNvSpPr/>
          <p:nvPr/>
        </p:nvSpPr>
        <p:spPr>
          <a:xfrm>
            <a:off x="899592" y="1556792"/>
            <a:ext cx="3415743" cy="338554"/>
          </a:xfrm>
          <a:prstGeom prst="rect">
            <a:avLst/>
          </a:prstGeom>
          <a:noFill/>
        </p:spPr>
        <p:txBody>
          <a:bodyPr wrap="none" lIns="91440" tIns="45720" rIns="91440" bIns="45720">
            <a:spAutoFit/>
          </a:bodyPr>
          <a:lstStyle/>
          <a:p>
            <a:pPr algn="ctr"/>
            <a:r>
              <a:rPr lang="en-US" altLang="ko-KR" sz="1600" b="1" cap="none" spc="300" dirty="0" smtClean="0">
                <a:ln w="11430" cmpd="sng">
                  <a:solidFill>
                    <a:schemeClr val="accent1">
                      <a:tint val="10000"/>
                    </a:schemeClr>
                  </a:solidFill>
                  <a:prstDash val="solid"/>
                  <a:miter lim="800000"/>
                </a:ln>
                <a:gradFill>
                  <a:gsLst>
                    <a:gs pos="10000">
                      <a:schemeClr val="accent1">
                        <a:tint val="83000"/>
                        <a:shade val="100000"/>
                        <a:satMod val="200000"/>
                      </a:schemeClr>
                    </a:gs>
                    <a:gs pos="75000">
                      <a:schemeClr val="accent1">
                        <a:tint val="100000"/>
                        <a:shade val="50000"/>
                        <a:satMod val="150000"/>
                      </a:schemeClr>
                    </a:gs>
                  </a:gsLst>
                  <a:lin ang="5400000"/>
                </a:gradFill>
                <a:effectLst>
                  <a:glow rad="45500">
                    <a:schemeClr val="accent1">
                      <a:satMod val="220000"/>
                      <a:alpha val="35000"/>
                    </a:schemeClr>
                  </a:glow>
                </a:effectLst>
              </a:rPr>
              <a:t>Portail de données gouvernementales</a:t>
            </a:r>
            <a:endParaRPr lang="ko-KR" altLang="en-US" sz="1600" b="1" cap="none" spc="300" dirty="0">
              <a:ln w="11430" cmpd="sng">
                <a:solidFill>
                  <a:schemeClr val="accent1">
                    <a:tint val="10000"/>
                  </a:schemeClr>
                </a:solidFill>
                <a:prstDash val="solid"/>
                <a:miter lim="800000"/>
              </a:ln>
              <a:gradFill>
                <a:gsLst>
                  <a:gs pos="10000">
                    <a:schemeClr val="accent1">
                      <a:tint val="83000"/>
                      <a:shade val="100000"/>
                      <a:satMod val="200000"/>
                    </a:schemeClr>
                  </a:gs>
                  <a:gs pos="75000">
                    <a:schemeClr val="accent1">
                      <a:tint val="100000"/>
                      <a:shade val="50000"/>
                      <a:satMod val="150000"/>
                    </a:schemeClr>
                  </a:gs>
                </a:gsLst>
                <a:lin ang="5400000"/>
              </a:gradFill>
              <a:effectLst>
                <a:glow rad="45500">
                  <a:schemeClr val="accent1">
                    <a:satMod val="220000"/>
                    <a:alpha val="35000"/>
                  </a:schemeClr>
                </a:glow>
              </a:effectLst>
            </a:endParaRPr>
          </a:p>
        </p:txBody>
      </p:sp>
      <p:sp>
        <p:nvSpPr>
          <p:cNvPr id="10" name="TextBox 9"/>
          <p:cNvSpPr txBox="1"/>
          <p:nvPr/>
        </p:nvSpPr>
        <p:spPr>
          <a:xfrm>
            <a:off x="4572000" y="1556792"/>
            <a:ext cx="4176464" cy="338554"/>
          </a:xfrm>
          <a:prstGeom prst="rect">
            <a:avLst/>
          </a:prstGeom>
          <a:noFill/>
        </p:spPr>
        <p:txBody>
          <a:bodyPr wrap="square" rtlCol="0">
            <a:spAutoFit/>
          </a:bodyPr>
          <a:lstStyle/>
          <a:p>
            <a:r>
              <a:rPr lang="en-US" altLang="ko-KR" sz="1600" b="1" spc="-100" dirty="0">
                <a:solidFill>
                  <a:srgbClr val="92D050"/>
                </a:solidFill>
              </a:rPr>
              <a:t>Oasis de millions d'idées créatives – Ville de Séoul</a:t>
            </a:r>
            <a:endParaRPr lang="ko-KR" altLang="en-US" sz="1600" b="1" dirty="0">
              <a:solidFill>
                <a:srgbClr val="92D050"/>
              </a:solidFill>
            </a:endParaRPr>
          </a:p>
        </p:txBody>
      </p:sp>
      <p:sp>
        <p:nvSpPr>
          <p:cNvPr id="11" name="슬라이드 번호 개체 틀 10"/>
          <p:cNvSpPr>
            <a:spLocks noGrp="1"/>
          </p:cNvSpPr>
          <p:nvPr>
            <p:ph type="sldNum" sz="quarter" idx="12"/>
          </p:nvPr>
        </p:nvSpPr>
        <p:spPr/>
        <p:txBody>
          <a:bodyPr/>
          <a:lstStyle/>
          <a:p>
            <a:fld id="{8F563537-3992-4579-A065-26E1D23BF530}" type="slidenum">
              <a:rPr lang="ko-KR" altLang="en-US" smtClean="0"/>
              <a:pPr/>
              <a:t>13</a:t>
            </a:fld>
            <a:endParaRPr lang="ko-KR" altLang="en-US"/>
          </a:p>
        </p:txBody>
      </p:sp>
    </p:spTree>
    <p:extLst>
      <p:ext uri="{BB962C8B-B14F-4D97-AF65-F5344CB8AC3E}">
        <p14:creationId xmlns:p14="http://schemas.microsoft.com/office/powerpoint/2010/main" val="2937505291"/>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제목 4"/>
          <p:cNvSpPr>
            <a:spLocks noGrp="1"/>
          </p:cNvSpPr>
          <p:nvPr>
            <p:ph type="title"/>
          </p:nvPr>
        </p:nvSpPr>
        <p:spPr/>
        <p:txBody>
          <a:bodyPr>
            <a:normAutofit/>
          </a:bodyPr>
          <a:lstStyle/>
          <a:p>
            <a:r>
              <a:rPr lang="en-US" altLang="ko-KR" sz="3200" dirty="0" smtClean="0">
                <a:latin typeface="Tahoma" pitchFamily="34" charset="0"/>
                <a:ea typeface="Tahoma" pitchFamily="34" charset="0"/>
                <a:cs typeface="Tahoma" pitchFamily="34" charset="0"/>
              </a:rPr>
              <a:t>Architecture d'entreprise à l'échelle gouvernementale</a:t>
            </a:r>
            <a:endParaRPr lang="ko-KR" altLang="en-US" sz="3200" dirty="0">
              <a:latin typeface="Tahoma" pitchFamily="34" charset="0"/>
              <a:cs typeface="Tahoma" pitchFamily="34" charset="0"/>
            </a:endParaRPr>
          </a:p>
        </p:txBody>
      </p:sp>
      <p:pic>
        <p:nvPicPr>
          <p:cNvPr id="11" name="내용 개체 틀 10"/>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971600" y="1761708"/>
            <a:ext cx="7223760" cy="4259580"/>
          </a:xfrm>
        </p:spPr>
      </p:pic>
      <p:sp>
        <p:nvSpPr>
          <p:cNvPr id="12" name="TextBox 11"/>
          <p:cNvSpPr txBox="1"/>
          <p:nvPr/>
        </p:nvSpPr>
        <p:spPr>
          <a:xfrm>
            <a:off x="1691680" y="1628800"/>
            <a:ext cx="5760640" cy="707886"/>
          </a:xfrm>
          <a:prstGeom prst="rect">
            <a:avLst/>
          </a:prstGeom>
          <a:noFill/>
        </p:spPr>
        <p:txBody>
          <a:bodyPr wrap="square" rtlCol="0">
            <a:spAutoFit/>
          </a:bodyPr>
          <a:lstStyle/>
          <a:p>
            <a:r>
              <a:rPr lang="en-US" altLang="ko-KR" sz="2000" i="1" dirty="0" smtClean="0"/>
              <a:t>Gouvernance systématique et intégrée </a:t>
            </a:r>
          </a:p>
          <a:p>
            <a:r>
              <a:rPr lang="en-US" altLang="ko-KR" sz="2000" i="1" dirty="0" smtClean="0"/>
              <a:t>de la planification à l'évaluation</a:t>
            </a:r>
            <a:endParaRPr lang="ko-KR" altLang="en-US" sz="2000" i="1" dirty="0"/>
          </a:p>
        </p:txBody>
      </p:sp>
      <p:sp>
        <p:nvSpPr>
          <p:cNvPr id="13" name="슬라이드 번호 개체 틀 12"/>
          <p:cNvSpPr>
            <a:spLocks noGrp="1"/>
          </p:cNvSpPr>
          <p:nvPr>
            <p:ph type="sldNum" sz="quarter" idx="12"/>
          </p:nvPr>
        </p:nvSpPr>
        <p:spPr/>
        <p:txBody>
          <a:bodyPr/>
          <a:lstStyle/>
          <a:p>
            <a:fld id="{8F563537-3992-4579-A065-26E1D23BF530}" type="slidenum">
              <a:rPr lang="ko-KR" altLang="en-US" smtClean="0"/>
              <a:pPr/>
              <a:t>14</a:t>
            </a:fld>
            <a:endParaRPr lang="ko-KR" altLang="en-US"/>
          </a:p>
        </p:txBody>
      </p:sp>
    </p:spTree>
    <p:extLst>
      <p:ext uri="{BB962C8B-B14F-4D97-AF65-F5344CB8AC3E}">
        <p14:creationId xmlns:p14="http://schemas.microsoft.com/office/powerpoint/2010/main" val="195533595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normAutofit/>
          </a:bodyPr>
          <a:lstStyle/>
          <a:p>
            <a:r>
              <a:rPr lang="en-US" altLang="ko-KR" sz="2800" dirty="0" smtClean="0">
                <a:latin typeface="Tahoma" pitchFamily="34" charset="0"/>
                <a:ea typeface="Tahoma" pitchFamily="34" charset="0"/>
                <a:cs typeface="Tahoma" pitchFamily="34" charset="0"/>
              </a:rPr>
              <a:t>Portail d'architecture d'entreprise gouvernementale</a:t>
            </a:r>
            <a:br>
              <a:rPr lang="en-US" altLang="ko-KR" sz="2800" dirty="0" smtClean="0">
                <a:latin typeface="Tahoma" pitchFamily="34" charset="0"/>
                <a:ea typeface="Tahoma" pitchFamily="34" charset="0"/>
                <a:cs typeface="Tahoma" pitchFamily="34" charset="0"/>
              </a:rPr>
            </a:br>
            <a:r>
              <a:rPr lang="en-US" altLang="ko-KR" sz="2800" dirty="0" smtClean="0">
                <a:latin typeface="Tahoma" pitchFamily="34" charset="0"/>
                <a:ea typeface="Tahoma" pitchFamily="34" charset="0"/>
                <a:cs typeface="Tahoma" pitchFamily="34" charset="0"/>
              </a:rPr>
              <a:t>(GEAP)</a:t>
            </a:r>
            <a:endParaRPr lang="ko-KR" altLang="en-US" sz="2800" dirty="0">
              <a:latin typeface="Tahoma" pitchFamily="34" charset="0"/>
              <a:cs typeface="Tahoma" pitchFamily="34" charset="0"/>
            </a:endParaRPr>
          </a:p>
        </p:txBody>
      </p:sp>
      <p:pic>
        <p:nvPicPr>
          <p:cNvPr id="6" name="내용 개체 틀 5"/>
          <p:cNvPicPr>
            <a:picLocks noGrp="1" noChangeAspect="1"/>
          </p:cNvPicPr>
          <p:nvPr>
            <p:ph sz="half" idx="1"/>
          </p:nvPr>
        </p:nvPicPr>
        <p:blipFill>
          <a:blip r:embed="rId3" cstate="print">
            <a:extLst>
              <a:ext uri="{28A0092B-C50C-407E-A947-70E740481C1C}">
                <a14:useLocalDpi xmlns:a14="http://schemas.microsoft.com/office/drawing/2010/main" val="0"/>
              </a:ext>
            </a:extLst>
          </a:blip>
          <a:stretch>
            <a:fillRect/>
          </a:stretch>
        </p:blipFill>
        <p:spPr>
          <a:xfrm>
            <a:off x="539552" y="1897078"/>
            <a:ext cx="4059257" cy="3620154"/>
          </a:xfrm>
        </p:spPr>
      </p:pic>
      <p:pic>
        <p:nvPicPr>
          <p:cNvPr id="7" name="내용 개체 틀 6"/>
          <p:cNvPicPr>
            <a:picLocks noGrp="1" noChangeAspect="1"/>
          </p:cNvPicPr>
          <p:nvPr>
            <p:ph sz="half" idx="2"/>
          </p:nvPr>
        </p:nvPicPr>
        <p:blipFill>
          <a:blip r:embed="rId4" cstate="print">
            <a:extLst>
              <a:ext uri="{28A0092B-C50C-407E-A947-70E740481C1C}">
                <a14:useLocalDpi xmlns:a14="http://schemas.microsoft.com/office/drawing/2010/main" val="0"/>
              </a:ext>
            </a:extLst>
          </a:blip>
          <a:stretch>
            <a:fillRect/>
          </a:stretch>
        </p:blipFill>
        <p:spPr>
          <a:xfrm>
            <a:off x="4716016" y="1410437"/>
            <a:ext cx="3936473" cy="4466835"/>
          </a:xfrm>
        </p:spPr>
      </p:pic>
      <p:sp>
        <p:nvSpPr>
          <p:cNvPr id="8" name="슬라이드 번호 개체 틀 7"/>
          <p:cNvSpPr>
            <a:spLocks noGrp="1"/>
          </p:cNvSpPr>
          <p:nvPr>
            <p:ph type="sldNum" sz="quarter" idx="12"/>
          </p:nvPr>
        </p:nvSpPr>
        <p:spPr/>
        <p:txBody>
          <a:bodyPr/>
          <a:lstStyle/>
          <a:p>
            <a:fld id="{8F563537-3992-4579-A065-26E1D23BF530}" type="slidenum">
              <a:rPr lang="ko-KR" altLang="en-US" smtClean="0"/>
              <a:pPr/>
              <a:t>15</a:t>
            </a:fld>
            <a:endParaRPr lang="ko-KR" altLang="en-US"/>
          </a:p>
        </p:txBody>
      </p:sp>
    </p:spTree>
    <p:extLst>
      <p:ext uri="{BB962C8B-B14F-4D97-AF65-F5344CB8AC3E}">
        <p14:creationId xmlns:p14="http://schemas.microsoft.com/office/powerpoint/2010/main" val="65539410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467544" y="332656"/>
            <a:ext cx="8229600" cy="1143000"/>
          </a:xfrm>
        </p:spPr>
        <p:txBody>
          <a:bodyPr>
            <a:normAutofit fontScale="90000"/>
          </a:bodyPr>
          <a:lstStyle/>
          <a:p>
            <a:r>
              <a:rPr lang="en-US" altLang="ko-KR" sz="3600" dirty="0" smtClean="0">
                <a:latin typeface="Tahoma" pitchFamily="34" charset="0"/>
                <a:ea typeface="Tahoma" pitchFamily="34" charset="0"/>
                <a:cs typeface="Tahoma" pitchFamily="34" charset="0"/>
              </a:rPr>
              <a:t>Collaboration et intégration </a:t>
            </a:r>
            <a:br>
              <a:rPr lang="en-US" altLang="ko-KR" sz="3600" dirty="0" smtClean="0">
                <a:latin typeface="Tahoma" pitchFamily="34" charset="0"/>
                <a:ea typeface="Tahoma" pitchFamily="34" charset="0"/>
                <a:cs typeface="Tahoma" pitchFamily="34" charset="0"/>
              </a:rPr>
            </a:br>
            <a:r>
              <a:rPr lang="en-US" altLang="ko-KR" sz="3600" dirty="0" smtClean="0">
                <a:latin typeface="Tahoma" pitchFamily="34" charset="0"/>
                <a:ea typeface="Tahoma" pitchFamily="34" charset="0"/>
                <a:cs typeface="Tahoma" pitchFamily="34" charset="0"/>
              </a:rPr>
              <a:t>des services gouvernementaux via GEA</a:t>
            </a:r>
            <a:endParaRPr lang="ko-KR" altLang="en-US" sz="3600" dirty="0">
              <a:latin typeface="Tahoma" pitchFamily="34" charset="0"/>
              <a:cs typeface="Tahoma" pitchFamily="34" charset="0"/>
            </a:endParaRPr>
          </a:p>
        </p:txBody>
      </p:sp>
      <p:pic>
        <p:nvPicPr>
          <p:cNvPr id="5" name="내용 개체 틀 4"/>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539552" y="1697510"/>
            <a:ext cx="8183247" cy="4185324"/>
          </a:xfrm>
        </p:spPr>
      </p:pic>
      <p:sp>
        <p:nvSpPr>
          <p:cNvPr id="6" name="슬라이드 번호 개체 틀 5"/>
          <p:cNvSpPr>
            <a:spLocks noGrp="1"/>
          </p:cNvSpPr>
          <p:nvPr>
            <p:ph type="sldNum" sz="quarter" idx="12"/>
          </p:nvPr>
        </p:nvSpPr>
        <p:spPr/>
        <p:txBody>
          <a:bodyPr/>
          <a:lstStyle/>
          <a:p>
            <a:fld id="{8F563537-3992-4579-A065-26E1D23BF530}" type="slidenum">
              <a:rPr lang="ko-KR" altLang="en-US" smtClean="0"/>
              <a:pPr/>
              <a:t>16</a:t>
            </a:fld>
            <a:endParaRPr lang="ko-KR" altLang="en-US"/>
          </a:p>
        </p:txBody>
      </p:sp>
    </p:spTree>
    <p:extLst>
      <p:ext uri="{BB962C8B-B14F-4D97-AF65-F5344CB8AC3E}">
        <p14:creationId xmlns:p14="http://schemas.microsoft.com/office/powerpoint/2010/main" val="291030519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모서리가 둥근 직사각형 285"/>
          <p:cNvSpPr/>
          <p:nvPr/>
        </p:nvSpPr>
        <p:spPr>
          <a:xfrm>
            <a:off x="323528" y="4128560"/>
            <a:ext cx="8496944" cy="2304256"/>
          </a:xfrm>
          <a:prstGeom prst="roundRect">
            <a:avLst>
              <a:gd name="adj" fmla="val 9524"/>
            </a:avLst>
          </a:prstGeom>
          <a:ln>
            <a:solidFill>
              <a:schemeClr val="accent1">
                <a:lumMod val="20000"/>
                <a:lumOff val="8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r"/>
            <a:endParaRPr lang="ko-KR" altLang="en-US" dirty="0">
              <a:latin typeface="Arial" pitchFamily="34" charset="0"/>
              <a:cs typeface="Arial" pitchFamily="34" charset="0"/>
            </a:endParaRPr>
          </a:p>
        </p:txBody>
      </p:sp>
      <p:sp>
        <p:nvSpPr>
          <p:cNvPr id="393" name="모서리가 둥근 직사각형 392"/>
          <p:cNvSpPr/>
          <p:nvPr/>
        </p:nvSpPr>
        <p:spPr>
          <a:xfrm>
            <a:off x="412400" y="4498615"/>
            <a:ext cx="2771126" cy="1766547"/>
          </a:xfrm>
          <a:prstGeom prst="round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sp>
        <p:nvSpPr>
          <p:cNvPr id="394" name="모서리가 둥근 직사각형 393"/>
          <p:cNvSpPr/>
          <p:nvPr/>
        </p:nvSpPr>
        <p:spPr>
          <a:xfrm>
            <a:off x="3204547" y="4498615"/>
            <a:ext cx="2771126" cy="1766547"/>
          </a:xfrm>
          <a:prstGeom prst="round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sp>
        <p:nvSpPr>
          <p:cNvPr id="395" name="모서리가 둥근 직사각형 394"/>
          <p:cNvSpPr/>
          <p:nvPr/>
        </p:nvSpPr>
        <p:spPr>
          <a:xfrm>
            <a:off x="5996693" y="4498615"/>
            <a:ext cx="2771126" cy="1766547"/>
          </a:xfrm>
          <a:prstGeom prst="round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grpSp>
        <p:nvGrpSpPr>
          <p:cNvPr id="396" name="그룹 6"/>
          <p:cNvGrpSpPr/>
          <p:nvPr/>
        </p:nvGrpSpPr>
        <p:grpSpPr>
          <a:xfrm>
            <a:off x="323528" y="2608771"/>
            <a:ext cx="8496944" cy="1187459"/>
            <a:chOff x="755576" y="2413267"/>
            <a:chExt cx="7632848" cy="1187459"/>
          </a:xfrm>
        </p:grpSpPr>
        <p:sp>
          <p:nvSpPr>
            <p:cNvPr id="397" name="모서리가 둥근 직사각형 396"/>
            <p:cNvSpPr/>
            <p:nvPr/>
          </p:nvSpPr>
          <p:spPr>
            <a:xfrm>
              <a:off x="755576" y="2413267"/>
              <a:ext cx="7632848" cy="1187459"/>
            </a:xfrm>
            <a:prstGeom prst="roundRect">
              <a:avLst/>
            </a:prstGeom>
            <a:ln>
              <a:solidFill>
                <a:schemeClr val="accent1">
                  <a:lumMod val="20000"/>
                  <a:lumOff val="8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ko-KR" altLang="en-US" dirty="0">
                <a:latin typeface="Arial" pitchFamily="34" charset="0"/>
                <a:cs typeface="Arial" pitchFamily="34" charset="0"/>
              </a:endParaRPr>
            </a:p>
          </p:txBody>
        </p:sp>
        <p:sp>
          <p:nvSpPr>
            <p:cNvPr id="398" name="모서리가 둥근 직사각형 397"/>
            <p:cNvSpPr/>
            <p:nvPr/>
          </p:nvSpPr>
          <p:spPr>
            <a:xfrm>
              <a:off x="835410" y="2803788"/>
              <a:ext cx="1488576" cy="737084"/>
            </a:xfrm>
            <a:prstGeom prst="round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sp>
          <p:nvSpPr>
            <p:cNvPr id="399" name="모서리가 둥근 직사각형 398"/>
            <p:cNvSpPr/>
            <p:nvPr/>
          </p:nvSpPr>
          <p:spPr>
            <a:xfrm>
              <a:off x="2339695" y="2803788"/>
              <a:ext cx="1488576" cy="737084"/>
            </a:xfrm>
            <a:prstGeom prst="round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sp>
          <p:nvSpPr>
            <p:cNvPr id="400" name="모서리가 둥근 직사각형 399"/>
            <p:cNvSpPr/>
            <p:nvPr/>
          </p:nvSpPr>
          <p:spPr>
            <a:xfrm>
              <a:off x="3843980" y="2803788"/>
              <a:ext cx="1488576" cy="737084"/>
            </a:xfrm>
            <a:prstGeom prst="round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sp>
          <p:nvSpPr>
            <p:cNvPr id="401" name="모서리가 둥근 직사각형 400"/>
            <p:cNvSpPr/>
            <p:nvPr/>
          </p:nvSpPr>
          <p:spPr>
            <a:xfrm>
              <a:off x="5348265" y="2803788"/>
              <a:ext cx="1488576" cy="737084"/>
            </a:xfrm>
            <a:prstGeom prst="round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sp>
          <p:nvSpPr>
            <p:cNvPr id="402" name="모서리가 둥근 직사각형 401"/>
            <p:cNvSpPr/>
            <p:nvPr/>
          </p:nvSpPr>
          <p:spPr>
            <a:xfrm>
              <a:off x="6852550" y="2803788"/>
              <a:ext cx="1488576" cy="737084"/>
            </a:xfrm>
            <a:prstGeom prst="round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grpSp>
      <p:grpSp>
        <p:nvGrpSpPr>
          <p:cNvPr id="403" name="그룹 402"/>
          <p:cNvGrpSpPr/>
          <p:nvPr/>
        </p:nvGrpSpPr>
        <p:grpSpPr>
          <a:xfrm>
            <a:off x="323528" y="1052736"/>
            <a:ext cx="8496944" cy="1203343"/>
            <a:chOff x="755576" y="1124957"/>
            <a:chExt cx="7632848" cy="935618"/>
          </a:xfrm>
        </p:grpSpPr>
        <p:sp>
          <p:nvSpPr>
            <p:cNvPr id="404" name="모서리가 둥근 직사각형 403"/>
            <p:cNvSpPr/>
            <p:nvPr/>
          </p:nvSpPr>
          <p:spPr>
            <a:xfrm>
              <a:off x="755576" y="1124957"/>
              <a:ext cx="7632848" cy="935618"/>
            </a:xfrm>
            <a:prstGeom prst="roundRect">
              <a:avLst/>
            </a:prstGeom>
            <a:ln>
              <a:solidFill>
                <a:schemeClr val="accent1">
                  <a:lumMod val="20000"/>
                  <a:lumOff val="8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ko-KR" altLang="en-US" dirty="0">
                <a:latin typeface="Arial" pitchFamily="34" charset="0"/>
                <a:cs typeface="Arial" pitchFamily="34" charset="0"/>
              </a:endParaRPr>
            </a:p>
          </p:txBody>
        </p:sp>
        <p:sp>
          <p:nvSpPr>
            <p:cNvPr id="405" name="모서리가 둥근 직사각형 404"/>
            <p:cNvSpPr/>
            <p:nvPr/>
          </p:nvSpPr>
          <p:spPr>
            <a:xfrm>
              <a:off x="802874" y="1402678"/>
              <a:ext cx="7538252" cy="610693"/>
            </a:xfrm>
            <a:prstGeom prst="roundRect">
              <a:avLst>
                <a:gd name="adj" fmla="val 30475"/>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grpSp>
      <p:sp>
        <p:nvSpPr>
          <p:cNvPr id="406" name="L 도형 7"/>
          <p:cNvSpPr/>
          <p:nvPr/>
        </p:nvSpPr>
        <p:spPr>
          <a:xfrm rot="8100000">
            <a:off x="4359362" y="2386877"/>
            <a:ext cx="425276" cy="425277"/>
          </a:xfrm>
          <a:custGeom>
            <a:avLst/>
            <a:gdLst>
              <a:gd name="connsiteX0" fmla="*/ 0 w 1152128"/>
              <a:gd name="connsiteY0" fmla="*/ 0 h 1152128"/>
              <a:gd name="connsiteX1" fmla="*/ 576064 w 1152128"/>
              <a:gd name="connsiteY1" fmla="*/ 0 h 1152128"/>
              <a:gd name="connsiteX2" fmla="*/ 576064 w 1152128"/>
              <a:gd name="connsiteY2" fmla="*/ 576064 h 1152128"/>
              <a:gd name="connsiteX3" fmla="*/ 1152128 w 1152128"/>
              <a:gd name="connsiteY3" fmla="*/ 576064 h 1152128"/>
              <a:gd name="connsiteX4" fmla="*/ 1152128 w 1152128"/>
              <a:gd name="connsiteY4" fmla="*/ 1152128 h 1152128"/>
              <a:gd name="connsiteX5" fmla="*/ 0 w 1152128"/>
              <a:gd name="connsiteY5" fmla="*/ 1152128 h 1152128"/>
              <a:gd name="connsiteX6" fmla="*/ 0 w 1152128"/>
              <a:gd name="connsiteY6" fmla="*/ 0 h 1152128"/>
              <a:gd name="connsiteX0" fmla="*/ 0 w 1152128"/>
              <a:gd name="connsiteY0" fmla="*/ 0 h 1152128"/>
              <a:gd name="connsiteX1" fmla="*/ 576064 w 1152128"/>
              <a:gd name="connsiteY1" fmla="*/ 576064 h 1152128"/>
              <a:gd name="connsiteX2" fmla="*/ 1152128 w 1152128"/>
              <a:gd name="connsiteY2" fmla="*/ 576064 h 1152128"/>
              <a:gd name="connsiteX3" fmla="*/ 1152128 w 1152128"/>
              <a:gd name="connsiteY3" fmla="*/ 1152128 h 1152128"/>
              <a:gd name="connsiteX4" fmla="*/ 0 w 1152128"/>
              <a:gd name="connsiteY4" fmla="*/ 1152128 h 1152128"/>
              <a:gd name="connsiteX5" fmla="*/ 0 w 1152128"/>
              <a:gd name="connsiteY5" fmla="*/ 0 h 1152128"/>
              <a:gd name="connsiteX0" fmla="*/ 0 w 1152128"/>
              <a:gd name="connsiteY0" fmla="*/ 0 h 1152128"/>
              <a:gd name="connsiteX1" fmla="*/ 576064 w 1152128"/>
              <a:gd name="connsiteY1" fmla="*/ 576064 h 1152128"/>
              <a:gd name="connsiteX2" fmla="*/ 1152128 w 1152128"/>
              <a:gd name="connsiteY2" fmla="*/ 1152128 h 1152128"/>
              <a:gd name="connsiteX3" fmla="*/ 0 w 1152128"/>
              <a:gd name="connsiteY3" fmla="*/ 1152128 h 1152128"/>
              <a:gd name="connsiteX4" fmla="*/ 0 w 1152128"/>
              <a:gd name="connsiteY4" fmla="*/ 0 h 1152128"/>
              <a:gd name="connsiteX0" fmla="*/ 0 w 1152128"/>
              <a:gd name="connsiteY0" fmla="*/ 0 h 1152128"/>
              <a:gd name="connsiteX1" fmla="*/ 326032 w 1152128"/>
              <a:gd name="connsiteY1" fmla="*/ 807046 h 1152128"/>
              <a:gd name="connsiteX2" fmla="*/ 1152128 w 1152128"/>
              <a:gd name="connsiteY2" fmla="*/ 1152128 h 1152128"/>
              <a:gd name="connsiteX3" fmla="*/ 0 w 1152128"/>
              <a:gd name="connsiteY3" fmla="*/ 1152128 h 1152128"/>
              <a:gd name="connsiteX4" fmla="*/ 0 w 1152128"/>
              <a:gd name="connsiteY4" fmla="*/ 0 h 1152128"/>
              <a:gd name="connsiteX0" fmla="*/ 0 w 1152128"/>
              <a:gd name="connsiteY0" fmla="*/ 0 h 1152128"/>
              <a:gd name="connsiteX1" fmla="*/ 337819 w 1152128"/>
              <a:gd name="connsiteY1" fmla="*/ 822200 h 1152128"/>
              <a:gd name="connsiteX2" fmla="*/ 1152128 w 1152128"/>
              <a:gd name="connsiteY2" fmla="*/ 1152128 h 1152128"/>
              <a:gd name="connsiteX3" fmla="*/ 0 w 1152128"/>
              <a:gd name="connsiteY3" fmla="*/ 1152128 h 1152128"/>
              <a:gd name="connsiteX4" fmla="*/ 0 w 1152128"/>
              <a:gd name="connsiteY4" fmla="*/ 0 h 1152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2128" h="1152128">
                <a:moveTo>
                  <a:pt x="0" y="0"/>
                </a:moveTo>
                <a:lnTo>
                  <a:pt x="337819" y="822200"/>
                </a:lnTo>
                <a:lnTo>
                  <a:pt x="1152128" y="1152128"/>
                </a:lnTo>
                <a:lnTo>
                  <a:pt x="0" y="1152128"/>
                </a:lnTo>
                <a:lnTo>
                  <a:pt x="0" y="0"/>
                </a:lnTo>
                <a:close/>
              </a:path>
            </a:pathLst>
          </a:cu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ko-KR" altLang="en-US" dirty="0">
              <a:latin typeface="Arial" pitchFamily="34" charset="0"/>
              <a:cs typeface="Arial" pitchFamily="34" charset="0"/>
            </a:endParaRPr>
          </a:p>
        </p:txBody>
      </p:sp>
      <p:sp>
        <p:nvSpPr>
          <p:cNvPr id="407" name="L 도형 7"/>
          <p:cNvSpPr/>
          <p:nvPr/>
        </p:nvSpPr>
        <p:spPr>
          <a:xfrm rot="8100000">
            <a:off x="4359362" y="3903237"/>
            <a:ext cx="425276" cy="425277"/>
          </a:xfrm>
          <a:custGeom>
            <a:avLst/>
            <a:gdLst>
              <a:gd name="connsiteX0" fmla="*/ 0 w 1152128"/>
              <a:gd name="connsiteY0" fmla="*/ 0 h 1152128"/>
              <a:gd name="connsiteX1" fmla="*/ 576064 w 1152128"/>
              <a:gd name="connsiteY1" fmla="*/ 0 h 1152128"/>
              <a:gd name="connsiteX2" fmla="*/ 576064 w 1152128"/>
              <a:gd name="connsiteY2" fmla="*/ 576064 h 1152128"/>
              <a:gd name="connsiteX3" fmla="*/ 1152128 w 1152128"/>
              <a:gd name="connsiteY3" fmla="*/ 576064 h 1152128"/>
              <a:gd name="connsiteX4" fmla="*/ 1152128 w 1152128"/>
              <a:gd name="connsiteY4" fmla="*/ 1152128 h 1152128"/>
              <a:gd name="connsiteX5" fmla="*/ 0 w 1152128"/>
              <a:gd name="connsiteY5" fmla="*/ 1152128 h 1152128"/>
              <a:gd name="connsiteX6" fmla="*/ 0 w 1152128"/>
              <a:gd name="connsiteY6" fmla="*/ 0 h 1152128"/>
              <a:gd name="connsiteX0" fmla="*/ 0 w 1152128"/>
              <a:gd name="connsiteY0" fmla="*/ 0 h 1152128"/>
              <a:gd name="connsiteX1" fmla="*/ 576064 w 1152128"/>
              <a:gd name="connsiteY1" fmla="*/ 576064 h 1152128"/>
              <a:gd name="connsiteX2" fmla="*/ 1152128 w 1152128"/>
              <a:gd name="connsiteY2" fmla="*/ 576064 h 1152128"/>
              <a:gd name="connsiteX3" fmla="*/ 1152128 w 1152128"/>
              <a:gd name="connsiteY3" fmla="*/ 1152128 h 1152128"/>
              <a:gd name="connsiteX4" fmla="*/ 0 w 1152128"/>
              <a:gd name="connsiteY4" fmla="*/ 1152128 h 1152128"/>
              <a:gd name="connsiteX5" fmla="*/ 0 w 1152128"/>
              <a:gd name="connsiteY5" fmla="*/ 0 h 1152128"/>
              <a:gd name="connsiteX0" fmla="*/ 0 w 1152128"/>
              <a:gd name="connsiteY0" fmla="*/ 0 h 1152128"/>
              <a:gd name="connsiteX1" fmla="*/ 576064 w 1152128"/>
              <a:gd name="connsiteY1" fmla="*/ 576064 h 1152128"/>
              <a:gd name="connsiteX2" fmla="*/ 1152128 w 1152128"/>
              <a:gd name="connsiteY2" fmla="*/ 1152128 h 1152128"/>
              <a:gd name="connsiteX3" fmla="*/ 0 w 1152128"/>
              <a:gd name="connsiteY3" fmla="*/ 1152128 h 1152128"/>
              <a:gd name="connsiteX4" fmla="*/ 0 w 1152128"/>
              <a:gd name="connsiteY4" fmla="*/ 0 h 1152128"/>
              <a:gd name="connsiteX0" fmla="*/ 0 w 1152128"/>
              <a:gd name="connsiteY0" fmla="*/ 0 h 1152128"/>
              <a:gd name="connsiteX1" fmla="*/ 326032 w 1152128"/>
              <a:gd name="connsiteY1" fmla="*/ 807046 h 1152128"/>
              <a:gd name="connsiteX2" fmla="*/ 1152128 w 1152128"/>
              <a:gd name="connsiteY2" fmla="*/ 1152128 h 1152128"/>
              <a:gd name="connsiteX3" fmla="*/ 0 w 1152128"/>
              <a:gd name="connsiteY3" fmla="*/ 1152128 h 1152128"/>
              <a:gd name="connsiteX4" fmla="*/ 0 w 1152128"/>
              <a:gd name="connsiteY4" fmla="*/ 0 h 1152128"/>
              <a:gd name="connsiteX0" fmla="*/ 0 w 1152128"/>
              <a:gd name="connsiteY0" fmla="*/ 0 h 1152128"/>
              <a:gd name="connsiteX1" fmla="*/ 337819 w 1152128"/>
              <a:gd name="connsiteY1" fmla="*/ 822200 h 1152128"/>
              <a:gd name="connsiteX2" fmla="*/ 1152128 w 1152128"/>
              <a:gd name="connsiteY2" fmla="*/ 1152128 h 1152128"/>
              <a:gd name="connsiteX3" fmla="*/ 0 w 1152128"/>
              <a:gd name="connsiteY3" fmla="*/ 1152128 h 1152128"/>
              <a:gd name="connsiteX4" fmla="*/ 0 w 1152128"/>
              <a:gd name="connsiteY4" fmla="*/ 0 h 1152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2128" h="1152128">
                <a:moveTo>
                  <a:pt x="0" y="0"/>
                </a:moveTo>
                <a:lnTo>
                  <a:pt x="337819" y="822200"/>
                </a:lnTo>
                <a:lnTo>
                  <a:pt x="1152128" y="1152128"/>
                </a:lnTo>
                <a:lnTo>
                  <a:pt x="0" y="1152128"/>
                </a:lnTo>
                <a:lnTo>
                  <a:pt x="0" y="0"/>
                </a:lnTo>
                <a:close/>
              </a:path>
            </a:pathLst>
          </a:cu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ko-KR" altLang="en-US" dirty="0">
              <a:latin typeface="Arial" pitchFamily="34" charset="0"/>
              <a:cs typeface="Arial" pitchFamily="34" charset="0"/>
            </a:endParaRPr>
          </a:p>
        </p:txBody>
      </p:sp>
      <p:sp>
        <p:nvSpPr>
          <p:cNvPr id="408" name="TextBox 407"/>
          <p:cNvSpPr txBox="1"/>
          <p:nvPr/>
        </p:nvSpPr>
        <p:spPr>
          <a:xfrm>
            <a:off x="4082924" y="1052736"/>
            <a:ext cx="949491" cy="400110"/>
          </a:xfrm>
          <a:prstGeom prst="rect">
            <a:avLst/>
          </a:prstGeom>
          <a:noFill/>
        </p:spPr>
        <p:txBody>
          <a:bodyPr wrap="none" rtlCol="0">
            <a:spAutoFit/>
          </a:bodyPr>
          <a:lstStyle/>
          <a:p>
            <a:r>
              <a:rPr lang="en-US" altLang="ko-KR" sz="2000" b="1" dirty="0" smtClean="0">
                <a:ln w="1905"/>
                <a:solidFill>
                  <a:srgbClr val="002060"/>
                </a:solidFill>
                <a:effectLst>
                  <a:innerShdw blurRad="69850" dist="43180" dir="5400000">
                    <a:srgbClr val="000000">
                      <a:alpha val="65000"/>
                    </a:srgbClr>
                  </a:innerShdw>
                </a:effectLst>
                <a:latin typeface="Arial" pitchFamily="34" charset="0"/>
                <a:cs typeface="Arial" pitchFamily="34" charset="0"/>
              </a:rPr>
              <a:t>Vision</a:t>
            </a:r>
            <a:endParaRPr lang="ko-KR" altLang="en-US" sz="2000" b="1" dirty="0">
              <a:ln w="1905"/>
              <a:solidFill>
                <a:srgbClr val="002060"/>
              </a:solidFill>
              <a:effectLst>
                <a:innerShdw blurRad="69850" dist="43180" dir="5400000">
                  <a:srgbClr val="000000">
                    <a:alpha val="65000"/>
                  </a:srgbClr>
                </a:innerShdw>
              </a:effectLst>
              <a:latin typeface="Arial" pitchFamily="34" charset="0"/>
              <a:cs typeface="Arial" pitchFamily="34" charset="0"/>
            </a:endParaRPr>
          </a:p>
        </p:txBody>
      </p:sp>
      <p:sp>
        <p:nvSpPr>
          <p:cNvPr id="409" name="TextBox 408"/>
          <p:cNvSpPr txBox="1"/>
          <p:nvPr/>
        </p:nvSpPr>
        <p:spPr>
          <a:xfrm>
            <a:off x="3912653" y="2608953"/>
            <a:ext cx="1479892" cy="400110"/>
          </a:xfrm>
          <a:prstGeom prst="rect">
            <a:avLst/>
          </a:prstGeom>
          <a:noFill/>
        </p:spPr>
        <p:txBody>
          <a:bodyPr wrap="none" rtlCol="0">
            <a:spAutoFit/>
          </a:bodyPr>
          <a:lstStyle/>
          <a:p>
            <a:r>
              <a:rPr lang="en-US" altLang="ko-KR" sz="2000" b="1" dirty="0" smtClean="0">
                <a:ln w="1905"/>
                <a:solidFill>
                  <a:srgbClr val="002060"/>
                </a:solidFill>
                <a:effectLst>
                  <a:innerShdw blurRad="69850" dist="43180" dir="5400000">
                    <a:srgbClr val="000000">
                      <a:alpha val="65000"/>
                    </a:srgbClr>
                  </a:innerShdw>
                </a:effectLst>
                <a:latin typeface="Arial" pitchFamily="34" charset="0"/>
                <a:cs typeface="Arial" pitchFamily="34" charset="0"/>
              </a:rPr>
              <a:t>Objectifs</a:t>
            </a:r>
            <a:endParaRPr lang="ko-KR" altLang="en-US" sz="2000" b="1" dirty="0">
              <a:ln w="1905"/>
              <a:solidFill>
                <a:srgbClr val="002060"/>
              </a:solidFill>
              <a:effectLst>
                <a:innerShdw blurRad="69850" dist="43180" dir="5400000">
                  <a:srgbClr val="000000">
                    <a:alpha val="65000"/>
                  </a:srgbClr>
                </a:innerShdw>
              </a:effectLst>
              <a:latin typeface="Arial" pitchFamily="34" charset="0"/>
              <a:cs typeface="Arial" pitchFamily="34" charset="0"/>
            </a:endParaRPr>
          </a:p>
        </p:txBody>
      </p:sp>
      <p:sp>
        <p:nvSpPr>
          <p:cNvPr id="410" name="TextBox 409"/>
          <p:cNvSpPr txBox="1"/>
          <p:nvPr/>
        </p:nvSpPr>
        <p:spPr>
          <a:xfrm>
            <a:off x="3937563" y="4128560"/>
            <a:ext cx="1295547" cy="400110"/>
          </a:xfrm>
          <a:prstGeom prst="rect">
            <a:avLst/>
          </a:prstGeom>
          <a:noFill/>
        </p:spPr>
        <p:txBody>
          <a:bodyPr wrap="none" rtlCol="0">
            <a:spAutoFit/>
          </a:bodyPr>
          <a:lstStyle/>
          <a:p>
            <a:r>
              <a:rPr lang="en-US" altLang="ko-KR" sz="2000" b="1" dirty="0" smtClean="0">
                <a:ln w="1905"/>
                <a:solidFill>
                  <a:srgbClr val="002060"/>
                </a:solidFill>
                <a:effectLst>
                  <a:innerShdw blurRad="69850" dist="43180" dir="5400000">
                    <a:srgbClr val="000000">
                      <a:alpha val="65000"/>
                    </a:srgbClr>
                  </a:innerShdw>
                </a:effectLst>
                <a:latin typeface="Arial" pitchFamily="34" charset="0"/>
                <a:cs typeface="Arial" pitchFamily="34" charset="0"/>
              </a:rPr>
              <a:t>Orientation</a:t>
            </a:r>
            <a:endParaRPr lang="ko-KR" altLang="en-US" sz="2000" b="1" dirty="0">
              <a:ln w="1905"/>
              <a:solidFill>
                <a:srgbClr val="002060"/>
              </a:solidFill>
              <a:effectLst>
                <a:innerShdw blurRad="69850" dist="43180" dir="5400000">
                  <a:srgbClr val="000000">
                    <a:alpha val="65000"/>
                  </a:srgbClr>
                </a:innerShdw>
              </a:effectLst>
              <a:latin typeface="Arial" pitchFamily="34" charset="0"/>
              <a:cs typeface="Arial" pitchFamily="34" charset="0"/>
            </a:endParaRPr>
          </a:p>
        </p:txBody>
      </p:sp>
      <p:sp>
        <p:nvSpPr>
          <p:cNvPr id="411" name="직사각형 410"/>
          <p:cNvSpPr/>
          <p:nvPr/>
        </p:nvSpPr>
        <p:spPr>
          <a:xfrm>
            <a:off x="1157264" y="1476458"/>
            <a:ext cx="6815962" cy="707886"/>
          </a:xfrm>
          <a:prstGeom prst="rect">
            <a:avLst/>
          </a:prstGeom>
        </p:spPr>
        <p:txBody>
          <a:bodyPr wrap="square">
            <a:spAutoFit/>
          </a:bodyPr>
          <a:lstStyle/>
          <a:p>
            <a:pPr algn="ctr"/>
            <a:r>
              <a:rPr lang="en-US" altLang="ko-KR" sz="2000" b="1" dirty="0" smtClean="0">
                <a:latin typeface="Arial" pitchFamily="34" charset="0"/>
                <a:cs typeface="Arial" pitchFamily="34" charset="0"/>
              </a:rPr>
              <a:t>Améliorer </a:t>
            </a:r>
            <a:r>
              <a:rPr lang="en-US" altLang="ko-KR" sz="2000" b="1" dirty="0" smtClean="0">
                <a:solidFill>
                  <a:srgbClr val="002060"/>
                </a:solidFill>
                <a:latin typeface="Arial" pitchFamily="34" charset="0"/>
                <a:cs typeface="Arial" pitchFamily="34" charset="0"/>
              </a:rPr>
              <a:t>la qualité des services de gouvernement électronique </a:t>
            </a:r>
          </a:p>
          <a:p>
            <a:pPr algn="ctr"/>
            <a:r>
              <a:rPr lang="en-US" altLang="ko-KR" sz="2000" b="1" dirty="0" smtClean="0">
                <a:solidFill>
                  <a:srgbClr val="002060"/>
                </a:solidFill>
                <a:latin typeface="Arial" pitchFamily="34" charset="0"/>
                <a:cs typeface="Arial" pitchFamily="34" charset="0"/>
              </a:rPr>
              <a:t> et l'efficience des investissements TIC</a:t>
            </a:r>
            <a:endParaRPr lang="en-US" altLang="ko-KR" sz="2000" b="1" dirty="0">
              <a:solidFill>
                <a:srgbClr val="002060"/>
              </a:solidFill>
              <a:latin typeface="Arial" pitchFamily="34" charset="0"/>
              <a:cs typeface="Arial" pitchFamily="34" charset="0"/>
            </a:endParaRPr>
          </a:p>
        </p:txBody>
      </p:sp>
      <p:sp>
        <p:nvSpPr>
          <p:cNvPr id="412" name="직사각형 411"/>
          <p:cNvSpPr/>
          <p:nvPr/>
        </p:nvSpPr>
        <p:spPr>
          <a:xfrm>
            <a:off x="7021179" y="3061176"/>
            <a:ext cx="1871302" cy="584775"/>
          </a:xfrm>
          <a:prstGeom prst="rect">
            <a:avLst/>
          </a:prstGeom>
        </p:spPr>
        <p:txBody>
          <a:bodyPr wrap="square">
            <a:spAutoFit/>
          </a:bodyPr>
          <a:lstStyle/>
          <a:p>
            <a:pPr lvl="0" algn="ctr"/>
            <a:r>
              <a:rPr lang="en-US" altLang="ko-KR" sz="1600" b="1" dirty="0" smtClean="0">
                <a:solidFill>
                  <a:srgbClr val="336600"/>
                </a:solidFill>
                <a:latin typeface="Arial" pitchFamily="34" charset="0"/>
                <a:cs typeface="Arial" pitchFamily="34" charset="0"/>
              </a:rPr>
              <a:t>Renforcer la </a:t>
            </a:r>
            <a:r>
              <a:rPr lang="en-US" altLang="ko-KR" sz="1600" b="1" dirty="0">
                <a:solidFill>
                  <a:srgbClr val="336600"/>
                </a:solidFill>
                <a:latin typeface="Arial" pitchFamily="34" charset="0"/>
                <a:cs typeface="Arial" pitchFamily="34" charset="0"/>
              </a:rPr>
              <a:t>compétitivité des PME</a:t>
            </a:r>
          </a:p>
        </p:txBody>
      </p:sp>
      <p:sp>
        <p:nvSpPr>
          <p:cNvPr id="413" name="직사각형 412"/>
          <p:cNvSpPr/>
          <p:nvPr/>
        </p:nvSpPr>
        <p:spPr>
          <a:xfrm>
            <a:off x="5383542" y="3061176"/>
            <a:ext cx="1762298" cy="584775"/>
          </a:xfrm>
          <a:prstGeom prst="rect">
            <a:avLst/>
          </a:prstGeom>
        </p:spPr>
        <p:txBody>
          <a:bodyPr wrap="square">
            <a:spAutoFit/>
          </a:bodyPr>
          <a:lstStyle/>
          <a:p>
            <a:pPr lvl="0" algn="ctr"/>
            <a:r>
              <a:rPr lang="en-US" altLang="ko-KR" sz="1600" b="1" dirty="0" smtClean="0">
                <a:solidFill>
                  <a:srgbClr val="336600"/>
                </a:solidFill>
                <a:latin typeface="Arial" pitchFamily="34" charset="0"/>
                <a:cs typeface="Arial" pitchFamily="34" charset="0"/>
              </a:rPr>
              <a:t>Supprimer la dépendance aux fournisseurs</a:t>
            </a:r>
            <a:endParaRPr lang="en-US" altLang="ko-KR" sz="1600" b="1" dirty="0">
              <a:solidFill>
                <a:srgbClr val="336600"/>
              </a:solidFill>
              <a:latin typeface="Arial" pitchFamily="34" charset="0"/>
              <a:cs typeface="Arial" pitchFamily="34" charset="0"/>
            </a:endParaRPr>
          </a:p>
        </p:txBody>
      </p:sp>
      <p:sp>
        <p:nvSpPr>
          <p:cNvPr id="414" name="직사각형 413"/>
          <p:cNvSpPr/>
          <p:nvPr/>
        </p:nvSpPr>
        <p:spPr>
          <a:xfrm>
            <a:off x="3818623" y="3061176"/>
            <a:ext cx="1497316" cy="584775"/>
          </a:xfrm>
          <a:prstGeom prst="rect">
            <a:avLst/>
          </a:prstGeom>
        </p:spPr>
        <p:txBody>
          <a:bodyPr wrap="square">
            <a:spAutoFit/>
          </a:bodyPr>
          <a:lstStyle/>
          <a:p>
            <a:pPr lvl="0" algn="ctr"/>
            <a:r>
              <a:rPr lang="en-US" altLang="ko-KR" sz="1600" b="1" dirty="0" smtClean="0">
                <a:solidFill>
                  <a:srgbClr val="336600"/>
                </a:solidFill>
                <a:latin typeface="Arial" pitchFamily="34" charset="0"/>
                <a:cs typeface="Arial" pitchFamily="34" charset="0"/>
              </a:rPr>
              <a:t>Tendances TIC</a:t>
            </a:r>
            <a:endParaRPr lang="en-US" altLang="ko-KR" sz="1600" b="1" dirty="0">
              <a:solidFill>
                <a:srgbClr val="336600"/>
              </a:solidFill>
              <a:latin typeface="Arial" pitchFamily="34" charset="0"/>
              <a:cs typeface="Arial" pitchFamily="34" charset="0"/>
            </a:endParaRPr>
          </a:p>
          <a:p>
            <a:pPr lvl="0" algn="ctr"/>
            <a:r>
              <a:rPr lang="en-US" altLang="ko-KR" sz="1600" b="1" dirty="0">
                <a:solidFill>
                  <a:srgbClr val="336600"/>
                </a:solidFill>
                <a:latin typeface="Arial" pitchFamily="34" charset="0"/>
                <a:cs typeface="Arial" pitchFamily="34" charset="0"/>
              </a:rPr>
              <a:t>Tendances </a:t>
            </a:r>
            <a:r>
              <a:rPr lang="en-US" altLang="ko-KR" sz="1600" b="1" dirty="0" smtClean="0">
                <a:solidFill>
                  <a:srgbClr val="336600"/>
                </a:solidFill>
                <a:latin typeface="Arial" pitchFamily="34" charset="0"/>
                <a:cs typeface="Arial" pitchFamily="34" charset="0"/>
              </a:rPr>
              <a:t>TIC</a:t>
            </a:r>
            <a:endParaRPr lang="en-US" altLang="ko-KR" sz="1600" b="1" dirty="0">
              <a:solidFill>
                <a:srgbClr val="336600"/>
              </a:solidFill>
              <a:latin typeface="Arial" pitchFamily="34" charset="0"/>
              <a:cs typeface="Arial" pitchFamily="34" charset="0"/>
            </a:endParaRPr>
          </a:p>
        </p:txBody>
      </p:sp>
      <p:sp>
        <p:nvSpPr>
          <p:cNvPr id="415" name="직사각형 414"/>
          <p:cNvSpPr/>
          <p:nvPr/>
        </p:nvSpPr>
        <p:spPr>
          <a:xfrm>
            <a:off x="2021868" y="3061176"/>
            <a:ext cx="1692070" cy="584775"/>
          </a:xfrm>
          <a:prstGeom prst="rect">
            <a:avLst/>
          </a:prstGeom>
        </p:spPr>
        <p:txBody>
          <a:bodyPr wrap="square">
            <a:spAutoFit/>
          </a:bodyPr>
          <a:lstStyle/>
          <a:p>
            <a:pPr lvl="0" algn="ctr"/>
            <a:r>
              <a:rPr lang="en-US" altLang="ko-KR" sz="1600" b="1" dirty="0" smtClean="0">
                <a:solidFill>
                  <a:srgbClr val="336600"/>
                </a:solidFill>
                <a:latin typeface="Arial" pitchFamily="34" charset="0"/>
                <a:cs typeface="Arial" pitchFamily="34" charset="0"/>
              </a:rPr>
              <a:t>Améliorer </a:t>
            </a:r>
            <a:endParaRPr lang="en-US" altLang="ko-KR" sz="1600" b="1" dirty="0">
              <a:solidFill>
                <a:srgbClr val="336600"/>
              </a:solidFill>
              <a:latin typeface="Arial" pitchFamily="34" charset="0"/>
              <a:cs typeface="Arial" pitchFamily="34" charset="0"/>
            </a:endParaRPr>
          </a:p>
          <a:p>
            <a:pPr lvl="0" algn="ctr"/>
            <a:r>
              <a:rPr lang="en-US" altLang="ko-KR" sz="1600" b="1" dirty="0">
                <a:solidFill>
                  <a:srgbClr val="336600"/>
                </a:solidFill>
                <a:latin typeface="Arial" pitchFamily="34" charset="0"/>
                <a:cs typeface="Arial" pitchFamily="34" charset="0"/>
              </a:rPr>
              <a:t>l'interopérabilité</a:t>
            </a:r>
            <a:endParaRPr lang="ko-KR" altLang="en-US" sz="1600" b="1" dirty="0">
              <a:solidFill>
                <a:srgbClr val="336600"/>
              </a:solidFill>
              <a:latin typeface="Arial" pitchFamily="34" charset="0"/>
              <a:cs typeface="Arial" pitchFamily="34" charset="0"/>
            </a:endParaRPr>
          </a:p>
        </p:txBody>
      </p:sp>
      <p:sp>
        <p:nvSpPr>
          <p:cNvPr id="416" name="직사각형 415"/>
          <p:cNvSpPr/>
          <p:nvPr/>
        </p:nvSpPr>
        <p:spPr>
          <a:xfrm>
            <a:off x="286158" y="3053000"/>
            <a:ext cx="1909578" cy="584775"/>
          </a:xfrm>
          <a:prstGeom prst="rect">
            <a:avLst/>
          </a:prstGeom>
        </p:spPr>
        <p:txBody>
          <a:bodyPr wrap="square">
            <a:spAutoFit/>
          </a:bodyPr>
          <a:lstStyle/>
          <a:p>
            <a:pPr algn="ctr"/>
            <a:r>
              <a:rPr lang="en-US" altLang="ko-KR" sz="1600" b="1" dirty="0" smtClean="0">
                <a:solidFill>
                  <a:srgbClr val="336600"/>
                </a:solidFill>
                <a:latin typeface="Arial" pitchFamily="34" charset="0"/>
                <a:cs typeface="Arial" pitchFamily="34" charset="0"/>
              </a:rPr>
              <a:t>Réutiliser les fonctionnalités communes </a:t>
            </a:r>
            <a:endParaRPr lang="ko-KR" altLang="en-US" sz="1600" b="1" dirty="0">
              <a:solidFill>
                <a:srgbClr val="336600"/>
              </a:solidFill>
              <a:latin typeface="Arial" pitchFamily="34" charset="0"/>
              <a:cs typeface="Arial" pitchFamily="34" charset="0"/>
            </a:endParaRPr>
          </a:p>
        </p:txBody>
      </p:sp>
      <p:sp>
        <p:nvSpPr>
          <p:cNvPr id="417" name="직사각형 416"/>
          <p:cNvSpPr/>
          <p:nvPr/>
        </p:nvSpPr>
        <p:spPr>
          <a:xfrm>
            <a:off x="324252" y="4481760"/>
            <a:ext cx="3023612" cy="2092881"/>
          </a:xfrm>
          <a:prstGeom prst="rect">
            <a:avLst/>
          </a:prstGeom>
        </p:spPr>
        <p:txBody>
          <a:bodyPr wrap="square">
            <a:spAutoFit/>
          </a:bodyPr>
          <a:lstStyle/>
          <a:p>
            <a:pPr algn="ctr">
              <a:spcAft>
                <a:spcPts val="1200"/>
              </a:spcAft>
            </a:pPr>
            <a:r>
              <a:rPr lang="en-US" altLang="ko-KR" sz="2000" b="1" dirty="0" smtClean="0">
                <a:solidFill>
                  <a:srgbClr val="FFC000"/>
                </a:solidFill>
                <a:latin typeface="Arial" pitchFamily="34" charset="0"/>
                <a:cs typeface="Arial" pitchFamily="34" charset="0"/>
              </a:rPr>
              <a:t>Standardisation</a:t>
            </a:r>
          </a:p>
          <a:p>
            <a:pPr marL="180000" indent="-171450">
              <a:spcAft>
                <a:spcPts val="1200"/>
              </a:spcAft>
              <a:buFont typeface="Arial" pitchFamily="34" charset="0"/>
              <a:buChar char="•"/>
            </a:pPr>
            <a:r>
              <a:rPr lang="en-US" altLang="ko-KR" sz="1600" b="1" dirty="0" smtClean="0">
                <a:solidFill>
                  <a:schemeClr val="bg1"/>
                </a:solidFill>
                <a:latin typeface="Arial" pitchFamily="34" charset="0"/>
                <a:cs typeface="Arial" pitchFamily="34" charset="0"/>
              </a:rPr>
              <a:t>Établir un standard de cadre logiciel pour l'e-Gouvernement</a:t>
            </a:r>
          </a:p>
          <a:p>
            <a:pPr marL="180000" indent="-171450">
              <a:spcAft>
                <a:spcPts val="1200"/>
              </a:spcAft>
              <a:buFont typeface="Arial" pitchFamily="34" charset="0"/>
              <a:buChar char="•"/>
            </a:pPr>
            <a:r>
              <a:rPr lang="en-US" altLang="ko-KR" sz="1600" b="1" dirty="0" smtClean="0">
                <a:solidFill>
                  <a:schemeClr val="bg1"/>
                </a:solidFill>
                <a:latin typeface="Arial" pitchFamily="34" charset="0"/>
                <a:cs typeface="Arial" pitchFamily="34" charset="0"/>
              </a:rPr>
              <a:t>Fournir une </a:t>
            </a:r>
            <a:r>
              <a:rPr lang="en-US" altLang="ko-KR" sz="1600" b="1" dirty="0">
                <a:solidFill>
                  <a:schemeClr val="bg1"/>
                </a:solidFill>
                <a:latin typeface="Arial" pitchFamily="34" charset="0"/>
                <a:cs typeface="Arial" pitchFamily="34" charset="0"/>
              </a:rPr>
              <a:t>infrastructure technique </a:t>
            </a:r>
            <a:r>
              <a:rPr lang="en-US" altLang="ko-KR" sz="1600" b="1" dirty="0" smtClean="0">
                <a:solidFill>
                  <a:schemeClr val="bg1"/>
                </a:solidFill>
                <a:latin typeface="Arial" pitchFamily="34" charset="0"/>
                <a:cs typeface="Arial" pitchFamily="34" charset="0"/>
              </a:rPr>
              <a:t>stable</a:t>
            </a:r>
            <a:endParaRPr lang="en-US" altLang="ko-KR" sz="1600" b="1" dirty="0">
              <a:solidFill>
                <a:schemeClr val="bg1"/>
              </a:solidFill>
              <a:latin typeface="Arial" pitchFamily="34" charset="0"/>
              <a:cs typeface="Arial" pitchFamily="34" charset="0"/>
            </a:endParaRPr>
          </a:p>
          <a:p>
            <a:pPr marL="180000" algn="ctr">
              <a:spcAft>
                <a:spcPts val="1200"/>
              </a:spcAft>
            </a:pPr>
            <a:r>
              <a:rPr lang="en-US" altLang="ko-KR" sz="1600" b="1" dirty="0" smtClean="0">
                <a:solidFill>
                  <a:schemeClr val="bg1"/>
                </a:solidFill>
                <a:latin typeface="Arial" pitchFamily="34" charset="0"/>
                <a:cs typeface="Arial" pitchFamily="34" charset="0"/>
              </a:rPr>
              <a:t> </a:t>
            </a:r>
            <a:endParaRPr lang="en-US" altLang="ko-KR" sz="1600" b="1" dirty="0">
              <a:solidFill>
                <a:schemeClr val="bg1"/>
              </a:solidFill>
              <a:latin typeface="Arial" pitchFamily="34" charset="0"/>
              <a:cs typeface="Arial" pitchFamily="34" charset="0"/>
            </a:endParaRPr>
          </a:p>
        </p:txBody>
      </p:sp>
      <p:sp>
        <p:nvSpPr>
          <p:cNvPr id="418" name="직사각형 417"/>
          <p:cNvSpPr/>
          <p:nvPr/>
        </p:nvSpPr>
        <p:spPr>
          <a:xfrm>
            <a:off x="3131840" y="4481760"/>
            <a:ext cx="2889717" cy="1692771"/>
          </a:xfrm>
          <a:prstGeom prst="rect">
            <a:avLst/>
          </a:prstGeom>
        </p:spPr>
        <p:txBody>
          <a:bodyPr wrap="square">
            <a:spAutoFit/>
          </a:bodyPr>
          <a:lstStyle/>
          <a:p>
            <a:pPr algn="ctr">
              <a:spcAft>
                <a:spcPts val="1200"/>
              </a:spcAft>
            </a:pPr>
            <a:r>
              <a:rPr lang="en-US" altLang="ko-KR" sz="2000" b="1" dirty="0" smtClean="0">
                <a:solidFill>
                  <a:srgbClr val="FFC000"/>
                </a:solidFill>
                <a:latin typeface="Arial" pitchFamily="34" charset="0"/>
                <a:cs typeface="Arial" pitchFamily="34" charset="0"/>
              </a:rPr>
              <a:t>Ouverture</a:t>
            </a:r>
          </a:p>
          <a:p>
            <a:pPr marL="180000" indent="-171450">
              <a:spcAft>
                <a:spcPts val="1200"/>
              </a:spcAft>
              <a:buFont typeface="Arial" pitchFamily="34" charset="0"/>
              <a:buChar char="•"/>
            </a:pPr>
            <a:r>
              <a:rPr lang="en-US" altLang="ko-KR" sz="1600" b="1" dirty="0" smtClean="0">
                <a:solidFill>
                  <a:schemeClr val="bg1"/>
                </a:solidFill>
                <a:latin typeface="Arial" pitchFamily="34" charset="0"/>
                <a:cs typeface="Arial" pitchFamily="34" charset="0"/>
              </a:rPr>
              <a:t>Garantir </a:t>
            </a:r>
            <a:r>
              <a:rPr lang="en-US" altLang="ko-KR" sz="1600" b="1" dirty="0">
                <a:solidFill>
                  <a:schemeClr val="bg1"/>
                </a:solidFill>
                <a:latin typeface="Arial" pitchFamily="34" charset="0"/>
                <a:cs typeface="Arial" pitchFamily="34" charset="0"/>
              </a:rPr>
              <a:t>la neutralité de </a:t>
            </a:r>
            <a:r>
              <a:rPr lang="en-US" altLang="ko-KR" sz="1600" b="1" dirty="0" smtClean="0">
                <a:solidFill>
                  <a:schemeClr val="bg1"/>
                </a:solidFill>
                <a:latin typeface="Arial" pitchFamily="34" charset="0"/>
                <a:cs typeface="Arial" pitchFamily="34" charset="0"/>
              </a:rPr>
              <a:t>eGovFrame</a:t>
            </a:r>
          </a:p>
          <a:p>
            <a:pPr marL="180000" indent="-171450">
              <a:spcAft>
                <a:spcPts val="1200"/>
              </a:spcAft>
              <a:buFont typeface="Arial" pitchFamily="34" charset="0"/>
              <a:buChar char="•"/>
            </a:pPr>
            <a:r>
              <a:rPr lang="en-US" altLang="ko-KR" sz="1600" b="1" dirty="0" smtClean="0">
                <a:solidFill>
                  <a:schemeClr val="bg1"/>
                </a:solidFill>
                <a:latin typeface="Arial" pitchFamily="34" charset="0"/>
                <a:cs typeface="Arial" pitchFamily="34" charset="0"/>
              </a:rPr>
              <a:t>Ouvrir toutes les ressources </a:t>
            </a:r>
            <a:r>
              <a:rPr lang="en-US" altLang="ko-KR" sz="1600" b="1" dirty="0">
                <a:solidFill>
                  <a:schemeClr val="bg1"/>
                </a:solidFill>
                <a:latin typeface="Arial" pitchFamily="34" charset="0"/>
                <a:cs typeface="Arial" pitchFamily="34" charset="0"/>
              </a:rPr>
              <a:t>au </a:t>
            </a:r>
            <a:r>
              <a:rPr lang="en-US" altLang="ko-KR" sz="1600" b="1" dirty="0" smtClean="0">
                <a:solidFill>
                  <a:schemeClr val="bg1"/>
                </a:solidFill>
                <a:latin typeface="Arial" pitchFamily="34" charset="0"/>
                <a:cs typeface="Arial" pitchFamily="34" charset="0"/>
              </a:rPr>
              <a:t>public et à l'international</a:t>
            </a:r>
            <a:endParaRPr lang="en-US" altLang="ko-KR" sz="1600" b="1" dirty="0">
              <a:solidFill>
                <a:schemeClr val="bg1"/>
              </a:solidFill>
              <a:latin typeface="Arial" pitchFamily="34" charset="0"/>
              <a:cs typeface="Arial" pitchFamily="34" charset="0"/>
            </a:endParaRPr>
          </a:p>
        </p:txBody>
      </p:sp>
      <p:sp>
        <p:nvSpPr>
          <p:cNvPr id="419" name="직사각형 418"/>
          <p:cNvSpPr/>
          <p:nvPr/>
        </p:nvSpPr>
        <p:spPr>
          <a:xfrm>
            <a:off x="5905302" y="4481760"/>
            <a:ext cx="2915170" cy="1692771"/>
          </a:xfrm>
          <a:prstGeom prst="rect">
            <a:avLst/>
          </a:prstGeom>
        </p:spPr>
        <p:txBody>
          <a:bodyPr wrap="square">
            <a:spAutoFit/>
          </a:bodyPr>
          <a:lstStyle/>
          <a:p>
            <a:pPr algn="ctr">
              <a:spcAft>
                <a:spcPts val="1200"/>
              </a:spcAft>
            </a:pPr>
            <a:r>
              <a:rPr lang="en-US" altLang="ko-KR" sz="2000" b="1" dirty="0" smtClean="0">
                <a:solidFill>
                  <a:srgbClr val="FFC000"/>
                </a:solidFill>
                <a:latin typeface="Arial" pitchFamily="34" charset="0"/>
                <a:cs typeface="Arial" pitchFamily="34" charset="0"/>
              </a:rPr>
              <a:t>Communauté</a:t>
            </a:r>
          </a:p>
          <a:p>
            <a:pPr marL="180000" indent="-171450">
              <a:spcAft>
                <a:spcPts val="1200"/>
              </a:spcAft>
              <a:buFont typeface="Arial" pitchFamily="34" charset="0"/>
              <a:buChar char="•"/>
            </a:pPr>
            <a:r>
              <a:rPr lang="en-US" altLang="ko-KR" sz="1600" b="1" dirty="0" smtClean="0">
                <a:solidFill>
                  <a:schemeClr val="bg1"/>
                </a:solidFill>
                <a:latin typeface="Arial" pitchFamily="34" charset="0"/>
                <a:cs typeface="Arial" pitchFamily="34" charset="0"/>
              </a:rPr>
              <a:t>Partager les outils logiciels </a:t>
            </a:r>
            <a:r>
              <a:rPr lang="en-US" altLang="ko-KR" sz="1600" b="1" dirty="0">
                <a:solidFill>
                  <a:schemeClr val="bg1"/>
                </a:solidFill>
                <a:latin typeface="Arial" pitchFamily="34" charset="0"/>
                <a:cs typeface="Arial" pitchFamily="34" charset="0"/>
              </a:rPr>
              <a:t>et la technologie par la </a:t>
            </a:r>
            <a:r>
              <a:rPr lang="en-US" altLang="ko-KR" sz="1600" b="1" dirty="0" smtClean="0">
                <a:solidFill>
                  <a:schemeClr val="bg1"/>
                </a:solidFill>
                <a:latin typeface="Arial" pitchFamily="34" charset="0"/>
                <a:cs typeface="Arial" pitchFamily="34" charset="0"/>
              </a:rPr>
              <a:t>formation </a:t>
            </a:r>
            <a:endParaRPr lang="en-US" altLang="ko-KR" sz="1600" b="1" dirty="0">
              <a:solidFill>
                <a:schemeClr val="bg1"/>
              </a:solidFill>
              <a:latin typeface="Arial" pitchFamily="34" charset="0"/>
              <a:cs typeface="Arial" pitchFamily="34" charset="0"/>
            </a:endParaRPr>
          </a:p>
          <a:p>
            <a:pPr marL="180000" indent="-171450">
              <a:spcAft>
                <a:spcPts val="1200"/>
              </a:spcAft>
              <a:buFont typeface="Arial" pitchFamily="34" charset="0"/>
              <a:buChar char="•"/>
            </a:pPr>
            <a:r>
              <a:rPr lang="en-US" altLang="ko-KR" sz="1600" b="1" dirty="0" smtClean="0">
                <a:solidFill>
                  <a:schemeClr val="bg1"/>
                </a:solidFill>
                <a:latin typeface="Arial" pitchFamily="34" charset="0"/>
                <a:cs typeface="Arial" pitchFamily="34" charset="0"/>
              </a:rPr>
              <a:t>Promouvoir l'utilisation du cadre eGov</a:t>
            </a:r>
            <a:endParaRPr lang="en-US" altLang="ko-KR" sz="1600" b="1" dirty="0">
              <a:solidFill>
                <a:schemeClr val="bg1"/>
              </a:solidFill>
              <a:latin typeface="Arial" pitchFamily="34" charset="0"/>
              <a:cs typeface="Arial" pitchFamily="34" charset="0"/>
            </a:endParaRPr>
          </a:p>
        </p:txBody>
      </p:sp>
      <p:sp>
        <p:nvSpPr>
          <p:cNvPr id="420" name="제목 3"/>
          <p:cNvSpPr>
            <a:spLocks noGrp="1"/>
          </p:cNvSpPr>
          <p:nvPr>
            <p:ph type="title"/>
          </p:nvPr>
        </p:nvSpPr>
        <p:spPr>
          <a:xfrm>
            <a:off x="396000" y="126000"/>
            <a:ext cx="8352000" cy="522000"/>
          </a:xfrm>
        </p:spPr>
        <p:txBody>
          <a:bodyPr/>
          <a:lstStyle/>
          <a:p>
            <a:r>
              <a:rPr lang="en-US" altLang="ko-KR" i="0" dirty="0">
                <a:ln>
                  <a:solidFill>
                    <a:schemeClr val="bg1">
                      <a:lumMod val="75000"/>
                    </a:schemeClr>
                  </a:solidFill>
                </a:ln>
                <a:solidFill>
                  <a:schemeClr val="tx1"/>
                </a:solidFill>
                <a:latin typeface="Tahoma" pitchFamily="34" charset="0"/>
                <a:ea typeface="Tahoma" pitchFamily="34" charset="0"/>
                <a:cs typeface="Tahoma" pitchFamily="34" charset="0"/>
              </a:rPr>
              <a:t>Vision de </a:t>
            </a:r>
            <a:r>
              <a:rPr lang="en-US" altLang="ko-KR" i="0" dirty="0" err="1">
                <a:ln>
                  <a:solidFill>
                    <a:schemeClr val="bg1">
                      <a:lumMod val="75000"/>
                    </a:schemeClr>
                  </a:solidFill>
                </a:ln>
                <a:solidFill>
                  <a:schemeClr val="tx1"/>
                </a:solidFill>
                <a:latin typeface="Tahoma" pitchFamily="34" charset="0"/>
                <a:ea typeface="Tahoma" pitchFamily="34" charset="0"/>
                <a:cs typeface="Tahoma" pitchFamily="34" charset="0"/>
              </a:rPr>
              <a:t>eGovFrame</a:t>
            </a:r>
            <a:endParaRPr lang="ko-KR" altLang="en-US" i="0" dirty="0">
              <a:solidFill>
                <a:schemeClr val="tx1"/>
              </a:solidFill>
              <a:latin typeface="Tahoma" pitchFamily="34" charset="0"/>
              <a:cs typeface="Tahoma" pitchFamily="34" charset="0"/>
            </a:endParaRPr>
          </a:p>
        </p:txBody>
      </p:sp>
    </p:spTree>
    <p:extLst>
      <p:ext uri="{BB962C8B-B14F-4D97-AF65-F5344CB8AC3E}">
        <p14:creationId xmlns:p14="http://schemas.microsoft.com/office/powerpoint/2010/main" val="174147997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xfrm>
            <a:off x="419910" y="260648"/>
            <a:ext cx="8352000" cy="522000"/>
          </a:xfrm>
        </p:spPr>
        <p:txBody>
          <a:bodyPr>
            <a:noAutofit/>
          </a:bodyPr>
          <a:lstStyle/>
          <a:p>
            <a:r>
              <a:rPr lang="en-US" altLang="ko-KR" sz="2400" i="0" dirty="0" smtClean="0">
                <a:ln>
                  <a:solidFill>
                    <a:schemeClr val="bg1">
                      <a:lumMod val="75000"/>
                    </a:schemeClr>
                  </a:solidFill>
                </a:ln>
                <a:solidFill>
                  <a:schemeClr val="tx1"/>
                </a:solidFill>
                <a:latin typeface="Tahoma" pitchFamily="34" charset="0"/>
                <a:ea typeface="Tahoma" pitchFamily="34" charset="0"/>
                <a:cs typeface="Tahoma" pitchFamily="34" charset="0"/>
              </a:rPr>
              <a:t>Approche plateforme à bénéfices multiples pour les projets TIC </a:t>
            </a:r>
            <a:endParaRPr lang="ko-KR" altLang="en-US" sz="2400" i="0" dirty="0">
              <a:ln>
                <a:solidFill>
                  <a:schemeClr val="bg1">
                    <a:lumMod val="75000"/>
                  </a:schemeClr>
                </a:solidFill>
              </a:ln>
              <a:solidFill>
                <a:schemeClr val="tx1"/>
              </a:solidFill>
              <a:latin typeface="Tahoma" pitchFamily="34" charset="0"/>
              <a:cs typeface="Tahoma" pitchFamily="34" charset="0"/>
            </a:endParaRPr>
          </a:p>
        </p:txBody>
      </p:sp>
      <p:grpSp>
        <p:nvGrpSpPr>
          <p:cNvPr id="3" name="그룹 2"/>
          <p:cNvGrpSpPr/>
          <p:nvPr/>
        </p:nvGrpSpPr>
        <p:grpSpPr>
          <a:xfrm>
            <a:off x="307975" y="1196752"/>
            <a:ext cx="8621743" cy="5328592"/>
            <a:chOff x="307975" y="1196752"/>
            <a:chExt cx="8621743" cy="5328592"/>
          </a:xfrm>
        </p:grpSpPr>
        <p:sp>
          <p:nvSpPr>
            <p:cNvPr id="195" name="AutoShape 7"/>
            <p:cNvSpPr>
              <a:spLocks noChangeArrowheads="1"/>
            </p:cNvSpPr>
            <p:nvPr/>
          </p:nvSpPr>
          <p:spPr bwMode="auto">
            <a:xfrm>
              <a:off x="6434336" y="1503087"/>
              <a:ext cx="2474731" cy="4915176"/>
            </a:xfrm>
            <a:prstGeom prst="roundRect">
              <a:avLst>
                <a:gd name="adj" fmla="val 2491"/>
              </a:avLst>
            </a:prstGeom>
            <a:solidFill>
              <a:srgbClr val="826442">
                <a:alpha val="98038"/>
              </a:srgbClr>
            </a:solidFill>
            <a:ln w="50800" algn="ctr">
              <a:noFill/>
              <a:round/>
              <a:headEnd/>
              <a:tailEnd/>
            </a:ln>
          </p:spPr>
          <p:txBody>
            <a:bodyPr wrap="none" lIns="101214" tIns="52631" rIns="101214" bIns="52631"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196" name="AutoShape 8"/>
            <p:cNvSpPr>
              <a:spLocks noChangeArrowheads="1"/>
            </p:cNvSpPr>
            <p:nvPr/>
          </p:nvSpPr>
          <p:spPr bwMode="auto">
            <a:xfrm>
              <a:off x="6463832" y="2110338"/>
              <a:ext cx="2415739" cy="4415006"/>
            </a:xfrm>
            <a:prstGeom prst="roundRect">
              <a:avLst>
                <a:gd name="adj" fmla="val 1847"/>
              </a:avLst>
            </a:prstGeom>
            <a:solidFill>
              <a:srgbClr val="FFFFFF">
                <a:alpha val="98038"/>
              </a:srgbClr>
            </a:solidFill>
            <a:ln w="50800" algn="ctr">
              <a:noFill/>
              <a:round/>
              <a:headEnd/>
              <a:tailEnd/>
            </a:ln>
          </p:spPr>
          <p:txBody>
            <a:bodyPr wrap="none" lIns="101214" tIns="52631" rIns="101214" bIns="52631"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nvGrpSpPr>
            <p:cNvPr id="197" name="Group 9"/>
            <p:cNvGrpSpPr>
              <a:grpSpLocks/>
            </p:cNvGrpSpPr>
            <p:nvPr/>
          </p:nvGrpSpPr>
          <p:grpSpPr bwMode="auto">
            <a:xfrm>
              <a:off x="6398943" y="1196753"/>
              <a:ext cx="2530775" cy="680164"/>
              <a:chOff x="4407" y="913"/>
              <a:chExt cx="1684" cy="393"/>
            </a:xfrm>
          </p:grpSpPr>
          <p:pic>
            <p:nvPicPr>
              <p:cNvPr id="388" name="Picture 10" descr="갈색"/>
              <p:cNvPicPr>
                <a:picLocks noChangeAspect="1" noChangeArrowheads="1"/>
              </p:cNvPicPr>
              <p:nvPr/>
            </p:nvPicPr>
            <p:blipFill>
              <a:blip r:embed="rId3" cstate="print">
                <a:lum bright="6000"/>
              </a:blip>
              <a:srcRect l="2338" r="84608"/>
              <a:stretch>
                <a:fillRect/>
              </a:stretch>
            </p:blipFill>
            <p:spPr bwMode="auto">
              <a:xfrm>
                <a:off x="4407" y="913"/>
                <a:ext cx="201" cy="393"/>
              </a:xfrm>
              <a:prstGeom prst="rect">
                <a:avLst/>
              </a:prstGeom>
              <a:noFill/>
              <a:ln w="9525">
                <a:noFill/>
                <a:miter lim="800000"/>
                <a:headEnd/>
                <a:tailEnd/>
              </a:ln>
            </p:spPr>
          </p:pic>
          <p:pic>
            <p:nvPicPr>
              <p:cNvPr id="389" name="Picture 11" descr="갈색"/>
              <p:cNvPicPr>
                <a:picLocks noChangeAspect="1" noChangeArrowheads="1"/>
              </p:cNvPicPr>
              <p:nvPr/>
            </p:nvPicPr>
            <p:blipFill>
              <a:blip r:embed="rId3" cstate="print">
                <a:lum bright="6000"/>
              </a:blip>
              <a:srcRect l="78741" r="3511"/>
              <a:stretch>
                <a:fillRect/>
              </a:stretch>
            </p:blipFill>
            <p:spPr bwMode="auto">
              <a:xfrm>
                <a:off x="5818" y="913"/>
                <a:ext cx="273" cy="393"/>
              </a:xfrm>
              <a:prstGeom prst="rect">
                <a:avLst/>
              </a:prstGeom>
              <a:noFill/>
              <a:ln w="9525">
                <a:noFill/>
                <a:miter lim="800000"/>
                <a:headEnd/>
                <a:tailEnd/>
              </a:ln>
            </p:spPr>
          </p:pic>
          <p:pic>
            <p:nvPicPr>
              <p:cNvPr id="390" name="Picture 12" descr="갈색"/>
              <p:cNvPicPr>
                <a:picLocks noChangeAspect="1" noChangeArrowheads="1"/>
              </p:cNvPicPr>
              <p:nvPr/>
            </p:nvPicPr>
            <p:blipFill>
              <a:blip r:embed="rId3" cstate="print">
                <a:lum bright="6000"/>
              </a:blip>
              <a:srcRect l="8577" r="10970"/>
              <a:stretch>
                <a:fillRect/>
              </a:stretch>
            </p:blipFill>
            <p:spPr bwMode="auto">
              <a:xfrm>
                <a:off x="4526" y="913"/>
                <a:ext cx="1374" cy="393"/>
              </a:xfrm>
              <a:prstGeom prst="rect">
                <a:avLst/>
              </a:prstGeom>
              <a:noFill/>
              <a:ln w="9525">
                <a:noFill/>
                <a:miter lim="800000"/>
                <a:headEnd/>
                <a:tailEnd/>
              </a:ln>
            </p:spPr>
          </p:pic>
        </p:grpSp>
        <p:sp>
          <p:nvSpPr>
            <p:cNvPr id="198" name="AutoShape 13"/>
            <p:cNvSpPr>
              <a:spLocks noChangeArrowheads="1"/>
            </p:cNvSpPr>
            <p:nvPr/>
          </p:nvSpPr>
          <p:spPr bwMode="auto">
            <a:xfrm>
              <a:off x="352219" y="1503087"/>
              <a:ext cx="2474731" cy="4911715"/>
            </a:xfrm>
            <a:prstGeom prst="roundRect">
              <a:avLst>
                <a:gd name="adj" fmla="val 2491"/>
              </a:avLst>
            </a:prstGeom>
            <a:solidFill>
              <a:srgbClr val="497B53">
                <a:alpha val="98038"/>
              </a:srgbClr>
            </a:solidFill>
            <a:ln w="50800" algn="ctr">
              <a:noFill/>
              <a:round/>
              <a:headEnd/>
              <a:tailEnd/>
            </a:ln>
          </p:spPr>
          <p:txBody>
            <a:bodyPr wrap="none" lIns="101214" tIns="52631" rIns="101214" bIns="52631"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199" name="AutoShape 14"/>
            <p:cNvSpPr>
              <a:spLocks noChangeArrowheads="1"/>
            </p:cNvSpPr>
            <p:nvPr/>
          </p:nvSpPr>
          <p:spPr bwMode="auto">
            <a:xfrm>
              <a:off x="381716" y="1961721"/>
              <a:ext cx="2415739" cy="4415006"/>
            </a:xfrm>
            <a:prstGeom prst="roundRect">
              <a:avLst>
                <a:gd name="adj" fmla="val 1847"/>
              </a:avLst>
            </a:prstGeom>
            <a:solidFill>
              <a:srgbClr val="FFFFFF">
                <a:alpha val="98038"/>
              </a:srgbClr>
            </a:solidFill>
            <a:ln w="50800" algn="ctr">
              <a:noFill/>
              <a:round/>
              <a:headEnd/>
              <a:tailEnd/>
            </a:ln>
          </p:spPr>
          <p:txBody>
            <a:bodyPr wrap="none" lIns="101214" tIns="52631" rIns="101214" bIns="52631"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nvGrpSpPr>
            <p:cNvPr id="200" name="Group 15"/>
            <p:cNvGrpSpPr>
              <a:grpSpLocks/>
            </p:cNvGrpSpPr>
            <p:nvPr/>
          </p:nvGrpSpPr>
          <p:grpSpPr bwMode="auto">
            <a:xfrm>
              <a:off x="307975" y="1196753"/>
              <a:ext cx="2557322" cy="730354"/>
              <a:chOff x="149" y="913"/>
              <a:chExt cx="1684" cy="422"/>
            </a:xfrm>
          </p:grpSpPr>
          <p:pic>
            <p:nvPicPr>
              <p:cNvPr id="385" name="Picture 16" descr="상단"/>
              <p:cNvPicPr>
                <a:picLocks noChangeAspect="1" noChangeArrowheads="1"/>
              </p:cNvPicPr>
              <p:nvPr/>
            </p:nvPicPr>
            <p:blipFill>
              <a:blip r:embed="rId4" cstate="print">
                <a:lum bright="-6000"/>
              </a:blip>
              <a:srcRect l="10149" t="3300" r="80901" b="51208"/>
              <a:stretch>
                <a:fillRect/>
              </a:stretch>
            </p:blipFill>
            <p:spPr bwMode="auto">
              <a:xfrm>
                <a:off x="149" y="913"/>
                <a:ext cx="173" cy="422"/>
              </a:xfrm>
              <a:prstGeom prst="rect">
                <a:avLst/>
              </a:prstGeom>
              <a:noFill/>
              <a:ln w="9525">
                <a:noFill/>
                <a:miter lim="800000"/>
                <a:headEnd/>
                <a:tailEnd/>
              </a:ln>
            </p:spPr>
          </p:pic>
          <p:pic>
            <p:nvPicPr>
              <p:cNvPr id="386" name="Picture 17" descr="상단"/>
              <p:cNvPicPr>
                <a:picLocks noChangeAspect="1" noChangeArrowheads="1"/>
              </p:cNvPicPr>
              <p:nvPr/>
            </p:nvPicPr>
            <p:blipFill>
              <a:blip r:embed="rId5" cstate="print">
                <a:lum bright="-6000"/>
              </a:blip>
              <a:srcRect l="83150" t="3300" r="9181" b="51208"/>
              <a:stretch>
                <a:fillRect/>
              </a:stretch>
            </p:blipFill>
            <p:spPr bwMode="auto">
              <a:xfrm>
                <a:off x="1685" y="913"/>
                <a:ext cx="148" cy="422"/>
              </a:xfrm>
              <a:prstGeom prst="rect">
                <a:avLst/>
              </a:prstGeom>
              <a:noFill/>
              <a:ln w="9525">
                <a:noFill/>
                <a:miter lim="800000"/>
                <a:headEnd/>
                <a:tailEnd/>
              </a:ln>
            </p:spPr>
          </p:pic>
          <p:pic>
            <p:nvPicPr>
              <p:cNvPr id="387" name="Picture 18" descr="상단"/>
              <p:cNvPicPr>
                <a:picLocks noChangeAspect="1" noChangeArrowheads="1"/>
              </p:cNvPicPr>
              <p:nvPr/>
            </p:nvPicPr>
            <p:blipFill>
              <a:blip r:embed="rId6" cstate="print">
                <a:lum bright="-6000"/>
              </a:blip>
              <a:srcRect l="17998" t="3300" r="16023" b="51208"/>
              <a:stretch>
                <a:fillRect/>
              </a:stretch>
            </p:blipFill>
            <p:spPr bwMode="auto">
              <a:xfrm>
                <a:off x="315" y="913"/>
                <a:ext cx="1401" cy="422"/>
              </a:xfrm>
              <a:prstGeom prst="rect">
                <a:avLst/>
              </a:prstGeom>
              <a:noFill/>
              <a:ln w="9525">
                <a:noFill/>
                <a:miter lim="800000"/>
                <a:headEnd/>
                <a:tailEnd/>
              </a:ln>
            </p:spPr>
          </p:pic>
        </p:grpSp>
        <p:sp>
          <p:nvSpPr>
            <p:cNvPr id="201" name="AutoShape 19"/>
            <p:cNvSpPr>
              <a:spLocks noChangeArrowheads="1"/>
            </p:cNvSpPr>
            <p:nvPr/>
          </p:nvSpPr>
          <p:spPr bwMode="auto">
            <a:xfrm>
              <a:off x="3428673" y="1503087"/>
              <a:ext cx="2473257" cy="3442353"/>
            </a:xfrm>
            <a:prstGeom prst="roundRect">
              <a:avLst>
                <a:gd name="adj" fmla="val 2491"/>
              </a:avLst>
            </a:prstGeom>
            <a:solidFill>
              <a:srgbClr val="0F5CB1">
                <a:alpha val="98038"/>
              </a:srgbClr>
            </a:solidFill>
            <a:ln w="9525" algn="ctr">
              <a:noFill/>
              <a:round/>
              <a:headEnd/>
              <a:tailEnd/>
            </a:ln>
          </p:spPr>
          <p:txBody>
            <a:bodyPr wrap="none" lIns="101214" tIns="52631" rIns="101214" bIns="52631"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02" name="AutoShape 20"/>
            <p:cNvSpPr>
              <a:spLocks noChangeArrowheads="1"/>
            </p:cNvSpPr>
            <p:nvPr/>
          </p:nvSpPr>
          <p:spPr bwMode="auto">
            <a:xfrm>
              <a:off x="3458169" y="1961721"/>
              <a:ext cx="2414264" cy="2956029"/>
            </a:xfrm>
            <a:prstGeom prst="roundRect">
              <a:avLst>
                <a:gd name="adj" fmla="val 1847"/>
              </a:avLst>
            </a:prstGeom>
            <a:solidFill>
              <a:srgbClr val="FFFFFF">
                <a:alpha val="98038"/>
              </a:srgbClr>
            </a:solidFill>
            <a:ln w="50800" algn="ctr">
              <a:noFill/>
              <a:round/>
              <a:headEnd/>
              <a:tailEnd/>
            </a:ln>
          </p:spPr>
          <p:txBody>
            <a:bodyPr wrap="none" lIns="101214" tIns="52631" rIns="101214" bIns="52631"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03" name="Text Box 25"/>
            <p:cNvSpPr txBox="1">
              <a:spLocks noChangeArrowheads="1"/>
            </p:cNvSpPr>
            <p:nvPr/>
          </p:nvSpPr>
          <p:spPr bwMode="auto">
            <a:xfrm>
              <a:off x="6490130" y="1426089"/>
              <a:ext cx="2348400" cy="184666"/>
            </a:xfrm>
            <a:prstGeom prst="rect">
              <a:avLst/>
            </a:prstGeom>
            <a:noFill/>
            <a:ln w="9525" algn="ctr">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Pct val="80000"/>
                <a:buFontTx/>
                <a:buNone/>
                <a:tabLst/>
                <a:defRPr/>
              </a:pPr>
              <a:r>
                <a:rPr kumimoji="0" lang="en-US" altLang="ko-KR" sz="1200" b="1" i="0" u="none" strike="noStrike" kern="0" cap="none" spc="0" normalizeH="0" baseline="0" noProof="0" dirty="0">
                  <a:ln>
                    <a:noFill/>
                  </a:ln>
                  <a:solidFill>
                    <a:srgbClr val="FFFFFF"/>
                  </a:solidFill>
                  <a:effectLst/>
                  <a:uLnTx/>
                  <a:uFillTx/>
                  <a:latin typeface="Arial" pitchFamily="34" charset="0"/>
                  <a:ea typeface="맑은 고딕" pitchFamily="50" charset="-127"/>
                  <a:cs typeface="Arial" pitchFamily="34" charset="0"/>
                </a:rPr>
                <a:t>Programmes </a:t>
              </a:r>
              <a:r>
                <a:rPr kumimoji="0" lang="en-US" altLang="ko-KR" sz="1200" b="1" i="0" u="none" strike="noStrike" kern="0" cap="none" spc="0" normalizeH="0" baseline="0" noProof="0" dirty="0" err="1">
                  <a:ln>
                    <a:noFill/>
                  </a:ln>
                  <a:solidFill>
                    <a:srgbClr val="FFFFFF"/>
                  </a:solidFill>
                  <a:effectLst/>
                  <a:uLnTx/>
                  <a:uFillTx/>
                  <a:latin typeface="Arial" pitchFamily="34" charset="0"/>
                  <a:ea typeface="맑은 고딕" pitchFamily="50" charset="-127"/>
                  <a:cs typeface="Arial" pitchFamily="34" charset="0"/>
                </a:rPr>
                <a:t>eGovernment</a:t>
              </a:r>
              <a:r>
                <a:rPr kumimoji="0" lang="en-US" altLang="ko-KR" sz="1200" b="1" i="0" u="none" strike="noStrike" kern="0" cap="none" spc="0" normalizeH="0" baseline="0" noProof="0" dirty="0">
                  <a:ln>
                    <a:noFill/>
                  </a:ln>
                  <a:solidFill>
                    <a:srgbClr val="FFFFFF"/>
                  </a:solidFill>
                  <a:effectLst/>
                  <a:uLnTx/>
                  <a:uFillTx/>
                  <a:latin typeface="Arial" pitchFamily="34" charset="0"/>
                  <a:ea typeface="맑은 고딕" pitchFamily="50" charset="-127"/>
                  <a:cs typeface="Arial" pitchFamily="34" charset="0"/>
                </a:rPr>
                <a:t> actuels</a:t>
              </a:r>
            </a:p>
          </p:txBody>
        </p:sp>
        <p:sp>
          <p:nvSpPr>
            <p:cNvPr id="204" name="Text Box 27"/>
            <p:cNvSpPr txBox="1">
              <a:spLocks noChangeArrowheads="1"/>
            </p:cNvSpPr>
            <p:nvPr/>
          </p:nvSpPr>
          <p:spPr bwMode="auto">
            <a:xfrm>
              <a:off x="527853" y="1437332"/>
              <a:ext cx="2117567" cy="184666"/>
            </a:xfrm>
            <a:prstGeom prst="rect">
              <a:avLst/>
            </a:prstGeom>
            <a:noFill/>
            <a:ln w="9525" algn="ctr">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Pct val="80000"/>
                <a:buFontTx/>
                <a:buNone/>
                <a:tabLst/>
                <a:defRPr/>
              </a:pPr>
              <a:r>
                <a:rPr kumimoji="0" lang="en-US" altLang="ko-KR" sz="1200" b="1" i="0" u="none" strike="noStrike" kern="0" cap="none" spc="0" normalizeH="0" baseline="0" noProof="0" dirty="0">
                  <a:ln>
                    <a:noFill/>
                  </a:ln>
                  <a:solidFill>
                    <a:srgbClr val="FFFFFF"/>
                  </a:solidFill>
                  <a:effectLst/>
                  <a:uLnTx/>
                  <a:uFillTx/>
                  <a:latin typeface="Arial" pitchFamily="34" charset="0"/>
                  <a:ea typeface="맑은 고딕" pitchFamily="50" charset="-127"/>
                  <a:cs typeface="Arial" pitchFamily="34" charset="0"/>
                </a:rPr>
                <a:t>Programmes </a:t>
              </a:r>
              <a:r>
                <a:rPr kumimoji="0" lang="en-US" altLang="ko-KR" sz="1200" b="1" i="0" u="none" strike="noStrike" kern="0" cap="none" spc="0" normalizeH="0" baseline="0" noProof="0" dirty="0" err="1">
                  <a:ln>
                    <a:noFill/>
                  </a:ln>
                  <a:solidFill>
                    <a:srgbClr val="FFFFFF"/>
                  </a:solidFill>
                  <a:effectLst/>
                  <a:uLnTx/>
                  <a:uFillTx/>
                  <a:latin typeface="Arial" pitchFamily="34" charset="0"/>
                  <a:ea typeface="맑은 고딕" pitchFamily="50" charset="-127"/>
                  <a:cs typeface="Arial" pitchFamily="34" charset="0"/>
                </a:rPr>
                <a:t>eGovernment</a:t>
              </a:r>
              <a:r>
                <a:rPr kumimoji="0" lang="en-US" altLang="ko-KR" sz="1200" b="1" i="0" u="none" strike="noStrike" kern="0" cap="none" spc="0" normalizeH="0" baseline="0" noProof="0" dirty="0">
                  <a:ln>
                    <a:noFill/>
                  </a:ln>
                  <a:solidFill>
                    <a:srgbClr val="FFFFFF"/>
                  </a:solidFill>
                  <a:effectLst/>
                  <a:uLnTx/>
                  <a:uFillTx/>
                  <a:latin typeface="Arial" pitchFamily="34" charset="0"/>
                  <a:ea typeface="맑은 고딕" pitchFamily="50" charset="-127"/>
                  <a:cs typeface="Arial" pitchFamily="34" charset="0"/>
                </a:rPr>
                <a:t> passés</a:t>
              </a:r>
            </a:p>
          </p:txBody>
        </p:sp>
        <p:sp>
          <p:nvSpPr>
            <p:cNvPr id="205" name="Rectangle 34"/>
            <p:cNvSpPr>
              <a:spLocks noChangeArrowheads="1"/>
            </p:cNvSpPr>
            <p:nvPr/>
          </p:nvSpPr>
          <p:spPr bwMode="auto">
            <a:xfrm>
              <a:off x="570491" y="2515543"/>
              <a:ext cx="548629" cy="1697813"/>
            </a:xfrm>
            <a:prstGeom prst="rect">
              <a:avLst/>
            </a:prstGeom>
            <a:pattFill prst="wdDnDiag">
              <a:fgClr>
                <a:srgbClr val="EAEAEA"/>
              </a:fgClr>
              <a:bgClr>
                <a:srgbClr val="DDDDDD"/>
              </a:bgClr>
            </a:pattFill>
            <a:ln w="9525" algn="ctr">
              <a:noFill/>
              <a:miter lim="800000"/>
              <a:headEnd/>
              <a:tailEnd/>
            </a:ln>
          </p:spPr>
          <p:txBody>
            <a:bodyPr wrap="none" tIns="72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Application</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S/W</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06" name="Rectangle 35"/>
            <p:cNvSpPr>
              <a:spLocks noChangeArrowheads="1"/>
            </p:cNvSpPr>
            <p:nvPr/>
          </p:nvSpPr>
          <p:spPr bwMode="auto">
            <a:xfrm>
              <a:off x="570491" y="4213356"/>
              <a:ext cx="548629" cy="308064"/>
            </a:xfrm>
            <a:prstGeom prst="rect">
              <a:avLst/>
            </a:prstGeom>
            <a:solidFill>
              <a:srgbClr val="C0C0C0"/>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rPr>
                <a:t>H/W</a:t>
              </a:r>
            </a:p>
          </p:txBody>
        </p:sp>
        <p:sp>
          <p:nvSpPr>
            <p:cNvPr id="207" name="Rectangle 36"/>
            <p:cNvSpPr>
              <a:spLocks noChangeArrowheads="1"/>
            </p:cNvSpPr>
            <p:nvPr/>
          </p:nvSpPr>
          <p:spPr bwMode="auto">
            <a:xfrm>
              <a:off x="1287249" y="2515543"/>
              <a:ext cx="547155" cy="1697813"/>
            </a:xfrm>
            <a:prstGeom prst="rect">
              <a:avLst/>
            </a:prstGeom>
            <a:pattFill prst="wdDnDiag">
              <a:fgClr>
                <a:srgbClr val="EAEAEA"/>
              </a:fgClr>
              <a:bgClr>
                <a:srgbClr val="DDDDDD"/>
              </a:bgClr>
            </a:pattFill>
            <a:ln w="9525" algn="ctr">
              <a:noFill/>
              <a:miter lim="800000"/>
              <a:headEnd/>
              <a:tailEnd/>
            </a:ln>
          </p:spPr>
          <p:txBody>
            <a:bodyPr wrap="none" tIns="72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Application</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S/W</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08" name="Rectangle 37"/>
            <p:cNvSpPr>
              <a:spLocks noChangeArrowheads="1"/>
            </p:cNvSpPr>
            <p:nvPr/>
          </p:nvSpPr>
          <p:spPr bwMode="auto">
            <a:xfrm>
              <a:off x="1287249" y="4213356"/>
              <a:ext cx="547155" cy="308064"/>
            </a:xfrm>
            <a:prstGeom prst="rect">
              <a:avLst/>
            </a:prstGeom>
            <a:solidFill>
              <a:srgbClr val="C0C0C0"/>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H/W</a:t>
              </a:r>
            </a:p>
          </p:txBody>
        </p:sp>
        <p:sp>
          <p:nvSpPr>
            <p:cNvPr id="209" name="Rectangle 38"/>
            <p:cNvSpPr>
              <a:spLocks noChangeArrowheads="1"/>
            </p:cNvSpPr>
            <p:nvPr/>
          </p:nvSpPr>
          <p:spPr bwMode="auto">
            <a:xfrm>
              <a:off x="1992208" y="2439393"/>
              <a:ext cx="550105" cy="1739350"/>
            </a:xfrm>
            <a:prstGeom prst="rect">
              <a:avLst/>
            </a:prstGeom>
            <a:pattFill prst="wdDnDiag">
              <a:fgClr>
                <a:srgbClr val="EAEAEA"/>
              </a:fgClr>
              <a:bgClr>
                <a:srgbClr val="DDDDDD"/>
              </a:bgClr>
            </a:pattFill>
            <a:ln w="9525" algn="ctr">
              <a:noFill/>
              <a:miter lim="800000"/>
              <a:headEnd/>
              <a:tailEnd/>
            </a:ln>
          </p:spPr>
          <p:txBody>
            <a:bodyPr wrap="none" tIns="72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Application</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S/W</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0" name="Rectangle 39"/>
            <p:cNvSpPr>
              <a:spLocks noChangeArrowheads="1"/>
            </p:cNvSpPr>
            <p:nvPr/>
          </p:nvSpPr>
          <p:spPr bwMode="auto">
            <a:xfrm>
              <a:off x="1992208" y="4213356"/>
              <a:ext cx="550105" cy="308064"/>
            </a:xfrm>
            <a:prstGeom prst="rect">
              <a:avLst/>
            </a:prstGeom>
            <a:solidFill>
              <a:srgbClr val="C0C0C0"/>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H/W</a:t>
              </a:r>
            </a:p>
          </p:txBody>
        </p:sp>
        <p:sp>
          <p:nvSpPr>
            <p:cNvPr id="211" name="Rectangle 41"/>
            <p:cNvSpPr>
              <a:spLocks noChangeArrowheads="1"/>
            </p:cNvSpPr>
            <p:nvPr/>
          </p:nvSpPr>
          <p:spPr bwMode="auto">
            <a:xfrm>
              <a:off x="613261" y="2159020"/>
              <a:ext cx="642805" cy="169277"/>
            </a:xfrm>
            <a:prstGeom prst="rect">
              <a:avLst/>
            </a:prstGeom>
            <a:noFill/>
            <a:ln w="9525">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Système A</a:t>
              </a:r>
              <a:endParaRPr kumimoji="0" lang="ko-KR" altLang="en-US"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2" name="Rectangle 42"/>
            <p:cNvSpPr>
              <a:spLocks noChangeArrowheads="1"/>
            </p:cNvSpPr>
            <p:nvPr/>
          </p:nvSpPr>
          <p:spPr bwMode="auto">
            <a:xfrm>
              <a:off x="1328544" y="2159020"/>
              <a:ext cx="642805" cy="169277"/>
            </a:xfrm>
            <a:prstGeom prst="rect">
              <a:avLst/>
            </a:prstGeom>
            <a:noFill/>
            <a:ln w="9525">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rPr>
                <a:t>Système B</a:t>
              </a:r>
              <a:endParaRPr kumimoji="0" lang="ko-KR" altLang="en-US" sz="11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3" name="Rectangle 43"/>
            <p:cNvSpPr>
              <a:spLocks noChangeArrowheads="1"/>
            </p:cNvSpPr>
            <p:nvPr/>
          </p:nvSpPr>
          <p:spPr bwMode="auto">
            <a:xfrm>
              <a:off x="2033503" y="2164213"/>
              <a:ext cx="642805" cy="169277"/>
            </a:xfrm>
            <a:prstGeom prst="rect">
              <a:avLst/>
            </a:prstGeom>
            <a:noFill/>
            <a:ln w="9525">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Système C</a:t>
              </a:r>
              <a:endParaRPr kumimoji="0" lang="ko-KR" altLang="en-US"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4" name="Rectangle 44"/>
            <p:cNvSpPr>
              <a:spLocks noChangeArrowheads="1"/>
            </p:cNvSpPr>
            <p:nvPr/>
          </p:nvSpPr>
          <p:spPr bwMode="auto">
            <a:xfrm>
              <a:off x="586715" y="3103980"/>
              <a:ext cx="519133" cy="690548"/>
            </a:xfrm>
            <a:prstGeom prst="rect">
              <a:avLst/>
            </a:prstGeom>
            <a:pattFill prst="dkUpDiag">
              <a:fgClr>
                <a:srgbClr val="EAEAEA"/>
              </a:fgClr>
              <a:bgClr>
                <a:srgbClr val="FFFFFF"/>
              </a:bgClr>
            </a:pattFill>
            <a:ln w="12700" algn="ctr">
              <a:solidFill>
                <a:srgbClr val="80808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6" name="Rectangle 45"/>
            <p:cNvSpPr>
              <a:spLocks noChangeArrowheads="1"/>
            </p:cNvSpPr>
            <p:nvPr/>
          </p:nvSpPr>
          <p:spPr bwMode="auto">
            <a:xfrm>
              <a:off x="1299047" y="2953410"/>
              <a:ext cx="522083" cy="841118"/>
            </a:xfrm>
            <a:prstGeom prst="rect">
              <a:avLst/>
            </a:prstGeom>
            <a:pattFill prst="dkUpDiag">
              <a:fgClr>
                <a:srgbClr val="EAEAEA"/>
              </a:fgClr>
              <a:bgClr>
                <a:srgbClr val="FFFFFF"/>
              </a:bgClr>
            </a:pattFill>
            <a:ln w="12700" algn="ctr">
              <a:solidFill>
                <a:srgbClr val="80808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7" name="Rectangle 46"/>
            <p:cNvSpPr>
              <a:spLocks noChangeArrowheads="1"/>
            </p:cNvSpPr>
            <p:nvPr/>
          </p:nvSpPr>
          <p:spPr bwMode="auto">
            <a:xfrm>
              <a:off x="2004007" y="3065905"/>
              <a:ext cx="525032" cy="993419"/>
            </a:xfrm>
            <a:prstGeom prst="rect">
              <a:avLst/>
            </a:prstGeom>
            <a:pattFill prst="dkUpDiag">
              <a:fgClr>
                <a:srgbClr val="EAEAEA"/>
              </a:fgClr>
              <a:bgClr>
                <a:srgbClr val="FFFFFF"/>
              </a:bgClr>
            </a:pattFill>
            <a:ln w="12700" algn="ctr">
              <a:solidFill>
                <a:srgbClr val="80808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8" name="Rectangle 47"/>
            <p:cNvSpPr>
              <a:spLocks noChangeArrowheads="1"/>
            </p:cNvSpPr>
            <p:nvPr/>
          </p:nvSpPr>
          <p:spPr bwMode="auto">
            <a:xfrm>
              <a:off x="2065949" y="3039945"/>
              <a:ext cx="532197" cy="276999"/>
            </a:xfrm>
            <a:prstGeom prst="rect">
              <a:avLst/>
            </a:prstGeom>
            <a:noFill/>
            <a:ln w="9525">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Fonctions</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communes</a:t>
              </a:r>
            </a:p>
          </p:txBody>
        </p:sp>
        <p:sp>
          <p:nvSpPr>
            <p:cNvPr id="219" name="Rectangle 60"/>
            <p:cNvSpPr>
              <a:spLocks noChangeArrowheads="1"/>
            </p:cNvSpPr>
            <p:nvPr/>
          </p:nvSpPr>
          <p:spPr bwMode="auto">
            <a:xfrm>
              <a:off x="6611313" y="2349397"/>
              <a:ext cx="603198" cy="1078224"/>
            </a:xfrm>
            <a:prstGeom prst="rect">
              <a:avLst/>
            </a:prstGeom>
            <a:pattFill prst="wdDnDiag">
              <a:fgClr>
                <a:srgbClr val="EAEAEA"/>
              </a:fgClr>
              <a:bgClr>
                <a:srgbClr val="DDDDDD"/>
              </a:bgClr>
            </a:pattFill>
            <a:ln w="9525" algn="ctr">
              <a:noFill/>
              <a:miter lim="800000"/>
              <a:headEnd/>
              <a:tailEnd/>
            </a:ln>
          </p:spPr>
          <p:txBody>
            <a:bodyPr wrap="none" tIns="72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Application</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S/W</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0" name="Rectangle 61"/>
            <p:cNvSpPr>
              <a:spLocks noChangeArrowheads="1"/>
            </p:cNvSpPr>
            <p:nvPr/>
          </p:nvSpPr>
          <p:spPr bwMode="auto">
            <a:xfrm>
              <a:off x="7390013" y="2349397"/>
              <a:ext cx="604672" cy="1078224"/>
            </a:xfrm>
            <a:prstGeom prst="rect">
              <a:avLst/>
            </a:prstGeom>
            <a:pattFill prst="wdDnDiag">
              <a:fgClr>
                <a:srgbClr val="EAEAEA"/>
              </a:fgClr>
              <a:bgClr>
                <a:srgbClr val="DDDDDD"/>
              </a:bgClr>
            </a:pattFill>
            <a:ln w="9525" algn="ctr">
              <a:noFill/>
              <a:miter lim="800000"/>
              <a:headEnd/>
              <a:tailEnd/>
            </a:ln>
          </p:spPr>
          <p:txBody>
            <a:bodyPr wrap="none" tIns="72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Application</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S/W</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1" name="Rectangle 62"/>
            <p:cNvSpPr>
              <a:spLocks noChangeArrowheads="1"/>
            </p:cNvSpPr>
            <p:nvPr/>
          </p:nvSpPr>
          <p:spPr bwMode="auto">
            <a:xfrm>
              <a:off x="8165763" y="2349397"/>
              <a:ext cx="606147" cy="1078224"/>
            </a:xfrm>
            <a:prstGeom prst="rect">
              <a:avLst/>
            </a:prstGeom>
            <a:pattFill prst="wdDnDiag">
              <a:fgClr>
                <a:srgbClr val="EAEAEA"/>
              </a:fgClr>
              <a:bgClr>
                <a:srgbClr val="DDDDDD"/>
              </a:bgClr>
            </a:pattFill>
            <a:ln w="9525" algn="ctr">
              <a:noFill/>
              <a:miter lim="800000"/>
              <a:headEnd/>
              <a:tailEnd/>
            </a:ln>
          </p:spPr>
          <p:txBody>
            <a:bodyPr wrap="none" tIns="72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Application</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S/W</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2" name="Rectangle 63"/>
            <p:cNvSpPr>
              <a:spLocks noChangeArrowheads="1"/>
            </p:cNvSpPr>
            <p:nvPr/>
          </p:nvSpPr>
          <p:spPr bwMode="auto">
            <a:xfrm>
              <a:off x="6639335" y="2074216"/>
              <a:ext cx="681277" cy="169277"/>
            </a:xfrm>
            <a:prstGeom prst="rect">
              <a:avLst/>
            </a:prstGeom>
            <a:noFill/>
            <a:ln w="9525" algn="ctr">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Système A'</a:t>
              </a:r>
              <a:endParaRPr kumimoji="0" lang="ko-KR" altLang="en-US"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3" name="Rectangle 64"/>
            <p:cNvSpPr>
              <a:spLocks noChangeArrowheads="1"/>
            </p:cNvSpPr>
            <p:nvPr/>
          </p:nvSpPr>
          <p:spPr bwMode="auto">
            <a:xfrm>
              <a:off x="7434257" y="2074216"/>
              <a:ext cx="681277" cy="169277"/>
            </a:xfrm>
            <a:prstGeom prst="rect">
              <a:avLst/>
            </a:prstGeom>
            <a:noFill/>
            <a:ln w="9525" algn="ctr">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Système B'</a:t>
              </a:r>
              <a:endParaRPr kumimoji="0" lang="ko-KR" altLang="en-US"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4" name="Rectangle 65"/>
            <p:cNvSpPr>
              <a:spLocks noChangeArrowheads="1"/>
            </p:cNvSpPr>
            <p:nvPr/>
          </p:nvSpPr>
          <p:spPr bwMode="auto">
            <a:xfrm>
              <a:off x="8195259" y="2074216"/>
              <a:ext cx="681277" cy="169277"/>
            </a:xfrm>
            <a:prstGeom prst="rect">
              <a:avLst/>
            </a:prstGeom>
            <a:noFill/>
            <a:ln w="9525" algn="ctr">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Système C'</a:t>
              </a:r>
              <a:endParaRPr kumimoji="0" lang="ko-KR" altLang="en-US"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5" name="Rectangle 66"/>
            <p:cNvSpPr>
              <a:spLocks noChangeArrowheads="1"/>
            </p:cNvSpPr>
            <p:nvPr/>
          </p:nvSpPr>
          <p:spPr bwMode="auto">
            <a:xfrm>
              <a:off x="6615738" y="2925719"/>
              <a:ext cx="595823" cy="1098991"/>
            </a:xfrm>
            <a:prstGeom prst="rect">
              <a:avLst/>
            </a:prstGeom>
            <a:pattFill prst="dkUpDiag">
              <a:fgClr>
                <a:srgbClr val="EAEAEA"/>
              </a:fgClr>
              <a:bgClr>
                <a:srgbClr val="FFFFFF"/>
              </a:bgClr>
            </a:pattFill>
            <a:ln w="12700" algn="ctr">
              <a:solidFill>
                <a:srgbClr val="80808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6" name="Rectangle 67"/>
            <p:cNvSpPr>
              <a:spLocks noChangeArrowheads="1"/>
            </p:cNvSpPr>
            <p:nvPr/>
          </p:nvSpPr>
          <p:spPr bwMode="auto">
            <a:xfrm>
              <a:off x="7392962" y="2925719"/>
              <a:ext cx="597299" cy="1098991"/>
            </a:xfrm>
            <a:prstGeom prst="rect">
              <a:avLst/>
            </a:prstGeom>
            <a:pattFill prst="dkUpDiag">
              <a:fgClr>
                <a:srgbClr val="EAEAEA"/>
              </a:fgClr>
              <a:bgClr>
                <a:srgbClr val="FFFFFF"/>
              </a:bgClr>
            </a:pattFill>
            <a:ln w="12700" algn="ctr">
              <a:solidFill>
                <a:srgbClr val="80808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7" name="Rectangle 68"/>
            <p:cNvSpPr>
              <a:spLocks noChangeArrowheads="1"/>
            </p:cNvSpPr>
            <p:nvPr/>
          </p:nvSpPr>
          <p:spPr bwMode="auto">
            <a:xfrm>
              <a:off x="8168712" y="2925719"/>
              <a:ext cx="600248" cy="1098991"/>
            </a:xfrm>
            <a:prstGeom prst="rect">
              <a:avLst/>
            </a:prstGeom>
            <a:pattFill prst="dkUpDiag">
              <a:fgClr>
                <a:srgbClr val="EAEAEA"/>
              </a:fgClr>
              <a:bgClr>
                <a:srgbClr val="FFFFFF"/>
              </a:bgClr>
            </a:pattFill>
            <a:ln w="12700" algn="ctr">
              <a:solidFill>
                <a:srgbClr val="80808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8" name="Rectangle 69"/>
            <p:cNvSpPr>
              <a:spLocks noChangeArrowheads="1"/>
            </p:cNvSpPr>
            <p:nvPr/>
          </p:nvSpPr>
          <p:spPr bwMode="auto">
            <a:xfrm>
              <a:off x="6611313" y="4398540"/>
              <a:ext cx="603198" cy="346139"/>
            </a:xfrm>
            <a:prstGeom prst="rect">
              <a:avLst/>
            </a:prstGeom>
            <a:solidFill>
              <a:srgbClr val="C0C0C0"/>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H/W</a:t>
              </a:r>
            </a:p>
          </p:txBody>
        </p:sp>
        <p:sp>
          <p:nvSpPr>
            <p:cNvPr id="229" name="Rectangle 70"/>
            <p:cNvSpPr>
              <a:spLocks noChangeArrowheads="1"/>
            </p:cNvSpPr>
            <p:nvPr/>
          </p:nvSpPr>
          <p:spPr bwMode="auto">
            <a:xfrm>
              <a:off x="7390013" y="4398540"/>
              <a:ext cx="604672" cy="346139"/>
            </a:xfrm>
            <a:prstGeom prst="rect">
              <a:avLst/>
            </a:prstGeom>
            <a:solidFill>
              <a:srgbClr val="C0C0C0"/>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H/W</a:t>
              </a:r>
            </a:p>
          </p:txBody>
        </p:sp>
        <p:sp>
          <p:nvSpPr>
            <p:cNvPr id="230" name="Rectangle 71"/>
            <p:cNvSpPr>
              <a:spLocks noChangeArrowheads="1"/>
            </p:cNvSpPr>
            <p:nvPr/>
          </p:nvSpPr>
          <p:spPr bwMode="auto">
            <a:xfrm>
              <a:off x="8165763" y="4398540"/>
              <a:ext cx="606147" cy="346139"/>
            </a:xfrm>
            <a:prstGeom prst="rect">
              <a:avLst/>
            </a:prstGeom>
            <a:solidFill>
              <a:srgbClr val="C0C0C0"/>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H/W</a:t>
              </a:r>
            </a:p>
          </p:txBody>
        </p:sp>
        <p:grpSp>
          <p:nvGrpSpPr>
            <p:cNvPr id="231" name="Group 72"/>
            <p:cNvGrpSpPr>
              <a:grpSpLocks/>
            </p:cNvGrpSpPr>
            <p:nvPr/>
          </p:nvGrpSpPr>
          <p:grpSpPr bwMode="auto">
            <a:xfrm>
              <a:off x="6609839" y="3984905"/>
              <a:ext cx="604672" cy="420559"/>
              <a:chOff x="4532" y="2446"/>
              <a:chExt cx="410" cy="243"/>
            </a:xfrm>
          </p:grpSpPr>
          <p:sp>
            <p:nvSpPr>
              <p:cNvPr id="380" name="Rectangle 73"/>
              <p:cNvSpPr>
                <a:spLocks noChangeArrowheads="1"/>
              </p:cNvSpPr>
              <p:nvPr/>
            </p:nvSpPr>
            <p:spPr bwMode="auto">
              <a:xfrm>
                <a:off x="4532" y="2494"/>
                <a:ext cx="410" cy="195"/>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F/W</a:t>
                </a:r>
              </a:p>
            </p:txBody>
          </p:sp>
          <p:sp>
            <p:nvSpPr>
              <p:cNvPr id="381" name="Rectangle 74"/>
              <p:cNvSpPr>
                <a:spLocks noChangeArrowheads="1"/>
              </p:cNvSpPr>
              <p:nvPr/>
            </p:nvSpPr>
            <p:spPr bwMode="auto">
              <a:xfrm>
                <a:off x="4533" y="2446"/>
                <a:ext cx="58" cy="49"/>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82" name="Rectangle 75"/>
              <p:cNvSpPr>
                <a:spLocks noChangeArrowheads="1"/>
              </p:cNvSpPr>
              <p:nvPr/>
            </p:nvSpPr>
            <p:spPr bwMode="auto">
              <a:xfrm>
                <a:off x="4651" y="2446"/>
                <a:ext cx="58" cy="49"/>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83" name="Rectangle 76"/>
              <p:cNvSpPr>
                <a:spLocks noChangeArrowheads="1"/>
              </p:cNvSpPr>
              <p:nvPr/>
            </p:nvSpPr>
            <p:spPr bwMode="auto">
              <a:xfrm>
                <a:off x="4884" y="2446"/>
                <a:ext cx="58" cy="49"/>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84" name="Rectangle 77"/>
              <p:cNvSpPr>
                <a:spLocks noChangeArrowheads="1"/>
              </p:cNvSpPr>
              <p:nvPr/>
            </p:nvSpPr>
            <p:spPr bwMode="auto">
              <a:xfrm>
                <a:off x="4767" y="2446"/>
                <a:ext cx="58" cy="49"/>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grpSp>
        <p:grpSp>
          <p:nvGrpSpPr>
            <p:cNvPr id="232" name="Group 78"/>
            <p:cNvGrpSpPr>
              <a:grpSpLocks/>
            </p:cNvGrpSpPr>
            <p:nvPr/>
          </p:nvGrpSpPr>
          <p:grpSpPr bwMode="auto">
            <a:xfrm>
              <a:off x="7390013" y="3983173"/>
              <a:ext cx="604672" cy="415367"/>
              <a:chOff x="4571" y="1933"/>
              <a:chExt cx="318" cy="227"/>
            </a:xfrm>
          </p:grpSpPr>
          <p:sp>
            <p:nvSpPr>
              <p:cNvPr id="375" name="Rectangle 79"/>
              <p:cNvSpPr>
                <a:spLocks noChangeArrowheads="1"/>
              </p:cNvSpPr>
              <p:nvPr/>
            </p:nvSpPr>
            <p:spPr bwMode="auto">
              <a:xfrm>
                <a:off x="4571" y="1978"/>
                <a:ext cx="318" cy="182"/>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F/W</a:t>
                </a:r>
              </a:p>
            </p:txBody>
          </p:sp>
          <p:sp>
            <p:nvSpPr>
              <p:cNvPr id="376" name="Rectangle 80"/>
              <p:cNvSpPr>
                <a:spLocks noChangeArrowheads="1"/>
              </p:cNvSpPr>
              <p:nvPr/>
            </p:nvSpPr>
            <p:spPr bwMode="auto">
              <a:xfrm>
                <a:off x="4572"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77" name="Rectangle 81"/>
              <p:cNvSpPr>
                <a:spLocks noChangeArrowheads="1"/>
              </p:cNvSpPr>
              <p:nvPr/>
            </p:nvSpPr>
            <p:spPr bwMode="auto">
              <a:xfrm>
                <a:off x="4663"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78" name="Rectangle 82"/>
              <p:cNvSpPr>
                <a:spLocks noChangeArrowheads="1"/>
              </p:cNvSpPr>
              <p:nvPr/>
            </p:nvSpPr>
            <p:spPr bwMode="auto">
              <a:xfrm>
                <a:off x="4844"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79" name="Rectangle 83"/>
              <p:cNvSpPr>
                <a:spLocks noChangeArrowheads="1"/>
              </p:cNvSpPr>
              <p:nvPr/>
            </p:nvSpPr>
            <p:spPr bwMode="auto">
              <a:xfrm>
                <a:off x="4753"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grpSp>
        <p:grpSp>
          <p:nvGrpSpPr>
            <p:cNvPr id="233" name="Group 84"/>
            <p:cNvGrpSpPr>
              <a:grpSpLocks/>
            </p:cNvGrpSpPr>
            <p:nvPr/>
          </p:nvGrpSpPr>
          <p:grpSpPr bwMode="auto">
            <a:xfrm>
              <a:off x="8165763" y="3983173"/>
              <a:ext cx="606147" cy="415367"/>
              <a:chOff x="4571" y="1933"/>
              <a:chExt cx="318" cy="227"/>
            </a:xfrm>
          </p:grpSpPr>
          <p:sp>
            <p:nvSpPr>
              <p:cNvPr id="370" name="Rectangle 85"/>
              <p:cNvSpPr>
                <a:spLocks noChangeArrowheads="1"/>
              </p:cNvSpPr>
              <p:nvPr/>
            </p:nvSpPr>
            <p:spPr bwMode="auto">
              <a:xfrm>
                <a:off x="4571" y="1978"/>
                <a:ext cx="318" cy="182"/>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F/W</a:t>
                </a:r>
              </a:p>
            </p:txBody>
          </p:sp>
          <p:sp>
            <p:nvSpPr>
              <p:cNvPr id="371" name="Rectangle 86"/>
              <p:cNvSpPr>
                <a:spLocks noChangeArrowheads="1"/>
              </p:cNvSpPr>
              <p:nvPr/>
            </p:nvSpPr>
            <p:spPr bwMode="auto">
              <a:xfrm>
                <a:off x="4572"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72" name="Rectangle 87"/>
              <p:cNvSpPr>
                <a:spLocks noChangeArrowheads="1"/>
              </p:cNvSpPr>
              <p:nvPr/>
            </p:nvSpPr>
            <p:spPr bwMode="auto">
              <a:xfrm>
                <a:off x="4663"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73" name="Rectangle 88"/>
              <p:cNvSpPr>
                <a:spLocks noChangeArrowheads="1"/>
              </p:cNvSpPr>
              <p:nvPr/>
            </p:nvSpPr>
            <p:spPr bwMode="auto">
              <a:xfrm>
                <a:off x="4844"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74" name="Rectangle 89"/>
              <p:cNvSpPr>
                <a:spLocks noChangeArrowheads="1"/>
              </p:cNvSpPr>
              <p:nvPr/>
            </p:nvSpPr>
            <p:spPr bwMode="auto">
              <a:xfrm>
                <a:off x="4753"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grpSp>
        <p:grpSp>
          <p:nvGrpSpPr>
            <p:cNvPr id="234" name="Group 90"/>
            <p:cNvGrpSpPr>
              <a:grpSpLocks/>
            </p:cNvGrpSpPr>
            <p:nvPr/>
          </p:nvGrpSpPr>
          <p:grpSpPr bwMode="auto">
            <a:xfrm>
              <a:off x="6658507" y="3751248"/>
              <a:ext cx="174028" cy="249219"/>
              <a:chOff x="4254" y="1525"/>
              <a:chExt cx="91" cy="137"/>
            </a:xfrm>
          </p:grpSpPr>
          <p:sp>
            <p:nvSpPr>
              <p:cNvPr id="368" name="Rectangle 91"/>
              <p:cNvSpPr>
                <a:spLocks noChangeArrowheads="1"/>
              </p:cNvSpPr>
              <p:nvPr/>
            </p:nvSpPr>
            <p:spPr bwMode="auto">
              <a:xfrm>
                <a:off x="4277" y="1616"/>
                <a:ext cx="45" cy="46"/>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69" name="Rectangle 92"/>
              <p:cNvSpPr>
                <a:spLocks noChangeArrowheads="1"/>
              </p:cNvSpPr>
              <p:nvPr/>
            </p:nvSpPr>
            <p:spPr bwMode="auto">
              <a:xfrm>
                <a:off x="4254" y="1525"/>
                <a:ext cx="91" cy="91"/>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C</a:t>
                </a:r>
              </a:p>
            </p:txBody>
          </p:sp>
        </p:grpSp>
        <p:grpSp>
          <p:nvGrpSpPr>
            <p:cNvPr id="235" name="Group 93"/>
            <p:cNvGrpSpPr>
              <a:grpSpLocks/>
            </p:cNvGrpSpPr>
            <p:nvPr/>
          </p:nvGrpSpPr>
          <p:grpSpPr bwMode="auto">
            <a:xfrm>
              <a:off x="6953512" y="3098776"/>
              <a:ext cx="178453" cy="252681"/>
              <a:chOff x="4254" y="1525"/>
              <a:chExt cx="91" cy="137"/>
            </a:xfrm>
          </p:grpSpPr>
          <p:sp>
            <p:nvSpPr>
              <p:cNvPr id="366" name="Rectangle 94"/>
              <p:cNvSpPr>
                <a:spLocks noChangeArrowheads="1"/>
              </p:cNvSpPr>
              <p:nvPr/>
            </p:nvSpPr>
            <p:spPr bwMode="auto">
              <a:xfrm>
                <a:off x="4277" y="1616"/>
                <a:ext cx="45" cy="46"/>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67" name="Rectangle 95"/>
              <p:cNvSpPr>
                <a:spLocks noChangeArrowheads="1"/>
              </p:cNvSpPr>
              <p:nvPr/>
            </p:nvSpPr>
            <p:spPr bwMode="auto">
              <a:xfrm>
                <a:off x="4254" y="1525"/>
                <a:ext cx="91" cy="91"/>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B</a:t>
                </a:r>
              </a:p>
            </p:txBody>
          </p:sp>
        </p:grpSp>
        <p:grpSp>
          <p:nvGrpSpPr>
            <p:cNvPr id="236" name="Group 96"/>
            <p:cNvGrpSpPr>
              <a:grpSpLocks/>
            </p:cNvGrpSpPr>
            <p:nvPr/>
          </p:nvGrpSpPr>
          <p:grpSpPr bwMode="auto">
            <a:xfrm>
              <a:off x="6658507" y="3432799"/>
              <a:ext cx="174028" cy="256142"/>
              <a:chOff x="4254" y="1525"/>
              <a:chExt cx="91" cy="137"/>
            </a:xfrm>
          </p:grpSpPr>
          <p:sp>
            <p:nvSpPr>
              <p:cNvPr id="364" name="Rectangle 97"/>
              <p:cNvSpPr>
                <a:spLocks noChangeArrowheads="1"/>
              </p:cNvSpPr>
              <p:nvPr/>
            </p:nvSpPr>
            <p:spPr bwMode="auto">
              <a:xfrm>
                <a:off x="4277" y="1616"/>
                <a:ext cx="45" cy="46"/>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65" name="Rectangle 98"/>
              <p:cNvSpPr>
                <a:spLocks noChangeArrowheads="1"/>
              </p:cNvSpPr>
              <p:nvPr/>
            </p:nvSpPr>
            <p:spPr bwMode="auto">
              <a:xfrm>
                <a:off x="4254" y="1525"/>
                <a:ext cx="91" cy="91"/>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B</a:t>
                </a:r>
              </a:p>
            </p:txBody>
          </p:sp>
        </p:grpSp>
        <p:grpSp>
          <p:nvGrpSpPr>
            <p:cNvPr id="237" name="Group 99"/>
            <p:cNvGrpSpPr>
              <a:grpSpLocks/>
            </p:cNvGrpSpPr>
            <p:nvPr/>
          </p:nvGrpSpPr>
          <p:grpSpPr bwMode="auto">
            <a:xfrm>
              <a:off x="7435732" y="3765094"/>
              <a:ext cx="172552" cy="249219"/>
              <a:chOff x="4254" y="1525"/>
              <a:chExt cx="91" cy="137"/>
            </a:xfrm>
          </p:grpSpPr>
          <p:sp>
            <p:nvSpPr>
              <p:cNvPr id="362" name="Rectangle 100"/>
              <p:cNvSpPr>
                <a:spLocks noChangeArrowheads="1"/>
              </p:cNvSpPr>
              <p:nvPr/>
            </p:nvSpPr>
            <p:spPr bwMode="auto">
              <a:xfrm>
                <a:off x="4277" y="1616"/>
                <a:ext cx="45" cy="46"/>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63" name="Rectangle 101"/>
              <p:cNvSpPr>
                <a:spLocks noChangeArrowheads="1"/>
              </p:cNvSpPr>
              <p:nvPr/>
            </p:nvSpPr>
            <p:spPr bwMode="auto">
              <a:xfrm>
                <a:off x="4254" y="1525"/>
                <a:ext cx="91" cy="91"/>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C</a:t>
                </a:r>
              </a:p>
            </p:txBody>
          </p:sp>
        </p:grpSp>
        <p:grpSp>
          <p:nvGrpSpPr>
            <p:cNvPr id="238" name="Group 102"/>
            <p:cNvGrpSpPr>
              <a:grpSpLocks/>
            </p:cNvGrpSpPr>
            <p:nvPr/>
          </p:nvGrpSpPr>
          <p:grpSpPr bwMode="auto">
            <a:xfrm>
              <a:off x="7774939" y="3765094"/>
              <a:ext cx="175502" cy="249219"/>
              <a:chOff x="4254" y="1525"/>
              <a:chExt cx="91" cy="137"/>
            </a:xfrm>
          </p:grpSpPr>
          <p:sp>
            <p:nvSpPr>
              <p:cNvPr id="360" name="Rectangle 103"/>
              <p:cNvSpPr>
                <a:spLocks noChangeArrowheads="1"/>
              </p:cNvSpPr>
              <p:nvPr/>
            </p:nvSpPr>
            <p:spPr bwMode="auto">
              <a:xfrm>
                <a:off x="4277" y="1616"/>
                <a:ext cx="45" cy="46"/>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61" name="Rectangle 104"/>
              <p:cNvSpPr>
                <a:spLocks noChangeArrowheads="1"/>
              </p:cNvSpPr>
              <p:nvPr/>
            </p:nvSpPr>
            <p:spPr bwMode="auto">
              <a:xfrm>
                <a:off x="4254" y="1525"/>
                <a:ext cx="91" cy="91"/>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C</a:t>
                </a:r>
              </a:p>
            </p:txBody>
          </p:sp>
        </p:grpSp>
        <p:grpSp>
          <p:nvGrpSpPr>
            <p:cNvPr id="239" name="Group 105"/>
            <p:cNvGrpSpPr>
              <a:grpSpLocks/>
            </p:cNvGrpSpPr>
            <p:nvPr/>
          </p:nvGrpSpPr>
          <p:grpSpPr bwMode="auto">
            <a:xfrm>
              <a:off x="7732125" y="3347995"/>
              <a:ext cx="172552" cy="257872"/>
              <a:chOff x="4254" y="1525"/>
              <a:chExt cx="91" cy="137"/>
            </a:xfrm>
          </p:grpSpPr>
          <p:sp>
            <p:nvSpPr>
              <p:cNvPr id="358" name="Rectangle 106"/>
              <p:cNvSpPr>
                <a:spLocks noChangeArrowheads="1"/>
              </p:cNvSpPr>
              <p:nvPr/>
            </p:nvSpPr>
            <p:spPr bwMode="auto">
              <a:xfrm>
                <a:off x="4277" y="1616"/>
                <a:ext cx="45" cy="46"/>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59" name="Rectangle 107"/>
              <p:cNvSpPr>
                <a:spLocks noChangeArrowheads="1"/>
              </p:cNvSpPr>
              <p:nvPr/>
            </p:nvSpPr>
            <p:spPr bwMode="auto">
              <a:xfrm>
                <a:off x="4254" y="1525"/>
                <a:ext cx="91" cy="91"/>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B</a:t>
                </a:r>
              </a:p>
            </p:txBody>
          </p:sp>
        </p:grpSp>
        <p:grpSp>
          <p:nvGrpSpPr>
            <p:cNvPr id="240" name="Group 108"/>
            <p:cNvGrpSpPr>
              <a:grpSpLocks/>
            </p:cNvGrpSpPr>
            <p:nvPr/>
          </p:nvGrpSpPr>
          <p:grpSpPr bwMode="auto">
            <a:xfrm>
              <a:off x="8383991" y="3765094"/>
              <a:ext cx="172552" cy="249219"/>
              <a:chOff x="4254" y="1525"/>
              <a:chExt cx="91" cy="137"/>
            </a:xfrm>
          </p:grpSpPr>
          <p:sp>
            <p:nvSpPr>
              <p:cNvPr id="356" name="Rectangle 109"/>
              <p:cNvSpPr>
                <a:spLocks noChangeArrowheads="1"/>
              </p:cNvSpPr>
              <p:nvPr/>
            </p:nvSpPr>
            <p:spPr bwMode="auto">
              <a:xfrm>
                <a:off x="4277" y="1616"/>
                <a:ext cx="45" cy="46"/>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57" name="Rectangle 110"/>
              <p:cNvSpPr>
                <a:spLocks noChangeArrowheads="1"/>
              </p:cNvSpPr>
              <p:nvPr/>
            </p:nvSpPr>
            <p:spPr bwMode="auto">
              <a:xfrm>
                <a:off x="4254" y="1525"/>
                <a:ext cx="91" cy="91"/>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C</a:t>
                </a:r>
              </a:p>
            </p:txBody>
          </p:sp>
        </p:grpSp>
        <p:grpSp>
          <p:nvGrpSpPr>
            <p:cNvPr id="241" name="Group 111"/>
            <p:cNvGrpSpPr>
              <a:grpSpLocks/>
            </p:cNvGrpSpPr>
            <p:nvPr/>
          </p:nvGrpSpPr>
          <p:grpSpPr bwMode="auto">
            <a:xfrm>
              <a:off x="8550689" y="3514142"/>
              <a:ext cx="174028" cy="257872"/>
              <a:chOff x="4254" y="1525"/>
              <a:chExt cx="91" cy="137"/>
            </a:xfrm>
          </p:grpSpPr>
          <p:sp>
            <p:nvSpPr>
              <p:cNvPr id="354" name="Rectangle 112"/>
              <p:cNvSpPr>
                <a:spLocks noChangeArrowheads="1"/>
              </p:cNvSpPr>
              <p:nvPr/>
            </p:nvSpPr>
            <p:spPr bwMode="auto">
              <a:xfrm>
                <a:off x="4277" y="1616"/>
                <a:ext cx="45" cy="46"/>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55" name="Rectangle 113"/>
              <p:cNvSpPr>
                <a:spLocks noChangeArrowheads="1"/>
              </p:cNvSpPr>
              <p:nvPr/>
            </p:nvSpPr>
            <p:spPr bwMode="auto">
              <a:xfrm>
                <a:off x="4254" y="1525"/>
                <a:ext cx="91" cy="91"/>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B</a:t>
                </a:r>
              </a:p>
            </p:txBody>
          </p:sp>
        </p:grpSp>
        <p:grpSp>
          <p:nvGrpSpPr>
            <p:cNvPr id="242" name="Group 114"/>
            <p:cNvGrpSpPr>
              <a:grpSpLocks/>
            </p:cNvGrpSpPr>
            <p:nvPr/>
          </p:nvGrpSpPr>
          <p:grpSpPr bwMode="auto">
            <a:xfrm>
              <a:off x="8201158" y="3432799"/>
              <a:ext cx="174028" cy="256142"/>
              <a:chOff x="4254" y="1525"/>
              <a:chExt cx="91" cy="137"/>
            </a:xfrm>
          </p:grpSpPr>
          <p:sp>
            <p:nvSpPr>
              <p:cNvPr id="352" name="Rectangle 115"/>
              <p:cNvSpPr>
                <a:spLocks noChangeArrowheads="1"/>
              </p:cNvSpPr>
              <p:nvPr/>
            </p:nvSpPr>
            <p:spPr bwMode="auto">
              <a:xfrm>
                <a:off x="4277" y="1616"/>
                <a:ext cx="45" cy="46"/>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53" name="Rectangle 116"/>
              <p:cNvSpPr>
                <a:spLocks noChangeArrowheads="1"/>
              </p:cNvSpPr>
              <p:nvPr/>
            </p:nvSpPr>
            <p:spPr bwMode="auto">
              <a:xfrm>
                <a:off x="4254" y="1525"/>
                <a:ext cx="91" cy="91"/>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B</a:t>
                </a:r>
              </a:p>
            </p:txBody>
          </p:sp>
        </p:grpSp>
        <p:grpSp>
          <p:nvGrpSpPr>
            <p:cNvPr id="243" name="Group 117"/>
            <p:cNvGrpSpPr>
              <a:grpSpLocks/>
            </p:cNvGrpSpPr>
            <p:nvPr/>
          </p:nvGrpSpPr>
          <p:grpSpPr bwMode="auto">
            <a:xfrm>
              <a:off x="7002138" y="3765094"/>
              <a:ext cx="172552" cy="249219"/>
              <a:chOff x="4254" y="1525"/>
              <a:chExt cx="91" cy="137"/>
            </a:xfrm>
          </p:grpSpPr>
          <p:sp>
            <p:nvSpPr>
              <p:cNvPr id="350" name="Rectangle 118"/>
              <p:cNvSpPr>
                <a:spLocks noChangeArrowheads="1"/>
              </p:cNvSpPr>
              <p:nvPr/>
            </p:nvSpPr>
            <p:spPr bwMode="auto">
              <a:xfrm>
                <a:off x="4277" y="1616"/>
                <a:ext cx="45" cy="46"/>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51" name="Rectangle 119"/>
              <p:cNvSpPr>
                <a:spLocks noChangeArrowheads="1"/>
              </p:cNvSpPr>
              <p:nvPr/>
            </p:nvSpPr>
            <p:spPr bwMode="auto">
              <a:xfrm>
                <a:off x="4254" y="1525"/>
                <a:ext cx="91" cy="91"/>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C</a:t>
                </a:r>
              </a:p>
            </p:txBody>
          </p:sp>
        </p:grpSp>
        <p:grpSp>
          <p:nvGrpSpPr>
            <p:cNvPr id="244" name="Group 120"/>
            <p:cNvGrpSpPr>
              <a:grpSpLocks/>
            </p:cNvGrpSpPr>
            <p:nvPr/>
          </p:nvGrpSpPr>
          <p:grpSpPr bwMode="auto">
            <a:xfrm>
              <a:off x="7472602" y="3010509"/>
              <a:ext cx="174028" cy="256142"/>
              <a:chOff x="4254" y="1525"/>
              <a:chExt cx="91" cy="137"/>
            </a:xfrm>
          </p:grpSpPr>
          <p:sp>
            <p:nvSpPr>
              <p:cNvPr id="348" name="Rectangle 121"/>
              <p:cNvSpPr>
                <a:spLocks noChangeArrowheads="1"/>
              </p:cNvSpPr>
              <p:nvPr/>
            </p:nvSpPr>
            <p:spPr bwMode="auto">
              <a:xfrm>
                <a:off x="4277" y="1616"/>
                <a:ext cx="45" cy="46"/>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49" name="Rectangle 122"/>
              <p:cNvSpPr>
                <a:spLocks noChangeArrowheads="1"/>
              </p:cNvSpPr>
              <p:nvPr/>
            </p:nvSpPr>
            <p:spPr bwMode="auto">
              <a:xfrm>
                <a:off x="4254" y="1525"/>
                <a:ext cx="91" cy="91"/>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B</a:t>
                </a:r>
              </a:p>
            </p:txBody>
          </p:sp>
        </p:grpSp>
        <p:grpSp>
          <p:nvGrpSpPr>
            <p:cNvPr id="245" name="Group 123"/>
            <p:cNvGrpSpPr>
              <a:grpSpLocks/>
            </p:cNvGrpSpPr>
            <p:nvPr/>
          </p:nvGrpSpPr>
          <p:grpSpPr bwMode="auto">
            <a:xfrm>
              <a:off x="8378092" y="3010509"/>
              <a:ext cx="172552" cy="256142"/>
              <a:chOff x="4254" y="1525"/>
              <a:chExt cx="91" cy="137"/>
            </a:xfrm>
          </p:grpSpPr>
          <p:sp>
            <p:nvSpPr>
              <p:cNvPr id="346" name="Rectangle 124"/>
              <p:cNvSpPr>
                <a:spLocks noChangeArrowheads="1"/>
              </p:cNvSpPr>
              <p:nvPr/>
            </p:nvSpPr>
            <p:spPr bwMode="auto">
              <a:xfrm>
                <a:off x="4277" y="1616"/>
                <a:ext cx="45" cy="46"/>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47" name="Rectangle 125"/>
              <p:cNvSpPr>
                <a:spLocks noChangeArrowheads="1"/>
              </p:cNvSpPr>
              <p:nvPr/>
            </p:nvSpPr>
            <p:spPr bwMode="auto">
              <a:xfrm>
                <a:off x="4254" y="1525"/>
                <a:ext cx="91" cy="91"/>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B</a:t>
                </a:r>
              </a:p>
            </p:txBody>
          </p:sp>
        </p:grpSp>
        <p:sp>
          <p:nvSpPr>
            <p:cNvPr id="246" name="Oval 131"/>
            <p:cNvSpPr>
              <a:spLocks noChangeArrowheads="1"/>
            </p:cNvSpPr>
            <p:nvPr/>
          </p:nvSpPr>
          <p:spPr bwMode="auto">
            <a:xfrm>
              <a:off x="6404840" y="4112976"/>
              <a:ext cx="156330" cy="183454"/>
            </a:xfrm>
            <a:prstGeom prst="ellipse">
              <a:avLst/>
            </a:prstGeom>
            <a:noFill/>
            <a:ln w="9525">
              <a:no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47" name="Rectangle 133"/>
            <p:cNvSpPr>
              <a:spLocks noChangeArrowheads="1"/>
            </p:cNvSpPr>
            <p:nvPr/>
          </p:nvSpPr>
          <p:spPr bwMode="auto">
            <a:xfrm>
              <a:off x="574916" y="3893177"/>
              <a:ext cx="538305" cy="314987"/>
            </a:xfrm>
            <a:prstGeom prst="rect">
              <a:avLst/>
            </a:prstGeom>
            <a:solidFill>
              <a:srgbClr val="008000"/>
            </a:solidFill>
            <a:ln w="9525">
              <a:solidFill>
                <a:srgbClr val="008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F/W</a:t>
              </a:r>
            </a:p>
          </p:txBody>
        </p:sp>
        <p:sp>
          <p:nvSpPr>
            <p:cNvPr id="248" name="AutoShape 134"/>
            <p:cNvSpPr>
              <a:spLocks noChangeArrowheads="1"/>
            </p:cNvSpPr>
            <p:nvPr/>
          </p:nvSpPr>
          <p:spPr bwMode="auto">
            <a:xfrm>
              <a:off x="1291674" y="3896639"/>
              <a:ext cx="536831" cy="313256"/>
            </a:xfrm>
            <a:prstGeom prst="roundRect">
              <a:avLst>
                <a:gd name="adj" fmla="val 10495"/>
              </a:avLst>
            </a:prstGeom>
            <a:solidFill>
              <a:srgbClr val="FF9900"/>
            </a:solidFill>
            <a:ln w="9525">
              <a:solidFill>
                <a:srgbClr val="FF9900"/>
              </a:solidFill>
              <a:round/>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F/W</a:t>
              </a:r>
            </a:p>
          </p:txBody>
        </p:sp>
        <p:sp>
          <p:nvSpPr>
            <p:cNvPr id="249" name="Rectangle 135"/>
            <p:cNvSpPr>
              <a:spLocks noChangeArrowheads="1"/>
            </p:cNvSpPr>
            <p:nvPr/>
          </p:nvSpPr>
          <p:spPr bwMode="auto">
            <a:xfrm>
              <a:off x="2303393" y="3529731"/>
              <a:ext cx="100287" cy="117687"/>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0" name="Rectangle 136"/>
            <p:cNvSpPr>
              <a:spLocks noChangeArrowheads="1"/>
            </p:cNvSpPr>
            <p:nvPr/>
          </p:nvSpPr>
          <p:spPr bwMode="auto">
            <a:xfrm>
              <a:off x="1477500" y="3219937"/>
              <a:ext cx="100287" cy="117687"/>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1" name="Rectangle 137"/>
            <p:cNvSpPr>
              <a:spLocks noChangeArrowheads="1"/>
            </p:cNvSpPr>
            <p:nvPr/>
          </p:nvSpPr>
          <p:spPr bwMode="auto">
            <a:xfrm>
              <a:off x="717972" y="3358393"/>
              <a:ext cx="100287" cy="117687"/>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2" name="AutoShape 138"/>
            <p:cNvSpPr>
              <a:spLocks noChangeArrowheads="1"/>
            </p:cNvSpPr>
            <p:nvPr/>
          </p:nvSpPr>
          <p:spPr bwMode="auto">
            <a:xfrm>
              <a:off x="2303393" y="3285704"/>
              <a:ext cx="100287" cy="117687"/>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3" name="AutoShape 139"/>
            <p:cNvSpPr>
              <a:spLocks noChangeArrowheads="1"/>
            </p:cNvSpPr>
            <p:nvPr/>
          </p:nvSpPr>
          <p:spPr bwMode="auto">
            <a:xfrm>
              <a:off x="1495198" y="3502040"/>
              <a:ext cx="100287" cy="117687"/>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4" name="Oval 140"/>
            <p:cNvSpPr>
              <a:spLocks noChangeArrowheads="1"/>
            </p:cNvSpPr>
            <p:nvPr/>
          </p:nvSpPr>
          <p:spPr bwMode="auto">
            <a:xfrm>
              <a:off x="2070373" y="3285704"/>
              <a:ext cx="100287" cy="117687"/>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5" name="Oval 141"/>
            <p:cNvSpPr>
              <a:spLocks noChangeArrowheads="1"/>
            </p:cNvSpPr>
            <p:nvPr/>
          </p:nvSpPr>
          <p:spPr bwMode="auto">
            <a:xfrm>
              <a:off x="771065" y="3526270"/>
              <a:ext cx="100287" cy="117687"/>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6" name="Oval 142"/>
            <p:cNvSpPr>
              <a:spLocks noChangeArrowheads="1"/>
            </p:cNvSpPr>
            <p:nvPr/>
          </p:nvSpPr>
          <p:spPr bwMode="auto">
            <a:xfrm>
              <a:off x="1619082" y="3370507"/>
              <a:ext cx="100287" cy="117687"/>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7" name="Rectangle 143"/>
            <p:cNvSpPr>
              <a:spLocks noChangeArrowheads="1"/>
            </p:cNvSpPr>
            <p:nvPr/>
          </p:nvSpPr>
          <p:spPr bwMode="auto">
            <a:xfrm>
              <a:off x="928870" y="3401660"/>
              <a:ext cx="100287" cy="117687"/>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8" name="AutoShape 144"/>
            <p:cNvSpPr>
              <a:spLocks noChangeArrowheads="1"/>
            </p:cNvSpPr>
            <p:nvPr/>
          </p:nvSpPr>
          <p:spPr bwMode="auto">
            <a:xfrm>
              <a:off x="1365414" y="3386084"/>
              <a:ext cx="100287" cy="117687"/>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9" name="AutoShape 145"/>
            <p:cNvSpPr>
              <a:spLocks noChangeArrowheads="1"/>
            </p:cNvSpPr>
            <p:nvPr/>
          </p:nvSpPr>
          <p:spPr bwMode="auto">
            <a:xfrm>
              <a:off x="2076273" y="3534924"/>
              <a:ext cx="100287" cy="117687"/>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62" name="Oval 202"/>
            <p:cNvSpPr>
              <a:spLocks noChangeArrowheads="1"/>
            </p:cNvSpPr>
            <p:nvPr/>
          </p:nvSpPr>
          <p:spPr bwMode="auto">
            <a:xfrm>
              <a:off x="6572968" y="3351470"/>
              <a:ext cx="333307" cy="391137"/>
            </a:xfrm>
            <a:prstGeom prst="ellipse">
              <a:avLst/>
            </a:prstGeom>
            <a:noFill/>
            <a:ln w="28575">
              <a:solidFill>
                <a:srgbClr val="CC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63" name="Rectangle 207"/>
            <p:cNvSpPr>
              <a:spLocks noChangeArrowheads="1"/>
            </p:cNvSpPr>
            <p:nvPr/>
          </p:nvSpPr>
          <p:spPr bwMode="auto">
            <a:xfrm>
              <a:off x="5817865" y="2124406"/>
              <a:ext cx="1048685" cy="600164"/>
            </a:xfrm>
            <a:prstGeom prst="rect">
              <a:avLst/>
            </a:prstGeom>
            <a:noFill/>
            <a:ln w="9525" algn="ctr">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rgbClr val="CC0000"/>
                  </a:solidFill>
                  <a:effectLst/>
                  <a:uLnTx/>
                  <a:uFillTx/>
                  <a:latin typeface="Arial" pitchFamily="34" charset="0"/>
                  <a:ea typeface="맑은 고딕" pitchFamily="50" charset="-127"/>
                  <a:cs typeface="Arial" pitchFamily="34" charset="0"/>
                </a:rPr>
                <a:t>Reuse</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rgbClr val="CC0000"/>
                  </a:solidFill>
                  <a:effectLst/>
                  <a:uLnTx/>
                  <a:uFillTx/>
                  <a:latin typeface="Arial" pitchFamily="34" charset="0"/>
                  <a:ea typeface="맑은 고딕" pitchFamily="50" charset="-127"/>
                  <a:cs typeface="Arial" pitchFamily="34" charset="0"/>
                </a:rPr>
                <a:t>Common</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rgbClr val="CC0000"/>
                  </a:solidFill>
                  <a:effectLst/>
                  <a:uLnTx/>
                  <a:uFillTx/>
                  <a:latin typeface="Arial" pitchFamily="34" charset="0"/>
                  <a:ea typeface="맑은 고딕" pitchFamily="50" charset="-127"/>
                  <a:cs typeface="Arial" pitchFamily="34" charset="0"/>
                </a:rPr>
                <a:t>Components</a:t>
              </a:r>
              <a:endParaRPr kumimoji="0" lang="ko-KR" altLang="en-US" sz="1100" b="1" i="0" u="none" strike="noStrike" kern="0" cap="none" spc="0" normalizeH="0" baseline="0" noProof="0">
                <a:ln>
                  <a:noFill/>
                </a:ln>
                <a:solidFill>
                  <a:srgbClr val="CC0000"/>
                </a:solidFill>
                <a:effectLst/>
                <a:uLnTx/>
                <a:uFillTx/>
                <a:latin typeface="Arial" pitchFamily="34" charset="0"/>
                <a:ea typeface="맑은 고딕" pitchFamily="50" charset="-127"/>
                <a:cs typeface="Arial" pitchFamily="34" charset="0"/>
              </a:endParaRPr>
            </a:p>
          </p:txBody>
        </p:sp>
        <p:sp>
          <p:nvSpPr>
            <p:cNvPr id="264" name="AutoShape 222" descr="밝은 상향 대각선"/>
            <p:cNvSpPr>
              <a:spLocks noChangeArrowheads="1"/>
            </p:cNvSpPr>
            <p:nvPr/>
          </p:nvSpPr>
          <p:spPr bwMode="auto">
            <a:xfrm>
              <a:off x="431859" y="4729104"/>
              <a:ext cx="2309552" cy="1571472"/>
            </a:xfrm>
            <a:prstGeom prst="bracketPair">
              <a:avLst>
                <a:gd name="adj" fmla="val 5694"/>
              </a:avLst>
            </a:prstGeom>
            <a:pattFill prst="ltUpDiag">
              <a:fgClr>
                <a:srgbClr val="C0C0C0"/>
              </a:fgClr>
              <a:bgClr>
                <a:srgbClr val="EAEAEA"/>
              </a:bgClr>
            </a:pattFill>
            <a:ln w="25400">
              <a:solidFill>
                <a:srgbClr val="C0C0C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65" name="Text Box 223"/>
            <p:cNvSpPr txBox="1">
              <a:spLocks noChangeArrowheads="1"/>
            </p:cNvSpPr>
            <p:nvPr/>
          </p:nvSpPr>
          <p:spPr bwMode="auto">
            <a:xfrm>
              <a:off x="467254" y="4806985"/>
              <a:ext cx="2284481" cy="1446550"/>
            </a:xfrm>
            <a:prstGeom prst="rect">
              <a:avLst/>
            </a:prstGeom>
            <a:noFill/>
            <a:ln w="9525">
              <a:noFill/>
              <a:miter lim="800000"/>
              <a:headEnd/>
              <a:tailEnd/>
            </a:ln>
          </p:spPr>
          <p:txBody>
            <a:bodyPr>
              <a:spAutoFit/>
            </a:bodyPr>
            <a:lstStyle/>
            <a:p>
              <a:pPr marL="85725" marR="0" lvl="0" indent="-85725" defTabSz="914400" eaLnBrk="1" fontAlgn="auto" latinLnBrk="0" hangingPunct="1">
                <a:lnSpc>
                  <a:spcPct val="125000"/>
                </a:lnSpc>
                <a:spcBef>
                  <a:spcPct val="25000"/>
                </a:spcBef>
                <a:spcAft>
                  <a:spcPts val="0"/>
                </a:spcAft>
                <a:buClrTx/>
                <a:buSzTx/>
                <a:buFontTx/>
                <a:buChar char="•"/>
                <a:tabLst/>
                <a:defRPr/>
              </a:pPr>
              <a:r>
                <a:rPr kumimoji="0" lang="en-US" altLang="ko-KR" sz="1100" b="1" i="0" u="none" strike="noStrike" kern="0" cap="none" spc="0" normalizeH="0" baseline="0" noProof="0">
                  <a:ln>
                    <a:noFill/>
                  </a:ln>
                  <a:solidFill>
                    <a:srgbClr val="0000FF"/>
                  </a:solidFill>
                  <a:effectLst/>
                  <a:uLnTx/>
                  <a:uFillTx/>
                  <a:latin typeface="Arial" pitchFamily="34" charset="0"/>
                  <a:ea typeface="맑은 고딕" pitchFamily="50" charset="-127"/>
                  <a:cs typeface="Arial" pitchFamily="34" charset="0"/>
                </a:rPr>
                <a:t>Duplicate development </a:t>
              </a: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of the same feature in each project</a:t>
              </a:r>
              <a:endParaRPr kumimoji="0" lang="ko-KR" altLang="en-US" sz="1100" b="1" i="0" u="none" strike="noStrike" kern="0" cap="none" spc="0" normalizeH="0" baseline="0" noProof="0">
                <a:ln>
                  <a:noFill/>
                </a:ln>
                <a:solidFill>
                  <a:srgbClr val="0000FF"/>
                </a:solidFill>
                <a:effectLst/>
                <a:uLnTx/>
                <a:uFillTx/>
                <a:latin typeface="Arial" pitchFamily="34" charset="0"/>
                <a:ea typeface="맑은 고딕" pitchFamily="50" charset="-127"/>
                <a:cs typeface="Arial" pitchFamily="34" charset="0"/>
              </a:endParaRPr>
            </a:p>
            <a:p>
              <a:pPr marL="85725" marR="0" lvl="0" indent="-85725" defTabSz="914400" eaLnBrk="1" fontAlgn="auto" latinLnBrk="0" hangingPunct="1">
                <a:lnSpc>
                  <a:spcPct val="125000"/>
                </a:lnSpc>
                <a:spcBef>
                  <a:spcPct val="25000"/>
                </a:spcBef>
                <a:spcAft>
                  <a:spcPts val="0"/>
                </a:spcAft>
                <a:buClrTx/>
                <a:buSzTx/>
                <a:buFontTx/>
                <a:buChar char="•"/>
                <a:tabLst/>
                <a:defRPr/>
              </a:pPr>
              <a:r>
                <a:rPr kumimoji="0" lang="en-US" altLang="ko-KR" sz="1100" b="1" i="0" u="none" strike="noStrike" kern="0" cap="none" spc="0" normalizeH="0" baseline="0" noProof="0">
                  <a:ln>
                    <a:noFill/>
                  </a:ln>
                  <a:solidFill>
                    <a:srgbClr val="0000FF"/>
                  </a:solidFill>
                  <a:effectLst/>
                  <a:uLnTx/>
                  <a:uFillTx/>
                  <a:latin typeface="Arial" pitchFamily="34" charset="0"/>
                  <a:ea typeface="맑은 고딕" pitchFamily="50" charset="-127"/>
                  <a:cs typeface="Arial" pitchFamily="34" charset="0"/>
                </a:rPr>
                <a:t>Business dependency </a:t>
              </a: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in subsequent projects</a:t>
              </a:r>
              <a:endParaRPr kumimoji="0" lang="ko-KR" altLang="en-US"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a:p>
              <a:pPr marL="85725" marR="0" lvl="0" indent="-85725" defTabSz="914400" eaLnBrk="1" fontAlgn="auto" latinLnBrk="0" hangingPunct="1">
                <a:lnSpc>
                  <a:spcPct val="125000"/>
                </a:lnSpc>
                <a:spcBef>
                  <a:spcPct val="25000"/>
                </a:spcBef>
                <a:spcAft>
                  <a:spcPts val="0"/>
                </a:spcAft>
                <a:buClrTx/>
                <a:buSzTx/>
                <a:buFontTx/>
                <a:buChar char="•"/>
                <a:tabLst/>
                <a:defRPr/>
              </a:pPr>
              <a:r>
                <a:rPr kumimoji="0" lang="en-US" altLang="ko-KR" sz="1100" b="1" i="0" u="none" strike="noStrike" kern="0" cap="none" spc="0" normalizeH="0" baseline="0" noProof="0">
                  <a:ln>
                    <a:noFill/>
                  </a:ln>
                  <a:solidFill>
                    <a:srgbClr val="0000FF"/>
                  </a:solidFill>
                  <a:effectLst/>
                  <a:uLnTx/>
                  <a:uFillTx/>
                  <a:latin typeface="Arial" pitchFamily="34" charset="0"/>
                  <a:ea typeface="맑은 고딕" pitchFamily="50" charset="-127"/>
                  <a:cs typeface="Arial" pitchFamily="34" charset="0"/>
                </a:rPr>
                <a:t>Limited opportunities for small business bid</a:t>
              </a:r>
              <a:endParaRPr kumimoji="0" lang="ko-KR" altLang="en-US" sz="1100" b="1" i="0" u="none" strike="noStrike" kern="0" cap="none" spc="0" normalizeH="0" baseline="0" noProof="0">
                <a:ln>
                  <a:noFill/>
                </a:ln>
                <a:solidFill>
                  <a:srgbClr val="0000FF"/>
                </a:solidFill>
                <a:effectLst/>
                <a:uLnTx/>
                <a:uFillTx/>
                <a:latin typeface="Arial" pitchFamily="34" charset="0"/>
                <a:ea typeface="맑은 고딕" pitchFamily="50" charset="-127"/>
                <a:cs typeface="Arial" pitchFamily="34" charset="0"/>
              </a:endParaRPr>
            </a:p>
          </p:txBody>
        </p:sp>
        <p:sp>
          <p:nvSpPr>
            <p:cNvPr id="266" name="Rectangle 239"/>
            <p:cNvSpPr>
              <a:spLocks noChangeArrowheads="1"/>
            </p:cNvSpPr>
            <p:nvPr/>
          </p:nvSpPr>
          <p:spPr bwMode="auto">
            <a:xfrm>
              <a:off x="530027" y="3846449"/>
              <a:ext cx="1339127" cy="392867"/>
            </a:xfrm>
            <a:prstGeom prst="rect">
              <a:avLst/>
            </a:prstGeom>
            <a:solidFill>
              <a:srgbClr val="00CCFF">
                <a:alpha val="30196"/>
              </a:srgbClr>
            </a:solidFill>
            <a:ln w="25400" algn="ctr">
              <a:solidFill>
                <a:srgbClr val="000080"/>
              </a:solidFill>
              <a:prstDash val="sysDot"/>
              <a:miter lim="800000"/>
              <a:headEnd/>
              <a:tailEnd/>
            </a:ln>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nvGrpSpPr>
            <p:cNvPr id="267" name="그룹 198"/>
            <p:cNvGrpSpPr>
              <a:grpSpLocks/>
            </p:cNvGrpSpPr>
            <p:nvPr/>
          </p:nvGrpSpPr>
          <p:grpSpPr bwMode="auto">
            <a:xfrm>
              <a:off x="2745835" y="1196752"/>
              <a:ext cx="3187063" cy="3471776"/>
              <a:chOff x="2932113" y="1628775"/>
              <a:chExt cx="3430599" cy="3768727"/>
            </a:xfrm>
          </p:grpSpPr>
          <p:grpSp>
            <p:nvGrpSpPr>
              <p:cNvPr id="294" name="Group 21"/>
              <p:cNvGrpSpPr>
                <a:grpSpLocks/>
              </p:cNvGrpSpPr>
              <p:nvPr/>
            </p:nvGrpSpPr>
            <p:grpSpPr bwMode="auto">
              <a:xfrm>
                <a:off x="3624270" y="1628775"/>
                <a:ext cx="2738442" cy="665163"/>
                <a:chOff x="2263" y="913"/>
                <a:chExt cx="1708" cy="419"/>
              </a:xfrm>
            </p:grpSpPr>
            <p:pic>
              <p:nvPicPr>
                <p:cNvPr id="343" name="Picture 22" descr="상단"/>
                <p:cNvPicPr>
                  <a:picLocks noChangeAspect="1" noChangeArrowheads="1"/>
                </p:cNvPicPr>
                <p:nvPr/>
              </p:nvPicPr>
              <p:blipFill>
                <a:blip r:embed="rId7" cstate="print"/>
                <a:srcRect l="82359" t="54736" r="9093"/>
                <a:stretch>
                  <a:fillRect/>
                </a:stretch>
              </p:blipFill>
              <p:spPr bwMode="auto">
                <a:xfrm>
                  <a:off x="3806" y="913"/>
                  <a:ext cx="165" cy="419"/>
                </a:xfrm>
                <a:prstGeom prst="rect">
                  <a:avLst/>
                </a:prstGeom>
                <a:noFill/>
                <a:ln w="9525">
                  <a:noFill/>
                  <a:miter lim="800000"/>
                  <a:headEnd/>
                  <a:tailEnd/>
                </a:ln>
              </p:spPr>
            </p:pic>
            <p:pic>
              <p:nvPicPr>
                <p:cNvPr id="344" name="Picture 23" descr="상단"/>
                <p:cNvPicPr>
                  <a:picLocks noChangeAspect="1" noChangeArrowheads="1"/>
                </p:cNvPicPr>
                <p:nvPr/>
              </p:nvPicPr>
              <p:blipFill>
                <a:blip r:embed="rId8" cstate="print"/>
                <a:srcRect l="17795" t="54736" r="16103"/>
                <a:stretch>
                  <a:fillRect/>
                </a:stretch>
              </p:blipFill>
              <p:spPr bwMode="auto">
                <a:xfrm>
                  <a:off x="2378" y="913"/>
                  <a:ext cx="1465" cy="419"/>
                </a:xfrm>
                <a:prstGeom prst="rect">
                  <a:avLst/>
                </a:prstGeom>
                <a:noFill/>
                <a:ln w="9525">
                  <a:noFill/>
                  <a:miter lim="800000"/>
                  <a:headEnd/>
                  <a:tailEnd/>
                </a:ln>
              </p:spPr>
            </p:pic>
            <p:pic>
              <p:nvPicPr>
                <p:cNvPr id="345" name="Picture 24" descr="상단"/>
                <p:cNvPicPr>
                  <a:picLocks noChangeAspect="1" noChangeArrowheads="1"/>
                </p:cNvPicPr>
                <p:nvPr/>
              </p:nvPicPr>
              <p:blipFill>
                <a:blip r:embed="rId9" cstate="print"/>
                <a:srcRect l="10222" t="54736" r="81949"/>
                <a:stretch>
                  <a:fillRect/>
                </a:stretch>
              </p:blipFill>
              <p:spPr bwMode="auto">
                <a:xfrm>
                  <a:off x="2263" y="913"/>
                  <a:ext cx="151" cy="419"/>
                </a:xfrm>
                <a:prstGeom prst="rect">
                  <a:avLst/>
                </a:prstGeom>
                <a:noFill/>
                <a:ln w="9525">
                  <a:noFill/>
                  <a:miter lim="800000"/>
                  <a:headEnd/>
                  <a:tailEnd/>
                </a:ln>
              </p:spPr>
            </p:pic>
          </p:grpSp>
          <p:sp>
            <p:nvSpPr>
              <p:cNvPr id="295" name="Text Box 26"/>
              <p:cNvSpPr txBox="1">
                <a:spLocks noChangeArrowheads="1"/>
              </p:cNvSpPr>
              <p:nvPr/>
            </p:nvSpPr>
            <p:spPr bwMode="auto">
              <a:xfrm>
                <a:off x="4452480" y="1811792"/>
                <a:ext cx="1061179" cy="233872"/>
              </a:xfrm>
              <a:prstGeom prst="rect">
                <a:avLst/>
              </a:prstGeom>
              <a:noFill/>
              <a:ln w="9525" algn="ctr">
                <a:noFill/>
                <a:miter lim="800000"/>
                <a:headEnd/>
                <a:tailEnd/>
              </a:ln>
            </p:spPr>
            <p:txBody>
              <a:bodyPr wrap="none" lIns="0" tIns="0" rIns="0" bIns="0">
                <a:spAutoFit/>
              </a:bodyPr>
              <a:lstStyle/>
              <a:p>
                <a:pPr marL="0" marR="0" lvl="0" indent="0" algn="ctr" defTabSz="914400" eaLnBrk="1" fontAlgn="auto" latinLnBrk="0" hangingPunct="1">
                  <a:lnSpc>
                    <a:spcPct val="100000"/>
                  </a:lnSpc>
                  <a:spcBef>
                    <a:spcPts val="0"/>
                  </a:spcBef>
                  <a:spcAft>
                    <a:spcPts val="0"/>
                  </a:spcAft>
                  <a:buClrTx/>
                  <a:buSzPct val="80000"/>
                  <a:buFontTx/>
                  <a:buNone/>
                  <a:tabLst/>
                  <a:defRPr/>
                </a:pPr>
                <a:r>
                  <a:rPr kumimoji="0" lang="en-US" altLang="ko-KR" sz="1400" b="1" i="0" u="none" strike="noStrike" kern="0" cap="none" spc="0" normalizeH="0" baseline="0" noProof="0" dirty="0" err="1">
                    <a:ln>
                      <a:noFill/>
                    </a:ln>
                    <a:solidFill>
                      <a:srgbClr val="FFFFFF"/>
                    </a:solidFill>
                    <a:effectLst/>
                    <a:uLnTx/>
                    <a:uFillTx/>
                    <a:latin typeface="Arial" pitchFamily="34" charset="0"/>
                    <a:ea typeface="맑은 고딕" pitchFamily="50" charset="-127"/>
                    <a:cs typeface="Arial" pitchFamily="34" charset="0"/>
                  </a:rPr>
                  <a:t>eGovFrame</a:t>
                </a:r>
                <a:endParaRPr kumimoji="0" lang="ko-KR" altLang="en-US" sz="1400" b="1" i="0" u="none" strike="noStrike" kern="0" cap="none" spc="0" normalizeH="0" baseline="0" noProof="0" dirty="0">
                  <a:ln>
                    <a:noFill/>
                  </a:ln>
                  <a:solidFill>
                    <a:srgbClr val="FFFFFF"/>
                  </a:solidFill>
                  <a:effectLst/>
                  <a:uLnTx/>
                  <a:uFillTx/>
                  <a:latin typeface="Arial" pitchFamily="34" charset="0"/>
                  <a:ea typeface="맑은 고딕" pitchFamily="50" charset="-127"/>
                  <a:cs typeface="Arial" pitchFamily="34" charset="0"/>
                </a:endParaRPr>
              </a:p>
            </p:txBody>
          </p:sp>
          <p:sp>
            <p:nvSpPr>
              <p:cNvPr id="296" name="Rectangle 161"/>
              <p:cNvSpPr>
                <a:spLocks noChangeArrowheads="1"/>
              </p:cNvSpPr>
              <p:nvPr/>
            </p:nvSpPr>
            <p:spPr bwMode="auto">
              <a:xfrm>
                <a:off x="2932113" y="2495550"/>
                <a:ext cx="1128819" cy="651498"/>
              </a:xfrm>
              <a:prstGeom prst="rect">
                <a:avLst/>
              </a:prstGeom>
              <a:noFill/>
              <a:ln w="9525">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rgbClr val="CC0000"/>
                    </a:solidFill>
                    <a:effectLst/>
                    <a:uLnTx/>
                    <a:uFillTx/>
                    <a:latin typeface="Arial" pitchFamily="34" charset="0"/>
                    <a:ea typeface="맑은 고딕" pitchFamily="50" charset="-127"/>
                    <a:cs typeface="Arial" pitchFamily="34" charset="0"/>
                  </a:rPr>
                  <a:t>Define</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rgbClr val="CC0000"/>
                    </a:solidFill>
                    <a:effectLst/>
                    <a:uLnTx/>
                    <a:uFillTx/>
                    <a:latin typeface="Arial" pitchFamily="34" charset="0"/>
                    <a:ea typeface="맑은 고딕" pitchFamily="50" charset="-127"/>
                    <a:cs typeface="Arial" pitchFamily="34" charset="0"/>
                  </a:rPr>
                  <a:t>Common</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rgbClr val="CC0000"/>
                    </a:solidFill>
                    <a:effectLst/>
                    <a:uLnTx/>
                    <a:uFillTx/>
                    <a:latin typeface="Arial" pitchFamily="34" charset="0"/>
                    <a:ea typeface="맑은 고딕" pitchFamily="50" charset="-127"/>
                    <a:cs typeface="Arial" pitchFamily="34" charset="0"/>
                  </a:rPr>
                  <a:t>Components</a:t>
                </a:r>
              </a:p>
            </p:txBody>
          </p:sp>
          <p:grpSp>
            <p:nvGrpSpPr>
              <p:cNvPr id="297" name="그룹 435"/>
              <p:cNvGrpSpPr>
                <a:grpSpLocks/>
              </p:cNvGrpSpPr>
              <p:nvPr/>
            </p:nvGrpSpPr>
            <p:grpSpPr bwMode="auto">
              <a:xfrm>
                <a:off x="3848100" y="2806703"/>
                <a:ext cx="2305050" cy="2590799"/>
                <a:chOff x="3848098" y="2647950"/>
                <a:chExt cx="2305050" cy="2154238"/>
              </a:xfrm>
            </p:grpSpPr>
            <p:sp>
              <p:nvSpPr>
                <p:cNvPr id="298" name="Rectangle 49"/>
                <p:cNvSpPr>
                  <a:spLocks noChangeArrowheads="1"/>
                </p:cNvSpPr>
                <p:nvPr/>
              </p:nvSpPr>
              <p:spPr bwMode="auto">
                <a:xfrm>
                  <a:off x="3848098" y="2647950"/>
                  <a:ext cx="2305050" cy="719138"/>
                </a:xfrm>
                <a:prstGeom prst="rect">
                  <a:avLst/>
                </a:prstGeom>
                <a:pattFill prst="dkUpDiag">
                  <a:fgClr>
                    <a:srgbClr val="EAEAEA"/>
                  </a:fgClr>
                  <a:bgClr>
                    <a:srgbClr val="FFFFFF"/>
                  </a:bgClr>
                </a:pattFill>
                <a:ln w="15875" algn="ctr">
                  <a:pattFill prst="dkUpDiag">
                    <a:fgClr>
                      <a:srgbClr val="B2B2B2"/>
                    </a:fgClr>
                    <a:bgClr>
                      <a:srgbClr val="FFFFFF"/>
                    </a:bgClr>
                  </a:patt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99" name="Oval 50"/>
                <p:cNvSpPr>
                  <a:spLocks noChangeArrowheads="1"/>
                </p:cNvSpPr>
                <p:nvPr/>
              </p:nvSpPr>
              <p:spPr bwMode="auto">
                <a:xfrm>
                  <a:off x="4013198" y="2719388"/>
                  <a:ext cx="576263" cy="576262"/>
                </a:xfrm>
                <a:prstGeom prst="ellipse">
                  <a:avLst/>
                </a:prstGeom>
                <a:solidFill>
                  <a:srgbClr val="B79249">
                    <a:alpha val="50195"/>
                  </a:srgbClr>
                </a:solidFill>
                <a:ln w="25400" algn="ctr">
                  <a:solidFill>
                    <a:srgbClr val="CC0000"/>
                  </a:solidFill>
                  <a:prstDash val="sysDot"/>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0" name="Oval 51"/>
                <p:cNvSpPr>
                  <a:spLocks noChangeArrowheads="1"/>
                </p:cNvSpPr>
                <p:nvPr/>
              </p:nvSpPr>
              <p:spPr bwMode="auto">
                <a:xfrm>
                  <a:off x="5453061" y="2719388"/>
                  <a:ext cx="576262" cy="576262"/>
                </a:xfrm>
                <a:prstGeom prst="ellipse">
                  <a:avLst/>
                </a:prstGeom>
                <a:solidFill>
                  <a:srgbClr val="B79249">
                    <a:alpha val="50195"/>
                  </a:srgbClr>
                </a:solidFill>
                <a:ln w="25400" algn="ctr">
                  <a:solidFill>
                    <a:srgbClr val="CC0000"/>
                  </a:solidFill>
                  <a:prstDash val="sysDot"/>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1" name="Rectangle 52"/>
                <p:cNvSpPr>
                  <a:spLocks noChangeArrowheads="1"/>
                </p:cNvSpPr>
                <p:nvPr/>
              </p:nvSpPr>
              <p:spPr bwMode="auto">
                <a:xfrm>
                  <a:off x="4125911" y="2995613"/>
                  <a:ext cx="107950" cy="107950"/>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2" name="Rectangle 53"/>
                <p:cNvSpPr>
                  <a:spLocks noChangeArrowheads="1"/>
                </p:cNvSpPr>
                <p:nvPr/>
              </p:nvSpPr>
              <p:spPr bwMode="auto">
                <a:xfrm>
                  <a:off x="4238623" y="2857500"/>
                  <a:ext cx="107950" cy="107950"/>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3" name="Rectangle 54"/>
                <p:cNvSpPr>
                  <a:spLocks noChangeArrowheads="1"/>
                </p:cNvSpPr>
                <p:nvPr/>
              </p:nvSpPr>
              <p:spPr bwMode="auto">
                <a:xfrm>
                  <a:off x="4310061" y="3033713"/>
                  <a:ext cx="107950" cy="107950"/>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4" name="Oval 55"/>
                <p:cNvSpPr>
                  <a:spLocks noChangeArrowheads="1"/>
                </p:cNvSpPr>
                <p:nvPr/>
              </p:nvSpPr>
              <p:spPr bwMode="auto">
                <a:xfrm>
                  <a:off x="5640386" y="2862263"/>
                  <a:ext cx="107950" cy="107950"/>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5" name="Oval 56"/>
                <p:cNvSpPr>
                  <a:spLocks noChangeArrowheads="1"/>
                </p:cNvSpPr>
                <p:nvPr/>
              </p:nvSpPr>
              <p:spPr bwMode="auto">
                <a:xfrm>
                  <a:off x="5640386" y="3017838"/>
                  <a:ext cx="107950" cy="107950"/>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6" name="Oval 57"/>
                <p:cNvSpPr>
                  <a:spLocks noChangeArrowheads="1"/>
                </p:cNvSpPr>
                <p:nvPr/>
              </p:nvSpPr>
              <p:spPr bwMode="auto">
                <a:xfrm>
                  <a:off x="5803898" y="2967038"/>
                  <a:ext cx="107950" cy="107950"/>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7" name="Oval 126"/>
                <p:cNvSpPr>
                  <a:spLocks noChangeArrowheads="1"/>
                </p:cNvSpPr>
                <p:nvPr/>
              </p:nvSpPr>
              <p:spPr bwMode="auto">
                <a:xfrm>
                  <a:off x="4730748" y="2719388"/>
                  <a:ext cx="574675" cy="576262"/>
                </a:xfrm>
                <a:prstGeom prst="ellipse">
                  <a:avLst/>
                </a:prstGeom>
                <a:solidFill>
                  <a:srgbClr val="B79249">
                    <a:alpha val="50195"/>
                  </a:srgbClr>
                </a:solidFill>
                <a:ln w="25400" algn="ctr">
                  <a:solidFill>
                    <a:srgbClr val="CC0000"/>
                  </a:solidFill>
                  <a:prstDash val="sysDot"/>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8" name="AutoShape 127"/>
                <p:cNvSpPr>
                  <a:spLocks noChangeArrowheads="1"/>
                </p:cNvSpPr>
                <p:nvPr/>
              </p:nvSpPr>
              <p:spPr bwMode="auto">
                <a:xfrm>
                  <a:off x="4851398" y="3049588"/>
                  <a:ext cx="107950" cy="107950"/>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9" name="AutoShape 128"/>
                <p:cNvSpPr>
                  <a:spLocks noChangeArrowheads="1"/>
                </p:cNvSpPr>
                <p:nvPr/>
              </p:nvSpPr>
              <p:spPr bwMode="auto">
                <a:xfrm>
                  <a:off x="5027611" y="3048000"/>
                  <a:ext cx="107950" cy="107950"/>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10" name="AutoShape 129"/>
                <p:cNvSpPr>
                  <a:spLocks noChangeArrowheads="1"/>
                </p:cNvSpPr>
                <p:nvPr/>
              </p:nvSpPr>
              <p:spPr bwMode="auto">
                <a:xfrm>
                  <a:off x="4895848" y="2868613"/>
                  <a:ext cx="106363" cy="107950"/>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11" name="AutoShape 130"/>
                <p:cNvSpPr>
                  <a:spLocks noChangeArrowheads="1"/>
                </p:cNvSpPr>
                <p:nvPr/>
              </p:nvSpPr>
              <p:spPr bwMode="auto">
                <a:xfrm>
                  <a:off x="5037136" y="2867025"/>
                  <a:ext cx="107950" cy="107950"/>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nvGrpSpPr>
                <p:cNvPr id="312" name="Group 170"/>
                <p:cNvGrpSpPr>
                  <a:grpSpLocks/>
                </p:cNvGrpSpPr>
                <p:nvPr/>
              </p:nvGrpSpPr>
              <p:grpSpPr bwMode="auto">
                <a:xfrm>
                  <a:off x="4822823" y="3687767"/>
                  <a:ext cx="433388" cy="649288"/>
                  <a:chOff x="2666" y="1797"/>
                  <a:chExt cx="273" cy="409"/>
                </a:xfrm>
              </p:grpSpPr>
              <p:sp>
                <p:nvSpPr>
                  <p:cNvPr id="340" name="Rectangle 171"/>
                  <p:cNvSpPr>
                    <a:spLocks noChangeArrowheads="1"/>
                  </p:cNvSpPr>
                  <p:nvPr/>
                </p:nvSpPr>
                <p:spPr bwMode="auto">
                  <a:xfrm>
                    <a:off x="2666" y="1797"/>
                    <a:ext cx="273" cy="318"/>
                  </a:xfrm>
                  <a:prstGeom prst="rect">
                    <a:avLst/>
                  </a:prstGeom>
                  <a:solidFill>
                    <a:srgbClr val="FFFFFF"/>
                  </a:solidFill>
                  <a:ln w="28575">
                    <a:solidFill>
                      <a:srgbClr val="CC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41" name="Rectangle 172"/>
                  <p:cNvSpPr>
                    <a:spLocks noChangeArrowheads="1"/>
                  </p:cNvSpPr>
                  <p:nvPr/>
                </p:nvSpPr>
                <p:spPr bwMode="auto">
                  <a:xfrm>
                    <a:off x="2757" y="2024"/>
                    <a:ext cx="90" cy="182"/>
                  </a:xfrm>
                  <a:prstGeom prst="rect">
                    <a:avLst/>
                  </a:prstGeom>
                  <a:solidFill>
                    <a:srgbClr val="FFFFFF"/>
                  </a:solidFill>
                  <a:ln w="28575">
                    <a:solidFill>
                      <a:srgbClr val="CC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42" name="Rectangle 173"/>
                  <p:cNvSpPr>
                    <a:spLocks noChangeArrowheads="1"/>
                  </p:cNvSpPr>
                  <p:nvPr/>
                </p:nvSpPr>
                <p:spPr bwMode="auto">
                  <a:xfrm>
                    <a:off x="2712" y="2006"/>
                    <a:ext cx="182" cy="91"/>
                  </a:xfrm>
                  <a:prstGeom prst="rect">
                    <a:avLst/>
                  </a:prstGeom>
                  <a:solidFill>
                    <a:srgbClr val="FFFFFF"/>
                  </a:solidFill>
                  <a:ln w="28575">
                    <a:solidFill>
                      <a:srgbClr val="FFFFFF"/>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grpSp>
              <p:nvGrpSpPr>
                <p:cNvPr id="313" name="Group 174"/>
                <p:cNvGrpSpPr>
                  <a:grpSpLocks/>
                </p:cNvGrpSpPr>
                <p:nvPr/>
              </p:nvGrpSpPr>
              <p:grpSpPr bwMode="auto">
                <a:xfrm>
                  <a:off x="5327648" y="3687767"/>
                  <a:ext cx="433388" cy="649288"/>
                  <a:chOff x="2666" y="1797"/>
                  <a:chExt cx="273" cy="409"/>
                </a:xfrm>
              </p:grpSpPr>
              <p:sp>
                <p:nvSpPr>
                  <p:cNvPr id="337" name="Rectangle 175"/>
                  <p:cNvSpPr>
                    <a:spLocks noChangeArrowheads="1"/>
                  </p:cNvSpPr>
                  <p:nvPr/>
                </p:nvSpPr>
                <p:spPr bwMode="auto">
                  <a:xfrm>
                    <a:off x="2666" y="1797"/>
                    <a:ext cx="273" cy="318"/>
                  </a:xfrm>
                  <a:prstGeom prst="rect">
                    <a:avLst/>
                  </a:prstGeom>
                  <a:solidFill>
                    <a:srgbClr val="FFFFFF"/>
                  </a:solidFill>
                  <a:ln w="28575">
                    <a:solidFill>
                      <a:srgbClr val="CC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38" name="Rectangle 176"/>
                  <p:cNvSpPr>
                    <a:spLocks noChangeArrowheads="1"/>
                  </p:cNvSpPr>
                  <p:nvPr/>
                </p:nvSpPr>
                <p:spPr bwMode="auto">
                  <a:xfrm>
                    <a:off x="2757" y="2024"/>
                    <a:ext cx="90" cy="182"/>
                  </a:xfrm>
                  <a:prstGeom prst="rect">
                    <a:avLst/>
                  </a:prstGeom>
                  <a:solidFill>
                    <a:srgbClr val="FFFFFF"/>
                  </a:solidFill>
                  <a:ln w="28575">
                    <a:solidFill>
                      <a:srgbClr val="CC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39" name="Rectangle 177"/>
                  <p:cNvSpPr>
                    <a:spLocks noChangeArrowheads="1"/>
                  </p:cNvSpPr>
                  <p:nvPr/>
                </p:nvSpPr>
                <p:spPr bwMode="auto">
                  <a:xfrm>
                    <a:off x="2712" y="2006"/>
                    <a:ext cx="182" cy="91"/>
                  </a:xfrm>
                  <a:prstGeom prst="rect">
                    <a:avLst/>
                  </a:prstGeom>
                  <a:solidFill>
                    <a:srgbClr val="FFFFFF"/>
                  </a:solidFill>
                  <a:ln w="28575">
                    <a:solidFill>
                      <a:srgbClr val="FFFFFF"/>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sp>
              <p:nvSpPr>
                <p:cNvPr id="314" name="Rectangle 178"/>
                <p:cNvSpPr>
                  <a:spLocks noChangeArrowheads="1"/>
                </p:cNvSpPr>
                <p:nvPr/>
              </p:nvSpPr>
              <p:spPr bwMode="auto">
                <a:xfrm>
                  <a:off x="5576886" y="4027488"/>
                  <a:ext cx="115887" cy="115887"/>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15" name="Rectangle 179"/>
                <p:cNvSpPr>
                  <a:spLocks noChangeArrowheads="1"/>
                </p:cNvSpPr>
                <p:nvPr/>
              </p:nvSpPr>
              <p:spPr bwMode="auto">
                <a:xfrm>
                  <a:off x="4986336" y="3746500"/>
                  <a:ext cx="114300" cy="115888"/>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16" name="AutoShape 180"/>
                <p:cNvSpPr>
                  <a:spLocks noChangeArrowheads="1"/>
                </p:cNvSpPr>
                <p:nvPr/>
              </p:nvSpPr>
              <p:spPr bwMode="auto">
                <a:xfrm>
                  <a:off x="5576886" y="3829050"/>
                  <a:ext cx="114300" cy="114300"/>
                </a:xfrm>
                <a:prstGeom prst="triangle">
                  <a:avLst>
                    <a:gd name="adj" fmla="val 50000"/>
                  </a:avLst>
                </a:prstGeom>
                <a:solidFill>
                  <a:srgbClr val="386FB1"/>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17" name="AutoShape 181"/>
                <p:cNvSpPr>
                  <a:spLocks noChangeArrowheads="1"/>
                </p:cNvSpPr>
                <p:nvPr/>
              </p:nvSpPr>
              <p:spPr bwMode="auto">
                <a:xfrm>
                  <a:off x="5000623" y="4030663"/>
                  <a:ext cx="114300" cy="114300"/>
                </a:xfrm>
                <a:prstGeom prst="triangle">
                  <a:avLst>
                    <a:gd name="adj" fmla="val 50000"/>
                  </a:avLst>
                </a:prstGeom>
                <a:solidFill>
                  <a:srgbClr val="386FB1"/>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18" name="Oval 182"/>
                <p:cNvSpPr>
                  <a:spLocks noChangeArrowheads="1"/>
                </p:cNvSpPr>
                <p:nvPr/>
              </p:nvSpPr>
              <p:spPr bwMode="auto">
                <a:xfrm>
                  <a:off x="5399086" y="3962400"/>
                  <a:ext cx="125412" cy="125413"/>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19" name="Oval 183"/>
                <p:cNvSpPr>
                  <a:spLocks noChangeArrowheads="1"/>
                </p:cNvSpPr>
                <p:nvPr/>
              </p:nvSpPr>
              <p:spPr bwMode="auto">
                <a:xfrm>
                  <a:off x="5081586" y="3886200"/>
                  <a:ext cx="125412" cy="125413"/>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20" name="AutoShape 184"/>
                <p:cNvSpPr>
                  <a:spLocks noChangeArrowheads="1"/>
                </p:cNvSpPr>
                <p:nvPr/>
              </p:nvSpPr>
              <p:spPr bwMode="auto">
                <a:xfrm>
                  <a:off x="4905373" y="3900488"/>
                  <a:ext cx="114300" cy="114300"/>
                </a:xfrm>
                <a:prstGeom prst="triangle">
                  <a:avLst>
                    <a:gd name="adj" fmla="val 50000"/>
                  </a:avLst>
                </a:prstGeom>
                <a:solidFill>
                  <a:srgbClr val="386FB1"/>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21" name="AutoShape 185"/>
                <p:cNvSpPr>
                  <a:spLocks noChangeArrowheads="1"/>
                </p:cNvSpPr>
                <p:nvPr/>
              </p:nvSpPr>
              <p:spPr bwMode="auto">
                <a:xfrm>
                  <a:off x="5403848" y="3762375"/>
                  <a:ext cx="114300" cy="114300"/>
                </a:xfrm>
                <a:prstGeom prst="triangle">
                  <a:avLst>
                    <a:gd name="adj" fmla="val 50000"/>
                  </a:avLst>
                </a:prstGeom>
                <a:solidFill>
                  <a:srgbClr val="386FB1"/>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nvGrpSpPr>
                <p:cNvPr id="322" name="Group 186"/>
                <p:cNvGrpSpPr>
                  <a:grpSpLocks/>
                </p:cNvGrpSpPr>
                <p:nvPr/>
              </p:nvGrpSpPr>
              <p:grpSpPr bwMode="auto">
                <a:xfrm>
                  <a:off x="4321173" y="3524250"/>
                  <a:ext cx="433388" cy="649288"/>
                  <a:chOff x="2666" y="1797"/>
                  <a:chExt cx="273" cy="409"/>
                </a:xfrm>
              </p:grpSpPr>
              <p:sp>
                <p:nvSpPr>
                  <p:cNvPr id="334" name="Rectangle 187"/>
                  <p:cNvSpPr>
                    <a:spLocks noChangeArrowheads="1"/>
                  </p:cNvSpPr>
                  <p:nvPr/>
                </p:nvSpPr>
                <p:spPr bwMode="auto">
                  <a:xfrm>
                    <a:off x="2666" y="1797"/>
                    <a:ext cx="273" cy="318"/>
                  </a:xfrm>
                  <a:prstGeom prst="rect">
                    <a:avLst/>
                  </a:prstGeom>
                  <a:solidFill>
                    <a:srgbClr val="FFFFFF"/>
                  </a:solidFill>
                  <a:ln w="28575">
                    <a:solidFill>
                      <a:srgbClr val="CC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35" name="Rectangle 188"/>
                  <p:cNvSpPr>
                    <a:spLocks noChangeArrowheads="1"/>
                  </p:cNvSpPr>
                  <p:nvPr/>
                </p:nvSpPr>
                <p:spPr bwMode="auto">
                  <a:xfrm>
                    <a:off x="2757" y="2024"/>
                    <a:ext cx="90" cy="182"/>
                  </a:xfrm>
                  <a:prstGeom prst="rect">
                    <a:avLst/>
                  </a:prstGeom>
                  <a:solidFill>
                    <a:srgbClr val="FFFFFF"/>
                  </a:solidFill>
                  <a:ln w="28575">
                    <a:solidFill>
                      <a:srgbClr val="CC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36" name="Rectangle 189"/>
                  <p:cNvSpPr>
                    <a:spLocks noChangeArrowheads="1"/>
                  </p:cNvSpPr>
                  <p:nvPr/>
                </p:nvSpPr>
                <p:spPr bwMode="auto">
                  <a:xfrm>
                    <a:off x="2712" y="2006"/>
                    <a:ext cx="182" cy="91"/>
                  </a:xfrm>
                  <a:prstGeom prst="rect">
                    <a:avLst/>
                  </a:prstGeom>
                  <a:solidFill>
                    <a:srgbClr val="FFFFFF"/>
                  </a:solidFill>
                  <a:ln w="28575">
                    <a:solidFill>
                      <a:srgbClr val="FFFFFF"/>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sp>
              <p:nvSpPr>
                <p:cNvPr id="323" name="Rectangle 190"/>
                <p:cNvSpPr>
                  <a:spLocks noChangeArrowheads="1"/>
                </p:cNvSpPr>
                <p:nvPr/>
              </p:nvSpPr>
              <p:spPr bwMode="auto">
                <a:xfrm>
                  <a:off x="4384673" y="3581400"/>
                  <a:ext cx="115888" cy="115888"/>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24" name="Oval 191"/>
                <p:cNvSpPr>
                  <a:spLocks noChangeArrowheads="1"/>
                </p:cNvSpPr>
                <p:nvPr/>
              </p:nvSpPr>
              <p:spPr bwMode="auto">
                <a:xfrm>
                  <a:off x="4432298" y="3830638"/>
                  <a:ext cx="125413" cy="125412"/>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25" name="Rectangle 192"/>
                <p:cNvSpPr>
                  <a:spLocks noChangeArrowheads="1"/>
                </p:cNvSpPr>
                <p:nvPr/>
              </p:nvSpPr>
              <p:spPr bwMode="auto">
                <a:xfrm>
                  <a:off x="4576761" y="3686175"/>
                  <a:ext cx="115887" cy="115888"/>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26" name="Line 193"/>
                <p:cNvSpPr>
                  <a:spLocks noChangeShapeType="1"/>
                </p:cNvSpPr>
                <p:nvPr/>
              </p:nvSpPr>
              <p:spPr bwMode="auto">
                <a:xfrm flipH="1">
                  <a:off x="5872161" y="4164013"/>
                  <a:ext cx="144462" cy="215900"/>
                </a:xfrm>
                <a:prstGeom prst="line">
                  <a:avLst/>
                </a:prstGeom>
                <a:noFill/>
                <a:ln w="19050">
                  <a:solidFill>
                    <a:srgbClr val="CC9900"/>
                  </a:solidFill>
                  <a:round/>
                  <a:headEnd/>
                  <a:tailEnd type="triangle" w="med" len="me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327" name="Line 200"/>
                <p:cNvSpPr>
                  <a:spLocks noChangeShapeType="1"/>
                </p:cNvSpPr>
                <p:nvPr/>
              </p:nvSpPr>
              <p:spPr bwMode="auto">
                <a:xfrm>
                  <a:off x="5040311" y="3308350"/>
                  <a:ext cx="0" cy="360363"/>
                </a:xfrm>
                <a:prstGeom prst="line">
                  <a:avLst/>
                </a:prstGeom>
                <a:noFill/>
                <a:ln w="28575">
                  <a:solidFill>
                    <a:srgbClr val="990033"/>
                  </a:solidFill>
                  <a:prstDash val="sysDot"/>
                  <a:round/>
                  <a:headEnd/>
                  <a:tailEnd type="triangle" w="med" len="me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328" name="Rectangle 240"/>
                <p:cNvSpPr>
                  <a:spLocks noChangeArrowheads="1"/>
                </p:cNvSpPr>
                <p:nvPr/>
              </p:nvSpPr>
              <p:spPr bwMode="auto">
                <a:xfrm>
                  <a:off x="4144961" y="4416425"/>
                  <a:ext cx="1800225" cy="360363"/>
                </a:xfrm>
                <a:prstGeom prst="rect">
                  <a:avLst/>
                </a:prstGeom>
                <a:solidFill>
                  <a:srgbClr val="A8954E"/>
                </a:solidFill>
                <a:ln w="9525" algn="ctr">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Framework</a:t>
                  </a:r>
                  <a:endParaRPr kumimoji="0" lang="ko-KR" altLang="en-US"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29" name="Rectangle 241"/>
                <p:cNvSpPr>
                  <a:spLocks noChangeArrowheads="1"/>
                </p:cNvSpPr>
                <p:nvPr/>
              </p:nvSpPr>
              <p:spPr bwMode="auto">
                <a:xfrm>
                  <a:off x="4144961" y="4271963"/>
                  <a:ext cx="287337" cy="144462"/>
                </a:xfrm>
                <a:prstGeom prst="rect">
                  <a:avLst/>
                </a:prstGeom>
                <a:solidFill>
                  <a:srgbClr val="A8954E"/>
                </a:solidFill>
                <a:ln w="9525" algn="ctr">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30" name="Rectangle 242"/>
                <p:cNvSpPr>
                  <a:spLocks noChangeArrowheads="1"/>
                </p:cNvSpPr>
                <p:nvPr/>
              </p:nvSpPr>
              <p:spPr bwMode="auto">
                <a:xfrm>
                  <a:off x="4648198" y="4271963"/>
                  <a:ext cx="288925" cy="144462"/>
                </a:xfrm>
                <a:prstGeom prst="rect">
                  <a:avLst/>
                </a:prstGeom>
                <a:solidFill>
                  <a:srgbClr val="A8954E"/>
                </a:solidFill>
                <a:ln w="9525" algn="ctr">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31" name="Rectangle 243"/>
                <p:cNvSpPr>
                  <a:spLocks noChangeArrowheads="1"/>
                </p:cNvSpPr>
                <p:nvPr/>
              </p:nvSpPr>
              <p:spPr bwMode="auto">
                <a:xfrm>
                  <a:off x="5656261" y="4271963"/>
                  <a:ext cx="288925" cy="144462"/>
                </a:xfrm>
                <a:prstGeom prst="rect">
                  <a:avLst/>
                </a:prstGeom>
                <a:solidFill>
                  <a:srgbClr val="A8954E"/>
                </a:solidFill>
                <a:ln w="9525" algn="ctr">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32" name="Rectangle 244"/>
                <p:cNvSpPr>
                  <a:spLocks noChangeArrowheads="1"/>
                </p:cNvSpPr>
                <p:nvPr/>
              </p:nvSpPr>
              <p:spPr bwMode="auto">
                <a:xfrm>
                  <a:off x="5153023" y="4271963"/>
                  <a:ext cx="287338" cy="144462"/>
                </a:xfrm>
                <a:prstGeom prst="rect">
                  <a:avLst/>
                </a:prstGeom>
                <a:solidFill>
                  <a:srgbClr val="A8954E"/>
                </a:solidFill>
                <a:ln w="9525" algn="ctr">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33" name="Rectangle 245"/>
                <p:cNvSpPr>
                  <a:spLocks noChangeArrowheads="1"/>
                </p:cNvSpPr>
                <p:nvPr/>
              </p:nvSpPr>
              <p:spPr bwMode="auto">
                <a:xfrm>
                  <a:off x="4097336" y="4233863"/>
                  <a:ext cx="1906587" cy="568325"/>
                </a:xfrm>
                <a:prstGeom prst="rect">
                  <a:avLst/>
                </a:prstGeom>
                <a:solidFill>
                  <a:srgbClr val="00CCFF">
                    <a:alpha val="30196"/>
                  </a:srgbClr>
                </a:solidFill>
                <a:ln w="25400" algn="ctr">
                  <a:solidFill>
                    <a:srgbClr val="000080"/>
                  </a:solidFill>
                  <a:prstDash val="sysDot"/>
                  <a:miter lim="800000"/>
                  <a:headEnd/>
                  <a:tailEnd/>
                </a:ln>
              </p:spPr>
              <p:txBody>
                <a:bodyPr wrap="none" lIns="90000" tIns="46800" rIns="90000" bIns="4680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grpSp>
        <p:sp>
          <p:nvSpPr>
            <p:cNvPr id="268" name="Freeform 246"/>
            <p:cNvSpPr>
              <a:spLocks/>
            </p:cNvSpPr>
            <p:nvPr/>
          </p:nvSpPr>
          <p:spPr bwMode="auto">
            <a:xfrm flipV="1">
              <a:off x="1744440" y="4029903"/>
              <a:ext cx="2041137" cy="361715"/>
            </a:xfrm>
            <a:custGeom>
              <a:avLst/>
              <a:gdLst>
                <a:gd name="T0" fmla="*/ 0 w 817"/>
                <a:gd name="T1" fmla="*/ 2147483647 h 227"/>
                <a:gd name="T2" fmla="*/ 2147483647 w 817"/>
                <a:gd name="T3" fmla="*/ 2147483647 h 227"/>
                <a:gd name="T4" fmla="*/ 2147483647 w 817"/>
                <a:gd name="T5" fmla="*/ 2147483647 h 227"/>
                <a:gd name="T6" fmla="*/ 2147483647 w 817"/>
                <a:gd name="T7" fmla="*/ 0 h 227"/>
                <a:gd name="T8" fmla="*/ 0 60000 65536"/>
                <a:gd name="T9" fmla="*/ 0 60000 65536"/>
                <a:gd name="T10" fmla="*/ 0 60000 65536"/>
                <a:gd name="T11" fmla="*/ 0 60000 65536"/>
                <a:gd name="T12" fmla="*/ 0 w 817"/>
                <a:gd name="T13" fmla="*/ 0 h 227"/>
                <a:gd name="T14" fmla="*/ 817 w 817"/>
                <a:gd name="T15" fmla="*/ 227 h 227"/>
              </a:gdLst>
              <a:ahLst/>
              <a:cxnLst>
                <a:cxn ang="T8">
                  <a:pos x="T0" y="T1"/>
                </a:cxn>
                <a:cxn ang="T9">
                  <a:pos x="T2" y="T3"/>
                </a:cxn>
                <a:cxn ang="T10">
                  <a:pos x="T4" y="T5"/>
                </a:cxn>
                <a:cxn ang="T11">
                  <a:pos x="T6" y="T7"/>
                </a:cxn>
              </a:cxnLst>
              <a:rect l="T12" t="T13" r="T14" b="T15"/>
              <a:pathLst>
                <a:path w="817" h="227">
                  <a:moveTo>
                    <a:pt x="0" y="227"/>
                  </a:moveTo>
                  <a:cubicBezTo>
                    <a:pt x="113" y="219"/>
                    <a:pt x="227" y="211"/>
                    <a:pt x="318" y="181"/>
                  </a:cubicBezTo>
                  <a:cubicBezTo>
                    <a:pt x="409" y="151"/>
                    <a:pt x="462" y="75"/>
                    <a:pt x="545" y="45"/>
                  </a:cubicBezTo>
                  <a:cubicBezTo>
                    <a:pt x="628" y="15"/>
                    <a:pt x="722" y="7"/>
                    <a:pt x="817" y="0"/>
                  </a:cubicBezTo>
                </a:path>
              </a:pathLst>
            </a:custGeom>
            <a:noFill/>
            <a:ln w="28575">
              <a:solidFill>
                <a:srgbClr val="386FB1"/>
              </a:solidFill>
              <a:round/>
              <a:headEnd/>
              <a:tailEnd type="triangle" w="med" len="med"/>
            </a:ln>
          </p:spPr>
          <p:txBody>
            <a:bodyPr rot="1080000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69" name="Rectangle 248"/>
            <p:cNvSpPr>
              <a:spLocks noChangeArrowheads="1"/>
            </p:cNvSpPr>
            <p:nvPr/>
          </p:nvSpPr>
          <p:spPr bwMode="auto">
            <a:xfrm>
              <a:off x="2747311" y="4293096"/>
              <a:ext cx="936475" cy="600164"/>
            </a:xfrm>
            <a:prstGeom prst="rect">
              <a:avLst/>
            </a:prstGeom>
            <a:noFill/>
            <a:ln w="9525">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dirty="0">
                  <a:ln>
                    <a:noFill/>
                  </a:ln>
                  <a:solidFill>
                    <a:srgbClr val="CC0000"/>
                  </a:solidFill>
                  <a:effectLst/>
                  <a:uLnTx/>
                  <a:uFillTx/>
                  <a:latin typeface="Arial" pitchFamily="34" charset="0"/>
                  <a:ea typeface="맑은 고딕" pitchFamily="50" charset="-127"/>
                  <a:cs typeface="Arial" pitchFamily="34" charset="0"/>
                </a:rPr>
                <a:t>Define</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dirty="0">
                  <a:ln>
                    <a:noFill/>
                  </a:ln>
                  <a:solidFill>
                    <a:srgbClr val="CC0000"/>
                  </a:solidFill>
                  <a:effectLst/>
                  <a:uLnTx/>
                  <a:uFillTx/>
                  <a:latin typeface="Arial" pitchFamily="34" charset="0"/>
                  <a:ea typeface="맑은 고딕" pitchFamily="50" charset="-127"/>
                  <a:cs typeface="Arial" pitchFamily="34" charset="0"/>
                </a:rPr>
                <a:t>Standard</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dirty="0">
                  <a:ln>
                    <a:noFill/>
                  </a:ln>
                  <a:solidFill>
                    <a:srgbClr val="CC0000"/>
                  </a:solidFill>
                  <a:effectLst/>
                  <a:uLnTx/>
                  <a:uFillTx/>
                  <a:latin typeface="Arial" pitchFamily="34" charset="0"/>
                  <a:ea typeface="맑은 고딕" pitchFamily="50" charset="-127"/>
                  <a:cs typeface="Arial" pitchFamily="34" charset="0"/>
                </a:rPr>
                <a:t>Framework</a:t>
              </a:r>
              <a:endParaRPr kumimoji="0" lang="ko-KR" altLang="en-US" sz="1100" b="1" i="0" u="none" strike="noStrike" kern="0" cap="none" spc="0" normalizeH="0" baseline="0" noProof="0" dirty="0">
                <a:ln>
                  <a:noFill/>
                </a:ln>
                <a:solidFill>
                  <a:srgbClr val="CC0000"/>
                </a:solidFill>
                <a:effectLst/>
                <a:uLnTx/>
                <a:uFillTx/>
                <a:latin typeface="Arial" pitchFamily="34" charset="0"/>
                <a:ea typeface="맑은 고딕" pitchFamily="50" charset="-127"/>
                <a:cs typeface="Arial" pitchFamily="34" charset="0"/>
              </a:endParaRPr>
            </a:p>
          </p:txBody>
        </p:sp>
        <p:sp>
          <p:nvSpPr>
            <p:cNvPr id="270" name="Freeform 249"/>
            <p:cNvSpPr>
              <a:spLocks/>
            </p:cNvSpPr>
            <p:nvPr/>
          </p:nvSpPr>
          <p:spPr bwMode="auto">
            <a:xfrm>
              <a:off x="5626140" y="4142397"/>
              <a:ext cx="986648" cy="235375"/>
            </a:xfrm>
            <a:custGeom>
              <a:avLst/>
              <a:gdLst>
                <a:gd name="T0" fmla="*/ 0 w 817"/>
                <a:gd name="T1" fmla="*/ 2147483647 h 227"/>
                <a:gd name="T2" fmla="*/ 2147483647 w 817"/>
                <a:gd name="T3" fmla="*/ 2147483647 h 227"/>
                <a:gd name="T4" fmla="*/ 2147483647 w 817"/>
                <a:gd name="T5" fmla="*/ 2147483647 h 227"/>
                <a:gd name="T6" fmla="*/ 2147483647 w 817"/>
                <a:gd name="T7" fmla="*/ 0 h 227"/>
                <a:gd name="T8" fmla="*/ 0 60000 65536"/>
                <a:gd name="T9" fmla="*/ 0 60000 65536"/>
                <a:gd name="T10" fmla="*/ 0 60000 65536"/>
                <a:gd name="T11" fmla="*/ 0 60000 65536"/>
                <a:gd name="T12" fmla="*/ 0 w 817"/>
                <a:gd name="T13" fmla="*/ 0 h 227"/>
                <a:gd name="T14" fmla="*/ 817 w 817"/>
                <a:gd name="T15" fmla="*/ 227 h 227"/>
              </a:gdLst>
              <a:ahLst/>
              <a:cxnLst>
                <a:cxn ang="T8">
                  <a:pos x="T0" y="T1"/>
                </a:cxn>
                <a:cxn ang="T9">
                  <a:pos x="T2" y="T3"/>
                </a:cxn>
                <a:cxn ang="T10">
                  <a:pos x="T4" y="T5"/>
                </a:cxn>
                <a:cxn ang="T11">
                  <a:pos x="T6" y="T7"/>
                </a:cxn>
              </a:cxnLst>
              <a:rect l="T12" t="T13" r="T14" b="T15"/>
              <a:pathLst>
                <a:path w="817" h="227">
                  <a:moveTo>
                    <a:pt x="0" y="227"/>
                  </a:moveTo>
                  <a:cubicBezTo>
                    <a:pt x="113" y="219"/>
                    <a:pt x="227" y="211"/>
                    <a:pt x="318" y="181"/>
                  </a:cubicBezTo>
                  <a:cubicBezTo>
                    <a:pt x="409" y="151"/>
                    <a:pt x="462" y="75"/>
                    <a:pt x="545" y="45"/>
                  </a:cubicBezTo>
                  <a:cubicBezTo>
                    <a:pt x="628" y="15"/>
                    <a:pt x="722" y="7"/>
                    <a:pt x="817" y="0"/>
                  </a:cubicBezTo>
                </a:path>
              </a:pathLst>
            </a:custGeom>
            <a:noFill/>
            <a:ln w="28575">
              <a:solidFill>
                <a:srgbClr val="386FB1"/>
              </a:solidFill>
              <a:round/>
              <a:headEnd/>
              <a:tailEnd type="triangle" w="med" len="me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71" name="Rectangle 250"/>
            <p:cNvSpPr>
              <a:spLocks noChangeArrowheads="1"/>
            </p:cNvSpPr>
            <p:nvPr/>
          </p:nvSpPr>
          <p:spPr bwMode="auto">
            <a:xfrm>
              <a:off x="6583292" y="3969328"/>
              <a:ext cx="2207790" cy="470749"/>
            </a:xfrm>
            <a:prstGeom prst="rect">
              <a:avLst/>
            </a:prstGeom>
            <a:solidFill>
              <a:srgbClr val="00CCFF">
                <a:alpha val="30196"/>
              </a:srgbClr>
            </a:solidFill>
            <a:ln w="25400" algn="ctr">
              <a:solidFill>
                <a:srgbClr val="000080"/>
              </a:solidFill>
              <a:prstDash val="sysDot"/>
              <a:miter lim="800000"/>
              <a:headEnd/>
              <a:tailEnd/>
            </a:ln>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72" name="Rectangle 259"/>
            <p:cNvSpPr>
              <a:spLocks noChangeArrowheads="1"/>
            </p:cNvSpPr>
            <p:nvPr/>
          </p:nvSpPr>
          <p:spPr bwMode="auto">
            <a:xfrm>
              <a:off x="6590666" y="2865144"/>
              <a:ext cx="2201892" cy="1043610"/>
            </a:xfrm>
            <a:prstGeom prst="rect">
              <a:avLst/>
            </a:prstGeom>
            <a:solidFill>
              <a:srgbClr val="B79249">
                <a:alpha val="30196"/>
              </a:srgbClr>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73" name="Line 261"/>
            <p:cNvSpPr>
              <a:spLocks noChangeShapeType="1"/>
            </p:cNvSpPr>
            <p:nvPr/>
          </p:nvSpPr>
          <p:spPr bwMode="auto">
            <a:xfrm>
              <a:off x="6590666" y="2859952"/>
              <a:ext cx="2207791" cy="0"/>
            </a:xfrm>
            <a:prstGeom prst="line">
              <a:avLst/>
            </a:prstGeom>
            <a:noFill/>
            <a:ln w="19050">
              <a:solidFill>
                <a:srgbClr val="CC0000"/>
              </a:solidFill>
              <a:prstDash val="sysDot"/>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74" name="Line 262"/>
            <p:cNvSpPr>
              <a:spLocks noChangeShapeType="1"/>
            </p:cNvSpPr>
            <p:nvPr/>
          </p:nvSpPr>
          <p:spPr bwMode="auto">
            <a:xfrm>
              <a:off x="8792557" y="2853030"/>
              <a:ext cx="0" cy="1055724"/>
            </a:xfrm>
            <a:prstGeom prst="line">
              <a:avLst/>
            </a:prstGeom>
            <a:noFill/>
            <a:ln w="19050">
              <a:solidFill>
                <a:srgbClr val="CC0000"/>
              </a:solidFill>
              <a:prstDash val="sysDot"/>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75" name="Line 263"/>
            <p:cNvSpPr>
              <a:spLocks noChangeShapeType="1"/>
            </p:cNvSpPr>
            <p:nvPr/>
          </p:nvSpPr>
          <p:spPr bwMode="auto">
            <a:xfrm>
              <a:off x="6590666" y="2853030"/>
              <a:ext cx="0" cy="1055724"/>
            </a:xfrm>
            <a:prstGeom prst="line">
              <a:avLst/>
            </a:prstGeom>
            <a:noFill/>
            <a:ln w="19050">
              <a:solidFill>
                <a:srgbClr val="CC0000"/>
              </a:solidFill>
              <a:prstDash val="sysDot"/>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76" name="Line 264"/>
            <p:cNvSpPr>
              <a:spLocks noChangeShapeType="1"/>
            </p:cNvSpPr>
            <p:nvPr/>
          </p:nvSpPr>
          <p:spPr bwMode="auto">
            <a:xfrm>
              <a:off x="6590666" y="3908754"/>
              <a:ext cx="2201892" cy="0"/>
            </a:xfrm>
            <a:prstGeom prst="line">
              <a:avLst/>
            </a:prstGeom>
            <a:noFill/>
            <a:ln w="19050">
              <a:solidFill>
                <a:srgbClr val="CC0000"/>
              </a:solidFill>
              <a:prstDash val="sysDot"/>
              <a:round/>
              <a:headEnd/>
              <a:tailEnd/>
            </a:ln>
          </p:spPr>
          <p:txBody>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77" name="AutoShape 272" descr="밝은 상향 대각선"/>
            <p:cNvSpPr>
              <a:spLocks noChangeArrowheads="1"/>
            </p:cNvSpPr>
            <p:nvPr/>
          </p:nvSpPr>
          <p:spPr bwMode="auto">
            <a:xfrm>
              <a:off x="6493328" y="4926403"/>
              <a:ext cx="2309552" cy="1374173"/>
            </a:xfrm>
            <a:prstGeom prst="bracketPair">
              <a:avLst>
                <a:gd name="adj" fmla="val 5694"/>
              </a:avLst>
            </a:prstGeom>
            <a:pattFill prst="ltUpDiag">
              <a:fgClr>
                <a:srgbClr val="C0C0C0"/>
              </a:fgClr>
              <a:bgClr>
                <a:srgbClr val="EAEAEA"/>
              </a:bgClr>
            </a:pattFill>
            <a:ln w="25400">
              <a:solidFill>
                <a:srgbClr val="C0C0C0"/>
              </a:solidFill>
              <a:round/>
              <a:headEnd/>
              <a:tailEnd/>
            </a:ln>
          </p:spPr>
          <p:txBody>
            <a:bodyPr tIns="10800" bIns="10800" anchor="ctr"/>
            <a:lstStyle/>
            <a:p>
              <a:pPr marL="85725" marR="0" lvl="0" indent="-85725" defTabSz="914400" eaLnBrk="1" fontAlgn="auto" latinLnBrk="0" hangingPunct="1">
                <a:lnSpc>
                  <a:spcPct val="125000"/>
                </a:lnSpc>
                <a:spcBef>
                  <a:spcPct val="25000"/>
                </a:spcBef>
                <a:spcAft>
                  <a:spcPts val="0"/>
                </a:spcAft>
                <a:buClrTx/>
                <a:buSzTx/>
                <a:buFontTx/>
                <a:buChar char="•"/>
                <a:tabLst/>
                <a:defRPr/>
              </a:pPr>
              <a:r>
                <a:rPr kumimoji="0" lang="en-US" altLang="ko-KR" sz="11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rPr>
                <a:t>Development </a:t>
              </a:r>
              <a:r>
                <a:rPr kumimoji="0" lang="en-US" altLang="ko-KR" sz="1100" b="1" i="0" u="none" strike="noStrike" kern="0" cap="none" spc="0" normalizeH="0" baseline="0" noProof="0" dirty="0">
                  <a:ln>
                    <a:noFill/>
                  </a:ln>
                  <a:solidFill>
                    <a:srgbClr val="0000FF"/>
                  </a:solidFill>
                  <a:effectLst/>
                  <a:uLnTx/>
                  <a:uFillTx/>
                  <a:latin typeface="Arial" pitchFamily="34" charset="0"/>
                  <a:ea typeface="맑은 고딕" pitchFamily="50" charset="-127"/>
                  <a:cs typeface="Arial" pitchFamily="34" charset="0"/>
                </a:rPr>
                <a:t>based on the standard framework</a:t>
              </a:r>
              <a:endParaRPr kumimoji="0" lang="ko-KR" altLang="en-US" sz="11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endParaRPr>
            </a:p>
            <a:p>
              <a:pPr marL="85725" marR="0" lvl="0" indent="-85725" defTabSz="914400" eaLnBrk="1" fontAlgn="auto" latinLnBrk="0" hangingPunct="1">
                <a:lnSpc>
                  <a:spcPct val="125000"/>
                </a:lnSpc>
                <a:spcBef>
                  <a:spcPct val="25000"/>
                </a:spcBef>
                <a:spcAft>
                  <a:spcPts val="0"/>
                </a:spcAft>
                <a:buClrTx/>
                <a:buSzTx/>
                <a:buFontTx/>
                <a:buChar char="•"/>
                <a:tabLst/>
                <a:defRPr/>
              </a:pPr>
              <a:r>
                <a:rPr kumimoji="0" lang="en-US" altLang="ko-KR" sz="1100" b="1" i="0" u="none" strike="noStrike" kern="0" cap="none" spc="0" normalizeH="0" baseline="0" noProof="0" dirty="0">
                  <a:ln>
                    <a:noFill/>
                  </a:ln>
                  <a:solidFill>
                    <a:srgbClr val="0000FF"/>
                  </a:solidFill>
                  <a:effectLst/>
                  <a:uLnTx/>
                  <a:uFillTx/>
                  <a:latin typeface="Arial" pitchFamily="34" charset="0"/>
                  <a:ea typeface="맑은 고딕" pitchFamily="50" charset="-127"/>
                  <a:cs typeface="Arial" pitchFamily="34" charset="0"/>
                </a:rPr>
                <a:t>Productivity and quality improvement</a:t>
              </a:r>
              <a:r>
                <a:rPr kumimoji="0" lang="en-US" altLang="ko-KR" sz="11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rPr>
                <a:t> by reusing common components</a:t>
              </a:r>
              <a:endParaRPr kumimoji="0" lang="ko-KR" altLang="en-US" sz="1100" b="1" i="0" u="none" strike="noStrike" kern="0" cap="none" spc="0" normalizeH="0" baseline="0" noProof="0" dirty="0">
                <a:ln>
                  <a:noFill/>
                </a:ln>
                <a:solidFill>
                  <a:srgbClr val="0000FF"/>
                </a:solidFill>
                <a:effectLst/>
                <a:uLnTx/>
                <a:uFillTx/>
                <a:latin typeface="Arial" pitchFamily="34" charset="0"/>
                <a:ea typeface="맑은 고딕" pitchFamily="50" charset="-127"/>
                <a:cs typeface="Arial" pitchFamily="34" charset="0"/>
              </a:endParaRPr>
            </a:p>
          </p:txBody>
        </p:sp>
        <p:sp>
          <p:nvSpPr>
            <p:cNvPr id="278" name="Freeform 291"/>
            <p:cNvSpPr>
              <a:spLocks/>
            </p:cNvSpPr>
            <p:nvPr/>
          </p:nvSpPr>
          <p:spPr bwMode="auto">
            <a:xfrm>
              <a:off x="536571" y="2906681"/>
              <a:ext cx="2097180" cy="1145721"/>
            </a:xfrm>
            <a:custGeom>
              <a:avLst/>
              <a:gdLst>
                <a:gd name="T0" fmla="*/ 2147483647 w 1361"/>
                <a:gd name="T1" fmla="*/ 0 h 725"/>
                <a:gd name="T2" fmla="*/ 2147483647 w 1361"/>
                <a:gd name="T3" fmla="*/ 0 h 725"/>
                <a:gd name="T4" fmla="*/ 2147483647 w 1361"/>
                <a:gd name="T5" fmla="*/ 2147483647 h 725"/>
                <a:gd name="T6" fmla="*/ 2147483647 w 1361"/>
                <a:gd name="T7" fmla="*/ 2147483647 h 725"/>
                <a:gd name="T8" fmla="*/ 2147483647 w 1361"/>
                <a:gd name="T9" fmla="*/ 2147483647 h 725"/>
                <a:gd name="T10" fmla="*/ 2147483647 w 1361"/>
                <a:gd name="T11" fmla="*/ 2147483647 h 725"/>
                <a:gd name="T12" fmla="*/ 2147483647 w 1361"/>
                <a:gd name="T13" fmla="*/ 2147483647 h 725"/>
                <a:gd name="T14" fmla="*/ 0 w 1361"/>
                <a:gd name="T15" fmla="*/ 2147483647 h 725"/>
                <a:gd name="T16" fmla="*/ 0 w 1361"/>
                <a:gd name="T17" fmla="*/ 2147483647 h 725"/>
                <a:gd name="T18" fmla="*/ 2147483647 w 1361"/>
                <a:gd name="T19" fmla="*/ 2147483647 h 725"/>
                <a:gd name="T20" fmla="*/ 2147483647 w 1361"/>
                <a:gd name="T21" fmla="*/ 0 h 725"/>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361"/>
                <a:gd name="T34" fmla="*/ 0 h 725"/>
                <a:gd name="T35" fmla="*/ 1361 w 1361"/>
                <a:gd name="T36" fmla="*/ 725 h 725"/>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361" h="725">
                  <a:moveTo>
                    <a:pt x="453" y="0"/>
                  </a:moveTo>
                  <a:lnTo>
                    <a:pt x="862" y="0"/>
                  </a:lnTo>
                  <a:lnTo>
                    <a:pt x="862" y="90"/>
                  </a:lnTo>
                  <a:lnTo>
                    <a:pt x="1361" y="90"/>
                  </a:lnTo>
                  <a:lnTo>
                    <a:pt x="1361" y="725"/>
                  </a:lnTo>
                  <a:lnTo>
                    <a:pt x="907" y="725"/>
                  </a:lnTo>
                  <a:lnTo>
                    <a:pt x="907" y="544"/>
                  </a:lnTo>
                  <a:lnTo>
                    <a:pt x="0" y="544"/>
                  </a:lnTo>
                  <a:lnTo>
                    <a:pt x="0" y="90"/>
                  </a:lnTo>
                  <a:lnTo>
                    <a:pt x="453" y="90"/>
                  </a:lnTo>
                  <a:lnTo>
                    <a:pt x="453" y="0"/>
                  </a:lnTo>
                  <a:close/>
                </a:path>
              </a:pathLst>
            </a:custGeom>
            <a:solidFill>
              <a:srgbClr val="E5BE41">
                <a:alpha val="45882"/>
              </a:srgbClr>
            </a:solidFill>
            <a:ln w="25400">
              <a:solidFill>
                <a:srgbClr val="990033"/>
              </a:solidFill>
              <a:prstDash val="sysDot"/>
              <a:round/>
              <a:headEnd/>
              <a:tailEnd/>
            </a:ln>
          </p:spPr>
          <p:txBody>
            <a:bodyPr lIns="90000" tIns="46800" rIns="90000" bIns="4680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79" name="Rectangle 207"/>
            <p:cNvSpPr>
              <a:spLocks noChangeArrowheads="1"/>
            </p:cNvSpPr>
            <p:nvPr/>
          </p:nvSpPr>
          <p:spPr bwMode="auto">
            <a:xfrm>
              <a:off x="5959202" y="4499595"/>
              <a:ext cx="936475" cy="600164"/>
            </a:xfrm>
            <a:prstGeom prst="rect">
              <a:avLst/>
            </a:prstGeom>
            <a:noFill/>
            <a:ln w="9525" algn="ctr">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dirty="0">
                  <a:ln>
                    <a:noFill/>
                  </a:ln>
                  <a:solidFill>
                    <a:srgbClr val="CC0000"/>
                  </a:solidFill>
                  <a:effectLst/>
                  <a:uLnTx/>
                  <a:uFillTx/>
                  <a:latin typeface="Arial" pitchFamily="34" charset="0"/>
                  <a:ea typeface="맑은 고딕" pitchFamily="50" charset="-127"/>
                  <a:cs typeface="Arial" pitchFamily="34" charset="0"/>
                </a:rPr>
                <a:t>Apply</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dirty="0">
                  <a:ln>
                    <a:noFill/>
                  </a:ln>
                  <a:solidFill>
                    <a:srgbClr val="CC0000"/>
                  </a:solidFill>
                  <a:effectLst/>
                  <a:uLnTx/>
                  <a:uFillTx/>
                  <a:latin typeface="Arial" pitchFamily="34" charset="0"/>
                  <a:ea typeface="맑은 고딕" pitchFamily="50" charset="-127"/>
                  <a:cs typeface="Arial" pitchFamily="34" charset="0"/>
                </a:rPr>
                <a:t>Standard</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dirty="0">
                  <a:ln>
                    <a:noFill/>
                  </a:ln>
                  <a:solidFill>
                    <a:srgbClr val="CC0000"/>
                  </a:solidFill>
                  <a:effectLst/>
                  <a:uLnTx/>
                  <a:uFillTx/>
                  <a:latin typeface="Arial" pitchFamily="34" charset="0"/>
                  <a:ea typeface="맑은 고딕" pitchFamily="50" charset="-127"/>
                  <a:cs typeface="Arial" pitchFamily="34" charset="0"/>
                </a:rPr>
                <a:t>Framework</a:t>
              </a:r>
            </a:p>
          </p:txBody>
        </p:sp>
        <p:sp>
          <p:nvSpPr>
            <p:cNvPr id="280" name="Rectangle 3"/>
            <p:cNvSpPr>
              <a:spLocks noChangeArrowheads="1"/>
            </p:cNvSpPr>
            <p:nvPr/>
          </p:nvSpPr>
          <p:spPr bwMode="auto">
            <a:xfrm>
              <a:off x="3402004" y="5440419"/>
              <a:ext cx="2477681" cy="946691"/>
            </a:xfrm>
            <a:prstGeom prst="rect">
              <a:avLst/>
            </a:prstGeom>
            <a:solidFill>
              <a:srgbClr val="FFFFFF"/>
            </a:solidFill>
            <a:ln w="12700" algn="ctr">
              <a:solidFill>
                <a:srgbClr val="0F5CB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nvGrpSpPr>
            <p:cNvPr id="281" name="Group 4"/>
            <p:cNvGrpSpPr>
              <a:grpSpLocks/>
            </p:cNvGrpSpPr>
            <p:nvPr/>
          </p:nvGrpSpPr>
          <p:grpSpPr bwMode="auto">
            <a:xfrm>
              <a:off x="3376932" y="5210237"/>
              <a:ext cx="2527824" cy="392867"/>
              <a:chOff x="280" y="542"/>
              <a:chExt cx="1095" cy="193"/>
            </a:xfrm>
          </p:grpSpPr>
          <p:pic>
            <p:nvPicPr>
              <p:cNvPr id="292" name="Picture 5" descr="도형-블루 -01"/>
              <p:cNvPicPr>
                <a:picLocks noChangeAspect="1" noChangeArrowheads="1"/>
              </p:cNvPicPr>
              <p:nvPr/>
            </p:nvPicPr>
            <p:blipFill>
              <a:blip r:embed="rId10" cstate="print"/>
              <a:srcRect r="57092"/>
              <a:stretch>
                <a:fillRect/>
              </a:stretch>
            </p:blipFill>
            <p:spPr bwMode="auto">
              <a:xfrm>
                <a:off x="280" y="542"/>
                <a:ext cx="614" cy="193"/>
              </a:xfrm>
              <a:prstGeom prst="rect">
                <a:avLst/>
              </a:prstGeom>
              <a:noFill/>
              <a:ln w="9525">
                <a:noFill/>
                <a:miter lim="800000"/>
                <a:headEnd/>
                <a:tailEnd/>
              </a:ln>
            </p:spPr>
          </p:pic>
          <p:pic>
            <p:nvPicPr>
              <p:cNvPr id="293" name="Picture 6" descr="도형-블루 -01"/>
              <p:cNvPicPr>
                <a:picLocks noChangeAspect="1" noChangeArrowheads="1"/>
              </p:cNvPicPr>
              <p:nvPr/>
            </p:nvPicPr>
            <p:blipFill>
              <a:blip r:embed="rId10" cstate="print"/>
              <a:srcRect r="63452"/>
              <a:stretch>
                <a:fillRect/>
              </a:stretch>
            </p:blipFill>
            <p:spPr bwMode="auto">
              <a:xfrm flipH="1">
                <a:off x="852" y="542"/>
                <a:ext cx="523" cy="193"/>
              </a:xfrm>
              <a:prstGeom prst="rect">
                <a:avLst/>
              </a:prstGeom>
              <a:noFill/>
              <a:ln w="9525">
                <a:noFill/>
                <a:miter lim="800000"/>
                <a:headEnd/>
                <a:tailEnd/>
              </a:ln>
            </p:spPr>
          </p:pic>
        </p:grpSp>
        <p:pic>
          <p:nvPicPr>
            <p:cNvPr id="282" name="Picture 29" descr="19"/>
            <p:cNvPicPr>
              <a:picLocks noChangeArrowheads="1"/>
            </p:cNvPicPr>
            <p:nvPr/>
          </p:nvPicPr>
          <p:blipFill>
            <a:blip r:embed="rId11" cstate="print"/>
            <a:srcRect/>
            <a:stretch>
              <a:fillRect/>
            </a:stretch>
          </p:blipFill>
          <p:spPr bwMode="auto">
            <a:xfrm>
              <a:off x="4055345" y="5703485"/>
              <a:ext cx="1401070" cy="598821"/>
            </a:xfrm>
            <a:prstGeom prst="rect">
              <a:avLst/>
            </a:prstGeom>
            <a:noFill/>
            <a:ln w="9525">
              <a:noFill/>
              <a:miter lim="800000"/>
              <a:headEnd/>
              <a:tailEnd/>
            </a:ln>
          </p:spPr>
        </p:pic>
        <p:sp>
          <p:nvSpPr>
            <p:cNvPr id="283" name="Rectangle 30"/>
            <p:cNvSpPr>
              <a:spLocks noChangeArrowheads="1"/>
            </p:cNvSpPr>
            <p:nvPr/>
          </p:nvSpPr>
          <p:spPr bwMode="auto">
            <a:xfrm>
              <a:off x="3901964" y="6003164"/>
              <a:ext cx="1778621" cy="338554"/>
            </a:xfrm>
            <a:prstGeom prst="rect">
              <a:avLst/>
            </a:prstGeom>
            <a:noFill/>
            <a:ln w="9525">
              <a:noFill/>
              <a:miter lim="800000"/>
              <a:headEnd/>
              <a:tailEnd/>
            </a:ln>
          </p:spPr>
          <p:txBody>
            <a:bodyPr lIns="0" tIns="0" rIns="0" bIns="0">
              <a:spAutoFit/>
            </a:bodyPr>
            <a:lstStyle/>
            <a:p>
              <a:pPr marL="0" marR="0" lvl="0" indent="0" algn="ctr" defTabSz="914400" eaLnBrk="1" fontAlgn="auto" latinLnBrk="0" hangingPunct="1">
                <a:lnSpc>
                  <a:spcPct val="100000"/>
                </a:lnSpc>
                <a:spcBef>
                  <a:spcPts val="0"/>
                </a:spcBef>
                <a:spcAft>
                  <a:spcPts val="0"/>
                </a:spcAft>
                <a:buClrTx/>
                <a:buSzPct val="80000"/>
                <a:buFontTx/>
                <a:buNone/>
                <a:tabLst/>
                <a:defRPr/>
              </a:pPr>
              <a:r>
                <a:rPr kumimoji="0" lang="en-US" altLang="ko-KR" sz="11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rPr>
                <a:t>Management System for</a:t>
              </a:r>
            </a:p>
            <a:p>
              <a:pPr marL="0" marR="0" lvl="0" indent="0" algn="ctr" defTabSz="914400" eaLnBrk="1" fontAlgn="auto" latinLnBrk="0" hangingPunct="1">
                <a:lnSpc>
                  <a:spcPct val="100000"/>
                </a:lnSpc>
                <a:spcBef>
                  <a:spcPts val="0"/>
                </a:spcBef>
                <a:spcAft>
                  <a:spcPts val="0"/>
                </a:spcAft>
                <a:buClrTx/>
                <a:buSzPct val="80000"/>
                <a:buFontTx/>
                <a:buNone/>
                <a:tabLst/>
                <a:defRPr/>
              </a:pPr>
              <a:r>
                <a:rPr kumimoji="0" lang="en-US" altLang="ko-KR" sz="1100" b="1" i="0" u="none" strike="noStrike" kern="0" cap="none" spc="0" normalizeH="0" baseline="0" noProof="0" dirty="0" err="1">
                  <a:ln>
                    <a:noFill/>
                  </a:ln>
                  <a:solidFill>
                    <a:sysClr val="windowText" lastClr="000000"/>
                  </a:solidFill>
                  <a:effectLst/>
                  <a:uLnTx/>
                  <a:uFillTx/>
                  <a:latin typeface="Arial" pitchFamily="34" charset="0"/>
                  <a:ea typeface="맑은 고딕" pitchFamily="50" charset="-127"/>
                  <a:cs typeface="Arial" pitchFamily="34" charset="0"/>
                </a:rPr>
                <a:t>eGovFrame</a:t>
              </a:r>
              <a:endParaRPr kumimoji="0" lang="ko-KR" altLang="en-US" sz="11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endParaRPr>
            </a:p>
          </p:txBody>
        </p:sp>
        <p:grpSp>
          <p:nvGrpSpPr>
            <p:cNvPr id="284" name="Group 31"/>
            <p:cNvGrpSpPr>
              <a:grpSpLocks/>
            </p:cNvGrpSpPr>
            <p:nvPr/>
          </p:nvGrpSpPr>
          <p:grpSpPr bwMode="auto">
            <a:xfrm>
              <a:off x="3468369" y="5838479"/>
              <a:ext cx="414421" cy="394599"/>
              <a:chOff x="328" y="4557"/>
              <a:chExt cx="329" cy="256"/>
            </a:xfrm>
          </p:grpSpPr>
          <p:pic>
            <p:nvPicPr>
              <p:cNvPr id="290" name="Picture 32" descr="01"/>
              <p:cNvPicPr>
                <a:picLocks noChangeAspect="1" noChangeArrowheads="1"/>
              </p:cNvPicPr>
              <p:nvPr/>
            </p:nvPicPr>
            <p:blipFill>
              <a:blip r:embed="rId12" cstate="print"/>
              <a:srcRect r="47331"/>
              <a:stretch>
                <a:fillRect/>
              </a:stretch>
            </p:blipFill>
            <p:spPr bwMode="auto">
              <a:xfrm>
                <a:off x="451" y="4557"/>
                <a:ext cx="206" cy="221"/>
              </a:xfrm>
              <a:prstGeom prst="rect">
                <a:avLst/>
              </a:prstGeom>
              <a:noFill/>
              <a:ln w="9525">
                <a:noFill/>
                <a:miter lim="800000"/>
                <a:headEnd/>
                <a:tailEnd/>
              </a:ln>
            </p:spPr>
          </p:pic>
          <p:pic>
            <p:nvPicPr>
              <p:cNvPr id="291" name="Picture 33" descr="노트북"/>
              <p:cNvPicPr>
                <a:picLocks noChangeAspect="1" noChangeArrowheads="1"/>
              </p:cNvPicPr>
              <p:nvPr/>
            </p:nvPicPr>
            <p:blipFill>
              <a:blip r:embed="rId13" cstate="print"/>
              <a:srcRect/>
              <a:stretch>
                <a:fillRect/>
              </a:stretch>
            </p:blipFill>
            <p:spPr bwMode="auto">
              <a:xfrm>
                <a:off x="328" y="4631"/>
                <a:ext cx="209" cy="182"/>
              </a:xfrm>
              <a:prstGeom prst="rect">
                <a:avLst/>
              </a:prstGeom>
              <a:noFill/>
              <a:ln w="9525">
                <a:noFill/>
                <a:miter lim="800000"/>
                <a:headEnd/>
                <a:tailEnd/>
              </a:ln>
            </p:spPr>
          </p:pic>
        </p:grpSp>
        <p:sp>
          <p:nvSpPr>
            <p:cNvPr id="285" name="Rectangle 224"/>
            <p:cNvSpPr>
              <a:spLocks noChangeArrowheads="1"/>
            </p:cNvSpPr>
            <p:nvPr/>
          </p:nvSpPr>
          <p:spPr bwMode="auto">
            <a:xfrm>
              <a:off x="3864319" y="5225813"/>
              <a:ext cx="1601721" cy="276999"/>
            </a:xfrm>
            <a:prstGeom prst="rect">
              <a:avLst/>
            </a:prstGeom>
            <a:noFill/>
            <a:ln w="9525" algn="ctr">
              <a:noFill/>
              <a:miter lim="800000"/>
              <a:headEnd/>
              <a:tailEnd/>
            </a:ln>
          </p:spPr>
          <p:txBody>
            <a:bodyPr wrap="none">
              <a:spAutoFit/>
            </a:bodyPr>
            <a:lstStyle/>
            <a:p>
              <a:pPr marL="0" marR="0" lvl="0" indent="0" algn="ctr" defTabSz="914400" eaLnBrk="1" fontAlgn="auto" latinLnBrk="0" hangingPunct="1">
                <a:lnSpc>
                  <a:spcPct val="100000"/>
                </a:lnSpc>
                <a:spcBef>
                  <a:spcPts val="0"/>
                </a:spcBef>
                <a:spcAft>
                  <a:spcPts val="0"/>
                </a:spcAft>
                <a:buClrTx/>
                <a:buSzPct val="80000"/>
                <a:buFontTx/>
                <a:buNone/>
                <a:tabLst/>
                <a:defRPr/>
              </a:pPr>
              <a:r>
                <a:rPr kumimoji="0" lang="en-US" altLang="ko-KR" sz="12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eGovFrame  Center</a:t>
              </a:r>
              <a:endParaRPr kumimoji="0" lang="ko-KR" altLang="en-US" sz="12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287" name="Rectangle 199"/>
            <p:cNvSpPr>
              <a:spLocks noChangeArrowheads="1"/>
            </p:cNvSpPr>
            <p:nvPr/>
          </p:nvSpPr>
          <p:spPr bwMode="auto">
            <a:xfrm>
              <a:off x="4096519" y="4967117"/>
              <a:ext cx="1047082" cy="261610"/>
            </a:xfrm>
            <a:prstGeom prst="rect">
              <a:avLst/>
            </a:prstGeom>
            <a:noFill/>
            <a:ln w="9525">
              <a:noFill/>
              <a:miter lim="800000"/>
              <a:headEnd/>
              <a:tailEnd/>
            </a:ln>
          </p:spPr>
          <p:txBody>
            <a:bodyPr wrap="none">
              <a:spAutoFit/>
            </a:bodyPr>
            <a:lstStyle>
              <a:defPPr>
                <a:defRPr lang="ko-KR"/>
              </a:defPPr>
              <a:lvl1pPr algn="ctr" rtl="0" fontAlgn="base" latinLnBrk="1">
                <a:spcBef>
                  <a:spcPct val="0"/>
                </a:spcBef>
                <a:spcAft>
                  <a:spcPct val="0"/>
                </a:spcAft>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1pPr>
              <a:lvl2pPr marL="457200" algn="ctr" rtl="0" fontAlgn="base" latinLnBrk="1">
                <a:spcBef>
                  <a:spcPct val="0"/>
                </a:spcBef>
                <a:spcAft>
                  <a:spcPct val="0"/>
                </a:spcAft>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2pPr>
              <a:lvl3pPr marL="914400" algn="ctr" rtl="0" fontAlgn="base" latinLnBrk="1">
                <a:spcBef>
                  <a:spcPct val="0"/>
                </a:spcBef>
                <a:spcAft>
                  <a:spcPct val="0"/>
                </a:spcAft>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3pPr>
              <a:lvl4pPr marL="1371600" algn="ctr" rtl="0" fontAlgn="base" latinLnBrk="1">
                <a:spcBef>
                  <a:spcPct val="0"/>
                </a:spcBef>
                <a:spcAft>
                  <a:spcPct val="0"/>
                </a:spcAft>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4pPr>
              <a:lvl5pPr marL="1828800" algn="ctr" rtl="0" fontAlgn="base" latinLnBrk="1">
                <a:spcBef>
                  <a:spcPct val="0"/>
                </a:spcBef>
                <a:spcAft>
                  <a:spcPct val="0"/>
                </a:spcAft>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5pPr>
              <a:lvl6pPr marL="2286000" algn="l" defTabSz="914400" rtl="0" eaLnBrk="1" latinLnBrk="1" hangingPunct="1">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6pPr>
              <a:lvl7pPr marL="2743200" algn="l" defTabSz="914400" rtl="0" eaLnBrk="1" latinLnBrk="1" hangingPunct="1">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7pPr>
              <a:lvl8pPr marL="3200400" algn="l" defTabSz="914400" rtl="0" eaLnBrk="1" latinLnBrk="1" hangingPunct="1">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8pPr>
              <a:lvl9pPr marL="3657600" algn="l" defTabSz="914400" rtl="0" eaLnBrk="1" latinLnBrk="1" hangingPunct="1">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1100" b="1" i="0" u="none" strike="noStrike" kern="1200" cap="none" spc="0" normalizeH="0" baseline="0" noProof="0" dirty="0" smtClean="0">
                  <a:ln>
                    <a:noFill/>
                  </a:ln>
                  <a:solidFill>
                    <a:srgbClr val="CC0000"/>
                  </a:solidFill>
                  <a:effectLst>
                    <a:outerShdw blurRad="38100" dist="38100" dir="2700000" algn="tl">
                      <a:srgbClr val="000000">
                        <a:alpha val="43137"/>
                      </a:srgbClr>
                    </a:outerShdw>
                  </a:effectLst>
                  <a:uLnTx/>
                  <a:uFillTx/>
                  <a:latin typeface="Arial" pitchFamily="34" charset="0"/>
                  <a:ea typeface="맑은 고딕" pitchFamily="50" charset="-127"/>
                  <a:cs typeface="Arial" pitchFamily="34" charset="0"/>
                </a:rPr>
                <a:t>Management</a:t>
              </a:r>
              <a:endParaRPr kumimoji="1" lang="ko-KR" altLang="en-US" sz="1100" b="1" i="0" u="none" strike="noStrike" kern="1200" cap="none" spc="0" normalizeH="0" baseline="0" noProof="0" dirty="0">
                <a:ln>
                  <a:noFill/>
                </a:ln>
                <a:solidFill>
                  <a:srgbClr val="CC0000"/>
                </a:solidFill>
                <a:effectLst>
                  <a:outerShdw blurRad="38100" dist="38100" dir="2700000" algn="tl">
                    <a:srgbClr val="000000">
                      <a:alpha val="43137"/>
                    </a:srgbClr>
                  </a:outerShdw>
                </a:effectLst>
                <a:uLnTx/>
                <a:uFillTx/>
                <a:latin typeface="Arial" pitchFamily="34" charset="0"/>
                <a:ea typeface="맑은 고딕" pitchFamily="50" charset="-127"/>
                <a:cs typeface="Arial" pitchFamily="34" charset="0"/>
              </a:endParaRPr>
            </a:p>
          </p:txBody>
        </p:sp>
        <p:sp>
          <p:nvSpPr>
            <p:cNvPr id="288" name="Rectangle 48"/>
            <p:cNvSpPr>
              <a:spLocks noChangeArrowheads="1"/>
            </p:cNvSpPr>
            <p:nvPr/>
          </p:nvSpPr>
          <p:spPr bwMode="auto">
            <a:xfrm>
              <a:off x="1350666" y="2974178"/>
              <a:ext cx="519373" cy="276999"/>
            </a:xfrm>
            <a:prstGeom prst="rect">
              <a:avLst/>
            </a:prstGeom>
            <a:noFill/>
            <a:ln w="9525">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Common</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functions</a:t>
              </a:r>
              <a:endParaRPr kumimoji="0" lang="ko-KR" altLang="en-US"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89" name="Rectangle 48"/>
            <p:cNvSpPr>
              <a:spLocks noChangeArrowheads="1"/>
            </p:cNvSpPr>
            <p:nvPr/>
          </p:nvSpPr>
          <p:spPr bwMode="auto">
            <a:xfrm>
              <a:off x="642757" y="3126480"/>
              <a:ext cx="519373" cy="276999"/>
            </a:xfrm>
            <a:prstGeom prst="rect">
              <a:avLst/>
            </a:prstGeom>
            <a:noFill/>
            <a:ln w="9525">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Common</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functions</a:t>
              </a:r>
              <a:endParaRPr kumimoji="0" lang="ko-KR" altLang="en-US"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5" name="Line 148"/>
            <p:cNvSpPr>
              <a:spLocks noChangeShapeType="1"/>
            </p:cNvSpPr>
            <p:nvPr/>
          </p:nvSpPr>
          <p:spPr bwMode="auto">
            <a:xfrm flipH="1">
              <a:off x="1744439" y="2526337"/>
              <a:ext cx="1284558" cy="1456835"/>
            </a:xfrm>
            <a:prstGeom prst="line">
              <a:avLst/>
            </a:prstGeom>
            <a:noFill/>
            <a:ln w="25400">
              <a:solidFill>
                <a:srgbClr val="CC0000"/>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ko-KR" altLang="en-US" dirty="0"/>
            </a:p>
          </p:txBody>
        </p:sp>
        <p:sp>
          <p:nvSpPr>
            <p:cNvPr id="391" name="Freeform 183"/>
            <p:cNvSpPr>
              <a:spLocks/>
            </p:cNvSpPr>
            <p:nvPr/>
          </p:nvSpPr>
          <p:spPr bwMode="auto">
            <a:xfrm>
              <a:off x="5172606" y="4260083"/>
              <a:ext cx="1310399" cy="1456113"/>
            </a:xfrm>
            <a:custGeom>
              <a:avLst/>
              <a:gdLst>
                <a:gd name="T0" fmla="*/ 0 w 817"/>
                <a:gd name="T1" fmla="*/ 227 h 227"/>
                <a:gd name="T2" fmla="*/ 318 w 817"/>
                <a:gd name="T3" fmla="*/ 181 h 227"/>
                <a:gd name="T4" fmla="*/ 545 w 817"/>
                <a:gd name="T5" fmla="*/ 45 h 227"/>
                <a:gd name="T6" fmla="*/ 817 w 817"/>
                <a:gd name="T7" fmla="*/ 0 h 227"/>
                <a:gd name="T8" fmla="*/ 0 60000 65536"/>
                <a:gd name="T9" fmla="*/ 0 60000 65536"/>
                <a:gd name="T10" fmla="*/ 0 60000 65536"/>
                <a:gd name="T11" fmla="*/ 0 60000 65536"/>
                <a:gd name="T12" fmla="*/ 0 w 817"/>
                <a:gd name="T13" fmla="*/ 0 h 227"/>
                <a:gd name="T14" fmla="*/ 817 w 817"/>
                <a:gd name="T15" fmla="*/ 227 h 227"/>
              </a:gdLst>
              <a:ahLst/>
              <a:cxnLst>
                <a:cxn ang="T8">
                  <a:pos x="T0" y="T1"/>
                </a:cxn>
                <a:cxn ang="T9">
                  <a:pos x="T2" y="T3"/>
                </a:cxn>
                <a:cxn ang="T10">
                  <a:pos x="T4" y="T5"/>
                </a:cxn>
                <a:cxn ang="T11">
                  <a:pos x="T6" y="T7"/>
                </a:cxn>
              </a:cxnLst>
              <a:rect l="T12" t="T13" r="T14" b="T15"/>
              <a:pathLst>
                <a:path w="817" h="227">
                  <a:moveTo>
                    <a:pt x="0" y="227"/>
                  </a:moveTo>
                  <a:cubicBezTo>
                    <a:pt x="113" y="219"/>
                    <a:pt x="227" y="211"/>
                    <a:pt x="318" y="181"/>
                  </a:cubicBezTo>
                  <a:cubicBezTo>
                    <a:pt x="409" y="151"/>
                    <a:pt x="462" y="75"/>
                    <a:pt x="545" y="45"/>
                  </a:cubicBezTo>
                  <a:cubicBezTo>
                    <a:pt x="628" y="15"/>
                    <a:pt x="722" y="7"/>
                    <a:pt x="817" y="0"/>
                  </a:cubicBezTo>
                </a:path>
              </a:pathLst>
            </a:custGeom>
            <a:noFill/>
            <a:ln w="28575">
              <a:solidFill>
                <a:schemeClr val="accent1"/>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pPr algn="l">
                <a:lnSpc>
                  <a:spcPct val="100000"/>
                </a:lnSpc>
                <a:buClrTx/>
                <a:buFontTx/>
                <a:buNone/>
              </a:pPr>
              <a:endParaRPr lang="ko-KR" altLang="en-US" sz="3000" dirty="0">
                <a:solidFill>
                  <a:srgbClr val="000000"/>
                </a:solidFill>
                <a:latin typeface="HY견고딕" pitchFamily="18" charset="-127"/>
                <a:ea typeface="HY견고딕" pitchFamily="18" charset="-127"/>
              </a:endParaRPr>
            </a:p>
          </p:txBody>
        </p:sp>
        <p:sp>
          <p:nvSpPr>
            <p:cNvPr id="392" name="Freeform 191"/>
            <p:cNvSpPr>
              <a:spLocks/>
            </p:cNvSpPr>
            <p:nvPr/>
          </p:nvSpPr>
          <p:spPr bwMode="auto">
            <a:xfrm flipV="1">
              <a:off x="4049396" y="4668528"/>
              <a:ext cx="234572" cy="1064728"/>
            </a:xfrm>
            <a:custGeom>
              <a:avLst/>
              <a:gdLst>
                <a:gd name="T0" fmla="*/ 0 w 817"/>
                <a:gd name="T1" fmla="*/ 227 h 227"/>
                <a:gd name="T2" fmla="*/ 318 w 817"/>
                <a:gd name="T3" fmla="*/ 181 h 227"/>
                <a:gd name="T4" fmla="*/ 545 w 817"/>
                <a:gd name="T5" fmla="*/ 45 h 227"/>
                <a:gd name="T6" fmla="*/ 817 w 817"/>
                <a:gd name="T7" fmla="*/ 0 h 227"/>
                <a:gd name="T8" fmla="*/ 0 60000 65536"/>
                <a:gd name="T9" fmla="*/ 0 60000 65536"/>
                <a:gd name="T10" fmla="*/ 0 60000 65536"/>
                <a:gd name="T11" fmla="*/ 0 60000 65536"/>
                <a:gd name="T12" fmla="*/ 0 w 817"/>
                <a:gd name="T13" fmla="*/ 0 h 227"/>
                <a:gd name="T14" fmla="*/ 817 w 817"/>
                <a:gd name="T15" fmla="*/ 227 h 227"/>
              </a:gdLst>
              <a:ahLst/>
              <a:cxnLst>
                <a:cxn ang="T8">
                  <a:pos x="T0" y="T1"/>
                </a:cxn>
                <a:cxn ang="T9">
                  <a:pos x="T2" y="T3"/>
                </a:cxn>
                <a:cxn ang="T10">
                  <a:pos x="T4" y="T5"/>
                </a:cxn>
                <a:cxn ang="T11">
                  <a:pos x="T6" y="T7"/>
                </a:cxn>
              </a:cxnLst>
              <a:rect l="T12" t="T13" r="T14" b="T15"/>
              <a:pathLst>
                <a:path w="817" h="227">
                  <a:moveTo>
                    <a:pt x="0" y="227"/>
                  </a:moveTo>
                  <a:cubicBezTo>
                    <a:pt x="113" y="219"/>
                    <a:pt x="227" y="211"/>
                    <a:pt x="318" y="181"/>
                  </a:cubicBezTo>
                  <a:cubicBezTo>
                    <a:pt x="409" y="151"/>
                    <a:pt x="462" y="75"/>
                    <a:pt x="545" y="45"/>
                  </a:cubicBezTo>
                  <a:cubicBezTo>
                    <a:pt x="628" y="15"/>
                    <a:pt x="722" y="7"/>
                    <a:pt x="817" y="0"/>
                  </a:cubicBezTo>
                </a:path>
              </a:pathLst>
            </a:custGeom>
            <a:noFill/>
            <a:ln w="28575">
              <a:solidFill>
                <a:schemeClr val="accent1"/>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pPr algn="l">
                <a:lnSpc>
                  <a:spcPct val="100000"/>
                </a:lnSpc>
                <a:buClrTx/>
                <a:buFontTx/>
                <a:buNone/>
              </a:pPr>
              <a:endParaRPr lang="ko-KR" altLang="en-US" sz="3000" dirty="0">
                <a:solidFill>
                  <a:srgbClr val="000000"/>
                </a:solidFill>
                <a:latin typeface="HY견고딕" pitchFamily="18" charset="-127"/>
                <a:ea typeface="HY견고딕" pitchFamily="18" charset="-127"/>
              </a:endParaRPr>
            </a:p>
          </p:txBody>
        </p:sp>
        <p:sp>
          <p:nvSpPr>
            <p:cNvPr id="260" name="Freeform 159"/>
            <p:cNvSpPr>
              <a:spLocks/>
            </p:cNvSpPr>
            <p:nvPr/>
          </p:nvSpPr>
          <p:spPr bwMode="auto">
            <a:xfrm>
              <a:off x="2531987" y="2811260"/>
              <a:ext cx="1218189" cy="875965"/>
            </a:xfrm>
            <a:custGeom>
              <a:avLst/>
              <a:gdLst>
                <a:gd name="T0" fmla="*/ 0 w 817"/>
                <a:gd name="T1" fmla="*/ 2147483647 h 227"/>
                <a:gd name="T2" fmla="*/ 2147483647 w 817"/>
                <a:gd name="T3" fmla="*/ 2147483647 h 227"/>
                <a:gd name="T4" fmla="*/ 2147483647 w 817"/>
                <a:gd name="T5" fmla="*/ 2147483647 h 227"/>
                <a:gd name="T6" fmla="*/ 2147483647 w 817"/>
                <a:gd name="T7" fmla="*/ 0 h 227"/>
                <a:gd name="T8" fmla="*/ 0 60000 65536"/>
                <a:gd name="T9" fmla="*/ 0 60000 65536"/>
                <a:gd name="T10" fmla="*/ 0 60000 65536"/>
                <a:gd name="T11" fmla="*/ 0 60000 65536"/>
                <a:gd name="T12" fmla="*/ 0 w 817"/>
                <a:gd name="T13" fmla="*/ 0 h 227"/>
                <a:gd name="T14" fmla="*/ 817 w 817"/>
                <a:gd name="T15" fmla="*/ 227 h 227"/>
              </a:gdLst>
              <a:ahLst/>
              <a:cxnLst>
                <a:cxn ang="T8">
                  <a:pos x="T0" y="T1"/>
                </a:cxn>
                <a:cxn ang="T9">
                  <a:pos x="T2" y="T3"/>
                </a:cxn>
                <a:cxn ang="T10">
                  <a:pos x="T4" y="T5"/>
                </a:cxn>
                <a:cxn ang="T11">
                  <a:pos x="T6" y="T7"/>
                </a:cxn>
              </a:cxnLst>
              <a:rect l="T12" t="T13" r="T14" b="T15"/>
              <a:pathLst>
                <a:path w="817" h="227">
                  <a:moveTo>
                    <a:pt x="0" y="227"/>
                  </a:moveTo>
                  <a:cubicBezTo>
                    <a:pt x="113" y="219"/>
                    <a:pt x="227" y="211"/>
                    <a:pt x="318" y="181"/>
                  </a:cubicBezTo>
                  <a:cubicBezTo>
                    <a:pt x="409" y="151"/>
                    <a:pt x="462" y="75"/>
                    <a:pt x="545" y="45"/>
                  </a:cubicBezTo>
                  <a:cubicBezTo>
                    <a:pt x="628" y="15"/>
                    <a:pt x="722" y="7"/>
                    <a:pt x="817" y="0"/>
                  </a:cubicBezTo>
                </a:path>
              </a:pathLst>
            </a:custGeom>
            <a:noFill/>
            <a:ln w="28575">
              <a:solidFill>
                <a:srgbClr val="990033"/>
              </a:solidFill>
              <a:prstDash val="sysDot"/>
              <a:round/>
              <a:headEnd/>
              <a:tailEnd type="triangle" w="med" len="me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61" name="Freeform 201"/>
            <p:cNvSpPr>
              <a:spLocks/>
            </p:cNvSpPr>
            <p:nvPr/>
          </p:nvSpPr>
          <p:spPr bwMode="auto">
            <a:xfrm flipV="1">
              <a:off x="5623180" y="2828846"/>
              <a:ext cx="1055976" cy="591851"/>
            </a:xfrm>
            <a:custGeom>
              <a:avLst/>
              <a:gdLst>
                <a:gd name="T0" fmla="*/ 0 w 817"/>
                <a:gd name="T1" fmla="*/ 2147483647 h 227"/>
                <a:gd name="T2" fmla="*/ 2147483647 w 817"/>
                <a:gd name="T3" fmla="*/ 2147483647 h 227"/>
                <a:gd name="T4" fmla="*/ 2147483647 w 817"/>
                <a:gd name="T5" fmla="*/ 2147483647 h 227"/>
                <a:gd name="T6" fmla="*/ 2147483647 w 817"/>
                <a:gd name="T7" fmla="*/ 0 h 227"/>
                <a:gd name="T8" fmla="*/ 0 60000 65536"/>
                <a:gd name="T9" fmla="*/ 0 60000 65536"/>
                <a:gd name="T10" fmla="*/ 0 60000 65536"/>
                <a:gd name="T11" fmla="*/ 0 60000 65536"/>
                <a:gd name="T12" fmla="*/ 0 w 817"/>
                <a:gd name="T13" fmla="*/ 0 h 227"/>
                <a:gd name="T14" fmla="*/ 817 w 817"/>
                <a:gd name="T15" fmla="*/ 227 h 227"/>
              </a:gdLst>
              <a:ahLst/>
              <a:cxnLst>
                <a:cxn ang="T8">
                  <a:pos x="T0" y="T1"/>
                </a:cxn>
                <a:cxn ang="T9">
                  <a:pos x="T2" y="T3"/>
                </a:cxn>
                <a:cxn ang="T10">
                  <a:pos x="T4" y="T5"/>
                </a:cxn>
                <a:cxn ang="T11">
                  <a:pos x="T6" y="T7"/>
                </a:cxn>
              </a:cxnLst>
              <a:rect l="T12" t="T13" r="T14" b="T15"/>
              <a:pathLst>
                <a:path w="817" h="227">
                  <a:moveTo>
                    <a:pt x="0" y="227"/>
                  </a:moveTo>
                  <a:cubicBezTo>
                    <a:pt x="113" y="219"/>
                    <a:pt x="227" y="211"/>
                    <a:pt x="318" y="181"/>
                  </a:cubicBezTo>
                  <a:cubicBezTo>
                    <a:pt x="409" y="151"/>
                    <a:pt x="462" y="75"/>
                    <a:pt x="545" y="45"/>
                  </a:cubicBezTo>
                  <a:cubicBezTo>
                    <a:pt x="628" y="15"/>
                    <a:pt x="722" y="7"/>
                    <a:pt x="817" y="0"/>
                  </a:cubicBezTo>
                </a:path>
              </a:pathLst>
            </a:custGeom>
            <a:noFill/>
            <a:ln w="28575">
              <a:solidFill>
                <a:srgbClr val="990033"/>
              </a:solidFill>
              <a:prstDash val="sysDot"/>
              <a:round/>
              <a:headEnd/>
              <a:tailEnd type="triangle" w="med" len="me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grpSp>
      <p:sp>
        <p:nvSpPr>
          <p:cNvPr id="4" name="TextBox 3"/>
          <p:cNvSpPr txBox="1"/>
          <p:nvPr/>
        </p:nvSpPr>
        <p:spPr>
          <a:xfrm>
            <a:off x="390427" y="836712"/>
            <a:ext cx="6269805" cy="338554"/>
          </a:xfrm>
          <a:prstGeom prst="rect">
            <a:avLst/>
          </a:prstGeom>
          <a:noFill/>
        </p:spPr>
        <p:txBody>
          <a:bodyPr wrap="square" rtlCol="0">
            <a:spAutoFit/>
          </a:bodyPr>
          <a:lstStyle/>
          <a:p>
            <a:r>
              <a:rPr lang="en-US" altLang="ko-KR" sz="1600" dirty="0" smtClean="0">
                <a:ln>
                  <a:solidFill>
                    <a:schemeClr val="bg1">
                      <a:lumMod val="75000"/>
                    </a:schemeClr>
                  </a:solidFill>
                </a:ln>
                <a:latin typeface="Tahoma" pitchFamily="34" charset="0"/>
                <a:ea typeface="Tahoma" pitchFamily="34" charset="0"/>
                <a:cs typeface="Tahoma" pitchFamily="34" charset="0"/>
              </a:rPr>
              <a:t>- Use </a:t>
            </a:r>
            <a:r>
              <a:rPr lang="en-US" altLang="ko-KR" sz="1600" dirty="0">
                <a:ln>
                  <a:solidFill>
                    <a:schemeClr val="bg1">
                      <a:lumMod val="75000"/>
                    </a:schemeClr>
                  </a:solidFill>
                </a:ln>
                <a:latin typeface="Tahoma" pitchFamily="34" charset="0"/>
                <a:ea typeface="Tahoma" pitchFamily="34" charset="0"/>
                <a:cs typeface="Tahoma" pitchFamily="34" charset="0"/>
              </a:rPr>
              <a:t>of </a:t>
            </a:r>
            <a:r>
              <a:rPr lang="en-US" altLang="ko-KR" sz="1600" dirty="0" err="1">
                <a:ln>
                  <a:solidFill>
                    <a:schemeClr val="bg1">
                      <a:lumMod val="75000"/>
                    </a:schemeClr>
                  </a:solidFill>
                </a:ln>
                <a:latin typeface="Tahoma" pitchFamily="34" charset="0"/>
                <a:ea typeface="Tahoma" pitchFamily="34" charset="0"/>
                <a:cs typeface="Tahoma" pitchFamily="34" charset="0"/>
              </a:rPr>
              <a:t>eGovFrame</a:t>
            </a:r>
            <a:r>
              <a:rPr lang="en-US" altLang="ko-KR" sz="1600" dirty="0">
                <a:ln>
                  <a:solidFill>
                    <a:schemeClr val="bg1">
                      <a:lumMod val="75000"/>
                    </a:schemeClr>
                  </a:solidFill>
                </a:ln>
                <a:latin typeface="Tahoma" pitchFamily="34" charset="0"/>
                <a:ea typeface="Tahoma" pitchFamily="34" charset="0"/>
                <a:cs typeface="Tahoma" pitchFamily="34" charset="0"/>
              </a:rPr>
              <a:t> to enhance Productivity and quality</a:t>
            </a:r>
            <a:endParaRPr lang="ko-KR" altLang="en-US" sz="1600" dirty="0"/>
          </a:p>
        </p:txBody>
      </p:sp>
    </p:spTree>
    <p:extLst>
      <p:ext uri="{BB962C8B-B14F-4D97-AF65-F5344CB8AC3E}">
        <p14:creationId xmlns:p14="http://schemas.microsoft.com/office/powerpoint/2010/main" val="340320529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xfrm>
            <a:off x="419910" y="260648"/>
            <a:ext cx="8352000" cy="522000"/>
          </a:xfrm>
        </p:spPr>
        <p:txBody>
          <a:bodyPr>
            <a:noAutofit/>
          </a:bodyPr>
          <a:lstStyle/>
          <a:p>
            <a:r>
              <a:rPr lang="en-US" altLang="ko-KR" sz="2400" i="0" dirty="0" smtClean="0">
                <a:ln>
                  <a:solidFill>
                    <a:schemeClr val="bg1">
                      <a:lumMod val="75000"/>
                    </a:schemeClr>
                  </a:solidFill>
                </a:ln>
                <a:solidFill>
                  <a:schemeClr val="tx1"/>
                </a:solidFill>
                <a:latin typeface="Tahoma" pitchFamily="34" charset="0"/>
                <a:ea typeface="Tahoma" pitchFamily="34" charset="0"/>
                <a:cs typeface="Tahoma" pitchFamily="34" charset="0"/>
              </a:rPr>
              <a:t>Cas d'application des fonctionnalités mobiles </a:t>
            </a:r>
            <a:endParaRPr lang="ko-KR" altLang="en-US" sz="2400" i="0" dirty="0">
              <a:ln>
                <a:solidFill>
                  <a:schemeClr val="bg1">
                    <a:lumMod val="75000"/>
                  </a:schemeClr>
                </a:solidFill>
              </a:ln>
              <a:solidFill>
                <a:schemeClr val="tx1"/>
              </a:solidFill>
              <a:latin typeface="Tahoma" pitchFamily="34" charset="0"/>
              <a:cs typeface="Tahoma" pitchFamily="34" charset="0"/>
            </a:endParaRPr>
          </a:p>
        </p:txBody>
      </p:sp>
      <p:pic>
        <p:nvPicPr>
          <p:cNvPr id="286" name="그림 6" descr="egovmobilesynclist.jpg"/>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5429" y="1315086"/>
            <a:ext cx="1843438" cy="3338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3" name="그림 6" descr="egovmobilesynclist.jpg"/>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007" y="1315086"/>
            <a:ext cx="1843438" cy="3338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4" name="그림 6" descr="egovmobilesynclist.jpg"/>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88052" y="1315086"/>
            <a:ext cx="1843438" cy="3338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5" name="그림 6" descr="egovmobilesynclist.jpg"/>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1206" y="1315086"/>
            <a:ext cx="1843438" cy="3338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6" name="그림 39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7731" y="1505802"/>
            <a:ext cx="1632182" cy="2448272"/>
          </a:xfrm>
          <a:prstGeom prst="rect">
            <a:avLst/>
          </a:prstGeom>
        </p:spPr>
      </p:pic>
      <p:pic>
        <p:nvPicPr>
          <p:cNvPr id="397" name="그림 39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555949" y="1503148"/>
            <a:ext cx="1633951" cy="2450926"/>
          </a:xfrm>
          <a:prstGeom prst="rect">
            <a:avLst/>
          </a:prstGeom>
        </p:spPr>
      </p:pic>
      <p:pic>
        <p:nvPicPr>
          <p:cNvPr id="398" name="그림 39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692795" y="1503148"/>
            <a:ext cx="1633951" cy="2450926"/>
          </a:xfrm>
          <a:prstGeom prst="rect">
            <a:avLst/>
          </a:prstGeom>
        </p:spPr>
      </p:pic>
      <p:pic>
        <p:nvPicPr>
          <p:cNvPr id="399" name="그림 39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855420" y="1503148"/>
            <a:ext cx="1633951" cy="2450926"/>
          </a:xfrm>
          <a:prstGeom prst="rect">
            <a:avLst/>
          </a:prstGeom>
        </p:spPr>
      </p:pic>
      <p:sp>
        <p:nvSpPr>
          <p:cNvPr id="400" name="TextBox 399"/>
          <p:cNvSpPr txBox="1"/>
          <p:nvPr/>
        </p:nvSpPr>
        <p:spPr>
          <a:xfrm>
            <a:off x="1326813" y="888975"/>
            <a:ext cx="1019831" cy="307777"/>
          </a:xfrm>
          <a:prstGeom prst="rect">
            <a:avLst/>
          </a:prstGeom>
          <a:noFill/>
        </p:spPr>
        <p:txBody>
          <a:bodyPr wrap="none" rtlCol="0">
            <a:spAutoFit/>
          </a:bodyPr>
          <a:lstStyle/>
          <a:p>
            <a:r>
              <a:rPr lang="en-US" altLang="ko-KR" sz="1400" b="1" dirty="0">
                <a:ln w="1905"/>
                <a:solidFill>
                  <a:srgbClr val="002060"/>
                </a:solidFill>
                <a:effectLst>
                  <a:innerShdw blurRad="69850" dist="43180" dir="5400000">
                    <a:srgbClr val="000000">
                      <a:alpha val="65000"/>
                    </a:srgbClr>
                  </a:innerShdw>
                </a:effectLst>
                <a:latin typeface="Arial" pitchFamily="34" charset="0"/>
                <a:cs typeface="Arial" pitchFamily="34" charset="0"/>
              </a:rPr>
              <a:t>m</a:t>
            </a:r>
            <a:r>
              <a:rPr lang="en-US" altLang="ko-KR" sz="1400" b="1" dirty="0" smtClean="0">
                <a:ln w="1905"/>
                <a:solidFill>
                  <a:srgbClr val="002060"/>
                </a:solidFill>
                <a:effectLst>
                  <a:innerShdw blurRad="69850" dist="43180" dir="5400000">
                    <a:srgbClr val="000000">
                      <a:alpha val="65000"/>
                    </a:srgbClr>
                  </a:innerShdw>
                </a:effectLst>
                <a:latin typeface="Arial" pitchFamily="34" charset="0"/>
                <a:cs typeface="Arial" pitchFamily="34" charset="0"/>
              </a:rPr>
              <a:t>-invoice</a:t>
            </a:r>
            <a:endParaRPr lang="ko-KR" altLang="en-US" sz="1400" b="1" dirty="0">
              <a:ln w="1905"/>
              <a:solidFill>
                <a:srgbClr val="002060"/>
              </a:solidFill>
              <a:effectLst>
                <a:innerShdw blurRad="69850" dist="43180" dir="5400000">
                  <a:srgbClr val="000000">
                    <a:alpha val="65000"/>
                  </a:srgbClr>
                </a:innerShdw>
              </a:effectLst>
              <a:latin typeface="Arial" pitchFamily="34" charset="0"/>
              <a:cs typeface="Arial" pitchFamily="34" charset="0"/>
            </a:endParaRPr>
          </a:p>
        </p:txBody>
      </p:sp>
      <p:sp>
        <p:nvSpPr>
          <p:cNvPr id="401" name="TextBox 400"/>
          <p:cNvSpPr txBox="1"/>
          <p:nvPr/>
        </p:nvSpPr>
        <p:spPr>
          <a:xfrm>
            <a:off x="3333575" y="888975"/>
            <a:ext cx="662361" cy="307777"/>
          </a:xfrm>
          <a:prstGeom prst="rect">
            <a:avLst/>
          </a:prstGeom>
          <a:noFill/>
        </p:spPr>
        <p:txBody>
          <a:bodyPr wrap="none" rtlCol="0">
            <a:spAutoFit/>
          </a:bodyPr>
          <a:lstStyle/>
          <a:p>
            <a:r>
              <a:rPr lang="en-US" altLang="ko-KR" sz="1400" b="1" dirty="0">
                <a:ln w="1905"/>
                <a:solidFill>
                  <a:srgbClr val="002060"/>
                </a:solidFill>
                <a:effectLst>
                  <a:innerShdw blurRad="69850" dist="43180" dir="5400000">
                    <a:srgbClr val="000000">
                      <a:alpha val="65000"/>
                    </a:srgbClr>
                  </a:innerShdw>
                </a:effectLst>
                <a:latin typeface="Arial" pitchFamily="34" charset="0"/>
                <a:cs typeface="Arial" pitchFamily="34" charset="0"/>
              </a:rPr>
              <a:t>m</a:t>
            </a:r>
            <a:r>
              <a:rPr lang="en-US" altLang="ko-KR" sz="1400" b="1" dirty="0" smtClean="0">
                <a:ln w="1905"/>
                <a:solidFill>
                  <a:srgbClr val="002060"/>
                </a:solidFill>
                <a:effectLst>
                  <a:innerShdw blurRad="69850" dist="43180" dir="5400000">
                    <a:srgbClr val="000000">
                      <a:alpha val="65000"/>
                    </a:srgbClr>
                  </a:innerShdw>
                </a:effectLst>
                <a:latin typeface="Arial" pitchFamily="34" charset="0"/>
                <a:cs typeface="Arial" pitchFamily="34" charset="0"/>
              </a:rPr>
              <a:t>-tax</a:t>
            </a:r>
            <a:endParaRPr lang="ko-KR" altLang="en-US" sz="1400" b="1" dirty="0">
              <a:ln w="1905"/>
              <a:solidFill>
                <a:srgbClr val="002060"/>
              </a:solidFill>
              <a:effectLst>
                <a:innerShdw blurRad="69850" dist="43180" dir="5400000">
                  <a:srgbClr val="000000">
                    <a:alpha val="65000"/>
                  </a:srgbClr>
                </a:innerShdw>
              </a:effectLst>
              <a:latin typeface="Arial" pitchFamily="34" charset="0"/>
              <a:cs typeface="Arial" pitchFamily="34" charset="0"/>
            </a:endParaRPr>
          </a:p>
        </p:txBody>
      </p:sp>
      <p:sp>
        <p:nvSpPr>
          <p:cNvPr id="402" name="TextBox 401"/>
          <p:cNvSpPr txBox="1"/>
          <p:nvPr/>
        </p:nvSpPr>
        <p:spPr>
          <a:xfrm>
            <a:off x="4679625" y="888975"/>
            <a:ext cx="1636987" cy="307777"/>
          </a:xfrm>
          <a:prstGeom prst="rect">
            <a:avLst/>
          </a:prstGeom>
          <a:noFill/>
        </p:spPr>
        <p:txBody>
          <a:bodyPr wrap="none" rtlCol="0">
            <a:spAutoFit/>
          </a:bodyPr>
          <a:lstStyle/>
          <a:p>
            <a:r>
              <a:rPr lang="en-US" altLang="ko-KR" sz="1400" b="1" dirty="0" smtClean="0">
                <a:ln w="1905"/>
                <a:solidFill>
                  <a:srgbClr val="002060"/>
                </a:solidFill>
                <a:effectLst>
                  <a:innerShdw blurRad="69850" dist="43180" dir="5400000">
                    <a:srgbClr val="000000">
                      <a:alpha val="65000"/>
                    </a:srgbClr>
                  </a:innerShdw>
                </a:effectLst>
                <a:latin typeface="Arial" pitchFamily="34" charset="0"/>
                <a:cs typeface="Arial" pitchFamily="34" charset="0"/>
              </a:rPr>
              <a:t>m-administration</a:t>
            </a:r>
            <a:endParaRPr lang="ko-KR" altLang="en-US" sz="1400" b="1" dirty="0">
              <a:ln w="1905"/>
              <a:solidFill>
                <a:srgbClr val="002060"/>
              </a:solidFill>
              <a:effectLst>
                <a:innerShdw blurRad="69850" dist="43180" dir="5400000">
                  <a:srgbClr val="000000">
                    <a:alpha val="65000"/>
                  </a:srgbClr>
                </a:innerShdw>
              </a:effectLst>
              <a:latin typeface="Arial" pitchFamily="34" charset="0"/>
              <a:cs typeface="Arial" pitchFamily="34" charset="0"/>
            </a:endParaRPr>
          </a:p>
        </p:txBody>
      </p:sp>
      <p:sp>
        <p:nvSpPr>
          <p:cNvPr id="403" name="TextBox 402"/>
          <p:cNvSpPr txBox="1"/>
          <p:nvPr/>
        </p:nvSpPr>
        <p:spPr>
          <a:xfrm>
            <a:off x="7070508" y="888975"/>
            <a:ext cx="752129" cy="307777"/>
          </a:xfrm>
          <a:prstGeom prst="rect">
            <a:avLst/>
          </a:prstGeom>
          <a:noFill/>
        </p:spPr>
        <p:txBody>
          <a:bodyPr wrap="none" rtlCol="0">
            <a:spAutoFit/>
          </a:bodyPr>
          <a:lstStyle/>
          <a:p>
            <a:r>
              <a:rPr lang="en-US" altLang="ko-KR" sz="1400" b="1" dirty="0" smtClean="0">
                <a:ln w="1905"/>
                <a:solidFill>
                  <a:srgbClr val="002060"/>
                </a:solidFill>
                <a:effectLst>
                  <a:innerShdw blurRad="69850" dist="43180" dir="5400000">
                    <a:srgbClr val="000000">
                      <a:alpha val="65000"/>
                    </a:srgbClr>
                  </a:innerShdw>
                </a:effectLst>
                <a:latin typeface="Arial" pitchFamily="34" charset="0"/>
                <a:cs typeface="Arial" pitchFamily="34" charset="0"/>
              </a:rPr>
              <a:t>m-tourisme</a:t>
            </a:r>
            <a:endParaRPr lang="ko-KR" altLang="en-US" sz="1400" b="1" dirty="0">
              <a:ln w="1905"/>
              <a:solidFill>
                <a:srgbClr val="002060"/>
              </a:solidFill>
              <a:effectLst>
                <a:innerShdw blurRad="69850" dist="43180" dir="5400000">
                  <a:srgbClr val="000000">
                    <a:alpha val="65000"/>
                  </a:srgbClr>
                </a:innerShdw>
              </a:effectLst>
              <a:latin typeface="Arial" pitchFamily="34" charset="0"/>
              <a:cs typeface="Arial" pitchFamily="34" charset="0"/>
            </a:endParaRPr>
          </a:p>
        </p:txBody>
      </p:sp>
      <p:sp>
        <p:nvSpPr>
          <p:cNvPr id="404" name="이등변 삼각형 403"/>
          <p:cNvSpPr/>
          <p:nvPr/>
        </p:nvSpPr>
        <p:spPr>
          <a:xfrm>
            <a:off x="864135" y="4653136"/>
            <a:ext cx="7529211" cy="216023"/>
          </a:xfrm>
          <a:prstGeom prst="triangle">
            <a:avLst>
              <a:gd name="adj" fmla="val 49915"/>
            </a:avLst>
          </a:prstGeom>
          <a:solidFill>
            <a:schemeClr val="bg1">
              <a:lumMod val="85000"/>
            </a:schemeClr>
          </a:solidFill>
          <a:ln>
            <a:noFill/>
          </a:ln>
        </p:spPr>
        <p:style>
          <a:lnRef idx="1">
            <a:schemeClr val="dk1"/>
          </a:lnRef>
          <a:fillRef idx="2">
            <a:schemeClr val="dk1"/>
          </a:fillRef>
          <a:effectRef idx="1">
            <a:schemeClr val="dk1"/>
          </a:effectRef>
          <a:fontRef idx="minor">
            <a:schemeClr val="dk1"/>
          </a:fontRef>
        </p:style>
        <p:txBody>
          <a:bodyPr rtlCol="0" anchor="ctr"/>
          <a:lstStyle/>
          <a:p>
            <a:pPr algn="ctr"/>
            <a:endParaRPr lang="ko-KR" altLang="en-US" dirty="0"/>
          </a:p>
        </p:txBody>
      </p:sp>
      <p:grpSp>
        <p:nvGrpSpPr>
          <p:cNvPr id="405" name="그룹 404"/>
          <p:cNvGrpSpPr/>
          <p:nvPr/>
        </p:nvGrpSpPr>
        <p:grpSpPr>
          <a:xfrm>
            <a:off x="289520" y="5082557"/>
            <a:ext cx="8602960" cy="1730819"/>
            <a:chOff x="108669" y="2483915"/>
            <a:chExt cx="8999835" cy="1881189"/>
          </a:xfrm>
        </p:grpSpPr>
        <p:grpSp>
          <p:nvGrpSpPr>
            <p:cNvPr id="406" name="그룹 46"/>
            <p:cNvGrpSpPr>
              <a:grpSpLocks/>
            </p:cNvGrpSpPr>
            <p:nvPr/>
          </p:nvGrpSpPr>
          <p:grpSpPr bwMode="auto">
            <a:xfrm>
              <a:off x="108669" y="2483916"/>
              <a:ext cx="2951163" cy="1881188"/>
              <a:chOff x="272480" y="1124822"/>
              <a:chExt cx="3384376" cy="1800731"/>
            </a:xfrm>
          </p:grpSpPr>
          <p:sp>
            <p:nvSpPr>
              <p:cNvPr id="442" name="순서도: 대체 처리 441"/>
              <p:cNvSpPr/>
              <p:nvPr/>
            </p:nvSpPr>
            <p:spPr bwMode="auto">
              <a:xfrm>
                <a:off x="272480" y="1124822"/>
                <a:ext cx="3384376" cy="1800731"/>
              </a:xfrm>
              <a:prstGeom prst="flowChartAlternateProcess">
                <a:avLst/>
              </a:prstGeom>
              <a:solidFill>
                <a:schemeClr val="bg1"/>
              </a:solidFill>
              <a:ln w="9525">
                <a:solidFill>
                  <a:schemeClr val="bg1">
                    <a:lumMod val="50000"/>
                  </a:schemeClr>
                </a:solidFill>
                <a:prstDash val="sysDot"/>
                <a:miter lim="800000"/>
                <a:headEnd/>
                <a:tailEnd/>
              </a:ln>
            </p:spPr>
            <p:txBody>
              <a:bodyPr anchor="ctr"/>
              <a:lstStyle/>
              <a:p>
                <a:pPr algn="ctr">
                  <a:defRPr/>
                </a:pPr>
                <a:endParaRPr lang="ko-KR" altLang="en-US" sz="1200" dirty="0">
                  <a:latin typeface="맑은 고딕" pitchFamily="50" charset="-127"/>
                  <a:ea typeface="맑은 고딕" pitchFamily="50" charset="-127"/>
                </a:endParaRPr>
              </a:p>
            </p:txBody>
          </p:sp>
          <p:grpSp>
            <p:nvGrpSpPr>
              <p:cNvPr id="443" name="그룹 35"/>
              <p:cNvGrpSpPr>
                <a:grpSpLocks/>
              </p:cNvGrpSpPr>
              <p:nvPr/>
            </p:nvGrpSpPr>
            <p:grpSpPr bwMode="auto">
              <a:xfrm>
                <a:off x="344488" y="2132856"/>
                <a:ext cx="1202572" cy="678269"/>
                <a:chOff x="416496" y="2204864"/>
                <a:chExt cx="1202572" cy="678269"/>
              </a:xfrm>
            </p:grpSpPr>
            <p:sp>
              <p:nvSpPr>
                <p:cNvPr id="455" name="TextBox 33"/>
                <p:cNvSpPr txBox="1">
                  <a:spLocks noChangeArrowheads="1"/>
                </p:cNvSpPr>
                <p:nvPr/>
              </p:nvSpPr>
              <p:spPr bwMode="auto">
                <a:xfrm>
                  <a:off x="419476" y="2636912"/>
                  <a:ext cx="1196612" cy="246221"/>
                </a:xfrm>
                <a:prstGeom prst="rect">
                  <a:avLst/>
                </a:prstGeom>
                <a:noFill/>
                <a:ln w="9525">
                  <a:noFill/>
                  <a:miter lim="800000"/>
                  <a:headEnd/>
                  <a:tailEnd/>
                </a:ln>
              </p:spPr>
              <p:txBody>
                <a:bodyPr>
                  <a:spAutoFit/>
                </a:bodyPr>
                <a:lstStyle/>
                <a:p>
                  <a:pPr algn="ctr"/>
                  <a:r>
                    <a:rPr lang="en-US" altLang="ko-KR" sz="1000" dirty="0">
                      <a:latin typeface="맑은 고딕" pitchFamily="50" charset="-127"/>
                      <a:ea typeface="맑은 고딕" pitchFamily="50" charset="-127"/>
                    </a:rPr>
                    <a:t>Barres de pied de page</a:t>
                  </a:r>
                  <a:endParaRPr lang="ko-KR" altLang="en-US" sz="1000" dirty="0">
                    <a:latin typeface="맑은 고딕" pitchFamily="50" charset="-127"/>
                    <a:ea typeface="맑은 고딕" pitchFamily="50" charset="-127"/>
                  </a:endParaRPr>
                </a:p>
              </p:txBody>
            </p:sp>
            <p:pic>
              <p:nvPicPr>
                <p:cNvPr id="456" name="Picture 5"/>
                <p:cNvPicPr>
                  <a:picLocks noChangeAspect="1" noChangeArrowheads="1"/>
                </p:cNvPicPr>
                <p:nvPr/>
              </p:nvPicPr>
              <p:blipFill>
                <a:blip r:embed="rId8" cstate="print"/>
                <a:srcRect/>
                <a:stretch>
                  <a:fillRect/>
                </a:stretch>
              </p:blipFill>
              <p:spPr bwMode="auto">
                <a:xfrm>
                  <a:off x="416496" y="2204864"/>
                  <a:ext cx="1202572" cy="410803"/>
                </a:xfrm>
                <a:prstGeom prst="rect">
                  <a:avLst/>
                </a:prstGeom>
                <a:noFill/>
                <a:ln w="9525">
                  <a:noFill/>
                  <a:miter lim="800000"/>
                  <a:headEnd/>
                  <a:tailEnd/>
                </a:ln>
              </p:spPr>
            </p:pic>
          </p:grpSp>
          <p:grpSp>
            <p:nvGrpSpPr>
              <p:cNvPr id="444" name="그룹 37"/>
              <p:cNvGrpSpPr>
                <a:grpSpLocks/>
              </p:cNvGrpSpPr>
              <p:nvPr/>
            </p:nvGrpSpPr>
            <p:grpSpPr bwMode="auto">
              <a:xfrm>
                <a:off x="2000672" y="1268760"/>
                <a:ext cx="1224136" cy="720080"/>
                <a:chOff x="2000672" y="1268760"/>
                <a:chExt cx="1224136" cy="720080"/>
              </a:xfrm>
            </p:grpSpPr>
            <p:sp>
              <p:nvSpPr>
                <p:cNvPr id="453" name="TextBox 18"/>
                <p:cNvSpPr txBox="1">
                  <a:spLocks noChangeArrowheads="1"/>
                </p:cNvSpPr>
                <p:nvPr/>
              </p:nvSpPr>
              <p:spPr bwMode="auto">
                <a:xfrm>
                  <a:off x="2000672" y="1700808"/>
                  <a:ext cx="1224136" cy="288032"/>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Barres d'en-tête</a:t>
                  </a:r>
                  <a:endParaRPr lang="ko-KR" altLang="en-US" sz="1000" dirty="0">
                    <a:latin typeface="맑은 고딕" pitchFamily="50" charset="-127"/>
                    <a:ea typeface="맑은 고딕" pitchFamily="50" charset="-127"/>
                  </a:endParaRPr>
                </a:p>
              </p:txBody>
            </p:sp>
            <p:pic>
              <p:nvPicPr>
                <p:cNvPr id="454" name="Picture 3"/>
                <p:cNvPicPr>
                  <a:picLocks noChangeAspect="1" noChangeArrowheads="1"/>
                </p:cNvPicPr>
                <p:nvPr/>
              </p:nvPicPr>
              <p:blipFill>
                <a:blip r:embed="rId9" cstate="print"/>
                <a:srcRect/>
                <a:stretch>
                  <a:fillRect/>
                </a:stretch>
              </p:blipFill>
              <p:spPr bwMode="auto">
                <a:xfrm>
                  <a:off x="2050783" y="1268760"/>
                  <a:ext cx="1123915" cy="454050"/>
                </a:xfrm>
                <a:prstGeom prst="rect">
                  <a:avLst/>
                </a:prstGeom>
                <a:noFill/>
                <a:ln w="9525">
                  <a:noFill/>
                  <a:miter lim="800000"/>
                  <a:headEnd/>
                  <a:tailEnd/>
                </a:ln>
              </p:spPr>
            </p:pic>
          </p:grpSp>
          <p:grpSp>
            <p:nvGrpSpPr>
              <p:cNvPr id="445" name="그룹 36"/>
              <p:cNvGrpSpPr>
                <a:grpSpLocks/>
              </p:cNvGrpSpPr>
              <p:nvPr/>
            </p:nvGrpSpPr>
            <p:grpSpPr bwMode="auto">
              <a:xfrm>
                <a:off x="560512" y="1412776"/>
                <a:ext cx="1164991" cy="595730"/>
                <a:chOff x="416496" y="1340768"/>
                <a:chExt cx="1164991" cy="595730"/>
              </a:xfrm>
            </p:grpSpPr>
            <p:pic>
              <p:nvPicPr>
                <p:cNvPr id="451" name="Picture 4"/>
                <p:cNvPicPr>
                  <a:picLocks noChangeAspect="1" noChangeArrowheads="1"/>
                </p:cNvPicPr>
                <p:nvPr/>
              </p:nvPicPr>
              <p:blipFill>
                <a:blip r:embed="rId10" cstate="print"/>
                <a:srcRect/>
                <a:stretch>
                  <a:fillRect/>
                </a:stretch>
              </p:blipFill>
              <p:spPr bwMode="auto">
                <a:xfrm>
                  <a:off x="416496" y="1340768"/>
                  <a:ext cx="1164991" cy="403596"/>
                </a:xfrm>
                <a:prstGeom prst="rect">
                  <a:avLst/>
                </a:prstGeom>
                <a:noFill/>
                <a:ln w="9525">
                  <a:noFill/>
                  <a:miter lim="800000"/>
                  <a:headEnd/>
                  <a:tailEnd/>
                </a:ln>
              </p:spPr>
            </p:pic>
            <p:sp>
              <p:nvSpPr>
                <p:cNvPr id="452" name="TextBox 28"/>
                <p:cNvSpPr txBox="1">
                  <a:spLocks noChangeArrowheads="1"/>
                </p:cNvSpPr>
                <p:nvPr/>
              </p:nvSpPr>
              <p:spPr bwMode="auto">
                <a:xfrm>
                  <a:off x="605707" y="1700808"/>
                  <a:ext cx="786566" cy="235690"/>
                </a:xfrm>
                <a:prstGeom prst="rect">
                  <a:avLst/>
                </a:prstGeom>
                <a:noFill/>
                <a:ln w="9525">
                  <a:noFill/>
                  <a:miter lim="800000"/>
                  <a:headEnd/>
                  <a:tailEnd/>
                </a:ln>
              </p:spPr>
              <p:txBody>
                <a:bodyPr>
                  <a:spAutoFit/>
                </a:bodyPr>
                <a:lstStyle/>
                <a:p>
                  <a:pPr algn="ctr"/>
                  <a:r>
                    <a:rPr lang="en-US" altLang="ko-KR" sz="1000" dirty="0">
                      <a:latin typeface="맑은 고딕" pitchFamily="50" charset="-127"/>
                      <a:ea typeface="맑은 고딕" pitchFamily="50" charset="-127"/>
                    </a:rPr>
                    <a:t>Barres de navigation</a:t>
                  </a:r>
                  <a:endParaRPr lang="ko-KR" altLang="en-US" sz="1200" dirty="0">
                    <a:latin typeface="맑은 고딕" pitchFamily="50" charset="-127"/>
                    <a:ea typeface="맑은 고딕" pitchFamily="50" charset="-127"/>
                  </a:endParaRPr>
                </a:p>
              </p:txBody>
            </p:sp>
          </p:grpSp>
          <p:grpSp>
            <p:nvGrpSpPr>
              <p:cNvPr id="446" name="그룹 41"/>
              <p:cNvGrpSpPr>
                <a:grpSpLocks/>
              </p:cNvGrpSpPr>
              <p:nvPr/>
            </p:nvGrpSpPr>
            <p:grpSpPr bwMode="auto">
              <a:xfrm>
                <a:off x="1712640" y="1988840"/>
                <a:ext cx="1800200" cy="864096"/>
                <a:chOff x="1820652" y="2060848"/>
                <a:chExt cx="1800200" cy="864096"/>
              </a:xfrm>
            </p:grpSpPr>
            <p:sp>
              <p:nvSpPr>
                <p:cNvPr id="447" name="TextBox 40"/>
                <p:cNvSpPr txBox="1">
                  <a:spLocks noChangeArrowheads="1"/>
                </p:cNvSpPr>
                <p:nvPr/>
              </p:nvSpPr>
              <p:spPr bwMode="auto">
                <a:xfrm>
                  <a:off x="1820652" y="2636912"/>
                  <a:ext cx="1800200" cy="288032"/>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Galerie d'éléments </a:t>
                  </a:r>
                  <a:r>
                    <a:rPr lang="en-US" altLang="ko-KR" sz="1000" dirty="0" smtClean="0">
                      <a:latin typeface="맑은 고딕" pitchFamily="50" charset="-127"/>
                      <a:ea typeface="맑은 고딕" pitchFamily="50" charset="-127"/>
                    </a:rPr>
                    <a:t>de formulaire</a:t>
                  </a:r>
                  <a:endParaRPr lang="ko-KR" altLang="en-US" sz="1000" dirty="0">
                    <a:latin typeface="맑은 고딕" pitchFamily="50" charset="-127"/>
                    <a:ea typeface="맑은 고딕" pitchFamily="50" charset="-127"/>
                  </a:endParaRPr>
                </a:p>
              </p:txBody>
            </p:sp>
            <p:grpSp>
              <p:nvGrpSpPr>
                <p:cNvPr id="448" name="그룹 40"/>
                <p:cNvGrpSpPr>
                  <a:grpSpLocks/>
                </p:cNvGrpSpPr>
                <p:nvPr/>
              </p:nvGrpSpPr>
              <p:grpSpPr bwMode="auto">
                <a:xfrm>
                  <a:off x="1892660" y="2060848"/>
                  <a:ext cx="1656184" cy="504056"/>
                  <a:chOff x="2936776" y="2132856"/>
                  <a:chExt cx="2169977" cy="648072"/>
                </a:xfrm>
              </p:grpSpPr>
              <p:pic>
                <p:nvPicPr>
                  <p:cNvPr id="449" name="Picture 8"/>
                  <p:cNvPicPr>
                    <a:picLocks noChangeAspect="1" noChangeArrowheads="1"/>
                  </p:cNvPicPr>
                  <p:nvPr/>
                </p:nvPicPr>
                <p:blipFill>
                  <a:blip r:embed="rId11" cstate="print"/>
                  <a:srcRect b="61630"/>
                  <a:stretch>
                    <a:fillRect/>
                  </a:stretch>
                </p:blipFill>
                <p:spPr bwMode="auto">
                  <a:xfrm>
                    <a:off x="2936776" y="2132856"/>
                    <a:ext cx="1089857" cy="648072"/>
                  </a:xfrm>
                  <a:prstGeom prst="rect">
                    <a:avLst/>
                  </a:prstGeom>
                  <a:noFill/>
                  <a:ln w="9525">
                    <a:noFill/>
                    <a:miter lim="800000"/>
                    <a:headEnd/>
                    <a:tailEnd/>
                  </a:ln>
                </p:spPr>
              </p:pic>
              <p:pic>
                <p:nvPicPr>
                  <p:cNvPr id="450" name="Picture 8"/>
                  <p:cNvPicPr>
                    <a:picLocks noChangeAspect="1" noChangeArrowheads="1"/>
                  </p:cNvPicPr>
                  <p:nvPr/>
                </p:nvPicPr>
                <p:blipFill>
                  <a:blip r:embed="rId11" cstate="print"/>
                  <a:srcRect t="32352" b="29279"/>
                  <a:stretch>
                    <a:fillRect/>
                  </a:stretch>
                </p:blipFill>
                <p:spPr bwMode="auto">
                  <a:xfrm>
                    <a:off x="4016896" y="2132856"/>
                    <a:ext cx="1089857" cy="648072"/>
                  </a:xfrm>
                  <a:prstGeom prst="rect">
                    <a:avLst/>
                  </a:prstGeom>
                  <a:noFill/>
                  <a:ln w="9525">
                    <a:noFill/>
                    <a:miter lim="800000"/>
                    <a:headEnd/>
                    <a:tailEnd/>
                  </a:ln>
                </p:spPr>
              </p:pic>
            </p:grpSp>
          </p:grpSp>
        </p:grpSp>
        <p:sp>
          <p:nvSpPr>
            <p:cNvPr id="407" name="순서도: 대체 처리 406"/>
            <p:cNvSpPr/>
            <p:nvPr/>
          </p:nvSpPr>
          <p:spPr bwMode="auto">
            <a:xfrm>
              <a:off x="6155754" y="2483915"/>
              <a:ext cx="2952750" cy="1879600"/>
            </a:xfrm>
            <a:prstGeom prst="flowChartAlternateProcess">
              <a:avLst/>
            </a:prstGeom>
            <a:solidFill>
              <a:schemeClr val="bg1"/>
            </a:solidFill>
            <a:ln w="9525">
              <a:solidFill>
                <a:schemeClr val="bg1">
                  <a:lumMod val="50000"/>
                </a:schemeClr>
              </a:solidFill>
              <a:prstDash val="sysDot"/>
              <a:miter lim="800000"/>
              <a:headEnd/>
              <a:tailEnd/>
            </a:ln>
          </p:spPr>
          <p:txBody>
            <a:bodyPr anchor="ctr"/>
            <a:lstStyle/>
            <a:p>
              <a:pPr algn="ctr">
                <a:defRPr/>
              </a:pPr>
              <a:endParaRPr lang="ko-KR" altLang="en-US" sz="1200" dirty="0">
                <a:latin typeface="맑은 고딕" pitchFamily="50" charset="-127"/>
                <a:ea typeface="맑은 고딕" pitchFamily="50" charset="-127"/>
              </a:endParaRPr>
            </a:p>
          </p:txBody>
        </p:sp>
        <p:sp>
          <p:nvSpPr>
            <p:cNvPr id="408" name="TextBox 33"/>
            <p:cNvSpPr txBox="1">
              <a:spLocks noChangeArrowheads="1"/>
            </p:cNvSpPr>
            <p:nvPr/>
          </p:nvSpPr>
          <p:spPr bwMode="auto">
            <a:xfrm>
              <a:off x="6220842" y="3987487"/>
              <a:ext cx="1044575" cy="256965"/>
            </a:xfrm>
            <a:prstGeom prst="rect">
              <a:avLst/>
            </a:prstGeom>
            <a:noFill/>
            <a:ln w="9525">
              <a:noFill/>
              <a:miter lim="800000"/>
              <a:headEnd/>
              <a:tailEnd/>
            </a:ln>
          </p:spPr>
          <p:txBody>
            <a:bodyPr>
              <a:spAutoFit/>
            </a:bodyPr>
            <a:lstStyle/>
            <a:p>
              <a:pPr algn="ctr"/>
              <a:r>
                <a:rPr lang="en-US" altLang="ko-KR" sz="1000" dirty="0">
                  <a:latin typeface="맑은 고딕" pitchFamily="50" charset="-127"/>
                  <a:ea typeface="맑은 고딕" pitchFamily="50" charset="-127"/>
                </a:rPr>
                <a:t>Barres de pied de page</a:t>
              </a:r>
              <a:endParaRPr lang="ko-KR" altLang="en-US" sz="1000" dirty="0">
                <a:latin typeface="맑은 고딕" pitchFamily="50" charset="-127"/>
                <a:ea typeface="맑은 고딕" pitchFamily="50" charset="-127"/>
              </a:endParaRPr>
            </a:p>
          </p:txBody>
        </p:sp>
        <p:pic>
          <p:nvPicPr>
            <p:cNvPr id="409" name="Picture 5"/>
            <p:cNvPicPr>
              <a:picLocks noChangeAspect="1" noChangeArrowheads="1"/>
            </p:cNvPicPr>
            <p:nvPr/>
          </p:nvPicPr>
          <p:blipFill>
            <a:blip r:embed="rId8" cstate="print"/>
            <a:srcRect/>
            <a:stretch>
              <a:fillRect/>
            </a:stretch>
          </p:blipFill>
          <p:spPr bwMode="auto">
            <a:xfrm>
              <a:off x="6217667" y="3536557"/>
              <a:ext cx="1049337" cy="429379"/>
            </a:xfrm>
            <a:prstGeom prst="rect">
              <a:avLst/>
            </a:prstGeom>
            <a:noFill/>
            <a:ln w="9525">
              <a:noFill/>
              <a:miter lim="800000"/>
              <a:headEnd/>
              <a:tailEnd/>
            </a:ln>
          </p:spPr>
        </p:pic>
        <p:sp>
          <p:nvSpPr>
            <p:cNvPr id="410" name="순서도: 대체 처리 409"/>
            <p:cNvSpPr/>
            <p:nvPr/>
          </p:nvSpPr>
          <p:spPr bwMode="auto">
            <a:xfrm>
              <a:off x="3143820" y="2483915"/>
              <a:ext cx="2952750" cy="1879600"/>
            </a:xfrm>
            <a:prstGeom prst="flowChartAlternateProcess">
              <a:avLst/>
            </a:prstGeom>
            <a:solidFill>
              <a:schemeClr val="bg1"/>
            </a:solidFill>
            <a:ln w="9525">
              <a:solidFill>
                <a:schemeClr val="bg1">
                  <a:lumMod val="50000"/>
                </a:schemeClr>
              </a:solidFill>
              <a:prstDash val="sysDot"/>
              <a:miter lim="800000"/>
              <a:headEnd/>
              <a:tailEnd/>
            </a:ln>
          </p:spPr>
          <p:txBody>
            <a:bodyPr anchor="ctr"/>
            <a:lstStyle/>
            <a:p>
              <a:pPr algn="ctr">
                <a:defRPr/>
              </a:pPr>
              <a:endParaRPr lang="ko-KR" altLang="en-US" sz="1200" dirty="0">
                <a:latin typeface="맑은 고딕" pitchFamily="50" charset="-127"/>
                <a:ea typeface="맑은 고딕" pitchFamily="50" charset="-127"/>
              </a:endParaRPr>
            </a:p>
          </p:txBody>
        </p:sp>
        <p:grpSp>
          <p:nvGrpSpPr>
            <p:cNvPr id="411" name="그룹 35"/>
            <p:cNvGrpSpPr>
              <a:grpSpLocks/>
            </p:cNvGrpSpPr>
            <p:nvPr/>
          </p:nvGrpSpPr>
          <p:grpSpPr bwMode="auto">
            <a:xfrm>
              <a:off x="4077270" y="3382379"/>
              <a:ext cx="1008063" cy="557032"/>
              <a:chOff x="287145" y="2204863"/>
              <a:chExt cx="1810912" cy="732034"/>
            </a:xfrm>
          </p:grpSpPr>
          <p:sp>
            <p:nvSpPr>
              <p:cNvPr id="440" name="TextBox 33"/>
              <p:cNvSpPr txBox="1">
                <a:spLocks noChangeArrowheads="1"/>
              </p:cNvSpPr>
              <p:nvPr/>
            </p:nvSpPr>
            <p:spPr bwMode="auto">
              <a:xfrm>
                <a:off x="287145" y="2599524"/>
                <a:ext cx="1810912" cy="337373"/>
              </a:xfrm>
              <a:prstGeom prst="rect">
                <a:avLst/>
              </a:prstGeom>
              <a:noFill/>
              <a:ln w="9525">
                <a:noFill/>
                <a:miter lim="800000"/>
                <a:headEnd/>
                <a:tailEnd/>
              </a:ln>
            </p:spPr>
            <p:txBody>
              <a:bodyPr>
                <a:spAutoFit/>
              </a:bodyPr>
              <a:lstStyle/>
              <a:p>
                <a:pPr algn="ctr"/>
                <a:r>
                  <a:rPr lang="en-US" altLang="ko-KR" sz="1000" dirty="0">
                    <a:latin typeface="맑은 고딕" pitchFamily="50" charset="-127"/>
                    <a:ea typeface="맑은 고딕" pitchFamily="50" charset="-127"/>
                  </a:rPr>
                  <a:t>Barres de pied de page</a:t>
                </a:r>
                <a:endParaRPr lang="ko-KR" altLang="en-US" sz="1000" dirty="0">
                  <a:latin typeface="맑은 고딕" pitchFamily="50" charset="-127"/>
                  <a:ea typeface="맑은 고딕" pitchFamily="50" charset="-127"/>
                </a:endParaRPr>
              </a:p>
            </p:txBody>
          </p:sp>
          <p:pic>
            <p:nvPicPr>
              <p:cNvPr id="441" name="Picture 5"/>
              <p:cNvPicPr>
                <a:picLocks noChangeAspect="1" noChangeArrowheads="1"/>
              </p:cNvPicPr>
              <p:nvPr/>
            </p:nvPicPr>
            <p:blipFill>
              <a:blip r:embed="rId8" cstate="print"/>
              <a:srcRect/>
              <a:stretch>
                <a:fillRect/>
              </a:stretch>
            </p:blipFill>
            <p:spPr bwMode="auto">
              <a:xfrm>
                <a:off x="591316" y="2204863"/>
                <a:ext cx="1202572" cy="410803"/>
              </a:xfrm>
              <a:prstGeom prst="rect">
                <a:avLst/>
              </a:prstGeom>
              <a:noFill/>
              <a:ln w="9525">
                <a:noFill/>
                <a:miter lim="800000"/>
                <a:headEnd/>
                <a:tailEnd/>
              </a:ln>
            </p:spPr>
          </p:pic>
        </p:grpSp>
        <p:grpSp>
          <p:nvGrpSpPr>
            <p:cNvPr id="412" name="그룹 37"/>
            <p:cNvGrpSpPr>
              <a:grpSpLocks/>
            </p:cNvGrpSpPr>
            <p:nvPr/>
          </p:nvGrpSpPr>
          <p:grpSpPr bwMode="auto">
            <a:xfrm>
              <a:off x="4993258" y="2656249"/>
              <a:ext cx="1081087" cy="525532"/>
              <a:chOff x="2000672" y="1268760"/>
              <a:chExt cx="1988710" cy="780871"/>
            </a:xfrm>
          </p:grpSpPr>
          <p:sp>
            <p:nvSpPr>
              <p:cNvPr id="438" name="TextBox 18"/>
              <p:cNvSpPr txBox="1">
                <a:spLocks noChangeArrowheads="1"/>
              </p:cNvSpPr>
              <p:nvPr/>
            </p:nvSpPr>
            <p:spPr bwMode="auto">
              <a:xfrm>
                <a:off x="2000672" y="1700808"/>
                <a:ext cx="1988710" cy="348823"/>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Barres d'en-tête</a:t>
                </a:r>
                <a:endParaRPr lang="ko-KR" altLang="en-US" sz="1000" dirty="0">
                  <a:latin typeface="맑은 고딕" pitchFamily="50" charset="-127"/>
                  <a:ea typeface="맑은 고딕" pitchFamily="50" charset="-127"/>
                </a:endParaRPr>
              </a:p>
            </p:txBody>
          </p:sp>
          <p:pic>
            <p:nvPicPr>
              <p:cNvPr id="439" name="Picture 3"/>
              <p:cNvPicPr>
                <a:picLocks noChangeAspect="1" noChangeArrowheads="1"/>
              </p:cNvPicPr>
              <p:nvPr/>
            </p:nvPicPr>
            <p:blipFill>
              <a:blip r:embed="rId9" cstate="print"/>
              <a:srcRect/>
              <a:stretch>
                <a:fillRect/>
              </a:stretch>
            </p:blipFill>
            <p:spPr bwMode="auto">
              <a:xfrm>
                <a:off x="2433071" y="1268760"/>
                <a:ext cx="1123914" cy="454049"/>
              </a:xfrm>
              <a:prstGeom prst="rect">
                <a:avLst/>
              </a:prstGeom>
              <a:noFill/>
              <a:ln w="9525">
                <a:noFill/>
                <a:miter lim="800000"/>
                <a:headEnd/>
                <a:tailEnd/>
              </a:ln>
            </p:spPr>
          </p:pic>
        </p:grpSp>
        <p:grpSp>
          <p:nvGrpSpPr>
            <p:cNvPr id="413" name="그룹 146"/>
            <p:cNvGrpSpPr>
              <a:grpSpLocks/>
            </p:cNvGrpSpPr>
            <p:nvPr/>
          </p:nvGrpSpPr>
          <p:grpSpPr bwMode="auto">
            <a:xfrm>
              <a:off x="5172645" y="3201675"/>
              <a:ext cx="876300" cy="827259"/>
              <a:chOff x="4898993" y="2348880"/>
              <a:chExt cx="1080120" cy="792088"/>
            </a:xfrm>
          </p:grpSpPr>
          <p:pic>
            <p:nvPicPr>
              <p:cNvPr id="436" name="Picture 5"/>
              <p:cNvPicPr>
                <a:picLocks noChangeAspect="1" noChangeArrowheads="1"/>
              </p:cNvPicPr>
              <p:nvPr/>
            </p:nvPicPr>
            <p:blipFill>
              <a:blip r:embed="rId12" cstate="print"/>
              <a:srcRect/>
              <a:stretch>
                <a:fillRect/>
              </a:stretch>
            </p:blipFill>
            <p:spPr bwMode="auto">
              <a:xfrm>
                <a:off x="4930268" y="2348880"/>
                <a:ext cx="1017567" cy="512837"/>
              </a:xfrm>
              <a:prstGeom prst="rect">
                <a:avLst/>
              </a:prstGeom>
              <a:noFill/>
              <a:ln w="9525">
                <a:noFill/>
                <a:miter lim="800000"/>
                <a:headEnd/>
                <a:tailEnd/>
              </a:ln>
            </p:spPr>
          </p:pic>
          <p:sp>
            <p:nvSpPr>
              <p:cNvPr id="437" name="TextBox 40"/>
              <p:cNvSpPr txBox="1">
                <a:spLocks noChangeArrowheads="1"/>
              </p:cNvSpPr>
              <p:nvPr/>
            </p:nvSpPr>
            <p:spPr bwMode="auto">
              <a:xfrm>
                <a:off x="4898993" y="2852936"/>
                <a:ext cx="1080120" cy="288032"/>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Liste d'</a:t>
                </a:r>
                <a:r>
                  <a:rPr lang="en-US" altLang="ko-KR" sz="800" dirty="0">
                    <a:latin typeface="맑은 고딕" pitchFamily="50" charset="-127"/>
                    <a:ea typeface="맑은 고딕" pitchFamily="50" charset="-127"/>
                  </a:rPr>
                  <a:t>icônes</a:t>
                </a:r>
                <a:endParaRPr lang="ko-KR" altLang="en-US" sz="800" dirty="0">
                  <a:latin typeface="맑은 고딕" pitchFamily="50" charset="-127"/>
                  <a:ea typeface="맑은 고딕" pitchFamily="50" charset="-127"/>
                </a:endParaRPr>
              </a:p>
            </p:txBody>
          </p:sp>
        </p:grpSp>
        <p:pic>
          <p:nvPicPr>
            <p:cNvPr id="414" name="Picture 6"/>
            <p:cNvPicPr>
              <a:picLocks noChangeAspect="1" noChangeArrowheads="1"/>
            </p:cNvPicPr>
            <p:nvPr/>
          </p:nvPicPr>
          <p:blipFill>
            <a:blip r:embed="rId13" cstate="print"/>
            <a:srcRect/>
            <a:stretch>
              <a:fillRect/>
            </a:stretch>
          </p:blipFill>
          <p:spPr bwMode="auto">
            <a:xfrm>
              <a:off x="4307458" y="2676143"/>
              <a:ext cx="209550" cy="218834"/>
            </a:xfrm>
            <a:prstGeom prst="rect">
              <a:avLst/>
            </a:prstGeom>
            <a:noFill/>
            <a:ln w="9525">
              <a:noFill/>
              <a:miter lim="800000"/>
              <a:headEnd/>
              <a:tailEnd/>
            </a:ln>
          </p:spPr>
        </p:pic>
        <p:pic>
          <p:nvPicPr>
            <p:cNvPr id="415" name="Picture 8"/>
            <p:cNvPicPr>
              <a:picLocks noChangeAspect="1" noChangeArrowheads="1"/>
            </p:cNvPicPr>
            <p:nvPr/>
          </p:nvPicPr>
          <p:blipFill>
            <a:blip r:embed="rId14" cstate="print"/>
            <a:srcRect/>
            <a:stretch>
              <a:fillRect/>
            </a:stretch>
          </p:blipFill>
          <p:spPr bwMode="auto">
            <a:xfrm>
              <a:off x="4577333" y="2676143"/>
              <a:ext cx="285750" cy="258622"/>
            </a:xfrm>
            <a:prstGeom prst="rect">
              <a:avLst/>
            </a:prstGeom>
            <a:noFill/>
            <a:ln w="9525">
              <a:noFill/>
              <a:miter lim="800000"/>
              <a:headEnd/>
              <a:tailEnd/>
            </a:ln>
          </p:spPr>
        </p:pic>
        <p:sp>
          <p:nvSpPr>
            <p:cNvPr id="416" name="TextBox 40"/>
            <p:cNvSpPr txBox="1">
              <a:spLocks noChangeArrowheads="1"/>
            </p:cNvSpPr>
            <p:nvPr/>
          </p:nvSpPr>
          <p:spPr bwMode="auto">
            <a:xfrm>
              <a:off x="4278883" y="3030919"/>
              <a:ext cx="576262" cy="301725"/>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icône</a:t>
              </a:r>
              <a:endParaRPr lang="ko-KR" altLang="en-US" sz="1000" dirty="0">
                <a:latin typeface="맑은 고딕" pitchFamily="50" charset="-127"/>
                <a:ea typeface="맑은 고딕" pitchFamily="50" charset="-127"/>
              </a:endParaRPr>
            </a:p>
          </p:txBody>
        </p:sp>
        <p:grpSp>
          <p:nvGrpSpPr>
            <p:cNvPr id="417" name="그룹 157"/>
            <p:cNvGrpSpPr>
              <a:grpSpLocks/>
            </p:cNvGrpSpPr>
            <p:nvPr/>
          </p:nvGrpSpPr>
          <p:grpSpPr bwMode="auto">
            <a:xfrm>
              <a:off x="3299395" y="3352538"/>
              <a:ext cx="720725" cy="676396"/>
              <a:chOff x="4556956" y="2132856"/>
              <a:chExt cx="720080" cy="648072"/>
            </a:xfrm>
          </p:grpSpPr>
          <p:pic>
            <p:nvPicPr>
              <p:cNvPr id="434" name="Picture 9"/>
              <p:cNvPicPr>
                <a:picLocks noChangeAspect="1" noChangeArrowheads="1"/>
              </p:cNvPicPr>
              <p:nvPr/>
            </p:nvPicPr>
            <p:blipFill>
              <a:blip r:embed="rId15" cstate="print"/>
              <a:srcRect/>
              <a:stretch>
                <a:fillRect/>
              </a:stretch>
            </p:blipFill>
            <p:spPr bwMode="auto">
              <a:xfrm>
                <a:off x="4556956" y="2132856"/>
                <a:ext cx="720080" cy="360040"/>
              </a:xfrm>
              <a:prstGeom prst="rect">
                <a:avLst/>
              </a:prstGeom>
              <a:noFill/>
              <a:ln w="9525">
                <a:noFill/>
                <a:miter lim="800000"/>
                <a:headEnd/>
                <a:tailEnd/>
              </a:ln>
            </p:spPr>
          </p:pic>
          <p:sp>
            <p:nvSpPr>
              <p:cNvPr id="435" name="TextBox 40"/>
              <p:cNvSpPr txBox="1">
                <a:spLocks noChangeArrowheads="1"/>
              </p:cNvSpPr>
              <p:nvPr/>
            </p:nvSpPr>
            <p:spPr bwMode="auto">
              <a:xfrm>
                <a:off x="4556956" y="2492896"/>
                <a:ext cx="720080" cy="288032"/>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Liste de base</a:t>
                </a:r>
                <a:endParaRPr lang="ko-KR" altLang="en-US" sz="1000" dirty="0">
                  <a:latin typeface="맑은 고딕" pitchFamily="50" charset="-127"/>
                  <a:ea typeface="맑은 고딕" pitchFamily="50" charset="-127"/>
                </a:endParaRPr>
              </a:p>
            </p:txBody>
          </p:sp>
        </p:grpSp>
        <p:pic>
          <p:nvPicPr>
            <p:cNvPr id="418" name="Picture 11"/>
            <p:cNvPicPr>
              <a:picLocks noChangeAspect="1" noChangeArrowheads="1"/>
            </p:cNvPicPr>
            <p:nvPr/>
          </p:nvPicPr>
          <p:blipFill>
            <a:blip r:embed="rId16" cstate="print"/>
            <a:srcRect/>
            <a:stretch>
              <a:fillRect/>
            </a:stretch>
          </p:blipFill>
          <p:spPr bwMode="auto">
            <a:xfrm>
              <a:off x="3372420" y="2599882"/>
              <a:ext cx="647700" cy="392906"/>
            </a:xfrm>
            <a:prstGeom prst="rect">
              <a:avLst/>
            </a:prstGeom>
            <a:noFill/>
            <a:ln w="9525">
              <a:noFill/>
              <a:miter lim="800000"/>
              <a:headEnd/>
              <a:tailEnd/>
            </a:ln>
          </p:spPr>
        </p:pic>
        <p:sp>
          <p:nvSpPr>
            <p:cNvPr id="419" name="TextBox 33"/>
            <p:cNvSpPr txBox="1">
              <a:spLocks noChangeArrowheads="1"/>
            </p:cNvSpPr>
            <p:nvPr/>
          </p:nvSpPr>
          <p:spPr bwMode="auto">
            <a:xfrm>
              <a:off x="3299395" y="2976210"/>
              <a:ext cx="936625" cy="417774"/>
            </a:xfrm>
            <a:prstGeom prst="rect">
              <a:avLst/>
            </a:prstGeom>
            <a:noFill/>
            <a:ln w="9525">
              <a:noFill/>
              <a:miter lim="800000"/>
              <a:headEnd/>
              <a:tailEnd/>
            </a:ln>
          </p:spPr>
          <p:txBody>
            <a:bodyPr>
              <a:spAutoFit/>
            </a:bodyPr>
            <a:lstStyle/>
            <a:p>
              <a:pPr algn="ctr"/>
              <a:r>
                <a:rPr lang="en-US" altLang="ko-KR" sz="1000" dirty="0">
                  <a:latin typeface="맑은 고딕" pitchFamily="50" charset="-127"/>
                  <a:ea typeface="맑은 고딕" pitchFamily="50" charset="-127"/>
                </a:rPr>
                <a:t>Inline buttons</a:t>
              </a:r>
              <a:endParaRPr lang="ko-KR" altLang="en-US" sz="1000" dirty="0">
                <a:latin typeface="맑은 고딕" pitchFamily="50" charset="-127"/>
                <a:ea typeface="맑은 고딕" pitchFamily="50" charset="-127"/>
              </a:endParaRPr>
            </a:p>
          </p:txBody>
        </p:sp>
        <p:sp>
          <p:nvSpPr>
            <p:cNvPr id="420" name="TextBox 40"/>
            <p:cNvSpPr txBox="1">
              <a:spLocks noChangeArrowheads="1"/>
            </p:cNvSpPr>
            <p:nvPr/>
          </p:nvSpPr>
          <p:spPr bwMode="auto">
            <a:xfrm>
              <a:off x="7836917" y="2543516"/>
              <a:ext cx="1150937" cy="300067"/>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Button icons</a:t>
              </a:r>
              <a:endParaRPr lang="ko-KR" altLang="en-US" sz="1000" dirty="0">
                <a:latin typeface="맑은 고딕" pitchFamily="50" charset="-127"/>
                <a:ea typeface="맑은 고딕" pitchFamily="50" charset="-127"/>
              </a:endParaRPr>
            </a:p>
          </p:txBody>
        </p:sp>
        <p:pic>
          <p:nvPicPr>
            <p:cNvPr id="421" name="Picture 14"/>
            <p:cNvPicPr>
              <a:picLocks noChangeAspect="1" noChangeArrowheads="1"/>
            </p:cNvPicPr>
            <p:nvPr/>
          </p:nvPicPr>
          <p:blipFill>
            <a:blip r:embed="rId17" cstate="print"/>
            <a:srcRect/>
            <a:stretch>
              <a:fillRect/>
            </a:stretch>
          </p:blipFill>
          <p:spPr bwMode="auto">
            <a:xfrm>
              <a:off x="4307458" y="2901608"/>
              <a:ext cx="200025" cy="198940"/>
            </a:xfrm>
            <a:prstGeom prst="rect">
              <a:avLst/>
            </a:prstGeom>
            <a:noFill/>
            <a:ln w="9525">
              <a:noFill/>
              <a:miter lim="800000"/>
              <a:headEnd/>
              <a:tailEnd/>
            </a:ln>
          </p:spPr>
        </p:pic>
        <p:pic>
          <p:nvPicPr>
            <p:cNvPr id="422" name="Picture 15"/>
            <p:cNvPicPr>
              <a:picLocks noChangeAspect="1" noChangeArrowheads="1"/>
            </p:cNvPicPr>
            <p:nvPr/>
          </p:nvPicPr>
          <p:blipFill>
            <a:blip r:embed="rId18" cstate="print"/>
            <a:srcRect/>
            <a:stretch>
              <a:fillRect/>
            </a:stretch>
          </p:blipFill>
          <p:spPr bwMode="auto">
            <a:xfrm>
              <a:off x="4596383" y="2901608"/>
              <a:ext cx="200025" cy="198940"/>
            </a:xfrm>
            <a:prstGeom prst="rect">
              <a:avLst/>
            </a:prstGeom>
            <a:noFill/>
            <a:ln w="9525">
              <a:noFill/>
              <a:miter lim="800000"/>
              <a:headEnd/>
              <a:tailEnd/>
            </a:ln>
          </p:spPr>
        </p:pic>
        <p:grpSp>
          <p:nvGrpSpPr>
            <p:cNvPr id="423" name="그룹 177"/>
            <p:cNvGrpSpPr>
              <a:grpSpLocks/>
            </p:cNvGrpSpPr>
            <p:nvPr/>
          </p:nvGrpSpPr>
          <p:grpSpPr bwMode="auto">
            <a:xfrm>
              <a:off x="7044754" y="3352538"/>
              <a:ext cx="1570038" cy="860414"/>
              <a:chOff x="7841111" y="2060848"/>
              <a:chExt cx="1570387" cy="824855"/>
            </a:xfrm>
          </p:grpSpPr>
          <p:sp>
            <p:nvSpPr>
              <p:cNvPr id="432" name="TextBox 40"/>
              <p:cNvSpPr txBox="1">
                <a:spLocks noChangeArrowheads="1"/>
              </p:cNvSpPr>
              <p:nvPr/>
            </p:nvSpPr>
            <p:spPr bwMode="auto">
              <a:xfrm>
                <a:off x="7841111" y="2597671"/>
                <a:ext cx="1570387" cy="288032"/>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Popup event</a:t>
                </a:r>
                <a:endParaRPr lang="ko-KR" altLang="en-US" sz="1000" dirty="0">
                  <a:latin typeface="맑은 고딕" pitchFamily="50" charset="-127"/>
                  <a:ea typeface="맑은 고딕" pitchFamily="50" charset="-127"/>
                </a:endParaRPr>
              </a:p>
            </p:txBody>
          </p:sp>
          <p:pic>
            <p:nvPicPr>
              <p:cNvPr id="433" name="Picture 19"/>
              <p:cNvPicPr>
                <a:picLocks noChangeAspect="1" noChangeArrowheads="1"/>
              </p:cNvPicPr>
              <p:nvPr/>
            </p:nvPicPr>
            <p:blipFill>
              <a:blip r:embed="rId19" cstate="print"/>
              <a:srcRect/>
              <a:stretch>
                <a:fillRect/>
              </a:stretch>
            </p:blipFill>
            <p:spPr bwMode="auto">
              <a:xfrm>
                <a:off x="8193360" y="2060848"/>
                <a:ext cx="864096" cy="544876"/>
              </a:xfrm>
              <a:prstGeom prst="rect">
                <a:avLst/>
              </a:prstGeom>
              <a:noFill/>
              <a:ln w="9525">
                <a:noFill/>
                <a:miter lim="800000"/>
                <a:headEnd/>
                <a:tailEnd/>
              </a:ln>
            </p:spPr>
          </p:pic>
        </p:grpSp>
        <p:grpSp>
          <p:nvGrpSpPr>
            <p:cNvPr id="424" name="그룹 168"/>
            <p:cNvGrpSpPr>
              <a:grpSpLocks/>
            </p:cNvGrpSpPr>
            <p:nvPr/>
          </p:nvGrpSpPr>
          <p:grpSpPr bwMode="auto">
            <a:xfrm>
              <a:off x="3524820" y="3977540"/>
              <a:ext cx="2609850" cy="300068"/>
              <a:chOff x="3656856" y="2636912"/>
              <a:chExt cx="2611338" cy="288032"/>
            </a:xfrm>
          </p:grpSpPr>
          <p:pic>
            <p:nvPicPr>
              <p:cNvPr id="430" name="Picture 13"/>
              <p:cNvPicPr>
                <a:picLocks noChangeAspect="1" noChangeArrowheads="1"/>
              </p:cNvPicPr>
              <p:nvPr/>
            </p:nvPicPr>
            <p:blipFill>
              <a:blip r:embed="rId20" cstate="print"/>
              <a:srcRect/>
              <a:stretch>
                <a:fillRect/>
              </a:stretch>
            </p:blipFill>
            <p:spPr bwMode="auto">
              <a:xfrm>
                <a:off x="3656856" y="2708920"/>
                <a:ext cx="1599059" cy="170392"/>
              </a:xfrm>
              <a:prstGeom prst="rect">
                <a:avLst/>
              </a:prstGeom>
              <a:noFill/>
              <a:ln w="9525">
                <a:noFill/>
                <a:miter lim="800000"/>
                <a:headEnd/>
                <a:tailEnd/>
              </a:ln>
            </p:spPr>
          </p:pic>
          <p:sp>
            <p:nvSpPr>
              <p:cNvPr id="431" name="TextBox 40"/>
              <p:cNvSpPr txBox="1">
                <a:spLocks noChangeArrowheads="1"/>
              </p:cNvSpPr>
              <p:nvPr/>
            </p:nvSpPr>
            <p:spPr bwMode="auto">
              <a:xfrm>
                <a:off x="5116066" y="2636912"/>
                <a:ext cx="1152128" cy="288032"/>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Button icons</a:t>
                </a:r>
                <a:endParaRPr lang="ko-KR" altLang="en-US" sz="1000" dirty="0">
                  <a:latin typeface="맑은 고딕" pitchFamily="50" charset="-127"/>
                  <a:ea typeface="맑은 고딕" pitchFamily="50" charset="-127"/>
                </a:endParaRPr>
              </a:p>
            </p:txBody>
          </p:sp>
        </p:grpSp>
        <p:pic>
          <p:nvPicPr>
            <p:cNvPr id="425" name="Picture 20"/>
            <p:cNvPicPr>
              <a:picLocks noChangeAspect="1" noChangeArrowheads="1"/>
            </p:cNvPicPr>
            <p:nvPr/>
          </p:nvPicPr>
          <p:blipFill>
            <a:blip r:embed="rId21" cstate="print"/>
            <a:srcRect/>
            <a:stretch>
              <a:fillRect/>
            </a:stretch>
          </p:blipFill>
          <p:spPr bwMode="auto">
            <a:xfrm>
              <a:off x="6371654" y="2626408"/>
              <a:ext cx="1547813" cy="198940"/>
            </a:xfrm>
            <a:prstGeom prst="rect">
              <a:avLst/>
            </a:prstGeom>
            <a:noFill/>
            <a:ln w="9525">
              <a:noFill/>
              <a:miter lim="800000"/>
              <a:headEnd/>
              <a:tailEnd/>
            </a:ln>
          </p:spPr>
        </p:pic>
        <p:pic>
          <p:nvPicPr>
            <p:cNvPr id="426" name="Picture 22"/>
            <p:cNvPicPr>
              <a:picLocks noChangeAspect="1" noChangeArrowheads="1"/>
            </p:cNvPicPr>
            <p:nvPr/>
          </p:nvPicPr>
          <p:blipFill>
            <a:blip r:embed="rId22" cstate="print"/>
            <a:srcRect/>
            <a:stretch>
              <a:fillRect/>
            </a:stretch>
          </p:blipFill>
          <p:spPr bwMode="auto">
            <a:xfrm>
              <a:off x="6222429" y="2901608"/>
              <a:ext cx="1174750" cy="374670"/>
            </a:xfrm>
            <a:prstGeom prst="rect">
              <a:avLst/>
            </a:prstGeom>
            <a:noFill/>
            <a:ln w="9525">
              <a:noFill/>
              <a:miter lim="800000"/>
              <a:headEnd/>
              <a:tailEnd/>
            </a:ln>
          </p:spPr>
        </p:pic>
        <p:sp>
          <p:nvSpPr>
            <p:cNvPr id="427" name="TextBox 40"/>
            <p:cNvSpPr txBox="1">
              <a:spLocks noChangeArrowheads="1"/>
            </p:cNvSpPr>
            <p:nvPr/>
          </p:nvSpPr>
          <p:spPr bwMode="auto">
            <a:xfrm>
              <a:off x="6130354" y="3276278"/>
              <a:ext cx="1357313" cy="301725"/>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Grouped buttons</a:t>
              </a:r>
              <a:endParaRPr lang="ko-KR" altLang="en-US" sz="1000" dirty="0">
                <a:latin typeface="맑은 고딕" pitchFamily="50" charset="-127"/>
                <a:ea typeface="맑은 고딕" pitchFamily="50" charset="-127"/>
              </a:endParaRPr>
            </a:p>
          </p:txBody>
        </p:sp>
        <p:pic>
          <p:nvPicPr>
            <p:cNvPr id="428" name="Picture 23"/>
            <p:cNvPicPr>
              <a:picLocks noChangeAspect="1" noChangeArrowheads="1"/>
            </p:cNvPicPr>
            <p:nvPr/>
          </p:nvPicPr>
          <p:blipFill>
            <a:blip r:embed="rId23" cstate="print"/>
            <a:srcRect/>
            <a:stretch>
              <a:fillRect/>
            </a:stretch>
          </p:blipFill>
          <p:spPr bwMode="auto">
            <a:xfrm>
              <a:off x="8411592" y="2976210"/>
              <a:ext cx="600075" cy="949938"/>
            </a:xfrm>
            <a:prstGeom prst="rect">
              <a:avLst/>
            </a:prstGeom>
            <a:noFill/>
            <a:ln w="9525">
              <a:noFill/>
              <a:miter lim="800000"/>
              <a:headEnd/>
              <a:tailEnd/>
            </a:ln>
          </p:spPr>
        </p:pic>
        <p:sp>
          <p:nvSpPr>
            <p:cNvPr id="429" name="TextBox 40"/>
            <p:cNvSpPr txBox="1">
              <a:spLocks noChangeArrowheads="1"/>
            </p:cNvSpPr>
            <p:nvPr/>
          </p:nvSpPr>
          <p:spPr bwMode="auto">
            <a:xfrm>
              <a:off x="8411592" y="3954331"/>
              <a:ext cx="649287" cy="300068"/>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bar</a:t>
              </a:r>
              <a:endParaRPr lang="ko-KR" altLang="en-US" sz="1000" dirty="0">
                <a:latin typeface="맑은 고딕" pitchFamily="50" charset="-127"/>
                <a:ea typeface="맑은 고딕" pitchFamily="50" charset="-127"/>
              </a:endParaRPr>
            </a:p>
          </p:txBody>
        </p:sp>
      </p:grpSp>
    </p:spTree>
    <p:extLst>
      <p:ext uri="{BB962C8B-B14F-4D97-AF65-F5344CB8AC3E}">
        <p14:creationId xmlns:p14="http://schemas.microsoft.com/office/powerpoint/2010/main" val="19259649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1"/>
          <p:cNvSpPr>
            <a:spLocks noGrp="1"/>
          </p:cNvSpPr>
          <p:nvPr>
            <p:ph type="title"/>
          </p:nvPr>
        </p:nvSpPr>
        <p:spPr>
          <a:xfrm>
            <a:off x="611560" y="116632"/>
            <a:ext cx="7920880" cy="634082"/>
          </a:xfrm>
        </p:spPr>
        <p:txBody>
          <a:bodyPr/>
          <a:lstStyle/>
          <a:p>
            <a:pPr>
              <a:defRPr/>
            </a:pPr>
            <a:r>
              <a:rPr lang="en-US" altLang="ko-KR" sz="2800" b="0" dirty="0" smtClean="0">
                <a:latin typeface="Tahoma" pitchFamily="34" charset="0"/>
                <a:ea typeface="Tahoma" pitchFamily="34" charset="0"/>
                <a:cs typeface="Tahoma" pitchFamily="34" charset="0"/>
              </a:rPr>
              <a:t>L'émergence de l'ère Smart</a:t>
            </a:r>
            <a:endParaRPr lang="ko-KR" altLang="en-US" sz="2800" b="0" dirty="0">
              <a:latin typeface="Tahoma" pitchFamily="34" charset="0"/>
              <a:ea typeface="HY견고딕" pitchFamily="18" charset="-127"/>
              <a:cs typeface="Tahoma" pitchFamily="34" charset="0"/>
            </a:endParaRPr>
          </a:p>
        </p:txBody>
      </p:sp>
      <p:sp>
        <p:nvSpPr>
          <p:cNvPr id="4" name="직사각형 3"/>
          <p:cNvSpPr/>
          <p:nvPr/>
        </p:nvSpPr>
        <p:spPr>
          <a:xfrm>
            <a:off x="0" y="1052736"/>
            <a:ext cx="9144000" cy="648072"/>
          </a:xfrm>
          <a:prstGeom prst="rect">
            <a:avLst/>
          </a:prstGeom>
          <a:gradFill>
            <a:gsLst>
              <a:gs pos="0">
                <a:sysClr val="window" lastClr="FFFFFF">
                  <a:alpha val="70000"/>
                </a:sysClr>
              </a:gs>
              <a:gs pos="50000">
                <a:sysClr val="window" lastClr="FFFFFF">
                  <a:alpha val="70000"/>
                </a:sysClr>
              </a:gs>
              <a:gs pos="100000">
                <a:sysClr val="window" lastClr="FFFFFF">
                  <a:alpha val="0"/>
                </a:sysClr>
              </a:gs>
            </a:gsLst>
            <a:lin ang="0" scaled="0"/>
          </a:gradFill>
          <a:ln w="25400" cap="flat" cmpd="sng" algn="ctr">
            <a:gradFill>
              <a:gsLst>
                <a:gs pos="0">
                  <a:srgbClr val="D6ECFF">
                    <a:lumMod val="50000"/>
                    <a:alpha val="0"/>
                  </a:srgbClr>
                </a:gs>
                <a:gs pos="50000">
                  <a:srgbClr val="D6ECFF">
                    <a:lumMod val="50000"/>
                  </a:srgbClr>
                </a:gs>
                <a:gs pos="100000">
                  <a:srgbClr val="D6ECFF">
                    <a:lumMod val="50000"/>
                    <a:alpha val="0"/>
                  </a:srgbClr>
                </a:gs>
              </a:gsLst>
              <a:lin ang="0" scaled="0"/>
            </a:gra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sysClr val="window" lastClr="FFFFFF"/>
              </a:solidFill>
              <a:effectLst/>
              <a:uLnTx/>
              <a:uFillTx/>
              <a:latin typeface="Tahoma" pitchFamily="34" charset="0"/>
              <a:ea typeface="HY견고딕" pitchFamily="18" charset="-127"/>
              <a:cs typeface="Tahoma" pitchFamily="34" charset="0"/>
            </a:endParaRPr>
          </a:p>
        </p:txBody>
      </p:sp>
      <p:sp>
        <p:nvSpPr>
          <p:cNvPr id="5" name="직사각형 4"/>
          <p:cNvSpPr/>
          <p:nvPr/>
        </p:nvSpPr>
        <p:spPr>
          <a:xfrm>
            <a:off x="0" y="1196752"/>
            <a:ext cx="9144000" cy="369332"/>
          </a:xfrm>
          <a:prstGeom prst="rect">
            <a:avLst/>
          </a:prstGeom>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b="0" i="0" u="none" strike="noStrike" kern="0" cap="none" spc="0" normalizeH="0" baseline="0" noProof="0" dirty="0" smtClean="0">
                <a:ln>
                  <a:solidFill>
                    <a:sysClr val="window" lastClr="FFFFFF">
                      <a:alpha val="5000"/>
                    </a:sysClr>
                  </a:solidFill>
                </a:ln>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effectLst/>
                <a:uLnTx/>
                <a:uFillTx/>
                <a:latin typeface="Tahoma" pitchFamily="34" charset="0"/>
                <a:ea typeface="Tahoma" pitchFamily="34" charset="0"/>
                <a:cs typeface="Tahoma" pitchFamily="34" charset="0"/>
              </a:rPr>
              <a:t>Vers la </a:t>
            </a:r>
            <a:r>
              <a:rPr kumimoji="0" lang="en-US" altLang="ko-KR" b="0" i="0" u="none" strike="noStrike" kern="0" cap="none" spc="0" normalizeH="0" noProof="0" dirty="0" smtClean="0">
                <a:ln>
                  <a:solidFill>
                    <a:sysClr val="window" lastClr="FFFFFF">
                      <a:alpha val="5000"/>
                    </a:sysClr>
                  </a:solidFill>
                </a:ln>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effectLst/>
                <a:uLnTx/>
                <a:uFillTx/>
                <a:latin typeface="Tahoma" pitchFamily="34" charset="0"/>
                <a:ea typeface="Tahoma" pitchFamily="34" charset="0"/>
                <a:cs typeface="Tahoma" pitchFamily="34" charset="0"/>
              </a:rPr>
              <a:t>« Société intelligente », mégatendance motrice du changement de paradigme sociétal</a:t>
            </a:r>
            <a:endParaRPr kumimoji="0" lang="ko-KR" altLang="en-US" b="0" i="0" u="none" strike="noStrike" kern="0" cap="none" spc="0" normalizeH="0" baseline="0" noProof="0" dirty="0" smtClean="0">
              <a:ln>
                <a:solidFill>
                  <a:sysClr val="window" lastClr="FFFFFF">
                    <a:alpha val="5000"/>
                  </a:sysClr>
                </a:solidFill>
              </a:ln>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effectLst/>
              <a:uLnTx/>
              <a:uFillTx/>
              <a:latin typeface="Tahoma" pitchFamily="34" charset="0"/>
              <a:ea typeface="HY견고딕" pitchFamily="18" charset="-127"/>
              <a:cs typeface="Tahoma" pitchFamily="34" charset="0"/>
            </a:endParaRPr>
          </a:p>
        </p:txBody>
      </p:sp>
      <p:sp>
        <p:nvSpPr>
          <p:cNvPr id="6" name="직사각형 5"/>
          <p:cNvSpPr/>
          <p:nvPr/>
        </p:nvSpPr>
        <p:spPr>
          <a:xfrm>
            <a:off x="611560" y="1844824"/>
            <a:ext cx="7920880" cy="584775"/>
          </a:xfrm>
          <a:prstGeom prst="rect">
            <a:avLst/>
          </a:prstGeom>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600" b="0" kern="0" dirty="0" smtClean="0">
                <a:ln>
                  <a:solidFill>
                    <a:sysClr val="window" lastClr="FFFFFF">
                      <a:alpha val="5000"/>
                    </a:sysClr>
                  </a:solidFill>
                </a:ln>
                <a:gradFill flip="none" rotWithShape="1">
                  <a:gsLst>
                    <a:gs pos="0">
                      <a:sysClr val="windowText" lastClr="000000">
                        <a:lumMod val="65000"/>
                        <a:lumOff val="35000"/>
                        <a:shade val="30000"/>
                        <a:satMod val="115000"/>
                      </a:sysClr>
                    </a:gs>
                    <a:gs pos="50000">
                      <a:sysClr val="windowText" lastClr="000000">
                        <a:lumMod val="65000"/>
                        <a:lumOff val="35000"/>
                        <a:shade val="67500"/>
                        <a:satMod val="115000"/>
                      </a:sysClr>
                    </a:gs>
                    <a:gs pos="100000">
                      <a:sysClr val="windowText" lastClr="000000">
                        <a:lumMod val="65000"/>
                        <a:lumOff val="35000"/>
                        <a:shade val="100000"/>
                        <a:satMod val="115000"/>
                      </a:sysClr>
                    </a:gs>
                  </a:gsLst>
                  <a:lin ang="16200000" scaled="1"/>
                  <a:tileRect/>
                </a:gradFill>
                <a:latin typeface="Tahoma" pitchFamily="34" charset="0"/>
                <a:ea typeface="Tahoma" pitchFamily="34" charset="0"/>
                <a:cs typeface="Tahoma" pitchFamily="34" charset="0"/>
              </a:rPr>
              <a:t>Au-delà de la société de l'information et de la société ubiquitaire, nous sommes déjà entrés dans la Société Smart où les TI résolvent des problèmes sociaux et créent de nouvelles valeurs</a:t>
            </a:r>
            <a:endParaRPr kumimoji="0" lang="ko-KR" altLang="en-US" sz="1600" b="0" i="0" u="none" strike="noStrike" kern="0" cap="none" spc="0" normalizeH="0" baseline="0" noProof="0" dirty="0" smtClean="0">
              <a:ln>
                <a:solidFill>
                  <a:sysClr val="window" lastClr="FFFFFF">
                    <a:alpha val="5000"/>
                  </a:sysClr>
                </a:solidFill>
              </a:ln>
              <a:gradFill flip="none" rotWithShape="1">
                <a:gsLst>
                  <a:gs pos="0">
                    <a:sysClr val="windowText" lastClr="000000">
                      <a:lumMod val="65000"/>
                      <a:lumOff val="35000"/>
                      <a:shade val="30000"/>
                      <a:satMod val="115000"/>
                    </a:sysClr>
                  </a:gs>
                  <a:gs pos="50000">
                    <a:sysClr val="windowText" lastClr="000000">
                      <a:lumMod val="65000"/>
                      <a:lumOff val="35000"/>
                      <a:shade val="67500"/>
                      <a:satMod val="115000"/>
                    </a:sysClr>
                  </a:gs>
                  <a:gs pos="100000">
                    <a:sysClr val="windowText" lastClr="000000">
                      <a:lumMod val="65000"/>
                      <a:lumOff val="35000"/>
                      <a:shade val="100000"/>
                      <a:satMod val="115000"/>
                    </a:sysClr>
                  </a:gs>
                </a:gsLst>
                <a:lin ang="16200000" scaled="1"/>
                <a:tileRect/>
              </a:gradFill>
              <a:effectLst/>
              <a:uLnTx/>
              <a:uFillTx/>
              <a:latin typeface="Tahoma" pitchFamily="34" charset="0"/>
              <a:ea typeface="HY견고딕" pitchFamily="18" charset="-127"/>
              <a:cs typeface="Tahoma" pitchFamily="34" charset="0"/>
            </a:endParaRPr>
          </a:p>
        </p:txBody>
      </p:sp>
      <p:sp>
        <p:nvSpPr>
          <p:cNvPr id="7" name="직사각형 6"/>
          <p:cNvSpPr/>
          <p:nvPr/>
        </p:nvSpPr>
        <p:spPr>
          <a:xfrm>
            <a:off x="539552" y="1990581"/>
            <a:ext cx="72008" cy="216024"/>
          </a:xfrm>
          <a:prstGeom prst="rect">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sysClr val="window" lastClr="FFFFFF"/>
              </a:solidFill>
              <a:effectLst/>
              <a:uLnTx/>
              <a:uFillTx/>
              <a:latin typeface="Tahoma" pitchFamily="34" charset="0"/>
              <a:ea typeface="HY견고딕" pitchFamily="18" charset="-127"/>
              <a:cs typeface="Tahoma" pitchFamily="34" charset="0"/>
            </a:endParaRPr>
          </a:p>
        </p:txBody>
      </p:sp>
      <p:sp>
        <p:nvSpPr>
          <p:cNvPr id="8" name="직사각형 7"/>
          <p:cNvSpPr/>
          <p:nvPr/>
        </p:nvSpPr>
        <p:spPr>
          <a:xfrm>
            <a:off x="611560" y="5589240"/>
            <a:ext cx="7920880" cy="738664"/>
          </a:xfrm>
          <a:prstGeom prst="rect">
            <a:avLst/>
          </a:prstGeom>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400" b="0" kern="0" dirty="0" smtClean="0">
                <a:ln>
                  <a:solidFill>
                    <a:sysClr val="window" lastClr="FFFFFF">
                      <a:alpha val="5000"/>
                    </a:sysClr>
                  </a:solidFill>
                </a:ln>
                <a:gradFill flip="none" rotWithShape="1">
                  <a:gsLst>
                    <a:gs pos="0">
                      <a:sysClr val="windowText" lastClr="000000">
                        <a:lumMod val="65000"/>
                        <a:lumOff val="35000"/>
                        <a:shade val="30000"/>
                        <a:satMod val="115000"/>
                      </a:sysClr>
                    </a:gs>
                    <a:gs pos="50000">
                      <a:sysClr val="windowText" lastClr="000000">
                        <a:lumMod val="65000"/>
                        <a:lumOff val="35000"/>
                        <a:shade val="67500"/>
                        <a:satMod val="115000"/>
                      </a:sysClr>
                    </a:gs>
                    <a:gs pos="100000">
                      <a:sysClr val="windowText" lastClr="000000">
                        <a:lumMod val="65000"/>
                        <a:lumOff val="35000"/>
                        <a:shade val="100000"/>
                        <a:satMod val="115000"/>
                      </a:sysClr>
                    </a:gs>
                  </a:gsLst>
                  <a:lin ang="16200000" scaled="1"/>
                  <a:tileRect/>
                </a:gradFill>
                <a:latin typeface="Tahoma" pitchFamily="34" charset="0"/>
                <a:ea typeface="Tahoma" pitchFamily="34" charset="0"/>
                <a:cs typeface="Tahoma" pitchFamily="34" charset="0"/>
              </a:rPr>
              <a:t>Les concepts clés guidant la transition vers une Société Smart capable de créer de nouvelles valeurs comprennent ;</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ko-KR" altLang="en-US"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HY견고딕" pitchFamily="18" charset="-127"/>
                <a:cs typeface="Tahoma" pitchFamily="34" charset="0"/>
              </a:rPr>
              <a:t>'</a:t>
            </a:r>
            <a:r>
              <a:rPr kumimoji="0" lang="en-US" altLang="ko-KR"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Tahoma" pitchFamily="34" charset="0"/>
                <a:cs typeface="Tahoma" pitchFamily="34" charset="0"/>
              </a:rPr>
              <a:t>Partage-Communication-Ouverture</a:t>
            </a:r>
            <a:r>
              <a:rPr kumimoji="0" lang="ko-KR" altLang="en-US"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HY견고딕" pitchFamily="18" charset="-127"/>
                <a:cs typeface="Tahoma" pitchFamily="34" charset="0"/>
              </a:rPr>
              <a:t>'</a:t>
            </a:r>
            <a:r>
              <a:rPr kumimoji="0" lang="en-US" altLang="ko-KR"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Tahoma" pitchFamily="34" charset="0"/>
                <a:cs typeface="Tahoma" pitchFamily="34" charset="0"/>
              </a:rPr>
              <a:t>, </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Tahoma" pitchFamily="34" charset="0"/>
                <a:cs typeface="Tahoma" pitchFamily="34" charset="0"/>
              </a:rPr>
              <a:t>'Innovation-Coopération-Créativité</a:t>
            </a:r>
            <a:r>
              <a:rPr kumimoji="0" lang="ko-KR" altLang="en-US"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HY견고딕" pitchFamily="18" charset="-127"/>
                <a:cs typeface="Tahoma" pitchFamily="34" charset="0"/>
              </a:rPr>
              <a:t>'</a:t>
            </a:r>
            <a:r>
              <a:rPr kumimoji="0" lang="en-US" altLang="ko-KR"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Tahoma" pitchFamily="34" charset="0"/>
                <a:cs typeface="Tahoma" pitchFamily="34" charset="0"/>
              </a:rPr>
              <a:t>, </a:t>
            </a:r>
            <a:r>
              <a:rPr kumimoji="0" lang="ko-KR" altLang="en-US"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HY견고딕" pitchFamily="18" charset="-127"/>
                <a:cs typeface="Tahoma" pitchFamily="34" charset="0"/>
              </a:rPr>
              <a:t>'</a:t>
            </a:r>
            <a:r>
              <a:rPr kumimoji="0" lang="en-US" altLang="ko-KR"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Tahoma" pitchFamily="34" charset="0"/>
                <a:cs typeface="Tahoma" pitchFamily="34" charset="0"/>
              </a:rPr>
              <a:t>Plateforme</a:t>
            </a:r>
            <a:r>
              <a:rPr kumimoji="0" lang="ko-KR" altLang="en-US"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HY견고딕" pitchFamily="18" charset="-127"/>
                <a:cs typeface="Tahoma" pitchFamily="34" charset="0"/>
              </a:rPr>
              <a:t>'</a:t>
            </a:r>
          </a:p>
        </p:txBody>
      </p:sp>
      <p:sp>
        <p:nvSpPr>
          <p:cNvPr id="9" name="직사각형 8"/>
          <p:cNvSpPr/>
          <p:nvPr/>
        </p:nvSpPr>
        <p:spPr>
          <a:xfrm>
            <a:off x="539552" y="5661248"/>
            <a:ext cx="72008" cy="216024"/>
          </a:xfrm>
          <a:prstGeom prst="rect">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sysClr val="window" lastClr="FFFFFF"/>
              </a:solidFill>
              <a:effectLst/>
              <a:uLnTx/>
              <a:uFillTx/>
              <a:latin typeface="Tahoma" pitchFamily="34" charset="0"/>
              <a:ea typeface="HY견고딕" pitchFamily="18" charset="-127"/>
              <a:cs typeface="Tahoma" pitchFamily="34" charset="0"/>
            </a:endParaRPr>
          </a:p>
        </p:txBody>
      </p:sp>
      <p:sp>
        <p:nvSpPr>
          <p:cNvPr id="10" name="TextBox 9"/>
          <p:cNvSpPr txBox="1"/>
          <p:nvPr/>
        </p:nvSpPr>
        <p:spPr>
          <a:xfrm>
            <a:off x="539552" y="2675821"/>
            <a:ext cx="2520280" cy="476017"/>
          </a:xfrm>
          <a:prstGeom prst="roundRect">
            <a:avLst>
              <a:gd name="adj" fmla="val 50000"/>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a:solidFill>
              <a:sysClr val="window" lastClr="FFFFFF"/>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rIns="324000" anchor="ctr" anchorCtr="0">
            <a:noAutofit/>
          </a:bodyPr>
          <a:lstStyle/>
          <a:p>
            <a:pPr marL="92075" marR="0" lvl="0" indent="92075" algn="ctr" defTabSz="914400" eaLnBrk="1" fontAlgn="auto" latinLnBrk="0" hangingPunct="1">
              <a:lnSpc>
                <a:spcPct val="100000"/>
              </a:lnSpc>
              <a:spcBef>
                <a:spcPts val="0"/>
              </a:spcBef>
              <a:spcAft>
                <a:spcPts val="0"/>
              </a:spcAft>
              <a:buClr>
                <a:srgbClr val="D9EA00">
                  <a:lumMod val="75000"/>
                </a:srgbClr>
              </a:buClr>
              <a:buSzPct val="100000"/>
              <a:buFontTx/>
              <a:buNone/>
              <a:tabLst/>
              <a:defRPr/>
            </a:pPr>
            <a:r>
              <a:rPr kumimoji="0" lang="en-US" altLang="ko-KR" sz="1600" b="0" i="0" u="none" strike="noStrike" kern="0" cap="none" spc="0" normalizeH="0" baseline="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rPr>
              <a:t>Société de l'information</a:t>
            </a:r>
          </a:p>
        </p:txBody>
      </p:sp>
      <p:sp>
        <p:nvSpPr>
          <p:cNvPr id="12" name="TextBox 11"/>
          <p:cNvSpPr txBox="1"/>
          <p:nvPr/>
        </p:nvSpPr>
        <p:spPr>
          <a:xfrm>
            <a:off x="3311860" y="2675821"/>
            <a:ext cx="2520280" cy="476017"/>
          </a:xfrm>
          <a:prstGeom prst="roundRect">
            <a:avLst>
              <a:gd name="adj" fmla="val 50000"/>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a:solidFill>
              <a:sysClr val="window" lastClr="FFFFFF"/>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rIns="324000" anchor="ctr" anchorCtr="0">
            <a:noAutofit/>
          </a:bodyPr>
          <a:lstStyle/>
          <a:p>
            <a:pPr marL="92075" marR="0" lvl="0" indent="92075" algn="ctr" defTabSz="914400" eaLnBrk="1" fontAlgn="auto" latinLnBrk="0" hangingPunct="1">
              <a:lnSpc>
                <a:spcPct val="100000"/>
              </a:lnSpc>
              <a:spcBef>
                <a:spcPts val="0"/>
              </a:spcBef>
              <a:spcAft>
                <a:spcPts val="0"/>
              </a:spcAft>
              <a:buClr>
                <a:srgbClr val="D9EA00">
                  <a:lumMod val="75000"/>
                </a:srgbClr>
              </a:buClr>
              <a:buSzPct val="100000"/>
              <a:buFontTx/>
              <a:buNone/>
              <a:tabLst/>
              <a:defRPr/>
            </a:pPr>
            <a:r>
              <a:rPr kumimoji="0" lang="en-US" altLang="ko-KR" sz="1600" b="0" i="0" u="none" strike="noStrike" kern="0" cap="none" spc="0" normalizeH="0" baseline="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rPr>
              <a:t>Société </a:t>
            </a:r>
            <a:r>
              <a:rPr kumimoji="0" lang="en-US" altLang="ko-KR" sz="1600" b="0" i="0" u="none" strike="noStrike" kern="0" cap="none" spc="0" normalizeH="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rPr>
              <a:t>ubiquitaire</a:t>
            </a:r>
            <a:endParaRPr kumimoji="0" lang="en-US" altLang="ko-KR" sz="1600" b="0" i="0" u="none" strike="noStrike" kern="0" cap="none" spc="0" normalizeH="0" baseline="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endParaRPr>
          </a:p>
        </p:txBody>
      </p:sp>
      <p:sp>
        <p:nvSpPr>
          <p:cNvPr id="13" name="TextBox 12"/>
          <p:cNvSpPr txBox="1"/>
          <p:nvPr/>
        </p:nvSpPr>
        <p:spPr>
          <a:xfrm>
            <a:off x="6084168" y="2675821"/>
            <a:ext cx="2520280" cy="509116"/>
          </a:xfrm>
          <a:prstGeom prst="roundRect">
            <a:avLst>
              <a:gd name="adj" fmla="val 50000"/>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a:solidFill>
              <a:sysClr val="window" lastClr="FFFFFF"/>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rIns="324000" anchor="ctr" anchorCtr="0">
            <a:noAutofit/>
          </a:bodyPr>
          <a:lstStyle/>
          <a:p>
            <a:pPr marL="92075" marR="0" lvl="0" indent="92075" algn="ctr" defTabSz="914400" eaLnBrk="1" fontAlgn="auto" latinLnBrk="0" hangingPunct="1">
              <a:lnSpc>
                <a:spcPct val="100000"/>
              </a:lnSpc>
              <a:spcBef>
                <a:spcPts val="0"/>
              </a:spcBef>
              <a:spcAft>
                <a:spcPts val="0"/>
              </a:spcAft>
              <a:buClr>
                <a:srgbClr val="D9EA00">
                  <a:lumMod val="75000"/>
                </a:srgbClr>
              </a:buClr>
              <a:buSzPct val="100000"/>
              <a:buFontTx/>
              <a:buNone/>
              <a:tabLst/>
              <a:defRPr/>
            </a:pPr>
            <a:r>
              <a:rPr kumimoji="0" lang="en-US" altLang="ko-KR" sz="1800" b="0" i="0" u="none" strike="noStrike" kern="0" cap="none" spc="0" normalizeH="0" baseline="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rPr>
              <a:t>Société Smart</a:t>
            </a:r>
          </a:p>
        </p:txBody>
      </p:sp>
      <p:sp>
        <p:nvSpPr>
          <p:cNvPr id="14" name="모서리가 둥근 직사각형 13"/>
          <p:cNvSpPr/>
          <p:nvPr/>
        </p:nvSpPr>
        <p:spPr>
          <a:xfrm>
            <a:off x="539552" y="4509120"/>
            <a:ext cx="2497478" cy="936104"/>
          </a:xfrm>
          <a:prstGeom prst="roundRect">
            <a:avLst>
              <a:gd name="adj" fmla="val 8771"/>
            </a:avLst>
          </a:prstGeom>
          <a:solidFill>
            <a:sysClr val="window" lastClr="FFFFFF"/>
          </a:solidFill>
          <a:ln w="25400">
            <a:solidFill>
              <a:srgbClr val="D6ECFF">
                <a:lumMod val="50000"/>
              </a:srgbClr>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anchor="ctr" anchorCtr="0">
            <a:noAutofit/>
          </a:bodyPr>
          <a:lstStyle/>
          <a:p>
            <a:pPr marL="179388" marR="0" lvl="0" indent="-179388" defTabSz="914400" eaLnBrk="1" fontAlgn="auto" latinLnBrk="0" hangingPunct="1">
              <a:lnSpc>
                <a:spcPct val="100000"/>
              </a:lnSpc>
              <a:spcBef>
                <a:spcPts val="0"/>
              </a:spcBef>
              <a:spcAft>
                <a:spcPts val="0"/>
              </a:spcAft>
              <a:buClrTx/>
              <a:buSzTx/>
              <a:buFont typeface="Arial" pitchFamily="34" charset="0"/>
              <a:buChar char="•"/>
              <a:tabLst/>
              <a:defRPr/>
            </a:pP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Transposer le monde </a:t>
            </a:r>
            <a:r>
              <a:rPr kumimoji="0" lang="en-US" altLang="ko-KR" sz="1200" b="0" kern="0" spc="-50" dirty="0" smtClean="0">
                <a:ln>
                  <a:solidFill>
                    <a:sysClr val="window" lastClr="FFFFFF">
                      <a:alpha val="5000"/>
                    </a:sysClr>
                  </a:solidFill>
                </a:ln>
                <a:solidFill>
                  <a:sysClr val="windowText" lastClr="000000">
                    <a:lumMod val="50000"/>
                    <a:lumOff val="50000"/>
                  </a:sysClr>
                </a:solidFill>
                <a:latin typeface="Tahoma" pitchFamily="34" charset="0"/>
                <a:ea typeface="Tahoma" pitchFamily="34" charset="0"/>
                <a:cs typeface="Tahoma" pitchFamily="34" charset="0"/>
              </a:rPr>
              <a:t>h</a:t>
            </a:r>
            <a:r>
              <a:rPr kumimoji="0" lang="en-US" altLang="ko-KR" sz="1200" b="0" i="0" u="none" strike="noStrike" kern="0" cap="none" spc="-50" normalizeH="0" baseline="0" noProof="0" dirty="0" err="1"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ors ligne</a:t>
            </a: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 </a:t>
            </a:r>
            <a:r>
              <a:rPr kumimoji="0" lang="en-US" altLang="ko-KR" sz="1200" b="0" i="0" u="none" strike="noStrike" kern="0" cap="none" spc="-50" normalizeH="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 en ligne</a:t>
            </a:r>
            <a:endPar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endParaRPr>
          </a:p>
          <a:p>
            <a:pPr marL="179388" marR="0" lvl="0" indent="-179388" defTabSz="914400" eaLnBrk="1" fontAlgn="auto" latinLnBrk="0" hangingPunct="1">
              <a:lnSpc>
                <a:spcPct val="100000"/>
              </a:lnSpc>
              <a:spcBef>
                <a:spcPts val="0"/>
              </a:spcBef>
              <a:spcAft>
                <a:spcPts val="0"/>
              </a:spcAft>
              <a:buClrTx/>
              <a:buSzTx/>
              <a:buFont typeface="Arial" pitchFamily="34" charset="0"/>
              <a:buChar char="•"/>
              <a:tabLst/>
              <a:defRPr/>
            </a:pP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Efficience, innovation des services</a:t>
            </a:r>
            <a:endPar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endParaRPr>
          </a:p>
        </p:txBody>
      </p:sp>
      <p:sp>
        <p:nvSpPr>
          <p:cNvPr id="15" name="모서리가 둥근 직사각형 14"/>
          <p:cNvSpPr/>
          <p:nvPr/>
        </p:nvSpPr>
        <p:spPr>
          <a:xfrm>
            <a:off x="3323261" y="4509120"/>
            <a:ext cx="2497478" cy="936104"/>
          </a:xfrm>
          <a:prstGeom prst="roundRect">
            <a:avLst>
              <a:gd name="adj" fmla="val 10603"/>
            </a:avLst>
          </a:prstGeom>
          <a:solidFill>
            <a:sysClr val="window" lastClr="FFFFFF"/>
          </a:solidFill>
          <a:ln w="25400">
            <a:solidFill>
              <a:srgbClr val="D6ECFF">
                <a:lumMod val="50000"/>
              </a:srgbClr>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anchor="ctr" anchorCtr="0">
            <a:noAutofit/>
          </a:bodyPr>
          <a:lstStyle/>
          <a:p>
            <a:pPr marL="179388" marR="0" lvl="0" indent="-179388" defTabSz="914400" eaLnBrk="1" fontAlgn="auto" latinLnBrk="0" hangingPunct="1">
              <a:lnSpc>
                <a:spcPct val="100000"/>
              </a:lnSpc>
              <a:spcBef>
                <a:spcPts val="0"/>
              </a:spcBef>
              <a:spcAft>
                <a:spcPts val="0"/>
              </a:spcAft>
              <a:buClrTx/>
              <a:buSzTx/>
              <a:buFont typeface="Arial" pitchFamily="34" charset="0"/>
              <a:buChar char="•"/>
              <a:tabLst/>
              <a:defRPr/>
            </a:pP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Connexion entre</a:t>
            </a:r>
            <a:r>
              <a:rPr kumimoji="0" lang="en-US" altLang="ko-KR" sz="1200" b="0" i="0" u="none" strike="noStrike" kern="0" cap="none" spc="-50" normalizeH="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 monde hors ligne et en ligne</a:t>
            </a:r>
            <a:r>
              <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rPr>
              <a:t> </a:t>
            </a: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(IT et non-IT)</a:t>
            </a:r>
            <a:endPar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endParaRPr>
          </a:p>
          <a:p>
            <a:pPr marL="179388" marR="0" lvl="0" indent="-179388" defTabSz="914400" eaLnBrk="1" fontAlgn="auto" latinLnBrk="0" hangingPunct="1">
              <a:lnSpc>
                <a:spcPct val="100000"/>
              </a:lnSpc>
              <a:spcBef>
                <a:spcPts val="0"/>
              </a:spcBef>
              <a:spcAft>
                <a:spcPts val="0"/>
              </a:spcAft>
              <a:buClrTx/>
              <a:buSzTx/>
              <a:buFont typeface="Arial" pitchFamily="34" charset="0"/>
              <a:buChar char="•"/>
              <a:tabLst/>
              <a:defRPr/>
            </a:pP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Les TI dans la vie quotidienne</a:t>
            </a:r>
            <a:endPar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endParaRPr>
          </a:p>
        </p:txBody>
      </p:sp>
      <p:sp>
        <p:nvSpPr>
          <p:cNvPr id="16" name="갈매기형 수장 15"/>
          <p:cNvSpPr/>
          <p:nvPr/>
        </p:nvSpPr>
        <p:spPr>
          <a:xfrm>
            <a:off x="2843808" y="3284984"/>
            <a:ext cx="792088" cy="1080120"/>
          </a:xfrm>
          <a:prstGeom prst="chevron">
            <a:avLst/>
          </a:prstGeom>
          <a:solidFill>
            <a:srgbClr val="007EEA">
              <a:alpha val="30196"/>
            </a:srgbClr>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sysClr val="windowText" lastClr="000000"/>
              </a:solidFill>
              <a:effectLst/>
              <a:uLnTx/>
              <a:uFillTx/>
              <a:latin typeface="Tahoma" pitchFamily="34" charset="0"/>
              <a:ea typeface="HY견고딕" pitchFamily="18" charset="-127"/>
              <a:cs typeface="Tahoma" pitchFamily="34" charset="0"/>
            </a:endParaRPr>
          </a:p>
        </p:txBody>
      </p:sp>
      <p:sp>
        <p:nvSpPr>
          <p:cNvPr id="17" name="갈매기형 수장 16"/>
          <p:cNvSpPr/>
          <p:nvPr/>
        </p:nvSpPr>
        <p:spPr>
          <a:xfrm>
            <a:off x="5724128" y="3284984"/>
            <a:ext cx="792088" cy="1080120"/>
          </a:xfrm>
          <a:prstGeom prst="chevron">
            <a:avLst/>
          </a:prstGeom>
          <a:solidFill>
            <a:srgbClr val="007EEA">
              <a:alpha val="30196"/>
            </a:srgbClr>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sysClr val="windowText" lastClr="000000"/>
              </a:solidFill>
              <a:effectLst/>
              <a:uLnTx/>
              <a:uFillTx/>
              <a:latin typeface="Tahoma" pitchFamily="34" charset="0"/>
              <a:ea typeface="HY견고딕" pitchFamily="18" charset="-127"/>
              <a:cs typeface="Tahoma" pitchFamily="34" charset="0"/>
            </a:endParaRPr>
          </a:p>
        </p:txBody>
      </p:sp>
      <p:sp>
        <p:nvSpPr>
          <p:cNvPr id="18" name="모서리가 둥근 직사각형 17"/>
          <p:cNvSpPr/>
          <p:nvPr/>
        </p:nvSpPr>
        <p:spPr>
          <a:xfrm>
            <a:off x="6084168" y="4509120"/>
            <a:ext cx="2774112" cy="936104"/>
          </a:xfrm>
          <a:prstGeom prst="roundRect">
            <a:avLst>
              <a:gd name="adj" fmla="val 10603"/>
            </a:avLst>
          </a:prstGeom>
          <a:solidFill>
            <a:sysClr val="window" lastClr="FFFFFF"/>
          </a:solidFill>
          <a:ln w="25400">
            <a:solidFill>
              <a:srgbClr val="D6ECFF">
                <a:lumMod val="50000"/>
              </a:srgbClr>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anchor="ctr" anchorCtr="0">
            <a:noAutofit/>
          </a:bodyPr>
          <a:lstStyle/>
          <a:p>
            <a:pPr marL="179388" marR="0" lvl="0" indent="-179388" defTabSz="914400" eaLnBrk="1" fontAlgn="auto" latinLnBrk="0" hangingPunct="1">
              <a:lnSpc>
                <a:spcPct val="100000"/>
              </a:lnSpc>
              <a:spcBef>
                <a:spcPts val="0"/>
              </a:spcBef>
              <a:spcAft>
                <a:spcPts val="0"/>
              </a:spcAft>
              <a:buClrTx/>
              <a:buSzTx/>
              <a:buFont typeface="Arial" pitchFamily="34" charset="0"/>
              <a:buChar char="•"/>
              <a:tabLst/>
              <a:defRPr/>
            </a:pP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Convergence On/</a:t>
            </a:r>
            <a:r>
              <a:rPr kumimoji="0" lang="en-US" altLang="ko-KR" sz="1200" b="0" kern="0" spc="-50" dirty="0" smtClean="0">
                <a:ln>
                  <a:solidFill>
                    <a:sysClr val="window" lastClr="FFFFFF">
                      <a:alpha val="5000"/>
                    </a:sysClr>
                  </a:solidFill>
                </a:ln>
                <a:solidFill>
                  <a:sysClr val="windowText" lastClr="000000">
                    <a:lumMod val="50000"/>
                    <a:lumOff val="50000"/>
                  </a:sysClr>
                </a:solidFill>
                <a:latin typeface="Tahoma" pitchFamily="34" charset="0"/>
                <a:ea typeface="Tahoma" pitchFamily="34" charset="0"/>
                <a:cs typeface="Tahoma" pitchFamily="34" charset="0"/>
              </a:rPr>
              <a:t>Hors ligne</a:t>
            </a:r>
            <a:r>
              <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rPr>
              <a:t> </a:t>
            </a: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(IT centré sur l'humain</a:t>
            </a:r>
            <a:r>
              <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rPr>
              <a:t> </a:t>
            </a: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a:t>
            </a:r>
            <a:endPar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endParaRPr>
          </a:p>
          <a:p>
            <a:pPr marL="179388" marR="0" lvl="0" indent="-179388" defTabSz="914400" eaLnBrk="1" fontAlgn="auto" latinLnBrk="0" hangingPunct="1">
              <a:lnSpc>
                <a:spcPct val="100000"/>
              </a:lnSpc>
              <a:spcBef>
                <a:spcPts val="0"/>
              </a:spcBef>
              <a:spcAft>
                <a:spcPts val="0"/>
              </a:spcAft>
              <a:buClrTx/>
              <a:buSzTx/>
              <a:buFont typeface="Arial" pitchFamily="34" charset="0"/>
              <a:buChar char="•"/>
              <a:tabLst/>
              <a:defRPr/>
            </a:pP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Création de </a:t>
            </a:r>
            <a:r>
              <a:rPr kumimoji="0" lang="en-US" altLang="ko-KR" sz="1200" b="0" i="0" u="none" strike="noStrike" kern="0" cap="none" spc="-50" normalizeH="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valeur et résolution de problèmes grâce aux technologies et valeurs intelligentes</a:t>
            </a:r>
            <a:endPar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endParaRPr>
          </a:p>
        </p:txBody>
      </p:sp>
      <p:pic>
        <p:nvPicPr>
          <p:cNvPr id="19" name="Picture 3" descr="F:\★Clipart★\입체아이콘\292186 [Converted].png"/>
          <p:cNvPicPr>
            <a:picLocks noChangeAspect="1" noChangeArrowheads="1"/>
          </p:cNvPicPr>
          <p:nvPr/>
        </p:nvPicPr>
        <p:blipFill>
          <a:blip r:embed="rId3" cstate="print"/>
          <a:srcRect/>
          <a:stretch>
            <a:fillRect/>
          </a:stretch>
        </p:blipFill>
        <p:spPr bwMode="auto">
          <a:xfrm>
            <a:off x="3671900" y="3212976"/>
            <a:ext cx="1800200" cy="1221590"/>
          </a:xfrm>
          <a:prstGeom prst="rect">
            <a:avLst/>
          </a:prstGeom>
          <a:noFill/>
        </p:spPr>
      </p:pic>
      <p:pic>
        <p:nvPicPr>
          <p:cNvPr id="20" name="Picture 4" descr="F:\★Clipart★\입체아이콘\292152 [Converted].png"/>
          <p:cNvPicPr>
            <a:picLocks noChangeAspect="1" noChangeArrowheads="1"/>
          </p:cNvPicPr>
          <p:nvPr/>
        </p:nvPicPr>
        <p:blipFill>
          <a:blip r:embed="rId4" cstate="print"/>
          <a:srcRect/>
          <a:stretch>
            <a:fillRect/>
          </a:stretch>
        </p:blipFill>
        <p:spPr bwMode="auto">
          <a:xfrm>
            <a:off x="1115616" y="3284984"/>
            <a:ext cx="1368152" cy="1319182"/>
          </a:xfrm>
          <a:prstGeom prst="rect">
            <a:avLst/>
          </a:prstGeom>
          <a:noFill/>
        </p:spPr>
      </p:pic>
      <p:pic>
        <p:nvPicPr>
          <p:cNvPr id="21" name="Picture 5" descr="F:\★Clipart★\입체아이콘\301185 [Converted].png"/>
          <p:cNvPicPr>
            <a:picLocks noChangeAspect="1" noChangeArrowheads="1"/>
          </p:cNvPicPr>
          <p:nvPr/>
        </p:nvPicPr>
        <p:blipFill>
          <a:blip r:embed="rId5" cstate="print"/>
          <a:srcRect/>
          <a:stretch>
            <a:fillRect/>
          </a:stretch>
        </p:blipFill>
        <p:spPr bwMode="auto">
          <a:xfrm>
            <a:off x="6660232" y="3284984"/>
            <a:ext cx="1727497" cy="1129725"/>
          </a:xfrm>
          <a:prstGeom prst="rect">
            <a:avLst/>
          </a:prstGeom>
          <a:noFill/>
        </p:spPr>
      </p:pic>
      <p:sp>
        <p:nvSpPr>
          <p:cNvPr id="2" name="슬라이드 번호 개체 틀 1"/>
          <p:cNvSpPr>
            <a:spLocks noGrp="1"/>
          </p:cNvSpPr>
          <p:nvPr>
            <p:ph type="sldNum" sz="quarter" idx="12"/>
          </p:nvPr>
        </p:nvSpPr>
        <p:spPr/>
        <p:txBody>
          <a:bodyPr/>
          <a:lstStyle/>
          <a:p>
            <a:fld id="{8F563537-3992-4579-A065-26E1D23BF530}" type="slidenum">
              <a:rPr lang="ko-KR" altLang="en-US" smtClean="0"/>
              <a:pPr/>
              <a:t>20</a:t>
            </a:fld>
            <a:endParaRPr lang="ko-KR" altLang="en-US" dirty="0"/>
          </a:p>
        </p:txBody>
      </p:sp>
    </p:spTree>
    <p:extLst>
      <p:ext uri="{BB962C8B-B14F-4D97-AF65-F5344CB8AC3E}">
        <p14:creationId xmlns:p14="http://schemas.microsoft.com/office/powerpoint/2010/main" val="254013638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xfrm>
            <a:off x="611560" y="202630"/>
            <a:ext cx="7992888" cy="634082"/>
          </a:xfrm>
        </p:spPr>
        <p:txBody>
          <a:bodyPr>
            <a:noAutofit/>
          </a:bodyPr>
          <a:lstStyle/>
          <a:p>
            <a:r>
              <a:rPr lang="en-US" altLang="ko-KR" sz="3200" spc="-130" dirty="0" smtClean="0">
                <a:latin typeface="Tahoma" pitchFamily="34" charset="0"/>
                <a:ea typeface="Tahoma" pitchFamily="34" charset="0"/>
                <a:cs typeface="Tahoma" pitchFamily="34" charset="0"/>
              </a:rPr>
              <a:t>Vers un gouvernement Smart en Corée du Sud</a:t>
            </a:r>
            <a:endParaRPr lang="ko-KR" altLang="en-US" sz="3200" spc="-130" dirty="0">
              <a:latin typeface="Tahoma" pitchFamily="34" charset="0"/>
              <a:cs typeface="Tahoma" pitchFamily="34" charset="0"/>
            </a:endParaRPr>
          </a:p>
        </p:txBody>
      </p:sp>
      <p:grpSp>
        <p:nvGrpSpPr>
          <p:cNvPr id="3" name="그룹 2"/>
          <p:cNvGrpSpPr/>
          <p:nvPr/>
        </p:nvGrpSpPr>
        <p:grpSpPr>
          <a:xfrm>
            <a:off x="803990" y="1340768"/>
            <a:ext cx="7434606" cy="4951749"/>
            <a:chOff x="438969" y="1134237"/>
            <a:chExt cx="8237487" cy="5463413"/>
          </a:xfrm>
        </p:grpSpPr>
        <p:pic>
          <p:nvPicPr>
            <p:cNvPr id="59"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54993" y="1847850"/>
              <a:ext cx="6621463" cy="4749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8969" y="1134237"/>
              <a:ext cx="8010525" cy="5389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8" name="TextBox 57"/>
            <p:cNvSpPr txBox="1"/>
            <p:nvPr/>
          </p:nvSpPr>
          <p:spPr>
            <a:xfrm>
              <a:off x="3454267" y="6083707"/>
              <a:ext cx="3819642"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defPPr>
                <a:defRPr lang="ko-KR"/>
              </a:defPPr>
              <a:lvl1pPr fontAlgn="base">
                <a:spcBef>
                  <a:spcPct val="0"/>
                </a:spcBef>
                <a:buClr>
                  <a:srgbClr val="000000"/>
                </a:buClr>
                <a:buSzPct val="70000"/>
                <a:defRPr sz="2000">
                  <a:gradFill>
                    <a:gsLst>
                      <a:gs pos="0">
                        <a:schemeClr val="tx2"/>
                      </a:gs>
                      <a:gs pos="100000">
                        <a:schemeClr val="tx2"/>
                      </a:gs>
                    </a:gsLst>
                    <a:lin ang="5400000" scaled="0"/>
                  </a:gradFill>
                  <a:latin typeface="Helvetica65-Medium" pitchFamily="34" charset="0"/>
                  <a:ea typeface="산돌고딕B" pitchFamily="18" charset="-127"/>
                  <a:cs typeface="Arial" pitchFamily="34" charset="0"/>
                </a:defRPr>
              </a:lvl1pPr>
            </a:lstStyle>
            <a:p>
              <a:pPr algn="ctr"/>
              <a:r>
                <a:rPr lang="en-US" altLang="ko-KR" sz="1400" dirty="0">
                  <a:gradFill>
                    <a:gsLst>
                      <a:gs pos="0">
                        <a:schemeClr val="tx1"/>
                      </a:gs>
                      <a:gs pos="100000">
                        <a:schemeClr val="tx1"/>
                      </a:gs>
                    </a:gsLst>
                    <a:lin ang="5400000" scaled="0"/>
                  </a:gradFill>
                  <a:latin typeface="Tahoma" pitchFamily="34" charset="0"/>
                  <a:ea typeface="Tahoma" pitchFamily="34" charset="0"/>
                  <a:cs typeface="Tahoma" pitchFamily="34" charset="0"/>
                </a:rPr>
                <a:t>Construire une solide infrastructure d'e-Gouvernement </a:t>
              </a:r>
            </a:p>
          </p:txBody>
        </p:sp>
        <p:sp>
          <p:nvSpPr>
            <p:cNvPr id="68" name="TextBox 67"/>
            <p:cNvSpPr txBox="1"/>
            <p:nvPr/>
          </p:nvSpPr>
          <p:spPr>
            <a:xfrm>
              <a:off x="2651961" y="5545640"/>
              <a:ext cx="5424255"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defPPr>
                <a:defRPr lang="ko-KR"/>
              </a:defPPr>
              <a:lvl1pPr fontAlgn="base">
                <a:spcBef>
                  <a:spcPct val="0"/>
                </a:spcBef>
                <a:buClr>
                  <a:srgbClr val="000000"/>
                </a:buClr>
                <a:buSzPct val="70000"/>
                <a:defRPr sz="2000">
                  <a:gradFill>
                    <a:gsLst>
                      <a:gs pos="0">
                        <a:schemeClr val="tx2"/>
                      </a:gs>
                      <a:gs pos="100000">
                        <a:schemeClr val="tx2"/>
                      </a:gs>
                    </a:gsLst>
                    <a:lin ang="5400000" scaled="0"/>
                  </a:gradFill>
                  <a:latin typeface="Helvetica65-Medium" pitchFamily="34" charset="0"/>
                  <a:ea typeface="산돌고딕B" pitchFamily="18" charset="-127"/>
                  <a:cs typeface="Arial" pitchFamily="34" charset="0"/>
                </a:defRPr>
              </a:lvl1pPr>
            </a:lstStyle>
            <a:p>
              <a:pPr algn="ctr"/>
              <a:r>
                <a:rPr lang="en-US" altLang="ko-KR" sz="1400" dirty="0">
                  <a:gradFill>
                    <a:gsLst>
                      <a:gs pos="0">
                        <a:schemeClr val="tx1"/>
                      </a:gs>
                      <a:gs pos="100000">
                        <a:schemeClr val="tx1"/>
                      </a:gs>
                    </a:gsLst>
                    <a:lin ang="5400000" scaled="0"/>
                  </a:gradFill>
                  <a:latin typeface="Tahoma" pitchFamily="34" charset="0"/>
                  <a:ea typeface="Tahoma" pitchFamily="34" charset="0"/>
                  <a:cs typeface="Tahoma" pitchFamily="34" charset="0"/>
                </a:rPr>
                <a:t>Offrir des services personnalisés en communiquant avec les citoyens </a:t>
              </a:r>
            </a:p>
          </p:txBody>
        </p:sp>
        <p:sp>
          <p:nvSpPr>
            <p:cNvPr id="70" name="TextBox 69"/>
            <p:cNvSpPr txBox="1"/>
            <p:nvPr/>
          </p:nvSpPr>
          <p:spPr>
            <a:xfrm>
              <a:off x="3226818" y="5007575"/>
              <a:ext cx="4274542"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defPPr>
                <a:defRPr lang="ko-KR"/>
              </a:defPPr>
              <a:lvl1pPr fontAlgn="base">
                <a:spcBef>
                  <a:spcPct val="0"/>
                </a:spcBef>
                <a:buClr>
                  <a:srgbClr val="000000"/>
                </a:buClr>
                <a:buSzPct val="70000"/>
                <a:defRPr sz="2000">
                  <a:gradFill>
                    <a:gsLst>
                      <a:gs pos="0">
                        <a:schemeClr val="tx2"/>
                      </a:gs>
                      <a:gs pos="100000">
                        <a:schemeClr val="tx2"/>
                      </a:gs>
                    </a:gsLst>
                    <a:lin ang="5400000" scaled="0"/>
                  </a:gradFill>
                  <a:latin typeface="Helvetica65-Medium" pitchFamily="34" charset="0"/>
                  <a:ea typeface="산돌고딕B" pitchFamily="18" charset="-127"/>
                  <a:cs typeface="Arial" pitchFamily="34" charset="0"/>
                </a:defRPr>
              </a:lvl1pPr>
            </a:lstStyle>
            <a:p>
              <a:pPr algn="ctr"/>
              <a:r>
                <a:rPr lang="en-US" altLang="ko-KR" sz="1400" dirty="0">
                  <a:gradFill>
                    <a:gsLst>
                      <a:gs pos="0">
                        <a:schemeClr val="tx1"/>
                      </a:gs>
                      <a:gs pos="100000">
                        <a:schemeClr val="tx1"/>
                      </a:gs>
                    </a:gsLst>
                    <a:lin ang="5400000" scaled="0"/>
                  </a:gradFill>
                  <a:latin typeface="Tahoma" pitchFamily="34" charset="0"/>
                  <a:ea typeface="Tahoma" pitchFamily="34" charset="0"/>
                  <a:cs typeface="Tahoma" pitchFamily="34" charset="0"/>
                </a:rPr>
                <a:t>Promouvoir le travail Smart qui équilibre vie professionnelle et vie personnelle </a:t>
              </a:r>
            </a:p>
          </p:txBody>
        </p:sp>
        <p:sp>
          <p:nvSpPr>
            <p:cNvPr id="72" name="TextBox 71"/>
            <p:cNvSpPr txBox="1"/>
            <p:nvPr/>
          </p:nvSpPr>
          <p:spPr>
            <a:xfrm>
              <a:off x="3849988" y="4469509"/>
              <a:ext cx="3028205"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defPPr>
                <a:defRPr lang="ko-KR"/>
              </a:defPPr>
              <a:lvl1pPr fontAlgn="base">
                <a:spcBef>
                  <a:spcPct val="0"/>
                </a:spcBef>
                <a:buClr>
                  <a:srgbClr val="000000"/>
                </a:buClr>
                <a:buSzPct val="70000"/>
                <a:defRPr sz="2000">
                  <a:gradFill>
                    <a:gsLst>
                      <a:gs pos="0">
                        <a:schemeClr val="tx2"/>
                      </a:gs>
                      <a:gs pos="100000">
                        <a:schemeClr val="tx2"/>
                      </a:gs>
                    </a:gsLst>
                    <a:lin ang="5400000" scaled="0"/>
                  </a:gradFill>
                  <a:latin typeface="Helvetica65-Medium" pitchFamily="34" charset="0"/>
                  <a:ea typeface="산돌고딕B" pitchFamily="18" charset="-127"/>
                  <a:cs typeface="Arial" pitchFamily="34" charset="0"/>
                </a:defRPr>
              </a:lvl1pPr>
            </a:lstStyle>
            <a:p>
              <a:pPr algn="ctr"/>
              <a:r>
                <a:rPr lang="en-US" altLang="ko-KR" sz="1400" dirty="0">
                  <a:gradFill>
                    <a:gsLst>
                      <a:gs pos="0">
                        <a:schemeClr val="tx1"/>
                      </a:gs>
                      <a:gs pos="100000">
                        <a:schemeClr val="tx1"/>
                      </a:gs>
                    </a:gsLst>
                    <a:lin ang="5400000" scaled="0"/>
                  </a:gradFill>
                  <a:latin typeface="Tahoma" pitchFamily="34" charset="0"/>
                  <a:ea typeface="Tahoma" pitchFamily="34" charset="0"/>
                  <a:cs typeface="Tahoma" pitchFamily="34" charset="0"/>
                </a:rPr>
                <a:t>Bâtir une société sûre et </a:t>
              </a:r>
              <a:r>
                <a:rPr lang="en-US" altLang="ko-KR" sz="1400" dirty="0" smtClean="0">
                  <a:gradFill>
                    <a:gsLst>
                      <a:gs pos="0">
                        <a:schemeClr val="tx1"/>
                      </a:gs>
                      <a:gs pos="100000">
                        <a:schemeClr val="tx1"/>
                      </a:gs>
                    </a:gsLst>
                    <a:lin ang="5400000" scaled="0"/>
                  </a:gradFill>
                  <a:latin typeface="Tahoma" pitchFamily="34" charset="0"/>
                  <a:ea typeface="Tahoma" pitchFamily="34" charset="0"/>
                  <a:cs typeface="Tahoma" pitchFamily="34" charset="0"/>
                </a:rPr>
                <a:t>inclusive </a:t>
              </a:r>
              <a:endParaRPr lang="en-US" altLang="ko-KR" sz="1400" dirty="0">
                <a:gradFill>
                  <a:gsLst>
                    <a:gs pos="0">
                      <a:schemeClr val="tx1"/>
                    </a:gs>
                    <a:gs pos="100000">
                      <a:schemeClr val="tx1"/>
                    </a:gs>
                  </a:gsLst>
                  <a:lin ang="5400000" scaled="0"/>
                </a:gradFill>
                <a:latin typeface="Tahoma" pitchFamily="34" charset="0"/>
                <a:ea typeface="Tahoma" pitchFamily="34" charset="0"/>
                <a:cs typeface="Tahoma" pitchFamily="34" charset="0"/>
              </a:endParaRPr>
            </a:p>
          </p:txBody>
        </p:sp>
        <p:sp>
          <p:nvSpPr>
            <p:cNvPr id="74" name="TextBox 73"/>
            <p:cNvSpPr txBox="1"/>
            <p:nvPr/>
          </p:nvSpPr>
          <p:spPr>
            <a:xfrm>
              <a:off x="3083273" y="3880506"/>
              <a:ext cx="4561631" cy="339580"/>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defPPr>
                <a:defRPr lang="ko-KR"/>
              </a:defPPr>
              <a:lvl1pPr fontAlgn="base">
                <a:spcBef>
                  <a:spcPct val="0"/>
                </a:spcBef>
                <a:buClr>
                  <a:srgbClr val="000000"/>
                </a:buClr>
                <a:buSzPct val="70000"/>
                <a:defRPr sz="2000">
                  <a:gradFill>
                    <a:gsLst>
                      <a:gs pos="0">
                        <a:schemeClr val="tx2"/>
                      </a:gs>
                      <a:gs pos="100000">
                        <a:schemeClr val="tx2"/>
                      </a:gs>
                    </a:gsLst>
                    <a:lin ang="5400000" scaled="0"/>
                  </a:gradFill>
                  <a:latin typeface="Helvetica65-Medium" pitchFamily="34" charset="0"/>
                  <a:ea typeface="산돌고딕B" pitchFamily="18" charset="-127"/>
                  <a:cs typeface="Arial" pitchFamily="34" charset="0"/>
                </a:defRPr>
              </a:lvl1pPr>
            </a:lstStyle>
            <a:p>
              <a:pPr algn="ctr"/>
              <a:r>
                <a:rPr lang="en-US" altLang="ko-KR" dirty="0">
                  <a:solidFill>
                    <a:srgbClr val="FF0000"/>
                  </a:solidFill>
                  <a:effectLst>
                    <a:outerShdw blurRad="38100" dist="38100" dir="2700000" algn="tl">
                      <a:srgbClr val="000000">
                        <a:alpha val="43137"/>
                      </a:srgbClr>
                    </a:outerShdw>
                  </a:effectLst>
                  <a:latin typeface="Tahoma" pitchFamily="34" charset="0"/>
                  <a:ea typeface="Tahoma" pitchFamily="34" charset="0"/>
                  <a:cs typeface="Tahoma" pitchFamily="34" charset="0"/>
                </a:rPr>
                <a:t>Réaliser le </a:t>
              </a:r>
              <a:r>
                <a:rPr lang="en-US" altLang="ko-KR" dirty="0" smtClean="0">
                  <a:solidFill>
                    <a:srgbClr val="FF0000"/>
                  </a:solidFill>
                  <a:effectLst>
                    <a:outerShdw blurRad="38100" dist="38100" dir="2700000" algn="tl">
                      <a:srgbClr val="000000">
                        <a:alpha val="43137"/>
                      </a:srgbClr>
                    </a:outerShdw>
                  </a:effectLst>
                  <a:latin typeface="Tahoma" pitchFamily="34" charset="0"/>
                  <a:ea typeface="Tahoma" pitchFamily="34" charset="0"/>
                  <a:cs typeface="Tahoma" pitchFamily="34" charset="0"/>
                </a:rPr>
                <a:t>meilleur </a:t>
              </a:r>
              <a:r>
                <a:rPr lang="en-US" altLang="ko-KR" dirty="0">
                  <a:solidFill>
                    <a:srgbClr val="FF0000"/>
                  </a:solidFill>
                  <a:effectLst>
                    <a:outerShdw blurRad="38100" dist="38100" dir="2700000" algn="tl">
                      <a:srgbClr val="000000">
                        <a:alpha val="43137"/>
                      </a:srgbClr>
                    </a:outerShdw>
                  </a:effectLst>
                  <a:latin typeface="Tahoma" pitchFamily="34" charset="0"/>
                  <a:ea typeface="Tahoma" pitchFamily="34" charset="0"/>
                  <a:cs typeface="Tahoma" pitchFamily="34" charset="0"/>
                </a:rPr>
                <a:t>gouvernement </a:t>
              </a:r>
              <a:r>
                <a:rPr lang="en-US" altLang="ko-KR" dirty="0" smtClean="0">
                  <a:solidFill>
                    <a:srgbClr val="FF0000"/>
                  </a:solidFill>
                  <a:effectLst>
                    <a:outerShdw blurRad="38100" dist="38100" dir="2700000" algn="tl">
                      <a:srgbClr val="000000">
                        <a:alpha val="43137"/>
                      </a:srgbClr>
                    </a:outerShdw>
                  </a:effectLst>
                  <a:latin typeface="Tahoma" pitchFamily="34" charset="0"/>
                  <a:ea typeface="Tahoma" pitchFamily="34" charset="0"/>
                  <a:cs typeface="Tahoma" pitchFamily="34" charset="0"/>
                </a:rPr>
                <a:t>mobile au monde </a:t>
              </a:r>
              <a:endParaRPr lang="en-US" altLang="ko-KR" dirty="0">
                <a:solidFill>
                  <a:srgbClr val="FF0000"/>
                </a:solidFill>
                <a:effectLst>
                  <a:outerShdw blurRad="38100" dist="38100" dir="2700000" algn="tl">
                    <a:srgbClr val="000000">
                      <a:alpha val="43137"/>
                    </a:srgbClr>
                  </a:outerShdw>
                </a:effectLst>
                <a:latin typeface="Tahoma" pitchFamily="34" charset="0"/>
                <a:ea typeface="Tahoma" pitchFamily="34" charset="0"/>
                <a:cs typeface="Tahoma" pitchFamily="34" charset="0"/>
              </a:endParaRPr>
            </a:p>
          </p:txBody>
        </p:sp>
        <p:sp>
          <p:nvSpPr>
            <p:cNvPr id="55" name="직사각형 54"/>
            <p:cNvSpPr/>
            <p:nvPr/>
          </p:nvSpPr>
          <p:spPr bwMode="auto">
            <a:xfrm>
              <a:off x="2623304" y="3122037"/>
              <a:ext cx="857864"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latinLnBrk="0">
                <a:spcBef>
                  <a:spcPct val="0"/>
                </a:spcBef>
                <a:buClr>
                  <a:srgbClr val="000000"/>
                </a:buClr>
                <a:buSzPct val="70000"/>
              </a:pPr>
              <a:r>
                <a:rPr kumimoji="1" lang="en-US" altLang="ko-KR" sz="1400" kern="0" dirty="0">
                  <a:gradFill>
                    <a:gsLst>
                      <a:gs pos="0">
                        <a:schemeClr val="tx1"/>
                      </a:gs>
                      <a:gs pos="100000">
                        <a:schemeClr val="tx1"/>
                      </a:gs>
                    </a:gsLst>
                    <a:lin ang="5400000" scaled="0"/>
                  </a:gradFill>
                  <a:latin typeface="Tahoma" pitchFamily="34" charset="0"/>
                  <a:ea typeface="Tahoma" pitchFamily="34" charset="0"/>
                  <a:cs typeface="Tahoma" pitchFamily="34" charset="0"/>
                </a:rPr>
                <a:t>Ouverture</a:t>
              </a:r>
            </a:p>
          </p:txBody>
        </p:sp>
        <p:sp>
          <p:nvSpPr>
            <p:cNvPr id="92" name="직사각형 91"/>
            <p:cNvSpPr/>
            <p:nvPr/>
          </p:nvSpPr>
          <p:spPr bwMode="auto">
            <a:xfrm>
              <a:off x="4107704" y="3122037"/>
              <a:ext cx="971535"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latinLnBrk="0">
                <a:spcBef>
                  <a:spcPct val="0"/>
                </a:spcBef>
                <a:buClr>
                  <a:srgbClr val="000000"/>
                </a:buClr>
                <a:buSzPct val="70000"/>
              </a:pPr>
              <a:r>
                <a:rPr kumimoji="1" lang="en-US" altLang="ko-KR" sz="1400" kern="0" dirty="0">
                  <a:gradFill>
                    <a:gsLst>
                      <a:gs pos="0">
                        <a:schemeClr val="tx1"/>
                      </a:gs>
                      <a:gs pos="100000">
                        <a:schemeClr val="tx1"/>
                      </a:gs>
                    </a:gsLst>
                    <a:lin ang="5400000" scaled="0"/>
                  </a:gradFill>
                  <a:latin typeface="Tahoma" pitchFamily="34" charset="0"/>
                  <a:ea typeface="Tahoma" pitchFamily="34" charset="0"/>
                  <a:cs typeface="Tahoma" pitchFamily="34" charset="0"/>
                </a:rPr>
                <a:t>Intégration</a:t>
              </a:r>
            </a:p>
          </p:txBody>
        </p:sp>
        <p:sp>
          <p:nvSpPr>
            <p:cNvPr id="95" name="직사각형 94"/>
            <p:cNvSpPr/>
            <p:nvPr/>
          </p:nvSpPr>
          <p:spPr bwMode="auto">
            <a:xfrm>
              <a:off x="5560133" y="3122037"/>
              <a:ext cx="1149147"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latinLnBrk="0">
                <a:spcBef>
                  <a:spcPct val="0"/>
                </a:spcBef>
                <a:buClr>
                  <a:srgbClr val="000000"/>
                </a:buClr>
                <a:buSzPct val="70000"/>
              </a:pPr>
              <a:r>
                <a:rPr kumimoji="1" lang="en-US" altLang="ko-KR" sz="1400" kern="0" dirty="0">
                  <a:gradFill>
                    <a:gsLst>
                      <a:gs pos="0">
                        <a:schemeClr val="tx1"/>
                      </a:gs>
                      <a:gs pos="100000">
                        <a:schemeClr val="tx1"/>
                      </a:gs>
                    </a:gsLst>
                    <a:lin ang="5400000" scaled="0"/>
                  </a:gradFill>
                  <a:latin typeface="Tahoma" pitchFamily="34" charset="0"/>
                  <a:ea typeface="Tahoma" pitchFamily="34" charset="0"/>
                  <a:cs typeface="Tahoma" pitchFamily="34" charset="0"/>
                </a:rPr>
                <a:t>Collaboration</a:t>
              </a:r>
            </a:p>
          </p:txBody>
        </p:sp>
        <p:sp>
          <p:nvSpPr>
            <p:cNvPr id="101" name="직사각형 100"/>
            <p:cNvSpPr/>
            <p:nvPr/>
          </p:nvSpPr>
          <p:spPr bwMode="auto">
            <a:xfrm>
              <a:off x="7076503" y="3003184"/>
              <a:ext cx="1198878" cy="475411"/>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latinLnBrk="0">
                <a:spcBef>
                  <a:spcPct val="0"/>
                </a:spcBef>
                <a:buClr>
                  <a:srgbClr val="000000"/>
                </a:buClr>
                <a:buSzPct val="70000"/>
              </a:pPr>
              <a:r>
                <a:rPr kumimoji="1" lang="en-US" altLang="ko-KR" sz="1400" kern="0" dirty="0" smtClean="0">
                  <a:gradFill>
                    <a:gsLst>
                      <a:gs pos="0">
                        <a:schemeClr val="tx1"/>
                      </a:gs>
                      <a:gs pos="100000">
                        <a:schemeClr val="tx1"/>
                      </a:gs>
                    </a:gsLst>
                    <a:lin ang="5400000" scaled="0"/>
                  </a:gradFill>
                  <a:latin typeface="Tahoma" pitchFamily="34" charset="0"/>
                  <a:ea typeface="Tahoma" pitchFamily="34" charset="0"/>
                  <a:cs typeface="Tahoma" pitchFamily="34" charset="0"/>
                </a:rPr>
                <a:t>Croissance verte </a:t>
              </a:r>
              <a:br>
                <a:rPr kumimoji="1" lang="en-US" altLang="ko-KR" sz="1400" kern="0" dirty="0" smtClean="0">
                  <a:gradFill>
                    <a:gsLst>
                      <a:gs pos="0">
                        <a:schemeClr val="tx1"/>
                      </a:gs>
                      <a:gs pos="100000">
                        <a:schemeClr val="tx1"/>
                      </a:gs>
                    </a:gsLst>
                    <a:lin ang="5400000" scaled="0"/>
                  </a:gradFill>
                  <a:latin typeface="Tahoma" pitchFamily="34" charset="0"/>
                  <a:ea typeface="Tahoma" pitchFamily="34" charset="0"/>
                  <a:cs typeface="Tahoma" pitchFamily="34" charset="0"/>
                </a:rPr>
              </a:br>
              <a:r>
                <a:rPr kumimoji="1" lang="en-US" altLang="ko-KR" sz="1400" kern="0" dirty="0" smtClean="0">
                  <a:gradFill>
                    <a:gsLst>
                      <a:gs pos="0">
                        <a:schemeClr val="tx1"/>
                      </a:gs>
                      <a:gs pos="100000">
                        <a:schemeClr val="tx1"/>
                      </a:gs>
                    </a:gsLst>
                    <a:lin ang="5400000" scaled="0"/>
                  </a:gradFill>
                  <a:latin typeface="Tahoma" pitchFamily="34" charset="0"/>
                  <a:ea typeface="Tahoma" pitchFamily="34" charset="0"/>
                  <a:cs typeface="Tahoma" pitchFamily="34" charset="0"/>
                </a:rPr>
                <a:t>durable</a:t>
              </a:r>
              <a:r>
                <a:rPr kumimoji="1" lang="en-US" altLang="ko-KR" sz="1400" kern="0" dirty="0">
                  <a:gradFill>
                    <a:gsLst>
                      <a:gs pos="0">
                        <a:schemeClr val="tx1"/>
                      </a:gs>
                      <a:gs pos="100000">
                        <a:schemeClr val="tx1"/>
                      </a:gs>
                    </a:gsLst>
                    <a:lin ang="5400000" scaled="0"/>
                  </a:gradFill>
                  <a:latin typeface="Tahoma" pitchFamily="34" charset="0"/>
                  <a:ea typeface="Tahoma" pitchFamily="34" charset="0"/>
                  <a:cs typeface="Tahoma" pitchFamily="34" charset="0"/>
                </a:rPr>
                <a:t> </a:t>
              </a:r>
            </a:p>
          </p:txBody>
        </p:sp>
        <p:sp>
          <p:nvSpPr>
            <p:cNvPr id="112" name="직사각형 111"/>
            <p:cNvSpPr/>
            <p:nvPr/>
          </p:nvSpPr>
          <p:spPr bwMode="auto">
            <a:xfrm>
              <a:off x="2531618" y="2252386"/>
              <a:ext cx="2582471"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latinLnBrk="0">
                <a:spcBef>
                  <a:spcPct val="0"/>
                </a:spcBef>
                <a:buClr>
                  <a:srgbClr val="000000"/>
                </a:buClr>
                <a:buSzPct val="70000"/>
              </a:pPr>
              <a:r>
                <a:rPr kumimoji="1" lang="en-US" altLang="ko-KR" sz="1400" kern="0" dirty="0">
                  <a:gradFill>
                    <a:gsLst>
                      <a:gs pos="0">
                        <a:schemeClr val="tx1"/>
                      </a:gs>
                      <a:gs pos="100000">
                        <a:schemeClr val="tx1"/>
                      </a:gs>
                    </a:gsLst>
                    <a:lin ang="5400000" scaled="0"/>
                  </a:gradFill>
                  <a:latin typeface="Tahoma" pitchFamily="34" charset="0"/>
                  <a:ea typeface="Tahoma" pitchFamily="34" charset="0"/>
                  <a:cs typeface="Tahoma" pitchFamily="34" charset="0"/>
                </a:rPr>
                <a:t>Leader mondial de l'e-Gouvernement </a:t>
              </a:r>
            </a:p>
          </p:txBody>
        </p:sp>
        <p:sp>
          <p:nvSpPr>
            <p:cNvPr id="110" name="직사각형 109"/>
            <p:cNvSpPr/>
            <p:nvPr/>
          </p:nvSpPr>
          <p:spPr bwMode="auto">
            <a:xfrm>
              <a:off x="5900041" y="2133533"/>
              <a:ext cx="2010563" cy="475411"/>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latinLnBrk="0">
                <a:spcBef>
                  <a:spcPct val="0"/>
                </a:spcBef>
                <a:buClr>
                  <a:srgbClr val="000000"/>
                </a:buClr>
                <a:buSzPct val="70000"/>
              </a:pPr>
              <a:r>
                <a:rPr kumimoji="1" lang="en-US" altLang="ko-KR" sz="1400" kern="0" dirty="0" smtClean="0">
                  <a:gradFill>
                    <a:gsLst>
                      <a:gs pos="0">
                        <a:schemeClr val="tx1"/>
                      </a:gs>
                      <a:gs pos="100000">
                        <a:schemeClr val="tx1"/>
                      </a:gs>
                    </a:gsLst>
                    <a:lin ang="5400000" scaled="0"/>
                  </a:gradFill>
                  <a:latin typeface="Tahoma" pitchFamily="34" charset="0"/>
                  <a:ea typeface="Tahoma" pitchFamily="34" charset="0"/>
                  <a:cs typeface="Tahoma" pitchFamily="34" charset="0"/>
                </a:rPr>
                <a:t>Meilleur </a:t>
              </a:r>
              <a:r>
                <a:rPr kumimoji="1" lang="en-US" altLang="ko-KR" sz="1400" kern="0" dirty="0">
                  <a:gradFill>
                    <a:gsLst>
                      <a:gs pos="0">
                        <a:schemeClr val="tx1"/>
                      </a:gs>
                      <a:gs pos="100000">
                        <a:schemeClr val="tx1"/>
                      </a:gs>
                    </a:gsLst>
                    <a:lin ang="5400000" scaled="0"/>
                  </a:gradFill>
                  <a:latin typeface="Tahoma" pitchFamily="34" charset="0"/>
                  <a:ea typeface="Tahoma" pitchFamily="34" charset="0"/>
                  <a:cs typeface="Tahoma" pitchFamily="34" charset="0"/>
                </a:rPr>
                <a:t>au monde </a:t>
              </a:r>
            </a:p>
            <a:p>
              <a:pPr algn="ctr" fontAlgn="base" latinLnBrk="0">
                <a:spcBef>
                  <a:spcPct val="0"/>
                </a:spcBef>
                <a:buClr>
                  <a:srgbClr val="000000"/>
                </a:buClr>
                <a:buSzPct val="70000"/>
              </a:pPr>
              <a:r>
                <a:rPr kumimoji="1" lang="en-US" altLang="ko-KR" sz="1400" kern="0" dirty="0">
                  <a:gradFill>
                    <a:gsLst>
                      <a:gs pos="0">
                        <a:schemeClr val="tx1"/>
                      </a:gs>
                      <a:gs pos="100000">
                        <a:schemeClr val="tx1"/>
                      </a:gs>
                    </a:gsLst>
                    <a:lin ang="5400000" scaled="0"/>
                  </a:gradFill>
                  <a:latin typeface="Tahoma" pitchFamily="34" charset="0"/>
                  <a:ea typeface="Tahoma" pitchFamily="34" charset="0"/>
                  <a:cs typeface="Tahoma" pitchFamily="34" charset="0"/>
                </a:rPr>
                <a:t>de rang mondial</a:t>
              </a:r>
            </a:p>
          </p:txBody>
        </p:sp>
        <p:sp>
          <p:nvSpPr>
            <p:cNvPr id="116" name="직사각형 115"/>
            <p:cNvSpPr/>
            <p:nvPr/>
          </p:nvSpPr>
          <p:spPr bwMode="auto">
            <a:xfrm>
              <a:off x="3444107" y="1195967"/>
              <a:ext cx="3839962" cy="611243"/>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latinLnBrk="0">
                <a:spcBef>
                  <a:spcPct val="0"/>
                </a:spcBef>
                <a:buClr>
                  <a:srgbClr val="000000"/>
                </a:buClr>
                <a:buSzPct val="70000"/>
              </a:pPr>
              <a:r>
                <a:rPr kumimoji="1" lang="en-US" altLang="ko-KR" kern="0" dirty="0">
                  <a:gradFill>
                    <a:gsLst>
                      <a:gs pos="0">
                        <a:srgbClr val="CC0035"/>
                      </a:gs>
                      <a:gs pos="100000">
                        <a:srgbClr val="CC0035"/>
                      </a:gs>
                    </a:gsLst>
                    <a:lin ang="5400000" scaled="0"/>
                  </a:gradFill>
                  <a:latin typeface="Tahoma" pitchFamily="34" charset="0"/>
                  <a:ea typeface="Tahoma" pitchFamily="34" charset="0"/>
                  <a:cs typeface="Tahoma" pitchFamily="34" charset="0"/>
                </a:rPr>
                <a:t>Réaliser le </a:t>
              </a:r>
              <a:r>
                <a:rPr kumimoji="1" lang="en-US" altLang="ko-KR" kern="0" dirty="0" smtClean="0">
                  <a:gradFill>
                    <a:gsLst>
                      <a:gs pos="0">
                        <a:srgbClr val="CC0035"/>
                      </a:gs>
                      <a:gs pos="100000">
                        <a:srgbClr val="CC0035"/>
                      </a:gs>
                    </a:gsLst>
                    <a:lin ang="5400000" scaled="0"/>
                  </a:gradFill>
                  <a:latin typeface="Tahoma" pitchFamily="34" charset="0"/>
                  <a:ea typeface="Tahoma" pitchFamily="34" charset="0"/>
                  <a:cs typeface="Tahoma" pitchFamily="34" charset="0"/>
                </a:rPr>
                <a:t>meilleur </a:t>
              </a:r>
              <a:r>
                <a:rPr kumimoji="1" lang="en-US" altLang="ko-KR" kern="0" dirty="0">
                  <a:gradFill>
                    <a:gsLst>
                      <a:gs pos="0">
                        <a:srgbClr val="CC0035"/>
                      </a:gs>
                      <a:gs pos="100000">
                        <a:srgbClr val="CC0035"/>
                      </a:gs>
                    </a:gsLst>
                    <a:lin ang="5400000" scaled="0"/>
                  </a:gradFill>
                  <a:latin typeface="Tahoma" pitchFamily="34" charset="0"/>
                  <a:ea typeface="Tahoma" pitchFamily="34" charset="0"/>
                  <a:cs typeface="Tahoma" pitchFamily="34" charset="0"/>
                </a:rPr>
                <a:t>gouvernement électronique </a:t>
              </a:r>
              <a:r>
                <a:rPr kumimoji="1" lang="en-US" altLang="ko-KR" kern="0" dirty="0" smtClean="0">
                  <a:gradFill>
                    <a:gsLst>
                      <a:gs pos="0">
                        <a:srgbClr val="CC0035"/>
                      </a:gs>
                      <a:gs pos="100000">
                        <a:srgbClr val="CC0035"/>
                      </a:gs>
                    </a:gsLst>
                    <a:lin ang="5400000" scaled="0"/>
                  </a:gradFill>
                  <a:latin typeface="Tahoma" pitchFamily="34" charset="0"/>
                  <a:ea typeface="Tahoma" pitchFamily="34" charset="0"/>
                  <a:cs typeface="Tahoma" pitchFamily="34" charset="0"/>
                </a:rPr>
                <a:t>intelligent </a:t>
              </a:r>
              <a:br>
                <a:rPr kumimoji="1" lang="en-US" altLang="ko-KR" kern="0" dirty="0" smtClean="0">
                  <a:gradFill>
                    <a:gsLst>
                      <a:gs pos="0">
                        <a:srgbClr val="CC0035"/>
                      </a:gs>
                      <a:gs pos="100000">
                        <a:srgbClr val="CC0035"/>
                      </a:gs>
                    </a:gsLst>
                    <a:lin ang="5400000" scaled="0"/>
                  </a:gradFill>
                  <a:latin typeface="Tahoma" pitchFamily="34" charset="0"/>
                  <a:ea typeface="Tahoma" pitchFamily="34" charset="0"/>
                  <a:cs typeface="Tahoma" pitchFamily="34" charset="0"/>
                </a:rPr>
              </a:br>
              <a:r>
                <a:rPr kumimoji="1" lang="en-US" altLang="ko-KR" kern="0" dirty="0" smtClean="0">
                  <a:gradFill>
                    <a:gsLst>
                      <a:gs pos="0">
                        <a:srgbClr val="CC0035"/>
                      </a:gs>
                      <a:gs pos="100000">
                        <a:srgbClr val="CC0035"/>
                      </a:gs>
                    </a:gsLst>
                    <a:lin ang="5400000" scaled="0"/>
                  </a:gradFill>
                  <a:latin typeface="Tahoma" pitchFamily="34" charset="0"/>
                  <a:ea typeface="Tahoma" pitchFamily="34" charset="0"/>
                  <a:cs typeface="Tahoma" pitchFamily="34" charset="0"/>
                </a:rPr>
                <a:t>au </a:t>
              </a:r>
              <a:r>
                <a:rPr kumimoji="1" lang="en-US" altLang="ko-KR" kern="0" dirty="0">
                  <a:gradFill>
                    <a:gsLst>
                      <a:gs pos="0">
                        <a:srgbClr val="CC0035"/>
                      </a:gs>
                      <a:gs pos="100000">
                        <a:srgbClr val="CC0035"/>
                      </a:gs>
                    </a:gsLst>
                    <a:lin ang="5400000" scaled="0"/>
                  </a:gradFill>
                  <a:latin typeface="Tahoma" pitchFamily="34" charset="0"/>
                  <a:ea typeface="Tahoma" pitchFamily="34" charset="0"/>
                  <a:cs typeface="Tahoma" pitchFamily="34" charset="0"/>
                </a:rPr>
                <a:t>monde, en phase avec </a:t>
              </a:r>
              <a:r>
                <a:rPr kumimoji="1" lang="en-US" altLang="ko-KR" kern="0" dirty="0" smtClean="0">
                  <a:gradFill>
                    <a:gsLst>
                      <a:gs pos="0">
                        <a:srgbClr val="CC0035"/>
                      </a:gs>
                      <a:gs pos="100000">
                        <a:srgbClr val="CC0035"/>
                      </a:gs>
                    </a:gsLst>
                    <a:lin ang="5400000" scaled="0"/>
                  </a:gradFill>
                  <a:latin typeface="Tahoma" pitchFamily="34" charset="0"/>
                  <a:ea typeface="Tahoma" pitchFamily="34" charset="0"/>
                  <a:cs typeface="Tahoma" pitchFamily="34" charset="0"/>
                </a:rPr>
                <a:t>les </a:t>
              </a:r>
              <a:r>
                <a:rPr lang="en-US" altLang="ko-KR" kern="0" dirty="0" smtClean="0">
                  <a:gradFill>
                    <a:gsLst>
                      <a:gs pos="0">
                        <a:srgbClr val="CC0035"/>
                      </a:gs>
                      <a:gs pos="100000">
                        <a:srgbClr val="CC0035"/>
                      </a:gs>
                    </a:gsLst>
                    <a:lin ang="5400000" scaled="0"/>
                  </a:gradFill>
                  <a:latin typeface="Tahoma" pitchFamily="34" charset="0"/>
                  <a:ea typeface="Tahoma" pitchFamily="34" charset="0"/>
                  <a:cs typeface="Tahoma" pitchFamily="34" charset="0"/>
                </a:rPr>
                <a:t>citoyens</a:t>
              </a:r>
              <a:endParaRPr kumimoji="1" lang="en-US" altLang="ko-KR" kern="0" dirty="0">
                <a:gradFill>
                  <a:gsLst>
                    <a:gs pos="0">
                      <a:srgbClr val="CC0035"/>
                    </a:gs>
                    <a:gs pos="100000">
                      <a:srgbClr val="CC0035"/>
                    </a:gs>
                  </a:gsLst>
                  <a:lin ang="5400000" scaled="0"/>
                </a:gradFill>
                <a:latin typeface="Tahoma" pitchFamily="34" charset="0"/>
                <a:ea typeface="Tahoma" pitchFamily="34" charset="0"/>
                <a:cs typeface="Tahoma" pitchFamily="34" charset="0"/>
              </a:endParaRPr>
            </a:p>
          </p:txBody>
        </p:sp>
        <p:sp>
          <p:nvSpPr>
            <p:cNvPr id="125" name="직사각형 124"/>
            <p:cNvSpPr/>
            <p:nvPr/>
          </p:nvSpPr>
          <p:spPr>
            <a:xfrm>
              <a:off x="928792" y="1376489"/>
              <a:ext cx="589670" cy="271663"/>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a:spcBef>
                  <a:spcPct val="0"/>
                </a:spcBef>
                <a:buClr>
                  <a:srgbClr val="000000"/>
                </a:buClr>
                <a:buSzPct val="70000"/>
              </a:pPr>
              <a:r>
                <a:rPr lang="en-US" altLang="ko-KR" sz="1600" dirty="0" smtClean="0">
                  <a:gradFill>
                    <a:gsLst>
                      <a:gs pos="0">
                        <a:schemeClr val="bg1"/>
                      </a:gs>
                      <a:gs pos="100000">
                        <a:schemeClr val="bg1"/>
                      </a:gs>
                    </a:gsLst>
                    <a:lin ang="5400000" scaled="0"/>
                  </a:gradFill>
                  <a:latin typeface="Tahoma" pitchFamily="34" charset="0"/>
                  <a:ea typeface="Tahoma" pitchFamily="34" charset="0"/>
                  <a:cs typeface="Tahoma" pitchFamily="34" charset="0"/>
                </a:rPr>
                <a:t>Vision</a:t>
              </a:r>
              <a:endParaRPr lang="en-US" altLang="ko-KR" sz="1600" dirty="0">
                <a:gradFill>
                  <a:gsLst>
                    <a:gs pos="0">
                      <a:schemeClr val="bg1"/>
                    </a:gs>
                    <a:gs pos="100000">
                      <a:schemeClr val="bg1"/>
                    </a:gs>
                  </a:gsLst>
                  <a:lin ang="5400000" scaled="0"/>
                </a:gradFill>
                <a:latin typeface="Tahoma" pitchFamily="34" charset="0"/>
                <a:ea typeface="Tahoma" pitchFamily="34" charset="0"/>
                <a:cs typeface="Tahoma" pitchFamily="34" charset="0"/>
              </a:endParaRPr>
            </a:p>
          </p:txBody>
        </p:sp>
        <p:sp>
          <p:nvSpPr>
            <p:cNvPr id="128" name="직사각형 127"/>
            <p:cNvSpPr/>
            <p:nvPr/>
          </p:nvSpPr>
          <p:spPr>
            <a:xfrm>
              <a:off x="950106" y="2246140"/>
              <a:ext cx="547044" cy="271663"/>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a:spcBef>
                  <a:spcPct val="0"/>
                </a:spcBef>
                <a:buClr>
                  <a:srgbClr val="000000"/>
                </a:buClr>
                <a:buSzPct val="70000"/>
              </a:pPr>
              <a:r>
                <a:rPr lang="en-US" altLang="ko-KR" sz="1600" dirty="0" smtClean="0">
                  <a:gradFill>
                    <a:gsLst>
                      <a:gs pos="0">
                        <a:schemeClr val="bg1"/>
                      </a:gs>
                      <a:gs pos="100000">
                        <a:schemeClr val="bg1"/>
                      </a:gs>
                    </a:gsLst>
                    <a:lin ang="5400000" scaled="0"/>
                  </a:gradFill>
                  <a:latin typeface="Tahoma" pitchFamily="34" charset="0"/>
                  <a:ea typeface="Tahoma" pitchFamily="34" charset="0"/>
                  <a:cs typeface="Tahoma" pitchFamily="34" charset="0"/>
                </a:rPr>
                <a:t>Objectifs</a:t>
              </a:r>
              <a:endParaRPr lang="en-US" altLang="ko-KR" sz="1600" dirty="0">
                <a:gradFill>
                  <a:gsLst>
                    <a:gs pos="0">
                      <a:schemeClr val="bg1"/>
                    </a:gs>
                    <a:gs pos="100000">
                      <a:schemeClr val="bg1"/>
                    </a:gs>
                  </a:gsLst>
                  <a:lin ang="5400000" scaled="0"/>
                </a:gradFill>
                <a:latin typeface="Tahoma" pitchFamily="34" charset="0"/>
                <a:ea typeface="Tahoma" pitchFamily="34" charset="0"/>
                <a:cs typeface="Tahoma" pitchFamily="34" charset="0"/>
              </a:endParaRPr>
            </a:p>
          </p:txBody>
        </p:sp>
        <p:sp>
          <p:nvSpPr>
            <p:cNvPr id="131" name="직사각형 130"/>
            <p:cNvSpPr/>
            <p:nvPr/>
          </p:nvSpPr>
          <p:spPr>
            <a:xfrm>
              <a:off x="806419" y="3115791"/>
              <a:ext cx="834419" cy="271663"/>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a:spcBef>
                  <a:spcPct val="0"/>
                </a:spcBef>
                <a:buClr>
                  <a:srgbClr val="000000"/>
                </a:buClr>
                <a:buSzPct val="70000"/>
              </a:pPr>
              <a:r>
                <a:rPr lang="en-US" altLang="ko-KR" sz="1600" dirty="0" smtClean="0">
                  <a:gradFill>
                    <a:gsLst>
                      <a:gs pos="0">
                        <a:schemeClr val="bg1"/>
                      </a:gs>
                      <a:gs pos="100000">
                        <a:schemeClr val="bg1"/>
                      </a:gs>
                    </a:gsLst>
                    <a:lin ang="5400000" scaled="0"/>
                  </a:gradFill>
                  <a:latin typeface="Tahoma" pitchFamily="34" charset="0"/>
                  <a:ea typeface="Tahoma" pitchFamily="34" charset="0"/>
                  <a:cs typeface="Tahoma" pitchFamily="34" charset="0"/>
                </a:rPr>
                <a:t>Stratégie</a:t>
              </a:r>
              <a:endParaRPr lang="en-US" altLang="ko-KR" sz="1600" dirty="0">
                <a:gradFill>
                  <a:gsLst>
                    <a:gs pos="0">
                      <a:schemeClr val="bg1"/>
                    </a:gs>
                    <a:gs pos="100000">
                      <a:schemeClr val="bg1"/>
                    </a:gs>
                  </a:gsLst>
                  <a:lin ang="5400000" scaled="0"/>
                </a:gradFill>
                <a:latin typeface="Tahoma" pitchFamily="34" charset="0"/>
                <a:ea typeface="Tahoma" pitchFamily="34" charset="0"/>
                <a:cs typeface="Tahoma" pitchFamily="34" charset="0"/>
              </a:endParaRPr>
            </a:p>
          </p:txBody>
        </p:sp>
        <p:sp>
          <p:nvSpPr>
            <p:cNvPr id="134" name="직사각형 133"/>
            <p:cNvSpPr/>
            <p:nvPr/>
          </p:nvSpPr>
          <p:spPr>
            <a:xfrm>
              <a:off x="847090" y="4990597"/>
              <a:ext cx="753074" cy="271663"/>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a:spcBef>
                  <a:spcPct val="0"/>
                </a:spcBef>
                <a:buClr>
                  <a:srgbClr val="000000"/>
                </a:buClr>
                <a:buSzPct val="70000"/>
              </a:pPr>
              <a:r>
                <a:rPr lang="en-US" altLang="ko-KR" sz="1600" dirty="0" smtClean="0">
                  <a:gradFill>
                    <a:gsLst>
                      <a:gs pos="0">
                        <a:schemeClr val="bg1"/>
                      </a:gs>
                      <a:gs pos="100000">
                        <a:schemeClr val="bg1"/>
                      </a:gs>
                    </a:gsLst>
                    <a:lin ang="5400000" scaled="0"/>
                  </a:gradFill>
                  <a:latin typeface="Tahoma" pitchFamily="34" charset="0"/>
                  <a:ea typeface="Tahoma" pitchFamily="34" charset="0"/>
                  <a:cs typeface="Tahoma" pitchFamily="34" charset="0"/>
                </a:rPr>
                <a:t>Programme</a:t>
              </a:r>
              <a:endParaRPr lang="en-US" altLang="ko-KR" sz="1600" dirty="0">
                <a:gradFill>
                  <a:gsLst>
                    <a:gs pos="0">
                      <a:schemeClr val="bg1"/>
                    </a:gs>
                    <a:gs pos="100000">
                      <a:schemeClr val="bg1"/>
                    </a:gs>
                  </a:gsLst>
                  <a:lin ang="5400000" scaled="0"/>
                </a:gradFill>
                <a:latin typeface="Tahoma" pitchFamily="34" charset="0"/>
                <a:ea typeface="Tahoma" pitchFamily="34" charset="0"/>
                <a:cs typeface="Tahoma" pitchFamily="34" charset="0"/>
              </a:endParaRPr>
            </a:p>
          </p:txBody>
        </p:sp>
        <p:cxnSp>
          <p:nvCxnSpPr>
            <p:cNvPr id="28" name="직선 연결선 27"/>
            <p:cNvCxnSpPr/>
            <p:nvPr/>
          </p:nvCxnSpPr>
          <p:spPr>
            <a:xfrm flipV="1">
              <a:off x="1907704" y="1501587"/>
              <a:ext cx="472380" cy="0"/>
            </a:xfrm>
            <a:prstGeom prst="line">
              <a:avLst/>
            </a:prstGeom>
            <a:ln w="12700">
              <a:solidFill>
                <a:schemeClr val="tx1">
                  <a:lumMod val="50000"/>
                  <a:lumOff val="50000"/>
                </a:schemeClr>
              </a:solidFill>
              <a:prstDash val="solid"/>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flipV="1">
              <a:off x="1907704" y="2371238"/>
              <a:ext cx="472379" cy="0"/>
            </a:xfrm>
            <a:prstGeom prst="line">
              <a:avLst/>
            </a:prstGeom>
            <a:ln w="12700">
              <a:solidFill>
                <a:schemeClr val="tx1">
                  <a:lumMod val="50000"/>
                  <a:lumOff val="50000"/>
                </a:schemeClr>
              </a:solidFill>
              <a:prstDash val="solid"/>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32" name="직선 연결선 31"/>
            <p:cNvCxnSpPr/>
            <p:nvPr/>
          </p:nvCxnSpPr>
          <p:spPr>
            <a:xfrm flipV="1">
              <a:off x="1907704" y="3240889"/>
              <a:ext cx="472379" cy="0"/>
            </a:xfrm>
            <a:prstGeom prst="line">
              <a:avLst/>
            </a:prstGeom>
            <a:ln w="12700">
              <a:solidFill>
                <a:schemeClr val="tx1">
                  <a:lumMod val="50000"/>
                  <a:lumOff val="50000"/>
                </a:schemeClr>
              </a:solidFill>
              <a:prstDash val="solid"/>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34" name="직선 연결선 33"/>
            <p:cNvCxnSpPr/>
            <p:nvPr/>
          </p:nvCxnSpPr>
          <p:spPr>
            <a:xfrm>
              <a:off x="1907704" y="5126427"/>
              <a:ext cx="432048" cy="0"/>
            </a:xfrm>
            <a:prstGeom prst="line">
              <a:avLst/>
            </a:prstGeom>
            <a:ln w="12700">
              <a:solidFill>
                <a:schemeClr val="tx1">
                  <a:lumMod val="50000"/>
                  <a:lumOff val="50000"/>
                </a:schemeClr>
              </a:solidFill>
              <a:prstDash val="solid"/>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138" name="꺾인 연결선 137"/>
            <p:cNvCxnSpPr/>
            <p:nvPr/>
          </p:nvCxnSpPr>
          <p:spPr>
            <a:xfrm rot="10800000" flipV="1">
              <a:off x="2339752" y="4050295"/>
              <a:ext cx="12700" cy="2152264"/>
            </a:xfrm>
            <a:prstGeom prst="bentConnector3">
              <a:avLst>
                <a:gd name="adj1" fmla="val 1800000"/>
              </a:avLst>
            </a:prstGeom>
            <a:ln w="12700" cap="sq">
              <a:solidFill>
                <a:schemeClr val="tx1">
                  <a:lumMod val="50000"/>
                  <a:lumOff val="50000"/>
                </a:schemeClr>
              </a:solidFill>
              <a:prstDash val="solid"/>
              <a:miter lim="800000"/>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140" name="꺾인 연결선 139"/>
            <p:cNvCxnSpPr/>
            <p:nvPr/>
          </p:nvCxnSpPr>
          <p:spPr>
            <a:xfrm rot="10800000" flipV="1">
              <a:off x="2339752" y="4588361"/>
              <a:ext cx="12700" cy="1076132"/>
            </a:xfrm>
            <a:prstGeom prst="bentConnector3">
              <a:avLst>
                <a:gd name="adj1" fmla="val 1800000"/>
              </a:avLst>
            </a:prstGeom>
            <a:ln w="12700" cap="sq">
              <a:solidFill>
                <a:schemeClr val="tx1">
                  <a:lumMod val="50000"/>
                  <a:lumOff val="50000"/>
                </a:schemeClr>
              </a:solidFill>
              <a:prstDash val="solid"/>
              <a:miter lim="800000"/>
              <a:headEnd type="oval" w="sm" len="sm"/>
              <a:tailEnd type="oval" w="sm" len="sm"/>
            </a:ln>
          </p:spPr>
          <p:style>
            <a:lnRef idx="1">
              <a:schemeClr val="accent1"/>
            </a:lnRef>
            <a:fillRef idx="0">
              <a:schemeClr val="accent1"/>
            </a:fillRef>
            <a:effectRef idx="0">
              <a:schemeClr val="accent1"/>
            </a:effectRef>
            <a:fontRef idx="minor">
              <a:schemeClr val="tx1"/>
            </a:fontRef>
          </p:style>
        </p:cxnSp>
      </p:grpSp>
      <p:sp>
        <p:nvSpPr>
          <p:cNvPr id="4" name="슬라이드 번호 개체 틀 3"/>
          <p:cNvSpPr>
            <a:spLocks noGrp="1"/>
          </p:cNvSpPr>
          <p:nvPr>
            <p:ph type="sldNum" sz="quarter" idx="12"/>
          </p:nvPr>
        </p:nvSpPr>
        <p:spPr/>
        <p:txBody>
          <a:bodyPr/>
          <a:lstStyle/>
          <a:p>
            <a:fld id="{8F563537-3992-4579-A065-26E1D23BF530}" type="slidenum">
              <a:rPr lang="ko-KR" altLang="en-US" smtClean="0"/>
              <a:pPr/>
              <a:t>21</a:t>
            </a:fld>
            <a:endParaRPr lang="ko-KR" altLang="en-US" dirty="0"/>
          </a:p>
        </p:txBody>
      </p:sp>
    </p:spTree>
    <p:extLst>
      <p:ext uri="{BB962C8B-B14F-4D97-AF65-F5344CB8AC3E}">
        <p14:creationId xmlns:p14="http://schemas.microsoft.com/office/powerpoint/2010/main" val="198786467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1"/>
          <p:cNvSpPr>
            <a:spLocks noGrp="1"/>
          </p:cNvSpPr>
          <p:nvPr>
            <p:ph type="title"/>
          </p:nvPr>
        </p:nvSpPr>
        <p:spPr>
          <a:xfrm>
            <a:off x="611560" y="202630"/>
            <a:ext cx="8184854" cy="634082"/>
          </a:xfrm>
        </p:spPr>
        <p:txBody>
          <a:bodyPr>
            <a:normAutofit/>
          </a:bodyPr>
          <a:lstStyle/>
          <a:p>
            <a:pPr>
              <a:defRPr/>
            </a:pPr>
            <a:r>
              <a:rPr lang="en-US" altLang="ko-KR" sz="2800" b="0" dirty="0" smtClean="0">
                <a:latin typeface="Tahoma" pitchFamily="34" charset="0"/>
                <a:ea typeface="Tahoma" pitchFamily="34" charset="0"/>
                <a:cs typeface="Tahoma" pitchFamily="34" charset="0"/>
              </a:rPr>
              <a:t>Émergence de l'ère Smart et nouveau rôle des TI</a:t>
            </a:r>
            <a:endParaRPr lang="ko-KR" altLang="en-US" sz="2800" b="0" dirty="0">
              <a:latin typeface="Tahoma" pitchFamily="34" charset="0"/>
              <a:ea typeface="HY견고딕" pitchFamily="18" charset="-127"/>
              <a:cs typeface="Tahoma" pitchFamily="34" charset="0"/>
            </a:endParaRPr>
          </a:p>
        </p:txBody>
      </p:sp>
      <p:grpSp>
        <p:nvGrpSpPr>
          <p:cNvPr id="2" name="그룹 1"/>
          <p:cNvGrpSpPr/>
          <p:nvPr/>
        </p:nvGrpSpPr>
        <p:grpSpPr>
          <a:xfrm>
            <a:off x="107504" y="2355574"/>
            <a:ext cx="8784976" cy="3737722"/>
            <a:chOff x="24663" y="2042038"/>
            <a:chExt cx="9227857" cy="3835234"/>
          </a:xfrm>
        </p:grpSpPr>
        <p:sp>
          <p:nvSpPr>
            <p:cNvPr id="32" name="오른쪽 화살표 31"/>
            <p:cNvSpPr/>
            <p:nvPr/>
          </p:nvSpPr>
          <p:spPr>
            <a:xfrm>
              <a:off x="4344392" y="4282226"/>
              <a:ext cx="720080" cy="576064"/>
            </a:xfrm>
            <a:prstGeom prst="rightArrow">
              <a:avLst>
                <a:gd name="adj1" fmla="val 67102"/>
                <a:gd name="adj2" fmla="val 36649"/>
              </a:avLst>
            </a:prstGeom>
            <a:solidFill>
              <a:srgbClr val="D6ECFF">
                <a:lumMod val="50000"/>
              </a:srgbClr>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sysClr val="window" lastClr="FFFFFF"/>
                </a:solidFill>
                <a:effectLst/>
                <a:uLnTx/>
                <a:uFillTx/>
                <a:latin typeface="Tahoma" pitchFamily="34" charset="0"/>
                <a:ea typeface="HY견고딕" pitchFamily="18" charset="-127"/>
                <a:cs typeface="Tahoma" pitchFamily="34" charset="0"/>
              </a:endParaRPr>
            </a:p>
          </p:txBody>
        </p:sp>
        <p:sp>
          <p:nvSpPr>
            <p:cNvPr id="33" name="모서리가 둥근 직사각형 32"/>
            <p:cNvSpPr/>
            <p:nvPr/>
          </p:nvSpPr>
          <p:spPr>
            <a:xfrm rot="10800000">
              <a:off x="679022" y="4055930"/>
              <a:ext cx="3325749" cy="1548172"/>
            </a:xfrm>
            <a:prstGeom prst="roundRect">
              <a:avLst>
                <a:gd name="adj" fmla="val 7963"/>
              </a:avLst>
            </a:prstGeom>
            <a:gradFill>
              <a:gsLst>
                <a:gs pos="0">
                  <a:sysClr val="window" lastClr="FFFFFF"/>
                </a:gs>
                <a:gs pos="80000">
                  <a:sysClr val="window" lastClr="FFFFFF">
                    <a:alpha val="0"/>
                  </a:sysClr>
                </a:gs>
              </a:gsLst>
              <a:lin ang="16200000" scaled="1"/>
            </a:gradFill>
            <a:ln w="25400" cap="flat" cmpd="sng" algn="ctr">
              <a:gradFill>
                <a:gsLst>
                  <a:gs pos="20000">
                    <a:srgbClr val="D6ECFF">
                      <a:lumMod val="50000"/>
                      <a:alpha val="0"/>
                    </a:srgbClr>
                  </a:gs>
                  <a:gs pos="100000">
                    <a:srgbClr val="D6ECFF">
                      <a:lumMod val="50000"/>
                    </a:srgbClr>
                  </a:gs>
                </a:gsLst>
                <a:lin ang="5400000" scaled="0"/>
              </a:gra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sysClr val="window" lastClr="FFFFFF"/>
                </a:solidFill>
                <a:effectLst/>
                <a:uLnTx/>
                <a:uFillTx/>
                <a:latin typeface="Tahoma" pitchFamily="34" charset="0"/>
                <a:ea typeface="HY견고딕" pitchFamily="18" charset="-127"/>
                <a:cs typeface="Tahoma" pitchFamily="34" charset="0"/>
              </a:endParaRPr>
            </a:p>
          </p:txBody>
        </p:sp>
        <p:sp>
          <p:nvSpPr>
            <p:cNvPr id="34" name="모서리가 둥근 직사각형 33"/>
            <p:cNvSpPr/>
            <p:nvPr/>
          </p:nvSpPr>
          <p:spPr>
            <a:xfrm rot="10800000">
              <a:off x="5364088" y="3994792"/>
              <a:ext cx="3325749" cy="1548172"/>
            </a:xfrm>
            <a:prstGeom prst="roundRect">
              <a:avLst>
                <a:gd name="adj" fmla="val 7963"/>
              </a:avLst>
            </a:prstGeom>
            <a:gradFill>
              <a:gsLst>
                <a:gs pos="0">
                  <a:sysClr val="window" lastClr="FFFFFF"/>
                </a:gs>
                <a:gs pos="80000">
                  <a:sysClr val="window" lastClr="FFFFFF">
                    <a:alpha val="0"/>
                  </a:sysClr>
                </a:gs>
              </a:gsLst>
              <a:lin ang="16200000" scaled="1"/>
            </a:gradFill>
            <a:ln w="25400" cap="flat" cmpd="sng" algn="ctr">
              <a:gradFill>
                <a:gsLst>
                  <a:gs pos="20000">
                    <a:srgbClr val="D6ECFF">
                      <a:lumMod val="50000"/>
                      <a:alpha val="0"/>
                    </a:srgbClr>
                  </a:gs>
                  <a:gs pos="100000">
                    <a:srgbClr val="D6ECFF">
                      <a:lumMod val="50000"/>
                    </a:srgbClr>
                  </a:gs>
                </a:gsLst>
                <a:lin ang="5400000" scaled="0"/>
              </a:gra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sysClr val="window" lastClr="FFFFFF"/>
                </a:solidFill>
                <a:effectLst/>
                <a:uLnTx/>
                <a:uFillTx/>
                <a:latin typeface="Tahoma" pitchFamily="34" charset="0"/>
                <a:ea typeface="HY견고딕" pitchFamily="18" charset="-127"/>
                <a:cs typeface="Tahoma" pitchFamily="34" charset="0"/>
              </a:endParaRPr>
            </a:p>
          </p:txBody>
        </p:sp>
        <p:sp>
          <p:nvSpPr>
            <p:cNvPr id="35" name="TextBox 34"/>
            <p:cNvSpPr txBox="1"/>
            <p:nvPr/>
          </p:nvSpPr>
          <p:spPr>
            <a:xfrm>
              <a:off x="606445" y="3311005"/>
              <a:ext cx="3325749" cy="796026"/>
            </a:xfrm>
            <a:prstGeom prst="roundRect">
              <a:avLst>
                <a:gd name="adj" fmla="val 50000"/>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a:solidFill>
                <a:sysClr val="window" lastClr="FFFFFF"/>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rIns="324000" anchor="ctr" anchorCtr="0">
              <a:noAutofit/>
            </a:bodyPr>
            <a:lstStyle/>
            <a:p>
              <a:pPr marL="92075" marR="0" lvl="0" indent="92075" algn="ctr" defTabSz="914400" eaLnBrk="1" fontAlgn="auto" latinLnBrk="0" hangingPunct="1">
                <a:lnSpc>
                  <a:spcPct val="100000"/>
                </a:lnSpc>
                <a:spcBef>
                  <a:spcPts val="0"/>
                </a:spcBef>
                <a:spcAft>
                  <a:spcPts val="0"/>
                </a:spcAft>
                <a:buClr>
                  <a:srgbClr val="D9EA00">
                    <a:lumMod val="75000"/>
                  </a:srgbClr>
                </a:buClr>
                <a:buSzPct val="100000"/>
                <a:buFontTx/>
                <a:buNone/>
                <a:tabLst/>
                <a:defRPr/>
              </a:pPr>
              <a:r>
                <a:rPr kumimoji="0" lang="en-US" altLang="ko-KR" sz="2400" b="0" i="0" u="none" strike="noStrike" kern="0" cap="none" spc="0" normalizeH="0" baseline="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rPr>
                <a:t>Société de l'information</a:t>
              </a:r>
            </a:p>
          </p:txBody>
        </p:sp>
        <p:sp>
          <p:nvSpPr>
            <p:cNvPr id="36" name="TextBox 35"/>
            <p:cNvSpPr txBox="1"/>
            <p:nvPr/>
          </p:nvSpPr>
          <p:spPr>
            <a:xfrm>
              <a:off x="5364088" y="3249867"/>
              <a:ext cx="3325749" cy="796026"/>
            </a:xfrm>
            <a:prstGeom prst="roundRect">
              <a:avLst>
                <a:gd name="adj" fmla="val 50000"/>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a:solidFill>
                <a:sysClr val="window" lastClr="FFFFFF"/>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rIns="324000" anchor="ctr" anchorCtr="0">
              <a:noAutofit/>
            </a:bodyPr>
            <a:lstStyle/>
            <a:p>
              <a:pPr marL="92075" marR="0" lvl="0" indent="92075" algn="ctr" defTabSz="914400" eaLnBrk="1" fontAlgn="auto" latinLnBrk="0" hangingPunct="1">
                <a:lnSpc>
                  <a:spcPct val="100000"/>
                </a:lnSpc>
                <a:spcBef>
                  <a:spcPts val="0"/>
                </a:spcBef>
                <a:spcAft>
                  <a:spcPts val="0"/>
                </a:spcAft>
                <a:buClr>
                  <a:srgbClr val="D9EA00">
                    <a:lumMod val="75000"/>
                  </a:srgbClr>
                </a:buClr>
                <a:buSzPct val="100000"/>
                <a:buFontTx/>
                <a:buNone/>
                <a:tabLst/>
                <a:defRPr/>
              </a:pPr>
              <a:r>
                <a:rPr kumimoji="0" lang="en-US" altLang="ko-KR" sz="2400" b="0" i="0" u="none" strike="noStrike" kern="0" cap="none" spc="0" normalizeH="0" baseline="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rPr>
                <a:t>Société</a:t>
              </a:r>
            </a:p>
            <a:p>
              <a:pPr marL="92075" marR="0" lvl="0" indent="92075" algn="ctr" defTabSz="914400" eaLnBrk="1" fontAlgn="auto" latinLnBrk="0" hangingPunct="1">
                <a:lnSpc>
                  <a:spcPct val="100000"/>
                </a:lnSpc>
                <a:spcBef>
                  <a:spcPts val="0"/>
                </a:spcBef>
                <a:spcAft>
                  <a:spcPts val="0"/>
                </a:spcAft>
                <a:buClr>
                  <a:srgbClr val="D9EA00">
                    <a:lumMod val="75000"/>
                  </a:srgbClr>
                </a:buClr>
                <a:buSzPct val="100000"/>
                <a:buFontTx/>
                <a:buNone/>
                <a:tabLst/>
                <a:defRPr/>
              </a:pPr>
              <a:r>
                <a:rPr kumimoji="0" lang="en-US" altLang="ko-KR" sz="2400" b="0" kern="0" dirty="0" smtClean="0">
                  <a:ln>
                    <a:solidFill>
                      <a:prstClr val="white">
                        <a:alpha val="5000"/>
                      </a:prstClr>
                    </a:solidFill>
                  </a:ln>
                  <a:solidFill>
                    <a:sysClr val="window" lastClr="FFFFFF"/>
                  </a:solidFill>
                  <a:latin typeface="Tahoma" pitchFamily="34" charset="0"/>
                  <a:ea typeface="Tahoma" pitchFamily="34" charset="0"/>
                  <a:cs typeface="Tahoma" pitchFamily="34" charset="0"/>
                </a:rPr>
                <a:t>Smart</a:t>
              </a:r>
              <a:endParaRPr kumimoji="0" lang="en-US" altLang="ko-KR" sz="2400" b="0" i="0" u="none" strike="noStrike" kern="0" cap="none" spc="0" normalizeH="0" baseline="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endParaRPr>
            </a:p>
          </p:txBody>
        </p:sp>
        <p:sp>
          <p:nvSpPr>
            <p:cNvPr id="37" name="TextBox 36"/>
            <p:cNvSpPr txBox="1"/>
            <p:nvPr/>
          </p:nvSpPr>
          <p:spPr>
            <a:xfrm>
              <a:off x="1087090" y="4282226"/>
              <a:ext cx="2303797" cy="53687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2800" b="0" i="0" u="none" strike="noStrike" kern="0" cap="none" spc="0" normalizeH="0" baseline="0" noProof="0" dirty="0" smtClean="0">
                  <a:ln>
                    <a:solidFill>
                      <a:sysClr val="window" lastClr="FFFFFF">
                        <a:alpha val="5000"/>
                      </a:sysClr>
                    </a:solidFill>
                  </a:ln>
                  <a:solidFill>
                    <a:srgbClr val="D6ECFF">
                      <a:lumMod val="50000"/>
                    </a:srgbClr>
                  </a:solidFill>
                  <a:effectLst/>
                  <a:uLnTx/>
                  <a:uFillTx/>
                  <a:latin typeface="Tahoma" pitchFamily="34" charset="0"/>
                  <a:ea typeface="Tahoma" pitchFamily="34" charset="0"/>
                  <a:cs typeface="Tahoma" pitchFamily="34" charset="0"/>
                </a:rPr>
                <a:t>TI = facteur habilitant</a:t>
              </a:r>
              <a:endParaRPr kumimoji="0" lang="ko-KR" altLang="en-US" sz="2800" b="0" i="0" u="none" strike="noStrike" kern="0" cap="none" spc="0" normalizeH="0" baseline="0" noProof="0" dirty="0" smtClean="0">
                <a:ln>
                  <a:solidFill>
                    <a:sysClr val="window" lastClr="FFFFFF">
                      <a:alpha val="5000"/>
                    </a:sysClr>
                  </a:solidFill>
                </a:ln>
                <a:solidFill>
                  <a:srgbClr val="D6ECFF">
                    <a:lumMod val="50000"/>
                  </a:srgbClr>
                </a:solidFill>
                <a:effectLst/>
                <a:uLnTx/>
                <a:uFillTx/>
                <a:latin typeface="Tahoma" pitchFamily="34" charset="0"/>
                <a:ea typeface="HY견고딕" pitchFamily="18" charset="-127"/>
                <a:cs typeface="Tahoma" pitchFamily="34" charset="0"/>
              </a:endParaRPr>
            </a:p>
          </p:txBody>
        </p:sp>
        <p:sp>
          <p:nvSpPr>
            <p:cNvPr id="38" name="TextBox 37"/>
            <p:cNvSpPr txBox="1"/>
            <p:nvPr/>
          </p:nvSpPr>
          <p:spPr>
            <a:xfrm>
              <a:off x="5759719" y="4221088"/>
              <a:ext cx="2771898" cy="53687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2800" b="1"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Tahoma" pitchFamily="34" charset="0"/>
                  <a:cs typeface="Tahoma" pitchFamily="34" charset="0"/>
                </a:rPr>
                <a:t>TI = plateforme</a:t>
              </a:r>
              <a:endParaRPr kumimoji="0" lang="ko-KR" altLang="en-US" sz="2800" b="1"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HY견고딕" pitchFamily="18" charset="-127"/>
                <a:cs typeface="Tahoma" pitchFamily="34" charset="0"/>
              </a:endParaRPr>
            </a:p>
          </p:txBody>
        </p:sp>
        <p:pic>
          <p:nvPicPr>
            <p:cNvPr id="39" name="Picture 5" descr="F:\★Clipart★\기타\ball\Gems\03.png"/>
            <p:cNvPicPr>
              <a:picLocks noChangeAspect="1" noChangeArrowheads="1"/>
            </p:cNvPicPr>
            <p:nvPr/>
          </p:nvPicPr>
          <p:blipFill>
            <a:blip r:embed="rId3" cstate="print"/>
            <a:srcRect/>
            <a:stretch>
              <a:fillRect/>
            </a:stretch>
          </p:blipFill>
          <p:spPr bwMode="auto">
            <a:xfrm>
              <a:off x="58664" y="5085184"/>
              <a:ext cx="1477416" cy="792088"/>
            </a:xfrm>
            <a:prstGeom prst="ellipse">
              <a:avLst/>
            </a:prstGeom>
            <a:noFill/>
            <a:ln w="28575">
              <a:solidFill>
                <a:sysClr val="window" lastClr="FFFFFF"/>
              </a:solidFill>
            </a:ln>
            <a:effectLst>
              <a:outerShdw blurRad="50800" dist="38100" dir="2700000" algn="tl" rotWithShape="0">
                <a:prstClr val="black">
                  <a:alpha val="40000"/>
                </a:prstClr>
              </a:outerShdw>
            </a:effectLst>
          </p:spPr>
        </p:pic>
        <p:sp>
          <p:nvSpPr>
            <p:cNvPr id="40" name="TextBox 39"/>
            <p:cNvSpPr txBox="1"/>
            <p:nvPr/>
          </p:nvSpPr>
          <p:spPr>
            <a:xfrm>
              <a:off x="24663" y="5184636"/>
              <a:ext cx="1462577" cy="536870"/>
            </a:xfrm>
            <a:prstGeom prst="rect">
              <a:avLst/>
            </a:prstGeom>
            <a:noFill/>
          </p:spPr>
          <p:txBody>
            <a:bodyPr wrap="square" rtlCol="0">
              <a:spAutoFit/>
              <a:scene3d>
                <a:camera prst="orthographicFront"/>
                <a:lightRig rig="threePt" dir="t"/>
              </a:scene3d>
              <a:sp3d extrusionH="57150" contourW="12700">
                <a:bevelT w="12700" h="12700" prst="coolSlant"/>
                <a:contourClr>
                  <a:schemeClr val="bg2">
                    <a:lumMod val="10000"/>
                  </a:schemeClr>
                </a:contourClr>
              </a:sp3d>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rPr>
                <a:t>Productivité</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rPr>
                <a:t>accrue</a:t>
              </a:r>
              <a:endParaRPr kumimoji="0" lang="ko-KR" altLang="en-US"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HY견고딕" pitchFamily="18" charset="-127"/>
                <a:cs typeface="Tahoma" pitchFamily="34" charset="0"/>
              </a:endParaRPr>
            </a:p>
          </p:txBody>
        </p:sp>
        <p:pic>
          <p:nvPicPr>
            <p:cNvPr id="41" name="Picture 5" descr="F:\★Clipart★\기타\ball\Gems\03.png"/>
            <p:cNvPicPr>
              <a:picLocks noChangeAspect="1" noChangeArrowheads="1"/>
            </p:cNvPicPr>
            <p:nvPr/>
          </p:nvPicPr>
          <p:blipFill>
            <a:blip r:embed="rId3" cstate="print"/>
            <a:srcRect/>
            <a:stretch>
              <a:fillRect/>
            </a:stretch>
          </p:blipFill>
          <p:spPr bwMode="auto">
            <a:xfrm>
              <a:off x="1403648" y="5085184"/>
              <a:ext cx="1477416" cy="792088"/>
            </a:xfrm>
            <a:prstGeom prst="ellipse">
              <a:avLst/>
            </a:prstGeom>
            <a:noFill/>
            <a:ln w="28575">
              <a:solidFill>
                <a:sysClr val="window" lastClr="FFFFFF"/>
              </a:solidFill>
            </a:ln>
            <a:effectLst>
              <a:outerShdw blurRad="50800" dist="38100" dir="2700000" algn="tl" rotWithShape="0">
                <a:prstClr val="black">
                  <a:alpha val="40000"/>
                </a:prstClr>
              </a:outerShdw>
            </a:effectLst>
          </p:spPr>
        </p:pic>
        <p:sp>
          <p:nvSpPr>
            <p:cNvPr id="42" name="TextBox 41"/>
            <p:cNvSpPr txBox="1"/>
            <p:nvPr/>
          </p:nvSpPr>
          <p:spPr>
            <a:xfrm>
              <a:off x="1533297" y="5157192"/>
              <a:ext cx="1195038" cy="536870"/>
            </a:xfrm>
            <a:prstGeom prst="rect">
              <a:avLst/>
            </a:prstGeom>
            <a:noFill/>
          </p:spPr>
          <p:txBody>
            <a:bodyPr wrap="square" rtlCol="0">
              <a:spAutoFit/>
              <a:scene3d>
                <a:camera prst="orthographicFront"/>
                <a:lightRig rig="threePt" dir="t"/>
              </a:scene3d>
              <a:sp3d extrusionH="57150" contourW="12700">
                <a:bevelT w="12700" h="12700" prst="coolSlant"/>
                <a:contourClr>
                  <a:schemeClr val="bg2">
                    <a:lumMod val="10000"/>
                  </a:schemeClr>
                </a:contourClr>
              </a:sp3d>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kern="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latin typeface="Tahoma" pitchFamily="34" charset="0"/>
                  <a:ea typeface="Tahoma" pitchFamily="34" charset="0"/>
                  <a:cs typeface="Tahoma" pitchFamily="34" charset="0"/>
                </a:rPr>
                <a:t>Efficience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rPr>
                <a:t>améliorée</a:t>
              </a:r>
              <a:endParaRPr kumimoji="0" lang="ko-KR" altLang="en-US"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HY견고딕" pitchFamily="18" charset="-127"/>
                <a:cs typeface="Tahoma" pitchFamily="34" charset="0"/>
              </a:endParaRPr>
            </a:p>
          </p:txBody>
        </p:sp>
        <p:pic>
          <p:nvPicPr>
            <p:cNvPr id="43" name="Picture 5" descr="F:\★Clipart★\기타\ball\Gems\03.png"/>
            <p:cNvPicPr>
              <a:picLocks noChangeAspect="1" noChangeArrowheads="1"/>
            </p:cNvPicPr>
            <p:nvPr/>
          </p:nvPicPr>
          <p:blipFill>
            <a:blip r:embed="rId3" cstate="print"/>
            <a:srcRect/>
            <a:stretch>
              <a:fillRect/>
            </a:stretch>
          </p:blipFill>
          <p:spPr bwMode="auto">
            <a:xfrm>
              <a:off x="2771800" y="5085184"/>
              <a:ext cx="1477416" cy="792088"/>
            </a:xfrm>
            <a:prstGeom prst="ellipse">
              <a:avLst/>
            </a:prstGeom>
            <a:noFill/>
            <a:ln w="28575">
              <a:solidFill>
                <a:sysClr val="window" lastClr="FFFFFF"/>
              </a:solidFill>
            </a:ln>
            <a:effectLst>
              <a:outerShdw blurRad="50800" dist="38100" dir="2700000" algn="tl" rotWithShape="0">
                <a:prstClr val="black">
                  <a:alpha val="40000"/>
                </a:prstClr>
              </a:outerShdw>
            </a:effectLst>
          </p:spPr>
        </p:pic>
        <p:sp>
          <p:nvSpPr>
            <p:cNvPr id="44" name="TextBox 43"/>
            <p:cNvSpPr txBox="1"/>
            <p:nvPr/>
          </p:nvSpPr>
          <p:spPr>
            <a:xfrm>
              <a:off x="2892648" y="5210036"/>
              <a:ext cx="1339465" cy="536870"/>
            </a:xfrm>
            <a:prstGeom prst="rect">
              <a:avLst/>
            </a:prstGeom>
            <a:noFill/>
          </p:spPr>
          <p:txBody>
            <a:bodyPr wrap="square" rtlCol="0">
              <a:spAutoFit/>
              <a:scene3d>
                <a:camera prst="orthographicFront"/>
                <a:lightRig rig="threePt" dir="t"/>
              </a:scene3d>
              <a:sp3d extrusionH="57150" contourW="12700">
                <a:bevelT w="12700" h="12700" prst="coolSlant"/>
                <a:contourClr>
                  <a:schemeClr val="bg2">
                    <a:lumMod val="10000"/>
                  </a:schemeClr>
                </a:contourClr>
              </a:sp3d>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rPr>
                <a:t>Services</a:t>
              </a:r>
              <a:r>
                <a:rPr kumimoji="0" lang="en-US" altLang="ko-KR" sz="1400" b="0" i="0" u="none" strike="noStrike" kern="0" cap="none" spc="0" normalizeH="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rPr>
                <a:t> diversifiés</a:t>
              </a:r>
              <a:endParaRPr kumimoji="0" lang="en-US" altLang="ko-KR"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endParaRPr>
            </a:p>
          </p:txBody>
        </p:sp>
        <p:pic>
          <p:nvPicPr>
            <p:cNvPr id="45" name="Picture 5" descr="F:\★Clipart★\기타\ball\Gems\03.png"/>
            <p:cNvPicPr>
              <a:picLocks noChangeAspect="1" noChangeArrowheads="1"/>
            </p:cNvPicPr>
            <p:nvPr/>
          </p:nvPicPr>
          <p:blipFill>
            <a:blip r:embed="rId4" cstate="print"/>
            <a:stretch>
              <a:fillRect/>
            </a:stretch>
          </p:blipFill>
          <p:spPr bwMode="auto">
            <a:xfrm>
              <a:off x="5004048" y="5024046"/>
              <a:ext cx="1477020" cy="792088"/>
            </a:xfrm>
            <a:prstGeom prst="ellipse">
              <a:avLst/>
            </a:prstGeom>
            <a:noFill/>
            <a:ln w="28575">
              <a:solidFill>
                <a:sysClr val="window" lastClr="FFFFFF"/>
              </a:solidFill>
            </a:ln>
            <a:effectLst>
              <a:outerShdw blurRad="50800" dist="38100" dir="2700000" algn="tl" rotWithShape="0">
                <a:prstClr val="black">
                  <a:alpha val="40000"/>
                </a:prstClr>
              </a:outerShdw>
            </a:effectLst>
          </p:spPr>
        </p:pic>
        <p:sp>
          <p:nvSpPr>
            <p:cNvPr id="46" name="TextBox 45"/>
            <p:cNvSpPr txBox="1"/>
            <p:nvPr/>
          </p:nvSpPr>
          <p:spPr>
            <a:xfrm>
              <a:off x="5064472" y="5138029"/>
              <a:ext cx="1286328" cy="536870"/>
            </a:xfrm>
            <a:prstGeom prst="rect">
              <a:avLst/>
            </a:prstGeom>
            <a:noFill/>
          </p:spPr>
          <p:txBody>
            <a:bodyPr wrap="square" rtlCol="0">
              <a:spAutoFit/>
              <a:scene3d>
                <a:camera prst="orthographicFront"/>
                <a:lightRig rig="threePt" dir="t"/>
              </a:scene3d>
              <a:sp3d extrusionH="57150" contourW="12700">
                <a:bevelT w="12700" h="12700" prst="coolSlant"/>
                <a:contourClr>
                  <a:schemeClr val="bg2">
                    <a:lumMod val="10000"/>
                  </a:schemeClr>
                </a:contourClr>
              </a:sp3d>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rPr>
                <a:t>Résolution de problèmes</a:t>
              </a:r>
              <a:endParaRPr kumimoji="0" lang="ko-KR" altLang="en-US"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HY견고딕" pitchFamily="18" charset="-127"/>
                <a:cs typeface="Tahoma" pitchFamily="34" charset="0"/>
              </a:endParaRPr>
            </a:p>
          </p:txBody>
        </p:sp>
        <p:pic>
          <p:nvPicPr>
            <p:cNvPr id="47" name="Picture 5" descr="F:\★Clipart★\기타\ball\Gems\03.png"/>
            <p:cNvPicPr>
              <a:picLocks noChangeAspect="1" noChangeArrowheads="1"/>
            </p:cNvPicPr>
            <p:nvPr/>
          </p:nvPicPr>
          <p:blipFill>
            <a:blip r:embed="rId4" cstate="print"/>
            <a:stretch>
              <a:fillRect/>
            </a:stretch>
          </p:blipFill>
          <p:spPr bwMode="auto">
            <a:xfrm>
              <a:off x="6358287" y="5024046"/>
              <a:ext cx="1477020" cy="792088"/>
            </a:xfrm>
            <a:prstGeom prst="ellipse">
              <a:avLst/>
            </a:prstGeom>
            <a:noFill/>
            <a:ln w="28575">
              <a:solidFill>
                <a:sysClr val="window" lastClr="FFFFFF"/>
              </a:solidFill>
            </a:ln>
            <a:effectLst>
              <a:outerShdw blurRad="50800" dist="38100" dir="2700000" algn="tl" rotWithShape="0">
                <a:prstClr val="black">
                  <a:alpha val="40000"/>
                </a:prstClr>
              </a:outerShdw>
            </a:effectLst>
          </p:spPr>
        </p:pic>
        <p:sp>
          <p:nvSpPr>
            <p:cNvPr id="48" name="TextBox 47"/>
            <p:cNvSpPr txBox="1"/>
            <p:nvPr/>
          </p:nvSpPr>
          <p:spPr>
            <a:xfrm>
              <a:off x="6481068" y="5097367"/>
              <a:ext cx="1189440" cy="536870"/>
            </a:xfrm>
            <a:prstGeom prst="rect">
              <a:avLst/>
            </a:prstGeom>
            <a:noFill/>
          </p:spPr>
          <p:txBody>
            <a:bodyPr wrap="square" rtlCol="0">
              <a:spAutoFit/>
              <a:scene3d>
                <a:camera prst="orthographicFront"/>
                <a:lightRig rig="threePt" dir="t"/>
              </a:scene3d>
              <a:sp3d extrusionH="57150" contourW="12700">
                <a:bevelT w="12700" h="12700" prst="coolSlant"/>
                <a:contourClr>
                  <a:schemeClr val="bg2">
                    <a:lumMod val="10000"/>
                  </a:schemeClr>
                </a:contourClr>
              </a:sp3d>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rPr>
                <a:t>Création de valeur</a:t>
              </a:r>
              <a:endParaRPr kumimoji="0" lang="ko-KR" altLang="en-US"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HY견고딕" pitchFamily="18" charset="-127"/>
                <a:cs typeface="Tahoma" pitchFamily="34" charset="0"/>
              </a:endParaRPr>
            </a:p>
          </p:txBody>
        </p:sp>
        <p:pic>
          <p:nvPicPr>
            <p:cNvPr id="49" name="Picture 5" descr="F:\★Clipart★\기타\ball\Gems\03.png"/>
            <p:cNvPicPr>
              <a:picLocks noChangeAspect="1" noChangeArrowheads="1"/>
            </p:cNvPicPr>
            <p:nvPr/>
          </p:nvPicPr>
          <p:blipFill>
            <a:blip r:embed="rId4" cstate="print"/>
            <a:stretch>
              <a:fillRect/>
            </a:stretch>
          </p:blipFill>
          <p:spPr bwMode="auto">
            <a:xfrm>
              <a:off x="7775500" y="5024046"/>
              <a:ext cx="1477020" cy="792088"/>
            </a:xfrm>
            <a:prstGeom prst="ellipse">
              <a:avLst/>
            </a:prstGeom>
            <a:noFill/>
            <a:ln w="28575">
              <a:solidFill>
                <a:sysClr val="window" lastClr="FFFFFF"/>
              </a:solidFill>
            </a:ln>
            <a:effectLst>
              <a:outerShdw blurRad="50800" dist="38100" dir="2700000" algn="tl" rotWithShape="0">
                <a:prstClr val="black">
                  <a:alpha val="40000"/>
                </a:prstClr>
              </a:outerShdw>
            </a:effectLst>
          </p:spPr>
        </p:pic>
        <p:sp>
          <p:nvSpPr>
            <p:cNvPr id="50" name="TextBox 49"/>
            <p:cNvSpPr txBox="1"/>
            <p:nvPr/>
          </p:nvSpPr>
          <p:spPr>
            <a:xfrm>
              <a:off x="7813082" y="5148481"/>
              <a:ext cx="1439438" cy="536870"/>
            </a:xfrm>
            <a:prstGeom prst="rect">
              <a:avLst/>
            </a:prstGeom>
            <a:noFill/>
          </p:spPr>
          <p:txBody>
            <a:bodyPr wrap="square" rtlCol="0">
              <a:spAutoFit/>
              <a:scene3d>
                <a:camera prst="orthographicFront"/>
                <a:lightRig rig="threePt" dir="t"/>
              </a:scene3d>
              <a:sp3d extrusionH="57150" contourW="12700">
                <a:bevelT w="12700" h="12700" prst="coolSlant"/>
                <a:contourClr>
                  <a:schemeClr val="bg2">
                    <a:lumMod val="10000"/>
                  </a:schemeClr>
                </a:contourClr>
              </a:sp3d>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kern="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latin typeface="Tahoma" pitchFamily="34" charset="0"/>
                  <a:ea typeface="Tahoma" pitchFamily="34" charset="0"/>
                  <a:cs typeface="Tahoma" pitchFamily="34" charset="0"/>
                </a:rPr>
                <a:t>Expansion de nouveaux services</a:t>
              </a:r>
              <a:endParaRPr kumimoji="0" lang="ko-KR" altLang="en-US"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HY견고딕" pitchFamily="18" charset="-127"/>
                <a:cs typeface="Tahoma" pitchFamily="34" charset="0"/>
              </a:endParaRPr>
            </a:p>
          </p:txBody>
        </p:sp>
        <p:grpSp>
          <p:nvGrpSpPr>
            <p:cNvPr id="51" name="그룹 53"/>
            <p:cNvGrpSpPr/>
            <p:nvPr/>
          </p:nvGrpSpPr>
          <p:grpSpPr>
            <a:xfrm>
              <a:off x="2483768" y="2042038"/>
              <a:ext cx="3798774" cy="738890"/>
              <a:chOff x="460488" y="2564904"/>
              <a:chExt cx="1231336" cy="2093514"/>
            </a:xfrm>
          </p:grpSpPr>
          <p:sp>
            <p:nvSpPr>
              <p:cNvPr id="52" name="모서리가 둥근 직사각형 51"/>
              <p:cNvSpPr/>
              <p:nvPr/>
            </p:nvSpPr>
            <p:spPr>
              <a:xfrm>
                <a:off x="460488" y="2564904"/>
                <a:ext cx="1231336" cy="2093514"/>
              </a:xfrm>
              <a:prstGeom prst="roundRect">
                <a:avLst>
                  <a:gd name="adj" fmla="val 7922"/>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2400" b="0" i="0" u="none" strike="noStrike" kern="0" cap="none" spc="0" normalizeH="0" baseline="0" noProof="0">
                  <a:ln>
                    <a:noFill/>
                  </a:ln>
                  <a:solidFill>
                    <a:sysClr val="window" lastClr="FFFFFF"/>
                  </a:solidFill>
                  <a:effectLst/>
                  <a:uLnTx/>
                  <a:uFillTx/>
                  <a:latin typeface="Tahoma" pitchFamily="34" charset="0"/>
                  <a:ea typeface="HY견고딕" pitchFamily="18" charset="-127"/>
                  <a:cs typeface="Tahoma" pitchFamily="34" charset="0"/>
                </a:endParaRPr>
              </a:p>
            </p:txBody>
          </p:sp>
          <p:sp>
            <p:nvSpPr>
              <p:cNvPr id="53" name="TextBox 52"/>
              <p:cNvSpPr txBox="1"/>
              <p:nvPr/>
            </p:nvSpPr>
            <p:spPr>
              <a:xfrm>
                <a:off x="576990" y="2827155"/>
                <a:ext cx="998809" cy="1342172"/>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2400" b="0" i="0" u="none" strike="noStrike" kern="0" cap="none" spc="0" normalizeH="0" baseline="0" noProof="0" dirty="0" smtClean="0">
                    <a:ln>
                      <a:solidFill>
                        <a:sysClr val="window" lastClr="FFFFFF">
                          <a:alpha val="5000"/>
                        </a:sysClr>
                      </a:solidFill>
                    </a:ln>
                    <a:solidFill>
                      <a:sysClr val="window" lastClr="FFFFFF"/>
                    </a:solidFill>
                    <a:effectLst/>
                    <a:uLnTx/>
                    <a:uFillTx/>
                    <a:latin typeface="Tahoma" pitchFamily="34" charset="0"/>
                    <a:ea typeface="Tahoma" pitchFamily="34" charset="0"/>
                    <a:cs typeface="Tahoma" pitchFamily="34" charset="0"/>
                  </a:rPr>
                  <a:t>Rôle</a:t>
                </a:r>
                <a:r>
                  <a:rPr kumimoji="0" lang="en-US" altLang="ko-KR" sz="2400" b="0" i="0" u="none" strike="noStrike" kern="0" cap="none" spc="0" normalizeH="0" noProof="0" dirty="0" smtClean="0">
                    <a:ln>
                      <a:solidFill>
                        <a:sysClr val="window" lastClr="FFFFFF">
                          <a:alpha val="5000"/>
                        </a:sysClr>
                      </a:solidFill>
                    </a:ln>
                    <a:solidFill>
                      <a:sysClr val="window" lastClr="FFFFFF"/>
                    </a:solidFill>
                    <a:effectLst/>
                    <a:uLnTx/>
                    <a:uFillTx/>
                    <a:latin typeface="Tahoma" pitchFamily="34" charset="0"/>
                    <a:ea typeface="Tahoma" pitchFamily="34" charset="0"/>
                    <a:cs typeface="Tahoma" pitchFamily="34" charset="0"/>
                  </a:rPr>
                  <a:t> </a:t>
                </a:r>
                <a:r>
                  <a:rPr kumimoji="0" lang="en-US" altLang="ko-KR" sz="2400" b="0" kern="0" dirty="0" smtClean="0">
                    <a:ln>
                      <a:solidFill>
                        <a:sysClr val="window" lastClr="FFFFFF">
                          <a:alpha val="5000"/>
                        </a:sysClr>
                      </a:solidFill>
                    </a:ln>
                    <a:solidFill>
                      <a:sysClr val="window" lastClr="FFFFFF"/>
                    </a:solidFill>
                    <a:latin typeface="Tahoma" pitchFamily="34" charset="0"/>
                    <a:ea typeface="Tahoma" pitchFamily="34" charset="0"/>
                    <a:cs typeface="Tahoma" pitchFamily="34" charset="0"/>
                  </a:rPr>
                  <a:t>des </a:t>
                </a:r>
                <a:r>
                  <a:rPr kumimoji="0" lang="en-US" altLang="ko-KR" sz="2400" b="0" i="0" u="none" strike="noStrike" kern="0" cap="none" spc="0" normalizeH="0" baseline="0" noProof="0" dirty="0" smtClean="0">
                    <a:ln>
                      <a:solidFill>
                        <a:sysClr val="window" lastClr="FFFFFF">
                          <a:alpha val="5000"/>
                        </a:sysClr>
                      </a:solidFill>
                    </a:ln>
                    <a:solidFill>
                      <a:sysClr val="window" lastClr="FFFFFF"/>
                    </a:solidFill>
                    <a:effectLst/>
                    <a:uLnTx/>
                    <a:uFillTx/>
                    <a:latin typeface="Tahoma" pitchFamily="34" charset="0"/>
                    <a:ea typeface="Tahoma" pitchFamily="34" charset="0"/>
                    <a:cs typeface="Tahoma" pitchFamily="34" charset="0"/>
                  </a:rPr>
                  <a:t>TIC</a:t>
                </a:r>
                <a:endParaRPr kumimoji="0" lang="ko-KR" altLang="en-US" sz="2400" b="0" i="0" u="none" strike="noStrike" kern="0" cap="none" spc="0" normalizeH="0" baseline="0" noProof="0" dirty="0" smtClean="0">
                  <a:ln>
                    <a:solidFill>
                      <a:sysClr val="window" lastClr="FFFFFF">
                        <a:alpha val="5000"/>
                      </a:sysClr>
                    </a:solidFill>
                  </a:ln>
                  <a:solidFill>
                    <a:sysClr val="window" lastClr="FFFFFF"/>
                  </a:solidFill>
                  <a:effectLst/>
                  <a:uLnTx/>
                  <a:uFillTx/>
                  <a:latin typeface="Tahoma" pitchFamily="34" charset="0"/>
                  <a:ea typeface="HY견고딕" pitchFamily="18" charset="-127"/>
                  <a:cs typeface="Tahoma" pitchFamily="34" charset="0"/>
                </a:endParaRPr>
              </a:p>
            </p:txBody>
          </p:sp>
          <p:sp>
            <p:nvSpPr>
              <p:cNvPr id="54" name="모서리가 둥근 직사각형 53"/>
              <p:cNvSpPr/>
              <p:nvPr/>
            </p:nvSpPr>
            <p:spPr>
              <a:xfrm rot="10800000">
                <a:off x="462176" y="2605667"/>
                <a:ext cx="1229648" cy="391285"/>
              </a:xfrm>
              <a:prstGeom prst="roundRect">
                <a:avLst>
                  <a:gd name="adj" fmla="val 18884"/>
                </a:avLst>
              </a:prstGeom>
              <a:gradFill>
                <a:gsLst>
                  <a:gs pos="0">
                    <a:sysClr val="window" lastClr="FFFFFF"/>
                  </a:gs>
                  <a:gs pos="80000">
                    <a:sysClr val="window" lastClr="FFFFFF">
                      <a:alpha val="0"/>
                    </a:sysClr>
                  </a:gs>
                </a:gsLst>
                <a:lin ang="16200000" scaled="1"/>
              </a:gra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2400" b="0" i="0" u="none" strike="noStrike" kern="0" cap="none" spc="0" normalizeH="0" baseline="0" noProof="0">
                  <a:ln>
                    <a:noFill/>
                  </a:ln>
                  <a:solidFill>
                    <a:sysClr val="window" lastClr="FFFFFF"/>
                  </a:solidFill>
                  <a:effectLst/>
                  <a:uLnTx/>
                  <a:uFillTx/>
                  <a:latin typeface="Tahoma" pitchFamily="34" charset="0"/>
                  <a:ea typeface="HY견고딕" pitchFamily="18" charset="-127"/>
                  <a:cs typeface="Tahoma" pitchFamily="34" charset="0"/>
                </a:endParaRPr>
              </a:p>
            </p:txBody>
          </p:sp>
        </p:grpSp>
        <p:sp>
          <p:nvSpPr>
            <p:cNvPr id="55" name="직사각형 54"/>
            <p:cNvSpPr/>
            <p:nvPr/>
          </p:nvSpPr>
          <p:spPr>
            <a:xfrm>
              <a:off x="1021922" y="2842066"/>
              <a:ext cx="2232248" cy="410548"/>
            </a:xfrm>
            <a:prstGeom prst="rect">
              <a:avLst/>
            </a:prstGeom>
          </p:spPr>
          <p:txBody>
            <a:bodyPr wrap="square">
              <a:spAutoFit/>
            </a:bodyPr>
            <a:lstStyle/>
            <a:p>
              <a:pPr marL="0" marR="0" lvl="0" indent="0" algn="ctr" defTabSz="400050" eaLnBrk="1" fontAlgn="auto" latinLnBrk="0" hangingPunct="1">
                <a:lnSpc>
                  <a:spcPct val="100000"/>
                </a:lnSpc>
                <a:spcBef>
                  <a:spcPts val="0"/>
                </a:spcBef>
                <a:spcAft>
                  <a:spcPts val="0"/>
                </a:spcAft>
                <a:buClrTx/>
                <a:buSzTx/>
                <a:buFontTx/>
                <a:buNone/>
                <a:tabLst>
                  <a:tab pos="1619250" algn="l"/>
                </a:tabLst>
                <a:defRPr/>
              </a:pPr>
              <a:r>
                <a:rPr kumimoji="0" lang="en-US" altLang="ko-KR" sz="2000" b="0" i="0" u="none" strike="noStrike" kern="0" cap="none" spc="0" normalizeH="0" baseline="0" noProof="0" dirty="0" smtClean="0">
                  <a:ln w="1905">
                    <a:solidFill>
                      <a:sysClr val="window" lastClr="FFFFFF">
                        <a:alpha val="5000"/>
                      </a:sysClr>
                    </a:solidFill>
                  </a:ln>
                  <a:solidFill>
                    <a:sysClr val="windowText" lastClr="000000">
                      <a:lumMod val="75000"/>
                      <a:lumOff val="25000"/>
                    </a:sysClr>
                  </a:solidFill>
                  <a:effectLst/>
                  <a:uLnTx/>
                  <a:uFillTx/>
                  <a:latin typeface="Tahoma" pitchFamily="34" charset="0"/>
                  <a:ea typeface="Tahoma" pitchFamily="34" charset="0"/>
                  <a:cs typeface="Tahoma" pitchFamily="34" charset="0"/>
                </a:rPr>
                <a:t>[ ÉTAT ACTUEL ]</a:t>
              </a:r>
              <a:endParaRPr kumimoji="0" lang="ko-KR" altLang="en-US" sz="2000" b="0" i="0" u="none" strike="noStrike" kern="0" cap="none" spc="0" normalizeH="0" baseline="0" noProof="0" dirty="0" smtClean="0">
                <a:ln w="1905">
                  <a:solidFill>
                    <a:sysClr val="window" lastClr="FFFFFF">
                      <a:alpha val="5000"/>
                    </a:sysClr>
                  </a:solidFill>
                </a:ln>
                <a:gradFill flip="none" rotWithShape="1">
                  <a:gsLst>
                    <a:gs pos="0">
                      <a:srgbClr val="EE0000">
                        <a:lumMod val="75000"/>
                        <a:shade val="30000"/>
                        <a:satMod val="115000"/>
                      </a:srgbClr>
                    </a:gs>
                    <a:gs pos="50000">
                      <a:srgbClr val="EE0000">
                        <a:lumMod val="75000"/>
                        <a:shade val="67500"/>
                        <a:satMod val="115000"/>
                      </a:srgbClr>
                    </a:gs>
                    <a:gs pos="100000">
                      <a:srgbClr val="EE0000">
                        <a:lumMod val="75000"/>
                        <a:shade val="100000"/>
                        <a:satMod val="115000"/>
                      </a:srgbClr>
                    </a:gs>
                  </a:gsLst>
                  <a:lin ang="16200000" scaled="1"/>
                  <a:tileRect/>
                </a:gradFill>
                <a:effectLst/>
                <a:uLnTx/>
                <a:uFillTx/>
                <a:latin typeface="Tahoma" pitchFamily="34" charset="0"/>
                <a:ea typeface="HY견고딕" pitchFamily="18" charset="-127"/>
                <a:cs typeface="Tahoma" pitchFamily="34" charset="0"/>
              </a:endParaRPr>
            </a:p>
          </p:txBody>
        </p:sp>
        <p:sp>
          <p:nvSpPr>
            <p:cNvPr id="56" name="직사각형 55"/>
            <p:cNvSpPr/>
            <p:nvPr/>
          </p:nvSpPr>
          <p:spPr>
            <a:xfrm>
              <a:off x="5883111" y="2780927"/>
              <a:ext cx="2232248" cy="410548"/>
            </a:xfrm>
            <a:prstGeom prst="rect">
              <a:avLst/>
            </a:prstGeom>
          </p:spPr>
          <p:txBody>
            <a:bodyPr wrap="square">
              <a:spAutoFit/>
            </a:bodyPr>
            <a:lstStyle/>
            <a:p>
              <a:pPr marL="0" marR="0" lvl="0" indent="0" algn="ctr" defTabSz="400050" eaLnBrk="1" fontAlgn="auto" latinLnBrk="0" hangingPunct="1">
                <a:lnSpc>
                  <a:spcPct val="100000"/>
                </a:lnSpc>
                <a:spcBef>
                  <a:spcPts val="0"/>
                </a:spcBef>
                <a:spcAft>
                  <a:spcPts val="0"/>
                </a:spcAft>
                <a:buClrTx/>
                <a:buSzTx/>
                <a:buFontTx/>
                <a:buNone/>
                <a:tabLst>
                  <a:tab pos="1619250" algn="l"/>
                </a:tabLst>
                <a:defRPr/>
              </a:pPr>
              <a:r>
                <a:rPr kumimoji="0" lang="en-US" altLang="ko-KR" sz="2000" b="0" i="0" u="none" strike="noStrike" kern="0" cap="none" spc="0" normalizeH="0" baseline="0" noProof="0" dirty="0" smtClean="0">
                  <a:ln w="1905">
                    <a:solidFill>
                      <a:sysClr val="window" lastClr="FFFFFF">
                        <a:alpha val="5000"/>
                      </a:sysClr>
                    </a:solidFill>
                  </a:ln>
                  <a:solidFill>
                    <a:sysClr val="windowText" lastClr="000000">
                      <a:lumMod val="75000"/>
                      <a:lumOff val="25000"/>
                    </a:sysClr>
                  </a:solidFill>
                  <a:effectLst/>
                  <a:uLnTx/>
                  <a:uFillTx/>
                  <a:latin typeface="Tahoma" pitchFamily="34" charset="0"/>
                  <a:ea typeface="Tahoma" pitchFamily="34" charset="0"/>
                  <a:cs typeface="Tahoma" pitchFamily="34" charset="0"/>
                </a:rPr>
                <a:t>[ ÉTAT CIBLE ]</a:t>
              </a:r>
              <a:endParaRPr kumimoji="0" lang="ko-KR" altLang="en-US" sz="2000" b="0" i="0" u="none" strike="noStrike" kern="0" cap="none" spc="0" normalizeH="0" baseline="0" noProof="0" dirty="0" smtClean="0">
                <a:ln w="1905">
                  <a:solidFill>
                    <a:sysClr val="window" lastClr="FFFFFF">
                      <a:alpha val="5000"/>
                    </a:sysClr>
                  </a:solidFill>
                </a:ln>
                <a:gradFill flip="none" rotWithShape="1">
                  <a:gsLst>
                    <a:gs pos="0">
                      <a:srgbClr val="EE0000">
                        <a:lumMod val="75000"/>
                        <a:shade val="30000"/>
                        <a:satMod val="115000"/>
                      </a:srgbClr>
                    </a:gs>
                    <a:gs pos="50000">
                      <a:srgbClr val="EE0000">
                        <a:lumMod val="75000"/>
                        <a:shade val="67500"/>
                        <a:satMod val="115000"/>
                      </a:srgbClr>
                    </a:gs>
                    <a:gs pos="100000">
                      <a:srgbClr val="EE0000">
                        <a:lumMod val="75000"/>
                        <a:shade val="100000"/>
                        <a:satMod val="115000"/>
                      </a:srgbClr>
                    </a:gs>
                  </a:gsLst>
                  <a:lin ang="16200000" scaled="1"/>
                  <a:tileRect/>
                </a:gradFill>
                <a:effectLst/>
                <a:uLnTx/>
                <a:uFillTx/>
                <a:latin typeface="Tahoma" pitchFamily="34" charset="0"/>
                <a:ea typeface="HY견고딕" pitchFamily="18" charset="-127"/>
                <a:cs typeface="Tahoma" pitchFamily="34" charset="0"/>
              </a:endParaRPr>
            </a:p>
          </p:txBody>
        </p:sp>
      </p:grpSp>
      <p:sp>
        <p:nvSpPr>
          <p:cNvPr id="57" name="직사각형 56"/>
          <p:cNvSpPr/>
          <p:nvPr/>
        </p:nvSpPr>
        <p:spPr>
          <a:xfrm>
            <a:off x="0" y="1208946"/>
            <a:ext cx="9144000" cy="851902"/>
          </a:xfrm>
          <a:prstGeom prst="rect">
            <a:avLst/>
          </a:prstGeom>
          <a:gradFill>
            <a:gsLst>
              <a:gs pos="0">
                <a:sysClr val="window" lastClr="FFFFFF">
                  <a:alpha val="70000"/>
                </a:sysClr>
              </a:gs>
              <a:gs pos="50000">
                <a:sysClr val="window" lastClr="FFFFFF">
                  <a:alpha val="70000"/>
                </a:sysClr>
              </a:gs>
              <a:gs pos="100000">
                <a:sysClr val="window" lastClr="FFFFFF">
                  <a:alpha val="0"/>
                </a:sysClr>
              </a:gs>
            </a:gsLst>
            <a:lin ang="0" scaled="0"/>
          </a:gradFill>
          <a:ln w="25400" cap="flat" cmpd="sng" algn="ctr">
            <a:gradFill>
              <a:gsLst>
                <a:gs pos="0">
                  <a:srgbClr val="D6ECFF">
                    <a:lumMod val="50000"/>
                    <a:alpha val="0"/>
                  </a:srgbClr>
                </a:gs>
                <a:gs pos="50000">
                  <a:srgbClr val="D6ECFF">
                    <a:lumMod val="50000"/>
                  </a:srgbClr>
                </a:gs>
                <a:gs pos="100000">
                  <a:srgbClr val="D6ECFF">
                    <a:lumMod val="50000"/>
                    <a:alpha val="0"/>
                  </a:srgbClr>
                </a:gs>
              </a:gsLst>
              <a:lin ang="0" scaled="0"/>
            </a:gra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sysClr val="window" lastClr="FFFFFF"/>
              </a:solidFill>
              <a:effectLst/>
              <a:uLnTx/>
              <a:uFillTx/>
              <a:latin typeface="Tahoma" pitchFamily="34" charset="0"/>
              <a:ea typeface="다음_Regular"/>
              <a:cs typeface="Tahoma" pitchFamily="34" charset="0"/>
            </a:endParaRPr>
          </a:p>
        </p:txBody>
      </p:sp>
      <p:sp>
        <p:nvSpPr>
          <p:cNvPr id="58" name="직사각형 57"/>
          <p:cNvSpPr/>
          <p:nvPr/>
        </p:nvSpPr>
        <p:spPr>
          <a:xfrm>
            <a:off x="0" y="1157843"/>
            <a:ext cx="9144000" cy="830997"/>
          </a:xfrm>
          <a:prstGeom prst="rect">
            <a:avLst/>
          </a:prstGeom>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2400" i="0" u="none" strike="noStrike" kern="0" cap="none" spc="0" normalizeH="0" baseline="0" noProof="0" dirty="0" smtClean="0">
                <a:ln>
                  <a:solidFill>
                    <a:sysClr val="window" lastClr="FFFFFF">
                      <a:alpha val="5000"/>
                    </a:sysClr>
                  </a:solidFill>
                </a:ln>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effectLst/>
                <a:uLnTx/>
                <a:uFillTx/>
                <a:latin typeface="Tahoma" pitchFamily="34" charset="0"/>
                <a:ea typeface="Tahoma" pitchFamily="34" charset="0"/>
                <a:cs typeface="Tahoma" pitchFamily="34" charset="0"/>
              </a:rPr>
              <a:t>Les TI sont passées d'un outil central d'efficience à une </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2400" kern="0" dirty="0" smtClean="0">
                <a:ln>
                  <a:solidFill>
                    <a:sysClr val="window" lastClr="FFFFFF">
                      <a:alpha val="5000"/>
                    </a:sysClr>
                  </a:solidFill>
                </a:ln>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atin typeface="Tahoma" pitchFamily="34" charset="0"/>
                <a:ea typeface="Tahoma" pitchFamily="34" charset="0"/>
                <a:cs typeface="Tahoma" pitchFamily="34" charset="0"/>
              </a:rPr>
              <a:t>plateforme d'innovation ouverte et de collaboration créative</a:t>
            </a:r>
            <a:endParaRPr kumimoji="0" lang="ko-KR" altLang="en-US" sz="2400" i="0" u="none" strike="noStrike" kern="0" cap="none" spc="0" normalizeH="0" baseline="0" noProof="0" dirty="0" smtClean="0">
              <a:ln>
                <a:solidFill>
                  <a:sysClr val="window" lastClr="FFFFFF">
                    <a:alpha val="5000"/>
                  </a:sysClr>
                </a:solidFill>
              </a:ln>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effectLst/>
              <a:uLnTx/>
              <a:uFillTx/>
              <a:latin typeface="Tahoma" pitchFamily="34" charset="0"/>
              <a:ea typeface="다음_SemiBold"/>
              <a:cs typeface="Tahoma" pitchFamily="34" charset="0"/>
            </a:endParaRPr>
          </a:p>
        </p:txBody>
      </p:sp>
      <p:sp>
        <p:nvSpPr>
          <p:cNvPr id="4" name="슬라이드 번호 개체 틀 3"/>
          <p:cNvSpPr>
            <a:spLocks noGrp="1"/>
          </p:cNvSpPr>
          <p:nvPr>
            <p:ph type="sldNum" sz="quarter" idx="12"/>
          </p:nvPr>
        </p:nvSpPr>
        <p:spPr/>
        <p:txBody>
          <a:bodyPr/>
          <a:lstStyle/>
          <a:p>
            <a:fld id="{8F563537-3992-4579-A065-26E1D23BF530}" type="slidenum">
              <a:rPr lang="ko-KR" altLang="en-US" smtClean="0"/>
              <a:pPr/>
              <a:t>22</a:t>
            </a:fld>
            <a:endParaRPr lang="ko-KR" altLang="en-US" dirty="0"/>
          </a:p>
        </p:txBody>
      </p:sp>
    </p:spTree>
    <p:extLst>
      <p:ext uri="{BB962C8B-B14F-4D97-AF65-F5344CB8AC3E}">
        <p14:creationId xmlns:p14="http://schemas.microsoft.com/office/powerpoint/2010/main" val="92850859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제목 35"/>
          <p:cNvSpPr>
            <a:spLocks noGrp="1"/>
          </p:cNvSpPr>
          <p:nvPr>
            <p:ph type="title"/>
          </p:nvPr>
        </p:nvSpPr>
        <p:spPr>
          <a:xfrm>
            <a:off x="457200" y="44624"/>
            <a:ext cx="8229600" cy="1143000"/>
          </a:xfrm>
        </p:spPr>
        <p:txBody>
          <a:bodyPr>
            <a:normAutofit/>
          </a:bodyPr>
          <a:lstStyle/>
          <a:p>
            <a:r>
              <a:rPr lang="en-US" altLang="ko-KR" sz="3200" dirty="0" smtClean="0">
                <a:latin typeface="Tahoma" pitchFamily="34" charset="0"/>
                <a:ea typeface="Tahoma" pitchFamily="34" charset="0"/>
                <a:cs typeface="Tahoma" pitchFamily="34" charset="0"/>
              </a:rPr>
              <a:t>Concrétisation du gouvernement Smart</a:t>
            </a:r>
            <a:endParaRPr lang="ko-KR" altLang="en-US" sz="3200" dirty="0">
              <a:latin typeface="Tahoma" pitchFamily="34" charset="0"/>
              <a:cs typeface="Tahoma" pitchFamily="34" charset="0"/>
            </a:endParaRPr>
          </a:p>
        </p:txBody>
      </p:sp>
      <p:grpSp>
        <p:nvGrpSpPr>
          <p:cNvPr id="5" name="그룹 4"/>
          <p:cNvGrpSpPr/>
          <p:nvPr/>
        </p:nvGrpSpPr>
        <p:grpSpPr>
          <a:xfrm>
            <a:off x="0" y="1114742"/>
            <a:ext cx="9396536" cy="5489779"/>
            <a:chOff x="0" y="1124992"/>
            <a:chExt cx="9396536" cy="5489779"/>
          </a:xfrm>
        </p:grpSpPr>
        <p:sp>
          <p:nvSpPr>
            <p:cNvPr id="178178" name="AutoShape 61"/>
            <p:cNvSpPr>
              <a:spLocks noChangeArrowheads="1"/>
            </p:cNvSpPr>
            <p:nvPr/>
          </p:nvSpPr>
          <p:spPr bwMode="auto">
            <a:xfrm>
              <a:off x="853629" y="1413197"/>
              <a:ext cx="7534795" cy="1359632"/>
            </a:xfrm>
            <a:prstGeom prst="roundRect">
              <a:avLst>
                <a:gd name="adj" fmla="val 8602"/>
              </a:avLst>
            </a:prstGeom>
            <a:solidFill>
              <a:srgbClr val="F3F3F3"/>
            </a:solidFill>
            <a:ln w="12700" algn="ctr">
              <a:solidFill>
                <a:schemeClr val="bg2">
                  <a:lumMod val="50000"/>
                </a:schemeClr>
              </a:solidFill>
              <a:round/>
              <a:headEnd/>
              <a:tailEnd/>
            </a:ln>
          </p:spPr>
          <p:txBody>
            <a:bodyPr rot="10800000" lIns="107712" tIns="53857" rIns="107712" bIns="53857" anchor="ctr"/>
            <a:lstStyle/>
            <a:p>
              <a:endParaRPr lang="ko-KR" altLang="en-US">
                <a:ln>
                  <a:solidFill>
                    <a:schemeClr val="bg1">
                      <a:alpha val="5000"/>
                    </a:schemeClr>
                  </a:solidFill>
                </a:ln>
                <a:latin typeface="Tahoma" pitchFamily="34" charset="0"/>
                <a:ea typeface="+mj-ea"/>
                <a:cs typeface="Tahoma" pitchFamily="34" charset="0"/>
              </a:endParaRPr>
            </a:p>
          </p:txBody>
        </p:sp>
        <p:sp>
          <p:nvSpPr>
            <p:cNvPr id="7" name="AutoShape 27"/>
            <p:cNvSpPr>
              <a:spLocks noChangeArrowheads="1"/>
            </p:cNvSpPr>
            <p:nvPr/>
          </p:nvSpPr>
          <p:spPr bwMode="auto">
            <a:xfrm>
              <a:off x="2505075" y="1124992"/>
              <a:ext cx="3992563" cy="431800"/>
            </a:xfrm>
            <a:prstGeom prst="roundRect">
              <a:avLst>
                <a:gd name="adj" fmla="val 50000"/>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16200000" scaled="1"/>
              <a:tileRect/>
            </a:gradFill>
            <a:ln w="6350" algn="ctr">
              <a:noFill/>
              <a:round/>
              <a:headEnd/>
              <a:tailEnd/>
            </a:ln>
            <a:effectLst/>
            <a:extLst/>
          </p:spPr>
          <p:txBody>
            <a:bodyPr wrap="none" bIns="72000" anchor="ctr"/>
            <a:lstStyle/>
            <a:p>
              <a:pPr algn="ctr">
                <a:lnSpc>
                  <a:spcPct val="130000"/>
                </a:lnSpc>
                <a:defRPr/>
              </a:pPr>
              <a:r>
                <a:rPr lang="en-US" altLang="ko-KR" sz="1900"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Gouvernement </a:t>
              </a:r>
              <a:r>
                <a:rPr lang="en-US" altLang="ko-KR" sz="1900" b="1"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intelligent</a:t>
              </a:r>
              <a:endParaRPr lang="en-US" altLang="ko-KR" sz="1900" b="1" dirty="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endParaRPr>
            </a:p>
          </p:txBody>
        </p:sp>
        <p:pic>
          <p:nvPicPr>
            <p:cNvPr id="178183" name="Picture 28" descr="005"/>
            <p:cNvPicPr>
              <a:picLocks noChangeAspect="1" noChangeArrowheads="1"/>
            </p:cNvPicPr>
            <p:nvPr/>
          </p:nvPicPr>
          <p:blipFill>
            <a:blip r:embed="rId3" cstate="print">
              <a:lum bright="18000"/>
            </a:blip>
            <a:srcRect/>
            <a:stretch>
              <a:fillRect/>
            </a:stretch>
          </p:blipFill>
          <p:spPr bwMode="auto">
            <a:xfrm>
              <a:off x="0" y="3001241"/>
              <a:ext cx="9144000" cy="2982913"/>
            </a:xfrm>
            <a:prstGeom prst="rect">
              <a:avLst/>
            </a:prstGeom>
            <a:noFill/>
            <a:ln w="9525">
              <a:noFill/>
              <a:miter lim="800000"/>
              <a:headEnd/>
              <a:tailEnd/>
            </a:ln>
          </p:spPr>
        </p:pic>
        <p:pic>
          <p:nvPicPr>
            <p:cNvPr id="178184" name="Picture 29" descr="10"/>
            <p:cNvPicPr>
              <a:picLocks noChangeAspect="1" noChangeArrowheads="1"/>
            </p:cNvPicPr>
            <p:nvPr/>
          </p:nvPicPr>
          <p:blipFill>
            <a:blip r:embed="rId4" cstate="print">
              <a:lum bright="100000"/>
            </a:blip>
            <a:srcRect/>
            <a:stretch>
              <a:fillRect/>
            </a:stretch>
          </p:blipFill>
          <p:spPr bwMode="auto">
            <a:xfrm>
              <a:off x="2106613" y="2545035"/>
              <a:ext cx="4991100" cy="1631950"/>
            </a:xfrm>
            <a:prstGeom prst="rect">
              <a:avLst/>
            </a:prstGeom>
            <a:noFill/>
            <a:ln w="9525">
              <a:noFill/>
              <a:miter lim="800000"/>
              <a:headEnd/>
              <a:tailEnd/>
            </a:ln>
          </p:spPr>
        </p:pic>
        <p:pic>
          <p:nvPicPr>
            <p:cNvPr id="178185" name="Picture 30" descr="가로3개박스4_7"/>
            <p:cNvPicPr>
              <a:picLocks noChangeAspect="1" noChangeArrowheads="1"/>
            </p:cNvPicPr>
            <p:nvPr/>
          </p:nvPicPr>
          <p:blipFill>
            <a:blip r:embed="rId5" cstate="print"/>
            <a:srcRect/>
            <a:stretch>
              <a:fillRect/>
            </a:stretch>
          </p:blipFill>
          <p:spPr bwMode="auto">
            <a:xfrm>
              <a:off x="3436079" y="2376959"/>
              <a:ext cx="2371030" cy="992770"/>
            </a:xfrm>
            <a:prstGeom prst="rect">
              <a:avLst/>
            </a:prstGeom>
            <a:noFill/>
            <a:ln w="9525">
              <a:noFill/>
              <a:miter lim="800000"/>
              <a:headEnd/>
              <a:tailEnd/>
            </a:ln>
          </p:spPr>
        </p:pic>
        <p:sp>
          <p:nvSpPr>
            <p:cNvPr id="178201" name="Rectangle 103"/>
            <p:cNvSpPr>
              <a:spLocks noChangeArrowheads="1"/>
            </p:cNvSpPr>
            <p:nvPr/>
          </p:nvSpPr>
          <p:spPr bwMode="auto">
            <a:xfrm>
              <a:off x="904875" y="1600721"/>
              <a:ext cx="7632700" cy="892175"/>
            </a:xfrm>
            <a:prstGeom prst="rect">
              <a:avLst/>
            </a:prstGeom>
            <a:noFill/>
            <a:ln w="9525" algn="ctr">
              <a:noFill/>
              <a:miter lim="800000"/>
              <a:headEnd/>
              <a:tailEnd/>
            </a:ln>
          </p:spPr>
          <p:txBody>
            <a:bodyPr>
              <a:spAutoFit/>
            </a:bodyPr>
            <a:lstStyle/>
            <a:p>
              <a:pPr algn="ctr">
                <a:lnSpc>
                  <a:spcPts val="2100"/>
                </a:lnSpc>
                <a:spcBef>
                  <a:spcPct val="40000"/>
                </a:spcBef>
                <a:buClr>
                  <a:schemeClr val="tx1"/>
                </a:buClr>
              </a:pPr>
              <a:r>
                <a:rPr lang="en-US" altLang="ko-KR" b="0" dirty="0">
                  <a:ln>
                    <a:solidFill>
                      <a:schemeClr val="bg1">
                        <a:alpha val="5000"/>
                      </a:schemeClr>
                    </a:solidFill>
                  </a:ln>
                  <a:latin typeface="Tahoma" pitchFamily="34" charset="0"/>
                  <a:ea typeface="Tahoma" pitchFamily="34" charset="0"/>
                  <a:cs typeface="Tahoma" pitchFamily="34" charset="0"/>
                </a:rPr>
                <a:t>Un gouvernement avancé </a:t>
              </a:r>
              <a:r>
                <a:rPr lang="en-US" altLang="ko-KR" b="0" dirty="0">
                  <a:ln>
                    <a:solidFill>
                      <a:schemeClr val="bg1">
                        <a:alpha val="5000"/>
                      </a:schemeClr>
                    </a:solidFill>
                  </a:ln>
                  <a:solidFill>
                    <a:srgbClr val="CC0066"/>
                  </a:solidFill>
                  <a:latin typeface="Tahoma" pitchFamily="34" charset="0"/>
                  <a:ea typeface="Tahoma" pitchFamily="34" charset="0"/>
                  <a:cs typeface="Tahoma" pitchFamily="34" charset="0"/>
                </a:rPr>
                <a:t>favorisant </a:t>
              </a:r>
              <a:r>
                <a:rPr lang="en-US" altLang="ko-KR" b="0" dirty="0" smtClean="0">
                  <a:ln>
                    <a:solidFill>
                      <a:schemeClr val="bg1">
                        <a:alpha val="5000"/>
                      </a:schemeClr>
                    </a:solidFill>
                  </a:ln>
                  <a:solidFill>
                    <a:srgbClr val="CC0066"/>
                  </a:solidFill>
                  <a:latin typeface="Tahoma" pitchFamily="34" charset="0"/>
                  <a:ea typeface="Tahoma" pitchFamily="34" charset="0"/>
                  <a:cs typeface="Tahoma" pitchFamily="34" charset="0"/>
                </a:rPr>
                <a:t>l'utilisation </a:t>
              </a:r>
              <a:r>
                <a:rPr lang="en-US" altLang="ko-KR" b="0" dirty="0">
                  <a:ln>
                    <a:solidFill>
                      <a:schemeClr val="bg1">
                        <a:alpha val="5000"/>
                      </a:schemeClr>
                    </a:solidFill>
                  </a:ln>
                  <a:solidFill>
                    <a:srgbClr val="CC0066"/>
                  </a:solidFill>
                  <a:latin typeface="Tahoma" pitchFamily="34" charset="0"/>
                  <a:ea typeface="Tahoma" pitchFamily="34" charset="0"/>
                  <a:cs typeface="Tahoma" pitchFamily="34" charset="0"/>
                </a:rPr>
                <a:t>des services publics et la </a:t>
              </a:r>
              <a:br>
                <a:rPr lang="en-US" altLang="ko-KR" b="0" dirty="0">
                  <a:ln>
                    <a:solidFill>
                      <a:schemeClr val="bg1">
                        <a:alpha val="5000"/>
                      </a:schemeClr>
                    </a:solidFill>
                  </a:ln>
                  <a:solidFill>
                    <a:srgbClr val="CC0066"/>
                  </a:solidFill>
                  <a:latin typeface="Tahoma" pitchFamily="34" charset="0"/>
                  <a:ea typeface="Tahoma" pitchFamily="34" charset="0"/>
                  <a:cs typeface="Tahoma" pitchFamily="34" charset="0"/>
                </a:rPr>
              </a:br>
              <a:r>
                <a:rPr lang="en-US" altLang="ko-KR" b="0" dirty="0">
                  <a:ln>
                    <a:solidFill>
                      <a:schemeClr val="bg1">
                        <a:alpha val="5000"/>
                      </a:schemeClr>
                    </a:solidFill>
                  </a:ln>
                  <a:solidFill>
                    <a:srgbClr val="CC0066"/>
                  </a:solidFill>
                  <a:latin typeface="Tahoma" pitchFamily="34" charset="0"/>
                  <a:ea typeface="Tahoma" pitchFamily="34" charset="0"/>
                  <a:cs typeface="Tahoma" pitchFamily="34" charset="0"/>
                </a:rPr>
                <a:t>participation active des citoyens, partout et à tout moment,</a:t>
              </a:r>
              <a:r>
                <a:rPr lang="en-US" altLang="ko-KR" b="0" dirty="0">
                  <a:ln>
                    <a:solidFill>
                      <a:schemeClr val="bg1">
                        <a:alpha val="5000"/>
                      </a:schemeClr>
                    </a:solidFill>
                  </a:ln>
                  <a:latin typeface="Tahoma" pitchFamily="34" charset="0"/>
                  <a:ea typeface="Tahoma" pitchFamily="34" charset="0"/>
                  <a:cs typeface="Tahoma" pitchFamily="34" charset="0"/>
                </a:rPr>
                <a:t> grâce à l'</a:t>
              </a:r>
              <a:br>
                <a:rPr lang="en-US" altLang="ko-KR" b="0" dirty="0">
                  <a:ln>
                    <a:solidFill>
                      <a:schemeClr val="bg1">
                        <a:alpha val="5000"/>
                      </a:schemeClr>
                    </a:solidFill>
                  </a:ln>
                  <a:latin typeface="Tahoma" pitchFamily="34" charset="0"/>
                  <a:ea typeface="Tahoma" pitchFamily="34" charset="0"/>
                  <a:cs typeface="Tahoma" pitchFamily="34" charset="0"/>
                </a:rPr>
              </a:br>
              <a:r>
                <a:rPr lang="en-US" altLang="ko-KR" b="0" dirty="0">
                  <a:ln>
                    <a:solidFill>
                      <a:schemeClr val="bg1">
                        <a:alpha val="5000"/>
                      </a:schemeClr>
                    </a:solidFill>
                  </a:ln>
                  <a:latin typeface="Tahoma" pitchFamily="34" charset="0"/>
                  <a:ea typeface="Tahoma" pitchFamily="34" charset="0"/>
                  <a:cs typeface="Tahoma" pitchFamily="34" charset="0"/>
                </a:rPr>
                <a:t>intégration des appareils intelligents et des services gouvernementaux</a:t>
              </a:r>
              <a:endParaRPr lang="ko-KR" altLang="en-US" b="0" dirty="0">
                <a:ln>
                  <a:solidFill>
                    <a:schemeClr val="bg1">
                      <a:alpha val="5000"/>
                    </a:schemeClr>
                  </a:solidFill>
                </a:ln>
                <a:latin typeface="Tahoma" pitchFamily="34" charset="0"/>
                <a:ea typeface="+mj-ea"/>
                <a:cs typeface="Tahoma" pitchFamily="34" charset="0"/>
              </a:endParaRPr>
            </a:p>
          </p:txBody>
        </p:sp>
        <p:sp>
          <p:nvSpPr>
            <p:cNvPr id="23" name="AutoShape 43"/>
            <p:cNvSpPr>
              <a:spLocks noChangeArrowheads="1"/>
            </p:cNvSpPr>
            <p:nvPr/>
          </p:nvSpPr>
          <p:spPr bwMode="auto">
            <a:xfrm>
              <a:off x="6300192" y="3640352"/>
              <a:ext cx="2710177" cy="2428240"/>
            </a:xfrm>
            <a:prstGeom prst="roundRect">
              <a:avLst>
                <a:gd name="adj" fmla="val 5958"/>
              </a:avLst>
            </a:prstGeom>
            <a:solidFill>
              <a:srgbClr val="FFFFFF"/>
            </a:solidFill>
            <a:ln w="12700" algn="ctr">
              <a:solidFill>
                <a:srgbClr val="B225B5"/>
              </a:solidFill>
              <a:round/>
              <a:headEnd/>
              <a:tailEnd/>
            </a:ln>
          </p:spPr>
          <p:txBody>
            <a:bodyPr wrap="none" lIns="91402" tIns="45702" rIns="91402" bIns="45702"/>
            <a:lstStyle/>
            <a:p>
              <a:endParaRPr lang="ko-KR" altLang="en-US">
                <a:ln>
                  <a:solidFill>
                    <a:schemeClr val="bg1">
                      <a:alpha val="5000"/>
                    </a:schemeClr>
                  </a:solidFill>
                </a:ln>
                <a:latin typeface="Tahoma" pitchFamily="34" charset="0"/>
                <a:ea typeface="+mj-ea"/>
                <a:cs typeface="Tahoma" pitchFamily="34" charset="0"/>
              </a:endParaRPr>
            </a:p>
          </p:txBody>
        </p:sp>
        <p:sp>
          <p:nvSpPr>
            <p:cNvPr id="26" name="AutoShape 3"/>
            <p:cNvSpPr>
              <a:spLocks noChangeArrowheads="1"/>
            </p:cNvSpPr>
            <p:nvPr/>
          </p:nvSpPr>
          <p:spPr bwMode="auto">
            <a:xfrm>
              <a:off x="6336688" y="3712359"/>
              <a:ext cx="2638169" cy="647700"/>
            </a:xfrm>
            <a:prstGeom prst="roundRect">
              <a:avLst>
                <a:gd name="adj" fmla="val 14051"/>
              </a:avLst>
            </a:prstGeom>
            <a:gradFill rotWithShape="1">
              <a:gsLst>
                <a:gs pos="0">
                  <a:srgbClr val="A765B7"/>
                </a:gs>
                <a:gs pos="100000">
                  <a:srgbClr val="A765B7">
                    <a:gamma/>
                    <a:shade val="72941"/>
                    <a:invGamma/>
                  </a:srgbClr>
                </a:gs>
              </a:gsLst>
              <a:lin ang="2700000" scaled="1"/>
            </a:gradFill>
            <a:ln>
              <a:noFill/>
            </a:ln>
            <a:effectLst/>
            <a:extLst/>
          </p:spPr>
          <p:txBody>
            <a:bodyPr wrap="none" lIns="0" tIns="0" rIns="0" bIns="0" anchor="ctr"/>
            <a:lstStyle/>
            <a:p>
              <a:pPr algn="ctr" eaLnBrk="0" hangingPunct="0">
                <a:defRPr/>
              </a:pPr>
              <a:r>
                <a:rPr lang="en-US" altLang="ko-KR" sz="1700" b="1" dirty="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 </a:t>
              </a:r>
              <a:r>
                <a:rPr lang="en-US" altLang="ko-KR" sz="1700"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Services administratifs intelligents </a:t>
              </a:r>
              <a:br>
                <a:rPr lang="en-US" altLang="ko-KR" sz="1700"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br>
              <a:r>
                <a:rPr lang="en-US" altLang="ko-KR" sz="1700"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pour plus d'efficacité</a:t>
              </a:r>
              <a:endParaRPr lang="ko-KR" altLang="en-US" sz="1700"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mj-ea"/>
                <a:cs typeface="Tahoma" pitchFamily="34" charset="0"/>
              </a:endParaRPr>
            </a:p>
          </p:txBody>
        </p:sp>
        <p:sp>
          <p:nvSpPr>
            <p:cNvPr id="28" name="직사각형 27"/>
            <p:cNvSpPr/>
            <p:nvPr/>
          </p:nvSpPr>
          <p:spPr>
            <a:xfrm>
              <a:off x="6372200" y="4360432"/>
              <a:ext cx="3024336" cy="1708160"/>
            </a:xfrm>
            <a:prstGeom prst="rect">
              <a:avLst/>
            </a:prstGeom>
            <a:noFill/>
          </p:spPr>
          <p:txBody>
            <a:bodyPr wrap="square" rtlCol="0">
              <a:spAutoFit/>
            </a:bodyPr>
            <a:lstStyle/>
            <a:p>
              <a:pPr marL="180975" indent="-180975">
                <a:spcAft>
                  <a:spcPts val="600"/>
                </a:spcAft>
                <a:buBlip>
                  <a:blip r:embed="rId6"/>
                </a:buBlip>
              </a:pPr>
              <a:r>
                <a:rPr lang="en-US" altLang="ko-KR" sz="1400" spc="-20" dirty="0" smtClean="0">
                  <a:ln>
                    <a:solidFill>
                      <a:schemeClr val="bg1">
                        <a:alpha val="5000"/>
                      </a:schemeClr>
                    </a:solidFill>
                  </a:ln>
                  <a:latin typeface="Tahoma" pitchFamily="34" charset="0"/>
                  <a:ea typeface="Tahoma" pitchFamily="34" charset="0"/>
                  <a:cs typeface="Tahoma" pitchFamily="34" charset="0"/>
                </a:rPr>
                <a:t>Travail administratif intelligent en bureau</a:t>
              </a:r>
              <a:r>
                <a:rPr lang="en-US" altLang="ko-KR" sz="1400" dirty="0" smtClean="0">
                  <a:ln>
                    <a:solidFill>
                      <a:schemeClr val="bg1">
                        <a:alpha val="5000"/>
                      </a:schemeClr>
                    </a:solidFill>
                  </a:ln>
                  <a:latin typeface="Tahoma" pitchFamily="34" charset="0"/>
                  <a:ea typeface="Tahoma" pitchFamily="34" charset="0"/>
                  <a:cs typeface="Tahoma" pitchFamily="34" charset="0"/>
                </a:rPr>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200" b="0" dirty="0" smtClean="0">
                  <a:ln>
                    <a:solidFill>
                      <a:schemeClr val="bg1">
                        <a:alpha val="5000"/>
                      </a:schemeClr>
                    </a:solidFill>
                  </a:ln>
                  <a:latin typeface="Tahoma" pitchFamily="34" charset="0"/>
                  <a:ea typeface="Tahoma" pitchFamily="34" charset="0"/>
                  <a:cs typeface="Tahoma" pitchFamily="34" charset="0"/>
                </a:rPr>
                <a:t>- Rapports via mémo intelligent,      </a:t>
              </a:r>
              <a:br>
                <a:rPr lang="en-US" altLang="ko-KR" sz="1200" b="0" dirty="0" smtClean="0">
                  <a:ln>
                    <a:solidFill>
                      <a:schemeClr val="bg1">
                        <a:alpha val="5000"/>
                      </a:schemeClr>
                    </a:solidFill>
                  </a:ln>
                  <a:latin typeface="Tahoma" pitchFamily="34" charset="0"/>
                  <a:ea typeface="Tahoma" pitchFamily="34" charset="0"/>
                  <a:cs typeface="Tahoma" pitchFamily="34" charset="0"/>
                </a:rPr>
              </a:br>
              <a:r>
                <a:rPr lang="en-US" altLang="ko-KR" sz="1200" b="0" dirty="0" smtClean="0">
                  <a:ln>
                    <a:solidFill>
                      <a:schemeClr val="bg1">
                        <a:alpha val="5000"/>
                      </a:schemeClr>
                    </a:solidFill>
                  </a:ln>
                  <a:latin typeface="Tahoma" pitchFamily="34" charset="0"/>
                  <a:ea typeface="Tahoma" pitchFamily="34" charset="0"/>
                  <a:cs typeface="Tahoma" pitchFamily="34" charset="0"/>
                </a:rPr>
                <a:t>  Réseau social gouvernemental, </a:t>
              </a:r>
              <a:r>
                <a:rPr lang="en-US" altLang="ko-KR" sz="1200" b="0" dirty="0" err="1" smtClean="0">
                  <a:ln>
                    <a:solidFill>
                      <a:schemeClr val="bg1">
                        <a:alpha val="5000"/>
                      </a:schemeClr>
                    </a:solidFill>
                  </a:ln>
                  <a:latin typeface="Tahoma" pitchFamily="34" charset="0"/>
                  <a:ea typeface="Tahoma" pitchFamily="34" charset="0"/>
                  <a:cs typeface="Tahoma" pitchFamily="34" charset="0"/>
                </a:rPr>
                <a:t>etc</a:t>
              </a:r>
              <a:endParaRPr lang="en-US" altLang="ko-KR" sz="1200" b="0" dirty="0" smtClean="0">
                <a:ln>
                  <a:solidFill>
                    <a:schemeClr val="bg1">
                      <a:alpha val="5000"/>
                    </a:schemeClr>
                  </a:solidFill>
                </a:ln>
                <a:latin typeface="Tahoma" pitchFamily="34" charset="0"/>
                <a:ea typeface="Tahoma" pitchFamily="34" charset="0"/>
                <a:cs typeface="Tahoma" pitchFamily="34" charset="0"/>
              </a:endParaRPr>
            </a:p>
            <a:p>
              <a:pPr marL="180975" indent="-180975">
                <a:spcAft>
                  <a:spcPts val="600"/>
                </a:spcAft>
                <a:buBlip>
                  <a:blip r:embed="rId6"/>
                </a:buBlip>
              </a:pPr>
              <a:r>
                <a:rPr lang="en-US" altLang="ko-KR" sz="1400" dirty="0" smtClean="0">
                  <a:ln>
                    <a:solidFill>
                      <a:schemeClr val="bg1">
                        <a:alpha val="5000"/>
                      </a:schemeClr>
                    </a:solidFill>
                  </a:ln>
                  <a:latin typeface="Tahoma" pitchFamily="34" charset="0"/>
                  <a:ea typeface="Tahoma" pitchFamily="34" charset="0"/>
                  <a:cs typeface="Tahoma" pitchFamily="34" charset="0"/>
                </a:rPr>
                <a:t>Travail de terrain intelligent</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200" b="0" dirty="0" smtClean="0">
                  <a:ln>
                    <a:solidFill>
                      <a:schemeClr val="bg1">
                        <a:alpha val="5000"/>
                      </a:schemeClr>
                    </a:solidFill>
                  </a:ln>
                  <a:latin typeface="Tahoma" pitchFamily="34" charset="0"/>
                  <a:ea typeface="Tahoma" pitchFamily="34" charset="0"/>
                  <a:cs typeface="Tahoma" pitchFamily="34" charset="0"/>
                </a:rPr>
                <a:t>- Gestion des incendies/catastrophes,  </a:t>
              </a:r>
              <a:br>
                <a:rPr lang="en-US" altLang="ko-KR" sz="1200" b="0" dirty="0" smtClean="0">
                  <a:ln>
                    <a:solidFill>
                      <a:schemeClr val="bg1">
                        <a:alpha val="5000"/>
                      </a:schemeClr>
                    </a:solidFill>
                  </a:ln>
                  <a:latin typeface="Tahoma" pitchFamily="34" charset="0"/>
                  <a:ea typeface="Tahoma" pitchFamily="34" charset="0"/>
                  <a:cs typeface="Tahoma" pitchFamily="34" charset="0"/>
                </a:rPr>
              </a:br>
              <a:r>
                <a:rPr lang="en-US" altLang="ko-KR" sz="1200" b="0" dirty="0" smtClean="0">
                  <a:ln>
                    <a:solidFill>
                      <a:schemeClr val="bg1">
                        <a:alpha val="5000"/>
                      </a:schemeClr>
                    </a:solidFill>
                  </a:ln>
                  <a:latin typeface="Tahoma" pitchFamily="34" charset="0"/>
                  <a:ea typeface="Tahoma" pitchFamily="34" charset="0"/>
                  <a:cs typeface="Tahoma" pitchFamily="34" charset="0"/>
                </a:rPr>
                <a:t>  Recensement de la population,</a:t>
              </a:r>
              <a:br>
                <a:rPr lang="en-US" altLang="ko-KR" sz="1200" b="0" dirty="0" smtClean="0">
                  <a:ln>
                    <a:solidFill>
                      <a:schemeClr val="bg1">
                        <a:alpha val="5000"/>
                      </a:schemeClr>
                    </a:solidFill>
                  </a:ln>
                  <a:latin typeface="Tahoma" pitchFamily="34" charset="0"/>
                  <a:ea typeface="Tahoma" pitchFamily="34" charset="0"/>
                  <a:cs typeface="Tahoma" pitchFamily="34" charset="0"/>
                </a:rPr>
              </a:br>
              <a:r>
                <a:rPr lang="en-US" altLang="ko-KR" sz="1200" b="0" dirty="0" smtClean="0">
                  <a:ln>
                    <a:solidFill>
                      <a:schemeClr val="bg1">
                        <a:alpha val="5000"/>
                      </a:schemeClr>
                    </a:solidFill>
                  </a:ln>
                  <a:latin typeface="Tahoma" pitchFamily="34" charset="0"/>
                  <a:ea typeface="Tahoma" pitchFamily="34" charset="0"/>
                  <a:cs typeface="Tahoma" pitchFamily="34" charset="0"/>
                </a:rPr>
                <a:t>  Vérification du paiement de la taxe sur les véhicules </a:t>
              </a:r>
              <a:br>
                <a:rPr lang="en-US" altLang="ko-KR" sz="1200" b="0" dirty="0" smtClean="0">
                  <a:ln>
                    <a:solidFill>
                      <a:schemeClr val="bg1">
                        <a:alpha val="5000"/>
                      </a:schemeClr>
                    </a:solidFill>
                  </a:ln>
                  <a:latin typeface="Tahoma" pitchFamily="34" charset="0"/>
                  <a:ea typeface="Tahoma" pitchFamily="34" charset="0"/>
                  <a:cs typeface="Tahoma" pitchFamily="34" charset="0"/>
                </a:rPr>
              </a:br>
              <a:r>
                <a:rPr lang="en-US" altLang="ko-KR" sz="1200" b="0" dirty="0" smtClean="0">
                  <a:ln>
                    <a:solidFill>
                      <a:schemeClr val="bg1">
                        <a:alpha val="5000"/>
                      </a:schemeClr>
                    </a:solidFill>
                  </a:ln>
                  <a:latin typeface="Tahoma" pitchFamily="34" charset="0"/>
                  <a:ea typeface="Tahoma" pitchFamily="34" charset="0"/>
                  <a:cs typeface="Tahoma" pitchFamily="34" charset="0"/>
                </a:rPr>
                <a:t>  , </a:t>
              </a:r>
              <a:r>
                <a:rPr lang="en-US" altLang="ko-KR" sz="1200" b="0" dirty="0" err="1" smtClean="0">
                  <a:ln>
                    <a:solidFill>
                      <a:schemeClr val="bg1">
                        <a:alpha val="5000"/>
                      </a:schemeClr>
                    </a:solidFill>
                  </a:ln>
                  <a:latin typeface="Tahoma" pitchFamily="34" charset="0"/>
                  <a:ea typeface="Tahoma" pitchFamily="34" charset="0"/>
                  <a:cs typeface="Tahoma" pitchFamily="34" charset="0"/>
                </a:rPr>
                <a:t>etc</a:t>
              </a:r>
              <a:endParaRPr lang="ko-KR" altLang="en-US" sz="1200" b="0" dirty="0" smtClean="0">
                <a:ln>
                  <a:solidFill>
                    <a:schemeClr val="bg1">
                      <a:alpha val="5000"/>
                    </a:schemeClr>
                  </a:solidFill>
                </a:ln>
                <a:latin typeface="Tahoma" pitchFamily="34" charset="0"/>
                <a:cs typeface="Tahoma" pitchFamily="34" charset="0"/>
              </a:endParaRPr>
            </a:p>
          </p:txBody>
        </p:sp>
        <p:sp>
          <p:nvSpPr>
            <p:cNvPr id="30" name="AutoShape 3"/>
            <p:cNvSpPr>
              <a:spLocks noChangeArrowheads="1"/>
            </p:cNvSpPr>
            <p:nvPr/>
          </p:nvSpPr>
          <p:spPr bwMode="auto">
            <a:xfrm>
              <a:off x="182363" y="6093227"/>
              <a:ext cx="8828005" cy="521544"/>
            </a:xfrm>
            <a:prstGeom prst="roundRect">
              <a:avLst>
                <a:gd name="adj" fmla="val 14051"/>
              </a:avLst>
            </a:prstGeom>
            <a:solidFill>
              <a:schemeClr val="accent2">
                <a:lumMod val="75000"/>
              </a:schemeClr>
            </a:solidFill>
            <a:ln>
              <a:noFill/>
            </a:ln>
            <a:effectLst/>
            <a:extLst/>
          </p:spPr>
          <p:txBody>
            <a:bodyPr wrap="none" lIns="0" tIns="0" rIns="0" bIns="0" anchor="ctr"/>
            <a:lstStyle/>
            <a:p>
              <a:pPr algn="ctr">
                <a:defRPr/>
              </a:pPr>
              <a:r>
                <a:rPr lang="en-US" altLang="ko-KR"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Infrastructure de sécurité du gouvernement Smart</a:t>
              </a:r>
              <a:endParaRPr lang="ko-KR" altLang="en-US" dirty="0">
                <a:ln>
                  <a:solidFill>
                    <a:schemeClr val="bg1">
                      <a:alpha val="5000"/>
                    </a:schemeClr>
                  </a:solidFill>
                </a:ln>
                <a:solidFill>
                  <a:srgbClr val="FFFFFF"/>
                </a:solidFill>
                <a:effectLst>
                  <a:outerShdw blurRad="38100" dist="38100" dir="2700000" algn="tl">
                    <a:srgbClr val="000000"/>
                  </a:outerShdw>
                </a:effectLst>
                <a:latin typeface="Tahoma" pitchFamily="34" charset="0"/>
                <a:ea typeface="+mj-ea"/>
                <a:cs typeface="Tahoma" pitchFamily="34" charset="0"/>
              </a:endParaRPr>
            </a:p>
          </p:txBody>
        </p:sp>
        <p:grpSp>
          <p:nvGrpSpPr>
            <p:cNvPr id="4" name="그룹 3"/>
            <p:cNvGrpSpPr/>
            <p:nvPr/>
          </p:nvGrpSpPr>
          <p:grpSpPr>
            <a:xfrm>
              <a:off x="216372" y="3077838"/>
              <a:ext cx="2808932" cy="2990271"/>
              <a:chOff x="3286901" y="3087030"/>
              <a:chExt cx="2808932" cy="2990271"/>
            </a:xfrm>
          </p:grpSpPr>
          <p:sp>
            <p:nvSpPr>
              <p:cNvPr id="18" name="AutoShape 43"/>
              <p:cNvSpPr>
                <a:spLocks noChangeArrowheads="1"/>
              </p:cNvSpPr>
              <p:nvPr/>
            </p:nvSpPr>
            <p:spPr bwMode="auto">
              <a:xfrm>
                <a:off x="3309507" y="3649061"/>
                <a:ext cx="2704893" cy="2428240"/>
              </a:xfrm>
              <a:prstGeom prst="roundRect">
                <a:avLst>
                  <a:gd name="adj" fmla="val 5958"/>
                </a:avLst>
              </a:prstGeom>
              <a:solidFill>
                <a:srgbClr val="FFFFFF"/>
              </a:solidFill>
              <a:ln w="12700" algn="ctr">
                <a:solidFill>
                  <a:srgbClr val="5B5BC9"/>
                </a:solidFill>
                <a:round/>
                <a:headEnd/>
                <a:tailEnd/>
              </a:ln>
            </p:spPr>
            <p:txBody>
              <a:bodyPr wrap="none" anchor="ctr"/>
              <a:lstStyle/>
              <a:p>
                <a:endParaRPr lang="ko-KR" altLang="en-US">
                  <a:ln>
                    <a:solidFill>
                      <a:schemeClr val="bg1">
                        <a:alpha val="5000"/>
                      </a:schemeClr>
                    </a:solidFill>
                  </a:ln>
                  <a:latin typeface="Tahoma" pitchFamily="34" charset="0"/>
                  <a:ea typeface="+mj-ea"/>
                  <a:cs typeface="Tahoma" pitchFamily="34" charset="0"/>
                </a:endParaRPr>
              </a:p>
            </p:txBody>
          </p:sp>
          <p:sp>
            <p:nvSpPr>
              <p:cNvPr id="19" name="AutoShape 3"/>
              <p:cNvSpPr>
                <a:spLocks noChangeArrowheads="1"/>
              </p:cNvSpPr>
              <p:nvPr/>
            </p:nvSpPr>
            <p:spPr bwMode="auto">
              <a:xfrm>
                <a:off x="3381515" y="3712360"/>
                <a:ext cx="2579084" cy="648072"/>
              </a:xfrm>
              <a:prstGeom prst="roundRect">
                <a:avLst>
                  <a:gd name="adj" fmla="val 14051"/>
                </a:avLst>
              </a:prstGeom>
              <a:gradFill rotWithShape="1">
                <a:gsLst>
                  <a:gs pos="0">
                    <a:schemeClr val="accent2">
                      <a:lumMod val="40000"/>
                      <a:lumOff val="60000"/>
                    </a:schemeClr>
                  </a:gs>
                  <a:gs pos="100000">
                    <a:srgbClr val="7C72C4">
                      <a:gamma/>
                      <a:shade val="72941"/>
                      <a:invGamma/>
                    </a:srgbClr>
                  </a:gs>
                </a:gsLst>
                <a:lin ang="2700000" scaled="1"/>
              </a:gradFill>
              <a:ln>
                <a:noFill/>
              </a:ln>
              <a:effectLst/>
              <a:extLst/>
            </p:spPr>
            <p:txBody>
              <a:bodyPr wrap="none" lIns="0" tIns="0" rIns="0" bIns="0" anchor="ctr"/>
              <a:lstStyle/>
              <a:p>
                <a:pPr algn="ctr">
                  <a:defRPr/>
                </a:pPr>
                <a:r>
                  <a:rPr lang="en-US" altLang="ko-KR"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Services intelligents</a:t>
                </a:r>
                <a:br>
                  <a:rPr lang="en-US" altLang="ko-KR"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br>
                <a:r>
                  <a:rPr lang="en-US" altLang="ko-KR"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pour la collaboration</a:t>
                </a:r>
              </a:p>
            </p:txBody>
          </p:sp>
          <p:sp>
            <p:nvSpPr>
              <p:cNvPr id="20" name="직사각형 19"/>
              <p:cNvSpPr/>
              <p:nvPr/>
            </p:nvSpPr>
            <p:spPr>
              <a:xfrm>
                <a:off x="3286901" y="4087199"/>
                <a:ext cx="2808932" cy="1677382"/>
              </a:xfrm>
              <a:prstGeom prst="rect">
                <a:avLst/>
              </a:prstGeom>
              <a:noFill/>
            </p:spPr>
            <p:txBody>
              <a:bodyPr wrap="square" rtlCol="0">
                <a:spAutoFit/>
              </a:bodyPr>
              <a:lstStyle/>
              <a:p>
                <a:pPr marL="180975" indent="-180975">
                  <a:spcAft>
                    <a:spcPts val="600"/>
                  </a:spcAft>
                  <a:buBlip>
                    <a:blip r:embed="rId6"/>
                  </a:buBlip>
                </a:pPr>
                <a:endParaRPr lang="en-US" altLang="ko-KR" sz="1400" dirty="0" smtClean="0">
                  <a:ln>
                    <a:solidFill>
                      <a:schemeClr val="bg1">
                        <a:alpha val="5000"/>
                      </a:schemeClr>
                    </a:solidFill>
                  </a:ln>
                  <a:latin typeface="Tahoma" pitchFamily="34" charset="0"/>
                  <a:ea typeface="Tahoma" pitchFamily="34" charset="0"/>
                  <a:cs typeface="Tahoma" pitchFamily="34" charset="0"/>
                </a:endParaRPr>
              </a:p>
              <a:p>
                <a:pPr marL="180975" indent="-180975">
                  <a:spcAft>
                    <a:spcPts val="600"/>
                  </a:spcAft>
                  <a:buBlip>
                    <a:blip r:embed="rId6"/>
                  </a:buBlip>
                </a:pPr>
                <a:r>
                  <a:rPr lang="en-US" altLang="ko-KR" sz="1400" dirty="0" smtClean="0">
                    <a:ln>
                      <a:solidFill>
                        <a:schemeClr val="bg1">
                          <a:alpha val="5000"/>
                        </a:schemeClr>
                      </a:solidFill>
                    </a:ln>
                    <a:latin typeface="Tahoma" pitchFamily="34" charset="0"/>
                    <a:ea typeface="Tahoma" pitchFamily="34" charset="0"/>
                    <a:cs typeface="Tahoma" pitchFamily="34" charset="0"/>
                  </a:rPr>
                  <a:t>Signalement citoyen sur appareil intelligent,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vote électronique,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suggestion d'idées,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discussion de politiques</a:t>
                </a:r>
                <a:r>
                  <a:rPr lang="en-US" altLang="ko-KR" sz="1400" dirty="0">
                    <a:ln>
                      <a:solidFill>
                        <a:schemeClr val="bg1">
                          <a:alpha val="5000"/>
                        </a:schemeClr>
                      </a:solidFill>
                    </a:ln>
                    <a:latin typeface="Tahoma" pitchFamily="34" charset="0"/>
                    <a:ea typeface="Tahoma" pitchFamily="34" charset="0"/>
                    <a:cs typeface="Tahoma" pitchFamily="34" charset="0"/>
                  </a:rPr>
                  <a:t>, </a:t>
                </a:r>
                <a:br>
                  <a:rPr lang="en-US" altLang="ko-KR" sz="1400" dirty="0">
                    <a:ln>
                      <a:solidFill>
                        <a:schemeClr val="bg1">
                          <a:alpha val="5000"/>
                        </a:schemeClr>
                      </a:solidFill>
                    </a:ln>
                    <a:latin typeface="Tahoma" pitchFamily="34" charset="0"/>
                    <a:ea typeface="Tahoma" pitchFamily="34" charset="0"/>
                    <a:cs typeface="Tahoma" pitchFamily="34" charset="0"/>
                  </a:rPr>
                </a:br>
                <a:r>
                  <a:rPr lang="en-US" altLang="ko-KR" sz="1400" dirty="0">
                    <a:ln>
                      <a:solidFill>
                        <a:schemeClr val="bg1">
                          <a:alpha val="5000"/>
                        </a:schemeClr>
                      </a:solidFill>
                    </a:ln>
                    <a:latin typeface="Tahoma" pitchFamily="34" charset="0"/>
                    <a:ea typeface="Tahoma" pitchFamily="34" charset="0"/>
                    <a:cs typeface="Tahoma" pitchFamily="34" charset="0"/>
                  </a:rPr>
                  <a:t>sécurité participative </a:t>
                </a:r>
                <a:r>
                  <a:rPr lang="en-US" altLang="ko-KR" sz="1400" dirty="0" smtClean="0">
                    <a:ln>
                      <a:solidFill>
                        <a:schemeClr val="bg1">
                          <a:alpha val="5000"/>
                        </a:schemeClr>
                      </a:solidFill>
                    </a:ln>
                    <a:latin typeface="Tahoma" pitchFamily="34" charset="0"/>
                    <a:ea typeface="Tahoma" pitchFamily="34" charset="0"/>
                    <a:cs typeface="Tahoma" pitchFamily="34" charset="0"/>
                  </a:rPr>
                  <a:t>citoyenne, </a:t>
                </a:r>
                <a:r>
                  <a:rPr lang="en-US" altLang="ko-KR" sz="1400" dirty="0" err="1" smtClean="0">
                    <a:ln>
                      <a:solidFill>
                        <a:schemeClr val="bg1">
                          <a:alpha val="5000"/>
                        </a:schemeClr>
                      </a:solidFill>
                    </a:ln>
                    <a:latin typeface="Tahoma" pitchFamily="34" charset="0"/>
                    <a:ea typeface="Tahoma" pitchFamily="34" charset="0"/>
                    <a:cs typeface="Tahoma" pitchFamily="34" charset="0"/>
                  </a:rPr>
                  <a:t>etc</a:t>
                </a:r>
                <a:r>
                  <a:rPr lang="en-US" altLang="ko-KR" sz="1400" dirty="0" smtClean="0">
                    <a:ln>
                      <a:solidFill>
                        <a:schemeClr val="bg1">
                          <a:alpha val="5000"/>
                        </a:schemeClr>
                      </a:solidFill>
                    </a:ln>
                    <a:latin typeface="Tahoma" pitchFamily="34" charset="0"/>
                    <a:ea typeface="Tahoma" pitchFamily="34" charset="0"/>
                    <a:cs typeface="Tahoma" pitchFamily="34" charset="0"/>
                  </a:rPr>
                  <a:t/>
                </a:r>
                <a:br>
                  <a:rPr lang="en-US" altLang="ko-KR" sz="1400" dirty="0" smtClean="0">
                    <a:ln>
                      <a:solidFill>
                        <a:schemeClr val="bg1">
                          <a:alpha val="5000"/>
                        </a:schemeClr>
                      </a:solidFill>
                    </a:ln>
                    <a:latin typeface="Tahoma" pitchFamily="34" charset="0"/>
                    <a:ea typeface="Tahoma" pitchFamily="34" charset="0"/>
                    <a:cs typeface="Tahoma" pitchFamily="34" charset="0"/>
                  </a:rPr>
                </a:br>
                <a:endParaRPr lang="en-US" altLang="ko-KR" sz="1400" b="0" dirty="0" smtClean="0">
                  <a:ln>
                    <a:solidFill>
                      <a:schemeClr val="bg1">
                        <a:alpha val="5000"/>
                      </a:schemeClr>
                    </a:solidFill>
                  </a:ln>
                  <a:latin typeface="Tahoma" pitchFamily="34" charset="0"/>
                  <a:ea typeface="Tahoma" pitchFamily="34" charset="0"/>
                  <a:cs typeface="Tahoma" pitchFamily="34" charset="0"/>
                </a:endParaRPr>
              </a:p>
            </p:txBody>
          </p:sp>
          <p:sp>
            <p:nvSpPr>
              <p:cNvPr id="22" name="AutoShape 27"/>
              <p:cNvSpPr>
                <a:spLocks noChangeArrowheads="1"/>
              </p:cNvSpPr>
              <p:nvPr/>
            </p:nvSpPr>
            <p:spPr bwMode="auto">
              <a:xfrm>
                <a:off x="3529052" y="3087030"/>
                <a:ext cx="2304255" cy="549285"/>
              </a:xfrm>
              <a:prstGeom prst="roundRect">
                <a:avLst>
                  <a:gd name="adj" fmla="val 50000"/>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16200000" scaled="1"/>
                <a:tileRect/>
              </a:gradFill>
              <a:ln w="6350" algn="ctr">
                <a:noFill/>
                <a:round/>
                <a:headEnd/>
                <a:tailEnd/>
              </a:ln>
              <a:effectLst/>
              <a:extLst/>
            </p:spPr>
            <p:txBody>
              <a:bodyPr wrap="none" bIns="72000" anchor="ctr"/>
              <a:lstStyle/>
              <a:p>
                <a:pPr algn="ctr">
                  <a:lnSpc>
                    <a:spcPts val="1500"/>
                  </a:lnSpc>
                  <a:defRPr/>
                </a:pPr>
                <a:r>
                  <a:rPr lang="en-US" altLang="ko-KR" sz="2000"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C2CG</a:t>
                </a:r>
              </a:p>
              <a:p>
                <a:pPr algn="ctr">
                  <a:lnSpc>
                    <a:spcPts val="1500"/>
                  </a:lnSpc>
                  <a:defRPr/>
                </a:pPr>
                <a:r>
                  <a:rPr lang="en-US" altLang="ko-KR" sz="1400" b="1"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Citoyen vers </a:t>
                </a:r>
                <a:r>
                  <a:rPr lang="en-US" altLang="ko-KR" sz="1400" b="1" dirty="0" err="1"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GouvernementCitoyen</a:t>
                </a:r>
                <a:endParaRPr lang="en-US" altLang="ko-KR" sz="1400" b="1" dirty="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endParaRPr>
              </a:p>
            </p:txBody>
          </p:sp>
        </p:grpSp>
        <p:sp>
          <p:nvSpPr>
            <p:cNvPr id="31" name="AutoShape 27"/>
            <p:cNvSpPr>
              <a:spLocks noChangeArrowheads="1"/>
            </p:cNvSpPr>
            <p:nvPr/>
          </p:nvSpPr>
          <p:spPr bwMode="auto">
            <a:xfrm>
              <a:off x="6588225" y="3095087"/>
              <a:ext cx="2304255" cy="549285"/>
            </a:xfrm>
            <a:prstGeom prst="roundRect">
              <a:avLst>
                <a:gd name="adj" fmla="val 50000"/>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16200000" scaled="1"/>
              <a:tileRect/>
            </a:gradFill>
            <a:ln w="6350" algn="ctr">
              <a:noFill/>
              <a:round/>
              <a:headEnd/>
              <a:tailEnd/>
            </a:ln>
            <a:effectLst/>
            <a:extLst/>
          </p:spPr>
          <p:txBody>
            <a:bodyPr wrap="none" bIns="72000" anchor="ctr"/>
            <a:lstStyle/>
            <a:p>
              <a:pPr algn="ctr">
                <a:lnSpc>
                  <a:spcPts val="1500"/>
                </a:lnSpc>
                <a:defRPr/>
              </a:pPr>
              <a:r>
                <a:rPr lang="en-US" altLang="ko-KR" sz="2000"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G2G</a:t>
              </a:r>
            </a:p>
            <a:p>
              <a:pPr algn="ctr">
                <a:lnSpc>
                  <a:spcPts val="1500"/>
                </a:lnSpc>
                <a:defRPr/>
              </a:pPr>
              <a:r>
                <a:rPr lang="en-US" altLang="ko-KR" sz="1400" b="1"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État vers État</a:t>
              </a:r>
              <a:endParaRPr lang="en-US" altLang="ko-KR" sz="1400" b="1" dirty="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endParaRPr>
            </a:p>
          </p:txBody>
        </p:sp>
        <p:grpSp>
          <p:nvGrpSpPr>
            <p:cNvPr id="3" name="그룹 2"/>
            <p:cNvGrpSpPr/>
            <p:nvPr/>
          </p:nvGrpSpPr>
          <p:grpSpPr>
            <a:xfrm>
              <a:off x="3207318" y="3149324"/>
              <a:ext cx="2783392" cy="2921251"/>
              <a:chOff x="-2722407" y="1255734"/>
              <a:chExt cx="2783392" cy="2921251"/>
            </a:xfrm>
          </p:grpSpPr>
          <p:grpSp>
            <p:nvGrpSpPr>
              <p:cNvPr id="2" name="그룹 1"/>
              <p:cNvGrpSpPr/>
              <p:nvPr/>
            </p:nvGrpSpPr>
            <p:grpSpPr>
              <a:xfrm>
                <a:off x="-2695773" y="1255734"/>
                <a:ext cx="2722407" cy="2921251"/>
                <a:chOff x="182364" y="3147341"/>
                <a:chExt cx="2722407" cy="2921251"/>
              </a:xfrm>
            </p:grpSpPr>
            <p:sp>
              <p:nvSpPr>
                <p:cNvPr id="24" name="AutoShape 43"/>
                <p:cNvSpPr>
                  <a:spLocks noChangeArrowheads="1"/>
                </p:cNvSpPr>
                <p:nvPr/>
              </p:nvSpPr>
              <p:spPr bwMode="auto">
                <a:xfrm>
                  <a:off x="182364" y="3677524"/>
                  <a:ext cx="2722407" cy="2391068"/>
                </a:xfrm>
                <a:prstGeom prst="roundRect">
                  <a:avLst>
                    <a:gd name="adj" fmla="val 5958"/>
                  </a:avLst>
                </a:prstGeom>
                <a:solidFill>
                  <a:srgbClr val="FFFFFF"/>
                </a:solidFill>
                <a:ln w="12700" algn="ctr">
                  <a:solidFill>
                    <a:srgbClr val="5B5BC9"/>
                  </a:solidFill>
                  <a:round/>
                  <a:headEnd/>
                  <a:tailEnd/>
                </a:ln>
              </p:spPr>
              <p:txBody>
                <a:bodyPr wrap="none" anchor="ctr"/>
                <a:lstStyle/>
                <a:p>
                  <a:endParaRPr lang="ko-KR" altLang="en-US">
                    <a:ln>
                      <a:solidFill>
                        <a:schemeClr val="bg1">
                          <a:alpha val="5000"/>
                        </a:schemeClr>
                      </a:solidFill>
                    </a:ln>
                    <a:latin typeface="Tahoma" pitchFamily="34" charset="0"/>
                    <a:ea typeface="+mj-ea"/>
                    <a:cs typeface="Tahoma" pitchFamily="34" charset="0"/>
                  </a:endParaRPr>
                </a:p>
              </p:txBody>
            </p:sp>
            <p:sp>
              <p:nvSpPr>
                <p:cNvPr id="25" name="AutoShape 3"/>
                <p:cNvSpPr>
                  <a:spLocks noChangeArrowheads="1"/>
                </p:cNvSpPr>
                <p:nvPr/>
              </p:nvSpPr>
              <p:spPr bwMode="auto">
                <a:xfrm>
                  <a:off x="254372" y="3749532"/>
                  <a:ext cx="2578391" cy="648072"/>
                </a:xfrm>
                <a:prstGeom prst="roundRect">
                  <a:avLst>
                    <a:gd name="adj" fmla="val 14051"/>
                  </a:avLst>
                </a:prstGeom>
                <a:gradFill rotWithShape="1">
                  <a:gsLst>
                    <a:gs pos="0">
                      <a:srgbClr val="7C72C4"/>
                    </a:gs>
                    <a:gs pos="100000">
                      <a:srgbClr val="7C72C4">
                        <a:gamma/>
                        <a:shade val="72941"/>
                        <a:invGamma/>
                      </a:srgbClr>
                    </a:gs>
                  </a:gsLst>
                  <a:lin ang="2700000" scaled="1"/>
                </a:gradFill>
                <a:ln>
                  <a:noFill/>
                </a:ln>
                <a:effectLst/>
                <a:extLst/>
              </p:spPr>
              <p:txBody>
                <a:bodyPr wrap="none" lIns="0" tIns="0" rIns="0" bIns="0" anchor="ctr"/>
                <a:lstStyle/>
                <a:p>
                  <a:pPr algn="ctr">
                    <a:defRPr/>
                  </a:pPr>
                  <a:r>
                    <a:rPr lang="en-US" altLang="ko-KR"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Services civils Smart</a:t>
                  </a:r>
                </a:p>
                <a:p>
                  <a:pPr algn="ctr">
                    <a:defRPr/>
                  </a:pPr>
                  <a:r>
                    <a:rPr lang="en-US" altLang="ko-KR"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pour la commodité des citoyens</a:t>
                  </a:r>
                  <a:endParaRPr lang="ko-KR" altLang="en-US" dirty="0">
                    <a:ln>
                      <a:solidFill>
                        <a:schemeClr val="bg1">
                          <a:alpha val="5000"/>
                        </a:schemeClr>
                      </a:solidFill>
                    </a:ln>
                    <a:solidFill>
                      <a:srgbClr val="FFFFFF"/>
                    </a:solidFill>
                    <a:effectLst>
                      <a:outerShdw blurRad="38100" dist="38100" dir="2700000" algn="tl">
                        <a:srgbClr val="000000"/>
                      </a:outerShdw>
                    </a:effectLst>
                    <a:latin typeface="Tahoma" pitchFamily="34" charset="0"/>
                    <a:ea typeface="+mj-ea"/>
                    <a:cs typeface="Tahoma" pitchFamily="34" charset="0"/>
                  </a:endParaRPr>
                </a:p>
              </p:txBody>
            </p:sp>
            <p:sp>
              <p:nvSpPr>
                <p:cNvPr id="21" name="AutoShape 27"/>
                <p:cNvSpPr>
                  <a:spLocks noChangeArrowheads="1"/>
                </p:cNvSpPr>
                <p:nvPr/>
              </p:nvSpPr>
              <p:spPr bwMode="auto">
                <a:xfrm>
                  <a:off x="384491" y="3147341"/>
                  <a:ext cx="2304255" cy="549285"/>
                </a:xfrm>
                <a:prstGeom prst="roundRect">
                  <a:avLst>
                    <a:gd name="adj" fmla="val 50000"/>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16200000" scaled="1"/>
                  <a:tileRect/>
                </a:gradFill>
                <a:ln w="6350" algn="ctr">
                  <a:noFill/>
                  <a:round/>
                  <a:headEnd/>
                  <a:tailEnd/>
                </a:ln>
                <a:effectLst/>
                <a:extLst/>
              </p:spPr>
              <p:txBody>
                <a:bodyPr wrap="none" bIns="72000" anchor="ctr"/>
                <a:lstStyle/>
                <a:p>
                  <a:pPr algn="ctr">
                    <a:lnSpc>
                      <a:spcPts val="1500"/>
                    </a:lnSpc>
                    <a:defRPr/>
                  </a:pPr>
                  <a:r>
                    <a:rPr lang="en-US" altLang="ko-KR" sz="2000"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G2C</a:t>
                  </a:r>
                </a:p>
                <a:p>
                  <a:pPr algn="ctr">
                    <a:lnSpc>
                      <a:spcPts val="1500"/>
                    </a:lnSpc>
                    <a:defRPr/>
                  </a:pPr>
                  <a:r>
                    <a:rPr lang="en-US" altLang="ko-KR" sz="1400" b="1"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État vers Citoyen</a:t>
                  </a:r>
                  <a:endParaRPr lang="en-US" altLang="ko-KR" sz="1400" b="1" dirty="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endParaRPr>
                </a:p>
              </p:txBody>
            </p:sp>
          </p:grpSp>
          <p:sp>
            <p:nvSpPr>
              <p:cNvPr id="27" name="직사각형 26"/>
              <p:cNvSpPr/>
              <p:nvPr/>
            </p:nvSpPr>
            <p:spPr>
              <a:xfrm>
                <a:off x="-2722407" y="2547462"/>
                <a:ext cx="2783392" cy="1600438"/>
              </a:xfrm>
              <a:prstGeom prst="rect">
                <a:avLst/>
              </a:prstGeom>
              <a:noFill/>
            </p:spPr>
            <p:txBody>
              <a:bodyPr wrap="square" rtlCol="0">
                <a:spAutoFit/>
              </a:bodyPr>
              <a:lstStyle/>
              <a:p>
                <a:pPr marL="180975" indent="-180975">
                  <a:spcAft>
                    <a:spcPts val="600"/>
                  </a:spcAft>
                  <a:buBlip>
                    <a:blip r:embed="rId6"/>
                  </a:buBlip>
                </a:pPr>
                <a:r>
                  <a:rPr lang="en-US" altLang="ko-KR" sz="1400" dirty="0" smtClean="0">
                    <a:ln>
                      <a:solidFill>
                        <a:schemeClr val="bg1">
                          <a:alpha val="5000"/>
                        </a:schemeClr>
                      </a:solidFill>
                    </a:ln>
                    <a:latin typeface="Tahoma" pitchFamily="34" charset="0"/>
                    <a:ea typeface="Tahoma" pitchFamily="34" charset="0"/>
                    <a:cs typeface="Tahoma" pitchFamily="34" charset="0"/>
                  </a:rPr>
                  <a:t>Portail </a:t>
                </a:r>
                <a:r>
                  <a:rPr lang="en-US" altLang="ko-KR" sz="1400" dirty="0" err="1" smtClean="0">
                    <a:ln>
                      <a:solidFill>
                        <a:schemeClr val="bg1">
                          <a:alpha val="5000"/>
                        </a:schemeClr>
                      </a:solidFill>
                    </a:ln>
                    <a:latin typeface="Tahoma" pitchFamily="34" charset="0"/>
                    <a:ea typeface="Tahoma" pitchFamily="34" charset="0"/>
                    <a:cs typeface="Tahoma" pitchFamily="34" charset="0"/>
                  </a:rPr>
                  <a:t>Gov</a:t>
                </a:r>
                <a:r>
                  <a:rPr lang="en-US" altLang="ko-KR" sz="1400" dirty="0" smtClean="0">
                    <a:ln>
                      <a:solidFill>
                        <a:schemeClr val="bg1">
                          <a:alpha val="5000"/>
                        </a:schemeClr>
                      </a:solidFill>
                    </a:ln>
                    <a:latin typeface="Tahoma" pitchFamily="34" charset="0"/>
                    <a:ea typeface="Tahoma" pitchFamily="34" charset="0"/>
                    <a:cs typeface="Tahoma" pitchFamily="34" charset="0"/>
                  </a:rPr>
                  <a:t> intelligent,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Impôt domicile intelligent,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Trafic routier en temps réel,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Réservation de billets de train,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Tourisme intelligent,</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Information santé/médicaments, </a:t>
                </a:r>
                <a:r>
                  <a:rPr lang="en-US" altLang="ko-KR" sz="1400" dirty="0" err="1" smtClean="0">
                    <a:ln>
                      <a:solidFill>
                        <a:schemeClr val="bg1">
                          <a:alpha val="5000"/>
                        </a:schemeClr>
                      </a:solidFill>
                    </a:ln>
                    <a:latin typeface="Tahoma" pitchFamily="34" charset="0"/>
                    <a:ea typeface="Tahoma" pitchFamily="34" charset="0"/>
                    <a:cs typeface="Tahoma" pitchFamily="34" charset="0"/>
                  </a:rPr>
                  <a:t>etc</a:t>
                </a:r>
                <a:r>
                  <a:rPr lang="en-US" altLang="ko-KR" sz="1400" dirty="0" smtClean="0">
                    <a:ln>
                      <a:solidFill>
                        <a:schemeClr val="bg1">
                          <a:alpha val="5000"/>
                        </a:schemeClr>
                      </a:solidFill>
                    </a:ln>
                    <a:latin typeface="Tahoma" pitchFamily="34" charset="0"/>
                    <a:ea typeface="Tahoma" pitchFamily="34" charset="0"/>
                    <a:cs typeface="Tahoma" pitchFamily="34" charset="0"/>
                  </a:rPr>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 ( 1220 services , nov. 2012 )</a:t>
                </a:r>
                <a:endParaRPr lang="en-US" altLang="ko-KR" sz="1400" b="0" dirty="0" smtClean="0">
                  <a:ln>
                    <a:solidFill>
                      <a:schemeClr val="bg1">
                        <a:alpha val="5000"/>
                      </a:schemeClr>
                    </a:solidFill>
                  </a:ln>
                  <a:latin typeface="Tahoma" pitchFamily="34" charset="0"/>
                  <a:ea typeface="Tahoma" pitchFamily="34" charset="0"/>
                  <a:cs typeface="Tahoma" pitchFamily="34" charset="0"/>
                </a:endParaRPr>
              </a:p>
            </p:txBody>
          </p:sp>
        </p:grpSp>
      </p:grpSp>
      <p:sp>
        <p:nvSpPr>
          <p:cNvPr id="6" name="슬라이드 번호 개체 틀 5"/>
          <p:cNvSpPr>
            <a:spLocks noGrp="1"/>
          </p:cNvSpPr>
          <p:nvPr>
            <p:ph type="sldNum" sz="quarter" idx="12"/>
          </p:nvPr>
        </p:nvSpPr>
        <p:spPr/>
        <p:txBody>
          <a:bodyPr/>
          <a:lstStyle/>
          <a:p>
            <a:fld id="{8F563537-3992-4579-A065-26E1D23BF530}" type="slidenum">
              <a:rPr lang="ko-KR" altLang="en-US" smtClean="0"/>
              <a:pPr/>
              <a:t>23</a:t>
            </a:fld>
            <a:endParaRPr lang="ko-KR" altLang="en-US" dirty="0"/>
          </a:p>
        </p:txBody>
      </p:sp>
    </p:spTree>
    <p:extLst>
      <p:ext uri="{BB962C8B-B14F-4D97-AF65-F5344CB8AC3E}">
        <p14:creationId xmlns:p14="http://schemas.microsoft.com/office/powerpoint/2010/main" val="116851217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smtClean="0"/>
              <a:t>Conclusion</a:t>
            </a:r>
            <a:endParaRPr lang="ko-KR" altLang="en-US" dirty="0"/>
          </a:p>
        </p:txBody>
      </p:sp>
      <p:graphicFrame>
        <p:nvGraphicFramePr>
          <p:cNvPr id="6" name="내용 개체 틀 5"/>
          <p:cNvGraphicFramePr>
            <a:graphicFrameLocks noGrp="1"/>
          </p:cNvGraphicFramePr>
          <p:nvPr>
            <p:ph idx="1"/>
            <p:extLst>
              <p:ext uri="{D42A27DB-BD31-4B8C-83A1-F6EECF244321}">
                <p14:modId xmlns:p14="http://schemas.microsoft.com/office/powerpoint/2010/main" val="816825094"/>
              </p:ext>
            </p:extLst>
          </p:nvPr>
        </p:nvGraphicFramePr>
        <p:xfrm>
          <a:off x="601216" y="1556792"/>
          <a:ext cx="7859216" cy="4930864"/>
        </p:xfrm>
        <a:graphic>
          <a:graphicData uri="http://schemas.openxmlformats.org/drawingml/2006/table">
            <a:tbl>
              <a:tblPr firstRow="1" bandRow="1">
                <a:tableStyleId>{5C22544A-7EE6-4342-B048-85BDC9FD1C3A}</a:tableStyleId>
              </a:tblPr>
              <a:tblGrid>
                <a:gridCol w="1522512"/>
                <a:gridCol w="2448272"/>
                <a:gridCol w="1656184"/>
                <a:gridCol w="2232248"/>
              </a:tblGrid>
              <a:tr h="576064">
                <a:tc gridSpan="2">
                  <a:txBody>
                    <a:bodyPr/>
                    <a:lstStyle/>
                    <a:p>
                      <a:pPr latinLnBrk="1"/>
                      <a:r>
                        <a:rPr lang="en-US" altLang="ko-KR" sz="1400" dirty="0" smtClean="0"/>
                        <a:t>EU : Enablers of ICT-driven</a:t>
                      </a:r>
                      <a:r>
                        <a:rPr lang="en-US" altLang="ko-KR" sz="1400" baseline="0" dirty="0" smtClean="0"/>
                        <a:t> Public sector innovation u</a:t>
                      </a:r>
                      <a:r>
                        <a:rPr lang="en-US" altLang="ko-KR" sz="1400" dirty="0" smtClean="0"/>
                        <a:t>nder horizon</a:t>
                      </a:r>
                      <a:r>
                        <a:rPr lang="ko-KR" altLang="en-US" sz="1400" dirty="0" smtClean="0"/>
                        <a:t> </a:t>
                      </a:r>
                      <a:r>
                        <a:rPr lang="en-US" altLang="ko-KR" sz="1400" dirty="0" smtClean="0"/>
                        <a:t>2020</a:t>
                      </a:r>
                      <a:endParaRPr lang="ko-KR" altLang="en-US" sz="1400" dirty="0" smtClean="0"/>
                    </a:p>
                  </a:txBody>
                  <a:tcPr/>
                </a:tc>
                <a:tc hMerge="1">
                  <a:txBody>
                    <a:bodyPr/>
                    <a:lstStyle/>
                    <a:p>
                      <a:pPr latinLnBrk="1"/>
                      <a:endParaRPr lang="ko-KR" altLang="en-US" sz="1400" dirty="0"/>
                    </a:p>
                  </a:txBody>
                  <a:tcPr/>
                </a:tc>
                <a:tc>
                  <a:txBody>
                    <a:bodyPr/>
                    <a:lstStyle/>
                    <a:p>
                      <a:pPr latinLnBrk="1"/>
                      <a:r>
                        <a:rPr lang="en-US" altLang="ko-KR" sz="1400" dirty="0" smtClean="0"/>
                        <a:t>Korea</a:t>
                      </a:r>
                      <a:endParaRPr lang="ko-KR" altLang="en-US" sz="1400" dirty="0"/>
                    </a:p>
                  </a:txBody>
                  <a:tcPr/>
                </a:tc>
                <a:tc>
                  <a:txBody>
                    <a:bodyPr/>
                    <a:lstStyle/>
                    <a:p>
                      <a:pPr latinLnBrk="1"/>
                      <a:r>
                        <a:rPr lang="en-US" altLang="ko-KR" sz="1400" dirty="0" smtClean="0"/>
                        <a:t>Rwanda</a:t>
                      </a:r>
                      <a:endParaRPr lang="ko-KR" altLang="en-US" sz="1400" dirty="0"/>
                    </a:p>
                  </a:txBody>
                  <a:tcPr/>
                </a:tc>
              </a:tr>
              <a:tr h="370840">
                <a:tc>
                  <a:txBody>
                    <a:bodyPr/>
                    <a:lstStyle/>
                    <a:p>
                      <a:pPr latinLnBrk="1"/>
                      <a:r>
                        <a:rPr lang="en-US" altLang="ko-KR" sz="1400" dirty="0" smtClean="0"/>
                        <a:t>Infra &amp; processes</a:t>
                      </a:r>
                    </a:p>
                    <a:p>
                      <a:pPr latinLnBrk="1"/>
                      <a:endParaRPr lang="ko-KR" altLang="en-US" sz="1400" dirty="0"/>
                    </a:p>
                  </a:txBody>
                  <a:tcPr/>
                </a:tc>
                <a:tc>
                  <a:txBody>
                    <a:bodyPr/>
                    <a:lstStyle/>
                    <a:p>
                      <a:pPr latinLnBrk="1"/>
                      <a:r>
                        <a:rPr lang="en-US" altLang="ko-KR" sz="1400" dirty="0" smtClean="0"/>
                        <a:t>Cloud, EA, Methodology, PET, e-ID</a:t>
                      </a:r>
                    </a:p>
                    <a:p>
                      <a:pPr latinLnBrk="1"/>
                      <a:r>
                        <a:rPr lang="en-US" altLang="ko-KR" sz="1400" dirty="0" smtClean="0"/>
                        <a:t>SNS, API, web3.0,</a:t>
                      </a:r>
                      <a:r>
                        <a:rPr lang="en-US" altLang="ko-KR" sz="1400" baseline="0" dirty="0" smtClean="0"/>
                        <a:t> Robot</a:t>
                      </a:r>
                      <a:endParaRPr lang="ko-KR" altLang="en-US" sz="1400" dirty="0"/>
                    </a:p>
                  </a:txBody>
                  <a:tcPr/>
                </a:tc>
                <a:tc>
                  <a:txBody>
                    <a:bodyPr/>
                    <a:lstStyle/>
                    <a:p>
                      <a:pPr latinLnBrk="1"/>
                      <a:r>
                        <a:rPr lang="en-US" altLang="ko-KR" sz="1400" dirty="0" smtClean="0"/>
                        <a:t>Actively focusing on this point now</a:t>
                      </a:r>
                      <a:endParaRPr lang="ko-KR" altLang="en-US" sz="1400" dirty="0"/>
                    </a:p>
                  </a:txBody>
                  <a:tcPr/>
                </a:tc>
                <a:tc>
                  <a:txBody>
                    <a:bodyPr/>
                    <a:lstStyle/>
                    <a:p>
                      <a:pPr latinLnBrk="1"/>
                      <a:r>
                        <a:rPr lang="en-US" altLang="ko-KR" sz="1400" dirty="0" smtClean="0"/>
                        <a:t>Cloud, EA, Methodology, PET, e-ID are Critical for advanced ICT.  To build competency in this area is important</a:t>
                      </a:r>
                    </a:p>
                  </a:txBody>
                  <a:tcPr/>
                </a:tc>
              </a:tr>
              <a:tr h="370840">
                <a:tc>
                  <a:txBody>
                    <a:bodyPr/>
                    <a:lstStyle/>
                    <a:p>
                      <a:pPr latinLnBrk="1"/>
                      <a:r>
                        <a:rPr lang="en-US" altLang="ko-KR" sz="1400" dirty="0" smtClean="0"/>
                        <a:t>Open data &amp; big data</a:t>
                      </a:r>
                      <a:endParaRPr lang="en-US" altLang="ko-KR" sz="1400" dirty="0"/>
                    </a:p>
                    <a:p>
                      <a:pPr latinLnBrk="1"/>
                      <a:endParaRPr lang="en-US" altLang="ko-KR" sz="1400" dirty="0" smtClean="0"/>
                    </a:p>
                  </a:txBody>
                  <a:tcPr/>
                </a:tc>
                <a:tc>
                  <a:txBody>
                    <a:bodyPr/>
                    <a:lstStyle/>
                    <a:p>
                      <a:pPr latinLnBrk="1"/>
                      <a:r>
                        <a:rPr lang="en-US" altLang="ko-KR" sz="1400" dirty="0" smtClean="0"/>
                        <a:t>Analysis of big data and visualization</a:t>
                      </a:r>
                    </a:p>
                    <a:p>
                      <a:pPr latinLnBrk="1"/>
                      <a:r>
                        <a:rPr lang="en-US" altLang="ko-KR" sz="1400" dirty="0" smtClean="0"/>
                        <a:t>Opening public data </a:t>
                      </a:r>
                      <a:endParaRPr lang="ko-KR" altLang="en-US" sz="1400" dirty="0"/>
                    </a:p>
                  </a:txBody>
                  <a:tcPr/>
                </a:tc>
                <a:tc>
                  <a:txBody>
                    <a:bodyPr/>
                    <a:lstStyle/>
                    <a:p>
                      <a:pPr latinLnBrk="1"/>
                      <a:r>
                        <a:rPr lang="en-US" altLang="ko-KR" sz="1400" dirty="0" smtClean="0"/>
                        <a:t>Important</a:t>
                      </a:r>
                      <a:r>
                        <a:rPr lang="en-US" altLang="ko-KR" sz="1400" baseline="0" dirty="0" smtClean="0"/>
                        <a:t> emerging issues both public and private sectors </a:t>
                      </a:r>
                      <a:endParaRPr lang="ko-KR" altLang="en-US" sz="1400" dirty="0"/>
                    </a:p>
                  </a:txBody>
                  <a:tcPr/>
                </a:tc>
                <a:tc>
                  <a:txBody>
                    <a:bodyPr/>
                    <a:lstStyle/>
                    <a:p>
                      <a:pPr latinLnBrk="1"/>
                      <a:r>
                        <a:rPr lang="en-US" altLang="ko-KR" sz="1400" dirty="0" smtClean="0"/>
                        <a:t>Systematic</a:t>
                      </a:r>
                      <a:r>
                        <a:rPr lang="en-US" altLang="ko-KR" sz="1400" baseline="0" dirty="0" smtClean="0"/>
                        <a:t> accumulation of p</a:t>
                      </a:r>
                      <a:r>
                        <a:rPr lang="en-US" altLang="ko-KR" sz="1400" dirty="0" smtClean="0"/>
                        <a:t>ublic</a:t>
                      </a:r>
                      <a:r>
                        <a:rPr lang="en-US" altLang="ko-KR" sz="1400" baseline="0" dirty="0" smtClean="0"/>
                        <a:t> data and preparation of open data technology</a:t>
                      </a:r>
                      <a:endParaRPr lang="ko-KR" altLang="en-US" sz="1400" dirty="0"/>
                    </a:p>
                  </a:txBody>
                  <a:tcPr/>
                </a:tc>
              </a:tr>
              <a:tr h="370840">
                <a:tc>
                  <a:txBody>
                    <a:bodyPr/>
                    <a:lstStyle/>
                    <a:p>
                      <a:pPr latinLnBrk="1"/>
                      <a:r>
                        <a:rPr lang="en-US" altLang="ko-KR" sz="1400" dirty="0" smtClean="0"/>
                        <a:t>Policy modeling and making</a:t>
                      </a:r>
                    </a:p>
                    <a:p>
                      <a:pPr latinLnBrk="1"/>
                      <a:endParaRPr lang="ko-KR" altLang="en-US" sz="1400" dirty="0"/>
                    </a:p>
                  </a:txBody>
                  <a:tcPr/>
                </a:tc>
                <a:tc>
                  <a:txBody>
                    <a:bodyPr/>
                    <a:lstStyle/>
                    <a:p>
                      <a:pPr latinLnBrk="1"/>
                      <a:r>
                        <a:rPr lang="en-US" altLang="ko-KR" sz="1400" dirty="0" smtClean="0"/>
                        <a:t>Use of big data, mobile platform, AI to solve socio-economic issues</a:t>
                      </a:r>
                      <a:endParaRPr lang="ko-KR" altLang="en-US" sz="1400" dirty="0"/>
                    </a:p>
                  </a:txBody>
                  <a:tcPr/>
                </a:tc>
                <a:tc>
                  <a:txBody>
                    <a:bodyPr/>
                    <a:lstStyle/>
                    <a:p>
                      <a:pPr latinLnBrk="1"/>
                      <a:r>
                        <a:rPr lang="en-US" altLang="ko-KR" sz="1400" dirty="0" smtClean="0"/>
                        <a:t>Some are</a:t>
                      </a:r>
                      <a:r>
                        <a:rPr lang="en-US" altLang="ko-KR" sz="1400" baseline="0" dirty="0" smtClean="0"/>
                        <a:t> in planning and </a:t>
                      </a:r>
                      <a:endParaRPr lang="ko-KR" altLang="en-US" sz="1400" dirty="0"/>
                    </a:p>
                  </a:txBody>
                  <a:tcPr/>
                </a:tc>
                <a:tc>
                  <a:txBody>
                    <a:bodyPr/>
                    <a:lstStyle/>
                    <a:p>
                      <a:pPr latinLnBrk="1"/>
                      <a:r>
                        <a:rPr lang="en-US" altLang="ko-KR" sz="1400" dirty="0" smtClean="0"/>
                        <a:t>Research of</a:t>
                      </a:r>
                      <a:r>
                        <a:rPr lang="en-US" altLang="ko-KR" sz="1400" baseline="0" dirty="0" smtClean="0"/>
                        <a:t> p</a:t>
                      </a:r>
                      <a:r>
                        <a:rPr lang="en-US" altLang="ko-KR" sz="1400" dirty="0" smtClean="0"/>
                        <a:t>roto-type of Rwanda mobile platform</a:t>
                      </a:r>
                      <a:endParaRPr lang="ko-KR" altLang="en-US" sz="1400" dirty="0"/>
                    </a:p>
                  </a:txBody>
                  <a:tcPr/>
                </a:tc>
              </a:tr>
              <a:tr h="788640">
                <a:tc>
                  <a:txBody>
                    <a:bodyPr/>
                    <a:lstStyle/>
                    <a:p>
                      <a:pPr latinLnBrk="1"/>
                      <a:r>
                        <a:rPr lang="en-US" altLang="ko-KR" sz="1400" dirty="0" smtClean="0"/>
                        <a:t>Measurement and monitoring</a:t>
                      </a:r>
                    </a:p>
                    <a:p>
                      <a:pPr latinLnBrk="1"/>
                      <a:endParaRPr lang="ko-KR" altLang="en-US" sz="1400" dirty="0"/>
                    </a:p>
                  </a:txBody>
                  <a:tcPr/>
                </a:tc>
                <a:tc>
                  <a:txBody>
                    <a:bodyPr/>
                    <a:lstStyle/>
                    <a:p>
                      <a:pPr latinLnBrk="1"/>
                      <a:r>
                        <a:rPr lang="en-US" altLang="ko-KR" sz="1400" dirty="0" smtClean="0"/>
                        <a:t>Service performance</a:t>
                      </a:r>
                      <a:r>
                        <a:rPr lang="en-US" altLang="ko-KR" sz="1400" baseline="0" dirty="0" smtClean="0"/>
                        <a:t> </a:t>
                      </a:r>
                      <a:r>
                        <a:rPr lang="en-US" altLang="ko-KR" sz="1400" dirty="0" smtClean="0"/>
                        <a:t> measurement thru ICT tech,</a:t>
                      </a:r>
                      <a:r>
                        <a:rPr lang="en-US" altLang="ko-KR" sz="1400" baseline="0" dirty="0" smtClean="0"/>
                        <a:t> &amp; tool </a:t>
                      </a:r>
                      <a:endParaRPr lang="ko-KR" altLang="en-US" sz="1400" dirty="0"/>
                    </a:p>
                  </a:txBody>
                  <a:tcPr/>
                </a:tc>
                <a:tc>
                  <a:txBody>
                    <a:bodyPr/>
                    <a:lstStyle/>
                    <a:p>
                      <a:pPr latinLnBrk="1"/>
                      <a:r>
                        <a:rPr lang="en-US" altLang="ko-KR" sz="1400" dirty="0" smtClean="0"/>
                        <a:t>Strong emphasis on this now</a:t>
                      </a:r>
                      <a:endParaRPr lang="ko-KR" altLang="en-US" sz="1400" dirty="0"/>
                    </a:p>
                  </a:txBody>
                  <a:tcPr/>
                </a:tc>
                <a:tc>
                  <a:txBody>
                    <a:bodyPr/>
                    <a:lstStyle/>
                    <a:p>
                      <a:pPr latinLnBrk="1"/>
                      <a:r>
                        <a:rPr lang="en-US" altLang="ko-KR" sz="1400" dirty="0" smtClean="0"/>
                        <a:t>Not yet, but preparation of  structure</a:t>
                      </a:r>
                      <a:endParaRPr lang="ko-KR" altLang="en-US" sz="1400" dirty="0"/>
                    </a:p>
                  </a:txBody>
                  <a:tcPr/>
                </a:tc>
              </a:tr>
              <a:tr h="370840">
                <a:tc>
                  <a:txBody>
                    <a:bodyPr/>
                    <a:lstStyle/>
                    <a:p>
                      <a:pPr latinLnBrk="1"/>
                      <a:r>
                        <a:rPr lang="en-US" altLang="ko-KR" sz="1400" dirty="0" smtClean="0"/>
                        <a:t>Civil</a:t>
                      </a:r>
                      <a:r>
                        <a:rPr lang="en-US" altLang="ko-KR" sz="1400" baseline="0" dirty="0" smtClean="0"/>
                        <a:t> servants &amp; working practices</a:t>
                      </a:r>
                      <a:endParaRPr lang="en-US" altLang="ko-KR" sz="1400" dirty="0" smtClean="0"/>
                    </a:p>
                  </a:txBody>
                  <a:tcPr/>
                </a:tc>
                <a:tc>
                  <a:txBody>
                    <a:bodyPr/>
                    <a:lstStyle/>
                    <a:p>
                      <a:pPr latinLnBrk="1"/>
                      <a:r>
                        <a:rPr lang="en-US" altLang="ko-KR" sz="1400" dirty="0" smtClean="0"/>
                        <a:t>Cultural change</a:t>
                      </a:r>
                    </a:p>
                    <a:p>
                      <a:pPr latinLnBrk="1"/>
                      <a:r>
                        <a:rPr lang="en-US" altLang="ko-KR" sz="1400" dirty="0" smtClean="0"/>
                        <a:t>ICT skill, problem solving &amp; collaboration , service mind</a:t>
                      </a:r>
                      <a:endParaRPr lang="ko-KR" altLang="en-US" sz="1400" dirty="0"/>
                    </a:p>
                  </a:txBody>
                  <a:tcPr/>
                </a:tc>
                <a:tc>
                  <a:txBody>
                    <a:bodyPr/>
                    <a:lstStyle/>
                    <a:p>
                      <a:pPr latinLnBrk="1"/>
                      <a:r>
                        <a:rPr lang="en-US" altLang="ko-KR" sz="1400" dirty="0" smtClean="0"/>
                        <a:t>Same and focal</a:t>
                      </a:r>
                      <a:r>
                        <a:rPr lang="en-US" altLang="ko-KR" sz="1400" baseline="0" dirty="0" smtClean="0"/>
                        <a:t> </a:t>
                      </a:r>
                    </a:p>
                    <a:p>
                      <a:pPr latinLnBrk="1"/>
                      <a:r>
                        <a:rPr lang="en-US" altLang="ko-KR" sz="1400" baseline="0" dirty="0" smtClean="0"/>
                        <a:t>point</a:t>
                      </a:r>
                      <a:endParaRPr lang="ko-KR" altLang="en-US" sz="1400" dirty="0"/>
                    </a:p>
                  </a:txBody>
                  <a:tcPr/>
                </a:tc>
                <a:tc>
                  <a:txBody>
                    <a:bodyPr/>
                    <a:lstStyle/>
                    <a:p>
                      <a:pPr latinLnBrk="1"/>
                      <a:r>
                        <a:rPr lang="en-US" altLang="ko-KR" sz="1400" dirty="0" smtClean="0"/>
                        <a:t>Same and focal</a:t>
                      </a:r>
                      <a:r>
                        <a:rPr lang="en-US" altLang="ko-KR" sz="1400" baseline="0" dirty="0" smtClean="0"/>
                        <a:t> point</a:t>
                      </a:r>
                      <a:endParaRPr lang="ko-KR" altLang="en-US" sz="1400" dirty="0" smtClean="0"/>
                    </a:p>
                    <a:p>
                      <a:pPr latinLnBrk="1"/>
                      <a:endParaRPr lang="ko-KR" altLang="en-US" sz="1400" dirty="0"/>
                    </a:p>
                  </a:txBody>
                  <a:tcPr/>
                </a:tc>
              </a:tr>
            </a:tbl>
          </a:graphicData>
        </a:graphic>
      </p:graphicFrame>
      <p:sp>
        <p:nvSpPr>
          <p:cNvPr id="4" name="슬라이드 번호 개체 틀 3"/>
          <p:cNvSpPr>
            <a:spLocks noGrp="1"/>
          </p:cNvSpPr>
          <p:nvPr>
            <p:ph type="sldNum" sz="quarter" idx="12"/>
          </p:nvPr>
        </p:nvSpPr>
        <p:spPr/>
        <p:txBody>
          <a:bodyPr/>
          <a:lstStyle/>
          <a:p>
            <a:fld id="{8F563537-3992-4579-A065-26E1D23BF530}" type="slidenum">
              <a:rPr lang="ko-KR" altLang="en-US" smtClean="0"/>
              <a:pPr/>
              <a:t>24</a:t>
            </a:fld>
            <a:endParaRPr lang="ko-KR" altLang="en-US"/>
          </a:p>
        </p:txBody>
      </p:sp>
    </p:spTree>
    <p:extLst>
      <p:ext uri="{BB962C8B-B14F-4D97-AF65-F5344CB8AC3E}">
        <p14:creationId xmlns:p14="http://schemas.microsoft.com/office/powerpoint/2010/main" val="2827692594"/>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디자인 사용자 지정">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디자인 사용자 지정">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2064</TotalTime>
  <Words>3124</Words>
  <Application>Microsoft Office PowerPoint</Application>
  <PresentationFormat>화면 슬라이드 쇼(4:3)</PresentationFormat>
  <Paragraphs>647</Paragraphs>
  <Slides>24</Slides>
  <Notes>24</Notes>
  <HiddenSlides>0</HiddenSlides>
  <MMClips>0</MMClips>
  <ScaleCrop>false</ScaleCrop>
  <HeadingPairs>
    <vt:vector size="4" baseType="variant">
      <vt:variant>
        <vt:lpstr>테마</vt:lpstr>
      </vt:variant>
      <vt:variant>
        <vt:i4>3</vt:i4>
      </vt:variant>
      <vt:variant>
        <vt:lpstr>슬라이드 제목</vt:lpstr>
      </vt:variant>
      <vt:variant>
        <vt:i4>24</vt:i4>
      </vt:variant>
    </vt:vector>
  </HeadingPairs>
  <TitlesOfParts>
    <vt:vector size="27" baseType="lpstr">
      <vt:lpstr>Office 테마</vt:lpstr>
      <vt:lpstr>1_디자인 사용자 지정</vt:lpstr>
      <vt:lpstr>디자인 사용자 지정</vt:lpstr>
      <vt:lpstr>Smart Enablers in Korea</vt:lpstr>
      <vt:lpstr>IT and Nat’ l Development : Past-Present-Future</vt:lpstr>
      <vt:lpstr>Rankings in Global IT Surveys</vt:lpstr>
      <vt:lpstr>Current status of Korea’s e-Government </vt:lpstr>
      <vt:lpstr>Best practices of Korea’s e-Government(1)</vt:lpstr>
      <vt:lpstr>Best practices of Korea’s e-Government(2)</vt:lpstr>
      <vt:lpstr>Success factors of Korean  e-Government</vt:lpstr>
      <vt:lpstr>Success factors of Korean  e-Government</vt:lpstr>
      <vt:lpstr>Strategic ICT Enablers</vt:lpstr>
      <vt:lpstr>IT Status , South Korea</vt:lpstr>
      <vt:lpstr>Success factors of  Korea’s IT infrastructure</vt:lpstr>
      <vt:lpstr>PowerPoint 프레젠테이션</vt:lpstr>
      <vt:lpstr>Implementation of Open Data Policy </vt:lpstr>
      <vt:lpstr>Government-wide Enterprise Architecture</vt:lpstr>
      <vt:lpstr>Government Enterprise Architecture portal (GEAP)</vt:lpstr>
      <vt:lpstr>Collaboration and Integration  of Government services via GEA</vt:lpstr>
      <vt:lpstr>Vision of eGovFrame</vt:lpstr>
      <vt:lpstr>Platform approach with multi- benefits for ICT project </vt:lpstr>
      <vt:lpstr>Applied cases of Mobile features </vt:lpstr>
      <vt:lpstr>The Emergence of Smart Age</vt:lpstr>
      <vt:lpstr>Towards Smart Government in South Korea</vt:lpstr>
      <vt:lpstr>Emergence of Smart Age and the New Role of IT</vt:lpstr>
      <vt:lpstr>Realization of Smart-Government</vt:lpstr>
      <vt:lpstr>Conclusion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choiwi</dc:creator>
  <cp:lastModifiedBy>choiwi</cp:lastModifiedBy>
  <cp:revision>91</cp:revision>
  <cp:lastPrinted>2013-06-13T07:55:23Z</cp:lastPrinted>
  <dcterms:created xsi:type="dcterms:W3CDTF">2013-06-04T09:01:06Z</dcterms:created>
  <dcterms:modified xsi:type="dcterms:W3CDTF">2013-06-16T17:37:58Z</dcterms:modified>
</cp:coreProperties>
</file>