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4" r:id="rId2"/>
    <p:sldMasterId id="2147483662" r:id="rId3"/>
  </p:sldMasterIdLst>
  <p:notesMasterIdLst>
    <p:notesMasterId r:id="rId28"/>
  </p:notesMasterIdLst>
  <p:handoutMasterIdLst>
    <p:handoutMasterId r:id="rId29"/>
  </p:handoutMasterIdLst>
  <p:sldIdLst>
    <p:sldId id="256" r:id="rId4"/>
    <p:sldId id="265" r:id="rId5"/>
    <p:sldId id="296" r:id="rId6"/>
    <p:sldId id="303" r:id="rId7"/>
    <p:sldId id="304" r:id="rId8"/>
    <p:sldId id="305" r:id="rId9"/>
    <p:sldId id="298" r:id="rId10"/>
    <p:sldId id="306" r:id="rId11"/>
    <p:sldId id="284" r:id="rId12"/>
    <p:sldId id="295" r:id="rId13"/>
    <p:sldId id="288" r:id="rId14"/>
    <p:sldId id="301" r:id="rId15"/>
    <p:sldId id="292" r:id="rId16"/>
    <p:sldId id="291" r:id="rId17"/>
    <p:sldId id="293" r:id="rId18"/>
    <p:sldId id="294" r:id="rId19"/>
    <p:sldId id="257" r:id="rId20"/>
    <p:sldId id="310" r:id="rId21"/>
    <p:sldId id="307" r:id="rId22"/>
    <p:sldId id="264" r:id="rId23"/>
    <p:sldId id="297" r:id="rId24"/>
    <p:sldId id="263" r:id="rId25"/>
    <p:sldId id="258" r:id="rId26"/>
    <p:sldId id="309" r:id="rId27"/>
  </p:sldIdLst>
  <p:sldSz cx="9144000" cy="6858000" type="screen4x3"/>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74555" autoAdjust="0"/>
  </p:normalViewPr>
  <p:slideViewPr>
    <p:cSldViewPr>
      <p:cViewPr>
        <p:scale>
          <a:sx n="80" d="100"/>
          <a:sy n="80" d="100"/>
        </p:scale>
        <p:origin x="-226" y="1594"/>
      </p:cViewPr>
      <p:guideLst>
        <p:guide orient="horz" pos="2160"/>
        <p:guide pos="2880"/>
      </p:guideLst>
    </p:cSldViewPr>
  </p:slideViewPr>
  <p:notesTextViewPr>
    <p:cViewPr>
      <p:scale>
        <a:sx n="1" d="1"/>
        <a:sy n="1" d="1"/>
      </p:scale>
      <p:origin x="0" y="0"/>
    </p:cViewPr>
  </p:notesTextViewPr>
  <p:sorterViewPr>
    <p:cViewPr>
      <p:scale>
        <a:sx n="55" d="100"/>
        <a:sy n="55" d="100"/>
      </p:scale>
      <p:origin x="0" y="0"/>
    </p:cViewPr>
  </p:sorterViewPr>
  <p:notesViewPr>
    <p:cSldViewPr>
      <p:cViewPr>
        <p:scale>
          <a:sx n="95" d="100"/>
          <a:sy n="95" d="100"/>
        </p:scale>
        <p:origin x="-994" y="181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899958FA-D017-4AC0-ABD0-3052F2B97BE8}" type="datetimeFigureOut">
              <a:rPr lang="ko-KR" altLang="en-US" smtClean="0"/>
              <a:pPr/>
              <a:t>2013-06-16</a:t>
            </a:fld>
            <a:endParaRPr lang="ko-KR" altLang="en-US"/>
          </a:p>
        </p:txBody>
      </p:sp>
      <p:sp>
        <p:nvSpPr>
          <p:cNvPr id="4" name="바닥글 개체 틀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5E3F59E1-8BD4-472C-B5F6-5770A6FD8479}" type="slidenum">
              <a:rPr lang="ko-KR" altLang="en-US" smtClean="0"/>
              <a:pPr/>
              <a:t>‹#›</a:t>
            </a:fld>
            <a:endParaRPr lang="ko-KR" altLang="en-US"/>
          </a:p>
        </p:txBody>
      </p:sp>
    </p:spTree>
    <p:extLst>
      <p:ext uri="{BB962C8B-B14F-4D97-AF65-F5344CB8AC3E}">
        <p14:creationId xmlns:p14="http://schemas.microsoft.com/office/powerpoint/2010/main" val="3973838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B90870B4-24A4-47E0-AB99-14FFCFEB0E15}" type="datetimeFigureOut">
              <a:rPr lang="ko-KR" altLang="en-US" smtClean="0"/>
              <a:pPr/>
              <a:t>2013-06-16</a:t>
            </a:fld>
            <a:endParaRPr lang="ko-KR" altLang="en-US"/>
          </a:p>
        </p:txBody>
      </p:sp>
      <p:sp>
        <p:nvSpPr>
          <p:cNvPr id="4" name="슬라이드 이미지 개체 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3DDB83D-7BDD-4132-91FF-D092BCD2E66F}" type="slidenum">
              <a:rPr lang="ko-KR" altLang="en-US" smtClean="0"/>
              <a:pPr/>
              <a:t>‹#›</a:t>
            </a:fld>
            <a:endParaRPr lang="ko-KR" altLang="en-US"/>
          </a:p>
        </p:txBody>
      </p:sp>
    </p:spTree>
    <p:extLst>
      <p:ext uri="{BB962C8B-B14F-4D97-AF65-F5344CB8AC3E}">
        <p14:creationId xmlns:p14="http://schemas.microsoft.com/office/powerpoint/2010/main" val="225154843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bwMode="auto"/>
        <p:txBody>
          <a:bodyPr/>
          <a:lstStyle/>
          <a:p>
            <a:pPr>
              <a:spcBef>
                <a:spcPct val="0"/>
              </a:spcBef>
            </a:pPr>
            <a:r>
              <a:rPr lang="en-US" altLang="ko-KR" dirty="0" err="1">
                <a:latin typeface="+mn-ea"/>
                <a:cs typeface="Arial" pitchFamily="34" charset="0"/>
              </a:rPr>
              <a:t>Excellencies</a:t>
            </a:r>
            <a:r>
              <a:rPr lang="en-US" altLang="ko-KR" dirty="0">
                <a:latin typeface="+mn-ea"/>
                <a:cs typeface="Arial" pitchFamily="34" charset="0"/>
              </a:rPr>
              <a:t>,</a:t>
            </a:r>
          </a:p>
          <a:p>
            <a:pPr>
              <a:spcBef>
                <a:spcPct val="0"/>
              </a:spcBef>
            </a:pPr>
            <a:r>
              <a:rPr lang="en-US" altLang="ko-KR" dirty="0">
                <a:latin typeface="+mn-ea"/>
                <a:cs typeface="Arial" pitchFamily="34" charset="0"/>
              </a:rPr>
              <a:t>Distinguished guests, </a:t>
            </a:r>
          </a:p>
          <a:p>
            <a:pPr>
              <a:spcBef>
                <a:spcPct val="0"/>
              </a:spcBef>
            </a:pPr>
            <a:r>
              <a:rPr lang="en-US" altLang="ko-KR" dirty="0">
                <a:latin typeface="+mn-ea"/>
                <a:cs typeface="Arial" pitchFamily="34" charset="0"/>
              </a:rPr>
              <a:t>Ladies and gentlemen,</a:t>
            </a:r>
          </a:p>
          <a:p>
            <a:endParaRPr lang="en-US" altLang="ko-KR" dirty="0" smtClean="0"/>
          </a:p>
          <a:p>
            <a:r>
              <a:rPr lang="en-US" altLang="ko-KR" dirty="0" smtClean="0"/>
              <a:t>It is a great honor for me to share our experience with you and work together for the rapid economic growth and reduction of poverty rate through smart ICT solution. </a:t>
            </a:r>
          </a:p>
          <a:p>
            <a:r>
              <a:rPr lang="en-US" altLang="ko-KR" dirty="0" smtClean="0"/>
              <a:t>Due to the time constraint my presentation will be very condensed, however I’ll try to deliver the focal points from my presentation.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a:t>
            </a:fld>
            <a:endParaRPr lang="ko-KR" altLang="en-US"/>
          </a:p>
        </p:txBody>
      </p:sp>
    </p:spTree>
    <p:extLst>
      <p:ext uri="{BB962C8B-B14F-4D97-AF65-F5344CB8AC3E}">
        <p14:creationId xmlns:p14="http://schemas.microsoft.com/office/powerpoint/2010/main" val="356783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sz="1200" i="0" dirty="0" smtClean="0">
                <a:latin typeface="맑은 고딕" pitchFamily="50" charset="-127"/>
                <a:ea typeface="맑은 고딕" pitchFamily="50" charset="-127"/>
              </a:rPr>
              <a:t>To bring more benefits at the dawn of the smart revolution, we now need a new paradigm for another ICT revolution.</a:t>
            </a:r>
          </a:p>
          <a:p>
            <a:pPr>
              <a:spcBef>
                <a:spcPct val="0"/>
              </a:spcBef>
            </a:pPr>
            <a:endParaRPr lang="en-US" altLang="ko-KR" sz="1200" i="0" dirty="0" smtClean="0">
              <a:latin typeface="맑은 고딕" pitchFamily="50" charset="-127"/>
              <a:ea typeface="맑은 고딕" pitchFamily="50" charset="-127"/>
            </a:endParaRPr>
          </a:p>
          <a:p>
            <a:pPr>
              <a:spcBef>
                <a:spcPct val="0"/>
              </a:spcBef>
            </a:pPr>
            <a:r>
              <a:rPr lang="en-US" altLang="ko-KR" sz="1200" i="0" dirty="0" smtClean="0">
                <a:latin typeface="맑은 고딕" pitchFamily="50" charset="-127"/>
                <a:ea typeface="맑은 고딕" pitchFamily="50" charset="-127"/>
              </a:rPr>
              <a:t>Quantum leap necessitate the correct review of current situation and robust foundation require in each ICT development stage. That is why we benchmark advanced cases.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2</a:t>
            </a:fld>
            <a:endParaRPr lang="ko-KR" altLang="en-US"/>
          </a:p>
        </p:txBody>
      </p:sp>
    </p:spTree>
    <p:extLst>
      <p:ext uri="{BB962C8B-B14F-4D97-AF65-F5344CB8AC3E}">
        <p14:creationId xmlns:p14="http://schemas.microsoft.com/office/powerpoint/2010/main" val="4262313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aseline="0" dirty="0" smtClean="0"/>
              <a:t>The status of South Korea is that it is ranked at or near the top in several Global IT surveys in both the public and private sectors.</a:t>
            </a:r>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3</a:t>
            </a:fld>
            <a:endParaRPr lang="en-US" altLang="ko-KR"/>
          </a:p>
        </p:txBody>
      </p:sp>
    </p:spTree>
    <p:extLst>
      <p:ext uri="{BB962C8B-B14F-4D97-AF65-F5344CB8AC3E}">
        <p14:creationId xmlns:p14="http://schemas.microsoft.com/office/powerpoint/2010/main" val="2344730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dirty="0" smtClean="0">
                <a:latin typeface="Arial" pitchFamily="34" charset="0"/>
                <a:cs typeface="Arial" pitchFamily="34" charset="0"/>
              </a:rPr>
              <a:t>This slide explains </a:t>
            </a:r>
            <a:r>
              <a:rPr lang="en-US" altLang="ko-KR" b="1" dirty="0" smtClean="0">
                <a:latin typeface="Arial" pitchFamily="34" charset="0"/>
                <a:cs typeface="Arial" pitchFamily="34" charset="0"/>
              </a:rPr>
              <a:t>the different stages of e-Government development</a:t>
            </a:r>
            <a:r>
              <a:rPr lang="en-US" altLang="ko-KR" dirty="0" smtClean="0">
                <a:latin typeface="Arial" pitchFamily="34" charset="0"/>
                <a:cs typeface="Arial" pitchFamily="34" charset="0"/>
              </a:rPr>
              <a:t>  and </a:t>
            </a:r>
            <a:r>
              <a:rPr lang="en-US" altLang="ko-KR" b="1" dirty="0" smtClean="0">
                <a:latin typeface="Arial" pitchFamily="34" charset="0"/>
                <a:cs typeface="Arial" pitchFamily="34" charset="0"/>
              </a:rPr>
              <a:t>current status of Korea</a:t>
            </a:r>
            <a:r>
              <a:rPr lang="en-US" altLang="ko-KR" dirty="0" smtClean="0">
                <a:latin typeface="Arial" pitchFamily="34" charset="0"/>
                <a:cs typeface="Arial" pitchFamily="34" charset="0"/>
              </a:rPr>
              <a:t>.</a:t>
            </a:r>
          </a:p>
          <a:p>
            <a:pPr>
              <a:spcBef>
                <a:spcPct val="0"/>
              </a:spcBef>
            </a:pPr>
            <a:endParaRPr lang="en-US" altLang="ko-KR" dirty="0" smtClean="0">
              <a:latin typeface="Arial" pitchFamily="34" charset="0"/>
              <a:cs typeface="Arial" pitchFamily="34" charset="0"/>
            </a:endParaRPr>
          </a:p>
          <a:p>
            <a:pPr>
              <a:spcBef>
                <a:spcPct val="0"/>
              </a:spcBef>
            </a:pPr>
            <a:r>
              <a:rPr lang="en-US" altLang="ko-KR" dirty="0" smtClean="0">
                <a:latin typeface="Arial" pitchFamily="34" charset="0"/>
                <a:cs typeface="Arial" pitchFamily="34" charset="0"/>
              </a:rPr>
              <a:t>According to a UN report, the Korean Government has completed Level 3 and is advancing on to Level 4. </a:t>
            </a:r>
          </a:p>
          <a:p>
            <a:pPr>
              <a:spcBef>
                <a:spcPct val="0"/>
              </a:spcBef>
            </a:pPr>
            <a:endParaRPr lang="en-US" altLang="ko-KR" dirty="0" smtClean="0">
              <a:latin typeface="Arial" pitchFamily="34" charset="0"/>
              <a:cs typeface="Arial" pitchFamily="34" charset="0"/>
            </a:endParaRPr>
          </a:p>
          <a:p>
            <a:pPr>
              <a:spcBef>
                <a:spcPct val="0"/>
              </a:spcBef>
            </a:pPr>
            <a:r>
              <a:rPr lang="en-US" altLang="ko-KR" dirty="0" smtClean="0">
                <a:latin typeface="Arial" pitchFamily="34" charset="0"/>
                <a:cs typeface="Arial" pitchFamily="34" charset="0"/>
              </a:rPr>
              <a:t>At present, Korea has achieved </a:t>
            </a:r>
            <a:r>
              <a:rPr lang="en-US" altLang="ko-KR" b="1" dirty="0" smtClean="0">
                <a:latin typeface="Arial" pitchFamily="34" charset="0"/>
                <a:cs typeface="Arial" pitchFamily="34" charset="0"/>
              </a:rPr>
              <a:t>62% of the Level 4</a:t>
            </a:r>
            <a:r>
              <a:rPr lang="en-US" altLang="ko-KR" dirty="0" smtClean="0">
                <a:latin typeface="Arial" pitchFamily="34" charset="0"/>
                <a:cs typeface="Arial" pitchFamily="34" charset="0"/>
              </a:rPr>
              <a:t> stage.</a:t>
            </a:r>
          </a:p>
          <a:p>
            <a:pPr>
              <a:spcBef>
                <a:spcPct val="0"/>
              </a:spcBef>
            </a:pPr>
            <a:endParaRPr lang="en-US" altLang="ko-KR" dirty="0" smtClean="0">
              <a:latin typeface="Arial" pitchFamily="34" charset="0"/>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4</a:t>
            </a:fld>
            <a:endParaRPr lang="ko-KR" altLang="en-US"/>
          </a:p>
        </p:txBody>
      </p:sp>
    </p:spTree>
    <p:extLst>
      <p:ext uri="{BB962C8B-B14F-4D97-AF65-F5344CB8AC3E}">
        <p14:creationId xmlns:p14="http://schemas.microsoft.com/office/powerpoint/2010/main" val="1693301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dirty="0">
                <a:latin typeface="Arial" pitchFamily="34" charset="0"/>
                <a:cs typeface="Arial" pitchFamily="34" charset="0"/>
              </a:rPr>
              <a:t>This slide shows </a:t>
            </a:r>
            <a:r>
              <a:rPr lang="en-US" altLang="ko-KR" b="1" dirty="0">
                <a:latin typeface="Arial" pitchFamily="34" charset="0"/>
                <a:cs typeface="Arial" pitchFamily="34" charset="0"/>
              </a:rPr>
              <a:t>Korea’s best e-Government systems</a:t>
            </a:r>
            <a:r>
              <a:rPr lang="en-US" altLang="ko-KR" dirty="0">
                <a:latin typeface="Arial" pitchFamily="34" charset="0"/>
                <a:cs typeface="Arial" pitchFamily="34" charset="0"/>
              </a:rPr>
              <a:t>, that are </a:t>
            </a:r>
            <a:r>
              <a:rPr lang="en-US" altLang="ko-KR" b="1" dirty="0">
                <a:latin typeface="Arial" pitchFamily="34" charset="0"/>
                <a:cs typeface="Arial" pitchFamily="34" charset="0"/>
              </a:rPr>
              <a:t>widely recognized and exported</a:t>
            </a:r>
            <a:r>
              <a:rPr lang="en-US" altLang="ko-KR" dirty="0">
                <a:latin typeface="Arial" pitchFamily="34" charset="0"/>
                <a:cs typeface="Arial" pitchFamily="34" charset="0"/>
              </a:rPr>
              <a:t>  worldwide. </a:t>
            </a:r>
          </a:p>
          <a:p>
            <a:pPr>
              <a:spcBef>
                <a:spcPct val="0"/>
              </a:spcBef>
            </a:pPr>
            <a:endParaRPr lang="en-US" altLang="ko-KR" dirty="0">
              <a:latin typeface="Arial" pitchFamily="34" charset="0"/>
              <a:cs typeface="Arial" pitchFamily="34" charset="0"/>
            </a:endParaRPr>
          </a:p>
          <a:p>
            <a:pPr>
              <a:spcBef>
                <a:spcPct val="0"/>
              </a:spcBef>
            </a:pPr>
            <a:r>
              <a:rPr lang="en-US" altLang="ko-KR" dirty="0">
                <a:latin typeface="Arial" pitchFamily="34" charset="0"/>
                <a:cs typeface="Arial" pitchFamily="34" charset="0"/>
              </a:rPr>
              <a:t>Among them, </a:t>
            </a:r>
            <a:r>
              <a:rPr lang="en-US" altLang="ko-KR" b="1" dirty="0">
                <a:latin typeface="Arial" pitchFamily="34" charset="0"/>
                <a:cs typeface="Arial" pitchFamily="34" charset="0"/>
              </a:rPr>
              <a:t>Online Civil Service Portal, </a:t>
            </a:r>
            <a:r>
              <a:rPr lang="en-US" altLang="ko-KR" dirty="0">
                <a:latin typeface="Arial" pitchFamily="34" charset="0"/>
                <a:cs typeface="Arial" pitchFamily="34" charset="0"/>
              </a:rPr>
              <a:t>called Minwon24, and </a:t>
            </a:r>
            <a:r>
              <a:rPr lang="en-US" altLang="ko-KR" b="1" dirty="0">
                <a:latin typeface="Arial" pitchFamily="34" charset="0"/>
                <a:cs typeface="Arial" pitchFamily="34" charset="0"/>
              </a:rPr>
              <a:t>Korea National e-Procurement System</a:t>
            </a:r>
            <a:r>
              <a:rPr lang="en-US" altLang="ko-KR" dirty="0">
                <a:latin typeface="Arial" pitchFamily="34" charset="0"/>
                <a:cs typeface="Arial" pitchFamily="34" charset="0"/>
              </a:rPr>
              <a:t> called KONEPS,</a:t>
            </a:r>
          </a:p>
          <a:p>
            <a:pPr>
              <a:spcBef>
                <a:spcPct val="0"/>
              </a:spcBef>
            </a:pPr>
            <a:r>
              <a:rPr lang="en-US" altLang="ko-KR" b="1" dirty="0">
                <a:latin typeface="Arial" pitchFamily="34" charset="0"/>
                <a:cs typeface="Arial" pitchFamily="34" charset="0"/>
              </a:rPr>
              <a:t>Immigration Smart Service</a:t>
            </a:r>
            <a:r>
              <a:rPr lang="en-US" altLang="ko-KR" dirty="0">
                <a:latin typeface="Arial" pitchFamily="34" charset="0"/>
                <a:cs typeface="Arial" pitchFamily="34" charset="0"/>
              </a:rPr>
              <a:t>, were cited in various reports and also awarded by international organizations.</a:t>
            </a: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5</a:t>
            </a:fld>
            <a:endParaRPr lang="ko-KR" altLang="en-US"/>
          </a:p>
        </p:txBody>
      </p:sp>
    </p:spTree>
    <p:extLst>
      <p:ext uri="{BB962C8B-B14F-4D97-AF65-F5344CB8AC3E}">
        <p14:creationId xmlns:p14="http://schemas.microsoft.com/office/powerpoint/2010/main" val="427740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fontAlgn="auto">
              <a:spcBef>
                <a:spcPts val="0"/>
              </a:spcBef>
              <a:spcAft>
                <a:spcPts val="0"/>
              </a:spcAft>
              <a:defRPr/>
            </a:pPr>
            <a:r>
              <a:rPr lang="en-US" altLang="ko-KR" dirty="0">
                <a:latin typeface="Arial" pitchFamily="34" charset="0"/>
                <a:cs typeface="Arial" pitchFamily="34" charset="0"/>
              </a:rPr>
              <a:t>Continuing on </a:t>
            </a:r>
            <a:r>
              <a:rPr lang="en-US" altLang="ko-KR" b="1" dirty="0">
                <a:latin typeface="Arial" pitchFamily="34" charset="0"/>
                <a:cs typeface="Arial" pitchFamily="34" charset="0"/>
              </a:rPr>
              <a:t>Best Practices</a:t>
            </a:r>
            <a:r>
              <a:rPr lang="en-US" altLang="ko-KR" dirty="0">
                <a:latin typeface="Arial" pitchFamily="34" charset="0"/>
                <a:cs typeface="Arial" pitchFamily="34" charset="0"/>
              </a:rPr>
              <a:t>, I would like to highlight: </a:t>
            </a:r>
          </a:p>
          <a:p>
            <a:pPr fontAlgn="auto">
              <a:spcBef>
                <a:spcPts val="0"/>
              </a:spcBef>
              <a:spcAft>
                <a:spcPts val="0"/>
              </a:spcAft>
              <a:defRPr/>
            </a:pPr>
            <a:endParaRPr lang="en-US" altLang="ko-KR" dirty="0">
              <a:latin typeface="Arial" pitchFamily="34" charset="0"/>
              <a:cs typeface="Arial" pitchFamily="34" charset="0"/>
            </a:endParaRPr>
          </a:p>
          <a:p>
            <a:pPr fontAlgn="auto">
              <a:spcBef>
                <a:spcPts val="0"/>
              </a:spcBef>
              <a:spcAft>
                <a:spcPts val="0"/>
              </a:spcAft>
              <a:buFontTx/>
              <a:buChar char="-"/>
              <a:defRPr/>
            </a:pPr>
            <a:r>
              <a:rPr lang="en-US" altLang="ko-KR" b="1" dirty="0">
                <a:latin typeface="Arial" pitchFamily="34" charset="0"/>
                <a:cs typeface="Arial" pitchFamily="34" charset="0"/>
              </a:rPr>
              <a:t>NCIA (the Korean government’s Integrated Data Center)</a:t>
            </a:r>
            <a:r>
              <a:rPr lang="en-US" altLang="ko-KR" dirty="0">
                <a:latin typeface="Arial" pitchFamily="34" charset="0"/>
                <a:cs typeface="Arial" pitchFamily="34" charset="0"/>
              </a:rPr>
              <a:t>, which integrated 47 government agencies’ information systems </a:t>
            </a:r>
            <a:r>
              <a:rPr lang="en-US" altLang="ko-KR" dirty="0" smtClean="0">
                <a:latin typeface="Arial" pitchFamily="34" charset="0"/>
                <a:cs typeface="Arial" pitchFamily="34" charset="0"/>
              </a:rPr>
              <a:t> in </a:t>
            </a:r>
            <a:r>
              <a:rPr lang="en-US" altLang="ko-KR" dirty="0">
                <a:latin typeface="Arial" pitchFamily="34" charset="0"/>
                <a:cs typeface="Arial" pitchFamily="34" charset="0"/>
              </a:rPr>
              <a:t>order to consolidate and manage information security of governmental data, </a:t>
            </a:r>
          </a:p>
          <a:p>
            <a:pPr fontAlgn="auto">
              <a:spcBef>
                <a:spcPts val="0"/>
              </a:spcBef>
              <a:spcAft>
                <a:spcPts val="0"/>
              </a:spcAft>
              <a:buFontTx/>
              <a:buChar char="-"/>
              <a:defRPr/>
            </a:pPr>
            <a:endParaRPr lang="en-US" altLang="ko-KR" dirty="0">
              <a:latin typeface="Arial" pitchFamily="34" charset="0"/>
              <a:cs typeface="Arial" pitchFamily="34" charset="0"/>
            </a:endParaRPr>
          </a:p>
          <a:p>
            <a:pPr fontAlgn="auto">
              <a:spcBef>
                <a:spcPts val="0"/>
              </a:spcBef>
              <a:spcAft>
                <a:spcPts val="0"/>
              </a:spcAft>
              <a:buFontTx/>
              <a:buNone/>
              <a:defRPr/>
            </a:pPr>
            <a:r>
              <a:rPr lang="en-US" altLang="ko-KR" dirty="0">
                <a:latin typeface="Arial" pitchFamily="34" charset="0"/>
                <a:cs typeface="Arial" pitchFamily="34" charset="0"/>
              </a:rPr>
              <a:t>And, </a:t>
            </a:r>
          </a:p>
          <a:p>
            <a:pPr fontAlgn="auto">
              <a:spcBef>
                <a:spcPts val="0"/>
              </a:spcBef>
              <a:spcAft>
                <a:spcPts val="0"/>
              </a:spcAft>
              <a:buFontTx/>
              <a:buNone/>
              <a:defRPr/>
            </a:pPr>
            <a:endParaRPr lang="en-US" altLang="ko-KR" dirty="0">
              <a:latin typeface="Arial" pitchFamily="34" charset="0"/>
              <a:cs typeface="Arial" pitchFamily="34" charset="0"/>
            </a:endParaRPr>
          </a:p>
          <a:p>
            <a:pPr marL="171450" indent="-171450" fontAlgn="auto">
              <a:spcBef>
                <a:spcPts val="0"/>
              </a:spcBef>
              <a:spcAft>
                <a:spcPts val="0"/>
              </a:spcAft>
              <a:buFontTx/>
              <a:buChar char="-"/>
              <a:defRPr/>
            </a:pPr>
            <a:r>
              <a:rPr lang="en-US" altLang="ko-KR" b="1" dirty="0">
                <a:latin typeface="Arial" pitchFamily="34" charset="0"/>
                <a:cs typeface="Arial" pitchFamily="34" charset="0"/>
              </a:rPr>
              <a:t>Public Information Sharing Center , </a:t>
            </a:r>
            <a:r>
              <a:rPr lang="en-US" altLang="ko-KR" dirty="0">
                <a:latin typeface="Arial" pitchFamily="34" charset="0"/>
                <a:cs typeface="Arial" pitchFamily="34" charset="0"/>
              </a:rPr>
              <a:t>which is an </a:t>
            </a:r>
            <a:r>
              <a:rPr lang="en-US" altLang="ko-KR" b="1" dirty="0">
                <a:latin typeface="Arial" pitchFamily="34" charset="0"/>
                <a:cs typeface="Arial" pitchFamily="34" charset="0"/>
              </a:rPr>
              <a:t>information exchange hub </a:t>
            </a:r>
            <a:r>
              <a:rPr lang="en-US" altLang="ko-KR" dirty="0">
                <a:latin typeface="Arial" pitchFamily="34" charset="0"/>
                <a:cs typeface="Arial" pitchFamily="34" charset="0"/>
              </a:rPr>
              <a:t>to better manage government information collectively. </a:t>
            </a:r>
          </a:p>
          <a:p>
            <a:pPr fontAlgn="auto">
              <a:spcBef>
                <a:spcPts val="0"/>
              </a:spcBef>
              <a:spcAft>
                <a:spcPts val="0"/>
              </a:spcAft>
              <a:defRPr/>
            </a:pPr>
            <a:endParaRPr lang="ko-KR" altLang="en-US" dirty="0">
              <a:latin typeface="Arial" pitchFamily="34" charset="0"/>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6</a:t>
            </a:fld>
            <a:endParaRPr lang="ko-KR" altLang="en-US"/>
          </a:p>
        </p:txBody>
      </p:sp>
    </p:spTree>
    <p:extLst>
      <p:ext uri="{BB962C8B-B14F-4D97-AF65-F5344CB8AC3E}">
        <p14:creationId xmlns:p14="http://schemas.microsoft.com/office/powerpoint/2010/main" val="3064698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smtClean="0"/>
              <a:t>Here I provide some success factors by the Korea’s e-Government developing stages</a:t>
            </a:r>
          </a:p>
          <a:p>
            <a:endParaRPr lang="en-US" altLang="ko-KR" b="1" dirty="0"/>
          </a:p>
          <a:p>
            <a:r>
              <a:rPr lang="en-US" altLang="ko-KR" b="1" dirty="0" smtClean="0"/>
              <a:t>Firstly</a:t>
            </a:r>
            <a:r>
              <a:rPr lang="en-US" altLang="ko-KR" b="1" dirty="0"/>
              <a:t>, Strong Government Leadership.</a:t>
            </a:r>
          </a:p>
          <a:p>
            <a:r>
              <a:rPr lang="en-US" altLang="ko-KR" dirty="0"/>
              <a:t> </a:t>
            </a:r>
            <a:r>
              <a:rPr lang="en-US" altLang="ko-KR" dirty="0" smtClean="0"/>
              <a:t>  Since </a:t>
            </a:r>
            <a:r>
              <a:rPr lang="en-US" altLang="ko-KR" dirty="0"/>
              <a:t>the 1980s, the top government officers including the President understood the importance of e-government and actively involved in promoting it. This is why Korea was able to establish strategic and sustainable e-government plans.</a:t>
            </a:r>
          </a:p>
          <a:p>
            <a:endParaRPr lang="en-US" altLang="ko-KR" dirty="0"/>
          </a:p>
          <a:p>
            <a:r>
              <a:rPr lang="en-US" altLang="ko-KR" b="1" dirty="0"/>
              <a:t>Secondly, Sustained Investment in the e-Government Budget</a:t>
            </a:r>
          </a:p>
          <a:p>
            <a:r>
              <a:rPr lang="en-US" altLang="ko-KR" dirty="0" smtClean="0"/>
              <a:t>   Over </a:t>
            </a:r>
            <a:r>
              <a:rPr lang="en-US" altLang="ko-KR" dirty="0"/>
              <a:t>the last decade, an average of 1% of the total national budget was invested into e-Government </a:t>
            </a:r>
            <a:r>
              <a:rPr lang="en-US" altLang="ko-KR" dirty="0" smtClean="0"/>
              <a:t>construct ion </a:t>
            </a:r>
            <a:r>
              <a:rPr lang="en-US" altLang="ko-KR" dirty="0"/>
              <a:t>every year. </a:t>
            </a:r>
          </a:p>
          <a:p>
            <a:endParaRPr lang="en-US" altLang="ko-KR" dirty="0"/>
          </a:p>
          <a:p>
            <a:r>
              <a:rPr lang="en-US" altLang="ko-KR" b="1" dirty="0"/>
              <a:t>Third, Technology Support. </a:t>
            </a:r>
          </a:p>
          <a:p>
            <a:r>
              <a:rPr lang="en-US" altLang="ko-KR" dirty="0" smtClean="0"/>
              <a:t>   The Korean government has collaborated closely with system integration companies and specialized IT solution vendors that have adopted practical and efficient technology. </a:t>
            </a:r>
          </a:p>
          <a:p>
            <a:endParaRPr lang="en-US" altLang="ko-KR" dirty="0"/>
          </a:p>
          <a:p>
            <a:endParaRPr lang="en-US" altLang="ko-KR" dirty="0"/>
          </a:p>
          <a:p>
            <a:endParaRPr lang="en-US" altLang="ko-KR" dirty="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7</a:t>
            </a:fld>
            <a:endParaRPr lang="ko-KR" altLang="en-US"/>
          </a:p>
        </p:txBody>
      </p:sp>
    </p:spTree>
    <p:extLst>
      <p:ext uri="{BB962C8B-B14F-4D97-AF65-F5344CB8AC3E}">
        <p14:creationId xmlns:p14="http://schemas.microsoft.com/office/powerpoint/2010/main" val="55895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1100" dirty="0"/>
          </a:p>
          <a:p>
            <a:pPr>
              <a:spcBef>
                <a:spcPct val="0"/>
              </a:spcBef>
            </a:pPr>
            <a:r>
              <a:rPr lang="en-US" altLang="ko-KR" sz="1100" b="1" dirty="0">
                <a:latin typeface="Arial" pitchFamily="34" charset="0"/>
                <a:ea typeface="굴림" charset="-127"/>
                <a:cs typeface="Arial" pitchFamily="34" charset="0"/>
              </a:rPr>
              <a:t>Fourth, Effective Change Management.</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dirty="0">
                <a:latin typeface="Arial" pitchFamily="34" charset="0"/>
                <a:ea typeface="굴림" charset="-127"/>
                <a:cs typeface="Arial" pitchFamily="34" charset="0"/>
              </a:rPr>
              <a:t>To overcome issues such as public officers fear and resistance of workforce reduction, due to e-government services, </a:t>
            </a:r>
            <a:r>
              <a:rPr lang="en-US" altLang="ko-KR" sz="1100" dirty="0" smtClean="0">
                <a:latin typeface="Arial" pitchFamily="34" charset="0"/>
                <a:ea typeface="굴림" charset="-127"/>
                <a:cs typeface="Arial" pitchFamily="34" charset="0"/>
              </a:rPr>
              <a:t>change </a:t>
            </a:r>
            <a:r>
              <a:rPr lang="en-US" altLang="ko-KR" sz="1100" dirty="0">
                <a:latin typeface="Arial" pitchFamily="34" charset="0"/>
                <a:ea typeface="굴림" charset="-127"/>
                <a:cs typeface="Arial" pitchFamily="34" charset="0"/>
              </a:rPr>
              <a:t>management re-training and education were carried out. </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b="1" dirty="0">
                <a:latin typeface="Arial" pitchFamily="34" charset="0"/>
                <a:ea typeface="굴림" charset="-127"/>
                <a:cs typeface="Arial" pitchFamily="34" charset="0"/>
              </a:rPr>
              <a:t>Fifth, Performance-based Program Management</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dirty="0">
                <a:latin typeface="Arial" pitchFamily="34" charset="0"/>
                <a:ea typeface="굴림" charset="-127"/>
                <a:cs typeface="Arial" pitchFamily="34" charset="0"/>
              </a:rPr>
              <a:t>To monitor and evaluate e-Government development, it is needed to set clear goals and objectives so we can measure its performance</a:t>
            </a:r>
            <a:r>
              <a:rPr lang="en-US" altLang="ko-KR" sz="1100" dirty="0" smtClean="0">
                <a:latin typeface="Arial" pitchFamily="34" charset="0"/>
                <a:ea typeface="굴림" charset="-127"/>
                <a:cs typeface="Arial" pitchFamily="34" charset="0"/>
              </a:rPr>
              <a:t>, In </a:t>
            </a:r>
            <a:r>
              <a:rPr lang="en-US" altLang="ko-KR" sz="1100" dirty="0">
                <a:latin typeface="Arial" pitchFamily="34" charset="0"/>
                <a:ea typeface="굴림" charset="-127"/>
                <a:cs typeface="Arial" pitchFamily="34" charset="0"/>
              </a:rPr>
              <a:t>line with short and long-term plans. </a:t>
            </a:r>
            <a:endParaRPr lang="en-US" altLang="ko-KR" sz="1100" dirty="0" smtClean="0">
              <a:latin typeface="Arial" pitchFamily="34" charset="0"/>
              <a:ea typeface="굴림" charset="-127"/>
              <a:cs typeface="Arial" pitchFamily="34" charset="0"/>
            </a:endParaRP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b="1" dirty="0">
                <a:latin typeface="Arial" pitchFamily="34" charset="0"/>
                <a:cs typeface="Arial" pitchFamily="34" charset="0"/>
              </a:rPr>
              <a:t>Sixth, IT Governance.</a:t>
            </a:r>
          </a:p>
          <a:p>
            <a:pPr>
              <a:spcBef>
                <a:spcPct val="0"/>
              </a:spcBef>
            </a:pPr>
            <a:endParaRPr lang="en-US" altLang="ko-KR" sz="1100" dirty="0">
              <a:latin typeface="Arial" pitchFamily="34" charset="0"/>
              <a:cs typeface="Arial" pitchFamily="34" charset="0"/>
            </a:endParaRPr>
          </a:p>
          <a:p>
            <a:pPr>
              <a:spcBef>
                <a:spcPct val="0"/>
              </a:spcBef>
            </a:pPr>
            <a:r>
              <a:rPr lang="en-US" altLang="ko-KR" sz="1100" dirty="0">
                <a:latin typeface="Arial" pitchFamily="34" charset="0"/>
                <a:cs typeface="Arial" pitchFamily="34" charset="0"/>
              </a:rPr>
              <a:t>Creation of IT Governance through establishing the specialized committee and assigning CIO, in line with legislative system is of critical. </a:t>
            </a:r>
          </a:p>
          <a:p>
            <a:pPr>
              <a:spcBef>
                <a:spcPct val="0"/>
              </a:spcBef>
            </a:pPr>
            <a:r>
              <a:rPr lang="en-US" altLang="ko-KR" sz="1100" dirty="0">
                <a:latin typeface="Arial" pitchFamily="34" charset="0"/>
                <a:cs typeface="Arial" pitchFamily="34" charset="0"/>
              </a:rPr>
              <a:t> </a:t>
            </a:r>
          </a:p>
          <a:p>
            <a:pPr>
              <a:spcBef>
                <a:spcPct val="0"/>
              </a:spcBef>
            </a:pPr>
            <a:endParaRPr lang="en-US" altLang="ko-KR" sz="1100" dirty="0">
              <a:latin typeface="Arial" pitchFamily="34" charset="0"/>
              <a:cs typeface="Arial" pitchFamily="34" charset="0"/>
            </a:endParaRPr>
          </a:p>
          <a:p>
            <a:pPr>
              <a:spcBef>
                <a:spcPct val="0"/>
              </a:spcBef>
            </a:pPr>
            <a:r>
              <a:rPr lang="en-US" altLang="ko-KR" sz="1100" b="1" dirty="0">
                <a:latin typeface="Arial" pitchFamily="34" charset="0"/>
                <a:cs typeface="Arial" pitchFamily="34" charset="0"/>
              </a:rPr>
              <a:t>Seventh, Customer Oriented e-Government Services</a:t>
            </a:r>
          </a:p>
          <a:p>
            <a:pPr>
              <a:spcBef>
                <a:spcPct val="0"/>
              </a:spcBef>
            </a:pPr>
            <a:endParaRPr lang="en-US" altLang="ko-KR" sz="1100" dirty="0">
              <a:latin typeface="Arial" pitchFamily="34" charset="0"/>
              <a:cs typeface="Arial" pitchFamily="34" charset="0"/>
            </a:endParaRPr>
          </a:p>
          <a:p>
            <a:pPr>
              <a:spcBef>
                <a:spcPct val="0"/>
              </a:spcBef>
            </a:pPr>
            <a:r>
              <a:rPr lang="en-US" altLang="ko-KR" sz="1100" dirty="0">
                <a:latin typeface="Arial" pitchFamily="34" charset="0"/>
                <a:cs typeface="Arial" pitchFamily="34" charset="0"/>
              </a:rPr>
              <a:t>It is now an imperative for a government </a:t>
            </a:r>
            <a:r>
              <a:rPr lang="en-US" altLang="ko-KR" sz="1100" dirty="0" smtClean="0">
                <a:latin typeface="Arial" pitchFamily="34" charset="0"/>
                <a:cs typeface="Arial" pitchFamily="34" charset="0"/>
              </a:rPr>
              <a:t>that </a:t>
            </a:r>
            <a:r>
              <a:rPr lang="en-US" altLang="ko-KR" sz="1100" dirty="0">
                <a:latin typeface="Arial" pitchFamily="34" charset="0"/>
                <a:cs typeface="Arial" pitchFamily="34" charset="0"/>
              </a:rPr>
              <a:t>we take </a:t>
            </a:r>
            <a:r>
              <a:rPr lang="en-US" altLang="ko-KR" sz="1100" b="1" dirty="0">
                <a:latin typeface="Arial" pitchFamily="34" charset="0"/>
                <a:cs typeface="Arial" pitchFamily="34" charset="0"/>
              </a:rPr>
              <a:t>customer-oriented approach</a:t>
            </a:r>
            <a:r>
              <a:rPr lang="en-US" altLang="ko-KR" sz="1100" dirty="0">
                <a:latin typeface="Arial" pitchFamily="34" charset="0"/>
                <a:cs typeface="Arial" pitchFamily="34" charset="0"/>
              </a:rPr>
              <a:t> into account to </a:t>
            </a:r>
            <a:r>
              <a:rPr lang="en-US" altLang="ko-KR" sz="1100" dirty="0" smtClean="0">
                <a:latin typeface="Arial" pitchFamily="34" charset="0"/>
                <a:cs typeface="Arial" pitchFamily="34" charset="0"/>
              </a:rPr>
              <a:t>devise any </a:t>
            </a:r>
            <a:r>
              <a:rPr lang="en-US" altLang="ko-KR" sz="1100" dirty="0">
                <a:latin typeface="Arial" pitchFamily="34" charset="0"/>
                <a:cs typeface="Arial" pitchFamily="34" charset="0"/>
              </a:rPr>
              <a:t>e-Government services. </a:t>
            </a:r>
          </a:p>
          <a:p>
            <a:pPr>
              <a:spcBef>
                <a:spcPct val="0"/>
              </a:spcBef>
            </a:pPr>
            <a:endParaRPr lang="en-US" altLang="ko-KR" sz="900" dirty="0">
              <a:latin typeface="Arial" pitchFamily="34" charset="0"/>
              <a:cs typeface="Arial" pitchFamily="34" charset="0"/>
            </a:endParaRPr>
          </a:p>
          <a:p>
            <a:pPr>
              <a:spcBef>
                <a:spcPct val="0"/>
              </a:spcBef>
            </a:pPr>
            <a:endParaRPr lang="ko-KR" altLang="en-US" sz="900" dirty="0">
              <a:latin typeface="Arial" pitchFamily="34" charset="0"/>
              <a:cs typeface="Arial" pitchFamily="34" charset="0"/>
            </a:endParaRPr>
          </a:p>
          <a:p>
            <a:pPr>
              <a:spcBef>
                <a:spcPct val="0"/>
              </a:spcBef>
            </a:pPr>
            <a:endParaRPr lang="en-US" altLang="ko-KR" sz="900" dirty="0" smtClean="0">
              <a:latin typeface="Arial" pitchFamily="34" charset="0"/>
              <a:ea typeface="굴림" charset="-127"/>
              <a:cs typeface="Arial" pitchFamily="34" charset="0"/>
            </a:endParaRPr>
          </a:p>
          <a:p>
            <a:pPr>
              <a:spcBef>
                <a:spcPct val="0"/>
              </a:spcBef>
            </a:pPr>
            <a:endParaRPr lang="ko-KR" altLang="en-US" sz="900" dirty="0">
              <a:latin typeface="Arial" pitchFamily="34" charset="0"/>
              <a:cs typeface="Arial" pitchFamily="34" charset="0"/>
            </a:endParaRPr>
          </a:p>
          <a:p>
            <a:pPr>
              <a:spcBef>
                <a:spcPct val="0"/>
              </a:spcBef>
            </a:pPr>
            <a:endParaRPr lang="ko-KR" altLang="en-US" sz="900" dirty="0">
              <a:latin typeface="Arial" pitchFamily="34" charset="0"/>
              <a:cs typeface="Arial" pitchFamily="34" charset="0"/>
            </a:endParaRPr>
          </a:p>
          <a:p>
            <a:endParaRPr lang="en-US" altLang="ko-KR" sz="900" dirty="0"/>
          </a:p>
          <a:p>
            <a:endParaRPr lang="en-US" altLang="ko-KR" sz="900" dirty="0"/>
          </a:p>
          <a:p>
            <a:endParaRPr lang="en-US" altLang="ko-KR" sz="900" dirty="0"/>
          </a:p>
          <a:p>
            <a:endParaRPr lang="ko-KR" altLang="en-US" sz="900"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8</a:t>
            </a:fld>
            <a:endParaRPr lang="ko-KR" altLang="en-US"/>
          </a:p>
        </p:txBody>
      </p:sp>
    </p:spTree>
    <p:extLst>
      <p:ext uri="{BB962C8B-B14F-4D97-AF65-F5344CB8AC3E}">
        <p14:creationId xmlns:p14="http://schemas.microsoft.com/office/powerpoint/2010/main" val="55895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aseline="0" dirty="0" smtClean="0"/>
              <a:t>Based on </a:t>
            </a:r>
            <a:r>
              <a:rPr lang="en-US" altLang="ko-KR" dirty="0"/>
              <a:t>the </a:t>
            </a:r>
            <a:r>
              <a:rPr lang="en-US" altLang="ko-KR" dirty="0" smtClean="0"/>
              <a:t>suggested scheme from the </a:t>
            </a:r>
            <a:r>
              <a:rPr lang="en-US" altLang="ko-KR" dirty="0" err="1" smtClean="0"/>
              <a:t>the</a:t>
            </a:r>
            <a:r>
              <a:rPr lang="en-US" altLang="ko-KR" dirty="0" smtClean="0"/>
              <a:t> </a:t>
            </a:r>
            <a:r>
              <a:rPr lang="en-US" altLang="ko-KR" dirty="0"/>
              <a:t>organizing </a:t>
            </a:r>
            <a:r>
              <a:rPr lang="en-US" altLang="ko-KR" dirty="0" smtClean="0"/>
              <a:t>committee</a:t>
            </a:r>
            <a:r>
              <a:rPr lang="en-US" altLang="ko-KR" dirty="0" smtClean="0"/>
              <a:t> </a:t>
            </a:r>
            <a:r>
              <a:rPr lang="en-US" altLang="ko-KR" dirty="0" smtClean="0"/>
              <a:t>I briefly  </a:t>
            </a:r>
            <a:r>
              <a:rPr lang="en-US" altLang="ko-KR" dirty="0"/>
              <a:t>summarize strategic ICT enablers </a:t>
            </a:r>
            <a:r>
              <a:rPr lang="en-US" altLang="ko-KR" dirty="0" smtClean="0"/>
              <a:t>as shown in this slide and add some special points hereafter</a:t>
            </a:r>
            <a:r>
              <a:rPr lang="en-US" altLang="ko-KR" dirty="0" smtClean="0"/>
              <a:t>.</a:t>
            </a:r>
          </a:p>
          <a:p>
            <a:endParaRPr lang="en-US" altLang="ko-KR" dirty="0"/>
          </a:p>
          <a:p>
            <a:endParaRPr lang="en-US" altLang="ko-KR" dirty="0" smtClean="0"/>
          </a:p>
          <a:p>
            <a:endParaRPr lang="en-US" altLang="ko-KR" dirty="0" smtClean="0"/>
          </a:p>
          <a:p>
            <a:endParaRPr lang="en-US" altLang="ko-KR" dirty="0"/>
          </a:p>
          <a:p>
            <a:endParaRPr lang="en-US" altLang="ko-KR" dirty="0"/>
          </a:p>
          <a:p>
            <a:endParaRPr lang="en-US" altLang="ko-KR" baseline="0" dirty="0" smtClean="0"/>
          </a:p>
          <a:p>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9</a:t>
            </a:fld>
            <a:endParaRPr lang="ko-KR" altLang="en-US"/>
          </a:p>
        </p:txBody>
      </p:sp>
    </p:spTree>
    <p:extLst>
      <p:ext uri="{BB962C8B-B14F-4D97-AF65-F5344CB8AC3E}">
        <p14:creationId xmlns:p14="http://schemas.microsoft.com/office/powerpoint/2010/main" val="1341859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baseline="0" dirty="0" smtClean="0">
                <a:latin typeface="Tahoma" pitchFamily="34" charset="0"/>
                <a:ea typeface="Tahoma" pitchFamily="34" charset="0"/>
                <a:cs typeface="Tahoma" pitchFamily="34" charset="0"/>
              </a:rPr>
              <a:t>There are approximately 35 million, or about 70% of Korean people, using smartphones in Korea now. </a:t>
            </a:r>
          </a:p>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baseline="0" dirty="0" smtClean="0">
                <a:latin typeface="Tahoma" pitchFamily="34" charset="0"/>
                <a:ea typeface="Tahoma" pitchFamily="34" charset="0"/>
                <a:cs typeface="Tahoma" pitchFamily="34" charset="0"/>
              </a:rPr>
              <a:t>Smartphone users and wireless data traffic have exponentially increased, 40 times and 126 times each since 2009.</a:t>
            </a:r>
            <a:endParaRPr lang="en-US" altLang="ko-KR" sz="1200" i="0" dirty="0" smtClean="0">
              <a:latin typeface="Tahoma" pitchFamily="34" charset="0"/>
              <a:ea typeface="Tahoma" pitchFamily="34" charset="0"/>
              <a:cs typeface="Tahoma" pitchFamily="34" charset="0"/>
            </a:endParaRPr>
          </a:p>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dirty="0" smtClean="0">
                <a:latin typeface="Tahoma" pitchFamily="34" charset="0"/>
                <a:ea typeface="Tahoma" pitchFamily="34" charset="0"/>
                <a:cs typeface="Tahoma" pitchFamily="34" charset="0"/>
              </a:rPr>
              <a:t>The world</a:t>
            </a:r>
            <a:r>
              <a:rPr lang="en-US" altLang="ko-KR" sz="1200" i="0" baseline="0" dirty="0" smtClean="0">
                <a:latin typeface="Tahoma" pitchFamily="34" charset="0"/>
                <a:ea typeface="Tahoma" pitchFamily="34" charset="0"/>
                <a:cs typeface="Tahoma" pitchFamily="34" charset="0"/>
              </a:rPr>
              <a:t> average growth rate for wireless data is 17 times. </a:t>
            </a:r>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10</a:t>
            </a:fld>
            <a:endParaRPr lang="en-US" altLang="ko-KR"/>
          </a:p>
        </p:txBody>
      </p:sp>
    </p:spTree>
    <p:extLst>
      <p:ext uri="{BB962C8B-B14F-4D97-AF65-F5344CB8AC3E}">
        <p14:creationId xmlns:p14="http://schemas.microsoft.com/office/powerpoint/2010/main" val="863521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The success of Korea’s high-speed broadband NW was attributable to various factors as pointed in this slide. </a:t>
            </a:r>
          </a:p>
          <a:p>
            <a:endParaRPr lang="en-US" altLang="ko-KR" dirty="0" smtClean="0"/>
          </a:p>
          <a:p>
            <a:r>
              <a:rPr lang="en-US" altLang="ko-KR" dirty="0" smtClean="0"/>
              <a:t>Among them I think that the strong government’s leading role and extra-ordinary arrangements for nationwide</a:t>
            </a:r>
            <a:r>
              <a:rPr lang="en-US" altLang="ko-KR" baseline="0" dirty="0" smtClean="0"/>
              <a:t> </a:t>
            </a:r>
            <a:r>
              <a:rPr lang="en-US" altLang="ko-KR" dirty="0" smtClean="0"/>
              <a:t>dissemination of internet services. </a:t>
            </a:r>
          </a:p>
          <a:p>
            <a:r>
              <a:rPr lang="en-US" altLang="ko-KR" dirty="0" smtClean="0"/>
              <a:t>  </a:t>
            </a:r>
          </a:p>
          <a:p>
            <a:r>
              <a:rPr lang="en-US" altLang="ko-KR" dirty="0" smtClean="0"/>
              <a:t>Let me take one example.  To foster the supply of internet services, government devise the system</a:t>
            </a:r>
            <a:r>
              <a:rPr lang="en-US" altLang="ko-KR" baseline="0" dirty="0" smtClean="0"/>
              <a:t> of set-off refunding.  </a:t>
            </a:r>
            <a:r>
              <a:rPr lang="en-US" altLang="ko-KR" dirty="0" smtClean="0"/>
              <a:t>Government gave financial support to the </a:t>
            </a:r>
            <a:r>
              <a:rPr lang="en-US" altLang="ko-KR" dirty="0" err="1" smtClean="0"/>
              <a:t>telcos</a:t>
            </a:r>
            <a:r>
              <a:rPr lang="en-US" altLang="ko-KR" dirty="0" smtClean="0"/>
              <a:t> who were not willing to invest money to the construction of NW infra because of the uncertainty to yield expected revenues. And deficit amount resulting from low price</a:t>
            </a:r>
            <a:r>
              <a:rPr lang="en-US" altLang="ko-KR" baseline="0" dirty="0" smtClean="0"/>
              <a:t> rate </a:t>
            </a:r>
            <a:r>
              <a:rPr lang="en-US" altLang="ko-KR" dirty="0"/>
              <a:t>in its inception stage </a:t>
            </a:r>
            <a:r>
              <a:rPr lang="en-US" altLang="ko-KR" dirty="0" smtClean="0"/>
              <a:t>was</a:t>
            </a:r>
            <a:r>
              <a:rPr lang="en-US" altLang="ko-KR" baseline="0" dirty="0" smtClean="0"/>
              <a:t> set-off between Government </a:t>
            </a:r>
            <a:r>
              <a:rPr lang="en-US" altLang="ko-KR" baseline="0" dirty="0" err="1" smtClean="0"/>
              <a:t>ane</a:t>
            </a:r>
            <a:r>
              <a:rPr lang="en-US" altLang="ko-KR" baseline="0" dirty="0" smtClean="0"/>
              <a:t> </a:t>
            </a:r>
            <a:r>
              <a:rPr lang="en-US" altLang="ko-KR" baseline="0" dirty="0" err="1" smtClean="0"/>
              <a:t>telcos</a:t>
            </a:r>
            <a:r>
              <a:rPr lang="en-US" altLang="ko-KR" baseline="0" dirty="0" smtClean="0"/>
              <a:t>.</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11</a:t>
            </a:fld>
            <a:endParaRPr lang="ko-KR" altLang="en-US"/>
          </a:p>
        </p:txBody>
      </p:sp>
    </p:spTree>
    <p:extLst>
      <p:ext uri="{BB962C8B-B14F-4D97-AF65-F5344CB8AC3E}">
        <p14:creationId xmlns:p14="http://schemas.microsoft.com/office/powerpoint/2010/main" val="1532106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Cloud computing becomes a</a:t>
            </a:r>
            <a:r>
              <a:rPr lang="en-US" altLang="ko-KR" baseline="0" dirty="0" smtClean="0"/>
              <a:t> main theme to adapt rapidly changing society.</a:t>
            </a:r>
            <a:endParaRPr lang="en-US" altLang="ko-KR" dirty="0" smtClean="0"/>
          </a:p>
          <a:p>
            <a:endParaRPr lang="en-US" altLang="ko-KR" dirty="0"/>
          </a:p>
          <a:p>
            <a:r>
              <a:rPr lang="en-US" altLang="ko-KR" baseline="0" dirty="0" smtClean="0"/>
              <a:t>Responding to the mobile environment and other smart medias like SNS, Korean govern</a:t>
            </a:r>
            <a:r>
              <a:rPr lang="en-US" altLang="ko-KR" dirty="0" smtClean="0"/>
              <a:t>ment </a:t>
            </a:r>
            <a:r>
              <a:rPr lang="en-US" altLang="ko-KR" baseline="0" dirty="0" smtClean="0"/>
              <a:t>actively established national cloud computing policy and is implementing the possible objectives one by one.  </a:t>
            </a:r>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12</a:t>
            </a:fld>
            <a:endParaRPr lang="ko-KR" altLang="en-US"/>
          </a:p>
        </p:txBody>
      </p:sp>
    </p:spTree>
    <p:extLst>
      <p:ext uri="{BB962C8B-B14F-4D97-AF65-F5344CB8AC3E}">
        <p14:creationId xmlns:p14="http://schemas.microsoft.com/office/powerpoint/2010/main" val="2745831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Open data also has</a:t>
            </a:r>
            <a:r>
              <a:rPr lang="en-US" altLang="ko-KR" baseline="0" dirty="0" smtClean="0"/>
              <a:t> </a:t>
            </a:r>
            <a:r>
              <a:rPr lang="en-US" altLang="ko-KR" dirty="0" smtClean="0"/>
              <a:t>become critical</a:t>
            </a:r>
            <a:r>
              <a:rPr lang="en-US" altLang="ko-KR" baseline="0" dirty="0" smtClean="0"/>
              <a:t> issues not only private but public sector.</a:t>
            </a:r>
          </a:p>
          <a:p>
            <a:r>
              <a:rPr lang="en-US" altLang="ko-KR" baseline="0" dirty="0" smtClean="0"/>
              <a:t>Major characteristics of Gov2.0 like participation and communication necessarily require data opened and shared </a:t>
            </a:r>
            <a:r>
              <a:rPr lang="en-US" altLang="ko-KR" baseline="0" dirty="0" err="1" smtClean="0"/>
              <a:t>betwreen</a:t>
            </a:r>
            <a:r>
              <a:rPr lang="en-US" altLang="ko-KR" baseline="0" dirty="0" smtClean="0"/>
              <a:t> </a:t>
            </a:r>
            <a:r>
              <a:rPr lang="en-US" altLang="ko-KR" baseline="0" dirty="0" err="1" smtClean="0"/>
              <a:t>gov</a:t>
            </a:r>
            <a:r>
              <a:rPr lang="en-US" altLang="ko-KR" baseline="0" dirty="0" smtClean="0"/>
              <a:t> and citizen. </a:t>
            </a:r>
          </a:p>
          <a:p>
            <a:endParaRPr lang="en-US" altLang="ko-KR" baseline="0" dirty="0" smtClean="0"/>
          </a:p>
          <a:p>
            <a:r>
              <a:rPr lang="en-US" altLang="ko-KR" baseline="0" dirty="0" smtClean="0"/>
              <a:t>We are operating the </a:t>
            </a:r>
            <a:r>
              <a:rPr lang="en-US" altLang="ko-KR" baseline="0" dirty="0" err="1" smtClean="0"/>
              <a:t>Gov</a:t>
            </a:r>
            <a:r>
              <a:rPr lang="en-US" altLang="ko-KR" baseline="0" dirty="0" smtClean="0"/>
              <a:t> data portal. And Seoul city have an excellent open data </a:t>
            </a:r>
            <a:r>
              <a:rPr lang="en-US" altLang="ko-KR" baseline="0" dirty="0" err="1" smtClean="0"/>
              <a:t>sytem</a:t>
            </a:r>
            <a:r>
              <a:rPr lang="en-US" altLang="ko-KR" baseline="0" dirty="0" smtClean="0"/>
              <a:t> named OASIS of Millions of creative Idea.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13</a:t>
            </a:fld>
            <a:endParaRPr lang="ko-KR" altLang="en-US"/>
          </a:p>
        </p:txBody>
      </p:sp>
    </p:spTree>
    <p:extLst>
      <p:ext uri="{BB962C8B-B14F-4D97-AF65-F5344CB8AC3E}">
        <p14:creationId xmlns:p14="http://schemas.microsoft.com/office/powerpoint/2010/main" val="260130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In Korea</a:t>
            </a:r>
            <a:r>
              <a:rPr lang="en-US" altLang="ko-KR" baseline="0" dirty="0" smtClean="0"/>
              <a:t>, four independent government departments as shown this slide are in charge of each four major processes of national information projects such as planning, budgeting, development and operation, evaluation. However they can communicate with a common language throughout nation </a:t>
            </a:r>
            <a:r>
              <a:rPr lang="en-US" altLang="ko-KR" baseline="0" dirty="0" err="1" smtClean="0"/>
              <a:t>informatization</a:t>
            </a:r>
            <a:r>
              <a:rPr lang="en-US" altLang="ko-KR" baseline="0" dirty="0" smtClean="0"/>
              <a:t> life-cycle because of GEA.</a:t>
            </a:r>
          </a:p>
          <a:p>
            <a:r>
              <a:rPr lang="en-US" altLang="ko-KR" baseline="0" dirty="0" smtClean="0"/>
              <a:t>It can be achieved only by whole-of-government approach along with participation of all IT processes owners. </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14</a:t>
            </a:fld>
            <a:endParaRPr lang="ko-KR" altLang="en-US"/>
          </a:p>
        </p:txBody>
      </p:sp>
    </p:spTree>
    <p:extLst>
      <p:ext uri="{BB962C8B-B14F-4D97-AF65-F5344CB8AC3E}">
        <p14:creationId xmlns:p14="http://schemas.microsoft.com/office/powerpoint/2010/main" val="3767126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0" fontAlgn="base" latinLnBrk="1" hangingPunct="0">
              <a:lnSpc>
                <a:spcPct val="100000"/>
              </a:lnSpc>
              <a:spcBef>
                <a:spcPct val="30000"/>
              </a:spcBef>
              <a:spcAft>
                <a:spcPct val="0"/>
              </a:spcAft>
              <a:buClrTx/>
              <a:buSzTx/>
              <a:buFontTx/>
              <a:buNone/>
              <a:tabLst/>
              <a:defRPr/>
            </a:pPr>
            <a:r>
              <a:rPr lang="en-CA" altLang="ko-KR" sz="1200" kern="1200" dirty="0" smtClean="0">
                <a:solidFill>
                  <a:schemeClr val="tx1"/>
                </a:solidFill>
                <a:effectLst/>
                <a:latin typeface="+mn-lt"/>
                <a:ea typeface="+mn-ea"/>
                <a:cs typeface="+mn-cs"/>
              </a:rPr>
              <a:t>GEA Portal serves</a:t>
            </a:r>
            <a:r>
              <a:rPr lang="en-CA" altLang="ko-KR" sz="1200" kern="1200" baseline="0" dirty="0" smtClean="0">
                <a:solidFill>
                  <a:schemeClr val="tx1"/>
                </a:solidFill>
                <a:effectLst/>
                <a:latin typeface="+mn-lt"/>
                <a:ea typeface="+mn-ea"/>
                <a:cs typeface="+mn-cs"/>
              </a:rPr>
              <a:t> as an IT Dashboard to provide detailed information about all public agencies’ IT resources at a glance. More than </a:t>
            </a:r>
            <a:r>
              <a:rPr lang="en-CA" altLang="ko-KR" sz="1200" kern="1200" dirty="0" smtClean="0">
                <a:solidFill>
                  <a:schemeClr val="tx1"/>
                </a:solidFill>
                <a:effectLst/>
                <a:latin typeface="+mn-lt"/>
                <a:ea typeface="+mn-ea"/>
                <a:cs typeface="+mn-cs"/>
              </a:rPr>
              <a:t>1,400 public agencies in Korea have registered over 17,000 information systems and related national information projects through GEAP, which serves as an information resource sharing forum for all agencies.  Most of all, the implementation of the Government-wide EA portal has made it possible to determine and analyze the current status of information resources efficiently, preventing information resource overlap among agencies.</a:t>
            </a:r>
            <a:endParaRPr lang="ko-KR" altLang="ko-KR" sz="1200" kern="1200" dirty="0" smtClean="0">
              <a:solidFill>
                <a:schemeClr val="tx1"/>
              </a:solidFill>
              <a:effectLst/>
              <a:latin typeface="+mn-lt"/>
              <a:ea typeface="+mn-ea"/>
              <a:cs typeface="+mn-cs"/>
            </a:endParaRPr>
          </a:p>
          <a:p>
            <a:pPr marL="0" marR="0" indent="0" algn="l" defTabSz="914400" rtl="0" eaLnBrk="0" fontAlgn="base" latinLnBrk="1" hangingPunct="0">
              <a:lnSpc>
                <a:spcPct val="100000"/>
              </a:lnSpc>
              <a:spcBef>
                <a:spcPct val="30000"/>
              </a:spcBef>
              <a:spcAft>
                <a:spcPct val="0"/>
              </a:spcAft>
              <a:buClrTx/>
              <a:buSzTx/>
              <a:buFontTx/>
              <a:buNone/>
              <a:tabLst/>
              <a:defRPr/>
            </a:pPr>
            <a:endParaRPr lang="ko-KR" altLang="ko-KR" sz="1200" kern="1200" dirty="0" smtClean="0">
              <a:solidFill>
                <a:schemeClr val="tx1"/>
              </a:solidFill>
              <a:effectLst/>
              <a:latin typeface="+mn-lt"/>
              <a:ea typeface="+mn-ea"/>
              <a:cs typeface="+mn-cs"/>
            </a:endParaRPr>
          </a:p>
          <a:p>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15</a:t>
            </a:fld>
            <a:endParaRPr lang="ko-KR" altLang="en-US"/>
          </a:p>
        </p:txBody>
      </p:sp>
    </p:spTree>
    <p:extLst>
      <p:ext uri="{BB962C8B-B14F-4D97-AF65-F5344CB8AC3E}">
        <p14:creationId xmlns:p14="http://schemas.microsoft.com/office/powerpoint/2010/main" val="3314367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This slide is</a:t>
            </a:r>
            <a:r>
              <a:rPr lang="en-US" altLang="ko-KR" baseline="0" dirty="0" smtClean="0"/>
              <a:t> an example of integrating related agency-level service into whole-of-government service due to government-wide goal.</a:t>
            </a:r>
          </a:p>
          <a:p>
            <a:endParaRPr lang="en-US" altLang="ko-KR" baseline="0" dirty="0" smtClean="0"/>
          </a:p>
          <a:p>
            <a:r>
              <a:rPr lang="en-US" altLang="ko-KR" baseline="0" dirty="0" smtClean="0"/>
              <a:t>This slide shows how the vehicle attachment release service has been changed and after integrating into whole-of-government service how many </a:t>
            </a:r>
            <a:r>
              <a:rPr lang="en-US" altLang="ko-KR" dirty="0" smtClean="0"/>
              <a:t>process and procedures has</a:t>
            </a:r>
            <a:r>
              <a:rPr lang="en-US" altLang="ko-KR" baseline="0" dirty="0" smtClean="0"/>
              <a:t> been decreased dramatically.</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16</a:t>
            </a:fld>
            <a:endParaRPr lang="ko-KR" altLang="en-US"/>
          </a:p>
        </p:txBody>
      </p:sp>
    </p:spTree>
    <p:extLst>
      <p:ext uri="{BB962C8B-B14F-4D97-AF65-F5344CB8AC3E}">
        <p14:creationId xmlns:p14="http://schemas.microsoft.com/office/powerpoint/2010/main" val="3352188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We developed the e-Government </a:t>
            </a:r>
            <a:r>
              <a:rPr lang="en-US" altLang="ko-KR" dirty="0" smtClean="0"/>
              <a:t>Standard </a:t>
            </a:r>
            <a:r>
              <a:rPr lang="en-US" altLang="ko-KR" dirty="0" smtClean="0"/>
              <a:t>Framework</a:t>
            </a:r>
            <a:r>
              <a:rPr lang="en-US" altLang="ko-KR" kern="1200" dirty="0" smtClean="0"/>
              <a:t> </a:t>
            </a:r>
            <a:r>
              <a:rPr lang="en-US" altLang="ko-KR" kern="1200" dirty="0" smtClean="0"/>
              <a:t>for developing and operating the e-Government system</a:t>
            </a:r>
          </a:p>
          <a:p>
            <a:pPr marL="0" lvl="1" defTabSz="762000" eaLnBrk="0" latinLnBrk="0" hangingPunct="0">
              <a:lnSpc>
                <a:spcPct val="130000"/>
              </a:lnSpc>
              <a:spcBef>
                <a:spcPts val="300"/>
              </a:spcBef>
              <a:buSzPct val="100000"/>
              <a:tabLst>
                <a:tab pos="482600" algn="l"/>
              </a:tabLst>
              <a:defRPr/>
            </a:pPr>
            <a:r>
              <a:rPr lang="en-US" altLang="ko-KR" sz="1200" b="1" dirty="0" smtClean="0">
                <a:latin typeface="Arial" pitchFamily="34" charset="0"/>
                <a:cs typeface="Arial" pitchFamily="34" charset="0"/>
              </a:rPr>
              <a:t>It not only improve the quality </a:t>
            </a:r>
            <a:r>
              <a:rPr lang="en-US" altLang="ko-KR" sz="1200" b="1" dirty="0" smtClean="0">
                <a:latin typeface="Arial" pitchFamily="34" charset="0"/>
                <a:cs typeface="Arial" pitchFamily="34" charset="0"/>
              </a:rPr>
              <a:t>of e-Government services  and efficiency of ICT </a:t>
            </a:r>
            <a:r>
              <a:rPr lang="en-US" altLang="ko-KR" sz="1200" b="1" dirty="0" smtClean="0">
                <a:latin typeface="Arial" pitchFamily="34" charset="0"/>
                <a:cs typeface="Arial" pitchFamily="34" charset="0"/>
              </a:rPr>
              <a:t>investment but contribute to make fair</a:t>
            </a:r>
            <a:r>
              <a:rPr lang="en-US" altLang="ko-KR" b="1" dirty="0" smtClean="0">
                <a:latin typeface="Arial" pitchFamily="34" charset="0"/>
                <a:ea typeface="HY헤드라인M" pitchFamily="18" charset="-127"/>
                <a:cs typeface="Arial" pitchFamily="34" charset="0"/>
              </a:rPr>
              <a:t> </a:t>
            </a:r>
            <a:r>
              <a:rPr lang="en-US" altLang="ko-KR" b="1" dirty="0">
                <a:latin typeface="Arial" pitchFamily="34" charset="0"/>
                <a:ea typeface="HY헤드라인M" pitchFamily="18" charset="-127"/>
                <a:cs typeface="Arial" pitchFamily="34" charset="0"/>
              </a:rPr>
              <a:t>competition environment created by sharing same basis</a:t>
            </a: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smtClean="0">
              <a:solidFill>
                <a:srgbClr val="336600"/>
              </a:solidFill>
              <a:latin typeface="Arial" pitchFamily="34" charset="0"/>
              <a:cs typeface="Arial" pitchFamily="34" charset="0"/>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Reuse common functionalities </a:t>
            </a:r>
          </a:p>
          <a:p>
            <a:pPr lvl="0" algn="l"/>
            <a:r>
              <a:rPr lang="en-US" altLang="ko-KR" sz="1200" b="1" dirty="0" smtClean="0">
                <a:solidFill>
                  <a:srgbClr val="336600"/>
                </a:solidFill>
                <a:latin typeface="Arial" pitchFamily="34" charset="0"/>
                <a:cs typeface="Arial" pitchFamily="34" charset="0"/>
              </a:rPr>
              <a:t>Improve Interoperability</a:t>
            </a:r>
          </a:p>
          <a:p>
            <a:pPr lvl="0" algn="l"/>
            <a:r>
              <a:rPr lang="en-US" altLang="ko-KR" sz="1200" b="1" dirty="0" smtClean="0">
                <a:solidFill>
                  <a:srgbClr val="336600"/>
                </a:solidFill>
                <a:latin typeface="Arial" pitchFamily="34" charset="0"/>
                <a:cs typeface="Arial" pitchFamily="34" charset="0"/>
              </a:rPr>
              <a:t>Up-to-date ICT trends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Remove vendor dependency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Enhance SMEs competitiveness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smtClean="0">
              <a:solidFill>
                <a:srgbClr val="336600"/>
              </a:solidFill>
              <a:latin typeface="Arial" pitchFamily="34" charset="0"/>
              <a:cs typeface="Arial" pitchFamily="34" charset="0"/>
            </a:endParaRPr>
          </a:p>
          <a:p>
            <a:pPr lvl="0" algn="l"/>
            <a:endParaRPr lang="en-US" altLang="ko-KR" sz="1200" b="1" dirty="0" smtClean="0">
              <a:solidFill>
                <a:srgbClr val="336600"/>
              </a:solidFill>
              <a:latin typeface="Arial" pitchFamily="34" charset="0"/>
              <a:cs typeface="Arial" pitchFamily="34" charset="0"/>
            </a:endParaRPr>
          </a:p>
          <a:p>
            <a:pPr lvl="0" algn="l"/>
            <a:endParaRPr lang="ko-KR" altLang="en-US" sz="1200" b="1" dirty="0" smtClean="0">
              <a:solidFill>
                <a:srgbClr val="336600"/>
              </a:solidFill>
              <a:latin typeface="Arial" pitchFamily="34" charset="0"/>
              <a:cs typeface="Arial" pitchFamily="34" charset="0"/>
            </a:endParaRPr>
          </a:p>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b="1" dirty="0" smtClean="0">
              <a:solidFill>
                <a:srgbClr val="336600"/>
              </a:solidFill>
              <a:latin typeface="Arial" pitchFamily="34" charset="0"/>
              <a:cs typeface="Arial" pitchFamily="34" charset="0"/>
            </a:endParaRPr>
          </a:p>
          <a:p>
            <a:pPr algn="l"/>
            <a:endParaRPr lang="en-US" altLang="ko-KR" sz="1200" b="1" dirty="0" smtClean="0">
              <a:solidFill>
                <a:srgbClr val="002060"/>
              </a:solidFill>
              <a:latin typeface="Arial" pitchFamily="34" charset="0"/>
              <a:cs typeface="Arial" pitchFamily="34" charset="0"/>
            </a:endParaRPr>
          </a:p>
          <a:p>
            <a:pPr algn="l"/>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17</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a:xfrm>
            <a:off x="679767" y="4715153"/>
            <a:ext cx="5527381" cy="4466987"/>
          </a:xfrm>
        </p:spPr>
        <p:txBody>
          <a:bodyPr/>
          <a:lstStyle/>
          <a:p>
            <a:r>
              <a:rPr lang="en-US" altLang="ko-KR" dirty="0" err="1" smtClean="0">
                <a:ln>
                  <a:solidFill>
                    <a:schemeClr val="bg1">
                      <a:lumMod val="75000"/>
                    </a:schemeClr>
                  </a:solidFill>
                </a:ln>
                <a:latin typeface="Tahoma" pitchFamily="34" charset="0"/>
                <a:ea typeface="Tahoma" pitchFamily="34" charset="0"/>
                <a:cs typeface="Tahoma" pitchFamily="34" charset="0"/>
              </a:rPr>
              <a:t>eGovFrame’s</a:t>
            </a:r>
            <a:r>
              <a:rPr lang="en-US" altLang="ko-KR" dirty="0" smtClean="0">
                <a:ln>
                  <a:solidFill>
                    <a:schemeClr val="bg1">
                      <a:lumMod val="75000"/>
                    </a:schemeClr>
                  </a:solidFill>
                </a:ln>
                <a:latin typeface="Tahoma" pitchFamily="34" charset="0"/>
                <a:ea typeface="Tahoma" pitchFamily="34" charset="0"/>
                <a:cs typeface="Tahoma" pitchFamily="34" charset="0"/>
              </a:rPr>
              <a:t> main philosophy is the p</a:t>
            </a:r>
            <a:r>
              <a:rPr lang="en-US" altLang="ko-KR" sz="1200" i="0" dirty="0" smtClean="0">
                <a:ln>
                  <a:solidFill>
                    <a:schemeClr val="bg1">
                      <a:lumMod val="75000"/>
                    </a:schemeClr>
                  </a:solidFill>
                </a:ln>
                <a:latin typeface="Tahoma" pitchFamily="34" charset="0"/>
                <a:ea typeface="Tahoma" pitchFamily="34" charset="0"/>
                <a:cs typeface="Tahoma" pitchFamily="34" charset="0"/>
              </a:rPr>
              <a:t>latform </a:t>
            </a:r>
            <a:r>
              <a:rPr lang="en-US" altLang="ko-KR" sz="1200" i="0" dirty="0" smtClean="0">
                <a:ln>
                  <a:solidFill>
                    <a:schemeClr val="bg1">
                      <a:lumMod val="75000"/>
                    </a:schemeClr>
                  </a:solidFill>
                </a:ln>
                <a:latin typeface="Tahoma" pitchFamily="34" charset="0"/>
                <a:ea typeface="Tahoma" pitchFamily="34" charset="0"/>
                <a:cs typeface="Tahoma" pitchFamily="34" charset="0"/>
              </a:rPr>
              <a:t>approach with multi- benefits for ICT </a:t>
            </a:r>
            <a:r>
              <a:rPr lang="en-US" altLang="ko-KR" sz="1200" i="0" dirty="0" smtClean="0">
                <a:ln>
                  <a:solidFill>
                    <a:schemeClr val="bg1">
                      <a:lumMod val="75000"/>
                    </a:schemeClr>
                  </a:solidFill>
                </a:ln>
                <a:latin typeface="Tahoma" pitchFamily="34" charset="0"/>
                <a:ea typeface="Tahoma" pitchFamily="34" charset="0"/>
                <a:cs typeface="Tahoma" pitchFamily="34" charset="0"/>
              </a:rPr>
              <a:t>project. </a:t>
            </a:r>
          </a:p>
          <a:p>
            <a:r>
              <a:rPr lang="en-US" altLang="ko-KR" sz="1200" i="0" dirty="0" smtClean="0">
                <a:ln>
                  <a:solidFill>
                    <a:schemeClr val="bg1">
                      <a:lumMod val="75000"/>
                    </a:schemeClr>
                  </a:solidFill>
                </a:ln>
                <a:latin typeface="Tahoma" pitchFamily="34" charset="0"/>
                <a:ea typeface="Tahoma" pitchFamily="34" charset="0"/>
                <a:cs typeface="Tahoma" pitchFamily="34" charset="0"/>
              </a:rPr>
              <a:t>It has two basic </a:t>
            </a:r>
            <a:r>
              <a:rPr lang="en-US" altLang="ko-KR" dirty="0" smtClean="0">
                <a:ln>
                  <a:solidFill>
                    <a:schemeClr val="bg1">
                      <a:lumMod val="75000"/>
                    </a:schemeClr>
                  </a:solidFill>
                </a:ln>
                <a:latin typeface="Tahoma" pitchFamily="34" charset="0"/>
                <a:ea typeface="Tahoma" pitchFamily="34" charset="0"/>
                <a:cs typeface="Tahoma" pitchFamily="34" charset="0"/>
              </a:rPr>
              <a:t>ideas </a:t>
            </a:r>
            <a:r>
              <a:rPr lang="en-US" altLang="ko-KR" sz="1200" i="0" dirty="0" smtClean="0">
                <a:ln>
                  <a:solidFill>
                    <a:schemeClr val="bg1">
                      <a:lumMod val="75000"/>
                    </a:schemeClr>
                  </a:solidFill>
                </a:ln>
                <a:latin typeface="Tahoma" pitchFamily="34" charset="0"/>
                <a:ea typeface="Tahoma" pitchFamily="34" charset="0"/>
                <a:cs typeface="Tahoma" pitchFamily="34" charset="0"/>
              </a:rPr>
              <a:t> as following:  </a:t>
            </a:r>
            <a:endParaRPr lang="en-US" altLang="ko-KR" sz="1200" dirty="0" smtClean="0"/>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Development </a:t>
            </a:r>
            <a:r>
              <a:rPr kumimoji="0" lang="en-US" altLang="ko-KR"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rPr>
              <a:t>based on the standard framework</a:t>
            </a:r>
            <a:endParaRPr kumimoji="0" lang="ko-KR" altLang="en-US"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rPr>
              <a:t>Productivity and quality improvement</a:t>
            </a: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 by reusing common </a:t>
            </a: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components</a:t>
            </a:r>
            <a:endParaRPr kumimoji="0" lang="ko-KR" altLang="en-US"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18</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This slide shows the applied cases of mobile features using e-</a:t>
            </a:r>
            <a:r>
              <a:rPr lang="en-US" altLang="ko-KR" dirty="0" err="1" smtClean="0"/>
              <a:t>Govframe</a:t>
            </a:r>
            <a:r>
              <a:rPr lang="en-US" altLang="ko-KR" dirty="0" smtClean="0"/>
              <a:t>. </a:t>
            </a:r>
          </a:p>
          <a:p>
            <a:r>
              <a:rPr lang="en-US" altLang="ko-KR" dirty="0" smtClean="0"/>
              <a:t>Continuing</a:t>
            </a:r>
            <a:r>
              <a:rPr lang="en-US" altLang="ko-KR" baseline="0" dirty="0" smtClean="0"/>
              <a:t> improvement is being made to adapt new ICT environment. </a:t>
            </a:r>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19</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4307">
              <a:defRPr/>
            </a:pPr>
            <a:r>
              <a:rPr lang="en-US" altLang="ko-KR" dirty="0" smtClean="0">
                <a:latin typeface="맑은 고딕" pitchFamily="50" charset="-127"/>
                <a:ea typeface="맑은 고딕" pitchFamily="50" charset="-127"/>
              </a:rPr>
              <a:t>Smart society has more strength to solve social issues </a:t>
            </a:r>
            <a:r>
              <a:rPr lang="en-US" altLang="ko-KR" dirty="0">
                <a:latin typeface="맑은 고딕" pitchFamily="50" charset="-127"/>
                <a:ea typeface="맑은 고딕" pitchFamily="50" charset="-127"/>
              </a:rPr>
              <a:t>effectively </a:t>
            </a:r>
            <a:r>
              <a:rPr lang="en-US" altLang="ko-KR" dirty="0" smtClean="0">
                <a:latin typeface="맑은 고딕" pitchFamily="50" charset="-127"/>
                <a:ea typeface="맑은 고딕" pitchFamily="50" charset="-127"/>
              </a:rPr>
              <a:t>and produce new value than before. </a:t>
            </a:r>
          </a:p>
          <a:p>
            <a:pPr defTabSz="914307">
              <a:defRPr/>
            </a:pPr>
            <a:endParaRPr lang="en-US" altLang="ko-KR" sz="1200" dirty="0" smtClean="0">
              <a:latin typeface="맑은 고딕" pitchFamily="50" charset="-127"/>
              <a:ea typeface="맑은 고딕" pitchFamily="50" charset="-127"/>
            </a:endParaRPr>
          </a:p>
          <a:p>
            <a:pPr defTabSz="914307">
              <a:defRPr/>
            </a:pPr>
            <a:r>
              <a:rPr lang="en-US" altLang="ko-KR" sz="1200" dirty="0" err="1" smtClean="0">
                <a:latin typeface="맑은 고딕" pitchFamily="50" charset="-127"/>
                <a:ea typeface="맑은 고딕" pitchFamily="50" charset="-127"/>
              </a:rPr>
              <a:t>Tha</a:t>
            </a:r>
            <a:r>
              <a:rPr lang="en-US" altLang="ko-KR" sz="1200" dirty="0" smtClean="0">
                <a:latin typeface="맑은 고딕" pitchFamily="50" charset="-127"/>
                <a:ea typeface="맑은 고딕" pitchFamily="50" charset="-127"/>
              </a:rPr>
              <a:t> core key word are “sharing, communication and openness”, “</a:t>
            </a:r>
            <a:r>
              <a:rPr lang="en-US" altLang="ko-KR" sz="1200" dirty="0" err="1" smtClean="0">
                <a:latin typeface="맑은 고딕" pitchFamily="50" charset="-127"/>
                <a:ea typeface="맑은 고딕" pitchFamily="50" charset="-127"/>
              </a:rPr>
              <a:t>innovatio</a:t>
            </a:r>
            <a:r>
              <a:rPr lang="en-US" altLang="ko-KR" sz="1200" dirty="0" smtClean="0">
                <a:latin typeface="맑은 고딕" pitchFamily="50" charset="-127"/>
                <a:ea typeface="맑은 고딕" pitchFamily="50" charset="-127"/>
              </a:rPr>
              <a:t> n-collaboration-creativeness”, “Platform”.</a:t>
            </a:r>
            <a:endParaRPr lang="en-US" altLang="ko-KR" b="1" dirty="0">
              <a:solidFill>
                <a:srgbClr val="00B0F0"/>
              </a:solidFill>
              <a:latin typeface="맑은 고딕" pitchFamily="50" charset="-127"/>
              <a:ea typeface="맑은 고딕" pitchFamily="50" charset="-127"/>
            </a:endParaRPr>
          </a:p>
          <a:p>
            <a:pPr defTabSz="914307">
              <a:defRPr/>
            </a:pPr>
            <a:endParaRPr lang="en-US" altLang="ko-KR" sz="1100" b="1" dirty="0" smtClean="0">
              <a:solidFill>
                <a:srgbClr val="00B0F0"/>
              </a:solidFill>
              <a:latin typeface="맑은 고딕" pitchFamily="50" charset="-127"/>
              <a:ea typeface="맑은 고딕" pitchFamily="50" charset="-127"/>
            </a:endParaRPr>
          </a:p>
          <a:p>
            <a:pPr defTabSz="914307">
              <a:defRPr/>
            </a:pPr>
            <a:r>
              <a:rPr lang="en-US" altLang="ko-KR" dirty="0" smtClean="0">
                <a:latin typeface="맑은 고딕" pitchFamily="50" charset="-127"/>
                <a:ea typeface="맑은 고딕" pitchFamily="50" charset="-127"/>
              </a:rPr>
              <a:t>Smart solution should naturally take into consideration them. And experts comments that simplicity is one of the critical characteristics.  For customer-oriented services becomes major directions in the smart society.  </a:t>
            </a:r>
            <a:endParaRPr lang="ko-KR" altLang="en-US" dirty="0" smtClean="0">
              <a:latin typeface="맑은 고딕" pitchFamily="50" charset="-127"/>
              <a:ea typeface="맑은 고딕" pitchFamily="50" charset="-127"/>
            </a:endParaRPr>
          </a:p>
          <a:p>
            <a:endParaRPr lang="ko-KR" altLang="en-US" dirty="0"/>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20</a:t>
            </a:fld>
            <a:endParaRPr lang="en-US" altLang="ko-KR"/>
          </a:p>
        </p:txBody>
      </p:sp>
    </p:spTree>
    <p:extLst>
      <p:ext uri="{BB962C8B-B14F-4D97-AF65-F5344CB8AC3E}">
        <p14:creationId xmlns:p14="http://schemas.microsoft.com/office/powerpoint/2010/main" val="3898811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a:noFill/>
        </p:spPr>
        <p:txBody>
          <a:bodyPr vert="horz" lIns="91440" tIns="45720" rIns="91440" bIns="45720" rtlCol="0">
            <a:normAutofit/>
          </a:bodyPr>
          <a:lstStyle/>
          <a:p>
            <a:pPr>
              <a:spcBef>
                <a:spcPct val="0"/>
              </a:spcBef>
            </a:pPr>
            <a:r>
              <a:rPr lang="en-US" altLang="ko-KR" dirty="0" smtClean="0">
                <a:latin typeface="Arial" pitchFamily="34" charset="0"/>
                <a:ea typeface="굴림" charset="-127"/>
                <a:cs typeface="Arial" pitchFamily="34" charset="0"/>
              </a:rPr>
              <a:t>New innovative national strategies that apply Smart ICT are needed to respond “smartly” and actively to today’s changing environment.  </a:t>
            </a:r>
          </a:p>
          <a:p>
            <a:pPr>
              <a:spcBef>
                <a:spcPct val="0"/>
              </a:spcBef>
            </a:pPr>
            <a:endParaRPr lang="en-US" altLang="ko-KR" dirty="0" smtClean="0">
              <a:latin typeface="Arial" pitchFamily="34" charset="0"/>
              <a:ea typeface="굴림" charset="-127"/>
              <a:cs typeface="Arial" pitchFamily="34" charset="0"/>
            </a:endParaRPr>
          </a:p>
          <a:p>
            <a:pPr>
              <a:spcBef>
                <a:spcPct val="0"/>
              </a:spcBef>
            </a:pPr>
            <a:r>
              <a:rPr lang="en-US" altLang="ko-KR" dirty="0" smtClean="0">
                <a:latin typeface="Arial" pitchFamily="34" charset="0"/>
                <a:ea typeface="굴림" charset="-127"/>
                <a:cs typeface="Arial" pitchFamily="34" charset="0"/>
              </a:rPr>
              <a:t>This is what we in Korea refer to as the </a:t>
            </a:r>
            <a:r>
              <a:rPr lang="en-US" altLang="ko-KR" b="1" dirty="0" smtClean="0">
                <a:latin typeface="Arial" pitchFamily="34" charset="0"/>
                <a:ea typeface="굴림" charset="-127"/>
                <a:cs typeface="Arial" pitchFamily="34" charset="0"/>
              </a:rPr>
              <a:t>“Smart e-Government” Strategy</a:t>
            </a:r>
            <a:r>
              <a:rPr lang="en-US" altLang="ko-KR" dirty="0" smtClean="0">
                <a:latin typeface="Arial" pitchFamily="34" charset="0"/>
                <a:ea typeface="굴림" charset="-127"/>
                <a:cs typeface="Arial" pitchFamily="34" charset="0"/>
              </a:rPr>
              <a:t>,</a:t>
            </a:r>
            <a:r>
              <a:rPr lang="en-US" altLang="ko-KR" baseline="0" dirty="0" smtClean="0">
                <a:latin typeface="Arial" pitchFamily="34" charset="0"/>
                <a:ea typeface="굴림" charset="-127"/>
                <a:cs typeface="Arial" pitchFamily="34" charset="0"/>
              </a:rPr>
              <a:t> composed of 5 agendas shown here. </a:t>
            </a:r>
          </a:p>
          <a:p>
            <a:endParaRPr lang="en-US" altLang="ko-KR" dirty="0" smtClean="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Five key agendas that reach out beyond the limit of current e-Government include: </a:t>
            </a: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Firstly, the realization of the world’s best mobile e-Government</a:t>
            </a:r>
            <a:r>
              <a:rPr lang="en-US" altLang="ko-KR" baseline="0" dirty="0" smtClean="0">
                <a:latin typeface="Times New Roman" pitchFamily="18" charset="0"/>
                <a:cs typeface="Times New Roman" pitchFamily="18" charset="0"/>
              </a:rPr>
              <a:t> is considered the most important one of the 5 agendas.</a:t>
            </a:r>
          </a:p>
          <a:p>
            <a:r>
              <a:rPr lang="en-US" altLang="ko-KR" dirty="0" smtClean="0">
                <a:latin typeface="Times New Roman" pitchFamily="18" charset="0"/>
                <a:cs typeface="Times New Roman" pitchFamily="18" charset="0"/>
              </a:rPr>
              <a:t>Second,</a:t>
            </a:r>
          </a:p>
          <a:p>
            <a:r>
              <a:rPr lang="en-US" altLang="ko-KR" baseline="0" dirty="0" smtClean="0">
                <a:latin typeface="Times New Roman" pitchFamily="18" charset="0"/>
                <a:cs typeface="Times New Roman" pitchFamily="18" charset="0"/>
              </a:rPr>
              <a:t>Third,</a:t>
            </a:r>
          </a:p>
          <a:p>
            <a:r>
              <a:rPr lang="en-US" altLang="ko-KR" dirty="0" smtClean="0">
                <a:latin typeface="Times New Roman" pitchFamily="18" charset="0"/>
                <a:cs typeface="Times New Roman" pitchFamily="18" charset="0"/>
              </a:rPr>
              <a:t>Forth,</a:t>
            </a:r>
          </a:p>
          <a:p>
            <a:r>
              <a:rPr lang="en-US" altLang="ko-KR" baseline="0" dirty="0" smtClean="0">
                <a:latin typeface="Times New Roman" pitchFamily="18" charset="0"/>
                <a:cs typeface="Times New Roman" pitchFamily="18" charset="0"/>
              </a:rPr>
              <a:t>Finally</a:t>
            </a:r>
          </a:p>
          <a:p>
            <a:endParaRPr lang="en-US" altLang="ko-KR" baseline="0" dirty="0" smtClean="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pPr algn="just">
              <a:lnSpc>
                <a:spcPct val="150000"/>
              </a:lnSpc>
              <a:spcBef>
                <a:spcPct val="0"/>
              </a:spcBef>
              <a:defRPr/>
            </a:pPr>
            <a:endParaRPr lang="ko-KR" altLang="en-US" dirty="0" smtClean="0">
              <a:latin typeface="Times New Roman" pitchFamily="18" charset="0"/>
              <a:cs typeface="Times New Roman" pitchFamily="18" charset="0"/>
            </a:endParaRPr>
          </a:p>
          <a:p>
            <a:pPr algn="just">
              <a:lnSpc>
                <a:spcPct val="150000"/>
              </a:lnSpc>
              <a:spcBef>
                <a:spcPct val="0"/>
              </a:spcBef>
              <a:defRPr/>
            </a:pPr>
            <a:endParaRPr lang="ko-KR" altLang="en-US" dirty="0">
              <a:latin typeface="Times New Roman" pitchFamily="18" charset="0"/>
              <a:cs typeface="Times New Roman" pitchFamily="18" charset="0"/>
            </a:endParaRPr>
          </a:p>
        </p:txBody>
      </p:sp>
      <p:sp>
        <p:nvSpPr>
          <p:cNvPr id="4" name="슬라이드 번호 개체 틀 3"/>
          <p:cNvSpPr>
            <a:spLocks noGrp="1"/>
          </p:cNvSpPr>
          <p:nvPr>
            <p:ph type="sldNum" sz="quarter" idx="10"/>
          </p:nvPr>
        </p:nvSpPr>
        <p:spPr/>
        <p:txBody>
          <a:bodyPr/>
          <a:lstStyle/>
          <a:p>
            <a:fld id="{C754DFF0-55CB-42AF-850B-D57679333B35}" type="slidenum">
              <a:rPr lang="ko-KR" altLang="en-US" smtClean="0"/>
              <a:pPr/>
              <a:t>21</a:t>
            </a:fld>
            <a:endParaRPr lang="ko-KR"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IT has undergo</a:t>
            </a:r>
            <a:r>
              <a:rPr lang="en-US" altLang="ko-KR" baseline="0" dirty="0" smtClean="0"/>
              <a:t> the changing role from the core instrument of efficiency to </a:t>
            </a:r>
            <a:endParaRPr lang="en-US" altLang="ko-KR" dirty="0" smtClean="0"/>
          </a:p>
          <a:p>
            <a:r>
              <a:rPr lang="en-US" altLang="ko-KR" dirty="0" smtClean="0"/>
              <a:t>the platform of </a:t>
            </a:r>
            <a:r>
              <a:rPr lang="en-US" altLang="ko-KR" baseline="0" dirty="0" smtClean="0"/>
              <a:t>open innovation and c</a:t>
            </a:r>
            <a:r>
              <a:rPr lang="en-US" altLang="ko-KR" dirty="0" smtClean="0"/>
              <a:t>reative</a:t>
            </a:r>
            <a:r>
              <a:rPr lang="en-US" altLang="ko-KR" baseline="0" dirty="0" smtClean="0"/>
              <a:t> collaboration.</a:t>
            </a:r>
            <a:endParaRPr lang="ko-KR" altLang="en-US" dirty="0"/>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22</a:t>
            </a:fld>
            <a:endParaRPr lang="en-US" altLang="ko-KR"/>
          </a:p>
        </p:txBody>
      </p:sp>
    </p:spTree>
    <p:extLst>
      <p:ext uri="{BB962C8B-B14F-4D97-AF65-F5344CB8AC3E}">
        <p14:creationId xmlns:p14="http://schemas.microsoft.com/office/powerpoint/2010/main" val="3331558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슬라이드 이미지 개체 틀 1"/>
          <p:cNvSpPr>
            <a:spLocks noGrp="1" noRot="1" noChangeAspect="1"/>
          </p:cNvSpPr>
          <p:nvPr>
            <p:ph type="sldImg"/>
          </p:nvPr>
        </p:nvSpPr>
        <p:spPr>
          <a:ln/>
        </p:spPr>
      </p:sp>
      <p:sp>
        <p:nvSpPr>
          <p:cNvPr id="3" name="슬라이드 노트 개체 틀 2"/>
          <p:cNvSpPr>
            <a:spLocks noGrp="1"/>
          </p:cNvSpPr>
          <p:nvPr>
            <p:ph type="body" idx="1"/>
          </p:nvPr>
        </p:nvSpPr>
        <p:spPr/>
        <p:txBody>
          <a:bodyPr>
            <a:normAutofit/>
          </a:bodyPr>
          <a:lstStyle/>
          <a:p>
            <a:r>
              <a:rPr lang="en-US" altLang="ko-KR" dirty="0" smtClean="0">
                <a:latin typeface="Arial Unicode MS" pitchFamily="50" charset="-127"/>
                <a:ea typeface="Arial Unicode MS" pitchFamily="50" charset="-127"/>
                <a:cs typeface="Arial Unicode MS" pitchFamily="50" charset="-127"/>
              </a:rPr>
              <a:t>In</a:t>
            </a:r>
            <a:r>
              <a:rPr lang="ko-KR" altLang="en-US" baseline="0" dirty="0" smtClean="0">
                <a:latin typeface="Arial Unicode MS" pitchFamily="50" charset="-127"/>
                <a:ea typeface="Arial Unicode MS" pitchFamily="50" charset="-127"/>
                <a:cs typeface="Arial Unicode MS" pitchFamily="50" charset="-127"/>
              </a:rPr>
              <a:t> </a:t>
            </a:r>
            <a:r>
              <a:rPr lang="en-US" altLang="ko-KR" baseline="0" dirty="0" smtClean="0">
                <a:latin typeface="Arial Unicode MS" pitchFamily="50" charset="-127"/>
                <a:ea typeface="Arial Unicode MS" pitchFamily="50" charset="-127"/>
                <a:cs typeface="Arial Unicode MS" pitchFamily="50" charset="-127"/>
              </a:rPr>
              <a:t>order to realize m-Government, 3 kinds of services are required.</a:t>
            </a:r>
          </a:p>
          <a:p>
            <a:r>
              <a:rPr lang="en-US" altLang="ko-KR" dirty="0" smtClean="0">
                <a:latin typeface="Arial Unicode MS" pitchFamily="50" charset="-127"/>
                <a:ea typeface="Arial Unicode MS" pitchFamily="50" charset="-127"/>
                <a:cs typeface="Arial Unicode MS" pitchFamily="50" charset="-127"/>
              </a:rPr>
              <a:t>That are C2CG, G2C, and G2G.  </a:t>
            </a:r>
          </a:p>
          <a:p>
            <a:r>
              <a:rPr lang="en-US" altLang="ko-KR" dirty="0" smtClean="0">
                <a:latin typeface="Arial Unicode MS" pitchFamily="50" charset="-127"/>
                <a:ea typeface="Arial Unicode MS" pitchFamily="50" charset="-127"/>
                <a:cs typeface="Arial Unicode MS" pitchFamily="50" charset="-127"/>
              </a:rPr>
              <a:t>Among these C2CG is the most characteristic type in the smart government</a:t>
            </a:r>
          </a:p>
          <a:p>
            <a:endParaRPr lang="en-US" altLang="ko-KR" dirty="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First, C2CG.</a:t>
            </a:r>
            <a:r>
              <a:rPr lang="en-US" altLang="ko-KR" baseline="0" dirty="0" smtClean="0">
                <a:latin typeface="Times New Roman" pitchFamily="18" charset="0"/>
                <a:cs typeface="Times New Roman" pitchFamily="18" charset="0"/>
              </a:rPr>
              <a:t> This means the services from citizen to citizen and government. Mobile services are used for collaboration between citizens and government. This is the type of service based on creative people power.</a:t>
            </a: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Second</a:t>
            </a:r>
            <a:r>
              <a:rPr lang="en-US" altLang="ko-KR" baseline="0" dirty="0" smtClean="0">
                <a:latin typeface="Times New Roman" pitchFamily="18" charset="0"/>
                <a:cs typeface="Times New Roman" pitchFamily="18" charset="0"/>
              </a:rPr>
              <a:t> is a G2C type. Government provides valuable information to citizens, such as tax information, road traffic conditions, health, etc. Citizens can get real-time information at anywhere and anytime.</a:t>
            </a:r>
          </a:p>
          <a:p>
            <a:endParaRPr lang="en-US" altLang="ko-KR" baseline="0" dirty="0" smtClean="0">
              <a:latin typeface="Times New Roman" pitchFamily="18" charset="0"/>
              <a:cs typeface="Times New Roman" pitchFamily="18" charset="0"/>
            </a:endParaRPr>
          </a:p>
          <a:p>
            <a:r>
              <a:rPr lang="en-US" altLang="ko-KR" baseline="0" dirty="0" smtClean="0">
                <a:latin typeface="Times New Roman" pitchFamily="18" charset="0"/>
                <a:cs typeface="Times New Roman" pitchFamily="18" charset="0"/>
              </a:rPr>
              <a:t>Third, G2G is for enhancing government officials productivity and their convenience, for example, work reporting processes, disaster management out in the field, etc.</a:t>
            </a:r>
          </a:p>
          <a:p>
            <a:endParaRPr lang="en-US" altLang="ko-KR" baseline="0" dirty="0" smtClean="0">
              <a:latin typeface="Times New Roman" pitchFamily="18" charset="0"/>
              <a:cs typeface="Times New Roman" pitchFamily="18" charset="0"/>
            </a:endParaRPr>
          </a:p>
        </p:txBody>
      </p:sp>
      <p:sp>
        <p:nvSpPr>
          <p:cNvPr id="179203" name="슬라이드 번호 개체 틀 3"/>
          <p:cNvSpPr>
            <a:spLocks noGrp="1"/>
          </p:cNvSpPr>
          <p:nvPr>
            <p:ph type="sldNum" sz="quarter" idx="5"/>
          </p:nvPr>
        </p:nvSpPr>
        <p:spPr>
          <a:noFill/>
          <a:ln>
            <a:miter lim="800000"/>
            <a:headEnd/>
            <a:tailEnd/>
          </a:ln>
        </p:spPr>
        <p:txBody>
          <a:bodyPr/>
          <a:lstStyle/>
          <a:p>
            <a:fld id="{C3F60682-0DE4-4A46-99C7-671BDEFE8D50}" type="slidenum">
              <a:rPr lang="en-US" altLang="ko-KR" smtClean="0"/>
              <a:pPr/>
              <a:t>23</a:t>
            </a:fld>
            <a:endParaRPr lang="en-US" altLang="ko-K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Analysing</a:t>
            </a:r>
            <a:r>
              <a:rPr lang="en-US" altLang="ko-KR" dirty="0" smtClean="0"/>
              <a:t> the EU’s recent research on the enablers of ICT-driven </a:t>
            </a:r>
            <a:r>
              <a:rPr lang="en-US" altLang="ko-KR" dirty="0" smtClean="0"/>
              <a:t>public sector </a:t>
            </a:r>
            <a:r>
              <a:rPr lang="en-US" altLang="ko-KR" dirty="0" smtClean="0"/>
              <a:t>innovation and Korea’s approach to Smart society, I ‘d like suggest some actionable considerations for Rwanda. Most of EU research agendas generally coincide with </a:t>
            </a:r>
            <a:r>
              <a:rPr lang="en-US" altLang="ko-KR" dirty="0" smtClean="0"/>
              <a:t>what we have thought </a:t>
            </a:r>
            <a:r>
              <a:rPr lang="en-US" altLang="ko-KR" dirty="0" smtClean="0"/>
              <a:t>and are taking actions. </a:t>
            </a:r>
            <a:endParaRPr lang="en-US" altLang="ko-KR" dirty="0" smtClean="0"/>
          </a:p>
          <a:p>
            <a:endParaRPr lang="en-US" altLang="ko-KR" dirty="0"/>
          </a:p>
          <a:p>
            <a:r>
              <a:rPr lang="en-US" altLang="ko-KR" dirty="0" smtClean="0"/>
              <a:t>The five categories might be generally included in the smart Rwanda program 3.0. T</a:t>
            </a:r>
            <a:r>
              <a:rPr lang="en-US" altLang="ko-KR" dirty="0" smtClean="0"/>
              <a:t>he constraint of physical and human resources and capabilities will be barriers to achieve the vision. But taking step by step approach and applying smart strategy with strong passion for national development thru ICT can overcome those obstacles. </a:t>
            </a:r>
          </a:p>
          <a:p>
            <a:endParaRPr lang="en-US" altLang="ko-KR" dirty="0"/>
          </a:p>
          <a:p>
            <a:pPr fontAlgn="t"/>
            <a:r>
              <a:rPr lang="en-US" altLang="ko-KR" dirty="0" smtClean="0"/>
              <a:t>Infra &amp; process has been and will always be the key enablers of ICT. Cloud</a:t>
            </a:r>
            <a:r>
              <a:rPr lang="en-US" altLang="ko-KR" dirty="0"/>
              <a:t>, EA, </a:t>
            </a:r>
            <a:r>
              <a:rPr lang="en-US" altLang="ko-KR" dirty="0" smtClean="0"/>
              <a:t>methodology</a:t>
            </a:r>
            <a:r>
              <a:rPr lang="en-US" altLang="ko-KR" dirty="0"/>
              <a:t>, PET, e-ID are </a:t>
            </a:r>
            <a:r>
              <a:rPr lang="en-US" altLang="ko-KR" dirty="0" smtClean="0"/>
              <a:t>critical </a:t>
            </a:r>
            <a:r>
              <a:rPr lang="en-US" altLang="ko-KR" dirty="0"/>
              <a:t>for advanced ICT.  To build </a:t>
            </a:r>
            <a:r>
              <a:rPr lang="en-US" altLang="ko-KR" dirty="0" smtClean="0"/>
              <a:t>independent competency </a:t>
            </a:r>
            <a:r>
              <a:rPr lang="en-US" altLang="ko-KR" dirty="0"/>
              <a:t>in this area is </a:t>
            </a:r>
            <a:r>
              <a:rPr lang="en-US" altLang="ko-KR" dirty="0" smtClean="0"/>
              <a:t>very important.</a:t>
            </a:r>
            <a:endParaRPr lang="ko-KR" altLang="ko-KR" dirty="0"/>
          </a:p>
          <a:p>
            <a:pPr fontAlgn="t"/>
            <a:endParaRPr lang="en-US" altLang="ko-KR" dirty="0" smtClean="0"/>
          </a:p>
          <a:p>
            <a:pPr fontAlgn="t"/>
            <a:r>
              <a:rPr lang="en-US" altLang="ko-KR" dirty="0" smtClean="0"/>
              <a:t>Systematic data governance policy and the accumulation </a:t>
            </a:r>
            <a:r>
              <a:rPr lang="en-US" altLang="ko-KR" dirty="0"/>
              <a:t>of </a:t>
            </a:r>
            <a:r>
              <a:rPr lang="en-US" altLang="ko-KR" dirty="0" smtClean="0"/>
              <a:t>basic public </a:t>
            </a:r>
            <a:r>
              <a:rPr lang="en-US" altLang="ko-KR" dirty="0"/>
              <a:t>data </a:t>
            </a:r>
            <a:r>
              <a:rPr lang="en-US" altLang="ko-KR" dirty="0" smtClean="0"/>
              <a:t>is the prerequisite to next generation data policy and technology.</a:t>
            </a:r>
            <a:endParaRPr lang="ko-KR" altLang="ko-KR" dirty="0"/>
          </a:p>
          <a:p>
            <a:pPr fontAlgn="t"/>
            <a:r>
              <a:rPr lang="en-US" altLang="ko-KR" dirty="0" smtClean="0"/>
              <a:t>, </a:t>
            </a:r>
            <a:endParaRPr lang="ko-KR" altLang="ko-KR" dirty="0"/>
          </a:p>
          <a:p>
            <a:pPr fontAlgn="t"/>
            <a:r>
              <a:rPr lang="en-US" altLang="ko-KR" dirty="0"/>
              <a:t>Research </a:t>
            </a:r>
            <a:r>
              <a:rPr lang="en-US" altLang="ko-KR" dirty="0" smtClean="0"/>
              <a:t>on </a:t>
            </a:r>
            <a:r>
              <a:rPr lang="en-US" altLang="ko-KR" dirty="0"/>
              <a:t>proto-type of Rwanda mobile </a:t>
            </a:r>
            <a:r>
              <a:rPr lang="en-US" altLang="ko-KR" dirty="0" smtClean="0"/>
              <a:t>platform is challenging and killer application applicable to the whole Africa  should actively  .</a:t>
            </a:r>
          </a:p>
          <a:p>
            <a:pPr fontAlgn="t"/>
            <a:endParaRPr lang="en-US" altLang="ko-KR" dirty="0" smtClean="0"/>
          </a:p>
          <a:p>
            <a:pPr fontAlgn="t"/>
            <a:r>
              <a:rPr lang="en-US" altLang="ko-KR" dirty="0" smtClean="0"/>
              <a:t>Last, civil servants and working process is as essential in starting country as advanced country. </a:t>
            </a:r>
            <a:endParaRPr lang="ko-KR" altLang="ko-KR" dirty="0"/>
          </a:p>
          <a:p>
            <a:endParaRPr lang="en-US" altLang="ko-KR"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24</a:t>
            </a:fld>
            <a:endParaRPr lang="ko-KR" altLang="en-US"/>
          </a:p>
        </p:txBody>
      </p:sp>
    </p:spTree>
    <p:extLst>
      <p:ext uri="{BB962C8B-B14F-4D97-AF65-F5344CB8AC3E}">
        <p14:creationId xmlns:p14="http://schemas.microsoft.com/office/powerpoint/2010/main" val="1473410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9F2DED90-5877-43A9-B0DC-F5123C38FE76}"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67321164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0CD63F0-B0B0-4E42-A6CE-B68C82511D23}"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240899331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93A49D9A-01B7-45CA-BA2F-111AFF59252F}"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5743664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50E829FA-D5A0-4636-8397-E8DC6DC38D19}"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
        <p:nvSpPr>
          <p:cNvPr id="8" name="직사각형 7"/>
          <p:cNvSpPr/>
          <p:nvPr userDrawn="1"/>
        </p:nvSpPr>
        <p:spPr>
          <a:xfrm>
            <a:off x="-13473" y="260648"/>
            <a:ext cx="971600" cy="288032"/>
          </a:xfrm>
          <a:prstGeom prst="rect">
            <a:avLst/>
          </a:prstGeom>
          <a:solidFill>
            <a:srgbClr val="00ADDC"/>
          </a:solidFill>
          <a:ln w="25400" cap="flat" cmpd="sng" algn="ctr">
            <a:solidFill>
              <a:srgbClr val="00B0F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ko-KR" altLang="en-US" sz="1800" b="1" i="0" u="none" strike="noStrike" kern="0" cap="none" spc="0" normalizeH="0" baseline="0" noProof="0" smtClean="0">
              <a:ln>
                <a:noFill/>
              </a:ln>
              <a:solidFill>
                <a:prstClr val="white"/>
              </a:solidFill>
              <a:effectLst/>
              <a:uLnTx/>
              <a:uFillTx/>
              <a:latin typeface="-윤고딕120"/>
              <a:ea typeface="-윤고딕120"/>
              <a:cs typeface="+mn-cs"/>
            </a:endParaRPr>
          </a:p>
        </p:txBody>
      </p:sp>
    </p:spTree>
    <p:extLst>
      <p:ext uri="{BB962C8B-B14F-4D97-AF65-F5344CB8AC3E}">
        <p14:creationId xmlns:p14="http://schemas.microsoft.com/office/powerpoint/2010/main" val="5100662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9D051587-0730-4BF1-B0A0-73D5635AC7C7}"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917323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874242D3-866B-4659-9247-427B9951396C}" type="datetime1">
              <a:rPr lang="ko-KR" altLang="en-US" smtClean="0"/>
              <a:pPr/>
              <a:t>2013-06-16</a:t>
            </a:fld>
            <a:endParaRPr lang="ko-KR" altLang="en-US" dirty="0"/>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F563537-3992-4579-A065-26E1D23BF530}" type="slidenum">
              <a:rPr lang="ko-KR" altLang="en-US" smtClean="0"/>
              <a:pPr/>
              <a:t>‹#›</a:t>
            </a:fld>
            <a:endParaRPr lang="ko-KR" altLang="en-US" dirty="0"/>
          </a:p>
        </p:txBody>
      </p:sp>
    </p:spTree>
    <p:extLst>
      <p:ext uri="{BB962C8B-B14F-4D97-AF65-F5344CB8AC3E}">
        <p14:creationId xmlns:p14="http://schemas.microsoft.com/office/powerpoint/2010/main" val="189954614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AA996E3A-86BB-4FEB-9277-33D9B69EAE71}"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8406514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4F136D0-AF3A-4860-84B5-2D4C3E1BBE37}"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22999467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38D2475-6A6B-4BB2-B65C-2E2CE677F868}"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93068128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6657CE8-B598-460B-B401-7964112461D6}"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40684089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51025E5B-218B-49A8-854F-7AEE0537EE1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08123374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제목만 레이아웃">
    <p:spTree>
      <p:nvGrpSpPr>
        <p:cNvPr id="1" name=""/>
        <p:cNvGrpSpPr/>
        <p:nvPr/>
      </p:nvGrpSpPr>
      <p:grpSpPr>
        <a:xfrm>
          <a:off x="0" y="0"/>
          <a:ext cx="0" cy="0"/>
          <a:chOff x="0" y="0"/>
          <a:chExt cx="0" cy="0"/>
        </a:xfrm>
      </p:grpSpPr>
      <p:sp>
        <p:nvSpPr>
          <p:cNvPr id="2" name="제목 1"/>
          <p:cNvSpPr>
            <a:spLocks noGrp="1"/>
          </p:cNvSpPr>
          <p:nvPr>
            <p:ph type="title"/>
          </p:nvPr>
        </p:nvSpPr>
        <p:spPr>
          <a:xfrm>
            <a:off x="396000" y="126000"/>
            <a:ext cx="8352000" cy="522000"/>
          </a:xfrm>
        </p:spPr>
        <p:txBody>
          <a:bodyPr lIns="0" rIns="0">
            <a:normAutofit/>
          </a:bodyPr>
          <a:lstStyle>
            <a:lvl1pPr algn="l">
              <a:defRPr lang="ko-KR" altLang="en-US" sz="2800" i="1" kern="1200" dirty="0">
                <a:ln>
                  <a:solidFill>
                    <a:prstClr val="white">
                      <a:lumMod val="75000"/>
                    </a:prstClr>
                  </a:solidFill>
                </a:ln>
                <a:solidFill>
                  <a:srgbClr val="002060"/>
                </a:solidFill>
                <a:latin typeface="Arial Black" pitchFamily="34" charset="0"/>
                <a:ea typeface="+mn-ea"/>
                <a:cs typeface="Arial" pitchFamily="34" charset="0"/>
              </a:defRPr>
            </a:lvl1pPr>
          </a:lstStyle>
          <a:p>
            <a:r>
              <a:rPr lang="ko-KR" altLang="en-US" dirty="0" smtClean="0"/>
              <a:t>마스터 제목 스타일 편집</a:t>
            </a:r>
            <a:endParaRPr lang="ko-KR" altLang="en-US" dirty="0"/>
          </a:p>
        </p:txBody>
      </p:sp>
    </p:spTree>
    <p:extLst>
      <p:ext uri="{BB962C8B-B14F-4D97-AF65-F5344CB8AC3E}">
        <p14:creationId xmlns:p14="http://schemas.microsoft.com/office/powerpoint/2010/main" val="339135356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마스터 제목 스타일 편집</a:t>
            </a:r>
            <a:endParaRPr lang="ko-KR" altLang="en-US" dirty="0"/>
          </a:p>
        </p:txBody>
      </p:sp>
      <p:sp>
        <p:nvSpPr>
          <p:cNvPr id="3" name="날짜 개체 틀 2"/>
          <p:cNvSpPr>
            <a:spLocks noGrp="1"/>
          </p:cNvSpPr>
          <p:nvPr>
            <p:ph type="dt" sz="half" idx="10"/>
          </p:nvPr>
        </p:nvSpPr>
        <p:spPr/>
        <p:txBody>
          <a:bodyPr/>
          <a:lstStyle/>
          <a:p>
            <a:fld id="{A8F977D4-8A8B-4F39-84CC-05DB7346FD24}"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3806964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E518ED37-F00E-4C15-82B1-5F3689DC8B39}"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225061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6691D2AB-6946-4C5C-BC15-35E949B63055}"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338302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06AB89E8-EAF1-4D3B-BE2F-CE8FD65C9C9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196191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EFE958C0-EAD8-401D-8471-57223DB2D3BA}"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5077285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2EF30435-B955-4030-BBF5-5E5821A2EDB5}"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602051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6095E422-FD4A-456D-A50C-9BAABA91236E}"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563607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0BBB0CF-AD86-40DA-B7B4-E968CC5FEC3B}"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1957881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8D96E723-35E5-405D-9CFC-CBE388667AD7}"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459817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9F3EACD1-4014-4229-86D7-FBD0D592F98A}"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4648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D2B71D7-0EAA-4352-B36F-19E074397240}"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578444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864723D-03F6-4353-951E-239E57C35E1B}"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4318955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DE2F29E3-7B3E-4054-9853-0A8F0398414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2846703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FE14D8AC-CA11-4BA6-A8A5-A0D231F2FECF}"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4297831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E4366471-7D95-41FE-B2F8-38FF78B23F5A}"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49745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9BFC61DF-CE7B-4B5C-976D-2E218B49E893}"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21826116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DA2C3571-F2E0-4A41-9F37-291FC1641174}"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5576868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3BFD10AE-4C2F-4A4B-935A-E2640A4B9DA2}"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9301307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407BC60-E05A-454E-90C9-D48F5389DB07}"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6973845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8A3710CD-D6AA-4C69-8EFD-1AD0E7FB7830}"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8944038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13004C9E-CD5D-4B02-9606-D472102944A9}"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8463774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0C9E370-5CAD-41E1-965D-A215B2FA6B79}"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1104928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87C47AC0-CD8D-4A8C-BF57-D5B2EA4CFE61}"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56427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987C7-1BC7-42BF-99BB-CC1791DAC9F4}"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2732843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E8DE44-0E2B-45D6-AE7D-730721918369}"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42018571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F015C-FF5D-48DA-9D73-DE8076F33200}"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154992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jpe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19.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en-US" altLang="ko-KR" dirty="0" smtClean="0">
                <a:latin typeface="Tahoma" pitchFamily="34" charset="0"/>
                <a:ea typeface="Tahoma" pitchFamily="34" charset="0"/>
                <a:cs typeface="Tahoma" pitchFamily="34" charset="0"/>
              </a:rPr>
              <a:t>Smart Enablers in Korea</a:t>
            </a:r>
            <a:endParaRPr lang="ko-KR" altLang="en-US" dirty="0">
              <a:latin typeface="Tahoma" pitchFamily="34" charset="0"/>
              <a:cs typeface="Tahoma" pitchFamily="34" charset="0"/>
            </a:endParaRPr>
          </a:p>
        </p:txBody>
      </p:sp>
      <p:sp>
        <p:nvSpPr>
          <p:cNvPr id="3" name="부제목 2"/>
          <p:cNvSpPr>
            <a:spLocks noGrp="1"/>
          </p:cNvSpPr>
          <p:nvPr>
            <p:ph type="subTitle" idx="1"/>
          </p:nvPr>
        </p:nvSpPr>
        <p:spPr/>
        <p:txBody>
          <a:bodyPr/>
          <a:lstStyle/>
          <a:p>
            <a:r>
              <a:rPr lang="en-US" altLang="ko-KR" dirty="0" smtClean="0">
                <a:latin typeface="Tahoma" pitchFamily="34" charset="0"/>
                <a:ea typeface="Tahoma" pitchFamily="34" charset="0"/>
                <a:cs typeface="Tahoma" pitchFamily="34" charset="0"/>
              </a:rPr>
              <a:t>NIA</a:t>
            </a:r>
          </a:p>
          <a:p>
            <a:r>
              <a:rPr lang="en-US" altLang="ko-KR" dirty="0" smtClean="0">
                <a:latin typeface="Tahoma" pitchFamily="34" charset="0"/>
                <a:ea typeface="Tahoma" pitchFamily="34" charset="0"/>
                <a:cs typeface="Tahoma" pitchFamily="34" charset="0"/>
              </a:rPr>
              <a:t>Dr. </a:t>
            </a:r>
            <a:r>
              <a:rPr lang="en-US" altLang="ko-KR" dirty="0" err="1" smtClean="0">
                <a:latin typeface="Tahoma" pitchFamily="34" charset="0"/>
                <a:ea typeface="Tahoma" pitchFamily="34" charset="0"/>
                <a:cs typeface="Tahoma" pitchFamily="34" charset="0"/>
              </a:rPr>
              <a:t>Wanil</a:t>
            </a:r>
            <a:r>
              <a:rPr lang="en-US" altLang="ko-KR" dirty="0" smtClean="0">
                <a:latin typeface="Tahoma" pitchFamily="34" charset="0"/>
                <a:ea typeface="Tahoma" pitchFamily="34" charset="0"/>
                <a:cs typeface="Tahoma" pitchFamily="34" charset="0"/>
              </a:rPr>
              <a:t> Choi</a:t>
            </a:r>
            <a:endParaRPr lang="ko-KR" altLang="en-US" dirty="0">
              <a:latin typeface="Tahoma" pitchFamily="34" charset="0"/>
              <a:cs typeface="Tahoma" pitchFamily="34" charset="0"/>
            </a:endParaRPr>
          </a:p>
        </p:txBody>
      </p:sp>
      <p:pic>
        <p:nvPicPr>
          <p:cNvPr id="5" name="그림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Picture 2" descr="I:\★Clipart★\logo\한국정보화진흥원\국문_상하_A [Converted].png"/>
          <p:cNvPicPr>
            <a:picLocks noChangeAspect="1" noChangeArrowheads="1"/>
          </p:cNvPicPr>
          <p:nvPr/>
        </p:nvPicPr>
        <p:blipFill>
          <a:blip r:embed="rId4" cstate="print"/>
          <a:srcRect/>
          <a:stretch>
            <a:fillRect/>
          </a:stretch>
        </p:blipFill>
        <p:spPr bwMode="auto">
          <a:xfrm>
            <a:off x="7740352" y="5877272"/>
            <a:ext cx="1152128" cy="809435"/>
          </a:xfrm>
          <a:prstGeom prst="rect">
            <a:avLst/>
          </a:prstGeom>
          <a:noFill/>
        </p:spPr>
      </p:pic>
      <p:sp>
        <p:nvSpPr>
          <p:cNvPr id="7" name="AutoShape 9"/>
          <p:cNvSpPr>
            <a:spLocks noChangeArrowheads="1"/>
          </p:cNvSpPr>
          <p:nvPr/>
        </p:nvSpPr>
        <p:spPr bwMode="auto">
          <a:xfrm>
            <a:off x="5854107" y="2775595"/>
            <a:ext cx="2592288" cy="360040"/>
          </a:xfrm>
          <a:prstGeom prst="roundRect">
            <a:avLst>
              <a:gd name="adj" fmla="val 16667"/>
            </a:avLst>
          </a:prstGeom>
          <a:solidFill>
            <a:schemeClr val="bg2">
              <a:lumMod val="25000"/>
            </a:schemeClr>
          </a:solidFill>
          <a:ln w="9525">
            <a:noFill/>
            <a:round/>
            <a:headEnd/>
            <a:tailEnd/>
          </a:ln>
        </p:spPr>
        <p:txBody>
          <a:bodyPr wrap="none" anchor="ctr"/>
          <a:lstStyle/>
          <a:p>
            <a:pPr marL="304800" indent="-304800" algn="ctr"/>
            <a:r>
              <a:rPr lang="en-US" altLang="ko-KR" sz="2000" dirty="0" smtClean="0">
                <a:ln>
                  <a:solidFill>
                    <a:schemeClr val="bg1">
                      <a:alpha val="5000"/>
                    </a:schemeClr>
                  </a:solidFill>
                </a:ln>
                <a:solidFill>
                  <a:schemeClr val="bg1"/>
                </a:solidFill>
                <a:latin typeface="나눔고딕 ExtraBold" pitchFamily="50" charset="-127"/>
                <a:ea typeface="나눔고딕 ExtraBold" pitchFamily="50" charset="-127"/>
                <a:cs typeface="Arial" pitchFamily="34" charset="0"/>
              </a:rPr>
              <a:t>June  17, 2013</a:t>
            </a:r>
            <a:endParaRPr lang="ko-KR" altLang="en-US" sz="2000" dirty="0">
              <a:ln>
                <a:solidFill>
                  <a:schemeClr val="bg1">
                    <a:alpha val="5000"/>
                  </a:schemeClr>
                </a:solidFill>
              </a:ln>
              <a:solidFill>
                <a:schemeClr val="bg1"/>
              </a:solidFill>
              <a:latin typeface="나눔고딕 ExtraBold" pitchFamily="50" charset="-127"/>
              <a:ea typeface="나눔고딕 ExtraBold" pitchFamily="50" charset="-127"/>
              <a:cs typeface="Arial" pitchFamily="34" charset="0"/>
            </a:endParaRPr>
          </a:p>
        </p:txBody>
      </p:sp>
      <p:sp>
        <p:nvSpPr>
          <p:cNvPr id="8" name="TextBox 7"/>
          <p:cNvSpPr txBox="1"/>
          <p:nvPr/>
        </p:nvSpPr>
        <p:spPr>
          <a:xfrm>
            <a:off x="2108870" y="1231940"/>
            <a:ext cx="6984776" cy="707886"/>
          </a:xfrm>
          <a:prstGeom prst="rect">
            <a:avLst/>
          </a:prstGeom>
          <a:noFill/>
        </p:spPr>
        <p:txBody>
          <a:bodyPr wrap="square" rtlCol="0">
            <a:spAutoFit/>
          </a:bodyPr>
          <a:lstStyle/>
          <a:p>
            <a:pPr algn="ctr"/>
            <a:r>
              <a:rPr lang="en-US" altLang="ko-KR" sz="4000" b="1"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rPr>
              <a:t>Smart Enablers </a:t>
            </a:r>
          </a:p>
        </p:txBody>
      </p:sp>
      <p:sp>
        <p:nvSpPr>
          <p:cNvPr id="9" name="직사각형 8"/>
          <p:cNvSpPr/>
          <p:nvPr/>
        </p:nvSpPr>
        <p:spPr>
          <a:xfrm>
            <a:off x="0" y="1340768"/>
            <a:ext cx="2195736" cy="504056"/>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ExtraBold" pitchFamily="50" charset="-127"/>
              <a:ea typeface="나눔고딕 ExtraBold" pitchFamily="50" charset="-127"/>
            </a:endParaRPr>
          </a:p>
        </p:txBody>
      </p:sp>
      <p:sp>
        <p:nvSpPr>
          <p:cNvPr id="10" name="TextBox 9"/>
          <p:cNvSpPr txBox="1"/>
          <p:nvPr/>
        </p:nvSpPr>
        <p:spPr>
          <a:xfrm>
            <a:off x="3030116" y="1907307"/>
            <a:ext cx="5832648" cy="646331"/>
          </a:xfrm>
          <a:prstGeom prst="rect">
            <a:avLst/>
          </a:prstGeom>
          <a:noFill/>
        </p:spPr>
        <p:txBody>
          <a:bodyPr wrap="square" rtlCol="0">
            <a:spAutoFit/>
          </a:bodyPr>
          <a:lstStyle/>
          <a:p>
            <a:pPr algn="ctr"/>
            <a:r>
              <a:rPr lang="en-US" altLang="ko-KR" sz="3600"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rPr>
              <a:t>- Case of Korea</a:t>
            </a:r>
            <a:endParaRPr lang="ko-KR" altLang="en-US" sz="3600"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endParaRPr>
          </a:p>
        </p:txBody>
      </p:sp>
      <p:sp>
        <p:nvSpPr>
          <p:cNvPr id="11" name="제목 1"/>
          <p:cNvSpPr txBox="1">
            <a:spLocks/>
          </p:cNvSpPr>
          <p:nvPr/>
        </p:nvSpPr>
        <p:spPr>
          <a:xfrm>
            <a:off x="3707904" y="3284984"/>
            <a:ext cx="4824536" cy="1512168"/>
          </a:xfrm>
          <a:prstGeom prst="rect">
            <a:avLst/>
          </a:prstGeom>
        </p:spPr>
        <p:txBody>
          <a:bodyPr vert="horz" lIns="91440" tIns="45720" rIns="91440" bIns="45720" rtlCol="0" anchor="ctr">
            <a:noAutofit/>
            <a:scene3d>
              <a:camera prst="orthographicFront"/>
              <a:lightRig rig="threePt" dir="t"/>
            </a:scene3d>
            <a:sp3d>
              <a:contourClr>
                <a:schemeClr val="bg1"/>
              </a:contourClr>
            </a:sp3d>
          </a:bodyPr>
          <a:lstStyle>
            <a:lvl1pPr algn="ctr" defTabSz="914400" rtl="0" eaLnBrk="1" latinLnBrk="1" hangingPunct="1">
              <a:spcBef>
                <a:spcPct val="0"/>
              </a:spcBef>
              <a:buNone/>
              <a:defRPr sz="5400" b="1" kern="1200" spc="0">
                <a:ln>
                  <a:solidFill>
                    <a:schemeClr val="bg1">
                      <a:alpha val="5000"/>
                    </a:schemeClr>
                  </a:solidFill>
                </a:ln>
                <a:gradFill flip="none" rotWithShape="1">
                  <a:gsLst>
                    <a:gs pos="0">
                      <a:schemeClr val="tx1">
                        <a:lumMod val="50000"/>
                        <a:lumOff val="50000"/>
                        <a:shade val="30000"/>
                        <a:satMod val="115000"/>
                      </a:schemeClr>
                    </a:gs>
                    <a:gs pos="50000">
                      <a:schemeClr val="tx1">
                        <a:lumMod val="50000"/>
                        <a:lumOff val="50000"/>
                        <a:shade val="67500"/>
                        <a:satMod val="115000"/>
                      </a:schemeClr>
                    </a:gs>
                    <a:gs pos="100000">
                      <a:schemeClr val="tx1">
                        <a:lumMod val="50000"/>
                        <a:lumOff val="50000"/>
                        <a:shade val="100000"/>
                        <a:satMod val="115000"/>
                      </a:schemeClr>
                    </a:gs>
                  </a:gsLst>
                  <a:lin ang="16200000" scaled="1"/>
                  <a:tileRect/>
                </a:gradFill>
                <a:effectLst/>
                <a:latin typeface="+mj-lt"/>
                <a:ea typeface="+mj-ea"/>
                <a:cs typeface="+mj-cs"/>
              </a:defRPr>
            </a:lvl1pPr>
          </a:lstStyle>
          <a:p>
            <a:pPr algn="r"/>
            <a:r>
              <a:rPr lang="en-US" altLang="ko-KR" sz="2800" dirty="0" err="1" smtClean="0">
                <a:solidFill>
                  <a:schemeClr val="tx1">
                    <a:lumMod val="65000"/>
                    <a:lumOff val="35000"/>
                  </a:schemeClr>
                </a:solidFill>
                <a:latin typeface="나눔고딕 ExtraBold" pitchFamily="50" charset="-127"/>
                <a:ea typeface="나눔고딕 ExtraBold" pitchFamily="50" charset="-127"/>
              </a:rPr>
              <a:t>Wanil</a:t>
            </a:r>
            <a:r>
              <a:rPr lang="en-US" altLang="ko-KR" sz="2800" dirty="0" smtClean="0">
                <a:solidFill>
                  <a:schemeClr val="tx1">
                    <a:lumMod val="65000"/>
                    <a:lumOff val="35000"/>
                  </a:schemeClr>
                </a:solidFill>
                <a:latin typeface="나눔고딕 ExtraBold" pitchFamily="50" charset="-127"/>
                <a:ea typeface="나눔고딕 ExtraBold" pitchFamily="50" charset="-127"/>
              </a:rPr>
              <a:t> Choi</a:t>
            </a:r>
          </a:p>
          <a:p>
            <a:pPr algn="r"/>
            <a:endParaRPr lang="ko-KR" altLang="en-US" sz="1200" dirty="0">
              <a:solidFill>
                <a:schemeClr val="tx1">
                  <a:lumMod val="65000"/>
                  <a:lumOff val="35000"/>
                </a:schemeClr>
              </a:solidFill>
              <a:latin typeface="나눔고딕 ExtraBold" pitchFamily="50" charset="-127"/>
              <a:ea typeface="나눔고딕 ExtraBold" pitchFamily="50" charset="-127"/>
            </a:endParaRPr>
          </a:p>
          <a:p>
            <a:pPr algn="r"/>
            <a:r>
              <a:rPr lang="en-US" altLang="ko-KR" sz="1600" dirty="0" smtClean="0">
                <a:solidFill>
                  <a:schemeClr val="tx1">
                    <a:lumMod val="65000"/>
                    <a:lumOff val="35000"/>
                  </a:schemeClr>
                </a:solidFill>
                <a:latin typeface="나눔고딕 ExtraBold" pitchFamily="50" charset="-127"/>
                <a:ea typeface="나눔고딕 ExtraBold" pitchFamily="50" charset="-127"/>
              </a:rPr>
              <a:t>Research Fellow / </a:t>
            </a:r>
            <a:r>
              <a:rPr lang="en-US" altLang="ko-KR" sz="1600" dirty="0" err="1" smtClean="0">
                <a:solidFill>
                  <a:schemeClr val="tx1">
                    <a:lumMod val="65000"/>
                    <a:lumOff val="35000"/>
                  </a:schemeClr>
                </a:solidFill>
                <a:latin typeface="나눔고딕 ExtraBold" pitchFamily="50" charset="-127"/>
                <a:ea typeface="나눔고딕 ExtraBold" pitchFamily="50" charset="-127"/>
              </a:rPr>
              <a:t>Ph.D</a:t>
            </a:r>
            <a:endParaRPr lang="en-US" altLang="ko-KR" sz="1600" dirty="0" smtClean="0">
              <a:solidFill>
                <a:schemeClr val="tx1">
                  <a:lumMod val="65000"/>
                  <a:lumOff val="35000"/>
                </a:schemeClr>
              </a:solidFill>
              <a:latin typeface="나눔고딕 ExtraBold" pitchFamily="50" charset="-127"/>
              <a:ea typeface="나눔고딕 ExtraBold" pitchFamily="50" charset="-127"/>
            </a:endParaRPr>
          </a:p>
          <a:p>
            <a:pPr algn="r"/>
            <a:r>
              <a:rPr lang="en-US" altLang="ko-KR" sz="1600" dirty="0" smtClean="0">
                <a:solidFill>
                  <a:schemeClr val="tx1">
                    <a:lumMod val="65000"/>
                    <a:lumOff val="35000"/>
                  </a:schemeClr>
                </a:solidFill>
                <a:latin typeface="나눔고딕 ExtraBold" pitchFamily="50" charset="-127"/>
                <a:ea typeface="나눔고딕 ExtraBold" pitchFamily="50" charset="-127"/>
              </a:rPr>
              <a:t>National Information Society Agency</a:t>
            </a:r>
          </a:p>
        </p:txBody>
      </p:sp>
      <p:sp>
        <p:nvSpPr>
          <p:cNvPr id="12" name="직사각형 11"/>
          <p:cNvSpPr/>
          <p:nvPr/>
        </p:nvSpPr>
        <p:spPr>
          <a:xfrm>
            <a:off x="0" y="5834"/>
            <a:ext cx="3680816" cy="369332"/>
          </a:xfrm>
          <a:prstGeom prst="rect">
            <a:avLst/>
          </a:prstGeom>
        </p:spPr>
        <p:txBody>
          <a:bodyPr wrap="none">
            <a:spAutoFit/>
          </a:bodyPr>
          <a:lstStyle/>
          <a:p>
            <a:r>
              <a:rPr lang="en-US" altLang="ko-KR" i="1" dirty="0" smtClean="0">
                <a:solidFill>
                  <a:schemeClr val="tx1">
                    <a:lumMod val="65000"/>
                    <a:lumOff val="35000"/>
                  </a:schemeClr>
                </a:solidFill>
                <a:latin typeface="나눔고딕 ExtraBold" pitchFamily="50" charset="-127"/>
                <a:ea typeface="나눔고딕 ExtraBold" pitchFamily="50" charset="-127"/>
              </a:rPr>
              <a:t>Smart Rwanda days 2013 : Kigali</a:t>
            </a:r>
            <a:endParaRPr lang="en-US" altLang="ko-KR" i="1" dirty="0">
              <a:solidFill>
                <a:schemeClr val="tx1">
                  <a:lumMod val="65000"/>
                  <a:lumOff val="35000"/>
                </a:schemeClr>
              </a:solidFill>
              <a:latin typeface="나눔고딕 ExtraBold" pitchFamily="50" charset="-127"/>
              <a:ea typeface="나눔고딕 ExtraBold" pitchFamily="50" charset="-127"/>
            </a:endParaRPr>
          </a:p>
        </p:txBody>
      </p:sp>
    </p:spTree>
    <p:extLst>
      <p:ext uri="{BB962C8B-B14F-4D97-AF65-F5344CB8AC3E}">
        <p14:creationId xmlns:p14="http://schemas.microsoft.com/office/powerpoint/2010/main" val="3045864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755576" y="116632"/>
            <a:ext cx="8100392" cy="634082"/>
          </a:xfrm>
        </p:spPr>
        <p:txBody>
          <a:bodyPr/>
          <a:lstStyle/>
          <a:p>
            <a:r>
              <a:rPr lang="en-US" altLang="ko-KR" sz="2800" dirty="0" smtClean="0">
                <a:latin typeface="Tahoma" pitchFamily="34" charset="0"/>
                <a:ea typeface="Tahoma" pitchFamily="34" charset="0"/>
                <a:cs typeface="Tahoma" pitchFamily="34" charset="0"/>
              </a:rPr>
              <a:t>IT and Nat’ l Development : Past-Present-Future</a:t>
            </a:r>
            <a:endParaRPr lang="ko-KR" altLang="en-US" sz="2800" dirty="0">
              <a:latin typeface="Tahoma" pitchFamily="34" charset="0"/>
              <a:ea typeface="나눔고딕 ExtraBold" pitchFamily="50" charset="-127"/>
              <a:cs typeface="Tahoma" pitchFamily="34" charset="0"/>
            </a:endParaRPr>
          </a:p>
        </p:txBody>
      </p:sp>
      <p:sp>
        <p:nvSpPr>
          <p:cNvPr id="16386" name="Rectangle 2"/>
          <p:cNvSpPr>
            <a:spLocks noChangeArrowheads="1"/>
          </p:cNvSpPr>
          <p:nvPr/>
        </p:nvSpPr>
        <p:spPr bwMode="auto">
          <a:xfrm>
            <a:off x="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ko-KR" altLang="en-US">
              <a:latin typeface="Tahoma" pitchFamily="34" charset="0"/>
              <a:ea typeface="HY견고딕" pitchFamily="18" charset="-127"/>
              <a:cs typeface="Tahoma" pitchFamily="34" charset="0"/>
            </a:endParaRPr>
          </a:p>
        </p:txBody>
      </p:sp>
      <p:sp>
        <p:nvSpPr>
          <p:cNvPr id="73" name="직사각형 72"/>
          <p:cNvSpPr/>
          <p:nvPr/>
        </p:nvSpPr>
        <p:spPr>
          <a:xfrm>
            <a:off x="5652120" y="6021288"/>
            <a:ext cx="2592288" cy="432048"/>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err="1" smtClean="0">
                <a:ln>
                  <a:solidFill>
                    <a:prstClr val="white">
                      <a:alpha val="5000"/>
                    </a:prstClr>
                  </a:solidFill>
                </a:ln>
                <a:solidFill>
                  <a:schemeClr val="bg1"/>
                </a:solidFill>
                <a:latin typeface="Tahoma" pitchFamily="34" charset="0"/>
                <a:ea typeface="Tahoma" pitchFamily="34" charset="0"/>
                <a:cs typeface="Tahoma" pitchFamily="34" charset="0"/>
              </a:rPr>
              <a:t>Informatization</a:t>
            </a:r>
            <a:r>
              <a:rPr lang="en-US" altLang="ko-KR" sz="1600" dirty="0" smtClean="0">
                <a:ln>
                  <a:solidFill>
                    <a:prstClr val="white">
                      <a:alpha val="5000"/>
                    </a:prstClr>
                  </a:solidFill>
                </a:ln>
                <a:solidFill>
                  <a:schemeClr val="bg1"/>
                </a:solidFill>
                <a:latin typeface="Tahoma" pitchFamily="34" charset="0"/>
                <a:ea typeface="Tahoma" pitchFamily="34" charset="0"/>
                <a:cs typeface="Tahoma" pitchFamily="34" charset="0"/>
              </a:rPr>
              <a:t> 2.0</a:t>
            </a:r>
            <a:endParaRPr lang="ko-KR" altLang="en-US" sz="16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74" name="오각형 73"/>
          <p:cNvSpPr/>
          <p:nvPr/>
        </p:nvSpPr>
        <p:spPr>
          <a:xfrm>
            <a:off x="2987824" y="6021288"/>
            <a:ext cx="2880320" cy="432048"/>
          </a:xfrm>
          <a:prstGeom prst="homePlat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err="1" smtClean="0">
                <a:ln>
                  <a:solidFill>
                    <a:prstClr val="white">
                      <a:alpha val="5000"/>
                    </a:prstClr>
                  </a:solidFill>
                </a:ln>
                <a:solidFill>
                  <a:schemeClr val="bg1"/>
                </a:solidFill>
                <a:latin typeface="Tahoma" pitchFamily="34" charset="0"/>
                <a:ea typeface="Tahoma" pitchFamily="34" charset="0"/>
                <a:cs typeface="Tahoma" pitchFamily="34" charset="0"/>
              </a:rPr>
              <a:t>Informatization</a:t>
            </a:r>
            <a:r>
              <a:rPr lang="ko-KR" altLang="en-US" sz="1600" dirty="0" smtClean="0">
                <a:ln>
                  <a:solidFill>
                    <a:prstClr val="white">
                      <a:alpha val="5000"/>
                    </a:prstClr>
                  </a:solidFill>
                </a:ln>
                <a:solidFill>
                  <a:schemeClr val="bg1"/>
                </a:solidFill>
                <a:latin typeface="Tahoma" pitchFamily="34" charset="0"/>
                <a:ea typeface="나눔고딕 ExtraBold" pitchFamily="50" charset="-127"/>
                <a:cs typeface="Tahoma" pitchFamily="34" charset="0"/>
              </a:rPr>
              <a:t> </a:t>
            </a:r>
            <a:r>
              <a:rPr lang="en-US" altLang="ko-KR" sz="1600" dirty="0">
                <a:ln>
                  <a:solidFill>
                    <a:prstClr val="white">
                      <a:alpha val="5000"/>
                    </a:prstClr>
                  </a:solidFill>
                </a:ln>
                <a:solidFill>
                  <a:schemeClr val="bg1"/>
                </a:solidFill>
                <a:latin typeface="Tahoma" pitchFamily="34" charset="0"/>
                <a:ea typeface="Tahoma" pitchFamily="34" charset="0"/>
                <a:cs typeface="Tahoma" pitchFamily="34" charset="0"/>
              </a:rPr>
              <a:t>1.0</a:t>
            </a:r>
            <a:endParaRPr lang="ko-KR" altLang="en-US" sz="16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cxnSp>
        <p:nvCxnSpPr>
          <p:cNvPr id="75" name="직선 연결선 74"/>
          <p:cNvCxnSpPr/>
          <p:nvPr/>
        </p:nvCxnSpPr>
        <p:spPr>
          <a:xfrm>
            <a:off x="2267744"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6" name="직선 연결선 75"/>
          <p:cNvCxnSpPr/>
          <p:nvPr/>
        </p:nvCxnSpPr>
        <p:spPr>
          <a:xfrm>
            <a:off x="4427984"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7" name="직선 연결선 76"/>
          <p:cNvCxnSpPr/>
          <p:nvPr/>
        </p:nvCxnSpPr>
        <p:spPr>
          <a:xfrm>
            <a:off x="6516216"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pic>
        <p:nvPicPr>
          <p:cNvPr id="78" name="Picture 5" descr="F:\★Clipart★\입체아이콘\문서-사무\301237 [Converted].png"/>
          <p:cNvPicPr>
            <a:picLocks noChangeAspect="1" noChangeArrowheads="1"/>
          </p:cNvPicPr>
          <p:nvPr/>
        </p:nvPicPr>
        <p:blipFill>
          <a:blip r:embed="rId3" cstate="print"/>
          <a:srcRect/>
          <a:stretch>
            <a:fillRect/>
          </a:stretch>
        </p:blipFill>
        <p:spPr bwMode="auto">
          <a:xfrm>
            <a:off x="684807" y="1321570"/>
            <a:ext cx="880488" cy="961962"/>
          </a:xfrm>
          <a:prstGeom prst="rect">
            <a:avLst/>
          </a:prstGeom>
          <a:noFill/>
          <a:effectLst>
            <a:outerShdw blurRad="317500" dist="38100" dir="2700000" algn="tl" rotWithShape="0">
              <a:prstClr val="black">
                <a:alpha val="59000"/>
              </a:prstClr>
            </a:outerShdw>
          </a:effectLst>
        </p:spPr>
      </p:pic>
      <p:pic>
        <p:nvPicPr>
          <p:cNvPr id="79" name="Picture 2" descr="F:\★Clipart★\입체아이콘\문서-사무\346593 [Converted].png"/>
          <p:cNvPicPr>
            <a:picLocks noChangeAspect="1" noChangeArrowheads="1"/>
          </p:cNvPicPr>
          <p:nvPr/>
        </p:nvPicPr>
        <p:blipFill>
          <a:blip r:embed="rId4" cstate="print"/>
          <a:srcRect/>
          <a:stretch>
            <a:fillRect/>
          </a:stretch>
        </p:blipFill>
        <p:spPr bwMode="auto">
          <a:xfrm>
            <a:off x="2795313" y="1374285"/>
            <a:ext cx="1147776" cy="730448"/>
          </a:xfrm>
          <a:prstGeom prst="rect">
            <a:avLst/>
          </a:prstGeom>
          <a:noFill/>
          <a:effectLst>
            <a:outerShdw blurRad="317500" dist="38100" dir="2700000" algn="tl" rotWithShape="0">
              <a:prstClr val="black">
                <a:alpha val="59000"/>
              </a:prstClr>
            </a:outerShdw>
          </a:effectLst>
        </p:spPr>
      </p:pic>
      <p:pic>
        <p:nvPicPr>
          <p:cNvPr id="80" name="Picture 3" descr="F:\★Clipart★\기타\png\MC900431576.PNG"/>
          <p:cNvPicPr>
            <a:picLocks noChangeAspect="1" noChangeArrowheads="1"/>
          </p:cNvPicPr>
          <p:nvPr/>
        </p:nvPicPr>
        <p:blipFill>
          <a:blip r:embed="rId5" cstate="print"/>
          <a:srcRect/>
          <a:stretch>
            <a:fillRect/>
          </a:stretch>
        </p:blipFill>
        <p:spPr bwMode="auto">
          <a:xfrm>
            <a:off x="4880479" y="1190590"/>
            <a:ext cx="1110980" cy="1118386"/>
          </a:xfrm>
          <a:prstGeom prst="rect">
            <a:avLst/>
          </a:prstGeom>
          <a:noFill/>
          <a:effectLst>
            <a:outerShdw blurRad="317500" dist="38100" dir="2700000" algn="tl" rotWithShape="0">
              <a:prstClr val="black">
                <a:alpha val="59000"/>
              </a:prstClr>
            </a:outerShdw>
          </a:effectLst>
        </p:spPr>
      </p:pic>
      <p:sp>
        <p:nvSpPr>
          <p:cNvPr id="81" name="자유형 80"/>
          <p:cNvSpPr/>
          <p:nvPr/>
        </p:nvSpPr>
        <p:spPr>
          <a:xfrm rot="16200000">
            <a:off x="1684644"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sp>
        <p:nvSpPr>
          <p:cNvPr id="82" name="자유형 81"/>
          <p:cNvSpPr/>
          <p:nvPr/>
        </p:nvSpPr>
        <p:spPr>
          <a:xfrm rot="16200000">
            <a:off x="3916892"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sp>
        <p:nvSpPr>
          <p:cNvPr id="83" name="자유형 82"/>
          <p:cNvSpPr/>
          <p:nvPr/>
        </p:nvSpPr>
        <p:spPr>
          <a:xfrm rot="16200000">
            <a:off x="6077132"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pic>
        <p:nvPicPr>
          <p:cNvPr id="84" name="Picture 3" descr="F:\★Clipart★\입체아이콘\인터넷\292182 [Converted].png"/>
          <p:cNvPicPr>
            <a:picLocks noChangeAspect="1" noChangeArrowheads="1"/>
          </p:cNvPicPr>
          <p:nvPr/>
        </p:nvPicPr>
        <p:blipFill>
          <a:blip r:embed="rId6" cstate="print"/>
          <a:srcRect/>
          <a:stretch>
            <a:fillRect/>
          </a:stretch>
        </p:blipFill>
        <p:spPr bwMode="auto">
          <a:xfrm>
            <a:off x="7164161" y="1314056"/>
            <a:ext cx="864096" cy="871782"/>
          </a:xfrm>
          <a:prstGeom prst="rect">
            <a:avLst/>
          </a:prstGeom>
          <a:noFill/>
          <a:effectLst>
            <a:outerShdw blurRad="317500" dist="38100" dir="2700000" algn="tl" rotWithShape="0">
              <a:prstClr val="black">
                <a:alpha val="59000"/>
              </a:prstClr>
            </a:outerShdw>
          </a:effectLst>
        </p:spPr>
      </p:pic>
      <p:sp>
        <p:nvSpPr>
          <p:cNvPr id="85" name="TextBox 84"/>
          <p:cNvSpPr txBox="1"/>
          <p:nvPr/>
        </p:nvSpPr>
        <p:spPr>
          <a:xfrm>
            <a:off x="290033" y="872715"/>
            <a:ext cx="1875835" cy="338554"/>
          </a:xfrm>
          <a:prstGeom prst="rect">
            <a:avLst/>
          </a:prstGeom>
          <a:noFill/>
        </p:spPr>
        <p:txBody>
          <a:bodyPr wrap="none" rtlCol="0">
            <a:spAutoFit/>
          </a:bodyPr>
          <a:lstStyle/>
          <a:p>
            <a:pPr algn="ctr"/>
            <a:r>
              <a:rPr lang="en-US" altLang="ko-KR" sz="1600" b="1" dirty="0" smtClean="0">
                <a:ln>
                  <a:solidFill>
                    <a:schemeClr val="bg1">
                      <a:alpha val="5000"/>
                    </a:schemeClr>
                  </a:solidFill>
                </a:ln>
                <a:solidFill>
                  <a:schemeClr val="bg2">
                    <a:lumMod val="50000"/>
                  </a:schemeClr>
                </a:solidFill>
                <a:latin typeface="Tahoma" pitchFamily="34" charset="0"/>
                <a:ea typeface="Tahoma" pitchFamily="34" charset="0"/>
                <a:cs typeface="Tahoma" pitchFamily="34" charset="0"/>
              </a:rPr>
              <a:t>Paper document</a:t>
            </a:r>
          </a:p>
        </p:txBody>
      </p:sp>
      <p:sp>
        <p:nvSpPr>
          <p:cNvPr id="86" name="TextBox 85"/>
          <p:cNvSpPr txBox="1"/>
          <p:nvPr/>
        </p:nvSpPr>
        <p:spPr>
          <a:xfrm>
            <a:off x="2339205" y="872716"/>
            <a:ext cx="1899880"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smtClean="0">
                <a:latin typeface="Tahoma" pitchFamily="34" charset="0"/>
                <a:ea typeface="Tahoma" pitchFamily="34" charset="0"/>
                <a:cs typeface="Tahoma" pitchFamily="34" charset="0"/>
              </a:rPr>
              <a:t>Computerization</a:t>
            </a:r>
            <a:endParaRPr lang="ko-KR" altLang="en-US" dirty="0">
              <a:latin typeface="Tahoma" pitchFamily="34" charset="0"/>
              <a:ea typeface="나눔고딕 ExtraBold" pitchFamily="50" charset="-127"/>
              <a:cs typeface="Tahoma" pitchFamily="34" charset="0"/>
            </a:endParaRPr>
          </a:p>
        </p:txBody>
      </p:sp>
      <p:sp>
        <p:nvSpPr>
          <p:cNvPr id="87" name="TextBox 86"/>
          <p:cNvSpPr txBox="1"/>
          <p:nvPr/>
        </p:nvSpPr>
        <p:spPr>
          <a:xfrm>
            <a:off x="4495097" y="836712"/>
            <a:ext cx="1813317"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err="1" smtClean="0">
                <a:latin typeface="Tahoma" pitchFamily="34" charset="0"/>
                <a:ea typeface="Tahoma" pitchFamily="34" charset="0"/>
                <a:cs typeface="Tahoma" pitchFamily="34" charset="0"/>
              </a:rPr>
              <a:t>Informatization</a:t>
            </a:r>
            <a:endParaRPr lang="ko-KR" altLang="en-US" dirty="0">
              <a:latin typeface="Tahoma" pitchFamily="34" charset="0"/>
              <a:ea typeface="나눔고딕 ExtraBold" pitchFamily="50" charset="-127"/>
              <a:cs typeface="Tahoma" pitchFamily="34" charset="0"/>
            </a:endParaRPr>
          </a:p>
        </p:txBody>
      </p:sp>
      <p:sp>
        <p:nvSpPr>
          <p:cNvPr id="88" name="TextBox 87"/>
          <p:cNvSpPr txBox="1"/>
          <p:nvPr/>
        </p:nvSpPr>
        <p:spPr>
          <a:xfrm>
            <a:off x="6677610" y="836713"/>
            <a:ext cx="2145139"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smtClean="0">
                <a:latin typeface="Tahoma" pitchFamily="34" charset="0"/>
                <a:ea typeface="Tahoma" pitchFamily="34" charset="0"/>
                <a:cs typeface="Tahoma" pitchFamily="34" charset="0"/>
              </a:rPr>
              <a:t>Creative utilization</a:t>
            </a:r>
            <a:endParaRPr lang="ko-KR" altLang="en-US" dirty="0">
              <a:latin typeface="Tahoma" pitchFamily="34" charset="0"/>
              <a:ea typeface="나눔고딕 ExtraBold" pitchFamily="50" charset="-127"/>
              <a:cs typeface="Tahoma" pitchFamily="34" charset="0"/>
            </a:endParaRPr>
          </a:p>
        </p:txBody>
      </p:sp>
      <p:sp>
        <p:nvSpPr>
          <p:cNvPr id="89" name="오른쪽 화살표 88"/>
          <p:cNvSpPr/>
          <p:nvPr/>
        </p:nvSpPr>
        <p:spPr>
          <a:xfrm>
            <a:off x="354250" y="2178152"/>
            <a:ext cx="8538230" cy="504056"/>
          </a:xfrm>
          <a:prstGeom prst="rightArrow">
            <a:avLst>
              <a:gd name="adj1" fmla="val 66797"/>
              <a:gd name="adj2" fmla="val 50000"/>
            </a:avLst>
          </a:prstGeom>
          <a:gradFill flip="none" rotWithShape="1">
            <a:gsLst>
              <a:gs pos="0">
                <a:schemeClr val="bg2">
                  <a:lumMod val="10000"/>
                </a:schemeClr>
              </a:gs>
              <a:gs pos="50000">
                <a:srgbClr val="1C60CE">
                  <a:shade val="67500"/>
                  <a:satMod val="115000"/>
                </a:srgbClr>
              </a:gs>
              <a:gs pos="100000">
                <a:srgbClr val="1C60CE">
                  <a:shade val="100000"/>
                  <a:satMod val="115000"/>
                </a:srgbClr>
              </a:gs>
            </a:gsLst>
            <a:lin ang="0" scaled="1"/>
            <a:tileRect/>
          </a:gradFill>
          <a:ln>
            <a:gradFill>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lin ang="14400000" scaled="0"/>
            </a:gradFill>
          </a:ln>
          <a:effectLst>
            <a:outerShdw blurRad="152400" dir="2700000" algn="tl" rotWithShape="0">
              <a:schemeClr val="bg2">
                <a:lumMod val="25000"/>
                <a:alpha val="5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ko-KR" altLang="en-US">
              <a:solidFill>
                <a:srgbClr val="FFFFFF"/>
              </a:solidFill>
              <a:latin typeface="Tahoma" pitchFamily="34" charset="0"/>
              <a:ea typeface="나눔고딕 ExtraBold" pitchFamily="50" charset="-127"/>
              <a:cs typeface="Tahoma" pitchFamily="34" charset="0"/>
            </a:endParaRPr>
          </a:p>
        </p:txBody>
      </p:sp>
      <p:sp>
        <p:nvSpPr>
          <p:cNvPr id="90" name="TextBox 89"/>
          <p:cNvSpPr txBox="1"/>
          <p:nvPr/>
        </p:nvSpPr>
        <p:spPr>
          <a:xfrm>
            <a:off x="1763561"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1987</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1" name="TextBox 90"/>
          <p:cNvSpPr txBox="1"/>
          <p:nvPr/>
        </p:nvSpPr>
        <p:spPr>
          <a:xfrm>
            <a:off x="3883731"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1995</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2" name="TextBox 91"/>
          <p:cNvSpPr txBox="1"/>
          <p:nvPr/>
        </p:nvSpPr>
        <p:spPr>
          <a:xfrm>
            <a:off x="6156049"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2010</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3" name="Freeform 25"/>
          <p:cNvSpPr>
            <a:spLocks/>
          </p:cNvSpPr>
          <p:nvPr/>
        </p:nvSpPr>
        <p:spPr bwMode="auto">
          <a:xfrm>
            <a:off x="557784" y="2996951"/>
            <a:ext cx="7232650" cy="2232249"/>
          </a:xfrm>
          <a:custGeom>
            <a:avLst/>
            <a:gdLst>
              <a:gd name="T0" fmla="*/ 0 w 4354"/>
              <a:gd name="T1" fmla="*/ 2147483647 h 1965"/>
              <a:gd name="T2" fmla="*/ 2147483647 w 4354"/>
              <a:gd name="T3" fmla="*/ 2147483647 h 1965"/>
              <a:gd name="T4" fmla="*/ 2147483647 w 4354"/>
              <a:gd name="T5" fmla="*/ 2147483647 h 1965"/>
              <a:gd name="T6" fmla="*/ 2147483647 w 4354"/>
              <a:gd name="T7" fmla="*/ 2147483647 h 1965"/>
              <a:gd name="T8" fmla="*/ 2147483647 w 4354"/>
              <a:gd name="T9" fmla="*/ 0 h 1965"/>
              <a:gd name="T10" fmla="*/ 0 60000 65536"/>
              <a:gd name="T11" fmla="*/ 0 60000 65536"/>
              <a:gd name="T12" fmla="*/ 0 60000 65536"/>
              <a:gd name="T13" fmla="*/ 0 60000 65536"/>
              <a:gd name="T14" fmla="*/ 0 60000 65536"/>
              <a:gd name="T15" fmla="*/ 0 w 4354"/>
              <a:gd name="T16" fmla="*/ 0 h 1965"/>
              <a:gd name="T17" fmla="*/ 4354 w 4354"/>
              <a:gd name="T18" fmla="*/ 1965 h 1965"/>
            </a:gdLst>
            <a:ahLst/>
            <a:cxnLst>
              <a:cxn ang="T10">
                <a:pos x="T0" y="T1"/>
              </a:cxn>
              <a:cxn ang="T11">
                <a:pos x="T2" y="T3"/>
              </a:cxn>
              <a:cxn ang="T12">
                <a:pos x="T4" y="T5"/>
              </a:cxn>
              <a:cxn ang="T13">
                <a:pos x="T6" y="T7"/>
              </a:cxn>
              <a:cxn ang="T14">
                <a:pos x="T8" y="T9"/>
              </a:cxn>
            </a:cxnLst>
            <a:rect l="T15" t="T16" r="T17" b="T18"/>
            <a:pathLst>
              <a:path w="4354" h="1965">
                <a:moveTo>
                  <a:pt x="0" y="1950"/>
                </a:moveTo>
                <a:cubicBezTo>
                  <a:pt x="453" y="1957"/>
                  <a:pt x="907" y="1965"/>
                  <a:pt x="1270" y="1814"/>
                </a:cubicBezTo>
                <a:cubicBezTo>
                  <a:pt x="1633" y="1663"/>
                  <a:pt x="1844" y="1187"/>
                  <a:pt x="2177" y="1043"/>
                </a:cubicBezTo>
                <a:cubicBezTo>
                  <a:pt x="2510" y="899"/>
                  <a:pt x="2902" y="1126"/>
                  <a:pt x="3265" y="952"/>
                </a:cubicBezTo>
                <a:cubicBezTo>
                  <a:pt x="3628" y="778"/>
                  <a:pt x="4173" y="159"/>
                  <a:pt x="4354" y="0"/>
                </a:cubicBezTo>
              </a:path>
            </a:pathLst>
          </a:custGeom>
          <a:noFill/>
          <a:ln w="57150" cap="rnd">
            <a:solidFill>
              <a:schemeClr val="accent2">
                <a:lumMod val="75000"/>
              </a:schemeClr>
            </a:solidFill>
            <a:round/>
            <a:headEnd/>
            <a:tailEnd/>
          </a:ln>
        </p:spPr>
        <p:txBody>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endParaRPr lang="ko-KR" altLang="en-US">
              <a:ea typeface="나눔고딕 ExtraBold" pitchFamily="50" charset="-127"/>
              <a:cs typeface="Tahoma" pitchFamily="34" charset="0"/>
            </a:endParaRPr>
          </a:p>
        </p:txBody>
      </p:sp>
      <p:sp>
        <p:nvSpPr>
          <p:cNvPr id="94" name="모서리가 둥근 직사각형 93"/>
          <p:cNvSpPr/>
          <p:nvPr/>
        </p:nvSpPr>
        <p:spPr>
          <a:xfrm>
            <a:off x="539553"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Adoption</a:t>
            </a:r>
            <a:endParaRPr lang="ko-KR" altLang="en-US" sz="16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95" name="모서리가 둥근 직사각형 94"/>
          <p:cNvSpPr/>
          <p:nvPr/>
        </p:nvSpPr>
        <p:spPr>
          <a:xfrm>
            <a:off x="2627784"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Growth</a:t>
            </a:r>
            <a:endParaRPr lang="ko-KR" altLang="en-US" sz="14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96" name="모서리가 둥근 직사각형 95"/>
          <p:cNvSpPr/>
          <p:nvPr/>
        </p:nvSpPr>
        <p:spPr>
          <a:xfrm>
            <a:off x="4788024"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Maturity</a:t>
            </a:r>
            <a:endParaRPr lang="ko-KR" altLang="en-US" sz="14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97" name="모서리가 둥근 직사각형 96"/>
          <p:cNvSpPr/>
          <p:nvPr/>
        </p:nvSpPr>
        <p:spPr>
          <a:xfrm>
            <a:off x="6876256" y="5417529"/>
            <a:ext cx="1368152" cy="387735"/>
          </a:xfrm>
          <a:prstGeom prst="roundRect">
            <a:avLst>
              <a:gd name="adj" fmla="val 7922"/>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Re-takeoff</a:t>
            </a:r>
            <a:endParaRPr lang="ko-KR" altLang="en-US" sz="14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98" name="오각형 97"/>
          <p:cNvSpPr/>
          <p:nvPr/>
        </p:nvSpPr>
        <p:spPr>
          <a:xfrm>
            <a:off x="539552" y="6021288"/>
            <a:ext cx="2664296" cy="432048"/>
          </a:xfrm>
          <a:prstGeom prst="homePlat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smtClean="0">
                <a:ln>
                  <a:solidFill>
                    <a:prstClr val="white">
                      <a:alpha val="5000"/>
                    </a:prstClr>
                  </a:solidFill>
                </a:ln>
                <a:solidFill>
                  <a:schemeClr val="bg1"/>
                </a:solidFill>
                <a:latin typeface="Tahoma" pitchFamily="34" charset="0"/>
                <a:ea typeface="Tahoma" pitchFamily="34" charset="0"/>
                <a:cs typeface="Tahoma" pitchFamily="34" charset="0"/>
              </a:rPr>
              <a:t>Computerization</a:t>
            </a:r>
            <a:endParaRPr lang="ko-KR" altLang="en-US" sz="1600" dirty="0" smtClean="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pic>
        <p:nvPicPr>
          <p:cNvPr id="100" name="Picture 6" descr="j0438041[1]"/>
          <p:cNvPicPr>
            <a:picLocks noChangeAspect="1" noChangeArrowheads="1"/>
          </p:cNvPicPr>
          <p:nvPr/>
        </p:nvPicPr>
        <p:blipFill>
          <a:blip r:embed="rId7" cstate="print"/>
          <a:srcRect b="16280"/>
          <a:stretch>
            <a:fillRect/>
          </a:stretch>
        </p:blipFill>
        <p:spPr bwMode="auto">
          <a:xfrm>
            <a:off x="6075214" y="2708920"/>
            <a:ext cx="945058" cy="635661"/>
          </a:xfrm>
          <a:prstGeom prst="rect">
            <a:avLst/>
          </a:prstGeom>
          <a:noFill/>
          <a:ln w="9525">
            <a:noFill/>
            <a:miter lim="800000"/>
            <a:headEnd/>
            <a:tailEnd/>
          </a:ln>
        </p:spPr>
      </p:pic>
      <p:sp>
        <p:nvSpPr>
          <p:cNvPr id="101" name="Text Box 18"/>
          <p:cNvSpPr txBox="1">
            <a:spLocks noChangeArrowheads="1"/>
          </p:cNvSpPr>
          <p:nvPr/>
        </p:nvSpPr>
        <p:spPr bwMode="auto">
          <a:xfrm>
            <a:off x="5839888" y="4293096"/>
            <a:ext cx="1468416" cy="738664"/>
          </a:xfrm>
          <a:prstGeom prst="rect">
            <a:avLst/>
          </a:prstGeom>
          <a:noFill/>
          <a:ln w="9525">
            <a:noFill/>
            <a:miter lim="800000"/>
            <a:headEnd/>
            <a:tailEnd/>
          </a:ln>
        </p:spPr>
        <p:txBody>
          <a:bodyPr wrap="square">
            <a:spAutoFit/>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pPr algn="ctr">
              <a:spcBef>
                <a:spcPts val="100"/>
              </a:spcBef>
            </a:pPr>
            <a:r>
              <a:rPr lang="en-US" altLang="ko-KR" sz="1400"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ea typeface="Tahoma" pitchFamily="34" charset="0"/>
                <a:cs typeface="Tahoma" pitchFamily="34" charset="0"/>
              </a:rPr>
              <a:t>Dawn of the Smart Revolution</a:t>
            </a:r>
            <a:endParaRPr lang="ko-KR" altLang="en-US" sz="1400" dirty="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ea typeface="나눔고딕 ExtraBold" pitchFamily="50" charset="-127"/>
              <a:cs typeface="Tahoma" pitchFamily="34" charset="0"/>
            </a:endParaRPr>
          </a:p>
        </p:txBody>
      </p:sp>
      <p:sp>
        <p:nvSpPr>
          <p:cNvPr id="102" name="Text Box 24"/>
          <p:cNvSpPr txBox="1">
            <a:spLocks noChangeArrowheads="1"/>
          </p:cNvSpPr>
          <p:nvPr/>
        </p:nvSpPr>
        <p:spPr bwMode="auto">
          <a:xfrm>
            <a:off x="1723575" y="4293096"/>
            <a:ext cx="1077539" cy="738664"/>
          </a:xfrm>
          <a:prstGeom prst="rect">
            <a:avLst/>
          </a:prstGeom>
          <a:noFill/>
          <a:ln w="9525">
            <a:noFill/>
            <a:miter lim="800000"/>
            <a:headEnd/>
            <a:tailEnd/>
          </a:ln>
        </p:spPr>
        <p:txBody>
          <a:bodyPr wrap="none">
            <a:spAutoFit/>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pPr algn="ctr"/>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Industrial</a:t>
            </a:r>
          </a:p>
          <a:p>
            <a:pPr algn="ctr"/>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Society</a:t>
            </a:r>
          </a:p>
          <a:p>
            <a:pPr algn="ctr"/>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Paradigm</a:t>
            </a:r>
            <a:endParaRPr lang="ko-KR" altLang="en-US" sz="1400" dirty="0">
              <a:ln>
                <a:solidFill>
                  <a:schemeClr val="bg1">
                    <a:alpha val="5000"/>
                  </a:schemeClr>
                </a:solidFill>
              </a:ln>
              <a:solidFill>
                <a:schemeClr val="tx2">
                  <a:lumMod val="75000"/>
                </a:schemeClr>
              </a:solidFill>
              <a:ea typeface="나눔고딕 ExtraBold" pitchFamily="50" charset="-127"/>
              <a:cs typeface="Tahoma" pitchFamily="34" charset="0"/>
            </a:endParaRPr>
          </a:p>
        </p:txBody>
      </p:sp>
      <p:sp>
        <p:nvSpPr>
          <p:cNvPr id="103" name="Text Box 24"/>
          <p:cNvSpPr txBox="1">
            <a:spLocks noChangeArrowheads="1"/>
          </p:cNvSpPr>
          <p:nvPr/>
        </p:nvSpPr>
        <p:spPr bwMode="auto">
          <a:xfrm>
            <a:off x="3788224" y="3380433"/>
            <a:ext cx="1279517" cy="738664"/>
          </a:xfrm>
          <a:prstGeom prst="rect">
            <a:avLst/>
          </a:prstGeom>
          <a:noFill/>
          <a:ln w="9525">
            <a:noFill/>
            <a:miter lim="800000"/>
            <a:headEnd/>
            <a:tailEnd/>
          </a:ln>
        </p:spPr>
        <p:txBody>
          <a:bodyPr wrap="none">
            <a:spAutoFit/>
          </a:bodyPr>
          <a:lstStyle>
            <a:defPPr>
              <a:defRPr lang="ko-KR"/>
            </a:defPPr>
            <a:lvl1pPr algn="ctr" fontAlgn="base">
              <a:spcBef>
                <a:spcPct val="0"/>
              </a:spcBef>
              <a:spcAft>
                <a:spcPct val="0"/>
              </a:spcAft>
              <a:defRPr kumimoji="1" sz="1400" b="1">
                <a:ln>
                  <a:solidFill>
                    <a:schemeClr val="bg1">
                      <a:alpha val="5000"/>
                    </a:schemeClr>
                  </a:solidFill>
                </a:ln>
                <a:solidFill>
                  <a:schemeClr val="tx2">
                    <a:lumMod val="75000"/>
                  </a:schemeClr>
                </a:solidFill>
                <a:latin typeface="HY견고딕" pitchFamily="18" charset="-127"/>
                <a:ea typeface="HY견고딕" pitchFamily="18" charset="-127"/>
              </a:defRPr>
            </a:lvl1pPr>
            <a:lvl2pPr fontAlgn="base">
              <a:spcBef>
                <a:spcPct val="0"/>
              </a:spcBef>
              <a:spcAft>
                <a:spcPct val="0"/>
              </a:spcAft>
              <a:defRPr kumimoji="1" b="1">
                <a:latin typeface="Tahoma" pitchFamily="34" charset="0"/>
                <a:ea typeface="굴림" charset="-127"/>
              </a:defRPr>
            </a:lvl2pPr>
            <a:lvl3pPr fontAlgn="base">
              <a:spcBef>
                <a:spcPct val="0"/>
              </a:spcBef>
              <a:spcAft>
                <a:spcPct val="0"/>
              </a:spcAft>
              <a:defRPr kumimoji="1" b="1">
                <a:latin typeface="Tahoma" pitchFamily="34" charset="0"/>
                <a:ea typeface="굴림" charset="-127"/>
              </a:defRPr>
            </a:lvl3pPr>
            <a:lvl4pPr fontAlgn="base">
              <a:spcBef>
                <a:spcPct val="0"/>
              </a:spcBef>
              <a:spcAft>
                <a:spcPct val="0"/>
              </a:spcAft>
              <a:defRPr kumimoji="1" b="1">
                <a:latin typeface="Tahoma" pitchFamily="34" charset="0"/>
                <a:ea typeface="굴림" charset="-127"/>
              </a:defRPr>
            </a:lvl4pPr>
            <a:lvl5pPr fontAlgn="base">
              <a:spcBef>
                <a:spcPct val="0"/>
              </a:spcBef>
              <a:spcAft>
                <a:spcPct val="0"/>
              </a:spcAft>
              <a:defRPr kumimoji="1" b="1">
                <a:latin typeface="Tahoma" pitchFamily="34" charset="0"/>
                <a:ea typeface="굴림" charset="-127"/>
              </a:defRPr>
            </a:lvl5pPr>
            <a:lvl6pPr>
              <a:defRPr kumimoji="1" b="1">
                <a:latin typeface="Tahoma" pitchFamily="34" charset="0"/>
                <a:ea typeface="굴림" charset="-127"/>
              </a:defRPr>
            </a:lvl6pPr>
            <a:lvl7pPr>
              <a:defRPr kumimoji="1" b="1">
                <a:latin typeface="Tahoma" pitchFamily="34" charset="0"/>
                <a:ea typeface="굴림" charset="-127"/>
              </a:defRPr>
            </a:lvl7pPr>
            <a:lvl8pPr>
              <a:defRPr kumimoji="1" b="1">
                <a:latin typeface="Tahoma" pitchFamily="34" charset="0"/>
                <a:ea typeface="굴림" charset="-127"/>
              </a:defRPr>
            </a:lvl8pPr>
            <a:lvl9pPr>
              <a:defRPr kumimoji="1" b="1">
                <a:latin typeface="Tahoma" pitchFamily="34" charset="0"/>
                <a:ea typeface="굴림" charset="-127"/>
              </a:defRPr>
            </a:lvl9pPr>
          </a:lstStyle>
          <a:p>
            <a:r>
              <a:rPr lang="en-US" altLang="ko-KR" dirty="0" smtClean="0">
                <a:latin typeface="Tahoma" pitchFamily="34" charset="0"/>
                <a:ea typeface="Tahoma" pitchFamily="34" charset="0"/>
                <a:cs typeface="Tahoma" pitchFamily="34" charset="0"/>
              </a:rPr>
              <a:t>Information</a:t>
            </a:r>
          </a:p>
          <a:p>
            <a:r>
              <a:rPr lang="en-US" altLang="ko-KR" dirty="0" smtClean="0">
                <a:latin typeface="Tahoma" pitchFamily="34" charset="0"/>
                <a:ea typeface="Tahoma" pitchFamily="34" charset="0"/>
                <a:cs typeface="Tahoma" pitchFamily="34" charset="0"/>
              </a:rPr>
              <a:t>Society</a:t>
            </a:r>
          </a:p>
          <a:p>
            <a:r>
              <a:rPr lang="en-US" altLang="ko-KR" dirty="0" smtClean="0">
                <a:latin typeface="Tahoma" pitchFamily="34" charset="0"/>
                <a:ea typeface="Tahoma" pitchFamily="34" charset="0"/>
                <a:cs typeface="Tahoma" pitchFamily="34" charset="0"/>
              </a:rPr>
              <a:t>Paradigm</a:t>
            </a:r>
            <a:endParaRPr lang="ko-KR" altLang="en-US" dirty="0">
              <a:latin typeface="Tahoma" pitchFamily="34" charset="0"/>
              <a:ea typeface="나눔고딕 ExtraBold" pitchFamily="50" charset="-127"/>
              <a:cs typeface="Tahoma" pitchFamily="34" charset="0"/>
            </a:endParaRPr>
          </a:p>
        </p:txBody>
      </p:sp>
      <p:sp>
        <p:nvSpPr>
          <p:cNvPr id="104" name="Text Box 24"/>
          <p:cNvSpPr txBox="1">
            <a:spLocks noChangeArrowheads="1"/>
          </p:cNvSpPr>
          <p:nvPr/>
        </p:nvSpPr>
        <p:spPr bwMode="auto">
          <a:xfrm>
            <a:off x="7112064" y="3420289"/>
            <a:ext cx="1443024" cy="523220"/>
          </a:xfrm>
          <a:prstGeom prst="rect">
            <a:avLst/>
          </a:prstGeom>
          <a:noFill/>
          <a:ln w="9525">
            <a:noFill/>
            <a:miter lim="800000"/>
            <a:headEnd/>
            <a:tailEnd/>
          </a:ln>
          <a:extLst/>
        </p:spPr>
        <p:txBody>
          <a:bodyPr wrap="none">
            <a:spAutoFit/>
          </a:bodyPr>
          <a:lstStyle>
            <a:defPPr>
              <a:defRPr lang="ko-KR"/>
            </a:defPPr>
            <a:lvl1pPr algn="ctr" fontAlgn="base">
              <a:spcBef>
                <a:spcPct val="0"/>
              </a:spcBef>
              <a:spcAft>
                <a:spcPct val="0"/>
              </a:spcAft>
              <a:defRPr kumimoji="1" sz="1400" b="1">
                <a:ln>
                  <a:solidFill>
                    <a:schemeClr val="bg1">
                      <a:alpha val="5000"/>
                    </a:schemeClr>
                  </a:solidFill>
                </a:ln>
                <a:solidFill>
                  <a:schemeClr val="tx2">
                    <a:lumMod val="75000"/>
                  </a:schemeClr>
                </a:solidFill>
                <a:latin typeface="HY견고딕" pitchFamily="18" charset="-127"/>
                <a:ea typeface="HY견고딕" pitchFamily="18" charset="-127"/>
              </a:defRPr>
            </a:lvl1pPr>
            <a:lvl2pPr fontAlgn="base">
              <a:spcBef>
                <a:spcPct val="0"/>
              </a:spcBef>
              <a:spcAft>
                <a:spcPct val="0"/>
              </a:spcAft>
              <a:defRPr kumimoji="1" b="1">
                <a:latin typeface="Tahoma" pitchFamily="34" charset="0"/>
                <a:ea typeface="굴림" charset="-127"/>
              </a:defRPr>
            </a:lvl2pPr>
            <a:lvl3pPr fontAlgn="base">
              <a:spcBef>
                <a:spcPct val="0"/>
              </a:spcBef>
              <a:spcAft>
                <a:spcPct val="0"/>
              </a:spcAft>
              <a:defRPr kumimoji="1" b="1">
                <a:latin typeface="Tahoma" pitchFamily="34" charset="0"/>
                <a:ea typeface="굴림" charset="-127"/>
              </a:defRPr>
            </a:lvl3pPr>
            <a:lvl4pPr fontAlgn="base">
              <a:spcBef>
                <a:spcPct val="0"/>
              </a:spcBef>
              <a:spcAft>
                <a:spcPct val="0"/>
              </a:spcAft>
              <a:defRPr kumimoji="1" b="1">
                <a:latin typeface="Tahoma" pitchFamily="34" charset="0"/>
                <a:ea typeface="굴림" charset="-127"/>
              </a:defRPr>
            </a:lvl4pPr>
            <a:lvl5pPr fontAlgn="base">
              <a:spcBef>
                <a:spcPct val="0"/>
              </a:spcBef>
              <a:spcAft>
                <a:spcPct val="0"/>
              </a:spcAft>
              <a:defRPr kumimoji="1" b="1">
                <a:latin typeface="Tahoma" pitchFamily="34" charset="0"/>
                <a:ea typeface="굴림" charset="-127"/>
              </a:defRPr>
            </a:lvl5pPr>
            <a:lvl6pPr>
              <a:defRPr kumimoji="1" b="1">
                <a:latin typeface="Tahoma" pitchFamily="34" charset="0"/>
                <a:ea typeface="굴림" charset="-127"/>
              </a:defRPr>
            </a:lvl6pPr>
            <a:lvl7pPr>
              <a:defRPr kumimoji="1" b="1">
                <a:latin typeface="Tahoma" pitchFamily="34" charset="0"/>
                <a:ea typeface="굴림" charset="-127"/>
              </a:defRPr>
            </a:lvl7pPr>
            <a:lvl8pPr>
              <a:defRPr kumimoji="1" b="1">
                <a:latin typeface="Tahoma" pitchFamily="34" charset="0"/>
                <a:ea typeface="굴림" charset="-127"/>
              </a:defRPr>
            </a:lvl8pPr>
            <a:lvl9pPr>
              <a:defRPr kumimoji="1" b="1">
                <a:latin typeface="Tahoma" pitchFamily="34" charset="0"/>
                <a:ea typeface="굴림" charset="-127"/>
              </a:defRPr>
            </a:lvl9pPr>
          </a:lstStyle>
          <a:p>
            <a:r>
              <a:rPr lang="en-US" altLang="ko-KR" dirty="0" smtClean="0">
                <a:latin typeface="Tahoma" pitchFamily="34" charset="0"/>
                <a:ea typeface="Tahoma" pitchFamily="34" charset="0"/>
                <a:cs typeface="Tahoma" pitchFamily="34" charset="0"/>
              </a:rPr>
              <a:t>Smart Society</a:t>
            </a:r>
          </a:p>
          <a:p>
            <a:r>
              <a:rPr lang="en-US" altLang="ko-KR" dirty="0" smtClean="0">
                <a:latin typeface="Tahoma" pitchFamily="34" charset="0"/>
                <a:ea typeface="Tahoma" pitchFamily="34" charset="0"/>
                <a:cs typeface="Tahoma" pitchFamily="34" charset="0"/>
              </a:rPr>
              <a:t>Paradigm</a:t>
            </a:r>
            <a:endParaRPr lang="en-US" altLang="ko-KR" dirty="0">
              <a:latin typeface="Tahoma" pitchFamily="34" charset="0"/>
              <a:ea typeface="Tahoma" pitchFamily="34" charset="0"/>
              <a:cs typeface="Tahoma" pitchFamily="34" charset="0"/>
            </a:endParaRPr>
          </a:p>
        </p:txBody>
      </p:sp>
      <p:pic>
        <p:nvPicPr>
          <p:cNvPr id="105" name="Picture 4" descr="http://inspirida.com/wp-content/uploads/2009/10/iStock_000009820211XSmall-butterfly-growth1-300x95.jpg"/>
          <p:cNvPicPr>
            <a:picLocks noChangeAspect="1" noChangeArrowheads="1"/>
          </p:cNvPicPr>
          <p:nvPr/>
        </p:nvPicPr>
        <p:blipFill>
          <a:blip r:embed="rId8" cstate="print">
            <a:clrChange>
              <a:clrFrom>
                <a:srgbClr val="FFFFFF"/>
              </a:clrFrom>
              <a:clrTo>
                <a:srgbClr val="FFFFFF">
                  <a:alpha val="0"/>
                </a:srgbClr>
              </a:clrTo>
            </a:clrChange>
          </a:blip>
          <a:srcRect t="48607" r="75269"/>
          <a:stretch>
            <a:fillRect/>
          </a:stretch>
        </p:blipFill>
        <p:spPr bwMode="auto">
          <a:xfrm>
            <a:off x="1763688" y="3645024"/>
            <a:ext cx="875384" cy="576064"/>
          </a:xfrm>
          <a:prstGeom prst="rect">
            <a:avLst/>
          </a:prstGeom>
          <a:noFill/>
        </p:spPr>
      </p:pic>
      <p:pic>
        <p:nvPicPr>
          <p:cNvPr id="106" name="Picture 4" descr="http://inspirida.com/wp-content/uploads/2009/10/iStock_000009820211XSmall-butterfly-growth1-300x95.jpg"/>
          <p:cNvPicPr>
            <a:picLocks noChangeAspect="1" noChangeArrowheads="1"/>
          </p:cNvPicPr>
          <p:nvPr/>
        </p:nvPicPr>
        <p:blipFill>
          <a:blip r:embed="rId8" cstate="print">
            <a:clrChange>
              <a:clrFrom>
                <a:srgbClr val="FFFFFF"/>
              </a:clrFrom>
              <a:clrTo>
                <a:srgbClr val="FFFFFF">
                  <a:alpha val="0"/>
                </a:srgbClr>
              </a:clrTo>
            </a:clrChange>
          </a:blip>
          <a:srcRect l="26446" t="48607" r="55245"/>
          <a:stretch>
            <a:fillRect/>
          </a:stretch>
        </p:blipFill>
        <p:spPr bwMode="auto">
          <a:xfrm>
            <a:off x="4103948" y="2924944"/>
            <a:ext cx="756084" cy="672075"/>
          </a:xfrm>
          <a:prstGeom prst="rect">
            <a:avLst/>
          </a:prstGeom>
          <a:noFill/>
        </p:spPr>
      </p:pic>
      <p:sp>
        <p:nvSpPr>
          <p:cNvPr id="107" name="타원 106"/>
          <p:cNvSpPr/>
          <p:nvPr/>
        </p:nvSpPr>
        <p:spPr>
          <a:xfrm>
            <a:off x="6156176" y="3429000"/>
            <a:ext cx="792088" cy="792088"/>
          </a:xfrm>
          <a:prstGeom prst="ellipse">
            <a:avLst/>
          </a:prstGeom>
          <a:solidFill>
            <a:schemeClr val="bg1"/>
          </a:solidFill>
          <a:ln w="57150" cap="rnd">
            <a:solidFill>
              <a:schemeClr val="accent2">
                <a:lumMod val="75000"/>
              </a:schemeClr>
            </a:solidFill>
            <a:round/>
            <a:headEnd/>
            <a:tailEnd/>
          </a:ln>
        </p:spPr>
        <p:txBody>
          <a:bodyPr wrap="none" anchor="ctr" anchorCtr="0"/>
          <a:lstStyle/>
          <a:p>
            <a:pPr algn="ctr" fontAlgn="base">
              <a:spcBef>
                <a:spcPct val="0"/>
              </a:spcBef>
              <a:spcAft>
                <a:spcPct val="0"/>
              </a:spcAft>
            </a:pPr>
            <a:r>
              <a:rPr kumimoji="1" lang="en-US" altLang="ko-KR" sz="1600" b="1"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atin typeface="Tahoma" pitchFamily="34" charset="0"/>
                <a:ea typeface="Tahoma" pitchFamily="34" charset="0"/>
                <a:cs typeface="Tahoma" pitchFamily="34" charset="0"/>
              </a:rPr>
              <a:t>Now</a:t>
            </a:r>
            <a:endParaRPr kumimoji="1" lang="ko-KR" altLang="en-US" sz="1600" b="1"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atin typeface="Tahoma" pitchFamily="34" charset="0"/>
              <a:ea typeface="나눔고딕 ExtraBold" pitchFamily="50" charset="-127"/>
              <a:cs typeface="Tahoma" pitchFamily="34" charset="0"/>
            </a:endParaRPr>
          </a:p>
        </p:txBody>
      </p:sp>
      <p:sp>
        <p:nvSpPr>
          <p:cNvPr id="108" name="모서리가 둥근 사각형 설명선 107"/>
          <p:cNvSpPr/>
          <p:nvPr/>
        </p:nvSpPr>
        <p:spPr>
          <a:xfrm>
            <a:off x="7308304" y="4293096"/>
            <a:ext cx="1800200" cy="578882"/>
          </a:xfrm>
          <a:prstGeom prst="wedgeRoundRectCallout">
            <a:avLst>
              <a:gd name="adj1" fmla="val -75873"/>
              <a:gd name="adj2" fmla="val -94863"/>
              <a:gd name="adj3" fmla="val 16667"/>
            </a:avLst>
          </a:prstGeom>
          <a:solidFill>
            <a:schemeClr val="accent2">
              <a:lumMod val="75000"/>
            </a:schemeClr>
          </a:solidFill>
        </p:spPr>
        <p:txBody>
          <a:bodyPr wrap="square">
            <a:spAutoFit/>
          </a:bodyPr>
          <a:lstStyle/>
          <a:p>
            <a:pPr algn="ctr"/>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Need for a new paradigm</a:t>
            </a:r>
            <a:endParaRPr lang="ko-KR" altLang="en-US" sz="1400" dirty="0" smtClean="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3" name="슬라이드 번호 개체 틀 2"/>
          <p:cNvSpPr>
            <a:spLocks noGrp="1"/>
          </p:cNvSpPr>
          <p:nvPr>
            <p:ph type="sldNum" sz="quarter" idx="12"/>
          </p:nvPr>
        </p:nvSpPr>
        <p:spPr/>
        <p:txBody>
          <a:bodyPr/>
          <a:lstStyle/>
          <a:p>
            <a:fld id="{8F563537-3992-4579-A065-26E1D23BF530}" type="slidenum">
              <a:rPr lang="ko-KR" altLang="en-US" smtClean="0"/>
              <a:pPr/>
              <a:t>2</a:t>
            </a:fld>
            <a:endParaRPr lang="ko-KR" altLang="en-US" dirty="0"/>
          </a:p>
        </p:txBody>
      </p:sp>
    </p:spTree>
    <p:extLst>
      <p:ext uri="{BB962C8B-B14F-4D97-AF65-F5344CB8AC3E}">
        <p14:creationId xmlns:p14="http://schemas.microsoft.com/office/powerpoint/2010/main" val="708238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제목 1"/>
          <p:cNvSpPr>
            <a:spLocks noGrp="1"/>
          </p:cNvSpPr>
          <p:nvPr>
            <p:ph type="title"/>
          </p:nvPr>
        </p:nvSpPr>
        <p:spPr/>
        <p:txBody>
          <a:bodyPr>
            <a:normAutofit/>
          </a:bodyPr>
          <a:lstStyle/>
          <a:p>
            <a:r>
              <a:rPr lang="en-US" altLang="ko-KR" sz="3200" dirty="0" smtClean="0">
                <a:latin typeface="Tahoma" pitchFamily="34" charset="0"/>
                <a:ea typeface="Tahoma" pitchFamily="34" charset="0"/>
                <a:cs typeface="Tahoma" pitchFamily="34" charset="0"/>
              </a:rPr>
              <a:t>Rankings in Global IT Surveys</a:t>
            </a:r>
            <a:endParaRPr lang="en-US" altLang="ko-KR" sz="3200" dirty="0">
              <a:latin typeface="Tahoma" pitchFamily="34" charset="0"/>
              <a:ea typeface="Tahoma" pitchFamily="34" charset="0"/>
              <a:cs typeface="Tahoma" pitchFamily="34" charset="0"/>
            </a:endParaRPr>
          </a:p>
        </p:txBody>
      </p:sp>
      <p:pic>
        <p:nvPicPr>
          <p:cNvPr id="52" name="Picture 2" descr="F:\★Clipart★\입체아이콘\301326 [Converted].png"/>
          <p:cNvPicPr>
            <a:picLocks noChangeAspect="1" noChangeArrowheads="1"/>
          </p:cNvPicPr>
          <p:nvPr/>
        </p:nvPicPr>
        <p:blipFill>
          <a:blip r:embed="rId3" cstate="print"/>
          <a:srcRect/>
          <a:stretch>
            <a:fillRect/>
          </a:stretch>
        </p:blipFill>
        <p:spPr bwMode="auto">
          <a:xfrm>
            <a:off x="45021" y="2531355"/>
            <a:ext cx="1510727" cy="2671001"/>
          </a:xfrm>
          <a:prstGeom prst="rect">
            <a:avLst/>
          </a:prstGeom>
          <a:noFill/>
          <a:effectLst>
            <a:reflection blurRad="6350" stA="50000" endA="300" endPos="38500" dist="50800" dir="5400000" sy="-100000" algn="bl" rotWithShape="0"/>
          </a:effectLst>
        </p:spPr>
      </p:pic>
      <p:pic>
        <p:nvPicPr>
          <p:cNvPr id="3" name="그림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52935" y="1556792"/>
            <a:ext cx="5155369" cy="4387184"/>
          </a:xfrm>
          <a:prstGeom prst="rect">
            <a:avLst/>
          </a:prstGeom>
        </p:spPr>
      </p:pic>
      <p:sp>
        <p:nvSpPr>
          <p:cNvPr id="4" name="슬라이드 번호 개체 틀 3"/>
          <p:cNvSpPr>
            <a:spLocks noGrp="1"/>
          </p:cNvSpPr>
          <p:nvPr>
            <p:ph type="sldNum" sz="quarter" idx="12"/>
          </p:nvPr>
        </p:nvSpPr>
        <p:spPr/>
        <p:txBody>
          <a:bodyPr/>
          <a:lstStyle/>
          <a:p>
            <a:fld id="{8F563537-3992-4579-A065-26E1D23BF530}" type="slidenum">
              <a:rPr lang="ko-KR" altLang="en-US" smtClean="0"/>
              <a:pPr/>
              <a:t>3</a:t>
            </a:fld>
            <a:endParaRPr lang="ko-KR" altLang="en-US" dirty="0"/>
          </a:p>
        </p:txBody>
      </p:sp>
    </p:spTree>
    <p:extLst>
      <p:ext uri="{BB962C8B-B14F-4D97-AF65-F5344CB8AC3E}">
        <p14:creationId xmlns:p14="http://schemas.microsoft.com/office/powerpoint/2010/main" val="3937845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smtClean="0"/>
              <a:t>Current status of Korea’s e-Government </a:t>
            </a:r>
            <a:endParaRPr lang="ko-KR" altLang="en-US" sz="3200" dirty="0"/>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67045" y="1600200"/>
            <a:ext cx="7009909" cy="4525963"/>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4</a:t>
            </a:fld>
            <a:endParaRPr lang="ko-KR" altLang="en-US"/>
          </a:p>
        </p:txBody>
      </p:sp>
    </p:spTree>
    <p:extLst>
      <p:ext uri="{BB962C8B-B14F-4D97-AF65-F5344CB8AC3E}">
        <p14:creationId xmlns:p14="http://schemas.microsoft.com/office/powerpoint/2010/main" val="42184562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a:t>Best practices of Korea’s </a:t>
            </a:r>
            <a:r>
              <a:rPr lang="en-US" altLang="ko-KR" sz="3200" dirty="0" smtClean="0"/>
              <a:t>e-Government(1)</a:t>
            </a:r>
            <a:endParaRPr lang="ko-KR" altLang="en-US" sz="3200" dirty="0"/>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39016" y="1600200"/>
            <a:ext cx="7465968" cy="4525963"/>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5</a:t>
            </a:fld>
            <a:endParaRPr lang="ko-KR" altLang="en-US"/>
          </a:p>
        </p:txBody>
      </p:sp>
    </p:spTree>
    <p:extLst>
      <p:ext uri="{BB962C8B-B14F-4D97-AF65-F5344CB8AC3E}">
        <p14:creationId xmlns:p14="http://schemas.microsoft.com/office/powerpoint/2010/main" val="878181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smtClean="0"/>
              <a:t>Best practices of Korea’s e-Government(2)</a:t>
            </a:r>
            <a:endParaRPr lang="ko-KR" altLang="en-US" sz="3200" dirty="0"/>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09650" y="1683861"/>
            <a:ext cx="7124700" cy="4358640"/>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6</a:t>
            </a:fld>
            <a:endParaRPr lang="ko-KR" altLang="en-US"/>
          </a:p>
        </p:txBody>
      </p:sp>
    </p:spTree>
    <p:extLst>
      <p:ext uri="{BB962C8B-B14F-4D97-AF65-F5344CB8AC3E}">
        <p14:creationId xmlns:p14="http://schemas.microsoft.com/office/powerpoint/2010/main" val="1051439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a:t>Success factors of Korean </a:t>
            </a:r>
            <a:r>
              <a:rPr lang="en-US" altLang="ko-KR" sz="3600" dirty="0" smtClean="0"/>
              <a:t/>
            </a:r>
            <a:br>
              <a:rPr lang="en-US" altLang="ko-KR" sz="3600" dirty="0" smtClean="0"/>
            </a:br>
            <a:r>
              <a:rPr lang="en-US" altLang="ko-KR" sz="3600" dirty="0" smtClean="0"/>
              <a:t>e-Government</a:t>
            </a:r>
            <a:endParaRPr lang="ko-KR" altLang="en-US" sz="3600" dirty="0"/>
          </a:p>
        </p:txBody>
      </p:sp>
      <p:sp>
        <p:nvSpPr>
          <p:cNvPr id="73" name="AutoShape 110"/>
          <p:cNvSpPr>
            <a:spLocks noChangeArrowheads="1"/>
          </p:cNvSpPr>
          <p:nvPr/>
        </p:nvSpPr>
        <p:spPr bwMode="auto">
          <a:xfrm>
            <a:off x="1010863" y="1844824"/>
            <a:ext cx="2408136" cy="792807"/>
          </a:xfrm>
          <a:prstGeom prst="homePlate">
            <a:avLst>
              <a:gd name="adj" fmla="val 55422"/>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ko-KR" altLang="ko-KR" sz="2000" b="1" i="0" u="none" strike="noStrike" kern="0" cap="none" spc="0" normalizeH="0" baseline="0" noProof="0" smtClean="0">
              <a:ln>
                <a:noFill/>
              </a:ln>
              <a:solidFill>
                <a:srgbClr val="FFFFFF"/>
              </a:solidFill>
              <a:effectLst>
                <a:outerShdw blurRad="38100" dist="38100" dir="2700000" algn="tl">
                  <a:srgbClr val="000000"/>
                </a:outerShdw>
              </a:effectLst>
              <a:uLnTx/>
              <a:uFillTx/>
              <a:latin typeface="Times New Roman" pitchFamily="18" charset="0"/>
              <a:ea typeface="굴림" pitchFamily="50" charset="-127"/>
            </a:endParaRPr>
          </a:p>
        </p:txBody>
      </p:sp>
      <p:sp>
        <p:nvSpPr>
          <p:cNvPr id="74" name="Rectangle 111"/>
          <p:cNvSpPr>
            <a:spLocks noChangeArrowheads="1"/>
          </p:cNvSpPr>
          <p:nvPr/>
        </p:nvSpPr>
        <p:spPr bwMode="auto">
          <a:xfrm>
            <a:off x="1010863" y="2852936"/>
            <a:ext cx="2408136" cy="3384376"/>
          </a:xfrm>
          <a:prstGeom prst="rect">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16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75" name="Group 112"/>
          <p:cNvGrpSpPr>
            <a:grpSpLocks/>
          </p:cNvGrpSpPr>
          <p:nvPr/>
        </p:nvGrpSpPr>
        <p:grpSpPr bwMode="auto">
          <a:xfrm>
            <a:off x="1620750" y="2420888"/>
            <a:ext cx="143965" cy="715213"/>
            <a:chOff x="4333" y="2636"/>
            <a:chExt cx="110" cy="456"/>
          </a:xfrm>
        </p:grpSpPr>
        <p:sp>
          <p:nvSpPr>
            <p:cNvPr id="103" name="Oval 113"/>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4" name="Oval 114"/>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5" name="Line 115"/>
            <p:cNvSpPr>
              <a:spLocks noChangeShapeType="1"/>
            </p:cNvSpPr>
            <p:nvPr/>
          </p:nvSpPr>
          <p:spPr bwMode="auto">
            <a:xfrm>
              <a:off x="4388" y="2699"/>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76" name="Group 116"/>
          <p:cNvGrpSpPr>
            <a:grpSpLocks/>
          </p:cNvGrpSpPr>
          <p:nvPr/>
        </p:nvGrpSpPr>
        <p:grpSpPr bwMode="auto">
          <a:xfrm>
            <a:off x="2267282" y="2420888"/>
            <a:ext cx="146582" cy="715213"/>
            <a:chOff x="4333" y="2636"/>
            <a:chExt cx="110" cy="456"/>
          </a:xfrm>
        </p:grpSpPr>
        <p:sp>
          <p:nvSpPr>
            <p:cNvPr id="100" name="Oval 11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1" name="Oval 11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2" name="Line 11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77" name="Rectangle 219"/>
          <p:cNvSpPr>
            <a:spLocks noChangeArrowheads="1"/>
          </p:cNvSpPr>
          <p:nvPr/>
        </p:nvSpPr>
        <p:spPr bwMode="auto">
          <a:xfrm>
            <a:off x="1107712" y="3284984"/>
            <a:ext cx="199194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228600" lvl="0" indent="-228600" fontAlgn="base" latinLnBrk="0">
              <a:spcBef>
                <a:spcPct val="0"/>
              </a:spcBef>
              <a:spcAft>
                <a:spcPct val="0"/>
              </a:spcAft>
              <a:buAutoNum type="arabicPeriod"/>
            </a:pPr>
            <a:r>
              <a:rPr kumimoji="1" lang="en-US" altLang="ko-KR" sz="1200" b="1" kern="0" dirty="0" smtClean="0">
                <a:solidFill>
                  <a:srgbClr val="000000"/>
                </a:solidFill>
                <a:latin typeface="+mn-ea"/>
                <a:cs typeface="Tahoma" pitchFamily="34" charset="0"/>
              </a:rPr>
              <a:t>Strong </a:t>
            </a:r>
            <a:r>
              <a:rPr kumimoji="1" lang="en-US" altLang="ko-KR" sz="1200" b="1" kern="0" dirty="0">
                <a:solidFill>
                  <a:srgbClr val="000000"/>
                </a:solidFill>
                <a:latin typeface="+mn-ea"/>
                <a:cs typeface="Tahoma" pitchFamily="34" charset="0"/>
              </a:rPr>
              <a:t>Government </a:t>
            </a:r>
            <a:endParaRPr kumimoji="1" lang="en-US" altLang="ko-KR" sz="1200" b="1" kern="0" dirty="0" smtClean="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smtClean="0">
                <a:solidFill>
                  <a:srgbClr val="000000"/>
                </a:solidFill>
                <a:latin typeface="+mn-ea"/>
                <a:cs typeface="Tahoma" pitchFamily="34" charset="0"/>
              </a:rPr>
              <a:t>    Leadership</a:t>
            </a: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a:solidFill>
                  <a:srgbClr val="000000"/>
                </a:solidFill>
                <a:latin typeface="+mn-ea"/>
                <a:cs typeface="Tahoma" pitchFamily="34" charset="0"/>
              </a:rPr>
              <a:t>2. Sustained </a:t>
            </a:r>
            <a:r>
              <a:rPr kumimoji="1" lang="en-US" altLang="ko-KR" sz="1200" b="1" kern="0" dirty="0" smtClean="0">
                <a:solidFill>
                  <a:srgbClr val="000000"/>
                </a:solidFill>
                <a:latin typeface="+mn-ea"/>
                <a:cs typeface="Tahoma" pitchFamily="34" charset="0"/>
              </a:rPr>
              <a:t>Investment</a:t>
            </a:r>
          </a:p>
          <a:p>
            <a:pPr lvl="0" fontAlgn="base" latinLnBrk="0">
              <a:spcBef>
                <a:spcPct val="0"/>
              </a:spcBef>
              <a:spcAft>
                <a:spcPct val="0"/>
              </a:spcAft>
            </a:pPr>
            <a:r>
              <a:rPr kumimoji="1" lang="en-US" altLang="ko-KR" sz="1200" b="1" kern="0" dirty="0" smtClean="0">
                <a:solidFill>
                  <a:srgbClr val="000000"/>
                </a:solidFill>
                <a:latin typeface="+mn-ea"/>
                <a:cs typeface="Tahoma" pitchFamily="34" charset="0"/>
              </a:rPr>
              <a:t>    in </a:t>
            </a:r>
            <a:r>
              <a:rPr kumimoji="1" lang="en-US" altLang="ko-KR" sz="1200" b="1" kern="0" dirty="0">
                <a:solidFill>
                  <a:srgbClr val="000000"/>
                </a:solidFill>
                <a:latin typeface="+mn-ea"/>
                <a:cs typeface="Tahoma" pitchFamily="34" charset="0"/>
              </a:rPr>
              <a:t>e-Government </a:t>
            </a:r>
            <a:endParaRPr kumimoji="1" lang="en-US" altLang="ko-KR" sz="1200" b="1" kern="0" dirty="0" smtClean="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a:solidFill>
                  <a:srgbClr val="000000"/>
                </a:solidFill>
                <a:latin typeface="+mn-ea"/>
                <a:cs typeface="Tahoma" pitchFamily="34" charset="0"/>
              </a:rPr>
              <a:t> </a:t>
            </a:r>
            <a:r>
              <a:rPr kumimoji="1" lang="en-US" altLang="ko-KR" sz="1200" b="1" kern="0" dirty="0" smtClean="0">
                <a:solidFill>
                  <a:srgbClr val="000000"/>
                </a:solidFill>
                <a:latin typeface="+mn-ea"/>
                <a:cs typeface="Tahoma" pitchFamily="34" charset="0"/>
              </a:rPr>
              <a:t>   Budget</a:t>
            </a: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a:solidFill>
                  <a:srgbClr val="000000"/>
                </a:solidFill>
                <a:latin typeface="+mn-ea"/>
                <a:cs typeface="Tahoma" pitchFamily="34" charset="0"/>
              </a:rPr>
              <a:t>3. Technology Support</a:t>
            </a:r>
            <a:endParaRPr kumimoji="1" lang="ko-KR" altLang="en-US" sz="1200" b="1" i="0" u="none" strike="noStrike" kern="0" cap="none" spc="0" normalizeH="0" baseline="0" noProof="0" dirty="0" smtClean="0">
              <a:ln>
                <a:noFill/>
              </a:ln>
              <a:solidFill>
                <a:srgbClr val="000000"/>
              </a:solidFill>
              <a:effectLst/>
              <a:uLnTx/>
              <a:uFillTx/>
              <a:latin typeface="+mn-ea"/>
              <a:cs typeface="Tahoma" pitchFamily="34" charset="0"/>
            </a:endParaRPr>
          </a:p>
        </p:txBody>
      </p:sp>
      <p:sp>
        <p:nvSpPr>
          <p:cNvPr id="78" name="AutoShape 244"/>
          <p:cNvSpPr>
            <a:spLocks noChangeArrowheads="1"/>
          </p:cNvSpPr>
          <p:nvPr/>
        </p:nvSpPr>
        <p:spPr bwMode="auto">
          <a:xfrm>
            <a:off x="3466115" y="1844824"/>
            <a:ext cx="2408136" cy="792807"/>
          </a:xfrm>
          <a:prstGeom prst="chevron">
            <a:avLst>
              <a:gd name="adj" fmla="val 55422"/>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lvl="0" algn="ctr" eaLnBrk="0" fontAlgn="base" latinLnBrk="0" hangingPunct="0">
              <a:spcBef>
                <a:spcPct val="0"/>
              </a:spcBef>
              <a:spcAft>
                <a:spcPct val="0"/>
              </a:spcAft>
            </a:pPr>
            <a:r>
              <a:rPr lang="en-US" altLang="ko-KR" kern="0" dirty="0" smtClean="0">
                <a:latin typeface="맑은 고딕" pitchFamily="50" charset="-127"/>
                <a:ea typeface="맑은 고딕" pitchFamily="50" charset="-127"/>
              </a:rPr>
              <a:t>  Transactional </a:t>
            </a:r>
            <a:r>
              <a:rPr lang="en-US" altLang="ko-KR" kern="0" dirty="0">
                <a:latin typeface="맑은 고딕" pitchFamily="50" charset="-127"/>
                <a:ea typeface="맑은 고딕" pitchFamily="50" charset="-127"/>
              </a:rPr>
              <a:t>Stage</a:t>
            </a:r>
            <a:endParaRPr kumimoji="0" lang="ko-KR" altLang="ko-KR" i="0" u="none" strike="noStrike" kern="0" cap="none" spc="0" normalizeH="0" baseline="0" noProof="0" dirty="0" smtClean="0">
              <a:ln>
                <a:noFill/>
              </a:ln>
              <a:uLnTx/>
              <a:uFillTx/>
              <a:latin typeface="맑은 고딕" pitchFamily="50" charset="-127"/>
              <a:ea typeface="맑은 고딕" pitchFamily="50" charset="-127"/>
            </a:endParaRPr>
          </a:p>
        </p:txBody>
      </p:sp>
      <p:sp>
        <p:nvSpPr>
          <p:cNvPr id="79" name="Rectangle 245"/>
          <p:cNvSpPr>
            <a:spLocks noChangeArrowheads="1"/>
          </p:cNvSpPr>
          <p:nvPr/>
        </p:nvSpPr>
        <p:spPr bwMode="auto">
          <a:xfrm>
            <a:off x="3538123" y="2852936"/>
            <a:ext cx="2330021" cy="3384376"/>
          </a:xfrm>
          <a:prstGeom prst="rect">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1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0" name="Group 246"/>
          <p:cNvGrpSpPr>
            <a:grpSpLocks/>
          </p:cNvGrpSpPr>
          <p:nvPr/>
        </p:nvGrpSpPr>
        <p:grpSpPr bwMode="auto">
          <a:xfrm>
            <a:off x="4076002" y="2420888"/>
            <a:ext cx="143965" cy="715213"/>
            <a:chOff x="4333" y="2636"/>
            <a:chExt cx="110" cy="456"/>
          </a:xfrm>
        </p:grpSpPr>
        <p:sp>
          <p:nvSpPr>
            <p:cNvPr id="97" name="Oval 24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8" name="Oval 24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9" name="Line 24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1" name="Group 250"/>
          <p:cNvGrpSpPr>
            <a:grpSpLocks/>
          </p:cNvGrpSpPr>
          <p:nvPr/>
        </p:nvGrpSpPr>
        <p:grpSpPr bwMode="auto">
          <a:xfrm>
            <a:off x="4722534" y="2420888"/>
            <a:ext cx="146582" cy="715213"/>
            <a:chOff x="4333" y="2636"/>
            <a:chExt cx="110" cy="456"/>
          </a:xfrm>
        </p:grpSpPr>
        <p:sp>
          <p:nvSpPr>
            <p:cNvPr id="94" name="Oval 251"/>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5" name="Oval 252"/>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6" name="Line 253"/>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2" name="Rectangle 254"/>
          <p:cNvSpPr>
            <a:spLocks noChangeArrowheads="1"/>
          </p:cNvSpPr>
          <p:nvPr/>
        </p:nvSpPr>
        <p:spPr bwMode="auto">
          <a:xfrm>
            <a:off x="3634972" y="3304825"/>
            <a:ext cx="2088797"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lvl="0" fontAlgn="base" latinLnBrk="0">
              <a:spcBef>
                <a:spcPct val="0"/>
              </a:spcBef>
              <a:spcAft>
                <a:spcPct val="0"/>
              </a:spcAft>
            </a:pPr>
            <a:r>
              <a:rPr kumimoji="1" lang="en-US" altLang="ko-KR" sz="1200" b="1" kern="0" dirty="0">
                <a:solidFill>
                  <a:srgbClr val="000000"/>
                </a:solidFill>
                <a:latin typeface="+mn-ea"/>
              </a:rPr>
              <a:t>4. Change Management </a:t>
            </a:r>
            <a:endParaRPr kumimoji="1" lang="en-US" altLang="ko-KR" sz="1200" b="1" kern="0" dirty="0" smtClean="0">
              <a:solidFill>
                <a:srgbClr val="000000"/>
              </a:solidFill>
              <a:latin typeface="+mn-ea"/>
            </a:endParaRPr>
          </a:p>
          <a:p>
            <a:pPr lvl="0" fontAlgn="base" latinLnBrk="0">
              <a:spcBef>
                <a:spcPct val="0"/>
              </a:spcBef>
              <a:spcAft>
                <a:spcPct val="0"/>
              </a:spcAft>
            </a:pPr>
            <a:r>
              <a:rPr kumimoji="1" lang="en-US" altLang="ko-KR" sz="1200" b="1" kern="0" dirty="0" smtClean="0">
                <a:solidFill>
                  <a:srgbClr val="000000"/>
                </a:solidFill>
                <a:latin typeface="+mn-ea"/>
              </a:rPr>
              <a:t>    of </a:t>
            </a:r>
            <a:r>
              <a:rPr kumimoji="1" lang="en-US" altLang="ko-KR" sz="1200" b="1" kern="0" dirty="0">
                <a:solidFill>
                  <a:srgbClr val="000000"/>
                </a:solidFill>
                <a:latin typeface="+mn-ea"/>
              </a:rPr>
              <a:t>Public Officers' </a:t>
            </a:r>
            <a:endParaRPr kumimoji="1" lang="en-US" altLang="ko-KR" sz="1200" b="1" kern="0" dirty="0" smtClean="0">
              <a:solidFill>
                <a:srgbClr val="000000"/>
              </a:solidFill>
              <a:latin typeface="+mn-ea"/>
            </a:endParaRPr>
          </a:p>
          <a:p>
            <a:pPr lvl="0" fontAlgn="base" latinLnBrk="0">
              <a:spcBef>
                <a:spcPct val="0"/>
              </a:spcBef>
              <a:spcAft>
                <a:spcPct val="0"/>
              </a:spcAft>
            </a:pPr>
            <a:r>
              <a:rPr kumimoji="1" lang="en-US" altLang="ko-KR" sz="1200" b="1" kern="0" dirty="0">
                <a:solidFill>
                  <a:srgbClr val="000000"/>
                </a:solidFill>
                <a:latin typeface="+mn-ea"/>
              </a:rPr>
              <a:t> </a:t>
            </a:r>
            <a:r>
              <a:rPr kumimoji="1" lang="en-US" altLang="ko-KR" sz="1200" b="1" kern="0" dirty="0" smtClean="0">
                <a:solidFill>
                  <a:srgbClr val="000000"/>
                </a:solidFill>
                <a:latin typeface="+mn-ea"/>
              </a:rPr>
              <a:t>   in </a:t>
            </a:r>
            <a:r>
              <a:rPr kumimoji="1" lang="en-US" altLang="ko-KR" sz="1200" b="1" kern="0" dirty="0">
                <a:solidFill>
                  <a:srgbClr val="000000"/>
                </a:solidFill>
                <a:latin typeface="+mn-ea"/>
              </a:rPr>
              <a:t>a </a:t>
            </a:r>
            <a:r>
              <a:rPr kumimoji="1" lang="en-US" altLang="ko-KR" sz="1200" b="1" kern="0" dirty="0" smtClean="0">
                <a:solidFill>
                  <a:srgbClr val="000000"/>
                </a:solidFill>
                <a:latin typeface="+mn-ea"/>
              </a:rPr>
              <a:t>Changing </a:t>
            </a:r>
          </a:p>
          <a:p>
            <a:pPr lvl="0" fontAlgn="base" latinLnBrk="0">
              <a:spcBef>
                <a:spcPct val="0"/>
              </a:spcBef>
              <a:spcAft>
                <a:spcPct val="0"/>
              </a:spcAft>
            </a:pPr>
            <a:r>
              <a:rPr kumimoji="1" lang="en-US" altLang="ko-KR" sz="1200" b="1" kern="0" dirty="0">
                <a:solidFill>
                  <a:srgbClr val="000000"/>
                </a:solidFill>
                <a:latin typeface="+mn-ea"/>
              </a:rPr>
              <a:t> </a:t>
            </a:r>
            <a:r>
              <a:rPr kumimoji="1" lang="en-US" altLang="ko-KR" sz="1200" b="1" kern="0" dirty="0" smtClean="0">
                <a:solidFill>
                  <a:srgbClr val="000000"/>
                </a:solidFill>
                <a:latin typeface="+mn-ea"/>
              </a:rPr>
              <a:t>   e-Government</a:t>
            </a:r>
          </a:p>
          <a:p>
            <a:pPr lvl="0" fontAlgn="base" latinLnBrk="0">
              <a:spcBef>
                <a:spcPct val="0"/>
              </a:spcBef>
              <a:spcAft>
                <a:spcPct val="0"/>
              </a:spcAft>
            </a:pPr>
            <a:r>
              <a:rPr kumimoji="1" lang="en-US" altLang="ko-KR" sz="1200" b="1" kern="0" dirty="0" smtClean="0">
                <a:solidFill>
                  <a:srgbClr val="000000"/>
                </a:solidFill>
                <a:latin typeface="+mn-ea"/>
              </a:rPr>
              <a:t>    </a:t>
            </a:r>
            <a:r>
              <a:rPr kumimoji="1" lang="en-US" altLang="ko-KR" sz="1200" b="1" kern="0" dirty="0" err="1" smtClean="0">
                <a:solidFill>
                  <a:srgbClr val="000000"/>
                </a:solidFill>
                <a:latin typeface="+mn-ea"/>
              </a:rPr>
              <a:t>Environmenrt</a:t>
            </a:r>
            <a:endParaRPr kumimoji="1" lang="en-US" altLang="ko-KR" sz="1200" b="1" kern="0" dirty="0">
              <a:solidFill>
                <a:srgbClr val="000000"/>
              </a:solidFill>
              <a:latin typeface="+mn-ea"/>
            </a:endParaRPr>
          </a:p>
          <a:p>
            <a:pPr lvl="0" fontAlgn="base" latinLnBrk="0">
              <a:spcBef>
                <a:spcPct val="0"/>
              </a:spcBef>
              <a:spcAft>
                <a:spcPct val="0"/>
              </a:spcAft>
            </a:pPr>
            <a:endParaRPr kumimoji="1" lang="en-US" altLang="ko-KR" sz="1200" b="1" kern="0" dirty="0">
              <a:solidFill>
                <a:srgbClr val="000000"/>
              </a:solidFill>
              <a:latin typeface="+mn-ea"/>
            </a:endParaRPr>
          </a:p>
          <a:p>
            <a:pPr lvl="0" fontAlgn="base" latinLnBrk="0">
              <a:spcBef>
                <a:spcPct val="0"/>
              </a:spcBef>
              <a:spcAft>
                <a:spcPct val="0"/>
              </a:spcAft>
            </a:pPr>
            <a:r>
              <a:rPr kumimoji="1" lang="en-US" altLang="ko-KR" sz="1200" b="1" kern="0" dirty="0">
                <a:solidFill>
                  <a:srgbClr val="000000"/>
                </a:solidFill>
                <a:latin typeface="+mn-ea"/>
              </a:rPr>
              <a:t>5. </a:t>
            </a:r>
            <a:r>
              <a:rPr kumimoji="1" lang="en-US" altLang="ko-KR" sz="1200" b="1" kern="0" dirty="0" err="1" smtClean="0">
                <a:solidFill>
                  <a:srgbClr val="000000"/>
                </a:solidFill>
                <a:latin typeface="+mn-ea"/>
              </a:rPr>
              <a:t>Perforamnce</a:t>
            </a:r>
            <a:r>
              <a:rPr kumimoji="1" lang="en-US" altLang="ko-KR" sz="1200" b="1" kern="0" dirty="0" smtClean="0">
                <a:solidFill>
                  <a:srgbClr val="000000"/>
                </a:solidFill>
                <a:latin typeface="+mn-ea"/>
              </a:rPr>
              <a:t>-based</a:t>
            </a:r>
          </a:p>
          <a:p>
            <a:pPr lvl="0" fontAlgn="base" latinLnBrk="0">
              <a:spcBef>
                <a:spcPct val="0"/>
              </a:spcBef>
              <a:spcAft>
                <a:spcPct val="0"/>
              </a:spcAft>
            </a:pPr>
            <a:r>
              <a:rPr kumimoji="1" lang="en-US" altLang="ko-KR" sz="1200" b="1" kern="0" dirty="0" smtClean="0">
                <a:solidFill>
                  <a:srgbClr val="000000"/>
                </a:solidFill>
                <a:latin typeface="+mn-ea"/>
              </a:rPr>
              <a:t>    Program management</a:t>
            </a:r>
            <a:endParaRPr kumimoji="1" lang="ko-KR" altLang="en-US" sz="1200" b="1" i="0" u="none" strike="noStrike" kern="0" cap="none" spc="0" normalizeH="0" baseline="0" noProof="0" dirty="0" smtClean="0">
              <a:ln>
                <a:noFill/>
              </a:ln>
              <a:solidFill>
                <a:srgbClr val="000000"/>
              </a:solidFill>
              <a:effectLst/>
              <a:uLnTx/>
              <a:uFillTx/>
              <a:latin typeface="+mn-ea"/>
            </a:endParaRPr>
          </a:p>
        </p:txBody>
      </p:sp>
      <p:sp>
        <p:nvSpPr>
          <p:cNvPr id="83" name="AutoShape 255"/>
          <p:cNvSpPr>
            <a:spLocks noChangeArrowheads="1"/>
          </p:cNvSpPr>
          <p:nvPr/>
        </p:nvSpPr>
        <p:spPr bwMode="auto">
          <a:xfrm>
            <a:off x="5999894" y="1851259"/>
            <a:ext cx="2408136" cy="792807"/>
          </a:xfrm>
          <a:prstGeom prst="chevron">
            <a:avLst>
              <a:gd name="adj" fmla="val 55422"/>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lvl="0" algn="ctr" eaLnBrk="0" fontAlgn="base" latinLnBrk="0" hangingPunct="0">
              <a:spcBef>
                <a:spcPct val="0"/>
              </a:spcBef>
              <a:spcAft>
                <a:spcPct val="0"/>
              </a:spcAft>
            </a:pPr>
            <a:r>
              <a:rPr lang="en-US" altLang="ko-KR" kern="0" dirty="0" smtClean="0">
                <a:latin typeface="+mn-ea"/>
              </a:rPr>
              <a:t>   Connected </a:t>
            </a:r>
            <a:r>
              <a:rPr lang="en-US" altLang="ko-KR" kern="0" dirty="0">
                <a:latin typeface="+mn-ea"/>
              </a:rPr>
              <a:t>Stage </a:t>
            </a:r>
            <a:endParaRPr kumimoji="0" lang="ko-KR" altLang="ko-KR" i="0" u="none" strike="noStrike" kern="0" cap="none" spc="0" normalizeH="0" baseline="0" noProof="0" dirty="0" smtClean="0">
              <a:ln>
                <a:noFill/>
              </a:ln>
              <a:uLnTx/>
              <a:uFillTx/>
              <a:latin typeface="+mn-ea"/>
            </a:endParaRPr>
          </a:p>
        </p:txBody>
      </p:sp>
      <p:sp>
        <p:nvSpPr>
          <p:cNvPr id="84" name="Rectangle 256"/>
          <p:cNvSpPr>
            <a:spLocks noChangeArrowheads="1"/>
          </p:cNvSpPr>
          <p:nvPr/>
        </p:nvSpPr>
        <p:spPr bwMode="auto">
          <a:xfrm>
            <a:off x="6019551" y="2852936"/>
            <a:ext cx="2296865" cy="3384376"/>
          </a:xfrm>
          <a:prstGeom prst="rect">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5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5" name="Group 257"/>
          <p:cNvGrpSpPr>
            <a:grpSpLocks/>
          </p:cNvGrpSpPr>
          <p:nvPr/>
        </p:nvGrpSpPr>
        <p:grpSpPr bwMode="auto">
          <a:xfrm>
            <a:off x="6557429" y="2420888"/>
            <a:ext cx="143965" cy="715213"/>
            <a:chOff x="4333" y="2636"/>
            <a:chExt cx="110" cy="456"/>
          </a:xfrm>
        </p:grpSpPr>
        <p:sp>
          <p:nvSpPr>
            <p:cNvPr id="91" name="Oval 258"/>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2" name="Oval 259"/>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3" name="Line 260"/>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6" name="Group 261"/>
          <p:cNvGrpSpPr>
            <a:grpSpLocks/>
          </p:cNvGrpSpPr>
          <p:nvPr/>
        </p:nvGrpSpPr>
        <p:grpSpPr bwMode="auto">
          <a:xfrm>
            <a:off x="7203962" y="2420888"/>
            <a:ext cx="146582" cy="715213"/>
            <a:chOff x="4333" y="2636"/>
            <a:chExt cx="110" cy="456"/>
          </a:xfrm>
        </p:grpSpPr>
        <p:sp>
          <p:nvSpPr>
            <p:cNvPr id="88" name="Oval 262"/>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89" name="Oval 263"/>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0" name="Line 264"/>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7" name="Rectangle 265"/>
          <p:cNvSpPr>
            <a:spLocks noChangeArrowheads="1"/>
          </p:cNvSpPr>
          <p:nvPr/>
        </p:nvSpPr>
        <p:spPr bwMode="auto">
          <a:xfrm>
            <a:off x="6116401" y="3287063"/>
            <a:ext cx="212800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lvl="0" fontAlgn="base" latinLnBrk="0">
              <a:spcBef>
                <a:spcPct val="0"/>
              </a:spcBef>
              <a:spcAft>
                <a:spcPct val="0"/>
              </a:spcAft>
            </a:pPr>
            <a:r>
              <a:rPr kumimoji="1" lang="en-US" altLang="ko-KR" sz="1200" b="1" kern="0" dirty="0">
                <a:solidFill>
                  <a:srgbClr val="000000"/>
                </a:solidFill>
                <a:latin typeface="+mn-ea"/>
              </a:rPr>
              <a:t>6. IT Governance</a:t>
            </a:r>
          </a:p>
          <a:p>
            <a:pPr lvl="0" fontAlgn="base" latinLnBrk="0">
              <a:spcBef>
                <a:spcPct val="0"/>
              </a:spcBef>
              <a:spcAft>
                <a:spcPct val="0"/>
              </a:spcAft>
            </a:pPr>
            <a:endParaRPr kumimoji="1" lang="en-US" altLang="ko-KR" sz="1200" b="1" kern="0" dirty="0">
              <a:solidFill>
                <a:srgbClr val="000000"/>
              </a:solidFill>
              <a:latin typeface="+mn-ea"/>
            </a:endParaRPr>
          </a:p>
          <a:p>
            <a:pPr lvl="0" fontAlgn="base" latinLnBrk="0">
              <a:spcBef>
                <a:spcPct val="0"/>
              </a:spcBef>
              <a:spcAft>
                <a:spcPct val="0"/>
              </a:spcAft>
            </a:pPr>
            <a:r>
              <a:rPr kumimoji="1" lang="en-US" altLang="ko-KR" sz="1200" b="1" kern="0" dirty="0">
                <a:solidFill>
                  <a:srgbClr val="000000"/>
                </a:solidFill>
                <a:latin typeface="+mn-ea"/>
              </a:rPr>
              <a:t>7. Customer Oriented </a:t>
            </a:r>
            <a:endParaRPr kumimoji="1" lang="en-US" altLang="ko-KR" sz="1200" b="1" kern="0" dirty="0" smtClean="0">
              <a:solidFill>
                <a:srgbClr val="000000"/>
              </a:solidFill>
              <a:latin typeface="+mn-ea"/>
            </a:endParaRPr>
          </a:p>
          <a:p>
            <a:pPr lvl="0" fontAlgn="base" latinLnBrk="0">
              <a:spcBef>
                <a:spcPct val="0"/>
              </a:spcBef>
              <a:spcAft>
                <a:spcPct val="0"/>
              </a:spcAft>
            </a:pPr>
            <a:r>
              <a:rPr kumimoji="1" lang="en-US" altLang="ko-KR" sz="1200" b="1" kern="0" dirty="0" smtClean="0">
                <a:solidFill>
                  <a:srgbClr val="000000"/>
                </a:solidFill>
                <a:latin typeface="+mn-ea"/>
              </a:rPr>
              <a:t>   e-Government </a:t>
            </a:r>
            <a:r>
              <a:rPr kumimoji="1" lang="en-US" altLang="ko-KR" sz="1200" b="1" kern="0" dirty="0">
                <a:solidFill>
                  <a:srgbClr val="000000"/>
                </a:solidFill>
                <a:latin typeface="+mn-ea"/>
              </a:rPr>
              <a:t>Services</a:t>
            </a:r>
            <a:endParaRPr kumimoji="1" lang="ko-KR" altLang="en-US" sz="1200" b="1" i="0" u="none" strike="noStrike" kern="0" cap="none" spc="0" normalizeH="0" baseline="0" noProof="0" dirty="0" smtClean="0">
              <a:ln>
                <a:noFill/>
              </a:ln>
              <a:solidFill>
                <a:srgbClr val="000000"/>
              </a:solidFill>
              <a:effectLst/>
              <a:uLnTx/>
              <a:uFillTx/>
              <a:latin typeface="+mn-ea"/>
            </a:endParaRPr>
          </a:p>
        </p:txBody>
      </p:sp>
      <p:sp>
        <p:nvSpPr>
          <p:cNvPr id="109" name="직사각형 108"/>
          <p:cNvSpPr/>
          <p:nvPr/>
        </p:nvSpPr>
        <p:spPr>
          <a:xfrm>
            <a:off x="1187624" y="2051556"/>
            <a:ext cx="1838901" cy="369332"/>
          </a:xfrm>
          <a:prstGeom prst="rect">
            <a:avLst/>
          </a:prstGeom>
        </p:spPr>
        <p:txBody>
          <a:bodyPr wrap="none">
            <a:spAutoFit/>
          </a:bodyPr>
          <a:lstStyle/>
          <a:p>
            <a:r>
              <a:rPr lang="en-US" altLang="ko-KR" dirty="0"/>
              <a:t>Emerging Stage</a:t>
            </a:r>
            <a:endParaRPr lang="ko-KR" altLang="en-US" dirty="0"/>
          </a:p>
        </p:txBody>
      </p:sp>
      <p:sp>
        <p:nvSpPr>
          <p:cNvPr id="110" name="슬라이드 번호 개체 틀 109"/>
          <p:cNvSpPr>
            <a:spLocks noGrp="1"/>
          </p:cNvSpPr>
          <p:nvPr>
            <p:ph type="sldNum" sz="quarter" idx="12"/>
          </p:nvPr>
        </p:nvSpPr>
        <p:spPr/>
        <p:txBody>
          <a:bodyPr/>
          <a:lstStyle/>
          <a:p>
            <a:fld id="{8F563537-3992-4579-A065-26E1D23BF530}" type="slidenum">
              <a:rPr lang="ko-KR" altLang="en-US" smtClean="0"/>
              <a:pPr/>
              <a:t>7</a:t>
            </a:fld>
            <a:endParaRPr lang="ko-KR" altLang="en-US"/>
          </a:p>
        </p:txBody>
      </p:sp>
    </p:spTree>
    <p:extLst>
      <p:ext uri="{BB962C8B-B14F-4D97-AF65-F5344CB8AC3E}">
        <p14:creationId xmlns:p14="http://schemas.microsoft.com/office/powerpoint/2010/main" val="2839833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a:t>Success factors of Korean </a:t>
            </a:r>
            <a:r>
              <a:rPr lang="en-US" altLang="ko-KR" sz="3600" dirty="0" smtClean="0"/>
              <a:t/>
            </a:r>
            <a:br>
              <a:rPr lang="en-US" altLang="ko-KR" sz="3600" dirty="0" smtClean="0"/>
            </a:br>
            <a:r>
              <a:rPr lang="en-US" altLang="ko-KR" sz="3600" dirty="0" smtClean="0"/>
              <a:t>e-Government</a:t>
            </a:r>
            <a:endParaRPr lang="ko-KR" altLang="en-US" sz="3600" dirty="0"/>
          </a:p>
        </p:txBody>
      </p:sp>
      <p:sp>
        <p:nvSpPr>
          <p:cNvPr id="73" name="AutoShape 110"/>
          <p:cNvSpPr>
            <a:spLocks noChangeArrowheads="1"/>
          </p:cNvSpPr>
          <p:nvPr/>
        </p:nvSpPr>
        <p:spPr bwMode="auto">
          <a:xfrm>
            <a:off x="1010863" y="1844824"/>
            <a:ext cx="2408136" cy="792807"/>
          </a:xfrm>
          <a:prstGeom prst="homePlate">
            <a:avLst>
              <a:gd name="adj" fmla="val 55422"/>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ko-KR" altLang="ko-KR" sz="2000" b="1" i="0" u="none" strike="noStrike" kern="0" cap="none" spc="0" normalizeH="0" baseline="0" noProof="0" smtClean="0">
              <a:ln>
                <a:noFill/>
              </a:ln>
              <a:solidFill>
                <a:srgbClr val="FFFFFF"/>
              </a:solidFill>
              <a:effectLst>
                <a:outerShdw blurRad="38100" dist="38100" dir="2700000" algn="tl">
                  <a:srgbClr val="000000"/>
                </a:outerShdw>
              </a:effectLst>
              <a:uLnTx/>
              <a:uFillTx/>
              <a:latin typeface="Times New Roman" pitchFamily="18" charset="0"/>
              <a:ea typeface="굴림" pitchFamily="50" charset="-127"/>
            </a:endParaRPr>
          </a:p>
        </p:txBody>
      </p:sp>
      <p:sp>
        <p:nvSpPr>
          <p:cNvPr id="74" name="Rectangle 111"/>
          <p:cNvSpPr>
            <a:spLocks noChangeArrowheads="1"/>
          </p:cNvSpPr>
          <p:nvPr/>
        </p:nvSpPr>
        <p:spPr bwMode="auto">
          <a:xfrm>
            <a:off x="1010863" y="2852936"/>
            <a:ext cx="2408136" cy="3384376"/>
          </a:xfrm>
          <a:prstGeom prst="rect">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16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75" name="Group 112"/>
          <p:cNvGrpSpPr>
            <a:grpSpLocks/>
          </p:cNvGrpSpPr>
          <p:nvPr/>
        </p:nvGrpSpPr>
        <p:grpSpPr bwMode="auto">
          <a:xfrm>
            <a:off x="1620750" y="2420888"/>
            <a:ext cx="143965" cy="715213"/>
            <a:chOff x="4333" y="2636"/>
            <a:chExt cx="110" cy="456"/>
          </a:xfrm>
        </p:grpSpPr>
        <p:sp>
          <p:nvSpPr>
            <p:cNvPr id="103" name="Oval 113"/>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4" name="Oval 114"/>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5" name="Line 115"/>
            <p:cNvSpPr>
              <a:spLocks noChangeShapeType="1"/>
            </p:cNvSpPr>
            <p:nvPr/>
          </p:nvSpPr>
          <p:spPr bwMode="auto">
            <a:xfrm>
              <a:off x="4388" y="2699"/>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76" name="Group 116"/>
          <p:cNvGrpSpPr>
            <a:grpSpLocks/>
          </p:cNvGrpSpPr>
          <p:nvPr/>
        </p:nvGrpSpPr>
        <p:grpSpPr bwMode="auto">
          <a:xfrm>
            <a:off x="2267282" y="2420888"/>
            <a:ext cx="146582" cy="715213"/>
            <a:chOff x="4333" y="2636"/>
            <a:chExt cx="110" cy="456"/>
          </a:xfrm>
        </p:grpSpPr>
        <p:sp>
          <p:nvSpPr>
            <p:cNvPr id="100" name="Oval 11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1" name="Oval 11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2" name="Line 11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77" name="Rectangle 219"/>
          <p:cNvSpPr>
            <a:spLocks noChangeArrowheads="1"/>
          </p:cNvSpPr>
          <p:nvPr/>
        </p:nvSpPr>
        <p:spPr bwMode="auto">
          <a:xfrm>
            <a:off x="1107712" y="3284984"/>
            <a:ext cx="199194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228600" lvl="0" indent="-228600" fontAlgn="base" latinLnBrk="0">
              <a:spcBef>
                <a:spcPct val="0"/>
              </a:spcBef>
              <a:spcAft>
                <a:spcPct val="0"/>
              </a:spcAft>
              <a:buAutoNum type="arabicPeriod"/>
            </a:pPr>
            <a:r>
              <a:rPr kumimoji="1" lang="en-US" altLang="ko-KR" sz="1200" b="1" kern="0" dirty="0" smtClean="0">
                <a:solidFill>
                  <a:srgbClr val="000000"/>
                </a:solidFill>
                <a:latin typeface="+mn-ea"/>
                <a:cs typeface="Tahoma" pitchFamily="34" charset="0"/>
              </a:rPr>
              <a:t>Strong </a:t>
            </a:r>
            <a:r>
              <a:rPr kumimoji="1" lang="en-US" altLang="ko-KR" sz="1200" b="1" kern="0" dirty="0">
                <a:solidFill>
                  <a:srgbClr val="000000"/>
                </a:solidFill>
                <a:latin typeface="+mn-ea"/>
                <a:cs typeface="Tahoma" pitchFamily="34" charset="0"/>
              </a:rPr>
              <a:t>Government </a:t>
            </a:r>
            <a:endParaRPr kumimoji="1" lang="en-US" altLang="ko-KR" sz="1200" b="1" kern="0" dirty="0" smtClean="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smtClean="0">
                <a:solidFill>
                  <a:srgbClr val="000000"/>
                </a:solidFill>
                <a:latin typeface="+mn-ea"/>
                <a:cs typeface="Tahoma" pitchFamily="34" charset="0"/>
              </a:rPr>
              <a:t>    Leadership</a:t>
            </a: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a:solidFill>
                  <a:srgbClr val="000000"/>
                </a:solidFill>
                <a:latin typeface="+mn-ea"/>
                <a:cs typeface="Tahoma" pitchFamily="34" charset="0"/>
              </a:rPr>
              <a:t>2. Sustained </a:t>
            </a:r>
            <a:r>
              <a:rPr kumimoji="1" lang="en-US" altLang="ko-KR" sz="1200" b="1" kern="0" dirty="0" smtClean="0">
                <a:solidFill>
                  <a:srgbClr val="000000"/>
                </a:solidFill>
                <a:latin typeface="+mn-ea"/>
                <a:cs typeface="Tahoma" pitchFamily="34" charset="0"/>
              </a:rPr>
              <a:t>Investment</a:t>
            </a:r>
          </a:p>
          <a:p>
            <a:pPr lvl="0" fontAlgn="base" latinLnBrk="0">
              <a:spcBef>
                <a:spcPct val="0"/>
              </a:spcBef>
              <a:spcAft>
                <a:spcPct val="0"/>
              </a:spcAft>
            </a:pPr>
            <a:r>
              <a:rPr kumimoji="1" lang="en-US" altLang="ko-KR" sz="1200" b="1" kern="0" dirty="0" smtClean="0">
                <a:solidFill>
                  <a:srgbClr val="000000"/>
                </a:solidFill>
                <a:latin typeface="+mn-ea"/>
                <a:cs typeface="Tahoma" pitchFamily="34" charset="0"/>
              </a:rPr>
              <a:t>    in </a:t>
            </a:r>
            <a:r>
              <a:rPr kumimoji="1" lang="en-US" altLang="ko-KR" sz="1200" b="1" kern="0" dirty="0">
                <a:solidFill>
                  <a:srgbClr val="000000"/>
                </a:solidFill>
                <a:latin typeface="+mn-ea"/>
                <a:cs typeface="Tahoma" pitchFamily="34" charset="0"/>
              </a:rPr>
              <a:t>e-Government </a:t>
            </a:r>
            <a:endParaRPr kumimoji="1" lang="en-US" altLang="ko-KR" sz="1200" b="1" kern="0" dirty="0" smtClean="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a:solidFill>
                  <a:srgbClr val="000000"/>
                </a:solidFill>
                <a:latin typeface="+mn-ea"/>
                <a:cs typeface="Tahoma" pitchFamily="34" charset="0"/>
              </a:rPr>
              <a:t> </a:t>
            </a:r>
            <a:r>
              <a:rPr kumimoji="1" lang="en-US" altLang="ko-KR" sz="1200" b="1" kern="0" dirty="0" smtClean="0">
                <a:solidFill>
                  <a:srgbClr val="000000"/>
                </a:solidFill>
                <a:latin typeface="+mn-ea"/>
                <a:cs typeface="Tahoma" pitchFamily="34" charset="0"/>
              </a:rPr>
              <a:t>   Budget</a:t>
            </a: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endParaRPr kumimoji="1" lang="en-US" altLang="ko-KR" sz="1200" b="1" kern="0" dirty="0">
              <a:solidFill>
                <a:srgbClr val="000000"/>
              </a:solidFill>
              <a:latin typeface="+mn-ea"/>
              <a:cs typeface="Tahoma" pitchFamily="34" charset="0"/>
            </a:endParaRPr>
          </a:p>
          <a:p>
            <a:pPr lvl="0" fontAlgn="base" latinLnBrk="0">
              <a:spcBef>
                <a:spcPct val="0"/>
              </a:spcBef>
              <a:spcAft>
                <a:spcPct val="0"/>
              </a:spcAft>
            </a:pPr>
            <a:r>
              <a:rPr kumimoji="1" lang="en-US" altLang="ko-KR" sz="1200" b="1" kern="0" dirty="0">
                <a:solidFill>
                  <a:srgbClr val="000000"/>
                </a:solidFill>
                <a:latin typeface="+mn-ea"/>
                <a:cs typeface="Tahoma" pitchFamily="34" charset="0"/>
              </a:rPr>
              <a:t>3. Technology Support</a:t>
            </a:r>
            <a:endParaRPr kumimoji="1" lang="ko-KR" altLang="en-US" sz="1200" b="1" i="0" u="none" strike="noStrike" kern="0" cap="none" spc="0" normalizeH="0" baseline="0" noProof="0" dirty="0" smtClean="0">
              <a:ln>
                <a:noFill/>
              </a:ln>
              <a:solidFill>
                <a:srgbClr val="000000"/>
              </a:solidFill>
              <a:effectLst/>
              <a:uLnTx/>
              <a:uFillTx/>
              <a:latin typeface="+mn-ea"/>
              <a:cs typeface="Tahoma" pitchFamily="34" charset="0"/>
            </a:endParaRPr>
          </a:p>
        </p:txBody>
      </p:sp>
      <p:sp>
        <p:nvSpPr>
          <p:cNvPr id="78" name="AutoShape 244"/>
          <p:cNvSpPr>
            <a:spLocks noChangeArrowheads="1"/>
          </p:cNvSpPr>
          <p:nvPr/>
        </p:nvSpPr>
        <p:spPr bwMode="auto">
          <a:xfrm>
            <a:off x="3466115" y="1844824"/>
            <a:ext cx="2408136" cy="792807"/>
          </a:xfrm>
          <a:prstGeom prst="chevron">
            <a:avLst>
              <a:gd name="adj" fmla="val 55422"/>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lvl="0" algn="ctr" eaLnBrk="0" fontAlgn="base" latinLnBrk="0" hangingPunct="0">
              <a:spcBef>
                <a:spcPct val="0"/>
              </a:spcBef>
              <a:spcAft>
                <a:spcPct val="0"/>
              </a:spcAft>
            </a:pPr>
            <a:r>
              <a:rPr lang="en-US" altLang="ko-KR" kern="0" dirty="0" smtClean="0">
                <a:latin typeface="맑은 고딕" pitchFamily="50" charset="-127"/>
                <a:ea typeface="맑은 고딕" pitchFamily="50" charset="-127"/>
              </a:rPr>
              <a:t>  Transactional </a:t>
            </a:r>
            <a:r>
              <a:rPr lang="en-US" altLang="ko-KR" kern="0" dirty="0">
                <a:latin typeface="맑은 고딕" pitchFamily="50" charset="-127"/>
                <a:ea typeface="맑은 고딕" pitchFamily="50" charset="-127"/>
              </a:rPr>
              <a:t>Stage</a:t>
            </a:r>
            <a:endParaRPr kumimoji="0" lang="ko-KR" altLang="ko-KR" i="0" u="none" strike="noStrike" kern="0" cap="none" spc="0" normalizeH="0" baseline="0" noProof="0" dirty="0" smtClean="0">
              <a:ln>
                <a:noFill/>
              </a:ln>
              <a:uLnTx/>
              <a:uFillTx/>
              <a:latin typeface="맑은 고딕" pitchFamily="50" charset="-127"/>
              <a:ea typeface="맑은 고딕" pitchFamily="50" charset="-127"/>
            </a:endParaRPr>
          </a:p>
        </p:txBody>
      </p:sp>
      <p:sp>
        <p:nvSpPr>
          <p:cNvPr id="79" name="Rectangle 245"/>
          <p:cNvSpPr>
            <a:spLocks noChangeArrowheads="1"/>
          </p:cNvSpPr>
          <p:nvPr/>
        </p:nvSpPr>
        <p:spPr bwMode="auto">
          <a:xfrm>
            <a:off x="3538123" y="2852936"/>
            <a:ext cx="2330021" cy="3384376"/>
          </a:xfrm>
          <a:prstGeom prst="rect">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1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0" name="Group 246"/>
          <p:cNvGrpSpPr>
            <a:grpSpLocks/>
          </p:cNvGrpSpPr>
          <p:nvPr/>
        </p:nvGrpSpPr>
        <p:grpSpPr bwMode="auto">
          <a:xfrm>
            <a:off x="4076002" y="2420888"/>
            <a:ext cx="143965" cy="715213"/>
            <a:chOff x="4333" y="2636"/>
            <a:chExt cx="110" cy="456"/>
          </a:xfrm>
        </p:grpSpPr>
        <p:sp>
          <p:nvSpPr>
            <p:cNvPr id="97" name="Oval 24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8" name="Oval 24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9" name="Line 24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1" name="Group 250"/>
          <p:cNvGrpSpPr>
            <a:grpSpLocks/>
          </p:cNvGrpSpPr>
          <p:nvPr/>
        </p:nvGrpSpPr>
        <p:grpSpPr bwMode="auto">
          <a:xfrm>
            <a:off x="4722534" y="2420888"/>
            <a:ext cx="146582" cy="715213"/>
            <a:chOff x="4333" y="2636"/>
            <a:chExt cx="110" cy="456"/>
          </a:xfrm>
        </p:grpSpPr>
        <p:sp>
          <p:nvSpPr>
            <p:cNvPr id="94" name="Oval 251"/>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5" name="Oval 252"/>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6" name="Line 253"/>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2" name="Rectangle 254"/>
          <p:cNvSpPr>
            <a:spLocks noChangeArrowheads="1"/>
          </p:cNvSpPr>
          <p:nvPr/>
        </p:nvSpPr>
        <p:spPr bwMode="auto">
          <a:xfrm>
            <a:off x="3634972" y="3304825"/>
            <a:ext cx="2088797"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lvl="0" fontAlgn="base" latinLnBrk="0">
              <a:spcBef>
                <a:spcPct val="0"/>
              </a:spcBef>
              <a:spcAft>
                <a:spcPct val="0"/>
              </a:spcAft>
            </a:pPr>
            <a:r>
              <a:rPr kumimoji="1" lang="en-US" altLang="ko-KR" sz="1200" b="1" kern="0" dirty="0">
                <a:solidFill>
                  <a:srgbClr val="000000"/>
                </a:solidFill>
                <a:latin typeface="+mn-ea"/>
              </a:rPr>
              <a:t>4. Change Management </a:t>
            </a:r>
            <a:endParaRPr kumimoji="1" lang="en-US" altLang="ko-KR" sz="1200" b="1" kern="0" dirty="0" smtClean="0">
              <a:solidFill>
                <a:srgbClr val="000000"/>
              </a:solidFill>
              <a:latin typeface="+mn-ea"/>
            </a:endParaRPr>
          </a:p>
          <a:p>
            <a:pPr lvl="0" fontAlgn="base" latinLnBrk="0">
              <a:spcBef>
                <a:spcPct val="0"/>
              </a:spcBef>
              <a:spcAft>
                <a:spcPct val="0"/>
              </a:spcAft>
            </a:pPr>
            <a:r>
              <a:rPr kumimoji="1" lang="en-US" altLang="ko-KR" sz="1200" b="1" kern="0" dirty="0" smtClean="0">
                <a:solidFill>
                  <a:srgbClr val="000000"/>
                </a:solidFill>
                <a:latin typeface="+mn-ea"/>
              </a:rPr>
              <a:t>    of </a:t>
            </a:r>
            <a:r>
              <a:rPr kumimoji="1" lang="en-US" altLang="ko-KR" sz="1200" b="1" kern="0" dirty="0">
                <a:solidFill>
                  <a:srgbClr val="000000"/>
                </a:solidFill>
                <a:latin typeface="+mn-ea"/>
              </a:rPr>
              <a:t>Public Officers' </a:t>
            </a:r>
            <a:endParaRPr kumimoji="1" lang="en-US" altLang="ko-KR" sz="1200" b="1" kern="0" dirty="0" smtClean="0">
              <a:solidFill>
                <a:srgbClr val="000000"/>
              </a:solidFill>
              <a:latin typeface="+mn-ea"/>
            </a:endParaRPr>
          </a:p>
          <a:p>
            <a:pPr lvl="0" fontAlgn="base" latinLnBrk="0">
              <a:spcBef>
                <a:spcPct val="0"/>
              </a:spcBef>
              <a:spcAft>
                <a:spcPct val="0"/>
              </a:spcAft>
            </a:pPr>
            <a:r>
              <a:rPr kumimoji="1" lang="en-US" altLang="ko-KR" sz="1200" b="1" kern="0" dirty="0">
                <a:solidFill>
                  <a:srgbClr val="000000"/>
                </a:solidFill>
                <a:latin typeface="+mn-ea"/>
              </a:rPr>
              <a:t> </a:t>
            </a:r>
            <a:r>
              <a:rPr kumimoji="1" lang="en-US" altLang="ko-KR" sz="1200" b="1" kern="0" dirty="0" smtClean="0">
                <a:solidFill>
                  <a:srgbClr val="000000"/>
                </a:solidFill>
                <a:latin typeface="+mn-ea"/>
              </a:rPr>
              <a:t>   in </a:t>
            </a:r>
            <a:r>
              <a:rPr kumimoji="1" lang="en-US" altLang="ko-KR" sz="1200" b="1" kern="0" dirty="0">
                <a:solidFill>
                  <a:srgbClr val="000000"/>
                </a:solidFill>
                <a:latin typeface="+mn-ea"/>
              </a:rPr>
              <a:t>a </a:t>
            </a:r>
            <a:r>
              <a:rPr kumimoji="1" lang="en-US" altLang="ko-KR" sz="1200" b="1" kern="0" dirty="0" smtClean="0">
                <a:solidFill>
                  <a:srgbClr val="000000"/>
                </a:solidFill>
                <a:latin typeface="+mn-ea"/>
              </a:rPr>
              <a:t>Changing </a:t>
            </a:r>
          </a:p>
          <a:p>
            <a:pPr lvl="0" fontAlgn="base" latinLnBrk="0">
              <a:spcBef>
                <a:spcPct val="0"/>
              </a:spcBef>
              <a:spcAft>
                <a:spcPct val="0"/>
              </a:spcAft>
            </a:pPr>
            <a:r>
              <a:rPr kumimoji="1" lang="en-US" altLang="ko-KR" sz="1200" b="1" kern="0" dirty="0">
                <a:solidFill>
                  <a:srgbClr val="000000"/>
                </a:solidFill>
                <a:latin typeface="+mn-ea"/>
              </a:rPr>
              <a:t> </a:t>
            </a:r>
            <a:r>
              <a:rPr kumimoji="1" lang="en-US" altLang="ko-KR" sz="1200" b="1" kern="0" dirty="0" smtClean="0">
                <a:solidFill>
                  <a:srgbClr val="000000"/>
                </a:solidFill>
                <a:latin typeface="+mn-ea"/>
              </a:rPr>
              <a:t>   e-Government</a:t>
            </a:r>
          </a:p>
          <a:p>
            <a:pPr lvl="0" fontAlgn="base" latinLnBrk="0">
              <a:spcBef>
                <a:spcPct val="0"/>
              </a:spcBef>
              <a:spcAft>
                <a:spcPct val="0"/>
              </a:spcAft>
            </a:pPr>
            <a:r>
              <a:rPr kumimoji="1" lang="en-US" altLang="ko-KR" sz="1200" b="1" kern="0" dirty="0" smtClean="0">
                <a:solidFill>
                  <a:srgbClr val="000000"/>
                </a:solidFill>
                <a:latin typeface="+mn-ea"/>
              </a:rPr>
              <a:t>    </a:t>
            </a:r>
            <a:r>
              <a:rPr kumimoji="1" lang="en-US" altLang="ko-KR" sz="1200" b="1" kern="0" dirty="0" err="1" smtClean="0">
                <a:solidFill>
                  <a:srgbClr val="000000"/>
                </a:solidFill>
                <a:latin typeface="+mn-ea"/>
              </a:rPr>
              <a:t>Environmenrt</a:t>
            </a:r>
            <a:endParaRPr kumimoji="1" lang="en-US" altLang="ko-KR" sz="1200" b="1" kern="0" dirty="0">
              <a:solidFill>
                <a:srgbClr val="000000"/>
              </a:solidFill>
              <a:latin typeface="+mn-ea"/>
            </a:endParaRPr>
          </a:p>
          <a:p>
            <a:pPr lvl="0" fontAlgn="base" latinLnBrk="0">
              <a:spcBef>
                <a:spcPct val="0"/>
              </a:spcBef>
              <a:spcAft>
                <a:spcPct val="0"/>
              </a:spcAft>
            </a:pPr>
            <a:endParaRPr kumimoji="1" lang="en-US" altLang="ko-KR" sz="1200" b="1" kern="0" dirty="0">
              <a:solidFill>
                <a:srgbClr val="000000"/>
              </a:solidFill>
              <a:latin typeface="+mn-ea"/>
            </a:endParaRPr>
          </a:p>
          <a:p>
            <a:pPr lvl="0" fontAlgn="base" latinLnBrk="0">
              <a:spcBef>
                <a:spcPct val="0"/>
              </a:spcBef>
              <a:spcAft>
                <a:spcPct val="0"/>
              </a:spcAft>
            </a:pPr>
            <a:r>
              <a:rPr kumimoji="1" lang="en-US" altLang="ko-KR" sz="1200" b="1" kern="0" dirty="0">
                <a:solidFill>
                  <a:srgbClr val="000000"/>
                </a:solidFill>
                <a:latin typeface="+mn-ea"/>
              </a:rPr>
              <a:t>5. </a:t>
            </a:r>
            <a:r>
              <a:rPr kumimoji="1" lang="en-US" altLang="ko-KR" sz="1200" b="1" kern="0" dirty="0" err="1" smtClean="0">
                <a:solidFill>
                  <a:srgbClr val="000000"/>
                </a:solidFill>
                <a:latin typeface="+mn-ea"/>
              </a:rPr>
              <a:t>Perforamnce</a:t>
            </a:r>
            <a:r>
              <a:rPr kumimoji="1" lang="en-US" altLang="ko-KR" sz="1200" b="1" kern="0" dirty="0" smtClean="0">
                <a:solidFill>
                  <a:srgbClr val="000000"/>
                </a:solidFill>
                <a:latin typeface="+mn-ea"/>
              </a:rPr>
              <a:t>-based</a:t>
            </a:r>
          </a:p>
          <a:p>
            <a:pPr lvl="0" fontAlgn="base" latinLnBrk="0">
              <a:spcBef>
                <a:spcPct val="0"/>
              </a:spcBef>
              <a:spcAft>
                <a:spcPct val="0"/>
              </a:spcAft>
            </a:pPr>
            <a:r>
              <a:rPr kumimoji="1" lang="en-US" altLang="ko-KR" sz="1200" b="1" kern="0" dirty="0" smtClean="0">
                <a:solidFill>
                  <a:srgbClr val="000000"/>
                </a:solidFill>
                <a:latin typeface="+mn-ea"/>
              </a:rPr>
              <a:t>    Program management</a:t>
            </a:r>
            <a:endParaRPr kumimoji="1" lang="ko-KR" altLang="en-US" sz="1200" b="1" i="0" u="none" strike="noStrike" kern="0" cap="none" spc="0" normalizeH="0" baseline="0" noProof="0" dirty="0" smtClean="0">
              <a:ln>
                <a:noFill/>
              </a:ln>
              <a:solidFill>
                <a:srgbClr val="000000"/>
              </a:solidFill>
              <a:effectLst/>
              <a:uLnTx/>
              <a:uFillTx/>
              <a:latin typeface="+mn-ea"/>
            </a:endParaRPr>
          </a:p>
        </p:txBody>
      </p:sp>
      <p:sp>
        <p:nvSpPr>
          <p:cNvPr id="83" name="AutoShape 255"/>
          <p:cNvSpPr>
            <a:spLocks noChangeArrowheads="1"/>
          </p:cNvSpPr>
          <p:nvPr/>
        </p:nvSpPr>
        <p:spPr bwMode="auto">
          <a:xfrm>
            <a:off x="5999894" y="1851259"/>
            <a:ext cx="2408136" cy="792807"/>
          </a:xfrm>
          <a:prstGeom prst="chevron">
            <a:avLst>
              <a:gd name="adj" fmla="val 55422"/>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lvl="0" algn="ctr" eaLnBrk="0" fontAlgn="base" latinLnBrk="0" hangingPunct="0">
              <a:spcBef>
                <a:spcPct val="0"/>
              </a:spcBef>
              <a:spcAft>
                <a:spcPct val="0"/>
              </a:spcAft>
            </a:pPr>
            <a:r>
              <a:rPr lang="en-US" altLang="ko-KR" kern="0" dirty="0" smtClean="0">
                <a:latin typeface="+mn-ea"/>
              </a:rPr>
              <a:t>   Connected </a:t>
            </a:r>
            <a:r>
              <a:rPr lang="en-US" altLang="ko-KR" kern="0" dirty="0">
                <a:latin typeface="+mn-ea"/>
              </a:rPr>
              <a:t>Stage </a:t>
            </a:r>
            <a:endParaRPr kumimoji="0" lang="ko-KR" altLang="ko-KR" i="0" u="none" strike="noStrike" kern="0" cap="none" spc="0" normalizeH="0" baseline="0" noProof="0" dirty="0" smtClean="0">
              <a:ln>
                <a:noFill/>
              </a:ln>
              <a:uLnTx/>
              <a:uFillTx/>
              <a:latin typeface="+mn-ea"/>
            </a:endParaRPr>
          </a:p>
        </p:txBody>
      </p:sp>
      <p:sp>
        <p:nvSpPr>
          <p:cNvPr id="84" name="Rectangle 256"/>
          <p:cNvSpPr>
            <a:spLocks noChangeArrowheads="1"/>
          </p:cNvSpPr>
          <p:nvPr/>
        </p:nvSpPr>
        <p:spPr bwMode="auto">
          <a:xfrm>
            <a:off x="6019551" y="2852936"/>
            <a:ext cx="2296865" cy="3384376"/>
          </a:xfrm>
          <a:prstGeom prst="rect">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5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5" name="Group 257"/>
          <p:cNvGrpSpPr>
            <a:grpSpLocks/>
          </p:cNvGrpSpPr>
          <p:nvPr/>
        </p:nvGrpSpPr>
        <p:grpSpPr bwMode="auto">
          <a:xfrm>
            <a:off x="6557429" y="2420888"/>
            <a:ext cx="143965" cy="715213"/>
            <a:chOff x="4333" y="2636"/>
            <a:chExt cx="110" cy="456"/>
          </a:xfrm>
        </p:grpSpPr>
        <p:sp>
          <p:nvSpPr>
            <p:cNvPr id="91" name="Oval 258"/>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2" name="Oval 259"/>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3" name="Line 260"/>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6" name="Group 261"/>
          <p:cNvGrpSpPr>
            <a:grpSpLocks/>
          </p:cNvGrpSpPr>
          <p:nvPr/>
        </p:nvGrpSpPr>
        <p:grpSpPr bwMode="auto">
          <a:xfrm>
            <a:off x="7203962" y="2420888"/>
            <a:ext cx="146582" cy="715213"/>
            <a:chOff x="4333" y="2636"/>
            <a:chExt cx="110" cy="456"/>
          </a:xfrm>
        </p:grpSpPr>
        <p:sp>
          <p:nvSpPr>
            <p:cNvPr id="88" name="Oval 262"/>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89" name="Oval 263"/>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0" name="Line 264"/>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7" name="Rectangle 265"/>
          <p:cNvSpPr>
            <a:spLocks noChangeArrowheads="1"/>
          </p:cNvSpPr>
          <p:nvPr/>
        </p:nvSpPr>
        <p:spPr bwMode="auto">
          <a:xfrm>
            <a:off x="6116401" y="3287063"/>
            <a:ext cx="212800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lvl="0" fontAlgn="base" latinLnBrk="0">
              <a:spcBef>
                <a:spcPct val="0"/>
              </a:spcBef>
              <a:spcAft>
                <a:spcPct val="0"/>
              </a:spcAft>
            </a:pPr>
            <a:r>
              <a:rPr kumimoji="1" lang="en-US" altLang="ko-KR" sz="1200" b="1" kern="0" dirty="0">
                <a:solidFill>
                  <a:srgbClr val="000000"/>
                </a:solidFill>
                <a:latin typeface="+mn-ea"/>
              </a:rPr>
              <a:t>6. IT Governance</a:t>
            </a:r>
          </a:p>
          <a:p>
            <a:pPr lvl="0" fontAlgn="base" latinLnBrk="0">
              <a:spcBef>
                <a:spcPct val="0"/>
              </a:spcBef>
              <a:spcAft>
                <a:spcPct val="0"/>
              </a:spcAft>
            </a:pPr>
            <a:endParaRPr kumimoji="1" lang="en-US" altLang="ko-KR" sz="1200" b="1" kern="0" dirty="0">
              <a:solidFill>
                <a:srgbClr val="000000"/>
              </a:solidFill>
              <a:latin typeface="+mn-ea"/>
            </a:endParaRPr>
          </a:p>
          <a:p>
            <a:pPr lvl="0" fontAlgn="base" latinLnBrk="0">
              <a:spcBef>
                <a:spcPct val="0"/>
              </a:spcBef>
              <a:spcAft>
                <a:spcPct val="0"/>
              </a:spcAft>
            </a:pPr>
            <a:r>
              <a:rPr kumimoji="1" lang="en-US" altLang="ko-KR" sz="1200" b="1" kern="0" dirty="0">
                <a:solidFill>
                  <a:srgbClr val="000000"/>
                </a:solidFill>
                <a:latin typeface="+mn-ea"/>
              </a:rPr>
              <a:t>7. Customer Oriented </a:t>
            </a:r>
            <a:endParaRPr kumimoji="1" lang="en-US" altLang="ko-KR" sz="1200" b="1" kern="0" dirty="0" smtClean="0">
              <a:solidFill>
                <a:srgbClr val="000000"/>
              </a:solidFill>
              <a:latin typeface="+mn-ea"/>
            </a:endParaRPr>
          </a:p>
          <a:p>
            <a:pPr lvl="0" fontAlgn="base" latinLnBrk="0">
              <a:spcBef>
                <a:spcPct val="0"/>
              </a:spcBef>
              <a:spcAft>
                <a:spcPct val="0"/>
              </a:spcAft>
            </a:pPr>
            <a:r>
              <a:rPr kumimoji="1" lang="en-US" altLang="ko-KR" sz="1200" b="1" kern="0" dirty="0" smtClean="0">
                <a:solidFill>
                  <a:srgbClr val="000000"/>
                </a:solidFill>
                <a:latin typeface="+mn-ea"/>
              </a:rPr>
              <a:t>   e-Government </a:t>
            </a:r>
            <a:r>
              <a:rPr kumimoji="1" lang="en-US" altLang="ko-KR" sz="1200" b="1" kern="0" dirty="0">
                <a:solidFill>
                  <a:srgbClr val="000000"/>
                </a:solidFill>
                <a:latin typeface="+mn-ea"/>
              </a:rPr>
              <a:t>Services</a:t>
            </a:r>
            <a:endParaRPr kumimoji="1" lang="ko-KR" altLang="en-US" sz="1200" b="1" i="0" u="none" strike="noStrike" kern="0" cap="none" spc="0" normalizeH="0" baseline="0" noProof="0" dirty="0" smtClean="0">
              <a:ln>
                <a:noFill/>
              </a:ln>
              <a:solidFill>
                <a:srgbClr val="000000"/>
              </a:solidFill>
              <a:effectLst/>
              <a:uLnTx/>
              <a:uFillTx/>
              <a:latin typeface="+mn-ea"/>
            </a:endParaRPr>
          </a:p>
        </p:txBody>
      </p:sp>
      <p:sp>
        <p:nvSpPr>
          <p:cNvPr id="109" name="직사각형 108"/>
          <p:cNvSpPr/>
          <p:nvPr/>
        </p:nvSpPr>
        <p:spPr>
          <a:xfrm>
            <a:off x="1187624" y="2051556"/>
            <a:ext cx="1838901" cy="369332"/>
          </a:xfrm>
          <a:prstGeom prst="rect">
            <a:avLst/>
          </a:prstGeom>
        </p:spPr>
        <p:txBody>
          <a:bodyPr wrap="none">
            <a:spAutoFit/>
          </a:bodyPr>
          <a:lstStyle/>
          <a:p>
            <a:r>
              <a:rPr lang="en-US" altLang="ko-KR" dirty="0"/>
              <a:t>Emerging Stage</a:t>
            </a:r>
            <a:endParaRPr lang="ko-KR" altLang="en-US" dirty="0"/>
          </a:p>
        </p:txBody>
      </p:sp>
      <p:sp>
        <p:nvSpPr>
          <p:cNvPr id="110" name="슬라이드 번호 개체 틀 109"/>
          <p:cNvSpPr>
            <a:spLocks noGrp="1"/>
          </p:cNvSpPr>
          <p:nvPr>
            <p:ph type="sldNum" sz="quarter" idx="12"/>
          </p:nvPr>
        </p:nvSpPr>
        <p:spPr/>
        <p:txBody>
          <a:bodyPr/>
          <a:lstStyle/>
          <a:p>
            <a:fld id="{8F563537-3992-4579-A065-26E1D23BF530}" type="slidenum">
              <a:rPr lang="ko-KR" altLang="en-US" smtClean="0"/>
              <a:pPr/>
              <a:t>8</a:t>
            </a:fld>
            <a:endParaRPr lang="ko-KR" altLang="en-US"/>
          </a:p>
        </p:txBody>
      </p:sp>
    </p:spTree>
    <p:extLst>
      <p:ext uri="{BB962C8B-B14F-4D97-AF65-F5344CB8AC3E}">
        <p14:creationId xmlns:p14="http://schemas.microsoft.com/office/powerpoint/2010/main" val="38895755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600" dirty="0" smtClean="0"/>
              <a:t>Strategic ICT Enablers</a:t>
            </a:r>
            <a:endParaRPr lang="ko-KR" altLang="en-US" sz="3600" dirty="0"/>
          </a:p>
        </p:txBody>
      </p:sp>
      <p:sp>
        <p:nvSpPr>
          <p:cNvPr id="3" name="내용 개체 틀 2"/>
          <p:cNvSpPr>
            <a:spLocks noGrp="1"/>
          </p:cNvSpPr>
          <p:nvPr>
            <p:ph idx="1"/>
          </p:nvPr>
        </p:nvSpPr>
        <p:spPr/>
        <p:txBody>
          <a:bodyPr>
            <a:normAutofit fontScale="92500" lnSpcReduction="10000"/>
          </a:bodyPr>
          <a:lstStyle/>
          <a:p>
            <a:r>
              <a:rPr lang="en-US" altLang="ko-KR" sz="1800" dirty="0" smtClean="0"/>
              <a:t>Shared ICT infrastructure</a:t>
            </a:r>
          </a:p>
          <a:p>
            <a:pPr lvl="1"/>
            <a:r>
              <a:rPr lang="en-US" altLang="ko-KR" sz="1400" dirty="0" smtClean="0"/>
              <a:t>Broadband, Cloud, SNS, </a:t>
            </a:r>
            <a:r>
              <a:rPr lang="en-US" altLang="ko-KR" sz="1400" dirty="0" err="1" smtClean="0"/>
              <a:t>IoT</a:t>
            </a:r>
            <a:r>
              <a:rPr lang="en-US" altLang="ko-KR" sz="1400" dirty="0" smtClean="0"/>
              <a:t> etc.</a:t>
            </a:r>
          </a:p>
          <a:p>
            <a:r>
              <a:rPr lang="en-US" altLang="ko-KR" sz="1800" dirty="0" smtClean="0"/>
              <a:t>Open data</a:t>
            </a:r>
          </a:p>
          <a:p>
            <a:pPr lvl="1"/>
            <a:r>
              <a:rPr lang="en-US" altLang="ko-KR" sz="1400" dirty="0" smtClean="0"/>
              <a:t>Government Data Portal, Building of National DB etc.</a:t>
            </a:r>
          </a:p>
          <a:p>
            <a:r>
              <a:rPr lang="en-US" altLang="ko-KR" sz="1800" dirty="0" smtClean="0"/>
              <a:t>Innovation infrastructure(e.g. innovation labs)</a:t>
            </a:r>
          </a:p>
          <a:p>
            <a:pPr lvl="1"/>
            <a:r>
              <a:rPr lang="en-US" altLang="ko-KR" sz="1400" dirty="0" smtClean="0"/>
              <a:t>Affiliated R&amp;D projects between industry, academy and Government</a:t>
            </a:r>
          </a:p>
          <a:p>
            <a:r>
              <a:rPr lang="en-US" altLang="ko-KR" sz="1800" dirty="0" smtClean="0"/>
              <a:t>Nationwide education of computer use</a:t>
            </a:r>
          </a:p>
          <a:p>
            <a:pPr lvl="1"/>
            <a:r>
              <a:rPr lang="en-US" altLang="ko-KR" sz="1400" dirty="0" smtClean="0"/>
              <a:t>School, senior citizen</a:t>
            </a:r>
          </a:p>
          <a:p>
            <a:r>
              <a:rPr lang="en-US" altLang="ko-KR" sz="1800" dirty="0" smtClean="0"/>
              <a:t>Shared service across the public service(e.g. </a:t>
            </a:r>
            <a:r>
              <a:rPr lang="en-US" altLang="ko-KR" sz="1800" dirty="0" err="1" smtClean="0"/>
              <a:t>eProcurement</a:t>
            </a:r>
            <a:r>
              <a:rPr lang="en-US" altLang="ko-KR" sz="1800" dirty="0" smtClean="0"/>
              <a:t>)</a:t>
            </a:r>
          </a:p>
          <a:p>
            <a:pPr lvl="1"/>
            <a:r>
              <a:rPr lang="en-US" altLang="ko-KR" sz="1400" dirty="0" smtClean="0"/>
              <a:t>Shared IT services thru GEAP and Special Task force</a:t>
            </a:r>
          </a:p>
          <a:p>
            <a:r>
              <a:rPr lang="en-US" altLang="ko-KR" sz="1800" dirty="0" smtClean="0"/>
              <a:t>Institutional, legal and regulatory framework</a:t>
            </a:r>
          </a:p>
          <a:p>
            <a:pPr lvl="1"/>
            <a:r>
              <a:rPr lang="en-US" altLang="ko-KR" sz="1400" dirty="0" smtClean="0"/>
              <a:t>Framework Act on </a:t>
            </a:r>
            <a:r>
              <a:rPr lang="en-US" altLang="ko-KR" sz="1400" dirty="0" err="1" smtClean="0"/>
              <a:t>Informatization</a:t>
            </a:r>
            <a:r>
              <a:rPr lang="en-US" altLang="ko-KR" sz="1400" dirty="0" smtClean="0"/>
              <a:t>, E-Government Act etc.</a:t>
            </a:r>
          </a:p>
          <a:p>
            <a:pPr lvl="1"/>
            <a:r>
              <a:rPr lang="en-US" altLang="ko-KR" sz="1400" dirty="0" smtClean="0"/>
              <a:t>Security and Privacy issues</a:t>
            </a:r>
          </a:p>
          <a:p>
            <a:pPr lvl="1"/>
            <a:r>
              <a:rPr lang="en-US" altLang="ko-KR" sz="1400" dirty="0" smtClean="0"/>
              <a:t>Raising and sustaining supply of Development Fund</a:t>
            </a:r>
          </a:p>
          <a:p>
            <a:r>
              <a:rPr lang="en-US" altLang="ko-KR" sz="1800" dirty="0" smtClean="0"/>
              <a:t>Cultural and social environment for ICT use</a:t>
            </a:r>
          </a:p>
          <a:p>
            <a:pPr lvl="1"/>
            <a:r>
              <a:rPr lang="en-US" altLang="ko-KR" sz="1400" dirty="0" smtClean="0"/>
              <a:t>Government lead ICT culture </a:t>
            </a:r>
            <a:r>
              <a:rPr lang="en-US" altLang="ko-KR" sz="1400" dirty="0" err="1" smtClean="0"/>
              <a:t>movment</a:t>
            </a:r>
            <a:r>
              <a:rPr lang="en-US" altLang="ko-KR" sz="1400" dirty="0" smtClean="0"/>
              <a:t> &amp; Expansion of Internet access(e.g. PC room)</a:t>
            </a:r>
          </a:p>
          <a:p>
            <a:pPr lvl="1"/>
            <a:r>
              <a:rPr lang="en-US" altLang="ko-KR" sz="1400" dirty="0" smtClean="0"/>
              <a:t>Needs for participation on policy making and public life via web</a:t>
            </a:r>
          </a:p>
          <a:p>
            <a:r>
              <a:rPr lang="en-US" altLang="ko-KR" sz="1800" dirty="0" smtClean="0"/>
              <a:t>Effective ICT Governance scheme</a:t>
            </a:r>
          </a:p>
          <a:p>
            <a:pPr lvl="1"/>
            <a:endParaRPr lang="en-US" altLang="ko-KR" sz="1600" dirty="0" smtClean="0"/>
          </a:p>
          <a:p>
            <a:pPr lvl="1"/>
            <a:endParaRPr lang="en-US" altLang="ko-KR" sz="2000" dirty="0" smtClean="0"/>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9</a:t>
            </a:fld>
            <a:endParaRPr lang="ko-KR" altLang="en-US"/>
          </a:p>
        </p:txBody>
      </p:sp>
    </p:spTree>
    <p:extLst>
      <p:ext uri="{BB962C8B-B14F-4D97-AF65-F5344CB8AC3E}">
        <p14:creationId xmlns:p14="http://schemas.microsoft.com/office/powerpoint/2010/main" val="2732164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07504" y="5685929"/>
            <a:ext cx="4952738" cy="276999"/>
          </a:xfrm>
          <a:prstGeom prst="rect">
            <a:avLst/>
          </a:prstGeom>
          <a:noFill/>
        </p:spPr>
        <p:txBody>
          <a:bodyPr wrap="square" rtlCol="0">
            <a:spAutoFit/>
          </a:bodyPr>
          <a:lstStyle/>
          <a:p>
            <a:r>
              <a:rPr lang="en-US" altLang="ko-KR" sz="1200" dirty="0" smtClean="0">
                <a:latin typeface="Tahoma" pitchFamily="34" charset="0"/>
                <a:ea typeface="Tahoma" pitchFamily="34" charset="0"/>
                <a:cs typeface="Tahoma" pitchFamily="34" charset="0"/>
              </a:rPr>
              <a:t>* Source : KCC (Korea Communications Commission), 2012.12</a:t>
            </a:r>
            <a:endParaRPr lang="ko-KR" altLang="en-US" sz="1200" dirty="0">
              <a:latin typeface="Tahoma" pitchFamily="34" charset="0"/>
              <a:cs typeface="Tahoma" pitchFamily="34" charset="0"/>
            </a:endParaRPr>
          </a:p>
        </p:txBody>
      </p:sp>
      <p:sp>
        <p:nvSpPr>
          <p:cNvPr id="17" name="Text Box 4"/>
          <p:cNvSpPr txBox="1">
            <a:spLocks noChangeArrowheads="1"/>
          </p:cNvSpPr>
          <p:nvPr/>
        </p:nvSpPr>
        <p:spPr bwMode="auto">
          <a:xfrm>
            <a:off x="501452" y="836712"/>
            <a:ext cx="4248471"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pPr fontAlgn="auto">
              <a:spcBef>
                <a:spcPts val="0"/>
              </a:spcBef>
              <a:spcAft>
                <a:spcPts val="0"/>
              </a:spcAft>
              <a:defRPr/>
            </a:pPr>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&lt;Mobile/Smart Phone Subscribers&gt; </a:t>
            </a:r>
            <a:endParaRPr kumimoji="0" lang="en-US" altLang="ko-KR" b="0" dirty="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endParaRPr>
          </a:p>
        </p:txBody>
      </p:sp>
      <p:sp>
        <p:nvSpPr>
          <p:cNvPr id="18" name="AutoShape 82"/>
          <p:cNvSpPr>
            <a:spLocks noChangeArrowheads="1"/>
          </p:cNvSpPr>
          <p:nvPr/>
        </p:nvSpPr>
        <p:spPr bwMode="auto">
          <a:xfrm>
            <a:off x="627326" y="6097694"/>
            <a:ext cx="7923213" cy="445068"/>
          </a:xfrm>
          <a:prstGeom prst="roundRect">
            <a:avLst>
              <a:gd name="adj" fmla="val 4213"/>
            </a:avLst>
          </a:prstGeom>
          <a:gradFill rotWithShape="1">
            <a:gsLst>
              <a:gs pos="0">
                <a:srgbClr val="196D21"/>
              </a:gs>
              <a:gs pos="50000">
                <a:srgbClr val="61A622"/>
              </a:gs>
              <a:gs pos="100000">
                <a:srgbClr val="196D2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pPr algn="ctr">
              <a:buFont typeface="Wingdings" pitchFamily="2" charset="2"/>
              <a:buNone/>
              <a:defRPr/>
            </a:pPr>
            <a:r>
              <a:rPr lang="en-US" altLang="ko-KR" sz="2400" dirty="0">
                <a:ln>
                  <a:solidFill>
                    <a:schemeClr val="bg1">
                      <a:alpha val="5000"/>
                    </a:schemeClr>
                  </a:solidFill>
                </a:ln>
                <a:solidFill>
                  <a:srgbClr val="FFFFFF"/>
                </a:solidFill>
                <a:effectLst>
                  <a:outerShdw blurRad="177800" dist="38100" dir="2700000" algn="tl">
                    <a:srgbClr val="000000"/>
                  </a:outerShdw>
                </a:effectLst>
                <a:ea typeface="Tahoma" pitchFamily="34" charset="0"/>
                <a:cs typeface="Tahoma" pitchFamily="34" charset="0"/>
              </a:rPr>
              <a:t>Very high demand for mobile services</a:t>
            </a:r>
          </a:p>
        </p:txBody>
      </p:sp>
      <p:sp>
        <p:nvSpPr>
          <p:cNvPr id="20" name="제목 1"/>
          <p:cNvSpPr>
            <a:spLocks noGrp="1"/>
          </p:cNvSpPr>
          <p:nvPr>
            <p:ph type="title"/>
          </p:nvPr>
        </p:nvSpPr>
        <p:spPr>
          <a:xfrm>
            <a:off x="755576" y="78532"/>
            <a:ext cx="7920880" cy="634082"/>
          </a:xfrm>
        </p:spPr>
        <p:txBody>
          <a:bodyPr>
            <a:noAutofit/>
          </a:bodyPr>
          <a:lstStyle/>
          <a:p>
            <a:r>
              <a:rPr lang="en-US" altLang="ko-KR" sz="3200" dirty="0" smtClean="0">
                <a:latin typeface="Tahoma" pitchFamily="34" charset="0"/>
                <a:ea typeface="Tahoma" pitchFamily="34" charset="0"/>
                <a:cs typeface="Tahoma" pitchFamily="34" charset="0"/>
              </a:rPr>
              <a:t>IT Status </a:t>
            </a:r>
            <a:r>
              <a:rPr lang="en-US" altLang="ko-KR" sz="3200" dirty="0">
                <a:latin typeface="Tahoma" pitchFamily="34" charset="0"/>
                <a:ea typeface="Tahoma" pitchFamily="34" charset="0"/>
                <a:cs typeface="Tahoma" pitchFamily="34" charset="0"/>
              </a:rPr>
              <a:t>,</a:t>
            </a:r>
            <a:r>
              <a:rPr lang="en-US" altLang="ko-KR" sz="3200" dirty="0" smtClean="0">
                <a:latin typeface="Tahoma" pitchFamily="34" charset="0"/>
                <a:ea typeface="Tahoma" pitchFamily="34" charset="0"/>
                <a:cs typeface="Tahoma" pitchFamily="34" charset="0"/>
              </a:rPr>
              <a:t> South Korea</a:t>
            </a:r>
            <a:endParaRPr lang="ko-KR" altLang="en-US" sz="3200" dirty="0">
              <a:latin typeface="Tahoma" pitchFamily="34" charset="0"/>
              <a:ea typeface="나눔고딕 ExtraBold" pitchFamily="50" charset="-127"/>
              <a:cs typeface="Tahoma" pitchFamily="34" charset="0"/>
            </a:endParaRPr>
          </a:p>
        </p:txBody>
      </p:sp>
      <p:sp>
        <p:nvSpPr>
          <p:cNvPr id="27" name="TextBox 26"/>
          <p:cNvSpPr txBox="1"/>
          <p:nvPr/>
        </p:nvSpPr>
        <p:spPr>
          <a:xfrm>
            <a:off x="323528" y="1205988"/>
            <a:ext cx="4935322" cy="1508105"/>
          </a:xfrm>
          <a:prstGeom prst="rect">
            <a:avLst/>
          </a:prstGeom>
          <a:noFill/>
        </p:spPr>
        <p:txBody>
          <a:bodyPr wrap="square" rtlCol="0">
            <a:spAutoFit/>
          </a:bodyPr>
          <a:lstStyle/>
          <a:p>
            <a:pPr marL="285750" indent="-285750">
              <a:buFont typeface="Arial" pitchFamily="34" charset="0"/>
              <a:buChar char="•"/>
            </a:pPr>
            <a:r>
              <a:rPr lang="en-US" altLang="ko-KR" sz="1400" dirty="0" smtClean="0">
                <a:solidFill>
                  <a:schemeClr val="bg2">
                    <a:lumMod val="25000"/>
                  </a:schemeClr>
                </a:solidFill>
                <a:latin typeface="Tahoma" pitchFamily="34" charset="0"/>
                <a:ea typeface="Tahoma" pitchFamily="34" charset="0"/>
                <a:cs typeface="Tahoma" pitchFamily="34" charset="0"/>
              </a:rPr>
              <a:t>Smartphone Subscribers : 35M , May. 2013</a:t>
            </a:r>
            <a:br>
              <a:rPr lang="en-US" altLang="ko-KR" sz="1400" dirty="0" smtClean="0">
                <a:solidFill>
                  <a:schemeClr val="bg2">
                    <a:lumMod val="25000"/>
                  </a:schemeClr>
                </a:solidFill>
                <a:latin typeface="Tahoma" pitchFamily="34" charset="0"/>
                <a:ea typeface="Tahoma" pitchFamily="34" charset="0"/>
                <a:cs typeface="Tahoma" pitchFamily="34" charset="0"/>
              </a:rPr>
            </a:br>
            <a:r>
              <a:rPr lang="en-US" altLang="ko-KR" sz="1400" dirty="0" smtClean="0">
                <a:solidFill>
                  <a:schemeClr val="bg2">
                    <a:lumMod val="25000"/>
                  </a:schemeClr>
                </a:solidFill>
                <a:latin typeface="Tahoma" pitchFamily="34" charset="0"/>
                <a:ea typeface="Tahoma" pitchFamily="34" charset="0"/>
                <a:cs typeface="Tahoma" pitchFamily="34" charset="0"/>
              </a:rPr>
              <a:t>- Population : 50M, 70% use smartphones</a:t>
            </a:r>
            <a:br>
              <a:rPr lang="en-US" altLang="ko-KR" sz="1400" dirty="0" smtClean="0">
                <a:solidFill>
                  <a:schemeClr val="bg2">
                    <a:lumMod val="25000"/>
                  </a:schemeClr>
                </a:solidFill>
                <a:latin typeface="Tahoma" pitchFamily="34" charset="0"/>
                <a:ea typeface="Tahoma" pitchFamily="34" charset="0"/>
                <a:cs typeface="Tahoma" pitchFamily="34" charset="0"/>
              </a:rPr>
            </a:br>
            <a:endParaRPr lang="en-US" altLang="ko-KR" sz="800" dirty="0" smtClean="0">
              <a:solidFill>
                <a:schemeClr val="bg2">
                  <a:lumMod val="25000"/>
                </a:schemeClr>
              </a:solidFill>
              <a:latin typeface="Tahoma" pitchFamily="34" charset="0"/>
              <a:ea typeface="Tahoma" pitchFamily="34" charset="0"/>
              <a:cs typeface="Tahoma" pitchFamily="34" charset="0"/>
            </a:endParaRPr>
          </a:p>
          <a:p>
            <a:pPr marL="285750" indent="-285750">
              <a:buFont typeface="Arial" pitchFamily="34" charset="0"/>
              <a:buChar char="•"/>
            </a:pPr>
            <a:r>
              <a:rPr lang="en-US" altLang="ko-KR" sz="1400" dirty="0" smtClean="0">
                <a:solidFill>
                  <a:schemeClr val="bg2">
                    <a:lumMod val="25000"/>
                  </a:schemeClr>
                </a:solidFill>
                <a:latin typeface="Tahoma" pitchFamily="34" charset="0"/>
                <a:ea typeface="Tahoma" pitchFamily="34" charset="0"/>
                <a:cs typeface="Tahoma" pitchFamily="34" charset="0"/>
              </a:rPr>
              <a:t>Exponential Growth : 2009 </a:t>
            </a:r>
            <a:r>
              <a:rPr lang="en-US" altLang="ko-KR" sz="1400" dirty="0" err="1" smtClean="0">
                <a:solidFill>
                  <a:schemeClr val="bg2">
                    <a:lumMod val="25000"/>
                  </a:schemeClr>
                </a:solidFill>
                <a:latin typeface="Tahoma" pitchFamily="34" charset="0"/>
                <a:ea typeface="Tahoma" pitchFamily="34" charset="0"/>
                <a:cs typeface="Tahoma" pitchFamily="34" charset="0"/>
                <a:sym typeface="Wingdings" pitchFamily="2" charset="2"/>
              </a:rPr>
              <a:t>vs</a:t>
            </a:r>
            <a:r>
              <a:rPr lang="en-US" altLang="ko-KR" sz="1400" dirty="0" smtClean="0">
                <a:solidFill>
                  <a:schemeClr val="bg2">
                    <a:lumMod val="25000"/>
                  </a:schemeClr>
                </a:solidFill>
                <a:latin typeface="Tahoma" pitchFamily="34" charset="0"/>
                <a:ea typeface="Tahoma" pitchFamily="34" charset="0"/>
                <a:cs typeface="Tahoma" pitchFamily="34" charset="0"/>
                <a:sym typeface="Wingdings" pitchFamily="2" charset="2"/>
              </a:rPr>
              <a:t> 2012</a:t>
            </a:r>
            <a:r>
              <a:rPr lang="en-US" altLang="ko-KR" sz="1400" dirty="0" smtClean="0">
                <a:solidFill>
                  <a:schemeClr val="bg2">
                    <a:lumMod val="25000"/>
                  </a:schemeClr>
                </a:solidFill>
                <a:latin typeface="Tahoma" pitchFamily="34" charset="0"/>
                <a:ea typeface="Tahoma" pitchFamily="34" charset="0"/>
                <a:cs typeface="Tahoma" pitchFamily="34" charset="0"/>
              </a:rPr>
              <a:t/>
            </a:r>
            <a:br>
              <a:rPr lang="en-US" altLang="ko-KR" sz="1400" dirty="0" smtClean="0">
                <a:solidFill>
                  <a:schemeClr val="bg2">
                    <a:lumMod val="25000"/>
                  </a:schemeClr>
                </a:solidFill>
                <a:latin typeface="Tahoma" pitchFamily="34" charset="0"/>
                <a:ea typeface="Tahoma" pitchFamily="34" charset="0"/>
                <a:cs typeface="Tahoma" pitchFamily="34" charset="0"/>
              </a:rPr>
            </a:br>
            <a:r>
              <a:rPr lang="en-US" altLang="ko-KR" sz="1400" dirty="0" smtClean="0">
                <a:solidFill>
                  <a:schemeClr val="bg2">
                    <a:lumMod val="25000"/>
                  </a:schemeClr>
                </a:solidFill>
                <a:latin typeface="Tahoma" pitchFamily="34" charset="0"/>
                <a:ea typeface="Tahoma" pitchFamily="34" charset="0"/>
                <a:cs typeface="Tahoma" pitchFamily="34" charset="0"/>
              </a:rPr>
              <a:t>- Smartphone Users : 0.8M </a:t>
            </a:r>
            <a:r>
              <a:rPr lang="en-US" altLang="ko-KR" sz="1400" dirty="0" smtClean="0">
                <a:solidFill>
                  <a:schemeClr val="bg2">
                    <a:lumMod val="25000"/>
                  </a:schemeClr>
                </a:solidFill>
                <a:latin typeface="Tahoma" pitchFamily="34" charset="0"/>
                <a:ea typeface="Tahoma" pitchFamily="34" charset="0"/>
                <a:cs typeface="Tahoma" pitchFamily="34" charset="0"/>
                <a:sym typeface="Wingdings" pitchFamily="2" charset="2"/>
              </a:rPr>
              <a:t> 32.7M (40 times)</a:t>
            </a:r>
            <a:br>
              <a:rPr lang="en-US" altLang="ko-KR" sz="1400" dirty="0" smtClean="0">
                <a:solidFill>
                  <a:schemeClr val="bg2">
                    <a:lumMod val="25000"/>
                  </a:schemeClr>
                </a:solidFill>
                <a:latin typeface="Tahoma" pitchFamily="34" charset="0"/>
                <a:ea typeface="Tahoma" pitchFamily="34" charset="0"/>
                <a:cs typeface="Tahoma" pitchFamily="34" charset="0"/>
                <a:sym typeface="Wingdings" pitchFamily="2" charset="2"/>
              </a:rPr>
            </a:br>
            <a:r>
              <a:rPr lang="en-US" altLang="ko-KR" sz="1400" dirty="0" smtClean="0">
                <a:solidFill>
                  <a:schemeClr val="bg2">
                    <a:lumMod val="25000"/>
                  </a:schemeClr>
                </a:solidFill>
                <a:latin typeface="Tahoma" pitchFamily="34" charset="0"/>
                <a:ea typeface="Tahoma" pitchFamily="34" charset="0"/>
                <a:cs typeface="Tahoma" pitchFamily="34" charset="0"/>
                <a:sym typeface="Wingdings" pitchFamily="2" charset="2"/>
              </a:rPr>
              <a:t>- Wireless Data : 409TB  51,416TB (126 times)</a:t>
            </a:r>
            <a:br>
              <a:rPr lang="en-US" altLang="ko-KR" sz="1400" dirty="0" smtClean="0">
                <a:solidFill>
                  <a:schemeClr val="bg2">
                    <a:lumMod val="25000"/>
                  </a:schemeClr>
                </a:solidFill>
                <a:latin typeface="Tahoma" pitchFamily="34" charset="0"/>
                <a:ea typeface="Tahoma" pitchFamily="34" charset="0"/>
                <a:cs typeface="Tahoma" pitchFamily="34" charset="0"/>
                <a:sym typeface="Wingdings" pitchFamily="2" charset="2"/>
              </a:rPr>
            </a:br>
            <a:r>
              <a:rPr lang="en-US" altLang="ko-KR" sz="1200" dirty="0" smtClean="0">
                <a:solidFill>
                  <a:schemeClr val="bg2">
                    <a:lumMod val="25000"/>
                  </a:schemeClr>
                </a:solidFill>
                <a:latin typeface="Tahoma" pitchFamily="34" charset="0"/>
                <a:ea typeface="Tahoma" pitchFamily="34" charset="0"/>
                <a:cs typeface="Tahoma" pitchFamily="34" charset="0"/>
                <a:sym typeface="Wingdings" pitchFamily="2" charset="2"/>
              </a:rPr>
              <a:t>   * World  Average Wireless Data : 17 times (Source : KT</a:t>
            </a:r>
            <a:r>
              <a:rPr lang="en-US" altLang="ko-KR" sz="1200" dirty="0" smtClean="0">
                <a:solidFill>
                  <a:schemeClr val="bg2">
                    <a:lumMod val="25000"/>
                  </a:schemeClr>
                </a:solidFill>
                <a:latin typeface="+mj-lt"/>
                <a:cs typeface="Arial" pitchFamily="34" charset="0"/>
                <a:sym typeface="Wingdings" pitchFamily="2" charset="2"/>
              </a:rPr>
              <a:t>)</a:t>
            </a:r>
            <a:endParaRPr lang="ko-KR" altLang="en-US" sz="1200" dirty="0">
              <a:solidFill>
                <a:schemeClr val="bg2">
                  <a:lumMod val="25000"/>
                </a:schemeClr>
              </a:solidFill>
              <a:latin typeface="+mj-lt"/>
              <a:cs typeface="Arial" pitchFamily="34" charset="0"/>
            </a:endParaRPr>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345" y="3068960"/>
            <a:ext cx="4601687" cy="25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3290938" y="2815992"/>
            <a:ext cx="1656184" cy="276999"/>
          </a:xfrm>
          <a:prstGeom prst="rect">
            <a:avLst/>
          </a:prstGeom>
          <a:noFill/>
        </p:spPr>
        <p:txBody>
          <a:bodyPr wrap="square" rtlCol="0">
            <a:spAutoFit/>
          </a:bodyPr>
          <a:lstStyle/>
          <a:p>
            <a:r>
              <a:rPr lang="en-US" altLang="ko-KR" sz="1200" dirty="0" smtClean="0">
                <a:latin typeface="Tahoma" pitchFamily="34" charset="0"/>
                <a:ea typeface="Tahoma" pitchFamily="34" charset="0"/>
                <a:cs typeface="Tahoma" pitchFamily="34" charset="0"/>
              </a:rPr>
              <a:t>( Million subscriber )</a:t>
            </a:r>
            <a:endParaRPr lang="ko-KR" altLang="en-US" sz="1200" dirty="0">
              <a:latin typeface="Tahoma" pitchFamily="34" charset="0"/>
              <a:cs typeface="Tahoma" pitchFamily="34" charset="0"/>
            </a:endParaRPr>
          </a:p>
        </p:txBody>
      </p:sp>
      <p:graphicFrame>
        <p:nvGraphicFramePr>
          <p:cNvPr id="28" name="Group 269"/>
          <p:cNvGraphicFramePr>
            <a:graphicFrameLocks noGrp="1"/>
          </p:cNvGraphicFramePr>
          <p:nvPr>
            <p:extLst>
              <p:ext uri="{D42A27DB-BD31-4B8C-83A1-F6EECF244321}">
                <p14:modId xmlns:p14="http://schemas.microsoft.com/office/powerpoint/2010/main" val="2254868406"/>
              </p:ext>
            </p:extLst>
          </p:nvPr>
        </p:nvGraphicFramePr>
        <p:xfrm>
          <a:off x="5220072" y="1317240"/>
          <a:ext cx="3451882" cy="1751486"/>
        </p:xfrm>
        <a:graphic>
          <a:graphicData uri="http://schemas.openxmlformats.org/drawingml/2006/table">
            <a:tbl>
              <a:tblPr/>
              <a:tblGrid>
                <a:gridCol w="580059"/>
                <a:gridCol w="1364739"/>
                <a:gridCol w="1507084"/>
              </a:tblGrid>
              <a:tr h="324786">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Rank</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Country</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Score</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South Korea</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157</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2</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Hong Kong</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118</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3</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Japan</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116</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4</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Iceland</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115</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smtClean="0">
                          <a:ln>
                            <a:noFill/>
                          </a:ln>
                          <a:solidFill>
                            <a:schemeClr val="tx1"/>
                          </a:solidFill>
                          <a:effectLst/>
                          <a:latin typeface="Tahoma" pitchFamily="34" charset="0"/>
                          <a:ea typeface="Tahoma" pitchFamily="34" charset="0"/>
                          <a:cs typeface="Tahoma" pitchFamily="34" charset="0"/>
                        </a:rPr>
                        <a:t>5</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Luxembourg</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111</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1" name="Text Box 153"/>
          <p:cNvSpPr txBox="1">
            <a:spLocks noChangeArrowheads="1"/>
          </p:cNvSpPr>
          <p:nvPr/>
        </p:nvSpPr>
        <p:spPr bwMode="auto">
          <a:xfrm>
            <a:off x="5219724" y="3117440"/>
            <a:ext cx="2160588" cy="22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sz="900" b="1">
                <a:solidFill>
                  <a:srgbClr val="000066"/>
                </a:solidFill>
                <a:latin typeface="Arial" pitchFamily="34" charset="0"/>
                <a:ea typeface="HY견고딕" pitchFamily="18" charset="-127"/>
              </a:defRPr>
            </a:lvl1pPr>
            <a:lvl2pPr marL="742950" indent="-285750">
              <a:defRPr kumimoji="1" sz="900" b="1">
                <a:solidFill>
                  <a:srgbClr val="000066"/>
                </a:solidFill>
                <a:latin typeface="Arial" pitchFamily="34" charset="0"/>
                <a:ea typeface="HY견고딕" pitchFamily="18" charset="-127"/>
              </a:defRPr>
            </a:lvl2pPr>
            <a:lvl3pPr marL="1143000" indent="-228600">
              <a:defRPr kumimoji="1" sz="900" b="1">
                <a:solidFill>
                  <a:srgbClr val="000066"/>
                </a:solidFill>
                <a:latin typeface="Arial" pitchFamily="34" charset="0"/>
                <a:ea typeface="HY견고딕" pitchFamily="18" charset="-127"/>
              </a:defRPr>
            </a:lvl3pPr>
            <a:lvl4pPr marL="1600200" indent="-228600">
              <a:defRPr kumimoji="1" sz="900" b="1">
                <a:solidFill>
                  <a:srgbClr val="000066"/>
                </a:solidFill>
                <a:latin typeface="Arial" pitchFamily="34" charset="0"/>
                <a:ea typeface="HY견고딕" pitchFamily="18" charset="-127"/>
              </a:defRPr>
            </a:lvl4pPr>
            <a:lvl5pPr marL="2057400" indent="-228600">
              <a:defRPr kumimoji="1" sz="900" b="1">
                <a:solidFill>
                  <a:srgbClr val="000066"/>
                </a:solidFill>
                <a:latin typeface="Arial" pitchFamily="34" charset="0"/>
                <a:ea typeface="HY견고딕" pitchFamily="18" charset="-127"/>
              </a:defRPr>
            </a:lvl5pPr>
            <a:lvl6pPr marL="25146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6pPr>
            <a:lvl7pPr marL="29718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7pPr>
            <a:lvl8pPr marL="34290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8pPr>
            <a:lvl9pPr marL="38862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9pPr>
          </a:lstStyle>
          <a:p>
            <a:pPr fontAlgn="base" latinLnBrk="0">
              <a:lnSpc>
                <a:spcPct val="70000"/>
              </a:lnSpc>
              <a:spcBef>
                <a:spcPct val="50000"/>
              </a:spcBef>
              <a:spcAft>
                <a:spcPct val="0"/>
              </a:spcAft>
            </a:pPr>
            <a:r>
              <a:rPr kumimoji="0" lang="en-US" altLang="ko-KR" sz="1200" dirty="0">
                <a:solidFill>
                  <a:srgbClr val="000000"/>
                </a:solidFill>
                <a:cs typeface="Arial" pitchFamily="34" charset="0"/>
              </a:rPr>
              <a:t>(Univ. of Oxford, </a:t>
            </a:r>
            <a:r>
              <a:rPr kumimoji="0" lang="en-US" altLang="ko-KR" sz="1200" dirty="0" smtClean="0">
                <a:solidFill>
                  <a:srgbClr val="000000"/>
                </a:solidFill>
                <a:cs typeface="Arial" pitchFamily="34" charset="0"/>
              </a:rPr>
              <a:t>Oct. 2010)</a:t>
            </a:r>
            <a:endParaRPr kumimoji="0" lang="en-US" altLang="ko-KR" sz="1200" dirty="0">
              <a:solidFill>
                <a:srgbClr val="000000"/>
              </a:solidFill>
              <a:cs typeface="Arial" pitchFamily="34" charset="0"/>
            </a:endParaRPr>
          </a:p>
        </p:txBody>
      </p:sp>
      <p:sp>
        <p:nvSpPr>
          <p:cNvPr id="32" name="Text Box 4"/>
          <p:cNvSpPr txBox="1">
            <a:spLocks noChangeArrowheads="1"/>
          </p:cNvSpPr>
          <p:nvPr/>
        </p:nvSpPr>
        <p:spPr bwMode="auto">
          <a:xfrm>
            <a:off x="5571877" y="875900"/>
            <a:ext cx="3587960"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pPr fontAlgn="auto">
              <a:spcBef>
                <a:spcPts val="0"/>
              </a:spcBef>
              <a:spcAft>
                <a:spcPts val="0"/>
              </a:spcAft>
              <a:defRPr/>
            </a:pPr>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&lt;Broadband Leadership&gt; </a:t>
            </a:r>
            <a:endParaRPr kumimoji="0" lang="en-US" altLang="ko-KR" b="0" dirty="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endParaRPr>
          </a:p>
        </p:txBody>
      </p:sp>
      <p:graphicFrame>
        <p:nvGraphicFramePr>
          <p:cNvPr id="34" name="Group 269"/>
          <p:cNvGraphicFramePr>
            <a:graphicFrameLocks noGrp="1"/>
          </p:cNvGraphicFramePr>
          <p:nvPr>
            <p:extLst>
              <p:ext uri="{D42A27DB-BD31-4B8C-83A1-F6EECF244321}">
                <p14:modId xmlns:p14="http://schemas.microsoft.com/office/powerpoint/2010/main" val="4012228819"/>
              </p:ext>
            </p:extLst>
          </p:nvPr>
        </p:nvGraphicFramePr>
        <p:xfrm>
          <a:off x="5155916" y="3829762"/>
          <a:ext cx="3520541" cy="1747990"/>
        </p:xfrm>
        <a:graphic>
          <a:graphicData uri="http://schemas.openxmlformats.org/drawingml/2006/table">
            <a:tbl>
              <a:tblPr/>
              <a:tblGrid>
                <a:gridCol w="591901"/>
                <a:gridCol w="1390786"/>
                <a:gridCol w="1537854"/>
              </a:tblGrid>
              <a:tr h="32129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Rank</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Country</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Speed (Mb/s)</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South Korea</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14.7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2</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Japan</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10.5</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3</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Hong Kong</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9.0</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4</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Switzerland</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8.7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5</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Latvia</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8.7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5" name="Text Box 154"/>
          <p:cNvSpPr txBox="1">
            <a:spLocks noChangeArrowheads="1"/>
          </p:cNvSpPr>
          <p:nvPr/>
        </p:nvSpPr>
        <p:spPr bwMode="auto">
          <a:xfrm>
            <a:off x="5155916" y="5560630"/>
            <a:ext cx="2144713" cy="279180"/>
          </a:xfrm>
          <a:prstGeom prst="rect">
            <a:avLst/>
          </a:prstGeom>
          <a:noFill/>
          <a:ln w="9525" algn="ctr">
            <a:noFill/>
            <a:miter lim="800000"/>
            <a:headEnd/>
            <a:tailEnd/>
          </a:ln>
        </p:spPr>
        <p:txBody>
          <a:bodyPr lIns="90000" tIns="46800" rIns="90000" bIns="46800">
            <a:spAutoFit/>
          </a:bodyPr>
          <a:lstStyle/>
          <a:p>
            <a:pPr latinLnBrk="0">
              <a:defRPr/>
            </a:pPr>
            <a:r>
              <a:rPr lang="en-US" altLang="ko-KR" sz="1200" kern="0" dirty="0">
                <a:solidFill>
                  <a:srgbClr val="000000"/>
                </a:solidFill>
                <a:latin typeface="Tahoma" pitchFamily="34" charset="0"/>
                <a:ea typeface="Tahoma" pitchFamily="34" charset="0"/>
                <a:cs typeface="Tahoma" pitchFamily="34" charset="0"/>
              </a:rPr>
              <a:t>(Akamai, Jan., 2013)</a:t>
            </a:r>
          </a:p>
        </p:txBody>
      </p:sp>
      <p:sp>
        <p:nvSpPr>
          <p:cNvPr id="38" name="Text Box 4"/>
          <p:cNvSpPr txBox="1">
            <a:spLocks noChangeArrowheads="1"/>
          </p:cNvSpPr>
          <p:nvPr/>
        </p:nvSpPr>
        <p:spPr bwMode="auto">
          <a:xfrm>
            <a:off x="4986632" y="3362501"/>
            <a:ext cx="4164024"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pPr fontAlgn="auto">
              <a:spcBef>
                <a:spcPts val="0"/>
              </a:spcBef>
              <a:spcAft>
                <a:spcPts val="0"/>
              </a:spcAft>
              <a:defRPr/>
            </a:pPr>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&lt;Avg. Measured Connection Speed&gt; </a:t>
            </a:r>
            <a:endParaRPr kumimoji="0" lang="en-US" altLang="ko-KR" b="0" dirty="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endParaRPr>
          </a:p>
        </p:txBody>
      </p:sp>
      <p:sp>
        <p:nvSpPr>
          <p:cNvPr id="2" name="슬라이드 번호 개체 틀 1"/>
          <p:cNvSpPr>
            <a:spLocks noGrp="1"/>
          </p:cNvSpPr>
          <p:nvPr>
            <p:ph type="sldNum" sz="quarter" idx="12"/>
          </p:nvPr>
        </p:nvSpPr>
        <p:spPr/>
        <p:txBody>
          <a:bodyPr/>
          <a:lstStyle/>
          <a:p>
            <a:fld id="{8F563537-3992-4579-A065-26E1D23BF530}" type="slidenum">
              <a:rPr lang="ko-KR" altLang="en-US" smtClean="0"/>
              <a:pPr/>
              <a:t>10</a:t>
            </a:fld>
            <a:endParaRPr lang="ko-KR" altLang="en-US" dirty="0"/>
          </a:p>
        </p:txBody>
      </p:sp>
    </p:spTree>
    <p:extLst>
      <p:ext uri="{BB962C8B-B14F-4D97-AF65-F5344CB8AC3E}">
        <p14:creationId xmlns:p14="http://schemas.microsoft.com/office/powerpoint/2010/main" val="1746122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smtClean="0"/>
              <a:t>Success factors of </a:t>
            </a:r>
            <a:br>
              <a:rPr lang="en-US" altLang="ko-KR" sz="3600" dirty="0" smtClean="0"/>
            </a:br>
            <a:r>
              <a:rPr lang="en-US" altLang="ko-KR" sz="3600" dirty="0" smtClean="0"/>
              <a:t>Korea’s IT infrastructure</a:t>
            </a:r>
            <a:endParaRPr lang="ko-KR" altLang="en-US" sz="3600" dirty="0"/>
          </a:p>
        </p:txBody>
      </p:sp>
      <p:sp>
        <p:nvSpPr>
          <p:cNvPr id="4" name="내용 개체 틀 3"/>
          <p:cNvSpPr>
            <a:spLocks noGrp="1"/>
          </p:cNvSpPr>
          <p:nvPr>
            <p:ph sz="half" idx="1"/>
          </p:nvPr>
        </p:nvSpPr>
        <p:spPr>
          <a:xfrm>
            <a:off x="457200" y="1600200"/>
            <a:ext cx="3034680" cy="4525963"/>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5875">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a:normAutofit fontScale="55000" lnSpcReduction="20000"/>
          </a:bodyPr>
          <a:lstStyle/>
          <a:p>
            <a:pPr marL="0" indent="0">
              <a:buNone/>
            </a:pPr>
            <a:r>
              <a:rPr lang="en-US" altLang="ko-KR" sz="2900" dirty="0" smtClean="0"/>
              <a:t>Factors of advanced NW infra in Korea</a:t>
            </a:r>
          </a:p>
          <a:p>
            <a:endParaRPr lang="en-US" altLang="ko-KR" dirty="0" smtClean="0"/>
          </a:p>
          <a:p>
            <a:r>
              <a:rPr lang="en-US" altLang="ko-KR" dirty="0" smtClean="0"/>
              <a:t>The </a:t>
            </a:r>
            <a:r>
              <a:rPr lang="en-US" altLang="ko-KR" dirty="0"/>
              <a:t>government’s aggressive and relentless efforts to implement </a:t>
            </a:r>
            <a:r>
              <a:rPr lang="en-US" altLang="ko-KR" dirty="0" smtClean="0"/>
              <a:t>IT infra policy</a:t>
            </a:r>
          </a:p>
          <a:p>
            <a:r>
              <a:rPr lang="en-US" altLang="ko-KR" dirty="0" smtClean="0"/>
              <a:t>Korea's </a:t>
            </a:r>
            <a:r>
              <a:rPr lang="en-US" altLang="ko-KR" dirty="0"/>
              <a:t>unique business </a:t>
            </a:r>
            <a:r>
              <a:rPr lang="en-US" altLang="ko-KR" dirty="0" smtClean="0"/>
              <a:t>model</a:t>
            </a:r>
            <a:endParaRPr lang="en-US" altLang="ko-KR" dirty="0"/>
          </a:p>
          <a:p>
            <a:r>
              <a:rPr lang="en-US" altLang="ko-KR" dirty="0" smtClean="0"/>
              <a:t>Selection </a:t>
            </a:r>
            <a:r>
              <a:rPr lang="en-US" altLang="ko-KR" dirty="0"/>
              <a:t>of ADSL techniques for initial Infra </a:t>
            </a:r>
            <a:r>
              <a:rPr lang="en-US" altLang="ko-KR" dirty="0" smtClean="0"/>
              <a:t>deployment </a:t>
            </a:r>
            <a:endParaRPr lang="en-US" altLang="ko-KR" dirty="0"/>
          </a:p>
          <a:p>
            <a:r>
              <a:rPr lang="en-US" altLang="ko-KR" dirty="0" smtClean="0"/>
              <a:t>High </a:t>
            </a:r>
            <a:r>
              <a:rPr lang="en-US" altLang="ko-KR" dirty="0"/>
              <a:t>priority investment to isolated and vulnerable areas from IT distribution such as schools and rural </a:t>
            </a:r>
            <a:r>
              <a:rPr lang="en-US" altLang="ko-KR" dirty="0" smtClean="0"/>
              <a:t>districts </a:t>
            </a:r>
            <a:endParaRPr lang="en-US" altLang="ko-KR" dirty="0"/>
          </a:p>
          <a:p>
            <a:r>
              <a:rPr lang="en-US" altLang="ko-KR" dirty="0" smtClean="0"/>
              <a:t>Establishment </a:t>
            </a:r>
            <a:r>
              <a:rPr lang="en-US" altLang="ko-KR" dirty="0"/>
              <a:t>of a pro-cyclical investment structure led by the </a:t>
            </a:r>
            <a:r>
              <a:rPr lang="en-US" altLang="ko-KR" dirty="0" smtClean="0"/>
              <a:t>government </a:t>
            </a:r>
            <a:endParaRPr lang="en-US" altLang="ko-KR" dirty="0"/>
          </a:p>
          <a:p>
            <a:r>
              <a:rPr lang="en-US" altLang="ko-KR" dirty="0" smtClean="0"/>
              <a:t>Cultural </a:t>
            </a:r>
            <a:r>
              <a:rPr lang="en-US" altLang="ko-KR" dirty="0"/>
              <a:t>and environmental characteristics</a:t>
            </a:r>
            <a:endParaRPr lang="ko-KR" altLang="en-US" dirty="0"/>
          </a:p>
          <a:p>
            <a:endParaRPr lang="ko-KR" altLang="en-US" dirty="0"/>
          </a:p>
        </p:txBody>
      </p:sp>
      <p:sp>
        <p:nvSpPr>
          <p:cNvPr id="6" name="모서리가 둥근 직사각형 5"/>
          <p:cNvSpPr/>
          <p:nvPr/>
        </p:nvSpPr>
        <p:spPr>
          <a:xfrm>
            <a:off x="5220072"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Expansion of infrastructure</a:t>
            </a:r>
            <a:endParaRPr lang="ko-KR" altLang="en-US" sz="1000" dirty="0"/>
          </a:p>
        </p:txBody>
      </p:sp>
      <p:sp>
        <p:nvSpPr>
          <p:cNvPr id="7" name="모서리가 둥근 직사각형 6"/>
          <p:cNvSpPr/>
          <p:nvPr/>
        </p:nvSpPr>
        <p:spPr>
          <a:xfrm>
            <a:off x="5076056" y="5110058"/>
            <a:ext cx="1224136" cy="504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Vitalization of telecom </a:t>
            </a:r>
            <a:r>
              <a:rPr lang="en-US" altLang="ko-KR" sz="1000" dirty="0" err="1" smtClean="0"/>
              <a:t>industy</a:t>
            </a:r>
            <a:r>
              <a:rPr lang="en-US" altLang="ko-KR" sz="1000" dirty="0" smtClean="0"/>
              <a:t>  </a:t>
            </a:r>
            <a:endParaRPr lang="ko-KR" altLang="en-US" sz="1000" dirty="0"/>
          </a:p>
        </p:txBody>
      </p:sp>
      <p:sp>
        <p:nvSpPr>
          <p:cNvPr id="8" name="모서리가 둥근 직사각형 7"/>
          <p:cNvSpPr/>
          <p:nvPr/>
        </p:nvSpPr>
        <p:spPr>
          <a:xfrm>
            <a:off x="6444208"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Low user rate</a:t>
            </a:r>
            <a:endParaRPr lang="ko-KR" altLang="en-US" sz="1000" dirty="0"/>
          </a:p>
        </p:txBody>
      </p:sp>
      <p:sp>
        <p:nvSpPr>
          <p:cNvPr id="9" name="모서리가 둥근 직사각형 8"/>
          <p:cNvSpPr/>
          <p:nvPr/>
        </p:nvSpPr>
        <p:spPr>
          <a:xfrm>
            <a:off x="7668344"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Increase of  broadband service</a:t>
            </a:r>
            <a:endParaRPr lang="ko-KR" altLang="en-US" sz="1000" dirty="0"/>
          </a:p>
        </p:txBody>
      </p:sp>
      <p:sp>
        <p:nvSpPr>
          <p:cNvPr id="10" name="모서리가 둥근 직사각형 9"/>
          <p:cNvSpPr/>
          <p:nvPr/>
        </p:nvSpPr>
        <p:spPr>
          <a:xfrm>
            <a:off x="6660232" y="5046712"/>
            <a:ext cx="2016223" cy="6145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Revenue  increase of Telco</a:t>
            </a:r>
          </a:p>
          <a:p>
            <a:pPr algn="ctr"/>
            <a:r>
              <a:rPr lang="en-US" altLang="ko-KR" sz="1000" dirty="0" smtClean="0"/>
              <a:t>&amp; Proliferation of </a:t>
            </a:r>
            <a:r>
              <a:rPr lang="en-US" altLang="ko-KR" sz="1000" dirty="0" err="1" smtClean="0"/>
              <a:t>informatization</a:t>
            </a:r>
            <a:r>
              <a:rPr lang="en-US" altLang="ko-KR" sz="1000" dirty="0" smtClean="0"/>
              <a:t> in the public sector</a:t>
            </a:r>
            <a:endParaRPr lang="ko-KR" altLang="en-US" sz="1000" dirty="0"/>
          </a:p>
        </p:txBody>
      </p:sp>
      <p:sp>
        <p:nvSpPr>
          <p:cNvPr id="11" name="TextBox 10"/>
          <p:cNvSpPr txBox="1"/>
          <p:nvPr/>
        </p:nvSpPr>
        <p:spPr>
          <a:xfrm>
            <a:off x="3707904" y="4362671"/>
            <a:ext cx="936104" cy="400110"/>
          </a:xfrm>
          <a:prstGeom prst="rect">
            <a:avLst/>
          </a:prstGeom>
          <a:noFill/>
          <a:ln>
            <a:solidFill>
              <a:schemeClr val="accent1"/>
            </a:solidFill>
          </a:ln>
        </p:spPr>
        <p:txBody>
          <a:bodyPr wrap="square" rtlCol="0">
            <a:spAutoFit/>
          </a:bodyPr>
          <a:lstStyle/>
          <a:p>
            <a:r>
              <a:rPr lang="en-US" altLang="ko-KR" sz="1000" dirty="0" smtClean="0"/>
              <a:t>Private investment</a:t>
            </a:r>
            <a:endParaRPr lang="ko-KR" altLang="en-US" sz="1000" dirty="0"/>
          </a:p>
        </p:txBody>
      </p:sp>
      <p:sp>
        <p:nvSpPr>
          <p:cNvPr id="12" name="TextBox 11"/>
          <p:cNvSpPr txBox="1"/>
          <p:nvPr/>
        </p:nvSpPr>
        <p:spPr>
          <a:xfrm>
            <a:off x="3707904" y="3820978"/>
            <a:ext cx="936104" cy="400110"/>
          </a:xfrm>
          <a:prstGeom prst="rect">
            <a:avLst/>
          </a:prstGeom>
          <a:noFill/>
          <a:ln>
            <a:solidFill>
              <a:schemeClr val="accent1"/>
            </a:solidFill>
          </a:ln>
        </p:spPr>
        <p:txBody>
          <a:bodyPr wrap="square" rtlCol="0">
            <a:spAutoFit/>
          </a:bodyPr>
          <a:lstStyle/>
          <a:p>
            <a:r>
              <a:rPr lang="en-US" altLang="ko-KR" sz="1000" dirty="0" smtClean="0"/>
              <a:t>Government support</a:t>
            </a:r>
            <a:endParaRPr lang="ko-KR" altLang="en-US" sz="1000" dirty="0"/>
          </a:p>
        </p:txBody>
      </p:sp>
      <p:sp>
        <p:nvSpPr>
          <p:cNvPr id="14" name="TextBox 13"/>
          <p:cNvSpPr txBox="1"/>
          <p:nvPr/>
        </p:nvSpPr>
        <p:spPr>
          <a:xfrm>
            <a:off x="5004048" y="2996952"/>
            <a:ext cx="1296144" cy="400110"/>
          </a:xfrm>
          <a:prstGeom prst="rect">
            <a:avLst/>
          </a:prstGeom>
          <a:noFill/>
          <a:ln>
            <a:solidFill>
              <a:schemeClr val="accent1"/>
            </a:solidFill>
          </a:ln>
        </p:spPr>
        <p:txBody>
          <a:bodyPr wrap="square" rtlCol="0">
            <a:spAutoFit/>
          </a:bodyPr>
          <a:lstStyle/>
          <a:p>
            <a:r>
              <a:rPr lang="en-US" altLang="ko-KR" sz="1000" dirty="0" smtClean="0"/>
              <a:t>Deregulation, competition policy</a:t>
            </a:r>
            <a:endParaRPr lang="ko-KR" altLang="en-US" sz="1000" dirty="0"/>
          </a:p>
        </p:txBody>
      </p:sp>
      <p:sp>
        <p:nvSpPr>
          <p:cNvPr id="15" name="TextBox 14"/>
          <p:cNvSpPr txBox="1"/>
          <p:nvPr/>
        </p:nvSpPr>
        <p:spPr>
          <a:xfrm>
            <a:off x="7380312" y="2852936"/>
            <a:ext cx="1296144" cy="707886"/>
          </a:xfrm>
          <a:prstGeom prst="rect">
            <a:avLst/>
          </a:prstGeom>
          <a:noFill/>
          <a:ln>
            <a:solidFill>
              <a:schemeClr val="accent1"/>
            </a:solidFill>
          </a:ln>
        </p:spPr>
        <p:txBody>
          <a:bodyPr wrap="square" rtlCol="0">
            <a:spAutoFit/>
          </a:bodyPr>
          <a:lstStyle/>
          <a:p>
            <a:r>
              <a:rPr lang="en-US" altLang="ko-KR" sz="1000" dirty="0" smtClean="0"/>
              <a:t>Education of </a:t>
            </a:r>
            <a:r>
              <a:rPr lang="en-US" altLang="ko-KR" sz="1000" dirty="0" err="1" smtClean="0"/>
              <a:t>Informatization</a:t>
            </a:r>
            <a:r>
              <a:rPr lang="en-US" altLang="ko-KR" sz="1000" dirty="0" smtClean="0"/>
              <a:t>,   </a:t>
            </a:r>
          </a:p>
          <a:p>
            <a:r>
              <a:rPr lang="en-US" altLang="ko-KR" sz="1000" dirty="0" smtClean="0"/>
              <a:t>Dissemination policy of PC</a:t>
            </a:r>
            <a:endParaRPr lang="ko-KR" altLang="en-US" sz="1000" dirty="0"/>
          </a:p>
        </p:txBody>
      </p:sp>
      <p:sp>
        <p:nvSpPr>
          <p:cNvPr id="16" name="TextBox 15"/>
          <p:cNvSpPr txBox="1"/>
          <p:nvPr/>
        </p:nvSpPr>
        <p:spPr>
          <a:xfrm>
            <a:off x="4016375" y="1979548"/>
            <a:ext cx="4536504" cy="369332"/>
          </a:xfrm>
          <a:prstGeom prst="rect">
            <a:avLst/>
          </a:prstGeom>
          <a:noFill/>
        </p:spPr>
        <p:txBody>
          <a:bodyPr wrap="square" rtlCol="0">
            <a:spAutoFit/>
          </a:bodyPr>
          <a:lstStyle/>
          <a:p>
            <a:r>
              <a:rPr lang="en-US" altLang="ko-KR" dirty="0" smtClean="0">
                <a:solidFill>
                  <a:srgbClr val="0070C0"/>
                </a:solidFill>
              </a:rPr>
              <a:t>Virtuous circle</a:t>
            </a:r>
            <a:r>
              <a:rPr lang="en-US" altLang="ko-KR" dirty="0" smtClean="0"/>
              <a:t> of high speed public NW                 </a:t>
            </a:r>
            <a:endParaRPr lang="ko-KR" altLang="en-US" dirty="0"/>
          </a:p>
        </p:txBody>
      </p:sp>
      <p:cxnSp>
        <p:nvCxnSpPr>
          <p:cNvPr id="18" name="직선 화살표 연결선 17"/>
          <p:cNvCxnSpPr>
            <a:stCxn id="12" idx="3"/>
            <a:endCxn id="6" idx="1"/>
          </p:cNvCxnSpPr>
          <p:nvPr/>
        </p:nvCxnSpPr>
        <p:spPr>
          <a:xfrm>
            <a:off x="4644008" y="4021033"/>
            <a:ext cx="576064" cy="164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직선 화살표 연결선 19"/>
          <p:cNvCxnSpPr>
            <a:stCxn id="11" idx="3"/>
            <a:endCxn id="6" idx="1"/>
          </p:cNvCxnSpPr>
          <p:nvPr/>
        </p:nvCxnSpPr>
        <p:spPr>
          <a:xfrm flipV="1">
            <a:off x="4644008" y="4185084"/>
            <a:ext cx="576064" cy="3776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직선 화살표 연결선 21"/>
          <p:cNvCxnSpPr>
            <a:stCxn id="14" idx="2"/>
          </p:cNvCxnSpPr>
          <p:nvPr/>
        </p:nvCxnSpPr>
        <p:spPr>
          <a:xfrm>
            <a:off x="5652120" y="3397062"/>
            <a:ext cx="0" cy="5359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직선 화살표 연결선 23"/>
          <p:cNvCxnSpPr/>
          <p:nvPr/>
        </p:nvCxnSpPr>
        <p:spPr>
          <a:xfrm>
            <a:off x="8172400" y="3560822"/>
            <a:ext cx="0" cy="372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직선 화살표 연결선 25"/>
          <p:cNvCxnSpPr/>
          <p:nvPr/>
        </p:nvCxnSpPr>
        <p:spPr>
          <a:xfrm flipV="1">
            <a:off x="5652120" y="4437112"/>
            <a:ext cx="0" cy="6729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직선 화살표 연결선 31"/>
          <p:cNvCxnSpPr>
            <a:stCxn id="9" idx="2"/>
          </p:cNvCxnSpPr>
          <p:nvPr/>
        </p:nvCxnSpPr>
        <p:spPr>
          <a:xfrm>
            <a:off x="8172400" y="4437112"/>
            <a:ext cx="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직선 화살표 연결선 33"/>
          <p:cNvCxnSpPr/>
          <p:nvPr/>
        </p:nvCxnSpPr>
        <p:spPr>
          <a:xfrm flipH="1">
            <a:off x="6300192" y="5362085"/>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직선 화살표 연결선 35"/>
          <p:cNvCxnSpPr>
            <a:stCxn id="6" idx="3"/>
          </p:cNvCxnSpPr>
          <p:nvPr/>
        </p:nvCxnSpPr>
        <p:spPr>
          <a:xfrm>
            <a:off x="6228184" y="4185084"/>
            <a:ext cx="2160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직선 화살표 연결선 37"/>
          <p:cNvCxnSpPr>
            <a:stCxn id="8" idx="3"/>
            <a:endCxn id="9" idx="1"/>
          </p:cNvCxnSpPr>
          <p:nvPr/>
        </p:nvCxnSpPr>
        <p:spPr>
          <a:xfrm>
            <a:off x="7452320" y="4185084"/>
            <a:ext cx="2160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슬라이드 번호 개체 틀 2"/>
          <p:cNvSpPr>
            <a:spLocks noGrp="1"/>
          </p:cNvSpPr>
          <p:nvPr>
            <p:ph type="sldNum" sz="quarter" idx="12"/>
          </p:nvPr>
        </p:nvSpPr>
        <p:spPr/>
        <p:txBody>
          <a:bodyPr/>
          <a:lstStyle/>
          <a:p>
            <a:fld id="{8F563537-3992-4579-A065-26E1D23BF530}" type="slidenum">
              <a:rPr lang="ko-KR" altLang="en-US" smtClean="0"/>
              <a:pPr/>
              <a:t>11</a:t>
            </a:fld>
            <a:endParaRPr lang="ko-KR" altLang="en-US"/>
          </a:p>
        </p:txBody>
      </p:sp>
    </p:spTree>
    <p:extLst>
      <p:ext uri="{BB962C8B-B14F-4D97-AF65-F5344CB8AC3E}">
        <p14:creationId xmlns:p14="http://schemas.microsoft.com/office/powerpoint/2010/main" val="41376130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reeform 265"/>
          <p:cNvSpPr>
            <a:spLocks/>
          </p:cNvSpPr>
          <p:nvPr/>
        </p:nvSpPr>
        <p:spPr bwMode="auto">
          <a:xfrm rot="10800000" flipV="1">
            <a:off x="2586829" y="1878004"/>
            <a:ext cx="5081295" cy="638365"/>
          </a:xfrm>
          <a:custGeom>
            <a:avLst/>
            <a:gdLst/>
            <a:ahLst/>
            <a:cxnLst>
              <a:cxn ang="0">
                <a:pos x="1400" y="0"/>
              </a:cxn>
              <a:cxn ang="0">
                <a:pos x="184" y="712"/>
              </a:cxn>
              <a:cxn ang="0">
                <a:pos x="760" y="712"/>
              </a:cxn>
              <a:cxn ang="0">
                <a:pos x="760" y="920"/>
              </a:cxn>
              <a:cxn ang="0">
                <a:pos x="720" y="1152"/>
              </a:cxn>
              <a:cxn ang="0">
                <a:pos x="640" y="1352"/>
              </a:cxn>
              <a:cxn ang="0">
                <a:pos x="560" y="1536"/>
              </a:cxn>
              <a:cxn ang="0">
                <a:pos x="464" y="1672"/>
              </a:cxn>
              <a:cxn ang="0">
                <a:pos x="328" y="1824"/>
              </a:cxn>
              <a:cxn ang="0">
                <a:pos x="208" y="1912"/>
              </a:cxn>
              <a:cxn ang="0">
                <a:pos x="96" y="1976"/>
              </a:cxn>
              <a:cxn ang="0">
                <a:pos x="0" y="2008"/>
              </a:cxn>
              <a:cxn ang="0">
                <a:pos x="2784" y="2008"/>
              </a:cxn>
              <a:cxn ang="0">
                <a:pos x="2664" y="1952"/>
              </a:cxn>
              <a:cxn ang="0">
                <a:pos x="2568" y="1904"/>
              </a:cxn>
              <a:cxn ang="0">
                <a:pos x="2456" y="1808"/>
              </a:cxn>
              <a:cxn ang="0">
                <a:pos x="2288" y="1616"/>
              </a:cxn>
              <a:cxn ang="0">
                <a:pos x="2200" y="1448"/>
              </a:cxn>
              <a:cxn ang="0">
                <a:pos x="2128" y="1272"/>
              </a:cxn>
              <a:cxn ang="0">
                <a:pos x="2080" y="1080"/>
              </a:cxn>
              <a:cxn ang="0">
                <a:pos x="2048" y="848"/>
              </a:cxn>
              <a:cxn ang="0">
                <a:pos x="2032" y="712"/>
              </a:cxn>
              <a:cxn ang="0">
                <a:pos x="2584" y="712"/>
              </a:cxn>
              <a:cxn ang="0">
                <a:pos x="1400" y="0"/>
              </a:cxn>
            </a:cxnLst>
            <a:rect l="0" t="0" r="r" b="b"/>
            <a:pathLst>
              <a:path w="2785" h="2009">
                <a:moveTo>
                  <a:pt x="1400" y="0"/>
                </a:moveTo>
                <a:lnTo>
                  <a:pt x="184" y="712"/>
                </a:lnTo>
                <a:lnTo>
                  <a:pt x="760" y="712"/>
                </a:lnTo>
                <a:lnTo>
                  <a:pt x="760" y="920"/>
                </a:lnTo>
                <a:lnTo>
                  <a:pt x="720" y="1152"/>
                </a:lnTo>
                <a:lnTo>
                  <a:pt x="640" y="1352"/>
                </a:lnTo>
                <a:lnTo>
                  <a:pt x="560" y="1536"/>
                </a:lnTo>
                <a:lnTo>
                  <a:pt x="464" y="1672"/>
                </a:lnTo>
                <a:lnTo>
                  <a:pt x="328" y="1824"/>
                </a:lnTo>
                <a:lnTo>
                  <a:pt x="208" y="1912"/>
                </a:lnTo>
                <a:lnTo>
                  <a:pt x="96" y="1976"/>
                </a:lnTo>
                <a:lnTo>
                  <a:pt x="0" y="2008"/>
                </a:lnTo>
                <a:lnTo>
                  <a:pt x="2784" y="2008"/>
                </a:lnTo>
                <a:lnTo>
                  <a:pt x="2664" y="1952"/>
                </a:lnTo>
                <a:lnTo>
                  <a:pt x="2568" y="1904"/>
                </a:lnTo>
                <a:lnTo>
                  <a:pt x="2456" y="1808"/>
                </a:lnTo>
                <a:lnTo>
                  <a:pt x="2288" y="1616"/>
                </a:lnTo>
                <a:lnTo>
                  <a:pt x="2200" y="1448"/>
                </a:lnTo>
                <a:lnTo>
                  <a:pt x="2128" y="1272"/>
                </a:lnTo>
                <a:lnTo>
                  <a:pt x="2080" y="1080"/>
                </a:lnTo>
                <a:lnTo>
                  <a:pt x="2048" y="848"/>
                </a:lnTo>
                <a:lnTo>
                  <a:pt x="2032" y="712"/>
                </a:lnTo>
                <a:lnTo>
                  <a:pt x="2584" y="712"/>
                </a:lnTo>
                <a:lnTo>
                  <a:pt x="1400" y="0"/>
                </a:lnTo>
              </a:path>
            </a:pathLst>
          </a:custGeom>
          <a:gradFill rotWithShape="0">
            <a:gsLst>
              <a:gs pos="0">
                <a:srgbClr val="99CCFF">
                  <a:gamma/>
                  <a:tint val="0"/>
                  <a:invGamma/>
                </a:srgbClr>
              </a:gs>
              <a:gs pos="100000">
                <a:srgbClr val="99CCFF"/>
              </a:gs>
            </a:gsLst>
            <a:lin ang="5400000" scaled="1"/>
          </a:gradFill>
          <a:ln w="12700" cap="rnd" cmpd="sng">
            <a:prstDash val="solid"/>
            <a:round/>
            <a:headEnd/>
            <a:tailEnd/>
          </a:ln>
          <a:effectLst/>
          <a:scene3d>
            <a:camera prst="legacyObliqueBottom">
              <a:rot lat="900000" lon="0" rev="0"/>
            </a:camera>
            <a:lightRig rig="legacyFlat3" dir="b"/>
          </a:scene3d>
          <a:sp3d extrusionH="227000" prstMaterial="legacyPlastic">
            <a:bevelT w="13500" h="13500" prst="angle"/>
            <a:bevelB w="13500" h="13500" prst="angle"/>
            <a:extrusionClr>
              <a:srgbClr val="99CCFF"/>
            </a:extrusionClr>
          </a:sp3d>
        </p:spPr>
        <p:txBody>
          <a:bodyPr>
            <a:flatTx/>
          </a:bodyPr>
          <a:lstStyle>
            <a:defPPr>
              <a:defRPr lang="ko-KR"/>
            </a:defPPr>
            <a:lvl1pPr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5pPr>
            <a:lvl6pPr marL="2286000" algn="l" defTabSz="914400" rtl="0" eaLnBrk="1" latinLnBrk="1" hangingPunct="1">
              <a:defRPr kumimoji="1" sz="2400" kern="1200">
                <a:solidFill>
                  <a:schemeClr val="tx1"/>
                </a:solidFill>
                <a:latin typeface="굴림" pitchFamily="50" charset="-127"/>
                <a:ea typeface="굴림" pitchFamily="50" charset="-127"/>
                <a:cs typeface="+mn-cs"/>
              </a:defRPr>
            </a:lvl6pPr>
            <a:lvl7pPr marL="2743200" algn="l" defTabSz="914400" rtl="0" eaLnBrk="1" latinLnBrk="1" hangingPunct="1">
              <a:defRPr kumimoji="1" sz="2400" kern="1200">
                <a:solidFill>
                  <a:schemeClr val="tx1"/>
                </a:solidFill>
                <a:latin typeface="굴림" pitchFamily="50" charset="-127"/>
                <a:ea typeface="굴림" pitchFamily="50" charset="-127"/>
                <a:cs typeface="+mn-cs"/>
              </a:defRPr>
            </a:lvl7pPr>
            <a:lvl8pPr marL="3200400" algn="l" defTabSz="914400" rtl="0" eaLnBrk="1" latinLnBrk="1" hangingPunct="1">
              <a:defRPr kumimoji="1" sz="2400" kern="1200">
                <a:solidFill>
                  <a:schemeClr val="tx1"/>
                </a:solidFill>
                <a:latin typeface="굴림" pitchFamily="50" charset="-127"/>
                <a:ea typeface="굴림" pitchFamily="50" charset="-127"/>
                <a:cs typeface="+mn-cs"/>
              </a:defRPr>
            </a:lvl8pPr>
            <a:lvl9pPr marL="3657600" algn="l" defTabSz="914400" rtl="0" eaLnBrk="1" latinLnBrk="1" hangingPunct="1">
              <a:defRPr kumimoji="1" sz="2400" kern="1200">
                <a:solidFill>
                  <a:schemeClr val="tx1"/>
                </a:solidFill>
                <a:latin typeface="굴림" pitchFamily="50" charset="-127"/>
                <a:ea typeface="굴림" pitchFamily="50" charset="-127"/>
                <a:cs typeface="+mn-cs"/>
              </a:defRPr>
            </a:lvl9pPr>
          </a:lstStyle>
          <a:p>
            <a:endParaRPr lang="ko-KR" altLang="en-US">
              <a:latin typeface="Tahoma" pitchFamily="34" charset="0"/>
              <a:cs typeface="Tahoma" pitchFamily="34" charset="0"/>
            </a:endParaRPr>
          </a:p>
        </p:txBody>
      </p:sp>
      <p:grpSp>
        <p:nvGrpSpPr>
          <p:cNvPr id="37" name="그룹 36"/>
          <p:cNvGrpSpPr/>
          <p:nvPr/>
        </p:nvGrpSpPr>
        <p:grpSpPr>
          <a:xfrm>
            <a:off x="1626300" y="2526075"/>
            <a:ext cx="7056784" cy="4143285"/>
            <a:chOff x="1524000" y="1885279"/>
            <a:chExt cx="6098642" cy="4012217"/>
          </a:xfrm>
        </p:grpSpPr>
        <p:grpSp>
          <p:nvGrpSpPr>
            <p:cNvPr id="24" name="그룹 23"/>
            <p:cNvGrpSpPr/>
            <p:nvPr/>
          </p:nvGrpSpPr>
          <p:grpSpPr>
            <a:xfrm>
              <a:off x="1524000" y="1885279"/>
              <a:ext cx="6095013" cy="3783620"/>
              <a:chOff x="1524000" y="1885279"/>
              <a:chExt cx="6095013" cy="3783620"/>
            </a:xfrm>
          </p:grpSpPr>
          <p:sp>
            <p:nvSpPr>
              <p:cNvPr id="25" name="자유형 24"/>
              <p:cNvSpPr/>
              <p:nvPr/>
            </p:nvSpPr>
            <p:spPr>
              <a:xfrm>
                <a:off x="1524000" y="1885279"/>
                <a:ext cx="6094029" cy="1482525"/>
              </a:xfrm>
              <a:custGeom>
                <a:avLst/>
                <a:gdLst>
                  <a:gd name="connsiteX0" fmla="*/ 0 w 6094029"/>
                  <a:gd name="connsiteY0" fmla="*/ 128191 h 1281906"/>
                  <a:gd name="connsiteX1" fmla="*/ 128191 w 6094029"/>
                  <a:gd name="connsiteY1" fmla="*/ 0 h 1281906"/>
                  <a:gd name="connsiteX2" fmla="*/ 5965838 w 6094029"/>
                  <a:gd name="connsiteY2" fmla="*/ 0 h 1281906"/>
                  <a:gd name="connsiteX3" fmla="*/ 6094029 w 6094029"/>
                  <a:gd name="connsiteY3" fmla="*/ 128191 h 1281906"/>
                  <a:gd name="connsiteX4" fmla="*/ 6094029 w 6094029"/>
                  <a:gd name="connsiteY4" fmla="*/ 1153715 h 1281906"/>
                  <a:gd name="connsiteX5" fmla="*/ 5965838 w 6094029"/>
                  <a:gd name="connsiteY5" fmla="*/ 1281906 h 1281906"/>
                  <a:gd name="connsiteX6" fmla="*/ 128191 w 6094029"/>
                  <a:gd name="connsiteY6" fmla="*/ 1281906 h 1281906"/>
                  <a:gd name="connsiteX7" fmla="*/ 0 w 6094029"/>
                  <a:gd name="connsiteY7" fmla="*/ 1153715 h 1281906"/>
                  <a:gd name="connsiteX8" fmla="*/ 0 w 6094029"/>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4029" h="1281906">
                    <a:moveTo>
                      <a:pt x="0" y="128191"/>
                    </a:moveTo>
                    <a:cubicBezTo>
                      <a:pt x="0" y="57393"/>
                      <a:pt x="57393" y="0"/>
                      <a:pt x="128191" y="0"/>
                    </a:cubicBezTo>
                    <a:lnTo>
                      <a:pt x="5965838" y="0"/>
                    </a:lnTo>
                    <a:cubicBezTo>
                      <a:pt x="6036636" y="0"/>
                      <a:pt x="6094029" y="57393"/>
                      <a:pt x="6094029" y="128191"/>
                    </a:cubicBezTo>
                    <a:lnTo>
                      <a:pt x="6094029" y="1153715"/>
                    </a:lnTo>
                    <a:cubicBezTo>
                      <a:pt x="6094029" y="1224513"/>
                      <a:pt x="6036636" y="1281906"/>
                      <a:pt x="5965838"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26" name="자유형 25"/>
              <p:cNvSpPr/>
              <p:nvPr/>
            </p:nvSpPr>
            <p:spPr>
              <a:xfrm>
                <a:off x="1524985"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a:latin typeface="Tahoma" pitchFamily="34" charset="0"/>
                  <a:cs typeface="Tahoma" pitchFamily="34" charset="0"/>
                </a:endParaRPr>
              </a:p>
            </p:txBody>
          </p:sp>
          <p:sp>
            <p:nvSpPr>
              <p:cNvPr id="27" name="자유형 26"/>
              <p:cNvSpPr/>
              <p:nvPr/>
            </p:nvSpPr>
            <p:spPr>
              <a:xfrm>
                <a:off x="1524985" y="4665913"/>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a:latin typeface="Tahoma" pitchFamily="34" charset="0"/>
                  <a:cs typeface="Tahoma" pitchFamily="34" charset="0"/>
                </a:endParaRPr>
              </a:p>
            </p:txBody>
          </p:sp>
          <p:sp>
            <p:nvSpPr>
              <p:cNvPr id="28" name="자유형 27"/>
              <p:cNvSpPr/>
              <p:nvPr/>
            </p:nvSpPr>
            <p:spPr>
              <a:xfrm>
                <a:off x="3078590"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29" name="자유형 28"/>
              <p:cNvSpPr/>
              <p:nvPr/>
            </p:nvSpPr>
            <p:spPr>
              <a:xfrm>
                <a:off x="3078590" y="4665914"/>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0" name="자유형 29"/>
              <p:cNvSpPr/>
              <p:nvPr/>
            </p:nvSpPr>
            <p:spPr>
              <a:xfrm>
                <a:off x="4632195"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1" name="자유형 30"/>
              <p:cNvSpPr/>
              <p:nvPr/>
            </p:nvSpPr>
            <p:spPr>
              <a:xfrm>
                <a:off x="4632195" y="4665914"/>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2" name="자유형 31"/>
              <p:cNvSpPr/>
              <p:nvPr/>
            </p:nvSpPr>
            <p:spPr>
              <a:xfrm>
                <a:off x="6185799"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grpSp>
        <p:grpSp>
          <p:nvGrpSpPr>
            <p:cNvPr id="12" name="그룹 11"/>
            <p:cNvGrpSpPr/>
            <p:nvPr/>
          </p:nvGrpSpPr>
          <p:grpSpPr>
            <a:xfrm>
              <a:off x="6189428" y="4653135"/>
              <a:ext cx="1433214" cy="1244361"/>
              <a:chOff x="3108195" y="2780632"/>
              <a:chExt cx="1433214" cy="1244361"/>
            </a:xfrm>
          </p:grpSpPr>
          <p:sp>
            <p:nvSpPr>
              <p:cNvPr id="13" name="모서리가 둥근 직사각형 12"/>
              <p:cNvSpPr/>
              <p:nvPr/>
            </p:nvSpPr>
            <p:spPr>
              <a:xfrm>
                <a:off x="3108195" y="2780632"/>
                <a:ext cx="1433214" cy="1002985"/>
              </a:xfrm>
              <a:prstGeom prst="roundRect">
                <a:avLst>
                  <a:gd name="adj" fmla="val 10000"/>
                </a:avLst>
              </a:pr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4" name="모서리가 둥근 직사각형 4"/>
              <p:cNvSpPr/>
              <p:nvPr/>
            </p:nvSpPr>
            <p:spPr>
              <a:xfrm>
                <a:off x="3145741" y="2818179"/>
                <a:ext cx="1358122" cy="12068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latinLnBrk="1">
                  <a:lnSpc>
                    <a:spcPct val="90000"/>
                  </a:lnSpc>
                  <a:spcBef>
                    <a:spcPct val="0"/>
                  </a:spcBef>
                  <a:spcAft>
                    <a:spcPct val="35000"/>
                  </a:spcAft>
                </a:pPr>
                <a:endParaRPr lang="ko-KR" altLang="en-US" sz="2700" kern="1200" dirty="0">
                  <a:latin typeface="Tahoma" pitchFamily="34" charset="0"/>
                  <a:cs typeface="Tahoma" pitchFamily="34" charset="0"/>
                </a:endParaRPr>
              </a:p>
            </p:txBody>
          </p:sp>
        </p:grpSp>
      </p:grpSp>
      <p:sp>
        <p:nvSpPr>
          <p:cNvPr id="34" name="직사각형 33"/>
          <p:cNvSpPr/>
          <p:nvPr/>
        </p:nvSpPr>
        <p:spPr>
          <a:xfrm>
            <a:off x="2236976" y="2771599"/>
            <a:ext cx="2160400"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a:latin typeface="Tahoma" pitchFamily="34" charset="0"/>
                <a:ea typeface="Tahoma" pitchFamily="34" charset="0"/>
                <a:cs typeface="Tahoma" pitchFamily="34" charset="0"/>
              </a:rPr>
              <a:t>WEB </a:t>
            </a:r>
            <a:r>
              <a:rPr lang="en-US" altLang="ko-KR" sz="1200" dirty="0" smtClean="0">
                <a:latin typeface="Tahoma" pitchFamily="34" charset="0"/>
                <a:ea typeface="Tahoma" pitchFamily="34" charset="0"/>
                <a:cs typeface="Tahoma" pitchFamily="34" charset="0"/>
              </a:rPr>
              <a:t>service and shared biz  </a:t>
            </a:r>
            <a:endParaRPr lang="en-US" altLang="ko-KR" sz="1200" dirty="0">
              <a:latin typeface="Tahoma" pitchFamily="34" charset="0"/>
              <a:ea typeface="Tahoma" pitchFamily="34" charset="0"/>
              <a:cs typeface="Tahoma" pitchFamily="34" charset="0"/>
            </a:endParaRPr>
          </a:p>
        </p:txBody>
      </p:sp>
      <p:sp>
        <p:nvSpPr>
          <p:cNvPr id="35" name="직사각형 34"/>
          <p:cNvSpPr/>
          <p:nvPr/>
        </p:nvSpPr>
        <p:spPr>
          <a:xfrm>
            <a:off x="2037033" y="3181451"/>
            <a:ext cx="2611035"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Adoption of Open OS• System</a:t>
            </a:r>
            <a:r>
              <a:rPr lang="ko-KR" altLang="en-US" sz="1200" dirty="0" smtClean="0">
                <a:latin typeface="Tahoma" pitchFamily="34" charset="0"/>
                <a:cs typeface="Tahoma" pitchFamily="34" charset="0"/>
              </a:rPr>
              <a:t> </a:t>
            </a:r>
            <a:r>
              <a:rPr lang="en-US" altLang="ko-KR" sz="1200" dirty="0">
                <a:latin typeface="Tahoma" pitchFamily="34" charset="0"/>
                <a:ea typeface="Tahoma" pitchFamily="34" charset="0"/>
                <a:cs typeface="Tahoma" pitchFamily="34" charset="0"/>
              </a:rPr>
              <a:t>S/W </a:t>
            </a:r>
            <a:endParaRPr lang="ko-KR" altLang="en-US" sz="1200" dirty="0">
              <a:latin typeface="Tahoma" pitchFamily="34" charset="0"/>
              <a:cs typeface="Tahoma" pitchFamily="34" charset="0"/>
            </a:endParaRPr>
          </a:p>
        </p:txBody>
      </p:sp>
      <p:sp>
        <p:nvSpPr>
          <p:cNvPr id="36" name="직사각형 35"/>
          <p:cNvSpPr/>
          <p:nvPr/>
        </p:nvSpPr>
        <p:spPr>
          <a:xfrm>
            <a:off x="2193707" y="3607995"/>
            <a:ext cx="2164439"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IT resources cut thru sharing</a:t>
            </a:r>
            <a:endParaRPr lang="en-US" altLang="ko-KR" sz="1200" dirty="0">
              <a:latin typeface="Tahoma" pitchFamily="34" charset="0"/>
              <a:ea typeface="Tahoma" pitchFamily="34" charset="0"/>
              <a:cs typeface="Tahoma" pitchFamily="34" charset="0"/>
            </a:endParaRPr>
          </a:p>
        </p:txBody>
      </p:sp>
      <p:sp>
        <p:nvSpPr>
          <p:cNvPr id="38" name="순서도: 수행의 시작/종료 37"/>
          <p:cNvSpPr/>
          <p:nvPr/>
        </p:nvSpPr>
        <p:spPr>
          <a:xfrm>
            <a:off x="1829751" y="1229931"/>
            <a:ext cx="6881895" cy="792088"/>
          </a:xfrm>
          <a:prstGeom prst="flowChartTerminator">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39" name="순서도: 대체 처리 38"/>
          <p:cNvSpPr/>
          <p:nvPr/>
        </p:nvSpPr>
        <p:spPr>
          <a:xfrm>
            <a:off x="5082684" y="2768899"/>
            <a:ext cx="2160240" cy="504056"/>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0" name="순서도: 대체 처리 39"/>
          <p:cNvSpPr/>
          <p:nvPr/>
        </p:nvSpPr>
        <p:spPr>
          <a:xfrm>
            <a:off x="4950486" y="2670091"/>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1" name="순서도: 대체 처리 40"/>
          <p:cNvSpPr/>
          <p:nvPr/>
        </p:nvSpPr>
        <p:spPr>
          <a:xfrm>
            <a:off x="4950486" y="3143704"/>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2" name="순서도: 대체 처리 41"/>
          <p:cNvSpPr/>
          <p:nvPr/>
        </p:nvSpPr>
        <p:spPr>
          <a:xfrm>
            <a:off x="4953960" y="3606195"/>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9" name="눈물 방울 48"/>
          <p:cNvSpPr/>
          <p:nvPr/>
        </p:nvSpPr>
        <p:spPr>
          <a:xfrm rot="2699434">
            <a:off x="4686167" y="2741282"/>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0" name="타원 49"/>
          <p:cNvSpPr/>
          <p:nvPr/>
        </p:nvSpPr>
        <p:spPr>
          <a:xfrm>
            <a:off x="4722171" y="2776717"/>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1" name="눈물 방울 50"/>
          <p:cNvSpPr/>
          <p:nvPr/>
        </p:nvSpPr>
        <p:spPr>
          <a:xfrm rot="2699434">
            <a:off x="4690618" y="3211891"/>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2" name="타원 51"/>
          <p:cNvSpPr/>
          <p:nvPr/>
        </p:nvSpPr>
        <p:spPr>
          <a:xfrm>
            <a:off x="4726622" y="3247326"/>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3" name="눈물 방울 52"/>
          <p:cNvSpPr/>
          <p:nvPr/>
        </p:nvSpPr>
        <p:spPr>
          <a:xfrm rot="2699434">
            <a:off x="4690618" y="3674382"/>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4" name="타원 53"/>
          <p:cNvSpPr/>
          <p:nvPr/>
        </p:nvSpPr>
        <p:spPr>
          <a:xfrm>
            <a:off x="4726622" y="3709817"/>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5" name="직사각형 54"/>
          <p:cNvSpPr/>
          <p:nvPr/>
        </p:nvSpPr>
        <p:spPr>
          <a:xfrm>
            <a:off x="5221109" y="2713223"/>
            <a:ext cx="3151184"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Gov. biz to cloud environment</a:t>
            </a:r>
            <a:r>
              <a:rPr lang="ko-KR" altLang="en-US" sz="1200" dirty="0" smtClean="0">
                <a:latin typeface="Tahoma" pitchFamily="34" charset="0"/>
                <a:cs typeface="Tahoma" pitchFamily="34" charset="0"/>
              </a:rPr>
              <a:t> </a:t>
            </a:r>
            <a:r>
              <a:rPr lang="en-US" altLang="ko-KR" sz="1200" dirty="0" smtClean="0">
                <a:solidFill>
                  <a:srgbClr val="FF0000"/>
                </a:solidFill>
                <a:latin typeface="Tahoma" pitchFamily="34" charset="0"/>
                <a:ea typeface="Tahoma" pitchFamily="34" charset="0"/>
                <a:cs typeface="Tahoma" pitchFamily="34" charset="0"/>
              </a:rPr>
              <a:t>50% transfer</a:t>
            </a:r>
            <a:endParaRPr lang="en-US" altLang="ko-KR" sz="1200" dirty="0">
              <a:solidFill>
                <a:srgbClr val="FF0000"/>
              </a:solidFill>
              <a:latin typeface="Tahoma" pitchFamily="34" charset="0"/>
              <a:ea typeface="Tahoma" pitchFamily="34" charset="0"/>
              <a:cs typeface="Tahoma" pitchFamily="34" charset="0"/>
            </a:endParaRPr>
          </a:p>
        </p:txBody>
      </p:sp>
      <p:sp>
        <p:nvSpPr>
          <p:cNvPr id="56" name="직사각형 55"/>
          <p:cNvSpPr/>
          <p:nvPr/>
        </p:nvSpPr>
        <p:spPr>
          <a:xfrm>
            <a:off x="5195877" y="3175947"/>
            <a:ext cx="2317494"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Open source SW</a:t>
            </a:r>
            <a:r>
              <a:rPr lang="ko-KR" altLang="en-US" sz="1200" dirty="0" smtClean="0">
                <a:latin typeface="Tahoma" pitchFamily="34" charset="0"/>
                <a:cs typeface="Tahoma" pitchFamily="34" charset="0"/>
              </a:rPr>
              <a:t> </a:t>
            </a:r>
            <a:r>
              <a:rPr lang="en-US" altLang="ko-KR" sz="1200" dirty="0" smtClean="0">
                <a:solidFill>
                  <a:srgbClr val="FF0000"/>
                </a:solidFill>
                <a:latin typeface="Tahoma" pitchFamily="34" charset="0"/>
                <a:ea typeface="Tahoma" pitchFamily="34" charset="0"/>
                <a:cs typeface="Tahoma" pitchFamily="34" charset="0"/>
              </a:rPr>
              <a:t>40% adoption</a:t>
            </a:r>
            <a:endParaRPr lang="en-US" altLang="ko-KR" sz="1200" dirty="0">
              <a:solidFill>
                <a:srgbClr val="FF0000"/>
              </a:solidFill>
              <a:latin typeface="Tahoma" pitchFamily="34" charset="0"/>
              <a:ea typeface="Tahoma" pitchFamily="34" charset="0"/>
              <a:cs typeface="Tahoma" pitchFamily="34" charset="0"/>
            </a:endParaRPr>
          </a:p>
        </p:txBody>
      </p:sp>
      <p:sp>
        <p:nvSpPr>
          <p:cNvPr id="57" name="직사각형 56"/>
          <p:cNvSpPr/>
          <p:nvPr/>
        </p:nvSpPr>
        <p:spPr>
          <a:xfrm>
            <a:off x="5230676" y="3647760"/>
            <a:ext cx="2016128"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IT op cost</a:t>
            </a:r>
            <a:r>
              <a:rPr lang="ko-KR" altLang="en-US" sz="1200" dirty="0" smtClean="0">
                <a:latin typeface="Tahoma" pitchFamily="34" charset="0"/>
                <a:cs typeface="Tahoma" pitchFamily="34" charset="0"/>
              </a:rPr>
              <a:t> </a:t>
            </a:r>
            <a:r>
              <a:rPr lang="en-US" altLang="ko-KR" sz="1200" dirty="0" smtClean="0">
                <a:solidFill>
                  <a:srgbClr val="FF0000"/>
                </a:solidFill>
                <a:latin typeface="Tahoma" pitchFamily="34" charset="0"/>
                <a:ea typeface="Tahoma" pitchFamily="34" charset="0"/>
                <a:cs typeface="Tahoma" pitchFamily="34" charset="0"/>
              </a:rPr>
              <a:t>30% reduction  </a:t>
            </a:r>
            <a:endParaRPr lang="en-US" altLang="ko-KR" sz="1200" dirty="0">
              <a:solidFill>
                <a:srgbClr val="FF0000"/>
              </a:solidFill>
              <a:latin typeface="Tahoma" pitchFamily="34" charset="0"/>
              <a:ea typeface="Tahoma" pitchFamily="34" charset="0"/>
              <a:cs typeface="Tahoma" pitchFamily="34" charset="0"/>
            </a:endParaRPr>
          </a:p>
        </p:txBody>
      </p:sp>
      <p:sp>
        <p:nvSpPr>
          <p:cNvPr id="58" name="직사각형 57"/>
          <p:cNvSpPr/>
          <p:nvPr/>
        </p:nvSpPr>
        <p:spPr>
          <a:xfrm>
            <a:off x="1882892" y="4449937"/>
            <a:ext cx="1307089"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Service Oriented</a:t>
            </a:r>
            <a:endParaRPr lang="en-US" altLang="ko-KR" sz="1200" dirty="0">
              <a:latin typeface="Tahoma" pitchFamily="34" charset="0"/>
              <a:ea typeface="Tahoma" pitchFamily="34" charset="0"/>
              <a:cs typeface="Tahoma" pitchFamily="34" charset="0"/>
            </a:endParaRPr>
          </a:p>
        </p:txBody>
      </p:sp>
      <p:sp>
        <p:nvSpPr>
          <p:cNvPr id="59" name="직사각형 58"/>
          <p:cNvSpPr/>
          <p:nvPr/>
        </p:nvSpPr>
        <p:spPr>
          <a:xfrm>
            <a:off x="3932043" y="4449937"/>
            <a:ext cx="699229"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Sharing</a:t>
            </a:r>
            <a:endParaRPr lang="en-US" altLang="ko-KR" sz="1200" dirty="0">
              <a:latin typeface="Tahoma" pitchFamily="34" charset="0"/>
              <a:ea typeface="Tahoma" pitchFamily="34" charset="0"/>
              <a:cs typeface="Tahoma" pitchFamily="34" charset="0"/>
            </a:endParaRPr>
          </a:p>
        </p:txBody>
      </p:sp>
      <p:sp>
        <p:nvSpPr>
          <p:cNvPr id="60" name="직사각형 59"/>
          <p:cNvSpPr/>
          <p:nvPr/>
        </p:nvSpPr>
        <p:spPr>
          <a:xfrm>
            <a:off x="5568175" y="4449937"/>
            <a:ext cx="1002967"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Open Based</a:t>
            </a:r>
            <a:endParaRPr lang="en-US" altLang="ko-KR" sz="1200" dirty="0">
              <a:latin typeface="Tahoma" pitchFamily="34" charset="0"/>
              <a:ea typeface="Tahoma" pitchFamily="34" charset="0"/>
              <a:cs typeface="Tahoma" pitchFamily="34" charset="0"/>
            </a:endParaRPr>
          </a:p>
        </p:txBody>
      </p:sp>
      <p:sp>
        <p:nvSpPr>
          <p:cNvPr id="61" name="직사각형 60"/>
          <p:cNvSpPr/>
          <p:nvPr/>
        </p:nvSpPr>
        <p:spPr>
          <a:xfrm>
            <a:off x="7256475" y="4449937"/>
            <a:ext cx="1233864" cy="258532"/>
          </a:xfrm>
          <a:prstGeom prst="rect">
            <a:avLst/>
          </a:prstGeom>
        </p:spPr>
        <p:txBody>
          <a:bodyPr wrap="none">
            <a:spAutoFit/>
          </a:bodyPr>
          <a:lstStyle/>
          <a:p>
            <a:pPr lvl="0" algn="ctr"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Standardization</a:t>
            </a:r>
            <a:endParaRPr lang="en-US" altLang="ko-KR" sz="1200" dirty="0">
              <a:latin typeface="Tahoma" pitchFamily="34" charset="0"/>
              <a:ea typeface="Tahoma" pitchFamily="34" charset="0"/>
              <a:cs typeface="Tahoma" pitchFamily="34" charset="0"/>
            </a:endParaRPr>
          </a:p>
        </p:txBody>
      </p:sp>
      <p:sp>
        <p:nvSpPr>
          <p:cNvPr id="63" name="순서도: 대체 처리 62"/>
          <p:cNvSpPr/>
          <p:nvPr/>
        </p:nvSpPr>
        <p:spPr>
          <a:xfrm>
            <a:off x="1757638" y="5439749"/>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Tahoma" pitchFamily="34" charset="0"/>
              <a:cs typeface="Tahoma" pitchFamily="34" charset="0"/>
            </a:endParaRPr>
          </a:p>
        </p:txBody>
      </p:sp>
      <p:sp>
        <p:nvSpPr>
          <p:cNvPr id="64" name="순서도: 대체 처리 63"/>
          <p:cNvSpPr/>
          <p:nvPr/>
        </p:nvSpPr>
        <p:spPr>
          <a:xfrm>
            <a:off x="3570516" y="5453464"/>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5" name="순서도: 대체 처리 64"/>
          <p:cNvSpPr/>
          <p:nvPr/>
        </p:nvSpPr>
        <p:spPr>
          <a:xfrm>
            <a:off x="5363543" y="5461777"/>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6" name="순서도: 대체 처리 65"/>
          <p:cNvSpPr/>
          <p:nvPr/>
        </p:nvSpPr>
        <p:spPr>
          <a:xfrm>
            <a:off x="7162603" y="5456376"/>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7" name="TextBox 66"/>
          <p:cNvSpPr txBox="1"/>
          <p:nvPr/>
        </p:nvSpPr>
        <p:spPr>
          <a:xfrm>
            <a:off x="1736443" y="5450162"/>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A1</a:t>
            </a:r>
            <a:endParaRPr lang="ko-KR" altLang="en-US" sz="1400" dirty="0">
              <a:latin typeface="Tahoma" pitchFamily="34" charset="0"/>
              <a:cs typeface="Tahoma" pitchFamily="34" charset="0"/>
            </a:endParaRPr>
          </a:p>
        </p:txBody>
      </p:sp>
      <p:sp>
        <p:nvSpPr>
          <p:cNvPr id="68" name="TextBox 67"/>
          <p:cNvSpPr txBox="1"/>
          <p:nvPr/>
        </p:nvSpPr>
        <p:spPr>
          <a:xfrm>
            <a:off x="3553890" y="5445151"/>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A2</a:t>
            </a:r>
            <a:endParaRPr lang="ko-KR" altLang="en-US" sz="1400" dirty="0">
              <a:latin typeface="Tahoma" pitchFamily="34" charset="0"/>
              <a:cs typeface="Tahoma" pitchFamily="34" charset="0"/>
            </a:endParaRPr>
          </a:p>
        </p:txBody>
      </p:sp>
      <p:sp>
        <p:nvSpPr>
          <p:cNvPr id="69" name="TextBox 68"/>
          <p:cNvSpPr txBox="1"/>
          <p:nvPr/>
        </p:nvSpPr>
        <p:spPr>
          <a:xfrm>
            <a:off x="5354090" y="5456273"/>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A3</a:t>
            </a:r>
            <a:endParaRPr lang="ko-KR" altLang="en-US" sz="1400" dirty="0">
              <a:latin typeface="Tahoma" pitchFamily="34" charset="0"/>
              <a:cs typeface="Tahoma" pitchFamily="34" charset="0"/>
            </a:endParaRPr>
          </a:p>
        </p:txBody>
      </p:sp>
      <p:sp>
        <p:nvSpPr>
          <p:cNvPr id="70" name="TextBox 69"/>
          <p:cNvSpPr txBox="1"/>
          <p:nvPr/>
        </p:nvSpPr>
        <p:spPr>
          <a:xfrm>
            <a:off x="7137664" y="5453464"/>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A4</a:t>
            </a:r>
            <a:endParaRPr lang="ko-KR" altLang="en-US" sz="1400" dirty="0">
              <a:latin typeface="Tahoma" pitchFamily="34" charset="0"/>
              <a:cs typeface="Tahoma" pitchFamily="34" charset="0"/>
            </a:endParaRPr>
          </a:p>
        </p:txBody>
      </p:sp>
      <p:sp>
        <p:nvSpPr>
          <p:cNvPr id="71" name="직사각형 70"/>
          <p:cNvSpPr/>
          <p:nvPr/>
        </p:nvSpPr>
        <p:spPr>
          <a:xfrm>
            <a:off x="2066661" y="5573887"/>
            <a:ext cx="1139414" cy="489365"/>
          </a:xfrm>
          <a:prstGeom prst="rect">
            <a:avLst/>
          </a:prstGeom>
        </p:spPr>
        <p:txBody>
          <a:bodyPr wrap="none">
            <a:spAutoFit/>
          </a:bodyPr>
          <a:lstStyle/>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Fast &amp; flexible</a:t>
            </a:r>
          </a:p>
          <a:p>
            <a:pPr lvl="0" defTabSz="933450">
              <a:lnSpc>
                <a:spcPct val="90000"/>
              </a:lnSpc>
              <a:spcBef>
                <a:spcPct val="0"/>
              </a:spcBef>
              <a:spcAft>
                <a:spcPct val="35000"/>
              </a:spcAft>
            </a:pPr>
            <a:r>
              <a:rPr lang="en-US" altLang="ko-KR" sz="1200" dirty="0">
                <a:latin typeface="Tahoma" pitchFamily="34" charset="0"/>
                <a:ea typeface="Tahoma" pitchFamily="34" charset="0"/>
                <a:cs typeface="Tahoma" pitchFamily="34" charset="0"/>
              </a:rPr>
              <a:t>c</a:t>
            </a:r>
            <a:r>
              <a:rPr lang="en-US" altLang="ko-KR" sz="1200" dirty="0" smtClean="0">
                <a:latin typeface="Tahoma" pitchFamily="34" charset="0"/>
                <a:ea typeface="Tahoma" pitchFamily="34" charset="0"/>
                <a:cs typeface="Tahoma" pitchFamily="34" charset="0"/>
              </a:rPr>
              <a:t>loud infra</a:t>
            </a:r>
            <a:endParaRPr lang="en-US" altLang="ko-KR" sz="1200" dirty="0">
              <a:latin typeface="Tahoma" pitchFamily="34" charset="0"/>
              <a:ea typeface="Tahoma" pitchFamily="34" charset="0"/>
              <a:cs typeface="Tahoma" pitchFamily="34" charset="0"/>
            </a:endParaRPr>
          </a:p>
        </p:txBody>
      </p:sp>
      <p:sp>
        <p:nvSpPr>
          <p:cNvPr id="72" name="직사각형 71"/>
          <p:cNvSpPr/>
          <p:nvPr/>
        </p:nvSpPr>
        <p:spPr>
          <a:xfrm>
            <a:off x="3885375" y="5573887"/>
            <a:ext cx="1133644" cy="720197"/>
          </a:xfrm>
          <a:prstGeom prst="rect">
            <a:avLst/>
          </a:prstGeom>
        </p:spPr>
        <p:txBody>
          <a:bodyPr wrap="none">
            <a:spAutoFit/>
          </a:bodyPr>
          <a:lstStyle/>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Delivery of </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user-centric</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cloud services</a:t>
            </a:r>
            <a:endParaRPr lang="en-US" altLang="ko-KR" sz="1200" dirty="0">
              <a:latin typeface="Tahoma" pitchFamily="34" charset="0"/>
              <a:ea typeface="Tahoma" pitchFamily="34" charset="0"/>
              <a:cs typeface="Tahoma" pitchFamily="34" charset="0"/>
            </a:endParaRPr>
          </a:p>
        </p:txBody>
      </p:sp>
      <p:sp>
        <p:nvSpPr>
          <p:cNvPr id="73" name="직사각형 72"/>
          <p:cNvSpPr/>
          <p:nvPr/>
        </p:nvSpPr>
        <p:spPr>
          <a:xfrm>
            <a:off x="5658748" y="5478403"/>
            <a:ext cx="1212191" cy="951030"/>
          </a:xfrm>
          <a:prstGeom prst="rect">
            <a:avLst/>
          </a:prstGeom>
        </p:spPr>
        <p:txBody>
          <a:bodyPr wrap="none">
            <a:spAutoFit/>
          </a:bodyPr>
          <a:lstStyle/>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Governance</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establishment</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based on cloud</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system</a:t>
            </a:r>
            <a:endParaRPr lang="en-US" altLang="ko-KR" sz="1200" dirty="0">
              <a:latin typeface="Tahoma" pitchFamily="34" charset="0"/>
              <a:ea typeface="Tahoma" pitchFamily="34" charset="0"/>
              <a:cs typeface="Tahoma" pitchFamily="34" charset="0"/>
            </a:endParaRPr>
          </a:p>
        </p:txBody>
      </p:sp>
      <p:sp>
        <p:nvSpPr>
          <p:cNvPr id="74" name="직사각형 73"/>
          <p:cNvSpPr/>
          <p:nvPr/>
        </p:nvSpPr>
        <p:spPr>
          <a:xfrm>
            <a:off x="7242924" y="5622419"/>
            <a:ext cx="1313629" cy="720197"/>
          </a:xfrm>
          <a:prstGeom prst="rect">
            <a:avLst/>
          </a:prstGeom>
        </p:spPr>
        <p:txBody>
          <a:bodyPr wrap="none">
            <a:spAutoFit/>
          </a:bodyPr>
          <a:lstStyle/>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Ensure the </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foundation of </a:t>
            </a:r>
          </a:p>
          <a:p>
            <a:pPr lvl="0" defTabSz="933450">
              <a:lnSpc>
                <a:spcPct val="90000"/>
              </a:lnSpc>
              <a:spcBef>
                <a:spcPct val="0"/>
              </a:spcBef>
              <a:spcAft>
                <a:spcPct val="35000"/>
              </a:spcAft>
            </a:pPr>
            <a:r>
              <a:rPr lang="en-US" altLang="ko-KR" sz="1200" dirty="0" smtClean="0">
                <a:latin typeface="Tahoma" pitchFamily="34" charset="0"/>
                <a:ea typeface="Tahoma" pitchFamily="34" charset="0"/>
                <a:cs typeface="Tahoma" pitchFamily="34" charset="0"/>
              </a:rPr>
              <a:t>cloud vitalization</a:t>
            </a:r>
            <a:endParaRPr lang="en-US" altLang="ko-KR" sz="1200" dirty="0">
              <a:latin typeface="Tahoma" pitchFamily="34" charset="0"/>
              <a:ea typeface="Tahoma" pitchFamily="34" charset="0"/>
              <a:cs typeface="Tahoma" pitchFamily="34" charset="0"/>
            </a:endParaRPr>
          </a:p>
        </p:txBody>
      </p:sp>
      <p:sp>
        <p:nvSpPr>
          <p:cNvPr id="75" name="직사각형 74"/>
          <p:cNvSpPr/>
          <p:nvPr/>
        </p:nvSpPr>
        <p:spPr>
          <a:xfrm>
            <a:off x="330156" y="1196752"/>
            <a:ext cx="1224136" cy="86409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6" name="직사각형 75"/>
          <p:cNvSpPr/>
          <p:nvPr/>
        </p:nvSpPr>
        <p:spPr>
          <a:xfrm>
            <a:off x="330156" y="2560180"/>
            <a:ext cx="1224136" cy="149684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7" name="직사각형 76"/>
          <p:cNvSpPr/>
          <p:nvPr/>
        </p:nvSpPr>
        <p:spPr>
          <a:xfrm>
            <a:off x="340179" y="4201047"/>
            <a:ext cx="1224136" cy="103057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8" name="직사각형 77"/>
          <p:cNvSpPr/>
          <p:nvPr/>
        </p:nvSpPr>
        <p:spPr>
          <a:xfrm>
            <a:off x="340179" y="5384350"/>
            <a:ext cx="1224136" cy="103575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9" name="직사각형 78"/>
          <p:cNvSpPr/>
          <p:nvPr/>
        </p:nvSpPr>
        <p:spPr>
          <a:xfrm>
            <a:off x="560153" y="1309255"/>
            <a:ext cx="784189"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Vision</a:t>
            </a:r>
            <a:endParaRPr lang="en-US" altLang="ko-KR" dirty="0">
              <a:latin typeface="Tahoma" pitchFamily="34" charset="0"/>
              <a:ea typeface="Tahoma" pitchFamily="34" charset="0"/>
              <a:cs typeface="Tahoma" pitchFamily="34" charset="0"/>
            </a:endParaRPr>
          </a:p>
        </p:txBody>
      </p:sp>
      <p:sp>
        <p:nvSpPr>
          <p:cNvPr id="80" name="직사각형 79"/>
          <p:cNvSpPr/>
          <p:nvPr/>
        </p:nvSpPr>
        <p:spPr>
          <a:xfrm>
            <a:off x="372351" y="3109455"/>
            <a:ext cx="1135054"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Objective</a:t>
            </a:r>
            <a:endParaRPr lang="en-US" altLang="ko-KR" dirty="0">
              <a:latin typeface="Tahoma" pitchFamily="34" charset="0"/>
              <a:ea typeface="Tahoma" pitchFamily="34" charset="0"/>
              <a:cs typeface="Tahoma" pitchFamily="34" charset="0"/>
            </a:endParaRPr>
          </a:p>
        </p:txBody>
      </p:sp>
      <p:sp>
        <p:nvSpPr>
          <p:cNvPr id="81" name="직사각형 80"/>
          <p:cNvSpPr/>
          <p:nvPr/>
        </p:nvSpPr>
        <p:spPr>
          <a:xfrm>
            <a:off x="423135" y="4477607"/>
            <a:ext cx="1033488"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Strategy</a:t>
            </a:r>
            <a:endParaRPr lang="en-US" altLang="ko-KR" dirty="0">
              <a:latin typeface="Tahoma" pitchFamily="34" charset="0"/>
              <a:ea typeface="Tahoma" pitchFamily="34" charset="0"/>
              <a:cs typeface="Tahoma" pitchFamily="34" charset="0"/>
            </a:endParaRPr>
          </a:p>
        </p:txBody>
      </p:sp>
      <p:sp>
        <p:nvSpPr>
          <p:cNvPr id="82" name="직사각형 81"/>
          <p:cNvSpPr/>
          <p:nvPr/>
        </p:nvSpPr>
        <p:spPr>
          <a:xfrm>
            <a:off x="464429" y="5701743"/>
            <a:ext cx="950901"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Agenda</a:t>
            </a:r>
            <a:endParaRPr lang="en-US" altLang="ko-KR" dirty="0">
              <a:latin typeface="Tahoma" pitchFamily="34" charset="0"/>
              <a:ea typeface="Tahoma" pitchFamily="34" charset="0"/>
              <a:cs typeface="Tahoma" pitchFamily="34" charset="0"/>
            </a:endParaRPr>
          </a:p>
        </p:txBody>
      </p:sp>
      <p:sp>
        <p:nvSpPr>
          <p:cNvPr id="2" name="TextBox 1"/>
          <p:cNvSpPr txBox="1"/>
          <p:nvPr/>
        </p:nvSpPr>
        <p:spPr>
          <a:xfrm>
            <a:off x="179512" y="116632"/>
            <a:ext cx="8712968" cy="954107"/>
          </a:xfrm>
          <a:prstGeom prst="rect">
            <a:avLst/>
          </a:prstGeom>
          <a:noFill/>
        </p:spPr>
        <p:txBody>
          <a:bodyPr wrap="square" rtlCol="0">
            <a:spAutoFit/>
          </a:bodyPr>
          <a:lstStyle/>
          <a:p>
            <a:pPr algn="ctr"/>
            <a:r>
              <a:rPr lang="en-US" altLang="ko-KR" sz="2800" dirty="0" smtClean="0">
                <a:latin typeface="Tahoma" pitchFamily="34" charset="0"/>
                <a:ea typeface="Tahoma" pitchFamily="34" charset="0"/>
                <a:cs typeface="Tahoma" pitchFamily="34" charset="0"/>
              </a:rPr>
              <a:t>Korea’s Vision and Strategy on the Government     Cloud Services </a:t>
            </a:r>
            <a:endParaRPr lang="ko-KR" altLang="en-US" sz="2800" dirty="0">
              <a:latin typeface="Tahoma" pitchFamily="34" charset="0"/>
              <a:cs typeface="Tahoma" pitchFamily="34" charset="0"/>
            </a:endParaRPr>
          </a:p>
        </p:txBody>
      </p:sp>
      <p:sp>
        <p:nvSpPr>
          <p:cNvPr id="83" name="직사각형 82"/>
          <p:cNvSpPr/>
          <p:nvPr/>
        </p:nvSpPr>
        <p:spPr>
          <a:xfrm>
            <a:off x="1828290" y="1229931"/>
            <a:ext cx="6866730" cy="853311"/>
          </a:xfrm>
          <a:prstGeom prst="rect">
            <a:avLst/>
          </a:prstGeom>
        </p:spPr>
        <p:txBody>
          <a:bodyPr wrap="square">
            <a:spAutoFit/>
          </a:bodyPr>
          <a:lstStyle/>
          <a:p>
            <a:pPr lvl="0" algn="ctr" defTabSz="933450">
              <a:lnSpc>
                <a:spcPct val="90000"/>
              </a:lnSpc>
              <a:spcBef>
                <a:spcPct val="0"/>
              </a:spcBef>
              <a:spcAft>
                <a:spcPct val="35000"/>
              </a:spcAft>
            </a:pPr>
            <a:r>
              <a:rPr lang="en-US" altLang="ko-KR" sz="2300" dirty="0" smtClean="0">
                <a:solidFill>
                  <a:srgbClr val="C00000"/>
                </a:solidFill>
                <a:latin typeface="Tahoma" pitchFamily="34" charset="0"/>
                <a:ea typeface="Tahoma" pitchFamily="34" charset="0"/>
                <a:cs typeface="Tahoma" pitchFamily="34" charset="0"/>
              </a:rPr>
              <a:t>Realization of world best </a:t>
            </a:r>
          </a:p>
          <a:p>
            <a:pPr lvl="0" algn="ctr" defTabSz="933450">
              <a:lnSpc>
                <a:spcPct val="90000"/>
              </a:lnSpc>
              <a:spcBef>
                <a:spcPct val="0"/>
              </a:spcBef>
              <a:spcAft>
                <a:spcPct val="35000"/>
              </a:spcAft>
            </a:pPr>
            <a:r>
              <a:rPr lang="en-US" altLang="ko-KR" sz="2300" dirty="0" smtClean="0">
                <a:solidFill>
                  <a:srgbClr val="C00000"/>
                </a:solidFill>
                <a:latin typeface="Tahoma" pitchFamily="34" charset="0"/>
                <a:ea typeface="Tahoma" pitchFamily="34" charset="0"/>
                <a:cs typeface="Tahoma" pitchFamily="34" charset="0"/>
              </a:rPr>
              <a:t>government cloud service</a:t>
            </a:r>
            <a:endParaRPr lang="en-US" altLang="ko-KR" sz="2300" dirty="0">
              <a:solidFill>
                <a:srgbClr val="C00000"/>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20711722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i="0" dirty="0" smtClean="0">
                <a:latin typeface="Tahoma" pitchFamily="34" charset="0"/>
                <a:ea typeface="Tahoma" pitchFamily="34" charset="0"/>
                <a:cs typeface="Tahoma" pitchFamily="34" charset="0"/>
              </a:rPr>
              <a:t>Implementation of Open Data Policy </a:t>
            </a:r>
            <a:endParaRPr lang="ko-KR" altLang="en-US" sz="3200" i="0" dirty="0">
              <a:latin typeface="Tahoma" pitchFamily="34" charset="0"/>
              <a:cs typeface="Tahoma" pitchFamily="34" charset="0"/>
            </a:endParaRPr>
          </a:p>
        </p:txBody>
      </p:sp>
      <p:pic>
        <p:nvPicPr>
          <p:cNvPr id="5" name="내용 개체 틀 4"/>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705758" y="2178849"/>
            <a:ext cx="3541483" cy="3986455"/>
          </a:xfrm>
        </p:spPr>
      </p:pic>
      <p:pic>
        <p:nvPicPr>
          <p:cNvPr id="6" name="내용 개체 틀 5"/>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4648200" y="2708920"/>
            <a:ext cx="4038600" cy="2657624"/>
          </a:xfrm>
        </p:spPr>
      </p:pic>
      <p:sp>
        <p:nvSpPr>
          <p:cNvPr id="9" name="직사각형 8"/>
          <p:cNvSpPr/>
          <p:nvPr/>
        </p:nvSpPr>
        <p:spPr>
          <a:xfrm>
            <a:off x="899592" y="1556792"/>
            <a:ext cx="3415743" cy="338554"/>
          </a:xfrm>
          <a:prstGeom prst="rect">
            <a:avLst/>
          </a:prstGeom>
          <a:noFill/>
        </p:spPr>
        <p:txBody>
          <a:bodyPr wrap="none" lIns="91440" tIns="45720" rIns="91440" bIns="45720">
            <a:spAutoFit/>
          </a:bodyPr>
          <a:lstStyle/>
          <a:p>
            <a:pPr algn="ctr"/>
            <a:r>
              <a:rPr lang="en-US" altLang="ko-KR" sz="16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Government Data Portal</a:t>
            </a:r>
            <a:endParaRPr lang="ko-KR" altLang="en-US" sz="16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10" name="TextBox 9"/>
          <p:cNvSpPr txBox="1"/>
          <p:nvPr/>
        </p:nvSpPr>
        <p:spPr>
          <a:xfrm>
            <a:off x="4572000" y="1556792"/>
            <a:ext cx="4176464" cy="338554"/>
          </a:xfrm>
          <a:prstGeom prst="rect">
            <a:avLst/>
          </a:prstGeom>
          <a:noFill/>
        </p:spPr>
        <p:txBody>
          <a:bodyPr wrap="square" rtlCol="0">
            <a:spAutoFit/>
          </a:bodyPr>
          <a:lstStyle/>
          <a:p>
            <a:r>
              <a:rPr lang="en-US" altLang="ko-KR" sz="1600" b="1" spc="-100" dirty="0">
                <a:solidFill>
                  <a:srgbClr val="92D050"/>
                </a:solidFill>
              </a:rPr>
              <a:t>Oasis of Millions of Creative Idea’ Seoul City</a:t>
            </a:r>
            <a:endParaRPr lang="ko-KR" altLang="en-US" sz="1600" b="1" dirty="0">
              <a:solidFill>
                <a:srgbClr val="92D050"/>
              </a:solidFill>
            </a:endParaRPr>
          </a:p>
        </p:txBody>
      </p:sp>
      <p:sp>
        <p:nvSpPr>
          <p:cNvPr id="11" name="슬라이드 번호 개체 틀 10"/>
          <p:cNvSpPr>
            <a:spLocks noGrp="1"/>
          </p:cNvSpPr>
          <p:nvPr>
            <p:ph type="sldNum" sz="quarter" idx="12"/>
          </p:nvPr>
        </p:nvSpPr>
        <p:spPr/>
        <p:txBody>
          <a:bodyPr/>
          <a:lstStyle/>
          <a:p>
            <a:fld id="{8F563537-3992-4579-A065-26E1D23BF530}" type="slidenum">
              <a:rPr lang="ko-KR" altLang="en-US" smtClean="0"/>
              <a:pPr/>
              <a:t>13</a:t>
            </a:fld>
            <a:endParaRPr lang="ko-KR" altLang="en-US"/>
          </a:p>
        </p:txBody>
      </p:sp>
    </p:spTree>
    <p:extLst>
      <p:ext uri="{BB962C8B-B14F-4D97-AF65-F5344CB8AC3E}">
        <p14:creationId xmlns:p14="http://schemas.microsoft.com/office/powerpoint/2010/main" val="29375052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title"/>
          </p:nvPr>
        </p:nvSpPr>
        <p:spPr/>
        <p:txBody>
          <a:bodyPr>
            <a:normAutofit/>
          </a:bodyPr>
          <a:lstStyle/>
          <a:p>
            <a:r>
              <a:rPr lang="en-US" altLang="ko-KR" sz="3200" dirty="0" smtClean="0">
                <a:latin typeface="Tahoma" pitchFamily="34" charset="0"/>
                <a:ea typeface="Tahoma" pitchFamily="34" charset="0"/>
                <a:cs typeface="Tahoma" pitchFamily="34" charset="0"/>
              </a:rPr>
              <a:t>Government-wide Enterprise Architecture</a:t>
            </a:r>
            <a:endParaRPr lang="ko-KR" altLang="en-US" sz="3200" dirty="0">
              <a:latin typeface="Tahoma" pitchFamily="34" charset="0"/>
              <a:cs typeface="Tahoma" pitchFamily="34" charset="0"/>
            </a:endParaRPr>
          </a:p>
        </p:txBody>
      </p:sp>
      <p:pic>
        <p:nvPicPr>
          <p:cNvPr id="11" name="내용 개체 틀 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71600" y="1761708"/>
            <a:ext cx="7223760" cy="4259580"/>
          </a:xfrm>
        </p:spPr>
      </p:pic>
      <p:sp>
        <p:nvSpPr>
          <p:cNvPr id="12" name="TextBox 11"/>
          <p:cNvSpPr txBox="1"/>
          <p:nvPr/>
        </p:nvSpPr>
        <p:spPr>
          <a:xfrm>
            <a:off x="1691680" y="1628800"/>
            <a:ext cx="5760640" cy="707886"/>
          </a:xfrm>
          <a:prstGeom prst="rect">
            <a:avLst/>
          </a:prstGeom>
          <a:noFill/>
        </p:spPr>
        <p:txBody>
          <a:bodyPr wrap="square" rtlCol="0">
            <a:spAutoFit/>
          </a:bodyPr>
          <a:lstStyle/>
          <a:p>
            <a:r>
              <a:rPr lang="en-US" altLang="ko-KR" sz="2000" i="1" dirty="0" smtClean="0"/>
              <a:t>Systematic and integrated governance </a:t>
            </a:r>
          </a:p>
          <a:p>
            <a:r>
              <a:rPr lang="en-US" altLang="ko-KR" sz="2000" i="1" dirty="0" smtClean="0"/>
              <a:t>from planning to evaluation</a:t>
            </a:r>
            <a:endParaRPr lang="ko-KR" altLang="en-US" sz="2000" i="1" dirty="0"/>
          </a:p>
        </p:txBody>
      </p:sp>
      <p:sp>
        <p:nvSpPr>
          <p:cNvPr id="13" name="슬라이드 번호 개체 틀 12"/>
          <p:cNvSpPr>
            <a:spLocks noGrp="1"/>
          </p:cNvSpPr>
          <p:nvPr>
            <p:ph type="sldNum" sz="quarter" idx="12"/>
          </p:nvPr>
        </p:nvSpPr>
        <p:spPr/>
        <p:txBody>
          <a:bodyPr/>
          <a:lstStyle/>
          <a:p>
            <a:fld id="{8F563537-3992-4579-A065-26E1D23BF530}" type="slidenum">
              <a:rPr lang="ko-KR" altLang="en-US" smtClean="0"/>
              <a:pPr/>
              <a:t>14</a:t>
            </a:fld>
            <a:endParaRPr lang="ko-KR" altLang="en-US"/>
          </a:p>
        </p:txBody>
      </p:sp>
    </p:spTree>
    <p:extLst>
      <p:ext uri="{BB962C8B-B14F-4D97-AF65-F5344CB8AC3E}">
        <p14:creationId xmlns:p14="http://schemas.microsoft.com/office/powerpoint/2010/main" val="1955335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z="2800" dirty="0" smtClean="0">
                <a:latin typeface="Tahoma" pitchFamily="34" charset="0"/>
                <a:ea typeface="Tahoma" pitchFamily="34" charset="0"/>
                <a:cs typeface="Tahoma" pitchFamily="34" charset="0"/>
              </a:rPr>
              <a:t>Government Enterprise Architecture portal</a:t>
            </a:r>
            <a:br>
              <a:rPr lang="en-US" altLang="ko-KR" sz="2800" dirty="0" smtClean="0">
                <a:latin typeface="Tahoma" pitchFamily="34" charset="0"/>
                <a:ea typeface="Tahoma" pitchFamily="34" charset="0"/>
                <a:cs typeface="Tahoma" pitchFamily="34" charset="0"/>
              </a:rPr>
            </a:br>
            <a:r>
              <a:rPr lang="en-US" altLang="ko-KR" sz="2800" dirty="0" smtClean="0">
                <a:latin typeface="Tahoma" pitchFamily="34" charset="0"/>
                <a:ea typeface="Tahoma" pitchFamily="34" charset="0"/>
                <a:cs typeface="Tahoma" pitchFamily="34" charset="0"/>
              </a:rPr>
              <a:t>(GEAP)</a:t>
            </a:r>
            <a:endParaRPr lang="ko-KR" altLang="en-US" sz="2800" dirty="0">
              <a:latin typeface="Tahoma" pitchFamily="34" charset="0"/>
              <a:cs typeface="Tahoma" pitchFamily="34" charset="0"/>
            </a:endParaRPr>
          </a:p>
        </p:txBody>
      </p:sp>
      <p:pic>
        <p:nvPicPr>
          <p:cNvPr id="6" name="내용 개체 틀 5"/>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539552" y="1897078"/>
            <a:ext cx="4059257" cy="3620154"/>
          </a:xfrm>
        </p:spPr>
      </p:pic>
      <p:pic>
        <p:nvPicPr>
          <p:cNvPr id="7" name="내용 개체 틀 6"/>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4716016" y="1410437"/>
            <a:ext cx="3936473" cy="4466835"/>
          </a:xfrm>
        </p:spPr>
      </p:pic>
      <p:sp>
        <p:nvSpPr>
          <p:cNvPr id="8" name="슬라이드 번호 개체 틀 7"/>
          <p:cNvSpPr>
            <a:spLocks noGrp="1"/>
          </p:cNvSpPr>
          <p:nvPr>
            <p:ph type="sldNum" sz="quarter" idx="12"/>
          </p:nvPr>
        </p:nvSpPr>
        <p:spPr/>
        <p:txBody>
          <a:bodyPr/>
          <a:lstStyle/>
          <a:p>
            <a:fld id="{8F563537-3992-4579-A065-26E1D23BF530}" type="slidenum">
              <a:rPr lang="ko-KR" altLang="en-US" smtClean="0"/>
              <a:pPr/>
              <a:t>15</a:t>
            </a:fld>
            <a:endParaRPr lang="ko-KR" altLang="en-US"/>
          </a:p>
        </p:txBody>
      </p:sp>
    </p:spTree>
    <p:extLst>
      <p:ext uri="{BB962C8B-B14F-4D97-AF65-F5344CB8AC3E}">
        <p14:creationId xmlns:p14="http://schemas.microsoft.com/office/powerpoint/2010/main" val="6553941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67544" y="332656"/>
            <a:ext cx="8229600" cy="1143000"/>
          </a:xfrm>
        </p:spPr>
        <p:txBody>
          <a:bodyPr>
            <a:normAutofit fontScale="90000"/>
          </a:bodyPr>
          <a:lstStyle/>
          <a:p>
            <a:r>
              <a:rPr lang="en-US" altLang="ko-KR" sz="3600" dirty="0" smtClean="0">
                <a:latin typeface="Tahoma" pitchFamily="34" charset="0"/>
                <a:ea typeface="Tahoma" pitchFamily="34" charset="0"/>
                <a:cs typeface="Tahoma" pitchFamily="34" charset="0"/>
              </a:rPr>
              <a:t>Collaboration and Integration </a:t>
            </a:r>
            <a:br>
              <a:rPr lang="en-US" altLang="ko-KR" sz="3600" dirty="0" smtClean="0">
                <a:latin typeface="Tahoma" pitchFamily="34" charset="0"/>
                <a:ea typeface="Tahoma" pitchFamily="34" charset="0"/>
                <a:cs typeface="Tahoma" pitchFamily="34" charset="0"/>
              </a:rPr>
            </a:br>
            <a:r>
              <a:rPr lang="en-US" altLang="ko-KR" sz="3600" dirty="0" smtClean="0">
                <a:latin typeface="Tahoma" pitchFamily="34" charset="0"/>
                <a:ea typeface="Tahoma" pitchFamily="34" charset="0"/>
                <a:cs typeface="Tahoma" pitchFamily="34" charset="0"/>
              </a:rPr>
              <a:t>of Government services via GEA</a:t>
            </a:r>
            <a:endParaRPr lang="ko-KR" altLang="en-US" sz="3600" dirty="0">
              <a:latin typeface="Tahoma" pitchFamily="34" charset="0"/>
              <a:cs typeface="Tahoma" pitchFamily="34" charset="0"/>
            </a:endParaRPr>
          </a:p>
        </p:txBody>
      </p:sp>
      <p:pic>
        <p:nvPicPr>
          <p:cNvPr id="5" name="내용 개체 틀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9552" y="1697510"/>
            <a:ext cx="8183247" cy="4185324"/>
          </a:xfrm>
        </p:spPr>
      </p:pic>
      <p:sp>
        <p:nvSpPr>
          <p:cNvPr id="6" name="슬라이드 번호 개체 틀 5"/>
          <p:cNvSpPr>
            <a:spLocks noGrp="1"/>
          </p:cNvSpPr>
          <p:nvPr>
            <p:ph type="sldNum" sz="quarter" idx="12"/>
          </p:nvPr>
        </p:nvSpPr>
        <p:spPr/>
        <p:txBody>
          <a:bodyPr/>
          <a:lstStyle/>
          <a:p>
            <a:fld id="{8F563537-3992-4579-A065-26E1D23BF530}" type="slidenum">
              <a:rPr lang="ko-KR" altLang="en-US" smtClean="0"/>
              <a:pPr/>
              <a:t>16</a:t>
            </a:fld>
            <a:endParaRPr lang="ko-KR" altLang="en-US"/>
          </a:p>
        </p:txBody>
      </p:sp>
    </p:spTree>
    <p:extLst>
      <p:ext uri="{BB962C8B-B14F-4D97-AF65-F5344CB8AC3E}">
        <p14:creationId xmlns:p14="http://schemas.microsoft.com/office/powerpoint/2010/main" val="29103051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모서리가 둥근 직사각형 285"/>
          <p:cNvSpPr/>
          <p:nvPr/>
        </p:nvSpPr>
        <p:spPr>
          <a:xfrm>
            <a:off x="323528" y="4128560"/>
            <a:ext cx="8496944" cy="2304256"/>
          </a:xfrm>
          <a:prstGeom prst="roundRect">
            <a:avLst>
              <a:gd name="adj" fmla="val 9524"/>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r"/>
            <a:endParaRPr lang="ko-KR" altLang="en-US" dirty="0">
              <a:latin typeface="Arial" pitchFamily="34" charset="0"/>
              <a:cs typeface="Arial" pitchFamily="34" charset="0"/>
            </a:endParaRPr>
          </a:p>
        </p:txBody>
      </p:sp>
      <p:sp>
        <p:nvSpPr>
          <p:cNvPr id="393" name="모서리가 둥근 직사각형 392"/>
          <p:cNvSpPr/>
          <p:nvPr/>
        </p:nvSpPr>
        <p:spPr>
          <a:xfrm>
            <a:off x="412400"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4" name="모서리가 둥근 직사각형 393"/>
          <p:cNvSpPr/>
          <p:nvPr/>
        </p:nvSpPr>
        <p:spPr>
          <a:xfrm>
            <a:off x="3204547"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5" name="모서리가 둥근 직사각형 394"/>
          <p:cNvSpPr/>
          <p:nvPr/>
        </p:nvSpPr>
        <p:spPr>
          <a:xfrm>
            <a:off x="5996693"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nvGrpSpPr>
          <p:cNvPr id="396" name="그룹 6"/>
          <p:cNvGrpSpPr/>
          <p:nvPr/>
        </p:nvGrpSpPr>
        <p:grpSpPr>
          <a:xfrm>
            <a:off x="323528" y="2608771"/>
            <a:ext cx="8496944" cy="1187459"/>
            <a:chOff x="755576" y="2413267"/>
            <a:chExt cx="7632848" cy="1187459"/>
          </a:xfrm>
        </p:grpSpPr>
        <p:sp>
          <p:nvSpPr>
            <p:cNvPr id="397" name="모서리가 둥근 직사각형 396"/>
            <p:cNvSpPr/>
            <p:nvPr/>
          </p:nvSpPr>
          <p:spPr>
            <a:xfrm>
              <a:off x="755576" y="2413267"/>
              <a:ext cx="7632848" cy="1187459"/>
            </a:xfrm>
            <a:prstGeom prst="roundRect">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398" name="모서리가 둥근 직사각형 397"/>
            <p:cNvSpPr/>
            <p:nvPr/>
          </p:nvSpPr>
          <p:spPr>
            <a:xfrm>
              <a:off x="83541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9" name="모서리가 둥근 직사각형 398"/>
            <p:cNvSpPr/>
            <p:nvPr/>
          </p:nvSpPr>
          <p:spPr>
            <a:xfrm>
              <a:off x="2339695"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0" name="모서리가 둥근 직사각형 399"/>
            <p:cNvSpPr/>
            <p:nvPr/>
          </p:nvSpPr>
          <p:spPr>
            <a:xfrm>
              <a:off x="384398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1" name="모서리가 둥근 직사각형 400"/>
            <p:cNvSpPr/>
            <p:nvPr/>
          </p:nvSpPr>
          <p:spPr>
            <a:xfrm>
              <a:off x="5348265"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2" name="모서리가 둥근 직사각형 401"/>
            <p:cNvSpPr/>
            <p:nvPr/>
          </p:nvSpPr>
          <p:spPr>
            <a:xfrm>
              <a:off x="685255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grpSp>
        <p:nvGrpSpPr>
          <p:cNvPr id="403" name="그룹 402"/>
          <p:cNvGrpSpPr/>
          <p:nvPr/>
        </p:nvGrpSpPr>
        <p:grpSpPr>
          <a:xfrm>
            <a:off x="323528" y="1052736"/>
            <a:ext cx="8496944" cy="1203343"/>
            <a:chOff x="755576" y="1124957"/>
            <a:chExt cx="7632848" cy="935618"/>
          </a:xfrm>
        </p:grpSpPr>
        <p:sp>
          <p:nvSpPr>
            <p:cNvPr id="404" name="모서리가 둥근 직사각형 403"/>
            <p:cNvSpPr/>
            <p:nvPr/>
          </p:nvSpPr>
          <p:spPr>
            <a:xfrm>
              <a:off x="755576" y="1124957"/>
              <a:ext cx="7632848" cy="935618"/>
            </a:xfrm>
            <a:prstGeom prst="roundRect">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5" name="모서리가 둥근 직사각형 404"/>
            <p:cNvSpPr/>
            <p:nvPr/>
          </p:nvSpPr>
          <p:spPr>
            <a:xfrm>
              <a:off x="802874" y="1402678"/>
              <a:ext cx="7538252" cy="610693"/>
            </a:xfrm>
            <a:prstGeom prst="roundRect">
              <a:avLst>
                <a:gd name="adj" fmla="val 30475"/>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sp>
        <p:nvSpPr>
          <p:cNvPr id="406" name="L 도형 7"/>
          <p:cNvSpPr/>
          <p:nvPr/>
        </p:nvSpPr>
        <p:spPr>
          <a:xfrm rot="8100000">
            <a:off x="4359362" y="2386877"/>
            <a:ext cx="425276" cy="425277"/>
          </a:xfrm>
          <a:custGeom>
            <a:avLst/>
            <a:gdLst>
              <a:gd name="connsiteX0" fmla="*/ 0 w 1152128"/>
              <a:gd name="connsiteY0" fmla="*/ 0 h 1152128"/>
              <a:gd name="connsiteX1" fmla="*/ 576064 w 1152128"/>
              <a:gd name="connsiteY1" fmla="*/ 0 h 1152128"/>
              <a:gd name="connsiteX2" fmla="*/ 576064 w 1152128"/>
              <a:gd name="connsiteY2" fmla="*/ 576064 h 1152128"/>
              <a:gd name="connsiteX3" fmla="*/ 1152128 w 1152128"/>
              <a:gd name="connsiteY3" fmla="*/ 576064 h 1152128"/>
              <a:gd name="connsiteX4" fmla="*/ 1152128 w 1152128"/>
              <a:gd name="connsiteY4" fmla="*/ 1152128 h 1152128"/>
              <a:gd name="connsiteX5" fmla="*/ 0 w 1152128"/>
              <a:gd name="connsiteY5" fmla="*/ 1152128 h 1152128"/>
              <a:gd name="connsiteX6" fmla="*/ 0 w 1152128"/>
              <a:gd name="connsiteY6" fmla="*/ 0 h 1152128"/>
              <a:gd name="connsiteX0" fmla="*/ 0 w 1152128"/>
              <a:gd name="connsiteY0" fmla="*/ 0 h 1152128"/>
              <a:gd name="connsiteX1" fmla="*/ 576064 w 1152128"/>
              <a:gd name="connsiteY1" fmla="*/ 576064 h 1152128"/>
              <a:gd name="connsiteX2" fmla="*/ 1152128 w 1152128"/>
              <a:gd name="connsiteY2" fmla="*/ 576064 h 1152128"/>
              <a:gd name="connsiteX3" fmla="*/ 1152128 w 1152128"/>
              <a:gd name="connsiteY3" fmla="*/ 1152128 h 1152128"/>
              <a:gd name="connsiteX4" fmla="*/ 0 w 1152128"/>
              <a:gd name="connsiteY4" fmla="*/ 1152128 h 1152128"/>
              <a:gd name="connsiteX5" fmla="*/ 0 w 1152128"/>
              <a:gd name="connsiteY5" fmla="*/ 0 h 1152128"/>
              <a:gd name="connsiteX0" fmla="*/ 0 w 1152128"/>
              <a:gd name="connsiteY0" fmla="*/ 0 h 1152128"/>
              <a:gd name="connsiteX1" fmla="*/ 576064 w 1152128"/>
              <a:gd name="connsiteY1" fmla="*/ 576064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26032 w 1152128"/>
              <a:gd name="connsiteY1" fmla="*/ 807046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37819 w 1152128"/>
              <a:gd name="connsiteY1" fmla="*/ 822200 h 1152128"/>
              <a:gd name="connsiteX2" fmla="*/ 1152128 w 1152128"/>
              <a:gd name="connsiteY2" fmla="*/ 1152128 h 1152128"/>
              <a:gd name="connsiteX3" fmla="*/ 0 w 1152128"/>
              <a:gd name="connsiteY3" fmla="*/ 1152128 h 1152128"/>
              <a:gd name="connsiteX4" fmla="*/ 0 w 1152128"/>
              <a:gd name="connsiteY4" fmla="*/ 0 h 1152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128" h="1152128">
                <a:moveTo>
                  <a:pt x="0" y="0"/>
                </a:moveTo>
                <a:lnTo>
                  <a:pt x="337819" y="822200"/>
                </a:lnTo>
                <a:lnTo>
                  <a:pt x="1152128" y="1152128"/>
                </a:lnTo>
                <a:lnTo>
                  <a:pt x="0" y="1152128"/>
                </a:lnTo>
                <a:lnTo>
                  <a:pt x="0" y="0"/>
                </a:ln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7" name="L 도형 7"/>
          <p:cNvSpPr/>
          <p:nvPr/>
        </p:nvSpPr>
        <p:spPr>
          <a:xfrm rot="8100000">
            <a:off x="4359362" y="3903237"/>
            <a:ext cx="425276" cy="425277"/>
          </a:xfrm>
          <a:custGeom>
            <a:avLst/>
            <a:gdLst>
              <a:gd name="connsiteX0" fmla="*/ 0 w 1152128"/>
              <a:gd name="connsiteY0" fmla="*/ 0 h 1152128"/>
              <a:gd name="connsiteX1" fmla="*/ 576064 w 1152128"/>
              <a:gd name="connsiteY1" fmla="*/ 0 h 1152128"/>
              <a:gd name="connsiteX2" fmla="*/ 576064 w 1152128"/>
              <a:gd name="connsiteY2" fmla="*/ 576064 h 1152128"/>
              <a:gd name="connsiteX3" fmla="*/ 1152128 w 1152128"/>
              <a:gd name="connsiteY3" fmla="*/ 576064 h 1152128"/>
              <a:gd name="connsiteX4" fmla="*/ 1152128 w 1152128"/>
              <a:gd name="connsiteY4" fmla="*/ 1152128 h 1152128"/>
              <a:gd name="connsiteX5" fmla="*/ 0 w 1152128"/>
              <a:gd name="connsiteY5" fmla="*/ 1152128 h 1152128"/>
              <a:gd name="connsiteX6" fmla="*/ 0 w 1152128"/>
              <a:gd name="connsiteY6" fmla="*/ 0 h 1152128"/>
              <a:gd name="connsiteX0" fmla="*/ 0 w 1152128"/>
              <a:gd name="connsiteY0" fmla="*/ 0 h 1152128"/>
              <a:gd name="connsiteX1" fmla="*/ 576064 w 1152128"/>
              <a:gd name="connsiteY1" fmla="*/ 576064 h 1152128"/>
              <a:gd name="connsiteX2" fmla="*/ 1152128 w 1152128"/>
              <a:gd name="connsiteY2" fmla="*/ 576064 h 1152128"/>
              <a:gd name="connsiteX3" fmla="*/ 1152128 w 1152128"/>
              <a:gd name="connsiteY3" fmla="*/ 1152128 h 1152128"/>
              <a:gd name="connsiteX4" fmla="*/ 0 w 1152128"/>
              <a:gd name="connsiteY4" fmla="*/ 1152128 h 1152128"/>
              <a:gd name="connsiteX5" fmla="*/ 0 w 1152128"/>
              <a:gd name="connsiteY5" fmla="*/ 0 h 1152128"/>
              <a:gd name="connsiteX0" fmla="*/ 0 w 1152128"/>
              <a:gd name="connsiteY0" fmla="*/ 0 h 1152128"/>
              <a:gd name="connsiteX1" fmla="*/ 576064 w 1152128"/>
              <a:gd name="connsiteY1" fmla="*/ 576064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26032 w 1152128"/>
              <a:gd name="connsiteY1" fmla="*/ 807046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37819 w 1152128"/>
              <a:gd name="connsiteY1" fmla="*/ 822200 h 1152128"/>
              <a:gd name="connsiteX2" fmla="*/ 1152128 w 1152128"/>
              <a:gd name="connsiteY2" fmla="*/ 1152128 h 1152128"/>
              <a:gd name="connsiteX3" fmla="*/ 0 w 1152128"/>
              <a:gd name="connsiteY3" fmla="*/ 1152128 h 1152128"/>
              <a:gd name="connsiteX4" fmla="*/ 0 w 1152128"/>
              <a:gd name="connsiteY4" fmla="*/ 0 h 1152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128" h="1152128">
                <a:moveTo>
                  <a:pt x="0" y="0"/>
                </a:moveTo>
                <a:lnTo>
                  <a:pt x="337819" y="822200"/>
                </a:lnTo>
                <a:lnTo>
                  <a:pt x="1152128" y="1152128"/>
                </a:lnTo>
                <a:lnTo>
                  <a:pt x="0" y="1152128"/>
                </a:lnTo>
                <a:lnTo>
                  <a:pt x="0" y="0"/>
                </a:ln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8" name="TextBox 407"/>
          <p:cNvSpPr txBox="1"/>
          <p:nvPr/>
        </p:nvSpPr>
        <p:spPr>
          <a:xfrm>
            <a:off x="4082924" y="1052736"/>
            <a:ext cx="949491"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Vision</a:t>
            </a:r>
            <a:endParaRPr lang="ko-KR" altLang="en-US" sz="20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9" name="TextBox 408"/>
          <p:cNvSpPr txBox="1"/>
          <p:nvPr/>
        </p:nvSpPr>
        <p:spPr>
          <a:xfrm>
            <a:off x="3912653" y="2608953"/>
            <a:ext cx="1479892"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Objectives</a:t>
            </a:r>
            <a:endParaRPr lang="ko-KR" altLang="en-US" sz="20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10" name="TextBox 409"/>
          <p:cNvSpPr txBox="1"/>
          <p:nvPr/>
        </p:nvSpPr>
        <p:spPr>
          <a:xfrm>
            <a:off x="3937563" y="4128560"/>
            <a:ext cx="1295547"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Direction</a:t>
            </a:r>
            <a:endParaRPr lang="ko-KR" altLang="en-US" sz="20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11" name="직사각형 410"/>
          <p:cNvSpPr/>
          <p:nvPr/>
        </p:nvSpPr>
        <p:spPr>
          <a:xfrm>
            <a:off x="1157264" y="1476458"/>
            <a:ext cx="6815962" cy="707886"/>
          </a:xfrm>
          <a:prstGeom prst="rect">
            <a:avLst/>
          </a:prstGeom>
        </p:spPr>
        <p:txBody>
          <a:bodyPr wrap="square">
            <a:spAutoFit/>
          </a:bodyPr>
          <a:lstStyle/>
          <a:p>
            <a:pPr algn="ctr"/>
            <a:r>
              <a:rPr lang="en-US" altLang="ko-KR" sz="2000" b="1" dirty="0" smtClean="0">
                <a:latin typeface="Arial" pitchFamily="34" charset="0"/>
                <a:cs typeface="Arial" pitchFamily="34" charset="0"/>
              </a:rPr>
              <a:t>Improve </a:t>
            </a:r>
            <a:r>
              <a:rPr lang="en-US" altLang="ko-KR" sz="2000" b="1" dirty="0" smtClean="0">
                <a:solidFill>
                  <a:srgbClr val="002060"/>
                </a:solidFill>
                <a:latin typeface="Arial" pitchFamily="34" charset="0"/>
                <a:cs typeface="Arial" pitchFamily="34" charset="0"/>
              </a:rPr>
              <a:t>quality of e-Government services </a:t>
            </a:r>
          </a:p>
          <a:p>
            <a:pPr algn="ctr"/>
            <a:r>
              <a:rPr lang="en-US" altLang="ko-KR" sz="2000" b="1" dirty="0" smtClean="0">
                <a:solidFill>
                  <a:srgbClr val="002060"/>
                </a:solidFill>
                <a:latin typeface="Arial" pitchFamily="34" charset="0"/>
                <a:cs typeface="Arial" pitchFamily="34" charset="0"/>
              </a:rPr>
              <a:t> and efficiency of ICT investment</a:t>
            </a:r>
            <a:endParaRPr lang="en-US" altLang="ko-KR" sz="2000" b="1" dirty="0">
              <a:solidFill>
                <a:srgbClr val="002060"/>
              </a:solidFill>
              <a:latin typeface="Arial" pitchFamily="34" charset="0"/>
              <a:cs typeface="Arial" pitchFamily="34" charset="0"/>
            </a:endParaRPr>
          </a:p>
        </p:txBody>
      </p:sp>
      <p:sp>
        <p:nvSpPr>
          <p:cNvPr id="412" name="직사각형 411"/>
          <p:cNvSpPr/>
          <p:nvPr/>
        </p:nvSpPr>
        <p:spPr>
          <a:xfrm>
            <a:off x="7021179" y="3061176"/>
            <a:ext cx="1871302" cy="584775"/>
          </a:xfrm>
          <a:prstGeom prst="rect">
            <a:avLst/>
          </a:prstGeom>
        </p:spPr>
        <p:txBody>
          <a:bodyPr wrap="square">
            <a:spAutoFit/>
          </a:bodyPr>
          <a:lstStyle/>
          <a:p>
            <a:pPr lvl="0" algn="ctr"/>
            <a:r>
              <a:rPr lang="en-US" altLang="ko-KR" sz="1600" b="1" dirty="0" smtClean="0">
                <a:solidFill>
                  <a:srgbClr val="336600"/>
                </a:solidFill>
                <a:latin typeface="Arial" pitchFamily="34" charset="0"/>
                <a:cs typeface="Arial" pitchFamily="34" charset="0"/>
              </a:rPr>
              <a:t>Enhance SMEs </a:t>
            </a:r>
            <a:r>
              <a:rPr lang="en-US" altLang="ko-KR" sz="1600" b="1" dirty="0">
                <a:solidFill>
                  <a:srgbClr val="336600"/>
                </a:solidFill>
                <a:latin typeface="Arial" pitchFamily="34" charset="0"/>
                <a:cs typeface="Arial" pitchFamily="34" charset="0"/>
              </a:rPr>
              <a:t>competitiveness</a:t>
            </a:r>
          </a:p>
        </p:txBody>
      </p:sp>
      <p:sp>
        <p:nvSpPr>
          <p:cNvPr id="413" name="직사각형 412"/>
          <p:cNvSpPr/>
          <p:nvPr/>
        </p:nvSpPr>
        <p:spPr>
          <a:xfrm>
            <a:off x="5383542" y="3061176"/>
            <a:ext cx="1762298" cy="584775"/>
          </a:xfrm>
          <a:prstGeom prst="rect">
            <a:avLst/>
          </a:prstGeom>
        </p:spPr>
        <p:txBody>
          <a:bodyPr wrap="square">
            <a:spAutoFit/>
          </a:bodyPr>
          <a:lstStyle/>
          <a:p>
            <a:pPr lvl="0" algn="ctr"/>
            <a:r>
              <a:rPr lang="en-US" altLang="ko-KR" sz="1600" b="1" dirty="0" smtClean="0">
                <a:solidFill>
                  <a:srgbClr val="336600"/>
                </a:solidFill>
                <a:latin typeface="Arial" pitchFamily="34" charset="0"/>
                <a:cs typeface="Arial" pitchFamily="34" charset="0"/>
              </a:rPr>
              <a:t>Remove vendor dependency</a:t>
            </a:r>
            <a:endParaRPr lang="en-US" altLang="ko-KR" sz="1600" b="1" dirty="0">
              <a:solidFill>
                <a:srgbClr val="336600"/>
              </a:solidFill>
              <a:latin typeface="Arial" pitchFamily="34" charset="0"/>
              <a:cs typeface="Arial" pitchFamily="34" charset="0"/>
            </a:endParaRPr>
          </a:p>
        </p:txBody>
      </p:sp>
      <p:sp>
        <p:nvSpPr>
          <p:cNvPr id="414" name="직사각형 413"/>
          <p:cNvSpPr/>
          <p:nvPr/>
        </p:nvSpPr>
        <p:spPr>
          <a:xfrm>
            <a:off x="3818623" y="3061176"/>
            <a:ext cx="1497316" cy="584775"/>
          </a:xfrm>
          <a:prstGeom prst="rect">
            <a:avLst/>
          </a:prstGeom>
        </p:spPr>
        <p:txBody>
          <a:bodyPr wrap="square">
            <a:spAutoFit/>
          </a:bodyPr>
          <a:lstStyle/>
          <a:p>
            <a:pPr lvl="0" algn="ctr"/>
            <a:r>
              <a:rPr lang="en-US" altLang="ko-KR" sz="1600" b="1" dirty="0" smtClean="0">
                <a:solidFill>
                  <a:srgbClr val="336600"/>
                </a:solidFill>
                <a:latin typeface="Arial" pitchFamily="34" charset="0"/>
                <a:cs typeface="Arial" pitchFamily="34" charset="0"/>
              </a:rPr>
              <a:t>Up-to-date </a:t>
            </a:r>
            <a:endParaRPr lang="en-US" altLang="ko-KR" sz="1600" b="1" dirty="0">
              <a:solidFill>
                <a:srgbClr val="336600"/>
              </a:solidFill>
              <a:latin typeface="Arial" pitchFamily="34" charset="0"/>
              <a:cs typeface="Arial" pitchFamily="34" charset="0"/>
            </a:endParaRPr>
          </a:p>
          <a:p>
            <a:pPr lvl="0" algn="ctr"/>
            <a:r>
              <a:rPr lang="en-US" altLang="ko-KR" sz="1600" b="1" dirty="0">
                <a:solidFill>
                  <a:srgbClr val="336600"/>
                </a:solidFill>
                <a:latin typeface="Arial" pitchFamily="34" charset="0"/>
                <a:cs typeface="Arial" pitchFamily="34" charset="0"/>
              </a:rPr>
              <a:t>ICT </a:t>
            </a:r>
            <a:r>
              <a:rPr lang="en-US" altLang="ko-KR" sz="1600" b="1" dirty="0" smtClean="0">
                <a:solidFill>
                  <a:srgbClr val="336600"/>
                </a:solidFill>
                <a:latin typeface="Arial" pitchFamily="34" charset="0"/>
                <a:cs typeface="Arial" pitchFamily="34" charset="0"/>
              </a:rPr>
              <a:t>trends</a:t>
            </a:r>
            <a:endParaRPr lang="en-US" altLang="ko-KR" sz="1600" b="1" dirty="0">
              <a:solidFill>
                <a:srgbClr val="336600"/>
              </a:solidFill>
              <a:latin typeface="Arial" pitchFamily="34" charset="0"/>
              <a:cs typeface="Arial" pitchFamily="34" charset="0"/>
            </a:endParaRPr>
          </a:p>
        </p:txBody>
      </p:sp>
      <p:sp>
        <p:nvSpPr>
          <p:cNvPr id="415" name="직사각형 414"/>
          <p:cNvSpPr/>
          <p:nvPr/>
        </p:nvSpPr>
        <p:spPr>
          <a:xfrm>
            <a:off x="2021868" y="3061176"/>
            <a:ext cx="1692070" cy="584775"/>
          </a:xfrm>
          <a:prstGeom prst="rect">
            <a:avLst/>
          </a:prstGeom>
        </p:spPr>
        <p:txBody>
          <a:bodyPr wrap="square">
            <a:spAutoFit/>
          </a:bodyPr>
          <a:lstStyle/>
          <a:p>
            <a:pPr lvl="0" algn="ctr"/>
            <a:r>
              <a:rPr lang="en-US" altLang="ko-KR" sz="1600" b="1" dirty="0" smtClean="0">
                <a:solidFill>
                  <a:srgbClr val="336600"/>
                </a:solidFill>
                <a:latin typeface="Arial" pitchFamily="34" charset="0"/>
                <a:cs typeface="Arial" pitchFamily="34" charset="0"/>
              </a:rPr>
              <a:t>Improve </a:t>
            </a:r>
            <a:endParaRPr lang="en-US" altLang="ko-KR" sz="1600" b="1" dirty="0">
              <a:solidFill>
                <a:srgbClr val="336600"/>
              </a:solidFill>
              <a:latin typeface="Arial" pitchFamily="34" charset="0"/>
              <a:cs typeface="Arial" pitchFamily="34" charset="0"/>
            </a:endParaRPr>
          </a:p>
          <a:p>
            <a:pPr lvl="0" algn="ctr"/>
            <a:r>
              <a:rPr lang="en-US" altLang="ko-KR" sz="1600" b="1" dirty="0">
                <a:solidFill>
                  <a:srgbClr val="336600"/>
                </a:solidFill>
                <a:latin typeface="Arial" pitchFamily="34" charset="0"/>
                <a:cs typeface="Arial" pitchFamily="34" charset="0"/>
              </a:rPr>
              <a:t>Interoperability</a:t>
            </a:r>
            <a:endParaRPr lang="ko-KR" altLang="en-US" sz="1600" b="1" dirty="0">
              <a:solidFill>
                <a:srgbClr val="336600"/>
              </a:solidFill>
              <a:latin typeface="Arial" pitchFamily="34" charset="0"/>
              <a:cs typeface="Arial" pitchFamily="34" charset="0"/>
            </a:endParaRPr>
          </a:p>
        </p:txBody>
      </p:sp>
      <p:sp>
        <p:nvSpPr>
          <p:cNvPr id="416" name="직사각형 415"/>
          <p:cNvSpPr/>
          <p:nvPr/>
        </p:nvSpPr>
        <p:spPr>
          <a:xfrm>
            <a:off x="286158" y="3053000"/>
            <a:ext cx="1909578" cy="584775"/>
          </a:xfrm>
          <a:prstGeom prst="rect">
            <a:avLst/>
          </a:prstGeom>
        </p:spPr>
        <p:txBody>
          <a:bodyPr wrap="square">
            <a:spAutoFit/>
          </a:bodyPr>
          <a:lstStyle/>
          <a:p>
            <a:pPr algn="ctr"/>
            <a:r>
              <a:rPr lang="en-US" altLang="ko-KR" sz="1600" b="1" dirty="0" smtClean="0">
                <a:solidFill>
                  <a:srgbClr val="336600"/>
                </a:solidFill>
                <a:latin typeface="Arial" pitchFamily="34" charset="0"/>
                <a:cs typeface="Arial" pitchFamily="34" charset="0"/>
              </a:rPr>
              <a:t>Reuse common functionalities </a:t>
            </a:r>
            <a:endParaRPr lang="ko-KR" altLang="en-US" sz="1600" b="1" dirty="0">
              <a:solidFill>
                <a:srgbClr val="336600"/>
              </a:solidFill>
              <a:latin typeface="Arial" pitchFamily="34" charset="0"/>
              <a:cs typeface="Arial" pitchFamily="34" charset="0"/>
            </a:endParaRPr>
          </a:p>
        </p:txBody>
      </p:sp>
      <p:sp>
        <p:nvSpPr>
          <p:cNvPr id="417" name="직사각형 416"/>
          <p:cNvSpPr/>
          <p:nvPr/>
        </p:nvSpPr>
        <p:spPr>
          <a:xfrm>
            <a:off x="324252" y="4481760"/>
            <a:ext cx="3023612" cy="2092881"/>
          </a:xfrm>
          <a:prstGeom prst="rect">
            <a:avLst/>
          </a:prstGeom>
        </p:spPr>
        <p:txBody>
          <a:bodyPr wrap="square">
            <a:spAutoFit/>
          </a:bodyPr>
          <a:lstStyle/>
          <a:p>
            <a:pPr algn="ctr">
              <a:spcAft>
                <a:spcPts val="1200"/>
              </a:spcAft>
            </a:pPr>
            <a:r>
              <a:rPr lang="en-US" altLang="ko-KR" sz="2000" b="1" dirty="0" smtClean="0">
                <a:solidFill>
                  <a:srgbClr val="FFC000"/>
                </a:solidFill>
                <a:latin typeface="Arial" pitchFamily="34" charset="0"/>
                <a:cs typeface="Arial" pitchFamily="34" charset="0"/>
              </a:rPr>
              <a:t>Standardization</a:t>
            </a:r>
          </a:p>
          <a:p>
            <a:pPr marL="180000" indent="-171450">
              <a:spcAft>
                <a:spcPts val="1200"/>
              </a:spcAft>
              <a:buFont typeface="Arial" pitchFamily="34" charset="0"/>
              <a:buChar char="•"/>
            </a:pPr>
            <a:r>
              <a:rPr lang="en-US" altLang="ko-KR" sz="1600" b="1" dirty="0" smtClean="0">
                <a:solidFill>
                  <a:schemeClr val="bg1"/>
                </a:solidFill>
                <a:latin typeface="Arial" pitchFamily="34" charset="0"/>
                <a:cs typeface="Arial" pitchFamily="34" charset="0"/>
              </a:rPr>
              <a:t>Establish SW framework standard for e-Government</a:t>
            </a:r>
          </a:p>
          <a:p>
            <a:pPr marL="180000" indent="-171450">
              <a:spcAft>
                <a:spcPts val="1200"/>
              </a:spcAft>
              <a:buFont typeface="Arial" pitchFamily="34" charset="0"/>
              <a:buChar char="•"/>
            </a:pPr>
            <a:r>
              <a:rPr lang="en-US" altLang="ko-KR" sz="1600" b="1" dirty="0" smtClean="0">
                <a:solidFill>
                  <a:schemeClr val="bg1"/>
                </a:solidFill>
                <a:latin typeface="Arial" pitchFamily="34" charset="0"/>
                <a:cs typeface="Arial" pitchFamily="34" charset="0"/>
              </a:rPr>
              <a:t>Provide </a:t>
            </a:r>
            <a:r>
              <a:rPr lang="en-US" altLang="ko-KR" sz="1600" b="1" dirty="0">
                <a:solidFill>
                  <a:schemeClr val="bg1"/>
                </a:solidFill>
                <a:latin typeface="Arial" pitchFamily="34" charset="0"/>
                <a:cs typeface="Arial" pitchFamily="34" charset="0"/>
              </a:rPr>
              <a:t>stable </a:t>
            </a:r>
            <a:r>
              <a:rPr lang="en-US" altLang="ko-KR" sz="1600" b="1" dirty="0" smtClean="0">
                <a:solidFill>
                  <a:schemeClr val="bg1"/>
                </a:solidFill>
                <a:latin typeface="Arial" pitchFamily="34" charset="0"/>
                <a:cs typeface="Arial" pitchFamily="34" charset="0"/>
              </a:rPr>
              <a:t>technical infrastructure</a:t>
            </a:r>
            <a:endParaRPr lang="en-US" altLang="ko-KR" sz="1600" b="1" dirty="0">
              <a:solidFill>
                <a:schemeClr val="bg1"/>
              </a:solidFill>
              <a:latin typeface="Arial" pitchFamily="34" charset="0"/>
              <a:cs typeface="Arial" pitchFamily="34" charset="0"/>
            </a:endParaRPr>
          </a:p>
          <a:p>
            <a:pPr marL="180000" algn="ctr">
              <a:spcAft>
                <a:spcPts val="1200"/>
              </a:spcAft>
            </a:pPr>
            <a:r>
              <a:rPr lang="en-US" altLang="ko-KR" sz="1600" b="1" dirty="0" smtClean="0">
                <a:solidFill>
                  <a:schemeClr val="bg1"/>
                </a:solidFill>
                <a:latin typeface="Arial" pitchFamily="34" charset="0"/>
                <a:cs typeface="Arial" pitchFamily="34" charset="0"/>
              </a:rPr>
              <a:t> </a:t>
            </a:r>
            <a:endParaRPr lang="en-US" altLang="ko-KR" sz="1600" b="1" dirty="0">
              <a:solidFill>
                <a:schemeClr val="bg1"/>
              </a:solidFill>
              <a:latin typeface="Arial" pitchFamily="34" charset="0"/>
              <a:cs typeface="Arial" pitchFamily="34" charset="0"/>
            </a:endParaRPr>
          </a:p>
        </p:txBody>
      </p:sp>
      <p:sp>
        <p:nvSpPr>
          <p:cNvPr id="418" name="직사각형 417"/>
          <p:cNvSpPr/>
          <p:nvPr/>
        </p:nvSpPr>
        <p:spPr>
          <a:xfrm>
            <a:off x="3131840" y="4481760"/>
            <a:ext cx="2889717" cy="1692771"/>
          </a:xfrm>
          <a:prstGeom prst="rect">
            <a:avLst/>
          </a:prstGeom>
        </p:spPr>
        <p:txBody>
          <a:bodyPr wrap="square">
            <a:spAutoFit/>
          </a:bodyPr>
          <a:lstStyle/>
          <a:p>
            <a:pPr algn="ctr">
              <a:spcAft>
                <a:spcPts val="1200"/>
              </a:spcAft>
            </a:pPr>
            <a:r>
              <a:rPr lang="en-US" altLang="ko-KR" sz="2000" b="1" dirty="0" smtClean="0">
                <a:solidFill>
                  <a:srgbClr val="FFC000"/>
                </a:solidFill>
                <a:latin typeface="Arial" pitchFamily="34" charset="0"/>
                <a:cs typeface="Arial" pitchFamily="34" charset="0"/>
              </a:rPr>
              <a:t>Openness</a:t>
            </a:r>
          </a:p>
          <a:p>
            <a:pPr marL="180000" indent="-171450">
              <a:spcAft>
                <a:spcPts val="1200"/>
              </a:spcAft>
              <a:buFont typeface="Arial" pitchFamily="34" charset="0"/>
              <a:buChar char="•"/>
            </a:pPr>
            <a:r>
              <a:rPr lang="en-US" altLang="ko-KR" sz="1600" b="1" dirty="0" smtClean="0">
                <a:solidFill>
                  <a:schemeClr val="bg1"/>
                </a:solidFill>
                <a:latin typeface="Arial" pitchFamily="34" charset="0"/>
                <a:cs typeface="Arial" pitchFamily="34" charset="0"/>
              </a:rPr>
              <a:t>Ensure </a:t>
            </a:r>
            <a:r>
              <a:rPr lang="en-US" altLang="ko-KR" sz="1600" b="1" dirty="0">
                <a:solidFill>
                  <a:schemeClr val="bg1"/>
                </a:solidFill>
                <a:latin typeface="Arial" pitchFamily="34" charset="0"/>
                <a:cs typeface="Arial" pitchFamily="34" charset="0"/>
              </a:rPr>
              <a:t>the neutrality of </a:t>
            </a:r>
            <a:r>
              <a:rPr lang="en-US" altLang="ko-KR" sz="1600" b="1" dirty="0" smtClean="0">
                <a:solidFill>
                  <a:schemeClr val="bg1"/>
                </a:solidFill>
                <a:latin typeface="Arial" pitchFamily="34" charset="0"/>
                <a:cs typeface="Arial" pitchFamily="34" charset="0"/>
              </a:rPr>
              <a:t>eGovFrame</a:t>
            </a:r>
          </a:p>
          <a:p>
            <a:pPr marL="180000" indent="-171450">
              <a:spcAft>
                <a:spcPts val="1200"/>
              </a:spcAft>
              <a:buFont typeface="Arial" pitchFamily="34" charset="0"/>
              <a:buChar char="•"/>
            </a:pPr>
            <a:r>
              <a:rPr lang="en-US" altLang="ko-KR" sz="1600" b="1" dirty="0" smtClean="0">
                <a:solidFill>
                  <a:schemeClr val="bg1"/>
                </a:solidFill>
                <a:latin typeface="Arial" pitchFamily="34" charset="0"/>
                <a:cs typeface="Arial" pitchFamily="34" charset="0"/>
              </a:rPr>
              <a:t>Open all the assets </a:t>
            </a:r>
            <a:r>
              <a:rPr lang="en-US" altLang="ko-KR" sz="1600" b="1" dirty="0">
                <a:solidFill>
                  <a:schemeClr val="bg1"/>
                </a:solidFill>
                <a:latin typeface="Arial" pitchFamily="34" charset="0"/>
                <a:cs typeface="Arial" pitchFamily="34" charset="0"/>
              </a:rPr>
              <a:t>to the </a:t>
            </a:r>
            <a:r>
              <a:rPr lang="en-US" altLang="ko-KR" sz="1600" b="1" dirty="0" smtClean="0">
                <a:solidFill>
                  <a:schemeClr val="bg1"/>
                </a:solidFill>
                <a:latin typeface="Arial" pitchFamily="34" charset="0"/>
                <a:cs typeface="Arial" pitchFamily="34" charset="0"/>
              </a:rPr>
              <a:t>public and global</a:t>
            </a:r>
            <a:endParaRPr lang="en-US" altLang="ko-KR" sz="1600" b="1" dirty="0">
              <a:solidFill>
                <a:schemeClr val="bg1"/>
              </a:solidFill>
              <a:latin typeface="Arial" pitchFamily="34" charset="0"/>
              <a:cs typeface="Arial" pitchFamily="34" charset="0"/>
            </a:endParaRPr>
          </a:p>
        </p:txBody>
      </p:sp>
      <p:sp>
        <p:nvSpPr>
          <p:cNvPr id="419" name="직사각형 418"/>
          <p:cNvSpPr/>
          <p:nvPr/>
        </p:nvSpPr>
        <p:spPr>
          <a:xfrm>
            <a:off x="5905302" y="4481760"/>
            <a:ext cx="2915170" cy="1692771"/>
          </a:xfrm>
          <a:prstGeom prst="rect">
            <a:avLst/>
          </a:prstGeom>
        </p:spPr>
        <p:txBody>
          <a:bodyPr wrap="square">
            <a:spAutoFit/>
          </a:bodyPr>
          <a:lstStyle/>
          <a:p>
            <a:pPr algn="ctr">
              <a:spcAft>
                <a:spcPts val="1200"/>
              </a:spcAft>
            </a:pPr>
            <a:r>
              <a:rPr lang="en-US" altLang="ko-KR" sz="2000" b="1" dirty="0" smtClean="0">
                <a:solidFill>
                  <a:srgbClr val="FFC000"/>
                </a:solidFill>
                <a:latin typeface="Arial" pitchFamily="34" charset="0"/>
                <a:cs typeface="Arial" pitchFamily="34" charset="0"/>
              </a:rPr>
              <a:t>Community</a:t>
            </a:r>
          </a:p>
          <a:p>
            <a:pPr marL="180000" indent="-171450">
              <a:spcAft>
                <a:spcPts val="1200"/>
              </a:spcAft>
              <a:buFont typeface="Arial" pitchFamily="34" charset="0"/>
              <a:buChar char="•"/>
            </a:pPr>
            <a:r>
              <a:rPr lang="en-US" altLang="ko-KR" sz="1600" b="1" dirty="0" smtClean="0">
                <a:solidFill>
                  <a:schemeClr val="bg1"/>
                </a:solidFill>
                <a:latin typeface="Arial" pitchFamily="34" charset="0"/>
                <a:cs typeface="Arial" pitchFamily="34" charset="0"/>
              </a:rPr>
              <a:t>Share SW tools </a:t>
            </a:r>
            <a:r>
              <a:rPr lang="en-US" altLang="ko-KR" sz="1600" b="1" dirty="0">
                <a:solidFill>
                  <a:schemeClr val="bg1"/>
                </a:solidFill>
                <a:latin typeface="Arial" pitchFamily="34" charset="0"/>
                <a:cs typeface="Arial" pitchFamily="34" charset="0"/>
              </a:rPr>
              <a:t>and technology by </a:t>
            </a:r>
            <a:r>
              <a:rPr lang="en-US" altLang="ko-KR" sz="1600" b="1" dirty="0" smtClean="0">
                <a:solidFill>
                  <a:schemeClr val="bg1"/>
                </a:solidFill>
                <a:latin typeface="Arial" pitchFamily="34" charset="0"/>
                <a:cs typeface="Arial" pitchFamily="34" charset="0"/>
              </a:rPr>
              <a:t>education </a:t>
            </a:r>
            <a:endParaRPr lang="en-US" altLang="ko-KR" sz="1600" b="1" dirty="0">
              <a:solidFill>
                <a:schemeClr val="bg1"/>
              </a:solidFill>
              <a:latin typeface="Arial" pitchFamily="34" charset="0"/>
              <a:cs typeface="Arial" pitchFamily="34" charset="0"/>
            </a:endParaRPr>
          </a:p>
          <a:p>
            <a:pPr marL="180000" indent="-171450">
              <a:spcAft>
                <a:spcPts val="1200"/>
              </a:spcAft>
              <a:buFont typeface="Arial" pitchFamily="34" charset="0"/>
              <a:buChar char="•"/>
            </a:pPr>
            <a:r>
              <a:rPr lang="en-US" altLang="ko-KR" sz="1600" b="1" dirty="0" smtClean="0">
                <a:solidFill>
                  <a:schemeClr val="bg1"/>
                </a:solidFill>
                <a:latin typeface="Arial" pitchFamily="34" charset="0"/>
                <a:cs typeface="Arial" pitchFamily="34" charset="0"/>
              </a:rPr>
              <a:t>Promote the utilization of eGovframe</a:t>
            </a:r>
            <a:endParaRPr lang="en-US" altLang="ko-KR" sz="1600" b="1" dirty="0">
              <a:solidFill>
                <a:schemeClr val="bg1"/>
              </a:solidFill>
              <a:latin typeface="Arial" pitchFamily="34" charset="0"/>
              <a:cs typeface="Arial" pitchFamily="34" charset="0"/>
            </a:endParaRPr>
          </a:p>
        </p:txBody>
      </p:sp>
      <p:sp>
        <p:nvSpPr>
          <p:cNvPr id="420" name="제목 3"/>
          <p:cNvSpPr>
            <a:spLocks noGrp="1"/>
          </p:cNvSpPr>
          <p:nvPr>
            <p:ph type="title"/>
          </p:nvPr>
        </p:nvSpPr>
        <p:spPr>
          <a:xfrm>
            <a:off x="396000" y="126000"/>
            <a:ext cx="8352000" cy="522000"/>
          </a:xfrm>
        </p:spPr>
        <p:txBody>
          <a:bodyPr/>
          <a:lstStyle/>
          <a:p>
            <a:r>
              <a:rPr lang="en-US" altLang="ko-KR" i="0" dirty="0">
                <a:ln>
                  <a:solidFill>
                    <a:schemeClr val="bg1">
                      <a:lumMod val="75000"/>
                    </a:schemeClr>
                  </a:solidFill>
                </a:ln>
                <a:solidFill>
                  <a:schemeClr val="tx1"/>
                </a:solidFill>
                <a:latin typeface="Tahoma" pitchFamily="34" charset="0"/>
                <a:ea typeface="Tahoma" pitchFamily="34" charset="0"/>
                <a:cs typeface="Tahoma" pitchFamily="34" charset="0"/>
              </a:rPr>
              <a:t>Vision of </a:t>
            </a:r>
            <a:r>
              <a:rPr lang="en-US" altLang="ko-KR" i="0" dirty="0" err="1">
                <a:ln>
                  <a:solidFill>
                    <a:schemeClr val="bg1">
                      <a:lumMod val="75000"/>
                    </a:schemeClr>
                  </a:solidFill>
                </a:ln>
                <a:solidFill>
                  <a:schemeClr val="tx1"/>
                </a:solidFill>
                <a:latin typeface="Tahoma" pitchFamily="34" charset="0"/>
                <a:ea typeface="Tahoma" pitchFamily="34" charset="0"/>
                <a:cs typeface="Tahoma" pitchFamily="34" charset="0"/>
              </a:rPr>
              <a:t>eGovFrame</a:t>
            </a:r>
            <a:endParaRPr lang="ko-KR" altLang="en-US" i="0" dirty="0">
              <a:solidFill>
                <a:schemeClr val="tx1"/>
              </a:solidFill>
              <a:latin typeface="Tahoma" pitchFamily="34" charset="0"/>
              <a:cs typeface="Tahoma" pitchFamily="34" charset="0"/>
            </a:endParaRPr>
          </a:p>
        </p:txBody>
      </p:sp>
    </p:spTree>
    <p:extLst>
      <p:ext uri="{BB962C8B-B14F-4D97-AF65-F5344CB8AC3E}">
        <p14:creationId xmlns:p14="http://schemas.microsoft.com/office/powerpoint/2010/main" val="17414799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19910" y="260648"/>
            <a:ext cx="8352000" cy="522000"/>
          </a:xfrm>
        </p:spPr>
        <p:txBody>
          <a:bodyPr>
            <a:noAutofit/>
          </a:bodyPr>
          <a:lstStyle/>
          <a:p>
            <a:r>
              <a:rPr lang="en-US" altLang="ko-KR" sz="2400" i="0" dirty="0" smtClean="0">
                <a:ln>
                  <a:solidFill>
                    <a:schemeClr val="bg1">
                      <a:lumMod val="75000"/>
                    </a:schemeClr>
                  </a:solidFill>
                </a:ln>
                <a:solidFill>
                  <a:schemeClr val="tx1"/>
                </a:solidFill>
                <a:latin typeface="Tahoma" pitchFamily="34" charset="0"/>
                <a:ea typeface="Tahoma" pitchFamily="34" charset="0"/>
                <a:cs typeface="Tahoma" pitchFamily="34" charset="0"/>
              </a:rPr>
              <a:t>Platform approach with multi- benefits for ICT project </a:t>
            </a:r>
            <a:endParaRPr lang="ko-KR" altLang="en-US" sz="2400" i="0" dirty="0">
              <a:ln>
                <a:solidFill>
                  <a:schemeClr val="bg1">
                    <a:lumMod val="75000"/>
                  </a:schemeClr>
                </a:solidFill>
              </a:ln>
              <a:solidFill>
                <a:schemeClr val="tx1"/>
              </a:solidFill>
              <a:latin typeface="Tahoma" pitchFamily="34" charset="0"/>
              <a:cs typeface="Tahoma" pitchFamily="34" charset="0"/>
            </a:endParaRPr>
          </a:p>
        </p:txBody>
      </p:sp>
      <p:grpSp>
        <p:nvGrpSpPr>
          <p:cNvPr id="3" name="그룹 2"/>
          <p:cNvGrpSpPr/>
          <p:nvPr/>
        </p:nvGrpSpPr>
        <p:grpSpPr>
          <a:xfrm>
            <a:off x="307975" y="1196752"/>
            <a:ext cx="8621743" cy="5328592"/>
            <a:chOff x="307975" y="1196752"/>
            <a:chExt cx="8621743" cy="5328592"/>
          </a:xfrm>
        </p:grpSpPr>
        <p:sp>
          <p:nvSpPr>
            <p:cNvPr id="195" name="AutoShape 7"/>
            <p:cNvSpPr>
              <a:spLocks noChangeArrowheads="1"/>
            </p:cNvSpPr>
            <p:nvPr/>
          </p:nvSpPr>
          <p:spPr bwMode="auto">
            <a:xfrm>
              <a:off x="6434336" y="1503087"/>
              <a:ext cx="2474731" cy="4915176"/>
            </a:xfrm>
            <a:prstGeom prst="roundRect">
              <a:avLst>
                <a:gd name="adj" fmla="val 2491"/>
              </a:avLst>
            </a:prstGeom>
            <a:solidFill>
              <a:srgbClr val="826442">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196" name="AutoShape 8"/>
            <p:cNvSpPr>
              <a:spLocks noChangeArrowheads="1"/>
            </p:cNvSpPr>
            <p:nvPr/>
          </p:nvSpPr>
          <p:spPr bwMode="auto">
            <a:xfrm>
              <a:off x="6463832" y="2110338"/>
              <a:ext cx="2415739" cy="4415006"/>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197" name="Group 9"/>
            <p:cNvGrpSpPr>
              <a:grpSpLocks/>
            </p:cNvGrpSpPr>
            <p:nvPr/>
          </p:nvGrpSpPr>
          <p:grpSpPr bwMode="auto">
            <a:xfrm>
              <a:off x="6398943" y="1196753"/>
              <a:ext cx="2530775" cy="680164"/>
              <a:chOff x="4407" y="913"/>
              <a:chExt cx="1684" cy="393"/>
            </a:xfrm>
          </p:grpSpPr>
          <p:pic>
            <p:nvPicPr>
              <p:cNvPr id="388" name="Picture 10" descr="갈색"/>
              <p:cNvPicPr>
                <a:picLocks noChangeAspect="1" noChangeArrowheads="1"/>
              </p:cNvPicPr>
              <p:nvPr/>
            </p:nvPicPr>
            <p:blipFill>
              <a:blip r:embed="rId3" cstate="print">
                <a:lum bright="6000"/>
              </a:blip>
              <a:srcRect l="2338" r="84608"/>
              <a:stretch>
                <a:fillRect/>
              </a:stretch>
            </p:blipFill>
            <p:spPr bwMode="auto">
              <a:xfrm>
                <a:off x="4407" y="913"/>
                <a:ext cx="201" cy="393"/>
              </a:xfrm>
              <a:prstGeom prst="rect">
                <a:avLst/>
              </a:prstGeom>
              <a:noFill/>
              <a:ln w="9525">
                <a:noFill/>
                <a:miter lim="800000"/>
                <a:headEnd/>
                <a:tailEnd/>
              </a:ln>
            </p:spPr>
          </p:pic>
          <p:pic>
            <p:nvPicPr>
              <p:cNvPr id="389" name="Picture 11" descr="갈색"/>
              <p:cNvPicPr>
                <a:picLocks noChangeAspect="1" noChangeArrowheads="1"/>
              </p:cNvPicPr>
              <p:nvPr/>
            </p:nvPicPr>
            <p:blipFill>
              <a:blip r:embed="rId3" cstate="print">
                <a:lum bright="6000"/>
              </a:blip>
              <a:srcRect l="78741" r="3511"/>
              <a:stretch>
                <a:fillRect/>
              </a:stretch>
            </p:blipFill>
            <p:spPr bwMode="auto">
              <a:xfrm>
                <a:off x="5818" y="913"/>
                <a:ext cx="273" cy="393"/>
              </a:xfrm>
              <a:prstGeom prst="rect">
                <a:avLst/>
              </a:prstGeom>
              <a:noFill/>
              <a:ln w="9525">
                <a:noFill/>
                <a:miter lim="800000"/>
                <a:headEnd/>
                <a:tailEnd/>
              </a:ln>
            </p:spPr>
          </p:pic>
          <p:pic>
            <p:nvPicPr>
              <p:cNvPr id="390" name="Picture 12" descr="갈색"/>
              <p:cNvPicPr>
                <a:picLocks noChangeAspect="1" noChangeArrowheads="1"/>
              </p:cNvPicPr>
              <p:nvPr/>
            </p:nvPicPr>
            <p:blipFill>
              <a:blip r:embed="rId3" cstate="print">
                <a:lum bright="6000"/>
              </a:blip>
              <a:srcRect l="8577" r="10970"/>
              <a:stretch>
                <a:fillRect/>
              </a:stretch>
            </p:blipFill>
            <p:spPr bwMode="auto">
              <a:xfrm>
                <a:off x="4526" y="913"/>
                <a:ext cx="1374" cy="393"/>
              </a:xfrm>
              <a:prstGeom prst="rect">
                <a:avLst/>
              </a:prstGeom>
              <a:noFill/>
              <a:ln w="9525">
                <a:noFill/>
                <a:miter lim="800000"/>
                <a:headEnd/>
                <a:tailEnd/>
              </a:ln>
            </p:spPr>
          </p:pic>
        </p:grpSp>
        <p:sp>
          <p:nvSpPr>
            <p:cNvPr id="198" name="AutoShape 13"/>
            <p:cNvSpPr>
              <a:spLocks noChangeArrowheads="1"/>
            </p:cNvSpPr>
            <p:nvPr/>
          </p:nvSpPr>
          <p:spPr bwMode="auto">
            <a:xfrm>
              <a:off x="352219" y="1503087"/>
              <a:ext cx="2474731" cy="4911715"/>
            </a:xfrm>
            <a:prstGeom prst="roundRect">
              <a:avLst>
                <a:gd name="adj" fmla="val 2491"/>
              </a:avLst>
            </a:prstGeom>
            <a:solidFill>
              <a:srgbClr val="497B53">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199" name="AutoShape 14"/>
            <p:cNvSpPr>
              <a:spLocks noChangeArrowheads="1"/>
            </p:cNvSpPr>
            <p:nvPr/>
          </p:nvSpPr>
          <p:spPr bwMode="auto">
            <a:xfrm>
              <a:off x="381716" y="1961721"/>
              <a:ext cx="2415739" cy="4415006"/>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00" name="Group 15"/>
            <p:cNvGrpSpPr>
              <a:grpSpLocks/>
            </p:cNvGrpSpPr>
            <p:nvPr/>
          </p:nvGrpSpPr>
          <p:grpSpPr bwMode="auto">
            <a:xfrm>
              <a:off x="307975" y="1196753"/>
              <a:ext cx="2557322" cy="730354"/>
              <a:chOff x="149" y="913"/>
              <a:chExt cx="1684" cy="422"/>
            </a:xfrm>
          </p:grpSpPr>
          <p:pic>
            <p:nvPicPr>
              <p:cNvPr id="385" name="Picture 16" descr="상단"/>
              <p:cNvPicPr>
                <a:picLocks noChangeAspect="1" noChangeArrowheads="1"/>
              </p:cNvPicPr>
              <p:nvPr/>
            </p:nvPicPr>
            <p:blipFill>
              <a:blip r:embed="rId4" cstate="print">
                <a:lum bright="-6000"/>
              </a:blip>
              <a:srcRect l="10149" t="3300" r="80901" b="51208"/>
              <a:stretch>
                <a:fillRect/>
              </a:stretch>
            </p:blipFill>
            <p:spPr bwMode="auto">
              <a:xfrm>
                <a:off x="149" y="913"/>
                <a:ext cx="173" cy="422"/>
              </a:xfrm>
              <a:prstGeom prst="rect">
                <a:avLst/>
              </a:prstGeom>
              <a:noFill/>
              <a:ln w="9525">
                <a:noFill/>
                <a:miter lim="800000"/>
                <a:headEnd/>
                <a:tailEnd/>
              </a:ln>
            </p:spPr>
          </p:pic>
          <p:pic>
            <p:nvPicPr>
              <p:cNvPr id="386" name="Picture 17" descr="상단"/>
              <p:cNvPicPr>
                <a:picLocks noChangeAspect="1" noChangeArrowheads="1"/>
              </p:cNvPicPr>
              <p:nvPr/>
            </p:nvPicPr>
            <p:blipFill>
              <a:blip r:embed="rId5" cstate="print">
                <a:lum bright="-6000"/>
              </a:blip>
              <a:srcRect l="83150" t="3300" r="9181" b="51208"/>
              <a:stretch>
                <a:fillRect/>
              </a:stretch>
            </p:blipFill>
            <p:spPr bwMode="auto">
              <a:xfrm>
                <a:off x="1685" y="913"/>
                <a:ext cx="148" cy="422"/>
              </a:xfrm>
              <a:prstGeom prst="rect">
                <a:avLst/>
              </a:prstGeom>
              <a:noFill/>
              <a:ln w="9525">
                <a:noFill/>
                <a:miter lim="800000"/>
                <a:headEnd/>
                <a:tailEnd/>
              </a:ln>
            </p:spPr>
          </p:pic>
          <p:pic>
            <p:nvPicPr>
              <p:cNvPr id="387" name="Picture 18" descr="상단"/>
              <p:cNvPicPr>
                <a:picLocks noChangeAspect="1" noChangeArrowheads="1"/>
              </p:cNvPicPr>
              <p:nvPr/>
            </p:nvPicPr>
            <p:blipFill>
              <a:blip r:embed="rId6" cstate="print">
                <a:lum bright="-6000"/>
              </a:blip>
              <a:srcRect l="17998" t="3300" r="16023" b="51208"/>
              <a:stretch>
                <a:fillRect/>
              </a:stretch>
            </p:blipFill>
            <p:spPr bwMode="auto">
              <a:xfrm>
                <a:off x="315" y="913"/>
                <a:ext cx="1401" cy="422"/>
              </a:xfrm>
              <a:prstGeom prst="rect">
                <a:avLst/>
              </a:prstGeom>
              <a:noFill/>
              <a:ln w="9525">
                <a:noFill/>
                <a:miter lim="800000"/>
                <a:headEnd/>
                <a:tailEnd/>
              </a:ln>
            </p:spPr>
          </p:pic>
        </p:grpSp>
        <p:sp>
          <p:nvSpPr>
            <p:cNvPr id="201" name="AutoShape 19"/>
            <p:cNvSpPr>
              <a:spLocks noChangeArrowheads="1"/>
            </p:cNvSpPr>
            <p:nvPr/>
          </p:nvSpPr>
          <p:spPr bwMode="auto">
            <a:xfrm>
              <a:off x="3428673" y="1503087"/>
              <a:ext cx="2473257" cy="3442353"/>
            </a:xfrm>
            <a:prstGeom prst="roundRect">
              <a:avLst>
                <a:gd name="adj" fmla="val 2491"/>
              </a:avLst>
            </a:prstGeom>
            <a:solidFill>
              <a:srgbClr val="0F5CB1">
                <a:alpha val="98038"/>
              </a:srgbClr>
            </a:solidFill>
            <a:ln w="9525"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2" name="AutoShape 20"/>
            <p:cNvSpPr>
              <a:spLocks noChangeArrowheads="1"/>
            </p:cNvSpPr>
            <p:nvPr/>
          </p:nvSpPr>
          <p:spPr bwMode="auto">
            <a:xfrm>
              <a:off x="3458169" y="1961721"/>
              <a:ext cx="2414264" cy="2956029"/>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3" name="Text Box 25"/>
            <p:cNvSpPr txBox="1">
              <a:spLocks noChangeArrowheads="1"/>
            </p:cNvSpPr>
            <p:nvPr/>
          </p:nvSpPr>
          <p:spPr bwMode="auto">
            <a:xfrm>
              <a:off x="6490130" y="1426089"/>
              <a:ext cx="2348400" cy="184666"/>
            </a:xfrm>
            <a:prstGeom prst="rect">
              <a:avLst/>
            </a:prstGeom>
            <a:noFill/>
            <a:ln w="9525" algn="ctr">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Pct val="80000"/>
                <a:buFontTx/>
                <a:buNone/>
                <a:tabLst/>
                <a:defRPr/>
              </a:pPr>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Current </a:t>
              </a:r>
              <a:r>
                <a:rPr kumimoji="0" lang="en-US" altLang="ko-KR" sz="1200" b="1" i="0" u="none" strike="noStrike" kern="0" cap="none" spc="0" normalizeH="0" baseline="0" noProof="0" dirty="0" err="1">
                  <a:ln>
                    <a:noFill/>
                  </a:ln>
                  <a:solidFill>
                    <a:srgbClr val="FFFFFF"/>
                  </a:solidFill>
                  <a:effectLst/>
                  <a:uLnTx/>
                  <a:uFillTx/>
                  <a:latin typeface="Arial" pitchFamily="34" charset="0"/>
                  <a:ea typeface="맑은 고딕" pitchFamily="50" charset="-127"/>
                  <a:cs typeface="Arial" pitchFamily="34" charset="0"/>
                </a:rPr>
                <a:t>eGovernment</a:t>
              </a:r>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 Programs</a:t>
              </a:r>
            </a:p>
          </p:txBody>
        </p:sp>
        <p:sp>
          <p:nvSpPr>
            <p:cNvPr id="204" name="Text Box 27"/>
            <p:cNvSpPr txBox="1">
              <a:spLocks noChangeArrowheads="1"/>
            </p:cNvSpPr>
            <p:nvPr/>
          </p:nvSpPr>
          <p:spPr bwMode="auto">
            <a:xfrm>
              <a:off x="527853" y="1437332"/>
              <a:ext cx="2117567" cy="184666"/>
            </a:xfrm>
            <a:prstGeom prst="rect">
              <a:avLst/>
            </a:prstGeom>
            <a:noFill/>
            <a:ln w="9525" algn="ctr">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Pct val="80000"/>
                <a:buFontTx/>
                <a:buNone/>
                <a:tabLst/>
                <a:defRPr/>
              </a:pPr>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Past </a:t>
              </a:r>
              <a:r>
                <a:rPr kumimoji="0" lang="en-US" altLang="ko-KR" sz="1200" b="1" i="0" u="none" strike="noStrike" kern="0" cap="none" spc="0" normalizeH="0" baseline="0" noProof="0" dirty="0" err="1">
                  <a:ln>
                    <a:noFill/>
                  </a:ln>
                  <a:solidFill>
                    <a:srgbClr val="FFFFFF"/>
                  </a:solidFill>
                  <a:effectLst/>
                  <a:uLnTx/>
                  <a:uFillTx/>
                  <a:latin typeface="Arial" pitchFamily="34" charset="0"/>
                  <a:ea typeface="맑은 고딕" pitchFamily="50" charset="-127"/>
                  <a:cs typeface="Arial" pitchFamily="34" charset="0"/>
                </a:rPr>
                <a:t>eGovernment</a:t>
              </a:r>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 Programs</a:t>
              </a:r>
            </a:p>
          </p:txBody>
        </p:sp>
        <p:sp>
          <p:nvSpPr>
            <p:cNvPr id="205" name="Rectangle 34"/>
            <p:cNvSpPr>
              <a:spLocks noChangeArrowheads="1"/>
            </p:cNvSpPr>
            <p:nvPr/>
          </p:nvSpPr>
          <p:spPr bwMode="auto">
            <a:xfrm>
              <a:off x="570491" y="2515543"/>
              <a:ext cx="548629" cy="1697813"/>
            </a:xfrm>
            <a:prstGeom prst="rect">
              <a:avLst/>
            </a:prstGeom>
            <a:pattFill prst="wdDnDiag">
              <a:fgClr>
                <a:srgbClr val="EAEAEA"/>
              </a:fgClr>
              <a:bgClr>
                <a:srgbClr val="DDDDDD"/>
              </a:bgClr>
            </a:pattFill>
            <a:ln w="9525" algn="ctr">
              <a:noFill/>
              <a:miter lim="800000"/>
              <a:headEnd/>
              <a:tailEnd/>
            </a:ln>
          </p:spPr>
          <p:txBody>
            <a:bodyPr wrap="none" tIns="72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Application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S/W</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6" name="Rectangle 35"/>
            <p:cNvSpPr>
              <a:spLocks noChangeArrowheads="1"/>
            </p:cNvSpPr>
            <p:nvPr/>
          </p:nvSpPr>
          <p:spPr bwMode="auto">
            <a:xfrm>
              <a:off x="570491" y="4213356"/>
              <a:ext cx="548629"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07" name="Rectangle 36"/>
            <p:cNvSpPr>
              <a:spLocks noChangeArrowheads="1"/>
            </p:cNvSpPr>
            <p:nvPr/>
          </p:nvSpPr>
          <p:spPr bwMode="auto">
            <a:xfrm>
              <a:off x="1287249" y="2515543"/>
              <a:ext cx="547155" cy="1697813"/>
            </a:xfrm>
            <a:prstGeom prst="rect">
              <a:avLst/>
            </a:prstGeom>
            <a:pattFill prst="wdDnDiag">
              <a:fgClr>
                <a:srgbClr val="EAEAEA"/>
              </a:fgClr>
              <a:bgClr>
                <a:srgbClr val="DDDDDD"/>
              </a:bgClr>
            </a:pattFill>
            <a:ln w="9525" algn="ctr">
              <a:noFill/>
              <a:miter lim="800000"/>
              <a:headEnd/>
              <a:tailEnd/>
            </a:ln>
          </p:spPr>
          <p:txBody>
            <a:bodyPr wrap="none" tIns="72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Application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S/W</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8" name="Rectangle 37"/>
            <p:cNvSpPr>
              <a:spLocks noChangeArrowheads="1"/>
            </p:cNvSpPr>
            <p:nvPr/>
          </p:nvSpPr>
          <p:spPr bwMode="auto">
            <a:xfrm>
              <a:off x="1287249" y="4213356"/>
              <a:ext cx="547155"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09" name="Rectangle 38"/>
            <p:cNvSpPr>
              <a:spLocks noChangeArrowheads="1"/>
            </p:cNvSpPr>
            <p:nvPr/>
          </p:nvSpPr>
          <p:spPr bwMode="auto">
            <a:xfrm>
              <a:off x="1992208" y="2439393"/>
              <a:ext cx="550105" cy="1739350"/>
            </a:xfrm>
            <a:prstGeom prst="rect">
              <a:avLst/>
            </a:prstGeom>
            <a:pattFill prst="wdDnDiag">
              <a:fgClr>
                <a:srgbClr val="EAEAEA"/>
              </a:fgClr>
              <a:bgClr>
                <a:srgbClr val="DDDDDD"/>
              </a:bgClr>
            </a:pattFill>
            <a:ln w="9525" algn="ctr">
              <a:noFill/>
              <a:miter lim="800000"/>
              <a:headEnd/>
              <a:tailEnd/>
            </a:ln>
          </p:spPr>
          <p:txBody>
            <a:bodyPr wrap="none" tIns="72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Application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S/W</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0" name="Rectangle 39"/>
            <p:cNvSpPr>
              <a:spLocks noChangeArrowheads="1"/>
            </p:cNvSpPr>
            <p:nvPr/>
          </p:nvSpPr>
          <p:spPr bwMode="auto">
            <a:xfrm>
              <a:off x="1992208" y="4213356"/>
              <a:ext cx="550105"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11" name="Rectangle 41"/>
            <p:cNvSpPr>
              <a:spLocks noChangeArrowheads="1"/>
            </p:cNvSpPr>
            <p:nvPr/>
          </p:nvSpPr>
          <p:spPr bwMode="auto">
            <a:xfrm>
              <a:off x="613261" y="2159020"/>
              <a:ext cx="642805" cy="169277"/>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 System</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2" name="Rectangle 42"/>
            <p:cNvSpPr>
              <a:spLocks noChangeArrowheads="1"/>
            </p:cNvSpPr>
            <p:nvPr/>
          </p:nvSpPr>
          <p:spPr bwMode="auto">
            <a:xfrm>
              <a:off x="1328544" y="2159020"/>
              <a:ext cx="642805" cy="169277"/>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B System</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3" name="Rectangle 43"/>
            <p:cNvSpPr>
              <a:spLocks noChangeArrowheads="1"/>
            </p:cNvSpPr>
            <p:nvPr/>
          </p:nvSpPr>
          <p:spPr bwMode="auto">
            <a:xfrm>
              <a:off x="2033503" y="2164213"/>
              <a:ext cx="642805" cy="169277"/>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 System</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4" name="Rectangle 44"/>
            <p:cNvSpPr>
              <a:spLocks noChangeArrowheads="1"/>
            </p:cNvSpPr>
            <p:nvPr/>
          </p:nvSpPr>
          <p:spPr bwMode="auto">
            <a:xfrm>
              <a:off x="586715" y="3103980"/>
              <a:ext cx="519133" cy="690548"/>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6" name="Rectangle 45"/>
            <p:cNvSpPr>
              <a:spLocks noChangeArrowheads="1"/>
            </p:cNvSpPr>
            <p:nvPr/>
          </p:nvSpPr>
          <p:spPr bwMode="auto">
            <a:xfrm>
              <a:off x="1299047" y="2953410"/>
              <a:ext cx="522083" cy="841118"/>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7" name="Rectangle 46"/>
            <p:cNvSpPr>
              <a:spLocks noChangeArrowheads="1"/>
            </p:cNvSpPr>
            <p:nvPr/>
          </p:nvSpPr>
          <p:spPr bwMode="auto">
            <a:xfrm>
              <a:off x="2004007" y="3065905"/>
              <a:ext cx="525032" cy="993419"/>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8" name="Rectangle 47"/>
            <p:cNvSpPr>
              <a:spLocks noChangeArrowheads="1"/>
            </p:cNvSpPr>
            <p:nvPr/>
          </p:nvSpPr>
          <p:spPr bwMode="auto">
            <a:xfrm>
              <a:off x="2065949" y="3039945"/>
              <a:ext cx="532197"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p>
          </p:txBody>
        </p:sp>
        <p:sp>
          <p:nvSpPr>
            <p:cNvPr id="219" name="Rectangle 60"/>
            <p:cNvSpPr>
              <a:spLocks noChangeArrowheads="1"/>
            </p:cNvSpPr>
            <p:nvPr/>
          </p:nvSpPr>
          <p:spPr bwMode="auto">
            <a:xfrm>
              <a:off x="6611313" y="2349397"/>
              <a:ext cx="603198" cy="1078224"/>
            </a:xfrm>
            <a:prstGeom prst="rect">
              <a:avLst/>
            </a:prstGeom>
            <a:pattFill prst="wdDnDiag">
              <a:fgClr>
                <a:srgbClr val="EAEAEA"/>
              </a:fgClr>
              <a:bgClr>
                <a:srgbClr val="DDDDDD"/>
              </a:bgClr>
            </a:pattFill>
            <a:ln w="9525" algn="ctr">
              <a:noFill/>
              <a:miter lim="800000"/>
              <a:headEnd/>
              <a:tailEnd/>
            </a:ln>
          </p:spPr>
          <p:txBody>
            <a:bodyPr wrap="none" tIns="72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Application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S/W</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0" name="Rectangle 61"/>
            <p:cNvSpPr>
              <a:spLocks noChangeArrowheads="1"/>
            </p:cNvSpPr>
            <p:nvPr/>
          </p:nvSpPr>
          <p:spPr bwMode="auto">
            <a:xfrm>
              <a:off x="7390013" y="2349397"/>
              <a:ext cx="604672" cy="1078224"/>
            </a:xfrm>
            <a:prstGeom prst="rect">
              <a:avLst/>
            </a:prstGeom>
            <a:pattFill prst="wdDnDiag">
              <a:fgClr>
                <a:srgbClr val="EAEAEA"/>
              </a:fgClr>
              <a:bgClr>
                <a:srgbClr val="DDDDDD"/>
              </a:bgClr>
            </a:pattFill>
            <a:ln w="9525" algn="ctr">
              <a:noFill/>
              <a:miter lim="800000"/>
              <a:headEnd/>
              <a:tailEnd/>
            </a:ln>
          </p:spPr>
          <p:txBody>
            <a:bodyPr wrap="none" tIns="72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Application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S/W</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1" name="Rectangle 62"/>
            <p:cNvSpPr>
              <a:spLocks noChangeArrowheads="1"/>
            </p:cNvSpPr>
            <p:nvPr/>
          </p:nvSpPr>
          <p:spPr bwMode="auto">
            <a:xfrm>
              <a:off x="8165763" y="2349397"/>
              <a:ext cx="606147" cy="1078224"/>
            </a:xfrm>
            <a:prstGeom prst="rect">
              <a:avLst/>
            </a:prstGeom>
            <a:pattFill prst="wdDnDiag">
              <a:fgClr>
                <a:srgbClr val="EAEAEA"/>
              </a:fgClr>
              <a:bgClr>
                <a:srgbClr val="DDDDDD"/>
              </a:bgClr>
            </a:pattFill>
            <a:ln w="9525" algn="ctr">
              <a:noFill/>
              <a:miter lim="800000"/>
              <a:headEnd/>
              <a:tailEnd/>
            </a:ln>
          </p:spPr>
          <p:txBody>
            <a:bodyPr wrap="none" tIns="72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Application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S/W</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b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br>
              <a:endPar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2" name="Rectangle 63"/>
            <p:cNvSpPr>
              <a:spLocks noChangeArrowheads="1"/>
            </p:cNvSpPr>
            <p:nvPr/>
          </p:nvSpPr>
          <p:spPr bwMode="auto">
            <a:xfrm>
              <a:off x="6639335" y="2074216"/>
              <a:ext cx="681277" cy="169277"/>
            </a:xfrm>
            <a:prstGeom prst="rect">
              <a:avLst/>
            </a:prstGeom>
            <a:noFill/>
            <a:ln w="9525" algn="ctr">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 System</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3" name="Rectangle 64"/>
            <p:cNvSpPr>
              <a:spLocks noChangeArrowheads="1"/>
            </p:cNvSpPr>
            <p:nvPr/>
          </p:nvSpPr>
          <p:spPr bwMode="auto">
            <a:xfrm>
              <a:off x="7434257" y="2074216"/>
              <a:ext cx="681277" cy="169277"/>
            </a:xfrm>
            <a:prstGeom prst="rect">
              <a:avLst/>
            </a:prstGeom>
            <a:noFill/>
            <a:ln w="9525" algn="ctr">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B’ System</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4" name="Rectangle 65"/>
            <p:cNvSpPr>
              <a:spLocks noChangeArrowheads="1"/>
            </p:cNvSpPr>
            <p:nvPr/>
          </p:nvSpPr>
          <p:spPr bwMode="auto">
            <a:xfrm>
              <a:off x="8195259" y="2074216"/>
              <a:ext cx="681277" cy="169277"/>
            </a:xfrm>
            <a:prstGeom prst="rect">
              <a:avLst/>
            </a:prstGeom>
            <a:noFill/>
            <a:ln w="9525" algn="ctr">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 System</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5" name="Rectangle 66"/>
            <p:cNvSpPr>
              <a:spLocks noChangeArrowheads="1"/>
            </p:cNvSpPr>
            <p:nvPr/>
          </p:nvSpPr>
          <p:spPr bwMode="auto">
            <a:xfrm>
              <a:off x="6615738" y="2925719"/>
              <a:ext cx="595823"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6" name="Rectangle 67"/>
            <p:cNvSpPr>
              <a:spLocks noChangeArrowheads="1"/>
            </p:cNvSpPr>
            <p:nvPr/>
          </p:nvSpPr>
          <p:spPr bwMode="auto">
            <a:xfrm>
              <a:off x="7392962" y="2925719"/>
              <a:ext cx="597299"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7" name="Rectangle 68"/>
            <p:cNvSpPr>
              <a:spLocks noChangeArrowheads="1"/>
            </p:cNvSpPr>
            <p:nvPr/>
          </p:nvSpPr>
          <p:spPr bwMode="auto">
            <a:xfrm>
              <a:off x="8168712" y="2925719"/>
              <a:ext cx="600248"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8" name="Rectangle 69"/>
            <p:cNvSpPr>
              <a:spLocks noChangeArrowheads="1"/>
            </p:cNvSpPr>
            <p:nvPr/>
          </p:nvSpPr>
          <p:spPr bwMode="auto">
            <a:xfrm>
              <a:off x="6611313" y="4398540"/>
              <a:ext cx="603198"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29" name="Rectangle 70"/>
            <p:cNvSpPr>
              <a:spLocks noChangeArrowheads="1"/>
            </p:cNvSpPr>
            <p:nvPr/>
          </p:nvSpPr>
          <p:spPr bwMode="auto">
            <a:xfrm>
              <a:off x="7390013" y="4398540"/>
              <a:ext cx="604672"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30" name="Rectangle 71"/>
            <p:cNvSpPr>
              <a:spLocks noChangeArrowheads="1"/>
            </p:cNvSpPr>
            <p:nvPr/>
          </p:nvSpPr>
          <p:spPr bwMode="auto">
            <a:xfrm>
              <a:off x="8165763" y="4398540"/>
              <a:ext cx="606147"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grpSp>
          <p:nvGrpSpPr>
            <p:cNvPr id="231" name="Group 72"/>
            <p:cNvGrpSpPr>
              <a:grpSpLocks/>
            </p:cNvGrpSpPr>
            <p:nvPr/>
          </p:nvGrpSpPr>
          <p:grpSpPr bwMode="auto">
            <a:xfrm>
              <a:off x="6609839" y="3984905"/>
              <a:ext cx="604672" cy="420559"/>
              <a:chOff x="4532" y="2446"/>
              <a:chExt cx="410" cy="243"/>
            </a:xfrm>
          </p:grpSpPr>
          <p:sp>
            <p:nvSpPr>
              <p:cNvPr id="380" name="Rectangle 73"/>
              <p:cNvSpPr>
                <a:spLocks noChangeArrowheads="1"/>
              </p:cNvSpPr>
              <p:nvPr/>
            </p:nvSpPr>
            <p:spPr bwMode="auto">
              <a:xfrm>
                <a:off x="4532" y="2494"/>
                <a:ext cx="410" cy="195"/>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81" name="Rectangle 74"/>
              <p:cNvSpPr>
                <a:spLocks noChangeArrowheads="1"/>
              </p:cNvSpPr>
              <p:nvPr/>
            </p:nvSpPr>
            <p:spPr bwMode="auto">
              <a:xfrm>
                <a:off x="4533"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2" name="Rectangle 75"/>
              <p:cNvSpPr>
                <a:spLocks noChangeArrowheads="1"/>
              </p:cNvSpPr>
              <p:nvPr/>
            </p:nvSpPr>
            <p:spPr bwMode="auto">
              <a:xfrm>
                <a:off x="4651"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3" name="Rectangle 76"/>
              <p:cNvSpPr>
                <a:spLocks noChangeArrowheads="1"/>
              </p:cNvSpPr>
              <p:nvPr/>
            </p:nvSpPr>
            <p:spPr bwMode="auto">
              <a:xfrm>
                <a:off x="4884"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4" name="Rectangle 77"/>
              <p:cNvSpPr>
                <a:spLocks noChangeArrowheads="1"/>
              </p:cNvSpPr>
              <p:nvPr/>
            </p:nvSpPr>
            <p:spPr bwMode="auto">
              <a:xfrm>
                <a:off x="4767"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2" name="Group 78"/>
            <p:cNvGrpSpPr>
              <a:grpSpLocks/>
            </p:cNvGrpSpPr>
            <p:nvPr/>
          </p:nvGrpSpPr>
          <p:grpSpPr bwMode="auto">
            <a:xfrm>
              <a:off x="7390013" y="3983173"/>
              <a:ext cx="604672" cy="415367"/>
              <a:chOff x="4571" y="1933"/>
              <a:chExt cx="318" cy="227"/>
            </a:xfrm>
          </p:grpSpPr>
          <p:sp>
            <p:nvSpPr>
              <p:cNvPr id="375" name="Rectangle 79"/>
              <p:cNvSpPr>
                <a:spLocks noChangeArrowheads="1"/>
              </p:cNvSpPr>
              <p:nvPr/>
            </p:nvSpPr>
            <p:spPr bwMode="auto">
              <a:xfrm>
                <a:off x="4571" y="1978"/>
                <a:ext cx="318" cy="182"/>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76" name="Rectangle 80"/>
              <p:cNvSpPr>
                <a:spLocks noChangeArrowheads="1"/>
              </p:cNvSpPr>
              <p:nvPr/>
            </p:nvSpPr>
            <p:spPr bwMode="auto">
              <a:xfrm>
                <a:off x="4572"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7" name="Rectangle 81"/>
              <p:cNvSpPr>
                <a:spLocks noChangeArrowheads="1"/>
              </p:cNvSpPr>
              <p:nvPr/>
            </p:nvSpPr>
            <p:spPr bwMode="auto">
              <a:xfrm>
                <a:off x="466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8" name="Rectangle 82"/>
              <p:cNvSpPr>
                <a:spLocks noChangeArrowheads="1"/>
              </p:cNvSpPr>
              <p:nvPr/>
            </p:nvSpPr>
            <p:spPr bwMode="auto">
              <a:xfrm>
                <a:off x="4844"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9" name="Rectangle 83"/>
              <p:cNvSpPr>
                <a:spLocks noChangeArrowheads="1"/>
              </p:cNvSpPr>
              <p:nvPr/>
            </p:nvSpPr>
            <p:spPr bwMode="auto">
              <a:xfrm>
                <a:off x="475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3" name="Group 84"/>
            <p:cNvGrpSpPr>
              <a:grpSpLocks/>
            </p:cNvGrpSpPr>
            <p:nvPr/>
          </p:nvGrpSpPr>
          <p:grpSpPr bwMode="auto">
            <a:xfrm>
              <a:off x="8165763" y="3983173"/>
              <a:ext cx="606147" cy="415367"/>
              <a:chOff x="4571" y="1933"/>
              <a:chExt cx="318" cy="227"/>
            </a:xfrm>
          </p:grpSpPr>
          <p:sp>
            <p:nvSpPr>
              <p:cNvPr id="370" name="Rectangle 85"/>
              <p:cNvSpPr>
                <a:spLocks noChangeArrowheads="1"/>
              </p:cNvSpPr>
              <p:nvPr/>
            </p:nvSpPr>
            <p:spPr bwMode="auto">
              <a:xfrm>
                <a:off x="4571" y="1978"/>
                <a:ext cx="318" cy="182"/>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71" name="Rectangle 86"/>
              <p:cNvSpPr>
                <a:spLocks noChangeArrowheads="1"/>
              </p:cNvSpPr>
              <p:nvPr/>
            </p:nvSpPr>
            <p:spPr bwMode="auto">
              <a:xfrm>
                <a:off x="4572"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2" name="Rectangle 87"/>
              <p:cNvSpPr>
                <a:spLocks noChangeArrowheads="1"/>
              </p:cNvSpPr>
              <p:nvPr/>
            </p:nvSpPr>
            <p:spPr bwMode="auto">
              <a:xfrm>
                <a:off x="466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3" name="Rectangle 88"/>
              <p:cNvSpPr>
                <a:spLocks noChangeArrowheads="1"/>
              </p:cNvSpPr>
              <p:nvPr/>
            </p:nvSpPr>
            <p:spPr bwMode="auto">
              <a:xfrm>
                <a:off x="4844"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4" name="Rectangle 89"/>
              <p:cNvSpPr>
                <a:spLocks noChangeArrowheads="1"/>
              </p:cNvSpPr>
              <p:nvPr/>
            </p:nvSpPr>
            <p:spPr bwMode="auto">
              <a:xfrm>
                <a:off x="475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4" name="Group 90"/>
            <p:cNvGrpSpPr>
              <a:grpSpLocks/>
            </p:cNvGrpSpPr>
            <p:nvPr/>
          </p:nvGrpSpPr>
          <p:grpSpPr bwMode="auto">
            <a:xfrm>
              <a:off x="6658507" y="3751248"/>
              <a:ext cx="174028" cy="249219"/>
              <a:chOff x="4254" y="1525"/>
              <a:chExt cx="91" cy="137"/>
            </a:xfrm>
          </p:grpSpPr>
          <p:sp>
            <p:nvSpPr>
              <p:cNvPr id="368" name="Rectangle 91"/>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9" name="Rectangle 92"/>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5" name="Group 93"/>
            <p:cNvGrpSpPr>
              <a:grpSpLocks/>
            </p:cNvGrpSpPr>
            <p:nvPr/>
          </p:nvGrpSpPr>
          <p:grpSpPr bwMode="auto">
            <a:xfrm>
              <a:off x="6953512" y="3098776"/>
              <a:ext cx="178453" cy="252681"/>
              <a:chOff x="4254" y="1525"/>
              <a:chExt cx="91" cy="137"/>
            </a:xfrm>
          </p:grpSpPr>
          <p:sp>
            <p:nvSpPr>
              <p:cNvPr id="366" name="Rectangle 94"/>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7" name="Rectangle 95"/>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36" name="Group 96"/>
            <p:cNvGrpSpPr>
              <a:grpSpLocks/>
            </p:cNvGrpSpPr>
            <p:nvPr/>
          </p:nvGrpSpPr>
          <p:grpSpPr bwMode="auto">
            <a:xfrm>
              <a:off x="6658507" y="3432799"/>
              <a:ext cx="174028" cy="256142"/>
              <a:chOff x="4254" y="1525"/>
              <a:chExt cx="91" cy="137"/>
            </a:xfrm>
          </p:grpSpPr>
          <p:sp>
            <p:nvSpPr>
              <p:cNvPr id="364" name="Rectangle 97"/>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5" name="Rectangle 98"/>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37" name="Group 99"/>
            <p:cNvGrpSpPr>
              <a:grpSpLocks/>
            </p:cNvGrpSpPr>
            <p:nvPr/>
          </p:nvGrpSpPr>
          <p:grpSpPr bwMode="auto">
            <a:xfrm>
              <a:off x="7435732" y="3765094"/>
              <a:ext cx="172552" cy="249219"/>
              <a:chOff x="4254" y="1525"/>
              <a:chExt cx="91" cy="137"/>
            </a:xfrm>
          </p:grpSpPr>
          <p:sp>
            <p:nvSpPr>
              <p:cNvPr id="362" name="Rectangle 100"/>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3" name="Rectangle 101"/>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8" name="Group 102"/>
            <p:cNvGrpSpPr>
              <a:grpSpLocks/>
            </p:cNvGrpSpPr>
            <p:nvPr/>
          </p:nvGrpSpPr>
          <p:grpSpPr bwMode="auto">
            <a:xfrm>
              <a:off x="7774939" y="3765094"/>
              <a:ext cx="175502" cy="249219"/>
              <a:chOff x="4254" y="1525"/>
              <a:chExt cx="91" cy="137"/>
            </a:xfrm>
          </p:grpSpPr>
          <p:sp>
            <p:nvSpPr>
              <p:cNvPr id="360" name="Rectangle 103"/>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1" name="Rectangle 104"/>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9" name="Group 105"/>
            <p:cNvGrpSpPr>
              <a:grpSpLocks/>
            </p:cNvGrpSpPr>
            <p:nvPr/>
          </p:nvGrpSpPr>
          <p:grpSpPr bwMode="auto">
            <a:xfrm>
              <a:off x="7732125" y="3347995"/>
              <a:ext cx="172552" cy="257872"/>
              <a:chOff x="4254" y="1525"/>
              <a:chExt cx="91" cy="137"/>
            </a:xfrm>
          </p:grpSpPr>
          <p:sp>
            <p:nvSpPr>
              <p:cNvPr id="358" name="Rectangle 106"/>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9" name="Rectangle 107"/>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0" name="Group 108"/>
            <p:cNvGrpSpPr>
              <a:grpSpLocks/>
            </p:cNvGrpSpPr>
            <p:nvPr/>
          </p:nvGrpSpPr>
          <p:grpSpPr bwMode="auto">
            <a:xfrm>
              <a:off x="8383991" y="3765094"/>
              <a:ext cx="172552" cy="249219"/>
              <a:chOff x="4254" y="1525"/>
              <a:chExt cx="91" cy="137"/>
            </a:xfrm>
          </p:grpSpPr>
          <p:sp>
            <p:nvSpPr>
              <p:cNvPr id="356" name="Rectangle 109"/>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7" name="Rectangle 110"/>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41" name="Group 111"/>
            <p:cNvGrpSpPr>
              <a:grpSpLocks/>
            </p:cNvGrpSpPr>
            <p:nvPr/>
          </p:nvGrpSpPr>
          <p:grpSpPr bwMode="auto">
            <a:xfrm>
              <a:off x="8550689" y="3514142"/>
              <a:ext cx="174028" cy="257872"/>
              <a:chOff x="4254" y="1525"/>
              <a:chExt cx="91" cy="137"/>
            </a:xfrm>
          </p:grpSpPr>
          <p:sp>
            <p:nvSpPr>
              <p:cNvPr id="354" name="Rectangle 112"/>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5" name="Rectangle 113"/>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2" name="Group 114"/>
            <p:cNvGrpSpPr>
              <a:grpSpLocks/>
            </p:cNvGrpSpPr>
            <p:nvPr/>
          </p:nvGrpSpPr>
          <p:grpSpPr bwMode="auto">
            <a:xfrm>
              <a:off x="8201158" y="3432799"/>
              <a:ext cx="174028" cy="256142"/>
              <a:chOff x="4254" y="1525"/>
              <a:chExt cx="91" cy="137"/>
            </a:xfrm>
          </p:grpSpPr>
          <p:sp>
            <p:nvSpPr>
              <p:cNvPr id="352" name="Rectangle 115"/>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3" name="Rectangle 116"/>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3" name="Group 117"/>
            <p:cNvGrpSpPr>
              <a:grpSpLocks/>
            </p:cNvGrpSpPr>
            <p:nvPr/>
          </p:nvGrpSpPr>
          <p:grpSpPr bwMode="auto">
            <a:xfrm>
              <a:off x="7002138" y="3765094"/>
              <a:ext cx="172552" cy="249219"/>
              <a:chOff x="4254" y="1525"/>
              <a:chExt cx="91" cy="137"/>
            </a:xfrm>
          </p:grpSpPr>
          <p:sp>
            <p:nvSpPr>
              <p:cNvPr id="350" name="Rectangle 118"/>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1" name="Rectangle 119"/>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44" name="Group 120"/>
            <p:cNvGrpSpPr>
              <a:grpSpLocks/>
            </p:cNvGrpSpPr>
            <p:nvPr/>
          </p:nvGrpSpPr>
          <p:grpSpPr bwMode="auto">
            <a:xfrm>
              <a:off x="7472602" y="3010509"/>
              <a:ext cx="174028" cy="256142"/>
              <a:chOff x="4254" y="1525"/>
              <a:chExt cx="91" cy="137"/>
            </a:xfrm>
          </p:grpSpPr>
          <p:sp>
            <p:nvSpPr>
              <p:cNvPr id="348" name="Rectangle 121"/>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49" name="Rectangle 122"/>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5" name="Group 123"/>
            <p:cNvGrpSpPr>
              <a:grpSpLocks/>
            </p:cNvGrpSpPr>
            <p:nvPr/>
          </p:nvGrpSpPr>
          <p:grpSpPr bwMode="auto">
            <a:xfrm>
              <a:off x="8378092" y="3010509"/>
              <a:ext cx="172552" cy="256142"/>
              <a:chOff x="4254" y="1525"/>
              <a:chExt cx="91" cy="137"/>
            </a:xfrm>
          </p:grpSpPr>
          <p:sp>
            <p:nvSpPr>
              <p:cNvPr id="346" name="Rectangle 124"/>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47" name="Rectangle 125"/>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sp>
          <p:nvSpPr>
            <p:cNvPr id="246" name="Oval 131"/>
            <p:cNvSpPr>
              <a:spLocks noChangeArrowheads="1"/>
            </p:cNvSpPr>
            <p:nvPr/>
          </p:nvSpPr>
          <p:spPr bwMode="auto">
            <a:xfrm>
              <a:off x="6404840" y="4112976"/>
              <a:ext cx="156330" cy="183454"/>
            </a:xfrm>
            <a:prstGeom prst="ellipse">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47" name="Rectangle 133"/>
            <p:cNvSpPr>
              <a:spLocks noChangeArrowheads="1"/>
            </p:cNvSpPr>
            <p:nvPr/>
          </p:nvSpPr>
          <p:spPr bwMode="auto">
            <a:xfrm>
              <a:off x="574916" y="3893177"/>
              <a:ext cx="538305" cy="314987"/>
            </a:xfrm>
            <a:prstGeom prst="rect">
              <a:avLst/>
            </a:prstGeom>
            <a:solidFill>
              <a:srgbClr val="008000"/>
            </a:solidFill>
            <a:ln w="9525">
              <a:solidFill>
                <a:srgbClr val="008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F/W</a:t>
              </a:r>
            </a:p>
          </p:txBody>
        </p:sp>
        <p:sp>
          <p:nvSpPr>
            <p:cNvPr id="248" name="AutoShape 134"/>
            <p:cNvSpPr>
              <a:spLocks noChangeArrowheads="1"/>
            </p:cNvSpPr>
            <p:nvPr/>
          </p:nvSpPr>
          <p:spPr bwMode="auto">
            <a:xfrm>
              <a:off x="1291674" y="3896639"/>
              <a:ext cx="536831" cy="313256"/>
            </a:xfrm>
            <a:prstGeom prst="roundRect">
              <a:avLst>
                <a:gd name="adj" fmla="val 10495"/>
              </a:avLst>
            </a:prstGeom>
            <a:solidFill>
              <a:srgbClr val="FF9900"/>
            </a:solidFill>
            <a:ln w="9525">
              <a:solidFill>
                <a:srgbClr val="FF99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F/W</a:t>
              </a:r>
            </a:p>
          </p:txBody>
        </p:sp>
        <p:sp>
          <p:nvSpPr>
            <p:cNvPr id="249" name="Rectangle 135"/>
            <p:cNvSpPr>
              <a:spLocks noChangeArrowheads="1"/>
            </p:cNvSpPr>
            <p:nvPr/>
          </p:nvSpPr>
          <p:spPr bwMode="auto">
            <a:xfrm>
              <a:off x="2303393" y="3529731"/>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0" name="Rectangle 136"/>
            <p:cNvSpPr>
              <a:spLocks noChangeArrowheads="1"/>
            </p:cNvSpPr>
            <p:nvPr/>
          </p:nvSpPr>
          <p:spPr bwMode="auto">
            <a:xfrm>
              <a:off x="1477500" y="3219937"/>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1" name="Rectangle 137"/>
            <p:cNvSpPr>
              <a:spLocks noChangeArrowheads="1"/>
            </p:cNvSpPr>
            <p:nvPr/>
          </p:nvSpPr>
          <p:spPr bwMode="auto">
            <a:xfrm>
              <a:off x="717972" y="3358393"/>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2" name="AutoShape 138"/>
            <p:cNvSpPr>
              <a:spLocks noChangeArrowheads="1"/>
            </p:cNvSpPr>
            <p:nvPr/>
          </p:nvSpPr>
          <p:spPr bwMode="auto">
            <a:xfrm>
              <a:off x="2303393" y="328570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3" name="AutoShape 139"/>
            <p:cNvSpPr>
              <a:spLocks noChangeArrowheads="1"/>
            </p:cNvSpPr>
            <p:nvPr/>
          </p:nvSpPr>
          <p:spPr bwMode="auto">
            <a:xfrm>
              <a:off x="1495198" y="3502040"/>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4" name="Oval 140"/>
            <p:cNvSpPr>
              <a:spLocks noChangeArrowheads="1"/>
            </p:cNvSpPr>
            <p:nvPr/>
          </p:nvSpPr>
          <p:spPr bwMode="auto">
            <a:xfrm>
              <a:off x="2070373" y="3285704"/>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5" name="Oval 141"/>
            <p:cNvSpPr>
              <a:spLocks noChangeArrowheads="1"/>
            </p:cNvSpPr>
            <p:nvPr/>
          </p:nvSpPr>
          <p:spPr bwMode="auto">
            <a:xfrm>
              <a:off x="771065" y="3526270"/>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6" name="Oval 142"/>
            <p:cNvSpPr>
              <a:spLocks noChangeArrowheads="1"/>
            </p:cNvSpPr>
            <p:nvPr/>
          </p:nvSpPr>
          <p:spPr bwMode="auto">
            <a:xfrm>
              <a:off x="1619082" y="3370507"/>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7" name="Rectangle 143"/>
            <p:cNvSpPr>
              <a:spLocks noChangeArrowheads="1"/>
            </p:cNvSpPr>
            <p:nvPr/>
          </p:nvSpPr>
          <p:spPr bwMode="auto">
            <a:xfrm>
              <a:off x="928870" y="3401660"/>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8" name="AutoShape 144"/>
            <p:cNvSpPr>
              <a:spLocks noChangeArrowheads="1"/>
            </p:cNvSpPr>
            <p:nvPr/>
          </p:nvSpPr>
          <p:spPr bwMode="auto">
            <a:xfrm>
              <a:off x="1365414" y="338608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9" name="AutoShape 145"/>
            <p:cNvSpPr>
              <a:spLocks noChangeArrowheads="1"/>
            </p:cNvSpPr>
            <p:nvPr/>
          </p:nvSpPr>
          <p:spPr bwMode="auto">
            <a:xfrm>
              <a:off x="2076273" y="353492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2" name="Oval 202"/>
            <p:cNvSpPr>
              <a:spLocks noChangeArrowheads="1"/>
            </p:cNvSpPr>
            <p:nvPr/>
          </p:nvSpPr>
          <p:spPr bwMode="auto">
            <a:xfrm>
              <a:off x="6572968" y="3351470"/>
              <a:ext cx="333307" cy="391137"/>
            </a:xfrm>
            <a:prstGeom prst="ellipse">
              <a:avLst/>
            </a:prstGeom>
            <a:noFill/>
            <a:ln w="28575">
              <a:solidFill>
                <a:srgbClr val="CC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3" name="Rectangle 207"/>
            <p:cNvSpPr>
              <a:spLocks noChangeArrowheads="1"/>
            </p:cNvSpPr>
            <p:nvPr/>
          </p:nvSpPr>
          <p:spPr bwMode="auto">
            <a:xfrm>
              <a:off x="5817865" y="2124406"/>
              <a:ext cx="1048685" cy="600164"/>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Reuse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Components</a:t>
              </a:r>
              <a:endParaRPr kumimoji="0" lang="ko-KR" altLang="en-US"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endParaRPr>
            </a:p>
          </p:txBody>
        </p:sp>
        <p:sp>
          <p:nvSpPr>
            <p:cNvPr id="264" name="AutoShape 222" descr="밝은 상향 대각선"/>
            <p:cNvSpPr>
              <a:spLocks noChangeArrowheads="1"/>
            </p:cNvSpPr>
            <p:nvPr/>
          </p:nvSpPr>
          <p:spPr bwMode="auto">
            <a:xfrm>
              <a:off x="431859" y="4729104"/>
              <a:ext cx="2309552" cy="1571472"/>
            </a:xfrm>
            <a:prstGeom prst="bracketPair">
              <a:avLst>
                <a:gd name="adj" fmla="val 5694"/>
              </a:avLst>
            </a:prstGeom>
            <a:pattFill prst="ltUpDiag">
              <a:fgClr>
                <a:srgbClr val="C0C0C0"/>
              </a:fgClr>
              <a:bgClr>
                <a:srgbClr val="EAEAEA"/>
              </a:bgClr>
            </a:pattFill>
            <a:ln w="25400">
              <a:solidFill>
                <a:srgbClr val="C0C0C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5" name="Text Box 223"/>
            <p:cNvSpPr txBox="1">
              <a:spLocks noChangeArrowheads="1"/>
            </p:cNvSpPr>
            <p:nvPr/>
          </p:nvSpPr>
          <p:spPr bwMode="auto">
            <a:xfrm>
              <a:off x="467254" y="4806985"/>
              <a:ext cx="2284481" cy="1446550"/>
            </a:xfrm>
            <a:prstGeom prst="rect">
              <a:avLst/>
            </a:prstGeom>
            <a:noFill/>
            <a:ln w="9525">
              <a:noFill/>
              <a:miter lim="800000"/>
              <a:headEnd/>
              <a:tailEnd/>
            </a:ln>
          </p:spPr>
          <p:txBody>
            <a:bodyPr>
              <a:spAutoFit/>
            </a:bodyPr>
            <a:lstStyle/>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Duplicate development </a:t>
              </a: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of the same feature in each project</a:t>
              </a:r>
              <a:endParaRPr kumimoji="0" lang="ko-KR" altLang="en-US"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Business dependency </a:t>
              </a: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in subsequent projects</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Limited opportunities for small business bid</a:t>
              </a:r>
              <a:endParaRPr kumimoji="0" lang="ko-KR" altLang="en-US"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endParaRPr>
            </a:p>
          </p:txBody>
        </p:sp>
        <p:sp>
          <p:nvSpPr>
            <p:cNvPr id="266" name="Rectangle 239"/>
            <p:cNvSpPr>
              <a:spLocks noChangeArrowheads="1"/>
            </p:cNvSpPr>
            <p:nvPr/>
          </p:nvSpPr>
          <p:spPr bwMode="auto">
            <a:xfrm>
              <a:off x="530027" y="3846449"/>
              <a:ext cx="1339127" cy="392867"/>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67" name="그룹 198"/>
            <p:cNvGrpSpPr>
              <a:grpSpLocks/>
            </p:cNvGrpSpPr>
            <p:nvPr/>
          </p:nvGrpSpPr>
          <p:grpSpPr bwMode="auto">
            <a:xfrm>
              <a:off x="2745835" y="1196752"/>
              <a:ext cx="3187063" cy="3471776"/>
              <a:chOff x="2932113" y="1628775"/>
              <a:chExt cx="3430599" cy="3768727"/>
            </a:xfrm>
          </p:grpSpPr>
          <p:grpSp>
            <p:nvGrpSpPr>
              <p:cNvPr id="294" name="Group 21"/>
              <p:cNvGrpSpPr>
                <a:grpSpLocks/>
              </p:cNvGrpSpPr>
              <p:nvPr/>
            </p:nvGrpSpPr>
            <p:grpSpPr bwMode="auto">
              <a:xfrm>
                <a:off x="3624270" y="1628775"/>
                <a:ext cx="2738442" cy="665163"/>
                <a:chOff x="2263" y="913"/>
                <a:chExt cx="1708" cy="419"/>
              </a:xfrm>
            </p:grpSpPr>
            <p:pic>
              <p:nvPicPr>
                <p:cNvPr id="343" name="Picture 22" descr="상단"/>
                <p:cNvPicPr>
                  <a:picLocks noChangeAspect="1" noChangeArrowheads="1"/>
                </p:cNvPicPr>
                <p:nvPr/>
              </p:nvPicPr>
              <p:blipFill>
                <a:blip r:embed="rId7" cstate="print"/>
                <a:srcRect l="82359" t="54736" r="9093"/>
                <a:stretch>
                  <a:fillRect/>
                </a:stretch>
              </p:blipFill>
              <p:spPr bwMode="auto">
                <a:xfrm>
                  <a:off x="3806" y="913"/>
                  <a:ext cx="165" cy="419"/>
                </a:xfrm>
                <a:prstGeom prst="rect">
                  <a:avLst/>
                </a:prstGeom>
                <a:noFill/>
                <a:ln w="9525">
                  <a:noFill/>
                  <a:miter lim="800000"/>
                  <a:headEnd/>
                  <a:tailEnd/>
                </a:ln>
              </p:spPr>
            </p:pic>
            <p:pic>
              <p:nvPicPr>
                <p:cNvPr id="344" name="Picture 23" descr="상단"/>
                <p:cNvPicPr>
                  <a:picLocks noChangeAspect="1" noChangeArrowheads="1"/>
                </p:cNvPicPr>
                <p:nvPr/>
              </p:nvPicPr>
              <p:blipFill>
                <a:blip r:embed="rId8" cstate="print"/>
                <a:srcRect l="17795" t="54736" r="16103"/>
                <a:stretch>
                  <a:fillRect/>
                </a:stretch>
              </p:blipFill>
              <p:spPr bwMode="auto">
                <a:xfrm>
                  <a:off x="2378" y="913"/>
                  <a:ext cx="1465" cy="419"/>
                </a:xfrm>
                <a:prstGeom prst="rect">
                  <a:avLst/>
                </a:prstGeom>
                <a:noFill/>
                <a:ln w="9525">
                  <a:noFill/>
                  <a:miter lim="800000"/>
                  <a:headEnd/>
                  <a:tailEnd/>
                </a:ln>
              </p:spPr>
            </p:pic>
            <p:pic>
              <p:nvPicPr>
                <p:cNvPr id="345" name="Picture 24" descr="상단"/>
                <p:cNvPicPr>
                  <a:picLocks noChangeAspect="1" noChangeArrowheads="1"/>
                </p:cNvPicPr>
                <p:nvPr/>
              </p:nvPicPr>
              <p:blipFill>
                <a:blip r:embed="rId9" cstate="print"/>
                <a:srcRect l="10222" t="54736" r="81949"/>
                <a:stretch>
                  <a:fillRect/>
                </a:stretch>
              </p:blipFill>
              <p:spPr bwMode="auto">
                <a:xfrm>
                  <a:off x="2263" y="913"/>
                  <a:ext cx="151" cy="419"/>
                </a:xfrm>
                <a:prstGeom prst="rect">
                  <a:avLst/>
                </a:prstGeom>
                <a:noFill/>
                <a:ln w="9525">
                  <a:noFill/>
                  <a:miter lim="800000"/>
                  <a:headEnd/>
                  <a:tailEnd/>
                </a:ln>
              </p:spPr>
            </p:pic>
          </p:grpSp>
          <p:sp>
            <p:nvSpPr>
              <p:cNvPr id="295" name="Text Box 26"/>
              <p:cNvSpPr txBox="1">
                <a:spLocks noChangeArrowheads="1"/>
              </p:cNvSpPr>
              <p:nvPr/>
            </p:nvSpPr>
            <p:spPr bwMode="auto">
              <a:xfrm>
                <a:off x="4452480" y="1811792"/>
                <a:ext cx="1061179" cy="233872"/>
              </a:xfrm>
              <a:prstGeom prst="rect">
                <a:avLst/>
              </a:prstGeom>
              <a:noFill/>
              <a:ln w="9525" algn="ctr">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400" b="1" i="0" u="none" strike="noStrike" kern="0" cap="none" spc="0" normalizeH="0" baseline="0" noProof="0" dirty="0" err="1">
                    <a:ln>
                      <a:noFill/>
                    </a:ln>
                    <a:solidFill>
                      <a:srgbClr val="FFFFFF"/>
                    </a:solidFill>
                    <a:effectLst/>
                    <a:uLnTx/>
                    <a:uFillTx/>
                    <a:latin typeface="Arial" pitchFamily="34" charset="0"/>
                    <a:ea typeface="맑은 고딕" pitchFamily="50" charset="-127"/>
                    <a:cs typeface="Arial" pitchFamily="34" charset="0"/>
                  </a:rPr>
                  <a:t>eGovFrame</a:t>
                </a:r>
                <a:endParaRPr kumimoji="0" lang="ko-KR" altLang="en-US" sz="14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endParaRPr>
              </a:p>
            </p:txBody>
          </p:sp>
          <p:sp>
            <p:nvSpPr>
              <p:cNvPr id="296" name="Rectangle 161"/>
              <p:cNvSpPr>
                <a:spLocks noChangeArrowheads="1"/>
              </p:cNvSpPr>
              <p:nvPr/>
            </p:nvSpPr>
            <p:spPr bwMode="auto">
              <a:xfrm>
                <a:off x="2932113" y="2495550"/>
                <a:ext cx="1128819" cy="65149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Define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Components</a:t>
                </a:r>
              </a:p>
            </p:txBody>
          </p:sp>
          <p:grpSp>
            <p:nvGrpSpPr>
              <p:cNvPr id="297" name="그룹 435"/>
              <p:cNvGrpSpPr>
                <a:grpSpLocks/>
              </p:cNvGrpSpPr>
              <p:nvPr/>
            </p:nvGrpSpPr>
            <p:grpSpPr bwMode="auto">
              <a:xfrm>
                <a:off x="3848100" y="2806703"/>
                <a:ext cx="2305050" cy="2590799"/>
                <a:chOff x="3848098" y="2647950"/>
                <a:chExt cx="2305050" cy="2154238"/>
              </a:xfrm>
            </p:grpSpPr>
            <p:sp>
              <p:nvSpPr>
                <p:cNvPr id="298" name="Rectangle 49"/>
                <p:cNvSpPr>
                  <a:spLocks noChangeArrowheads="1"/>
                </p:cNvSpPr>
                <p:nvPr/>
              </p:nvSpPr>
              <p:spPr bwMode="auto">
                <a:xfrm>
                  <a:off x="3848098" y="2647950"/>
                  <a:ext cx="2305050" cy="719138"/>
                </a:xfrm>
                <a:prstGeom prst="rect">
                  <a:avLst/>
                </a:prstGeom>
                <a:pattFill prst="dkUpDiag">
                  <a:fgClr>
                    <a:srgbClr val="EAEAEA"/>
                  </a:fgClr>
                  <a:bgClr>
                    <a:srgbClr val="FFFFFF"/>
                  </a:bgClr>
                </a:pattFill>
                <a:ln w="15875" algn="ctr">
                  <a:pattFill prst="dkUpDiag">
                    <a:fgClr>
                      <a:srgbClr val="B2B2B2"/>
                    </a:fgClr>
                    <a:bgClr>
                      <a:srgbClr val="FFFFFF"/>
                    </a:bgClr>
                  </a:patt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99" name="Oval 50"/>
                <p:cNvSpPr>
                  <a:spLocks noChangeArrowheads="1"/>
                </p:cNvSpPr>
                <p:nvPr/>
              </p:nvSpPr>
              <p:spPr bwMode="auto">
                <a:xfrm>
                  <a:off x="4013198" y="2719388"/>
                  <a:ext cx="576263"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0" name="Oval 51"/>
                <p:cNvSpPr>
                  <a:spLocks noChangeArrowheads="1"/>
                </p:cNvSpPr>
                <p:nvPr/>
              </p:nvSpPr>
              <p:spPr bwMode="auto">
                <a:xfrm>
                  <a:off x="5453061" y="2719388"/>
                  <a:ext cx="576262"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1" name="Rectangle 52"/>
                <p:cNvSpPr>
                  <a:spLocks noChangeArrowheads="1"/>
                </p:cNvSpPr>
                <p:nvPr/>
              </p:nvSpPr>
              <p:spPr bwMode="auto">
                <a:xfrm>
                  <a:off x="4125911" y="2995613"/>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2" name="Rectangle 53"/>
                <p:cNvSpPr>
                  <a:spLocks noChangeArrowheads="1"/>
                </p:cNvSpPr>
                <p:nvPr/>
              </p:nvSpPr>
              <p:spPr bwMode="auto">
                <a:xfrm>
                  <a:off x="4238623" y="2857500"/>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3" name="Rectangle 54"/>
                <p:cNvSpPr>
                  <a:spLocks noChangeArrowheads="1"/>
                </p:cNvSpPr>
                <p:nvPr/>
              </p:nvSpPr>
              <p:spPr bwMode="auto">
                <a:xfrm>
                  <a:off x="4310061" y="3033713"/>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4" name="Oval 55"/>
                <p:cNvSpPr>
                  <a:spLocks noChangeArrowheads="1"/>
                </p:cNvSpPr>
                <p:nvPr/>
              </p:nvSpPr>
              <p:spPr bwMode="auto">
                <a:xfrm>
                  <a:off x="5640386" y="2862263"/>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5" name="Oval 56"/>
                <p:cNvSpPr>
                  <a:spLocks noChangeArrowheads="1"/>
                </p:cNvSpPr>
                <p:nvPr/>
              </p:nvSpPr>
              <p:spPr bwMode="auto">
                <a:xfrm>
                  <a:off x="5640386" y="3017838"/>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6" name="Oval 57"/>
                <p:cNvSpPr>
                  <a:spLocks noChangeArrowheads="1"/>
                </p:cNvSpPr>
                <p:nvPr/>
              </p:nvSpPr>
              <p:spPr bwMode="auto">
                <a:xfrm>
                  <a:off x="5803898" y="2967038"/>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7" name="Oval 126"/>
                <p:cNvSpPr>
                  <a:spLocks noChangeArrowheads="1"/>
                </p:cNvSpPr>
                <p:nvPr/>
              </p:nvSpPr>
              <p:spPr bwMode="auto">
                <a:xfrm>
                  <a:off x="4730748" y="2719388"/>
                  <a:ext cx="574675"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8" name="AutoShape 127"/>
                <p:cNvSpPr>
                  <a:spLocks noChangeArrowheads="1"/>
                </p:cNvSpPr>
                <p:nvPr/>
              </p:nvSpPr>
              <p:spPr bwMode="auto">
                <a:xfrm>
                  <a:off x="4851398" y="3049588"/>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9" name="AutoShape 128"/>
                <p:cNvSpPr>
                  <a:spLocks noChangeArrowheads="1"/>
                </p:cNvSpPr>
                <p:nvPr/>
              </p:nvSpPr>
              <p:spPr bwMode="auto">
                <a:xfrm>
                  <a:off x="5027611" y="3048000"/>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0" name="AutoShape 129"/>
                <p:cNvSpPr>
                  <a:spLocks noChangeArrowheads="1"/>
                </p:cNvSpPr>
                <p:nvPr/>
              </p:nvSpPr>
              <p:spPr bwMode="auto">
                <a:xfrm>
                  <a:off x="4895848" y="2868613"/>
                  <a:ext cx="106363"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1" name="AutoShape 130"/>
                <p:cNvSpPr>
                  <a:spLocks noChangeArrowheads="1"/>
                </p:cNvSpPr>
                <p:nvPr/>
              </p:nvSpPr>
              <p:spPr bwMode="auto">
                <a:xfrm>
                  <a:off x="5037136" y="2867025"/>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312" name="Group 170"/>
                <p:cNvGrpSpPr>
                  <a:grpSpLocks/>
                </p:cNvGrpSpPr>
                <p:nvPr/>
              </p:nvGrpSpPr>
              <p:grpSpPr bwMode="auto">
                <a:xfrm>
                  <a:off x="4822823" y="3687767"/>
                  <a:ext cx="433388" cy="649288"/>
                  <a:chOff x="2666" y="1797"/>
                  <a:chExt cx="273" cy="409"/>
                </a:xfrm>
              </p:grpSpPr>
              <p:sp>
                <p:nvSpPr>
                  <p:cNvPr id="340" name="Rectangle 171"/>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41" name="Rectangle 172"/>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42" name="Rectangle 173"/>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grpSp>
              <p:nvGrpSpPr>
                <p:cNvPr id="313" name="Group 174"/>
                <p:cNvGrpSpPr>
                  <a:grpSpLocks/>
                </p:cNvGrpSpPr>
                <p:nvPr/>
              </p:nvGrpSpPr>
              <p:grpSpPr bwMode="auto">
                <a:xfrm>
                  <a:off x="5327648" y="3687767"/>
                  <a:ext cx="433388" cy="649288"/>
                  <a:chOff x="2666" y="1797"/>
                  <a:chExt cx="273" cy="409"/>
                </a:xfrm>
              </p:grpSpPr>
              <p:sp>
                <p:nvSpPr>
                  <p:cNvPr id="337" name="Rectangle 175"/>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8" name="Rectangle 176"/>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9" name="Rectangle 177"/>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sp>
              <p:nvSpPr>
                <p:cNvPr id="314" name="Rectangle 178"/>
                <p:cNvSpPr>
                  <a:spLocks noChangeArrowheads="1"/>
                </p:cNvSpPr>
                <p:nvPr/>
              </p:nvSpPr>
              <p:spPr bwMode="auto">
                <a:xfrm>
                  <a:off x="5576886" y="4027488"/>
                  <a:ext cx="115887" cy="1158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5" name="Rectangle 179"/>
                <p:cNvSpPr>
                  <a:spLocks noChangeArrowheads="1"/>
                </p:cNvSpPr>
                <p:nvPr/>
              </p:nvSpPr>
              <p:spPr bwMode="auto">
                <a:xfrm>
                  <a:off x="4986336" y="3746500"/>
                  <a:ext cx="114300"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6" name="AutoShape 180"/>
                <p:cNvSpPr>
                  <a:spLocks noChangeArrowheads="1"/>
                </p:cNvSpPr>
                <p:nvPr/>
              </p:nvSpPr>
              <p:spPr bwMode="auto">
                <a:xfrm>
                  <a:off x="5576886" y="3829050"/>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7" name="AutoShape 181"/>
                <p:cNvSpPr>
                  <a:spLocks noChangeArrowheads="1"/>
                </p:cNvSpPr>
                <p:nvPr/>
              </p:nvSpPr>
              <p:spPr bwMode="auto">
                <a:xfrm>
                  <a:off x="5000623" y="4030663"/>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8" name="Oval 182"/>
                <p:cNvSpPr>
                  <a:spLocks noChangeArrowheads="1"/>
                </p:cNvSpPr>
                <p:nvPr/>
              </p:nvSpPr>
              <p:spPr bwMode="auto">
                <a:xfrm>
                  <a:off x="5399086" y="3962400"/>
                  <a:ext cx="125412" cy="125413"/>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9" name="Oval 183"/>
                <p:cNvSpPr>
                  <a:spLocks noChangeArrowheads="1"/>
                </p:cNvSpPr>
                <p:nvPr/>
              </p:nvSpPr>
              <p:spPr bwMode="auto">
                <a:xfrm>
                  <a:off x="5081586" y="3886200"/>
                  <a:ext cx="125412" cy="125413"/>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0" name="AutoShape 184"/>
                <p:cNvSpPr>
                  <a:spLocks noChangeArrowheads="1"/>
                </p:cNvSpPr>
                <p:nvPr/>
              </p:nvSpPr>
              <p:spPr bwMode="auto">
                <a:xfrm>
                  <a:off x="4905373" y="3900488"/>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1" name="AutoShape 185"/>
                <p:cNvSpPr>
                  <a:spLocks noChangeArrowheads="1"/>
                </p:cNvSpPr>
                <p:nvPr/>
              </p:nvSpPr>
              <p:spPr bwMode="auto">
                <a:xfrm>
                  <a:off x="5403848" y="3762375"/>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322" name="Group 186"/>
                <p:cNvGrpSpPr>
                  <a:grpSpLocks/>
                </p:cNvGrpSpPr>
                <p:nvPr/>
              </p:nvGrpSpPr>
              <p:grpSpPr bwMode="auto">
                <a:xfrm>
                  <a:off x="4321173" y="3524250"/>
                  <a:ext cx="433388" cy="649288"/>
                  <a:chOff x="2666" y="1797"/>
                  <a:chExt cx="273" cy="409"/>
                </a:xfrm>
              </p:grpSpPr>
              <p:sp>
                <p:nvSpPr>
                  <p:cNvPr id="334" name="Rectangle 187"/>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5" name="Rectangle 188"/>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6" name="Rectangle 189"/>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sp>
              <p:nvSpPr>
                <p:cNvPr id="323" name="Rectangle 190"/>
                <p:cNvSpPr>
                  <a:spLocks noChangeArrowheads="1"/>
                </p:cNvSpPr>
                <p:nvPr/>
              </p:nvSpPr>
              <p:spPr bwMode="auto">
                <a:xfrm>
                  <a:off x="4384673" y="3581400"/>
                  <a:ext cx="115888"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4" name="Oval 191"/>
                <p:cNvSpPr>
                  <a:spLocks noChangeArrowheads="1"/>
                </p:cNvSpPr>
                <p:nvPr/>
              </p:nvSpPr>
              <p:spPr bwMode="auto">
                <a:xfrm>
                  <a:off x="4432298" y="3830638"/>
                  <a:ext cx="125413" cy="125412"/>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5" name="Rectangle 192"/>
                <p:cNvSpPr>
                  <a:spLocks noChangeArrowheads="1"/>
                </p:cNvSpPr>
                <p:nvPr/>
              </p:nvSpPr>
              <p:spPr bwMode="auto">
                <a:xfrm>
                  <a:off x="4576761" y="3686175"/>
                  <a:ext cx="115887"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6" name="Line 193"/>
                <p:cNvSpPr>
                  <a:spLocks noChangeShapeType="1"/>
                </p:cNvSpPr>
                <p:nvPr/>
              </p:nvSpPr>
              <p:spPr bwMode="auto">
                <a:xfrm flipH="1">
                  <a:off x="5872161" y="4164013"/>
                  <a:ext cx="144462" cy="215900"/>
                </a:xfrm>
                <a:prstGeom prst="line">
                  <a:avLst/>
                </a:prstGeom>
                <a:noFill/>
                <a:ln w="19050">
                  <a:solidFill>
                    <a:srgbClr val="CC99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327" name="Line 200"/>
                <p:cNvSpPr>
                  <a:spLocks noChangeShapeType="1"/>
                </p:cNvSpPr>
                <p:nvPr/>
              </p:nvSpPr>
              <p:spPr bwMode="auto">
                <a:xfrm>
                  <a:off x="5040311" y="3308350"/>
                  <a:ext cx="0" cy="360363"/>
                </a:xfrm>
                <a:prstGeom prst="line">
                  <a:avLst/>
                </a:pr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328" name="Rectangle 240"/>
                <p:cNvSpPr>
                  <a:spLocks noChangeArrowheads="1"/>
                </p:cNvSpPr>
                <p:nvPr/>
              </p:nvSpPr>
              <p:spPr bwMode="auto">
                <a:xfrm>
                  <a:off x="4144961" y="4416425"/>
                  <a:ext cx="1800225" cy="360363"/>
                </a:xfrm>
                <a:prstGeom prst="rect">
                  <a:avLst/>
                </a:prstGeom>
                <a:solidFill>
                  <a:srgbClr val="A8954E"/>
                </a:solidFill>
                <a:ln w="9525" algn="ctr">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Framework</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9" name="Rectangle 241"/>
                <p:cNvSpPr>
                  <a:spLocks noChangeArrowheads="1"/>
                </p:cNvSpPr>
                <p:nvPr/>
              </p:nvSpPr>
              <p:spPr bwMode="auto">
                <a:xfrm>
                  <a:off x="4144961" y="4271963"/>
                  <a:ext cx="287337"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0" name="Rectangle 242"/>
                <p:cNvSpPr>
                  <a:spLocks noChangeArrowheads="1"/>
                </p:cNvSpPr>
                <p:nvPr/>
              </p:nvSpPr>
              <p:spPr bwMode="auto">
                <a:xfrm>
                  <a:off x="4648198" y="4271963"/>
                  <a:ext cx="288925"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1" name="Rectangle 243"/>
                <p:cNvSpPr>
                  <a:spLocks noChangeArrowheads="1"/>
                </p:cNvSpPr>
                <p:nvPr/>
              </p:nvSpPr>
              <p:spPr bwMode="auto">
                <a:xfrm>
                  <a:off x="5656261" y="4271963"/>
                  <a:ext cx="288925"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2" name="Rectangle 244"/>
                <p:cNvSpPr>
                  <a:spLocks noChangeArrowheads="1"/>
                </p:cNvSpPr>
                <p:nvPr/>
              </p:nvSpPr>
              <p:spPr bwMode="auto">
                <a:xfrm>
                  <a:off x="5153023" y="4271963"/>
                  <a:ext cx="287338"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3" name="Rectangle 245"/>
                <p:cNvSpPr>
                  <a:spLocks noChangeArrowheads="1"/>
                </p:cNvSpPr>
                <p:nvPr/>
              </p:nvSpPr>
              <p:spPr bwMode="auto">
                <a:xfrm>
                  <a:off x="4097336" y="4233863"/>
                  <a:ext cx="1906587" cy="568325"/>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grpSp>
        <p:sp>
          <p:nvSpPr>
            <p:cNvPr id="268" name="Freeform 246"/>
            <p:cNvSpPr>
              <a:spLocks/>
            </p:cNvSpPr>
            <p:nvPr/>
          </p:nvSpPr>
          <p:spPr bwMode="auto">
            <a:xfrm flipV="1">
              <a:off x="1744440" y="4029903"/>
              <a:ext cx="2041137" cy="36171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386FB1"/>
              </a:solidFill>
              <a:round/>
              <a:headEnd/>
              <a:tailEnd type="triangle" w="med" len="med"/>
            </a:ln>
          </p:spPr>
          <p:txBody>
            <a:bodyPr rot="1080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69" name="Rectangle 248"/>
            <p:cNvSpPr>
              <a:spLocks noChangeArrowheads="1"/>
            </p:cNvSpPr>
            <p:nvPr/>
          </p:nvSpPr>
          <p:spPr bwMode="auto">
            <a:xfrm>
              <a:off x="2747311" y="4293096"/>
              <a:ext cx="936475" cy="600164"/>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Define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Standard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Framework</a:t>
              </a:r>
              <a:endParaRPr kumimoji="0" lang="ko-KR" altLang="en-US"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endParaRPr>
            </a:p>
          </p:txBody>
        </p:sp>
        <p:sp>
          <p:nvSpPr>
            <p:cNvPr id="270" name="Freeform 249"/>
            <p:cNvSpPr>
              <a:spLocks/>
            </p:cNvSpPr>
            <p:nvPr/>
          </p:nvSpPr>
          <p:spPr bwMode="auto">
            <a:xfrm>
              <a:off x="5626140" y="4142397"/>
              <a:ext cx="986648" cy="23537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386FB1"/>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1" name="Rectangle 250"/>
            <p:cNvSpPr>
              <a:spLocks noChangeArrowheads="1"/>
            </p:cNvSpPr>
            <p:nvPr/>
          </p:nvSpPr>
          <p:spPr bwMode="auto">
            <a:xfrm>
              <a:off x="6583292" y="3969328"/>
              <a:ext cx="2207790" cy="470749"/>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72" name="Rectangle 259"/>
            <p:cNvSpPr>
              <a:spLocks noChangeArrowheads="1"/>
            </p:cNvSpPr>
            <p:nvPr/>
          </p:nvSpPr>
          <p:spPr bwMode="auto">
            <a:xfrm>
              <a:off x="6590666" y="2865144"/>
              <a:ext cx="2201892" cy="1043610"/>
            </a:xfrm>
            <a:prstGeom prst="rect">
              <a:avLst/>
            </a:prstGeom>
            <a:solidFill>
              <a:srgbClr val="B79249">
                <a:alpha val="30196"/>
              </a:srgbClr>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73" name="Line 261"/>
            <p:cNvSpPr>
              <a:spLocks noChangeShapeType="1"/>
            </p:cNvSpPr>
            <p:nvPr/>
          </p:nvSpPr>
          <p:spPr bwMode="auto">
            <a:xfrm>
              <a:off x="6590666" y="2859952"/>
              <a:ext cx="2207791" cy="0"/>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4" name="Line 262"/>
            <p:cNvSpPr>
              <a:spLocks noChangeShapeType="1"/>
            </p:cNvSpPr>
            <p:nvPr/>
          </p:nvSpPr>
          <p:spPr bwMode="auto">
            <a:xfrm>
              <a:off x="8792557" y="2853030"/>
              <a:ext cx="0" cy="1055724"/>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5" name="Line 263"/>
            <p:cNvSpPr>
              <a:spLocks noChangeShapeType="1"/>
            </p:cNvSpPr>
            <p:nvPr/>
          </p:nvSpPr>
          <p:spPr bwMode="auto">
            <a:xfrm>
              <a:off x="6590666" y="2853030"/>
              <a:ext cx="0" cy="1055724"/>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6" name="Line 264"/>
            <p:cNvSpPr>
              <a:spLocks noChangeShapeType="1"/>
            </p:cNvSpPr>
            <p:nvPr/>
          </p:nvSpPr>
          <p:spPr bwMode="auto">
            <a:xfrm>
              <a:off x="6590666" y="3908754"/>
              <a:ext cx="2201892" cy="0"/>
            </a:xfrm>
            <a:prstGeom prst="line">
              <a:avLst/>
            </a:prstGeom>
            <a:noFill/>
            <a:ln w="19050">
              <a:solidFill>
                <a:srgbClr val="CC0000"/>
              </a:solidFill>
              <a:prstDash val="sysDot"/>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7" name="AutoShape 272" descr="밝은 상향 대각선"/>
            <p:cNvSpPr>
              <a:spLocks noChangeArrowheads="1"/>
            </p:cNvSpPr>
            <p:nvPr/>
          </p:nvSpPr>
          <p:spPr bwMode="auto">
            <a:xfrm>
              <a:off x="6493328" y="4926403"/>
              <a:ext cx="2309552" cy="1374173"/>
            </a:xfrm>
            <a:prstGeom prst="bracketPair">
              <a:avLst>
                <a:gd name="adj" fmla="val 5694"/>
              </a:avLst>
            </a:prstGeom>
            <a:pattFill prst="ltUpDiag">
              <a:fgClr>
                <a:srgbClr val="C0C0C0"/>
              </a:fgClr>
              <a:bgClr>
                <a:srgbClr val="EAEAEA"/>
              </a:bgClr>
            </a:pattFill>
            <a:ln w="25400">
              <a:solidFill>
                <a:srgbClr val="C0C0C0"/>
              </a:solidFill>
              <a:round/>
              <a:headEnd/>
              <a:tailEnd/>
            </a:ln>
          </p:spPr>
          <p:txBody>
            <a:bodyPr tIns="10800" bIns="10800" anchor="ctr"/>
            <a:lstStyle/>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Development </a:t>
              </a:r>
              <a:r>
                <a:rPr kumimoji="0" lang="en-US" altLang="ko-KR"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rPr>
                <a:t>based on the standard framework</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rPr>
                <a:t>Productivity and quality improvement</a:t>
              </a: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 by reusing common components</a:t>
              </a:r>
              <a:endParaRPr kumimoji="0" lang="ko-KR" altLang="en-US"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endParaRPr>
            </a:p>
          </p:txBody>
        </p:sp>
        <p:sp>
          <p:nvSpPr>
            <p:cNvPr id="278" name="Freeform 291"/>
            <p:cNvSpPr>
              <a:spLocks/>
            </p:cNvSpPr>
            <p:nvPr/>
          </p:nvSpPr>
          <p:spPr bwMode="auto">
            <a:xfrm>
              <a:off x="536571" y="2906681"/>
              <a:ext cx="2097180" cy="1145721"/>
            </a:xfrm>
            <a:custGeom>
              <a:avLst/>
              <a:gdLst>
                <a:gd name="T0" fmla="*/ 2147483647 w 1361"/>
                <a:gd name="T1" fmla="*/ 0 h 725"/>
                <a:gd name="T2" fmla="*/ 2147483647 w 1361"/>
                <a:gd name="T3" fmla="*/ 0 h 725"/>
                <a:gd name="T4" fmla="*/ 2147483647 w 1361"/>
                <a:gd name="T5" fmla="*/ 2147483647 h 725"/>
                <a:gd name="T6" fmla="*/ 2147483647 w 1361"/>
                <a:gd name="T7" fmla="*/ 2147483647 h 725"/>
                <a:gd name="T8" fmla="*/ 2147483647 w 1361"/>
                <a:gd name="T9" fmla="*/ 2147483647 h 725"/>
                <a:gd name="T10" fmla="*/ 2147483647 w 1361"/>
                <a:gd name="T11" fmla="*/ 2147483647 h 725"/>
                <a:gd name="T12" fmla="*/ 2147483647 w 1361"/>
                <a:gd name="T13" fmla="*/ 2147483647 h 725"/>
                <a:gd name="T14" fmla="*/ 0 w 1361"/>
                <a:gd name="T15" fmla="*/ 2147483647 h 725"/>
                <a:gd name="T16" fmla="*/ 0 w 1361"/>
                <a:gd name="T17" fmla="*/ 2147483647 h 725"/>
                <a:gd name="T18" fmla="*/ 2147483647 w 1361"/>
                <a:gd name="T19" fmla="*/ 2147483647 h 725"/>
                <a:gd name="T20" fmla="*/ 2147483647 w 1361"/>
                <a:gd name="T21" fmla="*/ 0 h 7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1"/>
                <a:gd name="T34" fmla="*/ 0 h 725"/>
                <a:gd name="T35" fmla="*/ 1361 w 1361"/>
                <a:gd name="T36" fmla="*/ 725 h 7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1" h="725">
                  <a:moveTo>
                    <a:pt x="453" y="0"/>
                  </a:moveTo>
                  <a:lnTo>
                    <a:pt x="862" y="0"/>
                  </a:lnTo>
                  <a:lnTo>
                    <a:pt x="862" y="90"/>
                  </a:lnTo>
                  <a:lnTo>
                    <a:pt x="1361" y="90"/>
                  </a:lnTo>
                  <a:lnTo>
                    <a:pt x="1361" y="725"/>
                  </a:lnTo>
                  <a:lnTo>
                    <a:pt x="907" y="725"/>
                  </a:lnTo>
                  <a:lnTo>
                    <a:pt x="907" y="544"/>
                  </a:lnTo>
                  <a:lnTo>
                    <a:pt x="0" y="544"/>
                  </a:lnTo>
                  <a:lnTo>
                    <a:pt x="0" y="90"/>
                  </a:lnTo>
                  <a:lnTo>
                    <a:pt x="453" y="90"/>
                  </a:lnTo>
                  <a:lnTo>
                    <a:pt x="453" y="0"/>
                  </a:lnTo>
                  <a:close/>
                </a:path>
              </a:pathLst>
            </a:custGeom>
            <a:solidFill>
              <a:srgbClr val="E5BE41">
                <a:alpha val="45882"/>
              </a:srgbClr>
            </a:solidFill>
            <a:ln w="25400">
              <a:solidFill>
                <a:srgbClr val="990033"/>
              </a:solidFill>
              <a:prstDash val="sysDot"/>
              <a:round/>
              <a:headEnd/>
              <a:tailEnd/>
            </a:ln>
          </p:spPr>
          <p:txBody>
            <a:bodyPr lIns="90000" tIns="46800" rIns="90000" bIns="468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9" name="Rectangle 207"/>
            <p:cNvSpPr>
              <a:spLocks noChangeArrowheads="1"/>
            </p:cNvSpPr>
            <p:nvPr/>
          </p:nvSpPr>
          <p:spPr bwMode="auto">
            <a:xfrm>
              <a:off x="5959202" y="4499595"/>
              <a:ext cx="936475" cy="600164"/>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Apply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Standard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Framework</a:t>
              </a:r>
            </a:p>
          </p:txBody>
        </p:sp>
        <p:sp>
          <p:nvSpPr>
            <p:cNvPr id="280" name="Rectangle 3"/>
            <p:cNvSpPr>
              <a:spLocks noChangeArrowheads="1"/>
            </p:cNvSpPr>
            <p:nvPr/>
          </p:nvSpPr>
          <p:spPr bwMode="auto">
            <a:xfrm>
              <a:off x="3402004" y="5440419"/>
              <a:ext cx="2477681" cy="946691"/>
            </a:xfrm>
            <a:prstGeom prst="rect">
              <a:avLst/>
            </a:prstGeom>
            <a:solidFill>
              <a:srgbClr val="FFFFFF"/>
            </a:solidFill>
            <a:ln w="12700" algn="ctr">
              <a:solidFill>
                <a:srgbClr val="0F5CB1"/>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81" name="Group 4"/>
            <p:cNvGrpSpPr>
              <a:grpSpLocks/>
            </p:cNvGrpSpPr>
            <p:nvPr/>
          </p:nvGrpSpPr>
          <p:grpSpPr bwMode="auto">
            <a:xfrm>
              <a:off x="3376932" y="5210237"/>
              <a:ext cx="2527824" cy="392867"/>
              <a:chOff x="280" y="542"/>
              <a:chExt cx="1095" cy="193"/>
            </a:xfrm>
          </p:grpSpPr>
          <p:pic>
            <p:nvPicPr>
              <p:cNvPr id="292" name="Picture 5" descr="도형-블루 -01"/>
              <p:cNvPicPr>
                <a:picLocks noChangeAspect="1" noChangeArrowheads="1"/>
              </p:cNvPicPr>
              <p:nvPr/>
            </p:nvPicPr>
            <p:blipFill>
              <a:blip r:embed="rId10" cstate="print"/>
              <a:srcRect r="57092"/>
              <a:stretch>
                <a:fillRect/>
              </a:stretch>
            </p:blipFill>
            <p:spPr bwMode="auto">
              <a:xfrm>
                <a:off x="280" y="542"/>
                <a:ext cx="614" cy="193"/>
              </a:xfrm>
              <a:prstGeom prst="rect">
                <a:avLst/>
              </a:prstGeom>
              <a:noFill/>
              <a:ln w="9525">
                <a:noFill/>
                <a:miter lim="800000"/>
                <a:headEnd/>
                <a:tailEnd/>
              </a:ln>
            </p:spPr>
          </p:pic>
          <p:pic>
            <p:nvPicPr>
              <p:cNvPr id="293" name="Picture 6" descr="도형-블루 -01"/>
              <p:cNvPicPr>
                <a:picLocks noChangeAspect="1" noChangeArrowheads="1"/>
              </p:cNvPicPr>
              <p:nvPr/>
            </p:nvPicPr>
            <p:blipFill>
              <a:blip r:embed="rId10" cstate="print"/>
              <a:srcRect r="63452"/>
              <a:stretch>
                <a:fillRect/>
              </a:stretch>
            </p:blipFill>
            <p:spPr bwMode="auto">
              <a:xfrm flipH="1">
                <a:off x="852" y="542"/>
                <a:ext cx="523" cy="193"/>
              </a:xfrm>
              <a:prstGeom prst="rect">
                <a:avLst/>
              </a:prstGeom>
              <a:noFill/>
              <a:ln w="9525">
                <a:noFill/>
                <a:miter lim="800000"/>
                <a:headEnd/>
                <a:tailEnd/>
              </a:ln>
            </p:spPr>
          </p:pic>
        </p:grpSp>
        <p:pic>
          <p:nvPicPr>
            <p:cNvPr id="282" name="Picture 29" descr="19"/>
            <p:cNvPicPr>
              <a:picLocks noChangeArrowheads="1"/>
            </p:cNvPicPr>
            <p:nvPr/>
          </p:nvPicPr>
          <p:blipFill>
            <a:blip r:embed="rId11" cstate="print"/>
            <a:srcRect/>
            <a:stretch>
              <a:fillRect/>
            </a:stretch>
          </p:blipFill>
          <p:spPr bwMode="auto">
            <a:xfrm>
              <a:off x="4055345" y="5703485"/>
              <a:ext cx="1401070" cy="598821"/>
            </a:xfrm>
            <a:prstGeom prst="rect">
              <a:avLst/>
            </a:prstGeom>
            <a:noFill/>
            <a:ln w="9525">
              <a:noFill/>
              <a:miter lim="800000"/>
              <a:headEnd/>
              <a:tailEnd/>
            </a:ln>
          </p:spPr>
        </p:pic>
        <p:sp>
          <p:nvSpPr>
            <p:cNvPr id="283" name="Rectangle 30"/>
            <p:cNvSpPr>
              <a:spLocks noChangeArrowheads="1"/>
            </p:cNvSpPr>
            <p:nvPr/>
          </p:nvSpPr>
          <p:spPr bwMode="auto">
            <a:xfrm>
              <a:off x="3901964" y="6003164"/>
              <a:ext cx="1778621" cy="338554"/>
            </a:xfrm>
            <a:prstGeom prst="rect">
              <a:avLst/>
            </a:prstGeom>
            <a:noFill/>
            <a:ln w="9525">
              <a:noFill/>
              <a:miter lim="800000"/>
              <a:headEnd/>
              <a:tailEnd/>
            </a:ln>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Management System for</a:t>
              </a:r>
            </a:p>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100" b="1" i="0" u="none" strike="noStrike" kern="0" cap="none" spc="0" normalizeH="0" baseline="0" noProof="0" dirty="0" err="1">
                  <a:ln>
                    <a:noFill/>
                  </a:ln>
                  <a:solidFill>
                    <a:sysClr val="windowText" lastClr="000000"/>
                  </a:solidFill>
                  <a:effectLst/>
                  <a:uLnTx/>
                  <a:uFillTx/>
                  <a:latin typeface="Arial" pitchFamily="34" charset="0"/>
                  <a:ea typeface="맑은 고딕" pitchFamily="50" charset="-127"/>
                  <a:cs typeface="Arial" pitchFamily="34" charset="0"/>
                </a:rPr>
                <a:t>eGovFrame</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84" name="Group 31"/>
            <p:cNvGrpSpPr>
              <a:grpSpLocks/>
            </p:cNvGrpSpPr>
            <p:nvPr/>
          </p:nvGrpSpPr>
          <p:grpSpPr bwMode="auto">
            <a:xfrm>
              <a:off x="3468369" y="5838479"/>
              <a:ext cx="414421" cy="394599"/>
              <a:chOff x="328" y="4557"/>
              <a:chExt cx="329" cy="256"/>
            </a:xfrm>
          </p:grpSpPr>
          <p:pic>
            <p:nvPicPr>
              <p:cNvPr id="290" name="Picture 32" descr="01"/>
              <p:cNvPicPr>
                <a:picLocks noChangeAspect="1" noChangeArrowheads="1"/>
              </p:cNvPicPr>
              <p:nvPr/>
            </p:nvPicPr>
            <p:blipFill>
              <a:blip r:embed="rId12" cstate="print"/>
              <a:srcRect r="47331"/>
              <a:stretch>
                <a:fillRect/>
              </a:stretch>
            </p:blipFill>
            <p:spPr bwMode="auto">
              <a:xfrm>
                <a:off x="451" y="4557"/>
                <a:ext cx="206" cy="221"/>
              </a:xfrm>
              <a:prstGeom prst="rect">
                <a:avLst/>
              </a:prstGeom>
              <a:noFill/>
              <a:ln w="9525">
                <a:noFill/>
                <a:miter lim="800000"/>
                <a:headEnd/>
                <a:tailEnd/>
              </a:ln>
            </p:spPr>
          </p:pic>
          <p:pic>
            <p:nvPicPr>
              <p:cNvPr id="291" name="Picture 33" descr="노트북"/>
              <p:cNvPicPr>
                <a:picLocks noChangeAspect="1" noChangeArrowheads="1"/>
              </p:cNvPicPr>
              <p:nvPr/>
            </p:nvPicPr>
            <p:blipFill>
              <a:blip r:embed="rId13" cstate="print"/>
              <a:srcRect/>
              <a:stretch>
                <a:fillRect/>
              </a:stretch>
            </p:blipFill>
            <p:spPr bwMode="auto">
              <a:xfrm>
                <a:off x="328" y="4631"/>
                <a:ext cx="209" cy="182"/>
              </a:xfrm>
              <a:prstGeom prst="rect">
                <a:avLst/>
              </a:prstGeom>
              <a:noFill/>
              <a:ln w="9525">
                <a:noFill/>
                <a:miter lim="800000"/>
                <a:headEnd/>
                <a:tailEnd/>
              </a:ln>
            </p:spPr>
          </p:pic>
        </p:grpSp>
        <p:sp>
          <p:nvSpPr>
            <p:cNvPr id="285" name="Rectangle 224"/>
            <p:cNvSpPr>
              <a:spLocks noChangeArrowheads="1"/>
            </p:cNvSpPr>
            <p:nvPr/>
          </p:nvSpPr>
          <p:spPr bwMode="auto">
            <a:xfrm>
              <a:off x="3864319" y="5225813"/>
              <a:ext cx="1601721" cy="276999"/>
            </a:xfrm>
            <a:prstGeom prst="rect">
              <a:avLst/>
            </a:prstGeom>
            <a:noFill/>
            <a:ln w="9525" algn="ctr">
              <a:noFill/>
              <a:miter lim="800000"/>
              <a:headEnd/>
              <a:tailEnd/>
            </a:ln>
          </p:spPr>
          <p:txBody>
            <a:bodyPr wrap="none">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2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eGovFrame  Center</a:t>
              </a:r>
              <a:endParaRPr kumimoji="0" lang="ko-KR" altLang="en-US" sz="12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287" name="Rectangle 199"/>
            <p:cNvSpPr>
              <a:spLocks noChangeArrowheads="1"/>
            </p:cNvSpPr>
            <p:nvPr/>
          </p:nvSpPr>
          <p:spPr bwMode="auto">
            <a:xfrm>
              <a:off x="4096519" y="4967117"/>
              <a:ext cx="1047082" cy="261610"/>
            </a:xfrm>
            <a:prstGeom prst="rect">
              <a:avLst/>
            </a:prstGeom>
            <a:noFill/>
            <a:ln w="9525">
              <a:noFill/>
              <a:miter lim="800000"/>
              <a:headEnd/>
              <a:tailEnd/>
            </a:ln>
          </p:spPr>
          <p:txBody>
            <a:bodyPr wrap="none">
              <a:spAutoFit/>
            </a:bodyPr>
            <a:lstStyle>
              <a:defPPr>
                <a:defRPr lang="ko-KR"/>
              </a:defPPr>
              <a:lvl1pPr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1pPr>
              <a:lvl2pPr marL="4572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2pPr>
              <a:lvl3pPr marL="9144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3pPr>
              <a:lvl4pPr marL="13716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4pPr>
              <a:lvl5pPr marL="18288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5pPr>
              <a:lvl6pPr marL="22860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6pPr>
              <a:lvl7pPr marL="27432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7pPr>
              <a:lvl8pPr marL="32004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8pPr>
              <a:lvl9pPr marL="36576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1100" b="1" i="0" u="none" strike="noStrike" kern="1200" cap="none" spc="0" normalizeH="0" baseline="0" noProof="0" dirty="0" smtClean="0">
                  <a:ln>
                    <a:noFill/>
                  </a:ln>
                  <a:solidFill>
                    <a:srgbClr val="CC0000"/>
                  </a:solidFill>
                  <a:effectLst>
                    <a:outerShdw blurRad="38100" dist="38100" dir="2700000" algn="tl">
                      <a:srgbClr val="000000">
                        <a:alpha val="43137"/>
                      </a:srgbClr>
                    </a:outerShdw>
                  </a:effectLst>
                  <a:uLnTx/>
                  <a:uFillTx/>
                  <a:latin typeface="Arial" pitchFamily="34" charset="0"/>
                  <a:ea typeface="맑은 고딕" pitchFamily="50" charset="-127"/>
                  <a:cs typeface="Arial" pitchFamily="34" charset="0"/>
                </a:rPr>
                <a:t>Management</a:t>
              </a:r>
              <a:endParaRPr kumimoji="1" lang="ko-KR" altLang="en-US" sz="1100" b="1" i="0" u="none" strike="noStrike" kern="1200" cap="none" spc="0" normalizeH="0" baseline="0" noProof="0" dirty="0">
                <a:ln>
                  <a:noFill/>
                </a:ln>
                <a:solidFill>
                  <a:srgbClr val="CC0000"/>
                </a:solidFill>
                <a:effectLst>
                  <a:outerShdw blurRad="38100" dist="38100" dir="2700000" algn="tl">
                    <a:srgbClr val="000000">
                      <a:alpha val="43137"/>
                    </a:srgbClr>
                  </a:outerShdw>
                </a:effectLst>
                <a:uLnTx/>
                <a:uFillTx/>
                <a:latin typeface="Arial" pitchFamily="34" charset="0"/>
                <a:ea typeface="맑은 고딕" pitchFamily="50" charset="-127"/>
                <a:cs typeface="Arial" pitchFamily="34" charset="0"/>
              </a:endParaRPr>
            </a:p>
          </p:txBody>
        </p:sp>
        <p:sp>
          <p:nvSpPr>
            <p:cNvPr id="288" name="Rectangle 48"/>
            <p:cNvSpPr>
              <a:spLocks noChangeArrowheads="1"/>
            </p:cNvSpPr>
            <p:nvPr/>
          </p:nvSpPr>
          <p:spPr bwMode="auto">
            <a:xfrm>
              <a:off x="1350666" y="2974178"/>
              <a:ext cx="519373"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endParaRPr kumimoji="0" lang="ko-KR" altLang="en-US"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89" name="Rectangle 48"/>
            <p:cNvSpPr>
              <a:spLocks noChangeArrowheads="1"/>
            </p:cNvSpPr>
            <p:nvPr/>
          </p:nvSpPr>
          <p:spPr bwMode="auto">
            <a:xfrm>
              <a:off x="642757" y="3126480"/>
              <a:ext cx="519373"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endParaRPr kumimoji="0" lang="ko-KR" altLang="en-US"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5" name="Line 148"/>
            <p:cNvSpPr>
              <a:spLocks noChangeShapeType="1"/>
            </p:cNvSpPr>
            <p:nvPr/>
          </p:nvSpPr>
          <p:spPr bwMode="auto">
            <a:xfrm flipH="1">
              <a:off x="1744439" y="2526337"/>
              <a:ext cx="1284558" cy="1456835"/>
            </a:xfrm>
            <a:prstGeom prst="line">
              <a:avLst/>
            </a:prstGeom>
            <a:noFill/>
            <a:ln w="25400">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p:sp>
          <p:nvSpPr>
            <p:cNvPr id="391" name="Freeform 183"/>
            <p:cNvSpPr>
              <a:spLocks/>
            </p:cNvSpPr>
            <p:nvPr/>
          </p:nvSpPr>
          <p:spPr bwMode="auto">
            <a:xfrm>
              <a:off x="5172606" y="4260083"/>
              <a:ext cx="1310399" cy="1456113"/>
            </a:xfrm>
            <a:custGeom>
              <a:avLst/>
              <a:gdLst>
                <a:gd name="T0" fmla="*/ 0 w 817"/>
                <a:gd name="T1" fmla="*/ 227 h 227"/>
                <a:gd name="T2" fmla="*/ 318 w 817"/>
                <a:gd name="T3" fmla="*/ 181 h 227"/>
                <a:gd name="T4" fmla="*/ 545 w 817"/>
                <a:gd name="T5" fmla="*/ 45 h 227"/>
                <a:gd name="T6" fmla="*/ 81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a:lnSpc>
                  <a:spcPct val="100000"/>
                </a:lnSpc>
                <a:buClrTx/>
                <a:buFontTx/>
                <a:buNone/>
              </a:pPr>
              <a:endParaRPr lang="ko-KR" altLang="en-US" sz="3000" dirty="0">
                <a:solidFill>
                  <a:srgbClr val="000000"/>
                </a:solidFill>
                <a:latin typeface="HY견고딕" pitchFamily="18" charset="-127"/>
                <a:ea typeface="HY견고딕" pitchFamily="18" charset="-127"/>
              </a:endParaRPr>
            </a:p>
          </p:txBody>
        </p:sp>
        <p:sp>
          <p:nvSpPr>
            <p:cNvPr id="392" name="Freeform 191"/>
            <p:cNvSpPr>
              <a:spLocks/>
            </p:cNvSpPr>
            <p:nvPr/>
          </p:nvSpPr>
          <p:spPr bwMode="auto">
            <a:xfrm flipV="1">
              <a:off x="4049396" y="4668528"/>
              <a:ext cx="234572" cy="1064728"/>
            </a:xfrm>
            <a:custGeom>
              <a:avLst/>
              <a:gdLst>
                <a:gd name="T0" fmla="*/ 0 w 817"/>
                <a:gd name="T1" fmla="*/ 227 h 227"/>
                <a:gd name="T2" fmla="*/ 318 w 817"/>
                <a:gd name="T3" fmla="*/ 181 h 227"/>
                <a:gd name="T4" fmla="*/ 545 w 817"/>
                <a:gd name="T5" fmla="*/ 45 h 227"/>
                <a:gd name="T6" fmla="*/ 81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a:lnSpc>
                  <a:spcPct val="100000"/>
                </a:lnSpc>
                <a:buClrTx/>
                <a:buFontTx/>
                <a:buNone/>
              </a:pPr>
              <a:endParaRPr lang="ko-KR" altLang="en-US" sz="3000" dirty="0">
                <a:solidFill>
                  <a:srgbClr val="000000"/>
                </a:solidFill>
                <a:latin typeface="HY견고딕" pitchFamily="18" charset="-127"/>
                <a:ea typeface="HY견고딕" pitchFamily="18" charset="-127"/>
              </a:endParaRPr>
            </a:p>
          </p:txBody>
        </p:sp>
        <p:sp>
          <p:nvSpPr>
            <p:cNvPr id="260" name="Freeform 159"/>
            <p:cNvSpPr>
              <a:spLocks/>
            </p:cNvSpPr>
            <p:nvPr/>
          </p:nvSpPr>
          <p:spPr bwMode="auto">
            <a:xfrm>
              <a:off x="2531987" y="2811260"/>
              <a:ext cx="1218189" cy="87596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61" name="Freeform 201"/>
            <p:cNvSpPr>
              <a:spLocks/>
            </p:cNvSpPr>
            <p:nvPr/>
          </p:nvSpPr>
          <p:spPr bwMode="auto">
            <a:xfrm flipV="1">
              <a:off x="5623180" y="2828846"/>
              <a:ext cx="1055976" cy="591851"/>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grpSp>
      <p:sp>
        <p:nvSpPr>
          <p:cNvPr id="4" name="TextBox 3"/>
          <p:cNvSpPr txBox="1"/>
          <p:nvPr/>
        </p:nvSpPr>
        <p:spPr>
          <a:xfrm>
            <a:off x="390427" y="836712"/>
            <a:ext cx="6269805" cy="338554"/>
          </a:xfrm>
          <a:prstGeom prst="rect">
            <a:avLst/>
          </a:prstGeom>
          <a:noFill/>
        </p:spPr>
        <p:txBody>
          <a:bodyPr wrap="square" rtlCol="0">
            <a:spAutoFit/>
          </a:bodyPr>
          <a:lstStyle/>
          <a:p>
            <a:r>
              <a:rPr lang="en-US" altLang="ko-KR" sz="1600" dirty="0" smtClean="0">
                <a:ln>
                  <a:solidFill>
                    <a:schemeClr val="bg1">
                      <a:lumMod val="75000"/>
                    </a:schemeClr>
                  </a:solidFill>
                </a:ln>
                <a:latin typeface="Tahoma" pitchFamily="34" charset="0"/>
                <a:ea typeface="Tahoma" pitchFamily="34" charset="0"/>
                <a:cs typeface="Tahoma" pitchFamily="34" charset="0"/>
              </a:rPr>
              <a:t>- Use </a:t>
            </a:r>
            <a:r>
              <a:rPr lang="en-US" altLang="ko-KR" sz="1600" dirty="0">
                <a:ln>
                  <a:solidFill>
                    <a:schemeClr val="bg1">
                      <a:lumMod val="75000"/>
                    </a:schemeClr>
                  </a:solidFill>
                </a:ln>
                <a:latin typeface="Tahoma" pitchFamily="34" charset="0"/>
                <a:ea typeface="Tahoma" pitchFamily="34" charset="0"/>
                <a:cs typeface="Tahoma" pitchFamily="34" charset="0"/>
              </a:rPr>
              <a:t>of </a:t>
            </a:r>
            <a:r>
              <a:rPr lang="en-US" altLang="ko-KR" sz="1600" dirty="0" err="1">
                <a:ln>
                  <a:solidFill>
                    <a:schemeClr val="bg1">
                      <a:lumMod val="75000"/>
                    </a:schemeClr>
                  </a:solidFill>
                </a:ln>
                <a:latin typeface="Tahoma" pitchFamily="34" charset="0"/>
                <a:ea typeface="Tahoma" pitchFamily="34" charset="0"/>
                <a:cs typeface="Tahoma" pitchFamily="34" charset="0"/>
              </a:rPr>
              <a:t>eGovFrame</a:t>
            </a:r>
            <a:r>
              <a:rPr lang="en-US" altLang="ko-KR" sz="1600" dirty="0">
                <a:ln>
                  <a:solidFill>
                    <a:schemeClr val="bg1">
                      <a:lumMod val="75000"/>
                    </a:schemeClr>
                  </a:solidFill>
                </a:ln>
                <a:latin typeface="Tahoma" pitchFamily="34" charset="0"/>
                <a:ea typeface="Tahoma" pitchFamily="34" charset="0"/>
                <a:cs typeface="Tahoma" pitchFamily="34" charset="0"/>
              </a:rPr>
              <a:t> to enhance Productivity and quality</a:t>
            </a:r>
            <a:endParaRPr lang="ko-KR" altLang="en-US" sz="1600" dirty="0"/>
          </a:p>
        </p:txBody>
      </p:sp>
    </p:spTree>
    <p:extLst>
      <p:ext uri="{BB962C8B-B14F-4D97-AF65-F5344CB8AC3E}">
        <p14:creationId xmlns:p14="http://schemas.microsoft.com/office/powerpoint/2010/main" val="3403205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19910" y="260648"/>
            <a:ext cx="8352000" cy="522000"/>
          </a:xfrm>
        </p:spPr>
        <p:txBody>
          <a:bodyPr>
            <a:noAutofit/>
          </a:bodyPr>
          <a:lstStyle/>
          <a:p>
            <a:r>
              <a:rPr lang="en-US" altLang="ko-KR" sz="2400" i="0" dirty="0" smtClean="0">
                <a:ln>
                  <a:solidFill>
                    <a:schemeClr val="bg1">
                      <a:lumMod val="75000"/>
                    </a:schemeClr>
                  </a:solidFill>
                </a:ln>
                <a:solidFill>
                  <a:schemeClr val="tx1"/>
                </a:solidFill>
                <a:latin typeface="Tahoma" pitchFamily="34" charset="0"/>
                <a:ea typeface="Tahoma" pitchFamily="34" charset="0"/>
                <a:cs typeface="Tahoma" pitchFamily="34" charset="0"/>
              </a:rPr>
              <a:t>Applied cases of Mobile features </a:t>
            </a:r>
            <a:endParaRPr lang="ko-KR" altLang="en-US" sz="2400" i="0" dirty="0">
              <a:ln>
                <a:solidFill>
                  <a:schemeClr val="bg1">
                    <a:lumMod val="75000"/>
                  </a:schemeClr>
                </a:solidFill>
              </a:ln>
              <a:solidFill>
                <a:schemeClr val="tx1"/>
              </a:solidFill>
              <a:latin typeface="Tahoma" pitchFamily="34" charset="0"/>
              <a:cs typeface="Tahoma" pitchFamily="34" charset="0"/>
            </a:endParaRPr>
          </a:p>
        </p:txBody>
      </p:sp>
      <p:pic>
        <p:nvPicPr>
          <p:cNvPr id="286"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429"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2007"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4"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8052"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5"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1206"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6" name="그림 39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731" y="1505802"/>
            <a:ext cx="1632182" cy="2448272"/>
          </a:xfrm>
          <a:prstGeom prst="rect">
            <a:avLst/>
          </a:prstGeom>
        </p:spPr>
      </p:pic>
      <p:pic>
        <p:nvPicPr>
          <p:cNvPr id="397" name="그림 3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55949" y="1503148"/>
            <a:ext cx="1633951" cy="2450926"/>
          </a:xfrm>
          <a:prstGeom prst="rect">
            <a:avLst/>
          </a:prstGeom>
        </p:spPr>
      </p:pic>
      <p:pic>
        <p:nvPicPr>
          <p:cNvPr id="398" name="그림 39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92795" y="1503148"/>
            <a:ext cx="1633951" cy="2450926"/>
          </a:xfrm>
          <a:prstGeom prst="rect">
            <a:avLst/>
          </a:prstGeom>
        </p:spPr>
      </p:pic>
      <p:pic>
        <p:nvPicPr>
          <p:cNvPr id="399" name="그림 39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55420" y="1503148"/>
            <a:ext cx="1633951" cy="2450926"/>
          </a:xfrm>
          <a:prstGeom prst="rect">
            <a:avLst/>
          </a:prstGeom>
        </p:spPr>
      </p:pic>
      <p:sp>
        <p:nvSpPr>
          <p:cNvPr id="400" name="TextBox 399"/>
          <p:cNvSpPr txBox="1"/>
          <p:nvPr/>
        </p:nvSpPr>
        <p:spPr>
          <a:xfrm>
            <a:off x="1326813" y="888975"/>
            <a:ext cx="1019831" cy="307777"/>
          </a:xfrm>
          <a:prstGeom prst="rect">
            <a:avLst/>
          </a:prstGeom>
          <a:noFill/>
        </p:spPr>
        <p:txBody>
          <a:bodyPr wrap="none" rtlCol="0">
            <a:spAutoFit/>
          </a:bodyPr>
          <a:lstStyle/>
          <a:p>
            <a:r>
              <a:rPr lang="en-US" altLang="ko-KR" sz="1400" b="1" dirty="0">
                <a:ln w="1905"/>
                <a:solidFill>
                  <a:srgbClr val="002060"/>
                </a:solidFill>
                <a:effectLst>
                  <a:innerShdw blurRad="69850" dist="43180" dir="5400000">
                    <a:srgbClr val="000000">
                      <a:alpha val="65000"/>
                    </a:srgbClr>
                  </a:innerShdw>
                </a:effectLst>
                <a:latin typeface="Arial" pitchFamily="34" charset="0"/>
                <a:cs typeface="Arial" pitchFamily="34" charset="0"/>
              </a:rPr>
              <a:t>m</a:t>
            </a:r>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-invoice</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1" name="TextBox 400"/>
          <p:cNvSpPr txBox="1"/>
          <p:nvPr/>
        </p:nvSpPr>
        <p:spPr>
          <a:xfrm>
            <a:off x="3333575" y="888975"/>
            <a:ext cx="662361" cy="307777"/>
          </a:xfrm>
          <a:prstGeom prst="rect">
            <a:avLst/>
          </a:prstGeom>
          <a:noFill/>
        </p:spPr>
        <p:txBody>
          <a:bodyPr wrap="none" rtlCol="0">
            <a:spAutoFit/>
          </a:bodyPr>
          <a:lstStyle/>
          <a:p>
            <a:r>
              <a:rPr lang="en-US" altLang="ko-KR" sz="1400" b="1" dirty="0">
                <a:ln w="1905"/>
                <a:solidFill>
                  <a:srgbClr val="002060"/>
                </a:solidFill>
                <a:effectLst>
                  <a:innerShdw blurRad="69850" dist="43180" dir="5400000">
                    <a:srgbClr val="000000">
                      <a:alpha val="65000"/>
                    </a:srgbClr>
                  </a:innerShdw>
                </a:effectLst>
                <a:latin typeface="Arial" pitchFamily="34" charset="0"/>
                <a:cs typeface="Arial" pitchFamily="34" charset="0"/>
              </a:rPr>
              <a:t>m</a:t>
            </a:r>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-tax</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2" name="TextBox 401"/>
          <p:cNvSpPr txBox="1"/>
          <p:nvPr/>
        </p:nvSpPr>
        <p:spPr>
          <a:xfrm>
            <a:off x="4679625" y="888975"/>
            <a:ext cx="1636987" cy="307777"/>
          </a:xfrm>
          <a:prstGeom prst="rect">
            <a:avLst/>
          </a:prstGeom>
          <a:noFill/>
        </p:spPr>
        <p:txBody>
          <a:bodyPr wrap="none" rtlCol="0">
            <a:spAutoFit/>
          </a:bodyPr>
          <a:lstStyle/>
          <a:p>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m-administration</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3" name="TextBox 402"/>
          <p:cNvSpPr txBox="1"/>
          <p:nvPr/>
        </p:nvSpPr>
        <p:spPr>
          <a:xfrm>
            <a:off x="7070508" y="888975"/>
            <a:ext cx="752129" cy="307777"/>
          </a:xfrm>
          <a:prstGeom prst="rect">
            <a:avLst/>
          </a:prstGeom>
          <a:noFill/>
        </p:spPr>
        <p:txBody>
          <a:bodyPr wrap="none" rtlCol="0">
            <a:spAutoFit/>
          </a:bodyPr>
          <a:lstStyle/>
          <a:p>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m-tour</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4" name="이등변 삼각형 403"/>
          <p:cNvSpPr/>
          <p:nvPr/>
        </p:nvSpPr>
        <p:spPr>
          <a:xfrm>
            <a:off x="864135" y="4653136"/>
            <a:ext cx="7529211" cy="216023"/>
          </a:xfrm>
          <a:prstGeom prst="triangle">
            <a:avLst>
              <a:gd name="adj" fmla="val 49915"/>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ko-KR" altLang="en-US" dirty="0"/>
          </a:p>
        </p:txBody>
      </p:sp>
      <p:grpSp>
        <p:nvGrpSpPr>
          <p:cNvPr id="405" name="그룹 404"/>
          <p:cNvGrpSpPr/>
          <p:nvPr/>
        </p:nvGrpSpPr>
        <p:grpSpPr>
          <a:xfrm>
            <a:off x="289520" y="5082557"/>
            <a:ext cx="8602960" cy="1730819"/>
            <a:chOff x="108669" y="2483915"/>
            <a:chExt cx="8999835" cy="1881189"/>
          </a:xfrm>
        </p:grpSpPr>
        <p:grpSp>
          <p:nvGrpSpPr>
            <p:cNvPr id="406" name="그룹 46"/>
            <p:cNvGrpSpPr>
              <a:grpSpLocks/>
            </p:cNvGrpSpPr>
            <p:nvPr/>
          </p:nvGrpSpPr>
          <p:grpSpPr bwMode="auto">
            <a:xfrm>
              <a:off x="108669" y="2483916"/>
              <a:ext cx="2951163" cy="1881188"/>
              <a:chOff x="272480" y="1124822"/>
              <a:chExt cx="3384376" cy="1800731"/>
            </a:xfrm>
          </p:grpSpPr>
          <p:sp>
            <p:nvSpPr>
              <p:cNvPr id="442" name="순서도: 대체 처리 441"/>
              <p:cNvSpPr/>
              <p:nvPr/>
            </p:nvSpPr>
            <p:spPr bwMode="auto">
              <a:xfrm>
                <a:off x="272480" y="1124822"/>
                <a:ext cx="3384376" cy="1800731"/>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grpSp>
            <p:nvGrpSpPr>
              <p:cNvPr id="443" name="그룹 35"/>
              <p:cNvGrpSpPr>
                <a:grpSpLocks/>
              </p:cNvGrpSpPr>
              <p:nvPr/>
            </p:nvGrpSpPr>
            <p:grpSpPr bwMode="auto">
              <a:xfrm>
                <a:off x="344488" y="2132856"/>
                <a:ext cx="1202572" cy="678269"/>
                <a:chOff x="416496" y="2204864"/>
                <a:chExt cx="1202572" cy="678269"/>
              </a:xfrm>
            </p:grpSpPr>
            <p:sp>
              <p:nvSpPr>
                <p:cNvPr id="455" name="TextBox 33"/>
                <p:cNvSpPr txBox="1">
                  <a:spLocks noChangeArrowheads="1"/>
                </p:cNvSpPr>
                <p:nvPr/>
              </p:nvSpPr>
              <p:spPr bwMode="auto">
                <a:xfrm>
                  <a:off x="419476" y="2636912"/>
                  <a:ext cx="1196612" cy="246221"/>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Footer bars</a:t>
                  </a:r>
                  <a:endParaRPr lang="ko-KR" altLang="en-US" sz="1000" dirty="0">
                    <a:latin typeface="맑은 고딕" pitchFamily="50" charset="-127"/>
                    <a:ea typeface="맑은 고딕" pitchFamily="50" charset="-127"/>
                  </a:endParaRPr>
                </a:p>
              </p:txBody>
            </p:sp>
            <p:pic>
              <p:nvPicPr>
                <p:cNvPr id="456" name="Picture 5"/>
                <p:cNvPicPr>
                  <a:picLocks noChangeAspect="1" noChangeArrowheads="1"/>
                </p:cNvPicPr>
                <p:nvPr/>
              </p:nvPicPr>
              <p:blipFill>
                <a:blip r:embed="rId8" cstate="print"/>
                <a:srcRect/>
                <a:stretch>
                  <a:fillRect/>
                </a:stretch>
              </p:blipFill>
              <p:spPr bwMode="auto">
                <a:xfrm>
                  <a:off x="416496" y="2204864"/>
                  <a:ext cx="1202572" cy="410803"/>
                </a:xfrm>
                <a:prstGeom prst="rect">
                  <a:avLst/>
                </a:prstGeom>
                <a:noFill/>
                <a:ln w="9525">
                  <a:noFill/>
                  <a:miter lim="800000"/>
                  <a:headEnd/>
                  <a:tailEnd/>
                </a:ln>
              </p:spPr>
            </p:pic>
          </p:grpSp>
          <p:grpSp>
            <p:nvGrpSpPr>
              <p:cNvPr id="444" name="그룹 37"/>
              <p:cNvGrpSpPr>
                <a:grpSpLocks/>
              </p:cNvGrpSpPr>
              <p:nvPr/>
            </p:nvGrpSpPr>
            <p:grpSpPr bwMode="auto">
              <a:xfrm>
                <a:off x="2000672" y="1268760"/>
                <a:ext cx="1224136" cy="720080"/>
                <a:chOff x="2000672" y="1268760"/>
                <a:chExt cx="1224136" cy="720080"/>
              </a:xfrm>
            </p:grpSpPr>
            <p:sp>
              <p:nvSpPr>
                <p:cNvPr id="453" name="TextBox 18"/>
                <p:cNvSpPr txBox="1">
                  <a:spLocks noChangeArrowheads="1"/>
                </p:cNvSpPr>
                <p:nvPr/>
              </p:nvSpPr>
              <p:spPr bwMode="auto">
                <a:xfrm>
                  <a:off x="2000672" y="1700808"/>
                  <a:ext cx="1224136"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Header bars</a:t>
                  </a:r>
                  <a:endParaRPr lang="ko-KR" altLang="en-US" sz="1000" dirty="0">
                    <a:latin typeface="맑은 고딕" pitchFamily="50" charset="-127"/>
                    <a:ea typeface="맑은 고딕" pitchFamily="50" charset="-127"/>
                  </a:endParaRPr>
                </a:p>
              </p:txBody>
            </p:sp>
            <p:pic>
              <p:nvPicPr>
                <p:cNvPr id="454" name="Picture 3"/>
                <p:cNvPicPr>
                  <a:picLocks noChangeAspect="1" noChangeArrowheads="1"/>
                </p:cNvPicPr>
                <p:nvPr/>
              </p:nvPicPr>
              <p:blipFill>
                <a:blip r:embed="rId9" cstate="print"/>
                <a:srcRect/>
                <a:stretch>
                  <a:fillRect/>
                </a:stretch>
              </p:blipFill>
              <p:spPr bwMode="auto">
                <a:xfrm>
                  <a:off x="2050783" y="1268760"/>
                  <a:ext cx="1123915" cy="454050"/>
                </a:xfrm>
                <a:prstGeom prst="rect">
                  <a:avLst/>
                </a:prstGeom>
                <a:noFill/>
                <a:ln w="9525">
                  <a:noFill/>
                  <a:miter lim="800000"/>
                  <a:headEnd/>
                  <a:tailEnd/>
                </a:ln>
              </p:spPr>
            </p:pic>
          </p:grpSp>
          <p:grpSp>
            <p:nvGrpSpPr>
              <p:cNvPr id="445" name="그룹 36"/>
              <p:cNvGrpSpPr>
                <a:grpSpLocks/>
              </p:cNvGrpSpPr>
              <p:nvPr/>
            </p:nvGrpSpPr>
            <p:grpSpPr bwMode="auto">
              <a:xfrm>
                <a:off x="560512" y="1412776"/>
                <a:ext cx="1164991" cy="595730"/>
                <a:chOff x="416496" y="1340768"/>
                <a:chExt cx="1164991" cy="595730"/>
              </a:xfrm>
            </p:grpSpPr>
            <p:pic>
              <p:nvPicPr>
                <p:cNvPr id="451" name="Picture 4"/>
                <p:cNvPicPr>
                  <a:picLocks noChangeAspect="1" noChangeArrowheads="1"/>
                </p:cNvPicPr>
                <p:nvPr/>
              </p:nvPicPr>
              <p:blipFill>
                <a:blip r:embed="rId10" cstate="print"/>
                <a:srcRect/>
                <a:stretch>
                  <a:fillRect/>
                </a:stretch>
              </p:blipFill>
              <p:spPr bwMode="auto">
                <a:xfrm>
                  <a:off x="416496" y="1340768"/>
                  <a:ext cx="1164991" cy="403596"/>
                </a:xfrm>
                <a:prstGeom prst="rect">
                  <a:avLst/>
                </a:prstGeom>
                <a:noFill/>
                <a:ln w="9525">
                  <a:noFill/>
                  <a:miter lim="800000"/>
                  <a:headEnd/>
                  <a:tailEnd/>
                </a:ln>
              </p:spPr>
            </p:pic>
            <p:sp>
              <p:nvSpPr>
                <p:cNvPr id="452" name="TextBox 28"/>
                <p:cNvSpPr txBox="1">
                  <a:spLocks noChangeArrowheads="1"/>
                </p:cNvSpPr>
                <p:nvPr/>
              </p:nvSpPr>
              <p:spPr bwMode="auto">
                <a:xfrm>
                  <a:off x="605707" y="1700808"/>
                  <a:ext cx="786566" cy="235690"/>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Navbars</a:t>
                  </a:r>
                  <a:endParaRPr lang="ko-KR" altLang="en-US" sz="1200" dirty="0">
                    <a:latin typeface="맑은 고딕" pitchFamily="50" charset="-127"/>
                    <a:ea typeface="맑은 고딕" pitchFamily="50" charset="-127"/>
                  </a:endParaRPr>
                </a:p>
              </p:txBody>
            </p:sp>
          </p:grpSp>
          <p:grpSp>
            <p:nvGrpSpPr>
              <p:cNvPr id="446" name="그룹 41"/>
              <p:cNvGrpSpPr>
                <a:grpSpLocks/>
              </p:cNvGrpSpPr>
              <p:nvPr/>
            </p:nvGrpSpPr>
            <p:grpSpPr bwMode="auto">
              <a:xfrm>
                <a:off x="1712640" y="1988840"/>
                <a:ext cx="1800200" cy="864096"/>
                <a:chOff x="1820652" y="2060848"/>
                <a:chExt cx="1800200" cy="864096"/>
              </a:xfrm>
            </p:grpSpPr>
            <p:sp>
              <p:nvSpPr>
                <p:cNvPr id="447" name="TextBox 40"/>
                <p:cNvSpPr txBox="1">
                  <a:spLocks noChangeArrowheads="1"/>
                </p:cNvSpPr>
                <p:nvPr/>
              </p:nvSpPr>
              <p:spPr bwMode="auto">
                <a:xfrm>
                  <a:off x="1820652" y="2636912"/>
                  <a:ext cx="1800200"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Form element </a:t>
                  </a:r>
                  <a:r>
                    <a:rPr lang="en-US" altLang="ko-KR" sz="1000" dirty="0" smtClean="0">
                      <a:latin typeface="맑은 고딕" pitchFamily="50" charset="-127"/>
                      <a:ea typeface="맑은 고딕" pitchFamily="50" charset="-127"/>
                    </a:rPr>
                    <a:t>gallery</a:t>
                  </a:r>
                  <a:endParaRPr lang="ko-KR" altLang="en-US" sz="1000" dirty="0">
                    <a:latin typeface="맑은 고딕" pitchFamily="50" charset="-127"/>
                    <a:ea typeface="맑은 고딕" pitchFamily="50" charset="-127"/>
                  </a:endParaRPr>
                </a:p>
              </p:txBody>
            </p:sp>
            <p:grpSp>
              <p:nvGrpSpPr>
                <p:cNvPr id="448" name="그룹 40"/>
                <p:cNvGrpSpPr>
                  <a:grpSpLocks/>
                </p:cNvGrpSpPr>
                <p:nvPr/>
              </p:nvGrpSpPr>
              <p:grpSpPr bwMode="auto">
                <a:xfrm>
                  <a:off x="1892660" y="2060848"/>
                  <a:ext cx="1656184" cy="504056"/>
                  <a:chOff x="2936776" y="2132856"/>
                  <a:chExt cx="2169977" cy="648072"/>
                </a:xfrm>
              </p:grpSpPr>
              <p:pic>
                <p:nvPicPr>
                  <p:cNvPr id="449" name="Picture 8"/>
                  <p:cNvPicPr>
                    <a:picLocks noChangeAspect="1" noChangeArrowheads="1"/>
                  </p:cNvPicPr>
                  <p:nvPr/>
                </p:nvPicPr>
                <p:blipFill>
                  <a:blip r:embed="rId11" cstate="print"/>
                  <a:srcRect b="61630"/>
                  <a:stretch>
                    <a:fillRect/>
                  </a:stretch>
                </p:blipFill>
                <p:spPr bwMode="auto">
                  <a:xfrm>
                    <a:off x="2936776" y="2132856"/>
                    <a:ext cx="1089857" cy="648072"/>
                  </a:xfrm>
                  <a:prstGeom prst="rect">
                    <a:avLst/>
                  </a:prstGeom>
                  <a:noFill/>
                  <a:ln w="9525">
                    <a:noFill/>
                    <a:miter lim="800000"/>
                    <a:headEnd/>
                    <a:tailEnd/>
                  </a:ln>
                </p:spPr>
              </p:pic>
              <p:pic>
                <p:nvPicPr>
                  <p:cNvPr id="450" name="Picture 8"/>
                  <p:cNvPicPr>
                    <a:picLocks noChangeAspect="1" noChangeArrowheads="1"/>
                  </p:cNvPicPr>
                  <p:nvPr/>
                </p:nvPicPr>
                <p:blipFill>
                  <a:blip r:embed="rId11" cstate="print"/>
                  <a:srcRect t="32352" b="29279"/>
                  <a:stretch>
                    <a:fillRect/>
                  </a:stretch>
                </p:blipFill>
                <p:spPr bwMode="auto">
                  <a:xfrm>
                    <a:off x="4016896" y="2132856"/>
                    <a:ext cx="1089857" cy="648072"/>
                  </a:xfrm>
                  <a:prstGeom prst="rect">
                    <a:avLst/>
                  </a:prstGeom>
                  <a:noFill/>
                  <a:ln w="9525">
                    <a:noFill/>
                    <a:miter lim="800000"/>
                    <a:headEnd/>
                    <a:tailEnd/>
                  </a:ln>
                </p:spPr>
              </p:pic>
            </p:grpSp>
          </p:grpSp>
        </p:grpSp>
        <p:sp>
          <p:nvSpPr>
            <p:cNvPr id="407" name="순서도: 대체 처리 406"/>
            <p:cNvSpPr/>
            <p:nvPr/>
          </p:nvSpPr>
          <p:spPr bwMode="auto">
            <a:xfrm>
              <a:off x="6155754" y="2483915"/>
              <a:ext cx="2952750" cy="1879600"/>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sp>
          <p:nvSpPr>
            <p:cNvPr id="408" name="TextBox 33"/>
            <p:cNvSpPr txBox="1">
              <a:spLocks noChangeArrowheads="1"/>
            </p:cNvSpPr>
            <p:nvPr/>
          </p:nvSpPr>
          <p:spPr bwMode="auto">
            <a:xfrm>
              <a:off x="6220842" y="3987487"/>
              <a:ext cx="1044575" cy="256965"/>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Footer bars</a:t>
              </a:r>
              <a:endParaRPr lang="ko-KR" altLang="en-US" sz="1000" dirty="0">
                <a:latin typeface="맑은 고딕" pitchFamily="50" charset="-127"/>
                <a:ea typeface="맑은 고딕" pitchFamily="50" charset="-127"/>
              </a:endParaRPr>
            </a:p>
          </p:txBody>
        </p:sp>
        <p:pic>
          <p:nvPicPr>
            <p:cNvPr id="409" name="Picture 5"/>
            <p:cNvPicPr>
              <a:picLocks noChangeAspect="1" noChangeArrowheads="1"/>
            </p:cNvPicPr>
            <p:nvPr/>
          </p:nvPicPr>
          <p:blipFill>
            <a:blip r:embed="rId8" cstate="print"/>
            <a:srcRect/>
            <a:stretch>
              <a:fillRect/>
            </a:stretch>
          </p:blipFill>
          <p:spPr bwMode="auto">
            <a:xfrm>
              <a:off x="6217667" y="3536557"/>
              <a:ext cx="1049337" cy="429379"/>
            </a:xfrm>
            <a:prstGeom prst="rect">
              <a:avLst/>
            </a:prstGeom>
            <a:noFill/>
            <a:ln w="9525">
              <a:noFill/>
              <a:miter lim="800000"/>
              <a:headEnd/>
              <a:tailEnd/>
            </a:ln>
          </p:spPr>
        </p:pic>
        <p:sp>
          <p:nvSpPr>
            <p:cNvPr id="410" name="순서도: 대체 처리 409"/>
            <p:cNvSpPr/>
            <p:nvPr/>
          </p:nvSpPr>
          <p:spPr bwMode="auto">
            <a:xfrm>
              <a:off x="3143820" y="2483915"/>
              <a:ext cx="2952750" cy="1879600"/>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grpSp>
          <p:nvGrpSpPr>
            <p:cNvPr id="411" name="그룹 35"/>
            <p:cNvGrpSpPr>
              <a:grpSpLocks/>
            </p:cNvGrpSpPr>
            <p:nvPr/>
          </p:nvGrpSpPr>
          <p:grpSpPr bwMode="auto">
            <a:xfrm>
              <a:off x="4077270" y="3382379"/>
              <a:ext cx="1008063" cy="557032"/>
              <a:chOff x="287145" y="2204863"/>
              <a:chExt cx="1810912" cy="732034"/>
            </a:xfrm>
          </p:grpSpPr>
          <p:sp>
            <p:nvSpPr>
              <p:cNvPr id="440" name="TextBox 33"/>
              <p:cNvSpPr txBox="1">
                <a:spLocks noChangeArrowheads="1"/>
              </p:cNvSpPr>
              <p:nvPr/>
            </p:nvSpPr>
            <p:spPr bwMode="auto">
              <a:xfrm>
                <a:off x="287145" y="2599524"/>
                <a:ext cx="1810912" cy="337373"/>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Footer bars</a:t>
                </a:r>
                <a:endParaRPr lang="ko-KR" altLang="en-US" sz="1000" dirty="0">
                  <a:latin typeface="맑은 고딕" pitchFamily="50" charset="-127"/>
                  <a:ea typeface="맑은 고딕" pitchFamily="50" charset="-127"/>
                </a:endParaRPr>
              </a:p>
            </p:txBody>
          </p:sp>
          <p:pic>
            <p:nvPicPr>
              <p:cNvPr id="441" name="Picture 5"/>
              <p:cNvPicPr>
                <a:picLocks noChangeAspect="1" noChangeArrowheads="1"/>
              </p:cNvPicPr>
              <p:nvPr/>
            </p:nvPicPr>
            <p:blipFill>
              <a:blip r:embed="rId8" cstate="print"/>
              <a:srcRect/>
              <a:stretch>
                <a:fillRect/>
              </a:stretch>
            </p:blipFill>
            <p:spPr bwMode="auto">
              <a:xfrm>
                <a:off x="591316" y="2204863"/>
                <a:ext cx="1202572" cy="410803"/>
              </a:xfrm>
              <a:prstGeom prst="rect">
                <a:avLst/>
              </a:prstGeom>
              <a:noFill/>
              <a:ln w="9525">
                <a:noFill/>
                <a:miter lim="800000"/>
                <a:headEnd/>
                <a:tailEnd/>
              </a:ln>
            </p:spPr>
          </p:pic>
        </p:grpSp>
        <p:grpSp>
          <p:nvGrpSpPr>
            <p:cNvPr id="412" name="그룹 37"/>
            <p:cNvGrpSpPr>
              <a:grpSpLocks/>
            </p:cNvGrpSpPr>
            <p:nvPr/>
          </p:nvGrpSpPr>
          <p:grpSpPr bwMode="auto">
            <a:xfrm>
              <a:off x="4993258" y="2656249"/>
              <a:ext cx="1081087" cy="525532"/>
              <a:chOff x="2000672" y="1268760"/>
              <a:chExt cx="1988710" cy="780871"/>
            </a:xfrm>
          </p:grpSpPr>
          <p:sp>
            <p:nvSpPr>
              <p:cNvPr id="438" name="TextBox 18"/>
              <p:cNvSpPr txBox="1">
                <a:spLocks noChangeArrowheads="1"/>
              </p:cNvSpPr>
              <p:nvPr/>
            </p:nvSpPr>
            <p:spPr bwMode="auto">
              <a:xfrm>
                <a:off x="2000672" y="1700808"/>
                <a:ext cx="1988710" cy="348823"/>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Header bars</a:t>
                </a:r>
                <a:endParaRPr lang="ko-KR" altLang="en-US" sz="1000" dirty="0">
                  <a:latin typeface="맑은 고딕" pitchFamily="50" charset="-127"/>
                  <a:ea typeface="맑은 고딕" pitchFamily="50" charset="-127"/>
                </a:endParaRPr>
              </a:p>
            </p:txBody>
          </p:sp>
          <p:pic>
            <p:nvPicPr>
              <p:cNvPr id="439" name="Picture 3"/>
              <p:cNvPicPr>
                <a:picLocks noChangeAspect="1" noChangeArrowheads="1"/>
              </p:cNvPicPr>
              <p:nvPr/>
            </p:nvPicPr>
            <p:blipFill>
              <a:blip r:embed="rId9" cstate="print"/>
              <a:srcRect/>
              <a:stretch>
                <a:fillRect/>
              </a:stretch>
            </p:blipFill>
            <p:spPr bwMode="auto">
              <a:xfrm>
                <a:off x="2433071" y="1268760"/>
                <a:ext cx="1123914" cy="454049"/>
              </a:xfrm>
              <a:prstGeom prst="rect">
                <a:avLst/>
              </a:prstGeom>
              <a:noFill/>
              <a:ln w="9525">
                <a:noFill/>
                <a:miter lim="800000"/>
                <a:headEnd/>
                <a:tailEnd/>
              </a:ln>
            </p:spPr>
          </p:pic>
        </p:grpSp>
        <p:grpSp>
          <p:nvGrpSpPr>
            <p:cNvPr id="413" name="그룹 146"/>
            <p:cNvGrpSpPr>
              <a:grpSpLocks/>
            </p:cNvGrpSpPr>
            <p:nvPr/>
          </p:nvGrpSpPr>
          <p:grpSpPr bwMode="auto">
            <a:xfrm>
              <a:off x="5172645" y="3201675"/>
              <a:ext cx="876300" cy="827259"/>
              <a:chOff x="4898993" y="2348880"/>
              <a:chExt cx="1080120" cy="792088"/>
            </a:xfrm>
          </p:grpSpPr>
          <p:pic>
            <p:nvPicPr>
              <p:cNvPr id="436" name="Picture 5"/>
              <p:cNvPicPr>
                <a:picLocks noChangeAspect="1" noChangeArrowheads="1"/>
              </p:cNvPicPr>
              <p:nvPr/>
            </p:nvPicPr>
            <p:blipFill>
              <a:blip r:embed="rId12" cstate="print"/>
              <a:srcRect/>
              <a:stretch>
                <a:fillRect/>
              </a:stretch>
            </p:blipFill>
            <p:spPr bwMode="auto">
              <a:xfrm>
                <a:off x="4930268" y="2348880"/>
                <a:ext cx="1017567" cy="512837"/>
              </a:xfrm>
              <a:prstGeom prst="rect">
                <a:avLst/>
              </a:prstGeom>
              <a:noFill/>
              <a:ln w="9525">
                <a:noFill/>
                <a:miter lim="800000"/>
                <a:headEnd/>
                <a:tailEnd/>
              </a:ln>
            </p:spPr>
          </p:pic>
          <p:sp>
            <p:nvSpPr>
              <p:cNvPr id="437" name="TextBox 40"/>
              <p:cNvSpPr txBox="1">
                <a:spLocks noChangeArrowheads="1"/>
              </p:cNvSpPr>
              <p:nvPr/>
            </p:nvSpPr>
            <p:spPr bwMode="auto">
              <a:xfrm>
                <a:off x="4898993" y="2852936"/>
                <a:ext cx="1080120"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Icons</a:t>
                </a:r>
                <a:r>
                  <a:rPr lang="en-US" altLang="ko-KR" sz="800" dirty="0">
                    <a:latin typeface="맑은 고딕" pitchFamily="50" charset="-127"/>
                    <a:ea typeface="맑은 고딕" pitchFamily="50" charset="-127"/>
                  </a:rPr>
                  <a:t> list</a:t>
                </a:r>
                <a:endParaRPr lang="ko-KR" altLang="en-US" sz="800" dirty="0">
                  <a:latin typeface="맑은 고딕" pitchFamily="50" charset="-127"/>
                  <a:ea typeface="맑은 고딕" pitchFamily="50" charset="-127"/>
                </a:endParaRPr>
              </a:p>
            </p:txBody>
          </p:sp>
        </p:grpSp>
        <p:pic>
          <p:nvPicPr>
            <p:cNvPr id="414" name="Picture 6"/>
            <p:cNvPicPr>
              <a:picLocks noChangeAspect="1" noChangeArrowheads="1"/>
            </p:cNvPicPr>
            <p:nvPr/>
          </p:nvPicPr>
          <p:blipFill>
            <a:blip r:embed="rId13" cstate="print"/>
            <a:srcRect/>
            <a:stretch>
              <a:fillRect/>
            </a:stretch>
          </p:blipFill>
          <p:spPr bwMode="auto">
            <a:xfrm>
              <a:off x="4307458" y="2676143"/>
              <a:ext cx="209550" cy="218834"/>
            </a:xfrm>
            <a:prstGeom prst="rect">
              <a:avLst/>
            </a:prstGeom>
            <a:noFill/>
            <a:ln w="9525">
              <a:noFill/>
              <a:miter lim="800000"/>
              <a:headEnd/>
              <a:tailEnd/>
            </a:ln>
          </p:spPr>
        </p:pic>
        <p:pic>
          <p:nvPicPr>
            <p:cNvPr id="415" name="Picture 8"/>
            <p:cNvPicPr>
              <a:picLocks noChangeAspect="1" noChangeArrowheads="1"/>
            </p:cNvPicPr>
            <p:nvPr/>
          </p:nvPicPr>
          <p:blipFill>
            <a:blip r:embed="rId14" cstate="print"/>
            <a:srcRect/>
            <a:stretch>
              <a:fillRect/>
            </a:stretch>
          </p:blipFill>
          <p:spPr bwMode="auto">
            <a:xfrm>
              <a:off x="4577333" y="2676143"/>
              <a:ext cx="285750" cy="258622"/>
            </a:xfrm>
            <a:prstGeom prst="rect">
              <a:avLst/>
            </a:prstGeom>
            <a:noFill/>
            <a:ln w="9525">
              <a:noFill/>
              <a:miter lim="800000"/>
              <a:headEnd/>
              <a:tailEnd/>
            </a:ln>
          </p:spPr>
        </p:pic>
        <p:sp>
          <p:nvSpPr>
            <p:cNvPr id="416" name="TextBox 40"/>
            <p:cNvSpPr txBox="1">
              <a:spLocks noChangeArrowheads="1"/>
            </p:cNvSpPr>
            <p:nvPr/>
          </p:nvSpPr>
          <p:spPr bwMode="auto">
            <a:xfrm>
              <a:off x="4278883" y="3030919"/>
              <a:ext cx="576262" cy="301725"/>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icon</a:t>
              </a:r>
              <a:endParaRPr lang="ko-KR" altLang="en-US" sz="1000" dirty="0">
                <a:latin typeface="맑은 고딕" pitchFamily="50" charset="-127"/>
                <a:ea typeface="맑은 고딕" pitchFamily="50" charset="-127"/>
              </a:endParaRPr>
            </a:p>
          </p:txBody>
        </p:sp>
        <p:grpSp>
          <p:nvGrpSpPr>
            <p:cNvPr id="417" name="그룹 157"/>
            <p:cNvGrpSpPr>
              <a:grpSpLocks/>
            </p:cNvGrpSpPr>
            <p:nvPr/>
          </p:nvGrpSpPr>
          <p:grpSpPr bwMode="auto">
            <a:xfrm>
              <a:off x="3299395" y="3352538"/>
              <a:ext cx="720725" cy="676396"/>
              <a:chOff x="4556956" y="2132856"/>
              <a:chExt cx="720080" cy="648072"/>
            </a:xfrm>
          </p:grpSpPr>
          <p:pic>
            <p:nvPicPr>
              <p:cNvPr id="434" name="Picture 9"/>
              <p:cNvPicPr>
                <a:picLocks noChangeAspect="1" noChangeArrowheads="1"/>
              </p:cNvPicPr>
              <p:nvPr/>
            </p:nvPicPr>
            <p:blipFill>
              <a:blip r:embed="rId15" cstate="print"/>
              <a:srcRect/>
              <a:stretch>
                <a:fillRect/>
              </a:stretch>
            </p:blipFill>
            <p:spPr bwMode="auto">
              <a:xfrm>
                <a:off x="4556956" y="2132856"/>
                <a:ext cx="720080" cy="360040"/>
              </a:xfrm>
              <a:prstGeom prst="rect">
                <a:avLst/>
              </a:prstGeom>
              <a:noFill/>
              <a:ln w="9525">
                <a:noFill/>
                <a:miter lim="800000"/>
                <a:headEnd/>
                <a:tailEnd/>
              </a:ln>
            </p:spPr>
          </p:pic>
          <p:sp>
            <p:nvSpPr>
              <p:cNvPr id="435" name="TextBox 40"/>
              <p:cNvSpPr txBox="1">
                <a:spLocks noChangeArrowheads="1"/>
              </p:cNvSpPr>
              <p:nvPr/>
            </p:nvSpPr>
            <p:spPr bwMode="auto">
              <a:xfrm>
                <a:off x="4556956" y="2492896"/>
                <a:ext cx="720080"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Basic list</a:t>
                </a:r>
                <a:endParaRPr lang="ko-KR" altLang="en-US" sz="1000" dirty="0">
                  <a:latin typeface="맑은 고딕" pitchFamily="50" charset="-127"/>
                  <a:ea typeface="맑은 고딕" pitchFamily="50" charset="-127"/>
                </a:endParaRPr>
              </a:p>
            </p:txBody>
          </p:sp>
        </p:grpSp>
        <p:pic>
          <p:nvPicPr>
            <p:cNvPr id="418" name="Picture 11"/>
            <p:cNvPicPr>
              <a:picLocks noChangeAspect="1" noChangeArrowheads="1"/>
            </p:cNvPicPr>
            <p:nvPr/>
          </p:nvPicPr>
          <p:blipFill>
            <a:blip r:embed="rId16" cstate="print"/>
            <a:srcRect/>
            <a:stretch>
              <a:fillRect/>
            </a:stretch>
          </p:blipFill>
          <p:spPr bwMode="auto">
            <a:xfrm>
              <a:off x="3372420" y="2599882"/>
              <a:ext cx="647700" cy="392906"/>
            </a:xfrm>
            <a:prstGeom prst="rect">
              <a:avLst/>
            </a:prstGeom>
            <a:noFill/>
            <a:ln w="9525">
              <a:noFill/>
              <a:miter lim="800000"/>
              <a:headEnd/>
              <a:tailEnd/>
            </a:ln>
          </p:spPr>
        </p:pic>
        <p:sp>
          <p:nvSpPr>
            <p:cNvPr id="419" name="TextBox 33"/>
            <p:cNvSpPr txBox="1">
              <a:spLocks noChangeArrowheads="1"/>
            </p:cNvSpPr>
            <p:nvPr/>
          </p:nvSpPr>
          <p:spPr bwMode="auto">
            <a:xfrm>
              <a:off x="3299395" y="2976210"/>
              <a:ext cx="936625" cy="417774"/>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Inline buttons</a:t>
              </a:r>
              <a:endParaRPr lang="ko-KR" altLang="en-US" sz="1000" dirty="0">
                <a:latin typeface="맑은 고딕" pitchFamily="50" charset="-127"/>
                <a:ea typeface="맑은 고딕" pitchFamily="50" charset="-127"/>
              </a:endParaRPr>
            </a:p>
          </p:txBody>
        </p:sp>
        <p:sp>
          <p:nvSpPr>
            <p:cNvPr id="420" name="TextBox 40"/>
            <p:cNvSpPr txBox="1">
              <a:spLocks noChangeArrowheads="1"/>
            </p:cNvSpPr>
            <p:nvPr/>
          </p:nvSpPr>
          <p:spPr bwMode="auto">
            <a:xfrm>
              <a:off x="7836917" y="2543516"/>
              <a:ext cx="1150937" cy="300067"/>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Button icons</a:t>
              </a:r>
              <a:endParaRPr lang="ko-KR" altLang="en-US" sz="1000" dirty="0">
                <a:latin typeface="맑은 고딕" pitchFamily="50" charset="-127"/>
                <a:ea typeface="맑은 고딕" pitchFamily="50" charset="-127"/>
              </a:endParaRPr>
            </a:p>
          </p:txBody>
        </p:sp>
        <p:pic>
          <p:nvPicPr>
            <p:cNvPr id="421" name="Picture 14"/>
            <p:cNvPicPr>
              <a:picLocks noChangeAspect="1" noChangeArrowheads="1"/>
            </p:cNvPicPr>
            <p:nvPr/>
          </p:nvPicPr>
          <p:blipFill>
            <a:blip r:embed="rId17" cstate="print"/>
            <a:srcRect/>
            <a:stretch>
              <a:fillRect/>
            </a:stretch>
          </p:blipFill>
          <p:spPr bwMode="auto">
            <a:xfrm>
              <a:off x="4307458" y="2901608"/>
              <a:ext cx="200025" cy="198940"/>
            </a:xfrm>
            <a:prstGeom prst="rect">
              <a:avLst/>
            </a:prstGeom>
            <a:noFill/>
            <a:ln w="9525">
              <a:noFill/>
              <a:miter lim="800000"/>
              <a:headEnd/>
              <a:tailEnd/>
            </a:ln>
          </p:spPr>
        </p:pic>
        <p:pic>
          <p:nvPicPr>
            <p:cNvPr id="422" name="Picture 15"/>
            <p:cNvPicPr>
              <a:picLocks noChangeAspect="1" noChangeArrowheads="1"/>
            </p:cNvPicPr>
            <p:nvPr/>
          </p:nvPicPr>
          <p:blipFill>
            <a:blip r:embed="rId18" cstate="print"/>
            <a:srcRect/>
            <a:stretch>
              <a:fillRect/>
            </a:stretch>
          </p:blipFill>
          <p:spPr bwMode="auto">
            <a:xfrm>
              <a:off x="4596383" y="2901608"/>
              <a:ext cx="200025" cy="198940"/>
            </a:xfrm>
            <a:prstGeom prst="rect">
              <a:avLst/>
            </a:prstGeom>
            <a:noFill/>
            <a:ln w="9525">
              <a:noFill/>
              <a:miter lim="800000"/>
              <a:headEnd/>
              <a:tailEnd/>
            </a:ln>
          </p:spPr>
        </p:pic>
        <p:grpSp>
          <p:nvGrpSpPr>
            <p:cNvPr id="423" name="그룹 177"/>
            <p:cNvGrpSpPr>
              <a:grpSpLocks/>
            </p:cNvGrpSpPr>
            <p:nvPr/>
          </p:nvGrpSpPr>
          <p:grpSpPr bwMode="auto">
            <a:xfrm>
              <a:off x="7044754" y="3352538"/>
              <a:ext cx="1570038" cy="860414"/>
              <a:chOff x="7841111" y="2060848"/>
              <a:chExt cx="1570387" cy="824855"/>
            </a:xfrm>
          </p:grpSpPr>
          <p:sp>
            <p:nvSpPr>
              <p:cNvPr id="432" name="TextBox 40"/>
              <p:cNvSpPr txBox="1">
                <a:spLocks noChangeArrowheads="1"/>
              </p:cNvSpPr>
              <p:nvPr/>
            </p:nvSpPr>
            <p:spPr bwMode="auto">
              <a:xfrm>
                <a:off x="7841111" y="2597671"/>
                <a:ext cx="1570387"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Popup event</a:t>
                </a:r>
                <a:endParaRPr lang="ko-KR" altLang="en-US" sz="1000" dirty="0">
                  <a:latin typeface="맑은 고딕" pitchFamily="50" charset="-127"/>
                  <a:ea typeface="맑은 고딕" pitchFamily="50" charset="-127"/>
                </a:endParaRPr>
              </a:p>
            </p:txBody>
          </p:sp>
          <p:pic>
            <p:nvPicPr>
              <p:cNvPr id="433" name="Picture 19"/>
              <p:cNvPicPr>
                <a:picLocks noChangeAspect="1" noChangeArrowheads="1"/>
              </p:cNvPicPr>
              <p:nvPr/>
            </p:nvPicPr>
            <p:blipFill>
              <a:blip r:embed="rId19" cstate="print"/>
              <a:srcRect/>
              <a:stretch>
                <a:fillRect/>
              </a:stretch>
            </p:blipFill>
            <p:spPr bwMode="auto">
              <a:xfrm>
                <a:off x="8193360" y="2060848"/>
                <a:ext cx="864096" cy="544876"/>
              </a:xfrm>
              <a:prstGeom prst="rect">
                <a:avLst/>
              </a:prstGeom>
              <a:noFill/>
              <a:ln w="9525">
                <a:noFill/>
                <a:miter lim="800000"/>
                <a:headEnd/>
                <a:tailEnd/>
              </a:ln>
            </p:spPr>
          </p:pic>
        </p:grpSp>
        <p:grpSp>
          <p:nvGrpSpPr>
            <p:cNvPr id="424" name="그룹 168"/>
            <p:cNvGrpSpPr>
              <a:grpSpLocks/>
            </p:cNvGrpSpPr>
            <p:nvPr/>
          </p:nvGrpSpPr>
          <p:grpSpPr bwMode="auto">
            <a:xfrm>
              <a:off x="3524820" y="3977540"/>
              <a:ext cx="2609850" cy="300068"/>
              <a:chOff x="3656856" y="2636912"/>
              <a:chExt cx="2611338" cy="288032"/>
            </a:xfrm>
          </p:grpSpPr>
          <p:pic>
            <p:nvPicPr>
              <p:cNvPr id="430" name="Picture 13"/>
              <p:cNvPicPr>
                <a:picLocks noChangeAspect="1" noChangeArrowheads="1"/>
              </p:cNvPicPr>
              <p:nvPr/>
            </p:nvPicPr>
            <p:blipFill>
              <a:blip r:embed="rId20" cstate="print"/>
              <a:srcRect/>
              <a:stretch>
                <a:fillRect/>
              </a:stretch>
            </p:blipFill>
            <p:spPr bwMode="auto">
              <a:xfrm>
                <a:off x="3656856" y="2708920"/>
                <a:ext cx="1599059" cy="170392"/>
              </a:xfrm>
              <a:prstGeom prst="rect">
                <a:avLst/>
              </a:prstGeom>
              <a:noFill/>
              <a:ln w="9525">
                <a:noFill/>
                <a:miter lim="800000"/>
                <a:headEnd/>
                <a:tailEnd/>
              </a:ln>
            </p:spPr>
          </p:pic>
          <p:sp>
            <p:nvSpPr>
              <p:cNvPr id="431" name="TextBox 40"/>
              <p:cNvSpPr txBox="1">
                <a:spLocks noChangeArrowheads="1"/>
              </p:cNvSpPr>
              <p:nvPr/>
            </p:nvSpPr>
            <p:spPr bwMode="auto">
              <a:xfrm>
                <a:off x="5116066" y="2636912"/>
                <a:ext cx="1152128"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Button icons</a:t>
                </a:r>
                <a:endParaRPr lang="ko-KR" altLang="en-US" sz="1000" dirty="0">
                  <a:latin typeface="맑은 고딕" pitchFamily="50" charset="-127"/>
                  <a:ea typeface="맑은 고딕" pitchFamily="50" charset="-127"/>
                </a:endParaRPr>
              </a:p>
            </p:txBody>
          </p:sp>
        </p:grpSp>
        <p:pic>
          <p:nvPicPr>
            <p:cNvPr id="425" name="Picture 20"/>
            <p:cNvPicPr>
              <a:picLocks noChangeAspect="1" noChangeArrowheads="1"/>
            </p:cNvPicPr>
            <p:nvPr/>
          </p:nvPicPr>
          <p:blipFill>
            <a:blip r:embed="rId21" cstate="print"/>
            <a:srcRect/>
            <a:stretch>
              <a:fillRect/>
            </a:stretch>
          </p:blipFill>
          <p:spPr bwMode="auto">
            <a:xfrm>
              <a:off x="6371654" y="2626408"/>
              <a:ext cx="1547813" cy="198940"/>
            </a:xfrm>
            <a:prstGeom prst="rect">
              <a:avLst/>
            </a:prstGeom>
            <a:noFill/>
            <a:ln w="9525">
              <a:noFill/>
              <a:miter lim="800000"/>
              <a:headEnd/>
              <a:tailEnd/>
            </a:ln>
          </p:spPr>
        </p:pic>
        <p:pic>
          <p:nvPicPr>
            <p:cNvPr id="426" name="Picture 22"/>
            <p:cNvPicPr>
              <a:picLocks noChangeAspect="1" noChangeArrowheads="1"/>
            </p:cNvPicPr>
            <p:nvPr/>
          </p:nvPicPr>
          <p:blipFill>
            <a:blip r:embed="rId22" cstate="print"/>
            <a:srcRect/>
            <a:stretch>
              <a:fillRect/>
            </a:stretch>
          </p:blipFill>
          <p:spPr bwMode="auto">
            <a:xfrm>
              <a:off x="6222429" y="2901608"/>
              <a:ext cx="1174750" cy="374670"/>
            </a:xfrm>
            <a:prstGeom prst="rect">
              <a:avLst/>
            </a:prstGeom>
            <a:noFill/>
            <a:ln w="9525">
              <a:noFill/>
              <a:miter lim="800000"/>
              <a:headEnd/>
              <a:tailEnd/>
            </a:ln>
          </p:spPr>
        </p:pic>
        <p:sp>
          <p:nvSpPr>
            <p:cNvPr id="427" name="TextBox 40"/>
            <p:cNvSpPr txBox="1">
              <a:spLocks noChangeArrowheads="1"/>
            </p:cNvSpPr>
            <p:nvPr/>
          </p:nvSpPr>
          <p:spPr bwMode="auto">
            <a:xfrm>
              <a:off x="6130354" y="3276278"/>
              <a:ext cx="1357313" cy="301725"/>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Grouped buttons</a:t>
              </a:r>
              <a:endParaRPr lang="ko-KR" altLang="en-US" sz="1000" dirty="0">
                <a:latin typeface="맑은 고딕" pitchFamily="50" charset="-127"/>
                <a:ea typeface="맑은 고딕" pitchFamily="50" charset="-127"/>
              </a:endParaRPr>
            </a:p>
          </p:txBody>
        </p:sp>
        <p:pic>
          <p:nvPicPr>
            <p:cNvPr id="428" name="Picture 23"/>
            <p:cNvPicPr>
              <a:picLocks noChangeAspect="1" noChangeArrowheads="1"/>
            </p:cNvPicPr>
            <p:nvPr/>
          </p:nvPicPr>
          <p:blipFill>
            <a:blip r:embed="rId23" cstate="print"/>
            <a:srcRect/>
            <a:stretch>
              <a:fillRect/>
            </a:stretch>
          </p:blipFill>
          <p:spPr bwMode="auto">
            <a:xfrm>
              <a:off x="8411592" y="2976210"/>
              <a:ext cx="600075" cy="949938"/>
            </a:xfrm>
            <a:prstGeom prst="rect">
              <a:avLst/>
            </a:prstGeom>
            <a:noFill/>
            <a:ln w="9525">
              <a:noFill/>
              <a:miter lim="800000"/>
              <a:headEnd/>
              <a:tailEnd/>
            </a:ln>
          </p:spPr>
        </p:pic>
        <p:sp>
          <p:nvSpPr>
            <p:cNvPr id="429" name="TextBox 40"/>
            <p:cNvSpPr txBox="1">
              <a:spLocks noChangeArrowheads="1"/>
            </p:cNvSpPr>
            <p:nvPr/>
          </p:nvSpPr>
          <p:spPr bwMode="auto">
            <a:xfrm>
              <a:off x="8411592" y="3954331"/>
              <a:ext cx="649287" cy="300068"/>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bar</a:t>
              </a:r>
              <a:endParaRPr lang="ko-KR" altLang="en-US" sz="1000" dirty="0">
                <a:latin typeface="맑은 고딕" pitchFamily="50" charset="-127"/>
                <a:ea typeface="맑은 고딕" pitchFamily="50" charset="-127"/>
              </a:endParaRPr>
            </a:p>
          </p:txBody>
        </p:sp>
      </p:grpSp>
    </p:spTree>
    <p:extLst>
      <p:ext uri="{BB962C8B-B14F-4D97-AF65-F5344CB8AC3E}">
        <p14:creationId xmlns:p14="http://schemas.microsoft.com/office/powerpoint/2010/main" val="1925964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a:spLocks noGrp="1"/>
          </p:cNvSpPr>
          <p:nvPr>
            <p:ph type="title"/>
          </p:nvPr>
        </p:nvSpPr>
        <p:spPr>
          <a:xfrm>
            <a:off x="611560" y="116632"/>
            <a:ext cx="7920880" cy="634082"/>
          </a:xfrm>
        </p:spPr>
        <p:txBody>
          <a:bodyPr/>
          <a:lstStyle/>
          <a:p>
            <a:pPr>
              <a:defRPr/>
            </a:pPr>
            <a:r>
              <a:rPr lang="en-US" altLang="ko-KR" sz="2800" b="0" dirty="0" smtClean="0">
                <a:latin typeface="Tahoma" pitchFamily="34" charset="0"/>
                <a:ea typeface="Tahoma" pitchFamily="34" charset="0"/>
                <a:cs typeface="Tahoma" pitchFamily="34" charset="0"/>
              </a:rPr>
              <a:t>The Emergence of Smart Age</a:t>
            </a:r>
            <a:endParaRPr lang="ko-KR" altLang="en-US" sz="2800" b="0" dirty="0">
              <a:latin typeface="Tahoma" pitchFamily="34" charset="0"/>
              <a:ea typeface="HY견고딕" pitchFamily="18" charset="-127"/>
              <a:cs typeface="Tahoma" pitchFamily="34" charset="0"/>
            </a:endParaRPr>
          </a:p>
        </p:txBody>
      </p:sp>
      <p:sp>
        <p:nvSpPr>
          <p:cNvPr id="4" name="직사각형 3"/>
          <p:cNvSpPr/>
          <p:nvPr/>
        </p:nvSpPr>
        <p:spPr>
          <a:xfrm>
            <a:off x="0" y="1052736"/>
            <a:ext cx="9144000" cy="648072"/>
          </a:xfrm>
          <a:prstGeom prst="rect">
            <a:avLst/>
          </a:prstGeom>
          <a:gradFill>
            <a:gsLst>
              <a:gs pos="0">
                <a:sysClr val="window" lastClr="FFFFFF">
                  <a:alpha val="70000"/>
                </a:sysClr>
              </a:gs>
              <a:gs pos="50000">
                <a:sysClr val="window" lastClr="FFFFFF">
                  <a:alpha val="70000"/>
                </a:sysClr>
              </a:gs>
              <a:gs pos="100000">
                <a:sysClr val="window" lastClr="FFFFFF">
                  <a:alpha val="0"/>
                </a:sysClr>
              </a:gs>
            </a:gsLst>
            <a:lin ang="0" scaled="0"/>
          </a:gradFill>
          <a:ln w="25400" cap="flat" cmpd="sng" algn="ctr">
            <a:gradFill>
              <a:gsLst>
                <a:gs pos="0">
                  <a:srgbClr val="D6ECFF">
                    <a:lumMod val="50000"/>
                    <a:alpha val="0"/>
                  </a:srgbClr>
                </a:gs>
                <a:gs pos="50000">
                  <a:srgbClr val="D6ECFF">
                    <a:lumMod val="50000"/>
                  </a:srgbClr>
                </a:gs>
                <a:gs pos="100000">
                  <a:srgbClr val="D6ECFF">
                    <a:lumMod val="50000"/>
                    <a:alpha val="0"/>
                  </a:srgbClr>
                </a:gs>
              </a:gsLst>
              <a:lin ang="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5" name="직사각형 4"/>
          <p:cNvSpPr/>
          <p:nvPr/>
        </p:nvSpPr>
        <p:spPr>
          <a:xfrm>
            <a:off x="0" y="1196752"/>
            <a:ext cx="9144000" cy="369332"/>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b="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Enter</a:t>
            </a:r>
            <a:r>
              <a:rPr kumimoji="0" lang="en-US" altLang="ko-KR" b="0" i="0" u="none" strike="noStrike" kern="0" cap="none" spc="0" normalizeH="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 “Smart Society,” a Megatrend leading paradigm shift of society</a:t>
            </a:r>
            <a:endParaRPr kumimoji="0" lang="ko-KR" altLang="en-US" b="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HY견고딕" pitchFamily="18" charset="-127"/>
              <a:cs typeface="Tahoma" pitchFamily="34" charset="0"/>
            </a:endParaRPr>
          </a:p>
        </p:txBody>
      </p:sp>
      <p:sp>
        <p:nvSpPr>
          <p:cNvPr id="6" name="직사각형 5"/>
          <p:cNvSpPr/>
          <p:nvPr/>
        </p:nvSpPr>
        <p:spPr>
          <a:xfrm>
            <a:off x="611560" y="1844824"/>
            <a:ext cx="7920880" cy="58477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Going beyond information and ubiquitous society, we have already entered into the Smart Society where IT solves social issues and creates new values</a:t>
            </a:r>
            <a:endParaRPr kumimoji="0" lang="ko-KR" altLang="en-US" sz="1600" b="0" i="0" u="none" strike="noStrike" kern="0" cap="none" spc="0" normalizeH="0" baseline="0" noProof="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effectLst/>
              <a:uLnTx/>
              <a:uFillTx/>
              <a:latin typeface="Tahoma" pitchFamily="34" charset="0"/>
              <a:ea typeface="HY견고딕" pitchFamily="18" charset="-127"/>
              <a:cs typeface="Tahoma" pitchFamily="34" charset="0"/>
            </a:endParaRPr>
          </a:p>
        </p:txBody>
      </p:sp>
      <p:sp>
        <p:nvSpPr>
          <p:cNvPr id="7" name="직사각형 6"/>
          <p:cNvSpPr/>
          <p:nvPr/>
        </p:nvSpPr>
        <p:spPr>
          <a:xfrm>
            <a:off x="539552" y="1990581"/>
            <a:ext cx="72008" cy="216024"/>
          </a:xfrm>
          <a:prstGeom prst="rect">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8" name="직사각형 7"/>
          <p:cNvSpPr/>
          <p:nvPr/>
        </p:nvSpPr>
        <p:spPr>
          <a:xfrm>
            <a:off x="611560" y="5589240"/>
            <a:ext cx="7920880" cy="738664"/>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Key concepts leading the change towards a Smart Society that can create new values include;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ko-KR" altLang="en-US"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HY견고딕" pitchFamily="18" charset="-127"/>
                <a:cs typeface="Tahoma" pitchFamily="34" charset="0"/>
              </a:rPr>
              <a:t>‘</a:t>
            </a:r>
            <a:r>
              <a:rPr kumimoji="0" lang="en-US" altLang="ko-KR"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Sharing-Communication-Openness</a:t>
            </a:r>
            <a:r>
              <a:rPr kumimoji="0" lang="ko-KR" altLang="en-US"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HY견고딕" pitchFamily="18" charset="-127"/>
                <a:cs typeface="Tahoma" pitchFamily="34" charset="0"/>
              </a:rPr>
              <a:t>’</a:t>
            </a:r>
            <a:r>
              <a:rPr kumimoji="0" lang="en-US" altLang="ko-KR"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‘Innovation-Cooperation-Creativity</a:t>
            </a:r>
            <a:r>
              <a:rPr kumimoji="0" lang="ko-KR" altLang="en-US"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HY견고딕" pitchFamily="18" charset="-127"/>
                <a:cs typeface="Tahoma" pitchFamily="34" charset="0"/>
              </a:rPr>
              <a:t>’</a:t>
            </a:r>
            <a:r>
              <a:rPr kumimoji="0" lang="en-US" altLang="ko-KR"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 </a:t>
            </a:r>
            <a:r>
              <a:rPr kumimoji="0" lang="ko-KR" altLang="en-US"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HY견고딕" pitchFamily="18" charset="-127"/>
                <a:cs typeface="Tahoma" pitchFamily="34" charset="0"/>
              </a:rPr>
              <a:t>‘</a:t>
            </a:r>
            <a:r>
              <a:rPr kumimoji="0" lang="en-US" altLang="ko-KR"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Platform</a:t>
            </a:r>
            <a:r>
              <a:rPr kumimoji="0" lang="ko-KR" altLang="en-US" sz="1400" b="0"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HY견고딕" pitchFamily="18" charset="-127"/>
                <a:cs typeface="Tahoma" pitchFamily="34" charset="0"/>
              </a:rPr>
              <a:t>’</a:t>
            </a:r>
          </a:p>
        </p:txBody>
      </p:sp>
      <p:sp>
        <p:nvSpPr>
          <p:cNvPr id="9" name="직사각형 8"/>
          <p:cNvSpPr/>
          <p:nvPr/>
        </p:nvSpPr>
        <p:spPr>
          <a:xfrm>
            <a:off x="539552" y="5661248"/>
            <a:ext cx="72008" cy="216024"/>
          </a:xfrm>
          <a:prstGeom prst="rect">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10" name="TextBox 9"/>
          <p:cNvSpPr txBox="1"/>
          <p:nvPr/>
        </p:nvSpPr>
        <p:spPr>
          <a:xfrm>
            <a:off x="539552" y="2675821"/>
            <a:ext cx="2520280" cy="476017"/>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Information Society</a:t>
            </a:r>
          </a:p>
        </p:txBody>
      </p:sp>
      <p:sp>
        <p:nvSpPr>
          <p:cNvPr id="12" name="TextBox 11"/>
          <p:cNvSpPr txBox="1"/>
          <p:nvPr/>
        </p:nvSpPr>
        <p:spPr>
          <a:xfrm>
            <a:off x="3311860" y="2675821"/>
            <a:ext cx="2520280" cy="476017"/>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Ubiquitous</a:t>
            </a:r>
            <a:r>
              <a:rPr kumimoji="0" lang="en-US" altLang="ko-KR" sz="1600" b="0" i="0" u="none" strike="noStrike" kern="0" cap="none" spc="0" normalizeH="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 Society</a:t>
            </a:r>
            <a:endPar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endParaRPr>
          </a:p>
        </p:txBody>
      </p:sp>
      <p:sp>
        <p:nvSpPr>
          <p:cNvPr id="13" name="TextBox 12"/>
          <p:cNvSpPr txBox="1"/>
          <p:nvPr/>
        </p:nvSpPr>
        <p:spPr>
          <a:xfrm>
            <a:off x="6084168" y="2675821"/>
            <a:ext cx="2520280" cy="50911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18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Smart Society</a:t>
            </a:r>
          </a:p>
        </p:txBody>
      </p:sp>
      <p:sp>
        <p:nvSpPr>
          <p:cNvPr id="14" name="모서리가 둥근 직사각형 13"/>
          <p:cNvSpPr/>
          <p:nvPr/>
        </p:nvSpPr>
        <p:spPr>
          <a:xfrm>
            <a:off x="539552" y="4509120"/>
            <a:ext cx="2497478" cy="936104"/>
          </a:xfrm>
          <a:prstGeom prst="roundRect">
            <a:avLst>
              <a:gd name="adj" fmla="val 8771"/>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pPr marL="179388" marR="0" lvl="0" indent="-179388" defTabSz="914400" eaLnBrk="1" fontAlgn="auto" latinLnBrk="0" hangingPunct="1">
              <a:lnSpc>
                <a:spcPct val="100000"/>
              </a:lnSpc>
              <a:spcBef>
                <a:spcPts val="0"/>
              </a:spcBef>
              <a:spcAft>
                <a:spcPts val="0"/>
              </a:spcAft>
              <a:buClrTx/>
              <a:buSzTx/>
              <a:buFont typeface="Arial" pitchFamily="34" charset="0"/>
              <a:buChar char="•"/>
              <a:tabLst/>
              <a:defRPr/>
            </a:pP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Putting the </a:t>
            </a:r>
            <a:r>
              <a:rPr kumimoji="0" lang="en-US" altLang="ko-KR" sz="1200" b="0" kern="0" spc="-50" dirty="0" smtClean="0">
                <a:ln>
                  <a:solidFill>
                    <a:sysClr val="window" lastClr="FFFFFF">
                      <a:alpha val="5000"/>
                    </a:sysClr>
                  </a:solidFill>
                </a:ln>
                <a:solidFill>
                  <a:sysClr val="windowText" lastClr="000000">
                    <a:lumMod val="50000"/>
                    <a:lumOff val="50000"/>
                  </a:sysClr>
                </a:solidFill>
                <a:latin typeface="Tahoma" pitchFamily="34" charset="0"/>
                <a:ea typeface="Tahoma" pitchFamily="34" charset="0"/>
                <a:cs typeface="Tahoma" pitchFamily="34" charset="0"/>
              </a:rPr>
              <a:t>o</a:t>
            </a:r>
            <a:r>
              <a:rPr kumimoji="0" lang="en-US" altLang="ko-KR" sz="1200" b="0" i="0" u="none" strike="noStrike" kern="0" cap="none" spc="-50" normalizeH="0" baseline="0" noProof="0" dirty="0" err="1"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ffline</a:t>
            </a: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 world </a:t>
            </a:r>
            <a:r>
              <a:rPr kumimoji="0" lang="en-US" altLang="ko-KR" sz="1200" b="0" i="0" u="none" strike="noStrike" kern="0" cap="none" spc="-50" normalizeH="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 online</a:t>
            </a:r>
            <a:endPar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endParaRPr>
          </a:p>
          <a:p>
            <a:pPr marL="179388" marR="0" lvl="0" indent="-179388" defTabSz="914400" eaLnBrk="1" fontAlgn="auto" latinLnBrk="0" hangingPunct="1">
              <a:lnSpc>
                <a:spcPct val="100000"/>
              </a:lnSpc>
              <a:spcBef>
                <a:spcPts val="0"/>
              </a:spcBef>
              <a:spcAft>
                <a:spcPts val="0"/>
              </a:spcAft>
              <a:buClrTx/>
              <a:buSzTx/>
              <a:buFont typeface="Arial" pitchFamily="34" charset="0"/>
              <a:buChar char="•"/>
              <a:tabLst/>
              <a:defRPr/>
            </a:pP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Efficiency, Service Innovation</a:t>
            </a:r>
            <a:endPar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endParaRPr>
          </a:p>
        </p:txBody>
      </p:sp>
      <p:sp>
        <p:nvSpPr>
          <p:cNvPr id="15" name="모서리가 둥근 직사각형 14"/>
          <p:cNvSpPr/>
          <p:nvPr/>
        </p:nvSpPr>
        <p:spPr>
          <a:xfrm>
            <a:off x="3323261" y="4509120"/>
            <a:ext cx="2497478" cy="936104"/>
          </a:xfrm>
          <a:prstGeom prst="roundRect">
            <a:avLst>
              <a:gd name="adj" fmla="val 10603"/>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pPr marL="179388" marR="0" lvl="0" indent="-179388" defTabSz="914400" eaLnBrk="1" fontAlgn="auto" latinLnBrk="0" hangingPunct="1">
              <a:lnSpc>
                <a:spcPct val="100000"/>
              </a:lnSpc>
              <a:spcBef>
                <a:spcPts val="0"/>
              </a:spcBef>
              <a:spcAft>
                <a:spcPts val="0"/>
              </a:spcAft>
              <a:buClrTx/>
              <a:buSzTx/>
              <a:buFont typeface="Arial" pitchFamily="34" charset="0"/>
              <a:buChar char="•"/>
              <a:tabLst/>
              <a:defRPr/>
            </a:pP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Connections of</a:t>
            </a:r>
            <a:r>
              <a:rPr kumimoji="0" lang="en-US" altLang="ko-KR" sz="1200" b="0" i="0" u="none" strike="noStrike" kern="0" cap="none" spc="-50" normalizeH="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 offline and online</a:t>
            </a:r>
            <a:r>
              <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rPr>
              <a:t> </a:t>
            </a: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(IT and non-IT)</a:t>
            </a:r>
            <a:endPar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endParaRPr>
          </a:p>
          <a:p>
            <a:pPr marL="179388" marR="0" lvl="0" indent="-179388" defTabSz="914400" eaLnBrk="1" fontAlgn="auto" latinLnBrk="0" hangingPunct="1">
              <a:lnSpc>
                <a:spcPct val="100000"/>
              </a:lnSpc>
              <a:spcBef>
                <a:spcPts val="0"/>
              </a:spcBef>
              <a:spcAft>
                <a:spcPts val="0"/>
              </a:spcAft>
              <a:buClrTx/>
              <a:buSzTx/>
              <a:buFont typeface="Arial" pitchFamily="34" charset="0"/>
              <a:buChar char="•"/>
              <a:tabLst/>
              <a:defRPr/>
            </a:pP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IT in everyday lives</a:t>
            </a:r>
            <a:endPar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endParaRPr>
          </a:p>
        </p:txBody>
      </p:sp>
      <p:sp>
        <p:nvSpPr>
          <p:cNvPr id="16" name="갈매기형 수장 15"/>
          <p:cNvSpPr/>
          <p:nvPr/>
        </p:nvSpPr>
        <p:spPr>
          <a:xfrm>
            <a:off x="2843808" y="3284984"/>
            <a:ext cx="792088" cy="1080120"/>
          </a:xfrm>
          <a:prstGeom prst="chevron">
            <a:avLst/>
          </a:prstGeom>
          <a:solidFill>
            <a:srgbClr val="007E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Tahoma" pitchFamily="34" charset="0"/>
              <a:ea typeface="HY견고딕" pitchFamily="18" charset="-127"/>
              <a:cs typeface="Tahoma" pitchFamily="34" charset="0"/>
            </a:endParaRPr>
          </a:p>
        </p:txBody>
      </p:sp>
      <p:sp>
        <p:nvSpPr>
          <p:cNvPr id="17" name="갈매기형 수장 16"/>
          <p:cNvSpPr/>
          <p:nvPr/>
        </p:nvSpPr>
        <p:spPr>
          <a:xfrm>
            <a:off x="5724128" y="3284984"/>
            <a:ext cx="792088" cy="1080120"/>
          </a:xfrm>
          <a:prstGeom prst="chevron">
            <a:avLst/>
          </a:prstGeom>
          <a:solidFill>
            <a:srgbClr val="007E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Tahoma" pitchFamily="34" charset="0"/>
              <a:ea typeface="HY견고딕" pitchFamily="18" charset="-127"/>
              <a:cs typeface="Tahoma" pitchFamily="34" charset="0"/>
            </a:endParaRPr>
          </a:p>
        </p:txBody>
      </p:sp>
      <p:sp>
        <p:nvSpPr>
          <p:cNvPr id="18" name="모서리가 둥근 직사각형 17"/>
          <p:cNvSpPr/>
          <p:nvPr/>
        </p:nvSpPr>
        <p:spPr>
          <a:xfrm>
            <a:off x="6084168" y="4509120"/>
            <a:ext cx="2774112" cy="936104"/>
          </a:xfrm>
          <a:prstGeom prst="roundRect">
            <a:avLst>
              <a:gd name="adj" fmla="val 10603"/>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pPr marL="179388" marR="0" lvl="0" indent="-179388" defTabSz="914400" eaLnBrk="1" fontAlgn="auto" latinLnBrk="0" hangingPunct="1">
              <a:lnSpc>
                <a:spcPct val="100000"/>
              </a:lnSpc>
              <a:spcBef>
                <a:spcPts val="0"/>
              </a:spcBef>
              <a:spcAft>
                <a:spcPts val="0"/>
              </a:spcAft>
              <a:buClrTx/>
              <a:buSzTx/>
              <a:buFont typeface="Arial" pitchFamily="34" charset="0"/>
              <a:buChar char="•"/>
              <a:tabLst/>
              <a:defRPr/>
            </a:pP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On/Off</a:t>
            </a:r>
            <a:r>
              <a:rPr kumimoji="0" lang="en-US" altLang="ko-KR" sz="1200" b="0" kern="0" spc="-50" dirty="0" smtClean="0">
                <a:ln>
                  <a:solidFill>
                    <a:sysClr val="window" lastClr="FFFFFF">
                      <a:alpha val="5000"/>
                    </a:sysClr>
                  </a:solidFill>
                </a:ln>
                <a:solidFill>
                  <a:sysClr val="windowText" lastClr="000000">
                    <a:lumMod val="50000"/>
                    <a:lumOff val="50000"/>
                  </a:sysClr>
                </a:solidFill>
                <a:latin typeface="Tahoma" pitchFamily="34" charset="0"/>
                <a:ea typeface="Tahoma" pitchFamily="34" charset="0"/>
                <a:cs typeface="Tahoma" pitchFamily="34" charset="0"/>
              </a:rPr>
              <a:t>line Convergence</a:t>
            </a:r>
            <a:r>
              <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rPr>
              <a:t> </a:t>
            </a: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(Human-centric</a:t>
            </a:r>
            <a:r>
              <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rPr>
              <a:t> </a:t>
            </a: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IT)</a:t>
            </a:r>
            <a:endPar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endParaRPr>
          </a:p>
          <a:p>
            <a:pPr marL="179388" marR="0" lvl="0" indent="-179388" defTabSz="914400" eaLnBrk="1" fontAlgn="auto" latinLnBrk="0" hangingPunct="1">
              <a:lnSpc>
                <a:spcPct val="100000"/>
              </a:lnSpc>
              <a:spcBef>
                <a:spcPts val="0"/>
              </a:spcBef>
              <a:spcAft>
                <a:spcPts val="0"/>
              </a:spcAft>
              <a:buClrTx/>
              <a:buSzTx/>
              <a:buFont typeface="Arial" pitchFamily="34" charset="0"/>
              <a:buChar char="•"/>
              <a:tabLst/>
              <a:defRPr/>
            </a:pPr>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Value</a:t>
            </a:r>
            <a:r>
              <a:rPr kumimoji="0" lang="en-US" altLang="ko-KR" sz="1200" b="0" i="0" u="none" strike="noStrike" kern="0" cap="none" spc="-50" normalizeH="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 creation and problem solving through smart technology/value</a:t>
            </a:r>
            <a:endParaRPr kumimoji="0" lang="ko-KR" altLang="en-US"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HY견고딕" pitchFamily="18" charset="-127"/>
              <a:cs typeface="Tahoma" pitchFamily="34" charset="0"/>
            </a:endParaRPr>
          </a:p>
        </p:txBody>
      </p:sp>
      <p:pic>
        <p:nvPicPr>
          <p:cNvPr id="19" name="Picture 3" descr="F:\★Clipart★\입체아이콘\292186 [Converted].png"/>
          <p:cNvPicPr>
            <a:picLocks noChangeAspect="1" noChangeArrowheads="1"/>
          </p:cNvPicPr>
          <p:nvPr/>
        </p:nvPicPr>
        <p:blipFill>
          <a:blip r:embed="rId3" cstate="print"/>
          <a:srcRect/>
          <a:stretch>
            <a:fillRect/>
          </a:stretch>
        </p:blipFill>
        <p:spPr bwMode="auto">
          <a:xfrm>
            <a:off x="3671900" y="3212976"/>
            <a:ext cx="1800200" cy="1221590"/>
          </a:xfrm>
          <a:prstGeom prst="rect">
            <a:avLst/>
          </a:prstGeom>
          <a:noFill/>
        </p:spPr>
      </p:pic>
      <p:pic>
        <p:nvPicPr>
          <p:cNvPr id="20" name="Picture 4" descr="F:\★Clipart★\입체아이콘\292152 [Converted].png"/>
          <p:cNvPicPr>
            <a:picLocks noChangeAspect="1" noChangeArrowheads="1"/>
          </p:cNvPicPr>
          <p:nvPr/>
        </p:nvPicPr>
        <p:blipFill>
          <a:blip r:embed="rId4" cstate="print"/>
          <a:srcRect/>
          <a:stretch>
            <a:fillRect/>
          </a:stretch>
        </p:blipFill>
        <p:spPr bwMode="auto">
          <a:xfrm>
            <a:off x="1115616" y="3284984"/>
            <a:ext cx="1368152" cy="1319182"/>
          </a:xfrm>
          <a:prstGeom prst="rect">
            <a:avLst/>
          </a:prstGeom>
          <a:noFill/>
        </p:spPr>
      </p:pic>
      <p:pic>
        <p:nvPicPr>
          <p:cNvPr id="21" name="Picture 5" descr="F:\★Clipart★\입체아이콘\301185 [Converted].png"/>
          <p:cNvPicPr>
            <a:picLocks noChangeAspect="1" noChangeArrowheads="1"/>
          </p:cNvPicPr>
          <p:nvPr/>
        </p:nvPicPr>
        <p:blipFill>
          <a:blip r:embed="rId5" cstate="print"/>
          <a:srcRect/>
          <a:stretch>
            <a:fillRect/>
          </a:stretch>
        </p:blipFill>
        <p:spPr bwMode="auto">
          <a:xfrm>
            <a:off x="6660232" y="3284984"/>
            <a:ext cx="1727497" cy="1129725"/>
          </a:xfrm>
          <a:prstGeom prst="rect">
            <a:avLst/>
          </a:prstGeom>
          <a:noFill/>
        </p:spPr>
      </p:pic>
      <p:sp>
        <p:nvSpPr>
          <p:cNvPr id="2" name="슬라이드 번호 개체 틀 1"/>
          <p:cNvSpPr>
            <a:spLocks noGrp="1"/>
          </p:cNvSpPr>
          <p:nvPr>
            <p:ph type="sldNum" sz="quarter" idx="12"/>
          </p:nvPr>
        </p:nvSpPr>
        <p:spPr/>
        <p:txBody>
          <a:bodyPr/>
          <a:lstStyle/>
          <a:p>
            <a:fld id="{8F563537-3992-4579-A065-26E1D23BF530}" type="slidenum">
              <a:rPr lang="ko-KR" altLang="en-US" smtClean="0"/>
              <a:pPr/>
              <a:t>20</a:t>
            </a:fld>
            <a:endParaRPr lang="ko-KR" altLang="en-US" dirty="0"/>
          </a:p>
        </p:txBody>
      </p:sp>
    </p:spTree>
    <p:extLst>
      <p:ext uri="{BB962C8B-B14F-4D97-AF65-F5344CB8AC3E}">
        <p14:creationId xmlns:p14="http://schemas.microsoft.com/office/powerpoint/2010/main" val="2540136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611560" y="202630"/>
            <a:ext cx="7992888" cy="634082"/>
          </a:xfrm>
        </p:spPr>
        <p:txBody>
          <a:bodyPr>
            <a:noAutofit/>
          </a:bodyPr>
          <a:lstStyle/>
          <a:p>
            <a:r>
              <a:rPr lang="en-US" altLang="ko-KR" sz="3200" spc="-130" dirty="0" smtClean="0">
                <a:latin typeface="Tahoma" pitchFamily="34" charset="0"/>
                <a:ea typeface="Tahoma" pitchFamily="34" charset="0"/>
                <a:cs typeface="Tahoma" pitchFamily="34" charset="0"/>
              </a:rPr>
              <a:t>Towards Smart Government in South Korea</a:t>
            </a:r>
            <a:endParaRPr lang="ko-KR" altLang="en-US" sz="3200" spc="-130" dirty="0">
              <a:latin typeface="Tahoma" pitchFamily="34" charset="0"/>
              <a:cs typeface="Tahoma" pitchFamily="34" charset="0"/>
            </a:endParaRPr>
          </a:p>
        </p:txBody>
      </p:sp>
      <p:grpSp>
        <p:nvGrpSpPr>
          <p:cNvPr id="3" name="그룹 2"/>
          <p:cNvGrpSpPr/>
          <p:nvPr/>
        </p:nvGrpSpPr>
        <p:grpSpPr>
          <a:xfrm>
            <a:off x="803990" y="1340768"/>
            <a:ext cx="7434606" cy="4951749"/>
            <a:chOff x="438969" y="1134237"/>
            <a:chExt cx="8237487" cy="5463413"/>
          </a:xfrm>
        </p:grpSpPr>
        <p:pic>
          <p:nvPicPr>
            <p:cNvPr id="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4993" y="1847850"/>
              <a:ext cx="6621463" cy="47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969" y="1134237"/>
              <a:ext cx="8010525" cy="538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 name="TextBox 57"/>
            <p:cNvSpPr txBox="1"/>
            <p:nvPr/>
          </p:nvSpPr>
          <p:spPr>
            <a:xfrm>
              <a:off x="3454267" y="6083707"/>
              <a:ext cx="3819642"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pPr algn="ctr"/>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Build a strong e-Government infrastructure </a:t>
              </a:r>
            </a:p>
          </p:txBody>
        </p:sp>
        <p:sp>
          <p:nvSpPr>
            <p:cNvPr id="68" name="TextBox 67"/>
            <p:cNvSpPr txBox="1"/>
            <p:nvPr/>
          </p:nvSpPr>
          <p:spPr>
            <a:xfrm>
              <a:off x="2651961" y="5545640"/>
              <a:ext cx="542425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pPr algn="ctr"/>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Provide personalized services by communicating with citizens </a:t>
              </a:r>
            </a:p>
          </p:txBody>
        </p:sp>
        <p:sp>
          <p:nvSpPr>
            <p:cNvPr id="70" name="TextBox 69"/>
            <p:cNvSpPr txBox="1"/>
            <p:nvPr/>
          </p:nvSpPr>
          <p:spPr>
            <a:xfrm>
              <a:off x="3226818" y="5007575"/>
              <a:ext cx="4274542"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pPr algn="ctr"/>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Promote smart work that balances work and life </a:t>
              </a:r>
            </a:p>
          </p:txBody>
        </p:sp>
        <p:sp>
          <p:nvSpPr>
            <p:cNvPr id="72" name="TextBox 71"/>
            <p:cNvSpPr txBox="1"/>
            <p:nvPr/>
          </p:nvSpPr>
          <p:spPr>
            <a:xfrm>
              <a:off x="3849988" y="4469509"/>
              <a:ext cx="302820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pPr algn="ctr"/>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Establish a safe and </a:t>
              </a:r>
              <a:r>
                <a:rPr lang="en-US" altLang="ko-KR" sz="140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warm society </a:t>
              </a:r>
              <a:endPar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endParaRPr>
            </a:p>
          </p:txBody>
        </p:sp>
        <p:sp>
          <p:nvSpPr>
            <p:cNvPr id="74" name="TextBox 73"/>
            <p:cNvSpPr txBox="1"/>
            <p:nvPr/>
          </p:nvSpPr>
          <p:spPr>
            <a:xfrm>
              <a:off x="3083273" y="3880506"/>
              <a:ext cx="4561631" cy="339580"/>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pPr algn="ctr"/>
              <a:r>
                <a:rPr lang="en-US" altLang="ko-KR" dirty="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rPr>
                <a:t>Realize a </a:t>
              </a:r>
              <a:r>
                <a:rPr lang="en-US" altLang="ko-KR" dirty="0" smtClean="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rPr>
                <a:t>world </a:t>
              </a:r>
              <a:r>
                <a:rPr lang="en-US" altLang="ko-KR" dirty="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rPr>
                <a:t>best </a:t>
              </a:r>
              <a:r>
                <a:rPr lang="en-US" altLang="ko-KR" dirty="0" smtClean="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rPr>
                <a:t>m-Government </a:t>
              </a:r>
              <a:endParaRPr lang="en-US" altLang="ko-KR" dirty="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endParaRPr>
            </a:p>
          </p:txBody>
        </p:sp>
        <p:sp>
          <p:nvSpPr>
            <p:cNvPr id="55" name="직사각형 54"/>
            <p:cNvSpPr/>
            <p:nvPr/>
          </p:nvSpPr>
          <p:spPr bwMode="auto">
            <a:xfrm>
              <a:off x="2623304" y="3122037"/>
              <a:ext cx="857864"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Openness</a:t>
              </a:r>
            </a:p>
          </p:txBody>
        </p:sp>
        <p:sp>
          <p:nvSpPr>
            <p:cNvPr id="92" name="직사각형 91"/>
            <p:cNvSpPr/>
            <p:nvPr/>
          </p:nvSpPr>
          <p:spPr bwMode="auto">
            <a:xfrm>
              <a:off x="4107704" y="3122037"/>
              <a:ext cx="97153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Integration</a:t>
              </a:r>
            </a:p>
          </p:txBody>
        </p:sp>
        <p:sp>
          <p:nvSpPr>
            <p:cNvPr id="95" name="직사각형 94"/>
            <p:cNvSpPr/>
            <p:nvPr/>
          </p:nvSpPr>
          <p:spPr bwMode="auto">
            <a:xfrm>
              <a:off x="5560133" y="3122037"/>
              <a:ext cx="1149147"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Collaboration</a:t>
              </a:r>
            </a:p>
          </p:txBody>
        </p:sp>
        <p:sp>
          <p:nvSpPr>
            <p:cNvPr id="101" name="직사각형 100"/>
            <p:cNvSpPr/>
            <p:nvPr/>
          </p:nvSpPr>
          <p:spPr bwMode="auto">
            <a:xfrm>
              <a:off x="7076503" y="3003184"/>
              <a:ext cx="1198878" cy="475411"/>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Sustainable</a:t>
              </a:r>
              <a:b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br>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Green </a:t>
              </a: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growth</a:t>
              </a:r>
            </a:p>
          </p:txBody>
        </p:sp>
        <p:sp>
          <p:nvSpPr>
            <p:cNvPr id="112" name="직사각형 111"/>
            <p:cNvSpPr/>
            <p:nvPr/>
          </p:nvSpPr>
          <p:spPr bwMode="auto">
            <a:xfrm>
              <a:off x="2531618" y="2252386"/>
              <a:ext cx="2582471"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Global e-Government Leader </a:t>
              </a:r>
            </a:p>
          </p:txBody>
        </p:sp>
        <p:sp>
          <p:nvSpPr>
            <p:cNvPr id="110" name="직사각형 109"/>
            <p:cNvSpPr/>
            <p:nvPr/>
          </p:nvSpPr>
          <p:spPr bwMode="auto">
            <a:xfrm>
              <a:off x="5900041" y="2133533"/>
              <a:ext cx="2010563" cy="475411"/>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World </a:t>
              </a: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best </a:t>
              </a:r>
            </a:p>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e-Government services</a:t>
              </a:r>
            </a:p>
          </p:txBody>
        </p:sp>
        <p:sp>
          <p:nvSpPr>
            <p:cNvPr id="116" name="직사각형 115"/>
            <p:cNvSpPr/>
            <p:nvPr/>
          </p:nvSpPr>
          <p:spPr bwMode="auto">
            <a:xfrm>
              <a:off x="3444107" y="1195967"/>
              <a:ext cx="3839962" cy="61124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kern="0" dirty="0">
                  <a:gradFill>
                    <a:gsLst>
                      <a:gs pos="0">
                        <a:srgbClr val="CC0035"/>
                      </a:gs>
                      <a:gs pos="100000">
                        <a:srgbClr val="CC0035"/>
                      </a:gs>
                    </a:gsLst>
                    <a:lin ang="5400000" scaled="0"/>
                  </a:gradFill>
                  <a:latin typeface="Tahoma" pitchFamily="34" charset="0"/>
                  <a:ea typeface="Tahoma" pitchFamily="34" charset="0"/>
                  <a:cs typeface="Tahoma" pitchFamily="34" charset="0"/>
                </a:rPr>
                <a:t>Realize a </a:t>
              </a:r>
              <a:r>
                <a:rPr kumimoji="1" lang="en-US" altLang="ko-KR" kern="0" dirty="0" smtClean="0">
                  <a:gradFill>
                    <a:gsLst>
                      <a:gs pos="0">
                        <a:srgbClr val="CC0035"/>
                      </a:gs>
                      <a:gs pos="100000">
                        <a:srgbClr val="CC0035"/>
                      </a:gs>
                    </a:gsLst>
                    <a:lin ang="5400000" scaled="0"/>
                  </a:gradFill>
                  <a:latin typeface="Tahoma" pitchFamily="34" charset="0"/>
                  <a:ea typeface="Tahoma" pitchFamily="34" charset="0"/>
                  <a:cs typeface="Tahoma" pitchFamily="34" charset="0"/>
                </a:rPr>
                <a:t>world </a:t>
              </a:r>
              <a:r>
                <a:rPr kumimoji="1" lang="en-US" altLang="ko-KR" kern="0" dirty="0">
                  <a:gradFill>
                    <a:gsLst>
                      <a:gs pos="0">
                        <a:srgbClr val="CC0035"/>
                      </a:gs>
                      <a:gs pos="100000">
                        <a:srgbClr val="CC0035"/>
                      </a:gs>
                    </a:gsLst>
                    <a:lin ang="5400000" scaled="0"/>
                  </a:gradFill>
                  <a:latin typeface="Tahoma" pitchFamily="34" charset="0"/>
                  <a:ea typeface="Tahoma" pitchFamily="34" charset="0"/>
                  <a:cs typeface="Tahoma" pitchFamily="34" charset="0"/>
                </a:rPr>
                <a:t>best </a:t>
              </a:r>
              <a:r>
                <a:rPr kumimoji="1" lang="en-US" altLang="ko-KR" kern="0" dirty="0" smtClean="0">
                  <a:gradFill>
                    <a:gsLst>
                      <a:gs pos="0">
                        <a:srgbClr val="CC0035"/>
                      </a:gs>
                      <a:gs pos="100000">
                        <a:srgbClr val="CC0035"/>
                      </a:gs>
                    </a:gsLst>
                    <a:lin ang="5400000" scaled="0"/>
                  </a:gradFill>
                  <a:latin typeface="Tahoma" pitchFamily="34" charset="0"/>
                  <a:ea typeface="Tahoma" pitchFamily="34" charset="0"/>
                  <a:cs typeface="Tahoma" pitchFamily="34" charset="0"/>
                </a:rPr>
                <a:t>Smart e-Gov </a:t>
              </a:r>
              <a:br>
                <a:rPr kumimoji="1" lang="en-US" altLang="ko-KR" kern="0" dirty="0" smtClean="0">
                  <a:gradFill>
                    <a:gsLst>
                      <a:gs pos="0">
                        <a:srgbClr val="CC0035"/>
                      </a:gs>
                      <a:gs pos="100000">
                        <a:srgbClr val="CC0035"/>
                      </a:gs>
                    </a:gsLst>
                    <a:lin ang="5400000" scaled="0"/>
                  </a:gradFill>
                  <a:latin typeface="Tahoma" pitchFamily="34" charset="0"/>
                  <a:ea typeface="Tahoma" pitchFamily="34" charset="0"/>
                  <a:cs typeface="Tahoma" pitchFamily="34" charset="0"/>
                </a:rPr>
              </a:br>
              <a:r>
                <a:rPr kumimoji="1" lang="en-US" altLang="ko-KR" kern="0" dirty="0" smtClean="0">
                  <a:gradFill>
                    <a:gsLst>
                      <a:gs pos="0">
                        <a:srgbClr val="CC0035"/>
                      </a:gs>
                      <a:gs pos="100000">
                        <a:srgbClr val="CC0035"/>
                      </a:gs>
                    </a:gsLst>
                    <a:lin ang="5400000" scaled="0"/>
                  </a:gradFill>
                  <a:latin typeface="Tahoma" pitchFamily="34" charset="0"/>
                  <a:ea typeface="Tahoma" pitchFamily="34" charset="0"/>
                  <a:cs typeface="Tahoma" pitchFamily="34" charset="0"/>
                </a:rPr>
                <a:t>in </a:t>
              </a:r>
              <a:r>
                <a:rPr kumimoji="1" lang="en-US" altLang="ko-KR" kern="0" dirty="0">
                  <a:gradFill>
                    <a:gsLst>
                      <a:gs pos="0">
                        <a:srgbClr val="CC0035"/>
                      </a:gs>
                      <a:gs pos="100000">
                        <a:srgbClr val="CC0035"/>
                      </a:gs>
                    </a:gsLst>
                    <a:lin ang="5400000" scaled="0"/>
                  </a:gradFill>
                  <a:latin typeface="Tahoma" pitchFamily="34" charset="0"/>
                  <a:ea typeface="Tahoma" pitchFamily="34" charset="0"/>
                  <a:cs typeface="Tahoma" pitchFamily="34" charset="0"/>
                </a:rPr>
                <a:t>tune with </a:t>
              </a:r>
              <a:r>
                <a:rPr kumimoji="1" lang="en-US" altLang="ko-KR" kern="0" dirty="0" smtClean="0">
                  <a:gradFill>
                    <a:gsLst>
                      <a:gs pos="0">
                        <a:srgbClr val="CC0035"/>
                      </a:gs>
                      <a:gs pos="100000">
                        <a:srgbClr val="CC0035"/>
                      </a:gs>
                    </a:gsLst>
                    <a:lin ang="5400000" scaled="0"/>
                  </a:gradFill>
                  <a:latin typeface="Tahoma" pitchFamily="34" charset="0"/>
                  <a:ea typeface="Tahoma" pitchFamily="34" charset="0"/>
                  <a:cs typeface="Tahoma" pitchFamily="34" charset="0"/>
                </a:rPr>
                <a:t>the </a:t>
              </a:r>
              <a:r>
                <a:rPr lang="en-US" altLang="ko-KR" kern="0" dirty="0" smtClean="0">
                  <a:gradFill>
                    <a:gsLst>
                      <a:gs pos="0">
                        <a:srgbClr val="CC0035"/>
                      </a:gs>
                      <a:gs pos="100000">
                        <a:srgbClr val="CC0035"/>
                      </a:gs>
                    </a:gsLst>
                    <a:lin ang="5400000" scaled="0"/>
                  </a:gradFill>
                  <a:latin typeface="Tahoma" pitchFamily="34" charset="0"/>
                  <a:ea typeface="Tahoma" pitchFamily="34" charset="0"/>
                  <a:cs typeface="Tahoma" pitchFamily="34" charset="0"/>
                </a:rPr>
                <a:t>people</a:t>
              </a:r>
              <a:endParaRPr kumimoji="1" lang="en-US" altLang="ko-KR" kern="0" dirty="0">
                <a:gradFill>
                  <a:gsLst>
                    <a:gs pos="0">
                      <a:srgbClr val="CC0035"/>
                    </a:gs>
                    <a:gs pos="100000">
                      <a:srgbClr val="CC0035"/>
                    </a:gs>
                  </a:gsLst>
                  <a:lin ang="5400000" scaled="0"/>
                </a:gradFill>
                <a:latin typeface="Tahoma" pitchFamily="34" charset="0"/>
                <a:ea typeface="Tahoma" pitchFamily="34" charset="0"/>
                <a:cs typeface="Tahoma" pitchFamily="34" charset="0"/>
              </a:endParaRPr>
            </a:p>
          </p:txBody>
        </p:sp>
        <p:sp>
          <p:nvSpPr>
            <p:cNvPr id="125" name="직사각형 124"/>
            <p:cNvSpPr/>
            <p:nvPr/>
          </p:nvSpPr>
          <p:spPr>
            <a:xfrm>
              <a:off x="928792" y="1376489"/>
              <a:ext cx="589670"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Vision</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sp>
          <p:nvSpPr>
            <p:cNvPr id="128" name="직사각형 127"/>
            <p:cNvSpPr/>
            <p:nvPr/>
          </p:nvSpPr>
          <p:spPr>
            <a:xfrm>
              <a:off x="950106" y="2246140"/>
              <a:ext cx="547044"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Goals</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sp>
          <p:nvSpPr>
            <p:cNvPr id="131" name="직사각형 130"/>
            <p:cNvSpPr/>
            <p:nvPr/>
          </p:nvSpPr>
          <p:spPr>
            <a:xfrm>
              <a:off x="806419" y="3115791"/>
              <a:ext cx="834419"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Strategy</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sp>
          <p:nvSpPr>
            <p:cNvPr id="134" name="직사각형 133"/>
            <p:cNvSpPr/>
            <p:nvPr/>
          </p:nvSpPr>
          <p:spPr>
            <a:xfrm>
              <a:off x="847090" y="4990597"/>
              <a:ext cx="753074"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Agenda</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cxnSp>
          <p:nvCxnSpPr>
            <p:cNvPr id="28" name="직선 연결선 27"/>
            <p:cNvCxnSpPr/>
            <p:nvPr/>
          </p:nvCxnSpPr>
          <p:spPr>
            <a:xfrm flipV="1">
              <a:off x="1907704" y="1501587"/>
              <a:ext cx="472380"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V="1">
              <a:off x="1907704" y="2371238"/>
              <a:ext cx="472379"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flipV="1">
              <a:off x="1907704" y="3240889"/>
              <a:ext cx="472379"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1907704" y="5126427"/>
              <a:ext cx="432048"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38" name="꺾인 연결선 137"/>
            <p:cNvCxnSpPr/>
            <p:nvPr/>
          </p:nvCxnSpPr>
          <p:spPr>
            <a:xfrm rot="10800000" flipV="1">
              <a:off x="2339752" y="4050295"/>
              <a:ext cx="12700" cy="2152264"/>
            </a:xfrm>
            <a:prstGeom prst="bentConnector3">
              <a:avLst>
                <a:gd name="adj1" fmla="val 1800000"/>
              </a:avLst>
            </a:prstGeom>
            <a:ln w="12700" cap="sq">
              <a:solidFill>
                <a:schemeClr val="tx1">
                  <a:lumMod val="50000"/>
                  <a:lumOff val="50000"/>
                </a:schemeClr>
              </a:solidFill>
              <a:prstDash val="solid"/>
              <a:miter lim="800000"/>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40" name="꺾인 연결선 139"/>
            <p:cNvCxnSpPr/>
            <p:nvPr/>
          </p:nvCxnSpPr>
          <p:spPr>
            <a:xfrm rot="10800000" flipV="1">
              <a:off x="2339752" y="4588361"/>
              <a:ext cx="12700" cy="1076132"/>
            </a:xfrm>
            <a:prstGeom prst="bentConnector3">
              <a:avLst>
                <a:gd name="adj1" fmla="val 1800000"/>
              </a:avLst>
            </a:prstGeom>
            <a:ln w="12700" cap="sq">
              <a:solidFill>
                <a:schemeClr val="tx1">
                  <a:lumMod val="50000"/>
                  <a:lumOff val="50000"/>
                </a:schemeClr>
              </a:solidFill>
              <a:prstDash val="solid"/>
              <a:miter lim="800000"/>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21</a:t>
            </a:fld>
            <a:endParaRPr lang="ko-KR" altLang="en-US" dirty="0"/>
          </a:p>
        </p:txBody>
      </p:sp>
    </p:spTree>
    <p:extLst>
      <p:ext uri="{BB962C8B-B14F-4D97-AF65-F5344CB8AC3E}">
        <p14:creationId xmlns:p14="http://schemas.microsoft.com/office/powerpoint/2010/main" val="19878646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a:spLocks noGrp="1"/>
          </p:cNvSpPr>
          <p:nvPr>
            <p:ph type="title"/>
          </p:nvPr>
        </p:nvSpPr>
        <p:spPr>
          <a:xfrm>
            <a:off x="611560" y="202630"/>
            <a:ext cx="8184854" cy="634082"/>
          </a:xfrm>
        </p:spPr>
        <p:txBody>
          <a:bodyPr>
            <a:normAutofit/>
          </a:bodyPr>
          <a:lstStyle/>
          <a:p>
            <a:pPr>
              <a:defRPr/>
            </a:pPr>
            <a:r>
              <a:rPr lang="en-US" altLang="ko-KR" sz="2800" b="0" dirty="0" smtClean="0">
                <a:latin typeface="Tahoma" pitchFamily="34" charset="0"/>
                <a:ea typeface="Tahoma" pitchFamily="34" charset="0"/>
                <a:cs typeface="Tahoma" pitchFamily="34" charset="0"/>
              </a:rPr>
              <a:t>Emergence of Smart Age and the New Role of IT</a:t>
            </a:r>
            <a:endParaRPr lang="ko-KR" altLang="en-US" sz="2800" b="0" dirty="0">
              <a:latin typeface="Tahoma" pitchFamily="34" charset="0"/>
              <a:ea typeface="HY견고딕" pitchFamily="18" charset="-127"/>
              <a:cs typeface="Tahoma" pitchFamily="34" charset="0"/>
            </a:endParaRPr>
          </a:p>
        </p:txBody>
      </p:sp>
      <p:grpSp>
        <p:nvGrpSpPr>
          <p:cNvPr id="2" name="그룹 1"/>
          <p:cNvGrpSpPr/>
          <p:nvPr/>
        </p:nvGrpSpPr>
        <p:grpSpPr>
          <a:xfrm>
            <a:off x="107504" y="2355574"/>
            <a:ext cx="8784976" cy="3737722"/>
            <a:chOff x="24663" y="2042038"/>
            <a:chExt cx="9227857" cy="3835234"/>
          </a:xfrm>
        </p:grpSpPr>
        <p:sp>
          <p:nvSpPr>
            <p:cNvPr id="32" name="오른쪽 화살표 31"/>
            <p:cNvSpPr/>
            <p:nvPr/>
          </p:nvSpPr>
          <p:spPr>
            <a:xfrm>
              <a:off x="4344392" y="4282226"/>
              <a:ext cx="720080" cy="576064"/>
            </a:xfrm>
            <a:prstGeom prst="rightArrow">
              <a:avLst>
                <a:gd name="adj1" fmla="val 67102"/>
                <a:gd name="adj2" fmla="val 36649"/>
              </a:avLst>
            </a:prstGeom>
            <a:solidFill>
              <a:srgbClr val="D6ECFF">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3" name="모서리가 둥근 직사각형 32"/>
            <p:cNvSpPr/>
            <p:nvPr/>
          </p:nvSpPr>
          <p:spPr>
            <a:xfrm rot="10800000">
              <a:off x="679022" y="4055930"/>
              <a:ext cx="3325749" cy="1548172"/>
            </a:xfrm>
            <a:prstGeom prst="roundRect">
              <a:avLst>
                <a:gd name="adj" fmla="val 7963"/>
              </a:avLst>
            </a:prstGeom>
            <a:gradFill>
              <a:gsLst>
                <a:gs pos="0">
                  <a:sysClr val="window" lastClr="FFFFFF"/>
                </a:gs>
                <a:gs pos="80000">
                  <a:sysClr val="window" lastClr="FFFFFF">
                    <a:alpha val="0"/>
                  </a:sysClr>
                </a:gs>
              </a:gsLst>
              <a:lin ang="16200000" scaled="1"/>
            </a:gradFill>
            <a:ln w="25400" cap="flat" cmpd="sng" algn="ctr">
              <a:gradFill>
                <a:gsLst>
                  <a:gs pos="20000">
                    <a:srgbClr val="D6ECFF">
                      <a:lumMod val="50000"/>
                      <a:alpha val="0"/>
                    </a:srgbClr>
                  </a:gs>
                  <a:gs pos="100000">
                    <a:srgbClr val="D6ECFF">
                      <a:lumMod val="50000"/>
                    </a:srgbClr>
                  </a:gs>
                </a:gsLst>
                <a:lin ang="54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4" name="모서리가 둥근 직사각형 33"/>
            <p:cNvSpPr/>
            <p:nvPr/>
          </p:nvSpPr>
          <p:spPr>
            <a:xfrm rot="10800000">
              <a:off x="5364088" y="3994792"/>
              <a:ext cx="3325749" cy="1548172"/>
            </a:xfrm>
            <a:prstGeom prst="roundRect">
              <a:avLst>
                <a:gd name="adj" fmla="val 7963"/>
              </a:avLst>
            </a:prstGeom>
            <a:gradFill>
              <a:gsLst>
                <a:gs pos="0">
                  <a:sysClr val="window" lastClr="FFFFFF"/>
                </a:gs>
                <a:gs pos="80000">
                  <a:sysClr val="window" lastClr="FFFFFF">
                    <a:alpha val="0"/>
                  </a:sysClr>
                </a:gs>
              </a:gsLst>
              <a:lin ang="16200000" scaled="1"/>
            </a:gradFill>
            <a:ln w="25400" cap="flat" cmpd="sng" algn="ctr">
              <a:gradFill>
                <a:gsLst>
                  <a:gs pos="20000">
                    <a:srgbClr val="D6ECFF">
                      <a:lumMod val="50000"/>
                      <a:alpha val="0"/>
                    </a:srgbClr>
                  </a:gs>
                  <a:gs pos="100000">
                    <a:srgbClr val="D6ECFF">
                      <a:lumMod val="50000"/>
                    </a:srgbClr>
                  </a:gs>
                </a:gsLst>
                <a:lin ang="54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5" name="TextBox 34"/>
            <p:cNvSpPr txBox="1"/>
            <p:nvPr/>
          </p:nvSpPr>
          <p:spPr>
            <a:xfrm>
              <a:off x="606445" y="3311005"/>
              <a:ext cx="3325749" cy="79602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Information Society</a:t>
              </a:r>
            </a:p>
          </p:txBody>
        </p:sp>
        <p:sp>
          <p:nvSpPr>
            <p:cNvPr id="36" name="TextBox 35"/>
            <p:cNvSpPr txBox="1"/>
            <p:nvPr/>
          </p:nvSpPr>
          <p:spPr>
            <a:xfrm>
              <a:off x="5364088" y="3249867"/>
              <a:ext cx="3325749" cy="79602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Smart</a:t>
              </a:r>
            </a:p>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kern="0" dirty="0" smtClean="0">
                  <a:ln>
                    <a:solidFill>
                      <a:prstClr val="white">
                        <a:alpha val="5000"/>
                      </a:prstClr>
                    </a:solidFill>
                  </a:ln>
                  <a:solidFill>
                    <a:sysClr val="window" lastClr="FFFFFF"/>
                  </a:solidFill>
                  <a:latin typeface="Tahoma" pitchFamily="34" charset="0"/>
                  <a:ea typeface="Tahoma" pitchFamily="34" charset="0"/>
                  <a:cs typeface="Tahoma" pitchFamily="34" charset="0"/>
                </a:rPr>
                <a:t>Society</a:t>
              </a:r>
              <a:endPar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endParaRPr>
            </a:p>
          </p:txBody>
        </p:sp>
        <p:sp>
          <p:nvSpPr>
            <p:cNvPr id="37" name="TextBox 36"/>
            <p:cNvSpPr txBox="1"/>
            <p:nvPr/>
          </p:nvSpPr>
          <p:spPr>
            <a:xfrm>
              <a:off x="1087090" y="4282226"/>
              <a:ext cx="2303797" cy="53687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2800" b="0" i="0" u="none" strike="noStrike" kern="0" cap="none" spc="0" normalizeH="0" baseline="0" noProof="0" dirty="0" smtClean="0">
                  <a:ln>
                    <a:solidFill>
                      <a:sysClr val="window" lastClr="FFFFFF">
                        <a:alpha val="5000"/>
                      </a:sysClr>
                    </a:solidFill>
                  </a:ln>
                  <a:solidFill>
                    <a:srgbClr val="D6ECFF">
                      <a:lumMod val="50000"/>
                    </a:srgbClr>
                  </a:solidFill>
                  <a:effectLst/>
                  <a:uLnTx/>
                  <a:uFillTx/>
                  <a:latin typeface="Tahoma" pitchFamily="34" charset="0"/>
                  <a:ea typeface="Tahoma" pitchFamily="34" charset="0"/>
                  <a:cs typeface="Tahoma" pitchFamily="34" charset="0"/>
                </a:rPr>
                <a:t>IT = enabler</a:t>
              </a:r>
              <a:endParaRPr kumimoji="0" lang="ko-KR" altLang="en-US" sz="2800" b="0" i="0" u="none" strike="noStrike" kern="0" cap="none" spc="0" normalizeH="0" baseline="0" noProof="0" dirty="0" smtClean="0">
                <a:ln>
                  <a:solidFill>
                    <a:sysClr val="window" lastClr="FFFFFF">
                      <a:alpha val="5000"/>
                    </a:sysClr>
                  </a:solidFill>
                </a:ln>
                <a:solidFill>
                  <a:srgbClr val="D6ECFF">
                    <a:lumMod val="50000"/>
                  </a:srgbClr>
                </a:solidFill>
                <a:effectLst/>
                <a:uLnTx/>
                <a:uFillTx/>
                <a:latin typeface="Tahoma" pitchFamily="34" charset="0"/>
                <a:ea typeface="HY견고딕" pitchFamily="18" charset="-127"/>
                <a:cs typeface="Tahoma" pitchFamily="34" charset="0"/>
              </a:endParaRPr>
            </a:p>
          </p:txBody>
        </p:sp>
        <p:sp>
          <p:nvSpPr>
            <p:cNvPr id="38" name="TextBox 37"/>
            <p:cNvSpPr txBox="1"/>
            <p:nvPr/>
          </p:nvSpPr>
          <p:spPr>
            <a:xfrm>
              <a:off x="5759719" y="4221088"/>
              <a:ext cx="2771898" cy="53687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IT = platform</a:t>
              </a:r>
              <a:endParaRPr kumimoji="0" lang="ko-KR" altLang="en-US" sz="2800" b="1"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HY견고딕" pitchFamily="18" charset="-127"/>
                <a:cs typeface="Tahoma" pitchFamily="34" charset="0"/>
              </a:endParaRPr>
            </a:p>
          </p:txBody>
        </p:sp>
        <p:pic>
          <p:nvPicPr>
            <p:cNvPr id="39" name="Picture 5" descr="F:\★Clipart★\기타\ball\Gems\03.png"/>
            <p:cNvPicPr>
              <a:picLocks noChangeAspect="1" noChangeArrowheads="1"/>
            </p:cNvPicPr>
            <p:nvPr/>
          </p:nvPicPr>
          <p:blipFill>
            <a:blip r:embed="rId3" cstate="print"/>
            <a:srcRect/>
            <a:stretch>
              <a:fillRect/>
            </a:stretch>
          </p:blipFill>
          <p:spPr bwMode="auto">
            <a:xfrm>
              <a:off x="58664"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0" name="TextBox 39"/>
            <p:cNvSpPr txBox="1"/>
            <p:nvPr/>
          </p:nvSpPr>
          <p:spPr>
            <a:xfrm>
              <a:off x="24663" y="5184636"/>
              <a:ext cx="1462577"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Increased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Productivity</a:t>
              </a:r>
              <a:endParaRPr kumimoji="0" lang="ko-KR" altLang="en-US"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HY견고딕" pitchFamily="18" charset="-127"/>
                <a:cs typeface="Tahoma" pitchFamily="34" charset="0"/>
              </a:endParaRPr>
            </a:p>
          </p:txBody>
        </p:sp>
        <p:pic>
          <p:nvPicPr>
            <p:cNvPr id="41" name="Picture 5" descr="F:\★Clipart★\기타\ball\Gems\03.png"/>
            <p:cNvPicPr>
              <a:picLocks noChangeAspect="1" noChangeArrowheads="1"/>
            </p:cNvPicPr>
            <p:nvPr/>
          </p:nvPicPr>
          <p:blipFill>
            <a:blip r:embed="rId3" cstate="print"/>
            <a:srcRect/>
            <a:stretch>
              <a:fillRect/>
            </a:stretch>
          </p:blipFill>
          <p:spPr bwMode="auto">
            <a:xfrm>
              <a:off x="1403648"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2" name="TextBox 41"/>
            <p:cNvSpPr txBox="1"/>
            <p:nvPr/>
          </p:nvSpPr>
          <p:spPr>
            <a:xfrm>
              <a:off x="1533297" y="5157192"/>
              <a:ext cx="119503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kern="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Enhanced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Efficiency</a:t>
              </a:r>
              <a:endParaRPr kumimoji="0" lang="ko-KR" altLang="en-US"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HY견고딕" pitchFamily="18" charset="-127"/>
                <a:cs typeface="Tahoma" pitchFamily="34" charset="0"/>
              </a:endParaRPr>
            </a:p>
          </p:txBody>
        </p:sp>
        <p:pic>
          <p:nvPicPr>
            <p:cNvPr id="43" name="Picture 5" descr="F:\★Clipart★\기타\ball\Gems\03.png"/>
            <p:cNvPicPr>
              <a:picLocks noChangeAspect="1" noChangeArrowheads="1"/>
            </p:cNvPicPr>
            <p:nvPr/>
          </p:nvPicPr>
          <p:blipFill>
            <a:blip r:embed="rId3" cstate="print"/>
            <a:srcRect/>
            <a:stretch>
              <a:fillRect/>
            </a:stretch>
          </p:blipFill>
          <p:spPr bwMode="auto">
            <a:xfrm>
              <a:off x="2771800"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4" name="TextBox 43"/>
            <p:cNvSpPr txBox="1"/>
            <p:nvPr/>
          </p:nvSpPr>
          <p:spPr>
            <a:xfrm>
              <a:off x="2892648" y="5210036"/>
              <a:ext cx="1339465"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Diversified</a:t>
              </a:r>
              <a:r>
                <a:rPr kumimoji="0" lang="en-US" altLang="ko-KR" sz="1400" b="0" i="0" u="none" strike="noStrike" kern="0" cap="none" spc="0" normalizeH="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 Services</a:t>
              </a:r>
              <a:endPar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endParaRPr>
            </a:p>
          </p:txBody>
        </p:sp>
        <p:pic>
          <p:nvPicPr>
            <p:cNvPr id="45" name="Picture 5" descr="F:\★Clipart★\기타\ball\Gems\03.png"/>
            <p:cNvPicPr>
              <a:picLocks noChangeAspect="1" noChangeArrowheads="1"/>
            </p:cNvPicPr>
            <p:nvPr/>
          </p:nvPicPr>
          <p:blipFill>
            <a:blip r:embed="rId4" cstate="print"/>
            <a:stretch>
              <a:fillRect/>
            </a:stretch>
          </p:blipFill>
          <p:spPr bwMode="auto">
            <a:xfrm>
              <a:off x="5004048"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6" name="TextBox 45"/>
            <p:cNvSpPr txBox="1"/>
            <p:nvPr/>
          </p:nvSpPr>
          <p:spPr>
            <a:xfrm>
              <a:off x="5064472" y="5138029"/>
              <a:ext cx="128632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Problem Solving</a:t>
              </a:r>
              <a:endParaRPr kumimoji="0" lang="ko-KR" altLang="en-US"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HY견고딕" pitchFamily="18" charset="-127"/>
                <a:cs typeface="Tahoma" pitchFamily="34" charset="0"/>
              </a:endParaRPr>
            </a:p>
          </p:txBody>
        </p:sp>
        <p:pic>
          <p:nvPicPr>
            <p:cNvPr id="47" name="Picture 5" descr="F:\★Clipart★\기타\ball\Gems\03.png"/>
            <p:cNvPicPr>
              <a:picLocks noChangeAspect="1" noChangeArrowheads="1"/>
            </p:cNvPicPr>
            <p:nvPr/>
          </p:nvPicPr>
          <p:blipFill>
            <a:blip r:embed="rId4" cstate="print"/>
            <a:stretch>
              <a:fillRect/>
            </a:stretch>
          </p:blipFill>
          <p:spPr bwMode="auto">
            <a:xfrm>
              <a:off x="6358287"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8" name="TextBox 47"/>
            <p:cNvSpPr txBox="1"/>
            <p:nvPr/>
          </p:nvSpPr>
          <p:spPr>
            <a:xfrm>
              <a:off x="6481068" y="5097367"/>
              <a:ext cx="1189440"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Value Creation</a:t>
              </a:r>
              <a:endParaRPr kumimoji="0" lang="ko-KR" altLang="en-US"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HY견고딕" pitchFamily="18" charset="-127"/>
                <a:cs typeface="Tahoma" pitchFamily="34" charset="0"/>
              </a:endParaRPr>
            </a:p>
          </p:txBody>
        </p:sp>
        <p:pic>
          <p:nvPicPr>
            <p:cNvPr id="49" name="Picture 5" descr="F:\★Clipart★\기타\ball\Gems\03.png"/>
            <p:cNvPicPr>
              <a:picLocks noChangeAspect="1" noChangeArrowheads="1"/>
            </p:cNvPicPr>
            <p:nvPr/>
          </p:nvPicPr>
          <p:blipFill>
            <a:blip r:embed="rId4" cstate="print"/>
            <a:stretch>
              <a:fillRect/>
            </a:stretch>
          </p:blipFill>
          <p:spPr bwMode="auto">
            <a:xfrm>
              <a:off x="7775500"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50" name="TextBox 49"/>
            <p:cNvSpPr txBox="1"/>
            <p:nvPr/>
          </p:nvSpPr>
          <p:spPr>
            <a:xfrm>
              <a:off x="7813082" y="5148481"/>
              <a:ext cx="143943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0" kern="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New Service Expansion</a:t>
              </a:r>
              <a:endParaRPr kumimoji="0" lang="ko-KR" altLang="en-US"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HY견고딕" pitchFamily="18" charset="-127"/>
                <a:cs typeface="Tahoma" pitchFamily="34" charset="0"/>
              </a:endParaRPr>
            </a:p>
          </p:txBody>
        </p:sp>
        <p:grpSp>
          <p:nvGrpSpPr>
            <p:cNvPr id="51" name="그룹 53"/>
            <p:cNvGrpSpPr/>
            <p:nvPr/>
          </p:nvGrpSpPr>
          <p:grpSpPr>
            <a:xfrm>
              <a:off x="2483768" y="2042038"/>
              <a:ext cx="3798774" cy="738890"/>
              <a:chOff x="460488" y="2564904"/>
              <a:chExt cx="1231336" cy="2093514"/>
            </a:xfrm>
          </p:grpSpPr>
          <p:sp>
            <p:nvSpPr>
              <p:cNvPr id="52" name="모서리가 둥근 직사각형 51"/>
              <p:cNvSpPr/>
              <p:nvPr/>
            </p:nvSpPr>
            <p:spPr>
              <a:xfrm>
                <a:off x="460488" y="2564904"/>
                <a:ext cx="1231336" cy="2093514"/>
              </a:xfrm>
              <a:prstGeom prst="roundRect">
                <a:avLst>
                  <a:gd name="adj" fmla="val 7922"/>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53" name="TextBox 52"/>
              <p:cNvSpPr txBox="1"/>
              <p:nvPr/>
            </p:nvSpPr>
            <p:spPr>
              <a:xfrm>
                <a:off x="576990" y="2827155"/>
                <a:ext cx="998809" cy="134217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b="0" i="0" u="none" strike="noStrike" kern="0" cap="none" spc="0" normalizeH="0" baseline="0" noProof="0" dirty="0" smtClean="0">
                    <a:ln>
                      <a:solidFill>
                        <a:sysClr val="window" lastClr="FFFFFF">
                          <a:alpha val="5000"/>
                        </a:sysClr>
                      </a:solidFill>
                    </a:ln>
                    <a:solidFill>
                      <a:sysClr val="window" lastClr="FFFFFF"/>
                    </a:solidFill>
                    <a:effectLst/>
                    <a:uLnTx/>
                    <a:uFillTx/>
                    <a:latin typeface="Tahoma" pitchFamily="34" charset="0"/>
                    <a:ea typeface="Tahoma" pitchFamily="34" charset="0"/>
                    <a:cs typeface="Tahoma" pitchFamily="34" charset="0"/>
                  </a:rPr>
                  <a:t>Role</a:t>
                </a:r>
                <a:r>
                  <a:rPr kumimoji="0" lang="en-US" altLang="ko-KR" sz="2400" b="0" i="0" u="none" strike="noStrike" kern="0" cap="none" spc="0" normalizeH="0" noProof="0" dirty="0" smtClean="0">
                    <a:ln>
                      <a:solidFill>
                        <a:sysClr val="window" lastClr="FFFFFF">
                          <a:alpha val="5000"/>
                        </a:sysClr>
                      </a:solidFill>
                    </a:ln>
                    <a:solidFill>
                      <a:sysClr val="window" lastClr="FFFFFF"/>
                    </a:solidFill>
                    <a:effectLst/>
                    <a:uLnTx/>
                    <a:uFillTx/>
                    <a:latin typeface="Tahoma" pitchFamily="34" charset="0"/>
                    <a:ea typeface="Tahoma" pitchFamily="34" charset="0"/>
                    <a:cs typeface="Tahoma" pitchFamily="34" charset="0"/>
                  </a:rPr>
                  <a:t> </a:t>
                </a:r>
                <a:r>
                  <a:rPr kumimoji="0" lang="en-US" altLang="ko-KR" sz="2400" b="0" kern="0" dirty="0" smtClean="0">
                    <a:ln>
                      <a:solidFill>
                        <a:sysClr val="window" lastClr="FFFFFF">
                          <a:alpha val="5000"/>
                        </a:sysClr>
                      </a:solidFill>
                    </a:ln>
                    <a:solidFill>
                      <a:sysClr val="window" lastClr="FFFFFF"/>
                    </a:solidFill>
                    <a:latin typeface="Tahoma" pitchFamily="34" charset="0"/>
                    <a:ea typeface="Tahoma" pitchFamily="34" charset="0"/>
                    <a:cs typeface="Tahoma" pitchFamily="34" charset="0"/>
                  </a:rPr>
                  <a:t>of </a:t>
                </a:r>
                <a:r>
                  <a:rPr kumimoji="0" lang="en-US" altLang="ko-KR" sz="2400" b="0" i="0" u="none" strike="noStrike" kern="0" cap="none" spc="0" normalizeH="0" baseline="0" noProof="0" dirty="0" smtClean="0">
                    <a:ln>
                      <a:solidFill>
                        <a:sysClr val="window" lastClr="FFFFFF">
                          <a:alpha val="5000"/>
                        </a:sysClr>
                      </a:solidFill>
                    </a:ln>
                    <a:solidFill>
                      <a:sysClr val="window" lastClr="FFFFFF"/>
                    </a:solidFill>
                    <a:effectLst/>
                    <a:uLnTx/>
                    <a:uFillTx/>
                    <a:latin typeface="Tahoma" pitchFamily="34" charset="0"/>
                    <a:ea typeface="Tahoma" pitchFamily="34" charset="0"/>
                    <a:cs typeface="Tahoma" pitchFamily="34" charset="0"/>
                  </a:rPr>
                  <a:t>IT</a:t>
                </a:r>
                <a:endParaRPr kumimoji="0" lang="ko-KR" altLang="en-US" sz="2400" b="0" i="0" u="none" strike="noStrike" kern="0" cap="none" spc="0" normalizeH="0" baseline="0" noProof="0" dirty="0" smtClean="0">
                  <a:ln>
                    <a:solidFill>
                      <a:sysClr val="window" lastClr="FFFFFF">
                        <a:alpha val="5000"/>
                      </a:sysClr>
                    </a:solidFill>
                  </a:ln>
                  <a:solidFill>
                    <a:sysClr val="window" lastClr="FFFFFF"/>
                  </a:solidFill>
                  <a:effectLst/>
                  <a:uLnTx/>
                  <a:uFillTx/>
                  <a:latin typeface="Tahoma" pitchFamily="34" charset="0"/>
                  <a:ea typeface="HY견고딕" pitchFamily="18" charset="-127"/>
                  <a:cs typeface="Tahoma" pitchFamily="34" charset="0"/>
                </a:endParaRPr>
              </a:p>
            </p:txBody>
          </p:sp>
          <p:sp>
            <p:nvSpPr>
              <p:cNvPr id="54" name="모서리가 둥근 직사각형 53"/>
              <p:cNvSpPr/>
              <p:nvPr/>
            </p:nvSpPr>
            <p:spPr>
              <a:xfrm rot="10800000">
                <a:off x="462176" y="2605667"/>
                <a:ext cx="1229648" cy="391285"/>
              </a:xfrm>
              <a:prstGeom prst="roundRect">
                <a:avLst>
                  <a:gd name="adj" fmla="val 18884"/>
                </a:avLst>
              </a:prstGeom>
              <a:gradFill>
                <a:gsLst>
                  <a:gs pos="0">
                    <a:sysClr val="window" lastClr="FFFFFF"/>
                  </a:gs>
                  <a:gs pos="80000">
                    <a:sysClr val="window" lastClr="FFFFFF">
                      <a:alpha val="0"/>
                    </a:sysClr>
                  </a:gs>
                </a:gsLst>
                <a:lin ang="16200000" scaled="1"/>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grpSp>
        <p:sp>
          <p:nvSpPr>
            <p:cNvPr id="55" name="직사각형 54"/>
            <p:cNvSpPr/>
            <p:nvPr/>
          </p:nvSpPr>
          <p:spPr>
            <a:xfrm>
              <a:off x="1021922" y="2842066"/>
              <a:ext cx="2232248" cy="410548"/>
            </a:xfrm>
            <a:prstGeom prst="rect">
              <a:avLst/>
            </a:prstGeom>
          </p:spPr>
          <p:txBody>
            <a:bodyPr wrap="square">
              <a:spAutoFit/>
            </a:bodyPr>
            <a:lstStyle/>
            <a:p>
              <a:pPr marL="0" marR="0" lvl="0" indent="0" algn="ctr" defTabSz="400050" eaLnBrk="1" fontAlgn="auto" latinLnBrk="0" hangingPunct="1">
                <a:lnSpc>
                  <a:spcPct val="100000"/>
                </a:lnSpc>
                <a:spcBef>
                  <a:spcPts val="0"/>
                </a:spcBef>
                <a:spcAft>
                  <a:spcPts val="0"/>
                </a:spcAft>
                <a:buClrTx/>
                <a:buSzTx/>
                <a:buFontTx/>
                <a:buNone/>
                <a:tabLst>
                  <a:tab pos="1619250" algn="l"/>
                </a:tabLst>
                <a:defRPr/>
              </a:pPr>
              <a:r>
                <a:rPr kumimoji="0" lang="en-US" altLang="ko-KR" sz="2000" b="0" i="0" u="none" strike="noStrike" kern="0" cap="none" spc="0" normalizeH="0" baseline="0" noProof="0" dirty="0" smtClean="0">
                  <a:ln w="1905">
                    <a:solidFill>
                      <a:sysClr val="window" lastClr="FFFFFF">
                        <a:alpha val="5000"/>
                      </a:sysClr>
                    </a:solidFill>
                  </a:ln>
                  <a:solidFill>
                    <a:sysClr val="windowText" lastClr="000000">
                      <a:lumMod val="75000"/>
                      <a:lumOff val="25000"/>
                    </a:sysClr>
                  </a:solidFill>
                  <a:effectLst/>
                  <a:uLnTx/>
                  <a:uFillTx/>
                  <a:latin typeface="Tahoma" pitchFamily="34" charset="0"/>
                  <a:ea typeface="Tahoma" pitchFamily="34" charset="0"/>
                  <a:cs typeface="Tahoma" pitchFamily="34" charset="0"/>
                </a:rPr>
                <a:t>[ AS IS ]</a:t>
              </a:r>
              <a:endParaRPr kumimoji="0" lang="ko-KR" altLang="en-US" sz="2000" b="0" i="0" u="none" strike="noStrike" kern="0" cap="none" spc="0" normalizeH="0" baseline="0" noProof="0" dirty="0" smtClean="0">
                <a:ln w="1905">
                  <a:solidFill>
                    <a:sysClr val="window" lastClr="FFFFFF">
                      <a:alpha val="5000"/>
                    </a:sysClr>
                  </a:solidFill>
                </a:ln>
                <a:gradFill flip="none" rotWithShape="1">
                  <a:gsLst>
                    <a:gs pos="0">
                      <a:srgbClr val="EE0000">
                        <a:lumMod val="75000"/>
                        <a:shade val="30000"/>
                        <a:satMod val="115000"/>
                      </a:srgbClr>
                    </a:gs>
                    <a:gs pos="50000">
                      <a:srgbClr val="EE0000">
                        <a:lumMod val="75000"/>
                        <a:shade val="67500"/>
                        <a:satMod val="115000"/>
                      </a:srgbClr>
                    </a:gs>
                    <a:gs pos="100000">
                      <a:srgbClr val="EE0000">
                        <a:lumMod val="75000"/>
                        <a:shade val="100000"/>
                        <a:satMod val="115000"/>
                      </a:srgbClr>
                    </a:gs>
                  </a:gsLst>
                  <a:lin ang="16200000" scaled="1"/>
                  <a:tileRect/>
                </a:gradFill>
                <a:effectLst/>
                <a:uLnTx/>
                <a:uFillTx/>
                <a:latin typeface="Tahoma" pitchFamily="34" charset="0"/>
                <a:ea typeface="HY견고딕" pitchFamily="18" charset="-127"/>
                <a:cs typeface="Tahoma" pitchFamily="34" charset="0"/>
              </a:endParaRPr>
            </a:p>
          </p:txBody>
        </p:sp>
        <p:sp>
          <p:nvSpPr>
            <p:cNvPr id="56" name="직사각형 55"/>
            <p:cNvSpPr/>
            <p:nvPr/>
          </p:nvSpPr>
          <p:spPr>
            <a:xfrm>
              <a:off x="5883111" y="2780927"/>
              <a:ext cx="2232248" cy="410548"/>
            </a:xfrm>
            <a:prstGeom prst="rect">
              <a:avLst/>
            </a:prstGeom>
          </p:spPr>
          <p:txBody>
            <a:bodyPr wrap="square">
              <a:spAutoFit/>
            </a:bodyPr>
            <a:lstStyle/>
            <a:p>
              <a:pPr marL="0" marR="0" lvl="0" indent="0" algn="ctr" defTabSz="400050" eaLnBrk="1" fontAlgn="auto" latinLnBrk="0" hangingPunct="1">
                <a:lnSpc>
                  <a:spcPct val="100000"/>
                </a:lnSpc>
                <a:spcBef>
                  <a:spcPts val="0"/>
                </a:spcBef>
                <a:spcAft>
                  <a:spcPts val="0"/>
                </a:spcAft>
                <a:buClrTx/>
                <a:buSzTx/>
                <a:buFontTx/>
                <a:buNone/>
                <a:tabLst>
                  <a:tab pos="1619250" algn="l"/>
                </a:tabLst>
                <a:defRPr/>
              </a:pPr>
              <a:r>
                <a:rPr kumimoji="0" lang="en-US" altLang="ko-KR" sz="2000" b="0" i="0" u="none" strike="noStrike" kern="0" cap="none" spc="0" normalizeH="0" baseline="0" noProof="0" dirty="0" smtClean="0">
                  <a:ln w="1905">
                    <a:solidFill>
                      <a:sysClr val="window" lastClr="FFFFFF">
                        <a:alpha val="5000"/>
                      </a:sysClr>
                    </a:solidFill>
                  </a:ln>
                  <a:solidFill>
                    <a:sysClr val="windowText" lastClr="000000">
                      <a:lumMod val="75000"/>
                      <a:lumOff val="25000"/>
                    </a:sysClr>
                  </a:solidFill>
                  <a:effectLst/>
                  <a:uLnTx/>
                  <a:uFillTx/>
                  <a:latin typeface="Tahoma" pitchFamily="34" charset="0"/>
                  <a:ea typeface="Tahoma" pitchFamily="34" charset="0"/>
                  <a:cs typeface="Tahoma" pitchFamily="34" charset="0"/>
                </a:rPr>
                <a:t>[ TO BE ]</a:t>
              </a:r>
              <a:endParaRPr kumimoji="0" lang="ko-KR" altLang="en-US" sz="2000" b="0" i="0" u="none" strike="noStrike" kern="0" cap="none" spc="0" normalizeH="0" baseline="0" noProof="0" dirty="0" smtClean="0">
                <a:ln w="1905">
                  <a:solidFill>
                    <a:sysClr val="window" lastClr="FFFFFF">
                      <a:alpha val="5000"/>
                    </a:sysClr>
                  </a:solidFill>
                </a:ln>
                <a:gradFill flip="none" rotWithShape="1">
                  <a:gsLst>
                    <a:gs pos="0">
                      <a:srgbClr val="EE0000">
                        <a:lumMod val="75000"/>
                        <a:shade val="30000"/>
                        <a:satMod val="115000"/>
                      </a:srgbClr>
                    </a:gs>
                    <a:gs pos="50000">
                      <a:srgbClr val="EE0000">
                        <a:lumMod val="75000"/>
                        <a:shade val="67500"/>
                        <a:satMod val="115000"/>
                      </a:srgbClr>
                    </a:gs>
                    <a:gs pos="100000">
                      <a:srgbClr val="EE0000">
                        <a:lumMod val="75000"/>
                        <a:shade val="100000"/>
                        <a:satMod val="115000"/>
                      </a:srgbClr>
                    </a:gs>
                  </a:gsLst>
                  <a:lin ang="16200000" scaled="1"/>
                  <a:tileRect/>
                </a:gradFill>
                <a:effectLst/>
                <a:uLnTx/>
                <a:uFillTx/>
                <a:latin typeface="Tahoma" pitchFamily="34" charset="0"/>
                <a:ea typeface="HY견고딕" pitchFamily="18" charset="-127"/>
                <a:cs typeface="Tahoma" pitchFamily="34" charset="0"/>
              </a:endParaRPr>
            </a:p>
          </p:txBody>
        </p:sp>
      </p:grpSp>
      <p:sp>
        <p:nvSpPr>
          <p:cNvPr id="57" name="직사각형 56"/>
          <p:cNvSpPr/>
          <p:nvPr/>
        </p:nvSpPr>
        <p:spPr>
          <a:xfrm>
            <a:off x="0" y="1208946"/>
            <a:ext cx="9144000" cy="851902"/>
          </a:xfrm>
          <a:prstGeom prst="rect">
            <a:avLst/>
          </a:prstGeom>
          <a:gradFill>
            <a:gsLst>
              <a:gs pos="0">
                <a:sysClr val="window" lastClr="FFFFFF">
                  <a:alpha val="70000"/>
                </a:sysClr>
              </a:gs>
              <a:gs pos="50000">
                <a:sysClr val="window" lastClr="FFFFFF">
                  <a:alpha val="70000"/>
                </a:sysClr>
              </a:gs>
              <a:gs pos="100000">
                <a:sysClr val="window" lastClr="FFFFFF">
                  <a:alpha val="0"/>
                </a:sysClr>
              </a:gs>
            </a:gsLst>
            <a:lin ang="0" scaled="0"/>
          </a:gradFill>
          <a:ln w="25400" cap="flat" cmpd="sng" algn="ctr">
            <a:gradFill>
              <a:gsLst>
                <a:gs pos="0">
                  <a:srgbClr val="D6ECFF">
                    <a:lumMod val="50000"/>
                    <a:alpha val="0"/>
                  </a:srgbClr>
                </a:gs>
                <a:gs pos="50000">
                  <a:srgbClr val="D6ECFF">
                    <a:lumMod val="50000"/>
                  </a:srgbClr>
                </a:gs>
                <a:gs pos="100000">
                  <a:srgbClr val="D6ECFF">
                    <a:lumMod val="50000"/>
                    <a:alpha val="0"/>
                  </a:srgbClr>
                </a:gs>
              </a:gsLst>
              <a:lin ang="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다음_Regular"/>
              <a:cs typeface="Tahoma" pitchFamily="34" charset="0"/>
            </a:endParaRPr>
          </a:p>
        </p:txBody>
      </p:sp>
      <p:sp>
        <p:nvSpPr>
          <p:cNvPr id="58" name="직사각형 57"/>
          <p:cNvSpPr/>
          <p:nvPr/>
        </p:nvSpPr>
        <p:spPr>
          <a:xfrm>
            <a:off x="0" y="1157843"/>
            <a:ext cx="9144000" cy="83099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IT has changed from a core tool for efficiency to 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kern="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atin typeface="Tahoma" pitchFamily="34" charset="0"/>
                <a:ea typeface="Tahoma" pitchFamily="34" charset="0"/>
                <a:cs typeface="Tahoma" pitchFamily="34" charset="0"/>
              </a:rPr>
              <a:t>platform for open innovation and creative collaboration</a:t>
            </a:r>
            <a:endParaRPr kumimoji="0" lang="ko-KR" altLang="en-US" sz="240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다음_SemiBold"/>
              <a:cs typeface="Tahoma" pitchFamily="34" charset="0"/>
            </a:endParaRPr>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22</a:t>
            </a:fld>
            <a:endParaRPr lang="ko-KR" altLang="en-US" dirty="0"/>
          </a:p>
        </p:txBody>
      </p:sp>
    </p:spTree>
    <p:extLst>
      <p:ext uri="{BB962C8B-B14F-4D97-AF65-F5344CB8AC3E}">
        <p14:creationId xmlns:p14="http://schemas.microsoft.com/office/powerpoint/2010/main" val="928508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제목 35"/>
          <p:cNvSpPr>
            <a:spLocks noGrp="1"/>
          </p:cNvSpPr>
          <p:nvPr>
            <p:ph type="title"/>
          </p:nvPr>
        </p:nvSpPr>
        <p:spPr>
          <a:xfrm>
            <a:off x="457200" y="44624"/>
            <a:ext cx="8229600" cy="1143000"/>
          </a:xfrm>
        </p:spPr>
        <p:txBody>
          <a:bodyPr>
            <a:normAutofit/>
          </a:bodyPr>
          <a:lstStyle/>
          <a:p>
            <a:r>
              <a:rPr lang="en-US" altLang="ko-KR" sz="3200" dirty="0" smtClean="0">
                <a:latin typeface="Tahoma" pitchFamily="34" charset="0"/>
                <a:ea typeface="Tahoma" pitchFamily="34" charset="0"/>
                <a:cs typeface="Tahoma" pitchFamily="34" charset="0"/>
              </a:rPr>
              <a:t>Realization of Smart-Government</a:t>
            </a:r>
            <a:endParaRPr lang="ko-KR" altLang="en-US" sz="3200" dirty="0">
              <a:latin typeface="Tahoma" pitchFamily="34" charset="0"/>
              <a:cs typeface="Tahoma" pitchFamily="34" charset="0"/>
            </a:endParaRPr>
          </a:p>
        </p:txBody>
      </p:sp>
      <p:grpSp>
        <p:nvGrpSpPr>
          <p:cNvPr id="5" name="그룹 4"/>
          <p:cNvGrpSpPr/>
          <p:nvPr/>
        </p:nvGrpSpPr>
        <p:grpSpPr>
          <a:xfrm>
            <a:off x="0" y="1114742"/>
            <a:ext cx="9396536" cy="5489779"/>
            <a:chOff x="0" y="1124992"/>
            <a:chExt cx="9396536" cy="5489779"/>
          </a:xfrm>
        </p:grpSpPr>
        <p:sp>
          <p:nvSpPr>
            <p:cNvPr id="178178" name="AutoShape 61"/>
            <p:cNvSpPr>
              <a:spLocks noChangeArrowheads="1"/>
            </p:cNvSpPr>
            <p:nvPr/>
          </p:nvSpPr>
          <p:spPr bwMode="auto">
            <a:xfrm>
              <a:off x="853629" y="1413197"/>
              <a:ext cx="7534795" cy="1359632"/>
            </a:xfrm>
            <a:prstGeom prst="roundRect">
              <a:avLst>
                <a:gd name="adj" fmla="val 8602"/>
              </a:avLst>
            </a:prstGeom>
            <a:solidFill>
              <a:srgbClr val="F3F3F3"/>
            </a:solidFill>
            <a:ln w="12700" algn="ctr">
              <a:solidFill>
                <a:schemeClr val="bg2">
                  <a:lumMod val="50000"/>
                </a:schemeClr>
              </a:solidFill>
              <a:round/>
              <a:headEnd/>
              <a:tailEnd/>
            </a:ln>
          </p:spPr>
          <p:txBody>
            <a:bodyPr rot="10800000" lIns="107712" tIns="53857" rIns="107712" bIns="53857"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7" name="AutoShape 27"/>
            <p:cNvSpPr>
              <a:spLocks noChangeArrowheads="1"/>
            </p:cNvSpPr>
            <p:nvPr/>
          </p:nvSpPr>
          <p:spPr bwMode="auto">
            <a:xfrm>
              <a:off x="2505075" y="1124992"/>
              <a:ext cx="3992563" cy="431800"/>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ct val="130000"/>
                </a:lnSpc>
                <a:defRPr/>
              </a:pPr>
              <a:r>
                <a:rPr lang="en-US" altLang="ko-KR" sz="19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Smart-</a:t>
              </a:r>
              <a:r>
                <a:rPr lang="en-US" altLang="ko-KR" sz="19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Government</a:t>
              </a:r>
              <a:endParaRPr lang="en-US" altLang="ko-KR" sz="19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pic>
          <p:nvPicPr>
            <p:cNvPr id="178183" name="Picture 28" descr="005"/>
            <p:cNvPicPr>
              <a:picLocks noChangeAspect="1" noChangeArrowheads="1"/>
            </p:cNvPicPr>
            <p:nvPr/>
          </p:nvPicPr>
          <p:blipFill>
            <a:blip r:embed="rId3" cstate="print">
              <a:lum bright="18000"/>
            </a:blip>
            <a:srcRect/>
            <a:stretch>
              <a:fillRect/>
            </a:stretch>
          </p:blipFill>
          <p:spPr bwMode="auto">
            <a:xfrm>
              <a:off x="0" y="3001241"/>
              <a:ext cx="9144000" cy="2982913"/>
            </a:xfrm>
            <a:prstGeom prst="rect">
              <a:avLst/>
            </a:prstGeom>
            <a:noFill/>
            <a:ln w="9525">
              <a:noFill/>
              <a:miter lim="800000"/>
              <a:headEnd/>
              <a:tailEnd/>
            </a:ln>
          </p:spPr>
        </p:pic>
        <p:pic>
          <p:nvPicPr>
            <p:cNvPr id="178184" name="Picture 29" descr="10"/>
            <p:cNvPicPr>
              <a:picLocks noChangeAspect="1" noChangeArrowheads="1"/>
            </p:cNvPicPr>
            <p:nvPr/>
          </p:nvPicPr>
          <p:blipFill>
            <a:blip r:embed="rId4" cstate="print">
              <a:lum bright="100000"/>
            </a:blip>
            <a:srcRect/>
            <a:stretch>
              <a:fillRect/>
            </a:stretch>
          </p:blipFill>
          <p:spPr bwMode="auto">
            <a:xfrm>
              <a:off x="2106613" y="2545035"/>
              <a:ext cx="4991100" cy="1631950"/>
            </a:xfrm>
            <a:prstGeom prst="rect">
              <a:avLst/>
            </a:prstGeom>
            <a:noFill/>
            <a:ln w="9525">
              <a:noFill/>
              <a:miter lim="800000"/>
              <a:headEnd/>
              <a:tailEnd/>
            </a:ln>
          </p:spPr>
        </p:pic>
        <p:pic>
          <p:nvPicPr>
            <p:cNvPr id="178185" name="Picture 30" descr="가로3개박스4_7"/>
            <p:cNvPicPr>
              <a:picLocks noChangeAspect="1" noChangeArrowheads="1"/>
            </p:cNvPicPr>
            <p:nvPr/>
          </p:nvPicPr>
          <p:blipFill>
            <a:blip r:embed="rId5" cstate="print"/>
            <a:srcRect/>
            <a:stretch>
              <a:fillRect/>
            </a:stretch>
          </p:blipFill>
          <p:spPr bwMode="auto">
            <a:xfrm>
              <a:off x="3436079" y="2376959"/>
              <a:ext cx="2371030" cy="992770"/>
            </a:xfrm>
            <a:prstGeom prst="rect">
              <a:avLst/>
            </a:prstGeom>
            <a:noFill/>
            <a:ln w="9525">
              <a:noFill/>
              <a:miter lim="800000"/>
              <a:headEnd/>
              <a:tailEnd/>
            </a:ln>
          </p:spPr>
        </p:pic>
        <p:sp>
          <p:nvSpPr>
            <p:cNvPr id="178201" name="Rectangle 103"/>
            <p:cNvSpPr>
              <a:spLocks noChangeArrowheads="1"/>
            </p:cNvSpPr>
            <p:nvPr/>
          </p:nvSpPr>
          <p:spPr bwMode="auto">
            <a:xfrm>
              <a:off x="904875" y="1600721"/>
              <a:ext cx="7632700" cy="892175"/>
            </a:xfrm>
            <a:prstGeom prst="rect">
              <a:avLst/>
            </a:prstGeom>
            <a:noFill/>
            <a:ln w="9525" algn="ctr">
              <a:noFill/>
              <a:miter lim="800000"/>
              <a:headEnd/>
              <a:tailEnd/>
            </a:ln>
          </p:spPr>
          <p:txBody>
            <a:bodyPr>
              <a:spAutoFit/>
            </a:bodyPr>
            <a:lstStyle/>
            <a:p>
              <a:pPr algn="ctr">
                <a:lnSpc>
                  <a:spcPts val="2100"/>
                </a:lnSpc>
                <a:spcBef>
                  <a:spcPct val="40000"/>
                </a:spcBef>
                <a:buClr>
                  <a:schemeClr val="tx1"/>
                </a:buClr>
              </a:pPr>
              <a:r>
                <a:rPr lang="en-US" altLang="ko-KR" b="0" dirty="0">
                  <a:ln>
                    <a:solidFill>
                      <a:schemeClr val="bg1">
                        <a:alpha val="5000"/>
                      </a:schemeClr>
                    </a:solidFill>
                  </a:ln>
                  <a:latin typeface="Tahoma" pitchFamily="34" charset="0"/>
                  <a:ea typeface="Tahoma" pitchFamily="34" charset="0"/>
                  <a:cs typeface="Tahoma" pitchFamily="34" charset="0"/>
                </a:rPr>
                <a:t>An advanced government </a:t>
              </a:r>
              <a:r>
                <a:rPr lang="en-US" altLang="ko-KR" b="0" dirty="0">
                  <a:ln>
                    <a:solidFill>
                      <a:schemeClr val="bg1">
                        <a:alpha val="5000"/>
                      </a:schemeClr>
                    </a:solidFill>
                  </a:ln>
                  <a:solidFill>
                    <a:srgbClr val="CC0066"/>
                  </a:solidFill>
                  <a:latin typeface="Tahoma" pitchFamily="34" charset="0"/>
                  <a:ea typeface="Tahoma" pitchFamily="34" charset="0"/>
                  <a:cs typeface="Tahoma" pitchFamily="34" charset="0"/>
                </a:rPr>
                <a:t>promoting </a:t>
              </a:r>
              <a:r>
                <a:rPr lang="en-US" altLang="ko-KR" b="0" dirty="0" smtClean="0">
                  <a:ln>
                    <a:solidFill>
                      <a:schemeClr val="bg1">
                        <a:alpha val="5000"/>
                      </a:schemeClr>
                    </a:solidFill>
                  </a:ln>
                  <a:solidFill>
                    <a:srgbClr val="CC0066"/>
                  </a:solidFill>
                  <a:latin typeface="Tahoma" pitchFamily="34" charset="0"/>
                  <a:ea typeface="Tahoma" pitchFamily="34" charset="0"/>
                  <a:cs typeface="Tahoma" pitchFamily="34" charset="0"/>
                </a:rPr>
                <a:t>the use </a:t>
              </a:r>
              <a:r>
                <a:rPr lang="en-US" altLang="ko-KR" b="0" dirty="0">
                  <a:ln>
                    <a:solidFill>
                      <a:schemeClr val="bg1">
                        <a:alpha val="5000"/>
                      </a:schemeClr>
                    </a:solidFill>
                  </a:ln>
                  <a:solidFill>
                    <a:srgbClr val="CC0066"/>
                  </a:solidFill>
                  <a:latin typeface="Tahoma" pitchFamily="34" charset="0"/>
                  <a:ea typeface="Tahoma" pitchFamily="34" charset="0"/>
                  <a:cs typeface="Tahoma" pitchFamily="34" charset="0"/>
                </a:rPr>
                <a:t>of public services and </a:t>
              </a:r>
              <a:br>
                <a:rPr lang="en-US" altLang="ko-KR" b="0" dirty="0">
                  <a:ln>
                    <a:solidFill>
                      <a:schemeClr val="bg1">
                        <a:alpha val="5000"/>
                      </a:schemeClr>
                    </a:solidFill>
                  </a:ln>
                  <a:solidFill>
                    <a:srgbClr val="CC0066"/>
                  </a:solidFill>
                  <a:latin typeface="Tahoma" pitchFamily="34" charset="0"/>
                  <a:ea typeface="Tahoma" pitchFamily="34" charset="0"/>
                  <a:cs typeface="Tahoma" pitchFamily="34" charset="0"/>
                </a:rPr>
              </a:br>
              <a:r>
                <a:rPr lang="en-US" altLang="ko-KR" b="0" dirty="0">
                  <a:ln>
                    <a:solidFill>
                      <a:schemeClr val="bg1">
                        <a:alpha val="5000"/>
                      </a:schemeClr>
                    </a:solidFill>
                  </a:ln>
                  <a:solidFill>
                    <a:srgbClr val="CC0066"/>
                  </a:solidFill>
                  <a:latin typeface="Tahoma" pitchFamily="34" charset="0"/>
                  <a:ea typeface="Tahoma" pitchFamily="34" charset="0"/>
                  <a:cs typeface="Tahoma" pitchFamily="34" charset="0"/>
                </a:rPr>
                <a:t>active citizen participation, anytime, anywhere</a:t>
              </a:r>
              <a:r>
                <a:rPr lang="en-US" altLang="ko-KR" b="0" dirty="0">
                  <a:ln>
                    <a:solidFill>
                      <a:schemeClr val="bg1">
                        <a:alpha val="5000"/>
                      </a:schemeClr>
                    </a:solidFill>
                  </a:ln>
                  <a:latin typeface="Tahoma" pitchFamily="34" charset="0"/>
                  <a:ea typeface="Tahoma" pitchFamily="34" charset="0"/>
                  <a:cs typeface="Tahoma" pitchFamily="34" charset="0"/>
                </a:rPr>
                <a:t> through </a:t>
              </a:r>
              <a:br>
                <a:rPr lang="en-US" altLang="ko-KR" b="0" dirty="0">
                  <a:ln>
                    <a:solidFill>
                      <a:schemeClr val="bg1">
                        <a:alpha val="5000"/>
                      </a:schemeClr>
                    </a:solidFill>
                  </a:ln>
                  <a:latin typeface="Tahoma" pitchFamily="34" charset="0"/>
                  <a:ea typeface="Tahoma" pitchFamily="34" charset="0"/>
                  <a:cs typeface="Tahoma" pitchFamily="34" charset="0"/>
                </a:rPr>
              </a:br>
              <a:r>
                <a:rPr lang="en-US" altLang="ko-KR" b="0" dirty="0">
                  <a:ln>
                    <a:solidFill>
                      <a:schemeClr val="bg1">
                        <a:alpha val="5000"/>
                      </a:schemeClr>
                    </a:solidFill>
                  </a:ln>
                  <a:latin typeface="Tahoma" pitchFamily="34" charset="0"/>
                  <a:ea typeface="Tahoma" pitchFamily="34" charset="0"/>
                  <a:cs typeface="Tahoma" pitchFamily="34" charset="0"/>
                </a:rPr>
                <a:t>integration of smart devices and government services</a:t>
              </a:r>
              <a:endParaRPr lang="ko-KR" altLang="en-US" b="0" dirty="0">
                <a:ln>
                  <a:solidFill>
                    <a:schemeClr val="bg1">
                      <a:alpha val="5000"/>
                    </a:schemeClr>
                  </a:solidFill>
                </a:ln>
                <a:latin typeface="Tahoma" pitchFamily="34" charset="0"/>
                <a:ea typeface="+mj-ea"/>
                <a:cs typeface="Tahoma" pitchFamily="34" charset="0"/>
              </a:endParaRPr>
            </a:p>
          </p:txBody>
        </p:sp>
        <p:sp>
          <p:nvSpPr>
            <p:cNvPr id="23" name="AutoShape 43"/>
            <p:cNvSpPr>
              <a:spLocks noChangeArrowheads="1"/>
            </p:cNvSpPr>
            <p:nvPr/>
          </p:nvSpPr>
          <p:spPr bwMode="auto">
            <a:xfrm>
              <a:off x="6300192" y="3640352"/>
              <a:ext cx="2710177" cy="2428240"/>
            </a:xfrm>
            <a:prstGeom prst="roundRect">
              <a:avLst>
                <a:gd name="adj" fmla="val 5958"/>
              </a:avLst>
            </a:prstGeom>
            <a:solidFill>
              <a:srgbClr val="FFFFFF"/>
            </a:solidFill>
            <a:ln w="12700" algn="ctr">
              <a:solidFill>
                <a:srgbClr val="B225B5"/>
              </a:solidFill>
              <a:round/>
              <a:headEnd/>
              <a:tailEnd/>
            </a:ln>
          </p:spPr>
          <p:txBody>
            <a:bodyPr wrap="none" lIns="91402" tIns="45702" rIns="91402" bIns="45702"/>
            <a:lstStyle/>
            <a:p>
              <a:endParaRPr lang="ko-KR" altLang="en-US">
                <a:ln>
                  <a:solidFill>
                    <a:schemeClr val="bg1">
                      <a:alpha val="5000"/>
                    </a:schemeClr>
                  </a:solidFill>
                </a:ln>
                <a:latin typeface="Tahoma" pitchFamily="34" charset="0"/>
                <a:ea typeface="+mj-ea"/>
                <a:cs typeface="Tahoma" pitchFamily="34" charset="0"/>
              </a:endParaRPr>
            </a:p>
          </p:txBody>
        </p:sp>
        <p:sp>
          <p:nvSpPr>
            <p:cNvPr id="26" name="AutoShape 3"/>
            <p:cNvSpPr>
              <a:spLocks noChangeArrowheads="1"/>
            </p:cNvSpPr>
            <p:nvPr/>
          </p:nvSpPr>
          <p:spPr bwMode="auto">
            <a:xfrm>
              <a:off x="6336688" y="3712359"/>
              <a:ext cx="2638169" cy="647700"/>
            </a:xfrm>
            <a:prstGeom prst="roundRect">
              <a:avLst>
                <a:gd name="adj" fmla="val 14051"/>
              </a:avLst>
            </a:prstGeom>
            <a:gradFill rotWithShape="1">
              <a:gsLst>
                <a:gs pos="0">
                  <a:srgbClr val="A765B7"/>
                </a:gs>
                <a:gs pos="100000">
                  <a:srgbClr val="A765B7">
                    <a:gamma/>
                    <a:shade val="72941"/>
                    <a:invGamma/>
                  </a:srgbClr>
                </a:gs>
              </a:gsLst>
              <a:lin ang="2700000" scaled="1"/>
            </a:gradFill>
            <a:ln>
              <a:noFill/>
            </a:ln>
            <a:effectLst/>
            <a:extLst/>
          </p:spPr>
          <p:txBody>
            <a:bodyPr wrap="none" lIns="0" tIns="0" rIns="0" bIns="0" anchor="ctr"/>
            <a:lstStyle/>
            <a:p>
              <a:pPr algn="ctr" eaLnBrk="0" hangingPunct="0">
                <a:defRPr/>
              </a:pPr>
              <a:r>
                <a:rPr lang="en-US" altLang="ko-KR" sz="1700" b="1" dirty="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 </a:t>
              </a:r>
              <a:r>
                <a:rPr lang="en-US" altLang="ko-KR" sz="1700"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Smart administrative </a:t>
              </a:r>
              <a:br>
                <a:rPr lang="en-US" altLang="ko-KR" sz="1700"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br>
              <a:r>
                <a:rPr lang="en-US" altLang="ko-KR" sz="1700"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services for efficiency</a:t>
              </a:r>
              <a:endParaRPr lang="ko-KR" altLang="en-US" sz="1700"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mj-ea"/>
                <a:cs typeface="Tahoma" pitchFamily="34" charset="0"/>
              </a:endParaRPr>
            </a:p>
          </p:txBody>
        </p:sp>
        <p:sp>
          <p:nvSpPr>
            <p:cNvPr id="28" name="직사각형 27"/>
            <p:cNvSpPr/>
            <p:nvPr/>
          </p:nvSpPr>
          <p:spPr>
            <a:xfrm>
              <a:off x="6372200" y="4360432"/>
              <a:ext cx="3024336" cy="1708160"/>
            </a:xfrm>
            <a:prstGeom prst="rect">
              <a:avLst/>
            </a:prstGeom>
            <a:noFill/>
          </p:spPr>
          <p:txBody>
            <a:bodyPr wrap="square" rtlCol="0">
              <a:spAutoFit/>
            </a:bodyPr>
            <a:lstStyle/>
            <a:p>
              <a:pPr marL="180975" indent="-180975">
                <a:spcAft>
                  <a:spcPts val="600"/>
                </a:spcAft>
                <a:buBlip>
                  <a:blip r:embed="rId6"/>
                </a:buBlip>
              </a:pPr>
              <a:r>
                <a:rPr lang="en-US" altLang="ko-KR" sz="1400" spc="-20" dirty="0" smtClean="0">
                  <a:ln>
                    <a:solidFill>
                      <a:schemeClr val="bg1">
                        <a:alpha val="5000"/>
                      </a:schemeClr>
                    </a:solidFill>
                  </a:ln>
                  <a:latin typeface="Tahoma" pitchFamily="34" charset="0"/>
                  <a:ea typeface="Tahoma" pitchFamily="34" charset="0"/>
                  <a:cs typeface="Tahoma" pitchFamily="34" charset="0"/>
                </a:rPr>
                <a:t>Smart internal office work</a:t>
              </a:r>
              <a:r>
                <a:rPr lang="en-US" altLang="ko-KR" sz="1400" dirty="0" smtClean="0">
                  <a:ln>
                    <a:solidFill>
                      <a:schemeClr val="bg1">
                        <a:alpha val="5000"/>
                      </a:schemeClr>
                    </a:solidFill>
                  </a:ln>
                  <a:latin typeface="Tahoma" pitchFamily="34" charset="0"/>
                  <a:ea typeface="Tahoma" pitchFamily="34" charset="0"/>
                  <a:cs typeface="Tahoma" pitchFamily="34" charset="0"/>
                </a:rPr>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200" b="0" dirty="0" smtClean="0">
                  <a:ln>
                    <a:solidFill>
                      <a:schemeClr val="bg1">
                        <a:alpha val="5000"/>
                      </a:schemeClr>
                    </a:solidFill>
                  </a:ln>
                  <a:latin typeface="Tahoma" pitchFamily="34" charset="0"/>
                  <a:ea typeface="Tahoma" pitchFamily="34" charset="0"/>
                  <a:cs typeface="Tahoma" pitchFamily="34" charset="0"/>
                </a:rPr>
                <a:t>- Smart memo reporting,      </a:t>
              </a:r>
              <a:br>
                <a:rPr lang="en-US" altLang="ko-KR" sz="1200" b="0" dirty="0" smtClean="0">
                  <a:ln>
                    <a:solidFill>
                      <a:schemeClr val="bg1">
                        <a:alpha val="5000"/>
                      </a:schemeClr>
                    </a:solidFill>
                  </a:ln>
                  <a:latin typeface="Tahoma" pitchFamily="34" charset="0"/>
                  <a:ea typeface="Tahoma" pitchFamily="34" charset="0"/>
                  <a:cs typeface="Tahoma" pitchFamily="34" charset="0"/>
                </a:rPr>
              </a:br>
              <a:r>
                <a:rPr lang="en-US" altLang="ko-KR" sz="1200" b="0" dirty="0" smtClean="0">
                  <a:ln>
                    <a:solidFill>
                      <a:schemeClr val="bg1">
                        <a:alpha val="5000"/>
                      </a:schemeClr>
                    </a:solidFill>
                  </a:ln>
                  <a:latin typeface="Tahoma" pitchFamily="34" charset="0"/>
                  <a:ea typeface="Tahoma" pitchFamily="34" charset="0"/>
                  <a:cs typeface="Tahoma" pitchFamily="34" charset="0"/>
                </a:rPr>
                <a:t>  Government SNS, </a:t>
              </a:r>
              <a:r>
                <a:rPr lang="en-US" altLang="ko-KR" sz="1200" b="0" dirty="0" err="1" smtClean="0">
                  <a:ln>
                    <a:solidFill>
                      <a:schemeClr val="bg1">
                        <a:alpha val="5000"/>
                      </a:schemeClr>
                    </a:solidFill>
                  </a:ln>
                  <a:latin typeface="Tahoma" pitchFamily="34" charset="0"/>
                  <a:ea typeface="Tahoma" pitchFamily="34" charset="0"/>
                  <a:cs typeface="Tahoma" pitchFamily="34" charset="0"/>
                </a:rPr>
                <a:t>etc</a:t>
              </a:r>
              <a:endParaRPr lang="en-US" altLang="ko-KR" sz="1200" b="0" dirty="0" smtClean="0">
                <a:ln>
                  <a:solidFill>
                    <a:schemeClr val="bg1">
                      <a:alpha val="5000"/>
                    </a:schemeClr>
                  </a:solidFill>
                </a:ln>
                <a:latin typeface="Tahoma" pitchFamily="34" charset="0"/>
                <a:ea typeface="Tahoma" pitchFamily="34" charset="0"/>
                <a:cs typeface="Tahoma" pitchFamily="34" charset="0"/>
              </a:endParaRPr>
            </a:p>
            <a:p>
              <a:pPr marL="180975" indent="-180975">
                <a:spcAft>
                  <a:spcPts val="600"/>
                </a:spcAft>
                <a:buBlip>
                  <a:blip r:embed="rId6"/>
                </a:buBlip>
              </a:pPr>
              <a:r>
                <a:rPr lang="en-US" altLang="ko-KR" sz="1400" dirty="0" smtClean="0">
                  <a:ln>
                    <a:solidFill>
                      <a:schemeClr val="bg1">
                        <a:alpha val="5000"/>
                      </a:schemeClr>
                    </a:solidFill>
                  </a:ln>
                  <a:latin typeface="Tahoma" pitchFamily="34" charset="0"/>
                  <a:ea typeface="Tahoma" pitchFamily="34" charset="0"/>
                  <a:cs typeface="Tahoma" pitchFamily="34" charset="0"/>
                </a:rPr>
                <a:t>Smart field work</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200" b="0" dirty="0" smtClean="0">
                  <a:ln>
                    <a:solidFill>
                      <a:schemeClr val="bg1">
                        <a:alpha val="5000"/>
                      </a:schemeClr>
                    </a:solidFill>
                  </a:ln>
                  <a:latin typeface="Tahoma" pitchFamily="34" charset="0"/>
                  <a:ea typeface="Tahoma" pitchFamily="34" charset="0"/>
                  <a:cs typeface="Tahoma" pitchFamily="34" charset="0"/>
                </a:rPr>
                <a:t>- Fire/Disaster Management,  </a:t>
              </a:r>
              <a:br>
                <a:rPr lang="en-US" altLang="ko-KR" sz="1200" b="0" dirty="0" smtClean="0">
                  <a:ln>
                    <a:solidFill>
                      <a:schemeClr val="bg1">
                        <a:alpha val="5000"/>
                      </a:schemeClr>
                    </a:solidFill>
                  </a:ln>
                  <a:latin typeface="Tahoma" pitchFamily="34" charset="0"/>
                  <a:ea typeface="Tahoma" pitchFamily="34" charset="0"/>
                  <a:cs typeface="Tahoma" pitchFamily="34" charset="0"/>
                </a:rPr>
              </a:br>
              <a:r>
                <a:rPr lang="en-US" altLang="ko-KR" sz="1200" b="0" dirty="0" smtClean="0">
                  <a:ln>
                    <a:solidFill>
                      <a:schemeClr val="bg1">
                        <a:alpha val="5000"/>
                      </a:schemeClr>
                    </a:solidFill>
                  </a:ln>
                  <a:latin typeface="Tahoma" pitchFamily="34" charset="0"/>
                  <a:ea typeface="Tahoma" pitchFamily="34" charset="0"/>
                  <a:cs typeface="Tahoma" pitchFamily="34" charset="0"/>
                </a:rPr>
                <a:t>  Population  Census,</a:t>
              </a:r>
              <a:br>
                <a:rPr lang="en-US" altLang="ko-KR" sz="1200" b="0" dirty="0" smtClean="0">
                  <a:ln>
                    <a:solidFill>
                      <a:schemeClr val="bg1">
                        <a:alpha val="5000"/>
                      </a:schemeClr>
                    </a:solidFill>
                  </a:ln>
                  <a:latin typeface="Tahoma" pitchFamily="34" charset="0"/>
                  <a:ea typeface="Tahoma" pitchFamily="34" charset="0"/>
                  <a:cs typeface="Tahoma" pitchFamily="34" charset="0"/>
                </a:rPr>
              </a:br>
              <a:r>
                <a:rPr lang="en-US" altLang="ko-KR" sz="1200" b="0" dirty="0" smtClean="0">
                  <a:ln>
                    <a:solidFill>
                      <a:schemeClr val="bg1">
                        <a:alpha val="5000"/>
                      </a:schemeClr>
                    </a:solidFill>
                  </a:ln>
                  <a:latin typeface="Tahoma" pitchFamily="34" charset="0"/>
                  <a:ea typeface="Tahoma" pitchFamily="34" charset="0"/>
                  <a:cs typeface="Tahoma" pitchFamily="34" charset="0"/>
                </a:rPr>
                <a:t>  Verification of a vehicle tax </a:t>
              </a:r>
              <a:br>
                <a:rPr lang="en-US" altLang="ko-KR" sz="1200" b="0" dirty="0" smtClean="0">
                  <a:ln>
                    <a:solidFill>
                      <a:schemeClr val="bg1">
                        <a:alpha val="5000"/>
                      </a:schemeClr>
                    </a:solidFill>
                  </a:ln>
                  <a:latin typeface="Tahoma" pitchFamily="34" charset="0"/>
                  <a:ea typeface="Tahoma" pitchFamily="34" charset="0"/>
                  <a:cs typeface="Tahoma" pitchFamily="34" charset="0"/>
                </a:rPr>
              </a:br>
              <a:r>
                <a:rPr lang="en-US" altLang="ko-KR" sz="1200" b="0" dirty="0" smtClean="0">
                  <a:ln>
                    <a:solidFill>
                      <a:schemeClr val="bg1">
                        <a:alpha val="5000"/>
                      </a:schemeClr>
                    </a:solidFill>
                  </a:ln>
                  <a:latin typeface="Tahoma" pitchFamily="34" charset="0"/>
                  <a:ea typeface="Tahoma" pitchFamily="34" charset="0"/>
                  <a:cs typeface="Tahoma" pitchFamily="34" charset="0"/>
                </a:rPr>
                <a:t>  payment, </a:t>
              </a:r>
              <a:r>
                <a:rPr lang="en-US" altLang="ko-KR" sz="1200" b="0" dirty="0" err="1" smtClean="0">
                  <a:ln>
                    <a:solidFill>
                      <a:schemeClr val="bg1">
                        <a:alpha val="5000"/>
                      </a:schemeClr>
                    </a:solidFill>
                  </a:ln>
                  <a:latin typeface="Tahoma" pitchFamily="34" charset="0"/>
                  <a:ea typeface="Tahoma" pitchFamily="34" charset="0"/>
                  <a:cs typeface="Tahoma" pitchFamily="34" charset="0"/>
                </a:rPr>
                <a:t>etc</a:t>
              </a:r>
              <a:endParaRPr lang="ko-KR" altLang="en-US" sz="1200" b="0" dirty="0" smtClean="0">
                <a:ln>
                  <a:solidFill>
                    <a:schemeClr val="bg1">
                      <a:alpha val="5000"/>
                    </a:schemeClr>
                  </a:solidFill>
                </a:ln>
                <a:latin typeface="Tahoma" pitchFamily="34" charset="0"/>
                <a:cs typeface="Tahoma" pitchFamily="34" charset="0"/>
              </a:endParaRPr>
            </a:p>
          </p:txBody>
        </p:sp>
        <p:sp>
          <p:nvSpPr>
            <p:cNvPr id="30" name="AutoShape 3"/>
            <p:cNvSpPr>
              <a:spLocks noChangeArrowheads="1"/>
            </p:cNvSpPr>
            <p:nvPr/>
          </p:nvSpPr>
          <p:spPr bwMode="auto">
            <a:xfrm>
              <a:off x="182363" y="6093227"/>
              <a:ext cx="8828005" cy="521544"/>
            </a:xfrm>
            <a:prstGeom prst="roundRect">
              <a:avLst>
                <a:gd name="adj" fmla="val 14051"/>
              </a:avLst>
            </a:prstGeom>
            <a:solidFill>
              <a:schemeClr val="accent2">
                <a:lumMod val="75000"/>
              </a:schemeClr>
            </a:solidFill>
            <a:ln>
              <a:noFill/>
            </a:ln>
            <a:effectLst/>
            <a:extLst/>
          </p:spPr>
          <p:txBody>
            <a:bodyPr wrap="none" lIns="0" tIns="0" rIns="0" bIns="0" anchor="ctr"/>
            <a:lstStyle/>
            <a:p>
              <a:pPr algn="ctr">
                <a:defRPr/>
              </a:pPr>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Smart-Government Security Infrastructure</a:t>
              </a:r>
              <a:endParaRPr lang="ko-KR" altLang="en-US" dirty="0">
                <a:ln>
                  <a:solidFill>
                    <a:schemeClr val="bg1">
                      <a:alpha val="5000"/>
                    </a:schemeClr>
                  </a:solidFill>
                </a:ln>
                <a:solidFill>
                  <a:srgbClr val="FFFFFF"/>
                </a:solidFill>
                <a:effectLst>
                  <a:outerShdw blurRad="38100" dist="38100" dir="2700000" algn="tl">
                    <a:srgbClr val="000000"/>
                  </a:outerShdw>
                </a:effectLst>
                <a:latin typeface="Tahoma" pitchFamily="34" charset="0"/>
                <a:ea typeface="+mj-ea"/>
                <a:cs typeface="Tahoma" pitchFamily="34" charset="0"/>
              </a:endParaRPr>
            </a:p>
          </p:txBody>
        </p:sp>
        <p:grpSp>
          <p:nvGrpSpPr>
            <p:cNvPr id="4" name="그룹 3"/>
            <p:cNvGrpSpPr/>
            <p:nvPr/>
          </p:nvGrpSpPr>
          <p:grpSpPr>
            <a:xfrm>
              <a:off x="216372" y="3077838"/>
              <a:ext cx="2808932" cy="2990271"/>
              <a:chOff x="3286901" y="3087030"/>
              <a:chExt cx="2808932" cy="2990271"/>
            </a:xfrm>
          </p:grpSpPr>
          <p:sp>
            <p:nvSpPr>
              <p:cNvPr id="18" name="AutoShape 43"/>
              <p:cNvSpPr>
                <a:spLocks noChangeArrowheads="1"/>
              </p:cNvSpPr>
              <p:nvPr/>
            </p:nvSpPr>
            <p:spPr bwMode="auto">
              <a:xfrm>
                <a:off x="3309507" y="3649061"/>
                <a:ext cx="2704893" cy="2428240"/>
              </a:xfrm>
              <a:prstGeom prst="roundRect">
                <a:avLst>
                  <a:gd name="adj" fmla="val 5958"/>
                </a:avLst>
              </a:prstGeom>
              <a:solidFill>
                <a:srgbClr val="FFFFFF"/>
              </a:solidFill>
              <a:ln w="12700" algn="ctr">
                <a:solidFill>
                  <a:srgbClr val="5B5BC9"/>
                </a:solidFill>
                <a:round/>
                <a:headEnd/>
                <a:tailEnd/>
              </a:ln>
            </p:spPr>
            <p:txBody>
              <a:bodyPr wrap="none"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19" name="AutoShape 3"/>
              <p:cNvSpPr>
                <a:spLocks noChangeArrowheads="1"/>
              </p:cNvSpPr>
              <p:nvPr/>
            </p:nvSpPr>
            <p:spPr bwMode="auto">
              <a:xfrm>
                <a:off x="3381515" y="3712360"/>
                <a:ext cx="2579084" cy="648072"/>
              </a:xfrm>
              <a:prstGeom prst="roundRect">
                <a:avLst>
                  <a:gd name="adj" fmla="val 14051"/>
                </a:avLst>
              </a:prstGeom>
              <a:gradFill rotWithShape="1">
                <a:gsLst>
                  <a:gs pos="0">
                    <a:schemeClr val="accent2">
                      <a:lumMod val="40000"/>
                      <a:lumOff val="60000"/>
                    </a:schemeClr>
                  </a:gs>
                  <a:gs pos="100000">
                    <a:srgbClr val="7C72C4">
                      <a:gamma/>
                      <a:shade val="72941"/>
                      <a:invGamma/>
                    </a:srgbClr>
                  </a:gs>
                </a:gsLst>
                <a:lin ang="2700000" scaled="1"/>
              </a:gradFill>
              <a:ln>
                <a:noFill/>
              </a:ln>
              <a:effectLst/>
              <a:extLst/>
            </p:spPr>
            <p:txBody>
              <a:bodyPr wrap="none" lIns="0" tIns="0" rIns="0" bIns="0" anchor="ctr"/>
              <a:lstStyle/>
              <a:p>
                <a:pPr algn="ctr">
                  <a:defRPr/>
                </a:pPr>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Smart services</a:t>
                </a:r>
                <a:b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br>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for collaboration</a:t>
                </a:r>
              </a:p>
            </p:txBody>
          </p:sp>
          <p:sp>
            <p:nvSpPr>
              <p:cNvPr id="20" name="직사각형 19"/>
              <p:cNvSpPr/>
              <p:nvPr/>
            </p:nvSpPr>
            <p:spPr>
              <a:xfrm>
                <a:off x="3286901" y="4087199"/>
                <a:ext cx="2808932" cy="1677382"/>
              </a:xfrm>
              <a:prstGeom prst="rect">
                <a:avLst/>
              </a:prstGeom>
              <a:noFill/>
            </p:spPr>
            <p:txBody>
              <a:bodyPr wrap="square" rtlCol="0">
                <a:spAutoFit/>
              </a:bodyPr>
              <a:lstStyle/>
              <a:p>
                <a:pPr marL="180975" indent="-180975">
                  <a:spcAft>
                    <a:spcPts val="600"/>
                  </a:spcAft>
                  <a:buBlip>
                    <a:blip r:embed="rId6"/>
                  </a:buBlip>
                </a:pPr>
                <a:endParaRPr lang="en-US" altLang="ko-KR" sz="1400" dirty="0" smtClean="0">
                  <a:ln>
                    <a:solidFill>
                      <a:schemeClr val="bg1">
                        <a:alpha val="5000"/>
                      </a:schemeClr>
                    </a:solidFill>
                  </a:ln>
                  <a:latin typeface="Tahoma" pitchFamily="34" charset="0"/>
                  <a:ea typeface="Tahoma" pitchFamily="34" charset="0"/>
                  <a:cs typeface="Tahoma" pitchFamily="34" charset="0"/>
                </a:endParaRPr>
              </a:p>
              <a:p>
                <a:pPr marL="180975" indent="-180975">
                  <a:spcAft>
                    <a:spcPts val="600"/>
                  </a:spcAft>
                  <a:buBlip>
                    <a:blip r:embed="rId6"/>
                  </a:buBlip>
                </a:pPr>
                <a:r>
                  <a:rPr lang="en-US" altLang="ko-KR" sz="1400" dirty="0" smtClean="0">
                    <a:ln>
                      <a:solidFill>
                        <a:schemeClr val="bg1">
                          <a:alpha val="5000"/>
                        </a:schemeClr>
                      </a:solidFill>
                    </a:ln>
                    <a:latin typeface="Tahoma" pitchFamily="34" charset="0"/>
                    <a:ea typeface="Tahoma" pitchFamily="34" charset="0"/>
                    <a:cs typeface="Tahoma" pitchFamily="34" charset="0"/>
                  </a:rPr>
                  <a:t>Civil reporting on Smart Device,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e-Poll,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Idea suggestion,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Policy discussion</a:t>
                </a:r>
                <a:r>
                  <a:rPr lang="en-US" altLang="ko-KR" sz="1400" dirty="0">
                    <a:ln>
                      <a:solidFill>
                        <a:schemeClr val="bg1">
                          <a:alpha val="5000"/>
                        </a:schemeClr>
                      </a:solidFill>
                    </a:ln>
                    <a:latin typeface="Tahoma" pitchFamily="34" charset="0"/>
                    <a:ea typeface="Tahoma" pitchFamily="34" charset="0"/>
                    <a:cs typeface="Tahoma" pitchFamily="34" charset="0"/>
                  </a:rPr>
                  <a:t>, </a:t>
                </a:r>
                <a:br>
                  <a:rPr lang="en-US" altLang="ko-KR" sz="1400" dirty="0">
                    <a:ln>
                      <a:solidFill>
                        <a:schemeClr val="bg1">
                          <a:alpha val="5000"/>
                        </a:schemeClr>
                      </a:solidFill>
                    </a:ln>
                    <a:latin typeface="Tahoma" pitchFamily="34" charset="0"/>
                    <a:ea typeface="Tahoma" pitchFamily="34" charset="0"/>
                    <a:cs typeface="Tahoma" pitchFamily="34" charset="0"/>
                  </a:rPr>
                </a:br>
                <a:r>
                  <a:rPr lang="en-US" altLang="ko-KR" sz="1400" dirty="0">
                    <a:ln>
                      <a:solidFill>
                        <a:schemeClr val="bg1">
                          <a:alpha val="5000"/>
                        </a:schemeClr>
                      </a:solidFill>
                    </a:ln>
                    <a:latin typeface="Tahoma" pitchFamily="34" charset="0"/>
                    <a:ea typeface="Tahoma" pitchFamily="34" charset="0"/>
                    <a:cs typeface="Tahoma" pitchFamily="34" charset="0"/>
                  </a:rPr>
                  <a:t>Self supporting </a:t>
                </a:r>
                <a:r>
                  <a:rPr lang="en-US" altLang="ko-KR" sz="1400" dirty="0" smtClean="0">
                    <a:ln>
                      <a:solidFill>
                        <a:schemeClr val="bg1">
                          <a:alpha val="5000"/>
                        </a:schemeClr>
                      </a:solidFill>
                    </a:ln>
                    <a:latin typeface="Tahoma" pitchFamily="34" charset="0"/>
                    <a:ea typeface="Tahoma" pitchFamily="34" charset="0"/>
                    <a:cs typeface="Tahoma" pitchFamily="34" charset="0"/>
                  </a:rPr>
                  <a:t>security, </a:t>
                </a:r>
                <a:r>
                  <a:rPr lang="en-US" altLang="ko-KR" sz="1400" dirty="0" err="1" smtClean="0">
                    <a:ln>
                      <a:solidFill>
                        <a:schemeClr val="bg1">
                          <a:alpha val="5000"/>
                        </a:schemeClr>
                      </a:solidFill>
                    </a:ln>
                    <a:latin typeface="Tahoma" pitchFamily="34" charset="0"/>
                    <a:ea typeface="Tahoma" pitchFamily="34" charset="0"/>
                    <a:cs typeface="Tahoma" pitchFamily="34" charset="0"/>
                  </a:rPr>
                  <a:t>etc</a:t>
                </a:r>
                <a:r>
                  <a:rPr lang="en-US" altLang="ko-KR" sz="1400" dirty="0" smtClean="0">
                    <a:ln>
                      <a:solidFill>
                        <a:schemeClr val="bg1">
                          <a:alpha val="5000"/>
                        </a:schemeClr>
                      </a:solidFill>
                    </a:ln>
                    <a:latin typeface="Tahoma" pitchFamily="34" charset="0"/>
                    <a:ea typeface="Tahoma" pitchFamily="34" charset="0"/>
                    <a:cs typeface="Tahoma" pitchFamily="34" charset="0"/>
                  </a:rPr>
                  <a:t/>
                </a:r>
                <a:br>
                  <a:rPr lang="en-US" altLang="ko-KR" sz="1400" dirty="0" smtClean="0">
                    <a:ln>
                      <a:solidFill>
                        <a:schemeClr val="bg1">
                          <a:alpha val="5000"/>
                        </a:schemeClr>
                      </a:solidFill>
                    </a:ln>
                    <a:latin typeface="Tahoma" pitchFamily="34" charset="0"/>
                    <a:ea typeface="Tahoma" pitchFamily="34" charset="0"/>
                    <a:cs typeface="Tahoma" pitchFamily="34" charset="0"/>
                  </a:rPr>
                </a:br>
                <a:endParaRPr lang="en-US" altLang="ko-KR" sz="1400" b="0" dirty="0" smtClean="0">
                  <a:ln>
                    <a:solidFill>
                      <a:schemeClr val="bg1">
                        <a:alpha val="5000"/>
                      </a:schemeClr>
                    </a:solidFill>
                  </a:ln>
                  <a:latin typeface="Tahoma" pitchFamily="34" charset="0"/>
                  <a:ea typeface="Tahoma" pitchFamily="34" charset="0"/>
                  <a:cs typeface="Tahoma" pitchFamily="34" charset="0"/>
                </a:endParaRPr>
              </a:p>
            </p:txBody>
          </p:sp>
          <p:sp>
            <p:nvSpPr>
              <p:cNvPr id="22" name="AutoShape 27"/>
              <p:cNvSpPr>
                <a:spLocks noChangeArrowheads="1"/>
              </p:cNvSpPr>
              <p:nvPr/>
            </p:nvSpPr>
            <p:spPr bwMode="auto">
              <a:xfrm>
                <a:off x="3529052" y="3087030"/>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C2CG</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Citizen to </a:t>
                </a:r>
                <a:r>
                  <a:rPr lang="en-US" altLang="ko-KR" sz="1400" b="1" dirty="0" err="1"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Citizen&amp;Gov</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sp>
          <p:nvSpPr>
            <p:cNvPr id="31" name="AutoShape 27"/>
            <p:cNvSpPr>
              <a:spLocks noChangeArrowheads="1"/>
            </p:cNvSpPr>
            <p:nvPr/>
          </p:nvSpPr>
          <p:spPr bwMode="auto">
            <a:xfrm>
              <a:off x="6588225" y="3095087"/>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G2G</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 to Gov</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nvGrpSpPr>
            <p:cNvPr id="3" name="그룹 2"/>
            <p:cNvGrpSpPr/>
            <p:nvPr/>
          </p:nvGrpSpPr>
          <p:grpSpPr>
            <a:xfrm>
              <a:off x="3207318" y="3149324"/>
              <a:ext cx="2783392" cy="2921251"/>
              <a:chOff x="-2722407" y="1255734"/>
              <a:chExt cx="2783392" cy="2921251"/>
            </a:xfrm>
          </p:grpSpPr>
          <p:grpSp>
            <p:nvGrpSpPr>
              <p:cNvPr id="2" name="그룹 1"/>
              <p:cNvGrpSpPr/>
              <p:nvPr/>
            </p:nvGrpSpPr>
            <p:grpSpPr>
              <a:xfrm>
                <a:off x="-2695773" y="1255734"/>
                <a:ext cx="2722407" cy="2921251"/>
                <a:chOff x="182364" y="3147341"/>
                <a:chExt cx="2722407" cy="2921251"/>
              </a:xfrm>
            </p:grpSpPr>
            <p:sp>
              <p:nvSpPr>
                <p:cNvPr id="24" name="AutoShape 43"/>
                <p:cNvSpPr>
                  <a:spLocks noChangeArrowheads="1"/>
                </p:cNvSpPr>
                <p:nvPr/>
              </p:nvSpPr>
              <p:spPr bwMode="auto">
                <a:xfrm>
                  <a:off x="182364" y="3677524"/>
                  <a:ext cx="2722407" cy="2391068"/>
                </a:xfrm>
                <a:prstGeom prst="roundRect">
                  <a:avLst>
                    <a:gd name="adj" fmla="val 5958"/>
                  </a:avLst>
                </a:prstGeom>
                <a:solidFill>
                  <a:srgbClr val="FFFFFF"/>
                </a:solidFill>
                <a:ln w="12700" algn="ctr">
                  <a:solidFill>
                    <a:srgbClr val="5B5BC9"/>
                  </a:solidFill>
                  <a:round/>
                  <a:headEnd/>
                  <a:tailEnd/>
                </a:ln>
              </p:spPr>
              <p:txBody>
                <a:bodyPr wrap="none"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25" name="AutoShape 3"/>
                <p:cNvSpPr>
                  <a:spLocks noChangeArrowheads="1"/>
                </p:cNvSpPr>
                <p:nvPr/>
              </p:nvSpPr>
              <p:spPr bwMode="auto">
                <a:xfrm>
                  <a:off x="254372" y="3749532"/>
                  <a:ext cx="2578391" cy="648072"/>
                </a:xfrm>
                <a:prstGeom prst="roundRect">
                  <a:avLst>
                    <a:gd name="adj" fmla="val 14051"/>
                  </a:avLst>
                </a:prstGeom>
                <a:gradFill rotWithShape="1">
                  <a:gsLst>
                    <a:gs pos="0">
                      <a:srgbClr val="7C72C4"/>
                    </a:gs>
                    <a:gs pos="100000">
                      <a:srgbClr val="7C72C4">
                        <a:gamma/>
                        <a:shade val="72941"/>
                        <a:invGamma/>
                      </a:srgbClr>
                    </a:gs>
                  </a:gsLst>
                  <a:lin ang="2700000" scaled="1"/>
                </a:gradFill>
                <a:ln>
                  <a:noFill/>
                </a:ln>
                <a:effectLst/>
                <a:extLst/>
              </p:spPr>
              <p:txBody>
                <a:bodyPr wrap="none" lIns="0" tIns="0" rIns="0" bIns="0" anchor="ctr"/>
                <a:lstStyle/>
                <a:p>
                  <a:pPr algn="ctr">
                    <a:defRPr/>
                  </a:pPr>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Smart civil services</a:t>
                  </a:r>
                </a:p>
                <a:p>
                  <a:pPr algn="ctr">
                    <a:defRPr/>
                  </a:pPr>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for citizen’s convenience</a:t>
                  </a:r>
                  <a:endParaRPr lang="ko-KR" altLang="en-US" dirty="0">
                    <a:ln>
                      <a:solidFill>
                        <a:schemeClr val="bg1">
                          <a:alpha val="5000"/>
                        </a:schemeClr>
                      </a:solidFill>
                    </a:ln>
                    <a:solidFill>
                      <a:srgbClr val="FFFFFF"/>
                    </a:solidFill>
                    <a:effectLst>
                      <a:outerShdw blurRad="38100" dist="38100" dir="2700000" algn="tl">
                        <a:srgbClr val="000000"/>
                      </a:outerShdw>
                    </a:effectLst>
                    <a:latin typeface="Tahoma" pitchFamily="34" charset="0"/>
                    <a:ea typeface="+mj-ea"/>
                    <a:cs typeface="Tahoma" pitchFamily="34" charset="0"/>
                  </a:endParaRPr>
                </a:p>
              </p:txBody>
            </p:sp>
            <p:sp>
              <p:nvSpPr>
                <p:cNvPr id="21" name="AutoShape 27"/>
                <p:cNvSpPr>
                  <a:spLocks noChangeArrowheads="1"/>
                </p:cNvSpPr>
                <p:nvPr/>
              </p:nvSpPr>
              <p:spPr bwMode="auto">
                <a:xfrm>
                  <a:off x="384491" y="3147341"/>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G2C</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 to Citizen</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sp>
            <p:nvSpPr>
              <p:cNvPr id="27" name="직사각형 26"/>
              <p:cNvSpPr/>
              <p:nvPr/>
            </p:nvSpPr>
            <p:spPr>
              <a:xfrm>
                <a:off x="-2722407" y="2547462"/>
                <a:ext cx="2783392" cy="1600438"/>
              </a:xfrm>
              <a:prstGeom prst="rect">
                <a:avLst/>
              </a:prstGeom>
              <a:noFill/>
            </p:spPr>
            <p:txBody>
              <a:bodyPr wrap="square" rtlCol="0">
                <a:spAutoFit/>
              </a:bodyPr>
              <a:lstStyle/>
              <a:p>
                <a:pPr marL="180975" indent="-180975">
                  <a:spcAft>
                    <a:spcPts val="600"/>
                  </a:spcAft>
                  <a:buBlip>
                    <a:blip r:embed="rId6"/>
                  </a:buBlip>
                </a:pPr>
                <a:r>
                  <a:rPr lang="en-US" altLang="ko-KR" sz="1400" dirty="0" smtClean="0">
                    <a:ln>
                      <a:solidFill>
                        <a:schemeClr val="bg1">
                          <a:alpha val="5000"/>
                        </a:schemeClr>
                      </a:solidFill>
                    </a:ln>
                    <a:latin typeface="Tahoma" pitchFamily="34" charset="0"/>
                    <a:ea typeface="Tahoma" pitchFamily="34" charset="0"/>
                    <a:cs typeface="Tahoma" pitchFamily="34" charset="0"/>
                  </a:rPr>
                  <a:t>Smart-</a:t>
                </a:r>
                <a:r>
                  <a:rPr lang="en-US" altLang="ko-KR" sz="1400" dirty="0" err="1" smtClean="0">
                    <a:ln>
                      <a:solidFill>
                        <a:schemeClr val="bg1">
                          <a:alpha val="5000"/>
                        </a:schemeClr>
                      </a:solidFill>
                    </a:ln>
                    <a:latin typeface="Tahoma" pitchFamily="34" charset="0"/>
                    <a:ea typeface="Tahoma" pitchFamily="34" charset="0"/>
                    <a:cs typeface="Tahoma" pitchFamily="34" charset="0"/>
                  </a:rPr>
                  <a:t>Gov</a:t>
                </a:r>
                <a:r>
                  <a:rPr lang="en-US" altLang="ko-KR" sz="1400" dirty="0" smtClean="0">
                    <a:ln>
                      <a:solidFill>
                        <a:schemeClr val="bg1">
                          <a:alpha val="5000"/>
                        </a:schemeClr>
                      </a:solidFill>
                    </a:ln>
                    <a:latin typeface="Tahoma" pitchFamily="34" charset="0"/>
                    <a:ea typeface="Tahoma" pitchFamily="34" charset="0"/>
                    <a:cs typeface="Tahoma" pitchFamily="34" charset="0"/>
                  </a:rPr>
                  <a:t> portal,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Smart home tax,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Real-time road traffic,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Train ticket reservation,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Smart-Tourism,</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Health/Drug Information, </a:t>
                </a:r>
                <a:r>
                  <a:rPr lang="en-US" altLang="ko-KR" sz="1400" dirty="0" err="1" smtClean="0">
                    <a:ln>
                      <a:solidFill>
                        <a:schemeClr val="bg1">
                          <a:alpha val="5000"/>
                        </a:schemeClr>
                      </a:solidFill>
                    </a:ln>
                    <a:latin typeface="Tahoma" pitchFamily="34" charset="0"/>
                    <a:ea typeface="Tahoma" pitchFamily="34" charset="0"/>
                    <a:cs typeface="Tahoma" pitchFamily="34" charset="0"/>
                  </a:rPr>
                  <a:t>etc</a:t>
                </a:r>
                <a:r>
                  <a:rPr lang="en-US" altLang="ko-KR" sz="1400" dirty="0" smtClean="0">
                    <a:ln>
                      <a:solidFill>
                        <a:schemeClr val="bg1">
                          <a:alpha val="5000"/>
                        </a:schemeClr>
                      </a:solidFill>
                    </a:ln>
                    <a:latin typeface="Tahoma" pitchFamily="34" charset="0"/>
                    <a:ea typeface="Tahoma" pitchFamily="34" charset="0"/>
                    <a:cs typeface="Tahoma" pitchFamily="34" charset="0"/>
                  </a:rPr>
                  <a:t/>
                </a:r>
                <a:br>
                  <a:rPr lang="en-US" altLang="ko-KR" sz="1400" dirty="0" smtClean="0">
                    <a:ln>
                      <a:solidFill>
                        <a:schemeClr val="bg1">
                          <a:alpha val="5000"/>
                        </a:schemeClr>
                      </a:solidFill>
                    </a:ln>
                    <a:latin typeface="Tahoma" pitchFamily="34" charset="0"/>
                    <a:ea typeface="Tahoma" pitchFamily="34" charset="0"/>
                    <a:cs typeface="Tahoma" pitchFamily="34" charset="0"/>
                  </a:rPr>
                </a:br>
                <a:r>
                  <a:rPr lang="en-US" altLang="ko-KR" sz="1400" dirty="0" smtClean="0">
                    <a:ln>
                      <a:solidFill>
                        <a:schemeClr val="bg1">
                          <a:alpha val="5000"/>
                        </a:schemeClr>
                      </a:solidFill>
                    </a:ln>
                    <a:latin typeface="Tahoma" pitchFamily="34" charset="0"/>
                    <a:ea typeface="Tahoma" pitchFamily="34" charset="0"/>
                    <a:cs typeface="Tahoma" pitchFamily="34" charset="0"/>
                  </a:rPr>
                  <a:t> ( 1220 services , Nov. 2012 )</a:t>
                </a:r>
                <a:endParaRPr lang="en-US" altLang="ko-KR" sz="1400" b="0" dirty="0" smtClean="0">
                  <a:ln>
                    <a:solidFill>
                      <a:schemeClr val="bg1">
                        <a:alpha val="5000"/>
                      </a:schemeClr>
                    </a:solidFill>
                  </a:ln>
                  <a:latin typeface="Tahoma" pitchFamily="34" charset="0"/>
                  <a:ea typeface="Tahoma" pitchFamily="34" charset="0"/>
                  <a:cs typeface="Tahoma" pitchFamily="34" charset="0"/>
                </a:endParaRPr>
              </a:p>
            </p:txBody>
          </p:sp>
        </p:grpSp>
      </p:gr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23</a:t>
            </a:fld>
            <a:endParaRPr lang="ko-KR" altLang="en-US" dirty="0"/>
          </a:p>
        </p:txBody>
      </p:sp>
    </p:spTree>
    <p:extLst>
      <p:ext uri="{BB962C8B-B14F-4D97-AF65-F5344CB8AC3E}">
        <p14:creationId xmlns:p14="http://schemas.microsoft.com/office/powerpoint/2010/main" val="11685121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Conclusion</a:t>
            </a:r>
            <a:endParaRPr lang="ko-KR" altLang="en-US" dirty="0"/>
          </a:p>
        </p:txBody>
      </p:sp>
      <p:graphicFrame>
        <p:nvGraphicFramePr>
          <p:cNvPr id="6" name="내용 개체 틀 5"/>
          <p:cNvGraphicFramePr>
            <a:graphicFrameLocks noGrp="1"/>
          </p:cNvGraphicFramePr>
          <p:nvPr>
            <p:ph idx="1"/>
            <p:extLst>
              <p:ext uri="{D42A27DB-BD31-4B8C-83A1-F6EECF244321}">
                <p14:modId xmlns:p14="http://schemas.microsoft.com/office/powerpoint/2010/main" val="816825094"/>
              </p:ext>
            </p:extLst>
          </p:nvPr>
        </p:nvGraphicFramePr>
        <p:xfrm>
          <a:off x="601216" y="1556792"/>
          <a:ext cx="7859216" cy="4930864"/>
        </p:xfrm>
        <a:graphic>
          <a:graphicData uri="http://schemas.openxmlformats.org/drawingml/2006/table">
            <a:tbl>
              <a:tblPr firstRow="1" bandRow="1">
                <a:tableStyleId>{5C22544A-7EE6-4342-B048-85BDC9FD1C3A}</a:tableStyleId>
              </a:tblPr>
              <a:tblGrid>
                <a:gridCol w="1522512"/>
                <a:gridCol w="2448272"/>
                <a:gridCol w="1656184"/>
                <a:gridCol w="2232248"/>
              </a:tblGrid>
              <a:tr h="576064">
                <a:tc gridSpan="2">
                  <a:txBody>
                    <a:bodyPr/>
                    <a:lstStyle/>
                    <a:p>
                      <a:pPr latinLnBrk="1"/>
                      <a:r>
                        <a:rPr lang="en-US" altLang="ko-KR" sz="1400" dirty="0" smtClean="0"/>
                        <a:t>EU : Enablers of ICT-driven</a:t>
                      </a:r>
                      <a:r>
                        <a:rPr lang="en-US" altLang="ko-KR" sz="1400" baseline="0" dirty="0" smtClean="0"/>
                        <a:t> Public sector innovation u</a:t>
                      </a:r>
                      <a:r>
                        <a:rPr lang="en-US" altLang="ko-KR" sz="1400" dirty="0" smtClean="0"/>
                        <a:t>nder horizon</a:t>
                      </a:r>
                      <a:r>
                        <a:rPr lang="ko-KR" altLang="en-US" sz="1400" dirty="0" smtClean="0"/>
                        <a:t> </a:t>
                      </a:r>
                      <a:r>
                        <a:rPr lang="en-US" altLang="ko-KR" sz="1400" dirty="0" smtClean="0"/>
                        <a:t>2020</a:t>
                      </a:r>
                      <a:endParaRPr lang="ko-KR" altLang="en-US" sz="1400" dirty="0" smtClean="0"/>
                    </a:p>
                  </a:txBody>
                  <a:tcPr/>
                </a:tc>
                <a:tc hMerge="1">
                  <a:txBody>
                    <a:bodyPr/>
                    <a:lstStyle/>
                    <a:p>
                      <a:pPr latinLnBrk="1"/>
                      <a:endParaRPr lang="ko-KR" altLang="en-US" sz="1400" dirty="0"/>
                    </a:p>
                  </a:txBody>
                  <a:tcPr/>
                </a:tc>
                <a:tc>
                  <a:txBody>
                    <a:bodyPr/>
                    <a:lstStyle/>
                    <a:p>
                      <a:pPr latinLnBrk="1"/>
                      <a:r>
                        <a:rPr lang="en-US" altLang="ko-KR" sz="1400" dirty="0" smtClean="0"/>
                        <a:t>Korea</a:t>
                      </a:r>
                      <a:endParaRPr lang="ko-KR" altLang="en-US" sz="1400" dirty="0"/>
                    </a:p>
                  </a:txBody>
                  <a:tcPr/>
                </a:tc>
                <a:tc>
                  <a:txBody>
                    <a:bodyPr/>
                    <a:lstStyle/>
                    <a:p>
                      <a:pPr latinLnBrk="1"/>
                      <a:r>
                        <a:rPr lang="en-US" altLang="ko-KR" sz="1400" dirty="0" smtClean="0"/>
                        <a:t>Rwanda</a:t>
                      </a:r>
                      <a:endParaRPr lang="ko-KR" altLang="en-US" sz="1400" dirty="0"/>
                    </a:p>
                  </a:txBody>
                  <a:tcPr/>
                </a:tc>
              </a:tr>
              <a:tr h="370840">
                <a:tc>
                  <a:txBody>
                    <a:bodyPr/>
                    <a:lstStyle/>
                    <a:p>
                      <a:pPr latinLnBrk="1"/>
                      <a:r>
                        <a:rPr lang="en-US" altLang="ko-KR" sz="1400" dirty="0" smtClean="0"/>
                        <a:t>Infra &amp; processes</a:t>
                      </a:r>
                    </a:p>
                    <a:p>
                      <a:pPr latinLnBrk="1"/>
                      <a:endParaRPr lang="ko-KR" altLang="en-US" sz="1400" dirty="0"/>
                    </a:p>
                  </a:txBody>
                  <a:tcPr/>
                </a:tc>
                <a:tc>
                  <a:txBody>
                    <a:bodyPr/>
                    <a:lstStyle/>
                    <a:p>
                      <a:pPr latinLnBrk="1"/>
                      <a:r>
                        <a:rPr lang="en-US" altLang="ko-KR" sz="1400" dirty="0" smtClean="0"/>
                        <a:t>Cloud, EA, Methodology, PET, e-ID</a:t>
                      </a:r>
                    </a:p>
                    <a:p>
                      <a:pPr latinLnBrk="1"/>
                      <a:r>
                        <a:rPr lang="en-US" altLang="ko-KR" sz="1400" dirty="0" smtClean="0"/>
                        <a:t>SNS, API, web3.0,</a:t>
                      </a:r>
                      <a:r>
                        <a:rPr lang="en-US" altLang="ko-KR" sz="1400" baseline="0" dirty="0" smtClean="0"/>
                        <a:t> Robot</a:t>
                      </a:r>
                      <a:endParaRPr lang="ko-KR" altLang="en-US" sz="1400" dirty="0"/>
                    </a:p>
                  </a:txBody>
                  <a:tcPr/>
                </a:tc>
                <a:tc>
                  <a:txBody>
                    <a:bodyPr/>
                    <a:lstStyle/>
                    <a:p>
                      <a:pPr latinLnBrk="1"/>
                      <a:r>
                        <a:rPr lang="en-US" altLang="ko-KR" sz="1400" dirty="0" smtClean="0"/>
                        <a:t>Actively focusing on this point now</a:t>
                      </a:r>
                      <a:endParaRPr lang="ko-KR" altLang="en-US" sz="1400" dirty="0"/>
                    </a:p>
                  </a:txBody>
                  <a:tcPr/>
                </a:tc>
                <a:tc>
                  <a:txBody>
                    <a:bodyPr/>
                    <a:lstStyle/>
                    <a:p>
                      <a:pPr latinLnBrk="1"/>
                      <a:r>
                        <a:rPr lang="en-US" altLang="ko-KR" sz="1400" dirty="0" smtClean="0"/>
                        <a:t>Cloud, EA, Methodology, PET, e-ID are Critical for advanced ICT.  To build competency in this area is important</a:t>
                      </a:r>
                    </a:p>
                  </a:txBody>
                  <a:tcPr/>
                </a:tc>
              </a:tr>
              <a:tr h="370840">
                <a:tc>
                  <a:txBody>
                    <a:bodyPr/>
                    <a:lstStyle/>
                    <a:p>
                      <a:pPr latinLnBrk="1"/>
                      <a:r>
                        <a:rPr lang="en-US" altLang="ko-KR" sz="1400" dirty="0" smtClean="0"/>
                        <a:t>Open data &amp; big data</a:t>
                      </a:r>
                      <a:endParaRPr lang="en-US" altLang="ko-KR" sz="1400" dirty="0"/>
                    </a:p>
                    <a:p>
                      <a:pPr latinLnBrk="1"/>
                      <a:endParaRPr lang="en-US" altLang="ko-KR" sz="1400" dirty="0" smtClean="0"/>
                    </a:p>
                  </a:txBody>
                  <a:tcPr/>
                </a:tc>
                <a:tc>
                  <a:txBody>
                    <a:bodyPr/>
                    <a:lstStyle/>
                    <a:p>
                      <a:pPr latinLnBrk="1"/>
                      <a:r>
                        <a:rPr lang="en-US" altLang="ko-KR" sz="1400" dirty="0" smtClean="0"/>
                        <a:t>Analysis of big data and visualization</a:t>
                      </a:r>
                    </a:p>
                    <a:p>
                      <a:pPr latinLnBrk="1"/>
                      <a:r>
                        <a:rPr lang="en-US" altLang="ko-KR" sz="1400" dirty="0" smtClean="0"/>
                        <a:t>Opening public data </a:t>
                      </a:r>
                      <a:endParaRPr lang="ko-KR" altLang="en-US" sz="1400" dirty="0"/>
                    </a:p>
                  </a:txBody>
                  <a:tcPr/>
                </a:tc>
                <a:tc>
                  <a:txBody>
                    <a:bodyPr/>
                    <a:lstStyle/>
                    <a:p>
                      <a:pPr latinLnBrk="1"/>
                      <a:r>
                        <a:rPr lang="en-US" altLang="ko-KR" sz="1400" dirty="0" smtClean="0"/>
                        <a:t>Important</a:t>
                      </a:r>
                      <a:r>
                        <a:rPr lang="en-US" altLang="ko-KR" sz="1400" baseline="0" dirty="0" smtClean="0"/>
                        <a:t> emerging issues both public and private sectors </a:t>
                      </a:r>
                      <a:endParaRPr lang="ko-KR" altLang="en-US" sz="1400" dirty="0"/>
                    </a:p>
                  </a:txBody>
                  <a:tcPr/>
                </a:tc>
                <a:tc>
                  <a:txBody>
                    <a:bodyPr/>
                    <a:lstStyle/>
                    <a:p>
                      <a:pPr latinLnBrk="1"/>
                      <a:r>
                        <a:rPr lang="en-US" altLang="ko-KR" sz="1400" dirty="0" smtClean="0"/>
                        <a:t>Systematic</a:t>
                      </a:r>
                      <a:r>
                        <a:rPr lang="en-US" altLang="ko-KR" sz="1400" baseline="0" dirty="0" smtClean="0"/>
                        <a:t> accumulation of p</a:t>
                      </a:r>
                      <a:r>
                        <a:rPr lang="en-US" altLang="ko-KR" sz="1400" dirty="0" smtClean="0"/>
                        <a:t>ublic</a:t>
                      </a:r>
                      <a:r>
                        <a:rPr lang="en-US" altLang="ko-KR" sz="1400" baseline="0" dirty="0" smtClean="0"/>
                        <a:t> data and preparation of open data technology</a:t>
                      </a:r>
                      <a:endParaRPr lang="ko-KR" altLang="en-US" sz="1400" dirty="0"/>
                    </a:p>
                  </a:txBody>
                  <a:tcPr/>
                </a:tc>
              </a:tr>
              <a:tr h="370840">
                <a:tc>
                  <a:txBody>
                    <a:bodyPr/>
                    <a:lstStyle/>
                    <a:p>
                      <a:pPr latinLnBrk="1"/>
                      <a:r>
                        <a:rPr lang="en-US" altLang="ko-KR" sz="1400" dirty="0" smtClean="0"/>
                        <a:t>Policy modeling and making</a:t>
                      </a:r>
                    </a:p>
                    <a:p>
                      <a:pPr latinLnBrk="1"/>
                      <a:endParaRPr lang="ko-KR" altLang="en-US" sz="1400" dirty="0"/>
                    </a:p>
                  </a:txBody>
                  <a:tcPr/>
                </a:tc>
                <a:tc>
                  <a:txBody>
                    <a:bodyPr/>
                    <a:lstStyle/>
                    <a:p>
                      <a:pPr latinLnBrk="1"/>
                      <a:r>
                        <a:rPr lang="en-US" altLang="ko-KR" sz="1400" dirty="0" smtClean="0"/>
                        <a:t>Use of big data, mobile platform, AI to solve socio-economic issues</a:t>
                      </a:r>
                      <a:endParaRPr lang="ko-KR" altLang="en-US" sz="1400" dirty="0"/>
                    </a:p>
                  </a:txBody>
                  <a:tcPr/>
                </a:tc>
                <a:tc>
                  <a:txBody>
                    <a:bodyPr/>
                    <a:lstStyle/>
                    <a:p>
                      <a:pPr latinLnBrk="1"/>
                      <a:r>
                        <a:rPr lang="en-US" altLang="ko-KR" sz="1400" dirty="0" smtClean="0"/>
                        <a:t>Some are</a:t>
                      </a:r>
                      <a:r>
                        <a:rPr lang="en-US" altLang="ko-KR" sz="1400" baseline="0" dirty="0" smtClean="0"/>
                        <a:t> in planning and </a:t>
                      </a:r>
                      <a:endParaRPr lang="ko-KR" altLang="en-US" sz="1400" dirty="0"/>
                    </a:p>
                  </a:txBody>
                  <a:tcPr/>
                </a:tc>
                <a:tc>
                  <a:txBody>
                    <a:bodyPr/>
                    <a:lstStyle/>
                    <a:p>
                      <a:pPr latinLnBrk="1"/>
                      <a:r>
                        <a:rPr lang="en-US" altLang="ko-KR" sz="1400" dirty="0" smtClean="0"/>
                        <a:t>Research of</a:t>
                      </a:r>
                      <a:r>
                        <a:rPr lang="en-US" altLang="ko-KR" sz="1400" baseline="0" dirty="0" smtClean="0"/>
                        <a:t> p</a:t>
                      </a:r>
                      <a:r>
                        <a:rPr lang="en-US" altLang="ko-KR" sz="1400" dirty="0" smtClean="0"/>
                        <a:t>roto-type of Rwanda mobile platform</a:t>
                      </a:r>
                      <a:endParaRPr lang="ko-KR" altLang="en-US" sz="1400" dirty="0"/>
                    </a:p>
                  </a:txBody>
                  <a:tcPr/>
                </a:tc>
              </a:tr>
              <a:tr h="788640">
                <a:tc>
                  <a:txBody>
                    <a:bodyPr/>
                    <a:lstStyle/>
                    <a:p>
                      <a:pPr latinLnBrk="1"/>
                      <a:r>
                        <a:rPr lang="en-US" altLang="ko-KR" sz="1400" dirty="0" smtClean="0"/>
                        <a:t>Measurement and monitoring</a:t>
                      </a:r>
                    </a:p>
                    <a:p>
                      <a:pPr latinLnBrk="1"/>
                      <a:endParaRPr lang="ko-KR" altLang="en-US" sz="1400" dirty="0"/>
                    </a:p>
                  </a:txBody>
                  <a:tcPr/>
                </a:tc>
                <a:tc>
                  <a:txBody>
                    <a:bodyPr/>
                    <a:lstStyle/>
                    <a:p>
                      <a:pPr latinLnBrk="1"/>
                      <a:r>
                        <a:rPr lang="en-US" altLang="ko-KR" sz="1400" dirty="0" smtClean="0"/>
                        <a:t>Service performance</a:t>
                      </a:r>
                      <a:r>
                        <a:rPr lang="en-US" altLang="ko-KR" sz="1400" baseline="0" dirty="0" smtClean="0"/>
                        <a:t> </a:t>
                      </a:r>
                      <a:r>
                        <a:rPr lang="en-US" altLang="ko-KR" sz="1400" dirty="0" smtClean="0"/>
                        <a:t> measurement thru ICT tech,</a:t>
                      </a:r>
                      <a:r>
                        <a:rPr lang="en-US" altLang="ko-KR" sz="1400" baseline="0" dirty="0" smtClean="0"/>
                        <a:t> &amp; tool </a:t>
                      </a:r>
                      <a:endParaRPr lang="ko-KR" altLang="en-US" sz="1400" dirty="0"/>
                    </a:p>
                  </a:txBody>
                  <a:tcPr/>
                </a:tc>
                <a:tc>
                  <a:txBody>
                    <a:bodyPr/>
                    <a:lstStyle/>
                    <a:p>
                      <a:pPr latinLnBrk="1"/>
                      <a:r>
                        <a:rPr lang="en-US" altLang="ko-KR" sz="1400" dirty="0" smtClean="0"/>
                        <a:t>Strong emphasis on this now</a:t>
                      </a:r>
                      <a:endParaRPr lang="ko-KR" altLang="en-US" sz="1400" dirty="0"/>
                    </a:p>
                  </a:txBody>
                  <a:tcPr/>
                </a:tc>
                <a:tc>
                  <a:txBody>
                    <a:bodyPr/>
                    <a:lstStyle/>
                    <a:p>
                      <a:pPr latinLnBrk="1"/>
                      <a:r>
                        <a:rPr lang="en-US" altLang="ko-KR" sz="1400" dirty="0" smtClean="0"/>
                        <a:t>Not yet, but preparation of  structure</a:t>
                      </a:r>
                      <a:endParaRPr lang="ko-KR" altLang="en-US" sz="1400" dirty="0"/>
                    </a:p>
                  </a:txBody>
                  <a:tcPr/>
                </a:tc>
              </a:tr>
              <a:tr h="370840">
                <a:tc>
                  <a:txBody>
                    <a:bodyPr/>
                    <a:lstStyle/>
                    <a:p>
                      <a:pPr latinLnBrk="1"/>
                      <a:r>
                        <a:rPr lang="en-US" altLang="ko-KR" sz="1400" dirty="0" smtClean="0"/>
                        <a:t>Civil</a:t>
                      </a:r>
                      <a:r>
                        <a:rPr lang="en-US" altLang="ko-KR" sz="1400" baseline="0" dirty="0" smtClean="0"/>
                        <a:t> servants &amp; working practices</a:t>
                      </a:r>
                      <a:endParaRPr lang="en-US" altLang="ko-KR" sz="1400" dirty="0" smtClean="0"/>
                    </a:p>
                  </a:txBody>
                  <a:tcPr/>
                </a:tc>
                <a:tc>
                  <a:txBody>
                    <a:bodyPr/>
                    <a:lstStyle/>
                    <a:p>
                      <a:pPr latinLnBrk="1"/>
                      <a:r>
                        <a:rPr lang="en-US" altLang="ko-KR" sz="1400" dirty="0" smtClean="0"/>
                        <a:t>Cultural change</a:t>
                      </a:r>
                    </a:p>
                    <a:p>
                      <a:pPr latinLnBrk="1"/>
                      <a:r>
                        <a:rPr lang="en-US" altLang="ko-KR" sz="1400" dirty="0" smtClean="0"/>
                        <a:t>ICT skill, problem solving &amp; collaboration , service mind</a:t>
                      </a:r>
                      <a:endParaRPr lang="ko-KR" altLang="en-US" sz="1400" dirty="0"/>
                    </a:p>
                  </a:txBody>
                  <a:tcPr/>
                </a:tc>
                <a:tc>
                  <a:txBody>
                    <a:bodyPr/>
                    <a:lstStyle/>
                    <a:p>
                      <a:pPr latinLnBrk="1"/>
                      <a:r>
                        <a:rPr lang="en-US" altLang="ko-KR" sz="1400" dirty="0" smtClean="0"/>
                        <a:t>Same and focal</a:t>
                      </a:r>
                      <a:r>
                        <a:rPr lang="en-US" altLang="ko-KR" sz="1400" baseline="0" dirty="0" smtClean="0"/>
                        <a:t> </a:t>
                      </a:r>
                    </a:p>
                    <a:p>
                      <a:pPr latinLnBrk="1"/>
                      <a:r>
                        <a:rPr lang="en-US" altLang="ko-KR" sz="1400" baseline="0" dirty="0" smtClean="0"/>
                        <a:t>point</a:t>
                      </a:r>
                      <a:endParaRPr lang="ko-KR" altLang="en-US" sz="1400" dirty="0"/>
                    </a:p>
                  </a:txBody>
                  <a:tcPr/>
                </a:tc>
                <a:tc>
                  <a:txBody>
                    <a:bodyPr/>
                    <a:lstStyle/>
                    <a:p>
                      <a:pPr latinLnBrk="1"/>
                      <a:r>
                        <a:rPr lang="en-US" altLang="ko-KR" sz="1400" dirty="0" smtClean="0"/>
                        <a:t>Same and focal</a:t>
                      </a:r>
                      <a:r>
                        <a:rPr lang="en-US" altLang="ko-KR" sz="1400" baseline="0" dirty="0" smtClean="0"/>
                        <a:t> point</a:t>
                      </a:r>
                      <a:endParaRPr lang="ko-KR" altLang="en-US" sz="1400" dirty="0" smtClean="0"/>
                    </a:p>
                    <a:p>
                      <a:pPr latinLnBrk="1"/>
                      <a:endParaRPr lang="ko-KR" altLang="en-US" sz="1400" dirty="0"/>
                    </a:p>
                  </a:txBody>
                  <a:tcPr/>
                </a:tc>
              </a:tr>
            </a:tbl>
          </a:graphicData>
        </a:graphic>
      </p:graphicFrame>
      <p:sp>
        <p:nvSpPr>
          <p:cNvPr id="4" name="슬라이드 번호 개체 틀 3"/>
          <p:cNvSpPr>
            <a:spLocks noGrp="1"/>
          </p:cNvSpPr>
          <p:nvPr>
            <p:ph type="sldNum" sz="quarter" idx="12"/>
          </p:nvPr>
        </p:nvSpPr>
        <p:spPr/>
        <p:txBody>
          <a:bodyPr/>
          <a:lstStyle/>
          <a:p>
            <a:fld id="{8F563537-3992-4579-A065-26E1D23BF530}" type="slidenum">
              <a:rPr lang="ko-KR" altLang="en-US" smtClean="0"/>
              <a:pPr/>
              <a:t>24</a:t>
            </a:fld>
            <a:endParaRPr lang="ko-KR" altLang="en-US"/>
          </a:p>
        </p:txBody>
      </p:sp>
    </p:spTree>
    <p:extLst>
      <p:ext uri="{BB962C8B-B14F-4D97-AF65-F5344CB8AC3E}">
        <p14:creationId xmlns:p14="http://schemas.microsoft.com/office/powerpoint/2010/main" val="282769259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2064</TotalTime>
  <Words>3124</Words>
  <Application>Microsoft Office PowerPoint</Application>
  <PresentationFormat>화면 슬라이드 쇼(4:3)</PresentationFormat>
  <Paragraphs>647</Paragraphs>
  <Slides>24</Slides>
  <Notes>24</Notes>
  <HiddenSlides>0</HiddenSlides>
  <MMClips>0</MMClips>
  <ScaleCrop>false</ScaleCrop>
  <HeadingPairs>
    <vt:vector size="4" baseType="variant">
      <vt:variant>
        <vt:lpstr>테마</vt:lpstr>
      </vt:variant>
      <vt:variant>
        <vt:i4>3</vt:i4>
      </vt:variant>
      <vt:variant>
        <vt:lpstr>슬라이드 제목</vt:lpstr>
      </vt:variant>
      <vt:variant>
        <vt:i4>24</vt:i4>
      </vt:variant>
    </vt:vector>
  </HeadingPairs>
  <TitlesOfParts>
    <vt:vector size="27" baseType="lpstr">
      <vt:lpstr>Office 테마</vt:lpstr>
      <vt:lpstr>1_디자인 사용자 지정</vt:lpstr>
      <vt:lpstr>디자인 사용자 지정</vt:lpstr>
      <vt:lpstr>Smart Enablers in Korea</vt:lpstr>
      <vt:lpstr>IT and Nat’ l Development : Past-Present-Future</vt:lpstr>
      <vt:lpstr>Rankings in Global IT Surveys</vt:lpstr>
      <vt:lpstr>Current status of Korea’s e-Government </vt:lpstr>
      <vt:lpstr>Best practices of Korea’s e-Government(1)</vt:lpstr>
      <vt:lpstr>Best practices of Korea’s e-Government(2)</vt:lpstr>
      <vt:lpstr>Success factors of Korean  e-Government</vt:lpstr>
      <vt:lpstr>Success factors of Korean  e-Government</vt:lpstr>
      <vt:lpstr>Strategic ICT Enablers</vt:lpstr>
      <vt:lpstr>IT Status , South Korea</vt:lpstr>
      <vt:lpstr>Success factors of  Korea’s IT infrastructure</vt:lpstr>
      <vt:lpstr>PowerPoint 프레젠테이션</vt:lpstr>
      <vt:lpstr>Implementation of Open Data Policy </vt:lpstr>
      <vt:lpstr>Government-wide Enterprise Architecture</vt:lpstr>
      <vt:lpstr>Government Enterprise Architecture portal (GEAP)</vt:lpstr>
      <vt:lpstr>Collaboration and Integration  of Government services via GEA</vt:lpstr>
      <vt:lpstr>Vision of eGovFrame</vt:lpstr>
      <vt:lpstr>Platform approach with multi- benefits for ICT project </vt:lpstr>
      <vt:lpstr>Applied cases of Mobile features </vt:lpstr>
      <vt:lpstr>The Emergence of Smart Age</vt:lpstr>
      <vt:lpstr>Towards Smart Government in South Korea</vt:lpstr>
      <vt:lpstr>Emergence of Smart Age and the New Role of IT</vt:lpstr>
      <vt:lpstr>Realization of Smart-Government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choiwi</dc:creator>
  <cp:lastModifiedBy>choiwi</cp:lastModifiedBy>
  <cp:revision>91</cp:revision>
  <cp:lastPrinted>2013-06-13T07:55:23Z</cp:lastPrinted>
  <dcterms:created xsi:type="dcterms:W3CDTF">2013-06-04T09:01:06Z</dcterms:created>
  <dcterms:modified xsi:type="dcterms:W3CDTF">2013-06-16T17:37:58Z</dcterms:modified>
</cp:coreProperties>
</file>