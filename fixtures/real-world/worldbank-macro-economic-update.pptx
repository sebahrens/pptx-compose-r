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3.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4.xml" ContentType="application/vnd.openxmlformats-officedocument.drawingml.chartshapes+xml"/>
  <Override PartName="/ppt/notesSlides/notesSlide6.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1.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rawings/drawing5.xml" ContentType="application/vnd.openxmlformats-officedocument.drawingml.chartshapes+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drawings/drawing6.xml" ContentType="application/vnd.openxmlformats-officedocument.drawingml.chartshape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drawings/drawing7.xml" ContentType="application/vnd.openxmlformats-officedocument.drawingml.chartshapes+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drawings/drawing8.xml" ContentType="application/vnd.openxmlformats-officedocument.drawingml.chartshape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91" r:id="rId1"/>
  </p:sldMasterIdLst>
  <p:notesMasterIdLst>
    <p:notesMasterId r:id="rId24"/>
  </p:notesMasterIdLst>
  <p:sldIdLst>
    <p:sldId id="256" r:id="rId2"/>
    <p:sldId id="365" r:id="rId3"/>
    <p:sldId id="358" r:id="rId4"/>
    <p:sldId id="350" r:id="rId5"/>
    <p:sldId id="363" r:id="rId6"/>
    <p:sldId id="326" r:id="rId7"/>
    <p:sldId id="359" r:id="rId8"/>
    <p:sldId id="360" r:id="rId9"/>
    <p:sldId id="330" r:id="rId10"/>
    <p:sldId id="362" r:id="rId11"/>
    <p:sldId id="351" r:id="rId12"/>
    <p:sldId id="352" r:id="rId13"/>
    <p:sldId id="321" r:id="rId14"/>
    <p:sldId id="354" r:id="rId15"/>
    <p:sldId id="355" r:id="rId16"/>
    <p:sldId id="356" r:id="rId17"/>
    <p:sldId id="357" r:id="rId18"/>
    <p:sldId id="341" r:id="rId19"/>
    <p:sldId id="342" r:id="rId20"/>
    <p:sldId id="364" r:id="rId21"/>
    <p:sldId id="343" r:id="rId22"/>
    <p:sldId id="34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berta V. Gatti" initials="RVG" lastIdx="5" clrIdx="0">
    <p:extLst>
      <p:ext uri="{19B8F6BF-5375-455C-9EA6-DF929625EA0E}">
        <p15:presenceInfo xmlns:p15="http://schemas.microsoft.com/office/powerpoint/2012/main" userId="S::rgatti@worldbank.org::4669a211-9409-462c-a5ba-744e608e5075" providerId="AD"/>
      </p:ext>
    </p:extLst>
  </p:cmAuthor>
  <p:cmAuthor id="2" name="Daniel Lederman" initials="DL" lastIdx="3" clrIdx="1">
    <p:extLst>
      <p:ext uri="{19B8F6BF-5375-455C-9EA6-DF929625EA0E}">
        <p15:presenceInfo xmlns:p15="http://schemas.microsoft.com/office/powerpoint/2012/main" userId="S::dlederman@worldbank.org::1717aa51-3143-4b6e-925f-5e4be8b8c4a8" providerId="AD"/>
      </p:ext>
    </p:extLst>
  </p:cmAuthor>
  <p:cmAuthor id="3" name="Rachel Yuting Fan" initials="RF" lastIdx="1" clrIdx="2">
    <p:extLst>
      <p:ext uri="{19B8F6BF-5375-455C-9EA6-DF929625EA0E}">
        <p15:presenceInfo xmlns:p15="http://schemas.microsoft.com/office/powerpoint/2012/main" userId="S::yfan3@worldbank.org::66e14fa4-6725-4ae8-b1dc-83dd4e77b6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B500"/>
    <a:srgbClr val="3333FF"/>
    <a:srgbClr val="ED7D31"/>
    <a:srgbClr val="CB605D"/>
    <a:srgbClr val="2F5597"/>
    <a:srgbClr val="196491"/>
    <a:srgbClr val="4472C4"/>
    <a:srgbClr val="19A5BE"/>
    <a:srgbClr val="0587AF"/>
    <a:srgbClr val="3E76C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77D7A0-5EF6-4CD7-8DCD-B950BE6510C8}" v="287" dt="2021-04-13T21:46:32.608"/>
    <p1510:client id="{FEB0873D-DF27-44DD-8110-6D0DD2789106}" v="63" dt="2021-04-14T20:43:29.2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372" autoAdjust="0"/>
  </p:normalViewPr>
  <p:slideViewPr>
    <p:cSldViewPr snapToGrid="0">
      <p:cViewPr varScale="1">
        <p:scale>
          <a:sx n="62" d="100"/>
          <a:sy n="62" d="100"/>
        </p:scale>
        <p:origin x="80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charts/_rels/chart1.xml.rels><?xml version="1.0" encoding="UTF-8" standalone="yes"?>
<Relationships xmlns="http://schemas.openxmlformats.org/package/2006/relationships"><Relationship Id="rId3" Type="http://schemas.openxmlformats.org/officeDocument/2006/relationships/oleObject" Target="https://worldbankgroup-my.sharepoint.com/personal/yfan3_worldbank_org/Documents/References/OtherMacro/GDP%20Growth%20Forecasts%20and%20Comparison/MEU/Chart_8lines_GDPloss_October2019_vs_April2021_forMEU-PC4437319.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https://worldbankgroup-my.sharepoint.com/personal/yfan3_worldbank_org/Documents/Annual%20Meetings/Oct%202019/MEU/MEU%20April%202021/Heba/March%2016/Remaining%20charts/Figure%20I.2%20GDP%20Levels%20Forecasts.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3" Type="http://schemas.openxmlformats.org/officeDocument/2006/relationships/oleObject" Target="https://worldbankgroup-my.sharepoint.com/personal/yfan3_worldbank_org/Documents/References/OtherMacro/GDP%20Growth%20Forecasts%20and%20Comparison/MEU/Chart_8lines_GDPloss_October2019_vs_April2021_forMEU-PC4437319.xlsx" TargetMode="Externa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3.xml"/></Relationships>
</file>

<file path=ppt/charts/_rels/chart4.xml.rels><?xml version="1.0" encoding="UTF-8" standalone="yes"?>
<Relationships xmlns="http://schemas.openxmlformats.org/package/2006/relationships"><Relationship Id="rId3" Type="http://schemas.openxmlformats.org/officeDocument/2006/relationships/oleObject" Target="https://worldbankgroup-my.sharepoint.com/personal/yfan3_worldbank_org/Documents/References/OtherMacro/GDP%20Growth%20Forecasts%20and%20Comparison/MEU/Chart_8lines_GDPloss_October2019_vs_April2021_forMEU-PC4437319.xlsx" TargetMode="Externa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4.xml"/></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https://worldbankgroup-my.sharepoint.com/personal/dlederman_worldbank_org/Documents/MNACE/Macro/MNA%20Regional%20projection%20SM2021.xlsx" TargetMode="External"/></Relationships>
</file>

<file path=ppt/charts/_rels/chart6.xml.rels><?xml version="1.0" encoding="UTF-8" standalone="yes"?>
<Relationships xmlns="http://schemas.openxmlformats.org/package/2006/relationships"><Relationship Id="rId3" Type="http://schemas.openxmlformats.org/officeDocument/2006/relationships/oleObject" Target="https://worldbankgroup-my.sharepoint.com/personal/yfan3_worldbank_org/Documents/Annual%20Meetings/Oct%202019/MEU/MEU%20April%202021/Heba/March%2025/charts%20and%20tables/Figure%20I.6.xlsx" TargetMode="Externa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chartUserShapes" Target="../drawings/drawing5.xml"/></Relationships>
</file>

<file path=ppt/charts/_rels/chart7.xml.rels><?xml version="1.0" encoding="UTF-8" standalone="yes"?>
<Relationships xmlns="http://schemas.openxmlformats.org/package/2006/relationships"><Relationship Id="rId3" Type="http://schemas.openxmlformats.org/officeDocument/2006/relationships/oleObject" Target="https://worldbankgroup-my.sharepoint.com/personal/yfan3_worldbank_org/Documents/Annual%20Meetings/Oct%202019/MEU/MEU%20April%202021/Charts/Debt%20and%20Growth%20around%20the%20onset%20of%20ND%20-%20Charts%20in%20Excel%20-%20Feb%2015%202021.xlsx" TargetMode="Externa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chartUserShapes" Target="../drawings/drawing6.xml"/></Relationships>
</file>

<file path=ppt/charts/_rels/chart8.xml.rels><?xml version="1.0" encoding="UTF-8" standalone="yes"?>
<Relationships xmlns="http://schemas.openxmlformats.org/package/2006/relationships"><Relationship Id="rId3" Type="http://schemas.openxmlformats.org/officeDocument/2006/relationships/oleObject" Target="file:///C:\Users\wb354016\AppData\Local\Microsoft\Windows\INetCache\Content.Outlook\Z8LRJ54I\Chart_GDP_WGI_comparison_restructurings_MENA_forMEU_clean.xlsx" TargetMode="Externa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chartUserShapes" Target="../drawings/drawing7.xml"/></Relationships>
</file>

<file path=ppt/charts/_rels/chart9.xml.rels><?xml version="1.0" encoding="UTF-8" standalone="yes"?>
<Relationships xmlns="http://schemas.openxmlformats.org/package/2006/relationships"><Relationship Id="rId3" Type="http://schemas.openxmlformats.org/officeDocument/2006/relationships/oleObject" Target="file:///C:\Users\wb354016\AppData\Local\Microsoft\Windows\INetCache\Content.Outlook\Z8LRJ54I\Chart_GDP_WGI_comparison_restructurings_MENA_forMEU_clean.xlsx" TargetMode="Externa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chartUserShapes" Target="../drawings/drawing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3135365933921281E-2"/>
          <c:y val="0.11268079599780198"/>
          <c:w val="0.90074412597077791"/>
          <c:h val="0.64741019330936822"/>
        </c:manualLayout>
      </c:layout>
      <c:lineChart>
        <c:grouping val="standard"/>
        <c:varyColors val="0"/>
        <c:ser>
          <c:idx val="1"/>
          <c:order val="0"/>
          <c:tx>
            <c:strRef>
              <c:f>'Chart_GDPPC (2)'!$C$23</c:f>
              <c:strCache>
                <c:ptCount val="1"/>
                <c:pt idx="0">
                  <c:v>MENA(Pandemic)</c:v>
                </c:pt>
              </c:strCache>
            </c:strRef>
          </c:tx>
          <c:spPr>
            <a:ln w="28575" cap="rnd">
              <a:solidFill>
                <a:schemeClr val="tx1"/>
              </a:solidFill>
              <a:prstDash val="solid"/>
              <a:round/>
            </a:ln>
            <a:effectLst/>
          </c:spPr>
          <c:marker>
            <c:symbol val="none"/>
          </c:marker>
          <c:cat>
            <c:numRef>
              <c:f>'Chart_GDPPC (2)'!$H$13:$J$13</c:f>
              <c:numCache>
                <c:formatCode>General</c:formatCode>
                <c:ptCount val="3"/>
                <c:pt idx="0">
                  <c:v>2019</c:v>
                </c:pt>
                <c:pt idx="1">
                  <c:v>2020</c:v>
                </c:pt>
                <c:pt idx="2">
                  <c:v>2021</c:v>
                </c:pt>
              </c:numCache>
            </c:numRef>
          </c:cat>
          <c:val>
            <c:numRef>
              <c:f>'Chart_GDPPC (2)'!$H$23:$J$23</c:f>
              <c:numCache>
                <c:formatCode>0.00</c:formatCode>
                <c:ptCount val="3"/>
                <c:pt idx="0" formatCode="General">
                  <c:v>1</c:v>
                </c:pt>
                <c:pt idx="1">
                  <c:v>0.94741969999999998</c:v>
                </c:pt>
                <c:pt idx="2">
                  <c:v>0.95267323697846995</c:v>
                </c:pt>
              </c:numCache>
            </c:numRef>
          </c:val>
          <c:smooth val="0"/>
          <c:extLst>
            <c:ext xmlns:c16="http://schemas.microsoft.com/office/drawing/2014/chart" uri="{C3380CC4-5D6E-409C-BE32-E72D297353CC}">
              <c16:uniqueId val="{00000000-6BAB-4F75-B55F-1AC2B8DF0E5E}"/>
            </c:ext>
          </c:extLst>
        </c:ser>
        <c:ser>
          <c:idx val="0"/>
          <c:order val="1"/>
          <c:tx>
            <c:strRef>
              <c:f>'Chart_GDPPC (2)'!$C$22</c:f>
              <c:strCache>
                <c:ptCount val="1"/>
                <c:pt idx="0">
                  <c:v>MENA(No Pandemic)</c:v>
                </c:pt>
              </c:strCache>
            </c:strRef>
          </c:tx>
          <c:spPr>
            <a:ln w="28575" cap="rnd">
              <a:solidFill>
                <a:schemeClr val="tx1"/>
              </a:solidFill>
              <a:prstDash val="sysDot"/>
              <a:round/>
            </a:ln>
            <a:effectLst/>
          </c:spPr>
          <c:marker>
            <c:symbol val="none"/>
          </c:marker>
          <c:cat>
            <c:numRef>
              <c:f>'Chart_GDPPC (2)'!$H$13:$J$13</c:f>
              <c:numCache>
                <c:formatCode>General</c:formatCode>
                <c:ptCount val="3"/>
                <c:pt idx="0">
                  <c:v>2019</c:v>
                </c:pt>
                <c:pt idx="1">
                  <c:v>2020</c:v>
                </c:pt>
                <c:pt idx="2">
                  <c:v>2021</c:v>
                </c:pt>
              </c:numCache>
            </c:numRef>
          </c:cat>
          <c:val>
            <c:numRef>
              <c:f>'Chart_GDPPC (2)'!$H$22:$J$22</c:f>
              <c:numCache>
                <c:formatCode>0.00</c:formatCode>
                <c:ptCount val="3"/>
                <c:pt idx="0" formatCode="General">
                  <c:v>1</c:v>
                </c:pt>
                <c:pt idx="1">
                  <c:v>1.0097753</c:v>
                </c:pt>
                <c:pt idx="2">
                  <c:v>1.0228132157410101</c:v>
                </c:pt>
              </c:numCache>
            </c:numRef>
          </c:val>
          <c:smooth val="0"/>
          <c:extLst>
            <c:ext xmlns:c16="http://schemas.microsoft.com/office/drawing/2014/chart" uri="{C3380CC4-5D6E-409C-BE32-E72D297353CC}">
              <c16:uniqueId val="{00000001-6BAB-4F75-B55F-1AC2B8DF0E5E}"/>
            </c:ext>
          </c:extLst>
        </c:ser>
        <c:dLbls>
          <c:showLegendKey val="0"/>
          <c:showVal val="0"/>
          <c:showCatName val="0"/>
          <c:showSerName val="0"/>
          <c:showPercent val="0"/>
          <c:showBubbleSize val="0"/>
        </c:dLbls>
        <c:smooth val="0"/>
        <c:axId val="1452781776"/>
        <c:axId val="1449791504"/>
      </c:lineChart>
      <c:catAx>
        <c:axId val="1452781776"/>
        <c:scaling>
          <c:orientation val="minMax"/>
        </c:scaling>
        <c:delete val="0"/>
        <c:axPos val="b"/>
        <c:numFmt formatCode="General"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crossAx val="1449791504"/>
        <c:crossesAt val="1"/>
        <c:auto val="1"/>
        <c:lblAlgn val="ctr"/>
        <c:lblOffset val="100"/>
        <c:noMultiLvlLbl val="0"/>
      </c:catAx>
      <c:valAx>
        <c:axId val="1449791504"/>
        <c:scaling>
          <c:orientation val="minMax"/>
          <c:max val="1.1000000000000001"/>
          <c:min val="0.9"/>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crossAx val="1452781776"/>
        <c:crosses val="autoZero"/>
        <c:crossBetween val="between"/>
      </c:valAx>
      <c:spPr>
        <a:noFill/>
        <a:ln>
          <a:noFill/>
        </a:ln>
        <a:effectLst/>
      </c:spPr>
    </c:plotArea>
    <c:legend>
      <c:legendPos val="b"/>
      <c:layout>
        <c:manualLayout>
          <c:xMode val="edge"/>
          <c:yMode val="edge"/>
          <c:x val="0"/>
          <c:y val="0.80797450540248195"/>
          <c:w val="1"/>
          <c:h val="0.192025494597518"/>
        </c:manualLayout>
      </c:layout>
      <c:overlay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200">
          <a:solidFill>
            <a:sysClr val="windowText" lastClr="000000"/>
          </a:solidFill>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825811407720377E-2"/>
          <c:y val="0.12710355158550823"/>
          <c:w val="0.90074412597077791"/>
          <c:h val="0.59066819772528434"/>
        </c:manualLayout>
      </c:layout>
      <c:lineChart>
        <c:grouping val="standard"/>
        <c:varyColors val="0"/>
        <c:ser>
          <c:idx val="1"/>
          <c:order val="0"/>
          <c:tx>
            <c:strRef>
              <c:f>Chart!$C$12</c:f>
              <c:strCache>
                <c:ptCount val="1"/>
                <c:pt idx="0">
                  <c:v>MENA (Pandemic)</c:v>
                </c:pt>
              </c:strCache>
            </c:strRef>
          </c:tx>
          <c:spPr>
            <a:ln w="28575" cap="rnd">
              <a:solidFill>
                <a:schemeClr val="tx1">
                  <a:lumMod val="85000"/>
                  <a:lumOff val="15000"/>
                </a:schemeClr>
              </a:solidFill>
              <a:prstDash val="solid"/>
              <a:round/>
            </a:ln>
            <a:effectLst/>
          </c:spPr>
          <c:marker>
            <c:symbol val="none"/>
          </c:marker>
          <c:cat>
            <c:numRef>
              <c:f>Chart!$D$2:$F$2</c:f>
              <c:numCache>
                <c:formatCode>General</c:formatCode>
                <c:ptCount val="3"/>
                <c:pt idx="0">
                  <c:v>2019</c:v>
                </c:pt>
                <c:pt idx="1">
                  <c:v>2020</c:v>
                </c:pt>
                <c:pt idx="2">
                  <c:v>2021</c:v>
                </c:pt>
              </c:numCache>
            </c:numRef>
          </c:cat>
          <c:val>
            <c:numRef>
              <c:f>Chart!$D$12:$F$12</c:f>
              <c:numCache>
                <c:formatCode>0.00</c:formatCode>
                <c:ptCount val="3"/>
                <c:pt idx="0" formatCode="General">
                  <c:v>1</c:v>
                </c:pt>
                <c:pt idx="1">
                  <c:v>0.96171929121017452</c:v>
                </c:pt>
                <c:pt idx="2">
                  <c:v>0.98323631076857831</c:v>
                </c:pt>
              </c:numCache>
            </c:numRef>
          </c:val>
          <c:smooth val="0"/>
          <c:extLst>
            <c:ext xmlns:c16="http://schemas.microsoft.com/office/drawing/2014/chart" uri="{C3380CC4-5D6E-409C-BE32-E72D297353CC}">
              <c16:uniqueId val="{00000000-2B98-4321-B705-84ACEF110239}"/>
            </c:ext>
          </c:extLst>
        </c:ser>
        <c:ser>
          <c:idx val="0"/>
          <c:order val="1"/>
          <c:tx>
            <c:strRef>
              <c:f>Chart!$C$11</c:f>
              <c:strCache>
                <c:ptCount val="1"/>
                <c:pt idx="0">
                  <c:v>MENA (No Pandemic)</c:v>
                </c:pt>
              </c:strCache>
            </c:strRef>
          </c:tx>
          <c:spPr>
            <a:ln w="28575" cap="rnd">
              <a:solidFill>
                <a:schemeClr val="tx1">
                  <a:lumMod val="85000"/>
                  <a:lumOff val="15000"/>
                </a:schemeClr>
              </a:solidFill>
              <a:prstDash val="sysDot"/>
              <a:round/>
            </a:ln>
            <a:effectLst/>
          </c:spPr>
          <c:marker>
            <c:symbol val="none"/>
          </c:marker>
          <c:cat>
            <c:numRef>
              <c:f>Chart!$D$2:$F$2</c:f>
              <c:numCache>
                <c:formatCode>General</c:formatCode>
                <c:ptCount val="3"/>
                <c:pt idx="0">
                  <c:v>2019</c:v>
                </c:pt>
                <c:pt idx="1">
                  <c:v>2020</c:v>
                </c:pt>
                <c:pt idx="2">
                  <c:v>2021</c:v>
                </c:pt>
              </c:numCache>
            </c:numRef>
          </c:cat>
          <c:val>
            <c:numRef>
              <c:f>Chart!$D$11:$F$11</c:f>
              <c:numCache>
                <c:formatCode>0.00</c:formatCode>
                <c:ptCount val="3"/>
                <c:pt idx="0" formatCode="General">
                  <c:v>1</c:v>
                </c:pt>
                <c:pt idx="1">
                  <c:v>1.0261292386054992</c:v>
                </c:pt>
                <c:pt idx="2">
                  <c:v>1.0556341166000847</c:v>
                </c:pt>
              </c:numCache>
            </c:numRef>
          </c:val>
          <c:smooth val="0"/>
          <c:extLst>
            <c:ext xmlns:c16="http://schemas.microsoft.com/office/drawing/2014/chart" uri="{C3380CC4-5D6E-409C-BE32-E72D297353CC}">
              <c16:uniqueId val="{00000001-2B98-4321-B705-84ACEF110239}"/>
            </c:ext>
          </c:extLst>
        </c:ser>
        <c:dLbls>
          <c:showLegendKey val="0"/>
          <c:showVal val="0"/>
          <c:showCatName val="0"/>
          <c:showSerName val="0"/>
          <c:showPercent val="0"/>
          <c:showBubbleSize val="0"/>
        </c:dLbls>
        <c:smooth val="0"/>
        <c:axId val="1452781776"/>
        <c:axId val="1449791504"/>
      </c:lineChart>
      <c:catAx>
        <c:axId val="1452781776"/>
        <c:scaling>
          <c:orientation val="minMax"/>
        </c:scaling>
        <c:delete val="0"/>
        <c:axPos val="b"/>
        <c:numFmt formatCode="General"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crossAx val="1449791504"/>
        <c:crossesAt val="1"/>
        <c:auto val="1"/>
        <c:lblAlgn val="ctr"/>
        <c:lblOffset val="100"/>
        <c:noMultiLvlLbl val="0"/>
      </c:catAx>
      <c:valAx>
        <c:axId val="1449791504"/>
        <c:scaling>
          <c:orientation val="minMax"/>
          <c:max val="1.1000000000000001"/>
          <c:min val="0.9"/>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crossAx val="1452781776"/>
        <c:crosses val="autoZero"/>
        <c:crossBetween val="between"/>
      </c:valAx>
      <c:spPr>
        <a:noFill/>
        <a:ln>
          <a:noFill/>
        </a:ln>
        <a:effectLst/>
      </c:spPr>
    </c:plotArea>
    <c:legend>
      <c:legendPos val="b"/>
      <c:layout>
        <c:manualLayout>
          <c:xMode val="edge"/>
          <c:yMode val="edge"/>
          <c:x val="8.5735402808573544E-2"/>
          <c:y val="0.83392292325099115"/>
          <c:w val="0.82657494864139769"/>
          <c:h val="5.9435120363723865E-2"/>
        </c:manualLayout>
      </c:layout>
      <c:overlay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200">
          <a:solidFill>
            <a:sysClr val="windowText" lastClr="000000"/>
          </a:solidFill>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3135365933921281E-2"/>
          <c:y val="7.3047759724273756E-2"/>
          <c:w val="0.90074412597077791"/>
          <c:h val="0.67052931529792159"/>
        </c:manualLayout>
      </c:layout>
      <c:lineChart>
        <c:grouping val="standard"/>
        <c:varyColors val="0"/>
        <c:ser>
          <c:idx val="1"/>
          <c:order val="0"/>
          <c:tx>
            <c:strRef>
              <c:f>'Chart_GDPPC (2)'!$C$23</c:f>
              <c:strCache>
                <c:ptCount val="1"/>
                <c:pt idx="0">
                  <c:v>MENA(Pandemic)</c:v>
                </c:pt>
              </c:strCache>
            </c:strRef>
          </c:tx>
          <c:spPr>
            <a:ln w="28575" cap="rnd">
              <a:solidFill>
                <a:schemeClr val="tx1"/>
              </a:solidFill>
              <a:prstDash val="solid"/>
              <a:round/>
            </a:ln>
            <a:effectLst/>
          </c:spPr>
          <c:marker>
            <c:symbol val="none"/>
          </c:marker>
          <c:cat>
            <c:numRef>
              <c:f>'Chart_GDPPC (2)'!$H$13:$J$13</c:f>
              <c:numCache>
                <c:formatCode>General</c:formatCode>
                <c:ptCount val="3"/>
                <c:pt idx="0">
                  <c:v>2019</c:v>
                </c:pt>
                <c:pt idx="1">
                  <c:v>2020</c:v>
                </c:pt>
                <c:pt idx="2">
                  <c:v>2021</c:v>
                </c:pt>
              </c:numCache>
            </c:numRef>
          </c:cat>
          <c:val>
            <c:numRef>
              <c:f>'Chart_GDPPC (2)'!$H$23:$J$23</c:f>
              <c:numCache>
                <c:formatCode>0.00</c:formatCode>
                <c:ptCount val="3"/>
                <c:pt idx="0" formatCode="General">
                  <c:v>1</c:v>
                </c:pt>
                <c:pt idx="1">
                  <c:v>0.94741969999999998</c:v>
                </c:pt>
                <c:pt idx="2">
                  <c:v>0.95267323697846995</c:v>
                </c:pt>
              </c:numCache>
            </c:numRef>
          </c:val>
          <c:smooth val="0"/>
          <c:extLst>
            <c:ext xmlns:c16="http://schemas.microsoft.com/office/drawing/2014/chart" uri="{C3380CC4-5D6E-409C-BE32-E72D297353CC}">
              <c16:uniqueId val="{00000000-E083-4420-80D3-F6A015A0B9F9}"/>
            </c:ext>
          </c:extLst>
        </c:ser>
        <c:ser>
          <c:idx val="0"/>
          <c:order val="1"/>
          <c:tx>
            <c:strRef>
              <c:f>'Chart_GDPPC (2)'!$C$22</c:f>
              <c:strCache>
                <c:ptCount val="1"/>
                <c:pt idx="0">
                  <c:v>MENA(No Pandemic)</c:v>
                </c:pt>
              </c:strCache>
            </c:strRef>
          </c:tx>
          <c:spPr>
            <a:ln w="28575" cap="rnd">
              <a:solidFill>
                <a:schemeClr val="tx1"/>
              </a:solidFill>
              <a:prstDash val="sysDot"/>
              <a:round/>
            </a:ln>
            <a:effectLst/>
          </c:spPr>
          <c:marker>
            <c:symbol val="none"/>
          </c:marker>
          <c:cat>
            <c:numRef>
              <c:f>'Chart_GDPPC (2)'!$H$13:$J$13</c:f>
              <c:numCache>
                <c:formatCode>General</c:formatCode>
                <c:ptCount val="3"/>
                <c:pt idx="0">
                  <c:v>2019</c:v>
                </c:pt>
                <c:pt idx="1">
                  <c:v>2020</c:v>
                </c:pt>
                <c:pt idx="2">
                  <c:v>2021</c:v>
                </c:pt>
              </c:numCache>
            </c:numRef>
          </c:cat>
          <c:val>
            <c:numRef>
              <c:f>'Chart_GDPPC (2)'!$H$22:$J$22</c:f>
              <c:numCache>
                <c:formatCode>0.00</c:formatCode>
                <c:ptCount val="3"/>
                <c:pt idx="0" formatCode="General">
                  <c:v>1</c:v>
                </c:pt>
                <c:pt idx="1">
                  <c:v>1.0097753</c:v>
                </c:pt>
                <c:pt idx="2">
                  <c:v>1.0228132157410101</c:v>
                </c:pt>
              </c:numCache>
            </c:numRef>
          </c:val>
          <c:smooth val="0"/>
          <c:extLst>
            <c:ext xmlns:c16="http://schemas.microsoft.com/office/drawing/2014/chart" uri="{C3380CC4-5D6E-409C-BE32-E72D297353CC}">
              <c16:uniqueId val="{00000001-E083-4420-80D3-F6A015A0B9F9}"/>
            </c:ext>
          </c:extLst>
        </c:ser>
        <c:dLbls>
          <c:showLegendKey val="0"/>
          <c:showVal val="0"/>
          <c:showCatName val="0"/>
          <c:showSerName val="0"/>
          <c:showPercent val="0"/>
          <c:showBubbleSize val="0"/>
        </c:dLbls>
        <c:smooth val="0"/>
        <c:axId val="1452781776"/>
        <c:axId val="1449791504"/>
      </c:lineChart>
      <c:catAx>
        <c:axId val="1452781776"/>
        <c:scaling>
          <c:orientation val="minMax"/>
        </c:scaling>
        <c:delete val="0"/>
        <c:axPos val="b"/>
        <c:numFmt formatCode="General"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1050" b="0" i="0" u="none" strike="noStrike" kern="1200" baseline="0">
                <a:solidFill>
                  <a:sysClr val="windowText" lastClr="000000"/>
                </a:solidFill>
                <a:latin typeface="+mn-lt"/>
                <a:ea typeface="+mn-ea"/>
                <a:cs typeface="+mn-cs"/>
              </a:defRPr>
            </a:pPr>
            <a:endParaRPr lang="en-US"/>
          </a:p>
        </c:txPr>
        <c:crossAx val="1449791504"/>
        <c:crossesAt val="1"/>
        <c:auto val="1"/>
        <c:lblAlgn val="ctr"/>
        <c:lblOffset val="100"/>
        <c:noMultiLvlLbl val="0"/>
      </c:catAx>
      <c:valAx>
        <c:axId val="1449791504"/>
        <c:scaling>
          <c:orientation val="minMax"/>
          <c:max val="1.1000000000000001"/>
          <c:min val="0.9"/>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ysClr val="windowText" lastClr="000000"/>
                </a:solidFill>
                <a:latin typeface="+mn-lt"/>
                <a:ea typeface="+mn-ea"/>
                <a:cs typeface="+mn-cs"/>
              </a:defRPr>
            </a:pPr>
            <a:endParaRPr lang="en-US"/>
          </a:p>
        </c:txPr>
        <c:crossAx val="1452781776"/>
        <c:crosses val="autoZero"/>
        <c:crossBetween val="between"/>
      </c:valAx>
      <c:spPr>
        <a:noFill/>
        <a:ln>
          <a:noFill/>
        </a:ln>
        <a:effectLst/>
      </c:spPr>
    </c:plotArea>
    <c:legend>
      <c:legendPos val="b"/>
      <c:layout>
        <c:manualLayout>
          <c:xMode val="edge"/>
          <c:yMode val="edge"/>
          <c:x val="0"/>
          <c:y val="0.80797450540248195"/>
          <c:w val="1"/>
          <c:h val="0.192025494597518"/>
        </c:manualLayout>
      </c:layout>
      <c:overlay val="0"/>
      <c:spPr>
        <a:noFill/>
        <a:ln>
          <a:noFill/>
        </a:ln>
        <a:effectLst/>
      </c:spPr>
      <c:txPr>
        <a:bodyPr rot="0" spcFirstLastPara="1" vertOverflow="ellipsis" vert="horz" wrap="square" anchor="ctr" anchorCtr="1"/>
        <a:lstStyle/>
        <a:p>
          <a:pPr>
            <a:defRPr sz="105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050">
          <a:solidFill>
            <a:sysClr val="windowText" lastClr="000000"/>
          </a:solidFill>
        </a:defRPr>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3135365933921281E-2"/>
          <c:y val="7.3047759724273756E-2"/>
          <c:w val="0.90074412597077791"/>
          <c:h val="0.64952350392614244"/>
        </c:manualLayout>
      </c:layout>
      <c:lineChart>
        <c:grouping val="standard"/>
        <c:varyColors val="0"/>
        <c:ser>
          <c:idx val="3"/>
          <c:order val="0"/>
          <c:tx>
            <c:strRef>
              <c:f>'Chart_GDPPC (2)'!$C$17</c:f>
              <c:strCache>
                <c:ptCount val="1"/>
                <c:pt idx="0">
                  <c:v>GCC (Pandemic)</c:v>
                </c:pt>
              </c:strCache>
            </c:strRef>
          </c:tx>
          <c:spPr>
            <a:ln w="28575" cap="rnd">
              <a:solidFill>
                <a:srgbClr val="0000FF"/>
              </a:solidFill>
              <a:prstDash val="solid"/>
              <a:round/>
            </a:ln>
            <a:effectLst/>
          </c:spPr>
          <c:marker>
            <c:symbol val="none"/>
          </c:marker>
          <c:cat>
            <c:numRef>
              <c:f>'Chart_GDPPC (2)'!$H$13:$J$13</c:f>
              <c:numCache>
                <c:formatCode>General</c:formatCode>
                <c:ptCount val="3"/>
                <c:pt idx="0">
                  <c:v>2019</c:v>
                </c:pt>
                <c:pt idx="1">
                  <c:v>2020</c:v>
                </c:pt>
                <c:pt idx="2">
                  <c:v>2021</c:v>
                </c:pt>
              </c:numCache>
            </c:numRef>
          </c:cat>
          <c:val>
            <c:numRef>
              <c:f>'Chart_GDPPC (2)'!$H$17:$J$17</c:f>
              <c:numCache>
                <c:formatCode>0.00</c:formatCode>
                <c:ptCount val="3"/>
                <c:pt idx="0" formatCode="General">
                  <c:v>1</c:v>
                </c:pt>
                <c:pt idx="1">
                  <c:v>0.93650959999999994</c:v>
                </c:pt>
                <c:pt idx="2">
                  <c:v>0.94243882957951997</c:v>
                </c:pt>
              </c:numCache>
            </c:numRef>
          </c:val>
          <c:smooth val="0"/>
          <c:extLst>
            <c:ext xmlns:c16="http://schemas.microsoft.com/office/drawing/2014/chart" uri="{C3380CC4-5D6E-409C-BE32-E72D297353CC}">
              <c16:uniqueId val="{00000000-3664-4EFC-8F32-30FED89B15B1}"/>
            </c:ext>
          </c:extLst>
        </c:ser>
        <c:ser>
          <c:idx val="0"/>
          <c:order val="1"/>
          <c:tx>
            <c:strRef>
              <c:f>'Chart_GDPPC (2)'!$C$14</c:f>
              <c:strCache>
                <c:ptCount val="1"/>
                <c:pt idx="0">
                  <c:v>GCC(No Pandemic)</c:v>
                </c:pt>
              </c:strCache>
            </c:strRef>
          </c:tx>
          <c:spPr>
            <a:ln w="28575" cap="rnd">
              <a:solidFill>
                <a:srgbClr val="0000FF"/>
              </a:solidFill>
              <a:prstDash val="sysDot"/>
              <a:round/>
            </a:ln>
            <a:effectLst/>
          </c:spPr>
          <c:marker>
            <c:symbol val="none"/>
          </c:marker>
          <c:cat>
            <c:numRef>
              <c:f>'Chart_GDPPC (2)'!$H$13:$J$13</c:f>
              <c:numCache>
                <c:formatCode>General</c:formatCode>
                <c:ptCount val="3"/>
                <c:pt idx="0">
                  <c:v>2019</c:v>
                </c:pt>
                <c:pt idx="1">
                  <c:v>2020</c:v>
                </c:pt>
                <c:pt idx="2">
                  <c:v>2021</c:v>
                </c:pt>
              </c:numCache>
            </c:numRef>
          </c:cat>
          <c:val>
            <c:numRef>
              <c:f>'Chart_GDPPC (2)'!$H$14:$J$14</c:f>
              <c:numCache>
                <c:formatCode>0.00</c:formatCode>
                <c:ptCount val="3"/>
                <c:pt idx="0" formatCode="General">
                  <c:v>1</c:v>
                </c:pt>
                <c:pt idx="1">
                  <c:v>1.0044674</c:v>
                </c:pt>
                <c:pt idx="2">
                  <c:v>1.0149573543984201</c:v>
                </c:pt>
              </c:numCache>
            </c:numRef>
          </c:val>
          <c:smooth val="0"/>
          <c:extLst>
            <c:ext xmlns:c16="http://schemas.microsoft.com/office/drawing/2014/chart" uri="{C3380CC4-5D6E-409C-BE32-E72D297353CC}">
              <c16:uniqueId val="{00000001-3664-4EFC-8F32-30FED89B15B1}"/>
            </c:ext>
          </c:extLst>
        </c:ser>
        <c:ser>
          <c:idx val="4"/>
          <c:order val="2"/>
          <c:tx>
            <c:strRef>
              <c:f>'Chart_GDPPC (2)'!$C$18</c:f>
              <c:strCache>
                <c:ptCount val="1"/>
                <c:pt idx="0">
                  <c:v>Developing Oil Exporters(Pandemic)</c:v>
                </c:pt>
              </c:strCache>
            </c:strRef>
          </c:tx>
          <c:spPr>
            <a:ln w="28575" cap="rnd">
              <a:solidFill>
                <a:srgbClr val="FFC000"/>
              </a:solidFill>
              <a:prstDash val="solid"/>
              <a:round/>
            </a:ln>
            <a:effectLst/>
          </c:spPr>
          <c:marker>
            <c:symbol val="none"/>
          </c:marker>
          <c:cat>
            <c:numRef>
              <c:f>'Chart_GDPPC (2)'!$H$13:$J$13</c:f>
              <c:numCache>
                <c:formatCode>General</c:formatCode>
                <c:ptCount val="3"/>
                <c:pt idx="0">
                  <c:v>2019</c:v>
                </c:pt>
                <c:pt idx="1">
                  <c:v>2020</c:v>
                </c:pt>
                <c:pt idx="2">
                  <c:v>2021</c:v>
                </c:pt>
              </c:numCache>
            </c:numRef>
          </c:cat>
          <c:val>
            <c:numRef>
              <c:f>'Chart_GDPPC (2)'!$H$18:$J$18</c:f>
              <c:numCache>
                <c:formatCode>0.00</c:formatCode>
                <c:ptCount val="3"/>
                <c:pt idx="0" formatCode="General">
                  <c:v>1</c:v>
                </c:pt>
                <c:pt idx="1">
                  <c:v>0.94933089999999998</c:v>
                </c:pt>
                <c:pt idx="2">
                  <c:v>0.95489739666524009</c:v>
                </c:pt>
              </c:numCache>
            </c:numRef>
          </c:val>
          <c:smooth val="0"/>
          <c:extLst>
            <c:ext xmlns:c16="http://schemas.microsoft.com/office/drawing/2014/chart" uri="{C3380CC4-5D6E-409C-BE32-E72D297353CC}">
              <c16:uniqueId val="{00000002-3664-4EFC-8F32-30FED89B15B1}"/>
            </c:ext>
          </c:extLst>
        </c:ser>
        <c:ser>
          <c:idx val="1"/>
          <c:order val="3"/>
          <c:tx>
            <c:strRef>
              <c:f>'Chart_GDPPC (2)'!$C$15</c:f>
              <c:strCache>
                <c:ptCount val="1"/>
                <c:pt idx="0">
                  <c:v>Developing Oil Exporters(No Pandemic)</c:v>
                </c:pt>
              </c:strCache>
            </c:strRef>
          </c:tx>
          <c:spPr>
            <a:ln w="28575" cap="rnd">
              <a:solidFill>
                <a:schemeClr val="accent2"/>
              </a:solidFill>
              <a:prstDash val="sysDot"/>
              <a:round/>
            </a:ln>
            <a:effectLst/>
          </c:spPr>
          <c:marker>
            <c:symbol val="none"/>
          </c:marker>
          <c:cat>
            <c:numRef>
              <c:f>'Chart_GDPPC (2)'!$H$13:$J$13</c:f>
              <c:numCache>
                <c:formatCode>General</c:formatCode>
                <c:ptCount val="3"/>
                <c:pt idx="0">
                  <c:v>2019</c:v>
                </c:pt>
                <c:pt idx="1">
                  <c:v>2020</c:v>
                </c:pt>
                <c:pt idx="2">
                  <c:v>2021</c:v>
                </c:pt>
              </c:numCache>
            </c:numRef>
          </c:cat>
          <c:val>
            <c:numRef>
              <c:f>'Chart_GDPPC (2)'!$H$15:$J$15</c:f>
              <c:numCache>
                <c:formatCode>0.00</c:formatCode>
                <c:ptCount val="3"/>
                <c:pt idx="0" formatCode="General">
                  <c:v>1</c:v>
                </c:pt>
                <c:pt idx="1">
                  <c:v>1.0011833999999999</c:v>
                </c:pt>
                <c:pt idx="2">
                  <c:v>1.0013826354966</c:v>
                </c:pt>
              </c:numCache>
            </c:numRef>
          </c:val>
          <c:smooth val="0"/>
          <c:extLst>
            <c:ext xmlns:c16="http://schemas.microsoft.com/office/drawing/2014/chart" uri="{C3380CC4-5D6E-409C-BE32-E72D297353CC}">
              <c16:uniqueId val="{00000003-3664-4EFC-8F32-30FED89B15B1}"/>
            </c:ext>
          </c:extLst>
        </c:ser>
        <c:ser>
          <c:idx val="5"/>
          <c:order val="4"/>
          <c:tx>
            <c:strRef>
              <c:f>'Chart_GDPPC (2)'!$C$19</c:f>
              <c:strCache>
                <c:ptCount val="1"/>
                <c:pt idx="0">
                  <c:v>Developing Oil Importers(Pandemic)</c:v>
                </c:pt>
              </c:strCache>
            </c:strRef>
          </c:tx>
          <c:spPr>
            <a:ln w="28575" cap="rnd">
              <a:solidFill>
                <a:srgbClr val="FF0000"/>
              </a:solidFill>
              <a:prstDash val="solid"/>
              <a:round/>
            </a:ln>
            <a:effectLst/>
          </c:spPr>
          <c:marker>
            <c:symbol val="none"/>
          </c:marker>
          <c:cat>
            <c:numRef>
              <c:f>'Chart_GDPPC (2)'!$H$13:$J$13</c:f>
              <c:numCache>
                <c:formatCode>General</c:formatCode>
                <c:ptCount val="3"/>
                <c:pt idx="0">
                  <c:v>2019</c:v>
                </c:pt>
                <c:pt idx="1">
                  <c:v>2020</c:v>
                </c:pt>
                <c:pt idx="2">
                  <c:v>2021</c:v>
                </c:pt>
              </c:numCache>
            </c:numRef>
          </c:cat>
          <c:val>
            <c:numRef>
              <c:f>'Chart_GDPPC (2)'!$H$19:$J$19</c:f>
              <c:numCache>
                <c:formatCode>0.00</c:formatCode>
                <c:ptCount val="3"/>
                <c:pt idx="0" formatCode="General">
                  <c:v>1</c:v>
                </c:pt>
                <c:pt idx="1">
                  <c:v>0.96993750000000001</c:v>
                </c:pt>
                <c:pt idx="2">
                  <c:v>0.97470115404375002</c:v>
                </c:pt>
              </c:numCache>
            </c:numRef>
          </c:val>
          <c:smooth val="0"/>
          <c:extLst>
            <c:ext xmlns:c16="http://schemas.microsoft.com/office/drawing/2014/chart" uri="{C3380CC4-5D6E-409C-BE32-E72D297353CC}">
              <c16:uniqueId val="{00000004-3664-4EFC-8F32-30FED89B15B1}"/>
            </c:ext>
          </c:extLst>
        </c:ser>
        <c:ser>
          <c:idx val="2"/>
          <c:order val="5"/>
          <c:tx>
            <c:strRef>
              <c:f>'Chart_GDPPC (2)'!$C$16</c:f>
              <c:strCache>
                <c:ptCount val="1"/>
                <c:pt idx="0">
                  <c:v>Developing Oil Importers(No Pandemic)</c:v>
                </c:pt>
              </c:strCache>
            </c:strRef>
          </c:tx>
          <c:spPr>
            <a:ln w="28575" cap="rnd">
              <a:solidFill>
                <a:srgbClr val="FF0000"/>
              </a:solidFill>
              <a:prstDash val="sysDot"/>
              <a:round/>
            </a:ln>
            <a:effectLst/>
          </c:spPr>
          <c:marker>
            <c:symbol val="none"/>
          </c:marker>
          <c:cat>
            <c:numRef>
              <c:f>'Chart_GDPPC (2)'!$H$13:$J$13</c:f>
              <c:numCache>
                <c:formatCode>General</c:formatCode>
                <c:ptCount val="3"/>
                <c:pt idx="0">
                  <c:v>2019</c:v>
                </c:pt>
                <c:pt idx="1">
                  <c:v>2020</c:v>
                </c:pt>
                <c:pt idx="2">
                  <c:v>2021</c:v>
                </c:pt>
              </c:numCache>
            </c:numRef>
          </c:cat>
          <c:val>
            <c:numRef>
              <c:f>'Chart_GDPPC (2)'!$H$16:$J$16</c:f>
              <c:numCache>
                <c:formatCode>0.00</c:formatCode>
                <c:ptCount val="3"/>
                <c:pt idx="0" formatCode="General">
                  <c:v>1</c:v>
                </c:pt>
                <c:pt idx="1">
                  <c:v>1.028662</c:v>
                </c:pt>
                <c:pt idx="2">
                  <c:v>1.0608815454315998</c:v>
                </c:pt>
              </c:numCache>
            </c:numRef>
          </c:val>
          <c:smooth val="0"/>
          <c:extLst>
            <c:ext xmlns:c16="http://schemas.microsoft.com/office/drawing/2014/chart" uri="{C3380CC4-5D6E-409C-BE32-E72D297353CC}">
              <c16:uniqueId val="{00000005-3664-4EFC-8F32-30FED89B15B1}"/>
            </c:ext>
          </c:extLst>
        </c:ser>
        <c:dLbls>
          <c:showLegendKey val="0"/>
          <c:showVal val="0"/>
          <c:showCatName val="0"/>
          <c:showSerName val="0"/>
          <c:showPercent val="0"/>
          <c:showBubbleSize val="0"/>
        </c:dLbls>
        <c:smooth val="0"/>
        <c:axId val="1452781776"/>
        <c:axId val="1449791504"/>
      </c:lineChart>
      <c:catAx>
        <c:axId val="1452781776"/>
        <c:scaling>
          <c:orientation val="minMax"/>
        </c:scaling>
        <c:delete val="0"/>
        <c:axPos val="b"/>
        <c:numFmt formatCode="General"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1050" b="0" i="0" u="none" strike="noStrike" kern="1200" baseline="0">
                <a:solidFill>
                  <a:sysClr val="windowText" lastClr="000000"/>
                </a:solidFill>
                <a:latin typeface="+mn-lt"/>
                <a:ea typeface="+mn-ea"/>
                <a:cs typeface="+mn-cs"/>
              </a:defRPr>
            </a:pPr>
            <a:endParaRPr lang="en-US"/>
          </a:p>
        </c:txPr>
        <c:crossAx val="1449791504"/>
        <c:crossesAt val="1"/>
        <c:auto val="1"/>
        <c:lblAlgn val="ctr"/>
        <c:lblOffset val="100"/>
        <c:noMultiLvlLbl val="0"/>
      </c:catAx>
      <c:valAx>
        <c:axId val="1449791504"/>
        <c:scaling>
          <c:orientation val="minMax"/>
          <c:max val="1.1000000000000001"/>
          <c:min val="0.9"/>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ysClr val="windowText" lastClr="000000"/>
                </a:solidFill>
                <a:latin typeface="+mn-lt"/>
                <a:ea typeface="+mn-ea"/>
                <a:cs typeface="+mn-cs"/>
              </a:defRPr>
            </a:pPr>
            <a:endParaRPr lang="en-US"/>
          </a:p>
        </c:txPr>
        <c:crossAx val="1452781776"/>
        <c:crosses val="autoZero"/>
        <c:crossBetween val="between"/>
      </c:valAx>
      <c:spPr>
        <a:noFill/>
        <a:ln>
          <a:noFill/>
        </a:ln>
        <a:effectLst/>
      </c:spPr>
    </c:plotArea>
    <c:legend>
      <c:legendPos val="b"/>
      <c:layout>
        <c:manualLayout>
          <c:xMode val="edge"/>
          <c:yMode val="edge"/>
          <c:x val="0"/>
          <c:y val="0.77196428098854863"/>
          <c:w val="1"/>
          <c:h val="0.22803571901145139"/>
        </c:manualLayout>
      </c:layout>
      <c:overlay val="0"/>
      <c:spPr>
        <a:noFill/>
        <a:ln>
          <a:noFill/>
        </a:ln>
        <a:effectLst/>
      </c:spPr>
      <c:txPr>
        <a:bodyPr rot="0" spcFirstLastPara="1" vertOverflow="ellipsis" vert="horz" wrap="square" anchor="ctr" anchorCtr="1"/>
        <a:lstStyle/>
        <a:p>
          <a:pPr>
            <a:defRPr sz="105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050">
          <a:solidFill>
            <a:sysClr val="windowText" lastClr="000000"/>
          </a:solidFill>
        </a:defRPr>
      </a:pPr>
      <a:endParaRPr lang="en-US"/>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r>
              <a:rPr lang="en-US"/>
              <a:t>Projected Poverty (below $5.5/day)</a:t>
            </a:r>
          </a:p>
        </c:rich>
      </c:tx>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1"/>
          <c:order val="0"/>
          <c:tx>
            <c:strRef>
              <c:f>'MNA Number of Poor MPO SM2021'!$B$2</c:f>
              <c:strCache>
                <c:ptCount val="1"/>
                <c:pt idx="0">
                  <c:v>Without Covid Crisis</c:v>
                </c:pt>
              </c:strCache>
            </c:strRef>
          </c:tx>
          <c:spPr>
            <a:ln w="25400" cap="rnd">
              <a:solidFill>
                <a:schemeClr val="tx2"/>
              </a:solidFill>
              <a:round/>
            </a:ln>
            <a:effectLst/>
          </c:spPr>
          <c:marker>
            <c:symbol val="none"/>
          </c:marker>
          <c:dLbls>
            <c:dLbl>
              <c:idx val="2"/>
              <c:layout>
                <c:manualLayout>
                  <c:x val="-7.7881619937694704E-3"/>
                  <c:y val="-3.728155795814484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FEC-478C-9269-649AA0538A1E}"/>
                </c:ext>
              </c:extLst>
            </c:dLbl>
            <c:numFmt formatCode="#,##0.0" sourceLinked="0"/>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'MNA Number of Poor MPO SM2021'!$A$14:$A$16</c:f>
              <c:numCache>
                <c:formatCode>0</c:formatCode>
                <c:ptCount val="3"/>
                <c:pt idx="0">
                  <c:v>2019</c:v>
                </c:pt>
                <c:pt idx="1">
                  <c:v>2020</c:v>
                </c:pt>
                <c:pt idx="2">
                  <c:v>2021</c:v>
                </c:pt>
              </c:numCache>
            </c:numRef>
          </c:cat>
          <c:val>
            <c:numRef>
              <c:f>'MNA Number of Poor MPO SM2021'!$B$14:$B$16</c:f>
              <c:numCache>
                <c:formatCode>0</c:formatCode>
                <c:ptCount val="3"/>
                <c:pt idx="0">
                  <c:v>176</c:v>
                </c:pt>
                <c:pt idx="1">
                  <c:v>177.05680000000001</c:v>
                </c:pt>
                <c:pt idx="2">
                  <c:v>177.77209999999999</c:v>
                </c:pt>
              </c:numCache>
            </c:numRef>
          </c:val>
          <c:smooth val="0"/>
          <c:extLst>
            <c:ext xmlns:c16="http://schemas.microsoft.com/office/drawing/2014/chart" uri="{C3380CC4-5D6E-409C-BE32-E72D297353CC}">
              <c16:uniqueId val="{00000001-4283-4B1E-B7E2-8C24C3A405BD}"/>
            </c:ext>
          </c:extLst>
        </c:ser>
        <c:ser>
          <c:idx val="2"/>
          <c:order val="1"/>
          <c:tx>
            <c:strRef>
              <c:f>'MNA Number of Poor MPO SM2021'!$C$2</c:f>
              <c:strCache>
                <c:ptCount val="1"/>
                <c:pt idx="0">
                  <c:v>Apr-21</c:v>
                </c:pt>
              </c:strCache>
            </c:strRef>
          </c:tx>
          <c:spPr>
            <a:ln w="28575" cap="rnd">
              <a:solidFill>
                <a:srgbClr val="FF0000"/>
              </a:solidFill>
              <a:round/>
            </a:ln>
            <a:effectLst/>
          </c:spPr>
          <c:marker>
            <c:symbol val="none"/>
          </c:marker>
          <c:dLbls>
            <c:dLbl>
              <c:idx val="2"/>
              <c:layout>
                <c:manualLayout>
                  <c:x val="0"/>
                  <c:y val="5.126214219244916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FEC-478C-9269-649AA0538A1E}"/>
                </c:ext>
              </c:extLst>
            </c:dLbl>
            <c:numFmt formatCode="#,##0.0" sourceLinked="0"/>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'MNA Number of Poor MPO SM2021'!$A$14:$A$16</c:f>
              <c:numCache>
                <c:formatCode>0</c:formatCode>
                <c:ptCount val="3"/>
                <c:pt idx="0">
                  <c:v>2019</c:v>
                </c:pt>
                <c:pt idx="1">
                  <c:v>2020</c:v>
                </c:pt>
                <c:pt idx="2">
                  <c:v>2021</c:v>
                </c:pt>
              </c:numCache>
            </c:numRef>
          </c:cat>
          <c:val>
            <c:numRef>
              <c:f>'MNA Number of Poor MPO SM2021'!$C$14:$C$16</c:f>
              <c:numCache>
                <c:formatCode>0</c:formatCode>
                <c:ptCount val="3"/>
                <c:pt idx="0">
                  <c:v>176</c:v>
                </c:pt>
                <c:pt idx="1">
                  <c:v>189.38800000000001</c:v>
                </c:pt>
                <c:pt idx="2">
                  <c:v>192</c:v>
                </c:pt>
              </c:numCache>
            </c:numRef>
          </c:val>
          <c:smooth val="0"/>
          <c:extLst>
            <c:ext xmlns:c16="http://schemas.microsoft.com/office/drawing/2014/chart" uri="{C3380CC4-5D6E-409C-BE32-E72D297353CC}">
              <c16:uniqueId val="{00000003-4283-4B1E-B7E2-8C24C3A405BD}"/>
            </c:ext>
          </c:extLst>
        </c:ser>
        <c:dLbls>
          <c:showLegendKey val="0"/>
          <c:showVal val="0"/>
          <c:showCatName val="0"/>
          <c:showSerName val="0"/>
          <c:showPercent val="0"/>
          <c:showBubbleSize val="0"/>
        </c:dLbls>
        <c:smooth val="0"/>
        <c:axId val="2073196911"/>
        <c:axId val="2084462927"/>
      </c:lineChart>
      <c:catAx>
        <c:axId val="2073196911"/>
        <c:scaling>
          <c:orientation val="minMax"/>
        </c:scaling>
        <c:delete val="0"/>
        <c:axPos val="b"/>
        <c:numFmt formatCode="0"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2084462927"/>
        <c:crosses val="autoZero"/>
        <c:auto val="1"/>
        <c:lblAlgn val="ctr"/>
        <c:lblOffset val="100"/>
        <c:noMultiLvlLbl val="0"/>
      </c:catAx>
      <c:valAx>
        <c:axId val="2084462927"/>
        <c:scaling>
          <c:orientation val="minMax"/>
          <c:max val="200"/>
          <c:min val="17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a:t>Number of poor people</a:t>
                </a:r>
              </a:p>
              <a:p>
                <a:pPr>
                  <a:defRPr/>
                </a:pPr>
                <a:r>
                  <a:rPr lang="en-US"/>
                  <a:t> (millions) </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2073196911"/>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pPr>
      <a:endParaRPr lang="en-US"/>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2716668973258148E-2"/>
          <c:y val="4.858627550588434E-2"/>
          <c:w val="0.88837722506045158"/>
          <c:h val="0.7594238911090887"/>
        </c:manualLayout>
      </c:layout>
      <c:barChart>
        <c:barDir val="col"/>
        <c:grouping val="clustered"/>
        <c:varyColors val="0"/>
        <c:ser>
          <c:idx val="0"/>
          <c:order val="0"/>
          <c:tx>
            <c:strRef>
              <c:f>'Updated chart'!$C$4</c:f>
              <c:strCache>
                <c:ptCount val="1"/>
                <c:pt idx="0">
                  <c:v>MENA</c:v>
                </c:pt>
              </c:strCache>
            </c:strRef>
          </c:tx>
          <c:spPr>
            <a:solidFill>
              <a:schemeClr val="accent1"/>
            </a:solidFill>
            <a:ln>
              <a:noFill/>
            </a:ln>
            <a:effectLst/>
          </c:spPr>
          <c:invertIfNegative val="0"/>
          <c:dPt>
            <c:idx val="2"/>
            <c:invertIfNegative val="0"/>
            <c:bubble3D val="0"/>
            <c:spPr>
              <a:solidFill>
                <a:schemeClr val="accent1"/>
              </a:solidFill>
              <a:ln w="22225">
                <a:solidFill>
                  <a:srgbClr val="FF0000"/>
                </a:solidFill>
              </a:ln>
              <a:effectLst/>
            </c:spPr>
            <c:extLst>
              <c:ext xmlns:c16="http://schemas.microsoft.com/office/drawing/2014/chart" uri="{C3380CC4-5D6E-409C-BE32-E72D297353CC}">
                <c16:uniqueId val="{00000001-F870-4F4B-BA66-43254CD5C9D7}"/>
              </c:ext>
            </c:extLst>
          </c:dPt>
          <c:dPt>
            <c:idx val="5"/>
            <c:invertIfNegative val="0"/>
            <c:bubble3D val="0"/>
            <c:spPr>
              <a:solidFill>
                <a:schemeClr val="accent1"/>
              </a:solidFill>
              <a:ln w="19050">
                <a:solidFill>
                  <a:srgbClr val="FF0000"/>
                </a:solidFill>
              </a:ln>
              <a:effectLst/>
            </c:spPr>
            <c:extLst>
              <c:ext xmlns:c16="http://schemas.microsoft.com/office/drawing/2014/chart" uri="{C3380CC4-5D6E-409C-BE32-E72D297353CC}">
                <c16:uniqueId val="{00000000-F870-4F4B-BA66-43254CD5C9D7}"/>
              </c:ext>
            </c:extLst>
          </c:dPt>
          <c:cat>
            <c:multiLvlStrRef>
              <c:f>'Updated chart'!$A$5:$B$10</c:f>
              <c:multiLvlStrCache>
                <c:ptCount val="6"/>
                <c:lvl>
                  <c:pt idx="0">
                    <c:v>High income</c:v>
                  </c:pt>
                  <c:pt idx="1">
                    <c:v>Middle-income oil exporters</c:v>
                  </c:pt>
                  <c:pt idx="2">
                    <c:v>Middle-income oil importers</c:v>
                  </c:pt>
                  <c:pt idx="3">
                    <c:v>High income</c:v>
                  </c:pt>
                  <c:pt idx="4">
                    <c:v>Middle-income oil exporters</c:v>
                  </c:pt>
                  <c:pt idx="5">
                    <c:v>Middle-income oil importers</c:v>
                  </c:pt>
                </c:lvl>
                <c:lvl>
                  <c:pt idx="0">
                    <c:v>2019</c:v>
                  </c:pt>
                  <c:pt idx="3">
                    <c:v>2020</c:v>
                  </c:pt>
                </c:lvl>
              </c:multiLvlStrCache>
            </c:multiLvlStrRef>
          </c:cat>
          <c:val>
            <c:numRef>
              <c:f>'Updated chart'!$C$5:$C$10</c:f>
              <c:numCache>
                <c:formatCode>0.0</c:formatCode>
                <c:ptCount val="6"/>
                <c:pt idx="0">
                  <c:v>40.064999999999998</c:v>
                </c:pt>
                <c:pt idx="1">
                  <c:v>48.02</c:v>
                </c:pt>
                <c:pt idx="2">
                  <c:v>71.790000000000006</c:v>
                </c:pt>
                <c:pt idx="3">
                  <c:v>48.435000000000002</c:v>
                </c:pt>
                <c:pt idx="4">
                  <c:v>68.275000000000006</c:v>
                </c:pt>
                <c:pt idx="5">
                  <c:v>87.17</c:v>
                </c:pt>
              </c:numCache>
            </c:numRef>
          </c:val>
          <c:extLst>
            <c:ext xmlns:c16="http://schemas.microsoft.com/office/drawing/2014/chart" uri="{C3380CC4-5D6E-409C-BE32-E72D297353CC}">
              <c16:uniqueId val="{00000000-35F5-43DC-9A95-3E399FCEB07A}"/>
            </c:ext>
          </c:extLst>
        </c:ser>
        <c:dLbls>
          <c:showLegendKey val="0"/>
          <c:showVal val="0"/>
          <c:showCatName val="0"/>
          <c:showSerName val="0"/>
          <c:showPercent val="0"/>
          <c:showBubbleSize val="0"/>
        </c:dLbls>
        <c:gapWidth val="219"/>
        <c:overlap val="-27"/>
        <c:axId val="1607758176"/>
        <c:axId val="1050194784"/>
      </c:barChart>
      <c:lineChart>
        <c:grouping val="stacked"/>
        <c:varyColors val="0"/>
        <c:ser>
          <c:idx val="1"/>
          <c:order val="1"/>
          <c:tx>
            <c:strRef>
              <c:f>'Updated chart'!$D$4</c:f>
              <c:strCache>
                <c:ptCount val="1"/>
                <c:pt idx="0">
                  <c:v>World</c:v>
                </c:pt>
              </c:strCache>
            </c:strRef>
          </c:tx>
          <c:spPr>
            <a:ln w="28575" cap="rnd">
              <a:noFill/>
              <a:round/>
            </a:ln>
            <a:effectLst/>
          </c:spPr>
          <c:marker>
            <c:symbol val="diamond"/>
            <c:size val="10"/>
            <c:spPr>
              <a:solidFill>
                <a:srgbClr val="FFC000"/>
              </a:solidFill>
              <a:ln w="9525">
                <a:noFill/>
              </a:ln>
              <a:effectLst/>
            </c:spPr>
          </c:marker>
          <c:cat>
            <c:multiLvlStrRef>
              <c:f>'Updated chart'!$A$5:$B$10</c:f>
              <c:multiLvlStrCache>
                <c:ptCount val="6"/>
                <c:lvl>
                  <c:pt idx="0">
                    <c:v>High income</c:v>
                  </c:pt>
                  <c:pt idx="1">
                    <c:v>Middle-income oil exporters</c:v>
                  </c:pt>
                  <c:pt idx="2">
                    <c:v>Middle-income oil importers</c:v>
                  </c:pt>
                  <c:pt idx="3">
                    <c:v>High income</c:v>
                  </c:pt>
                  <c:pt idx="4">
                    <c:v>Middle-income oil exporters</c:v>
                  </c:pt>
                  <c:pt idx="5">
                    <c:v>Middle-income oil importers</c:v>
                  </c:pt>
                </c:lvl>
                <c:lvl>
                  <c:pt idx="0">
                    <c:v>2019</c:v>
                  </c:pt>
                  <c:pt idx="3">
                    <c:v>2020</c:v>
                  </c:pt>
                </c:lvl>
              </c:multiLvlStrCache>
            </c:multiLvlStrRef>
          </c:cat>
          <c:val>
            <c:numRef>
              <c:f>'Updated chart'!$D$5:$D$10</c:f>
              <c:numCache>
                <c:formatCode>0.0</c:formatCode>
                <c:ptCount val="6"/>
                <c:pt idx="0">
                  <c:v>56.88</c:v>
                </c:pt>
                <c:pt idx="1">
                  <c:v>51.5</c:v>
                </c:pt>
                <c:pt idx="2">
                  <c:v>51.5</c:v>
                </c:pt>
                <c:pt idx="3">
                  <c:v>65.34</c:v>
                </c:pt>
                <c:pt idx="4">
                  <c:v>64.94</c:v>
                </c:pt>
                <c:pt idx="5">
                  <c:v>64.94</c:v>
                </c:pt>
              </c:numCache>
            </c:numRef>
          </c:val>
          <c:smooth val="0"/>
          <c:extLst>
            <c:ext xmlns:c16="http://schemas.microsoft.com/office/drawing/2014/chart" uri="{C3380CC4-5D6E-409C-BE32-E72D297353CC}">
              <c16:uniqueId val="{00000001-35F5-43DC-9A95-3E399FCEB07A}"/>
            </c:ext>
          </c:extLst>
        </c:ser>
        <c:dLbls>
          <c:showLegendKey val="0"/>
          <c:showVal val="0"/>
          <c:showCatName val="0"/>
          <c:showSerName val="0"/>
          <c:showPercent val="0"/>
          <c:showBubbleSize val="0"/>
        </c:dLbls>
        <c:marker val="1"/>
        <c:smooth val="0"/>
        <c:axId val="1607758176"/>
        <c:axId val="1050194784"/>
      </c:lineChart>
      <c:catAx>
        <c:axId val="16077581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US"/>
          </a:p>
        </c:txPr>
        <c:crossAx val="1050194784"/>
        <c:crosses val="autoZero"/>
        <c:auto val="1"/>
        <c:lblAlgn val="ctr"/>
        <c:lblOffset val="100"/>
        <c:noMultiLvlLbl val="0"/>
      </c:catAx>
      <c:valAx>
        <c:axId val="1050194784"/>
        <c:scaling>
          <c:orientation val="minMax"/>
          <c:max val="90"/>
          <c:min val="3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r>
                  <a:rPr lang="en-US"/>
                  <a:t>percent of GDP</a:t>
                </a:r>
              </a:p>
            </c:rich>
          </c:tx>
          <c:overlay val="0"/>
          <c:spPr>
            <a:noFill/>
            <a:ln>
              <a:noFill/>
            </a:ln>
            <a:effectLst/>
          </c:spPr>
          <c:txPr>
            <a:bodyPr rot="-54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US"/>
          </a:p>
        </c:txPr>
        <c:crossAx val="1607758176"/>
        <c:crosses val="autoZero"/>
        <c:crossBetween val="between"/>
        <c:majorUnit val="10"/>
      </c:valAx>
      <c:spPr>
        <a:noFill/>
        <a:ln>
          <a:noFill/>
        </a:ln>
        <a:effectLst/>
      </c:spPr>
    </c:plotArea>
    <c:legend>
      <c:legendPos val="b"/>
      <c:layout>
        <c:manualLayout>
          <c:xMode val="edge"/>
          <c:yMode val="edge"/>
          <c:x val="0.42397564764738338"/>
          <c:y val="9.0603039539412414E-2"/>
          <c:w val="0.19802725247870306"/>
          <c:h val="5.1870078740157477E-2"/>
        </c:manualLayout>
      </c:layout>
      <c:overlay val="0"/>
      <c:spPr>
        <a:noFill/>
        <a:ln>
          <a:noFill/>
        </a:ln>
        <a:effectLst/>
      </c:spPr>
      <c:txPr>
        <a:bodyPr rot="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100">
          <a:solidFill>
            <a:sysClr val="windowText" lastClr="000000"/>
          </a:solidFill>
        </a:defRPr>
      </a:pPr>
      <a:endParaRPr lang="en-US"/>
    </a:p>
  </c:txPr>
  <c:externalData r:id="rId3">
    <c:autoUpdate val="0"/>
  </c:externalData>
  <c:userShapes r:id="rId4"/>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Public debt growth, annual %</c:v>
          </c:tx>
          <c:spPr>
            <a:ln w="38100" cap="rnd">
              <a:solidFill>
                <a:schemeClr val="accent1"/>
              </a:solidFill>
              <a:round/>
            </a:ln>
            <a:effectLst/>
          </c:spPr>
          <c:marker>
            <c:symbol val="none"/>
          </c:marker>
          <c:cat>
            <c:strRef>
              <c:f>'Debt and growth around ND'!$A$6:$A$12</c:f>
              <c:strCache>
                <c:ptCount val="7"/>
                <c:pt idx="0">
                  <c:v>-3</c:v>
                </c:pt>
                <c:pt idx="1">
                  <c:v>-2</c:v>
                </c:pt>
                <c:pt idx="2">
                  <c:v>-1</c:v>
                </c:pt>
                <c:pt idx="3">
                  <c:v>t=0</c:v>
                </c:pt>
                <c:pt idx="4">
                  <c:v>1</c:v>
                </c:pt>
                <c:pt idx="5">
                  <c:v>2</c:v>
                </c:pt>
                <c:pt idx="6">
                  <c:v>3</c:v>
                </c:pt>
              </c:strCache>
            </c:strRef>
          </c:cat>
          <c:val>
            <c:numRef>
              <c:f>'Debt and growth around ND'!$B$6:$B$12</c:f>
              <c:numCache>
                <c:formatCode>General</c:formatCode>
                <c:ptCount val="7"/>
                <c:pt idx="0">
                  <c:v>1.5039039999999999</c:v>
                </c:pt>
                <c:pt idx="1">
                  <c:v>1.5404850000000001</c:v>
                </c:pt>
                <c:pt idx="2">
                  <c:v>-9.6194500000000002E-2</c:v>
                </c:pt>
                <c:pt idx="3">
                  <c:v>2.1170059999999999</c:v>
                </c:pt>
                <c:pt idx="4">
                  <c:v>2.8611559999999998</c:v>
                </c:pt>
                <c:pt idx="5">
                  <c:v>2.1736270000000002</c:v>
                </c:pt>
                <c:pt idx="6">
                  <c:v>3.0054970000000001</c:v>
                </c:pt>
              </c:numCache>
            </c:numRef>
          </c:val>
          <c:smooth val="0"/>
          <c:extLst>
            <c:ext xmlns:c16="http://schemas.microsoft.com/office/drawing/2014/chart" uri="{C3380CC4-5D6E-409C-BE32-E72D297353CC}">
              <c16:uniqueId val="{00000000-8BCE-4A79-9946-A1127268D8C2}"/>
            </c:ext>
          </c:extLst>
        </c:ser>
        <c:dLbls>
          <c:showLegendKey val="0"/>
          <c:showVal val="0"/>
          <c:showCatName val="0"/>
          <c:showSerName val="0"/>
          <c:showPercent val="0"/>
          <c:showBubbleSize val="0"/>
        </c:dLbls>
        <c:marker val="1"/>
        <c:smooth val="0"/>
        <c:axId val="1709305471"/>
        <c:axId val="1709473311"/>
      </c:lineChart>
      <c:lineChart>
        <c:grouping val="standard"/>
        <c:varyColors val="0"/>
        <c:ser>
          <c:idx val="1"/>
          <c:order val="1"/>
          <c:tx>
            <c:v>GDP growth, annual % (RHS)</c:v>
          </c:tx>
          <c:spPr>
            <a:ln w="38100" cap="rnd">
              <a:solidFill>
                <a:schemeClr val="accent2"/>
              </a:solidFill>
              <a:round/>
            </a:ln>
            <a:effectLst/>
          </c:spPr>
          <c:marker>
            <c:symbol val="none"/>
          </c:marker>
          <c:val>
            <c:numRef>
              <c:f>'Debt and growth around ND'!$K$6:$K$12</c:f>
              <c:numCache>
                <c:formatCode>General</c:formatCode>
                <c:ptCount val="7"/>
                <c:pt idx="0">
                  <c:v>0.34509000000000001</c:v>
                </c:pt>
                <c:pt idx="1">
                  <c:v>-0.46748010000000001</c:v>
                </c:pt>
                <c:pt idx="2">
                  <c:v>5.9531800000000003E-2</c:v>
                </c:pt>
                <c:pt idx="3">
                  <c:v>-1.2658739999999999</c:v>
                </c:pt>
                <c:pt idx="4">
                  <c:v>0.8953776</c:v>
                </c:pt>
                <c:pt idx="5">
                  <c:v>0.83357159999999997</c:v>
                </c:pt>
                <c:pt idx="6">
                  <c:v>0.38140819999999998</c:v>
                </c:pt>
              </c:numCache>
            </c:numRef>
          </c:val>
          <c:smooth val="0"/>
          <c:extLst>
            <c:ext xmlns:c16="http://schemas.microsoft.com/office/drawing/2014/chart" uri="{C3380CC4-5D6E-409C-BE32-E72D297353CC}">
              <c16:uniqueId val="{00000001-8BCE-4A79-9946-A1127268D8C2}"/>
            </c:ext>
          </c:extLst>
        </c:ser>
        <c:dLbls>
          <c:showLegendKey val="0"/>
          <c:showVal val="0"/>
          <c:showCatName val="0"/>
          <c:showSerName val="0"/>
          <c:showPercent val="0"/>
          <c:showBubbleSize val="0"/>
        </c:dLbls>
        <c:marker val="1"/>
        <c:smooth val="0"/>
        <c:axId val="1739304079"/>
        <c:axId val="1738977855"/>
      </c:lineChart>
      <c:catAx>
        <c:axId val="1709305471"/>
        <c:scaling>
          <c:orientation val="minMax"/>
        </c:scaling>
        <c:delete val="0"/>
        <c:axPos val="b"/>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a:t>Timeline around</a:t>
                </a:r>
                <a:r>
                  <a:rPr lang="en-US" sz="1400" baseline="0"/>
                  <a:t> a large natural disaster, years</a:t>
                </a:r>
                <a:endParaRPr lang="en-US" sz="1400"/>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cross"/>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709473311"/>
        <c:crosses val="autoZero"/>
        <c:auto val="1"/>
        <c:lblAlgn val="ctr"/>
        <c:lblOffset val="100"/>
        <c:noMultiLvlLbl val="0"/>
      </c:catAx>
      <c:valAx>
        <c:axId val="1709473311"/>
        <c:scaling>
          <c:orientation val="minMax"/>
          <c:max val="4"/>
          <c:min val="-2"/>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a:t>Public debt growth, annual %</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709305471"/>
        <c:crossesAt val="1"/>
        <c:crossBetween val="between"/>
      </c:valAx>
      <c:valAx>
        <c:axId val="1738977855"/>
        <c:scaling>
          <c:orientation val="minMax"/>
          <c:max val="4"/>
          <c:min val="-2"/>
        </c:scaling>
        <c:delete val="0"/>
        <c:axPos val="r"/>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a:t>GDP growth, annual %</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739304079"/>
        <c:crosses val="max"/>
        <c:crossBetween val="between"/>
        <c:majorUnit val="1"/>
      </c:valAx>
      <c:catAx>
        <c:axId val="1739304079"/>
        <c:scaling>
          <c:orientation val="minMax"/>
        </c:scaling>
        <c:delete val="1"/>
        <c:axPos val="b"/>
        <c:majorTickMark val="none"/>
        <c:minorTickMark val="none"/>
        <c:tickLblPos val="nextTo"/>
        <c:crossAx val="1738977855"/>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pPr>
      <a:endParaRPr lang="en-US"/>
    </a:p>
  </c:txPr>
  <c:externalData r:id="rId3">
    <c:autoUpdate val="0"/>
  </c:externalData>
  <c:userShapes r:id="rId4"/>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7386046874330844E-2"/>
          <c:y val="0.1030504196755347"/>
          <c:w val="0.9171607069692761"/>
          <c:h val="0.5904744701514798"/>
        </c:manualLayout>
      </c:layout>
      <c:barChart>
        <c:barDir val="col"/>
        <c:grouping val="clustered"/>
        <c:varyColors val="0"/>
        <c:ser>
          <c:idx val="0"/>
          <c:order val="0"/>
          <c:spPr>
            <a:solidFill>
              <a:schemeClr val="accent1"/>
            </a:solidFill>
            <a:ln>
              <a:noFill/>
            </a:ln>
            <a:effectLst/>
          </c:spPr>
          <c:invertIfNegative val="0"/>
          <c:dPt>
            <c:idx val="2"/>
            <c:invertIfNegative val="0"/>
            <c:bubble3D val="0"/>
            <c:spPr>
              <a:solidFill>
                <a:srgbClr val="ED7D31"/>
              </a:solidFill>
              <a:ln>
                <a:noFill/>
              </a:ln>
              <a:effectLst/>
            </c:spPr>
            <c:extLst>
              <c:ext xmlns:c16="http://schemas.microsoft.com/office/drawing/2014/chart" uri="{C3380CC4-5D6E-409C-BE32-E72D297353CC}">
                <c16:uniqueId val="{00000001-21AD-4551-83AD-A1F56CC8E8AA}"/>
              </c:ext>
            </c:extLst>
          </c:dPt>
          <c:dPt>
            <c:idx val="3"/>
            <c:invertIfNegative val="0"/>
            <c:bubble3D val="0"/>
            <c:spPr>
              <a:solidFill>
                <a:srgbClr val="ED7D31"/>
              </a:solidFill>
              <a:ln>
                <a:noFill/>
              </a:ln>
              <a:effectLst/>
            </c:spPr>
            <c:extLst>
              <c:ext xmlns:c16="http://schemas.microsoft.com/office/drawing/2014/chart" uri="{C3380CC4-5D6E-409C-BE32-E72D297353CC}">
                <c16:uniqueId val="{00000003-21AD-4551-83AD-A1F56CC8E8AA}"/>
              </c:ext>
            </c:extLst>
          </c:dPt>
          <c:dPt>
            <c:idx val="4"/>
            <c:invertIfNegative val="0"/>
            <c:bubble3D val="0"/>
            <c:spPr>
              <a:solidFill>
                <a:srgbClr val="C00000"/>
              </a:solidFill>
              <a:ln>
                <a:noFill/>
              </a:ln>
              <a:effectLst/>
            </c:spPr>
            <c:extLst>
              <c:ext xmlns:c16="http://schemas.microsoft.com/office/drawing/2014/chart" uri="{C3380CC4-5D6E-409C-BE32-E72D297353CC}">
                <c16:uniqueId val="{00000005-21AD-4551-83AD-A1F56CC8E8AA}"/>
              </c:ext>
            </c:extLst>
          </c:dPt>
          <c:cat>
            <c:strRef>
              <c:f>GDP_WGI_restructuring_MENA_MEAN!$A$18:$A$22</c:f>
              <c:strCache>
                <c:ptCount val="5"/>
                <c:pt idx="0">
                  <c:v>Countries that defaulted minus the control group</c:v>
                </c:pt>
                <c:pt idx="1">
                  <c:v>Countries that preemptively restructured minus the countrol group</c:v>
                </c:pt>
                <c:pt idx="2">
                  <c:v>MENA middle income minus the control group</c:v>
                </c:pt>
                <c:pt idx="3">
                  <c:v>MENA middle-income oil importers minus the control group</c:v>
                </c:pt>
                <c:pt idx="4">
                  <c:v>Lebanon minus the control group</c:v>
                </c:pt>
              </c:strCache>
            </c:strRef>
          </c:cat>
          <c:val>
            <c:numRef>
              <c:f>GDP_WGI_restructuring_MENA_MEAN!$B$18:$B$22</c:f>
              <c:numCache>
                <c:formatCode>General</c:formatCode>
                <c:ptCount val="5"/>
                <c:pt idx="0">
                  <c:v>-2.2000000000000002</c:v>
                </c:pt>
                <c:pt idx="1">
                  <c:v>-2.8</c:v>
                </c:pt>
                <c:pt idx="2" formatCode="0.0">
                  <c:v>-1.1000000000000001</c:v>
                </c:pt>
                <c:pt idx="3" formatCode="0.0">
                  <c:v>-0.89999999999999991</c:v>
                </c:pt>
                <c:pt idx="4" formatCode="0.0">
                  <c:v>-4.53</c:v>
                </c:pt>
              </c:numCache>
            </c:numRef>
          </c:val>
          <c:extLst>
            <c:ext xmlns:c16="http://schemas.microsoft.com/office/drawing/2014/chart" uri="{C3380CC4-5D6E-409C-BE32-E72D297353CC}">
              <c16:uniqueId val="{00000006-21AD-4551-83AD-A1F56CC8E8AA}"/>
            </c:ext>
          </c:extLst>
        </c:ser>
        <c:dLbls>
          <c:showLegendKey val="0"/>
          <c:showVal val="0"/>
          <c:showCatName val="0"/>
          <c:showSerName val="0"/>
          <c:showPercent val="0"/>
          <c:showBubbleSize val="0"/>
        </c:dLbls>
        <c:gapWidth val="219"/>
        <c:overlap val="-27"/>
        <c:axId val="1760812415"/>
        <c:axId val="1628521007"/>
      </c:barChart>
      <c:catAx>
        <c:axId val="1760812415"/>
        <c:scaling>
          <c:orientation val="minMax"/>
        </c:scaling>
        <c:delete val="0"/>
        <c:axPos val="b"/>
        <c:numFmt formatCode="General"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1050" b="0" i="0" u="none" strike="noStrike" kern="1200" baseline="0">
                <a:solidFill>
                  <a:sysClr val="windowText" lastClr="000000"/>
                </a:solidFill>
                <a:latin typeface="+mn-lt"/>
                <a:ea typeface="+mn-ea"/>
                <a:cs typeface="+mn-cs"/>
              </a:defRPr>
            </a:pPr>
            <a:endParaRPr lang="en-US"/>
          </a:p>
        </c:txPr>
        <c:crossAx val="1628521007"/>
        <c:crosses val="autoZero"/>
        <c:auto val="1"/>
        <c:lblAlgn val="ctr"/>
        <c:lblOffset val="100"/>
        <c:noMultiLvlLbl val="0"/>
      </c:catAx>
      <c:valAx>
        <c:axId val="16285210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US"/>
          </a:p>
        </c:txPr>
        <c:crossAx val="1760812415"/>
        <c:crosses val="autoZero"/>
        <c:crossBetween val="between"/>
        <c:majorUnit val="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100">
          <a:solidFill>
            <a:sysClr val="windowText" lastClr="000000"/>
          </a:solidFill>
        </a:defRPr>
      </a:pPr>
      <a:endParaRPr lang="en-US"/>
    </a:p>
  </c:txPr>
  <c:externalData r:id="rId3">
    <c:autoUpdate val="0"/>
  </c:externalData>
  <c:userShapes r:id="rId4"/>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937318324869835"/>
          <c:y val="9.4976903629199125E-2"/>
          <c:w val="0.8028636683326662"/>
          <c:h val="0.66176821711719025"/>
        </c:manualLayout>
      </c:layout>
      <c:barChart>
        <c:barDir val="col"/>
        <c:grouping val="clustered"/>
        <c:varyColors val="0"/>
        <c:ser>
          <c:idx val="0"/>
          <c:order val="0"/>
          <c:spPr>
            <a:solidFill>
              <a:schemeClr val="accent1"/>
            </a:solidFill>
            <a:ln>
              <a:noFill/>
            </a:ln>
            <a:effectLst/>
          </c:spPr>
          <c:invertIfNegative val="0"/>
          <c:dPt>
            <c:idx val="2"/>
            <c:invertIfNegative val="0"/>
            <c:bubble3D val="0"/>
            <c:spPr>
              <a:solidFill>
                <a:srgbClr val="ED7D31"/>
              </a:solidFill>
              <a:ln>
                <a:noFill/>
              </a:ln>
              <a:effectLst/>
            </c:spPr>
            <c:extLst>
              <c:ext xmlns:c16="http://schemas.microsoft.com/office/drawing/2014/chart" uri="{C3380CC4-5D6E-409C-BE32-E72D297353CC}">
                <c16:uniqueId val="{00000001-3391-466D-A183-A0B1EC0BC0CB}"/>
              </c:ext>
            </c:extLst>
          </c:dPt>
          <c:dPt>
            <c:idx val="3"/>
            <c:invertIfNegative val="0"/>
            <c:bubble3D val="0"/>
            <c:spPr>
              <a:solidFill>
                <a:srgbClr val="ED7D31"/>
              </a:solidFill>
              <a:ln>
                <a:noFill/>
              </a:ln>
              <a:effectLst/>
            </c:spPr>
            <c:extLst>
              <c:ext xmlns:c16="http://schemas.microsoft.com/office/drawing/2014/chart" uri="{C3380CC4-5D6E-409C-BE32-E72D297353CC}">
                <c16:uniqueId val="{00000003-3391-466D-A183-A0B1EC0BC0CB}"/>
              </c:ext>
            </c:extLst>
          </c:dPt>
          <c:dPt>
            <c:idx val="4"/>
            <c:invertIfNegative val="0"/>
            <c:bubble3D val="0"/>
            <c:spPr>
              <a:solidFill>
                <a:srgbClr val="C00000"/>
              </a:solidFill>
              <a:ln>
                <a:noFill/>
              </a:ln>
              <a:effectLst/>
            </c:spPr>
            <c:extLst>
              <c:ext xmlns:c16="http://schemas.microsoft.com/office/drawing/2014/chart" uri="{C3380CC4-5D6E-409C-BE32-E72D297353CC}">
                <c16:uniqueId val="{00000005-3391-466D-A183-A0B1EC0BC0CB}"/>
              </c:ext>
            </c:extLst>
          </c:dPt>
          <c:cat>
            <c:strRef>
              <c:f>GDP_WGI_restructuring_MENA_MEAN!$A$18:$A$22</c:f>
              <c:strCache>
                <c:ptCount val="5"/>
                <c:pt idx="0">
                  <c:v>Countries that defaulted minus the control group</c:v>
                </c:pt>
                <c:pt idx="1">
                  <c:v>Countries that preemptively restructured minus the countrol group</c:v>
                </c:pt>
                <c:pt idx="2">
                  <c:v>MENA middle income minus the control group</c:v>
                </c:pt>
                <c:pt idx="3">
                  <c:v>MENA middle-income oil importers minus the control group</c:v>
                </c:pt>
                <c:pt idx="4">
                  <c:v>Lebanon minus the control group</c:v>
                </c:pt>
              </c:strCache>
            </c:strRef>
          </c:cat>
          <c:val>
            <c:numRef>
              <c:f>GDP_WGI_restructuring_MENA_MEAN!$E$18:$E$22</c:f>
              <c:numCache>
                <c:formatCode>General</c:formatCode>
                <c:ptCount val="5"/>
                <c:pt idx="0">
                  <c:v>-0.21000000000000002</c:v>
                </c:pt>
                <c:pt idx="1">
                  <c:v>-9.9999999999999978E-2</c:v>
                </c:pt>
                <c:pt idx="2" formatCode="0.00">
                  <c:v>-0.38999999999999996</c:v>
                </c:pt>
                <c:pt idx="3" formatCode="0.00">
                  <c:v>-4.9999999999999989E-2</c:v>
                </c:pt>
                <c:pt idx="4" formatCode="0.00">
                  <c:v>-0.23999999999999994</c:v>
                </c:pt>
              </c:numCache>
            </c:numRef>
          </c:val>
          <c:extLst>
            <c:ext xmlns:c16="http://schemas.microsoft.com/office/drawing/2014/chart" uri="{C3380CC4-5D6E-409C-BE32-E72D297353CC}">
              <c16:uniqueId val="{00000006-3391-466D-A183-A0B1EC0BC0CB}"/>
            </c:ext>
          </c:extLst>
        </c:ser>
        <c:dLbls>
          <c:showLegendKey val="0"/>
          <c:showVal val="0"/>
          <c:showCatName val="0"/>
          <c:showSerName val="0"/>
          <c:showPercent val="0"/>
          <c:showBubbleSize val="0"/>
        </c:dLbls>
        <c:gapWidth val="219"/>
        <c:overlap val="-27"/>
        <c:axId val="1760812415"/>
        <c:axId val="1628521007"/>
      </c:barChart>
      <c:catAx>
        <c:axId val="1760812415"/>
        <c:scaling>
          <c:orientation val="minMax"/>
        </c:scaling>
        <c:delete val="0"/>
        <c:axPos val="b"/>
        <c:numFmt formatCode="General"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US"/>
          </a:p>
        </c:txPr>
        <c:crossAx val="1628521007"/>
        <c:crosses val="autoZero"/>
        <c:auto val="1"/>
        <c:lblAlgn val="ctr"/>
        <c:lblOffset val="100"/>
        <c:noMultiLvlLbl val="0"/>
      </c:catAx>
      <c:valAx>
        <c:axId val="16285210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US"/>
          </a:p>
        </c:txPr>
        <c:crossAx val="1760812415"/>
        <c:crosses val="autoZero"/>
        <c:crossBetween val="between"/>
        <c:majorUnit val="0.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100">
          <a:solidFill>
            <a:sysClr val="windowText" lastClr="000000"/>
          </a:solidFill>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AF68A6-0B27-43CB-8248-7DE9D2A6B37F}"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92587851-84A6-4568-8B08-6D51B703929C}">
      <dgm:prSet/>
      <dgm:spPr/>
      <dgm:t>
        <a:bodyPr/>
        <a:lstStyle/>
        <a:p>
          <a:r>
            <a:rPr lang="en-US" dirty="0"/>
            <a:t>The Middle East and North Africa (MENA) region is </a:t>
          </a:r>
          <a:r>
            <a:rPr lang="en-US" u="none" dirty="0"/>
            <a:t>still in crisis</a:t>
          </a:r>
        </a:p>
      </dgm:t>
    </dgm:pt>
    <dgm:pt modelId="{158163CE-1CC2-4E07-91E1-F1E920181DA2}" type="parTrans" cxnId="{9CCD2E21-3DE8-471D-B56F-284DFA48EB27}">
      <dgm:prSet/>
      <dgm:spPr/>
      <dgm:t>
        <a:bodyPr/>
        <a:lstStyle/>
        <a:p>
          <a:endParaRPr lang="en-US"/>
        </a:p>
      </dgm:t>
    </dgm:pt>
    <dgm:pt modelId="{9AB93057-3B02-4624-A372-BABB57384CEE}" type="sibTrans" cxnId="{9CCD2E21-3DE8-471D-B56F-284DFA48EB27}">
      <dgm:prSet/>
      <dgm:spPr/>
      <dgm:t>
        <a:bodyPr/>
        <a:lstStyle/>
        <a:p>
          <a:endParaRPr lang="en-US"/>
        </a:p>
      </dgm:t>
    </dgm:pt>
    <dgm:pt modelId="{B566D669-E864-40BE-BBAD-6A9D3D2DABC6}">
      <dgm:prSet/>
      <dgm:spPr/>
      <dgm:t>
        <a:bodyPr/>
        <a:lstStyle/>
        <a:p>
          <a:r>
            <a:rPr lang="en-US" dirty="0"/>
            <a:t>MENA countries face a </a:t>
          </a:r>
          <a:r>
            <a:rPr lang="en-US" u="none" dirty="0"/>
            <a:t>balancing act</a:t>
          </a:r>
          <a:r>
            <a:rPr lang="en-US" u="sng" dirty="0"/>
            <a:t> </a:t>
          </a:r>
          <a:r>
            <a:rPr lang="en-US" dirty="0"/>
            <a:t>between short-term needs and long-run risks of public debt</a:t>
          </a:r>
        </a:p>
      </dgm:t>
    </dgm:pt>
    <dgm:pt modelId="{04DEE1FA-25C0-4979-8FD8-C981B3D6CC74}" type="parTrans" cxnId="{4609355E-DCFD-431F-8CC1-FB31EAE75BC0}">
      <dgm:prSet/>
      <dgm:spPr/>
      <dgm:t>
        <a:bodyPr/>
        <a:lstStyle/>
        <a:p>
          <a:endParaRPr lang="en-US"/>
        </a:p>
      </dgm:t>
    </dgm:pt>
    <dgm:pt modelId="{E346FFF0-7AF4-4E4F-B340-091D5C363448}" type="sibTrans" cxnId="{4609355E-DCFD-431F-8CC1-FB31EAE75BC0}">
      <dgm:prSet/>
      <dgm:spPr/>
      <dgm:t>
        <a:bodyPr/>
        <a:lstStyle/>
        <a:p>
          <a:endParaRPr lang="en-US"/>
        </a:p>
      </dgm:t>
    </dgm:pt>
    <dgm:pt modelId="{800BF91D-A7D3-4C12-8ABB-CE46794FE386}">
      <dgm:prSet/>
      <dgm:spPr/>
      <dgm:t>
        <a:bodyPr/>
        <a:lstStyle/>
        <a:p>
          <a:r>
            <a:rPr lang="en-US" u="none" dirty="0"/>
            <a:t>Tough choices: </a:t>
          </a:r>
          <a:r>
            <a:rPr lang="en-US" dirty="0"/>
            <a:t>public expenditure priorities depend on the phase of the recovery</a:t>
          </a:r>
        </a:p>
      </dgm:t>
    </dgm:pt>
    <dgm:pt modelId="{DFF8B1CE-E8A4-4B0B-A8FF-C245E725248B}" type="parTrans" cxnId="{58091BB7-55F8-4752-ADD2-31F552EED30F}">
      <dgm:prSet/>
      <dgm:spPr/>
      <dgm:t>
        <a:bodyPr/>
        <a:lstStyle/>
        <a:p>
          <a:endParaRPr lang="en-US"/>
        </a:p>
      </dgm:t>
    </dgm:pt>
    <dgm:pt modelId="{9F80A130-9DA6-4E99-A4DC-FDE934631737}" type="sibTrans" cxnId="{58091BB7-55F8-4752-ADD2-31F552EED30F}">
      <dgm:prSet/>
      <dgm:spPr/>
      <dgm:t>
        <a:bodyPr/>
        <a:lstStyle/>
        <a:p>
          <a:endParaRPr lang="en-US"/>
        </a:p>
      </dgm:t>
    </dgm:pt>
    <dgm:pt modelId="{BA17275F-FFF3-42A7-91C5-A224E05D7148}">
      <dgm:prSet/>
      <dgm:spPr/>
      <dgm:t>
        <a:bodyPr/>
        <a:lstStyle/>
        <a:p>
          <a:r>
            <a:rPr lang="en-US" u="none" dirty="0"/>
            <a:t>Sunlight can help! </a:t>
          </a:r>
          <a:r>
            <a:rPr lang="en-US" dirty="0"/>
            <a:t>Transparency can help chart a path to lasting recovery for MENA</a:t>
          </a:r>
        </a:p>
      </dgm:t>
    </dgm:pt>
    <dgm:pt modelId="{9BD5A230-AF43-43F2-AE0A-7DF6020B3793}" type="parTrans" cxnId="{52E76714-6C08-4B67-B702-AB99A10D83BF}">
      <dgm:prSet/>
      <dgm:spPr/>
      <dgm:t>
        <a:bodyPr/>
        <a:lstStyle/>
        <a:p>
          <a:endParaRPr lang="en-US"/>
        </a:p>
      </dgm:t>
    </dgm:pt>
    <dgm:pt modelId="{096742C5-5D05-417C-B9C9-95A3D5E2E157}" type="sibTrans" cxnId="{52E76714-6C08-4B67-B702-AB99A10D83BF}">
      <dgm:prSet/>
      <dgm:spPr/>
      <dgm:t>
        <a:bodyPr/>
        <a:lstStyle/>
        <a:p>
          <a:endParaRPr lang="en-US"/>
        </a:p>
      </dgm:t>
    </dgm:pt>
    <dgm:pt modelId="{01F55391-EB55-4A2C-BC05-DE44CB54F36D}" type="pres">
      <dgm:prSet presAssocID="{D9AF68A6-0B27-43CB-8248-7DE9D2A6B37F}" presName="linear" presStyleCnt="0">
        <dgm:presLayoutVars>
          <dgm:animLvl val="lvl"/>
          <dgm:resizeHandles val="exact"/>
        </dgm:presLayoutVars>
      </dgm:prSet>
      <dgm:spPr/>
    </dgm:pt>
    <dgm:pt modelId="{14DD6E5F-2D29-4EEA-806E-E4CA13A0FA68}" type="pres">
      <dgm:prSet presAssocID="{92587851-84A6-4568-8B08-6D51B703929C}" presName="parentText" presStyleLbl="node1" presStyleIdx="0" presStyleCnt="4">
        <dgm:presLayoutVars>
          <dgm:chMax val="0"/>
          <dgm:bulletEnabled val="1"/>
        </dgm:presLayoutVars>
      </dgm:prSet>
      <dgm:spPr/>
    </dgm:pt>
    <dgm:pt modelId="{614DEC94-457F-4CAB-84FE-85EF0C2C53BA}" type="pres">
      <dgm:prSet presAssocID="{9AB93057-3B02-4624-A372-BABB57384CEE}" presName="spacer" presStyleCnt="0"/>
      <dgm:spPr/>
    </dgm:pt>
    <dgm:pt modelId="{D96F5C80-F371-4600-9BE9-3C3039E06725}" type="pres">
      <dgm:prSet presAssocID="{B566D669-E864-40BE-BBAD-6A9D3D2DABC6}" presName="parentText" presStyleLbl="node1" presStyleIdx="1" presStyleCnt="4">
        <dgm:presLayoutVars>
          <dgm:chMax val="0"/>
          <dgm:bulletEnabled val="1"/>
        </dgm:presLayoutVars>
      </dgm:prSet>
      <dgm:spPr/>
    </dgm:pt>
    <dgm:pt modelId="{FFC1CF6B-102E-4A3E-B647-00EB6F6B21CE}" type="pres">
      <dgm:prSet presAssocID="{E346FFF0-7AF4-4E4F-B340-091D5C363448}" presName="spacer" presStyleCnt="0"/>
      <dgm:spPr/>
    </dgm:pt>
    <dgm:pt modelId="{0E66F634-82D9-4910-9E9D-359C01088179}" type="pres">
      <dgm:prSet presAssocID="{800BF91D-A7D3-4C12-8ABB-CE46794FE386}" presName="parentText" presStyleLbl="node1" presStyleIdx="2" presStyleCnt="4">
        <dgm:presLayoutVars>
          <dgm:chMax val="0"/>
          <dgm:bulletEnabled val="1"/>
        </dgm:presLayoutVars>
      </dgm:prSet>
      <dgm:spPr/>
    </dgm:pt>
    <dgm:pt modelId="{F242B828-0BCB-492F-8D42-50F8C091A677}" type="pres">
      <dgm:prSet presAssocID="{9F80A130-9DA6-4E99-A4DC-FDE934631737}" presName="spacer" presStyleCnt="0"/>
      <dgm:spPr/>
    </dgm:pt>
    <dgm:pt modelId="{0D2D3FB6-6FCB-436E-AB5D-219E55D5915C}" type="pres">
      <dgm:prSet presAssocID="{BA17275F-FFF3-42A7-91C5-A224E05D7148}" presName="parentText" presStyleLbl="node1" presStyleIdx="3" presStyleCnt="4">
        <dgm:presLayoutVars>
          <dgm:chMax val="0"/>
          <dgm:bulletEnabled val="1"/>
        </dgm:presLayoutVars>
      </dgm:prSet>
      <dgm:spPr/>
    </dgm:pt>
  </dgm:ptLst>
  <dgm:cxnLst>
    <dgm:cxn modelId="{52E76714-6C08-4B67-B702-AB99A10D83BF}" srcId="{D9AF68A6-0B27-43CB-8248-7DE9D2A6B37F}" destId="{BA17275F-FFF3-42A7-91C5-A224E05D7148}" srcOrd="3" destOrd="0" parTransId="{9BD5A230-AF43-43F2-AE0A-7DF6020B3793}" sibTransId="{096742C5-5D05-417C-B9C9-95A3D5E2E157}"/>
    <dgm:cxn modelId="{9CCD2E21-3DE8-471D-B56F-284DFA48EB27}" srcId="{D9AF68A6-0B27-43CB-8248-7DE9D2A6B37F}" destId="{92587851-84A6-4568-8B08-6D51B703929C}" srcOrd="0" destOrd="0" parTransId="{158163CE-1CC2-4E07-91E1-F1E920181DA2}" sibTransId="{9AB93057-3B02-4624-A372-BABB57384CEE}"/>
    <dgm:cxn modelId="{4609355E-DCFD-431F-8CC1-FB31EAE75BC0}" srcId="{D9AF68A6-0B27-43CB-8248-7DE9D2A6B37F}" destId="{B566D669-E864-40BE-BBAD-6A9D3D2DABC6}" srcOrd="1" destOrd="0" parTransId="{04DEE1FA-25C0-4979-8FD8-C981B3D6CC74}" sibTransId="{E346FFF0-7AF4-4E4F-B340-091D5C363448}"/>
    <dgm:cxn modelId="{229AB950-B528-4949-A7C9-A806045B33EA}" type="presOf" srcId="{D9AF68A6-0B27-43CB-8248-7DE9D2A6B37F}" destId="{01F55391-EB55-4A2C-BC05-DE44CB54F36D}" srcOrd="0" destOrd="0" presId="urn:microsoft.com/office/officeart/2005/8/layout/vList2"/>
    <dgm:cxn modelId="{C4298591-0588-44D0-BF0C-AED6CA8A4C9E}" type="presOf" srcId="{B566D669-E864-40BE-BBAD-6A9D3D2DABC6}" destId="{D96F5C80-F371-4600-9BE9-3C3039E06725}" srcOrd="0" destOrd="0" presId="urn:microsoft.com/office/officeart/2005/8/layout/vList2"/>
    <dgm:cxn modelId="{58091BB7-55F8-4752-ADD2-31F552EED30F}" srcId="{D9AF68A6-0B27-43CB-8248-7DE9D2A6B37F}" destId="{800BF91D-A7D3-4C12-8ABB-CE46794FE386}" srcOrd="2" destOrd="0" parTransId="{DFF8B1CE-E8A4-4B0B-A8FF-C245E725248B}" sibTransId="{9F80A130-9DA6-4E99-A4DC-FDE934631737}"/>
    <dgm:cxn modelId="{BC4B4BB9-F27A-4D98-A5A0-3DEC08665362}" type="presOf" srcId="{BA17275F-FFF3-42A7-91C5-A224E05D7148}" destId="{0D2D3FB6-6FCB-436E-AB5D-219E55D5915C}" srcOrd="0" destOrd="0" presId="urn:microsoft.com/office/officeart/2005/8/layout/vList2"/>
    <dgm:cxn modelId="{C2636EB9-3D14-45FB-BEF4-4C959A87D05A}" type="presOf" srcId="{800BF91D-A7D3-4C12-8ABB-CE46794FE386}" destId="{0E66F634-82D9-4910-9E9D-359C01088179}" srcOrd="0" destOrd="0" presId="urn:microsoft.com/office/officeart/2005/8/layout/vList2"/>
    <dgm:cxn modelId="{E37D85FD-7DF3-4E5F-9E59-1B719CB6F69F}" type="presOf" srcId="{92587851-84A6-4568-8B08-6D51B703929C}" destId="{14DD6E5F-2D29-4EEA-806E-E4CA13A0FA68}" srcOrd="0" destOrd="0" presId="urn:microsoft.com/office/officeart/2005/8/layout/vList2"/>
    <dgm:cxn modelId="{1287E5E4-DABF-4563-849E-5FB28D3D93B8}" type="presParOf" srcId="{01F55391-EB55-4A2C-BC05-DE44CB54F36D}" destId="{14DD6E5F-2D29-4EEA-806E-E4CA13A0FA68}" srcOrd="0" destOrd="0" presId="urn:microsoft.com/office/officeart/2005/8/layout/vList2"/>
    <dgm:cxn modelId="{BD7B71BA-CA10-45BF-B9AB-D3F8EE8691A5}" type="presParOf" srcId="{01F55391-EB55-4A2C-BC05-DE44CB54F36D}" destId="{614DEC94-457F-4CAB-84FE-85EF0C2C53BA}" srcOrd="1" destOrd="0" presId="urn:microsoft.com/office/officeart/2005/8/layout/vList2"/>
    <dgm:cxn modelId="{127AD47B-FB85-4C35-A738-9CFCA9C18583}" type="presParOf" srcId="{01F55391-EB55-4A2C-BC05-DE44CB54F36D}" destId="{D96F5C80-F371-4600-9BE9-3C3039E06725}" srcOrd="2" destOrd="0" presId="urn:microsoft.com/office/officeart/2005/8/layout/vList2"/>
    <dgm:cxn modelId="{828BFBF1-5C99-4E40-8C78-F1843EA94C79}" type="presParOf" srcId="{01F55391-EB55-4A2C-BC05-DE44CB54F36D}" destId="{FFC1CF6B-102E-4A3E-B647-00EB6F6B21CE}" srcOrd="3" destOrd="0" presId="urn:microsoft.com/office/officeart/2005/8/layout/vList2"/>
    <dgm:cxn modelId="{FFF7B6C1-4473-4C84-A249-F5E301C3E6FE}" type="presParOf" srcId="{01F55391-EB55-4A2C-BC05-DE44CB54F36D}" destId="{0E66F634-82D9-4910-9E9D-359C01088179}" srcOrd="4" destOrd="0" presId="urn:microsoft.com/office/officeart/2005/8/layout/vList2"/>
    <dgm:cxn modelId="{E2B25B95-A3E9-4535-8D87-F8BAB423A57E}" type="presParOf" srcId="{01F55391-EB55-4A2C-BC05-DE44CB54F36D}" destId="{F242B828-0BCB-492F-8D42-50F8C091A677}" srcOrd="5" destOrd="0" presId="urn:microsoft.com/office/officeart/2005/8/layout/vList2"/>
    <dgm:cxn modelId="{840DB4DE-75CD-4047-B24D-7F9E55F5D07E}" type="presParOf" srcId="{01F55391-EB55-4A2C-BC05-DE44CB54F36D}" destId="{0D2D3FB6-6FCB-436E-AB5D-219E55D5915C}"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453A1C-C013-45A0-9AC4-08B27B746158}"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78A85BF-ED1B-4739-AFE0-FF57B8BCD15D}">
      <dgm:prSet/>
      <dgm:spPr/>
      <dgm:t>
        <a:bodyPr/>
        <a:lstStyle/>
        <a:p>
          <a:r>
            <a:rPr lang="en-US" b="1" u="sng" dirty="0"/>
            <a:t>A Region Still In Crisis</a:t>
          </a:r>
          <a:r>
            <a:rPr lang="en-US" dirty="0"/>
            <a:t>: Quantifies the socio-economic pain</a:t>
          </a:r>
        </a:p>
      </dgm:t>
    </dgm:pt>
    <dgm:pt modelId="{8985A238-BC72-4756-815E-1124DAA28DD1}" type="parTrans" cxnId="{567F8EB1-A2A6-43C0-8538-42380A2B87B9}">
      <dgm:prSet/>
      <dgm:spPr/>
      <dgm:t>
        <a:bodyPr/>
        <a:lstStyle/>
        <a:p>
          <a:endParaRPr lang="en-US"/>
        </a:p>
      </dgm:t>
    </dgm:pt>
    <dgm:pt modelId="{6C333D1B-138F-480B-911E-C4CF462C0E94}" type="sibTrans" cxnId="{567F8EB1-A2A6-43C0-8538-42380A2B87B9}">
      <dgm:prSet/>
      <dgm:spPr/>
      <dgm:t>
        <a:bodyPr/>
        <a:lstStyle/>
        <a:p>
          <a:endParaRPr lang="en-US"/>
        </a:p>
      </dgm:t>
    </dgm:pt>
    <dgm:pt modelId="{B6A1EA96-B89A-4059-BD88-22A6CDE7F103}">
      <dgm:prSet/>
      <dgm:spPr/>
      <dgm:t>
        <a:bodyPr/>
        <a:lstStyle/>
        <a:p>
          <a:r>
            <a:rPr lang="en-US" b="1" u="sng" dirty="0"/>
            <a:t>Walking the Debt Tightrope</a:t>
          </a:r>
          <a:r>
            <a:rPr lang="en-US" dirty="0"/>
            <a:t>: Articulates the tensions between immediate socio-economic needs and long-run risks in a region that already had high levels of debt in 2019</a:t>
          </a:r>
        </a:p>
      </dgm:t>
    </dgm:pt>
    <dgm:pt modelId="{83614294-7ACF-46FC-AE5F-ADE8DFAB9F74}" type="parTrans" cxnId="{A51B6882-8B10-431A-A70A-0288624BCE4B}">
      <dgm:prSet/>
      <dgm:spPr/>
      <dgm:t>
        <a:bodyPr/>
        <a:lstStyle/>
        <a:p>
          <a:endParaRPr lang="en-US"/>
        </a:p>
      </dgm:t>
    </dgm:pt>
    <dgm:pt modelId="{D7782144-EB6D-4F0E-9F9D-B8B8D03863CD}" type="sibTrans" cxnId="{A51B6882-8B10-431A-A70A-0288624BCE4B}">
      <dgm:prSet/>
      <dgm:spPr/>
      <dgm:t>
        <a:bodyPr/>
        <a:lstStyle/>
        <a:p>
          <a:endParaRPr lang="en-US"/>
        </a:p>
      </dgm:t>
    </dgm:pt>
    <dgm:pt modelId="{0549E55A-F15A-4E72-9305-3058778A67F1}">
      <dgm:prSet/>
      <dgm:spPr/>
      <dgm:t>
        <a:bodyPr/>
        <a:lstStyle/>
        <a:p>
          <a:r>
            <a:rPr lang="en-US" b="1" u="sng" dirty="0"/>
            <a:t>Tough Choices ahead</a:t>
          </a:r>
          <a:r>
            <a:rPr lang="en-US" dirty="0"/>
            <a:t>: Discusses priorities </a:t>
          </a:r>
          <a:r>
            <a:rPr lang="en-US" u="sng" dirty="0"/>
            <a:t>during </a:t>
          </a:r>
          <a:r>
            <a:rPr lang="en-US" dirty="0"/>
            <a:t>the pandemic, </a:t>
          </a:r>
          <a:r>
            <a:rPr lang="en-US" u="sng" dirty="0"/>
            <a:t>after </a:t>
          </a:r>
          <a:r>
            <a:rPr lang="en-US" dirty="0"/>
            <a:t>the pandemic, and </a:t>
          </a:r>
          <a:r>
            <a:rPr lang="en-US" u="sng" dirty="0"/>
            <a:t>beyond</a:t>
          </a:r>
          <a:endParaRPr lang="en-US" dirty="0"/>
        </a:p>
      </dgm:t>
    </dgm:pt>
    <dgm:pt modelId="{31EBDD61-DD4F-48EF-B6EF-A7E08F43F5AB}" type="parTrans" cxnId="{4B3D0E2C-F67A-4EDC-947B-3F5AB14BFE1C}">
      <dgm:prSet/>
      <dgm:spPr/>
      <dgm:t>
        <a:bodyPr/>
        <a:lstStyle/>
        <a:p>
          <a:endParaRPr lang="en-US"/>
        </a:p>
      </dgm:t>
    </dgm:pt>
    <dgm:pt modelId="{15894171-49E8-4E86-96F9-D85C78B434FA}" type="sibTrans" cxnId="{4B3D0E2C-F67A-4EDC-947B-3F5AB14BFE1C}">
      <dgm:prSet/>
      <dgm:spPr/>
      <dgm:t>
        <a:bodyPr/>
        <a:lstStyle/>
        <a:p>
          <a:endParaRPr lang="en-US"/>
        </a:p>
      </dgm:t>
    </dgm:pt>
    <dgm:pt modelId="{470E7B5F-D031-419A-8E4C-0A128392953F}">
      <dgm:prSet/>
      <dgm:spPr/>
      <dgm:t>
        <a:bodyPr/>
        <a:lstStyle/>
        <a:p>
          <a:r>
            <a:rPr lang="en-US" b="1" u="sng"/>
            <a:t>Sunlight Can Help</a:t>
          </a:r>
          <a:r>
            <a:rPr lang="en-US"/>
            <a:t>: Highlights the role of institutions, especially transparency, in charting a path to recovery for the Middle East and North Africa</a:t>
          </a:r>
        </a:p>
      </dgm:t>
    </dgm:pt>
    <dgm:pt modelId="{5344519F-2818-4265-83D3-3C4F2536129A}" type="parTrans" cxnId="{8A0B5E4A-C93D-4B42-A56B-A5B965B3E152}">
      <dgm:prSet/>
      <dgm:spPr/>
      <dgm:t>
        <a:bodyPr/>
        <a:lstStyle/>
        <a:p>
          <a:endParaRPr lang="en-US"/>
        </a:p>
      </dgm:t>
    </dgm:pt>
    <dgm:pt modelId="{CEFECD7D-282C-4C05-BF33-E452350E853E}" type="sibTrans" cxnId="{8A0B5E4A-C93D-4B42-A56B-A5B965B3E152}">
      <dgm:prSet/>
      <dgm:spPr/>
      <dgm:t>
        <a:bodyPr/>
        <a:lstStyle/>
        <a:p>
          <a:endParaRPr lang="en-US"/>
        </a:p>
      </dgm:t>
    </dgm:pt>
    <dgm:pt modelId="{10D41824-E2E0-4A40-BFA0-315DC363E98D}" type="pres">
      <dgm:prSet presAssocID="{4E453A1C-C013-45A0-9AC4-08B27B746158}" presName="linear" presStyleCnt="0">
        <dgm:presLayoutVars>
          <dgm:animLvl val="lvl"/>
          <dgm:resizeHandles val="exact"/>
        </dgm:presLayoutVars>
      </dgm:prSet>
      <dgm:spPr/>
    </dgm:pt>
    <dgm:pt modelId="{6DCCB891-F357-46F4-9B3B-5A1FAD10338C}" type="pres">
      <dgm:prSet presAssocID="{478A85BF-ED1B-4739-AFE0-FF57B8BCD15D}" presName="parentText" presStyleLbl="node1" presStyleIdx="0" presStyleCnt="4">
        <dgm:presLayoutVars>
          <dgm:chMax val="0"/>
          <dgm:bulletEnabled val="1"/>
        </dgm:presLayoutVars>
      </dgm:prSet>
      <dgm:spPr/>
    </dgm:pt>
    <dgm:pt modelId="{A33B56D8-FB7B-452E-BA6B-9633FA9FE910}" type="pres">
      <dgm:prSet presAssocID="{6C333D1B-138F-480B-911E-C4CF462C0E94}" presName="spacer" presStyleCnt="0"/>
      <dgm:spPr/>
    </dgm:pt>
    <dgm:pt modelId="{0CB6004F-D074-49DB-ADFA-3BF18BB52CB1}" type="pres">
      <dgm:prSet presAssocID="{B6A1EA96-B89A-4059-BD88-22A6CDE7F103}" presName="parentText" presStyleLbl="node1" presStyleIdx="1" presStyleCnt="4">
        <dgm:presLayoutVars>
          <dgm:chMax val="0"/>
          <dgm:bulletEnabled val="1"/>
        </dgm:presLayoutVars>
      </dgm:prSet>
      <dgm:spPr/>
    </dgm:pt>
    <dgm:pt modelId="{C3AE512B-CA52-4BE7-AB40-F806EA6D959C}" type="pres">
      <dgm:prSet presAssocID="{D7782144-EB6D-4F0E-9F9D-B8B8D03863CD}" presName="spacer" presStyleCnt="0"/>
      <dgm:spPr/>
    </dgm:pt>
    <dgm:pt modelId="{B2AF7659-42A0-4D9B-914F-EB8D8F53052D}" type="pres">
      <dgm:prSet presAssocID="{0549E55A-F15A-4E72-9305-3058778A67F1}" presName="parentText" presStyleLbl="node1" presStyleIdx="2" presStyleCnt="4">
        <dgm:presLayoutVars>
          <dgm:chMax val="0"/>
          <dgm:bulletEnabled val="1"/>
        </dgm:presLayoutVars>
      </dgm:prSet>
      <dgm:spPr/>
    </dgm:pt>
    <dgm:pt modelId="{BCD91F1D-16EA-4D57-9D52-8E43730C93ED}" type="pres">
      <dgm:prSet presAssocID="{15894171-49E8-4E86-96F9-D85C78B434FA}" presName="spacer" presStyleCnt="0"/>
      <dgm:spPr/>
    </dgm:pt>
    <dgm:pt modelId="{4F1BF5D5-3EC4-46A9-A9BD-274664B9C165}" type="pres">
      <dgm:prSet presAssocID="{470E7B5F-D031-419A-8E4C-0A128392953F}" presName="parentText" presStyleLbl="node1" presStyleIdx="3" presStyleCnt="4">
        <dgm:presLayoutVars>
          <dgm:chMax val="0"/>
          <dgm:bulletEnabled val="1"/>
        </dgm:presLayoutVars>
      </dgm:prSet>
      <dgm:spPr/>
    </dgm:pt>
  </dgm:ptLst>
  <dgm:cxnLst>
    <dgm:cxn modelId="{B49A6107-BF4E-4BF6-B54E-6B57343DF58F}" type="presOf" srcId="{0549E55A-F15A-4E72-9305-3058778A67F1}" destId="{B2AF7659-42A0-4D9B-914F-EB8D8F53052D}" srcOrd="0" destOrd="0" presId="urn:microsoft.com/office/officeart/2005/8/layout/vList2"/>
    <dgm:cxn modelId="{9BDDE40A-EDA1-420B-8C60-ADAB3864F1D7}" type="presOf" srcId="{B6A1EA96-B89A-4059-BD88-22A6CDE7F103}" destId="{0CB6004F-D074-49DB-ADFA-3BF18BB52CB1}" srcOrd="0" destOrd="0" presId="urn:microsoft.com/office/officeart/2005/8/layout/vList2"/>
    <dgm:cxn modelId="{4B3D0E2C-F67A-4EDC-947B-3F5AB14BFE1C}" srcId="{4E453A1C-C013-45A0-9AC4-08B27B746158}" destId="{0549E55A-F15A-4E72-9305-3058778A67F1}" srcOrd="2" destOrd="0" parTransId="{31EBDD61-DD4F-48EF-B6EF-A7E08F43F5AB}" sibTransId="{15894171-49E8-4E86-96F9-D85C78B434FA}"/>
    <dgm:cxn modelId="{B6ECD22C-5E2B-4F99-9F07-6C21C170978E}" type="presOf" srcId="{478A85BF-ED1B-4739-AFE0-FF57B8BCD15D}" destId="{6DCCB891-F357-46F4-9B3B-5A1FAD10338C}" srcOrd="0" destOrd="0" presId="urn:microsoft.com/office/officeart/2005/8/layout/vList2"/>
    <dgm:cxn modelId="{8A0B5E4A-C93D-4B42-A56B-A5B965B3E152}" srcId="{4E453A1C-C013-45A0-9AC4-08B27B746158}" destId="{470E7B5F-D031-419A-8E4C-0A128392953F}" srcOrd="3" destOrd="0" parTransId="{5344519F-2818-4265-83D3-3C4F2536129A}" sibTransId="{CEFECD7D-282C-4C05-BF33-E452350E853E}"/>
    <dgm:cxn modelId="{C234C375-6DD6-4326-ADD1-640F6CB605DA}" type="presOf" srcId="{470E7B5F-D031-419A-8E4C-0A128392953F}" destId="{4F1BF5D5-3EC4-46A9-A9BD-274664B9C165}" srcOrd="0" destOrd="0" presId="urn:microsoft.com/office/officeart/2005/8/layout/vList2"/>
    <dgm:cxn modelId="{A51B6882-8B10-431A-A70A-0288624BCE4B}" srcId="{4E453A1C-C013-45A0-9AC4-08B27B746158}" destId="{B6A1EA96-B89A-4059-BD88-22A6CDE7F103}" srcOrd="1" destOrd="0" parTransId="{83614294-7ACF-46FC-AE5F-ADE8DFAB9F74}" sibTransId="{D7782144-EB6D-4F0E-9F9D-B8B8D03863CD}"/>
    <dgm:cxn modelId="{567F8EB1-A2A6-43C0-8538-42380A2B87B9}" srcId="{4E453A1C-C013-45A0-9AC4-08B27B746158}" destId="{478A85BF-ED1B-4739-AFE0-FF57B8BCD15D}" srcOrd="0" destOrd="0" parTransId="{8985A238-BC72-4756-815E-1124DAA28DD1}" sibTransId="{6C333D1B-138F-480B-911E-C4CF462C0E94}"/>
    <dgm:cxn modelId="{247BB1C7-1AE1-47BF-AD0A-D79FE5272B5F}" type="presOf" srcId="{4E453A1C-C013-45A0-9AC4-08B27B746158}" destId="{10D41824-E2E0-4A40-BFA0-315DC363E98D}" srcOrd="0" destOrd="0" presId="urn:microsoft.com/office/officeart/2005/8/layout/vList2"/>
    <dgm:cxn modelId="{A0B0154E-F761-4E18-9201-5F3DE6B1E6E1}" type="presParOf" srcId="{10D41824-E2E0-4A40-BFA0-315DC363E98D}" destId="{6DCCB891-F357-46F4-9B3B-5A1FAD10338C}" srcOrd="0" destOrd="0" presId="urn:microsoft.com/office/officeart/2005/8/layout/vList2"/>
    <dgm:cxn modelId="{4E3E8A43-ACB6-4F2A-AC9F-5192C261212B}" type="presParOf" srcId="{10D41824-E2E0-4A40-BFA0-315DC363E98D}" destId="{A33B56D8-FB7B-452E-BA6B-9633FA9FE910}" srcOrd="1" destOrd="0" presId="urn:microsoft.com/office/officeart/2005/8/layout/vList2"/>
    <dgm:cxn modelId="{EC643C13-FAB9-460C-801E-A68BF9B37CD1}" type="presParOf" srcId="{10D41824-E2E0-4A40-BFA0-315DC363E98D}" destId="{0CB6004F-D074-49DB-ADFA-3BF18BB52CB1}" srcOrd="2" destOrd="0" presId="urn:microsoft.com/office/officeart/2005/8/layout/vList2"/>
    <dgm:cxn modelId="{7ACCBAD9-EF29-4753-B034-E94DAA85A5E1}" type="presParOf" srcId="{10D41824-E2E0-4A40-BFA0-315DC363E98D}" destId="{C3AE512B-CA52-4BE7-AB40-F806EA6D959C}" srcOrd="3" destOrd="0" presId="urn:microsoft.com/office/officeart/2005/8/layout/vList2"/>
    <dgm:cxn modelId="{C5AEB76C-4477-4D92-9E49-EF5AA4F0A0FA}" type="presParOf" srcId="{10D41824-E2E0-4A40-BFA0-315DC363E98D}" destId="{B2AF7659-42A0-4D9B-914F-EB8D8F53052D}" srcOrd="4" destOrd="0" presId="urn:microsoft.com/office/officeart/2005/8/layout/vList2"/>
    <dgm:cxn modelId="{B923671E-ED76-4A4B-85D4-C902CB9ED378}" type="presParOf" srcId="{10D41824-E2E0-4A40-BFA0-315DC363E98D}" destId="{BCD91F1D-16EA-4D57-9D52-8E43730C93ED}" srcOrd="5" destOrd="0" presId="urn:microsoft.com/office/officeart/2005/8/layout/vList2"/>
    <dgm:cxn modelId="{CE6626B9-87A9-48A6-883D-B077170B7D31}" type="presParOf" srcId="{10D41824-E2E0-4A40-BFA0-315DC363E98D}" destId="{4F1BF5D5-3EC4-46A9-A9BD-274664B9C165}"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A3D0F16-AF2C-4555-9594-58F3086D41DE}" type="doc">
      <dgm:prSet loTypeId="urn:microsoft.com/office/officeart/2016/7/layout/VerticalSolidActionList" loCatId="List" qsTypeId="urn:microsoft.com/office/officeart/2005/8/quickstyle/simple1" qsCatId="simple" csTypeId="urn:microsoft.com/office/officeart/2005/8/colors/colorful1" csCatId="colorful" phldr="1"/>
      <dgm:spPr/>
      <dgm:t>
        <a:bodyPr/>
        <a:lstStyle/>
        <a:p>
          <a:endParaRPr lang="en-US"/>
        </a:p>
      </dgm:t>
    </dgm:pt>
    <dgm:pt modelId="{BDC752EB-DB5E-4CD9-BA97-52C6491819F1}">
      <dgm:prSet/>
      <dgm:spPr/>
      <dgm:t>
        <a:bodyPr/>
        <a:lstStyle/>
        <a:p>
          <a:r>
            <a:rPr lang="en-US"/>
            <a:t>During the pandemic</a:t>
          </a:r>
        </a:p>
      </dgm:t>
    </dgm:pt>
    <dgm:pt modelId="{F09C80BA-A12D-4170-BA75-9E294135B37B}" type="parTrans" cxnId="{54E14923-43C1-4135-9F52-595DA9F4B402}">
      <dgm:prSet/>
      <dgm:spPr/>
      <dgm:t>
        <a:bodyPr/>
        <a:lstStyle/>
        <a:p>
          <a:endParaRPr lang="en-US"/>
        </a:p>
      </dgm:t>
    </dgm:pt>
    <dgm:pt modelId="{2C96CA52-4110-42D0-AFDE-D29AFEF09231}" type="sibTrans" cxnId="{54E14923-43C1-4135-9F52-595DA9F4B402}">
      <dgm:prSet/>
      <dgm:spPr/>
      <dgm:t>
        <a:bodyPr/>
        <a:lstStyle/>
        <a:p>
          <a:endParaRPr lang="en-US"/>
        </a:p>
      </dgm:t>
    </dgm:pt>
    <dgm:pt modelId="{33BA5400-EDA6-4988-99DF-8C11D77952FD}">
      <dgm:prSet/>
      <dgm:spPr/>
      <dgm:t>
        <a:bodyPr/>
        <a:lstStyle/>
        <a:p>
          <a:pPr>
            <a:buNone/>
          </a:pPr>
          <a:r>
            <a:rPr lang="en-US" sz="1600" i="1"/>
            <a:t>Reduce costs, accelerate recovery</a:t>
          </a:r>
        </a:p>
      </dgm:t>
    </dgm:pt>
    <dgm:pt modelId="{7C43D5E6-C5A2-421A-85DB-D8A8C062A28B}" type="parTrans" cxnId="{E79E30E7-9A7A-410B-B01E-31F4FDF41787}">
      <dgm:prSet/>
      <dgm:spPr/>
      <dgm:t>
        <a:bodyPr/>
        <a:lstStyle/>
        <a:p>
          <a:endParaRPr lang="en-US"/>
        </a:p>
      </dgm:t>
    </dgm:pt>
    <dgm:pt modelId="{7B546DFF-ABAA-409B-9E9C-0700675172A9}" type="sibTrans" cxnId="{E79E30E7-9A7A-410B-B01E-31F4FDF41787}">
      <dgm:prSet/>
      <dgm:spPr/>
      <dgm:t>
        <a:bodyPr/>
        <a:lstStyle/>
        <a:p>
          <a:endParaRPr lang="en-US"/>
        </a:p>
      </dgm:t>
    </dgm:pt>
    <dgm:pt modelId="{AD11B55B-20BA-40AF-A955-BD9CFE4791A1}">
      <dgm:prSet custT="1"/>
      <dgm:spPr/>
      <dgm:t>
        <a:bodyPr/>
        <a:lstStyle/>
        <a:p>
          <a:pPr>
            <a:buFont typeface="Arial" panose="020B0604020202020204" pitchFamily="34" charset="0"/>
            <a:buChar char="•"/>
          </a:pPr>
          <a:r>
            <a:rPr lang="en-US" sz="1400" dirty="0"/>
            <a:t>Public health surveillance and transparency can reduce costs of the pandemic.</a:t>
          </a:r>
        </a:p>
      </dgm:t>
    </dgm:pt>
    <dgm:pt modelId="{81FE0E18-C532-4793-94C3-CD4C357EE104}" type="parTrans" cxnId="{411E632B-B129-4087-A37E-61AC10D5FB98}">
      <dgm:prSet/>
      <dgm:spPr/>
      <dgm:t>
        <a:bodyPr/>
        <a:lstStyle/>
        <a:p>
          <a:endParaRPr lang="en-US"/>
        </a:p>
      </dgm:t>
    </dgm:pt>
    <dgm:pt modelId="{AE0189AD-F506-44DD-B05B-28D80C67031D}" type="sibTrans" cxnId="{411E632B-B129-4087-A37E-61AC10D5FB98}">
      <dgm:prSet/>
      <dgm:spPr/>
      <dgm:t>
        <a:bodyPr/>
        <a:lstStyle/>
        <a:p>
          <a:endParaRPr lang="en-US"/>
        </a:p>
      </dgm:t>
    </dgm:pt>
    <dgm:pt modelId="{FEAB59C7-EA3A-4E3B-9858-17908A8A0F05}">
      <dgm:prSet/>
      <dgm:spPr/>
      <dgm:t>
        <a:bodyPr/>
        <a:lstStyle/>
        <a:p>
          <a:r>
            <a:rPr lang="en-US"/>
            <a:t>As the pandemic subsides</a:t>
          </a:r>
        </a:p>
      </dgm:t>
    </dgm:pt>
    <dgm:pt modelId="{4393B997-86C9-45E3-A93F-D96F2B995695}" type="parTrans" cxnId="{BD7706C7-811B-4280-AB5F-FA3D3FD89D56}">
      <dgm:prSet/>
      <dgm:spPr/>
      <dgm:t>
        <a:bodyPr/>
        <a:lstStyle/>
        <a:p>
          <a:endParaRPr lang="en-US"/>
        </a:p>
      </dgm:t>
    </dgm:pt>
    <dgm:pt modelId="{D116F28E-3CA2-4B14-84B2-983AF68B7386}" type="sibTrans" cxnId="{BD7706C7-811B-4280-AB5F-FA3D3FD89D56}">
      <dgm:prSet/>
      <dgm:spPr/>
      <dgm:t>
        <a:bodyPr/>
        <a:lstStyle/>
        <a:p>
          <a:endParaRPr lang="en-US"/>
        </a:p>
      </dgm:t>
    </dgm:pt>
    <dgm:pt modelId="{3FD5C915-9BB7-474F-B020-56575EC64CB5}">
      <dgm:prSet/>
      <dgm:spPr/>
      <dgm:t>
        <a:bodyPr/>
        <a:lstStyle/>
        <a:p>
          <a:r>
            <a:rPr lang="en-US" sz="1700" i="1" dirty="0"/>
            <a:t>Raise investment’s impact</a:t>
          </a:r>
        </a:p>
      </dgm:t>
    </dgm:pt>
    <dgm:pt modelId="{FA761938-CA97-4272-ABBB-E7BBFC1CAB71}" type="parTrans" cxnId="{7A16565C-3A79-440A-A7E1-E8E4E65A871F}">
      <dgm:prSet/>
      <dgm:spPr/>
      <dgm:t>
        <a:bodyPr/>
        <a:lstStyle/>
        <a:p>
          <a:endParaRPr lang="en-US"/>
        </a:p>
      </dgm:t>
    </dgm:pt>
    <dgm:pt modelId="{99F9BF23-7BB1-4820-9AE2-7285ED2ADD58}" type="sibTrans" cxnId="{7A16565C-3A79-440A-A7E1-E8E4E65A871F}">
      <dgm:prSet/>
      <dgm:spPr/>
      <dgm:t>
        <a:bodyPr/>
        <a:lstStyle/>
        <a:p>
          <a:endParaRPr lang="en-US"/>
        </a:p>
      </dgm:t>
    </dgm:pt>
    <dgm:pt modelId="{53649559-DDFE-483E-9A46-14662CCD0FB1}">
      <dgm:prSet/>
      <dgm:spPr/>
      <dgm:t>
        <a:bodyPr/>
        <a:lstStyle/>
        <a:p>
          <a:r>
            <a:rPr lang="en-US"/>
            <a:t>After the pandemic</a:t>
          </a:r>
        </a:p>
      </dgm:t>
    </dgm:pt>
    <dgm:pt modelId="{12B70157-0AF4-45AE-99DE-C4CA0517633C}" type="parTrans" cxnId="{43B50FAC-1192-4684-A07A-FBC4C8A1F73F}">
      <dgm:prSet/>
      <dgm:spPr/>
      <dgm:t>
        <a:bodyPr/>
        <a:lstStyle/>
        <a:p>
          <a:endParaRPr lang="en-US"/>
        </a:p>
      </dgm:t>
    </dgm:pt>
    <dgm:pt modelId="{D4FD851D-3D7A-4711-A92F-C29DD5D69F6A}" type="sibTrans" cxnId="{43B50FAC-1192-4684-A07A-FBC4C8A1F73F}">
      <dgm:prSet/>
      <dgm:spPr/>
      <dgm:t>
        <a:bodyPr/>
        <a:lstStyle/>
        <a:p>
          <a:endParaRPr lang="en-US"/>
        </a:p>
      </dgm:t>
    </dgm:pt>
    <dgm:pt modelId="{6DC4B5BA-12D5-4FA7-BDF4-DEA95716C004}">
      <dgm:prSet/>
      <dgm:spPr/>
      <dgm:t>
        <a:bodyPr/>
        <a:lstStyle/>
        <a:p>
          <a:r>
            <a:rPr lang="en-US" i="1"/>
            <a:t>Reduce costs, reduce risk</a:t>
          </a:r>
        </a:p>
      </dgm:t>
    </dgm:pt>
    <dgm:pt modelId="{322044B1-6B54-4D60-8DB0-88DB5B9C14F7}" type="parTrans" cxnId="{A12D2B5A-75CE-4C1C-9A48-523A19BBCF8C}">
      <dgm:prSet/>
      <dgm:spPr/>
      <dgm:t>
        <a:bodyPr/>
        <a:lstStyle/>
        <a:p>
          <a:endParaRPr lang="en-US"/>
        </a:p>
      </dgm:t>
    </dgm:pt>
    <dgm:pt modelId="{DDA6252D-A145-42EC-A5D7-AD8AF39ED11B}" type="sibTrans" cxnId="{A12D2B5A-75CE-4C1C-9A48-523A19BBCF8C}">
      <dgm:prSet/>
      <dgm:spPr/>
      <dgm:t>
        <a:bodyPr/>
        <a:lstStyle/>
        <a:p>
          <a:endParaRPr lang="en-US"/>
        </a:p>
      </dgm:t>
    </dgm:pt>
    <dgm:pt modelId="{FC6E2D6A-71B0-4796-9529-8549D15BA34C}">
      <dgm:prSet/>
      <dgm:spPr/>
      <dgm:t>
        <a:bodyPr/>
        <a:lstStyle/>
        <a:p>
          <a:r>
            <a:rPr lang="en-US"/>
            <a:t>Transparency can reduce borrowing costs. Good governance can reduce the risks of debt distress.</a:t>
          </a:r>
        </a:p>
      </dgm:t>
    </dgm:pt>
    <dgm:pt modelId="{7CBC1C24-061F-407D-BB5C-3DBC57EA1B45}" type="parTrans" cxnId="{79954B92-6280-489E-8ADB-061783ED8A55}">
      <dgm:prSet/>
      <dgm:spPr/>
      <dgm:t>
        <a:bodyPr/>
        <a:lstStyle/>
        <a:p>
          <a:endParaRPr lang="en-US"/>
        </a:p>
      </dgm:t>
    </dgm:pt>
    <dgm:pt modelId="{37045282-3F10-4CDD-B94E-ABB27230149F}" type="sibTrans" cxnId="{79954B92-6280-489E-8ADB-061783ED8A55}">
      <dgm:prSet/>
      <dgm:spPr/>
      <dgm:t>
        <a:bodyPr/>
        <a:lstStyle/>
        <a:p>
          <a:endParaRPr lang="en-US"/>
        </a:p>
      </dgm:t>
    </dgm:pt>
    <dgm:pt modelId="{72BAA999-5640-493E-BD35-81A3096814CD}">
      <dgm:prSet/>
      <dgm:spPr/>
      <dgm:t>
        <a:bodyPr/>
        <a:lstStyle/>
        <a:p>
          <a:pPr>
            <a:buFont typeface="Arial" panose="020B0604020202020204" pitchFamily="34" charset="0"/>
            <a:buChar char="•"/>
          </a:pPr>
          <a:endParaRPr lang="en-US" sz="1200"/>
        </a:p>
      </dgm:t>
    </dgm:pt>
    <dgm:pt modelId="{A362066D-CFF3-40C8-A720-1CDA69B8C83B}" type="parTrans" cxnId="{93DFD9F5-D937-42A7-B952-2B890782B7B8}">
      <dgm:prSet/>
      <dgm:spPr/>
      <dgm:t>
        <a:bodyPr/>
        <a:lstStyle/>
        <a:p>
          <a:endParaRPr lang="en-US"/>
        </a:p>
      </dgm:t>
    </dgm:pt>
    <dgm:pt modelId="{2075F73F-33B8-4F09-B841-00653B81E557}" type="sibTrans" cxnId="{93DFD9F5-D937-42A7-B952-2B890782B7B8}">
      <dgm:prSet/>
      <dgm:spPr/>
      <dgm:t>
        <a:bodyPr/>
        <a:lstStyle/>
        <a:p>
          <a:endParaRPr lang="en-US"/>
        </a:p>
      </dgm:t>
    </dgm:pt>
    <dgm:pt modelId="{1B03094B-3B85-4858-945C-BD92F26A1E5E}">
      <dgm:prSet custT="1"/>
      <dgm:spPr/>
      <dgm:t>
        <a:bodyPr/>
        <a:lstStyle/>
        <a:p>
          <a:r>
            <a:rPr lang="en-US" sz="1400" dirty="0"/>
            <a:t>Transparency in public investment decisions can raise its impact on economic activity (GDP)</a:t>
          </a:r>
          <a:endParaRPr lang="en-US" sz="1300" dirty="0"/>
        </a:p>
      </dgm:t>
    </dgm:pt>
    <dgm:pt modelId="{1CC81B00-40D2-4037-B000-E1306159EE51}" type="parTrans" cxnId="{011E8FC1-A0E1-4104-AC67-9AE2833218F4}">
      <dgm:prSet/>
      <dgm:spPr/>
      <dgm:t>
        <a:bodyPr/>
        <a:lstStyle/>
        <a:p>
          <a:endParaRPr lang="en-US"/>
        </a:p>
      </dgm:t>
    </dgm:pt>
    <dgm:pt modelId="{BD4D8BC3-1212-4602-8D24-FB86F2567210}" type="sibTrans" cxnId="{011E8FC1-A0E1-4104-AC67-9AE2833218F4}">
      <dgm:prSet/>
      <dgm:spPr/>
      <dgm:t>
        <a:bodyPr/>
        <a:lstStyle/>
        <a:p>
          <a:endParaRPr lang="en-US"/>
        </a:p>
      </dgm:t>
    </dgm:pt>
    <dgm:pt modelId="{FE4B07EC-84A3-4286-B7C6-C8A74E183C87}">
      <dgm:prSet custT="1"/>
      <dgm:spPr/>
      <dgm:t>
        <a:bodyPr/>
        <a:lstStyle/>
        <a:p>
          <a:r>
            <a:rPr lang="en-US" sz="1400" dirty="0"/>
            <a:t>Public health surveillance and transparency can accelerate the post-pandemic rebound (e.g., tourism; hospitality industries).</a:t>
          </a:r>
        </a:p>
      </dgm:t>
    </dgm:pt>
    <dgm:pt modelId="{EC67A2C3-163B-4BA6-AF57-BFF48F1D84DE}" type="parTrans" cxnId="{B68DB7F7-CF06-408E-B187-4B095D59AA0B}">
      <dgm:prSet/>
      <dgm:spPr/>
      <dgm:t>
        <a:bodyPr/>
        <a:lstStyle/>
        <a:p>
          <a:endParaRPr lang="en-US"/>
        </a:p>
      </dgm:t>
    </dgm:pt>
    <dgm:pt modelId="{B59C9B8B-90DD-42FC-87C9-6C0749B099DC}" type="sibTrans" cxnId="{B68DB7F7-CF06-408E-B187-4B095D59AA0B}">
      <dgm:prSet/>
      <dgm:spPr/>
      <dgm:t>
        <a:bodyPr/>
        <a:lstStyle/>
        <a:p>
          <a:endParaRPr lang="en-US"/>
        </a:p>
      </dgm:t>
    </dgm:pt>
    <dgm:pt modelId="{4B331DD6-8178-494C-B4BE-B7FB5532C65C}" type="pres">
      <dgm:prSet presAssocID="{3A3D0F16-AF2C-4555-9594-58F3086D41DE}" presName="Name0" presStyleCnt="0">
        <dgm:presLayoutVars>
          <dgm:dir/>
          <dgm:animLvl val="lvl"/>
          <dgm:resizeHandles val="exact"/>
        </dgm:presLayoutVars>
      </dgm:prSet>
      <dgm:spPr/>
    </dgm:pt>
    <dgm:pt modelId="{CB429555-F805-4C34-8D18-B27E410EE5A2}" type="pres">
      <dgm:prSet presAssocID="{BDC752EB-DB5E-4CD9-BA97-52C6491819F1}" presName="linNode" presStyleCnt="0"/>
      <dgm:spPr/>
    </dgm:pt>
    <dgm:pt modelId="{DFC569C3-C86F-4545-AB3C-673047233301}" type="pres">
      <dgm:prSet presAssocID="{BDC752EB-DB5E-4CD9-BA97-52C6491819F1}" presName="parentText" presStyleLbl="alignNode1" presStyleIdx="0" presStyleCnt="3">
        <dgm:presLayoutVars>
          <dgm:chMax val="1"/>
          <dgm:bulletEnabled/>
        </dgm:presLayoutVars>
      </dgm:prSet>
      <dgm:spPr/>
    </dgm:pt>
    <dgm:pt modelId="{0B9A1728-F1FA-4AFC-B65D-ECA7A087D09A}" type="pres">
      <dgm:prSet presAssocID="{BDC752EB-DB5E-4CD9-BA97-52C6491819F1}" presName="descendantText" presStyleLbl="alignAccFollowNode1" presStyleIdx="0" presStyleCnt="3">
        <dgm:presLayoutVars>
          <dgm:bulletEnabled/>
        </dgm:presLayoutVars>
      </dgm:prSet>
      <dgm:spPr/>
    </dgm:pt>
    <dgm:pt modelId="{BE585E94-BAB5-40A2-BD5F-5E56B257B540}" type="pres">
      <dgm:prSet presAssocID="{2C96CA52-4110-42D0-AFDE-D29AFEF09231}" presName="sp" presStyleCnt="0"/>
      <dgm:spPr/>
    </dgm:pt>
    <dgm:pt modelId="{D09D60A7-E469-421C-80E9-3B3C75358B23}" type="pres">
      <dgm:prSet presAssocID="{FEAB59C7-EA3A-4E3B-9858-17908A8A0F05}" presName="linNode" presStyleCnt="0"/>
      <dgm:spPr/>
    </dgm:pt>
    <dgm:pt modelId="{E2765943-E65F-4E53-9A3B-7B81B76269D0}" type="pres">
      <dgm:prSet presAssocID="{FEAB59C7-EA3A-4E3B-9858-17908A8A0F05}" presName="parentText" presStyleLbl="alignNode1" presStyleIdx="1" presStyleCnt="3">
        <dgm:presLayoutVars>
          <dgm:chMax val="1"/>
          <dgm:bulletEnabled/>
        </dgm:presLayoutVars>
      </dgm:prSet>
      <dgm:spPr/>
    </dgm:pt>
    <dgm:pt modelId="{665E85F7-33A8-411A-A326-AE2900BBA4C4}" type="pres">
      <dgm:prSet presAssocID="{FEAB59C7-EA3A-4E3B-9858-17908A8A0F05}" presName="descendantText" presStyleLbl="alignAccFollowNode1" presStyleIdx="1" presStyleCnt="3">
        <dgm:presLayoutVars>
          <dgm:bulletEnabled/>
        </dgm:presLayoutVars>
      </dgm:prSet>
      <dgm:spPr/>
    </dgm:pt>
    <dgm:pt modelId="{29C2BB87-05A5-4B7C-AE8C-5E9C5BE83E69}" type="pres">
      <dgm:prSet presAssocID="{D116F28E-3CA2-4B14-84B2-983AF68B7386}" presName="sp" presStyleCnt="0"/>
      <dgm:spPr/>
    </dgm:pt>
    <dgm:pt modelId="{AD674BDF-1C5B-4B42-837D-4B84834F6D85}" type="pres">
      <dgm:prSet presAssocID="{53649559-DDFE-483E-9A46-14662CCD0FB1}" presName="linNode" presStyleCnt="0"/>
      <dgm:spPr/>
    </dgm:pt>
    <dgm:pt modelId="{99B1EDDE-D583-4619-BA85-DFA1F91F19D1}" type="pres">
      <dgm:prSet presAssocID="{53649559-DDFE-483E-9A46-14662CCD0FB1}" presName="parentText" presStyleLbl="alignNode1" presStyleIdx="2" presStyleCnt="3">
        <dgm:presLayoutVars>
          <dgm:chMax val="1"/>
          <dgm:bulletEnabled/>
        </dgm:presLayoutVars>
      </dgm:prSet>
      <dgm:spPr/>
    </dgm:pt>
    <dgm:pt modelId="{D6E06639-06E4-409C-8477-ED871BEA6BD4}" type="pres">
      <dgm:prSet presAssocID="{53649559-DDFE-483E-9A46-14662CCD0FB1}" presName="descendantText" presStyleLbl="alignAccFollowNode1" presStyleIdx="2" presStyleCnt="3">
        <dgm:presLayoutVars>
          <dgm:bulletEnabled/>
        </dgm:presLayoutVars>
      </dgm:prSet>
      <dgm:spPr/>
    </dgm:pt>
  </dgm:ptLst>
  <dgm:cxnLst>
    <dgm:cxn modelId="{A9DDE102-CCB9-4916-A94C-3E87D0964E11}" type="presOf" srcId="{3A3D0F16-AF2C-4555-9594-58F3086D41DE}" destId="{4B331DD6-8178-494C-B4BE-B7FB5532C65C}" srcOrd="0" destOrd="0" presId="urn:microsoft.com/office/officeart/2016/7/layout/VerticalSolidActionList"/>
    <dgm:cxn modelId="{16C48C03-E2F1-4AB5-9715-68BEAD7B70E6}" type="presOf" srcId="{BDC752EB-DB5E-4CD9-BA97-52C6491819F1}" destId="{DFC569C3-C86F-4545-AB3C-673047233301}" srcOrd="0" destOrd="0" presId="urn:microsoft.com/office/officeart/2016/7/layout/VerticalSolidActionList"/>
    <dgm:cxn modelId="{4CB7E40A-9FBF-41B3-B7DD-86680B4A86AA}" type="presOf" srcId="{FEAB59C7-EA3A-4E3B-9858-17908A8A0F05}" destId="{E2765943-E65F-4E53-9A3B-7B81B76269D0}" srcOrd="0" destOrd="0" presId="urn:microsoft.com/office/officeart/2016/7/layout/VerticalSolidActionList"/>
    <dgm:cxn modelId="{8FEDBF14-B3CD-44D1-9306-1C30CCB876B9}" type="presOf" srcId="{FE4B07EC-84A3-4286-B7C6-C8A74E183C87}" destId="{665E85F7-33A8-411A-A326-AE2900BBA4C4}" srcOrd="0" destOrd="2" presId="urn:microsoft.com/office/officeart/2016/7/layout/VerticalSolidActionList"/>
    <dgm:cxn modelId="{54E14923-43C1-4135-9F52-595DA9F4B402}" srcId="{3A3D0F16-AF2C-4555-9594-58F3086D41DE}" destId="{BDC752EB-DB5E-4CD9-BA97-52C6491819F1}" srcOrd="0" destOrd="0" parTransId="{F09C80BA-A12D-4170-BA75-9E294135B37B}" sibTransId="{2C96CA52-4110-42D0-AFDE-D29AFEF09231}"/>
    <dgm:cxn modelId="{411E632B-B129-4087-A37E-61AC10D5FB98}" srcId="{33BA5400-EDA6-4988-99DF-8C11D77952FD}" destId="{AD11B55B-20BA-40AF-A955-BD9CFE4791A1}" srcOrd="1" destOrd="0" parTransId="{81FE0E18-C532-4793-94C3-CD4C357EE104}" sibTransId="{AE0189AD-F506-44DD-B05B-28D80C67031D}"/>
    <dgm:cxn modelId="{9B23755C-FC32-4E7F-A0D5-E10801913C04}" type="presOf" srcId="{53649559-DDFE-483E-9A46-14662CCD0FB1}" destId="{99B1EDDE-D583-4619-BA85-DFA1F91F19D1}" srcOrd="0" destOrd="0" presId="urn:microsoft.com/office/officeart/2016/7/layout/VerticalSolidActionList"/>
    <dgm:cxn modelId="{4D84755C-C376-4396-ABCB-2FBCE2F5D5FA}" type="presOf" srcId="{6DC4B5BA-12D5-4FA7-BDF4-DEA95716C004}" destId="{D6E06639-06E4-409C-8477-ED871BEA6BD4}" srcOrd="0" destOrd="0" presId="urn:microsoft.com/office/officeart/2016/7/layout/VerticalSolidActionList"/>
    <dgm:cxn modelId="{7A16565C-3A79-440A-A7E1-E8E4E65A871F}" srcId="{FEAB59C7-EA3A-4E3B-9858-17908A8A0F05}" destId="{3FD5C915-9BB7-474F-B020-56575EC64CB5}" srcOrd="0" destOrd="0" parTransId="{FA761938-CA97-4272-ABBB-E7BBFC1CAB71}" sibTransId="{99F9BF23-7BB1-4820-9AE2-7285ED2ADD58}"/>
    <dgm:cxn modelId="{30D78758-97F1-4E7D-B5CC-3D5AFE4AFEC0}" type="presOf" srcId="{AD11B55B-20BA-40AF-A955-BD9CFE4791A1}" destId="{0B9A1728-F1FA-4AFC-B65D-ECA7A087D09A}" srcOrd="0" destOrd="2" presId="urn:microsoft.com/office/officeart/2016/7/layout/VerticalSolidActionList"/>
    <dgm:cxn modelId="{A12D2B5A-75CE-4C1C-9A48-523A19BBCF8C}" srcId="{53649559-DDFE-483E-9A46-14662CCD0FB1}" destId="{6DC4B5BA-12D5-4FA7-BDF4-DEA95716C004}" srcOrd="0" destOrd="0" parTransId="{322044B1-6B54-4D60-8DB0-88DB5B9C14F7}" sibTransId="{DDA6252D-A145-42EC-A5D7-AD8AF39ED11B}"/>
    <dgm:cxn modelId="{2673A282-06E7-43E3-874F-B79C84C0CDFB}" type="presOf" srcId="{33BA5400-EDA6-4988-99DF-8C11D77952FD}" destId="{0B9A1728-F1FA-4AFC-B65D-ECA7A087D09A}" srcOrd="0" destOrd="0" presId="urn:microsoft.com/office/officeart/2016/7/layout/VerticalSolidActionList"/>
    <dgm:cxn modelId="{B99F2B91-5D51-419E-AE58-A01053AD6CAE}" type="presOf" srcId="{3FD5C915-9BB7-474F-B020-56575EC64CB5}" destId="{665E85F7-33A8-411A-A326-AE2900BBA4C4}" srcOrd="0" destOrd="0" presId="urn:microsoft.com/office/officeart/2016/7/layout/VerticalSolidActionList"/>
    <dgm:cxn modelId="{79954B92-6280-489E-8ADB-061783ED8A55}" srcId="{6DC4B5BA-12D5-4FA7-BDF4-DEA95716C004}" destId="{FC6E2D6A-71B0-4796-9529-8549D15BA34C}" srcOrd="0" destOrd="0" parTransId="{7CBC1C24-061F-407D-BB5C-3DBC57EA1B45}" sibTransId="{37045282-3F10-4CDD-B94E-ABB27230149F}"/>
    <dgm:cxn modelId="{9F471598-96CB-47B4-93A3-77B5A32BC615}" type="presOf" srcId="{72BAA999-5640-493E-BD35-81A3096814CD}" destId="{0B9A1728-F1FA-4AFC-B65D-ECA7A087D09A}" srcOrd="0" destOrd="1" presId="urn:microsoft.com/office/officeart/2016/7/layout/VerticalSolidActionList"/>
    <dgm:cxn modelId="{44CE2D9C-D462-4727-A0F4-91F83B6AE550}" type="presOf" srcId="{1B03094B-3B85-4858-945C-BD92F26A1E5E}" destId="{665E85F7-33A8-411A-A326-AE2900BBA4C4}" srcOrd="0" destOrd="1" presId="urn:microsoft.com/office/officeart/2016/7/layout/VerticalSolidActionList"/>
    <dgm:cxn modelId="{43B50FAC-1192-4684-A07A-FBC4C8A1F73F}" srcId="{3A3D0F16-AF2C-4555-9594-58F3086D41DE}" destId="{53649559-DDFE-483E-9A46-14662CCD0FB1}" srcOrd="2" destOrd="0" parTransId="{12B70157-0AF4-45AE-99DE-C4CA0517633C}" sibTransId="{D4FD851D-3D7A-4711-A92F-C29DD5D69F6A}"/>
    <dgm:cxn modelId="{885267BC-9A5F-4419-A469-010489C1EEBE}" type="presOf" srcId="{FC6E2D6A-71B0-4796-9529-8549D15BA34C}" destId="{D6E06639-06E4-409C-8477-ED871BEA6BD4}" srcOrd="0" destOrd="1" presId="urn:microsoft.com/office/officeart/2016/7/layout/VerticalSolidActionList"/>
    <dgm:cxn modelId="{011E8FC1-A0E1-4104-AC67-9AE2833218F4}" srcId="{3FD5C915-9BB7-474F-B020-56575EC64CB5}" destId="{1B03094B-3B85-4858-945C-BD92F26A1E5E}" srcOrd="0" destOrd="0" parTransId="{1CC81B00-40D2-4037-B000-E1306159EE51}" sibTransId="{BD4D8BC3-1212-4602-8D24-FB86F2567210}"/>
    <dgm:cxn modelId="{BD7706C7-811B-4280-AB5F-FA3D3FD89D56}" srcId="{3A3D0F16-AF2C-4555-9594-58F3086D41DE}" destId="{FEAB59C7-EA3A-4E3B-9858-17908A8A0F05}" srcOrd="1" destOrd="0" parTransId="{4393B997-86C9-45E3-A93F-D96F2B995695}" sibTransId="{D116F28E-3CA2-4B14-84B2-983AF68B7386}"/>
    <dgm:cxn modelId="{E79E30E7-9A7A-410B-B01E-31F4FDF41787}" srcId="{BDC752EB-DB5E-4CD9-BA97-52C6491819F1}" destId="{33BA5400-EDA6-4988-99DF-8C11D77952FD}" srcOrd="0" destOrd="0" parTransId="{7C43D5E6-C5A2-421A-85DB-D8A8C062A28B}" sibTransId="{7B546DFF-ABAA-409B-9E9C-0700675172A9}"/>
    <dgm:cxn modelId="{93DFD9F5-D937-42A7-B952-2B890782B7B8}" srcId="{33BA5400-EDA6-4988-99DF-8C11D77952FD}" destId="{72BAA999-5640-493E-BD35-81A3096814CD}" srcOrd="0" destOrd="0" parTransId="{A362066D-CFF3-40C8-A720-1CDA69B8C83B}" sibTransId="{2075F73F-33B8-4F09-B841-00653B81E557}"/>
    <dgm:cxn modelId="{B68DB7F7-CF06-408E-B187-4B095D59AA0B}" srcId="{3FD5C915-9BB7-474F-B020-56575EC64CB5}" destId="{FE4B07EC-84A3-4286-B7C6-C8A74E183C87}" srcOrd="1" destOrd="0" parTransId="{EC67A2C3-163B-4BA6-AF57-BFF48F1D84DE}" sibTransId="{B59C9B8B-90DD-42FC-87C9-6C0749B099DC}"/>
    <dgm:cxn modelId="{81612622-D36C-4F84-AAC1-81A1C4799580}" type="presParOf" srcId="{4B331DD6-8178-494C-B4BE-B7FB5532C65C}" destId="{CB429555-F805-4C34-8D18-B27E410EE5A2}" srcOrd="0" destOrd="0" presId="urn:microsoft.com/office/officeart/2016/7/layout/VerticalSolidActionList"/>
    <dgm:cxn modelId="{E4A02B23-DAFB-4A10-85C1-CD837EFCB7ED}" type="presParOf" srcId="{CB429555-F805-4C34-8D18-B27E410EE5A2}" destId="{DFC569C3-C86F-4545-AB3C-673047233301}" srcOrd="0" destOrd="0" presId="urn:microsoft.com/office/officeart/2016/7/layout/VerticalSolidActionList"/>
    <dgm:cxn modelId="{8E2A3A97-A620-403A-8129-CCF242265B2C}" type="presParOf" srcId="{CB429555-F805-4C34-8D18-B27E410EE5A2}" destId="{0B9A1728-F1FA-4AFC-B65D-ECA7A087D09A}" srcOrd="1" destOrd="0" presId="urn:microsoft.com/office/officeart/2016/7/layout/VerticalSolidActionList"/>
    <dgm:cxn modelId="{4E0B7BCB-3922-4B42-AE20-4A248962EFFB}" type="presParOf" srcId="{4B331DD6-8178-494C-B4BE-B7FB5532C65C}" destId="{BE585E94-BAB5-40A2-BD5F-5E56B257B540}" srcOrd="1" destOrd="0" presId="urn:microsoft.com/office/officeart/2016/7/layout/VerticalSolidActionList"/>
    <dgm:cxn modelId="{BB3B2C74-62DC-4386-A028-5CDDF93DE5B2}" type="presParOf" srcId="{4B331DD6-8178-494C-B4BE-B7FB5532C65C}" destId="{D09D60A7-E469-421C-80E9-3B3C75358B23}" srcOrd="2" destOrd="0" presId="urn:microsoft.com/office/officeart/2016/7/layout/VerticalSolidActionList"/>
    <dgm:cxn modelId="{30D81E53-7EC5-4497-AE14-5EF368874A51}" type="presParOf" srcId="{D09D60A7-E469-421C-80E9-3B3C75358B23}" destId="{E2765943-E65F-4E53-9A3B-7B81B76269D0}" srcOrd="0" destOrd="0" presId="urn:microsoft.com/office/officeart/2016/7/layout/VerticalSolidActionList"/>
    <dgm:cxn modelId="{28A61FE9-42FA-4E3A-8DD7-AF89F936A797}" type="presParOf" srcId="{D09D60A7-E469-421C-80E9-3B3C75358B23}" destId="{665E85F7-33A8-411A-A326-AE2900BBA4C4}" srcOrd="1" destOrd="0" presId="urn:microsoft.com/office/officeart/2016/7/layout/VerticalSolidActionList"/>
    <dgm:cxn modelId="{61153971-CF36-42D3-A2FD-048E17D8D8C2}" type="presParOf" srcId="{4B331DD6-8178-494C-B4BE-B7FB5532C65C}" destId="{29C2BB87-05A5-4B7C-AE8C-5E9C5BE83E69}" srcOrd="3" destOrd="0" presId="urn:microsoft.com/office/officeart/2016/7/layout/VerticalSolidActionList"/>
    <dgm:cxn modelId="{DC495CB4-6142-4E5B-A357-4E16EB605915}" type="presParOf" srcId="{4B331DD6-8178-494C-B4BE-B7FB5532C65C}" destId="{AD674BDF-1C5B-4B42-837D-4B84834F6D85}" srcOrd="4" destOrd="0" presId="urn:microsoft.com/office/officeart/2016/7/layout/VerticalSolidActionList"/>
    <dgm:cxn modelId="{80C028F5-F783-4680-A0A9-22EAAEAFD2A2}" type="presParOf" srcId="{AD674BDF-1C5B-4B42-837D-4B84834F6D85}" destId="{99B1EDDE-D583-4619-BA85-DFA1F91F19D1}" srcOrd="0" destOrd="0" presId="urn:microsoft.com/office/officeart/2016/7/layout/VerticalSolidActionList"/>
    <dgm:cxn modelId="{9683A780-1F33-4133-BBB3-58D9C9F9DAA4}" type="presParOf" srcId="{AD674BDF-1C5B-4B42-837D-4B84834F6D85}" destId="{D6E06639-06E4-409C-8477-ED871BEA6BD4}" srcOrd="1" destOrd="0" presId="urn:microsoft.com/office/officeart/2016/7/layout/VerticalSolid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DD6E5F-2D29-4EEA-806E-E4CA13A0FA68}">
      <dsp:nvSpPr>
        <dsp:cNvPr id="0" name=""/>
        <dsp:cNvSpPr/>
      </dsp:nvSpPr>
      <dsp:spPr>
        <a:xfrm>
          <a:off x="0" y="65372"/>
          <a:ext cx="6367912" cy="1510396"/>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The Middle East and North Africa (MENA) region is </a:t>
          </a:r>
          <a:r>
            <a:rPr lang="en-US" sz="2700" u="none" kern="1200" dirty="0"/>
            <a:t>still in crisis</a:t>
          </a:r>
        </a:p>
      </dsp:txBody>
      <dsp:txXfrm>
        <a:off x="73731" y="139103"/>
        <a:ext cx="6220450" cy="1362934"/>
      </dsp:txXfrm>
    </dsp:sp>
    <dsp:sp modelId="{D96F5C80-F371-4600-9BE9-3C3039E06725}">
      <dsp:nvSpPr>
        <dsp:cNvPr id="0" name=""/>
        <dsp:cNvSpPr/>
      </dsp:nvSpPr>
      <dsp:spPr>
        <a:xfrm>
          <a:off x="0" y="1653529"/>
          <a:ext cx="6367912" cy="1510396"/>
        </a:xfrm>
        <a:prstGeom prst="round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MENA countries face a </a:t>
          </a:r>
          <a:r>
            <a:rPr lang="en-US" sz="2700" u="none" kern="1200" dirty="0"/>
            <a:t>balancing act</a:t>
          </a:r>
          <a:r>
            <a:rPr lang="en-US" sz="2700" u="sng" kern="1200" dirty="0"/>
            <a:t> </a:t>
          </a:r>
          <a:r>
            <a:rPr lang="en-US" sz="2700" kern="1200" dirty="0"/>
            <a:t>between short-term needs and long-run risks of public debt</a:t>
          </a:r>
        </a:p>
      </dsp:txBody>
      <dsp:txXfrm>
        <a:off x="73731" y="1727260"/>
        <a:ext cx="6220450" cy="1362934"/>
      </dsp:txXfrm>
    </dsp:sp>
    <dsp:sp modelId="{0E66F634-82D9-4910-9E9D-359C01088179}">
      <dsp:nvSpPr>
        <dsp:cNvPr id="0" name=""/>
        <dsp:cNvSpPr/>
      </dsp:nvSpPr>
      <dsp:spPr>
        <a:xfrm>
          <a:off x="0" y="3241686"/>
          <a:ext cx="6367912" cy="1510396"/>
        </a:xfrm>
        <a:prstGeom prst="round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u="none" kern="1200" dirty="0"/>
            <a:t>Tough choices: </a:t>
          </a:r>
          <a:r>
            <a:rPr lang="en-US" sz="2700" kern="1200" dirty="0"/>
            <a:t>public expenditure priorities depend on the phase of the recovery</a:t>
          </a:r>
        </a:p>
      </dsp:txBody>
      <dsp:txXfrm>
        <a:off x="73731" y="3315417"/>
        <a:ext cx="6220450" cy="1362934"/>
      </dsp:txXfrm>
    </dsp:sp>
    <dsp:sp modelId="{0D2D3FB6-6FCB-436E-AB5D-219E55D5915C}">
      <dsp:nvSpPr>
        <dsp:cNvPr id="0" name=""/>
        <dsp:cNvSpPr/>
      </dsp:nvSpPr>
      <dsp:spPr>
        <a:xfrm>
          <a:off x="0" y="4829843"/>
          <a:ext cx="6367912" cy="1510396"/>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u="none" kern="1200" dirty="0"/>
            <a:t>Sunlight can help! </a:t>
          </a:r>
          <a:r>
            <a:rPr lang="en-US" sz="2700" kern="1200" dirty="0"/>
            <a:t>Transparency can help chart a path to lasting recovery for MENA</a:t>
          </a:r>
        </a:p>
      </dsp:txBody>
      <dsp:txXfrm>
        <a:off x="73731" y="4903574"/>
        <a:ext cx="6220450" cy="13629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CCB891-F357-46F4-9B3B-5A1FAD10338C}">
      <dsp:nvSpPr>
        <dsp:cNvPr id="0" name=""/>
        <dsp:cNvSpPr/>
      </dsp:nvSpPr>
      <dsp:spPr>
        <a:xfrm>
          <a:off x="0" y="136045"/>
          <a:ext cx="6367912" cy="14880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u="sng" kern="1200" dirty="0"/>
            <a:t>A Region Still In Crisis</a:t>
          </a:r>
          <a:r>
            <a:rPr lang="en-US" sz="2100" kern="1200" dirty="0"/>
            <a:t>: Quantifies the socio-economic pain</a:t>
          </a:r>
        </a:p>
      </dsp:txBody>
      <dsp:txXfrm>
        <a:off x="72639" y="208684"/>
        <a:ext cx="6222634" cy="1342742"/>
      </dsp:txXfrm>
    </dsp:sp>
    <dsp:sp modelId="{0CB6004F-D074-49DB-ADFA-3BF18BB52CB1}">
      <dsp:nvSpPr>
        <dsp:cNvPr id="0" name=""/>
        <dsp:cNvSpPr/>
      </dsp:nvSpPr>
      <dsp:spPr>
        <a:xfrm>
          <a:off x="0" y="1684545"/>
          <a:ext cx="6367912" cy="1488020"/>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u="sng" kern="1200" dirty="0"/>
            <a:t>Walking the Debt Tightrope</a:t>
          </a:r>
          <a:r>
            <a:rPr lang="en-US" sz="2100" kern="1200" dirty="0"/>
            <a:t>: Articulates the tensions between immediate socio-economic needs and long-run risks in a region that already had high levels of debt in 2019</a:t>
          </a:r>
        </a:p>
      </dsp:txBody>
      <dsp:txXfrm>
        <a:off x="72639" y="1757184"/>
        <a:ext cx="6222634" cy="1342742"/>
      </dsp:txXfrm>
    </dsp:sp>
    <dsp:sp modelId="{B2AF7659-42A0-4D9B-914F-EB8D8F53052D}">
      <dsp:nvSpPr>
        <dsp:cNvPr id="0" name=""/>
        <dsp:cNvSpPr/>
      </dsp:nvSpPr>
      <dsp:spPr>
        <a:xfrm>
          <a:off x="0" y="3233046"/>
          <a:ext cx="6367912" cy="1488020"/>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u="sng" kern="1200" dirty="0"/>
            <a:t>Tough Choices ahead</a:t>
          </a:r>
          <a:r>
            <a:rPr lang="en-US" sz="2100" kern="1200" dirty="0"/>
            <a:t>: Discusses priorities </a:t>
          </a:r>
          <a:r>
            <a:rPr lang="en-US" sz="2100" u="sng" kern="1200" dirty="0"/>
            <a:t>during </a:t>
          </a:r>
          <a:r>
            <a:rPr lang="en-US" sz="2100" kern="1200" dirty="0"/>
            <a:t>the pandemic, </a:t>
          </a:r>
          <a:r>
            <a:rPr lang="en-US" sz="2100" u="sng" kern="1200" dirty="0"/>
            <a:t>after </a:t>
          </a:r>
          <a:r>
            <a:rPr lang="en-US" sz="2100" kern="1200" dirty="0"/>
            <a:t>the pandemic, and </a:t>
          </a:r>
          <a:r>
            <a:rPr lang="en-US" sz="2100" u="sng" kern="1200" dirty="0"/>
            <a:t>beyond</a:t>
          </a:r>
          <a:endParaRPr lang="en-US" sz="2100" kern="1200" dirty="0"/>
        </a:p>
      </dsp:txBody>
      <dsp:txXfrm>
        <a:off x="72639" y="3305685"/>
        <a:ext cx="6222634" cy="1342742"/>
      </dsp:txXfrm>
    </dsp:sp>
    <dsp:sp modelId="{4F1BF5D5-3EC4-46A9-A9BD-274664B9C165}">
      <dsp:nvSpPr>
        <dsp:cNvPr id="0" name=""/>
        <dsp:cNvSpPr/>
      </dsp:nvSpPr>
      <dsp:spPr>
        <a:xfrm>
          <a:off x="0" y="4781547"/>
          <a:ext cx="6367912" cy="148802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u="sng" kern="1200"/>
            <a:t>Sunlight Can Help</a:t>
          </a:r>
          <a:r>
            <a:rPr lang="en-US" sz="2100" kern="1200"/>
            <a:t>: Highlights the role of institutions, especially transparency, in charting a path to recovery for the Middle East and North Africa</a:t>
          </a:r>
        </a:p>
      </dsp:txBody>
      <dsp:txXfrm>
        <a:off x="72639" y="4854186"/>
        <a:ext cx="6222634" cy="134274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9A1728-F1FA-4AFC-B65D-ECA7A087D09A}">
      <dsp:nvSpPr>
        <dsp:cNvPr id="0" name=""/>
        <dsp:cNvSpPr/>
      </dsp:nvSpPr>
      <dsp:spPr>
        <a:xfrm>
          <a:off x="1273582" y="2001"/>
          <a:ext cx="5094330" cy="2051797"/>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8844" tIns="521157" rIns="98844" bIns="521157" numCol="1" spcCol="1270" anchor="t" anchorCtr="0">
          <a:noAutofit/>
        </a:bodyPr>
        <a:lstStyle/>
        <a:p>
          <a:pPr marL="0" lvl="0" indent="0" algn="l" defTabSz="711200">
            <a:lnSpc>
              <a:spcPct val="90000"/>
            </a:lnSpc>
            <a:spcBef>
              <a:spcPct val="0"/>
            </a:spcBef>
            <a:spcAft>
              <a:spcPct val="35000"/>
            </a:spcAft>
            <a:buNone/>
          </a:pPr>
          <a:r>
            <a:rPr lang="en-US" sz="1600" i="1" kern="1200"/>
            <a:t>Reduce costs, accelerate recovery</a:t>
          </a:r>
        </a:p>
        <a:p>
          <a:pPr marL="114300" lvl="1" indent="-114300" algn="l" defTabSz="533400">
            <a:lnSpc>
              <a:spcPct val="90000"/>
            </a:lnSpc>
            <a:spcBef>
              <a:spcPct val="0"/>
            </a:spcBef>
            <a:spcAft>
              <a:spcPct val="15000"/>
            </a:spcAft>
            <a:buFont typeface="Arial" panose="020B0604020202020204" pitchFamily="34" charset="0"/>
            <a:buChar char="•"/>
          </a:pPr>
          <a:endParaRPr lang="en-US" sz="1200" kern="1200"/>
        </a:p>
        <a:p>
          <a:pPr marL="114300" lvl="1" indent="-114300" algn="l" defTabSz="622300">
            <a:lnSpc>
              <a:spcPct val="90000"/>
            </a:lnSpc>
            <a:spcBef>
              <a:spcPct val="0"/>
            </a:spcBef>
            <a:spcAft>
              <a:spcPct val="15000"/>
            </a:spcAft>
            <a:buFont typeface="Arial" panose="020B0604020202020204" pitchFamily="34" charset="0"/>
            <a:buChar char="•"/>
          </a:pPr>
          <a:r>
            <a:rPr lang="en-US" sz="1400" kern="1200" dirty="0"/>
            <a:t>Public health surveillance and transparency can reduce costs of the pandemic.</a:t>
          </a:r>
        </a:p>
      </dsp:txBody>
      <dsp:txXfrm>
        <a:off x="1273582" y="2001"/>
        <a:ext cx="5094330" cy="2051797"/>
      </dsp:txXfrm>
    </dsp:sp>
    <dsp:sp modelId="{DFC569C3-C86F-4545-AB3C-673047233301}">
      <dsp:nvSpPr>
        <dsp:cNvPr id="0" name=""/>
        <dsp:cNvSpPr/>
      </dsp:nvSpPr>
      <dsp:spPr>
        <a:xfrm>
          <a:off x="0" y="2001"/>
          <a:ext cx="1273582" cy="2051797"/>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394" tIns="202672" rIns="67394" bIns="202672" numCol="1" spcCol="1270" anchor="ctr" anchorCtr="0">
          <a:noAutofit/>
        </a:bodyPr>
        <a:lstStyle/>
        <a:p>
          <a:pPr marL="0" lvl="0" indent="0" algn="ctr" defTabSz="977900">
            <a:lnSpc>
              <a:spcPct val="90000"/>
            </a:lnSpc>
            <a:spcBef>
              <a:spcPct val="0"/>
            </a:spcBef>
            <a:spcAft>
              <a:spcPct val="35000"/>
            </a:spcAft>
            <a:buNone/>
          </a:pPr>
          <a:r>
            <a:rPr lang="en-US" sz="2200" kern="1200"/>
            <a:t>During the pandemic</a:t>
          </a:r>
        </a:p>
      </dsp:txBody>
      <dsp:txXfrm>
        <a:off x="0" y="2001"/>
        <a:ext cx="1273582" cy="2051797"/>
      </dsp:txXfrm>
    </dsp:sp>
    <dsp:sp modelId="{665E85F7-33A8-411A-A326-AE2900BBA4C4}">
      <dsp:nvSpPr>
        <dsp:cNvPr id="0" name=""/>
        <dsp:cNvSpPr/>
      </dsp:nvSpPr>
      <dsp:spPr>
        <a:xfrm>
          <a:off x="1273582" y="2176907"/>
          <a:ext cx="5094330" cy="2051797"/>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8844" tIns="521157" rIns="98844" bIns="521157" numCol="1" spcCol="1270" anchor="t" anchorCtr="0">
          <a:noAutofit/>
        </a:bodyPr>
        <a:lstStyle/>
        <a:p>
          <a:pPr marL="0" lvl="0" indent="0" algn="l" defTabSz="755650">
            <a:lnSpc>
              <a:spcPct val="90000"/>
            </a:lnSpc>
            <a:spcBef>
              <a:spcPct val="0"/>
            </a:spcBef>
            <a:spcAft>
              <a:spcPct val="35000"/>
            </a:spcAft>
            <a:buNone/>
          </a:pPr>
          <a:r>
            <a:rPr lang="en-US" sz="1700" i="1" kern="1200" dirty="0"/>
            <a:t>Raise investment’s impact</a:t>
          </a:r>
        </a:p>
        <a:p>
          <a:pPr marL="114300" lvl="1" indent="-114300" algn="l" defTabSz="622300">
            <a:lnSpc>
              <a:spcPct val="90000"/>
            </a:lnSpc>
            <a:spcBef>
              <a:spcPct val="0"/>
            </a:spcBef>
            <a:spcAft>
              <a:spcPct val="15000"/>
            </a:spcAft>
            <a:buChar char="•"/>
          </a:pPr>
          <a:r>
            <a:rPr lang="en-US" sz="1400" kern="1200" dirty="0"/>
            <a:t>Transparency in public investment decisions can raise its impact on economic activity (GDP)</a:t>
          </a:r>
          <a:endParaRPr lang="en-US" sz="1300" kern="1200" dirty="0"/>
        </a:p>
        <a:p>
          <a:pPr marL="114300" lvl="1" indent="-114300" algn="l" defTabSz="622300">
            <a:lnSpc>
              <a:spcPct val="90000"/>
            </a:lnSpc>
            <a:spcBef>
              <a:spcPct val="0"/>
            </a:spcBef>
            <a:spcAft>
              <a:spcPct val="15000"/>
            </a:spcAft>
            <a:buChar char="•"/>
          </a:pPr>
          <a:r>
            <a:rPr lang="en-US" sz="1400" kern="1200" dirty="0"/>
            <a:t>Public health surveillance and transparency can accelerate the post-pandemic rebound (e.g., tourism; hospitality industries).</a:t>
          </a:r>
        </a:p>
      </dsp:txBody>
      <dsp:txXfrm>
        <a:off x="1273582" y="2176907"/>
        <a:ext cx="5094330" cy="2051797"/>
      </dsp:txXfrm>
    </dsp:sp>
    <dsp:sp modelId="{E2765943-E65F-4E53-9A3B-7B81B76269D0}">
      <dsp:nvSpPr>
        <dsp:cNvPr id="0" name=""/>
        <dsp:cNvSpPr/>
      </dsp:nvSpPr>
      <dsp:spPr>
        <a:xfrm>
          <a:off x="0" y="2176907"/>
          <a:ext cx="1273582" cy="2051797"/>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394" tIns="202672" rIns="67394" bIns="202672" numCol="1" spcCol="1270" anchor="ctr" anchorCtr="0">
          <a:noAutofit/>
        </a:bodyPr>
        <a:lstStyle/>
        <a:p>
          <a:pPr marL="0" lvl="0" indent="0" algn="ctr" defTabSz="977900">
            <a:lnSpc>
              <a:spcPct val="90000"/>
            </a:lnSpc>
            <a:spcBef>
              <a:spcPct val="0"/>
            </a:spcBef>
            <a:spcAft>
              <a:spcPct val="35000"/>
            </a:spcAft>
            <a:buNone/>
          </a:pPr>
          <a:r>
            <a:rPr lang="en-US" sz="2200" kern="1200"/>
            <a:t>As the pandemic subsides</a:t>
          </a:r>
        </a:p>
      </dsp:txBody>
      <dsp:txXfrm>
        <a:off x="0" y="2176907"/>
        <a:ext cx="1273582" cy="2051797"/>
      </dsp:txXfrm>
    </dsp:sp>
    <dsp:sp modelId="{D6E06639-06E4-409C-8477-ED871BEA6BD4}">
      <dsp:nvSpPr>
        <dsp:cNvPr id="0" name=""/>
        <dsp:cNvSpPr/>
      </dsp:nvSpPr>
      <dsp:spPr>
        <a:xfrm>
          <a:off x="1273582" y="4351813"/>
          <a:ext cx="5094330" cy="2051797"/>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8844" tIns="521157" rIns="98844" bIns="521157" numCol="1" spcCol="1270" anchor="t" anchorCtr="0">
          <a:noAutofit/>
        </a:bodyPr>
        <a:lstStyle/>
        <a:p>
          <a:pPr marL="0" lvl="0" indent="0" algn="l" defTabSz="800100">
            <a:lnSpc>
              <a:spcPct val="90000"/>
            </a:lnSpc>
            <a:spcBef>
              <a:spcPct val="0"/>
            </a:spcBef>
            <a:spcAft>
              <a:spcPct val="35000"/>
            </a:spcAft>
            <a:buNone/>
          </a:pPr>
          <a:r>
            <a:rPr lang="en-US" sz="1800" i="1" kern="1200"/>
            <a:t>Reduce costs, reduce risk</a:t>
          </a:r>
        </a:p>
        <a:p>
          <a:pPr marL="114300" lvl="1" indent="-114300" algn="l" defTabSz="622300">
            <a:lnSpc>
              <a:spcPct val="90000"/>
            </a:lnSpc>
            <a:spcBef>
              <a:spcPct val="0"/>
            </a:spcBef>
            <a:spcAft>
              <a:spcPct val="15000"/>
            </a:spcAft>
            <a:buChar char="•"/>
          </a:pPr>
          <a:r>
            <a:rPr lang="en-US" sz="1400" kern="1200"/>
            <a:t>Transparency can reduce borrowing costs. Good governance can reduce the risks of debt distress.</a:t>
          </a:r>
        </a:p>
      </dsp:txBody>
      <dsp:txXfrm>
        <a:off x="1273582" y="4351813"/>
        <a:ext cx="5094330" cy="2051797"/>
      </dsp:txXfrm>
    </dsp:sp>
    <dsp:sp modelId="{99B1EDDE-D583-4619-BA85-DFA1F91F19D1}">
      <dsp:nvSpPr>
        <dsp:cNvPr id="0" name=""/>
        <dsp:cNvSpPr/>
      </dsp:nvSpPr>
      <dsp:spPr>
        <a:xfrm>
          <a:off x="0" y="4351813"/>
          <a:ext cx="1273582" cy="2051797"/>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394" tIns="202672" rIns="67394" bIns="202672" numCol="1" spcCol="1270" anchor="ctr" anchorCtr="0">
          <a:noAutofit/>
        </a:bodyPr>
        <a:lstStyle/>
        <a:p>
          <a:pPr marL="0" lvl="0" indent="0" algn="ctr" defTabSz="977900">
            <a:lnSpc>
              <a:spcPct val="90000"/>
            </a:lnSpc>
            <a:spcBef>
              <a:spcPct val="0"/>
            </a:spcBef>
            <a:spcAft>
              <a:spcPct val="35000"/>
            </a:spcAft>
            <a:buNone/>
          </a:pPr>
          <a:r>
            <a:rPr lang="en-US" sz="2200" kern="1200"/>
            <a:t>After the pandemic</a:t>
          </a:r>
        </a:p>
      </dsp:txBody>
      <dsp:txXfrm>
        <a:off x="0" y="4351813"/>
        <a:ext cx="1273582" cy="205179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0.18611</cdr:x>
      <cdr:y>0</cdr:y>
    </cdr:from>
    <cdr:to>
      <cdr:x>0.8504</cdr:x>
      <cdr:y>0.05908</cdr:y>
    </cdr:to>
    <cdr:sp macro="" textlink="">
      <cdr:nvSpPr>
        <cdr:cNvPr id="2" name="TextBox 1">
          <a:extLst xmlns:a="http://schemas.openxmlformats.org/drawingml/2006/main">
            <a:ext uri="{FF2B5EF4-FFF2-40B4-BE49-F238E27FC236}">
              <a16:creationId xmlns:a16="http://schemas.microsoft.com/office/drawing/2014/main" id="{04BC1FD0-EBE0-4F4E-8783-0AFAE1D1EEA7}"/>
            </a:ext>
          </a:extLst>
        </cdr:cNvPr>
        <cdr:cNvSpPr txBox="1"/>
      </cdr:nvSpPr>
      <cdr:spPr>
        <a:xfrm xmlns:a="http://schemas.openxmlformats.org/drawingml/2006/main">
          <a:off x="995363" y="0"/>
          <a:ext cx="3552825" cy="381000"/>
        </a:xfrm>
        <a:prstGeom xmlns:a="http://schemas.openxmlformats.org/drawingml/2006/main" prst="rect">
          <a:avLst/>
        </a:prstGeom>
        <a:solidFill xmlns:a="http://schemas.openxmlformats.org/drawingml/2006/main">
          <a:sysClr val="window" lastClr="FFFFFF"/>
        </a:solidFill>
      </cdr:spPr>
      <cdr:txBody>
        <a:bodyPr xmlns:a="http://schemas.openxmlformats.org/drawingml/2006/main" vertOverflow="clip" wrap="square" rtlCol="0"/>
        <a:lstStyle xmlns:a="http://schemas.openxmlformats.org/drawingml/2006/main"/>
        <a:p xmlns:a="http://schemas.openxmlformats.org/drawingml/2006/main">
          <a:pPr algn="ctr"/>
          <a:r>
            <a:rPr lang="en-US" sz="1400" b="1" dirty="0"/>
            <a:t>GDP </a:t>
          </a:r>
          <a:r>
            <a:rPr lang="en-US" sz="1400" b="1" i="1" dirty="0">
              <a:solidFill>
                <a:schemeClr val="accent1"/>
              </a:solidFill>
            </a:rPr>
            <a:t>per capita level - </a:t>
          </a:r>
          <a:r>
            <a:rPr lang="en-US" sz="1400" b="1" dirty="0"/>
            <a:t>MENA</a:t>
          </a:r>
        </a:p>
      </cdr:txBody>
    </cdr:sp>
  </cdr:relSizeAnchor>
  <cdr:relSizeAnchor xmlns:cdr="http://schemas.openxmlformats.org/drawingml/2006/chartDrawing">
    <cdr:from>
      <cdr:x>0.84479</cdr:x>
      <cdr:y>0.44667</cdr:y>
    </cdr:from>
    <cdr:to>
      <cdr:x>1</cdr:x>
      <cdr:y>0.54272</cdr:y>
    </cdr:to>
    <cdr:sp macro="" textlink="">
      <cdr:nvSpPr>
        <cdr:cNvPr id="3" name="TextBox 6">
          <a:extLst xmlns:a="http://schemas.openxmlformats.org/drawingml/2006/main">
            <a:ext uri="{FF2B5EF4-FFF2-40B4-BE49-F238E27FC236}">
              <a16:creationId xmlns:a16="http://schemas.microsoft.com/office/drawing/2014/main" id="{6E3F0EB0-2398-4B72-97CF-D4BF8C775E6B}"/>
            </a:ext>
          </a:extLst>
        </cdr:cNvPr>
        <cdr:cNvSpPr txBox="1"/>
      </cdr:nvSpPr>
      <cdr:spPr>
        <a:xfrm xmlns:a="http://schemas.openxmlformats.org/drawingml/2006/main">
          <a:off x="3629028" y="1717569"/>
          <a:ext cx="666747" cy="369332"/>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r"/>
          <a:r>
            <a:rPr lang="en-US" sz="1800" dirty="0">
              <a:solidFill>
                <a:srgbClr val="FF0000"/>
              </a:solidFill>
            </a:rPr>
            <a:t>7.0%</a:t>
          </a:r>
        </a:p>
      </cdr:txBody>
    </cdr:sp>
  </cdr:relSizeAnchor>
  <cdr:relSizeAnchor xmlns:cdr="http://schemas.openxmlformats.org/drawingml/2006/chartDrawing">
    <cdr:from>
      <cdr:x>0.85145</cdr:x>
      <cdr:y>0.37938</cdr:y>
    </cdr:from>
    <cdr:to>
      <cdr:x>0.85145</cdr:x>
      <cdr:y>0.55772</cdr:y>
    </cdr:to>
    <cdr:cxnSp macro="">
      <cdr:nvCxnSpPr>
        <cdr:cNvPr id="4" name="Straight Arrow Connector 3">
          <a:extLst xmlns:a="http://schemas.openxmlformats.org/drawingml/2006/main">
            <a:ext uri="{FF2B5EF4-FFF2-40B4-BE49-F238E27FC236}">
              <a16:creationId xmlns:a16="http://schemas.microsoft.com/office/drawing/2014/main" id="{3B2314C3-6391-4666-A0A0-309B011A0A5E}"/>
            </a:ext>
          </a:extLst>
        </cdr:cNvPr>
        <cdr:cNvCxnSpPr/>
      </cdr:nvCxnSpPr>
      <cdr:spPr>
        <a:xfrm xmlns:a="http://schemas.openxmlformats.org/drawingml/2006/main">
          <a:off x="3657653" y="1458832"/>
          <a:ext cx="0" cy="685773"/>
        </a:xfrm>
        <a:prstGeom xmlns:a="http://schemas.openxmlformats.org/drawingml/2006/main" prst="straightConnector1">
          <a:avLst/>
        </a:prstGeom>
        <a:ln xmlns:a="http://schemas.openxmlformats.org/drawingml/2006/main" w="28575">
          <a:solidFill>
            <a:srgbClr val="FF0000"/>
          </a:solidFill>
          <a:headEnd type="triangle"/>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2.xml><?xml version="1.0" encoding="utf-8"?>
<c:userShapes xmlns:c="http://schemas.openxmlformats.org/drawingml/2006/chart">
  <cdr:relSizeAnchor xmlns:cdr="http://schemas.openxmlformats.org/drawingml/2006/chartDrawing">
    <cdr:from>
      <cdr:x>0.18611</cdr:x>
      <cdr:y>0</cdr:y>
    </cdr:from>
    <cdr:to>
      <cdr:x>0.8504</cdr:x>
      <cdr:y>0.05908</cdr:y>
    </cdr:to>
    <cdr:sp macro="" textlink="">
      <cdr:nvSpPr>
        <cdr:cNvPr id="2" name="TextBox 1">
          <a:extLst xmlns:a="http://schemas.openxmlformats.org/drawingml/2006/main">
            <a:ext uri="{FF2B5EF4-FFF2-40B4-BE49-F238E27FC236}">
              <a16:creationId xmlns:a16="http://schemas.microsoft.com/office/drawing/2014/main" id="{04BC1FD0-EBE0-4F4E-8783-0AFAE1D1EEA7}"/>
            </a:ext>
          </a:extLst>
        </cdr:cNvPr>
        <cdr:cNvSpPr txBox="1"/>
      </cdr:nvSpPr>
      <cdr:spPr>
        <a:xfrm xmlns:a="http://schemas.openxmlformats.org/drawingml/2006/main">
          <a:off x="995363" y="0"/>
          <a:ext cx="3552825" cy="3810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n-US" sz="1400" b="1" dirty="0"/>
            <a:t>GDP </a:t>
          </a:r>
          <a:r>
            <a:rPr lang="en-US" sz="1400" b="1" i="1" dirty="0">
              <a:solidFill>
                <a:schemeClr val="accent1"/>
              </a:solidFill>
            </a:rPr>
            <a:t>level-</a:t>
          </a:r>
          <a:r>
            <a:rPr lang="en-US" sz="1400" b="1" dirty="0"/>
            <a:t> MENA</a:t>
          </a:r>
        </a:p>
      </cdr:txBody>
    </cdr:sp>
  </cdr:relSizeAnchor>
  <cdr:relSizeAnchor xmlns:cdr="http://schemas.openxmlformats.org/drawingml/2006/chartDrawing">
    <cdr:from>
      <cdr:x>0.8415</cdr:x>
      <cdr:y>0.31509</cdr:y>
    </cdr:from>
    <cdr:to>
      <cdr:x>0.99671</cdr:x>
      <cdr:y>0.40756</cdr:y>
    </cdr:to>
    <cdr:sp macro="" textlink="">
      <cdr:nvSpPr>
        <cdr:cNvPr id="3" name="TextBox 6">
          <a:extLst xmlns:a="http://schemas.openxmlformats.org/drawingml/2006/main">
            <a:ext uri="{FF2B5EF4-FFF2-40B4-BE49-F238E27FC236}">
              <a16:creationId xmlns:a16="http://schemas.microsoft.com/office/drawing/2014/main" id="{19620901-91DD-48F9-985B-6E44E6504231}"/>
            </a:ext>
          </a:extLst>
        </cdr:cNvPr>
        <cdr:cNvSpPr txBox="1"/>
      </cdr:nvSpPr>
      <cdr:spPr>
        <a:xfrm xmlns:a="http://schemas.openxmlformats.org/drawingml/2006/main">
          <a:off x="3614898" y="1258481"/>
          <a:ext cx="666750" cy="369332"/>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r>
            <a:rPr lang="en-US" dirty="0">
              <a:solidFill>
                <a:srgbClr val="FF0000"/>
              </a:solidFill>
            </a:rPr>
            <a:t>7.2%</a:t>
          </a:r>
        </a:p>
      </cdr:txBody>
    </cdr:sp>
  </cdr:relSizeAnchor>
  <cdr:relSizeAnchor xmlns:cdr="http://schemas.openxmlformats.org/drawingml/2006/chartDrawing">
    <cdr:from>
      <cdr:x>0.83417</cdr:x>
      <cdr:y>0.2794</cdr:y>
    </cdr:from>
    <cdr:to>
      <cdr:x>0.83417</cdr:x>
      <cdr:y>0.4511</cdr:y>
    </cdr:to>
    <cdr:cxnSp macro="">
      <cdr:nvCxnSpPr>
        <cdr:cNvPr id="4" name="Straight Arrow Connector 3">
          <a:extLst xmlns:a="http://schemas.openxmlformats.org/drawingml/2006/main">
            <a:ext uri="{FF2B5EF4-FFF2-40B4-BE49-F238E27FC236}">
              <a16:creationId xmlns:a16="http://schemas.microsoft.com/office/drawing/2014/main" id="{BE70F63A-6447-4C1E-AE94-F3AA7D169B84}"/>
            </a:ext>
          </a:extLst>
        </cdr:cNvPr>
        <cdr:cNvCxnSpPr/>
      </cdr:nvCxnSpPr>
      <cdr:spPr>
        <a:xfrm xmlns:a="http://schemas.openxmlformats.org/drawingml/2006/main">
          <a:off x="3583393" y="1115919"/>
          <a:ext cx="0" cy="685800"/>
        </a:xfrm>
        <a:prstGeom xmlns:a="http://schemas.openxmlformats.org/drawingml/2006/main" prst="straightConnector1">
          <a:avLst/>
        </a:prstGeom>
        <a:ln xmlns:a="http://schemas.openxmlformats.org/drawingml/2006/main" w="28575">
          <a:solidFill>
            <a:srgbClr val="FF0000"/>
          </a:solidFill>
          <a:headEnd type="triangle"/>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3.xml><?xml version="1.0" encoding="utf-8"?>
<c:userShapes xmlns:c="http://schemas.openxmlformats.org/drawingml/2006/chart">
  <cdr:relSizeAnchor xmlns:cdr="http://schemas.openxmlformats.org/drawingml/2006/chartDrawing">
    <cdr:from>
      <cdr:x>0.18611</cdr:x>
      <cdr:y>0</cdr:y>
    </cdr:from>
    <cdr:to>
      <cdr:x>0.8504</cdr:x>
      <cdr:y>0.05908</cdr:y>
    </cdr:to>
    <cdr:sp macro="" textlink="">
      <cdr:nvSpPr>
        <cdr:cNvPr id="2" name="TextBox 1">
          <a:extLst xmlns:a="http://schemas.openxmlformats.org/drawingml/2006/main">
            <a:ext uri="{FF2B5EF4-FFF2-40B4-BE49-F238E27FC236}">
              <a16:creationId xmlns:a16="http://schemas.microsoft.com/office/drawing/2014/main" id="{04BC1FD0-EBE0-4F4E-8783-0AFAE1D1EEA7}"/>
            </a:ext>
          </a:extLst>
        </cdr:cNvPr>
        <cdr:cNvSpPr txBox="1"/>
      </cdr:nvSpPr>
      <cdr:spPr>
        <a:xfrm xmlns:a="http://schemas.openxmlformats.org/drawingml/2006/main">
          <a:off x="995363" y="0"/>
          <a:ext cx="3552825" cy="381000"/>
        </a:xfrm>
        <a:prstGeom xmlns:a="http://schemas.openxmlformats.org/drawingml/2006/main" prst="rect">
          <a:avLst/>
        </a:prstGeom>
        <a:solidFill xmlns:a="http://schemas.openxmlformats.org/drawingml/2006/main">
          <a:sysClr val="window" lastClr="FFFFFF"/>
        </a:solidFill>
      </cdr:spPr>
      <cdr:txBody>
        <a:bodyPr xmlns:a="http://schemas.openxmlformats.org/drawingml/2006/main" vertOverflow="clip" wrap="square" rtlCol="0"/>
        <a:lstStyle xmlns:a="http://schemas.openxmlformats.org/drawingml/2006/main"/>
        <a:p xmlns:a="http://schemas.openxmlformats.org/drawingml/2006/main">
          <a:pPr algn="ctr"/>
          <a:r>
            <a:rPr lang="en-US" sz="1200" b="1" dirty="0"/>
            <a:t>Panel A: MENA</a:t>
          </a:r>
        </a:p>
      </cdr:txBody>
    </cdr:sp>
  </cdr:relSizeAnchor>
</c:userShapes>
</file>

<file path=ppt/drawings/drawing4.xml><?xml version="1.0" encoding="utf-8"?>
<c:userShapes xmlns:c="http://schemas.openxmlformats.org/drawingml/2006/chart">
  <cdr:relSizeAnchor xmlns:cdr="http://schemas.openxmlformats.org/drawingml/2006/chartDrawing">
    <cdr:from>
      <cdr:x>0.08802</cdr:x>
      <cdr:y>0</cdr:y>
    </cdr:from>
    <cdr:to>
      <cdr:x>0.94138</cdr:x>
      <cdr:y>0.07194</cdr:y>
    </cdr:to>
    <cdr:sp macro="" textlink="">
      <cdr:nvSpPr>
        <cdr:cNvPr id="2" name="TextBox 1">
          <a:extLst xmlns:a="http://schemas.openxmlformats.org/drawingml/2006/main">
            <a:ext uri="{FF2B5EF4-FFF2-40B4-BE49-F238E27FC236}">
              <a16:creationId xmlns:a16="http://schemas.microsoft.com/office/drawing/2014/main" id="{04BC1FD0-EBE0-4F4E-8783-0AFAE1D1EEA7}"/>
            </a:ext>
          </a:extLst>
        </cdr:cNvPr>
        <cdr:cNvSpPr txBox="1"/>
      </cdr:nvSpPr>
      <cdr:spPr>
        <a:xfrm xmlns:a="http://schemas.openxmlformats.org/drawingml/2006/main">
          <a:off x="257541" y="0"/>
          <a:ext cx="2497016" cy="296008"/>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n-US" sz="1200" b="1" dirty="0"/>
            <a:t>Panel B: MENA Country Groups</a:t>
          </a:r>
        </a:p>
      </cdr:txBody>
    </cdr:sp>
  </cdr:relSizeAnchor>
</c:userShapes>
</file>

<file path=ppt/drawings/drawing5.xml><?xml version="1.0" encoding="utf-8"?>
<c:userShapes xmlns:c="http://schemas.openxmlformats.org/drawingml/2006/chart">
  <cdr:relSizeAnchor xmlns:cdr="http://schemas.openxmlformats.org/drawingml/2006/chartDrawing">
    <cdr:from>
      <cdr:x>0</cdr:x>
      <cdr:y>0.81653</cdr:y>
    </cdr:from>
    <cdr:to>
      <cdr:x>1</cdr:x>
      <cdr:y>1</cdr:y>
    </cdr:to>
    <cdr:sp macro="" textlink="">
      <cdr:nvSpPr>
        <cdr:cNvPr id="4" name="TextBox 3">
          <a:extLst xmlns:a="http://schemas.openxmlformats.org/drawingml/2006/main">
            <a:ext uri="{FF2B5EF4-FFF2-40B4-BE49-F238E27FC236}">
              <a16:creationId xmlns:a16="http://schemas.microsoft.com/office/drawing/2014/main" id="{2A63A459-9966-4CFF-9112-DF10CA8D8FDE}"/>
            </a:ext>
          </a:extLst>
        </cdr:cNvPr>
        <cdr:cNvSpPr txBox="1"/>
      </cdr:nvSpPr>
      <cdr:spPr>
        <a:xfrm xmlns:a="http://schemas.openxmlformats.org/drawingml/2006/main">
          <a:off x="0" y="3857625"/>
          <a:ext cx="6167439" cy="86677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000"/>
        </a:p>
      </cdr:txBody>
    </cdr:sp>
  </cdr:relSizeAnchor>
</c:userShapes>
</file>

<file path=ppt/drawings/drawing6.xml><?xml version="1.0" encoding="utf-8"?>
<c:userShapes xmlns:c="http://schemas.openxmlformats.org/drawingml/2006/chart">
  <cdr:relSizeAnchor xmlns:cdr="http://schemas.openxmlformats.org/drawingml/2006/chartDrawing">
    <cdr:from>
      <cdr:x>0.4981</cdr:x>
      <cdr:y>0</cdr:y>
    </cdr:from>
    <cdr:to>
      <cdr:x>0.5038</cdr:x>
      <cdr:y>0.76174</cdr:y>
    </cdr:to>
    <cdr:cxnSp macro="">
      <cdr:nvCxnSpPr>
        <cdr:cNvPr id="3" name="Straight Connector 2">
          <a:extLst xmlns:a="http://schemas.openxmlformats.org/drawingml/2006/main">
            <a:ext uri="{FF2B5EF4-FFF2-40B4-BE49-F238E27FC236}">
              <a16:creationId xmlns:a16="http://schemas.microsoft.com/office/drawing/2014/main" id="{413F15E9-10C3-4989-90D7-9CF81FAA91CC}"/>
            </a:ext>
          </a:extLst>
        </cdr:cNvPr>
        <cdr:cNvCxnSpPr/>
      </cdr:nvCxnSpPr>
      <cdr:spPr>
        <a:xfrm xmlns:a="http://schemas.openxmlformats.org/drawingml/2006/main" flipH="1">
          <a:off x="2495550" y="0"/>
          <a:ext cx="28575" cy="2162175"/>
        </a:xfrm>
        <a:prstGeom xmlns:a="http://schemas.openxmlformats.org/drawingml/2006/main" prst="line">
          <a:avLst/>
        </a:prstGeom>
        <a:ln xmlns:a="http://schemas.openxmlformats.org/drawingml/2006/main" w="19050">
          <a:solidFill>
            <a:schemeClr val="tx1"/>
          </a:solidFill>
          <a:prstDash val="dash"/>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7.xml><?xml version="1.0" encoding="utf-8"?>
<c:userShapes xmlns:c="http://schemas.openxmlformats.org/drawingml/2006/chart">
  <cdr:relSizeAnchor xmlns:cdr="http://schemas.openxmlformats.org/drawingml/2006/chartDrawing">
    <cdr:from>
      <cdr:x>0.17708</cdr:x>
      <cdr:y>0.01042</cdr:y>
    </cdr:from>
    <cdr:to>
      <cdr:x>0.86875</cdr:x>
      <cdr:y>0.06514</cdr:y>
    </cdr:to>
    <cdr:sp macro="" textlink="">
      <cdr:nvSpPr>
        <cdr:cNvPr id="2" name="TextBox 1">
          <a:extLst xmlns:a="http://schemas.openxmlformats.org/drawingml/2006/main">
            <a:ext uri="{FF2B5EF4-FFF2-40B4-BE49-F238E27FC236}">
              <a16:creationId xmlns:a16="http://schemas.microsoft.com/office/drawing/2014/main" id="{284B09DB-C7B7-4060-BFBC-3237AC01DDFB}"/>
            </a:ext>
          </a:extLst>
        </cdr:cNvPr>
        <cdr:cNvSpPr txBox="1"/>
      </cdr:nvSpPr>
      <cdr:spPr>
        <a:xfrm xmlns:a="http://schemas.openxmlformats.org/drawingml/2006/main">
          <a:off x="1052493" y="65520"/>
          <a:ext cx="4111010" cy="344056"/>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n-US" sz="1100" b="1" dirty="0">
              <a:solidFill>
                <a:sysClr val="windowText" lastClr="000000"/>
              </a:solidFill>
            </a:rPr>
            <a:t>Panel A: Difference in GDP</a:t>
          </a:r>
          <a:r>
            <a:rPr lang="en-US" sz="1100" b="1" baseline="0" dirty="0">
              <a:solidFill>
                <a:sysClr val="windowText" lastClr="000000"/>
              </a:solidFill>
            </a:rPr>
            <a:t> Growth (percentage)</a:t>
          </a:r>
          <a:endParaRPr lang="en-US" sz="1100" b="1" dirty="0">
            <a:solidFill>
              <a:sysClr val="windowText" lastClr="000000"/>
            </a:solidFill>
          </a:endParaRPr>
        </a:p>
      </cdr:txBody>
    </cdr:sp>
  </cdr:relSizeAnchor>
  <cdr:relSizeAnchor xmlns:cdr="http://schemas.openxmlformats.org/drawingml/2006/chartDrawing">
    <cdr:from>
      <cdr:x>0</cdr:x>
      <cdr:y>0.66958</cdr:y>
    </cdr:from>
    <cdr:to>
      <cdr:x>1</cdr:x>
      <cdr:y>0.99252</cdr:y>
    </cdr:to>
    <cdr:sp macro="" textlink="">
      <cdr:nvSpPr>
        <cdr:cNvPr id="3" name="TextBox 2">
          <a:extLst xmlns:a="http://schemas.openxmlformats.org/drawingml/2006/main">
            <a:ext uri="{FF2B5EF4-FFF2-40B4-BE49-F238E27FC236}">
              <a16:creationId xmlns:a16="http://schemas.microsoft.com/office/drawing/2014/main" id="{99C8B98F-4337-4394-86D1-79F6259274D2}"/>
            </a:ext>
          </a:extLst>
        </cdr:cNvPr>
        <cdr:cNvSpPr txBox="1"/>
      </cdr:nvSpPr>
      <cdr:spPr>
        <a:xfrm xmlns:a="http://schemas.openxmlformats.org/drawingml/2006/main">
          <a:off x="0" y="2914650"/>
          <a:ext cx="5438775" cy="140571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000">
            <a:effectLst/>
          </a:endParaRPr>
        </a:p>
      </cdr:txBody>
    </cdr:sp>
  </cdr:relSizeAnchor>
</c:userShapes>
</file>

<file path=ppt/drawings/drawing8.xml><?xml version="1.0" encoding="utf-8"?>
<c:userShapes xmlns:c="http://schemas.openxmlformats.org/drawingml/2006/chart">
  <cdr:relSizeAnchor xmlns:cdr="http://schemas.openxmlformats.org/drawingml/2006/chartDrawing">
    <cdr:from>
      <cdr:x>0.17708</cdr:x>
      <cdr:y>0.01042</cdr:y>
    </cdr:from>
    <cdr:to>
      <cdr:x>0.86875</cdr:x>
      <cdr:y>0.13889</cdr:y>
    </cdr:to>
    <cdr:sp macro="" textlink="">
      <cdr:nvSpPr>
        <cdr:cNvPr id="2" name="TextBox 1">
          <a:extLst xmlns:a="http://schemas.openxmlformats.org/drawingml/2006/main">
            <a:ext uri="{FF2B5EF4-FFF2-40B4-BE49-F238E27FC236}">
              <a16:creationId xmlns:a16="http://schemas.microsoft.com/office/drawing/2014/main" id="{284B09DB-C7B7-4060-BFBC-3237AC01DDFB}"/>
            </a:ext>
          </a:extLst>
        </cdr:cNvPr>
        <cdr:cNvSpPr txBox="1"/>
      </cdr:nvSpPr>
      <cdr:spPr>
        <a:xfrm xmlns:a="http://schemas.openxmlformats.org/drawingml/2006/main">
          <a:off x="809625" y="28575"/>
          <a:ext cx="3162300" cy="35242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n-US" sz="1100" b="1">
              <a:solidFill>
                <a:sysClr val="windowText" lastClr="000000"/>
              </a:solidFill>
            </a:rPr>
            <a:t>Panel B: Difference in Governance (score)</a:t>
          </a:r>
        </a:p>
      </cdr:txBody>
    </cdr:sp>
  </cdr:relSizeAnchor>
  <cdr:relSizeAnchor xmlns:cdr="http://schemas.openxmlformats.org/drawingml/2006/chartDrawing">
    <cdr:from>
      <cdr:x>0</cdr:x>
      <cdr:y>0.65567</cdr:y>
    </cdr:from>
    <cdr:to>
      <cdr:x>1</cdr:x>
      <cdr:y>1</cdr:y>
    </cdr:to>
    <cdr:sp macro="" textlink="">
      <cdr:nvSpPr>
        <cdr:cNvPr id="3" name="TextBox 2">
          <a:extLst xmlns:a="http://schemas.openxmlformats.org/drawingml/2006/main">
            <a:ext uri="{FF2B5EF4-FFF2-40B4-BE49-F238E27FC236}">
              <a16:creationId xmlns:a16="http://schemas.microsoft.com/office/drawing/2014/main" id="{99C8B98F-4337-4394-86D1-79F6259274D2}"/>
            </a:ext>
          </a:extLst>
        </cdr:cNvPr>
        <cdr:cNvSpPr txBox="1"/>
      </cdr:nvSpPr>
      <cdr:spPr>
        <a:xfrm xmlns:a="http://schemas.openxmlformats.org/drawingml/2006/main">
          <a:off x="0" y="3028950"/>
          <a:ext cx="5943600" cy="159067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marL="0" marR="0" lvl="0" indent="0" defTabSz="914400" eaLnBrk="1" fontAlgn="auto" latinLnBrk="0" hangingPunct="1">
            <a:lnSpc>
              <a:spcPct val="100000"/>
            </a:lnSpc>
            <a:spcBef>
              <a:spcPts val="0"/>
            </a:spcBef>
            <a:spcAft>
              <a:spcPts val="0"/>
            </a:spcAft>
            <a:buClrTx/>
            <a:buSzTx/>
            <a:buFontTx/>
            <a:buNone/>
            <a:tabLst/>
            <a:defRPr/>
          </a:pPr>
          <a:endParaRPr lang="en-US" sz="1000">
            <a:effectLst/>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230F53-2CC1-4A92-9044-EA0DFE640481}" type="datetimeFigureOut">
              <a:rPr lang="en-US" smtClean="0"/>
              <a:t>5/29/2021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792BB6-533F-41D9-970B-734BC0E321AA}" type="slidenum">
              <a:rPr lang="en-US" smtClean="0"/>
              <a:t>‹#›</a:t>
            </a:fld>
            <a:endParaRPr lang="en-US"/>
          </a:p>
        </p:txBody>
      </p:sp>
    </p:spTree>
    <p:extLst>
      <p:ext uri="{BB962C8B-B14F-4D97-AF65-F5344CB8AC3E}">
        <p14:creationId xmlns:p14="http://schemas.microsoft.com/office/powerpoint/2010/main" val="998668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very much Roberta, for the very kind introduction. Good morning, good afternoon, and good evening. </a:t>
            </a:r>
          </a:p>
          <a:p>
            <a:r>
              <a:rPr lang="en-US" dirty="0"/>
              <a:t>This is my great honor and pleasure to be here, jointly with Ha, on behalf of the MENA Economic Update team, to present to you our semi-annual flagship report MENA Economic Update, April 2021. </a:t>
            </a:r>
          </a:p>
          <a:p>
            <a:r>
              <a:rPr lang="en-US" dirty="0"/>
              <a:t>Please allow me to start with a big thank you to the team.</a:t>
            </a:r>
          </a:p>
        </p:txBody>
      </p:sp>
      <p:sp>
        <p:nvSpPr>
          <p:cNvPr id="4" name="Slide Number Placeholder 3"/>
          <p:cNvSpPr>
            <a:spLocks noGrp="1"/>
          </p:cNvSpPr>
          <p:nvPr>
            <p:ph type="sldNum" sz="quarter" idx="5"/>
          </p:nvPr>
        </p:nvSpPr>
        <p:spPr/>
        <p:txBody>
          <a:bodyPr/>
          <a:lstStyle/>
          <a:p>
            <a:fld id="{47792BB6-533F-41D9-970B-734BC0E321AA}" type="slidenum">
              <a:rPr lang="en-US" smtClean="0"/>
              <a:t>1</a:t>
            </a:fld>
            <a:endParaRPr lang="en-US"/>
          </a:p>
        </p:txBody>
      </p:sp>
    </p:spTree>
    <p:extLst>
      <p:ext uri="{BB962C8B-B14F-4D97-AF65-F5344CB8AC3E}">
        <p14:creationId xmlns:p14="http://schemas.microsoft.com/office/powerpoint/2010/main" val="35781700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want to thank the team, Roberta, Daniel, Ha, Asif, Claudio, Sultan, for their incredibly hard work in this production.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Thank Daniel for his intellectual leadership.</a:t>
            </a:r>
          </a:p>
          <a:p>
            <a:r>
              <a:rPr lang="en-US" dirty="0"/>
              <a:t>We want to thank Roberta, our chief economist, for her push for the institutions and transparency angle</a:t>
            </a:r>
          </a:p>
        </p:txBody>
      </p:sp>
      <p:sp>
        <p:nvSpPr>
          <p:cNvPr id="4" name="Slide Number Placeholder 3"/>
          <p:cNvSpPr>
            <a:spLocks noGrp="1"/>
          </p:cNvSpPr>
          <p:nvPr>
            <p:ph type="sldNum" sz="quarter" idx="5"/>
          </p:nvPr>
        </p:nvSpPr>
        <p:spPr/>
        <p:txBody>
          <a:bodyPr/>
          <a:lstStyle/>
          <a:p>
            <a:fld id="{47792BB6-533F-41D9-970B-734BC0E321AA}" type="slidenum">
              <a:rPr lang="en-US" smtClean="0"/>
              <a:t>2</a:t>
            </a:fld>
            <a:endParaRPr lang="en-US"/>
          </a:p>
        </p:txBody>
      </p:sp>
    </p:spTree>
    <p:extLst>
      <p:ext uri="{BB962C8B-B14F-4D97-AF65-F5344CB8AC3E}">
        <p14:creationId xmlns:p14="http://schemas.microsoft.com/office/powerpoint/2010/main" val="1916800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can probably already see from the title: </a:t>
            </a:r>
            <a:r>
              <a:rPr lang="en-CA" sz="1200" dirty="0"/>
              <a:t>Living with debt: how institutions can chart a path to recovery in the middle east and north Africa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that this edition includes not only an update of the Economic Situation of the region, but also some reflections of the role of fiscal policy.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is our main findings of the report: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year ago, the first cases of COVID-19 hit the MENA region. One year later, the region remains in a crisis.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The pandemic is forcing economies in the MENA region to borrow a lot. While addressing the immediate concerns of the disaster relief, MENA countries need to be aware of the tension </a:t>
            </a:r>
            <a:r>
              <a:rPr lang="en-US" dirty="0"/>
              <a:t>between short-term needs and long-run risks of public debt, and a balancing act between the two would be essential.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Thus countries are facing touch choices, and public expenditure priorities depend on the phase of the recovery.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want to emphasis that, in every stage of the recovery, transparency can help chart a path to lasting recovery for MENA.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Borrowing a sentence from our president David </a:t>
            </a:r>
            <a:r>
              <a:rPr lang="en-US" dirty="0" err="1"/>
              <a:t>Malpass</a:t>
            </a:r>
            <a:r>
              <a:rPr lang="en-US" dirty="0"/>
              <a:t>, sunlight is truly the best remedy.</a:t>
            </a:r>
          </a:p>
        </p:txBody>
      </p:sp>
      <p:sp>
        <p:nvSpPr>
          <p:cNvPr id="4" name="Slide Number Placeholder 3"/>
          <p:cNvSpPr>
            <a:spLocks noGrp="1"/>
          </p:cNvSpPr>
          <p:nvPr>
            <p:ph type="sldNum" sz="quarter" idx="5"/>
          </p:nvPr>
        </p:nvSpPr>
        <p:spPr/>
        <p:txBody>
          <a:bodyPr/>
          <a:lstStyle/>
          <a:p>
            <a:fld id="{47792BB6-533F-41D9-970B-734BC0E321AA}" type="slidenum">
              <a:rPr lang="en-US" smtClean="0"/>
              <a:t>3</a:t>
            </a:fld>
            <a:endParaRPr lang="en-US"/>
          </a:p>
        </p:txBody>
      </p:sp>
    </p:spTree>
    <p:extLst>
      <p:ext uri="{BB962C8B-B14F-4D97-AF65-F5344CB8AC3E}">
        <p14:creationId xmlns:p14="http://schemas.microsoft.com/office/powerpoint/2010/main" val="3958332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MENA is still in crisis from an economic point of view. </a:t>
            </a:r>
          </a:p>
          <a:p>
            <a:r>
              <a:rPr lang="en-US" dirty="0"/>
              <a:t>The LHS panel is a comparison of growth in GDP levels. And the RHS is a comparison of growth in GDP per capita levels.</a:t>
            </a:r>
          </a:p>
          <a:p>
            <a:r>
              <a:rPr lang="en-US" dirty="0"/>
              <a:t>In both charts, the dotted lines represent the forecasts in a no-pandemic world, which is represented by MPO forecast in October 2019.</a:t>
            </a:r>
          </a:p>
          <a:p>
            <a:r>
              <a:rPr lang="en-US" dirty="0"/>
              <a:t>And the solid lines represent the latest forecast, one year into the pandemic, which is represented by MPO forecast in April 2021.</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By end of 2021 GDP level will be 7.2 percentage points below where it was predicted to be in a no-pandemic world. This gap of 7.2 percentage points is equivalent to 227 billion dollars.</a:t>
            </a:r>
          </a:p>
          <a:p>
            <a:endParaRPr lang="en-US" dirty="0"/>
          </a:p>
          <a:p>
            <a:r>
              <a:rPr lang="en-US" dirty="0"/>
              <a:t>This drop results from a GDP contraction in 2020, compared to a positive growth predicted before pandemic. Add up to that, a slower forecasted growth for 2021.</a:t>
            </a:r>
          </a:p>
          <a:p>
            <a:endParaRPr lang="en-US" dirty="0"/>
          </a:p>
          <a:p>
            <a:endParaRPr lang="en-US" dirty="0"/>
          </a:p>
          <a:p>
            <a:r>
              <a:rPr lang="en-US" dirty="0"/>
              <a:t>This counterfactual comparison is even sharper if we look at GDP per capita levels, which is a better measure for living standards. </a:t>
            </a:r>
          </a:p>
          <a:p>
            <a:r>
              <a:rPr lang="en-US" dirty="0"/>
              <a:t>By the end of 2021, GDP per capita level will be 7 percentage points below where it was predicted to be in a no-pandemic world. More importantly, even with the positive growth in 2021, by end of 2021, the level of GDP per capita will still be 5% lower than its level back in 2019.</a:t>
            </a:r>
          </a:p>
          <a:p>
            <a:endParaRPr lang="en-US" dirty="0"/>
          </a:p>
        </p:txBody>
      </p:sp>
      <p:sp>
        <p:nvSpPr>
          <p:cNvPr id="4" name="Slide Number Placeholder 3"/>
          <p:cNvSpPr>
            <a:spLocks noGrp="1"/>
          </p:cNvSpPr>
          <p:nvPr>
            <p:ph type="sldNum" sz="quarter" idx="5"/>
          </p:nvPr>
        </p:nvSpPr>
        <p:spPr/>
        <p:txBody>
          <a:bodyPr/>
          <a:lstStyle/>
          <a:p>
            <a:fld id="{47792BB6-533F-41D9-970B-734BC0E321AA}" type="slidenum">
              <a:rPr lang="en-US" smtClean="0"/>
              <a:t>4</a:t>
            </a:fld>
            <a:endParaRPr lang="en-US"/>
          </a:p>
        </p:txBody>
      </p:sp>
    </p:spTree>
    <p:extLst>
      <p:ext uri="{BB962C8B-B14F-4D97-AF65-F5344CB8AC3E}">
        <p14:creationId xmlns:p14="http://schemas.microsoft.com/office/powerpoint/2010/main" val="3654587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we zoom in the loss in terms of GDP per capita, by decomposing MENA into three countries groups, t</a:t>
            </a:r>
            <a:r>
              <a:rPr lang="en-US" sz="1200" b="0" i="0" u="none" kern="1200" dirty="0">
                <a:solidFill>
                  <a:schemeClr val="tx1"/>
                </a:solidFill>
                <a:effectLst/>
                <a:latin typeface="+mn-lt"/>
                <a:ea typeface="+mn-ea"/>
                <a:cs typeface="+mn-cs"/>
              </a:rPr>
              <a:t>hen the biggest loss, compared to pre-pandemic forecast, would come from Developing oil importers (represented by red lines), followed by GCC (Gulf Cooperation Council countries, represented by blue lines), and other oil exporters (represented by gold lines). </a:t>
            </a:r>
          </a:p>
          <a:p>
            <a:endParaRPr lang="en-US" dirty="0"/>
          </a:p>
          <a:p>
            <a:r>
              <a:rPr lang="en-US" dirty="0"/>
              <a:t>Again, in both charts, the dotted lines represent the forecasts in a no-pandemic world, which is represented by MPO forecast in October 2019.</a:t>
            </a:r>
          </a:p>
          <a:p>
            <a:r>
              <a:rPr lang="en-US" dirty="0"/>
              <a:t>And the solid lines represent the latest forecast, one year into the pandemic, which is represented by MPO forecast in April 2021.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kern="1200" dirty="0">
              <a:solidFill>
                <a:schemeClr val="tx1"/>
              </a:solidFill>
              <a:effectLst/>
              <a:latin typeface="+mn-lt"/>
              <a:ea typeface="+mn-ea"/>
              <a:cs typeface="+mn-cs"/>
            </a:endParaRPr>
          </a:p>
          <a:p>
            <a:r>
              <a:rPr lang="en-US" dirty="0"/>
              <a:t>The region’s oil importing countries entered 2020 with the highest public debt. By the end of 2021, their GDP per capita will be 8.6 percentage points below where it could have been in a no-pandemic world, comparing the red dotted line and the red solid line.</a:t>
            </a:r>
          </a:p>
          <a:p>
            <a:endParaRPr lang="en-US" dirty="0"/>
          </a:p>
          <a:p>
            <a:r>
              <a:rPr lang="en-US" dirty="0"/>
              <a:t>This drop results from a GDP per capita contraction in 2020 and a slight recovery in 2021, compared to a 3% growth in both years in a no-pandemic world.</a:t>
            </a:r>
          </a:p>
          <a:p>
            <a:endParaRPr lang="en-US" dirty="0"/>
          </a:p>
          <a:p>
            <a:r>
              <a:rPr lang="en-US" sz="1200" b="0" i="0" u="none" kern="1200" dirty="0">
                <a:solidFill>
                  <a:schemeClr val="tx1"/>
                </a:solidFill>
                <a:effectLst/>
                <a:latin typeface="+mn-lt"/>
                <a:ea typeface="+mn-ea"/>
                <a:cs typeface="+mn-cs"/>
              </a:rPr>
              <a:t>Last but not least from this chart, none of the country groups can return to its 2019 level by the end of 2021.</a:t>
            </a:r>
          </a:p>
        </p:txBody>
      </p:sp>
      <p:sp>
        <p:nvSpPr>
          <p:cNvPr id="4" name="Slide Number Placeholder 3"/>
          <p:cNvSpPr>
            <a:spLocks noGrp="1"/>
          </p:cNvSpPr>
          <p:nvPr>
            <p:ph type="sldNum" sz="quarter" idx="5"/>
          </p:nvPr>
        </p:nvSpPr>
        <p:spPr/>
        <p:txBody>
          <a:bodyPr/>
          <a:lstStyle/>
          <a:p>
            <a:fld id="{47792BB6-533F-41D9-970B-734BC0E321AA}" type="slidenum">
              <a:rPr lang="en-US" smtClean="0"/>
              <a:t>5</a:t>
            </a:fld>
            <a:endParaRPr lang="en-US"/>
          </a:p>
        </p:txBody>
      </p:sp>
    </p:spTree>
    <p:extLst>
      <p:ext uri="{BB962C8B-B14F-4D97-AF65-F5344CB8AC3E}">
        <p14:creationId xmlns:p14="http://schemas.microsoft.com/office/powerpoint/2010/main" val="13018310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Because of that, poverty is rising in the region.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In this chart, the black line represent the estimated headcount of poverty (i.e. those making less than $5.50 per day) in a no-pandemic world. And the redline is the estimated poverty headcount based on latest GDP forecasts.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The number of poor people in the region is expected to increase from 176 million in 2019 to 192 million people by the end of 2021. This is an extra 14 million people falling into poverty following the pandemic, all of whom wouldn’t have been in poverty if not hit by the pandemic.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Noted that this forecast provides only a lower threshold, because it assumes that every household is equally affected. Unfortunately, the effect of Covid‐19 is not equal to the population, and the poorer side of the population suffers most from the pandemic.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fld id="{47792BB6-533F-41D9-970B-734BC0E321AA}" type="slidenum">
              <a:rPr lang="en-US" smtClean="0"/>
              <a:t>6</a:t>
            </a:fld>
            <a:endParaRPr lang="en-US"/>
          </a:p>
        </p:txBody>
      </p:sp>
    </p:spTree>
    <p:extLst>
      <p:ext uri="{BB962C8B-B14F-4D97-AF65-F5344CB8AC3E}">
        <p14:creationId xmlns:p14="http://schemas.microsoft.com/office/powerpoint/2010/main" val="18554274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many aspects where inequality is in the rise, lies in the food price inflation. </a:t>
            </a:r>
          </a:p>
          <a:p>
            <a:r>
              <a:rPr lang="en-US" dirty="0"/>
              <a:t>In this chart, the horizonal axis represents countries in the MENA region, and the vertical axis represent different foods, such as rice, bread, tomatoes, etc. So each little square represent one food in one country. If the price is red, that means the food price is more than 20% compared to a year ago. </a:t>
            </a:r>
          </a:p>
          <a:p>
            <a:r>
              <a:rPr lang="en-US" dirty="0"/>
              <a:t>The country that’s most worrisome in this chart is Lebanon, where prices are almost all more than 20% more expensive, compared to a year ago, and some are more than 100% more expensive.</a:t>
            </a:r>
          </a:p>
          <a:p>
            <a:r>
              <a:rPr lang="en-US" dirty="0"/>
              <a:t>Syria, Yemen, Djibouti, Iran are also on the hot spot. Even in Morocco, prices for fruits and vegetables (oranges; lettuce) are more than 20% higher compared to a year ago.</a:t>
            </a:r>
          </a:p>
        </p:txBody>
      </p:sp>
      <p:sp>
        <p:nvSpPr>
          <p:cNvPr id="4" name="Slide Number Placeholder 3"/>
          <p:cNvSpPr>
            <a:spLocks noGrp="1"/>
          </p:cNvSpPr>
          <p:nvPr>
            <p:ph type="sldNum" sz="quarter" idx="5"/>
          </p:nvPr>
        </p:nvSpPr>
        <p:spPr/>
        <p:txBody>
          <a:bodyPr/>
          <a:lstStyle/>
          <a:p>
            <a:fld id="{47792BB6-533F-41D9-970B-734BC0E321AA}" type="slidenum">
              <a:rPr lang="en-US" smtClean="0"/>
              <a:t>7</a:t>
            </a:fld>
            <a:endParaRPr lang="en-US"/>
          </a:p>
        </p:txBody>
      </p:sp>
    </p:spTree>
    <p:extLst>
      <p:ext uri="{BB962C8B-B14F-4D97-AF65-F5344CB8AC3E}">
        <p14:creationId xmlns:p14="http://schemas.microsoft.com/office/powerpoint/2010/main" val="31416364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MENA remains in the crisis, countries are walking the tight rope of rising public debt.</a:t>
            </a:r>
          </a:p>
          <a:p>
            <a:r>
              <a:rPr lang="en-US" dirty="0"/>
              <a:t>The blue bars in this chart represent median public debt for each of the MENA country groups, the three bars on the left represent situations in 2019, and the three bars on the right represent median public debt in 2020.</a:t>
            </a:r>
          </a:p>
          <a:p>
            <a:r>
              <a:rPr lang="en-US" dirty="0"/>
              <a:t>The yellow diamonds represent world median public debt of the corresponding income group. MENA high income countries (i.e. GCC) are compared with world median of high-income countries, and MENA Middle-income oil exporters and oil importers are compared with world median of middle-income countries.</a:t>
            </a:r>
          </a:p>
          <a:p>
            <a:endParaRPr lang="en-US" dirty="0"/>
          </a:p>
          <a:p>
            <a:endParaRPr lang="en-US" dirty="0"/>
          </a:p>
          <a:p>
            <a:r>
              <a:rPr lang="en-US" dirty="0"/>
              <a:t>We could already see a global increase in public debt, when all three yellow diamonds moved higher in 2020 compared to 2019.</a:t>
            </a:r>
          </a:p>
          <a:p>
            <a:endParaRPr lang="en-US" dirty="0"/>
          </a:p>
          <a:p>
            <a:r>
              <a:rPr lang="en-US" dirty="0"/>
              <a:t>And MENA is no exception. Most worrisome are MENA oil importers that are highlighted with a red box, who entered 2020 with highest public debt. </a:t>
            </a:r>
          </a:p>
          <a:p>
            <a:r>
              <a:rPr lang="en-US" dirty="0"/>
              <a:t>During the pandemic, public debt in middle-income oil importers have increased from 72 to almost 90, high above the debt level of a typical world middle-income country.</a:t>
            </a:r>
          </a:p>
          <a:p>
            <a:r>
              <a:rPr lang="en-US" dirty="0"/>
              <a:t>MENA middle-income oil exporters had also accumulated debt, and have passed its peers in the middle income group.</a:t>
            </a:r>
          </a:p>
          <a:p>
            <a:endParaRPr lang="en-US" dirty="0"/>
          </a:p>
          <a:p>
            <a:r>
              <a:rPr lang="en-US" dirty="0"/>
              <a:t>For these countries, making decision about fiscal expenditure would be walking the tight rope. </a:t>
            </a:r>
          </a:p>
          <a:p>
            <a:endParaRPr lang="en-US" dirty="0"/>
          </a:p>
          <a:p>
            <a:r>
              <a:rPr lang="en-US" dirty="0"/>
              <a:t>My colleague Ha, will walk you through the details of this tight rope. </a:t>
            </a:r>
            <a:r>
              <a:rPr lang="en-US" dirty="0">
                <a:sym typeface="Wingdings" panose="05000000000000000000" pitchFamily="2" charset="2"/>
              </a:rPr>
              <a:t></a:t>
            </a:r>
          </a:p>
          <a:p>
            <a:endParaRPr lang="en-US" dirty="0"/>
          </a:p>
          <a:p>
            <a:r>
              <a:rPr lang="en-US" dirty="0"/>
              <a:t>-----------------------------------------------------------------------------------------------------</a:t>
            </a:r>
          </a:p>
          <a:p>
            <a:r>
              <a:rPr lang="en-US" dirty="0"/>
              <a:t>Debt/GDP is rising because of a combinations of factors:</a:t>
            </a:r>
          </a:p>
          <a:p>
            <a:endParaRPr lang="en-US" dirty="0"/>
          </a:p>
          <a:p>
            <a:r>
              <a:rPr lang="en-US" dirty="0"/>
              <a:t> --</a:t>
            </a:r>
            <a:r>
              <a:rPr lang="en-US" i="1" dirty="0"/>
              <a:t>negative GDP growth </a:t>
            </a:r>
            <a:r>
              <a:rPr lang="en-US" dirty="0"/>
              <a:t>in majority of countries, but most notably, Iraq (-11.9% in 2020); Tunisia (-8.8%); Morocco (-7%). Three exceptions (Iran: 1.7%; Egypt: 3.6% and Djibouti: 0.5%).</a:t>
            </a:r>
          </a:p>
          <a:p>
            <a:endParaRPr lang="en-US" dirty="0"/>
          </a:p>
          <a:p>
            <a:r>
              <a:rPr lang="en-US" dirty="0"/>
              <a:t>and </a:t>
            </a:r>
            <a:r>
              <a:rPr lang="en-US" i="1" dirty="0"/>
              <a:t>rising debt</a:t>
            </a:r>
            <a:r>
              <a:rPr lang="en-US" dirty="0"/>
              <a:t>. This in turn is due to: </a:t>
            </a:r>
          </a:p>
          <a:p>
            <a:endParaRPr lang="en-US" dirty="0"/>
          </a:p>
          <a:p>
            <a:pPr marL="228600" indent="-228600">
              <a:buAutoNum type="arabicPeriod"/>
            </a:pPr>
            <a:r>
              <a:rPr lang="en-US" dirty="0"/>
              <a:t>primary deficits, which were the driving force in many oil exporters, largest in Libya (45% of GDP in 2020), but also GCC countries (e.g. Kuwait 25%, Oman: 14%; Bahrain: 12%).</a:t>
            </a:r>
          </a:p>
          <a:p>
            <a:pPr marL="0" indent="0">
              <a:buNone/>
            </a:pPr>
            <a:r>
              <a:rPr lang="en-US" dirty="0"/>
              <a:t>	a. Primary deficits were mainly due to drop in revenues: for oil exporters (Iraq: -41% drop in real revenue in 2020 compared to 2019; </a:t>
            </a:r>
            <a:r>
              <a:rPr lang="en-US" dirty="0" err="1"/>
              <a:t>Lybia</a:t>
            </a:r>
            <a:r>
              <a:rPr lang="en-US" dirty="0"/>
              <a:t> (-60%); UAE (-31%); Kuwait (-29%) and other GCC countries with similar magnitude); but also for oil importers, e.g., Tunisia (-6.1%); Morocco (-6.9%)</a:t>
            </a:r>
          </a:p>
          <a:p>
            <a:pPr marL="0" indent="0">
              <a:buNone/>
            </a:pPr>
            <a:r>
              <a:rPr lang="en-US" dirty="0"/>
              <a:t>	b. and in some cases, large countercyclical increases in spending, e.g., in Tunisia (real primary expenditure in 2020 was up 13% compared to 2019), Morocco (+7%). Note that many others also put together stimulus packages as well (e.g. Bahrain 4% of GDP and then partially extended; UAE: ~3% of GDP; Saudi Arabia: ~3% of GDP) although their primary expenditure did not increase as much as Tunisia and Morocco.</a:t>
            </a:r>
          </a:p>
          <a:p>
            <a:pPr marL="0" indent="0">
              <a:buNone/>
            </a:pPr>
            <a:endParaRPr lang="en-US" dirty="0"/>
          </a:p>
          <a:p>
            <a:r>
              <a:rPr lang="en-US" dirty="0"/>
              <a:t>For example, the fiscal packages for Tunisia put together were around 2.3% of GDP (announced in March 2020 covering both 2020 and 2021), consists a combination of transfers, support to firms and sectors such as tourism in the form of interest rate subsidy and support to unemployed and self-employed (IMF)</a:t>
            </a:r>
          </a:p>
          <a:p>
            <a:r>
              <a:rPr lang="en-US" dirty="0"/>
              <a:t>Morocco created a special fund in early 2020 (3% of GDP) for health spending, defer social contribution, unemployment support, tax deferral, also support to informal workers (IMF).</a:t>
            </a:r>
          </a:p>
          <a:p>
            <a:endParaRPr lang="en-US" dirty="0"/>
          </a:p>
          <a:p>
            <a:r>
              <a:rPr lang="en-US" dirty="0"/>
              <a:t>By comparison,  high income country like the US, the combined fiscal packages were much larger (11%+4% and most recent in 2021, 9% ~25% of GDP); Germany (20% of GDP as of December 2020); Japan (42% as of Dec 2020); Australia (16%)  (https://time.com/5923840/us-pandemic-relief-bill-december/) </a:t>
            </a:r>
          </a:p>
          <a:p>
            <a:endParaRPr lang="en-US" dirty="0"/>
          </a:p>
          <a:p>
            <a:r>
              <a:rPr lang="en-US" dirty="0"/>
              <a:t>Other middle-income countries’ fiscal packages are usually &lt;10% (Mexico ~1%; China: 5% of GDP; India: 8%; Brazil: 10%; Vietnam: 3.6%; Indonesia: 3.8%). On average, e</a:t>
            </a:r>
            <a:r>
              <a:rPr lang="en-US" sz="1200" kern="1200" dirty="0">
                <a:solidFill>
                  <a:schemeClr val="tx1"/>
                </a:solidFill>
                <a:effectLst/>
                <a:latin typeface="+mn-lt"/>
                <a:ea typeface="+mn-ea"/>
                <a:cs typeface="+mn-cs"/>
              </a:rPr>
              <a:t>merging markets and middle-income economies’ (EMMIEs) deployed all instruments for the fiscal response, with about 3.4 percent of GDP in expenditure and revenue measures and 2.5 percent of GDP in support through other instruments. </a:t>
            </a:r>
            <a:endParaRPr lang="en-US" dirty="0"/>
          </a:p>
          <a:p>
            <a:endParaRPr lang="en-US" dirty="0"/>
          </a:p>
          <a:p>
            <a:r>
              <a:rPr lang="en-US" dirty="0"/>
              <a:t>2. Interest payments  </a:t>
            </a:r>
          </a:p>
          <a:p>
            <a:r>
              <a:rPr lang="en-US" dirty="0"/>
              <a:t>In some countries (Egypt), interest payments were around 10% of GDP in 2020. However, note that debt-GDP ratio in Egypt slightly declined (from 90% in 2019 to 87.5% in 2020), due to positive growth and primary balance.</a:t>
            </a:r>
          </a:p>
          <a:p>
            <a:endParaRPr lang="en-US" dirty="0"/>
          </a:p>
          <a:p>
            <a:r>
              <a:rPr lang="en-US" dirty="0"/>
              <a:t>These increases in public debt overlay on already worryingly high debt levels in MIC oil importers (for 2019 LB: 171% +; TN: 72% +; Egypt 90% flat;  JO: 97% +) --- the MIC oil exporter IRAQ from 48% to 69%, </a:t>
            </a:r>
            <a:r>
              <a:rPr lang="en-US" dirty="0" err="1"/>
              <a:t>Lybia</a:t>
            </a:r>
            <a:r>
              <a:rPr lang="en-US" dirty="0"/>
              <a:t> from 49% to 137% (two factors: GDP drop 30%, and primary deficits (45% of GDP) due to drop in oil exports and oil revenue.</a:t>
            </a:r>
          </a:p>
          <a:p>
            <a:endParaRPr lang="en-US" dirty="0"/>
          </a:p>
        </p:txBody>
      </p:sp>
      <p:sp>
        <p:nvSpPr>
          <p:cNvPr id="4" name="Slide Number Placeholder 3"/>
          <p:cNvSpPr>
            <a:spLocks noGrp="1"/>
          </p:cNvSpPr>
          <p:nvPr>
            <p:ph type="sldNum" sz="quarter" idx="5"/>
          </p:nvPr>
        </p:nvSpPr>
        <p:spPr/>
        <p:txBody>
          <a:bodyPr/>
          <a:lstStyle/>
          <a:p>
            <a:fld id="{47792BB6-533F-41D9-970B-734BC0E321AA}" type="slidenum">
              <a:rPr lang="en-US" smtClean="0"/>
              <a:t>8</a:t>
            </a:fld>
            <a:endParaRPr lang="en-US"/>
          </a:p>
        </p:txBody>
      </p:sp>
    </p:spTree>
    <p:extLst>
      <p:ext uri="{BB962C8B-B14F-4D97-AF65-F5344CB8AC3E}">
        <p14:creationId xmlns:p14="http://schemas.microsoft.com/office/powerpoint/2010/main" val="27757041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792BB6-533F-41D9-970B-734BC0E321AA}" type="slidenum">
              <a:rPr lang="en-US" smtClean="0"/>
              <a:t>9</a:t>
            </a:fld>
            <a:endParaRPr lang="en-US"/>
          </a:p>
        </p:txBody>
      </p:sp>
    </p:spTree>
    <p:extLst>
      <p:ext uri="{BB962C8B-B14F-4D97-AF65-F5344CB8AC3E}">
        <p14:creationId xmlns:p14="http://schemas.microsoft.com/office/powerpoint/2010/main" val="28316624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Positive:</a:t>
            </a:r>
          </a:p>
          <a:p>
            <a:pPr marL="291179" indent="-291179">
              <a:buFont typeface="Arial" panose="020B0604020202020204" pitchFamily="34" charset="0"/>
              <a:buChar char="•"/>
            </a:pPr>
            <a:r>
              <a:rPr lang="en-US" dirty="0"/>
              <a:t>Disaster Relief: Support firms and households </a:t>
            </a:r>
          </a:p>
          <a:p>
            <a:pPr marL="291179" indent="-291179">
              <a:buFont typeface="Arial" panose="020B0604020202020204" pitchFamily="34" charset="0"/>
              <a:buChar char="•"/>
            </a:pPr>
            <a:r>
              <a:rPr lang="en-US" dirty="0"/>
              <a:t>Public Health Spending</a:t>
            </a:r>
          </a:p>
          <a:p>
            <a:pPr marL="291179" indent="-291179">
              <a:buFont typeface="Arial" panose="020B0604020202020204" pitchFamily="34" charset="0"/>
              <a:buChar char="•"/>
            </a:pPr>
            <a:endParaRPr lang="en-US" dirty="0"/>
          </a:p>
          <a:p>
            <a:pPr marL="291179" indent="-291179">
              <a:buFont typeface="Arial" panose="020B0604020202020204" pitchFamily="34" charset="0"/>
              <a:buChar char="•"/>
            </a:pPr>
            <a:endParaRPr lang="en-US" dirty="0"/>
          </a:p>
          <a:p>
            <a:r>
              <a:rPr lang="en-US" dirty="0"/>
              <a:t>Negative:</a:t>
            </a:r>
          </a:p>
          <a:p>
            <a:pPr marL="291179" indent="-291179">
              <a:buFont typeface="Arial" panose="020B0604020202020204" pitchFamily="34" charset="0"/>
              <a:buChar char="•"/>
            </a:pPr>
            <a:r>
              <a:rPr lang="en-US" dirty="0"/>
              <a:t>Crowding out of private investment (as </a:t>
            </a:r>
            <a:r>
              <a:rPr lang="en-US" i="1" dirty="0"/>
              <a:t>interest rates</a:t>
            </a:r>
            <a:r>
              <a:rPr lang="en-US" dirty="0"/>
              <a:t> rise)</a:t>
            </a:r>
          </a:p>
          <a:p>
            <a:pPr marL="291179" indent="-291179">
              <a:buFont typeface="Arial" panose="020B0604020202020204" pitchFamily="34" charset="0"/>
              <a:buChar char="•"/>
            </a:pPr>
            <a:r>
              <a:rPr lang="en-US" dirty="0"/>
              <a:t>Crowding out of public investment as interest payments rise</a:t>
            </a:r>
          </a:p>
          <a:p>
            <a:pPr marL="291179" indent="-291179">
              <a:buFont typeface="Arial" panose="020B0604020202020204" pitchFamily="34" charset="0"/>
              <a:buChar char="•"/>
            </a:pPr>
            <a:r>
              <a:rPr lang="en-US" dirty="0"/>
              <a:t>Macroeconomic vulnerability, rollover risk and likelihood of costly debt crises</a:t>
            </a:r>
          </a:p>
          <a:p>
            <a:endParaRPr lang="en-US" dirty="0"/>
          </a:p>
        </p:txBody>
      </p:sp>
      <p:sp>
        <p:nvSpPr>
          <p:cNvPr id="4" name="Slide Number Placeholder 3"/>
          <p:cNvSpPr>
            <a:spLocks noGrp="1"/>
          </p:cNvSpPr>
          <p:nvPr>
            <p:ph type="sldNum" sz="quarter" idx="5"/>
          </p:nvPr>
        </p:nvSpPr>
        <p:spPr/>
        <p:txBody>
          <a:bodyPr/>
          <a:lstStyle/>
          <a:p>
            <a:pPr defTabSz="931774">
              <a:defRPr/>
            </a:pPr>
            <a:fld id="{E0E189EF-7028-4E7C-A2E2-A7CAFB6B339E}" type="slidenum">
              <a:rPr lang="en-US">
                <a:solidFill>
                  <a:prstClr val="black"/>
                </a:solidFill>
                <a:latin typeface="Calibri" panose="020F0502020204030204"/>
              </a:rPr>
              <a:pPr defTabSz="931774">
                <a:defRPr/>
              </a:pPr>
              <a:t>10</a:t>
            </a:fld>
            <a:endParaRPr lang="en-US">
              <a:solidFill>
                <a:prstClr val="black"/>
              </a:solidFill>
              <a:latin typeface="Calibri" panose="020F0502020204030204"/>
            </a:endParaRPr>
          </a:p>
        </p:txBody>
      </p:sp>
    </p:spTree>
    <p:extLst>
      <p:ext uri="{BB962C8B-B14F-4D97-AF65-F5344CB8AC3E}">
        <p14:creationId xmlns:p14="http://schemas.microsoft.com/office/powerpoint/2010/main" val="5716701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Evidence is based on over 300 episodes of severe natural disasters, with estimated reconstruction needs of at least 1% of GDP. The data cover episodes of natural disasters during 1960-2019. Sample is limited to developing economies. </a:t>
            </a:r>
          </a:p>
        </p:txBody>
      </p:sp>
      <p:sp>
        <p:nvSpPr>
          <p:cNvPr id="4" name="Slide Number Placeholder 3"/>
          <p:cNvSpPr>
            <a:spLocks noGrp="1"/>
          </p:cNvSpPr>
          <p:nvPr>
            <p:ph type="sldNum" sz="quarter" idx="5"/>
          </p:nvPr>
        </p:nvSpPr>
        <p:spPr/>
        <p:txBody>
          <a:bodyPr/>
          <a:lstStyle/>
          <a:p>
            <a:fld id="{47792BB6-533F-41D9-970B-734BC0E321AA}" type="slidenum">
              <a:rPr lang="en-US" smtClean="0"/>
              <a:t>11</a:t>
            </a:fld>
            <a:endParaRPr lang="en-US"/>
          </a:p>
        </p:txBody>
      </p:sp>
    </p:spTree>
    <p:extLst>
      <p:ext uri="{BB962C8B-B14F-4D97-AF65-F5344CB8AC3E}">
        <p14:creationId xmlns:p14="http://schemas.microsoft.com/office/powerpoint/2010/main" val="291568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792BB6-533F-41D9-970B-734BC0E321AA}" type="slidenum">
              <a:rPr lang="en-US" smtClean="0"/>
              <a:t>12</a:t>
            </a:fld>
            <a:endParaRPr lang="en-US"/>
          </a:p>
        </p:txBody>
      </p:sp>
    </p:spTree>
    <p:extLst>
      <p:ext uri="{BB962C8B-B14F-4D97-AF65-F5344CB8AC3E}">
        <p14:creationId xmlns:p14="http://schemas.microsoft.com/office/powerpoint/2010/main" val="3696723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931774">
              <a:defRPr/>
            </a:pPr>
            <a:fld id="{E0E189EF-7028-4E7C-A2E2-A7CAFB6B339E}" type="slidenum">
              <a:rPr lang="en-US">
                <a:solidFill>
                  <a:prstClr val="black"/>
                </a:solidFill>
                <a:latin typeface="Calibri" panose="020F0502020204030204"/>
              </a:rPr>
              <a:pPr defTabSz="931774">
                <a:defRPr/>
              </a:pPr>
              <a:t>13</a:t>
            </a:fld>
            <a:endParaRPr lang="en-US">
              <a:solidFill>
                <a:prstClr val="black"/>
              </a:solidFill>
              <a:latin typeface="Calibri" panose="020F0502020204030204"/>
            </a:endParaRPr>
          </a:p>
        </p:txBody>
      </p:sp>
    </p:spTree>
    <p:extLst>
      <p:ext uri="{BB962C8B-B14F-4D97-AF65-F5344CB8AC3E}">
        <p14:creationId xmlns:p14="http://schemas.microsoft.com/office/powerpoint/2010/main" val="9732993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Pent-up demand: demand for goods and services are unusually strong</a:t>
            </a:r>
          </a:p>
        </p:txBody>
      </p:sp>
      <p:sp>
        <p:nvSpPr>
          <p:cNvPr id="4" name="Slide Number Placeholder 3"/>
          <p:cNvSpPr>
            <a:spLocks noGrp="1"/>
          </p:cNvSpPr>
          <p:nvPr>
            <p:ph type="sldNum" sz="quarter" idx="5"/>
          </p:nvPr>
        </p:nvSpPr>
        <p:spPr/>
        <p:txBody>
          <a:bodyPr/>
          <a:lstStyle/>
          <a:p>
            <a:fld id="{47792BB6-533F-41D9-970B-734BC0E321AA}" type="slidenum">
              <a:rPr lang="en-US" smtClean="0"/>
              <a:t>14</a:t>
            </a:fld>
            <a:endParaRPr lang="en-US"/>
          </a:p>
        </p:txBody>
      </p:sp>
    </p:spTree>
    <p:extLst>
      <p:ext uri="{BB962C8B-B14F-4D97-AF65-F5344CB8AC3E}">
        <p14:creationId xmlns:p14="http://schemas.microsoft.com/office/powerpoint/2010/main" val="5439603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Episodes of debt distress = episodes of debt restructuring, both “pre-emptive” and “defaults”. </a:t>
            </a:r>
          </a:p>
        </p:txBody>
      </p:sp>
      <p:sp>
        <p:nvSpPr>
          <p:cNvPr id="4" name="Slide Number Placeholder 3"/>
          <p:cNvSpPr>
            <a:spLocks noGrp="1"/>
          </p:cNvSpPr>
          <p:nvPr>
            <p:ph type="sldNum" sz="quarter" idx="5"/>
          </p:nvPr>
        </p:nvSpPr>
        <p:spPr/>
        <p:txBody>
          <a:bodyPr/>
          <a:lstStyle/>
          <a:p>
            <a:fld id="{47792BB6-533F-41D9-970B-734BC0E321AA}" type="slidenum">
              <a:rPr lang="en-US" smtClean="0"/>
              <a:t>16</a:t>
            </a:fld>
            <a:endParaRPr lang="en-US"/>
          </a:p>
        </p:txBody>
      </p:sp>
    </p:spTree>
    <p:extLst>
      <p:ext uri="{BB962C8B-B14F-4D97-AF65-F5344CB8AC3E}">
        <p14:creationId xmlns:p14="http://schemas.microsoft.com/office/powerpoint/2010/main" val="41608870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792BB6-533F-41D9-970B-734BC0E321AA}" type="slidenum">
              <a:rPr lang="en-US" smtClean="0"/>
              <a:t>19</a:t>
            </a:fld>
            <a:endParaRPr lang="en-US"/>
          </a:p>
        </p:txBody>
      </p:sp>
    </p:spTree>
    <p:extLst>
      <p:ext uri="{BB962C8B-B14F-4D97-AF65-F5344CB8AC3E}">
        <p14:creationId xmlns:p14="http://schemas.microsoft.com/office/powerpoint/2010/main" val="12204739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792BB6-533F-41D9-970B-734BC0E321AA}" type="slidenum">
              <a:rPr lang="en-US" smtClean="0"/>
              <a:t>20</a:t>
            </a:fld>
            <a:endParaRPr lang="en-US"/>
          </a:p>
        </p:txBody>
      </p:sp>
    </p:spTree>
    <p:extLst>
      <p:ext uri="{BB962C8B-B14F-4D97-AF65-F5344CB8AC3E}">
        <p14:creationId xmlns:p14="http://schemas.microsoft.com/office/powerpoint/2010/main" val="7391845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26D80-AC63-4EB9-B878-0C6243325D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927DA14-50AC-4520-B999-F3A4F92A92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0E6F951-06C5-4B5D-A336-8AF4D83265A9}"/>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5" name="Footer Placeholder 4">
            <a:extLst>
              <a:ext uri="{FF2B5EF4-FFF2-40B4-BE49-F238E27FC236}">
                <a16:creationId xmlns:a16="http://schemas.microsoft.com/office/drawing/2014/main" id="{8492126E-7DF3-4AFC-9A8F-497A6F1344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B8484C-C9BE-4D67-BA32-97CD416C196D}"/>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3690878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0E764-7784-4DD1-BB29-99D6E12676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E10E11-E08E-4A6C-A293-2E38A6E17C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E8737E-001B-497E-B7E4-4BAABD6C25E0}"/>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5" name="Footer Placeholder 4">
            <a:extLst>
              <a:ext uri="{FF2B5EF4-FFF2-40B4-BE49-F238E27FC236}">
                <a16:creationId xmlns:a16="http://schemas.microsoft.com/office/drawing/2014/main" id="{039A4D29-20D8-424F-844E-2E995453C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290C78-7F2A-4BD5-930B-AAB323B82646}"/>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299124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0A51F-870B-48C1-B3F0-6E80121561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5371E26-3307-4B0E-98F7-AD6C23AE35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4BB4B3-0B4B-48DD-ABDF-43E9259FAB88}"/>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5" name="Footer Placeholder 4">
            <a:extLst>
              <a:ext uri="{FF2B5EF4-FFF2-40B4-BE49-F238E27FC236}">
                <a16:creationId xmlns:a16="http://schemas.microsoft.com/office/drawing/2014/main" id="{68A4C4E4-35A6-49DF-9E04-8E80BD9A13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F80E63-91C8-430F-BFEB-4B1C44089EC9}"/>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2223708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01766-2D86-4DC3-BBB5-5F15B7EC5B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076DD5-17F3-4E1F-B7EA-099C3AFC15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A85C7E-BF89-4A92-86DC-120C5580DF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BC9A782-95AA-4716-859C-EAB65FE2FF93}"/>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6" name="Footer Placeholder 5">
            <a:extLst>
              <a:ext uri="{FF2B5EF4-FFF2-40B4-BE49-F238E27FC236}">
                <a16:creationId xmlns:a16="http://schemas.microsoft.com/office/drawing/2014/main" id="{533867BE-D471-4C5B-8AD6-205581EE54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93F95E-035B-4D77-AE65-8783A84E3C68}"/>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850961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F59E4-6DDA-4FD3-9E1A-32DA7437B09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EA9AE8-FD2E-4315-9CC4-AD4390D80B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9D0A50-CF53-4AE9-B8BB-1755D2A8F3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7F4500C-6818-458C-8756-DDE518F4E0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D82D34-C207-4823-96F3-F8A67A0124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59202F-AAD9-4C3E-B76F-ADEA74ADA342}"/>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8" name="Footer Placeholder 7">
            <a:extLst>
              <a:ext uri="{FF2B5EF4-FFF2-40B4-BE49-F238E27FC236}">
                <a16:creationId xmlns:a16="http://schemas.microsoft.com/office/drawing/2014/main" id="{D93706F5-861D-4A22-85A5-EE07D082D6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8D8E1B-1602-4DFE-96F7-7CD5CE3CA4A7}"/>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3889813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DC55F-0675-4FED-A57A-B7969BC95CF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751D2D-FBFC-4800-9D71-0FEFDD9D1005}"/>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4" name="Footer Placeholder 3">
            <a:extLst>
              <a:ext uri="{FF2B5EF4-FFF2-40B4-BE49-F238E27FC236}">
                <a16:creationId xmlns:a16="http://schemas.microsoft.com/office/drawing/2014/main" id="{CE33143F-8CCA-4B3A-9925-D4C971EF79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E5DB134-84DF-47B8-87FE-880D5C0469A0}"/>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4115798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2402B-444B-446B-AB36-B50DC6A521E7}"/>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3" name="Footer Placeholder 2">
            <a:extLst>
              <a:ext uri="{FF2B5EF4-FFF2-40B4-BE49-F238E27FC236}">
                <a16:creationId xmlns:a16="http://schemas.microsoft.com/office/drawing/2014/main" id="{C05A272E-FB1C-4A8C-9C7D-F0C3F3109C1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0FA3F8-4ED0-4A2F-B100-5FA3BE4F60BE}"/>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2555112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BBF20-75EE-4BA2-9E0B-DCACA18E6C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B013423-0CC6-4926-8792-9EFA4D29F8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912676-16F4-4D33-9B1F-80CFF47524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89FB2E-F034-4DD4-B4C5-BA2C33B49D62}"/>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6" name="Footer Placeholder 5">
            <a:extLst>
              <a:ext uri="{FF2B5EF4-FFF2-40B4-BE49-F238E27FC236}">
                <a16:creationId xmlns:a16="http://schemas.microsoft.com/office/drawing/2014/main" id="{700E10C0-8480-42CD-A8C4-CC2064DAA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3672E6-582D-48FD-84E6-618771384D25}"/>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1099134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FD169-2A5D-43D0-B483-B8242784C9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3F0CA0F-285F-477C-8884-88E35323A0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D2D4FD7-F769-4281-9551-6743D9652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349C0F-A15F-45AC-9F83-0F3F6CA5FDE5}"/>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6" name="Footer Placeholder 5">
            <a:extLst>
              <a:ext uri="{FF2B5EF4-FFF2-40B4-BE49-F238E27FC236}">
                <a16:creationId xmlns:a16="http://schemas.microsoft.com/office/drawing/2014/main" id="{86927047-E306-4440-A019-78391C0A50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7053C5-DF09-4C01-8419-856728AF5E2E}"/>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1146517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C3380-FC59-47C0-83CE-A271F28C55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54E5CB2-89FA-44F8-9856-4D91399C0E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A52B07-4C06-4377-A8DC-B7AFD8EB250D}"/>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5" name="Footer Placeholder 4">
            <a:extLst>
              <a:ext uri="{FF2B5EF4-FFF2-40B4-BE49-F238E27FC236}">
                <a16:creationId xmlns:a16="http://schemas.microsoft.com/office/drawing/2014/main" id="{811B84CD-410F-4C09-ABC5-5AB5E864ED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141815-AB1E-4982-B123-3065B248A6C1}"/>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2564322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52F038-8883-487D-A3B6-12EFC9ACA24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405D04A-60DE-4A69-BEC2-369648CAA8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A3B895-C2D1-402C-B676-9A343A422A71}"/>
              </a:ext>
            </a:extLst>
          </p:cNvPr>
          <p:cNvSpPr>
            <a:spLocks noGrp="1"/>
          </p:cNvSpPr>
          <p:nvPr>
            <p:ph type="dt" sz="half" idx="10"/>
          </p:nvPr>
        </p:nvSpPr>
        <p:spPr/>
        <p:txBody>
          <a:bodyPr/>
          <a:lstStyle/>
          <a:p>
            <a:fld id="{7C608977-5022-4E78-A79D-EB3C9A033667}" type="datetimeFigureOut">
              <a:rPr lang="en-US" smtClean="0"/>
              <a:t>5/29/2021</a:t>
            </a:fld>
            <a:endParaRPr lang="en-US"/>
          </a:p>
        </p:txBody>
      </p:sp>
      <p:sp>
        <p:nvSpPr>
          <p:cNvPr id="5" name="Footer Placeholder 4">
            <a:extLst>
              <a:ext uri="{FF2B5EF4-FFF2-40B4-BE49-F238E27FC236}">
                <a16:creationId xmlns:a16="http://schemas.microsoft.com/office/drawing/2014/main" id="{19B5B33D-7C05-4741-817C-F0794C56E9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0E8F48-593B-42C0-B81B-1032D017CCDF}"/>
              </a:ext>
            </a:extLst>
          </p:cNvPr>
          <p:cNvSpPr>
            <a:spLocks noGrp="1"/>
          </p:cNvSpPr>
          <p:nvPr>
            <p:ph type="sldNum" sz="quarter" idx="12"/>
          </p:nvPr>
        </p:nvSpPr>
        <p:spPr/>
        <p:txBody>
          <a:bodyPr/>
          <a:lstStyle/>
          <a:p>
            <a:fld id="{F4BEFA63-E5B4-4C2C-B6C3-FFA0DCD77FC0}" type="slidenum">
              <a:rPr lang="en-US" smtClean="0"/>
              <a:t>‹#›</a:t>
            </a:fld>
            <a:endParaRPr lang="en-US"/>
          </a:p>
        </p:txBody>
      </p:sp>
    </p:spTree>
    <p:extLst>
      <p:ext uri="{BB962C8B-B14F-4D97-AF65-F5344CB8AC3E}">
        <p14:creationId xmlns:p14="http://schemas.microsoft.com/office/powerpoint/2010/main" val="18718481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a:t>BASIC LAYOUT</a:t>
            </a:r>
          </a:p>
        </p:txBody>
      </p:sp>
    </p:spTree>
    <p:extLst>
      <p:ext uri="{BB962C8B-B14F-4D97-AF65-F5344CB8AC3E}">
        <p14:creationId xmlns:p14="http://schemas.microsoft.com/office/powerpoint/2010/main" val="30015138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MENA Banner Green">
    <p:spTree>
      <p:nvGrpSpPr>
        <p:cNvPr id="1" name=""/>
        <p:cNvGrpSpPr/>
        <p:nvPr/>
      </p:nvGrpSpPr>
      <p:grpSpPr>
        <a:xfrm>
          <a:off x="0" y="0"/>
          <a:ext cx="0" cy="0"/>
          <a:chOff x="0" y="0"/>
          <a:chExt cx="0" cy="0"/>
        </a:xfrm>
      </p:grpSpPr>
      <p:pic>
        <p:nvPicPr>
          <p:cNvPr id="8" name="Picture 7" descr="A picture containing text, laser&#10;&#10;Description automatically generated">
            <a:extLst>
              <a:ext uri="{FF2B5EF4-FFF2-40B4-BE49-F238E27FC236}">
                <a16:creationId xmlns:a16="http://schemas.microsoft.com/office/drawing/2014/main" id="{EEDA9265-5A85-482F-A19E-07D90E057C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194626"/>
            <a:ext cx="12192000" cy="2468747"/>
          </a:xfrm>
          <a:prstGeom prst="rect">
            <a:avLst/>
          </a:prstGeom>
        </p:spPr>
      </p:pic>
      <p:sp>
        <p:nvSpPr>
          <p:cNvPr id="11" name="Text Placeholder 9">
            <a:extLst>
              <a:ext uri="{FF2B5EF4-FFF2-40B4-BE49-F238E27FC236}">
                <a16:creationId xmlns:a16="http://schemas.microsoft.com/office/drawing/2014/main" id="{C4F35587-E46B-4F51-BE64-91552515EB62}"/>
              </a:ext>
            </a:extLst>
          </p:cNvPr>
          <p:cNvSpPr>
            <a:spLocks noGrp="1"/>
          </p:cNvSpPr>
          <p:nvPr>
            <p:ph type="body" sz="quarter" idx="10"/>
          </p:nvPr>
        </p:nvSpPr>
        <p:spPr>
          <a:xfrm>
            <a:off x="3657600" y="2590800"/>
            <a:ext cx="7962900" cy="1651000"/>
          </a:xfrm>
          <a:prstGeom prst="rect">
            <a:avLst/>
          </a:prstGeom>
        </p:spPr>
        <p:txBody>
          <a:bodyPr/>
          <a:lstStyle>
            <a:lvl1pPr marL="0" indent="0">
              <a:buNone/>
              <a:defRPr sz="5400" b="1" cap="all" baseline="0">
                <a:solidFill>
                  <a:schemeClr val="bg1"/>
                </a:solidFill>
                <a:latin typeface="D-DIN" panose="020B0504030202030204" pitchFamily="34" charset="0"/>
              </a:defRPr>
            </a:lvl1pPr>
            <a:lvl2pPr>
              <a:defRPr>
                <a:solidFill>
                  <a:schemeClr val="bg1"/>
                </a:solidFill>
                <a:latin typeface="D-DIN" panose="020B0504030202030204" pitchFamily="34" charset="0"/>
              </a:defRPr>
            </a:lvl2pPr>
            <a:lvl3pPr>
              <a:defRPr>
                <a:solidFill>
                  <a:schemeClr val="bg1"/>
                </a:solidFill>
                <a:latin typeface="D-DIN" panose="020B0504030202030204" pitchFamily="34" charset="0"/>
              </a:defRPr>
            </a:lvl3pPr>
            <a:lvl4pPr>
              <a:defRPr>
                <a:solidFill>
                  <a:schemeClr val="bg1"/>
                </a:solidFill>
                <a:latin typeface="D-DIN" panose="020B0504030202030204" pitchFamily="34" charset="0"/>
              </a:defRPr>
            </a:lvl4pPr>
            <a:lvl5pPr>
              <a:defRPr>
                <a:solidFill>
                  <a:schemeClr val="bg1"/>
                </a:solidFill>
                <a:latin typeface="D-DIN" panose="020B0504030202030204" pitchFamily="34" charset="0"/>
              </a:defRPr>
            </a:lvl5pPr>
          </a:lstStyle>
          <a:p>
            <a:pPr lvl="0"/>
            <a:r>
              <a:rPr lang="en-US"/>
              <a:t>Click to edit Master text styles</a:t>
            </a:r>
          </a:p>
        </p:txBody>
      </p:sp>
    </p:spTree>
    <p:extLst>
      <p:ext uri="{BB962C8B-B14F-4D97-AF65-F5344CB8AC3E}">
        <p14:creationId xmlns:p14="http://schemas.microsoft.com/office/powerpoint/2010/main" val="3377267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06CF27-DF4A-4B95-9013-941968021B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EFC637-AF36-4E6E-BEC2-9EF73CA6BC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6387F4-B91B-4EF7-A24F-16ECD3A238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608977-5022-4E78-A79D-EB3C9A033667}" type="datetimeFigureOut">
              <a:rPr lang="en-US" smtClean="0"/>
              <a:t>5/29/2021</a:t>
            </a:fld>
            <a:endParaRPr lang="en-US"/>
          </a:p>
        </p:txBody>
      </p:sp>
      <p:sp>
        <p:nvSpPr>
          <p:cNvPr id="5" name="Footer Placeholder 4">
            <a:extLst>
              <a:ext uri="{FF2B5EF4-FFF2-40B4-BE49-F238E27FC236}">
                <a16:creationId xmlns:a16="http://schemas.microsoft.com/office/drawing/2014/main" id="{1C5D149C-CDF5-4D73-9DCC-9BDDE9C759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BD58DC1-9A64-41CE-A01A-2617A2ED0B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BEFA63-E5B4-4C2C-B6C3-FFA0DCD77FC0}" type="slidenum">
              <a:rPr lang="en-US" smtClean="0"/>
              <a:t>‹#›</a:t>
            </a:fld>
            <a:endParaRPr lang="en-US"/>
          </a:p>
        </p:txBody>
      </p:sp>
    </p:spTree>
    <p:extLst>
      <p:ext uri="{BB962C8B-B14F-4D97-AF65-F5344CB8AC3E}">
        <p14:creationId xmlns:p14="http://schemas.microsoft.com/office/powerpoint/2010/main" val="252021037"/>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4" r:id="rId12"/>
    <p:sldLayoutId id="214748370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jpeg"/><Relationship Id="rId9"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chart" Target="../charts/chart4.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chart" Target="../charts/chart9.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A47FE6B-772A-4BF7-B363-A1801DC0ADFA}"/>
              </a:ext>
            </a:extLst>
          </p:cNvPr>
          <p:cNvSpPr>
            <a:spLocks noGrp="1"/>
          </p:cNvSpPr>
          <p:nvPr>
            <p:ph type="body" sz="quarter" idx="10"/>
          </p:nvPr>
        </p:nvSpPr>
        <p:spPr/>
        <p:txBody>
          <a:bodyPr/>
          <a:lstStyle/>
          <a:p>
            <a:pPr algn="ctr"/>
            <a:r>
              <a:rPr lang="en-CA" sz="1600" dirty="0"/>
              <a:t>MENA Economic update - April 2021</a:t>
            </a:r>
          </a:p>
          <a:p>
            <a:pPr algn="ctr"/>
            <a:r>
              <a:rPr lang="en-CA" sz="2800" dirty="0"/>
              <a:t>Living with debt: how institutions can chart a path to recovery in the middle east and north Africa</a:t>
            </a:r>
          </a:p>
        </p:txBody>
      </p:sp>
    </p:spTree>
    <p:extLst>
      <p:ext uri="{BB962C8B-B14F-4D97-AF65-F5344CB8AC3E}">
        <p14:creationId xmlns:p14="http://schemas.microsoft.com/office/powerpoint/2010/main" val="985088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81EE4-E02A-4B40-9C4D-CA1C72C0533B}"/>
              </a:ext>
            </a:extLst>
          </p:cNvPr>
          <p:cNvSpPr>
            <a:spLocks noGrp="1"/>
          </p:cNvSpPr>
          <p:nvPr>
            <p:ph type="title"/>
          </p:nvPr>
        </p:nvSpPr>
        <p:spPr>
          <a:xfrm>
            <a:off x="838200" y="365126"/>
            <a:ext cx="10515600" cy="948454"/>
          </a:xfrm>
        </p:spPr>
        <p:txBody>
          <a:bodyPr/>
          <a:lstStyle/>
          <a:p>
            <a:r>
              <a:rPr lang="en-US" b="1" dirty="0"/>
              <a:t>Authors</a:t>
            </a:r>
          </a:p>
        </p:txBody>
      </p:sp>
      <p:pic>
        <p:nvPicPr>
          <p:cNvPr id="1026" name="Picture 20">
            <a:extLst>
              <a:ext uri="{FF2B5EF4-FFF2-40B4-BE49-F238E27FC236}">
                <a16:creationId xmlns:a16="http://schemas.microsoft.com/office/drawing/2014/main" id="{B859C672-2C44-4BA6-9910-F8598ADADD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376" y="2730721"/>
            <a:ext cx="1035382" cy="1051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a:extLst>
              <a:ext uri="{FF2B5EF4-FFF2-40B4-BE49-F238E27FC236}">
                <a16:creationId xmlns:a16="http://schemas.microsoft.com/office/drawing/2014/main" id="{C67D2300-3E90-47E3-8F0A-CD079D9387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0511" y="3950155"/>
            <a:ext cx="1051560" cy="105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CC5EC66E-011C-42CA-8204-C700A4C29C42}"/>
              </a:ext>
            </a:extLst>
          </p:cNvPr>
          <p:cNvSpPr/>
          <p:nvPr/>
        </p:nvSpPr>
        <p:spPr>
          <a:xfrm>
            <a:off x="2049449" y="1619323"/>
            <a:ext cx="3807913" cy="738664"/>
          </a:xfrm>
          <a:prstGeom prst="rect">
            <a:avLst/>
          </a:prstGeom>
        </p:spPr>
        <p:txBody>
          <a:bodyPr wrap="square">
            <a:spAutoFit/>
          </a:bodyPr>
          <a:lstStyle/>
          <a:p>
            <a:r>
              <a:rPr lang="en-US" sz="1400" cap="all" dirty="0">
                <a:solidFill>
                  <a:srgbClr val="000000"/>
                </a:solidFill>
                <a:latin typeface="Bahnschrift" panose="020B0502040204020203" pitchFamily="34" charset="0"/>
                <a:ea typeface="Times New Roman" panose="02020603050405020304" pitchFamily="18" charset="0"/>
                <a:cs typeface="Times New Roman" panose="02020603050405020304" pitchFamily="18" charset="0"/>
              </a:rPr>
              <a:t>Roberta Gatti</a:t>
            </a:r>
          </a:p>
          <a:p>
            <a:r>
              <a:rPr lang="en-US" sz="1400" dirty="0">
                <a:solidFill>
                  <a:srgbClr val="404040"/>
                </a:solidFill>
                <a:latin typeface="Bahnschrift" panose="020B0502040204020203" pitchFamily="34" charset="0"/>
                <a:ea typeface="DengXian" panose="02010600030101010101" pitchFamily="2" charset="-122"/>
                <a:cs typeface="Calibri" panose="020F0502020204030204" pitchFamily="34" charset="0"/>
              </a:rPr>
              <a:t>Chief Economist, Middle East and North Africa, The World Bank</a:t>
            </a:r>
            <a:endParaRPr lang="en-US" sz="1400" dirty="0"/>
          </a:p>
        </p:txBody>
      </p:sp>
      <p:sp>
        <p:nvSpPr>
          <p:cNvPr id="5" name="Rectangle 4">
            <a:extLst>
              <a:ext uri="{FF2B5EF4-FFF2-40B4-BE49-F238E27FC236}">
                <a16:creationId xmlns:a16="http://schemas.microsoft.com/office/drawing/2014/main" id="{7B0E5445-683E-4387-9424-D05B1C191B88}"/>
              </a:ext>
            </a:extLst>
          </p:cNvPr>
          <p:cNvSpPr/>
          <p:nvPr/>
        </p:nvSpPr>
        <p:spPr>
          <a:xfrm>
            <a:off x="7291705" y="1547957"/>
            <a:ext cx="4625613" cy="738664"/>
          </a:xfrm>
          <a:prstGeom prst="rect">
            <a:avLst/>
          </a:prstGeom>
        </p:spPr>
        <p:txBody>
          <a:bodyPr wrap="square">
            <a:spAutoFit/>
          </a:bodyPr>
          <a:lstStyle/>
          <a:p>
            <a:r>
              <a:rPr lang="en-US" sz="1400" dirty="0">
                <a:solidFill>
                  <a:srgbClr val="000000"/>
                </a:solidFill>
                <a:latin typeface="Bahnschrift" panose="020B0502040204020203" pitchFamily="34" charset="0"/>
                <a:ea typeface="Times New Roman" panose="02020603050405020304" pitchFamily="18" charset="0"/>
                <a:cs typeface="Times New Roman" panose="02020603050405020304" pitchFamily="18" charset="0"/>
              </a:rPr>
              <a:t>DANIEL LEDERMAN</a:t>
            </a:r>
          </a:p>
          <a:p>
            <a:r>
              <a:rPr lang="en-US" sz="1400" dirty="0">
                <a:latin typeface="Bahnschrift" panose="020B0502040204020203" pitchFamily="34" charset="0"/>
                <a:ea typeface="DengXian" panose="02010600030101010101" pitchFamily="2" charset="-122"/>
                <a:cs typeface="Calibri" panose="020F0502020204030204" pitchFamily="34" charset="0"/>
              </a:rPr>
              <a:t>Deputy Chief Economist, Middle East And North Africa, The World Bank</a:t>
            </a:r>
            <a:r>
              <a:rPr lang="en-US" sz="1400" dirty="0">
                <a:solidFill>
                  <a:srgbClr val="404040"/>
                </a:solidFill>
                <a:latin typeface="Bahnschrift" panose="020B0502040204020203" pitchFamily="34" charset="0"/>
                <a:ea typeface="DengXian" panose="02010600030101010101" pitchFamily="2" charset="-122"/>
                <a:cs typeface="Calibri" panose="020F0502020204030204" pitchFamily="34" charset="0"/>
              </a:rPr>
              <a:t> </a:t>
            </a:r>
            <a:endParaRPr lang="en-US" sz="1400" dirty="0"/>
          </a:p>
        </p:txBody>
      </p:sp>
      <p:sp>
        <p:nvSpPr>
          <p:cNvPr id="6" name="Rectangle 5">
            <a:extLst>
              <a:ext uri="{FF2B5EF4-FFF2-40B4-BE49-F238E27FC236}">
                <a16:creationId xmlns:a16="http://schemas.microsoft.com/office/drawing/2014/main" id="{819134D8-C278-47F4-A693-6CE13DA2DECC}"/>
              </a:ext>
            </a:extLst>
          </p:cNvPr>
          <p:cNvSpPr/>
          <p:nvPr/>
        </p:nvSpPr>
        <p:spPr>
          <a:xfrm>
            <a:off x="1915885" y="2812165"/>
            <a:ext cx="4040777" cy="738664"/>
          </a:xfrm>
          <a:prstGeom prst="rect">
            <a:avLst/>
          </a:prstGeom>
        </p:spPr>
        <p:txBody>
          <a:bodyPr wrap="square">
            <a:spAutoFit/>
          </a:bodyPr>
          <a:lstStyle/>
          <a:p>
            <a:r>
              <a:rPr lang="en-US" sz="1400" cap="all" dirty="0">
                <a:solidFill>
                  <a:srgbClr val="000000"/>
                </a:solidFill>
                <a:latin typeface="Bahnschrift" panose="020B0502040204020203" pitchFamily="34" charset="0"/>
                <a:ea typeface="DengXian" panose="02010600030101010101" pitchFamily="2" charset="-122"/>
                <a:cs typeface="Calibri" panose="020F0502020204030204" pitchFamily="34" charset="0"/>
              </a:rPr>
              <a:t>ha </a:t>
            </a:r>
            <a:r>
              <a:rPr lang="en-US" sz="1400" cap="all" dirty="0" err="1">
                <a:solidFill>
                  <a:srgbClr val="000000"/>
                </a:solidFill>
                <a:latin typeface="Bahnschrift" panose="020B0502040204020203" pitchFamily="34" charset="0"/>
                <a:ea typeface="DengXian" panose="02010600030101010101" pitchFamily="2" charset="-122"/>
                <a:cs typeface="Calibri" panose="020F0502020204030204" pitchFamily="34" charset="0"/>
              </a:rPr>
              <a:t>minh</a:t>
            </a:r>
            <a:r>
              <a:rPr lang="en-US" sz="1400" cap="all" dirty="0">
                <a:solidFill>
                  <a:srgbClr val="000000"/>
                </a:solidFill>
                <a:latin typeface="Bahnschrift" panose="020B0502040204020203" pitchFamily="34" charset="0"/>
                <a:ea typeface="DengXian" panose="02010600030101010101" pitchFamily="2" charset="-122"/>
                <a:cs typeface="Calibri" panose="020F0502020204030204" pitchFamily="34" charset="0"/>
              </a:rPr>
              <a:t> </a:t>
            </a:r>
            <a:r>
              <a:rPr lang="en-US" sz="1400" cap="all" dirty="0" err="1">
                <a:solidFill>
                  <a:srgbClr val="000000"/>
                </a:solidFill>
                <a:latin typeface="Bahnschrift" panose="020B0502040204020203" pitchFamily="34" charset="0"/>
                <a:ea typeface="DengXian" panose="02010600030101010101" pitchFamily="2" charset="-122"/>
                <a:cs typeface="Calibri" panose="020F0502020204030204" pitchFamily="34" charset="0"/>
              </a:rPr>
              <a:t>nguyen</a:t>
            </a:r>
            <a:br>
              <a:rPr lang="en-US" sz="1400" dirty="0">
                <a:solidFill>
                  <a:srgbClr val="404040"/>
                </a:solidFill>
                <a:latin typeface="Bahnschrift" panose="020B0502040204020203" pitchFamily="34" charset="0"/>
                <a:ea typeface="DengXian" panose="02010600030101010101" pitchFamily="2" charset="-122"/>
                <a:cs typeface="Calibri" panose="020F0502020204030204" pitchFamily="34" charset="0"/>
              </a:rPr>
            </a:br>
            <a:r>
              <a:rPr lang="en-US" sz="1400" dirty="0">
                <a:latin typeface="Bahnschrift" panose="020B0502040204020203" pitchFamily="34" charset="0"/>
                <a:ea typeface="DengXian" panose="02010600030101010101" pitchFamily="2" charset="-122"/>
                <a:cs typeface="Calibri" panose="020F0502020204030204" pitchFamily="34" charset="0"/>
              </a:rPr>
              <a:t>Senior Economist, Office of the Chief Economist, Middle East and North Africa, The World Bank</a:t>
            </a:r>
            <a:endParaRPr lang="en-US" sz="1400" dirty="0"/>
          </a:p>
        </p:txBody>
      </p:sp>
      <p:pic>
        <p:nvPicPr>
          <p:cNvPr id="1031" name="Picture 7" descr="Asif Islam's picture">
            <a:extLst>
              <a:ext uri="{FF2B5EF4-FFF2-40B4-BE49-F238E27FC236}">
                <a16:creationId xmlns:a16="http://schemas.microsoft.com/office/drawing/2014/main" id="{B099F863-645E-4919-A450-538AD47C2F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26933" y="2733927"/>
            <a:ext cx="1051560" cy="105156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993575B5-2A6E-4CE8-AECB-A84964D63DAF}"/>
              </a:ext>
            </a:extLst>
          </p:cNvPr>
          <p:cNvSpPr/>
          <p:nvPr/>
        </p:nvSpPr>
        <p:spPr>
          <a:xfrm>
            <a:off x="7178493" y="2877284"/>
            <a:ext cx="4040777" cy="738664"/>
          </a:xfrm>
          <a:prstGeom prst="rect">
            <a:avLst/>
          </a:prstGeom>
        </p:spPr>
        <p:txBody>
          <a:bodyPr wrap="square">
            <a:spAutoFit/>
          </a:bodyPr>
          <a:lstStyle/>
          <a:p>
            <a:r>
              <a:rPr lang="en-US" sz="1400" cap="all" dirty="0">
                <a:solidFill>
                  <a:srgbClr val="000000"/>
                </a:solidFill>
                <a:latin typeface="Bahnschrift" panose="020B0502040204020203" pitchFamily="34" charset="0"/>
                <a:ea typeface="DengXian" panose="02010600030101010101" pitchFamily="2" charset="-122"/>
                <a:cs typeface="Calibri" panose="020F0502020204030204" pitchFamily="34" charset="0"/>
              </a:rPr>
              <a:t>Asif Islam</a:t>
            </a:r>
            <a:br>
              <a:rPr lang="en-US" sz="1400" dirty="0">
                <a:solidFill>
                  <a:srgbClr val="404040"/>
                </a:solidFill>
                <a:latin typeface="Bahnschrift" panose="020B0502040204020203" pitchFamily="34" charset="0"/>
                <a:ea typeface="DengXian" panose="02010600030101010101" pitchFamily="2" charset="-122"/>
                <a:cs typeface="Calibri" panose="020F0502020204030204" pitchFamily="34" charset="0"/>
              </a:rPr>
            </a:br>
            <a:r>
              <a:rPr lang="en-US" sz="1400" dirty="0">
                <a:latin typeface="Bahnschrift" panose="020B0502040204020203" pitchFamily="34" charset="0"/>
                <a:ea typeface="DengXian" panose="02010600030101010101" pitchFamily="2" charset="-122"/>
                <a:cs typeface="Calibri" panose="020F0502020204030204" pitchFamily="34" charset="0"/>
              </a:rPr>
              <a:t>Senior Economist, Office of the Chief Economist, Middle East and North Africa, The World Bank</a:t>
            </a:r>
            <a:endParaRPr lang="en-US" sz="1400" dirty="0"/>
          </a:p>
        </p:txBody>
      </p:sp>
      <p:sp>
        <p:nvSpPr>
          <p:cNvPr id="7" name="Rectangle 6">
            <a:extLst>
              <a:ext uri="{FF2B5EF4-FFF2-40B4-BE49-F238E27FC236}">
                <a16:creationId xmlns:a16="http://schemas.microsoft.com/office/drawing/2014/main" id="{5F44FE37-5FFB-4BB4-98F7-5B02F6DDB6DF}"/>
              </a:ext>
            </a:extLst>
          </p:cNvPr>
          <p:cNvSpPr/>
          <p:nvPr/>
        </p:nvSpPr>
        <p:spPr>
          <a:xfrm>
            <a:off x="1915885" y="3881325"/>
            <a:ext cx="3866606" cy="738664"/>
          </a:xfrm>
          <a:prstGeom prst="rect">
            <a:avLst/>
          </a:prstGeom>
        </p:spPr>
        <p:txBody>
          <a:bodyPr wrap="square">
            <a:spAutoFit/>
          </a:bodyPr>
          <a:lstStyle/>
          <a:p>
            <a:r>
              <a:rPr lang="en-US" sz="1400" cap="all" dirty="0" err="1">
                <a:solidFill>
                  <a:srgbClr val="000000"/>
                </a:solidFill>
                <a:latin typeface="Bahnschrift" panose="020B0502040204020203" pitchFamily="34" charset="0"/>
                <a:ea typeface="DengXian" panose="02010600030101010101" pitchFamily="2" charset="-122"/>
                <a:cs typeface="Calibri" panose="020F0502020204030204" pitchFamily="34" charset="0"/>
              </a:rPr>
              <a:t>rachel</a:t>
            </a:r>
            <a:r>
              <a:rPr lang="en-US" sz="1400" cap="all" dirty="0">
                <a:solidFill>
                  <a:srgbClr val="000000"/>
                </a:solidFill>
                <a:latin typeface="Bahnschrift" panose="020B0502040204020203" pitchFamily="34" charset="0"/>
                <a:ea typeface="DengXian" panose="02010600030101010101" pitchFamily="2" charset="-122"/>
                <a:cs typeface="Calibri" panose="020F0502020204030204" pitchFamily="34" charset="0"/>
              </a:rPr>
              <a:t> </a:t>
            </a:r>
            <a:r>
              <a:rPr lang="en-US" sz="1400" cap="all" dirty="0" err="1">
                <a:solidFill>
                  <a:srgbClr val="000000"/>
                </a:solidFill>
                <a:latin typeface="Bahnschrift" panose="020B0502040204020203" pitchFamily="34" charset="0"/>
                <a:ea typeface="DengXian" panose="02010600030101010101" pitchFamily="2" charset="-122"/>
                <a:cs typeface="Calibri" panose="020F0502020204030204" pitchFamily="34" charset="0"/>
              </a:rPr>
              <a:t>yuting</a:t>
            </a:r>
            <a:r>
              <a:rPr lang="en-US" sz="1400" cap="all" dirty="0">
                <a:solidFill>
                  <a:srgbClr val="000000"/>
                </a:solidFill>
                <a:latin typeface="Bahnschrift" panose="020B0502040204020203" pitchFamily="34" charset="0"/>
                <a:ea typeface="DengXian" panose="02010600030101010101" pitchFamily="2" charset="-122"/>
                <a:cs typeface="Calibri" panose="020F0502020204030204" pitchFamily="34" charset="0"/>
              </a:rPr>
              <a:t> fan</a:t>
            </a:r>
            <a:br>
              <a:rPr lang="en-US" sz="1400" dirty="0">
                <a:solidFill>
                  <a:srgbClr val="404040"/>
                </a:solidFill>
                <a:latin typeface="Bahnschrift" panose="020B0502040204020203" pitchFamily="34" charset="0"/>
                <a:ea typeface="DengXian" panose="02010600030101010101" pitchFamily="2" charset="-122"/>
                <a:cs typeface="Calibri" panose="020F0502020204030204" pitchFamily="34" charset="0"/>
              </a:rPr>
            </a:br>
            <a:r>
              <a:rPr lang="en-US" sz="1400" dirty="0">
                <a:latin typeface="Bahnschrift" panose="020B0502040204020203" pitchFamily="34" charset="0"/>
                <a:ea typeface="DengXian" panose="02010600030101010101" pitchFamily="2" charset="-122"/>
                <a:cs typeface="Calibri" panose="020F0502020204030204" pitchFamily="34" charset="0"/>
              </a:rPr>
              <a:t>Economist, Office of the Chief Economist, Middle East and North Africa, The World Bank</a:t>
            </a:r>
            <a:endParaRPr lang="en-US" sz="1400" dirty="0"/>
          </a:p>
        </p:txBody>
      </p:sp>
      <p:pic>
        <p:nvPicPr>
          <p:cNvPr id="1033" name="Picture 9" descr="Image">
            <a:extLst>
              <a:ext uri="{FF2B5EF4-FFF2-40B4-BE49-F238E27FC236}">
                <a16:creationId xmlns:a16="http://schemas.microsoft.com/office/drawing/2014/main" id="{FB1CFA70-AD78-404D-8F65-B45176AFFB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26933" y="3958583"/>
            <a:ext cx="1051560" cy="1051560"/>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C0CDA3DE-2E92-487D-B50D-FD0C1E7759A1}"/>
              </a:ext>
            </a:extLst>
          </p:cNvPr>
          <p:cNvSpPr/>
          <p:nvPr/>
        </p:nvSpPr>
        <p:spPr>
          <a:xfrm>
            <a:off x="7178493" y="4096769"/>
            <a:ext cx="3866606" cy="738664"/>
          </a:xfrm>
          <a:prstGeom prst="rect">
            <a:avLst/>
          </a:prstGeom>
        </p:spPr>
        <p:txBody>
          <a:bodyPr wrap="square">
            <a:spAutoFit/>
          </a:bodyPr>
          <a:lstStyle/>
          <a:p>
            <a:r>
              <a:rPr lang="en-US" sz="1400" cap="all" dirty="0">
                <a:solidFill>
                  <a:srgbClr val="000000"/>
                </a:solidFill>
                <a:latin typeface="Bahnschrift" panose="020B0502040204020203" pitchFamily="34" charset="0"/>
                <a:ea typeface="DengXian" panose="02010600030101010101" pitchFamily="2" charset="-122"/>
                <a:cs typeface="Calibri" panose="020F0502020204030204" pitchFamily="34" charset="0"/>
              </a:rPr>
              <a:t>Claudio Rojas</a:t>
            </a:r>
            <a:br>
              <a:rPr lang="en-US" sz="1400" dirty="0">
                <a:solidFill>
                  <a:srgbClr val="404040"/>
                </a:solidFill>
                <a:latin typeface="Bahnschrift" panose="020B0502040204020203" pitchFamily="34" charset="0"/>
                <a:ea typeface="DengXian" panose="02010600030101010101" pitchFamily="2" charset="-122"/>
                <a:cs typeface="Calibri" panose="020F0502020204030204" pitchFamily="34" charset="0"/>
              </a:rPr>
            </a:br>
            <a:r>
              <a:rPr lang="en-US" sz="1400" dirty="0">
                <a:latin typeface="Bahnschrift" panose="020B0502040204020203" pitchFamily="34" charset="0"/>
                <a:ea typeface="DengXian" panose="02010600030101010101" pitchFamily="2" charset="-122"/>
                <a:cs typeface="Calibri" panose="020F0502020204030204" pitchFamily="34" charset="0"/>
              </a:rPr>
              <a:t>Consultant, Office of the Chief Economist, Middle East and North Africa, The World Bank</a:t>
            </a:r>
            <a:endParaRPr lang="en-US" sz="1400" dirty="0"/>
          </a:p>
        </p:txBody>
      </p:sp>
      <p:pic>
        <p:nvPicPr>
          <p:cNvPr id="1035" name="Picture 11" descr="Sultan Alturki, Ph.D.">
            <a:extLst>
              <a:ext uri="{FF2B5EF4-FFF2-40B4-BE49-F238E27FC236}">
                <a16:creationId xmlns:a16="http://schemas.microsoft.com/office/drawing/2014/main" id="{1349BF3F-B40F-41D8-BDB4-E3413E7D55B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3280" y="5211661"/>
            <a:ext cx="1051560" cy="1051560"/>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0CC0E6B4-86C8-48B1-87F0-83ABAF458F23}"/>
              </a:ext>
            </a:extLst>
          </p:cNvPr>
          <p:cNvSpPr/>
          <p:nvPr/>
        </p:nvSpPr>
        <p:spPr>
          <a:xfrm>
            <a:off x="1924840" y="5376547"/>
            <a:ext cx="3866606" cy="738664"/>
          </a:xfrm>
          <a:prstGeom prst="rect">
            <a:avLst/>
          </a:prstGeom>
        </p:spPr>
        <p:txBody>
          <a:bodyPr wrap="square">
            <a:spAutoFit/>
          </a:bodyPr>
          <a:lstStyle/>
          <a:p>
            <a:r>
              <a:rPr lang="en-US" sz="1400" cap="all" dirty="0">
                <a:solidFill>
                  <a:srgbClr val="000000"/>
                </a:solidFill>
                <a:latin typeface="Bahnschrift" panose="020B0502040204020203" pitchFamily="34" charset="0"/>
                <a:ea typeface="DengXian" panose="02010600030101010101" pitchFamily="2" charset="-122"/>
                <a:cs typeface="Calibri" panose="020F0502020204030204" pitchFamily="34" charset="0"/>
              </a:rPr>
              <a:t>Sultan Alturki</a:t>
            </a:r>
            <a:br>
              <a:rPr lang="en-US" sz="1400" dirty="0">
                <a:solidFill>
                  <a:srgbClr val="404040"/>
                </a:solidFill>
                <a:latin typeface="Bahnschrift" panose="020B0502040204020203" pitchFamily="34" charset="0"/>
                <a:ea typeface="DengXian" panose="02010600030101010101" pitchFamily="2" charset="-122"/>
                <a:cs typeface="Calibri" panose="020F0502020204030204" pitchFamily="34" charset="0"/>
              </a:rPr>
            </a:br>
            <a:r>
              <a:rPr lang="en-US" sz="1400" dirty="0">
                <a:latin typeface="Bahnschrift" panose="020B0502040204020203" pitchFamily="34" charset="0"/>
                <a:ea typeface="DengXian" panose="02010600030101010101" pitchFamily="2" charset="-122"/>
                <a:cs typeface="Calibri" panose="020F0502020204030204" pitchFamily="34" charset="0"/>
              </a:rPr>
              <a:t>Consultant, Office of the Chief Economist, Middle East and North Africa, The World Bank</a:t>
            </a:r>
            <a:endParaRPr lang="en-US" sz="1400" dirty="0"/>
          </a:p>
        </p:txBody>
      </p:sp>
      <p:pic>
        <p:nvPicPr>
          <p:cNvPr id="1037" name="Picture 13" descr="Image">
            <a:extLst>
              <a:ext uri="{FF2B5EF4-FFF2-40B4-BE49-F238E27FC236}">
                <a16:creationId xmlns:a16="http://schemas.microsoft.com/office/drawing/2014/main" id="{6D229B9F-18CC-4034-99A7-081CDE799AC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7090" y="1481453"/>
            <a:ext cx="1047750" cy="1047750"/>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a:extLst>
              <a:ext uri="{FF2B5EF4-FFF2-40B4-BE49-F238E27FC236}">
                <a16:creationId xmlns:a16="http://schemas.microsoft.com/office/drawing/2014/main" id="{F192DE54-0457-40DA-8B5D-890C8B7C3562}"/>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5934" t="2006" r="21208" b="53502"/>
          <a:stretch/>
        </p:blipFill>
        <p:spPr bwMode="auto">
          <a:xfrm>
            <a:off x="6106581" y="1430285"/>
            <a:ext cx="1051560" cy="1031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5639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1D63C574-BFD2-41A1-A567-B0C3CC7FD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lor 2">
            <a:extLst>
              <a:ext uri="{FF2B5EF4-FFF2-40B4-BE49-F238E27FC236}">
                <a16:creationId xmlns:a16="http://schemas.microsoft.com/office/drawing/2014/main" id="{E2A46BAB-8C31-42B2-90E8-B26DD3E8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3F7A3C7-0737-4E57-B30E-8EEFE638B4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707053" cy="6858000"/>
            <a:chOff x="651279" y="598259"/>
            <a:chExt cx="10889442" cy="5680742"/>
          </a:xfrm>
        </p:grpSpPr>
        <p:sp>
          <p:nvSpPr>
            <p:cNvPr id="14" name="Color">
              <a:extLst>
                <a:ext uri="{FF2B5EF4-FFF2-40B4-BE49-F238E27FC236}">
                  <a16:creationId xmlns:a16="http://schemas.microsoft.com/office/drawing/2014/main" id="{3BE6D516-DFC6-4698-B3F1-5F591C113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lor">
              <a:extLst>
                <a:ext uri="{FF2B5EF4-FFF2-40B4-BE49-F238E27FC236}">
                  <a16:creationId xmlns:a16="http://schemas.microsoft.com/office/drawing/2014/main" id="{C2580FB0-D146-458C-AF1B-8E8BBF6BBA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86D0F4FB-7E05-4645-BF84-6B108CB765C8}"/>
              </a:ext>
            </a:extLst>
          </p:cNvPr>
          <p:cNvSpPr>
            <a:spLocks noGrp="1"/>
          </p:cNvSpPr>
          <p:nvPr>
            <p:ph type="title"/>
          </p:nvPr>
        </p:nvSpPr>
        <p:spPr>
          <a:xfrm>
            <a:off x="786385" y="841248"/>
            <a:ext cx="3515244" cy="5340097"/>
          </a:xfrm>
        </p:spPr>
        <p:txBody>
          <a:bodyPr anchor="ctr">
            <a:normAutofit/>
          </a:bodyPr>
          <a:lstStyle/>
          <a:p>
            <a:r>
              <a:rPr lang="en-US" sz="4800">
                <a:solidFill>
                  <a:schemeClr val="bg1"/>
                </a:solidFill>
              </a:rPr>
              <a:t>Main Findings</a:t>
            </a:r>
          </a:p>
        </p:txBody>
      </p:sp>
      <p:graphicFrame>
        <p:nvGraphicFramePr>
          <p:cNvPr id="5" name="Content Placeholder 2">
            <a:extLst>
              <a:ext uri="{FF2B5EF4-FFF2-40B4-BE49-F238E27FC236}">
                <a16:creationId xmlns:a16="http://schemas.microsoft.com/office/drawing/2014/main" id="{690D5FDA-D6ED-4268-923E-DA117D021B03}"/>
              </a:ext>
            </a:extLst>
          </p:cNvPr>
          <p:cNvGraphicFramePr>
            <a:graphicFrameLocks noGrp="1"/>
          </p:cNvGraphicFramePr>
          <p:nvPr>
            <p:ph idx="1"/>
            <p:extLst>
              <p:ext uri="{D42A27DB-BD31-4B8C-83A1-F6EECF244321}">
                <p14:modId xmlns:p14="http://schemas.microsoft.com/office/powerpoint/2010/main" val="1661654"/>
              </p:ext>
            </p:extLst>
          </p:nvPr>
        </p:nvGraphicFramePr>
        <p:xfrm>
          <a:off x="4985886" y="231006"/>
          <a:ext cx="6367913" cy="6405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57374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hart 8">
            <a:extLst>
              <a:ext uri="{FF2B5EF4-FFF2-40B4-BE49-F238E27FC236}">
                <a16:creationId xmlns:a16="http://schemas.microsoft.com/office/drawing/2014/main" id="{2EF258E1-700C-4749-B5ED-EF35BBDAC1F5}"/>
              </a:ext>
            </a:extLst>
          </p:cNvPr>
          <p:cNvGraphicFramePr>
            <a:graphicFrameLocks/>
          </p:cNvGraphicFramePr>
          <p:nvPr>
            <p:extLst>
              <p:ext uri="{D42A27DB-BD31-4B8C-83A1-F6EECF244321}">
                <p14:modId xmlns:p14="http://schemas.microsoft.com/office/powerpoint/2010/main" val="3786985761"/>
              </p:ext>
            </p:extLst>
          </p:nvPr>
        </p:nvGraphicFramePr>
        <p:xfrm>
          <a:off x="6603198" y="1627281"/>
          <a:ext cx="4295775" cy="3845287"/>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 Placeholder 1">
            <a:extLst>
              <a:ext uri="{FF2B5EF4-FFF2-40B4-BE49-F238E27FC236}">
                <a16:creationId xmlns:a16="http://schemas.microsoft.com/office/drawing/2014/main" id="{DBF3886C-A3FA-4B71-B0F4-F6A72485CA6B}"/>
              </a:ext>
            </a:extLst>
          </p:cNvPr>
          <p:cNvSpPr>
            <a:spLocks noGrp="1"/>
          </p:cNvSpPr>
          <p:nvPr>
            <p:ph type="body" sz="quarter" idx="10"/>
          </p:nvPr>
        </p:nvSpPr>
        <p:spPr>
          <a:xfrm>
            <a:off x="323528" y="615956"/>
            <a:ext cx="11573197" cy="724247"/>
          </a:xfrm>
        </p:spPr>
        <p:txBody>
          <a:bodyPr>
            <a:normAutofit/>
          </a:bodyPr>
          <a:lstStyle/>
          <a:p>
            <a:r>
              <a:rPr lang="en-US" sz="4400">
                <a:solidFill>
                  <a:schemeClr val="accent6">
                    <a:lumMod val="50000"/>
                  </a:schemeClr>
                </a:solidFill>
              </a:rPr>
              <a:t>A Region Still In Crisis: Long-Lasting Losses in GDP</a:t>
            </a:r>
          </a:p>
        </p:txBody>
      </p:sp>
      <p:graphicFrame>
        <p:nvGraphicFramePr>
          <p:cNvPr id="3" name="Chart 2">
            <a:extLst>
              <a:ext uri="{FF2B5EF4-FFF2-40B4-BE49-F238E27FC236}">
                <a16:creationId xmlns:a16="http://schemas.microsoft.com/office/drawing/2014/main" id="{9CBC18ED-0CCD-4896-B453-04A7C4F8E56A}"/>
              </a:ext>
            </a:extLst>
          </p:cNvPr>
          <p:cNvGraphicFramePr/>
          <p:nvPr>
            <p:extLst>
              <p:ext uri="{D42A27DB-BD31-4B8C-83A1-F6EECF244321}">
                <p14:modId xmlns:p14="http://schemas.microsoft.com/office/powerpoint/2010/main" val="4196070741"/>
              </p:ext>
            </p:extLst>
          </p:nvPr>
        </p:nvGraphicFramePr>
        <p:xfrm>
          <a:off x="1814352" y="1627281"/>
          <a:ext cx="4295775" cy="3994019"/>
        </p:xfrm>
        <a:graphic>
          <a:graphicData uri="http://schemas.openxmlformats.org/drawingml/2006/chart">
            <c:chart xmlns:c="http://schemas.openxmlformats.org/drawingml/2006/chart" xmlns:r="http://schemas.openxmlformats.org/officeDocument/2006/relationships" r:id="rId4"/>
          </a:graphicData>
        </a:graphic>
      </p:graphicFrame>
      <p:cxnSp>
        <p:nvCxnSpPr>
          <p:cNvPr id="7" name="Straight Connector 6">
            <a:extLst>
              <a:ext uri="{FF2B5EF4-FFF2-40B4-BE49-F238E27FC236}">
                <a16:creationId xmlns:a16="http://schemas.microsoft.com/office/drawing/2014/main" id="{1DD2C138-BCA2-4411-85B9-C8546C7BB543}"/>
              </a:ext>
            </a:extLst>
          </p:cNvPr>
          <p:cNvCxnSpPr/>
          <p:nvPr/>
        </p:nvCxnSpPr>
        <p:spPr>
          <a:xfrm>
            <a:off x="2226365" y="3313043"/>
            <a:ext cx="3869635"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0DF4AAC-AE46-4CCC-AA07-52E9942A36CA}"/>
              </a:ext>
            </a:extLst>
          </p:cNvPr>
          <p:cNvSpPr txBox="1"/>
          <p:nvPr/>
        </p:nvSpPr>
        <p:spPr>
          <a:xfrm>
            <a:off x="408793" y="5442049"/>
            <a:ext cx="11374414" cy="1323439"/>
          </a:xfrm>
          <a:prstGeom prst="rect">
            <a:avLst/>
          </a:prstGeom>
          <a:noFill/>
        </p:spPr>
        <p:txBody>
          <a:bodyPr wrap="square" rtlCol="0">
            <a:spAutoFit/>
          </a:bodyPr>
          <a:lstStyle/>
          <a:p>
            <a:pPr algn="just"/>
            <a:r>
              <a:rPr lang="en-GB" sz="2000" dirty="0"/>
              <a:t>By 2021, the regional economy is forecast to be 7.2 percentage points below the “no-pandemic” GDP level, equivalent to </a:t>
            </a:r>
            <a:r>
              <a:rPr lang="en-GB" sz="2000" dirty="0">
                <a:solidFill>
                  <a:srgbClr val="FF0000"/>
                </a:solidFill>
              </a:rPr>
              <a:t>227 </a:t>
            </a:r>
            <a:r>
              <a:rPr lang="en-GB" sz="2000" dirty="0"/>
              <a:t>billion dollars; </a:t>
            </a:r>
            <a:r>
              <a:rPr lang="en-GB" sz="2000" dirty="0">
                <a:solidFill>
                  <a:srgbClr val="FF0000"/>
                </a:solidFill>
              </a:rPr>
              <a:t>GDP per capita </a:t>
            </a:r>
            <a:r>
              <a:rPr lang="en-GB" sz="2000" dirty="0"/>
              <a:t>(an indicator of the level of development that determines poverty) will still be </a:t>
            </a:r>
            <a:r>
              <a:rPr lang="en-GB" sz="2000" dirty="0">
                <a:solidFill>
                  <a:srgbClr val="FF0000"/>
                </a:solidFill>
              </a:rPr>
              <a:t>lower than the 2019 level by approximately 5%</a:t>
            </a:r>
            <a:endParaRPr lang="en-US" sz="2000" dirty="0">
              <a:solidFill>
                <a:srgbClr val="FF0000"/>
              </a:solidFill>
              <a:latin typeface="Calibri" panose="020F0502020204030204" pitchFamily="34" charset="0"/>
            </a:endParaRPr>
          </a:p>
          <a:p>
            <a:pPr algn="just"/>
            <a:endParaRPr lang="en-US" sz="2000" dirty="0"/>
          </a:p>
        </p:txBody>
      </p:sp>
      <p:cxnSp>
        <p:nvCxnSpPr>
          <p:cNvPr id="8" name="Straight Connector 7">
            <a:extLst>
              <a:ext uri="{FF2B5EF4-FFF2-40B4-BE49-F238E27FC236}">
                <a16:creationId xmlns:a16="http://schemas.microsoft.com/office/drawing/2014/main" id="{C940EF00-9239-4C31-8D03-BCB742AB3821}"/>
              </a:ext>
            </a:extLst>
          </p:cNvPr>
          <p:cNvCxnSpPr>
            <a:cxnSpLocks/>
          </p:cNvCxnSpPr>
          <p:nvPr/>
        </p:nvCxnSpPr>
        <p:spPr>
          <a:xfrm>
            <a:off x="6983913" y="3303867"/>
            <a:ext cx="3637195" cy="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226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715090-2DD7-43DE-9355-52B701B403E3}"/>
              </a:ext>
            </a:extLst>
          </p:cNvPr>
          <p:cNvSpPr>
            <a:spLocks noGrp="1"/>
          </p:cNvSpPr>
          <p:nvPr>
            <p:ph type="body" sz="quarter" idx="10"/>
          </p:nvPr>
        </p:nvSpPr>
        <p:spPr/>
        <p:txBody>
          <a:bodyPr>
            <a:normAutofit/>
          </a:bodyPr>
          <a:lstStyle/>
          <a:p>
            <a:r>
              <a:rPr lang="en-US" sz="3600" dirty="0">
                <a:solidFill>
                  <a:schemeClr val="accent6">
                    <a:lumMod val="50000"/>
                  </a:schemeClr>
                </a:solidFill>
              </a:rPr>
              <a:t>A Region Still in Crisis: GDP per capita Losses</a:t>
            </a:r>
          </a:p>
        </p:txBody>
      </p:sp>
      <p:sp>
        <p:nvSpPr>
          <p:cNvPr id="5" name="Rectangle 4">
            <a:extLst>
              <a:ext uri="{FF2B5EF4-FFF2-40B4-BE49-F238E27FC236}">
                <a16:creationId xmlns:a16="http://schemas.microsoft.com/office/drawing/2014/main" id="{90E8733A-7A89-4BB1-B25D-D7DDAE24AC3F}"/>
              </a:ext>
            </a:extLst>
          </p:cNvPr>
          <p:cNvSpPr/>
          <p:nvPr/>
        </p:nvSpPr>
        <p:spPr>
          <a:xfrm>
            <a:off x="1009650" y="5413244"/>
            <a:ext cx="10382250" cy="676467"/>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Source: World Bank, </a:t>
            </a:r>
            <a:r>
              <a:rPr kumimoji="0" lang="en-US" sz="12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Macro and Poverty Outlook</a:t>
            </a: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 (in April 2021 and October 2019) and World Bank staff’s calculation.</a:t>
            </a:r>
            <a:endPar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Note: The dotted lines show forecast GDP per capita levels in the counter-factual case of no pandemic (based on GDP per capita forecasts in October 2019). The straight lines show forecast GDP per capita levels in the case of pandemic (based on GDP per capita forecasts in April 2021).</a:t>
            </a:r>
            <a:endParaRPr kumimoji="0" lang="en-US"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5378120B-9D93-4E80-B5D9-D1A813847AC3}"/>
              </a:ext>
            </a:extLst>
          </p:cNvPr>
          <p:cNvSpPr/>
          <p:nvPr/>
        </p:nvSpPr>
        <p:spPr>
          <a:xfrm>
            <a:off x="8905862" y="1142998"/>
            <a:ext cx="3059612" cy="2092881"/>
          </a:xfrm>
          <a:prstGeom prst="rect">
            <a:avLst/>
          </a:prstGeom>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Calibri"/>
                <a:cs typeface="Calibri"/>
              </a:rPr>
              <a:t>Losses</a:t>
            </a:r>
            <a:r>
              <a:rPr kumimoji="0" lang="en-US" sz="1800" b="1" i="0" u="none" strike="noStrike" kern="1200" cap="none" spc="0" normalizeH="0" baseline="0" noProof="0" dirty="0">
                <a:ln>
                  <a:noFill/>
                </a:ln>
                <a:effectLst/>
                <a:uLnTx/>
                <a:uFillTx/>
                <a:latin typeface="Calibri"/>
                <a:cs typeface="Calibri"/>
              </a:rPr>
              <a:t> by 2021: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effectLst/>
                <a:uLnTx/>
                <a:uFillTx/>
                <a:latin typeface="Calibri"/>
                <a:cs typeface="Calibri"/>
              </a:rPr>
              <a:t>MENA: 7.0%</a:t>
            </a:r>
            <a:endParaRPr lang="en-US" sz="1400" b="1" i="0" u="none" strike="noStrike" kern="1200" cap="none" spc="0" normalizeH="0" baseline="0" noProof="0" dirty="0">
              <a:ln>
                <a:noFill/>
              </a:ln>
              <a:effectLst/>
              <a:uLnTx/>
              <a:uFillTx/>
              <a:latin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3333FF"/>
                </a:solidFill>
                <a:effectLst/>
                <a:uLnTx/>
                <a:uFillTx/>
                <a:latin typeface="Calibri"/>
                <a:cs typeface="Calibri"/>
              </a:rPr>
              <a:t>GCC: 7.3%</a:t>
            </a:r>
            <a:endParaRPr lang="en-US" sz="1400" b="1" i="0" u="none" strike="noStrike" kern="1200" cap="none" spc="0" normalizeH="0" baseline="0" noProof="0" dirty="0">
              <a:ln>
                <a:noFill/>
              </a:ln>
              <a:solidFill>
                <a:srgbClr val="3333FF"/>
              </a:solidFill>
              <a:effectLst/>
              <a:uLnTx/>
              <a:uFillTx/>
              <a:latin typeface="Calibri"/>
              <a:cs typeface="Calibri"/>
            </a:endParaRPr>
          </a:p>
          <a:p>
            <a:pPr>
              <a:defRPr/>
            </a:pPr>
            <a:endParaRPr lang="en-US" sz="1400" b="1" dirty="0">
              <a:solidFill>
                <a:srgbClr val="F3B500"/>
              </a:solidFill>
              <a:latin typeface="Calibri"/>
              <a:cs typeface="Calibri"/>
            </a:endParaRPr>
          </a:p>
          <a:p>
            <a:pPr>
              <a:defRPr/>
            </a:pPr>
            <a:r>
              <a:rPr lang="en-US" sz="1400" b="1" dirty="0">
                <a:solidFill>
                  <a:srgbClr val="F3B500"/>
                </a:solidFill>
                <a:latin typeface="Calibri"/>
                <a:cs typeface="Calibri"/>
              </a:rPr>
              <a:t>Middle-income oil</a:t>
            </a:r>
            <a:r>
              <a:rPr kumimoji="0" lang="en-US" sz="1400" b="1" i="0" u="none" strike="noStrike" kern="1200" cap="none" spc="0" normalizeH="0" baseline="0" noProof="0" dirty="0">
                <a:ln>
                  <a:noFill/>
                </a:ln>
                <a:solidFill>
                  <a:srgbClr val="F3B500"/>
                </a:solidFill>
                <a:effectLst/>
                <a:uLnTx/>
                <a:uFillTx/>
                <a:latin typeface="Calibri"/>
                <a:cs typeface="Calibri"/>
              </a:rPr>
              <a:t> exporters: 4.6%</a:t>
            </a:r>
            <a:endParaRPr lang="en-US" sz="1400" b="1" i="0" u="none" strike="noStrike" kern="1200" cap="none" spc="0" normalizeH="0" baseline="0" noProof="0" dirty="0">
              <a:ln>
                <a:noFill/>
              </a:ln>
              <a:solidFill>
                <a:srgbClr val="F3B500"/>
              </a:solidFill>
              <a:effectLst/>
              <a:uLnTx/>
              <a:uFillTx/>
              <a:latin typeface="Calibri"/>
              <a:cs typeface="Calibri"/>
            </a:endParaRPr>
          </a:p>
          <a:p>
            <a:pPr>
              <a:defRPr/>
            </a:pPr>
            <a:endParaRPr lang="en-US" sz="1400" b="1" dirty="0">
              <a:latin typeface="Calibri"/>
              <a:cs typeface="Calibri"/>
            </a:endParaRPr>
          </a:p>
          <a:p>
            <a:pPr>
              <a:defRPr/>
            </a:pPr>
            <a:r>
              <a:rPr lang="en-US" sz="1400" b="1" dirty="0">
                <a:solidFill>
                  <a:srgbClr val="FF0000"/>
                </a:solidFill>
                <a:latin typeface="Calibri"/>
                <a:cs typeface="Calibri"/>
              </a:rPr>
              <a:t>Middle-income oil</a:t>
            </a:r>
            <a:r>
              <a:rPr kumimoji="0" lang="en-US" sz="1400" b="1" u="none" strike="noStrike" kern="1200" cap="none" spc="0" normalizeH="0" baseline="0" noProof="0" dirty="0">
                <a:ln>
                  <a:noFill/>
                </a:ln>
                <a:solidFill>
                  <a:srgbClr val="FF0000"/>
                </a:solidFill>
                <a:effectLst/>
                <a:uLnTx/>
                <a:uFillTx/>
                <a:latin typeface="Calibri"/>
                <a:cs typeface="Calibri"/>
              </a:rPr>
              <a:t> importers: </a:t>
            </a:r>
            <a:r>
              <a:rPr lang="en-US" sz="1400" b="1" dirty="0">
                <a:solidFill>
                  <a:srgbClr val="FF0000"/>
                </a:solidFill>
                <a:latin typeface="Calibri"/>
                <a:cs typeface="Calibri"/>
              </a:rPr>
              <a:t>8.6</a:t>
            </a:r>
            <a:r>
              <a:rPr kumimoji="0" lang="en-US" sz="1400" b="1" u="none" strike="noStrike" kern="1200" cap="none" spc="0" normalizeH="0" baseline="0" noProof="0" dirty="0">
                <a:ln>
                  <a:noFill/>
                </a:ln>
                <a:solidFill>
                  <a:srgbClr val="FF0000"/>
                </a:solidFill>
                <a:effectLst/>
                <a:uLnTx/>
                <a:uFillTx/>
                <a:latin typeface="Calibri"/>
                <a:cs typeface="Calibri"/>
              </a:rPr>
              <a:t>%</a:t>
            </a:r>
            <a:endParaRPr lang="en-US" sz="1400" b="1" u="none" strike="noStrike" kern="1200" cap="none" spc="0" normalizeH="0" baseline="0" noProof="0" dirty="0">
              <a:ln>
                <a:noFill/>
              </a:ln>
              <a:solidFill>
                <a:srgbClr val="FF0000"/>
              </a:solidFill>
              <a:effectLst/>
              <a:uLnTx/>
              <a:uFillTx/>
              <a:latin typeface="Calibri" panose="020F0502020204030204" pitchFamily="34" charset="0"/>
              <a:cs typeface="Calibri"/>
            </a:endParaRPr>
          </a:p>
        </p:txBody>
      </p:sp>
      <p:graphicFrame>
        <p:nvGraphicFramePr>
          <p:cNvPr id="9" name="Chart 8">
            <a:extLst>
              <a:ext uri="{FF2B5EF4-FFF2-40B4-BE49-F238E27FC236}">
                <a16:creationId xmlns:a16="http://schemas.microsoft.com/office/drawing/2014/main" id="{2EF258E1-700C-4749-B5ED-EF35BBDAC1F5}"/>
              </a:ext>
            </a:extLst>
          </p:cNvPr>
          <p:cNvGraphicFramePr>
            <a:graphicFrameLocks/>
          </p:cNvGraphicFramePr>
          <p:nvPr>
            <p:extLst>
              <p:ext uri="{D42A27DB-BD31-4B8C-83A1-F6EECF244321}">
                <p14:modId xmlns:p14="http://schemas.microsoft.com/office/powerpoint/2010/main" val="351734779"/>
              </p:ext>
            </p:extLst>
          </p:nvPr>
        </p:nvGraphicFramePr>
        <p:xfrm>
          <a:off x="1280013" y="1181100"/>
          <a:ext cx="2926080" cy="41148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9BB88AFC-0FDD-4D80-A82E-F69212A5C0A7}"/>
              </a:ext>
            </a:extLst>
          </p:cNvPr>
          <p:cNvGraphicFramePr>
            <a:graphicFrameLocks/>
          </p:cNvGraphicFramePr>
          <p:nvPr>
            <p:extLst>
              <p:ext uri="{D42A27DB-BD31-4B8C-83A1-F6EECF244321}">
                <p14:modId xmlns:p14="http://schemas.microsoft.com/office/powerpoint/2010/main" val="2526975853"/>
              </p:ext>
            </p:extLst>
          </p:nvPr>
        </p:nvGraphicFramePr>
        <p:xfrm>
          <a:off x="4959228" y="1181100"/>
          <a:ext cx="2926080" cy="423214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63525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A4F677-CFFB-4133-8356-006EA710E02D}"/>
              </a:ext>
            </a:extLst>
          </p:cNvPr>
          <p:cNvSpPr>
            <a:spLocks noGrp="1"/>
          </p:cNvSpPr>
          <p:nvPr>
            <p:ph type="body" sz="quarter" idx="10"/>
          </p:nvPr>
        </p:nvSpPr>
        <p:spPr/>
        <p:txBody>
          <a:bodyPr>
            <a:normAutofit fontScale="77500" lnSpcReduction="20000"/>
          </a:bodyPr>
          <a:lstStyle/>
          <a:p>
            <a:r>
              <a:rPr lang="en-US" sz="4000">
                <a:solidFill>
                  <a:schemeClr val="accent6">
                    <a:lumMod val="50000"/>
                  </a:schemeClr>
                </a:solidFill>
              </a:rPr>
              <a:t>A Region Still In Crisis: Conservative Estimates Of Millions of New Poor</a:t>
            </a:r>
          </a:p>
        </p:txBody>
      </p:sp>
      <p:graphicFrame>
        <p:nvGraphicFramePr>
          <p:cNvPr id="7" name="Chart 6">
            <a:extLst>
              <a:ext uri="{FF2B5EF4-FFF2-40B4-BE49-F238E27FC236}">
                <a16:creationId xmlns:a16="http://schemas.microsoft.com/office/drawing/2014/main" id="{0F4ABC40-7069-4724-BDE7-91154B88CC8C}"/>
              </a:ext>
            </a:extLst>
          </p:cNvPr>
          <p:cNvGraphicFramePr>
            <a:graphicFrameLocks/>
          </p:cNvGraphicFramePr>
          <p:nvPr>
            <p:extLst>
              <p:ext uri="{D42A27DB-BD31-4B8C-83A1-F6EECF244321}">
                <p14:modId xmlns:p14="http://schemas.microsoft.com/office/powerpoint/2010/main" val="129289878"/>
              </p:ext>
            </p:extLst>
          </p:nvPr>
        </p:nvGraphicFramePr>
        <p:xfrm>
          <a:off x="2252870" y="1231510"/>
          <a:ext cx="7315200" cy="4862912"/>
        </p:xfrm>
        <a:graphic>
          <a:graphicData uri="http://schemas.openxmlformats.org/drawingml/2006/chart">
            <c:chart xmlns:c="http://schemas.openxmlformats.org/drawingml/2006/chart" xmlns:r="http://schemas.openxmlformats.org/officeDocument/2006/relationships" r:id="rId3"/>
          </a:graphicData>
        </a:graphic>
      </p:graphicFrame>
      <p:cxnSp>
        <p:nvCxnSpPr>
          <p:cNvPr id="8" name="Straight Arrow Connector 7">
            <a:extLst>
              <a:ext uri="{FF2B5EF4-FFF2-40B4-BE49-F238E27FC236}">
                <a16:creationId xmlns:a16="http://schemas.microsoft.com/office/drawing/2014/main" id="{3AB6CEDE-7B1F-40BE-9672-1D762AC302A2}"/>
              </a:ext>
            </a:extLst>
          </p:cNvPr>
          <p:cNvCxnSpPr/>
          <p:nvPr/>
        </p:nvCxnSpPr>
        <p:spPr>
          <a:xfrm>
            <a:off x="9727096" y="2759765"/>
            <a:ext cx="0" cy="1338469"/>
          </a:xfrm>
          <a:prstGeom prst="straightConnector1">
            <a:avLst/>
          </a:prstGeom>
          <a:ln>
            <a:solidFill>
              <a:srgbClr val="FF0000"/>
            </a:solidFill>
            <a:headEnd type="triangle"/>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E8F46531-5F7E-46F1-A114-E3DBDC8D98C2}"/>
              </a:ext>
            </a:extLst>
          </p:cNvPr>
          <p:cNvSpPr txBox="1"/>
          <p:nvPr/>
        </p:nvSpPr>
        <p:spPr>
          <a:xfrm>
            <a:off x="10031895" y="3127513"/>
            <a:ext cx="1285461" cy="369332"/>
          </a:xfrm>
          <a:prstGeom prst="rect">
            <a:avLst/>
          </a:prstGeom>
          <a:noFill/>
        </p:spPr>
        <p:txBody>
          <a:bodyPr wrap="square" rtlCol="0">
            <a:spAutoFit/>
          </a:bodyPr>
          <a:lstStyle/>
          <a:p>
            <a:r>
              <a:rPr lang="en-US"/>
              <a:t>14.2 million</a:t>
            </a:r>
          </a:p>
        </p:txBody>
      </p:sp>
    </p:spTree>
    <p:extLst>
      <p:ext uri="{BB962C8B-B14F-4D97-AF65-F5344CB8AC3E}">
        <p14:creationId xmlns:p14="http://schemas.microsoft.com/office/powerpoint/2010/main" val="4240665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BEE73255-8084-4DF9-BB0B-15EAC92E2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2FBD6A-2BAE-439D-8BBE-887912214A44}"/>
              </a:ext>
            </a:extLst>
          </p:cNvPr>
          <p:cNvSpPr>
            <a:spLocks noGrp="1"/>
          </p:cNvSpPr>
          <p:nvPr>
            <p:ph type="title"/>
          </p:nvPr>
        </p:nvSpPr>
        <p:spPr>
          <a:xfrm>
            <a:off x="603938" y="640081"/>
            <a:ext cx="2608655" cy="5257799"/>
          </a:xfrm>
        </p:spPr>
        <p:txBody>
          <a:bodyPr>
            <a:normAutofit/>
          </a:bodyPr>
          <a:lstStyle/>
          <a:p>
            <a:r>
              <a:rPr lang="en-US" sz="3600">
                <a:solidFill>
                  <a:srgbClr val="2C2C2C"/>
                </a:solidFill>
              </a:rPr>
              <a:t>A Region Still In Crisis: </a:t>
            </a:r>
            <a:br>
              <a:rPr lang="en-US" sz="3600">
                <a:solidFill>
                  <a:srgbClr val="2C2C2C"/>
                </a:solidFill>
              </a:rPr>
            </a:br>
            <a:br>
              <a:rPr lang="en-US" sz="3600">
                <a:solidFill>
                  <a:srgbClr val="2C2C2C"/>
                </a:solidFill>
              </a:rPr>
            </a:br>
            <a:r>
              <a:rPr lang="en-US" sz="3600">
                <a:solidFill>
                  <a:srgbClr val="2C2C2C"/>
                </a:solidFill>
              </a:rPr>
              <a:t>Regressive Food-Price Inflation</a:t>
            </a:r>
            <a:br>
              <a:rPr lang="en-US" sz="3600">
                <a:solidFill>
                  <a:srgbClr val="2C2C2C"/>
                </a:solidFill>
              </a:rPr>
            </a:br>
            <a:br>
              <a:rPr lang="en-US" sz="3600">
                <a:solidFill>
                  <a:srgbClr val="2C2C2C"/>
                </a:solidFill>
              </a:rPr>
            </a:br>
            <a:r>
              <a:rPr lang="en-US" sz="2000" b="1">
                <a:solidFill>
                  <a:srgbClr val="2C2C2C"/>
                </a:solidFill>
              </a:rPr>
              <a:t>Feb 2020-March 2021</a:t>
            </a:r>
            <a:endParaRPr lang="en-US" sz="3600" b="1">
              <a:solidFill>
                <a:srgbClr val="2C2C2C"/>
              </a:solidFill>
            </a:endParaRPr>
          </a:p>
        </p:txBody>
      </p:sp>
      <p:sp>
        <p:nvSpPr>
          <p:cNvPr id="29" name="Rounded Rectangle 9">
            <a:extLst>
              <a:ext uri="{FF2B5EF4-FFF2-40B4-BE49-F238E27FC236}">
                <a16:creationId xmlns:a16="http://schemas.microsoft.com/office/drawing/2014/main" id="{67048353-8981-459A-9BC6-9711CE462E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0067"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5DC83F48-BDF8-4A4B-B8D7-D7B20E12A800}"/>
              </a:ext>
            </a:extLst>
          </p:cNvPr>
          <p:cNvPicPr/>
          <p:nvPr/>
        </p:nvPicPr>
        <p:blipFill rotWithShape="1">
          <a:blip r:embed="rId3" cstate="print">
            <a:extLst>
              <a:ext uri="{28A0092B-C50C-407E-A947-70E740481C1C}">
                <a14:useLocalDpi xmlns:a14="http://schemas.microsoft.com/office/drawing/2010/main" val="0"/>
              </a:ext>
            </a:extLst>
          </a:blip>
          <a:srcRect r="697" b="14"/>
          <a:stretch/>
        </p:blipFill>
        <p:spPr bwMode="auto">
          <a:xfrm>
            <a:off x="4062964" y="942538"/>
            <a:ext cx="7163222" cy="4808332"/>
          </a:xfrm>
          <a:prstGeom prst="rect">
            <a:avLst/>
          </a:prstGeom>
          <a:noFill/>
          <a:effectLst/>
        </p:spPr>
      </p:pic>
    </p:spTree>
    <p:extLst>
      <p:ext uri="{BB962C8B-B14F-4D97-AF65-F5344CB8AC3E}">
        <p14:creationId xmlns:p14="http://schemas.microsoft.com/office/powerpoint/2010/main" val="2143900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6652D8-86A3-4EF7-8605-147F7AED729D}"/>
              </a:ext>
            </a:extLst>
          </p:cNvPr>
          <p:cNvSpPr>
            <a:spLocks noGrp="1"/>
          </p:cNvSpPr>
          <p:nvPr>
            <p:ph type="body" sz="quarter" idx="10"/>
          </p:nvPr>
        </p:nvSpPr>
        <p:spPr/>
        <p:txBody>
          <a:bodyPr>
            <a:normAutofit/>
          </a:bodyPr>
          <a:lstStyle/>
          <a:p>
            <a:r>
              <a:rPr lang="en-US" sz="4000">
                <a:solidFill>
                  <a:schemeClr val="accent6">
                    <a:lumMod val="50000"/>
                  </a:schemeClr>
                </a:solidFill>
              </a:rPr>
              <a:t>Walking the Tightrope of Rising Public Debt</a:t>
            </a:r>
          </a:p>
        </p:txBody>
      </p:sp>
      <p:sp>
        <p:nvSpPr>
          <p:cNvPr id="4" name="Rectangle 3">
            <a:extLst>
              <a:ext uri="{FF2B5EF4-FFF2-40B4-BE49-F238E27FC236}">
                <a16:creationId xmlns:a16="http://schemas.microsoft.com/office/drawing/2014/main" id="{D71FFDEF-E2A0-446C-BDAC-8D07FEBAB98A}"/>
              </a:ext>
            </a:extLst>
          </p:cNvPr>
          <p:cNvSpPr/>
          <p:nvPr/>
        </p:nvSpPr>
        <p:spPr>
          <a:xfrm>
            <a:off x="1153353" y="5573094"/>
            <a:ext cx="8667750" cy="874085"/>
          </a:xfrm>
          <a:prstGeom prst="rect">
            <a:avLst/>
          </a:prstGeom>
        </p:spPr>
        <p:txBody>
          <a:bodyPr wrap="square">
            <a:spAutoFit/>
          </a:bodyPr>
          <a:lstStyle/>
          <a:p>
            <a:pPr>
              <a:lnSpc>
                <a:spcPct val="107000"/>
              </a:lnSpc>
            </a:pPr>
            <a:r>
              <a:rPr lang="en-US" sz="1200">
                <a:latin typeface="Calibri" panose="020F0502020204030204" pitchFamily="34" charset="0"/>
                <a:ea typeface="Calibri" panose="020F0502020204030204" pitchFamily="34" charset="0"/>
                <a:cs typeface="Calibri" panose="020F0502020204030204" pitchFamily="34" charset="0"/>
              </a:rPr>
              <a:t>Source: World Bank, </a:t>
            </a:r>
            <a:r>
              <a:rPr lang="en-US" sz="1200" i="1">
                <a:latin typeface="Calibri" panose="020F0502020204030204" pitchFamily="34" charset="0"/>
                <a:ea typeface="Calibri" panose="020F0502020204030204" pitchFamily="34" charset="0"/>
                <a:cs typeface="Calibri" panose="020F0502020204030204" pitchFamily="34" charset="0"/>
              </a:rPr>
              <a:t>Macro and Poverty Outlook</a:t>
            </a:r>
            <a:r>
              <a:rPr lang="en-US" sz="1200">
                <a:latin typeface="Calibri" panose="020F0502020204030204" pitchFamily="34" charset="0"/>
                <a:ea typeface="Calibri" panose="020F0502020204030204" pitchFamily="34" charset="0"/>
                <a:cs typeface="Calibri" panose="020F0502020204030204" pitchFamily="34" charset="0"/>
              </a:rPr>
              <a:t> </a:t>
            </a:r>
            <a:r>
              <a:rPr lang="en-US" sz="1200" i="1">
                <a:latin typeface="Calibri" panose="020F0502020204030204" pitchFamily="34" charset="0"/>
                <a:ea typeface="Calibri" panose="020F0502020204030204" pitchFamily="34" charset="0"/>
                <a:cs typeface="Calibri" panose="020F0502020204030204" pitchFamily="34" charset="0"/>
              </a:rPr>
              <a:t>(April 2021)</a:t>
            </a:r>
            <a:endParaRPr lang="en-US" sz="1600">
              <a:latin typeface="Calibri" panose="020F0502020204030204" pitchFamily="34" charset="0"/>
              <a:ea typeface="Calibri" panose="020F0502020204030204" pitchFamily="34" charset="0"/>
              <a:cs typeface="Arial" panose="020B0604020202020204" pitchFamily="34" charset="0"/>
            </a:endParaRPr>
          </a:p>
          <a:p>
            <a:pPr>
              <a:lnSpc>
                <a:spcPct val="107000"/>
              </a:lnSpc>
            </a:pPr>
            <a:r>
              <a:rPr lang="en-US" sz="1200">
                <a:latin typeface="Calibri" panose="020F0502020204030204" pitchFamily="34" charset="0"/>
                <a:ea typeface="Calibri" panose="020F0502020204030204" pitchFamily="34" charset="0"/>
                <a:cs typeface="Calibri" panose="020F0502020204030204" pitchFamily="34" charset="0"/>
              </a:rPr>
              <a:t>Note: Country groups are represented by median observation of the group. The bars show median debt of MENA country groups. The diamonds show median debt of the corresponding world’s income groups. Debt data are generally not available for MENA low income (Yemen and Syria). The high-income group in MPO is limited to only countries covered by the World Bank.</a:t>
            </a:r>
            <a:endParaRPr lang="en-US" sz="1600">
              <a:effectLst/>
              <a:latin typeface="Calibri" panose="020F0502020204030204" pitchFamily="34" charset="0"/>
              <a:ea typeface="Calibri" panose="020F0502020204030204" pitchFamily="34" charset="0"/>
              <a:cs typeface="Arial" panose="020B0604020202020204" pitchFamily="34" charset="0"/>
            </a:endParaRPr>
          </a:p>
        </p:txBody>
      </p:sp>
      <p:grpSp>
        <p:nvGrpSpPr>
          <p:cNvPr id="7" name="Group 6">
            <a:extLst>
              <a:ext uri="{FF2B5EF4-FFF2-40B4-BE49-F238E27FC236}">
                <a16:creationId xmlns:a16="http://schemas.microsoft.com/office/drawing/2014/main" id="{C15A88E8-DA76-490E-8B0B-E8B820AC1568}"/>
              </a:ext>
            </a:extLst>
          </p:cNvPr>
          <p:cNvGrpSpPr/>
          <p:nvPr/>
        </p:nvGrpSpPr>
        <p:grpSpPr>
          <a:xfrm>
            <a:off x="1374913" y="1284906"/>
            <a:ext cx="5943600" cy="3790950"/>
            <a:chOff x="3124200" y="1123950"/>
            <a:chExt cx="5943600" cy="3790950"/>
          </a:xfrm>
        </p:grpSpPr>
        <p:graphicFrame>
          <p:nvGraphicFramePr>
            <p:cNvPr id="3" name="Chart 2">
              <a:extLst>
                <a:ext uri="{FF2B5EF4-FFF2-40B4-BE49-F238E27FC236}">
                  <a16:creationId xmlns:a16="http://schemas.microsoft.com/office/drawing/2014/main" id="{B6A91162-CB5A-6240-9245-A864AB930BB8}"/>
                </a:ext>
              </a:extLst>
            </p:cNvPr>
            <p:cNvGraphicFramePr/>
            <p:nvPr>
              <p:extLst>
                <p:ext uri="{D42A27DB-BD31-4B8C-83A1-F6EECF244321}">
                  <p14:modId xmlns:p14="http://schemas.microsoft.com/office/powerpoint/2010/main" val="3328265334"/>
                </p:ext>
              </p:extLst>
            </p:nvPr>
          </p:nvGraphicFramePr>
          <p:xfrm>
            <a:off x="3124200" y="1123950"/>
            <a:ext cx="5943600" cy="3790950"/>
          </p:xfrm>
          <a:graphic>
            <a:graphicData uri="http://schemas.openxmlformats.org/drawingml/2006/chart">
              <c:chart xmlns:c="http://schemas.openxmlformats.org/drawingml/2006/chart" xmlns:r="http://schemas.openxmlformats.org/officeDocument/2006/relationships" r:id="rId3"/>
            </a:graphicData>
          </a:graphic>
        </p:graphicFrame>
        <p:cxnSp>
          <p:nvCxnSpPr>
            <p:cNvPr id="6" name="Straight Connector 5">
              <a:extLst>
                <a:ext uri="{FF2B5EF4-FFF2-40B4-BE49-F238E27FC236}">
                  <a16:creationId xmlns:a16="http://schemas.microsoft.com/office/drawing/2014/main" id="{754A2214-6D47-448C-89B5-997F1FEFB921}"/>
                </a:ext>
              </a:extLst>
            </p:cNvPr>
            <p:cNvCxnSpPr/>
            <p:nvPr/>
          </p:nvCxnSpPr>
          <p:spPr>
            <a:xfrm flipV="1">
              <a:off x="6268278" y="1749287"/>
              <a:ext cx="0" cy="2438400"/>
            </a:xfrm>
            <a:prstGeom prst="line">
              <a:avLst/>
            </a:prstGeom>
            <a:ln w="25400">
              <a:prstDash val="sysDot"/>
            </a:ln>
          </p:spPr>
          <p:style>
            <a:lnRef idx="1">
              <a:schemeClr val="dk1"/>
            </a:lnRef>
            <a:fillRef idx="0">
              <a:schemeClr val="dk1"/>
            </a:fillRef>
            <a:effectRef idx="0">
              <a:schemeClr val="dk1"/>
            </a:effectRef>
            <a:fontRef idx="minor">
              <a:schemeClr val="tx1"/>
            </a:fontRef>
          </p:style>
        </p:cxnSp>
      </p:grpSp>
      <p:sp>
        <p:nvSpPr>
          <p:cNvPr id="8" name="TextBox 7">
            <a:extLst>
              <a:ext uri="{FF2B5EF4-FFF2-40B4-BE49-F238E27FC236}">
                <a16:creationId xmlns:a16="http://schemas.microsoft.com/office/drawing/2014/main" id="{236468AB-7930-4721-87B7-168F8D097098}"/>
              </a:ext>
            </a:extLst>
          </p:cNvPr>
          <p:cNvSpPr txBox="1"/>
          <p:nvPr/>
        </p:nvSpPr>
        <p:spPr>
          <a:xfrm>
            <a:off x="8534400" y="2167012"/>
            <a:ext cx="2676939" cy="1200329"/>
          </a:xfrm>
          <a:prstGeom prst="rect">
            <a:avLst/>
          </a:prstGeom>
          <a:noFill/>
          <a:ln w="25400">
            <a:solidFill>
              <a:srgbClr val="FF0000"/>
            </a:solidFill>
          </a:ln>
        </p:spPr>
        <p:txBody>
          <a:bodyPr wrap="square" rtlCol="0">
            <a:spAutoFit/>
          </a:bodyPr>
          <a:lstStyle/>
          <a:p>
            <a:r>
              <a:rPr lang="en-US"/>
              <a:t>Balancing act is most difficult among MENA’s Middle-Income Oil-Importing economies. </a:t>
            </a:r>
          </a:p>
        </p:txBody>
      </p:sp>
    </p:spTree>
    <p:extLst>
      <p:ext uri="{BB962C8B-B14F-4D97-AF65-F5344CB8AC3E}">
        <p14:creationId xmlns:p14="http://schemas.microsoft.com/office/powerpoint/2010/main" val="861478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fill">
            <a:extLst>
              <a:ext uri="{FF2B5EF4-FFF2-40B4-BE49-F238E27FC236}">
                <a16:creationId xmlns:a16="http://schemas.microsoft.com/office/drawing/2014/main" id="{1D63C574-BFD2-41A1-A567-B0C3CC7FD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lor 2">
            <a:extLst>
              <a:ext uri="{FF2B5EF4-FFF2-40B4-BE49-F238E27FC236}">
                <a16:creationId xmlns:a16="http://schemas.microsoft.com/office/drawing/2014/main" id="{E2A46BAB-8C31-42B2-90E8-B26DD3E8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B3F7A3C7-0737-4E57-B30E-8EEFE638B4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707053" cy="6858000"/>
            <a:chOff x="651279" y="598259"/>
            <a:chExt cx="10889442" cy="5680742"/>
          </a:xfrm>
        </p:grpSpPr>
        <p:sp>
          <p:nvSpPr>
            <p:cNvPr id="9" name="Color">
              <a:extLst>
                <a:ext uri="{FF2B5EF4-FFF2-40B4-BE49-F238E27FC236}">
                  <a16:creationId xmlns:a16="http://schemas.microsoft.com/office/drawing/2014/main" id="{3BE6D516-DFC6-4698-B3F1-5F591C113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olor">
              <a:extLst>
                <a:ext uri="{FF2B5EF4-FFF2-40B4-BE49-F238E27FC236}">
                  <a16:creationId xmlns:a16="http://schemas.microsoft.com/office/drawing/2014/main" id="{C2580FB0-D146-458C-AF1B-8E8BBF6BBA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0" name="Freeform: Shape 19">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CBFA37D1-30D1-47C5-9E58-FF154E056478}"/>
              </a:ext>
            </a:extLst>
          </p:cNvPr>
          <p:cNvSpPr>
            <a:spLocks noGrp="1"/>
          </p:cNvSpPr>
          <p:nvPr>
            <p:ph type="title"/>
          </p:nvPr>
        </p:nvSpPr>
        <p:spPr>
          <a:xfrm>
            <a:off x="786385" y="841248"/>
            <a:ext cx="3515244" cy="5340097"/>
          </a:xfrm>
        </p:spPr>
        <p:txBody>
          <a:bodyPr anchor="ctr">
            <a:normAutofit/>
          </a:bodyPr>
          <a:lstStyle/>
          <a:p>
            <a:r>
              <a:rPr lang="en-US" sz="4800">
                <a:solidFill>
                  <a:schemeClr val="bg1"/>
                </a:solidFill>
              </a:rPr>
              <a:t>This Report</a:t>
            </a:r>
          </a:p>
        </p:txBody>
      </p:sp>
      <p:graphicFrame>
        <p:nvGraphicFramePr>
          <p:cNvPr id="7" name="Content Placeholder 4">
            <a:extLst>
              <a:ext uri="{FF2B5EF4-FFF2-40B4-BE49-F238E27FC236}">
                <a16:creationId xmlns:a16="http://schemas.microsoft.com/office/drawing/2014/main" id="{4FE4F1DC-0D88-487E-8ECB-A2BF5C478845}"/>
              </a:ext>
            </a:extLst>
          </p:cNvPr>
          <p:cNvGraphicFramePr>
            <a:graphicFrameLocks noGrp="1"/>
          </p:cNvGraphicFramePr>
          <p:nvPr>
            <p:ph idx="1"/>
            <p:extLst>
              <p:ext uri="{D42A27DB-BD31-4B8C-83A1-F6EECF244321}">
                <p14:modId xmlns:p14="http://schemas.microsoft.com/office/powerpoint/2010/main" val="519152244"/>
              </p:ext>
            </p:extLst>
          </p:nvPr>
        </p:nvGraphicFramePr>
        <p:xfrm>
          <a:off x="4985886" y="231006"/>
          <a:ext cx="6367913" cy="6405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89544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ylinder 5">
            <a:extLst>
              <a:ext uri="{FF2B5EF4-FFF2-40B4-BE49-F238E27FC236}">
                <a16:creationId xmlns:a16="http://schemas.microsoft.com/office/drawing/2014/main" id="{C9C4074C-4505-4CE8-A760-08964CC50F04}"/>
              </a:ext>
            </a:extLst>
          </p:cNvPr>
          <p:cNvSpPr/>
          <p:nvPr/>
        </p:nvSpPr>
        <p:spPr>
          <a:xfrm>
            <a:off x="4547627" y="5694022"/>
            <a:ext cx="1518214" cy="658190"/>
          </a:xfrm>
          <a:prstGeom prst="can">
            <a:avLst>
              <a:gd name="adj" fmla="val 50000"/>
            </a:avLst>
          </a:prstGeom>
          <a:solidFill>
            <a:schemeClr val="tx1">
              <a:lumMod val="65000"/>
              <a:lumOff val="3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A394ACD-998C-4E50-BA1F-A3D5122DDFAE}"/>
              </a:ext>
            </a:extLst>
          </p:cNvPr>
          <p:cNvSpPr>
            <a:spLocks noGrp="1"/>
          </p:cNvSpPr>
          <p:nvPr>
            <p:ph type="title"/>
          </p:nvPr>
        </p:nvSpPr>
        <p:spPr>
          <a:xfrm>
            <a:off x="838200" y="98425"/>
            <a:ext cx="10515600" cy="1401683"/>
          </a:xfrm>
        </p:spPr>
        <p:txBody>
          <a:bodyPr>
            <a:noAutofit/>
          </a:bodyPr>
          <a:lstStyle/>
          <a:p>
            <a:pPr algn="ctr"/>
            <a:r>
              <a:rPr lang="en-US" sz="2800" dirty="0">
                <a:solidFill>
                  <a:schemeClr val="accent6">
                    <a:lumMod val="50000"/>
                  </a:schemeClr>
                </a:solidFill>
              </a:rPr>
              <a:t>Walking the Debt Tightrope:</a:t>
            </a:r>
            <a:br>
              <a:rPr lang="en-US" sz="2800" dirty="0">
                <a:solidFill>
                  <a:schemeClr val="accent6">
                    <a:lumMod val="50000"/>
                  </a:schemeClr>
                </a:solidFill>
              </a:rPr>
            </a:br>
            <a:r>
              <a:rPr lang="en-US" sz="2800" dirty="0">
                <a:solidFill>
                  <a:schemeClr val="accent6">
                    <a:lumMod val="50000"/>
                  </a:schemeClr>
                </a:solidFill>
              </a:rPr>
              <a:t>Tension between Short-term Needs and Long-term Costs of Public Debt</a:t>
            </a:r>
          </a:p>
        </p:txBody>
      </p:sp>
      <p:sp>
        <p:nvSpPr>
          <p:cNvPr id="5" name="Cylinder 4">
            <a:extLst>
              <a:ext uri="{FF2B5EF4-FFF2-40B4-BE49-F238E27FC236}">
                <a16:creationId xmlns:a16="http://schemas.microsoft.com/office/drawing/2014/main" id="{4FFB838A-E3FD-4585-AE46-E107C725C462}"/>
              </a:ext>
            </a:extLst>
          </p:cNvPr>
          <p:cNvSpPr/>
          <p:nvPr/>
        </p:nvSpPr>
        <p:spPr>
          <a:xfrm>
            <a:off x="5111905" y="2075604"/>
            <a:ext cx="347241" cy="3769612"/>
          </a:xfrm>
          <a:prstGeom prst="can">
            <a:avLst/>
          </a:prstGeom>
          <a:gradFill flip="none" rotWithShape="1">
            <a:gsLst>
              <a:gs pos="3000">
                <a:schemeClr val="bg1">
                  <a:lumMod val="50000"/>
                </a:schemeClr>
              </a:gs>
              <a:gs pos="49000">
                <a:schemeClr val="bg1"/>
              </a:gs>
              <a:gs pos="100000">
                <a:schemeClr val="bg1">
                  <a:lumMod val="75000"/>
                </a:schemeClr>
              </a:gs>
            </a:gsLst>
            <a:lin ang="0" scaled="1"/>
            <a:tileRect/>
          </a:gra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Cylinder 6">
            <a:extLst>
              <a:ext uri="{FF2B5EF4-FFF2-40B4-BE49-F238E27FC236}">
                <a16:creationId xmlns:a16="http://schemas.microsoft.com/office/drawing/2014/main" id="{B1191802-FB77-4A34-9894-520D4F38F589}"/>
              </a:ext>
            </a:extLst>
          </p:cNvPr>
          <p:cNvSpPr/>
          <p:nvPr/>
        </p:nvSpPr>
        <p:spPr>
          <a:xfrm rot="16825689" flipH="1">
            <a:off x="5249271" y="936985"/>
            <a:ext cx="183741" cy="3511957"/>
          </a:xfrm>
          <a:prstGeom prst="can">
            <a:avLst/>
          </a:prstGeom>
          <a:gradFill flip="none" rotWithShape="1">
            <a:gsLst>
              <a:gs pos="3000">
                <a:schemeClr val="bg1">
                  <a:lumMod val="50000"/>
                </a:schemeClr>
              </a:gs>
              <a:gs pos="49000">
                <a:schemeClr val="bg1"/>
              </a:gs>
              <a:gs pos="100000">
                <a:schemeClr val="bg1">
                  <a:lumMod val="75000"/>
                </a:schemeClr>
              </a:gs>
            </a:gsLst>
            <a:lin ang="0" scaled="1"/>
            <a:tileRect/>
          </a:gra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Isosceles Triangle 8">
            <a:extLst>
              <a:ext uri="{FF2B5EF4-FFF2-40B4-BE49-F238E27FC236}">
                <a16:creationId xmlns:a16="http://schemas.microsoft.com/office/drawing/2014/main" id="{A3D196BC-6BFB-448B-A6AC-E317A8B0916B}"/>
              </a:ext>
            </a:extLst>
          </p:cNvPr>
          <p:cNvSpPr/>
          <p:nvPr/>
        </p:nvSpPr>
        <p:spPr>
          <a:xfrm>
            <a:off x="6454349" y="2992784"/>
            <a:ext cx="1207008" cy="1728216"/>
          </a:xfrm>
          <a:prstGeom prst="triangle">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Oval 7">
            <a:extLst>
              <a:ext uri="{FF2B5EF4-FFF2-40B4-BE49-F238E27FC236}">
                <a16:creationId xmlns:a16="http://schemas.microsoft.com/office/drawing/2014/main" id="{F27CE214-6196-494F-A892-33C9EA9EC783}"/>
              </a:ext>
            </a:extLst>
          </p:cNvPr>
          <p:cNvSpPr/>
          <p:nvPr/>
        </p:nvSpPr>
        <p:spPr>
          <a:xfrm>
            <a:off x="6440083" y="4110963"/>
            <a:ext cx="1280160" cy="1097280"/>
          </a:xfrm>
          <a:prstGeom prst="ellipse">
            <a:avLst/>
          </a:prstGeom>
          <a:solidFill>
            <a:schemeClr val="accent2"/>
          </a:solidFill>
          <a:ln>
            <a:noFill/>
          </a:ln>
          <a:scene3d>
            <a:camera prst="perspectiveRelaxed">
              <a:rot lat="17073593" lon="0" rev="0"/>
            </a:camera>
            <a:lightRig rig="threePt" dir="t"/>
          </a:scene3d>
          <a:sp3d>
            <a:bevelT w="114300" h="317500" prst="slope"/>
            <a:bevelB w="635000" h="317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Isosceles Triangle 9">
            <a:extLst>
              <a:ext uri="{FF2B5EF4-FFF2-40B4-BE49-F238E27FC236}">
                <a16:creationId xmlns:a16="http://schemas.microsoft.com/office/drawing/2014/main" id="{548792C1-4522-4187-B239-9EC0034BE205}"/>
              </a:ext>
            </a:extLst>
          </p:cNvPr>
          <p:cNvSpPr/>
          <p:nvPr/>
        </p:nvSpPr>
        <p:spPr>
          <a:xfrm>
            <a:off x="3001668" y="2383235"/>
            <a:ext cx="1210851" cy="1727823"/>
          </a:xfrm>
          <a:prstGeom prst="triangle">
            <a:avLst/>
          </a:prstGeom>
          <a:no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0C7296EC-0DA5-4958-A85B-42401221C675}"/>
              </a:ext>
            </a:extLst>
          </p:cNvPr>
          <p:cNvSpPr/>
          <p:nvPr/>
        </p:nvSpPr>
        <p:spPr>
          <a:xfrm>
            <a:off x="2982121" y="3494602"/>
            <a:ext cx="1280160" cy="1097280"/>
          </a:xfrm>
          <a:prstGeom prst="ellipse">
            <a:avLst/>
          </a:prstGeom>
          <a:solidFill>
            <a:srgbClr val="4472C4"/>
          </a:solidFill>
          <a:ln>
            <a:noFill/>
          </a:ln>
          <a:scene3d>
            <a:camera prst="perspectiveRelaxed">
              <a:rot lat="17073593" lon="0" rev="0"/>
            </a:camera>
            <a:lightRig rig="threePt" dir="t"/>
          </a:scene3d>
          <a:sp3d>
            <a:bevelT w="114300" h="317500" prst="slope"/>
            <a:bevelB w="635000" h="317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19DC177A-3550-4F67-BEB3-4389FB613495}"/>
              </a:ext>
            </a:extLst>
          </p:cNvPr>
          <p:cNvSpPr/>
          <p:nvPr/>
        </p:nvSpPr>
        <p:spPr>
          <a:xfrm>
            <a:off x="4998560" y="2383235"/>
            <a:ext cx="647212" cy="658190"/>
          </a:xfrm>
          <a:prstGeom prst="ellipse">
            <a:avLst/>
          </a:prstGeom>
          <a:solidFill>
            <a:schemeClr val="bg1">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CEDF4CF2-1B37-47E3-AFA8-8E2A1DC4945B}"/>
              </a:ext>
            </a:extLst>
          </p:cNvPr>
          <p:cNvSpPr/>
          <p:nvPr/>
        </p:nvSpPr>
        <p:spPr>
          <a:xfrm>
            <a:off x="3490542" y="2252750"/>
            <a:ext cx="260433" cy="272907"/>
          </a:xfrm>
          <a:prstGeom prst="ellipse">
            <a:avLst/>
          </a:prstGeom>
          <a:solidFill>
            <a:schemeClr val="bg1">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D3FF54C-D1C5-4B14-8D78-AA0C70FAEB1E}"/>
              </a:ext>
            </a:extLst>
          </p:cNvPr>
          <p:cNvSpPr/>
          <p:nvPr/>
        </p:nvSpPr>
        <p:spPr>
          <a:xfrm>
            <a:off x="6933074" y="2891338"/>
            <a:ext cx="260433" cy="272907"/>
          </a:xfrm>
          <a:prstGeom prst="ellipse">
            <a:avLst/>
          </a:prstGeom>
          <a:solidFill>
            <a:schemeClr val="bg1">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33396B90-B644-4B82-A058-8F6E8C8AEAA6}"/>
              </a:ext>
            </a:extLst>
          </p:cNvPr>
          <p:cNvSpPr/>
          <p:nvPr/>
        </p:nvSpPr>
        <p:spPr>
          <a:xfrm>
            <a:off x="479523" y="4761664"/>
            <a:ext cx="3461409" cy="132343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0" normalizeH="0" baseline="0" noProof="0" dirty="0">
                <a:ln>
                  <a:noFill/>
                </a:ln>
                <a:solidFill>
                  <a:srgbClr val="4472C4"/>
                </a:solidFill>
                <a:effectLst/>
                <a:uLnTx/>
                <a:uFillTx/>
                <a:latin typeface="Calibri" panose="020F0502020204030204"/>
                <a:ea typeface="+mn-ea"/>
                <a:cs typeface="+mn-cs"/>
              </a:rPr>
              <a:t>Short Term Needs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Disaster Relief: Supporting firms and households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Public Health Spending</a:t>
            </a:r>
          </a:p>
        </p:txBody>
      </p:sp>
      <p:sp>
        <p:nvSpPr>
          <p:cNvPr id="16" name="Rectangle 15">
            <a:extLst>
              <a:ext uri="{FF2B5EF4-FFF2-40B4-BE49-F238E27FC236}">
                <a16:creationId xmlns:a16="http://schemas.microsoft.com/office/drawing/2014/main" id="{41D7FCD7-6112-4748-B9FE-565A4A779744}"/>
              </a:ext>
            </a:extLst>
          </p:cNvPr>
          <p:cNvSpPr/>
          <p:nvPr/>
        </p:nvSpPr>
        <p:spPr>
          <a:xfrm>
            <a:off x="7893323" y="2138155"/>
            <a:ext cx="4083840" cy="255454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0" normalizeH="0" baseline="0" noProof="0" dirty="0">
                <a:ln>
                  <a:noFill/>
                </a:ln>
                <a:solidFill>
                  <a:srgbClr val="ED7D31"/>
                </a:solidFill>
                <a:effectLst/>
                <a:uLnTx/>
                <a:uFillTx/>
                <a:latin typeface="Calibri" panose="020F0502020204030204"/>
                <a:ea typeface="+mn-ea"/>
                <a:cs typeface="+mn-cs"/>
              </a:rPr>
              <a:t>Long Term Risks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Crowding out of private investment </a:t>
            </a:r>
            <a:r>
              <a:rPr kumimoji="0" lang="en-US" sz="2000" b="0" u="none" strike="noStrike" kern="1200" cap="none" spc="0" normalizeH="0" baseline="0" noProof="0" dirty="0">
                <a:ln>
                  <a:noFill/>
                </a:ln>
                <a:solidFill>
                  <a:prstClr val="black"/>
                </a:solidFill>
                <a:effectLst/>
                <a:uLnTx/>
                <a:uFillTx/>
                <a:latin typeface="Calibri" panose="020F0502020204030204"/>
                <a:ea typeface="+mn-ea"/>
                <a:cs typeface="+mn-cs"/>
              </a:rPr>
              <a:t>(as interest rate rises)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Crowding out of public investment as interest payments rise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Macroeconomic vulnerability, rollover risk, and likelihood of costly debt crises</a:t>
            </a:r>
          </a:p>
        </p:txBody>
      </p:sp>
    </p:spTree>
    <p:extLst>
      <p:ext uri="{BB962C8B-B14F-4D97-AF65-F5344CB8AC3E}">
        <p14:creationId xmlns:p14="http://schemas.microsoft.com/office/powerpoint/2010/main" val="1909207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60AB6-FCAF-41DB-A89A-A5722A56138D}"/>
              </a:ext>
            </a:extLst>
          </p:cNvPr>
          <p:cNvSpPr>
            <a:spLocks noGrp="1"/>
          </p:cNvSpPr>
          <p:nvPr>
            <p:ph type="title"/>
          </p:nvPr>
        </p:nvSpPr>
        <p:spPr>
          <a:xfrm>
            <a:off x="838200" y="365126"/>
            <a:ext cx="10515600" cy="1070270"/>
          </a:xfrm>
        </p:spPr>
        <p:txBody>
          <a:bodyPr>
            <a:normAutofit/>
          </a:bodyPr>
          <a:lstStyle/>
          <a:p>
            <a:pPr algn="ctr"/>
            <a:r>
              <a:rPr lang="en-US" sz="2800" dirty="0">
                <a:solidFill>
                  <a:schemeClr val="accent6">
                    <a:lumMod val="50000"/>
                  </a:schemeClr>
                </a:solidFill>
              </a:rPr>
              <a:t>Walking The Debt Tightrope </a:t>
            </a:r>
            <a:br>
              <a:rPr lang="en-US" sz="2800" dirty="0">
                <a:solidFill>
                  <a:schemeClr val="accent6">
                    <a:lumMod val="50000"/>
                  </a:schemeClr>
                </a:solidFill>
              </a:rPr>
            </a:br>
            <a:r>
              <a:rPr lang="en-US" sz="2800" dirty="0">
                <a:solidFill>
                  <a:schemeClr val="accent6">
                    <a:lumMod val="50000"/>
                  </a:schemeClr>
                </a:solidFill>
              </a:rPr>
              <a:t>Short-term Needs of Public Debt: Lessons From Disaster Relief</a:t>
            </a:r>
          </a:p>
        </p:txBody>
      </p:sp>
      <p:graphicFrame>
        <p:nvGraphicFramePr>
          <p:cNvPr id="4" name="Content Placeholder 3">
            <a:extLst>
              <a:ext uri="{FF2B5EF4-FFF2-40B4-BE49-F238E27FC236}">
                <a16:creationId xmlns:a16="http://schemas.microsoft.com/office/drawing/2014/main" id="{A7404428-83C8-3249-84A4-FA2068F89C88}"/>
              </a:ext>
            </a:extLst>
          </p:cNvPr>
          <p:cNvGraphicFramePr>
            <a:graphicFrameLocks noGrp="1"/>
          </p:cNvGraphicFramePr>
          <p:nvPr>
            <p:ph idx="1"/>
          </p:nvPr>
        </p:nvGraphicFramePr>
        <p:xfrm>
          <a:off x="1048605" y="1811911"/>
          <a:ext cx="6958940" cy="4351338"/>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B6676DFA-8BB3-44D0-95CE-495C330CB370}"/>
              </a:ext>
            </a:extLst>
          </p:cNvPr>
          <p:cNvSpPr txBox="1"/>
          <p:nvPr/>
        </p:nvSpPr>
        <p:spPr>
          <a:xfrm>
            <a:off x="8073806" y="1915932"/>
            <a:ext cx="3723861" cy="3139321"/>
          </a:xfrm>
          <a:prstGeom prst="rect">
            <a:avLst/>
          </a:prstGeom>
          <a:noFill/>
          <a:ln w="25400">
            <a:solidFill>
              <a:srgbClr val="FF0000"/>
            </a:solidFill>
          </a:ln>
        </p:spPr>
        <p:txBody>
          <a:bodyPr wrap="square" rtlCol="0">
            <a:spAutoFit/>
          </a:bodyPr>
          <a:lstStyle/>
          <a:p>
            <a:r>
              <a:rPr lang="en-US" u="sng" dirty="0"/>
              <a:t>Historical Evidence</a:t>
            </a:r>
            <a:r>
              <a:rPr lang="en-US" dirty="0"/>
              <a:t>:</a:t>
            </a:r>
          </a:p>
          <a:p>
            <a:endParaRPr lang="en-US" dirty="0"/>
          </a:p>
          <a:p>
            <a:r>
              <a:rPr lang="en-US" dirty="0"/>
              <a:t>During and immediately after disasters, debt grows faster (&gt;2%) in disaster economies than in control group (economies-years with no disasters)</a:t>
            </a:r>
          </a:p>
          <a:p>
            <a:endParaRPr lang="en-US" dirty="0"/>
          </a:p>
          <a:p>
            <a:r>
              <a:rPr lang="en-US" dirty="0"/>
              <a:t>Growth plummets during disaster  but recovers in the aftermath relative to control group.</a:t>
            </a:r>
          </a:p>
        </p:txBody>
      </p:sp>
    </p:spTree>
    <p:extLst>
      <p:ext uri="{BB962C8B-B14F-4D97-AF65-F5344CB8AC3E}">
        <p14:creationId xmlns:p14="http://schemas.microsoft.com/office/powerpoint/2010/main" val="2876507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34FFD-5615-4761-9989-37BDC9B722A5}"/>
              </a:ext>
            </a:extLst>
          </p:cNvPr>
          <p:cNvSpPr>
            <a:spLocks noGrp="1"/>
          </p:cNvSpPr>
          <p:nvPr>
            <p:ph type="title"/>
          </p:nvPr>
        </p:nvSpPr>
        <p:spPr>
          <a:xfrm>
            <a:off x="838200" y="202272"/>
            <a:ext cx="10515600" cy="1149467"/>
          </a:xfrm>
        </p:spPr>
        <p:txBody>
          <a:bodyPr>
            <a:noAutofit/>
          </a:bodyPr>
          <a:lstStyle/>
          <a:p>
            <a:pPr algn="ctr"/>
            <a:r>
              <a:rPr lang="en-US" sz="2800" dirty="0">
                <a:solidFill>
                  <a:schemeClr val="accent6">
                    <a:lumMod val="50000"/>
                  </a:schemeClr>
                </a:solidFill>
              </a:rPr>
              <a:t>Walking the Debt Tightrope: Long-term Risks of Public Debt</a:t>
            </a:r>
            <a:br>
              <a:rPr lang="en-US" sz="2800" dirty="0">
                <a:solidFill>
                  <a:schemeClr val="accent6">
                    <a:lumMod val="50000"/>
                  </a:schemeClr>
                </a:solidFill>
              </a:rPr>
            </a:br>
            <a:r>
              <a:rPr lang="en-US" sz="2400" dirty="0">
                <a:solidFill>
                  <a:schemeClr val="accent6">
                    <a:lumMod val="50000"/>
                  </a:schemeClr>
                </a:solidFill>
              </a:rPr>
              <a:t>Association between High Public Debt and Low Growth during 2000-2019</a:t>
            </a:r>
          </a:p>
        </p:txBody>
      </p:sp>
      <p:sp>
        <p:nvSpPr>
          <p:cNvPr id="5" name="Rectangle 4">
            <a:extLst>
              <a:ext uri="{FF2B5EF4-FFF2-40B4-BE49-F238E27FC236}">
                <a16:creationId xmlns:a16="http://schemas.microsoft.com/office/drawing/2014/main" id="{BBF63EDC-A02F-4309-AFDA-5238FD41C566}"/>
              </a:ext>
            </a:extLst>
          </p:cNvPr>
          <p:cNvSpPr/>
          <p:nvPr/>
        </p:nvSpPr>
        <p:spPr>
          <a:xfrm>
            <a:off x="1448791" y="1602117"/>
            <a:ext cx="9905009" cy="344069"/>
          </a:xfrm>
          <a:prstGeom prst="rect">
            <a:avLst/>
          </a:prstGeom>
        </p:spPr>
        <p:txBody>
          <a:bodyPr wrap="square">
            <a:spAutoFit/>
          </a:bodyPr>
          <a:lstStyle/>
          <a:p>
            <a:pPr lvl="0">
              <a:lnSpc>
                <a:spcPct val="107000"/>
              </a:lnSpc>
              <a:defRPr/>
            </a:pPr>
            <a:r>
              <a:rPr lang="en-US" sz="1600" b="1"/>
              <a:t>Median Annual per Capita Growth During 2000-2019 across Countries Ranked by Central Government Debt in 2000</a:t>
            </a:r>
            <a:endParaRPr kumimoji="0" lang="en-US" sz="14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6F6971A4-7CB8-42E8-96F5-284E31406A96}"/>
              </a:ext>
            </a:extLst>
          </p:cNvPr>
          <p:cNvPicPr>
            <a:picLocks noChangeAspect="1"/>
          </p:cNvPicPr>
          <p:nvPr/>
        </p:nvPicPr>
        <p:blipFill>
          <a:blip r:embed="rId3"/>
          <a:stretch>
            <a:fillRect/>
          </a:stretch>
        </p:blipFill>
        <p:spPr>
          <a:xfrm>
            <a:off x="1785377" y="2068101"/>
            <a:ext cx="9231835" cy="4017200"/>
          </a:xfrm>
          <a:prstGeom prst="rect">
            <a:avLst/>
          </a:prstGeom>
        </p:spPr>
      </p:pic>
    </p:spTree>
    <p:extLst>
      <p:ext uri="{BB962C8B-B14F-4D97-AF65-F5344CB8AC3E}">
        <p14:creationId xmlns:p14="http://schemas.microsoft.com/office/powerpoint/2010/main" val="32996685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12307-1F19-4B66-8464-CF4D32DC5FC0}"/>
              </a:ext>
            </a:extLst>
          </p:cNvPr>
          <p:cNvSpPr>
            <a:spLocks noGrp="1"/>
          </p:cNvSpPr>
          <p:nvPr>
            <p:ph type="title"/>
          </p:nvPr>
        </p:nvSpPr>
        <p:spPr>
          <a:xfrm>
            <a:off x="583911" y="496910"/>
            <a:ext cx="11122572" cy="965095"/>
          </a:xfrm>
        </p:spPr>
        <p:txBody>
          <a:bodyPr>
            <a:noAutofit/>
          </a:bodyPr>
          <a:lstStyle/>
          <a:p>
            <a:pPr marL="457200" lvl="1" algn="ctr"/>
            <a:r>
              <a:rPr lang="en-US" sz="3600" dirty="0">
                <a:solidFill>
                  <a:schemeClr val="accent6">
                    <a:lumMod val="50000"/>
                  </a:schemeClr>
                </a:solidFill>
                <a:latin typeface="+mj-lt"/>
              </a:rPr>
              <a:t>Priorities </a:t>
            </a:r>
            <a:r>
              <a:rPr lang="en-US" sz="3600" u="sng" dirty="0">
                <a:solidFill>
                  <a:schemeClr val="accent6">
                    <a:lumMod val="50000"/>
                  </a:schemeClr>
                </a:solidFill>
                <a:latin typeface="+mj-lt"/>
              </a:rPr>
              <a:t>during</a:t>
            </a:r>
            <a:r>
              <a:rPr lang="en-US" sz="3600" dirty="0">
                <a:solidFill>
                  <a:schemeClr val="accent6">
                    <a:lumMod val="50000"/>
                  </a:schemeClr>
                </a:solidFill>
                <a:latin typeface="+mj-lt"/>
              </a:rPr>
              <a:t> the Pandemic:</a:t>
            </a:r>
            <a:br>
              <a:rPr lang="en-US" sz="3600" dirty="0">
                <a:solidFill>
                  <a:schemeClr val="accent6">
                    <a:lumMod val="50000"/>
                  </a:schemeClr>
                </a:solidFill>
                <a:latin typeface="+mj-lt"/>
              </a:rPr>
            </a:br>
            <a:r>
              <a:rPr lang="en-US" sz="3600" dirty="0">
                <a:solidFill>
                  <a:schemeClr val="accent6">
                    <a:lumMod val="50000"/>
                  </a:schemeClr>
                </a:solidFill>
                <a:latin typeface="+mj-lt"/>
              </a:rPr>
              <a:t>Public Spending for Disaster Relief and Public Health</a:t>
            </a:r>
          </a:p>
        </p:txBody>
      </p:sp>
      <p:sp>
        <p:nvSpPr>
          <p:cNvPr id="3" name="Content Placeholder 2">
            <a:extLst>
              <a:ext uri="{FF2B5EF4-FFF2-40B4-BE49-F238E27FC236}">
                <a16:creationId xmlns:a16="http://schemas.microsoft.com/office/drawing/2014/main" id="{27898683-EFFB-4D7A-B4B5-D55649099B39}"/>
              </a:ext>
            </a:extLst>
          </p:cNvPr>
          <p:cNvSpPr>
            <a:spLocks noGrp="1"/>
          </p:cNvSpPr>
          <p:nvPr>
            <p:ph idx="1"/>
          </p:nvPr>
        </p:nvSpPr>
        <p:spPr>
          <a:xfrm>
            <a:off x="929629" y="1766788"/>
            <a:ext cx="5257800" cy="4579390"/>
          </a:xfrm>
        </p:spPr>
        <p:txBody>
          <a:bodyPr vert="horz" lIns="91440" tIns="45720" rIns="91440" bIns="45720" rtlCol="0" anchor="t">
            <a:noAutofit/>
          </a:bodyPr>
          <a:lstStyle/>
          <a:p>
            <a:r>
              <a:rPr lang="en-US" sz="2400" i="1" dirty="0"/>
              <a:t>During the pandemic: </a:t>
            </a:r>
            <a:r>
              <a:rPr lang="en-US" sz="2400" dirty="0"/>
              <a:t>disaster relief,  support households and firms</a:t>
            </a:r>
          </a:p>
          <a:p>
            <a:pPr lvl="1"/>
            <a:r>
              <a:rPr lang="en-US" sz="2000" dirty="0"/>
              <a:t>Aggregate demand stimulation might have little effect on GDP (the "fiscal multiplier") if the risk of Covid-19 remains </a:t>
            </a:r>
            <a:endParaRPr lang="en-US" sz="2000" dirty="0">
              <a:cs typeface="Calibri"/>
            </a:endParaRPr>
          </a:p>
          <a:p>
            <a:r>
              <a:rPr lang="en-US" sz="2400" dirty="0"/>
              <a:t>Investment in public health to save lives and generate long-term gains</a:t>
            </a:r>
            <a:endParaRPr lang="en-US" sz="2400" dirty="0">
              <a:cs typeface="Calibri" panose="020F0502020204030204"/>
            </a:endParaRPr>
          </a:p>
          <a:p>
            <a:pPr lvl="1"/>
            <a:r>
              <a:rPr lang="en-US" sz="2000" dirty="0"/>
              <a:t>Disease surveillance and data transparency</a:t>
            </a:r>
          </a:p>
          <a:p>
            <a:pPr lvl="1"/>
            <a:r>
              <a:rPr lang="en-US" sz="2000" dirty="0"/>
              <a:t>Testing and contact tracing</a:t>
            </a:r>
            <a:endParaRPr lang="en-US" sz="2000" dirty="0">
              <a:cs typeface="Calibri"/>
            </a:endParaRPr>
          </a:p>
          <a:p>
            <a:pPr lvl="1"/>
            <a:r>
              <a:rPr lang="en-US" sz="2000" dirty="0"/>
              <a:t>Vaccination campaigns</a:t>
            </a:r>
          </a:p>
          <a:p>
            <a:pPr lvl="1"/>
            <a:endParaRPr lang="en-US" sz="2000" dirty="0"/>
          </a:p>
          <a:p>
            <a:pPr lvl="1">
              <a:buFont typeface="Wingdings" panose="05000000000000000000" pitchFamily="2" charset="2"/>
              <a:buChar char="Ø"/>
            </a:pPr>
            <a:r>
              <a:rPr lang="en-US" sz="2000" dirty="0">
                <a:cs typeface="Calibri"/>
              </a:rPr>
              <a:t>Also can reduce economic costs of the pandemic</a:t>
            </a:r>
          </a:p>
          <a:p>
            <a:pPr marL="0" indent="0">
              <a:buNone/>
            </a:pPr>
            <a:endParaRPr lang="en-US" sz="2400" dirty="0"/>
          </a:p>
          <a:p>
            <a:endParaRPr lang="en-US" sz="2400" dirty="0"/>
          </a:p>
        </p:txBody>
      </p:sp>
      <p:grpSp>
        <p:nvGrpSpPr>
          <p:cNvPr id="4" name="Group 3">
            <a:extLst>
              <a:ext uri="{FF2B5EF4-FFF2-40B4-BE49-F238E27FC236}">
                <a16:creationId xmlns:a16="http://schemas.microsoft.com/office/drawing/2014/main" id="{D9C8C1BC-0CE5-4A29-A55A-130F761AB3D0}"/>
              </a:ext>
            </a:extLst>
          </p:cNvPr>
          <p:cNvGrpSpPr/>
          <p:nvPr/>
        </p:nvGrpSpPr>
        <p:grpSpPr>
          <a:xfrm>
            <a:off x="6451069" y="1716440"/>
            <a:ext cx="5095890" cy="3759327"/>
            <a:chOff x="6451068" y="1330221"/>
            <a:chExt cx="5341655" cy="3999896"/>
          </a:xfrm>
        </p:grpSpPr>
        <p:sp>
          <p:nvSpPr>
            <p:cNvPr id="5" name="Rectangle 4">
              <a:extLst>
                <a:ext uri="{FF2B5EF4-FFF2-40B4-BE49-F238E27FC236}">
                  <a16:creationId xmlns:a16="http://schemas.microsoft.com/office/drawing/2014/main" id="{AEB6B073-B8DA-43A7-BE47-186B675AF4C7}"/>
                </a:ext>
              </a:extLst>
            </p:cNvPr>
            <p:cNvSpPr/>
            <p:nvPr/>
          </p:nvSpPr>
          <p:spPr>
            <a:xfrm>
              <a:off x="6451068" y="1330221"/>
              <a:ext cx="5341655"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Calibri" panose="020F0502020204030204"/>
                  <a:ea typeface="+mn-ea"/>
                  <a:cs typeface="+mn-cs"/>
                </a:rPr>
                <a:t>Partial Correlation between Test Positivity Rates and GDP Downgrade</a:t>
              </a:r>
            </a:p>
          </p:txBody>
        </p:sp>
        <p:pic>
          <p:nvPicPr>
            <p:cNvPr id="8" name="Picture 7">
              <a:extLst>
                <a:ext uri="{FF2B5EF4-FFF2-40B4-BE49-F238E27FC236}">
                  <a16:creationId xmlns:a16="http://schemas.microsoft.com/office/drawing/2014/main" id="{20F43699-43B6-43D9-958F-DEA4435152CB}"/>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89064" y="1672517"/>
              <a:ext cx="4665662" cy="3657600"/>
            </a:xfrm>
            <a:prstGeom prst="rect">
              <a:avLst/>
            </a:prstGeom>
            <a:noFill/>
            <a:ln>
              <a:noFill/>
            </a:ln>
          </p:spPr>
        </p:pic>
      </p:grpSp>
      <p:sp>
        <p:nvSpPr>
          <p:cNvPr id="6" name="Rectangle 5">
            <a:extLst>
              <a:ext uri="{FF2B5EF4-FFF2-40B4-BE49-F238E27FC236}">
                <a16:creationId xmlns:a16="http://schemas.microsoft.com/office/drawing/2014/main" id="{E2B52C8A-7600-4A9A-AADA-9F40E9459539}"/>
              </a:ext>
            </a:extLst>
          </p:cNvPr>
          <p:cNvSpPr/>
          <p:nvPr/>
        </p:nvSpPr>
        <p:spPr>
          <a:xfrm>
            <a:off x="6073895" y="5670627"/>
            <a:ext cx="6096000" cy="974882"/>
          </a:xfrm>
          <a:prstGeom prst="rect">
            <a:avLst/>
          </a:prstGeom>
        </p:spPr>
        <p:txBody>
          <a:bodyPr>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Sources: IMF, </a:t>
            </a:r>
            <a:r>
              <a:rPr kumimoji="0" lang="en-US" sz="9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World Economic Outlook</a:t>
            </a:r>
            <a:r>
              <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t>
            </a:r>
            <a:r>
              <a:rPr kumimoji="0" lang="en-US" sz="900" b="0" i="1"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Worldometer</a:t>
            </a:r>
            <a:r>
              <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Johns Hopkins University; World Bank, </a:t>
            </a:r>
            <a:r>
              <a:rPr kumimoji="0" lang="en-US" sz="9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World Development Indicators</a:t>
            </a:r>
            <a:r>
              <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and World Bank staff calculations.</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Note: The figure shows the </a:t>
            </a:r>
            <a:r>
              <a:rPr kumimoji="0" lang="en-US" sz="9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partial</a:t>
            </a:r>
            <a:r>
              <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correlation between 2020 growth adjustments between October 2020 and October 2019 and Covid-19 positivity rate (as of December 2020). The positivity rate is the number of Covid-19 cases as a percent of the total number of tests. Other explanatory variables include log of GDP per capita in 2019 (in U.S. dollars), total trade value in GDP in 2019 (percent), days since the first positive case until November 30, 2020, and tourism as a percent of exports in 2018.</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835570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7F587-EC9D-4B03-B8C7-2324F113AFE4}"/>
              </a:ext>
            </a:extLst>
          </p:cNvPr>
          <p:cNvSpPr>
            <a:spLocks noGrp="1"/>
          </p:cNvSpPr>
          <p:nvPr>
            <p:ph type="title"/>
          </p:nvPr>
        </p:nvSpPr>
        <p:spPr>
          <a:xfrm>
            <a:off x="838200" y="365125"/>
            <a:ext cx="10515600" cy="963945"/>
          </a:xfrm>
        </p:spPr>
        <p:txBody>
          <a:bodyPr>
            <a:normAutofit/>
          </a:bodyPr>
          <a:lstStyle/>
          <a:p>
            <a:pPr algn="ctr"/>
            <a:r>
              <a:rPr lang="en-US" sz="3600" dirty="0">
                <a:solidFill>
                  <a:schemeClr val="accent6">
                    <a:lumMod val="50000"/>
                  </a:schemeClr>
                </a:solidFill>
              </a:rPr>
              <a:t>Priorities </a:t>
            </a:r>
            <a:r>
              <a:rPr lang="en-US" sz="3600" u="sng" dirty="0">
                <a:solidFill>
                  <a:schemeClr val="accent6">
                    <a:lumMod val="50000"/>
                  </a:schemeClr>
                </a:solidFill>
              </a:rPr>
              <a:t>as the Pandemic Subsides</a:t>
            </a:r>
            <a:endParaRPr lang="en-US" sz="3600" u="sng" dirty="0"/>
          </a:p>
        </p:txBody>
      </p:sp>
      <p:graphicFrame>
        <p:nvGraphicFramePr>
          <p:cNvPr id="4" name="Table 4">
            <a:extLst>
              <a:ext uri="{FF2B5EF4-FFF2-40B4-BE49-F238E27FC236}">
                <a16:creationId xmlns:a16="http://schemas.microsoft.com/office/drawing/2014/main" id="{93EF1C9F-3EC7-4364-A2F7-177601DF5479}"/>
              </a:ext>
            </a:extLst>
          </p:cNvPr>
          <p:cNvGraphicFramePr>
            <a:graphicFrameLocks noGrp="1"/>
          </p:cNvGraphicFramePr>
          <p:nvPr/>
        </p:nvGraphicFramePr>
        <p:xfrm>
          <a:off x="1647536" y="1578452"/>
          <a:ext cx="9134764" cy="4053840"/>
        </p:xfrm>
        <a:graphic>
          <a:graphicData uri="http://schemas.openxmlformats.org/drawingml/2006/table">
            <a:tbl>
              <a:tblPr firstRow="1" bandRow="1">
                <a:tableStyleId>{5C22544A-7EE6-4342-B048-85BDC9FD1C3A}</a:tableStyleId>
              </a:tblPr>
              <a:tblGrid>
                <a:gridCol w="4567382">
                  <a:extLst>
                    <a:ext uri="{9D8B030D-6E8A-4147-A177-3AD203B41FA5}">
                      <a16:colId xmlns:a16="http://schemas.microsoft.com/office/drawing/2014/main" val="943116979"/>
                    </a:ext>
                  </a:extLst>
                </a:gridCol>
                <a:gridCol w="4567382">
                  <a:extLst>
                    <a:ext uri="{9D8B030D-6E8A-4147-A177-3AD203B41FA5}">
                      <a16:colId xmlns:a16="http://schemas.microsoft.com/office/drawing/2014/main" val="1953876702"/>
                    </a:ext>
                  </a:extLst>
                </a:gridCol>
              </a:tblGrid>
              <a:tr h="584799">
                <a:tc>
                  <a:txBody>
                    <a:bodyPr/>
                    <a:lstStyle/>
                    <a:p>
                      <a:r>
                        <a:rPr lang="en-US" sz="2000" b="0" dirty="0">
                          <a:solidFill>
                            <a:schemeClr val="accent6">
                              <a:lumMod val="75000"/>
                            </a:schemeClr>
                          </a:solidFill>
                        </a:rPr>
                        <a:t>Factors that reduce the need and efficacy of traditional fiscal stimulus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sz="2000" b="0" dirty="0">
                          <a:solidFill>
                            <a:schemeClr val="accent6">
                              <a:lumMod val="75000"/>
                            </a:schemeClr>
                          </a:solidFill>
                        </a:rPr>
                        <a:t>Potential benefits of (targeted) stimulus – healing economic scars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846973237"/>
                  </a:ext>
                </a:extLst>
              </a:tr>
              <a:tr h="3227690">
                <a:tc>
                  <a:txBody>
                    <a:bodyPr/>
                    <a:lstStyle/>
                    <a:p>
                      <a:pPr marL="457200" indent="-457200">
                        <a:buFont typeface="+mj-lt"/>
                        <a:buAutoNum type="arabicPeriod"/>
                      </a:pPr>
                      <a:r>
                        <a:rPr lang="en-US" sz="2000" dirty="0">
                          <a:solidFill>
                            <a:schemeClr val="tx1"/>
                          </a:solidFill>
                        </a:rPr>
                        <a:t>“Pent-up demand” can raise GDP without fiscal stimulus  </a:t>
                      </a:r>
                    </a:p>
                    <a:p>
                      <a:pPr marL="914400" lvl="1" indent="-457200">
                        <a:buFont typeface="Arial" panose="020B0604020202020204" pitchFamily="34" charset="0"/>
                        <a:buChar char="•"/>
                      </a:pPr>
                      <a:r>
                        <a:rPr lang="en-US" sz="1800" dirty="0">
                          <a:solidFill>
                            <a:schemeClr val="tx1"/>
                          </a:solidFill>
                        </a:rPr>
                        <a:t>If consumers (e.g., foreign tourists) believe that the pandemic is over </a:t>
                      </a:r>
                    </a:p>
                    <a:p>
                      <a:pPr marL="457200" indent="-457200">
                        <a:buFont typeface="+mj-lt"/>
                        <a:buAutoNum type="arabicPeriod"/>
                      </a:pPr>
                      <a:r>
                        <a:rPr lang="en-US" sz="2000" dirty="0">
                          <a:solidFill>
                            <a:schemeClr val="tx1"/>
                          </a:solidFill>
                        </a:rPr>
                        <a:t>High debt has been associated with low fiscal multipliers (Huidrom et al., 2020)</a:t>
                      </a:r>
                    </a:p>
                    <a:p>
                      <a:pPr marL="457200" indent="-457200">
                        <a:buFont typeface="+mj-lt"/>
                        <a:buAutoNum type="arabicPeriod"/>
                      </a:pPr>
                      <a:r>
                        <a:rPr lang="en-US" sz="2000" dirty="0">
                          <a:solidFill>
                            <a:schemeClr val="tx1"/>
                          </a:solidFill>
                        </a:rPr>
                        <a:t>Fiscal multiplier of public investment is low when governance is poor (Izquierdo et al., 2019)</a:t>
                      </a:r>
                    </a:p>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42900" indent="-342900">
                        <a:buFont typeface="+mj-lt"/>
                        <a:buAutoNum type="arabicPeriod"/>
                      </a:pPr>
                      <a:r>
                        <a:rPr lang="en-US" sz="2000" dirty="0">
                          <a:solidFill>
                            <a:schemeClr val="tx1"/>
                          </a:solidFill>
                        </a:rPr>
                        <a:t>Financial constraints prevent enterprise re-entry </a:t>
                      </a:r>
                    </a:p>
                    <a:p>
                      <a:pPr marL="342900" indent="-342900">
                        <a:buFont typeface="+mj-lt"/>
                        <a:buAutoNum type="arabicPeriod"/>
                      </a:pPr>
                      <a:r>
                        <a:rPr lang="en-US" sz="2000" dirty="0">
                          <a:solidFill>
                            <a:schemeClr val="tx1"/>
                          </a:solidFill>
                        </a:rPr>
                        <a:t>Scarring of idled workers, particularly the young entering the labor force</a:t>
                      </a:r>
                    </a:p>
                    <a:p>
                      <a:pPr marL="342900" indent="-342900">
                        <a:buFont typeface="+mj-lt"/>
                        <a:buAutoNum type="arabicPeriod"/>
                      </a:pPr>
                      <a:r>
                        <a:rPr lang="en-US" sz="2000" dirty="0">
                          <a:solidFill>
                            <a:schemeClr val="tx1"/>
                          </a:solidFill>
                        </a:rPr>
                        <a:t>Support schools to recover lost human capital</a:t>
                      </a:r>
                    </a:p>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78315287"/>
                  </a:ext>
                </a:extLst>
              </a:tr>
            </a:tbl>
          </a:graphicData>
        </a:graphic>
      </p:graphicFrame>
    </p:spTree>
    <p:extLst>
      <p:ext uri="{BB962C8B-B14F-4D97-AF65-F5344CB8AC3E}">
        <p14:creationId xmlns:p14="http://schemas.microsoft.com/office/powerpoint/2010/main" val="3497451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F008A-C402-4263-AE56-EC4C608487F6}"/>
              </a:ext>
            </a:extLst>
          </p:cNvPr>
          <p:cNvSpPr>
            <a:spLocks noGrp="1"/>
          </p:cNvSpPr>
          <p:nvPr>
            <p:ph type="title"/>
          </p:nvPr>
        </p:nvSpPr>
        <p:spPr>
          <a:xfrm>
            <a:off x="838200" y="365125"/>
            <a:ext cx="10515600" cy="921415"/>
          </a:xfrm>
        </p:spPr>
        <p:txBody>
          <a:bodyPr>
            <a:normAutofit/>
          </a:bodyPr>
          <a:lstStyle/>
          <a:p>
            <a:pPr algn="ctr"/>
            <a:r>
              <a:rPr lang="en-US" sz="3200" dirty="0">
                <a:solidFill>
                  <a:schemeClr val="accent6">
                    <a:lumMod val="50000"/>
                  </a:schemeClr>
                </a:solidFill>
              </a:rPr>
              <a:t>Mitigating the Costs of Public Debt </a:t>
            </a:r>
            <a:r>
              <a:rPr lang="en-US" sz="3200" u="sng" dirty="0">
                <a:solidFill>
                  <a:schemeClr val="accent6">
                    <a:lumMod val="50000"/>
                  </a:schemeClr>
                </a:solidFill>
              </a:rPr>
              <a:t>after</a:t>
            </a:r>
            <a:r>
              <a:rPr lang="en-US" sz="3200" dirty="0">
                <a:solidFill>
                  <a:schemeClr val="accent6">
                    <a:lumMod val="50000"/>
                  </a:schemeClr>
                </a:solidFill>
              </a:rPr>
              <a:t> the Pandemic</a:t>
            </a:r>
          </a:p>
        </p:txBody>
      </p:sp>
      <p:sp>
        <p:nvSpPr>
          <p:cNvPr id="3" name="Content Placeholder 2">
            <a:extLst>
              <a:ext uri="{FF2B5EF4-FFF2-40B4-BE49-F238E27FC236}">
                <a16:creationId xmlns:a16="http://schemas.microsoft.com/office/drawing/2014/main" id="{79CFE54A-6E50-4441-AA7D-636D083DB899}"/>
              </a:ext>
            </a:extLst>
          </p:cNvPr>
          <p:cNvSpPr>
            <a:spLocks noGrp="1"/>
          </p:cNvSpPr>
          <p:nvPr>
            <p:ph idx="1"/>
          </p:nvPr>
        </p:nvSpPr>
        <p:spPr>
          <a:xfrm>
            <a:off x="838200" y="1594884"/>
            <a:ext cx="10515600" cy="4582079"/>
          </a:xfrm>
        </p:spPr>
        <p:txBody>
          <a:bodyPr/>
          <a:lstStyle/>
          <a:p>
            <a:r>
              <a:rPr lang="en-US" dirty="0"/>
              <a:t>Refinance maturing debt on more favorable terms by enhancing debt reporting transparency</a:t>
            </a:r>
          </a:p>
          <a:p>
            <a:endParaRPr lang="en-US" dirty="0"/>
          </a:p>
          <a:p>
            <a:r>
              <a:rPr lang="en-US" dirty="0"/>
              <a:t>Improving institutions: Indebted countries are more likely to enter costly debt-distressed periods when they experience low growth and weak governance. </a:t>
            </a:r>
          </a:p>
          <a:p>
            <a:endParaRPr lang="en-US" dirty="0"/>
          </a:p>
        </p:txBody>
      </p:sp>
    </p:spTree>
    <p:extLst>
      <p:ext uri="{BB962C8B-B14F-4D97-AF65-F5344CB8AC3E}">
        <p14:creationId xmlns:p14="http://schemas.microsoft.com/office/powerpoint/2010/main" val="41609512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C29A6-99A5-46B7-8755-B8C4B909D3D4}"/>
              </a:ext>
            </a:extLst>
          </p:cNvPr>
          <p:cNvSpPr>
            <a:spLocks noGrp="1"/>
          </p:cNvSpPr>
          <p:nvPr>
            <p:ph type="title"/>
          </p:nvPr>
        </p:nvSpPr>
        <p:spPr/>
        <p:txBody>
          <a:bodyPr>
            <a:normAutofit/>
          </a:bodyPr>
          <a:lstStyle/>
          <a:p>
            <a:pPr algn="ctr"/>
            <a:r>
              <a:rPr lang="en-US" sz="3200" dirty="0">
                <a:solidFill>
                  <a:schemeClr val="accent6">
                    <a:lumMod val="50000"/>
                  </a:schemeClr>
                </a:solidFill>
              </a:rPr>
              <a:t>Good Governance Can Help: </a:t>
            </a:r>
            <a:br>
              <a:rPr lang="en-US" sz="3200" dirty="0">
                <a:solidFill>
                  <a:schemeClr val="accent6">
                    <a:lumMod val="50000"/>
                  </a:schemeClr>
                </a:solidFill>
              </a:rPr>
            </a:br>
            <a:r>
              <a:rPr lang="en-US" sz="3200" dirty="0">
                <a:solidFill>
                  <a:schemeClr val="accent6">
                    <a:lumMod val="50000"/>
                  </a:schemeClr>
                </a:solidFill>
              </a:rPr>
              <a:t>Evidence from Episodes of Debt Distress</a:t>
            </a:r>
          </a:p>
        </p:txBody>
      </p:sp>
      <p:graphicFrame>
        <p:nvGraphicFramePr>
          <p:cNvPr id="4" name="Content Placeholder 3">
            <a:extLst>
              <a:ext uri="{FF2B5EF4-FFF2-40B4-BE49-F238E27FC236}">
                <a16:creationId xmlns:a16="http://schemas.microsoft.com/office/drawing/2014/main" id="{3848A625-3D1D-4E4C-AE46-1F2A533035AA}"/>
              </a:ext>
            </a:extLst>
          </p:cNvPr>
          <p:cNvGraphicFramePr>
            <a:graphicFrameLocks noGrp="1"/>
          </p:cNvGraphicFramePr>
          <p:nvPr>
            <p:ph idx="1"/>
          </p:nvPr>
        </p:nvGraphicFramePr>
        <p:xfrm>
          <a:off x="838200" y="1825625"/>
          <a:ext cx="4826330" cy="435133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8902B8B8-EA53-4657-BD16-60F1C5167435}"/>
              </a:ext>
            </a:extLst>
          </p:cNvPr>
          <p:cNvGraphicFramePr/>
          <p:nvPr/>
        </p:nvGraphicFramePr>
        <p:xfrm>
          <a:off x="6096000" y="1942583"/>
          <a:ext cx="5470337" cy="3829050"/>
        </p:xfrm>
        <a:graphic>
          <a:graphicData uri="http://schemas.openxmlformats.org/drawingml/2006/chart">
            <c:chart xmlns:c="http://schemas.openxmlformats.org/drawingml/2006/chart" xmlns:r="http://schemas.openxmlformats.org/officeDocument/2006/relationships" r:id="rId4"/>
          </a:graphicData>
        </a:graphic>
      </p:graphicFrame>
      <p:sp>
        <p:nvSpPr>
          <p:cNvPr id="6" name="Rectangle 5">
            <a:extLst>
              <a:ext uri="{FF2B5EF4-FFF2-40B4-BE49-F238E27FC236}">
                <a16:creationId xmlns:a16="http://schemas.microsoft.com/office/drawing/2014/main" id="{3A80956D-812C-4E4D-89FD-9EEF10359171}"/>
              </a:ext>
            </a:extLst>
          </p:cNvPr>
          <p:cNvSpPr/>
          <p:nvPr/>
        </p:nvSpPr>
        <p:spPr>
          <a:xfrm>
            <a:off x="1319645" y="6023528"/>
            <a:ext cx="9434946" cy="265457"/>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1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Note: Control group = developing countries</a:t>
            </a:r>
            <a:r>
              <a:rPr lang="en-US" sz="1100" i="1" dirty="0">
                <a:solidFill>
                  <a:prstClr val="black"/>
                </a:solidFill>
                <a:latin typeface="Calibri" panose="020F0502020204030204" pitchFamily="34" charset="0"/>
                <a:ea typeface="Calibri" panose="020F0502020204030204" pitchFamily="34" charset="0"/>
                <a:cs typeface="Calibri" panose="020F0502020204030204" pitchFamily="34" charset="0"/>
              </a:rPr>
              <a:t>s with no debt distress (debt restructuring) episodes</a:t>
            </a:r>
            <a:endParaRPr kumimoji="0" lang="en-US" sz="14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590269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Slide background fill">
            <a:extLst>
              <a:ext uri="{FF2B5EF4-FFF2-40B4-BE49-F238E27FC236}">
                <a16:creationId xmlns:a16="http://schemas.microsoft.com/office/drawing/2014/main" id="{1D63C574-BFD2-41A1-A567-B0C3CC7FD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olor 2">
            <a:extLst>
              <a:ext uri="{FF2B5EF4-FFF2-40B4-BE49-F238E27FC236}">
                <a16:creationId xmlns:a16="http://schemas.microsoft.com/office/drawing/2014/main" id="{E2A46BAB-8C31-42B2-90E8-B26DD3E8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B3F7A3C7-0737-4E57-B30E-8EEFE638B4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707053" cy="6858000"/>
            <a:chOff x="651279" y="598259"/>
            <a:chExt cx="10889442" cy="5680742"/>
          </a:xfrm>
        </p:grpSpPr>
        <p:sp>
          <p:nvSpPr>
            <p:cNvPr id="28" name="Color">
              <a:extLst>
                <a:ext uri="{FF2B5EF4-FFF2-40B4-BE49-F238E27FC236}">
                  <a16:creationId xmlns:a16="http://schemas.microsoft.com/office/drawing/2014/main" id="{3BE6D516-DFC6-4698-B3F1-5F591C113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Color">
              <a:extLst>
                <a:ext uri="{FF2B5EF4-FFF2-40B4-BE49-F238E27FC236}">
                  <a16:creationId xmlns:a16="http://schemas.microsoft.com/office/drawing/2014/main" id="{C2580FB0-D146-458C-AF1B-8E8BBF6BBA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32" name="Freeform: Shape 31">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3" name="Freeform: Shape 32">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4" name="Freeform: Shape 33">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5" name="Freeform: Shape 34">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6" name="Freeform: Shape 35">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7" name="Freeform: Shape 36">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8" name="Freeform: Shape 37">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B912DCED-A9C1-40AC-871C-C2E44D01EDD5}"/>
              </a:ext>
            </a:extLst>
          </p:cNvPr>
          <p:cNvSpPr>
            <a:spLocks noGrp="1"/>
          </p:cNvSpPr>
          <p:nvPr>
            <p:ph type="title"/>
          </p:nvPr>
        </p:nvSpPr>
        <p:spPr>
          <a:xfrm>
            <a:off x="786385" y="841248"/>
            <a:ext cx="3515244" cy="5340097"/>
          </a:xfrm>
        </p:spPr>
        <p:txBody>
          <a:bodyPr anchor="ctr">
            <a:normAutofit/>
          </a:bodyPr>
          <a:lstStyle/>
          <a:p>
            <a:r>
              <a:rPr lang="en-US" sz="4000">
                <a:solidFill>
                  <a:schemeClr val="bg1"/>
                </a:solidFill>
              </a:rPr>
              <a:t>Charting a Path to a Lasting Recovery:</a:t>
            </a:r>
            <a:br>
              <a:rPr lang="en-US" sz="4000">
                <a:solidFill>
                  <a:schemeClr val="bg1"/>
                </a:solidFill>
              </a:rPr>
            </a:br>
            <a:br>
              <a:rPr lang="en-US" sz="4000">
                <a:solidFill>
                  <a:schemeClr val="bg1"/>
                </a:solidFill>
              </a:rPr>
            </a:br>
            <a:r>
              <a:rPr lang="en-US" sz="4000">
                <a:solidFill>
                  <a:schemeClr val="bg1"/>
                </a:solidFill>
              </a:rPr>
              <a:t>Sunlight Can Help! </a:t>
            </a:r>
          </a:p>
        </p:txBody>
      </p:sp>
      <p:graphicFrame>
        <p:nvGraphicFramePr>
          <p:cNvPr id="21" name="Content Placeholder 2">
            <a:extLst>
              <a:ext uri="{FF2B5EF4-FFF2-40B4-BE49-F238E27FC236}">
                <a16:creationId xmlns:a16="http://schemas.microsoft.com/office/drawing/2014/main" id="{EE35DB09-5421-4F1F-A269-E6A2A733E147}"/>
              </a:ext>
            </a:extLst>
          </p:cNvPr>
          <p:cNvGraphicFramePr/>
          <p:nvPr>
            <p:extLst>
              <p:ext uri="{D42A27DB-BD31-4B8C-83A1-F6EECF244321}">
                <p14:modId xmlns:p14="http://schemas.microsoft.com/office/powerpoint/2010/main" val="2917362338"/>
              </p:ext>
            </p:extLst>
          </p:nvPr>
        </p:nvGraphicFramePr>
        <p:xfrm>
          <a:off x="4985886" y="231006"/>
          <a:ext cx="6367913" cy="6405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0493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9" name="Freeform: Shape 18">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4" name="Freeform: Shape 23">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54019DB5-FB67-4726-9C0F-732B660E4DD6}"/>
              </a:ext>
            </a:extLst>
          </p:cNvPr>
          <p:cNvSpPr>
            <a:spLocks noGrp="1"/>
          </p:cNvSpPr>
          <p:nvPr>
            <p:ph type="title"/>
          </p:nvPr>
        </p:nvSpPr>
        <p:spPr>
          <a:xfrm>
            <a:off x="3215729" y="1764407"/>
            <a:ext cx="5760846" cy="2310312"/>
          </a:xfrm>
        </p:spPr>
        <p:txBody>
          <a:bodyPr vert="horz" lIns="91440" tIns="45720" rIns="91440" bIns="45720" rtlCol="0" anchor="b">
            <a:normAutofit/>
          </a:bodyPr>
          <a:lstStyle/>
          <a:p>
            <a:pPr algn="ctr"/>
            <a:r>
              <a:rPr lang="en-US" sz="6600" b="1" kern="1200">
                <a:solidFill>
                  <a:schemeClr val="tx2"/>
                </a:solidFill>
                <a:latin typeface="+mj-lt"/>
                <a:ea typeface="+mj-ea"/>
                <a:cs typeface="+mj-cs"/>
              </a:rPr>
              <a:t>THANK YOU!</a:t>
            </a:r>
          </a:p>
        </p:txBody>
      </p:sp>
    </p:spTree>
    <p:extLst>
      <p:ext uri="{BB962C8B-B14F-4D97-AF65-F5344CB8AC3E}">
        <p14:creationId xmlns:p14="http://schemas.microsoft.com/office/powerpoint/2010/main" val="2769461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90DA8-8842-46AF-BC9A-2712342971D8}"/>
              </a:ext>
            </a:extLst>
          </p:cNvPr>
          <p:cNvSpPr>
            <a:spLocks noGrp="1"/>
          </p:cNvSpPr>
          <p:nvPr>
            <p:ph type="title"/>
          </p:nvPr>
        </p:nvSpPr>
        <p:spPr>
          <a:xfrm>
            <a:off x="838200" y="365125"/>
            <a:ext cx="10515600" cy="911225"/>
          </a:xfrm>
        </p:spPr>
        <p:txBody>
          <a:bodyPr>
            <a:normAutofit fontScale="90000"/>
          </a:bodyPr>
          <a:lstStyle/>
          <a:p>
            <a:r>
              <a:rPr lang="en-US" sz="3100">
                <a:solidFill>
                  <a:schemeClr val="accent6">
                    <a:lumMod val="75000"/>
                  </a:schemeClr>
                </a:solidFill>
              </a:rPr>
              <a:t>Appendix Table B1: World Bank’s Growth, Current Account and Fiscal Account Forecasts</a:t>
            </a:r>
            <a:endParaRPr lang="en-US"/>
          </a:p>
        </p:txBody>
      </p:sp>
      <p:pic>
        <p:nvPicPr>
          <p:cNvPr id="3" name="Picture 2">
            <a:extLst>
              <a:ext uri="{FF2B5EF4-FFF2-40B4-BE49-F238E27FC236}">
                <a16:creationId xmlns:a16="http://schemas.microsoft.com/office/drawing/2014/main" id="{8162E021-6368-4FD1-83CB-50F3DE5C643D}"/>
              </a:ext>
            </a:extLst>
          </p:cNvPr>
          <p:cNvPicPr>
            <a:picLocks noChangeAspect="1"/>
          </p:cNvPicPr>
          <p:nvPr/>
        </p:nvPicPr>
        <p:blipFill>
          <a:blip r:embed="rId3"/>
          <a:stretch>
            <a:fillRect/>
          </a:stretch>
        </p:blipFill>
        <p:spPr>
          <a:xfrm>
            <a:off x="1261699" y="1276350"/>
            <a:ext cx="9668601" cy="5353050"/>
          </a:xfrm>
          <a:prstGeom prst="rect">
            <a:avLst/>
          </a:prstGeom>
        </p:spPr>
      </p:pic>
    </p:spTree>
    <p:extLst>
      <p:ext uri="{BB962C8B-B14F-4D97-AF65-F5344CB8AC3E}">
        <p14:creationId xmlns:p14="http://schemas.microsoft.com/office/powerpoint/2010/main" val="3368378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90DA8-8842-46AF-BC9A-2712342971D8}"/>
              </a:ext>
            </a:extLst>
          </p:cNvPr>
          <p:cNvSpPr>
            <a:spLocks noGrp="1"/>
          </p:cNvSpPr>
          <p:nvPr>
            <p:ph type="title"/>
          </p:nvPr>
        </p:nvSpPr>
        <p:spPr>
          <a:xfrm>
            <a:off x="838200" y="365125"/>
            <a:ext cx="10515600" cy="911225"/>
          </a:xfrm>
        </p:spPr>
        <p:txBody>
          <a:bodyPr>
            <a:normAutofit fontScale="90000"/>
          </a:bodyPr>
          <a:lstStyle/>
          <a:p>
            <a:r>
              <a:rPr lang="en-US" sz="3100" dirty="0">
                <a:solidFill>
                  <a:schemeClr val="accent6">
                    <a:lumMod val="75000"/>
                  </a:schemeClr>
                </a:solidFill>
              </a:rPr>
              <a:t>Appendix Table B2 Panel B (Between April 2021 and October 2020):</a:t>
            </a:r>
            <a:endParaRPr lang="en-US" dirty="0"/>
          </a:p>
        </p:txBody>
      </p:sp>
      <p:pic>
        <p:nvPicPr>
          <p:cNvPr id="5" name="Picture 4">
            <a:extLst>
              <a:ext uri="{FF2B5EF4-FFF2-40B4-BE49-F238E27FC236}">
                <a16:creationId xmlns:a16="http://schemas.microsoft.com/office/drawing/2014/main" id="{1BE89F56-BC52-4404-B7B2-73BDC00FF274}"/>
              </a:ext>
            </a:extLst>
          </p:cNvPr>
          <p:cNvPicPr>
            <a:picLocks noChangeAspect="1"/>
          </p:cNvPicPr>
          <p:nvPr/>
        </p:nvPicPr>
        <p:blipFill>
          <a:blip r:embed="rId3"/>
          <a:stretch>
            <a:fillRect/>
          </a:stretch>
        </p:blipFill>
        <p:spPr>
          <a:xfrm>
            <a:off x="2149079" y="1514763"/>
            <a:ext cx="7893842" cy="4235209"/>
          </a:xfrm>
          <a:prstGeom prst="rect">
            <a:avLst/>
          </a:prstGeom>
        </p:spPr>
      </p:pic>
    </p:spTree>
    <p:extLst>
      <p:ext uri="{BB962C8B-B14F-4D97-AF65-F5344CB8AC3E}">
        <p14:creationId xmlns:p14="http://schemas.microsoft.com/office/powerpoint/2010/main" val="21762621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71DB0-E629-4DFE-8344-08CAAA662983}"/>
              </a:ext>
            </a:extLst>
          </p:cNvPr>
          <p:cNvSpPr>
            <a:spLocks noGrp="1"/>
          </p:cNvSpPr>
          <p:nvPr>
            <p:ph type="title"/>
          </p:nvPr>
        </p:nvSpPr>
        <p:spPr>
          <a:xfrm>
            <a:off x="838200" y="365126"/>
            <a:ext cx="10515600" cy="768350"/>
          </a:xfrm>
        </p:spPr>
        <p:txBody>
          <a:bodyPr>
            <a:normAutofit/>
          </a:bodyPr>
          <a:lstStyle/>
          <a:p>
            <a:pPr algn="ctr"/>
            <a:r>
              <a:rPr lang="en-US" sz="3600">
                <a:solidFill>
                  <a:schemeClr val="accent6">
                    <a:lumMod val="75000"/>
                  </a:schemeClr>
                </a:solidFill>
              </a:rPr>
              <a:t>Appendix Table B3: Overview of MENA’s debt</a:t>
            </a:r>
            <a:endParaRPr lang="en-US" sz="3600"/>
          </a:p>
        </p:txBody>
      </p:sp>
      <p:pic>
        <p:nvPicPr>
          <p:cNvPr id="4" name="Picture 3">
            <a:extLst>
              <a:ext uri="{FF2B5EF4-FFF2-40B4-BE49-F238E27FC236}">
                <a16:creationId xmlns:a16="http://schemas.microsoft.com/office/drawing/2014/main" id="{10918BEE-4799-4D7A-B285-13F21208414E}"/>
              </a:ext>
            </a:extLst>
          </p:cNvPr>
          <p:cNvPicPr>
            <a:picLocks noChangeAspect="1"/>
          </p:cNvPicPr>
          <p:nvPr/>
        </p:nvPicPr>
        <p:blipFill>
          <a:blip r:embed="rId2"/>
          <a:stretch>
            <a:fillRect/>
          </a:stretch>
        </p:blipFill>
        <p:spPr>
          <a:xfrm>
            <a:off x="1890712" y="1042987"/>
            <a:ext cx="8410575" cy="5610225"/>
          </a:xfrm>
          <a:prstGeom prst="rect">
            <a:avLst/>
          </a:prstGeom>
        </p:spPr>
      </p:pic>
    </p:spTree>
    <p:extLst>
      <p:ext uri="{BB962C8B-B14F-4D97-AF65-F5344CB8AC3E}">
        <p14:creationId xmlns:p14="http://schemas.microsoft.com/office/powerpoint/2010/main" val="8083086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52292-4DE5-4537-A9BF-B193C01F8D37}"/>
              </a:ext>
            </a:extLst>
          </p:cNvPr>
          <p:cNvSpPr>
            <a:spLocks noGrp="1"/>
          </p:cNvSpPr>
          <p:nvPr>
            <p:ph type="title"/>
          </p:nvPr>
        </p:nvSpPr>
        <p:spPr>
          <a:xfrm>
            <a:off x="838200" y="365125"/>
            <a:ext cx="10515600" cy="892175"/>
          </a:xfrm>
        </p:spPr>
        <p:txBody>
          <a:bodyPr>
            <a:normAutofit/>
          </a:bodyPr>
          <a:lstStyle/>
          <a:p>
            <a:pPr algn="ctr"/>
            <a:r>
              <a:rPr lang="en-US" sz="3200">
                <a:solidFill>
                  <a:schemeClr val="accent6">
                    <a:lumMod val="75000"/>
                  </a:schemeClr>
                </a:solidFill>
              </a:rPr>
              <a:t>Appendix Table B4: Characteristics of MENA’s Economies</a:t>
            </a:r>
            <a:endParaRPr lang="en-US" sz="3200"/>
          </a:p>
        </p:txBody>
      </p:sp>
      <p:pic>
        <p:nvPicPr>
          <p:cNvPr id="4" name="Picture 3">
            <a:extLst>
              <a:ext uri="{FF2B5EF4-FFF2-40B4-BE49-F238E27FC236}">
                <a16:creationId xmlns:a16="http://schemas.microsoft.com/office/drawing/2014/main" id="{EF75CDE9-A22F-465C-A710-8F65C409D948}"/>
              </a:ext>
            </a:extLst>
          </p:cNvPr>
          <p:cNvPicPr>
            <a:picLocks noChangeAspect="1"/>
          </p:cNvPicPr>
          <p:nvPr/>
        </p:nvPicPr>
        <p:blipFill>
          <a:blip r:embed="rId2"/>
          <a:stretch>
            <a:fillRect/>
          </a:stretch>
        </p:blipFill>
        <p:spPr>
          <a:xfrm>
            <a:off x="1924050" y="1176337"/>
            <a:ext cx="8343900" cy="5572125"/>
          </a:xfrm>
          <a:prstGeom prst="rect">
            <a:avLst/>
          </a:prstGeom>
        </p:spPr>
      </p:pic>
    </p:spTree>
    <p:extLst>
      <p:ext uri="{BB962C8B-B14F-4D97-AF65-F5344CB8AC3E}">
        <p14:creationId xmlns:p14="http://schemas.microsoft.com/office/powerpoint/2010/main" val="2203745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739</TotalTime>
  <Words>3542</Words>
  <Application>Microsoft Office PowerPoint</Application>
  <PresentationFormat>Widescreen</PresentationFormat>
  <Paragraphs>238</Paragraphs>
  <Slides>22</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Bahnschrift</vt:lpstr>
      <vt:lpstr>Calibri</vt:lpstr>
      <vt:lpstr>Calibri Light</vt:lpstr>
      <vt:lpstr>D-DIN</vt:lpstr>
      <vt:lpstr>Wingdings</vt:lpstr>
      <vt:lpstr>Office Theme</vt:lpstr>
      <vt:lpstr>PowerPoint Presentation</vt:lpstr>
      <vt:lpstr>Authors</vt:lpstr>
      <vt:lpstr>Main Findings</vt:lpstr>
      <vt:lpstr>PowerPoint Presentation</vt:lpstr>
      <vt:lpstr>PowerPoint Presentation</vt:lpstr>
      <vt:lpstr>PowerPoint Presentation</vt:lpstr>
      <vt:lpstr>A Region Still In Crisis:   Regressive Food-Price Inflation  Feb 2020-March 2021</vt:lpstr>
      <vt:lpstr>PowerPoint Presentation</vt:lpstr>
      <vt:lpstr>This Report</vt:lpstr>
      <vt:lpstr>Walking the Debt Tightrope: Tension between Short-term Needs and Long-term Costs of Public Debt</vt:lpstr>
      <vt:lpstr>Walking The Debt Tightrope  Short-term Needs of Public Debt: Lessons From Disaster Relief</vt:lpstr>
      <vt:lpstr>Walking the Debt Tightrope: Long-term Risks of Public Debt Association between High Public Debt and Low Growth during 2000-2019</vt:lpstr>
      <vt:lpstr>Priorities during the Pandemic: Public Spending for Disaster Relief and Public Health</vt:lpstr>
      <vt:lpstr>Priorities as the Pandemic Subsides</vt:lpstr>
      <vt:lpstr>Mitigating the Costs of Public Debt after the Pandemic</vt:lpstr>
      <vt:lpstr>Good Governance Can Help:  Evidence from Episodes of Debt Distress</vt:lpstr>
      <vt:lpstr>Charting a Path to a Lasting Recovery:  Sunlight Can Help! </vt:lpstr>
      <vt:lpstr>THANK YOU!</vt:lpstr>
      <vt:lpstr>Appendix Table B1: World Bank’s Growth, Current Account and Fiscal Account Forecasts</vt:lpstr>
      <vt:lpstr>Appendix Table B2 Panel B (Between April 2021 and October 2020):</vt:lpstr>
      <vt:lpstr>Appendix Table B3: Overview of MENA’s debt</vt:lpstr>
      <vt:lpstr>Appendix Table B4: Characteristics of MENA’s Economies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Haytham Abushaban</dc:creator>
  <cp:lastModifiedBy>Heran Getachew Negatu</cp:lastModifiedBy>
  <cp:revision>4</cp:revision>
  <dcterms:created xsi:type="dcterms:W3CDTF">2020-09-11T01:06:37Z</dcterms:created>
  <dcterms:modified xsi:type="dcterms:W3CDTF">2021-05-30T01:10:53Z</dcterms:modified>
</cp:coreProperties>
</file>