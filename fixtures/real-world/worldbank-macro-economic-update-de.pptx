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DE: Projected Poverty (below $5.5/day)</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DE: Number of poor people</a:t>
                </a:r>
              </a:p>
              <a:p>
                <a:pPr>
                  <a:defRPr/>
                </a:pPr>
                <a:r>
                  <a:rPr lang="en-US"/>
                  <a:t>DE:  (millions)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DE: percent of GDP</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DE: Timeline around</a:t>
                </a:r>
                <a:r>
                  <a:rPr lang="en-US" sz="1400" baseline="0"/>
                  <a:t>DE:  a large natural disaster, years</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DE: Public debt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DE: GDP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DE: The Middle East and North Africa (MENA) region is </a:t>
          </a:r>
          <a:r>
            <a:rPr lang="en-US" u="none" dirty="0"/>
            <a:t>DE: still in crisis</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DE: MENA countries face a </a:t>
          </a:r>
          <a:r>
            <a:rPr lang="en-US" u="none" dirty="0"/>
            <a:t>DE: balancing act</a:t>
          </a:r>
          <a:r>
            <a:rPr lang="en-US" u="sng" dirty="0"/>
            <a:t> </a:t>
          </a:r>
          <a:r>
            <a:rPr lang="en-US" dirty="0"/>
            <a:t>DE: between short-term needs and long-run risks of public debt</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DE: Tough choices: </a:t>
          </a:r>
          <a:r>
            <a:rPr lang="en-US" dirty="0"/>
            <a:t>DE: public expenditure priorities depend on the phase of the recovery</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DE: Sunlight can help! </a:t>
          </a:r>
          <a:r>
            <a:rPr lang="en-US" dirty="0"/>
            <a:t>DE: Transparency can help chart a path to lasting recovery for MENA</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DE: A Region Still In Crisis</a:t>
          </a:r>
          <a:r>
            <a:rPr lang="en-US" dirty="0"/>
            <a:t>DE: : Quantifies the socio-economic pain</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DE: Walking the Debt Tightrope</a:t>
          </a:r>
          <a:r>
            <a:rPr lang="en-US" dirty="0"/>
            <a:t>DE: : Articulates the tensions between immediate socio-economic needs and long-run risks in a region that already had high levels of debt in 2019</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DE: Tough Choices ahead</a:t>
          </a:r>
          <a:r>
            <a:rPr lang="en-US" dirty="0"/>
            <a:t>DE: : Discusses priorities </a:t>
          </a:r>
          <a:r>
            <a:rPr lang="en-US" u="sng" dirty="0"/>
            <a:t>DE: during </a:t>
          </a:r>
          <a:r>
            <a:rPr lang="en-US" dirty="0"/>
            <a:t>DE: the pandemic, </a:t>
          </a:r>
          <a:r>
            <a:rPr lang="en-US" u="sng" dirty="0"/>
            <a:t>DE: after </a:t>
          </a:r>
          <a:r>
            <a:rPr lang="en-US" dirty="0"/>
            <a:t>DE: the pandemic, and </a:t>
          </a:r>
          <a:r>
            <a:rPr lang="en-US" u="sng" dirty="0"/>
            <a:t>DE: beyond</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DE: Sunlight Can Help</a:t>
          </a:r>
          <a:r>
            <a:rPr lang="en-US"/>
            <a:t>DE: : Highlights the role of institutions, especially transparency, in charting a path to recovery for the Middle East and North Africa</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DE: During the pandemic</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DE: Reduce costs, accelerate recovery</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DE: Public health surveillance and transparency can reduce costs of the pandemic.</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DE: As the pandemic subsides</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DE: Raise investment’s impact</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DE: After the pandemic</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DE: Reduce costs, reduce risk</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DE: Transparency can reduce borrowing costs. Good governance can reduce the risks of debt distress.</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DE: Transparency in public investment decisions can raise its impact on economic activity (GDP)</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DE: Public health surveillance and transparency can accelerate the post-pandemic rebound (e.g., tourism; hospitality industries).</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The Middle East and North Africa (MENA) region is </a:t>
          </a:r>
          <a:r>
            <a:rPr lang="en-US" sz="2700" u="none" kern="1200" dirty="0"/>
            <a:t>still in crisis</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MENA countries face a </a:t>
          </a:r>
          <a:r>
            <a:rPr lang="en-US" sz="2700" u="none" kern="1200" dirty="0"/>
            <a:t>balancing act</a:t>
          </a:r>
          <a:r>
            <a:rPr lang="en-US" sz="2700" u="sng" kern="1200" dirty="0"/>
            <a:t> </a:t>
          </a:r>
          <a:r>
            <a:rPr lang="en-US" sz="2700" kern="1200" dirty="0"/>
            <a:t>between short-term needs and long-run risks of public debt</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Tough choices: </a:t>
          </a:r>
          <a:r>
            <a:rPr lang="en-US" sz="2700" kern="1200" dirty="0"/>
            <a:t>public expenditure priorities depend on the phase of the recovery</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Sunlight can help! </a:t>
          </a:r>
          <a:r>
            <a:rPr lang="en-US" sz="2700" kern="1200" dirty="0"/>
            <a:t>Transparency can help chart a path to lasting recovery for MENA</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A Region Still In Crisis</a:t>
          </a:r>
          <a:r>
            <a:rPr lang="en-US" sz="2100" kern="1200" dirty="0"/>
            <a:t>: Quantifies the socio-economic pain</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Walking the Debt Tightrope</a:t>
          </a:r>
          <a:r>
            <a:rPr lang="en-US" sz="2100" kern="1200" dirty="0"/>
            <a:t>: Articulates the tensions between immediate socio-economic needs and long-run risks in a region that already had high levels of debt in 2019</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Tough Choices ahead</a:t>
          </a:r>
          <a:r>
            <a:rPr lang="en-US" sz="2100" kern="1200" dirty="0"/>
            <a:t>: Discusses priorities </a:t>
          </a:r>
          <a:r>
            <a:rPr lang="en-US" sz="2100" u="sng" kern="1200" dirty="0"/>
            <a:t>during </a:t>
          </a:r>
          <a:r>
            <a:rPr lang="en-US" sz="2100" kern="1200" dirty="0"/>
            <a:t>the pandemic, </a:t>
          </a:r>
          <a:r>
            <a:rPr lang="en-US" sz="2100" u="sng" kern="1200" dirty="0"/>
            <a:t>after </a:t>
          </a:r>
          <a:r>
            <a:rPr lang="en-US" sz="2100" kern="1200" dirty="0"/>
            <a:t>the pandemic, and </a:t>
          </a:r>
          <a:r>
            <a:rPr lang="en-US" sz="2100" u="sng" kern="1200" dirty="0"/>
            <a:t>beyond</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Sunlight Can Help</a:t>
          </a:r>
          <a:r>
            <a:rPr lang="en-US" sz="2100" kern="1200"/>
            <a:t>: Highlights the role of institutions, especially transparency, in charting a path to recovery for the Middle East and North Africa</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Reduce costs, accelerate recovery</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Public health surveillance and transparency can reduce costs of the pandemic.</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During the pandemic</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Raise investment’s impact</a:t>
          </a:r>
        </a:p>
        <a:p>
          <a:pPr marL="114300" lvl="1" indent="-114300" algn="l" defTabSz="622300">
            <a:lnSpc>
              <a:spcPct val="90000"/>
            </a:lnSpc>
            <a:spcBef>
              <a:spcPct val="0"/>
            </a:spcBef>
            <a:spcAft>
              <a:spcPct val="15000"/>
            </a:spcAft>
            <a:buChar char="•"/>
          </a:pPr>
          <a:r>
            <a:rPr lang="en-US" sz="1400" kern="1200" dirty="0"/>
            <a:t>Transparency in public investment decisions can raise its impact on economic activity (GDP)</a:t>
          </a:r>
          <a:endParaRPr lang="en-US" sz="1300" kern="1200" dirty="0"/>
        </a:p>
        <a:p>
          <a:pPr marL="114300" lvl="1" indent="-114300" algn="l" defTabSz="622300">
            <a:lnSpc>
              <a:spcPct val="90000"/>
            </a:lnSpc>
            <a:spcBef>
              <a:spcPct val="0"/>
            </a:spcBef>
            <a:spcAft>
              <a:spcPct val="15000"/>
            </a:spcAft>
            <a:buChar char="•"/>
          </a:pPr>
          <a:r>
            <a:rPr lang="en-US" sz="1400" kern="1200" dirty="0"/>
            <a:t>Public health surveillance and transparency can accelerate the post-pandemic rebound (e.g., tourism; hospitality industries).</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As the pandemic subsides</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Reduce costs, reduce risk</a:t>
          </a:r>
        </a:p>
        <a:p>
          <a:pPr marL="114300" lvl="1" indent="-114300" algn="l" defTabSz="622300">
            <a:lnSpc>
              <a:spcPct val="90000"/>
            </a:lnSpc>
            <a:spcBef>
              <a:spcPct val="0"/>
            </a:spcBef>
            <a:spcAft>
              <a:spcPct val="15000"/>
            </a:spcAft>
            <a:buChar char="•"/>
          </a:pPr>
          <a:r>
            <a:rPr lang="en-US" sz="1400" kern="1200"/>
            <a:t>Transparency can reduce borrowing costs. Good governance can reduce the risks of debt distress.</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After the pandemic</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pPr algn="ctr"/>
            <a:r>
              <a:rPr lang="en-CA" sz="1600" dirty="0"/>
              <a:t>MENA Wirtschaftsupdate – April 2021</a:t>
            </a:r>
          </a:p>
          <a:p>
            <a:pPr algn="ctr"/>
            <a:r>
              <a:rPr lang="en-CA" sz="2800" dirty="0"/>
              <a:t>Mit Schulden leben: Wie Institutionen einen Weg zur Erholung im Nahen Osten und Nordafrika einschlagen können</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Autoren</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t>Chefvolkswirtin, Naher Osten und Nordafrika, Die Weltbank</a:t>
            </a:r>
            <a:endParaRPr lang="en-US" sz="1400" dirty="0"/>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latin typeface="Bahnschrift" panose="020B0502040204020203" pitchFamily="34" charset="0"/>
                <a:ea typeface="DengXian" panose="02010600030101010101" pitchFamily="2" charset="-122"/>
                <a:cs typeface="Calibri" panose="020F0502020204030204" pitchFamily="34" charset="0"/>
              </a:rPr>
              <a:t>Stellvertretender Chefvolkswirt, Naher Osten und Nordafrika, Die Weltbank </a:t>
            </a:r>
            <a: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t> </a:t>
            </a:r>
            <a:endParaRPr lang="en-US" sz="1400" dirty="0"/>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minh</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nguyen</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Senior-Ökonom, Büro des Chefökonomen, Naher Osten und Nordafrika, Die Weltbank</a:t>
            </a:r>
            <a:endParaRPr lang="en-US" sz="1400" dirty="0"/>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Senior-Ökonom, Büro des Chefökonomen, Naher Osten und Nordafrika, Die Weltbank</a:t>
            </a:r>
            <a:endParaRPr lang="en-US" sz="1400" dirty="0"/>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yuting</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fan</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Ökonomin, Büro des Chefökonomen, Naher Osten und Nordafrika, Die Weltbank</a:t>
            </a:r>
            <a:endParaRPr lang="en-US" sz="1400" dirty="0"/>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Berater, Büro des Chefökonomen, Naher Osten und Nordafrika, Die Weltbank</a:t>
            </a:r>
            <a:endParaRPr lang="en-US" sz="1400" dirty="0"/>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Berater, Büro des Chefökonomen, Naher Osten und Nordafrika, Die Weltbank</a:t>
            </a:r>
            <a:endParaRPr lang="en-US" sz="1400" dirty="0"/>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Wesentliche Ergebnisse</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Eine Region noch immer in der Krise: Dauerhafte BIP-Verluste</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pPr algn="just"/>
            <a:r>
              <a:rPr lang="en-GB" sz="2000" dirty="0"/>
              <a:t>Bis 2021 wird die regionale Wirtschaft voraussichtlich 7,2 Prozentpunkte unter dem BIP-Niveau ohne Pandemie liegen, was </a:t>
            </a:r>
            <a:r>
              <a:rPr lang="en-GB" sz="2000" dirty="0">
                <a:solidFill>
                  <a:srgbClr val="FF0000"/>
                </a:solidFill>
              </a:rPr>
              <a:t>227 </a:t>
            </a:r>
            <a:r>
              <a:rPr lang="en-GB" sz="2000" dirty="0"/>
              <a:t>Milliarden Dollar entspricht; </a:t>
            </a:r>
            <a:r>
              <a:rPr lang="en-GB" sz="2000" dirty="0">
                <a:solidFill>
                  <a:srgbClr val="FF0000"/>
                </a:solidFill>
              </a:rPr>
              <a:t>das BIP pro Kopf </a:t>
            </a:r>
            <a:r>
              <a:rPr lang="en-GB" sz="2000" dirty="0"/>
              <a:t>(ein Entwicklungsindikator, der das Ausmaß der Armut bestimmt) wird gegenüber dem Niveau von 2019 immer noch um etwa </a:t>
            </a:r>
            <a:r>
              <a:rPr lang="en-GB" sz="2000" dirty="0">
                <a:solidFill>
                  <a:srgbClr val="FF0000"/>
                </a:solidFill>
              </a:rPr>
              <a:t>5% niedriger sein</a:t>
            </a:r>
            <a:endParaRPr lang="en-US" sz="2000" dirty="0">
              <a:solidFill>
                <a:srgbClr val="FF0000"/>
              </a:solidFill>
              <a:latin typeface="Calibri" panose="020F0502020204030204" pitchFamily="34" charset="0"/>
            </a:endParaRPr>
          </a:p>
          <a:p>
            <a:pPr algn="just"/>
            <a:endParaRPr lang="en-US" sz="2000" dirty="0"/>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Eine Region noch immer in der Krise: BIP-pro-Kopf-Verluste</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Quelle: Weltbank, </a:t>
            </a:r>
            <a:r>
              <a:rPr kumimoji="0" lang="en-US" sz="12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Makro- und Armutsausblick</a:t>
            </a: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 (April 2021 und Oktober 2019) sowie Berechnungen der Weltbank-Mitarbeiter.</a:t>
            </a:r>
            <a:endParaRPr kumimoji="0" lang="en-US" sz="16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Anmerkung: Die gestrichelten Linien zeigen die prognostizierten BIP-pro-Kopf-Niveaus im kontrafaktischen Szenario ohne Pandemie (basierend auf BIP-pro-Kopf-Prognosen vom Oktober 2019). Die durchgezogenen Linien zeigen die prognostizierten BIP-pro-Kopf-Niveaus im Pandemiesszenario (basierend auf BIP-pro-Kopf-Prognosen vom April 2021).</a:t>
            </a:r>
            <a:endParaRPr kumimoji="0" lang="en-US" sz="16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Calibri"/>
                <a:cs typeface="Calibri"/>
              </a:rPr>
              <a:t>Verluste</a:t>
            </a:r>
            <a:r>
              <a:rPr kumimoji="0" lang="en-US" sz="1800" b="1" i="0" u="none" strike="noStrike" kern="1200" cap="none" spc="0" normalizeH="0" baseline="0" noProof="0" dirty="0">
                <a:ln>
                  <a:noFill/>
                </a:ln>
                <a:effectLst/>
                <a:uLnTx/>
                <a:uFillTx/>
                <a:latin typeface="Calibri"/>
                <a:cs typeface="Calibri"/>
              </a:rPr>
              <a:t> bis 2021: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alibri" panose="020F050202020403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effectLst/>
                <a:uLnTx/>
                <a:uFillTx/>
                <a:latin typeface="Calibri"/>
                <a:cs typeface="Calibri"/>
              </a:rPr>
              <a:t>MENA: 7,0%</a:t>
            </a:r>
            <a:endParaRPr lang="en-US" sz="1400" b="1" i="0" u="none" strike="noStrike" kern="1200" cap="none" spc="0" normalizeH="0" baseline="0" noProof="0" dirty="0">
              <a:ln>
                <a:noFill/>
              </a:ln>
              <a:effectLst/>
              <a:uLnTx/>
              <a:uFillTx/>
              <a:latin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alibri" panose="020F050202020403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FF"/>
                </a:solidFill>
                <a:effectLst/>
                <a:uLnTx/>
                <a:uFillTx/>
                <a:latin typeface="Calibri"/>
                <a:cs typeface="Calibri"/>
              </a:rPr>
              <a:t>GCC: 7,3%</a:t>
            </a:r>
            <a:endParaRPr lang="en-US" sz="1400" b="1" i="0" u="none" strike="noStrike" kern="1200" cap="none" spc="0" normalizeH="0" baseline="0" noProof="0" dirty="0">
              <a:ln>
                <a:noFill/>
              </a:ln>
              <a:solidFill>
                <a:srgbClr val="3333FF"/>
              </a:solidFill>
              <a:effectLst/>
              <a:uLnTx/>
              <a:uFillTx/>
              <a:latin typeface="Calibri"/>
              <a:cs typeface="Calibri"/>
            </a:endParaRPr>
          </a:p>
          <a:p>
            <a:pPr>
              <a:defRPr/>
            </a:pPr>
            <a:endParaRPr lang="en-US" sz="1400" b="1" dirty="0">
              <a:solidFill>
                <a:srgbClr val="F3B500"/>
              </a:solidFill>
              <a:latin typeface="Calibri"/>
              <a:cs typeface="Calibri"/>
            </a:endParaRPr>
          </a:p>
          <a:p>
            <a:pPr>
              <a:defRPr/>
            </a:pPr>
            <a:r>
              <a:rPr lang="en-US" sz="1400" b="1" dirty="0">
                <a:solidFill>
                  <a:srgbClr val="F3B500"/>
                </a:solidFill>
                <a:latin typeface="Calibri"/>
                <a:cs typeface="Calibri"/>
              </a:rPr>
              <a:t>Mitteleinkommensländer mit Öl</a:t>
            </a:r>
            <a:r>
              <a:rPr kumimoji="0" lang="en-US" sz="1400" b="1" i="0" u="none" strike="noStrike" kern="1200" cap="none" spc="0" normalizeH="0" baseline="0" noProof="0" dirty="0">
                <a:ln>
                  <a:noFill/>
                </a:ln>
                <a:solidFill>
                  <a:srgbClr val="F3B500"/>
                </a:solidFill>
                <a:effectLst/>
                <a:uLnTx/>
                <a:uFillTx/>
                <a:latin typeface="Calibri"/>
                <a:cs typeface="Calibri"/>
              </a:rPr>
              <a:t>-Export: 4,6%</a:t>
            </a:r>
            <a:endParaRPr lang="en-US" sz="1400" b="1" i="0" u="none" strike="noStrike" kern="1200" cap="none" spc="0" normalizeH="0" baseline="0" noProof="0" dirty="0">
              <a:ln>
                <a:noFill/>
              </a:ln>
              <a:solidFill>
                <a:srgbClr val="F3B500"/>
              </a:solidFill>
              <a:effectLst/>
              <a:uLnTx/>
              <a:uFillTx/>
              <a:latin typeface="Calibri"/>
              <a:cs typeface="Calibri"/>
            </a:endParaRPr>
          </a:p>
          <a:p>
            <a:pPr>
              <a:defRPr/>
            </a:pPr>
            <a:endParaRPr lang="en-US" sz="1400" b="1" dirty="0">
              <a:latin typeface="Calibri"/>
              <a:cs typeface="Calibri"/>
            </a:endParaRPr>
          </a:p>
          <a:p>
            <a:pPr>
              <a:defRPr/>
            </a:pPr>
            <a:r>
              <a:rPr lang="en-US" sz="1400" b="1" dirty="0">
                <a:solidFill>
                  <a:srgbClr val="FF0000"/>
                </a:solidFill>
                <a:latin typeface="Calibri"/>
                <a:cs typeface="Calibri"/>
              </a:rPr>
              <a:t>Mitteleinkommensländer mit Öl</a:t>
            </a:r>
            <a:r>
              <a:rPr kumimoji="0" lang="en-US" sz="1400" b="1" u="none" strike="noStrike" kern="1200" cap="none" spc="0" normalizeH="0" baseline="0" noProof="0" dirty="0">
                <a:ln>
                  <a:noFill/>
                </a:ln>
                <a:solidFill>
                  <a:srgbClr val="FF0000"/>
                </a:solidFill>
                <a:effectLst/>
                <a:uLnTx/>
                <a:uFillTx/>
                <a:latin typeface="Calibri"/>
                <a:cs typeface="Calibri"/>
              </a:rPr>
              <a:t>-Import: </a:t>
            </a:r>
            <a:r>
              <a:rPr lang="en-US" sz="1400" b="1" dirty="0">
                <a:solidFill>
                  <a:srgbClr val="FF0000"/>
                </a:solidFill>
                <a:latin typeface="Calibri"/>
                <a:cs typeface="Calibri"/>
              </a:rPr>
              <a:t>8,6</a:t>
            </a:r>
            <a:r>
              <a:rPr kumimoji="0" lang="en-US" sz="1400" b="1" u="none" strike="noStrike" kern="1200" cap="none" spc="0" normalizeH="0" baseline="0" noProof="0" dirty="0">
                <a:ln>
                  <a:noFill/>
                </a:ln>
                <a:solidFill>
                  <a:srgbClr val="FF0000"/>
                </a:solidFill>
                <a:effectLst/>
                <a:uLnTx/>
                <a:uFillTx/>
                <a:latin typeface="Calibri"/>
                <a:cs typeface="Calibri"/>
              </a:rPr>
              <a:t>%</a:t>
            </a:r>
            <a:endParaRPr lang="en-US" sz="1400" b="1" u="none" strike="noStrike" kern="1200" cap="none" spc="0" normalizeH="0" baseline="0" noProof="0" dirty="0">
              <a:ln>
                <a:noFill/>
              </a:ln>
              <a:solidFill>
                <a:srgbClr val="FF0000"/>
              </a:solidFill>
              <a:effectLst/>
              <a:uLnTx/>
              <a:uFillTx/>
              <a:latin typeface="Calibri" panose="020F0502020204030204" pitchFamily="34" charset="0"/>
              <a:cs typeface="Calibri"/>
            </a:endParaRP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Eine Region noch immer in der Krise: Konservative Schätzungen von Millionen neu in Armut geratener Menschen</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Millionen</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Eine Region noch in der Krise: </a:t>
            </a:r>
            <a:br>
              <a:rPr lang="en-US" sz="3600">
                <a:solidFill>
                  <a:srgbClr val="2C2C2C"/>
                </a:solidFill>
              </a:rPr>
            </a:br>
            <a:br>
              <a:rPr lang="en-US" sz="3600">
                <a:solidFill>
                  <a:srgbClr val="2C2C2C"/>
                </a:solidFill>
              </a:rPr>
            </a:br>
            <a:r>
              <a:rPr lang="en-US" sz="3600">
                <a:solidFill>
                  <a:srgbClr val="2C2C2C"/>
                </a:solidFill>
              </a:rPr>
              <a:t>Regressive Lebensmittelpreisinflation</a:t>
            </a:r>
            <a:br>
              <a:rPr lang="en-US" sz="3600">
                <a:solidFill>
                  <a:srgbClr val="2C2C2C"/>
                </a:solidFill>
              </a:rPr>
            </a:br>
            <a:br>
              <a:rPr lang="en-US" sz="3600">
                <a:solidFill>
                  <a:srgbClr val="2C2C2C"/>
                </a:solidFill>
              </a:rPr>
            </a:br>
            <a:r>
              <a:rPr lang="en-US" sz="2000" b="1">
                <a:solidFill>
                  <a:srgbClr val="2C2C2C"/>
                </a:solidFill>
              </a:rPr>
              <a:t>Feb 2020–März 2021</a:t>
            </a:r>
            <a:endParaRPr lang="en-US" sz="3600" b="1">
              <a:solidFill>
                <a:srgbClr val="2C2C2C"/>
              </a:solidFill>
            </a:endParaRP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Auf dem Hochseil steigender Staatsschulden</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pPr>
              <a:lnSpc>
                <a:spcPct val="107000"/>
              </a:lnSpc>
            </a:pPr>
            <a:r>
              <a:rPr lang="en-US" sz="1200">
                <a:latin typeface="Calibri" panose="020F0502020204030204" pitchFamily="34" charset="0"/>
                <a:ea typeface="Calibri" panose="020F0502020204030204" pitchFamily="34" charset="0"/>
                <a:cs typeface="Calibri" panose="020F0502020204030204" pitchFamily="34" charset="0"/>
              </a:rPr>
              <a:t>Quelle: Weltbank, </a:t>
            </a:r>
            <a:r>
              <a:rPr lang="en-US" sz="1200" i="1">
                <a:latin typeface="Calibri" panose="020F0502020204030204" pitchFamily="34" charset="0"/>
                <a:ea typeface="Calibri" panose="020F0502020204030204" pitchFamily="34" charset="0"/>
                <a:cs typeface="Calibri" panose="020F0502020204030204" pitchFamily="34" charset="0"/>
              </a:rPr>
              <a:t>Makro- und Armutsausblick</a:t>
            </a:r>
            <a:r>
              <a:rPr lang="en-US" sz="1200">
                <a:latin typeface="Calibri" panose="020F0502020204030204" pitchFamily="34" charset="0"/>
                <a:ea typeface="Calibri" panose="020F0502020204030204" pitchFamily="34" charset="0"/>
                <a:cs typeface="Calibri" panose="020F0502020204030204" pitchFamily="34" charset="0"/>
              </a:rPr>
              <a:t> </a:t>
            </a:r>
            <a:r>
              <a:rPr lang="en-US" sz="1200" i="1">
                <a:latin typeface="Calibri" panose="020F0502020204030204" pitchFamily="34" charset="0"/>
                <a:ea typeface="Calibri" panose="020F0502020204030204" pitchFamily="34" charset="0"/>
                <a:cs typeface="Calibri" panose="020F0502020204030204" pitchFamily="34" charset="0"/>
              </a:rPr>
              <a:t>(April 2021)</a:t>
            </a:r>
            <a:endParaRPr lang="en-US" sz="1600">
              <a:latin typeface="Calibri" panose="020F0502020204030204" pitchFamily="34" charset="0"/>
              <a:ea typeface="Calibri" panose="020F0502020204030204" pitchFamily="34" charset="0"/>
              <a:cs typeface="Arial" panose="020B0604020202020204" pitchFamily="34" charset="0"/>
            </a:endParaRPr>
          </a:p>
          <a:p>
            <a:pPr>
              <a:lnSpc>
                <a:spcPct val="107000"/>
              </a:lnSpc>
            </a:pPr>
            <a:r>
              <a:rPr lang="en-US" sz="1200">
                <a:latin typeface="Calibri" panose="020F0502020204030204" pitchFamily="34" charset="0"/>
                <a:ea typeface="Calibri" panose="020F0502020204030204" pitchFamily="34" charset="0"/>
                <a:cs typeface="Calibri" panose="020F0502020204030204" pitchFamily="34" charset="0"/>
              </a:rPr>
              <a:t>Anmerkung: Ländergruppen werden durch den Median der Gruppe dargestellt. Die Balken zeigen den Median der Staatsverschuldung der MENA-Ländergruppen. Die Rauten zeigen den Median der Staatsverschuldung der entsprechenden globalen Einkommensgruppen. Schuldendaten sind für MENA-Niedrigeinkommensländer (Jemen und Syrien) grundsätzlich nicht verfügbar. Die Hocheinkommensgruppe im MPO beschränkt sich auf die von der Weltbank erfassten Länder.</a:t>
            </a:r>
            <a:endParaRPr lang="en-US" sz="1600">
              <a:effectLst/>
              <a:latin typeface="Calibri" panose="020F0502020204030204" pitchFamily="34" charset="0"/>
              <a:ea typeface="Calibri" panose="020F050202020403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Der Balanceakt ist bei den mitteleinkommensstarken ölimportierenden Volkswirtschaften der MENA-Region am schwierigsten.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Dieser Bericht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pPr algn="ctr"/>
            <a:r>
              <a:rPr lang="en-US" sz="2800" dirty="0">
                <a:solidFill>
                  <a:schemeClr val="accent6">
                    <a:lumMod val="50000"/>
                  </a:schemeClr>
                </a:solidFill>
              </a:rPr>
              <a:t>Auf dem Schulden-Hochseil:</a:t>
            </a:r>
            <a:br>
              <a:rPr lang="en-US" sz="2800" dirty="0">
                <a:solidFill>
                  <a:schemeClr val="accent6">
                    <a:lumMod val="50000"/>
                  </a:schemeClr>
                </a:solidFill>
              </a:rPr>
            </a:br>
            <a:r>
              <a:rPr lang="en-US" sz="2800" dirty="0">
                <a:solidFill>
                  <a:schemeClr val="accent6">
                    <a:lumMod val="50000"/>
                  </a:schemeClr>
                </a:solidFill>
              </a:rPr>
              <a:t>Spannung zwischen kurzfristigem Bedarf und langfristigen Kosten der Staatsverschuldung</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Kurzfristiger Bedarf</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Katastrophenhilfe: Unterstützung von Unternehmen und Haushalten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Ausgaben im öffentlichen Gesundheitswesen</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Langfristige Risiken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Verdrängung privater Investitionen </a:t>
            </a:r>
            <a:r>
              <a:rPr kumimoji="0" lang="en-US" sz="2000" b="0" u="none" strike="noStrike" kern="1200" cap="none" spc="0" normalizeH="0" baseline="0" noProof="0" dirty="0">
                <a:ln>
                  <a:noFill/>
                </a:ln>
                <a:solidFill>
                  <a:prstClr val="black"/>
                </a:solidFill>
                <a:effectLst/>
                <a:uLnTx/>
                <a:uFillTx/>
                <a:latin typeface="Calibri" panose="020F0502020204030204"/>
                <a:ea typeface="+mn-ea"/>
                <a:cs typeface="+mn-cs"/>
              </a:rPr>
              <a:t>(bei steigenden Zinsen)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Verdrängung öffentlicher Investitionen bei steigenden Zinszahlungen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Makroökonomische Anfälligkeit, Refinanzierungsrisiko und Wahrscheinlichkeit kostspieliger Schuldenkrisen</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pPr algn="ctr"/>
            <a:r>
              <a:rPr lang="en-US" sz="2800" dirty="0">
                <a:solidFill>
                  <a:schemeClr val="accent6">
                    <a:lumMod val="50000"/>
                  </a:schemeClr>
                </a:solidFill>
              </a:rPr>
              <a:t>Auf dem Schulden-Hochseil </a:t>
            </a:r>
            <a:br>
              <a:rPr lang="en-US" sz="2800" dirty="0">
                <a:solidFill>
                  <a:schemeClr val="accent6">
                    <a:lumMod val="50000"/>
                  </a:schemeClr>
                </a:solidFill>
              </a:rPr>
            </a:br>
            <a:r>
              <a:rPr lang="en-US" sz="2800" dirty="0">
                <a:solidFill>
                  <a:schemeClr val="accent6">
                    <a:lumMod val="50000"/>
                  </a:schemeClr>
                </a:solidFill>
              </a:rPr>
              <a:t>Kurzfristiger Bedarf der Staatsverschuldung: Lehren aus der Katastrophenhilfe</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Historische Belege</a:t>
            </a:r>
            <a:r>
              <a:rPr lang="en-US" dirty="0"/>
              <a:t>:</a:t>
            </a:r>
          </a:p>
          <a:p>
            <a:endParaRPr lang="en-US" dirty="0"/>
          </a:p>
          <a:p>
            <a:r>
              <a:rPr lang="en-US" dirty="0"/>
              <a:t>Während und unmittelbar nach Katastrophen wachsen die Schulden in betroffenen Volkswirtschaften schneller (2%) als in der Kontrollgruppe (Volkswirtschaften-Jahre ohne Katastrophen)</a:t>
            </a:r>
          </a:p>
          <a:p>
            <a:endParaRPr lang="en-US" dirty="0"/>
          </a:p>
          <a:p>
            <a:r>
              <a:rPr lang="en-US" dirty="0"/>
              <a:t>Das Wachstum bricht während einer Katastrophe ein, erholt sich jedoch in der Folgezeit gegenüber der Kontrollgruppe.</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pPr algn="ctr"/>
            <a:r>
              <a:rPr lang="en-US" sz="2800" dirty="0">
                <a:solidFill>
                  <a:schemeClr val="accent6">
                    <a:lumMod val="50000"/>
                  </a:schemeClr>
                </a:solidFill>
              </a:rPr>
              <a:t>Auf dem Schulden-Hochseil: Langfristige Risiken der Staatsverschuldung</a:t>
            </a:r>
            <a:br>
              <a:rPr lang="en-US" sz="2800" dirty="0">
                <a:solidFill>
                  <a:schemeClr val="accent6">
                    <a:lumMod val="50000"/>
                  </a:schemeClr>
                </a:solidFill>
              </a:rPr>
            </a:br>
            <a:r>
              <a:rPr lang="en-US" sz="2400" dirty="0">
                <a:solidFill>
                  <a:schemeClr val="accent6">
                    <a:lumMod val="50000"/>
                  </a:schemeClr>
                </a:solidFill>
              </a:rPr>
              <a:t>Zusammenhang zwischen hoher Staatsverschuldung und niedrigem Wachstum in den Jahren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pPr lvl="0">
              <a:lnSpc>
                <a:spcPct val="107000"/>
              </a:lnSpc>
              <a:defRPr/>
            </a:pPr>
            <a:r>
              <a:rPr lang="en-US" sz="1600" b="1"/>
              <a:t>Medianes jährliches Pro-Kopf-Wachstum im Zeitraum 2000–2019 nach Ländern, geordnet nach der Staatsverschuldung der Zentralregierung im Jahr 2000</a:t>
            </a:r>
            <a:endParaRPr kumimoji="0" lang="en-US" sz="1400" b="0" i="0" u="none" strike="noStrike" kern="1200" cap="none" spc="0" normalizeH="0" baseline="0" noProof="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pPr marL="457200" lvl="1" algn="ctr"/>
            <a:r>
              <a:rPr lang="en-US" sz="3600" dirty="0">
                <a:solidFill>
                  <a:schemeClr val="accent6">
                    <a:lumMod val="50000"/>
                  </a:schemeClr>
                </a:solidFill>
                <a:latin typeface="+mj-lt"/>
              </a:rPr>
              <a:t>Prioritäten </a:t>
            </a:r>
            <a:r>
              <a:rPr lang="en-US" sz="3600" u="sng" dirty="0">
                <a:solidFill>
                  <a:schemeClr val="accent6">
                    <a:lumMod val="50000"/>
                  </a:schemeClr>
                </a:solidFill>
                <a:latin typeface="+mj-lt"/>
              </a:rPr>
              <a:t>während</a:t>
            </a:r>
            <a:r>
              <a:rPr lang="en-US" sz="3600" dirty="0">
                <a:solidFill>
                  <a:schemeClr val="accent6">
                    <a:lumMod val="50000"/>
                  </a:schemeClr>
                </a:solidFill>
                <a:latin typeface="+mj-lt"/>
              </a:rPr>
              <a:t> der Pandemie:</a:t>
            </a:r>
            <a:br>
              <a:rPr lang="en-US" sz="3600" dirty="0">
                <a:solidFill>
                  <a:schemeClr val="accent6">
                    <a:lumMod val="50000"/>
                  </a:schemeClr>
                </a:solidFill>
                <a:latin typeface="+mj-lt"/>
              </a:rPr>
            </a:br>
            <a:r>
              <a:rPr lang="en-US" sz="3600" dirty="0">
                <a:solidFill>
                  <a:schemeClr val="accent6">
                    <a:lumMod val="50000"/>
                  </a:schemeClr>
                </a:solidFill>
                <a:latin typeface="+mj-lt"/>
              </a:rPr>
              <a:t>Staatsausgaben für Katastrophenhilfe und öffentliche Gesundheit</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Während der Pandemie: </a:t>
            </a:r>
            <a:r>
              <a:rPr lang="en-US" sz="2400" dirty="0"/>
              <a:t>Katastrophenhilfe, Unterstützung von Haushalten und Unternehmen</a:t>
            </a:r>
          </a:p>
          <a:p>
            <a:pPr lvl="1"/>
            <a:r>
              <a:rPr lang="en-US" sz="2000" dirty="0"/>
              <a:t>Die Stimulierung der Gesamtnachfrage könnte nur geringe Auswirkungen auf das BIP haben (der "Fiskalmultiplikator"), solange das Covid-19-Risiko fortbesteht</a:t>
            </a:r>
            <a:endParaRPr lang="en-US" sz="2000" dirty="0">
              <a:cs typeface="Calibri"/>
            </a:endParaRPr>
          </a:p>
          <a:p>
            <a:r>
              <a:rPr lang="en-US" sz="2400" dirty="0"/>
              <a:t>Investitionen in die öffentliche Gesundheit zur Rettung von Menschenleben und zur Erzielung langfristiger Gewinne</a:t>
            </a:r>
            <a:endParaRPr lang="en-US" sz="2400" dirty="0">
              <a:cs typeface="Calibri" panose="020F0502020204030204"/>
            </a:endParaRPr>
          </a:p>
          <a:p>
            <a:pPr lvl="1"/>
            <a:r>
              <a:rPr lang="en-US" sz="2000" dirty="0"/>
              <a:t>Krankheitsüberwachung und Datentransparenz</a:t>
            </a:r>
          </a:p>
          <a:p>
            <a:pPr lvl="1"/>
            <a:r>
              <a:rPr lang="en-US" sz="2000" dirty="0"/>
              <a:t>Tests und Kontaktverfolgung</a:t>
            </a:r>
            <a:endParaRPr lang="en-US" sz="2000" dirty="0">
              <a:cs typeface="Calibri"/>
            </a:endParaRPr>
          </a:p>
          <a:p>
            <a:pPr lvl="1"/>
            <a:r>
              <a:rPr lang="en-US" sz="2000" dirty="0"/>
              <a:t>Impfkampagnen</a:t>
            </a:r>
          </a:p>
          <a:p>
            <a:pPr lvl="1"/>
            <a:endParaRPr lang="en-US" sz="2000" dirty="0"/>
          </a:p>
          <a:p>
            <a:pPr lvl="1">
              <a:buFont typeface="Wingdings" panose="05000000000000000000" pitchFamily="2" charset="2"/>
              <a:buChar char="Ø"/>
            </a:pPr>
            <a:r>
              <a:rPr lang="en-US" sz="2000" dirty="0">
                <a:cs typeface="Calibri"/>
              </a:rPr>
              <a:t>Können auch die wirtschaftlichen Kosten der Pandemie reduzieren</a:t>
            </a:r>
          </a:p>
          <a:p>
            <a:pPr marL="0" indent="0">
              <a:buNone/>
            </a:pPr>
            <a:endParaRPr lang="en-US" sz="2400" dirty="0"/>
          </a:p>
          <a:p>
            <a:endParaRPr lang="en-US" sz="2400" dirty="0"/>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Partielle Korrelation zwischen Testpositivraten und BIP-Abwärtskorrektur</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Quellen: IWF,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 Economic Outlook</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sz="900" b="0" i="1" u="none" strike="noStrike" kern="1200" cap="none" spc="0" normalizeH="0" baseline="0" noProof="0" dirty="0" err="1">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Worldometer</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Johns Hopkins University; Weltbank,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 Development Indicators</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sowie Berechnungen der Weltbank-Mitarbeiter.</a:t>
            </a:r>
            <a:endParaRPr kumimoji="0" lang="en-US" sz="105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Die Abbildung zeigt die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partielle</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Korrelation zwischen den BIP-Wachstumskorrekturen für 2020 zwischen Oktober 2020 und Oktober 2019 und der Covid-19-Positivitätsrate (Stand Dezember 2020). Die Positivitätsrate ist die Anzahl der Covid-19-Fälle als Prozentsatz der Gesamtzahl der Tests. Weitere erklärende Variablen umfassen den logarithmierten BIP pro Kopf 2019 (in US-Dollar), den gesamten Handelswert am BIP 2019 (in Prozent), die Anzahl der Tage seit dem ersten positiven Fall bis zum 30. November 2020 sowie den Tourismus als Prozentsatz der Exporte 2018.</a:t>
            </a:r>
            <a:endParaRPr kumimoji="0" lang="en-US" sz="105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pPr algn="ctr"/>
            <a:r>
              <a:rPr lang="en-US" sz="3600" dirty="0">
                <a:solidFill>
                  <a:schemeClr val="accent6">
                    <a:lumMod val="50000"/>
                  </a:schemeClr>
                </a:solidFill>
              </a:rPr>
              <a:t>Prioritäten </a:t>
            </a:r>
            <a:r>
              <a:rPr lang="en-US" sz="3600" u="sng" dirty="0">
                <a:solidFill>
                  <a:schemeClr val="accent6">
                    <a:lumMod val="50000"/>
                  </a:schemeClr>
                </a:solidFill>
              </a:rPr>
              <a:t>nach dem Abklingen der Pandemie</a:t>
            </a:r>
            <a:endParaRPr lang="en-US" sz="3600" u="sng" dirty="0"/>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Factors that reduce the need and efficacy of traditional fiscal stimulus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Potential benefits of (targeted) stimulus – healing economic scars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“Pent-up demand” can raise GDP without fiscal stimulus  </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Financial constraints prevent enterprise re-entry </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pPr algn="ctr"/>
            <a:r>
              <a:rPr lang="en-US" sz="3200" dirty="0">
                <a:solidFill>
                  <a:schemeClr val="accent6">
                    <a:lumMod val="50000"/>
                  </a:schemeClr>
                </a:solidFill>
              </a:rPr>
              <a:t>Minderung der Kosten der Staatsverschuldung </a:t>
            </a:r>
            <a:r>
              <a:rPr lang="en-US" sz="3200" u="sng" dirty="0">
                <a:solidFill>
                  <a:schemeClr val="accent6">
                    <a:lumMod val="50000"/>
                  </a:schemeClr>
                </a:solidFill>
              </a:rPr>
              <a:t>nach</a:t>
            </a:r>
            <a:r>
              <a:rPr lang="en-US" sz="3200" dirty="0">
                <a:solidFill>
                  <a:schemeClr val="accent6">
                    <a:lumMod val="50000"/>
                  </a:schemeClr>
                </a:solidFill>
              </a:rPr>
              <a:t> der Pandemie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Refinanzierung fälliger Schulden zu günstigeren Konditionen durch Verbesserung der Transparenz der Schuldenberichterstattung</a:t>
            </a:r>
          </a:p>
          <a:p>
            <a:endParaRPr lang="en-US" dirty="0"/>
          </a:p>
          <a:p>
            <a:r>
              <a:rPr lang="en-US" dirty="0"/>
              <a:t>Stärkung der Institutionen: Hochverschuldete Länder geraten häufiger in kostspielige Schuldennotlagen, wenn sie schwaches Wachstum und schwache Regierungsführung verzeichnen. </a:t>
            </a:r>
          </a:p>
          <a:p>
            <a:endParaRPr lang="en-US" dirty="0"/>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pPr algn="ctr"/>
            <a:r>
              <a:rPr lang="en-US" sz="3200" dirty="0">
                <a:solidFill>
                  <a:schemeClr val="accent6">
                    <a:lumMod val="50000"/>
                  </a:schemeClr>
                </a:solidFill>
              </a:rPr>
              <a:t>Gute Regierungsführung kann helfen: </a:t>
            </a:r>
            <a:br>
              <a:rPr lang="en-US" sz="3200" dirty="0">
                <a:solidFill>
                  <a:schemeClr val="accent6">
                    <a:lumMod val="50000"/>
                  </a:schemeClr>
                </a:solidFill>
              </a:rPr>
            </a:br>
            <a:r>
              <a:rPr lang="en-US" sz="3200" dirty="0">
                <a:solidFill>
                  <a:schemeClr val="accent6">
                    <a:lumMod val="50000"/>
                  </a:schemeClr>
                </a:solidFill>
              </a:rPr>
              <a:t>Erkenntnisse aus Episoden der Schuldennotlage</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Kontrollgruppe = Entwicklungsländer</a:t>
            </a:r>
            <a:r>
              <a:rPr lang="en-US" sz="1100" i="1" dirty="0">
                <a:solidFill>
                  <a:prstClr val="black"/>
                </a:solidFill>
                <a:latin typeface="Calibri" panose="020F0502020204030204" pitchFamily="34" charset="0"/>
                <a:ea typeface="Calibri" panose="020F0502020204030204" pitchFamily="34" charset="0"/>
                <a:cs typeface="Calibri" panose="020F0502020204030204" pitchFamily="34" charset="0"/>
              </a:rPr>
              <a:t> ohne Schuldennotlage-(Umschuldungs-)Episoden</a:t>
            </a:r>
            <a:endParaRPr kumimoji="0" lang="en-US" sz="14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Den Weg zu einer dauerhaften Erholung aufzeigen:</a:t>
            </a:r>
            <a:br>
              <a:rPr lang="en-US" sz="4000">
                <a:solidFill>
                  <a:schemeClr val="bg1"/>
                </a:solidFill>
              </a:rPr>
            </a:br>
            <a:br>
              <a:rPr lang="en-US" sz="4000">
                <a:solidFill>
                  <a:schemeClr val="bg1"/>
                </a:solidFill>
              </a:rPr>
            </a:br>
            <a:r>
              <a:rPr lang="en-US" sz="4000">
                <a:solidFill>
                  <a:schemeClr val="bg1"/>
                </a:solidFill>
              </a:rPr>
              <a:t>Transparenz kann helfen!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6600" b="1" kern="1200">
                <a:solidFill>
                  <a:schemeClr val="tx2"/>
                </a:solidFill>
                <a:latin typeface="+mj-lt"/>
                <a:ea typeface="+mj-ea"/>
                <a:cs typeface="+mj-cs"/>
              </a:rPr>
              <a:t>VIELEN DANK!</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Anhang Tabelle B1: Prognosen der Weltbank für Wachstum, Leistungsbilanz und Fiskalsaldo</a:t>
            </a:r>
            <a:endParaRPr lang="en-US"/>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Anhang Tabelle B2, Teil B (zwischen April 2021 und Oktober 2020):</a:t>
            </a:r>
            <a:endParaRPr lang="en-US" dirty="0"/>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pPr algn="ctr"/>
            <a:r>
              <a:rPr lang="en-US" sz="3600">
                <a:solidFill>
                  <a:schemeClr val="accent6">
                    <a:lumMod val="75000"/>
                  </a:schemeClr>
                </a:solidFill>
              </a:rPr>
              <a:t>Anhang Tabelle B3: Überblick über die Staatsverschuldung der MENA-Region</a:t>
            </a:r>
            <a:endParaRPr lang="en-US" sz="3600"/>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pPr algn="ctr"/>
            <a:r>
              <a:rPr lang="en-US" sz="3200">
                <a:solidFill>
                  <a:schemeClr val="accent6">
                    <a:lumMod val="75000"/>
                  </a:schemeClr>
                </a:solidFill>
              </a:rPr>
              <a:t>Anhang Tabelle B4: Merkmale der Volkswirtschaften der MENA-Region</a:t>
            </a:r>
            <a:endParaRPr lang="en-US" sz="3200"/>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