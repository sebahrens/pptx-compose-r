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91" r:id="rId1"/>
  </p:sldMasterIdLst>
  <p:notesMasterIdLst>
    <p:notesMasterId r:id="rId24"/>
  </p:notesMasterIdLst>
  <p:sldIdLst>
    <p:sldId id="256" r:id="rId2"/>
    <p:sldId id="365" r:id="rId3"/>
    <p:sldId id="358" r:id="rId4"/>
    <p:sldId id="350" r:id="rId5"/>
    <p:sldId id="363" r:id="rId6"/>
    <p:sldId id="326" r:id="rId7"/>
    <p:sldId id="359" r:id="rId8"/>
    <p:sldId id="360" r:id="rId9"/>
    <p:sldId id="330" r:id="rId10"/>
    <p:sldId id="362" r:id="rId11"/>
    <p:sldId id="351" r:id="rId12"/>
    <p:sldId id="352" r:id="rId13"/>
    <p:sldId id="321" r:id="rId14"/>
    <p:sldId id="354" r:id="rId15"/>
    <p:sldId id="355" r:id="rId16"/>
    <p:sldId id="356" r:id="rId17"/>
    <p:sldId id="357" r:id="rId18"/>
    <p:sldId id="341" r:id="rId19"/>
    <p:sldId id="342" r:id="rId20"/>
    <p:sldId id="364" r:id="rId21"/>
    <p:sldId id="343" r:id="rId22"/>
    <p:sldId id="34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berta V. Gatti" initials="RVG" lastIdx="5" clrIdx="0">
    <p:extLst>
      <p:ext uri="{19B8F6BF-5375-455C-9EA6-DF929625EA0E}">
        <p15:presenceInfo xmlns:p15="http://schemas.microsoft.com/office/powerpoint/2012/main" userId="S::rgatti@worldbank.org::4669a211-9409-462c-a5ba-744e608e5075" providerId="AD"/>
      </p:ext>
    </p:extLst>
  </p:cmAuthor>
  <p:cmAuthor id="2" name="Daniel Lederman" initials="DL" lastIdx="3" clrIdx="1">
    <p:extLst>
      <p:ext uri="{19B8F6BF-5375-455C-9EA6-DF929625EA0E}">
        <p15:presenceInfo xmlns:p15="http://schemas.microsoft.com/office/powerpoint/2012/main" userId="S::dlederman@worldbank.org::1717aa51-3143-4b6e-925f-5e4be8b8c4a8" providerId="AD"/>
      </p:ext>
    </p:extLst>
  </p:cmAuthor>
  <p:cmAuthor id="3" name="Rachel Yuting Fan" initials="RF" lastIdx="1" clrIdx="2">
    <p:extLst>
      <p:ext uri="{19B8F6BF-5375-455C-9EA6-DF929625EA0E}">
        <p15:presenceInfo xmlns:p15="http://schemas.microsoft.com/office/powerpoint/2012/main" userId="S::yfan3@worldbank.org::66e14fa4-6725-4ae8-b1dc-83dd4e77b6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B500"/>
    <a:srgbClr val="3333FF"/>
    <a:srgbClr val="ED7D31"/>
    <a:srgbClr val="CB605D"/>
    <a:srgbClr val="2F5597"/>
    <a:srgbClr val="196491"/>
    <a:srgbClr val="4472C4"/>
    <a:srgbClr val="19A5BE"/>
    <a:srgbClr val="0587AF"/>
    <a:srgbClr val="3E76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77D7A0-5EF6-4CD7-8DCD-B950BE6510C8}" v="287" dt="2021-04-13T21:46:32.608"/>
    <p1510:client id="{FEB0873D-DF27-44DD-8110-6D0DD2789106}" v="63" dt="2021-04-14T20:43:29.2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372" autoAdjust="0"/>
  </p:normalViewPr>
  <p:slideViewPr>
    <p:cSldViewPr snapToGrid="0">
      <p:cViewPr varScale="1">
        <p:scale>
          <a:sx n="62" d="100"/>
          <a:sy n="62" d="100"/>
        </p:scale>
        <p:origin x="8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16/Remaining%20charts/Figure%20I.2%20GDP%20Levels%20Forecast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worldbankgroup-my.sharepoint.com/personal/dlederman_worldbank_org/Documents/MNACE/Macro/MNA%20Regional%20projection%20SM2021.xlsx" TargetMode="External"/></Relationships>
</file>

<file path=ppt/charts/_rels/chart6.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25/charts%20and%20tables/Figure%20I.6.xlsx" TargetMode="Externa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Charts/Debt%20and%20Growth%20around%20the%20onset%20of%20ND%20-%20Charts%20in%20Excel%20-%20Feb%2015%202021.xlsx"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0.11268079599780198"/>
          <c:w val="0.90074412597077791"/>
          <c:h val="0.64741019330936822"/>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6BAB-4F75-B55F-1AC2B8DF0E5E}"/>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6BAB-4F75-B55F-1AC2B8DF0E5E}"/>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25811407720377E-2"/>
          <c:y val="0.12710355158550823"/>
          <c:w val="0.90074412597077791"/>
          <c:h val="0.59066819772528434"/>
        </c:manualLayout>
      </c:layout>
      <c:lineChart>
        <c:grouping val="standard"/>
        <c:varyColors val="0"/>
        <c:ser>
          <c:idx val="1"/>
          <c:order val="0"/>
          <c:tx>
            <c:strRef>
              <c:f>Chart!$C$12</c:f>
              <c:strCache>
                <c:ptCount val="1"/>
                <c:pt idx="0">
                  <c:v>MENA (Pandemic)</c:v>
                </c:pt>
              </c:strCache>
            </c:strRef>
          </c:tx>
          <c:spPr>
            <a:ln w="28575" cap="rnd">
              <a:solidFill>
                <a:schemeClr val="tx1">
                  <a:lumMod val="85000"/>
                  <a:lumOff val="15000"/>
                </a:schemeClr>
              </a:solidFill>
              <a:prstDash val="solid"/>
              <a:round/>
            </a:ln>
            <a:effectLst/>
          </c:spPr>
          <c:marker>
            <c:symbol val="none"/>
          </c:marker>
          <c:cat>
            <c:numRef>
              <c:f>Chart!$D$2:$F$2</c:f>
              <c:numCache>
                <c:formatCode>General</c:formatCode>
                <c:ptCount val="3"/>
                <c:pt idx="0">
                  <c:v>2019</c:v>
                </c:pt>
                <c:pt idx="1">
                  <c:v>2020</c:v>
                </c:pt>
                <c:pt idx="2">
                  <c:v>2021</c:v>
                </c:pt>
              </c:numCache>
            </c:numRef>
          </c:cat>
          <c:val>
            <c:numRef>
              <c:f>Chart!$D$12:$F$12</c:f>
              <c:numCache>
                <c:formatCode>0.00</c:formatCode>
                <c:ptCount val="3"/>
                <c:pt idx="0" formatCode="General">
                  <c:v>1</c:v>
                </c:pt>
                <c:pt idx="1">
                  <c:v>0.96171929121017452</c:v>
                </c:pt>
                <c:pt idx="2">
                  <c:v>0.98323631076857831</c:v>
                </c:pt>
              </c:numCache>
            </c:numRef>
          </c:val>
          <c:smooth val="0"/>
          <c:extLst>
            <c:ext xmlns:c16="http://schemas.microsoft.com/office/drawing/2014/chart" uri="{C3380CC4-5D6E-409C-BE32-E72D297353CC}">
              <c16:uniqueId val="{00000000-2B98-4321-B705-84ACEF110239}"/>
            </c:ext>
          </c:extLst>
        </c:ser>
        <c:ser>
          <c:idx val="0"/>
          <c:order val="1"/>
          <c:tx>
            <c:strRef>
              <c:f>Chart!$C$11</c:f>
              <c:strCache>
                <c:ptCount val="1"/>
                <c:pt idx="0">
                  <c:v>MENA (No Pandemic)</c:v>
                </c:pt>
              </c:strCache>
            </c:strRef>
          </c:tx>
          <c:spPr>
            <a:ln w="28575" cap="rnd">
              <a:solidFill>
                <a:schemeClr val="tx1">
                  <a:lumMod val="85000"/>
                  <a:lumOff val="15000"/>
                </a:schemeClr>
              </a:solidFill>
              <a:prstDash val="sysDot"/>
              <a:round/>
            </a:ln>
            <a:effectLst/>
          </c:spPr>
          <c:marker>
            <c:symbol val="none"/>
          </c:marker>
          <c:cat>
            <c:numRef>
              <c:f>Chart!$D$2:$F$2</c:f>
              <c:numCache>
                <c:formatCode>General</c:formatCode>
                <c:ptCount val="3"/>
                <c:pt idx="0">
                  <c:v>2019</c:v>
                </c:pt>
                <c:pt idx="1">
                  <c:v>2020</c:v>
                </c:pt>
                <c:pt idx="2">
                  <c:v>2021</c:v>
                </c:pt>
              </c:numCache>
            </c:numRef>
          </c:cat>
          <c:val>
            <c:numRef>
              <c:f>Chart!$D$11:$F$11</c:f>
              <c:numCache>
                <c:formatCode>0.00</c:formatCode>
                <c:ptCount val="3"/>
                <c:pt idx="0" formatCode="General">
                  <c:v>1</c:v>
                </c:pt>
                <c:pt idx="1">
                  <c:v>1.0261292386054992</c:v>
                </c:pt>
                <c:pt idx="2">
                  <c:v>1.0556341166000847</c:v>
                </c:pt>
              </c:numCache>
            </c:numRef>
          </c:val>
          <c:smooth val="0"/>
          <c:extLst>
            <c:ext xmlns:c16="http://schemas.microsoft.com/office/drawing/2014/chart" uri="{C3380CC4-5D6E-409C-BE32-E72D297353CC}">
              <c16:uniqueId val="{00000001-2B98-4321-B705-84ACEF11023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8.5735402808573544E-2"/>
          <c:y val="0.83392292325099115"/>
          <c:w val="0.82657494864139769"/>
          <c:h val="5.9435120363723865E-2"/>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7052931529792159"/>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E083-4420-80D3-F6A015A0B9F9}"/>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E083-4420-80D3-F6A015A0B9F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4952350392614244"/>
        </c:manualLayout>
      </c:layout>
      <c:lineChart>
        <c:grouping val="standard"/>
        <c:varyColors val="0"/>
        <c:ser>
          <c:idx val="3"/>
          <c:order val="0"/>
          <c:tx>
            <c:strRef>
              <c:f>'Chart_GDPPC (2)'!$C$17</c:f>
              <c:strCache>
                <c:ptCount val="1"/>
                <c:pt idx="0">
                  <c:v>GCC (Pandemic)</c:v>
                </c:pt>
              </c:strCache>
            </c:strRef>
          </c:tx>
          <c:spPr>
            <a:ln w="28575" cap="rnd">
              <a:solidFill>
                <a:srgbClr val="0000FF"/>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(2)'!$H$17:$J$17</c:f>
              <c:numCache>
                <c:formatCode>0.00</c:formatCode>
                <c:ptCount val="3"/>
                <c:pt idx="0" formatCode="General">
                  <c:v>1</c:v>
                </c:pt>
                <c:pt idx="1">
                  <c:v>0.93650959999999994</c:v>
                </c:pt>
                <c:pt idx="2">
                  <c:v>0.94243882957951997</c:v>
                </c:pt>
              </c:numCache>
            </c:numRef>
          </c:val>
          <c:smooth val="0"/>
          <c:extLst>
            <c:ext xmlns:c16="http://schemas.microsoft.com/office/drawing/2014/chart" uri="{C3380CC4-5D6E-409C-BE32-E72D297353CC}">
              <c16:uniqueId val="{00000000-3664-4EFC-8F32-30FED89B15B1}"/>
            </c:ext>
          </c:extLst>
        </c:ser>
        <c:ser>
          <c:idx val="0"/>
          <c:order val="1"/>
          <c:tx>
            <c:strRef>
              <c:f>'Chart_GDPPC (2)'!$C$14</c:f>
              <c:strCache>
                <c:ptCount val="1"/>
                <c:pt idx="0">
                  <c:v>GCC(No Pandemic)</c:v>
                </c:pt>
              </c:strCache>
            </c:strRef>
          </c:tx>
          <c:spPr>
            <a:ln w="28575" cap="rnd">
              <a:solidFill>
                <a:srgbClr val="0000FF"/>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(2)'!$H$14:$J$14</c:f>
              <c:numCache>
                <c:formatCode>0.00</c:formatCode>
                <c:ptCount val="3"/>
                <c:pt idx="0" formatCode="General">
                  <c:v>1</c:v>
                </c:pt>
                <c:pt idx="1">
                  <c:v>1.0044674</c:v>
                </c:pt>
                <c:pt idx="2">
                  <c:v>1.0149573543984201</c:v>
                </c:pt>
              </c:numCache>
            </c:numRef>
          </c:val>
          <c:smooth val="0"/>
          <c:extLst>
            <c:ext xmlns:c16="http://schemas.microsoft.com/office/drawing/2014/chart" uri="{C3380CC4-5D6E-409C-BE32-E72D297353CC}">
              <c16:uniqueId val="{00000001-3664-4EFC-8F32-30FED89B15B1}"/>
            </c:ext>
          </c:extLst>
        </c:ser>
        <c:ser>
          <c:idx val="4"/>
          <c:order val="2"/>
          <c:tx>
            <c:strRef>
              <c:f>'Chart_GDPPC (2)'!$C$18</c:f>
              <c:strCache>
                <c:ptCount val="1"/>
                <c:pt idx="0">
                  <c:v>Developing Oil Exporters(Pandemic)</c:v>
                </c:pt>
              </c:strCache>
            </c:strRef>
          </c:tx>
          <c:spPr>
            <a:ln w="28575" cap="rnd">
              <a:solidFill>
                <a:srgbClr val="FFC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(2)'!$H$18:$J$18</c:f>
              <c:numCache>
                <c:formatCode>0.00</c:formatCode>
                <c:ptCount val="3"/>
                <c:pt idx="0" formatCode="General">
                  <c:v>1</c:v>
                </c:pt>
                <c:pt idx="1">
                  <c:v>0.94933089999999998</c:v>
                </c:pt>
                <c:pt idx="2">
                  <c:v>0.95489739666524009</c:v>
                </c:pt>
              </c:numCache>
            </c:numRef>
          </c:val>
          <c:smooth val="0"/>
          <c:extLst>
            <c:ext xmlns:c16="http://schemas.microsoft.com/office/drawing/2014/chart" uri="{C3380CC4-5D6E-409C-BE32-E72D297353CC}">
              <c16:uniqueId val="{00000002-3664-4EFC-8F32-30FED89B15B1}"/>
            </c:ext>
          </c:extLst>
        </c:ser>
        <c:ser>
          <c:idx val="1"/>
          <c:order val="3"/>
          <c:tx>
            <c:strRef>
              <c:f>'Chart_GDPPC (2)'!$C$15</c:f>
              <c:strCache>
                <c:ptCount val="1"/>
                <c:pt idx="0">
                  <c:v>Developing Oil Exporters(No Pandemic)</c:v>
                </c:pt>
              </c:strCache>
            </c:strRef>
          </c:tx>
          <c:spPr>
            <a:ln w="28575" cap="rnd">
              <a:solidFill>
                <a:schemeClr val="accent2"/>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(2)'!$H$15:$J$15</c:f>
              <c:numCache>
                <c:formatCode>0.00</c:formatCode>
                <c:ptCount val="3"/>
                <c:pt idx="0" formatCode="General">
                  <c:v>1</c:v>
                </c:pt>
                <c:pt idx="1">
                  <c:v>1.0011833999999999</c:v>
                </c:pt>
                <c:pt idx="2">
                  <c:v>1.0013826354966</c:v>
                </c:pt>
              </c:numCache>
            </c:numRef>
          </c:val>
          <c:smooth val="0"/>
          <c:extLst>
            <c:ext xmlns:c16="http://schemas.microsoft.com/office/drawing/2014/chart" uri="{C3380CC4-5D6E-409C-BE32-E72D297353CC}">
              <c16:uniqueId val="{00000003-3664-4EFC-8F32-30FED89B15B1}"/>
            </c:ext>
          </c:extLst>
        </c:ser>
        <c:ser>
          <c:idx val="5"/>
          <c:order val="4"/>
          <c:tx>
            <c:strRef>
              <c:f>'Chart_GDPPC (2)'!$C$19</c:f>
              <c:strCache>
                <c:ptCount val="1"/>
                <c:pt idx="0">
                  <c:v>Developing Oil Importers(Pandemic)</c:v>
                </c:pt>
              </c:strCache>
            </c:strRef>
          </c:tx>
          <c:spPr>
            <a:ln w="28575" cap="rnd">
              <a:solidFill>
                <a:srgbClr val="FF0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(2)'!$H$19:$J$19</c:f>
              <c:numCache>
                <c:formatCode>0.00</c:formatCode>
                <c:ptCount val="3"/>
                <c:pt idx="0" formatCode="General">
                  <c:v>1</c:v>
                </c:pt>
                <c:pt idx="1">
                  <c:v>0.96993750000000001</c:v>
                </c:pt>
                <c:pt idx="2">
                  <c:v>0.97470115404375002</c:v>
                </c:pt>
              </c:numCache>
            </c:numRef>
          </c:val>
          <c:smooth val="0"/>
          <c:extLst>
            <c:ext xmlns:c16="http://schemas.microsoft.com/office/drawing/2014/chart" uri="{C3380CC4-5D6E-409C-BE32-E72D297353CC}">
              <c16:uniqueId val="{00000004-3664-4EFC-8F32-30FED89B15B1}"/>
            </c:ext>
          </c:extLst>
        </c:ser>
        <c:ser>
          <c:idx val="2"/>
          <c:order val="5"/>
          <c:tx>
            <c:strRef>
              <c:f>'Chart_GDPPC (2)'!$C$16</c:f>
              <c:strCache>
                <c:ptCount val="1"/>
                <c:pt idx="0">
                  <c:v>Developing Oil Importers(No Pandemic)</c:v>
                </c:pt>
              </c:strCache>
            </c:strRef>
          </c:tx>
          <c:spPr>
            <a:ln w="28575" cap="rnd">
              <a:solidFill>
                <a:srgbClr val="FF0000"/>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(2)'!$H$16:$J$16</c:f>
              <c:numCache>
                <c:formatCode>0.00</c:formatCode>
                <c:ptCount val="3"/>
                <c:pt idx="0" formatCode="General">
                  <c:v>1</c:v>
                </c:pt>
                <c:pt idx="1">
                  <c:v>1.028662</c:v>
                </c:pt>
                <c:pt idx="2">
                  <c:v>1.0608815454315998</c:v>
                </c:pt>
              </c:numCache>
            </c:numRef>
          </c:val>
          <c:smooth val="0"/>
          <c:extLst>
            <c:ext xmlns:c16="http://schemas.microsoft.com/office/drawing/2014/chart" uri="{C3380CC4-5D6E-409C-BE32-E72D297353CC}">
              <c16:uniqueId val="{00000005-3664-4EFC-8F32-30FED89B15B1}"/>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77196428098854863"/>
          <c:w val="1"/>
          <c:h val="0.22803571901145139"/>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r>
              <a:rPr lang="en-US"/>
              <a:t>Prognostizierte Armut (unter 5,5 $/Tag)</a:t>
            </a:r>
          </a:p>
        </c:rich>
      </c:tx>
      <c:overlay val="0"/>
      <c:spPr>
        <a:noFill/>
        <a:ln>
          <a:noFill/>
        </a:ln>
        <a:effectLst/>
      </c:spPr>
      <c:txPr>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'MNA Number of Poor MPO SM2021'!$B$2</c:f>
              <c:strCache>
                <c:ptCount val="1"/>
                <c:pt idx="0">
                  <c:v>Without Covid Crisis</c:v>
                </c:pt>
              </c:strCache>
            </c:strRef>
          </c:tx>
          <c:spPr>
            <a:ln w="25400" cap="rnd">
              <a:solidFill>
                <a:schemeClr val="tx2"/>
              </a:solidFill>
              <a:round/>
            </a:ln>
            <a:effectLst/>
          </c:spPr>
          <c:marker>
            <c:symbol val="none"/>
          </c:marker>
          <c:dLbls>
            <c:dLbl>
              <c:idx val="2"/>
              <c:layout>
                <c:manualLayout>
                  <c:x val="-7.7881619937694704E-3"/>
                  <c:y val="-3.728155795814484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SM2021'!$B$14:$B$16</c:f>
              <c:numCache>
                <c:formatCode>0</c:formatCode>
                <c:ptCount val="3"/>
                <c:pt idx="0">
                  <c:v>176</c:v>
                </c:pt>
                <c:pt idx="1">
                  <c:v>177.05680000000001</c:v>
                </c:pt>
                <c:pt idx="2">
                  <c:v>177.77209999999999</c:v>
                </c:pt>
              </c:numCache>
            </c:numRef>
          </c:val>
          <c:smooth val="0"/>
          <c:extLst>
            <c:ext xmlns:c16="http://schemas.microsoft.com/office/drawing/2014/chart" uri="{C3380CC4-5D6E-409C-BE32-E72D297353CC}">
              <c16:uniqueId val="{00000001-4283-4B1E-B7E2-8C24C3A405BD}"/>
            </c:ext>
          </c:extLst>
        </c:ser>
        <c:ser>
          <c:idx val="2"/>
          <c:order val="1"/>
          <c:tx>
            <c:strRef>
              <c:f>'MNA Number of Poor MPO SM2021'!$C$2</c:f>
              <c:strCache>
                <c:ptCount val="1"/>
                <c:pt idx="0">
                  <c:v>Apr-21</c:v>
                </c:pt>
              </c:strCache>
            </c:strRef>
          </c:tx>
          <c:spPr>
            <a:ln w="28575" cap="rnd">
              <a:solidFill>
                <a:srgbClr val="FF0000"/>
              </a:solidFill>
              <a:round/>
            </a:ln>
            <a:effectLst/>
          </c:spPr>
          <c:marker>
            <c:symbol val="none"/>
          </c:marker>
          <c:dLbls>
            <c:dLbl>
              <c:idx val="2"/>
              <c:layout>
                <c:manualLayout>
                  <c:x val="0"/>
                  <c:y val="5.12621421924491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SM2021'!$C$14:$C$16</c:f>
              <c:numCache>
                <c:formatCode>0</c:formatCode>
                <c:ptCount val="3"/>
                <c:pt idx="0">
                  <c:v>176</c:v>
                </c:pt>
                <c:pt idx="1">
                  <c:v>189.38800000000001</c:v>
                </c:pt>
                <c:pt idx="2">
                  <c:v>192</c:v>
                </c:pt>
              </c:numCache>
            </c:numRef>
          </c:val>
          <c:smooth val="0"/>
          <c:extLst>
            <c:ext xmlns:c16="http://schemas.microsoft.com/office/drawing/2014/chart" uri="{C3380CC4-5D6E-409C-BE32-E72D297353CC}">
              <c16:uniqueId val="{00000003-4283-4B1E-B7E2-8C24C3A405BD}"/>
            </c:ext>
          </c:extLst>
        </c:ser>
        <c:dLbls>
          <c:showLegendKey val="0"/>
          <c:showVal val="0"/>
          <c:showCatName val="0"/>
          <c:showSerName val="0"/>
          <c:showPercent val="0"/>
          <c:showBubbleSize val="0"/>
        </c:dLbls>
        <c:smooth val="0"/>
        <c:axId val="2073196911"/>
        <c:axId val="2084462927"/>
      </c:lineChart>
      <c:catAx>
        <c:axId val="2073196911"/>
        <c:scaling>
          <c:orientation val="minMax"/>
        </c:scaling>
        <c:delete val="0"/>
        <c:axPos val="b"/>
        <c:numFmt formatCode="0"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84462927"/>
        <c:crosses val="autoZero"/>
        <c:auto val="1"/>
        <c:lblAlgn val="ctr"/>
        <c:lblOffset val="100"/>
        <c:noMultiLvlLbl val="0"/>
      </c:catAx>
      <c:valAx>
        <c:axId val="2084462927"/>
        <c:scaling>
          <c:orientation val="minMax"/>
          <c:max val="200"/>
          <c:min val="17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r>
                  <a:rPr lang="en-US"/>
                  <a:t>Zahl der armen Menschen</a:t>
                </a:r>
              </a:p>
              <a:p>
                <a:pPr>
                  <a:defRPr/>
                </a:pPr>
                <a:r>
                  <a:rPr lang="en-US"/>
                  <a:t> (Millionen) </a:t>
                </a:r>
              </a:p>
            </c:rich>
          </c:tx>
          <c:overlay val="0"/>
          <c:spPr>
            <a:noFill/>
            <a:ln>
              <a:noFill/>
            </a:ln>
            <a:effectLst/>
          </c:spPr>
          <c:txPr>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73196911"/>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800"/>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716668973258148E-2"/>
          <c:y val="4.858627550588434E-2"/>
          <c:w val="0.88837722506045158"/>
          <c:h val="0.7594238911090887"/>
        </c:manualLayout>
      </c:layout>
      <c:barChart>
        <c:barDir val="col"/>
        <c:grouping val="clustered"/>
        <c:varyColors val="0"/>
        <c:ser>
          <c:idx val="0"/>
          <c:order val="0"/>
          <c:tx>
            <c:strRef>
              <c:f>'Updated chart'!$C$4</c:f>
              <c:strCache>
                <c:ptCount val="1"/>
                <c:pt idx="0">
                  <c:v>MENA</c:v>
                </c:pt>
              </c:strCache>
            </c:strRef>
          </c:tx>
          <c:spPr>
            <a:solidFill>
              <a:schemeClr val="accent1"/>
            </a:solidFill>
            <a:ln>
              <a:noFill/>
            </a:ln>
            <a:effectLst/>
          </c:spPr>
          <c:invertIfNegative val="0"/>
          <c:dPt>
            <c:idx val="2"/>
            <c:invertIfNegative val="0"/>
            <c:bubble3D val="0"/>
            <c:spPr>
              <a:solidFill>
                <a:schemeClr val="accent1"/>
              </a:solidFill>
              <a:ln w="22225">
                <a:solidFill>
                  <a:srgbClr val="FF0000"/>
                </a:solidFill>
              </a:ln>
              <a:effectLst/>
            </c:spPr>
            <c:extLst>
              <c:ext xmlns:c16="http://schemas.microsoft.com/office/drawing/2014/chart" uri="{C3380CC4-5D6E-409C-BE32-E72D297353CC}">
                <c16:uniqueId val="{00000001-F870-4F4B-BA66-43254CD5C9D7}"/>
              </c:ext>
            </c:extLst>
          </c:dPt>
          <c:dPt>
            <c:idx val="5"/>
            <c:invertIfNegative val="0"/>
            <c:bubble3D val="0"/>
            <c:spPr>
              <a:solidFill>
                <a:schemeClr val="accent1"/>
              </a:solidFill>
              <a:ln w="19050">
                <a:solidFill>
                  <a:srgbClr val="FF0000"/>
                </a:solidFill>
              </a:ln>
              <a:effectLst/>
            </c:spPr>
            <c:extLst>
              <c:ext xmlns:c16="http://schemas.microsoft.com/office/drawing/2014/chart" uri="{C3380CC4-5D6E-409C-BE32-E72D297353CC}">
                <c16:uniqueId val="{00000000-F870-4F4B-BA66-43254CD5C9D7}"/>
              </c:ext>
            </c:extLst>
          </c:dPt>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chart'!$C$5:$C$10</c:f>
              <c:numCache>
                <c:formatCode>0.0</c:formatCode>
                <c:ptCount val="6"/>
                <c:pt idx="0">
                  <c:v>40.064999999999998</c:v>
                </c:pt>
                <c:pt idx="1">
                  <c:v>48.02</c:v>
                </c:pt>
                <c:pt idx="2">
                  <c:v>71.790000000000006</c:v>
                </c:pt>
                <c:pt idx="3">
                  <c:v>48.435000000000002</c:v>
                </c:pt>
                <c:pt idx="4">
                  <c:v>68.275000000000006</c:v>
                </c:pt>
                <c:pt idx="5">
                  <c:v>87.17</c:v>
                </c:pt>
              </c:numCache>
            </c:numRef>
          </c:val>
          <c:extLst>
            <c:ext xmlns:c16="http://schemas.microsoft.com/office/drawing/2014/chart" uri="{C3380CC4-5D6E-409C-BE32-E72D297353CC}">
              <c16:uniqueId val="{00000000-35F5-43DC-9A95-3E399FCEB07A}"/>
            </c:ext>
          </c:extLst>
        </c:ser>
        <c:dLbls>
          <c:showLegendKey val="0"/>
          <c:showVal val="0"/>
          <c:showCatName val="0"/>
          <c:showSerName val="0"/>
          <c:showPercent val="0"/>
          <c:showBubbleSize val="0"/>
        </c:dLbls>
        <c:gapWidth val="219"/>
        <c:overlap val="-27"/>
        <c:axId val="1607758176"/>
        <c:axId val="1050194784"/>
      </c:barChart>
      <c:lineChart>
        <c:grouping val="stacked"/>
        <c:varyColors val="0"/>
        <c:ser>
          <c:idx val="1"/>
          <c:order val="1"/>
          <c:tx>
            <c:strRef>
              <c:f>'Updated chart'!$D$4</c:f>
              <c:strCache>
                <c:ptCount val="1"/>
                <c:pt idx="0">
                  <c:v>World</c:v>
                </c:pt>
              </c:strCache>
            </c:strRef>
          </c:tx>
          <c:spPr>
            <a:ln w="28575" cap="rnd">
              <a:noFill/>
              <a:round/>
            </a:ln>
            <a:effectLst/>
          </c:spPr>
          <c:marker>
            <c:symbol val="diamond"/>
            <c:size val="10"/>
            <c:spPr>
              <a:solidFill>
                <a:srgbClr val="FFC000"/>
              </a:solidFill>
              <a:ln w="9525">
                <a:noFill/>
              </a:ln>
              <a:effectLst/>
            </c:spPr>
          </c:marker>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chart'!$D$5:$D$10</c:f>
              <c:numCache>
                <c:formatCode>0.0</c:formatCode>
                <c:ptCount val="6"/>
                <c:pt idx="0">
                  <c:v>56.88</c:v>
                </c:pt>
                <c:pt idx="1">
                  <c:v>51.5</c:v>
                </c:pt>
                <c:pt idx="2">
                  <c:v>51.5</c:v>
                </c:pt>
                <c:pt idx="3">
                  <c:v>65.34</c:v>
                </c:pt>
                <c:pt idx="4">
                  <c:v>64.94</c:v>
                </c:pt>
                <c:pt idx="5">
                  <c:v>64.94</c:v>
                </c:pt>
              </c:numCache>
            </c:numRef>
          </c:val>
          <c:smooth val="0"/>
          <c:extLst>
            <c:ext xmlns:c16="http://schemas.microsoft.com/office/drawing/2014/chart" uri="{C3380CC4-5D6E-409C-BE32-E72D297353CC}">
              <c16:uniqueId val="{00000001-35F5-43DC-9A95-3E399FCEB07A}"/>
            </c:ext>
          </c:extLst>
        </c:ser>
        <c:dLbls>
          <c:showLegendKey val="0"/>
          <c:showVal val="0"/>
          <c:showCatName val="0"/>
          <c:showSerName val="0"/>
          <c:showPercent val="0"/>
          <c:showBubbleSize val="0"/>
        </c:dLbls>
        <c:marker val="1"/>
        <c:smooth val="0"/>
        <c:axId val="1607758176"/>
        <c:axId val="1050194784"/>
      </c:lineChart>
      <c:catAx>
        <c:axId val="1607758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050194784"/>
        <c:crosses val="autoZero"/>
        <c:auto val="1"/>
        <c:lblAlgn val="ctr"/>
        <c:lblOffset val="100"/>
        <c:noMultiLvlLbl val="0"/>
      </c:catAx>
      <c:valAx>
        <c:axId val="1050194784"/>
        <c:scaling>
          <c:orientation val="minMax"/>
          <c:max val="90"/>
          <c:min val="3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r>
                  <a:rPr lang="en-US"/>
                  <a:t>Prozent des BIP</a:t>
                </a:r>
              </a:p>
            </c:rich>
          </c:tx>
          <c:overlay val="0"/>
          <c:spPr>
            <a:noFill/>
            <a:ln>
              <a:noFill/>
            </a:ln>
            <a:effectLst/>
          </c:spPr>
          <c:txPr>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07758176"/>
        <c:crosses val="autoZero"/>
        <c:crossBetween val="between"/>
        <c:majorUnit val="10"/>
      </c:valAx>
      <c:spPr>
        <a:noFill/>
        <a:ln>
          <a:noFill/>
        </a:ln>
        <a:effectLst/>
      </c:spPr>
    </c:plotArea>
    <c:legend>
      <c:legendPos val="b"/>
      <c:layout>
        <c:manualLayout>
          <c:xMode val="edge"/>
          <c:yMode val="edge"/>
          <c:x val="0.42397564764738338"/>
          <c:y val="9.0603039539412414E-2"/>
          <c:w val="0.19802725247870306"/>
          <c:h val="5.1870078740157477E-2"/>
        </c:manualLayout>
      </c:layout>
      <c:overlay val="0"/>
      <c:spPr>
        <a:noFill/>
        <a:ln>
          <a:noFill/>
        </a:ln>
        <a:effectLst/>
      </c:spPr>
      <c:txPr>
        <a:bodyPr rot="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Public debt growth, annual %</c:v>
          </c:tx>
          <c:spPr>
            <a:ln w="38100" cap="rnd">
              <a:solidFill>
                <a:schemeClr val="accent1"/>
              </a:solidFill>
              <a:round/>
            </a:ln>
            <a:effectLst/>
          </c:spPr>
          <c:marker>
            <c:symbol val="none"/>
          </c:marker>
          <c:cat>
            <c:strRef>
              <c:f>'Debt and growth around ND'!$A$6:$A$12</c:f>
              <c:strCache>
                <c:ptCount val="7"/>
                <c:pt idx="0">
                  <c:v>-3</c:v>
                </c:pt>
                <c:pt idx="1">
                  <c:v>-2</c:v>
                </c:pt>
                <c:pt idx="2">
                  <c:v>-1</c:v>
                </c:pt>
                <c:pt idx="3">
                  <c:v>t=0</c:v>
                </c:pt>
                <c:pt idx="4">
                  <c:v>1</c:v>
                </c:pt>
                <c:pt idx="5">
                  <c:v>2</c:v>
                </c:pt>
                <c:pt idx="6">
                  <c:v>3</c:v>
                </c:pt>
              </c:strCache>
            </c:strRef>
          </c:cat>
          <c:val>
            <c:numRef>
              <c:f>'Debt and growth around ND'!$B$6:$B$12</c:f>
              <c:numCache>
                <c:formatCode>General</c:formatCode>
                <c:ptCount val="7"/>
                <c:pt idx="0">
                  <c:v>1.5039039999999999</c:v>
                </c:pt>
                <c:pt idx="1">
                  <c:v>1.5404850000000001</c:v>
                </c:pt>
                <c:pt idx="2">
                  <c:v>-9.6194500000000002E-2</c:v>
                </c:pt>
                <c:pt idx="3">
                  <c:v>2.1170059999999999</c:v>
                </c:pt>
                <c:pt idx="4">
                  <c:v>2.8611559999999998</c:v>
                </c:pt>
                <c:pt idx="5">
                  <c:v>2.1736270000000002</c:v>
                </c:pt>
                <c:pt idx="6">
                  <c:v>3.0054970000000001</c:v>
                </c:pt>
              </c:numCache>
            </c:numRef>
          </c:val>
          <c:smooth val="0"/>
          <c:extLst>
            <c:ext xmlns:c16="http://schemas.microsoft.com/office/drawing/2014/chart" uri="{C3380CC4-5D6E-409C-BE32-E72D297353CC}">
              <c16:uniqueId val="{00000000-8BCE-4A79-9946-A1127268D8C2}"/>
            </c:ext>
          </c:extLst>
        </c:ser>
        <c:dLbls>
          <c:showLegendKey val="0"/>
          <c:showVal val="0"/>
          <c:showCatName val="0"/>
          <c:showSerName val="0"/>
          <c:showPercent val="0"/>
          <c:showBubbleSize val="0"/>
        </c:dLbls>
        <c:marker val="1"/>
        <c:smooth val="0"/>
        <c:axId val="1709305471"/>
        <c:axId val="1709473311"/>
      </c:lineChart>
      <c:lineChart>
        <c:grouping val="standard"/>
        <c:varyColors val="0"/>
        <c:ser>
          <c:idx val="1"/>
          <c:order val="1"/>
          <c:tx>
            <c:v>GDP growth, annual % (RHS)</c:v>
          </c:tx>
          <c:spPr>
            <a:ln w="38100" cap="rnd">
              <a:solidFill>
                <a:schemeClr val="accent2"/>
              </a:solidFill>
              <a:round/>
            </a:ln>
            <a:effectLst/>
          </c:spPr>
          <c:marker>
            <c:symbol val="none"/>
          </c:marker>
          <c:val>
            <c:numRef>
              <c:f>'Debt and growth around ND'!$K$6:$K$12</c:f>
              <c:numCache>
                <c:formatCode>General</c:formatCode>
                <c:ptCount val="7"/>
                <c:pt idx="0">
                  <c:v>0.34509000000000001</c:v>
                </c:pt>
                <c:pt idx="1">
                  <c:v>-0.46748010000000001</c:v>
                </c:pt>
                <c:pt idx="2">
                  <c:v>5.9531800000000003E-2</c:v>
                </c:pt>
                <c:pt idx="3">
                  <c:v>-1.2658739999999999</c:v>
                </c:pt>
                <c:pt idx="4">
                  <c:v>0.8953776</c:v>
                </c:pt>
                <c:pt idx="5">
                  <c:v>0.83357159999999997</c:v>
                </c:pt>
                <c:pt idx="6">
                  <c:v>0.38140819999999998</c:v>
                </c:pt>
              </c:numCache>
            </c:numRef>
          </c:val>
          <c:smooth val="0"/>
          <c:extLst>
            <c:ext xmlns:c16="http://schemas.microsoft.com/office/drawing/2014/chart" uri="{C3380CC4-5D6E-409C-BE32-E72D297353CC}">
              <c16:uniqueId val="{00000001-8BCE-4A79-9946-A1127268D8C2}"/>
            </c:ext>
          </c:extLst>
        </c:ser>
        <c:dLbls>
          <c:showLegendKey val="0"/>
          <c:showVal val="0"/>
          <c:showCatName val="0"/>
          <c:showSerName val="0"/>
          <c:showPercent val="0"/>
          <c:showBubbleSize val="0"/>
        </c:dLbls>
        <c:marker val="1"/>
        <c:smooth val="0"/>
        <c:axId val="1739304079"/>
        <c:axId val="1738977855"/>
      </c:lineChart>
      <c:catAx>
        <c:axId val="170930547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Zeitachse rund um</a:t>
                </a:r>
                <a:r>
                  <a:rPr lang="en-US" sz="1400" baseline="0"/>
                  <a:t> eine große Naturkatastrophe, Jahre</a:t>
                </a:r>
                <a:endParaRPr lang="en-US" sz="1400"/>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cross"/>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709473311"/>
        <c:crosses val="autoZero"/>
        <c:auto val="1"/>
        <c:lblAlgn val="ctr"/>
        <c:lblOffset val="100"/>
        <c:noMultiLvlLbl val="0"/>
      </c:catAx>
      <c:valAx>
        <c:axId val="1709473311"/>
        <c:scaling>
          <c:orientation val="minMax"/>
          <c:max val="4"/>
          <c:min val="-2"/>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Wachstum der öffentlichen Verschuldung, jährlich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09305471"/>
        <c:crossesAt val="1"/>
        <c:crossBetween val="between"/>
      </c:valAx>
      <c:valAx>
        <c:axId val="1738977855"/>
        <c:scaling>
          <c:orientation val="minMax"/>
          <c:max val="4"/>
          <c:min val="-2"/>
        </c:scaling>
        <c:delete val="0"/>
        <c:axPos val="r"/>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BIP-Wachstum, jährlich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39304079"/>
        <c:crosses val="max"/>
        <c:crossBetween val="between"/>
        <c:majorUnit val="1"/>
      </c:valAx>
      <c:catAx>
        <c:axId val="1739304079"/>
        <c:scaling>
          <c:orientation val="minMax"/>
        </c:scaling>
        <c:delete val="1"/>
        <c:axPos val="b"/>
        <c:majorTickMark val="none"/>
        <c:minorTickMark val="none"/>
        <c:tickLblPos val="nextTo"/>
        <c:crossAx val="1738977855"/>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400"/>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386046874330844E-2"/>
          <c:y val="0.1030504196755347"/>
          <c:w val="0.9171607069692761"/>
          <c:h val="0.5904744701514798"/>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21AD-4551-83AD-A1F56CC8E8AA}"/>
              </c:ext>
            </c:extLst>
          </c:dPt>
          <c:dPt>
            <c:idx val="3"/>
            <c:invertIfNegative val="0"/>
            <c:bubble3D val="0"/>
            <c:spPr>
              <a:solidFill>
                <a:srgbClr val="ED7D31"/>
              </a:solidFill>
              <a:ln>
                <a:noFill/>
              </a:ln>
              <a:effectLst/>
            </c:spPr>
            <c:extLst>
              <c:ext xmlns:c16="http://schemas.microsoft.com/office/drawing/2014/chart" uri="{C3380CC4-5D6E-409C-BE32-E72D297353CC}">
                <c16:uniqueId val="{00000003-21AD-4551-83AD-A1F56CC8E8AA}"/>
              </c:ext>
            </c:extLst>
          </c:dPt>
          <c:dPt>
            <c:idx val="4"/>
            <c:invertIfNegative val="0"/>
            <c:bubble3D val="0"/>
            <c:spPr>
              <a:solidFill>
                <a:srgbClr val="C00000"/>
              </a:solidFill>
              <a:ln>
                <a:noFill/>
              </a:ln>
              <a:effectLst/>
            </c:spPr>
            <c:extLst>
              <c:ext xmlns:c16="http://schemas.microsoft.com/office/drawing/2014/chart" uri="{C3380CC4-5D6E-409C-BE32-E72D297353CC}">
                <c16:uniqueId val="{00000005-21AD-4551-83AD-A1F56CC8E8AA}"/>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GDP_WGI_restructuring_MENA_MEAN!$B$18:$B$22</c:f>
              <c:numCache>
                <c:formatCode>General</c:formatCode>
                <c:ptCount val="5"/>
                <c:pt idx="0">
                  <c:v>-2.2000000000000002</c:v>
                </c:pt>
                <c:pt idx="1">
                  <c:v>-2.8</c:v>
                </c:pt>
                <c:pt idx="2" formatCode="0.0">
                  <c:v>-1.1000000000000001</c:v>
                </c:pt>
                <c:pt idx="3" formatCode="0.0">
                  <c:v>-0.89999999999999991</c:v>
                </c:pt>
                <c:pt idx="4" formatCode="0.0">
                  <c:v>-4.53</c:v>
                </c:pt>
              </c:numCache>
            </c:numRef>
          </c:val>
          <c:extLst>
            <c:ext xmlns:c16="http://schemas.microsoft.com/office/drawing/2014/chart" uri="{C3380CC4-5D6E-409C-BE32-E72D297353CC}">
              <c16:uniqueId val="{00000006-21AD-4551-83AD-A1F56CC8E8AA}"/>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937318324869835"/>
          <c:y val="9.4976903629199125E-2"/>
          <c:w val="0.8028636683326662"/>
          <c:h val="0.66176821711719025"/>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3391-466D-A183-A0B1EC0BC0CB}"/>
              </c:ext>
            </c:extLst>
          </c:dPt>
          <c:dPt>
            <c:idx val="3"/>
            <c:invertIfNegative val="0"/>
            <c:bubble3D val="0"/>
            <c:spPr>
              <a:solidFill>
                <a:srgbClr val="ED7D31"/>
              </a:solidFill>
              <a:ln>
                <a:noFill/>
              </a:ln>
              <a:effectLst/>
            </c:spPr>
            <c:extLst>
              <c:ext xmlns:c16="http://schemas.microsoft.com/office/drawing/2014/chart" uri="{C3380CC4-5D6E-409C-BE32-E72D297353CC}">
                <c16:uniqueId val="{00000003-3391-466D-A183-A0B1EC0BC0CB}"/>
              </c:ext>
            </c:extLst>
          </c:dPt>
          <c:dPt>
            <c:idx val="4"/>
            <c:invertIfNegative val="0"/>
            <c:bubble3D val="0"/>
            <c:spPr>
              <a:solidFill>
                <a:srgbClr val="C00000"/>
              </a:solidFill>
              <a:ln>
                <a:noFill/>
              </a:ln>
              <a:effectLst/>
            </c:spPr>
            <c:extLst>
              <c:ext xmlns:c16="http://schemas.microsoft.com/office/drawing/2014/chart" uri="{C3380CC4-5D6E-409C-BE32-E72D297353CC}">
                <c16:uniqueId val="{00000005-3391-466D-A183-A0B1EC0BC0CB}"/>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GDP_WGI_restructuring_MENA_MEAN!$E$18:$E$22</c:f>
              <c:numCache>
                <c:formatCode>General</c:formatCode>
                <c:ptCount val="5"/>
                <c:pt idx="0">
                  <c:v>-0.21000000000000002</c:v>
                </c:pt>
                <c:pt idx="1">
                  <c:v>-9.9999999999999978E-2</c:v>
                </c:pt>
                <c:pt idx="2" formatCode="0.00">
                  <c:v>-0.38999999999999996</c:v>
                </c:pt>
                <c:pt idx="3" formatCode="0.00">
                  <c:v>-4.9999999999999989E-2</c:v>
                </c:pt>
                <c:pt idx="4" formatCode="0.00">
                  <c:v>-0.23999999999999994</c:v>
                </c:pt>
              </c:numCache>
            </c:numRef>
          </c:val>
          <c:extLst>
            <c:ext xmlns:c16="http://schemas.microsoft.com/office/drawing/2014/chart" uri="{C3380CC4-5D6E-409C-BE32-E72D297353CC}">
              <c16:uniqueId val="{00000006-3391-466D-A183-A0B1EC0BC0CB}"/>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AF68A6-0B27-43CB-8248-7DE9D2A6B37F}"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92587851-84A6-4568-8B08-6D51B703929C}">
      <dgm:prSet/>
      <dgm:spPr/>
      <dgm:t>
        <a:bodyPr/>
        <a:lstStyle/>
        <a:p>
          <a:r>
            <a:rPr lang="en-US" dirty="0"/>
            <a:t>Die Region Naher Osten und Nordafrika (MENA) befindet sich </a:t>
          </a:r>
          <a:r>
            <a:rPr lang="en-US" u="none" dirty="0"/>
            <a:t>weiterhin in der Krise</a:t>
          </a:r>
        </a:p>
      </dgm:t>
    </dgm:pt>
    <dgm:pt modelId="{158163CE-1CC2-4E07-91E1-F1E920181DA2}" type="parTrans" cxnId="{9CCD2E21-3DE8-471D-B56F-284DFA48EB27}">
      <dgm:prSet/>
      <dgm:spPr/>
      <dgm:t>
        <a:bodyPr/>
        <a:lstStyle/>
        <a:p>
          <a:endParaRPr lang="en-US"/>
        </a:p>
      </dgm:t>
    </dgm:pt>
    <dgm:pt modelId="{9AB93057-3B02-4624-A372-BABB57384CEE}" type="sibTrans" cxnId="{9CCD2E21-3DE8-471D-B56F-284DFA48EB27}">
      <dgm:prSet/>
      <dgm:spPr/>
      <dgm:t>
        <a:bodyPr/>
        <a:lstStyle/>
        <a:p>
          <a:endParaRPr lang="en-US"/>
        </a:p>
      </dgm:t>
    </dgm:pt>
    <dgm:pt modelId="{B566D669-E864-40BE-BBAD-6A9D3D2DABC6}">
      <dgm:prSet/>
      <dgm:spPr/>
      <dgm:t>
        <a:bodyPr/>
        <a:lstStyle/>
        <a:p>
          <a:r>
            <a:rPr lang="en-US" dirty="0"/>
            <a:t>Die MENA-Länder stehen vor einem </a:t>
          </a:r>
          <a:r>
            <a:rPr lang="en-US" u="none" dirty="0"/>
            <a:t>Balanceakt</a:t>
          </a:r>
          <a:r>
            <a:rPr lang="en-US" u="sng" dirty="0"/>
            <a:t> </a:t>
          </a:r>
          <a:r>
            <a:rPr lang="en-US" dirty="0"/>
            <a:t>zwischen kurzfristigem Bedarf und langfristigen Risiken der öffentlichen Verschuldung</a:t>
          </a:r>
        </a:p>
      </dgm:t>
    </dgm:pt>
    <dgm:pt modelId="{04DEE1FA-25C0-4979-8FD8-C981B3D6CC74}" type="parTrans" cxnId="{4609355E-DCFD-431F-8CC1-FB31EAE75BC0}">
      <dgm:prSet/>
      <dgm:spPr/>
      <dgm:t>
        <a:bodyPr/>
        <a:lstStyle/>
        <a:p>
          <a:endParaRPr lang="en-US"/>
        </a:p>
      </dgm:t>
    </dgm:pt>
    <dgm:pt modelId="{E346FFF0-7AF4-4E4F-B340-091D5C363448}" type="sibTrans" cxnId="{4609355E-DCFD-431F-8CC1-FB31EAE75BC0}">
      <dgm:prSet/>
      <dgm:spPr/>
      <dgm:t>
        <a:bodyPr/>
        <a:lstStyle/>
        <a:p>
          <a:endParaRPr lang="en-US"/>
        </a:p>
      </dgm:t>
    </dgm:pt>
    <dgm:pt modelId="{800BF91D-A7D3-4C12-8ABB-CE46794FE386}">
      <dgm:prSet/>
      <dgm:spPr/>
      <dgm:t>
        <a:bodyPr/>
        <a:lstStyle/>
        <a:p>
          <a:r>
            <a:rPr lang="en-US" u="none" dirty="0"/>
            <a:t>Schwierige Entscheidungen: </a:t>
          </a:r>
          <a:r>
            <a:rPr lang="en-US" dirty="0"/>
            <a:t>Die Prioritäten der öffentlichen Ausgaben hängen von der Phase der Erholung ab</a:t>
          </a:r>
        </a:p>
      </dgm:t>
    </dgm:pt>
    <dgm:pt modelId="{DFF8B1CE-E8A4-4B0B-A8FF-C245E725248B}" type="parTrans" cxnId="{58091BB7-55F8-4752-ADD2-31F552EED30F}">
      <dgm:prSet/>
      <dgm:spPr/>
      <dgm:t>
        <a:bodyPr/>
        <a:lstStyle/>
        <a:p>
          <a:endParaRPr lang="en-US"/>
        </a:p>
      </dgm:t>
    </dgm:pt>
    <dgm:pt modelId="{9F80A130-9DA6-4E99-A4DC-FDE934631737}" type="sibTrans" cxnId="{58091BB7-55F8-4752-ADD2-31F552EED30F}">
      <dgm:prSet/>
      <dgm:spPr/>
      <dgm:t>
        <a:bodyPr/>
        <a:lstStyle/>
        <a:p>
          <a:endParaRPr lang="en-US"/>
        </a:p>
      </dgm:t>
    </dgm:pt>
    <dgm:pt modelId="{BA17275F-FFF3-42A7-91C5-A224E05D7148}">
      <dgm:prSet/>
      <dgm:spPr/>
      <dgm:t>
        <a:bodyPr/>
        <a:lstStyle/>
        <a:p>
          <a:r>
            <a:rPr lang="en-US" u="none" dirty="0"/>
            <a:t>Transparenz hilft! </a:t>
          </a:r>
          <a:r>
            <a:rPr lang="en-US" dirty="0"/>
            <a:t>Transparenz kann helfen, einen Weg zu einer dauerhaften Erholung für die MENA-Region zu ebnen</a:t>
          </a:r>
        </a:p>
      </dgm:t>
    </dgm:pt>
    <dgm:pt modelId="{9BD5A230-AF43-43F2-AE0A-7DF6020B3793}" type="parTrans" cxnId="{52E76714-6C08-4B67-B702-AB99A10D83BF}">
      <dgm:prSet/>
      <dgm:spPr/>
      <dgm:t>
        <a:bodyPr/>
        <a:lstStyle/>
        <a:p>
          <a:endParaRPr lang="en-US"/>
        </a:p>
      </dgm:t>
    </dgm:pt>
    <dgm:pt modelId="{096742C5-5D05-417C-B9C9-95A3D5E2E157}" type="sibTrans" cxnId="{52E76714-6C08-4B67-B702-AB99A10D83BF}">
      <dgm:prSet/>
      <dgm:spPr/>
      <dgm:t>
        <a:bodyPr/>
        <a:lstStyle/>
        <a:p>
          <a:endParaRPr lang="en-US"/>
        </a:p>
      </dgm:t>
    </dgm:pt>
    <dgm:pt modelId="{01F55391-EB55-4A2C-BC05-DE44CB54F36D}" type="pres">
      <dgm:prSet presAssocID="{D9AF68A6-0B27-43CB-8248-7DE9D2A6B37F}" presName="linear" presStyleCnt="0">
        <dgm:presLayoutVars>
          <dgm:animLvl val="lvl"/>
          <dgm:resizeHandles val="exact"/>
        </dgm:presLayoutVars>
      </dgm:prSet>
      <dgm:spPr/>
    </dgm:pt>
    <dgm:pt modelId="{14DD6E5F-2D29-4EEA-806E-E4CA13A0FA68}" type="pres">
      <dgm:prSet presAssocID="{92587851-84A6-4568-8B08-6D51B703929C}" presName="parentText" presStyleLbl="node1" presStyleIdx="0" presStyleCnt="4">
        <dgm:presLayoutVars>
          <dgm:chMax val="0"/>
          <dgm:bulletEnabled val="1"/>
        </dgm:presLayoutVars>
      </dgm:prSet>
      <dgm:spPr/>
    </dgm:pt>
    <dgm:pt modelId="{614DEC94-457F-4CAB-84FE-85EF0C2C53BA}" type="pres">
      <dgm:prSet presAssocID="{9AB93057-3B02-4624-A372-BABB57384CEE}" presName="spacer" presStyleCnt="0"/>
      <dgm:spPr/>
    </dgm:pt>
    <dgm:pt modelId="{D96F5C80-F371-4600-9BE9-3C3039E06725}" type="pres">
      <dgm:prSet presAssocID="{B566D669-E864-40BE-BBAD-6A9D3D2DABC6}" presName="parentText" presStyleLbl="node1" presStyleIdx="1" presStyleCnt="4">
        <dgm:presLayoutVars>
          <dgm:chMax val="0"/>
          <dgm:bulletEnabled val="1"/>
        </dgm:presLayoutVars>
      </dgm:prSet>
      <dgm:spPr/>
    </dgm:pt>
    <dgm:pt modelId="{FFC1CF6B-102E-4A3E-B647-00EB6F6B21CE}" type="pres">
      <dgm:prSet presAssocID="{E346FFF0-7AF4-4E4F-B340-091D5C363448}" presName="spacer" presStyleCnt="0"/>
      <dgm:spPr/>
    </dgm:pt>
    <dgm:pt modelId="{0E66F634-82D9-4910-9E9D-359C01088179}" type="pres">
      <dgm:prSet presAssocID="{800BF91D-A7D3-4C12-8ABB-CE46794FE386}" presName="parentText" presStyleLbl="node1" presStyleIdx="2" presStyleCnt="4">
        <dgm:presLayoutVars>
          <dgm:chMax val="0"/>
          <dgm:bulletEnabled val="1"/>
        </dgm:presLayoutVars>
      </dgm:prSet>
      <dgm:spPr/>
    </dgm:pt>
    <dgm:pt modelId="{F242B828-0BCB-492F-8D42-50F8C091A677}" type="pres">
      <dgm:prSet presAssocID="{9F80A130-9DA6-4E99-A4DC-FDE934631737}" presName="spacer" presStyleCnt="0"/>
      <dgm:spPr/>
    </dgm:pt>
    <dgm:pt modelId="{0D2D3FB6-6FCB-436E-AB5D-219E55D5915C}" type="pres">
      <dgm:prSet presAssocID="{BA17275F-FFF3-42A7-91C5-A224E05D7148}" presName="parentText" presStyleLbl="node1" presStyleIdx="3" presStyleCnt="4">
        <dgm:presLayoutVars>
          <dgm:chMax val="0"/>
          <dgm:bulletEnabled val="1"/>
        </dgm:presLayoutVars>
      </dgm:prSet>
      <dgm:spPr/>
    </dgm:pt>
  </dgm:ptLst>
  <dgm:cxnLst>
    <dgm:cxn modelId="{52E76714-6C08-4B67-B702-AB99A10D83BF}" srcId="{D9AF68A6-0B27-43CB-8248-7DE9D2A6B37F}" destId="{BA17275F-FFF3-42A7-91C5-A224E05D7148}" srcOrd="3" destOrd="0" parTransId="{9BD5A230-AF43-43F2-AE0A-7DF6020B3793}" sibTransId="{096742C5-5D05-417C-B9C9-95A3D5E2E157}"/>
    <dgm:cxn modelId="{9CCD2E21-3DE8-471D-B56F-284DFA48EB27}" srcId="{D9AF68A6-0B27-43CB-8248-7DE9D2A6B37F}" destId="{92587851-84A6-4568-8B08-6D51B703929C}" srcOrd="0" destOrd="0" parTransId="{158163CE-1CC2-4E07-91E1-F1E920181DA2}" sibTransId="{9AB93057-3B02-4624-A372-BABB57384CEE}"/>
    <dgm:cxn modelId="{4609355E-DCFD-431F-8CC1-FB31EAE75BC0}" srcId="{D9AF68A6-0B27-43CB-8248-7DE9D2A6B37F}" destId="{B566D669-E864-40BE-BBAD-6A9D3D2DABC6}" srcOrd="1" destOrd="0" parTransId="{04DEE1FA-25C0-4979-8FD8-C981B3D6CC74}" sibTransId="{E346FFF0-7AF4-4E4F-B340-091D5C363448}"/>
    <dgm:cxn modelId="{229AB950-B528-4949-A7C9-A806045B33EA}" type="presOf" srcId="{D9AF68A6-0B27-43CB-8248-7DE9D2A6B37F}" destId="{01F55391-EB55-4A2C-BC05-DE44CB54F36D}" srcOrd="0" destOrd="0" presId="urn:microsoft.com/office/officeart/2005/8/layout/vList2"/>
    <dgm:cxn modelId="{C4298591-0588-44D0-BF0C-AED6CA8A4C9E}" type="presOf" srcId="{B566D669-E864-40BE-BBAD-6A9D3D2DABC6}" destId="{D96F5C80-F371-4600-9BE9-3C3039E06725}" srcOrd="0" destOrd="0" presId="urn:microsoft.com/office/officeart/2005/8/layout/vList2"/>
    <dgm:cxn modelId="{58091BB7-55F8-4752-ADD2-31F552EED30F}" srcId="{D9AF68A6-0B27-43CB-8248-7DE9D2A6B37F}" destId="{800BF91D-A7D3-4C12-8ABB-CE46794FE386}" srcOrd="2" destOrd="0" parTransId="{DFF8B1CE-E8A4-4B0B-A8FF-C245E725248B}" sibTransId="{9F80A130-9DA6-4E99-A4DC-FDE934631737}"/>
    <dgm:cxn modelId="{BC4B4BB9-F27A-4D98-A5A0-3DEC08665362}" type="presOf" srcId="{BA17275F-FFF3-42A7-91C5-A224E05D7148}" destId="{0D2D3FB6-6FCB-436E-AB5D-219E55D5915C}" srcOrd="0" destOrd="0" presId="urn:microsoft.com/office/officeart/2005/8/layout/vList2"/>
    <dgm:cxn modelId="{C2636EB9-3D14-45FB-BEF4-4C959A87D05A}" type="presOf" srcId="{800BF91D-A7D3-4C12-8ABB-CE46794FE386}" destId="{0E66F634-82D9-4910-9E9D-359C01088179}" srcOrd="0" destOrd="0" presId="urn:microsoft.com/office/officeart/2005/8/layout/vList2"/>
    <dgm:cxn modelId="{E37D85FD-7DF3-4E5F-9E59-1B719CB6F69F}" type="presOf" srcId="{92587851-84A6-4568-8B08-6D51B703929C}" destId="{14DD6E5F-2D29-4EEA-806E-E4CA13A0FA68}" srcOrd="0" destOrd="0" presId="urn:microsoft.com/office/officeart/2005/8/layout/vList2"/>
    <dgm:cxn modelId="{1287E5E4-DABF-4563-849E-5FB28D3D93B8}" type="presParOf" srcId="{01F55391-EB55-4A2C-BC05-DE44CB54F36D}" destId="{14DD6E5F-2D29-4EEA-806E-E4CA13A0FA68}" srcOrd="0" destOrd="0" presId="urn:microsoft.com/office/officeart/2005/8/layout/vList2"/>
    <dgm:cxn modelId="{BD7B71BA-CA10-45BF-B9AB-D3F8EE8691A5}" type="presParOf" srcId="{01F55391-EB55-4A2C-BC05-DE44CB54F36D}" destId="{614DEC94-457F-4CAB-84FE-85EF0C2C53BA}" srcOrd="1" destOrd="0" presId="urn:microsoft.com/office/officeart/2005/8/layout/vList2"/>
    <dgm:cxn modelId="{127AD47B-FB85-4C35-A738-9CFCA9C18583}" type="presParOf" srcId="{01F55391-EB55-4A2C-BC05-DE44CB54F36D}" destId="{D96F5C80-F371-4600-9BE9-3C3039E06725}" srcOrd="2" destOrd="0" presId="urn:microsoft.com/office/officeart/2005/8/layout/vList2"/>
    <dgm:cxn modelId="{828BFBF1-5C99-4E40-8C78-F1843EA94C79}" type="presParOf" srcId="{01F55391-EB55-4A2C-BC05-DE44CB54F36D}" destId="{FFC1CF6B-102E-4A3E-B647-00EB6F6B21CE}" srcOrd="3" destOrd="0" presId="urn:microsoft.com/office/officeart/2005/8/layout/vList2"/>
    <dgm:cxn modelId="{FFF7B6C1-4473-4C84-A249-F5E301C3E6FE}" type="presParOf" srcId="{01F55391-EB55-4A2C-BC05-DE44CB54F36D}" destId="{0E66F634-82D9-4910-9E9D-359C01088179}" srcOrd="4" destOrd="0" presId="urn:microsoft.com/office/officeart/2005/8/layout/vList2"/>
    <dgm:cxn modelId="{E2B25B95-A3E9-4535-8D87-F8BAB423A57E}" type="presParOf" srcId="{01F55391-EB55-4A2C-BC05-DE44CB54F36D}" destId="{F242B828-0BCB-492F-8D42-50F8C091A677}" srcOrd="5" destOrd="0" presId="urn:microsoft.com/office/officeart/2005/8/layout/vList2"/>
    <dgm:cxn modelId="{840DB4DE-75CD-4047-B24D-7F9E55F5D07E}" type="presParOf" srcId="{01F55391-EB55-4A2C-BC05-DE44CB54F36D}" destId="{0D2D3FB6-6FCB-436E-AB5D-219E55D5915C}"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E453A1C-C013-45A0-9AC4-08B27B746158}"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78A85BF-ED1B-4739-AFE0-FF57B8BCD15D}">
      <dgm:prSet/>
      <dgm:spPr/>
      <dgm:t>
        <a:bodyPr/>
        <a:lstStyle/>
        <a:p>
          <a:r>
            <a:rPr lang="en-US" b="1" u="sng" dirty="0"/>
            <a:t>Eine Region weiterhin in der Krise</a:t>
          </a:r>
          <a:r>
            <a:rPr lang="en-US" dirty="0"/>
            <a:t>: Beziffert das sozioökonomische Leid</a:t>
          </a:r>
        </a:p>
      </dgm:t>
    </dgm:pt>
    <dgm:pt modelId="{8985A238-BC72-4756-815E-1124DAA28DD1}" type="parTrans" cxnId="{567F8EB1-A2A6-43C0-8538-42380A2B87B9}">
      <dgm:prSet/>
      <dgm:spPr/>
      <dgm:t>
        <a:bodyPr/>
        <a:lstStyle/>
        <a:p>
          <a:endParaRPr lang="en-US"/>
        </a:p>
      </dgm:t>
    </dgm:pt>
    <dgm:pt modelId="{6C333D1B-138F-480B-911E-C4CF462C0E94}" type="sibTrans" cxnId="{567F8EB1-A2A6-43C0-8538-42380A2B87B9}">
      <dgm:prSet/>
      <dgm:spPr/>
      <dgm:t>
        <a:bodyPr/>
        <a:lstStyle/>
        <a:p>
          <a:endParaRPr lang="en-US"/>
        </a:p>
      </dgm:t>
    </dgm:pt>
    <dgm:pt modelId="{B6A1EA96-B89A-4059-BD88-22A6CDE7F103}">
      <dgm:prSet/>
      <dgm:spPr/>
      <dgm:t>
        <a:bodyPr/>
        <a:lstStyle/>
        <a:p>
          <a:r>
            <a:rPr lang="en-US" b="1" u="sng" dirty="0"/>
            <a:t>Der Balanceakt der Verschuldung</a:t>
          </a:r>
          <a:r>
            <a:rPr lang="en-US" dirty="0"/>
            <a:t>: Stellt die Spannungen zwischen unmittelbaren sozioökonomischen Bedürfnissen und langfristigen Risiken in einer Region dar, die bereits 2019 ein hohes Schuldenniveau aufwies</a:t>
          </a:r>
        </a:p>
      </dgm:t>
    </dgm:pt>
    <dgm:pt modelId="{83614294-7ACF-46FC-AE5F-ADE8DFAB9F74}" type="parTrans" cxnId="{A51B6882-8B10-431A-A70A-0288624BCE4B}">
      <dgm:prSet/>
      <dgm:spPr/>
      <dgm:t>
        <a:bodyPr/>
        <a:lstStyle/>
        <a:p>
          <a:endParaRPr lang="en-US"/>
        </a:p>
      </dgm:t>
    </dgm:pt>
    <dgm:pt modelId="{D7782144-EB6D-4F0E-9F9D-B8B8D03863CD}" type="sibTrans" cxnId="{A51B6882-8B10-431A-A70A-0288624BCE4B}">
      <dgm:prSet/>
      <dgm:spPr/>
      <dgm:t>
        <a:bodyPr/>
        <a:lstStyle/>
        <a:p>
          <a:endParaRPr lang="en-US"/>
        </a:p>
      </dgm:t>
    </dgm:pt>
    <dgm:pt modelId="{0549E55A-F15A-4E72-9305-3058778A67F1}">
      <dgm:prSet/>
      <dgm:spPr/>
      <dgm:t>
        <a:bodyPr/>
        <a:lstStyle/>
        <a:p>
          <a:r>
            <a:rPr lang="en-US" b="1" u="sng" dirty="0"/>
            <a:t>Schwierige Entscheidungen stehen bevor</a:t>
          </a:r>
          <a:r>
            <a:rPr lang="en-US" dirty="0"/>
            <a:t>: Erörtert Prioritäten </a:t>
          </a:r>
          <a:r>
            <a:rPr lang="en-US" u="sng" dirty="0"/>
            <a:t>während </a:t>
          </a:r>
          <a:r>
            <a:rPr lang="en-US" dirty="0"/>
            <a:t>der Pandemie, </a:t>
          </a:r>
          <a:r>
            <a:rPr lang="en-US" u="sng" dirty="0"/>
            <a:t>nach </a:t>
          </a:r>
          <a:r>
            <a:rPr lang="en-US" dirty="0"/>
            <a:t>der Pandemie und </a:t>
          </a:r>
          <a:r>
            <a:rPr lang="en-US" u="sng" dirty="0"/>
            <a:t>darüber hinaus</a:t>
          </a:r>
          <a:endParaRPr lang="en-US" dirty="0"/>
        </a:p>
      </dgm:t>
    </dgm:pt>
    <dgm:pt modelId="{31EBDD61-DD4F-48EF-B6EF-A7E08F43F5AB}" type="parTrans" cxnId="{4B3D0E2C-F67A-4EDC-947B-3F5AB14BFE1C}">
      <dgm:prSet/>
      <dgm:spPr/>
      <dgm:t>
        <a:bodyPr/>
        <a:lstStyle/>
        <a:p>
          <a:endParaRPr lang="en-US"/>
        </a:p>
      </dgm:t>
    </dgm:pt>
    <dgm:pt modelId="{15894171-49E8-4E86-96F9-D85C78B434FA}" type="sibTrans" cxnId="{4B3D0E2C-F67A-4EDC-947B-3F5AB14BFE1C}">
      <dgm:prSet/>
      <dgm:spPr/>
      <dgm:t>
        <a:bodyPr/>
        <a:lstStyle/>
        <a:p>
          <a:endParaRPr lang="en-US"/>
        </a:p>
      </dgm:t>
    </dgm:pt>
    <dgm:pt modelId="{470E7B5F-D031-419A-8E4C-0A128392953F}">
      <dgm:prSet/>
      <dgm:spPr/>
      <dgm:t>
        <a:bodyPr/>
        <a:lstStyle/>
        <a:p>
          <a:r>
            <a:rPr lang="en-US" b="1" u="sng"/>
            <a:t>Transparenz hilft</a:t>
          </a:r>
          <a:r>
            <a:rPr lang="en-US"/>
            <a:t>: Hebt die Rolle der Institutionen, insbesondere der Transparenz, beim Ebnen eines Weges zur Erholung für den Nahen Osten und Nordafrika hervor</a:t>
          </a:r>
        </a:p>
      </dgm:t>
    </dgm:pt>
    <dgm:pt modelId="{5344519F-2818-4265-83D3-3C4F2536129A}" type="parTrans" cxnId="{8A0B5E4A-C93D-4B42-A56B-A5B965B3E152}">
      <dgm:prSet/>
      <dgm:spPr/>
      <dgm:t>
        <a:bodyPr/>
        <a:lstStyle/>
        <a:p>
          <a:endParaRPr lang="en-US"/>
        </a:p>
      </dgm:t>
    </dgm:pt>
    <dgm:pt modelId="{CEFECD7D-282C-4C05-BF33-E452350E853E}" type="sibTrans" cxnId="{8A0B5E4A-C93D-4B42-A56B-A5B965B3E152}">
      <dgm:prSet/>
      <dgm:spPr/>
      <dgm:t>
        <a:bodyPr/>
        <a:lstStyle/>
        <a:p>
          <a:endParaRPr lang="en-US"/>
        </a:p>
      </dgm:t>
    </dgm:pt>
    <dgm:pt modelId="{10D41824-E2E0-4A40-BFA0-315DC363E98D}" type="pres">
      <dgm:prSet presAssocID="{4E453A1C-C013-45A0-9AC4-08B27B746158}" presName="linear" presStyleCnt="0">
        <dgm:presLayoutVars>
          <dgm:animLvl val="lvl"/>
          <dgm:resizeHandles val="exact"/>
        </dgm:presLayoutVars>
      </dgm:prSet>
      <dgm:spPr/>
    </dgm:pt>
    <dgm:pt modelId="{6DCCB891-F357-46F4-9B3B-5A1FAD10338C}" type="pres">
      <dgm:prSet presAssocID="{478A85BF-ED1B-4739-AFE0-FF57B8BCD15D}" presName="parentText" presStyleLbl="node1" presStyleIdx="0" presStyleCnt="4">
        <dgm:presLayoutVars>
          <dgm:chMax val="0"/>
          <dgm:bulletEnabled val="1"/>
        </dgm:presLayoutVars>
      </dgm:prSet>
      <dgm:spPr/>
    </dgm:pt>
    <dgm:pt modelId="{A33B56D8-FB7B-452E-BA6B-9633FA9FE910}" type="pres">
      <dgm:prSet presAssocID="{6C333D1B-138F-480B-911E-C4CF462C0E94}" presName="spacer" presStyleCnt="0"/>
      <dgm:spPr/>
    </dgm:pt>
    <dgm:pt modelId="{0CB6004F-D074-49DB-ADFA-3BF18BB52CB1}" type="pres">
      <dgm:prSet presAssocID="{B6A1EA96-B89A-4059-BD88-22A6CDE7F103}" presName="parentText" presStyleLbl="node1" presStyleIdx="1" presStyleCnt="4">
        <dgm:presLayoutVars>
          <dgm:chMax val="0"/>
          <dgm:bulletEnabled val="1"/>
        </dgm:presLayoutVars>
      </dgm:prSet>
      <dgm:spPr/>
    </dgm:pt>
    <dgm:pt modelId="{C3AE512B-CA52-4BE7-AB40-F806EA6D959C}" type="pres">
      <dgm:prSet presAssocID="{D7782144-EB6D-4F0E-9F9D-B8B8D03863CD}" presName="spacer" presStyleCnt="0"/>
      <dgm:spPr/>
    </dgm:pt>
    <dgm:pt modelId="{B2AF7659-42A0-4D9B-914F-EB8D8F53052D}" type="pres">
      <dgm:prSet presAssocID="{0549E55A-F15A-4E72-9305-3058778A67F1}" presName="parentText" presStyleLbl="node1" presStyleIdx="2" presStyleCnt="4">
        <dgm:presLayoutVars>
          <dgm:chMax val="0"/>
          <dgm:bulletEnabled val="1"/>
        </dgm:presLayoutVars>
      </dgm:prSet>
      <dgm:spPr/>
    </dgm:pt>
    <dgm:pt modelId="{BCD91F1D-16EA-4D57-9D52-8E43730C93ED}" type="pres">
      <dgm:prSet presAssocID="{15894171-49E8-4E86-96F9-D85C78B434FA}" presName="spacer" presStyleCnt="0"/>
      <dgm:spPr/>
    </dgm:pt>
    <dgm:pt modelId="{4F1BF5D5-3EC4-46A9-A9BD-274664B9C165}" type="pres">
      <dgm:prSet presAssocID="{470E7B5F-D031-419A-8E4C-0A128392953F}" presName="parentText" presStyleLbl="node1" presStyleIdx="3" presStyleCnt="4">
        <dgm:presLayoutVars>
          <dgm:chMax val="0"/>
          <dgm:bulletEnabled val="1"/>
        </dgm:presLayoutVars>
      </dgm:prSet>
      <dgm:spPr/>
    </dgm:pt>
  </dgm:ptLst>
  <dgm:cxnLst>
    <dgm:cxn modelId="{B49A6107-BF4E-4BF6-B54E-6B57343DF58F}" type="presOf" srcId="{0549E55A-F15A-4E72-9305-3058778A67F1}" destId="{B2AF7659-42A0-4D9B-914F-EB8D8F53052D}" srcOrd="0" destOrd="0" presId="urn:microsoft.com/office/officeart/2005/8/layout/vList2"/>
    <dgm:cxn modelId="{9BDDE40A-EDA1-420B-8C60-ADAB3864F1D7}" type="presOf" srcId="{B6A1EA96-B89A-4059-BD88-22A6CDE7F103}" destId="{0CB6004F-D074-49DB-ADFA-3BF18BB52CB1}" srcOrd="0" destOrd="0" presId="urn:microsoft.com/office/officeart/2005/8/layout/vList2"/>
    <dgm:cxn modelId="{4B3D0E2C-F67A-4EDC-947B-3F5AB14BFE1C}" srcId="{4E453A1C-C013-45A0-9AC4-08B27B746158}" destId="{0549E55A-F15A-4E72-9305-3058778A67F1}" srcOrd="2" destOrd="0" parTransId="{31EBDD61-DD4F-48EF-B6EF-A7E08F43F5AB}" sibTransId="{15894171-49E8-4E86-96F9-D85C78B434FA}"/>
    <dgm:cxn modelId="{B6ECD22C-5E2B-4F99-9F07-6C21C170978E}" type="presOf" srcId="{478A85BF-ED1B-4739-AFE0-FF57B8BCD15D}" destId="{6DCCB891-F357-46F4-9B3B-5A1FAD10338C}" srcOrd="0" destOrd="0" presId="urn:microsoft.com/office/officeart/2005/8/layout/vList2"/>
    <dgm:cxn modelId="{8A0B5E4A-C93D-4B42-A56B-A5B965B3E152}" srcId="{4E453A1C-C013-45A0-9AC4-08B27B746158}" destId="{470E7B5F-D031-419A-8E4C-0A128392953F}" srcOrd="3" destOrd="0" parTransId="{5344519F-2818-4265-83D3-3C4F2536129A}" sibTransId="{CEFECD7D-282C-4C05-BF33-E452350E853E}"/>
    <dgm:cxn modelId="{C234C375-6DD6-4326-ADD1-640F6CB605DA}" type="presOf" srcId="{470E7B5F-D031-419A-8E4C-0A128392953F}" destId="{4F1BF5D5-3EC4-46A9-A9BD-274664B9C165}" srcOrd="0" destOrd="0" presId="urn:microsoft.com/office/officeart/2005/8/layout/vList2"/>
    <dgm:cxn modelId="{A51B6882-8B10-431A-A70A-0288624BCE4B}" srcId="{4E453A1C-C013-45A0-9AC4-08B27B746158}" destId="{B6A1EA96-B89A-4059-BD88-22A6CDE7F103}" srcOrd="1" destOrd="0" parTransId="{83614294-7ACF-46FC-AE5F-ADE8DFAB9F74}" sibTransId="{D7782144-EB6D-4F0E-9F9D-B8B8D03863CD}"/>
    <dgm:cxn modelId="{567F8EB1-A2A6-43C0-8538-42380A2B87B9}" srcId="{4E453A1C-C013-45A0-9AC4-08B27B746158}" destId="{478A85BF-ED1B-4739-AFE0-FF57B8BCD15D}" srcOrd="0" destOrd="0" parTransId="{8985A238-BC72-4756-815E-1124DAA28DD1}" sibTransId="{6C333D1B-138F-480B-911E-C4CF462C0E94}"/>
    <dgm:cxn modelId="{247BB1C7-1AE1-47BF-AD0A-D79FE5272B5F}" type="presOf" srcId="{4E453A1C-C013-45A0-9AC4-08B27B746158}" destId="{10D41824-E2E0-4A40-BFA0-315DC363E98D}" srcOrd="0" destOrd="0" presId="urn:microsoft.com/office/officeart/2005/8/layout/vList2"/>
    <dgm:cxn modelId="{A0B0154E-F761-4E18-9201-5F3DE6B1E6E1}" type="presParOf" srcId="{10D41824-E2E0-4A40-BFA0-315DC363E98D}" destId="{6DCCB891-F357-46F4-9B3B-5A1FAD10338C}" srcOrd="0" destOrd="0" presId="urn:microsoft.com/office/officeart/2005/8/layout/vList2"/>
    <dgm:cxn modelId="{4E3E8A43-ACB6-4F2A-AC9F-5192C261212B}" type="presParOf" srcId="{10D41824-E2E0-4A40-BFA0-315DC363E98D}" destId="{A33B56D8-FB7B-452E-BA6B-9633FA9FE910}" srcOrd="1" destOrd="0" presId="urn:microsoft.com/office/officeart/2005/8/layout/vList2"/>
    <dgm:cxn modelId="{EC643C13-FAB9-460C-801E-A68BF9B37CD1}" type="presParOf" srcId="{10D41824-E2E0-4A40-BFA0-315DC363E98D}" destId="{0CB6004F-D074-49DB-ADFA-3BF18BB52CB1}" srcOrd="2" destOrd="0" presId="urn:microsoft.com/office/officeart/2005/8/layout/vList2"/>
    <dgm:cxn modelId="{7ACCBAD9-EF29-4753-B034-E94DAA85A5E1}" type="presParOf" srcId="{10D41824-E2E0-4A40-BFA0-315DC363E98D}" destId="{C3AE512B-CA52-4BE7-AB40-F806EA6D959C}" srcOrd="3" destOrd="0" presId="urn:microsoft.com/office/officeart/2005/8/layout/vList2"/>
    <dgm:cxn modelId="{C5AEB76C-4477-4D92-9E49-EF5AA4F0A0FA}" type="presParOf" srcId="{10D41824-E2E0-4A40-BFA0-315DC363E98D}" destId="{B2AF7659-42A0-4D9B-914F-EB8D8F53052D}" srcOrd="4" destOrd="0" presId="urn:microsoft.com/office/officeart/2005/8/layout/vList2"/>
    <dgm:cxn modelId="{B923671E-ED76-4A4B-85D4-C902CB9ED378}" type="presParOf" srcId="{10D41824-E2E0-4A40-BFA0-315DC363E98D}" destId="{BCD91F1D-16EA-4D57-9D52-8E43730C93ED}" srcOrd="5" destOrd="0" presId="urn:microsoft.com/office/officeart/2005/8/layout/vList2"/>
    <dgm:cxn modelId="{CE6626B9-87A9-48A6-883D-B077170B7D31}" type="presParOf" srcId="{10D41824-E2E0-4A40-BFA0-315DC363E98D}" destId="{4F1BF5D5-3EC4-46A9-A9BD-274664B9C16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A3D0F16-AF2C-4555-9594-58F3086D41DE}"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BDC752EB-DB5E-4CD9-BA97-52C6491819F1}">
      <dgm:prSet/>
      <dgm:spPr/>
      <dgm:t>
        <a:bodyPr/>
        <a:lstStyle/>
        <a:p>
          <a:r>
            <a:rPr lang="en-US"/>
            <a:t>Während der Pandemie</a:t>
          </a:r>
        </a:p>
      </dgm:t>
    </dgm:pt>
    <dgm:pt modelId="{F09C80BA-A12D-4170-BA75-9E294135B37B}" type="parTrans" cxnId="{54E14923-43C1-4135-9F52-595DA9F4B402}">
      <dgm:prSet/>
      <dgm:spPr/>
      <dgm:t>
        <a:bodyPr/>
        <a:lstStyle/>
        <a:p>
          <a:endParaRPr lang="en-US"/>
        </a:p>
      </dgm:t>
    </dgm:pt>
    <dgm:pt modelId="{2C96CA52-4110-42D0-AFDE-D29AFEF09231}" type="sibTrans" cxnId="{54E14923-43C1-4135-9F52-595DA9F4B402}">
      <dgm:prSet/>
      <dgm:spPr/>
      <dgm:t>
        <a:bodyPr/>
        <a:lstStyle/>
        <a:p>
          <a:endParaRPr lang="en-US"/>
        </a:p>
      </dgm:t>
    </dgm:pt>
    <dgm:pt modelId="{33BA5400-EDA6-4988-99DF-8C11D77952FD}">
      <dgm:prSet/>
      <dgm:spPr/>
      <dgm:t>
        <a:bodyPr/>
        <a:lstStyle/>
        <a:p>
          <a:pPr>
            <a:buNone/>
          </a:pPr>
          <a:r>
            <a:rPr lang="en-US" sz="1600" i="1"/>
            <a:t>Kosten senken, Erholung beschleunigen</a:t>
          </a:r>
        </a:p>
      </dgm:t>
    </dgm:pt>
    <dgm:pt modelId="{7C43D5E6-C5A2-421A-85DB-D8A8C062A28B}" type="parTrans" cxnId="{E79E30E7-9A7A-410B-B01E-31F4FDF41787}">
      <dgm:prSet/>
      <dgm:spPr/>
      <dgm:t>
        <a:bodyPr/>
        <a:lstStyle/>
        <a:p>
          <a:endParaRPr lang="en-US"/>
        </a:p>
      </dgm:t>
    </dgm:pt>
    <dgm:pt modelId="{7B546DFF-ABAA-409B-9E9C-0700675172A9}" type="sibTrans" cxnId="{E79E30E7-9A7A-410B-B01E-31F4FDF41787}">
      <dgm:prSet/>
      <dgm:spPr/>
      <dgm:t>
        <a:bodyPr/>
        <a:lstStyle/>
        <a:p>
          <a:endParaRPr lang="en-US"/>
        </a:p>
      </dgm:t>
    </dgm:pt>
    <dgm:pt modelId="{AD11B55B-20BA-40AF-A955-BD9CFE4791A1}">
      <dgm:prSet custT="1"/>
      <dgm:spPr/>
      <dgm:t>
        <a:bodyPr/>
        <a:lstStyle/>
        <a:p>
          <a:pPr>
            <a:buFont typeface="Arial" panose="020B0604020202020204" pitchFamily="34" charset="0"/>
            <a:buChar char="•"/>
          </a:pPr>
          <a:r>
            <a:rPr lang="en-US" sz="1400" dirty="0"/>
            <a:t>Überwachung und Transparenz im öffentlichen Gesundheitswesen können die Kosten der Pandemie senken.</a:t>
          </a:r>
        </a:p>
      </dgm:t>
    </dgm:pt>
    <dgm:pt modelId="{81FE0E18-C532-4793-94C3-CD4C357EE104}" type="parTrans" cxnId="{411E632B-B129-4087-A37E-61AC10D5FB98}">
      <dgm:prSet/>
      <dgm:spPr/>
      <dgm:t>
        <a:bodyPr/>
        <a:lstStyle/>
        <a:p>
          <a:endParaRPr lang="en-US"/>
        </a:p>
      </dgm:t>
    </dgm:pt>
    <dgm:pt modelId="{AE0189AD-F506-44DD-B05B-28D80C67031D}" type="sibTrans" cxnId="{411E632B-B129-4087-A37E-61AC10D5FB98}">
      <dgm:prSet/>
      <dgm:spPr/>
      <dgm:t>
        <a:bodyPr/>
        <a:lstStyle/>
        <a:p>
          <a:endParaRPr lang="en-US"/>
        </a:p>
      </dgm:t>
    </dgm:pt>
    <dgm:pt modelId="{FEAB59C7-EA3A-4E3B-9858-17908A8A0F05}">
      <dgm:prSet/>
      <dgm:spPr/>
      <dgm:t>
        <a:bodyPr/>
        <a:lstStyle/>
        <a:p>
          <a:r>
            <a:rPr lang="en-US"/>
            <a:t>Während die Pandemie abklingt</a:t>
          </a:r>
        </a:p>
      </dgm:t>
    </dgm:pt>
    <dgm:pt modelId="{4393B997-86C9-45E3-A93F-D96F2B995695}" type="parTrans" cxnId="{BD7706C7-811B-4280-AB5F-FA3D3FD89D56}">
      <dgm:prSet/>
      <dgm:spPr/>
      <dgm:t>
        <a:bodyPr/>
        <a:lstStyle/>
        <a:p>
          <a:endParaRPr lang="en-US"/>
        </a:p>
      </dgm:t>
    </dgm:pt>
    <dgm:pt modelId="{D116F28E-3CA2-4B14-84B2-983AF68B7386}" type="sibTrans" cxnId="{BD7706C7-811B-4280-AB5F-FA3D3FD89D56}">
      <dgm:prSet/>
      <dgm:spPr/>
      <dgm:t>
        <a:bodyPr/>
        <a:lstStyle/>
        <a:p>
          <a:endParaRPr lang="en-US"/>
        </a:p>
      </dgm:t>
    </dgm:pt>
    <dgm:pt modelId="{3FD5C915-9BB7-474F-B020-56575EC64CB5}">
      <dgm:prSet/>
      <dgm:spPr/>
      <dgm:t>
        <a:bodyPr/>
        <a:lstStyle/>
        <a:p>
          <a:r>
            <a:rPr lang="en-US" sz="1700" i="1" dirty="0"/>
            <a:t>Wirkung der Investitionen steigern</a:t>
          </a:r>
        </a:p>
      </dgm:t>
    </dgm:pt>
    <dgm:pt modelId="{FA761938-CA97-4272-ABBB-E7BBFC1CAB71}" type="parTrans" cxnId="{7A16565C-3A79-440A-A7E1-E8E4E65A871F}">
      <dgm:prSet/>
      <dgm:spPr/>
      <dgm:t>
        <a:bodyPr/>
        <a:lstStyle/>
        <a:p>
          <a:endParaRPr lang="en-US"/>
        </a:p>
      </dgm:t>
    </dgm:pt>
    <dgm:pt modelId="{99F9BF23-7BB1-4820-9AE2-7285ED2ADD58}" type="sibTrans" cxnId="{7A16565C-3A79-440A-A7E1-E8E4E65A871F}">
      <dgm:prSet/>
      <dgm:spPr/>
      <dgm:t>
        <a:bodyPr/>
        <a:lstStyle/>
        <a:p>
          <a:endParaRPr lang="en-US"/>
        </a:p>
      </dgm:t>
    </dgm:pt>
    <dgm:pt modelId="{53649559-DDFE-483E-9A46-14662CCD0FB1}">
      <dgm:prSet/>
      <dgm:spPr/>
      <dgm:t>
        <a:bodyPr/>
        <a:lstStyle/>
        <a:p>
          <a:r>
            <a:rPr lang="en-US"/>
            <a:t>Nach der Pandemie</a:t>
          </a:r>
        </a:p>
      </dgm:t>
    </dgm:pt>
    <dgm:pt modelId="{12B70157-0AF4-45AE-99DE-C4CA0517633C}" type="parTrans" cxnId="{43B50FAC-1192-4684-A07A-FBC4C8A1F73F}">
      <dgm:prSet/>
      <dgm:spPr/>
      <dgm:t>
        <a:bodyPr/>
        <a:lstStyle/>
        <a:p>
          <a:endParaRPr lang="en-US"/>
        </a:p>
      </dgm:t>
    </dgm:pt>
    <dgm:pt modelId="{D4FD851D-3D7A-4711-A92F-C29DD5D69F6A}" type="sibTrans" cxnId="{43B50FAC-1192-4684-A07A-FBC4C8A1F73F}">
      <dgm:prSet/>
      <dgm:spPr/>
      <dgm:t>
        <a:bodyPr/>
        <a:lstStyle/>
        <a:p>
          <a:endParaRPr lang="en-US"/>
        </a:p>
      </dgm:t>
    </dgm:pt>
    <dgm:pt modelId="{6DC4B5BA-12D5-4FA7-BDF4-DEA95716C004}">
      <dgm:prSet/>
      <dgm:spPr/>
      <dgm:t>
        <a:bodyPr/>
        <a:lstStyle/>
        <a:p>
          <a:r>
            <a:rPr lang="en-US" i="1"/>
            <a:t>Kosten senken, Risiko verringern</a:t>
          </a:r>
        </a:p>
      </dgm:t>
    </dgm:pt>
    <dgm:pt modelId="{322044B1-6B54-4D60-8DB0-88DB5B9C14F7}" type="parTrans" cxnId="{A12D2B5A-75CE-4C1C-9A48-523A19BBCF8C}">
      <dgm:prSet/>
      <dgm:spPr/>
      <dgm:t>
        <a:bodyPr/>
        <a:lstStyle/>
        <a:p>
          <a:endParaRPr lang="en-US"/>
        </a:p>
      </dgm:t>
    </dgm:pt>
    <dgm:pt modelId="{DDA6252D-A145-42EC-A5D7-AD8AF39ED11B}" type="sibTrans" cxnId="{A12D2B5A-75CE-4C1C-9A48-523A19BBCF8C}">
      <dgm:prSet/>
      <dgm:spPr/>
      <dgm:t>
        <a:bodyPr/>
        <a:lstStyle/>
        <a:p>
          <a:endParaRPr lang="en-US"/>
        </a:p>
      </dgm:t>
    </dgm:pt>
    <dgm:pt modelId="{FC6E2D6A-71B0-4796-9529-8549D15BA34C}">
      <dgm:prSet/>
      <dgm:spPr/>
      <dgm:t>
        <a:bodyPr/>
        <a:lstStyle/>
        <a:p>
          <a:r>
            <a:rPr lang="en-US"/>
            <a:t>Transparenz kann die Kreditkosten senken. Gute Regierungsführung kann die Risiken der Schuldennot verringern.</a:t>
          </a:r>
        </a:p>
      </dgm:t>
    </dgm:pt>
    <dgm:pt modelId="{7CBC1C24-061F-407D-BB5C-3DBC57EA1B45}" type="parTrans" cxnId="{79954B92-6280-489E-8ADB-061783ED8A55}">
      <dgm:prSet/>
      <dgm:spPr/>
      <dgm:t>
        <a:bodyPr/>
        <a:lstStyle/>
        <a:p>
          <a:endParaRPr lang="en-US"/>
        </a:p>
      </dgm:t>
    </dgm:pt>
    <dgm:pt modelId="{37045282-3F10-4CDD-B94E-ABB27230149F}" type="sibTrans" cxnId="{79954B92-6280-489E-8ADB-061783ED8A55}">
      <dgm:prSet/>
      <dgm:spPr/>
      <dgm:t>
        <a:bodyPr/>
        <a:lstStyle/>
        <a:p>
          <a:endParaRPr lang="en-US"/>
        </a:p>
      </dgm:t>
    </dgm:pt>
    <dgm:pt modelId="{72BAA999-5640-493E-BD35-81A3096814CD}">
      <dgm:prSet/>
      <dgm:spPr/>
      <dgm:t>
        <a:bodyPr/>
        <a:lstStyle/>
        <a:p>
          <a:pPr>
            <a:buFont typeface="Arial" panose="020B0604020202020204" pitchFamily="34" charset="0"/>
            <a:buChar char="•"/>
          </a:pPr>
          <a:endParaRPr lang="en-US" sz="1200"/>
        </a:p>
      </dgm:t>
    </dgm:pt>
    <dgm:pt modelId="{A362066D-CFF3-40C8-A720-1CDA69B8C83B}" type="parTrans" cxnId="{93DFD9F5-D937-42A7-B952-2B890782B7B8}">
      <dgm:prSet/>
      <dgm:spPr/>
      <dgm:t>
        <a:bodyPr/>
        <a:lstStyle/>
        <a:p>
          <a:endParaRPr lang="en-US"/>
        </a:p>
      </dgm:t>
    </dgm:pt>
    <dgm:pt modelId="{2075F73F-33B8-4F09-B841-00653B81E557}" type="sibTrans" cxnId="{93DFD9F5-D937-42A7-B952-2B890782B7B8}">
      <dgm:prSet/>
      <dgm:spPr/>
      <dgm:t>
        <a:bodyPr/>
        <a:lstStyle/>
        <a:p>
          <a:endParaRPr lang="en-US"/>
        </a:p>
      </dgm:t>
    </dgm:pt>
    <dgm:pt modelId="{1B03094B-3B85-4858-945C-BD92F26A1E5E}">
      <dgm:prSet custT="1"/>
      <dgm:spPr/>
      <dgm:t>
        <a:bodyPr/>
        <a:lstStyle/>
        <a:p>
          <a:r>
            <a:rPr lang="en-US" sz="1400" dirty="0"/>
            <a:t>Transparenz bei Entscheidungen über öffentliche Investitionen kann deren Wirkung auf die Wirtschaftstätigkeit (BIP) steigern</a:t>
          </a:r>
          <a:endParaRPr lang="en-US" sz="1300" dirty="0"/>
        </a:p>
      </dgm:t>
    </dgm:pt>
    <dgm:pt modelId="{1CC81B00-40D2-4037-B000-E1306159EE51}" type="parTrans" cxnId="{011E8FC1-A0E1-4104-AC67-9AE2833218F4}">
      <dgm:prSet/>
      <dgm:spPr/>
      <dgm:t>
        <a:bodyPr/>
        <a:lstStyle/>
        <a:p>
          <a:endParaRPr lang="en-US"/>
        </a:p>
      </dgm:t>
    </dgm:pt>
    <dgm:pt modelId="{BD4D8BC3-1212-4602-8D24-FB86F2567210}" type="sibTrans" cxnId="{011E8FC1-A0E1-4104-AC67-9AE2833218F4}">
      <dgm:prSet/>
      <dgm:spPr/>
      <dgm:t>
        <a:bodyPr/>
        <a:lstStyle/>
        <a:p>
          <a:endParaRPr lang="en-US"/>
        </a:p>
      </dgm:t>
    </dgm:pt>
    <dgm:pt modelId="{FE4B07EC-84A3-4286-B7C6-C8A74E183C87}">
      <dgm:prSet custT="1"/>
      <dgm:spPr/>
      <dgm:t>
        <a:bodyPr/>
        <a:lstStyle/>
        <a:p>
          <a:r>
            <a:rPr lang="en-US" sz="1400" dirty="0"/>
            <a:t>Überwachung und Transparenz im öffentlichen Gesundheitswesen können den Aufschwung nach der Pandemie beschleunigen (z. B. Tourismus, Gastgewerbe).</a:t>
          </a:r>
        </a:p>
      </dgm:t>
    </dgm:pt>
    <dgm:pt modelId="{EC67A2C3-163B-4BA6-AF57-BFF48F1D84DE}" type="parTrans" cxnId="{B68DB7F7-CF06-408E-B187-4B095D59AA0B}">
      <dgm:prSet/>
      <dgm:spPr/>
      <dgm:t>
        <a:bodyPr/>
        <a:lstStyle/>
        <a:p>
          <a:endParaRPr lang="en-US"/>
        </a:p>
      </dgm:t>
    </dgm:pt>
    <dgm:pt modelId="{B59C9B8B-90DD-42FC-87C9-6C0749B099DC}" type="sibTrans" cxnId="{B68DB7F7-CF06-408E-B187-4B095D59AA0B}">
      <dgm:prSet/>
      <dgm:spPr/>
      <dgm:t>
        <a:bodyPr/>
        <a:lstStyle/>
        <a:p>
          <a:endParaRPr lang="en-US"/>
        </a:p>
      </dgm:t>
    </dgm:pt>
    <dgm:pt modelId="{4B331DD6-8178-494C-B4BE-B7FB5532C65C}" type="pres">
      <dgm:prSet presAssocID="{3A3D0F16-AF2C-4555-9594-58F3086D41DE}" presName="Name0" presStyleCnt="0">
        <dgm:presLayoutVars>
          <dgm:dir/>
          <dgm:animLvl val="lvl"/>
          <dgm:resizeHandles val="exact"/>
        </dgm:presLayoutVars>
      </dgm:prSet>
      <dgm:spPr/>
    </dgm:pt>
    <dgm:pt modelId="{CB429555-F805-4C34-8D18-B27E410EE5A2}" type="pres">
      <dgm:prSet presAssocID="{BDC752EB-DB5E-4CD9-BA97-52C6491819F1}" presName="linNode" presStyleCnt="0"/>
      <dgm:spPr/>
    </dgm:pt>
    <dgm:pt modelId="{DFC569C3-C86F-4545-AB3C-673047233301}" type="pres">
      <dgm:prSet presAssocID="{BDC752EB-DB5E-4CD9-BA97-52C6491819F1}" presName="parentText" presStyleLbl="alignNode1" presStyleIdx="0" presStyleCnt="3">
        <dgm:presLayoutVars>
          <dgm:chMax val="1"/>
          <dgm:bulletEnabled/>
        </dgm:presLayoutVars>
      </dgm:prSet>
      <dgm:spPr/>
    </dgm:pt>
    <dgm:pt modelId="{0B9A1728-F1FA-4AFC-B65D-ECA7A087D09A}" type="pres">
      <dgm:prSet presAssocID="{BDC752EB-DB5E-4CD9-BA97-52C6491819F1}" presName="descendantText" presStyleLbl="alignAccFollowNode1" presStyleIdx="0" presStyleCnt="3">
        <dgm:presLayoutVars>
          <dgm:bulletEnabled/>
        </dgm:presLayoutVars>
      </dgm:prSet>
      <dgm:spPr/>
    </dgm:pt>
    <dgm:pt modelId="{BE585E94-BAB5-40A2-BD5F-5E56B257B540}" type="pres">
      <dgm:prSet presAssocID="{2C96CA52-4110-42D0-AFDE-D29AFEF09231}" presName="sp" presStyleCnt="0"/>
      <dgm:spPr/>
    </dgm:pt>
    <dgm:pt modelId="{D09D60A7-E469-421C-80E9-3B3C75358B23}" type="pres">
      <dgm:prSet presAssocID="{FEAB59C7-EA3A-4E3B-9858-17908A8A0F05}" presName="linNode" presStyleCnt="0"/>
      <dgm:spPr/>
    </dgm:pt>
    <dgm:pt modelId="{E2765943-E65F-4E53-9A3B-7B81B76269D0}" type="pres">
      <dgm:prSet presAssocID="{FEAB59C7-EA3A-4E3B-9858-17908A8A0F05}" presName="parentText" presStyleLbl="alignNode1" presStyleIdx="1" presStyleCnt="3">
        <dgm:presLayoutVars>
          <dgm:chMax val="1"/>
          <dgm:bulletEnabled/>
        </dgm:presLayoutVars>
      </dgm:prSet>
      <dgm:spPr/>
    </dgm:pt>
    <dgm:pt modelId="{665E85F7-33A8-411A-A326-AE2900BBA4C4}" type="pres">
      <dgm:prSet presAssocID="{FEAB59C7-EA3A-4E3B-9858-17908A8A0F05}" presName="descendantText" presStyleLbl="alignAccFollowNode1" presStyleIdx="1" presStyleCnt="3">
        <dgm:presLayoutVars>
          <dgm:bulletEnabled/>
        </dgm:presLayoutVars>
      </dgm:prSet>
      <dgm:spPr/>
    </dgm:pt>
    <dgm:pt modelId="{29C2BB87-05A5-4B7C-AE8C-5E9C5BE83E69}" type="pres">
      <dgm:prSet presAssocID="{D116F28E-3CA2-4B14-84B2-983AF68B7386}" presName="sp" presStyleCnt="0"/>
      <dgm:spPr/>
    </dgm:pt>
    <dgm:pt modelId="{AD674BDF-1C5B-4B42-837D-4B84834F6D85}" type="pres">
      <dgm:prSet presAssocID="{53649559-DDFE-483E-9A46-14662CCD0FB1}" presName="linNode" presStyleCnt="0"/>
      <dgm:spPr/>
    </dgm:pt>
    <dgm:pt modelId="{99B1EDDE-D583-4619-BA85-DFA1F91F19D1}" type="pres">
      <dgm:prSet presAssocID="{53649559-DDFE-483E-9A46-14662CCD0FB1}" presName="parentText" presStyleLbl="alignNode1" presStyleIdx="2" presStyleCnt="3">
        <dgm:presLayoutVars>
          <dgm:chMax val="1"/>
          <dgm:bulletEnabled/>
        </dgm:presLayoutVars>
      </dgm:prSet>
      <dgm:spPr/>
    </dgm:pt>
    <dgm:pt modelId="{D6E06639-06E4-409C-8477-ED871BEA6BD4}" type="pres">
      <dgm:prSet presAssocID="{53649559-DDFE-483E-9A46-14662CCD0FB1}" presName="descendantText" presStyleLbl="alignAccFollowNode1" presStyleIdx="2" presStyleCnt="3">
        <dgm:presLayoutVars>
          <dgm:bulletEnabled/>
        </dgm:presLayoutVars>
      </dgm:prSet>
      <dgm:spPr/>
    </dgm:pt>
  </dgm:ptLst>
  <dgm:cxnLst>
    <dgm:cxn modelId="{A9DDE102-CCB9-4916-A94C-3E87D0964E11}" type="presOf" srcId="{3A3D0F16-AF2C-4555-9594-58F3086D41DE}" destId="{4B331DD6-8178-494C-B4BE-B7FB5532C65C}" srcOrd="0" destOrd="0" presId="urn:microsoft.com/office/officeart/2016/7/layout/VerticalSolidActionList"/>
    <dgm:cxn modelId="{16C48C03-E2F1-4AB5-9715-68BEAD7B70E6}" type="presOf" srcId="{BDC752EB-DB5E-4CD9-BA97-52C6491819F1}" destId="{DFC569C3-C86F-4545-AB3C-673047233301}" srcOrd="0" destOrd="0" presId="urn:microsoft.com/office/officeart/2016/7/layout/VerticalSolidActionList"/>
    <dgm:cxn modelId="{4CB7E40A-9FBF-41B3-B7DD-86680B4A86AA}" type="presOf" srcId="{FEAB59C7-EA3A-4E3B-9858-17908A8A0F05}" destId="{E2765943-E65F-4E53-9A3B-7B81B76269D0}" srcOrd="0" destOrd="0" presId="urn:microsoft.com/office/officeart/2016/7/layout/VerticalSolidActionList"/>
    <dgm:cxn modelId="{8FEDBF14-B3CD-44D1-9306-1C30CCB876B9}" type="presOf" srcId="{FE4B07EC-84A3-4286-B7C6-C8A74E183C87}" destId="{665E85F7-33A8-411A-A326-AE2900BBA4C4}" srcOrd="0" destOrd="2" presId="urn:microsoft.com/office/officeart/2016/7/layout/VerticalSolidActionList"/>
    <dgm:cxn modelId="{54E14923-43C1-4135-9F52-595DA9F4B402}" srcId="{3A3D0F16-AF2C-4555-9594-58F3086D41DE}" destId="{BDC752EB-DB5E-4CD9-BA97-52C6491819F1}" srcOrd="0" destOrd="0" parTransId="{F09C80BA-A12D-4170-BA75-9E294135B37B}" sibTransId="{2C96CA52-4110-42D0-AFDE-D29AFEF09231}"/>
    <dgm:cxn modelId="{411E632B-B129-4087-A37E-61AC10D5FB98}" srcId="{33BA5400-EDA6-4988-99DF-8C11D77952FD}" destId="{AD11B55B-20BA-40AF-A955-BD9CFE4791A1}" srcOrd="1" destOrd="0" parTransId="{81FE0E18-C532-4793-94C3-CD4C357EE104}" sibTransId="{AE0189AD-F506-44DD-B05B-28D80C67031D}"/>
    <dgm:cxn modelId="{9B23755C-FC32-4E7F-A0D5-E10801913C04}" type="presOf" srcId="{53649559-DDFE-483E-9A46-14662CCD0FB1}" destId="{99B1EDDE-D583-4619-BA85-DFA1F91F19D1}" srcOrd="0" destOrd="0" presId="urn:microsoft.com/office/officeart/2016/7/layout/VerticalSolidActionList"/>
    <dgm:cxn modelId="{4D84755C-C376-4396-ABCB-2FBCE2F5D5FA}" type="presOf" srcId="{6DC4B5BA-12D5-4FA7-BDF4-DEA95716C004}" destId="{D6E06639-06E4-409C-8477-ED871BEA6BD4}" srcOrd="0" destOrd="0" presId="urn:microsoft.com/office/officeart/2016/7/layout/VerticalSolidActionList"/>
    <dgm:cxn modelId="{7A16565C-3A79-440A-A7E1-E8E4E65A871F}" srcId="{FEAB59C7-EA3A-4E3B-9858-17908A8A0F05}" destId="{3FD5C915-9BB7-474F-B020-56575EC64CB5}" srcOrd="0" destOrd="0" parTransId="{FA761938-CA97-4272-ABBB-E7BBFC1CAB71}" sibTransId="{99F9BF23-7BB1-4820-9AE2-7285ED2ADD58}"/>
    <dgm:cxn modelId="{30D78758-97F1-4E7D-B5CC-3D5AFE4AFEC0}" type="presOf" srcId="{AD11B55B-20BA-40AF-A955-BD9CFE4791A1}" destId="{0B9A1728-F1FA-4AFC-B65D-ECA7A087D09A}" srcOrd="0" destOrd="2" presId="urn:microsoft.com/office/officeart/2016/7/layout/VerticalSolidActionList"/>
    <dgm:cxn modelId="{A12D2B5A-75CE-4C1C-9A48-523A19BBCF8C}" srcId="{53649559-DDFE-483E-9A46-14662CCD0FB1}" destId="{6DC4B5BA-12D5-4FA7-BDF4-DEA95716C004}" srcOrd="0" destOrd="0" parTransId="{322044B1-6B54-4D60-8DB0-88DB5B9C14F7}" sibTransId="{DDA6252D-A145-42EC-A5D7-AD8AF39ED11B}"/>
    <dgm:cxn modelId="{2673A282-06E7-43E3-874F-B79C84C0CDFB}" type="presOf" srcId="{33BA5400-EDA6-4988-99DF-8C11D77952FD}" destId="{0B9A1728-F1FA-4AFC-B65D-ECA7A087D09A}" srcOrd="0" destOrd="0" presId="urn:microsoft.com/office/officeart/2016/7/layout/VerticalSolidActionList"/>
    <dgm:cxn modelId="{B99F2B91-5D51-419E-AE58-A01053AD6CAE}" type="presOf" srcId="{3FD5C915-9BB7-474F-B020-56575EC64CB5}" destId="{665E85F7-33A8-411A-A326-AE2900BBA4C4}" srcOrd="0" destOrd="0" presId="urn:microsoft.com/office/officeart/2016/7/layout/VerticalSolidActionList"/>
    <dgm:cxn modelId="{79954B92-6280-489E-8ADB-061783ED8A55}" srcId="{6DC4B5BA-12D5-4FA7-BDF4-DEA95716C004}" destId="{FC6E2D6A-71B0-4796-9529-8549D15BA34C}" srcOrd="0" destOrd="0" parTransId="{7CBC1C24-061F-407D-BB5C-3DBC57EA1B45}" sibTransId="{37045282-3F10-4CDD-B94E-ABB27230149F}"/>
    <dgm:cxn modelId="{9F471598-96CB-47B4-93A3-77B5A32BC615}" type="presOf" srcId="{72BAA999-5640-493E-BD35-81A3096814CD}" destId="{0B9A1728-F1FA-4AFC-B65D-ECA7A087D09A}" srcOrd="0" destOrd="1" presId="urn:microsoft.com/office/officeart/2016/7/layout/VerticalSolidActionList"/>
    <dgm:cxn modelId="{44CE2D9C-D462-4727-A0F4-91F83B6AE550}" type="presOf" srcId="{1B03094B-3B85-4858-945C-BD92F26A1E5E}" destId="{665E85F7-33A8-411A-A326-AE2900BBA4C4}" srcOrd="0" destOrd="1" presId="urn:microsoft.com/office/officeart/2016/7/layout/VerticalSolidActionList"/>
    <dgm:cxn modelId="{43B50FAC-1192-4684-A07A-FBC4C8A1F73F}" srcId="{3A3D0F16-AF2C-4555-9594-58F3086D41DE}" destId="{53649559-DDFE-483E-9A46-14662CCD0FB1}" srcOrd="2" destOrd="0" parTransId="{12B70157-0AF4-45AE-99DE-C4CA0517633C}" sibTransId="{D4FD851D-3D7A-4711-A92F-C29DD5D69F6A}"/>
    <dgm:cxn modelId="{885267BC-9A5F-4419-A469-010489C1EEBE}" type="presOf" srcId="{FC6E2D6A-71B0-4796-9529-8549D15BA34C}" destId="{D6E06639-06E4-409C-8477-ED871BEA6BD4}" srcOrd="0" destOrd="1" presId="urn:microsoft.com/office/officeart/2016/7/layout/VerticalSolidActionList"/>
    <dgm:cxn modelId="{011E8FC1-A0E1-4104-AC67-9AE2833218F4}" srcId="{3FD5C915-9BB7-474F-B020-56575EC64CB5}" destId="{1B03094B-3B85-4858-945C-BD92F26A1E5E}" srcOrd="0" destOrd="0" parTransId="{1CC81B00-40D2-4037-B000-E1306159EE51}" sibTransId="{BD4D8BC3-1212-4602-8D24-FB86F2567210}"/>
    <dgm:cxn modelId="{BD7706C7-811B-4280-AB5F-FA3D3FD89D56}" srcId="{3A3D0F16-AF2C-4555-9594-58F3086D41DE}" destId="{FEAB59C7-EA3A-4E3B-9858-17908A8A0F05}" srcOrd="1" destOrd="0" parTransId="{4393B997-86C9-45E3-A93F-D96F2B995695}" sibTransId="{D116F28E-3CA2-4B14-84B2-983AF68B7386}"/>
    <dgm:cxn modelId="{E79E30E7-9A7A-410B-B01E-31F4FDF41787}" srcId="{BDC752EB-DB5E-4CD9-BA97-52C6491819F1}" destId="{33BA5400-EDA6-4988-99DF-8C11D77952FD}" srcOrd="0" destOrd="0" parTransId="{7C43D5E6-C5A2-421A-85DB-D8A8C062A28B}" sibTransId="{7B546DFF-ABAA-409B-9E9C-0700675172A9}"/>
    <dgm:cxn modelId="{93DFD9F5-D937-42A7-B952-2B890782B7B8}" srcId="{33BA5400-EDA6-4988-99DF-8C11D77952FD}" destId="{72BAA999-5640-493E-BD35-81A3096814CD}" srcOrd="0" destOrd="0" parTransId="{A362066D-CFF3-40C8-A720-1CDA69B8C83B}" sibTransId="{2075F73F-33B8-4F09-B841-00653B81E557}"/>
    <dgm:cxn modelId="{B68DB7F7-CF06-408E-B187-4B095D59AA0B}" srcId="{3FD5C915-9BB7-474F-B020-56575EC64CB5}" destId="{FE4B07EC-84A3-4286-B7C6-C8A74E183C87}" srcOrd="1" destOrd="0" parTransId="{EC67A2C3-163B-4BA6-AF57-BFF48F1D84DE}" sibTransId="{B59C9B8B-90DD-42FC-87C9-6C0749B099DC}"/>
    <dgm:cxn modelId="{81612622-D36C-4F84-AAC1-81A1C4799580}" type="presParOf" srcId="{4B331DD6-8178-494C-B4BE-B7FB5532C65C}" destId="{CB429555-F805-4C34-8D18-B27E410EE5A2}" srcOrd="0" destOrd="0" presId="urn:microsoft.com/office/officeart/2016/7/layout/VerticalSolidActionList"/>
    <dgm:cxn modelId="{E4A02B23-DAFB-4A10-85C1-CD837EFCB7ED}" type="presParOf" srcId="{CB429555-F805-4C34-8D18-B27E410EE5A2}" destId="{DFC569C3-C86F-4545-AB3C-673047233301}" srcOrd="0" destOrd="0" presId="urn:microsoft.com/office/officeart/2016/7/layout/VerticalSolidActionList"/>
    <dgm:cxn modelId="{8E2A3A97-A620-403A-8129-CCF242265B2C}" type="presParOf" srcId="{CB429555-F805-4C34-8D18-B27E410EE5A2}" destId="{0B9A1728-F1FA-4AFC-B65D-ECA7A087D09A}" srcOrd="1" destOrd="0" presId="urn:microsoft.com/office/officeart/2016/7/layout/VerticalSolidActionList"/>
    <dgm:cxn modelId="{4E0B7BCB-3922-4B42-AE20-4A248962EFFB}" type="presParOf" srcId="{4B331DD6-8178-494C-B4BE-B7FB5532C65C}" destId="{BE585E94-BAB5-40A2-BD5F-5E56B257B540}" srcOrd="1" destOrd="0" presId="urn:microsoft.com/office/officeart/2016/7/layout/VerticalSolidActionList"/>
    <dgm:cxn modelId="{BB3B2C74-62DC-4386-A028-5CDDF93DE5B2}" type="presParOf" srcId="{4B331DD6-8178-494C-B4BE-B7FB5532C65C}" destId="{D09D60A7-E469-421C-80E9-3B3C75358B23}" srcOrd="2" destOrd="0" presId="urn:microsoft.com/office/officeart/2016/7/layout/VerticalSolidActionList"/>
    <dgm:cxn modelId="{30D81E53-7EC5-4497-AE14-5EF368874A51}" type="presParOf" srcId="{D09D60A7-E469-421C-80E9-3B3C75358B23}" destId="{E2765943-E65F-4E53-9A3B-7B81B76269D0}" srcOrd="0" destOrd="0" presId="urn:microsoft.com/office/officeart/2016/7/layout/VerticalSolidActionList"/>
    <dgm:cxn modelId="{28A61FE9-42FA-4E3A-8DD7-AF89F936A797}" type="presParOf" srcId="{D09D60A7-E469-421C-80E9-3B3C75358B23}" destId="{665E85F7-33A8-411A-A326-AE2900BBA4C4}" srcOrd="1" destOrd="0" presId="urn:microsoft.com/office/officeart/2016/7/layout/VerticalSolidActionList"/>
    <dgm:cxn modelId="{61153971-CF36-42D3-A2FD-048E17D8D8C2}" type="presParOf" srcId="{4B331DD6-8178-494C-B4BE-B7FB5532C65C}" destId="{29C2BB87-05A5-4B7C-AE8C-5E9C5BE83E69}" srcOrd="3" destOrd="0" presId="urn:microsoft.com/office/officeart/2016/7/layout/VerticalSolidActionList"/>
    <dgm:cxn modelId="{DC495CB4-6142-4E5B-A357-4E16EB605915}" type="presParOf" srcId="{4B331DD6-8178-494C-B4BE-B7FB5532C65C}" destId="{AD674BDF-1C5B-4B42-837D-4B84834F6D85}" srcOrd="4" destOrd="0" presId="urn:microsoft.com/office/officeart/2016/7/layout/VerticalSolidActionList"/>
    <dgm:cxn modelId="{80C028F5-F783-4680-A0A9-22EAAEAFD2A2}" type="presParOf" srcId="{AD674BDF-1C5B-4B42-837D-4B84834F6D85}" destId="{99B1EDDE-D583-4619-BA85-DFA1F91F19D1}" srcOrd="0" destOrd="0" presId="urn:microsoft.com/office/officeart/2016/7/layout/VerticalSolidActionList"/>
    <dgm:cxn modelId="{9683A780-1F33-4133-BBB3-58D9C9F9DAA4}" type="presParOf" srcId="{AD674BDF-1C5B-4B42-837D-4B84834F6D85}" destId="{D6E06639-06E4-409C-8477-ED871BEA6BD4}" srcOrd="1" destOrd="0" presId="urn:microsoft.com/office/officeart/2016/7/layout/VerticalSolid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DD6E5F-2D29-4EEA-806E-E4CA13A0FA68}">
      <dsp:nvSpPr>
        <dsp:cNvPr id="0" name=""/>
        <dsp:cNvSpPr/>
      </dsp:nvSpPr>
      <dsp:spPr>
        <a:xfrm>
          <a:off x="0" y="65372"/>
          <a:ext cx="6367912" cy="1510396"/>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Die Region Naher Osten und Nordafrika (MENA) befindet sich </a:t>
          </a:r>
          <a:r>
            <a:rPr lang="en-US" sz="2700" u="none" kern="1200" dirty="0"/>
            <a:t>weiterhin in der Krise</a:t>
          </a:r>
        </a:p>
      </dsp:txBody>
      <dsp:txXfrm>
        <a:off x="73731" y="139103"/>
        <a:ext cx="6220450" cy="1362934"/>
      </dsp:txXfrm>
    </dsp:sp>
    <dsp:sp modelId="{D96F5C80-F371-4600-9BE9-3C3039E06725}">
      <dsp:nvSpPr>
        <dsp:cNvPr id="0" name=""/>
        <dsp:cNvSpPr/>
      </dsp:nvSpPr>
      <dsp:spPr>
        <a:xfrm>
          <a:off x="0" y="1653529"/>
          <a:ext cx="6367912" cy="1510396"/>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Die MENA-Länder stehen vor einem </a:t>
          </a:r>
          <a:r>
            <a:rPr lang="en-US" sz="2700" u="none" kern="1200" dirty="0"/>
            <a:t>Balanceakt</a:t>
          </a:r>
          <a:r>
            <a:rPr lang="en-US" sz="2700" u="sng" kern="1200" dirty="0"/>
            <a:t> </a:t>
          </a:r>
          <a:r>
            <a:rPr lang="en-US" sz="2700" kern="1200" dirty="0"/>
            <a:t>zwischen kurzfristigem Bedarf und langfristigen Risiken der öffentlichen Verschuldung</a:t>
          </a:r>
        </a:p>
      </dsp:txBody>
      <dsp:txXfrm>
        <a:off x="73731" y="1727260"/>
        <a:ext cx="6220450" cy="1362934"/>
      </dsp:txXfrm>
    </dsp:sp>
    <dsp:sp modelId="{0E66F634-82D9-4910-9E9D-359C01088179}">
      <dsp:nvSpPr>
        <dsp:cNvPr id="0" name=""/>
        <dsp:cNvSpPr/>
      </dsp:nvSpPr>
      <dsp:spPr>
        <a:xfrm>
          <a:off x="0" y="3241686"/>
          <a:ext cx="6367912" cy="1510396"/>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Schwierige Entscheidungen: </a:t>
          </a:r>
          <a:r>
            <a:rPr lang="en-US" sz="2700" kern="1200" dirty="0"/>
            <a:t>Die Prioritäten der öffentlichen Ausgaben hängen von der Phase der Erholung ab</a:t>
          </a:r>
        </a:p>
      </dsp:txBody>
      <dsp:txXfrm>
        <a:off x="73731" y="3315417"/>
        <a:ext cx="6220450" cy="1362934"/>
      </dsp:txXfrm>
    </dsp:sp>
    <dsp:sp modelId="{0D2D3FB6-6FCB-436E-AB5D-219E55D5915C}">
      <dsp:nvSpPr>
        <dsp:cNvPr id="0" name=""/>
        <dsp:cNvSpPr/>
      </dsp:nvSpPr>
      <dsp:spPr>
        <a:xfrm>
          <a:off x="0" y="4829843"/>
          <a:ext cx="6367912" cy="1510396"/>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Transparenz hilft! </a:t>
          </a:r>
          <a:r>
            <a:rPr lang="en-US" sz="2700" kern="1200" dirty="0"/>
            <a:t>Transparenz kann helfen, einen Weg zu einer dauerhaften Erholung für die MENA-Region zu ebnen</a:t>
          </a:r>
        </a:p>
      </dsp:txBody>
      <dsp:txXfrm>
        <a:off x="73731" y="4903574"/>
        <a:ext cx="6220450" cy="13629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CCB891-F357-46F4-9B3B-5A1FAD10338C}">
      <dsp:nvSpPr>
        <dsp:cNvPr id="0" name=""/>
        <dsp:cNvSpPr/>
      </dsp:nvSpPr>
      <dsp:spPr>
        <a:xfrm>
          <a:off x="0" y="136045"/>
          <a:ext cx="6367912" cy="14880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Eine Region weiterhin in der Krise</a:t>
          </a:r>
          <a:r>
            <a:rPr lang="en-US" sz="2100" kern="1200" dirty="0"/>
            <a:t>: Beziffert das sozioökonomische Leid</a:t>
          </a:r>
        </a:p>
      </dsp:txBody>
      <dsp:txXfrm>
        <a:off x="72639" y="208684"/>
        <a:ext cx="6222634" cy="1342742"/>
      </dsp:txXfrm>
    </dsp:sp>
    <dsp:sp modelId="{0CB6004F-D074-49DB-ADFA-3BF18BB52CB1}">
      <dsp:nvSpPr>
        <dsp:cNvPr id="0" name=""/>
        <dsp:cNvSpPr/>
      </dsp:nvSpPr>
      <dsp:spPr>
        <a:xfrm>
          <a:off x="0" y="1684545"/>
          <a:ext cx="6367912" cy="1488020"/>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Der Balanceakt der Verschuldung</a:t>
          </a:r>
          <a:r>
            <a:rPr lang="en-US" sz="2100" kern="1200" dirty="0"/>
            <a:t>: Stellt die Spannungen zwischen unmittelbaren sozioökonomischen Bedürfnissen und langfristigen Risiken in einer Region dar, die bereits 2019 ein hohes Schuldenniveau aufwies</a:t>
          </a:r>
        </a:p>
      </dsp:txBody>
      <dsp:txXfrm>
        <a:off x="72639" y="1757184"/>
        <a:ext cx="6222634" cy="1342742"/>
      </dsp:txXfrm>
    </dsp:sp>
    <dsp:sp modelId="{B2AF7659-42A0-4D9B-914F-EB8D8F53052D}">
      <dsp:nvSpPr>
        <dsp:cNvPr id="0" name=""/>
        <dsp:cNvSpPr/>
      </dsp:nvSpPr>
      <dsp:spPr>
        <a:xfrm>
          <a:off x="0" y="3233046"/>
          <a:ext cx="6367912" cy="1488020"/>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Schwierige Entscheidungen stehen bevor</a:t>
          </a:r>
          <a:r>
            <a:rPr lang="en-US" sz="2100" kern="1200" dirty="0"/>
            <a:t>: Erörtert Prioritäten </a:t>
          </a:r>
          <a:r>
            <a:rPr lang="en-US" sz="2100" u="sng" kern="1200" dirty="0"/>
            <a:t>während </a:t>
          </a:r>
          <a:r>
            <a:rPr lang="en-US" sz="2100" kern="1200" dirty="0"/>
            <a:t>der Pandemie, </a:t>
          </a:r>
          <a:r>
            <a:rPr lang="en-US" sz="2100" u="sng" kern="1200" dirty="0"/>
            <a:t>nach </a:t>
          </a:r>
          <a:r>
            <a:rPr lang="en-US" sz="2100" kern="1200" dirty="0"/>
            <a:t>der Pandemie und </a:t>
          </a:r>
          <a:r>
            <a:rPr lang="en-US" sz="2100" u="sng" kern="1200" dirty="0"/>
            <a:t>darüber hinaus</a:t>
          </a:r>
          <a:endParaRPr lang="en-US" sz="2100" kern="1200" dirty="0"/>
        </a:p>
      </dsp:txBody>
      <dsp:txXfrm>
        <a:off x="72639" y="3305685"/>
        <a:ext cx="6222634" cy="1342742"/>
      </dsp:txXfrm>
    </dsp:sp>
    <dsp:sp modelId="{4F1BF5D5-3EC4-46A9-A9BD-274664B9C165}">
      <dsp:nvSpPr>
        <dsp:cNvPr id="0" name=""/>
        <dsp:cNvSpPr/>
      </dsp:nvSpPr>
      <dsp:spPr>
        <a:xfrm>
          <a:off x="0" y="4781547"/>
          <a:ext cx="6367912" cy="148802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a:t>Transparenz hilft</a:t>
          </a:r>
          <a:r>
            <a:rPr lang="en-US" sz="2100" kern="1200"/>
            <a:t>: Hebt die Rolle der Institutionen, insbesondere der Transparenz, beim Ebnen eines Weges zur Erholung für den Nahen Osten und Nordafrika hervor</a:t>
          </a:r>
        </a:p>
      </dsp:txBody>
      <dsp:txXfrm>
        <a:off x="72639" y="4854186"/>
        <a:ext cx="6222634" cy="13427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9A1728-F1FA-4AFC-B65D-ECA7A087D09A}">
      <dsp:nvSpPr>
        <dsp:cNvPr id="0" name=""/>
        <dsp:cNvSpPr/>
      </dsp:nvSpPr>
      <dsp:spPr>
        <a:xfrm>
          <a:off x="1273582" y="2001"/>
          <a:ext cx="5094330" cy="2051797"/>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11200">
            <a:lnSpc>
              <a:spcPct val="90000"/>
            </a:lnSpc>
            <a:spcBef>
              <a:spcPct val="0"/>
            </a:spcBef>
            <a:spcAft>
              <a:spcPct val="35000"/>
            </a:spcAft>
            <a:buNone/>
          </a:pPr>
          <a:r>
            <a:rPr lang="en-US" sz="1600" i="1" kern="1200"/>
            <a:t>Während der Pandemie</a:t>
          </a:r>
        </a:p>
        <a:p>
          <a:pPr marL="114300" lvl="1" indent="-114300" algn="l" defTabSz="533400">
            <a:lnSpc>
              <a:spcPct val="90000"/>
            </a:lnSpc>
            <a:spcBef>
              <a:spcPct val="0"/>
            </a:spcBef>
            <a:spcAft>
              <a:spcPct val="15000"/>
            </a:spcAft>
            <a:buFont typeface="Arial" panose="020B0604020202020204" pitchFamily="34" charset="0"/>
            <a:buChar char="•"/>
          </a:pPr>
          <a:endParaRPr lang="en-US" sz="1200" kern="1200"/>
        </a:p>
        <a:p>
          <a:pPr marL="114300" lvl="1" indent="-114300" algn="l" defTabSz="622300">
            <a:lnSpc>
              <a:spcPct val="90000"/>
            </a:lnSpc>
            <a:spcBef>
              <a:spcPct val="0"/>
            </a:spcBef>
            <a:spcAft>
              <a:spcPct val="15000"/>
            </a:spcAft>
            <a:buFont typeface="Arial" panose="020B0604020202020204" pitchFamily="34" charset="0"/>
            <a:buChar char="•"/>
          </a:pPr>
          <a:r>
            <a:rPr lang="en-US" sz="1400" kern="1200" dirty="0"/>
            <a:t>Kosten senken, Erholung beschleunigen</a:t>
          </a:r>
        </a:p>
      </dsp:txBody>
      <dsp:txXfrm>
        <a:off x="1273582" y="2001"/>
        <a:ext cx="5094330" cy="2051797"/>
      </dsp:txXfrm>
    </dsp:sp>
    <dsp:sp modelId="{DFC569C3-C86F-4545-AB3C-673047233301}">
      <dsp:nvSpPr>
        <dsp:cNvPr id="0" name=""/>
        <dsp:cNvSpPr/>
      </dsp:nvSpPr>
      <dsp:spPr>
        <a:xfrm>
          <a:off x="0" y="2001"/>
          <a:ext cx="1273582" cy="2051797"/>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Überwachung und Transparenz im öffentlichen Gesundheitswesen können die Kosten der Pandemie senken.</a:t>
          </a:r>
        </a:p>
      </dsp:txBody>
      <dsp:txXfrm>
        <a:off x="0" y="2001"/>
        <a:ext cx="1273582" cy="2051797"/>
      </dsp:txXfrm>
    </dsp:sp>
    <dsp:sp modelId="{665E85F7-33A8-411A-A326-AE2900BBA4C4}">
      <dsp:nvSpPr>
        <dsp:cNvPr id="0" name=""/>
        <dsp:cNvSpPr/>
      </dsp:nvSpPr>
      <dsp:spPr>
        <a:xfrm>
          <a:off x="1273582" y="2176907"/>
          <a:ext cx="5094330" cy="2051797"/>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55650">
            <a:lnSpc>
              <a:spcPct val="90000"/>
            </a:lnSpc>
            <a:spcBef>
              <a:spcPct val="0"/>
            </a:spcBef>
            <a:spcAft>
              <a:spcPct val="35000"/>
            </a:spcAft>
            <a:buNone/>
          </a:pPr>
          <a:r>
            <a:rPr lang="en-US" sz="1700" i="1" kern="1200" dirty="0"/>
            <a:t>Während die Pandemie abklingt</a:t>
          </a:r>
        </a:p>
        <a:p>
          <a:pPr marL="114300" lvl="1" indent="-114300" algn="l" defTabSz="622300">
            <a:lnSpc>
              <a:spcPct val="90000"/>
            </a:lnSpc>
            <a:spcBef>
              <a:spcPct val="0"/>
            </a:spcBef>
            <a:spcAft>
              <a:spcPct val="15000"/>
            </a:spcAft>
            <a:buChar char="•"/>
          </a:pPr>
          <a:r>
            <a:rPr lang="en-US" sz="1400" kern="1200" dirty="0"/>
            <a:t>Wirkung der Investitionen steigern</a:t>
          </a:r>
          <a:endParaRPr lang="en-US" sz="1300" kern="1200" dirty="0"/>
        </a:p>
        <a:p>
          <a:pPr marL="114300" lvl="1" indent="-114300" algn="l" defTabSz="622300">
            <a:lnSpc>
              <a:spcPct val="90000"/>
            </a:lnSpc>
            <a:spcBef>
              <a:spcPct val="0"/>
            </a:spcBef>
            <a:spcAft>
              <a:spcPct val="15000"/>
            </a:spcAft>
            <a:buChar char="•"/>
          </a:pPr>
          <a:r>
            <a:rPr lang="en-US" sz="1400" kern="1200" dirty="0"/>
            <a:t>Nach der Pandemie</a:t>
          </a:r>
        </a:p>
      </dsp:txBody>
      <dsp:txXfrm>
        <a:off x="1273582" y="2176907"/>
        <a:ext cx="5094330" cy="2051797"/>
      </dsp:txXfrm>
    </dsp:sp>
    <dsp:sp modelId="{E2765943-E65F-4E53-9A3B-7B81B76269D0}">
      <dsp:nvSpPr>
        <dsp:cNvPr id="0" name=""/>
        <dsp:cNvSpPr/>
      </dsp:nvSpPr>
      <dsp:spPr>
        <a:xfrm>
          <a:off x="0" y="2176907"/>
          <a:ext cx="1273582" cy="2051797"/>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Kosten senken, Risiko verringern</a:t>
          </a:r>
        </a:p>
      </dsp:txBody>
      <dsp:txXfrm>
        <a:off x="0" y="2176907"/>
        <a:ext cx="1273582" cy="2051797"/>
      </dsp:txXfrm>
    </dsp:sp>
    <dsp:sp modelId="{D6E06639-06E4-409C-8477-ED871BEA6BD4}">
      <dsp:nvSpPr>
        <dsp:cNvPr id="0" name=""/>
        <dsp:cNvSpPr/>
      </dsp:nvSpPr>
      <dsp:spPr>
        <a:xfrm>
          <a:off x="1273582" y="4351813"/>
          <a:ext cx="5094330" cy="2051797"/>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800100">
            <a:lnSpc>
              <a:spcPct val="90000"/>
            </a:lnSpc>
            <a:spcBef>
              <a:spcPct val="0"/>
            </a:spcBef>
            <a:spcAft>
              <a:spcPct val="35000"/>
            </a:spcAft>
            <a:buNone/>
          </a:pPr>
          <a:r>
            <a:rPr lang="en-US" sz="1800" i="1" kern="1200"/>
            <a:t>Transparenz kann die Kreditkosten senken. Gute Regierungsführung kann die Risiken der Schuldennot verringern.</a:t>
          </a:r>
        </a:p>
        <a:p>
          <a:pPr marL="114300" lvl="1" indent="-114300" algn="l" defTabSz="622300">
            <a:lnSpc>
              <a:spcPct val="90000"/>
            </a:lnSpc>
            <a:spcBef>
              <a:spcPct val="0"/>
            </a:spcBef>
            <a:spcAft>
              <a:spcPct val="15000"/>
            </a:spcAft>
            <a:buChar char="•"/>
          </a:pPr>
          <a:r>
            <a:rPr lang="en-US" sz="1400" kern="1200"/>
            <a:t>Transparenz bei Entscheidungen über öffentliche Investitionen kann deren Wirkung auf die Wirtschaftstätigkeit (BIP) steigern</a:t>
          </a:r>
        </a:p>
      </dsp:txBody>
      <dsp:txXfrm>
        <a:off x="1273582" y="4351813"/>
        <a:ext cx="5094330" cy="2051797"/>
      </dsp:txXfrm>
    </dsp:sp>
    <dsp:sp modelId="{99B1EDDE-D583-4619-BA85-DFA1F91F19D1}">
      <dsp:nvSpPr>
        <dsp:cNvPr id="0" name=""/>
        <dsp:cNvSpPr/>
      </dsp:nvSpPr>
      <dsp:spPr>
        <a:xfrm>
          <a:off x="0" y="4351813"/>
          <a:ext cx="1273582" cy="2051797"/>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Überwachung und Transparenz im öffentlichen Gesundheitswesen können den Aufschwung nach der Pandemie beschleunigen (z. B. Tourismus, Gastgewerbe).</a:t>
          </a:r>
        </a:p>
      </dsp:txBody>
      <dsp:txXfrm>
        <a:off x="0" y="4351813"/>
        <a:ext cx="1273582" cy="205179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per capita level - </a:t>
          </a:r>
          <a:r>
            <a:rPr lang="en-US" sz="1400" b="1" dirty="0"/>
            <a:t>MENA</a:t>
          </a:r>
        </a:p>
      </cdr:txBody>
    </cdr:sp>
  </cdr:relSizeAnchor>
  <cdr:relSizeAnchor xmlns:cdr="http://schemas.openxmlformats.org/drawingml/2006/chartDrawing">
    <cdr:from>
      <cdr:x>0.84479</cdr:x>
      <cdr:y>0.44667</cdr:y>
    </cdr:from>
    <cdr:to>
      <cdr:x>1</cdr:x>
      <cdr:y>0.54272</cdr:y>
    </cdr:to>
    <cdr:sp macro="" textlink="">
      <cdr:nvSpPr>
        <cdr:cNvPr id="3" name="TextBox 6">
          <a:extLst xmlns:a="http://schemas.openxmlformats.org/drawingml/2006/main">
            <a:ext uri="{FF2B5EF4-FFF2-40B4-BE49-F238E27FC236}">
              <a16:creationId xmlns:a16="http://schemas.microsoft.com/office/drawing/2014/main" id="{6E3F0EB0-2398-4B72-97CF-D4BF8C775E6B}"/>
            </a:ext>
          </a:extLst>
        </cdr:cNvPr>
        <cdr:cNvSpPr txBox="1"/>
      </cdr:nvSpPr>
      <cdr:spPr>
        <a:xfrm xmlns:a="http://schemas.openxmlformats.org/drawingml/2006/main">
          <a:off x="3629028" y="1717569"/>
          <a:ext cx="666747"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r"/>
          <a:r>
            <a:rPr lang="en-US" sz="1800" dirty="0">
              <a:solidFill>
                <a:srgbClr val="FF0000"/>
              </a:solidFill>
            </a:rPr>
            <a:t>7.0%</a:t>
          </a:r>
        </a:p>
      </cdr:txBody>
    </cdr:sp>
  </cdr:relSizeAnchor>
  <cdr:relSizeAnchor xmlns:cdr="http://schemas.openxmlformats.org/drawingml/2006/chartDrawing">
    <cdr:from>
      <cdr:x>0.85145</cdr:x>
      <cdr:y>0.37938</cdr:y>
    </cdr:from>
    <cdr:to>
      <cdr:x>0.85145</cdr:x>
      <cdr:y>0.55772</cdr:y>
    </cdr:to>
    <cdr:cxnSp macro="">
      <cdr:nvCxnSpPr>
        <cdr:cNvPr id="4" name="Straight Arrow Connector 3">
          <a:extLst xmlns:a="http://schemas.openxmlformats.org/drawingml/2006/main">
            <a:ext uri="{FF2B5EF4-FFF2-40B4-BE49-F238E27FC236}">
              <a16:creationId xmlns:a16="http://schemas.microsoft.com/office/drawing/2014/main" id="{3B2314C3-6391-4666-A0A0-309B011A0A5E}"/>
            </a:ext>
          </a:extLst>
        </cdr:cNvPr>
        <cdr:cNvCxnSpPr/>
      </cdr:nvCxnSpPr>
      <cdr:spPr>
        <a:xfrm xmlns:a="http://schemas.openxmlformats.org/drawingml/2006/main">
          <a:off x="3657653" y="1458832"/>
          <a:ext cx="0" cy="685773"/>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level-</a:t>
          </a:r>
          <a:r>
            <a:rPr lang="en-US" sz="1400" b="1" dirty="0"/>
            <a:t> MENA</a:t>
          </a:r>
        </a:p>
      </cdr:txBody>
    </cdr:sp>
  </cdr:relSizeAnchor>
  <cdr:relSizeAnchor xmlns:cdr="http://schemas.openxmlformats.org/drawingml/2006/chartDrawing">
    <cdr:from>
      <cdr:x>0.8415</cdr:x>
      <cdr:y>0.31509</cdr:y>
    </cdr:from>
    <cdr:to>
      <cdr:x>0.99671</cdr:x>
      <cdr:y>0.40756</cdr:y>
    </cdr:to>
    <cdr:sp macro="" textlink="">
      <cdr:nvSpPr>
        <cdr:cNvPr id="3" name="TextBox 6">
          <a:extLst xmlns:a="http://schemas.openxmlformats.org/drawingml/2006/main">
            <a:ext uri="{FF2B5EF4-FFF2-40B4-BE49-F238E27FC236}">
              <a16:creationId xmlns:a16="http://schemas.microsoft.com/office/drawing/2014/main" id="{19620901-91DD-48F9-985B-6E44E6504231}"/>
            </a:ext>
          </a:extLst>
        </cdr:cNvPr>
        <cdr:cNvSpPr txBox="1"/>
      </cdr:nvSpPr>
      <cdr:spPr>
        <a:xfrm xmlns:a="http://schemas.openxmlformats.org/drawingml/2006/main">
          <a:off x="3614898" y="1258481"/>
          <a:ext cx="666750"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US" dirty="0">
              <a:solidFill>
                <a:srgbClr val="FF0000"/>
              </a:solidFill>
            </a:rPr>
            <a:t>7.2%</a:t>
          </a:r>
        </a:p>
      </cdr:txBody>
    </cdr:sp>
  </cdr:relSizeAnchor>
  <cdr:relSizeAnchor xmlns:cdr="http://schemas.openxmlformats.org/drawingml/2006/chartDrawing">
    <cdr:from>
      <cdr:x>0.83417</cdr:x>
      <cdr:y>0.2794</cdr:y>
    </cdr:from>
    <cdr:to>
      <cdr:x>0.83417</cdr:x>
      <cdr:y>0.4511</cdr:y>
    </cdr:to>
    <cdr:cxnSp macro="">
      <cdr:nvCxnSpPr>
        <cdr:cNvPr id="4" name="Straight Arrow Connector 3">
          <a:extLst xmlns:a="http://schemas.openxmlformats.org/drawingml/2006/main">
            <a:ext uri="{FF2B5EF4-FFF2-40B4-BE49-F238E27FC236}">
              <a16:creationId xmlns:a16="http://schemas.microsoft.com/office/drawing/2014/main" id="{BE70F63A-6447-4C1E-AE94-F3AA7D169B84}"/>
            </a:ext>
          </a:extLst>
        </cdr:cNvPr>
        <cdr:cNvCxnSpPr/>
      </cdr:nvCxnSpPr>
      <cdr:spPr>
        <a:xfrm xmlns:a="http://schemas.openxmlformats.org/drawingml/2006/main">
          <a:off x="3583393" y="1115919"/>
          <a:ext cx="0" cy="685800"/>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A: MENA</a:t>
          </a:r>
        </a:p>
      </cdr:txBody>
    </cdr:sp>
  </cdr:relSizeAnchor>
</c:userShapes>
</file>

<file path=ppt/drawings/drawing4.xml><?xml version="1.0" encoding="utf-8"?>
<c:userShapes xmlns:c="http://schemas.openxmlformats.org/drawingml/2006/chart">
  <cdr:relSizeAnchor xmlns:cdr="http://schemas.openxmlformats.org/drawingml/2006/chartDrawing">
    <cdr:from>
      <cdr:x>0.08802</cdr:x>
      <cdr:y>0</cdr:y>
    </cdr:from>
    <cdr:to>
      <cdr:x>0.94138</cdr:x>
      <cdr:y>0.07194</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257541" y="0"/>
          <a:ext cx="2497016" cy="29600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B: MENA Country Groups</a:t>
          </a: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0.81653</cdr:y>
    </cdr:from>
    <cdr:to>
      <cdr:x>1</cdr:x>
      <cdr:y>1</cdr:y>
    </cdr:to>
    <cdr:sp macro="" textlink="">
      <cdr:nvSpPr>
        <cdr:cNvPr id="4" name="TextBox 3">
          <a:extLst xmlns:a="http://schemas.openxmlformats.org/drawingml/2006/main">
            <a:ext uri="{FF2B5EF4-FFF2-40B4-BE49-F238E27FC236}">
              <a16:creationId xmlns:a16="http://schemas.microsoft.com/office/drawing/2014/main" id="{2A63A459-9966-4CFF-9112-DF10CA8D8FDE}"/>
            </a:ext>
          </a:extLst>
        </cdr:cNvPr>
        <cdr:cNvSpPr txBox="1"/>
      </cdr:nvSpPr>
      <cdr:spPr>
        <a:xfrm xmlns:a="http://schemas.openxmlformats.org/drawingml/2006/main">
          <a:off x="0" y="3857625"/>
          <a:ext cx="6167439" cy="8667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p>
      </cdr:txBody>
    </cdr:sp>
  </cdr:relSizeAnchor>
</c:userShapes>
</file>

<file path=ppt/drawings/drawing6.xml><?xml version="1.0" encoding="utf-8"?>
<c:userShapes xmlns:c="http://schemas.openxmlformats.org/drawingml/2006/chart">
  <cdr:relSizeAnchor xmlns:cdr="http://schemas.openxmlformats.org/drawingml/2006/chartDrawing">
    <cdr:from>
      <cdr:x>0.4981</cdr:x>
      <cdr:y>0</cdr:y>
    </cdr:from>
    <cdr:to>
      <cdr:x>0.5038</cdr:x>
      <cdr:y>0.76174</cdr:y>
    </cdr:to>
    <cdr:cxnSp macro="">
      <cdr:nvCxnSpPr>
        <cdr:cNvPr id="3" name="Straight Connector 2">
          <a:extLst xmlns:a="http://schemas.openxmlformats.org/drawingml/2006/main">
            <a:ext uri="{FF2B5EF4-FFF2-40B4-BE49-F238E27FC236}">
              <a16:creationId xmlns:a16="http://schemas.microsoft.com/office/drawing/2014/main" id="{413F15E9-10C3-4989-90D7-9CF81FAA91CC}"/>
            </a:ext>
          </a:extLst>
        </cdr:cNvPr>
        <cdr:cNvCxnSpPr/>
      </cdr:nvCxnSpPr>
      <cdr:spPr>
        <a:xfrm xmlns:a="http://schemas.openxmlformats.org/drawingml/2006/main" flipH="1">
          <a:off x="2495550" y="0"/>
          <a:ext cx="28575" cy="2162175"/>
        </a:xfrm>
        <a:prstGeom xmlns:a="http://schemas.openxmlformats.org/drawingml/2006/main" prst="line">
          <a:avLst/>
        </a:prstGeom>
        <a:ln xmlns:a="http://schemas.openxmlformats.org/drawingml/2006/main" w="19050">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0.17708</cdr:x>
      <cdr:y>0.01042</cdr:y>
    </cdr:from>
    <cdr:to>
      <cdr:x>0.86875</cdr:x>
      <cdr:y>0.06514</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1052493" y="65520"/>
          <a:ext cx="4111010" cy="34405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dirty="0">
              <a:solidFill>
                <a:sysClr val="windowText" lastClr="000000"/>
              </a:solidFill>
            </a:rPr>
            <a:t>Panel A: Difference in GDP</a:t>
          </a:r>
          <a:r>
            <a:rPr lang="en-US" sz="1100" b="1" baseline="0" dirty="0">
              <a:solidFill>
                <a:sysClr val="windowText" lastClr="000000"/>
              </a:solidFill>
            </a:rPr>
            <a:t> Growth (percentage)</a:t>
          </a:r>
          <a:endParaRPr lang="en-US" sz="1100" b="1" dirty="0">
            <a:solidFill>
              <a:sysClr val="windowText" lastClr="000000"/>
            </a:solidFill>
          </a:endParaRPr>
        </a:p>
      </cdr:txBody>
    </cdr:sp>
  </cdr:relSizeAnchor>
  <cdr:relSizeAnchor xmlns:cdr="http://schemas.openxmlformats.org/drawingml/2006/chartDrawing">
    <cdr:from>
      <cdr:x>0</cdr:x>
      <cdr:y>0.66958</cdr:y>
    </cdr:from>
    <cdr:to>
      <cdr:x>1</cdr:x>
      <cdr:y>0.99252</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2914650"/>
          <a:ext cx="5438775" cy="14057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effectLst/>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0.17708</cdr:x>
      <cdr:y>0.01042</cdr:y>
    </cdr:from>
    <cdr:to>
      <cdr:x>0.86875</cdr:x>
      <cdr:y>0.13889</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809625" y="28575"/>
          <a:ext cx="3162300" cy="35242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a:solidFill>
                <a:sysClr val="windowText" lastClr="000000"/>
              </a:solidFill>
            </a:rPr>
            <a:t>Panel B: Difference in Governance (score)</a:t>
          </a:r>
        </a:p>
      </cdr:txBody>
    </cdr:sp>
  </cdr:relSizeAnchor>
  <cdr:relSizeAnchor xmlns:cdr="http://schemas.openxmlformats.org/drawingml/2006/chartDrawing">
    <cdr:from>
      <cdr:x>0</cdr:x>
      <cdr:y>0.65567</cdr:y>
    </cdr:from>
    <cdr:to>
      <cdr:x>1</cdr:x>
      <cdr:y>1</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3028950"/>
          <a:ext cx="5943600" cy="15906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marL="0" marR="0" lvl="0" indent="0" defTabSz="914400" eaLnBrk="1" fontAlgn="auto" latinLnBrk="0" hangingPunct="1">
            <a:lnSpc>
              <a:spcPct val="100000"/>
            </a:lnSpc>
            <a:spcBef>
              <a:spcPts val="0"/>
            </a:spcBef>
            <a:spcAft>
              <a:spcPts val="0"/>
            </a:spcAft>
            <a:buClrTx/>
            <a:buSzTx/>
            <a:buFontTx/>
            <a:buNone/>
            <a:tabLst/>
            <a:defRPr/>
          </a:pPr>
          <a:endParaRPr lang="en-US" sz="1000">
            <a:effectLst/>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230F53-2CC1-4A92-9044-EA0DFE640481}" type="datetimeFigureOut">
              <a:rPr lang="en-US" smtClean="0"/>
              <a:t>5/29/2021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792BB6-533F-41D9-970B-734BC0E321AA}" type="slidenum">
              <a:rPr lang="en-US" smtClean="0"/>
              <a:t>‹#›</a:t>
            </a:fld>
            <a:endParaRPr lang="en-US"/>
          </a:p>
        </p:txBody>
      </p:sp>
    </p:spTree>
    <p:extLst>
      <p:ext uri="{BB962C8B-B14F-4D97-AF65-F5344CB8AC3E}">
        <p14:creationId xmlns:p14="http://schemas.microsoft.com/office/powerpoint/2010/main" val="998668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Roberta, for the very kind introduction. Good morning, good afternoon, and good evening. </a:t>
            </a:r>
          </a:p>
          <a:p>
            <a:r>
              <a:rPr lang="en-US" dirty="0"/>
              <a:t>This is my great honor and pleasure to be here, jointly with Ha, on behalf of the MENA Economic Update team, to present to you our semi-annual flagship report MENA Economic Update, April 2021. </a:t>
            </a:r>
          </a:p>
          <a:p>
            <a:r>
              <a:rPr lang="en-US" dirty="0"/>
              <a:t>Please allow me to start with a big thank you to the team.</a:t>
            </a:r>
          </a:p>
        </p:txBody>
      </p:sp>
      <p:sp>
        <p:nvSpPr>
          <p:cNvPr id="4" name="Slide Number Placeholder 3"/>
          <p:cNvSpPr>
            <a:spLocks noGrp="1"/>
          </p:cNvSpPr>
          <p:nvPr>
            <p:ph type="sldNum" sz="quarter" idx="5"/>
          </p:nvPr>
        </p:nvSpPr>
        <p:spPr/>
        <p:txBody>
          <a:bodyPr/>
          <a:lstStyle/>
          <a:p>
            <a:fld id="{47792BB6-533F-41D9-970B-734BC0E321AA}" type="slidenum">
              <a:rPr lang="en-US" smtClean="0"/>
              <a:t>1</a:t>
            </a:fld>
            <a:endParaRPr lang="en-US"/>
          </a:p>
        </p:txBody>
      </p:sp>
    </p:spTree>
    <p:extLst>
      <p:ext uri="{BB962C8B-B14F-4D97-AF65-F5344CB8AC3E}">
        <p14:creationId xmlns:p14="http://schemas.microsoft.com/office/powerpoint/2010/main" val="3578170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thank the team, Roberta, Daniel, Ha, Asif, Claudio, Sultan, for their incredibly hard work in this production.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Daniel for his intellectual leadership.</a:t>
            </a:r>
          </a:p>
          <a:p>
            <a:r>
              <a:rPr lang="en-US" dirty="0"/>
              <a:t>We want to thank Roberta, our chief economist, for her push for the institutions and transparency angle</a:t>
            </a:r>
          </a:p>
        </p:txBody>
      </p:sp>
      <p:sp>
        <p:nvSpPr>
          <p:cNvPr id="4" name="Slide Number Placeholder 3"/>
          <p:cNvSpPr>
            <a:spLocks noGrp="1"/>
          </p:cNvSpPr>
          <p:nvPr>
            <p:ph type="sldNum" sz="quarter" idx="5"/>
          </p:nvPr>
        </p:nvSpPr>
        <p:spPr/>
        <p:txBody>
          <a:bodyPr/>
          <a:lstStyle/>
          <a:p>
            <a:fld id="{47792BB6-533F-41D9-970B-734BC0E321AA}" type="slidenum">
              <a:rPr lang="en-US" smtClean="0"/>
              <a:t>2</a:t>
            </a:fld>
            <a:endParaRPr lang="en-US"/>
          </a:p>
        </p:txBody>
      </p:sp>
    </p:spTree>
    <p:extLst>
      <p:ext uri="{BB962C8B-B14F-4D97-AF65-F5344CB8AC3E}">
        <p14:creationId xmlns:p14="http://schemas.microsoft.com/office/powerpoint/2010/main" val="1916800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can probably already see from the title: </a:t>
            </a:r>
            <a:r>
              <a:rPr lang="en-CA" sz="1200" dirty="0"/>
              <a:t>Living with debt: how institutions can chart a path to recovery in the middle east and north Africa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that this edition includes not only an update of the Economic Situation of the region, but also some reflections of the role of fiscal policy.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our main findings of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year ago, the first cases of COVID-19 hit the MENA region. One year later, the region remains in a crisis.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pandemic is forcing economies in the MENA region to borrow a lot. While addressing the immediate concerns of the disaster relief, MENA countries need to be aware of the tension </a:t>
            </a:r>
            <a:r>
              <a:rPr lang="en-US" dirty="0"/>
              <a:t>between short-term needs and long-run risks of public debt, and a balancing act between the two would be essential.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Thus countries are facing touch choices, and public expenditure priorities depend on the phase of the recovery.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emphasis that, in every stage of the recovery, transparency can help chart a path to lasting recovery for MENA.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Borrowing a sentence from our president David </a:t>
            </a:r>
            <a:r>
              <a:rPr lang="en-US" dirty="0" err="1"/>
              <a:t>Malpass</a:t>
            </a:r>
            <a:r>
              <a:rPr lang="en-US" dirty="0"/>
              <a:t>, sunlight is truly the best remedy.</a:t>
            </a:r>
          </a:p>
        </p:txBody>
      </p:sp>
      <p:sp>
        <p:nvSpPr>
          <p:cNvPr id="4" name="Slide Number Placeholder 3"/>
          <p:cNvSpPr>
            <a:spLocks noGrp="1"/>
          </p:cNvSpPr>
          <p:nvPr>
            <p:ph type="sldNum" sz="quarter" idx="5"/>
          </p:nvPr>
        </p:nvSpPr>
        <p:spPr/>
        <p:txBody>
          <a:bodyPr/>
          <a:lstStyle/>
          <a:p>
            <a:fld id="{47792BB6-533F-41D9-970B-734BC0E321AA}" type="slidenum">
              <a:rPr lang="en-US" smtClean="0"/>
              <a:t>3</a:t>
            </a:fld>
            <a:endParaRPr lang="en-US"/>
          </a:p>
        </p:txBody>
      </p:sp>
    </p:spTree>
    <p:extLst>
      <p:ext uri="{BB962C8B-B14F-4D97-AF65-F5344CB8AC3E}">
        <p14:creationId xmlns:p14="http://schemas.microsoft.com/office/powerpoint/2010/main" val="395833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MENA is still in crisis from an economic point of view. </a:t>
            </a:r>
          </a:p>
          <a:p>
            <a:r>
              <a:rPr lang="en-US" dirty="0"/>
              <a:t>The LHS panel is a comparison of growth in GDP levels. And the RHS is a comparison of growth in GDP per capita levels.</a:t>
            </a:r>
          </a:p>
          <a:p>
            <a:r>
              <a:rPr lang="en-US" dirty="0"/>
              <a:t>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end of 2021 GDP level will be 7.2 percentage points below where it was predicted to be in a no-pandemic world. This gap of 7.2 percentage points is equivalent to 227 billion dollars.</a:t>
            </a:r>
          </a:p>
          <a:p>
            <a:endParaRPr lang="en-US" dirty="0"/>
          </a:p>
          <a:p>
            <a:r>
              <a:rPr lang="en-US" dirty="0"/>
              <a:t>This drop results from a GDP contraction in 2020, compared to a positive growth predicted before pandemic. Add up to that, a slower forecasted growth for 2021.</a:t>
            </a:r>
          </a:p>
          <a:p>
            <a:endParaRPr lang="en-US" dirty="0"/>
          </a:p>
          <a:p>
            <a:endParaRPr lang="en-US" dirty="0"/>
          </a:p>
          <a:p>
            <a:r>
              <a:rPr lang="en-US" dirty="0"/>
              <a:t>This counterfactual comparison is even sharper if we look at GDP per capita levels, which is a better measure for living standards. </a:t>
            </a:r>
          </a:p>
          <a:p>
            <a:r>
              <a:rPr lang="en-US" dirty="0"/>
              <a:t>By the end of 2021, GDP per capita level will be 7 percentage points below where it was predicted to be in a no-pandemic world. More importantly, even with the positive growth in 2021, by end of 2021, the level of GDP per capita will still be 5% lower than its level back in 2019.</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4</a:t>
            </a:fld>
            <a:endParaRPr lang="en-US"/>
          </a:p>
        </p:txBody>
      </p:sp>
    </p:spTree>
    <p:extLst>
      <p:ext uri="{BB962C8B-B14F-4D97-AF65-F5344CB8AC3E}">
        <p14:creationId xmlns:p14="http://schemas.microsoft.com/office/powerpoint/2010/main" val="3654587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 zoom in the loss in terms of GDP per capita, by decomposing MENA into three countries groups, t</a:t>
            </a:r>
            <a:r>
              <a:rPr lang="en-US" sz="1200" b="0" i="0" u="none" kern="1200" dirty="0">
                <a:solidFill>
                  <a:schemeClr val="tx1"/>
                </a:solidFill>
                <a:effectLst/>
                <a:latin typeface="+mn-lt"/>
                <a:ea typeface="+mn-ea"/>
                <a:cs typeface="+mn-cs"/>
              </a:rPr>
              <a:t>hen the biggest loss, compared to pre-pandemic forecast, would come from Developing oil importers (represented by red lines), followed by GCC (Gulf Cooperation Council countries, represented by blue lines), and other oil exporters (represented by gold lines). </a:t>
            </a:r>
          </a:p>
          <a:p>
            <a:endParaRPr lang="en-US" dirty="0"/>
          </a:p>
          <a:p>
            <a:r>
              <a:rPr lang="en-US" dirty="0"/>
              <a:t>Again, 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kern="1200" dirty="0">
              <a:solidFill>
                <a:schemeClr val="tx1"/>
              </a:solidFill>
              <a:effectLst/>
              <a:latin typeface="+mn-lt"/>
              <a:ea typeface="+mn-ea"/>
              <a:cs typeface="+mn-cs"/>
            </a:endParaRPr>
          </a:p>
          <a:p>
            <a:r>
              <a:rPr lang="en-US" dirty="0"/>
              <a:t>The region’s oil importing countries entered 2020 with the highest public debt. By the end of 2021, their GDP per capita will be 8.6 percentage points below where it could have been in a no-pandemic world, comparing the red dotted line and the red solid line.</a:t>
            </a:r>
          </a:p>
          <a:p>
            <a:endParaRPr lang="en-US" dirty="0"/>
          </a:p>
          <a:p>
            <a:r>
              <a:rPr lang="en-US" dirty="0"/>
              <a:t>This drop results from a GDP per capita contraction in 2020 and a slight recovery in 2021, compared to a 3% growth in both years in a no-pandemic world.</a:t>
            </a:r>
          </a:p>
          <a:p>
            <a:endParaRPr lang="en-US" dirty="0"/>
          </a:p>
          <a:p>
            <a:r>
              <a:rPr lang="en-US" sz="1200" b="0" i="0" u="none" kern="1200" dirty="0">
                <a:solidFill>
                  <a:schemeClr val="tx1"/>
                </a:solidFill>
                <a:effectLst/>
                <a:latin typeface="+mn-lt"/>
                <a:ea typeface="+mn-ea"/>
                <a:cs typeface="+mn-cs"/>
              </a:rPr>
              <a:t>Last but not least from this chart, none of the country groups can return to its 2019 level by the end of 2021.</a:t>
            </a:r>
          </a:p>
        </p:txBody>
      </p:sp>
      <p:sp>
        <p:nvSpPr>
          <p:cNvPr id="4" name="Slide Number Placeholder 3"/>
          <p:cNvSpPr>
            <a:spLocks noGrp="1"/>
          </p:cNvSpPr>
          <p:nvPr>
            <p:ph type="sldNum" sz="quarter" idx="5"/>
          </p:nvPr>
        </p:nvSpPr>
        <p:spPr/>
        <p:txBody>
          <a:bodyPr/>
          <a:lstStyle/>
          <a:p>
            <a:fld id="{47792BB6-533F-41D9-970B-734BC0E321AA}" type="slidenum">
              <a:rPr lang="en-US" smtClean="0"/>
              <a:t>5</a:t>
            </a:fld>
            <a:endParaRPr lang="en-US"/>
          </a:p>
        </p:txBody>
      </p:sp>
    </p:spTree>
    <p:extLst>
      <p:ext uri="{BB962C8B-B14F-4D97-AF65-F5344CB8AC3E}">
        <p14:creationId xmlns:p14="http://schemas.microsoft.com/office/powerpoint/2010/main" val="1301831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Because of that, poverty is rising in the region.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In this chart, the black line represent the estimated headcount of poverty (i.e. those making less than $5.50 per day) in a no-pandemic world. And the redline is the estimated poverty headcount based on latest GDP forecasts.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number of poor people in the region is expected to increase from 176 million in 2019 to 192 million people by the end of 2021. This is an extra 14 million people falling into poverty following the pandemic, all of whom wouldn’t have been in poverty if not hit by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Noted that this forecast provides only a lower threshold, because it assumes that every household is equally affected. Unfortunately, the effect of Covid‐19 is not equal to the population, and the poorer side of the population suffers most from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792BB6-533F-41D9-970B-734BC0E321AA}" type="slidenum">
              <a:rPr lang="en-US" smtClean="0"/>
              <a:t>6</a:t>
            </a:fld>
            <a:endParaRPr lang="en-US"/>
          </a:p>
        </p:txBody>
      </p:sp>
    </p:spTree>
    <p:extLst>
      <p:ext uri="{BB962C8B-B14F-4D97-AF65-F5344CB8AC3E}">
        <p14:creationId xmlns:p14="http://schemas.microsoft.com/office/powerpoint/2010/main" val="185542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many aspects where inequality is in the rise, lies in the food price inflation. </a:t>
            </a:r>
          </a:p>
          <a:p>
            <a:r>
              <a:rPr lang="en-US" dirty="0"/>
              <a:t>In this chart, the horizonal axis represents countries in the MENA region, and the vertical axis represent different foods, such as rice, bread, tomatoes, etc. So each little square represent one food in one country. If the price is red, that means the food price is more than 20% compared to a year ago. </a:t>
            </a:r>
          </a:p>
          <a:p>
            <a:r>
              <a:rPr lang="en-US" dirty="0"/>
              <a:t>The country that’s most worrisome in this chart is Lebanon, where prices are almost all more than 20% more expensive, compared to a year ago, and some are more than 100% more expensive.</a:t>
            </a:r>
          </a:p>
          <a:p>
            <a:r>
              <a:rPr lang="en-US" dirty="0"/>
              <a:t>Syria, Yemen, Djibouti, Iran are also on the hot spot. Even in Morocco, prices for fruits and vegetables (oranges; lettuce) are more than 20% higher compared to a year ago.</a:t>
            </a:r>
          </a:p>
        </p:txBody>
      </p:sp>
      <p:sp>
        <p:nvSpPr>
          <p:cNvPr id="4" name="Slide Number Placeholder 3"/>
          <p:cNvSpPr>
            <a:spLocks noGrp="1"/>
          </p:cNvSpPr>
          <p:nvPr>
            <p:ph type="sldNum" sz="quarter" idx="5"/>
          </p:nvPr>
        </p:nvSpPr>
        <p:spPr/>
        <p:txBody>
          <a:bodyPr/>
          <a:lstStyle/>
          <a:p>
            <a:fld id="{47792BB6-533F-41D9-970B-734BC0E321AA}" type="slidenum">
              <a:rPr lang="en-US" smtClean="0"/>
              <a:t>7</a:t>
            </a:fld>
            <a:endParaRPr lang="en-US"/>
          </a:p>
        </p:txBody>
      </p:sp>
    </p:spTree>
    <p:extLst>
      <p:ext uri="{BB962C8B-B14F-4D97-AF65-F5344CB8AC3E}">
        <p14:creationId xmlns:p14="http://schemas.microsoft.com/office/powerpoint/2010/main" val="314163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MENA remains in the crisis, countries are walking the tight rope of rising public debt.</a:t>
            </a:r>
          </a:p>
          <a:p>
            <a:r>
              <a:rPr lang="en-US" dirty="0"/>
              <a:t>The blue bars in this chart represent median public debt for each of the MENA country groups, the three bars on the left represent situations in 2019, and the three bars on the right represent median public debt in 2020.</a:t>
            </a:r>
          </a:p>
          <a:p>
            <a:r>
              <a:rPr lang="en-US" dirty="0"/>
              <a:t>The yellow diamonds represent world median public debt of the corresponding income group. MENA high income countries (i.e. GCC) are compared with world median of high-income countries, and MENA Middle-income oil exporters and oil importers are compared with world median of middle-income countries.</a:t>
            </a:r>
          </a:p>
          <a:p>
            <a:endParaRPr lang="en-US" dirty="0"/>
          </a:p>
          <a:p>
            <a:endParaRPr lang="en-US" dirty="0"/>
          </a:p>
          <a:p>
            <a:r>
              <a:rPr lang="en-US" dirty="0"/>
              <a:t>We could already see a global increase in public debt, when all three yellow diamonds moved higher in 2020 compared to 2019.</a:t>
            </a:r>
          </a:p>
          <a:p>
            <a:endParaRPr lang="en-US" dirty="0"/>
          </a:p>
          <a:p>
            <a:r>
              <a:rPr lang="en-US" dirty="0"/>
              <a:t>And MENA is no exception. Most worrisome are MENA oil importers that are highlighted with a red box, who entered 2020 with highest public debt. </a:t>
            </a:r>
          </a:p>
          <a:p>
            <a:r>
              <a:rPr lang="en-US" dirty="0"/>
              <a:t>During the pandemic, public debt in middle-income oil importers have increased from 72 to almost 90, high above the debt level of a typical world middle-income country.</a:t>
            </a:r>
          </a:p>
          <a:p>
            <a:r>
              <a:rPr lang="en-US" dirty="0"/>
              <a:t>MENA middle-income oil exporters had also accumulated debt, and have passed its peers in the middle income group.</a:t>
            </a:r>
          </a:p>
          <a:p>
            <a:endParaRPr lang="en-US" dirty="0"/>
          </a:p>
          <a:p>
            <a:r>
              <a:rPr lang="en-US" dirty="0"/>
              <a:t>For these countries, making decision about fiscal expenditure would be walking the tight rope. </a:t>
            </a:r>
          </a:p>
          <a:p>
            <a:endParaRPr lang="en-US" dirty="0"/>
          </a:p>
          <a:p>
            <a:r>
              <a:rPr lang="en-US" dirty="0"/>
              <a:t>My colleague Ha, will walk you through the details of this tight rope. </a:t>
            </a:r>
            <a:r>
              <a:rPr lang="en-US" dirty="0">
                <a:sym typeface="Wingdings" panose="05000000000000000000" pitchFamily="2" charset="2"/>
              </a:rPr>
              <a:t></a:t>
            </a:r>
          </a:p>
          <a:p>
            <a:endParaRPr lang="en-US" dirty="0"/>
          </a:p>
          <a:p>
            <a:r>
              <a:rPr lang="en-US" dirty="0"/>
              <a:t>-----------------------------------------------------------------------------------------------------</a:t>
            </a:r>
          </a:p>
          <a:p>
            <a:r>
              <a:rPr lang="en-US" dirty="0"/>
              <a:t>Debt/GDP is rising because of a combinations of factors:</a:t>
            </a:r>
          </a:p>
          <a:p>
            <a:endParaRPr lang="en-US" dirty="0"/>
          </a:p>
          <a:p>
            <a:r>
              <a:rPr lang="en-US" dirty="0"/>
              <a:t> --</a:t>
            </a:r>
            <a:r>
              <a:rPr lang="en-US" i="1" dirty="0"/>
              <a:t>negative GDP growth </a:t>
            </a:r>
            <a:r>
              <a:rPr lang="en-US" dirty="0"/>
              <a:t>in majority of countries, but most notably, Iraq (-11.9% in 2020); Tunisia (-8.8%); Morocco (-7%). Three exceptions (Iran: 1.7%; Egypt: 3.6% and Djibouti: 0.5%).</a:t>
            </a:r>
          </a:p>
          <a:p>
            <a:endParaRPr lang="en-US" dirty="0"/>
          </a:p>
          <a:p>
            <a:r>
              <a:rPr lang="en-US" dirty="0"/>
              <a:t>and </a:t>
            </a:r>
            <a:r>
              <a:rPr lang="en-US" i="1" dirty="0"/>
              <a:t>rising debt</a:t>
            </a:r>
            <a:r>
              <a:rPr lang="en-US" dirty="0"/>
              <a:t>. This in turn is due to: </a:t>
            </a:r>
          </a:p>
          <a:p>
            <a:endParaRPr lang="en-US" dirty="0"/>
          </a:p>
          <a:p>
            <a:pPr marL="228600" indent="-228600">
              <a:buAutoNum type="arabicPeriod"/>
            </a:pPr>
            <a:r>
              <a:rPr lang="en-US" dirty="0"/>
              <a:t>primary deficits, which were the driving force in many oil exporters, largest in Libya (45% of GDP in 2020), but also GCC countries (e.g. Kuwait 25%, Oman: 14%; Bahrain: 12%).</a:t>
            </a:r>
          </a:p>
          <a:p>
            <a:pPr marL="0" indent="0">
              <a:buNone/>
            </a:pPr>
            <a:r>
              <a:rPr lang="en-US" dirty="0"/>
              <a:t>	a. Primary deficits were mainly due to drop in revenues: for oil exporters (Iraq: -41% drop in real revenue in 2020 compared to 2019; </a:t>
            </a:r>
            <a:r>
              <a:rPr lang="en-US" dirty="0" err="1"/>
              <a:t>Lybia</a:t>
            </a:r>
            <a:r>
              <a:rPr lang="en-US" dirty="0"/>
              <a:t> (-60%); UAE (-31%); Kuwait (-29%) and other GCC countries with similar magnitude); but also for oil importers, e.g., Tunisia (-6.1%); Morocco (-6.9%)</a:t>
            </a:r>
          </a:p>
          <a:p>
            <a:pPr marL="0" indent="0">
              <a:buNone/>
            </a:pPr>
            <a:r>
              <a:rPr lang="en-US" dirty="0"/>
              <a:t>	b. and in some cases, large countercyclical increases in spending, e.g., in Tunisia (real primary expenditure in 2020 was up 13% compared to 2019), Morocco (+7%). Note that many others also put together stimulus packages as well (e.g. Bahrain 4% of GDP and then partially extended; UAE: ~3% of GDP; Saudi Arabia: ~3% of GDP) although their primary expenditure did not increase as much as Tunisia and Morocco.</a:t>
            </a:r>
          </a:p>
          <a:p>
            <a:pPr marL="0" indent="0">
              <a:buNone/>
            </a:pPr>
            <a:endParaRPr lang="en-US" dirty="0"/>
          </a:p>
          <a:p>
            <a:r>
              <a:rPr lang="en-US" dirty="0"/>
              <a:t>For example, the fiscal packages for Tunisia put together were around 2.3% of GDP (announced in March 2020 covering both 2020 and 2021), consists a combination of transfers, support to firms and sectors such as tourism in the form of interest rate subsidy and support to unemployed and self-employed (IMF)</a:t>
            </a:r>
          </a:p>
          <a:p>
            <a:r>
              <a:rPr lang="en-US" dirty="0"/>
              <a:t>Morocco created a special fund in early 2020 (3% of GDP) for health spending, defer social contribution, unemployment support, tax deferral, also support to informal workers (IMF).</a:t>
            </a:r>
          </a:p>
          <a:p>
            <a:endParaRPr lang="en-US" dirty="0"/>
          </a:p>
          <a:p>
            <a:r>
              <a:rPr lang="en-US" dirty="0"/>
              <a:t>By comparison,  high income country like the US, the combined fiscal packages were much larger (11%+4% and most recent in 2021, 9% ~25% of GDP); Germany (20% of GDP as of December 2020); Japan (42% as of Dec 2020); Australia (16%)  (https://time.com/5923840/us-pandemic-relief-bill-december/) </a:t>
            </a:r>
          </a:p>
          <a:p>
            <a:endParaRPr lang="en-US" dirty="0"/>
          </a:p>
          <a:p>
            <a:r>
              <a:rPr lang="en-US" dirty="0"/>
              <a:t>Other middle-income countries’ fiscal packages are usually &lt;10% (Mexico ~1%; China: 5% of GDP; India: 8%; Brazil: 10%; Vietnam: 3.6%; Indonesia: 3.8%). On average, e</a:t>
            </a:r>
            <a:r>
              <a:rPr lang="en-US" sz="1200" kern="1200" dirty="0">
                <a:solidFill>
                  <a:schemeClr val="tx1"/>
                </a:solidFill>
                <a:effectLst/>
                <a:latin typeface="+mn-lt"/>
                <a:ea typeface="+mn-ea"/>
                <a:cs typeface="+mn-cs"/>
              </a:rPr>
              <a:t>merging markets and middle-income economies’ (EMMIEs) deployed all instruments for the fiscal response, with about 3.4 percent of GDP in expenditure and revenue measures and 2.5 percent of GDP in support through other instruments. </a:t>
            </a:r>
            <a:endParaRPr lang="en-US" dirty="0"/>
          </a:p>
          <a:p>
            <a:endParaRPr lang="en-US" dirty="0"/>
          </a:p>
          <a:p>
            <a:r>
              <a:rPr lang="en-US" dirty="0"/>
              <a:t>2. Interest payments  </a:t>
            </a:r>
          </a:p>
          <a:p>
            <a:r>
              <a:rPr lang="en-US" dirty="0"/>
              <a:t>In some countries (Egypt), interest payments were around 10% of GDP in 2020. However, note that debt-GDP ratio in Egypt slightly declined (from 90% in 2019 to 87.5% in 2020), due to positive growth and primary balance.</a:t>
            </a:r>
          </a:p>
          <a:p>
            <a:endParaRPr lang="en-US" dirty="0"/>
          </a:p>
          <a:p>
            <a:r>
              <a:rPr lang="en-US" dirty="0"/>
              <a:t>These increases in public debt overlay on already worryingly high debt levels in MIC oil importers (for 2019 LB: 171% +; TN: 72% +; Egypt 90% flat;  JO: 97% +) --- the MIC oil exporter IRAQ from 48% to 69%, </a:t>
            </a:r>
            <a:r>
              <a:rPr lang="en-US" dirty="0" err="1"/>
              <a:t>Lybia</a:t>
            </a:r>
            <a:r>
              <a:rPr lang="en-US" dirty="0"/>
              <a:t> from 49% to 137% (two factors: GDP drop 30%, and primary deficits (45% of GDP) due to drop in oil exports and oil revenue.</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8</a:t>
            </a:fld>
            <a:endParaRPr lang="en-US"/>
          </a:p>
        </p:txBody>
      </p:sp>
    </p:spTree>
    <p:extLst>
      <p:ext uri="{BB962C8B-B14F-4D97-AF65-F5344CB8AC3E}">
        <p14:creationId xmlns:p14="http://schemas.microsoft.com/office/powerpoint/2010/main" val="2775704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9</a:t>
            </a:fld>
            <a:endParaRPr lang="en-US"/>
          </a:p>
        </p:txBody>
      </p:sp>
    </p:spTree>
    <p:extLst>
      <p:ext uri="{BB962C8B-B14F-4D97-AF65-F5344CB8AC3E}">
        <p14:creationId xmlns:p14="http://schemas.microsoft.com/office/powerpoint/2010/main" val="283166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a:t>
            </a:r>
          </a:p>
          <a:p>
            <a:pPr marL="291179" indent="-291179">
              <a:buFont typeface="Arial" panose="020B0604020202020204" pitchFamily="34" charset="0"/>
              <a:buChar char="•"/>
            </a:pPr>
            <a:r>
              <a:rPr lang="en-US" dirty="0"/>
              <a:t>Disaster Relief: Support firms and households </a:t>
            </a:r>
          </a:p>
          <a:p>
            <a:pPr marL="291179" indent="-291179">
              <a:buFont typeface="Arial" panose="020B0604020202020204" pitchFamily="34" charset="0"/>
              <a:buChar char="•"/>
            </a:pPr>
            <a:r>
              <a:rPr lang="en-US" dirty="0"/>
              <a:t>Public Health Spending</a:t>
            </a:r>
          </a:p>
          <a:p>
            <a:pPr marL="291179" indent="-291179">
              <a:buFont typeface="Arial" panose="020B0604020202020204" pitchFamily="34" charset="0"/>
              <a:buChar char="•"/>
            </a:pPr>
            <a:endParaRPr lang="en-US" dirty="0"/>
          </a:p>
          <a:p>
            <a:pPr marL="291179" indent="-291179">
              <a:buFont typeface="Arial" panose="020B0604020202020204" pitchFamily="34" charset="0"/>
              <a:buChar char="•"/>
            </a:pPr>
            <a:endParaRPr lang="en-US" dirty="0"/>
          </a:p>
          <a:p>
            <a:r>
              <a:rPr lang="en-US" dirty="0"/>
              <a:t>Negative:</a:t>
            </a:r>
          </a:p>
          <a:p>
            <a:pPr marL="291179" indent="-291179">
              <a:buFont typeface="Arial" panose="020B0604020202020204" pitchFamily="34" charset="0"/>
              <a:buChar char="•"/>
            </a:pPr>
            <a:r>
              <a:rPr lang="en-US" dirty="0"/>
              <a:t>Crowding out of private investment (as </a:t>
            </a:r>
            <a:r>
              <a:rPr lang="en-US" i="1" dirty="0"/>
              <a:t>interest rates</a:t>
            </a:r>
            <a:r>
              <a:rPr lang="en-US" dirty="0"/>
              <a:t> rise)</a:t>
            </a:r>
          </a:p>
          <a:p>
            <a:pPr marL="291179" indent="-291179">
              <a:buFont typeface="Arial" panose="020B0604020202020204" pitchFamily="34" charset="0"/>
              <a:buChar char="•"/>
            </a:pPr>
            <a:r>
              <a:rPr lang="en-US" dirty="0"/>
              <a:t>Crowding out of public investment as interest payments rise</a:t>
            </a:r>
          </a:p>
          <a:p>
            <a:pPr marL="291179" indent="-291179">
              <a:buFont typeface="Arial" panose="020B0604020202020204" pitchFamily="34" charset="0"/>
              <a:buChar char="•"/>
            </a:pPr>
            <a:r>
              <a:rPr lang="en-US" dirty="0"/>
              <a:t>Macroeconomic vulnerability, rollover risk and likelihood of costly debt crises</a:t>
            </a:r>
          </a:p>
          <a:p>
            <a:endParaRPr lang="en-US" dirty="0"/>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10</a:t>
            </a:fld>
            <a:endParaRPr lang="en-US">
              <a:solidFill>
                <a:prstClr val="black"/>
              </a:solidFill>
              <a:latin typeface="Calibri" panose="020F0502020204030204"/>
            </a:endParaRPr>
          </a:p>
        </p:txBody>
      </p:sp>
    </p:spTree>
    <p:extLst>
      <p:ext uri="{BB962C8B-B14F-4D97-AF65-F5344CB8AC3E}">
        <p14:creationId xmlns:p14="http://schemas.microsoft.com/office/powerpoint/2010/main" val="57167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Evidence is based on over 300 episodes of severe natural disasters, with estimated reconstruction needs of at least 1% of GDP. The data cover episodes of natural disasters during 1960-2019. Sample is limited to developing economies. </a:t>
            </a:r>
          </a:p>
        </p:txBody>
      </p:sp>
      <p:sp>
        <p:nvSpPr>
          <p:cNvPr id="4" name="Slide Number Placeholder 3"/>
          <p:cNvSpPr>
            <a:spLocks noGrp="1"/>
          </p:cNvSpPr>
          <p:nvPr>
            <p:ph type="sldNum" sz="quarter" idx="5"/>
          </p:nvPr>
        </p:nvSpPr>
        <p:spPr/>
        <p:txBody>
          <a:bodyPr/>
          <a:lstStyle/>
          <a:p>
            <a:fld id="{47792BB6-533F-41D9-970B-734BC0E321AA}" type="slidenum">
              <a:rPr lang="en-US" smtClean="0"/>
              <a:t>11</a:t>
            </a:fld>
            <a:endParaRPr lang="en-US"/>
          </a:p>
        </p:txBody>
      </p:sp>
    </p:spTree>
    <p:extLst>
      <p:ext uri="{BB962C8B-B14F-4D97-AF65-F5344CB8AC3E}">
        <p14:creationId xmlns:p14="http://schemas.microsoft.com/office/powerpoint/2010/main" val="291568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12</a:t>
            </a:fld>
            <a:endParaRPr lang="en-US"/>
          </a:p>
        </p:txBody>
      </p:sp>
    </p:spTree>
    <p:extLst>
      <p:ext uri="{BB962C8B-B14F-4D97-AF65-F5344CB8AC3E}">
        <p14:creationId xmlns:p14="http://schemas.microsoft.com/office/powerpoint/2010/main" val="369672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13</a:t>
            </a:fld>
            <a:endParaRPr lang="en-US">
              <a:solidFill>
                <a:prstClr val="black"/>
              </a:solidFill>
              <a:latin typeface="Calibri" panose="020F0502020204030204"/>
            </a:endParaRPr>
          </a:p>
        </p:txBody>
      </p:sp>
    </p:spTree>
    <p:extLst>
      <p:ext uri="{BB962C8B-B14F-4D97-AF65-F5344CB8AC3E}">
        <p14:creationId xmlns:p14="http://schemas.microsoft.com/office/powerpoint/2010/main" val="973299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Pent-up demand: demand for goods and services are unusually strong</a:t>
            </a:r>
          </a:p>
        </p:txBody>
      </p:sp>
      <p:sp>
        <p:nvSpPr>
          <p:cNvPr id="4" name="Slide Number Placeholder 3"/>
          <p:cNvSpPr>
            <a:spLocks noGrp="1"/>
          </p:cNvSpPr>
          <p:nvPr>
            <p:ph type="sldNum" sz="quarter" idx="5"/>
          </p:nvPr>
        </p:nvSpPr>
        <p:spPr/>
        <p:txBody>
          <a:bodyPr/>
          <a:lstStyle/>
          <a:p>
            <a:fld id="{47792BB6-533F-41D9-970B-734BC0E321AA}" type="slidenum">
              <a:rPr lang="en-US" smtClean="0"/>
              <a:t>14</a:t>
            </a:fld>
            <a:endParaRPr lang="en-US"/>
          </a:p>
        </p:txBody>
      </p:sp>
    </p:spTree>
    <p:extLst>
      <p:ext uri="{BB962C8B-B14F-4D97-AF65-F5344CB8AC3E}">
        <p14:creationId xmlns:p14="http://schemas.microsoft.com/office/powerpoint/2010/main" val="543960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Episodes of debt distress = episodes of debt restructuring, both “pre-emptive” and “defaults”. </a:t>
            </a:r>
          </a:p>
        </p:txBody>
      </p:sp>
      <p:sp>
        <p:nvSpPr>
          <p:cNvPr id="4" name="Slide Number Placeholder 3"/>
          <p:cNvSpPr>
            <a:spLocks noGrp="1"/>
          </p:cNvSpPr>
          <p:nvPr>
            <p:ph type="sldNum" sz="quarter" idx="5"/>
          </p:nvPr>
        </p:nvSpPr>
        <p:spPr/>
        <p:txBody>
          <a:bodyPr/>
          <a:lstStyle/>
          <a:p>
            <a:fld id="{47792BB6-533F-41D9-970B-734BC0E321AA}" type="slidenum">
              <a:rPr lang="en-US" smtClean="0"/>
              <a:t>16</a:t>
            </a:fld>
            <a:endParaRPr lang="en-US"/>
          </a:p>
        </p:txBody>
      </p:sp>
    </p:spTree>
    <p:extLst>
      <p:ext uri="{BB962C8B-B14F-4D97-AF65-F5344CB8AC3E}">
        <p14:creationId xmlns:p14="http://schemas.microsoft.com/office/powerpoint/2010/main" val="4160887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19</a:t>
            </a:fld>
            <a:endParaRPr lang="en-US"/>
          </a:p>
        </p:txBody>
      </p:sp>
    </p:spTree>
    <p:extLst>
      <p:ext uri="{BB962C8B-B14F-4D97-AF65-F5344CB8AC3E}">
        <p14:creationId xmlns:p14="http://schemas.microsoft.com/office/powerpoint/2010/main" val="12204739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20</a:t>
            </a:fld>
            <a:endParaRPr lang="en-US"/>
          </a:p>
        </p:txBody>
      </p:sp>
    </p:spTree>
    <p:extLst>
      <p:ext uri="{BB962C8B-B14F-4D97-AF65-F5344CB8AC3E}">
        <p14:creationId xmlns:p14="http://schemas.microsoft.com/office/powerpoint/2010/main" val="73918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26D80-AC63-4EB9-B878-0C6243325D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27DA14-50AC-4520-B999-F3A4F92A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E6F951-06C5-4B5D-A336-8AF4D83265A9}"/>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492126E-7DF3-4AFC-9A8F-497A6F134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B8484C-C9BE-4D67-BA32-97CD416C196D}"/>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690878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E764-7784-4DD1-BB29-99D6E12676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E10E11-E08E-4A6C-A293-2E38A6E17C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8737E-001B-497E-B7E4-4BAABD6C25E0}"/>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039A4D29-20D8-424F-844E-2E995453C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90C78-7F2A-4BD5-930B-AAB323B82646}"/>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99124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0A51F-870B-48C1-B3F0-6E80121561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371E26-3307-4B0E-98F7-AD6C23AE35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34BB4B3-0B4B-48DD-ABDF-43E9259FAB88}"/>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68A4C4E4-35A6-49DF-9E04-8E80BD9A13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F80E63-91C8-430F-BFEB-4B1C44089EC9}"/>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223708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01766-2D86-4DC3-BBB5-5F15B7EC5B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6DD5-17F3-4E1F-B7EA-099C3AFC1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A85C7E-BF89-4A92-86DC-120C5580DF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BC9A782-95AA-4716-859C-EAB65FE2FF93}"/>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533867BE-D471-4C5B-8AD6-205581EE5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93F95E-035B-4D77-AE65-8783A84E3C68}"/>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850961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59E4-6DDA-4FD3-9E1A-32DA7437B0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A9AE8-FD2E-4315-9CC4-AD4390D80B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9D0A50-CF53-4AE9-B8BB-1755D2A8F3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7F4500C-6818-458C-8756-DDE518F4E0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D82D34-C207-4823-96F3-F8A67A0124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C59202F-AAD9-4C3E-B76F-ADEA74ADA34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8" name="Footer Placeholder 7">
            <a:extLst>
              <a:ext uri="{FF2B5EF4-FFF2-40B4-BE49-F238E27FC236}">
                <a16:creationId xmlns:a16="http://schemas.microsoft.com/office/drawing/2014/main" id="{D93706F5-861D-4A22-85A5-EE07D082D6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8D8E1B-1602-4DFE-96F7-7CD5CE3CA4A7}"/>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889813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DC55F-0675-4FED-A57A-B7969BC95C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751D2D-FBFC-4800-9D71-0FEFDD9D100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4" name="Footer Placeholder 3">
            <a:extLst>
              <a:ext uri="{FF2B5EF4-FFF2-40B4-BE49-F238E27FC236}">
                <a16:creationId xmlns:a16="http://schemas.microsoft.com/office/drawing/2014/main" id="{CE33143F-8CCA-4B3A-9925-D4C971EF79F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5DB134-84DF-47B8-87FE-880D5C0469A0}"/>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4115798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2402B-444B-446B-AB36-B50DC6A521E7}"/>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3" name="Footer Placeholder 2">
            <a:extLst>
              <a:ext uri="{FF2B5EF4-FFF2-40B4-BE49-F238E27FC236}">
                <a16:creationId xmlns:a16="http://schemas.microsoft.com/office/drawing/2014/main" id="{C05A272E-FB1C-4A8C-9C7D-F0C3F3109C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0FA3F8-4ED0-4A2F-B100-5FA3BE4F60B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55112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BF20-75EE-4BA2-9E0B-DCACA18E6C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013423-0CC6-4926-8792-9EFA4D29F8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912676-16F4-4D33-9B1F-80CFF4752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89FB2E-F034-4DD4-B4C5-BA2C33B49D6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700E10C0-8480-42CD-A8C4-CC2064DAA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3672E6-582D-48FD-84E6-618771384D25}"/>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099134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FD169-2A5D-43D0-B483-B8242784C9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F0CA0F-285F-477C-8884-88E35323A0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D2D4FD7-F769-4281-9551-6743D9652C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349C0F-A15F-45AC-9F83-0F3F6CA5FDE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86927047-E306-4440-A019-78391C0A50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053C5-DF09-4C01-8419-856728AF5E2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146517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C3380-FC59-47C0-83CE-A271F28C55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54E5CB2-89FA-44F8-9856-4D91399C0ED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A52B07-4C06-4377-A8DC-B7AFD8EB250D}"/>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11B84CD-410F-4C09-ABC5-5AB5E864ED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141815-AB1E-4982-B123-3065B248A6C1}"/>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64322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52F038-8883-487D-A3B6-12EFC9ACA24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405D04A-60DE-4A69-BEC2-369648CAA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A3B895-C2D1-402C-B676-9A343A422A71}"/>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9B5B33D-7C05-4741-817C-F0794C56E9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0E8F48-593B-42C0-B81B-1032D017CCDF}"/>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871848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a:t>BASIC LAYOUT</a:t>
            </a:r>
          </a:p>
        </p:txBody>
      </p:sp>
    </p:spTree>
    <p:extLst>
      <p:ext uri="{BB962C8B-B14F-4D97-AF65-F5344CB8AC3E}">
        <p14:creationId xmlns:p14="http://schemas.microsoft.com/office/powerpoint/2010/main" val="30015138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MENA Banner Green">
    <p:spTree>
      <p:nvGrpSpPr>
        <p:cNvPr id="1" name=""/>
        <p:cNvGrpSpPr/>
        <p:nvPr/>
      </p:nvGrpSpPr>
      <p:grpSpPr>
        <a:xfrm>
          <a:off x="0" y="0"/>
          <a:ext cx="0" cy="0"/>
          <a:chOff x="0" y="0"/>
          <a:chExt cx="0" cy="0"/>
        </a:xfrm>
      </p:grpSpPr>
      <p:pic>
        <p:nvPicPr>
          <p:cNvPr id="8" name="Picture 7" descr="A picture containing text, laser&#10;&#10;Description automatically generated">
            <a:extLst>
              <a:ext uri="{FF2B5EF4-FFF2-40B4-BE49-F238E27FC236}">
                <a16:creationId xmlns:a16="http://schemas.microsoft.com/office/drawing/2014/main" id="{EEDA9265-5A85-482F-A19E-07D90E057C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194626"/>
            <a:ext cx="12192000" cy="2468747"/>
          </a:xfrm>
          <a:prstGeom prst="rect">
            <a:avLst/>
          </a:prstGeom>
        </p:spPr>
      </p:pic>
      <p:sp>
        <p:nvSpPr>
          <p:cNvPr id="11" name="Text Placeholder 9">
            <a:extLst>
              <a:ext uri="{FF2B5EF4-FFF2-40B4-BE49-F238E27FC236}">
                <a16:creationId xmlns:a16="http://schemas.microsoft.com/office/drawing/2014/main" id="{C4F35587-E46B-4F51-BE64-91552515EB62}"/>
              </a:ext>
            </a:extLst>
          </p:cNvPr>
          <p:cNvSpPr>
            <a:spLocks noGrp="1"/>
          </p:cNvSpPr>
          <p:nvPr>
            <p:ph type="body" sz="quarter" idx="10"/>
          </p:nvPr>
        </p:nvSpPr>
        <p:spPr>
          <a:xfrm>
            <a:off x="3657600" y="2590800"/>
            <a:ext cx="7962900" cy="1651000"/>
          </a:xfrm>
          <a:prstGeom prst="rect">
            <a:avLst/>
          </a:prstGeom>
        </p:spPr>
        <p:txBody>
          <a:bodyPr/>
          <a:lstStyle>
            <a:lvl1pPr marL="0" indent="0">
              <a:buNone/>
              <a:defRPr sz="5400" b="1" cap="all" baseline="0">
                <a:solidFill>
                  <a:schemeClr val="bg1"/>
                </a:solidFill>
                <a:latin typeface="D-DIN" panose="020B0504030202030204" pitchFamily="34" charset="0"/>
              </a:defRPr>
            </a:lvl1pPr>
            <a:lvl2pPr>
              <a:defRPr>
                <a:solidFill>
                  <a:schemeClr val="bg1"/>
                </a:solidFill>
                <a:latin typeface="D-DIN" panose="020B0504030202030204" pitchFamily="34" charset="0"/>
              </a:defRPr>
            </a:lvl2pPr>
            <a:lvl3pPr>
              <a:defRPr>
                <a:solidFill>
                  <a:schemeClr val="bg1"/>
                </a:solidFill>
                <a:latin typeface="D-DIN" panose="020B0504030202030204" pitchFamily="34" charset="0"/>
              </a:defRPr>
            </a:lvl3pPr>
            <a:lvl4pPr>
              <a:defRPr>
                <a:solidFill>
                  <a:schemeClr val="bg1"/>
                </a:solidFill>
                <a:latin typeface="D-DIN" panose="020B0504030202030204" pitchFamily="34" charset="0"/>
              </a:defRPr>
            </a:lvl4pPr>
            <a:lvl5pPr>
              <a:defRPr>
                <a:solidFill>
                  <a:schemeClr val="bg1"/>
                </a:solidFill>
                <a:latin typeface="D-DIN" panose="020B0504030202030204" pitchFamily="34" charset="0"/>
              </a:defRPr>
            </a:lvl5pPr>
          </a:lstStyle>
          <a:p>
            <a:pPr lvl="0"/>
            <a:r>
              <a:rPr lang="en-US"/>
              <a:t>Click to edit Master text styles</a:t>
            </a:r>
          </a:p>
        </p:txBody>
      </p:sp>
    </p:spTree>
    <p:extLst>
      <p:ext uri="{BB962C8B-B14F-4D97-AF65-F5344CB8AC3E}">
        <p14:creationId xmlns:p14="http://schemas.microsoft.com/office/powerpoint/2010/main" val="337726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06CF27-DF4A-4B95-9013-941968021B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EFC637-AF36-4E6E-BEC2-9EF73CA6BC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6387F4-B91B-4EF7-A24F-16ECD3A238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C5D149C-CDF5-4D73-9DCC-9BDDE9C759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BD58DC1-9A64-41CE-A01A-2617A2ED0B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EFA63-E5B4-4C2C-B6C3-FFA0DCD77FC0}" type="slidenum">
              <a:rPr lang="en-US" smtClean="0"/>
              <a:t>‹#›</a:t>
            </a:fld>
            <a:endParaRPr lang="en-US"/>
          </a:p>
        </p:txBody>
      </p:sp>
    </p:spTree>
    <p:extLst>
      <p:ext uri="{BB962C8B-B14F-4D97-AF65-F5344CB8AC3E}">
        <p14:creationId xmlns:p14="http://schemas.microsoft.com/office/powerpoint/2010/main" val="252021037"/>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4" r:id="rId12"/>
    <p:sldLayoutId id="214748370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chart" Target="../charts/chart4.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chart" Target="../charts/char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47FE6B-772A-4BF7-B363-A1801DC0ADFA}"/>
              </a:ext>
            </a:extLst>
          </p:cNvPr>
          <p:cNvSpPr>
            <a:spLocks noGrp="1"/>
          </p:cNvSpPr>
          <p:nvPr>
            <p:ph type="body" sz="quarter" idx="10"/>
          </p:nvPr>
        </p:nvSpPr>
        <p:spPr/>
        <p:txBody>
          <a:bodyPr/>
          <a:lstStyle/>
          <a:p>
            <a:r>
              <a:rPr lang="en-CA" sz="1600" dirty="0"/>
              <a:t>Wirtschaftsausblick MENA – April 2021</a:t>
            </a:r>
          </a:p>
          <a:p>
            <a:r>
              <a:rPr lang="en-CA" sz="1600" dirty="0"/>
              <a:t>Leben mit Schulden: Wie Institutionen einen Weg zur Erholung im Nahen Osten und in Nordafrika ebnen können</a:t>
            </a:r>
          </a:p>
        </p:txBody>
      </p:sp>
    </p:spTree>
    <p:extLst>
      <p:ext uri="{BB962C8B-B14F-4D97-AF65-F5344CB8AC3E}">
        <p14:creationId xmlns:p14="http://schemas.microsoft.com/office/powerpoint/2010/main" val="9850886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81EE4-E02A-4B40-9C4D-CA1C72C0533B}"/>
              </a:ext>
            </a:extLst>
          </p:cNvPr>
          <p:cNvSpPr>
            <a:spLocks noGrp="1"/>
          </p:cNvSpPr>
          <p:nvPr>
            <p:ph type="title"/>
          </p:nvPr>
        </p:nvSpPr>
        <p:spPr>
          <a:xfrm>
            <a:off x="838200" y="365126"/>
            <a:ext cx="10515600" cy="948454"/>
          </a:xfrm>
        </p:spPr>
        <p:txBody>
          <a:bodyPr/>
          <a:lstStyle/>
          <a:p>
            <a:r>
              <a:rPr lang="en-US" b="1" dirty="0"/>
              <a:t>Autoren</a:t>
            </a:r>
          </a:p>
        </p:txBody>
      </p:sp>
      <p:pic>
        <p:nvPicPr>
          <p:cNvPr id="1026" name="Picture 20">
            <a:extLst>
              <a:ext uri="{FF2B5EF4-FFF2-40B4-BE49-F238E27FC236}">
                <a16:creationId xmlns:a16="http://schemas.microsoft.com/office/drawing/2014/main" id="{B859C672-2C44-4BA6-9910-F8598ADADD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376" y="2730721"/>
            <a:ext cx="1035382" cy="105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a:extLst>
              <a:ext uri="{FF2B5EF4-FFF2-40B4-BE49-F238E27FC236}">
                <a16:creationId xmlns:a16="http://schemas.microsoft.com/office/drawing/2014/main" id="{C67D2300-3E90-47E3-8F0A-CD079D9387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511" y="3950155"/>
            <a:ext cx="1051560" cy="105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a:extLst>
              <a:ext uri="{FF2B5EF4-FFF2-40B4-BE49-F238E27FC236}">
                <a16:creationId xmlns:a16="http://schemas.microsoft.com/office/drawing/2014/main" id="{CC5EC66E-011C-42CA-8204-C700A4C29C42}"/>
              </a:ext>
            </a:extLst>
          </p:cNvPr>
          <p:cNvSpPr/>
          <p:nvPr/>
        </p:nvSpPr>
        <p:spPr>
          <a:xfrm>
            <a:off x="2049449" y="1619323"/>
            <a:ext cx="3807913"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Roberta Gatti</a:t>
            </a:r>
          </a:p>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Chefökonomin, Naher Osten und Nordafrika, Weltbank</a:t>
            </a:r>
          </a:p>
        </p:txBody>
      </p:sp>
      <p:sp>
        <p:nvSpPr>
          <p:cNvPr id="5" name="Rectangle 4">
            <a:extLst>
              <a:ext uri="{FF2B5EF4-FFF2-40B4-BE49-F238E27FC236}">
                <a16:creationId xmlns:a16="http://schemas.microsoft.com/office/drawing/2014/main" id="{7B0E5445-683E-4387-9424-D05B1C191B88}"/>
              </a:ext>
            </a:extLst>
          </p:cNvPr>
          <p:cNvSpPr/>
          <p:nvPr/>
        </p:nvSpPr>
        <p:spPr>
          <a:xfrm>
            <a:off x="7291705" y="1547957"/>
            <a:ext cx="4625613" cy="738664"/>
          </a:xfrm>
          <a:prstGeom prst="rect">
            <a:avLst/>
          </a:prstGeom>
        </p:spPr>
        <p:txBody>
          <a:bodyPr wrap="square">
            <a:spAutoFit/>
          </a:bodyPr>
          <a:lstStyle/>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DANIEL LEDERMAN</a:t>
            </a:r>
          </a:p>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Stellvertretender Chefökonom, Naher Osten und Nordafrika, Weltbank</a:t>
            </a:r>
          </a:p>
        </p:txBody>
      </p:sp>
      <p:sp>
        <p:nvSpPr>
          <p:cNvPr id="6" name="Rectangle 5">
            <a:extLst>
              <a:ext uri="{FF2B5EF4-FFF2-40B4-BE49-F238E27FC236}">
                <a16:creationId xmlns:a16="http://schemas.microsoft.com/office/drawing/2014/main" id="{819134D8-C278-47F4-A693-6CE13DA2DECC}"/>
              </a:ext>
            </a:extLst>
          </p:cNvPr>
          <p:cNvSpPr/>
          <p:nvPr/>
        </p:nvSpPr>
        <p:spPr>
          <a:xfrm>
            <a:off x="1915885" y="2812165"/>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ha minh nguyenLeitender Ökonom, Büro des Chefökonomen, Naher Osten und Nordafrika, Weltbank</a:t>
            </a:r>
          </a:p>
        </p:txBody>
      </p:sp>
      <p:pic>
        <p:nvPicPr>
          <p:cNvPr id="1031" name="Picture 7" descr="Asif Islam's picture">
            <a:extLst>
              <a:ext uri="{FF2B5EF4-FFF2-40B4-BE49-F238E27FC236}">
                <a16:creationId xmlns:a16="http://schemas.microsoft.com/office/drawing/2014/main" id="{B099F863-645E-4919-A450-538AD47C2F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26933" y="2733927"/>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993575B5-2A6E-4CE8-AECB-A84964D63DAF}"/>
              </a:ext>
            </a:extLst>
          </p:cNvPr>
          <p:cNvSpPr/>
          <p:nvPr/>
        </p:nvSpPr>
        <p:spPr>
          <a:xfrm>
            <a:off x="7178493" y="2877284"/>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Asif IslamLeitender Ökonom, Büro des Chefökonomen, Naher Osten und Nordafrika, Weltbank</a:t>
            </a:r>
          </a:p>
        </p:txBody>
      </p:sp>
      <p:sp>
        <p:nvSpPr>
          <p:cNvPr id="7" name="Rectangle 6">
            <a:extLst>
              <a:ext uri="{FF2B5EF4-FFF2-40B4-BE49-F238E27FC236}">
                <a16:creationId xmlns:a16="http://schemas.microsoft.com/office/drawing/2014/main" id="{5F44FE37-5FFB-4BB4-98F7-5B02F6DDB6DF}"/>
              </a:ext>
            </a:extLst>
          </p:cNvPr>
          <p:cNvSpPr/>
          <p:nvPr/>
        </p:nvSpPr>
        <p:spPr>
          <a:xfrm>
            <a:off x="1915885" y="3881325"/>
            <a:ext cx="3866606" cy="738664"/>
          </a:xfrm>
          <a:prstGeom prst="rect">
            <a:avLst/>
          </a:prstGeom>
        </p:spPr>
        <p:txBody>
          <a:bodyPr wrap="square">
            <a:spAutoFit/>
          </a:bodyPr>
          <a:lstStyle/>
          <a:p>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rachel yuting fanÖkonomin, Büro des Chefökonomen, Naher Osten und Nordafrika, Weltbank</a:t>
            </a:r>
          </a:p>
        </p:txBody>
      </p:sp>
      <p:pic>
        <p:nvPicPr>
          <p:cNvPr id="1033" name="Picture 9" descr="Image">
            <a:extLst>
              <a:ext uri="{FF2B5EF4-FFF2-40B4-BE49-F238E27FC236}">
                <a16:creationId xmlns:a16="http://schemas.microsoft.com/office/drawing/2014/main" id="{FB1CFA70-AD78-404D-8F65-B45176AFFB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6933" y="3958583"/>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C0CDA3DE-2E92-487D-B50D-FD0C1E7759A1}"/>
              </a:ext>
            </a:extLst>
          </p:cNvPr>
          <p:cNvSpPr/>
          <p:nvPr/>
        </p:nvSpPr>
        <p:spPr>
          <a:xfrm>
            <a:off x="7178493" y="4096769"/>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Claudio RojasBerater, Büro des Chefökonomen, Naher Osten und Nordafrika, Weltbank</a:t>
            </a:r>
          </a:p>
        </p:txBody>
      </p:sp>
      <p:pic>
        <p:nvPicPr>
          <p:cNvPr id="1035" name="Picture 11" descr="Sultan Alturki, Ph.D.">
            <a:extLst>
              <a:ext uri="{FF2B5EF4-FFF2-40B4-BE49-F238E27FC236}">
                <a16:creationId xmlns:a16="http://schemas.microsoft.com/office/drawing/2014/main" id="{1349BF3F-B40F-41D8-BDB4-E3413E7D55B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3280" y="5211661"/>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0CC0E6B4-86C8-48B1-87F0-83ABAF458F23}"/>
              </a:ext>
            </a:extLst>
          </p:cNvPr>
          <p:cNvSpPr/>
          <p:nvPr/>
        </p:nvSpPr>
        <p:spPr>
          <a:xfrm>
            <a:off x="1924840" y="5376547"/>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Sultan AlturkiBerater, Büro des Chefökonomen, Naher Osten und Nordafrika, Weltbank</a:t>
            </a:r>
          </a:p>
        </p:txBody>
      </p:sp>
      <p:pic>
        <p:nvPicPr>
          <p:cNvPr id="1037" name="Picture 13" descr="Image">
            <a:extLst>
              <a:ext uri="{FF2B5EF4-FFF2-40B4-BE49-F238E27FC236}">
                <a16:creationId xmlns:a16="http://schemas.microsoft.com/office/drawing/2014/main" id="{6D229B9F-18CC-4034-99A7-081CDE799A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7090" y="1481453"/>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a:extLst>
              <a:ext uri="{FF2B5EF4-FFF2-40B4-BE49-F238E27FC236}">
                <a16:creationId xmlns:a16="http://schemas.microsoft.com/office/drawing/2014/main" id="{F192DE54-0457-40DA-8B5D-890C8B7C3562}"/>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5934" t="2006" r="21208" b="53502"/>
          <a:stretch/>
        </p:blipFill>
        <p:spPr bwMode="auto">
          <a:xfrm>
            <a:off x="6106581" y="1430285"/>
            <a:ext cx="1051560" cy="1031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639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14"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8" name="Freeform: Shape 17">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6D0F4FB-7E05-4645-BF84-6B108CB765C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Wichtigste Ergebnisse</a:t>
            </a:r>
          </a:p>
        </p:txBody>
      </p:sp>
      <p:graphicFrame>
        <p:nvGraphicFramePr>
          <p:cNvPr id="5" name="Content Placeholder 2">
            <a:extLst>
              <a:ext uri="{FF2B5EF4-FFF2-40B4-BE49-F238E27FC236}">
                <a16:creationId xmlns:a16="http://schemas.microsoft.com/office/drawing/2014/main" id="{690D5FDA-D6ED-4268-923E-DA117D021B03}"/>
              </a:ext>
            </a:extLst>
          </p:cNvPr>
          <p:cNvGraphicFramePr>
            <a:graphicFrameLocks noGrp="1"/>
          </p:cNvGraphicFramePr>
          <p:nvPr>
            <p:ph idx="1"/>
            <p:extLst>
              <p:ext uri="{D42A27DB-BD31-4B8C-83A1-F6EECF244321}">
                <p14:modId xmlns:p14="http://schemas.microsoft.com/office/powerpoint/2010/main" val="166165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57374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786985761"/>
              </p:ext>
            </p:extLst>
          </p:nvPr>
        </p:nvGraphicFramePr>
        <p:xfrm>
          <a:off x="6603198" y="1627281"/>
          <a:ext cx="4295775" cy="3845287"/>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 Placeholder 1">
            <a:extLst>
              <a:ext uri="{FF2B5EF4-FFF2-40B4-BE49-F238E27FC236}">
                <a16:creationId xmlns:a16="http://schemas.microsoft.com/office/drawing/2014/main" id="{DBF3886C-A3FA-4B71-B0F4-F6A72485CA6B}"/>
              </a:ext>
            </a:extLst>
          </p:cNvPr>
          <p:cNvSpPr>
            <a:spLocks noGrp="1"/>
          </p:cNvSpPr>
          <p:nvPr>
            <p:ph type="body" sz="quarter" idx="10"/>
          </p:nvPr>
        </p:nvSpPr>
        <p:spPr>
          <a:xfrm>
            <a:off x="323528" y="615956"/>
            <a:ext cx="11573197" cy="724247"/>
          </a:xfrm>
        </p:spPr>
        <p:txBody>
          <a:bodyPr>
            <a:normAutofit/>
          </a:bodyPr>
          <a:lstStyle/>
          <a:p>
            <a:r>
              <a:rPr lang="en-US" sz="4400">
                <a:solidFill>
                  <a:schemeClr val="accent6">
                    <a:lumMod val="50000"/>
                  </a:schemeClr>
                </a:solidFill>
              </a:rPr>
              <a:t>Eine Region weiterhin in der Krise: Langanhaltende Verluste beim BIP</a:t>
            </a:r>
          </a:p>
        </p:txBody>
      </p:sp>
      <p:graphicFrame>
        <p:nvGraphicFramePr>
          <p:cNvPr id="3" name="Chart 2">
            <a:extLst>
              <a:ext uri="{FF2B5EF4-FFF2-40B4-BE49-F238E27FC236}">
                <a16:creationId xmlns:a16="http://schemas.microsoft.com/office/drawing/2014/main" id="{9CBC18ED-0CCD-4896-B453-04A7C4F8E56A}"/>
              </a:ext>
            </a:extLst>
          </p:cNvPr>
          <p:cNvGraphicFramePr/>
          <p:nvPr>
            <p:extLst>
              <p:ext uri="{D42A27DB-BD31-4B8C-83A1-F6EECF244321}">
                <p14:modId xmlns:p14="http://schemas.microsoft.com/office/powerpoint/2010/main" val="4196070741"/>
              </p:ext>
            </p:extLst>
          </p:nvPr>
        </p:nvGraphicFramePr>
        <p:xfrm>
          <a:off x="1814352" y="1627281"/>
          <a:ext cx="4295775" cy="3994019"/>
        </p:xfrm>
        <a:graphic>
          <a:graphicData uri="http://schemas.openxmlformats.org/drawingml/2006/chart">
            <c:chart xmlns:c="http://schemas.openxmlformats.org/drawingml/2006/chart" xmlns:r="http://schemas.openxmlformats.org/officeDocument/2006/relationships" r:id="rId4"/>
          </a:graphicData>
        </a:graphic>
      </p:graphicFrame>
      <p:cxnSp>
        <p:nvCxnSpPr>
          <p:cNvPr id="7" name="Straight Connector 6">
            <a:extLst>
              <a:ext uri="{FF2B5EF4-FFF2-40B4-BE49-F238E27FC236}">
                <a16:creationId xmlns:a16="http://schemas.microsoft.com/office/drawing/2014/main" id="{1DD2C138-BCA2-4411-85B9-C8546C7BB543}"/>
              </a:ext>
            </a:extLst>
          </p:cNvPr>
          <p:cNvCxnSpPr/>
          <p:nvPr/>
        </p:nvCxnSpPr>
        <p:spPr>
          <a:xfrm>
            <a:off x="2226365" y="3313043"/>
            <a:ext cx="386963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0DF4AAC-AE46-4CCC-AA07-52E9942A36CA}"/>
              </a:ext>
            </a:extLst>
          </p:cNvPr>
          <p:cNvSpPr txBox="1"/>
          <p:nvPr/>
        </p:nvSpPr>
        <p:spPr>
          <a:xfrm>
            <a:off x="408793" y="5442049"/>
            <a:ext cx="11374414" cy="1323439"/>
          </a:xfrm>
          <a:prstGeom prst="rect">
            <a:avLst/>
          </a:prstGeom>
          <a:noFill/>
        </p:spPr>
        <p:txBody>
          <a:bodyPr wrap="square" rtlCol="0">
            <a:spAutoFit/>
          </a:bodyPr>
          <a:lstStyle/>
          <a:p>
            <a:r>
              <a:rPr lang="en-GB" sz="2000" dirty="0"/>
              <a:t>Bis 2021 wird die regionale Wirtschaft voraussichtlich 7,2 Prozentpunkte unter dem BIP-Niveau ohne Pandemie liegen, was 227 Milliarden Dollar entspricht; das Pro-Kopf-BIP (ein Indikator für den Entwicklungsstand, der die Armut bestimmt) wird immer noch um rund 5 % niedriger sein als das Niveau von 2019</a:t>
            </a:r>
          </a:p>
          <a:p>
            <a:r>
              <a:rPr lang="en-GB" sz="2000" dirty="0"/>
              <a:t/>
            </a:r>
          </a:p>
        </p:txBody>
      </p:sp>
      <p:cxnSp>
        <p:nvCxnSpPr>
          <p:cNvPr id="8" name="Straight Connector 7">
            <a:extLst>
              <a:ext uri="{FF2B5EF4-FFF2-40B4-BE49-F238E27FC236}">
                <a16:creationId xmlns:a16="http://schemas.microsoft.com/office/drawing/2014/main" id="{C940EF00-9239-4C31-8D03-BCB742AB3821}"/>
              </a:ext>
            </a:extLst>
          </p:cNvPr>
          <p:cNvCxnSpPr>
            <a:cxnSpLocks/>
          </p:cNvCxnSpPr>
          <p:nvPr/>
        </p:nvCxnSpPr>
        <p:spPr>
          <a:xfrm>
            <a:off x="6983913" y="3303867"/>
            <a:ext cx="363719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26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715090-2DD7-43DE-9355-52B701B403E3}"/>
              </a:ext>
            </a:extLst>
          </p:cNvPr>
          <p:cNvSpPr>
            <a:spLocks noGrp="1"/>
          </p:cNvSpPr>
          <p:nvPr>
            <p:ph type="body" sz="quarter" idx="10"/>
          </p:nvPr>
        </p:nvSpPr>
        <p:spPr/>
        <p:txBody>
          <a:bodyPr>
            <a:normAutofit/>
          </a:bodyPr>
          <a:lstStyle/>
          <a:p>
            <a:r>
              <a:rPr lang="en-US" sz="3600" dirty="0">
                <a:solidFill>
                  <a:schemeClr val="accent6">
                    <a:lumMod val="50000"/>
                  </a:schemeClr>
                </a:solidFill>
              </a:rPr>
              <a:t>Eine Region weiterhin in der Krise: Verluste beim Pro-Kopf-BIP</a:t>
            </a:r>
          </a:p>
        </p:txBody>
      </p:sp>
      <p:sp>
        <p:nvSpPr>
          <p:cNvPr id="5" name="Rectangle 4">
            <a:extLst>
              <a:ext uri="{FF2B5EF4-FFF2-40B4-BE49-F238E27FC236}">
                <a16:creationId xmlns:a16="http://schemas.microsoft.com/office/drawing/2014/main" id="{90E8733A-7A89-4BB1-B25D-D7DDAE24AC3F}"/>
              </a:ext>
            </a:extLst>
          </p:cNvPr>
          <p:cNvSpPr/>
          <p:nvPr/>
        </p:nvSpPr>
        <p:spPr>
          <a:xfrm>
            <a:off x="1009650" y="5413244"/>
            <a:ext cx="10382250" cy="676467"/>
          </a:xfrm>
          <a:prstGeom prst="rect">
            <a:avLst/>
          </a:prstGeom>
        </p:spPr>
        <p:txBody>
          <a:bodyPr wrap="square">
            <a:spAutoFit/>
          </a:bodyPr>
          <a:lstStyle/>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Quelle: Weltbank, Macro and Poverty Outlook (April 2021 und Oktober 2019) und Berechnungen der Weltbank-Mitarbeiter.</a:t>
            </a:r>
          </a:p>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Hinweis: Die gepunkteten Linien zeigen das prognostizierte Pro-Kopf-BIP im kontrafaktischen Fall ohne Pandemie (auf Grundlage der Pro-Kopf-BIP-Prognosen vom Oktober 2019). Die durchgezogenen Linien zeigen das prognostizierte Pro-Kopf-BIP im Fall der Pandemie (auf Grundlage der Pro-Kopf-BIP-Prognosen vom April 2021).</a:t>
            </a:r>
          </a:p>
        </p:txBody>
      </p:sp>
      <p:sp>
        <p:nvSpPr>
          <p:cNvPr id="6" name="Rectangle 5">
            <a:extLst>
              <a:ext uri="{FF2B5EF4-FFF2-40B4-BE49-F238E27FC236}">
                <a16:creationId xmlns:a16="http://schemas.microsoft.com/office/drawing/2014/main" id="{5378120B-9D93-4E80-B5D9-D1A813847AC3}"/>
              </a:ext>
            </a:extLst>
          </p:cNvPr>
          <p:cNvSpPr/>
          <p:nvPr/>
        </p:nvSpPr>
        <p:spPr>
          <a:xfrm>
            <a:off x="8905862" y="1142998"/>
            <a:ext cx="3059612" cy="2092881"/>
          </a:xfrm>
          <a:prstGeom prst="rect">
            <a:avLst/>
          </a:prstGeom>
        </p:spPr>
        <p:txBody>
          <a:bodyPr wrap="square" lIns="91440" tIns="45720" rIns="91440" bIns="45720" anchor="t">
            <a:spAutoFit/>
          </a:bodyPr>
          <a:lstStyle/>
          <a:p>
            <a:r>
              <a:rPr lang="en-US" b="1" dirty="0">
                <a:latin typeface="Calibri"/>
                <a:cs typeface="Calibri"/>
              </a:rPr>
              <a:t>Verluste bis 2021:</a:t>
            </a:r>
          </a:p>
          <a:p>
            <a:r>
              <a:rPr lang="en-US" b="1" dirty="0">
                <a:latin typeface="Calibri"/>
                <a:cs typeface="Calibri"/>
              </a:rPr>
              <a:t/>
            </a:r>
          </a:p>
          <a:p>
            <a:r>
              <a:rPr lang="en-US" b="1" dirty="0">
                <a:latin typeface="Calibri"/>
                <a:cs typeface="Calibri"/>
              </a:rPr>
              <a:t>MENA: 7,0 %</a:t>
            </a:r>
          </a:p>
          <a:p>
            <a:r>
              <a:rPr lang="en-US" b="1" dirty="0">
                <a:latin typeface="Calibri"/>
                <a:cs typeface="Calibri"/>
              </a:rPr>
              <a:t/>
            </a:r>
          </a:p>
          <a:p>
            <a:r>
              <a:rPr lang="en-US" b="1" dirty="0">
                <a:latin typeface="Calibri"/>
                <a:cs typeface="Calibri"/>
              </a:rPr>
              <a:t>GCC: 7,3 %</a:t>
            </a:r>
          </a:p>
          <a:p>
            <a:r>
              <a:rPr lang="en-US" b="1" dirty="0">
                <a:latin typeface="Calibri"/>
                <a:cs typeface="Calibri"/>
              </a:rPr>
              <a:t/>
            </a:r>
          </a:p>
          <a:p>
            <a:r>
              <a:rPr lang="en-US" b="1" dirty="0">
                <a:latin typeface="Calibri"/>
                <a:cs typeface="Calibri"/>
              </a:rPr>
              <a:t>Ölexporteure mittleren Einkommens: 4,6 %</a:t>
            </a:r>
          </a:p>
          <a:p>
            <a:r>
              <a:rPr lang="en-US" b="1" dirty="0">
                <a:latin typeface="Calibri"/>
                <a:cs typeface="Calibri"/>
              </a:rPr>
              <a:t/>
            </a:r>
          </a:p>
          <a:p>
            <a:r>
              <a:rPr lang="en-US" b="1" dirty="0">
                <a:latin typeface="Calibri"/>
                <a:cs typeface="Calibri"/>
              </a:rPr>
              <a:t>Ölimporteure mittleren Einkommens: 8,6 %</a:t>
            </a:r>
          </a:p>
        </p:txBody>
      </p:sp>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51734779"/>
              </p:ext>
            </p:extLst>
          </p:nvPr>
        </p:nvGraphicFramePr>
        <p:xfrm>
          <a:off x="1280013" y="1181100"/>
          <a:ext cx="2926080" cy="4114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9BB88AFC-0FDD-4D80-A82E-F69212A5C0A7}"/>
              </a:ext>
            </a:extLst>
          </p:cNvPr>
          <p:cNvGraphicFramePr>
            <a:graphicFrameLocks/>
          </p:cNvGraphicFramePr>
          <p:nvPr>
            <p:extLst>
              <p:ext uri="{D42A27DB-BD31-4B8C-83A1-F6EECF244321}">
                <p14:modId xmlns:p14="http://schemas.microsoft.com/office/powerpoint/2010/main" val="2526975853"/>
              </p:ext>
            </p:extLst>
          </p:nvPr>
        </p:nvGraphicFramePr>
        <p:xfrm>
          <a:off x="4959228" y="1181100"/>
          <a:ext cx="2926080" cy="4232144"/>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63525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A4F677-CFFB-4133-8356-006EA710E02D}"/>
              </a:ext>
            </a:extLst>
          </p:cNvPr>
          <p:cNvSpPr>
            <a:spLocks noGrp="1"/>
          </p:cNvSpPr>
          <p:nvPr>
            <p:ph type="body" sz="quarter" idx="10"/>
          </p:nvPr>
        </p:nvSpPr>
        <p:spPr/>
        <p:txBody>
          <a:bodyPr>
            <a:normAutofit fontScale="77500" lnSpcReduction="20000"/>
          </a:bodyPr>
          <a:lstStyle/>
          <a:p>
            <a:r>
              <a:rPr lang="en-US" sz="4000">
                <a:solidFill>
                  <a:schemeClr val="accent6">
                    <a:lumMod val="50000"/>
                  </a:schemeClr>
                </a:solidFill>
              </a:rPr>
              <a:t>Eine Region weiterhin in der Krise: Konservative Schätzungen von Millionen neuer Armer</a:t>
            </a:r>
          </a:p>
        </p:txBody>
      </p:sp>
      <p:graphicFrame>
        <p:nvGraphicFramePr>
          <p:cNvPr id="7" name="Chart 6">
            <a:extLst>
              <a:ext uri="{FF2B5EF4-FFF2-40B4-BE49-F238E27FC236}">
                <a16:creationId xmlns:a16="http://schemas.microsoft.com/office/drawing/2014/main" id="{0F4ABC40-7069-4724-BDE7-91154B88CC8C}"/>
              </a:ext>
            </a:extLst>
          </p:cNvPr>
          <p:cNvGraphicFramePr>
            <a:graphicFrameLocks/>
          </p:cNvGraphicFramePr>
          <p:nvPr>
            <p:extLst>
              <p:ext uri="{D42A27DB-BD31-4B8C-83A1-F6EECF244321}">
                <p14:modId xmlns:p14="http://schemas.microsoft.com/office/powerpoint/2010/main" val="129289878"/>
              </p:ext>
            </p:extLst>
          </p:nvPr>
        </p:nvGraphicFramePr>
        <p:xfrm>
          <a:off x="2252870" y="1231510"/>
          <a:ext cx="7315200" cy="486291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Straight Arrow Connector 7">
            <a:extLst>
              <a:ext uri="{FF2B5EF4-FFF2-40B4-BE49-F238E27FC236}">
                <a16:creationId xmlns:a16="http://schemas.microsoft.com/office/drawing/2014/main" id="{3AB6CEDE-7B1F-40BE-9672-1D762AC302A2}"/>
              </a:ext>
            </a:extLst>
          </p:cNvPr>
          <p:cNvCxnSpPr/>
          <p:nvPr/>
        </p:nvCxnSpPr>
        <p:spPr>
          <a:xfrm>
            <a:off x="9727096" y="2759765"/>
            <a:ext cx="0" cy="1338469"/>
          </a:xfrm>
          <a:prstGeom prst="straightConnector1">
            <a:avLst/>
          </a:prstGeom>
          <a:ln>
            <a:solidFill>
              <a:srgbClr val="FF0000"/>
            </a:solidFill>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8F46531-5F7E-46F1-A114-E3DBDC8D98C2}"/>
              </a:ext>
            </a:extLst>
          </p:cNvPr>
          <p:cNvSpPr txBox="1"/>
          <p:nvPr/>
        </p:nvSpPr>
        <p:spPr>
          <a:xfrm>
            <a:off x="10031895" y="3127513"/>
            <a:ext cx="1285461" cy="369332"/>
          </a:xfrm>
          <a:prstGeom prst="rect">
            <a:avLst/>
          </a:prstGeom>
          <a:noFill/>
        </p:spPr>
        <p:txBody>
          <a:bodyPr wrap="square" rtlCol="0">
            <a:spAutoFit/>
          </a:bodyPr>
          <a:lstStyle/>
          <a:p>
            <a:r>
              <a:rPr lang="en-US"/>
              <a:t>14,2 Millionen</a:t>
            </a:r>
          </a:p>
        </p:txBody>
      </p:sp>
    </p:spTree>
    <p:extLst>
      <p:ext uri="{BB962C8B-B14F-4D97-AF65-F5344CB8AC3E}">
        <p14:creationId xmlns:p14="http://schemas.microsoft.com/office/powerpoint/2010/main" val="4240665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2FBD6A-2BAE-439D-8BBE-887912214A44}"/>
              </a:ext>
            </a:extLst>
          </p:cNvPr>
          <p:cNvSpPr>
            <a:spLocks noGrp="1"/>
          </p:cNvSpPr>
          <p:nvPr>
            <p:ph type="title"/>
          </p:nvPr>
        </p:nvSpPr>
        <p:spPr>
          <a:xfrm>
            <a:off x="603938" y="640081"/>
            <a:ext cx="2608655" cy="5257799"/>
          </a:xfrm>
        </p:spPr>
        <p:txBody>
          <a:bodyPr>
            <a:normAutofit/>
          </a:bodyPr>
          <a:lstStyle/>
          <a:p>
            <a:r>
              <a:rPr lang="en-US" sz="3600">
                <a:solidFill>
                  <a:srgbClr val="2C2C2C"/>
                </a:solidFill>
              </a:rPr>
              <a:t>Eine Region weiterhin in der Krise: Regressive Nahrungsmittelpreis-InflationFeb. 2020 – März 2021</a:t>
            </a:r>
          </a:p>
        </p:txBody>
      </p:sp>
      <p:sp>
        <p:nvSpPr>
          <p:cNvPr id="29"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C83F48-BDF8-4A4B-B8D7-D7B20E12A800}"/>
              </a:ext>
            </a:extLst>
          </p:cNvPr>
          <p:cNvPicPr/>
          <p:nvPr/>
        </p:nvPicPr>
        <p:blipFill rotWithShape="1">
          <a:blip r:embed="rId3" cstate="print">
            <a:extLst>
              <a:ext uri="{28A0092B-C50C-407E-A947-70E740481C1C}">
                <a14:useLocalDpi xmlns:a14="http://schemas.microsoft.com/office/drawing/2010/main" val="0"/>
              </a:ext>
            </a:extLst>
          </a:blip>
          <a:srcRect r="697" b="14"/>
          <a:stretch/>
        </p:blipFill>
        <p:spPr bwMode="auto">
          <a:xfrm>
            <a:off x="4062964" y="942538"/>
            <a:ext cx="7163222" cy="4808332"/>
          </a:xfrm>
          <a:prstGeom prst="rect">
            <a:avLst/>
          </a:prstGeom>
          <a:noFill/>
          <a:effectLst/>
        </p:spPr>
      </p:pic>
    </p:spTree>
    <p:extLst>
      <p:ext uri="{BB962C8B-B14F-4D97-AF65-F5344CB8AC3E}">
        <p14:creationId xmlns:p14="http://schemas.microsoft.com/office/powerpoint/2010/main" val="2143900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6652D8-86A3-4EF7-8605-147F7AED729D}"/>
              </a:ext>
            </a:extLst>
          </p:cNvPr>
          <p:cNvSpPr>
            <a:spLocks noGrp="1"/>
          </p:cNvSpPr>
          <p:nvPr>
            <p:ph type="body" sz="quarter" idx="10"/>
          </p:nvPr>
        </p:nvSpPr>
        <p:spPr/>
        <p:txBody>
          <a:bodyPr>
            <a:normAutofit/>
          </a:bodyPr>
          <a:lstStyle/>
          <a:p>
            <a:r>
              <a:rPr lang="en-US" sz="4000">
                <a:solidFill>
                  <a:schemeClr val="accent6">
                    <a:lumMod val="50000"/>
                  </a:schemeClr>
                </a:solidFill>
              </a:rPr>
              <a:t>Der Balanceakt der steigenden öffentlichen Verschuldung</a:t>
            </a:r>
          </a:p>
        </p:txBody>
      </p:sp>
      <p:sp>
        <p:nvSpPr>
          <p:cNvPr id="4" name="Rectangle 3">
            <a:extLst>
              <a:ext uri="{FF2B5EF4-FFF2-40B4-BE49-F238E27FC236}">
                <a16:creationId xmlns:a16="http://schemas.microsoft.com/office/drawing/2014/main" id="{D71FFDEF-E2A0-446C-BDAC-8D07FEBAB98A}"/>
              </a:ext>
            </a:extLst>
          </p:cNvPr>
          <p:cNvSpPr/>
          <p:nvPr/>
        </p:nvSpPr>
        <p:spPr>
          <a:xfrm>
            <a:off x="1153353" y="5573094"/>
            <a:ext cx="8667750" cy="874085"/>
          </a:xfrm>
          <a:prstGeom prst="rect">
            <a:avLst/>
          </a:prstGeom>
        </p:spPr>
        <p:txBody>
          <a:bodyPr wrap="square">
            <a:spAutoFit/>
          </a:bodyPr>
          <a:lstStyle/>
          <a:p>
            <a:r>
              <a:rPr lang="en-US" sz="1200">
                <a:latin typeface="Calibri" panose="020F0502020204030204" pitchFamily="34" charset="0"/>
                <a:ea typeface="Calibri" panose="020F0502020204030204" pitchFamily="34" charset="0"/>
                <a:cs typeface="Calibri" panose="020F0502020204030204" pitchFamily="34" charset="0"/>
              </a:rPr>
              <a:t>Quelle: Weltbank, Macro and Poverty Outlook (April 2021)</a:t>
            </a:r>
          </a:p>
          <a:p>
            <a:r>
              <a:rPr lang="en-US" sz="1200">
                <a:latin typeface="Calibri" panose="020F0502020204030204" pitchFamily="34" charset="0"/>
                <a:ea typeface="Calibri" panose="020F0502020204030204" pitchFamily="34" charset="0"/>
                <a:cs typeface="Calibri" panose="020F0502020204030204" pitchFamily="34" charset="0"/>
              </a:rPr>
              <a:t>Hinweis: Die Ländergruppen werden durch den Medianwert der Gruppe dargestellt. Die Balken zeigen die mittlere Verschuldung der MENA-Ländergruppen. Die Rauten zeigen die mittlere Verschuldung der entsprechenden Einkommensgruppen weltweit. Für die MENA-Länder mit niedrigem Einkommen (Jemen und Syrien) liegen in der Regel keine Schuldendaten vor. Die Gruppe mit hohem Einkommen im MPO beschränkt sich ausschließlich auf von der Weltbank erfasste Länder.</a:t>
            </a:r>
          </a:p>
        </p:txBody>
      </p:sp>
      <p:grpSp>
        <p:nvGrpSpPr>
          <p:cNvPr id="7" name="Group 6">
            <a:extLst>
              <a:ext uri="{FF2B5EF4-FFF2-40B4-BE49-F238E27FC236}">
                <a16:creationId xmlns:a16="http://schemas.microsoft.com/office/drawing/2014/main" id="{C15A88E8-DA76-490E-8B0B-E8B820AC1568}"/>
              </a:ext>
            </a:extLst>
          </p:cNvPr>
          <p:cNvGrpSpPr/>
          <p:nvPr/>
        </p:nvGrpSpPr>
        <p:grpSpPr>
          <a:xfrm>
            <a:off x="1374913" y="1284906"/>
            <a:ext cx="5943600" cy="3790950"/>
            <a:chOff x="3124200" y="1123950"/>
            <a:chExt cx="5943600" cy="3790950"/>
          </a:xfrm>
        </p:grpSpPr>
        <p:graphicFrame>
          <p:nvGraphicFramePr>
            <p:cNvPr id="3" name="Chart 2">
              <a:extLst>
                <a:ext uri="{FF2B5EF4-FFF2-40B4-BE49-F238E27FC236}">
                  <a16:creationId xmlns:a16="http://schemas.microsoft.com/office/drawing/2014/main" id="{B6A91162-CB5A-6240-9245-A864AB930BB8}"/>
                </a:ext>
              </a:extLst>
            </p:cNvPr>
            <p:cNvGraphicFramePr/>
            <p:nvPr>
              <p:extLst>
                <p:ext uri="{D42A27DB-BD31-4B8C-83A1-F6EECF244321}">
                  <p14:modId xmlns:p14="http://schemas.microsoft.com/office/powerpoint/2010/main" val="3328265334"/>
                </p:ext>
              </p:extLst>
            </p:nvPr>
          </p:nvGraphicFramePr>
          <p:xfrm>
            <a:off x="3124200" y="1123950"/>
            <a:ext cx="5943600" cy="3790950"/>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Straight Connector 5">
              <a:extLst>
                <a:ext uri="{FF2B5EF4-FFF2-40B4-BE49-F238E27FC236}">
                  <a16:creationId xmlns:a16="http://schemas.microsoft.com/office/drawing/2014/main" id="{754A2214-6D47-448C-89B5-997F1FEFB921}"/>
                </a:ext>
              </a:extLst>
            </p:cNvPr>
            <p:cNvCxnSpPr/>
            <p:nvPr/>
          </p:nvCxnSpPr>
          <p:spPr>
            <a:xfrm flipV="1">
              <a:off x="6268278" y="1749287"/>
              <a:ext cx="0" cy="2438400"/>
            </a:xfrm>
            <a:prstGeom prst="line">
              <a:avLst/>
            </a:prstGeom>
            <a:ln w="25400">
              <a:prstDash val="sysDot"/>
            </a:ln>
          </p:spPr>
          <p:style>
            <a:lnRef idx="1">
              <a:schemeClr val="dk1"/>
            </a:lnRef>
            <a:fillRef idx="0">
              <a:schemeClr val="dk1"/>
            </a:fillRef>
            <a:effectRef idx="0">
              <a:schemeClr val="dk1"/>
            </a:effectRef>
            <a:fontRef idx="minor">
              <a:schemeClr val="tx1"/>
            </a:fontRef>
          </p:style>
        </p:cxnSp>
      </p:grpSp>
      <p:sp>
        <p:nvSpPr>
          <p:cNvPr id="8" name="TextBox 7">
            <a:extLst>
              <a:ext uri="{FF2B5EF4-FFF2-40B4-BE49-F238E27FC236}">
                <a16:creationId xmlns:a16="http://schemas.microsoft.com/office/drawing/2014/main" id="{236468AB-7930-4721-87B7-168F8D097098}"/>
              </a:ext>
            </a:extLst>
          </p:cNvPr>
          <p:cNvSpPr txBox="1"/>
          <p:nvPr/>
        </p:nvSpPr>
        <p:spPr>
          <a:xfrm>
            <a:off x="8534400" y="2167012"/>
            <a:ext cx="2676939" cy="1200329"/>
          </a:xfrm>
          <a:prstGeom prst="rect">
            <a:avLst/>
          </a:prstGeom>
          <a:noFill/>
          <a:ln w="25400">
            <a:solidFill>
              <a:srgbClr val="FF0000"/>
            </a:solidFill>
          </a:ln>
        </p:spPr>
        <p:txBody>
          <a:bodyPr wrap="square" rtlCol="0">
            <a:spAutoFit/>
          </a:bodyPr>
          <a:lstStyle/>
          <a:p>
            <a:r>
              <a:rPr lang="en-US"/>
              <a:t>Der Balanceakt ist bei den ölimportierenden Volkswirtschaften mittleren Einkommens der MENA-Region am schwierigsten. </a:t>
            </a:r>
          </a:p>
        </p:txBody>
      </p:sp>
    </p:spTree>
    <p:extLst>
      <p:ext uri="{BB962C8B-B14F-4D97-AF65-F5344CB8AC3E}">
        <p14:creationId xmlns:p14="http://schemas.microsoft.com/office/powerpoint/2010/main" val="861478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9"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0" name="Freeform: Shape 19">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CBFA37D1-30D1-47C5-9E58-FF154E05647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Dieser Bericht</a:t>
            </a:r>
          </a:p>
        </p:txBody>
      </p:sp>
      <p:graphicFrame>
        <p:nvGraphicFramePr>
          <p:cNvPr id="7" name="Content Placeholder 4">
            <a:extLst>
              <a:ext uri="{FF2B5EF4-FFF2-40B4-BE49-F238E27FC236}">
                <a16:creationId xmlns:a16="http://schemas.microsoft.com/office/drawing/2014/main" id="{4FE4F1DC-0D88-487E-8ECB-A2BF5C478845}"/>
              </a:ext>
            </a:extLst>
          </p:cNvPr>
          <p:cNvGraphicFramePr>
            <a:graphicFrameLocks noGrp="1"/>
          </p:cNvGraphicFramePr>
          <p:nvPr>
            <p:ph idx="1"/>
            <p:extLst>
              <p:ext uri="{D42A27DB-BD31-4B8C-83A1-F6EECF244321}">
                <p14:modId xmlns:p14="http://schemas.microsoft.com/office/powerpoint/2010/main" val="51915224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95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ylinder 5">
            <a:extLst>
              <a:ext uri="{FF2B5EF4-FFF2-40B4-BE49-F238E27FC236}">
                <a16:creationId xmlns:a16="http://schemas.microsoft.com/office/drawing/2014/main" id="{C9C4074C-4505-4CE8-A760-08964CC50F04}"/>
              </a:ext>
            </a:extLst>
          </p:cNvPr>
          <p:cNvSpPr/>
          <p:nvPr/>
        </p:nvSpPr>
        <p:spPr>
          <a:xfrm>
            <a:off x="4547627" y="5694022"/>
            <a:ext cx="1518214" cy="658190"/>
          </a:xfrm>
          <a:prstGeom prst="can">
            <a:avLst>
              <a:gd name="adj" fmla="val 50000"/>
            </a:avLst>
          </a:prstGeom>
          <a:solidFill>
            <a:schemeClr val="tx1">
              <a:lumMod val="65000"/>
              <a:lumOff val="35000"/>
            </a:schemeClr>
          </a:soli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394ACD-998C-4E50-BA1F-A3D5122DDFAE}"/>
              </a:ext>
            </a:extLst>
          </p:cNvPr>
          <p:cNvSpPr>
            <a:spLocks noGrp="1"/>
          </p:cNvSpPr>
          <p:nvPr>
            <p:ph type="title"/>
          </p:nvPr>
        </p:nvSpPr>
        <p:spPr>
          <a:xfrm>
            <a:off x="838200" y="98425"/>
            <a:ext cx="10515600" cy="1401683"/>
          </a:xfrm>
        </p:spPr>
        <p:txBody>
          <a:bodyPr>
            <a:noAutofit/>
          </a:bodyPr>
          <a:lstStyle/>
          <a:p>
            <a:r>
              <a:rPr lang="en-US" sz="2800" dirty="0">
                <a:solidFill>
                  <a:schemeClr val="accent6">
                    <a:lumMod val="50000"/>
                  </a:schemeClr>
                </a:solidFill>
              </a:rPr>
              <a:t>Der Balanceakt der Verschuldung:Spannung zwischen kurzfristigem Bedarf und langfristigen Kosten der öffentlichen Verschuldung</a:t>
            </a:r>
          </a:p>
        </p:txBody>
      </p:sp>
      <p:sp>
        <p:nvSpPr>
          <p:cNvPr id="5" name="Cylinder 4">
            <a:extLst>
              <a:ext uri="{FF2B5EF4-FFF2-40B4-BE49-F238E27FC236}">
                <a16:creationId xmlns:a16="http://schemas.microsoft.com/office/drawing/2014/main" id="{4FFB838A-E3FD-4585-AE46-E107C725C462}"/>
              </a:ext>
            </a:extLst>
          </p:cNvPr>
          <p:cNvSpPr/>
          <p:nvPr/>
        </p:nvSpPr>
        <p:spPr>
          <a:xfrm>
            <a:off x="5111905" y="2075604"/>
            <a:ext cx="347241" cy="3769612"/>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Cylinder 6">
            <a:extLst>
              <a:ext uri="{FF2B5EF4-FFF2-40B4-BE49-F238E27FC236}">
                <a16:creationId xmlns:a16="http://schemas.microsoft.com/office/drawing/2014/main" id="{B1191802-FB77-4A34-9894-520D4F38F589}"/>
              </a:ext>
            </a:extLst>
          </p:cNvPr>
          <p:cNvSpPr/>
          <p:nvPr/>
        </p:nvSpPr>
        <p:spPr>
          <a:xfrm rot="16825689" flipH="1">
            <a:off x="5249271" y="936985"/>
            <a:ext cx="183741" cy="3511957"/>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Isosceles Triangle 8">
            <a:extLst>
              <a:ext uri="{FF2B5EF4-FFF2-40B4-BE49-F238E27FC236}">
                <a16:creationId xmlns:a16="http://schemas.microsoft.com/office/drawing/2014/main" id="{A3D196BC-6BFB-448B-A6AC-E317A8B0916B}"/>
              </a:ext>
            </a:extLst>
          </p:cNvPr>
          <p:cNvSpPr/>
          <p:nvPr/>
        </p:nvSpPr>
        <p:spPr>
          <a:xfrm>
            <a:off x="6454349" y="2992784"/>
            <a:ext cx="1207008" cy="1728216"/>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Oval 7">
            <a:extLst>
              <a:ext uri="{FF2B5EF4-FFF2-40B4-BE49-F238E27FC236}">
                <a16:creationId xmlns:a16="http://schemas.microsoft.com/office/drawing/2014/main" id="{F27CE214-6196-494F-A892-33C9EA9EC783}"/>
              </a:ext>
            </a:extLst>
          </p:cNvPr>
          <p:cNvSpPr/>
          <p:nvPr/>
        </p:nvSpPr>
        <p:spPr>
          <a:xfrm>
            <a:off x="6440083" y="4110963"/>
            <a:ext cx="1280160" cy="1097280"/>
          </a:xfrm>
          <a:prstGeom prst="ellipse">
            <a:avLst/>
          </a:prstGeom>
          <a:solidFill>
            <a:schemeClr val="accent2"/>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Isosceles Triangle 9">
            <a:extLst>
              <a:ext uri="{FF2B5EF4-FFF2-40B4-BE49-F238E27FC236}">
                <a16:creationId xmlns:a16="http://schemas.microsoft.com/office/drawing/2014/main" id="{548792C1-4522-4187-B239-9EC0034BE205}"/>
              </a:ext>
            </a:extLst>
          </p:cNvPr>
          <p:cNvSpPr/>
          <p:nvPr/>
        </p:nvSpPr>
        <p:spPr>
          <a:xfrm>
            <a:off x="3001668" y="2383235"/>
            <a:ext cx="1210851" cy="1727823"/>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0C7296EC-0DA5-4958-A85B-42401221C675}"/>
              </a:ext>
            </a:extLst>
          </p:cNvPr>
          <p:cNvSpPr/>
          <p:nvPr/>
        </p:nvSpPr>
        <p:spPr>
          <a:xfrm>
            <a:off x="2982121" y="3494602"/>
            <a:ext cx="1280160" cy="1097280"/>
          </a:xfrm>
          <a:prstGeom prst="ellipse">
            <a:avLst/>
          </a:prstGeom>
          <a:solidFill>
            <a:srgbClr val="4472C4"/>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19DC177A-3550-4F67-BEB3-4389FB613495}"/>
              </a:ext>
            </a:extLst>
          </p:cNvPr>
          <p:cNvSpPr/>
          <p:nvPr/>
        </p:nvSpPr>
        <p:spPr>
          <a:xfrm>
            <a:off x="4998560" y="2383235"/>
            <a:ext cx="647212" cy="658190"/>
          </a:xfrm>
          <a:prstGeom prst="ellipse">
            <a:avLst/>
          </a:prstGeom>
          <a:solidFill>
            <a:schemeClr val="bg1">
              <a:lumMod val="75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CEDF4CF2-1B37-47E3-AFA8-8E2A1DC4945B}"/>
              </a:ext>
            </a:extLst>
          </p:cNvPr>
          <p:cNvSpPr/>
          <p:nvPr/>
        </p:nvSpPr>
        <p:spPr>
          <a:xfrm>
            <a:off x="3490542" y="2252750"/>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D3FF54C-D1C5-4B14-8D78-AA0C70FAEB1E}"/>
              </a:ext>
            </a:extLst>
          </p:cNvPr>
          <p:cNvSpPr/>
          <p:nvPr/>
        </p:nvSpPr>
        <p:spPr>
          <a:xfrm>
            <a:off x="6933074" y="2891338"/>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3396B90-B644-4B82-A058-8F6E8C8AEAA6}"/>
              </a:ext>
            </a:extLst>
          </p:cNvPr>
          <p:cNvSpPr/>
          <p:nvPr/>
        </p:nvSpPr>
        <p:spPr>
          <a:xfrm>
            <a:off x="479523" y="4761664"/>
            <a:ext cx="3461409" cy="1323439"/>
          </a:xfrm>
          <a:prstGeom prst="rect">
            <a:avLst/>
          </a:prstGeom>
        </p:spPr>
        <p:txBody>
          <a:bodyPr wrap="square">
            <a:spAutoFit/>
          </a:bodyPr>
          <a:lstStyle/>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Kurzfristiger Bedarf</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Katastrophenhilfe: Unterstützung von Unternehmen und Haushalten</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Ausgaben für das öffentliche Gesundheitswesen</a:t>
            </a:r>
          </a:p>
        </p:txBody>
      </p:sp>
      <p:sp>
        <p:nvSpPr>
          <p:cNvPr id="16" name="Rectangle 15">
            <a:extLst>
              <a:ext uri="{FF2B5EF4-FFF2-40B4-BE49-F238E27FC236}">
                <a16:creationId xmlns:a16="http://schemas.microsoft.com/office/drawing/2014/main" id="{41D7FCD7-6112-4748-B9FE-565A4A779744}"/>
              </a:ext>
            </a:extLst>
          </p:cNvPr>
          <p:cNvSpPr/>
          <p:nvPr/>
        </p:nvSpPr>
        <p:spPr>
          <a:xfrm>
            <a:off x="7893323" y="2138155"/>
            <a:ext cx="4083840" cy="2554545"/>
          </a:xfrm>
          <a:prstGeom prst="rect">
            <a:avLst/>
          </a:prstGeom>
        </p:spPr>
        <p:txBody>
          <a:bodyPr wrap="square">
            <a:spAutoFit/>
          </a:bodyPr>
          <a:lstStyle/>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Langfristige Risiken</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Verdrängung privater Investitionen (mit steigenden Zinssätzen)</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Verdrängung öffentlicher Investitionen mit steigenden Zinszahlungen</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Makroökonomische Anfälligkeit, Refinanzierungsrisiko und Wahrscheinlichkeit kostspieliger Schuldenkrisen</a:t>
            </a:r>
          </a:p>
        </p:txBody>
      </p:sp>
    </p:spTree>
    <p:extLst>
      <p:ext uri="{BB962C8B-B14F-4D97-AF65-F5344CB8AC3E}">
        <p14:creationId xmlns:p14="http://schemas.microsoft.com/office/powerpoint/2010/main" val="1909207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60AB6-FCAF-41DB-A89A-A5722A56138D}"/>
              </a:ext>
            </a:extLst>
          </p:cNvPr>
          <p:cNvSpPr>
            <a:spLocks noGrp="1"/>
          </p:cNvSpPr>
          <p:nvPr>
            <p:ph type="title"/>
          </p:nvPr>
        </p:nvSpPr>
        <p:spPr>
          <a:xfrm>
            <a:off x="838200" y="365126"/>
            <a:ext cx="10515600" cy="1070270"/>
          </a:xfrm>
        </p:spPr>
        <p:txBody>
          <a:bodyPr>
            <a:normAutofit/>
          </a:bodyPr>
          <a:lstStyle/>
          <a:p>
            <a:r>
              <a:rPr lang="en-US" sz="2800" dirty="0">
                <a:solidFill>
                  <a:schemeClr val="accent6">
                    <a:lumMod val="50000"/>
                  </a:schemeClr>
                </a:solidFill>
              </a:rPr>
              <a:t>Der Balanceakt der Verschuldung – Kurzfristiger Bedarf der öffentlichen Verschuldung: Lehren aus der Katastrophenhilfe</a:t>
            </a:r>
          </a:p>
        </p:txBody>
      </p:sp>
      <p:graphicFrame>
        <p:nvGraphicFramePr>
          <p:cNvPr id="4" name="Content Placeholder 3">
            <a:extLst>
              <a:ext uri="{FF2B5EF4-FFF2-40B4-BE49-F238E27FC236}">
                <a16:creationId xmlns:a16="http://schemas.microsoft.com/office/drawing/2014/main" id="{A7404428-83C8-3249-84A4-FA2068F89C88}"/>
              </a:ext>
            </a:extLst>
          </p:cNvPr>
          <p:cNvGraphicFramePr>
            <a:graphicFrameLocks noGrp="1"/>
          </p:cNvGraphicFramePr>
          <p:nvPr>
            <p:ph idx="1"/>
          </p:nvPr>
        </p:nvGraphicFramePr>
        <p:xfrm>
          <a:off x="1048605" y="1811911"/>
          <a:ext cx="6958940" cy="4351338"/>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B6676DFA-8BB3-44D0-95CE-495C330CB370}"/>
              </a:ext>
            </a:extLst>
          </p:cNvPr>
          <p:cNvSpPr txBox="1"/>
          <p:nvPr/>
        </p:nvSpPr>
        <p:spPr>
          <a:xfrm>
            <a:off x="8073806" y="1915932"/>
            <a:ext cx="3723861" cy="3139321"/>
          </a:xfrm>
          <a:prstGeom prst="rect">
            <a:avLst/>
          </a:prstGeom>
          <a:noFill/>
          <a:ln w="25400">
            <a:solidFill>
              <a:srgbClr val="FF0000"/>
            </a:solidFill>
          </a:ln>
        </p:spPr>
        <p:txBody>
          <a:bodyPr wrap="square" rtlCol="0">
            <a:spAutoFit/>
          </a:bodyPr>
          <a:lstStyle/>
          <a:p>
            <a:r>
              <a:rPr lang="en-US" u="sng" dirty="0"/>
              <a:t>Historische Belege:</a:t>
            </a:r>
          </a:p>
          <a:p>
            <a:r>
              <a:rPr lang="en-US" u="sng" dirty="0"/>
              <a:t/>
            </a:r>
          </a:p>
          <a:p>
            <a:r>
              <a:rPr lang="en-US" u="sng" dirty="0"/>
              <a:t>Während und unmittelbar nach Katastrophen wächst die Verschuldung in Katastrophenökonomien schneller (2 %) als in der Kontrollgruppe (Ökonomie-Jahre ohne Katastrophen)</a:t>
            </a:r>
          </a:p>
          <a:p>
            <a:r>
              <a:rPr lang="en-US" u="sng" dirty="0"/>
              <a:t/>
            </a:r>
          </a:p>
          <a:p>
            <a:r>
              <a:rPr lang="en-US" u="sng" dirty="0"/>
              <a:t>Das Wachstum bricht während der Katastrophe ein, erholt sich aber im Anschluss im Vergleich zur Kontrollgruppe.</a:t>
            </a:r>
          </a:p>
        </p:txBody>
      </p:sp>
    </p:spTree>
    <p:extLst>
      <p:ext uri="{BB962C8B-B14F-4D97-AF65-F5344CB8AC3E}">
        <p14:creationId xmlns:p14="http://schemas.microsoft.com/office/powerpoint/2010/main" val="287650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4FFD-5615-4761-9989-37BDC9B722A5}"/>
              </a:ext>
            </a:extLst>
          </p:cNvPr>
          <p:cNvSpPr>
            <a:spLocks noGrp="1"/>
          </p:cNvSpPr>
          <p:nvPr>
            <p:ph type="title"/>
          </p:nvPr>
        </p:nvSpPr>
        <p:spPr>
          <a:xfrm>
            <a:off x="838200" y="202272"/>
            <a:ext cx="10515600" cy="1149467"/>
          </a:xfrm>
        </p:spPr>
        <p:txBody>
          <a:bodyPr>
            <a:noAutofit/>
          </a:bodyPr>
          <a:lstStyle/>
          <a:p>
            <a:r>
              <a:rPr lang="en-US" sz="2800" dirty="0">
                <a:solidFill>
                  <a:schemeClr val="accent6">
                    <a:lumMod val="50000"/>
                  </a:schemeClr>
                </a:solidFill>
              </a:rPr>
              <a:t>Der Balanceakt der Verschuldung: Langfristige Risiken der öffentlichen VerschuldungZusammenhang zwischen hoher öffentlicher Verschuldung und niedrigem Wachstum im Zeitraum 2000–2019</a:t>
            </a:r>
          </a:p>
        </p:txBody>
      </p:sp>
      <p:sp>
        <p:nvSpPr>
          <p:cNvPr id="5" name="Rectangle 4">
            <a:extLst>
              <a:ext uri="{FF2B5EF4-FFF2-40B4-BE49-F238E27FC236}">
                <a16:creationId xmlns:a16="http://schemas.microsoft.com/office/drawing/2014/main" id="{BBF63EDC-A02F-4309-AFDA-5238FD41C566}"/>
              </a:ext>
            </a:extLst>
          </p:cNvPr>
          <p:cNvSpPr/>
          <p:nvPr/>
        </p:nvSpPr>
        <p:spPr>
          <a:xfrm>
            <a:off x="1448791" y="1602117"/>
            <a:ext cx="9905009" cy="344069"/>
          </a:xfrm>
          <a:prstGeom prst="rect">
            <a:avLst/>
          </a:prstGeom>
        </p:spPr>
        <p:txBody>
          <a:bodyPr wrap="square">
            <a:spAutoFit/>
          </a:bodyPr>
          <a:lstStyle/>
          <a:p>
            <a:r>
              <a:rPr lang="en-US" sz="1600" b="1"/>
              <a:t>Mittleres jährliches Pro-Kopf-Wachstum im Zeitraum 2000–2019 nach Ländern, geordnet nach der Verschuldung des Zentralstaats im Jahr 2000</a:t>
            </a:r>
          </a:p>
        </p:txBody>
      </p:sp>
      <p:pic>
        <p:nvPicPr>
          <p:cNvPr id="8" name="Picture 7">
            <a:extLst>
              <a:ext uri="{FF2B5EF4-FFF2-40B4-BE49-F238E27FC236}">
                <a16:creationId xmlns:a16="http://schemas.microsoft.com/office/drawing/2014/main" id="{6F6971A4-7CB8-42E8-96F5-284E31406A96}"/>
              </a:ext>
            </a:extLst>
          </p:cNvPr>
          <p:cNvPicPr>
            <a:picLocks noChangeAspect="1"/>
          </p:cNvPicPr>
          <p:nvPr/>
        </p:nvPicPr>
        <p:blipFill>
          <a:blip r:embed="rId3"/>
          <a:stretch>
            <a:fillRect/>
          </a:stretch>
        </p:blipFill>
        <p:spPr>
          <a:xfrm>
            <a:off x="1785377" y="2068101"/>
            <a:ext cx="9231835" cy="4017200"/>
          </a:xfrm>
          <a:prstGeom prst="rect">
            <a:avLst/>
          </a:prstGeom>
        </p:spPr>
      </p:pic>
    </p:spTree>
    <p:extLst>
      <p:ext uri="{BB962C8B-B14F-4D97-AF65-F5344CB8AC3E}">
        <p14:creationId xmlns:p14="http://schemas.microsoft.com/office/powerpoint/2010/main" val="3299668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12307-1F19-4B66-8464-CF4D32DC5FC0}"/>
              </a:ext>
            </a:extLst>
          </p:cNvPr>
          <p:cNvSpPr>
            <a:spLocks noGrp="1"/>
          </p:cNvSpPr>
          <p:nvPr>
            <p:ph type="title"/>
          </p:nvPr>
        </p:nvSpPr>
        <p:spPr>
          <a:xfrm>
            <a:off x="583911" y="496910"/>
            <a:ext cx="11122572" cy="965095"/>
          </a:xfrm>
        </p:spPr>
        <p:txBody>
          <a:bodyPr>
            <a:noAutofit/>
          </a:bodyPr>
          <a:lstStyle/>
          <a:p>
            <a:r>
              <a:rPr lang="en-US" sz="3600" dirty="0">
                <a:solidFill>
                  <a:schemeClr val="accent6">
                    <a:lumMod val="50000"/>
                  </a:schemeClr>
                </a:solidFill>
                <a:latin typeface="+mj-lt"/>
              </a:rPr>
              <a:t>Prioritäten während der Pandemie:Öffentliche Ausgaben für Katastrophenhilfe und öffentliches Gesundheitswesen</a:t>
            </a:r>
          </a:p>
        </p:txBody>
      </p:sp>
      <p:sp>
        <p:nvSpPr>
          <p:cNvPr id="3" name="Content Placeholder 2">
            <a:extLst>
              <a:ext uri="{FF2B5EF4-FFF2-40B4-BE49-F238E27FC236}">
                <a16:creationId xmlns:a16="http://schemas.microsoft.com/office/drawing/2014/main" id="{27898683-EFFB-4D7A-B4B5-D55649099B39}"/>
              </a:ext>
            </a:extLst>
          </p:cNvPr>
          <p:cNvSpPr>
            <a:spLocks noGrp="1"/>
          </p:cNvSpPr>
          <p:nvPr>
            <p:ph idx="1"/>
          </p:nvPr>
        </p:nvSpPr>
        <p:spPr>
          <a:xfrm>
            <a:off x="929629" y="1766788"/>
            <a:ext cx="5257800" cy="4579390"/>
          </a:xfrm>
        </p:spPr>
        <p:txBody>
          <a:bodyPr vert="horz" lIns="91440" tIns="45720" rIns="91440" bIns="45720" rtlCol="0" anchor="t">
            <a:noAutofit/>
          </a:bodyPr>
          <a:lstStyle/>
          <a:p>
            <a:r>
              <a:rPr lang="en-US" sz="2400" i="1" dirty="0"/>
              <a:t>Während der Pandemie: Katastrophenhilfe, Unterstützung von Haushalten und Unternehmen</a:t>
            </a:r>
          </a:p>
          <a:p>
            <a:r>
              <a:rPr lang="en-US" sz="2400" i="1" dirty="0"/>
              <a:t>Die Stimulierung der Gesamtnachfrage könnte nur geringe Auswirkungen auf das BIP haben (der „fiskalische Multiplikator“), wenn das Risiko von Covid-19 bestehen bleibt</a:t>
            </a:r>
          </a:p>
          <a:p>
            <a:r>
              <a:rPr lang="en-US" sz="2400" i="1" dirty="0"/>
              <a:t>Investitionen in das öffentliche Gesundheitswesen, um Leben zu retten und langfristige Gewinne zu erzielen</a:t>
            </a:r>
          </a:p>
          <a:p>
            <a:r>
              <a:rPr lang="en-US" sz="2400" i="1" dirty="0"/>
              <a:t>Krankheitsüberwachung und Datentransparenz</a:t>
            </a:r>
          </a:p>
          <a:p>
            <a:r>
              <a:rPr lang="en-US" sz="2400" i="1" dirty="0"/>
              <a:t>Tests und Kontaktnachverfolgung</a:t>
            </a:r>
          </a:p>
          <a:p>
            <a:r>
              <a:rPr lang="en-US" sz="2400" i="1" dirty="0"/>
              <a:t>Impfkampagnen</a:t>
            </a:r>
          </a:p>
          <a:p>
            <a:r>
              <a:rPr lang="en-US" sz="2400" i="1" dirty="0"/>
              <a:t/>
            </a:r>
          </a:p>
          <a:p>
            <a:r>
              <a:rPr lang="en-US" sz="2400" i="1" dirty="0"/>
              <a:t>Kann zudem die wirtschaftlichen Kosten der Pandemie senken</a:t>
            </a:r>
          </a:p>
          <a:p>
            <a:r>
              <a:rPr lang="en-US" sz="2400" i="1" dirty="0"/>
              <a:t/>
            </a:r>
          </a:p>
          <a:p>
            <a:r>
              <a:rPr lang="en-US" sz="2400" i="1" dirty="0"/>
              <a:t/>
            </a:r>
          </a:p>
        </p:txBody>
      </p:sp>
      <p:grpSp>
        <p:nvGrpSpPr>
          <p:cNvPr id="4" name="Group 3">
            <a:extLst>
              <a:ext uri="{FF2B5EF4-FFF2-40B4-BE49-F238E27FC236}">
                <a16:creationId xmlns:a16="http://schemas.microsoft.com/office/drawing/2014/main" id="{D9C8C1BC-0CE5-4A29-A55A-130F761AB3D0}"/>
              </a:ext>
            </a:extLst>
          </p:cNvPr>
          <p:cNvGrpSpPr/>
          <p:nvPr/>
        </p:nvGrpSpPr>
        <p:grpSpPr>
          <a:xfrm>
            <a:off x="6451069" y="1716440"/>
            <a:ext cx="5095890" cy="3759327"/>
            <a:chOff x="6451068" y="1330221"/>
            <a:chExt cx="5341655" cy="3999896"/>
          </a:xfrm>
        </p:grpSpPr>
        <p:sp>
          <p:nvSpPr>
            <p:cNvPr id="5" name="Rectangle 4">
              <a:extLst>
                <a:ext uri="{FF2B5EF4-FFF2-40B4-BE49-F238E27FC236}">
                  <a16:creationId xmlns:a16="http://schemas.microsoft.com/office/drawing/2014/main" id="{AEB6B073-B8DA-43A7-BE47-186B675AF4C7}"/>
                </a:ext>
              </a:extLst>
            </p:cNvPr>
            <p:cNvSpPr/>
            <p:nvPr/>
          </p:nvSpPr>
          <p:spPr>
            <a:xfrm>
              <a:off x="6451068" y="1330221"/>
              <a:ext cx="5341655" cy="307777"/>
            </a:xfrm>
            <a:prstGeom prst="rect">
              <a:avLst/>
            </a:prstGeom>
          </p:spPr>
          <p:txBody>
            <a:bodyPr wrap="none">
              <a:spAutoFit/>
            </a:bodyPr>
            <a:lstStyle/>
            <a:p>
              <a:r>
                <a:rPr kumimoji="0" lang="en-US" sz="1400" b="1" i="0" u="none" strike="noStrike" kern="1200" cap="none" spc="0" normalizeH="0" baseline="0" noProof="0">
                  <a:ln>
                    <a:noFill/>
                  </a:ln>
                  <a:solidFill>
                    <a:prstClr val="black"/>
                  </a:solidFill>
                  <a:effectLst/>
                  <a:uLnTx/>
                  <a:uFillTx/>
                  <a:latin typeface="Calibri" panose="020F0502020204030204"/>
                  <a:ea typeface="+mn-ea"/>
                  <a:cs typeface="+mn-cs"/>
                </a:rPr>
                <a:t>Partielle Korrelation zwischen Testpositivitätsraten und BIP-Abwärtskorrektur</a:t>
              </a:r>
            </a:p>
          </p:txBody>
        </p:sp>
        <p:pic>
          <p:nvPicPr>
            <p:cNvPr id="8" name="Picture 7">
              <a:extLst>
                <a:ext uri="{FF2B5EF4-FFF2-40B4-BE49-F238E27FC236}">
                  <a16:creationId xmlns:a16="http://schemas.microsoft.com/office/drawing/2014/main" id="{20F43699-43B6-43D9-958F-DEA4435152CB}"/>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89064" y="1672517"/>
              <a:ext cx="4665662" cy="3657600"/>
            </a:xfrm>
            <a:prstGeom prst="rect">
              <a:avLst/>
            </a:prstGeom>
            <a:noFill/>
            <a:ln>
              <a:noFill/>
            </a:ln>
          </p:spPr>
        </p:pic>
      </p:grpSp>
      <p:sp>
        <p:nvSpPr>
          <p:cNvPr id="6" name="Rectangle 5">
            <a:extLst>
              <a:ext uri="{FF2B5EF4-FFF2-40B4-BE49-F238E27FC236}">
                <a16:creationId xmlns:a16="http://schemas.microsoft.com/office/drawing/2014/main" id="{E2B52C8A-7600-4A9A-AADA-9F40E9459539}"/>
              </a:ext>
            </a:extLst>
          </p:cNvPr>
          <p:cNvSpPr/>
          <p:nvPr/>
        </p:nvSpPr>
        <p:spPr>
          <a:xfrm>
            <a:off x="6073895" y="5670627"/>
            <a:ext cx="6096000" cy="974882"/>
          </a:xfrm>
          <a:prstGeom prst="rect">
            <a:avLst/>
          </a:prstGeom>
        </p:spPr>
        <p:txBody>
          <a:bodyPr>
            <a:spAutoFit/>
          </a:bodyPr>
          <a:lstStyle/>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Quellen: IWF, World Economic Outlook; Worldometer; Johns Hopkins University; Weltbank, World Development Indicators; und Berechnungen der Weltbank-Mitarbeiter.</a:t>
            </a:r>
          </a:p>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Hinweis: Die Abbildung zeigt die partielle Korrelation zwischen den Wachstumsanpassungen 2020 zwischen Oktober 2020 und Oktober 2019 und der Covid-19-Positivitätsrate (Stand Dezember 2020). Die Positivitätsrate ist die Zahl der Covid-19-Fälle als Prozentsatz der Gesamtzahl der Tests. Weitere erklärende Variablen umfassen den Logarithmus des Pro-Kopf-BIP im Jahr 2019 (in US-Dollar), den gesamten Handelswert am BIP im Jahr 2019 (in Prozent), die Tage seit dem ersten positiven Fall bis zum 30. November 2020 sowie den Tourismus als Prozentsatz der Exporte im Jahr 2018.</a:t>
            </a:r>
          </a:p>
        </p:txBody>
      </p:sp>
    </p:spTree>
    <p:extLst>
      <p:ext uri="{BB962C8B-B14F-4D97-AF65-F5344CB8AC3E}">
        <p14:creationId xmlns:p14="http://schemas.microsoft.com/office/powerpoint/2010/main" val="2835570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7F587-EC9D-4B03-B8C7-2324F113AFE4}"/>
              </a:ext>
            </a:extLst>
          </p:cNvPr>
          <p:cNvSpPr>
            <a:spLocks noGrp="1"/>
          </p:cNvSpPr>
          <p:nvPr>
            <p:ph type="title"/>
          </p:nvPr>
        </p:nvSpPr>
        <p:spPr>
          <a:xfrm>
            <a:off x="838200" y="365125"/>
            <a:ext cx="10515600" cy="963945"/>
          </a:xfrm>
        </p:spPr>
        <p:txBody>
          <a:bodyPr>
            <a:normAutofit/>
          </a:bodyPr>
          <a:lstStyle/>
          <a:p>
            <a:r>
              <a:rPr lang="en-US" sz="3600" dirty="0">
                <a:solidFill>
                  <a:schemeClr val="accent6">
                    <a:lumMod val="50000"/>
                  </a:schemeClr>
                </a:solidFill>
              </a:rPr>
              <a:t>Prioritäten, während die Pandemie abklingt</a:t>
            </a:r>
          </a:p>
        </p:txBody>
      </p:sp>
      <p:graphicFrame>
        <p:nvGraphicFramePr>
          <p:cNvPr id="4" name="Table 4">
            <a:extLst>
              <a:ext uri="{FF2B5EF4-FFF2-40B4-BE49-F238E27FC236}">
                <a16:creationId xmlns:a16="http://schemas.microsoft.com/office/drawing/2014/main" id="{93EF1C9F-3EC7-4364-A2F7-177601DF5479}"/>
              </a:ext>
            </a:extLst>
          </p:cNvPr>
          <p:cNvGraphicFramePr>
            <a:graphicFrameLocks noGrp="1"/>
          </p:cNvGraphicFramePr>
          <p:nvPr/>
        </p:nvGraphicFramePr>
        <p:xfrm>
          <a:off x="1647536" y="1578452"/>
          <a:ext cx="9134764" cy="4053840"/>
        </p:xfrm>
        <a:graphic>
          <a:graphicData uri="http://schemas.openxmlformats.org/drawingml/2006/table">
            <a:tbl>
              <a:tblPr firstRow="1" bandRow="1">
                <a:tableStyleId>{5C22544A-7EE6-4342-B048-85BDC9FD1C3A}</a:tableStyleId>
              </a:tblPr>
              <a:tblGrid>
                <a:gridCol w="4567382">
                  <a:extLst>
                    <a:ext uri="{9D8B030D-6E8A-4147-A177-3AD203B41FA5}">
                      <a16:colId xmlns:a16="http://schemas.microsoft.com/office/drawing/2014/main" val="943116979"/>
                    </a:ext>
                  </a:extLst>
                </a:gridCol>
                <a:gridCol w="4567382">
                  <a:extLst>
                    <a:ext uri="{9D8B030D-6E8A-4147-A177-3AD203B41FA5}">
                      <a16:colId xmlns:a16="http://schemas.microsoft.com/office/drawing/2014/main" val="1953876702"/>
                    </a:ext>
                  </a:extLst>
                </a:gridCol>
              </a:tblGrid>
              <a:tr h="584799">
                <a:tc>
                  <a:txBody>
                    <a:bodyPr/>
                    <a:lstStyle/>
                    <a:p>
                      <a:r>
                        <a:rPr lang="en-US" sz="2000" b="0" dirty="0">
                          <a:solidFill>
                            <a:schemeClr val="accent6">
                              <a:lumMod val="75000"/>
                            </a:schemeClr>
                          </a:solidFill>
                        </a:rPr>
                        <a:t>Faktoren, die den Bedarf und die Wirksamkeit traditioneller fiskalischer Konjunkturmaßnahmen verringern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tc>
                  <a:txBody>
                    <a:bodyPr/>
                    <a:lstStyle/>
                    <a:p>
                      <a:r>
                        <a:rPr lang="en-US" sz="2000" b="0" dirty="0">
                          <a:solidFill>
                            <a:schemeClr val="accent6">
                              <a:lumMod val="75000"/>
                            </a:schemeClr>
                          </a:solidFill>
                        </a:rPr>
                        <a:t>Potenzieller Nutzen (gezielter) Konjunkturmaßnahmen – Heilung wirtschaftlicher Narben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extLst>
                  <a:ext uri="{0D108BD9-81ED-4DB2-BD59-A6C34878D82A}">
                    <a16:rowId xmlns:a16="http://schemas.microsoft.com/office/drawing/2014/main" val="846973237"/>
                  </a:ext>
                </a:extLst>
              </a:tr>
              <a:tr h="3227690">
                <a:tc>
                  <a:txBody>
                    <a:bodyPr/>
                    <a:lstStyle/>
                    <a:p>
                      <a:pPr marL="457200" indent="-457200">
                        <a:buFont typeface="+mj-lt"/>
                        <a:buAutoNum type="arabicPeriod"/>
                      </a:pPr>
                      <a:r>
                        <a:rPr lang="en-US" sz="2000" dirty="0">
                          <a:solidFill>
                            <a:schemeClr val="tx1"/>
                          </a:solidFill>
                        </a:rPr>
                        <a:t>„Nachholbedarf“ kann das BIP ohne fiskalische Konjunkturmaßnahmen steigern  Wenn die Verbraucher (z. B. ausländische Touristen) glauben, dass die Pandemie vorbei ist Hohe Verschuldung wurde mit niedrigen Fiskalmultiplikatoren in Verbindung gebracht (Huidrom et al., 2020)Der Fiskalmultiplikator öffentlicher Investitionen ist niedrig, wenn die Regierungsführung schwach ist (Izquierdo et al., 2019)</a:t>
                      </a:r>
                    </a:p>
                    <a:p>
                      <a:pPr marL="914400" lvl="1" indent="-457200">
                        <a:buFont typeface="Arial" panose="020B0604020202020204" pitchFamily="34" charset="0"/>
                        <a:buChar char="•"/>
                      </a:pPr>
                      <a:r>
                        <a:rPr lang="en-US" sz="1800" dirty="0">
                          <a:solidFill>
                            <a:schemeClr val="tx1"/>
                          </a:solidFill>
                        </a:rPr>
                        <a:t>If consumers (e.g., foreign tourists) believe that the pandemic is over </a:t>
                      </a:r>
                    </a:p>
                    <a:p>
                      <a:pPr marL="457200" indent="-457200">
                        <a:buFont typeface="+mj-lt"/>
                        <a:buAutoNum type="arabicPeriod"/>
                      </a:pPr>
                      <a:r>
                        <a:rPr lang="en-US" sz="2000" dirty="0">
                          <a:solidFill>
                            <a:schemeClr val="tx1"/>
                          </a:solidFill>
                        </a:rPr>
                        <a:t>High debt has been associated with low fiscal multipliers (Huidrom et al., 2020)</a:t>
                      </a:r>
                    </a:p>
                    <a:p>
                      <a:pPr marL="457200" indent="-457200">
                        <a:buFont typeface="+mj-lt"/>
                        <a:buAutoNum type="arabicPeriod"/>
                      </a:pPr>
                      <a:r>
                        <a:rPr lang="en-US" sz="2000" dirty="0">
                          <a:solidFill>
                            <a:schemeClr val="tx1"/>
                          </a:solidFill>
                        </a:rPr>
                        <a:t>Fiscal multiplier of public investment is low when governance is poor (Izquierdo et al., 2019)</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342900" indent="-342900">
                        <a:buFont typeface="+mj-lt"/>
                        <a:buAutoNum type="arabicPeriod"/>
                      </a:pPr>
                      <a:r>
                        <a:rPr lang="en-US" sz="2000" dirty="0">
                          <a:solidFill>
                            <a:schemeClr val="tx1"/>
                          </a:solidFill>
                        </a:rPr>
                        <a:t>Finanzielle Beschränkungen verhindern den Wiedereinstieg von Unternehmen Vernarbung untätiger Arbeitskräfte, insbesondere junger Menschen, die in den Arbeitsmarkt eintreten Unterstützung von Schulen zur Rückgewinnung verlorenen Humankapitals</a:t>
                      </a:r>
                    </a:p>
                    <a:p>
                      <a:pPr marL="342900" indent="-342900">
                        <a:buFont typeface="+mj-lt"/>
                        <a:buAutoNum type="arabicPeriod"/>
                      </a:pPr>
                      <a:r>
                        <a:rPr lang="en-US" sz="2000" dirty="0">
                          <a:solidFill>
                            <a:schemeClr val="tx1"/>
                          </a:solidFill>
                        </a:rPr>
                        <a:t>Scarring of idled workers, particularly the young entering the labor force</a:t>
                      </a:r>
                    </a:p>
                    <a:p>
                      <a:pPr marL="342900" indent="-342900">
                        <a:buFont typeface="+mj-lt"/>
                        <a:buAutoNum type="arabicPeriod"/>
                      </a:pPr>
                      <a:r>
                        <a:rPr lang="en-US" sz="2000" dirty="0">
                          <a:solidFill>
                            <a:schemeClr val="tx1"/>
                          </a:solidFill>
                        </a:rPr>
                        <a:t>Support schools to recover lost human capital</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78315287"/>
                  </a:ext>
                </a:extLst>
              </a:tr>
            </a:tbl>
          </a:graphicData>
        </a:graphic>
      </p:graphicFrame>
    </p:spTree>
    <p:extLst>
      <p:ext uri="{BB962C8B-B14F-4D97-AF65-F5344CB8AC3E}">
        <p14:creationId xmlns:p14="http://schemas.microsoft.com/office/powerpoint/2010/main" val="3497451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F008A-C402-4263-AE56-EC4C608487F6}"/>
              </a:ext>
            </a:extLst>
          </p:cNvPr>
          <p:cNvSpPr>
            <a:spLocks noGrp="1"/>
          </p:cNvSpPr>
          <p:nvPr>
            <p:ph type="title"/>
          </p:nvPr>
        </p:nvSpPr>
        <p:spPr>
          <a:xfrm>
            <a:off x="838200" y="365125"/>
            <a:ext cx="10515600" cy="921415"/>
          </a:xfrm>
        </p:spPr>
        <p:txBody>
          <a:bodyPr>
            <a:normAutofit/>
          </a:bodyPr>
          <a:lstStyle/>
          <a:p>
            <a:r>
              <a:rPr lang="en-US" sz="3200" dirty="0">
                <a:solidFill>
                  <a:schemeClr val="accent6">
                    <a:lumMod val="50000"/>
                  </a:schemeClr>
                </a:solidFill>
              </a:rPr>
              <a:t>Abfederung der Kosten der öffentlichen Verschuldung nach der Pandemie</a:t>
            </a:r>
          </a:p>
        </p:txBody>
      </p:sp>
      <p:sp>
        <p:nvSpPr>
          <p:cNvPr id="3" name="Content Placeholder 2">
            <a:extLst>
              <a:ext uri="{FF2B5EF4-FFF2-40B4-BE49-F238E27FC236}">
                <a16:creationId xmlns:a16="http://schemas.microsoft.com/office/drawing/2014/main" id="{79CFE54A-6E50-4441-AA7D-636D083DB899}"/>
              </a:ext>
            </a:extLst>
          </p:cNvPr>
          <p:cNvSpPr>
            <a:spLocks noGrp="1"/>
          </p:cNvSpPr>
          <p:nvPr>
            <p:ph idx="1"/>
          </p:nvPr>
        </p:nvSpPr>
        <p:spPr>
          <a:xfrm>
            <a:off x="838200" y="1594884"/>
            <a:ext cx="10515600" cy="4582079"/>
          </a:xfrm>
        </p:spPr>
        <p:txBody>
          <a:bodyPr/>
          <a:lstStyle/>
          <a:p>
            <a:r>
              <a:rPr lang="en-US" dirty="0"/>
              <a:t>Refinanzierung fällig werdender Schulden zu günstigeren Konditionen durch eine verbesserte Transparenz der Schuldenberichterstattung</a:t>
            </a:r>
          </a:p>
          <a:p>
            <a:r>
              <a:rPr lang="en-US" dirty="0"/>
              <a:t/>
            </a:r>
          </a:p>
          <a:p>
            <a:r>
              <a:rPr lang="en-US" dirty="0"/>
              <a:t>Verbesserung der Institutionen: Verschuldete Länder geraten eher in kostspielige Phasen der Schuldennot, wenn sie ein geringes Wachstum und eine schwache Regierungsführung aufweisen.</a:t>
            </a:r>
          </a:p>
          <a:p>
            <a:r>
              <a:rPr lang="en-US" dirty="0"/>
              <a:t/>
            </a:r>
          </a:p>
        </p:txBody>
      </p:sp>
    </p:spTree>
    <p:extLst>
      <p:ext uri="{BB962C8B-B14F-4D97-AF65-F5344CB8AC3E}">
        <p14:creationId xmlns:p14="http://schemas.microsoft.com/office/powerpoint/2010/main" val="4160951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C29A6-99A5-46B7-8755-B8C4B909D3D4}"/>
              </a:ext>
            </a:extLst>
          </p:cNvPr>
          <p:cNvSpPr>
            <a:spLocks noGrp="1"/>
          </p:cNvSpPr>
          <p:nvPr>
            <p:ph type="title"/>
          </p:nvPr>
        </p:nvSpPr>
        <p:spPr/>
        <p:txBody>
          <a:bodyPr>
            <a:normAutofit/>
          </a:bodyPr>
          <a:lstStyle/>
          <a:p>
            <a:r>
              <a:rPr lang="en-US" sz="3200" dirty="0">
                <a:solidFill>
                  <a:schemeClr val="accent6">
                    <a:lumMod val="50000"/>
                  </a:schemeClr>
                </a:solidFill>
              </a:rPr>
              <a:t>Gute Regierungsführung kann helfen: Belege aus Episoden der Schuldennot</a:t>
            </a:r>
          </a:p>
        </p:txBody>
      </p:sp>
      <p:graphicFrame>
        <p:nvGraphicFramePr>
          <p:cNvPr id="4" name="Content Placeholder 3">
            <a:extLst>
              <a:ext uri="{FF2B5EF4-FFF2-40B4-BE49-F238E27FC236}">
                <a16:creationId xmlns:a16="http://schemas.microsoft.com/office/drawing/2014/main" id="{3848A625-3D1D-4E4C-AE46-1F2A533035AA}"/>
              </a:ext>
            </a:extLst>
          </p:cNvPr>
          <p:cNvGraphicFramePr>
            <a:graphicFrameLocks noGrp="1"/>
          </p:cNvGraphicFramePr>
          <p:nvPr>
            <p:ph idx="1"/>
          </p:nvPr>
        </p:nvGraphicFramePr>
        <p:xfrm>
          <a:off x="838200" y="1825625"/>
          <a:ext cx="4826330" cy="435133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8902B8B8-EA53-4657-BD16-60F1C5167435}"/>
              </a:ext>
            </a:extLst>
          </p:cNvPr>
          <p:cNvGraphicFramePr/>
          <p:nvPr/>
        </p:nvGraphicFramePr>
        <p:xfrm>
          <a:off x="6096000" y="1942583"/>
          <a:ext cx="5470337" cy="382905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5">
            <a:extLst>
              <a:ext uri="{FF2B5EF4-FFF2-40B4-BE49-F238E27FC236}">
                <a16:creationId xmlns:a16="http://schemas.microsoft.com/office/drawing/2014/main" id="{3A80956D-812C-4E4D-89FD-9EEF10359171}"/>
              </a:ext>
            </a:extLst>
          </p:cNvPr>
          <p:cNvSpPr/>
          <p:nvPr/>
        </p:nvSpPr>
        <p:spPr>
          <a:xfrm>
            <a:off x="1319645" y="6023528"/>
            <a:ext cx="9434946" cy="265457"/>
          </a:xfrm>
          <a:prstGeom prst="rect">
            <a:avLst/>
          </a:prstGeom>
        </p:spPr>
        <p:txBody>
          <a:bodyPr wrap="square">
            <a:spAutoFit/>
          </a:bodyPr>
          <a:lstStyle/>
          <a:p>
            <a:r>
              <a:rPr kumimoji="0" lang="en-US" sz="11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Hinweis: Kontrollgruppe = Entwicklungsländer ohne Episoden von Schuldennot (Umschuldung)</a:t>
            </a:r>
          </a:p>
        </p:txBody>
      </p:sp>
    </p:spTree>
    <p:extLst>
      <p:ext uri="{BB962C8B-B14F-4D97-AF65-F5344CB8AC3E}">
        <p14:creationId xmlns:p14="http://schemas.microsoft.com/office/powerpoint/2010/main" val="1590269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28"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32" name="Freeform: Shape 31">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32">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B912DCED-A9C1-40AC-871C-C2E44D01EDD5}"/>
              </a:ext>
            </a:extLst>
          </p:cNvPr>
          <p:cNvSpPr>
            <a:spLocks noGrp="1"/>
          </p:cNvSpPr>
          <p:nvPr>
            <p:ph type="title"/>
          </p:nvPr>
        </p:nvSpPr>
        <p:spPr>
          <a:xfrm>
            <a:off x="786385" y="841248"/>
            <a:ext cx="3515244" cy="5340097"/>
          </a:xfrm>
        </p:spPr>
        <p:txBody>
          <a:bodyPr anchor="ctr">
            <a:normAutofit/>
          </a:bodyPr>
          <a:lstStyle/>
          <a:p>
            <a:r>
              <a:rPr lang="en-US" sz="4000">
                <a:solidFill>
                  <a:schemeClr val="bg1"/>
                </a:solidFill>
              </a:rPr>
              <a:t>Einen Weg zu einer dauerhaften Erholung ebnen:Transparenz hilft! </a:t>
            </a:r>
          </a:p>
        </p:txBody>
      </p:sp>
      <p:graphicFrame>
        <p:nvGraphicFramePr>
          <p:cNvPr id="21" name="Content Placeholder 2">
            <a:extLst>
              <a:ext uri="{FF2B5EF4-FFF2-40B4-BE49-F238E27FC236}">
                <a16:creationId xmlns:a16="http://schemas.microsoft.com/office/drawing/2014/main" id="{EE35DB09-5421-4F1F-A269-E6A2A733E147}"/>
              </a:ext>
            </a:extLst>
          </p:cNvPr>
          <p:cNvGraphicFramePr/>
          <p:nvPr>
            <p:extLst>
              <p:ext uri="{D42A27DB-BD31-4B8C-83A1-F6EECF244321}">
                <p14:modId xmlns:p14="http://schemas.microsoft.com/office/powerpoint/2010/main" val="2917362338"/>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04931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4019DB5-FB67-4726-9C0F-732B660E4DD6}"/>
              </a:ext>
            </a:extLst>
          </p:cNvPr>
          <p:cNvSpPr>
            <a:spLocks noGrp="1"/>
          </p:cNvSpPr>
          <p:nvPr>
            <p:ph type="title"/>
          </p:nvPr>
        </p:nvSpPr>
        <p:spPr>
          <a:xfrm>
            <a:off x="3215729" y="1764407"/>
            <a:ext cx="5760846" cy="2310312"/>
          </a:xfrm>
        </p:spPr>
        <p:txBody>
          <a:bodyPr vert="horz" lIns="91440" tIns="45720" rIns="91440" bIns="45720" rtlCol="0" anchor="b">
            <a:normAutofit/>
          </a:bodyPr>
          <a:lstStyle/>
          <a:p>
            <a:r>
              <a:rPr lang="en-US" sz="6600" b="1" kern="1200">
                <a:solidFill>
                  <a:schemeClr val="tx2"/>
                </a:solidFill>
                <a:latin typeface="+mj-lt"/>
                <a:ea typeface="+mj-ea"/>
                <a:cs typeface="+mj-cs"/>
              </a:rPr>
              <a:t>VIELEN DANK!</a:t>
            </a:r>
          </a:p>
        </p:txBody>
      </p:sp>
    </p:spTree>
    <p:extLst>
      <p:ext uri="{BB962C8B-B14F-4D97-AF65-F5344CB8AC3E}">
        <p14:creationId xmlns:p14="http://schemas.microsoft.com/office/powerpoint/2010/main" val="27694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a:solidFill>
                  <a:schemeClr val="accent6">
                    <a:lumMod val="75000"/>
                  </a:schemeClr>
                </a:solidFill>
              </a:rPr>
              <a:t>Anhang Tabelle B1: Prognosen der Weltbank zu Wachstum, Leistungsbilanz und Staatshaushalt</a:t>
            </a:r>
          </a:p>
        </p:txBody>
      </p:sp>
      <p:pic>
        <p:nvPicPr>
          <p:cNvPr id="3" name="Picture 2">
            <a:extLst>
              <a:ext uri="{FF2B5EF4-FFF2-40B4-BE49-F238E27FC236}">
                <a16:creationId xmlns:a16="http://schemas.microsoft.com/office/drawing/2014/main" id="{8162E021-6368-4FD1-83CB-50F3DE5C643D}"/>
              </a:ext>
            </a:extLst>
          </p:cNvPr>
          <p:cNvPicPr>
            <a:picLocks noChangeAspect="1"/>
          </p:cNvPicPr>
          <p:nvPr/>
        </p:nvPicPr>
        <p:blipFill>
          <a:blip r:embed="rId3"/>
          <a:stretch>
            <a:fillRect/>
          </a:stretch>
        </p:blipFill>
        <p:spPr>
          <a:xfrm>
            <a:off x="1261699" y="1276350"/>
            <a:ext cx="9668601" cy="5353050"/>
          </a:xfrm>
          <a:prstGeom prst="rect">
            <a:avLst/>
          </a:prstGeom>
        </p:spPr>
      </p:pic>
    </p:spTree>
    <p:extLst>
      <p:ext uri="{BB962C8B-B14F-4D97-AF65-F5344CB8AC3E}">
        <p14:creationId xmlns:p14="http://schemas.microsoft.com/office/powerpoint/2010/main" val="3368378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dirty="0">
                <a:solidFill>
                  <a:schemeClr val="accent6">
                    <a:lumMod val="75000"/>
                  </a:schemeClr>
                </a:solidFill>
              </a:rPr>
              <a:t>Anhang Tabelle B2 Teil B (zwischen April 2021 und Oktober 2020):</a:t>
            </a:r>
          </a:p>
        </p:txBody>
      </p:sp>
      <p:pic>
        <p:nvPicPr>
          <p:cNvPr id="5" name="Picture 4">
            <a:extLst>
              <a:ext uri="{FF2B5EF4-FFF2-40B4-BE49-F238E27FC236}">
                <a16:creationId xmlns:a16="http://schemas.microsoft.com/office/drawing/2014/main" id="{1BE89F56-BC52-4404-B7B2-73BDC00FF274}"/>
              </a:ext>
            </a:extLst>
          </p:cNvPr>
          <p:cNvPicPr>
            <a:picLocks noChangeAspect="1"/>
          </p:cNvPicPr>
          <p:nvPr/>
        </p:nvPicPr>
        <p:blipFill>
          <a:blip r:embed="rId3"/>
          <a:stretch>
            <a:fillRect/>
          </a:stretch>
        </p:blipFill>
        <p:spPr>
          <a:xfrm>
            <a:off x="2149079" y="1514763"/>
            <a:ext cx="7893842" cy="4235209"/>
          </a:xfrm>
          <a:prstGeom prst="rect">
            <a:avLst/>
          </a:prstGeom>
        </p:spPr>
      </p:pic>
    </p:spTree>
    <p:extLst>
      <p:ext uri="{BB962C8B-B14F-4D97-AF65-F5344CB8AC3E}">
        <p14:creationId xmlns:p14="http://schemas.microsoft.com/office/powerpoint/2010/main" val="21762621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1DB0-E629-4DFE-8344-08CAAA662983}"/>
              </a:ext>
            </a:extLst>
          </p:cNvPr>
          <p:cNvSpPr>
            <a:spLocks noGrp="1"/>
          </p:cNvSpPr>
          <p:nvPr>
            <p:ph type="title"/>
          </p:nvPr>
        </p:nvSpPr>
        <p:spPr>
          <a:xfrm>
            <a:off x="838200" y="365126"/>
            <a:ext cx="10515600" cy="768350"/>
          </a:xfrm>
        </p:spPr>
        <p:txBody>
          <a:bodyPr>
            <a:normAutofit/>
          </a:bodyPr>
          <a:lstStyle/>
          <a:p>
            <a:r>
              <a:rPr lang="en-US" sz="3600">
                <a:solidFill>
                  <a:schemeClr val="accent6">
                    <a:lumMod val="75000"/>
                  </a:schemeClr>
                </a:solidFill>
              </a:rPr>
              <a:t>Anhang Tabelle B3: Überblick über die Verschuldung der MENA-Region</a:t>
            </a:r>
          </a:p>
        </p:txBody>
      </p:sp>
      <p:pic>
        <p:nvPicPr>
          <p:cNvPr id="4" name="Picture 3">
            <a:extLst>
              <a:ext uri="{FF2B5EF4-FFF2-40B4-BE49-F238E27FC236}">
                <a16:creationId xmlns:a16="http://schemas.microsoft.com/office/drawing/2014/main" id="{10918BEE-4799-4D7A-B285-13F21208414E}"/>
              </a:ext>
            </a:extLst>
          </p:cNvPr>
          <p:cNvPicPr>
            <a:picLocks noChangeAspect="1"/>
          </p:cNvPicPr>
          <p:nvPr/>
        </p:nvPicPr>
        <p:blipFill>
          <a:blip r:embed="rId2"/>
          <a:stretch>
            <a:fillRect/>
          </a:stretch>
        </p:blipFill>
        <p:spPr>
          <a:xfrm>
            <a:off x="1890712" y="1042987"/>
            <a:ext cx="8410575" cy="5610225"/>
          </a:xfrm>
          <a:prstGeom prst="rect">
            <a:avLst/>
          </a:prstGeom>
        </p:spPr>
      </p:pic>
    </p:spTree>
    <p:extLst>
      <p:ext uri="{BB962C8B-B14F-4D97-AF65-F5344CB8AC3E}">
        <p14:creationId xmlns:p14="http://schemas.microsoft.com/office/powerpoint/2010/main" val="8083086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52292-4DE5-4537-A9BF-B193C01F8D37}"/>
              </a:ext>
            </a:extLst>
          </p:cNvPr>
          <p:cNvSpPr>
            <a:spLocks noGrp="1"/>
          </p:cNvSpPr>
          <p:nvPr>
            <p:ph type="title"/>
          </p:nvPr>
        </p:nvSpPr>
        <p:spPr>
          <a:xfrm>
            <a:off x="838200" y="365125"/>
            <a:ext cx="10515600" cy="892175"/>
          </a:xfrm>
        </p:spPr>
        <p:txBody>
          <a:bodyPr>
            <a:normAutofit/>
          </a:bodyPr>
          <a:lstStyle/>
          <a:p>
            <a:r>
              <a:rPr lang="en-US" sz="3200">
                <a:solidFill>
                  <a:schemeClr val="accent6">
                    <a:lumMod val="75000"/>
                  </a:schemeClr>
                </a:solidFill>
              </a:rPr>
              <a:t>Anhang Tabelle B4: Merkmale der Volkswirtschaften der MENA-Region</a:t>
            </a:r>
          </a:p>
        </p:txBody>
      </p:sp>
      <p:pic>
        <p:nvPicPr>
          <p:cNvPr id="4" name="Picture 3">
            <a:extLst>
              <a:ext uri="{FF2B5EF4-FFF2-40B4-BE49-F238E27FC236}">
                <a16:creationId xmlns:a16="http://schemas.microsoft.com/office/drawing/2014/main" id="{EF75CDE9-A22F-465C-A710-8F65C409D948}"/>
              </a:ext>
            </a:extLst>
          </p:cNvPr>
          <p:cNvPicPr>
            <a:picLocks noChangeAspect="1"/>
          </p:cNvPicPr>
          <p:nvPr/>
        </p:nvPicPr>
        <p:blipFill>
          <a:blip r:embed="rId2"/>
          <a:stretch>
            <a:fillRect/>
          </a:stretch>
        </p:blipFill>
        <p:spPr>
          <a:xfrm>
            <a:off x="1924050" y="1176337"/>
            <a:ext cx="8343900" cy="5572125"/>
          </a:xfrm>
          <a:prstGeom prst="rect">
            <a:avLst/>
          </a:prstGeom>
        </p:spPr>
      </p:pic>
    </p:spTree>
    <p:extLst>
      <p:ext uri="{BB962C8B-B14F-4D97-AF65-F5344CB8AC3E}">
        <p14:creationId xmlns:p14="http://schemas.microsoft.com/office/powerpoint/2010/main" val="220374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739</TotalTime>
  <Words>3542</Words>
  <Application>Microsoft Office PowerPoint</Application>
  <PresentationFormat>Widescreen</PresentationFormat>
  <Paragraphs>238</Paragraphs>
  <Slides>22</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Bahnschrift</vt:lpstr>
      <vt:lpstr>Calibri</vt:lpstr>
      <vt:lpstr>Calibri Light</vt:lpstr>
      <vt:lpstr>D-DIN</vt:lpstr>
      <vt:lpstr>Wingdings</vt:lpstr>
      <vt:lpstr>Office Theme</vt:lpstr>
      <vt:lpstr>PowerPoint Presentation</vt:lpstr>
      <vt:lpstr>Authors</vt:lpstr>
      <vt:lpstr>Main Findings</vt:lpstr>
      <vt:lpstr>PowerPoint Presentation</vt:lpstr>
      <vt:lpstr>PowerPoint Presentation</vt:lpstr>
      <vt:lpstr>PowerPoint Presentation</vt:lpstr>
      <vt:lpstr>A Region Still In Crisis:   Regressive Food-Price Inflation  Feb 2020-March 2021</vt:lpstr>
      <vt:lpstr>PowerPoint Presentation</vt:lpstr>
      <vt:lpstr>This Report</vt:lpstr>
      <vt:lpstr>Walking the Debt Tightrope: Tension between Short-term Needs and Long-term Costs of Public Debt</vt:lpstr>
      <vt:lpstr>Walking The Debt Tightrope  Short-term Needs of Public Debt: Lessons From Disaster Relief</vt:lpstr>
      <vt:lpstr>Walking the Debt Tightrope: Long-term Risks of Public Debt Association between High Public Debt and Low Growth during 2000-2019</vt:lpstr>
      <vt:lpstr>Priorities during the Pandemic: Public Spending for Disaster Relief and Public Health</vt:lpstr>
      <vt:lpstr>Priorities as the Pandemic Subsides</vt:lpstr>
      <vt:lpstr>Mitigating the Costs of Public Debt after the Pandemic</vt:lpstr>
      <vt:lpstr>Good Governance Can Help:  Evidence from Episodes of Debt Distress</vt:lpstr>
      <vt:lpstr>Charting a Path to a Lasting Recovery:  Sunlight Can Help! </vt:lpstr>
      <vt:lpstr>THANK YOU!</vt:lpstr>
      <vt:lpstr>Appendix Table B1: World Bank’s Growth, Current Account and Fiscal Account Forecasts</vt:lpstr>
      <vt:lpstr>Appendix Table B2 Panel B (Between April 2021 and October 2020):</vt:lpstr>
      <vt:lpstr>Appendix Table B3: Overview of MENA’s debt</vt:lpstr>
      <vt:lpstr>Appendix Table B4: Characteristics of MENA’s Economies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Haytham Abushaban</dc:creator>
  <cp:lastModifiedBy>Heran Getachew Negatu</cp:lastModifiedBy>
  <cp:revision>4</cp:revision>
  <dcterms:created xsi:type="dcterms:W3CDTF">2020-09-11T01:06:37Z</dcterms:created>
  <dcterms:modified xsi:type="dcterms:W3CDTF">2021-05-30T01:10:53Z</dcterms:modified>
</cp:coreProperties>
</file>