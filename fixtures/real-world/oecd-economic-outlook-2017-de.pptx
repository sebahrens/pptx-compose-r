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7"/>
    <p:sldMasterId id="2147483665" r:id="rId8"/>
  </p:sldMasterIdLst>
  <p:notesMasterIdLst>
    <p:notesMasterId r:id="rId32"/>
  </p:notesMasterIdLst>
  <p:handoutMasterIdLst>
    <p:handoutMasterId r:id="rId33"/>
  </p:handoutMasterIdLst>
  <p:sldIdLst>
    <p:sldId id="458" r:id="rId9"/>
    <p:sldId id="506" r:id="rId10"/>
    <p:sldId id="446" r:id="rId11"/>
    <p:sldId id="507" r:id="rId12"/>
    <p:sldId id="373" r:id="rId13"/>
    <p:sldId id="388" r:id="rId14"/>
    <p:sldId id="472" r:id="rId15"/>
    <p:sldId id="498" r:id="rId16"/>
    <p:sldId id="466" r:id="rId17"/>
    <p:sldId id="483" r:id="rId18"/>
    <p:sldId id="502" r:id="rId19"/>
    <p:sldId id="484" r:id="rId20"/>
    <p:sldId id="487" r:id="rId21"/>
    <p:sldId id="509" r:id="rId22"/>
    <p:sldId id="488" r:id="rId23"/>
    <p:sldId id="491" r:id="rId24"/>
    <p:sldId id="492" r:id="rId25"/>
    <p:sldId id="501" r:id="rId26"/>
    <p:sldId id="508" r:id="rId27"/>
    <p:sldId id="500" r:id="rId28"/>
    <p:sldId id="505" r:id="rId29"/>
    <p:sldId id="496" r:id="rId30"/>
    <p:sldId id="495" r:id="rId31"/>
  </p:sldIdLst>
  <p:sldSz cx="9144000" cy="6858000" type="screen4x3"/>
  <p:notesSz cx="6794500" cy="9906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NARD Geoff" initials="BG" lastIdx="1" clrIdx="0"/>
  <p:cmAuthor id="1" name="DAUDE Christian" initials="DC" lastIdx="3" clrIdx="1"/>
  <p:cmAuthor id="2" name="MANN Catherine" initials="MC" lastIdx="107" clrIdx="2"/>
  <p:cmAuthor id="3" name="WITHERIDGE William" initials="WW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11" autoAdjust="0"/>
    <p:restoredTop sz="83195" autoAdjust="0"/>
  </p:normalViewPr>
  <p:slideViewPr>
    <p:cSldViewPr>
      <p:cViewPr varScale="1">
        <p:scale>
          <a:sx n="62" d="100"/>
          <a:sy n="62" d="100"/>
        </p:scale>
        <p:origin x="-522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2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openxmlformats.org/officeDocument/2006/relationships/commentAuthors" Target="commentAuthors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.xml"/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15427148522105391"/>
          <c:y val="0.17538240984763967"/>
          <c:w val="0.61754314733538818"/>
          <c:h val="0.76463774677036001"/>
        </c:manualLayout>
      </c:layout>
      <c:doughnutChart>
        <c:varyColors val="1"/>
        <c:ser>
          <c:idx val="0"/>
          <c:order val="0"/>
          <c:tx>
            <c:strRef>
              <c:f>'Fig_Box2.1 (2)'!$B$60</c:f>
              <c:strCache>
                <c:ptCount val="1"/>
                <c:pt idx="0">
                  <c:v>1995</c:v>
                </c:pt>
              </c:strCache>
            </c:strRef>
          </c:tx>
          <c:spPr>
            <a:ln w="15875">
              <a:solidFill>
                <a:sysClr val="window" lastClr="FFFFFF"/>
              </a:solidFill>
            </a:ln>
          </c:spPr>
          <c:dPt>
            <c:idx val="0"/>
            <c:bubble3D val="0"/>
            <c:spPr>
              <a:solidFill>
                <a:srgbClr val="0070C0"/>
              </a:solidFill>
              <a:ln w="15875">
                <a:solidFill>
                  <a:sysClr val="window" lastClr="FFFFFF"/>
                </a:solidFill>
              </a:ln>
            </c:spPr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5875">
                <a:solidFill>
                  <a:sysClr val="window" lastClr="FFFFFF"/>
                </a:solidFill>
              </a:ln>
            </c:spPr>
          </c:dPt>
          <c:dPt>
            <c:idx val="2"/>
            <c:bubble3D val="0"/>
            <c:spPr>
              <a:solidFill>
                <a:srgbClr val="FF0000"/>
              </a:solidFill>
              <a:ln w="15875">
                <a:solidFill>
                  <a:sysClr val="window" lastClr="FFFFFF"/>
                </a:solidFill>
              </a:ln>
            </c:spPr>
          </c:dPt>
          <c:dPt>
            <c:idx val="3"/>
            <c:bubble3D val="0"/>
            <c:spPr>
              <a:solidFill>
                <a:srgbClr val="92D050"/>
              </a:solidFill>
              <a:ln w="15875">
                <a:solidFill>
                  <a:sysClr val="window" lastClr="FFFFFF"/>
                </a:solidFill>
              </a:ln>
            </c:spPr>
          </c:dPt>
          <c:cat>
            <c:strRef>
              <c:f>'Fig_Box2.1 (2)'!$C$59:$F$59</c:f>
              <c:strCache>
                <c:ptCount val="4"/>
                <c:pt idx="0">
                  <c:v>OECD</c:v>
                </c:pt>
                <c:pt idx="1">
                  <c:v>Rest of the World</c:v>
                </c:pt>
                <c:pt idx="2">
                  <c:v>China</c:v>
                </c:pt>
                <c:pt idx="3">
                  <c:v>Dynamic Asian Economies</c:v>
                </c:pt>
              </c:strCache>
            </c:strRef>
          </c:cat>
          <c:val>
            <c:numRef>
              <c:f>'Fig_Box2.1 (2)'!$C$60:$F$60</c:f>
              <c:numCache>
                <c:formatCode>0.0</c:formatCode>
                <c:ptCount val="4"/>
                <c:pt idx="0">
                  <c:v>80.230707297010113</c:v>
                </c:pt>
                <c:pt idx="1">
                  <c:v>7.5734855128691745</c:v>
                </c:pt>
                <c:pt idx="2">
                  <c:v>3.1770058938197119</c:v>
                </c:pt>
                <c:pt idx="3">
                  <c:v>9.018801296300996</c:v>
                </c:pt>
              </c:numCache>
            </c:numRef>
          </c:val>
        </c:ser>
        <c:ser>
          <c:idx val="1"/>
          <c:order val="1"/>
          <c:tx>
            <c:strRef>
              <c:f>'Fig_Box2.1 (2)'!$B$61</c:f>
              <c:strCache>
                <c:ptCount val="1"/>
                <c:pt idx="0">
                  <c:v>2015</c:v>
                </c:pt>
              </c:strCache>
            </c:strRef>
          </c:tx>
          <c:spPr>
            <a:ln w="15875">
              <a:solidFill>
                <a:sysClr val="window" lastClr="FFFFFF"/>
              </a:solidFill>
            </a:ln>
          </c:spPr>
          <c:dPt>
            <c:idx val="0"/>
            <c:bubble3D val="0"/>
            <c:spPr>
              <a:solidFill>
                <a:srgbClr val="0070C0"/>
              </a:solidFill>
              <a:ln w="15875">
                <a:solidFill>
                  <a:sysClr val="window" lastClr="FFFFFF"/>
                </a:solidFill>
              </a:ln>
            </c:spPr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5875">
                <a:solidFill>
                  <a:sysClr val="window" lastClr="FFFFFF"/>
                </a:solidFill>
              </a:ln>
            </c:spPr>
          </c:dPt>
          <c:dPt>
            <c:idx val="2"/>
            <c:bubble3D val="0"/>
            <c:spPr>
              <a:solidFill>
                <a:srgbClr val="FF0000"/>
              </a:solidFill>
              <a:ln w="15875">
                <a:solidFill>
                  <a:sysClr val="window" lastClr="FFFFFF"/>
                </a:solidFill>
              </a:ln>
            </c:spPr>
          </c:dPt>
          <c:dPt>
            <c:idx val="3"/>
            <c:bubble3D val="0"/>
            <c:spPr>
              <a:solidFill>
                <a:srgbClr val="92D050"/>
              </a:solidFill>
              <a:ln w="15875">
                <a:solidFill>
                  <a:sysClr val="window" lastClr="FFFFFF"/>
                </a:solidFill>
              </a:ln>
            </c:spPr>
          </c:dPt>
          <c:cat>
            <c:strRef>
              <c:f>'Fig_Box2.1 (2)'!$C$59:$F$59</c:f>
              <c:strCache>
                <c:ptCount val="4"/>
                <c:pt idx="0">
                  <c:v>OECD</c:v>
                </c:pt>
                <c:pt idx="1">
                  <c:v>Rest of the World</c:v>
                </c:pt>
                <c:pt idx="2">
                  <c:v>China</c:v>
                </c:pt>
                <c:pt idx="3">
                  <c:v>Dynamic Asian Economies</c:v>
                </c:pt>
              </c:strCache>
            </c:strRef>
          </c:cat>
          <c:val>
            <c:numRef>
              <c:f>'Fig_Box2.1 (2)'!$C$61:$F$61</c:f>
              <c:numCache>
                <c:formatCode>0.0</c:formatCode>
                <c:ptCount val="4"/>
                <c:pt idx="0">
                  <c:v>58.966807674477685</c:v>
                </c:pt>
                <c:pt idx="1">
                  <c:v>15.817864048220123</c:v>
                </c:pt>
                <c:pt idx="2">
                  <c:v>14.204026643070442</c:v>
                </c:pt>
                <c:pt idx="3">
                  <c:v>11.011301634231749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</c:plotArea>
    <c:legend>
      <c:legendPos val="r"/>
      <c:layout>
        <c:manualLayout>
          <c:xMode val="edge"/>
          <c:yMode val="edge"/>
          <c:x val="0.16163083765236153"/>
          <c:y val="2.5926369060130319E-2"/>
          <c:w val="0.65144258559475843"/>
          <c:h val="0.1274077187990105"/>
        </c:manualLayout>
      </c:layout>
      <c:overlay val="0"/>
      <c:spPr>
        <a:ln w="6350"/>
      </c:spPr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200">
          <a:latin typeface="Arial Narrow" panose="020B0606020202030204" pitchFamily="34" charset="0"/>
        </a:defRPr>
      </a:pPr>
      <a:endParaRPr lang="en-US"/>
    </a:p>
  </c:txPr>
  <c:externalData r:id="rId2">
    <c:autoUpdate val="0"/>
  </c:externalData>
  <c:userShapes r:id="rId3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2AE3AD-150C-4556-B9F3-C5AFE07518A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28AA58F6-D958-4B10-9359-D08D4D103B97}">
      <dgm:prSet/>
      <dgm:spPr/>
      <dgm:t>
        <a:bodyPr/>
        <a:lstStyle/>
        <a:p>
          <a:r>
            <a:rPr lang="en-GB" dirty="0" smtClean="0">
              <a:latin typeface="Calibri" panose="020F0502020204030204" pitchFamily="34" charset="0"/>
            </a:rPr>
            <a:t>Global growth expected to pick-up modestly </a:t>
          </a:r>
          <a:r>
            <a:rPr lang="en-GB" smtClean="0">
              <a:latin typeface="Calibri" panose="020F0502020204030204" pitchFamily="34" charset="0"/>
            </a:rPr>
            <a:t>with upside </a:t>
          </a:r>
          <a:r>
            <a:rPr lang="en-GB" dirty="0" smtClean="0">
              <a:latin typeface="Calibri" panose="020F0502020204030204" pitchFamily="34" charset="0"/>
            </a:rPr>
            <a:t>risks</a:t>
          </a:r>
        </a:p>
      </dgm:t>
    </dgm:pt>
    <dgm:pt modelId="{60C608F0-860E-4FC1-AB6C-6A893EFA9FC9}" type="parTrans" cxnId="{7FC4F6B6-7333-499E-8799-51F96AA60B84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3083AE86-D778-4F5F-B1B6-4FB7AC7CBD51}" type="sibTrans" cxnId="{7FC4F6B6-7333-499E-8799-51F96AA60B84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0BD4BFF3-A846-4400-9B4D-1ECC79EBA5F8}">
      <dgm:prSet/>
      <dgm:spPr/>
      <dgm:t>
        <a:bodyPr/>
        <a:lstStyle/>
        <a:p>
          <a:r>
            <a:rPr lang="en-GB" dirty="0" smtClean="0">
              <a:latin typeface="Calibri" panose="020F0502020204030204" pitchFamily="34" charset="0"/>
            </a:rPr>
            <a:t>More needs to be done to share the gains from structural trends and trade</a:t>
          </a:r>
        </a:p>
      </dgm:t>
    </dgm:pt>
    <dgm:pt modelId="{225C00EA-9FEF-41B6-9C4F-92549965D946}" type="parTrans" cxnId="{6D09A9A1-FFEA-4EA9-A2E8-55285F8C0196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203F14AC-C7A5-4E5E-9CBB-DE0F7A356B5A}" type="sibTrans" cxnId="{6D09A9A1-FFEA-4EA9-A2E8-55285F8C0196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806919CF-651B-46A9-9F55-6A28278294E6}">
      <dgm:prSet/>
      <dgm:spPr/>
      <dgm:t>
        <a:bodyPr/>
        <a:lstStyle/>
        <a:p>
          <a:r>
            <a:rPr lang="en-GB" dirty="0" smtClean="0">
              <a:latin typeface="Calibri" panose="020F0502020204030204" pitchFamily="34" charset="0"/>
            </a:rPr>
            <a:t>An integrated policy approach is needed to make globalisation work for all</a:t>
          </a:r>
        </a:p>
      </dgm:t>
    </dgm:pt>
    <dgm:pt modelId="{C176557D-E82E-4F64-8195-4FBA10DCA65F}" type="parTrans" cxnId="{3315629A-CE00-4EA6-A505-92EEC82995D3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504D45A1-33A0-469C-9F96-5CCFAF0F31C8}" type="sibTrans" cxnId="{3315629A-CE00-4EA6-A505-92EEC82995D3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31CEF85D-C803-49E2-87B0-F5EDAD345FC9}">
      <dgm:prSet/>
      <dgm:spPr/>
      <dgm:t>
        <a:bodyPr/>
        <a:lstStyle/>
        <a:p>
          <a:r>
            <a:rPr lang="en-GB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Changes to technology, consumer preferences and trade are occurring simultaneously</a:t>
          </a:r>
        </a:p>
      </dgm:t>
    </dgm:pt>
    <dgm:pt modelId="{F5240D1C-9F1F-45CB-A124-96F539746542}" type="parTrans" cxnId="{D679395B-FE98-42B9-BBBC-D1097520053F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240024B0-F397-4B79-9323-A7BF70B621A9}" type="sibTrans" cxnId="{D679395B-FE98-42B9-BBBC-D1097520053F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2723B6F0-42E6-4D85-ABC3-0B993B034402}">
      <dgm:prSet/>
      <dgm:spPr/>
      <dgm:t>
        <a:bodyPr/>
        <a:lstStyle/>
        <a:p>
          <a:pPr eaLnBrk="1" latinLnBrk="0"/>
          <a:r>
            <a:rPr lang="en-GB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A more level playing field for the international system</a:t>
          </a:r>
        </a:p>
      </dgm:t>
    </dgm:pt>
    <dgm:pt modelId="{289978A5-92C7-40F5-BD7A-00AECC89F112}" type="parTrans" cxnId="{53C87B82-B0AB-49B4-8189-CF168536BEE3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51C7EF5C-A804-4B27-AC82-9BD6EE906EB9}" type="sibTrans" cxnId="{53C87B82-B0AB-49B4-8189-CF168536BEE3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5547A09F-9281-4926-AFA4-01F6C5E99E46}">
      <dgm:prSet/>
      <dgm:spPr/>
      <dgm:t>
        <a:bodyPr/>
        <a:lstStyle/>
        <a:p>
          <a:r>
            <a:rPr lang="en-GB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Confidence is increasing and investment and trade are picking up from low levels</a:t>
          </a:r>
        </a:p>
      </dgm:t>
    </dgm:pt>
    <dgm:pt modelId="{F3ACEA60-3461-4AC3-BB5D-893E4B822BE9}" type="parTrans" cxnId="{C2BEBCDC-03B2-4D84-A49C-A63F131785DD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F76B773A-F1BB-45AE-853C-30C972F6D272}" type="sibTrans" cxnId="{C2BEBCDC-03B2-4D84-A49C-A63F131785DD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ABFAF83A-6C73-47F6-896E-A9BD27B48A39}">
      <dgm:prSet/>
      <dgm:spPr/>
      <dgm:t>
        <a:bodyPr/>
        <a:lstStyle/>
        <a:p>
          <a:r>
            <a:rPr lang="en-GB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Signs of rising demand for high-tech goods and investment to upgrade capital</a:t>
          </a:r>
        </a:p>
      </dgm:t>
    </dgm:pt>
    <dgm:pt modelId="{A75B0344-DEA6-4F23-B9A2-5187C1B55793}" type="parTrans" cxnId="{FEC8D880-A663-402B-A787-3C914236B237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94733AA1-8077-4264-929A-A4870403E5DA}" type="sibTrans" cxnId="{FEC8D880-A663-402B-A787-3C914236B237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596912E9-CAED-4E0C-A5E9-871A9237F95F}">
      <dgm:prSet/>
      <dgm:spPr/>
      <dgm:t>
        <a:bodyPr/>
        <a:lstStyle/>
        <a:p>
          <a:pPr eaLnBrk="1" latinLnBrk="0"/>
          <a:r>
            <a:rPr lang="en-GB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Domestic reforms to boost competition, job creation, skills and innovation</a:t>
          </a:r>
        </a:p>
      </dgm:t>
    </dgm:pt>
    <dgm:pt modelId="{E08425F1-88FC-4C62-8AFB-FB401A12C4F8}" type="parTrans" cxnId="{2B09D2B6-5D01-444A-A4FA-190A0096ED59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44FC58D6-B872-4528-BD0F-539ABBFB23E9}" type="sibTrans" cxnId="{2B09D2B6-5D01-444A-A4FA-190A0096ED59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41E053C8-D301-4D12-AD77-7EE97ECC131D}">
      <dgm:prSet/>
      <dgm:spPr/>
      <dgm:t>
        <a:bodyPr/>
        <a:lstStyle/>
        <a:p>
          <a:r>
            <a:rPr lang="en-GB" dirty="0" smtClean="0">
              <a:latin typeface="Calibri" panose="020F0502020204030204" pitchFamily="34" charset="0"/>
            </a:rPr>
            <a:t>Productivity and wage growth remain subdued; financial stability risks persist</a:t>
          </a:r>
        </a:p>
      </dgm:t>
    </dgm:pt>
    <dgm:pt modelId="{E94A589A-0C85-450C-AE1A-FBF4CE0F2A81}" type="parTrans" cxnId="{B0B2F67A-EBA5-48F4-A6DC-6B545647974D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9D04F1D8-B208-4490-A62E-6562FDAC00FC}" type="sibTrans" cxnId="{B0B2F67A-EBA5-48F4-A6DC-6B545647974D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553FD138-D451-4870-97BF-70183F97EA30}">
      <dgm:prSet/>
      <dgm:spPr/>
      <dgm:t>
        <a:bodyPr/>
        <a:lstStyle/>
        <a:p>
          <a:r>
            <a:rPr lang="en-GB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Job losses from shifts in activity are concentrated in manufacturing and specific regions</a:t>
          </a:r>
        </a:p>
      </dgm:t>
    </dgm:pt>
    <dgm:pt modelId="{43E28135-AFF9-4B2C-B41B-8023F9E19884}" type="parTrans" cxnId="{33F34D4D-844B-4309-91F1-2D71039CC08C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077F97B1-32C2-453B-AA07-7A8F7DC75B28}" type="sibTrans" cxnId="{33F34D4D-844B-4309-91F1-2D71039CC08C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3BDA06C9-41F1-4324-B47B-FD9322F22076}">
      <dgm:prSet/>
      <dgm:spPr/>
      <dgm:t>
        <a:bodyPr/>
        <a:lstStyle/>
        <a:p>
          <a:r>
            <a:rPr lang="en-US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Growth is broad based; recovery in commodity producers helps the modest global upturn</a:t>
          </a:r>
          <a:endParaRPr lang="en-GB" dirty="0" smtClean="0">
            <a:solidFill>
              <a:schemeClr val="bg2">
                <a:lumMod val="10000"/>
              </a:schemeClr>
            </a:solidFill>
            <a:latin typeface="Calibri" panose="020F0502020204030204" pitchFamily="34" charset="0"/>
          </a:endParaRPr>
        </a:p>
      </dgm:t>
    </dgm:pt>
    <dgm:pt modelId="{68A95A56-5757-4B67-8390-A31F0B0037F9}" type="parTrans" cxnId="{43479365-8FA3-41F5-B10E-1E225A4D5723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9FC0B700-BAC5-444B-A109-D6595B3DE849}" type="sibTrans" cxnId="{43479365-8FA3-41F5-B10E-1E225A4D5723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94526619-ADE9-4975-A209-1206B2423C38}">
      <dgm:prSet/>
      <dgm:spPr/>
      <dgm:t>
        <a:bodyPr/>
        <a:lstStyle/>
        <a:p>
          <a:r>
            <a:rPr lang="en-GB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Headline employment indicators are improving but labour markets have not recovered</a:t>
          </a:r>
        </a:p>
      </dgm:t>
    </dgm:pt>
    <dgm:pt modelId="{56BF7F1D-70AF-401A-A4BE-6C616B75B134}" type="parTrans" cxnId="{705B9F36-B466-4E78-9711-00BA06938028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EFF9F49E-5A2F-409F-8A4C-43657ADA0126}" type="sibTrans" cxnId="{705B9F36-B466-4E78-9711-00BA06938028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1E9D3748-E159-4EC9-8912-7AFB54D896E8}">
      <dgm:prSet/>
      <dgm:spPr/>
      <dgm:t>
        <a:bodyPr/>
        <a:lstStyle/>
        <a:p>
          <a:r>
            <a:rPr lang="en-US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Financial risks from high and rising credit growth, house price increases, interest rate gaps</a:t>
          </a:r>
          <a:endParaRPr lang="en-GB" dirty="0" smtClean="0">
            <a:solidFill>
              <a:schemeClr val="bg2">
                <a:lumMod val="10000"/>
              </a:schemeClr>
            </a:solidFill>
            <a:latin typeface="Calibri" panose="020F0502020204030204" pitchFamily="34" charset="0"/>
          </a:endParaRPr>
        </a:p>
      </dgm:t>
    </dgm:pt>
    <dgm:pt modelId="{20B72C64-47B4-49ED-84C2-031F7AD8C095}" type="parTrans" cxnId="{67B238D7-40B4-47DC-A939-F18AE00B00B1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3B8DAD5D-0ECD-4585-9ADC-D9FCE88A6641}" type="sibTrans" cxnId="{67B238D7-40B4-47DC-A939-F18AE00B00B1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DCA8D2F6-0512-4BE3-8D00-0CD39364103D}">
      <dgm:prSet/>
      <dgm:spPr/>
      <dgm:t>
        <a:bodyPr/>
        <a:lstStyle/>
        <a:p>
          <a:pPr eaLnBrk="1" latinLnBrk="0"/>
          <a:r>
            <a:rPr lang="en-GB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Targeted policies to help people who are left behind seize new opportunities</a:t>
          </a:r>
        </a:p>
      </dgm:t>
    </dgm:pt>
    <dgm:pt modelId="{E552743C-E71B-4861-972C-080EFB24BCDA}" type="parTrans" cxnId="{D21F9AFA-1F40-4590-873F-0B7900DE8CA3}">
      <dgm:prSet/>
      <dgm:spPr/>
      <dgm:t>
        <a:bodyPr/>
        <a:lstStyle/>
        <a:p>
          <a:endParaRPr lang="en-GB"/>
        </a:p>
      </dgm:t>
    </dgm:pt>
    <dgm:pt modelId="{20A6B2AA-6C1B-4381-A526-3AD302301D65}" type="sibTrans" cxnId="{D21F9AFA-1F40-4590-873F-0B7900DE8CA3}">
      <dgm:prSet/>
      <dgm:spPr/>
      <dgm:t>
        <a:bodyPr/>
        <a:lstStyle/>
        <a:p>
          <a:endParaRPr lang="en-GB"/>
        </a:p>
      </dgm:t>
    </dgm:pt>
    <dgm:pt modelId="{2E9BD066-5772-45B3-AF70-8A7A03272818}" type="pres">
      <dgm:prSet presAssocID="{312AE3AD-150C-4556-B9F3-C5AFE07518A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B71E4610-9C7F-4FC1-B45C-3246453F732B}" type="pres">
      <dgm:prSet presAssocID="{28AA58F6-D958-4B10-9359-D08D4D103B97}" presName="parentText" presStyleLbl="node1" presStyleIdx="0" presStyleCnt="4" custScaleY="11992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9778523-FD02-412B-8EED-12620C0515E9}" type="pres">
      <dgm:prSet presAssocID="{28AA58F6-D958-4B10-9359-D08D4D103B97}" presName="childText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6CD86FE-BCDD-4F86-8258-550D41ABF992}" type="pres">
      <dgm:prSet presAssocID="{41E053C8-D301-4D12-AD77-7EE97ECC131D}" presName="parentText" presStyleLbl="node1" presStyleIdx="1" presStyleCnt="4" custScaleY="112620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D106606-0D66-4779-A085-E8266C34AB2A}" type="pres">
      <dgm:prSet presAssocID="{41E053C8-D301-4D12-AD77-7EE97ECC131D}" presName="childText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CFD6359-D6AA-429D-ADFE-D05F20309091}" type="pres">
      <dgm:prSet presAssocID="{0BD4BFF3-A846-4400-9B4D-1ECC79EBA5F8}" presName="parentText" presStyleLbl="node1" presStyleIdx="2" presStyleCnt="4" custScaleY="121626" custLinFactNeighborY="3088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865CCEF-EA47-42BC-ABAD-CF3E5C00DE2D}" type="pres">
      <dgm:prSet presAssocID="{0BD4BFF3-A846-4400-9B4D-1ECC79EBA5F8}" presName="childText" presStyleLbl="revTx" presStyleIdx="2" presStyleCnt="4" custLinFactNeighborY="353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B45D7B7-0834-4D13-8778-0BFAB98C78C2}" type="pres">
      <dgm:prSet presAssocID="{806919CF-651B-46A9-9F55-6A28278294E6}" presName="parentText" presStyleLbl="node1" presStyleIdx="3" presStyleCnt="4" custScaleY="114973" custLinFactNeighborY="204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66AD614-18F8-4250-8704-A12C186A2560}" type="pres">
      <dgm:prSet presAssocID="{806919CF-651B-46A9-9F55-6A28278294E6}" presName="childText" presStyleLbl="revTx" presStyleIdx="3" presStyleCnt="4" custLinFactNeighborY="353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F590CECD-2BFA-4266-B254-A6B09807B58B}" type="presOf" srcId="{312AE3AD-150C-4556-B9F3-C5AFE07518AD}" destId="{2E9BD066-5772-45B3-AF70-8A7A03272818}" srcOrd="0" destOrd="0" presId="urn:microsoft.com/office/officeart/2005/8/layout/vList2"/>
    <dgm:cxn modelId="{603FDC0A-637D-4E78-B428-8D08C3E15A4C}" type="presOf" srcId="{28AA58F6-D958-4B10-9359-D08D4D103B97}" destId="{B71E4610-9C7F-4FC1-B45C-3246453F732B}" srcOrd="0" destOrd="0" presId="urn:microsoft.com/office/officeart/2005/8/layout/vList2"/>
    <dgm:cxn modelId="{E64A65F2-6B56-4204-A648-9FD888184D20}" type="presOf" srcId="{0BD4BFF3-A846-4400-9B4D-1ECC79EBA5F8}" destId="{9CFD6359-D6AA-429D-ADFE-D05F20309091}" srcOrd="0" destOrd="0" presId="urn:microsoft.com/office/officeart/2005/8/layout/vList2"/>
    <dgm:cxn modelId="{9462F653-2C88-47FC-B583-152A4B02B81A}" type="presOf" srcId="{553FD138-D451-4870-97BF-70183F97EA30}" destId="{E865CCEF-EA47-42BC-ABAD-CF3E5C00DE2D}" srcOrd="0" destOrd="1" presId="urn:microsoft.com/office/officeart/2005/8/layout/vList2"/>
    <dgm:cxn modelId="{22616761-6D3E-4F0D-BFB4-BA0190F21668}" type="presOf" srcId="{41E053C8-D301-4D12-AD77-7EE97ECC131D}" destId="{86CD86FE-BCDD-4F86-8258-550D41ABF992}" srcOrd="0" destOrd="0" presId="urn:microsoft.com/office/officeart/2005/8/layout/vList2"/>
    <dgm:cxn modelId="{56DCEC49-4C78-46A2-8DDF-3A9F8D6C4D56}" type="presOf" srcId="{94526619-ADE9-4975-A209-1206B2423C38}" destId="{4D106606-0D66-4779-A085-E8266C34AB2A}" srcOrd="0" destOrd="0" presId="urn:microsoft.com/office/officeart/2005/8/layout/vList2"/>
    <dgm:cxn modelId="{B0B2F67A-EBA5-48F4-A6DC-6B545647974D}" srcId="{312AE3AD-150C-4556-B9F3-C5AFE07518AD}" destId="{41E053C8-D301-4D12-AD77-7EE97ECC131D}" srcOrd="1" destOrd="0" parTransId="{E94A589A-0C85-450C-AE1A-FBF4CE0F2A81}" sibTransId="{9D04F1D8-B208-4490-A62E-6562FDAC00FC}"/>
    <dgm:cxn modelId="{D7E958C7-D684-4AB9-9C24-CB1C5BCFFBFA}" type="presOf" srcId="{3BDA06C9-41F1-4324-B47B-FD9322F22076}" destId="{59778523-FD02-412B-8EED-12620C0515E9}" srcOrd="0" destOrd="1" presId="urn:microsoft.com/office/officeart/2005/8/layout/vList2"/>
    <dgm:cxn modelId="{FEC8D880-A663-402B-A787-3C914236B237}" srcId="{28AA58F6-D958-4B10-9359-D08D4D103B97}" destId="{ABFAF83A-6C73-47F6-896E-A9BD27B48A39}" srcOrd="2" destOrd="0" parTransId="{A75B0344-DEA6-4F23-B9A2-5187C1B55793}" sibTransId="{94733AA1-8077-4264-929A-A4870403E5DA}"/>
    <dgm:cxn modelId="{E454A417-3B26-4064-AA44-E1A3E095A938}" type="presOf" srcId="{DCA8D2F6-0512-4BE3-8D00-0CD39364103D}" destId="{466AD614-18F8-4250-8704-A12C186A2560}" srcOrd="0" destOrd="2" presId="urn:microsoft.com/office/officeart/2005/8/layout/vList2"/>
    <dgm:cxn modelId="{B27A379C-FD63-4C1A-89DC-8BCCFEE7E8C4}" type="presOf" srcId="{596912E9-CAED-4E0C-A5E9-871A9237F95F}" destId="{466AD614-18F8-4250-8704-A12C186A2560}" srcOrd="0" destOrd="1" presId="urn:microsoft.com/office/officeart/2005/8/layout/vList2"/>
    <dgm:cxn modelId="{2B09D2B6-5D01-444A-A4FA-190A0096ED59}" srcId="{806919CF-651B-46A9-9F55-6A28278294E6}" destId="{596912E9-CAED-4E0C-A5E9-871A9237F95F}" srcOrd="1" destOrd="0" parTransId="{E08425F1-88FC-4C62-8AFB-FB401A12C4F8}" sibTransId="{44FC58D6-B872-4528-BD0F-539ABBFB23E9}"/>
    <dgm:cxn modelId="{33F34D4D-844B-4309-91F1-2D71039CC08C}" srcId="{0BD4BFF3-A846-4400-9B4D-1ECC79EBA5F8}" destId="{553FD138-D451-4870-97BF-70183F97EA30}" srcOrd="1" destOrd="0" parTransId="{43E28135-AFF9-4B2C-B41B-8023F9E19884}" sibTransId="{077F97B1-32C2-453B-AA07-7A8F7DC75B28}"/>
    <dgm:cxn modelId="{5302161C-846A-4FDA-9CDD-C3F3F1210388}" type="presOf" srcId="{806919CF-651B-46A9-9F55-6A28278294E6}" destId="{2B45D7B7-0834-4D13-8778-0BFAB98C78C2}" srcOrd="0" destOrd="0" presId="urn:microsoft.com/office/officeart/2005/8/layout/vList2"/>
    <dgm:cxn modelId="{7FC4F6B6-7333-499E-8799-51F96AA60B84}" srcId="{312AE3AD-150C-4556-B9F3-C5AFE07518AD}" destId="{28AA58F6-D958-4B10-9359-D08D4D103B97}" srcOrd="0" destOrd="0" parTransId="{60C608F0-860E-4FC1-AB6C-6A893EFA9FC9}" sibTransId="{3083AE86-D778-4F5F-B1B6-4FB7AC7CBD51}"/>
    <dgm:cxn modelId="{FB3611A6-B48D-4A54-9E4F-F3AA4FA9ABAB}" type="presOf" srcId="{2723B6F0-42E6-4D85-ABC3-0B993B034402}" destId="{466AD614-18F8-4250-8704-A12C186A2560}" srcOrd="0" destOrd="0" presId="urn:microsoft.com/office/officeart/2005/8/layout/vList2"/>
    <dgm:cxn modelId="{6D09A9A1-FFEA-4EA9-A2E8-55285F8C0196}" srcId="{312AE3AD-150C-4556-B9F3-C5AFE07518AD}" destId="{0BD4BFF3-A846-4400-9B4D-1ECC79EBA5F8}" srcOrd="2" destOrd="0" parTransId="{225C00EA-9FEF-41B6-9C4F-92549965D946}" sibTransId="{203F14AC-C7A5-4E5E-9CBB-DE0F7A356B5A}"/>
    <dgm:cxn modelId="{D21F9AFA-1F40-4590-873F-0B7900DE8CA3}" srcId="{806919CF-651B-46A9-9F55-6A28278294E6}" destId="{DCA8D2F6-0512-4BE3-8D00-0CD39364103D}" srcOrd="2" destOrd="0" parTransId="{E552743C-E71B-4861-972C-080EFB24BCDA}" sibTransId="{20A6B2AA-6C1B-4381-A526-3AD302301D65}"/>
    <dgm:cxn modelId="{53C87B82-B0AB-49B4-8189-CF168536BEE3}" srcId="{806919CF-651B-46A9-9F55-6A28278294E6}" destId="{2723B6F0-42E6-4D85-ABC3-0B993B034402}" srcOrd="0" destOrd="0" parTransId="{289978A5-92C7-40F5-BD7A-00AECC89F112}" sibTransId="{51C7EF5C-A804-4B27-AC82-9BD6EE906EB9}"/>
    <dgm:cxn modelId="{22EA297E-C433-43DE-A9F8-57D4D82CB461}" type="presOf" srcId="{1E9D3748-E159-4EC9-8912-7AFB54D896E8}" destId="{4D106606-0D66-4779-A085-E8266C34AB2A}" srcOrd="0" destOrd="1" presId="urn:microsoft.com/office/officeart/2005/8/layout/vList2"/>
    <dgm:cxn modelId="{705B9F36-B466-4E78-9711-00BA06938028}" srcId="{41E053C8-D301-4D12-AD77-7EE97ECC131D}" destId="{94526619-ADE9-4975-A209-1206B2423C38}" srcOrd="0" destOrd="0" parTransId="{56BF7F1D-70AF-401A-A4BE-6C616B75B134}" sibTransId="{EFF9F49E-5A2F-409F-8A4C-43657ADA0126}"/>
    <dgm:cxn modelId="{3315629A-CE00-4EA6-A505-92EEC82995D3}" srcId="{312AE3AD-150C-4556-B9F3-C5AFE07518AD}" destId="{806919CF-651B-46A9-9F55-6A28278294E6}" srcOrd="3" destOrd="0" parTransId="{C176557D-E82E-4F64-8195-4FBA10DCA65F}" sibTransId="{504D45A1-33A0-469C-9F96-5CCFAF0F31C8}"/>
    <dgm:cxn modelId="{DB292FF2-CC4D-4050-9997-4883B8C5E792}" type="presOf" srcId="{ABFAF83A-6C73-47F6-896E-A9BD27B48A39}" destId="{59778523-FD02-412B-8EED-12620C0515E9}" srcOrd="0" destOrd="2" presId="urn:microsoft.com/office/officeart/2005/8/layout/vList2"/>
    <dgm:cxn modelId="{12AB3E7D-BD2B-4B16-B4C5-1D6AD6FD6A99}" type="presOf" srcId="{5547A09F-9281-4926-AFA4-01F6C5E99E46}" destId="{59778523-FD02-412B-8EED-12620C0515E9}" srcOrd="0" destOrd="0" presId="urn:microsoft.com/office/officeart/2005/8/layout/vList2"/>
    <dgm:cxn modelId="{43479365-8FA3-41F5-B10E-1E225A4D5723}" srcId="{28AA58F6-D958-4B10-9359-D08D4D103B97}" destId="{3BDA06C9-41F1-4324-B47B-FD9322F22076}" srcOrd="1" destOrd="0" parTransId="{68A95A56-5757-4B67-8390-A31F0B0037F9}" sibTransId="{9FC0B700-BAC5-444B-A109-D6595B3DE849}"/>
    <dgm:cxn modelId="{67B238D7-40B4-47DC-A939-F18AE00B00B1}" srcId="{41E053C8-D301-4D12-AD77-7EE97ECC131D}" destId="{1E9D3748-E159-4EC9-8912-7AFB54D896E8}" srcOrd="1" destOrd="0" parTransId="{20B72C64-47B4-49ED-84C2-031F7AD8C095}" sibTransId="{3B8DAD5D-0ECD-4585-9ADC-D9FCE88A6641}"/>
    <dgm:cxn modelId="{D679395B-FE98-42B9-BBBC-D1097520053F}" srcId="{0BD4BFF3-A846-4400-9B4D-1ECC79EBA5F8}" destId="{31CEF85D-C803-49E2-87B0-F5EDAD345FC9}" srcOrd="0" destOrd="0" parTransId="{F5240D1C-9F1F-45CB-A124-96F539746542}" sibTransId="{240024B0-F397-4B79-9323-A7BF70B621A9}"/>
    <dgm:cxn modelId="{C2BEBCDC-03B2-4D84-A49C-A63F131785DD}" srcId="{28AA58F6-D958-4B10-9359-D08D4D103B97}" destId="{5547A09F-9281-4926-AFA4-01F6C5E99E46}" srcOrd="0" destOrd="0" parTransId="{F3ACEA60-3461-4AC3-BB5D-893E4B822BE9}" sibTransId="{F76B773A-F1BB-45AE-853C-30C972F6D272}"/>
    <dgm:cxn modelId="{3BE347DC-11F6-4A9D-93A7-2379018EBE6B}" type="presOf" srcId="{31CEF85D-C803-49E2-87B0-F5EDAD345FC9}" destId="{E865CCEF-EA47-42BC-ABAD-CF3E5C00DE2D}" srcOrd="0" destOrd="0" presId="urn:microsoft.com/office/officeart/2005/8/layout/vList2"/>
    <dgm:cxn modelId="{FDD43C9A-C0FF-4A65-9C2D-DD5EBFDCF51C}" type="presParOf" srcId="{2E9BD066-5772-45B3-AF70-8A7A03272818}" destId="{B71E4610-9C7F-4FC1-B45C-3246453F732B}" srcOrd="0" destOrd="0" presId="urn:microsoft.com/office/officeart/2005/8/layout/vList2"/>
    <dgm:cxn modelId="{2FABFBCD-C1D7-4148-9241-B06601E9DFE8}" type="presParOf" srcId="{2E9BD066-5772-45B3-AF70-8A7A03272818}" destId="{59778523-FD02-412B-8EED-12620C0515E9}" srcOrd="1" destOrd="0" presId="urn:microsoft.com/office/officeart/2005/8/layout/vList2"/>
    <dgm:cxn modelId="{E372AA16-7338-42E3-BD01-DD58D02C24FA}" type="presParOf" srcId="{2E9BD066-5772-45B3-AF70-8A7A03272818}" destId="{86CD86FE-BCDD-4F86-8258-550D41ABF992}" srcOrd="2" destOrd="0" presId="urn:microsoft.com/office/officeart/2005/8/layout/vList2"/>
    <dgm:cxn modelId="{E518DEB3-03BF-477A-A095-349AA6454BB3}" type="presParOf" srcId="{2E9BD066-5772-45B3-AF70-8A7A03272818}" destId="{4D106606-0D66-4779-A085-E8266C34AB2A}" srcOrd="3" destOrd="0" presId="urn:microsoft.com/office/officeart/2005/8/layout/vList2"/>
    <dgm:cxn modelId="{A693E904-7D2E-4E5D-929D-BA4909CE4DE9}" type="presParOf" srcId="{2E9BD066-5772-45B3-AF70-8A7A03272818}" destId="{9CFD6359-D6AA-429D-ADFE-D05F20309091}" srcOrd="4" destOrd="0" presId="urn:microsoft.com/office/officeart/2005/8/layout/vList2"/>
    <dgm:cxn modelId="{8CEFDE8B-B995-44A2-BF6C-7A588C8CDCDC}" type="presParOf" srcId="{2E9BD066-5772-45B3-AF70-8A7A03272818}" destId="{E865CCEF-EA47-42BC-ABAD-CF3E5C00DE2D}" srcOrd="5" destOrd="0" presId="urn:microsoft.com/office/officeart/2005/8/layout/vList2"/>
    <dgm:cxn modelId="{5DB977C2-0720-479E-92EB-2C9B2BF3C0B3}" type="presParOf" srcId="{2E9BD066-5772-45B3-AF70-8A7A03272818}" destId="{2B45D7B7-0834-4D13-8778-0BFAB98C78C2}" srcOrd="6" destOrd="0" presId="urn:microsoft.com/office/officeart/2005/8/layout/vList2"/>
    <dgm:cxn modelId="{B49B4D58-995B-42D1-BCBE-C90913265EDD}" type="presParOf" srcId="{2E9BD066-5772-45B3-AF70-8A7A03272818}" destId="{466AD614-18F8-4250-8704-A12C186A2560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2AE3AD-150C-4556-B9F3-C5AFE07518A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28AA58F6-D958-4B10-9359-D08D4D103B97}">
      <dgm:prSet custT="1"/>
      <dgm:spPr/>
      <dgm:t>
        <a:bodyPr/>
        <a:lstStyle/>
        <a:p>
          <a:r>
            <a:rPr lang="en-GB" sz="2000" dirty="0" smtClean="0">
              <a:latin typeface="Calibri" panose="020F0502020204030204" pitchFamily="34" charset="0"/>
            </a:rPr>
            <a:t>Actions to improve the international environment:</a:t>
          </a:r>
        </a:p>
      </dgm:t>
    </dgm:pt>
    <dgm:pt modelId="{60C608F0-860E-4FC1-AB6C-6A893EFA9FC9}" type="parTrans" cxnId="{7FC4F6B6-7333-499E-8799-51F96AA60B84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3083AE86-D778-4F5F-B1B6-4FB7AC7CBD51}" type="sibTrans" cxnId="{7FC4F6B6-7333-499E-8799-51F96AA60B84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31FDEDA6-66D9-439F-8F48-7D1A3D83CB2C}">
      <dgm:prSet custT="1"/>
      <dgm:spPr/>
      <dgm:t>
        <a:bodyPr/>
        <a:lstStyle/>
        <a:p>
          <a:r>
            <a:rPr lang="en-GB" sz="18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Preserve institutions and standards, such as for labour and environmental protection</a:t>
          </a:r>
        </a:p>
      </dgm:t>
    </dgm:pt>
    <dgm:pt modelId="{09E8ADEA-8958-4BC9-B0A6-4BBA6912F297}" type="parTrans" cxnId="{9687FBD7-5570-4EE1-AD8C-0827D8FDFD8B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6D1C52CF-60AE-4EC8-BD3C-432DCD6C2CBF}" type="sibTrans" cxnId="{9687FBD7-5570-4EE1-AD8C-0827D8FDFD8B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5547A09F-9281-4926-AFA4-01F6C5E99E46}">
      <dgm:prSet custT="1"/>
      <dgm:spPr/>
      <dgm:t>
        <a:bodyPr/>
        <a:lstStyle/>
        <a:p>
          <a:r>
            <a:rPr lang="en-GB" sz="18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Pursue open markets for cross-border trade and investment</a:t>
          </a:r>
        </a:p>
      </dgm:t>
    </dgm:pt>
    <dgm:pt modelId="{F3ACEA60-3461-4AC3-BB5D-893E4B822BE9}" type="parTrans" cxnId="{C2BEBCDC-03B2-4D84-A49C-A63F131785DD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F76B773A-F1BB-45AE-853C-30C972F6D272}" type="sibTrans" cxnId="{C2BEBCDC-03B2-4D84-A49C-A63F131785DD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ABFAF83A-6C73-47F6-896E-A9BD27B48A39}">
      <dgm:prSet custT="1"/>
      <dgm:spPr/>
      <dgm:t>
        <a:bodyPr/>
        <a:lstStyle/>
        <a:p>
          <a:r>
            <a:rPr lang="en-GB" sz="18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Promote multilateral cooperation, e.g. on tax base erosion and profit shifting and competition policy</a:t>
          </a:r>
        </a:p>
      </dgm:t>
    </dgm:pt>
    <dgm:pt modelId="{A75B0344-DEA6-4F23-B9A2-5187C1B55793}" type="parTrans" cxnId="{FEC8D880-A663-402B-A787-3C914236B237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94733AA1-8077-4264-929A-A4870403E5DA}" type="sibTrans" cxnId="{FEC8D880-A663-402B-A787-3C914236B237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41E053C8-D301-4D12-AD77-7EE97ECC131D}">
      <dgm:prSet custT="1"/>
      <dgm:spPr/>
      <dgm:t>
        <a:bodyPr/>
        <a:lstStyle/>
        <a:p>
          <a:r>
            <a:rPr lang="en-GB" sz="18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Combat corruption, illicit trade and counterfeiting</a:t>
          </a:r>
        </a:p>
      </dgm:t>
    </dgm:pt>
    <dgm:pt modelId="{E94A589A-0C85-450C-AE1A-FBF4CE0F2A81}" type="parTrans" cxnId="{B0B2F67A-EBA5-48F4-A6DC-6B545647974D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9D04F1D8-B208-4490-A62E-6562FDAC00FC}" type="sibTrans" cxnId="{B0B2F67A-EBA5-48F4-A6DC-6B545647974D}">
      <dgm:prSet/>
      <dgm:spPr/>
      <dgm:t>
        <a:bodyPr/>
        <a:lstStyle/>
        <a:p>
          <a:endParaRPr lang="en-GB">
            <a:latin typeface="Calibri" panose="020F0502020204030204" pitchFamily="34" charset="0"/>
          </a:endParaRPr>
        </a:p>
      </dgm:t>
    </dgm:pt>
    <dgm:pt modelId="{D97F0E23-3469-49AA-8515-E38E0361369C}">
      <dgm:prSet custT="1"/>
      <dgm:spPr/>
      <dgm:t>
        <a:bodyPr/>
        <a:lstStyle/>
        <a:p>
          <a:endParaRPr lang="en-GB" sz="1800" dirty="0" smtClean="0">
            <a:solidFill>
              <a:schemeClr val="bg2">
                <a:lumMod val="10000"/>
              </a:schemeClr>
            </a:solidFill>
            <a:latin typeface="Calibri" panose="020F0502020204030204" pitchFamily="34" charset="0"/>
          </a:endParaRPr>
        </a:p>
      </dgm:t>
    </dgm:pt>
    <dgm:pt modelId="{6AA93C07-A878-4E1C-B974-8C08B510F320}" type="parTrans" cxnId="{ED097170-7D59-4F12-B292-86D74F524A55}">
      <dgm:prSet/>
      <dgm:spPr/>
      <dgm:t>
        <a:bodyPr/>
        <a:lstStyle/>
        <a:p>
          <a:endParaRPr lang="en-GB"/>
        </a:p>
      </dgm:t>
    </dgm:pt>
    <dgm:pt modelId="{C75C3C01-3CE1-4166-B916-4528E996C518}" type="sibTrans" cxnId="{ED097170-7D59-4F12-B292-86D74F524A55}">
      <dgm:prSet/>
      <dgm:spPr/>
      <dgm:t>
        <a:bodyPr/>
        <a:lstStyle/>
        <a:p>
          <a:endParaRPr lang="en-GB"/>
        </a:p>
      </dgm:t>
    </dgm:pt>
    <dgm:pt modelId="{7475AEAB-06AB-45E2-98CA-E2D0B86B0492}">
      <dgm:prSet custT="1"/>
      <dgm:spPr/>
      <dgm:t>
        <a:bodyPr/>
        <a:lstStyle/>
        <a:p>
          <a:endParaRPr lang="en-GB" sz="1800" dirty="0" smtClean="0">
            <a:solidFill>
              <a:schemeClr val="bg2">
                <a:lumMod val="10000"/>
              </a:schemeClr>
            </a:solidFill>
            <a:latin typeface="Calibri" panose="020F0502020204030204" pitchFamily="34" charset="0"/>
          </a:endParaRPr>
        </a:p>
      </dgm:t>
    </dgm:pt>
    <dgm:pt modelId="{66F03EFE-FA69-4CD3-BAA2-63E4651E3CE8}" type="parTrans" cxnId="{B0152A11-1F3E-4872-B78E-1413879CBBAB}">
      <dgm:prSet/>
      <dgm:spPr/>
      <dgm:t>
        <a:bodyPr/>
        <a:lstStyle/>
        <a:p>
          <a:endParaRPr lang="en-GB"/>
        </a:p>
      </dgm:t>
    </dgm:pt>
    <dgm:pt modelId="{10D2B5B8-D750-4282-B55A-26440552C0DA}" type="sibTrans" cxnId="{B0152A11-1F3E-4872-B78E-1413879CBBAB}">
      <dgm:prSet/>
      <dgm:spPr/>
      <dgm:t>
        <a:bodyPr/>
        <a:lstStyle/>
        <a:p>
          <a:endParaRPr lang="en-GB"/>
        </a:p>
      </dgm:t>
    </dgm:pt>
    <dgm:pt modelId="{3F646720-912F-4FB0-9C2E-579D95BB3C0E}">
      <dgm:prSet custT="1"/>
      <dgm:spPr/>
      <dgm:t>
        <a:bodyPr/>
        <a:lstStyle/>
        <a:p>
          <a:endParaRPr lang="en-GB" sz="1800" dirty="0" smtClean="0">
            <a:solidFill>
              <a:schemeClr val="bg2">
                <a:lumMod val="10000"/>
              </a:schemeClr>
            </a:solidFill>
            <a:latin typeface="Calibri" panose="020F0502020204030204" pitchFamily="34" charset="0"/>
          </a:endParaRPr>
        </a:p>
      </dgm:t>
    </dgm:pt>
    <dgm:pt modelId="{571E85A4-9ADF-4A1D-B6FB-2E10710F6424}" type="parTrans" cxnId="{9F9A79EC-6936-4CEB-9252-ADB6E1AE11AF}">
      <dgm:prSet/>
      <dgm:spPr/>
      <dgm:t>
        <a:bodyPr/>
        <a:lstStyle/>
        <a:p>
          <a:endParaRPr lang="en-GB"/>
        </a:p>
      </dgm:t>
    </dgm:pt>
    <dgm:pt modelId="{7AFE8B06-89EC-464A-8376-E7AF0C8DD4E5}" type="sibTrans" cxnId="{9F9A79EC-6936-4CEB-9252-ADB6E1AE11AF}">
      <dgm:prSet/>
      <dgm:spPr/>
      <dgm:t>
        <a:bodyPr/>
        <a:lstStyle/>
        <a:p>
          <a:endParaRPr lang="en-GB"/>
        </a:p>
      </dgm:t>
    </dgm:pt>
    <dgm:pt modelId="{2E9BD066-5772-45B3-AF70-8A7A03272818}" type="pres">
      <dgm:prSet presAssocID="{312AE3AD-150C-4556-B9F3-C5AFE07518A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B71E4610-9C7F-4FC1-B45C-3246453F732B}" type="pres">
      <dgm:prSet presAssocID="{28AA58F6-D958-4B10-9359-D08D4D103B97}" presName="parentText" presStyleLbl="node1" presStyleIdx="0" presStyleCnt="1" custScaleY="63997" custLinFactNeighborY="-6367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9778523-FD02-412B-8EED-12620C0515E9}" type="pres">
      <dgm:prSet presAssocID="{28AA58F6-D958-4B10-9359-D08D4D103B97}" presName="childText" presStyleLbl="revTx" presStyleIdx="0" presStyleCnt="1" custScaleY="111489" custLinFactNeighborY="29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F6B25572-DB7F-415D-AF92-A43376E886A7}" type="presOf" srcId="{312AE3AD-150C-4556-B9F3-C5AFE07518AD}" destId="{2E9BD066-5772-45B3-AF70-8A7A03272818}" srcOrd="0" destOrd="0" presId="urn:microsoft.com/office/officeart/2005/8/layout/vList2"/>
    <dgm:cxn modelId="{36A437BC-6EDE-4303-A6D1-648012887460}" type="presOf" srcId="{7475AEAB-06AB-45E2-98CA-E2D0B86B0492}" destId="{59778523-FD02-412B-8EED-12620C0515E9}" srcOrd="0" destOrd="3" presId="urn:microsoft.com/office/officeart/2005/8/layout/vList2"/>
    <dgm:cxn modelId="{FD87779F-13BD-4EB3-806B-EFD57224520E}" type="presOf" srcId="{D97F0E23-3469-49AA-8515-E38E0361369C}" destId="{59778523-FD02-412B-8EED-12620C0515E9}" srcOrd="0" destOrd="1" presId="urn:microsoft.com/office/officeart/2005/8/layout/vList2"/>
    <dgm:cxn modelId="{C2BEBCDC-03B2-4D84-A49C-A63F131785DD}" srcId="{28AA58F6-D958-4B10-9359-D08D4D103B97}" destId="{5547A09F-9281-4926-AFA4-01F6C5E99E46}" srcOrd="0" destOrd="0" parTransId="{F3ACEA60-3461-4AC3-BB5D-893E4B822BE9}" sibTransId="{F76B773A-F1BB-45AE-853C-30C972F6D272}"/>
    <dgm:cxn modelId="{9F9A79EC-6936-4CEB-9252-ADB6E1AE11AF}" srcId="{28AA58F6-D958-4B10-9359-D08D4D103B97}" destId="{3F646720-912F-4FB0-9C2E-579D95BB3C0E}" srcOrd="5" destOrd="0" parTransId="{571E85A4-9ADF-4A1D-B6FB-2E10710F6424}" sibTransId="{7AFE8B06-89EC-464A-8376-E7AF0C8DD4E5}"/>
    <dgm:cxn modelId="{7FC4F6B6-7333-499E-8799-51F96AA60B84}" srcId="{312AE3AD-150C-4556-B9F3-C5AFE07518AD}" destId="{28AA58F6-D958-4B10-9359-D08D4D103B97}" srcOrd="0" destOrd="0" parTransId="{60C608F0-860E-4FC1-AB6C-6A893EFA9FC9}" sibTransId="{3083AE86-D778-4F5F-B1B6-4FB7AC7CBD51}"/>
    <dgm:cxn modelId="{B0152A11-1F3E-4872-B78E-1413879CBBAB}" srcId="{28AA58F6-D958-4B10-9359-D08D4D103B97}" destId="{7475AEAB-06AB-45E2-98CA-E2D0B86B0492}" srcOrd="3" destOrd="0" parTransId="{66F03EFE-FA69-4CD3-BAA2-63E4651E3CE8}" sibTransId="{10D2B5B8-D750-4282-B55A-26440552C0DA}"/>
    <dgm:cxn modelId="{5BA1823F-2135-46BA-AE99-EB8EF3E4522C}" type="presOf" srcId="{5547A09F-9281-4926-AFA4-01F6C5E99E46}" destId="{59778523-FD02-412B-8EED-12620C0515E9}" srcOrd="0" destOrd="0" presId="urn:microsoft.com/office/officeart/2005/8/layout/vList2"/>
    <dgm:cxn modelId="{9687FBD7-5570-4EE1-AD8C-0827D8FDFD8B}" srcId="{28AA58F6-D958-4B10-9359-D08D4D103B97}" destId="{31FDEDA6-66D9-439F-8F48-7D1A3D83CB2C}" srcOrd="2" destOrd="0" parTransId="{09E8ADEA-8958-4BC9-B0A6-4BBA6912F297}" sibTransId="{6D1C52CF-60AE-4EC8-BD3C-432DCD6C2CBF}"/>
    <dgm:cxn modelId="{7DCA2CC4-0A7D-43E4-B28B-3481C2FDAEDD}" type="presOf" srcId="{28AA58F6-D958-4B10-9359-D08D4D103B97}" destId="{B71E4610-9C7F-4FC1-B45C-3246453F732B}" srcOrd="0" destOrd="0" presId="urn:microsoft.com/office/officeart/2005/8/layout/vList2"/>
    <dgm:cxn modelId="{243CB387-1595-4467-BFEC-296652B1AC9B}" type="presOf" srcId="{31FDEDA6-66D9-439F-8F48-7D1A3D83CB2C}" destId="{59778523-FD02-412B-8EED-12620C0515E9}" srcOrd="0" destOrd="2" presId="urn:microsoft.com/office/officeart/2005/8/layout/vList2"/>
    <dgm:cxn modelId="{FEC8D880-A663-402B-A787-3C914236B237}" srcId="{28AA58F6-D958-4B10-9359-D08D4D103B97}" destId="{ABFAF83A-6C73-47F6-896E-A9BD27B48A39}" srcOrd="4" destOrd="0" parTransId="{A75B0344-DEA6-4F23-B9A2-5187C1B55793}" sibTransId="{94733AA1-8077-4264-929A-A4870403E5DA}"/>
    <dgm:cxn modelId="{9121E131-06A3-4D6D-9831-53334D27134B}" type="presOf" srcId="{3F646720-912F-4FB0-9C2E-579D95BB3C0E}" destId="{59778523-FD02-412B-8EED-12620C0515E9}" srcOrd="0" destOrd="5" presId="urn:microsoft.com/office/officeart/2005/8/layout/vList2"/>
    <dgm:cxn modelId="{3449CAFA-5480-46E9-A105-1E7FBF18FA42}" type="presOf" srcId="{ABFAF83A-6C73-47F6-896E-A9BD27B48A39}" destId="{59778523-FD02-412B-8EED-12620C0515E9}" srcOrd="0" destOrd="4" presId="urn:microsoft.com/office/officeart/2005/8/layout/vList2"/>
    <dgm:cxn modelId="{B0B2F67A-EBA5-48F4-A6DC-6B545647974D}" srcId="{28AA58F6-D958-4B10-9359-D08D4D103B97}" destId="{41E053C8-D301-4D12-AD77-7EE97ECC131D}" srcOrd="6" destOrd="0" parTransId="{E94A589A-0C85-450C-AE1A-FBF4CE0F2A81}" sibTransId="{9D04F1D8-B208-4490-A62E-6562FDAC00FC}"/>
    <dgm:cxn modelId="{ED097170-7D59-4F12-B292-86D74F524A55}" srcId="{28AA58F6-D958-4B10-9359-D08D4D103B97}" destId="{D97F0E23-3469-49AA-8515-E38E0361369C}" srcOrd="1" destOrd="0" parTransId="{6AA93C07-A878-4E1C-B974-8C08B510F320}" sibTransId="{C75C3C01-3CE1-4166-B916-4528E996C518}"/>
    <dgm:cxn modelId="{69363588-FB2C-42E2-90AB-819EEE464C0B}" type="presOf" srcId="{41E053C8-D301-4D12-AD77-7EE97ECC131D}" destId="{59778523-FD02-412B-8EED-12620C0515E9}" srcOrd="0" destOrd="6" presId="urn:microsoft.com/office/officeart/2005/8/layout/vList2"/>
    <dgm:cxn modelId="{19731FE0-04E1-4335-8190-F4F8766BCB4D}" type="presParOf" srcId="{2E9BD066-5772-45B3-AF70-8A7A03272818}" destId="{B71E4610-9C7F-4FC1-B45C-3246453F732B}" srcOrd="0" destOrd="0" presId="urn:microsoft.com/office/officeart/2005/8/layout/vList2"/>
    <dgm:cxn modelId="{86869DF5-4922-48FF-9D9F-1330D993A69D}" type="presParOf" srcId="{2E9BD066-5772-45B3-AF70-8A7A03272818}" destId="{59778523-FD02-412B-8EED-12620C0515E9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ACCB16-A97F-4AE7-BD91-9707F88F1702}" type="doc">
      <dgm:prSet loTypeId="urn:microsoft.com/office/officeart/2005/8/layout/pyramid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94ED217-942A-4E2E-9CE7-D7FE3BFFED54}">
      <dgm:prSet custT="1"/>
      <dgm:spPr/>
      <dgm:t>
        <a:bodyPr anchor="t"/>
        <a:lstStyle/>
        <a:p>
          <a:r>
            <a:rPr lang="en-GB" sz="1600" b="1" dirty="0" smtClean="0">
              <a:latin typeface="Calibri" panose="020F0502020204030204" pitchFamily="34" charset="0"/>
            </a:rPr>
            <a:t>Make the international system fairer and work better</a:t>
          </a:r>
          <a:endParaRPr lang="en-GB" sz="1600" b="1" dirty="0">
            <a:latin typeface="Calibri" panose="020F0502020204030204" pitchFamily="34" charset="0"/>
          </a:endParaRPr>
        </a:p>
      </dgm:t>
    </dgm:pt>
    <dgm:pt modelId="{0E31CBB5-35C9-4F7F-88A8-446173ADC26A}" type="parTrans" cxnId="{F0D27D8E-B81D-403E-8C56-1E6F8F2547EC}">
      <dgm:prSet/>
      <dgm:spPr/>
      <dgm:t>
        <a:bodyPr/>
        <a:lstStyle/>
        <a:p>
          <a:endParaRPr lang="en-GB" sz="1400" b="1">
            <a:latin typeface="Calibri" panose="020F0502020204030204" pitchFamily="34" charset="0"/>
          </a:endParaRPr>
        </a:p>
      </dgm:t>
    </dgm:pt>
    <dgm:pt modelId="{3FE477C9-D35F-4B5A-B4FA-1D112311BBDE}" type="sibTrans" cxnId="{F0D27D8E-B81D-403E-8C56-1E6F8F2547EC}">
      <dgm:prSet/>
      <dgm:spPr/>
      <dgm:t>
        <a:bodyPr/>
        <a:lstStyle/>
        <a:p>
          <a:endParaRPr lang="en-GB" sz="1400" b="1">
            <a:latin typeface="Calibri" panose="020F0502020204030204" pitchFamily="34" charset="0"/>
          </a:endParaRPr>
        </a:p>
      </dgm:t>
    </dgm:pt>
    <dgm:pt modelId="{CFDC4C17-B4A3-402B-8DD0-B7E7A1CE2665}">
      <dgm:prSet phldrT="[Text]" custT="1"/>
      <dgm:spPr/>
      <dgm:t>
        <a:bodyPr/>
        <a:lstStyle/>
        <a:p>
          <a:r>
            <a:rPr lang="en-GB" sz="1600" b="1" dirty="0" smtClean="0">
              <a:solidFill>
                <a:schemeClr val="bg1"/>
              </a:solidFill>
              <a:latin typeface="Calibri" panose="020F0502020204030204" pitchFamily="34" charset="0"/>
            </a:rPr>
            <a:t>Policies to encourage new firms, innovation &amp; job creation</a:t>
          </a:r>
          <a:endParaRPr lang="en-GB" sz="1600" b="1" dirty="0">
            <a:solidFill>
              <a:schemeClr val="bg1"/>
            </a:solidFill>
            <a:latin typeface="Calibri" panose="020F0502020204030204" pitchFamily="34" charset="0"/>
          </a:endParaRPr>
        </a:p>
      </dgm:t>
    </dgm:pt>
    <dgm:pt modelId="{5E3008B7-8F69-4F0C-AD1E-C70E0305C062}" type="parTrans" cxnId="{EDB180D3-2027-459B-AED8-79F8E30CD0EB}">
      <dgm:prSet/>
      <dgm:spPr/>
      <dgm:t>
        <a:bodyPr/>
        <a:lstStyle/>
        <a:p>
          <a:endParaRPr lang="en-GB" sz="1400" b="1">
            <a:latin typeface="Calibri" panose="020F0502020204030204" pitchFamily="34" charset="0"/>
          </a:endParaRPr>
        </a:p>
      </dgm:t>
    </dgm:pt>
    <dgm:pt modelId="{0DA15BDD-8C02-4177-B987-23C4D332A976}" type="sibTrans" cxnId="{EDB180D3-2027-459B-AED8-79F8E30CD0EB}">
      <dgm:prSet/>
      <dgm:spPr/>
      <dgm:t>
        <a:bodyPr/>
        <a:lstStyle/>
        <a:p>
          <a:endParaRPr lang="en-GB" sz="1400" b="1">
            <a:latin typeface="Calibri" panose="020F0502020204030204" pitchFamily="34" charset="0"/>
          </a:endParaRPr>
        </a:p>
      </dgm:t>
    </dgm:pt>
    <dgm:pt modelId="{938A20E0-2977-41EA-BD98-C22B2E5B2A5C}">
      <dgm:prSet phldrT="[Text]" custT="1"/>
      <dgm:spPr/>
      <dgm:t>
        <a:bodyPr/>
        <a:lstStyle/>
        <a:p>
          <a:r>
            <a:rPr lang="en-GB" sz="1600" b="1" dirty="0" smtClean="0">
              <a:latin typeface="Calibri" panose="020F0502020204030204" pitchFamily="34" charset="0"/>
            </a:rPr>
            <a:t>Targeted policies to help people seize new </a:t>
          </a:r>
          <a:r>
            <a:rPr lang="en-GB" sz="1550" b="1" dirty="0" smtClean="0">
              <a:latin typeface="Calibri" panose="020F0502020204030204" pitchFamily="34" charset="0"/>
            </a:rPr>
            <a:t>opportunities</a:t>
          </a:r>
          <a:endParaRPr lang="en-GB" sz="1550" b="1" dirty="0">
            <a:latin typeface="Calibri" panose="020F0502020204030204" pitchFamily="34" charset="0"/>
          </a:endParaRPr>
        </a:p>
      </dgm:t>
    </dgm:pt>
    <dgm:pt modelId="{0724CEDD-2C28-4658-91FF-9AADEAC20DD3}" type="parTrans" cxnId="{D4BBC0C8-3B8A-4ABB-9224-8C6D2347C86B}">
      <dgm:prSet/>
      <dgm:spPr/>
      <dgm:t>
        <a:bodyPr/>
        <a:lstStyle/>
        <a:p>
          <a:endParaRPr lang="en-GB"/>
        </a:p>
      </dgm:t>
    </dgm:pt>
    <dgm:pt modelId="{F477D234-8611-43C6-8163-0E3AD3EA84A6}" type="sibTrans" cxnId="{D4BBC0C8-3B8A-4ABB-9224-8C6D2347C86B}">
      <dgm:prSet/>
      <dgm:spPr/>
      <dgm:t>
        <a:bodyPr/>
        <a:lstStyle/>
        <a:p>
          <a:endParaRPr lang="en-GB"/>
        </a:p>
      </dgm:t>
    </dgm:pt>
    <dgm:pt modelId="{08F48176-C6C2-4E03-A868-8265352F91FF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endParaRPr lang="en-GB" sz="1400" b="1" dirty="0">
            <a:latin typeface="Calibri" panose="020F0502020204030204" pitchFamily="34" charset="0"/>
          </a:endParaRPr>
        </a:p>
      </dgm:t>
    </dgm:pt>
    <dgm:pt modelId="{CFDC7288-346A-4AB1-B045-24CD3680CA50}" type="parTrans" cxnId="{7295D42E-8537-48D4-8280-2B827F8891B2}">
      <dgm:prSet/>
      <dgm:spPr/>
      <dgm:t>
        <a:bodyPr/>
        <a:lstStyle/>
        <a:p>
          <a:endParaRPr lang="en-GB"/>
        </a:p>
      </dgm:t>
    </dgm:pt>
    <dgm:pt modelId="{03A1E7B4-79BC-4E8F-83BA-259BF6086CCB}" type="sibTrans" cxnId="{7295D42E-8537-48D4-8280-2B827F8891B2}">
      <dgm:prSet/>
      <dgm:spPr/>
      <dgm:t>
        <a:bodyPr/>
        <a:lstStyle/>
        <a:p>
          <a:endParaRPr lang="en-GB"/>
        </a:p>
      </dgm:t>
    </dgm:pt>
    <dgm:pt modelId="{C7C00932-50D6-4289-BB7C-788D8094F781}" type="pres">
      <dgm:prSet presAssocID="{DDACCB16-A97F-4AE7-BD91-9707F88F1702}" presName="compositeShape" presStyleCnt="0">
        <dgm:presLayoutVars>
          <dgm:chMax val="9"/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6CE2A82E-78D8-4AA1-9997-FA861DC45FCE}" type="pres">
      <dgm:prSet presAssocID="{DDACCB16-A97F-4AE7-BD91-9707F88F1702}" presName="triangle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02A8876-6D7F-4D19-8F3D-9BE49D0BE090}" type="pres">
      <dgm:prSet presAssocID="{DDACCB16-A97F-4AE7-BD91-9707F88F1702}" presName="triangle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45CFC21-535E-4D1D-A1B2-2506225BE7BD}" type="pres">
      <dgm:prSet presAssocID="{DDACCB16-A97F-4AE7-BD91-9707F88F1702}" presName="triangle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C8B428A-02B9-4336-8CE1-BA240C7BD6D4}" type="pres">
      <dgm:prSet presAssocID="{DDACCB16-A97F-4AE7-BD91-9707F88F1702}" presName="triangle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C4E21589-0A0C-48C9-B778-CA55B1A17848}" type="presOf" srcId="{938A20E0-2977-41EA-BD98-C22B2E5B2A5C}" destId="{9C8B428A-02B9-4336-8CE1-BA240C7BD6D4}" srcOrd="0" destOrd="0" presId="urn:microsoft.com/office/officeart/2005/8/layout/pyramid4"/>
    <dgm:cxn modelId="{7295D42E-8537-48D4-8280-2B827F8891B2}" srcId="{DDACCB16-A97F-4AE7-BD91-9707F88F1702}" destId="{08F48176-C6C2-4E03-A868-8265352F91FF}" srcOrd="2" destOrd="0" parTransId="{CFDC7288-346A-4AB1-B045-24CD3680CA50}" sibTransId="{03A1E7B4-79BC-4E8F-83BA-259BF6086CCB}"/>
    <dgm:cxn modelId="{D4BBC0C8-3B8A-4ABB-9224-8C6D2347C86B}" srcId="{DDACCB16-A97F-4AE7-BD91-9707F88F1702}" destId="{938A20E0-2977-41EA-BD98-C22B2E5B2A5C}" srcOrd="3" destOrd="0" parTransId="{0724CEDD-2C28-4658-91FF-9AADEAC20DD3}" sibTransId="{F477D234-8611-43C6-8163-0E3AD3EA84A6}"/>
    <dgm:cxn modelId="{EDB180D3-2027-459B-AED8-79F8E30CD0EB}" srcId="{DDACCB16-A97F-4AE7-BD91-9707F88F1702}" destId="{CFDC4C17-B4A3-402B-8DD0-B7E7A1CE2665}" srcOrd="1" destOrd="0" parTransId="{5E3008B7-8F69-4F0C-AD1E-C70E0305C062}" sibTransId="{0DA15BDD-8C02-4177-B987-23C4D332A976}"/>
    <dgm:cxn modelId="{8AEA0CC2-1A97-4516-B0FE-0A92F82ECF2F}" type="presOf" srcId="{894ED217-942A-4E2E-9CE7-D7FE3BFFED54}" destId="{6CE2A82E-78D8-4AA1-9997-FA861DC45FCE}" srcOrd="0" destOrd="0" presId="urn:microsoft.com/office/officeart/2005/8/layout/pyramid4"/>
    <dgm:cxn modelId="{193CDDFD-E7C3-47D4-8B82-48CB95C956BE}" type="presOf" srcId="{CFDC4C17-B4A3-402B-8DD0-B7E7A1CE2665}" destId="{402A8876-6D7F-4D19-8F3D-9BE49D0BE090}" srcOrd="0" destOrd="0" presId="urn:microsoft.com/office/officeart/2005/8/layout/pyramid4"/>
    <dgm:cxn modelId="{6F9879C7-9ED7-45E2-93CC-873BFAB3AF38}" type="presOf" srcId="{08F48176-C6C2-4E03-A868-8265352F91FF}" destId="{345CFC21-535E-4D1D-A1B2-2506225BE7BD}" srcOrd="0" destOrd="0" presId="urn:microsoft.com/office/officeart/2005/8/layout/pyramid4"/>
    <dgm:cxn modelId="{CB3666E2-A1F7-4796-82DA-D105236E0E37}" type="presOf" srcId="{DDACCB16-A97F-4AE7-BD91-9707F88F1702}" destId="{C7C00932-50D6-4289-BB7C-788D8094F781}" srcOrd="0" destOrd="0" presId="urn:microsoft.com/office/officeart/2005/8/layout/pyramid4"/>
    <dgm:cxn modelId="{F0D27D8E-B81D-403E-8C56-1E6F8F2547EC}" srcId="{DDACCB16-A97F-4AE7-BD91-9707F88F1702}" destId="{894ED217-942A-4E2E-9CE7-D7FE3BFFED54}" srcOrd="0" destOrd="0" parTransId="{0E31CBB5-35C9-4F7F-88A8-446173ADC26A}" sibTransId="{3FE477C9-D35F-4B5A-B4FA-1D112311BBDE}"/>
    <dgm:cxn modelId="{F7F37DB8-C702-4688-9BAE-D5B022B7DC6B}" type="presParOf" srcId="{C7C00932-50D6-4289-BB7C-788D8094F781}" destId="{6CE2A82E-78D8-4AA1-9997-FA861DC45FCE}" srcOrd="0" destOrd="0" presId="urn:microsoft.com/office/officeart/2005/8/layout/pyramid4"/>
    <dgm:cxn modelId="{C2F11204-8B2C-42B1-9FE6-D174D0E4BB47}" type="presParOf" srcId="{C7C00932-50D6-4289-BB7C-788D8094F781}" destId="{402A8876-6D7F-4D19-8F3D-9BE49D0BE090}" srcOrd="1" destOrd="0" presId="urn:microsoft.com/office/officeart/2005/8/layout/pyramid4"/>
    <dgm:cxn modelId="{2E40B099-69DF-4C47-8846-8D236B48D11B}" type="presParOf" srcId="{C7C00932-50D6-4289-BB7C-788D8094F781}" destId="{345CFC21-535E-4D1D-A1B2-2506225BE7BD}" srcOrd="2" destOrd="0" presId="urn:microsoft.com/office/officeart/2005/8/layout/pyramid4"/>
    <dgm:cxn modelId="{C1777866-08B9-4250-8F6E-7BFA19C541A0}" type="presParOf" srcId="{C7C00932-50D6-4289-BB7C-788D8094F781}" destId="{9C8B428A-02B9-4336-8CE1-BA240C7BD6D4}" srcOrd="3" destOrd="0" presId="urn:microsoft.com/office/officeart/2005/8/layout/pyramid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1E4610-9C7F-4FC1-B45C-3246453F732B}">
      <dsp:nvSpPr>
        <dsp:cNvPr id="0" name=""/>
        <dsp:cNvSpPr/>
      </dsp:nvSpPr>
      <dsp:spPr>
        <a:xfrm>
          <a:off x="0" y="220817"/>
          <a:ext cx="8280920" cy="5752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>
              <a:latin typeface="Calibri" panose="020F0502020204030204" pitchFamily="34" charset="0"/>
            </a:rPr>
            <a:t>Global growth expected to pick-up modestly </a:t>
          </a:r>
          <a:r>
            <a:rPr lang="en-GB" sz="2000" kern="1200" smtClean="0">
              <a:latin typeface="Calibri" panose="020F0502020204030204" pitchFamily="34" charset="0"/>
            </a:rPr>
            <a:t>with upside </a:t>
          </a:r>
          <a:r>
            <a:rPr lang="en-GB" sz="2000" kern="1200" dirty="0" smtClean="0">
              <a:latin typeface="Calibri" panose="020F0502020204030204" pitchFamily="34" charset="0"/>
            </a:rPr>
            <a:t>risks</a:t>
          </a:r>
        </a:p>
      </dsp:txBody>
      <dsp:txXfrm>
        <a:off x="28083" y="248900"/>
        <a:ext cx="8224754" cy="519119"/>
      </dsp:txXfrm>
    </dsp:sp>
    <dsp:sp modelId="{59778523-FD02-412B-8EED-12620C0515E9}">
      <dsp:nvSpPr>
        <dsp:cNvPr id="0" name=""/>
        <dsp:cNvSpPr/>
      </dsp:nvSpPr>
      <dsp:spPr>
        <a:xfrm>
          <a:off x="0" y="796102"/>
          <a:ext cx="8280920" cy="82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919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GB" sz="1600" kern="12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Confidence is increasing and investment and trade are picking up from low levels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600" kern="12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Growth is broad based; recovery in commodity producers helps the modest global upturn</a:t>
          </a:r>
          <a:endParaRPr lang="en-GB" sz="1600" kern="1200" dirty="0" smtClean="0">
            <a:solidFill>
              <a:schemeClr val="bg2">
                <a:lumMod val="10000"/>
              </a:schemeClr>
            </a:solidFill>
            <a:latin typeface="Calibri" panose="020F050202020403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GB" sz="1600" kern="12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Signs of rising demand for high-tech goods and investment to upgrade capital</a:t>
          </a:r>
        </a:p>
      </dsp:txBody>
      <dsp:txXfrm>
        <a:off x="0" y="796102"/>
        <a:ext cx="8280920" cy="828000"/>
      </dsp:txXfrm>
    </dsp:sp>
    <dsp:sp modelId="{86CD86FE-BCDD-4F86-8258-550D41ABF992}">
      <dsp:nvSpPr>
        <dsp:cNvPr id="0" name=""/>
        <dsp:cNvSpPr/>
      </dsp:nvSpPr>
      <dsp:spPr>
        <a:xfrm>
          <a:off x="0" y="1624102"/>
          <a:ext cx="8280920" cy="5402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>
              <a:latin typeface="Calibri" panose="020F0502020204030204" pitchFamily="34" charset="0"/>
            </a:rPr>
            <a:t>Productivity and wage growth remain subdued; financial stability risks persist</a:t>
          </a:r>
        </a:p>
      </dsp:txBody>
      <dsp:txXfrm>
        <a:off x="26372" y="1650474"/>
        <a:ext cx="8228176" cy="487494"/>
      </dsp:txXfrm>
    </dsp:sp>
    <dsp:sp modelId="{4D106606-0D66-4779-A085-E8266C34AB2A}">
      <dsp:nvSpPr>
        <dsp:cNvPr id="0" name=""/>
        <dsp:cNvSpPr/>
      </dsp:nvSpPr>
      <dsp:spPr>
        <a:xfrm>
          <a:off x="0" y="2164340"/>
          <a:ext cx="8280920" cy="548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919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GB" sz="1600" kern="12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Headline employment indicators are improving but labour markets have not recovered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600" kern="12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Financial risks from high and rising credit growth, house price increases, interest rate gaps</a:t>
          </a:r>
          <a:endParaRPr lang="en-GB" sz="1600" kern="1200" dirty="0" smtClean="0">
            <a:solidFill>
              <a:schemeClr val="bg2">
                <a:lumMod val="10000"/>
              </a:schemeClr>
            </a:solidFill>
            <a:latin typeface="Calibri" panose="020F0502020204030204" pitchFamily="34" charset="0"/>
          </a:endParaRPr>
        </a:p>
      </dsp:txBody>
      <dsp:txXfrm>
        <a:off x="0" y="2164340"/>
        <a:ext cx="8280920" cy="548550"/>
      </dsp:txXfrm>
    </dsp:sp>
    <dsp:sp modelId="{9CFD6359-D6AA-429D-ADFE-D05F20309091}">
      <dsp:nvSpPr>
        <dsp:cNvPr id="0" name=""/>
        <dsp:cNvSpPr/>
      </dsp:nvSpPr>
      <dsp:spPr>
        <a:xfrm>
          <a:off x="0" y="2729830"/>
          <a:ext cx="8280920" cy="5834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>
              <a:latin typeface="Calibri" panose="020F0502020204030204" pitchFamily="34" charset="0"/>
            </a:rPr>
            <a:t>More needs to be done to share the gains from structural trends and trade</a:t>
          </a:r>
        </a:p>
      </dsp:txBody>
      <dsp:txXfrm>
        <a:off x="28481" y="2758311"/>
        <a:ext cx="8223958" cy="526477"/>
      </dsp:txXfrm>
    </dsp:sp>
    <dsp:sp modelId="{E865CCEF-EA47-42BC-ABAD-CF3E5C00DE2D}">
      <dsp:nvSpPr>
        <dsp:cNvPr id="0" name=""/>
        <dsp:cNvSpPr/>
      </dsp:nvSpPr>
      <dsp:spPr>
        <a:xfrm>
          <a:off x="0" y="3313264"/>
          <a:ext cx="8280920" cy="548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919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GB" sz="1600" kern="12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Changes to technology, consumer preferences and trade are occurring simultaneously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GB" sz="1600" kern="12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Job losses from shifts in activity are concentrated in manufacturing and specific regions</a:t>
          </a:r>
        </a:p>
      </dsp:txBody>
      <dsp:txXfrm>
        <a:off x="0" y="3313264"/>
        <a:ext cx="8280920" cy="548550"/>
      </dsp:txXfrm>
    </dsp:sp>
    <dsp:sp modelId="{2B45D7B7-0834-4D13-8778-0BFAB98C78C2}">
      <dsp:nvSpPr>
        <dsp:cNvPr id="0" name=""/>
        <dsp:cNvSpPr/>
      </dsp:nvSpPr>
      <dsp:spPr>
        <a:xfrm>
          <a:off x="0" y="3861821"/>
          <a:ext cx="8280920" cy="551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>
              <a:latin typeface="Calibri" panose="020F0502020204030204" pitchFamily="34" charset="0"/>
            </a:rPr>
            <a:t>An integrated policy approach is needed to make globalisation work for all</a:t>
          </a:r>
        </a:p>
      </dsp:txBody>
      <dsp:txXfrm>
        <a:off x="26923" y="3888744"/>
        <a:ext cx="8227074" cy="497679"/>
      </dsp:txXfrm>
    </dsp:sp>
    <dsp:sp modelId="{466AD614-18F8-4250-8704-A12C186A2560}">
      <dsp:nvSpPr>
        <dsp:cNvPr id="0" name=""/>
        <dsp:cNvSpPr/>
      </dsp:nvSpPr>
      <dsp:spPr>
        <a:xfrm>
          <a:off x="0" y="4413339"/>
          <a:ext cx="8280920" cy="82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919" tIns="25400" rIns="142240" bIns="25400" numCol="1" spcCol="1270" anchor="t" anchorCtr="0">
          <a:noAutofit/>
        </a:bodyPr>
        <a:lstStyle/>
        <a:p>
          <a:pPr marL="171450" lvl="1" indent="-171450" algn="l" defTabSz="711200" eaLnBrk="1" latinLnBrk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GB" sz="1600" kern="12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A more level playing field for the international system</a:t>
          </a:r>
        </a:p>
        <a:p>
          <a:pPr marL="171450" lvl="1" indent="-171450" algn="l" defTabSz="711200" eaLnBrk="1" latinLnBrk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GB" sz="1600" kern="12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Domestic reforms to boost competition, job creation, skills and innovation</a:t>
          </a:r>
        </a:p>
        <a:p>
          <a:pPr marL="171450" lvl="1" indent="-171450" algn="l" defTabSz="711200" eaLnBrk="1" latinLnBrk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GB" sz="1600" kern="12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rPr>
            <a:t>Targeted policies to help people who are left behind seize new opportunities</a:t>
          </a:r>
        </a:p>
      </dsp:txBody>
      <dsp:txXfrm>
        <a:off x="0" y="4413339"/>
        <a:ext cx="8280920" cy="828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4">
  <dgm:title val=""/>
  <dgm:desc val=""/>
  <dgm:catLst>
    <dgm:cat type="pyramid" pri="4000"/>
    <dgm:cat type="relationship" pri="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chMax val="9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4">
        <dgm:choose name="Name2">
          <dgm:if name="Name3" axis="ch" ptType="node" func="cnt" op="equ" val="1">
            <dgm:constrLst>
              <dgm:constr type="primFontSz" for="ch" ptType="node" op="equ" val="65"/>
              <dgm:constr type="t" for="ch" forName="triangle1"/>
              <dgm:constr type="l" for="ch" forName="triangle1"/>
              <dgm:constr type="h" for="ch" forName="triangle1" refType="h"/>
              <dgm:constr type="w" for="ch" forName="triangle1" refType="h"/>
            </dgm:constrLst>
          </dgm:if>
          <dgm:else name="Name4">
            <dgm:constrLst>
              <dgm:constr type="primFontSz" for="ch" ptType="node" op="equ" val="65"/>
              <dgm:constr type="t" for="ch" forName="triangle1"/>
              <dgm:constr type="l" for="ch" forName="triangle1" refType="h" fact="0.25"/>
              <dgm:constr type="h" for="ch" forName="triangle1" refType="h" fact="0.5"/>
              <dgm:constr type="w" for="ch" forName="triangle1" refType="h" fact="0.5"/>
              <dgm:constr type="t" for="ch" forName="triangle2" refType="h" fact="0.5"/>
              <dgm:constr type="l" for="ch" forName="triangle2"/>
              <dgm:constr type="h" for="ch" forName="triangle2" refType="h" fact="0.5"/>
              <dgm:constr type="w" for="ch" forName="triangle2" refType="h" fact="0.5"/>
              <dgm:constr type="t" for="ch" forName="triangle3" refType="h" fact="0.5"/>
              <dgm:constr type="l" for="ch" forName="triangle3" refType="h" fact="0.25"/>
              <dgm:constr type="h" for="ch" forName="triangle3" refType="h" fact="0.5"/>
              <dgm:constr type="w" for="ch" forName="triangle3" refType="h" fact="0.5"/>
              <dgm:constr type="t" for="ch" forName="triangle4" refType="h" fact="0.5"/>
              <dgm:constr type="l" for="ch" forName="triangle4" refType="h" fact="0.5"/>
              <dgm:constr type="h" for="ch" forName="triangle4" refType="h" fact="0.5"/>
              <dgm:constr type="w" for="ch" forName="triangle4" refType="h" fact="0.5"/>
            </dgm:constrLst>
          </dgm:else>
        </dgm:choose>
      </dgm:if>
      <dgm:else name="Name5">
        <dgm:constrLst>
          <dgm:constr type="primFontSz" for="ch" ptType="node" op="equ" val="65"/>
          <dgm:constr type="t" for="ch" forName="triangle1"/>
          <dgm:constr type="l" for="ch" forName="triangle1" refType="h" fact="0.33"/>
          <dgm:constr type="h" for="ch" forName="triangle1" refType="h" fact="0.33"/>
          <dgm:constr type="w" for="ch" forName="triangle1" refType="h" fact="0.33"/>
          <dgm:constr type="t" for="ch" forName="triangle2" refType="h" fact="0.33"/>
          <dgm:constr type="l" for="ch" forName="triangle2" refType="h" fact="0.165"/>
          <dgm:constr type="h" for="ch" forName="triangle2" refType="h" fact="0.33"/>
          <dgm:constr type="w" for="ch" forName="triangle2" refType="h" fact="0.33"/>
          <dgm:constr type="t" for="ch" forName="triangle3" refType="h" fact="0.33"/>
          <dgm:constr type="l" for="ch" forName="triangle3" refType="h" fact="0.33"/>
          <dgm:constr type="h" for="ch" forName="triangle3" refType="h" fact="0.33"/>
          <dgm:constr type="w" for="ch" forName="triangle3" refType="h" fact="0.33"/>
          <dgm:constr type="t" for="ch" forName="triangle4" refType="h" fact="0.33"/>
          <dgm:constr type="l" for="ch" forName="triangle4" refType="h" fact="0.495"/>
          <dgm:constr type="h" for="ch" forName="triangle4" refType="h" fact="0.33"/>
          <dgm:constr type="w" for="ch" forName="triangle4" refType="h" fact="0.33"/>
          <dgm:constr type="t" for="ch" forName="triangle5" refType="h" fact="0.66"/>
          <dgm:constr type="l" for="ch" forName="triangle5"/>
          <dgm:constr type="h" for="ch" forName="triangle5" refType="h" fact="0.33"/>
          <dgm:constr type="w" for="ch" forName="triangle5" refType="h" fact="0.33"/>
          <dgm:constr type="t" for="ch" forName="triangle6" refType="h" fact="0.66"/>
          <dgm:constr type="l" for="ch" forName="triangle6" refType="h" fact="0.165"/>
          <dgm:constr type="h" for="ch" forName="triangle6" refType="h" fact="0.33"/>
          <dgm:constr type="w" for="ch" forName="triangle6" refType="h" fact="0.33"/>
          <dgm:constr type="t" for="ch" forName="triangle7" refType="h" fact="0.66"/>
          <dgm:constr type="l" for="ch" forName="triangle7" refType="h" fact="0.33"/>
          <dgm:constr type="h" for="ch" forName="triangle7" refType="h" fact="0.33"/>
          <dgm:constr type="w" for="ch" forName="triangle7" refType="h" fact="0.33"/>
          <dgm:constr type="t" for="ch" forName="triangle8" refType="h" fact="0.66"/>
          <dgm:constr type="l" for="ch" forName="triangle8" refType="h" fact="0.495"/>
          <dgm:constr type="h" for="ch" forName="triangle8" refType="h" fact="0.33"/>
          <dgm:constr type="w" for="ch" forName="triangle8" refType="h" fact="0.33"/>
          <dgm:constr type="t" for="ch" forName="triangle9" refType="h" fact="0.66"/>
          <dgm:constr type="l" for="ch" forName="triangle9" refType="h" fact="0.66"/>
          <dgm:constr type="h" for="ch" forName="triangle9" refType="h" fact="0.33"/>
          <dgm:constr type="w" for="ch" forName="triangle9" refType="h" fact="0.33"/>
        </dgm:constrLst>
      </dgm:else>
    </dgm:choose>
    <dgm:ruleLst/>
    <dgm:choose name="Name6">
      <dgm:if name="Name7" axis="ch" ptType="node" func="cnt" op="gte" val="1">
        <dgm:layoutNode name="triangle1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8"/>
    </dgm:choose>
    <dgm:choose name="Name9">
      <dgm:if name="Name10" axis="ch" ptType="node" func="cnt" op="gte" val="2">
        <dgm:layoutNode name="triangle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1">
            <dgm:if name="Name12" func="var" arg="dir" op="equ" val="norm">
              <dgm:presOf axis="ch desOrSelf" ptType="node node" st="2 1" cnt="1 0"/>
            </dgm:if>
            <dgm:else name="Name13">
              <dgm:presOf axis="ch desOrSelf" ptType="node node" st="4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3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4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4">
            <dgm:if name="Name15" func="var" arg="dir" op="equ" val="norm">
              <dgm:presOf axis="ch desOrSelf" ptType="node node" st="4 1" cnt="1 0"/>
            </dgm:if>
            <dgm:else name="Name16">
              <dgm:presOf axis="ch desOrSelf" ptType="node node" st="2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17"/>
    </dgm:choose>
    <dgm:choose name="Name18">
      <dgm:if name="Name19" axis="ch" ptType="node" func="cnt" op="gte" val="5">
        <dgm:layoutNode name="triangle5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0">
            <dgm:if name="Name21" func="var" arg="dir" op="equ" val="norm">
              <dgm:presOf axis="ch desOrSelf" ptType="node node" st="5 1" cnt="1 0"/>
            </dgm:if>
            <dgm:else name="Name22">
              <dgm:presOf axis="ch desOrSelf" ptType="node node" st="9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6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3">
            <dgm:if name="Name24" func="var" arg="dir" op="equ" val="norm">
              <dgm:presOf axis="ch desOrSelf" ptType="node node" st="6 1" cnt="1 0"/>
            </dgm:if>
            <dgm:else name="Name25">
              <dgm:presOf axis="ch desOrSelf" ptType="node node" st="8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7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7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8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6">
            <dgm:if name="Name27" func="var" arg="dir" op="equ" val="norm">
              <dgm:presOf axis="ch desOrSelf" ptType="node node" st="8 1" cnt="1 0"/>
            </dgm:if>
            <dgm:else name="Name28">
              <dgm:presOf axis="ch desOrSelf" ptType="node node" st="6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9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9">
            <dgm:if name="Name30" func="var" arg="dir" op="equ" val="norm">
              <dgm:presOf axis="ch desOrSelf" ptType="node node" st="9 1" cnt="1 0"/>
            </dgm:if>
            <dgm:else name="Name31">
              <dgm:presOf axis="ch desOrSelf" ptType="node node" st="5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2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0.31343</cdr:x>
      <cdr:y>0.51006</cdr:y>
    </cdr:from>
    <cdr:to>
      <cdr:x>0.46102</cdr:x>
      <cdr:y>0.59425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1800200" y="2366005"/>
          <a:ext cx="847695" cy="39053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GB" sz="1400" b="1" dirty="0">
              <a:latin typeface="Arial Narrow" panose="020B0606020202030204" pitchFamily="34" charset="0"/>
            </a:rPr>
            <a:t>1995</a:t>
          </a:r>
        </a:p>
      </cdr:txBody>
    </cdr:sp>
  </cdr:relSizeAnchor>
  <cdr:relSizeAnchor xmlns:cdr="http://schemas.openxmlformats.org/drawingml/2006/chartDrawing">
    <cdr:from>
      <cdr:x>0.08138</cdr:x>
      <cdr:y>0.44963</cdr:y>
    </cdr:from>
    <cdr:to>
      <cdr:x>0.22897</cdr:x>
      <cdr:y>0.53382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467440" y="2085676"/>
          <a:ext cx="847694" cy="39053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GB" sz="1400" b="1" dirty="0">
              <a:latin typeface="Arial Narrow" panose="020B0606020202030204" pitchFamily="34" charset="0"/>
            </a:rPr>
            <a:t>2015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4283" cy="495300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646" y="0"/>
            <a:ext cx="2944283" cy="495300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D9BDB2A1-31CB-4309-9FC4-15F940A51174}" type="datetimeFigureOut">
              <a:rPr lang="en-GB" smtClean="0"/>
              <a:t>07/06/2017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08981"/>
            <a:ext cx="2944283" cy="495300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646" y="9408981"/>
            <a:ext cx="2944283" cy="495300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86D14058-FEED-42C8-A090-E45E1EA0FF4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78928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4283" cy="495300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6" y="0"/>
            <a:ext cx="2944283" cy="495300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389BBE68-B43C-4550-BAC8-3342CCEE016F}" type="datetimeFigureOut">
              <a:rPr lang="en-GB" smtClean="0"/>
              <a:t>07/06/2017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2950"/>
            <a:ext cx="4953000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5" rIns="91430" bIns="45715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05351"/>
            <a:ext cx="5435600" cy="4457700"/>
          </a:xfrm>
          <a:prstGeom prst="rect">
            <a:avLst/>
          </a:prstGeom>
        </p:spPr>
        <p:txBody>
          <a:bodyPr vert="horz" lIns="91430" tIns="45715" rIns="91430" bIns="45715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08981"/>
            <a:ext cx="2944283" cy="495300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6" y="9408981"/>
            <a:ext cx="2944283" cy="495300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E245DB49-244C-4016-9CFF-C17A45AE8B6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0182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364824-19B6-448E-82B5-5EBA0DE3DC29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 smtClean="0">
              <a:solidFill>
                <a:prstClr val="black"/>
              </a:solidFill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>
              <a:latin typeface="Helvetica 65 Medium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935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0BD554-BD7E-4943-A37F-0C0EF73F2870}" type="slidenum">
              <a:rPr lang="en-US" smtClean="0"/>
              <a:pPr/>
              <a:t>2</a:t>
            </a:fld>
            <a:endParaRPr lang="en-US" dirty="0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>
              <a:latin typeface="Helvetica 65 Medium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52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5DB49-244C-4016-9CFF-C17A45AE8B60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194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5DB49-244C-4016-9CFF-C17A45AE8B60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194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5DB49-244C-4016-9CFF-C17A45AE8B60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194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0BD554-BD7E-4943-A37F-0C0EF73F2870}" type="slidenum">
              <a:rPr lang="en-US" smtClean="0"/>
              <a:pPr/>
              <a:t>6</a:t>
            </a:fld>
            <a:endParaRPr lang="en-US" dirty="0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>
              <a:latin typeface="Helvetica 65 Medium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12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0BD554-BD7E-4943-A37F-0C0EF73F2870}" type="slidenum">
              <a:rPr lang="en-US" smtClean="0"/>
              <a:pPr/>
              <a:t>7</a:t>
            </a:fld>
            <a:endParaRPr lang="en-US" dirty="0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>
              <a:latin typeface="Helvetica 65 Medium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12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0BD554-BD7E-4943-A37F-0C0EF73F2870}" type="slidenum">
              <a:rPr lang="en-US" smtClean="0"/>
              <a:pPr/>
              <a:t>8</a:t>
            </a:fld>
            <a:endParaRPr lang="en-US" dirty="0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>
              <a:latin typeface="Helvetica 65 Medium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12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0BD554-BD7E-4943-A37F-0C0EF73F2870}" type="slidenum">
              <a:rPr lang="en-US" smtClean="0"/>
              <a:pPr/>
              <a:t>12</a:t>
            </a:fld>
            <a:endParaRPr lang="en-US" dirty="0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>
              <a:latin typeface="Helvetica 65 Medium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028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0BD554-BD7E-4943-A37F-0C0EF73F2870}" type="slidenum">
              <a:rPr lang="en-US" smtClean="0"/>
              <a:pPr/>
              <a:t>19</a:t>
            </a:fld>
            <a:endParaRPr lang="en-US" dirty="0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>
              <a:latin typeface="Helvetica 65 Medium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0287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0BD554-BD7E-4943-A37F-0C0EF73F2870}" type="slidenum">
              <a:rPr lang="en-US" smtClean="0"/>
              <a:pPr/>
              <a:t>22</a:t>
            </a:fld>
            <a:endParaRPr lang="en-US" dirty="0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>
              <a:latin typeface="Helvetica 65 Medium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122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0BD554-BD7E-4943-A37F-0C0EF73F2870}" type="slidenum">
              <a:rPr lang="en-US" smtClean="0"/>
              <a:pPr/>
              <a:t>23</a:t>
            </a:fld>
            <a:endParaRPr lang="en-US" dirty="0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>
              <a:latin typeface="Helvetica 65 Medium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12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000" y="2628508"/>
            <a:ext cx="2628000" cy="4229631"/>
          </a:xfrm>
          <a:prstGeom prst="rect">
            <a:avLst/>
          </a:prstGeom>
        </p:spPr>
      </p:pic>
      <p:pic>
        <p:nvPicPr>
          <p:cNvPr id="36" name="Imag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08"/>
            <a:ext cx="2628000" cy="4229631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1368000" y="2480400"/>
            <a:ext cx="6300000" cy="1267200"/>
          </a:xfrm>
          <a:prstGeom prst="rect">
            <a:avLst/>
          </a:prstGeom>
        </p:spPr>
        <p:txBody>
          <a:bodyPr lIns="90000" rIns="90000" anchor="b">
            <a:spAutoFit/>
          </a:bodyPr>
          <a:lstStyle>
            <a:lvl1pPr>
              <a:lnSpc>
                <a:spcPts val="4500"/>
              </a:lnSpc>
              <a:defRPr sz="4500" cap="all" baseline="0">
                <a:solidFill>
                  <a:schemeClr val="bg1"/>
                </a:solidFill>
              </a:defRPr>
            </a:lvl1pPr>
          </a:lstStyle>
          <a:p>
            <a:r>
              <a:rPr kumimoji="0" lang="en-US" dirty="0" smtClean="0"/>
              <a:t>Click to edit Presentation title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 hasCustomPrompt="1"/>
          </p:nvPr>
        </p:nvSpPr>
        <p:spPr>
          <a:xfrm>
            <a:off x="1368000" y="3805200"/>
            <a:ext cx="6300000" cy="352800"/>
          </a:xfrm>
        </p:spPr>
        <p:txBody>
          <a:bodyPr lIns="90000" rIns="90000">
            <a:spAutoFit/>
          </a:bodyPr>
          <a:lstStyle>
            <a:lvl1pPr marL="0" indent="0" algn="l">
              <a:lnSpc>
                <a:spcPts val="2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dirty="0" smtClean="0"/>
              <a:t>Click to </a:t>
            </a:r>
            <a:r>
              <a:rPr kumimoji="0" lang="fr-FR" dirty="0" err="1" smtClean="0"/>
              <a:t>edit</a:t>
            </a:r>
            <a:r>
              <a:rPr kumimoji="0" lang="fr-FR" dirty="0" smtClean="0"/>
              <a:t> </a:t>
            </a:r>
            <a:r>
              <a:rPr kumimoji="0" lang="fr-FR" dirty="0" err="1" smtClean="0"/>
              <a:t>Subtitle</a:t>
            </a:r>
            <a:endParaRPr kumimoji="0" lang="en-US" dirty="0"/>
          </a:p>
        </p:txBody>
      </p:sp>
      <p:pic>
        <p:nvPicPr>
          <p:cNvPr id="37" name="Image 1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1200" y="432000"/>
            <a:ext cx="692307" cy="1440000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403200" y="6411600"/>
            <a:ext cx="90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baseline="0">
                <a:solidFill>
                  <a:schemeClr val="bg1"/>
                </a:solidFill>
                <a:latin typeface="Arial"/>
              </a:defRPr>
            </a:lvl1pPr>
          </a:lstStyle>
          <a:p>
            <a:fld id="{768535E4-3955-413F-9D3C-D9DDE1963FF9}" type="datetime1">
              <a:rPr lang="en-GB" smtClean="0"/>
              <a:t>07/06/2017</a:t>
            </a:fld>
            <a:endParaRPr lang="en-GB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8000" y="6411600"/>
            <a:ext cx="468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kern="1200" baseline="0">
                <a:solidFill>
                  <a:schemeClr val="bg1"/>
                </a:solidFill>
                <a:latin typeface="Arial"/>
              </a:defRPr>
            </a:lvl1pPr>
          </a:lstStyle>
          <a:p>
            <a:endParaRPr lang="en-GB" dirty="0"/>
          </a:p>
        </p:txBody>
      </p:sp>
      <p:pic>
        <p:nvPicPr>
          <p:cNvPr id="10" name="Imag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000" y="6055200"/>
            <a:ext cx="1742400" cy="5788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eaLnBrk="1" latinLnBrk="0" hangingPunct="1">
              <a:defRPr/>
            </a:lvl1pPr>
            <a:lvl2pPr eaLnBrk="1" latinLnBrk="0" hangingPunct="1">
              <a:defRPr/>
            </a:lvl2pPr>
            <a:lvl3pPr eaLnBrk="1" latinLnBrk="0" hangingPunct="1">
              <a:defRPr/>
            </a:lvl3pPr>
            <a:lvl4pPr eaLnBrk="1" latinLnBrk="0" hangingPunct="1">
              <a:defRPr/>
            </a:lvl4pPr>
            <a:lvl5pPr eaLnBrk="1" latinLnBrk="0" hangingPunct="1">
              <a:defRPr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403200" y="6411600"/>
            <a:ext cx="90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baseline="0">
                <a:solidFill>
                  <a:srgbClr val="727272"/>
                </a:solidFill>
                <a:latin typeface="Arial"/>
              </a:defRPr>
            </a:lvl1pPr>
          </a:lstStyle>
          <a:p>
            <a:fld id="{998C901B-E87E-45FE-B420-65379E6BC032}" type="datetime1">
              <a:rPr lang="en-GB" smtClean="0"/>
              <a:t>07/06/2017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8000" y="6411600"/>
            <a:ext cx="468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kern="1200" baseline="0">
                <a:solidFill>
                  <a:srgbClr val="727272"/>
                </a:solidFill>
                <a:latin typeface="Arial"/>
              </a:defRPr>
            </a:lvl1pPr>
          </a:lstStyle>
          <a:p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0000" y="6411600"/>
            <a:ext cx="342000" cy="244800"/>
          </a:xfrm>
          <a:prstGeom prst="rect">
            <a:avLst/>
          </a:prstGeom>
        </p:spPr>
        <p:txBody>
          <a:bodyPr vert="horz" wrap="none" lIns="91440" tIns="45720" rIns="91440" bIns="45720" rtlCol="0" anchor="t" anchorCtr="0"/>
          <a:lstStyle>
            <a:lvl1pPr algn="r">
              <a:defRPr sz="1000" baseline="0">
                <a:solidFill>
                  <a:schemeClr val="bg1"/>
                </a:solidFill>
                <a:latin typeface="Arial"/>
              </a:defRPr>
            </a:lvl1pPr>
          </a:lstStyle>
          <a:p>
            <a:fld id="{FCE284C4-5ED1-4D6C-B7CC-2049C3062C5E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080000" y="237600"/>
            <a:ext cx="7416000" cy="102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 smtClean="0"/>
              <a:t>Click to edit Slide title</a:t>
            </a:r>
            <a:br>
              <a:rPr lang="en-US" dirty="0" smtClean="0"/>
            </a:br>
            <a:r>
              <a:rPr lang="en-US" dirty="0" smtClean="0"/>
              <a:t>Slide title can be extended to two lines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193600" y="5328000"/>
            <a:ext cx="950407" cy="15300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00" y="468000"/>
            <a:ext cx="692308" cy="1440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260000" y="2928144"/>
            <a:ext cx="6624000" cy="1041311"/>
          </a:xfrm>
        </p:spPr>
        <p:txBody>
          <a:bodyPr anchor="ctr" anchorCtr="0">
            <a:spAutoFit/>
          </a:bodyPr>
          <a:lstStyle>
            <a:lvl1pPr algn="ctr">
              <a:lnSpc>
                <a:spcPts val="3700"/>
              </a:lnSpc>
              <a:defRPr sz="3700" b="0" i="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Section Header title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403200" y="6411600"/>
            <a:ext cx="90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baseline="0">
                <a:solidFill>
                  <a:schemeClr val="bg1"/>
                </a:solidFill>
                <a:latin typeface="Arial"/>
              </a:defRPr>
            </a:lvl1pPr>
          </a:lstStyle>
          <a:p>
            <a:fld id="{A2B785B9-06B0-42D9-9A9B-49D01274C45E}" type="datetime1">
              <a:rPr lang="en-GB" smtClean="0"/>
              <a:t>07/06/2017</a:t>
            </a:fld>
            <a:endParaRPr lang="en-GB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8000" y="6411600"/>
            <a:ext cx="468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kern="1200" baseline="0">
                <a:solidFill>
                  <a:schemeClr val="bg1"/>
                </a:solidFill>
                <a:latin typeface="Arial"/>
              </a:defRPr>
            </a:lvl1pPr>
          </a:lstStyle>
          <a:p>
            <a:endParaRPr lang="en-GB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0000" y="6411600"/>
            <a:ext cx="342000" cy="244800"/>
          </a:xfrm>
          <a:prstGeom prst="rect">
            <a:avLst/>
          </a:prstGeom>
        </p:spPr>
        <p:txBody>
          <a:bodyPr vert="horz" wrap="none" lIns="91440" tIns="45720" rIns="91440" bIns="45720" rtlCol="0" anchor="t" anchorCtr="0"/>
          <a:lstStyle>
            <a:lvl1pPr algn="r">
              <a:defRPr sz="1000" baseline="0">
                <a:solidFill>
                  <a:schemeClr val="tx2"/>
                </a:solidFill>
                <a:latin typeface="Arial"/>
              </a:defRPr>
            </a:lvl1pPr>
          </a:lstStyle>
          <a:p>
            <a:fld id="{FCE284C4-5ED1-4D6C-B7CC-2049C3062C5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2FEDD-5D26-4597-93F8-43A13583B74D}" type="datetime1">
              <a:rPr lang="en-GB" smtClean="0"/>
              <a:t>07/06/2017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284C4-5ED1-4D6C-B7CC-2049C3062C5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363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000" y="2628508"/>
            <a:ext cx="2628000" cy="4229631"/>
          </a:xfrm>
          <a:prstGeom prst="rect">
            <a:avLst/>
          </a:prstGeom>
        </p:spPr>
      </p:pic>
      <p:pic>
        <p:nvPicPr>
          <p:cNvPr id="36" name="Imag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08"/>
            <a:ext cx="2628000" cy="4229631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1368000" y="2480400"/>
            <a:ext cx="6300000" cy="1267200"/>
          </a:xfrm>
          <a:prstGeom prst="rect">
            <a:avLst/>
          </a:prstGeom>
        </p:spPr>
        <p:txBody>
          <a:bodyPr lIns="90000" rIns="90000" anchor="b">
            <a:spAutoFit/>
          </a:bodyPr>
          <a:lstStyle>
            <a:lvl1pPr>
              <a:lnSpc>
                <a:spcPts val="4500"/>
              </a:lnSpc>
              <a:defRPr sz="4500" cap="all" baseline="0">
                <a:solidFill>
                  <a:schemeClr val="bg1"/>
                </a:solidFill>
              </a:defRPr>
            </a:lvl1pPr>
          </a:lstStyle>
          <a:p>
            <a:r>
              <a:rPr kumimoji="0" lang="en-US" dirty="0" smtClean="0"/>
              <a:t>Click to edit Presentation title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 hasCustomPrompt="1"/>
          </p:nvPr>
        </p:nvSpPr>
        <p:spPr>
          <a:xfrm>
            <a:off x="1368000" y="3805200"/>
            <a:ext cx="6300000" cy="352800"/>
          </a:xfrm>
        </p:spPr>
        <p:txBody>
          <a:bodyPr lIns="90000" rIns="90000">
            <a:spAutoFit/>
          </a:bodyPr>
          <a:lstStyle>
            <a:lvl1pPr marL="0" indent="0" algn="l">
              <a:lnSpc>
                <a:spcPts val="2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dirty="0" smtClean="0"/>
              <a:t>Click to </a:t>
            </a:r>
            <a:r>
              <a:rPr kumimoji="0" lang="fr-FR" dirty="0" err="1" smtClean="0"/>
              <a:t>edit</a:t>
            </a:r>
            <a:r>
              <a:rPr kumimoji="0" lang="fr-FR" dirty="0" smtClean="0"/>
              <a:t> </a:t>
            </a:r>
            <a:r>
              <a:rPr kumimoji="0" lang="fr-FR" dirty="0" err="1" smtClean="0"/>
              <a:t>Subtitle</a:t>
            </a:r>
            <a:endParaRPr kumimoji="0" lang="en-US" dirty="0"/>
          </a:p>
        </p:txBody>
      </p:sp>
      <p:pic>
        <p:nvPicPr>
          <p:cNvPr id="37" name="Image 1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1200" y="432000"/>
            <a:ext cx="692307" cy="1440000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403200" y="6411600"/>
            <a:ext cx="90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baseline="0">
                <a:solidFill>
                  <a:schemeClr val="bg1"/>
                </a:solidFill>
                <a:latin typeface="Arial"/>
              </a:defRPr>
            </a:lvl1pPr>
          </a:lstStyle>
          <a:p>
            <a:fld id="{768535E4-3955-413F-9D3C-D9DDE1963FF9}" type="datetime1">
              <a:rPr lang="en-GB" smtClean="0">
                <a:solidFill>
                  <a:prstClr val="white"/>
                </a:solidFill>
              </a:rPr>
              <a:pPr/>
              <a:t>07/06/2017</a:t>
            </a:fld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8000" y="6411600"/>
            <a:ext cx="468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kern="1200" baseline="0">
                <a:solidFill>
                  <a:schemeClr val="bg1"/>
                </a:solidFill>
                <a:latin typeface="Arial"/>
              </a:defRPr>
            </a:lvl1pPr>
          </a:lstStyle>
          <a:p>
            <a:endParaRPr lang="en-GB" dirty="0">
              <a:solidFill>
                <a:prstClr val="white"/>
              </a:solidFill>
            </a:endParaRPr>
          </a:p>
        </p:txBody>
      </p:sp>
      <p:pic>
        <p:nvPicPr>
          <p:cNvPr id="10" name="Imag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000" y="6055200"/>
            <a:ext cx="1742400" cy="57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463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eaLnBrk="1" latinLnBrk="0" hangingPunct="1">
              <a:defRPr/>
            </a:lvl1pPr>
            <a:lvl2pPr eaLnBrk="1" latinLnBrk="0" hangingPunct="1">
              <a:defRPr/>
            </a:lvl2pPr>
            <a:lvl3pPr eaLnBrk="1" latinLnBrk="0" hangingPunct="1">
              <a:defRPr/>
            </a:lvl3pPr>
            <a:lvl4pPr eaLnBrk="1" latinLnBrk="0" hangingPunct="1">
              <a:defRPr/>
            </a:lvl4pPr>
            <a:lvl5pPr eaLnBrk="1" latinLnBrk="0" hangingPunct="1">
              <a:defRPr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403200" y="6411600"/>
            <a:ext cx="90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baseline="0">
                <a:solidFill>
                  <a:srgbClr val="727272"/>
                </a:solidFill>
                <a:latin typeface="Arial"/>
              </a:defRPr>
            </a:lvl1pPr>
          </a:lstStyle>
          <a:p>
            <a:fld id="{998C901B-E87E-45FE-B420-65379E6BC032}" type="datetime1">
              <a:rPr lang="en-GB" smtClean="0"/>
              <a:pPr/>
              <a:t>07/06/2017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8000" y="6411600"/>
            <a:ext cx="468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kern="1200" baseline="0">
                <a:solidFill>
                  <a:srgbClr val="727272"/>
                </a:solidFill>
                <a:latin typeface="Arial"/>
              </a:defRPr>
            </a:lvl1pPr>
          </a:lstStyle>
          <a:p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0000" y="6411600"/>
            <a:ext cx="342000" cy="244800"/>
          </a:xfrm>
          <a:prstGeom prst="rect">
            <a:avLst/>
          </a:prstGeom>
        </p:spPr>
        <p:txBody>
          <a:bodyPr vert="horz" wrap="none" lIns="91440" tIns="45720" rIns="91440" bIns="45720" rtlCol="0" anchor="t" anchorCtr="0"/>
          <a:lstStyle>
            <a:lvl1pPr algn="r">
              <a:defRPr sz="1000" baseline="0">
                <a:solidFill>
                  <a:schemeClr val="bg1"/>
                </a:solidFill>
                <a:latin typeface="Arial"/>
              </a:defRPr>
            </a:lvl1pPr>
          </a:lstStyle>
          <a:p>
            <a:fld id="{FCE284C4-5ED1-4D6C-B7CC-2049C3062C5E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080000" y="237600"/>
            <a:ext cx="7416000" cy="102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 smtClean="0"/>
              <a:t>Click to edit Slide title</a:t>
            </a:r>
            <a:br>
              <a:rPr lang="en-US" dirty="0" smtClean="0"/>
            </a:br>
            <a:r>
              <a:rPr lang="en-US" dirty="0" smtClean="0"/>
              <a:t>Slide title can be extended to two lines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075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193600" y="5328000"/>
            <a:ext cx="950407" cy="15300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00" y="468000"/>
            <a:ext cx="692308" cy="1440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260000" y="2928144"/>
            <a:ext cx="6624000" cy="1041311"/>
          </a:xfrm>
        </p:spPr>
        <p:txBody>
          <a:bodyPr anchor="ctr" anchorCtr="0">
            <a:spAutoFit/>
          </a:bodyPr>
          <a:lstStyle>
            <a:lvl1pPr algn="ctr">
              <a:lnSpc>
                <a:spcPts val="3700"/>
              </a:lnSpc>
              <a:defRPr sz="3700" b="0" i="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Section Header title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403200" y="6411600"/>
            <a:ext cx="90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baseline="0">
                <a:solidFill>
                  <a:schemeClr val="bg1"/>
                </a:solidFill>
                <a:latin typeface="Arial"/>
              </a:defRPr>
            </a:lvl1pPr>
          </a:lstStyle>
          <a:p>
            <a:fld id="{A2B785B9-06B0-42D9-9A9B-49D01274C45E}" type="datetime1">
              <a:rPr lang="en-GB" smtClean="0">
                <a:solidFill>
                  <a:prstClr val="white"/>
                </a:solidFill>
              </a:rPr>
              <a:pPr/>
              <a:t>07/06/2017</a:t>
            </a:fld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8000" y="6411600"/>
            <a:ext cx="468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kern="1200" baseline="0">
                <a:solidFill>
                  <a:schemeClr val="bg1"/>
                </a:solidFill>
                <a:latin typeface="Arial"/>
              </a:defRPr>
            </a:lvl1pPr>
          </a:lstStyle>
          <a:p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0000" y="6411600"/>
            <a:ext cx="342000" cy="244800"/>
          </a:xfrm>
          <a:prstGeom prst="rect">
            <a:avLst/>
          </a:prstGeom>
        </p:spPr>
        <p:txBody>
          <a:bodyPr vert="horz" wrap="none" lIns="91440" tIns="45720" rIns="91440" bIns="45720" rtlCol="0" anchor="t" anchorCtr="0"/>
          <a:lstStyle>
            <a:lvl1pPr algn="r">
              <a:defRPr sz="1000" baseline="0">
                <a:solidFill>
                  <a:schemeClr val="tx2"/>
                </a:solidFill>
                <a:latin typeface="Arial"/>
              </a:defRPr>
            </a:lvl1pPr>
          </a:lstStyle>
          <a:p>
            <a:fld id="{FCE284C4-5ED1-4D6C-B7CC-2049C3062C5E}" type="slidenum">
              <a:rPr lang="en-GB" smtClean="0">
                <a:solidFill>
                  <a:srgbClr val="006299"/>
                </a:solidFill>
              </a:rPr>
              <a:pPr/>
              <a:t>‹#›</a:t>
            </a:fld>
            <a:endParaRPr lang="en-GB" dirty="0">
              <a:solidFill>
                <a:srgbClr val="0062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5752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2FEDD-5D26-4597-93F8-43A13583B74D}" type="datetime1">
              <a:rPr lang="en-GB" smtClean="0"/>
              <a:pPr/>
              <a:t>07/06/2017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284C4-5ED1-4D6C-B7CC-2049C3062C5E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68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eaLnBrk="1" latinLnBrk="0" hangingPunct="1">
              <a:defRPr/>
            </a:lvl1pPr>
            <a:lvl2pPr eaLnBrk="1" latinLnBrk="0" hangingPunct="1">
              <a:defRPr/>
            </a:lvl2pPr>
            <a:lvl3pPr eaLnBrk="1" latinLnBrk="0" hangingPunct="1">
              <a:defRPr/>
            </a:lvl3pPr>
            <a:lvl4pPr eaLnBrk="1" latinLnBrk="0" hangingPunct="1">
              <a:defRPr/>
            </a:lvl4pPr>
            <a:lvl5pPr eaLnBrk="1" latinLnBrk="0" hangingPunct="1">
              <a:defRPr/>
            </a:lvl5pPr>
          </a:lstStyle>
          <a:p>
            <a:pPr lvl="0" eaLnBrk="1" latinLnBrk="0" hangingPunct="1"/>
            <a:r>
              <a:rPr lang="fr-FR" dirty="0" smtClean="0"/>
              <a:t>Cliquez pour modifier les styles du texte du masque</a:t>
            </a:r>
            <a:endParaRPr lang="en-US" dirty="0" smtClean="0"/>
          </a:p>
          <a:p>
            <a:pPr lvl="1" eaLnBrk="1" latinLnBrk="0" hangingPunct="1"/>
            <a:r>
              <a:rPr lang="en-US" dirty="0" err="1" smtClean="0"/>
              <a:t>Deuxième</a:t>
            </a:r>
            <a:r>
              <a:rPr lang="en-US" dirty="0" smtClean="0"/>
              <a:t> </a:t>
            </a:r>
            <a:r>
              <a:rPr lang="en-US" dirty="0" err="1" smtClean="0"/>
              <a:t>niveau</a:t>
            </a:r>
            <a:endParaRPr lang="en-US" dirty="0" smtClean="0"/>
          </a:p>
          <a:p>
            <a:pPr lvl="2" eaLnBrk="1" latinLnBrk="0" hangingPunct="1"/>
            <a:r>
              <a:rPr lang="en-US" dirty="0" err="1" smtClean="0"/>
              <a:t>Troisième</a:t>
            </a:r>
            <a:r>
              <a:rPr lang="en-US" dirty="0" smtClean="0"/>
              <a:t> </a:t>
            </a:r>
            <a:r>
              <a:rPr lang="en-US" dirty="0" err="1" smtClean="0"/>
              <a:t>niveau</a:t>
            </a:r>
            <a:endParaRPr lang="en-US" dirty="0" smtClean="0"/>
          </a:p>
          <a:p>
            <a:pPr lvl="3" eaLnBrk="1" latinLnBrk="0" hangingPunct="1"/>
            <a:r>
              <a:rPr lang="en-US" dirty="0" err="1" smtClean="0"/>
              <a:t>Quatrième</a:t>
            </a:r>
            <a:r>
              <a:rPr lang="en-US" dirty="0" smtClean="0"/>
              <a:t> </a:t>
            </a:r>
            <a:r>
              <a:rPr lang="en-US" dirty="0" err="1" smtClean="0"/>
              <a:t>niveau</a:t>
            </a:r>
            <a:endParaRPr lang="en-US" dirty="0" smtClean="0"/>
          </a:p>
          <a:p>
            <a:pPr lvl="4" eaLnBrk="1" latinLnBrk="0" hangingPunct="1"/>
            <a:r>
              <a:rPr lang="en-US" dirty="0" err="1" smtClean="0"/>
              <a:t>Cinquième</a:t>
            </a:r>
            <a:r>
              <a:rPr lang="en-US" dirty="0" smtClean="0"/>
              <a:t> </a:t>
            </a:r>
            <a:r>
              <a:rPr lang="en-US" dirty="0" err="1" smtClean="0"/>
              <a:t>niveau</a:t>
            </a:r>
            <a:endParaRPr kumimoji="0"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403200" y="6411600"/>
            <a:ext cx="90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baseline="0">
                <a:solidFill>
                  <a:srgbClr val="727272"/>
                </a:solidFill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8000" y="6411600"/>
            <a:ext cx="468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kern="1200" baseline="0">
                <a:solidFill>
                  <a:srgbClr val="727272"/>
                </a:solidFill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0000" y="6411600"/>
            <a:ext cx="342000" cy="244800"/>
          </a:xfrm>
          <a:prstGeom prst="rect">
            <a:avLst/>
          </a:prstGeom>
        </p:spPr>
        <p:txBody>
          <a:bodyPr vert="horz" wrap="none" lIns="91440" tIns="45720" rIns="91440" bIns="45720" rtlCol="0" anchor="t" anchorCtr="0"/>
          <a:lstStyle>
            <a:lvl1pPr algn="r">
              <a:defRPr sz="1000" baseline="0">
                <a:solidFill>
                  <a:schemeClr val="bg1"/>
                </a:solidFill>
                <a:latin typeface="Arial"/>
              </a:defRPr>
            </a:lvl1pPr>
          </a:lstStyle>
          <a:p>
            <a:fld id="{58A3AF47-B4FA-4D1F-8A11-2DCF56C6D06A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080000" y="237600"/>
            <a:ext cx="7416000" cy="102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 smtClean="0"/>
              <a:t>Cliquez pour modifier le titre</a:t>
            </a:r>
            <a:br>
              <a:rPr lang="fr-FR" dirty="0" smtClean="0"/>
            </a:br>
            <a:r>
              <a:rPr lang="fr-FR" dirty="0" smtClean="0"/>
              <a:t>Le titre peut-être étendu sur deux lignes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990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600" y="5328184"/>
            <a:ext cx="950407" cy="1529631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 bwMode="auto">
          <a:xfrm>
            <a:off x="504000" y="1306800"/>
            <a:ext cx="8154000" cy="0"/>
          </a:xfrm>
          <a:prstGeom prst="rect">
            <a:avLst/>
          </a:prstGeom>
          <a:noFill/>
          <a:ln w="6350" cap="flat" cmpd="sng" algn="ctr">
            <a:solidFill>
              <a:srgbClr val="72727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Helvetica 65 Medium" pitchFamily="34" charset="0"/>
            </a:endParaRPr>
          </a:p>
        </p:txBody>
      </p:sp>
      <p:pic>
        <p:nvPicPr>
          <p:cNvPr id="24" name="Image 7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00400" y="288000"/>
            <a:ext cx="458653" cy="954000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68000" y="1602000"/>
            <a:ext cx="8218800" cy="4525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  <p:sp>
        <p:nvSpPr>
          <p:cNvPr id="25" name="Title Placeholder 1"/>
          <p:cNvSpPr>
            <a:spLocks noGrp="1"/>
          </p:cNvSpPr>
          <p:nvPr>
            <p:ph type="title"/>
          </p:nvPr>
        </p:nvSpPr>
        <p:spPr>
          <a:xfrm>
            <a:off x="1080000" y="237600"/>
            <a:ext cx="7416000" cy="102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Slide title</a:t>
            </a:r>
            <a:br>
              <a:rPr lang="en-US" dirty="0" smtClean="0"/>
            </a:br>
            <a:r>
              <a:rPr lang="en-US" dirty="0" smtClean="0"/>
              <a:t>Slide title can be extended to two lines</a:t>
            </a:r>
            <a:endParaRPr lang="en-US" dirty="0"/>
          </a:p>
        </p:txBody>
      </p:sp>
      <p:sp>
        <p:nvSpPr>
          <p:cNvPr id="26" name="Date Placeholder 3"/>
          <p:cNvSpPr>
            <a:spLocks noGrp="1"/>
          </p:cNvSpPr>
          <p:nvPr>
            <p:ph type="dt" sz="half" idx="2"/>
          </p:nvPr>
        </p:nvSpPr>
        <p:spPr>
          <a:xfrm>
            <a:off x="403200" y="6411600"/>
            <a:ext cx="90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baseline="0">
                <a:solidFill>
                  <a:srgbClr val="727272"/>
                </a:solidFill>
                <a:latin typeface="Arial"/>
              </a:defRPr>
            </a:lvl1pPr>
          </a:lstStyle>
          <a:p>
            <a:fld id="{B8370864-E9EA-44BF-8598-F5589D64693F}" type="datetime1">
              <a:rPr lang="en-GB" smtClean="0"/>
              <a:t>07/06/2017</a:t>
            </a:fld>
            <a:endParaRPr lang="en-GB" dirty="0"/>
          </a:p>
        </p:txBody>
      </p:sp>
      <p:sp>
        <p:nvSpPr>
          <p:cNvPr id="2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8000" y="6411600"/>
            <a:ext cx="468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kern="1200" baseline="0">
                <a:solidFill>
                  <a:srgbClr val="727272"/>
                </a:solidFill>
                <a:latin typeface="Arial"/>
              </a:defRPr>
            </a:lvl1pPr>
          </a:lstStyle>
          <a:p>
            <a:endParaRPr lang="en-GB" dirty="0"/>
          </a:p>
        </p:txBody>
      </p:sp>
      <p:sp>
        <p:nvSpPr>
          <p:cNvPr id="4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0000" y="6411600"/>
            <a:ext cx="342000" cy="244800"/>
          </a:xfrm>
          <a:prstGeom prst="rect">
            <a:avLst/>
          </a:prstGeom>
        </p:spPr>
        <p:txBody>
          <a:bodyPr vert="horz" wrap="none" lIns="91440" tIns="45720" rIns="91440" bIns="45720" rtlCol="0" anchor="t" anchorCtr="0"/>
          <a:lstStyle>
            <a:lvl1pPr algn="r">
              <a:defRPr sz="1000" baseline="0">
                <a:solidFill>
                  <a:schemeClr val="bg1"/>
                </a:solidFill>
                <a:latin typeface="Arial"/>
              </a:defRPr>
            </a:lvl1pPr>
          </a:lstStyle>
          <a:p>
            <a:fld id="{FCE284C4-5ED1-4D6C-B7CC-2049C3062C5E}" type="slidenum">
              <a:rPr lang="en-GB" smtClean="0"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000" indent="-342000" algn="l" rtl="0" eaLnBrk="1" latinLnBrk="0" hangingPunct="1">
        <a:spcBef>
          <a:spcPts val="768"/>
        </a:spcBef>
        <a:buClr>
          <a:schemeClr val="tx1"/>
        </a:buClr>
        <a:buFont typeface="Arial" pitchFamily="34" charset="0"/>
        <a:buChar char="•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600" indent="-284400" algn="l" rtl="0" eaLnBrk="1" latinLnBrk="0" hangingPunct="1">
        <a:spcBef>
          <a:spcPts val="672"/>
        </a:spcBef>
        <a:buClr>
          <a:schemeClr val="tx1"/>
        </a:buClr>
        <a:buFont typeface="Arial" pitchFamily="34" charset="0"/>
        <a:buChar char="–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rtl="0" eaLnBrk="1" latinLnBrk="0" hangingPunct="1">
        <a:spcBef>
          <a:spcPts val="576"/>
        </a:spcBef>
        <a:buClr>
          <a:schemeClr val="tx1"/>
        </a:buClr>
        <a:buFont typeface="Arial" pitchFamily="34" charset="0"/>
        <a:buChar char="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rtl="0" eaLnBrk="1" latinLnBrk="0" hangingPunct="1">
        <a:spcBef>
          <a:spcPts val="480"/>
        </a:spcBef>
        <a:buClr>
          <a:schemeClr val="tx1"/>
        </a:buClr>
        <a:buFont typeface="Arial" pitchFamily="34" charset="0"/>
        <a:buChar char="–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9200" indent="-230400" algn="l" rtl="0" eaLnBrk="1" latinLnBrk="0" hangingPunct="1">
        <a:spcBef>
          <a:spcPts val="480"/>
        </a:spcBef>
        <a:buClr>
          <a:schemeClr val="tx1"/>
        </a:buClr>
        <a:buFont typeface="Arial" pitchFamily="34" charset="0"/>
        <a:buChar char="»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600" y="5328184"/>
            <a:ext cx="950407" cy="1529631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 bwMode="auto">
          <a:xfrm>
            <a:off x="504000" y="1306800"/>
            <a:ext cx="8154000" cy="0"/>
          </a:xfrm>
          <a:prstGeom prst="rect">
            <a:avLst/>
          </a:prstGeom>
          <a:noFill/>
          <a:ln w="6350" cap="flat" cmpd="sng" algn="ctr">
            <a:solidFill>
              <a:srgbClr val="72727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2000" dirty="0" smtClean="0">
              <a:solidFill>
                <a:srgbClr val="727272"/>
              </a:solidFill>
              <a:latin typeface="Helvetica 65 Medium" pitchFamily="34" charset="0"/>
            </a:endParaRPr>
          </a:p>
        </p:txBody>
      </p:sp>
      <p:pic>
        <p:nvPicPr>
          <p:cNvPr id="24" name="Image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00400" y="288000"/>
            <a:ext cx="458653" cy="954000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68000" y="1602000"/>
            <a:ext cx="8218800" cy="4525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  <p:sp>
        <p:nvSpPr>
          <p:cNvPr id="25" name="Title Placeholder 1"/>
          <p:cNvSpPr>
            <a:spLocks noGrp="1"/>
          </p:cNvSpPr>
          <p:nvPr>
            <p:ph type="title"/>
          </p:nvPr>
        </p:nvSpPr>
        <p:spPr>
          <a:xfrm>
            <a:off x="1080000" y="237600"/>
            <a:ext cx="7416000" cy="102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Slide title</a:t>
            </a:r>
            <a:br>
              <a:rPr lang="en-US" dirty="0" smtClean="0"/>
            </a:br>
            <a:r>
              <a:rPr lang="en-US" dirty="0" smtClean="0"/>
              <a:t>Slide title can be extended to two lines</a:t>
            </a:r>
            <a:endParaRPr lang="en-US" dirty="0"/>
          </a:p>
        </p:txBody>
      </p:sp>
      <p:sp>
        <p:nvSpPr>
          <p:cNvPr id="26" name="Date Placeholder 3"/>
          <p:cNvSpPr>
            <a:spLocks noGrp="1"/>
          </p:cNvSpPr>
          <p:nvPr>
            <p:ph type="dt" sz="half" idx="2"/>
          </p:nvPr>
        </p:nvSpPr>
        <p:spPr>
          <a:xfrm>
            <a:off x="403200" y="6411600"/>
            <a:ext cx="90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baseline="0">
                <a:solidFill>
                  <a:srgbClr val="727272"/>
                </a:solidFill>
                <a:latin typeface="Arial"/>
              </a:defRPr>
            </a:lvl1pPr>
          </a:lstStyle>
          <a:p>
            <a:fld id="{B8370864-E9EA-44BF-8598-F5589D64693F}" type="datetime1">
              <a:rPr lang="en-GB" smtClean="0"/>
              <a:pPr/>
              <a:t>07/06/2017</a:t>
            </a:fld>
            <a:endParaRPr lang="en-GB" dirty="0"/>
          </a:p>
        </p:txBody>
      </p:sp>
      <p:sp>
        <p:nvSpPr>
          <p:cNvPr id="2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8000" y="6411600"/>
            <a:ext cx="468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kern="1200" baseline="0">
                <a:solidFill>
                  <a:srgbClr val="727272"/>
                </a:solidFill>
                <a:latin typeface="Arial"/>
              </a:defRPr>
            </a:lvl1pPr>
          </a:lstStyle>
          <a:p>
            <a:endParaRPr lang="en-GB" dirty="0"/>
          </a:p>
        </p:txBody>
      </p:sp>
      <p:sp>
        <p:nvSpPr>
          <p:cNvPr id="4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0000" y="6411600"/>
            <a:ext cx="342000" cy="244800"/>
          </a:xfrm>
          <a:prstGeom prst="rect">
            <a:avLst/>
          </a:prstGeom>
        </p:spPr>
        <p:txBody>
          <a:bodyPr vert="horz" wrap="none" lIns="91440" tIns="45720" rIns="91440" bIns="45720" rtlCol="0" anchor="t" anchorCtr="0"/>
          <a:lstStyle>
            <a:lvl1pPr algn="r">
              <a:defRPr sz="1000" baseline="0">
                <a:solidFill>
                  <a:schemeClr val="bg1"/>
                </a:solidFill>
                <a:latin typeface="Arial"/>
              </a:defRPr>
            </a:lvl1pPr>
          </a:lstStyle>
          <a:p>
            <a:fld id="{FCE284C4-5ED1-4D6C-B7CC-2049C3062C5E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918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000" indent="-342000" algn="l" rtl="0" eaLnBrk="1" latinLnBrk="0" hangingPunct="1">
        <a:spcBef>
          <a:spcPts val="768"/>
        </a:spcBef>
        <a:buClr>
          <a:schemeClr val="tx1"/>
        </a:buClr>
        <a:buFont typeface="Arial" pitchFamily="34" charset="0"/>
        <a:buChar char="•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600" indent="-284400" algn="l" rtl="0" eaLnBrk="1" latinLnBrk="0" hangingPunct="1">
        <a:spcBef>
          <a:spcPts val="672"/>
        </a:spcBef>
        <a:buClr>
          <a:schemeClr val="tx1"/>
        </a:buClr>
        <a:buFont typeface="Arial" pitchFamily="34" charset="0"/>
        <a:buChar char="–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rtl="0" eaLnBrk="1" latinLnBrk="0" hangingPunct="1">
        <a:spcBef>
          <a:spcPts val="576"/>
        </a:spcBef>
        <a:buClr>
          <a:schemeClr val="tx1"/>
        </a:buClr>
        <a:buFont typeface="Arial" pitchFamily="34" charset="0"/>
        <a:buChar char="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rtl="0" eaLnBrk="1" latinLnBrk="0" hangingPunct="1">
        <a:spcBef>
          <a:spcPts val="480"/>
        </a:spcBef>
        <a:buClr>
          <a:schemeClr val="tx1"/>
        </a:buClr>
        <a:buFont typeface="Arial" pitchFamily="34" charset="0"/>
        <a:buChar char="–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9200" indent="-230400" algn="l" rtl="0" eaLnBrk="1" latinLnBrk="0" hangingPunct="1">
        <a:spcBef>
          <a:spcPts val="480"/>
        </a:spcBef>
        <a:buClr>
          <a:schemeClr val="tx1"/>
        </a:buClr>
        <a:buFont typeface="Arial" pitchFamily="34" charset="0"/>
        <a:buChar char="»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5760" y="1052736"/>
            <a:ext cx="801952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400" b="1" dirty="0" smtClean="0">
                <a:solidFill>
                  <a:prstClr val="white"/>
                </a:solidFill>
                <a:latin typeface="Arial"/>
              </a:rPr>
              <a:t/>
            </a:r>
            <a:br>
              <a:rPr lang="en-GB" sz="3400" b="1" dirty="0" smtClean="0">
                <a:solidFill>
                  <a:prstClr val="white"/>
                </a:solidFill>
                <a:latin typeface="Arial"/>
              </a:rPr>
            </a:br>
            <a:r>
              <a:rPr lang="en-GB" sz="3600" b="1" dirty="0" smtClean="0">
                <a:solidFill>
                  <a:prstClr val="white"/>
                </a:solidFill>
                <a:latin typeface="Arial"/>
              </a:rPr>
              <a:t>OECD WIRTSCHAFTSAUSBLICK</a:t>
            </a:r>
            <a:r>
              <a:rPr lang="en-GB" sz="3400" b="1" dirty="0" smtClean="0">
                <a:solidFill>
                  <a:prstClr val="white"/>
                </a:solidFill>
                <a:latin typeface="Arial"/>
              </a:rPr>
              <a:t/>
            </a:r>
            <a:br>
              <a:rPr lang="en-GB" sz="3400" b="1" dirty="0" smtClean="0">
                <a:solidFill>
                  <a:prstClr val="white"/>
                </a:solidFill>
                <a:latin typeface="Arial"/>
              </a:rPr>
            </a:br>
            <a:endParaRPr lang="en-US" sz="3600" i="1" dirty="0" smtClean="0">
              <a:solidFill>
                <a:prstClr val="white"/>
              </a:solidFill>
              <a:latin typeface="Arial"/>
            </a:endParaRPr>
          </a:p>
          <a:p>
            <a:pPr algn="ctr"/>
            <a:r>
              <a:rPr lang="en-US" sz="4400" i="1" dirty="0" smtClean="0">
                <a:solidFill>
                  <a:prstClr val="white"/>
                </a:solidFill>
                <a:latin typeface="Arial"/>
              </a:rPr>
              <a:t>Besser, aber noch nicht gut genug</a:t>
            </a:r>
            <a:endParaRPr lang="en-US" sz="4400" i="1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5576" y="6169422"/>
            <a:ext cx="56166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solidFill>
                  <a:prstClr val="white"/>
                </a:solidFill>
                <a:latin typeface="Arial"/>
              </a:rPr>
              <a:t>www.oecd.org/economy/economicoutlook.htm</a:t>
            </a:r>
          </a:p>
          <a:p>
            <a:r>
              <a:rPr lang="en-GB" sz="1600" dirty="0" smtClean="0">
                <a:solidFill>
                  <a:prstClr val="white"/>
                </a:solidFill>
                <a:latin typeface="Arial"/>
              </a:rPr>
              <a:t>ECOSCOPE blog: oecdecoscope.wordpress.com</a:t>
            </a:r>
            <a:endParaRPr lang="en-GB" sz="160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8" name="Rectangle 5"/>
          <p:cNvSpPr txBox="1">
            <a:spLocks noChangeArrowheads="1"/>
          </p:cNvSpPr>
          <p:nvPr/>
        </p:nvSpPr>
        <p:spPr bwMode="auto">
          <a:xfrm>
            <a:off x="80554" y="2564904"/>
            <a:ext cx="8974666" cy="247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algn="ctr" eaLnBrk="0" hangingPunct="0">
              <a:defRPr/>
            </a:pPr>
            <a:r>
              <a:rPr lang="en-GB" sz="2800" b="1" dirty="0" smtClean="0">
                <a:solidFill>
                  <a:srgbClr val="898989"/>
                </a:solidFill>
                <a:latin typeface="+mn-lt"/>
                <a:cs typeface="+mn-cs"/>
              </a:rPr>
              <a:t> </a:t>
            </a:r>
            <a:r>
              <a:rPr lang="en-US" b="1" dirty="0" smtClean="0">
                <a:solidFill>
                  <a:schemeClr val="bg1"/>
                </a:solidFill>
                <a:latin typeface="+mj-lt"/>
                <a:cs typeface="+mn-cs"/>
              </a:rPr>
              <a:t/>
            </a:r>
            <a:br>
              <a:rPr lang="en-US" b="1" dirty="0" smtClean="0">
                <a:solidFill>
                  <a:schemeClr val="bg1"/>
                </a:solidFill>
                <a:latin typeface="+mj-lt"/>
                <a:cs typeface="+mn-cs"/>
              </a:rPr>
            </a:br>
            <a:r>
              <a:rPr lang="en-GB" b="1" dirty="0" smtClean="0">
                <a:solidFill>
                  <a:schemeClr val="bg1"/>
                </a:solidFill>
                <a:latin typeface="+mj-lt"/>
                <a:cs typeface="+mn-cs"/>
              </a:rPr>
              <a:t/>
            </a:r>
            <a:br>
              <a:rPr lang="en-GB" b="1" dirty="0" smtClean="0">
                <a:solidFill>
                  <a:schemeClr val="bg1"/>
                </a:solidFill>
                <a:latin typeface="+mj-lt"/>
                <a:cs typeface="+mn-cs"/>
              </a:rPr>
            </a:br>
            <a:endParaRPr lang="en-GB" b="1" dirty="0" smtClean="0">
              <a:solidFill>
                <a:schemeClr val="bg1"/>
              </a:solidFill>
              <a:latin typeface="+mj-lt"/>
              <a:cs typeface="+mn-cs"/>
            </a:endParaRPr>
          </a:p>
          <a:p>
            <a:pPr lvl="0" algn="ctr" eaLnBrk="0" hangingPunct="0">
              <a:defRPr/>
            </a:pPr>
            <a:r>
              <a:rPr lang="en-GB" b="1" dirty="0" smtClean="0">
                <a:solidFill>
                  <a:schemeClr val="bg1"/>
                </a:solidFill>
                <a:latin typeface="+mj-lt"/>
                <a:cs typeface="+mn-cs"/>
              </a:rPr>
              <a:t/>
            </a:r>
            <a:br>
              <a:rPr lang="en-GB" b="1" dirty="0" smtClean="0">
                <a:solidFill>
                  <a:schemeClr val="bg1"/>
                </a:solidFill>
                <a:latin typeface="+mj-lt"/>
                <a:cs typeface="+mn-cs"/>
              </a:rPr>
            </a:br>
            <a:endParaRPr lang="en-GB" sz="800" b="1" dirty="0" smtClean="0">
              <a:solidFill>
                <a:schemeClr val="tx2">
                  <a:lumMod val="40000"/>
                  <a:lumOff val="60000"/>
                </a:schemeClr>
              </a:solidFill>
              <a:latin typeface="+mj-lt"/>
              <a:cs typeface="+mn-cs"/>
            </a:endParaRPr>
          </a:p>
          <a:p>
            <a:pPr algn="ctr" eaLnBrk="0" hangingPunct="0">
              <a:spcBef>
                <a:spcPts val="0"/>
              </a:spcBef>
              <a:defRPr/>
            </a:pPr>
            <a:r>
              <a:rPr lang="en-GB" sz="26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+mn-cs"/>
              </a:rPr>
              <a:t>Catherine L. Mann</a:t>
            </a:r>
          </a:p>
          <a:p>
            <a:pPr algn="ctr" eaLnBrk="0" hangingPunct="0">
              <a:spcBef>
                <a:spcPts val="0"/>
              </a:spcBef>
              <a:defRPr/>
            </a:pPr>
            <a:r>
              <a:rPr lang="en-GB" sz="22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+mn-cs"/>
              </a:rPr>
              <a:t>OECD-Chef</a:t>
            </a:r>
            <a:r>
              <a:rPr lang="en-GB" sz="2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+mn-cs"/>
              </a:rPr>
              <a:t>ökonom</a:t>
            </a: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107188" y="5066925"/>
            <a:ext cx="8974666" cy="827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algn="ctr" eaLnBrk="0" hangingPunct="0">
              <a:defRPr/>
            </a:pPr>
            <a:r>
              <a:rPr lang="en-GB" sz="2800" b="1" dirty="0" smtClean="0">
                <a:solidFill>
                  <a:srgbClr val="898989"/>
                </a:solidFill>
                <a:latin typeface="+mn-lt"/>
                <a:cs typeface="+mn-cs"/>
              </a:rPr>
              <a:t> </a:t>
            </a:r>
            <a:r>
              <a:rPr lang="en-US" b="1" dirty="0" smtClean="0">
                <a:solidFill>
                  <a:schemeClr val="bg1"/>
                </a:solidFill>
                <a:latin typeface="+mj-lt"/>
                <a:cs typeface="+mn-cs"/>
              </a:rPr>
              <a:t>7. Juni 2017</a:t>
            </a:r>
            <a:br>
              <a:rPr lang="en-US" b="1" dirty="0" smtClean="0">
                <a:solidFill>
                  <a:schemeClr val="bg1"/>
                </a:solidFill>
                <a:latin typeface="+mj-lt"/>
                <a:cs typeface="+mn-cs"/>
              </a:rPr>
            </a:br>
            <a:r>
              <a:rPr lang="en-US" b="1" dirty="0" smtClean="0">
                <a:solidFill>
                  <a:schemeClr val="bg1"/>
                </a:solidFill>
                <a:latin typeface="+mj-lt"/>
                <a:cs typeface="+mn-cs"/>
              </a:rPr>
              <a:t>Paris</a:t>
            </a:r>
            <a:r>
              <a:rPr lang="en-GB" b="1" dirty="0" smtClean="0">
                <a:solidFill>
                  <a:schemeClr val="bg1"/>
                </a:solidFill>
                <a:latin typeface="+mj-lt"/>
                <a:cs typeface="+mn-cs"/>
              </a:rPr>
              <a:t/>
            </a:r>
            <a:br>
              <a:rPr lang="en-GB" b="1" dirty="0" smtClean="0">
                <a:solidFill>
                  <a:schemeClr val="bg1"/>
                </a:solidFill>
                <a:latin typeface="+mj-lt"/>
                <a:cs typeface="+mn-cs"/>
              </a:rPr>
            </a:br>
            <a:endParaRPr lang="en-GB" sz="2200" b="1" dirty="0">
              <a:solidFill>
                <a:schemeClr val="tx2">
                  <a:lumMod val="40000"/>
                  <a:lumOff val="60000"/>
                </a:schemeClr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3048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73415" y="476672"/>
            <a:ext cx="73660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800" b="1" dirty="0" smtClean="0">
                <a:solidFill>
                  <a:schemeClr val="tx2"/>
                </a:solidFill>
                <a:latin typeface="+mj-lt"/>
              </a:rPr>
              <a:t>Kernaussagen</a:t>
            </a:r>
            <a:endParaRPr lang="en-GB" sz="2800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284C4-5ED1-4D6C-B7CC-2049C3062C5E}" type="slidenum">
              <a:rPr lang="en-GB" smtClean="0"/>
              <a:t>2</a:t>
            </a:fld>
            <a:endParaRPr lang="en-GB" dirty="0"/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103504004"/>
              </p:ext>
            </p:extLst>
          </p:nvPr>
        </p:nvGraphicFramePr>
        <p:xfrm>
          <a:off x="459000" y="1260370"/>
          <a:ext cx="8280920" cy="54452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31868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main.oecd.org\sdataECO\Units\FRONTOFFICE\Economic Outlooks\EO101\Data and charts\PPT_Figs_E\E_Handout_Fig_Global_Growth_1_2P_P2C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86" y="1540823"/>
            <a:ext cx="8085074" cy="5181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725330" y="260648"/>
            <a:ext cx="837804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800" b="1" dirty="0" smtClean="0">
                <a:solidFill>
                  <a:schemeClr val="tx2"/>
                </a:solidFill>
                <a:latin typeface="+mj-lt"/>
              </a:rPr>
              <a:t>Das globale BIP-Wachstum dürfte moderat anziehen, </a:t>
            </a:r>
          </a:p>
          <a:p>
            <a:pPr algn="ctr">
              <a:defRPr/>
            </a:pPr>
            <a:r>
              <a:rPr lang="en-GB" sz="2800" b="1" dirty="0" smtClean="0">
                <a:solidFill>
                  <a:schemeClr val="tx2"/>
                </a:solidFill>
                <a:latin typeface="+mj-lt"/>
              </a:rPr>
              <a:t>bleibt jedoch unter dem historischen Durchschnitt</a:t>
            </a:r>
            <a:endParaRPr lang="en-GB" sz="2800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284C4-5ED1-4D6C-B7CC-2049C3062C5E}" type="slidenum">
              <a:rPr lang="en-GB" smtClean="0"/>
              <a:t>3</a:t>
            </a:fld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589585" y="6211669"/>
            <a:ext cx="8495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/>
            </a:r>
            <a:b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</a:b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/>
            </a:r>
            <a:b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</a:b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Quelle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: OECD 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Juni 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2017 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Wirtschaftsausblick-Datenbank.</a:t>
            </a:r>
            <a:endParaRPr lang="en-GB" sz="12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07887" y="1340768"/>
            <a:ext cx="4248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Globales BIP-Wachstum</a:t>
            </a:r>
          </a:p>
        </p:txBody>
      </p:sp>
    </p:spTree>
    <p:extLst>
      <p:ext uri="{BB962C8B-B14F-4D97-AF65-F5344CB8AC3E}">
        <p14:creationId xmlns:p14="http://schemas.microsoft.com/office/powerpoint/2010/main" val="188784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\\main.oecd.org\sdataECO\Units\FRONTOFFICE\Economic Outlooks\EO101\Data and charts\PPT_Figs_E\E_Handout_Fig_GDPV_CAP_1_2P_P2CL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272" y="1700808"/>
            <a:ext cx="4592546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94508" y="240100"/>
            <a:ext cx="837804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800" b="1" dirty="0" smtClean="0">
                <a:solidFill>
                  <a:schemeClr val="tx2"/>
                </a:solidFill>
                <a:latin typeface="+mj-lt"/>
              </a:rPr>
              <a:t>Das BIP-Wachstum je Einwohner liegt unter dem historischen Niveau </a:t>
            </a:r>
          </a:p>
          <a:p>
            <a:pPr algn="ctr">
              <a:defRPr/>
            </a:pPr>
            <a:r>
              <a:rPr lang="en-GB" sz="2800" b="1" dirty="0" smtClean="0">
                <a:solidFill>
                  <a:schemeClr val="tx2"/>
                </a:solidFill>
                <a:latin typeface="+mj-lt"/>
              </a:rPr>
              <a:t>und die Einkommensungleichheit steigt weiter</a:t>
            </a:r>
            <a:endParaRPr lang="en-GB" sz="2800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284C4-5ED1-4D6C-B7CC-2049C3062C5E}" type="slidenum">
              <a:rPr lang="en-GB" smtClean="0"/>
              <a:t>4</a:t>
            </a:fld>
            <a:endParaRPr lang="en-GB" dirty="0"/>
          </a:p>
        </p:txBody>
      </p:sp>
      <p:sp>
        <p:nvSpPr>
          <p:cNvPr id="15" name="TextBox 14"/>
          <p:cNvSpPr txBox="1"/>
          <p:nvPr/>
        </p:nvSpPr>
        <p:spPr>
          <a:xfrm>
            <a:off x="134557" y="1307502"/>
            <a:ext cx="4248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BIP-Wachstum je Einwohner</a:t>
            </a:r>
          </a:p>
          <a:p>
            <a:pPr lvl="0" algn="ctr"/>
            <a:r>
              <a:rPr lang="en-US" sz="1200" i="1" dirty="0">
                <a:solidFill>
                  <a:srgbClr val="E6E6E6">
                    <a:lumMod val="10000"/>
                  </a:srgbClr>
                </a:solidFill>
                <a:latin typeface="Calibri" pitchFamily="34" charset="0"/>
              </a:rPr>
              <a:t>Horizontale Linien sind Durchschnittswerte für </a:t>
            </a:r>
            <a:r>
              <a:rPr lang="en-US" sz="1200" i="1" dirty="0" smtClean="0">
                <a:solidFill>
                  <a:srgbClr val="E6E6E6">
                    <a:lumMod val="10000"/>
                  </a:srgbClr>
                </a:solidFill>
                <a:latin typeface="Calibri" pitchFamily="34" charset="0"/>
              </a:rPr>
              <a:t>1987-2007</a:t>
            </a:r>
            <a:endParaRPr lang="en-US" sz="1200" i="1" dirty="0">
              <a:solidFill>
                <a:srgbClr val="E6E6E6">
                  <a:lumMod val="10000"/>
                </a:srgbClr>
              </a:solidFill>
              <a:latin typeface="Calibri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56058" y="1302256"/>
            <a:ext cx="5063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Einkommensungleichheit nimmt in der OECD zu</a:t>
            </a:r>
            <a:r>
              <a:rPr lang="en-US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 </a:t>
            </a:r>
            <a:br>
              <a:rPr lang="en-US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</a:br>
            <a:r>
              <a:rPr lang="en-US" sz="1200" i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Reales verfügbares </a:t>
            </a:r>
            <a:r>
              <a:rPr lang="en-US" sz="12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Haushalts</a:t>
            </a:r>
            <a:r>
              <a:rPr lang="en-US" sz="1200" i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einkommen, Gesamtbevölkerung</a:t>
            </a:r>
            <a:endParaRPr lang="en-US" sz="1200" i="1" dirty="0">
              <a:solidFill>
                <a:schemeClr val="bg2">
                  <a:lumMod val="10000"/>
                </a:schemeClr>
              </a:solidFill>
              <a:latin typeface="Calibri" pitchFamily="34" charset="0"/>
            </a:endParaRPr>
          </a:p>
        </p:txBody>
      </p:sp>
      <p:pic>
        <p:nvPicPr>
          <p:cNvPr id="8194" name="Picture 2" descr="\\main.oecd.org\sdataECO\Units\FRONTOFFICE\Economic Outlooks\EO101\Data and charts\PPT_Figs_E\E_Handout_Fig_inequality_1_2P_P2CL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2274" y="1887031"/>
            <a:ext cx="4541651" cy="4823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61547" y="6396335"/>
            <a:ext cx="8641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Anmerkung: 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Die rechte Achse ist der 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ungewichtete Durchschnitt von 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17 OECD-Ländern.</a:t>
            </a:r>
          </a:p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Quelle: OECD Wirtschaftsausblick Juni 2017 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Datenbank; 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und 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OECD 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Einkommensverteilungsdatenbank.</a:t>
            </a:r>
          </a:p>
        </p:txBody>
      </p:sp>
    </p:spTree>
    <p:extLst>
      <p:ext uri="{BB962C8B-B14F-4D97-AF65-F5344CB8AC3E}">
        <p14:creationId xmlns:p14="http://schemas.microsoft.com/office/powerpoint/2010/main" val="162281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37669" y="442666"/>
            <a:ext cx="83780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800" b="1" dirty="0" smtClean="0">
                <a:solidFill>
                  <a:schemeClr val="tx2"/>
                </a:solidFill>
                <a:latin typeface="+mj-lt"/>
              </a:rPr>
              <a:t>Projektionen des OECD-Wirtschaftsausblicks</a:t>
            </a:r>
            <a:endParaRPr lang="en-GB" sz="2800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284C4-5ED1-4D6C-B7CC-2049C3062C5E}" type="slidenum">
              <a:rPr lang="en-GB" smtClean="0"/>
              <a:t>5</a:t>
            </a:fld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529723" y="1286395"/>
            <a:ext cx="8136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Reales BIP-Wachstum</a:t>
            </a:r>
          </a:p>
          <a:p>
            <a:pPr algn="ctr"/>
            <a:r>
              <a:rPr lang="en-GB" sz="1200" i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Veränderung gegenüber dem Vorjahr,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6363" y="5834281"/>
            <a:ext cx="87380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/>
            </a:r>
            <a:b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</a:b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Anmerkung: Differenz 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in Prozentpunkten basierend auf gerundeten Werten. </a:t>
            </a:r>
            <a:endParaRPr lang="en-US" sz="12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1. Wobei das Wachstum in Irland 2015 anhand der realen Bruttowertsschöpfung berechnet wurde, exklusive</a:t>
            </a:r>
            <a:b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</a:b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der von ausländischen multinationalen Unternehmen dominierten Sektoren.</a:t>
            </a:r>
          </a:p>
          <a:p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2. Fiskaljahr 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beginnt im April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.</a:t>
            </a:r>
          </a:p>
        </p:txBody>
      </p:sp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292" y="1834981"/>
            <a:ext cx="6213044" cy="42221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2527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 descr="\\main.oecd.org\sdataECO\Units\FRONTOFFICE\Economic Outlooks\EO101\Data and charts\PPT_Figs_E\E_Handout_Fig_Confidence_indicators_1_2P_P2CL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598788"/>
            <a:ext cx="4678679" cy="484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\\main.oecd.org\sdataECO\Units\FRONTOFFICE\Economic Outlooks\EO101\Data and charts\Figs_E\E_Handout_Fig_Confidence_indicators_rolling_1_2P_P2CL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7716" y="1598788"/>
            <a:ext cx="4697106" cy="484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98860" y="260648"/>
            <a:ext cx="792088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 smtClean="0">
                <a:solidFill>
                  <a:schemeClr val="tx2"/>
                </a:solidFill>
                <a:latin typeface="+mj-lt"/>
              </a:rPr>
              <a:t>Konjunkturindikatoren deuten auf Erholung hin,</a:t>
            </a:r>
            <a:br>
              <a:rPr lang="en-US" sz="2800" b="1" dirty="0" smtClean="0">
                <a:solidFill>
                  <a:schemeClr val="tx2"/>
                </a:solidFill>
                <a:latin typeface="+mj-lt"/>
              </a:rPr>
            </a:br>
            <a:r>
              <a:rPr lang="en-US" sz="2800" b="1" dirty="0" smtClean="0">
                <a:solidFill>
                  <a:schemeClr val="tx2"/>
                </a:solidFill>
                <a:latin typeface="+mj-lt"/>
              </a:rPr>
              <a:t>aber sie sind weniger zuverlässig geworden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284C4-5ED1-4D6C-B7CC-2049C3062C5E}" type="slidenum">
              <a:rPr lang="en-GB" smtClean="0"/>
              <a:t>6</a:t>
            </a:fld>
            <a:endParaRPr lang="en-GB" dirty="0"/>
          </a:p>
        </p:txBody>
      </p:sp>
      <p:sp>
        <p:nvSpPr>
          <p:cNvPr id="10" name="TextBox 9"/>
          <p:cNvSpPr txBox="1"/>
          <p:nvPr/>
        </p:nvSpPr>
        <p:spPr>
          <a:xfrm>
            <a:off x="-333763" y="1306400"/>
            <a:ext cx="52023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Verbraucher- und Unternehmensvertrauen</a:t>
            </a:r>
            <a:br>
              <a:rPr lang="en-GB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</a:br>
            <a:r>
              <a:rPr lang="en-GB" sz="1200" i="1" dirty="0">
                <a:solidFill>
                  <a:srgbClr val="E6E6E6">
                    <a:lumMod val="10000"/>
                  </a:srgbClr>
                </a:solidFill>
                <a:latin typeface="Calibri" pitchFamily="34" charset="0"/>
              </a:rPr>
              <a:t>OECD und </a:t>
            </a:r>
            <a:r>
              <a:rPr lang="en-GB" sz="1200" i="1" dirty="0" smtClean="0">
                <a:solidFill>
                  <a:srgbClr val="E6E6E6">
                    <a:lumMod val="10000"/>
                  </a:srgbClr>
                </a:solidFill>
                <a:latin typeface="Calibri" pitchFamily="34" charset="0"/>
              </a:rPr>
              <a:t>BRIICS, Index</a:t>
            </a:r>
            <a:endParaRPr lang="en-GB" sz="2000" baseline="30000" dirty="0">
              <a:solidFill>
                <a:schemeClr val="bg2">
                  <a:lumMod val="10000"/>
                </a:schemeClr>
              </a:solidFill>
              <a:latin typeface="Calibri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1736" y="6211669"/>
            <a:ext cx="843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Anmerkung: Vertrauensindizes sind BIP-KKP-gewichtete Durchschnitte der 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standardisierten Länderreihen, bei denen der langfristige Durchschnitt = 100. </a:t>
            </a:r>
            <a:b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</a:b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Verbraucher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vertrauen 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Korrelation 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mit globalem Einzelhandelsumsatz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wachstum und 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U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nternehmens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vertrauen 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mit globalem 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Industrieproduktions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wachstum.</a:t>
            </a:r>
          </a:p>
          <a:p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Quelle: OECD 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Hauptwirtschaftsindikatoren-Datenbank; 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und 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OECD-Berechnungen.</a:t>
            </a:r>
            <a:endParaRPr lang="en-US" sz="12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39952" y="1306401"/>
            <a:ext cx="52023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Aussagekraft der Stimmungsindikatoren</a:t>
            </a:r>
          </a:p>
          <a:p>
            <a:pPr algn="ctr"/>
            <a:r>
              <a:rPr lang="en-GB" sz="1200" i="1" dirty="0">
                <a:solidFill>
                  <a:srgbClr val="E6E6E6">
                    <a:lumMod val="10000"/>
                  </a:srgbClr>
                </a:solidFill>
                <a:latin typeface="Calibri" pitchFamily="34" charset="0"/>
              </a:rPr>
              <a:t>OECD und </a:t>
            </a:r>
            <a:r>
              <a:rPr lang="en-GB" sz="1200" i="1" dirty="0" smtClean="0">
                <a:solidFill>
                  <a:srgbClr val="E6E6E6">
                    <a:lumMod val="10000"/>
                  </a:srgbClr>
                </a:solidFill>
                <a:latin typeface="Calibri" pitchFamily="34" charset="0"/>
              </a:rPr>
              <a:t>BRIICS, 5-Jahres-Korrelation mit Wirtschaftsaktivität</a:t>
            </a:r>
            <a:endParaRPr lang="en-GB" sz="2000" baseline="30000" dirty="0">
              <a:solidFill>
                <a:schemeClr val="bg2">
                  <a:lumMod val="10000"/>
                </a:schemeClr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16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\\main.oecd.org\sdataECO\Units\FRONTOFFICE\Economic Outlooks\EO101\Data and charts\PPT_Figs_E\E_Handout_Fig_High_tech_1_2P_P2CL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732" y="1604989"/>
            <a:ext cx="4537260" cy="4571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\\main.oecd.org\sdataECO\Units\FRONTOFFICE\Economic Outlooks\EO101\Data and charts\PPT_Figs_E\E_Handout_Fig_Fig_Productive_Capital_Stock_1_2P_P2CL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3" y="1604989"/>
            <a:ext cx="4475419" cy="4571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02183" y="233427"/>
            <a:ext cx="82350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700" b="1" dirty="0" smtClean="0">
                <a:solidFill>
                  <a:schemeClr val="tx2"/>
                </a:solidFill>
                <a:latin typeface="+mj-lt"/>
              </a:rPr>
              <a:t>Investitionen steigen, aber der Kapitalstock ist veraltet </a:t>
            </a:r>
            <a:r>
              <a:rPr lang="en-US" sz="2700" b="1" dirty="0">
                <a:solidFill>
                  <a:schemeClr val="tx2"/>
                </a:solidFill>
                <a:latin typeface="+mj-lt"/>
              </a:rPr>
              <a:t>P</a:t>
            </a:r>
            <a:r>
              <a:rPr lang="en-US" sz="2700" b="1" dirty="0" smtClean="0">
                <a:solidFill>
                  <a:schemeClr val="tx2"/>
                </a:solidFill>
                <a:latin typeface="+mj-lt"/>
              </a:rPr>
              <a:t>otenzial durch Technologie-Upgrades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284C4-5ED1-4D6C-B7CC-2049C3062C5E}" type="slidenum">
              <a:rPr lang="en-GB" smtClean="0"/>
              <a:t>7</a:t>
            </a:fld>
            <a:endParaRPr lang="en-GB" dirty="0"/>
          </a:p>
        </p:txBody>
      </p:sp>
      <p:sp>
        <p:nvSpPr>
          <p:cNvPr id="11" name="TextBox 10"/>
          <p:cNvSpPr txBox="1"/>
          <p:nvPr/>
        </p:nvSpPr>
        <p:spPr>
          <a:xfrm>
            <a:off x="99037" y="5966214"/>
            <a:ext cx="8496944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Anmerkung</a:t>
            </a:r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: </a:t>
            </a:r>
            <a:r>
              <a:rPr lang="en-US" sz="105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Globale </a:t>
            </a:r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Halbleiterumsätze in nominalen US-Dollar. </a:t>
            </a:r>
            <a:r>
              <a:rPr lang="en-US" sz="105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Die wichtigsten fortgeschrittenen Computer- </a:t>
            </a:r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und Elektronikproduktionsleistungen sind ein gewichteter Durchschnitt der Produktion von Computer- und Elektronikprodukten </a:t>
            </a:r>
            <a:r>
              <a:rPr lang="en-US" sz="105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für die Vereinigten Staaten, </a:t>
            </a:r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Produktion von Computern, </a:t>
            </a:r>
            <a:r>
              <a:rPr lang="en-US" sz="105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elektronischen </a:t>
            </a:r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und optischen </a:t>
            </a:r>
            <a:r>
              <a:rPr lang="en-US" sz="105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Produkten für Deutschland, </a:t>
            </a:r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sowie die Produktion von Informations- und Kommunikationselektronikgeräten sowie elektronischen Teilen und Bauelementen </a:t>
            </a:r>
            <a:r>
              <a:rPr lang="en-US" sz="105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für Japan.</a:t>
            </a:r>
            <a:br>
              <a:rPr lang="en-US" sz="105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</a:br>
            <a:r>
              <a:rPr lang="en-US" sz="105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Quelle: OECD Wirtschaftsausblick Juni 2017 Datenbank</a:t>
            </a:r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; World Semi-Conductor Statistics; Eurostat; Board of Governors of the Federal Reserve System; </a:t>
            </a:r>
            <a:r>
              <a:rPr lang="en-US" sz="105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Japanisches Ministerium </a:t>
            </a:r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für Wirtschaft, Handel und </a:t>
            </a:r>
            <a:r>
              <a:rPr lang="en-US" sz="105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Industrie; </a:t>
            </a:r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und OECD-Berechnungen</a:t>
            </a:r>
            <a:r>
              <a:rPr lang="en-US" sz="105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5430" y="1281780"/>
            <a:ext cx="5202324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Hochtechnologieprodukte</a:t>
            </a:r>
            <a:br>
              <a:rPr lang="en-GB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</a:br>
            <a:endParaRPr lang="en-GB" sz="2000" baseline="30000" dirty="0">
              <a:solidFill>
                <a:schemeClr val="bg2">
                  <a:lumMod val="10000"/>
                </a:schemeClr>
              </a:solidFill>
              <a:latin typeface="Calibri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563133" y="1281780"/>
            <a:ext cx="56508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Wachstum des produktiven Kapitalstocks</a:t>
            </a:r>
          </a:p>
        </p:txBody>
      </p:sp>
    </p:spTree>
    <p:extLst>
      <p:ext uri="{BB962C8B-B14F-4D97-AF65-F5344CB8AC3E}">
        <p14:creationId xmlns:p14="http://schemas.microsoft.com/office/powerpoint/2010/main" val="942901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 descr="\\main.oecd.org\sdataECO\Units\FRONTOFFICE\Economic Outlooks\EO101\Data and charts\PPT_Figs_E\E_Handout_Fig_China_Investment_1_2P_P2CL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772816"/>
            <a:ext cx="3611416" cy="4710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\\main.oecd.org\sdataECO\Units\FRONTOFFICE\Economic Outlooks\EO101\Data and charts\PPT_Figs_E\E_Handout_Fig_World_Trade_contributions_1_2P_P2CL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76" y="1443800"/>
            <a:ext cx="5482702" cy="5086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77992" y="250359"/>
            <a:ext cx="81369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>
                <a:solidFill>
                  <a:schemeClr val="tx2"/>
                </a:solidFill>
                <a:latin typeface="+mj-lt"/>
              </a:rPr>
              <a:t>Der Welthandel hat sich zuletzt erholt, mit wichtiger Unterstützung durch </a:t>
            </a:r>
            <a:r>
              <a:rPr lang="en-US" sz="2800" b="1" dirty="0" smtClean="0">
                <a:solidFill>
                  <a:schemeClr val="tx2"/>
                </a:solidFill>
                <a:latin typeface="+mj-lt"/>
              </a:rPr>
              <a:t>Konjunkturmaßnahmen in China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284C4-5ED1-4D6C-B7CC-2049C3062C5E}" type="slidenum">
              <a:rPr lang="en-GB" smtClean="0"/>
              <a:t>8</a:t>
            </a:fld>
            <a:endParaRPr lang="en-GB" dirty="0"/>
          </a:p>
        </p:txBody>
      </p:sp>
      <p:sp>
        <p:nvSpPr>
          <p:cNvPr id="10" name="TextBox 9"/>
          <p:cNvSpPr txBox="1"/>
          <p:nvPr/>
        </p:nvSpPr>
        <p:spPr>
          <a:xfrm>
            <a:off x="201595" y="1278732"/>
            <a:ext cx="5202324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Beiträge zum Welthandelswachstum</a:t>
            </a:r>
            <a:br>
              <a:rPr lang="en-GB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</a:br>
            <a:endParaRPr lang="en-GB" sz="2000" baseline="30000" dirty="0">
              <a:solidFill>
                <a:schemeClr val="bg2">
                  <a:lumMod val="10000"/>
                </a:schemeClr>
              </a:solidFill>
              <a:latin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3528" y="6068006"/>
            <a:ext cx="8136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/>
            </a:r>
            <a:b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</a:b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Anmerkung: Rohstoffproduzenten umfassen Argentinien, Australien, Brasilien, Chile, Kolumbien, Norwegen, Neuseeland, Russland, Saudi-Arabien, Südafrika und andere ölproduzierende Länder.</a:t>
            </a:r>
            <a:b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</a:b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Quelle: OECD Wirtschaftsausblick Juni 2017 Datenbank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; 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und Nationales 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Statistikbüro von 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China.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4444" y="1239593"/>
            <a:ext cx="56508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Chinas nominale Anlagen</a:t>
            </a:r>
            <a:b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</a:br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investitionen</a:t>
            </a:r>
          </a:p>
        </p:txBody>
      </p:sp>
    </p:spTree>
    <p:extLst>
      <p:ext uri="{BB962C8B-B14F-4D97-AF65-F5344CB8AC3E}">
        <p14:creationId xmlns:p14="http://schemas.microsoft.com/office/powerpoint/2010/main" val="392195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 descr="\\main.oecd.org\sdataECO\Units\FRONTOFFICE\Economic Outlooks\EO101\Data and charts\PPT_Figs_E\E_Handout_Fig_Real_Wage_1_2P_P2CL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614391"/>
            <a:ext cx="4644008" cy="4781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\\main.oecd.org\sdataECO\Units\FRONTOFFICE\Economic Outlooks\EO101\Data and charts\PPT_Figs_E\E_Handout_Fig_Employment_1_2P_P2CL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6" y="1614392"/>
            <a:ext cx="4477006" cy="4781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284C4-5ED1-4D6C-B7CC-2049C3062C5E}" type="slidenum">
              <a:rPr lang="en-GB" smtClean="0"/>
              <a:t>9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651603" y="224152"/>
            <a:ext cx="837804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 smtClean="0">
                <a:solidFill>
                  <a:schemeClr val="tx2"/>
                </a:solidFill>
                <a:latin typeface="+mj-lt"/>
              </a:rPr>
              <a:t>Die Arbeitsmarkterholung ist unvollständig </a:t>
            </a:r>
            <a:br>
              <a:rPr lang="en-US" sz="2800" b="1" dirty="0" smtClean="0">
                <a:solidFill>
                  <a:schemeClr val="tx2"/>
                </a:solidFill>
                <a:latin typeface="+mj-lt"/>
              </a:rPr>
            </a:br>
            <a:r>
              <a:rPr lang="en-US" sz="2800" b="1" dirty="0" smtClean="0">
                <a:solidFill>
                  <a:schemeClr val="tx2"/>
                </a:solidFill>
                <a:latin typeface="+mj-lt"/>
              </a:rPr>
              <a:t>und das reale Lohnwachstum bleibt schleppend</a:t>
            </a:r>
            <a:endParaRPr lang="en-GB" sz="2800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-296731" y="1322004"/>
            <a:ext cx="5063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Arbeitslosigkeit und Unterbeschäftigung</a:t>
            </a:r>
            <a:b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</a:br>
            <a:r>
              <a:rPr lang="en-US" sz="1200" i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OECD, Anteil der Erwerbspersonen</a:t>
            </a:r>
            <a:endParaRPr lang="en-US" sz="1200" i="1" dirty="0">
              <a:solidFill>
                <a:schemeClr val="bg2">
                  <a:lumMod val="10000"/>
                </a:schemeClr>
              </a:solidFill>
              <a:latin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5640" y="6207203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Anmerkung: 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Reallöhne gemessen als 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Arbeitnehmerentgelt je Beschäftigten 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bereinigt 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um 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den BIP-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Deflator.</a:t>
            </a:r>
            <a:b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</a:b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Quelle: OECD Wirtschaftsausblick Juni 2017 Datenbank; OECD Beschäftigungsdatenbank; US Bureau of Labor Statistics; Eurostat; und Japan Statistics Bureau.</a:t>
            </a:r>
            <a:endParaRPr lang="en-US" sz="12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82712" y="1313126"/>
            <a:ext cx="5063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Reallohnwachstum</a:t>
            </a:r>
          </a:p>
          <a:p>
            <a:pPr lvl="0" algn="ctr"/>
            <a:r>
              <a:rPr lang="en-US" sz="1200" i="1" dirty="0" smtClean="0">
                <a:solidFill>
                  <a:srgbClr val="E6E6E6">
                    <a:lumMod val="10000"/>
                  </a:srgbClr>
                </a:solidFill>
                <a:latin typeface="Calibri" pitchFamily="34" charset="0"/>
              </a:rPr>
              <a:t>Horizontale Linien sind Durchschnittswerte für 1987–2007</a:t>
            </a:r>
            <a:endParaRPr lang="en-US" sz="1200" i="1" dirty="0">
              <a:solidFill>
                <a:schemeClr val="bg2">
                  <a:lumMod val="10000"/>
                </a:schemeClr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611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 descr="\\main.oecd.org\sdataECO\Units\FRONTOFFICE\Economic Outlooks\EO101\Data and charts\PPT_Figs_E\E_Handout_Fig_House_Rent_Ratios_1_2P_P2CL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9" y="1578082"/>
            <a:ext cx="4436444" cy="4820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\\main.oecd.org\sdataECO\Units\FRONTOFFICE\Economic Outlooks\EO101\Data and charts\PPT_Figs_E\E_Handout_Fig_Private_credit_1_2P_P2CL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9" y="1576536"/>
            <a:ext cx="4619269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284C4-5ED1-4D6C-B7CC-2049C3062C5E}" type="slidenum">
              <a:rPr lang="en-GB" smtClean="0"/>
              <a:t>10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736273" y="224152"/>
            <a:ext cx="837804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 smtClean="0">
                <a:solidFill>
                  <a:schemeClr val="tx2"/>
                </a:solidFill>
                <a:latin typeface="+mj-lt"/>
              </a:rPr>
              <a:t>Steigende private Kreditvergabe in Schwellenländern und </a:t>
            </a:r>
            <a:br>
              <a:rPr lang="en-US" sz="2800" b="1" dirty="0" smtClean="0">
                <a:solidFill>
                  <a:schemeClr val="tx2"/>
                </a:solidFill>
                <a:latin typeface="+mj-lt"/>
              </a:rPr>
            </a:br>
            <a:r>
              <a:rPr lang="en-US" sz="2800" b="1" dirty="0" smtClean="0">
                <a:solidFill>
                  <a:schemeClr val="tx2"/>
                </a:solidFill>
                <a:latin typeface="+mj-lt"/>
              </a:rPr>
              <a:t>Wohnungsmarktrisiken in fortgeschrittenen Volkswirtschaften</a:t>
            </a:r>
            <a:endParaRPr lang="en-GB" sz="2800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9870" y="6210405"/>
            <a:ext cx="8378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Anmerkung: Schwellenländer ohne China sind ein ungewichteter Durchschnitt der Quoten für Argentinien, Brasilien, Kolumbien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, Indien, Indonesien, Mexiko, Russland, Malaysia, 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Süd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afrika und die Türkei.</a:t>
            </a:r>
            <a:b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</a:b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Quelle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: 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BIS; 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OECD Analytische Hauspreisdatenbank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; und 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OECD-Berechnungen.</a:t>
            </a:r>
            <a:endParaRPr lang="en-US" sz="12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3528" y="1268760"/>
            <a:ext cx="3771930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Kredit an den privaten Nichtfinanzsektor</a:t>
            </a:r>
          </a:p>
          <a:p>
            <a:pPr algn="ctr"/>
            <a:endParaRPr lang="en-GB" sz="1400" i="1" dirty="0" smtClean="0">
              <a:solidFill>
                <a:schemeClr val="bg2">
                  <a:lumMod val="10000"/>
                </a:schemeClr>
              </a:solidFill>
              <a:latin typeface="Calibri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16096" y="1268760"/>
            <a:ext cx="28202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Verhältnis von Hauspreisen zu Mieten</a:t>
            </a:r>
          </a:p>
          <a:p>
            <a:pPr lvl="0" algn="ctr"/>
            <a:r>
              <a:rPr lang="en-US" sz="1200" i="1" dirty="0" smtClean="0">
                <a:solidFill>
                  <a:srgbClr val="E6E6E6">
                    <a:lumMod val="10000"/>
                  </a:srgbClr>
                </a:solidFill>
                <a:latin typeface="Calibri" pitchFamily="34" charset="0"/>
              </a:rPr>
              <a:t>Durchschnitt seit 1980 = 100</a:t>
            </a:r>
            <a:endParaRPr lang="en-US" sz="1200" i="1" dirty="0">
              <a:solidFill>
                <a:srgbClr val="E6E6E6">
                  <a:lumMod val="10000"/>
                </a:srgbClr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72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\\main.oecd.org\sdataECO\Units\FRONTOFFICE\Economic Outlooks\EO101\Data and charts\PPT_Figs_E\E_Handout_Fig_Core_inflation_2005_1_2P_P2CL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56" y="1536187"/>
            <a:ext cx="4524044" cy="5133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284C4-5ED1-4D6C-B7CC-2049C3062C5E}" type="slidenum">
              <a:rPr lang="en-GB" smtClean="0"/>
              <a:t>11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797998" y="241893"/>
            <a:ext cx="837804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 smtClean="0">
                <a:solidFill>
                  <a:schemeClr val="tx2"/>
                </a:solidFill>
                <a:latin typeface="+mj-lt"/>
              </a:rPr>
              <a:t>Inflation generell unter den Zielvorgaben; potenzielle Zinsdivergenz erzeugt </a:t>
            </a:r>
            <a:r>
              <a:rPr lang="en-US" sz="2800" b="1" dirty="0">
                <a:solidFill>
                  <a:schemeClr val="tx2"/>
                </a:solidFill>
                <a:latin typeface="+mj-lt"/>
              </a:rPr>
              <a:t>finanzielle </a:t>
            </a:r>
            <a:r>
              <a:rPr lang="en-US" sz="2800" b="1" dirty="0" smtClean="0">
                <a:solidFill>
                  <a:schemeClr val="tx2"/>
                </a:solidFill>
                <a:latin typeface="+mj-lt"/>
              </a:rPr>
              <a:t>Risiken</a:t>
            </a:r>
            <a:endParaRPr lang="en-GB" sz="2800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66286" y="1319510"/>
            <a:ext cx="482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Kerninflation</a:t>
            </a:r>
            <a:b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</a:br>
            <a:endParaRPr lang="en-GB" sz="1200" i="1" baseline="30000" dirty="0">
              <a:solidFill>
                <a:schemeClr val="bg2">
                  <a:lumMod val="10000"/>
                </a:schemeClr>
              </a:solidFill>
              <a:latin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1255" y="6042154"/>
            <a:ext cx="83529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/>
            </a:r>
            <a:br>
              <a:rPr lang="en-GB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</a:br>
            <a:r>
              <a:rPr lang="en-GB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/>
            </a:r>
            <a:br>
              <a:rPr lang="en-GB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</a:br>
            <a:r>
              <a:rPr lang="en-GB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Anmerkung: Kerninflation für Japan bereinigt um die Auswirkungen der Erhöhungen der Verbrauchsteuer.</a:t>
            </a:r>
            <a:br>
              <a:rPr lang="en-GB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</a:br>
            <a:r>
              <a:rPr lang="en-GB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Quelle: 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OECD Wirtschaftsausblick Juni 2017 Datenbank; Bloomberg; und OECD-Berechnungen.</a:t>
            </a:r>
            <a:endParaRPr lang="en-GB" sz="12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  <p:pic>
        <p:nvPicPr>
          <p:cNvPr id="7171" name="Picture 3" descr="\\main.oecd.org\sdataECO\Units\FRONTOFFICE\Economic Outlooks\EO101\Data and charts\PPT_Figs_E\E_Handout_Fig_IR_expected_1_2P_P2CL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5" y="1772816"/>
            <a:ext cx="4659328" cy="4896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337720" y="1245618"/>
            <a:ext cx="48245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Marktbasierte Erwartungen für</a:t>
            </a:r>
            <a:b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</a:br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Tagesgeldzinssätze</a:t>
            </a:r>
          </a:p>
          <a:p>
            <a:pPr algn="ctr"/>
            <a:r>
              <a:rPr lang="en-US" sz="1200" i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15-Tage gleitender Durchschnitt</a:t>
            </a:r>
            <a:r>
              <a:rPr lang="en-US" sz="12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/>
            </a:r>
            <a:br>
              <a:rPr lang="en-US" sz="12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</a:br>
            <a:endParaRPr lang="en-GB" sz="1200" i="1" baseline="30000" dirty="0">
              <a:solidFill>
                <a:schemeClr val="bg2">
                  <a:lumMod val="10000"/>
                </a:schemeClr>
              </a:solidFill>
              <a:latin typeface="Calibri" pitchFamily="34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8524459" y="4848612"/>
            <a:ext cx="0" cy="720080"/>
          </a:xfrm>
          <a:prstGeom prst="straightConnector1">
            <a:avLst/>
          </a:prstGeom>
          <a:ln w="22225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416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284C4-5ED1-4D6C-B7CC-2049C3062C5E}" type="slidenum">
              <a:rPr lang="en-GB" smtClean="0"/>
              <a:t>12</a:t>
            </a:fld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333802" y="2554540"/>
            <a:ext cx="85689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b="1" dirty="0" smtClean="0">
                <a:solidFill>
                  <a:schemeClr val="tx2"/>
                </a:solidFill>
                <a:latin typeface="+mj-lt"/>
              </a:rPr>
              <a:t>Diagnose der Herausforderung </a:t>
            </a:r>
          </a:p>
          <a:p>
            <a:pPr algn="ctr">
              <a:defRPr/>
            </a:pPr>
            <a:r>
              <a:rPr lang="en-US" sz="4000" b="1" dirty="0" smtClean="0">
                <a:solidFill>
                  <a:schemeClr val="tx2"/>
                </a:solidFill>
                <a:latin typeface="+mj-lt"/>
              </a:rPr>
              <a:t>struktureller Trends </a:t>
            </a:r>
          </a:p>
        </p:txBody>
      </p:sp>
    </p:spTree>
    <p:extLst>
      <p:ext uri="{BB962C8B-B14F-4D97-AF65-F5344CB8AC3E}">
        <p14:creationId xmlns:p14="http://schemas.microsoft.com/office/powerpoint/2010/main" val="1988327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\\main.oecd.org\sdataECO\Units\FRONTOFFICE\Economic Outlooks\EO101\Data and charts\PPT_Figs_E\E_Handout_Fig_Trade_by_type_1_2P_P2CL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3" y="1674697"/>
            <a:ext cx="4608512" cy="4634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E284C4-5ED1-4D6C-B7CC-2049C3062C5E}" type="slidenum">
              <a:rPr lang="en-GB" smtClean="0"/>
              <a:t>13</a:t>
            </a:fld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638751" y="457533"/>
            <a:ext cx="86409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 smtClean="0">
                <a:solidFill>
                  <a:schemeClr val="tx2"/>
                </a:solidFill>
                <a:latin typeface="+mj-lt"/>
              </a:rPr>
              <a:t>Handelsspezialisierung und -muster haben sich verschoben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80528" y="1268050"/>
            <a:ext cx="5063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W</a:t>
            </a:r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eltgüterhandel</a:t>
            </a:r>
            <a:endParaRPr lang="en-US" sz="2000" b="1" dirty="0">
              <a:solidFill>
                <a:schemeClr val="bg2">
                  <a:lumMod val="10000"/>
                </a:schemeClr>
              </a:solidFill>
              <a:latin typeface="Calibri" pitchFamily="34" charset="0"/>
            </a:endParaRPr>
          </a:p>
          <a:p>
            <a:pPr lvl="0" algn="ctr"/>
            <a:r>
              <a:rPr lang="en-US" sz="12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Anteil am </a:t>
            </a:r>
            <a:r>
              <a:rPr lang="en-US" sz="1200" i="1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Welt</a:t>
            </a:r>
            <a:r>
              <a:rPr lang="en-US" sz="1200" i="1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güterexport, </a:t>
            </a:r>
            <a:r>
              <a:rPr lang="en-US" sz="1200" i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Volumina</a:t>
            </a:r>
            <a:endParaRPr lang="en-US" sz="1200" i="1" dirty="0">
              <a:solidFill>
                <a:schemeClr val="bg2">
                  <a:lumMod val="10000"/>
                </a:schemeClr>
              </a:solidFill>
              <a:latin typeface="Calibri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86149" y="1264791"/>
            <a:ext cx="483619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Welthandel nach Art</a:t>
            </a:r>
          </a:p>
          <a:p>
            <a:pPr lvl="0" algn="ctr"/>
            <a:r>
              <a:rPr lang="en-US" sz="1200" i="1" dirty="0" smtClean="0">
                <a:solidFill>
                  <a:srgbClr val="E6E6E6">
                    <a:lumMod val="10000"/>
                  </a:srgbClr>
                </a:solidFill>
                <a:latin typeface="Calibri" pitchFamily="34" charset="0"/>
              </a:rPr>
              <a:t>Exporte, Werte</a:t>
            </a:r>
            <a:endParaRPr lang="en-US" sz="1200" i="1" dirty="0">
              <a:solidFill>
                <a:srgbClr val="E6E6E6">
                  <a:lumMod val="10000"/>
                </a:srgbClr>
              </a:solidFill>
              <a:latin typeface="Calibri" pitchFamily="34" charset="0"/>
            </a:endParaRPr>
          </a:p>
          <a:p>
            <a:pPr lvl="0" algn="ctr"/>
            <a:endParaRPr lang="en-US" sz="2000" b="1" dirty="0" smtClean="0">
              <a:solidFill>
                <a:schemeClr val="bg2">
                  <a:lumMod val="10000"/>
                </a:schemeClr>
              </a:solidFill>
              <a:latin typeface="Calibri" pitchFamily="34" charset="0"/>
            </a:endParaRPr>
          </a:p>
        </p:txBody>
      </p:sp>
      <p:graphicFrame>
        <p:nvGraphicFramePr>
          <p:cNvPr id="14" name="Chart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3796744"/>
              </p:ext>
            </p:extLst>
          </p:nvPr>
        </p:nvGraphicFramePr>
        <p:xfrm>
          <a:off x="-252536" y="1711067"/>
          <a:ext cx="5743576" cy="4638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3528" y="6112036"/>
            <a:ext cx="82089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Anmerkung:</a:t>
            </a:r>
            <a:r>
              <a:rPr lang="en-GB" sz="1100" i="1" dirty="0" smtClean="0">
                <a:solidFill>
                  <a:srgbClr val="171717"/>
                </a:solidFill>
                <a:latin typeface="Calibri" panose="020F0502020204030204" pitchFamily="34" charset="0"/>
              </a:rPr>
              <a:t> </a:t>
            </a:r>
            <a:r>
              <a:rPr lang="en-GB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Linke Achse – </a:t>
            </a:r>
            <a:r>
              <a:rPr lang="en-GB" sz="1100" dirty="0">
                <a:solidFill>
                  <a:srgbClr val="171717"/>
                </a:solidFill>
                <a:latin typeface="Calibri" panose="020F0502020204030204" pitchFamily="34" charset="0"/>
              </a:rPr>
              <a:t>Dynamische asiatische Volkswirtschaften umfasst Malaysia, die Philippinen, Singapur, Thailand, Vietnam, Chinesisch Taipeh und Hongkong</a:t>
            </a:r>
            <a:r>
              <a:rPr lang="en-GB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.</a:t>
            </a:r>
            <a:r>
              <a:rPr lang="en-US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/>
            </a:r>
            <a:br>
              <a:rPr lang="en-US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</a:br>
            <a:r>
              <a:rPr lang="en-US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Rechte Achse – Unternehmens</a:t>
            </a:r>
            <a:r>
              <a:rPr lang="en-US" sz="1100" dirty="0">
                <a:solidFill>
                  <a:srgbClr val="171717"/>
                </a:solidFill>
                <a:latin typeface="Calibri" panose="020F0502020204030204" pitchFamily="34" charset="0"/>
              </a:rPr>
              <a:t>dienstleistungen </a:t>
            </a:r>
            <a:r>
              <a:rPr lang="en-US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umfasst F&amp;E, IKT, Immobilien und sonstige Geschäftsaktivitäten. Finanzdienstleistungen umfassen Finanzintermediation, Versicherungen, Pensionsfinanzierung und sonstige Finanzaktivitäten. </a:t>
            </a:r>
            <a:endParaRPr lang="en-GB" sz="1100" dirty="0" smtClean="0">
              <a:solidFill>
                <a:srgbClr val="171717"/>
              </a:solidFill>
              <a:latin typeface="Calibri" panose="020F0502020204030204" pitchFamily="34" charset="0"/>
            </a:endParaRPr>
          </a:p>
          <a:p>
            <a:r>
              <a:rPr lang="en-GB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Quelle</a:t>
            </a:r>
            <a:r>
              <a:rPr lang="en-GB" sz="1100" dirty="0">
                <a:solidFill>
                  <a:srgbClr val="171717"/>
                </a:solidFill>
                <a:latin typeface="Calibri" panose="020F0502020204030204" pitchFamily="34" charset="0"/>
              </a:rPr>
              <a:t>:</a:t>
            </a:r>
            <a:r>
              <a:rPr lang="en-US" sz="1100" i="1" dirty="0">
                <a:solidFill>
                  <a:srgbClr val="171717"/>
                </a:solidFill>
                <a:latin typeface="Calibri" panose="020F0502020204030204" pitchFamily="34" charset="0"/>
              </a:rPr>
              <a:t> </a:t>
            </a:r>
            <a:r>
              <a:rPr lang="en-US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OECD-WTO-Datenbank Handel nach Wertschöpfung (TiVA)</a:t>
            </a:r>
            <a:r>
              <a:rPr lang="en-US" sz="1100" dirty="0">
                <a:solidFill>
                  <a:srgbClr val="171717"/>
                </a:solidFill>
                <a:latin typeface="Calibri" panose="020F0502020204030204" pitchFamily="34" charset="0"/>
              </a:rPr>
              <a:t>; UN </a:t>
            </a:r>
            <a:r>
              <a:rPr lang="en-US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Comtrade-Datenbank; und </a:t>
            </a:r>
            <a:r>
              <a:rPr lang="en-US" sz="1100" dirty="0">
                <a:solidFill>
                  <a:srgbClr val="171717"/>
                </a:solidFill>
                <a:latin typeface="Calibri" panose="020F0502020204030204" pitchFamily="34" charset="0"/>
              </a:rPr>
              <a:t>OECD-Berechnungen.</a:t>
            </a:r>
            <a:endParaRPr lang="en-GB" sz="1100" dirty="0">
              <a:solidFill>
                <a:srgbClr val="171717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95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\\main.oecd.org\sdataECO\Units\FRONTOFFICE\Economic Outlooks\EO101\Data and charts\PPT_Figs_E\E_Handout_Fig_Job_polarisation_1_2P_P2CL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86" y="1519894"/>
            <a:ext cx="7920880" cy="480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E284C4-5ED1-4D6C-B7CC-2049C3062C5E}" type="slidenum">
              <a:rPr lang="en-GB" smtClean="0"/>
              <a:t>14</a:t>
            </a:fld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7687" y="188640"/>
            <a:ext cx="7416000" cy="1022400"/>
          </a:xfrm>
        </p:spPr>
        <p:txBody>
          <a:bodyPr/>
          <a:lstStyle/>
          <a:p>
            <a:pPr algn="ctr">
              <a:defRPr/>
            </a:pPr>
            <a:r>
              <a:rPr lang="en-US" sz="2800" b="1" dirty="0" smtClean="0">
                <a:solidFill>
                  <a:schemeClr val="tx2"/>
                </a:solidFill>
              </a:rPr>
              <a:t>Arbeitsplatzverluste konzentrierten sich auf </a:t>
            </a:r>
            <a:br>
              <a:rPr lang="en-US" sz="2800" b="1" dirty="0" smtClean="0">
                <a:solidFill>
                  <a:schemeClr val="tx2"/>
                </a:solidFill>
              </a:rPr>
            </a:br>
            <a:r>
              <a:rPr lang="en-US" sz="2800" b="1" dirty="0" smtClean="0">
                <a:solidFill>
                  <a:schemeClr val="tx2"/>
                </a:solidFill>
              </a:rPr>
              <a:t>Beschäftigte mit mittleren Qualifikationen</a:t>
            </a:r>
            <a:endParaRPr lang="en-GB" sz="2800" b="1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2187" y="6242491"/>
            <a:ext cx="8208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Anmerkung: OECD ist der ungewichtete Durchschnitt von 24 Ländern. Für Japan 1995–2010.</a:t>
            </a:r>
          </a:p>
          <a:p>
            <a:r>
              <a:rPr lang="en-GB" sz="12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Quelle</a:t>
            </a:r>
            <a:r>
              <a:rPr lang="en-GB" sz="1200" dirty="0">
                <a:solidFill>
                  <a:srgbClr val="171717"/>
                </a:solidFill>
                <a:latin typeface="Calibri" panose="020F0502020204030204" pitchFamily="34" charset="0"/>
              </a:rPr>
              <a:t>:</a:t>
            </a:r>
            <a:r>
              <a:rPr lang="en-US" sz="1200" dirty="0">
                <a:solidFill>
                  <a:srgbClr val="171717"/>
                </a:solidFill>
                <a:latin typeface="Calibri" panose="020F0502020204030204" pitchFamily="34" charset="0"/>
              </a:rPr>
              <a:t> </a:t>
            </a:r>
            <a:r>
              <a:rPr lang="en-US" sz="12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OECD Beschäftigungsausblick 2017; Arbeitskräfteerhebung der Europäischen Union; Arbeitskräfte</a:t>
            </a:r>
            <a:r>
              <a:rPr lang="en-US" sz="1200" dirty="0">
                <a:solidFill>
                  <a:srgbClr val="171717"/>
                </a:solidFill>
                <a:latin typeface="Calibri" panose="020F0502020204030204" pitchFamily="34" charset="0"/>
              </a:rPr>
              <a:t>erhebung; </a:t>
            </a:r>
            <a:r>
              <a:rPr lang="en-US" sz="12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Arbeitskräfteerhebungen; </a:t>
            </a:r>
            <a:r>
              <a:rPr lang="en-US" sz="1200" dirty="0">
                <a:solidFill>
                  <a:srgbClr val="171717"/>
                </a:solidFill>
                <a:latin typeface="Calibri" panose="020F0502020204030204" pitchFamily="34" charset="0"/>
              </a:rPr>
              <a:t>Arbeitskräfteerhebungen für </a:t>
            </a:r>
            <a:r>
              <a:rPr lang="en-US" sz="12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Kanada, </a:t>
            </a:r>
            <a:r>
              <a:rPr lang="en-US" sz="1200" dirty="0">
                <a:solidFill>
                  <a:srgbClr val="171717"/>
                </a:solidFill>
                <a:latin typeface="Calibri" panose="020F0502020204030204" pitchFamily="34" charset="0"/>
              </a:rPr>
              <a:t>Japan </a:t>
            </a:r>
            <a:r>
              <a:rPr lang="en-US" sz="1200" dirty="0" smtClean="0">
                <a:solidFill>
                  <a:srgbClr val="171717"/>
                </a:solidFill>
                <a:latin typeface="Calibri" panose="020F0502020204030204" pitchFamily="34" charset="0"/>
              </a:rPr>
              <a:t/>
            </a:r>
            <a:br>
              <a:rPr lang="en-US" sz="1200" dirty="0" smtClean="0">
                <a:solidFill>
                  <a:srgbClr val="171717"/>
                </a:solidFill>
                <a:latin typeface="Calibri" panose="020F0502020204030204" pitchFamily="34" charset="0"/>
              </a:rPr>
            </a:br>
            <a:r>
              <a:rPr lang="en-US" sz="12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und </a:t>
            </a:r>
            <a:r>
              <a:rPr lang="en-US" sz="1200" dirty="0">
                <a:solidFill>
                  <a:srgbClr val="171717"/>
                </a:solidFill>
                <a:latin typeface="Calibri" panose="020F0502020204030204" pitchFamily="34" charset="0"/>
              </a:rPr>
              <a:t>die Vereinigten </a:t>
            </a:r>
            <a:r>
              <a:rPr lang="en-US" sz="12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Staaten</a:t>
            </a:r>
            <a:r>
              <a:rPr lang="en-US" sz="1200" dirty="0">
                <a:solidFill>
                  <a:srgbClr val="171717"/>
                </a:solidFill>
                <a:latin typeface="Calibri" panose="020F0502020204030204" pitchFamily="34" charset="0"/>
              </a:rPr>
              <a:t>; und OECD-Berechnungen.</a:t>
            </a:r>
            <a:endParaRPr lang="en-GB" sz="1200" dirty="0">
              <a:solidFill>
                <a:srgbClr val="171717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13354" y="1276185"/>
            <a:ext cx="6696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Jobpolarisierung nach Land</a:t>
            </a:r>
          </a:p>
          <a:p>
            <a:pPr algn="ctr"/>
            <a:r>
              <a:rPr lang="en-US" sz="1200" i="1" dirty="0">
                <a:solidFill>
                  <a:srgbClr val="000000"/>
                </a:solidFill>
                <a:latin typeface="Calibri" panose="020F0502020204030204" pitchFamily="34" charset="0"/>
              </a:rPr>
              <a:t>Veränderung </a:t>
            </a:r>
            <a:r>
              <a:rPr lang="en-US" sz="1200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des Anteils an der </a:t>
            </a:r>
            <a:r>
              <a:rPr lang="en-US" sz="1200" i="1" dirty="0">
                <a:solidFill>
                  <a:srgbClr val="000000"/>
                </a:solidFill>
                <a:latin typeface="Calibri" panose="020F0502020204030204" pitchFamily="34" charset="0"/>
              </a:rPr>
              <a:t>Gesamtbeschäftigung nach </a:t>
            </a:r>
            <a:r>
              <a:rPr lang="en-US" sz="1200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Qualifikations</a:t>
            </a:r>
            <a:r>
              <a:rPr lang="en-US" sz="1200" i="1" dirty="0">
                <a:solidFill>
                  <a:srgbClr val="000000"/>
                </a:solidFill>
                <a:latin typeface="Calibri" panose="020F0502020204030204" pitchFamily="34" charset="0"/>
              </a:rPr>
              <a:t>niveau, </a:t>
            </a:r>
            <a:r>
              <a:rPr lang="en-US" sz="1200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1995-2015</a:t>
            </a:r>
            <a:endParaRPr lang="en-US" sz="1200" i="1" dirty="0">
              <a:solidFill>
                <a:schemeClr val="bg2">
                  <a:lumMod val="10000"/>
                </a:schemeClr>
              </a:solidFill>
              <a:latin typeface="Calibri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 rot="10800000">
            <a:off x="4983498" y="2726899"/>
            <a:ext cx="853824" cy="3334601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398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\\main.oecd.org\sdataECO\Units\FRONTOFFICE\Economic Outlooks\EO101\Data and charts\PPT_Figs_E\E_Handout_Fig_Export_complexity_1_2P_P2CL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710" y="1587614"/>
            <a:ext cx="8055276" cy="4799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E284C4-5ED1-4D6C-B7CC-2049C3062C5E}" type="slidenum">
              <a:rPr lang="en-GB" smtClean="0"/>
              <a:t>15</a:t>
            </a:fld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76709" y="242718"/>
            <a:ext cx="864096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>
                <a:solidFill>
                  <a:schemeClr val="tx2"/>
                </a:solidFill>
                <a:latin typeface="+mj-lt"/>
              </a:rPr>
              <a:t>Fortgeschrittene Volkswirtschaften haben sich in der </a:t>
            </a:r>
            <a:r>
              <a:rPr lang="en-US" sz="2800" b="1" dirty="0" smtClean="0">
                <a:solidFill>
                  <a:schemeClr val="tx2"/>
                </a:solidFill>
                <a:latin typeface="+mj-lt"/>
              </a:rPr>
              <a:t/>
            </a:r>
            <a:br>
              <a:rPr lang="en-US" sz="2800" b="1" dirty="0" smtClean="0">
                <a:solidFill>
                  <a:schemeClr val="tx2"/>
                </a:solidFill>
                <a:latin typeface="+mj-lt"/>
              </a:rPr>
            </a:br>
            <a:r>
              <a:rPr lang="en-US" sz="2800" b="1" dirty="0" smtClean="0">
                <a:solidFill>
                  <a:schemeClr val="tx2"/>
                </a:solidFill>
                <a:latin typeface="+mj-lt"/>
              </a:rPr>
              <a:t>Wert</a:t>
            </a:r>
            <a:r>
              <a:rPr lang="en-US" sz="2800" b="1" dirty="0">
                <a:solidFill>
                  <a:schemeClr val="tx2"/>
                </a:solidFill>
                <a:latin typeface="+mj-lt"/>
              </a:rPr>
              <a:t>schöpfungskette nach oben bewegt, aber auch die Schwellenländer holen auf</a:t>
            </a:r>
            <a:endParaRPr lang="en-GB" sz="2800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7979" y="6130595"/>
            <a:ext cx="84440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Anmerkung: In nominalen Begriffen. Am wenigsten komplex ist das 1.</a:t>
            </a:r>
            <a:r>
              <a:rPr lang="en-GB" sz="1100" baseline="300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st</a:t>
            </a:r>
            <a:r>
              <a:rPr lang="en-GB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 </a:t>
            </a:r>
            <a:r>
              <a:rPr lang="en-GB" sz="1100" dirty="0">
                <a:solidFill>
                  <a:srgbClr val="171717"/>
                </a:solidFill>
                <a:latin typeface="Calibri" panose="020F0502020204030204" pitchFamily="34" charset="0"/>
              </a:rPr>
              <a:t>Q</a:t>
            </a:r>
            <a:r>
              <a:rPr lang="en-GB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uartil der Produkte nach Komplexität (z. B. Wachsmalstifte), am komplexesten </a:t>
            </a:r>
            <a:r>
              <a:rPr lang="en-GB" sz="1100" dirty="0">
                <a:solidFill>
                  <a:srgbClr val="171717"/>
                </a:solidFill>
                <a:latin typeface="Calibri" panose="020F0502020204030204" pitchFamily="34" charset="0"/>
              </a:rPr>
              <a:t>ist das 4.</a:t>
            </a:r>
            <a:r>
              <a:rPr lang="en-GB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th</a:t>
            </a:r>
            <a:r>
              <a:rPr lang="en-GB" sz="1100" baseline="300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 Quartil (z. B. medizinische Geräte), ohne wichtige Rohstoffe. Dynamische asiatische Volkswirtschaften umfasst </a:t>
            </a:r>
            <a:r>
              <a:rPr lang="en-GB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Malaysia</a:t>
            </a:r>
            <a:r>
              <a:rPr lang="en-US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, die Philippinen, Singapur, </a:t>
            </a:r>
            <a:r>
              <a:rPr lang="en-US" sz="1100" dirty="0">
                <a:solidFill>
                  <a:srgbClr val="171717"/>
                </a:solidFill>
                <a:latin typeface="Calibri" panose="020F0502020204030204" pitchFamily="34" charset="0"/>
              </a:rPr>
              <a:t>Thailand, Vietnam</a:t>
            </a:r>
            <a:r>
              <a:rPr lang="en-US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, Chinesisch </a:t>
            </a:r>
            <a:r>
              <a:rPr lang="en-US" sz="1100" dirty="0">
                <a:solidFill>
                  <a:srgbClr val="171717"/>
                </a:solidFill>
                <a:latin typeface="Calibri" panose="020F0502020204030204" pitchFamily="34" charset="0"/>
              </a:rPr>
              <a:t>Taipeh und </a:t>
            </a:r>
            <a:r>
              <a:rPr lang="en-US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Hong</a:t>
            </a:r>
            <a:r>
              <a:rPr lang="en-US" sz="1100" dirty="0">
                <a:solidFill>
                  <a:srgbClr val="171717"/>
                </a:solidFill>
                <a:latin typeface="Calibri" panose="020F0502020204030204" pitchFamily="34" charset="0"/>
              </a:rPr>
              <a:t>kong. </a:t>
            </a:r>
            <a:r>
              <a:rPr lang="en-US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Europa ist der ungewichtete Durchschnitt der Tschechischen Republik, Frankreich, Deutschland, Irland, Italien, Polen, Portugal und des Vereinigten Königreichs.</a:t>
            </a:r>
            <a:endParaRPr lang="en-GB" sz="1100" dirty="0" smtClean="0">
              <a:solidFill>
                <a:srgbClr val="171717"/>
              </a:solidFill>
              <a:latin typeface="Calibri" panose="020F0502020204030204" pitchFamily="34" charset="0"/>
            </a:endParaRPr>
          </a:p>
          <a:p>
            <a:r>
              <a:rPr lang="en-GB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Quelle</a:t>
            </a:r>
            <a:r>
              <a:rPr lang="en-GB" sz="1100" dirty="0">
                <a:solidFill>
                  <a:srgbClr val="171717"/>
                </a:solidFill>
                <a:latin typeface="Calibri" panose="020F0502020204030204" pitchFamily="34" charset="0"/>
              </a:rPr>
              <a:t>:</a:t>
            </a:r>
            <a:r>
              <a:rPr lang="en-US" sz="1100" i="1" dirty="0">
                <a:solidFill>
                  <a:srgbClr val="171717"/>
                </a:solidFill>
                <a:latin typeface="Calibri" panose="020F0502020204030204" pitchFamily="34" charset="0"/>
              </a:rPr>
              <a:t> </a:t>
            </a:r>
            <a:r>
              <a:rPr lang="en-US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UN Comtrade-Datenbank; und OECD-Berechnungen.</a:t>
            </a:r>
            <a:endParaRPr lang="en-GB" sz="1100" dirty="0">
              <a:solidFill>
                <a:srgbClr val="171717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3887766" y="2174042"/>
            <a:ext cx="0" cy="3744506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67744" y="1265431"/>
            <a:ext cx="4536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Anteil der exportierten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Güter nach </a:t>
            </a:r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Komplexität</a:t>
            </a:r>
          </a:p>
        </p:txBody>
      </p:sp>
    </p:spTree>
    <p:extLst>
      <p:ext uri="{BB962C8B-B14F-4D97-AF65-F5344CB8AC3E}">
        <p14:creationId xmlns:p14="http://schemas.microsoft.com/office/powerpoint/2010/main" val="54893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Witheridge_W\AppData\Local\Microsoft\Windows\Temporary Internet Files\Content.Outlook\4375M1S6\E_Handout_Fig_Factors_Manuf_1_2P_P2CL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52" y="1592450"/>
            <a:ext cx="8546943" cy="4666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E284C4-5ED1-4D6C-B7CC-2049C3062C5E}" type="slidenum">
              <a:rPr lang="en-GB" smtClean="0"/>
              <a:t>16</a:t>
            </a:fld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2213" y="188640"/>
            <a:ext cx="8352928" cy="1022400"/>
          </a:xfrm>
        </p:spPr>
        <p:txBody>
          <a:bodyPr/>
          <a:lstStyle/>
          <a:p>
            <a:pPr algn="ctr"/>
            <a:r>
              <a:rPr lang="en-GB" sz="2800" b="1" dirty="0" smtClean="0">
                <a:solidFill>
                  <a:schemeClr val="tx2"/>
                </a:solidFill>
                <a:ea typeface="+mn-ea"/>
                <a:cs typeface="+mn-cs"/>
              </a:rPr>
              <a:t>Arbeitsplatzverluste im verarbeitenden Gewerbe und die Rolle von </a:t>
            </a:r>
            <a:br>
              <a:rPr lang="en-GB" sz="2800" b="1" dirty="0" smtClean="0">
                <a:solidFill>
                  <a:schemeClr val="tx2"/>
                </a:solidFill>
                <a:ea typeface="+mn-ea"/>
                <a:cs typeface="+mn-cs"/>
              </a:rPr>
            </a:br>
            <a:r>
              <a:rPr lang="en-GB" sz="2800" b="1" dirty="0" smtClean="0">
                <a:solidFill>
                  <a:schemeClr val="tx2"/>
                </a:solidFill>
                <a:ea typeface="+mn-ea"/>
                <a:cs typeface="+mn-cs"/>
              </a:rPr>
              <a:t>Technologie  Verbraucherpräferenzen vs. Handel</a:t>
            </a:r>
            <a:endParaRPr lang="en-GB" sz="2800" b="1" dirty="0">
              <a:solidFill>
                <a:schemeClr val="tx2"/>
              </a:solidFill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6088558"/>
            <a:ext cx="79928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/>
            </a:r>
            <a:br>
              <a:rPr lang="en-GB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</a:br>
            <a:r>
              <a:rPr lang="en-GB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Anmerkung: </a:t>
            </a:r>
            <a:r>
              <a:rPr lang="en-US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Zerlegung </a:t>
            </a:r>
            <a:r>
              <a:rPr lang="en-US" sz="1100" dirty="0">
                <a:solidFill>
                  <a:srgbClr val="171717"/>
                </a:solidFill>
                <a:latin typeface="Calibri" panose="020F0502020204030204" pitchFamily="34" charset="0"/>
              </a:rPr>
              <a:t>basierend auf </a:t>
            </a:r>
            <a:r>
              <a:rPr lang="en-US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Regressionsschätzung. Jeder Faktor basiert auf der Veränderung über den Zeitraum. Technologie und Verbraucherpräferenzen umfassen IKT- und Maschinerieinvestitionen, Veränderungen im Konsumanteil des verarbeitenden Gewerbes und zeitspezifische Effekte.</a:t>
            </a:r>
            <a:endParaRPr lang="en-GB" sz="1100" dirty="0" smtClean="0">
              <a:solidFill>
                <a:srgbClr val="171717"/>
              </a:solidFill>
              <a:latin typeface="Calibri" panose="020F0502020204030204" pitchFamily="34" charset="0"/>
            </a:endParaRPr>
          </a:p>
          <a:p>
            <a:r>
              <a:rPr lang="en-GB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Quelle</a:t>
            </a:r>
            <a:r>
              <a:rPr lang="en-GB" sz="1100" dirty="0">
                <a:solidFill>
                  <a:srgbClr val="171717"/>
                </a:solidFill>
                <a:latin typeface="Calibri" panose="020F0502020204030204" pitchFamily="34" charset="0"/>
              </a:rPr>
              <a:t>:</a:t>
            </a:r>
            <a:r>
              <a:rPr lang="en-US" sz="1100" dirty="0">
                <a:solidFill>
                  <a:srgbClr val="171717"/>
                </a:solidFill>
                <a:latin typeface="Calibri" panose="020F0502020204030204" pitchFamily="34" charset="0"/>
              </a:rPr>
              <a:t> </a:t>
            </a:r>
            <a:r>
              <a:rPr lang="en-US" sz="11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OECD Wirtschaftsausblick-Datenbank; STAN-Datenbank; und OECD-Berechnungen.</a:t>
            </a:r>
            <a:endParaRPr lang="en-GB" sz="1100" dirty="0">
              <a:solidFill>
                <a:srgbClr val="171717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9484" y="1289593"/>
            <a:ext cx="6696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Faktoren, die den Rückgang der Industriebeschäftigung erklären</a:t>
            </a:r>
          </a:p>
          <a:p>
            <a:pPr lvl="0" algn="ctr"/>
            <a:r>
              <a:rPr lang="en-US" sz="1200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Veränderung </a:t>
            </a:r>
            <a:r>
              <a:rPr lang="en-US" sz="1200" i="1" dirty="0">
                <a:solidFill>
                  <a:srgbClr val="000000"/>
                </a:solidFill>
                <a:latin typeface="Calibri" panose="020F0502020204030204" pitchFamily="34" charset="0"/>
              </a:rPr>
              <a:t>des </a:t>
            </a:r>
            <a:r>
              <a:rPr lang="en-US" sz="1200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Anteils an der </a:t>
            </a:r>
            <a:r>
              <a:rPr lang="en-US" sz="1200" i="1" dirty="0">
                <a:solidFill>
                  <a:srgbClr val="000000"/>
                </a:solidFill>
                <a:latin typeface="Calibri" panose="020F0502020204030204" pitchFamily="34" charset="0"/>
              </a:rPr>
              <a:t>Gesamt</a:t>
            </a:r>
            <a:r>
              <a:rPr lang="en-US" sz="1200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beschäftigung, </a:t>
            </a:r>
            <a:r>
              <a:rPr lang="en-US" sz="1200" i="1" dirty="0">
                <a:solidFill>
                  <a:srgbClr val="000000"/>
                </a:solidFill>
                <a:latin typeface="Calibri" panose="020F0502020204030204" pitchFamily="34" charset="0"/>
              </a:rPr>
              <a:t>jährlicher </a:t>
            </a:r>
            <a:r>
              <a:rPr lang="en-US" sz="1200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Durchschnitt 1990-2008</a:t>
            </a:r>
            <a:endParaRPr lang="en-US" sz="1200" i="1" dirty="0">
              <a:solidFill>
                <a:schemeClr val="bg2">
                  <a:lumMod val="10000"/>
                </a:schemeClr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18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\\main.oecd.org\sdataECO\Units\FRONTOFFICE\Economic Outlooks\EO101\Data and charts\PPT_Figs_E\E_Handout_Fig_Geographical_concentration_1_2P_P2CL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324" y="1536187"/>
            <a:ext cx="7551099" cy="4654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E284C4-5ED1-4D6C-B7CC-2049C3062C5E}" type="slidenum">
              <a:rPr lang="en-GB" smtClean="0"/>
              <a:t>17</a:t>
            </a:fld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80000" y="194269"/>
            <a:ext cx="7416000" cy="1022400"/>
          </a:xfrm>
        </p:spPr>
        <p:txBody>
          <a:bodyPr/>
          <a:lstStyle/>
          <a:p>
            <a:pPr algn="ctr">
              <a:defRPr/>
            </a:pPr>
            <a:r>
              <a:rPr lang="en-US" sz="2800" b="1" dirty="0" smtClean="0">
                <a:solidFill>
                  <a:schemeClr val="tx2"/>
                </a:solidFill>
              </a:rPr>
              <a:t>Rückgang im verarbeitenden Gewerbe ist bedeutsam, weil die Aktivität </a:t>
            </a:r>
            <a:r>
              <a:rPr lang="en-US" sz="2800" b="1" dirty="0">
                <a:solidFill>
                  <a:schemeClr val="tx2"/>
                </a:solidFill>
              </a:rPr>
              <a:t>regional </a:t>
            </a:r>
            <a:r>
              <a:rPr lang="en-US" sz="2800" b="1" dirty="0" smtClean="0">
                <a:solidFill>
                  <a:schemeClr val="tx2"/>
                </a:solidFill>
              </a:rPr>
              <a:t>konzentriert ist</a:t>
            </a:r>
            <a:endParaRPr lang="en-GB" sz="2800" b="1" dirty="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20652" y="1269371"/>
            <a:ext cx="5832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Geografischer Konzentrationsindex nach Sektor</a:t>
            </a:r>
          </a:p>
          <a:p>
            <a:pPr lvl="0" algn="ctr"/>
            <a:r>
              <a:rPr lang="en-US" sz="12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Durchschnitt von 2000 bis 2015 oder aktuellster Wert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37" y="5991622"/>
            <a:ext cx="8435360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171717"/>
                </a:solidFill>
                <a:latin typeface="Calibri" panose="020F0502020204030204" pitchFamily="34" charset="0"/>
              </a:rPr>
              <a:t>Anmerkung: „Distributiver Handel“ umfasst Distributionshandel, Reparaturen, Transport und Lagerung, Beherbergungs- und Gastronomietätigkeiten. </a:t>
            </a:r>
            <a:r>
              <a:rPr lang="en-US" sz="1050" dirty="0" smtClean="0">
                <a:solidFill>
                  <a:srgbClr val="171717"/>
                </a:solidFill>
                <a:latin typeface="Calibri" panose="020F0502020204030204" pitchFamily="34" charset="0"/>
              </a:rPr>
              <a:t>Der Index misst </a:t>
            </a:r>
            <a:r>
              <a:rPr lang="en-US" sz="1050" dirty="0">
                <a:solidFill>
                  <a:srgbClr val="171717"/>
                </a:solidFill>
                <a:latin typeface="Calibri" panose="020F0502020204030204" pitchFamily="34" charset="0"/>
              </a:rPr>
              <a:t>das Ausmaß, in dem </a:t>
            </a:r>
            <a:r>
              <a:rPr lang="en-US" sz="1050" dirty="0" smtClean="0">
                <a:solidFill>
                  <a:srgbClr val="171717"/>
                </a:solidFill>
                <a:latin typeface="Calibri" panose="020F0502020204030204" pitchFamily="34" charset="0"/>
              </a:rPr>
              <a:t>Beschäftigung in bestimmten Regionen konzentriert ist, variierend zwischen 0 (keine </a:t>
            </a:r>
            <a:r>
              <a:rPr lang="en-US" sz="1050" dirty="0">
                <a:solidFill>
                  <a:srgbClr val="171717"/>
                </a:solidFill>
                <a:latin typeface="Calibri" panose="020F0502020204030204" pitchFamily="34" charset="0"/>
              </a:rPr>
              <a:t>Konzentration, wobei alle </a:t>
            </a:r>
            <a:r>
              <a:rPr lang="en-US" sz="1050" dirty="0" smtClean="0">
                <a:solidFill>
                  <a:srgbClr val="171717"/>
                </a:solidFill>
                <a:latin typeface="Calibri" panose="020F0502020204030204" pitchFamily="34" charset="0"/>
              </a:rPr>
              <a:t>Regionen eines Landes die gleiche Beschäftigungsquote im verarbeitenden Gewerbe aufweisen </a:t>
            </a:r>
            <a:r>
              <a:rPr lang="en-US" sz="1050" dirty="0">
                <a:solidFill>
                  <a:srgbClr val="171717"/>
                </a:solidFill>
                <a:latin typeface="Calibri" panose="020F0502020204030204" pitchFamily="34" charset="0"/>
              </a:rPr>
              <a:t>) </a:t>
            </a:r>
            <a:r>
              <a:rPr lang="en-US" sz="1050" dirty="0" smtClean="0">
                <a:solidFill>
                  <a:srgbClr val="171717"/>
                </a:solidFill>
                <a:latin typeface="Calibri" panose="020F0502020204030204" pitchFamily="34" charset="0"/>
              </a:rPr>
              <a:t>und </a:t>
            </a:r>
            <a:r>
              <a:rPr lang="en-US" sz="1050" dirty="0">
                <a:solidFill>
                  <a:srgbClr val="171717"/>
                </a:solidFill>
                <a:latin typeface="Calibri" panose="020F0502020204030204" pitchFamily="34" charset="0"/>
              </a:rPr>
              <a:t>100 </a:t>
            </a:r>
            <a:r>
              <a:rPr lang="en-US" sz="1050" dirty="0" smtClean="0">
                <a:solidFill>
                  <a:srgbClr val="171717"/>
                </a:solidFill>
                <a:latin typeface="Calibri" panose="020F0502020204030204" pitchFamily="34" charset="0"/>
              </a:rPr>
              <a:t>(maximale </a:t>
            </a:r>
            <a:r>
              <a:rPr lang="en-US" sz="1050" dirty="0">
                <a:solidFill>
                  <a:srgbClr val="171717"/>
                </a:solidFill>
                <a:latin typeface="Calibri" panose="020F0502020204030204" pitchFamily="34" charset="0"/>
              </a:rPr>
              <a:t>Konzentration, wobei die gesamte </a:t>
            </a:r>
            <a:r>
              <a:rPr lang="en-US" sz="1050" dirty="0" smtClean="0">
                <a:solidFill>
                  <a:srgbClr val="171717"/>
                </a:solidFill>
                <a:latin typeface="Calibri" panose="020F0502020204030204" pitchFamily="34" charset="0"/>
              </a:rPr>
              <a:t>Beschäftigung im verarbeitenden Gewerbe in der kleinsten Region konzentriert ist</a:t>
            </a:r>
            <a:r>
              <a:rPr lang="en-US" sz="1050" dirty="0">
                <a:solidFill>
                  <a:srgbClr val="171717"/>
                </a:solidFill>
                <a:latin typeface="Calibri" panose="020F0502020204030204" pitchFamily="34" charset="0"/>
              </a:rPr>
              <a:t>). Der Index berücksichtigt die Größe der Region und basiert auf OECD </a:t>
            </a:r>
            <a:r>
              <a:rPr lang="en-US" sz="1050" dirty="0" smtClean="0">
                <a:solidFill>
                  <a:srgbClr val="171717"/>
                </a:solidFill>
                <a:latin typeface="Calibri" panose="020F0502020204030204" pitchFamily="34" charset="0"/>
              </a:rPr>
              <a:t>(2003</a:t>
            </a:r>
            <a:r>
              <a:rPr lang="en-US" sz="1050" dirty="0">
                <a:solidFill>
                  <a:srgbClr val="171717"/>
                </a:solidFill>
                <a:latin typeface="Calibri" panose="020F0502020204030204" pitchFamily="34" charset="0"/>
              </a:rPr>
              <a:t>) </a:t>
            </a:r>
            <a:r>
              <a:rPr lang="en-US" sz="1050" dirty="0" smtClean="0">
                <a:solidFill>
                  <a:srgbClr val="171717"/>
                </a:solidFill>
                <a:latin typeface="Calibri" panose="020F0502020204030204" pitchFamily="34" charset="0"/>
              </a:rPr>
              <a:t>„Geografische Konzentration und territoriale Disparität in OECD-Ländern</a:t>
            </a:r>
            <a:r>
              <a:rPr lang="en-US" sz="1050" dirty="0">
                <a:solidFill>
                  <a:srgbClr val="171717"/>
                </a:solidFill>
                <a:latin typeface="Calibri" panose="020F0502020204030204" pitchFamily="34" charset="0"/>
              </a:rPr>
              <a:t>“. </a:t>
            </a:r>
            <a:r>
              <a:rPr lang="en-US" sz="1050" dirty="0" smtClean="0">
                <a:solidFill>
                  <a:srgbClr val="171717"/>
                </a:solidFill>
                <a:latin typeface="Calibri" panose="020F0502020204030204" pitchFamily="34" charset="0"/>
              </a:rPr>
              <a:t>Quelle:</a:t>
            </a:r>
            <a:br>
              <a:rPr lang="en-US" sz="1050" dirty="0" smtClean="0">
                <a:solidFill>
                  <a:srgbClr val="171717"/>
                </a:solidFill>
                <a:latin typeface="Calibri" panose="020F0502020204030204" pitchFamily="34" charset="0"/>
              </a:rPr>
            </a:br>
            <a:r>
              <a:rPr lang="en-GB" sz="1050" dirty="0" smtClean="0">
                <a:solidFill>
                  <a:srgbClr val="171717"/>
                </a:solidFill>
                <a:latin typeface="Calibri" panose="020F0502020204030204" pitchFamily="34" charset="0"/>
              </a:rPr>
              <a:t> </a:t>
            </a:r>
            <a:r>
              <a:rPr lang="en-US" sz="1050" i="1" dirty="0" smtClean="0">
                <a:solidFill>
                  <a:srgbClr val="171717"/>
                </a:solidFill>
                <a:latin typeface="Calibri" panose="020F0502020204030204" pitchFamily="34" charset="0"/>
              </a:rPr>
              <a:t> </a:t>
            </a:r>
            <a:r>
              <a:rPr lang="en-US" sz="1050" dirty="0">
                <a:solidFill>
                  <a:srgbClr val="171717"/>
                </a:solidFill>
                <a:latin typeface="Calibri" panose="020F0502020204030204" pitchFamily="34" charset="0"/>
              </a:rPr>
              <a:t>datenbank; </a:t>
            </a:r>
            <a:r>
              <a:rPr lang="en-US" sz="1050" dirty="0" smtClean="0">
                <a:solidFill>
                  <a:srgbClr val="171717"/>
                </a:solidFill>
                <a:latin typeface="Calibri" panose="020F0502020204030204" pitchFamily="34" charset="0"/>
              </a:rPr>
              <a:t>und OECD-Berechnungen</a:t>
            </a:r>
            <a:r>
              <a:rPr lang="en-US" sz="1050" dirty="0">
                <a:solidFill>
                  <a:srgbClr val="171717"/>
                </a:solidFill>
                <a:latin typeface="Calibri" panose="020F0502020204030204" pitchFamily="34" charset="0"/>
              </a:rPr>
              <a:t>.</a:t>
            </a:r>
            <a:r>
              <a:rPr lang="en-US" sz="1050" dirty="0" smtClean="0">
                <a:solidFill>
                  <a:srgbClr val="171717"/>
                </a:solidFill>
                <a:latin typeface="Calibri" panose="020F0502020204030204" pitchFamily="34" charset="0"/>
              </a:rPr>
              <a:t/>
            </a:r>
            <a:endParaRPr lang="en-GB" sz="1050" dirty="0">
              <a:solidFill>
                <a:srgbClr val="171717"/>
              </a:solidFill>
              <a:latin typeface="Calibri" panose="020F0502020204030204" pitchFamily="34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6129959" y="2518348"/>
            <a:ext cx="0" cy="948264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82487" y="2704622"/>
            <a:ext cx="1345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Stärker konzentriert</a:t>
            </a:r>
            <a:endParaRPr lang="en-GB" sz="1400" b="1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038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\\main.oecd.org\sdataECO\Units\FRONTOFFICE\Economic Outlooks\EO101\Data and charts\PPT_Figs_E\E_Handout_Fig_Manufacturing_1_2P_P2CL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484744"/>
            <a:ext cx="8387061" cy="501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E284C4-5ED1-4D6C-B7CC-2049C3062C5E}" type="slidenum">
              <a:rPr lang="en-GB" smtClean="0"/>
              <a:t>18</a:t>
            </a:fld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09408" y="188640"/>
            <a:ext cx="7632024" cy="1022400"/>
          </a:xfrm>
        </p:spPr>
        <p:txBody>
          <a:bodyPr/>
          <a:lstStyle/>
          <a:p>
            <a:pPr algn="ctr"/>
            <a:r>
              <a:rPr lang="en-US" sz="2800" b="1" dirty="0" smtClean="0">
                <a:solidFill>
                  <a:schemeClr val="tx2"/>
                </a:solidFill>
              </a:rPr>
              <a:t>Länder mit stärkerem Rückgang der Industriebeschäftigung verzeichnen zunehmende regionale Ungleichheit</a:t>
            </a:r>
            <a:endParaRPr lang="en-US" sz="2800" b="1" dirty="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5079" y="6411722"/>
            <a:ext cx="820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>
                <a:solidFill>
                  <a:srgbClr val="171717"/>
                </a:solidFill>
                <a:latin typeface="Calibri" panose="020F0502020204030204" pitchFamily="34" charset="0"/>
              </a:rPr>
              <a:t/>
            </a:r>
            <a:br>
              <a:rPr lang="en-GB" sz="1200" dirty="0" smtClean="0">
                <a:solidFill>
                  <a:srgbClr val="171717"/>
                </a:solidFill>
                <a:latin typeface="Calibri" panose="020F0502020204030204" pitchFamily="34" charset="0"/>
              </a:rPr>
            </a:br>
            <a:r>
              <a:rPr lang="en-GB" sz="12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Quelle:</a:t>
            </a:r>
            <a:r>
              <a:rPr lang="en-US" sz="1200" i="1" dirty="0" smtClean="0">
                <a:solidFill>
                  <a:srgbClr val="171717"/>
                </a:solidFill>
                <a:latin typeface="Calibri" panose="020F0502020204030204" pitchFamily="34" charset="0"/>
              </a:rPr>
              <a:t> </a:t>
            </a:r>
            <a:r>
              <a:rPr lang="en-US" sz="1200" dirty="0" smtClean="0">
                <a:solidFill>
                  <a:srgbClr val="171717"/>
                </a:solidFill>
                <a:latin typeface="Calibri" panose="020F0502020204030204" pitchFamily="34" charset="0"/>
              </a:rPr>
              <a:t>OECD Regionaldatenbank; und OECD-Berechnungen.</a:t>
            </a:r>
            <a:endParaRPr lang="en-GB" sz="1200" dirty="0">
              <a:solidFill>
                <a:srgbClr val="171717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77136" y="1312302"/>
            <a:ext cx="58326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Veränderung der </a:t>
            </a: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durchschnittlichen Einkommensungleichheit </a:t>
            </a:r>
            <a:r>
              <a:rPr lang="en-US" sz="14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zwischen Regionen</a:t>
            </a:r>
            <a:r>
              <a:rPr lang="en-US" sz="1400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/>
            </a:r>
            <a:br>
              <a:rPr lang="en-US" sz="1400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</a:br>
            <a:r>
              <a:rPr lang="en-US" sz="1200" i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2000 bis 2015 oder jüngster Wert, Verhältnis 90:50 Perzentile, </a:t>
            </a:r>
            <a:r>
              <a:rPr lang="en-US" sz="12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% </a:t>
            </a:r>
            <a:r>
              <a:rPr lang="en-US" sz="1200" i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Pkt.</a:t>
            </a:r>
            <a:endParaRPr lang="en-US" sz="1400" i="1" dirty="0" smtClean="0">
              <a:solidFill>
                <a:schemeClr val="bg2">
                  <a:lumMod val="10000"/>
                </a:schemeClr>
              </a:solidFill>
              <a:latin typeface="Calibri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44003" y="6093934"/>
            <a:ext cx="631657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Veränderung der nationalen Beschäftigungsquote im verarbeitenden Gewerbe</a:t>
            </a:r>
            <a:r>
              <a:rPr lang="en-US" sz="1400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/>
            </a:r>
            <a:br>
              <a:rPr lang="en-US" sz="1400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</a:br>
            <a:r>
              <a:rPr lang="en-US" sz="12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2000 bis 2015 oder </a:t>
            </a:r>
            <a:r>
              <a:rPr lang="en-US" sz="1200" i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jüngster Wert, % Pkt.</a:t>
            </a:r>
            <a:endParaRPr lang="en-US" sz="1400" i="1" dirty="0" smtClean="0">
              <a:solidFill>
                <a:schemeClr val="bg2">
                  <a:lumMod val="10000"/>
                </a:schemeClr>
              </a:solidFill>
              <a:latin typeface="Calibri" pitchFamily="34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1403759" y="2239070"/>
            <a:ext cx="0" cy="1296144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" y="2485347"/>
            <a:ext cx="14559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Zunehmende Streuung der Regionaleinkommen</a:t>
            </a:r>
            <a:endParaRPr lang="en-GB" sz="1400" b="1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44490" y="5273326"/>
            <a:ext cx="2343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Rückgang des Anteils der</a:t>
            </a:r>
            <a:br>
              <a:rPr lang="en-GB" sz="1400" b="1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</a:br>
            <a:r>
              <a:rPr lang="en-GB" sz="1400" b="1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Industriearbeitsplätze</a:t>
            </a:r>
            <a:endParaRPr lang="en-GB" sz="1400" b="1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1803890" y="5244298"/>
            <a:ext cx="1440160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57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284C4-5ED1-4D6C-B7CC-2049C3062C5E}" type="slidenum">
              <a:rPr lang="en-GB" smtClean="0"/>
              <a:t>19</a:t>
            </a:fld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323528" y="2492896"/>
            <a:ext cx="856895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4000" b="1" dirty="0" smtClean="0">
                <a:solidFill>
                  <a:srgbClr val="006299"/>
                </a:solidFill>
                <a:latin typeface="Arial"/>
              </a:rPr>
              <a:t>Ein </a:t>
            </a:r>
            <a:r>
              <a:rPr lang="en-US" sz="4000" b="1" dirty="0">
                <a:solidFill>
                  <a:srgbClr val="006299"/>
                </a:solidFill>
                <a:latin typeface="Arial"/>
              </a:rPr>
              <a:t>integrierter </a:t>
            </a:r>
            <a:r>
              <a:rPr lang="en-US" sz="4000" b="1" dirty="0" smtClean="0">
                <a:solidFill>
                  <a:srgbClr val="006299"/>
                </a:solidFill>
                <a:latin typeface="Arial"/>
              </a:rPr>
              <a:t>politischer Ansatz </a:t>
            </a:r>
            <a:br>
              <a:rPr lang="en-US" sz="4000" b="1" dirty="0" smtClean="0">
                <a:solidFill>
                  <a:srgbClr val="006299"/>
                </a:solidFill>
                <a:latin typeface="Arial"/>
              </a:rPr>
            </a:br>
            <a:r>
              <a:rPr lang="en-US" sz="4000" b="1" dirty="0" smtClean="0">
                <a:solidFill>
                  <a:srgbClr val="006299"/>
                </a:solidFill>
                <a:latin typeface="Arial"/>
              </a:rPr>
              <a:t>ist </a:t>
            </a:r>
            <a:r>
              <a:rPr lang="en-US" sz="4000" b="1" dirty="0">
                <a:solidFill>
                  <a:srgbClr val="006299"/>
                </a:solidFill>
                <a:latin typeface="Arial"/>
              </a:rPr>
              <a:t>erforderlich, </a:t>
            </a:r>
            <a:r>
              <a:rPr lang="en-US" sz="4000" b="1" dirty="0" smtClean="0">
                <a:solidFill>
                  <a:srgbClr val="006299"/>
                </a:solidFill>
                <a:latin typeface="Arial"/>
              </a:rPr>
              <a:t>um auf </a:t>
            </a:r>
            <a:br>
              <a:rPr lang="en-US" sz="4000" b="1" dirty="0" smtClean="0">
                <a:solidFill>
                  <a:srgbClr val="006299"/>
                </a:solidFill>
                <a:latin typeface="Arial"/>
              </a:rPr>
            </a:br>
            <a:r>
              <a:rPr lang="en-US" sz="4000" b="1" dirty="0" smtClean="0">
                <a:solidFill>
                  <a:srgbClr val="006299"/>
                </a:solidFill>
                <a:latin typeface="Arial"/>
              </a:rPr>
              <a:t>strukturelle Trends zu reagieren und die </a:t>
            </a:r>
            <a:br>
              <a:rPr lang="en-US" sz="4000" b="1" dirty="0" smtClean="0">
                <a:solidFill>
                  <a:srgbClr val="006299"/>
                </a:solidFill>
                <a:latin typeface="Arial"/>
              </a:rPr>
            </a:br>
            <a:r>
              <a:rPr lang="en-US" sz="4000" b="1" dirty="0" smtClean="0">
                <a:solidFill>
                  <a:srgbClr val="006299"/>
                </a:solidFill>
                <a:latin typeface="Arial"/>
              </a:rPr>
              <a:t>Globalisierung </a:t>
            </a:r>
            <a:r>
              <a:rPr lang="en-US" sz="4000" b="1" dirty="0">
                <a:solidFill>
                  <a:srgbClr val="006299"/>
                </a:solidFill>
                <a:latin typeface="Arial"/>
              </a:rPr>
              <a:t>für alle zu gestalten</a:t>
            </a:r>
          </a:p>
        </p:txBody>
      </p:sp>
    </p:spTree>
    <p:extLst>
      <p:ext uri="{BB962C8B-B14F-4D97-AF65-F5344CB8AC3E}">
        <p14:creationId xmlns:p14="http://schemas.microsoft.com/office/powerpoint/2010/main" val="3418968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\\main.oecd.org\sdataECO\Units\FRONTOFFICE\Economic Outlooks\EO101\Data and charts\PPT_Figs_E\E_Handout_Fig_GfG_Reforms_Trade_1_2P_P2CL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66" y="1803122"/>
            <a:ext cx="4277184" cy="493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284C4-5ED1-4D6C-B7CC-2049C3062C5E}" type="slidenum">
              <a:rPr lang="en-GB" smtClean="0"/>
              <a:t>20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539552" y="246721"/>
            <a:ext cx="850976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800" b="1" dirty="0">
                <a:solidFill>
                  <a:srgbClr val="006299"/>
                </a:solidFill>
                <a:latin typeface="Arial"/>
              </a:rPr>
              <a:t>Das internationale System verbessern </a:t>
            </a:r>
            <a:r>
              <a:rPr lang="en-GB" sz="2800" b="1" dirty="0" smtClean="0">
                <a:solidFill>
                  <a:srgbClr val="006299"/>
                </a:solidFill>
                <a:latin typeface="Arial"/>
              </a:rPr>
              <a:t>und</a:t>
            </a:r>
            <a:br>
              <a:rPr lang="en-GB" sz="2800" b="1" dirty="0" smtClean="0">
                <a:solidFill>
                  <a:srgbClr val="006299"/>
                </a:solidFill>
                <a:latin typeface="Arial"/>
              </a:rPr>
            </a:br>
            <a:r>
              <a:rPr lang="en-GB" sz="2800" b="1" dirty="0" smtClean="0">
                <a:solidFill>
                  <a:srgbClr val="006299"/>
                </a:solidFill>
                <a:latin typeface="Arial"/>
              </a:rPr>
              <a:t> </a:t>
            </a:r>
            <a:r>
              <a:rPr lang="en-GB" sz="2800" b="1" dirty="0">
                <a:solidFill>
                  <a:srgbClr val="006299"/>
                </a:solidFill>
                <a:latin typeface="Arial"/>
              </a:rPr>
              <a:t>gleiche Wettbewerbsbedingungen schaffen</a:t>
            </a:r>
          </a:p>
        </p:txBody>
      </p:sp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2048557882"/>
              </p:ext>
            </p:extLst>
          </p:nvPr>
        </p:nvGraphicFramePr>
        <p:xfrm>
          <a:off x="4499992" y="1628800"/>
          <a:ext cx="4536504" cy="4896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98439" y="6442502"/>
            <a:ext cx="424847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Anmerkung: Umfasst alle OECD- und BRIICS-Länder, die EU und Kolumbien.</a:t>
            </a:r>
          </a:p>
          <a:p>
            <a:r>
              <a:rPr lang="en-GB" sz="105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Quelle: OECD </a:t>
            </a:r>
            <a:r>
              <a:rPr lang="en-GB" sz="1050" i="1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Going for Growth </a:t>
            </a:r>
            <a:r>
              <a:rPr lang="en-GB" sz="105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2017</a:t>
            </a:r>
            <a:endParaRPr lang="en-GB" sz="105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244002" y="1323915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Maßnahmen als Reaktion auf OECD-</a:t>
            </a:r>
            <a:r>
              <a:rPr lang="en-US" sz="1600" b="1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Going for Growth-</a:t>
            </a:r>
            <a:r>
              <a:rPr lang="en-US" sz="16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Empfehlungen</a:t>
            </a:r>
            <a:br>
              <a:rPr lang="en-US" sz="16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</a:br>
            <a:r>
              <a:rPr lang="en-US" sz="1200" i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Anzahl der Reformen, 2015-16</a:t>
            </a:r>
            <a:endParaRPr lang="en-US" sz="1200" i="1" dirty="0">
              <a:solidFill>
                <a:schemeClr val="bg2">
                  <a:lumMod val="10000"/>
                </a:schemeClr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262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\\main.oecd.org\sdataECO\Units\FRONTOFFICE\Economic Outlooks\EO101\Data and charts\PPT_Figs_E\E_Handout_Fig_GfG_Reforms_Others_1_2P_P2CL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635074"/>
            <a:ext cx="8957618" cy="4890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284C4-5ED1-4D6C-B7CC-2049C3062C5E}" type="slidenum">
              <a:rPr lang="en-GB" smtClean="0"/>
              <a:t>21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467544" y="221321"/>
            <a:ext cx="850976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 smtClean="0">
                <a:solidFill>
                  <a:schemeClr val="tx2"/>
                </a:solidFill>
                <a:latin typeface="+mj-lt"/>
              </a:rPr>
              <a:t>Inländische Reformpakete umsetzen,</a:t>
            </a:r>
            <a:br>
              <a:rPr lang="en-US" sz="2800" b="1" dirty="0" smtClean="0">
                <a:solidFill>
                  <a:schemeClr val="tx2"/>
                </a:solidFill>
                <a:latin typeface="+mj-lt"/>
              </a:rPr>
            </a:br>
            <a:r>
              <a:rPr lang="en-US" sz="2800" b="1" dirty="0" smtClean="0">
                <a:solidFill>
                  <a:schemeClr val="tx2"/>
                </a:solidFill>
                <a:latin typeface="+mj-lt"/>
              </a:rPr>
              <a:t>um inklusives Wachstum zu stärken</a:t>
            </a:r>
            <a:endParaRPr lang="en-GB" sz="2800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6272" y="1315367"/>
            <a:ext cx="7327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Maßnahmen als Reaktion auf OECD-</a:t>
            </a:r>
            <a:r>
              <a:rPr lang="en-US" sz="1600" b="1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Going for Growth-</a:t>
            </a:r>
            <a:r>
              <a:rPr lang="en-US" sz="16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Empfehlungen</a:t>
            </a:r>
            <a:endParaRPr lang="en-US" sz="1600" b="1" dirty="0">
              <a:solidFill>
                <a:schemeClr val="bg2">
                  <a:lumMod val="10000"/>
                </a:schemeClr>
              </a:solidFill>
              <a:latin typeface="Calibri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6441871"/>
            <a:ext cx="424847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Anmerkung: Umfasst alle OECD- und BRIICS-Länder, die EU und Kolumbien.</a:t>
            </a:r>
          </a:p>
          <a:p>
            <a:r>
              <a:rPr lang="en-GB" sz="105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Quelle: OECD </a:t>
            </a:r>
            <a:r>
              <a:rPr lang="en-GB" sz="1050" i="1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Going for Growth </a:t>
            </a:r>
            <a:r>
              <a:rPr lang="en-GB" sz="105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2017</a:t>
            </a:r>
            <a:endParaRPr lang="en-GB" sz="105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26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7584" y="243713"/>
            <a:ext cx="792088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 smtClean="0">
                <a:solidFill>
                  <a:schemeClr val="tx2"/>
                </a:solidFill>
                <a:latin typeface="+mj-lt"/>
              </a:rPr>
              <a:t> Menschen und verdrängte Arbeitnehmer dabei unterstützen, </a:t>
            </a:r>
            <a:br>
              <a:rPr lang="en-US" sz="2800" b="1" dirty="0" smtClean="0">
                <a:solidFill>
                  <a:schemeClr val="tx2"/>
                </a:solidFill>
                <a:latin typeface="+mj-lt"/>
              </a:rPr>
            </a:br>
            <a:r>
              <a:rPr lang="en-US" sz="2800" b="1" dirty="0" smtClean="0">
                <a:solidFill>
                  <a:schemeClr val="tx2"/>
                </a:solidFill>
                <a:latin typeface="+mj-lt"/>
              </a:rPr>
              <a:t>sich anzupassen und neue Chancen zu nutzen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284C4-5ED1-4D6C-B7CC-2049C3062C5E}" type="slidenum">
              <a:rPr lang="en-GB" smtClean="0"/>
              <a:t>22</a:t>
            </a:fld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792229" y="6396335"/>
            <a:ext cx="7297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r>
              <a:rPr lang="en-GB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Quelle: 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OECD </a:t>
            </a:r>
            <a:r>
              <a:rPr lang="en-US" sz="1200" i="1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Going for Growth </a:t>
            </a:r>
            <a:r>
              <a:rPr lang="en-US" sz="12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2017.</a:t>
            </a:r>
            <a:endParaRPr lang="en-GB" sz="12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722210"/>
              </p:ext>
            </p:extLst>
          </p:nvPr>
        </p:nvGraphicFramePr>
        <p:xfrm>
          <a:off x="738565" y="1412772"/>
          <a:ext cx="7937892" cy="5036646"/>
        </p:xfrm>
        <a:graphic>
          <a:graphicData uri="http://schemas.openxmlformats.org/drawingml/2006/table">
            <a:tbl>
              <a:tblPr/>
              <a:tblGrid>
                <a:gridCol w="661491"/>
                <a:gridCol w="661491"/>
                <a:gridCol w="661491"/>
                <a:gridCol w="661491"/>
                <a:gridCol w="661491"/>
                <a:gridCol w="661491"/>
                <a:gridCol w="661491"/>
                <a:gridCol w="661491"/>
                <a:gridCol w="661491"/>
                <a:gridCol w="661491"/>
                <a:gridCol w="661491"/>
                <a:gridCol w="661491"/>
              </a:tblGrid>
              <a:tr h="383161">
                <a:tc gridSpan="7">
                  <a:txBody>
                    <a:bodyPr/>
                    <a:lstStyle/>
                    <a:p>
                      <a:pPr algn="l" rtl="0" fontAlgn="t"/>
                      <a:r>
                        <a:rPr lang="en-GB" sz="1600" b="0" i="1" u="none" strike="noStrike" dirty="0">
                          <a:solidFill>
                            <a:srgbClr val="171717"/>
                          </a:solidFill>
                          <a:effectLst/>
                          <a:latin typeface="Calibri"/>
                        </a:rPr>
                        <a:t> 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GB" sz="1400" b="1" i="0" u="none" strike="noStrike" kern="1200" dirty="0">
                          <a:solidFill>
                            <a:srgbClr val="17171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Countries with </a:t>
                      </a:r>
                      <a:r>
                        <a:rPr kumimoji="0" lang="en-GB" sz="1400" b="1" i="0" u="none" strike="noStrike" kern="1200" dirty="0" smtClean="0">
                          <a:solidFill>
                            <a:srgbClr val="17171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OECD</a:t>
                      </a:r>
                      <a:r>
                        <a:rPr kumimoji="0" lang="en-GB" sz="1400" b="1" i="0" u="none" strike="noStrike" kern="1200" baseline="0" dirty="0" smtClean="0">
                          <a:solidFill>
                            <a:srgbClr val="17171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</a:t>
                      </a:r>
                      <a:br>
                        <a:rPr kumimoji="0" lang="en-GB" sz="1400" b="1" i="0" u="none" strike="noStrike" kern="1200" baseline="0" dirty="0" smtClean="0">
                          <a:solidFill>
                            <a:srgbClr val="17171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</a:br>
                      <a:r>
                        <a:rPr kumimoji="0" lang="en-GB" sz="1400" b="1" i="1" u="none" strike="noStrike" kern="1200" baseline="0" dirty="0" smtClean="0">
                          <a:solidFill>
                            <a:srgbClr val="17171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Going for Growth </a:t>
                      </a:r>
                      <a:r>
                        <a:rPr kumimoji="0" lang="en-GB" sz="1400" b="1" i="0" u="none" strike="noStrike" kern="1200" dirty="0" smtClean="0">
                          <a:solidFill>
                            <a:srgbClr val="17171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reform</a:t>
                      </a:r>
                      <a:r>
                        <a:rPr kumimoji="0" lang="en-GB" sz="1400" b="1" i="0" u="none" strike="noStrike" kern="1200" baseline="0" dirty="0" smtClean="0">
                          <a:solidFill>
                            <a:srgbClr val="17171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400" b="1" i="0" u="none" strike="noStrike" kern="1200" dirty="0" smtClean="0">
                          <a:solidFill>
                            <a:srgbClr val="17171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priority </a:t>
                      </a:r>
                      <a:endParaRPr kumimoji="0" lang="en-GB" sz="1400" b="1" i="0" u="none" strike="noStrike" kern="1200" dirty="0">
                        <a:solidFill>
                          <a:srgbClr val="17171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5521">
                <a:tc gridSpan="7">
                  <a:txBody>
                    <a:bodyPr/>
                    <a:lstStyle/>
                    <a:p>
                      <a:pPr algn="l" rtl="0" fontAlgn="ctr"/>
                      <a:r>
                        <a:rPr kumimoji="0" lang="en-GB" sz="1800" b="1" kern="1200" dirty="0" smtClean="0">
                          <a:solidFill>
                            <a:srgbClr val="17B917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Help laid-off</a:t>
                      </a:r>
                      <a:r>
                        <a:rPr kumimoji="0" lang="en-GB" sz="1800" b="1" kern="1200" baseline="0" dirty="0" smtClean="0">
                          <a:solidFill>
                            <a:srgbClr val="17B917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workers to find a new job</a:t>
                      </a:r>
                      <a:endParaRPr lang="en-GB" sz="1800" b="1" i="0" u="none" strike="noStrike" dirty="0">
                        <a:solidFill>
                          <a:srgbClr val="17171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GB" sz="1600" b="1" i="0" u="none" strike="noStrike" dirty="0">
                        <a:solidFill>
                          <a:srgbClr val="17171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GB" sz="1600" b="1" i="0" u="none" strike="noStrike" dirty="0">
                        <a:solidFill>
                          <a:srgbClr val="17171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GB" sz="1600" b="1" i="0" u="none" strike="noStrike" dirty="0">
                        <a:solidFill>
                          <a:srgbClr val="17171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GB" sz="1600" b="1" i="0" u="none" strike="noStrike" dirty="0">
                        <a:solidFill>
                          <a:srgbClr val="17171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GB" sz="1600" b="1" i="0" u="none" strike="noStrike" dirty="0">
                        <a:solidFill>
                          <a:srgbClr val="17171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GB" sz="1600" b="1" i="0" u="none" strike="noStrike" dirty="0">
                        <a:solidFill>
                          <a:srgbClr val="17171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 dirty="0">
                          <a:solidFill>
                            <a:srgbClr val="171717"/>
                          </a:solidFill>
                          <a:effectLst/>
                          <a:latin typeface="Arial Narrow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 dirty="0">
                          <a:solidFill>
                            <a:srgbClr val="171717"/>
                          </a:solidFill>
                          <a:effectLst/>
                          <a:latin typeface="Arial Narrow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 dirty="0">
                          <a:solidFill>
                            <a:srgbClr val="171717"/>
                          </a:solidFill>
                          <a:effectLst/>
                          <a:latin typeface="Arial Narrow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 dirty="0">
                          <a:solidFill>
                            <a:srgbClr val="171717"/>
                          </a:solidFill>
                          <a:effectLst/>
                          <a:latin typeface="Arial Narrow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766321">
                <a:tc gridSpan="7"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/>
                        </a:rPr>
                        <a:t>Increase the scope and efficiency of active labour market policies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1" kern="12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ARG ESP EST GBR GRC ISR ITA JPN LTU LUX LVA NLD SVN SVK USA ZAF</a:t>
                      </a:r>
                      <a:endParaRPr kumimoji="0" lang="en-GB" sz="1400" b="1" kern="1200" dirty="0">
                        <a:solidFill>
                          <a:schemeClr val="bg2">
                            <a:lumMod val="10000"/>
                          </a:schemeClr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521">
                <a:tc>
                  <a:txBody>
                    <a:bodyPr/>
                    <a:lstStyle/>
                    <a:p>
                      <a:pPr algn="l" fontAlgn="ctr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1400" b="0" i="0" u="none" strike="noStrike" dirty="0">
                        <a:solidFill>
                          <a:srgbClr val="17171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5193">
                <a:tc gridSpan="7"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/>
                        </a:rPr>
                        <a:t>Boost job creation by reducing the tax wedge on </a:t>
                      </a:r>
                      <a:br>
                        <a:rPr lang="en-US" sz="1600" b="1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600" b="1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/>
                        </a:rPr>
                        <a:t>low-skilled workers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1" kern="12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BEL DEU ESP EST HUN </a:t>
                      </a:r>
                      <a:br>
                        <a:rPr kumimoji="0" lang="en-GB" sz="1400" b="1" kern="12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</a:br>
                      <a:r>
                        <a:rPr kumimoji="0" lang="en-GB" sz="1400" b="1" kern="12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ITA LVA NLD POL TUR</a:t>
                      </a:r>
                      <a:endParaRPr kumimoji="0" lang="en-GB" sz="1400" b="1" kern="1200" dirty="0">
                        <a:solidFill>
                          <a:schemeClr val="bg2">
                            <a:lumMod val="10000"/>
                          </a:schemeClr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521">
                <a:tc gridSpan="6">
                  <a:txBody>
                    <a:bodyPr/>
                    <a:lstStyle/>
                    <a:p>
                      <a:pPr algn="l" fontAlgn="ctr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rtl="0" fontAlgn="ctr"/>
                      <a:endParaRPr lang="en-GB" sz="1400" b="0" i="0" u="none" strike="noStrike" dirty="0">
                        <a:solidFill>
                          <a:srgbClr val="17171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95521">
                <a:tc gridSpan="6">
                  <a:txBody>
                    <a:bodyPr/>
                    <a:lstStyle/>
                    <a:p>
                      <a:pPr algn="l" fontAlgn="ctr"/>
                      <a:r>
                        <a:rPr kumimoji="0" lang="en-GB" b="1" kern="1200" dirty="0" smtClean="0">
                          <a:solidFill>
                            <a:srgbClr val="17B917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Better prepare</a:t>
                      </a:r>
                      <a:r>
                        <a:rPr kumimoji="0" lang="en-GB" b="1" kern="1200" baseline="0" dirty="0" smtClean="0">
                          <a:solidFill>
                            <a:srgbClr val="17B917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people</a:t>
                      </a:r>
                      <a:r>
                        <a:rPr kumimoji="0" lang="en-GB" b="1" kern="1200" dirty="0" smtClean="0">
                          <a:solidFill>
                            <a:srgbClr val="17B917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for work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endParaRPr lang="en-GB" sz="1400" b="0" i="0" u="none" strike="noStrike" dirty="0">
                        <a:solidFill>
                          <a:srgbClr val="17171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5193">
                <a:tc gridSpan="7"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rgbClr val="171717"/>
                          </a:solidFill>
                          <a:effectLst/>
                          <a:latin typeface="Calibri"/>
                        </a:rPr>
                        <a:t>Expand and improve vocational training </a:t>
                      </a:r>
                      <a:br>
                        <a:rPr lang="en-US" sz="1600" b="1" i="0" u="none" strike="noStrike" dirty="0" smtClean="0">
                          <a:solidFill>
                            <a:srgbClr val="171717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600" b="1" i="0" u="none" strike="noStrike" dirty="0" smtClean="0">
                          <a:solidFill>
                            <a:srgbClr val="171717"/>
                          </a:solidFill>
                          <a:effectLst/>
                          <a:latin typeface="Calibri"/>
                        </a:rPr>
                        <a:t>and education</a:t>
                      </a:r>
                      <a:endParaRPr lang="en-US" sz="1600" b="1" i="0" u="none" strike="noStrike" dirty="0">
                        <a:solidFill>
                          <a:srgbClr val="17171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 dirty="0" smtClean="0">
                          <a:solidFill>
                            <a:srgbClr val="171717"/>
                          </a:solidFill>
                          <a:effectLst/>
                          <a:latin typeface="Arial Narrow"/>
                        </a:rPr>
                        <a:t>ARG BRA CHN DNK ESP EST FRA GBR GRC IND POL PRT TUR ZAF</a:t>
                      </a:r>
                      <a:endParaRPr lang="en-GB" sz="1400" b="1" i="0" u="none" strike="noStrike" dirty="0">
                        <a:solidFill>
                          <a:srgbClr val="171717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1400" b="1" i="0" u="none" strike="noStrike" dirty="0">
                        <a:solidFill>
                          <a:srgbClr val="171717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521">
                <a:tc gridSpan="6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 dirty="0">
                          <a:solidFill>
                            <a:srgbClr val="171717"/>
                          </a:solidFill>
                          <a:effectLst/>
                          <a:latin typeface="Arial Narrow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 dirty="0">
                          <a:solidFill>
                            <a:srgbClr val="171717"/>
                          </a:solidFill>
                          <a:effectLst/>
                          <a:latin typeface="Arial Narrow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 dirty="0">
                          <a:solidFill>
                            <a:srgbClr val="171717"/>
                          </a:solidFill>
                          <a:effectLst/>
                          <a:latin typeface="Arial Narrow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 dirty="0">
                          <a:solidFill>
                            <a:srgbClr val="171717"/>
                          </a:solidFill>
                          <a:effectLst/>
                          <a:latin typeface="Arial Narrow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66089">
                <a:tc gridSpan="7"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rgbClr val="171717"/>
                          </a:solidFill>
                          <a:effectLst/>
                          <a:latin typeface="Calibri"/>
                        </a:rPr>
                        <a:t>Allocate education</a:t>
                      </a:r>
                      <a:r>
                        <a:rPr lang="en-US" sz="1600" b="1" i="0" u="none" strike="noStrike" baseline="0" dirty="0" smtClean="0">
                          <a:solidFill>
                            <a:srgbClr val="171717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600" b="1" i="0" u="none" strike="noStrike" dirty="0" smtClean="0">
                          <a:solidFill>
                            <a:srgbClr val="171717"/>
                          </a:solidFill>
                          <a:effectLst/>
                          <a:latin typeface="Calibri"/>
                        </a:rPr>
                        <a:t>resources more equitably </a:t>
                      </a:r>
                      <a:endParaRPr lang="en-US" sz="1600" b="1" i="0" u="none" strike="noStrike" dirty="0">
                        <a:solidFill>
                          <a:srgbClr val="17171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 dirty="0" smtClean="0">
                          <a:solidFill>
                            <a:srgbClr val="171717"/>
                          </a:solidFill>
                          <a:effectLst/>
                          <a:latin typeface="Arial Narrow"/>
                        </a:rPr>
                        <a:t>CRI CZE DEU DNK FRA HUN </a:t>
                      </a:r>
                      <a:br>
                        <a:rPr lang="en-GB" sz="1400" b="1" i="0" u="none" strike="noStrike" dirty="0" smtClean="0">
                          <a:solidFill>
                            <a:srgbClr val="171717"/>
                          </a:solidFill>
                          <a:effectLst/>
                          <a:latin typeface="Arial Narrow"/>
                        </a:rPr>
                      </a:br>
                      <a:r>
                        <a:rPr lang="en-GB" sz="1400" b="1" i="0" u="none" strike="noStrike" dirty="0" smtClean="0">
                          <a:solidFill>
                            <a:srgbClr val="171717"/>
                          </a:solidFill>
                          <a:effectLst/>
                          <a:latin typeface="Arial Narrow"/>
                        </a:rPr>
                        <a:t>NZL POL PRT SWE USA</a:t>
                      </a:r>
                      <a:endParaRPr lang="en-GB" sz="1400" b="1" i="0" u="none" strike="noStrike" dirty="0">
                        <a:solidFill>
                          <a:srgbClr val="171717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3728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3568" y="238255"/>
            <a:ext cx="792088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800" b="1" dirty="0" smtClean="0">
                <a:solidFill>
                  <a:srgbClr val="006299"/>
                </a:solidFill>
                <a:latin typeface="Arial"/>
              </a:rPr>
              <a:t>Handeln, um inklusives Wachstum zu stärken und </a:t>
            </a:r>
            <a:br>
              <a:rPr lang="en-US" sz="2800" b="1" dirty="0" smtClean="0">
                <a:solidFill>
                  <a:srgbClr val="006299"/>
                </a:solidFill>
                <a:latin typeface="Arial"/>
              </a:rPr>
            </a:br>
            <a:r>
              <a:rPr lang="en-US" sz="2800" b="1" dirty="0" smtClean="0">
                <a:solidFill>
                  <a:srgbClr val="006299"/>
                </a:solidFill>
                <a:latin typeface="Arial"/>
              </a:rPr>
              <a:t>die Globalisierung für alle zu gestalten</a:t>
            </a:r>
            <a:endParaRPr lang="en-US" sz="2800" b="1" dirty="0">
              <a:solidFill>
                <a:srgbClr val="006299"/>
              </a:solidFill>
              <a:latin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284C4-5ED1-4D6C-B7CC-2049C3062C5E}" type="slidenum">
              <a:rPr lang="en-GB" smtClean="0"/>
              <a:t>23</a:t>
            </a:fld>
            <a:endParaRPr lang="en-GB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357626800"/>
              </p:ext>
            </p:extLst>
          </p:nvPr>
        </p:nvGraphicFramePr>
        <p:xfrm>
          <a:off x="539552" y="1412776"/>
          <a:ext cx="8208912" cy="504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7584" y="2564904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Internationale Maßnahmen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536" y="5063698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Calibri" pitchFamily="34" charset="0"/>
              </a:rPr>
              <a:t>Inländische Maßnahmen</a:t>
            </a:r>
          </a:p>
        </p:txBody>
      </p:sp>
    </p:spTree>
    <p:extLst>
      <p:ext uri="{BB962C8B-B14F-4D97-AF65-F5344CB8AC3E}">
        <p14:creationId xmlns:p14="http://schemas.microsoft.com/office/powerpoint/2010/main" val="1673071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ECD_English_white">
  <a:themeElements>
    <a:clrScheme name="OECD white">
      <a:dk1>
        <a:srgbClr val="727272"/>
      </a:dk1>
      <a:lt1>
        <a:sysClr val="window" lastClr="FFFFFF"/>
      </a:lt1>
      <a:dk2>
        <a:srgbClr val="006299"/>
      </a:dk2>
      <a:lt2>
        <a:srgbClr val="E6E6E6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ECD">
      <a:majorFont>
        <a:latin typeface="Arial"/>
        <a:ea typeface=""/>
        <a:cs typeface=""/>
      </a:majorFont>
      <a:minorFont>
        <a:latin typeface="Georgia"/>
        <a:ea typeface=""/>
        <a:cs typeface="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ECD_English_white">
  <a:themeElements>
    <a:clrScheme name="OECD white">
      <a:dk1>
        <a:srgbClr val="727272"/>
      </a:dk1>
      <a:lt1>
        <a:sysClr val="window" lastClr="FFFFFF"/>
      </a:lt1>
      <a:dk2>
        <a:srgbClr val="006299"/>
      </a:dk2>
      <a:lt2>
        <a:srgbClr val="E6E6E6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ECD">
      <a:majorFont>
        <a:latin typeface="Arial"/>
        <a:ea typeface=""/>
        <a:cs typeface=""/>
      </a:majorFont>
      <a:minorFont>
        <a:latin typeface="Georgia"/>
        <a:ea typeface=""/>
        <a:cs typeface="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Working Document" ma:contentTypeID="0x0101008B4DD370EC31429186F3AD49F0D3098F00D44DBCB9EB4F45278CB5C9765BE5299500A4858B360C6A491AA753F8BCA47AA91000293773D153AD3C41920164F348570E54" ma:contentTypeVersion="509" ma:contentTypeDescription="Create a new document." ma:contentTypeScope="" ma:versionID="c4c89322ac7d9f1996d365e3690382e3">
  <xsd:schema xmlns:xsd="http://www.w3.org/2001/XMLSchema" xmlns:xs="http://www.w3.org/2001/XMLSchema" xmlns:p="http://schemas.microsoft.com/office/2006/metadata/properties" xmlns:ns1="http://schemas.microsoft.com/sharepoint/v3" xmlns:ns2="54c4cd27-f286-408f-9ce0-33c1e0f3ab39" xmlns:ns3="464847da-6e18-4144-8ad5-5857903e06b6" xmlns:ns4="b028c3f4-2795-4946-841c-2e1644b148e5" xmlns:ns5="c9f238dd-bb73-4aef-a7a5-d644ad823e52" xmlns:ns6="ca82dde9-3436-4d3d-bddd-d31447390034" xmlns:ns7="http://schemas.microsoft.com/sharepoint/v4" targetNamespace="http://schemas.microsoft.com/office/2006/metadata/properties" ma:root="true" ma:fieldsID="2df2112354f40aebef67c0cef3c00b8d" ns1:_="" ns2:_="" ns3:_="" ns4:_="" ns5:_="" ns6:_="" ns7:_="">
    <xsd:import namespace="http://schemas.microsoft.com/sharepoint/v3"/>
    <xsd:import namespace="54c4cd27-f286-408f-9ce0-33c1e0f3ab39"/>
    <xsd:import namespace="464847da-6e18-4144-8ad5-5857903e06b6"/>
    <xsd:import namespace="b028c3f4-2795-4946-841c-2e1644b148e5"/>
    <xsd:import namespace="c9f238dd-bb73-4aef-a7a5-d644ad823e52"/>
    <xsd:import namespace="ca82dde9-3436-4d3d-bddd-d31447390034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OECDKimStatus" minOccurs="0"/>
                <xsd:element ref="ns4:OECDProjectLookup"/>
                <xsd:element ref="ns3:_dlc_DocId" minOccurs="0"/>
                <xsd:element ref="ns3:_dlc_DocIdUrl" minOccurs="0"/>
                <xsd:element ref="ns4:OECDProjectManager" minOccurs="0"/>
                <xsd:element ref="ns4:OECDProjectMembers" minOccurs="0"/>
                <xsd:element ref="ns4:OECDTagsCache" minOccurs="0"/>
                <xsd:element ref="ns4:OECDPinnedBy" minOccurs="0"/>
                <xsd:element ref="ns5:eShareCountryTaxHTField0" minOccurs="0"/>
                <xsd:element ref="ns5:eShareTopicTaxHTField0" minOccurs="0"/>
                <xsd:element ref="ns5:eShareKeywordsTaxHTField0" minOccurs="0"/>
                <xsd:element ref="ns5:eShareCommitteeTaxHTField0" minOccurs="0"/>
                <xsd:element ref="ns5:eSharePWBTaxHTField0" minOccurs="0"/>
                <xsd:element ref="ns6:TaxCatchAll" minOccurs="0"/>
                <xsd:element ref="ns7:IconOverlay" minOccurs="0"/>
                <xsd:element ref="ns4:OECDMainProject" minOccurs="0"/>
                <xsd:element ref="ns2:OECDKimProvenance" minOccurs="0"/>
                <xsd:element ref="ns1:DocumentSetDescription" minOccurs="0"/>
                <xsd:element ref="ns3:OECDExpirationDate" minOccurs="0"/>
                <xsd:element ref="ns6:TaxCatchAllLabel" minOccurs="0"/>
                <xsd:element ref="ns2:OECDDocumentType" minOccurs="0"/>
                <xsd:element ref="ns2:OECDKimBussinessContext" minOccurs="0"/>
                <xsd:element ref="ns4:Project_x003A_ID1" minOccurs="0"/>
                <xsd:element ref="ns4:Project_x003a_Project_x0020_status" minOccurs="0"/>
                <xsd:element ref="ns4:Project_x003a_ID" minOccurs="0"/>
                <xsd:element ref="ns3:_dlc_DocIdPersistId" minOccurs="0"/>
                <xsd:element ref="ns3:bc65155f859f476689f41d2e239f3b65" minOccurs="0"/>
                <xsd:element ref="ns4:k521ff600dac4d78b40e1e44ce493525" minOccurs="0"/>
                <xsd:element ref="ns4:d6c688cd0ee448e4bbaea66e1be015fd" minOccurs="0"/>
                <xsd:element ref="ns4:g2112f02a3d4495984eca02be0a4d37c" minOccurs="0"/>
                <xsd:element ref="ns4:h8a48b2c364f47209a9f385904d38df5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DocumentSetDescription" ma:index="33" nillable="true" ma:displayName="Description" ma:description="A description of the Document Set" ma:internalName="DocumentSetDescription" ma:readOnly="fals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c4cd27-f286-408f-9ce0-33c1e0f3ab39" elementFormDefault="qualified">
    <xsd:import namespace="http://schemas.microsoft.com/office/2006/documentManagement/types"/>
    <xsd:import namespace="http://schemas.microsoft.com/office/infopath/2007/PartnerControls"/>
    <xsd:element name="OECDKimStatus" ma:index="7" nillable="true" ma:displayName="Kim status" ma:default="Draft" ma:description="" ma:format="Dropdown" ma:hidden="true" ma:internalName="OECDKimStatus">
      <xsd:simpleType>
        <xsd:restriction base="dms:Choice">
          <xsd:enumeration value="Draft"/>
          <xsd:enumeration value="Final"/>
        </xsd:restriction>
      </xsd:simpleType>
    </xsd:element>
    <xsd:element name="OECDKimProvenance" ma:index="30" nillable="true" ma:displayName="Kim provenance" ma:description="" ma:hidden="true" ma:internalName="OECDKimProvenance">
      <xsd:simpleType>
        <xsd:restriction base="dms:Text"/>
      </xsd:simpleType>
    </xsd:element>
    <xsd:element name="OECDDocumentType" ma:index="36" nillable="true" ma:displayName="Document Type" ma:description="" ma:hidden="true" ma:internalName="OECDDocumentType" ma:readOnly="false">
      <xsd:simpleType>
        <xsd:restriction base="dms:Text"/>
      </xsd:simpleType>
    </xsd:element>
    <xsd:element name="OECDKimBussinessContext" ma:index="37" nillable="true" ma:displayName="Kim business context" ma:description="" ma:hidden="true" ma:internalName="OECDKimBussinessContext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4847da-6e18-4144-8ad5-5857903e06b6" elementFormDefault="qualified">
    <xsd:import namespace="http://schemas.microsoft.com/office/2006/documentManagement/types"/>
    <xsd:import namespace="http://schemas.microsoft.com/office/infopath/2007/PartnerControls"/>
    <xsd:element name="_dlc_DocId" ma:index="14" nillable="true" ma:displayName="Document ID" ma:description="" ma:hidden="true" ma:internalName="_dlc_DocId" ma:readOnly="true">
      <xsd:simpleType>
        <xsd:restriction base="dms:Text"/>
      </xsd:simpleType>
    </xsd:element>
    <xsd:element name="_dlc_DocIdUrl" ma:index="15" nillable="true" ma:displayName="Document ID" ma:description="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OECDExpirationDate" ma:index="34" nillable="true" ma:displayName="Highlights" ma:default="" ma:description="" ma:format="DateOnly" ma:indexed="true" ma:internalName="OECDExpirationDate">
      <xsd:simpleType>
        <xsd:restriction base="dms:DateTime"/>
      </xsd:simpleType>
    </xsd:element>
    <xsd:element name="_dlc_DocIdPersistId" ma:index="42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bc65155f859f476689f41d2e239f3b65" ma:index="43" nillable="true" ma:taxonomy="true" ma:internalName="bc65155f859f476689f41d2e239f3b65" ma:taxonomyFieldName="OECDHorizontalProjects" ma:displayName="Horizontal project" ma:default="" ma:fieldId="bc65155f-859f-4766-89f4-1d2e239f3b65" ma:taxonomyMulti="true" ma:sspId="27ec883c-a62c-444f-a935-fcddb579e39d" ma:termSetId="d3ca0e0e-65f9-44bf-9d98-5271504f6d61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28c3f4-2795-4946-841c-2e1644b148e5" elementFormDefault="qualified">
    <xsd:import namespace="http://schemas.microsoft.com/office/2006/documentManagement/types"/>
    <xsd:import namespace="http://schemas.microsoft.com/office/infopath/2007/PartnerControls"/>
    <xsd:element name="OECDProjectLookup" ma:index="8" ma:displayName="Project" ma:indexed="true" ma:list="8fd64a43-52c7-4b87-a931-a975dc3d108c" ma:internalName="OECDProjectLookup" ma:readOnly="false" ma:showField="OECDShortProjectName" ma:web="b028c3f4-2795-4946-841c-2e1644b148e5">
      <xsd:simpleType>
        <xsd:restriction base="dms:Unknown"/>
      </xsd:simpleType>
    </xsd:element>
    <xsd:element name="OECDProjectManager" ma:index="16" nillable="true" ma:displayName="Project manager" ma:description="" ma:hidden="true" ma:indexed="true" ma:internalName="OECDProjectManage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OECDProjectMembers" ma:index="17" nillable="true" ma:displayName="Project members" ma:description="" ma:hidden="true" ma:internalName="OECDProjectMembers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OECDTagsCache" ma:index="19" nillable="true" ma:displayName="Tags cache" ma:description="" ma:hidden="true" ma:internalName="OECDTagsCache">
      <xsd:simpleType>
        <xsd:restriction base="dms:Note">
          <xsd:maxLength value="255"/>
        </xsd:restriction>
      </xsd:simpleType>
    </xsd:element>
    <xsd:element name="OECDPinnedBy" ma:index="20" nillable="true" ma:displayName="Pinned by" ma:description="" ma:hidden="true" ma:internalName="OECDPinn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OECDMainProject" ma:index="29" nillable="true" ma:displayName="Main project" ma:description="" ma:hidden="true" ma:list="8fd64a43-52c7-4b87-a931-a975dc3d108c" ma:internalName="OECDMainProject" ma:readOnly="false" ma:showField="OECDShortProjectName" ma:web="b028c3f4-2795-4946-841c-2e1644b148e5">
      <xsd:simpleType>
        <xsd:restriction base="dms:Unknown"/>
      </xsd:simpleType>
    </xsd:element>
    <xsd:element name="Project_x003A_ID1" ma:index="39" nillable="true" ma:displayName="Project:ID" ma:list="8fd64a43-52c7-4b87-a931-a975dc3d108c" ma:internalName="Project_x003A_ID1" ma:readOnly="true" ma:showField="ID" ma:web="b028c3f4-2795-4946-841c-2e1644b148e5">
      <xsd:simpleType>
        <xsd:restriction base="dms:Lookup"/>
      </xsd:simpleType>
    </xsd:element>
    <xsd:element name="Project_x003a_Project_x0020_status" ma:index="40" nillable="true" ma:displayName="Project:Project status" ma:hidden="true" ma:list="8fd64a43-52c7-4b87-a931-a975dc3d108c" ma:internalName="Project_x003A_Project_x0020_status" ma:readOnly="true" ma:showField="OECDProjectStatus" ma:web="b028c3f4-2795-4946-841c-2e1644b148e5">
      <xsd:simpleType>
        <xsd:restriction base="dms:Lookup"/>
      </xsd:simpleType>
    </xsd:element>
    <xsd:element name="Project_x003a_ID" ma:index="41" nillable="true" ma:displayName="Project:ID" ma:hidden="true" ma:list="8fd64a43-52c7-4b87-a931-a975dc3d108c" ma:internalName="Project_x003A_ID" ma:readOnly="true" ma:showField="ID" ma:web="b028c3f4-2795-4946-841c-2e1644b148e5">
      <xsd:simpleType>
        <xsd:restriction base="dms:Lookup"/>
      </xsd:simpleType>
    </xsd:element>
    <xsd:element name="k521ff600dac4d78b40e1e44ce493525" ma:index="44" nillable="true" ma:taxonomy="true" ma:internalName="k521ff600dac4d78b40e1e44ce493525" ma:taxonomyFieldName="OECDProjectOwnerStructure" ma:displayName="Project owner" ma:indexed="true" ma:readOnly="false" ma:default="" ma:fieldId="4521ff60-0dac-4d78-b40e-1e44ce493525" ma:sspId="27ec883c-a62c-444f-a935-fcddb579e39d" ma:termSetId="aeec4dcb-19ee-4bc0-941f-681845b568c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6c688cd0ee448e4bbaea66e1be015fd" ma:index="45" nillable="true" ma:displayName="Project partners_0" ma:hidden="true" ma:internalName="d6c688cd0ee448e4bbaea66e1be015fd">
      <xsd:simpleType>
        <xsd:restriction base="dms:Note"/>
      </xsd:simpleType>
    </xsd:element>
    <xsd:element name="g2112f02a3d4495984eca02be0a4d37c" ma:index="46" nillable="true" ma:displayName="Deliverable partners_0" ma:hidden="true" ma:internalName="g2112f02a3d4495984eca02be0a4d37c">
      <xsd:simpleType>
        <xsd:restriction base="dms:Note"/>
      </xsd:simpleType>
    </xsd:element>
    <xsd:element name="h8a48b2c364f47209a9f385904d38df5" ma:index="47" nillable="true" ma:displayName="Deliverable owner_0" ma:hidden="true" ma:internalName="h8a48b2c364f47209a9f385904d38df5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f238dd-bb73-4aef-a7a5-d644ad823e52" elementFormDefault="qualified">
    <xsd:import namespace="http://schemas.microsoft.com/office/2006/documentManagement/types"/>
    <xsd:import namespace="http://schemas.microsoft.com/office/infopath/2007/PartnerControls"/>
    <xsd:element name="eShareCountryTaxHTField0" ma:index="22" nillable="true" ma:displayName="eShareCountry_0" ma:description="" ma:hidden="true" ma:internalName="eShareCountryTaxHTField0">
      <xsd:simpleType>
        <xsd:restriction base="dms:Note"/>
      </xsd:simpleType>
    </xsd:element>
    <xsd:element name="eShareTopicTaxHTField0" ma:index="23" nillable="true" ma:displayName="eShareTopic_0" ma:description="" ma:hidden="true" ma:internalName="eShareTopicTaxHTField0">
      <xsd:simpleType>
        <xsd:restriction base="dms:Note"/>
      </xsd:simpleType>
    </xsd:element>
    <xsd:element name="eShareKeywordsTaxHTField0" ma:index="24" nillable="true" ma:displayName="eShareKeywords_0" ma:description="" ma:hidden="true" ma:internalName="eShareKeywordsTaxHTField0">
      <xsd:simpleType>
        <xsd:restriction base="dms:Note"/>
      </xsd:simpleType>
    </xsd:element>
    <xsd:element name="eShareCommitteeTaxHTField0" ma:index="25" nillable="true" ma:displayName="eShareCommittee_0" ma:description="" ma:hidden="true" ma:internalName="eShareCommitteeTaxHTField0">
      <xsd:simpleType>
        <xsd:restriction base="dms:Note"/>
      </xsd:simpleType>
    </xsd:element>
    <xsd:element name="eSharePWBTaxHTField0" ma:index="26" nillable="true" ma:displayName="eSharePWB_0" ma:description="" ma:hidden="true" ma:internalName="eSharePWBTaxHTField0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82dde9-3436-4d3d-bddd-d31447390034" elementFormDefault="qualified">
    <xsd:import namespace="http://schemas.microsoft.com/office/2006/documentManagement/types"/>
    <xsd:import namespace="http://schemas.microsoft.com/office/infopath/2007/PartnerControls"/>
    <xsd:element name="TaxCatchAll" ma:index="27" nillable="true" ma:displayName="Taxonomy Catch All Column" ma:hidden="true" ma:list="{f238c0b0-3384-41ab-af60-ab39d110a44d}" ma:internalName="TaxCatchAll" ma:showField="CatchAllData" ma:web="464847da-6e18-4144-8ad5-5857903e06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35" nillable="true" ma:displayName="Taxonomy Catch All Column1" ma:hidden="true" ma:list="{f238c0b0-3384-41ab-af60-ab39d110a44d}" ma:internalName="TaxCatchAllLabel" ma:readOnly="true" ma:showField="CatchAllDataLabel" ma:web="464847da-6e18-4144-8ad5-5857903e06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28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0" ma:displayName="Content Type"/>
        <xsd:element ref="dc:title" minOccurs="0" maxOccurs="1" ma:index="0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CtFieldPriority xmlns="http://www.oecd.org/eshare/projectsentre/CtFieldPriority/" xmlns:i="http://www.w3.org/2001/XMLSchema-instance" NameSpaceURI="http://www.oecd.org/eshare/projectsentre/CtFieldPriority/">
  <PriorityFields xmlns:a="http://schemas.microsoft.com/2003/10/Serialization/Arrays">
    <a:string>Title</a:string>
    <a:string>FileLeafRef</a:string>
    <a:string>OECDCountry</a:string>
    <a:string>OECDTopic</a:string>
    <a:string>OECDKeywords</a:string>
  </PriorityFields>
</CtFieldPriority>
</file>

<file path=customXml/item3.xml><?xml version="1.0" encoding="utf-8"?>
<?mso-contentType ?>
<spe:Receivers xmlns:spe="http://schemas.microsoft.com/sharepoint/events"/>
</file>

<file path=customXml/item4.xml><?xml version="1.0" encoding="utf-8"?>
<?mso-contentType ?>
<SharedContentType xmlns="Microsoft.SharePoint.Taxonomy.ContentTypeSync" SourceId="27ec883c-a62c-444f-a935-fcddb579e39d" ContentTypeId="0x0101008B4DD370EC31429186F3AD49F0D3098F00D44DBCB9EB4F45278CB5C9765BE52995" PreviousValue="false"/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c65155f859f476689f41d2e239f3b65 xmlns="464847da-6e18-4144-8ad5-5857903e06b6">
      <Terms xmlns="http://schemas.microsoft.com/office/infopath/2007/PartnerControls"/>
    </bc65155f859f476689f41d2e239f3b65>
    <OECDProjectLookup xmlns="b028c3f4-2795-4946-841c-2e1644b148e5">34</OECDProjectLookup>
    <OECDKimBussinessContext xmlns="54c4cd27-f286-408f-9ce0-33c1e0f3ab39" xsi:nil="true"/>
    <eSharePWBTaxHTField0 xmlns="c9f238dd-bb73-4aef-a7a5-d644ad823e52">(n/a)|3adabb5f-45b7-4a20-bdde-219e8d9477af</eSharePWBTaxHTField0>
    <IconOverlay xmlns="http://schemas.microsoft.com/sharepoint/v4" xsi:nil="true"/>
    <DocumentSetDescription xmlns="http://schemas.microsoft.com/sharepoint/v3" xsi:nil="true"/>
    <OECDPinnedBy xmlns="b028c3f4-2795-4946-841c-2e1644b148e5">
      <UserInfo>
        <DisplayName/>
        <AccountId xsi:nil="true"/>
        <AccountType/>
      </UserInfo>
    </OECDPinnedBy>
    <OECDExpirationDate xmlns="464847da-6e18-4144-8ad5-5857903e06b6" xsi:nil="true"/>
    <g2112f02a3d4495984eca02be0a4d37c xmlns="b028c3f4-2795-4946-841c-2e1644b148e5" xsi:nil="true"/>
    <OECDDocumentType xmlns="54c4cd27-f286-408f-9ce0-33c1e0f3ab39" xsi:nil="true"/>
    <d6c688cd0ee448e4bbaea66e1be015fd xmlns="b028c3f4-2795-4946-841c-2e1644b148e5" xsi:nil="true"/>
    <OECDTagsCache xmlns="b028c3f4-2795-4946-841c-2e1644b148e5" xsi:nil="true"/>
    <eShareCommitteeTaxHTField0 xmlns="c9f238dd-bb73-4aef-a7a5-d644ad823e52" xsi:nil="true"/>
    <OECDProjectManager xmlns="b028c3f4-2795-4946-841c-2e1644b148e5">
      <UserInfo>
        <DisplayName/>
        <AccountId>774</AccountId>
        <AccountType/>
      </UserInfo>
    </OECDProjectManager>
    <OECDKimProvenance xmlns="54c4cd27-f286-408f-9ce0-33c1e0f3ab39" xsi:nil="true"/>
    <OECDMainProject xmlns="b028c3f4-2795-4946-841c-2e1644b148e5" xsi:nil="true"/>
    <k521ff600dac4d78b40e1e44ce493525 xmlns="b028c3f4-2795-4946-841c-2e1644b148e5">
      <Terms xmlns="http://schemas.microsoft.com/office/infopath/2007/PartnerControls">
        <TermInfo xmlns="http://schemas.microsoft.com/office/infopath/2007/PartnerControls">
          <TermName xmlns="http://schemas.microsoft.com/office/infopath/2007/PartnerControls">ECO/FO</TermName>
          <TermId xmlns="http://schemas.microsoft.com/office/infopath/2007/PartnerControls">0421869f-dd6d-4a57-aa68-f68dc47925ad</TermId>
        </TermInfo>
      </Terms>
    </k521ff600dac4d78b40e1e44ce493525>
    <OECDKimStatus xmlns="54c4cd27-f286-408f-9ce0-33c1e0f3ab39">Draft</OECDKimStatus>
    <eShareCountryTaxHTField0 xmlns="c9f238dd-bb73-4aef-a7a5-d644ad823e52" xsi:nil="true"/>
    <eShareTopicTaxHTField0 xmlns="c9f238dd-bb73-4aef-a7a5-d644ad823e52">Economic growth|9eba0011-22c6-4045-a791-62556867fb22</eShareTopicTaxHTField0>
    <eShareKeywordsTaxHTField0 xmlns="c9f238dd-bb73-4aef-a7a5-d644ad823e52">Economic Outlook|a9443a1a-b32f-49f3-97a5-13870ae66f90</eShareKeywordsTaxHTField0>
    <OECDProjectMembers xmlns="b028c3f4-2795-4946-841c-2e1644b148e5">
      <UserInfo>
        <DisplayName>MANN Catherine, ECO</DisplayName>
        <AccountId>774</AccountId>
        <AccountType/>
      </UserInfo>
      <UserInfo>
        <DisplayName>GUICHARD Stéphanie, ECO</DisplayName>
        <AccountId>229</AccountId>
        <AccountType/>
      </UserInfo>
      <UserInfo>
        <DisplayName>BARNES Sebastian, ECO</DisplayName>
        <AccountId>116</AccountId>
        <AccountType/>
      </UserInfo>
      <UserInfo>
        <DisplayName>BARNARD Geoff, ECO</DisplayName>
        <AccountId>142</AccountId>
        <AccountType/>
      </UserInfo>
      <UserInfo>
        <DisplayName>ELGHADAB Penny, ECO</DisplayName>
        <AccountId>83</AccountId>
        <AccountType/>
      </UserInfo>
      <UserInfo>
        <DisplayName>PURTELL Susan, ECO</DisplayName>
        <AccountId>71</AccountId>
        <AccountType/>
      </UserInfo>
      <UserInfo>
        <DisplayName>MENKYNA Fusako, ECO</DisplayName>
        <AccountId>478</AccountId>
        <AccountType/>
      </UserInfo>
      <UserInfo>
        <DisplayName>STOKLE Wendy, ECO</DisplayName>
        <AccountId>65</AccountId>
        <AccountType/>
      </UserInfo>
    </OECDProjectMembers>
    <TaxCatchAll xmlns="ca82dde9-3436-4d3d-bddd-d31447390034">
      <Value>43</Value>
      <Value>314</Value>
      <Value>399</Value>
      <Value>407</Value>
    </TaxCatchAll>
    <h8a48b2c364f47209a9f385904d38df5 xmlns="b028c3f4-2795-4946-841c-2e1644b148e5" xsi:nil="true"/>
  </documentManagement>
</p:properties>
</file>

<file path=customXml/item6.xml><?xml version="1.0" encoding="utf-8"?>
<?mso-contentType ?>
<FormTemplates xmlns="http://schemas.microsoft.com/sharepoint/v3/contenttype/forms">
  <Display>OECDListFormCollapsible</Display>
  <Edit>OECDListFormCollapsible</Edit>
  <New>OECDListFormCollapsible</New>
</FormTemplates>
</file>

<file path=customXml/itemProps1.xml><?xml version="1.0" encoding="utf-8"?>
<ds:datastoreItem xmlns:ds="http://schemas.openxmlformats.org/officeDocument/2006/customXml" ds:itemID="{4991A6FE-5E0A-4F82-A1EC-3DDFDB13A2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4c4cd27-f286-408f-9ce0-33c1e0f3ab39"/>
    <ds:schemaRef ds:uri="464847da-6e18-4144-8ad5-5857903e06b6"/>
    <ds:schemaRef ds:uri="b028c3f4-2795-4946-841c-2e1644b148e5"/>
    <ds:schemaRef ds:uri="c9f238dd-bb73-4aef-a7a5-d644ad823e52"/>
    <ds:schemaRef ds:uri="ca82dde9-3436-4d3d-bddd-d31447390034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7D3AFC-6D8E-4A5F-8C17-C5F4174B9291}">
  <ds:schemaRefs>
    <ds:schemaRef ds:uri="http://www.oecd.org/eshare/projectsentre/CtFieldPriority/"/>
    <ds:schemaRef ds:uri="http://schemas.microsoft.com/2003/10/Serialization/Arrays"/>
  </ds:schemaRefs>
</ds:datastoreItem>
</file>

<file path=customXml/itemProps3.xml><?xml version="1.0" encoding="utf-8"?>
<ds:datastoreItem xmlns:ds="http://schemas.openxmlformats.org/officeDocument/2006/customXml" ds:itemID="{BFE38C3E-D15A-4F60-97F7-250E70E1EA31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FD206EC9-3D5A-4486-AF89-FC69493CBCE0}">
  <ds:schemaRefs>
    <ds:schemaRef ds:uri="Microsoft.SharePoint.Taxonomy.ContentTypeSync"/>
  </ds:schemaRefs>
</ds:datastoreItem>
</file>

<file path=customXml/itemProps5.xml><?xml version="1.0" encoding="utf-8"?>
<ds:datastoreItem xmlns:ds="http://schemas.openxmlformats.org/officeDocument/2006/customXml" ds:itemID="{C09397EE-C9A3-4290-85EF-2ACE6E5A9E27}">
  <ds:schemaRefs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54c4cd27-f286-408f-9ce0-33c1e0f3ab39"/>
    <ds:schemaRef ds:uri="http://schemas.microsoft.com/office/2006/metadata/properties"/>
    <ds:schemaRef ds:uri="http://purl.org/dc/elements/1.1/"/>
    <ds:schemaRef ds:uri="464847da-6e18-4144-8ad5-5857903e06b6"/>
    <ds:schemaRef ds:uri="b028c3f4-2795-4946-841c-2e1644b148e5"/>
    <ds:schemaRef ds:uri="http://schemas.microsoft.com/sharepoint/v4"/>
    <ds:schemaRef ds:uri="ca82dde9-3436-4d3d-bddd-d31447390034"/>
    <ds:schemaRef ds:uri="http://www.w3.org/XML/1998/namespace"/>
    <ds:schemaRef ds:uri="http://purl.org/dc/terms/"/>
    <ds:schemaRef ds:uri="c9f238dd-bb73-4aef-a7a5-d644ad823e52"/>
    <ds:schemaRef ds:uri="http://schemas.microsoft.com/sharepoint/v3"/>
    <ds:schemaRef ds:uri="http://purl.org/dc/dcmitype/"/>
  </ds:schemaRefs>
</ds:datastoreItem>
</file>

<file path=customXml/itemProps6.xml><?xml version="1.0" encoding="utf-8"?>
<ds:datastoreItem xmlns:ds="http://schemas.openxmlformats.org/officeDocument/2006/customXml" ds:itemID="{003DD83D-4AB0-4B12-ADA5-F949E8BC24F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OECD_English_white</Template>
  <TotalTime>29205</TotalTime>
  <Words>1189</Words>
  <Application>Microsoft Office PowerPoint</Application>
  <PresentationFormat>On-screen Show (4:3)</PresentationFormat>
  <Paragraphs>187</Paragraphs>
  <Slides>23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OECD_English_white</vt:lpstr>
      <vt:lpstr>1_OECD_English_white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Job losses have centred on  people with mid-level skills</vt:lpstr>
      <vt:lpstr>PowerPoint Presentation</vt:lpstr>
      <vt:lpstr>Manufacturing job losses and role for  Technology &amp; Consumer Preferences vs Trade</vt:lpstr>
      <vt:lpstr>Decline in manufacturing matters because activity is regionally concentrated</vt:lpstr>
      <vt:lpstr>Countries with larger falls in manufacturing jobs have increased regional inequality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OECD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MENKYNA Fusako</dc:creator>
  <cp:lastModifiedBy>ELGHADAB Penny</cp:lastModifiedBy>
  <cp:revision>1565</cp:revision>
  <cp:lastPrinted>2017-06-02T15:04:18Z</cp:lastPrinted>
  <dcterms:created xsi:type="dcterms:W3CDTF">2015-02-27T14:51:11Z</dcterms:created>
  <dcterms:modified xsi:type="dcterms:W3CDTF">2017-06-07T07:23:31Z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0x0101008B4DD370EC31429186F3AD49F0D3098F00D44DBCB9EB4F45278CB5C9765BE5299500A4858B360C6A491AA753F8BCA47AA91000293773D153AD3C41920164F348570E54</vt:lpwstr>
  </property>
  <property fmtid="{D5CDD505-2E9C-101B-9397-08002B2CF9AE}" pid="3" name="OECDProjectOwnerStructure">
    <vt:lpwstr>407;#ECO/FO|0421869f-dd6d-4a57-aa68-f68dc47925ad</vt:lpwstr>
  </property>
  <property fmtid="{D5CDD505-2E9C-101B-9397-08002B2CF9AE}" pid="4" name="OECDProjectPageLink">
    <vt:lpwstr>8830</vt:lpwstr>
  </property>
  <property fmtid="{D5CDD505-2E9C-101B-9397-08002B2CF9AE}" pid="5" name="OECDCountry">
    <vt:lpwstr/>
  </property>
  <property fmtid="{D5CDD505-2E9C-101B-9397-08002B2CF9AE}" pid="6" name="OECDTopic">
    <vt:lpwstr>399;#Economic growth|9eba0011-22c6-4045-a791-62556867fb22</vt:lpwstr>
  </property>
  <property fmtid="{D5CDD505-2E9C-101B-9397-08002B2CF9AE}" pid="7" name="OECDCommittee">
    <vt:lpwstr/>
  </property>
  <property fmtid="{D5CDD505-2E9C-101B-9397-08002B2CF9AE}" pid="8" name="OECDProjectPartnersStructure">
    <vt:lpwstr/>
  </property>
  <property fmtid="{D5CDD505-2E9C-101B-9397-08002B2CF9AE}" pid="9" name="OECDPWB">
    <vt:lpwstr>43;#(n/a)|3adabb5f-45b7-4a20-bdde-219e8d9477af</vt:lpwstr>
  </property>
  <property fmtid="{D5CDD505-2E9C-101B-9397-08002B2CF9AE}" pid="10" name="OECDKeywords">
    <vt:lpwstr>314;#Economic Outlook|a9443a1a-b32f-49f3-97a5-13870ae66f90</vt:lpwstr>
  </property>
  <property fmtid="{D5CDD505-2E9C-101B-9397-08002B2CF9AE}" pid="11" name="eShareOrganisationTaxHTField0">
    <vt:lpwstr/>
  </property>
  <property fmtid="{D5CDD505-2E9C-101B-9397-08002B2CF9AE}" pid="12" name="OECDHorizontalProjects">
    <vt:lpwstr/>
  </property>
  <property fmtid="{D5CDD505-2E9C-101B-9397-08002B2CF9AE}" pid="13" name="OECDProject">
    <vt:lpwstr/>
  </property>
  <property fmtid="{D5CDD505-2E9C-101B-9397-08002B2CF9AE}" pid="14" name="d0b6f6ac229144c2899590f0436d9385">
    <vt:lpwstr/>
  </property>
  <property fmtid="{D5CDD505-2E9C-101B-9397-08002B2CF9AE}" pid="15" name="OECDOrganisation">
    <vt:lpwstr/>
  </property>
</Properties>
</file>