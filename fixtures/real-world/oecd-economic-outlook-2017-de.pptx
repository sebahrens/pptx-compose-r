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drawings/drawing1.xml" ContentType="application/vnd.openxmlformats-officedocument.drawingml.chartshapes+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7"/>
    <p:sldMasterId id="2147483665" r:id="rId8"/>
  </p:sldMasterIdLst>
  <p:notesMasterIdLst>
    <p:notesMasterId r:id="rId32"/>
  </p:notesMasterIdLst>
  <p:handoutMasterIdLst>
    <p:handoutMasterId r:id="rId33"/>
  </p:handoutMasterIdLst>
  <p:sldIdLst>
    <p:sldId id="458" r:id="rId9"/>
    <p:sldId id="506" r:id="rId10"/>
    <p:sldId id="446" r:id="rId11"/>
    <p:sldId id="507" r:id="rId12"/>
    <p:sldId id="373" r:id="rId13"/>
    <p:sldId id="388" r:id="rId14"/>
    <p:sldId id="472" r:id="rId15"/>
    <p:sldId id="498" r:id="rId16"/>
    <p:sldId id="466" r:id="rId17"/>
    <p:sldId id="483" r:id="rId18"/>
    <p:sldId id="502" r:id="rId19"/>
    <p:sldId id="484" r:id="rId20"/>
    <p:sldId id="487" r:id="rId21"/>
    <p:sldId id="509" r:id="rId22"/>
    <p:sldId id="488" r:id="rId23"/>
    <p:sldId id="491" r:id="rId24"/>
    <p:sldId id="492" r:id="rId25"/>
    <p:sldId id="501" r:id="rId26"/>
    <p:sldId id="508" r:id="rId27"/>
    <p:sldId id="500" r:id="rId28"/>
    <p:sldId id="505" r:id="rId29"/>
    <p:sldId id="496" r:id="rId30"/>
    <p:sldId id="495" r:id="rId31"/>
  </p:sldIdLst>
  <p:sldSz cx="9144000" cy="6858000" type="screen4x3"/>
  <p:notesSz cx="6794500" cy="9906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NARD Geoff" initials="BG" lastIdx="1" clrIdx="0"/>
  <p:cmAuthor id="1" name="DAUDE Christian" initials="DC" lastIdx="3" clrIdx="1"/>
  <p:cmAuthor id="2" name="MANN Catherine" initials="MC" lastIdx="107" clrIdx="2"/>
  <p:cmAuthor id="3" name="WITHERIDGE William" initials="WW" lastIdx="2"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1" autoAdjust="0"/>
    <p:restoredTop sz="83195" autoAdjust="0"/>
  </p:normalViewPr>
  <p:slideViewPr>
    <p:cSldViewPr>
      <p:cViewPr varScale="1">
        <p:scale>
          <a:sx n="62" d="100"/>
          <a:sy n="62" d="100"/>
        </p:scale>
        <p:origin x="-522" y="-7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2.xml"/><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openxmlformats.org/officeDocument/2006/relationships/commentAuthors" Target="commentAuthors.xml"/><Relationship Id="rId7" Type="http://schemas.openxmlformats.org/officeDocument/2006/relationships/slideMaster" Target="slideMasters/slideMaster1.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slide" Target="slides/slide21.xml"/><Relationship Id="rId1" Type="http://schemas.openxmlformats.org/officeDocument/2006/relationships/customXml" Target="../customXml/item1.xml"/><Relationship Id="rId6" Type="http://schemas.openxmlformats.org/officeDocument/2006/relationships/customXml" Target="../customXml/item6.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customXml" Target="../customXml/item5.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viewProps" Target="viewProps.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slide" Target="slides/slide23.xml"/><Relationship Id="rId4" Type="http://schemas.openxmlformats.org/officeDocument/2006/relationships/customXml" Target="../customXml/item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chartUserShapes" Target="../drawings/drawing1.xml"/><Relationship Id="rId2" Type="http://schemas.openxmlformats.org/officeDocument/2006/relationships/package" Target="../embeddings/Microsoft_Excel_Worksheet1.xlsx"/><Relationship Id="rId1" Type="http://schemas.openxmlformats.org/officeDocument/2006/relationships/themeOverride" Target="../theme/themeOverrid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0.15427148522105391"/>
          <c:y val="0.17538240984763967"/>
          <c:w val="0.61754314733538818"/>
          <c:h val="0.76463774677036001"/>
        </c:manualLayout>
      </c:layout>
      <c:doughnutChart>
        <c:varyColors val="1"/>
        <c:ser>
          <c:idx val="0"/>
          <c:order val="0"/>
          <c:tx>
            <c:strRef>
              <c:f>'Fig_Box2.1 (2)'!$B$60</c:f>
              <c:strCache>
                <c:ptCount val="1"/>
                <c:pt idx="0">
                  <c:v>1995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(2)'!$C$60:$F$60</c:f>
              <c:numCache>
                <c:formatCode>0.0</c:formatCode>
                <c:ptCount val="4"/>
                <c:pt idx="0">
                  <c:v>80.230707297010113</c:v>
                </c:pt>
                <c:pt idx="1">
                  <c:v>7.5734855128691745</c:v>
                </c:pt>
                <c:pt idx="2">
                  <c:v>3.1770058938197119</c:v>
                </c:pt>
                <c:pt idx="3">
                  <c:v>9.018801296300996</c:v>
                </c:pt>
              </c:numCache>
            </c:numRef>
          </c:val>
        </c:ser>
        <c:ser>
          <c:idx val="1"/>
          <c:order val="1"/>
          <c:tx>
            <c:strRef>
              <c:f>'Fig_Box2.1 (2)'!$B$61</c:f>
              <c:strCache>
                <c:ptCount val="1"/>
                <c:pt idx="0">
                  <c:v>2015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(2)'!$C$61:$F$61</c:f>
              <c:numCache>
                <c:formatCode>0.0</c:formatCode>
                <c:ptCount val="4"/>
                <c:pt idx="0">
                  <c:v>58.966807674477685</c:v>
                </c:pt>
                <c:pt idx="1">
                  <c:v>15.817864048220123</c:v>
                </c:pt>
                <c:pt idx="2">
                  <c:v>14.204026643070442</c:v>
                </c:pt>
                <c:pt idx="3">
                  <c:v>11.011301634231749</c:v>
                </c:pt>
              </c:numCache>
            </c:numRef>
          </c:val>
        </c:ser>
        <c:dLbls>
          <c:showLegendKey val="0"/>
          <c:showVal val="0"/>
          <c:showCatName val="0"/>
          <c:showSerName val="0"/>
          <c:showPercent val="0"/>
          <c:showBubbleSize val="0"/>
          <c:showLeaderLines val="1"/>
        </c:dLbls>
        <c:firstSliceAng val="0"/>
        <c:holeSize val="45"/>
      </c:doughnutChart>
    </c:plotArea>
    <c:legend>
      <c:legendPos val="r"/>
      <c:layout>
        <c:manualLayout>
          <c:xMode val="edge"/>
          <c:yMode val="edge"/>
          <c:x val="0.16163083765236153"/>
          <c:y val="2.5926369060130319E-2"/>
          <c:w val="0.65144258559475843"/>
          <c:h val="0.1274077187990105"/>
        </c:manualLayout>
      </c:layout>
      <c:overlay val="0"/>
      <c:spPr>
        <a:ln w="6350"/>
      </c:spPr>
      <c:txPr>
        <a:bodyPr/>
        <a:lstStyle/>
        <a:p>
          <a:pPr>
            <a:defRPr b="1"/>
          </a:pPr>
          <a:endParaRPr lang="en-US"/>
        </a:p>
      </c:txPr>
    </c:legend>
    <c:plotVisOnly val="1"/>
    <c:dispBlanksAs val="gap"/>
    <c:showDLblsOverMax val="0"/>
  </c:chart>
  <c:spPr>
    <a:ln>
      <a:noFill/>
    </a:ln>
  </c:spPr>
  <c:txPr>
    <a:bodyPr/>
    <a:lstStyle/>
    <a:p>
      <a:pPr>
        <a:defRPr sz="1200">
          <a:latin typeface="Arial Narrow" panose="020B0606020202030204" pitchFamily="34" charset="0"/>
        </a:defRPr>
      </a:pPr>
      <a:endParaRPr lang="en-US"/>
    </a:p>
  </c:txPr>
  <c:externalData r:id="rId2">
    <c:autoUpdate val="0"/>
  </c:externalData>
  <c:userShapes r:id="rId3"/>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dgm:spPr/>
      <dgm:t>
        <a:bodyPr/>
        <a:lstStyle/>
        <a:p>
          <a:r>
            <a:rPr lang="en-GB" dirty="0" smtClean="0">
              <a:latin typeface="Calibri" panose="020F0502020204030204" pitchFamily="34" charset="0"/>
            </a:rPr>
            <a:t>Globales Wachstum dürfte moderat anziehen </a:t>
          </a:r>
          <a:r>
            <a:rPr lang="en-GB" smtClean="0">
              <a:latin typeface="Calibri" panose="020F0502020204030204" pitchFamily="34" charset="0"/>
            </a:rPr>
            <a:t>mit Aufwärts</a:t>
          </a:r>
          <a:r>
            <a:rPr lang="en-GB" dirty="0" smtClean="0">
              <a:latin typeface="Calibri" panose="020F0502020204030204" pitchFamily="34" charset="0"/>
            </a:rPr>
            <a:t>risiken</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0BD4BFF3-A846-4400-9B4D-1ECC79EBA5F8}">
      <dgm:prSet/>
      <dgm:spPr/>
      <dgm:t>
        <a:bodyPr/>
        <a:lstStyle/>
        <a:p>
          <a:r>
            <a:rPr lang="en-GB" dirty="0" smtClean="0">
              <a:latin typeface="Calibri" panose="020F0502020204030204" pitchFamily="34" charset="0"/>
            </a:rPr>
            <a:t>Es bleibt mehr zu tun, um die Gewinne aus Strukturtrends und Handel breiter zu teilen</a:t>
          </a:r>
        </a:p>
      </dgm:t>
    </dgm:pt>
    <dgm:pt modelId="{225C00EA-9FEF-41B6-9C4F-92549965D946}" type="parTrans" cxnId="{6D09A9A1-FFEA-4EA9-A2E8-55285F8C0196}">
      <dgm:prSet/>
      <dgm:spPr/>
      <dgm:t>
        <a:bodyPr/>
        <a:lstStyle/>
        <a:p>
          <a:endParaRPr lang="en-GB">
            <a:latin typeface="Calibri" panose="020F0502020204030204" pitchFamily="34" charset="0"/>
          </a:endParaRPr>
        </a:p>
      </dgm:t>
    </dgm:pt>
    <dgm:pt modelId="{203F14AC-C7A5-4E5E-9CBB-DE0F7A356B5A}" type="sibTrans" cxnId="{6D09A9A1-FFEA-4EA9-A2E8-55285F8C0196}">
      <dgm:prSet/>
      <dgm:spPr/>
      <dgm:t>
        <a:bodyPr/>
        <a:lstStyle/>
        <a:p>
          <a:endParaRPr lang="en-GB">
            <a:latin typeface="Calibri" panose="020F0502020204030204" pitchFamily="34" charset="0"/>
          </a:endParaRPr>
        </a:p>
      </dgm:t>
    </dgm:pt>
    <dgm:pt modelId="{806919CF-651B-46A9-9F55-6A28278294E6}">
      <dgm:prSet/>
      <dgm:spPr/>
      <dgm:t>
        <a:bodyPr/>
        <a:lstStyle/>
        <a:p>
          <a:r>
            <a:rPr lang="en-GB" dirty="0" smtClean="0">
              <a:latin typeface="Calibri" panose="020F0502020204030204" pitchFamily="34" charset="0"/>
            </a:rPr>
            <a:t>Ein integrierter Politikansatz ist nötig, damit die Globalisierung allen zugutekommt</a:t>
          </a:r>
        </a:p>
      </dgm:t>
    </dgm:pt>
    <dgm:pt modelId="{C176557D-E82E-4F64-8195-4FBA10DCA65F}" type="parTrans" cxnId="{3315629A-CE00-4EA6-A505-92EEC82995D3}">
      <dgm:prSet/>
      <dgm:spPr/>
      <dgm:t>
        <a:bodyPr/>
        <a:lstStyle/>
        <a:p>
          <a:endParaRPr lang="en-GB">
            <a:latin typeface="Calibri" panose="020F0502020204030204" pitchFamily="34" charset="0"/>
          </a:endParaRPr>
        </a:p>
      </dgm:t>
    </dgm:pt>
    <dgm:pt modelId="{504D45A1-33A0-469C-9F96-5CCFAF0F31C8}" type="sibTrans" cxnId="{3315629A-CE00-4EA6-A505-92EEC82995D3}">
      <dgm:prSet/>
      <dgm:spPr/>
      <dgm:t>
        <a:bodyPr/>
        <a:lstStyle/>
        <a:p>
          <a:endParaRPr lang="en-GB">
            <a:latin typeface="Calibri" panose="020F0502020204030204" pitchFamily="34" charset="0"/>
          </a:endParaRPr>
        </a:p>
      </dgm:t>
    </dgm:pt>
    <dgm:pt modelId="{31CEF85D-C803-49E2-87B0-F5EDAD345FC9}">
      <dgm:prSet/>
      <dgm:spPr/>
      <dgm:t>
        <a:bodyPr/>
        <a:lstStyle/>
        <a:p>
          <a:r>
            <a:rPr lang="en-GB" dirty="0" smtClean="0">
              <a:solidFill>
                <a:schemeClr val="bg2">
                  <a:lumMod val="10000"/>
                </a:schemeClr>
              </a:solidFill>
              <a:latin typeface="Calibri" panose="020F0502020204030204" pitchFamily="34" charset="0"/>
            </a:rPr>
            <a:t>Veränderungen bei Technologie, Verbraucherpräferenzen und Handel vollziehen sich gleichzeitig</a:t>
          </a:r>
        </a:p>
      </dgm:t>
    </dgm:pt>
    <dgm:pt modelId="{F5240D1C-9F1F-45CB-A124-96F539746542}" type="parTrans" cxnId="{D679395B-FE98-42B9-BBBC-D1097520053F}">
      <dgm:prSet/>
      <dgm:spPr/>
      <dgm:t>
        <a:bodyPr/>
        <a:lstStyle/>
        <a:p>
          <a:endParaRPr lang="en-GB">
            <a:latin typeface="Calibri" panose="020F0502020204030204" pitchFamily="34" charset="0"/>
          </a:endParaRPr>
        </a:p>
      </dgm:t>
    </dgm:pt>
    <dgm:pt modelId="{240024B0-F397-4B79-9323-A7BF70B621A9}" type="sibTrans" cxnId="{D679395B-FE98-42B9-BBBC-D1097520053F}">
      <dgm:prSet/>
      <dgm:spPr/>
      <dgm:t>
        <a:bodyPr/>
        <a:lstStyle/>
        <a:p>
          <a:endParaRPr lang="en-GB">
            <a:latin typeface="Calibri" panose="020F0502020204030204" pitchFamily="34" charset="0"/>
          </a:endParaRPr>
        </a:p>
      </dgm:t>
    </dgm:pt>
    <dgm:pt modelId="{2723B6F0-42E6-4D85-ABC3-0B993B034402}">
      <dgm:prSet/>
      <dgm:spPr/>
      <dgm:t>
        <a:bodyPr/>
        <a:lstStyle/>
        <a:p>
          <a:pPr eaLnBrk="1" latinLnBrk="0"/>
          <a:r>
            <a:rPr lang="en-GB" dirty="0" smtClean="0">
              <a:solidFill>
                <a:schemeClr val="bg2">
                  <a:lumMod val="10000"/>
                </a:schemeClr>
              </a:solidFill>
              <a:latin typeface="Calibri" panose="020F0502020204030204" pitchFamily="34" charset="0"/>
            </a:rPr>
            <a:t>Gleichere Wettbewerbsbedingungen für das internationale System</a:t>
          </a:r>
        </a:p>
      </dgm:t>
    </dgm:pt>
    <dgm:pt modelId="{289978A5-92C7-40F5-BD7A-00AECC89F112}" type="parTrans" cxnId="{53C87B82-B0AB-49B4-8189-CF168536BEE3}">
      <dgm:prSet/>
      <dgm:spPr/>
      <dgm:t>
        <a:bodyPr/>
        <a:lstStyle/>
        <a:p>
          <a:endParaRPr lang="en-GB">
            <a:latin typeface="Calibri" panose="020F0502020204030204" pitchFamily="34" charset="0"/>
          </a:endParaRPr>
        </a:p>
      </dgm:t>
    </dgm:pt>
    <dgm:pt modelId="{51C7EF5C-A804-4B27-AC82-9BD6EE906EB9}" type="sibTrans" cxnId="{53C87B82-B0AB-49B4-8189-CF168536BEE3}">
      <dgm:prSet/>
      <dgm:spPr/>
      <dgm:t>
        <a:bodyPr/>
        <a:lstStyle/>
        <a:p>
          <a:endParaRPr lang="en-GB">
            <a:latin typeface="Calibri" panose="020F0502020204030204" pitchFamily="34" charset="0"/>
          </a:endParaRPr>
        </a:p>
      </dgm:t>
    </dgm:pt>
    <dgm:pt modelId="{5547A09F-9281-4926-AFA4-01F6C5E99E46}">
      <dgm:prSet/>
      <dgm:spPr/>
      <dgm:t>
        <a:bodyPr/>
        <a:lstStyle/>
        <a:p>
          <a:r>
            <a:rPr lang="en-GB" dirty="0" smtClean="0">
              <a:solidFill>
                <a:schemeClr val="bg2">
                  <a:lumMod val="10000"/>
                </a:schemeClr>
              </a:solidFill>
              <a:latin typeface="Calibri" panose="020F0502020204030204" pitchFamily="34" charset="0"/>
            </a:rPr>
            <a:t>Das Vertrauen steigt, und Investitionen und Handel ziehen von niedrigem Niveau aus an</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dgm:spPr/>
      <dgm:t>
        <a:bodyPr/>
        <a:lstStyle/>
        <a:p>
          <a:r>
            <a:rPr lang="en-GB" dirty="0" smtClean="0">
              <a:solidFill>
                <a:schemeClr val="bg2">
                  <a:lumMod val="10000"/>
                </a:schemeClr>
              </a:solidFill>
              <a:latin typeface="Calibri" panose="020F0502020204030204" pitchFamily="34" charset="0"/>
            </a:rPr>
            <a:t>Anzeichen für steigende Nachfrage nach Hightech-Gütern und Investitionen zur Modernisierung des Kapitals</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596912E9-CAED-4E0C-A5E9-871A9237F95F}">
      <dgm:prSet/>
      <dgm:spPr/>
      <dgm:t>
        <a:bodyPr/>
        <a:lstStyle/>
        <a:p>
          <a:pPr eaLnBrk="1" latinLnBrk="0"/>
          <a:r>
            <a:rPr lang="en-GB" dirty="0" smtClean="0">
              <a:solidFill>
                <a:schemeClr val="bg2">
                  <a:lumMod val="10000"/>
                </a:schemeClr>
              </a:solidFill>
              <a:latin typeface="Calibri" panose="020F0502020204030204" pitchFamily="34" charset="0"/>
            </a:rPr>
            <a:t>Inländische Reformen zur Stärkung von Wettbewerb, Beschäftigung, Qualifikationen und Innovation</a:t>
          </a:r>
        </a:p>
      </dgm:t>
    </dgm:pt>
    <dgm:pt modelId="{E08425F1-88FC-4C62-8AFB-FB401A12C4F8}" type="parTrans" cxnId="{2B09D2B6-5D01-444A-A4FA-190A0096ED59}">
      <dgm:prSet/>
      <dgm:spPr/>
      <dgm:t>
        <a:bodyPr/>
        <a:lstStyle/>
        <a:p>
          <a:endParaRPr lang="en-GB">
            <a:latin typeface="Calibri" panose="020F0502020204030204" pitchFamily="34" charset="0"/>
          </a:endParaRPr>
        </a:p>
      </dgm:t>
    </dgm:pt>
    <dgm:pt modelId="{44FC58D6-B872-4528-BD0F-539ABBFB23E9}" type="sibTrans" cxnId="{2B09D2B6-5D01-444A-A4FA-190A0096ED59}">
      <dgm:prSet/>
      <dgm:spPr/>
      <dgm:t>
        <a:bodyPr/>
        <a:lstStyle/>
        <a:p>
          <a:endParaRPr lang="en-GB">
            <a:latin typeface="Calibri" panose="020F0502020204030204" pitchFamily="34" charset="0"/>
          </a:endParaRPr>
        </a:p>
      </dgm:t>
    </dgm:pt>
    <dgm:pt modelId="{41E053C8-D301-4D12-AD77-7EE97ECC131D}">
      <dgm:prSet/>
      <dgm:spPr/>
      <dgm:t>
        <a:bodyPr/>
        <a:lstStyle/>
        <a:p>
          <a:r>
            <a:rPr lang="en-GB" dirty="0" smtClean="0">
              <a:latin typeface="Calibri" panose="020F0502020204030204" pitchFamily="34" charset="0"/>
            </a:rPr>
            <a:t>Produktivitäts- und Lohnwachstum bleiben gedämpft; Risiken für die Finanzstabilität bestehen fort</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553FD138-D451-4870-97BF-70183F97EA30}">
      <dgm:prSet/>
      <dgm:spPr/>
      <dgm:t>
        <a:bodyPr/>
        <a:lstStyle/>
        <a:p>
          <a:r>
            <a:rPr lang="en-GB" dirty="0" smtClean="0">
              <a:solidFill>
                <a:schemeClr val="bg2">
                  <a:lumMod val="10000"/>
                </a:schemeClr>
              </a:solidFill>
              <a:latin typeface="Calibri" panose="020F0502020204030204" pitchFamily="34" charset="0"/>
            </a:rPr>
            <a:t>Arbeitsplatzverluste durch Aktivitätsverlagerungen konzentrieren sich auf das verarbeitende Gewerbe und bestimmte Regionen</a:t>
          </a:r>
        </a:p>
      </dgm:t>
    </dgm:pt>
    <dgm:pt modelId="{43E28135-AFF9-4B2C-B41B-8023F9E19884}" type="parTrans" cxnId="{33F34D4D-844B-4309-91F1-2D71039CC08C}">
      <dgm:prSet/>
      <dgm:spPr/>
      <dgm:t>
        <a:bodyPr/>
        <a:lstStyle/>
        <a:p>
          <a:endParaRPr lang="en-GB">
            <a:latin typeface="Calibri" panose="020F0502020204030204" pitchFamily="34" charset="0"/>
          </a:endParaRPr>
        </a:p>
      </dgm:t>
    </dgm:pt>
    <dgm:pt modelId="{077F97B1-32C2-453B-AA07-7A8F7DC75B28}" type="sibTrans" cxnId="{33F34D4D-844B-4309-91F1-2D71039CC08C}">
      <dgm:prSet/>
      <dgm:spPr/>
      <dgm:t>
        <a:bodyPr/>
        <a:lstStyle/>
        <a:p>
          <a:endParaRPr lang="en-GB">
            <a:latin typeface="Calibri" panose="020F0502020204030204" pitchFamily="34" charset="0"/>
          </a:endParaRPr>
        </a:p>
      </dgm:t>
    </dgm:pt>
    <dgm:pt modelId="{3BDA06C9-41F1-4324-B47B-FD9322F22076}">
      <dgm:prSet/>
      <dgm:spPr/>
      <dgm:t>
        <a:bodyPr/>
        <a:lstStyle/>
        <a:p>
          <a:r>
            <a:rPr lang="en-US" dirty="0" smtClean="0">
              <a:solidFill>
                <a:schemeClr val="bg2">
                  <a:lumMod val="10000"/>
                </a:schemeClr>
              </a:solidFill>
              <a:latin typeface="Calibri" panose="020F0502020204030204" pitchFamily="34" charset="0"/>
            </a:rPr>
            <a:t>Das Wachstum ist breit angelegt; die Erholung bei Rohstoffproduzenten stützt den moderaten globalen Aufschwung</a:t>
          </a:r>
          <a:endParaRPr lang="en-GB" dirty="0" smtClean="0">
            <a:solidFill>
              <a:schemeClr val="bg2">
                <a:lumMod val="10000"/>
              </a:schemeClr>
            </a:solidFill>
            <a:latin typeface="Calibri" panose="020F0502020204030204" pitchFamily="34" charset="0"/>
          </a:endParaRPr>
        </a:p>
      </dgm:t>
    </dgm:pt>
    <dgm:pt modelId="{68A95A56-5757-4B67-8390-A31F0B0037F9}" type="parTrans" cxnId="{43479365-8FA3-41F5-B10E-1E225A4D5723}">
      <dgm:prSet/>
      <dgm:spPr/>
      <dgm:t>
        <a:bodyPr/>
        <a:lstStyle/>
        <a:p>
          <a:endParaRPr lang="en-GB">
            <a:latin typeface="Calibri" panose="020F0502020204030204" pitchFamily="34" charset="0"/>
          </a:endParaRPr>
        </a:p>
      </dgm:t>
    </dgm:pt>
    <dgm:pt modelId="{9FC0B700-BAC5-444B-A109-D6595B3DE849}" type="sibTrans" cxnId="{43479365-8FA3-41F5-B10E-1E225A4D5723}">
      <dgm:prSet/>
      <dgm:spPr/>
      <dgm:t>
        <a:bodyPr/>
        <a:lstStyle/>
        <a:p>
          <a:endParaRPr lang="en-GB">
            <a:latin typeface="Calibri" panose="020F0502020204030204" pitchFamily="34" charset="0"/>
          </a:endParaRPr>
        </a:p>
      </dgm:t>
    </dgm:pt>
    <dgm:pt modelId="{94526619-ADE9-4975-A209-1206B2423C38}">
      <dgm:prSet/>
      <dgm:spPr/>
      <dgm:t>
        <a:bodyPr/>
        <a:lstStyle/>
        <a:p>
          <a:r>
            <a:rPr lang="en-GB" dirty="0" smtClean="0">
              <a:solidFill>
                <a:schemeClr val="bg2">
                  <a:lumMod val="10000"/>
                </a:schemeClr>
              </a:solidFill>
              <a:latin typeface="Calibri" panose="020F0502020204030204" pitchFamily="34" charset="0"/>
            </a:rPr>
            <a:t>Die wichtigsten Beschäftigungsindikatoren verbessern sich, doch die Arbeitsmärkte haben sich noch nicht erholt</a:t>
          </a:r>
        </a:p>
      </dgm:t>
    </dgm:pt>
    <dgm:pt modelId="{56BF7F1D-70AF-401A-A4BE-6C616B75B134}" type="parTrans" cxnId="{705B9F36-B466-4E78-9711-00BA06938028}">
      <dgm:prSet/>
      <dgm:spPr/>
      <dgm:t>
        <a:bodyPr/>
        <a:lstStyle/>
        <a:p>
          <a:endParaRPr lang="en-GB">
            <a:latin typeface="Calibri" panose="020F0502020204030204" pitchFamily="34" charset="0"/>
          </a:endParaRPr>
        </a:p>
      </dgm:t>
    </dgm:pt>
    <dgm:pt modelId="{EFF9F49E-5A2F-409F-8A4C-43657ADA0126}" type="sibTrans" cxnId="{705B9F36-B466-4E78-9711-00BA06938028}">
      <dgm:prSet/>
      <dgm:spPr/>
      <dgm:t>
        <a:bodyPr/>
        <a:lstStyle/>
        <a:p>
          <a:endParaRPr lang="en-GB">
            <a:latin typeface="Calibri" panose="020F0502020204030204" pitchFamily="34" charset="0"/>
          </a:endParaRPr>
        </a:p>
      </dgm:t>
    </dgm:pt>
    <dgm:pt modelId="{1E9D3748-E159-4EC9-8912-7AFB54D896E8}">
      <dgm:prSet/>
      <dgm:spPr/>
      <dgm:t>
        <a:bodyPr/>
        <a:lstStyle/>
        <a:p>
          <a:r>
            <a:rPr lang="en-US" dirty="0" smtClean="0">
              <a:solidFill>
                <a:schemeClr val="bg2">
                  <a:lumMod val="10000"/>
                </a:schemeClr>
              </a:solidFill>
              <a:latin typeface="Calibri" panose="020F0502020204030204" pitchFamily="34" charset="0"/>
            </a:rPr>
            <a:t>Finanzielle Risiken durch hohes und steigendes Kreditwachstum, steigende Immobilienpreise und Zinsdivergenzen</a:t>
          </a:r>
          <a:endParaRPr lang="en-GB" dirty="0" smtClean="0">
            <a:solidFill>
              <a:schemeClr val="bg2">
                <a:lumMod val="10000"/>
              </a:schemeClr>
            </a:solidFill>
            <a:latin typeface="Calibri" panose="020F0502020204030204" pitchFamily="34" charset="0"/>
          </a:endParaRPr>
        </a:p>
      </dgm:t>
    </dgm:pt>
    <dgm:pt modelId="{20B72C64-47B4-49ED-84C2-031F7AD8C095}" type="parTrans" cxnId="{67B238D7-40B4-47DC-A939-F18AE00B00B1}">
      <dgm:prSet/>
      <dgm:spPr/>
      <dgm:t>
        <a:bodyPr/>
        <a:lstStyle/>
        <a:p>
          <a:endParaRPr lang="en-GB">
            <a:latin typeface="Calibri" panose="020F0502020204030204" pitchFamily="34" charset="0"/>
          </a:endParaRPr>
        </a:p>
      </dgm:t>
    </dgm:pt>
    <dgm:pt modelId="{3B8DAD5D-0ECD-4585-9ADC-D9FCE88A6641}" type="sibTrans" cxnId="{67B238D7-40B4-47DC-A939-F18AE00B00B1}">
      <dgm:prSet/>
      <dgm:spPr/>
      <dgm:t>
        <a:bodyPr/>
        <a:lstStyle/>
        <a:p>
          <a:endParaRPr lang="en-GB">
            <a:latin typeface="Calibri" panose="020F0502020204030204" pitchFamily="34" charset="0"/>
          </a:endParaRPr>
        </a:p>
      </dgm:t>
    </dgm:pt>
    <dgm:pt modelId="{DCA8D2F6-0512-4BE3-8D00-0CD39364103D}">
      <dgm:prSet/>
      <dgm:spPr/>
      <dgm:t>
        <a:bodyPr/>
        <a:lstStyle/>
        <a:p>
          <a:pPr eaLnBrk="1" latinLnBrk="0"/>
          <a:r>
            <a:rPr lang="en-GB" dirty="0" smtClean="0">
              <a:solidFill>
                <a:schemeClr val="bg2">
                  <a:lumMod val="10000"/>
                </a:schemeClr>
              </a:solidFill>
              <a:latin typeface="Calibri" panose="020F0502020204030204" pitchFamily="34" charset="0"/>
            </a:rPr>
            <a:t>Gezielte Maßnahmen, um Menschen, die zurückbleiben, neue Chancen zu eröffnen</a:t>
          </a:r>
        </a:p>
      </dgm:t>
    </dgm:pt>
    <dgm:pt modelId="{E552743C-E71B-4861-972C-080EFB24BCDA}" type="parTrans" cxnId="{D21F9AFA-1F40-4590-873F-0B7900DE8CA3}">
      <dgm:prSet/>
      <dgm:spPr/>
      <dgm:t>
        <a:bodyPr/>
        <a:lstStyle/>
        <a:p>
          <a:endParaRPr lang="en-GB"/>
        </a:p>
      </dgm:t>
    </dgm:pt>
    <dgm:pt modelId="{20A6B2AA-6C1B-4381-A526-3AD302301D65}" type="sibTrans" cxnId="{D21F9AFA-1F40-4590-873F-0B7900DE8CA3}">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4" custScaleY="119926">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4">
        <dgm:presLayoutVars>
          <dgm:bulletEnabled val="1"/>
        </dgm:presLayoutVars>
      </dgm:prSet>
      <dgm:spPr/>
      <dgm:t>
        <a:bodyPr/>
        <a:lstStyle/>
        <a:p>
          <a:endParaRPr lang="en-GB"/>
        </a:p>
      </dgm:t>
    </dgm:pt>
    <dgm:pt modelId="{86CD86FE-BCDD-4F86-8258-550D41ABF992}" type="pres">
      <dgm:prSet presAssocID="{41E053C8-D301-4D12-AD77-7EE97ECC131D}" presName="parentText" presStyleLbl="node1" presStyleIdx="1" presStyleCnt="4" custScaleY="112620">
        <dgm:presLayoutVars>
          <dgm:chMax val="0"/>
          <dgm:bulletEnabled val="1"/>
        </dgm:presLayoutVars>
      </dgm:prSet>
      <dgm:spPr/>
      <dgm:t>
        <a:bodyPr/>
        <a:lstStyle/>
        <a:p>
          <a:endParaRPr lang="en-GB"/>
        </a:p>
      </dgm:t>
    </dgm:pt>
    <dgm:pt modelId="{4D106606-0D66-4779-A085-E8266C34AB2A}" type="pres">
      <dgm:prSet presAssocID="{41E053C8-D301-4D12-AD77-7EE97ECC131D}" presName="childText" presStyleLbl="revTx" presStyleIdx="1" presStyleCnt="4">
        <dgm:presLayoutVars>
          <dgm:bulletEnabled val="1"/>
        </dgm:presLayoutVars>
      </dgm:prSet>
      <dgm:spPr/>
      <dgm:t>
        <a:bodyPr/>
        <a:lstStyle/>
        <a:p>
          <a:endParaRPr lang="en-GB"/>
        </a:p>
      </dgm:t>
    </dgm:pt>
    <dgm:pt modelId="{9CFD6359-D6AA-429D-ADFE-D05F20309091}" type="pres">
      <dgm:prSet presAssocID="{0BD4BFF3-A846-4400-9B4D-1ECC79EBA5F8}" presName="parentText" presStyleLbl="node1" presStyleIdx="2" presStyleCnt="4" custScaleY="121626" custLinFactNeighborY="3088">
        <dgm:presLayoutVars>
          <dgm:chMax val="0"/>
          <dgm:bulletEnabled val="1"/>
        </dgm:presLayoutVars>
      </dgm:prSet>
      <dgm:spPr/>
      <dgm:t>
        <a:bodyPr/>
        <a:lstStyle/>
        <a:p>
          <a:endParaRPr lang="en-GB"/>
        </a:p>
      </dgm:t>
    </dgm:pt>
    <dgm:pt modelId="{E865CCEF-EA47-42BC-ABAD-CF3E5C00DE2D}" type="pres">
      <dgm:prSet presAssocID="{0BD4BFF3-A846-4400-9B4D-1ECC79EBA5F8}" presName="childText" presStyleLbl="revTx" presStyleIdx="2" presStyleCnt="4" custLinFactNeighborY="3530">
        <dgm:presLayoutVars>
          <dgm:bulletEnabled val="1"/>
        </dgm:presLayoutVars>
      </dgm:prSet>
      <dgm:spPr/>
      <dgm:t>
        <a:bodyPr/>
        <a:lstStyle/>
        <a:p>
          <a:endParaRPr lang="en-GB"/>
        </a:p>
      </dgm:t>
    </dgm:pt>
    <dgm:pt modelId="{2B45D7B7-0834-4D13-8778-0BFAB98C78C2}" type="pres">
      <dgm:prSet presAssocID="{806919CF-651B-46A9-9F55-6A28278294E6}" presName="parentText" presStyleLbl="node1" presStyleIdx="3" presStyleCnt="4" custScaleY="114973" custLinFactNeighborY="2046">
        <dgm:presLayoutVars>
          <dgm:chMax val="0"/>
          <dgm:bulletEnabled val="1"/>
        </dgm:presLayoutVars>
      </dgm:prSet>
      <dgm:spPr/>
      <dgm:t>
        <a:bodyPr/>
        <a:lstStyle/>
        <a:p>
          <a:endParaRPr lang="en-GB"/>
        </a:p>
      </dgm:t>
    </dgm:pt>
    <dgm:pt modelId="{466AD614-18F8-4250-8704-A12C186A2560}" type="pres">
      <dgm:prSet presAssocID="{806919CF-651B-46A9-9F55-6A28278294E6}" presName="childText" presStyleLbl="revTx" presStyleIdx="3" presStyleCnt="4" custLinFactNeighborY="3530">
        <dgm:presLayoutVars>
          <dgm:bulletEnabled val="1"/>
        </dgm:presLayoutVars>
      </dgm:prSet>
      <dgm:spPr/>
      <dgm:t>
        <a:bodyPr/>
        <a:lstStyle/>
        <a:p>
          <a:endParaRPr lang="en-GB"/>
        </a:p>
      </dgm:t>
    </dgm:pt>
  </dgm:ptLst>
  <dgm:cxnLst>
    <dgm:cxn modelId="{F590CECD-2BFA-4266-B254-A6B09807B58B}" type="presOf" srcId="{312AE3AD-150C-4556-B9F3-C5AFE07518AD}" destId="{2E9BD066-5772-45B3-AF70-8A7A03272818}" srcOrd="0" destOrd="0" presId="urn:microsoft.com/office/officeart/2005/8/layout/vList2"/>
    <dgm:cxn modelId="{603FDC0A-637D-4E78-B428-8D08C3E15A4C}" type="presOf" srcId="{28AA58F6-D958-4B10-9359-D08D4D103B97}" destId="{B71E4610-9C7F-4FC1-B45C-3246453F732B}" srcOrd="0" destOrd="0" presId="urn:microsoft.com/office/officeart/2005/8/layout/vList2"/>
    <dgm:cxn modelId="{E64A65F2-6B56-4204-A648-9FD888184D20}" type="presOf" srcId="{0BD4BFF3-A846-4400-9B4D-1ECC79EBA5F8}" destId="{9CFD6359-D6AA-429D-ADFE-D05F20309091}" srcOrd="0" destOrd="0" presId="urn:microsoft.com/office/officeart/2005/8/layout/vList2"/>
    <dgm:cxn modelId="{9462F653-2C88-47FC-B583-152A4B02B81A}" type="presOf" srcId="{553FD138-D451-4870-97BF-70183F97EA30}" destId="{E865CCEF-EA47-42BC-ABAD-CF3E5C00DE2D}" srcOrd="0" destOrd="1" presId="urn:microsoft.com/office/officeart/2005/8/layout/vList2"/>
    <dgm:cxn modelId="{22616761-6D3E-4F0D-BFB4-BA0190F21668}" type="presOf" srcId="{41E053C8-D301-4D12-AD77-7EE97ECC131D}" destId="{86CD86FE-BCDD-4F86-8258-550D41ABF992}" srcOrd="0" destOrd="0" presId="urn:microsoft.com/office/officeart/2005/8/layout/vList2"/>
    <dgm:cxn modelId="{56DCEC49-4C78-46A2-8DDF-3A9F8D6C4D56}" type="presOf" srcId="{94526619-ADE9-4975-A209-1206B2423C38}" destId="{4D106606-0D66-4779-A085-E8266C34AB2A}" srcOrd="0" destOrd="0" presId="urn:microsoft.com/office/officeart/2005/8/layout/vList2"/>
    <dgm:cxn modelId="{B0B2F67A-EBA5-48F4-A6DC-6B545647974D}" srcId="{312AE3AD-150C-4556-B9F3-C5AFE07518AD}" destId="{41E053C8-D301-4D12-AD77-7EE97ECC131D}" srcOrd="1" destOrd="0" parTransId="{E94A589A-0C85-450C-AE1A-FBF4CE0F2A81}" sibTransId="{9D04F1D8-B208-4490-A62E-6562FDAC00FC}"/>
    <dgm:cxn modelId="{D7E958C7-D684-4AB9-9C24-CB1C5BCFFBFA}" type="presOf" srcId="{3BDA06C9-41F1-4324-B47B-FD9322F22076}" destId="{59778523-FD02-412B-8EED-12620C0515E9}" srcOrd="0" destOrd="1" presId="urn:microsoft.com/office/officeart/2005/8/layout/vList2"/>
    <dgm:cxn modelId="{FEC8D880-A663-402B-A787-3C914236B237}" srcId="{28AA58F6-D958-4B10-9359-D08D4D103B97}" destId="{ABFAF83A-6C73-47F6-896E-A9BD27B48A39}" srcOrd="2" destOrd="0" parTransId="{A75B0344-DEA6-4F23-B9A2-5187C1B55793}" sibTransId="{94733AA1-8077-4264-929A-A4870403E5DA}"/>
    <dgm:cxn modelId="{E454A417-3B26-4064-AA44-E1A3E095A938}" type="presOf" srcId="{DCA8D2F6-0512-4BE3-8D00-0CD39364103D}" destId="{466AD614-18F8-4250-8704-A12C186A2560}" srcOrd="0" destOrd="2" presId="urn:microsoft.com/office/officeart/2005/8/layout/vList2"/>
    <dgm:cxn modelId="{B27A379C-FD63-4C1A-89DC-8BCCFEE7E8C4}" type="presOf" srcId="{596912E9-CAED-4E0C-A5E9-871A9237F95F}" destId="{466AD614-18F8-4250-8704-A12C186A2560}" srcOrd="0" destOrd="1" presId="urn:microsoft.com/office/officeart/2005/8/layout/vList2"/>
    <dgm:cxn modelId="{2B09D2B6-5D01-444A-A4FA-190A0096ED59}" srcId="{806919CF-651B-46A9-9F55-6A28278294E6}" destId="{596912E9-CAED-4E0C-A5E9-871A9237F95F}" srcOrd="1" destOrd="0" parTransId="{E08425F1-88FC-4C62-8AFB-FB401A12C4F8}" sibTransId="{44FC58D6-B872-4528-BD0F-539ABBFB23E9}"/>
    <dgm:cxn modelId="{33F34D4D-844B-4309-91F1-2D71039CC08C}" srcId="{0BD4BFF3-A846-4400-9B4D-1ECC79EBA5F8}" destId="{553FD138-D451-4870-97BF-70183F97EA30}" srcOrd="1" destOrd="0" parTransId="{43E28135-AFF9-4B2C-B41B-8023F9E19884}" sibTransId="{077F97B1-32C2-453B-AA07-7A8F7DC75B28}"/>
    <dgm:cxn modelId="{5302161C-846A-4FDA-9CDD-C3F3F1210388}" type="presOf" srcId="{806919CF-651B-46A9-9F55-6A28278294E6}" destId="{2B45D7B7-0834-4D13-8778-0BFAB98C78C2}" srcOrd="0" destOrd="0" presId="urn:microsoft.com/office/officeart/2005/8/layout/vList2"/>
    <dgm:cxn modelId="{7FC4F6B6-7333-499E-8799-51F96AA60B84}" srcId="{312AE3AD-150C-4556-B9F3-C5AFE07518AD}" destId="{28AA58F6-D958-4B10-9359-D08D4D103B97}" srcOrd="0" destOrd="0" parTransId="{60C608F0-860E-4FC1-AB6C-6A893EFA9FC9}" sibTransId="{3083AE86-D778-4F5F-B1B6-4FB7AC7CBD51}"/>
    <dgm:cxn modelId="{FB3611A6-B48D-4A54-9E4F-F3AA4FA9ABAB}" type="presOf" srcId="{2723B6F0-42E6-4D85-ABC3-0B993B034402}" destId="{466AD614-18F8-4250-8704-A12C186A2560}" srcOrd="0" destOrd="0" presId="urn:microsoft.com/office/officeart/2005/8/layout/vList2"/>
    <dgm:cxn modelId="{6D09A9A1-FFEA-4EA9-A2E8-55285F8C0196}" srcId="{312AE3AD-150C-4556-B9F3-C5AFE07518AD}" destId="{0BD4BFF3-A846-4400-9B4D-1ECC79EBA5F8}" srcOrd="2" destOrd="0" parTransId="{225C00EA-9FEF-41B6-9C4F-92549965D946}" sibTransId="{203F14AC-C7A5-4E5E-9CBB-DE0F7A356B5A}"/>
    <dgm:cxn modelId="{D21F9AFA-1F40-4590-873F-0B7900DE8CA3}" srcId="{806919CF-651B-46A9-9F55-6A28278294E6}" destId="{DCA8D2F6-0512-4BE3-8D00-0CD39364103D}" srcOrd="2" destOrd="0" parTransId="{E552743C-E71B-4861-972C-080EFB24BCDA}" sibTransId="{20A6B2AA-6C1B-4381-A526-3AD302301D65}"/>
    <dgm:cxn modelId="{53C87B82-B0AB-49B4-8189-CF168536BEE3}" srcId="{806919CF-651B-46A9-9F55-6A28278294E6}" destId="{2723B6F0-42E6-4D85-ABC3-0B993B034402}" srcOrd="0" destOrd="0" parTransId="{289978A5-92C7-40F5-BD7A-00AECC89F112}" sibTransId="{51C7EF5C-A804-4B27-AC82-9BD6EE906EB9}"/>
    <dgm:cxn modelId="{22EA297E-C433-43DE-A9F8-57D4D82CB461}" type="presOf" srcId="{1E9D3748-E159-4EC9-8912-7AFB54D896E8}" destId="{4D106606-0D66-4779-A085-E8266C34AB2A}" srcOrd="0" destOrd="1" presId="urn:microsoft.com/office/officeart/2005/8/layout/vList2"/>
    <dgm:cxn modelId="{705B9F36-B466-4E78-9711-00BA06938028}" srcId="{41E053C8-D301-4D12-AD77-7EE97ECC131D}" destId="{94526619-ADE9-4975-A209-1206B2423C38}" srcOrd="0" destOrd="0" parTransId="{56BF7F1D-70AF-401A-A4BE-6C616B75B134}" sibTransId="{EFF9F49E-5A2F-409F-8A4C-43657ADA0126}"/>
    <dgm:cxn modelId="{3315629A-CE00-4EA6-A505-92EEC82995D3}" srcId="{312AE3AD-150C-4556-B9F3-C5AFE07518AD}" destId="{806919CF-651B-46A9-9F55-6A28278294E6}" srcOrd="3" destOrd="0" parTransId="{C176557D-E82E-4F64-8195-4FBA10DCA65F}" sibTransId="{504D45A1-33A0-469C-9F96-5CCFAF0F31C8}"/>
    <dgm:cxn modelId="{DB292FF2-CC4D-4050-9997-4883B8C5E792}" type="presOf" srcId="{ABFAF83A-6C73-47F6-896E-A9BD27B48A39}" destId="{59778523-FD02-412B-8EED-12620C0515E9}" srcOrd="0" destOrd="2" presId="urn:microsoft.com/office/officeart/2005/8/layout/vList2"/>
    <dgm:cxn modelId="{12AB3E7D-BD2B-4B16-B4C5-1D6AD6FD6A99}" type="presOf" srcId="{5547A09F-9281-4926-AFA4-01F6C5E99E46}" destId="{59778523-FD02-412B-8EED-12620C0515E9}" srcOrd="0" destOrd="0" presId="urn:microsoft.com/office/officeart/2005/8/layout/vList2"/>
    <dgm:cxn modelId="{43479365-8FA3-41F5-B10E-1E225A4D5723}" srcId="{28AA58F6-D958-4B10-9359-D08D4D103B97}" destId="{3BDA06C9-41F1-4324-B47B-FD9322F22076}" srcOrd="1" destOrd="0" parTransId="{68A95A56-5757-4B67-8390-A31F0B0037F9}" sibTransId="{9FC0B700-BAC5-444B-A109-D6595B3DE849}"/>
    <dgm:cxn modelId="{67B238D7-40B4-47DC-A939-F18AE00B00B1}" srcId="{41E053C8-D301-4D12-AD77-7EE97ECC131D}" destId="{1E9D3748-E159-4EC9-8912-7AFB54D896E8}" srcOrd="1" destOrd="0" parTransId="{20B72C64-47B4-49ED-84C2-031F7AD8C095}" sibTransId="{3B8DAD5D-0ECD-4585-9ADC-D9FCE88A6641}"/>
    <dgm:cxn modelId="{D679395B-FE98-42B9-BBBC-D1097520053F}" srcId="{0BD4BFF3-A846-4400-9B4D-1ECC79EBA5F8}" destId="{31CEF85D-C803-49E2-87B0-F5EDAD345FC9}" srcOrd="0" destOrd="0" parTransId="{F5240D1C-9F1F-45CB-A124-96F539746542}" sibTransId="{240024B0-F397-4B79-9323-A7BF70B621A9}"/>
    <dgm:cxn modelId="{C2BEBCDC-03B2-4D84-A49C-A63F131785DD}" srcId="{28AA58F6-D958-4B10-9359-D08D4D103B97}" destId="{5547A09F-9281-4926-AFA4-01F6C5E99E46}" srcOrd="0" destOrd="0" parTransId="{F3ACEA60-3461-4AC3-BB5D-893E4B822BE9}" sibTransId="{F76B773A-F1BB-45AE-853C-30C972F6D272}"/>
    <dgm:cxn modelId="{3BE347DC-11F6-4A9D-93A7-2379018EBE6B}" type="presOf" srcId="{31CEF85D-C803-49E2-87B0-F5EDAD345FC9}" destId="{E865CCEF-EA47-42BC-ABAD-CF3E5C00DE2D}" srcOrd="0" destOrd="0" presId="urn:microsoft.com/office/officeart/2005/8/layout/vList2"/>
    <dgm:cxn modelId="{FDD43C9A-C0FF-4A65-9C2D-DD5EBFDCF51C}" type="presParOf" srcId="{2E9BD066-5772-45B3-AF70-8A7A03272818}" destId="{B71E4610-9C7F-4FC1-B45C-3246453F732B}" srcOrd="0" destOrd="0" presId="urn:microsoft.com/office/officeart/2005/8/layout/vList2"/>
    <dgm:cxn modelId="{2FABFBCD-C1D7-4148-9241-B06601E9DFE8}" type="presParOf" srcId="{2E9BD066-5772-45B3-AF70-8A7A03272818}" destId="{59778523-FD02-412B-8EED-12620C0515E9}" srcOrd="1" destOrd="0" presId="urn:microsoft.com/office/officeart/2005/8/layout/vList2"/>
    <dgm:cxn modelId="{E372AA16-7338-42E3-BD01-DD58D02C24FA}" type="presParOf" srcId="{2E9BD066-5772-45B3-AF70-8A7A03272818}" destId="{86CD86FE-BCDD-4F86-8258-550D41ABF992}" srcOrd="2" destOrd="0" presId="urn:microsoft.com/office/officeart/2005/8/layout/vList2"/>
    <dgm:cxn modelId="{E518DEB3-03BF-477A-A095-349AA6454BB3}" type="presParOf" srcId="{2E9BD066-5772-45B3-AF70-8A7A03272818}" destId="{4D106606-0D66-4779-A085-E8266C34AB2A}" srcOrd="3" destOrd="0" presId="urn:microsoft.com/office/officeart/2005/8/layout/vList2"/>
    <dgm:cxn modelId="{A693E904-7D2E-4E5D-929D-BA4909CE4DE9}" type="presParOf" srcId="{2E9BD066-5772-45B3-AF70-8A7A03272818}" destId="{9CFD6359-D6AA-429D-ADFE-D05F20309091}" srcOrd="4" destOrd="0" presId="urn:microsoft.com/office/officeart/2005/8/layout/vList2"/>
    <dgm:cxn modelId="{8CEFDE8B-B995-44A2-BF6C-7A588C8CDCDC}" type="presParOf" srcId="{2E9BD066-5772-45B3-AF70-8A7A03272818}" destId="{E865CCEF-EA47-42BC-ABAD-CF3E5C00DE2D}" srcOrd="5" destOrd="0" presId="urn:microsoft.com/office/officeart/2005/8/layout/vList2"/>
    <dgm:cxn modelId="{5DB977C2-0720-479E-92EB-2C9B2BF3C0B3}" type="presParOf" srcId="{2E9BD066-5772-45B3-AF70-8A7A03272818}" destId="{2B45D7B7-0834-4D13-8778-0BFAB98C78C2}" srcOrd="6" destOrd="0" presId="urn:microsoft.com/office/officeart/2005/8/layout/vList2"/>
    <dgm:cxn modelId="{B49B4D58-995B-42D1-BCBE-C90913265EDD}" type="presParOf" srcId="{2E9BD066-5772-45B3-AF70-8A7A03272818}" destId="{466AD614-18F8-4250-8704-A12C186A2560}" srcOrd="7"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custT="1"/>
      <dgm:spPr/>
      <dgm:t>
        <a:bodyPr/>
        <a:lstStyle/>
        <a:p>
          <a:r>
            <a:rPr lang="en-GB" sz="2000" dirty="0" smtClean="0">
              <a:latin typeface="Calibri" panose="020F0502020204030204" pitchFamily="34" charset="0"/>
            </a:rPr>
            <a:t>Maßnahmen zur Verbesserung des internationalen Umfelds:</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31FDEDA6-66D9-439F-8F48-7D1A3D83CB2C}">
      <dgm:prSet custT="1"/>
      <dgm:spPr/>
      <dgm:t>
        <a:bodyPr/>
        <a:lstStyle/>
        <a:p>
          <a:r>
            <a:rPr lang="en-GB" sz="1800" dirty="0" smtClean="0">
              <a:solidFill>
                <a:schemeClr val="bg2">
                  <a:lumMod val="10000"/>
                </a:schemeClr>
              </a:solidFill>
              <a:latin typeface="Calibri" panose="020F0502020204030204" pitchFamily="34" charset="0"/>
            </a:rPr>
            <a:t>Institutionen und Standards bewahren, etwa für Arbeits- und Umweltschutz</a:t>
          </a:r>
        </a:p>
      </dgm:t>
    </dgm:pt>
    <dgm:pt modelId="{09E8ADEA-8958-4BC9-B0A6-4BBA6912F297}" type="parTrans" cxnId="{9687FBD7-5570-4EE1-AD8C-0827D8FDFD8B}">
      <dgm:prSet/>
      <dgm:spPr/>
      <dgm:t>
        <a:bodyPr/>
        <a:lstStyle/>
        <a:p>
          <a:endParaRPr lang="en-GB">
            <a:latin typeface="Calibri" panose="020F0502020204030204" pitchFamily="34" charset="0"/>
          </a:endParaRPr>
        </a:p>
      </dgm:t>
    </dgm:pt>
    <dgm:pt modelId="{6D1C52CF-60AE-4EC8-BD3C-432DCD6C2CBF}" type="sibTrans" cxnId="{9687FBD7-5570-4EE1-AD8C-0827D8FDFD8B}">
      <dgm:prSet/>
      <dgm:spPr/>
      <dgm:t>
        <a:bodyPr/>
        <a:lstStyle/>
        <a:p>
          <a:endParaRPr lang="en-GB">
            <a:latin typeface="Calibri" panose="020F0502020204030204" pitchFamily="34" charset="0"/>
          </a:endParaRPr>
        </a:p>
      </dgm:t>
    </dgm:pt>
    <dgm:pt modelId="{5547A09F-9281-4926-AFA4-01F6C5E99E46}">
      <dgm:prSet custT="1"/>
      <dgm:spPr/>
      <dgm:t>
        <a:bodyPr/>
        <a:lstStyle/>
        <a:p>
          <a:r>
            <a:rPr lang="en-GB" sz="1800" dirty="0" smtClean="0">
              <a:solidFill>
                <a:schemeClr val="bg2">
                  <a:lumMod val="10000"/>
                </a:schemeClr>
              </a:solidFill>
              <a:latin typeface="Calibri" panose="020F0502020204030204" pitchFamily="34" charset="0"/>
            </a:rPr>
            <a:t>Offene Märkte für grenzüberschreitenden Handel und Investitionen anstreben</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custT="1"/>
      <dgm:spPr/>
      <dgm:t>
        <a:bodyPr/>
        <a:lstStyle/>
        <a:p>
          <a:r>
            <a:rPr lang="en-GB" sz="1800" dirty="0" smtClean="0">
              <a:solidFill>
                <a:schemeClr val="bg2">
                  <a:lumMod val="10000"/>
                </a:schemeClr>
              </a:solidFill>
              <a:latin typeface="Calibri" panose="020F0502020204030204" pitchFamily="34" charset="0"/>
            </a:rPr>
            <a:t>Multilaterale Zusammenarbeit fördern, z. B. bei Gewinnverkürzung und Gewinnverlagerung sowie der Wettbewerbspolitik</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41E053C8-D301-4D12-AD77-7EE97ECC131D}">
      <dgm:prSet custT="1"/>
      <dgm:spPr/>
      <dgm:t>
        <a:bodyPr/>
        <a:lstStyle/>
        <a:p>
          <a:r>
            <a:rPr lang="en-GB" sz="1800" dirty="0" smtClean="0">
              <a:solidFill>
                <a:schemeClr val="bg2">
                  <a:lumMod val="10000"/>
                </a:schemeClr>
              </a:solidFill>
              <a:latin typeface="Calibri" panose="020F0502020204030204" pitchFamily="34" charset="0"/>
            </a:rPr>
            <a:t>Korruption, illegalen Handel und Produktfälschung bekämpfen</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D97F0E23-3469-49AA-8515-E38E0361369C}">
      <dgm:prSet custT="1"/>
      <dgm:spPr/>
      <dgm:t>
        <a:bodyPr/>
        <a:lstStyle/>
        <a:p>
          <a:endParaRPr lang="en-GB" sz="1800" dirty="0" smtClean="0">
            <a:solidFill>
              <a:schemeClr val="bg2">
                <a:lumMod val="10000"/>
              </a:schemeClr>
            </a:solidFill>
            <a:latin typeface="Calibri" panose="020F0502020204030204" pitchFamily="34" charset="0"/>
          </a:endParaRPr>
        </a:p>
      </dgm:t>
    </dgm:pt>
    <dgm:pt modelId="{6AA93C07-A878-4E1C-B974-8C08B510F320}" type="parTrans" cxnId="{ED097170-7D59-4F12-B292-86D74F524A55}">
      <dgm:prSet/>
      <dgm:spPr/>
      <dgm:t>
        <a:bodyPr/>
        <a:lstStyle/>
        <a:p>
          <a:endParaRPr lang="en-GB"/>
        </a:p>
      </dgm:t>
    </dgm:pt>
    <dgm:pt modelId="{C75C3C01-3CE1-4166-B916-4528E996C518}" type="sibTrans" cxnId="{ED097170-7D59-4F12-B292-86D74F524A55}">
      <dgm:prSet/>
      <dgm:spPr/>
      <dgm:t>
        <a:bodyPr/>
        <a:lstStyle/>
        <a:p>
          <a:endParaRPr lang="en-GB"/>
        </a:p>
      </dgm:t>
    </dgm:pt>
    <dgm:pt modelId="{7475AEAB-06AB-45E2-98CA-E2D0B86B0492}">
      <dgm:prSet custT="1"/>
      <dgm:spPr/>
      <dgm:t>
        <a:bodyPr/>
        <a:lstStyle/>
        <a:p>
          <a:endParaRPr lang="en-GB" sz="1800" dirty="0" smtClean="0">
            <a:solidFill>
              <a:schemeClr val="bg2">
                <a:lumMod val="10000"/>
              </a:schemeClr>
            </a:solidFill>
            <a:latin typeface="Calibri" panose="020F0502020204030204" pitchFamily="34" charset="0"/>
          </a:endParaRPr>
        </a:p>
      </dgm:t>
    </dgm:pt>
    <dgm:pt modelId="{66F03EFE-FA69-4CD3-BAA2-63E4651E3CE8}" type="parTrans" cxnId="{B0152A11-1F3E-4872-B78E-1413879CBBAB}">
      <dgm:prSet/>
      <dgm:spPr/>
      <dgm:t>
        <a:bodyPr/>
        <a:lstStyle/>
        <a:p>
          <a:endParaRPr lang="en-GB"/>
        </a:p>
      </dgm:t>
    </dgm:pt>
    <dgm:pt modelId="{10D2B5B8-D750-4282-B55A-26440552C0DA}" type="sibTrans" cxnId="{B0152A11-1F3E-4872-B78E-1413879CBBAB}">
      <dgm:prSet/>
      <dgm:spPr/>
      <dgm:t>
        <a:bodyPr/>
        <a:lstStyle/>
        <a:p>
          <a:endParaRPr lang="en-GB"/>
        </a:p>
      </dgm:t>
    </dgm:pt>
    <dgm:pt modelId="{3F646720-912F-4FB0-9C2E-579D95BB3C0E}">
      <dgm:prSet custT="1"/>
      <dgm:spPr/>
      <dgm:t>
        <a:bodyPr/>
        <a:lstStyle/>
        <a:p>
          <a:endParaRPr lang="en-GB" sz="1800" dirty="0" smtClean="0">
            <a:solidFill>
              <a:schemeClr val="bg2">
                <a:lumMod val="10000"/>
              </a:schemeClr>
            </a:solidFill>
            <a:latin typeface="Calibri" panose="020F0502020204030204" pitchFamily="34" charset="0"/>
          </a:endParaRPr>
        </a:p>
      </dgm:t>
    </dgm:pt>
    <dgm:pt modelId="{571E85A4-9ADF-4A1D-B6FB-2E10710F6424}" type="parTrans" cxnId="{9F9A79EC-6936-4CEB-9252-ADB6E1AE11AF}">
      <dgm:prSet/>
      <dgm:spPr/>
      <dgm:t>
        <a:bodyPr/>
        <a:lstStyle/>
        <a:p>
          <a:endParaRPr lang="en-GB"/>
        </a:p>
      </dgm:t>
    </dgm:pt>
    <dgm:pt modelId="{7AFE8B06-89EC-464A-8376-E7AF0C8DD4E5}" type="sibTrans" cxnId="{9F9A79EC-6936-4CEB-9252-ADB6E1AE11AF}">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1" custScaleY="63997" custLinFactNeighborY="-6367">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1" custScaleY="111489" custLinFactNeighborY="299">
        <dgm:presLayoutVars>
          <dgm:bulletEnabled val="1"/>
        </dgm:presLayoutVars>
      </dgm:prSet>
      <dgm:spPr/>
      <dgm:t>
        <a:bodyPr/>
        <a:lstStyle/>
        <a:p>
          <a:endParaRPr lang="en-GB"/>
        </a:p>
      </dgm:t>
    </dgm:pt>
  </dgm:ptLst>
  <dgm:cxnLst>
    <dgm:cxn modelId="{F6B25572-DB7F-415D-AF92-A43376E886A7}" type="presOf" srcId="{312AE3AD-150C-4556-B9F3-C5AFE07518AD}" destId="{2E9BD066-5772-45B3-AF70-8A7A03272818}" srcOrd="0" destOrd="0" presId="urn:microsoft.com/office/officeart/2005/8/layout/vList2"/>
    <dgm:cxn modelId="{36A437BC-6EDE-4303-A6D1-648012887460}" type="presOf" srcId="{7475AEAB-06AB-45E2-98CA-E2D0B86B0492}" destId="{59778523-FD02-412B-8EED-12620C0515E9}" srcOrd="0" destOrd="3" presId="urn:microsoft.com/office/officeart/2005/8/layout/vList2"/>
    <dgm:cxn modelId="{FD87779F-13BD-4EB3-806B-EFD57224520E}" type="presOf" srcId="{D97F0E23-3469-49AA-8515-E38E0361369C}" destId="{59778523-FD02-412B-8EED-12620C0515E9}" srcOrd="0" destOrd="1" presId="urn:microsoft.com/office/officeart/2005/8/layout/vList2"/>
    <dgm:cxn modelId="{C2BEBCDC-03B2-4D84-A49C-A63F131785DD}" srcId="{28AA58F6-D958-4B10-9359-D08D4D103B97}" destId="{5547A09F-9281-4926-AFA4-01F6C5E99E46}" srcOrd="0" destOrd="0" parTransId="{F3ACEA60-3461-4AC3-BB5D-893E4B822BE9}" sibTransId="{F76B773A-F1BB-45AE-853C-30C972F6D272}"/>
    <dgm:cxn modelId="{9F9A79EC-6936-4CEB-9252-ADB6E1AE11AF}" srcId="{28AA58F6-D958-4B10-9359-D08D4D103B97}" destId="{3F646720-912F-4FB0-9C2E-579D95BB3C0E}" srcOrd="5" destOrd="0" parTransId="{571E85A4-9ADF-4A1D-B6FB-2E10710F6424}" sibTransId="{7AFE8B06-89EC-464A-8376-E7AF0C8DD4E5}"/>
    <dgm:cxn modelId="{7FC4F6B6-7333-499E-8799-51F96AA60B84}" srcId="{312AE3AD-150C-4556-B9F3-C5AFE07518AD}" destId="{28AA58F6-D958-4B10-9359-D08D4D103B97}" srcOrd="0" destOrd="0" parTransId="{60C608F0-860E-4FC1-AB6C-6A893EFA9FC9}" sibTransId="{3083AE86-D778-4F5F-B1B6-4FB7AC7CBD51}"/>
    <dgm:cxn modelId="{B0152A11-1F3E-4872-B78E-1413879CBBAB}" srcId="{28AA58F6-D958-4B10-9359-D08D4D103B97}" destId="{7475AEAB-06AB-45E2-98CA-E2D0B86B0492}" srcOrd="3" destOrd="0" parTransId="{66F03EFE-FA69-4CD3-BAA2-63E4651E3CE8}" sibTransId="{10D2B5B8-D750-4282-B55A-26440552C0DA}"/>
    <dgm:cxn modelId="{5BA1823F-2135-46BA-AE99-EB8EF3E4522C}" type="presOf" srcId="{5547A09F-9281-4926-AFA4-01F6C5E99E46}" destId="{59778523-FD02-412B-8EED-12620C0515E9}" srcOrd="0" destOrd="0" presId="urn:microsoft.com/office/officeart/2005/8/layout/vList2"/>
    <dgm:cxn modelId="{9687FBD7-5570-4EE1-AD8C-0827D8FDFD8B}" srcId="{28AA58F6-D958-4B10-9359-D08D4D103B97}" destId="{31FDEDA6-66D9-439F-8F48-7D1A3D83CB2C}" srcOrd="2" destOrd="0" parTransId="{09E8ADEA-8958-4BC9-B0A6-4BBA6912F297}" sibTransId="{6D1C52CF-60AE-4EC8-BD3C-432DCD6C2CBF}"/>
    <dgm:cxn modelId="{7DCA2CC4-0A7D-43E4-B28B-3481C2FDAEDD}" type="presOf" srcId="{28AA58F6-D958-4B10-9359-D08D4D103B97}" destId="{B71E4610-9C7F-4FC1-B45C-3246453F732B}" srcOrd="0" destOrd="0" presId="urn:microsoft.com/office/officeart/2005/8/layout/vList2"/>
    <dgm:cxn modelId="{243CB387-1595-4467-BFEC-296652B1AC9B}" type="presOf" srcId="{31FDEDA6-66D9-439F-8F48-7D1A3D83CB2C}" destId="{59778523-FD02-412B-8EED-12620C0515E9}" srcOrd="0" destOrd="2" presId="urn:microsoft.com/office/officeart/2005/8/layout/vList2"/>
    <dgm:cxn modelId="{FEC8D880-A663-402B-A787-3C914236B237}" srcId="{28AA58F6-D958-4B10-9359-D08D4D103B97}" destId="{ABFAF83A-6C73-47F6-896E-A9BD27B48A39}" srcOrd="4" destOrd="0" parTransId="{A75B0344-DEA6-4F23-B9A2-5187C1B55793}" sibTransId="{94733AA1-8077-4264-929A-A4870403E5DA}"/>
    <dgm:cxn modelId="{9121E131-06A3-4D6D-9831-53334D27134B}" type="presOf" srcId="{3F646720-912F-4FB0-9C2E-579D95BB3C0E}" destId="{59778523-FD02-412B-8EED-12620C0515E9}" srcOrd="0" destOrd="5" presId="urn:microsoft.com/office/officeart/2005/8/layout/vList2"/>
    <dgm:cxn modelId="{3449CAFA-5480-46E9-A105-1E7FBF18FA42}" type="presOf" srcId="{ABFAF83A-6C73-47F6-896E-A9BD27B48A39}" destId="{59778523-FD02-412B-8EED-12620C0515E9}" srcOrd="0" destOrd="4" presId="urn:microsoft.com/office/officeart/2005/8/layout/vList2"/>
    <dgm:cxn modelId="{B0B2F67A-EBA5-48F4-A6DC-6B545647974D}" srcId="{28AA58F6-D958-4B10-9359-D08D4D103B97}" destId="{41E053C8-D301-4D12-AD77-7EE97ECC131D}" srcOrd="6" destOrd="0" parTransId="{E94A589A-0C85-450C-AE1A-FBF4CE0F2A81}" sibTransId="{9D04F1D8-B208-4490-A62E-6562FDAC00FC}"/>
    <dgm:cxn modelId="{ED097170-7D59-4F12-B292-86D74F524A55}" srcId="{28AA58F6-D958-4B10-9359-D08D4D103B97}" destId="{D97F0E23-3469-49AA-8515-E38E0361369C}" srcOrd="1" destOrd="0" parTransId="{6AA93C07-A878-4E1C-B974-8C08B510F320}" sibTransId="{C75C3C01-3CE1-4166-B916-4528E996C518}"/>
    <dgm:cxn modelId="{69363588-FB2C-42E2-90AB-819EEE464C0B}" type="presOf" srcId="{41E053C8-D301-4D12-AD77-7EE97ECC131D}" destId="{59778523-FD02-412B-8EED-12620C0515E9}" srcOrd="0" destOrd="6" presId="urn:microsoft.com/office/officeart/2005/8/layout/vList2"/>
    <dgm:cxn modelId="{19731FE0-04E1-4335-8190-F4F8766BCB4D}" type="presParOf" srcId="{2E9BD066-5772-45B3-AF70-8A7A03272818}" destId="{B71E4610-9C7F-4FC1-B45C-3246453F732B}" srcOrd="0" destOrd="0" presId="urn:microsoft.com/office/officeart/2005/8/layout/vList2"/>
    <dgm:cxn modelId="{86869DF5-4922-48FF-9D9F-1330D993A69D}" type="presParOf" srcId="{2E9BD066-5772-45B3-AF70-8A7A03272818}" destId="{59778523-FD02-412B-8EED-12620C0515E9}"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ACCB16-A97F-4AE7-BD91-9707F88F1702}" type="doc">
      <dgm:prSet loTypeId="urn:microsoft.com/office/officeart/2005/8/layout/pyramid4" loCatId="relationship" qsTypeId="urn:microsoft.com/office/officeart/2005/8/quickstyle/simple1" qsCatId="simple" csTypeId="urn:microsoft.com/office/officeart/2005/8/colors/accent1_2" csCatId="accent1" phldr="1"/>
      <dgm:spPr/>
      <dgm:t>
        <a:bodyPr/>
        <a:lstStyle/>
        <a:p>
          <a:endParaRPr lang="en-GB"/>
        </a:p>
      </dgm:t>
    </dgm:pt>
    <dgm:pt modelId="{894ED217-942A-4E2E-9CE7-D7FE3BFFED54}">
      <dgm:prSet custT="1"/>
      <dgm:spPr/>
      <dgm:t>
        <a:bodyPr anchor="t"/>
        <a:lstStyle/>
        <a:p>
          <a:r>
            <a:rPr lang="en-GB" sz="1600" b="1" dirty="0" smtClean="0">
              <a:latin typeface="Calibri" panose="020F0502020204030204" pitchFamily="34" charset="0"/>
            </a:rPr>
            <a:t>Das internationale System gerechter gestalten und besser zum Funktionieren bringen</a:t>
          </a:r>
          <a:endParaRPr lang="en-GB" sz="1600" b="1" dirty="0">
            <a:latin typeface="Calibri" panose="020F0502020204030204" pitchFamily="34" charset="0"/>
          </a:endParaRPr>
        </a:p>
      </dgm:t>
    </dgm:pt>
    <dgm:pt modelId="{0E31CBB5-35C9-4F7F-88A8-446173ADC26A}" type="parTrans" cxnId="{F0D27D8E-B81D-403E-8C56-1E6F8F2547EC}">
      <dgm:prSet/>
      <dgm:spPr/>
      <dgm:t>
        <a:bodyPr/>
        <a:lstStyle/>
        <a:p>
          <a:endParaRPr lang="en-GB" sz="1400" b="1">
            <a:latin typeface="Calibri" panose="020F0502020204030204" pitchFamily="34" charset="0"/>
          </a:endParaRPr>
        </a:p>
      </dgm:t>
    </dgm:pt>
    <dgm:pt modelId="{3FE477C9-D35F-4B5A-B4FA-1D112311BBDE}" type="sibTrans" cxnId="{F0D27D8E-B81D-403E-8C56-1E6F8F2547EC}">
      <dgm:prSet/>
      <dgm:spPr/>
      <dgm:t>
        <a:bodyPr/>
        <a:lstStyle/>
        <a:p>
          <a:endParaRPr lang="en-GB" sz="1400" b="1">
            <a:latin typeface="Calibri" panose="020F0502020204030204" pitchFamily="34" charset="0"/>
          </a:endParaRPr>
        </a:p>
      </dgm:t>
    </dgm:pt>
    <dgm:pt modelId="{CFDC4C17-B4A3-402B-8DD0-B7E7A1CE2665}">
      <dgm:prSet phldrT="[Text]" custT="1"/>
      <dgm:spPr/>
      <dgm:t>
        <a:bodyPr/>
        <a:lstStyle/>
        <a:p>
          <a:r>
            <a:rPr lang="en-GB" sz="1600" b="1" dirty="0" smtClean="0">
              <a:solidFill>
                <a:schemeClr val="bg1"/>
              </a:solidFill>
              <a:latin typeface="Calibri" panose="020F0502020204030204" pitchFamily="34" charset="0"/>
            </a:rPr>
            <a:t>Maßnahmen zur Förderung neuer Unternehmen, Innovation und Beschäftigung</a:t>
          </a:r>
          <a:endParaRPr lang="en-GB" sz="1600" b="1" dirty="0">
            <a:solidFill>
              <a:schemeClr val="bg1"/>
            </a:solidFill>
            <a:latin typeface="Calibri" panose="020F0502020204030204" pitchFamily="34" charset="0"/>
          </a:endParaRPr>
        </a:p>
      </dgm:t>
    </dgm:pt>
    <dgm:pt modelId="{5E3008B7-8F69-4F0C-AD1E-C70E0305C062}" type="parTrans" cxnId="{EDB180D3-2027-459B-AED8-79F8E30CD0EB}">
      <dgm:prSet/>
      <dgm:spPr/>
      <dgm:t>
        <a:bodyPr/>
        <a:lstStyle/>
        <a:p>
          <a:endParaRPr lang="en-GB" sz="1400" b="1">
            <a:latin typeface="Calibri" panose="020F0502020204030204" pitchFamily="34" charset="0"/>
          </a:endParaRPr>
        </a:p>
      </dgm:t>
    </dgm:pt>
    <dgm:pt modelId="{0DA15BDD-8C02-4177-B987-23C4D332A976}" type="sibTrans" cxnId="{EDB180D3-2027-459B-AED8-79F8E30CD0EB}">
      <dgm:prSet/>
      <dgm:spPr/>
      <dgm:t>
        <a:bodyPr/>
        <a:lstStyle/>
        <a:p>
          <a:endParaRPr lang="en-GB" sz="1400" b="1">
            <a:latin typeface="Calibri" panose="020F0502020204030204" pitchFamily="34" charset="0"/>
          </a:endParaRPr>
        </a:p>
      </dgm:t>
    </dgm:pt>
    <dgm:pt modelId="{938A20E0-2977-41EA-BD98-C22B2E5B2A5C}">
      <dgm:prSet phldrT="[Text]" custT="1"/>
      <dgm:spPr/>
      <dgm:t>
        <a:bodyPr/>
        <a:lstStyle/>
        <a:p>
          <a:r>
            <a:rPr lang="en-GB" sz="1600" b="1" dirty="0" smtClean="0">
              <a:latin typeface="Calibri" panose="020F0502020204030204" pitchFamily="34" charset="0"/>
            </a:rPr>
            <a:t>Gezielte Maßnahmen, um Menschen zu helfen, neue </a:t>
          </a:r>
          <a:r>
            <a:rPr lang="en-GB" sz="1550" b="1" dirty="0" smtClean="0">
              <a:latin typeface="Calibri" panose="020F0502020204030204" pitchFamily="34" charset="0"/>
            </a:rPr>
            <a:t>Chancen zu ergreifen</a:t>
          </a:r>
          <a:endParaRPr lang="en-GB" sz="1550" b="1" dirty="0">
            <a:latin typeface="Calibri" panose="020F0502020204030204" pitchFamily="34" charset="0"/>
          </a:endParaRPr>
        </a:p>
      </dgm:t>
    </dgm:pt>
    <dgm:pt modelId="{0724CEDD-2C28-4658-91FF-9AADEAC20DD3}" type="parTrans" cxnId="{D4BBC0C8-3B8A-4ABB-9224-8C6D2347C86B}">
      <dgm:prSet/>
      <dgm:spPr/>
      <dgm:t>
        <a:bodyPr/>
        <a:lstStyle/>
        <a:p>
          <a:endParaRPr lang="en-GB"/>
        </a:p>
      </dgm:t>
    </dgm:pt>
    <dgm:pt modelId="{F477D234-8611-43C6-8163-0E3AD3EA84A6}" type="sibTrans" cxnId="{D4BBC0C8-3B8A-4ABB-9224-8C6D2347C86B}">
      <dgm:prSet/>
      <dgm:spPr/>
      <dgm:t>
        <a:bodyPr/>
        <a:lstStyle/>
        <a:p>
          <a:endParaRPr lang="en-GB"/>
        </a:p>
      </dgm:t>
    </dgm:pt>
    <dgm:pt modelId="{08F48176-C6C2-4E03-A868-8265352F91FF}">
      <dgm:prSet phldrT="[Text]" custT="1"/>
      <dgm:spPr>
        <a:solidFill>
          <a:schemeClr val="accent1">
            <a:lumMod val="40000"/>
            <a:lumOff val="60000"/>
          </a:schemeClr>
        </a:solidFill>
      </dgm:spPr>
      <dgm:t>
        <a:bodyPr/>
        <a:lstStyle/>
        <a:p>
          <a:endParaRPr lang="en-GB" sz="1400" b="1" dirty="0">
            <a:latin typeface="Calibri" panose="020F0502020204030204" pitchFamily="34" charset="0"/>
          </a:endParaRPr>
        </a:p>
      </dgm:t>
    </dgm:pt>
    <dgm:pt modelId="{CFDC7288-346A-4AB1-B045-24CD3680CA50}" type="parTrans" cxnId="{7295D42E-8537-48D4-8280-2B827F8891B2}">
      <dgm:prSet/>
      <dgm:spPr/>
      <dgm:t>
        <a:bodyPr/>
        <a:lstStyle/>
        <a:p>
          <a:endParaRPr lang="en-GB"/>
        </a:p>
      </dgm:t>
    </dgm:pt>
    <dgm:pt modelId="{03A1E7B4-79BC-4E8F-83BA-259BF6086CCB}" type="sibTrans" cxnId="{7295D42E-8537-48D4-8280-2B827F8891B2}">
      <dgm:prSet/>
      <dgm:spPr/>
      <dgm:t>
        <a:bodyPr/>
        <a:lstStyle/>
        <a:p>
          <a:endParaRPr lang="en-GB"/>
        </a:p>
      </dgm:t>
    </dgm:pt>
    <dgm:pt modelId="{C7C00932-50D6-4289-BB7C-788D8094F781}" type="pres">
      <dgm:prSet presAssocID="{DDACCB16-A97F-4AE7-BD91-9707F88F1702}" presName="compositeShape" presStyleCnt="0">
        <dgm:presLayoutVars>
          <dgm:chMax val="9"/>
          <dgm:dir/>
          <dgm:resizeHandles val="exact"/>
        </dgm:presLayoutVars>
      </dgm:prSet>
      <dgm:spPr/>
      <dgm:t>
        <a:bodyPr/>
        <a:lstStyle/>
        <a:p>
          <a:endParaRPr lang="en-GB"/>
        </a:p>
      </dgm:t>
    </dgm:pt>
    <dgm:pt modelId="{6CE2A82E-78D8-4AA1-9997-FA861DC45FCE}" type="pres">
      <dgm:prSet presAssocID="{DDACCB16-A97F-4AE7-BD91-9707F88F1702}" presName="triangle1" presStyleLbl="node1" presStyleIdx="0" presStyleCnt="4">
        <dgm:presLayoutVars>
          <dgm:bulletEnabled val="1"/>
        </dgm:presLayoutVars>
      </dgm:prSet>
      <dgm:spPr/>
      <dgm:t>
        <a:bodyPr/>
        <a:lstStyle/>
        <a:p>
          <a:endParaRPr lang="en-GB"/>
        </a:p>
      </dgm:t>
    </dgm:pt>
    <dgm:pt modelId="{402A8876-6D7F-4D19-8F3D-9BE49D0BE090}" type="pres">
      <dgm:prSet presAssocID="{DDACCB16-A97F-4AE7-BD91-9707F88F1702}" presName="triangle2" presStyleLbl="node1" presStyleIdx="1" presStyleCnt="4">
        <dgm:presLayoutVars>
          <dgm:bulletEnabled val="1"/>
        </dgm:presLayoutVars>
      </dgm:prSet>
      <dgm:spPr/>
      <dgm:t>
        <a:bodyPr/>
        <a:lstStyle/>
        <a:p>
          <a:endParaRPr lang="en-GB"/>
        </a:p>
      </dgm:t>
    </dgm:pt>
    <dgm:pt modelId="{345CFC21-535E-4D1D-A1B2-2506225BE7BD}" type="pres">
      <dgm:prSet presAssocID="{DDACCB16-A97F-4AE7-BD91-9707F88F1702}" presName="triangle3" presStyleLbl="node1" presStyleIdx="2" presStyleCnt="4">
        <dgm:presLayoutVars>
          <dgm:bulletEnabled val="1"/>
        </dgm:presLayoutVars>
      </dgm:prSet>
      <dgm:spPr/>
      <dgm:t>
        <a:bodyPr/>
        <a:lstStyle/>
        <a:p>
          <a:endParaRPr lang="en-GB"/>
        </a:p>
      </dgm:t>
    </dgm:pt>
    <dgm:pt modelId="{9C8B428A-02B9-4336-8CE1-BA240C7BD6D4}" type="pres">
      <dgm:prSet presAssocID="{DDACCB16-A97F-4AE7-BD91-9707F88F1702}" presName="triangle4" presStyleLbl="node1" presStyleIdx="3" presStyleCnt="4">
        <dgm:presLayoutVars>
          <dgm:bulletEnabled val="1"/>
        </dgm:presLayoutVars>
      </dgm:prSet>
      <dgm:spPr/>
      <dgm:t>
        <a:bodyPr/>
        <a:lstStyle/>
        <a:p>
          <a:endParaRPr lang="en-GB"/>
        </a:p>
      </dgm:t>
    </dgm:pt>
  </dgm:ptLst>
  <dgm:cxnLst>
    <dgm:cxn modelId="{C4E21589-0A0C-48C9-B778-CA55B1A17848}" type="presOf" srcId="{938A20E0-2977-41EA-BD98-C22B2E5B2A5C}" destId="{9C8B428A-02B9-4336-8CE1-BA240C7BD6D4}" srcOrd="0" destOrd="0" presId="urn:microsoft.com/office/officeart/2005/8/layout/pyramid4"/>
    <dgm:cxn modelId="{7295D42E-8537-48D4-8280-2B827F8891B2}" srcId="{DDACCB16-A97F-4AE7-BD91-9707F88F1702}" destId="{08F48176-C6C2-4E03-A868-8265352F91FF}" srcOrd="2" destOrd="0" parTransId="{CFDC7288-346A-4AB1-B045-24CD3680CA50}" sibTransId="{03A1E7B4-79BC-4E8F-83BA-259BF6086CCB}"/>
    <dgm:cxn modelId="{D4BBC0C8-3B8A-4ABB-9224-8C6D2347C86B}" srcId="{DDACCB16-A97F-4AE7-BD91-9707F88F1702}" destId="{938A20E0-2977-41EA-BD98-C22B2E5B2A5C}" srcOrd="3" destOrd="0" parTransId="{0724CEDD-2C28-4658-91FF-9AADEAC20DD3}" sibTransId="{F477D234-8611-43C6-8163-0E3AD3EA84A6}"/>
    <dgm:cxn modelId="{EDB180D3-2027-459B-AED8-79F8E30CD0EB}" srcId="{DDACCB16-A97F-4AE7-BD91-9707F88F1702}" destId="{CFDC4C17-B4A3-402B-8DD0-B7E7A1CE2665}" srcOrd="1" destOrd="0" parTransId="{5E3008B7-8F69-4F0C-AD1E-C70E0305C062}" sibTransId="{0DA15BDD-8C02-4177-B987-23C4D332A976}"/>
    <dgm:cxn modelId="{8AEA0CC2-1A97-4516-B0FE-0A92F82ECF2F}" type="presOf" srcId="{894ED217-942A-4E2E-9CE7-D7FE3BFFED54}" destId="{6CE2A82E-78D8-4AA1-9997-FA861DC45FCE}" srcOrd="0" destOrd="0" presId="urn:microsoft.com/office/officeart/2005/8/layout/pyramid4"/>
    <dgm:cxn modelId="{193CDDFD-E7C3-47D4-8B82-48CB95C956BE}" type="presOf" srcId="{CFDC4C17-B4A3-402B-8DD0-B7E7A1CE2665}" destId="{402A8876-6D7F-4D19-8F3D-9BE49D0BE090}" srcOrd="0" destOrd="0" presId="urn:microsoft.com/office/officeart/2005/8/layout/pyramid4"/>
    <dgm:cxn modelId="{6F9879C7-9ED7-45E2-93CC-873BFAB3AF38}" type="presOf" srcId="{08F48176-C6C2-4E03-A868-8265352F91FF}" destId="{345CFC21-535E-4D1D-A1B2-2506225BE7BD}" srcOrd="0" destOrd="0" presId="urn:microsoft.com/office/officeart/2005/8/layout/pyramid4"/>
    <dgm:cxn modelId="{CB3666E2-A1F7-4796-82DA-D105236E0E37}" type="presOf" srcId="{DDACCB16-A97F-4AE7-BD91-9707F88F1702}" destId="{C7C00932-50D6-4289-BB7C-788D8094F781}" srcOrd="0" destOrd="0" presId="urn:microsoft.com/office/officeart/2005/8/layout/pyramid4"/>
    <dgm:cxn modelId="{F0D27D8E-B81D-403E-8C56-1E6F8F2547EC}" srcId="{DDACCB16-A97F-4AE7-BD91-9707F88F1702}" destId="{894ED217-942A-4E2E-9CE7-D7FE3BFFED54}" srcOrd="0" destOrd="0" parTransId="{0E31CBB5-35C9-4F7F-88A8-446173ADC26A}" sibTransId="{3FE477C9-D35F-4B5A-B4FA-1D112311BBDE}"/>
    <dgm:cxn modelId="{F7F37DB8-C702-4688-9BAE-D5B022B7DC6B}" type="presParOf" srcId="{C7C00932-50D6-4289-BB7C-788D8094F781}" destId="{6CE2A82E-78D8-4AA1-9997-FA861DC45FCE}" srcOrd="0" destOrd="0" presId="urn:microsoft.com/office/officeart/2005/8/layout/pyramid4"/>
    <dgm:cxn modelId="{C2F11204-8B2C-42B1-9FE6-D174D0E4BB47}" type="presParOf" srcId="{C7C00932-50D6-4289-BB7C-788D8094F781}" destId="{402A8876-6D7F-4D19-8F3D-9BE49D0BE090}" srcOrd="1" destOrd="0" presId="urn:microsoft.com/office/officeart/2005/8/layout/pyramid4"/>
    <dgm:cxn modelId="{2E40B099-69DF-4C47-8846-8D236B48D11B}" type="presParOf" srcId="{C7C00932-50D6-4289-BB7C-788D8094F781}" destId="{345CFC21-535E-4D1D-A1B2-2506225BE7BD}" srcOrd="2" destOrd="0" presId="urn:microsoft.com/office/officeart/2005/8/layout/pyramid4"/>
    <dgm:cxn modelId="{C1777866-08B9-4250-8F6E-7BFA19C541A0}" type="presParOf" srcId="{C7C00932-50D6-4289-BB7C-788D8094F781}" destId="{9C8B428A-02B9-4336-8CE1-BA240C7BD6D4}" srcOrd="3" destOrd="0" presId="urn:microsoft.com/office/officeart/2005/8/layout/pyramid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1E4610-9C7F-4FC1-B45C-3246453F732B}">
      <dsp:nvSpPr>
        <dsp:cNvPr id="0" name=""/>
        <dsp:cNvSpPr/>
      </dsp:nvSpPr>
      <dsp:spPr>
        <a:xfrm>
          <a:off x="0" y="220817"/>
          <a:ext cx="8280920" cy="57528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Globales Wachstum dürfte moderat anziehen </a:t>
          </a:r>
          <a:r>
            <a:rPr lang="en-GB" sz="2000" kern="1200" smtClean="0">
              <a:latin typeface="Calibri" panose="020F0502020204030204" pitchFamily="34" charset="0"/>
            </a:rPr>
            <a:t>mit Aufwärts</a:t>
          </a:r>
          <a:r>
            <a:rPr lang="en-GB" sz="2000" kern="1200" dirty="0" smtClean="0">
              <a:latin typeface="Calibri" panose="020F0502020204030204" pitchFamily="34" charset="0"/>
            </a:rPr>
            <a:t>risiken</a:t>
          </a:r>
        </a:p>
      </dsp:txBody>
      <dsp:txXfrm>
        <a:off x="28083" y="248900"/>
        <a:ext cx="8224754" cy="519119"/>
      </dsp:txXfrm>
    </dsp:sp>
    <dsp:sp modelId="{59778523-FD02-412B-8EED-12620C0515E9}">
      <dsp:nvSpPr>
        <dsp:cNvPr id="0" name=""/>
        <dsp:cNvSpPr/>
      </dsp:nvSpPr>
      <dsp:spPr>
        <a:xfrm>
          <a:off x="0" y="796102"/>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Es bleibt mehr zu tun, um die Gewinne aus Strukturtrends und Handel breiter zu teilen</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Ein integrierter Politikansatz ist nötig, damit die Globalisierung allen zugutekommt</a:t>
          </a:r>
          <a:endParaRPr lang="en-GB" sz="1600" kern="1200" dirty="0" smtClean="0">
            <a:solidFill>
              <a:schemeClr val="bg2">
                <a:lumMod val="10000"/>
              </a:schemeClr>
            </a:solidFill>
            <a:latin typeface="Calibri" panose="020F0502020204030204" pitchFamily="34" charset="0"/>
          </a:endParaRP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Veränderungen bei Technologie, Verbraucherpräferenzen und Handel vollziehen sich gleichzeitig</a:t>
          </a:r>
        </a:p>
      </dsp:txBody>
      <dsp:txXfrm>
        <a:off x="0" y="796102"/>
        <a:ext cx="8280920" cy="828000"/>
      </dsp:txXfrm>
    </dsp:sp>
    <dsp:sp modelId="{86CD86FE-BCDD-4F86-8258-550D41ABF992}">
      <dsp:nvSpPr>
        <dsp:cNvPr id="0" name=""/>
        <dsp:cNvSpPr/>
      </dsp:nvSpPr>
      <dsp:spPr>
        <a:xfrm>
          <a:off x="0" y="1624102"/>
          <a:ext cx="8280920" cy="540238"/>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Gleichere Wettbewerbsbedingungen für das internationale System</a:t>
          </a:r>
        </a:p>
      </dsp:txBody>
      <dsp:txXfrm>
        <a:off x="26372" y="1650474"/>
        <a:ext cx="8228176" cy="487494"/>
      </dsp:txXfrm>
    </dsp:sp>
    <dsp:sp modelId="{4D106606-0D66-4779-A085-E8266C34AB2A}">
      <dsp:nvSpPr>
        <dsp:cNvPr id="0" name=""/>
        <dsp:cNvSpPr/>
      </dsp:nvSpPr>
      <dsp:spPr>
        <a:xfrm>
          <a:off x="0" y="2164340"/>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Das Vertrauen steigt, und Investitionen und Handel ziehen von niedrigem Niveau aus an</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Anzeichen für steigende Nachfrage nach Hightech-Gütern und Investitionen zur Modernisierung des Kapitals</a:t>
          </a:r>
          <a:endParaRPr lang="en-GB" sz="1600" kern="1200" dirty="0" smtClean="0">
            <a:solidFill>
              <a:schemeClr val="bg2">
                <a:lumMod val="10000"/>
              </a:schemeClr>
            </a:solidFill>
            <a:latin typeface="Calibri" panose="020F0502020204030204" pitchFamily="34" charset="0"/>
          </a:endParaRPr>
        </a:p>
      </dsp:txBody>
      <dsp:txXfrm>
        <a:off x="0" y="2164340"/>
        <a:ext cx="8280920" cy="548550"/>
      </dsp:txXfrm>
    </dsp:sp>
    <dsp:sp modelId="{9CFD6359-D6AA-429D-ADFE-D05F20309091}">
      <dsp:nvSpPr>
        <dsp:cNvPr id="0" name=""/>
        <dsp:cNvSpPr/>
      </dsp:nvSpPr>
      <dsp:spPr>
        <a:xfrm>
          <a:off x="0" y="2729830"/>
          <a:ext cx="8280920" cy="58343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Inländische Reformen zur Stärkung von Wettbewerb, Beschäftigung, Qualifikationen und Innovation</a:t>
          </a:r>
        </a:p>
      </dsp:txBody>
      <dsp:txXfrm>
        <a:off x="28481" y="2758311"/>
        <a:ext cx="8223958" cy="526477"/>
      </dsp:txXfrm>
    </dsp:sp>
    <dsp:sp modelId="{E865CCEF-EA47-42BC-ABAD-CF3E5C00DE2D}">
      <dsp:nvSpPr>
        <dsp:cNvPr id="0" name=""/>
        <dsp:cNvSpPr/>
      </dsp:nvSpPr>
      <dsp:spPr>
        <a:xfrm>
          <a:off x="0" y="3313264"/>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Produktivitäts- und Lohnwachstum bleiben gedämpft; Risiken für die Finanzstabilität bestehen fort</a:t>
          </a: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Arbeitsplatzverluste durch Aktivitätsverlagerungen konzentrieren sich auf das verarbeitende Gewerbe und bestimmte Regionen</a:t>
          </a:r>
        </a:p>
      </dsp:txBody>
      <dsp:txXfrm>
        <a:off x="0" y="3313264"/>
        <a:ext cx="8280920" cy="548550"/>
      </dsp:txXfrm>
    </dsp:sp>
    <dsp:sp modelId="{2B45D7B7-0834-4D13-8778-0BFAB98C78C2}">
      <dsp:nvSpPr>
        <dsp:cNvPr id="0" name=""/>
        <dsp:cNvSpPr/>
      </dsp:nvSpPr>
      <dsp:spPr>
        <a:xfrm>
          <a:off x="0" y="3861821"/>
          <a:ext cx="8280920" cy="55152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Das Wachstum ist breit angelegt; die Erholung bei Rohstoffproduzenten stützt den moderaten globalen Aufschwung</a:t>
          </a:r>
        </a:p>
      </dsp:txBody>
      <dsp:txXfrm>
        <a:off x="26923" y="3888744"/>
        <a:ext cx="8227074" cy="497679"/>
      </dsp:txXfrm>
    </dsp:sp>
    <dsp:sp modelId="{466AD614-18F8-4250-8704-A12C186A2560}">
      <dsp:nvSpPr>
        <dsp:cNvPr id="0" name=""/>
        <dsp:cNvSpPr/>
      </dsp:nvSpPr>
      <dsp:spPr>
        <a:xfrm>
          <a:off x="0" y="4413339"/>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Die wichtigsten Beschäftigungsindikatoren verbessern sich, doch die Arbeitsmärkte haben sich noch nicht erholt</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Finanzielle Risiken durch hohes und steigendes Kreditwachstum, steigende Immobilienpreise und Zinsdivergenzen</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Gezielte Maßnahmen, um Menschen, die zurückbleiben, neue Chancen zu eröffnen</a:t>
          </a:r>
        </a:p>
      </dsp:txBody>
      <dsp:txXfrm>
        <a:off x="0" y="4413339"/>
        <a:ext cx="8280920" cy="828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pyramid4">
  <dgm:title val=""/>
  <dgm:desc val=""/>
  <dgm:catLst>
    <dgm:cat type="pyramid" pri="4000"/>
    <dgm:cat type="relationship" pri="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useDef="1">
    <dgm:dataModel>
      <dgm:ptLst/>
      <dgm:bg/>
      <dgm:whole/>
    </dgm:dataModel>
  </dgm:styleData>
  <dgm:clrData useDef="1">
    <dgm:dataModel>
      <dgm:ptLst/>
      <dgm:bg/>
      <dgm:whole/>
    </dgm:dataModel>
  </dgm:clrData>
  <dgm:layoutNode name="compositeShape">
    <dgm:varLst>
      <dgm:chMax val="9"/>
      <dgm:dir/>
      <dgm:resizeHandles val="exact"/>
    </dgm:varLst>
    <dgm:alg type="composite">
      <dgm:param type="ar" val="1"/>
    </dgm:alg>
    <dgm:shape xmlns:r="http://schemas.openxmlformats.org/officeDocument/2006/relationships" r:blip="">
      <dgm:adjLst/>
    </dgm:shape>
    <dgm:presOf/>
    <dgm:choose name="Name0">
      <dgm:if name="Name1" axis="ch" ptType="node" func="cnt" op="lte" val="4">
        <dgm:choose name="Name2">
          <dgm:if name="Name3" axis="ch" ptType="node" func="cnt" op="equ" val="1">
            <dgm:constrLst>
              <dgm:constr type="primFontSz" for="ch" ptType="node" op="equ" val="65"/>
              <dgm:constr type="t" for="ch" forName="triangle1"/>
              <dgm:constr type="l" for="ch" forName="triangle1"/>
              <dgm:constr type="h" for="ch" forName="triangle1" refType="h"/>
              <dgm:constr type="w" for="ch" forName="triangle1" refType="h"/>
            </dgm:constrLst>
          </dgm:if>
          <dgm:else name="Name4">
            <dgm:constrLst>
              <dgm:constr type="primFontSz" for="ch" ptType="node" op="equ" val="65"/>
              <dgm:constr type="t" for="ch" forName="triangle1"/>
              <dgm:constr type="l" for="ch" forName="triangle1" refType="h" fact="0.25"/>
              <dgm:constr type="h" for="ch" forName="triangle1" refType="h" fact="0.5"/>
              <dgm:constr type="w" for="ch" forName="triangle1" refType="h" fact="0.5"/>
              <dgm:constr type="t" for="ch" forName="triangle2" refType="h" fact="0.5"/>
              <dgm:constr type="l" for="ch" forName="triangle2"/>
              <dgm:constr type="h" for="ch" forName="triangle2" refType="h" fact="0.5"/>
              <dgm:constr type="w" for="ch" forName="triangle2" refType="h" fact="0.5"/>
              <dgm:constr type="t" for="ch" forName="triangle3" refType="h" fact="0.5"/>
              <dgm:constr type="l" for="ch" forName="triangle3" refType="h" fact="0.25"/>
              <dgm:constr type="h" for="ch" forName="triangle3" refType="h" fact="0.5"/>
              <dgm:constr type="w" for="ch" forName="triangle3" refType="h" fact="0.5"/>
              <dgm:constr type="t" for="ch" forName="triangle4" refType="h" fact="0.5"/>
              <dgm:constr type="l" for="ch" forName="triangle4" refType="h" fact="0.5"/>
              <dgm:constr type="h" for="ch" forName="triangle4" refType="h" fact="0.5"/>
              <dgm:constr type="w" for="ch" forName="triangle4" refType="h" fact="0.5"/>
            </dgm:constrLst>
          </dgm:else>
        </dgm:choose>
      </dgm:if>
      <dgm:else name="Name5">
        <dgm:constrLst>
          <dgm:constr type="primFontSz" for="ch" ptType="node" op="equ" val="65"/>
          <dgm:constr type="t" for="ch" forName="triangle1"/>
          <dgm:constr type="l" for="ch" forName="triangle1" refType="h" fact="0.33"/>
          <dgm:constr type="h" for="ch" forName="triangle1" refType="h" fact="0.33"/>
          <dgm:constr type="w" for="ch" forName="triangle1" refType="h" fact="0.33"/>
          <dgm:constr type="t" for="ch" forName="triangle2" refType="h" fact="0.33"/>
          <dgm:constr type="l" for="ch" forName="triangle2" refType="h" fact="0.165"/>
          <dgm:constr type="h" for="ch" forName="triangle2" refType="h" fact="0.33"/>
          <dgm:constr type="w" for="ch" forName="triangle2" refType="h" fact="0.33"/>
          <dgm:constr type="t" for="ch" forName="triangle3" refType="h" fact="0.33"/>
          <dgm:constr type="l" for="ch" forName="triangle3" refType="h" fact="0.33"/>
          <dgm:constr type="h" for="ch" forName="triangle3" refType="h" fact="0.33"/>
          <dgm:constr type="w" for="ch" forName="triangle3" refType="h" fact="0.33"/>
          <dgm:constr type="t" for="ch" forName="triangle4" refType="h" fact="0.33"/>
          <dgm:constr type="l" for="ch" forName="triangle4" refType="h" fact="0.495"/>
          <dgm:constr type="h" for="ch" forName="triangle4" refType="h" fact="0.33"/>
          <dgm:constr type="w" for="ch" forName="triangle4" refType="h" fact="0.33"/>
          <dgm:constr type="t" for="ch" forName="triangle5" refType="h" fact="0.66"/>
          <dgm:constr type="l" for="ch" forName="triangle5"/>
          <dgm:constr type="h" for="ch" forName="triangle5" refType="h" fact="0.33"/>
          <dgm:constr type="w" for="ch" forName="triangle5" refType="h" fact="0.33"/>
          <dgm:constr type="t" for="ch" forName="triangle6" refType="h" fact="0.66"/>
          <dgm:constr type="l" for="ch" forName="triangle6" refType="h" fact="0.165"/>
          <dgm:constr type="h" for="ch" forName="triangle6" refType="h" fact="0.33"/>
          <dgm:constr type="w" for="ch" forName="triangle6" refType="h" fact="0.33"/>
          <dgm:constr type="t" for="ch" forName="triangle7" refType="h" fact="0.66"/>
          <dgm:constr type="l" for="ch" forName="triangle7" refType="h" fact="0.33"/>
          <dgm:constr type="h" for="ch" forName="triangle7" refType="h" fact="0.33"/>
          <dgm:constr type="w" for="ch" forName="triangle7" refType="h" fact="0.33"/>
          <dgm:constr type="t" for="ch" forName="triangle8" refType="h" fact="0.66"/>
          <dgm:constr type="l" for="ch" forName="triangle8" refType="h" fact="0.495"/>
          <dgm:constr type="h" for="ch" forName="triangle8" refType="h" fact="0.33"/>
          <dgm:constr type="w" for="ch" forName="triangle8" refType="h" fact="0.33"/>
          <dgm:constr type="t" for="ch" forName="triangle9" refType="h" fact="0.66"/>
          <dgm:constr type="l" for="ch" forName="triangle9" refType="h" fact="0.66"/>
          <dgm:constr type="h" for="ch" forName="triangle9" refType="h" fact="0.33"/>
          <dgm:constr type="w" for="ch" forName="triangle9" refType="h" fact="0.33"/>
        </dgm:constrLst>
      </dgm:else>
    </dgm:choose>
    <dgm:ruleLst/>
    <dgm:choose name="Name6">
      <dgm:if name="Name7" axis="ch" ptType="node" func="cnt" op="gte" val="1">
        <dgm:layoutNode name="triangle1" styleLbl="node1">
          <dgm:varLst>
            <dgm:bulletEnabled val="1"/>
          </dgm:varLst>
          <dgm:alg type="tx">
            <dgm:param type="txAnchorVertCh" val="mid"/>
          </dgm:alg>
          <dgm:shape xmlns:r="http://schemas.openxmlformats.org/officeDocument/2006/relationships" type="triangle"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8"/>
    </dgm:choose>
    <dgm:choose name="Name9">
      <dgm:if name="Name10" axis="ch" ptType="node" func="cnt" op="gte" val="2">
        <dgm:layoutNode name="triangle2" styleLbl="node1">
          <dgm:varLst>
            <dgm:bulletEnabled val="1"/>
          </dgm:varLst>
          <dgm:alg type="tx">
            <dgm:param type="txAnchorVertCh" val="mid"/>
          </dgm:alg>
          <dgm:shape xmlns:r="http://schemas.openxmlformats.org/officeDocument/2006/relationships" type="triangle" r:blip="">
            <dgm:adjLst/>
          </dgm:shape>
          <dgm:choose name="Name11">
            <dgm:if name="Name12" func="var" arg="dir" op="equ" val="norm">
              <dgm:presOf axis="ch desOrSelf" ptType="node node" st="2 1" cnt="1 0"/>
            </dgm:if>
            <dgm:else name="Name13">
              <dgm:presOf axis="ch desOrSelf" ptType="node node" st="4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3" styleLbl="node1">
          <dgm:varLst>
            <dgm:bulletEnabled val="1"/>
          </dgm:varLst>
          <dgm:alg type="tx">
            <dgm:param type="txAnchorVertCh" val="mid"/>
          </dgm:alg>
          <dgm:shape xmlns:r="http://schemas.openxmlformats.org/officeDocument/2006/relationships" rot="180" type="triangle" r:blip="">
            <dgm:adjLst/>
          </dgm:shape>
          <dgm:presOf axis="ch desOrSelf"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4" styleLbl="node1">
          <dgm:varLst>
            <dgm:bulletEnabled val="1"/>
          </dgm:varLst>
          <dgm:alg type="tx">
            <dgm:param type="txAnchorVertCh" val="mid"/>
          </dgm:alg>
          <dgm:shape xmlns:r="http://schemas.openxmlformats.org/officeDocument/2006/relationships" type="triangle" r:blip="">
            <dgm:adjLst/>
          </dgm:shape>
          <dgm:choose name="Name14">
            <dgm:if name="Name15" func="var" arg="dir" op="equ" val="norm">
              <dgm:presOf axis="ch desOrSelf" ptType="node node" st="4 1" cnt="1 0"/>
            </dgm:if>
            <dgm:else name="Name16">
              <dgm:presOf axis="ch desOrSelf" ptType="node node" st="2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7"/>
    </dgm:choose>
    <dgm:choose name="Name18">
      <dgm:if name="Name19" axis="ch" ptType="node" func="cnt" op="gte" val="5">
        <dgm:layoutNode name="triangle5" styleLbl="node1">
          <dgm:varLst>
            <dgm:bulletEnabled val="1"/>
          </dgm:varLst>
          <dgm:alg type="tx">
            <dgm:param type="txAnchorVertCh" val="mid"/>
          </dgm:alg>
          <dgm:shape xmlns:r="http://schemas.openxmlformats.org/officeDocument/2006/relationships" type="triangle" r:blip="">
            <dgm:adjLst/>
          </dgm:shape>
          <dgm:choose name="Name20">
            <dgm:if name="Name21" func="var" arg="dir" op="equ" val="norm">
              <dgm:presOf axis="ch desOrSelf" ptType="node node" st="5 1" cnt="1 0"/>
            </dgm:if>
            <dgm:else name="Name22">
              <dgm:presOf axis="ch desOrSelf" ptType="node node" st="9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6" styleLbl="node1">
          <dgm:varLst>
            <dgm:bulletEnabled val="1"/>
          </dgm:varLst>
          <dgm:alg type="tx">
            <dgm:param type="txAnchorVertCh" val="mid"/>
          </dgm:alg>
          <dgm:shape xmlns:r="http://schemas.openxmlformats.org/officeDocument/2006/relationships" rot="180" type="triangle" r:blip="">
            <dgm:adjLst/>
          </dgm:shape>
          <dgm:choose name="Name23">
            <dgm:if name="Name24" func="var" arg="dir" op="equ" val="norm">
              <dgm:presOf axis="ch desOrSelf" ptType="node node" st="6 1" cnt="1 0"/>
            </dgm:if>
            <dgm:else name="Name25">
              <dgm:presOf axis="ch desOrSelf" ptType="node node" st="8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7" styleLbl="node1">
          <dgm:varLst>
            <dgm:bulletEnabled val="1"/>
          </dgm:varLst>
          <dgm:alg type="tx">
            <dgm:param type="txAnchorVertCh" val="mid"/>
          </dgm:alg>
          <dgm:shape xmlns:r="http://schemas.openxmlformats.org/officeDocument/2006/relationships" type="triangle" r:blip="">
            <dgm:adjLst/>
          </dgm:shape>
          <dgm:presOf axis="ch desOrSelf" ptType="node node" st="7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8" styleLbl="node1">
          <dgm:varLst>
            <dgm:bulletEnabled val="1"/>
          </dgm:varLst>
          <dgm:alg type="tx">
            <dgm:param type="txAnchorVertCh" val="mid"/>
          </dgm:alg>
          <dgm:shape xmlns:r="http://schemas.openxmlformats.org/officeDocument/2006/relationships" rot="180" type="triangle" r:blip="">
            <dgm:adjLst/>
          </dgm:shape>
          <dgm:choose name="Name26">
            <dgm:if name="Name27" func="var" arg="dir" op="equ" val="norm">
              <dgm:presOf axis="ch desOrSelf" ptType="node node" st="8 1" cnt="1 0"/>
            </dgm:if>
            <dgm:else name="Name28">
              <dgm:presOf axis="ch desOrSelf" ptType="node node" st="6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9" styleLbl="node1">
          <dgm:varLst>
            <dgm:bulletEnabled val="1"/>
          </dgm:varLst>
          <dgm:alg type="tx">
            <dgm:param type="txAnchorVertCh" val="mid"/>
          </dgm:alg>
          <dgm:shape xmlns:r="http://schemas.openxmlformats.org/officeDocument/2006/relationships" type="triangle" r:blip="">
            <dgm:adjLst/>
          </dgm:shape>
          <dgm:choose name="Name29">
            <dgm:if name="Name30" func="var" arg="dir" op="equ" val="norm">
              <dgm:presOf axis="ch desOrSelf" ptType="node node" st="9 1" cnt="1 0"/>
            </dgm:if>
            <dgm:else name="Name31">
              <dgm:presOf axis="ch desOrSelf" ptType="node node" st="5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2"/>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0.31343</cdr:x>
      <cdr:y>0.51006</cdr:y>
    </cdr:from>
    <cdr:to>
      <cdr:x>0.46102</cdr:x>
      <cdr:y>0.59425</cdr:y>
    </cdr:to>
    <cdr:sp macro="" textlink="">
      <cdr:nvSpPr>
        <cdr:cNvPr id="2" name="TextBox 1"/>
        <cdr:cNvSpPr txBox="1"/>
      </cdr:nvSpPr>
      <cdr:spPr>
        <a:xfrm xmlns:a="http://schemas.openxmlformats.org/drawingml/2006/main">
          <a:off x="1800200" y="2366005"/>
          <a:ext cx="847695" cy="39053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GB" sz="1400" b="1" dirty="0">
              <a:latin typeface="Arial Narrow" panose="020B0606020202030204" pitchFamily="34" charset="0"/>
            </a:rPr>
            <a:t>1995</a:t>
          </a:r>
        </a:p>
      </cdr:txBody>
    </cdr:sp>
  </cdr:relSizeAnchor>
  <cdr:relSizeAnchor xmlns:cdr="http://schemas.openxmlformats.org/drawingml/2006/chartDrawing">
    <cdr:from>
      <cdr:x>0.08138</cdr:x>
      <cdr:y>0.44963</cdr:y>
    </cdr:from>
    <cdr:to>
      <cdr:x>0.22897</cdr:x>
      <cdr:y>0.53382</cdr:y>
    </cdr:to>
    <cdr:sp macro="" textlink="">
      <cdr:nvSpPr>
        <cdr:cNvPr id="3" name="TextBox 1"/>
        <cdr:cNvSpPr txBox="1"/>
      </cdr:nvSpPr>
      <cdr:spPr>
        <a:xfrm xmlns:a="http://schemas.openxmlformats.org/drawingml/2006/main">
          <a:off x="467440" y="2085676"/>
          <a:ext cx="847694" cy="39053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latin typeface="Arial Narrow" panose="020B0606020202030204" pitchFamily="34" charset="0"/>
            </a:rPr>
            <a:t>2015</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sz="quarter" idx="1"/>
          </p:nvPr>
        </p:nvSpPr>
        <p:spPr>
          <a:xfrm>
            <a:off x="3848646" y="0"/>
            <a:ext cx="2944283" cy="495300"/>
          </a:xfrm>
          <a:prstGeom prst="rect">
            <a:avLst/>
          </a:prstGeom>
        </p:spPr>
        <p:txBody>
          <a:bodyPr vert="horz" lIns="91430" tIns="45715" rIns="91430" bIns="45715" rtlCol="0"/>
          <a:lstStyle>
            <a:lvl1pPr algn="r">
              <a:defRPr sz="1200"/>
            </a:lvl1pPr>
          </a:lstStyle>
          <a:p>
            <a:fld id="{D9BDB2A1-31CB-4309-9FC4-15F940A51174}" type="datetimeFigureOut">
              <a:rPr lang="en-GB" smtClean="0"/>
              <a:t>07/06/2017</a:t>
            </a:fld>
            <a:endParaRPr lang="en-GB" dirty="0"/>
          </a:p>
        </p:txBody>
      </p:sp>
      <p:sp>
        <p:nvSpPr>
          <p:cNvPr id="4" name="Footer Placeholder 3"/>
          <p:cNvSpPr>
            <a:spLocks noGrp="1"/>
          </p:cNvSpPr>
          <p:nvPr>
            <p:ph type="ftr" sz="quarter" idx="2"/>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48646" y="9408981"/>
            <a:ext cx="2944283" cy="495300"/>
          </a:xfrm>
          <a:prstGeom prst="rect">
            <a:avLst/>
          </a:prstGeom>
        </p:spPr>
        <p:txBody>
          <a:bodyPr vert="horz" lIns="91430" tIns="45715" rIns="91430" bIns="45715" rtlCol="0" anchor="b"/>
          <a:lstStyle>
            <a:lvl1pPr algn="r">
              <a:defRPr sz="1200"/>
            </a:lvl1pPr>
          </a:lstStyle>
          <a:p>
            <a:fld id="{86D14058-FEED-42C8-A090-E45E1EA0FF49}" type="slidenum">
              <a:rPr lang="en-GB" smtClean="0"/>
              <a:t>‹#›</a:t>
            </a:fld>
            <a:endParaRPr lang="en-GB" dirty="0"/>
          </a:p>
        </p:txBody>
      </p:sp>
    </p:spTree>
    <p:extLst>
      <p:ext uri="{BB962C8B-B14F-4D97-AF65-F5344CB8AC3E}">
        <p14:creationId xmlns:p14="http://schemas.microsoft.com/office/powerpoint/2010/main" val="235789286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idx="1"/>
          </p:nvPr>
        </p:nvSpPr>
        <p:spPr>
          <a:xfrm>
            <a:off x="3848646" y="0"/>
            <a:ext cx="2944283" cy="495300"/>
          </a:xfrm>
          <a:prstGeom prst="rect">
            <a:avLst/>
          </a:prstGeom>
        </p:spPr>
        <p:txBody>
          <a:bodyPr vert="horz" lIns="91430" tIns="45715" rIns="91430" bIns="45715" rtlCol="0"/>
          <a:lstStyle>
            <a:lvl1pPr algn="r">
              <a:defRPr sz="1200"/>
            </a:lvl1pPr>
          </a:lstStyle>
          <a:p>
            <a:fld id="{389BBE68-B43C-4550-BAC8-3342CCEE016F}" type="datetimeFigureOut">
              <a:rPr lang="en-GB" smtClean="0"/>
              <a:t>07/06/2017</a:t>
            </a:fld>
            <a:endParaRPr lang="en-GB" dirty="0"/>
          </a:p>
        </p:txBody>
      </p:sp>
      <p:sp>
        <p:nvSpPr>
          <p:cNvPr id="4" name="Slide Image Placeholder 3"/>
          <p:cNvSpPr>
            <a:spLocks noGrp="1" noRot="1" noChangeAspect="1"/>
          </p:cNvSpPr>
          <p:nvPr>
            <p:ph type="sldImg" idx="2"/>
          </p:nvPr>
        </p:nvSpPr>
        <p:spPr>
          <a:xfrm>
            <a:off x="920750" y="742950"/>
            <a:ext cx="4953000" cy="3714750"/>
          </a:xfrm>
          <a:prstGeom prst="rect">
            <a:avLst/>
          </a:prstGeom>
          <a:noFill/>
          <a:ln w="12700">
            <a:solidFill>
              <a:prstClr val="black"/>
            </a:solidFill>
          </a:ln>
        </p:spPr>
        <p:txBody>
          <a:bodyPr vert="horz" lIns="91430" tIns="45715" rIns="91430" bIns="45715" rtlCol="0" anchor="ctr"/>
          <a:lstStyle/>
          <a:p>
            <a:endParaRPr lang="en-GB" dirty="0"/>
          </a:p>
        </p:txBody>
      </p:sp>
      <p:sp>
        <p:nvSpPr>
          <p:cNvPr id="5" name="Notes Placeholder 4"/>
          <p:cNvSpPr>
            <a:spLocks noGrp="1"/>
          </p:cNvSpPr>
          <p:nvPr>
            <p:ph type="body" sz="quarter" idx="3"/>
          </p:nvPr>
        </p:nvSpPr>
        <p:spPr>
          <a:xfrm>
            <a:off x="679450" y="4705351"/>
            <a:ext cx="5435600" cy="4457700"/>
          </a:xfrm>
          <a:prstGeom prst="rect">
            <a:avLst/>
          </a:prstGeom>
        </p:spPr>
        <p:txBody>
          <a:bodyPr vert="horz" lIns="91430" tIns="45715" rIns="91430" bIns="45715"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48646" y="9408981"/>
            <a:ext cx="2944283" cy="495300"/>
          </a:xfrm>
          <a:prstGeom prst="rect">
            <a:avLst/>
          </a:prstGeom>
        </p:spPr>
        <p:txBody>
          <a:bodyPr vert="horz" lIns="91430" tIns="45715" rIns="91430" bIns="45715" rtlCol="0" anchor="b"/>
          <a:lstStyle>
            <a:lvl1pPr algn="r">
              <a:defRPr sz="1200"/>
            </a:lvl1pPr>
          </a:lstStyle>
          <a:p>
            <a:fld id="{E245DB49-244C-4016-9CFF-C17A45AE8B60}" type="slidenum">
              <a:rPr lang="en-GB" smtClean="0"/>
              <a:t>‹#›</a:t>
            </a:fld>
            <a:endParaRPr lang="en-GB" dirty="0"/>
          </a:p>
        </p:txBody>
      </p:sp>
    </p:spTree>
    <p:extLst>
      <p:ext uri="{BB962C8B-B14F-4D97-AF65-F5344CB8AC3E}">
        <p14:creationId xmlns:p14="http://schemas.microsoft.com/office/powerpoint/2010/main" val="2010182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p:cNvSpPr>
            <a:spLocks noGrp="1" noChangeArrowheads="1"/>
          </p:cNvSpPr>
          <p:nvPr>
            <p:ph type="sldNum" sz="quarter" idx="5"/>
          </p:nvPr>
        </p:nvSpPr>
        <p:spPr>
          <a:noFill/>
        </p:spPr>
        <p:txBody>
          <a:bodyPr/>
          <a:lstStyle/>
          <a:p>
            <a:fld id="{9C364824-19B6-448E-82B5-5EBA0DE3DC29}" type="slidenum">
              <a:rPr lang="en-US" smtClean="0">
                <a:solidFill>
                  <a:prstClr val="black"/>
                </a:solidFill>
              </a:rPr>
              <a:pPr/>
              <a:t>1</a:t>
            </a:fld>
            <a:endParaRPr lang="en-US" dirty="0" smtClean="0">
              <a:solidFill>
                <a:prstClr val="black"/>
              </a:solidFill>
            </a:endParaRPr>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1502935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939521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3</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4</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5</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6</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7</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8</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19</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23</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t>07/06/2017</a:t>
            </a:fld>
            <a:endParaRPr lang="en-GB" dirty="0"/>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t>07/06/2017</a:t>
            </a:fld>
            <a:endParaRPr lang="en-GB" dirty="0"/>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t>‹#›</a:t>
            </a:fld>
            <a:endParaRPr lang="en-GB"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t>‹#›</a:t>
            </a:fld>
            <a:endParaRPr lang="en-GB" dirty="0"/>
          </a:p>
        </p:txBody>
      </p:sp>
    </p:spTree>
    <p:extLst>
      <p:ext uri="{BB962C8B-B14F-4D97-AF65-F5344CB8AC3E}">
        <p14:creationId xmlns:p14="http://schemas.microsoft.com/office/powerpoint/2010/main" val="409363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2"/>
        </a:solidFill>
        <a:effectLst/>
      </p:bgPr>
    </p:bg>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solidFill>
                  <a:prstClr val="white"/>
                </a:solidFill>
              </a:rPr>
              <a:pPr/>
              <a:t>07/06/2017</a:t>
            </a:fld>
            <a:endParaRPr lang="en-GB" dirty="0">
              <a:solidFill>
                <a:prstClr val="white"/>
              </a:solidFill>
            </a:endParaRPr>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extLst>
      <p:ext uri="{BB962C8B-B14F-4D97-AF65-F5344CB8AC3E}">
        <p14:creationId xmlns:p14="http://schemas.microsoft.com/office/powerpoint/2010/main" val="3187463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pPr/>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extLst>
      <p:ext uri="{BB962C8B-B14F-4D97-AF65-F5344CB8AC3E}">
        <p14:creationId xmlns:p14="http://schemas.microsoft.com/office/powerpoint/2010/main" val="2436075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Section Header">
    <p:bg>
      <p:bgPr>
        <a:solidFill>
          <a:schemeClr val="tx1"/>
        </a:solidFill>
        <a:effectLst/>
      </p:bgPr>
    </p:bg>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solidFill>
                  <a:prstClr val="white"/>
                </a:solidFill>
              </a:rPr>
              <a:pPr/>
              <a:t>07/06/2017</a:t>
            </a:fld>
            <a:endParaRPr lang="en-GB" dirty="0">
              <a:solidFill>
                <a:prstClr val="white"/>
              </a:solidFill>
            </a:endParaRPr>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solidFill>
                  <a:srgbClr val="006299"/>
                </a:solidFill>
              </a:rPr>
              <a:pPr/>
              <a:t>‹#›</a:t>
            </a:fld>
            <a:endParaRPr lang="en-GB" dirty="0">
              <a:solidFill>
                <a:srgbClr val="006299"/>
              </a:solidFill>
            </a:endParaRPr>
          </a:p>
        </p:txBody>
      </p:sp>
    </p:spTree>
    <p:extLst>
      <p:ext uri="{BB962C8B-B14F-4D97-AF65-F5344CB8AC3E}">
        <p14:creationId xmlns:p14="http://schemas.microsoft.com/office/powerpoint/2010/main" val="2915752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pPr/>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1154682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Titre et contenu">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fr-FR" dirty="0" smtClean="0"/>
              <a:t>Cliquez pour modifier les styles du texte du masque</a:t>
            </a:r>
            <a:endParaRPr lang="en-US" dirty="0" smtClean="0"/>
          </a:p>
          <a:p>
            <a:pPr lvl="1" eaLnBrk="1" latinLnBrk="0" hangingPunct="1"/>
            <a:r>
              <a:rPr lang="en-US" dirty="0" err="1" smtClean="0"/>
              <a:t>Deuxième</a:t>
            </a:r>
            <a:r>
              <a:rPr lang="en-US" dirty="0" smtClean="0"/>
              <a:t> </a:t>
            </a:r>
            <a:r>
              <a:rPr lang="en-US" dirty="0" err="1" smtClean="0"/>
              <a:t>niveau</a:t>
            </a:r>
            <a:endParaRPr lang="en-US" dirty="0" smtClean="0"/>
          </a:p>
          <a:p>
            <a:pPr lvl="2" eaLnBrk="1" latinLnBrk="0" hangingPunct="1"/>
            <a:r>
              <a:rPr lang="en-US" dirty="0" err="1" smtClean="0"/>
              <a:t>Troisième</a:t>
            </a:r>
            <a:r>
              <a:rPr lang="en-US" dirty="0" smtClean="0"/>
              <a:t> </a:t>
            </a:r>
            <a:r>
              <a:rPr lang="en-US" dirty="0" err="1" smtClean="0"/>
              <a:t>niveau</a:t>
            </a:r>
            <a:endParaRPr lang="en-US" dirty="0" smtClean="0"/>
          </a:p>
          <a:p>
            <a:pPr lvl="3" eaLnBrk="1" latinLnBrk="0" hangingPunct="1"/>
            <a:r>
              <a:rPr lang="en-US" dirty="0" err="1" smtClean="0"/>
              <a:t>Quatrième</a:t>
            </a:r>
            <a:r>
              <a:rPr lang="en-US" dirty="0" smtClean="0"/>
              <a:t> </a:t>
            </a:r>
            <a:r>
              <a:rPr lang="en-US" dirty="0" err="1" smtClean="0"/>
              <a:t>niveau</a:t>
            </a:r>
            <a:endParaRPr lang="en-US" dirty="0" smtClean="0"/>
          </a:p>
          <a:p>
            <a:pPr lvl="4" eaLnBrk="1" latinLnBrk="0" hangingPunct="1"/>
            <a:r>
              <a:rPr lang="en-US" dirty="0" err="1" smtClean="0"/>
              <a:t>Cinquième</a:t>
            </a:r>
            <a:r>
              <a:rPr lang="en-US" dirty="0" smtClean="0"/>
              <a:t> </a:t>
            </a:r>
            <a:r>
              <a:rPr lang="en-US" dirty="0" err="1" smtClean="0"/>
              <a:t>niveau</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endParaRPr lang="en-US"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US"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58A3AF47-B4FA-4D1F-8A11-2DCF56C6D06A}" type="slidenum">
              <a:rPr lang="en-US" smtClean="0">
                <a:solidFill>
                  <a:prstClr val="white"/>
                </a:solidFill>
              </a:rPr>
              <a:pPr/>
              <a:t>‹#›</a:t>
            </a:fld>
            <a:endParaRPr lang="en-US"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p>
            <a:r>
              <a:rPr lang="fr-FR" dirty="0" smtClean="0"/>
              <a:t>Cliquez pour modifier le titre</a:t>
            </a:r>
            <a:br>
              <a:rPr lang="fr-FR" dirty="0" smtClean="0"/>
            </a:br>
            <a:r>
              <a:rPr lang="fr-FR" dirty="0" smtClean="0"/>
              <a:t>Le titre peut-être étendu sur deux lignes</a:t>
            </a:r>
            <a:endParaRPr lang="en-US" dirty="0"/>
          </a:p>
        </p:txBody>
      </p:sp>
    </p:spTree>
    <p:extLst>
      <p:ext uri="{BB962C8B-B14F-4D97-AF65-F5344CB8AC3E}">
        <p14:creationId xmlns:p14="http://schemas.microsoft.com/office/powerpoint/2010/main" val="185499054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slideLayout" Target="../slideLayouts/slideLayout7.xml"/><Relationship Id="rId7" Type="http://schemas.openxmlformats.org/officeDocument/2006/relationships/image" Target="../media/image2.png"/><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theme" Target="../theme/theme2.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fr-FR" sz="2000" b="0" i="0" u="none" strike="noStrike" cap="none" normalizeH="0" baseline="0" dirty="0" smtClean="0">
              <a:ln>
                <a:noFill/>
              </a:ln>
              <a:solidFill>
                <a:schemeClr val="tx1"/>
              </a:solidFill>
              <a:effectLst/>
              <a:latin typeface="Helvetica 65 Medium" pitchFamily="34" charset="0"/>
            </a:endParaRPr>
          </a:p>
        </p:txBody>
      </p:sp>
      <p:pic>
        <p:nvPicPr>
          <p:cNvPr id="24" name="Image 7"/>
          <p:cNvPicPr>
            <a:picLocks noChangeAspect="1"/>
          </p:cNvPicPr>
          <p:nvPr/>
        </p:nvPicPr>
        <p:blipFill>
          <a:blip r:embed="rId7"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algn="ctr" eaLnBrk="0" fontAlgn="base" hangingPunct="0">
              <a:spcBef>
                <a:spcPct val="0"/>
              </a:spcBef>
              <a:spcAft>
                <a:spcPct val="0"/>
              </a:spcAft>
            </a:pPr>
            <a:endParaRPr lang="fr-FR" sz="2000" dirty="0" smtClean="0">
              <a:solidFill>
                <a:srgbClr val="727272"/>
              </a:solidFill>
              <a:latin typeface="Helvetica 65 Medium" pitchFamily="34" charset="0"/>
            </a:endParaRPr>
          </a:p>
        </p:txBody>
      </p:sp>
      <p:pic>
        <p:nvPicPr>
          <p:cNvPr id="24" name="Image 7"/>
          <p:cNvPicPr>
            <a:picLocks noChangeAspect="1"/>
          </p:cNvPicPr>
          <p:nvPr/>
        </p:nvPicPr>
        <p:blipFill>
          <a:blip r:embed="rId8"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pPr/>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3699918942"/>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0.png"/><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65760" y="1052736"/>
            <a:ext cx="8019526" cy="2400657"/>
          </a:xfrm>
          <a:prstGeom prst="rect">
            <a:avLst/>
          </a:prstGeom>
          <a:noFill/>
        </p:spPr>
        <p:txBody>
          <a:bodyPr wrap="square" rtlCol="0">
            <a:spAutoFit/>
          </a:bodyPr>
          <a:lstStyle/>
          <a:p>
            <a:r>
              <a:rPr lang="en-GB" sz="3400" b="1" dirty="0" smtClean="0">
                <a:solidFill>
                  <a:prstClr val="white"/>
                </a:solidFill>
                <a:latin typeface="Arial"/>
              </a:rPr>
              <a:t>OECD ECONOMIC OUTLOOK</a:t>
            </a:r>
          </a:p>
          <a:p>
            <a:r>
              <a:rPr lang="en-GB" sz="3400" b="1" dirty="0" smtClean="0">
                <a:solidFill>
                  <a:prstClr val="white"/>
                </a:solidFill>
                <a:latin typeface="Arial"/>
              </a:rPr>
              <a:t>Besser, aber noch nicht gut genug</a:t>
            </a:r>
          </a:p>
        </p:txBody>
      </p:sp>
      <p:sp>
        <p:nvSpPr>
          <p:cNvPr id="6" name="TextBox 5"/>
          <p:cNvSpPr txBox="1"/>
          <p:nvPr/>
        </p:nvSpPr>
        <p:spPr>
          <a:xfrm>
            <a:off x="755576" y="6169422"/>
            <a:ext cx="5616624" cy="584775"/>
          </a:xfrm>
          <a:prstGeom prst="rect">
            <a:avLst/>
          </a:prstGeom>
          <a:noFill/>
        </p:spPr>
        <p:txBody>
          <a:bodyPr wrap="square" rtlCol="0">
            <a:spAutoFit/>
          </a:bodyPr>
          <a:lstStyle/>
          <a:p>
            <a:r>
              <a:rPr lang="en-GB" sz="1600" dirty="0" smtClean="0">
                <a:solidFill>
                  <a:prstClr val="white"/>
                </a:solidFill>
                <a:latin typeface="Arial"/>
              </a:rPr>
              <a:t>www.oecd.org/economy/economicoutlook.htm</a:t>
            </a:r>
          </a:p>
          <a:p>
            <a:r>
              <a:rPr lang="en-GB" sz="1600" dirty="0" smtClean="0">
                <a:solidFill>
                  <a:prstClr val="white"/>
                </a:solidFill>
                <a:latin typeface="Arial"/>
              </a:rPr>
              <a:t>ECOSCOPE-Blog: oecdecoscope.wordpress.com</a:t>
            </a:r>
          </a:p>
        </p:txBody>
      </p:sp>
      <p:sp>
        <p:nvSpPr>
          <p:cNvPr id="8" name="Rectangle 5"/>
          <p:cNvSpPr txBox="1">
            <a:spLocks noChangeArrowheads="1"/>
          </p:cNvSpPr>
          <p:nvPr/>
        </p:nvSpPr>
        <p:spPr bwMode="auto">
          <a:xfrm>
            <a:off x="80554" y="2564904"/>
            <a:ext cx="8974666" cy="2471913"/>
          </a:xfrm>
          <a:prstGeom prst="rect">
            <a:avLst/>
          </a:prstGeom>
          <a:noFill/>
          <a:ln w="9525">
            <a:noFill/>
            <a:miter lim="800000"/>
            <a:headEnd/>
            <a:tailEnd/>
          </a:ln>
        </p:spPr>
        <p:txBody>
          <a:bodyPr/>
          <a:lstStyle/>
          <a:p>
            <a:r>
              <a:rPr lang="en-GB" sz="2800" b="1" dirty="0" smtClean="0">
                <a:solidFill>
                  <a:srgbClr val="898989"/>
                </a:solidFill>
                <a:latin typeface="+mn-lt"/>
                <a:cs typeface="+mn-cs"/>
              </a:rPr>
              <a:t> </a:t>
            </a:r>
          </a:p>
          <a:p>
            <a:r>
              <a:rPr lang="en-GB" sz="2800" b="1" dirty="0" smtClean="0">
                <a:solidFill>
                  <a:srgbClr val="898989"/>
                </a:solidFill>
                <a:latin typeface="+mn-lt"/>
                <a:cs typeface="+mn-cs"/>
              </a:rPr>
              <a:t/>
            </a:r>
          </a:p>
          <a:p>
            <a:r>
              <a:rPr lang="en-GB" sz="2800" b="1" dirty="0" smtClean="0">
                <a:solidFill>
                  <a:srgbClr val="898989"/>
                </a:solidFill>
                <a:latin typeface="+mn-lt"/>
                <a:cs typeface="+mn-cs"/>
              </a:rPr>
              <a:t>Catherine L. Mann</a:t>
            </a:r>
          </a:p>
          <a:p>
            <a:r>
              <a:rPr lang="en-GB" sz="2800" b="1" dirty="0" smtClean="0">
                <a:solidFill>
                  <a:srgbClr val="898989"/>
                </a:solidFill>
                <a:latin typeface="+mn-lt"/>
                <a:cs typeface="+mn-cs"/>
              </a:rPr>
              <a:t>OECD-Chefökonomin</a:t>
            </a:r>
          </a:p>
        </p:txBody>
      </p:sp>
      <p:sp>
        <p:nvSpPr>
          <p:cNvPr id="9" name="Rectangle 5"/>
          <p:cNvSpPr txBox="1">
            <a:spLocks noChangeArrowheads="1"/>
          </p:cNvSpPr>
          <p:nvPr/>
        </p:nvSpPr>
        <p:spPr bwMode="auto">
          <a:xfrm>
            <a:off x="107188" y="5066925"/>
            <a:ext cx="8974666" cy="827549"/>
          </a:xfrm>
          <a:prstGeom prst="rect">
            <a:avLst/>
          </a:prstGeom>
          <a:noFill/>
          <a:ln w="9525">
            <a:noFill/>
            <a:miter lim="800000"/>
            <a:headEnd/>
            <a:tailEnd/>
          </a:ln>
        </p:spPr>
        <p:txBody>
          <a:bodyPr/>
          <a:lstStyle/>
          <a:p>
            <a:r>
              <a:rPr lang="en-GB" sz="2800" b="1" dirty="0" smtClean="0">
                <a:solidFill>
                  <a:srgbClr val="898989"/>
                </a:solidFill>
                <a:latin typeface="+mn-lt"/>
                <a:cs typeface="+mn-cs"/>
              </a:rPr>
              <a:t> 7. Juni 2017Paris</a:t>
            </a:r>
          </a:p>
        </p:txBody>
      </p:sp>
    </p:spTree>
    <p:extLst>
      <p:ext uri="{BB962C8B-B14F-4D97-AF65-F5344CB8AC3E}">
        <p14:creationId xmlns:p14="http://schemas.microsoft.com/office/powerpoint/2010/main" val="229304807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73415" y="476672"/>
            <a:ext cx="7366001" cy="523220"/>
          </a:xfrm>
          <a:prstGeom prst="rect">
            <a:avLst/>
          </a:prstGeom>
        </p:spPr>
        <p:txBody>
          <a:bodyPr wrap="square">
            <a:spAutoFit/>
          </a:bodyPr>
          <a:lstStyle/>
          <a:p>
            <a:r>
              <a:rPr lang="en-GB" sz="2800" b="1" dirty="0" smtClean="0">
                <a:solidFill>
                  <a:schemeClr val="tx2"/>
                </a:solidFill>
                <a:latin typeface="+mj-lt"/>
              </a:rPr>
              <a:t>Kernbotschaften</a:t>
            </a:r>
          </a:p>
        </p:txBody>
      </p:sp>
      <p:sp>
        <p:nvSpPr>
          <p:cNvPr id="2" name="Slide Number Placeholder 1"/>
          <p:cNvSpPr>
            <a:spLocks noGrp="1"/>
          </p:cNvSpPr>
          <p:nvPr>
            <p:ph type="sldNum" sz="quarter" idx="12"/>
          </p:nvPr>
        </p:nvSpPr>
        <p:spPr/>
        <p:txBody>
          <a:bodyPr/>
          <a:lstStyle/>
          <a:p>
            <a:fld id="{FCE284C4-5ED1-4D6C-B7CC-2049C3062C5E}" type="slidenum">
              <a:rPr lang="en-GB" smtClean="0"/>
              <a:t>2</a:t>
            </a:fld>
            <a:endParaRPr lang="en-GB" dirty="0"/>
          </a:p>
        </p:txBody>
      </p:sp>
      <p:graphicFrame>
        <p:nvGraphicFramePr>
          <p:cNvPr id="9" name="Diagram 8"/>
          <p:cNvGraphicFramePr/>
          <p:nvPr>
            <p:extLst>
              <p:ext uri="{D42A27DB-BD31-4B8C-83A1-F6EECF244321}">
                <p14:modId xmlns:p14="http://schemas.microsoft.com/office/powerpoint/2010/main" val="2103504004"/>
              </p:ext>
            </p:extLst>
          </p:nvPr>
        </p:nvGraphicFramePr>
        <p:xfrm>
          <a:off x="459000" y="1260370"/>
          <a:ext cx="8280920" cy="54452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9318684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in.oecd.org\sdataECO\Units\FRONTOFFICE\Economic Outlooks\EO101\Data and charts\PPT_Figs_E\E_Handout_Fig_Global_Growth_1_2P_P2CL.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586" y="1540823"/>
            <a:ext cx="8085074" cy="518145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725330" y="260648"/>
            <a:ext cx="8378047" cy="954107"/>
          </a:xfrm>
          <a:prstGeom prst="rect">
            <a:avLst/>
          </a:prstGeom>
        </p:spPr>
        <p:txBody>
          <a:bodyPr wrap="square">
            <a:spAutoFit/>
          </a:bodyPr>
          <a:lstStyle/>
          <a:p>
            <a:r>
              <a:rPr lang="en-GB" sz="2800" b="1" dirty="0" smtClean="0">
                <a:solidFill>
                  <a:schemeClr val="tx2"/>
                </a:solidFill>
                <a:latin typeface="+mj-lt"/>
              </a:rPr>
              <a:t>Das globale BIP-Wachstum dürfte moderat anziehen, </a:t>
            </a:r>
          </a:p>
          <a:p>
            <a:r>
              <a:rPr lang="en-GB" sz="2800" b="1" dirty="0" smtClean="0">
                <a:solidFill>
                  <a:schemeClr val="tx2"/>
                </a:solidFill>
                <a:latin typeface="+mj-lt"/>
              </a:rPr>
              <a:t>bleibt aber unter den historischen Normwerten</a:t>
            </a:r>
          </a:p>
        </p:txBody>
      </p:sp>
      <p:sp>
        <p:nvSpPr>
          <p:cNvPr id="11" name="Slide Number Placeholder 10"/>
          <p:cNvSpPr>
            <a:spLocks noGrp="1"/>
          </p:cNvSpPr>
          <p:nvPr>
            <p:ph type="sldNum" sz="quarter" idx="12"/>
          </p:nvPr>
        </p:nvSpPr>
        <p:spPr/>
        <p:txBody>
          <a:bodyPr/>
          <a:lstStyle/>
          <a:p>
            <a:fld id="{FCE284C4-5ED1-4D6C-B7CC-2049C3062C5E}" type="slidenum">
              <a:rPr lang="en-GB" smtClean="0"/>
              <a:t>3</a:t>
            </a:fld>
            <a:endParaRPr lang="en-GB" dirty="0"/>
          </a:p>
        </p:txBody>
      </p:sp>
      <p:sp>
        <p:nvSpPr>
          <p:cNvPr id="13" name="TextBox 12"/>
          <p:cNvSpPr txBox="1"/>
          <p:nvPr/>
        </p:nvSpPr>
        <p:spPr>
          <a:xfrm>
            <a:off x="589585" y="6211669"/>
            <a:ext cx="8495040"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Quelle: OECD Economic Outlook-Datenbank, Juni 2017.</a:t>
            </a:r>
          </a:p>
        </p:txBody>
      </p:sp>
      <p:sp>
        <p:nvSpPr>
          <p:cNvPr id="21" name="TextBox 20"/>
          <p:cNvSpPr txBox="1"/>
          <p:nvPr/>
        </p:nvSpPr>
        <p:spPr>
          <a:xfrm>
            <a:off x="2507887" y="1340768"/>
            <a:ext cx="4248472"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Globales BIP-Wachstum</a:t>
            </a:r>
          </a:p>
        </p:txBody>
      </p:sp>
    </p:spTree>
    <p:extLst>
      <p:ext uri="{BB962C8B-B14F-4D97-AF65-F5344CB8AC3E}">
        <p14:creationId xmlns:p14="http://schemas.microsoft.com/office/powerpoint/2010/main" val="18878458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DPV_CAP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72" y="1700808"/>
            <a:ext cx="4592546" cy="475252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694508" y="240100"/>
            <a:ext cx="8378047" cy="954107"/>
          </a:xfrm>
          <a:prstGeom prst="rect">
            <a:avLst/>
          </a:prstGeom>
        </p:spPr>
        <p:txBody>
          <a:bodyPr wrap="square">
            <a:spAutoFit/>
          </a:bodyPr>
          <a:lstStyle/>
          <a:p>
            <a:r>
              <a:rPr lang="en-GB" sz="2800" b="1" dirty="0" smtClean="0">
                <a:solidFill>
                  <a:schemeClr val="tx2"/>
                </a:solidFill>
                <a:latin typeface="+mj-lt"/>
              </a:rPr>
              <a:t>Das BIP-Wachstum pro Kopf liegt unter dem historischen Schnitt, </a:t>
            </a:r>
          </a:p>
          <a:p>
            <a:r>
              <a:rPr lang="en-GB" sz="2800" b="1" dirty="0" smtClean="0">
                <a:solidFill>
                  <a:schemeClr val="tx2"/>
                </a:solidFill>
                <a:latin typeface="+mj-lt"/>
              </a:rPr>
              <a:t>und die Einkommensungleichheit steigt weiter</a:t>
            </a:r>
          </a:p>
        </p:txBody>
      </p:sp>
      <p:sp>
        <p:nvSpPr>
          <p:cNvPr id="11" name="Slide Number Placeholder 10"/>
          <p:cNvSpPr>
            <a:spLocks noGrp="1"/>
          </p:cNvSpPr>
          <p:nvPr>
            <p:ph type="sldNum" sz="quarter" idx="12"/>
          </p:nvPr>
        </p:nvSpPr>
        <p:spPr/>
        <p:txBody>
          <a:bodyPr/>
          <a:lstStyle/>
          <a:p>
            <a:fld id="{FCE284C4-5ED1-4D6C-B7CC-2049C3062C5E}" type="slidenum">
              <a:rPr lang="en-GB" smtClean="0"/>
              <a:t>4</a:t>
            </a:fld>
            <a:endParaRPr lang="en-GB" dirty="0"/>
          </a:p>
        </p:txBody>
      </p:sp>
      <p:sp>
        <p:nvSpPr>
          <p:cNvPr id="15" name="TextBox 14"/>
          <p:cNvSpPr txBox="1"/>
          <p:nvPr/>
        </p:nvSpPr>
        <p:spPr>
          <a:xfrm>
            <a:off x="134557" y="1307502"/>
            <a:ext cx="4248472"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BIP-Wachstum pro Kopf</a:t>
            </a:r>
          </a:p>
          <a:p>
            <a:r>
              <a:rPr lang="en-US" sz="2000" b="1" dirty="0" smtClean="0">
                <a:solidFill>
                  <a:schemeClr val="bg2">
                    <a:lumMod val="10000"/>
                  </a:schemeClr>
                </a:solidFill>
                <a:latin typeface="Calibri" pitchFamily="34" charset="0"/>
              </a:rPr>
              <a:t>Horizontale Linien sind Durchschnittswerte für 1987-2007</a:t>
            </a:r>
          </a:p>
        </p:txBody>
      </p:sp>
      <p:sp>
        <p:nvSpPr>
          <p:cNvPr id="12" name="TextBox 11"/>
          <p:cNvSpPr txBox="1"/>
          <p:nvPr/>
        </p:nvSpPr>
        <p:spPr>
          <a:xfrm>
            <a:off x="4256058" y="1302256"/>
            <a:ext cx="5063780"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Die Einkommensungleichheit steigt in der OECD Real verfügbares Haushaltseinkommen, Gesamtbevölkerung</a:t>
            </a:r>
          </a:p>
        </p:txBody>
      </p:sp>
      <p:pic>
        <p:nvPicPr>
          <p:cNvPr id="8194" name="Picture 2" descr="\\main.oecd.org\sdataECO\Units\FRONTOFFICE\Economic Outlooks\EO101\Data and charts\PPT_Figs_E\E_Handout_Fig_inequality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82274" y="1887031"/>
            <a:ext cx="4541651" cy="482351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p:cNvSpPr txBox="1"/>
          <p:nvPr/>
        </p:nvSpPr>
        <p:spPr>
          <a:xfrm>
            <a:off x="461547" y="6396335"/>
            <a:ext cx="8641830" cy="461665"/>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Anmerkung: Die rechte Achse ist der ungewichtete Durchschnitt von 17 OECD-Ländern.</a:t>
            </a:r>
          </a:p>
          <a:p>
            <a:r>
              <a:rPr lang="en-US" sz="1200" dirty="0">
                <a:solidFill>
                  <a:schemeClr val="bg2">
                    <a:lumMod val="10000"/>
                  </a:schemeClr>
                </a:solidFill>
                <a:latin typeface="Calibri" panose="020F0502020204030204" pitchFamily="34" charset="0"/>
              </a:rPr>
              <a:t>Quelle: OECD Economic Outlook-Datenbank, Juni 2017; und OECD Income Distribution-Datenbank.</a:t>
            </a:r>
          </a:p>
        </p:txBody>
      </p:sp>
    </p:spTree>
    <p:extLst>
      <p:ext uri="{BB962C8B-B14F-4D97-AF65-F5344CB8AC3E}">
        <p14:creationId xmlns:p14="http://schemas.microsoft.com/office/powerpoint/2010/main" val="1622819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637669" y="442666"/>
            <a:ext cx="8378047" cy="523220"/>
          </a:xfrm>
          <a:prstGeom prst="rect">
            <a:avLst/>
          </a:prstGeom>
        </p:spPr>
        <p:txBody>
          <a:bodyPr wrap="square">
            <a:spAutoFit/>
          </a:bodyPr>
          <a:lstStyle/>
          <a:p>
            <a:r>
              <a:rPr lang="en-GB" sz="2800" b="1" dirty="0" smtClean="0">
                <a:solidFill>
                  <a:schemeClr val="tx2"/>
                </a:solidFill>
                <a:latin typeface="+mj-lt"/>
              </a:rPr>
              <a:t>Projektionen des OECD Economic Outlook</a:t>
            </a:r>
          </a:p>
        </p:txBody>
      </p:sp>
      <p:sp>
        <p:nvSpPr>
          <p:cNvPr id="11" name="Slide Number Placeholder 10"/>
          <p:cNvSpPr>
            <a:spLocks noGrp="1"/>
          </p:cNvSpPr>
          <p:nvPr>
            <p:ph type="sldNum" sz="quarter" idx="12"/>
          </p:nvPr>
        </p:nvSpPr>
        <p:spPr/>
        <p:txBody>
          <a:bodyPr/>
          <a:lstStyle/>
          <a:p>
            <a:fld id="{FCE284C4-5ED1-4D6C-B7CC-2049C3062C5E}" type="slidenum">
              <a:rPr lang="en-GB" smtClean="0"/>
              <a:t>5</a:t>
            </a:fld>
            <a:endParaRPr lang="en-GB" dirty="0"/>
          </a:p>
        </p:txBody>
      </p:sp>
      <p:sp>
        <p:nvSpPr>
          <p:cNvPr id="6" name="TextBox 5"/>
          <p:cNvSpPr txBox="1"/>
          <p:nvPr/>
        </p:nvSpPr>
        <p:spPr>
          <a:xfrm>
            <a:off x="529723" y="1286395"/>
            <a:ext cx="8136904" cy="584775"/>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Reales BIP-Wachstum</a:t>
            </a:r>
          </a:p>
          <a:p>
            <a:r>
              <a:rPr lang="en-GB" sz="2000" b="1" dirty="0" smtClean="0">
                <a:solidFill>
                  <a:schemeClr val="bg2">
                    <a:lumMod val="10000"/>
                  </a:schemeClr>
                </a:solidFill>
                <a:latin typeface="Calibri" pitchFamily="34" charset="0"/>
              </a:rPr>
              <a:t>Jahr für Jahr, %</a:t>
            </a:r>
          </a:p>
        </p:txBody>
      </p:sp>
      <p:sp>
        <p:nvSpPr>
          <p:cNvPr id="7" name="TextBox 6"/>
          <p:cNvSpPr txBox="1"/>
          <p:nvPr/>
        </p:nvSpPr>
        <p:spPr>
          <a:xfrm>
            <a:off x="1426363" y="5834281"/>
            <a:ext cx="8738087" cy="1015663"/>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Anmerkung: Differenz in Prozentpunkten auf Basis gerundeter Werte. </a:t>
            </a:r>
          </a:p>
          <a:p>
            <a:r>
              <a:rPr lang="en-US" sz="1200" dirty="0" smtClean="0">
                <a:solidFill>
                  <a:schemeClr val="bg2">
                    <a:lumMod val="10000"/>
                  </a:schemeClr>
                </a:solidFill>
                <a:latin typeface="Calibri" panose="020F0502020204030204" pitchFamily="34" charset="0"/>
              </a:rPr>
              <a:t>1. Das Wachstum Irlands 2015 wird anhand der Bruttowertschöpfung zu konstanten Preisen ohne die von ausländischen multinationalen Unternehmen dominierten Sektoren berechnet.</a:t>
            </a:r>
          </a:p>
          <a:p>
            <a:r>
              <a:rPr lang="en-US" sz="1200" dirty="0" smtClean="0">
                <a:solidFill>
                  <a:schemeClr val="bg2">
                    <a:lumMod val="10000"/>
                  </a:schemeClr>
                </a:solidFill>
                <a:latin typeface="Calibri" panose="020F0502020204030204" pitchFamily="34" charset="0"/>
              </a:rPr>
              <a:t>2. Geschäftsjahre, die im April beginnen.</a:t>
            </a:r>
          </a:p>
        </p:txBody>
      </p:sp>
      <p:pic>
        <p:nvPicPr>
          <p:cNvPr id="8" name="Picture 7"/>
          <p:cNvPicPr/>
          <p:nvPr/>
        </p:nvPicPr>
        <p:blipFill>
          <a:blip r:embed="rId3">
            <a:extLst>
              <a:ext uri="{28A0092B-C50C-407E-A947-70E740481C1C}">
                <a14:useLocalDpi xmlns:a14="http://schemas.microsoft.com/office/drawing/2010/main" val="0"/>
              </a:ext>
            </a:extLst>
          </a:blip>
          <a:srcRect/>
          <a:stretch>
            <a:fillRect/>
          </a:stretch>
        </p:blipFill>
        <p:spPr bwMode="auto">
          <a:xfrm>
            <a:off x="1383292" y="1834981"/>
            <a:ext cx="6213044" cy="4222126"/>
          </a:xfrm>
          <a:prstGeom prst="rect">
            <a:avLst/>
          </a:prstGeom>
          <a:noFill/>
          <a:ln>
            <a:noFill/>
          </a:ln>
        </p:spPr>
      </p:pic>
    </p:spTree>
    <p:extLst>
      <p:ext uri="{BB962C8B-B14F-4D97-AF65-F5344CB8AC3E}">
        <p14:creationId xmlns:p14="http://schemas.microsoft.com/office/powerpoint/2010/main" val="127252702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descr="\\main.oecd.org\sdataECO\Units\FRONTOFFICE\Economic Outlooks\EO101\Data and charts\PPT_Figs_E\E_Handout_Fig_Confidence_indicators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512" y="1598788"/>
            <a:ext cx="4678679" cy="4844184"/>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main.oecd.org\sdataECO\Units\FRONTOFFICE\Economic Outlooks\EO101\Data and charts\Figs_E\E_Handout_Fig_Confidence_indicators_rolling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7716" y="1598788"/>
            <a:ext cx="4697106" cy="484418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98860" y="260648"/>
            <a:ext cx="7920880" cy="954107"/>
          </a:xfrm>
          <a:prstGeom prst="rect">
            <a:avLst/>
          </a:prstGeom>
        </p:spPr>
        <p:txBody>
          <a:bodyPr wrap="square">
            <a:spAutoFit/>
          </a:bodyPr>
          <a:lstStyle/>
          <a:p>
            <a:r>
              <a:rPr lang="en-US" sz="2800" b="1" dirty="0" smtClean="0">
                <a:solidFill>
                  <a:schemeClr val="tx2"/>
                </a:solidFill>
                <a:latin typeface="+mj-lt"/>
              </a:rPr>
              <a:t>Vertrauensindikatoren deuten auf eine Belebung hin, sind aber weniger verlässlich geworden</a:t>
            </a:r>
          </a:p>
        </p:txBody>
      </p:sp>
      <p:sp>
        <p:nvSpPr>
          <p:cNvPr id="7" name="Slide Number Placeholder 6"/>
          <p:cNvSpPr>
            <a:spLocks noGrp="1"/>
          </p:cNvSpPr>
          <p:nvPr>
            <p:ph type="sldNum" sz="quarter" idx="12"/>
          </p:nvPr>
        </p:nvSpPr>
        <p:spPr/>
        <p:txBody>
          <a:bodyPr/>
          <a:lstStyle/>
          <a:p>
            <a:fld id="{FCE284C4-5ED1-4D6C-B7CC-2049C3062C5E}" type="slidenum">
              <a:rPr lang="en-GB" smtClean="0"/>
              <a:t>6</a:t>
            </a:fld>
            <a:endParaRPr lang="en-GB" dirty="0"/>
          </a:p>
        </p:txBody>
      </p:sp>
      <p:sp>
        <p:nvSpPr>
          <p:cNvPr id="10" name="TextBox 9"/>
          <p:cNvSpPr txBox="1"/>
          <p:nvPr/>
        </p:nvSpPr>
        <p:spPr>
          <a:xfrm>
            <a:off x="-333763" y="1306400"/>
            <a:ext cx="5202324" cy="584775"/>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Verbraucher- und Unternehmensvertrauen OECD und BRIICS, Index</a:t>
            </a:r>
          </a:p>
        </p:txBody>
      </p:sp>
      <p:sp>
        <p:nvSpPr>
          <p:cNvPr id="12" name="TextBox 11"/>
          <p:cNvSpPr txBox="1"/>
          <p:nvPr/>
        </p:nvSpPr>
        <p:spPr>
          <a:xfrm>
            <a:off x="171736" y="6211669"/>
            <a:ext cx="8438329"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Anmerkung: Die Vertrauensindizes sind nach BIP-KKP gewichtete Durchschnitte standardisierter Länderreihen, deren langfristiger Durchschnitt = 100 ist. Das Verbrauchervertrauen korreliert mit dem globalen Einzelhandelsumsatzwachstum und das Unternehmensvertrauen mit dem globalen Wachstum der Industrieproduktion.</a:t>
            </a:r>
          </a:p>
          <a:p>
            <a:r>
              <a:rPr lang="en-US" sz="1200" dirty="0">
                <a:solidFill>
                  <a:schemeClr val="bg2">
                    <a:lumMod val="10000"/>
                  </a:schemeClr>
                </a:solidFill>
                <a:latin typeface="Calibri" panose="020F0502020204030204" pitchFamily="34" charset="0"/>
              </a:rPr>
              <a:t>Quelle: OECD Main Economic Indicators-Datenbank; und OECD-Berechnungen.</a:t>
            </a:r>
          </a:p>
        </p:txBody>
      </p:sp>
      <p:sp>
        <p:nvSpPr>
          <p:cNvPr id="8" name="TextBox 7"/>
          <p:cNvSpPr txBox="1"/>
          <p:nvPr/>
        </p:nvSpPr>
        <p:spPr>
          <a:xfrm>
            <a:off x="4139952" y="1306401"/>
            <a:ext cx="5202324" cy="584775"/>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Aussagekraft der Vertrauensindikatoren</a:t>
            </a:r>
          </a:p>
          <a:p>
            <a:r>
              <a:rPr lang="en-GB" sz="2000" b="1" dirty="0" smtClean="0">
                <a:solidFill>
                  <a:schemeClr val="bg2">
                    <a:lumMod val="10000"/>
                  </a:schemeClr>
                </a:solidFill>
                <a:latin typeface="Calibri" pitchFamily="34" charset="0"/>
              </a:rPr>
              <a:t>OECD und BRIICS, 5-Jahres-Korrelation mit der Aktivität</a:t>
            </a:r>
          </a:p>
        </p:txBody>
      </p:sp>
    </p:spTree>
    <p:extLst>
      <p:ext uri="{BB962C8B-B14F-4D97-AF65-F5344CB8AC3E}">
        <p14:creationId xmlns:p14="http://schemas.microsoft.com/office/powerpoint/2010/main" val="25831687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main.oecd.org\sdataECO\Units\FRONTOFFICE\Economic Outlooks\EO101\Data and charts\PPT_Figs_E\E_Handout_Fig_High_tech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2732" y="1604989"/>
            <a:ext cx="4537260" cy="4571490"/>
          </a:xfrm>
          <a:prstGeom prst="rect">
            <a:avLst/>
          </a:prstGeom>
          <a:noFill/>
          <a:extLst>
            <a:ext uri="{909E8E84-426E-40DD-AFC4-6F175D3DCCD1}">
              <a14:hiddenFill xmlns:a14="http://schemas.microsoft.com/office/drawing/2010/main">
                <a:solidFill>
                  <a:srgbClr val="FFFFFF"/>
                </a:solidFill>
              </a14:hiddenFill>
            </a:ext>
          </a:extLst>
        </p:spPr>
      </p:pic>
      <p:pic>
        <p:nvPicPr>
          <p:cNvPr id="3075" name="Picture 3" descr="\\main.oecd.org\sdataECO\Units\FRONTOFFICE\Economic Outlooks\EO101\Data and charts\PPT_Figs_E\E_Handout_Fig_Fig_Productive_Capital_Stock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573" y="1604989"/>
            <a:ext cx="4475419" cy="457149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802183" y="233427"/>
            <a:ext cx="8235069" cy="923330"/>
          </a:xfrm>
          <a:prstGeom prst="rect">
            <a:avLst/>
          </a:prstGeom>
        </p:spPr>
        <p:txBody>
          <a:bodyPr wrap="square">
            <a:spAutoFit/>
          </a:bodyPr>
          <a:lstStyle/>
          <a:p>
            <a:r>
              <a:rPr lang="en-US" sz="2700" b="1" dirty="0" smtClean="0">
                <a:solidFill>
                  <a:schemeClr val="tx2"/>
                </a:solidFill>
                <a:latin typeface="+mj-lt"/>
              </a:rPr>
              <a:t>Die Investitionen steigen, doch der Kapitalstock ist alt Aufwärtspotenzial durch technologische Modernisierung</a:t>
            </a:r>
          </a:p>
        </p:txBody>
      </p:sp>
      <p:sp>
        <p:nvSpPr>
          <p:cNvPr id="7" name="Slide Number Placeholder 6"/>
          <p:cNvSpPr>
            <a:spLocks noGrp="1"/>
          </p:cNvSpPr>
          <p:nvPr>
            <p:ph type="sldNum" sz="quarter" idx="12"/>
          </p:nvPr>
        </p:nvSpPr>
        <p:spPr/>
        <p:txBody>
          <a:bodyPr/>
          <a:lstStyle/>
          <a:p>
            <a:fld id="{FCE284C4-5ED1-4D6C-B7CC-2049C3062C5E}" type="slidenum">
              <a:rPr lang="en-GB" smtClean="0"/>
              <a:t>7</a:t>
            </a:fld>
            <a:endParaRPr lang="en-GB" dirty="0"/>
          </a:p>
        </p:txBody>
      </p:sp>
      <p:sp>
        <p:nvSpPr>
          <p:cNvPr id="11" name="TextBox 10"/>
          <p:cNvSpPr txBox="1"/>
          <p:nvPr/>
        </p:nvSpPr>
        <p:spPr>
          <a:xfrm>
            <a:off x="99037" y="5966214"/>
            <a:ext cx="8496944" cy="900246"/>
          </a:xfrm>
          <a:prstGeom prst="rect">
            <a:avLst/>
          </a:prstGeom>
          <a:noFill/>
        </p:spPr>
        <p:txBody>
          <a:bodyPr wrap="square" rtlCol="0">
            <a:spAutoFit/>
          </a:bodyPr>
          <a:lstStyle/>
          <a:p>
            <a:r>
              <a:rPr lang="en-US" sz="1050" dirty="0" smtClean="0">
                <a:solidFill>
                  <a:schemeClr val="bg2">
                    <a:lumMod val="10000"/>
                  </a:schemeClr>
                </a:solidFill>
                <a:latin typeface="Calibri" panose="020F0502020204030204" pitchFamily="34" charset="0"/>
              </a:rPr>
              <a:t>Anmerkung: Globale Halbleiterumsätze in nominalen US-Dollar. Die Produktion der wichtigsten fortgeschrittenen Computer- und Elektronikgüter ist ein gewichteter Durchschnitt aus der Produktion von Computer- und Elektronikerzeugnissen für die Vereinigten Staaten, der Produktion von Computer-, Elektronik- und optischen Erzeugnissen für Deutschland sowie der Produktion von Informations- und Kommunikationselektronik samt elektronischen Bauteilen und Geräten für Japan.Quelle: OECD Economic Outlook-Datenbank, Juni 2017; World Semi-Conductor Statistics; Eurostat; Board of Governors of the Federal Reserve System; Japan Ministry of Economy, Trade and Industry; und OECD-Berechnungen.</a:t>
            </a:r>
          </a:p>
        </p:txBody>
      </p:sp>
      <p:sp>
        <p:nvSpPr>
          <p:cNvPr id="9" name="TextBox 8"/>
          <p:cNvSpPr txBox="1"/>
          <p:nvPr/>
        </p:nvSpPr>
        <p:spPr>
          <a:xfrm>
            <a:off x="4165430" y="1281780"/>
            <a:ext cx="5202324" cy="605294"/>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Hightech-Produkte</a:t>
            </a:r>
          </a:p>
        </p:txBody>
      </p:sp>
      <p:sp>
        <p:nvSpPr>
          <p:cNvPr id="8" name="TextBox 7"/>
          <p:cNvSpPr txBox="1"/>
          <p:nvPr/>
        </p:nvSpPr>
        <p:spPr>
          <a:xfrm>
            <a:off x="-563133" y="1281780"/>
            <a:ext cx="5650830"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Wachstum des produktiven Kapitalstocks</a:t>
            </a:r>
          </a:p>
        </p:txBody>
      </p:sp>
    </p:spTree>
    <p:extLst>
      <p:ext uri="{BB962C8B-B14F-4D97-AF65-F5344CB8AC3E}">
        <p14:creationId xmlns:p14="http://schemas.microsoft.com/office/powerpoint/2010/main" val="9429014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descr="\\main.oecd.org\sdataECO\Units\FRONTOFFICE\Economic Outlooks\EO101\Data and charts\PPT_Figs_E\E_Handout_Fig_China_Invest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8104" y="1772816"/>
            <a:ext cx="3611416" cy="471068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main.oecd.org\sdataECO\Units\FRONTOFFICE\Economic Outlooks\EO101\Data and charts\PPT_Figs_E\E_Handout_Fig_World_Trade_contributions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676" y="1443800"/>
            <a:ext cx="5482702" cy="508651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77992" y="250359"/>
            <a:ext cx="8136904" cy="954107"/>
          </a:xfrm>
          <a:prstGeom prst="rect">
            <a:avLst/>
          </a:prstGeom>
        </p:spPr>
        <p:txBody>
          <a:bodyPr wrap="square">
            <a:spAutoFit/>
          </a:bodyPr>
          <a:lstStyle/>
          <a:p>
            <a:r>
              <a:rPr lang="en-US" sz="2800" b="1" dirty="0">
                <a:solidFill>
                  <a:schemeClr val="tx2"/>
                </a:solidFill>
                <a:latin typeface="+mj-lt"/>
              </a:rPr>
              <a:t>Der Welthandel hat sich zuletzt erholt, mit wichtiger Unterstützung durch die Konjunkturmaßnahmen in China</a:t>
            </a:r>
          </a:p>
        </p:txBody>
      </p:sp>
      <p:sp>
        <p:nvSpPr>
          <p:cNvPr id="7" name="Slide Number Placeholder 6"/>
          <p:cNvSpPr>
            <a:spLocks noGrp="1"/>
          </p:cNvSpPr>
          <p:nvPr>
            <p:ph type="sldNum" sz="quarter" idx="12"/>
          </p:nvPr>
        </p:nvSpPr>
        <p:spPr/>
        <p:txBody>
          <a:bodyPr/>
          <a:lstStyle/>
          <a:p>
            <a:fld id="{FCE284C4-5ED1-4D6C-B7CC-2049C3062C5E}" type="slidenum">
              <a:rPr lang="en-GB" smtClean="0"/>
              <a:t>8</a:t>
            </a:fld>
            <a:endParaRPr lang="en-GB" dirty="0"/>
          </a:p>
        </p:txBody>
      </p:sp>
      <p:sp>
        <p:nvSpPr>
          <p:cNvPr id="10" name="TextBox 9"/>
          <p:cNvSpPr txBox="1"/>
          <p:nvPr/>
        </p:nvSpPr>
        <p:spPr>
          <a:xfrm>
            <a:off x="201595" y="1278732"/>
            <a:ext cx="5202324" cy="605294"/>
          </a:xfrm>
          <a:prstGeom prst="rect">
            <a:avLst/>
          </a:prstGeom>
          <a:noFill/>
        </p:spPr>
        <p:txBody>
          <a:bodyPr wrap="square" rtlCol="0">
            <a:spAutoFit/>
          </a:bodyPr>
          <a:lstStyle/>
          <a:p>
            <a:r>
              <a:rPr lang="en-GB" sz="2000" b="1" dirty="0" smtClean="0">
                <a:solidFill>
                  <a:schemeClr val="bg2">
                    <a:lumMod val="10000"/>
                  </a:schemeClr>
                </a:solidFill>
                <a:latin typeface="Calibri" pitchFamily="34" charset="0"/>
              </a:rPr>
              <a:t>Beiträge zum Wachstum des Welthandels</a:t>
            </a:r>
          </a:p>
        </p:txBody>
      </p:sp>
      <p:sp>
        <p:nvSpPr>
          <p:cNvPr id="11" name="TextBox 10"/>
          <p:cNvSpPr txBox="1"/>
          <p:nvPr/>
        </p:nvSpPr>
        <p:spPr>
          <a:xfrm>
            <a:off x="323528" y="6068006"/>
            <a:ext cx="8136904" cy="830997"/>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Anmerkung: Zu den Rohstoffproduzenten zählen Argentinien, Australien, Brasilien, Chile, Kolumbien, Norwegen, Neuseeland, Russland, Saudi-Arabien, Südafrika und weitere erdölfördernde Länder.Quelle: OECD Economic Outlook-Datenbank, Juni 2017; und National Bureau of Statistics of China.</a:t>
            </a:r>
          </a:p>
        </p:txBody>
      </p:sp>
      <p:sp>
        <p:nvSpPr>
          <p:cNvPr id="9" name="TextBox 8"/>
          <p:cNvSpPr txBox="1"/>
          <p:nvPr/>
        </p:nvSpPr>
        <p:spPr>
          <a:xfrm>
            <a:off x="4514444" y="1239593"/>
            <a:ext cx="5650830" cy="707886"/>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Nominale Anlageinvestitionen Chinas</a:t>
            </a:r>
          </a:p>
        </p:txBody>
      </p:sp>
    </p:spTree>
    <p:extLst>
      <p:ext uri="{BB962C8B-B14F-4D97-AF65-F5344CB8AC3E}">
        <p14:creationId xmlns:p14="http://schemas.microsoft.com/office/powerpoint/2010/main" val="392195535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3" descr="\\main.oecd.org\sdataECO\Units\FRONTOFFICE\Economic Outlooks\EO101\Data and charts\PPT_Figs_E\E_Handout_Fig_Real_Wag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2" y="1614391"/>
            <a:ext cx="4644008" cy="4781945"/>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main.oecd.org\sdataECO\Units\FRONTOFFICE\Economic Outlooks\EO101\Data and charts\PPT_Figs_E\E_Handout_Fig_Employ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986" y="1614392"/>
            <a:ext cx="4477006" cy="4781944"/>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9</a:t>
            </a:fld>
            <a:endParaRPr lang="en-GB" dirty="0"/>
          </a:p>
        </p:txBody>
      </p:sp>
      <p:sp>
        <p:nvSpPr>
          <p:cNvPr id="4" name="Rectangle 3"/>
          <p:cNvSpPr/>
          <p:nvPr/>
        </p:nvSpPr>
        <p:spPr>
          <a:xfrm>
            <a:off x="651603" y="224152"/>
            <a:ext cx="8378047" cy="954107"/>
          </a:xfrm>
          <a:prstGeom prst="rect">
            <a:avLst/>
          </a:prstGeom>
        </p:spPr>
        <p:txBody>
          <a:bodyPr wrap="square">
            <a:spAutoFit/>
          </a:bodyPr>
          <a:lstStyle/>
          <a:p>
            <a:r>
              <a:rPr lang="en-US" sz="2800" b="1" dirty="0" smtClean="0">
                <a:solidFill>
                  <a:schemeClr val="tx2"/>
                </a:solidFill>
                <a:latin typeface="+mj-lt"/>
              </a:rPr>
              <a:t>Die Erholung am Arbeitsmarkt ist unvollständig, und das Reallohnwachstum bleibt schwach</a:t>
            </a:r>
          </a:p>
        </p:txBody>
      </p:sp>
      <p:sp>
        <p:nvSpPr>
          <p:cNvPr id="16" name="TextBox 15"/>
          <p:cNvSpPr txBox="1"/>
          <p:nvPr/>
        </p:nvSpPr>
        <p:spPr>
          <a:xfrm>
            <a:off x="-296731" y="1322004"/>
            <a:ext cx="5063780"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Arbeitslosigkeit und Unterbeschäftigung OECD, Anteil an den Erwerbspersonen</a:t>
            </a:r>
          </a:p>
        </p:txBody>
      </p:sp>
      <p:sp>
        <p:nvSpPr>
          <p:cNvPr id="11" name="TextBox 10"/>
          <p:cNvSpPr txBox="1"/>
          <p:nvPr/>
        </p:nvSpPr>
        <p:spPr>
          <a:xfrm>
            <a:off x="305640" y="6207203"/>
            <a:ext cx="8280920"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Anmerkung: Reallöhne gemessen als Arbeitnehmerentgelt je Beschäftigten, bereinigt um den BIP-Deflator.Quelle: OECD Economic Outlook-Datenbank, Juni 2017; OECD Employment-Datenbank; US Bureau of Labor Statistics; Eurostat; und Japan Statistics Bureau.</a:t>
            </a:r>
          </a:p>
        </p:txBody>
      </p:sp>
      <p:sp>
        <p:nvSpPr>
          <p:cNvPr id="8" name="TextBox 7"/>
          <p:cNvSpPr txBox="1"/>
          <p:nvPr/>
        </p:nvSpPr>
        <p:spPr>
          <a:xfrm>
            <a:off x="4282712" y="1313126"/>
            <a:ext cx="5063780"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Reallohnwachstum</a:t>
            </a:r>
          </a:p>
          <a:p>
            <a:r>
              <a:rPr lang="en-US" sz="2000" b="1" dirty="0" smtClean="0">
                <a:solidFill>
                  <a:schemeClr val="bg2">
                    <a:lumMod val="10000"/>
                  </a:schemeClr>
                </a:solidFill>
                <a:latin typeface="Calibri" pitchFamily="34" charset="0"/>
              </a:rPr>
              <a:t>Horizontale Linien sind Durchschnittswerte für 1987-2007</a:t>
            </a:r>
          </a:p>
        </p:txBody>
      </p:sp>
    </p:spTree>
    <p:extLst>
      <p:ext uri="{BB962C8B-B14F-4D97-AF65-F5344CB8AC3E}">
        <p14:creationId xmlns:p14="http://schemas.microsoft.com/office/powerpoint/2010/main" val="248761124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descr="\\main.oecd.org\sdataECO\Units\FRONTOFFICE\Economic Outlooks\EO101\Data and charts\PPT_Figs_E\E_Handout_Fig_House_Rent_Ratio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4009" y="1578082"/>
            <a:ext cx="4436444" cy="4820180"/>
          </a:xfrm>
          <a:prstGeom prst="rect">
            <a:avLst/>
          </a:prstGeom>
          <a:noFill/>
          <a:extLst>
            <a:ext uri="{909E8E84-426E-40DD-AFC4-6F175D3DCCD1}">
              <a14:hiddenFill xmlns:a14="http://schemas.microsoft.com/office/drawing/2010/main">
                <a:solidFill>
                  <a:srgbClr val="FFFFFF"/>
                </a:solidFill>
              </a14:hiddenFill>
            </a:ext>
          </a:extLst>
        </p:spPr>
      </p:pic>
      <p:pic>
        <p:nvPicPr>
          <p:cNvPr id="6146" name="Picture 2" descr="\\main.oecd.org\sdataECO\Units\FRONTOFFICE\Economic Outlooks\EO101\Data and charts\PPT_Figs_E\E_Handout_Fig_Private_credi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39" y="1576536"/>
            <a:ext cx="4619269" cy="487680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10</a:t>
            </a:fld>
            <a:endParaRPr lang="en-GB" dirty="0"/>
          </a:p>
        </p:txBody>
      </p:sp>
      <p:sp>
        <p:nvSpPr>
          <p:cNvPr id="4" name="Rectangle 3"/>
          <p:cNvSpPr/>
          <p:nvPr/>
        </p:nvSpPr>
        <p:spPr>
          <a:xfrm>
            <a:off x="736273" y="224152"/>
            <a:ext cx="8378047" cy="954107"/>
          </a:xfrm>
          <a:prstGeom prst="rect">
            <a:avLst/>
          </a:prstGeom>
        </p:spPr>
        <p:txBody>
          <a:bodyPr wrap="square">
            <a:spAutoFit/>
          </a:bodyPr>
          <a:lstStyle/>
          <a:p>
            <a:r>
              <a:rPr lang="en-US" sz="2800" b="1" dirty="0" smtClean="0">
                <a:solidFill>
                  <a:schemeClr val="tx2"/>
                </a:solidFill>
                <a:latin typeface="+mj-lt"/>
              </a:rPr>
              <a:t>Steigende private Verschuldung in den Schwellenländern und Risiken am Wohnimmobilienmarkt in den fortgeschrittenen Volkswirtschaften</a:t>
            </a:r>
          </a:p>
        </p:txBody>
      </p:sp>
      <p:sp>
        <p:nvSpPr>
          <p:cNvPr id="10" name="TextBox 9"/>
          <p:cNvSpPr txBox="1"/>
          <p:nvPr/>
        </p:nvSpPr>
        <p:spPr>
          <a:xfrm>
            <a:off x="249870" y="6210405"/>
            <a:ext cx="8378047"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Anmerkung: Schwellenländer ohne China ist ein ungewichteter Durchschnitt der Quoten für Argentinien, Brasilien, Kolumbien, Indien, Indonesien, Mexiko, Russland, Malaysia, Südafrika und die Türkei.Quelle: BIZ; OECD Analytical House Price-Datenbank; und OECD-Berechnungen.</a:t>
            </a:r>
          </a:p>
        </p:txBody>
      </p:sp>
      <p:sp>
        <p:nvSpPr>
          <p:cNvPr id="12" name="Rectangle 11"/>
          <p:cNvSpPr/>
          <p:nvPr/>
        </p:nvSpPr>
        <p:spPr>
          <a:xfrm>
            <a:off x="323528" y="1268760"/>
            <a:ext cx="3771930" cy="615553"/>
          </a:xfrm>
          <a:prstGeom prst="rect">
            <a:avLst/>
          </a:prstGeom>
        </p:spPr>
        <p:txBody>
          <a:bodyPr wrap="none">
            <a:spAutoFit/>
          </a:bodyPr>
          <a:lstStyle/>
          <a:p>
            <a:r>
              <a:rPr lang="en-GB" sz="2000" b="1" dirty="0" smtClean="0">
                <a:solidFill>
                  <a:schemeClr val="bg2">
                    <a:lumMod val="10000"/>
                  </a:schemeClr>
                </a:solidFill>
                <a:latin typeface="Calibri" pitchFamily="34" charset="0"/>
              </a:rPr>
              <a:t>Kredite an den privaten nichtfinanziellen Sektor</a:t>
            </a:r>
          </a:p>
          <a:p>
            <a:r>
              <a:rPr lang="en-GB" sz="2000" b="1" dirty="0" smtClean="0">
                <a:solidFill>
                  <a:schemeClr val="bg2">
                    <a:lumMod val="10000"/>
                  </a:schemeClr>
                </a:solidFill>
                <a:latin typeface="Calibri" pitchFamily="34" charset="0"/>
              </a:rPr>
              <a:t/>
            </a:r>
          </a:p>
        </p:txBody>
      </p:sp>
      <p:sp>
        <p:nvSpPr>
          <p:cNvPr id="13" name="Rectangle 12"/>
          <p:cNvSpPr/>
          <p:nvPr/>
        </p:nvSpPr>
        <p:spPr>
          <a:xfrm>
            <a:off x="5416096" y="1268760"/>
            <a:ext cx="2820259" cy="584775"/>
          </a:xfrm>
          <a:prstGeom prst="rect">
            <a:avLst/>
          </a:prstGeom>
        </p:spPr>
        <p:txBody>
          <a:bodyPr wrap="none">
            <a:spAutoFit/>
          </a:bodyPr>
          <a:lstStyle/>
          <a:p>
            <a:r>
              <a:rPr lang="en-GB" sz="2000" b="1" dirty="0" smtClean="0">
                <a:solidFill>
                  <a:schemeClr val="bg2">
                    <a:lumMod val="10000"/>
                  </a:schemeClr>
                </a:solidFill>
                <a:latin typeface="Calibri" pitchFamily="34" charset="0"/>
              </a:rPr>
              <a:t>Verhältnis von Immobilienpreis zu Miete</a:t>
            </a:r>
          </a:p>
          <a:p>
            <a:r>
              <a:rPr lang="en-GB" sz="2000" b="1" dirty="0" smtClean="0">
                <a:solidFill>
                  <a:schemeClr val="bg2">
                    <a:lumMod val="10000"/>
                  </a:schemeClr>
                </a:solidFill>
                <a:latin typeface="Calibri" pitchFamily="34" charset="0"/>
              </a:rPr>
              <a:t>Durchschnitt seit 1980 = 100</a:t>
            </a:r>
          </a:p>
        </p:txBody>
      </p:sp>
    </p:spTree>
    <p:extLst>
      <p:ext uri="{BB962C8B-B14F-4D97-AF65-F5344CB8AC3E}">
        <p14:creationId xmlns:p14="http://schemas.microsoft.com/office/powerpoint/2010/main" val="40757288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main.oecd.org\sdataECO\Units\FRONTOFFICE\Economic Outlooks\EO101\Data and charts\PPT_Figs_E\E_Handout_Fig_Core_inflation_2005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56" y="1536187"/>
            <a:ext cx="4524044" cy="5133171"/>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11</a:t>
            </a:fld>
            <a:endParaRPr lang="en-GB" dirty="0"/>
          </a:p>
        </p:txBody>
      </p:sp>
      <p:sp>
        <p:nvSpPr>
          <p:cNvPr id="4" name="Rectangle 3"/>
          <p:cNvSpPr/>
          <p:nvPr/>
        </p:nvSpPr>
        <p:spPr>
          <a:xfrm>
            <a:off x="797998" y="241893"/>
            <a:ext cx="8378047" cy="954107"/>
          </a:xfrm>
          <a:prstGeom prst="rect">
            <a:avLst/>
          </a:prstGeom>
        </p:spPr>
        <p:txBody>
          <a:bodyPr wrap="square">
            <a:spAutoFit/>
          </a:bodyPr>
          <a:lstStyle/>
          <a:p>
            <a:r>
              <a:rPr lang="en-US" sz="2800" b="1" dirty="0" smtClean="0">
                <a:solidFill>
                  <a:schemeClr val="tx2"/>
                </a:solidFill>
                <a:latin typeface="+mj-lt"/>
              </a:rPr>
              <a:t>Die Inflation liegt im Allgemeinen unter den Zielwerten; eine mögliche Zinsdivergenz schafft finanzielle Risiken</a:t>
            </a:r>
          </a:p>
        </p:txBody>
      </p:sp>
      <p:sp>
        <p:nvSpPr>
          <p:cNvPr id="5" name="TextBox 4"/>
          <p:cNvSpPr txBox="1"/>
          <p:nvPr/>
        </p:nvSpPr>
        <p:spPr>
          <a:xfrm>
            <a:off x="-66286" y="1319510"/>
            <a:ext cx="4824536" cy="52322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Kerninflation</a:t>
            </a:r>
          </a:p>
        </p:txBody>
      </p:sp>
      <p:sp>
        <p:nvSpPr>
          <p:cNvPr id="7" name="TextBox 6"/>
          <p:cNvSpPr txBox="1"/>
          <p:nvPr/>
        </p:nvSpPr>
        <p:spPr>
          <a:xfrm>
            <a:off x="161255" y="6042154"/>
            <a:ext cx="8352930" cy="830997"/>
          </a:xfrm>
          <a:prstGeom prst="rect">
            <a:avLst/>
          </a:prstGeom>
          <a:noFill/>
        </p:spPr>
        <p:txBody>
          <a:bodyPr wrap="square" rtlCol="0">
            <a:spAutoFit/>
          </a:bodyPr>
          <a:lstStyle/>
          <a:p>
            <a:r>
              <a:rPr lang="en-GB" sz="1200" dirty="0" smtClean="0">
                <a:solidFill>
                  <a:schemeClr val="bg2">
                    <a:lumMod val="10000"/>
                  </a:schemeClr>
                </a:solidFill>
                <a:latin typeface="Calibri" panose="020F0502020204030204" pitchFamily="34" charset="0"/>
              </a:rPr>
              <a:t>Anmerkung: Die Kerninflation für Japan ist um die Auswirkungen der Erhöhungen der Verbrauchsteuer bereinigt.Quelle: OECD Economic Outlook-Datenbank, Juni 2017; Bloomberg; und OECD-Berechnungen.</a:t>
            </a:r>
          </a:p>
        </p:txBody>
      </p:sp>
      <p:pic>
        <p:nvPicPr>
          <p:cNvPr id="7171" name="Picture 3" descr="\\main.oecd.org\sdataECO\Units\FRONTOFFICE\Economic Outlooks\EO101\Data and charts\PPT_Figs_E\E_Handout_Fig_IR_expected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27985" y="1772816"/>
            <a:ext cx="4659328" cy="489654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4337720" y="1245618"/>
            <a:ext cx="4824536" cy="1015663"/>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Marktbasierte Erwartungen für die Tagesgeldzinsen</a:t>
            </a:r>
          </a:p>
          <a:p>
            <a:r>
              <a:rPr lang="en-US" sz="2000" b="1" dirty="0" smtClean="0">
                <a:solidFill>
                  <a:schemeClr val="bg2">
                    <a:lumMod val="10000"/>
                  </a:schemeClr>
                </a:solidFill>
                <a:latin typeface="Calibri" pitchFamily="34" charset="0"/>
              </a:rPr>
              <a:t>15-Tage-Durchschnitt</a:t>
            </a:r>
          </a:p>
        </p:txBody>
      </p:sp>
      <p:cxnSp>
        <p:nvCxnSpPr>
          <p:cNvPr id="9" name="Straight Arrow Connector 8"/>
          <p:cNvCxnSpPr/>
          <p:nvPr/>
        </p:nvCxnSpPr>
        <p:spPr>
          <a:xfrm>
            <a:off x="8524459" y="4848612"/>
            <a:ext cx="0" cy="720080"/>
          </a:xfrm>
          <a:prstGeom prst="straightConnector1">
            <a:avLst/>
          </a:prstGeom>
          <a:ln w="22225">
            <a:solidFill>
              <a:schemeClr val="bg2">
                <a:lumMod val="10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41678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12</a:t>
            </a:fld>
            <a:endParaRPr lang="en-GB" dirty="0"/>
          </a:p>
        </p:txBody>
      </p:sp>
      <p:sp>
        <p:nvSpPr>
          <p:cNvPr id="9" name="Rectangle 8"/>
          <p:cNvSpPr/>
          <p:nvPr/>
        </p:nvSpPr>
        <p:spPr>
          <a:xfrm>
            <a:off x="333802" y="2554540"/>
            <a:ext cx="8568952" cy="1323439"/>
          </a:xfrm>
          <a:prstGeom prst="rect">
            <a:avLst/>
          </a:prstGeom>
        </p:spPr>
        <p:txBody>
          <a:bodyPr wrap="square">
            <a:spAutoFit/>
          </a:bodyPr>
          <a:lstStyle/>
          <a:p>
            <a:r>
              <a:rPr lang="en-US" sz="4000" b="1" dirty="0" smtClean="0">
                <a:solidFill>
                  <a:schemeClr val="tx2"/>
                </a:solidFill>
                <a:latin typeface="+mj-lt"/>
              </a:rPr>
              <a:t>Diagnose der Herausforderung </a:t>
            </a:r>
          </a:p>
          <a:p>
            <a:r>
              <a:rPr lang="en-US" sz="4000" b="1" dirty="0" smtClean="0">
                <a:solidFill>
                  <a:schemeClr val="tx2"/>
                </a:solidFill>
                <a:latin typeface="+mj-lt"/>
              </a:rPr>
              <a:t>struktureller Trends </a:t>
            </a:r>
          </a:p>
        </p:txBody>
      </p:sp>
    </p:spTree>
    <p:extLst>
      <p:ext uri="{BB962C8B-B14F-4D97-AF65-F5344CB8AC3E}">
        <p14:creationId xmlns:p14="http://schemas.microsoft.com/office/powerpoint/2010/main" val="198832779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main.oecd.org\sdataECO\Units\FRONTOFFICE\Economic Outlooks\EO101\Data and charts\PPT_Figs_E\E_Handout_Fig_Trade_by_typ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3" y="1674697"/>
            <a:ext cx="4608512" cy="463462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13</a:t>
            </a:fld>
            <a:endParaRPr lang="en-GB" dirty="0"/>
          </a:p>
        </p:txBody>
      </p:sp>
      <p:sp>
        <p:nvSpPr>
          <p:cNvPr id="11" name="Rectangle 10"/>
          <p:cNvSpPr/>
          <p:nvPr/>
        </p:nvSpPr>
        <p:spPr>
          <a:xfrm>
            <a:off x="638751" y="457533"/>
            <a:ext cx="8640960" cy="523220"/>
          </a:xfrm>
          <a:prstGeom prst="rect">
            <a:avLst/>
          </a:prstGeom>
        </p:spPr>
        <p:txBody>
          <a:bodyPr wrap="square">
            <a:spAutoFit/>
          </a:bodyPr>
          <a:lstStyle/>
          <a:p>
            <a:r>
              <a:rPr lang="en-US" sz="2800" b="1" dirty="0" smtClean="0">
                <a:solidFill>
                  <a:schemeClr val="tx2"/>
                </a:solidFill>
                <a:latin typeface="+mj-lt"/>
              </a:rPr>
              <a:t>Handelsspezialisierung und -muster haben sich verschoben</a:t>
            </a:r>
          </a:p>
        </p:txBody>
      </p:sp>
      <p:sp>
        <p:nvSpPr>
          <p:cNvPr id="8" name="TextBox 7"/>
          <p:cNvSpPr txBox="1"/>
          <p:nvPr/>
        </p:nvSpPr>
        <p:spPr>
          <a:xfrm>
            <a:off x="-180528" y="1268050"/>
            <a:ext cx="5063780" cy="584775"/>
          </a:xfrm>
          <a:prstGeom prst="rect">
            <a:avLst/>
          </a:prstGeom>
          <a:noFill/>
        </p:spPr>
        <p:txBody>
          <a:bodyPr wrap="square" rtlCol="0">
            <a:spAutoFit/>
          </a:bodyPr>
          <a:lstStyle/>
          <a:p>
            <a:r>
              <a:rPr lang="en-US" sz="2000" b="1" dirty="0">
                <a:solidFill>
                  <a:schemeClr val="bg2">
                    <a:lumMod val="10000"/>
                  </a:schemeClr>
                </a:solidFill>
                <a:latin typeface="Calibri" pitchFamily="34" charset="0"/>
              </a:rPr>
              <a:t>Welthandel mit Gütern</a:t>
            </a:r>
          </a:p>
          <a:p>
            <a:r>
              <a:rPr lang="en-US" sz="2000" b="1" dirty="0">
                <a:solidFill>
                  <a:schemeClr val="bg2">
                    <a:lumMod val="10000"/>
                  </a:schemeClr>
                </a:solidFill>
                <a:latin typeface="Calibri" pitchFamily="34" charset="0"/>
              </a:rPr>
              <a:t>Anteil an den weltweiten Güterexporten, Mengen</a:t>
            </a:r>
          </a:p>
        </p:txBody>
      </p:sp>
      <p:sp>
        <p:nvSpPr>
          <p:cNvPr id="15" name="TextBox 14"/>
          <p:cNvSpPr txBox="1"/>
          <p:nvPr/>
        </p:nvSpPr>
        <p:spPr>
          <a:xfrm>
            <a:off x="4386149" y="1264791"/>
            <a:ext cx="4836199" cy="892552"/>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Welthandel nach Art</a:t>
            </a:r>
          </a:p>
          <a:p>
            <a:r>
              <a:rPr lang="en-US" sz="2000" b="1" dirty="0" smtClean="0">
                <a:solidFill>
                  <a:schemeClr val="bg2">
                    <a:lumMod val="10000"/>
                  </a:schemeClr>
                </a:solidFill>
                <a:latin typeface="Calibri" pitchFamily="34" charset="0"/>
              </a:rPr>
              <a:t>Exporte, Werte</a:t>
            </a:r>
          </a:p>
          <a:p>
            <a:r>
              <a:rPr lang="en-US" sz="2000" b="1" dirty="0" smtClean="0">
                <a:solidFill>
                  <a:schemeClr val="bg2">
                    <a:lumMod val="10000"/>
                  </a:schemeClr>
                </a:solidFill>
                <a:latin typeface="Calibri" pitchFamily="34" charset="0"/>
              </a:rPr>
              <a:t/>
            </a:r>
          </a:p>
        </p:txBody>
      </p:sp>
      <p:graphicFrame>
        <p:nvGraphicFramePr>
          <p:cNvPr id="14" name="Chart 13"/>
          <p:cNvGraphicFramePr>
            <a:graphicFrameLocks/>
          </p:cNvGraphicFramePr>
          <p:nvPr>
            <p:extLst>
              <p:ext uri="{D42A27DB-BD31-4B8C-83A1-F6EECF244321}">
                <p14:modId xmlns:p14="http://schemas.microsoft.com/office/powerpoint/2010/main" val="3083796744"/>
              </p:ext>
            </p:extLst>
          </p:nvPr>
        </p:nvGraphicFramePr>
        <p:xfrm>
          <a:off x="-252536" y="1711067"/>
          <a:ext cx="5743576" cy="4638675"/>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323528" y="6112036"/>
            <a:ext cx="8208912"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Anmerkung: Linke Achse – Zu den dynamischen asiatischen Volkswirtschaften zählen Malaysia, die Philippinen, Singapur, Thailand, Vietnam, Chinesisch-Taipeh und Hongkong.Rechte Achse – Unternehmensdienstleistungen umfassen FuE, IKT, Immobilien und sonstige unternehmensbezogene Tätigkeiten. Finanzdienstleistungen umfassen Finanzintermediation, Versicherungen, Altersvorsorge und sonstige Finanztätigkeiten. </a:t>
            </a:r>
          </a:p>
          <a:p>
            <a:r>
              <a:rPr lang="en-GB" sz="1100" dirty="0" smtClean="0">
                <a:solidFill>
                  <a:srgbClr val="171717"/>
                </a:solidFill>
                <a:latin typeface="Calibri" panose="020F0502020204030204" pitchFamily="34" charset="0"/>
              </a:rPr>
              <a:t>Quelle: OECD-WTO Trade in Value Added (TiVA)-Datenbank; UN Comtrade-Datenbank; und OECD-Berechnungen.</a:t>
            </a:r>
          </a:p>
        </p:txBody>
      </p:sp>
    </p:spTree>
    <p:extLst>
      <p:ext uri="{BB962C8B-B14F-4D97-AF65-F5344CB8AC3E}">
        <p14:creationId xmlns:p14="http://schemas.microsoft.com/office/powerpoint/2010/main" val="94895087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in.oecd.org\sdataECO\Units\FRONTOFFICE\Economic Outlooks\EO101\Data and charts\PPT_Figs_E\E_Handout_Fig_Job_polaris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1286" y="1519894"/>
            <a:ext cx="7920880" cy="480909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14</a:t>
            </a:fld>
            <a:endParaRPr lang="en-GB" dirty="0"/>
          </a:p>
        </p:txBody>
      </p:sp>
      <p:sp>
        <p:nvSpPr>
          <p:cNvPr id="4" name="Title 3"/>
          <p:cNvSpPr>
            <a:spLocks noGrp="1"/>
          </p:cNvSpPr>
          <p:nvPr>
            <p:ph type="title"/>
          </p:nvPr>
        </p:nvSpPr>
        <p:spPr>
          <a:xfrm>
            <a:off x="837687" y="188640"/>
            <a:ext cx="7416000" cy="1022400"/>
          </a:xfrm>
        </p:spPr>
        <p:txBody>
          <a:bodyPr/>
          <a:lstStyle/>
          <a:p>
            <a:r>
              <a:rPr lang="en-US" sz="2800" b="1" dirty="0" smtClean="0">
                <a:solidFill>
                  <a:schemeClr val="tx2"/>
                </a:solidFill>
              </a:rPr>
              <a:t>Arbeitsplatzverluste konzentrierten sich auf Menschen mit mittleren Qualifikationen</a:t>
            </a:r>
          </a:p>
        </p:txBody>
      </p:sp>
      <p:sp>
        <p:nvSpPr>
          <p:cNvPr id="9" name="TextBox 8"/>
          <p:cNvSpPr txBox="1"/>
          <p:nvPr/>
        </p:nvSpPr>
        <p:spPr>
          <a:xfrm>
            <a:off x="782187" y="6242491"/>
            <a:ext cx="8208912" cy="646331"/>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Anmerkung: OECD ist der ungewichtete Durchschnitt von 24 Ländern. Für Japan 1995-2010.</a:t>
            </a:r>
          </a:p>
          <a:p>
            <a:r>
              <a:rPr lang="en-GB" sz="1200" dirty="0" smtClean="0">
                <a:solidFill>
                  <a:srgbClr val="171717"/>
                </a:solidFill>
                <a:latin typeface="Calibri" panose="020F0502020204030204" pitchFamily="34" charset="0"/>
              </a:rPr>
              <a:t>Quelle: OECD Employment Outlook 2017; Arbeitskräfteerhebung der Europäischen Union; Arbeitskräfteerhebungen für Kanada, Japan und die Vereinigten Staaten; und OECD-Berechnungen.</a:t>
            </a:r>
          </a:p>
        </p:txBody>
      </p:sp>
      <p:sp>
        <p:nvSpPr>
          <p:cNvPr id="10" name="TextBox 9"/>
          <p:cNvSpPr txBox="1"/>
          <p:nvPr/>
        </p:nvSpPr>
        <p:spPr>
          <a:xfrm>
            <a:off x="1213354" y="1276185"/>
            <a:ext cx="6696744"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Beschäftigungspolarisierung nach Ländern</a:t>
            </a:r>
          </a:p>
          <a:p>
            <a:r>
              <a:rPr lang="en-US" sz="2000" b="1" dirty="0" smtClean="0">
                <a:solidFill>
                  <a:schemeClr val="bg2">
                    <a:lumMod val="10000"/>
                  </a:schemeClr>
                </a:solidFill>
                <a:latin typeface="Calibri" pitchFamily="34" charset="0"/>
              </a:rPr>
              <a:t>Veränderung des Anteils an der Gesamtbeschäftigung nach Qualifikationsniveau, 1995-2015</a:t>
            </a:r>
          </a:p>
        </p:txBody>
      </p:sp>
      <p:sp>
        <p:nvSpPr>
          <p:cNvPr id="8" name="Rectangle 7"/>
          <p:cNvSpPr/>
          <p:nvPr/>
        </p:nvSpPr>
        <p:spPr>
          <a:xfrm rot="10800000">
            <a:off x="4983498" y="2726899"/>
            <a:ext cx="853824" cy="3334601"/>
          </a:xfrm>
          <a:prstGeom prst="rect">
            <a:avLst/>
          </a:prstGeom>
          <a:noFill/>
          <a:ln w="38100">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80398364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main.oecd.org\sdataECO\Units\FRONTOFFICE\Economic Outlooks\EO101\Data and charts\PPT_Figs_E\E_Handout_Fig_Export_complexity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6710" y="1587614"/>
            <a:ext cx="8055276" cy="4799135"/>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15</a:t>
            </a:fld>
            <a:endParaRPr lang="en-GB" dirty="0"/>
          </a:p>
        </p:txBody>
      </p:sp>
      <p:sp>
        <p:nvSpPr>
          <p:cNvPr id="7" name="Rectangle 6"/>
          <p:cNvSpPr/>
          <p:nvPr/>
        </p:nvSpPr>
        <p:spPr>
          <a:xfrm>
            <a:off x="576709" y="242718"/>
            <a:ext cx="8640960" cy="954107"/>
          </a:xfrm>
          <a:prstGeom prst="rect">
            <a:avLst/>
          </a:prstGeom>
        </p:spPr>
        <p:txBody>
          <a:bodyPr wrap="square">
            <a:spAutoFit/>
          </a:bodyPr>
          <a:lstStyle/>
          <a:p>
            <a:r>
              <a:rPr lang="en-US" sz="2800" b="1" dirty="0">
                <a:solidFill>
                  <a:schemeClr val="tx2"/>
                </a:solidFill>
                <a:latin typeface="+mj-lt"/>
              </a:rPr>
              <a:t>Die fortgeschrittenen Volkswirtschaften sind in der Wertschöpfungskette aufgestiegen, doch auch die Schwellenländer holen auf</a:t>
            </a:r>
          </a:p>
        </p:txBody>
      </p:sp>
      <p:sp>
        <p:nvSpPr>
          <p:cNvPr id="11" name="TextBox 10"/>
          <p:cNvSpPr txBox="1"/>
          <p:nvPr/>
        </p:nvSpPr>
        <p:spPr>
          <a:xfrm>
            <a:off x="187979" y="6130595"/>
            <a:ext cx="8444006"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Anmerkung: In nominalen Werten. Am wenigsten komplex ist das 1. Quartil der Produkte nach Komplexität (z. B. Buntstifte), am komplexesten das 4. Quartil (z. B. medizinische Geräte), ohne wichtige Rohstoffe. Zu den dynamischen asiatischen Volkswirtschaften zählen Malaysia, die Philippinen, Singapur, Thailand, Vietnam, Chinesisch-Taipeh und Hongkong. Europa ist der ungewichtete Durchschnitt von Tschechien, Frankreich, Deutschland, Irland, Italien, Polen, Portugal und dem Vereinigten Königreich.</a:t>
            </a:r>
          </a:p>
          <a:p>
            <a:r>
              <a:rPr lang="en-GB" sz="1100" dirty="0" smtClean="0">
                <a:solidFill>
                  <a:srgbClr val="171717"/>
                </a:solidFill>
                <a:latin typeface="Calibri" panose="020F0502020204030204" pitchFamily="34" charset="0"/>
              </a:rPr>
              <a:t>Quelle: UN Comtrade-Datenbank; und OECD-Berechnungen.</a:t>
            </a:r>
          </a:p>
        </p:txBody>
      </p:sp>
      <p:cxnSp>
        <p:nvCxnSpPr>
          <p:cNvPr id="4" name="Straight Connector 3"/>
          <p:cNvCxnSpPr/>
          <p:nvPr/>
        </p:nvCxnSpPr>
        <p:spPr>
          <a:xfrm>
            <a:off x="3887766" y="2174042"/>
            <a:ext cx="0" cy="37445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267744" y="1265431"/>
            <a:ext cx="4536504"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Anteil der Exportgüter nach Komplexität</a:t>
            </a:r>
          </a:p>
        </p:txBody>
      </p:sp>
    </p:spTree>
    <p:extLst>
      <p:ext uri="{BB962C8B-B14F-4D97-AF65-F5344CB8AC3E}">
        <p14:creationId xmlns:p14="http://schemas.microsoft.com/office/powerpoint/2010/main" val="54893769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Witheridge_W\AppData\Local\Microsoft\Windows\Temporary Internet Files\Content.Outlook\4375M1S6\E_Handout_Fig_Factors_Manuf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8452" y="1592450"/>
            <a:ext cx="8546943" cy="466606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16</a:t>
            </a:fld>
            <a:endParaRPr lang="en-GB" dirty="0"/>
          </a:p>
        </p:txBody>
      </p:sp>
      <p:sp>
        <p:nvSpPr>
          <p:cNvPr id="4" name="Title 3"/>
          <p:cNvSpPr>
            <a:spLocks noGrp="1"/>
          </p:cNvSpPr>
          <p:nvPr>
            <p:ph type="title"/>
          </p:nvPr>
        </p:nvSpPr>
        <p:spPr>
          <a:xfrm>
            <a:off x="772213" y="188640"/>
            <a:ext cx="8352928" cy="1022400"/>
          </a:xfrm>
        </p:spPr>
        <p:txBody>
          <a:bodyPr/>
          <a:lstStyle/>
          <a:p>
            <a:r>
              <a:rPr lang="en-GB" sz="2800" b="1" dirty="0" smtClean="0">
                <a:solidFill>
                  <a:schemeClr val="tx2"/>
                </a:solidFill>
                <a:ea typeface="+mn-ea"/>
                <a:cs typeface="+mn-cs"/>
              </a:rPr>
              <a:t>Arbeitsplatzverluste im verarbeitenden Gewerbe und die Rolle von Technologie und Verbraucherpräferenzen gegenüber dem Handel</a:t>
            </a:r>
          </a:p>
        </p:txBody>
      </p:sp>
      <p:sp>
        <p:nvSpPr>
          <p:cNvPr id="9" name="TextBox 8"/>
          <p:cNvSpPr txBox="1"/>
          <p:nvPr/>
        </p:nvSpPr>
        <p:spPr>
          <a:xfrm>
            <a:off x="755576" y="6088558"/>
            <a:ext cx="7992888"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Anmerkung: Zerlegung auf Basis einer Regressionsschätzung. Jeder Faktor beruht auf der Veränderung über den Zeitraum. Technologie und Verbraucherpräferenzen umfassen Investitionen in IKT und Maschinen, Veränderungen des Anteils des verarbeitenden Gewerbes am Konsum sowie zeitspezifische Effekte.</a:t>
            </a:r>
          </a:p>
          <a:p>
            <a:r>
              <a:rPr lang="en-GB" sz="1100" dirty="0" smtClean="0">
                <a:solidFill>
                  <a:srgbClr val="171717"/>
                </a:solidFill>
                <a:latin typeface="Calibri" panose="020F0502020204030204" pitchFamily="34" charset="0"/>
              </a:rPr>
              <a:t>Quelle: OECD Economic Outlook-Datenbank; STAN-Datenbank; und OECD-Berechnungen.</a:t>
            </a:r>
          </a:p>
        </p:txBody>
      </p:sp>
      <p:sp>
        <p:nvSpPr>
          <p:cNvPr id="7" name="TextBox 6"/>
          <p:cNvSpPr txBox="1"/>
          <p:nvPr/>
        </p:nvSpPr>
        <p:spPr>
          <a:xfrm>
            <a:off x="1149484" y="1289593"/>
            <a:ext cx="6696744"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Faktoren zur Erklärung des Rückgangs der Arbeitsplätze im verarbeitenden Gewerbe</a:t>
            </a:r>
          </a:p>
          <a:p>
            <a:r>
              <a:rPr lang="en-US" sz="2000" b="1" dirty="0" smtClean="0">
                <a:solidFill>
                  <a:schemeClr val="bg2">
                    <a:lumMod val="10000"/>
                  </a:schemeClr>
                </a:solidFill>
                <a:latin typeface="Calibri" pitchFamily="34" charset="0"/>
              </a:rPr>
              <a:t>Veränderung des Anteils an der Gesamtbeschäftigung, Jahresdurchschnitt 1990-2008</a:t>
            </a:r>
          </a:p>
        </p:txBody>
      </p:sp>
    </p:spTree>
    <p:extLst>
      <p:ext uri="{BB962C8B-B14F-4D97-AF65-F5344CB8AC3E}">
        <p14:creationId xmlns:p14="http://schemas.microsoft.com/office/powerpoint/2010/main" val="23621851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eographical_concentr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324" y="1536187"/>
            <a:ext cx="7551099" cy="465427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17</a:t>
            </a:fld>
            <a:endParaRPr lang="en-GB" dirty="0"/>
          </a:p>
        </p:txBody>
      </p:sp>
      <p:sp>
        <p:nvSpPr>
          <p:cNvPr id="4" name="Title 3"/>
          <p:cNvSpPr>
            <a:spLocks noGrp="1"/>
          </p:cNvSpPr>
          <p:nvPr>
            <p:ph type="title"/>
          </p:nvPr>
        </p:nvSpPr>
        <p:spPr>
          <a:xfrm>
            <a:off x="1080000" y="194269"/>
            <a:ext cx="7416000" cy="1022400"/>
          </a:xfrm>
        </p:spPr>
        <p:txBody>
          <a:bodyPr/>
          <a:lstStyle/>
          <a:p>
            <a:r>
              <a:rPr lang="en-US" sz="2800" b="1" dirty="0" smtClean="0">
                <a:solidFill>
                  <a:schemeClr val="tx2"/>
                </a:solidFill>
              </a:rPr>
              <a:t>Der Rückgang des verarbeitenden Gewerbes ist von Bedeutung, weil die Aktivität regional konzentriert ist</a:t>
            </a:r>
          </a:p>
        </p:txBody>
      </p:sp>
      <p:sp>
        <p:nvSpPr>
          <p:cNvPr id="6" name="TextBox 5"/>
          <p:cNvSpPr txBox="1"/>
          <p:nvPr/>
        </p:nvSpPr>
        <p:spPr>
          <a:xfrm>
            <a:off x="1620652" y="1269371"/>
            <a:ext cx="5832648" cy="584775"/>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Geografischer Konzentrationsindex nach Sektoren</a:t>
            </a:r>
          </a:p>
          <a:p>
            <a:r>
              <a:rPr lang="en-US" sz="2000" b="1" dirty="0" smtClean="0">
                <a:solidFill>
                  <a:schemeClr val="bg2">
                    <a:lumMod val="10000"/>
                  </a:schemeClr>
                </a:solidFill>
                <a:latin typeface="Calibri" pitchFamily="34" charset="0"/>
              </a:rPr>
              <a:t>Durchschnitt von 2000 bis 2015 oder letzter Stand</a:t>
            </a:r>
          </a:p>
        </p:txBody>
      </p:sp>
      <p:sp>
        <p:nvSpPr>
          <p:cNvPr id="7" name="TextBox 6"/>
          <p:cNvSpPr txBox="1"/>
          <p:nvPr/>
        </p:nvSpPr>
        <p:spPr>
          <a:xfrm>
            <a:off x="73637" y="5991622"/>
            <a:ext cx="8435360" cy="900246"/>
          </a:xfrm>
          <a:prstGeom prst="rect">
            <a:avLst/>
          </a:prstGeom>
          <a:noFill/>
        </p:spPr>
        <p:txBody>
          <a:bodyPr wrap="square" rtlCol="0">
            <a:spAutoFit/>
          </a:bodyPr>
          <a:lstStyle/>
          <a:p>
            <a:r>
              <a:rPr lang="en-US" sz="1050" dirty="0">
                <a:solidFill>
                  <a:srgbClr val="171717"/>
                </a:solidFill>
                <a:latin typeface="Calibri" panose="020F0502020204030204" pitchFamily="34" charset="0"/>
              </a:rPr>
              <a:t>Anmerkung: „Handel und Verteilung“ umfasst Handel und Reparaturen, Verkehr und Lagerei sowie Gastgewerbe. Der Index misst, in welchem Maße die Beschäftigung in bestimmten Regionen konzentriert ist, und reicht von 0 (keine Konzentration, wenn alle Regionen eines Landes dieselbe Beschäftigungsquote im verarbeitenden Gewerbe aufweisen) bis 100 (maximale Konzentration, wenn die gesamte Beschäftigung im verarbeitenden Gewerbe in der kleinsten Region konzentriert ist). Der Index berücksichtigt die Größe der Region und beruht auf OECD (2003) „Geographic Concentration and Territorial Disparity in OECD Countries“. Quelle: OECD Regional-Datenbank; und OECD-Berechnungen.</a:t>
            </a:r>
          </a:p>
        </p:txBody>
      </p:sp>
      <p:cxnSp>
        <p:nvCxnSpPr>
          <p:cNvPr id="8" name="Straight Arrow Connector 7"/>
          <p:cNvCxnSpPr/>
          <p:nvPr/>
        </p:nvCxnSpPr>
        <p:spPr>
          <a:xfrm flipV="1">
            <a:off x="6129959" y="2518348"/>
            <a:ext cx="0" cy="94826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982487" y="2704622"/>
            <a:ext cx="1345891" cy="523220"/>
          </a:xfrm>
          <a:prstGeom prst="rect">
            <a:avLst/>
          </a:prstGeom>
          <a:noFill/>
        </p:spPr>
        <p:txBody>
          <a:bodyPr wrap="square" rtlCol="0">
            <a:spAutoFit/>
          </a:bodyPr>
          <a:lstStyle/>
          <a:p>
            <a:r>
              <a:rPr lang="en-GB" sz="1400" b="1" dirty="0" smtClean="0">
                <a:solidFill>
                  <a:schemeClr val="bg2">
                    <a:lumMod val="10000"/>
                  </a:schemeClr>
                </a:solidFill>
                <a:latin typeface="Calibri" panose="020F0502020204030204" pitchFamily="34" charset="0"/>
              </a:rPr>
              <a:t>Stärker konzentriert</a:t>
            </a:r>
          </a:p>
        </p:txBody>
      </p:sp>
    </p:spTree>
    <p:extLst>
      <p:ext uri="{BB962C8B-B14F-4D97-AF65-F5344CB8AC3E}">
        <p14:creationId xmlns:p14="http://schemas.microsoft.com/office/powerpoint/2010/main" val="193903858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main.oecd.org\sdataECO\Units\FRONTOFFICE\Economic Outlooks\EO101\Data and charts\PPT_Figs_E\E_Handout_Fig_Manufacturing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600" y="1484744"/>
            <a:ext cx="8387061" cy="501143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18</a:t>
            </a:fld>
            <a:endParaRPr lang="en-GB" dirty="0"/>
          </a:p>
        </p:txBody>
      </p:sp>
      <p:sp>
        <p:nvSpPr>
          <p:cNvPr id="4" name="Title 3"/>
          <p:cNvSpPr>
            <a:spLocks noGrp="1"/>
          </p:cNvSpPr>
          <p:nvPr>
            <p:ph type="title"/>
          </p:nvPr>
        </p:nvSpPr>
        <p:spPr>
          <a:xfrm>
            <a:off x="1009408" y="188640"/>
            <a:ext cx="7632024" cy="1022400"/>
          </a:xfrm>
        </p:spPr>
        <p:txBody>
          <a:bodyPr/>
          <a:lstStyle/>
          <a:p>
            <a:r>
              <a:rPr lang="en-US" sz="2800" b="1" dirty="0" smtClean="0">
                <a:solidFill>
                  <a:schemeClr val="tx2"/>
                </a:solidFill>
              </a:rPr>
              <a:t>Länder mit stärkeren Rückgängen der Arbeitsplätze im verarbeitenden Gewerbe haben eine höhere regionale Ungleichheit</a:t>
            </a:r>
          </a:p>
        </p:txBody>
      </p:sp>
      <p:sp>
        <p:nvSpPr>
          <p:cNvPr id="6" name="TextBox 5"/>
          <p:cNvSpPr txBox="1"/>
          <p:nvPr/>
        </p:nvSpPr>
        <p:spPr>
          <a:xfrm>
            <a:off x="1065079" y="6411722"/>
            <a:ext cx="8208912" cy="461665"/>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Quelle: OECD Regional-Datenbank; und OECD-Berechnungen.</a:t>
            </a:r>
          </a:p>
        </p:txBody>
      </p:sp>
      <p:sp>
        <p:nvSpPr>
          <p:cNvPr id="18" name="TextBox 17"/>
          <p:cNvSpPr txBox="1"/>
          <p:nvPr/>
        </p:nvSpPr>
        <p:spPr>
          <a:xfrm>
            <a:off x="3777136" y="1312302"/>
            <a:ext cx="5832648" cy="492443"/>
          </a:xfrm>
          <a:prstGeom prst="rect">
            <a:avLst/>
          </a:prstGeom>
          <a:noFill/>
        </p:spPr>
        <p:txBody>
          <a:bodyPr wrap="square" rtlCol="0">
            <a:spAutoFit/>
          </a:bodyPr>
          <a:lstStyle/>
          <a:p>
            <a:r>
              <a:rPr lang="en-US" sz="1400" b="1" dirty="0" smtClean="0">
                <a:solidFill>
                  <a:schemeClr val="bg2">
                    <a:lumMod val="10000"/>
                  </a:schemeClr>
                </a:solidFill>
                <a:latin typeface="Calibri" pitchFamily="34" charset="0"/>
              </a:rPr>
              <a:t>Veränderung der durchschnittlichen Einkommensungleichheit zwischen Regionen 2000 bis 2015 oder letzter Stand, Verhältnis der 90:50-Perzentile, %-Punkte</a:t>
            </a:r>
          </a:p>
        </p:txBody>
      </p:sp>
      <p:sp>
        <p:nvSpPr>
          <p:cNvPr id="19" name="TextBox 18"/>
          <p:cNvSpPr txBox="1"/>
          <p:nvPr/>
        </p:nvSpPr>
        <p:spPr>
          <a:xfrm>
            <a:off x="3344003" y="6093934"/>
            <a:ext cx="6316577" cy="492443"/>
          </a:xfrm>
          <a:prstGeom prst="rect">
            <a:avLst/>
          </a:prstGeom>
          <a:noFill/>
        </p:spPr>
        <p:txBody>
          <a:bodyPr wrap="square" rtlCol="0">
            <a:spAutoFit/>
          </a:bodyPr>
          <a:lstStyle/>
          <a:p>
            <a:r>
              <a:rPr lang="en-US" sz="1400" b="1" dirty="0" smtClean="0">
                <a:solidFill>
                  <a:schemeClr val="bg2">
                    <a:lumMod val="10000"/>
                  </a:schemeClr>
                </a:solidFill>
                <a:latin typeface="Calibri" pitchFamily="34" charset="0"/>
              </a:rPr>
              <a:t>Veränderung der nationalen Beschäftigungsquote im verarbeitenden Gewerbe 2000 bis 2015 oder letzter Stand, %-Punkte</a:t>
            </a:r>
          </a:p>
        </p:txBody>
      </p:sp>
      <p:cxnSp>
        <p:nvCxnSpPr>
          <p:cNvPr id="20" name="Straight Arrow Connector 19"/>
          <p:cNvCxnSpPr/>
          <p:nvPr/>
        </p:nvCxnSpPr>
        <p:spPr>
          <a:xfrm flipV="1">
            <a:off x="1403759" y="2239070"/>
            <a:ext cx="0" cy="129614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 y="2485347"/>
            <a:ext cx="1455962" cy="738664"/>
          </a:xfrm>
          <a:prstGeom prst="rect">
            <a:avLst/>
          </a:prstGeom>
          <a:noFill/>
        </p:spPr>
        <p:txBody>
          <a:bodyPr wrap="square" rtlCol="0">
            <a:spAutoFit/>
          </a:bodyPr>
          <a:lstStyle/>
          <a:p>
            <a:r>
              <a:rPr lang="en-US" sz="1400" b="1" dirty="0">
                <a:solidFill>
                  <a:schemeClr val="bg2">
                    <a:lumMod val="10000"/>
                  </a:schemeClr>
                </a:solidFill>
                <a:latin typeface="Calibri" panose="020F0502020204030204" pitchFamily="34" charset="0"/>
              </a:rPr>
              <a:t>Zunehmende Streuung der regionalen Einkommen</a:t>
            </a:r>
          </a:p>
        </p:txBody>
      </p:sp>
      <p:sp>
        <p:nvSpPr>
          <p:cNvPr id="22" name="TextBox 21"/>
          <p:cNvSpPr txBox="1"/>
          <p:nvPr/>
        </p:nvSpPr>
        <p:spPr>
          <a:xfrm>
            <a:off x="1344490" y="5273326"/>
            <a:ext cx="2343700" cy="523220"/>
          </a:xfrm>
          <a:prstGeom prst="rect">
            <a:avLst/>
          </a:prstGeom>
          <a:noFill/>
        </p:spPr>
        <p:txBody>
          <a:bodyPr wrap="square" rtlCol="0">
            <a:spAutoFit/>
          </a:bodyPr>
          <a:lstStyle/>
          <a:p>
            <a:r>
              <a:rPr lang="en-GB" sz="1400" b="1" dirty="0" smtClean="0">
                <a:solidFill>
                  <a:schemeClr val="bg2">
                    <a:lumMod val="10000"/>
                  </a:schemeClr>
                </a:solidFill>
                <a:latin typeface="Calibri" panose="020F0502020204030204" pitchFamily="34" charset="0"/>
              </a:rPr>
              <a:t>Rückgang des Anteils der Arbeitsplätze im verarbeitenden Gewerbe</a:t>
            </a:r>
          </a:p>
        </p:txBody>
      </p:sp>
      <p:cxnSp>
        <p:nvCxnSpPr>
          <p:cNvPr id="23" name="Straight Arrow Connector 22"/>
          <p:cNvCxnSpPr/>
          <p:nvPr/>
        </p:nvCxnSpPr>
        <p:spPr>
          <a:xfrm flipH="1">
            <a:off x="1803890" y="5244298"/>
            <a:ext cx="1440160" cy="0"/>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857102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19</a:t>
            </a:fld>
            <a:endParaRPr lang="en-GB" dirty="0"/>
          </a:p>
        </p:txBody>
      </p:sp>
      <p:sp>
        <p:nvSpPr>
          <p:cNvPr id="9" name="Rectangle 8"/>
          <p:cNvSpPr/>
          <p:nvPr/>
        </p:nvSpPr>
        <p:spPr>
          <a:xfrm>
            <a:off x="323528" y="2492896"/>
            <a:ext cx="8568952" cy="2554545"/>
          </a:xfrm>
          <a:prstGeom prst="rect">
            <a:avLst/>
          </a:prstGeom>
        </p:spPr>
        <p:txBody>
          <a:bodyPr wrap="square">
            <a:spAutoFit/>
          </a:bodyPr>
          <a:lstStyle/>
          <a:p>
            <a:r>
              <a:rPr lang="en-US" sz="4000" b="1" dirty="0" smtClean="0">
                <a:solidFill>
                  <a:srgbClr val="006299"/>
                </a:solidFill>
                <a:latin typeface="Arial"/>
              </a:rPr>
              <a:t>Ein integrierter Politikansatz ist nötig, um auf Strukturtrends zu reagieren und die Globalisierung für alle nutzbar zu machen</a:t>
            </a:r>
          </a:p>
        </p:txBody>
      </p:sp>
    </p:spTree>
    <p:extLst>
      <p:ext uri="{BB962C8B-B14F-4D97-AF65-F5344CB8AC3E}">
        <p14:creationId xmlns:p14="http://schemas.microsoft.com/office/powerpoint/2010/main" val="341896841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2" descr="\\main.oecd.org\sdataECO\Units\FRONTOFFICE\Economic Outlooks\EO101\Data and charts\PPT_Figs_E\E_Handout_Fig_GfG_Reforms_Trad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2466" y="1803122"/>
            <a:ext cx="4277184" cy="4938246"/>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20</a:t>
            </a:fld>
            <a:endParaRPr lang="en-GB" dirty="0"/>
          </a:p>
        </p:txBody>
      </p:sp>
      <p:sp>
        <p:nvSpPr>
          <p:cNvPr id="4" name="Rectangle 3"/>
          <p:cNvSpPr/>
          <p:nvPr/>
        </p:nvSpPr>
        <p:spPr>
          <a:xfrm>
            <a:off x="539552" y="246721"/>
            <a:ext cx="8509760" cy="954107"/>
          </a:xfrm>
          <a:prstGeom prst="rect">
            <a:avLst/>
          </a:prstGeom>
        </p:spPr>
        <p:txBody>
          <a:bodyPr wrap="square">
            <a:spAutoFit/>
          </a:bodyPr>
          <a:lstStyle/>
          <a:p>
            <a:r>
              <a:rPr lang="en-GB" sz="2800" b="1" dirty="0">
                <a:solidFill>
                  <a:srgbClr val="006299"/>
                </a:solidFill>
                <a:latin typeface="Arial"/>
              </a:rPr>
              <a:t>Das internationale System besser zum Funktionieren bringen und gleichere Wettbewerbsbedingungen schaffen</a:t>
            </a:r>
          </a:p>
        </p:txBody>
      </p:sp>
      <p:graphicFrame>
        <p:nvGraphicFramePr>
          <p:cNvPr id="16" name="Diagram 15"/>
          <p:cNvGraphicFramePr/>
          <p:nvPr>
            <p:extLst>
              <p:ext uri="{D42A27DB-BD31-4B8C-83A1-F6EECF244321}">
                <p14:modId xmlns:p14="http://schemas.microsoft.com/office/powerpoint/2010/main" val="2048557882"/>
              </p:ext>
            </p:extLst>
          </p:nvPr>
        </p:nvGraphicFramePr>
        <p:xfrm>
          <a:off x="4499992" y="1628800"/>
          <a:ext cx="4536504" cy="4896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TextBox 11"/>
          <p:cNvSpPr txBox="1"/>
          <p:nvPr/>
        </p:nvSpPr>
        <p:spPr>
          <a:xfrm>
            <a:off x="298439" y="6442502"/>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Anmerkung: umfasst alle OECD- und BRIICS-Länder, die EU und Kolumbien.</a:t>
            </a:r>
          </a:p>
          <a:p>
            <a:r>
              <a:rPr lang="en-GB" sz="1050" dirty="0" smtClean="0">
                <a:solidFill>
                  <a:schemeClr val="bg2">
                    <a:lumMod val="10000"/>
                  </a:schemeClr>
                </a:solidFill>
                <a:latin typeface="Calibri" panose="020F0502020204030204" pitchFamily="34" charset="0"/>
              </a:rPr>
              <a:t>Quelle: OECD Going for Growth 2017</a:t>
            </a:r>
          </a:p>
        </p:txBody>
      </p:sp>
      <p:sp>
        <p:nvSpPr>
          <p:cNvPr id="10" name="TextBox 9"/>
          <p:cNvSpPr txBox="1"/>
          <p:nvPr/>
        </p:nvSpPr>
        <p:spPr>
          <a:xfrm>
            <a:off x="-244002" y="1323915"/>
            <a:ext cx="4824536" cy="769441"/>
          </a:xfrm>
          <a:prstGeom prst="rect">
            <a:avLst/>
          </a:prstGeom>
          <a:noFill/>
        </p:spPr>
        <p:txBody>
          <a:bodyPr wrap="square" rtlCol="0">
            <a:spAutoFit/>
          </a:bodyPr>
          <a:lstStyle/>
          <a:p>
            <a:r>
              <a:rPr lang="en-US" sz="1600" b="1" dirty="0">
                <a:solidFill>
                  <a:schemeClr val="bg2">
                    <a:lumMod val="10000"/>
                  </a:schemeClr>
                </a:solidFill>
                <a:latin typeface="Calibri" pitchFamily="34" charset="0"/>
              </a:rPr>
              <a:t>Maßnahmen als Reaktion auf die Empfehlungen des OECD Going for Growth Anzahl der Reformen, 2015-16</a:t>
            </a:r>
          </a:p>
        </p:txBody>
      </p:sp>
    </p:spTree>
    <p:extLst>
      <p:ext uri="{BB962C8B-B14F-4D97-AF65-F5344CB8AC3E}">
        <p14:creationId xmlns:p14="http://schemas.microsoft.com/office/powerpoint/2010/main" val="54626207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main.oecd.org\sdataECO\Units\FRONTOFFICE\Economic Outlooks\EO101\Data and charts\PPT_Figs_E\E_Handout_Fig_GfG_Reforms_Other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7504" y="1635074"/>
            <a:ext cx="8957618" cy="489027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21</a:t>
            </a:fld>
            <a:endParaRPr lang="en-GB" dirty="0"/>
          </a:p>
        </p:txBody>
      </p:sp>
      <p:sp>
        <p:nvSpPr>
          <p:cNvPr id="4" name="Rectangle 3"/>
          <p:cNvSpPr/>
          <p:nvPr/>
        </p:nvSpPr>
        <p:spPr>
          <a:xfrm>
            <a:off x="467544" y="221321"/>
            <a:ext cx="8509760" cy="954107"/>
          </a:xfrm>
          <a:prstGeom prst="rect">
            <a:avLst/>
          </a:prstGeom>
        </p:spPr>
        <p:txBody>
          <a:bodyPr wrap="square">
            <a:spAutoFit/>
          </a:bodyPr>
          <a:lstStyle/>
          <a:p>
            <a:r>
              <a:rPr lang="en-US" sz="2800" b="1" dirty="0" smtClean="0">
                <a:solidFill>
                  <a:schemeClr val="tx2"/>
                </a:solidFill>
                <a:latin typeface="+mj-lt"/>
              </a:rPr>
              <a:t>Inländische Reformpakete umsetzen, um inklusives Wachstum zu stärken</a:t>
            </a:r>
          </a:p>
        </p:txBody>
      </p:sp>
      <p:sp>
        <p:nvSpPr>
          <p:cNvPr id="8" name="TextBox 7"/>
          <p:cNvSpPr txBox="1"/>
          <p:nvPr/>
        </p:nvSpPr>
        <p:spPr>
          <a:xfrm>
            <a:off x="886272" y="1315367"/>
            <a:ext cx="7327056" cy="338554"/>
          </a:xfrm>
          <a:prstGeom prst="rect">
            <a:avLst/>
          </a:prstGeom>
          <a:noFill/>
        </p:spPr>
        <p:txBody>
          <a:bodyPr wrap="square" rtlCol="0">
            <a:spAutoFit/>
          </a:bodyPr>
          <a:lstStyle/>
          <a:p>
            <a:r>
              <a:rPr lang="en-US" sz="1600" b="1" dirty="0">
                <a:solidFill>
                  <a:schemeClr val="bg2">
                    <a:lumMod val="10000"/>
                  </a:schemeClr>
                </a:solidFill>
                <a:latin typeface="Calibri" pitchFamily="34" charset="0"/>
              </a:rPr>
              <a:t>Maßnahmen als Reaktion auf die Empfehlungen des OECD Going for Growth</a:t>
            </a:r>
          </a:p>
        </p:txBody>
      </p:sp>
      <p:sp>
        <p:nvSpPr>
          <p:cNvPr id="9" name="TextBox 8"/>
          <p:cNvSpPr txBox="1"/>
          <p:nvPr/>
        </p:nvSpPr>
        <p:spPr>
          <a:xfrm>
            <a:off x="755576" y="6441871"/>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Anmerkung: umfasst alle OECD- und BRIICS-Länder, die EU und Kolumbien.</a:t>
            </a:r>
          </a:p>
          <a:p>
            <a:r>
              <a:rPr lang="en-GB" sz="1050" dirty="0" smtClean="0">
                <a:solidFill>
                  <a:schemeClr val="bg2">
                    <a:lumMod val="10000"/>
                  </a:schemeClr>
                </a:solidFill>
                <a:latin typeface="Calibri" panose="020F0502020204030204" pitchFamily="34" charset="0"/>
              </a:rPr>
              <a:t>Quelle: OECD Going for Growth 2017</a:t>
            </a:r>
          </a:p>
        </p:txBody>
      </p:sp>
    </p:spTree>
    <p:extLst>
      <p:ext uri="{BB962C8B-B14F-4D97-AF65-F5344CB8AC3E}">
        <p14:creationId xmlns:p14="http://schemas.microsoft.com/office/powerpoint/2010/main" val="34472661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27584" y="243713"/>
            <a:ext cx="7920880" cy="954107"/>
          </a:xfrm>
          <a:prstGeom prst="rect">
            <a:avLst/>
          </a:prstGeom>
        </p:spPr>
        <p:txBody>
          <a:bodyPr wrap="square">
            <a:spAutoFit/>
          </a:bodyPr>
          <a:lstStyle/>
          <a:p>
            <a:r>
              <a:rPr lang="en-US" sz="2800" b="1" dirty="0" smtClean="0">
                <a:solidFill>
                  <a:schemeClr val="tx2"/>
                </a:solidFill>
                <a:latin typeface="+mj-lt"/>
              </a:rPr>
              <a:t> Menschen und freigesetzten Arbeitskräften helfen, sich anzupassen und neue Chancen zu ergreifen</a:t>
            </a:r>
          </a:p>
        </p:txBody>
      </p:sp>
      <p:sp>
        <p:nvSpPr>
          <p:cNvPr id="7" name="Slide Number Placeholder 6"/>
          <p:cNvSpPr>
            <a:spLocks noGrp="1"/>
          </p:cNvSpPr>
          <p:nvPr>
            <p:ph type="sldNum" sz="quarter" idx="12"/>
          </p:nvPr>
        </p:nvSpPr>
        <p:spPr/>
        <p:txBody>
          <a:bodyPr/>
          <a:lstStyle/>
          <a:p>
            <a:fld id="{FCE284C4-5ED1-4D6C-B7CC-2049C3062C5E}" type="slidenum">
              <a:rPr lang="en-GB" smtClean="0"/>
              <a:t>22</a:t>
            </a:fld>
            <a:endParaRPr lang="en-GB" dirty="0"/>
          </a:p>
        </p:txBody>
      </p:sp>
      <p:sp>
        <p:nvSpPr>
          <p:cNvPr id="6" name="TextBox 5"/>
          <p:cNvSpPr txBox="1"/>
          <p:nvPr/>
        </p:nvSpPr>
        <p:spPr>
          <a:xfrm>
            <a:off x="792229" y="6396335"/>
            <a:ext cx="7297353" cy="461665"/>
          </a:xfrm>
          <a:prstGeom prst="rect">
            <a:avLst/>
          </a:prstGeom>
          <a:noFill/>
        </p:spPr>
        <p:txBody>
          <a:bodyPr wrap="square" rtlCol="0">
            <a:spAutoFit/>
          </a:bodyPr>
          <a:lstStyle/>
          <a:p>
            <a:r>
              <a:rPr lang="en-GB" sz="1200" dirty="0" smtClean="0">
                <a:solidFill>
                  <a:schemeClr val="bg2">
                    <a:lumMod val="10000"/>
                  </a:schemeClr>
                </a:solidFill>
                <a:latin typeface="Calibri" panose="020F0502020204030204" pitchFamily="34" charset="0"/>
              </a:rPr>
              <a:t/>
            </a:r>
          </a:p>
          <a:p>
            <a:r>
              <a:rPr lang="en-GB" sz="1200" dirty="0" smtClean="0">
                <a:solidFill>
                  <a:schemeClr val="bg2">
                    <a:lumMod val="10000"/>
                  </a:schemeClr>
                </a:solidFill>
                <a:latin typeface="Calibri" panose="020F0502020204030204" pitchFamily="34" charset="0"/>
              </a:rPr>
              <a:t>Quelle: OECD Going for Growth 2017.</a:t>
            </a:r>
          </a:p>
        </p:txBody>
      </p:sp>
      <p:graphicFrame>
        <p:nvGraphicFramePr>
          <p:cNvPr id="5" name="Table 4"/>
          <p:cNvGraphicFramePr>
            <a:graphicFrameLocks noGrp="1"/>
          </p:cNvGraphicFramePr>
          <p:nvPr>
            <p:extLst>
              <p:ext uri="{D42A27DB-BD31-4B8C-83A1-F6EECF244321}">
                <p14:modId xmlns:p14="http://schemas.microsoft.com/office/powerpoint/2010/main" val="3501722210"/>
              </p:ext>
            </p:extLst>
          </p:nvPr>
        </p:nvGraphicFramePr>
        <p:xfrm>
          <a:off x="738565" y="1412772"/>
          <a:ext cx="7937892" cy="5036646"/>
        </p:xfrm>
        <a:graphic>
          <a:graphicData uri="http://schemas.openxmlformats.org/drawingml/2006/table">
            <a:tbl>
              <a:tblPr/>
              <a:tblGrid>
                <a:gridCol w="661491"/>
                <a:gridCol w="661491"/>
                <a:gridCol w="661491"/>
                <a:gridCol w="661491"/>
                <a:gridCol w="661491"/>
                <a:gridCol w="661491"/>
                <a:gridCol w="661491"/>
                <a:gridCol w="661491"/>
                <a:gridCol w="661491"/>
                <a:gridCol w="661491"/>
                <a:gridCol w="661491"/>
                <a:gridCol w="661491"/>
              </a:tblGrid>
              <a:tr h="383161">
                <a:tc gridSpan="7">
                  <a:txBody>
                    <a:bodyPr/>
                    <a:lstStyle/>
                    <a:p>
                      <a:pPr algn="l" rtl="0" fontAlgn="t"/>
                      <a:r>
                        <a:rPr lang="en-GB" sz="1600" b="0" i="1" u="none" strike="noStrike" dirty="0">
                          <a:solidFill>
                            <a:srgbClr val="171717"/>
                          </a:solidFill>
                          <a:effectLst/>
                          <a:latin typeface="Calibri"/>
                        </a:rPr>
                        <a:t> </a:t>
                      </a:r>
                    </a:p>
                  </a:txBody>
                  <a:tcPr marL="9525" marR="9525" marT="9525" marB="0">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algn="ctr" rtl="0" eaLnBrk="1" fontAlgn="ctr" latinLnBrk="0" hangingPunct="1"/>
                      <a:r>
                        <a:rPr kumimoji="0" lang="en-GB" sz="1400" b="1" i="0" u="none" strike="noStrike" kern="1200" dirty="0">
                          <a:solidFill>
                            <a:srgbClr val="171717"/>
                          </a:solidFill>
                          <a:effectLst/>
                          <a:latin typeface="Calibri"/>
                          <a:ea typeface="+mn-ea"/>
                          <a:cs typeface="+mn-cs"/>
                        </a:rPr>
                        <a:t>Countries with </a:t>
                      </a:r>
                      <a:r>
                        <a:rPr kumimoji="0" lang="en-GB" sz="1400" b="1" i="0" u="none" strike="noStrike" kern="1200" dirty="0" smtClean="0">
                          <a:solidFill>
                            <a:srgbClr val="171717"/>
                          </a:solidFill>
                          <a:effectLst/>
                          <a:latin typeface="Calibri"/>
                          <a:ea typeface="+mn-ea"/>
                          <a:cs typeface="+mn-cs"/>
                        </a:rPr>
                        <a:t>OECD</a:t>
                      </a:r>
                      <a:r>
                        <a:rPr kumimoji="0" lang="en-GB" sz="1400" b="1" i="0" u="none" strike="noStrike" kern="1200" baseline="0" dirty="0" smtClean="0">
                          <a:solidFill>
                            <a:srgbClr val="171717"/>
                          </a:solidFill>
                          <a:effectLst/>
                          <a:latin typeface="Calibri"/>
                          <a:ea typeface="+mn-ea"/>
                          <a:cs typeface="+mn-cs"/>
                        </a:rPr>
                        <a:t> </a:t>
                      </a:r>
                      <a:br>
                        <a:rPr kumimoji="0" lang="en-GB" sz="1400" b="1" i="0" u="none" strike="noStrike" kern="1200" baseline="0" dirty="0" smtClean="0">
                          <a:solidFill>
                            <a:srgbClr val="171717"/>
                          </a:solidFill>
                          <a:effectLst/>
                          <a:latin typeface="Calibri"/>
                          <a:ea typeface="+mn-ea"/>
                          <a:cs typeface="+mn-cs"/>
                        </a:rPr>
                      </a:br>
                      <a:r>
                        <a:rPr kumimoji="0" lang="en-GB" sz="1400" b="1" i="1" u="none" strike="noStrike" kern="1200" baseline="0" dirty="0" smtClean="0">
                          <a:solidFill>
                            <a:srgbClr val="171717"/>
                          </a:solidFill>
                          <a:effectLst/>
                          <a:latin typeface="Calibri"/>
                          <a:ea typeface="+mn-ea"/>
                          <a:cs typeface="+mn-cs"/>
                        </a:rPr>
                        <a:t>Going for Growth </a:t>
                      </a:r>
                      <a:r>
                        <a:rPr kumimoji="0" lang="en-GB" sz="1400" b="1" i="0" u="none" strike="noStrike" kern="1200" dirty="0" smtClean="0">
                          <a:solidFill>
                            <a:srgbClr val="171717"/>
                          </a:solidFill>
                          <a:effectLst/>
                          <a:latin typeface="Calibri"/>
                          <a:ea typeface="+mn-ea"/>
                          <a:cs typeface="+mn-cs"/>
                        </a:rPr>
                        <a:t>reform</a:t>
                      </a:r>
                      <a:r>
                        <a:rPr kumimoji="0" lang="en-GB" sz="1400" b="1" i="0" u="none" strike="noStrike" kern="1200" baseline="0" dirty="0" smtClean="0">
                          <a:solidFill>
                            <a:srgbClr val="171717"/>
                          </a:solidFill>
                          <a:effectLst/>
                          <a:latin typeface="Calibri"/>
                          <a:ea typeface="+mn-ea"/>
                          <a:cs typeface="+mn-cs"/>
                        </a:rPr>
                        <a:t> </a:t>
                      </a:r>
                      <a:r>
                        <a:rPr kumimoji="0" lang="en-GB" sz="1400" b="1" i="0" u="none" strike="noStrike" kern="1200" dirty="0" smtClean="0">
                          <a:solidFill>
                            <a:srgbClr val="171717"/>
                          </a:solidFill>
                          <a:effectLst/>
                          <a:latin typeface="Calibri"/>
                          <a:ea typeface="+mn-ea"/>
                          <a:cs typeface="+mn-cs"/>
                        </a:rPr>
                        <a:t>priority </a:t>
                      </a:r>
                      <a:endParaRPr kumimoji="0" lang="en-GB" sz="1400" b="1" i="0" u="none" strike="noStrike" kern="1200" dirty="0">
                        <a:solidFill>
                          <a:srgbClr val="171717"/>
                        </a:solidFill>
                        <a:effectLst/>
                        <a:latin typeface="Calibri"/>
                        <a:ea typeface="+mn-ea"/>
                        <a:cs typeface="+mn-cs"/>
                      </a:endParaRPr>
                    </a:p>
                  </a:txBody>
                  <a:tcPr marL="9525" marR="9525" marT="9525" marB="0" anchor="ctr">
                    <a:lnL>
                      <a:noFill/>
                    </a:lnL>
                    <a:lnR>
                      <a:noFill/>
                    </a:lnR>
                    <a:lnT>
                      <a:noFill/>
                    </a:lnT>
                    <a:lnB w="12700" cap="flat" cmpd="sng" algn="ctr">
                      <a:solidFill>
                        <a:schemeClr val="bg2">
                          <a:lumMod val="10000"/>
                        </a:schemeClr>
                      </a:solidFill>
                      <a:prstDash val="solid"/>
                      <a:round/>
                      <a:headEnd type="none" w="med" len="med"/>
                      <a:tailEnd type="none" w="med" len="med"/>
                    </a:lnB>
                  </a:tcPr>
                </a:tc>
                <a:tc hMerge="1">
                  <a:txBody>
                    <a:bodyPr/>
                    <a:lstStyle/>
                    <a:p>
                      <a:endParaRPr lang="en-GB"/>
                    </a:p>
                  </a:txBody>
                  <a:tcPr/>
                </a:tc>
                <a:tc hMerge="1">
                  <a:txBody>
                    <a:bodyPr/>
                    <a:lstStyle/>
                    <a:p>
                      <a:endParaRPr lang="en-GB"/>
                    </a:p>
                  </a:txBody>
                  <a:tcPr/>
                </a:tc>
                <a:tc hMerge="1">
                  <a:txBody>
                    <a:bodyPr/>
                    <a:lstStyle/>
                    <a:p>
                      <a:endParaRPr lang="en-GB"/>
                    </a:p>
                  </a:txBody>
                  <a:tcPr/>
                </a:tc>
                <a:tc rowSpan="2">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w="12700" cap="flat" cmpd="sng" algn="ctr">
                      <a:noFill/>
                      <a:prstDash val="solid"/>
                      <a:round/>
                      <a:headEnd type="none" w="med" len="med"/>
                      <a:tailEnd type="none" w="med" len="med"/>
                    </a:lnB>
                  </a:tcPr>
                </a:tc>
              </a:tr>
              <a:tr h="395521">
                <a:tc gridSpan="7">
                  <a:txBody>
                    <a:bodyPr/>
                    <a:lstStyle/>
                    <a:p>
                      <a:pPr algn="l" rtl="0" fontAlgn="ctr"/>
                      <a:r>
                        <a:rPr kumimoji="0" lang="en-GB" sz="1800" b="1" kern="1200" dirty="0" smtClean="0">
                          <a:solidFill>
                            <a:srgbClr val="17B917"/>
                          </a:solidFill>
                          <a:latin typeface="Calibri" panose="020F0502020204030204" pitchFamily="34" charset="0"/>
                          <a:ea typeface="+mn-ea"/>
                          <a:cs typeface="+mn-cs"/>
                        </a:rPr>
                        <a:t>Help laid-off</a:t>
                      </a:r>
                      <a:r>
                        <a:rPr kumimoji="0" lang="en-GB" sz="1800" b="1" kern="1200" baseline="0" dirty="0" smtClean="0">
                          <a:solidFill>
                            <a:srgbClr val="17B917"/>
                          </a:solidFill>
                          <a:latin typeface="Calibri" panose="020F0502020204030204" pitchFamily="34" charset="0"/>
                          <a:ea typeface="+mn-ea"/>
                          <a:cs typeface="+mn-cs"/>
                        </a:rPr>
                        <a:t> workers to find a new job</a:t>
                      </a:r>
                      <a:endParaRPr lang="en-GB" sz="18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vMerge="1">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tcPr>
                </a:tc>
              </a:tr>
              <a:tr h="766321">
                <a:tc gridSpan="7">
                  <a:txBody>
                    <a:bodyPr/>
                    <a:lstStyle/>
                    <a:p>
                      <a:pPr algn="l" rtl="0" fontAlgn="ctr"/>
                      <a:r>
                        <a:rPr lang="en-US" sz="1600" b="1" i="0" u="none" strike="noStrike" dirty="0" smtClean="0">
                          <a:solidFill>
                            <a:schemeClr val="bg2">
                              <a:lumMod val="10000"/>
                            </a:schemeClr>
                          </a:solidFill>
                          <a:effectLst/>
                          <a:latin typeface="Calibri"/>
                        </a:rPr>
                        <a:t>Increase the scope and efficiency of active labour market policies</a:t>
                      </a:r>
                    </a:p>
                  </a:txBody>
                  <a:tcPr marL="9525" marR="9525" marT="9525" marB="0" anchor="ctr">
                    <a:lnL>
                      <a:noFill/>
                    </a:lnL>
                    <a:lnR w="12700" cap="flat" cmpd="sng" algn="ctr">
                      <a:solidFill>
                        <a:srgbClr val="171717"/>
                      </a:solidFill>
                      <a:prstDash val="solid"/>
                      <a:round/>
                      <a:headEnd type="none" w="med" len="med"/>
                      <a:tailEnd type="none" w="med" len="med"/>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ARG ESP EST GBR GRC ISR ITA JPN LTU LUX LVA NLD SVN SVK USA ZAF</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rgbClr val="171717"/>
                      </a:solidFill>
                      <a:prstDash val="solid"/>
                      <a:round/>
                      <a:headEnd type="none" w="med" len="med"/>
                      <a:tailEnd type="none" w="med" len="med"/>
                    </a:lnL>
                    <a:lnR w="12700" cap="flat" cmpd="sng" algn="ctr">
                      <a:solidFill>
                        <a:srgbClr val="171717"/>
                      </a:solidFill>
                      <a:prstDash val="solid"/>
                      <a:round/>
                      <a:headEnd type="none" w="med" len="med"/>
                      <a:tailEnd type="none" w="med" len="med"/>
                    </a:lnR>
                    <a:lnT w="12700" cap="flat" cmpd="sng" algn="ctr">
                      <a:solidFill>
                        <a:srgbClr val="171717"/>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solidFill>
                      <a:srgbClr val="FFFFFF"/>
                    </a:solidFill>
                  </a:tcPr>
                </a:tc>
                <a:tc hMerge="1">
                  <a:txBody>
                    <a:bodyPr/>
                    <a:lstStyle/>
                    <a:p>
                      <a:endParaRPr lang="en-GB"/>
                    </a:p>
                  </a:txBody>
                  <a:tcPr/>
                </a:tc>
                <a:tc hMerge="1">
                  <a:txBody>
                    <a:bodyPr/>
                    <a:lstStyle/>
                    <a:p>
                      <a:endParaRPr lang="en-GB"/>
                    </a:p>
                  </a:txBody>
                  <a:tcPr/>
                </a:tc>
                <a:tc hMerge="1">
                  <a:txBody>
                    <a:bodyPr/>
                    <a:lstStyle/>
                    <a:p>
                      <a:endParaRPr lang="en-GB"/>
                    </a:p>
                  </a:txBody>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rgbClr val="171717"/>
                      </a:solidFill>
                      <a:prstDash val="solid"/>
                      <a:round/>
                      <a:headEnd type="none" w="med" len="med"/>
                      <a:tailEnd type="none" w="med" len="med"/>
                    </a:lnL>
                    <a:lnR>
                      <a:noFill/>
                    </a:lnR>
                    <a:lnT>
                      <a:noFill/>
                    </a:lnT>
                    <a:lnB>
                      <a:noFill/>
                    </a:lnB>
                  </a:tcPr>
                </a:tc>
              </a:tr>
              <a:tr h="395521">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645193">
                <a:tc gridSpan="7">
                  <a:txBody>
                    <a:bodyPr/>
                    <a:lstStyle/>
                    <a:p>
                      <a:pPr algn="l" rtl="0" fontAlgn="ctr"/>
                      <a:r>
                        <a:rPr lang="en-US" sz="1600" b="1" i="0" u="none" strike="noStrike" dirty="0" smtClean="0">
                          <a:solidFill>
                            <a:schemeClr val="bg2">
                              <a:lumMod val="10000"/>
                            </a:schemeClr>
                          </a:solidFill>
                          <a:effectLst/>
                          <a:latin typeface="Calibri"/>
                        </a:rPr>
                        <a:t>Boost job creation by reducing the tax wedge on </a:t>
                      </a:r>
                      <a:br>
                        <a:rPr lang="en-US" sz="1600" b="1" i="0" u="none" strike="noStrike" dirty="0" smtClean="0">
                          <a:solidFill>
                            <a:schemeClr val="bg2">
                              <a:lumMod val="10000"/>
                            </a:schemeClr>
                          </a:solidFill>
                          <a:effectLst/>
                          <a:latin typeface="Calibri"/>
                        </a:rPr>
                      </a:br>
                      <a:r>
                        <a:rPr lang="en-US" sz="1600" b="1" i="0" u="none" strike="noStrike" dirty="0" smtClean="0">
                          <a:solidFill>
                            <a:schemeClr val="bg2">
                              <a:lumMod val="10000"/>
                            </a:schemeClr>
                          </a:solidFill>
                          <a:effectLst/>
                          <a:latin typeface="Calibri"/>
                        </a:rPr>
                        <a:t>low-skilled workers </a:t>
                      </a: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BEL DEU ESP EST HUN </a:t>
                      </a:r>
                      <a:br>
                        <a:rPr kumimoji="0" lang="en-GB" sz="1400" b="1" kern="1200" dirty="0" smtClean="0">
                          <a:solidFill>
                            <a:schemeClr val="bg2">
                              <a:lumMod val="10000"/>
                            </a:schemeClr>
                          </a:solidFill>
                          <a:latin typeface="Arial Narrow" panose="020B0606020202030204" pitchFamily="34" charset="0"/>
                          <a:ea typeface="+mn-ea"/>
                          <a:cs typeface="+mn-cs"/>
                        </a:rPr>
                      </a:br>
                      <a:r>
                        <a:rPr kumimoji="0" lang="en-GB" sz="1400" b="1" kern="1200" dirty="0" smtClean="0">
                          <a:solidFill>
                            <a:schemeClr val="bg2">
                              <a:lumMod val="10000"/>
                            </a:schemeClr>
                          </a:solidFill>
                          <a:latin typeface="Arial Narrow" panose="020B0606020202030204" pitchFamily="34" charset="0"/>
                          <a:ea typeface="+mn-ea"/>
                          <a:cs typeface="+mn-cs"/>
                        </a:rPr>
                        <a:t>ITA LVA NLD POL TUR</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algn="l" fontAlgn="ct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r>
              <a:tr h="395521">
                <a:tc gridSpan="6">
                  <a:txBody>
                    <a:bodyPr/>
                    <a:lstStyle/>
                    <a:p>
                      <a:pPr algn="l" fontAlgn="ctr"/>
                      <a:r>
                        <a:rPr kumimoji="0" lang="en-GB" b="1" kern="1200" dirty="0" smtClean="0">
                          <a:solidFill>
                            <a:srgbClr val="17B917"/>
                          </a:solidFill>
                          <a:latin typeface="Calibri" panose="020F0502020204030204" pitchFamily="34" charset="0"/>
                          <a:ea typeface="+mn-ea"/>
                          <a:cs typeface="+mn-cs"/>
                        </a:rPr>
                        <a:t>Better prepare</a:t>
                      </a:r>
                      <a:r>
                        <a:rPr kumimoji="0" lang="en-GB" b="1" kern="1200" baseline="0" dirty="0" smtClean="0">
                          <a:solidFill>
                            <a:srgbClr val="17B917"/>
                          </a:solidFill>
                          <a:latin typeface="Calibri" panose="020F0502020204030204" pitchFamily="34" charset="0"/>
                          <a:ea typeface="+mn-ea"/>
                          <a:cs typeface="+mn-cs"/>
                        </a:rPr>
                        <a:t> people</a:t>
                      </a:r>
                      <a:r>
                        <a:rPr kumimoji="0" lang="en-GB" b="1" kern="1200" dirty="0" smtClean="0">
                          <a:solidFill>
                            <a:srgbClr val="17B917"/>
                          </a:solidFill>
                          <a:latin typeface="Calibri" panose="020F0502020204030204" pitchFamily="34" charset="0"/>
                          <a:ea typeface="+mn-ea"/>
                          <a:cs typeface="+mn-cs"/>
                        </a:rPr>
                        <a:t> for work</a:t>
                      </a: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a:noFill/>
                    </a:lnT>
                    <a:lnB>
                      <a:noFill/>
                    </a:lnB>
                  </a:tcPr>
                </a:tc>
              </a:tr>
              <a:tr h="645193">
                <a:tc gridSpan="7">
                  <a:txBody>
                    <a:bodyPr/>
                    <a:lstStyle/>
                    <a:p>
                      <a:pPr algn="l" rtl="0" fontAlgn="ctr"/>
                      <a:r>
                        <a:rPr lang="en-US" sz="1600" b="1" i="0" u="none" strike="noStrike" dirty="0" smtClean="0">
                          <a:solidFill>
                            <a:srgbClr val="171717"/>
                          </a:solidFill>
                          <a:effectLst/>
                          <a:latin typeface="Calibri"/>
                        </a:rPr>
                        <a:t>Expand and improve vocational training </a:t>
                      </a:r>
                      <a:br>
                        <a:rPr lang="en-US" sz="1600" b="1" i="0" u="none" strike="noStrike" dirty="0" smtClean="0">
                          <a:solidFill>
                            <a:srgbClr val="171717"/>
                          </a:solidFill>
                          <a:effectLst/>
                          <a:latin typeface="Calibri"/>
                        </a:rPr>
                      </a:br>
                      <a:r>
                        <a:rPr lang="en-US" sz="1600" b="1" i="0" u="none" strike="noStrike" dirty="0" smtClean="0">
                          <a:solidFill>
                            <a:srgbClr val="171717"/>
                          </a:solidFill>
                          <a:effectLst/>
                          <a:latin typeface="Calibri"/>
                        </a:rPr>
                        <a:t>and education</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ARG BRA CHN DNK ESP EST FRA GBR GRC IND POL PRT TUR ZAF</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en-GB" sz="1800" b="0" i="0" u="none" strike="noStrike" dirty="0" smtClean="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566089">
                <a:tc gridSpan="7">
                  <a:txBody>
                    <a:bodyPr/>
                    <a:lstStyle/>
                    <a:p>
                      <a:pPr algn="l" rtl="0" fontAlgn="ctr"/>
                      <a:r>
                        <a:rPr lang="en-US" sz="1600" b="1" i="0" u="none" strike="noStrike" dirty="0" smtClean="0">
                          <a:solidFill>
                            <a:srgbClr val="171717"/>
                          </a:solidFill>
                          <a:effectLst/>
                          <a:latin typeface="Calibri"/>
                        </a:rPr>
                        <a:t>Allocate education</a:t>
                      </a:r>
                      <a:r>
                        <a:rPr lang="en-US" sz="1600" b="1" i="0" u="none" strike="noStrike" baseline="0" dirty="0" smtClean="0">
                          <a:solidFill>
                            <a:srgbClr val="171717"/>
                          </a:solidFill>
                          <a:effectLst/>
                          <a:latin typeface="Calibri"/>
                        </a:rPr>
                        <a:t> </a:t>
                      </a:r>
                      <a:r>
                        <a:rPr lang="en-US" sz="1600" b="1" i="0" u="none" strike="noStrike" dirty="0" smtClean="0">
                          <a:solidFill>
                            <a:srgbClr val="171717"/>
                          </a:solidFill>
                          <a:effectLst/>
                          <a:latin typeface="Calibri"/>
                        </a:rPr>
                        <a:t>resources more equitably </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dirty="0"/>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CRI CZE DEU DNK FRA HUN </a:t>
                      </a:r>
                      <a:br>
                        <a:rPr lang="en-GB" sz="1400" b="1" i="0" u="none" strike="noStrike" dirty="0" smtClean="0">
                          <a:solidFill>
                            <a:srgbClr val="171717"/>
                          </a:solidFill>
                          <a:effectLst/>
                          <a:latin typeface="Arial Narrow"/>
                        </a:rPr>
                      </a:br>
                      <a:r>
                        <a:rPr lang="en-GB" sz="1400" b="1" i="0" u="none" strike="noStrike" dirty="0" smtClean="0">
                          <a:solidFill>
                            <a:srgbClr val="171717"/>
                          </a:solidFill>
                          <a:effectLst/>
                          <a:latin typeface="Arial Narrow"/>
                        </a:rPr>
                        <a:t>NZL POL PRT SWE USA</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bl>
          </a:graphicData>
        </a:graphic>
      </p:graphicFrame>
    </p:spTree>
    <p:extLst>
      <p:ext uri="{BB962C8B-B14F-4D97-AF65-F5344CB8AC3E}">
        <p14:creationId xmlns:p14="http://schemas.microsoft.com/office/powerpoint/2010/main" val="58372801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83568" y="238255"/>
            <a:ext cx="7920880" cy="954107"/>
          </a:xfrm>
          <a:prstGeom prst="rect">
            <a:avLst/>
          </a:prstGeom>
        </p:spPr>
        <p:txBody>
          <a:bodyPr wrap="square">
            <a:spAutoFit/>
          </a:bodyPr>
          <a:lstStyle/>
          <a:p>
            <a:r>
              <a:rPr lang="en-US" sz="2800" b="1" dirty="0" smtClean="0">
                <a:solidFill>
                  <a:srgbClr val="006299"/>
                </a:solidFill>
                <a:latin typeface="Arial"/>
              </a:rPr>
              <a:t>Handeln, um inklusives Wachstum zu stärken und die Globalisierung für alle nutzbar zu machen</a:t>
            </a:r>
          </a:p>
        </p:txBody>
      </p:sp>
      <p:sp>
        <p:nvSpPr>
          <p:cNvPr id="7" name="Slide Number Placeholder 6"/>
          <p:cNvSpPr>
            <a:spLocks noGrp="1"/>
          </p:cNvSpPr>
          <p:nvPr>
            <p:ph type="sldNum" sz="quarter" idx="12"/>
          </p:nvPr>
        </p:nvSpPr>
        <p:spPr/>
        <p:txBody>
          <a:bodyPr/>
          <a:lstStyle/>
          <a:p>
            <a:fld id="{FCE284C4-5ED1-4D6C-B7CC-2049C3062C5E}" type="slidenum">
              <a:rPr lang="en-GB" smtClean="0"/>
              <a:t>23</a:t>
            </a:fld>
            <a:endParaRPr lang="en-GB" dirty="0"/>
          </a:p>
        </p:txBody>
      </p:sp>
      <p:graphicFrame>
        <p:nvGraphicFramePr>
          <p:cNvPr id="5" name="Diagram 4"/>
          <p:cNvGraphicFramePr/>
          <p:nvPr>
            <p:extLst>
              <p:ext uri="{D42A27DB-BD31-4B8C-83A1-F6EECF244321}">
                <p14:modId xmlns:p14="http://schemas.microsoft.com/office/powerpoint/2010/main" val="2357626800"/>
              </p:ext>
            </p:extLst>
          </p:nvPr>
        </p:nvGraphicFramePr>
        <p:xfrm>
          <a:off x="539552" y="1412776"/>
          <a:ext cx="8208912" cy="50405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p:cNvSpPr txBox="1"/>
          <p:nvPr/>
        </p:nvSpPr>
        <p:spPr>
          <a:xfrm>
            <a:off x="827584" y="2564904"/>
            <a:ext cx="2664296"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Internationale Politik</a:t>
            </a:r>
          </a:p>
        </p:txBody>
      </p:sp>
      <p:sp>
        <p:nvSpPr>
          <p:cNvPr id="8" name="TextBox 7"/>
          <p:cNvSpPr txBox="1"/>
          <p:nvPr/>
        </p:nvSpPr>
        <p:spPr>
          <a:xfrm>
            <a:off x="395536" y="5063698"/>
            <a:ext cx="2664296" cy="400110"/>
          </a:xfrm>
          <a:prstGeom prst="rect">
            <a:avLst/>
          </a:prstGeom>
          <a:noFill/>
        </p:spPr>
        <p:txBody>
          <a:bodyPr wrap="square" rtlCol="0">
            <a:spAutoFit/>
          </a:bodyPr>
          <a:lstStyle/>
          <a:p>
            <a:r>
              <a:rPr lang="en-US" sz="2000" b="1" dirty="0" smtClean="0">
                <a:solidFill>
                  <a:schemeClr val="bg2">
                    <a:lumMod val="10000"/>
                  </a:schemeClr>
                </a:solidFill>
                <a:latin typeface="Calibri" pitchFamily="34" charset="0"/>
              </a:rPr>
              <a:t>Inländische Politik</a:t>
            </a:r>
          </a:p>
        </p:txBody>
      </p:sp>
    </p:spTree>
    <p:extLst>
      <p:ext uri="{BB962C8B-B14F-4D97-AF65-F5344CB8AC3E}">
        <p14:creationId xmlns:p14="http://schemas.microsoft.com/office/powerpoint/2010/main" val="1673071390"/>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2.xml><?xml version="1.0" encoding="utf-8"?>
<a:theme xmlns:a="http://schemas.openxmlformats.org/drawingml/2006/main" name="1_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item1.xml><?xml version="1.0" encoding="utf-8"?>
<ct:contentTypeSchema xmlns:ct="http://schemas.microsoft.com/office/2006/metadata/contentType" xmlns:ma="http://schemas.microsoft.com/office/2006/metadata/properties/metaAttributes" ct:_="" ma:_="" ma:contentTypeName="Working Document" ma:contentTypeID="0x0101008B4DD370EC31429186F3AD49F0D3098F00D44DBCB9EB4F45278CB5C9765BE5299500A4858B360C6A491AA753F8BCA47AA91000293773D153AD3C41920164F348570E54" ma:contentTypeVersion="509" ma:contentTypeDescription="Create a new document." ma:contentTypeScope="" ma:versionID="c4c89322ac7d9f1996d365e3690382e3">
  <xsd:schema xmlns:xsd="http://www.w3.org/2001/XMLSchema" xmlns:xs="http://www.w3.org/2001/XMLSchema" xmlns:p="http://schemas.microsoft.com/office/2006/metadata/properties" xmlns:ns1="http://schemas.microsoft.com/sharepoint/v3" xmlns:ns2="54c4cd27-f286-408f-9ce0-33c1e0f3ab39" xmlns:ns3="464847da-6e18-4144-8ad5-5857903e06b6" xmlns:ns4="b028c3f4-2795-4946-841c-2e1644b148e5" xmlns:ns5="c9f238dd-bb73-4aef-a7a5-d644ad823e52" xmlns:ns6="ca82dde9-3436-4d3d-bddd-d31447390034" xmlns:ns7="http://schemas.microsoft.com/sharepoint/v4" targetNamespace="http://schemas.microsoft.com/office/2006/metadata/properties" ma:root="true" ma:fieldsID="2df2112354f40aebef67c0cef3c00b8d" ns1:_="" ns2:_="" ns3:_="" ns4:_="" ns5:_="" ns6:_="" ns7:_="">
    <xsd:import namespace="http://schemas.microsoft.com/sharepoint/v3"/>
    <xsd:import namespace="54c4cd27-f286-408f-9ce0-33c1e0f3ab39"/>
    <xsd:import namespace="464847da-6e18-4144-8ad5-5857903e06b6"/>
    <xsd:import namespace="b028c3f4-2795-4946-841c-2e1644b148e5"/>
    <xsd:import namespace="c9f238dd-bb73-4aef-a7a5-d644ad823e52"/>
    <xsd:import namespace="ca82dde9-3436-4d3d-bddd-d31447390034"/>
    <xsd:import namespace="http://schemas.microsoft.com/sharepoint/v4"/>
    <xsd:element name="properties">
      <xsd:complexType>
        <xsd:sequence>
          <xsd:element name="documentManagement">
            <xsd:complexType>
              <xsd:all>
                <xsd:element ref="ns2:OECDKimStatus" minOccurs="0"/>
                <xsd:element ref="ns4:OECDProjectLookup"/>
                <xsd:element ref="ns3:_dlc_DocId" minOccurs="0"/>
                <xsd:element ref="ns3:_dlc_DocIdUrl" minOccurs="0"/>
                <xsd:element ref="ns4:OECDProjectManager" minOccurs="0"/>
                <xsd:element ref="ns4:OECDProjectMembers" minOccurs="0"/>
                <xsd:element ref="ns4:OECDTagsCache" minOccurs="0"/>
                <xsd:element ref="ns4:OECDPinnedBy" minOccurs="0"/>
                <xsd:element ref="ns5:eShareCountryTaxHTField0" minOccurs="0"/>
                <xsd:element ref="ns5:eShareTopicTaxHTField0" minOccurs="0"/>
                <xsd:element ref="ns5:eShareKeywordsTaxHTField0" minOccurs="0"/>
                <xsd:element ref="ns5:eShareCommitteeTaxHTField0" minOccurs="0"/>
                <xsd:element ref="ns5:eSharePWBTaxHTField0" minOccurs="0"/>
                <xsd:element ref="ns6:TaxCatchAll" minOccurs="0"/>
                <xsd:element ref="ns7:IconOverlay" minOccurs="0"/>
                <xsd:element ref="ns4:OECDMainProject" minOccurs="0"/>
                <xsd:element ref="ns2:OECDKimProvenance" minOccurs="0"/>
                <xsd:element ref="ns1:DocumentSetDescription" minOccurs="0"/>
                <xsd:element ref="ns3:OECDExpirationDate" minOccurs="0"/>
                <xsd:element ref="ns6:TaxCatchAllLabel" minOccurs="0"/>
                <xsd:element ref="ns2:OECDDocumentType" minOccurs="0"/>
                <xsd:element ref="ns2:OECDKimBussinessContext" minOccurs="0"/>
                <xsd:element ref="ns4:Project_x003A_ID1" minOccurs="0"/>
                <xsd:element ref="ns4:Project_x003a_Project_x0020_status" minOccurs="0"/>
                <xsd:element ref="ns4:Project_x003a_ID" minOccurs="0"/>
                <xsd:element ref="ns3:_dlc_DocIdPersistId" minOccurs="0"/>
                <xsd:element ref="ns3:bc65155f859f476689f41d2e239f3b65" minOccurs="0"/>
                <xsd:element ref="ns4:k521ff600dac4d78b40e1e44ce493525" minOccurs="0"/>
                <xsd:element ref="ns4:d6c688cd0ee448e4bbaea66e1be015fd" minOccurs="0"/>
                <xsd:element ref="ns4:g2112f02a3d4495984eca02be0a4d37c" minOccurs="0"/>
                <xsd:element ref="ns4:h8a48b2c364f47209a9f385904d38df5"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DocumentSetDescription" ma:index="33" nillable="true" ma:displayName="Description" ma:description="A description of the Document Set" ma:internalName="DocumentSetDescription" ma:readOnly="fals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4c4cd27-f286-408f-9ce0-33c1e0f3ab39" elementFormDefault="qualified">
    <xsd:import namespace="http://schemas.microsoft.com/office/2006/documentManagement/types"/>
    <xsd:import namespace="http://schemas.microsoft.com/office/infopath/2007/PartnerControls"/>
    <xsd:element name="OECDKimStatus" ma:index="7" nillable="true" ma:displayName="Kim status" ma:default="Draft" ma:description="" ma:format="Dropdown" ma:hidden="true" ma:internalName="OECDKimStatus">
      <xsd:simpleType>
        <xsd:restriction base="dms:Choice">
          <xsd:enumeration value="Draft"/>
          <xsd:enumeration value="Final"/>
        </xsd:restriction>
      </xsd:simpleType>
    </xsd:element>
    <xsd:element name="OECDKimProvenance" ma:index="30" nillable="true" ma:displayName="Kim provenance" ma:description="" ma:hidden="true" ma:internalName="OECDKimProvenance">
      <xsd:simpleType>
        <xsd:restriction base="dms:Text"/>
      </xsd:simpleType>
    </xsd:element>
    <xsd:element name="OECDDocumentType" ma:index="36" nillable="true" ma:displayName="Document Type" ma:description="" ma:hidden="true" ma:internalName="OECDDocumentType" ma:readOnly="false">
      <xsd:simpleType>
        <xsd:restriction base="dms:Text"/>
      </xsd:simpleType>
    </xsd:element>
    <xsd:element name="OECDKimBussinessContext" ma:index="37" nillable="true" ma:displayName="Kim business context" ma:description="" ma:hidden="true" ma:internalName="OECDKimBussinessContext">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4847da-6e18-4144-8ad5-5857903e06b6" elementFormDefault="qualified">
    <xsd:import namespace="http://schemas.microsoft.com/office/2006/documentManagement/types"/>
    <xsd:import namespace="http://schemas.microsoft.com/office/infopath/2007/PartnerControls"/>
    <xsd:element name="_dlc_DocId" ma:index="14" nillable="true" ma:displayName="Document ID" ma:description="" ma:hidden="true" ma:internalName="_dlc_DocId" ma:readOnly="true">
      <xsd:simpleType>
        <xsd:restriction base="dms:Text"/>
      </xsd:simpleType>
    </xsd:element>
    <xsd:element name="_dlc_DocIdUrl" ma:index="15" nillable="true" ma:displayName="Document ID" ma:description=""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OECDExpirationDate" ma:index="34" nillable="true" ma:displayName="Highlights" ma:default="" ma:description="" ma:format="DateOnly" ma:indexed="true" ma:internalName="OECDExpirationDate">
      <xsd:simpleType>
        <xsd:restriction base="dms:DateTime"/>
      </xsd:simpleType>
    </xsd:element>
    <xsd:element name="_dlc_DocIdPersistId" ma:index="42" nillable="true" ma:displayName="Persist ID" ma:description="Keep ID on add." ma:hidden="true" ma:internalName="_dlc_DocIdPersistId" ma:readOnly="true">
      <xsd:simpleType>
        <xsd:restriction base="dms:Boolean"/>
      </xsd:simpleType>
    </xsd:element>
    <xsd:element name="bc65155f859f476689f41d2e239f3b65" ma:index="43" nillable="true" ma:taxonomy="true" ma:internalName="bc65155f859f476689f41d2e239f3b65" ma:taxonomyFieldName="OECDHorizontalProjects" ma:displayName="Horizontal project" ma:default="" ma:fieldId="bc65155f-859f-4766-89f4-1d2e239f3b65" ma:taxonomyMulti="true" ma:sspId="27ec883c-a62c-444f-a935-fcddb579e39d" ma:termSetId="d3ca0e0e-65f9-44bf-9d98-5271504f6d61"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b028c3f4-2795-4946-841c-2e1644b148e5" elementFormDefault="qualified">
    <xsd:import namespace="http://schemas.microsoft.com/office/2006/documentManagement/types"/>
    <xsd:import namespace="http://schemas.microsoft.com/office/infopath/2007/PartnerControls"/>
    <xsd:element name="OECDProjectLookup" ma:index="8" ma:displayName="Project" ma:indexed="true" ma:list="8fd64a43-52c7-4b87-a931-a975dc3d108c" ma:internalName="OECDProjectLookup" ma:readOnly="false" ma:showField="OECDShortProjectName" ma:web="b028c3f4-2795-4946-841c-2e1644b148e5">
      <xsd:simpleType>
        <xsd:restriction base="dms:Unknown"/>
      </xsd:simpleType>
    </xsd:element>
    <xsd:element name="OECDProjectManager" ma:index="16" nillable="true" ma:displayName="Project manager" ma:description="" ma:hidden="true" ma:indexed="true" ma:internalName="OECDProjectManage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ProjectMembers" ma:index="17" nillable="true" ma:displayName="Project members" ma:description="" ma:hidden="true" ma:internalName="OECDProjectMembers"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TagsCache" ma:index="19" nillable="true" ma:displayName="Tags cache" ma:description="" ma:hidden="true" ma:internalName="OECDTagsCache">
      <xsd:simpleType>
        <xsd:restriction base="dms:Note">
          <xsd:maxLength value="255"/>
        </xsd:restriction>
      </xsd:simpleType>
    </xsd:element>
    <xsd:element name="OECDPinnedBy" ma:index="20" nillable="true" ma:displayName="Pinned by" ma:description="" ma:hidden="true" ma:internalName="OECDPinnedBy">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MainProject" ma:index="29" nillable="true" ma:displayName="Main project" ma:description="" ma:hidden="true" ma:list="8fd64a43-52c7-4b87-a931-a975dc3d108c" ma:internalName="OECDMainProject" ma:readOnly="false" ma:showField="OECDShortProjectName" ma:web="b028c3f4-2795-4946-841c-2e1644b148e5">
      <xsd:simpleType>
        <xsd:restriction base="dms:Unknown"/>
      </xsd:simpleType>
    </xsd:element>
    <xsd:element name="Project_x003A_ID1" ma:index="39" nillable="true" ma:displayName="Project:ID" ma:list="8fd64a43-52c7-4b87-a931-a975dc3d108c" ma:internalName="Project_x003A_ID1" ma:readOnly="true" ma:showField="ID" ma:web="b028c3f4-2795-4946-841c-2e1644b148e5">
      <xsd:simpleType>
        <xsd:restriction base="dms:Lookup"/>
      </xsd:simpleType>
    </xsd:element>
    <xsd:element name="Project_x003a_Project_x0020_status" ma:index="40" nillable="true" ma:displayName="Project:Project status" ma:hidden="true" ma:list="8fd64a43-52c7-4b87-a931-a975dc3d108c" ma:internalName="Project_x003A_Project_x0020_status" ma:readOnly="true" ma:showField="OECDProjectStatus" ma:web="b028c3f4-2795-4946-841c-2e1644b148e5">
      <xsd:simpleType>
        <xsd:restriction base="dms:Lookup"/>
      </xsd:simpleType>
    </xsd:element>
    <xsd:element name="Project_x003a_ID" ma:index="41" nillable="true" ma:displayName="Project:ID" ma:hidden="true" ma:list="8fd64a43-52c7-4b87-a931-a975dc3d108c" ma:internalName="Project_x003A_ID" ma:readOnly="true" ma:showField="ID" ma:web="b028c3f4-2795-4946-841c-2e1644b148e5">
      <xsd:simpleType>
        <xsd:restriction base="dms:Lookup"/>
      </xsd:simpleType>
    </xsd:element>
    <xsd:element name="k521ff600dac4d78b40e1e44ce493525" ma:index="44" nillable="true" ma:taxonomy="true" ma:internalName="k521ff600dac4d78b40e1e44ce493525" ma:taxonomyFieldName="OECDProjectOwnerStructure" ma:displayName="Project owner" ma:indexed="true" ma:readOnly="false" ma:default="" ma:fieldId="4521ff60-0dac-4d78-b40e-1e44ce493525" ma:sspId="27ec883c-a62c-444f-a935-fcddb579e39d" ma:termSetId="aeec4dcb-19ee-4bc0-941f-681845b568c9" ma:anchorId="00000000-0000-0000-0000-000000000000" ma:open="false" ma:isKeyword="false">
      <xsd:complexType>
        <xsd:sequence>
          <xsd:element ref="pc:Terms" minOccurs="0" maxOccurs="1"/>
        </xsd:sequence>
      </xsd:complexType>
    </xsd:element>
    <xsd:element name="d6c688cd0ee448e4bbaea66e1be015fd" ma:index="45" nillable="true" ma:displayName="Project partners_0" ma:hidden="true" ma:internalName="d6c688cd0ee448e4bbaea66e1be015fd">
      <xsd:simpleType>
        <xsd:restriction base="dms:Note"/>
      </xsd:simpleType>
    </xsd:element>
    <xsd:element name="g2112f02a3d4495984eca02be0a4d37c" ma:index="46" nillable="true" ma:displayName="Deliverable partners_0" ma:hidden="true" ma:internalName="g2112f02a3d4495984eca02be0a4d37c">
      <xsd:simpleType>
        <xsd:restriction base="dms:Note"/>
      </xsd:simpleType>
    </xsd:element>
    <xsd:element name="h8a48b2c364f47209a9f385904d38df5" ma:index="47" nillable="true" ma:displayName="Deliverable owner_0" ma:hidden="true" ma:internalName="h8a48b2c364f47209a9f385904d38df5">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9f238dd-bb73-4aef-a7a5-d644ad823e52" elementFormDefault="qualified">
    <xsd:import namespace="http://schemas.microsoft.com/office/2006/documentManagement/types"/>
    <xsd:import namespace="http://schemas.microsoft.com/office/infopath/2007/PartnerControls"/>
    <xsd:element name="eShareCountryTaxHTField0" ma:index="22" nillable="true" ma:displayName="eShareCountry_0" ma:description="" ma:hidden="true" ma:internalName="eShareCountryTaxHTField0">
      <xsd:simpleType>
        <xsd:restriction base="dms:Note"/>
      </xsd:simpleType>
    </xsd:element>
    <xsd:element name="eShareTopicTaxHTField0" ma:index="23" nillable="true" ma:displayName="eShareTopic_0" ma:description="" ma:hidden="true" ma:internalName="eShareTopicTaxHTField0">
      <xsd:simpleType>
        <xsd:restriction base="dms:Note"/>
      </xsd:simpleType>
    </xsd:element>
    <xsd:element name="eShareKeywordsTaxHTField0" ma:index="24" nillable="true" ma:displayName="eShareKeywords_0" ma:description="" ma:hidden="true" ma:internalName="eShareKeywordsTaxHTField0">
      <xsd:simpleType>
        <xsd:restriction base="dms:Note"/>
      </xsd:simpleType>
    </xsd:element>
    <xsd:element name="eShareCommitteeTaxHTField0" ma:index="25" nillable="true" ma:displayName="eShareCommittee_0" ma:description="" ma:hidden="true" ma:internalName="eShareCommitteeTaxHTField0">
      <xsd:simpleType>
        <xsd:restriction base="dms:Note"/>
      </xsd:simpleType>
    </xsd:element>
    <xsd:element name="eSharePWBTaxHTField0" ma:index="26" nillable="true" ma:displayName="eSharePWB_0" ma:description="" ma:hidden="true" ma:internalName="eSharePWBTaxHTField0">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a82dde9-3436-4d3d-bddd-d31447390034" elementFormDefault="qualified">
    <xsd:import namespace="http://schemas.microsoft.com/office/2006/documentManagement/types"/>
    <xsd:import namespace="http://schemas.microsoft.com/office/infopath/2007/PartnerControls"/>
    <xsd:element name="TaxCatchAll" ma:index="27" nillable="true" ma:displayName="Taxonomy Catch All Column" ma:hidden="true" ma:list="{f238c0b0-3384-41ab-af60-ab39d110a44d}" ma:internalName="TaxCatchAll" ma:showField="CatchAllData" ma:web="464847da-6e18-4144-8ad5-5857903e06b6">
      <xsd:complexType>
        <xsd:complexContent>
          <xsd:extension base="dms:MultiChoiceLookup">
            <xsd:sequence>
              <xsd:element name="Value" type="dms:Lookup" maxOccurs="unbounded" minOccurs="0" nillable="true"/>
            </xsd:sequence>
          </xsd:extension>
        </xsd:complexContent>
      </xsd:complexType>
    </xsd:element>
    <xsd:element name="TaxCatchAllLabel" ma:index="35" nillable="true" ma:displayName="Taxonomy Catch All Column1" ma:hidden="true" ma:list="{f238c0b0-3384-41ab-af60-ab39d110a44d}" ma:internalName="TaxCatchAllLabel" ma:readOnly="true" ma:showField="CatchAllDataLabel" ma:web="464847da-6e18-4144-8ad5-5857903e06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8"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0" ma:displayName="Content Type"/>
        <xsd:element ref="dc:title" minOccurs="0" maxOccurs="1" ma:index="0"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CtFieldPriority xmlns="http://www.oecd.org/eshare/projectsentre/CtFieldPriority/" xmlns:i="http://www.w3.org/2001/XMLSchema-instance" NameSpaceURI="http://www.oecd.org/eshare/projectsentre/CtFieldPriority/">
  <PriorityFields xmlns:a="http://schemas.microsoft.com/2003/10/Serialization/Arrays">
    <a:string>Title</a:string>
    <a:string>FileLeafRef</a:string>
    <a:string>OECDCountry</a:string>
    <a:string>OECDTopic</a:string>
    <a:string>OECDKeywords</a:string>
  </PriorityFields>
</CtFieldPriority>
</file>

<file path=customXml/item3.xml><?xml version="1.0" encoding="utf-8"?>
<?mso-contentType ?>
<spe:Receivers xmlns:spe="http://schemas.microsoft.com/sharepoint/events"/>
</file>

<file path=customXml/item4.xml><?xml version="1.0" encoding="utf-8"?>
<?mso-contentType ?>
<SharedContentType xmlns="Microsoft.SharePoint.Taxonomy.ContentTypeSync" SourceId="27ec883c-a62c-444f-a935-fcddb579e39d" ContentTypeId="0x0101008B4DD370EC31429186F3AD49F0D3098F00D44DBCB9EB4F45278CB5C9765BE52995" PreviousValue="false"/>
</file>

<file path=customXml/item5.xml><?xml version="1.0" encoding="utf-8"?>
<p:properties xmlns:p="http://schemas.microsoft.com/office/2006/metadata/properties" xmlns:xsi="http://www.w3.org/2001/XMLSchema-instance" xmlns:pc="http://schemas.microsoft.com/office/infopath/2007/PartnerControls">
  <documentManagement>
    <bc65155f859f476689f41d2e239f3b65 xmlns="464847da-6e18-4144-8ad5-5857903e06b6">
      <Terms xmlns="http://schemas.microsoft.com/office/infopath/2007/PartnerControls"/>
    </bc65155f859f476689f41d2e239f3b65>
    <OECDProjectLookup xmlns="b028c3f4-2795-4946-841c-2e1644b148e5">34</OECDProjectLookup>
    <OECDKimBussinessContext xmlns="54c4cd27-f286-408f-9ce0-33c1e0f3ab39" xsi:nil="true"/>
    <eSharePWBTaxHTField0 xmlns="c9f238dd-bb73-4aef-a7a5-d644ad823e52">(n/a)|3adabb5f-45b7-4a20-bdde-219e8d9477af</eSharePWBTaxHTField0>
    <IconOverlay xmlns="http://schemas.microsoft.com/sharepoint/v4" xsi:nil="true"/>
    <DocumentSetDescription xmlns="http://schemas.microsoft.com/sharepoint/v3" xsi:nil="true"/>
    <OECDPinnedBy xmlns="b028c3f4-2795-4946-841c-2e1644b148e5">
      <UserInfo>
        <DisplayName/>
        <AccountId xsi:nil="true"/>
        <AccountType/>
      </UserInfo>
    </OECDPinnedBy>
    <OECDExpirationDate xmlns="464847da-6e18-4144-8ad5-5857903e06b6" xsi:nil="true"/>
    <g2112f02a3d4495984eca02be0a4d37c xmlns="b028c3f4-2795-4946-841c-2e1644b148e5" xsi:nil="true"/>
    <OECDDocumentType xmlns="54c4cd27-f286-408f-9ce0-33c1e0f3ab39" xsi:nil="true"/>
    <d6c688cd0ee448e4bbaea66e1be015fd xmlns="b028c3f4-2795-4946-841c-2e1644b148e5" xsi:nil="true"/>
    <OECDTagsCache xmlns="b028c3f4-2795-4946-841c-2e1644b148e5" xsi:nil="true"/>
    <eShareCommitteeTaxHTField0 xmlns="c9f238dd-bb73-4aef-a7a5-d644ad823e52" xsi:nil="true"/>
    <OECDProjectManager xmlns="b028c3f4-2795-4946-841c-2e1644b148e5">
      <UserInfo>
        <DisplayName/>
        <AccountId>774</AccountId>
        <AccountType/>
      </UserInfo>
    </OECDProjectManager>
    <OECDKimProvenance xmlns="54c4cd27-f286-408f-9ce0-33c1e0f3ab39" xsi:nil="true"/>
    <OECDMainProject xmlns="b028c3f4-2795-4946-841c-2e1644b148e5" xsi:nil="true"/>
    <k521ff600dac4d78b40e1e44ce493525 xmlns="b028c3f4-2795-4946-841c-2e1644b148e5">
      <Terms xmlns="http://schemas.microsoft.com/office/infopath/2007/PartnerControls">
        <TermInfo xmlns="http://schemas.microsoft.com/office/infopath/2007/PartnerControls">
          <TermName xmlns="http://schemas.microsoft.com/office/infopath/2007/PartnerControls">ECO/FO</TermName>
          <TermId xmlns="http://schemas.microsoft.com/office/infopath/2007/PartnerControls">0421869f-dd6d-4a57-aa68-f68dc47925ad</TermId>
        </TermInfo>
      </Terms>
    </k521ff600dac4d78b40e1e44ce493525>
    <OECDKimStatus xmlns="54c4cd27-f286-408f-9ce0-33c1e0f3ab39">Draft</OECDKimStatus>
    <eShareCountryTaxHTField0 xmlns="c9f238dd-bb73-4aef-a7a5-d644ad823e52" xsi:nil="true"/>
    <eShareTopicTaxHTField0 xmlns="c9f238dd-bb73-4aef-a7a5-d644ad823e52">Economic growth|9eba0011-22c6-4045-a791-62556867fb22</eShareTopicTaxHTField0>
    <eShareKeywordsTaxHTField0 xmlns="c9f238dd-bb73-4aef-a7a5-d644ad823e52">Economic Outlook|a9443a1a-b32f-49f3-97a5-13870ae66f90</eShareKeywordsTaxHTField0>
    <OECDProjectMembers xmlns="b028c3f4-2795-4946-841c-2e1644b148e5">
      <UserInfo>
        <DisplayName>MANN Catherine, ECO</DisplayName>
        <AccountId>774</AccountId>
        <AccountType/>
      </UserInfo>
      <UserInfo>
        <DisplayName>GUICHARD Stéphanie, ECO</DisplayName>
        <AccountId>229</AccountId>
        <AccountType/>
      </UserInfo>
      <UserInfo>
        <DisplayName>BARNES Sebastian, ECO</DisplayName>
        <AccountId>116</AccountId>
        <AccountType/>
      </UserInfo>
      <UserInfo>
        <DisplayName>BARNARD Geoff, ECO</DisplayName>
        <AccountId>142</AccountId>
        <AccountType/>
      </UserInfo>
      <UserInfo>
        <DisplayName>ELGHADAB Penny, ECO</DisplayName>
        <AccountId>83</AccountId>
        <AccountType/>
      </UserInfo>
      <UserInfo>
        <DisplayName>PURTELL Susan, ECO</DisplayName>
        <AccountId>71</AccountId>
        <AccountType/>
      </UserInfo>
      <UserInfo>
        <DisplayName>MENKYNA Fusako, ECO</DisplayName>
        <AccountId>478</AccountId>
        <AccountType/>
      </UserInfo>
      <UserInfo>
        <DisplayName>STOKLE Wendy, ECO</DisplayName>
        <AccountId>65</AccountId>
        <AccountType/>
      </UserInfo>
    </OECDProjectMembers>
    <TaxCatchAll xmlns="ca82dde9-3436-4d3d-bddd-d31447390034">
      <Value>43</Value>
      <Value>314</Value>
      <Value>399</Value>
      <Value>407</Value>
    </TaxCatchAll>
    <h8a48b2c364f47209a9f385904d38df5 xmlns="b028c3f4-2795-4946-841c-2e1644b148e5" xsi:nil="true"/>
  </documentManagement>
</p:properties>
</file>

<file path=customXml/item6.xml><?xml version="1.0" encoding="utf-8"?>
<?mso-contentType ?>
<FormTemplates xmlns="http://schemas.microsoft.com/sharepoint/v3/contenttype/forms">
  <Display>OECDListFormCollapsible</Display>
  <Edit>OECDListFormCollapsible</Edit>
  <New>OECDListFormCollapsible</New>
</FormTemplates>
</file>

<file path=customXml/itemProps1.xml><?xml version="1.0" encoding="utf-8"?>
<ds:datastoreItem xmlns:ds="http://schemas.openxmlformats.org/officeDocument/2006/customXml" ds:itemID="{4991A6FE-5E0A-4F82-A1EC-3DDFDB13A2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4c4cd27-f286-408f-9ce0-33c1e0f3ab39"/>
    <ds:schemaRef ds:uri="464847da-6e18-4144-8ad5-5857903e06b6"/>
    <ds:schemaRef ds:uri="b028c3f4-2795-4946-841c-2e1644b148e5"/>
    <ds:schemaRef ds:uri="c9f238dd-bb73-4aef-a7a5-d644ad823e52"/>
    <ds:schemaRef ds:uri="ca82dde9-3436-4d3d-bddd-d31447390034"/>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57D3AFC-6D8E-4A5F-8C17-C5F4174B9291}">
  <ds:schemaRefs>
    <ds:schemaRef ds:uri="http://www.oecd.org/eshare/projectsentre/CtFieldPriority/"/>
    <ds:schemaRef ds:uri="http://schemas.microsoft.com/2003/10/Serialization/Arrays"/>
  </ds:schemaRefs>
</ds:datastoreItem>
</file>

<file path=customXml/itemProps3.xml><?xml version="1.0" encoding="utf-8"?>
<ds:datastoreItem xmlns:ds="http://schemas.openxmlformats.org/officeDocument/2006/customXml" ds:itemID="{BFE38C3E-D15A-4F60-97F7-250E70E1EA31}">
  <ds:schemaRefs>
    <ds:schemaRef ds:uri="http://schemas.microsoft.com/sharepoint/events"/>
  </ds:schemaRefs>
</ds:datastoreItem>
</file>

<file path=customXml/itemProps4.xml><?xml version="1.0" encoding="utf-8"?>
<ds:datastoreItem xmlns:ds="http://schemas.openxmlformats.org/officeDocument/2006/customXml" ds:itemID="{FD206EC9-3D5A-4486-AF89-FC69493CBCE0}">
  <ds:schemaRefs>
    <ds:schemaRef ds:uri="Microsoft.SharePoint.Taxonomy.ContentTypeSync"/>
  </ds:schemaRefs>
</ds:datastoreItem>
</file>

<file path=customXml/itemProps5.xml><?xml version="1.0" encoding="utf-8"?>
<ds:datastoreItem xmlns:ds="http://schemas.openxmlformats.org/officeDocument/2006/customXml" ds:itemID="{C09397EE-C9A3-4290-85EF-2ACE6E5A9E27}">
  <ds:schemaRefs>
    <ds:schemaRef ds:uri="http://schemas.microsoft.com/office/2006/documentManagement/types"/>
    <ds:schemaRef ds:uri="http://schemas.microsoft.com/office/infopath/2007/PartnerControls"/>
    <ds:schemaRef ds:uri="http://schemas.openxmlformats.org/package/2006/metadata/core-properties"/>
    <ds:schemaRef ds:uri="54c4cd27-f286-408f-9ce0-33c1e0f3ab39"/>
    <ds:schemaRef ds:uri="http://schemas.microsoft.com/office/2006/metadata/properties"/>
    <ds:schemaRef ds:uri="http://purl.org/dc/elements/1.1/"/>
    <ds:schemaRef ds:uri="464847da-6e18-4144-8ad5-5857903e06b6"/>
    <ds:schemaRef ds:uri="b028c3f4-2795-4946-841c-2e1644b148e5"/>
    <ds:schemaRef ds:uri="http://schemas.microsoft.com/sharepoint/v4"/>
    <ds:schemaRef ds:uri="ca82dde9-3436-4d3d-bddd-d31447390034"/>
    <ds:schemaRef ds:uri="http://www.w3.org/XML/1998/namespace"/>
    <ds:schemaRef ds:uri="http://purl.org/dc/terms/"/>
    <ds:schemaRef ds:uri="c9f238dd-bb73-4aef-a7a5-d644ad823e52"/>
    <ds:schemaRef ds:uri="http://schemas.microsoft.com/sharepoint/v3"/>
    <ds:schemaRef ds:uri="http://purl.org/dc/dcmitype/"/>
  </ds:schemaRefs>
</ds:datastoreItem>
</file>

<file path=customXml/itemProps6.xml><?xml version="1.0" encoding="utf-8"?>
<ds:datastoreItem xmlns:ds="http://schemas.openxmlformats.org/officeDocument/2006/customXml" ds:itemID="{003DD83D-4AB0-4B12-ADA5-F949E8BC24F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OECD_English_white</Template>
  <TotalTime>29205</TotalTime>
  <Words>1189</Words>
  <Application>Microsoft Office PowerPoint</Application>
  <PresentationFormat>On-screen Show (4:3)</PresentationFormat>
  <Paragraphs>187</Paragraphs>
  <Slides>23</Slides>
  <Notes>12</Notes>
  <HiddenSlides>0</HiddenSlides>
  <MMClips>0</MMClips>
  <ScaleCrop>false</ScaleCrop>
  <HeadingPairs>
    <vt:vector size="4" baseType="variant">
      <vt:variant>
        <vt:lpstr>Theme</vt:lpstr>
      </vt:variant>
      <vt:variant>
        <vt:i4>2</vt:i4>
      </vt:variant>
      <vt:variant>
        <vt:lpstr>Slide Titles</vt:lpstr>
      </vt:variant>
      <vt:variant>
        <vt:i4>23</vt:i4>
      </vt:variant>
    </vt:vector>
  </HeadingPairs>
  <TitlesOfParts>
    <vt:vector size="25" baseType="lpstr">
      <vt:lpstr>OECD_English_white</vt:lpstr>
      <vt:lpstr>1_OECD_English_white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Job losses have centred on  people with mid-level skills</vt:lpstr>
      <vt:lpstr>PowerPoint Presentation</vt:lpstr>
      <vt:lpstr>Manufacturing job losses and role for  Technology &amp; Consumer Preferences vs Trade</vt:lpstr>
      <vt:lpstr>Decline in manufacturing matters because activity is regionally concentrated</vt:lpstr>
      <vt:lpstr>Countries with larger falls in manufacturing jobs have increased regional inequality</vt:lpstr>
      <vt:lpstr>PowerPoint Presentation</vt:lpstr>
      <vt:lpstr>PowerPoint Presentation</vt:lpstr>
      <vt:lpstr>PowerPoint Presentation</vt:lpstr>
      <vt:lpstr>PowerPoint Presentation</vt:lpstr>
      <vt:lpstr>PowerPoint Presentation</vt:lpstr>
    </vt:vector>
  </TitlesOfParts>
  <Company>OECD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MENKYNA Fusako</dc:creator>
  <cp:lastModifiedBy>ELGHADAB Penny</cp:lastModifiedBy>
  <cp:revision>1565</cp:revision>
  <cp:lastPrinted>2017-06-02T15:04:18Z</cp:lastPrinted>
  <dcterms:created xsi:type="dcterms:W3CDTF">2015-02-27T14:51:11Z</dcterms:created>
  <dcterms:modified xsi:type="dcterms:W3CDTF">2017-06-07T07:23:31Z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0x0101008B4DD370EC31429186F3AD49F0D3098F00D44DBCB9EB4F45278CB5C9765BE5299500A4858B360C6A491AA753F8BCA47AA91000293773D153AD3C41920164F348570E54</vt:lpwstr>
  </property>
  <property fmtid="{D5CDD505-2E9C-101B-9397-08002B2CF9AE}" pid="3" name="OECDProjectOwnerStructure">
    <vt:lpwstr>407;#ECO/FO|0421869f-dd6d-4a57-aa68-f68dc47925ad</vt:lpwstr>
  </property>
  <property fmtid="{D5CDD505-2E9C-101B-9397-08002B2CF9AE}" pid="4" name="OECDProjectPageLink">
    <vt:lpwstr>8830</vt:lpwstr>
  </property>
  <property fmtid="{D5CDD505-2E9C-101B-9397-08002B2CF9AE}" pid="5" name="OECDCountry">
    <vt:lpwstr/>
  </property>
  <property fmtid="{D5CDD505-2E9C-101B-9397-08002B2CF9AE}" pid="6" name="OECDTopic">
    <vt:lpwstr>399;#Economic growth|9eba0011-22c6-4045-a791-62556867fb22</vt:lpwstr>
  </property>
  <property fmtid="{D5CDD505-2E9C-101B-9397-08002B2CF9AE}" pid="7" name="OECDCommittee">
    <vt:lpwstr/>
  </property>
  <property fmtid="{D5CDD505-2E9C-101B-9397-08002B2CF9AE}" pid="8" name="OECDProjectPartnersStructure">
    <vt:lpwstr/>
  </property>
  <property fmtid="{D5CDD505-2E9C-101B-9397-08002B2CF9AE}" pid="9" name="OECDPWB">
    <vt:lpwstr>43;#(n/a)|3adabb5f-45b7-4a20-bdde-219e8d9477af</vt:lpwstr>
  </property>
  <property fmtid="{D5CDD505-2E9C-101B-9397-08002B2CF9AE}" pid="10" name="OECDKeywords">
    <vt:lpwstr>314;#Economic Outlook|a9443a1a-b32f-49f3-97a5-13870ae66f90</vt:lpwstr>
  </property>
  <property fmtid="{D5CDD505-2E9C-101B-9397-08002B2CF9AE}" pid="11" name="eShareOrganisationTaxHTField0">
    <vt:lpwstr/>
  </property>
  <property fmtid="{D5CDD505-2E9C-101B-9397-08002B2CF9AE}" pid="12" name="OECDHorizontalProjects">
    <vt:lpwstr/>
  </property>
  <property fmtid="{D5CDD505-2E9C-101B-9397-08002B2CF9AE}" pid="13" name="OECDProject">
    <vt:lpwstr/>
  </property>
  <property fmtid="{D5CDD505-2E9C-101B-9397-08002B2CF9AE}" pid="14" name="d0b6f6ac229144c2899590f0436d9385">
    <vt:lpwstr/>
  </property>
  <property fmtid="{D5CDD505-2E9C-101B-9397-08002B2CF9AE}" pid="15" name="OECDOrganisation">
    <vt:lpwstr/>
  </property>
</Properties>
</file>