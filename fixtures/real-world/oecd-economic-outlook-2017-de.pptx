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theme/themeOverride1.xml" ContentType="application/vnd.openxmlformats-officedocument.themeOverride+xml"/>
  <Override PartName="/ppt/drawings/drawing1.xml" ContentType="application/vnd.openxmlformats-officedocument.drawingml.chartshapes+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7"/>
    <p:sldMasterId id="2147483665" r:id="rId8"/>
  </p:sldMasterIdLst>
  <p:notesMasterIdLst>
    <p:notesMasterId r:id="rId32"/>
  </p:notesMasterIdLst>
  <p:handoutMasterIdLst>
    <p:handoutMasterId r:id="rId33"/>
  </p:handoutMasterIdLst>
  <p:sldIdLst>
    <p:sldId id="458" r:id="rId9"/>
    <p:sldId id="506" r:id="rId10"/>
    <p:sldId id="446" r:id="rId11"/>
    <p:sldId id="507" r:id="rId12"/>
    <p:sldId id="373" r:id="rId13"/>
    <p:sldId id="388" r:id="rId14"/>
    <p:sldId id="472" r:id="rId15"/>
    <p:sldId id="498" r:id="rId16"/>
    <p:sldId id="466" r:id="rId17"/>
    <p:sldId id="483" r:id="rId18"/>
    <p:sldId id="502" r:id="rId19"/>
    <p:sldId id="484" r:id="rId20"/>
    <p:sldId id="487" r:id="rId21"/>
    <p:sldId id="509" r:id="rId22"/>
    <p:sldId id="488" r:id="rId23"/>
    <p:sldId id="491" r:id="rId24"/>
    <p:sldId id="492" r:id="rId25"/>
    <p:sldId id="501" r:id="rId26"/>
    <p:sldId id="508" r:id="rId27"/>
    <p:sldId id="500" r:id="rId28"/>
    <p:sldId id="505" r:id="rId29"/>
    <p:sldId id="496" r:id="rId30"/>
    <p:sldId id="495" r:id="rId31"/>
  </p:sldIdLst>
  <p:sldSz cx="9144000" cy="6858000" type="screen4x3"/>
  <p:notesSz cx="6794500" cy="9906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NARD Geoff" initials="BG" lastIdx="1" clrIdx="0"/>
  <p:cmAuthor id="1" name="DAUDE Christian" initials="DC" lastIdx="3" clrIdx="1"/>
  <p:cmAuthor id="2" name="MANN Catherine" initials="MC" lastIdx="107" clrIdx="2"/>
  <p:cmAuthor id="3" name="WITHERIDGE William" initials="WW" lastIdx="2"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11" autoAdjust="0"/>
    <p:restoredTop sz="83195" autoAdjust="0"/>
  </p:normalViewPr>
  <p:slideViewPr>
    <p:cSldViewPr>
      <p:cViewPr varScale="1">
        <p:scale>
          <a:sx n="62" d="100"/>
          <a:sy n="62" d="100"/>
        </p:scale>
        <p:origin x="-522" y="-72"/>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2.xml"/><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slide" Target="slides/slide18.xml"/><Relationship Id="rId3" Type="http://schemas.openxmlformats.org/officeDocument/2006/relationships/customXml" Target="../customXml/item3.xml"/><Relationship Id="rId21" Type="http://schemas.openxmlformats.org/officeDocument/2006/relationships/slide" Target="slides/slide13.xml"/><Relationship Id="rId34" Type="http://schemas.openxmlformats.org/officeDocument/2006/relationships/commentAuthors" Target="commentAuthors.xml"/><Relationship Id="rId7" Type="http://schemas.openxmlformats.org/officeDocument/2006/relationships/slideMaster" Target="slideMasters/slideMaster1.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handoutMaster" Target="handoutMasters/handout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8.xml"/><Relationship Id="rId20" Type="http://schemas.openxmlformats.org/officeDocument/2006/relationships/slide" Target="slides/slide12.xml"/><Relationship Id="rId29" Type="http://schemas.openxmlformats.org/officeDocument/2006/relationships/slide" Target="slides/slide21.xml"/><Relationship Id="rId1" Type="http://schemas.openxmlformats.org/officeDocument/2006/relationships/customXml" Target="../customXml/item1.xml"/><Relationship Id="rId6" Type="http://schemas.openxmlformats.org/officeDocument/2006/relationships/customXml" Target="../customXml/item6.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notesMaster" Target="notesMasters/notesMaster1.xml"/><Relationship Id="rId37" Type="http://schemas.openxmlformats.org/officeDocument/2006/relationships/theme" Target="theme/theme1.xml"/><Relationship Id="rId5" Type="http://schemas.openxmlformats.org/officeDocument/2006/relationships/customXml" Target="../customXml/item5.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viewProps" Target="viewProps.xml"/><Relationship Id="rId10" Type="http://schemas.openxmlformats.org/officeDocument/2006/relationships/slide" Target="slides/slide2.xml"/><Relationship Id="rId19" Type="http://schemas.openxmlformats.org/officeDocument/2006/relationships/slide" Target="slides/slide11.xml"/><Relationship Id="rId31" Type="http://schemas.openxmlformats.org/officeDocument/2006/relationships/slide" Target="slides/slide23.xml"/><Relationship Id="rId4" Type="http://schemas.openxmlformats.org/officeDocument/2006/relationships/customXml" Target="../customXml/item4.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chartUserShapes" Target="../drawings/drawing1.xml"/><Relationship Id="rId2" Type="http://schemas.openxmlformats.org/officeDocument/2006/relationships/package" Target="../embeddings/Microsoft_Excel_Worksheet1.xlsx"/><Relationship Id="rId1" Type="http://schemas.openxmlformats.org/officeDocument/2006/relationships/themeOverride" Target="../theme/themeOverride1.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manualLayout>
          <c:layoutTarget val="inner"/>
          <c:xMode val="edge"/>
          <c:yMode val="edge"/>
          <c:x val="0.15427148522105391"/>
          <c:y val="0.17538240984763967"/>
          <c:w val="0.61754314733538818"/>
          <c:h val="0.76463774677036001"/>
        </c:manualLayout>
      </c:layout>
      <c:doughnutChart>
        <c:varyColors val="1"/>
        <c:ser>
          <c:idx val="0"/>
          <c:order val="0"/>
          <c:tx>
            <c:strRef>
              <c:f>'Fig_Box2.1 (2)'!$B$60</c:f>
              <c:strCache>
                <c:ptCount val="1"/>
                <c:pt idx="0">
                  <c:v>1995</c:v>
                </c:pt>
              </c:strCache>
            </c:strRef>
          </c:tx>
          <c:spPr>
            <a:ln w="15875">
              <a:solidFill>
                <a:sysClr val="window" lastClr="FFFFFF"/>
              </a:solidFill>
            </a:ln>
          </c:spPr>
          <c:dPt>
            <c:idx val="0"/>
            <c:bubble3D val="0"/>
            <c:spPr>
              <a:solidFill>
                <a:srgbClr val="0070C0"/>
              </a:solidFill>
              <a:ln w="15875">
                <a:solidFill>
                  <a:sysClr val="window" lastClr="FFFFFF"/>
                </a:solidFill>
              </a:ln>
            </c:spPr>
          </c:dPt>
          <c:dPt>
            <c:idx val="1"/>
            <c:bubble3D val="0"/>
            <c:spPr>
              <a:solidFill>
                <a:schemeClr val="bg1">
                  <a:lumMod val="75000"/>
                </a:schemeClr>
              </a:solidFill>
              <a:ln w="15875">
                <a:solidFill>
                  <a:sysClr val="window" lastClr="FFFFFF"/>
                </a:solidFill>
              </a:ln>
            </c:spPr>
          </c:dPt>
          <c:dPt>
            <c:idx val="2"/>
            <c:bubble3D val="0"/>
            <c:spPr>
              <a:solidFill>
                <a:srgbClr val="FF0000"/>
              </a:solidFill>
              <a:ln w="15875">
                <a:solidFill>
                  <a:sysClr val="window" lastClr="FFFFFF"/>
                </a:solidFill>
              </a:ln>
            </c:spPr>
          </c:dPt>
          <c:dPt>
            <c:idx val="3"/>
            <c:bubble3D val="0"/>
            <c:spPr>
              <a:solidFill>
                <a:srgbClr val="92D050"/>
              </a:solidFill>
              <a:ln w="15875">
                <a:solidFill>
                  <a:sysClr val="window" lastClr="FFFFFF"/>
                </a:solidFill>
              </a:ln>
            </c:spPr>
          </c:dPt>
          <c:cat>
            <c:strRef>
              <c:f>'Fig_Box2.1 (2)'!$C$59:$F$59</c:f>
              <c:strCache>
                <c:ptCount val="4"/>
                <c:pt idx="0">
                  <c:v>OECD</c:v>
                </c:pt>
                <c:pt idx="1">
                  <c:v>Rest of the World</c:v>
                </c:pt>
                <c:pt idx="2">
                  <c:v>China</c:v>
                </c:pt>
                <c:pt idx="3">
                  <c:v>Dynamic Asian Economies</c:v>
                </c:pt>
              </c:strCache>
            </c:strRef>
          </c:cat>
          <c:val>
            <c:numRef>
              <c:f>'Fig_Box2.1 (2)'!$C$60:$F$60</c:f>
              <c:numCache>
                <c:formatCode>0.0</c:formatCode>
                <c:ptCount val="4"/>
                <c:pt idx="0">
                  <c:v>80.230707297010113</c:v>
                </c:pt>
                <c:pt idx="1">
                  <c:v>7.5734855128691745</c:v>
                </c:pt>
                <c:pt idx="2">
                  <c:v>3.1770058938197119</c:v>
                </c:pt>
                <c:pt idx="3">
                  <c:v>9.018801296300996</c:v>
                </c:pt>
              </c:numCache>
            </c:numRef>
          </c:val>
        </c:ser>
        <c:ser>
          <c:idx val="1"/>
          <c:order val="1"/>
          <c:tx>
            <c:strRef>
              <c:f>'Fig_Box2.1 (2)'!$B$61</c:f>
              <c:strCache>
                <c:ptCount val="1"/>
                <c:pt idx="0">
                  <c:v>2015</c:v>
                </c:pt>
              </c:strCache>
            </c:strRef>
          </c:tx>
          <c:spPr>
            <a:ln w="15875">
              <a:solidFill>
                <a:sysClr val="window" lastClr="FFFFFF"/>
              </a:solidFill>
            </a:ln>
          </c:spPr>
          <c:dPt>
            <c:idx val="0"/>
            <c:bubble3D val="0"/>
            <c:spPr>
              <a:solidFill>
                <a:srgbClr val="0070C0"/>
              </a:solidFill>
              <a:ln w="15875">
                <a:solidFill>
                  <a:sysClr val="window" lastClr="FFFFFF"/>
                </a:solidFill>
              </a:ln>
            </c:spPr>
          </c:dPt>
          <c:dPt>
            <c:idx val="1"/>
            <c:bubble3D val="0"/>
            <c:spPr>
              <a:solidFill>
                <a:schemeClr val="bg1">
                  <a:lumMod val="75000"/>
                </a:schemeClr>
              </a:solidFill>
              <a:ln w="15875">
                <a:solidFill>
                  <a:sysClr val="window" lastClr="FFFFFF"/>
                </a:solidFill>
              </a:ln>
            </c:spPr>
          </c:dPt>
          <c:dPt>
            <c:idx val="2"/>
            <c:bubble3D val="0"/>
            <c:spPr>
              <a:solidFill>
                <a:srgbClr val="FF0000"/>
              </a:solidFill>
              <a:ln w="15875">
                <a:solidFill>
                  <a:sysClr val="window" lastClr="FFFFFF"/>
                </a:solidFill>
              </a:ln>
            </c:spPr>
          </c:dPt>
          <c:dPt>
            <c:idx val="3"/>
            <c:bubble3D val="0"/>
            <c:spPr>
              <a:solidFill>
                <a:srgbClr val="92D050"/>
              </a:solidFill>
              <a:ln w="15875">
                <a:solidFill>
                  <a:sysClr val="window" lastClr="FFFFFF"/>
                </a:solidFill>
              </a:ln>
            </c:spPr>
          </c:dPt>
          <c:cat>
            <c:strRef>
              <c:f>'Fig_Box2.1 (2)'!$C$59:$F$59</c:f>
              <c:strCache>
                <c:ptCount val="4"/>
                <c:pt idx="0">
                  <c:v>OECD</c:v>
                </c:pt>
                <c:pt idx="1">
                  <c:v>Rest of the World</c:v>
                </c:pt>
                <c:pt idx="2">
                  <c:v>China</c:v>
                </c:pt>
                <c:pt idx="3">
                  <c:v>Dynamic Asian Economies</c:v>
                </c:pt>
              </c:strCache>
            </c:strRef>
          </c:cat>
          <c:val>
            <c:numRef>
              <c:f>'Fig_Box2.1 (2)'!$C$61:$F$61</c:f>
              <c:numCache>
                <c:formatCode>0.0</c:formatCode>
                <c:ptCount val="4"/>
                <c:pt idx="0">
                  <c:v>58.966807674477685</c:v>
                </c:pt>
                <c:pt idx="1">
                  <c:v>15.817864048220123</c:v>
                </c:pt>
                <c:pt idx="2">
                  <c:v>14.204026643070442</c:v>
                </c:pt>
                <c:pt idx="3">
                  <c:v>11.011301634231749</c:v>
                </c:pt>
              </c:numCache>
            </c:numRef>
          </c:val>
        </c:ser>
        <c:dLbls>
          <c:showLegendKey val="0"/>
          <c:showVal val="0"/>
          <c:showCatName val="0"/>
          <c:showSerName val="0"/>
          <c:showPercent val="0"/>
          <c:showBubbleSize val="0"/>
          <c:showLeaderLines val="1"/>
        </c:dLbls>
        <c:firstSliceAng val="0"/>
        <c:holeSize val="45"/>
      </c:doughnutChart>
    </c:plotArea>
    <c:legend>
      <c:legendPos val="r"/>
      <c:layout>
        <c:manualLayout>
          <c:xMode val="edge"/>
          <c:yMode val="edge"/>
          <c:x val="0.16163083765236153"/>
          <c:y val="2.5926369060130319E-2"/>
          <c:w val="0.65144258559475843"/>
          <c:h val="0.1274077187990105"/>
        </c:manualLayout>
      </c:layout>
      <c:overlay val="0"/>
      <c:spPr>
        <a:ln w="6350"/>
      </c:spPr>
      <c:txPr>
        <a:bodyPr/>
        <a:lstStyle/>
        <a:p>
          <a:pPr>
            <a:defRPr b="1"/>
          </a:pPr>
          <a:endParaRPr lang="en-US"/>
        </a:p>
      </c:txPr>
    </c:legend>
    <c:plotVisOnly val="1"/>
    <c:dispBlanksAs val="gap"/>
    <c:showDLblsOverMax val="0"/>
  </c:chart>
  <c:spPr>
    <a:ln>
      <a:noFill/>
    </a:ln>
  </c:spPr>
  <c:txPr>
    <a:bodyPr/>
    <a:lstStyle/>
    <a:p>
      <a:pPr>
        <a:defRPr sz="1200">
          <a:latin typeface="Arial Narrow" panose="020B0606020202030204" pitchFamily="34" charset="0"/>
        </a:defRPr>
      </a:pPr>
      <a:endParaRPr lang="en-US"/>
    </a:p>
  </c:txPr>
  <c:externalData r:id="rId2">
    <c:autoUpdate val="0"/>
  </c:externalData>
  <c:userShapes r:id="rId3"/>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12AE3AD-150C-4556-B9F3-C5AFE07518AD}"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GB"/>
        </a:p>
      </dgm:t>
    </dgm:pt>
    <dgm:pt modelId="{28AA58F6-D958-4B10-9359-D08D4D103B97}">
      <dgm:prSet/>
      <dgm:spPr/>
      <dgm:t>
        <a:bodyPr/>
        <a:lstStyle/>
        <a:p>
          <a:r>
            <a:rPr lang="en-GB" dirty="0" smtClean="0">
              <a:latin typeface="Calibri" panose="020F0502020204030204" pitchFamily="34" charset="0"/>
            </a:rPr>
            <a:t>Global growth expected to pick-up modestly </a:t>
          </a:r>
          <a:r>
            <a:rPr lang="en-GB" smtClean="0">
              <a:latin typeface="Calibri" panose="020F0502020204030204" pitchFamily="34" charset="0"/>
            </a:rPr>
            <a:t>with upside </a:t>
          </a:r>
          <a:r>
            <a:rPr lang="en-GB" dirty="0" smtClean="0">
              <a:latin typeface="Calibri" panose="020F0502020204030204" pitchFamily="34" charset="0"/>
            </a:rPr>
            <a:t>risks</a:t>
          </a:r>
        </a:p>
      </dgm:t>
    </dgm:pt>
    <dgm:pt modelId="{60C608F0-860E-4FC1-AB6C-6A893EFA9FC9}" type="parTrans" cxnId="{7FC4F6B6-7333-499E-8799-51F96AA60B84}">
      <dgm:prSet/>
      <dgm:spPr/>
      <dgm:t>
        <a:bodyPr/>
        <a:lstStyle/>
        <a:p>
          <a:endParaRPr lang="en-GB">
            <a:latin typeface="Calibri" panose="020F0502020204030204" pitchFamily="34" charset="0"/>
          </a:endParaRPr>
        </a:p>
      </dgm:t>
    </dgm:pt>
    <dgm:pt modelId="{3083AE86-D778-4F5F-B1B6-4FB7AC7CBD51}" type="sibTrans" cxnId="{7FC4F6B6-7333-499E-8799-51F96AA60B84}">
      <dgm:prSet/>
      <dgm:spPr/>
      <dgm:t>
        <a:bodyPr/>
        <a:lstStyle/>
        <a:p>
          <a:endParaRPr lang="en-GB">
            <a:latin typeface="Calibri" panose="020F0502020204030204" pitchFamily="34" charset="0"/>
          </a:endParaRPr>
        </a:p>
      </dgm:t>
    </dgm:pt>
    <dgm:pt modelId="{0BD4BFF3-A846-4400-9B4D-1ECC79EBA5F8}">
      <dgm:prSet/>
      <dgm:spPr/>
      <dgm:t>
        <a:bodyPr/>
        <a:lstStyle/>
        <a:p>
          <a:r>
            <a:rPr lang="en-GB" dirty="0" smtClean="0">
              <a:latin typeface="Calibri" panose="020F0502020204030204" pitchFamily="34" charset="0"/>
            </a:rPr>
            <a:t>More needs to be done to share the gains from structural trends and trade</a:t>
          </a:r>
        </a:p>
      </dgm:t>
    </dgm:pt>
    <dgm:pt modelId="{225C00EA-9FEF-41B6-9C4F-92549965D946}" type="parTrans" cxnId="{6D09A9A1-FFEA-4EA9-A2E8-55285F8C0196}">
      <dgm:prSet/>
      <dgm:spPr/>
      <dgm:t>
        <a:bodyPr/>
        <a:lstStyle/>
        <a:p>
          <a:endParaRPr lang="en-GB">
            <a:latin typeface="Calibri" panose="020F0502020204030204" pitchFamily="34" charset="0"/>
          </a:endParaRPr>
        </a:p>
      </dgm:t>
    </dgm:pt>
    <dgm:pt modelId="{203F14AC-C7A5-4E5E-9CBB-DE0F7A356B5A}" type="sibTrans" cxnId="{6D09A9A1-FFEA-4EA9-A2E8-55285F8C0196}">
      <dgm:prSet/>
      <dgm:spPr/>
      <dgm:t>
        <a:bodyPr/>
        <a:lstStyle/>
        <a:p>
          <a:endParaRPr lang="en-GB">
            <a:latin typeface="Calibri" panose="020F0502020204030204" pitchFamily="34" charset="0"/>
          </a:endParaRPr>
        </a:p>
      </dgm:t>
    </dgm:pt>
    <dgm:pt modelId="{806919CF-651B-46A9-9F55-6A28278294E6}">
      <dgm:prSet/>
      <dgm:spPr/>
      <dgm:t>
        <a:bodyPr/>
        <a:lstStyle/>
        <a:p>
          <a:r>
            <a:rPr lang="en-GB" dirty="0" smtClean="0">
              <a:latin typeface="Calibri" panose="020F0502020204030204" pitchFamily="34" charset="0"/>
            </a:rPr>
            <a:t>An integrated policy approach is needed to make globalisation work for all</a:t>
          </a:r>
        </a:p>
      </dgm:t>
    </dgm:pt>
    <dgm:pt modelId="{C176557D-E82E-4F64-8195-4FBA10DCA65F}" type="parTrans" cxnId="{3315629A-CE00-4EA6-A505-92EEC82995D3}">
      <dgm:prSet/>
      <dgm:spPr/>
      <dgm:t>
        <a:bodyPr/>
        <a:lstStyle/>
        <a:p>
          <a:endParaRPr lang="en-GB">
            <a:latin typeface="Calibri" panose="020F0502020204030204" pitchFamily="34" charset="0"/>
          </a:endParaRPr>
        </a:p>
      </dgm:t>
    </dgm:pt>
    <dgm:pt modelId="{504D45A1-33A0-469C-9F96-5CCFAF0F31C8}" type="sibTrans" cxnId="{3315629A-CE00-4EA6-A505-92EEC82995D3}">
      <dgm:prSet/>
      <dgm:spPr/>
      <dgm:t>
        <a:bodyPr/>
        <a:lstStyle/>
        <a:p>
          <a:endParaRPr lang="en-GB">
            <a:latin typeface="Calibri" panose="020F0502020204030204" pitchFamily="34" charset="0"/>
          </a:endParaRPr>
        </a:p>
      </dgm:t>
    </dgm:pt>
    <dgm:pt modelId="{31CEF85D-C803-49E2-87B0-F5EDAD345FC9}">
      <dgm:prSet/>
      <dgm:spPr/>
      <dgm:t>
        <a:bodyPr/>
        <a:lstStyle/>
        <a:p>
          <a:r>
            <a:rPr lang="en-GB" dirty="0" smtClean="0">
              <a:solidFill>
                <a:schemeClr val="bg2">
                  <a:lumMod val="10000"/>
                </a:schemeClr>
              </a:solidFill>
              <a:latin typeface="Calibri" panose="020F0502020204030204" pitchFamily="34" charset="0"/>
            </a:rPr>
            <a:t>Changes to technology, consumer preferences and trade are occurring simultaneously</a:t>
          </a:r>
        </a:p>
      </dgm:t>
    </dgm:pt>
    <dgm:pt modelId="{F5240D1C-9F1F-45CB-A124-96F539746542}" type="parTrans" cxnId="{D679395B-FE98-42B9-BBBC-D1097520053F}">
      <dgm:prSet/>
      <dgm:spPr/>
      <dgm:t>
        <a:bodyPr/>
        <a:lstStyle/>
        <a:p>
          <a:endParaRPr lang="en-GB">
            <a:latin typeface="Calibri" panose="020F0502020204030204" pitchFamily="34" charset="0"/>
          </a:endParaRPr>
        </a:p>
      </dgm:t>
    </dgm:pt>
    <dgm:pt modelId="{240024B0-F397-4B79-9323-A7BF70B621A9}" type="sibTrans" cxnId="{D679395B-FE98-42B9-BBBC-D1097520053F}">
      <dgm:prSet/>
      <dgm:spPr/>
      <dgm:t>
        <a:bodyPr/>
        <a:lstStyle/>
        <a:p>
          <a:endParaRPr lang="en-GB">
            <a:latin typeface="Calibri" panose="020F0502020204030204" pitchFamily="34" charset="0"/>
          </a:endParaRPr>
        </a:p>
      </dgm:t>
    </dgm:pt>
    <dgm:pt modelId="{2723B6F0-42E6-4D85-ABC3-0B993B034402}">
      <dgm:prSet/>
      <dgm:spPr/>
      <dgm:t>
        <a:bodyPr/>
        <a:lstStyle/>
        <a:p>
          <a:pPr eaLnBrk="1" latinLnBrk="0"/>
          <a:r>
            <a:rPr lang="en-GB" dirty="0" smtClean="0">
              <a:solidFill>
                <a:schemeClr val="bg2">
                  <a:lumMod val="10000"/>
                </a:schemeClr>
              </a:solidFill>
              <a:latin typeface="Calibri" panose="020F0502020204030204" pitchFamily="34" charset="0"/>
            </a:rPr>
            <a:t>A more level playing field for the international system</a:t>
          </a:r>
        </a:p>
      </dgm:t>
    </dgm:pt>
    <dgm:pt modelId="{289978A5-92C7-40F5-BD7A-00AECC89F112}" type="parTrans" cxnId="{53C87B82-B0AB-49B4-8189-CF168536BEE3}">
      <dgm:prSet/>
      <dgm:spPr/>
      <dgm:t>
        <a:bodyPr/>
        <a:lstStyle/>
        <a:p>
          <a:endParaRPr lang="en-GB">
            <a:latin typeface="Calibri" panose="020F0502020204030204" pitchFamily="34" charset="0"/>
          </a:endParaRPr>
        </a:p>
      </dgm:t>
    </dgm:pt>
    <dgm:pt modelId="{51C7EF5C-A804-4B27-AC82-9BD6EE906EB9}" type="sibTrans" cxnId="{53C87B82-B0AB-49B4-8189-CF168536BEE3}">
      <dgm:prSet/>
      <dgm:spPr/>
      <dgm:t>
        <a:bodyPr/>
        <a:lstStyle/>
        <a:p>
          <a:endParaRPr lang="en-GB">
            <a:latin typeface="Calibri" panose="020F0502020204030204" pitchFamily="34" charset="0"/>
          </a:endParaRPr>
        </a:p>
      </dgm:t>
    </dgm:pt>
    <dgm:pt modelId="{5547A09F-9281-4926-AFA4-01F6C5E99E46}">
      <dgm:prSet/>
      <dgm:spPr/>
      <dgm:t>
        <a:bodyPr/>
        <a:lstStyle/>
        <a:p>
          <a:r>
            <a:rPr lang="en-GB" dirty="0" smtClean="0">
              <a:solidFill>
                <a:schemeClr val="bg2">
                  <a:lumMod val="10000"/>
                </a:schemeClr>
              </a:solidFill>
              <a:latin typeface="Calibri" panose="020F0502020204030204" pitchFamily="34" charset="0"/>
            </a:rPr>
            <a:t>Confidence is increasing and investment and trade are picking up from low levels</a:t>
          </a:r>
        </a:p>
      </dgm:t>
    </dgm:pt>
    <dgm:pt modelId="{F3ACEA60-3461-4AC3-BB5D-893E4B822BE9}" type="parTrans" cxnId="{C2BEBCDC-03B2-4D84-A49C-A63F131785DD}">
      <dgm:prSet/>
      <dgm:spPr/>
      <dgm:t>
        <a:bodyPr/>
        <a:lstStyle/>
        <a:p>
          <a:endParaRPr lang="en-GB">
            <a:latin typeface="Calibri" panose="020F0502020204030204" pitchFamily="34" charset="0"/>
          </a:endParaRPr>
        </a:p>
      </dgm:t>
    </dgm:pt>
    <dgm:pt modelId="{F76B773A-F1BB-45AE-853C-30C972F6D272}" type="sibTrans" cxnId="{C2BEBCDC-03B2-4D84-A49C-A63F131785DD}">
      <dgm:prSet/>
      <dgm:spPr/>
      <dgm:t>
        <a:bodyPr/>
        <a:lstStyle/>
        <a:p>
          <a:endParaRPr lang="en-GB">
            <a:latin typeface="Calibri" panose="020F0502020204030204" pitchFamily="34" charset="0"/>
          </a:endParaRPr>
        </a:p>
      </dgm:t>
    </dgm:pt>
    <dgm:pt modelId="{ABFAF83A-6C73-47F6-896E-A9BD27B48A39}">
      <dgm:prSet/>
      <dgm:spPr/>
      <dgm:t>
        <a:bodyPr/>
        <a:lstStyle/>
        <a:p>
          <a:r>
            <a:rPr lang="en-GB" dirty="0" smtClean="0">
              <a:solidFill>
                <a:schemeClr val="bg2">
                  <a:lumMod val="10000"/>
                </a:schemeClr>
              </a:solidFill>
              <a:latin typeface="Calibri" panose="020F0502020204030204" pitchFamily="34" charset="0"/>
            </a:rPr>
            <a:t>Signs of rising demand for high-tech goods and investment to upgrade capital</a:t>
          </a:r>
        </a:p>
      </dgm:t>
    </dgm:pt>
    <dgm:pt modelId="{A75B0344-DEA6-4F23-B9A2-5187C1B55793}" type="parTrans" cxnId="{FEC8D880-A663-402B-A787-3C914236B237}">
      <dgm:prSet/>
      <dgm:spPr/>
      <dgm:t>
        <a:bodyPr/>
        <a:lstStyle/>
        <a:p>
          <a:endParaRPr lang="en-GB">
            <a:latin typeface="Calibri" panose="020F0502020204030204" pitchFamily="34" charset="0"/>
          </a:endParaRPr>
        </a:p>
      </dgm:t>
    </dgm:pt>
    <dgm:pt modelId="{94733AA1-8077-4264-929A-A4870403E5DA}" type="sibTrans" cxnId="{FEC8D880-A663-402B-A787-3C914236B237}">
      <dgm:prSet/>
      <dgm:spPr/>
      <dgm:t>
        <a:bodyPr/>
        <a:lstStyle/>
        <a:p>
          <a:endParaRPr lang="en-GB">
            <a:latin typeface="Calibri" panose="020F0502020204030204" pitchFamily="34" charset="0"/>
          </a:endParaRPr>
        </a:p>
      </dgm:t>
    </dgm:pt>
    <dgm:pt modelId="{596912E9-CAED-4E0C-A5E9-871A9237F95F}">
      <dgm:prSet/>
      <dgm:spPr/>
      <dgm:t>
        <a:bodyPr/>
        <a:lstStyle/>
        <a:p>
          <a:pPr eaLnBrk="1" latinLnBrk="0"/>
          <a:r>
            <a:rPr lang="en-GB" dirty="0" smtClean="0">
              <a:solidFill>
                <a:schemeClr val="bg2">
                  <a:lumMod val="10000"/>
                </a:schemeClr>
              </a:solidFill>
              <a:latin typeface="Calibri" panose="020F0502020204030204" pitchFamily="34" charset="0"/>
            </a:rPr>
            <a:t>Domestic reforms to boost competition, job creation, skills and innovation</a:t>
          </a:r>
        </a:p>
      </dgm:t>
    </dgm:pt>
    <dgm:pt modelId="{E08425F1-88FC-4C62-8AFB-FB401A12C4F8}" type="parTrans" cxnId="{2B09D2B6-5D01-444A-A4FA-190A0096ED59}">
      <dgm:prSet/>
      <dgm:spPr/>
      <dgm:t>
        <a:bodyPr/>
        <a:lstStyle/>
        <a:p>
          <a:endParaRPr lang="en-GB">
            <a:latin typeface="Calibri" panose="020F0502020204030204" pitchFamily="34" charset="0"/>
          </a:endParaRPr>
        </a:p>
      </dgm:t>
    </dgm:pt>
    <dgm:pt modelId="{44FC58D6-B872-4528-BD0F-539ABBFB23E9}" type="sibTrans" cxnId="{2B09D2B6-5D01-444A-A4FA-190A0096ED59}">
      <dgm:prSet/>
      <dgm:spPr/>
      <dgm:t>
        <a:bodyPr/>
        <a:lstStyle/>
        <a:p>
          <a:endParaRPr lang="en-GB">
            <a:latin typeface="Calibri" panose="020F0502020204030204" pitchFamily="34" charset="0"/>
          </a:endParaRPr>
        </a:p>
      </dgm:t>
    </dgm:pt>
    <dgm:pt modelId="{41E053C8-D301-4D12-AD77-7EE97ECC131D}">
      <dgm:prSet/>
      <dgm:spPr/>
      <dgm:t>
        <a:bodyPr/>
        <a:lstStyle/>
        <a:p>
          <a:r>
            <a:rPr lang="en-GB" dirty="0" smtClean="0">
              <a:latin typeface="Calibri" panose="020F0502020204030204" pitchFamily="34" charset="0"/>
            </a:rPr>
            <a:t>Productivity and wage growth remain subdued; financial stability risks persist</a:t>
          </a:r>
        </a:p>
      </dgm:t>
    </dgm:pt>
    <dgm:pt modelId="{E94A589A-0C85-450C-AE1A-FBF4CE0F2A81}" type="parTrans" cxnId="{B0B2F67A-EBA5-48F4-A6DC-6B545647974D}">
      <dgm:prSet/>
      <dgm:spPr/>
      <dgm:t>
        <a:bodyPr/>
        <a:lstStyle/>
        <a:p>
          <a:endParaRPr lang="en-GB">
            <a:latin typeface="Calibri" panose="020F0502020204030204" pitchFamily="34" charset="0"/>
          </a:endParaRPr>
        </a:p>
      </dgm:t>
    </dgm:pt>
    <dgm:pt modelId="{9D04F1D8-B208-4490-A62E-6562FDAC00FC}" type="sibTrans" cxnId="{B0B2F67A-EBA5-48F4-A6DC-6B545647974D}">
      <dgm:prSet/>
      <dgm:spPr/>
      <dgm:t>
        <a:bodyPr/>
        <a:lstStyle/>
        <a:p>
          <a:endParaRPr lang="en-GB">
            <a:latin typeface="Calibri" panose="020F0502020204030204" pitchFamily="34" charset="0"/>
          </a:endParaRPr>
        </a:p>
      </dgm:t>
    </dgm:pt>
    <dgm:pt modelId="{553FD138-D451-4870-97BF-70183F97EA30}">
      <dgm:prSet/>
      <dgm:spPr/>
      <dgm:t>
        <a:bodyPr/>
        <a:lstStyle/>
        <a:p>
          <a:r>
            <a:rPr lang="en-GB" dirty="0" smtClean="0">
              <a:solidFill>
                <a:schemeClr val="bg2">
                  <a:lumMod val="10000"/>
                </a:schemeClr>
              </a:solidFill>
              <a:latin typeface="Calibri" panose="020F0502020204030204" pitchFamily="34" charset="0"/>
            </a:rPr>
            <a:t>Job losses from shifts in activity are concentrated in manufacturing and specific regions</a:t>
          </a:r>
        </a:p>
      </dgm:t>
    </dgm:pt>
    <dgm:pt modelId="{43E28135-AFF9-4B2C-B41B-8023F9E19884}" type="parTrans" cxnId="{33F34D4D-844B-4309-91F1-2D71039CC08C}">
      <dgm:prSet/>
      <dgm:spPr/>
      <dgm:t>
        <a:bodyPr/>
        <a:lstStyle/>
        <a:p>
          <a:endParaRPr lang="en-GB">
            <a:latin typeface="Calibri" panose="020F0502020204030204" pitchFamily="34" charset="0"/>
          </a:endParaRPr>
        </a:p>
      </dgm:t>
    </dgm:pt>
    <dgm:pt modelId="{077F97B1-32C2-453B-AA07-7A8F7DC75B28}" type="sibTrans" cxnId="{33F34D4D-844B-4309-91F1-2D71039CC08C}">
      <dgm:prSet/>
      <dgm:spPr/>
      <dgm:t>
        <a:bodyPr/>
        <a:lstStyle/>
        <a:p>
          <a:endParaRPr lang="en-GB">
            <a:latin typeface="Calibri" panose="020F0502020204030204" pitchFamily="34" charset="0"/>
          </a:endParaRPr>
        </a:p>
      </dgm:t>
    </dgm:pt>
    <dgm:pt modelId="{3BDA06C9-41F1-4324-B47B-FD9322F22076}">
      <dgm:prSet/>
      <dgm:spPr/>
      <dgm:t>
        <a:bodyPr/>
        <a:lstStyle/>
        <a:p>
          <a:r>
            <a:rPr lang="en-US" dirty="0" smtClean="0">
              <a:solidFill>
                <a:schemeClr val="bg2">
                  <a:lumMod val="10000"/>
                </a:schemeClr>
              </a:solidFill>
              <a:latin typeface="Calibri" panose="020F0502020204030204" pitchFamily="34" charset="0"/>
            </a:rPr>
            <a:t>Growth is broad based; recovery in commodity producers helps the modest global upturn</a:t>
          </a:r>
          <a:endParaRPr lang="en-GB" dirty="0" smtClean="0">
            <a:solidFill>
              <a:schemeClr val="bg2">
                <a:lumMod val="10000"/>
              </a:schemeClr>
            </a:solidFill>
            <a:latin typeface="Calibri" panose="020F0502020204030204" pitchFamily="34" charset="0"/>
          </a:endParaRPr>
        </a:p>
      </dgm:t>
    </dgm:pt>
    <dgm:pt modelId="{68A95A56-5757-4B67-8390-A31F0B0037F9}" type="parTrans" cxnId="{43479365-8FA3-41F5-B10E-1E225A4D5723}">
      <dgm:prSet/>
      <dgm:spPr/>
      <dgm:t>
        <a:bodyPr/>
        <a:lstStyle/>
        <a:p>
          <a:endParaRPr lang="en-GB">
            <a:latin typeface="Calibri" panose="020F0502020204030204" pitchFamily="34" charset="0"/>
          </a:endParaRPr>
        </a:p>
      </dgm:t>
    </dgm:pt>
    <dgm:pt modelId="{9FC0B700-BAC5-444B-A109-D6595B3DE849}" type="sibTrans" cxnId="{43479365-8FA3-41F5-B10E-1E225A4D5723}">
      <dgm:prSet/>
      <dgm:spPr/>
      <dgm:t>
        <a:bodyPr/>
        <a:lstStyle/>
        <a:p>
          <a:endParaRPr lang="en-GB">
            <a:latin typeface="Calibri" panose="020F0502020204030204" pitchFamily="34" charset="0"/>
          </a:endParaRPr>
        </a:p>
      </dgm:t>
    </dgm:pt>
    <dgm:pt modelId="{94526619-ADE9-4975-A209-1206B2423C38}">
      <dgm:prSet/>
      <dgm:spPr/>
      <dgm:t>
        <a:bodyPr/>
        <a:lstStyle/>
        <a:p>
          <a:r>
            <a:rPr lang="en-GB" dirty="0" smtClean="0">
              <a:solidFill>
                <a:schemeClr val="bg2">
                  <a:lumMod val="10000"/>
                </a:schemeClr>
              </a:solidFill>
              <a:latin typeface="Calibri" panose="020F0502020204030204" pitchFamily="34" charset="0"/>
            </a:rPr>
            <a:t>Headline employment indicators are improving but labour markets have not recovered</a:t>
          </a:r>
        </a:p>
      </dgm:t>
    </dgm:pt>
    <dgm:pt modelId="{56BF7F1D-70AF-401A-A4BE-6C616B75B134}" type="parTrans" cxnId="{705B9F36-B466-4E78-9711-00BA06938028}">
      <dgm:prSet/>
      <dgm:spPr/>
      <dgm:t>
        <a:bodyPr/>
        <a:lstStyle/>
        <a:p>
          <a:endParaRPr lang="en-GB">
            <a:latin typeface="Calibri" panose="020F0502020204030204" pitchFamily="34" charset="0"/>
          </a:endParaRPr>
        </a:p>
      </dgm:t>
    </dgm:pt>
    <dgm:pt modelId="{EFF9F49E-5A2F-409F-8A4C-43657ADA0126}" type="sibTrans" cxnId="{705B9F36-B466-4E78-9711-00BA06938028}">
      <dgm:prSet/>
      <dgm:spPr/>
      <dgm:t>
        <a:bodyPr/>
        <a:lstStyle/>
        <a:p>
          <a:endParaRPr lang="en-GB">
            <a:latin typeface="Calibri" panose="020F0502020204030204" pitchFamily="34" charset="0"/>
          </a:endParaRPr>
        </a:p>
      </dgm:t>
    </dgm:pt>
    <dgm:pt modelId="{1E9D3748-E159-4EC9-8912-7AFB54D896E8}">
      <dgm:prSet/>
      <dgm:spPr/>
      <dgm:t>
        <a:bodyPr/>
        <a:lstStyle/>
        <a:p>
          <a:r>
            <a:rPr lang="en-US" dirty="0" smtClean="0">
              <a:solidFill>
                <a:schemeClr val="bg2">
                  <a:lumMod val="10000"/>
                </a:schemeClr>
              </a:solidFill>
              <a:latin typeface="Calibri" panose="020F0502020204030204" pitchFamily="34" charset="0"/>
            </a:rPr>
            <a:t>Financial risks from high and rising credit growth, house price increases, interest rate gaps</a:t>
          </a:r>
          <a:endParaRPr lang="en-GB" dirty="0" smtClean="0">
            <a:solidFill>
              <a:schemeClr val="bg2">
                <a:lumMod val="10000"/>
              </a:schemeClr>
            </a:solidFill>
            <a:latin typeface="Calibri" panose="020F0502020204030204" pitchFamily="34" charset="0"/>
          </a:endParaRPr>
        </a:p>
      </dgm:t>
    </dgm:pt>
    <dgm:pt modelId="{20B72C64-47B4-49ED-84C2-031F7AD8C095}" type="parTrans" cxnId="{67B238D7-40B4-47DC-A939-F18AE00B00B1}">
      <dgm:prSet/>
      <dgm:spPr/>
      <dgm:t>
        <a:bodyPr/>
        <a:lstStyle/>
        <a:p>
          <a:endParaRPr lang="en-GB">
            <a:latin typeface="Calibri" panose="020F0502020204030204" pitchFamily="34" charset="0"/>
          </a:endParaRPr>
        </a:p>
      </dgm:t>
    </dgm:pt>
    <dgm:pt modelId="{3B8DAD5D-0ECD-4585-9ADC-D9FCE88A6641}" type="sibTrans" cxnId="{67B238D7-40B4-47DC-A939-F18AE00B00B1}">
      <dgm:prSet/>
      <dgm:spPr/>
      <dgm:t>
        <a:bodyPr/>
        <a:lstStyle/>
        <a:p>
          <a:endParaRPr lang="en-GB">
            <a:latin typeface="Calibri" panose="020F0502020204030204" pitchFamily="34" charset="0"/>
          </a:endParaRPr>
        </a:p>
      </dgm:t>
    </dgm:pt>
    <dgm:pt modelId="{DCA8D2F6-0512-4BE3-8D00-0CD39364103D}">
      <dgm:prSet/>
      <dgm:spPr/>
      <dgm:t>
        <a:bodyPr/>
        <a:lstStyle/>
        <a:p>
          <a:pPr eaLnBrk="1" latinLnBrk="0"/>
          <a:r>
            <a:rPr lang="en-GB" dirty="0" smtClean="0">
              <a:solidFill>
                <a:schemeClr val="bg2">
                  <a:lumMod val="10000"/>
                </a:schemeClr>
              </a:solidFill>
              <a:latin typeface="Calibri" panose="020F0502020204030204" pitchFamily="34" charset="0"/>
            </a:rPr>
            <a:t>Targeted policies to help people who are left behind seize new opportunities</a:t>
          </a:r>
        </a:p>
      </dgm:t>
    </dgm:pt>
    <dgm:pt modelId="{E552743C-E71B-4861-972C-080EFB24BCDA}" type="parTrans" cxnId="{D21F9AFA-1F40-4590-873F-0B7900DE8CA3}">
      <dgm:prSet/>
      <dgm:spPr/>
      <dgm:t>
        <a:bodyPr/>
        <a:lstStyle/>
        <a:p>
          <a:endParaRPr lang="en-GB"/>
        </a:p>
      </dgm:t>
    </dgm:pt>
    <dgm:pt modelId="{20A6B2AA-6C1B-4381-A526-3AD302301D65}" type="sibTrans" cxnId="{D21F9AFA-1F40-4590-873F-0B7900DE8CA3}">
      <dgm:prSet/>
      <dgm:spPr/>
      <dgm:t>
        <a:bodyPr/>
        <a:lstStyle/>
        <a:p>
          <a:endParaRPr lang="en-GB"/>
        </a:p>
      </dgm:t>
    </dgm:pt>
    <dgm:pt modelId="{2E9BD066-5772-45B3-AF70-8A7A03272818}" type="pres">
      <dgm:prSet presAssocID="{312AE3AD-150C-4556-B9F3-C5AFE07518AD}" presName="linear" presStyleCnt="0">
        <dgm:presLayoutVars>
          <dgm:animLvl val="lvl"/>
          <dgm:resizeHandles val="exact"/>
        </dgm:presLayoutVars>
      </dgm:prSet>
      <dgm:spPr/>
      <dgm:t>
        <a:bodyPr/>
        <a:lstStyle/>
        <a:p>
          <a:endParaRPr lang="en-GB"/>
        </a:p>
      </dgm:t>
    </dgm:pt>
    <dgm:pt modelId="{B71E4610-9C7F-4FC1-B45C-3246453F732B}" type="pres">
      <dgm:prSet presAssocID="{28AA58F6-D958-4B10-9359-D08D4D103B97}" presName="parentText" presStyleLbl="node1" presStyleIdx="0" presStyleCnt="4" custScaleY="119926">
        <dgm:presLayoutVars>
          <dgm:chMax val="0"/>
          <dgm:bulletEnabled val="1"/>
        </dgm:presLayoutVars>
      </dgm:prSet>
      <dgm:spPr/>
      <dgm:t>
        <a:bodyPr/>
        <a:lstStyle/>
        <a:p>
          <a:endParaRPr lang="en-GB"/>
        </a:p>
      </dgm:t>
    </dgm:pt>
    <dgm:pt modelId="{59778523-FD02-412B-8EED-12620C0515E9}" type="pres">
      <dgm:prSet presAssocID="{28AA58F6-D958-4B10-9359-D08D4D103B97}" presName="childText" presStyleLbl="revTx" presStyleIdx="0" presStyleCnt="4">
        <dgm:presLayoutVars>
          <dgm:bulletEnabled val="1"/>
        </dgm:presLayoutVars>
      </dgm:prSet>
      <dgm:spPr/>
      <dgm:t>
        <a:bodyPr/>
        <a:lstStyle/>
        <a:p>
          <a:endParaRPr lang="en-GB"/>
        </a:p>
      </dgm:t>
    </dgm:pt>
    <dgm:pt modelId="{86CD86FE-BCDD-4F86-8258-550D41ABF992}" type="pres">
      <dgm:prSet presAssocID="{41E053C8-D301-4D12-AD77-7EE97ECC131D}" presName="parentText" presStyleLbl="node1" presStyleIdx="1" presStyleCnt="4" custScaleY="112620">
        <dgm:presLayoutVars>
          <dgm:chMax val="0"/>
          <dgm:bulletEnabled val="1"/>
        </dgm:presLayoutVars>
      </dgm:prSet>
      <dgm:spPr/>
      <dgm:t>
        <a:bodyPr/>
        <a:lstStyle/>
        <a:p>
          <a:endParaRPr lang="en-GB"/>
        </a:p>
      </dgm:t>
    </dgm:pt>
    <dgm:pt modelId="{4D106606-0D66-4779-A085-E8266C34AB2A}" type="pres">
      <dgm:prSet presAssocID="{41E053C8-D301-4D12-AD77-7EE97ECC131D}" presName="childText" presStyleLbl="revTx" presStyleIdx="1" presStyleCnt="4">
        <dgm:presLayoutVars>
          <dgm:bulletEnabled val="1"/>
        </dgm:presLayoutVars>
      </dgm:prSet>
      <dgm:spPr/>
      <dgm:t>
        <a:bodyPr/>
        <a:lstStyle/>
        <a:p>
          <a:endParaRPr lang="en-GB"/>
        </a:p>
      </dgm:t>
    </dgm:pt>
    <dgm:pt modelId="{9CFD6359-D6AA-429D-ADFE-D05F20309091}" type="pres">
      <dgm:prSet presAssocID="{0BD4BFF3-A846-4400-9B4D-1ECC79EBA5F8}" presName="parentText" presStyleLbl="node1" presStyleIdx="2" presStyleCnt="4" custScaleY="121626" custLinFactNeighborY="3088">
        <dgm:presLayoutVars>
          <dgm:chMax val="0"/>
          <dgm:bulletEnabled val="1"/>
        </dgm:presLayoutVars>
      </dgm:prSet>
      <dgm:spPr/>
      <dgm:t>
        <a:bodyPr/>
        <a:lstStyle/>
        <a:p>
          <a:endParaRPr lang="en-GB"/>
        </a:p>
      </dgm:t>
    </dgm:pt>
    <dgm:pt modelId="{E865CCEF-EA47-42BC-ABAD-CF3E5C00DE2D}" type="pres">
      <dgm:prSet presAssocID="{0BD4BFF3-A846-4400-9B4D-1ECC79EBA5F8}" presName="childText" presStyleLbl="revTx" presStyleIdx="2" presStyleCnt="4" custLinFactNeighborY="3530">
        <dgm:presLayoutVars>
          <dgm:bulletEnabled val="1"/>
        </dgm:presLayoutVars>
      </dgm:prSet>
      <dgm:spPr/>
      <dgm:t>
        <a:bodyPr/>
        <a:lstStyle/>
        <a:p>
          <a:endParaRPr lang="en-GB"/>
        </a:p>
      </dgm:t>
    </dgm:pt>
    <dgm:pt modelId="{2B45D7B7-0834-4D13-8778-0BFAB98C78C2}" type="pres">
      <dgm:prSet presAssocID="{806919CF-651B-46A9-9F55-6A28278294E6}" presName="parentText" presStyleLbl="node1" presStyleIdx="3" presStyleCnt="4" custScaleY="114973" custLinFactNeighborY="2046">
        <dgm:presLayoutVars>
          <dgm:chMax val="0"/>
          <dgm:bulletEnabled val="1"/>
        </dgm:presLayoutVars>
      </dgm:prSet>
      <dgm:spPr/>
      <dgm:t>
        <a:bodyPr/>
        <a:lstStyle/>
        <a:p>
          <a:endParaRPr lang="en-GB"/>
        </a:p>
      </dgm:t>
    </dgm:pt>
    <dgm:pt modelId="{466AD614-18F8-4250-8704-A12C186A2560}" type="pres">
      <dgm:prSet presAssocID="{806919CF-651B-46A9-9F55-6A28278294E6}" presName="childText" presStyleLbl="revTx" presStyleIdx="3" presStyleCnt="4" custLinFactNeighborY="3530">
        <dgm:presLayoutVars>
          <dgm:bulletEnabled val="1"/>
        </dgm:presLayoutVars>
      </dgm:prSet>
      <dgm:spPr/>
      <dgm:t>
        <a:bodyPr/>
        <a:lstStyle/>
        <a:p>
          <a:endParaRPr lang="en-GB"/>
        </a:p>
      </dgm:t>
    </dgm:pt>
  </dgm:ptLst>
  <dgm:cxnLst>
    <dgm:cxn modelId="{F590CECD-2BFA-4266-B254-A6B09807B58B}" type="presOf" srcId="{312AE3AD-150C-4556-B9F3-C5AFE07518AD}" destId="{2E9BD066-5772-45B3-AF70-8A7A03272818}" srcOrd="0" destOrd="0" presId="urn:microsoft.com/office/officeart/2005/8/layout/vList2"/>
    <dgm:cxn modelId="{603FDC0A-637D-4E78-B428-8D08C3E15A4C}" type="presOf" srcId="{28AA58F6-D958-4B10-9359-D08D4D103B97}" destId="{B71E4610-9C7F-4FC1-B45C-3246453F732B}" srcOrd="0" destOrd="0" presId="urn:microsoft.com/office/officeart/2005/8/layout/vList2"/>
    <dgm:cxn modelId="{E64A65F2-6B56-4204-A648-9FD888184D20}" type="presOf" srcId="{0BD4BFF3-A846-4400-9B4D-1ECC79EBA5F8}" destId="{9CFD6359-D6AA-429D-ADFE-D05F20309091}" srcOrd="0" destOrd="0" presId="urn:microsoft.com/office/officeart/2005/8/layout/vList2"/>
    <dgm:cxn modelId="{9462F653-2C88-47FC-B583-152A4B02B81A}" type="presOf" srcId="{553FD138-D451-4870-97BF-70183F97EA30}" destId="{E865CCEF-EA47-42BC-ABAD-CF3E5C00DE2D}" srcOrd="0" destOrd="1" presId="urn:microsoft.com/office/officeart/2005/8/layout/vList2"/>
    <dgm:cxn modelId="{22616761-6D3E-4F0D-BFB4-BA0190F21668}" type="presOf" srcId="{41E053C8-D301-4D12-AD77-7EE97ECC131D}" destId="{86CD86FE-BCDD-4F86-8258-550D41ABF992}" srcOrd="0" destOrd="0" presId="urn:microsoft.com/office/officeart/2005/8/layout/vList2"/>
    <dgm:cxn modelId="{56DCEC49-4C78-46A2-8DDF-3A9F8D6C4D56}" type="presOf" srcId="{94526619-ADE9-4975-A209-1206B2423C38}" destId="{4D106606-0D66-4779-A085-E8266C34AB2A}" srcOrd="0" destOrd="0" presId="urn:microsoft.com/office/officeart/2005/8/layout/vList2"/>
    <dgm:cxn modelId="{B0B2F67A-EBA5-48F4-A6DC-6B545647974D}" srcId="{312AE3AD-150C-4556-B9F3-C5AFE07518AD}" destId="{41E053C8-D301-4D12-AD77-7EE97ECC131D}" srcOrd="1" destOrd="0" parTransId="{E94A589A-0C85-450C-AE1A-FBF4CE0F2A81}" sibTransId="{9D04F1D8-B208-4490-A62E-6562FDAC00FC}"/>
    <dgm:cxn modelId="{D7E958C7-D684-4AB9-9C24-CB1C5BCFFBFA}" type="presOf" srcId="{3BDA06C9-41F1-4324-B47B-FD9322F22076}" destId="{59778523-FD02-412B-8EED-12620C0515E9}" srcOrd="0" destOrd="1" presId="urn:microsoft.com/office/officeart/2005/8/layout/vList2"/>
    <dgm:cxn modelId="{FEC8D880-A663-402B-A787-3C914236B237}" srcId="{28AA58F6-D958-4B10-9359-D08D4D103B97}" destId="{ABFAF83A-6C73-47F6-896E-A9BD27B48A39}" srcOrd="2" destOrd="0" parTransId="{A75B0344-DEA6-4F23-B9A2-5187C1B55793}" sibTransId="{94733AA1-8077-4264-929A-A4870403E5DA}"/>
    <dgm:cxn modelId="{E454A417-3B26-4064-AA44-E1A3E095A938}" type="presOf" srcId="{DCA8D2F6-0512-4BE3-8D00-0CD39364103D}" destId="{466AD614-18F8-4250-8704-A12C186A2560}" srcOrd="0" destOrd="2" presId="urn:microsoft.com/office/officeart/2005/8/layout/vList2"/>
    <dgm:cxn modelId="{B27A379C-FD63-4C1A-89DC-8BCCFEE7E8C4}" type="presOf" srcId="{596912E9-CAED-4E0C-A5E9-871A9237F95F}" destId="{466AD614-18F8-4250-8704-A12C186A2560}" srcOrd="0" destOrd="1" presId="urn:microsoft.com/office/officeart/2005/8/layout/vList2"/>
    <dgm:cxn modelId="{2B09D2B6-5D01-444A-A4FA-190A0096ED59}" srcId="{806919CF-651B-46A9-9F55-6A28278294E6}" destId="{596912E9-CAED-4E0C-A5E9-871A9237F95F}" srcOrd="1" destOrd="0" parTransId="{E08425F1-88FC-4C62-8AFB-FB401A12C4F8}" sibTransId="{44FC58D6-B872-4528-BD0F-539ABBFB23E9}"/>
    <dgm:cxn modelId="{33F34D4D-844B-4309-91F1-2D71039CC08C}" srcId="{0BD4BFF3-A846-4400-9B4D-1ECC79EBA5F8}" destId="{553FD138-D451-4870-97BF-70183F97EA30}" srcOrd="1" destOrd="0" parTransId="{43E28135-AFF9-4B2C-B41B-8023F9E19884}" sibTransId="{077F97B1-32C2-453B-AA07-7A8F7DC75B28}"/>
    <dgm:cxn modelId="{5302161C-846A-4FDA-9CDD-C3F3F1210388}" type="presOf" srcId="{806919CF-651B-46A9-9F55-6A28278294E6}" destId="{2B45D7B7-0834-4D13-8778-0BFAB98C78C2}" srcOrd="0" destOrd="0" presId="urn:microsoft.com/office/officeart/2005/8/layout/vList2"/>
    <dgm:cxn modelId="{7FC4F6B6-7333-499E-8799-51F96AA60B84}" srcId="{312AE3AD-150C-4556-B9F3-C5AFE07518AD}" destId="{28AA58F6-D958-4B10-9359-D08D4D103B97}" srcOrd="0" destOrd="0" parTransId="{60C608F0-860E-4FC1-AB6C-6A893EFA9FC9}" sibTransId="{3083AE86-D778-4F5F-B1B6-4FB7AC7CBD51}"/>
    <dgm:cxn modelId="{FB3611A6-B48D-4A54-9E4F-F3AA4FA9ABAB}" type="presOf" srcId="{2723B6F0-42E6-4D85-ABC3-0B993B034402}" destId="{466AD614-18F8-4250-8704-A12C186A2560}" srcOrd="0" destOrd="0" presId="urn:microsoft.com/office/officeart/2005/8/layout/vList2"/>
    <dgm:cxn modelId="{6D09A9A1-FFEA-4EA9-A2E8-55285F8C0196}" srcId="{312AE3AD-150C-4556-B9F3-C5AFE07518AD}" destId="{0BD4BFF3-A846-4400-9B4D-1ECC79EBA5F8}" srcOrd="2" destOrd="0" parTransId="{225C00EA-9FEF-41B6-9C4F-92549965D946}" sibTransId="{203F14AC-C7A5-4E5E-9CBB-DE0F7A356B5A}"/>
    <dgm:cxn modelId="{D21F9AFA-1F40-4590-873F-0B7900DE8CA3}" srcId="{806919CF-651B-46A9-9F55-6A28278294E6}" destId="{DCA8D2F6-0512-4BE3-8D00-0CD39364103D}" srcOrd="2" destOrd="0" parTransId="{E552743C-E71B-4861-972C-080EFB24BCDA}" sibTransId="{20A6B2AA-6C1B-4381-A526-3AD302301D65}"/>
    <dgm:cxn modelId="{53C87B82-B0AB-49B4-8189-CF168536BEE3}" srcId="{806919CF-651B-46A9-9F55-6A28278294E6}" destId="{2723B6F0-42E6-4D85-ABC3-0B993B034402}" srcOrd="0" destOrd="0" parTransId="{289978A5-92C7-40F5-BD7A-00AECC89F112}" sibTransId="{51C7EF5C-A804-4B27-AC82-9BD6EE906EB9}"/>
    <dgm:cxn modelId="{22EA297E-C433-43DE-A9F8-57D4D82CB461}" type="presOf" srcId="{1E9D3748-E159-4EC9-8912-7AFB54D896E8}" destId="{4D106606-0D66-4779-A085-E8266C34AB2A}" srcOrd="0" destOrd="1" presId="urn:microsoft.com/office/officeart/2005/8/layout/vList2"/>
    <dgm:cxn modelId="{705B9F36-B466-4E78-9711-00BA06938028}" srcId="{41E053C8-D301-4D12-AD77-7EE97ECC131D}" destId="{94526619-ADE9-4975-A209-1206B2423C38}" srcOrd="0" destOrd="0" parTransId="{56BF7F1D-70AF-401A-A4BE-6C616B75B134}" sibTransId="{EFF9F49E-5A2F-409F-8A4C-43657ADA0126}"/>
    <dgm:cxn modelId="{3315629A-CE00-4EA6-A505-92EEC82995D3}" srcId="{312AE3AD-150C-4556-B9F3-C5AFE07518AD}" destId="{806919CF-651B-46A9-9F55-6A28278294E6}" srcOrd="3" destOrd="0" parTransId="{C176557D-E82E-4F64-8195-4FBA10DCA65F}" sibTransId="{504D45A1-33A0-469C-9F96-5CCFAF0F31C8}"/>
    <dgm:cxn modelId="{DB292FF2-CC4D-4050-9997-4883B8C5E792}" type="presOf" srcId="{ABFAF83A-6C73-47F6-896E-A9BD27B48A39}" destId="{59778523-FD02-412B-8EED-12620C0515E9}" srcOrd="0" destOrd="2" presId="urn:microsoft.com/office/officeart/2005/8/layout/vList2"/>
    <dgm:cxn modelId="{12AB3E7D-BD2B-4B16-B4C5-1D6AD6FD6A99}" type="presOf" srcId="{5547A09F-9281-4926-AFA4-01F6C5E99E46}" destId="{59778523-FD02-412B-8EED-12620C0515E9}" srcOrd="0" destOrd="0" presId="urn:microsoft.com/office/officeart/2005/8/layout/vList2"/>
    <dgm:cxn modelId="{43479365-8FA3-41F5-B10E-1E225A4D5723}" srcId="{28AA58F6-D958-4B10-9359-D08D4D103B97}" destId="{3BDA06C9-41F1-4324-B47B-FD9322F22076}" srcOrd="1" destOrd="0" parTransId="{68A95A56-5757-4B67-8390-A31F0B0037F9}" sibTransId="{9FC0B700-BAC5-444B-A109-D6595B3DE849}"/>
    <dgm:cxn modelId="{67B238D7-40B4-47DC-A939-F18AE00B00B1}" srcId="{41E053C8-D301-4D12-AD77-7EE97ECC131D}" destId="{1E9D3748-E159-4EC9-8912-7AFB54D896E8}" srcOrd="1" destOrd="0" parTransId="{20B72C64-47B4-49ED-84C2-031F7AD8C095}" sibTransId="{3B8DAD5D-0ECD-4585-9ADC-D9FCE88A6641}"/>
    <dgm:cxn modelId="{D679395B-FE98-42B9-BBBC-D1097520053F}" srcId="{0BD4BFF3-A846-4400-9B4D-1ECC79EBA5F8}" destId="{31CEF85D-C803-49E2-87B0-F5EDAD345FC9}" srcOrd="0" destOrd="0" parTransId="{F5240D1C-9F1F-45CB-A124-96F539746542}" sibTransId="{240024B0-F397-4B79-9323-A7BF70B621A9}"/>
    <dgm:cxn modelId="{C2BEBCDC-03B2-4D84-A49C-A63F131785DD}" srcId="{28AA58F6-D958-4B10-9359-D08D4D103B97}" destId="{5547A09F-9281-4926-AFA4-01F6C5E99E46}" srcOrd="0" destOrd="0" parTransId="{F3ACEA60-3461-4AC3-BB5D-893E4B822BE9}" sibTransId="{F76B773A-F1BB-45AE-853C-30C972F6D272}"/>
    <dgm:cxn modelId="{3BE347DC-11F6-4A9D-93A7-2379018EBE6B}" type="presOf" srcId="{31CEF85D-C803-49E2-87B0-F5EDAD345FC9}" destId="{E865CCEF-EA47-42BC-ABAD-CF3E5C00DE2D}" srcOrd="0" destOrd="0" presId="urn:microsoft.com/office/officeart/2005/8/layout/vList2"/>
    <dgm:cxn modelId="{FDD43C9A-C0FF-4A65-9C2D-DD5EBFDCF51C}" type="presParOf" srcId="{2E9BD066-5772-45B3-AF70-8A7A03272818}" destId="{B71E4610-9C7F-4FC1-B45C-3246453F732B}" srcOrd="0" destOrd="0" presId="urn:microsoft.com/office/officeart/2005/8/layout/vList2"/>
    <dgm:cxn modelId="{2FABFBCD-C1D7-4148-9241-B06601E9DFE8}" type="presParOf" srcId="{2E9BD066-5772-45B3-AF70-8A7A03272818}" destId="{59778523-FD02-412B-8EED-12620C0515E9}" srcOrd="1" destOrd="0" presId="urn:microsoft.com/office/officeart/2005/8/layout/vList2"/>
    <dgm:cxn modelId="{E372AA16-7338-42E3-BD01-DD58D02C24FA}" type="presParOf" srcId="{2E9BD066-5772-45B3-AF70-8A7A03272818}" destId="{86CD86FE-BCDD-4F86-8258-550D41ABF992}" srcOrd="2" destOrd="0" presId="urn:microsoft.com/office/officeart/2005/8/layout/vList2"/>
    <dgm:cxn modelId="{E518DEB3-03BF-477A-A095-349AA6454BB3}" type="presParOf" srcId="{2E9BD066-5772-45B3-AF70-8A7A03272818}" destId="{4D106606-0D66-4779-A085-E8266C34AB2A}" srcOrd="3" destOrd="0" presId="urn:microsoft.com/office/officeart/2005/8/layout/vList2"/>
    <dgm:cxn modelId="{A693E904-7D2E-4E5D-929D-BA4909CE4DE9}" type="presParOf" srcId="{2E9BD066-5772-45B3-AF70-8A7A03272818}" destId="{9CFD6359-D6AA-429D-ADFE-D05F20309091}" srcOrd="4" destOrd="0" presId="urn:microsoft.com/office/officeart/2005/8/layout/vList2"/>
    <dgm:cxn modelId="{8CEFDE8B-B995-44A2-BF6C-7A588C8CDCDC}" type="presParOf" srcId="{2E9BD066-5772-45B3-AF70-8A7A03272818}" destId="{E865CCEF-EA47-42BC-ABAD-CF3E5C00DE2D}" srcOrd="5" destOrd="0" presId="urn:microsoft.com/office/officeart/2005/8/layout/vList2"/>
    <dgm:cxn modelId="{5DB977C2-0720-479E-92EB-2C9B2BF3C0B3}" type="presParOf" srcId="{2E9BD066-5772-45B3-AF70-8A7A03272818}" destId="{2B45D7B7-0834-4D13-8778-0BFAB98C78C2}" srcOrd="6" destOrd="0" presId="urn:microsoft.com/office/officeart/2005/8/layout/vList2"/>
    <dgm:cxn modelId="{B49B4D58-995B-42D1-BCBE-C90913265EDD}" type="presParOf" srcId="{2E9BD066-5772-45B3-AF70-8A7A03272818}" destId="{466AD614-18F8-4250-8704-A12C186A2560}" srcOrd="7"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12AE3AD-150C-4556-B9F3-C5AFE07518AD}"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GB"/>
        </a:p>
      </dgm:t>
    </dgm:pt>
    <dgm:pt modelId="{28AA58F6-D958-4B10-9359-D08D4D103B97}">
      <dgm:prSet custT="1"/>
      <dgm:spPr/>
      <dgm:t>
        <a:bodyPr/>
        <a:lstStyle/>
        <a:p>
          <a:r>
            <a:rPr lang="en-GB" sz="2000" dirty="0" smtClean="0">
              <a:latin typeface="Calibri" panose="020F0502020204030204" pitchFamily="34" charset="0"/>
            </a:rPr>
            <a:t>Actions to improve the international environment:</a:t>
          </a:r>
        </a:p>
      </dgm:t>
    </dgm:pt>
    <dgm:pt modelId="{60C608F0-860E-4FC1-AB6C-6A893EFA9FC9}" type="parTrans" cxnId="{7FC4F6B6-7333-499E-8799-51F96AA60B84}">
      <dgm:prSet/>
      <dgm:spPr/>
      <dgm:t>
        <a:bodyPr/>
        <a:lstStyle/>
        <a:p>
          <a:endParaRPr lang="en-GB">
            <a:latin typeface="Calibri" panose="020F0502020204030204" pitchFamily="34" charset="0"/>
          </a:endParaRPr>
        </a:p>
      </dgm:t>
    </dgm:pt>
    <dgm:pt modelId="{3083AE86-D778-4F5F-B1B6-4FB7AC7CBD51}" type="sibTrans" cxnId="{7FC4F6B6-7333-499E-8799-51F96AA60B84}">
      <dgm:prSet/>
      <dgm:spPr/>
      <dgm:t>
        <a:bodyPr/>
        <a:lstStyle/>
        <a:p>
          <a:endParaRPr lang="en-GB">
            <a:latin typeface="Calibri" panose="020F0502020204030204" pitchFamily="34" charset="0"/>
          </a:endParaRPr>
        </a:p>
      </dgm:t>
    </dgm:pt>
    <dgm:pt modelId="{31FDEDA6-66D9-439F-8F48-7D1A3D83CB2C}">
      <dgm:prSet custT="1"/>
      <dgm:spPr/>
      <dgm:t>
        <a:bodyPr/>
        <a:lstStyle/>
        <a:p>
          <a:r>
            <a:rPr lang="en-GB" sz="1800" dirty="0" smtClean="0">
              <a:solidFill>
                <a:schemeClr val="bg2">
                  <a:lumMod val="10000"/>
                </a:schemeClr>
              </a:solidFill>
              <a:latin typeface="Calibri" panose="020F0502020204030204" pitchFamily="34" charset="0"/>
            </a:rPr>
            <a:t>Preserve institutions and standards, such as for labour and environmental protection</a:t>
          </a:r>
        </a:p>
      </dgm:t>
    </dgm:pt>
    <dgm:pt modelId="{09E8ADEA-8958-4BC9-B0A6-4BBA6912F297}" type="parTrans" cxnId="{9687FBD7-5570-4EE1-AD8C-0827D8FDFD8B}">
      <dgm:prSet/>
      <dgm:spPr/>
      <dgm:t>
        <a:bodyPr/>
        <a:lstStyle/>
        <a:p>
          <a:endParaRPr lang="en-GB">
            <a:latin typeface="Calibri" panose="020F0502020204030204" pitchFamily="34" charset="0"/>
          </a:endParaRPr>
        </a:p>
      </dgm:t>
    </dgm:pt>
    <dgm:pt modelId="{6D1C52CF-60AE-4EC8-BD3C-432DCD6C2CBF}" type="sibTrans" cxnId="{9687FBD7-5570-4EE1-AD8C-0827D8FDFD8B}">
      <dgm:prSet/>
      <dgm:spPr/>
      <dgm:t>
        <a:bodyPr/>
        <a:lstStyle/>
        <a:p>
          <a:endParaRPr lang="en-GB">
            <a:latin typeface="Calibri" panose="020F0502020204030204" pitchFamily="34" charset="0"/>
          </a:endParaRPr>
        </a:p>
      </dgm:t>
    </dgm:pt>
    <dgm:pt modelId="{5547A09F-9281-4926-AFA4-01F6C5E99E46}">
      <dgm:prSet custT="1"/>
      <dgm:spPr/>
      <dgm:t>
        <a:bodyPr/>
        <a:lstStyle/>
        <a:p>
          <a:r>
            <a:rPr lang="en-GB" sz="1800" dirty="0" smtClean="0">
              <a:solidFill>
                <a:schemeClr val="bg2">
                  <a:lumMod val="10000"/>
                </a:schemeClr>
              </a:solidFill>
              <a:latin typeface="Calibri" panose="020F0502020204030204" pitchFamily="34" charset="0"/>
            </a:rPr>
            <a:t>Pursue open markets for cross-border trade and investment</a:t>
          </a:r>
        </a:p>
      </dgm:t>
    </dgm:pt>
    <dgm:pt modelId="{F3ACEA60-3461-4AC3-BB5D-893E4B822BE9}" type="parTrans" cxnId="{C2BEBCDC-03B2-4D84-A49C-A63F131785DD}">
      <dgm:prSet/>
      <dgm:spPr/>
      <dgm:t>
        <a:bodyPr/>
        <a:lstStyle/>
        <a:p>
          <a:endParaRPr lang="en-GB">
            <a:latin typeface="Calibri" panose="020F0502020204030204" pitchFamily="34" charset="0"/>
          </a:endParaRPr>
        </a:p>
      </dgm:t>
    </dgm:pt>
    <dgm:pt modelId="{F76B773A-F1BB-45AE-853C-30C972F6D272}" type="sibTrans" cxnId="{C2BEBCDC-03B2-4D84-A49C-A63F131785DD}">
      <dgm:prSet/>
      <dgm:spPr/>
      <dgm:t>
        <a:bodyPr/>
        <a:lstStyle/>
        <a:p>
          <a:endParaRPr lang="en-GB">
            <a:latin typeface="Calibri" panose="020F0502020204030204" pitchFamily="34" charset="0"/>
          </a:endParaRPr>
        </a:p>
      </dgm:t>
    </dgm:pt>
    <dgm:pt modelId="{ABFAF83A-6C73-47F6-896E-A9BD27B48A39}">
      <dgm:prSet custT="1"/>
      <dgm:spPr/>
      <dgm:t>
        <a:bodyPr/>
        <a:lstStyle/>
        <a:p>
          <a:r>
            <a:rPr lang="en-GB" sz="1800" dirty="0" smtClean="0">
              <a:solidFill>
                <a:schemeClr val="bg2">
                  <a:lumMod val="10000"/>
                </a:schemeClr>
              </a:solidFill>
              <a:latin typeface="Calibri" panose="020F0502020204030204" pitchFamily="34" charset="0"/>
            </a:rPr>
            <a:t>Promote multilateral cooperation, e.g. on tax base erosion and profit shifting and competition policy</a:t>
          </a:r>
        </a:p>
      </dgm:t>
    </dgm:pt>
    <dgm:pt modelId="{A75B0344-DEA6-4F23-B9A2-5187C1B55793}" type="parTrans" cxnId="{FEC8D880-A663-402B-A787-3C914236B237}">
      <dgm:prSet/>
      <dgm:spPr/>
      <dgm:t>
        <a:bodyPr/>
        <a:lstStyle/>
        <a:p>
          <a:endParaRPr lang="en-GB">
            <a:latin typeface="Calibri" panose="020F0502020204030204" pitchFamily="34" charset="0"/>
          </a:endParaRPr>
        </a:p>
      </dgm:t>
    </dgm:pt>
    <dgm:pt modelId="{94733AA1-8077-4264-929A-A4870403E5DA}" type="sibTrans" cxnId="{FEC8D880-A663-402B-A787-3C914236B237}">
      <dgm:prSet/>
      <dgm:spPr/>
      <dgm:t>
        <a:bodyPr/>
        <a:lstStyle/>
        <a:p>
          <a:endParaRPr lang="en-GB">
            <a:latin typeface="Calibri" panose="020F0502020204030204" pitchFamily="34" charset="0"/>
          </a:endParaRPr>
        </a:p>
      </dgm:t>
    </dgm:pt>
    <dgm:pt modelId="{41E053C8-D301-4D12-AD77-7EE97ECC131D}">
      <dgm:prSet custT="1"/>
      <dgm:spPr/>
      <dgm:t>
        <a:bodyPr/>
        <a:lstStyle/>
        <a:p>
          <a:r>
            <a:rPr lang="en-GB" sz="1800" dirty="0" smtClean="0">
              <a:solidFill>
                <a:schemeClr val="bg2">
                  <a:lumMod val="10000"/>
                </a:schemeClr>
              </a:solidFill>
              <a:latin typeface="Calibri" panose="020F0502020204030204" pitchFamily="34" charset="0"/>
            </a:rPr>
            <a:t>Combat corruption, illicit trade and counterfeiting</a:t>
          </a:r>
        </a:p>
      </dgm:t>
    </dgm:pt>
    <dgm:pt modelId="{E94A589A-0C85-450C-AE1A-FBF4CE0F2A81}" type="parTrans" cxnId="{B0B2F67A-EBA5-48F4-A6DC-6B545647974D}">
      <dgm:prSet/>
      <dgm:spPr/>
      <dgm:t>
        <a:bodyPr/>
        <a:lstStyle/>
        <a:p>
          <a:endParaRPr lang="en-GB">
            <a:latin typeface="Calibri" panose="020F0502020204030204" pitchFamily="34" charset="0"/>
          </a:endParaRPr>
        </a:p>
      </dgm:t>
    </dgm:pt>
    <dgm:pt modelId="{9D04F1D8-B208-4490-A62E-6562FDAC00FC}" type="sibTrans" cxnId="{B0B2F67A-EBA5-48F4-A6DC-6B545647974D}">
      <dgm:prSet/>
      <dgm:spPr/>
      <dgm:t>
        <a:bodyPr/>
        <a:lstStyle/>
        <a:p>
          <a:endParaRPr lang="en-GB">
            <a:latin typeface="Calibri" panose="020F0502020204030204" pitchFamily="34" charset="0"/>
          </a:endParaRPr>
        </a:p>
      </dgm:t>
    </dgm:pt>
    <dgm:pt modelId="{D97F0E23-3469-49AA-8515-E38E0361369C}">
      <dgm:prSet custT="1"/>
      <dgm:spPr/>
      <dgm:t>
        <a:bodyPr/>
        <a:lstStyle/>
        <a:p>
          <a:endParaRPr lang="en-GB" sz="1800" dirty="0" smtClean="0">
            <a:solidFill>
              <a:schemeClr val="bg2">
                <a:lumMod val="10000"/>
              </a:schemeClr>
            </a:solidFill>
            <a:latin typeface="Calibri" panose="020F0502020204030204" pitchFamily="34" charset="0"/>
          </a:endParaRPr>
        </a:p>
      </dgm:t>
    </dgm:pt>
    <dgm:pt modelId="{6AA93C07-A878-4E1C-B974-8C08B510F320}" type="parTrans" cxnId="{ED097170-7D59-4F12-B292-86D74F524A55}">
      <dgm:prSet/>
      <dgm:spPr/>
      <dgm:t>
        <a:bodyPr/>
        <a:lstStyle/>
        <a:p>
          <a:endParaRPr lang="en-GB"/>
        </a:p>
      </dgm:t>
    </dgm:pt>
    <dgm:pt modelId="{C75C3C01-3CE1-4166-B916-4528E996C518}" type="sibTrans" cxnId="{ED097170-7D59-4F12-B292-86D74F524A55}">
      <dgm:prSet/>
      <dgm:spPr/>
      <dgm:t>
        <a:bodyPr/>
        <a:lstStyle/>
        <a:p>
          <a:endParaRPr lang="en-GB"/>
        </a:p>
      </dgm:t>
    </dgm:pt>
    <dgm:pt modelId="{7475AEAB-06AB-45E2-98CA-E2D0B86B0492}">
      <dgm:prSet custT="1"/>
      <dgm:spPr/>
      <dgm:t>
        <a:bodyPr/>
        <a:lstStyle/>
        <a:p>
          <a:endParaRPr lang="en-GB" sz="1800" dirty="0" smtClean="0">
            <a:solidFill>
              <a:schemeClr val="bg2">
                <a:lumMod val="10000"/>
              </a:schemeClr>
            </a:solidFill>
            <a:latin typeface="Calibri" panose="020F0502020204030204" pitchFamily="34" charset="0"/>
          </a:endParaRPr>
        </a:p>
      </dgm:t>
    </dgm:pt>
    <dgm:pt modelId="{66F03EFE-FA69-4CD3-BAA2-63E4651E3CE8}" type="parTrans" cxnId="{B0152A11-1F3E-4872-B78E-1413879CBBAB}">
      <dgm:prSet/>
      <dgm:spPr/>
      <dgm:t>
        <a:bodyPr/>
        <a:lstStyle/>
        <a:p>
          <a:endParaRPr lang="en-GB"/>
        </a:p>
      </dgm:t>
    </dgm:pt>
    <dgm:pt modelId="{10D2B5B8-D750-4282-B55A-26440552C0DA}" type="sibTrans" cxnId="{B0152A11-1F3E-4872-B78E-1413879CBBAB}">
      <dgm:prSet/>
      <dgm:spPr/>
      <dgm:t>
        <a:bodyPr/>
        <a:lstStyle/>
        <a:p>
          <a:endParaRPr lang="en-GB"/>
        </a:p>
      </dgm:t>
    </dgm:pt>
    <dgm:pt modelId="{3F646720-912F-4FB0-9C2E-579D95BB3C0E}">
      <dgm:prSet custT="1"/>
      <dgm:spPr/>
      <dgm:t>
        <a:bodyPr/>
        <a:lstStyle/>
        <a:p>
          <a:endParaRPr lang="en-GB" sz="1800" dirty="0" smtClean="0">
            <a:solidFill>
              <a:schemeClr val="bg2">
                <a:lumMod val="10000"/>
              </a:schemeClr>
            </a:solidFill>
            <a:latin typeface="Calibri" panose="020F0502020204030204" pitchFamily="34" charset="0"/>
          </a:endParaRPr>
        </a:p>
      </dgm:t>
    </dgm:pt>
    <dgm:pt modelId="{571E85A4-9ADF-4A1D-B6FB-2E10710F6424}" type="parTrans" cxnId="{9F9A79EC-6936-4CEB-9252-ADB6E1AE11AF}">
      <dgm:prSet/>
      <dgm:spPr/>
      <dgm:t>
        <a:bodyPr/>
        <a:lstStyle/>
        <a:p>
          <a:endParaRPr lang="en-GB"/>
        </a:p>
      </dgm:t>
    </dgm:pt>
    <dgm:pt modelId="{7AFE8B06-89EC-464A-8376-E7AF0C8DD4E5}" type="sibTrans" cxnId="{9F9A79EC-6936-4CEB-9252-ADB6E1AE11AF}">
      <dgm:prSet/>
      <dgm:spPr/>
      <dgm:t>
        <a:bodyPr/>
        <a:lstStyle/>
        <a:p>
          <a:endParaRPr lang="en-GB"/>
        </a:p>
      </dgm:t>
    </dgm:pt>
    <dgm:pt modelId="{2E9BD066-5772-45B3-AF70-8A7A03272818}" type="pres">
      <dgm:prSet presAssocID="{312AE3AD-150C-4556-B9F3-C5AFE07518AD}" presName="linear" presStyleCnt="0">
        <dgm:presLayoutVars>
          <dgm:animLvl val="lvl"/>
          <dgm:resizeHandles val="exact"/>
        </dgm:presLayoutVars>
      </dgm:prSet>
      <dgm:spPr/>
      <dgm:t>
        <a:bodyPr/>
        <a:lstStyle/>
        <a:p>
          <a:endParaRPr lang="en-GB"/>
        </a:p>
      </dgm:t>
    </dgm:pt>
    <dgm:pt modelId="{B71E4610-9C7F-4FC1-B45C-3246453F732B}" type="pres">
      <dgm:prSet presAssocID="{28AA58F6-D958-4B10-9359-D08D4D103B97}" presName="parentText" presStyleLbl="node1" presStyleIdx="0" presStyleCnt="1" custScaleY="63997" custLinFactNeighborY="-6367">
        <dgm:presLayoutVars>
          <dgm:chMax val="0"/>
          <dgm:bulletEnabled val="1"/>
        </dgm:presLayoutVars>
      </dgm:prSet>
      <dgm:spPr/>
      <dgm:t>
        <a:bodyPr/>
        <a:lstStyle/>
        <a:p>
          <a:endParaRPr lang="en-GB"/>
        </a:p>
      </dgm:t>
    </dgm:pt>
    <dgm:pt modelId="{59778523-FD02-412B-8EED-12620C0515E9}" type="pres">
      <dgm:prSet presAssocID="{28AA58F6-D958-4B10-9359-D08D4D103B97}" presName="childText" presStyleLbl="revTx" presStyleIdx="0" presStyleCnt="1" custScaleY="111489" custLinFactNeighborY="299">
        <dgm:presLayoutVars>
          <dgm:bulletEnabled val="1"/>
        </dgm:presLayoutVars>
      </dgm:prSet>
      <dgm:spPr/>
      <dgm:t>
        <a:bodyPr/>
        <a:lstStyle/>
        <a:p>
          <a:endParaRPr lang="en-GB"/>
        </a:p>
      </dgm:t>
    </dgm:pt>
  </dgm:ptLst>
  <dgm:cxnLst>
    <dgm:cxn modelId="{F6B25572-DB7F-415D-AF92-A43376E886A7}" type="presOf" srcId="{312AE3AD-150C-4556-B9F3-C5AFE07518AD}" destId="{2E9BD066-5772-45B3-AF70-8A7A03272818}" srcOrd="0" destOrd="0" presId="urn:microsoft.com/office/officeart/2005/8/layout/vList2"/>
    <dgm:cxn modelId="{36A437BC-6EDE-4303-A6D1-648012887460}" type="presOf" srcId="{7475AEAB-06AB-45E2-98CA-E2D0B86B0492}" destId="{59778523-FD02-412B-8EED-12620C0515E9}" srcOrd="0" destOrd="3" presId="urn:microsoft.com/office/officeart/2005/8/layout/vList2"/>
    <dgm:cxn modelId="{FD87779F-13BD-4EB3-806B-EFD57224520E}" type="presOf" srcId="{D97F0E23-3469-49AA-8515-E38E0361369C}" destId="{59778523-FD02-412B-8EED-12620C0515E9}" srcOrd="0" destOrd="1" presId="urn:microsoft.com/office/officeart/2005/8/layout/vList2"/>
    <dgm:cxn modelId="{C2BEBCDC-03B2-4D84-A49C-A63F131785DD}" srcId="{28AA58F6-D958-4B10-9359-D08D4D103B97}" destId="{5547A09F-9281-4926-AFA4-01F6C5E99E46}" srcOrd="0" destOrd="0" parTransId="{F3ACEA60-3461-4AC3-BB5D-893E4B822BE9}" sibTransId="{F76B773A-F1BB-45AE-853C-30C972F6D272}"/>
    <dgm:cxn modelId="{9F9A79EC-6936-4CEB-9252-ADB6E1AE11AF}" srcId="{28AA58F6-D958-4B10-9359-D08D4D103B97}" destId="{3F646720-912F-4FB0-9C2E-579D95BB3C0E}" srcOrd="5" destOrd="0" parTransId="{571E85A4-9ADF-4A1D-B6FB-2E10710F6424}" sibTransId="{7AFE8B06-89EC-464A-8376-E7AF0C8DD4E5}"/>
    <dgm:cxn modelId="{7FC4F6B6-7333-499E-8799-51F96AA60B84}" srcId="{312AE3AD-150C-4556-B9F3-C5AFE07518AD}" destId="{28AA58F6-D958-4B10-9359-D08D4D103B97}" srcOrd="0" destOrd="0" parTransId="{60C608F0-860E-4FC1-AB6C-6A893EFA9FC9}" sibTransId="{3083AE86-D778-4F5F-B1B6-4FB7AC7CBD51}"/>
    <dgm:cxn modelId="{B0152A11-1F3E-4872-B78E-1413879CBBAB}" srcId="{28AA58F6-D958-4B10-9359-D08D4D103B97}" destId="{7475AEAB-06AB-45E2-98CA-E2D0B86B0492}" srcOrd="3" destOrd="0" parTransId="{66F03EFE-FA69-4CD3-BAA2-63E4651E3CE8}" sibTransId="{10D2B5B8-D750-4282-B55A-26440552C0DA}"/>
    <dgm:cxn modelId="{5BA1823F-2135-46BA-AE99-EB8EF3E4522C}" type="presOf" srcId="{5547A09F-9281-4926-AFA4-01F6C5E99E46}" destId="{59778523-FD02-412B-8EED-12620C0515E9}" srcOrd="0" destOrd="0" presId="urn:microsoft.com/office/officeart/2005/8/layout/vList2"/>
    <dgm:cxn modelId="{9687FBD7-5570-4EE1-AD8C-0827D8FDFD8B}" srcId="{28AA58F6-D958-4B10-9359-D08D4D103B97}" destId="{31FDEDA6-66D9-439F-8F48-7D1A3D83CB2C}" srcOrd="2" destOrd="0" parTransId="{09E8ADEA-8958-4BC9-B0A6-4BBA6912F297}" sibTransId="{6D1C52CF-60AE-4EC8-BD3C-432DCD6C2CBF}"/>
    <dgm:cxn modelId="{7DCA2CC4-0A7D-43E4-B28B-3481C2FDAEDD}" type="presOf" srcId="{28AA58F6-D958-4B10-9359-D08D4D103B97}" destId="{B71E4610-9C7F-4FC1-B45C-3246453F732B}" srcOrd="0" destOrd="0" presId="urn:microsoft.com/office/officeart/2005/8/layout/vList2"/>
    <dgm:cxn modelId="{243CB387-1595-4467-BFEC-296652B1AC9B}" type="presOf" srcId="{31FDEDA6-66D9-439F-8F48-7D1A3D83CB2C}" destId="{59778523-FD02-412B-8EED-12620C0515E9}" srcOrd="0" destOrd="2" presId="urn:microsoft.com/office/officeart/2005/8/layout/vList2"/>
    <dgm:cxn modelId="{FEC8D880-A663-402B-A787-3C914236B237}" srcId="{28AA58F6-D958-4B10-9359-D08D4D103B97}" destId="{ABFAF83A-6C73-47F6-896E-A9BD27B48A39}" srcOrd="4" destOrd="0" parTransId="{A75B0344-DEA6-4F23-B9A2-5187C1B55793}" sibTransId="{94733AA1-8077-4264-929A-A4870403E5DA}"/>
    <dgm:cxn modelId="{9121E131-06A3-4D6D-9831-53334D27134B}" type="presOf" srcId="{3F646720-912F-4FB0-9C2E-579D95BB3C0E}" destId="{59778523-FD02-412B-8EED-12620C0515E9}" srcOrd="0" destOrd="5" presId="urn:microsoft.com/office/officeart/2005/8/layout/vList2"/>
    <dgm:cxn modelId="{3449CAFA-5480-46E9-A105-1E7FBF18FA42}" type="presOf" srcId="{ABFAF83A-6C73-47F6-896E-A9BD27B48A39}" destId="{59778523-FD02-412B-8EED-12620C0515E9}" srcOrd="0" destOrd="4" presId="urn:microsoft.com/office/officeart/2005/8/layout/vList2"/>
    <dgm:cxn modelId="{B0B2F67A-EBA5-48F4-A6DC-6B545647974D}" srcId="{28AA58F6-D958-4B10-9359-D08D4D103B97}" destId="{41E053C8-D301-4D12-AD77-7EE97ECC131D}" srcOrd="6" destOrd="0" parTransId="{E94A589A-0C85-450C-AE1A-FBF4CE0F2A81}" sibTransId="{9D04F1D8-B208-4490-A62E-6562FDAC00FC}"/>
    <dgm:cxn modelId="{ED097170-7D59-4F12-B292-86D74F524A55}" srcId="{28AA58F6-D958-4B10-9359-D08D4D103B97}" destId="{D97F0E23-3469-49AA-8515-E38E0361369C}" srcOrd="1" destOrd="0" parTransId="{6AA93C07-A878-4E1C-B974-8C08B510F320}" sibTransId="{C75C3C01-3CE1-4166-B916-4528E996C518}"/>
    <dgm:cxn modelId="{69363588-FB2C-42E2-90AB-819EEE464C0B}" type="presOf" srcId="{41E053C8-D301-4D12-AD77-7EE97ECC131D}" destId="{59778523-FD02-412B-8EED-12620C0515E9}" srcOrd="0" destOrd="6" presId="urn:microsoft.com/office/officeart/2005/8/layout/vList2"/>
    <dgm:cxn modelId="{19731FE0-04E1-4335-8190-F4F8766BCB4D}" type="presParOf" srcId="{2E9BD066-5772-45B3-AF70-8A7A03272818}" destId="{B71E4610-9C7F-4FC1-B45C-3246453F732B}" srcOrd="0" destOrd="0" presId="urn:microsoft.com/office/officeart/2005/8/layout/vList2"/>
    <dgm:cxn modelId="{86869DF5-4922-48FF-9D9F-1330D993A69D}" type="presParOf" srcId="{2E9BD066-5772-45B3-AF70-8A7A03272818}" destId="{59778523-FD02-412B-8EED-12620C0515E9}" srcOrd="1"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DACCB16-A97F-4AE7-BD91-9707F88F1702}" type="doc">
      <dgm:prSet loTypeId="urn:microsoft.com/office/officeart/2005/8/layout/pyramid4" loCatId="relationship" qsTypeId="urn:microsoft.com/office/officeart/2005/8/quickstyle/simple1" qsCatId="simple" csTypeId="urn:microsoft.com/office/officeart/2005/8/colors/accent1_2" csCatId="accent1" phldr="1"/>
      <dgm:spPr/>
      <dgm:t>
        <a:bodyPr/>
        <a:lstStyle/>
        <a:p>
          <a:endParaRPr lang="en-GB"/>
        </a:p>
      </dgm:t>
    </dgm:pt>
    <dgm:pt modelId="{894ED217-942A-4E2E-9CE7-D7FE3BFFED54}">
      <dgm:prSet custT="1"/>
      <dgm:spPr/>
      <dgm:t>
        <a:bodyPr anchor="t"/>
        <a:lstStyle/>
        <a:p>
          <a:r>
            <a:rPr lang="en-GB" sz="1600" b="1" dirty="0" smtClean="0">
              <a:latin typeface="Calibri" panose="020F0502020204030204" pitchFamily="34" charset="0"/>
            </a:rPr>
            <a:t>Make the international system fairer and work better</a:t>
          </a:r>
          <a:endParaRPr lang="en-GB" sz="1600" b="1" dirty="0">
            <a:latin typeface="Calibri" panose="020F0502020204030204" pitchFamily="34" charset="0"/>
          </a:endParaRPr>
        </a:p>
      </dgm:t>
    </dgm:pt>
    <dgm:pt modelId="{0E31CBB5-35C9-4F7F-88A8-446173ADC26A}" type="parTrans" cxnId="{F0D27D8E-B81D-403E-8C56-1E6F8F2547EC}">
      <dgm:prSet/>
      <dgm:spPr/>
      <dgm:t>
        <a:bodyPr/>
        <a:lstStyle/>
        <a:p>
          <a:endParaRPr lang="en-GB" sz="1400" b="1">
            <a:latin typeface="Calibri" panose="020F0502020204030204" pitchFamily="34" charset="0"/>
          </a:endParaRPr>
        </a:p>
      </dgm:t>
    </dgm:pt>
    <dgm:pt modelId="{3FE477C9-D35F-4B5A-B4FA-1D112311BBDE}" type="sibTrans" cxnId="{F0D27D8E-B81D-403E-8C56-1E6F8F2547EC}">
      <dgm:prSet/>
      <dgm:spPr/>
      <dgm:t>
        <a:bodyPr/>
        <a:lstStyle/>
        <a:p>
          <a:endParaRPr lang="en-GB" sz="1400" b="1">
            <a:latin typeface="Calibri" panose="020F0502020204030204" pitchFamily="34" charset="0"/>
          </a:endParaRPr>
        </a:p>
      </dgm:t>
    </dgm:pt>
    <dgm:pt modelId="{CFDC4C17-B4A3-402B-8DD0-B7E7A1CE2665}">
      <dgm:prSet phldrT="[Text]" custT="1"/>
      <dgm:spPr/>
      <dgm:t>
        <a:bodyPr/>
        <a:lstStyle/>
        <a:p>
          <a:r>
            <a:rPr lang="en-GB" sz="1600" b="1" dirty="0" smtClean="0">
              <a:solidFill>
                <a:schemeClr val="bg1"/>
              </a:solidFill>
              <a:latin typeface="Calibri" panose="020F0502020204030204" pitchFamily="34" charset="0"/>
            </a:rPr>
            <a:t>Policies to encourage new firms, innovation &amp; job creation</a:t>
          </a:r>
          <a:endParaRPr lang="en-GB" sz="1600" b="1" dirty="0">
            <a:solidFill>
              <a:schemeClr val="bg1"/>
            </a:solidFill>
            <a:latin typeface="Calibri" panose="020F0502020204030204" pitchFamily="34" charset="0"/>
          </a:endParaRPr>
        </a:p>
      </dgm:t>
    </dgm:pt>
    <dgm:pt modelId="{5E3008B7-8F69-4F0C-AD1E-C70E0305C062}" type="parTrans" cxnId="{EDB180D3-2027-459B-AED8-79F8E30CD0EB}">
      <dgm:prSet/>
      <dgm:spPr/>
      <dgm:t>
        <a:bodyPr/>
        <a:lstStyle/>
        <a:p>
          <a:endParaRPr lang="en-GB" sz="1400" b="1">
            <a:latin typeface="Calibri" panose="020F0502020204030204" pitchFamily="34" charset="0"/>
          </a:endParaRPr>
        </a:p>
      </dgm:t>
    </dgm:pt>
    <dgm:pt modelId="{0DA15BDD-8C02-4177-B987-23C4D332A976}" type="sibTrans" cxnId="{EDB180D3-2027-459B-AED8-79F8E30CD0EB}">
      <dgm:prSet/>
      <dgm:spPr/>
      <dgm:t>
        <a:bodyPr/>
        <a:lstStyle/>
        <a:p>
          <a:endParaRPr lang="en-GB" sz="1400" b="1">
            <a:latin typeface="Calibri" panose="020F0502020204030204" pitchFamily="34" charset="0"/>
          </a:endParaRPr>
        </a:p>
      </dgm:t>
    </dgm:pt>
    <dgm:pt modelId="{938A20E0-2977-41EA-BD98-C22B2E5B2A5C}">
      <dgm:prSet phldrT="[Text]" custT="1"/>
      <dgm:spPr/>
      <dgm:t>
        <a:bodyPr/>
        <a:lstStyle/>
        <a:p>
          <a:r>
            <a:rPr lang="en-GB" sz="1600" b="1" dirty="0" smtClean="0">
              <a:latin typeface="Calibri" panose="020F0502020204030204" pitchFamily="34" charset="0"/>
            </a:rPr>
            <a:t>Targeted policies to help people seize new </a:t>
          </a:r>
          <a:r>
            <a:rPr lang="en-GB" sz="1550" b="1" dirty="0" smtClean="0">
              <a:latin typeface="Calibri" panose="020F0502020204030204" pitchFamily="34" charset="0"/>
            </a:rPr>
            <a:t>opportunities</a:t>
          </a:r>
          <a:endParaRPr lang="en-GB" sz="1550" b="1" dirty="0">
            <a:latin typeface="Calibri" panose="020F0502020204030204" pitchFamily="34" charset="0"/>
          </a:endParaRPr>
        </a:p>
      </dgm:t>
    </dgm:pt>
    <dgm:pt modelId="{0724CEDD-2C28-4658-91FF-9AADEAC20DD3}" type="parTrans" cxnId="{D4BBC0C8-3B8A-4ABB-9224-8C6D2347C86B}">
      <dgm:prSet/>
      <dgm:spPr/>
      <dgm:t>
        <a:bodyPr/>
        <a:lstStyle/>
        <a:p>
          <a:endParaRPr lang="en-GB"/>
        </a:p>
      </dgm:t>
    </dgm:pt>
    <dgm:pt modelId="{F477D234-8611-43C6-8163-0E3AD3EA84A6}" type="sibTrans" cxnId="{D4BBC0C8-3B8A-4ABB-9224-8C6D2347C86B}">
      <dgm:prSet/>
      <dgm:spPr/>
      <dgm:t>
        <a:bodyPr/>
        <a:lstStyle/>
        <a:p>
          <a:endParaRPr lang="en-GB"/>
        </a:p>
      </dgm:t>
    </dgm:pt>
    <dgm:pt modelId="{08F48176-C6C2-4E03-A868-8265352F91FF}">
      <dgm:prSet phldrT="[Text]" custT="1"/>
      <dgm:spPr>
        <a:solidFill>
          <a:schemeClr val="accent1">
            <a:lumMod val="40000"/>
            <a:lumOff val="60000"/>
          </a:schemeClr>
        </a:solidFill>
      </dgm:spPr>
      <dgm:t>
        <a:bodyPr/>
        <a:lstStyle/>
        <a:p>
          <a:endParaRPr lang="en-GB" sz="1400" b="1" dirty="0">
            <a:latin typeface="Calibri" panose="020F0502020204030204" pitchFamily="34" charset="0"/>
          </a:endParaRPr>
        </a:p>
      </dgm:t>
    </dgm:pt>
    <dgm:pt modelId="{CFDC7288-346A-4AB1-B045-24CD3680CA50}" type="parTrans" cxnId="{7295D42E-8537-48D4-8280-2B827F8891B2}">
      <dgm:prSet/>
      <dgm:spPr/>
      <dgm:t>
        <a:bodyPr/>
        <a:lstStyle/>
        <a:p>
          <a:endParaRPr lang="en-GB"/>
        </a:p>
      </dgm:t>
    </dgm:pt>
    <dgm:pt modelId="{03A1E7B4-79BC-4E8F-83BA-259BF6086CCB}" type="sibTrans" cxnId="{7295D42E-8537-48D4-8280-2B827F8891B2}">
      <dgm:prSet/>
      <dgm:spPr/>
      <dgm:t>
        <a:bodyPr/>
        <a:lstStyle/>
        <a:p>
          <a:endParaRPr lang="en-GB"/>
        </a:p>
      </dgm:t>
    </dgm:pt>
    <dgm:pt modelId="{C7C00932-50D6-4289-BB7C-788D8094F781}" type="pres">
      <dgm:prSet presAssocID="{DDACCB16-A97F-4AE7-BD91-9707F88F1702}" presName="compositeShape" presStyleCnt="0">
        <dgm:presLayoutVars>
          <dgm:chMax val="9"/>
          <dgm:dir/>
          <dgm:resizeHandles val="exact"/>
        </dgm:presLayoutVars>
      </dgm:prSet>
      <dgm:spPr/>
      <dgm:t>
        <a:bodyPr/>
        <a:lstStyle/>
        <a:p>
          <a:endParaRPr lang="en-GB"/>
        </a:p>
      </dgm:t>
    </dgm:pt>
    <dgm:pt modelId="{6CE2A82E-78D8-4AA1-9997-FA861DC45FCE}" type="pres">
      <dgm:prSet presAssocID="{DDACCB16-A97F-4AE7-BD91-9707F88F1702}" presName="triangle1" presStyleLbl="node1" presStyleIdx="0" presStyleCnt="4">
        <dgm:presLayoutVars>
          <dgm:bulletEnabled val="1"/>
        </dgm:presLayoutVars>
      </dgm:prSet>
      <dgm:spPr/>
      <dgm:t>
        <a:bodyPr/>
        <a:lstStyle/>
        <a:p>
          <a:endParaRPr lang="en-GB"/>
        </a:p>
      </dgm:t>
    </dgm:pt>
    <dgm:pt modelId="{402A8876-6D7F-4D19-8F3D-9BE49D0BE090}" type="pres">
      <dgm:prSet presAssocID="{DDACCB16-A97F-4AE7-BD91-9707F88F1702}" presName="triangle2" presStyleLbl="node1" presStyleIdx="1" presStyleCnt="4">
        <dgm:presLayoutVars>
          <dgm:bulletEnabled val="1"/>
        </dgm:presLayoutVars>
      </dgm:prSet>
      <dgm:spPr/>
      <dgm:t>
        <a:bodyPr/>
        <a:lstStyle/>
        <a:p>
          <a:endParaRPr lang="en-GB"/>
        </a:p>
      </dgm:t>
    </dgm:pt>
    <dgm:pt modelId="{345CFC21-535E-4D1D-A1B2-2506225BE7BD}" type="pres">
      <dgm:prSet presAssocID="{DDACCB16-A97F-4AE7-BD91-9707F88F1702}" presName="triangle3" presStyleLbl="node1" presStyleIdx="2" presStyleCnt="4">
        <dgm:presLayoutVars>
          <dgm:bulletEnabled val="1"/>
        </dgm:presLayoutVars>
      </dgm:prSet>
      <dgm:spPr/>
      <dgm:t>
        <a:bodyPr/>
        <a:lstStyle/>
        <a:p>
          <a:endParaRPr lang="en-GB"/>
        </a:p>
      </dgm:t>
    </dgm:pt>
    <dgm:pt modelId="{9C8B428A-02B9-4336-8CE1-BA240C7BD6D4}" type="pres">
      <dgm:prSet presAssocID="{DDACCB16-A97F-4AE7-BD91-9707F88F1702}" presName="triangle4" presStyleLbl="node1" presStyleIdx="3" presStyleCnt="4">
        <dgm:presLayoutVars>
          <dgm:bulletEnabled val="1"/>
        </dgm:presLayoutVars>
      </dgm:prSet>
      <dgm:spPr/>
      <dgm:t>
        <a:bodyPr/>
        <a:lstStyle/>
        <a:p>
          <a:endParaRPr lang="en-GB"/>
        </a:p>
      </dgm:t>
    </dgm:pt>
  </dgm:ptLst>
  <dgm:cxnLst>
    <dgm:cxn modelId="{C4E21589-0A0C-48C9-B778-CA55B1A17848}" type="presOf" srcId="{938A20E0-2977-41EA-BD98-C22B2E5B2A5C}" destId="{9C8B428A-02B9-4336-8CE1-BA240C7BD6D4}" srcOrd="0" destOrd="0" presId="urn:microsoft.com/office/officeart/2005/8/layout/pyramid4"/>
    <dgm:cxn modelId="{7295D42E-8537-48D4-8280-2B827F8891B2}" srcId="{DDACCB16-A97F-4AE7-BD91-9707F88F1702}" destId="{08F48176-C6C2-4E03-A868-8265352F91FF}" srcOrd="2" destOrd="0" parTransId="{CFDC7288-346A-4AB1-B045-24CD3680CA50}" sibTransId="{03A1E7B4-79BC-4E8F-83BA-259BF6086CCB}"/>
    <dgm:cxn modelId="{D4BBC0C8-3B8A-4ABB-9224-8C6D2347C86B}" srcId="{DDACCB16-A97F-4AE7-BD91-9707F88F1702}" destId="{938A20E0-2977-41EA-BD98-C22B2E5B2A5C}" srcOrd="3" destOrd="0" parTransId="{0724CEDD-2C28-4658-91FF-9AADEAC20DD3}" sibTransId="{F477D234-8611-43C6-8163-0E3AD3EA84A6}"/>
    <dgm:cxn modelId="{EDB180D3-2027-459B-AED8-79F8E30CD0EB}" srcId="{DDACCB16-A97F-4AE7-BD91-9707F88F1702}" destId="{CFDC4C17-B4A3-402B-8DD0-B7E7A1CE2665}" srcOrd="1" destOrd="0" parTransId="{5E3008B7-8F69-4F0C-AD1E-C70E0305C062}" sibTransId="{0DA15BDD-8C02-4177-B987-23C4D332A976}"/>
    <dgm:cxn modelId="{8AEA0CC2-1A97-4516-B0FE-0A92F82ECF2F}" type="presOf" srcId="{894ED217-942A-4E2E-9CE7-D7FE3BFFED54}" destId="{6CE2A82E-78D8-4AA1-9997-FA861DC45FCE}" srcOrd="0" destOrd="0" presId="urn:microsoft.com/office/officeart/2005/8/layout/pyramid4"/>
    <dgm:cxn modelId="{193CDDFD-E7C3-47D4-8B82-48CB95C956BE}" type="presOf" srcId="{CFDC4C17-B4A3-402B-8DD0-B7E7A1CE2665}" destId="{402A8876-6D7F-4D19-8F3D-9BE49D0BE090}" srcOrd="0" destOrd="0" presId="urn:microsoft.com/office/officeart/2005/8/layout/pyramid4"/>
    <dgm:cxn modelId="{6F9879C7-9ED7-45E2-93CC-873BFAB3AF38}" type="presOf" srcId="{08F48176-C6C2-4E03-A868-8265352F91FF}" destId="{345CFC21-535E-4D1D-A1B2-2506225BE7BD}" srcOrd="0" destOrd="0" presId="urn:microsoft.com/office/officeart/2005/8/layout/pyramid4"/>
    <dgm:cxn modelId="{CB3666E2-A1F7-4796-82DA-D105236E0E37}" type="presOf" srcId="{DDACCB16-A97F-4AE7-BD91-9707F88F1702}" destId="{C7C00932-50D6-4289-BB7C-788D8094F781}" srcOrd="0" destOrd="0" presId="urn:microsoft.com/office/officeart/2005/8/layout/pyramid4"/>
    <dgm:cxn modelId="{F0D27D8E-B81D-403E-8C56-1E6F8F2547EC}" srcId="{DDACCB16-A97F-4AE7-BD91-9707F88F1702}" destId="{894ED217-942A-4E2E-9CE7-D7FE3BFFED54}" srcOrd="0" destOrd="0" parTransId="{0E31CBB5-35C9-4F7F-88A8-446173ADC26A}" sibTransId="{3FE477C9-D35F-4B5A-B4FA-1D112311BBDE}"/>
    <dgm:cxn modelId="{F7F37DB8-C702-4688-9BAE-D5B022B7DC6B}" type="presParOf" srcId="{C7C00932-50D6-4289-BB7C-788D8094F781}" destId="{6CE2A82E-78D8-4AA1-9997-FA861DC45FCE}" srcOrd="0" destOrd="0" presId="urn:microsoft.com/office/officeart/2005/8/layout/pyramid4"/>
    <dgm:cxn modelId="{C2F11204-8B2C-42B1-9FE6-D174D0E4BB47}" type="presParOf" srcId="{C7C00932-50D6-4289-BB7C-788D8094F781}" destId="{402A8876-6D7F-4D19-8F3D-9BE49D0BE090}" srcOrd="1" destOrd="0" presId="urn:microsoft.com/office/officeart/2005/8/layout/pyramid4"/>
    <dgm:cxn modelId="{2E40B099-69DF-4C47-8846-8D236B48D11B}" type="presParOf" srcId="{C7C00932-50D6-4289-BB7C-788D8094F781}" destId="{345CFC21-535E-4D1D-A1B2-2506225BE7BD}" srcOrd="2" destOrd="0" presId="urn:microsoft.com/office/officeart/2005/8/layout/pyramid4"/>
    <dgm:cxn modelId="{C1777866-08B9-4250-8F6E-7BFA19C541A0}" type="presParOf" srcId="{C7C00932-50D6-4289-BB7C-788D8094F781}" destId="{9C8B428A-02B9-4336-8CE1-BA240C7BD6D4}" srcOrd="3" destOrd="0" presId="urn:microsoft.com/office/officeart/2005/8/layout/pyramid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1E4610-9C7F-4FC1-B45C-3246453F732B}">
      <dsp:nvSpPr>
        <dsp:cNvPr id="0" name=""/>
        <dsp:cNvSpPr/>
      </dsp:nvSpPr>
      <dsp:spPr>
        <a:xfrm>
          <a:off x="0" y="220817"/>
          <a:ext cx="8280920" cy="57528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Global growth expected to pick-up modestly </a:t>
          </a:r>
          <a:r>
            <a:rPr lang="en-GB" sz="2000" kern="1200" smtClean="0">
              <a:latin typeface="Calibri" panose="020F0502020204030204" pitchFamily="34" charset="0"/>
            </a:rPr>
            <a:t>with upside </a:t>
          </a:r>
          <a:r>
            <a:rPr lang="en-GB" sz="2000" kern="1200" dirty="0" smtClean="0">
              <a:latin typeface="Calibri" panose="020F0502020204030204" pitchFamily="34" charset="0"/>
            </a:rPr>
            <a:t>risks</a:t>
          </a:r>
        </a:p>
      </dsp:txBody>
      <dsp:txXfrm>
        <a:off x="28083" y="248900"/>
        <a:ext cx="8224754" cy="519119"/>
      </dsp:txXfrm>
    </dsp:sp>
    <dsp:sp modelId="{59778523-FD02-412B-8EED-12620C0515E9}">
      <dsp:nvSpPr>
        <dsp:cNvPr id="0" name=""/>
        <dsp:cNvSpPr/>
      </dsp:nvSpPr>
      <dsp:spPr>
        <a:xfrm>
          <a:off x="0" y="796102"/>
          <a:ext cx="8280920" cy="82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Confidence is increasing and investment and trade are picking up from low levels</a:t>
          </a:r>
        </a:p>
        <a:p>
          <a:pPr marL="171450" lvl="1" indent="-171450" algn="l" defTabSz="711200">
            <a:lnSpc>
              <a:spcPct val="90000"/>
            </a:lnSpc>
            <a:spcBef>
              <a:spcPct val="0"/>
            </a:spcBef>
            <a:spcAft>
              <a:spcPct val="20000"/>
            </a:spcAft>
            <a:buChar char="••"/>
          </a:pPr>
          <a:r>
            <a:rPr lang="en-US" sz="1600" kern="1200" dirty="0" smtClean="0">
              <a:solidFill>
                <a:schemeClr val="bg2">
                  <a:lumMod val="10000"/>
                </a:schemeClr>
              </a:solidFill>
              <a:latin typeface="Calibri" panose="020F0502020204030204" pitchFamily="34" charset="0"/>
            </a:rPr>
            <a:t>Growth is broad based; recovery in commodity producers helps the modest global upturn</a:t>
          </a:r>
          <a:endParaRPr lang="en-GB" sz="1600" kern="1200" dirty="0" smtClean="0">
            <a:solidFill>
              <a:schemeClr val="bg2">
                <a:lumMod val="10000"/>
              </a:schemeClr>
            </a:solidFill>
            <a:latin typeface="Calibri" panose="020F0502020204030204" pitchFamily="34" charset="0"/>
          </a:endParaRPr>
        </a:p>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Signs of rising demand for high-tech goods and investment to upgrade capital</a:t>
          </a:r>
        </a:p>
      </dsp:txBody>
      <dsp:txXfrm>
        <a:off x="0" y="796102"/>
        <a:ext cx="8280920" cy="828000"/>
      </dsp:txXfrm>
    </dsp:sp>
    <dsp:sp modelId="{86CD86FE-BCDD-4F86-8258-550D41ABF992}">
      <dsp:nvSpPr>
        <dsp:cNvPr id="0" name=""/>
        <dsp:cNvSpPr/>
      </dsp:nvSpPr>
      <dsp:spPr>
        <a:xfrm>
          <a:off x="0" y="1624102"/>
          <a:ext cx="8280920" cy="540238"/>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Productivity and wage growth remain subdued; financial stability risks persist</a:t>
          </a:r>
        </a:p>
      </dsp:txBody>
      <dsp:txXfrm>
        <a:off x="26372" y="1650474"/>
        <a:ext cx="8228176" cy="487494"/>
      </dsp:txXfrm>
    </dsp:sp>
    <dsp:sp modelId="{4D106606-0D66-4779-A085-E8266C34AB2A}">
      <dsp:nvSpPr>
        <dsp:cNvPr id="0" name=""/>
        <dsp:cNvSpPr/>
      </dsp:nvSpPr>
      <dsp:spPr>
        <a:xfrm>
          <a:off x="0" y="2164340"/>
          <a:ext cx="8280920" cy="5485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Headline employment indicators are improving but labour markets have not recovered</a:t>
          </a:r>
        </a:p>
        <a:p>
          <a:pPr marL="171450" lvl="1" indent="-171450" algn="l" defTabSz="711200">
            <a:lnSpc>
              <a:spcPct val="90000"/>
            </a:lnSpc>
            <a:spcBef>
              <a:spcPct val="0"/>
            </a:spcBef>
            <a:spcAft>
              <a:spcPct val="20000"/>
            </a:spcAft>
            <a:buChar char="••"/>
          </a:pPr>
          <a:r>
            <a:rPr lang="en-US" sz="1600" kern="1200" dirty="0" smtClean="0">
              <a:solidFill>
                <a:schemeClr val="bg2">
                  <a:lumMod val="10000"/>
                </a:schemeClr>
              </a:solidFill>
              <a:latin typeface="Calibri" panose="020F0502020204030204" pitchFamily="34" charset="0"/>
            </a:rPr>
            <a:t>Financial risks from high and rising credit growth, house price increases, interest rate gaps</a:t>
          </a:r>
          <a:endParaRPr lang="en-GB" sz="1600" kern="1200" dirty="0" smtClean="0">
            <a:solidFill>
              <a:schemeClr val="bg2">
                <a:lumMod val="10000"/>
              </a:schemeClr>
            </a:solidFill>
            <a:latin typeface="Calibri" panose="020F0502020204030204" pitchFamily="34" charset="0"/>
          </a:endParaRPr>
        </a:p>
      </dsp:txBody>
      <dsp:txXfrm>
        <a:off x="0" y="2164340"/>
        <a:ext cx="8280920" cy="548550"/>
      </dsp:txXfrm>
    </dsp:sp>
    <dsp:sp modelId="{9CFD6359-D6AA-429D-ADFE-D05F20309091}">
      <dsp:nvSpPr>
        <dsp:cNvPr id="0" name=""/>
        <dsp:cNvSpPr/>
      </dsp:nvSpPr>
      <dsp:spPr>
        <a:xfrm>
          <a:off x="0" y="2729830"/>
          <a:ext cx="8280920" cy="58343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More needs to be done to share the gains from structural trends and trade</a:t>
          </a:r>
        </a:p>
      </dsp:txBody>
      <dsp:txXfrm>
        <a:off x="28481" y="2758311"/>
        <a:ext cx="8223958" cy="526477"/>
      </dsp:txXfrm>
    </dsp:sp>
    <dsp:sp modelId="{E865CCEF-EA47-42BC-ABAD-CF3E5C00DE2D}">
      <dsp:nvSpPr>
        <dsp:cNvPr id="0" name=""/>
        <dsp:cNvSpPr/>
      </dsp:nvSpPr>
      <dsp:spPr>
        <a:xfrm>
          <a:off x="0" y="3313264"/>
          <a:ext cx="8280920" cy="5485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Changes to technology, consumer preferences and trade are occurring simultaneously</a:t>
          </a:r>
        </a:p>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Job losses from shifts in activity are concentrated in manufacturing and specific regions</a:t>
          </a:r>
        </a:p>
      </dsp:txBody>
      <dsp:txXfrm>
        <a:off x="0" y="3313264"/>
        <a:ext cx="8280920" cy="548550"/>
      </dsp:txXfrm>
    </dsp:sp>
    <dsp:sp modelId="{2B45D7B7-0834-4D13-8778-0BFAB98C78C2}">
      <dsp:nvSpPr>
        <dsp:cNvPr id="0" name=""/>
        <dsp:cNvSpPr/>
      </dsp:nvSpPr>
      <dsp:spPr>
        <a:xfrm>
          <a:off x="0" y="3861821"/>
          <a:ext cx="8280920" cy="55152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An integrated policy approach is needed to make globalisation work for all</a:t>
          </a:r>
        </a:p>
      </dsp:txBody>
      <dsp:txXfrm>
        <a:off x="26923" y="3888744"/>
        <a:ext cx="8227074" cy="497679"/>
      </dsp:txXfrm>
    </dsp:sp>
    <dsp:sp modelId="{466AD614-18F8-4250-8704-A12C186A2560}">
      <dsp:nvSpPr>
        <dsp:cNvPr id="0" name=""/>
        <dsp:cNvSpPr/>
      </dsp:nvSpPr>
      <dsp:spPr>
        <a:xfrm>
          <a:off x="0" y="4413339"/>
          <a:ext cx="8280920" cy="82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eaLnBrk="1" latinLnBrk="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A more level playing field for the international system</a:t>
          </a:r>
        </a:p>
        <a:p>
          <a:pPr marL="171450" lvl="1" indent="-171450" algn="l" defTabSz="711200" eaLnBrk="1" latinLnBrk="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Domestic reforms to boost competition, job creation, skills and innovation</a:t>
          </a:r>
        </a:p>
        <a:p>
          <a:pPr marL="171450" lvl="1" indent="-171450" algn="l" defTabSz="711200" eaLnBrk="1" latinLnBrk="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Targeted policies to help people who are left behind seize new opportunities</a:t>
          </a:r>
        </a:p>
      </dsp:txBody>
      <dsp:txXfrm>
        <a:off x="0" y="4413339"/>
        <a:ext cx="8280920" cy="828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pyramid4">
  <dgm:title val=""/>
  <dgm:desc val=""/>
  <dgm:catLst>
    <dgm:cat type="pyramid" pri="4000"/>
    <dgm:cat type="relationship" pri="9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useDef="1">
    <dgm:dataModel>
      <dgm:ptLst/>
      <dgm:bg/>
      <dgm:whole/>
    </dgm:dataModel>
  </dgm:styleData>
  <dgm:clrData useDef="1">
    <dgm:dataModel>
      <dgm:ptLst/>
      <dgm:bg/>
      <dgm:whole/>
    </dgm:dataModel>
  </dgm:clrData>
  <dgm:layoutNode name="compositeShape">
    <dgm:varLst>
      <dgm:chMax val="9"/>
      <dgm:dir/>
      <dgm:resizeHandles val="exact"/>
    </dgm:varLst>
    <dgm:alg type="composite">
      <dgm:param type="ar" val="1"/>
    </dgm:alg>
    <dgm:shape xmlns:r="http://schemas.openxmlformats.org/officeDocument/2006/relationships" r:blip="">
      <dgm:adjLst/>
    </dgm:shape>
    <dgm:presOf/>
    <dgm:choose name="Name0">
      <dgm:if name="Name1" axis="ch" ptType="node" func="cnt" op="lte" val="4">
        <dgm:choose name="Name2">
          <dgm:if name="Name3" axis="ch" ptType="node" func="cnt" op="equ" val="1">
            <dgm:constrLst>
              <dgm:constr type="primFontSz" for="ch" ptType="node" op="equ" val="65"/>
              <dgm:constr type="t" for="ch" forName="triangle1"/>
              <dgm:constr type="l" for="ch" forName="triangle1"/>
              <dgm:constr type="h" for="ch" forName="triangle1" refType="h"/>
              <dgm:constr type="w" for="ch" forName="triangle1" refType="h"/>
            </dgm:constrLst>
          </dgm:if>
          <dgm:else name="Name4">
            <dgm:constrLst>
              <dgm:constr type="primFontSz" for="ch" ptType="node" op="equ" val="65"/>
              <dgm:constr type="t" for="ch" forName="triangle1"/>
              <dgm:constr type="l" for="ch" forName="triangle1" refType="h" fact="0.25"/>
              <dgm:constr type="h" for="ch" forName="triangle1" refType="h" fact="0.5"/>
              <dgm:constr type="w" for="ch" forName="triangle1" refType="h" fact="0.5"/>
              <dgm:constr type="t" for="ch" forName="triangle2" refType="h" fact="0.5"/>
              <dgm:constr type="l" for="ch" forName="triangle2"/>
              <dgm:constr type="h" for="ch" forName="triangle2" refType="h" fact="0.5"/>
              <dgm:constr type="w" for="ch" forName="triangle2" refType="h" fact="0.5"/>
              <dgm:constr type="t" for="ch" forName="triangle3" refType="h" fact="0.5"/>
              <dgm:constr type="l" for="ch" forName="triangle3" refType="h" fact="0.25"/>
              <dgm:constr type="h" for="ch" forName="triangle3" refType="h" fact="0.5"/>
              <dgm:constr type="w" for="ch" forName="triangle3" refType="h" fact="0.5"/>
              <dgm:constr type="t" for="ch" forName="triangle4" refType="h" fact="0.5"/>
              <dgm:constr type="l" for="ch" forName="triangle4" refType="h" fact="0.5"/>
              <dgm:constr type="h" for="ch" forName="triangle4" refType="h" fact="0.5"/>
              <dgm:constr type="w" for="ch" forName="triangle4" refType="h" fact="0.5"/>
            </dgm:constrLst>
          </dgm:else>
        </dgm:choose>
      </dgm:if>
      <dgm:else name="Name5">
        <dgm:constrLst>
          <dgm:constr type="primFontSz" for="ch" ptType="node" op="equ" val="65"/>
          <dgm:constr type="t" for="ch" forName="triangle1"/>
          <dgm:constr type="l" for="ch" forName="triangle1" refType="h" fact="0.33"/>
          <dgm:constr type="h" for="ch" forName="triangle1" refType="h" fact="0.33"/>
          <dgm:constr type="w" for="ch" forName="triangle1" refType="h" fact="0.33"/>
          <dgm:constr type="t" for="ch" forName="triangle2" refType="h" fact="0.33"/>
          <dgm:constr type="l" for="ch" forName="triangle2" refType="h" fact="0.165"/>
          <dgm:constr type="h" for="ch" forName="triangle2" refType="h" fact="0.33"/>
          <dgm:constr type="w" for="ch" forName="triangle2" refType="h" fact="0.33"/>
          <dgm:constr type="t" for="ch" forName="triangle3" refType="h" fact="0.33"/>
          <dgm:constr type="l" for="ch" forName="triangle3" refType="h" fact="0.33"/>
          <dgm:constr type="h" for="ch" forName="triangle3" refType="h" fact="0.33"/>
          <dgm:constr type="w" for="ch" forName="triangle3" refType="h" fact="0.33"/>
          <dgm:constr type="t" for="ch" forName="triangle4" refType="h" fact="0.33"/>
          <dgm:constr type="l" for="ch" forName="triangle4" refType="h" fact="0.495"/>
          <dgm:constr type="h" for="ch" forName="triangle4" refType="h" fact="0.33"/>
          <dgm:constr type="w" for="ch" forName="triangle4" refType="h" fact="0.33"/>
          <dgm:constr type="t" for="ch" forName="triangle5" refType="h" fact="0.66"/>
          <dgm:constr type="l" for="ch" forName="triangle5"/>
          <dgm:constr type="h" for="ch" forName="triangle5" refType="h" fact="0.33"/>
          <dgm:constr type="w" for="ch" forName="triangle5" refType="h" fact="0.33"/>
          <dgm:constr type="t" for="ch" forName="triangle6" refType="h" fact="0.66"/>
          <dgm:constr type="l" for="ch" forName="triangle6" refType="h" fact="0.165"/>
          <dgm:constr type="h" for="ch" forName="triangle6" refType="h" fact="0.33"/>
          <dgm:constr type="w" for="ch" forName="triangle6" refType="h" fact="0.33"/>
          <dgm:constr type="t" for="ch" forName="triangle7" refType="h" fact="0.66"/>
          <dgm:constr type="l" for="ch" forName="triangle7" refType="h" fact="0.33"/>
          <dgm:constr type="h" for="ch" forName="triangle7" refType="h" fact="0.33"/>
          <dgm:constr type="w" for="ch" forName="triangle7" refType="h" fact="0.33"/>
          <dgm:constr type="t" for="ch" forName="triangle8" refType="h" fact="0.66"/>
          <dgm:constr type="l" for="ch" forName="triangle8" refType="h" fact="0.495"/>
          <dgm:constr type="h" for="ch" forName="triangle8" refType="h" fact="0.33"/>
          <dgm:constr type="w" for="ch" forName="triangle8" refType="h" fact="0.33"/>
          <dgm:constr type="t" for="ch" forName="triangle9" refType="h" fact="0.66"/>
          <dgm:constr type="l" for="ch" forName="triangle9" refType="h" fact="0.66"/>
          <dgm:constr type="h" for="ch" forName="triangle9" refType="h" fact="0.33"/>
          <dgm:constr type="w" for="ch" forName="triangle9" refType="h" fact="0.33"/>
        </dgm:constrLst>
      </dgm:else>
    </dgm:choose>
    <dgm:ruleLst/>
    <dgm:choose name="Name6">
      <dgm:if name="Name7" axis="ch" ptType="node" func="cnt" op="gte" val="1">
        <dgm:layoutNode name="triangle1" styleLbl="node1">
          <dgm:varLst>
            <dgm:bulletEnabled val="1"/>
          </dgm:varLst>
          <dgm:alg type="tx">
            <dgm:param type="txAnchorVertCh" val="mid"/>
          </dgm:alg>
          <dgm:shape xmlns:r="http://schemas.openxmlformats.org/officeDocument/2006/relationships" type="triangle"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8"/>
    </dgm:choose>
    <dgm:choose name="Name9">
      <dgm:if name="Name10" axis="ch" ptType="node" func="cnt" op="gte" val="2">
        <dgm:layoutNode name="triangle2" styleLbl="node1">
          <dgm:varLst>
            <dgm:bulletEnabled val="1"/>
          </dgm:varLst>
          <dgm:alg type="tx">
            <dgm:param type="txAnchorVertCh" val="mid"/>
          </dgm:alg>
          <dgm:shape xmlns:r="http://schemas.openxmlformats.org/officeDocument/2006/relationships" type="triangle" r:blip="">
            <dgm:adjLst/>
          </dgm:shape>
          <dgm:choose name="Name11">
            <dgm:if name="Name12" func="var" arg="dir" op="equ" val="norm">
              <dgm:presOf axis="ch desOrSelf" ptType="node node" st="2 1" cnt="1 0"/>
            </dgm:if>
            <dgm:else name="Name13">
              <dgm:presOf axis="ch desOrSelf" ptType="node node" st="4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3" styleLbl="node1">
          <dgm:varLst>
            <dgm:bulletEnabled val="1"/>
          </dgm:varLst>
          <dgm:alg type="tx">
            <dgm:param type="txAnchorVertCh" val="mid"/>
          </dgm:alg>
          <dgm:shape xmlns:r="http://schemas.openxmlformats.org/officeDocument/2006/relationships" rot="180" type="triangle" r:blip="">
            <dgm:adjLst/>
          </dgm:shape>
          <dgm:presOf axis="ch desOrSelf" ptType="node node" st="3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4" styleLbl="node1">
          <dgm:varLst>
            <dgm:bulletEnabled val="1"/>
          </dgm:varLst>
          <dgm:alg type="tx">
            <dgm:param type="txAnchorVertCh" val="mid"/>
          </dgm:alg>
          <dgm:shape xmlns:r="http://schemas.openxmlformats.org/officeDocument/2006/relationships" type="triangle" r:blip="">
            <dgm:adjLst/>
          </dgm:shape>
          <dgm:choose name="Name14">
            <dgm:if name="Name15" func="var" arg="dir" op="equ" val="norm">
              <dgm:presOf axis="ch desOrSelf" ptType="node node" st="4 1" cnt="1 0"/>
            </dgm:if>
            <dgm:else name="Name16">
              <dgm:presOf axis="ch desOrSelf" ptType="node node" st="2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7"/>
    </dgm:choose>
    <dgm:choose name="Name18">
      <dgm:if name="Name19" axis="ch" ptType="node" func="cnt" op="gte" val="5">
        <dgm:layoutNode name="triangle5" styleLbl="node1">
          <dgm:varLst>
            <dgm:bulletEnabled val="1"/>
          </dgm:varLst>
          <dgm:alg type="tx">
            <dgm:param type="txAnchorVertCh" val="mid"/>
          </dgm:alg>
          <dgm:shape xmlns:r="http://schemas.openxmlformats.org/officeDocument/2006/relationships" type="triangle" r:blip="">
            <dgm:adjLst/>
          </dgm:shape>
          <dgm:choose name="Name20">
            <dgm:if name="Name21" func="var" arg="dir" op="equ" val="norm">
              <dgm:presOf axis="ch desOrSelf" ptType="node node" st="5 1" cnt="1 0"/>
            </dgm:if>
            <dgm:else name="Name22">
              <dgm:presOf axis="ch desOrSelf" ptType="node node" st="9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6" styleLbl="node1">
          <dgm:varLst>
            <dgm:bulletEnabled val="1"/>
          </dgm:varLst>
          <dgm:alg type="tx">
            <dgm:param type="txAnchorVertCh" val="mid"/>
          </dgm:alg>
          <dgm:shape xmlns:r="http://schemas.openxmlformats.org/officeDocument/2006/relationships" rot="180" type="triangle" r:blip="">
            <dgm:adjLst/>
          </dgm:shape>
          <dgm:choose name="Name23">
            <dgm:if name="Name24" func="var" arg="dir" op="equ" val="norm">
              <dgm:presOf axis="ch desOrSelf" ptType="node node" st="6 1" cnt="1 0"/>
            </dgm:if>
            <dgm:else name="Name25">
              <dgm:presOf axis="ch desOrSelf" ptType="node node" st="8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7" styleLbl="node1">
          <dgm:varLst>
            <dgm:bulletEnabled val="1"/>
          </dgm:varLst>
          <dgm:alg type="tx">
            <dgm:param type="txAnchorVertCh" val="mid"/>
          </dgm:alg>
          <dgm:shape xmlns:r="http://schemas.openxmlformats.org/officeDocument/2006/relationships" type="triangle" r:blip="">
            <dgm:adjLst/>
          </dgm:shape>
          <dgm:presOf axis="ch desOrSelf" ptType="node node" st="7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8" styleLbl="node1">
          <dgm:varLst>
            <dgm:bulletEnabled val="1"/>
          </dgm:varLst>
          <dgm:alg type="tx">
            <dgm:param type="txAnchorVertCh" val="mid"/>
          </dgm:alg>
          <dgm:shape xmlns:r="http://schemas.openxmlformats.org/officeDocument/2006/relationships" rot="180" type="triangle" r:blip="">
            <dgm:adjLst/>
          </dgm:shape>
          <dgm:choose name="Name26">
            <dgm:if name="Name27" func="var" arg="dir" op="equ" val="norm">
              <dgm:presOf axis="ch desOrSelf" ptType="node node" st="8 1" cnt="1 0"/>
            </dgm:if>
            <dgm:else name="Name28">
              <dgm:presOf axis="ch desOrSelf" ptType="node node" st="6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9" styleLbl="node1">
          <dgm:varLst>
            <dgm:bulletEnabled val="1"/>
          </dgm:varLst>
          <dgm:alg type="tx">
            <dgm:param type="txAnchorVertCh" val="mid"/>
          </dgm:alg>
          <dgm:shape xmlns:r="http://schemas.openxmlformats.org/officeDocument/2006/relationships" type="triangle" r:blip="">
            <dgm:adjLst/>
          </dgm:shape>
          <dgm:choose name="Name29">
            <dgm:if name="Name30" func="var" arg="dir" op="equ" val="norm">
              <dgm:presOf axis="ch desOrSelf" ptType="node node" st="9 1" cnt="1 0"/>
            </dgm:if>
            <dgm:else name="Name31">
              <dgm:presOf axis="ch desOrSelf" ptType="node node" st="5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2"/>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0.31343</cdr:x>
      <cdr:y>0.51006</cdr:y>
    </cdr:from>
    <cdr:to>
      <cdr:x>0.46102</cdr:x>
      <cdr:y>0.59425</cdr:y>
    </cdr:to>
    <cdr:sp macro="" textlink="">
      <cdr:nvSpPr>
        <cdr:cNvPr id="2" name="TextBox 1"/>
        <cdr:cNvSpPr txBox="1"/>
      </cdr:nvSpPr>
      <cdr:spPr>
        <a:xfrm xmlns:a="http://schemas.openxmlformats.org/drawingml/2006/main">
          <a:off x="1800200" y="2366005"/>
          <a:ext cx="847695" cy="39053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GB" sz="1400" b="1" dirty="0">
              <a:latin typeface="Arial Narrow" panose="020B0606020202030204" pitchFamily="34" charset="0"/>
            </a:rPr>
            <a:t>1995</a:t>
          </a:r>
        </a:p>
      </cdr:txBody>
    </cdr:sp>
  </cdr:relSizeAnchor>
  <cdr:relSizeAnchor xmlns:cdr="http://schemas.openxmlformats.org/drawingml/2006/chartDrawing">
    <cdr:from>
      <cdr:x>0.08138</cdr:x>
      <cdr:y>0.44963</cdr:y>
    </cdr:from>
    <cdr:to>
      <cdr:x>0.22897</cdr:x>
      <cdr:y>0.53382</cdr:y>
    </cdr:to>
    <cdr:sp macro="" textlink="">
      <cdr:nvSpPr>
        <cdr:cNvPr id="3" name="TextBox 1"/>
        <cdr:cNvSpPr txBox="1"/>
      </cdr:nvSpPr>
      <cdr:spPr>
        <a:xfrm xmlns:a="http://schemas.openxmlformats.org/drawingml/2006/main">
          <a:off x="467440" y="2085676"/>
          <a:ext cx="847694" cy="390530"/>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GB" sz="1400" b="1" dirty="0">
              <a:latin typeface="Arial Narrow" panose="020B0606020202030204" pitchFamily="34" charset="0"/>
            </a:rPr>
            <a:t>2015</a:t>
          </a: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44283" cy="495300"/>
          </a:xfrm>
          <a:prstGeom prst="rect">
            <a:avLst/>
          </a:prstGeom>
        </p:spPr>
        <p:txBody>
          <a:bodyPr vert="horz" lIns="91430" tIns="45715" rIns="91430" bIns="45715" rtlCol="0"/>
          <a:lstStyle>
            <a:lvl1pPr algn="l">
              <a:defRPr sz="1200"/>
            </a:lvl1pPr>
          </a:lstStyle>
          <a:p>
            <a:endParaRPr lang="en-GB" dirty="0"/>
          </a:p>
        </p:txBody>
      </p:sp>
      <p:sp>
        <p:nvSpPr>
          <p:cNvPr id="3" name="Date Placeholder 2"/>
          <p:cNvSpPr>
            <a:spLocks noGrp="1"/>
          </p:cNvSpPr>
          <p:nvPr>
            <p:ph type="dt" sz="quarter" idx="1"/>
          </p:nvPr>
        </p:nvSpPr>
        <p:spPr>
          <a:xfrm>
            <a:off x="3848646" y="0"/>
            <a:ext cx="2944283" cy="495300"/>
          </a:xfrm>
          <a:prstGeom prst="rect">
            <a:avLst/>
          </a:prstGeom>
        </p:spPr>
        <p:txBody>
          <a:bodyPr vert="horz" lIns="91430" tIns="45715" rIns="91430" bIns="45715" rtlCol="0"/>
          <a:lstStyle>
            <a:lvl1pPr algn="r">
              <a:defRPr sz="1200"/>
            </a:lvl1pPr>
          </a:lstStyle>
          <a:p>
            <a:fld id="{D9BDB2A1-31CB-4309-9FC4-15F940A51174}" type="datetimeFigureOut">
              <a:rPr lang="en-GB" smtClean="0"/>
              <a:t>07/06/2017</a:t>
            </a:fld>
            <a:endParaRPr lang="en-GB" dirty="0"/>
          </a:p>
        </p:txBody>
      </p:sp>
      <p:sp>
        <p:nvSpPr>
          <p:cNvPr id="4" name="Footer Placeholder 3"/>
          <p:cNvSpPr>
            <a:spLocks noGrp="1"/>
          </p:cNvSpPr>
          <p:nvPr>
            <p:ph type="ftr" sz="quarter" idx="2"/>
          </p:nvPr>
        </p:nvSpPr>
        <p:spPr>
          <a:xfrm>
            <a:off x="1" y="9408981"/>
            <a:ext cx="2944283" cy="495300"/>
          </a:xfrm>
          <a:prstGeom prst="rect">
            <a:avLst/>
          </a:prstGeom>
        </p:spPr>
        <p:txBody>
          <a:bodyPr vert="horz" lIns="91430" tIns="45715" rIns="91430" bIns="45715" rtlCol="0" anchor="b"/>
          <a:lstStyle>
            <a:lvl1pPr algn="l">
              <a:defRPr sz="1200"/>
            </a:lvl1pPr>
          </a:lstStyle>
          <a:p>
            <a:endParaRPr lang="en-GB" dirty="0"/>
          </a:p>
        </p:txBody>
      </p:sp>
      <p:sp>
        <p:nvSpPr>
          <p:cNvPr id="5" name="Slide Number Placeholder 4"/>
          <p:cNvSpPr>
            <a:spLocks noGrp="1"/>
          </p:cNvSpPr>
          <p:nvPr>
            <p:ph type="sldNum" sz="quarter" idx="3"/>
          </p:nvPr>
        </p:nvSpPr>
        <p:spPr>
          <a:xfrm>
            <a:off x="3848646" y="9408981"/>
            <a:ext cx="2944283" cy="495300"/>
          </a:xfrm>
          <a:prstGeom prst="rect">
            <a:avLst/>
          </a:prstGeom>
        </p:spPr>
        <p:txBody>
          <a:bodyPr vert="horz" lIns="91430" tIns="45715" rIns="91430" bIns="45715" rtlCol="0" anchor="b"/>
          <a:lstStyle>
            <a:lvl1pPr algn="r">
              <a:defRPr sz="1200"/>
            </a:lvl1pPr>
          </a:lstStyle>
          <a:p>
            <a:fld id="{86D14058-FEED-42C8-A090-E45E1EA0FF49}" type="slidenum">
              <a:rPr lang="en-GB" smtClean="0"/>
              <a:t>‹#›</a:t>
            </a:fld>
            <a:endParaRPr lang="en-GB" dirty="0"/>
          </a:p>
        </p:txBody>
      </p:sp>
    </p:spTree>
    <p:extLst>
      <p:ext uri="{BB962C8B-B14F-4D97-AF65-F5344CB8AC3E}">
        <p14:creationId xmlns:p14="http://schemas.microsoft.com/office/powerpoint/2010/main" val="235789286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44283" cy="495300"/>
          </a:xfrm>
          <a:prstGeom prst="rect">
            <a:avLst/>
          </a:prstGeom>
        </p:spPr>
        <p:txBody>
          <a:bodyPr vert="horz" lIns="91430" tIns="45715" rIns="91430" bIns="45715" rtlCol="0"/>
          <a:lstStyle>
            <a:lvl1pPr algn="l">
              <a:defRPr sz="1200"/>
            </a:lvl1pPr>
          </a:lstStyle>
          <a:p>
            <a:endParaRPr lang="en-GB" dirty="0"/>
          </a:p>
        </p:txBody>
      </p:sp>
      <p:sp>
        <p:nvSpPr>
          <p:cNvPr id="3" name="Date Placeholder 2"/>
          <p:cNvSpPr>
            <a:spLocks noGrp="1"/>
          </p:cNvSpPr>
          <p:nvPr>
            <p:ph type="dt" idx="1"/>
          </p:nvPr>
        </p:nvSpPr>
        <p:spPr>
          <a:xfrm>
            <a:off x="3848646" y="0"/>
            <a:ext cx="2944283" cy="495300"/>
          </a:xfrm>
          <a:prstGeom prst="rect">
            <a:avLst/>
          </a:prstGeom>
        </p:spPr>
        <p:txBody>
          <a:bodyPr vert="horz" lIns="91430" tIns="45715" rIns="91430" bIns="45715" rtlCol="0"/>
          <a:lstStyle>
            <a:lvl1pPr algn="r">
              <a:defRPr sz="1200"/>
            </a:lvl1pPr>
          </a:lstStyle>
          <a:p>
            <a:fld id="{389BBE68-B43C-4550-BAC8-3342CCEE016F}" type="datetimeFigureOut">
              <a:rPr lang="en-GB" smtClean="0"/>
              <a:t>07/06/2017</a:t>
            </a:fld>
            <a:endParaRPr lang="en-GB" dirty="0"/>
          </a:p>
        </p:txBody>
      </p:sp>
      <p:sp>
        <p:nvSpPr>
          <p:cNvPr id="4" name="Slide Image Placeholder 3"/>
          <p:cNvSpPr>
            <a:spLocks noGrp="1" noRot="1" noChangeAspect="1"/>
          </p:cNvSpPr>
          <p:nvPr>
            <p:ph type="sldImg" idx="2"/>
          </p:nvPr>
        </p:nvSpPr>
        <p:spPr>
          <a:xfrm>
            <a:off x="920750" y="742950"/>
            <a:ext cx="4953000" cy="3714750"/>
          </a:xfrm>
          <a:prstGeom prst="rect">
            <a:avLst/>
          </a:prstGeom>
          <a:noFill/>
          <a:ln w="12700">
            <a:solidFill>
              <a:prstClr val="black"/>
            </a:solidFill>
          </a:ln>
        </p:spPr>
        <p:txBody>
          <a:bodyPr vert="horz" lIns="91430" tIns="45715" rIns="91430" bIns="45715" rtlCol="0" anchor="ctr"/>
          <a:lstStyle/>
          <a:p>
            <a:endParaRPr lang="en-GB" dirty="0"/>
          </a:p>
        </p:txBody>
      </p:sp>
      <p:sp>
        <p:nvSpPr>
          <p:cNvPr id="5" name="Notes Placeholder 4"/>
          <p:cNvSpPr>
            <a:spLocks noGrp="1"/>
          </p:cNvSpPr>
          <p:nvPr>
            <p:ph type="body" sz="quarter" idx="3"/>
          </p:nvPr>
        </p:nvSpPr>
        <p:spPr>
          <a:xfrm>
            <a:off x="679450" y="4705351"/>
            <a:ext cx="5435600" cy="4457700"/>
          </a:xfrm>
          <a:prstGeom prst="rect">
            <a:avLst/>
          </a:prstGeom>
        </p:spPr>
        <p:txBody>
          <a:bodyPr vert="horz" lIns="91430" tIns="45715" rIns="91430" bIns="45715"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6" name="Footer Placeholder 5"/>
          <p:cNvSpPr>
            <a:spLocks noGrp="1"/>
          </p:cNvSpPr>
          <p:nvPr>
            <p:ph type="ftr" sz="quarter" idx="4"/>
          </p:nvPr>
        </p:nvSpPr>
        <p:spPr>
          <a:xfrm>
            <a:off x="1" y="9408981"/>
            <a:ext cx="2944283" cy="495300"/>
          </a:xfrm>
          <a:prstGeom prst="rect">
            <a:avLst/>
          </a:prstGeom>
        </p:spPr>
        <p:txBody>
          <a:bodyPr vert="horz" lIns="91430" tIns="45715" rIns="91430" bIns="45715"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48646" y="9408981"/>
            <a:ext cx="2944283" cy="495300"/>
          </a:xfrm>
          <a:prstGeom prst="rect">
            <a:avLst/>
          </a:prstGeom>
        </p:spPr>
        <p:txBody>
          <a:bodyPr vert="horz" lIns="91430" tIns="45715" rIns="91430" bIns="45715" rtlCol="0" anchor="b"/>
          <a:lstStyle>
            <a:lvl1pPr algn="r">
              <a:defRPr sz="1200"/>
            </a:lvl1pPr>
          </a:lstStyle>
          <a:p>
            <a:fld id="{E245DB49-244C-4016-9CFF-C17A45AE8B60}" type="slidenum">
              <a:rPr lang="en-GB" smtClean="0"/>
              <a:t>‹#›</a:t>
            </a:fld>
            <a:endParaRPr lang="en-GB" dirty="0"/>
          </a:p>
        </p:txBody>
      </p:sp>
    </p:spTree>
    <p:extLst>
      <p:ext uri="{BB962C8B-B14F-4D97-AF65-F5344CB8AC3E}">
        <p14:creationId xmlns:p14="http://schemas.microsoft.com/office/powerpoint/2010/main" val="20101825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7"/>
          <p:cNvSpPr>
            <a:spLocks noGrp="1" noChangeArrowheads="1"/>
          </p:cNvSpPr>
          <p:nvPr>
            <p:ph type="sldNum" sz="quarter" idx="5"/>
          </p:nvPr>
        </p:nvSpPr>
        <p:spPr>
          <a:noFill/>
        </p:spPr>
        <p:txBody>
          <a:bodyPr/>
          <a:lstStyle/>
          <a:p>
            <a:fld id="{9C364824-19B6-448E-82B5-5EBA0DE3DC29}" type="slidenum">
              <a:rPr lang="en-US" smtClean="0">
                <a:solidFill>
                  <a:prstClr val="black"/>
                </a:solidFill>
              </a:rPr>
              <a:pPr/>
              <a:t>1</a:t>
            </a:fld>
            <a:endParaRPr lang="en-US" dirty="0" smtClean="0">
              <a:solidFill>
                <a:prstClr val="black"/>
              </a:solidFill>
            </a:endParaRPr>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15029351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2</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939521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245DB49-244C-4016-9CFF-C17A45AE8B60}" type="slidenum">
              <a:rPr lang="en-GB" smtClean="0"/>
              <a:t>3</a:t>
            </a:fld>
            <a:endParaRPr lang="en-GB" dirty="0"/>
          </a:p>
        </p:txBody>
      </p:sp>
    </p:spTree>
    <p:extLst>
      <p:ext uri="{BB962C8B-B14F-4D97-AF65-F5344CB8AC3E}">
        <p14:creationId xmlns:p14="http://schemas.microsoft.com/office/powerpoint/2010/main" val="961948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245DB49-244C-4016-9CFF-C17A45AE8B60}" type="slidenum">
              <a:rPr lang="en-GB" smtClean="0"/>
              <a:t>4</a:t>
            </a:fld>
            <a:endParaRPr lang="en-GB" dirty="0"/>
          </a:p>
        </p:txBody>
      </p:sp>
    </p:spTree>
    <p:extLst>
      <p:ext uri="{BB962C8B-B14F-4D97-AF65-F5344CB8AC3E}">
        <p14:creationId xmlns:p14="http://schemas.microsoft.com/office/powerpoint/2010/main" val="961948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245DB49-244C-4016-9CFF-C17A45AE8B60}" type="slidenum">
              <a:rPr lang="en-GB" smtClean="0"/>
              <a:t>5</a:t>
            </a:fld>
            <a:endParaRPr lang="en-GB" dirty="0"/>
          </a:p>
        </p:txBody>
      </p:sp>
    </p:spTree>
    <p:extLst>
      <p:ext uri="{BB962C8B-B14F-4D97-AF65-F5344CB8AC3E}">
        <p14:creationId xmlns:p14="http://schemas.microsoft.com/office/powerpoint/2010/main" val="961948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6</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7</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8</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12</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21340287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19</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21340287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22</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23</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38" name="Image 1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516000" y="2628508"/>
            <a:ext cx="2628000" cy="4229631"/>
          </a:xfrm>
          <a:prstGeom prst="rect">
            <a:avLst/>
          </a:prstGeom>
        </p:spPr>
      </p:pic>
      <p:pic>
        <p:nvPicPr>
          <p:cNvPr id="36" name="Image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0" y="508"/>
            <a:ext cx="2628000" cy="4229631"/>
          </a:xfrm>
          <a:prstGeom prst="rect">
            <a:avLst/>
          </a:prstGeom>
        </p:spPr>
      </p:pic>
      <p:sp>
        <p:nvSpPr>
          <p:cNvPr id="8" name="Title 7"/>
          <p:cNvSpPr>
            <a:spLocks noGrp="1"/>
          </p:cNvSpPr>
          <p:nvPr>
            <p:ph type="ctrTitle" hasCustomPrompt="1"/>
          </p:nvPr>
        </p:nvSpPr>
        <p:spPr>
          <a:xfrm>
            <a:off x="1368000" y="2480400"/>
            <a:ext cx="6300000" cy="1267200"/>
          </a:xfrm>
          <a:prstGeom prst="rect">
            <a:avLst/>
          </a:prstGeom>
        </p:spPr>
        <p:txBody>
          <a:bodyPr lIns="90000" rIns="90000" anchor="b">
            <a:spAutoFit/>
          </a:bodyPr>
          <a:lstStyle>
            <a:lvl1pPr>
              <a:lnSpc>
                <a:spcPts val="4500"/>
              </a:lnSpc>
              <a:defRPr sz="4500" cap="all" baseline="0">
                <a:solidFill>
                  <a:schemeClr val="bg1"/>
                </a:solidFill>
              </a:defRPr>
            </a:lvl1pPr>
          </a:lstStyle>
          <a:p>
            <a:r>
              <a:rPr kumimoji="0" lang="en-US" dirty="0" smtClean="0"/>
              <a:t>Click to edit Presentation title</a:t>
            </a:r>
            <a:endParaRPr kumimoji="0" lang="en-US" dirty="0"/>
          </a:p>
        </p:txBody>
      </p:sp>
      <p:sp>
        <p:nvSpPr>
          <p:cNvPr id="9" name="Subtitle 8"/>
          <p:cNvSpPr>
            <a:spLocks noGrp="1"/>
          </p:cNvSpPr>
          <p:nvPr>
            <p:ph type="subTitle" idx="1" hasCustomPrompt="1"/>
          </p:nvPr>
        </p:nvSpPr>
        <p:spPr>
          <a:xfrm>
            <a:off x="1368000" y="3805200"/>
            <a:ext cx="6300000" cy="352800"/>
          </a:xfrm>
        </p:spPr>
        <p:txBody>
          <a:bodyPr lIns="90000" rIns="90000">
            <a:spAutoFit/>
          </a:bodyPr>
          <a:lstStyle>
            <a:lvl1pPr marL="0" indent="0" algn="l">
              <a:lnSpc>
                <a:spcPts val="2000"/>
              </a:lnSpc>
              <a:spcBef>
                <a:spcPts val="0"/>
              </a:spcBef>
              <a:buNone/>
              <a:defRPr sz="1800" baseline="0">
                <a:solidFill>
                  <a:schemeClr val="bg1"/>
                </a:solidFill>
                <a:latin typeface="+mj-lt"/>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fr-FR" dirty="0" smtClean="0"/>
              <a:t>Click to </a:t>
            </a:r>
            <a:r>
              <a:rPr kumimoji="0" lang="fr-FR" dirty="0" err="1" smtClean="0"/>
              <a:t>edit</a:t>
            </a:r>
            <a:r>
              <a:rPr kumimoji="0" lang="fr-FR" dirty="0" smtClean="0"/>
              <a:t> </a:t>
            </a:r>
            <a:r>
              <a:rPr kumimoji="0" lang="fr-FR" dirty="0" err="1" smtClean="0"/>
              <a:t>Subtitle</a:t>
            </a:r>
            <a:endParaRPr kumimoji="0" lang="en-US" dirty="0"/>
          </a:p>
        </p:txBody>
      </p:sp>
      <p:pic>
        <p:nvPicPr>
          <p:cNvPr id="37" name="Image 11"/>
          <p:cNvPicPr>
            <a:picLocks noChangeAspect="1"/>
          </p:cNvPicPr>
          <p:nvPr/>
        </p:nvPicPr>
        <p:blipFill>
          <a:blip r:embed="rId3" cstate="print"/>
          <a:stretch>
            <a:fillRect/>
          </a:stretch>
        </p:blipFill>
        <p:spPr>
          <a:xfrm>
            <a:off x="511200" y="432000"/>
            <a:ext cx="692307" cy="1440000"/>
          </a:xfrm>
          <a:prstGeom prst="rect">
            <a:avLst/>
          </a:prstGeom>
        </p:spPr>
      </p:pic>
      <p:sp>
        <p:nvSpPr>
          <p:cNvPr id="12"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768535E4-3955-413F-9D3C-D9DDE1963FF9}" type="datetime1">
              <a:rPr lang="en-GB" smtClean="0"/>
              <a:t>07/06/2017</a:t>
            </a:fld>
            <a:endParaRPr lang="en-GB" dirty="0"/>
          </a:p>
        </p:txBody>
      </p:sp>
      <p:sp>
        <p:nvSpPr>
          <p:cNvPr id="13"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p>
        </p:txBody>
      </p:sp>
      <p:pic>
        <p:nvPicPr>
          <p:cNvPr id="10" name="Imag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164000" y="6055200"/>
            <a:ext cx="1742400" cy="578821"/>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eaLnBrk="1" latinLnBrk="0" hangingPunct="1">
              <a:defRPr/>
            </a:lvl1pPr>
            <a:lvl2pPr eaLnBrk="1" latinLnBrk="0" hangingPunct="1">
              <a:defRPr/>
            </a:lvl2pPr>
            <a:lvl3pPr eaLnBrk="1" latinLnBrk="0" hangingPunct="1">
              <a:defRPr/>
            </a:lvl3pPr>
            <a:lvl4pPr eaLnBrk="1" latinLnBrk="0" hangingPunct="1">
              <a:defRPr/>
            </a:lvl4pPr>
            <a:lvl5pPr eaLnBrk="1" latinLnBrk="0" hangingPunct="1">
              <a:defRPr/>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dirty="0"/>
          </a:p>
        </p:txBody>
      </p:sp>
      <p:sp>
        <p:nvSpPr>
          <p:cNvPr id="8"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998C901B-E87E-45FE-B420-65379E6BC032}" type="datetime1">
              <a:rPr lang="en-GB" smtClean="0"/>
              <a:t>07/06/2017</a:t>
            </a:fld>
            <a:endParaRPr lang="en-GB" dirty="0"/>
          </a:p>
        </p:txBody>
      </p:sp>
      <p:sp>
        <p:nvSpPr>
          <p:cNvPr id="9"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10"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t>‹#›</a:t>
            </a:fld>
            <a:endParaRPr lang="en-GB" dirty="0"/>
          </a:p>
        </p:txBody>
      </p:sp>
      <p:sp>
        <p:nvSpPr>
          <p:cNvPr id="11" name="Title Placeholder 1"/>
          <p:cNvSpPr>
            <a:spLocks noGrp="1"/>
          </p:cNvSpPr>
          <p:nvPr>
            <p:ph type="title" hasCustomPrompt="1"/>
          </p:nvPr>
        </p:nvSpPr>
        <p:spPr>
          <a:xfrm>
            <a:off x="1080000" y="237600"/>
            <a:ext cx="7416000" cy="1022400"/>
          </a:xfrm>
          <a:prstGeom prst="rect">
            <a:avLst/>
          </a:prstGeom>
        </p:spPr>
        <p:txBody>
          <a:bodyPr vert="horz" lIns="91440" tIns="45720" rIns="91440" bIns="45720" rtlCol="0" anchor="ctr">
            <a:noAutofit/>
          </a:bodyPr>
          <a:lstStyle>
            <a:lvl1pPr>
              <a:defRPr/>
            </a:lvl1pPr>
          </a:lstStyle>
          <a:p>
            <a:r>
              <a:rPr lang="en-US" dirty="0" smtClean="0"/>
              <a:t>Click to edit Slide title</a:t>
            </a:r>
            <a:br>
              <a:rPr lang="en-US" dirty="0" smtClean="0"/>
            </a:br>
            <a:r>
              <a:rPr lang="en-US" dirty="0" smtClean="0"/>
              <a:t>Slide title can be extended to two lines</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pic>
        <p:nvPicPr>
          <p:cNvPr id="7" name="Image 6"/>
          <p:cNvPicPr>
            <a:picLocks noChangeAspect="1"/>
          </p:cNvPicPr>
          <p:nvPr/>
        </p:nvPicPr>
        <p:blipFill>
          <a:blip r:embed="rId2" cstate="print"/>
          <a:stretch>
            <a:fillRect/>
          </a:stretch>
        </p:blipFill>
        <p:spPr>
          <a:xfrm>
            <a:off x="8193600" y="5328000"/>
            <a:ext cx="950407" cy="1530000"/>
          </a:xfrm>
          <a:prstGeom prst="rect">
            <a:avLst/>
          </a:prstGeom>
        </p:spPr>
      </p:pic>
      <p:pic>
        <p:nvPicPr>
          <p:cNvPr id="8" name="Image 7"/>
          <p:cNvPicPr>
            <a:picLocks noChangeAspect="1"/>
          </p:cNvPicPr>
          <p:nvPr/>
        </p:nvPicPr>
        <p:blipFill>
          <a:blip r:embed="rId3" cstate="print"/>
          <a:stretch>
            <a:fillRect/>
          </a:stretch>
        </p:blipFill>
        <p:spPr>
          <a:xfrm>
            <a:off x="579600" y="468000"/>
            <a:ext cx="692308" cy="1440000"/>
          </a:xfrm>
          <a:prstGeom prst="rect">
            <a:avLst/>
          </a:prstGeom>
        </p:spPr>
      </p:pic>
      <p:sp>
        <p:nvSpPr>
          <p:cNvPr id="9" name="Title 1"/>
          <p:cNvSpPr>
            <a:spLocks noGrp="1"/>
          </p:cNvSpPr>
          <p:nvPr>
            <p:ph type="title" hasCustomPrompt="1"/>
          </p:nvPr>
        </p:nvSpPr>
        <p:spPr>
          <a:xfrm>
            <a:off x="1260000" y="2928144"/>
            <a:ext cx="6624000" cy="1041311"/>
          </a:xfrm>
        </p:spPr>
        <p:txBody>
          <a:bodyPr anchor="ctr" anchorCtr="0">
            <a:spAutoFit/>
          </a:bodyPr>
          <a:lstStyle>
            <a:lvl1pPr algn="ctr">
              <a:lnSpc>
                <a:spcPts val="3700"/>
              </a:lnSpc>
              <a:defRPr sz="3700" b="0" i="0" cap="all" baseline="0">
                <a:solidFill>
                  <a:schemeClr val="bg1"/>
                </a:solidFill>
              </a:defRPr>
            </a:lvl1pPr>
          </a:lstStyle>
          <a:p>
            <a:r>
              <a:rPr lang="en-US" dirty="0" smtClean="0"/>
              <a:t>Click to edit Section Header title</a:t>
            </a:r>
            <a:endParaRPr lang="en-US" dirty="0"/>
          </a:p>
        </p:txBody>
      </p:sp>
      <p:sp>
        <p:nvSpPr>
          <p:cNvPr id="10"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A2B785B9-06B0-42D9-9A9B-49D01274C45E}" type="datetime1">
              <a:rPr lang="en-GB" smtClean="0"/>
              <a:t>07/06/2017</a:t>
            </a:fld>
            <a:endParaRPr lang="en-GB" dirty="0"/>
          </a:p>
        </p:txBody>
      </p:sp>
      <p:sp>
        <p:nvSpPr>
          <p:cNvPr id="11"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p>
        </p:txBody>
      </p:sp>
      <p:sp>
        <p:nvSpPr>
          <p:cNvPr id="12"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tx2"/>
                </a:solidFill>
                <a:latin typeface="Arial"/>
              </a:defRPr>
            </a:lvl1pPr>
          </a:lstStyle>
          <a:p>
            <a:fld id="{FCE284C4-5ED1-4D6C-B7CC-2049C3062C5E}" type="slidenum">
              <a:rPr lang="en-GB" smtClean="0"/>
              <a:t>‹#›</a:t>
            </a:fld>
            <a:endParaRPr lang="en-GB"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32FEDD-5D26-4597-93F8-43A13583B74D}" type="datetime1">
              <a:rPr lang="en-GB" smtClean="0"/>
              <a:t>07/06/2017</a:t>
            </a:fld>
            <a:endParaRPr lang="en-GB" dirty="0"/>
          </a:p>
        </p:txBody>
      </p:sp>
      <p:sp>
        <p:nvSpPr>
          <p:cNvPr id="3" name="Footer Placeholder 2"/>
          <p:cNvSpPr>
            <a:spLocks noGrp="1"/>
          </p:cNvSpPr>
          <p:nvPr>
            <p:ph type="ftr" sz="quarter" idx="11"/>
          </p:nvPr>
        </p:nvSpPr>
        <p:spPr/>
        <p:txBody>
          <a:bodyPr/>
          <a:lstStyle/>
          <a:p>
            <a:endParaRPr lang="en-GB" dirty="0"/>
          </a:p>
        </p:txBody>
      </p:sp>
      <p:sp>
        <p:nvSpPr>
          <p:cNvPr id="4" name="Slide Number Placeholder 3"/>
          <p:cNvSpPr>
            <a:spLocks noGrp="1"/>
          </p:cNvSpPr>
          <p:nvPr>
            <p:ph type="sldNum" sz="quarter" idx="12"/>
          </p:nvPr>
        </p:nvSpPr>
        <p:spPr/>
        <p:txBody>
          <a:bodyPr/>
          <a:lstStyle/>
          <a:p>
            <a:fld id="{FCE284C4-5ED1-4D6C-B7CC-2049C3062C5E}" type="slidenum">
              <a:rPr lang="en-GB" smtClean="0"/>
              <a:t>‹#›</a:t>
            </a:fld>
            <a:endParaRPr lang="en-GB" dirty="0"/>
          </a:p>
        </p:txBody>
      </p:sp>
    </p:spTree>
    <p:extLst>
      <p:ext uri="{BB962C8B-B14F-4D97-AF65-F5344CB8AC3E}">
        <p14:creationId xmlns:p14="http://schemas.microsoft.com/office/powerpoint/2010/main" val="409363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tx2"/>
        </a:solidFill>
        <a:effectLst/>
      </p:bgPr>
    </p:bg>
    <p:spTree>
      <p:nvGrpSpPr>
        <p:cNvPr id="1" name=""/>
        <p:cNvGrpSpPr/>
        <p:nvPr/>
      </p:nvGrpSpPr>
      <p:grpSpPr>
        <a:xfrm>
          <a:off x="0" y="0"/>
          <a:ext cx="0" cy="0"/>
          <a:chOff x="0" y="0"/>
          <a:chExt cx="0" cy="0"/>
        </a:xfrm>
      </p:grpSpPr>
      <p:pic>
        <p:nvPicPr>
          <p:cNvPr id="38" name="Image 1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516000" y="2628508"/>
            <a:ext cx="2628000" cy="4229631"/>
          </a:xfrm>
          <a:prstGeom prst="rect">
            <a:avLst/>
          </a:prstGeom>
        </p:spPr>
      </p:pic>
      <p:pic>
        <p:nvPicPr>
          <p:cNvPr id="36" name="Image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0" y="508"/>
            <a:ext cx="2628000" cy="4229631"/>
          </a:xfrm>
          <a:prstGeom prst="rect">
            <a:avLst/>
          </a:prstGeom>
        </p:spPr>
      </p:pic>
      <p:sp>
        <p:nvSpPr>
          <p:cNvPr id="8" name="Title 7"/>
          <p:cNvSpPr>
            <a:spLocks noGrp="1"/>
          </p:cNvSpPr>
          <p:nvPr>
            <p:ph type="ctrTitle" hasCustomPrompt="1"/>
          </p:nvPr>
        </p:nvSpPr>
        <p:spPr>
          <a:xfrm>
            <a:off x="1368000" y="2480400"/>
            <a:ext cx="6300000" cy="1267200"/>
          </a:xfrm>
          <a:prstGeom prst="rect">
            <a:avLst/>
          </a:prstGeom>
        </p:spPr>
        <p:txBody>
          <a:bodyPr lIns="90000" rIns="90000" anchor="b">
            <a:spAutoFit/>
          </a:bodyPr>
          <a:lstStyle>
            <a:lvl1pPr>
              <a:lnSpc>
                <a:spcPts val="4500"/>
              </a:lnSpc>
              <a:defRPr sz="4500" cap="all" baseline="0">
                <a:solidFill>
                  <a:schemeClr val="bg1"/>
                </a:solidFill>
              </a:defRPr>
            </a:lvl1pPr>
          </a:lstStyle>
          <a:p>
            <a:r>
              <a:rPr kumimoji="0" lang="en-US" dirty="0" smtClean="0"/>
              <a:t>Click to edit Presentation title</a:t>
            </a:r>
            <a:endParaRPr kumimoji="0" lang="en-US" dirty="0"/>
          </a:p>
        </p:txBody>
      </p:sp>
      <p:sp>
        <p:nvSpPr>
          <p:cNvPr id="9" name="Subtitle 8"/>
          <p:cNvSpPr>
            <a:spLocks noGrp="1"/>
          </p:cNvSpPr>
          <p:nvPr>
            <p:ph type="subTitle" idx="1" hasCustomPrompt="1"/>
          </p:nvPr>
        </p:nvSpPr>
        <p:spPr>
          <a:xfrm>
            <a:off x="1368000" y="3805200"/>
            <a:ext cx="6300000" cy="352800"/>
          </a:xfrm>
        </p:spPr>
        <p:txBody>
          <a:bodyPr lIns="90000" rIns="90000">
            <a:spAutoFit/>
          </a:bodyPr>
          <a:lstStyle>
            <a:lvl1pPr marL="0" indent="0" algn="l">
              <a:lnSpc>
                <a:spcPts val="2000"/>
              </a:lnSpc>
              <a:spcBef>
                <a:spcPts val="0"/>
              </a:spcBef>
              <a:buNone/>
              <a:defRPr sz="1800" baseline="0">
                <a:solidFill>
                  <a:schemeClr val="bg1"/>
                </a:solidFill>
                <a:latin typeface="+mj-lt"/>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fr-FR" dirty="0" smtClean="0"/>
              <a:t>Click to </a:t>
            </a:r>
            <a:r>
              <a:rPr kumimoji="0" lang="fr-FR" dirty="0" err="1" smtClean="0"/>
              <a:t>edit</a:t>
            </a:r>
            <a:r>
              <a:rPr kumimoji="0" lang="fr-FR" dirty="0" smtClean="0"/>
              <a:t> </a:t>
            </a:r>
            <a:r>
              <a:rPr kumimoji="0" lang="fr-FR" dirty="0" err="1" smtClean="0"/>
              <a:t>Subtitle</a:t>
            </a:r>
            <a:endParaRPr kumimoji="0" lang="en-US" dirty="0"/>
          </a:p>
        </p:txBody>
      </p:sp>
      <p:pic>
        <p:nvPicPr>
          <p:cNvPr id="37" name="Image 11"/>
          <p:cNvPicPr>
            <a:picLocks noChangeAspect="1"/>
          </p:cNvPicPr>
          <p:nvPr/>
        </p:nvPicPr>
        <p:blipFill>
          <a:blip r:embed="rId3" cstate="print"/>
          <a:stretch>
            <a:fillRect/>
          </a:stretch>
        </p:blipFill>
        <p:spPr>
          <a:xfrm>
            <a:off x="511200" y="432000"/>
            <a:ext cx="692307" cy="1440000"/>
          </a:xfrm>
          <a:prstGeom prst="rect">
            <a:avLst/>
          </a:prstGeom>
        </p:spPr>
      </p:pic>
      <p:sp>
        <p:nvSpPr>
          <p:cNvPr id="12"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768535E4-3955-413F-9D3C-D9DDE1963FF9}" type="datetime1">
              <a:rPr lang="en-GB" smtClean="0">
                <a:solidFill>
                  <a:prstClr val="white"/>
                </a:solidFill>
              </a:rPr>
              <a:pPr/>
              <a:t>07/06/2017</a:t>
            </a:fld>
            <a:endParaRPr lang="en-GB" dirty="0">
              <a:solidFill>
                <a:prstClr val="white"/>
              </a:solidFill>
            </a:endParaRPr>
          </a:p>
        </p:txBody>
      </p:sp>
      <p:sp>
        <p:nvSpPr>
          <p:cNvPr id="13"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solidFill>
                <a:prstClr val="white"/>
              </a:solidFill>
            </a:endParaRPr>
          </a:p>
        </p:txBody>
      </p:sp>
      <p:pic>
        <p:nvPicPr>
          <p:cNvPr id="10" name="Imag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164000" y="6055200"/>
            <a:ext cx="1742400" cy="578821"/>
          </a:xfrm>
          <a:prstGeom prst="rect">
            <a:avLst/>
          </a:prstGeom>
        </p:spPr>
      </p:pic>
    </p:spTree>
    <p:extLst>
      <p:ext uri="{BB962C8B-B14F-4D97-AF65-F5344CB8AC3E}">
        <p14:creationId xmlns:p14="http://schemas.microsoft.com/office/powerpoint/2010/main" val="3187463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eaLnBrk="1" latinLnBrk="0" hangingPunct="1">
              <a:defRPr/>
            </a:lvl1pPr>
            <a:lvl2pPr eaLnBrk="1" latinLnBrk="0" hangingPunct="1">
              <a:defRPr/>
            </a:lvl2pPr>
            <a:lvl3pPr eaLnBrk="1" latinLnBrk="0" hangingPunct="1">
              <a:defRPr/>
            </a:lvl3pPr>
            <a:lvl4pPr eaLnBrk="1" latinLnBrk="0" hangingPunct="1">
              <a:defRPr/>
            </a:lvl4pPr>
            <a:lvl5pPr eaLnBrk="1" latinLnBrk="0" hangingPunct="1">
              <a:defRPr/>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dirty="0"/>
          </a:p>
        </p:txBody>
      </p:sp>
      <p:sp>
        <p:nvSpPr>
          <p:cNvPr id="8"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998C901B-E87E-45FE-B420-65379E6BC032}" type="datetime1">
              <a:rPr lang="en-GB" smtClean="0"/>
              <a:pPr/>
              <a:t>07/06/2017</a:t>
            </a:fld>
            <a:endParaRPr lang="en-GB" dirty="0"/>
          </a:p>
        </p:txBody>
      </p:sp>
      <p:sp>
        <p:nvSpPr>
          <p:cNvPr id="9"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10"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solidFill>
                  <a:prstClr val="white"/>
                </a:solidFill>
              </a:rPr>
              <a:pPr/>
              <a:t>‹#›</a:t>
            </a:fld>
            <a:endParaRPr lang="en-GB" dirty="0">
              <a:solidFill>
                <a:prstClr val="white"/>
              </a:solidFill>
            </a:endParaRPr>
          </a:p>
        </p:txBody>
      </p:sp>
      <p:sp>
        <p:nvSpPr>
          <p:cNvPr id="11" name="Title Placeholder 1"/>
          <p:cNvSpPr>
            <a:spLocks noGrp="1"/>
          </p:cNvSpPr>
          <p:nvPr>
            <p:ph type="title" hasCustomPrompt="1"/>
          </p:nvPr>
        </p:nvSpPr>
        <p:spPr>
          <a:xfrm>
            <a:off x="1080000" y="237600"/>
            <a:ext cx="7416000" cy="1022400"/>
          </a:xfrm>
          <a:prstGeom prst="rect">
            <a:avLst/>
          </a:prstGeom>
        </p:spPr>
        <p:txBody>
          <a:bodyPr vert="horz" lIns="91440" tIns="45720" rIns="91440" bIns="45720" rtlCol="0" anchor="ctr">
            <a:noAutofit/>
          </a:bodyPr>
          <a:lstStyle>
            <a:lvl1pPr>
              <a:defRPr/>
            </a:lvl1pPr>
          </a:lstStyle>
          <a:p>
            <a:r>
              <a:rPr lang="en-US" dirty="0" smtClean="0"/>
              <a:t>Click to edit Slide title</a:t>
            </a:r>
            <a:br>
              <a:rPr lang="en-US" dirty="0" smtClean="0"/>
            </a:br>
            <a:r>
              <a:rPr lang="en-US" dirty="0" smtClean="0"/>
              <a:t>Slide title can be extended to two lines</a:t>
            </a:r>
            <a:endParaRPr lang="en-US" dirty="0"/>
          </a:p>
        </p:txBody>
      </p:sp>
    </p:spTree>
    <p:extLst>
      <p:ext uri="{BB962C8B-B14F-4D97-AF65-F5344CB8AC3E}">
        <p14:creationId xmlns:p14="http://schemas.microsoft.com/office/powerpoint/2010/main" val="2436075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Section Header">
    <p:bg>
      <p:bgPr>
        <a:solidFill>
          <a:schemeClr val="tx1"/>
        </a:solidFill>
        <a:effectLst/>
      </p:bgPr>
    </p:bg>
    <p:spTree>
      <p:nvGrpSpPr>
        <p:cNvPr id="1" name=""/>
        <p:cNvGrpSpPr/>
        <p:nvPr/>
      </p:nvGrpSpPr>
      <p:grpSpPr>
        <a:xfrm>
          <a:off x="0" y="0"/>
          <a:ext cx="0" cy="0"/>
          <a:chOff x="0" y="0"/>
          <a:chExt cx="0" cy="0"/>
        </a:xfrm>
      </p:grpSpPr>
      <p:pic>
        <p:nvPicPr>
          <p:cNvPr id="7" name="Image 6"/>
          <p:cNvPicPr>
            <a:picLocks noChangeAspect="1"/>
          </p:cNvPicPr>
          <p:nvPr/>
        </p:nvPicPr>
        <p:blipFill>
          <a:blip r:embed="rId2" cstate="print"/>
          <a:stretch>
            <a:fillRect/>
          </a:stretch>
        </p:blipFill>
        <p:spPr>
          <a:xfrm>
            <a:off x="8193600" y="5328000"/>
            <a:ext cx="950407" cy="1530000"/>
          </a:xfrm>
          <a:prstGeom prst="rect">
            <a:avLst/>
          </a:prstGeom>
        </p:spPr>
      </p:pic>
      <p:pic>
        <p:nvPicPr>
          <p:cNvPr id="8" name="Image 7"/>
          <p:cNvPicPr>
            <a:picLocks noChangeAspect="1"/>
          </p:cNvPicPr>
          <p:nvPr/>
        </p:nvPicPr>
        <p:blipFill>
          <a:blip r:embed="rId3" cstate="print"/>
          <a:stretch>
            <a:fillRect/>
          </a:stretch>
        </p:blipFill>
        <p:spPr>
          <a:xfrm>
            <a:off x="579600" y="468000"/>
            <a:ext cx="692308" cy="1440000"/>
          </a:xfrm>
          <a:prstGeom prst="rect">
            <a:avLst/>
          </a:prstGeom>
        </p:spPr>
      </p:pic>
      <p:sp>
        <p:nvSpPr>
          <p:cNvPr id="9" name="Title 1"/>
          <p:cNvSpPr>
            <a:spLocks noGrp="1"/>
          </p:cNvSpPr>
          <p:nvPr>
            <p:ph type="title" hasCustomPrompt="1"/>
          </p:nvPr>
        </p:nvSpPr>
        <p:spPr>
          <a:xfrm>
            <a:off x="1260000" y="2928144"/>
            <a:ext cx="6624000" cy="1041311"/>
          </a:xfrm>
        </p:spPr>
        <p:txBody>
          <a:bodyPr anchor="ctr" anchorCtr="0">
            <a:spAutoFit/>
          </a:bodyPr>
          <a:lstStyle>
            <a:lvl1pPr algn="ctr">
              <a:lnSpc>
                <a:spcPts val="3700"/>
              </a:lnSpc>
              <a:defRPr sz="3700" b="0" i="0" cap="all" baseline="0">
                <a:solidFill>
                  <a:schemeClr val="bg1"/>
                </a:solidFill>
              </a:defRPr>
            </a:lvl1pPr>
          </a:lstStyle>
          <a:p>
            <a:r>
              <a:rPr lang="en-US" dirty="0" smtClean="0"/>
              <a:t>Click to edit Section Header title</a:t>
            </a:r>
            <a:endParaRPr lang="en-US" dirty="0"/>
          </a:p>
        </p:txBody>
      </p:sp>
      <p:sp>
        <p:nvSpPr>
          <p:cNvPr id="10"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A2B785B9-06B0-42D9-9A9B-49D01274C45E}" type="datetime1">
              <a:rPr lang="en-GB" smtClean="0">
                <a:solidFill>
                  <a:prstClr val="white"/>
                </a:solidFill>
              </a:rPr>
              <a:pPr/>
              <a:t>07/06/2017</a:t>
            </a:fld>
            <a:endParaRPr lang="en-GB" dirty="0">
              <a:solidFill>
                <a:prstClr val="white"/>
              </a:solidFill>
            </a:endParaRPr>
          </a:p>
        </p:txBody>
      </p:sp>
      <p:sp>
        <p:nvSpPr>
          <p:cNvPr id="11"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solidFill>
                <a:prstClr val="white"/>
              </a:solidFill>
            </a:endParaRPr>
          </a:p>
        </p:txBody>
      </p:sp>
      <p:sp>
        <p:nvSpPr>
          <p:cNvPr id="12"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tx2"/>
                </a:solidFill>
                <a:latin typeface="Arial"/>
              </a:defRPr>
            </a:lvl1pPr>
          </a:lstStyle>
          <a:p>
            <a:fld id="{FCE284C4-5ED1-4D6C-B7CC-2049C3062C5E}" type="slidenum">
              <a:rPr lang="en-GB" smtClean="0">
                <a:solidFill>
                  <a:srgbClr val="006299"/>
                </a:solidFill>
              </a:rPr>
              <a:pPr/>
              <a:t>‹#›</a:t>
            </a:fld>
            <a:endParaRPr lang="en-GB" dirty="0">
              <a:solidFill>
                <a:srgbClr val="006299"/>
              </a:solidFill>
            </a:endParaRPr>
          </a:p>
        </p:txBody>
      </p:sp>
    </p:spTree>
    <p:extLst>
      <p:ext uri="{BB962C8B-B14F-4D97-AF65-F5344CB8AC3E}">
        <p14:creationId xmlns:p14="http://schemas.microsoft.com/office/powerpoint/2010/main" val="2915752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32FEDD-5D26-4597-93F8-43A13583B74D}" type="datetime1">
              <a:rPr lang="en-GB" smtClean="0"/>
              <a:pPr/>
              <a:t>07/06/2017</a:t>
            </a:fld>
            <a:endParaRPr lang="en-GB" dirty="0"/>
          </a:p>
        </p:txBody>
      </p:sp>
      <p:sp>
        <p:nvSpPr>
          <p:cNvPr id="3" name="Footer Placeholder 2"/>
          <p:cNvSpPr>
            <a:spLocks noGrp="1"/>
          </p:cNvSpPr>
          <p:nvPr>
            <p:ph type="ftr" sz="quarter" idx="11"/>
          </p:nvPr>
        </p:nvSpPr>
        <p:spPr/>
        <p:txBody>
          <a:bodyPr/>
          <a:lstStyle/>
          <a:p>
            <a:endParaRPr lang="en-GB" dirty="0"/>
          </a:p>
        </p:txBody>
      </p:sp>
      <p:sp>
        <p:nvSpPr>
          <p:cNvPr id="4" name="Slide Number Placeholder 3"/>
          <p:cNvSpPr>
            <a:spLocks noGrp="1"/>
          </p:cNvSpPr>
          <p:nvPr>
            <p:ph type="sldNum" sz="quarter" idx="12"/>
          </p:nvPr>
        </p:nvSpPr>
        <p:spPr/>
        <p:txBody>
          <a:bodyPr/>
          <a:lstStyle/>
          <a:p>
            <a:fld id="{FCE284C4-5ED1-4D6C-B7CC-2049C3062C5E}" type="slidenum">
              <a:rPr lang="en-GB" smtClean="0">
                <a:solidFill>
                  <a:prstClr val="white"/>
                </a:solidFill>
              </a:rPr>
              <a:pPr/>
              <a:t>‹#›</a:t>
            </a:fld>
            <a:endParaRPr lang="en-GB" dirty="0">
              <a:solidFill>
                <a:prstClr val="white"/>
              </a:solidFill>
            </a:endParaRPr>
          </a:p>
        </p:txBody>
      </p:sp>
    </p:spTree>
    <p:extLst>
      <p:ext uri="{BB962C8B-B14F-4D97-AF65-F5344CB8AC3E}">
        <p14:creationId xmlns:p14="http://schemas.microsoft.com/office/powerpoint/2010/main" val="1154682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cSld name="Titre et contenu">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eaLnBrk="1" latinLnBrk="0" hangingPunct="1">
              <a:defRPr/>
            </a:lvl1pPr>
            <a:lvl2pPr eaLnBrk="1" latinLnBrk="0" hangingPunct="1">
              <a:defRPr/>
            </a:lvl2pPr>
            <a:lvl3pPr eaLnBrk="1" latinLnBrk="0" hangingPunct="1">
              <a:defRPr/>
            </a:lvl3pPr>
            <a:lvl4pPr eaLnBrk="1" latinLnBrk="0" hangingPunct="1">
              <a:defRPr/>
            </a:lvl4pPr>
            <a:lvl5pPr eaLnBrk="1" latinLnBrk="0" hangingPunct="1">
              <a:defRPr/>
            </a:lvl5pPr>
          </a:lstStyle>
          <a:p>
            <a:pPr lvl="0" eaLnBrk="1" latinLnBrk="0" hangingPunct="1"/>
            <a:r>
              <a:rPr lang="fr-FR" dirty="0" smtClean="0"/>
              <a:t>Cliquez pour modifier les styles du texte du masque</a:t>
            </a:r>
            <a:endParaRPr lang="en-US" dirty="0" smtClean="0"/>
          </a:p>
          <a:p>
            <a:pPr lvl="1" eaLnBrk="1" latinLnBrk="0" hangingPunct="1"/>
            <a:r>
              <a:rPr lang="en-US" dirty="0" err="1" smtClean="0"/>
              <a:t>Deuxième</a:t>
            </a:r>
            <a:r>
              <a:rPr lang="en-US" dirty="0" smtClean="0"/>
              <a:t> </a:t>
            </a:r>
            <a:r>
              <a:rPr lang="en-US" dirty="0" err="1" smtClean="0"/>
              <a:t>niveau</a:t>
            </a:r>
            <a:endParaRPr lang="en-US" dirty="0" smtClean="0"/>
          </a:p>
          <a:p>
            <a:pPr lvl="2" eaLnBrk="1" latinLnBrk="0" hangingPunct="1"/>
            <a:r>
              <a:rPr lang="en-US" dirty="0" err="1" smtClean="0"/>
              <a:t>Troisième</a:t>
            </a:r>
            <a:r>
              <a:rPr lang="en-US" dirty="0" smtClean="0"/>
              <a:t> </a:t>
            </a:r>
            <a:r>
              <a:rPr lang="en-US" dirty="0" err="1" smtClean="0"/>
              <a:t>niveau</a:t>
            </a:r>
            <a:endParaRPr lang="en-US" dirty="0" smtClean="0"/>
          </a:p>
          <a:p>
            <a:pPr lvl="3" eaLnBrk="1" latinLnBrk="0" hangingPunct="1"/>
            <a:r>
              <a:rPr lang="en-US" dirty="0" err="1" smtClean="0"/>
              <a:t>Quatrième</a:t>
            </a:r>
            <a:r>
              <a:rPr lang="en-US" dirty="0" smtClean="0"/>
              <a:t> </a:t>
            </a:r>
            <a:r>
              <a:rPr lang="en-US" dirty="0" err="1" smtClean="0"/>
              <a:t>niveau</a:t>
            </a:r>
            <a:endParaRPr lang="en-US" dirty="0" smtClean="0"/>
          </a:p>
          <a:p>
            <a:pPr lvl="4" eaLnBrk="1" latinLnBrk="0" hangingPunct="1"/>
            <a:r>
              <a:rPr lang="en-US" dirty="0" err="1" smtClean="0"/>
              <a:t>Cinquième</a:t>
            </a:r>
            <a:r>
              <a:rPr lang="en-US" dirty="0" smtClean="0"/>
              <a:t> </a:t>
            </a:r>
            <a:r>
              <a:rPr lang="en-US" dirty="0" err="1" smtClean="0"/>
              <a:t>niveau</a:t>
            </a:r>
            <a:endParaRPr kumimoji="0" lang="en-US" dirty="0"/>
          </a:p>
        </p:txBody>
      </p:sp>
      <p:sp>
        <p:nvSpPr>
          <p:cNvPr id="8"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endParaRPr lang="en-US" dirty="0"/>
          </a:p>
        </p:txBody>
      </p:sp>
      <p:sp>
        <p:nvSpPr>
          <p:cNvPr id="9"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US" dirty="0"/>
          </a:p>
        </p:txBody>
      </p:sp>
      <p:sp>
        <p:nvSpPr>
          <p:cNvPr id="10"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58A3AF47-B4FA-4D1F-8A11-2DCF56C6D06A}" type="slidenum">
              <a:rPr lang="en-US" smtClean="0">
                <a:solidFill>
                  <a:prstClr val="white"/>
                </a:solidFill>
              </a:rPr>
              <a:pPr/>
              <a:t>‹#›</a:t>
            </a:fld>
            <a:endParaRPr lang="en-US" dirty="0">
              <a:solidFill>
                <a:prstClr val="white"/>
              </a:solidFill>
            </a:endParaRPr>
          </a:p>
        </p:txBody>
      </p:sp>
      <p:sp>
        <p:nvSpPr>
          <p:cNvPr id="11" name="Title Placeholder 1"/>
          <p:cNvSpPr>
            <a:spLocks noGrp="1"/>
          </p:cNvSpPr>
          <p:nvPr>
            <p:ph type="title" hasCustomPrompt="1"/>
          </p:nvPr>
        </p:nvSpPr>
        <p:spPr>
          <a:xfrm>
            <a:off x="1080000" y="237600"/>
            <a:ext cx="7416000" cy="1022400"/>
          </a:xfrm>
          <a:prstGeom prst="rect">
            <a:avLst/>
          </a:prstGeom>
        </p:spPr>
        <p:txBody>
          <a:bodyPr vert="horz" lIns="91440" tIns="45720" rIns="91440" bIns="45720" rtlCol="0" anchor="ctr">
            <a:noAutofit/>
          </a:bodyPr>
          <a:lstStyle/>
          <a:p>
            <a:r>
              <a:rPr lang="fr-FR" dirty="0" smtClean="0"/>
              <a:t>Cliquez pour modifier le titre</a:t>
            </a:r>
            <a:br>
              <a:rPr lang="fr-FR" dirty="0" smtClean="0"/>
            </a:br>
            <a:r>
              <a:rPr lang="fr-FR" dirty="0" smtClean="0"/>
              <a:t>Le titre peut-être étendu sur deux lignes</a:t>
            </a:r>
            <a:endParaRPr lang="en-US" dirty="0"/>
          </a:p>
        </p:txBody>
      </p:sp>
    </p:spTree>
    <p:extLst>
      <p:ext uri="{BB962C8B-B14F-4D97-AF65-F5344CB8AC3E}">
        <p14:creationId xmlns:p14="http://schemas.microsoft.com/office/powerpoint/2010/main" val="185499054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emf"/><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3.emf"/><Relationship Id="rId3" Type="http://schemas.openxmlformats.org/officeDocument/2006/relationships/slideLayout" Target="../slideLayouts/slideLayout7.xml"/><Relationship Id="rId7" Type="http://schemas.openxmlformats.org/officeDocument/2006/relationships/image" Target="../media/image2.png"/><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theme" Target="../theme/theme2.xml"/><Relationship Id="rId5" Type="http://schemas.openxmlformats.org/officeDocument/2006/relationships/slideLayout" Target="../slideLayouts/slideLayout9.xml"/><Relationship Id="rId4"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0"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193600" y="5328184"/>
            <a:ext cx="950407" cy="1529631"/>
          </a:xfrm>
          <a:prstGeom prst="rect">
            <a:avLst/>
          </a:prstGeom>
        </p:spPr>
      </p:pic>
      <p:sp>
        <p:nvSpPr>
          <p:cNvPr id="21" name="Rectangle 20"/>
          <p:cNvSpPr/>
          <p:nvPr/>
        </p:nvSpPr>
        <p:spPr bwMode="auto">
          <a:xfrm>
            <a:off x="504000" y="1306800"/>
            <a:ext cx="8154000" cy="0"/>
          </a:xfrm>
          <a:prstGeom prst="rect">
            <a:avLst/>
          </a:prstGeom>
          <a:noFill/>
          <a:ln w="6350" cap="flat" cmpd="sng" algn="ctr">
            <a:solidFill>
              <a:srgbClr val="727272"/>
            </a:solidFill>
            <a:prstDash val="solid"/>
            <a:miter lim="800000"/>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fr-FR" sz="2000" b="0" i="0" u="none" strike="noStrike" cap="none" normalizeH="0" baseline="0" dirty="0" smtClean="0">
              <a:ln>
                <a:noFill/>
              </a:ln>
              <a:solidFill>
                <a:schemeClr val="tx1"/>
              </a:solidFill>
              <a:effectLst/>
              <a:latin typeface="Helvetica 65 Medium" pitchFamily="34" charset="0"/>
            </a:endParaRPr>
          </a:p>
        </p:txBody>
      </p:sp>
      <p:pic>
        <p:nvPicPr>
          <p:cNvPr id="24" name="Image 7"/>
          <p:cNvPicPr>
            <a:picLocks noChangeAspect="1"/>
          </p:cNvPicPr>
          <p:nvPr/>
        </p:nvPicPr>
        <p:blipFill>
          <a:blip r:embed="rId7" cstate="print"/>
          <a:stretch>
            <a:fillRect/>
          </a:stretch>
        </p:blipFill>
        <p:spPr>
          <a:xfrm>
            <a:off x="500400" y="288000"/>
            <a:ext cx="458653" cy="954000"/>
          </a:xfrm>
          <a:prstGeom prst="rect">
            <a:avLst/>
          </a:prstGeom>
        </p:spPr>
      </p:pic>
      <p:sp>
        <p:nvSpPr>
          <p:cNvPr id="13" name="Text Placeholder 12"/>
          <p:cNvSpPr>
            <a:spLocks noGrp="1"/>
          </p:cNvSpPr>
          <p:nvPr>
            <p:ph type="body" idx="1"/>
          </p:nvPr>
        </p:nvSpPr>
        <p:spPr>
          <a:xfrm>
            <a:off x="468000" y="1602000"/>
            <a:ext cx="8218800" cy="4525200"/>
          </a:xfrm>
          <a:prstGeom prst="rect">
            <a:avLst/>
          </a:prstGeom>
        </p:spPr>
        <p:txBody>
          <a:bodyPr vert="horz">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dirty="0"/>
          </a:p>
        </p:txBody>
      </p:sp>
      <p:sp>
        <p:nvSpPr>
          <p:cNvPr id="25" name="Title Placeholder 1"/>
          <p:cNvSpPr>
            <a:spLocks noGrp="1"/>
          </p:cNvSpPr>
          <p:nvPr>
            <p:ph type="title"/>
          </p:nvPr>
        </p:nvSpPr>
        <p:spPr>
          <a:xfrm>
            <a:off x="1080000" y="237600"/>
            <a:ext cx="7416000" cy="1022400"/>
          </a:xfrm>
          <a:prstGeom prst="rect">
            <a:avLst/>
          </a:prstGeom>
        </p:spPr>
        <p:txBody>
          <a:bodyPr vert="horz" lIns="91440" tIns="45720" rIns="91440" bIns="45720" rtlCol="0" anchor="ctr">
            <a:noAutofit/>
          </a:bodyPr>
          <a:lstStyle/>
          <a:p>
            <a:r>
              <a:rPr lang="en-US" dirty="0" smtClean="0"/>
              <a:t>Click to edit Slide title</a:t>
            </a:r>
            <a:br>
              <a:rPr lang="en-US" dirty="0" smtClean="0"/>
            </a:br>
            <a:r>
              <a:rPr lang="en-US" dirty="0" smtClean="0"/>
              <a:t>Slide title can be extended to two lines</a:t>
            </a:r>
            <a:endParaRPr lang="en-US" dirty="0"/>
          </a:p>
        </p:txBody>
      </p:sp>
      <p:sp>
        <p:nvSpPr>
          <p:cNvPr id="26"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B8370864-E9EA-44BF-8598-F5589D64693F}" type="datetime1">
              <a:rPr lang="en-GB" smtClean="0"/>
              <a:t>07/06/2017</a:t>
            </a:fld>
            <a:endParaRPr lang="en-GB" dirty="0"/>
          </a:p>
        </p:txBody>
      </p:sp>
      <p:sp>
        <p:nvSpPr>
          <p:cNvPr id="27"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41"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t>‹#›</a:t>
            </a:fld>
            <a:endParaRPr lang="en-GB"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Lst>
  <p:hf hdr="0" ftr="0" dt="0"/>
  <p:txStyles>
    <p:titleStyle>
      <a:lvl1pPr algn="l" rtl="0" eaLnBrk="1" latinLnBrk="0" hangingPunct="1">
        <a:spcBef>
          <a:spcPct val="0"/>
        </a:spcBef>
        <a:buNone/>
        <a:defRPr kumimoji="0" sz="3200" kern="1200">
          <a:solidFill>
            <a:schemeClr val="tx1"/>
          </a:solidFill>
          <a:latin typeface="+mj-lt"/>
          <a:ea typeface="+mj-ea"/>
          <a:cs typeface="+mj-cs"/>
        </a:defRPr>
      </a:lvl1pPr>
    </p:titleStyle>
    <p:bodyStyle>
      <a:lvl1pPr marL="342000" indent="-342000" algn="l" rtl="0" eaLnBrk="1" latinLnBrk="0" hangingPunct="1">
        <a:spcBef>
          <a:spcPts val="768"/>
        </a:spcBef>
        <a:buClr>
          <a:schemeClr val="tx1"/>
        </a:buClr>
        <a:buFont typeface="Arial" pitchFamily="34" charset="0"/>
        <a:buChar char="•"/>
        <a:defRPr kumimoji="0" sz="3200" kern="1200">
          <a:solidFill>
            <a:schemeClr val="tx1"/>
          </a:solidFill>
          <a:latin typeface="+mn-lt"/>
          <a:ea typeface="+mn-ea"/>
          <a:cs typeface="+mn-cs"/>
        </a:defRPr>
      </a:lvl1pPr>
      <a:lvl2pPr marL="741600" indent="-284400" algn="l" rtl="0" eaLnBrk="1" latinLnBrk="0" hangingPunct="1">
        <a:spcBef>
          <a:spcPts val="672"/>
        </a:spcBef>
        <a:buClr>
          <a:schemeClr val="tx1"/>
        </a:buClr>
        <a:buFont typeface="Arial" pitchFamily="34" charset="0"/>
        <a:buChar char="–"/>
        <a:defRPr kumimoji="0" sz="2800" kern="1200">
          <a:solidFill>
            <a:schemeClr val="tx1"/>
          </a:solidFill>
          <a:latin typeface="+mn-lt"/>
          <a:ea typeface="+mn-ea"/>
          <a:cs typeface="+mn-cs"/>
        </a:defRPr>
      </a:lvl2pPr>
      <a:lvl3pPr marL="1144800" indent="-230400" algn="l" rtl="0" eaLnBrk="1" latinLnBrk="0" hangingPunct="1">
        <a:spcBef>
          <a:spcPts val="576"/>
        </a:spcBef>
        <a:buClr>
          <a:schemeClr val="tx1"/>
        </a:buClr>
        <a:buFont typeface="Arial" pitchFamily="34" charset="0"/>
        <a:buChar char="•"/>
        <a:defRPr kumimoji="0" sz="2400" kern="1200">
          <a:solidFill>
            <a:schemeClr val="tx1"/>
          </a:solidFill>
          <a:latin typeface="+mn-lt"/>
          <a:ea typeface="+mn-ea"/>
          <a:cs typeface="+mn-cs"/>
        </a:defRPr>
      </a:lvl3pPr>
      <a:lvl4pPr marL="16020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4pPr>
      <a:lvl5pPr marL="20592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5pPr>
      <a:lvl6pPr marL="1609344" indent="-182880" algn="l" rtl="0" eaLnBrk="1" latinLnBrk="0" hangingPunct="1">
        <a:spcBef>
          <a:spcPts val="300"/>
        </a:spcBef>
        <a:buClr>
          <a:schemeClr val="accent3"/>
        </a:buClr>
        <a:buFont typeface="Georgia"/>
        <a:buChar char="▫"/>
        <a:defRPr kumimoji="0" sz="1800" kern="1200">
          <a:solidFill>
            <a:schemeClr val="accent3"/>
          </a:solidFill>
          <a:latin typeface="+mn-lt"/>
          <a:ea typeface="+mn-ea"/>
          <a:cs typeface="+mn-cs"/>
        </a:defRPr>
      </a:lvl6pPr>
      <a:lvl7pPr marL="1828800" indent="-182880" algn="l" rtl="0" eaLnBrk="1" latinLnBrk="0" hangingPunct="1">
        <a:spcBef>
          <a:spcPts val="300"/>
        </a:spcBef>
        <a:buClr>
          <a:schemeClr val="accent3"/>
        </a:buClr>
        <a:buFont typeface="Georgia"/>
        <a:buChar char="▫"/>
        <a:defRPr kumimoji="0" sz="1600" kern="1200">
          <a:solidFill>
            <a:schemeClr val="accent3"/>
          </a:solidFill>
          <a:latin typeface="+mn-lt"/>
          <a:ea typeface="+mn-ea"/>
          <a:cs typeface="+mn-cs"/>
        </a:defRPr>
      </a:lvl7pPr>
      <a:lvl8pPr marL="2029968" indent="-182880" algn="l" rtl="0" eaLnBrk="1" latinLnBrk="0" hangingPunct="1">
        <a:spcBef>
          <a:spcPts val="300"/>
        </a:spcBef>
        <a:buClr>
          <a:schemeClr val="accent3"/>
        </a:buClr>
        <a:buFont typeface="Georgia"/>
        <a:buChar char="◦"/>
        <a:defRPr kumimoji="0" sz="1500" kern="1200">
          <a:solidFill>
            <a:schemeClr val="accent3"/>
          </a:solidFill>
          <a:latin typeface="+mn-lt"/>
          <a:ea typeface="+mn-ea"/>
          <a:cs typeface="+mn-cs"/>
        </a:defRPr>
      </a:lvl8pPr>
      <a:lvl9pPr marL="2240280" indent="-182880" algn="l" rtl="0" eaLnBrk="1" latinLnBrk="0" hangingPunct="1">
        <a:spcBef>
          <a:spcPts val="300"/>
        </a:spcBef>
        <a:buClr>
          <a:schemeClr val="accent3"/>
        </a:buClr>
        <a:buFont typeface="Georgia"/>
        <a:buChar char="◦"/>
        <a:defRPr kumimoji="0" sz="1400" kern="1200" baseline="0">
          <a:solidFill>
            <a:schemeClr val="accent3"/>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0" name="Image 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193600" y="5328184"/>
            <a:ext cx="950407" cy="1529631"/>
          </a:xfrm>
          <a:prstGeom prst="rect">
            <a:avLst/>
          </a:prstGeom>
        </p:spPr>
      </p:pic>
      <p:sp>
        <p:nvSpPr>
          <p:cNvPr id="21" name="Rectangle 20"/>
          <p:cNvSpPr/>
          <p:nvPr/>
        </p:nvSpPr>
        <p:spPr bwMode="auto">
          <a:xfrm>
            <a:off x="504000" y="1306800"/>
            <a:ext cx="8154000" cy="0"/>
          </a:xfrm>
          <a:prstGeom prst="rect">
            <a:avLst/>
          </a:prstGeom>
          <a:noFill/>
          <a:ln w="6350" cap="flat" cmpd="sng" algn="ctr">
            <a:solidFill>
              <a:srgbClr val="727272"/>
            </a:solidFill>
            <a:prstDash val="solid"/>
            <a:miter lim="800000"/>
            <a:headEnd type="none" w="med" len="med"/>
            <a:tailEnd type="none" w="med" len="med"/>
          </a:ln>
          <a:effectLst/>
        </p:spPr>
        <p:txBody>
          <a:bodyPr vert="horz" wrap="none" lIns="91440" tIns="45720" rIns="91440" bIns="45720" numCol="1" rtlCol="0" anchor="t" anchorCtr="0" compatLnSpc="1">
            <a:prstTxWarp prst="textNoShape">
              <a:avLst/>
            </a:prstTxWarp>
          </a:bodyPr>
          <a:lstStyle/>
          <a:p>
            <a:pPr algn="ctr" eaLnBrk="0" fontAlgn="base" hangingPunct="0">
              <a:spcBef>
                <a:spcPct val="0"/>
              </a:spcBef>
              <a:spcAft>
                <a:spcPct val="0"/>
              </a:spcAft>
            </a:pPr>
            <a:endParaRPr lang="fr-FR" sz="2000" dirty="0" smtClean="0">
              <a:solidFill>
                <a:srgbClr val="727272"/>
              </a:solidFill>
              <a:latin typeface="Helvetica 65 Medium" pitchFamily="34" charset="0"/>
            </a:endParaRPr>
          </a:p>
        </p:txBody>
      </p:sp>
      <p:pic>
        <p:nvPicPr>
          <p:cNvPr id="24" name="Image 7"/>
          <p:cNvPicPr>
            <a:picLocks noChangeAspect="1"/>
          </p:cNvPicPr>
          <p:nvPr/>
        </p:nvPicPr>
        <p:blipFill>
          <a:blip r:embed="rId8" cstate="print"/>
          <a:stretch>
            <a:fillRect/>
          </a:stretch>
        </p:blipFill>
        <p:spPr>
          <a:xfrm>
            <a:off x="500400" y="288000"/>
            <a:ext cx="458653" cy="954000"/>
          </a:xfrm>
          <a:prstGeom prst="rect">
            <a:avLst/>
          </a:prstGeom>
        </p:spPr>
      </p:pic>
      <p:sp>
        <p:nvSpPr>
          <p:cNvPr id="13" name="Text Placeholder 12"/>
          <p:cNvSpPr>
            <a:spLocks noGrp="1"/>
          </p:cNvSpPr>
          <p:nvPr>
            <p:ph type="body" idx="1"/>
          </p:nvPr>
        </p:nvSpPr>
        <p:spPr>
          <a:xfrm>
            <a:off x="468000" y="1602000"/>
            <a:ext cx="8218800" cy="4525200"/>
          </a:xfrm>
          <a:prstGeom prst="rect">
            <a:avLst/>
          </a:prstGeom>
        </p:spPr>
        <p:txBody>
          <a:bodyPr vert="horz">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dirty="0"/>
          </a:p>
        </p:txBody>
      </p:sp>
      <p:sp>
        <p:nvSpPr>
          <p:cNvPr id="25" name="Title Placeholder 1"/>
          <p:cNvSpPr>
            <a:spLocks noGrp="1"/>
          </p:cNvSpPr>
          <p:nvPr>
            <p:ph type="title"/>
          </p:nvPr>
        </p:nvSpPr>
        <p:spPr>
          <a:xfrm>
            <a:off x="1080000" y="237600"/>
            <a:ext cx="7416000" cy="1022400"/>
          </a:xfrm>
          <a:prstGeom prst="rect">
            <a:avLst/>
          </a:prstGeom>
        </p:spPr>
        <p:txBody>
          <a:bodyPr vert="horz" lIns="91440" tIns="45720" rIns="91440" bIns="45720" rtlCol="0" anchor="ctr">
            <a:noAutofit/>
          </a:bodyPr>
          <a:lstStyle/>
          <a:p>
            <a:r>
              <a:rPr lang="en-US" dirty="0" smtClean="0"/>
              <a:t>Click to edit Slide title</a:t>
            </a:r>
            <a:br>
              <a:rPr lang="en-US" dirty="0" smtClean="0"/>
            </a:br>
            <a:r>
              <a:rPr lang="en-US" dirty="0" smtClean="0"/>
              <a:t>Slide title can be extended to two lines</a:t>
            </a:r>
            <a:endParaRPr lang="en-US" dirty="0"/>
          </a:p>
        </p:txBody>
      </p:sp>
      <p:sp>
        <p:nvSpPr>
          <p:cNvPr id="26"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B8370864-E9EA-44BF-8598-F5589D64693F}" type="datetime1">
              <a:rPr lang="en-GB" smtClean="0"/>
              <a:pPr/>
              <a:t>07/06/2017</a:t>
            </a:fld>
            <a:endParaRPr lang="en-GB" dirty="0"/>
          </a:p>
        </p:txBody>
      </p:sp>
      <p:sp>
        <p:nvSpPr>
          <p:cNvPr id="27"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41"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solidFill>
                  <a:prstClr val="white"/>
                </a:solidFill>
              </a:rPr>
              <a:pPr/>
              <a:t>‹#›</a:t>
            </a:fld>
            <a:endParaRPr lang="en-GB" dirty="0">
              <a:solidFill>
                <a:prstClr val="white"/>
              </a:solidFill>
            </a:endParaRPr>
          </a:p>
        </p:txBody>
      </p:sp>
    </p:spTree>
    <p:extLst>
      <p:ext uri="{BB962C8B-B14F-4D97-AF65-F5344CB8AC3E}">
        <p14:creationId xmlns:p14="http://schemas.microsoft.com/office/powerpoint/2010/main" val="3699918942"/>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Lst>
  <p:hf hdr="0" ftr="0" dt="0"/>
  <p:txStyles>
    <p:titleStyle>
      <a:lvl1pPr algn="l" rtl="0" eaLnBrk="1" latinLnBrk="0" hangingPunct="1">
        <a:spcBef>
          <a:spcPct val="0"/>
        </a:spcBef>
        <a:buNone/>
        <a:defRPr kumimoji="0" sz="3200" kern="1200">
          <a:solidFill>
            <a:schemeClr val="tx1"/>
          </a:solidFill>
          <a:latin typeface="+mj-lt"/>
          <a:ea typeface="+mj-ea"/>
          <a:cs typeface="+mj-cs"/>
        </a:defRPr>
      </a:lvl1pPr>
    </p:titleStyle>
    <p:bodyStyle>
      <a:lvl1pPr marL="342000" indent="-342000" algn="l" rtl="0" eaLnBrk="1" latinLnBrk="0" hangingPunct="1">
        <a:spcBef>
          <a:spcPts val="768"/>
        </a:spcBef>
        <a:buClr>
          <a:schemeClr val="tx1"/>
        </a:buClr>
        <a:buFont typeface="Arial" pitchFamily="34" charset="0"/>
        <a:buChar char="•"/>
        <a:defRPr kumimoji="0" sz="3200" kern="1200">
          <a:solidFill>
            <a:schemeClr val="tx1"/>
          </a:solidFill>
          <a:latin typeface="+mn-lt"/>
          <a:ea typeface="+mn-ea"/>
          <a:cs typeface="+mn-cs"/>
        </a:defRPr>
      </a:lvl1pPr>
      <a:lvl2pPr marL="741600" indent="-284400" algn="l" rtl="0" eaLnBrk="1" latinLnBrk="0" hangingPunct="1">
        <a:spcBef>
          <a:spcPts val="672"/>
        </a:spcBef>
        <a:buClr>
          <a:schemeClr val="tx1"/>
        </a:buClr>
        <a:buFont typeface="Arial" pitchFamily="34" charset="0"/>
        <a:buChar char="–"/>
        <a:defRPr kumimoji="0" sz="2800" kern="1200">
          <a:solidFill>
            <a:schemeClr val="tx1"/>
          </a:solidFill>
          <a:latin typeface="+mn-lt"/>
          <a:ea typeface="+mn-ea"/>
          <a:cs typeface="+mn-cs"/>
        </a:defRPr>
      </a:lvl2pPr>
      <a:lvl3pPr marL="1144800" indent="-230400" algn="l" rtl="0" eaLnBrk="1" latinLnBrk="0" hangingPunct="1">
        <a:spcBef>
          <a:spcPts val="576"/>
        </a:spcBef>
        <a:buClr>
          <a:schemeClr val="tx1"/>
        </a:buClr>
        <a:buFont typeface="Arial" pitchFamily="34" charset="0"/>
        <a:buChar char="•"/>
        <a:defRPr kumimoji="0" sz="2400" kern="1200">
          <a:solidFill>
            <a:schemeClr val="tx1"/>
          </a:solidFill>
          <a:latin typeface="+mn-lt"/>
          <a:ea typeface="+mn-ea"/>
          <a:cs typeface="+mn-cs"/>
        </a:defRPr>
      </a:lvl3pPr>
      <a:lvl4pPr marL="16020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4pPr>
      <a:lvl5pPr marL="20592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5pPr>
      <a:lvl6pPr marL="1609344" indent="-182880" algn="l" rtl="0" eaLnBrk="1" latinLnBrk="0" hangingPunct="1">
        <a:spcBef>
          <a:spcPts val="300"/>
        </a:spcBef>
        <a:buClr>
          <a:schemeClr val="accent3"/>
        </a:buClr>
        <a:buFont typeface="Georgia"/>
        <a:buChar char="▫"/>
        <a:defRPr kumimoji="0" sz="1800" kern="1200">
          <a:solidFill>
            <a:schemeClr val="accent3"/>
          </a:solidFill>
          <a:latin typeface="+mn-lt"/>
          <a:ea typeface="+mn-ea"/>
          <a:cs typeface="+mn-cs"/>
        </a:defRPr>
      </a:lvl6pPr>
      <a:lvl7pPr marL="1828800" indent="-182880" algn="l" rtl="0" eaLnBrk="1" latinLnBrk="0" hangingPunct="1">
        <a:spcBef>
          <a:spcPts val="300"/>
        </a:spcBef>
        <a:buClr>
          <a:schemeClr val="accent3"/>
        </a:buClr>
        <a:buFont typeface="Georgia"/>
        <a:buChar char="▫"/>
        <a:defRPr kumimoji="0" sz="1600" kern="1200">
          <a:solidFill>
            <a:schemeClr val="accent3"/>
          </a:solidFill>
          <a:latin typeface="+mn-lt"/>
          <a:ea typeface="+mn-ea"/>
          <a:cs typeface="+mn-cs"/>
        </a:defRPr>
      </a:lvl7pPr>
      <a:lvl8pPr marL="2029968" indent="-182880" algn="l" rtl="0" eaLnBrk="1" latinLnBrk="0" hangingPunct="1">
        <a:spcBef>
          <a:spcPts val="300"/>
        </a:spcBef>
        <a:buClr>
          <a:schemeClr val="accent3"/>
        </a:buClr>
        <a:buFont typeface="Georgia"/>
        <a:buChar char="◦"/>
        <a:defRPr kumimoji="0" sz="1500" kern="1200">
          <a:solidFill>
            <a:schemeClr val="accent3"/>
          </a:solidFill>
          <a:latin typeface="+mn-lt"/>
          <a:ea typeface="+mn-ea"/>
          <a:cs typeface="+mn-cs"/>
        </a:defRPr>
      </a:lvl8pPr>
      <a:lvl9pPr marL="2240280" indent="-182880" algn="l" rtl="0" eaLnBrk="1" latinLnBrk="0" hangingPunct="1">
        <a:spcBef>
          <a:spcPts val="300"/>
        </a:spcBef>
        <a:buClr>
          <a:schemeClr val="accent3"/>
        </a:buClr>
        <a:buFont typeface="Georgia"/>
        <a:buChar char="◦"/>
        <a:defRPr kumimoji="0" sz="1400" kern="1200" baseline="0">
          <a:solidFill>
            <a:schemeClr val="accent3"/>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30.png"/><Relationship Id="rId1" Type="http://schemas.openxmlformats.org/officeDocument/2006/relationships/slideLayout" Target="../slideLayouts/slideLayout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765760" y="1052736"/>
            <a:ext cx="8019526" cy="2400657"/>
          </a:xfrm>
          <a:prstGeom prst="rect">
            <a:avLst/>
          </a:prstGeom>
          <a:noFill/>
        </p:spPr>
        <p:txBody>
          <a:bodyPr wrap="square" rtlCol="0">
            <a:spAutoFit/>
          </a:bodyPr>
          <a:lstStyle/>
          <a:p>
            <a:r>
              <a:rPr lang="en-GB" sz="3400" b="1" dirty="0" smtClean="0">
                <a:solidFill>
                  <a:prstClr val="white"/>
                </a:solidFill>
                <a:latin typeface="Arial"/>
              </a:rPr>
              <a:t>OECD ECONOMIC OUTLOOK</a:t>
            </a:r>
          </a:p>
          <a:p>
            <a:r>
              <a:rPr lang="en-GB" sz="3400" b="1" dirty="0" smtClean="0">
                <a:solidFill>
                  <a:prstClr val="white"/>
                </a:solidFill>
                <a:latin typeface="Arial"/>
              </a:rPr>
              <a:t>Besser, aber noch nicht gut genug</a:t>
            </a:r>
          </a:p>
        </p:txBody>
      </p:sp>
      <p:sp>
        <p:nvSpPr>
          <p:cNvPr id="6" name="TextBox 5"/>
          <p:cNvSpPr txBox="1"/>
          <p:nvPr/>
        </p:nvSpPr>
        <p:spPr>
          <a:xfrm>
            <a:off x="755576" y="6169422"/>
            <a:ext cx="5616624" cy="584775"/>
          </a:xfrm>
          <a:prstGeom prst="rect">
            <a:avLst/>
          </a:prstGeom>
          <a:noFill/>
        </p:spPr>
        <p:txBody>
          <a:bodyPr wrap="square" rtlCol="0">
            <a:spAutoFit/>
          </a:bodyPr>
          <a:lstStyle/>
          <a:p>
            <a:r>
              <a:rPr lang="en-GB" sz="1600" dirty="0" smtClean="0">
                <a:solidFill>
                  <a:prstClr val="white"/>
                </a:solidFill>
                <a:latin typeface="Arial"/>
              </a:rPr>
              <a:t>www.oecd.org/economy/economicoutlook.htm</a:t>
            </a:r>
          </a:p>
          <a:p>
            <a:r>
              <a:rPr lang="en-GB" sz="1600" dirty="0" smtClean="0">
                <a:solidFill>
                  <a:prstClr val="white"/>
                </a:solidFill>
                <a:latin typeface="Arial"/>
              </a:rPr>
              <a:t>ECOSCOPE-Blog: oecdecoscope.wordpress.com</a:t>
            </a:r>
          </a:p>
        </p:txBody>
      </p:sp>
      <p:sp>
        <p:nvSpPr>
          <p:cNvPr id="8" name="Rectangle 5"/>
          <p:cNvSpPr txBox="1">
            <a:spLocks noChangeArrowheads="1"/>
          </p:cNvSpPr>
          <p:nvPr/>
        </p:nvSpPr>
        <p:spPr bwMode="auto">
          <a:xfrm>
            <a:off x="80554" y="2564904"/>
            <a:ext cx="8974666" cy="2471913"/>
          </a:xfrm>
          <a:prstGeom prst="rect">
            <a:avLst/>
          </a:prstGeom>
          <a:noFill/>
          <a:ln w="9525">
            <a:noFill/>
            <a:miter lim="800000"/>
            <a:headEnd/>
            <a:tailEnd/>
          </a:ln>
        </p:spPr>
        <p:txBody>
          <a:bodyPr/>
          <a:lstStyle/>
          <a:p>
            <a:r>
              <a:rPr lang="en-GB" sz="2800" b="1" dirty="0" smtClean="0">
                <a:solidFill>
                  <a:srgbClr val="898989"/>
                </a:solidFill>
                <a:latin typeface="+mn-lt"/>
                <a:cs typeface="+mn-cs"/>
              </a:rPr>
              <a:t> </a:t>
            </a:r>
          </a:p>
          <a:p>
            <a:r>
              <a:rPr lang="en-GB" sz="2800" b="1" dirty="0" smtClean="0">
                <a:solidFill>
                  <a:srgbClr val="898989"/>
                </a:solidFill>
                <a:latin typeface="+mn-lt"/>
                <a:cs typeface="+mn-cs"/>
              </a:rPr>
              <a:t/>
            </a:r>
          </a:p>
          <a:p>
            <a:r>
              <a:rPr lang="en-GB" sz="2800" b="1" dirty="0" smtClean="0">
                <a:solidFill>
                  <a:srgbClr val="898989"/>
                </a:solidFill>
                <a:latin typeface="+mn-lt"/>
                <a:cs typeface="+mn-cs"/>
              </a:rPr>
              <a:t>Catherine L. Mann</a:t>
            </a:r>
          </a:p>
          <a:p>
            <a:r>
              <a:rPr lang="en-GB" sz="2800" b="1" dirty="0" smtClean="0">
                <a:solidFill>
                  <a:srgbClr val="898989"/>
                </a:solidFill>
                <a:latin typeface="+mn-lt"/>
                <a:cs typeface="+mn-cs"/>
              </a:rPr>
              <a:t>OECD-Chefökonomin</a:t>
            </a:r>
          </a:p>
        </p:txBody>
      </p:sp>
      <p:sp>
        <p:nvSpPr>
          <p:cNvPr id="9" name="Rectangle 5"/>
          <p:cNvSpPr txBox="1">
            <a:spLocks noChangeArrowheads="1"/>
          </p:cNvSpPr>
          <p:nvPr/>
        </p:nvSpPr>
        <p:spPr bwMode="auto">
          <a:xfrm>
            <a:off x="107188" y="5066925"/>
            <a:ext cx="8974666" cy="827549"/>
          </a:xfrm>
          <a:prstGeom prst="rect">
            <a:avLst/>
          </a:prstGeom>
          <a:noFill/>
          <a:ln w="9525">
            <a:noFill/>
            <a:miter lim="800000"/>
            <a:headEnd/>
            <a:tailEnd/>
          </a:ln>
        </p:spPr>
        <p:txBody>
          <a:bodyPr/>
          <a:lstStyle/>
          <a:p>
            <a:r>
              <a:rPr lang="en-GB" sz="2800" b="1" dirty="0" smtClean="0">
                <a:solidFill>
                  <a:srgbClr val="898989"/>
                </a:solidFill>
                <a:latin typeface="+mn-lt"/>
                <a:cs typeface="+mn-cs"/>
              </a:rPr>
              <a:t> 7. Juni 2017Paris</a:t>
            </a:r>
          </a:p>
        </p:txBody>
      </p:sp>
    </p:spTree>
    <p:extLst>
      <p:ext uri="{BB962C8B-B14F-4D97-AF65-F5344CB8AC3E}">
        <p14:creationId xmlns:p14="http://schemas.microsoft.com/office/powerpoint/2010/main" val="229304807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73415" y="476672"/>
            <a:ext cx="7366001" cy="523220"/>
          </a:xfrm>
          <a:prstGeom prst="rect">
            <a:avLst/>
          </a:prstGeom>
        </p:spPr>
        <p:txBody>
          <a:bodyPr wrap="square">
            <a:spAutoFit/>
          </a:bodyPr>
          <a:lstStyle/>
          <a:p>
            <a:r>
              <a:rPr lang="en-GB" sz="2800" b="1" dirty="0" smtClean="0">
                <a:solidFill>
                  <a:schemeClr val="tx2"/>
                </a:solidFill>
                <a:latin typeface="+mj-lt"/>
              </a:rPr>
              <a:t>Kernbotschaften</a:t>
            </a:r>
          </a:p>
        </p:txBody>
      </p:sp>
      <p:sp>
        <p:nvSpPr>
          <p:cNvPr id="2" name="Slide Number Placeholder 1"/>
          <p:cNvSpPr>
            <a:spLocks noGrp="1"/>
          </p:cNvSpPr>
          <p:nvPr>
            <p:ph type="sldNum" sz="quarter" idx="12"/>
          </p:nvPr>
        </p:nvSpPr>
        <p:spPr/>
        <p:txBody>
          <a:bodyPr/>
          <a:lstStyle/>
          <a:p>
            <a:fld id="{FCE284C4-5ED1-4D6C-B7CC-2049C3062C5E}" type="slidenum">
              <a:rPr lang="en-GB" smtClean="0"/>
              <a:t>2</a:t>
            </a:fld>
            <a:endParaRPr lang="en-GB" dirty="0"/>
          </a:p>
        </p:txBody>
      </p:sp>
      <p:graphicFrame>
        <p:nvGraphicFramePr>
          <p:cNvPr id="9" name="Diagram 8"/>
          <p:cNvGraphicFramePr/>
          <p:nvPr>
            <p:extLst>
              <p:ext uri="{D42A27DB-BD31-4B8C-83A1-F6EECF244321}">
                <p14:modId xmlns:p14="http://schemas.microsoft.com/office/powerpoint/2010/main" val="2103504004"/>
              </p:ext>
            </p:extLst>
          </p:nvPr>
        </p:nvGraphicFramePr>
        <p:xfrm>
          <a:off x="459000" y="1260370"/>
          <a:ext cx="8280920" cy="54452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93186841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in.oecd.org\sdataECO\Units\FRONTOFFICE\Economic Outlooks\EO101\Data and charts\PPT_Figs_E\E_Handout_Fig_Global_Growth_1_2P_P2CL.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9586" y="1540823"/>
            <a:ext cx="8085074" cy="5181457"/>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725330" y="260648"/>
            <a:ext cx="8378047" cy="954107"/>
          </a:xfrm>
          <a:prstGeom prst="rect">
            <a:avLst/>
          </a:prstGeom>
        </p:spPr>
        <p:txBody>
          <a:bodyPr wrap="square">
            <a:spAutoFit/>
          </a:bodyPr>
          <a:lstStyle/>
          <a:p>
            <a:r>
              <a:rPr lang="en-GB" sz="2800" b="1" dirty="0" smtClean="0">
                <a:solidFill>
                  <a:schemeClr val="tx2"/>
                </a:solidFill>
                <a:latin typeface="+mj-lt"/>
              </a:rPr>
              <a:t>Das globale BIP-Wachstum dürfte moderat anziehen, </a:t>
            </a:r>
          </a:p>
          <a:p>
            <a:r>
              <a:rPr lang="en-GB" sz="2800" b="1" dirty="0" smtClean="0">
                <a:solidFill>
                  <a:schemeClr val="tx2"/>
                </a:solidFill>
                <a:latin typeface="+mj-lt"/>
              </a:rPr>
              <a:t>bleibt aber unter den historischen Normwerten</a:t>
            </a:r>
          </a:p>
        </p:txBody>
      </p:sp>
      <p:sp>
        <p:nvSpPr>
          <p:cNvPr id="11" name="Slide Number Placeholder 10"/>
          <p:cNvSpPr>
            <a:spLocks noGrp="1"/>
          </p:cNvSpPr>
          <p:nvPr>
            <p:ph type="sldNum" sz="quarter" idx="12"/>
          </p:nvPr>
        </p:nvSpPr>
        <p:spPr/>
        <p:txBody>
          <a:bodyPr/>
          <a:lstStyle/>
          <a:p>
            <a:fld id="{FCE284C4-5ED1-4D6C-B7CC-2049C3062C5E}" type="slidenum">
              <a:rPr lang="en-GB" smtClean="0"/>
              <a:t>3</a:t>
            </a:fld>
            <a:endParaRPr lang="en-GB" dirty="0"/>
          </a:p>
        </p:txBody>
      </p:sp>
      <p:sp>
        <p:nvSpPr>
          <p:cNvPr id="13" name="TextBox 12"/>
          <p:cNvSpPr txBox="1"/>
          <p:nvPr/>
        </p:nvSpPr>
        <p:spPr>
          <a:xfrm>
            <a:off x="589585" y="6211669"/>
            <a:ext cx="8495040" cy="646331"/>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Quelle: OECD Economic Outlook-Datenbank, Juni 2017.</a:t>
            </a:r>
          </a:p>
        </p:txBody>
      </p:sp>
      <p:sp>
        <p:nvSpPr>
          <p:cNvPr id="21" name="TextBox 20"/>
          <p:cNvSpPr txBox="1"/>
          <p:nvPr/>
        </p:nvSpPr>
        <p:spPr>
          <a:xfrm>
            <a:off x="2507887" y="1340768"/>
            <a:ext cx="4248472" cy="40011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Globales BIP-Wachstum</a:t>
            </a:r>
          </a:p>
        </p:txBody>
      </p:sp>
    </p:spTree>
    <p:extLst>
      <p:ext uri="{BB962C8B-B14F-4D97-AF65-F5344CB8AC3E}">
        <p14:creationId xmlns:p14="http://schemas.microsoft.com/office/powerpoint/2010/main" val="18878458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main.oecd.org\sdataECO\Units\FRONTOFFICE\Economic Outlooks\EO101\Data and charts\PPT_Figs_E\E_Handout_Fig_GDPV_CAP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72" y="1700808"/>
            <a:ext cx="4592546" cy="4752528"/>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694508" y="240100"/>
            <a:ext cx="8378047" cy="954107"/>
          </a:xfrm>
          <a:prstGeom prst="rect">
            <a:avLst/>
          </a:prstGeom>
        </p:spPr>
        <p:txBody>
          <a:bodyPr wrap="square">
            <a:spAutoFit/>
          </a:bodyPr>
          <a:lstStyle/>
          <a:p>
            <a:r>
              <a:rPr lang="en-GB" sz="2800" b="1" dirty="0" smtClean="0">
                <a:solidFill>
                  <a:schemeClr val="tx2"/>
                </a:solidFill>
                <a:latin typeface="+mj-lt"/>
              </a:rPr>
              <a:t>Das BIP-Wachstum pro Kopf liegt unter dem historischen Schnitt, </a:t>
            </a:r>
          </a:p>
          <a:p>
            <a:r>
              <a:rPr lang="en-GB" sz="2800" b="1" dirty="0" smtClean="0">
                <a:solidFill>
                  <a:schemeClr val="tx2"/>
                </a:solidFill>
                <a:latin typeface="+mj-lt"/>
              </a:rPr>
              <a:t>und die Einkommensungleichheit steigt weiter</a:t>
            </a:r>
          </a:p>
        </p:txBody>
      </p:sp>
      <p:sp>
        <p:nvSpPr>
          <p:cNvPr id="11" name="Slide Number Placeholder 10"/>
          <p:cNvSpPr>
            <a:spLocks noGrp="1"/>
          </p:cNvSpPr>
          <p:nvPr>
            <p:ph type="sldNum" sz="quarter" idx="12"/>
          </p:nvPr>
        </p:nvSpPr>
        <p:spPr/>
        <p:txBody>
          <a:bodyPr/>
          <a:lstStyle/>
          <a:p>
            <a:fld id="{FCE284C4-5ED1-4D6C-B7CC-2049C3062C5E}" type="slidenum">
              <a:rPr lang="en-GB" smtClean="0"/>
              <a:t>4</a:t>
            </a:fld>
            <a:endParaRPr lang="en-GB" dirty="0"/>
          </a:p>
        </p:txBody>
      </p:sp>
      <p:sp>
        <p:nvSpPr>
          <p:cNvPr id="15" name="TextBox 14"/>
          <p:cNvSpPr txBox="1"/>
          <p:nvPr/>
        </p:nvSpPr>
        <p:spPr>
          <a:xfrm>
            <a:off x="134557" y="1307502"/>
            <a:ext cx="4248472"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BIP-Wachstum pro Kopf</a:t>
            </a:r>
          </a:p>
          <a:p>
            <a:r>
              <a:rPr lang="en-US" sz="2000" b="1" dirty="0" smtClean="0">
                <a:solidFill>
                  <a:schemeClr val="bg2">
                    <a:lumMod val="10000"/>
                  </a:schemeClr>
                </a:solidFill>
                <a:latin typeface="Calibri" pitchFamily="34" charset="0"/>
              </a:rPr>
              <a:t>Horizontale Linien sind Durchschnittswerte für 1987-2007</a:t>
            </a:r>
          </a:p>
        </p:txBody>
      </p:sp>
      <p:sp>
        <p:nvSpPr>
          <p:cNvPr id="12" name="TextBox 11"/>
          <p:cNvSpPr txBox="1"/>
          <p:nvPr/>
        </p:nvSpPr>
        <p:spPr>
          <a:xfrm>
            <a:off x="4256058" y="1302256"/>
            <a:ext cx="5063780"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Die Einkommensungleichheit steigt in der OECD Real verfügbares Haushaltseinkommen, Gesamtbevölkerung</a:t>
            </a:r>
          </a:p>
        </p:txBody>
      </p:sp>
      <p:pic>
        <p:nvPicPr>
          <p:cNvPr id="8194" name="Picture 2" descr="\\main.oecd.org\sdataECO\Units\FRONTOFFICE\Economic Outlooks\EO101\Data and charts\PPT_Figs_E\E_Handout_Fig_inequality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82274" y="1887031"/>
            <a:ext cx="4541651" cy="4823515"/>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p:cNvSpPr txBox="1"/>
          <p:nvPr/>
        </p:nvSpPr>
        <p:spPr>
          <a:xfrm>
            <a:off x="461547" y="6396335"/>
            <a:ext cx="8641830" cy="461665"/>
          </a:xfrm>
          <a:prstGeom prst="rect">
            <a:avLst/>
          </a:prstGeom>
          <a:noFill/>
        </p:spPr>
        <p:txBody>
          <a:bodyPr wrap="square" rtlCol="0">
            <a:spAutoFit/>
          </a:bodyPr>
          <a:lstStyle/>
          <a:p>
            <a:r>
              <a:rPr lang="en-US" sz="1200" dirty="0">
                <a:solidFill>
                  <a:schemeClr val="bg2">
                    <a:lumMod val="10000"/>
                  </a:schemeClr>
                </a:solidFill>
                <a:latin typeface="Calibri" panose="020F0502020204030204" pitchFamily="34" charset="0"/>
              </a:rPr>
              <a:t>Anmerkung: Die rechte Achse ist der ungewichtete Durchschnitt von 17 OECD-Ländern.</a:t>
            </a:r>
          </a:p>
          <a:p>
            <a:r>
              <a:rPr lang="en-US" sz="1200" dirty="0">
                <a:solidFill>
                  <a:schemeClr val="bg2">
                    <a:lumMod val="10000"/>
                  </a:schemeClr>
                </a:solidFill>
                <a:latin typeface="Calibri" panose="020F0502020204030204" pitchFamily="34" charset="0"/>
              </a:rPr>
              <a:t>Quelle: OECD Economic Outlook-Datenbank, Juni 2017; und OECD Income Distribution-Datenbank.</a:t>
            </a:r>
          </a:p>
        </p:txBody>
      </p:sp>
    </p:spTree>
    <p:extLst>
      <p:ext uri="{BB962C8B-B14F-4D97-AF65-F5344CB8AC3E}">
        <p14:creationId xmlns:p14="http://schemas.microsoft.com/office/powerpoint/2010/main" val="16228190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637669" y="442666"/>
            <a:ext cx="8378047" cy="523220"/>
          </a:xfrm>
          <a:prstGeom prst="rect">
            <a:avLst/>
          </a:prstGeom>
        </p:spPr>
        <p:txBody>
          <a:bodyPr wrap="square">
            <a:spAutoFit/>
          </a:bodyPr>
          <a:lstStyle/>
          <a:p>
            <a:r>
              <a:rPr lang="en-GB" sz="2800" b="1" dirty="0" smtClean="0">
                <a:solidFill>
                  <a:schemeClr val="tx2"/>
                </a:solidFill>
                <a:latin typeface="+mj-lt"/>
              </a:rPr>
              <a:t>Projektionen des OECD Economic Outlook</a:t>
            </a:r>
          </a:p>
        </p:txBody>
      </p:sp>
      <p:sp>
        <p:nvSpPr>
          <p:cNvPr id="11" name="Slide Number Placeholder 10"/>
          <p:cNvSpPr>
            <a:spLocks noGrp="1"/>
          </p:cNvSpPr>
          <p:nvPr>
            <p:ph type="sldNum" sz="quarter" idx="12"/>
          </p:nvPr>
        </p:nvSpPr>
        <p:spPr/>
        <p:txBody>
          <a:bodyPr/>
          <a:lstStyle/>
          <a:p>
            <a:fld id="{FCE284C4-5ED1-4D6C-B7CC-2049C3062C5E}" type="slidenum">
              <a:rPr lang="en-GB" smtClean="0"/>
              <a:t>5</a:t>
            </a:fld>
            <a:endParaRPr lang="en-GB" dirty="0"/>
          </a:p>
        </p:txBody>
      </p:sp>
      <p:sp>
        <p:nvSpPr>
          <p:cNvPr id="6" name="TextBox 5"/>
          <p:cNvSpPr txBox="1"/>
          <p:nvPr/>
        </p:nvSpPr>
        <p:spPr>
          <a:xfrm>
            <a:off x="529723" y="1286395"/>
            <a:ext cx="8136904" cy="584775"/>
          </a:xfrm>
          <a:prstGeom prst="rect">
            <a:avLst/>
          </a:prstGeom>
          <a:noFill/>
        </p:spPr>
        <p:txBody>
          <a:bodyPr wrap="square" rtlCol="0">
            <a:spAutoFit/>
          </a:bodyPr>
          <a:lstStyle/>
          <a:p>
            <a:r>
              <a:rPr lang="en-GB" sz="2000" b="1" dirty="0" smtClean="0">
                <a:solidFill>
                  <a:schemeClr val="bg2">
                    <a:lumMod val="10000"/>
                  </a:schemeClr>
                </a:solidFill>
                <a:latin typeface="Calibri" pitchFamily="34" charset="0"/>
              </a:rPr>
              <a:t>Reales BIP-Wachstum</a:t>
            </a:r>
          </a:p>
          <a:p>
            <a:r>
              <a:rPr lang="en-GB" sz="2000" b="1" dirty="0" smtClean="0">
                <a:solidFill>
                  <a:schemeClr val="bg2">
                    <a:lumMod val="10000"/>
                  </a:schemeClr>
                </a:solidFill>
                <a:latin typeface="Calibri" pitchFamily="34" charset="0"/>
              </a:rPr>
              <a:t>Jahr für Jahr, %</a:t>
            </a:r>
          </a:p>
        </p:txBody>
      </p:sp>
      <p:sp>
        <p:nvSpPr>
          <p:cNvPr id="7" name="TextBox 6"/>
          <p:cNvSpPr txBox="1"/>
          <p:nvPr/>
        </p:nvSpPr>
        <p:spPr>
          <a:xfrm>
            <a:off x="1426363" y="5834281"/>
            <a:ext cx="8738087" cy="1015663"/>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Anmerkung: Differenz in Prozentpunkten auf Basis gerundeter Werte. </a:t>
            </a:r>
          </a:p>
          <a:p>
            <a:r>
              <a:rPr lang="en-US" sz="1200" dirty="0" smtClean="0">
                <a:solidFill>
                  <a:schemeClr val="bg2">
                    <a:lumMod val="10000"/>
                  </a:schemeClr>
                </a:solidFill>
                <a:latin typeface="Calibri" panose="020F0502020204030204" pitchFamily="34" charset="0"/>
              </a:rPr>
              <a:t>1. Das Wachstum Irlands 2015 wird anhand der Bruttowertschöpfung zu konstanten Preisen ohne die von ausländischen multinationalen Unternehmen dominierten Sektoren berechnet.</a:t>
            </a:r>
          </a:p>
          <a:p>
            <a:r>
              <a:rPr lang="en-US" sz="1200" dirty="0" smtClean="0">
                <a:solidFill>
                  <a:schemeClr val="bg2">
                    <a:lumMod val="10000"/>
                  </a:schemeClr>
                </a:solidFill>
                <a:latin typeface="Calibri" panose="020F0502020204030204" pitchFamily="34" charset="0"/>
              </a:rPr>
              <a:t>2. Geschäftsjahre, die im April beginnen.</a:t>
            </a:r>
          </a:p>
        </p:txBody>
      </p:sp>
      <p:pic>
        <p:nvPicPr>
          <p:cNvPr id="8" name="Picture 7"/>
          <p:cNvPicPr/>
          <p:nvPr/>
        </p:nvPicPr>
        <p:blipFill>
          <a:blip r:embed="rId3">
            <a:extLst>
              <a:ext uri="{28A0092B-C50C-407E-A947-70E740481C1C}">
                <a14:useLocalDpi xmlns:a14="http://schemas.microsoft.com/office/drawing/2010/main" val="0"/>
              </a:ext>
            </a:extLst>
          </a:blip>
          <a:srcRect/>
          <a:stretch>
            <a:fillRect/>
          </a:stretch>
        </p:blipFill>
        <p:spPr bwMode="auto">
          <a:xfrm>
            <a:off x="1383292" y="1834981"/>
            <a:ext cx="6213044" cy="4222126"/>
          </a:xfrm>
          <a:prstGeom prst="rect">
            <a:avLst/>
          </a:prstGeom>
          <a:noFill/>
          <a:ln>
            <a:noFill/>
          </a:ln>
        </p:spPr>
      </p:pic>
    </p:spTree>
    <p:extLst>
      <p:ext uri="{BB962C8B-B14F-4D97-AF65-F5344CB8AC3E}">
        <p14:creationId xmlns:p14="http://schemas.microsoft.com/office/powerpoint/2010/main" val="127252702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descr="\\main.oecd.org\sdataECO\Units\FRONTOFFICE\Economic Outlooks\EO101\Data and charts\PPT_Figs_E\E_Handout_Fig_Confidence_indicators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512" y="1598788"/>
            <a:ext cx="4678679" cy="4844184"/>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main.oecd.org\sdataECO\Units\FRONTOFFICE\Economic Outlooks\EO101\Data and charts\Figs_E\E_Handout_Fig_Confidence_indicators_rolling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77716" y="1598788"/>
            <a:ext cx="4697106" cy="4844184"/>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798860" y="260648"/>
            <a:ext cx="7920880" cy="954107"/>
          </a:xfrm>
          <a:prstGeom prst="rect">
            <a:avLst/>
          </a:prstGeom>
        </p:spPr>
        <p:txBody>
          <a:bodyPr wrap="square">
            <a:spAutoFit/>
          </a:bodyPr>
          <a:lstStyle/>
          <a:p>
            <a:r>
              <a:rPr lang="en-US" sz="2800" b="1" dirty="0" smtClean="0">
                <a:solidFill>
                  <a:schemeClr val="tx2"/>
                </a:solidFill>
                <a:latin typeface="+mj-lt"/>
              </a:rPr>
              <a:t>Vertrauensindikatoren deuten auf eine Belebung hin, sind aber weniger verlässlich geworden</a:t>
            </a:r>
          </a:p>
        </p:txBody>
      </p:sp>
      <p:sp>
        <p:nvSpPr>
          <p:cNvPr id="7" name="Slide Number Placeholder 6"/>
          <p:cNvSpPr>
            <a:spLocks noGrp="1"/>
          </p:cNvSpPr>
          <p:nvPr>
            <p:ph type="sldNum" sz="quarter" idx="12"/>
          </p:nvPr>
        </p:nvSpPr>
        <p:spPr/>
        <p:txBody>
          <a:bodyPr/>
          <a:lstStyle/>
          <a:p>
            <a:fld id="{FCE284C4-5ED1-4D6C-B7CC-2049C3062C5E}" type="slidenum">
              <a:rPr lang="en-GB" smtClean="0"/>
              <a:t>6</a:t>
            </a:fld>
            <a:endParaRPr lang="en-GB" dirty="0"/>
          </a:p>
        </p:txBody>
      </p:sp>
      <p:sp>
        <p:nvSpPr>
          <p:cNvPr id="10" name="TextBox 9"/>
          <p:cNvSpPr txBox="1"/>
          <p:nvPr/>
        </p:nvSpPr>
        <p:spPr>
          <a:xfrm>
            <a:off x="-333763" y="1306400"/>
            <a:ext cx="5202324" cy="584775"/>
          </a:xfrm>
          <a:prstGeom prst="rect">
            <a:avLst/>
          </a:prstGeom>
          <a:noFill/>
        </p:spPr>
        <p:txBody>
          <a:bodyPr wrap="square" rtlCol="0">
            <a:spAutoFit/>
          </a:bodyPr>
          <a:lstStyle/>
          <a:p>
            <a:r>
              <a:rPr lang="en-GB" sz="2000" b="1" dirty="0" smtClean="0">
                <a:solidFill>
                  <a:schemeClr val="bg2">
                    <a:lumMod val="10000"/>
                  </a:schemeClr>
                </a:solidFill>
                <a:latin typeface="Calibri" pitchFamily="34" charset="0"/>
              </a:rPr>
              <a:t>Verbraucher- und Unternehmensvertrauen OECD und BRIICS, Index</a:t>
            </a:r>
          </a:p>
        </p:txBody>
      </p:sp>
      <p:sp>
        <p:nvSpPr>
          <p:cNvPr id="12" name="TextBox 11"/>
          <p:cNvSpPr txBox="1"/>
          <p:nvPr/>
        </p:nvSpPr>
        <p:spPr>
          <a:xfrm>
            <a:off x="171736" y="6211669"/>
            <a:ext cx="8438329" cy="646331"/>
          </a:xfrm>
          <a:prstGeom prst="rect">
            <a:avLst/>
          </a:prstGeom>
          <a:noFill/>
        </p:spPr>
        <p:txBody>
          <a:bodyPr wrap="square" rtlCol="0">
            <a:spAutoFit/>
          </a:bodyPr>
          <a:lstStyle/>
          <a:p>
            <a:r>
              <a:rPr lang="en-US" sz="1200" dirty="0">
                <a:solidFill>
                  <a:schemeClr val="bg2">
                    <a:lumMod val="10000"/>
                  </a:schemeClr>
                </a:solidFill>
                <a:latin typeface="Calibri" panose="020F0502020204030204" pitchFamily="34" charset="0"/>
              </a:rPr>
              <a:t>Anmerkung: Die Vertrauensindizes sind nach BIP-KKP gewichtete Durchschnitte standardisierter Länderreihen, deren langfristiger Durchschnitt = 100 ist. Das Verbrauchervertrauen korreliert mit dem globalen Einzelhandelsumsatzwachstum und das Unternehmensvertrauen mit dem globalen Wachstum der Industrieproduktion.</a:t>
            </a:r>
          </a:p>
          <a:p>
            <a:r>
              <a:rPr lang="en-US" sz="1200" dirty="0">
                <a:solidFill>
                  <a:schemeClr val="bg2">
                    <a:lumMod val="10000"/>
                  </a:schemeClr>
                </a:solidFill>
                <a:latin typeface="Calibri" panose="020F0502020204030204" pitchFamily="34" charset="0"/>
              </a:rPr>
              <a:t>Quelle: OECD Main Economic Indicators-Datenbank; und OECD-Berechnungen.</a:t>
            </a:r>
          </a:p>
        </p:txBody>
      </p:sp>
      <p:sp>
        <p:nvSpPr>
          <p:cNvPr id="8" name="TextBox 7"/>
          <p:cNvSpPr txBox="1"/>
          <p:nvPr/>
        </p:nvSpPr>
        <p:spPr>
          <a:xfrm>
            <a:off x="4139952" y="1306401"/>
            <a:ext cx="5202324" cy="584775"/>
          </a:xfrm>
          <a:prstGeom prst="rect">
            <a:avLst/>
          </a:prstGeom>
          <a:noFill/>
        </p:spPr>
        <p:txBody>
          <a:bodyPr wrap="square" rtlCol="0">
            <a:spAutoFit/>
          </a:bodyPr>
          <a:lstStyle/>
          <a:p>
            <a:r>
              <a:rPr lang="en-GB" sz="2000" b="1" dirty="0" smtClean="0">
                <a:solidFill>
                  <a:schemeClr val="bg2">
                    <a:lumMod val="10000"/>
                  </a:schemeClr>
                </a:solidFill>
                <a:latin typeface="Calibri" pitchFamily="34" charset="0"/>
              </a:rPr>
              <a:t>Aussagekraft der Vertrauensindikatoren</a:t>
            </a:r>
          </a:p>
          <a:p>
            <a:r>
              <a:rPr lang="en-GB" sz="2000" b="1" dirty="0" smtClean="0">
                <a:solidFill>
                  <a:schemeClr val="bg2">
                    <a:lumMod val="10000"/>
                  </a:schemeClr>
                </a:solidFill>
                <a:latin typeface="Calibri" pitchFamily="34" charset="0"/>
              </a:rPr>
              <a:t>OECD und BRIICS, 5-Jahres-Korrelation mit der Aktivität</a:t>
            </a:r>
          </a:p>
        </p:txBody>
      </p:sp>
    </p:spTree>
    <p:extLst>
      <p:ext uri="{BB962C8B-B14F-4D97-AF65-F5344CB8AC3E}">
        <p14:creationId xmlns:p14="http://schemas.microsoft.com/office/powerpoint/2010/main" val="25831687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main.oecd.org\sdataECO\Units\FRONTOFFICE\Economic Outlooks\EO101\Data and charts\PPT_Figs_E\E_Handout_Fig_High_tech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02732" y="1604989"/>
            <a:ext cx="4537260" cy="4571490"/>
          </a:xfrm>
          <a:prstGeom prst="rect">
            <a:avLst/>
          </a:prstGeom>
          <a:noFill/>
          <a:extLst>
            <a:ext uri="{909E8E84-426E-40DD-AFC4-6F175D3DCCD1}">
              <a14:hiddenFill xmlns:a14="http://schemas.microsoft.com/office/drawing/2010/main">
                <a:solidFill>
                  <a:srgbClr val="FFFFFF"/>
                </a:solidFill>
              </a14:hiddenFill>
            </a:ext>
          </a:extLst>
        </p:spPr>
      </p:pic>
      <p:pic>
        <p:nvPicPr>
          <p:cNvPr id="3075" name="Picture 3" descr="\\main.oecd.org\sdataECO\Units\FRONTOFFICE\Economic Outlooks\EO101\Data and charts\PPT_Figs_E\E_Handout_Fig_Fig_Productive_Capital_Stock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573" y="1604989"/>
            <a:ext cx="4475419" cy="457149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802183" y="233427"/>
            <a:ext cx="8235069" cy="923330"/>
          </a:xfrm>
          <a:prstGeom prst="rect">
            <a:avLst/>
          </a:prstGeom>
        </p:spPr>
        <p:txBody>
          <a:bodyPr wrap="square">
            <a:spAutoFit/>
          </a:bodyPr>
          <a:lstStyle/>
          <a:p>
            <a:r>
              <a:rPr lang="en-US" sz="2700" b="1" dirty="0" smtClean="0">
                <a:solidFill>
                  <a:schemeClr val="tx2"/>
                </a:solidFill>
                <a:latin typeface="+mj-lt"/>
              </a:rPr>
              <a:t>Die Investitionen steigen, doch der Kapitalstock ist alt Aufwärtspotenzial durch technologische Modernisierung</a:t>
            </a:r>
          </a:p>
        </p:txBody>
      </p:sp>
      <p:sp>
        <p:nvSpPr>
          <p:cNvPr id="7" name="Slide Number Placeholder 6"/>
          <p:cNvSpPr>
            <a:spLocks noGrp="1"/>
          </p:cNvSpPr>
          <p:nvPr>
            <p:ph type="sldNum" sz="quarter" idx="12"/>
          </p:nvPr>
        </p:nvSpPr>
        <p:spPr/>
        <p:txBody>
          <a:bodyPr/>
          <a:lstStyle/>
          <a:p>
            <a:fld id="{FCE284C4-5ED1-4D6C-B7CC-2049C3062C5E}" type="slidenum">
              <a:rPr lang="en-GB" smtClean="0"/>
              <a:t>7</a:t>
            </a:fld>
            <a:endParaRPr lang="en-GB" dirty="0"/>
          </a:p>
        </p:txBody>
      </p:sp>
      <p:sp>
        <p:nvSpPr>
          <p:cNvPr id="11" name="TextBox 10"/>
          <p:cNvSpPr txBox="1"/>
          <p:nvPr/>
        </p:nvSpPr>
        <p:spPr>
          <a:xfrm>
            <a:off x="99037" y="5966214"/>
            <a:ext cx="8496944" cy="900246"/>
          </a:xfrm>
          <a:prstGeom prst="rect">
            <a:avLst/>
          </a:prstGeom>
          <a:noFill/>
        </p:spPr>
        <p:txBody>
          <a:bodyPr wrap="square" rtlCol="0">
            <a:spAutoFit/>
          </a:bodyPr>
          <a:lstStyle/>
          <a:p>
            <a:r>
              <a:rPr lang="en-US" sz="1050" dirty="0" smtClean="0">
                <a:solidFill>
                  <a:schemeClr val="bg2">
                    <a:lumMod val="10000"/>
                  </a:schemeClr>
                </a:solidFill>
                <a:latin typeface="Calibri" panose="020F0502020204030204" pitchFamily="34" charset="0"/>
              </a:rPr>
              <a:t>Anmerkung: Globale Halbleiterumsätze in nominalen US-Dollar. Die Produktion der wichtigsten fortgeschrittenen Computer- und Elektronikgüter ist ein gewichteter Durchschnitt aus der Produktion von Computer- und Elektronikerzeugnissen für die Vereinigten Staaten, der Produktion von Computer-, Elektronik- und optischen Erzeugnissen für Deutschland sowie der Produktion von Informations- und Kommunikationselektronik samt elektronischen Bauteilen und Geräten für Japan.Quelle: OECD Economic Outlook-Datenbank, Juni 2017; World Semi-Conductor Statistics; Eurostat; Board of Governors of the Federal Reserve System; Japan Ministry of Economy, Trade and Industry; und OECD-Berechnungen.</a:t>
            </a:r>
          </a:p>
        </p:txBody>
      </p:sp>
      <p:sp>
        <p:nvSpPr>
          <p:cNvPr id="9" name="TextBox 8"/>
          <p:cNvSpPr txBox="1"/>
          <p:nvPr/>
        </p:nvSpPr>
        <p:spPr>
          <a:xfrm>
            <a:off x="4165430" y="1281780"/>
            <a:ext cx="5202324" cy="605294"/>
          </a:xfrm>
          <a:prstGeom prst="rect">
            <a:avLst/>
          </a:prstGeom>
          <a:noFill/>
        </p:spPr>
        <p:txBody>
          <a:bodyPr wrap="square" rtlCol="0">
            <a:spAutoFit/>
          </a:bodyPr>
          <a:lstStyle/>
          <a:p>
            <a:r>
              <a:rPr lang="en-GB" sz="2000" b="1" dirty="0" smtClean="0">
                <a:solidFill>
                  <a:schemeClr val="bg2">
                    <a:lumMod val="10000"/>
                  </a:schemeClr>
                </a:solidFill>
                <a:latin typeface="Calibri" pitchFamily="34" charset="0"/>
              </a:rPr>
              <a:t>Hightech-Produkte</a:t>
            </a:r>
          </a:p>
        </p:txBody>
      </p:sp>
      <p:sp>
        <p:nvSpPr>
          <p:cNvPr id="8" name="TextBox 7"/>
          <p:cNvSpPr txBox="1"/>
          <p:nvPr/>
        </p:nvSpPr>
        <p:spPr>
          <a:xfrm>
            <a:off x="-563133" y="1281780"/>
            <a:ext cx="5650830" cy="40011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Wachstum des produktiven Kapitalstocks</a:t>
            </a:r>
          </a:p>
        </p:txBody>
      </p:sp>
    </p:spTree>
    <p:extLst>
      <p:ext uri="{BB962C8B-B14F-4D97-AF65-F5344CB8AC3E}">
        <p14:creationId xmlns:p14="http://schemas.microsoft.com/office/powerpoint/2010/main" val="94290143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9" name="Picture 3" descr="\\main.oecd.org\sdataECO\Units\FRONTOFFICE\Economic Outlooks\EO101\Data and charts\PPT_Figs_E\E_Handout_Fig_China_Investment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8104" y="1772816"/>
            <a:ext cx="3611416" cy="4710689"/>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main.oecd.org\sdataECO\Units\FRONTOFFICE\Economic Outlooks\EO101\Data and charts\PPT_Figs_E\E_Handout_Fig_World_Trade_contributions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676" y="1443800"/>
            <a:ext cx="5482702" cy="5086514"/>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777992" y="250359"/>
            <a:ext cx="8136904" cy="954107"/>
          </a:xfrm>
          <a:prstGeom prst="rect">
            <a:avLst/>
          </a:prstGeom>
        </p:spPr>
        <p:txBody>
          <a:bodyPr wrap="square">
            <a:spAutoFit/>
          </a:bodyPr>
          <a:lstStyle/>
          <a:p>
            <a:r>
              <a:rPr lang="en-US" sz="2800" b="1" dirty="0">
                <a:solidFill>
                  <a:schemeClr val="tx2"/>
                </a:solidFill>
                <a:latin typeface="+mj-lt"/>
              </a:rPr>
              <a:t>Der Welthandel hat sich zuletzt erholt, mit wichtiger Unterstützung durch die Konjunkturmaßnahmen in China</a:t>
            </a:r>
          </a:p>
        </p:txBody>
      </p:sp>
      <p:sp>
        <p:nvSpPr>
          <p:cNvPr id="7" name="Slide Number Placeholder 6"/>
          <p:cNvSpPr>
            <a:spLocks noGrp="1"/>
          </p:cNvSpPr>
          <p:nvPr>
            <p:ph type="sldNum" sz="quarter" idx="12"/>
          </p:nvPr>
        </p:nvSpPr>
        <p:spPr/>
        <p:txBody>
          <a:bodyPr/>
          <a:lstStyle/>
          <a:p>
            <a:fld id="{FCE284C4-5ED1-4D6C-B7CC-2049C3062C5E}" type="slidenum">
              <a:rPr lang="en-GB" smtClean="0"/>
              <a:t>8</a:t>
            </a:fld>
            <a:endParaRPr lang="en-GB" dirty="0"/>
          </a:p>
        </p:txBody>
      </p:sp>
      <p:sp>
        <p:nvSpPr>
          <p:cNvPr id="10" name="TextBox 9"/>
          <p:cNvSpPr txBox="1"/>
          <p:nvPr/>
        </p:nvSpPr>
        <p:spPr>
          <a:xfrm>
            <a:off x="201595" y="1278732"/>
            <a:ext cx="5202324" cy="605294"/>
          </a:xfrm>
          <a:prstGeom prst="rect">
            <a:avLst/>
          </a:prstGeom>
          <a:noFill/>
        </p:spPr>
        <p:txBody>
          <a:bodyPr wrap="square" rtlCol="0">
            <a:spAutoFit/>
          </a:bodyPr>
          <a:lstStyle/>
          <a:p>
            <a:r>
              <a:rPr lang="en-GB" sz="2000" b="1" dirty="0" smtClean="0">
                <a:solidFill>
                  <a:schemeClr val="bg2">
                    <a:lumMod val="10000"/>
                  </a:schemeClr>
                </a:solidFill>
                <a:latin typeface="Calibri" pitchFamily="34" charset="0"/>
              </a:rPr>
              <a:t>Beiträge zum Wachstum des Welthandels</a:t>
            </a:r>
          </a:p>
        </p:txBody>
      </p:sp>
      <p:sp>
        <p:nvSpPr>
          <p:cNvPr id="11" name="TextBox 10"/>
          <p:cNvSpPr txBox="1"/>
          <p:nvPr/>
        </p:nvSpPr>
        <p:spPr>
          <a:xfrm>
            <a:off x="323528" y="6068006"/>
            <a:ext cx="8136904" cy="830997"/>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Anmerkung: Zu den Rohstoffproduzenten zählen Argentinien, Australien, Brasilien, Chile, Kolumbien, Norwegen, Neuseeland, Russland, Saudi-Arabien, Südafrika und weitere erdölfördernde Länder.Quelle: OECD Economic Outlook-Datenbank, Juni 2017; und National Bureau of Statistics of China.</a:t>
            </a:r>
          </a:p>
        </p:txBody>
      </p:sp>
      <p:sp>
        <p:nvSpPr>
          <p:cNvPr id="9" name="TextBox 8"/>
          <p:cNvSpPr txBox="1"/>
          <p:nvPr/>
        </p:nvSpPr>
        <p:spPr>
          <a:xfrm>
            <a:off x="4514444" y="1239593"/>
            <a:ext cx="5650830" cy="707886"/>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Nominale Anlageinvestitionen Chinas</a:t>
            </a:r>
          </a:p>
        </p:txBody>
      </p:sp>
    </p:spTree>
    <p:extLst>
      <p:ext uri="{BB962C8B-B14F-4D97-AF65-F5344CB8AC3E}">
        <p14:creationId xmlns:p14="http://schemas.microsoft.com/office/powerpoint/2010/main" val="392195535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3" name="Picture 3" descr="\\main.oecd.org\sdataECO\Units\FRONTOFFICE\Economic Outlooks\EO101\Data and charts\PPT_Figs_E\E_Handout_Fig_Real_Wage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99992" y="1614391"/>
            <a:ext cx="4644008" cy="4781945"/>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main.oecd.org\sdataECO\Units\FRONTOFFICE\Economic Outlooks\EO101\Data and charts\PPT_Figs_E\E_Handout_Fig_Employment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986" y="1614392"/>
            <a:ext cx="4477006" cy="4781944"/>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9</a:t>
            </a:fld>
            <a:endParaRPr lang="en-GB" dirty="0"/>
          </a:p>
        </p:txBody>
      </p:sp>
      <p:sp>
        <p:nvSpPr>
          <p:cNvPr id="4" name="Rectangle 3"/>
          <p:cNvSpPr/>
          <p:nvPr/>
        </p:nvSpPr>
        <p:spPr>
          <a:xfrm>
            <a:off x="651603" y="224152"/>
            <a:ext cx="8378047" cy="954107"/>
          </a:xfrm>
          <a:prstGeom prst="rect">
            <a:avLst/>
          </a:prstGeom>
        </p:spPr>
        <p:txBody>
          <a:bodyPr wrap="square">
            <a:spAutoFit/>
          </a:bodyPr>
          <a:lstStyle/>
          <a:p>
            <a:r>
              <a:rPr lang="en-US" sz="2800" b="1" dirty="0" smtClean="0">
                <a:solidFill>
                  <a:schemeClr val="tx2"/>
                </a:solidFill>
                <a:latin typeface="+mj-lt"/>
              </a:rPr>
              <a:t>Die Erholung am Arbeitsmarkt ist unvollständig, und das Reallohnwachstum bleibt schwach</a:t>
            </a:r>
          </a:p>
        </p:txBody>
      </p:sp>
      <p:sp>
        <p:nvSpPr>
          <p:cNvPr id="16" name="TextBox 15"/>
          <p:cNvSpPr txBox="1"/>
          <p:nvPr/>
        </p:nvSpPr>
        <p:spPr>
          <a:xfrm>
            <a:off x="-296731" y="1322004"/>
            <a:ext cx="5063780"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Arbeitslosigkeit und Unterbeschäftigung OECD, Anteil an den Erwerbspersonen</a:t>
            </a:r>
          </a:p>
        </p:txBody>
      </p:sp>
      <p:sp>
        <p:nvSpPr>
          <p:cNvPr id="11" name="TextBox 10"/>
          <p:cNvSpPr txBox="1"/>
          <p:nvPr/>
        </p:nvSpPr>
        <p:spPr>
          <a:xfrm>
            <a:off x="305640" y="6207203"/>
            <a:ext cx="8280920" cy="646331"/>
          </a:xfrm>
          <a:prstGeom prst="rect">
            <a:avLst/>
          </a:prstGeom>
          <a:noFill/>
        </p:spPr>
        <p:txBody>
          <a:bodyPr wrap="square" rtlCol="0">
            <a:spAutoFit/>
          </a:bodyPr>
          <a:lstStyle/>
          <a:p>
            <a:r>
              <a:rPr lang="en-US" sz="1200" dirty="0">
                <a:solidFill>
                  <a:schemeClr val="bg2">
                    <a:lumMod val="10000"/>
                  </a:schemeClr>
                </a:solidFill>
                <a:latin typeface="Calibri" panose="020F0502020204030204" pitchFamily="34" charset="0"/>
              </a:rPr>
              <a:t>Anmerkung: Reallöhne gemessen als Arbeitnehmerentgelt je Beschäftigten, bereinigt um den BIP-Deflator.Quelle: OECD Economic Outlook-Datenbank, Juni 2017; OECD Employment-Datenbank; US Bureau of Labor Statistics; Eurostat; und Japan Statistics Bureau.</a:t>
            </a:r>
          </a:p>
        </p:txBody>
      </p:sp>
      <p:sp>
        <p:nvSpPr>
          <p:cNvPr id="8" name="TextBox 7"/>
          <p:cNvSpPr txBox="1"/>
          <p:nvPr/>
        </p:nvSpPr>
        <p:spPr>
          <a:xfrm>
            <a:off x="4282712" y="1313126"/>
            <a:ext cx="5063780"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Reallohnwachstum</a:t>
            </a:r>
          </a:p>
          <a:p>
            <a:r>
              <a:rPr lang="en-US" sz="2000" b="1" dirty="0" smtClean="0">
                <a:solidFill>
                  <a:schemeClr val="bg2">
                    <a:lumMod val="10000"/>
                  </a:schemeClr>
                </a:solidFill>
                <a:latin typeface="Calibri" pitchFamily="34" charset="0"/>
              </a:rPr>
              <a:t>Horizontale Linien sind Durchschnittswerte für 1987-2007</a:t>
            </a:r>
          </a:p>
        </p:txBody>
      </p:sp>
    </p:spTree>
    <p:extLst>
      <p:ext uri="{BB962C8B-B14F-4D97-AF65-F5344CB8AC3E}">
        <p14:creationId xmlns:p14="http://schemas.microsoft.com/office/powerpoint/2010/main" val="248761124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3" descr="\\main.oecd.org\sdataECO\Units\FRONTOFFICE\Economic Outlooks\EO101\Data and charts\PPT_Figs_E\E_Handout_Fig_House_Rent_Ratios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44009" y="1578082"/>
            <a:ext cx="4436444" cy="4820180"/>
          </a:xfrm>
          <a:prstGeom prst="rect">
            <a:avLst/>
          </a:prstGeom>
          <a:noFill/>
          <a:extLst>
            <a:ext uri="{909E8E84-426E-40DD-AFC4-6F175D3DCCD1}">
              <a14:hiddenFill xmlns:a14="http://schemas.microsoft.com/office/drawing/2010/main">
                <a:solidFill>
                  <a:srgbClr val="FFFFFF"/>
                </a:solidFill>
              </a14:hiddenFill>
            </a:ext>
          </a:extLst>
        </p:spPr>
      </p:pic>
      <p:pic>
        <p:nvPicPr>
          <p:cNvPr id="6146" name="Picture 2" descr="\\main.oecd.org\sdataECO\Units\FRONTOFFICE\Economic Outlooks\EO101\Data and charts\PPT_Figs_E\E_Handout_Fig_Private_credit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39" y="1576536"/>
            <a:ext cx="4619269" cy="4876800"/>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10</a:t>
            </a:fld>
            <a:endParaRPr lang="en-GB" dirty="0"/>
          </a:p>
        </p:txBody>
      </p:sp>
      <p:sp>
        <p:nvSpPr>
          <p:cNvPr id="4" name="Rectangle 3"/>
          <p:cNvSpPr/>
          <p:nvPr/>
        </p:nvSpPr>
        <p:spPr>
          <a:xfrm>
            <a:off x="736273" y="224152"/>
            <a:ext cx="8378047" cy="954107"/>
          </a:xfrm>
          <a:prstGeom prst="rect">
            <a:avLst/>
          </a:prstGeom>
        </p:spPr>
        <p:txBody>
          <a:bodyPr wrap="square">
            <a:spAutoFit/>
          </a:bodyPr>
          <a:lstStyle/>
          <a:p>
            <a:r>
              <a:rPr lang="en-US" sz="2800" b="1" dirty="0" smtClean="0">
                <a:solidFill>
                  <a:schemeClr val="tx2"/>
                </a:solidFill>
                <a:latin typeface="+mj-lt"/>
              </a:rPr>
              <a:t>Steigende private Verschuldung in den Schwellenländern und Risiken am Wohnimmobilienmarkt in den fortgeschrittenen Volkswirtschaften</a:t>
            </a:r>
          </a:p>
        </p:txBody>
      </p:sp>
      <p:sp>
        <p:nvSpPr>
          <p:cNvPr id="10" name="TextBox 9"/>
          <p:cNvSpPr txBox="1"/>
          <p:nvPr/>
        </p:nvSpPr>
        <p:spPr>
          <a:xfrm>
            <a:off x="249870" y="6210405"/>
            <a:ext cx="8378047" cy="646331"/>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Anmerkung: Schwellenländer ohne China ist ein ungewichteter Durchschnitt der Quoten für Argentinien, Brasilien, Kolumbien, Indien, Indonesien, Mexiko, Russland, Malaysia, Südafrika und die Türkei.Quelle: BIZ; OECD Analytical House Price-Datenbank; und OECD-Berechnungen.</a:t>
            </a:r>
          </a:p>
        </p:txBody>
      </p:sp>
      <p:sp>
        <p:nvSpPr>
          <p:cNvPr id="12" name="Rectangle 11"/>
          <p:cNvSpPr/>
          <p:nvPr/>
        </p:nvSpPr>
        <p:spPr>
          <a:xfrm>
            <a:off x="323528" y="1268760"/>
            <a:ext cx="3771930" cy="615553"/>
          </a:xfrm>
          <a:prstGeom prst="rect">
            <a:avLst/>
          </a:prstGeom>
        </p:spPr>
        <p:txBody>
          <a:bodyPr wrap="none">
            <a:spAutoFit/>
          </a:bodyPr>
          <a:lstStyle/>
          <a:p>
            <a:r>
              <a:rPr lang="en-GB" sz="2000" b="1" dirty="0" smtClean="0">
                <a:solidFill>
                  <a:schemeClr val="bg2">
                    <a:lumMod val="10000"/>
                  </a:schemeClr>
                </a:solidFill>
                <a:latin typeface="Calibri" pitchFamily="34" charset="0"/>
              </a:rPr>
              <a:t>Kredite an den privaten nichtfinanziellen Sektor</a:t>
            </a:r>
          </a:p>
          <a:p>
            <a:r>
              <a:rPr lang="en-GB" sz="2000" b="1" dirty="0" smtClean="0">
                <a:solidFill>
                  <a:schemeClr val="bg2">
                    <a:lumMod val="10000"/>
                  </a:schemeClr>
                </a:solidFill>
                <a:latin typeface="Calibri" pitchFamily="34" charset="0"/>
              </a:rPr>
              <a:t/>
            </a:r>
          </a:p>
        </p:txBody>
      </p:sp>
      <p:sp>
        <p:nvSpPr>
          <p:cNvPr id="13" name="Rectangle 12"/>
          <p:cNvSpPr/>
          <p:nvPr/>
        </p:nvSpPr>
        <p:spPr>
          <a:xfrm>
            <a:off x="5416096" y="1268760"/>
            <a:ext cx="2820259" cy="584775"/>
          </a:xfrm>
          <a:prstGeom prst="rect">
            <a:avLst/>
          </a:prstGeom>
        </p:spPr>
        <p:txBody>
          <a:bodyPr wrap="none">
            <a:spAutoFit/>
          </a:bodyPr>
          <a:lstStyle/>
          <a:p>
            <a:r>
              <a:rPr lang="en-GB" sz="2000" b="1" dirty="0" smtClean="0">
                <a:solidFill>
                  <a:schemeClr val="bg2">
                    <a:lumMod val="10000"/>
                  </a:schemeClr>
                </a:solidFill>
                <a:latin typeface="Calibri" pitchFamily="34" charset="0"/>
              </a:rPr>
              <a:t>Verhältnis von Immobilienpreis zu Miete</a:t>
            </a:r>
          </a:p>
          <a:p>
            <a:r>
              <a:rPr lang="en-GB" sz="2000" b="1" dirty="0" smtClean="0">
                <a:solidFill>
                  <a:schemeClr val="bg2">
                    <a:lumMod val="10000"/>
                  </a:schemeClr>
                </a:solidFill>
                <a:latin typeface="Calibri" pitchFamily="34" charset="0"/>
              </a:rPr>
              <a:t>Durchschnitt seit 1980 = 100</a:t>
            </a:r>
          </a:p>
        </p:txBody>
      </p:sp>
    </p:spTree>
    <p:extLst>
      <p:ext uri="{BB962C8B-B14F-4D97-AF65-F5344CB8AC3E}">
        <p14:creationId xmlns:p14="http://schemas.microsoft.com/office/powerpoint/2010/main" val="407572881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main.oecd.org\sdataECO\Units\FRONTOFFICE\Economic Outlooks\EO101\Data and charts\PPT_Figs_E\E_Handout_Fig_Core_inflation_2005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56" y="1536187"/>
            <a:ext cx="4524044" cy="5133171"/>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11</a:t>
            </a:fld>
            <a:endParaRPr lang="en-GB" dirty="0"/>
          </a:p>
        </p:txBody>
      </p:sp>
      <p:sp>
        <p:nvSpPr>
          <p:cNvPr id="4" name="Rectangle 3"/>
          <p:cNvSpPr/>
          <p:nvPr/>
        </p:nvSpPr>
        <p:spPr>
          <a:xfrm>
            <a:off x="797998" y="241893"/>
            <a:ext cx="8378047" cy="954107"/>
          </a:xfrm>
          <a:prstGeom prst="rect">
            <a:avLst/>
          </a:prstGeom>
        </p:spPr>
        <p:txBody>
          <a:bodyPr wrap="square">
            <a:spAutoFit/>
          </a:bodyPr>
          <a:lstStyle/>
          <a:p>
            <a:r>
              <a:rPr lang="en-US" sz="2800" b="1" dirty="0" smtClean="0">
                <a:solidFill>
                  <a:schemeClr val="tx2"/>
                </a:solidFill>
                <a:latin typeface="+mj-lt"/>
              </a:rPr>
              <a:t>Die Inflation liegt im Allgemeinen unter den Zielwerten; eine mögliche Zinsdivergenz schafft finanzielle Risiken</a:t>
            </a:r>
          </a:p>
        </p:txBody>
      </p:sp>
      <p:sp>
        <p:nvSpPr>
          <p:cNvPr id="5" name="TextBox 4"/>
          <p:cNvSpPr txBox="1"/>
          <p:nvPr/>
        </p:nvSpPr>
        <p:spPr>
          <a:xfrm>
            <a:off x="-66286" y="1319510"/>
            <a:ext cx="4824536" cy="52322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Kerninflation</a:t>
            </a:r>
          </a:p>
        </p:txBody>
      </p:sp>
      <p:sp>
        <p:nvSpPr>
          <p:cNvPr id="7" name="TextBox 6"/>
          <p:cNvSpPr txBox="1"/>
          <p:nvPr/>
        </p:nvSpPr>
        <p:spPr>
          <a:xfrm>
            <a:off x="161255" y="6042154"/>
            <a:ext cx="8352930" cy="830997"/>
          </a:xfrm>
          <a:prstGeom prst="rect">
            <a:avLst/>
          </a:prstGeom>
          <a:noFill/>
        </p:spPr>
        <p:txBody>
          <a:bodyPr wrap="square" rtlCol="0">
            <a:spAutoFit/>
          </a:bodyPr>
          <a:lstStyle/>
          <a:p>
            <a:r>
              <a:rPr lang="en-GB" sz="1200" dirty="0" smtClean="0">
                <a:solidFill>
                  <a:schemeClr val="bg2">
                    <a:lumMod val="10000"/>
                  </a:schemeClr>
                </a:solidFill>
                <a:latin typeface="Calibri" panose="020F0502020204030204" pitchFamily="34" charset="0"/>
              </a:rPr>
              <a:t>Anmerkung: Die Kerninflation für Japan ist um die Auswirkungen der Erhöhungen der Verbrauchsteuer bereinigt.Quelle: OECD Economic Outlook-Datenbank, Juni 2017; Bloomberg; und OECD-Berechnungen.</a:t>
            </a:r>
          </a:p>
        </p:txBody>
      </p:sp>
      <p:pic>
        <p:nvPicPr>
          <p:cNvPr id="7171" name="Picture 3" descr="\\main.oecd.org\sdataECO\Units\FRONTOFFICE\Economic Outlooks\EO101\Data and charts\PPT_Figs_E\E_Handout_Fig_IR_expected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27985" y="1772816"/>
            <a:ext cx="4659328" cy="489654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p:cNvSpPr txBox="1"/>
          <p:nvPr/>
        </p:nvSpPr>
        <p:spPr>
          <a:xfrm>
            <a:off x="4337720" y="1245618"/>
            <a:ext cx="4824536" cy="1015663"/>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Marktbasierte Erwartungen für die Tagesgeldzinsen</a:t>
            </a:r>
          </a:p>
          <a:p>
            <a:r>
              <a:rPr lang="en-US" sz="2000" b="1" dirty="0" smtClean="0">
                <a:solidFill>
                  <a:schemeClr val="bg2">
                    <a:lumMod val="10000"/>
                  </a:schemeClr>
                </a:solidFill>
                <a:latin typeface="Calibri" pitchFamily="34" charset="0"/>
              </a:rPr>
              <a:t>15-Tage-Durchschnitt</a:t>
            </a:r>
          </a:p>
        </p:txBody>
      </p:sp>
      <p:cxnSp>
        <p:nvCxnSpPr>
          <p:cNvPr id="9" name="Straight Arrow Connector 8"/>
          <p:cNvCxnSpPr/>
          <p:nvPr/>
        </p:nvCxnSpPr>
        <p:spPr>
          <a:xfrm>
            <a:off x="8524459" y="4848612"/>
            <a:ext cx="0" cy="720080"/>
          </a:xfrm>
          <a:prstGeom prst="straightConnector1">
            <a:avLst/>
          </a:prstGeom>
          <a:ln w="22225">
            <a:solidFill>
              <a:schemeClr val="bg2">
                <a:lumMod val="10000"/>
              </a:schemeClr>
            </a:solidFill>
            <a:headEnd type="arrow"/>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41678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FCE284C4-5ED1-4D6C-B7CC-2049C3062C5E}" type="slidenum">
              <a:rPr lang="en-GB" smtClean="0"/>
              <a:t>12</a:t>
            </a:fld>
            <a:endParaRPr lang="en-GB" dirty="0"/>
          </a:p>
        </p:txBody>
      </p:sp>
      <p:sp>
        <p:nvSpPr>
          <p:cNvPr id="9" name="Rectangle 8"/>
          <p:cNvSpPr/>
          <p:nvPr/>
        </p:nvSpPr>
        <p:spPr>
          <a:xfrm>
            <a:off x="333802" y="2554540"/>
            <a:ext cx="8568952" cy="1323439"/>
          </a:xfrm>
          <a:prstGeom prst="rect">
            <a:avLst/>
          </a:prstGeom>
        </p:spPr>
        <p:txBody>
          <a:bodyPr wrap="square">
            <a:spAutoFit/>
          </a:bodyPr>
          <a:lstStyle/>
          <a:p>
            <a:r>
              <a:rPr lang="en-US" sz="4000" b="1" dirty="0" smtClean="0">
                <a:solidFill>
                  <a:schemeClr val="tx2"/>
                </a:solidFill>
                <a:latin typeface="+mj-lt"/>
              </a:rPr>
              <a:t>Diagnose der Herausforderung </a:t>
            </a:r>
          </a:p>
          <a:p>
            <a:r>
              <a:rPr lang="en-US" sz="4000" b="1" dirty="0" smtClean="0">
                <a:solidFill>
                  <a:schemeClr val="tx2"/>
                </a:solidFill>
                <a:latin typeface="+mj-lt"/>
              </a:rPr>
              <a:t>struktureller Trends </a:t>
            </a:r>
          </a:p>
        </p:txBody>
      </p:sp>
    </p:spTree>
    <p:extLst>
      <p:ext uri="{BB962C8B-B14F-4D97-AF65-F5344CB8AC3E}">
        <p14:creationId xmlns:p14="http://schemas.microsoft.com/office/powerpoint/2010/main" val="198832779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main.oecd.org\sdataECO\Units\FRONTOFFICE\Economic Outlooks\EO101\Data and charts\PPT_Figs_E\E_Handout_Fig_Trade_by_type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99993" y="1674697"/>
            <a:ext cx="4608512" cy="463462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13</a:t>
            </a:fld>
            <a:endParaRPr lang="en-GB" dirty="0"/>
          </a:p>
        </p:txBody>
      </p:sp>
      <p:sp>
        <p:nvSpPr>
          <p:cNvPr id="11" name="Rectangle 10"/>
          <p:cNvSpPr/>
          <p:nvPr/>
        </p:nvSpPr>
        <p:spPr>
          <a:xfrm>
            <a:off x="638751" y="457533"/>
            <a:ext cx="8640960" cy="523220"/>
          </a:xfrm>
          <a:prstGeom prst="rect">
            <a:avLst/>
          </a:prstGeom>
        </p:spPr>
        <p:txBody>
          <a:bodyPr wrap="square">
            <a:spAutoFit/>
          </a:bodyPr>
          <a:lstStyle/>
          <a:p>
            <a:r>
              <a:rPr lang="en-US" sz="2800" b="1" dirty="0" smtClean="0">
                <a:solidFill>
                  <a:schemeClr val="tx2"/>
                </a:solidFill>
                <a:latin typeface="+mj-lt"/>
              </a:rPr>
              <a:t>Handelsspezialisierung und -muster haben sich verschoben</a:t>
            </a:r>
          </a:p>
        </p:txBody>
      </p:sp>
      <p:sp>
        <p:nvSpPr>
          <p:cNvPr id="8" name="TextBox 7"/>
          <p:cNvSpPr txBox="1"/>
          <p:nvPr/>
        </p:nvSpPr>
        <p:spPr>
          <a:xfrm>
            <a:off x="-180528" y="1268050"/>
            <a:ext cx="5063780" cy="584775"/>
          </a:xfrm>
          <a:prstGeom prst="rect">
            <a:avLst/>
          </a:prstGeom>
          <a:noFill/>
        </p:spPr>
        <p:txBody>
          <a:bodyPr wrap="square" rtlCol="0">
            <a:spAutoFit/>
          </a:bodyPr>
          <a:lstStyle/>
          <a:p>
            <a:r>
              <a:rPr lang="en-US" sz="2000" b="1" dirty="0">
                <a:solidFill>
                  <a:schemeClr val="bg2">
                    <a:lumMod val="10000"/>
                  </a:schemeClr>
                </a:solidFill>
                <a:latin typeface="Calibri" pitchFamily="34" charset="0"/>
              </a:rPr>
              <a:t>Welthandel mit Gütern</a:t>
            </a:r>
          </a:p>
          <a:p>
            <a:r>
              <a:rPr lang="en-US" sz="2000" b="1" dirty="0">
                <a:solidFill>
                  <a:schemeClr val="bg2">
                    <a:lumMod val="10000"/>
                  </a:schemeClr>
                </a:solidFill>
                <a:latin typeface="Calibri" pitchFamily="34" charset="0"/>
              </a:rPr>
              <a:t>Anteil an den weltweiten Güterexporten, Mengen</a:t>
            </a:r>
          </a:p>
        </p:txBody>
      </p:sp>
      <p:sp>
        <p:nvSpPr>
          <p:cNvPr id="15" name="TextBox 14"/>
          <p:cNvSpPr txBox="1"/>
          <p:nvPr/>
        </p:nvSpPr>
        <p:spPr>
          <a:xfrm>
            <a:off x="4386149" y="1264791"/>
            <a:ext cx="4836199" cy="892552"/>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Welthandel nach Art</a:t>
            </a:r>
          </a:p>
          <a:p>
            <a:r>
              <a:rPr lang="en-US" sz="2000" b="1" dirty="0" smtClean="0">
                <a:solidFill>
                  <a:schemeClr val="bg2">
                    <a:lumMod val="10000"/>
                  </a:schemeClr>
                </a:solidFill>
                <a:latin typeface="Calibri" pitchFamily="34" charset="0"/>
              </a:rPr>
              <a:t>Exporte, Werte</a:t>
            </a:r>
          </a:p>
          <a:p>
            <a:r>
              <a:rPr lang="en-US" sz="2000" b="1" dirty="0" smtClean="0">
                <a:solidFill>
                  <a:schemeClr val="bg2">
                    <a:lumMod val="10000"/>
                  </a:schemeClr>
                </a:solidFill>
                <a:latin typeface="Calibri" pitchFamily="34" charset="0"/>
              </a:rPr>
              <a:t/>
            </a:r>
          </a:p>
        </p:txBody>
      </p:sp>
      <p:graphicFrame>
        <p:nvGraphicFramePr>
          <p:cNvPr id="14" name="Chart 13"/>
          <p:cNvGraphicFramePr>
            <a:graphicFrameLocks/>
          </p:cNvGraphicFramePr>
          <p:nvPr>
            <p:extLst>
              <p:ext uri="{D42A27DB-BD31-4B8C-83A1-F6EECF244321}">
                <p14:modId xmlns:p14="http://schemas.microsoft.com/office/powerpoint/2010/main" val="3083796744"/>
              </p:ext>
            </p:extLst>
          </p:nvPr>
        </p:nvGraphicFramePr>
        <p:xfrm>
          <a:off x="-252536" y="1711067"/>
          <a:ext cx="5743576" cy="4638675"/>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323528" y="6112036"/>
            <a:ext cx="8208912" cy="769441"/>
          </a:xfrm>
          <a:prstGeom prst="rect">
            <a:avLst/>
          </a:prstGeom>
          <a:noFill/>
        </p:spPr>
        <p:txBody>
          <a:bodyPr wrap="square" rtlCol="0">
            <a:spAutoFit/>
          </a:bodyPr>
          <a:lstStyle/>
          <a:p>
            <a:r>
              <a:rPr lang="en-GB" sz="1100" dirty="0" smtClean="0">
                <a:solidFill>
                  <a:srgbClr val="171717"/>
                </a:solidFill>
                <a:latin typeface="Calibri" panose="020F0502020204030204" pitchFamily="34" charset="0"/>
              </a:rPr>
              <a:t>Anmerkung: Linke Achse – Zu den dynamischen asiatischen Volkswirtschaften zählen Malaysia, die Philippinen, Singapur, Thailand, Vietnam, Chinesisch-Taipeh und Hongkong.Rechte Achse – Unternehmensdienstleistungen umfassen FuE, IKT, Immobilien und sonstige unternehmensbezogene Tätigkeiten. Finanzdienstleistungen umfassen Finanzintermediation, Versicherungen, Altersvorsorge und sonstige Finanztätigkeiten. </a:t>
            </a:r>
          </a:p>
          <a:p>
            <a:r>
              <a:rPr lang="en-GB" sz="1100" dirty="0" smtClean="0">
                <a:solidFill>
                  <a:srgbClr val="171717"/>
                </a:solidFill>
                <a:latin typeface="Calibri" panose="020F0502020204030204" pitchFamily="34" charset="0"/>
              </a:rPr>
              <a:t>Quelle: OECD-WTO Trade in Value Added (TiVA)-Datenbank; UN Comtrade-Datenbank; und OECD-Berechnungen.</a:t>
            </a:r>
          </a:p>
        </p:txBody>
      </p:sp>
    </p:spTree>
    <p:extLst>
      <p:ext uri="{BB962C8B-B14F-4D97-AF65-F5344CB8AC3E}">
        <p14:creationId xmlns:p14="http://schemas.microsoft.com/office/powerpoint/2010/main" val="94895087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main.oecd.org\sdataECO\Units\FRONTOFFICE\Economic Outlooks\EO101\Data and charts\PPT_Figs_E\E_Handout_Fig_Job_polarisation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1286" y="1519894"/>
            <a:ext cx="7920880" cy="480909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14</a:t>
            </a:fld>
            <a:endParaRPr lang="en-GB" dirty="0"/>
          </a:p>
        </p:txBody>
      </p:sp>
      <p:sp>
        <p:nvSpPr>
          <p:cNvPr id="4" name="Title 3"/>
          <p:cNvSpPr>
            <a:spLocks noGrp="1"/>
          </p:cNvSpPr>
          <p:nvPr>
            <p:ph type="title"/>
          </p:nvPr>
        </p:nvSpPr>
        <p:spPr>
          <a:xfrm>
            <a:off x="837687" y="188640"/>
            <a:ext cx="7416000" cy="1022400"/>
          </a:xfrm>
        </p:spPr>
        <p:txBody>
          <a:bodyPr/>
          <a:lstStyle/>
          <a:p>
            <a:r>
              <a:rPr lang="en-US" sz="2800" b="1" dirty="0" smtClean="0">
                <a:solidFill>
                  <a:schemeClr val="tx2"/>
                </a:solidFill>
              </a:rPr>
              <a:t>Arbeitsplatzverluste konzentrierten sich auf Menschen mit mittleren Qualifikationen</a:t>
            </a:r>
          </a:p>
        </p:txBody>
      </p:sp>
      <p:sp>
        <p:nvSpPr>
          <p:cNvPr id="9" name="TextBox 8"/>
          <p:cNvSpPr txBox="1"/>
          <p:nvPr/>
        </p:nvSpPr>
        <p:spPr>
          <a:xfrm>
            <a:off x="782187" y="6242491"/>
            <a:ext cx="8208912" cy="646331"/>
          </a:xfrm>
          <a:prstGeom prst="rect">
            <a:avLst/>
          </a:prstGeom>
          <a:noFill/>
        </p:spPr>
        <p:txBody>
          <a:bodyPr wrap="square" rtlCol="0">
            <a:spAutoFit/>
          </a:bodyPr>
          <a:lstStyle/>
          <a:p>
            <a:r>
              <a:rPr lang="en-GB" sz="1200" dirty="0" smtClean="0">
                <a:solidFill>
                  <a:srgbClr val="171717"/>
                </a:solidFill>
                <a:latin typeface="Calibri" panose="020F0502020204030204" pitchFamily="34" charset="0"/>
              </a:rPr>
              <a:t>Anmerkung: OECD ist der ungewichtete Durchschnitt von 24 Ländern. Für Japan 1995-2010.</a:t>
            </a:r>
          </a:p>
          <a:p>
            <a:r>
              <a:rPr lang="en-GB" sz="1200" dirty="0" smtClean="0">
                <a:solidFill>
                  <a:srgbClr val="171717"/>
                </a:solidFill>
                <a:latin typeface="Calibri" panose="020F0502020204030204" pitchFamily="34" charset="0"/>
              </a:rPr>
              <a:t>Quelle: OECD Employment Outlook 2017; Arbeitskräfteerhebung der Europäischen Union; Arbeitskräfteerhebungen für Kanada, Japan und die Vereinigten Staaten; und OECD-Berechnungen.</a:t>
            </a:r>
          </a:p>
        </p:txBody>
      </p:sp>
      <p:sp>
        <p:nvSpPr>
          <p:cNvPr id="10" name="TextBox 9"/>
          <p:cNvSpPr txBox="1"/>
          <p:nvPr/>
        </p:nvSpPr>
        <p:spPr>
          <a:xfrm>
            <a:off x="1213354" y="1276185"/>
            <a:ext cx="6696744"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Beschäftigungspolarisierung nach Ländern</a:t>
            </a:r>
          </a:p>
          <a:p>
            <a:r>
              <a:rPr lang="en-US" sz="2000" b="1" dirty="0" smtClean="0">
                <a:solidFill>
                  <a:schemeClr val="bg2">
                    <a:lumMod val="10000"/>
                  </a:schemeClr>
                </a:solidFill>
                <a:latin typeface="Calibri" pitchFamily="34" charset="0"/>
              </a:rPr>
              <a:t>Veränderung des Anteils an der Gesamtbeschäftigung nach Qualifikationsniveau, 1995-2015</a:t>
            </a:r>
          </a:p>
        </p:txBody>
      </p:sp>
      <p:sp>
        <p:nvSpPr>
          <p:cNvPr id="8" name="Rectangle 7"/>
          <p:cNvSpPr/>
          <p:nvPr/>
        </p:nvSpPr>
        <p:spPr>
          <a:xfrm rot="10800000">
            <a:off x="4983498" y="2726899"/>
            <a:ext cx="853824" cy="3334601"/>
          </a:xfrm>
          <a:prstGeom prst="rect">
            <a:avLst/>
          </a:prstGeom>
          <a:noFill/>
          <a:ln w="38100">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80398364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main.oecd.org\sdataECO\Units\FRONTOFFICE\Economic Outlooks\EO101\Data and charts\PPT_Figs_E\E_Handout_Fig_Export_complexity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6710" y="1587614"/>
            <a:ext cx="8055276" cy="4799135"/>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15</a:t>
            </a:fld>
            <a:endParaRPr lang="en-GB" dirty="0"/>
          </a:p>
        </p:txBody>
      </p:sp>
      <p:sp>
        <p:nvSpPr>
          <p:cNvPr id="7" name="Rectangle 6"/>
          <p:cNvSpPr/>
          <p:nvPr/>
        </p:nvSpPr>
        <p:spPr>
          <a:xfrm>
            <a:off x="576709" y="242718"/>
            <a:ext cx="8640960" cy="954107"/>
          </a:xfrm>
          <a:prstGeom prst="rect">
            <a:avLst/>
          </a:prstGeom>
        </p:spPr>
        <p:txBody>
          <a:bodyPr wrap="square">
            <a:spAutoFit/>
          </a:bodyPr>
          <a:lstStyle/>
          <a:p>
            <a:r>
              <a:rPr lang="en-US" sz="2800" b="1" dirty="0">
                <a:solidFill>
                  <a:schemeClr val="tx2"/>
                </a:solidFill>
                <a:latin typeface="+mj-lt"/>
              </a:rPr>
              <a:t>Die fortgeschrittenen Volkswirtschaften sind in der Wertschöpfungskette aufgestiegen, doch auch die Schwellenländer holen auf</a:t>
            </a:r>
          </a:p>
        </p:txBody>
      </p:sp>
      <p:sp>
        <p:nvSpPr>
          <p:cNvPr id="11" name="TextBox 10"/>
          <p:cNvSpPr txBox="1"/>
          <p:nvPr/>
        </p:nvSpPr>
        <p:spPr>
          <a:xfrm>
            <a:off x="187979" y="6130595"/>
            <a:ext cx="8444006" cy="769441"/>
          </a:xfrm>
          <a:prstGeom prst="rect">
            <a:avLst/>
          </a:prstGeom>
          <a:noFill/>
        </p:spPr>
        <p:txBody>
          <a:bodyPr wrap="square" rtlCol="0">
            <a:spAutoFit/>
          </a:bodyPr>
          <a:lstStyle/>
          <a:p>
            <a:r>
              <a:rPr lang="en-GB" sz="1100" dirty="0" smtClean="0">
                <a:solidFill>
                  <a:srgbClr val="171717"/>
                </a:solidFill>
                <a:latin typeface="Calibri" panose="020F0502020204030204" pitchFamily="34" charset="0"/>
              </a:rPr>
              <a:t>Anmerkung: In nominalen Werten. Am wenigsten komplex ist das 1. Quartil der Produkte nach Komplexität (z. B. Buntstifte), am komplexesten das 4. Quartil (z. B. medizinische Geräte), ohne wichtige Rohstoffe. Zu den dynamischen asiatischen Volkswirtschaften zählen Malaysia, die Philippinen, Singapur, Thailand, Vietnam, Chinesisch-Taipeh und Hongkong. Europa ist der ungewichtete Durchschnitt von Tschechien, Frankreich, Deutschland, Irland, Italien, Polen, Portugal und dem Vereinigten Königreich.</a:t>
            </a:r>
          </a:p>
          <a:p>
            <a:r>
              <a:rPr lang="en-GB" sz="1100" dirty="0" smtClean="0">
                <a:solidFill>
                  <a:srgbClr val="171717"/>
                </a:solidFill>
                <a:latin typeface="Calibri" panose="020F0502020204030204" pitchFamily="34" charset="0"/>
              </a:rPr>
              <a:t>Quelle: UN Comtrade-Datenbank; und OECD-Berechnungen.</a:t>
            </a:r>
          </a:p>
        </p:txBody>
      </p:sp>
      <p:cxnSp>
        <p:nvCxnSpPr>
          <p:cNvPr id="4" name="Straight Connector 3"/>
          <p:cNvCxnSpPr/>
          <p:nvPr/>
        </p:nvCxnSpPr>
        <p:spPr>
          <a:xfrm>
            <a:off x="3887766" y="2174042"/>
            <a:ext cx="0" cy="37445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2267744" y="1265431"/>
            <a:ext cx="4536504" cy="40011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Anteil der Exportgüter nach Komplexität</a:t>
            </a:r>
          </a:p>
        </p:txBody>
      </p:sp>
    </p:spTree>
    <p:extLst>
      <p:ext uri="{BB962C8B-B14F-4D97-AF65-F5344CB8AC3E}">
        <p14:creationId xmlns:p14="http://schemas.microsoft.com/office/powerpoint/2010/main" val="54893769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Users\Witheridge_W\AppData\Local\Microsoft\Windows\Temporary Internet Files\Content.Outlook\4375M1S6\E_Handout_Fig_Factors_Manuf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8452" y="1592450"/>
            <a:ext cx="8546943" cy="4666068"/>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16</a:t>
            </a:fld>
            <a:endParaRPr lang="en-GB" dirty="0"/>
          </a:p>
        </p:txBody>
      </p:sp>
      <p:sp>
        <p:nvSpPr>
          <p:cNvPr id="4" name="Title 3"/>
          <p:cNvSpPr>
            <a:spLocks noGrp="1"/>
          </p:cNvSpPr>
          <p:nvPr>
            <p:ph type="title"/>
          </p:nvPr>
        </p:nvSpPr>
        <p:spPr>
          <a:xfrm>
            <a:off x="772213" y="188640"/>
            <a:ext cx="8352928" cy="1022400"/>
          </a:xfrm>
        </p:spPr>
        <p:txBody>
          <a:bodyPr/>
          <a:lstStyle/>
          <a:p>
            <a:r>
              <a:rPr lang="en-GB" sz="2800" b="1" dirty="0" smtClean="0">
                <a:solidFill>
                  <a:schemeClr val="tx2"/>
                </a:solidFill>
                <a:ea typeface="+mn-ea"/>
                <a:cs typeface="+mn-cs"/>
              </a:rPr>
              <a:t>Arbeitsplatzverluste im verarbeitenden Gewerbe und die Rolle von Technologie und Verbraucherpräferenzen gegenüber dem Handel</a:t>
            </a:r>
          </a:p>
        </p:txBody>
      </p:sp>
      <p:sp>
        <p:nvSpPr>
          <p:cNvPr id="9" name="TextBox 8"/>
          <p:cNvSpPr txBox="1"/>
          <p:nvPr/>
        </p:nvSpPr>
        <p:spPr>
          <a:xfrm>
            <a:off x="755576" y="6088558"/>
            <a:ext cx="7992888" cy="769441"/>
          </a:xfrm>
          <a:prstGeom prst="rect">
            <a:avLst/>
          </a:prstGeom>
          <a:noFill/>
        </p:spPr>
        <p:txBody>
          <a:bodyPr wrap="square" rtlCol="0">
            <a:spAutoFit/>
          </a:bodyPr>
          <a:lstStyle/>
          <a:p>
            <a:r>
              <a:rPr lang="en-GB" sz="1100" dirty="0" smtClean="0">
                <a:solidFill>
                  <a:srgbClr val="171717"/>
                </a:solidFill>
                <a:latin typeface="Calibri" panose="020F0502020204030204" pitchFamily="34" charset="0"/>
              </a:rPr>
              <a:t>Anmerkung: Zerlegung auf Basis einer Regressionsschätzung. Jeder Faktor beruht auf der Veränderung über den Zeitraum. Technologie und Verbraucherpräferenzen umfassen Investitionen in IKT und Maschinen, Veränderungen des Anteils des verarbeitenden Gewerbes am Konsum sowie zeitspezifische Effekte.</a:t>
            </a:r>
          </a:p>
          <a:p>
            <a:r>
              <a:rPr lang="en-GB" sz="1100" dirty="0" smtClean="0">
                <a:solidFill>
                  <a:srgbClr val="171717"/>
                </a:solidFill>
                <a:latin typeface="Calibri" panose="020F0502020204030204" pitchFamily="34" charset="0"/>
              </a:rPr>
              <a:t>Quelle: OECD Economic Outlook-Datenbank; STAN-Datenbank; und OECD-Berechnungen.</a:t>
            </a:r>
          </a:p>
        </p:txBody>
      </p:sp>
      <p:sp>
        <p:nvSpPr>
          <p:cNvPr id="7" name="TextBox 6"/>
          <p:cNvSpPr txBox="1"/>
          <p:nvPr/>
        </p:nvSpPr>
        <p:spPr>
          <a:xfrm>
            <a:off x="1149484" y="1289593"/>
            <a:ext cx="6696744"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Faktoren zur Erklärung des Rückgangs der Arbeitsplätze im verarbeitenden Gewerbe</a:t>
            </a:r>
          </a:p>
          <a:p>
            <a:r>
              <a:rPr lang="en-US" sz="2000" b="1" dirty="0" smtClean="0">
                <a:solidFill>
                  <a:schemeClr val="bg2">
                    <a:lumMod val="10000"/>
                  </a:schemeClr>
                </a:solidFill>
                <a:latin typeface="Calibri" pitchFamily="34" charset="0"/>
              </a:rPr>
              <a:t>Veränderung des Anteils an der Gesamtbeschäftigung, Jahresdurchschnitt 1990-2008</a:t>
            </a:r>
          </a:p>
        </p:txBody>
      </p:sp>
    </p:spTree>
    <p:extLst>
      <p:ext uri="{BB962C8B-B14F-4D97-AF65-F5344CB8AC3E}">
        <p14:creationId xmlns:p14="http://schemas.microsoft.com/office/powerpoint/2010/main" val="236218518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main.oecd.org\sdataECO\Units\FRONTOFFICE\Economic Outlooks\EO101\Data and charts\PPT_Figs_E\E_Handout_Fig_Geographical_concentration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324" y="1536187"/>
            <a:ext cx="7551099" cy="465427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17</a:t>
            </a:fld>
            <a:endParaRPr lang="en-GB" dirty="0"/>
          </a:p>
        </p:txBody>
      </p:sp>
      <p:sp>
        <p:nvSpPr>
          <p:cNvPr id="4" name="Title 3"/>
          <p:cNvSpPr>
            <a:spLocks noGrp="1"/>
          </p:cNvSpPr>
          <p:nvPr>
            <p:ph type="title"/>
          </p:nvPr>
        </p:nvSpPr>
        <p:spPr>
          <a:xfrm>
            <a:off x="1080000" y="194269"/>
            <a:ext cx="7416000" cy="1022400"/>
          </a:xfrm>
        </p:spPr>
        <p:txBody>
          <a:bodyPr/>
          <a:lstStyle/>
          <a:p>
            <a:r>
              <a:rPr lang="en-US" sz="2800" b="1" dirty="0" smtClean="0">
                <a:solidFill>
                  <a:schemeClr val="tx2"/>
                </a:solidFill>
              </a:rPr>
              <a:t>Der Rückgang des verarbeitenden Gewerbes ist von Bedeutung, weil die Aktivität regional konzentriert ist</a:t>
            </a:r>
          </a:p>
        </p:txBody>
      </p:sp>
      <p:sp>
        <p:nvSpPr>
          <p:cNvPr id="6" name="TextBox 5"/>
          <p:cNvSpPr txBox="1"/>
          <p:nvPr/>
        </p:nvSpPr>
        <p:spPr>
          <a:xfrm>
            <a:off x="1620652" y="1269371"/>
            <a:ext cx="5832648"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Geografischer Konzentrationsindex nach Sektoren</a:t>
            </a:r>
          </a:p>
          <a:p>
            <a:r>
              <a:rPr lang="en-US" sz="2000" b="1" dirty="0" smtClean="0">
                <a:solidFill>
                  <a:schemeClr val="bg2">
                    <a:lumMod val="10000"/>
                  </a:schemeClr>
                </a:solidFill>
                <a:latin typeface="Calibri" pitchFamily="34" charset="0"/>
              </a:rPr>
              <a:t>Durchschnitt von 2000 bis 2015 oder letzter Stand</a:t>
            </a:r>
          </a:p>
        </p:txBody>
      </p:sp>
      <p:sp>
        <p:nvSpPr>
          <p:cNvPr id="7" name="TextBox 6"/>
          <p:cNvSpPr txBox="1"/>
          <p:nvPr/>
        </p:nvSpPr>
        <p:spPr>
          <a:xfrm>
            <a:off x="73637" y="5991622"/>
            <a:ext cx="8435360" cy="900246"/>
          </a:xfrm>
          <a:prstGeom prst="rect">
            <a:avLst/>
          </a:prstGeom>
          <a:noFill/>
        </p:spPr>
        <p:txBody>
          <a:bodyPr wrap="square" rtlCol="0">
            <a:spAutoFit/>
          </a:bodyPr>
          <a:lstStyle/>
          <a:p>
            <a:r>
              <a:rPr lang="en-US" sz="1050" dirty="0">
                <a:solidFill>
                  <a:srgbClr val="171717"/>
                </a:solidFill>
                <a:latin typeface="Calibri" panose="020F0502020204030204" pitchFamily="34" charset="0"/>
              </a:rPr>
              <a:t>Anmerkung: „Handel und Verteilung“ umfasst Handel und Reparaturen, Verkehr und Lagerei sowie Gastgewerbe. Der Index misst, in welchem Maße die Beschäftigung in bestimmten Regionen konzentriert ist, und reicht von 0 (keine Konzentration, wenn alle Regionen eines Landes dieselbe Beschäftigungsquote im verarbeitenden Gewerbe aufweisen) bis 100 (maximale Konzentration, wenn die gesamte Beschäftigung im verarbeitenden Gewerbe in der kleinsten Region konzentriert ist). Der Index berücksichtigt die Größe der Region und beruht auf OECD (2003) „Geographic Concentration and Territorial Disparity in OECD Countries“. Quelle: OECD Regional-Datenbank; und OECD-Berechnungen.</a:t>
            </a:r>
          </a:p>
        </p:txBody>
      </p:sp>
      <p:cxnSp>
        <p:nvCxnSpPr>
          <p:cNvPr id="8" name="Straight Arrow Connector 7"/>
          <p:cNvCxnSpPr/>
          <p:nvPr/>
        </p:nvCxnSpPr>
        <p:spPr>
          <a:xfrm flipV="1">
            <a:off x="6129959" y="2518348"/>
            <a:ext cx="0" cy="948264"/>
          </a:xfrm>
          <a:prstGeom prst="straightConnector1">
            <a:avLst/>
          </a:prstGeom>
          <a:ln w="12700">
            <a:solidFill>
              <a:schemeClr val="bg2">
                <a:lumMod val="10000"/>
              </a:schemeClr>
            </a:solidFill>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5982487" y="2704622"/>
            <a:ext cx="1345891" cy="523220"/>
          </a:xfrm>
          <a:prstGeom prst="rect">
            <a:avLst/>
          </a:prstGeom>
          <a:noFill/>
        </p:spPr>
        <p:txBody>
          <a:bodyPr wrap="square" rtlCol="0">
            <a:spAutoFit/>
          </a:bodyPr>
          <a:lstStyle/>
          <a:p>
            <a:r>
              <a:rPr lang="en-GB" sz="1400" b="1" dirty="0" smtClean="0">
                <a:solidFill>
                  <a:schemeClr val="bg2">
                    <a:lumMod val="10000"/>
                  </a:schemeClr>
                </a:solidFill>
                <a:latin typeface="Calibri" panose="020F0502020204030204" pitchFamily="34" charset="0"/>
              </a:rPr>
              <a:t>Stärker konzentriert</a:t>
            </a:r>
          </a:p>
        </p:txBody>
      </p:sp>
    </p:spTree>
    <p:extLst>
      <p:ext uri="{BB962C8B-B14F-4D97-AF65-F5344CB8AC3E}">
        <p14:creationId xmlns:p14="http://schemas.microsoft.com/office/powerpoint/2010/main" val="193903858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main.oecd.org\sdataECO\Units\FRONTOFFICE\Economic Outlooks\EO101\Data and charts\PPT_Figs_E\E_Handout_Fig_Manufacturing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71600" y="1484744"/>
            <a:ext cx="8387061" cy="5011438"/>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18</a:t>
            </a:fld>
            <a:endParaRPr lang="en-GB" dirty="0"/>
          </a:p>
        </p:txBody>
      </p:sp>
      <p:sp>
        <p:nvSpPr>
          <p:cNvPr id="4" name="Title 3"/>
          <p:cNvSpPr>
            <a:spLocks noGrp="1"/>
          </p:cNvSpPr>
          <p:nvPr>
            <p:ph type="title"/>
          </p:nvPr>
        </p:nvSpPr>
        <p:spPr>
          <a:xfrm>
            <a:off x="1009408" y="188640"/>
            <a:ext cx="7632024" cy="1022400"/>
          </a:xfrm>
        </p:spPr>
        <p:txBody>
          <a:bodyPr/>
          <a:lstStyle/>
          <a:p>
            <a:r>
              <a:rPr lang="en-US" sz="2800" b="1" dirty="0" smtClean="0">
                <a:solidFill>
                  <a:schemeClr val="tx2"/>
                </a:solidFill>
              </a:rPr>
              <a:t>Länder mit stärkeren Rückgängen der Arbeitsplätze im verarbeitenden Gewerbe haben eine höhere regionale Ungleichheit</a:t>
            </a:r>
          </a:p>
        </p:txBody>
      </p:sp>
      <p:sp>
        <p:nvSpPr>
          <p:cNvPr id="6" name="TextBox 5"/>
          <p:cNvSpPr txBox="1"/>
          <p:nvPr/>
        </p:nvSpPr>
        <p:spPr>
          <a:xfrm>
            <a:off x="1065079" y="6411722"/>
            <a:ext cx="8208912" cy="461665"/>
          </a:xfrm>
          <a:prstGeom prst="rect">
            <a:avLst/>
          </a:prstGeom>
          <a:noFill/>
        </p:spPr>
        <p:txBody>
          <a:bodyPr wrap="square" rtlCol="0">
            <a:spAutoFit/>
          </a:bodyPr>
          <a:lstStyle/>
          <a:p>
            <a:r>
              <a:rPr lang="en-GB" sz="1200" dirty="0" smtClean="0">
                <a:solidFill>
                  <a:srgbClr val="171717"/>
                </a:solidFill>
                <a:latin typeface="Calibri" panose="020F0502020204030204" pitchFamily="34" charset="0"/>
              </a:rPr>
              <a:t>Quelle: OECD Regional-Datenbank; und OECD-Berechnungen.</a:t>
            </a:r>
          </a:p>
        </p:txBody>
      </p:sp>
      <p:sp>
        <p:nvSpPr>
          <p:cNvPr id="18" name="TextBox 17"/>
          <p:cNvSpPr txBox="1"/>
          <p:nvPr/>
        </p:nvSpPr>
        <p:spPr>
          <a:xfrm>
            <a:off x="3777136" y="1312302"/>
            <a:ext cx="5832648" cy="492443"/>
          </a:xfrm>
          <a:prstGeom prst="rect">
            <a:avLst/>
          </a:prstGeom>
          <a:noFill/>
        </p:spPr>
        <p:txBody>
          <a:bodyPr wrap="square" rtlCol="0">
            <a:spAutoFit/>
          </a:bodyPr>
          <a:lstStyle/>
          <a:p>
            <a:r>
              <a:rPr lang="en-US" sz="1400" b="1" dirty="0" smtClean="0">
                <a:solidFill>
                  <a:schemeClr val="bg2">
                    <a:lumMod val="10000"/>
                  </a:schemeClr>
                </a:solidFill>
                <a:latin typeface="Calibri" pitchFamily="34" charset="0"/>
              </a:rPr>
              <a:t>Veränderung der durchschnittlichen Einkommensungleichheit zwischen Regionen 2000 bis 2015 oder letzter Stand, Verhältnis der 90:50-Perzentile, %-Punkte</a:t>
            </a:r>
          </a:p>
        </p:txBody>
      </p:sp>
      <p:sp>
        <p:nvSpPr>
          <p:cNvPr id="19" name="TextBox 18"/>
          <p:cNvSpPr txBox="1"/>
          <p:nvPr/>
        </p:nvSpPr>
        <p:spPr>
          <a:xfrm>
            <a:off x="3344003" y="6093934"/>
            <a:ext cx="6316577" cy="492443"/>
          </a:xfrm>
          <a:prstGeom prst="rect">
            <a:avLst/>
          </a:prstGeom>
          <a:noFill/>
        </p:spPr>
        <p:txBody>
          <a:bodyPr wrap="square" rtlCol="0">
            <a:spAutoFit/>
          </a:bodyPr>
          <a:lstStyle/>
          <a:p>
            <a:r>
              <a:rPr lang="en-US" sz="1400" b="1" dirty="0" smtClean="0">
                <a:solidFill>
                  <a:schemeClr val="bg2">
                    <a:lumMod val="10000"/>
                  </a:schemeClr>
                </a:solidFill>
                <a:latin typeface="Calibri" pitchFamily="34" charset="0"/>
              </a:rPr>
              <a:t>Veränderung der nationalen Beschäftigungsquote im verarbeitenden Gewerbe 2000 bis 2015 oder letzter Stand, %-Punkte</a:t>
            </a:r>
          </a:p>
        </p:txBody>
      </p:sp>
      <p:cxnSp>
        <p:nvCxnSpPr>
          <p:cNvPr id="20" name="Straight Arrow Connector 19"/>
          <p:cNvCxnSpPr/>
          <p:nvPr/>
        </p:nvCxnSpPr>
        <p:spPr>
          <a:xfrm flipV="1">
            <a:off x="1403759" y="2239070"/>
            <a:ext cx="0" cy="1296144"/>
          </a:xfrm>
          <a:prstGeom prst="straightConnector1">
            <a:avLst/>
          </a:prstGeom>
          <a:ln w="12700">
            <a:solidFill>
              <a:schemeClr val="bg2">
                <a:lumMod val="10000"/>
              </a:schemeClr>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1" y="2485347"/>
            <a:ext cx="1455962" cy="738664"/>
          </a:xfrm>
          <a:prstGeom prst="rect">
            <a:avLst/>
          </a:prstGeom>
          <a:noFill/>
        </p:spPr>
        <p:txBody>
          <a:bodyPr wrap="square" rtlCol="0">
            <a:spAutoFit/>
          </a:bodyPr>
          <a:lstStyle/>
          <a:p>
            <a:r>
              <a:rPr lang="en-US" sz="1400" b="1" dirty="0">
                <a:solidFill>
                  <a:schemeClr val="bg2">
                    <a:lumMod val="10000"/>
                  </a:schemeClr>
                </a:solidFill>
                <a:latin typeface="Calibri" panose="020F0502020204030204" pitchFamily="34" charset="0"/>
              </a:rPr>
              <a:t>Zunehmende Streuung der regionalen Einkommen</a:t>
            </a:r>
          </a:p>
        </p:txBody>
      </p:sp>
      <p:sp>
        <p:nvSpPr>
          <p:cNvPr id="22" name="TextBox 21"/>
          <p:cNvSpPr txBox="1"/>
          <p:nvPr/>
        </p:nvSpPr>
        <p:spPr>
          <a:xfrm>
            <a:off x="1344490" y="5273326"/>
            <a:ext cx="2343700" cy="523220"/>
          </a:xfrm>
          <a:prstGeom prst="rect">
            <a:avLst/>
          </a:prstGeom>
          <a:noFill/>
        </p:spPr>
        <p:txBody>
          <a:bodyPr wrap="square" rtlCol="0">
            <a:spAutoFit/>
          </a:bodyPr>
          <a:lstStyle/>
          <a:p>
            <a:r>
              <a:rPr lang="en-GB" sz="1400" b="1" dirty="0" smtClean="0">
                <a:solidFill>
                  <a:schemeClr val="bg2">
                    <a:lumMod val="10000"/>
                  </a:schemeClr>
                </a:solidFill>
                <a:latin typeface="Calibri" panose="020F0502020204030204" pitchFamily="34" charset="0"/>
              </a:rPr>
              <a:t>Rückgang des Anteils der Arbeitsplätze im verarbeitenden Gewerbe</a:t>
            </a:r>
          </a:p>
        </p:txBody>
      </p:sp>
      <p:cxnSp>
        <p:nvCxnSpPr>
          <p:cNvPr id="23" name="Straight Arrow Connector 22"/>
          <p:cNvCxnSpPr/>
          <p:nvPr/>
        </p:nvCxnSpPr>
        <p:spPr>
          <a:xfrm flipH="1">
            <a:off x="1803890" y="5244298"/>
            <a:ext cx="1440160" cy="0"/>
          </a:xfrm>
          <a:prstGeom prst="straightConnector1">
            <a:avLst/>
          </a:prstGeom>
          <a:ln w="12700">
            <a:solidFill>
              <a:schemeClr val="bg2">
                <a:lumMod val="10000"/>
              </a:schemeClr>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857102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FCE284C4-5ED1-4D6C-B7CC-2049C3062C5E}" type="slidenum">
              <a:rPr lang="en-GB" smtClean="0"/>
              <a:t>19</a:t>
            </a:fld>
            <a:endParaRPr lang="en-GB" dirty="0"/>
          </a:p>
        </p:txBody>
      </p:sp>
      <p:sp>
        <p:nvSpPr>
          <p:cNvPr id="9" name="Rectangle 8"/>
          <p:cNvSpPr/>
          <p:nvPr/>
        </p:nvSpPr>
        <p:spPr>
          <a:xfrm>
            <a:off x="323528" y="2492896"/>
            <a:ext cx="8568952" cy="2554545"/>
          </a:xfrm>
          <a:prstGeom prst="rect">
            <a:avLst/>
          </a:prstGeom>
        </p:spPr>
        <p:txBody>
          <a:bodyPr wrap="square">
            <a:spAutoFit/>
          </a:bodyPr>
          <a:lstStyle/>
          <a:p>
            <a:r>
              <a:rPr lang="en-US" sz="4000" b="1" dirty="0" smtClean="0">
                <a:solidFill>
                  <a:srgbClr val="006299"/>
                </a:solidFill>
                <a:latin typeface="Arial"/>
              </a:rPr>
              <a:t>Ein integrierter Politikansatz ist nötig, um auf Strukturtrends zu reagieren und die Globalisierung für alle nutzbar zu machen</a:t>
            </a:r>
          </a:p>
        </p:txBody>
      </p:sp>
    </p:spTree>
    <p:extLst>
      <p:ext uri="{BB962C8B-B14F-4D97-AF65-F5344CB8AC3E}">
        <p14:creationId xmlns:p14="http://schemas.microsoft.com/office/powerpoint/2010/main" val="341896841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2" descr="\\main.oecd.org\sdataECO\Units\FRONTOFFICE\Economic Outlooks\EO101\Data and charts\PPT_Figs_E\E_Handout_Fig_GfG_Reforms_Trade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2466" y="1803122"/>
            <a:ext cx="4277184" cy="4938246"/>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20</a:t>
            </a:fld>
            <a:endParaRPr lang="en-GB" dirty="0"/>
          </a:p>
        </p:txBody>
      </p:sp>
      <p:sp>
        <p:nvSpPr>
          <p:cNvPr id="4" name="Rectangle 3"/>
          <p:cNvSpPr/>
          <p:nvPr/>
        </p:nvSpPr>
        <p:spPr>
          <a:xfrm>
            <a:off x="539552" y="246721"/>
            <a:ext cx="8509760" cy="954107"/>
          </a:xfrm>
          <a:prstGeom prst="rect">
            <a:avLst/>
          </a:prstGeom>
        </p:spPr>
        <p:txBody>
          <a:bodyPr wrap="square">
            <a:spAutoFit/>
          </a:bodyPr>
          <a:lstStyle/>
          <a:p>
            <a:r>
              <a:rPr lang="en-GB" sz="2800" b="1" dirty="0">
                <a:solidFill>
                  <a:srgbClr val="006299"/>
                </a:solidFill>
                <a:latin typeface="Arial"/>
              </a:rPr>
              <a:t>Das internationale System besser zum Funktionieren bringen und gleichere Wettbewerbsbedingungen schaffen</a:t>
            </a:r>
          </a:p>
        </p:txBody>
      </p:sp>
      <p:graphicFrame>
        <p:nvGraphicFramePr>
          <p:cNvPr id="16" name="Diagram 15"/>
          <p:cNvGraphicFramePr/>
          <p:nvPr>
            <p:extLst>
              <p:ext uri="{D42A27DB-BD31-4B8C-83A1-F6EECF244321}">
                <p14:modId xmlns:p14="http://schemas.microsoft.com/office/powerpoint/2010/main" val="2048557882"/>
              </p:ext>
            </p:extLst>
          </p:nvPr>
        </p:nvGraphicFramePr>
        <p:xfrm>
          <a:off x="4499992" y="1628800"/>
          <a:ext cx="4536504" cy="4896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2" name="TextBox 11"/>
          <p:cNvSpPr txBox="1"/>
          <p:nvPr/>
        </p:nvSpPr>
        <p:spPr>
          <a:xfrm>
            <a:off x="298439" y="6442502"/>
            <a:ext cx="4248472" cy="415498"/>
          </a:xfrm>
          <a:prstGeom prst="rect">
            <a:avLst/>
          </a:prstGeom>
          <a:noFill/>
        </p:spPr>
        <p:txBody>
          <a:bodyPr wrap="square" rtlCol="0">
            <a:spAutoFit/>
          </a:bodyPr>
          <a:lstStyle/>
          <a:p>
            <a:r>
              <a:rPr lang="en-GB" sz="1050" dirty="0" smtClean="0">
                <a:solidFill>
                  <a:schemeClr val="bg2">
                    <a:lumMod val="10000"/>
                  </a:schemeClr>
                </a:solidFill>
                <a:latin typeface="Calibri" panose="020F0502020204030204" pitchFamily="34" charset="0"/>
              </a:rPr>
              <a:t>Anmerkung: umfasst alle OECD- und BRIICS-Länder, die EU und Kolumbien.</a:t>
            </a:r>
          </a:p>
          <a:p>
            <a:r>
              <a:rPr lang="en-GB" sz="1050" dirty="0" smtClean="0">
                <a:solidFill>
                  <a:schemeClr val="bg2">
                    <a:lumMod val="10000"/>
                  </a:schemeClr>
                </a:solidFill>
                <a:latin typeface="Calibri" panose="020F0502020204030204" pitchFamily="34" charset="0"/>
              </a:rPr>
              <a:t>Quelle: OECD Going for Growth 2017</a:t>
            </a:r>
          </a:p>
        </p:txBody>
      </p:sp>
      <p:sp>
        <p:nvSpPr>
          <p:cNvPr id="10" name="TextBox 9"/>
          <p:cNvSpPr txBox="1"/>
          <p:nvPr/>
        </p:nvSpPr>
        <p:spPr>
          <a:xfrm>
            <a:off x="-244002" y="1323915"/>
            <a:ext cx="4824536" cy="769441"/>
          </a:xfrm>
          <a:prstGeom prst="rect">
            <a:avLst/>
          </a:prstGeom>
          <a:noFill/>
        </p:spPr>
        <p:txBody>
          <a:bodyPr wrap="square" rtlCol="0">
            <a:spAutoFit/>
          </a:bodyPr>
          <a:lstStyle/>
          <a:p>
            <a:r>
              <a:rPr lang="en-US" sz="1600" b="1" dirty="0">
                <a:solidFill>
                  <a:schemeClr val="bg2">
                    <a:lumMod val="10000"/>
                  </a:schemeClr>
                </a:solidFill>
                <a:latin typeface="Calibri" pitchFamily="34" charset="0"/>
              </a:rPr>
              <a:t>Maßnahmen als Reaktion auf die Empfehlungen des OECD Going for Growth Anzahl der Reformen, 2015-16</a:t>
            </a:r>
          </a:p>
        </p:txBody>
      </p:sp>
    </p:spTree>
    <p:extLst>
      <p:ext uri="{BB962C8B-B14F-4D97-AF65-F5344CB8AC3E}">
        <p14:creationId xmlns:p14="http://schemas.microsoft.com/office/powerpoint/2010/main" val="54626207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2" descr="\\main.oecd.org\sdataECO\Units\FRONTOFFICE\Economic Outlooks\EO101\Data and charts\PPT_Figs_E\E_Handout_Fig_GfG_Reforms_Others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7504" y="1635074"/>
            <a:ext cx="8957618" cy="4890270"/>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21</a:t>
            </a:fld>
            <a:endParaRPr lang="en-GB" dirty="0"/>
          </a:p>
        </p:txBody>
      </p:sp>
      <p:sp>
        <p:nvSpPr>
          <p:cNvPr id="4" name="Rectangle 3"/>
          <p:cNvSpPr/>
          <p:nvPr/>
        </p:nvSpPr>
        <p:spPr>
          <a:xfrm>
            <a:off x="467544" y="221321"/>
            <a:ext cx="8509760" cy="954107"/>
          </a:xfrm>
          <a:prstGeom prst="rect">
            <a:avLst/>
          </a:prstGeom>
        </p:spPr>
        <p:txBody>
          <a:bodyPr wrap="square">
            <a:spAutoFit/>
          </a:bodyPr>
          <a:lstStyle/>
          <a:p>
            <a:r>
              <a:rPr lang="en-US" sz="2800" b="1" dirty="0" smtClean="0">
                <a:solidFill>
                  <a:schemeClr val="tx2"/>
                </a:solidFill>
                <a:latin typeface="+mj-lt"/>
              </a:rPr>
              <a:t>Inländische Reformpakete umsetzen, um inklusives Wachstum zu stärken</a:t>
            </a:r>
          </a:p>
        </p:txBody>
      </p:sp>
      <p:sp>
        <p:nvSpPr>
          <p:cNvPr id="8" name="TextBox 7"/>
          <p:cNvSpPr txBox="1"/>
          <p:nvPr/>
        </p:nvSpPr>
        <p:spPr>
          <a:xfrm>
            <a:off x="886272" y="1315367"/>
            <a:ext cx="7327056" cy="338554"/>
          </a:xfrm>
          <a:prstGeom prst="rect">
            <a:avLst/>
          </a:prstGeom>
          <a:noFill/>
        </p:spPr>
        <p:txBody>
          <a:bodyPr wrap="square" rtlCol="0">
            <a:spAutoFit/>
          </a:bodyPr>
          <a:lstStyle/>
          <a:p>
            <a:r>
              <a:rPr lang="en-US" sz="1600" b="1" dirty="0">
                <a:solidFill>
                  <a:schemeClr val="bg2">
                    <a:lumMod val="10000"/>
                  </a:schemeClr>
                </a:solidFill>
                <a:latin typeface="Calibri" pitchFamily="34" charset="0"/>
              </a:rPr>
              <a:t>Maßnahmen als Reaktion auf die Empfehlungen des OECD Going for Growth</a:t>
            </a:r>
          </a:p>
        </p:txBody>
      </p:sp>
      <p:sp>
        <p:nvSpPr>
          <p:cNvPr id="9" name="TextBox 8"/>
          <p:cNvSpPr txBox="1"/>
          <p:nvPr/>
        </p:nvSpPr>
        <p:spPr>
          <a:xfrm>
            <a:off x="755576" y="6441871"/>
            <a:ext cx="4248472" cy="415498"/>
          </a:xfrm>
          <a:prstGeom prst="rect">
            <a:avLst/>
          </a:prstGeom>
          <a:noFill/>
        </p:spPr>
        <p:txBody>
          <a:bodyPr wrap="square" rtlCol="0">
            <a:spAutoFit/>
          </a:bodyPr>
          <a:lstStyle/>
          <a:p>
            <a:r>
              <a:rPr lang="en-GB" sz="1050" dirty="0" smtClean="0">
                <a:solidFill>
                  <a:schemeClr val="bg2">
                    <a:lumMod val="10000"/>
                  </a:schemeClr>
                </a:solidFill>
                <a:latin typeface="Calibri" panose="020F0502020204030204" pitchFamily="34" charset="0"/>
              </a:rPr>
              <a:t>Anmerkung: umfasst alle OECD- und BRIICS-Länder, die EU und Kolumbien.</a:t>
            </a:r>
          </a:p>
          <a:p>
            <a:r>
              <a:rPr lang="en-GB" sz="1050" dirty="0" smtClean="0">
                <a:solidFill>
                  <a:schemeClr val="bg2">
                    <a:lumMod val="10000"/>
                  </a:schemeClr>
                </a:solidFill>
                <a:latin typeface="Calibri" panose="020F0502020204030204" pitchFamily="34" charset="0"/>
              </a:rPr>
              <a:t>Quelle: OECD Going for Growth 2017</a:t>
            </a:r>
          </a:p>
        </p:txBody>
      </p:sp>
    </p:spTree>
    <p:extLst>
      <p:ext uri="{BB962C8B-B14F-4D97-AF65-F5344CB8AC3E}">
        <p14:creationId xmlns:p14="http://schemas.microsoft.com/office/powerpoint/2010/main" val="34472661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27584" y="243713"/>
            <a:ext cx="7920880" cy="954107"/>
          </a:xfrm>
          <a:prstGeom prst="rect">
            <a:avLst/>
          </a:prstGeom>
        </p:spPr>
        <p:txBody>
          <a:bodyPr wrap="square">
            <a:spAutoFit/>
          </a:bodyPr>
          <a:lstStyle/>
          <a:p>
            <a:r>
              <a:rPr lang="en-US" sz="2800" b="1" dirty="0" smtClean="0">
                <a:solidFill>
                  <a:schemeClr val="tx2"/>
                </a:solidFill>
                <a:latin typeface="+mj-lt"/>
              </a:rPr>
              <a:t> Menschen und freigesetzten Arbeitskräften helfen, sich anzupassen und neue Chancen zu ergreifen</a:t>
            </a:r>
          </a:p>
        </p:txBody>
      </p:sp>
      <p:sp>
        <p:nvSpPr>
          <p:cNvPr id="7" name="Slide Number Placeholder 6"/>
          <p:cNvSpPr>
            <a:spLocks noGrp="1"/>
          </p:cNvSpPr>
          <p:nvPr>
            <p:ph type="sldNum" sz="quarter" idx="12"/>
          </p:nvPr>
        </p:nvSpPr>
        <p:spPr/>
        <p:txBody>
          <a:bodyPr/>
          <a:lstStyle/>
          <a:p>
            <a:fld id="{FCE284C4-5ED1-4D6C-B7CC-2049C3062C5E}" type="slidenum">
              <a:rPr lang="en-GB" smtClean="0"/>
              <a:t>22</a:t>
            </a:fld>
            <a:endParaRPr lang="en-GB" dirty="0"/>
          </a:p>
        </p:txBody>
      </p:sp>
      <p:sp>
        <p:nvSpPr>
          <p:cNvPr id="6" name="TextBox 5"/>
          <p:cNvSpPr txBox="1"/>
          <p:nvPr/>
        </p:nvSpPr>
        <p:spPr>
          <a:xfrm>
            <a:off x="792229" y="6396335"/>
            <a:ext cx="7297353" cy="461665"/>
          </a:xfrm>
          <a:prstGeom prst="rect">
            <a:avLst/>
          </a:prstGeom>
          <a:noFill/>
        </p:spPr>
        <p:txBody>
          <a:bodyPr wrap="square" rtlCol="0">
            <a:spAutoFit/>
          </a:bodyPr>
          <a:lstStyle/>
          <a:p>
            <a:r>
              <a:rPr lang="en-GB" sz="1200" dirty="0" smtClean="0">
                <a:solidFill>
                  <a:schemeClr val="bg2">
                    <a:lumMod val="10000"/>
                  </a:schemeClr>
                </a:solidFill>
                <a:latin typeface="Calibri" panose="020F0502020204030204" pitchFamily="34" charset="0"/>
              </a:rPr>
              <a:t/>
            </a:r>
          </a:p>
          <a:p>
            <a:r>
              <a:rPr lang="en-GB" sz="1200" dirty="0" smtClean="0">
                <a:solidFill>
                  <a:schemeClr val="bg2">
                    <a:lumMod val="10000"/>
                  </a:schemeClr>
                </a:solidFill>
                <a:latin typeface="Calibri" panose="020F0502020204030204" pitchFamily="34" charset="0"/>
              </a:rPr>
              <a:t>Quelle: OECD Going for Growth 2017.</a:t>
            </a:r>
          </a:p>
        </p:txBody>
      </p:sp>
      <p:graphicFrame>
        <p:nvGraphicFramePr>
          <p:cNvPr id="5" name="Table 4"/>
          <p:cNvGraphicFramePr>
            <a:graphicFrameLocks noGrp="1"/>
          </p:cNvGraphicFramePr>
          <p:nvPr>
            <p:extLst>
              <p:ext uri="{D42A27DB-BD31-4B8C-83A1-F6EECF244321}">
                <p14:modId xmlns:p14="http://schemas.microsoft.com/office/powerpoint/2010/main" val="3501722210"/>
              </p:ext>
            </p:extLst>
          </p:nvPr>
        </p:nvGraphicFramePr>
        <p:xfrm>
          <a:off x="738565" y="1412772"/>
          <a:ext cx="7937892" cy="5036646"/>
        </p:xfrm>
        <a:graphic>
          <a:graphicData uri="http://schemas.openxmlformats.org/drawingml/2006/table">
            <a:tbl>
              <a:tblPr/>
              <a:tblGrid>
                <a:gridCol w="661491"/>
                <a:gridCol w="661491"/>
                <a:gridCol w="661491"/>
                <a:gridCol w="661491"/>
                <a:gridCol w="661491"/>
                <a:gridCol w="661491"/>
                <a:gridCol w="661491"/>
                <a:gridCol w="661491"/>
                <a:gridCol w="661491"/>
                <a:gridCol w="661491"/>
                <a:gridCol w="661491"/>
                <a:gridCol w="661491"/>
              </a:tblGrid>
              <a:tr h="383161">
                <a:tc gridSpan="7">
                  <a:txBody>
                    <a:bodyPr/>
                    <a:lstStyle/>
                    <a:p>
                      <a:pPr algn="l" rtl="0" fontAlgn="t"/>
                      <a:r>
                        <a:rPr lang="en-GB" sz="1600" b="0" i="1" u="none" strike="noStrike" dirty="0">
                          <a:solidFill>
                            <a:srgbClr val="171717"/>
                          </a:solidFill>
                          <a:effectLst/>
                          <a:latin typeface="Calibri"/>
                        </a:rPr>
                        <a:t> </a:t>
                      </a:r>
                    </a:p>
                  </a:txBody>
                  <a:tcPr marL="9525" marR="9525" marT="9525" marB="0">
                    <a:lnL>
                      <a:noFill/>
                    </a:lnL>
                    <a:lnR>
                      <a:noFill/>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gridSpan="4">
                  <a:txBody>
                    <a:bodyPr/>
                    <a:lstStyle/>
                    <a:p>
                      <a:pPr marL="0" algn="ctr" rtl="0" eaLnBrk="1" fontAlgn="ctr" latinLnBrk="0" hangingPunct="1"/>
                      <a:r>
                        <a:rPr kumimoji="0" lang="en-GB" sz="1400" b="1" i="0" u="none" strike="noStrike" kern="1200" dirty="0">
                          <a:solidFill>
                            <a:srgbClr val="171717"/>
                          </a:solidFill>
                          <a:effectLst/>
                          <a:latin typeface="Calibri"/>
                          <a:ea typeface="+mn-ea"/>
                          <a:cs typeface="+mn-cs"/>
                        </a:rPr>
                        <a:t>Countries with </a:t>
                      </a:r>
                      <a:r>
                        <a:rPr kumimoji="0" lang="en-GB" sz="1400" b="1" i="0" u="none" strike="noStrike" kern="1200" dirty="0" smtClean="0">
                          <a:solidFill>
                            <a:srgbClr val="171717"/>
                          </a:solidFill>
                          <a:effectLst/>
                          <a:latin typeface="Calibri"/>
                          <a:ea typeface="+mn-ea"/>
                          <a:cs typeface="+mn-cs"/>
                        </a:rPr>
                        <a:t>OECD</a:t>
                      </a:r>
                      <a:r>
                        <a:rPr kumimoji="0" lang="en-GB" sz="1400" b="1" i="0" u="none" strike="noStrike" kern="1200" baseline="0" dirty="0" smtClean="0">
                          <a:solidFill>
                            <a:srgbClr val="171717"/>
                          </a:solidFill>
                          <a:effectLst/>
                          <a:latin typeface="Calibri"/>
                          <a:ea typeface="+mn-ea"/>
                          <a:cs typeface="+mn-cs"/>
                        </a:rPr>
                        <a:t> </a:t>
                      </a:r>
                      <a:br>
                        <a:rPr kumimoji="0" lang="en-GB" sz="1400" b="1" i="0" u="none" strike="noStrike" kern="1200" baseline="0" dirty="0" smtClean="0">
                          <a:solidFill>
                            <a:srgbClr val="171717"/>
                          </a:solidFill>
                          <a:effectLst/>
                          <a:latin typeface="Calibri"/>
                          <a:ea typeface="+mn-ea"/>
                          <a:cs typeface="+mn-cs"/>
                        </a:rPr>
                      </a:br>
                      <a:r>
                        <a:rPr kumimoji="0" lang="en-GB" sz="1400" b="1" i="1" u="none" strike="noStrike" kern="1200" baseline="0" dirty="0" smtClean="0">
                          <a:solidFill>
                            <a:srgbClr val="171717"/>
                          </a:solidFill>
                          <a:effectLst/>
                          <a:latin typeface="Calibri"/>
                          <a:ea typeface="+mn-ea"/>
                          <a:cs typeface="+mn-cs"/>
                        </a:rPr>
                        <a:t>Going for Growth </a:t>
                      </a:r>
                      <a:r>
                        <a:rPr kumimoji="0" lang="en-GB" sz="1400" b="1" i="0" u="none" strike="noStrike" kern="1200" dirty="0" smtClean="0">
                          <a:solidFill>
                            <a:srgbClr val="171717"/>
                          </a:solidFill>
                          <a:effectLst/>
                          <a:latin typeface="Calibri"/>
                          <a:ea typeface="+mn-ea"/>
                          <a:cs typeface="+mn-cs"/>
                        </a:rPr>
                        <a:t>reform</a:t>
                      </a:r>
                      <a:r>
                        <a:rPr kumimoji="0" lang="en-GB" sz="1400" b="1" i="0" u="none" strike="noStrike" kern="1200" baseline="0" dirty="0" smtClean="0">
                          <a:solidFill>
                            <a:srgbClr val="171717"/>
                          </a:solidFill>
                          <a:effectLst/>
                          <a:latin typeface="Calibri"/>
                          <a:ea typeface="+mn-ea"/>
                          <a:cs typeface="+mn-cs"/>
                        </a:rPr>
                        <a:t> </a:t>
                      </a:r>
                      <a:r>
                        <a:rPr kumimoji="0" lang="en-GB" sz="1400" b="1" i="0" u="none" strike="noStrike" kern="1200" dirty="0" smtClean="0">
                          <a:solidFill>
                            <a:srgbClr val="171717"/>
                          </a:solidFill>
                          <a:effectLst/>
                          <a:latin typeface="Calibri"/>
                          <a:ea typeface="+mn-ea"/>
                          <a:cs typeface="+mn-cs"/>
                        </a:rPr>
                        <a:t>priority </a:t>
                      </a:r>
                      <a:endParaRPr kumimoji="0" lang="en-GB" sz="1400" b="1" i="0" u="none" strike="noStrike" kern="1200" dirty="0">
                        <a:solidFill>
                          <a:srgbClr val="171717"/>
                        </a:solidFill>
                        <a:effectLst/>
                        <a:latin typeface="Calibri"/>
                        <a:ea typeface="+mn-ea"/>
                        <a:cs typeface="+mn-cs"/>
                      </a:endParaRPr>
                    </a:p>
                  </a:txBody>
                  <a:tcPr marL="9525" marR="9525" marT="9525" marB="0" anchor="ctr">
                    <a:lnL>
                      <a:noFill/>
                    </a:lnL>
                    <a:lnR>
                      <a:noFill/>
                    </a:lnR>
                    <a:lnT>
                      <a:noFill/>
                    </a:lnT>
                    <a:lnB w="12700" cap="flat" cmpd="sng" algn="ctr">
                      <a:solidFill>
                        <a:schemeClr val="bg2">
                          <a:lumMod val="10000"/>
                        </a:schemeClr>
                      </a:solidFill>
                      <a:prstDash val="solid"/>
                      <a:round/>
                      <a:headEnd type="none" w="med" len="med"/>
                      <a:tailEnd type="none" w="med" len="med"/>
                    </a:lnB>
                  </a:tcPr>
                </a:tc>
                <a:tc hMerge="1">
                  <a:txBody>
                    <a:bodyPr/>
                    <a:lstStyle/>
                    <a:p>
                      <a:endParaRPr lang="en-GB"/>
                    </a:p>
                  </a:txBody>
                  <a:tcPr/>
                </a:tc>
                <a:tc hMerge="1">
                  <a:txBody>
                    <a:bodyPr/>
                    <a:lstStyle/>
                    <a:p>
                      <a:endParaRPr lang="en-GB"/>
                    </a:p>
                  </a:txBody>
                  <a:tcPr/>
                </a:tc>
                <a:tc hMerge="1">
                  <a:txBody>
                    <a:bodyPr/>
                    <a:lstStyle/>
                    <a:p>
                      <a:endParaRPr lang="en-GB"/>
                    </a:p>
                  </a:txBody>
                  <a:tcPr/>
                </a:tc>
                <a:tc rowSpan="2">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w="12700" cap="flat" cmpd="sng" algn="ctr">
                      <a:noFill/>
                      <a:prstDash val="solid"/>
                      <a:round/>
                      <a:headEnd type="none" w="med" len="med"/>
                      <a:tailEnd type="none" w="med" len="med"/>
                    </a:lnB>
                  </a:tcPr>
                </a:tc>
              </a:tr>
              <a:tr h="395521">
                <a:tc gridSpan="7">
                  <a:txBody>
                    <a:bodyPr/>
                    <a:lstStyle/>
                    <a:p>
                      <a:pPr algn="l" rtl="0" fontAlgn="ctr"/>
                      <a:r>
                        <a:rPr kumimoji="0" lang="en-GB" sz="1800" b="1" kern="1200" dirty="0" smtClean="0">
                          <a:solidFill>
                            <a:srgbClr val="17B917"/>
                          </a:solidFill>
                          <a:latin typeface="Calibri" panose="020F0502020204030204" pitchFamily="34" charset="0"/>
                          <a:ea typeface="+mn-ea"/>
                          <a:cs typeface="+mn-cs"/>
                        </a:rPr>
                        <a:t>Help laid-off</a:t>
                      </a:r>
                      <a:r>
                        <a:rPr kumimoji="0" lang="en-GB" sz="1800" b="1" kern="1200" baseline="0" dirty="0" smtClean="0">
                          <a:solidFill>
                            <a:srgbClr val="17B917"/>
                          </a:solidFill>
                          <a:latin typeface="Calibri" panose="020F0502020204030204" pitchFamily="34" charset="0"/>
                          <a:ea typeface="+mn-ea"/>
                          <a:cs typeface="+mn-cs"/>
                        </a:rPr>
                        <a:t> workers to find a new job</a:t>
                      </a:r>
                      <a:endParaRPr lang="en-GB" sz="18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vMerge="1">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w="12700" cap="flat" cmpd="sng" algn="ctr">
                      <a:solidFill>
                        <a:schemeClr val="tx1"/>
                      </a:solidFill>
                      <a:prstDash val="solid"/>
                      <a:round/>
                      <a:headEnd type="none" w="med" len="med"/>
                      <a:tailEnd type="none" w="med" len="med"/>
                    </a:lnT>
                    <a:lnB>
                      <a:noFill/>
                    </a:lnB>
                  </a:tcPr>
                </a:tc>
              </a:tr>
              <a:tr h="766321">
                <a:tc gridSpan="7">
                  <a:txBody>
                    <a:bodyPr/>
                    <a:lstStyle/>
                    <a:p>
                      <a:pPr algn="l" rtl="0" fontAlgn="ctr"/>
                      <a:r>
                        <a:rPr lang="en-US" sz="1600" b="1" i="0" u="none" strike="noStrike" dirty="0" smtClean="0">
                          <a:solidFill>
                            <a:schemeClr val="bg2">
                              <a:lumMod val="10000"/>
                            </a:schemeClr>
                          </a:solidFill>
                          <a:effectLst/>
                          <a:latin typeface="Calibri"/>
                        </a:rPr>
                        <a:t>Increase the scope and efficiency of active labour market policies</a:t>
                      </a:r>
                    </a:p>
                  </a:txBody>
                  <a:tcPr marL="9525" marR="9525" marT="9525" marB="0" anchor="ctr">
                    <a:lnL>
                      <a:noFill/>
                    </a:lnL>
                    <a:lnR w="12700" cap="flat" cmpd="sng" algn="ctr">
                      <a:solidFill>
                        <a:srgbClr val="171717"/>
                      </a:solidFill>
                      <a:prstDash val="solid"/>
                      <a:round/>
                      <a:headEnd type="none" w="med" len="med"/>
                      <a:tailEnd type="none" w="med" len="med"/>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gridSpan="4">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GB" sz="1400" b="1" kern="1200" dirty="0" smtClean="0">
                          <a:solidFill>
                            <a:schemeClr val="bg2">
                              <a:lumMod val="10000"/>
                            </a:schemeClr>
                          </a:solidFill>
                          <a:latin typeface="Arial Narrow" panose="020B0606020202030204" pitchFamily="34" charset="0"/>
                          <a:ea typeface="+mn-ea"/>
                          <a:cs typeface="+mn-cs"/>
                        </a:rPr>
                        <a:t>ARG ESP EST GBR GRC ISR ITA JPN LTU LUX LVA NLD SVN SVK USA ZAF</a:t>
                      </a:r>
                      <a:endParaRPr kumimoji="0" lang="en-GB" sz="1400" b="1" kern="1200" dirty="0">
                        <a:solidFill>
                          <a:schemeClr val="bg2">
                            <a:lumMod val="10000"/>
                          </a:schemeClr>
                        </a:solidFill>
                        <a:latin typeface="Arial Narrow" panose="020B0606020202030204" pitchFamily="34" charset="0"/>
                        <a:ea typeface="+mn-ea"/>
                        <a:cs typeface="+mn-cs"/>
                      </a:endParaRPr>
                    </a:p>
                  </a:txBody>
                  <a:tcPr marL="9525" marR="9525" marT="9525" marB="0" anchor="ctr">
                    <a:lnL w="12700" cap="flat" cmpd="sng" algn="ctr">
                      <a:solidFill>
                        <a:srgbClr val="171717"/>
                      </a:solidFill>
                      <a:prstDash val="solid"/>
                      <a:round/>
                      <a:headEnd type="none" w="med" len="med"/>
                      <a:tailEnd type="none" w="med" len="med"/>
                    </a:lnL>
                    <a:lnR w="12700" cap="flat" cmpd="sng" algn="ctr">
                      <a:solidFill>
                        <a:srgbClr val="171717"/>
                      </a:solidFill>
                      <a:prstDash val="solid"/>
                      <a:round/>
                      <a:headEnd type="none" w="med" len="med"/>
                      <a:tailEnd type="none" w="med" len="med"/>
                    </a:lnR>
                    <a:lnT w="12700" cap="flat" cmpd="sng" algn="ctr">
                      <a:solidFill>
                        <a:srgbClr val="171717"/>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solidFill>
                      <a:srgbClr val="FFFFFF"/>
                    </a:solidFill>
                  </a:tcPr>
                </a:tc>
                <a:tc hMerge="1">
                  <a:txBody>
                    <a:bodyPr/>
                    <a:lstStyle/>
                    <a:p>
                      <a:endParaRPr lang="en-GB"/>
                    </a:p>
                  </a:txBody>
                  <a:tcPr/>
                </a:tc>
                <a:tc hMerge="1">
                  <a:txBody>
                    <a:bodyPr/>
                    <a:lstStyle/>
                    <a:p>
                      <a:endParaRPr lang="en-GB"/>
                    </a:p>
                  </a:txBody>
                  <a:tcPr/>
                </a:tc>
                <a:tc hMerge="1">
                  <a:txBody>
                    <a:bodyPr/>
                    <a:lstStyle/>
                    <a:p>
                      <a:endParaRPr lang="en-GB"/>
                    </a:p>
                  </a:txBody>
                  <a:tcPr/>
                </a:tc>
                <a:tc>
                  <a:txBody>
                    <a:bodyPr/>
                    <a:lstStyle/>
                    <a:p>
                      <a:pPr algn="l" fontAlgn="ctr"/>
                      <a:endParaRPr lang="en-GB" sz="1800" b="0" i="0" u="none" strike="noStrike" dirty="0">
                        <a:solidFill>
                          <a:srgbClr val="000000"/>
                        </a:solidFill>
                        <a:effectLst/>
                        <a:latin typeface="Arial"/>
                      </a:endParaRPr>
                    </a:p>
                  </a:txBody>
                  <a:tcPr marL="9525" marR="9525" marT="9525" marB="0" anchor="ctr">
                    <a:lnL w="12700" cap="flat" cmpd="sng" algn="ctr">
                      <a:solidFill>
                        <a:srgbClr val="171717"/>
                      </a:solidFill>
                      <a:prstDash val="solid"/>
                      <a:round/>
                      <a:headEnd type="none" w="med" len="med"/>
                      <a:tailEnd type="none" w="med" len="med"/>
                    </a:lnL>
                    <a:lnR>
                      <a:noFill/>
                    </a:lnR>
                    <a:lnT>
                      <a:noFill/>
                    </a:lnT>
                    <a:lnB>
                      <a:noFill/>
                    </a:lnB>
                  </a:tcPr>
                </a:tc>
              </a:tr>
              <a:tr h="395521">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ctr" rtl="0" fontAlgn="ctr"/>
                      <a:endParaRPr lang="en-GB" sz="1400" b="0" i="0" u="none" strike="noStrike" dirty="0">
                        <a:solidFill>
                          <a:srgbClr val="171717"/>
                        </a:solidFill>
                        <a:effectLst/>
                        <a:latin typeface="Calibri"/>
                      </a:endParaRPr>
                    </a:p>
                  </a:txBody>
                  <a:tcPr marL="9525" marR="9525" marT="9525" marB="0" anchor="ctr">
                    <a:lnL>
                      <a:noFill/>
                    </a:lnL>
                    <a:lnR>
                      <a:noFill/>
                    </a:lnR>
                    <a:lnT>
                      <a:noFill/>
                    </a:lnT>
                    <a:lnB>
                      <a:noFill/>
                    </a:lnB>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r>
              <a:tr h="645193">
                <a:tc gridSpan="7">
                  <a:txBody>
                    <a:bodyPr/>
                    <a:lstStyle/>
                    <a:p>
                      <a:pPr algn="l" rtl="0" fontAlgn="ctr"/>
                      <a:r>
                        <a:rPr lang="en-US" sz="1600" b="1" i="0" u="none" strike="noStrike" dirty="0" smtClean="0">
                          <a:solidFill>
                            <a:schemeClr val="bg2">
                              <a:lumMod val="10000"/>
                            </a:schemeClr>
                          </a:solidFill>
                          <a:effectLst/>
                          <a:latin typeface="Calibri"/>
                        </a:rPr>
                        <a:t>Boost job creation by reducing the tax wedge on </a:t>
                      </a:r>
                      <a:br>
                        <a:rPr lang="en-US" sz="1600" b="1" i="0" u="none" strike="noStrike" dirty="0" smtClean="0">
                          <a:solidFill>
                            <a:schemeClr val="bg2">
                              <a:lumMod val="10000"/>
                            </a:schemeClr>
                          </a:solidFill>
                          <a:effectLst/>
                          <a:latin typeface="Calibri"/>
                        </a:rPr>
                      </a:br>
                      <a:r>
                        <a:rPr lang="en-US" sz="1600" b="1" i="0" u="none" strike="noStrike" dirty="0" smtClean="0">
                          <a:solidFill>
                            <a:schemeClr val="bg2">
                              <a:lumMod val="10000"/>
                            </a:schemeClr>
                          </a:solidFill>
                          <a:effectLst/>
                          <a:latin typeface="Calibri"/>
                        </a:rPr>
                        <a:t>low-skilled workers </a:t>
                      </a:r>
                    </a:p>
                  </a:txBody>
                  <a:tcPr marL="9525" marR="9525" marT="9525" marB="0" anchor="ctr">
                    <a:lnL>
                      <a:noFill/>
                    </a:lnL>
                    <a:lnR w="12700" cap="flat" cmpd="sng" algn="ctr">
                      <a:solidFill>
                        <a:schemeClr val="bg2">
                          <a:lumMod val="10000"/>
                        </a:schemeClr>
                      </a:solidFill>
                      <a:prstDash val="solid"/>
                      <a:round/>
                      <a:headEnd type="none" w="med" len="med"/>
                      <a:tailEnd type="none" w="med" len="med"/>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gridSpan="4">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kumimoji="0" lang="en-GB" sz="1400" b="1" kern="1200" dirty="0" smtClean="0">
                          <a:solidFill>
                            <a:schemeClr val="bg2">
                              <a:lumMod val="10000"/>
                            </a:schemeClr>
                          </a:solidFill>
                          <a:latin typeface="Arial Narrow" panose="020B0606020202030204" pitchFamily="34" charset="0"/>
                          <a:ea typeface="+mn-ea"/>
                          <a:cs typeface="+mn-cs"/>
                        </a:rPr>
                        <a:t>BEL DEU ESP EST HUN </a:t>
                      </a:r>
                      <a:br>
                        <a:rPr kumimoji="0" lang="en-GB" sz="1400" b="1" kern="1200" dirty="0" smtClean="0">
                          <a:solidFill>
                            <a:schemeClr val="bg2">
                              <a:lumMod val="10000"/>
                            </a:schemeClr>
                          </a:solidFill>
                          <a:latin typeface="Arial Narrow" panose="020B0606020202030204" pitchFamily="34" charset="0"/>
                          <a:ea typeface="+mn-ea"/>
                          <a:cs typeface="+mn-cs"/>
                        </a:rPr>
                      </a:br>
                      <a:r>
                        <a:rPr kumimoji="0" lang="en-GB" sz="1400" b="1" kern="1200" dirty="0" smtClean="0">
                          <a:solidFill>
                            <a:schemeClr val="bg2">
                              <a:lumMod val="10000"/>
                            </a:schemeClr>
                          </a:solidFill>
                          <a:latin typeface="Arial Narrow" panose="020B0606020202030204" pitchFamily="34" charset="0"/>
                          <a:ea typeface="+mn-ea"/>
                          <a:cs typeface="+mn-cs"/>
                        </a:rPr>
                        <a:t>ITA LVA NLD POL TUR</a:t>
                      </a:r>
                      <a:endParaRPr kumimoji="0" lang="en-GB" sz="1400" b="1" kern="1200" dirty="0">
                        <a:solidFill>
                          <a:schemeClr val="bg2">
                            <a:lumMod val="10000"/>
                          </a:schemeClr>
                        </a:solidFill>
                        <a:latin typeface="Arial Narrow" panose="020B0606020202030204" pitchFamily="34" charset="0"/>
                        <a:ea typeface="+mn-ea"/>
                        <a:cs typeface="+mn-cs"/>
                      </a:endParaRPr>
                    </a:p>
                  </a:txBody>
                  <a:tcPr marL="9525" marR="9525" marT="9525" marB="0" anchor="ctr">
                    <a:lnL w="12700" cap="flat" cmpd="sng" algn="ctr">
                      <a:solidFill>
                        <a:schemeClr val="bg2">
                          <a:lumMod val="10000"/>
                        </a:schemeClr>
                      </a:solidFill>
                      <a:prstDash val="solid"/>
                      <a:round/>
                      <a:headEnd type="none" w="med" len="med"/>
                      <a:tailEnd type="none" w="med" len="med"/>
                    </a:lnL>
                    <a:lnR w="12700" cap="flat" cmpd="sng" algn="ctr">
                      <a:solidFill>
                        <a:schemeClr val="bg2">
                          <a:lumMod val="10000"/>
                        </a:schemeClr>
                      </a:solidFill>
                      <a:prstDash val="solid"/>
                      <a:round/>
                      <a:headEnd type="none" w="med" len="med"/>
                      <a:tailEnd type="none" w="med" len="med"/>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endParaRPr lang="en-GB" sz="1800" b="0" i="0" u="none" strike="noStrike" dirty="0">
                        <a:solidFill>
                          <a:srgbClr val="000000"/>
                        </a:solidFill>
                        <a:effectLst/>
                        <a:latin typeface="Arial"/>
                      </a:endParaRPr>
                    </a:p>
                  </a:txBody>
                  <a:tcPr marL="9525" marR="9525" marT="9525" marB="0" anchor="ctr">
                    <a:lnL w="12700" cap="flat" cmpd="sng" algn="ctr">
                      <a:solidFill>
                        <a:schemeClr val="bg2">
                          <a:lumMod val="10000"/>
                        </a:schemeClr>
                      </a:solidFill>
                      <a:prstDash val="solid"/>
                      <a:round/>
                      <a:headEnd type="none" w="med" len="med"/>
                      <a:tailEnd type="none" w="med" len="med"/>
                    </a:lnL>
                    <a:lnR>
                      <a:noFill/>
                    </a:lnR>
                    <a:lnT>
                      <a:noFill/>
                    </a:lnT>
                    <a:lnB>
                      <a:noFill/>
                    </a:lnB>
                  </a:tcPr>
                </a:tc>
              </a:tr>
              <a:tr h="395521">
                <a:tc gridSpan="6">
                  <a:txBody>
                    <a:bodyPr/>
                    <a:lstStyle/>
                    <a:p>
                      <a:pPr algn="l" fontAlgn="ctr"/>
                      <a:endParaRPr lang="en-GB" sz="1800" b="0" i="0"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gridSpan="6">
                  <a:txBody>
                    <a:bodyPr/>
                    <a:lstStyle/>
                    <a:p>
                      <a:pPr algn="ctr" rtl="0" fontAlgn="ctr"/>
                      <a:endParaRPr lang="en-GB" sz="1400" b="0"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r>
              <a:tr h="395521">
                <a:tc gridSpan="6">
                  <a:txBody>
                    <a:bodyPr/>
                    <a:lstStyle/>
                    <a:p>
                      <a:pPr algn="l" fontAlgn="ctr"/>
                      <a:r>
                        <a:rPr kumimoji="0" lang="en-GB" b="1" kern="1200" dirty="0" smtClean="0">
                          <a:solidFill>
                            <a:srgbClr val="17B917"/>
                          </a:solidFill>
                          <a:latin typeface="Calibri" panose="020F0502020204030204" pitchFamily="34" charset="0"/>
                          <a:ea typeface="+mn-ea"/>
                          <a:cs typeface="+mn-cs"/>
                        </a:rPr>
                        <a:t>Better prepare</a:t>
                      </a:r>
                      <a:r>
                        <a:rPr kumimoji="0" lang="en-GB" b="1" kern="1200" baseline="0" dirty="0" smtClean="0">
                          <a:solidFill>
                            <a:srgbClr val="17B917"/>
                          </a:solidFill>
                          <a:latin typeface="Calibri" panose="020F0502020204030204" pitchFamily="34" charset="0"/>
                          <a:ea typeface="+mn-ea"/>
                          <a:cs typeface="+mn-cs"/>
                        </a:rPr>
                        <a:t> people</a:t>
                      </a:r>
                      <a:r>
                        <a:rPr kumimoji="0" lang="en-GB" b="1" kern="1200" dirty="0" smtClean="0">
                          <a:solidFill>
                            <a:srgbClr val="17B917"/>
                          </a:solidFill>
                          <a:latin typeface="Calibri" panose="020F0502020204030204" pitchFamily="34" charset="0"/>
                          <a:ea typeface="+mn-ea"/>
                          <a:cs typeface="+mn-cs"/>
                        </a:rPr>
                        <a:t> for work</a:t>
                      </a:r>
                      <a:endParaRPr lang="en-GB" sz="1800" b="0" i="0"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gridSpan="6">
                  <a:txBody>
                    <a:bodyPr/>
                    <a:lstStyle/>
                    <a:p>
                      <a:pPr algn="ctr" rtl="0" fontAlgn="ctr"/>
                      <a:endParaRPr lang="en-GB" sz="1400" b="0"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a:noFill/>
                    </a:lnT>
                    <a:lnB>
                      <a:noFill/>
                    </a:lnB>
                  </a:tcPr>
                </a:tc>
              </a:tr>
              <a:tr h="645193">
                <a:tc gridSpan="7">
                  <a:txBody>
                    <a:bodyPr/>
                    <a:lstStyle/>
                    <a:p>
                      <a:pPr algn="l" rtl="0" fontAlgn="ctr"/>
                      <a:r>
                        <a:rPr lang="en-US" sz="1600" b="1" i="0" u="none" strike="noStrike" dirty="0" smtClean="0">
                          <a:solidFill>
                            <a:srgbClr val="171717"/>
                          </a:solidFill>
                          <a:effectLst/>
                          <a:latin typeface="Calibri"/>
                        </a:rPr>
                        <a:t>Expand and improve vocational training </a:t>
                      </a:r>
                      <a:br>
                        <a:rPr lang="en-US" sz="1600" b="1" i="0" u="none" strike="noStrike" dirty="0" smtClean="0">
                          <a:solidFill>
                            <a:srgbClr val="171717"/>
                          </a:solidFill>
                          <a:effectLst/>
                          <a:latin typeface="Calibri"/>
                        </a:rPr>
                      </a:br>
                      <a:r>
                        <a:rPr lang="en-US" sz="1600" b="1" i="0" u="none" strike="noStrike" dirty="0" smtClean="0">
                          <a:solidFill>
                            <a:srgbClr val="171717"/>
                          </a:solidFill>
                          <a:effectLst/>
                          <a:latin typeface="Calibri"/>
                        </a:rPr>
                        <a:t>and education</a:t>
                      </a:r>
                      <a:endParaRPr lang="en-US" sz="1600" b="1" i="0" u="none" strike="noStrike" dirty="0">
                        <a:solidFill>
                          <a:srgbClr val="171717"/>
                        </a:solidFill>
                        <a:effectLst/>
                        <a:latin typeface="Calibri"/>
                      </a:endParaRPr>
                    </a:p>
                  </a:txBody>
                  <a:tcPr marL="9525" marR="9525" marT="9525" marB="0" anchor="ctr">
                    <a:lnL>
                      <a:noFill/>
                    </a:lnL>
                    <a:lnR w="12700" cap="flat" cmpd="sng" algn="ctr">
                      <a:solidFill>
                        <a:schemeClr val="bg2">
                          <a:lumMod val="10000"/>
                        </a:schemeClr>
                      </a:solidFill>
                      <a:prstDash val="solid"/>
                      <a:round/>
                      <a:headEnd type="none" w="med" len="med"/>
                      <a:tailEnd type="none" w="med" len="med"/>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gridSpan="4">
                  <a:txBody>
                    <a:bodyPr/>
                    <a:lstStyle/>
                    <a:p>
                      <a:pPr algn="ctr" rtl="0" fontAlgn="ctr"/>
                      <a:r>
                        <a:rPr lang="en-GB" sz="1400" b="1" i="0" u="none" strike="noStrike" dirty="0" smtClean="0">
                          <a:solidFill>
                            <a:srgbClr val="171717"/>
                          </a:solidFill>
                          <a:effectLst/>
                          <a:latin typeface="Arial Narrow"/>
                        </a:rPr>
                        <a:t>ARG BRA CHN DNK ESP EST FRA GBR GRC IND POL PRT TUR ZAF</a:t>
                      </a:r>
                      <a:endParaRPr lang="en-GB" sz="1400" b="1" i="0" u="none" strike="noStrike" dirty="0">
                        <a:solidFill>
                          <a:srgbClr val="171717"/>
                        </a:solidFill>
                        <a:effectLst/>
                        <a:latin typeface="Arial Narrow"/>
                      </a:endParaRPr>
                    </a:p>
                  </a:txBody>
                  <a:tcPr marL="9525" marR="9525" marT="9525" marB="0" anchor="ctr">
                    <a:lnL w="12700" cap="flat" cmpd="sng" algn="ctr">
                      <a:solidFill>
                        <a:schemeClr val="bg2">
                          <a:lumMod val="10000"/>
                        </a:schemeClr>
                      </a:solidFill>
                      <a:prstDash val="solid"/>
                      <a:round/>
                      <a:headEnd type="none" w="med" len="med"/>
                      <a:tailEnd type="none" w="med" len="med"/>
                    </a:lnL>
                    <a:lnR w="12700" cap="flat" cmpd="sng" algn="ctr">
                      <a:solidFill>
                        <a:schemeClr val="bg2">
                          <a:lumMod val="10000"/>
                        </a:schemeClr>
                      </a:solidFill>
                      <a:prstDash val="solid"/>
                      <a:round/>
                      <a:headEnd type="none" w="med" len="med"/>
                      <a:tailEnd type="none" w="med" len="med"/>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endParaRPr lang="en-GB" sz="1400" b="1" i="0" u="none" strike="noStrike" dirty="0">
                        <a:solidFill>
                          <a:srgbClr val="171717"/>
                        </a:solidFill>
                        <a:effectLst/>
                        <a:latin typeface="Arial Narrow"/>
                      </a:endParaRPr>
                    </a:p>
                  </a:txBody>
                  <a:tcPr marL="9525" marR="9525" marT="9525" marB="0" anchor="ctr">
                    <a:lnL w="12700" cap="flat" cmpd="sng" algn="ctr">
                      <a:solidFill>
                        <a:schemeClr val="bg2">
                          <a:lumMod val="10000"/>
                        </a:schemeClr>
                      </a:solidFill>
                      <a:prstDash val="solid"/>
                      <a:round/>
                      <a:headEnd type="none" w="med" len="med"/>
                      <a:tailEnd type="none" w="med" len="med"/>
                    </a:lnL>
                    <a:lnR>
                      <a:noFill/>
                    </a:lnR>
                    <a:lnT>
                      <a:noFill/>
                    </a:lnT>
                    <a:lnB>
                      <a:noFill/>
                    </a:lnB>
                  </a:tcPr>
                </a:tc>
              </a:tr>
              <a:tr h="395521">
                <a:tc gridSpan="6">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en-GB" sz="1800" b="0" i="0" u="none" strike="noStrike" dirty="0" smtClean="0">
                        <a:solidFill>
                          <a:srgbClr val="000000"/>
                        </a:solidFill>
                        <a:effectLst/>
                        <a:latin typeface="Calibri" panose="020F0502020204030204" pitchFamily="34" charset="0"/>
                      </a:endParaRPr>
                    </a:p>
                  </a:txBody>
                  <a:tcPr marL="9525" marR="9525" marT="9525" marB="0" anchor="ct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r>
              <a:tr h="566089">
                <a:tc gridSpan="7">
                  <a:txBody>
                    <a:bodyPr/>
                    <a:lstStyle/>
                    <a:p>
                      <a:pPr algn="l" rtl="0" fontAlgn="ctr"/>
                      <a:r>
                        <a:rPr lang="en-US" sz="1600" b="1" i="0" u="none" strike="noStrike" dirty="0" smtClean="0">
                          <a:solidFill>
                            <a:srgbClr val="171717"/>
                          </a:solidFill>
                          <a:effectLst/>
                          <a:latin typeface="Calibri"/>
                        </a:rPr>
                        <a:t>Allocate education</a:t>
                      </a:r>
                      <a:r>
                        <a:rPr lang="en-US" sz="1600" b="1" i="0" u="none" strike="noStrike" baseline="0" dirty="0" smtClean="0">
                          <a:solidFill>
                            <a:srgbClr val="171717"/>
                          </a:solidFill>
                          <a:effectLst/>
                          <a:latin typeface="Calibri"/>
                        </a:rPr>
                        <a:t> </a:t>
                      </a:r>
                      <a:r>
                        <a:rPr lang="en-US" sz="1600" b="1" i="0" u="none" strike="noStrike" dirty="0" smtClean="0">
                          <a:solidFill>
                            <a:srgbClr val="171717"/>
                          </a:solidFill>
                          <a:effectLst/>
                          <a:latin typeface="Calibri"/>
                        </a:rPr>
                        <a:t>resources more equitably </a:t>
                      </a:r>
                      <a:endParaRPr lang="en-US" sz="1600" b="1" i="0" u="none" strike="noStrike" dirty="0">
                        <a:solidFill>
                          <a:srgbClr val="171717"/>
                        </a:solidFill>
                        <a:effectLst/>
                        <a:latin typeface="Calibri"/>
                      </a:endParaRPr>
                    </a:p>
                  </a:txBody>
                  <a:tcPr marL="9525" marR="9525" marT="9525" marB="0" anchor="ctr">
                    <a:lnL>
                      <a:noFill/>
                    </a:lnL>
                    <a:lnR w="12700" cap="flat" cmpd="sng" algn="ctr">
                      <a:solidFill>
                        <a:schemeClr val="bg2">
                          <a:lumMod val="10000"/>
                        </a:schemeClr>
                      </a:solidFill>
                      <a:prstDash val="solid"/>
                      <a:round/>
                      <a:headEnd type="none" w="med" len="med"/>
                      <a:tailEnd type="none" w="med" len="med"/>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dirty="0"/>
                    </a:p>
                  </a:txBody>
                  <a:tcPr>
                    <a:lnL>
                      <a:noFill/>
                    </a:lnL>
                    <a:lnR>
                      <a:noFill/>
                    </a:lnR>
                    <a:lnT>
                      <a:noFill/>
                    </a:lnT>
                    <a:lnB>
                      <a:noFill/>
                    </a:lnB>
                  </a:tcPr>
                </a:tc>
                <a:tc gridSpan="4">
                  <a:txBody>
                    <a:bodyPr/>
                    <a:lstStyle/>
                    <a:p>
                      <a:pPr algn="ctr" rtl="0" fontAlgn="ctr"/>
                      <a:r>
                        <a:rPr lang="en-GB" sz="1400" b="1" i="0" u="none" strike="noStrike" dirty="0" smtClean="0">
                          <a:solidFill>
                            <a:srgbClr val="171717"/>
                          </a:solidFill>
                          <a:effectLst/>
                          <a:latin typeface="Arial Narrow"/>
                        </a:rPr>
                        <a:t>CRI CZE DEU DNK FRA HUN </a:t>
                      </a:r>
                      <a:br>
                        <a:rPr lang="en-GB" sz="1400" b="1" i="0" u="none" strike="noStrike" dirty="0" smtClean="0">
                          <a:solidFill>
                            <a:srgbClr val="171717"/>
                          </a:solidFill>
                          <a:effectLst/>
                          <a:latin typeface="Arial Narrow"/>
                        </a:rPr>
                      </a:br>
                      <a:r>
                        <a:rPr lang="en-GB" sz="1400" b="1" i="0" u="none" strike="noStrike" dirty="0" smtClean="0">
                          <a:solidFill>
                            <a:srgbClr val="171717"/>
                          </a:solidFill>
                          <a:effectLst/>
                          <a:latin typeface="Arial Narrow"/>
                        </a:rPr>
                        <a:t>NZL POL PRT SWE USA</a:t>
                      </a:r>
                      <a:endParaRPr lang="en-GB" sz="1400" b="1" i="0" u="none" strike="noStrike" dirty="0">
                        <a:solidFill>
                          <a:srgbClr val="171717"/>
                        </a:solidFill>
                        <a:effectLst/>
                        <a:latin typeface="Arial Narrow"/>
                      </a:endParaRPr>
                    </a:p>
                  </a:txBody>
                  <a:tcPr marL="9525" marR="9525" marT="9525" marB="0" anchor="ctr">
                    <a:lnL w="12700" cap="flat" cmpd="sng" algn="ctr">
                      <a:solidFill>
                        <a:schemeClr val="bg2">
                          <a:lumMod val="10000"/>
                        </a:schemeClr>
                      </a:solidFill>
                      <a:prstDash val="solid"/>
                      <a:round/>
                      <a:headEnd type="none" w="med" len="med"/>
                      <a:tailEnd type="none" w="med" len="med"/>
                    </a:lnL>
                    <a:lnR w="12700" cap="flat" cmpd="sng" algn="ctr">
                      <a:solidFill>
                        <a:schemeClr val="bg2">
                          <a:lumMod val="10000"/>
                        </a:schemeClr>
                      </a:solidFill>
                      <a:prstDash val="solid"/>
                      <a:round/>
                      <a:headEnd type="none" w="med" len="med"/>
                      <a:tailEnd type="none" w="med" len="med"/>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endParaRPr lang="en-GB" sz="1800" b="0" i="0" u="none" strike="noStrike" dirty="0">
                        <a:solidFill>
                          <a:srgbClr val="000000"/>
                        </a:solidFill>
                        <a:effectLst/>
                        <a:latin typeface="Arial"/>
                      </a:endParaRPr>
                    </a:p>
                  </a:txBody>
                  <a:tcPr marL="9525" marR="9525" marT="9525" marB="0" anchor="ctr">
                    <a:lnL w="12700" cap="flat" cmpd="sng" algn="ctr">
                      <a:solidFill>
                        <a:schemeClr val="bg2">
                          <a:lumMod val="10000"/>
                        </a:schemeClr>
                      </a:solidFill>
                      <a:prstDash val="solid"/>
                      <a:round/>
                      <a:headEnd type="none" w="med" len="med"/>
                      <a:tailEnd type="none" w="med" len="med"/>
                    </a:lnL>
                    <a:lnR>
                      <a:noFill/>
                    </a:lnR>
                    <a:lnT>
                      <a:noFill/>
                    </a:lnT>
                    <a:lnB>
                      <a:noFill/>
                    </a:lnB>
                  </a:tcPr>
                </a:tc>
              </a:tr>
            </a:tbl>
          </a:graphicData>
        </a:graphic>
      </p:graphicFrame>
    </p:spTree>
    <p:extLst>
      <p:ext uri="{BB962C8B-B14F-4D97-AF65-F5344CB8AC3E}">
        <p14:creationId xmlns:p14="http://schemas.microsoft.com/office/powerpoint/2010/main" val="58372801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683568" y="238255"/>
            <a:ext cx="7920880" cy="954107"/>
          </a:xfrm>
          <a:prstGeom prst="rect">
            <a:avLst/>
          </a:prstGeom>
        </p:spPr>
        <p:txBody>
          <a:bodyPr wrap="square">
            <a:spAutoFit/>
          </a:bodyPr>
          <a:lstStyle/>
          <a:p>
            <a:r>
              <a:rPr lang="en-US" sz="2800" b="1" dirty="0" smtClean="0">
                <a:solidFill>
                  <a:srgbClr val="006299"/>
                </a:solidFill>
                <a:latin typeface="Arial"/>
              </a:rPr>
              <a:t>Handeln, um inklusives Wachstum zu stärken und die Globalisierung für alle nutzbar zu machen</a:t>
            </a:r>
          </a:p>
        </p:txBody>
      </p:sp>
      <p:sp>
        <p:nvSpPr>
          <p:cNvPr id="7" name="Slide Number Placeholder 6"/>
          <p:cNvSpPr>
            <a:spLocks noGrp="1"/>
          </p:cNvSpPr>
          <p:nvPr>
            <p:ph type="sldNum" sz="quarter" idx="12"/>
          </p:nvPr>
        </p:nvSpPr>
        <p:spPr/>
        <p:txBody>
          <a:bodyPr/>
          <a:lstStyle/>
          <a:p>
            <a:fld id="{FCE284C4-5ED1-4D6C-B7CC-2049C3062C5E}" type="slidenum">
              <a:rPr lang="en-GB" smtClean="0"/>
              <a:t>23</a:t>
            </a:fld>
            <a:endParaRPr lang="en-GB" dirty="0"/>
          </a:p>
        </p:txBody>
      </p:sp>
      <p:graphicFrame>
        <p:nvGraphicFramePr>
          <p:cNvPr id="5" name="Diagram 4"/>
          <p:cNvGraphicFramePr/>
          <p:nvPr>
            <p:extLst>
              <p:ext uri="{D42A27DB-BD31-4B8C-83A1-F6EECF244321}">
                <p14:modId xmlns:p14="http://schemas.microsoft.com/office/powerpoint/2010/main" val="2357626800"/>
              </p:ext>
            </p:extLst>
          </p:nvPr>
        </p:nvGraphicFramePr>
        <p:xfrm>
          <a:off x="539552" y="1412776"/>
          <a:ext cx="8208912" cy="50405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p:cNvSpPr txBox="1"/>
          <p:nvPr/>
        </p:nvSpPr>
        <p:spPr>
          <a:xfrm>
            <a:off x="827584" y="2564904"/>
            <a:ext cx="2664296" cy="40011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Internationale Politik</a:t>
            </a:r>
          </a:p>
        </p:txBody>
      </p:sp>
      <p:sp>
        <p:nvSpPr>
          <p:cNvPr id="8" name="TextBox 7"/>
          <p:cNvSpPr txBox="1"/>
          <p:nvPr/>
        </p:nvSpPr>
        <p:spPr>
          <a:xfrm>
            <a:off x="395536" y="5063698"/>
            <a:ext cx="2664296" cy="40011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Inländische Politik</a:t>
            </a:r>
          </a:p>
        </p:txBody>
      </p:sp>
    </p:spTree>
    <p:extLst>
      <p:ext uri="{BB962C8B-B14F-4D97-AF65-F5344CB8AC3E}">
        <p14:creationId xmlns:p14="http://schemas.microsoft.com/office/powerpoint/2010/main" val="1673071390"/>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ECD_English_white">
  <a:themeElements>
    <a:clrScheme name="OECD white">
      <a:dk1>
        <a:srgbClr val="727272"/>
      </a:dk1>
      <a:lt1>
        <a:sysClr val="window" lastClr="FFFFFF"/>
      </a:lt1>
      <a:dk2>
        <a:srgbClr val="006299"/>
      </a:dk2>
      <a:lt2>
        <a:srgbClr val="E6E6E6"/>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ECD">
      <a:majorFont>
        <a:latin typeface="Arial"/>
        <a:ea typeface=""/>
        <a:cs typeface=""/>
      </a:majorFont>
      <a:minorFont>
        <a:latin typeface="Georgia"/>
        <a:ea typeface=""/>
        <a:cs typeface=""/>
      </a:minorFont>
    </a:fontScheme>
    <a:fmtScheme name="Urban">
      <a:fillStyleLst>
        <a:solidFill>
          <a:schemeClr val="phClr"/>
        </a:solidFill>
        <a:gradFill rotWithShape="1">
          <a:gsLst>
            <a:gs pos="0">
              <a:schemeClr val="phClr">
                <a:tint val="1000"/>
                <a:satMod val="255000"/>
              </a:schemeClr>
            </a:gs>
            <a:gs pos="55000">
              <a:schemeClr val="phClr">
                <a:tint val="12000"/>
                <a:satMod val="255000"/>
              </a:schemeClr>
            </a:gs>
            <a:gs pos="100000">
              <a:schemeClr val="phClr">
                <a:tint val="45000"/>
                <a:satMod val="250000"/>
              </a:schemeClr>
            </a:gs>
          </a:gsLst>
          <a:path path="circle">
            <a:fillToRect l="-40000" t="-90000" r="140000" b="190000"/>
          </a:path>
        </a:gradFill>
        <a:gradFill rotWithShape="1">
          <a:gsLst>
            <a:gs pos="0">
              <a:schemeClr val="phClr">
                <a:tint val="43000"/>
                <a:satMod val="165000"/>
              </a:schemeClr>
            </a:gs>
            <a:gs pos="55000">
              <a:schemeClr val="phClr">
                <a:tint val="83000"/>
                <a:satMod val="155000"/>
              </a:schemeClr>
            </a:gs>
            <a:gs pos="100000">
              <a:schemeClr val="phClr">
                <a:shade val="85000"/>
              </a:schemeClr>
            </a:gs>
          </a:gsLst>
          <a:path path="circle">
            <a:fillToRect l="-40000" t="-90000" r="140000" b="190000"/>
          </a:path>
        </a:gradFill>
      </a:fillStyleLst>
      <a:lnStyleLst>
        <a:ln w="9525" cap="flat" cmpd="sng" algn="ctr">
          <a:solidFill>
            <a:schemeClr val="phClr"/>
          </a:solidFill>
          <a:prstDash val="solid"/>
        </a:ln>
        <a:ln w="19050" cap="flat" cmpd="sng" algn="ctr">
          <a:solidFill>
            <a:schemeClr val="phClr"/>
          </a:solidFill>
          <a:prstDash val="solid"/>
        </a:ln>
        <a:ln w="31750" cap="flat" cmpd="sng" algn="ctr">
          <a:solidFill>
            <a:schemeClr val="phClr"/>
          </a:solidFill>
          <a:prstDash val="solid"/>
        </a:ln>
      </a:lnStyleLst>
      <a:effectStyleLst>
        <a:effectStyle>
          <a:effectLst>
            <a:outerShdw blurRad="51500" dist="25400" dir="5400000" rotWithShape="0">
              <a:srgbClr val="000000">
                <a:alpha val="40000"/>
              </a:srgbClr>
            </a:outerShdw>
          </a:effectLst>
        </a:effectStyle>
        <a:effectStyle>
          <a:effectLst>
            <a:outerShdw blurRad="50800" dist="25400" dir="5400000" rotWithShape="0">
              <a:srgbClr val="000000">
                <a:alpha val="4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flat" dir="t">
              <a:rot lat="0" lon="0" rev="20040000"/>
            </a:lightRig>
          </a:scene3d>
          <a:sp3d contourW="12700" prstMaterial="dkEdge">
            <a:bevelT w="25400" h="38100" prst="convex"/>
            <a:contourClr>
              <a:schemeClr val="phClr">
                <a:satMod val="115000"/>
              </a:schemeClr>
            </a:contourClr>
          </a:sp3d>
        </a:effectStyle>
      </a:effectStyleLst>
      <a:bgFillStyleLst>
        <a:solidFill>
          <a:schemeClr val="phClr"/>
        </a:solidFill>
        <a:gradFill rotWithShape="1">
          <a:gsLst>
            <a:gs pos="100000">
              <a:schemeClr val="phClr">
                <a:tint val="80000"/>
                <a:satMod val="250000"/>
              </a:schemeClr>
            </a:gs>
            <a:gs pos="60000">
              <a:schemeClr val="phClr">
                <a:shade val="38000"/>
                <a:satMod val="175000"/>
              </a:schemeClr>
            </a:gs>
            <a:gs pos="0">
              <a:schemeClr val="phClr">
                <a:shade val="30000"/>
                <a:satMod val="175000"/>
              </a:schemeClr>
            </a:gs>
          </a:gsLst>
          <a:lin ang="5400000" scaled="0"/>
        </a:gradFill>
        <a:blipFill>
          <a:blip xmlns:r="http://schemas.openxmlformats.org/officeDocument/2006/relationships" r:embed="rId1">
            <a:duotone>
              <a:schemeClr val="phClr">
                <a:shade val="48000"/>
              </a:schemeClr>
              <a:schemeClr val="phClr">
                <a:tint val="96000"/>
                <a:satMod val="150000"/>
              </a:schemeClr>
            </a:duotone>
          </a:blip>
          <a:tile tx="0" ty="0" sx="80000" sy="80000" flip="none" algn="tl"/>
        </a:blipFill>
      </a:bgFillStyleLst>
    </a:fmtScheme>
  </a:themeElements>
  <a:objectDefaults/>
  <a:extraClrSchemeLst/>
</a:theme>
</file>

<file path=ppt/theme/theme2.xml><?xml version="1.0" encoding="utf-8"?>
<a:theme xmlns:a="http://schemas.openxmlformats.org/drawingml/2006/main" name="1_OECD_English_white">
  <a:themeElements>
    <a:clrScheme name="OECD white">
      <a:dk1>
        <a:srgbClr val="727272"/>
      </a:dk1>
      <a:lt1>
        <a:sysClr val="window" lastClr="FFFFFF"/>
      </a:lt1>
      <a:dk2>
        <a:srgbClr val="006299"/>
      </a:dk2>
      <a:lt2>
        <a:srgbClr val="E6E6E6"/>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ECD">
      <a:majorFont>
        <a:latin typeface="Arial"/>
        <a:ea typeface=""/>
        <a:cs typeface=""/>
      </a:majorFont>
      <a:minorFont>
        <a:latin typeface="Georgia"/>
        <a:ea typeface=""/>
        <a:cs typeface=""/>
      </a:minorFont>
    </a:fontScheme>
    <a:fmtScheme name="Urban">
      <a:fillStyleLst>
        <a:solidFill>
          <a:schemeClr val="phClr"/>
        </a:solidFill>
        <a:gradFill rotWithShape="1">
          <a:gsLst>
            <a:gs pos="0">
              <a:schemeClr val="phClr">
                <a:tint val="1000"/>
                <a:satMod val="255000"/>
              </a:schemeClr>
            </a:gs>
            <a:gs pos="55000">
              <a:schemeClr val="phClr">
                <a:tint val="12000"/>
                <a:satMod val="255000"/>
              </a:schemeClr>
            </a:gs>
            <a:gs pos="100000">
              <a:schemeClr val="phClr">
                <a:tint val="45000"/>
                <a:satMod val="250000"/>
              </a:schemeClr>
            </a:gs>
          </a:gsLst>
          <a:path path="circle">
            <a:fillToRect l="-40000" t="-90000" r="140000" b="190000"/>
          </a:path>
        </a:gradFill>
        <a:gradFill rotWithShape="1">
          <a:gsLst>
            <a:gs pos="0">
              <a:schemeClr val="phClr">
                <a:tint val="43000"/>
                <a:satMod val="165000"/>
              </a:schemeClr>
            </a:gs>
            <a:gs pos="55000">
              <a:schemeClr val="phClr">
                <a:tint val="83000"/>
                <a:satMod val="155000"/>
              </a:schemeClr>
            </a:gs>
            <a:gs pos="100000">
              <a:schemeClr val="phClr">
                <a:shade val="85000"/>
              </a:schemeClr>
            </a:gs>
          </a:gsLst>
          <a:path path="circle">
            <a:fillToRect l="-40000" t="-90000" r="140000" b="190000"/>
          </a:path>
        </a:gradFill>
      </a:fillStyleLst>
      <a:lnStyleLst>
        <a:ln w="9525" cap="flat" cmpd="sng" algn="ctr">
          <a:solidFill>
            <a:schemeClr val="phClr"/>
          </a:solidFill>
          <a:prstDash val="solid"/>
        </a:ln>
        <a:ln w="19050" cap="flat" cmpd="sng" algn="ctr">
          <a:solidFill>
            <a:schemeClr val="phClr"/>
          </a:solidFill>
          <a:prstDash val="solid"/>
        </a:ln>
        <a:ln w="31750" cap="flat" cmpd="sng" algn="ctr">
          <a:solidFill>
            <a:schemeClr val="phClr"/>
          </a:solidFill>
          <a:prstDash val="solid"/>
        </a:ln>
      </a:lnStyleLst>
      <a:effectStyleLst>
        <a:effectStyle>
          <a:effectLst>
            <a:outerShdw blurRad="51500" dist="25400" dir="5400000" rotWithShape="0">
              <a:srgbClr val="000000">
                <a:alpha val="40000"/>
              </a:srgbClr>
            </a:outerShdw>
          </a:effectLst>
        </a:effectStyle>
        <a:effectStyle>
          <a:effectLst>
            <a:outerShdw blurRad="50800" dist="25400" dir="5400000" rotWithShape="0">
              <a:srgbClr val="000000">
                <a:alpha val="4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flat" dir="t">
              <a:rot lat="0" lon="0" rev="20040000"/>
            </a:lightRig>
          </a:scene3d>
          <a:sp3d contourW="12700" prstMaterial="dkEdge">
            <a:bevelT w="25400" h="38100" prst="convex"/>
            <a:contourClr>
              <a:schemeClr val="phClr">
                <a:satMod val="115000"/>
              </a:schemeClr>
            </a:contourClr>
          </a:sp3d>
        </a:effectStyle>
      </a:effectStyleLst>
      <a:bgFillStyleLst>
        <a:solidFill>
          <a:schemeClr val="phClr"/>
        </a:solidFill>
        <a:gradFill rotWithShape="1">
          <a:gsLst>
            <a:gs pos="100000">
              <a:schemeClr val="phClr">
                <a:tint val="80000"/>
                <a:satMod val="250000"/>
              </a:schemeClr>
            </a:gs>
            <a:gs pos="60000">
              <a:schemeClr val="phClr">
                <a:shade val="38000"/>
                <a:satMod val="175000"/>
              </a:schemeClr>
            </a:gs>
            <a:gs pos="0">
              <a:schemeClr val="phClr">
                <a:shade val="30000"/>
                <a:satMod val="175000"/>
              </a:schemeClr>
            </a:gs>
          </a:gsLst>
          <a:lin ang="5400000" scaled="0"/>
        </a:gradFill>
        <a:blipFill>
          <a:blip xmlns:r="http://schemas.openxmlformats.org/officeDocument/2006/relationships" r:embed="rId1">
            <a:duotone>
              <a:schemeClr val="phClr">
                <a:shade val="48000"/>
              </a:schemeClr>
              <a:schemeClr val="phClr">
                <a:tint val="96000"/>
                <a:satMod val="150000"/>
              </a:schemeClr>
            </a:duotone>
          </a:blip>
          <a:tile tx="0" ty="0" sx="80000" sy="80000" flip="none" algn="tl"/>
        </a:blip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item1.xml><?xml version="1.0" encoding="utf-8"?>
<ct:contentTypeSchema xmlns:ct="http://schemas.microsoft.com/office/2006/metadata/contentType" xmlns:ma="http://schemas.microsoft.com/office/2006/metadata/properties/metaAttributes" ct:_="" ma:_="" ma:contentTypeName="Working Document" ma:contentTypeID="0x0101008B4DD370EC31429186F3AD49F0D3098F00D44DBCB9EB4F45278CB5C9765BE5299500A4858B360C6A491AA753F8BCA47AA91000293773D153AD3C41920164F348570E54" ma:contentTypeVersion="509" ma:contentTypeDescription="Create a new document." ma:contentTypeScope="" ma:versionID="c4c89322ac7d9f1996d365e3690382e3">
  <xsd:schema xmlns:xsd="http://www.w3.org/2001/XMLSchema" xmlns:xs="http://www.w3.org/2001/XMLSchema" xmlns:p="http://schemas.microsoft.com/office/2006/metadata/properties" xmlns:ns1="http://schemas.microsoft.com/sharepoint/v3" xmlns:ns2="54c4cd27-f286-408f-9ce0-33c1e0f3ab39" xmlns:ns3="464847da-6e18-4144-8ad5-5857903e06b6" xmlns:ns4="b028c3f4-2795-4946-841c-2e1644b148e5" xmlns:ns5="c9f238dd-bb73-4aef-a7a5-d644ad823e52" xmlns:ns6="ca82dde9-3436-4d3d-bddd-d31447390034" xmlns:ns7="http://schemas.microsoft.com/sharepoint/v4" targetNamespace="http://schemas.microsoft.com/office/2006/metadata/properties" ma:root="true" ma:fieldsID="2df2112354f40aebef67c0cef3c00b8d" ns1:_="" ns2:_="" ns3:_="" ns4:_="" ns5:_="" ns6:_="" ns7:_="">
    <xsd:import namespace="http://schemas.microsoft.com/sharepoint/v3"/>
    <xsd:import namespace="54c4cd27-f286-408f-9ce0-33c1e0f3ab39"/>
    <xsd:import namespace="464847da-6e18-4144-8ad5-5857903e06b6"/>
    <xsd:import namespace="b028c3f4-2795-4946-841c-2e1644b148e5"/>
    <xsd:import namespace="c9f238dd-bb73-4aef-a7a5-d644ad823e52"/>
    <xsd:import namespace="ca82dde9-3436-4d3d-bddd-d31447390034"/>
    <xsd:import namespace="http://schemas.microsoft.com/sharepoint/v4"/>
    <xsd:element name="properties">
      <xsd:complexType>
        <xsd:sequence>
          <xsd:element name="documentManagement">
            <xsd:complexType>
              <xsd:all>
                <xsd:element ref="ns2:OECDKimStatus" minOccurs="0"/>
                <xsd:element ref="ns4:OECDProjectLookup"/>
                <xsd:element ref="ns3:_dlc_DocId" minOccurs="0"/>
                <xsd:element ref="ns3:_dlc_DocIdUrl" minOccurs="0"/>
                <xsd:element ref="ns4:OECDProjectManager" minOccurs="0"/>
                <xsd:element ref="ns4:OECDProjectMembers" minOccurs="0"/>
                <xsd:element ref="ns4:OECDTagsCache" minOccurs="0"/>
                <xsd:element ref="ns4:OECDPinnedBy" minOccurs="0"/>
                <xsd:element ref="ns5:eShareCountryTaxHTField0" minOccurs="0"/>
                <xsd:element ref="ns5:eShareTopicTaxHTField0" minOccurs="0"/>
                <xsd:element ref="ns5:eShareKeywordsTaxHTField0" minOccurs="0"/>
                <xsd:element ref="ns5:eShareCommitteeTaxHTField0" minOccurs="0"/>
                <xsd:element ref="ns5:eSharePWBTaxHTField0" minOccurs="0"/>
                <xsd:element ref="ns6:TaxCatchAll" minOccurs="0"/>
                <xsd:element ref="ns7:IconOverlay" minOccurs="0"/>
                <xsd:element ref="ns4:OECDMainProject" minOccurs="0"/>
                <xsd:element ref="ns2:OECDKimProvenance" minOccurs="0"/>
                <xsd:element ref="ns1:DocumentSetDescription" minOccurs="0"/>
                <xsd:element ref="ns3:OECDExpirationDate" minOccurs="0"/>
                <xsd:element ref="ns6:TaxCatchAllLabel" minOccurs="0"/>
                <xsd:element ref="ns2:OECDDocumentType" minOccurs="0"/>
                <xsd:element ref="ns2:OECDKimBussinessContext" minOccurs="0"/>
                <xsd:element ref="ns4:Project_x003A_ID1" minOccurs="0"/>
                <xsd:element ref="ns4:Project_x003a_Project_x0020_status" minOccurs="0"/>
                <xsd:element ref="ns4:Project_x003a_ID" minOccurs="0"/>
                <xsd:element ref="ns3:_dlc_DocIdPersistId" minOccurs="0"/>
                <xsd:element ref="ns3:bc65155f859f476689f41d2e239f3b65" minOccurs="0"/>
                <xsd:element ref="ns4:k521ff600dac4d78b40e1e44ce493525" minOccurs="0"/>
                <xsd:element ref="ns4:d6c688cd0ee448e4bbaea66e1be015fd" minOccurs="0"/>
                <xsd:element ref="ns4:g2112f02a3d4495984eca02be0a4d37c" minOccurs="0"/>
                <xsd:element ref="ns4:h8a48b2c364f47209a9f385904d38df5"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DocumentSetDescription" ma:index="33" nillable="true" ma:displayName="Description" ma:description="A description of the Document Set" ma:internalName="DocumentSetDescription" ma:readOnly="fals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4c4cd27-f286-408f-9ce0-33c1e0f3ab39" elementFormDefault="qualified">
    <xsd:import namespace="http://schemas.microsoft.com/office/2006/documentManagement/types"/>
    <xsd:import namespace="http://schemas.microsoft.com/office/infopath/2007/PartnerControls"/>
    <xsd:element name="OECDKimStatus" ma:index="7" nillable="true" ma:displayName="Kim status" ma:default="Draft" ma:description="" ma:format="Dropdown" ma:hidden="true" ma:internalName="OECDKimStatus">
      <xsd:simpleType>
        <xsd:restriction base="dms:Choice">
          <xsd:enumeration value="Draft"/>
          <xsd:enumeration value="Final"/>
        </xsd:restriction>
      </xsd:simpleType>
    </xsd:element>
    <xsd:element name="OECDKimProvenance" ma:index="30" nillable="true" ma:displayName="Kim provenance" ma:description="" ma:hidden="true" ma:internalName="OECDKimProvenance">
      <xsd:simpleType>
        <xsd:restriction base="dms:Text"/>
      </xsd:simpleType>
    </xsd:element>
    <xsd:element name="OECDDocumentType" ma:index="36" nillable="true" ma:displayName="Document Type" ma:description="" ma:hidden="true" ma:internalName="OECDDocumentType" ma:readOnly="false">
      <xsd:simpleType>
        <xsd:restriction base="dms:Text"/>
      </xsd:simpleType>
    </xsd:element>
    <xsd:element name="OECDKimBussinessContext" ma:index="37" nillable="true" ma:displayName="Kim business context" ma:description="" ma:hidden="true" ma:internalName="OECDKimBussinessContext">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64847da-6e18-4144-8ad5-5857903e06b6" elementFormDefault="qualified">
    <xsd:import namespace="http://schemas.microsoft.com/office/2006/documentManagement/types"/>
    <xsd:import namespace="http://schemas.microsoft.com/office/infopath/2007/PartnerControls"/>
    <xsd:element name="_dlc_DocId" ma:index="14" nillable="true" ma:displayName="Document ID" ma:description="" ma:hidden="true" ma:internalName="_dlc_DocId" ma:readOnly="true">
      <xsd:simpleType>
        <xsd:restriction base="dms:Text"/>
      </xsd:simpleType>
    </xsd:element>
    <xsd:element name="_dlc_DocIdUrl" ma:index="15" nillable="true" ma:displayName="Document ID" ma:description=""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OECDExpirationDate" ma:index="34" nillable="true" ma:displayName="Highlights" ma:default="" ma:description="" ma:format="DateOnly" ma:indexed="true" ma:internalName="OECDExpirationDate">
      <xsd:simpleType>
        <xsd:restriction base="dms:DateTime"/>
      </xsd:simpleType>
    </xsd:element>
    <xsd:element name="_dlc_DocIdPersistId" ma:index="42" nillable="true" ma:displayName="Persist ID" ma:description="Keep ID on add." ma:hidden="true" ma:internalName="_dlc_DocIdPersistId" ma:readOnly="true">
      <xsd:simpleType>
        <xsd:restriction base="dms:Boolean"/>
      </xsd:simpleType>
    </xsd:element>
    <xsd:element name="bc65155f859f476689f41d2e239f3b65" ma:index="43" nillable="true" ma:taxonomy="true" ma:internalName="bc65155f859f476689f41d2e239f3b65" ma:taxonomyFieldName="OECDHorizontalProjects" ma:displayName="Horizontal project" ma:default="" ma:fieldId="bc65155f-859f-4766-89f4-1d2e239f3b65" ma:taxonomyMulti="true" ma:sspId="27ec883c-a62c-444f-a935-fcddb579e39d" ma:termSetId="d3ca0e0e-65f9-44bf-9d98-5271504f6d61"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b028c3f4-2795-4946-841c-2e1644b148e5" elementFormDefault="qualified">
    <xsd:import namespace="http://schemas.microsoft.com/office/2006/documentManagement/types"/>
    <xsd:import namespace="http://schemas.microsoft.com/office/infopath/2007/PartnerControls"/>
    <xsd:element name="OECDProjectLookup" ma:index="8" ma:displayName="Project" ma:indexed="true" ma:list="8fd64a43-52c7-4b87-a931-a975dc3d108c" ma:internalName="OECDProjectLookup" ma:readOnly="false" ma:showField="OECDShortProjectName" ma:web="b028c3f4-2795-4946-841c-2e1644b148e5">
      <xsd:simpleType>
        <xsd:restriction base="dms:Unknown"/>
      </xsd:simpleType>
    </xsd:element>
    <xsd:element name="OECDProjectManager" ma:index="16" nillable="true" ma:displayName="Project manager" ma:description="" ma:hidden="true" ma:indexed="true" ma:internalName="OECDProjectManage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ECDProjectMembers" ma:index="17" nillable="true" ma:displayName="Project members" ma:description="" ma:hidden="true" ma:internalName="OECDProjectMembers" ma:readOnly="fals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ECDTagsCache" ma:index="19" nillable="true" ma:displayName="Tags cache" ma:description="" ma:hidden="true" ma:internalName="OECDTagsCache">
      <xsd:simpleType>
        <xsd:restriction base="dms:Note">
          <xsd:maxLength value="255"/>
        </xsd:restriction>
      </xsd:simpleType>
    </xsd:element>
    <xsd:element name="OECDPinnedBy" ma:index="20" nillable="true" ma:displayName="Pinned by" ma:description="" ma:hidden="true" ma:internalName="OECDPinnedBy">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ECDMainProject" ma:index="29" nillable="true" ma:displayName="Main project" ma:description="" ma:hidden="true" ma:list="8fd64a43-52c7-4b87-a931-a975dc3d108c" ma:internalName="OECDMainProject" ma:readOnly="false" ma:showField="OECDShortProjectName" ma:web="b028c3f4-2795-4946-841c-2e1644b148e5">
      <xsd:simpleType>
        <xsd:restriction base="dms:Unknown"/>
      </xsd:simpleType>
    </xsd:element>
    <xsd:element name="Project_x003A_ID1" ma:index="39" nillable="true" ma:displayName="Project:ID" ma:list="8fd64a43-52c7-4b87-a931-a975dc3d108c" ma:internalName="Project_x003A_ID1" ma:readOnly="true" ma:showField="ID" ma:web="b028c3f4-2795-4946-841c-2e1644b148e5">
      <xsd:simpleType>
        <xsd:restriction base="dms:Lookup"/>
      </xsd:simpleType>
    </xsd:element>
    <xsd:element name="Project_x003a_Project_x0020_status" ma:index="40" nillable="true" ma:displayName="Project:Project status" ma:hidden="true" ma:list="8fd64a43-52c7-4b87-a931-a975dc3d108c" ma:internalName="Project_x003A_Project_x0020_status" ma:readOnly="true" ma:showField="OECDProjectStatus" ma:web="b028c3f4-2795-4946-841c-2e1644b148e5">
      <xsd:simpleType>
        <xsd:restriction base="dms:Lookup"/>
      </xsd:simpleType>
    </xsd:element>
    <xsd:element name="Project_x003a_ID" ma:index="41" nillable="true" ma:displayName="Project:ID" ma:hidden="true" ma:list="8fd64a43-52c7-4b87-a931-a975dc3d108c" ma:internalName="Project_x003A_ID" ma:readOnly="true" ma:showField="ID" ma:web="b028c3f4-2795-4946-841c-2e1644b148e5">
      <xsd:simpleType>
        <xsd:restriction base="dms:Lookup"/>
      </xsd:simpleType>
    </xsd:element>
    <xsd:element name="k521ff600dac4d78b40e1e44ce493525" ma:index="44" nillable="true" ma:taxonomy="true" ma:internalName="k521ff600dac4d78b40e1e44ce493525" ma:taxonomyFieldName="OECDProjectOwnerStructure" ma:displayName="Project owner" ma:indexed="true" ma:readOnly="false" ma:default="" ma:fieldId="4521ff60-0dac-4d78-b40e-1e44ce493525" ma:sspId="27ec883c-a62c-444f-a935-fcddb579e39d" ma:termSetId="aeec4dcb-19ee-4bc0-941f-681845b568c9" ma:anchorId="00000000-0000-0000-0000-000000000000" ma:open="false" ma:isKeyword="false">
      <xsd:complexType>
        <xsd:sequence>
          <xsd:element ref="pc:Terms" minOccurs="0" maxOccurs="1"/>
        </xsd:sequence>
      </xsd:complexType>
    </xsd:element>
    <xsd:element name="d6c688cd0ee448e4bbaea66e1be015fd" ma:index="45" nillable="true" ma:displayName="Project partners_0" ma:hidden="true" ma:internalName="d6c688cd0ee448e4bbaea66e1be015fd">
      <xsd:simpleType>
        <xsd:restriction base="dms:Note"/>
      </xsd:simpleType>
    </xsd:element>
    <xsd:element name="g2112f02a3d4495984eca02be0a4d37c" ma:index="46" nillable="true" ma:displayName="Deliverable partners_0" ma:hidden="true" ma:internalName="g2112f02a3d4495984eca02be0a4d37c">
      <xsd:simpleType>
        <xsd:restriction base="dms:Note"/>
      </xsd:simpleType>
    </xsd:element>
    <xsd:element name="h8a48b2c364f47209a9f385904d38df5" ma:index="47" nillable="true" ma:displayName="Deliverable owner_0" ma:hidden="true" ma:internalName="h8a48b2c364f47209a9f385904d38df5">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9f238dd-bb73-4aef-a7a5-d644ad823e52" elementFormDefault="qualified">
    <xsd:import namespace="http://schemas.microsoft.com/office/2006/documentManagement/types"/>
    <xsd:import namespace="http://schemas.microsoft.com/office/infopath/2007/PartnerControls"/>
    <xsd:element name="eShareCountryTaxHTField0" ma:index="22" nillable="true" ma:displayName="eShareCountry_0" ma:description="" ma:hidden="true" ma:internalName="eShareCountryTaxHTField0">
      <xsd:simpleType>
        <xsd:restriction base="dms:Note"/>
      </xsd:simpleType>
    </xsd:element>
    <xsd:element name="eShareTopicTaxHTField0" ma:index="23" nillable="true" ma:displayName="eShareTopic_0" ma:description="" ma:hidden="true" ma:internalName="eShareTopicTaxHTField0">
      <xsd:simpleType>
        <xsd:restriction base="dms:Note"/>
      </xsd:simpleType>
    </xsd:element>
    <xsd:element name="eShareKeywordsTaxHTField0" ma:index="24" nillable="true" ma:displayName="eShareKeywords_0" ma:description="" ma:hidden="true" ma:internalName="eShareKeywordsTaxHTField0">
      <xsd:simpleType>
        <xsd:restriction base="dms:Note"/>
      </xsd:simpleType>
    </xsd:element>
    <xsd:element name="eShareCommitteeTaxHTField0" ma:index="25" nillable="true" ma:displayName="eShareCommittee_0" ma:description="" ma:hidden="true" ma:internalName="eShareCommitteeTaxHTField0">
      <xsd:simpleType>
        <xsd:restriction base="dms:Note"/>
      </xsd:simpleType>
    </xsd:element>
    <xsd:element name="eSharePWBTaxHTField0" ma:index="26" nillable="true" ma:displayName="eSharePWB_0" ma:description="" ma:hidden="true" ma:internalName="eSharePWBTaxHTField0">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a82dde9-3436-4d3d-bddd-d31447390034" elementFormDefault="qualified">
    <xsd:import namespace="http://schemas.microsoft.com/office/2006/documentManagement/types"/>
    <xsd:import namespace="http://schemas.microsoft.com/office/infopath/2007/PartnerControls"/>
    <xsd:element name="TaxCatchAll" ma:index="27" nillable="true" ma:displayName="Taxonomy Catch All Column" ma:hidden="true" ma:list="{f238c0b0-3384-41ab-af60-ab39d110a44d}" ma:internalName="TaxCatchAll" ma:showField="CatchAllData" ma:web="464847da-6e18-4144-8ad5-5857903e06b6">
      <xsd:complexType>
        <xsd:complexContent>
          <xsd:extension base="dms:MultiChoiceLookup">
            <xsd:sequence>
              <xsd:element name="Value" type="dms:Lookup" maxOccurs="unbounded" minOccurs="0" nillable="true"/>
            </xsd:sequence>
          </xsd:extension>
        </xsd:complexContent>
      </xsd:complexType>
    </xsd:element>
    <xsd:element name="TaxCatchAllLabel" ma:index="35" nillable="true" ma:displayName="Taxonomy Catch All Column1" ma:hidden="true" ma:list="{f238c0b0-3384-41ab-af60-ab39d110a44d}" ma:internalName="TaxCatchAllLabel" ma:readOnly="true" ma:showField="CatchAllDataLabel" ma:web="464847da-6e18-4144-8ad5-5857903e06b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28"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0" ma:displayName="Content Type"/>
        <xsd:element ref="dc:title" minOccurs="0" maxOccurs="1" ma:index="0"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CtFieldPriority xmlns="http://www.oecd.org/eshare/projectsentre/CtFieldPriority/" xmlns:i="http://www.w3.org/2001/XMLSchema-instance" NameSpaceURI="http://www.oecd.org/eshare/projectsentre/CtFieldPriority/">
  <PriorityFields xmlns:a="http://schemas.microsoft.com/2003/10/Serialization/Arrays">
    <a:string>Title</a:string>
    <a:string>FileLeafRef</a:string>
    <a:string>OECDCountry</a:string>
    <a:string>OECDTopic</a:string>
    <a:string>OECDKeywords</a:string>
  </PriorityFields>
</CtFieldPriority>
</file>

<file path=customXml/item3.xml><?xml version="1.0" encoding="utf-8"?>
<?mso-contentType ?>
<spe:Receivers xmlns:spe="http://schemas.microsoft.com/sharepoint/events"/>
</file>

<file path=customXml/item4.xml><?xml version="1.0" encoding="utf-8"?>
<?mso-contentType ?>
<SharedContentType xmlns="Microsoft.SharePoint.Taxonomy.ContentTypeSync" SourceId="27ec883c-a62c-444f-a935-fcddb579e39d" ContentTypeId="0x0101008B4DD370EC31429186F3AD49F0D3098F00D44DBCB9EB4F45278CB5C9765BE52995" PreviousValue="false"/>
</file>

<file path=customXml/item5.xml><?xml version="1.0" encoding="utf-8"?>
<p:properties xmlns:p="http://schemas.microsoft.com/office/2006/metadata/properties" xmlns:xsi="http://www.w3.org/2001/XMLSchema-instance" xmlns:pc="http://schemas.microsoft.com/office/infopath/2007/PartnerControls">
  <documentManagement>
    <bc65155f859f476689f41d2e239f3b65 xmlns="464847da-6e18-4144-8ad5-5857903e06b6">
      <Terms xmlns="http://schemas.microsoft.com/office/infopath/2007/PartnerControls"/>
    </bc65155f859f476689f41d2e239f3b65>
    <OECDProjectLookup xmlns="b028c3f4-2795-4946-841c-2e1644b148e5">34</OECDProjectLookup>
    <OECDKimBussinessContext xmlns="54c4cd27-f286-408f-9ce0-33c1e0f3ab39" xsi:nil="true"/>
    <eSharePWBTaxHTField0 xmlns="c9f238dd-bb73-4aef-a7a5-d644ad823e52">(n/a)|3adabb5f-45b7-4a20-bdde-219e8d9477af</eSharePWBTaxHTField0>
    <IconOverlay xmlns="http://schemas.microsoft.com/sharepoint/v4" xsi:nil="true"/>
    <DocumentSetDescription xmlns="http://schemas.microsoft.com/sharepoint/v3" xsi:nil="true"/>
    <OECDPinnedBy xmlns="b028c3f4-2795-4946-841c-2e1644b148e5">
      <UserInfo>
        <DisplayName/>
        <AccountId xsi:nil="true"/>
        <AccountType/>
      </UserInfo>
    </OECDPinnedBy>
    <OECDExpirationDate xmlns="464847da-6e18-4144-8ad5-5857903e06b6" xsi:nil="true"/>
    <g2112f02a3d4495984eca02be0a4d37c xmlns="b028c3f4-2795-4946-841c-2e1644b148e5" xsi:nil="true"/>
    <OECDDocumentType xmlns="54c4cd27-f286-408f-9ce0-33c1e0f3ab39" xsi:nil="true"/>
    <d6c688cd0ee448e4bbaea66e1be015fd xmlns="b028c3f4-2795-4946-841c-2e1644b148e5" xsi:nil="true"/>
    <OECDTagsCache xmlns="b028c3f4-2795-4946-841c-2e1644b148e5" xsi:nil="true"/>
    <eShareCommitteeTaxHTField0 xmlns="c9f238dd-bb73-4aef-a7a5-d644ad823e52" xsi:nil="true"/>
    <OECDProjectManager xmlns="b028c3f4-2795-4946-841c-2e1644b148e5">
      <UserInfo>
        <DisplayName/>
        <AccountId>774</AccountId>
        <AccountType/>
      </UserInfo>
    </OECDProjectManager>
    <OECDKimProvenance xmlns="54c4cd27-f286-408f-9ce0-33c1e0f3ab39" xsi:nil="true"/>
    <OECDMainProject xmlns="b028c3f4-2795-4946-841c-2e1644b148e5" xsi:nil="true"/>
    <k521ff600dac4d78b40e1e44ce493525 xmlns="b028c3f4-2795-4946-841c-2e1644b148e5">
      <Terms xmlns="http://schemas.microsoft.com/office/infopath/2007/PartnerControls">
        <TermInfo xmlns="http://schemas.microsoft.com/office/infopath/2007/PartnerControls">
          <TermName xmlns="http://schemas.microsoft.com/office/infopath/2007/PartnerControls">ECO/FO</TermName>
          <TermId xmlns="http://schemas.microsoft.com/office/infopath/2007/PartnerControls">0421869f-dd6d-4a57-aa68-f68dc47925ad</TermId>
        </TermInfo>
      </Terms>
    </k521ff600dac4d78b40e1e44ce493525>
    <OECDKimStatus xmlns="54c4cd27-f286-408f-9ce0-33c1e0f3ab39">Draft</OECDKimStatus>
    <eShareCountryTaxHTField0 xmlns="c9f238dd-bb73-4aef-a7a5-d644ad823e52" xsi:nil="true"/>
    <eShareTopicTaxHTField0 xmlns="c9f238dd-bb73-4aef-a7a5-d644ad823e52">Economic growth|9eba0011-22c6-4045-a791-62556867fb22</eShareTopicTaxHTField0>
    <eShareKeywordsTaxHTField0 xmlns="c9f238dd-bb73-4aef-a7a5-d644ad823e52">Economic Outlook|a9443a1a-b32f-49f3-97a5-13870ae66f90</eShareKeywordsTaxHTField0>
    <OECDProjectMembers xmlns="b028c3f4-2795-4946-841c-2e1644b148e5">
      <UserInfo>
        <DisplayName>MANN Catherine, ECO</DisplayName>
        <AccountId>774</AccountId>
        <AccountType/>
      </UserInfo>
      <UserInfo>
        <DisplayName>GUICHARD Stéphanie, ECO</DisplayName>
        <AccountId>229</AccountId>
        <AccountType/>
      </UserInfo>
      <UserInfo>
        <DisplayName>BARNES Sebastian, ECO</DisplayName>
        <AccountId>116</AccountId>
        <AccountType/>
      </UserInfo>
      <UserInfo>
        <DisplayName>BARNARD Geoff, ECO</DisplayName>
        <AccountId>142</AccountId>
        <AccountType/>
      </UserInfo>
      <UserInfo>
        <DisplayName>ELGHADAB Penny, ECO</DisplayName>
        <AccountId>83</AccountId>
        <AccountType/>
      </UserInfo>
      <UserInfo>
        <DisplayName>PURTELL Susan, ECO</DisplayName>
        <AccountId>71</AccountId>
        <AccountType/>
      </UserInfo>
      <UserInfo>
        <DisplayName>MENKYNA Fusako, ECO</DisplayName>
        <AccountId>478</AccountId>
        <AccountType/>
      </UserInfo>
      <UserInfo>
        <DisplayName>STOKLE Wendy, ECO</DisplayName>
        <AccountId>65</AccountId>
        <AccountType/>
      </UserInfo>
    </OECDProjectMembers>
    <TaxCatchAll xmlns="ca82dde9-3436-4d3d-bddd-d31447390034">
      <Value>43</Value>
      <Value>314</Value>
      <Value>399</Value>
      <Value>407</Value>
    </TaxCatchAll>
    <h8a48b2c364f47209a9f385904d38df5 xmlns="b028c3f4-2795-4946-841c-2e1644b148e5" xsi:nil="true"/>
  </documentManagement>
</p:properties>
</file>

<file path=customXml/item6.xml><?xml version="1.0" encoding="utf-8"?>
<?mso-contentType ?>
<FormTemplates xmlns="http://schemas.microsoft.com/sharepoint/v3/contenttype/forms">
  <Display>OECDListFormCollapsible</Display>
  <Edit>OECDListFormCollapsible</Edit>
  <New>OECDListFormCollapsible</New>
</FormTemplates>
</file>

<file path=customXml/itemProps1.xml><?xml version="1.0" encoding="utf-8"?>
<ds:datastoreItem xmlns:ds="http://schemas.openxmlformats.org/officeDocument/2006/customXml" ds:itemID="{4991A6FE-5E0A-4F82-A1EC-3DDFDB13A2F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4c4cd27-f286-408f-9ce0-33c1e0f3ab39"/>
    <ds:schemaRef ds:uri="464847da-6e18-4144-8ad5-5857903e06b6"/>
    <ds:schemaRef ds:uri="b028c3f4-2795-4946-841c-2e1644b148e5"/>
    <ds:schemaRef ds:uri="c9f238dd-bb73-4aef-a7a5-d644ad823e52"/>
    <ds:schemaRef ds:uri="ca82dde9-3436-4d3d-bddd-d31447390034"/>
    <ds:schemaRef ds:uri="http://schemas.microsoft.com/sharepoint/v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57D3AFC-6D8E-4A5F-8C17-C5F4174B9291}">
  <ds:schemaRefs>
    <ds:schemaRef ds:uri="http://www.oecd.org/eshare/projectsentre/CtFieldPriority/"/>
    <ds:schemaRef ds:uri="http://schemas.microsoft.com/2003/10/Serialization/Arrays"/>
  </ds:schemaRefs>
</ds:datastoreItem>
</file>

<file path=customXml/itemProps3.xml><?xml version="1.0" encoding="utf-8"?>
<ds:datastoreItem xmlns:ds="http://schemas.openxmlformats.org/officeDocument/2006/customXml" ds:itemID="{BFE38C3E-D15A-4F60-97F7-250E70E1EA31}">
  <ds:schemaRefs>
    <ds:schemaRef ds:uri="http://schemas.microsoft.com/sharepoint/events"/>
  </ds:schemaRefs>
</ds:datastoreItem>
</file>

<file path=customXml/itemProps4.xml><?xml version="1.0" encoding="utf-8"?>
<ds:datastoreItem xmlns:ds="http://schemas.openxmlformats.org/officeDocument/2006/customXml" ds:itemID="{FD206EC9-3D5A-4486-AF89-FC69493CBCE0}">
  <ds:schemaRefs>
    <ds:schemaRef ds:uri="Microsoft.SharePoint.Taxonomy.ContentTypeSync"/>
  </ds:schemaRefs>
</ds:datastoreItem>
</file>

<file path=customXml/itemProps5.xml><?xml version="1.0" encoding="utf-8"?>
<ds:datastoreItem xmlns:ds="http://schemas.openxmlformats.org/officeDocument/2006/customXml" ds:itemID="{C09397EE-C9A3-4290-85EF-2ACE6E5A9E27}">
  <ds:schemaRefs>
    <ds:schemaRef ds:uri="http://schemas.microsoft.com/office/2006/documentManagement/types"/>
    <ds:schemaRef ds:uri="http://schemas.microsoft.com/office/infopath/2007/PartnerControls"/>
    <ds:schemaRef ds:uri="http://schemas.openxmlformats.org/package/2006/metadata/core-properties"/>
    <ds:schemaRef ds:uri="54c4cd27-f286-408f-9ce0-33c1e0f3ab39"/>
    <ds:schemaRef ds:uri="http://schemas.microsoft.com/office/2006/metadata/properties"/>
    <ds:schemaRef ds:uri="http://purl.org/dc/elements/1.1/"/>
    <ds:schemaRef ds:uri="464847da-6e18-4144-8ad5-5857903e06b6"/>
    <ds:schemaRef ds:uri="b028c3f4-2795-4946-841c-2e1644b148e5"/>
    <ds:schemaRef ds:uri="http://schemas.microsoft.com/sharepoint/v4"/>
    <ds:schemaRef ds:uri="ca82dde9-3436-4d3d-bddd-d31447390034"/>
    <ds:schemaRef ds:uri="http://www.w3.org/XML/1998/namespace"/>
    <ds:schemaRef ds:uri="http://purl.org/dc/terms/"/>
    <ds:schemaRef ds:uri="c9f238dd-bb73-4aef-a7a5-d644ad823e52"/>
    <ds:schemaRef ds:uri="http://schemas.microsoft.com/sharepoint/v3"/>
    <ds:schemaRef ds:uri="http://purl.org/dc/dcmitype/"/>
  </ds:schemaRefs>
</ds:datastoreItem>
</file>

<file path=customXml/itemProps6.xml><?xml version="1.0" encoding="utf-8"?>
<ds:datastoreItem xmlns:ds="http://schemas.openxmlformats.org/officeDocument/2006/customXml" ds:itemID="{003DD83D-4AB0-4B12-ADA5-F949E8BC24F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OECD_English_white</Template>
  <TotalTime>29205</TotalTime>
  <Words>1189</Words>
  <Application>Microsoft Office PowerPoint</Application>
  <PresentationFormat>On-screen Show (4:3)</PresentationFormat>
  <Paragraphs>187</Paragraphs>
  <Slides>23</Slides>
  <Notes>12</Notes>
  <HiddenSlides>0</HiddenSlides>
  <MMClips>0</MMClips>
  <ScaleCrop>false</ScaleCrop>
  <HeadingPairs>
    <vt:vector size="4" baseType="variant">
      <vt:variant>
        <vt:lpstr>Theme</vt:lpstr>
      </vt:variant>
      <vt:variant>
        <vt:i4>2</vt:i4>
      </vt:variant>
      <vt:variant>
        <vt:lpstr>Slide Titles</vt:lpstr>
      </vt:variant>
      <vt:variant>
        <vt:i4>23</vt:i4>
      </vt:variant>
    </vt:vector>
  </HeadingPairs>
  <TitlesOfParts>
    <vt:vector size="25" baseType="lpstr">
      <vt:lpstr>OECD_English_white</vt:lpstr>
      <vt:lpstr>1_OECD_English_white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Job losses have centred on  people with mid-level skills</vt:lpstr>
      <vt:lpstr>PowerPoint Presentation</vt:lpstr>
      <vt:lpstr>Manufacturing job losses and role for  Technology &amp; Consumer Preferences vs Trade</vt:lpstr>
      <vt:lpstr>Decline in manufacturing matters because activity is regionally concentrated</vt:lpstr>
      <vt:lpstr>Countries with larger falls in manufacturing jobs have increased regional inequality</vt:lpstr>
      <vt:lpstr>PowerPoint Presentation</vt:lpstr>
      <vt:lpstr>PowerPoint Presentation</vt:lpstr>
      <vt:lpstr>PowerPoint Presentation</vt:lpstr>
      <vt:lpstr>PowerPoint Presentation</vt:lpstr>
      <vt:lpstr>PowerPoint Presentation</vt:lpstr>
    </vt:vector>
  </TitlesOfParts>
  <Company>OECD</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MENKYNA Fusako</dc:creator>
  <cp:lastModifiedBy>ELGHADAB Penny</cp:lastModifiedBy>
  <cp:revision>1565</cp:revision>
  <cp:lastPrinted>2017-06-02T15:04:18Z</cp:lastPrinted>
  <dcterms:created xsi:type="dcterms:W3CDTF">2015-02-27T14:51:11Z</dcterms:created>
  <dcterms:modified xsi:type="dcterms:W3CDTF">2017-06-07T07:23:31Z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0x0101008B4DD370EC31429186F3AD49F0D3098F00D44DBCB9EB4F45278CB5C9765BE5299500A4858B360C6A491AA753F8BCA47AA91000293773D153AD3C41920164F348570E54</vt:lpwstr>
  </property>
  <property fmtid="{D5CDD505-2E9C-101B-9397-08002B2CF9AE}" pid="3" name="OECDProjectOwnerStructure">
    <vt:lpwstr>407;#ECO/FO|0421869f-dd6d-4a57-aa68-f68dc47925ad</vt:lpwstr>
  </property>
  <property fmtid="{D5CDD505-2E9C-101B-9397-08002B2CF9AE}" pid="4" name="OECDProjectPageLink">
    <vt:lpwstr>8830</vt:lpwstr>
  </property>
  <property fmtid="{D5CDD505-2E9C-101B-9397-08002B2CF9AE}" pid="5" name="OECDCountry">
    <vt:lpwstr/>
  </property>
  <property fmtid="{D5CDD505-2E9C-101B-9397-08002B2CF9AE}" pid="6" name="OECDTopic">
    <vt:lpwstr>399;#Economic growth|9eba0011-22c6-4045-a791-62556867fb22</vt:lpwstr>
  </property>
  <property fmtid="{D5CDD505-2E9C-101B-9397-08002B2CF9AE}" pid="7" name="OECDCommittee">
    <vt:lpwstr/>
  </property>
  <property fmtid="{D5CDD505-2E9C-101B-9397-08002B2CF9AE}" pid="8" name="OECDProjectPartnersStructure">
    <vt:lpwstr/>
  </property>
  <property fmtid="{D5CDD505-2E9C-101B-9397-08002B2CF9AE}" pid="9" name="OECDPWB">
    <vt:lpwstr>43;#(n/a)|3adabb5f-45b7-4a20-bdde-219e8d9477af</vt:lpwstr>
  </property>
  <property fmtid="{D5CDD505-2E9C-101B-9397-08002B2CF9AE}" pid="10" name="OECDKeywords">
    <vt:lpwstr>314;#Economic Outlook|a9443a1a-b32f-49f3-97a5-13870ae66f90</vt:lpwstr>
  </property>
  <property fmtid="{D5CDD505-2E9C-101B-9397-08002B2CF9AE}" pid="11" name="eShareOrganisationTaxHTField0">
    <vt:lpwstr/>
  </property>
  <property fmtid="{D5CDD505-2E9C-101B-9397-08002B2CF9AE}" pid="12" name="OECDHorizontalProjects">
    <vt:lpwstr/>
  </property>
  <property fmtid="{D5CDD505-2E9C-101B-9397-08002B2CF9AE}" pid="13" name="OECDProject">
    <vt:lpwstr/>
  </property>
  <property fmtid="{D5CDD505-2E9C-101B-9397-08002B2CF9AE}" pid="14" name="d0b6f6ac229144c2899590f0436d9385">
    <vt:lpwstr/>
  </property>
  <property fmtid="{D5CDD505-2E9C-101B-9397-08002B2CF9AE}" pid="15" name="OECDOrganisation">
    <vt:lpwstr/>
  </property>
</Properties>
</file>