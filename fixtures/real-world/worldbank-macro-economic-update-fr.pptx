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5.xml" ContentType="application/vnd.openxmlformats-officedocument.drawingml.chartshape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6.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7.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8.xml" ContentType="application/vnd.openxmlformats-officedocument.drawingml.chartshape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1" r:id="rId1"/>
  </p:sldMasterIdLst>
  <p:notesMasterIdLst>
    <p:notesMasterId r:id="rId24"/>
  </p:notesMasterIdLst>
  <p:sldIdLst>
    <p:sldId id="256" r:id="rId2"/>
    <p:sldId id="365" r:id="rId3"/>
    <p:sldId id="358" r:id="rId4"/>
    <p:sldId id="350" r:id="rId5"/>
    <p:sldId id="363" r:id="rId6"/>
    <p:sldId id="326" r:id="rId7"/>
    <p:sldId id="359" r:id="rId8"/>
    <p:sldId id="360" r:id="rId9"/>
    <p:sldId id="330" r:id="rId10"/>
    <p:sldId id="362" r:id="rId11"/>
    <p:sldId id="351" r:id="rId12"/>
    <p:sldId id="352" r:id="rId13"/>
    <p:sldId id="321" r:id="rId14"/>
    <p:sldId id="354" r:id="rId15"/>
    <p:sldId id="355" r:id="rId16"/>
    <p:sldId id="356" r:id="rId17"/>
    <p:sldId id="357" r:id="rId18"/>
    <p:sldId id="341" r:id="rId19"/>
    <p:sldId id="342" r:id="rId20"/>
    <p:sldId id="364" r:id="rId21"/>
    <p:sldId id="343" r:id="rId22"/>
    <p:sldId id="3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a V. Gatti" initials="RVG" lastIdx="5" clrIdx="0">
    <p:extLst>
      <p:ext uri="{19B8F6BF-5375-455C-9EA6-DF929625EA0E}">
        <p15:presenceInfo xmlns:p15="http://schemas.microsoft.com/office/powerpoint/2012/main" userId="S::rgatti@worldbank.org::4669a211-9409-462c-a5ba-744e608e5075" providerId="AD"/>
      </p:ext>
    </p:extLst>
  </p:cmAuthor>
  <p:cmAuthor id="2" name="Daniel Lederman" initials="DL" lastIdx="3" clrIdx="1">
    <p:extLst>
      <p:ext uri="{19B8F6BF-5375-455C-9EA6-DF929625EA0E}">
        <p15:presenceInfo xmlns:p15="http://schemas.microsoft.com/office/powerpoint/2012/main" userId="S::dlederman@worldbank.org::1717aa51-3143-4b6e-925f-5e4be8b8c4a8" providerId="AD"/>
      </p:ext>
    </p:extLst>
  </p:cmAuthor>
  <p:cmAuthor id="3" name="Rachel Yuting Fan" initials="RF" lastIdx="1" clrIdx="2">
    <p:extLst>
      <p:ext uri="{19B8F6BF-5375-455C-9EA6-DF929625EA0E}">
        <p15:presenceInfo xmlns:p15="http://schemas.microsoft.com/office/powerpoint/2012/main" userId="S::yfan3@worldbank.org::66e14fa4-6725-4ae8-b1dc-83dd4e77b6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B500"/>
    <a:srgbClr val="3333FF"/>
    <a:srgbClr val="ED7D31"/>
    <a:srgbClr val="CB605D"/>
    <a:srgbClr val="2F5597"/>
    <a:srgbClr val="196491"/>
    <a:srgbClr val="4472C4"/>
    <a:srgbClr val="19A5BE"/>
    <a:srgbClr val="0587AF"/>
    <a:srgbClr val="3E76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7D7A0-5EF6-4CD7-8DCD-B950BE6510C8}" v="287" dt="2021-04-13T21:46:32.608"/>
    <p1510:client id="{FEB0873D-DF27-44DD-8110-6D0DD2789106}" v="63" dt="2021-04-14T20:43:29.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372" autoAdjust="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16/Remaining%20charts/Figure%20I.2%20GDP%20Levels%20Forecast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worldbankgroup-my.sharepoint.com/personal/dlederman_worldbank_org/Documents/MNACE/Macro/MNA%20Regional%20projection%20SM2021.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25/charts%20and%20tables/Figure%20I.6.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5.xml"/></Relationships>
</file>

<file path=ppt/charts/_rels/chart7.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Charts/Debt%20and%20Growth%20around%20the%20onset%20of%20ND%20-%20Charts%20in%20Excel%20-%20Feb%2015%202021.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0.11268079599780198"/>
          <c:w val="0.90074412597077791"/>
          <c:h val="0.64741019330936822"/>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6BAB-4F75-B55F-1AC2B8DF0E5E}"/>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6BAB-4F75-B55F-1AC2B8DF0E5E}"/>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25811407720377E-2"/>
          <c:y val="0.12710355158550823"/>
          <c:w val="0.90074412597077791"/>
          <c:h val="0.59066819772528434"/>
        </c:manualLayout>
      </c:layout>
      <c:lineChart>
        <c:grouping val="standard"/>
        <c:varyColors val="0"/>
        <c:ser>
          <c:idx val="1"/>
          <c:order val="0"/>
          <c:tx>
            <c:strRef>
              <c:f>Chart!$C$12</c:f>
              <c:strCache>
                <c:ptCount val="1"/>
                <c:pt idx="0">
                  <c:v>MENA (Pandemic)</c:v>
                </c:pt>
              </c:strCache>
            </c:strRef>
          </c:tx>
          <c:spPr>
            <a:ln w="28575" cap="rnd">
              <a:solidFill>
                <a:schemeClr val="tx1">
                  <a:lumMod val="85000"/>
                  <a:lumOff val="15000"/>
                </a:schemeClr>
              </a:solidFill>
              <a:prstDash val="solid"/>
              <a:round/>
            </a:ln>
            <a:effectLst/>
          </c:spPr>
          <c:marker>
            <c:symbol val="none"/>
          </c:marker>
          <c:cat>
            <c:numRef>
              <c:f>Chart!$D$2:$F$2</c:f>
              <c:numCache>
                <c:formatCode>General</c:formatCode>
                <c:ptCount val="3"/>
                <c:pt idx="0">
                  <c:v>2019</c:v>
                </c:pt>
                <c:pt idx="1">
                  <c:v>2020</c:v>
                </c:pt>
                <c:pt idx="2">
                  <c:v>2021</c:v>
                </c:pt>
              </c:numCache>
            </c:numRef>
          </c:cat>
          <c:val>
            <c:numRef>
              <c:f>Chart!$D$12:$F$12</c:f>
              <c:numCache>
                <c:formatCode>0.00</c:formatCode>
                <c:ptCount val="3"/>
                <c:pt idx="0" formatCode="General">
                  <c:v>1</c:v>
                </c:pt>
                <c:pt idx="1">
                  <c:v>0.96171929121017452</c:v>
                </c:pt>
                <c:pt idx="2">
                  <c:v>0.98323631076857831</c:v>
                </c:pt>
              </c:numCache>
            </c:numRef>
          </c:val>
          <c:smooth val="0"/>
          <c:extLst>
            <c:ext xmlns:c16="http://schemas.microsoft.com/office/drawing/2014/chart" uri="{C3380CC4-5D6E-409C-BE32-E72D297353CC}">
              <c16:uniqueId val="{00000000-2B98-4321-B705-84ACEF110239}"/>
            </c:ext>
          </c:extLst>
        </c:ser>
        <c:ser>
          <c:idx val="0"/>
          <c:order val="1"/>
          <c:tx>
            <c:strRef>
              <c:f>Chart!$C$11</c:f>
              <c:strCache>
                <c:ptCount val="1"/>
                <c:pt idx="0">
                  <c:v>MENA (No Pandemic)</c:v>
                </c:pt>
              </c:strCache>
            </c:strRef>
          </c:tx>
          <c:spPr>
            <a:ln w="28575" cap="rnd">
              <a:solidFill>
                <a:schemeClr val="tx1">
                  <a:lumMod val="85000"/>
                  <a:lumOff val="15000"/>
                </a:schemeClr>
              </a:solidFill>
              <a:prstDash val="sysDot"/>
              <a:round/>
            </a:ln>
            <a:effectLst/>
          </c:spPr>
          <c:marker>
            <c:symbol val="none"/>
          </c:marker>
          <c:cat>
            <c:numRef>
              <c:f>Chart!$D$2:$F$2</c:f>
              <c:numCache>
                <c:formatCode>General</c:formatCode>
                <c:ptCount val="3"/>
                <c:pt idx="0">
                  <c:v>2019</c:v>
                </c:pt>
                <c:pt idx="1">
                  <c:v>2020</c:v>
                </c:pt>
                <c:pt idx="2">
                  <c:v>2021</c:v>
                </c:pt>
              </c:numCache>
            </c:numRef>
          </c:cat>
          <c:val>
            <c:numRef>
              <c:f>Chart!$D$11:$F$11</c:f>
              <c:numCache>
                <c:formatCode>0.00</c:formatCode>
                <c:ptCount val="3"/>
                <c:pt idx="0" formatCode="General">
                  <c:v>1</c:v>
                </c:pt>
                <c:pt idx="1">
                  <c:v>1.0261292386054992</c:v>
                </c:pt>
                <c:pt idx="2">
                  <c:v>1.0556341166000847</c:v>
                </c:pt>
              </c:numCache>
            </c:numRef>
          </c:val>
          <c:smooth val="0"/>
          <c:extLst>
            <c:ext xmlns:c16="http://schemas.microsoft.com/office/drawing/2014/chart" uri="{C3380CC4-5D6E-409C-BE32-E72D297353CC}">
              <c16:uniqueId val="{00000001-2B98-4321-B705-84ACEF11023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8.5735402808573544E-2"/>
          <c:y val="0.83392292325099115"/>
          <c:w val="0.82657494864139769"/>
          <c:h val="5.9435120363723865E-2"/>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7052931529792159"/>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E083-4420-80D3-F6A015A0B9F9}"/>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E083-4420-80D3-F6A015A0B9F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4952350392614244"/>
        </c:manualLayout>
      </c:layout>
      <c:lineChart>
        <c:grouping val="standard"/>
        <c:varyColors val="0"/>
        <c:ser>
          <c:idx val="3"/>
          <c:order val="0"/>
          <c:tx>
            <c:strRef>
              <c:f>'Chart_GDPPC (2)'!$C$17</c:f>
              <c:strCache>
                <c:ptCount val="1"/>
                <c:pt idx="0">
                  <c:v>GCC (Pandemic)</c:v>
                </c:pt>
              </c:strCache>
            </c:strRef>
          </c:tx>
          <c:spPr>
            <a:ln w="28575" cap="rnd">
              <a:solidFill>
                <a:srgbClr val="0000FF"/>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(2)'!$H$17:$J$17</c:f>
              <c:numCache>
                <c:formatCode>0.00</c:formatCode>
                <c:ptCount val="3"/>
                <c:pt idx="0" formatCode="General">
                  <c:v>1</c:v>
                </c:pt>
                <c:pt idx="1">
                  <c:v>0.93650959999999994</c:v>
                </c:pt>
                <c:pt idx="2">
                  <c:v>0.94243882957951997</c:v>
                </c:pt>
              </c:numCache>
            </c:numRef>
          </c:val>
          <c:smooth val="0"/>
          <c:extLst>
            <c:ext xmlns:c16="http://schemas.microsoft.com/office/drawing/2014/chart" uri="{C3380CC4-5D6E-409C-BE32-E72D297353CC}">
              <c16:uniqueId val="{00000000-3664-4EFC-8F32-30FED89B15B1}"/>
            </c:ext>
          </c:extLst>
        </c:ser>
        <c:ser>
          <c:idx val="0"/>
          <c:order val="1"/>
          <c:tx>
            <c:strRef>
              <c:f>'Chart_GDPPC (2)'!$C$14</c:f>
              <c:strCache>
                <c:ptCount val="1"/>
                <c:pt idx="0">
                  <c:v>GCC(No Pandemic)</c:v>
                </c:pt>
              </c:strCache>
            </c:strRef>
          </c:tx>
          <c:spPr>
            <a:ln w="28575" cap="rnd">
              <a:solidFill>
                <a:srgbClr val="0000FF"/>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(2)'!$H$14:$J$14</c:f>
              <c:numCache>
                <c:formatCode>0.00</c:formatCode>
                <c:ptCount val="3"/>
                <c:pt idx="0" formatCode="General">
                  <c:v>1</c:v>
                </c:pt>
                <c:pt idx="1">
                  <c:v>1.0044674</c:v>
                </c:pt>
                <c:pt idx="2">
                  <c:v>1.0149573543984201</c:v>
                </c:pt>
              </c:numCache>
            </c:numRef>
          </c:val>
          <c:smooth val="0"/>
          <c:extLst>
            <c:ext xmlns:c16="http://schemas.microsoft.com/office/drawing/2014/chart" uri="{C3380CC4-5D6E-409C-BE32-E72D297353CC}">
              <c16:uniqueId val="{00000001-3664-4EFC-8F32-30FED89B15B1}"/>
            </c:ext>
          </c:extLst>
        </c:ser>
        <c:ser>
          <c:idx val="4"/>
          <c:order val="2"/>
          <c:tx>
            <c:strRef>
              <c:f>'Chart_GDPPC (2)'!$C$18</c:f>
              <c:strCache>
                <c:ptCount val="1"/>
                <c:pt idx="0">
                  <c:v>Developing Oil Exporters(Pandemic)</c:v>
                </c:pt>
              </c:strCache>
            </c:strRef>
          </c:tx>
          <c:spPr>
            <a:ln w="28575" cap="rnd">
              <a:solidFill>
                <a:srgbClr val="FFC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(2)'!$H$18:$J$18</c:f>
              <c:numCache>
                <c:formatCode>0.00</c:formatCode>
                <c:ptCount val="3"/>
                <c:pt idx="0" formatCode="General">
                  <c:v>1</c:v>
                </c:pt>
                <c:pt idx="1">
                  <c:v>0.94933089999999998</c:v>
                </c:pt>
                <c:pt idx="2">
                  <c:v>0.95489739666524009</c:v>
                </c:pt>
              </c:numCache>
            </c:numRef>
          </c:val>
          <c:smooth val="0"/>
          <c:extLst>
            <c:ext xmlns:c16="http://schemas.microsoft.com/office/drawing/2014/chart" uri="{C3380CC4-5D6E-409C-BE32-E72D297353CC}">
              <c16:uniqueId val="{00000002-3664-4EFC-8F32-30FED89B15B1}"/>
            </c:ext>
          </c:extLst>
        </c:ser>
        <c:ser>
          <c:idx val="1"/>
          <c:order val="3"/>
          <c:tx>
            <c:strRef>
              <c:f>'Chart_GDPPC (2)'!$C$15</c:f>
              <c:strCache>
                <c:ptCount val="1"/>
                <c:pt idx="0">
                  <c:v>Developing Oil Exporters(No Pandemic)</c:v>
                </c:pt>
              </c:strCache>
            </c:strRef>
          </c:tx>
          <c:spPr>
            <a:ln w="28575" cap="rnd">
              <a:solidFill>
                <a:schemeClr val="accent2"/>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(2)'!$H$15:$J$15</c:f>
              <c:numCache>
                <c:formatCode>0.00</c:formatCode>
                <c:ptCount val="3"/>
                <c:pt idx="0" formatCode="General">
                  <c:v>1</c:v>
                </c:pt>
                <c:pt idx="1">
                  <c:v>1.0011833999999999</c:v>
                </c:pt>
                <c:pt idx="2">
                  <c:v>1.0013826354966</c:v>
                </c:pt>
              </c:numCache>
            </c:numRef>
          </c:val>
          <c:smooth val="0"/>
          <c:extLst>
            <c:ext xmlns:c16="http://schemas.microsoft.com/office/drawing/2014/chart" uri="{C3380CC4-5D6E-409C-BE32-E72D297353CC}">
              <c16:uniqueId val="{00000003-3664-4EFC-8F32-30FED89B15B1}"/>
            </c:ext>
          </c:extLst>
        </c:ser>
        <c:ser>
          <c:idx val="5"/>
          <c:order val="4"/>
          <c:tx>
            <c:strRef>
              <c:f>'Chart_GDPPC (2)'!$C$19</c:f>
              <c:strCache>
                <c:ptCount val="1"/>
                <c:pt idx="0">
                  <c:v>Developing Oil Importers(Pandemic)</c:v>
                </c:pt>
              </c:strCache>
            </c:strRef>
          </c:tx>
          <c:spPr>
            <a:ln w="28575" cap="rnd">
              <a:solidFill>
                <a:srgbClr val="FF0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(2)'!$H$19:$J$19</c:f>
              <c:numCache>
                <c:formatCode>0.00</c:formatCode>
                <c:ptCount val="3"/>
                <c:pt idx="0" formatCode="General">
                  <c:v>1</c:v>
                </c:pt>
                <c:pt idx="1">
                  <c:v>0.96993750000000001</c:v>
                </c:pt>
                <c:pt idx="2">
                  <c:v>0.97470115404375002</c:v>
                </c:pt>
              </c:numCache>
            </c:numRef>
          </c:val>
          <c:smooth val="0"/>
          <c:extLst>
            <c:ext xmlns:c16="http://schemas.microsoft.com/office/drawing/2014/chart" uri="{C3380CC4-5D6E-409C-BE32-E72D297353CC}">
              <c16:uniqueId val="{00000004-3664-4EFC-8F32-30FED89B15B1}"/>
            </c:ext>
          </c:extLst>
        </c:ser>
        <c:ser>
          <c:idx val="2"/>
          <c:order val="5"/>
          <c:tx>
            <c:strRef>
              <c:f>'Chart_GDPPC (2)'!$C$16</c:f>
              <c:strCache>
                <c:ptCount val="1"/>
                <c:pt idx="0">
                  <c:v>Developing Oil Importers(No Pandemic)</c:v>
                </c:pt>
              </c:strCache>
            </c:strRef>
          </c:tx>
          <c:spPr>
            <a:ln w="28575" cap="rnd">
              <a:solidFill>
                <a:srgbClr val="FF0000"/>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(2)'!$H$16:$J$16</c:f>
              <c:numCache>
                <c:formatCode>0.00</c:formatCode>
                <c:ptCount val="3"/>
                <c:pt idx="0" formatCode="General">
                  <c:v>1</c:v>
                </c:pt>
                <c:pt idx="1">
                  <c:v>1.028662</c:v>
                </c:pt>
                <c:pt idx="2">
                  <c:v>1.0608815454315998</c:v>
                </c:pt>
              </c:numCache>
            </c:numRef>
          </c:val>
          <c:smooth val="0"/>
          <c:extLst>
            <c:ext xmlns:c16="http://schemas.microsoft.com/office/drawing/2014/chart" uri="{C3380CC4-5D6E-409C-BE32-E72D297353CC}">
              <c16:uniqueId val="{00000005-3664-4EFC-8F32-30FED89B15B1}"/>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77196428098854863"/>
          <c:w val="1"/>
          <c:h val="0.22803571901145139"/>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n-US"/>
              <a:t>FR: Projected Poverty (below $5.5/day)</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'MNA Number of Poor MPO SM2021'!$B$2</c:f>
              <c:strCache>
                <c:ptCount val="1"/>
                <c:pt idx="0">
                  <c:v>Without Covid Crisis</c:v>
                </c:pt>
              </c:strCache>
            </c:strRef>
          </c:tx>
          <c:spPr>
            <a:ln w="25400" cap="rnd">
              <a:solidFill>
                <a:schemeClr val="tx2"/>
              </a:solidFill>
              <a:round/>
            </a:ln>
            <a:effectLst/>
          </c:spPr>
          <c:marker>
            <c:symbol val="none"/>
          </c:marker>
          <c:dLbls>
            <c:dLbl>
              <c:idx val="2"/>
              <c:layout>
                <c:manualLayout>
                  <c:x val="-7.7881619937694704E-3"/>
                  <c:y val="-3.72815579581448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SM2021'!$B$14:$B$16</c:f>
              <c:numCache>
                <c:formatCode>0</c:formatCode>
                <c:ptCount val="3"/>
                <c:pt idx="0">
                  <c:v>176</c:v>
                </c:pt>
                <c:pt idx="1">
                  <c:v>177.05680000000001</c:v>
                </c:pt>
                <c:pt idx="2">
                  <c:v>177.77209999999999</c:v>
                </c:pt>
              </c:numCache>
            </c:numRef>
          </c:val>
          <c:smooth val="0"/>
          <c:extLst>
            <c:ext xmlns:c16="http://schemas.microsoft.com/office/drawing/2014/chart" uri="{C3380CC4-5D6E-409C-BE32-E72D297353CC}">
              <c16:uniqueId val="{00000001-4283-4B1E-B7E2-8C24C3A405BD}"/>
            </c:ext>
          </c:extLst>
        </c:ser>
        <c:ser>
          <c:idx val="2"/>
          <c:order val="1"/>
          <c:tx>
            <c:strRef>
              <c:f>'MNA Number of Poor MPO SM2021'!$C$2</c:f>
              <c:strCache>
                <c:ptCount val="1"/>
                <c:pt idx="0">
                  <c:v>Apr-21</c:v>
                </c:pt>
              </c:strCache>
            </c:strRef>
          </c:tx>
          <c:spPr>
            <a:ln w="28575" cap="rnd">
              <a:solidFill>
                <a:srgbClr val="FF0000"/>
              </a:solidFill>
              <a:round/>
            </a:ln>
            <a:effectLst/>
          </c:spPr>
          <c:marker>
            <c:symbol val="none"/>
          </c:marker>
          <c:dLbls>
            <c:dLbl>
              <c:idx val="2"/>
              <c:layout>
                <c:manualLayout>
                  <c:x val="0"/>
                  <c:y val="5.12621421924491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SM2021'!$C$14:$C$16</c:f>
              <c:numCache>
                <c:formatCode>0</c:formatCode>
                <c:ptCount val="3"/>
                <c:pt idx="0">
                  <c:v>176</c:v>
                </c:pt>
                <c:pt idx="1">
                  <c:v>189.38800000000001</c:v>
                </c:pt>
                <c:pt idx="2">
                  <c:v>192</c:v>
                </c:pt>
              </c:numCache>
            </c:numRef>
          </c:val>
          <c:smooth val="0"/>
          <c:extLst>
            <c:ext xmlns:c16="http://schemas.microsoft.com/office/drawing/2014/chart" uri="{C3380CC4-5D6E-409C-BE32-E72D297353CC}">
              <c16:uniqueId val="{00000003-4283-4B1E-B7E2-8C24C3A405BD}"/>
            </c:ext>
          </c:extLst>
        </c:ser>
        <c:dLbls>
          <c:showLegendKey val="0"/>
          <c:showVal val="0"/>
          <c:showCatName val="0"/>
          <c:showSerName val="0"/>
          <c:showPercent val="0"/>
          <c:showBubbleSize val="0"/>
        </c:dLbls>
        <c:smooth val="0"/>
        <c:axId val="2073196911"/>
        <c:axId val="2084462927"/>
      </c:lineChart>
      <c:catAx>
        <c:axId val="2073196911"/>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84462927"/>
        <c:crosses val="autoZero"/>
        <c:auto val="1"/>
        <c:lblAlgn val="ctr"/>
        <c:lblOffset val="100"/>
        <c:noMultiLvlLbl val="0"/>
      </c:catAx>
      <c:valAx>
        <c:axId val="2084462927"/>
        <c:scaling>
          <c:orientation val="minMax"/>
          <c:max val="200"/>
          <c:min val="1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FR: Number of poor people</a:t>
                </a:r>
              </a:p>
              <a:p>
                <a:pPr>
                  <a:defRPr/>
                </a:pPr>
                <a:r>
                  <a:rPr lang="en-US"/>
                  <a:t>FR:  (millions) </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7319691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16668973258148E-2"/>
          <c:y val="4.858627550588434E-2"/>
          <c:w val="0.88837722506045158"/>
          <c:h val="0.7594238911090887"/>
        </c:manualLayout>
      </c:layout>
      <c:barChart>
        <c:barDir val="col"/>
        <c:grouping val="clustered"/>
        <c:varyColors val="0"/>
        <c:ser>
          <c:idx val="0"/>
          <c:order val="0"/>
          <c:tx>
            <c:strRef>
              <c:f>'Updated chart'!$C$4</c:f>
              <c:strCache>
                <c:ptCount val="1"/>
                <c:pt idx="0">
                  <c:v>MENA</c:v>
                </c:pt>
              </c:strCache>
            </c:strRef>
          </c:tx>
          <c:spPr>
            <a:solidFill>
              <a:schemeClr val="accent1"/>
            </a:solidFill>
            <a:ln>
              <a:noFill/>
            </a:ln>
            <a:effectLst/>
          </c:spPr>
          <c:invertIfNegative val="0"/>
          <c:dPt>
            <c:idx val="2"/>
            <c:invertIfNegative val="0"/>
            <c:bubble3D val="0"/>
            <c:spPr>
              <a:solidFill>
                <a:schemeClr val="accent1"/>
              </a:solidFill>
              <a:ln w="22225">
                <a:solidFill>
                  <a:srgbClr val="FF0000"/>
                </a:solidFill>
              </a:ln>
              <a:effectLst/>
            </c:spPr>
            <c:extLst>
              <c:ext xmlns:c16="http://schemas.microsoft.com/office/drawing/2014/chart" uri="{C3380CC4-5D6E-409C-BE32-E72D297353CC}">
                <c16:uniqueId val="{00000001-F870-4F4B-BA66-43254CD5C9D7}"/>
              </c:ext>
            </c:extLst>
          </c:dPt>
          <c:dPt>
            <c:idx val="5"/>
            <c:invertIfNegative val="0"/>
            <c:bubble3D val="0"/>
            <c:spPr>
              <a:solidFill>
                <a:schemeClr val="accent1"/>
              </a:solidFill>
              <a:ln w="19050">
                <a:solidFill>
                  <a:srgbClr val="FF0000"/>
                </a:solidFill>
              </a:ln>
              <a:effectLst/>
            </c:spPr>
            <c:extLst>
              <c:ext xmlns:c16="http://schemas.microsoft.com/office/drawing/2014/chart" uri="{C3380CC4-5D6E-409C-BE32-E72D297353CC}">
                <c16:uniqueId val="{00000000-F870-4F4B-BA66-43254CD5C9D7}"/>
              </c:ext>
            </c:extLst>
          </c:dPt>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chart'!$C$5:$C$10</c:f>
              <c:numCache>
                <c:formatCode>0.0</c:formatCode>
                <c:ptCount val="6"/>
                <c:pt idx="0">
                  <c:v>40.064999999999998</c:v>
                </c:pt>
                <c:pt idx="1">
                  <c:v>48.02</c:v>
                </c:pt>
                <c:pt idx="2">
                  <c:v>71.790000000000006</c:v>
                </c:pt>
                <c:pt idx="3">
                  <c:v>48.435000000000002</c:v>
                </c:pt>
                <c:pt idx="4">
                  <c:v>68.275000000000006</c:v>
                </c:pt>
                <c:pt idx="5">
                  <c:v>87.17</c:v>
                </c:pt>
              </c:numCache>
            </c:numRef>
          </c:val>
          <c:extLst>
            <c:ext xmlns:c16="http://schemas.microsoft.com/office/drawing/2014/chart" uri="{C3380CC4-5D6E-409C-BE32-E72D297353CC}">
              <c16:uniqueId val="{00000000-35F5-43DC-9A95-3E399FCEB07A}"/>
            </c:ext>
          </c:extLst>
        </c:ser>
        <c:dLbls>
          <c:showLegendKey val="0"/>
          <c:showVal val="0"/>
          <c:showCatName val="0"/>
          <c:showSerName val="0"/>
          <c:showPercent val="0"/>
          <c:showBubbleSize val="0"/>
        </c:dLbls>
        <c:gapWidth val="219"/>
        <c:overlap val="-27"/>
        <c:axId val="1607758176"/>
        <c:axId val="1050194784"/>
      </c:barChart>
      <c:lineChart>
        <c:grouping val="stacked"/>
        <c:varyColors val="0"/>
        <c:ser>
          <c:idx val="1"/>
          <c:order val="1"/>
          <c:tx>
            <c:strRef>
              <c:f>'Updated chart'!$D$4</c:f>
              <c:strCache>
                <c:ptCount val="1"/>
                <c:pt idx="0">
                  <c:v>World</c:v>
                </c:pt>
              </c:strCache>
            </c:strRef>
          </c:tx>
          <c:spPr>
            <a:ln w="28575" cap="rnd">
              <a:noFill/>
              <a:round/>
            </a:ln>
            <a:effectLst/>
          </c:spPr>
          <c:marker>
            <c:symbol val="diamond"/>
            <c:size val="10"/>
            <c:spPr>
              <a:solidFill>
                <a:srgbClr val="FFC000"/>
              </a:solidFill>
              <a:ln w="9525">
                <a:noFill/>
              </a:ln>
              <a:effectLst/>
            </c:spPr>
          </c:marker>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chart'!$D$5:$D$10</c:f>
              <c:numCache>
                <c:formatCode>0.0</c:formatCode>
                <c:ptCount val="6"/>
                <c:pt idx="0">
                  <c:v>56.88</c:v>
                </c:pt>
                <c:pt idx="1">
                  <c:v>51.5</c:v>
                </c:pt>
                <c:pt idx="2">
                  <c:v>51.5</c:v>
                </c:pt>
                <c:pt idx="3">
                  <c:v>65.34</c:v>
                </c:pt>
                <c:pt idx="4">
                  <c:v>64.94</c:v>
                </c:pt>
                <c:pt idx="5">
                  <c:v>64.94</c:v>
                </c:pt>
              </c:numCache>
            </c:numRef>
          </c:val>
          <c:smooth val="0"/>
          <c:extLst>
            <c:ext xmlns:c16="http://schemas.microsoft.com/office/drawing/2014/chart" uri="{C3380CC4-5D6E-409C-BE32-E72D297353CC}">
              <c16:uniqueId val="{00000001-35F5-43DC-9A95-3E399FCEB07A}"/>
            </c:ext>
          </c:extLst>
        </c:ser>
        <c:dLbls>
          <c:showLegendKey val="0"/>
          <c:showVal val="0"/>
          <c:showCatName val="0"/>
          <c:showSerName val="0"/>
          <c:showPercent val="0"/>
          <c:showBubbleSize val="0"/>
        </c:dLbls>
        <c:marker val="1"/>
        <c:smooth val="0"/>
        <c:axId val="1607758176"/>
        <c:axId val="1050194784"/>
      </c:lineChart>
      <c:catAx>
        <c:axId val="1607758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050194784"/>
        <c:crosses val="autoZero"/>
        <c:auto val="1"/>
        <c:lblAlgn val="ctr"/>
        <c:lblOffset val="100"/>
        <c:noMultiLvlLbl val="0"/>
      </c:catAx>
      <c:valAx>
        <c:axId val="1050194784"/>
        <c:scaling>
          <c:orientation val="minMax"/>
          <c:max val="90"/>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US"/>
                  <a:t>FR: percent of GDP</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07758176"/>
        <c:crosses val="autoZero"/>
        <c:crossBetween val="between"/>
        <c:majorUnit val="10"/>
      </c:valAx>
      <c:spPr>
        <a:noFill/>
        <a:ln>
          <a:noFill/>
        </a:ln>
        <a:effectLst/>
      </c:spPr>
    </c:plotArea>
    <c:legend>
      <c:legendPos val="b"/>
      <c:layout>
        <c:manualLayout>
          <c:xMode val="edge"/>
          <c:yMode val="edge"/>
          <c:x val="0.42397564764738338"/>
          <c:y val="9.0603039539412414E-2"/>
          <c:w val="0.19802725247870306"/>
          <c:h val="5.1870078740157477E-2"/>
        </c:manualLayout>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Public debt growth, annual %</c:v>
          </c:tx>
          <c:spPr>
            <a:ln w="38100" cap="rnd">
              <a:solidFill>
                <a:schemeClr val="accent1"/>
              </a:solidFill>
              <a:round/>
            </a:ln>
            <a:effectLst/>
          </c:spPr>
          <c:marker>
            <c:symbol val="none"/>
          </c:marker>
          <c:cat>
            <c:strRef>
              <c:f>'Debt and growth around ND'!$A$6:$A$12</c:f>
              <c:strCache>
                <c:ptCount val="7"/>
                <c:pt idx="0">
                  <c:v>-3</c:v>
                </c:pt>
                <c:pt idx="1">
                  <c:v>-2</c:v>
                </c:pt>
                <c:pt idx="2">
                  <c:v>-1</c:v>
                </c:pt>
                <c:pt idx="3">
                  <c:v>t=0</c:v>
                </c:pt>
                <c:pt idx="4">
                  <c:v>1</c:v>
                </c:pt>
                <c:pt idx="5">
                  <c:v>2</c:v>
                </c:pt>
                <c:pt idx="6">
                  <c:v>3</c:v>
                </c:pt>
              </c:strCache>
            </c:strRef>
          </c:cat>
          <c:val>
            <c:numRef>
              <c:f>'Debt and growth around ND'!$B$6:$B$12</c:f>
              <c:numCache>
                <c:formatCode>General</c:formatCode>
                <c:ptCount val="7"/>
                <c:pt idx="0">
                  <c:v>1.5039039999999999</c:v>
                </c:pt>
                <c:pt idx="1">
                  <c:v>1.5404850000000001</c:v>
                </c:pt>
                <c:pt idx="2">
                  <c:v>-9.6194500000000002E-2</c:v>
                </c:pt>
                <c:pt idx="3">
                  <c:v>2.1170059999999999</c:v>
                </c:pt>
                <c:pt idx="4">
                  <c:v>2.8611559999999998</c:v>
                </c:pt>
                <c:pt idx="5">
                  <c:v>2.1736270000000002</c:v>
                </c:pt>
                <c:pt idx="6">
                  <c:v>3.0054970000000001</c:v>
                </c:pt>
              </c:numCache>
            </c:numRef>
          </c:val>
          <c:smooth val="0"/>
          <c:extLst>
            <c:ext xmlns:c16="http://schemas.microsoft.com/office/drawing/2014/chart" uri="{C3380CC4-5D6E-409C-BE32-E72D297353CC}">
              <c16:uniqueId val="{00000000-8BCE-4A79-9946-A1127268D8C2}"/>
            </c:ext>
          </c:extLst>
        </c:ser>
        <c:dLbls>
          <c:showLegendKey val="0"/>
          <c:showVal val="0"/>
          <c:showCatName val="0"/>
          <c:showSerName val="0"/>
          <c:showPercent val="0"/>
          <c:showBubbleSize val="0"/>
        </c:dLbls>
        <c:marker val="1"/>
        <c:smooth val="0"/>
        <c:axId val="1709305471"/>
        <c:axId val="1709473311"/>
      </c:lineChart>
      <c:lineChart>
        <c:grouping val="standard"/>
        <c:varyColors val="0"/>
        <c:ser>
          <c:idx val="1"/>
          <c:order val="1"/>
          <c:tx>
            <c:v>GDP growth, annual % (RHS)</c:v>
          </c:tx>
          <c:spPr>
            <a:ln w="38100" cap="rnd">
              <a:solidFill>
                <a:schemeClr val="accent2"/>
              </a:solidFill>
              <a:round/>
            </a:ln>
            <a:effectLst/>
          </c:spPr>
          <c:marker>
            <c:symbol val="none"/>
          </c:marker>
          <c:val>
            <c:numRef>
              <c:f>'Debt and growth around ND'!$K$6:$K$12</c:f>
              <c:numCache>
                <c:formatCode>General</c:formatCode>
                <c:ptCount val="7"/>
                <c:pt idx="0">
                  <c:v>0.34509000000000001</c:v>
                </c:pt>
                <c:pt idx="1">
                  <c:v>-0.46748010000000001</c:v>
                </c:pt>
                <c:pt idx="2">
                  <c:v>5.9531800000000003E-2</c:v>
                </c:pt>
                <c:pt idx="3">
                  <c:v>-1.2658739999999999</c:v>
                </c:pt>
                <c:pt idx="4">
                  <c:v>0.8953776</c:v>
                </c:pt>
                <c:pt idx="5">
                  <c:v>0.83357159999999997</c:v>
                </c:pt>
                <c:pt idx="6">
                  <c:v>0.38140819999999998</c:v>
                </c:pt>
              </c:numCache>
            </c:numRef>
          </c:val>
          <c:smooth val="0"/>
          <c:extLst>
            <c:ext xmlns:c16="http://schemas.microsoft.com/office/drawing/2014/chart" uri="{C3380CC4-5D6E-409C-BE32-E72D297353CC}">
              <c16:uniqueId val="{00000001-8BCE-4A79-9946-A1127268D8C2}"/>
            </c:ext>
          </c:extLst>
        </c:ser>
        <c:dLbls>
          <c:showLegendKey val="0"/>
          <c:showVal val="0"/>
          <c:showCatName val="0"/>
          <c:showSerName val="0"/>
          <c:showPercent val="0"/>
          <c:showBubbleSize val="0"/>
        </c:dLbls>
        <c:marker val="1"/>
        <c:smooth val="0"/>
        <c:axId val="1739304079"/>
        <c:axId val="1738977855"/>
      </c:lineChart>
      <c:catAx>
        <c:axId val="1709305471"/>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FR: Timeline around</a:t>
                </a:r>
                <a:r>
                  <a:rPr lang="en-US" sz="1400" baseline="0"/>
                  <a:t>FR:  a large natural disaster, years</a:t>
                </a:r>
                <a:endParaRPr lang="en-US" sz="1400"/>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cross"/>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709473311"/>
        <c:crosses val="autoZero"/>
        <c:auto val="1"/>
        <c:lblAlgn val="ctr"/>
        <c:lblOffset val="100"/>
        <c:noMultiLvlLbl val="0"/>
      </c:catAx>
      <c:valAx>
        <c:axId val="1709473311"/>
        <c:scaling>
          <c:orientation val="minMax"/>
          <c:max val="4"/>
          <c:min val="-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FR: Public debt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09305471"/>
        <c:crossesAt val="1"/>
        <c:crossBetween val="between"/>
      </c:valAx>
      <c:valAx>
        <c:axId val="1738977855"/>
        <c:scaling>
          <c:orientation val="minMax"/>
          <c:max val="4"/>
          <c:min val="-2"/>
        </c:scaling>
        <c:delete val="0"/>
        <c:axPos val="r"/>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FR: GDP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39304079"/>
        <c:crosses val="max"/>
        <c:crossBetween val="between"/>
        <c:majorUnit val="1"/>
      </c:valAx>
      <c:catAx>
        <c:axId val="1739304079"/>
        <c:scaling>
          <c:orientation val="minMax"/>
        </c:scaling>
        <c:delete val="1"/>
        <c:axPos val="b"/>
        <c:majorTickMark val="none"/>
        <c:minorTickMark val="none"/>
        <c:tickLblPos val="nextTo"/>
        <c:crossAx val="17389778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386046874330844E-2"/>
          <c:y val="0.1030504196755347"/>
          <c:w val="0.9171607069692761"/>
          <c:h val="0.5904744701514798"/>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21AD-4551-83AD-A1F56CC8E8AA}"/>
              </c:ext>
            </c:extLst>
          </c:dPt>
          <c:dPt>
            <c:idx val="3"/>
            <c:invertIfNegative val="0"/>
            <c:bubble3D val="0"/>
            <c:spPr>
              <a:solidFill>
                <a:srgbClr val="ED7D31"/>
              </a:solidFill>
              <a:ln>
                <a:noFill/>
              </a:ln>
              <a:effectLst/>
            </c:spPr>
            <c:extLst>
              <c:ext xmlns:c16="http://schemas.microsoft.com/office/drawing/2014/chart" uri="{C3380CC4-5D6E-409C-BE32-E72D297353CC}">
                <c16:uniqueId val="{00000003-21AD-4551-83AD-A1F56CC8E8AA}"/>
              </c:ext>
            </c:extLst>
          </c:dPt>
          <c:dPt>
            <c:idx val="4"/>
            <c:invertIfNegative val="0"/>
            <c:bubble3D val="0"/>
            <c:spPr>
              <a:solidFill>
                <a:srgbClr val="C00000"/>
              </a:solidFill>
              <a:ln>
                <a:noFill/>
              </a:ln>
              <a:effectLst/>
            </c:spPr>
            <c:extLst>
              <c:ext xmlns:c16="http://schemas.microsoft.com/office/drawing/2014/chart" uri="{C3380CC4-5D6E-409C-BE32-E72D297353CC}">
                <c16:uniqueId val="{00000005-21AD-4551-83AD-A1F56CC8E8AA}"/>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GDP_WGI_restructuring_MENA_MEAN!$B$18:$B$22</c:f>
              <c:numCache>
                <c:formatCode>General</c:formatCode>
                <c:ptCount val="5"/>
                <c:pt idx="0">
                  <c:v>-2.2000000000000002</c:v>
                </c:pt>
                <c:pt idx="1">
                  <c:v>-2.8</c:v>
                </c:pt>
                <c:pt idx="2" formatCode="0.0">
                  <c:v>-1.1000000000000001</c:v>
                </c:pt>
                <c:pt idx="3" formatCode="0.0">
                  <c:v>-0.89999999999999991</c:v>
                </c:pt>
                <c:pt idx="4" formatCode="0.0">
                  <c:v>-4.53</c:v>
                </c:pt>
              </c:numCache>
            </c:numRef>
          </c:val>
          <c:extLst>
            <c:ext xmlns:c16="http://schemas.microsoft.com/office/drawing/2014/chart" uri="{C3380CC4-5D6E-409C-BE32-E72D297353CC}">
              <c16:uniqueId val="{00000006-21AD-4551-83AD-A1F56CC8E8AA}"/>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937318324869835"/>
          <c:y val="9.4976903629199125E-2"/>
          <c:w val="0.8028636683326662"/>
          <c:h val="0.66176821711719025"/>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3391-466D-A183-A0B1EC0BC0CB}"/>
              </c:ext>
            </c:extLst>
          </c:dPt>
          <c:dPt>
            <c:idx val="3"/>
            <c:invertIfNegative val="0"/>
            <c:bubble3D val="0"/>
            <c:spPr>
              <a:solidFill>
                <a:srgbClr val="ED7D31"/>
              </a:solidFill>
              <a:ln>
                <a:noFill/>
              </a:ln>
              <a:effectLst/>
            </c:spPr>
            <c:extLst>
              <c:ext xmlns:c16="http://schemas.microsoft.com/office/drawing/2014/chart" uri="{C3380CC4-5D6E-409C-BE32-E72D297353CC}">
                <c16:uniqueId val="{00000003-3391-466D-A183-A0B1EC0BC0CB}"/>
              </c:ext>
            </c:extLst>
          </c:dPt>
          <c:dPt>
            <c:idx val="4"/>
            <c:invertIfNegative val="0"/>
            <c:bubble3D val="0"/>
            <c:spPr>
              <a:solidFill>
                <a:srgbClr val="C00000"/>
              </a:solidFill>
              <a:ln>
                <a:noFill/>
              </a:ln>
              <a:effectLst/>
            </c:spPr>
            <c:extLst>
              <c:ext xmlns:c16="http://schemas.microsoft.com/office/drawing/2014/chart" uri="{C3380CC4-5D6E-409C-BE32-E72D297353CC}">
                <c16:uniqueId val="{00000005-3391-466D-A183-A0B1EC0BC0CB}"/>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GDP_WGI_restructuring_MENA_MEAN!$E$18:$E$22</c:f>
              <c:numCache>
                <c:formatCode>General</c:formatCode>
                <c:ptCount val="5"/>
                <c:pt idx="0">
                  <c:v>-0.21000000000000002</c:v>
                </c:pt>
                <c:pt idx="1">
                  <c:v>-9.9999999999999978E-2</c:v>
                </c:pt>
                <c:pt idx="2" formatCode="0.00">
                  <c:v>-0.38999999999999996</c:v>
                </c:pt>
                <c:pt idx="3" formatCode="0.00">
                  <c:v>-4.9999999999999989E-2</c:v>
                </c:pt>
                <c:pt idx="4" formatCode="0.00">
                  <c:v>-0.23999999999999994</c:v>
                </c:pt>
              </c:numCache>
            </c:numRef>
          </c:val>
          <c:extLst>
            <c:ext xmlns:c16="http://schemas.microsoft.com/office/drawing/2014/chart" uri="{C3380CC4-5D6E-409C-BE32-E72D297353CC}">
              <c16:uniqueId val="{00000006-3391-466D-A183-A0B1EC0BC0CB}"/>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F68A6-0B27-43CB-8248-7DE9D2A6B37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2587851-84A6-4568-8B08-6D51B703929C}">
      <dgm:prSet/>
      <dgm:spPr/>
      <dgm:t>
        <a:bodyPr/>
        <a:lstStyle/>
        <a:p>
          <a:r>
            <a:rPr lang="en-US" dirty="0"/>
            <a:t>FR: The Middle East and North Africa (MENA) region is </a:t>
          </a:r>
          <a:r>
            <a:rPr lang="en-US" u="none" dirty="0"/>
            <a:t>FR: still in crisis</a:t>
          </a:r>
        </a:p>
      </dgm:t>
    </dgm:pt>
    <dgm:pt modelId="{158163CE-1CC2-4E07-91E1-F1E920181DA2}" type="parTrans" cxnId="{9CCD2E21-3DE8-471D-B56F-284DFA48EB27}">
      <dgm:prSet/>
      <dgm:spPr/>
      <dgm:t>
        <a:bodyPr/>
        <a:lstStyle/>
        <a:p>
          <a:endParaRPr lang="en-US"/>
        </a:p>
      </dgm:t>
    </dgm:pt>
    <dgm:pt modelId="{9AB93057-3B02-4624-A372-BABB57384CEE}" type="sibTrans" cxnId="{9CCD2E21-3DE8-471D-B56F-284DFA48EB27}">
      <dgm:prSet/>
      <dgm:spPr/>
      <dgm:t>
        <a:bodyPr/>
        <a:lstStyle/>
        <a:p>
          <a:endParaRPr lang="en-US"/>
        </a:p>
      </dgm:t>
    </dgm:pt>
    <dgm:pt modelId="{B566D669-E864-40BE-BBAD-6A9D3D2DABC6}">
      <dgm:prSet/>
      <dgm:spPr/>
      <dgm:t>
        <a:bodyPr/>
        <a:lstStyle/>
        <a:p>
          <a:r>
            <a:rPr lang="en-US" dirty="0"/>
            <a:t>FR: MENA countries face a </a:t>
          </a:r>
          <a:r>
            <a:rPr lang="en-US" u="none" dirty="0"/>
            <a:t>FR: balancing act</a:t>
          </a:r>
          <a:r>
            <a:rPr lang="en-US" u="sng" dirty="0"/>
            <a:t> </a:t>
          </a:r>
          <a:r>
            <a:rPr lang="en-US" dirty="0"/>
            <a:t>FR: between short-term needs and long-run risks of public debt</a:t>
          </a:r>
        </a:p>
      </dgm:t>
    </dgm:pt>
    <dgm:pt modelId="{04DEE1FA-25C0-4979-8FD8-C981B3D6CC74}" type="parTrans" cxnId="{4609355E-DCFD-431F-8CC1-FB31EAE75BC0}">
      <dgm:prSet/>
      <dgm:spPr/>
      <dgm:t>
        <a:bodyPr/>
        <a:lstStyle/>
        <a:p>
          <a:endParaRPr lang="en-US"/>
        </a:p>
      </dgm:t>
    </dgm:pt>
    <dgm:pt modelId="{E346FFF0-7AF4-4E4F-B340-091D5C363448}" type="sibTrans" cxnId="{4609355E-DCFD-431F-8CC1-FB31EAE75BC0}">
      <dgm:prSet/>
      <dgm:spPr/>
      <dgm:t>
        <a:bodyPr/>
        <a:lstStyle/>
        <a:p>
          <a:endParaRPr lang="en-US"/>
        </a:p>
      </dgm:t>
    </dgm:pt>
    <dgm:pt modelId="{800BF91D-A7D3-4C12-8ABB-CE46794FE386}">
      <dgm:prSet/>
      <dgm:spPr/>
      <dgm:t>
        <a:bodyPr/>
        <a:lstStyle/>
        <a:p>
          <a:r>
            <a:rPr lang="en-US" u="none" dirty="0"/>
            <a:t>FR: Tough choices: </a:t>
          </a:r>
          <a:r>
            <a:rPr lang="en-US" dirty="0"/>
            <a:t>FR: public expenditure priorities depend on the phase of the recovery</a:t>
          </a:r>
        </a:p>
      </dgm:t>
    </dgm:pt>
    <dgm:pt modelId="{DFF8B1CE-E8A4-4B0B-A8FF-C245E725248B}" type="parTrans" cxnId="{58091BB7-55F8-4752-ADD2-31F552EED30F}">
      <dgm:prSet/>
      <dgm:spPr/>
      <dgm:t>
        <a:bodyPr/>
        <a:lstStyle/>
        <a:p>
          <a:endParaRPr lang="en-US"/>
        </a:p>
      </dgm:t>
    </dgm:pt>
    <dgm:pt modelId="{9F80A130-9DA6-4E99-A4DC-FDE934631737}" type="sibTrans" cxnId="{58091BB7-55F8-4752-ADD2-31F552EED30F}">
      <dgm:prSet/>
      <dgm:spPr/>
      <dgm:t>
        <a:bodyPr/>
        <a:lstStyle/>
        <a:p>
          <a:endParaRPr lang="en-US"/>
        </a:p>
      </dgm:t>
    </dgm:pt>
    <dgm:pt modelId="{BA17275F-FFF3-42A7-91C5-A224E05D7148}">
      <dgm:prSet/>
      <dgm:spPr/>
      <dgm:t>
        <a:bodyPr/>
        <a:lstStyle/>
        <a:p>
          <a:r>
            <a:rPr lang="en-US" u="none" dirty="0"/>
            <a:t>FR: Sunlight can help! </a:t>
          </a:r>
          <a:r>
            <a:rPr lang="en-US" dirty="0"/>
            <a:t>FR: Transparency can help chart a path to lasting recovery for MENA</a:t>
          </a:r>
        </a:p>
      </dgm:t>
    </dgm:pt>
    <dgm:pt modelId="{9BD5A230-AF43-43F2-AE0A-7DF6020B3793}" type="parTrans" cxnId="{52E76714-6C08-4B67-B702-AB99A10D83BF}">
      <dgm:prSet/>
      <dgm:spPr/>
      <dgm:t>
        <a:bodyPr/>
        <a:lstStyle/>
        <a:p>
          <a:endParaRPr lang="en-US"/>
        </a:p>
      </dgm:t>
    </dgm:pt>
    <dgm:pt modelId="{096742C5-5D05-417C-B9C9-95A3D5E2E157}" type="sibTrans" cxnId="{52E76714-6C08-4B67-B702-AB99A10D83BF}">
      <dgm:prSet/>
      <dgm:spPr/>
      <dgm:t>
        <a:bodyPr/>
        <a:lstStyle/>
        <a:p>
          <a:endParaRPr lang="en-US"/>
        </a:p>
      </dgm:t>
    </dgm:pt>
    <dgm:pt modelId="{01F55391-EB55-4A2C-BC05-DE44CB54F36D}" type="pres">
      <dgm:prSet presAssocID="{D9AF68A6-0B27-43CB-8248-7DE9D2A6B37F}" presName="linear" presStyleCnt="0">
        <dgm:presLayoutVars>
          <dgm:animLvl val="lvl"/>
          <dgm:resizeHandles val="exact"/>
        </dgm:presLayoutVars>
      </dgm:prSet>
      <dgm:spPr/>
    </dgm:pt>
    <dgm:pt modelId="{14DD6E5F-2D29-4EEA-806E-E4CA13A0FA68}" type="pres">
      <dgm:prSet presAssocID="{92587851-84A6-4568-8B08-6D51B703929C}" presName="parentText" presStyleLbl="node1" presStyleIdx="0" presStyleCnt="4">
        <dgm:presLayoutVars>
          <dgm:chMax val="0"/>
          <dgm:bulletEnabled val="1"/>
        </dgm:presLayoutVars>
      </dgm:prSet>
      <dgm:spPr/>
    </dgm:pt>
    <dgm:pt modelId="{614DEC94-457F-4CAB-84FE-85EF0C2C53BA}" type="pres">
      <dgm:prSet presAssocID="{9AB93057-3B02-4624-A372-BABB57384CEE}" presName="spacer" presStyleCnt="0"/>
      <dgm:spPr/>
    </dgm:pt>
    <dgm:pt modelId="{D96F5C80-F371-4600-9BE9-3C3039E06725}" type="pres">
      <dgm:prSet presAssocID="{B566D669-E864-40BE-BBAD-6A9D3D2DABC6}" presName="parentText" presStyleLbl="node1" presStyleIdx="1" presStyleCnt="4">
        <dgm:presLayoutVars>
          <dgm:chMax val="0"/>
          <dgm:bulletEnabled val="1"/>
        </dgm:presLayoutVars>
      </dgm:prSet>
      <dgm:spPr/>
    </dgm:pt>
    <dgm:pt modelId="{FFC1CF6B-102E-4A3E-B647-00EB6F6B21CE}" type="pres">
      <dgm:prSet presAssocID="{E346FFF0-7AF4-4E4F-B340-091D5C363448}" presName="spacer" presStyleCnt="0"/>
      <dgm:spPr/>
    </dgm:pt>
    <dgm:pt modelId="{0E66F634-82D9-4910-9E9D-359C01088179}" type="pres">
      <dgm:prSet presAssocID="{800BF91D-A7D3-4C12-8ABB-CE46794FE386}" presName="parentText" presStyleLbl="node1" presStyleIdx="2" presStyleCnt="4">
        <dgm:presLayoutVars>
          <dgm:chMax val="0"/>
          <dgm:bulletEnabled val="1"/>
        </dgm:presLayoutVars>
      </dgm:prSet>
      <dgm:spPr/>
    </dgm:pt>
    <dgm:pt modelId="{F242B828-0BCB-492F-8D42-50F8C091A677}" type="pres">
      <dgm:prSet presAssocID="{9F80A130-9DA6-4E99-A4DC-FDE934631737}" presName="spacer" presStyleCnt="0"/>
      <dgm:spPr/>
    </dgm:pt>
    <dgm:pt modelId="{0D2D3FB6-6FCB-436E-AB5D-219E55D5915C}" type="pres">
      <dgm:prSet presAssocID="{BA17275F-FFF3-42A7-91C5-A224E05D7148}" presName="parentText" presStyleLbl="node1" presStyleIdx="3" presStyleCnt="4">
        <dgm:presLayoutVars>
          <dgm:chMax val="0"/>
          <dgm:bulletEnabled val="1"/>
        </dgm:presLayoutVars>
      </dgm:prSet>
      <dgm:spPr/>
    </dgm:pt>
  </dgm:ptLst>
  <dgm:cxnLst>
    <dgm:cxn modelId="{52E76714-6C08-4B67-B702-AB99A10D83BF}" srcId="{D9AF68A6-0B27-43CB-8248-7DE9D2A6B37F}" destId="{BA17275F-FFF3-42A7-91C5-A224E05D7148}" srcOrd="3" destOrd="0" parTransId="{9BD5A230-AF43-43F2-AE0A-7DF6020B3793}" sibTransId="{096742C5-5D05-417C-B9C9-95A3D5E2E157}"/>
    <dgm:cxn modelId="{9CCD2E21-3DE8-471D-B56F-284DFA48EB27}" srcId="{D9AF68A6-0B27-43CB-8248-7DE9D2A6B37F}" destId="{92587851-84A6-4568-8B08-6D51B703929C}" srcOrd="0" destOrd="0" parTransId="{158163CE-1CC2-4E07-91E1-F1E920181DA2}" sibTransId="{9AB93057-3B02-4624-A372-BABB57384CEE}"/>
    <dgm:cxn modelId="{4609355E-DCFD-431F-8CC1-FB31EAE75BC0}" srcId="{D9AF68A6-0B27-43CB-8248-7DE9D2A6B37F}" destId="{B566D669-E864-40BE-BBAD-6A9D3D2DABC6}" srcOrd="1" destOrd="0" parTransId="{04DEE1FA-25C0-4979-8FD8-C981B3D6CC74}" sibTransId="{E346FFF0-7AF4-4E4F-B340-091D5C363448}"/>
    <dgm:cxn modelId="{229AB950-B528-4949-A7C9-A806045B33EA}" type="presOf" srcId="{D9AF68A6-0B27-43CB-8248-7DE9D2A6B37F}" destId="{01F55391-EB55-4A2C-BC05-DE44CB54F36D}" srcOrd="0" destOrd="0" presId="urn:microsoft.com/office/officeart/2005/8/layout/vList2"/>
    <dgm:cxn modelId="{C4298591-0588-44D0-BF0C-AED6CA8A4C9E}" type="presOf" srcId="{B566D669-E864-40BE-BBAD-6A9D3D2DABC6}" destId="{D96F5C80-F371-4600-9BE9-3C3039E06725}" srcOrd="0" destOrd="0" presId="urn:microsoft.com/office/officeart/2005/8/layout/vList2"/>
    <dgm:cxn modelId="{58091BB7-55F8-4752-ADD2-31F552EED30F}" srcId="{D9AF68A6-0B27-43CB-8248-7DE9D2A6B37F}" destId="{800BF91D-A7D3-4C12-8ABB-CE46794FE386}" srcOrd="2" destOrd="0" parTransId="{DFF8B1CE-E8A4-4B0B-A8FF-C245E725248B}" sibTransId="{9F80A130-9DA6-4E99-A4DC-FDE934631737}"/>
    <dgm:cxn modelId="{BC4B4BB9-F27A-4D98-A5A0-3DEC08665362}" type="presOf" srcId="{BA17275F-FFF3-42A7-91C5-A224E05D7148}" destId="{0D2D3FB6-6FCB-436E-AB5D-219E55D5915C}" srcOrd="0" destOrd="0" presId="urn:microsoft.com/office/officeart/2005/8/layout/vList2"/>
    <dgm:cxn modelId="{C2636EB9-3D14-45FB-BEF4-4C959A87D05A}" type="presOf" srcId="{800BF91D-A7D3-4C12-8ABB-CE46794FE386}" destId="{0E66F634-82D9-4910-9E9D-359C01088179}" srcOrd="0" destOrd="0" presId="urn:microsoft.com/office/officeart/2005/8/layout/vList2"/>
    <dgm:cxn modelId="{E37D85FD-7DF3-4E5F-9E59-1B719CB6F69F}" type="presOf" srcId="{92587851-84A6-4568-8B08-6D51B703929C}" destId="{14DD6E5F-2D29-4EEA-806E-E4CA13A0FA68}" srcOrd="0" destOrd="0" presId="urn:microsoft.com/office/officeart/2005/8/layout/vList2"/>
    <dgm:cxn modelId="{1287E5E4-DABF-4563-849E-5FB28D3D93B8}" type="presParOf" srcId="{01F55391-EB55-4A2C-BC05-DE44CB54F36D}" destId="{14DD6E5F-2D29-4EEA-806E-E4CA13A0FA68}" srcOrd="0" destOrd="0" presId="urn:microsoft.com/office/officeart/2005/8/layout/vList2"/>
    <dgm:cxn modelId="{BD7B71BA-CA10-45BF-B9AB-D3F8EE8691A5}" type="presParOf" srcId="{01F55391-EB55-4A2C-BC05-DE44CB54F36D}" destId="{614DEC94-457F-4CAB-84FE-85EF0C2C53BA}" srcOrd="1" destOrd="0" presId="urn:microsoft.com/office/officeart/2005/8/layout/vList2"/>
    <dgm:cxn modelId="{127AD47B-FB85-4C35-A738-9CFCA9C18583}" type="presParOf" srcId="{01F55391-EB55-4A2C-BC05-DE44CB54F36D}" destId="{D96F5C80-F371-4600-9BE9-3C3039E06725}" srcOrd="2" destOrd="0" presId="urn:microsoft.com/office/officeart/2005/8/layout/vList2"/>
    <dgm:cxn modelId="{828BFBF1-5C99-4E40-8C78-F1843EA94C79}" type="presParOf" srcId="{01F55391-EB55-4A2C-BC05-DE44CB54F36D}" destId="{FFC1CF6B-102E-4A3E-B647-00EB6F6B21CE}" srcOrd="3" destOrd="0" presId="urn:microsoft.com/office/officeart/2005/8/layout/vList2"/>
    <dgm:cxn modelId="{FFF7B6C1-4473-4C84-A249-F5E301C3E6FE}" type="presParOf" srcId="{01F55391-EB55-4A2C-BC05-DE44CB54F36D}" destId="{0E66F634-82D9-4910-9E9D-359C01088179}" srcOrd="4" destOrd="0" presId="urn:microsoft.com/office/officeart/2005/8/layout/vList2"/>
    <dgm:cxn modelId="{E2B25B95-A3E9-4535-8D87-F8BAB423A57E}" type="presParOf" srcId="{01F55391-EB55-4A2C-BC05-DE44CB54F36D}" destId="{F242B828-0BCB-492F-8D42-50F8C091A677}" srcOrd="5" destOrd="0" presId="urn:microsoft.com/office/officeart/2005/8/layout/vList2"/>
    <dgm:cxn modelId="{840DB4DE-75CD-4047-B24D-7F9E55F5D07E}" type="presParOf" srcId="{01F55391-EB55-4A2C-BC05-DE44CB54F36D}" destId="{0D2D3FB6-6FCB-436E-AB5D-219E55D5915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453A1C-C013-45A0-9AC4-08B27B74615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78A85BF-ED1B-4739-AFE0-FF57B8BCD15D}">
      <dgm:prSet/>
      <dgm:spPr/>
      <dgm:t>
        <a:bodyPr/>
        <a:lstStyle/>
        <a:p>
          <a:r>
            <a:rPr lang="en-US" b="1" u="sng" dirty="0"/>
            <a:t>FR: A Region Still In Crisis</a:t>
          </a:r>
          <a:r>
            <a:rPr lang="en-US" dirty="0"/>
            <a:t>FR: : Quantifies the socio-economic pain</a:t>
          </a:r>
        </a:p>
      </dgm:t>
    </dgm:pt>
    <dgm:pt modelId="{8985A238-BC72-4756-815E-1124DAA28DD1}" type="parTrans" cxnId="{567F8EB1-A2A6-43C0-8538-42380A2B87B9}">
      <dgm:prSet/>
      <dgm:spPr/>
      <dgm:t>
        <a:bodyPr/>
        <a:lstStyle/>
        <a:p>
          <a:endParaRPr lang="en-US"/>
        </a:p>
      </dgm:t>
    </dgm:pt>
    <dgm:pt modelId="{6C333D1B-138F-480B-911E-C4CF462C0E94}" type="sibTrans" cxnId="{567F8EB1-A2A6-43C0-8538-42380A2B87B9}">
      <dgm:prSet/>
      <dgm:spPr/>
      <dgm:t>
        <a:bodyPr/>
        <a:lstStyle/>
        <a:p>
          <a:endParaRPr lang="en-US"/>
        </a:p>
      </dgm:t>
    </dgm:pt>
    <dgm:pt modelId="{B6A1EA96-B89A-4059-BD88-22A6CDE7F103}">
      <dgm:prSet/>
      <dgm:spPr/>
      <dgm:t>
        <a:bodyPr/>
        <a:lstStyle/>
        <a:p>
          <a:r>
            <a:rPr lang="en-US" b="1" u="sng" dirty="0"/>
            <a:t>FR: Walking the Debt Tightrope</a:t>
          </a:r>
          <a:r>
            <a:rPr lang="en-US" dirty="0"/>
            <a:t>FR: : Articulates the tensions between immediate socio-economic needs and long-run risks in a region that already had high levels of debt in 2019</a:t>
          </a:r>
        </a:p>
      </dgm:t>
    </dgm:pt>
    <dgm:pt modelId="{83614294-7ACF-46FC-AE5F-ADE8DFAB9F74}" type="parTrans" cxnId="{A51B6882-8B10-431A-A70A-0288624BCE4B}">
      <dgm:prSet/>
      <dgm:spPr/>
      <dgm:t>
        <a:bodyPr/>
        <a:lstStyle/>
        <a:p>
          <a:endParaRPr lang="en-US"/>
        </a:p>
      </dgm:t>
    </dgm:pt>
    <dgm:pt modelId="{D7782144-EB6D-4F0E-9F9D-B8B8D03863CD}" type="sibTrans" cxnId="{A51B6882-8B10-431A-A70A-0288624BCE4B}">
      <dgm:prSet/>
      <dgm:spPr/>
      <dgm:t>
        <a:bodyPr/>
        <a:lstStyle/>
        <a:p>
          <a:endParaRPr lang="en-US"/>
        </a:p>
      </dgm:t>
    </dgm:pt>
    <dgm:pt modelId="{0549E55A-F15A-4E72-9305-3058778A67F1}">
      <dgm:prSet/>
      <dgm:spPr/>
      <dgm:t>
        <a:bodyPr/>
        <a:lstStyle/>
        <a:p>
          <a:r>
            <a:rPr lang="en-US" b="1" u="sng" dirty="0"/>
            <a:t>FR: Tough Choices ahead</a:t>
          </a:r>
          <a:r>
            <a:rPr lang="en-US" dirty="0"/>
            <a:t>FR: : Discusses priorities </a:t>
          </a:r>
          <a:r>
            <a:rPr lang="en-US" u="sng" dirty="0"/>
            <a:t>FR: during </a:t>
          </a:r>
          <a:r>
            <a:rPr lang="en-US" dirty="0"/>
            <a:t>FR: the pandemic, </a:t>
          </a:r>
          <a:r>
            <a:rPr lang="en-US" u="sng" dirty="0"/>
            <a:t>FR: after </a:t>
          </a:r>
          <a:r>
            <a:rPr lang="en-US" dirty="0"/>
            <a:t>FR: the pandemic, and </a:t>
          </a:r>
          <a:r>
            <a:rPr lang="en-US" u="sng" dirty="0"/>
            <a:t>FR: beyond</a:t>
          </a:r>
          <a:endParaRPr lang="en-US" dirty="0"/>
        </a:p>
      </dgm:t>
    </dgm:pt>
    <dgm:pt modelId="{31EBDD61-DD4F-48EF-B6EF-A7E08F43F5AB}" type="parTrans" cxnId="{4B3D0E2C-F67A-4EDC-947B-3F5AB14BFE1C}">
      <dgm:prSet/>
      <dgm:spPr/>
      <dgm:t>
        <a:bodyPr/>
        <a:lstStyle/>
        <a:p>
          <a:endParaRPr lang="en-US"/>
        </a:p>
      </dgm:t>
    </dgm:pt>
    <dgm:pt modelId="{15894171-49E8-4E86-96F9-D85C78B434FA}" type="sibTrans" cxnId="{4B3D0E2C-F67A-4EDC-947B-3F5AB14BFE1C}">
      <dgm:prSet/>
      <dgm:spPr/>
      <dgm:t>
        <a:bodyPr/>
        <a:lstStyle/>
        <a:p>
          <a:endParaRPr lang="en-US"/>
        </a:p>
      </dgm:t>
    </dgm:pt>
    <dgm:pt modelId="{470E7B5F-D031-419A-8E4C-0A128392953F}">
      <dgm:prSet/>
      <dgm:spPr/>
      <dgm:t>
        <a:bodyPr/>
        <a:lstStyle/>
        <a:p>
          <a:r>
            <a:rPr lang="en-US" b="1" u="sng"/>
            <a:t>FR: Sunlight Can Help</a:t>
          </a:r>
          <a:r>
            <a:rPr lang="en-US"/>
            <a:t>FR: : Highlights the role of institutions, especially transparency, in charting a path to recovery for the Middle East and North Africa</a:t>
          </a:r>
        </a:p>
      </dgm:t>
    </dgm:pt>
    <dgm:pt modelId="{5344519F-2818-4265-83D3-3C4F2536129A}" type="parTrans" cxnId="{8A0B5E4A-C93D-4B42-A56B-A5B965B3E152}">
      <dgm:prSet/>
      <dgm:spPr/>
      <dgm:t>
        <a:bodyPr/>
        <a:lstStyle/>
        <a:p>
          <a:endParaRPr lang="en-US"/>
        </a:p>
      </dgm:t>
    </dgm:pt>
    <dgm:pt modelId="{CEFECD7D-282C-4C05-BF33-E452350E853E}" type="sibTrans" cxnId="{8A0B5E4A-C93D-4B42-A56B-A5B965B3E152}">
      <dgm:prSet/>
      <dgm:spPr/>
      <dgm:t>
        <a:bodyPr/>
        <a:lstStyle/>
        <a:p>
          <a:endParaRPr lang="en-US"/>
        </a:p>
      </dgm:t>
    </dgm:pt>
    <dgm:pt modelId="{10D41824-E2E0-4A40-BFA0-315DC363E98D}" type="pres">
      <dgm:prSet presAssocID="{4E453A1C-C013-45A0-9AC4-08B27B746158}" presName="linear" presStyleCnt="0">
        <dgm:presLayoutVars>
          <dgm:animLvl val="lvl"/>
          <dgm:resizeHandles val="exact"/>
        </dgm:presLayoutVars>
      </dgm:prSet>
      <dgm:spPr/>
    </dgm:pt>
    <dgm:pt modelId="{6DCCB891-F357-46F4-9B3B-5A1FAD10338C}" type="pres">
      <dgm:prSet presAssocID="{478A85BF-ED1B-4739-AFE0-FF57B8BCD15D}" presName="parentText" presStyleLbl="node1" presStyleIdx="0" presStyleCnt="4">
        <dgm:presLayoutVars>
          <dgm:chMax val="0"/>
          <dgm:bulletEnabled val="1"/>
        </dgm:presLayoutVars>
      </dgm:prSet>
      <dgm:spPr/>
    </dgm:pt>
    <dgm:pt modelId="{A33B56D8-FB7B-452E-BA6B-9633FA9FE910}" type="pres">
      <dgm:prSet presAssocID="{6C333D1B-138F-480B-911E-C4CF462C0E94}" presName="spacer" presStyleCnt="0"/>
      <dgm:spPr/>
    </dgm:pt>
    <dgm:pt modelId="{0CB6004F-D074-49DB-ADFA-3BF18BB52CB1}" type="pres">
      <dgm:prSet presAssocID="{B6A1EA96-B89A-4059-BD88-22A6CDE7F103}" presName="parentText" presStyleLbl="node1" presStyleIdx="1" presStyleCnt="4">
        <dgm:presLayoutVars>
          <dgm:chMax val="0"/>
          <dgm:bulletEnabled val="1"/>
        </dgm:presLayoutVars>
      </dgm:prSet>
      <dgm:spPr/>
    </dgm:pt>
    <dgm:pt modelId="{C3AE512B-CA52-4BE7-AB40-F806EA6D959C}" type="pres">
      <dgm:prSet presAssocID="{D7782144-EB6D-4F0E-9F9D-B8B8D03863CD}" presName="spacer" presStyleCnt="0"/>
      <dgm:spPr/>
    </dgm:pt>
    <dgm:pt modelId="{B2AF7659-42A0-4D9B-914F-EB8D8F53052D}" type="pres">
      <dgm:prSet presAssocID="{0549E55A-F15A-4E72-9305-3058778A67F1}" presName="parentText" presStyleLbl="node1" presStyleIdx="2" presStyleCnt="4">
        <dgm:presLayoutVars>
          <dgm:chMax val="0"/>
          <dgm:bulletEnabled val="1"/>
        </dgm:presLayoutVars>
      </dgm:prSet>
      <dgm:spPr/>
    </dgm:pt>
    <dgm:pt modelId="{BCD91F1D-16EA-4D57-9D52-8E43730C93ED}" type="pres">
      <dgm:prSet presAssocID="{15894171-49E8-4E86-96F9-D85C78B434FA}" presName="spacer" presStyleCnt="0"/>
      <dgm:spPr/>
    </dgm:pt>
    <dgm:pt modelId="{4F1BF5D5-3EC4-46A9-A9BD-274664B9C165}" type="pres">
      <dgm:prSet presAssocID="{470E7B5F-D031-419A-8E4C-0A128392953F}" presName="parentText" presStyleLbl="node1" presStyleIdx="3" presStyleCnt="4">
        <dgm:presLayoutVars>
          <dgm:chMax val="0"/>
          <dgm:bulletEnabled val="1"/>
        </dgm:presLayoutVars>
      </dgm:prSet>
      <dgm:spPr/>
    </dgm:pt>
  </dgm:ptLst>
  <dgm:cxnLst>
    <dgm:cxn modelId="{B49A6107-BF4E-4BF6-B54E-6B57343DF58F}" type="presOf" srcId="{0549E55A-F15A-4E72-9305-3058778A67F1}" destId="{B2AF7659-42A0-4D9B-914F-EB8D8F53052D}" srcOrd="0" destOrd="0" presId="urn:microsoft.com/office/officeart/2005/8/layout/vList2"/>
    <dgm:cxn modelId="{9BDDE40A-EDA1-420B-8C60-ADAB3864F1D7}" type="presOf" srcId="{B6A1EA96-B89A-4059-BD88-22A6CDE7F103}" destId="{0CB6004F-D074-49DB-ADFA-3BF18BB52CB1}" srcOrd="0" destOrd="0" presId="urn:microsoft.com/office/officeart/2005/8/layout/vList2"/>
    <dgm:cxn modelId="{4B3D0E2C-F67A-4EDC-947B-3F5AB14BFE1C}" srcId="{4E453A1C-C013-45A0-9AC4-08B27B746158}" destId="{0549E55A-F15A-4E72-9305-3058778A67F1}" srcOrd="2" destOrd="0" parTransId="{31EBDD61-DD4F-48EF-B6EF-A7E08F43F5AB}" sibTransId="{15894171-49E8-4E86-96F9-D85C78B434FA}"/>
    <dgm:cxn modelId="{B6ECD22C-5E2B-4F99-9F07-6C21C170978E}" type="presOf" srcId="{478A85BF-ED1B-4739-AFE0-FF57B8BCD15D}" destId="{6DCCB891-F357-46F4-9B3B-5A1FAD10338C}" srcOrd="0" destOrd="0" presId="urn:microsoft.com/office/officeart/2005/8/layout/vList2"/>
    <dgm:cxn modelId="{8A0B5E4A-C93D-4B42-A56B-A5B965B3E152}" srcId="{4E453A1C-C013-45A0-9AC4-08B27B746158}" destId="{470E7B5F-D031-419A-8E4C-0A128392953F}" srcOrd="3" destOrd="0" parTransId="{5344519F-2818-4265-83D3-3C4F2536129A}" sibTransId="{CEFECD7D-282C-4C05-BF33-E452350E853E}"/>
    <dgm:cxn modelId="{C234C375-6DD6-4326-ADD1-640F6CB605DA}" type="presOf" srcId="{470E7B5F-D031-419A-8E4C-0A128392953F}" destId="{4F1BF5D5-3EC4-46A9-A9BD-274664B9C165}" srcOrd="0" destOrd="0" presId="urn:microsoft.com/office/officeart/2005/8/layout/vList2"/>
    <dgm:cxn modelId="{A51B6882-8B10-431A-A70A-0288624BCE4B}" srcId="{4E453A1C-C013-45A0-9AC4-08B27B746158}" destId="{B6A1EA96-B89A-4059-BD88-22A6CDE7F103}" srcOrd="1" destOrd="0" parTransId="{83614294-7ACF-46FC-AE5F-ADE8DFAB9F74}" sibTransId="{D7782144-EB6D-4F0E-9F9D-B8B8D03863CD}"/>
    <dgm:cxn modelId="{567F8EB1-A2A6-43C0-8538-42380A2B87B9}" srcId="{4E453A1C-C013-45A0-9AC4-08B27B746158}" destId="{478A85BF-ED1B-4739-AFE0-FF57B8BCD15D}" srcOrd="0" destOrd="0" parTransId="{8985A238-BC72-4756-815E-1124DAA28DD1}" sibTransId="{6C333D1B-138F-480B-911E-C4CF462C0E94}"/>
    <dgm:cxn modelId="{247BB1C7-1AE1-47BF-AD0A-D79FE5272B5F}" type="presOf" srcId="{4E453A1C-C013-45A0-9AC4-08B27B746158}" destId="{10D41824-E2E0-4A40-BFA0-315DC363E98D}" srcOrd="0" destOrd="0" presId="urn:microsoft.com/office/officeart/2005/8/layout/vList2"/>
    <dgm:cxn modelId="{A0B0154E-F761-4E18-9201-5F3DE6B1E6E1}" type="presParOf" srcId="{10D41824-E2E0-4A40-BFA0-315DC363E98D}" destId="{6DCCB891-F357-46F4-9B3B-5A1FAD10338C}" srcOrd="0" destOrd="0" presId="urn:microsoft.com/office/officeart/2005/8/layout/vList2"/>
    <dgm:cxn modelId="{4E3E8A43-ACB6-4F2A-AC9F-5192C261212B}" type="presParOf" srcId="{10D41824-E2E0-4A40-BFA0-315DC363E98D}" destId="{A33B56D8-FB7B-452E-BA6B-9633FA9FE910}" srcOrd="1" destOrd="0" presId="urn:microsoft.com/office/officeart/2005/8/layout/vList2"/>
    <dgm:cxn modelId="{EC643C13-FAB9-460C-801E-A68BF9B37CD1}" type="presParOf" srcId="{10D41824-E2E0-4A40-BFA0-315DC363E98D}" destId="{0CB6004F-D074-49DB-ADFA-3BF18BB52CB1}" srcOrd="2" destOrd="0" presId="urn:microsoft.com/office/officeart/2005/8/layout/vList2"/>
    <dgm:cxn modelId="{7ACCBAD9-EF29-4753-B034-E94DAA85A5E1}" type="presParOf" srcId="{10D41824-E2E0-4A40-BFA0-315DC363E98D}" destId="{C3AE512B-CA52-4BE7-AB40-F806EA6D959C}" srcOrd="3" destOrd="0" presId="urn:microsoft.com/office/officeart/2005/8/layout/vList2"/>
    <dgm:cxn modelId="{C5AEB76C-4477-4D92-9E49-EF5AA4F0A0FA}" type="presParOf" srcId="{10D41824-E2E0-4A40-BFA0-315DC363E98D}" destId="{B2AF7659-42A0-4D9B-914F-EB8D8F53052D}" srcOrd="4" destOrd="0" presId="urn:microsoft.com/office/officeart/2005/8/layout/vList2"/>
    <dgm:cxn modelId="{B923671E-ED76-4A4B-85D4-C902CB9ED378}" type="presParOf" srcId="{10D41824-E2E0-4A40-BFA0-315DC363E98D}" destId="{BCD91F1D-16EA-4D57-9D52-8E43730C93ED}" srcOrd="5" destOrd="0" presId="urn:microsoft.com/office/officeart/2005/8/layout/vList2"/>
    <dgm:cxn modelId="{CE6626B9-87A9-48A6-883D-B077170B7D31}" type="presParOf" srcId="{10D41824-E2E0-4A40-BFA0-315DC363E98D}" destId="{4F1BF5D5-3EC4-46A9-A9BD-274664B9C16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3D0F16-AF2C-4555-9594-58F3086D41DE}"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DC752EB-DB5E-4CD9-BA97-52C6491819F1}">
      <dgm:prSet/>
      <dgm:spPr/>
      <dgm:t>
        <a:bodyPr/>
        <a:lstStyle/>
        <a:p>
          <a:r>
            <a:rPr lang="en-US"/>
            <a:t>FR: During the pandemic</a:t>
          </a:r>
        </a:p>
      </dgm:t>
    </dgm:pt>
    <dgm:pt modelId="{F09C80BA-A12D-4170-BA75-9E294135B37B}" type="parTrans" cxnId="{54E14923-43C1-4135-9F52-595DA9F4B402}">
      <dgm:prSet/>
      <dgm:spPr/>
      <dgm:t>
        <a:bodyPr/>
        <a:lstStyle/>
        <a:p>
          <a:endParaRPr lang="en-US"/>
        </a:p>
      </dgm:t>
    </dgm:pt>
    <dgm:pt modelId="{2C96CA52-4110-42D0-AFDE-D29AFEF09231}" type="sibTrans" cxnId="{54E14923-43C1-4135-9F52-595DA9F4B402}">
      <dgm:prSet/>
      <dgm:spPr/>
      <dgm:t>
        <a:bodyPr/>
        <a:lstStyle/>
        <a:p>
          <a:endParaRPr lang="en-US"/>
        </a:p>
      </dgm:t>
    </dgm:pt>
    <dgm:pt modelId="{33BA5400-EDA6-4988-99DF-8C11D77952FD}">
      <dgm:prSet/>
      <dgm:spPr/>
      <dgm:t>
        <a:bodyPr/>
        <a:lstStyle/>
        <a:p>
          <a:pPr>
            <a:buNone/>
          </a:pPr>
          <a:r>
            <a:rPr lang="en-US" sz="1600" i="1"/>
            <a:t>FR: Reduce costs, accelerate recovery</a:t>
          </a:r>
        </a:p>
      </dgm:t>
    </dgm:pt>
    <dgm:pt modelId="{7C43D5E6-C5A2-421A-85DB-D8A8C062A28B}" type="parTrans" cxnId="{E79E30E7-9A7A-410B-B01E-31F4FDF41787}">
      <dgm:prSet/>
      <dgm:spPr/>
      <dgm:t>
        <a:bodyPr/>
        <a:lstStyle/>
        <a:p>
          <a:endParaRPr lang="en-US"/>
        </a:p>
      </dgm:t>
    </dgm:pt>
    <dgm:pt modelId="{7B546DFF-ABAA-409B-9E9C-0700675172A9}" type="sibTrans" cxnId="{E79E30E7-9A7A-410B-B01E-31F4FDF41787}">
      <dgm:prSet/>
      <dgm:spPr/>
      <dgm:t>
        <a:bodyPr/>
        <a:lstStyle/>
        <a:p>
          <a:endParaRPr lang="en-US"/>
        </a:p>
      </dgm:t>
    </dgm:pt>
    <dgm:pt modelId="{AD11B55B-20BA-40AF-A955-BD9CFE4791A1}">
      <dgm:prSet custT="1"/>
      <dgm:spPr/>
      <dgm:t>
        <a:bodyPr/>
        <a:lstStyle/>
        <a:p>
          <a:pPr>
            <a:buFont typeface="Arial" panose="020B0604020202020204" pitchFamily="34" charset="0"/>
            <a:buChar char="•"/>
          </a:pPr>
          <a:r>
            <a:rPr lang="en-US" sz="1400" dirty="0"/>
            <a:t>FR: Public health surveillance and transparency can reduce costs of the pandemic.</a:t>
          </a:r>
        </a:p>
      </dgm:t>
    </dgm:pt>
    <dgm:pt modelId="{81FE0E18-C532-4793-94C3-CD4C357EE104}" type="parTrans" cxnId="{411E632B-B129-4087-A37E-61AC10D5FB98}">
      <dgm:prSet/>
      <dgm:spPr/>
      <dgm:t>
        <a:bodyPr/>
        <a:lstStyle/>
        <a:p>
          <a:endParaRPr lang="en-US"/>
        </a:p>
      </dgm:t>
    </dgm:pt>
    <dgm:pt modelId="{AE0189AD-F506-44DD-B05B-28D80C67031D}" type="sibTrans" cxnId="{411E632B-B129-4087-A37E-61AC10D5FB98}">
      <dgm:prSet/>
      <dgm:spPr/>
      <dgm:t>
        <a:bodyPr/>
        <a:lstStyle/>
        <a:p>
          <a:endParaRPr lang="en-US"/>
        </a:p>
      </dgm:t>
    </dgm:pt>
    <dgm:pt modelId="{FEAB59C7-EA3A-4E3B-9858-17908A8A0F05}">
      <dgm:prSet/>
      <dgm:spPr/>
      <dgm:t>
        <a:bodyPr/>
        <a:lstStyle/>
        <a:p>
          <a:r>
            <a:rPr lang="en-US"/>
            <a:t>FR: As the pandemic subsides</a:t>
          </a:r>
        </a:p>
      </dgm:t>
    </dgm:pt>
    <dgm:pt modelId="{4393B997-86C9-45E3-A93F-D96F2B995695}" type="parTrans" cxnId="{BD7706C7-811B-4280-AB5F-FA3D3FD89D56}">
      <dgm:prSet/>
      <dgm:spPr/>
      <dgm:t>
        <a:bodyPr/>
        <a:lstStyle/>
        <a:p>
          <a:endParaRPr lang="en-US"/>
        </a:p>
      </dgm:t>
    </dgm:pt>
    <dgm:pt modelId="{D116F28E-3CA2-4B14-84B2-983AF68B7386}" type="sibTrans" cxnId="{BD7706C7-811B-4280-AB5F-FA3D3FD89D56}">
      <dgm:prSet/>
      <dgm:spPr/>
      <dgm:t>
        <a:bodyPr/>
        <a:lstStyle/>
        <a:p>
          <a:endParaRPr lang="en-US"/>
        </a:p>
      </dgm:t>
    </dgm:pt>
    <dgm:pt modelId="{3FD5C915-9BB7-474F-B020-56575EC64CB5}">
      <dgm:prSet/>
      <dgm:spPr/>
      <dgm:t>
        <a:bodyPr/>
        <a:lstStyle/>
        <a:p>
          <a:r>
            <a:rPr lang="en-US" sz="1700" i="1" dirty="0"/>
            <a:t>FR: Raise investment’s impact</a:t>
          </a:r>
        </a:p>
      </dgm:t>
    </dgm:pt>
    <dgm:pt modelId="{FA761938-CA97-4272-ABBB-E7BBFC1CAB71}" type="parTrans" cxnId="{7A16565C-3A79-440A-A7E1-E8E4E65A871F}">
      <dgm:prSet/>
      <dgm:spPr/>
      <dgm:t>
        <a:bodyPr/>
        <a:lstStyle/>
        <a:p>
          <a:endParaRPr lang="en-US"/>
        </a:p>
      </dgm:t>
    </dgm:pt>
    <dgm:pt modelId="{99F9BF23-7BB1-4820-9AE2-7285ED2ADD58}" type="sibTrans" cxnId="{7A16565C-3A79-440A-A7E1-E8E4E65A871F}">
      <dgm:prSet/>
      <dgm:spPr/>
      <dgm:t>
        <a:bodyPr/>
        <a:lstStyle/>
        <a:p>
          <a:endParaRPr lang="en-US"/>
        </a:p>
      </dgm:t>
    </dgm:pt>
    <dgm:pt modelId="{53649559-DDFE-483E-9A46-14662CCD0FB1}">
      <dgm:prSet/>
      <dgm:spPr/>
      <dgm:t>
        <a:bodyPr/>
        <a:lstStyle/>
        <a:p>
          <a:r>
            <a:rPr lang="en-US"/>
            <a:t>FR: After the pandemic</a:t>
          </a:r>
        </a:p>
      </dgm:t>
    </dgm:pt>
    <dgm:pt modelId="{12B70157-0AF4-45AE-99DE-C4CA0517633C}" type="parTrans" cxnId="{43B50FAC-1192-4684-A07A-FBC4C8A1F73F}">
      <dgm:prSet/>
      <dgm:spPr/>
      <dgm:t>
        <a:bodyPr/>
        <a:lstStyle/>
        <a:p>
          <a:endParaRPr lang="en-US"/>
        </a:p>
      </dgm:t>
    </dgm:pt>
    <dgm:pt modelId="{D4FD851D-3D7A-4711-A92F-C29DD5D69F6A}" type="sibTrans" cxnId="{43B50FAC-1192-4684-A07A-FBC4C8A1F73F}">
      <dgm:prSet/>
      <dgm:spPr/>
      <dgm:t>
        <a:bodyPr/>
        <a:lstStyle/>
        <a:p>
          <a:endParaRPr lang="en-US"/>
        </a:p>
      </dgm:t>
    </dgm:pt>
    <dgm:pt modelId="{6DC4B5BA-12D5-4FA7-BDF4-DEA95716C004}">
      <dgm:prSet/>
      <dgm:spPr/>
      <dgm:t>
        <a:bodyPr/>
        <a:lstStyle/>
        <a:p>
          <a:r>
            <a:rPr lang="en-US" i="1"/>
            <a:t>FR: Reduce costs, reduce risk</a:t>
          </a:r>
        </a:p>
      </dgm:t>
    </dgm:pt>
    <dgm:pt modelId="{322044B1-6B54-4D60-8DB0-88DB5B9C14F7}" type="parTrans" cxnId="{A12D2B5A-75CE-4C1C-9A48-523A19BBCF8C}">
      <dgm:prSet/>
      <dgm:spPr/>
      <dgm:t>
        <a:bodyPr/>
        <a:lstStyle/>
        <a:p>
          <a:endParaRPr lang="en-US"/>
        </a:p>
      </dgm:t>
    </dgm:pt>
    <dgm:pt modelId="{DDA6252D-A145-42EC-A5D7-AD8AF39ED11B}" type="sibTrans" cxnId="{A12D2B5A-75CE-4C1C-9A48-523A19BBCF8C}">
      <dgm:prSet/>
      <dgm:spPr/>
      <dgm:t>
        <a:bodyPr/>
        <a:lstStyle/>
        <a:p>
          <a:endParaRPr lang="en-US"/>
        </a:p>
      </dgm:t>
    </dgm:pt>
    <dgm:pt modelId="{FC6E2D6A-71B0-4796-9529-8549D15BA34C}">
      <dgm:prSet/>
      <dgm:spPr/>
      <dgm:t>
        <a:bodyPr/>
        <a:lstStyle/>
        <a:p>
          <a:r>
            <a:rPr lang="en-US"/>
            <a:t>FR: Transparency can reduce borrowing costs. Good governance can reduce the risks of debt distress.</a:t>
          </a:r>
        </a:p>
      </dgm:t>
    </dgm:pt>
    <dgm:pt modelId="{7CBC1C24-061F-407D-BB5C-3DBC57EA1B45}" type="parTrans" cxnId="{79954B92-6280-489E-8ADB-061783ED8A55}">
      <dgm:prSet/>
      <dgm:spPr/>
      <dgm:t>
        <a:bodyPr/>
        <a:lstStyle/>
        <a:p>
          <a:endParaRPr lang="en-US"/>
        </a:p>
      </dgm:t>
    </dgm:pt>
    <dgm:pt modelId="{37045282-3F10-4CDD-B94E-ABB27230149F}" type="sibTrans" cxnId="{79954B92-6280-489E-8ADB-061783ED8A55}">
      <dgm:prSet/>
      <dgm:spPr/>
      <dgm:t>
        <a:bodyPr/>
        <a:lstStyle/>
        <a:p>
          <a:endParaRPr lang="en-US"/>
        </a:p>
      </dgm:t>
    </dgm:pt>
    <dgm:pt modelId="{72BAA999-5640-493E-BD35-81A3096814CD}">
      <dgm:prSet/>
      <dgm:spPr/>
      <dgm:t>
        <a:bodyPr/>
        <a:lstStyle/>
        <a:p>
          <a:pPr>
            <a:buFont typeface="Arial" panose="020B0604020202020204" pitchFamily="34" charset="0"/>
            <a:buChar char="•"/>
          </a:pPr>
          <a:endParaRPr lang="en-US" sz="1200"/>
        </a:p>
      </dgm:t>
    </dgm:pt>
    <dgm:pt modelId="{A362066D-CFF3-40C8-A720-1CDA69B8C83B}" type="parTrans" cxnId="{93DFD9F5-D937-42A7-B952-2B890782B7B8}">
      <dgm:prSet/>
      <dgm:spPr/>
      <dgm:t>
        <a:bodyPr/>
        <a:lstStyle/>
        <a:p>
          <a:endParaRPr lang="en-US"/>
        </a:p>
      </dgm:t>
    </dgm:pt>
    <dgm:pt modelId="{2075F73F-33B8-4F09-B841-00653B81E557}" type="sibTrans" cxnId="{93DFD9F5-D937-42A7-B952-2B890782B7B8}">
      <dgm:prSet/>
      <dgm:spPr/>
      <dgm:t>
        <a:bodyPr/>
        <a:lstStyle/>
        <a:p>
          <a:endParaRPr lang="en-US"/>
        </a:p>
      </dgm:t>
    </dgm:pt>
    <dgm:pt modelId="{1B03094B-3B85-4858-945C-BD92F26A1E5E}">
      <dgm:prSet custT="1"/>
      <dgm:spPr/>
      <dgm:t>
        <a:bodyPr/>
        <a:lstStyle/>
        <a:p>
          <a:r>
            <a:rPr lang="en-US" sz="1400" dirty="0"/>
            <a:t>FR: Transparency in public investment decisions can raise its impact on economic activity (GDP)</a:t>
          </a:r>
          <a:endParaRPr lang="en-US" sz="1300" dirty="0"/>
        </a:p>
      </dgm:t>
    </dgm:pt>
    <dgm:pt modelId="{1CC81B00-40D2-4037-B000-E1306159EE51}" type="parTrans" cxnId="{011E8FC1-A0E1-4104-AC67-9AE2833218F4}">
      <dgm:prSet/>
      <dgm:spPr/>
      <dgm:t>
        <a:bodyPr/>
        <a:lstStyle/>
        <a:p>
          <a:endParaRPr lang="en-US"/>
        </a:p>
      </dgm:t>
    </dgm:pt>
    <dgm:pt modelId="{BD4D8BC3-1212-4602-8D24-FB86F2567210}" type="sibTrans" cxnId="{011E8FC1-A0E1-4104-AC67-9AE2833218F4}">
      <dgm:prSet/>
      <dgm:spPr/>
      <dgm:t>
        <a:bodyPr/>
        <a:lstStyle/>
        <a:p>
          <a:endParaRPr lang="en-US"/>
        </a:p>
      </dgm:t>
    </dgm:pt>
    <dgm:pt modelId="{FE4B07EC-84A3-4286-B7C6-C8A74E183C87}">
      <dgm:prSet custT="1"/>
      <dgm:spPr/>
      <dgm:t>
        <a:bodyPr/>
        <a:lstStyle/>
        <a:p>
          <a:r>
            <a:rPr lang="en-US" sz="1400" dirty="0"/>
            <a:t>FR: Public health surveillance and transparency can accelerate the post-pandemic rebound (e.g., tourism; hospitality industries).</a:t>
          </a:r>
        </a:p>
      </dgm:t>
    </dgm:pt>
    <dgm:pt modelId="{EC67A2C3-163B-4BA6-AF57-BFF48F1D84DE}" type="parTrans" cxnId="{B68DB7F7-CF06-408E-B187-4B095D59AA0B}">
      <dgm:prSet/>
      <dgm:spPr/>
      <dgm:t>
        <a:bodyPr/>
        <a:lstStyle/>
        <a:p>
          <a:endParaRPr lang="en-US"/>
        </a:p>
      </dgm:t>
    </dgm:pt>
    <dgm:pt modelId="{B59C9B8B-90DD-42FC-87C9-6C0749B099DC}" type="sibTrans" cxnId="{B68DB7F7-CF06-408E-B187-4B095D59AA0B}">
      <dgm:prSet/>
      <dgm:spPr/>
      <dgm:t>
        <a:bodyPr/>
        <a:lstStyle/>
        <a:p>
          <a:endParaRPr lang="en-US"/>
        </a:p>
      </dgm:t>
    </dgm:pt>
    <dgm:pt modelId="{4B331DD6-8178-494C-B4BE-B7FB5532C65C}" type="pres">
      <dgm:prSet presAssocID="{3A3D0F16-AF2C-4555-9594-58F3086D41DE}" presName="Name0" presStyleCnt="0">
        <dgm:presLayoutVars>
          <dgm:dir/>
          <dgm:animLvl val="lvl"/>
          <dgm:resizeHandles val="exact"/>
        </dgm:presLayoutVars>
      </dgm:prSet>
      <dgm:spPr/>
    </dgm:pt>
    <dgm:pt modelId="{CB429555-F805-4C34-8D18-B27E410EE5A2}" type="pres">
      <dgm:prSet presAssocID="{BDC752EB-DB5E-4CD9-BA97-52C6491819F1}" presName="linNode" presStyleCnt="0"/>
      <dgm:spPr/>
    </dgm:pt>
    <dgm:pt modelId="{DFC569C3-C86F-4545-AB3C-673047233301}" type="pres">
      <dgm:prSet presAssocID="{BDC752EB-DB5E-4CD9-BA97-52C6491819F1}" presName="parentText" presStyleLbl="alignNode1" presStyleIdx="0" presStyleCnt="3">
        <dgm:presLayoutVars>
          <dgm:chMax val="1"/>
          <dgm:bulletEnabled/>
        </dgm:presLayoutVars>
      </dgm:prSet>
      <dgm:spPr/>
    </dgm:pt>
    <dgm:pt modelId="{0B9A1728-F1FA-4AFC-B65D-ECA7A087D09A}" type="pres">
      <dgm:prSet presAssocID="{BDC752EB-DB5E-4CD9-BA97-52C6491819F1}" presName="descendantText" presStyleLbl="alignAccFollowNode1" presStyleIdx="0" presStyleCnt="3">
        <dgm:presLayoutVars>
          <dgm:bulletEnabled/>
        </dgm:presLayoutVars>
      </dgm:prSet>
      <dgm:spPr/>
    </dgm:pt>
    <dgm:pt modelId="{BE585E94-BAB5-40A2-BD5F-5E56B257B540}" type="pres">
      <dgm:prSet presAssocID="{2C96CA52-4110-42D0-AFDE-D29AFEF09231}" presName="sp" presStyleCnt="0"/>
      <dgm:spPr/>
    </dgm:pt>
    <dgm:pt modelId="{D09D60A7-E469-421C-80E9-3B3C75358B23}" type="pres">
      <dgm:prSet presAssocID="{FEAB59C7-EA3A-4E3B-9858-17908A8A0F05}" presName="linNode" presStyleCnt="0"/>
      <dgm:spPr/>
    </dgm:pt>
    <dgm:pt modelId="{E2765943-E65F-4E53-9A3B-7B81B76269D0}" type="pres">
      <dgm:prSet presAssocID="{FEAB59C7-EA3A-4E3B-9858-17908A8A0F05}" presName="parentText" presStyleLbl="alignNode1" presStyleIdx="1" presStyleCnt="3">
        <dgm:presLayoutVars>
          <dgm:chMax val="1"/>
          <dgm:bulletEnabled/>
        </dgm:presLayoutVars>
      </dgm:prSet>
      <dgm:spPr/>
    </dgm:pt>
    <dgm:pt modelId="{665E85F7-33A8-411A-A326-AE2900BBA4C4}" type="pres">
      <dgm:prSet presAssocID="{FEAB59C7-EA3A-4E3B-9858-17908A8A0F05}" presName="descendantText" presStyleLbl="alignAccFollowNode1" presStyleIdx="1" presStyleCnt="3">
        <dgm:presLayoutVars>
          <dgm:bulletEnabled/>
        </dgm:presLayoutVars>
      </dgm:prSet>
      <dgm:spPr/>
    </dgm:pt>
    <dgm:pt modelId="{29C2BB87-05A5-4B7C-AE8C-5E9C5BE83E69}" type="pres">
      <dgm:prSet presAssocID="{D116F28E-3CA2-4B14-84B2-983AF68B7386}" presName="sp" presStyleCnt="0"/>
      <dgm:spPr/>
    </dgm:pt>
    <dgm:pt modelId="{AD674BDF-1C5B-4B42-837D-4B84834F6D85}" type="pres">
      <dgm:prSet presAssocID="{53649559-DDFE-483E-9A46-14662CCD0FB1}" presName="linNode" presStyleCnt="0"/>
      <dgm:spPr/>
    </dgm:pt>
    <dgm:pt modelId="{99B1EDDE-D583-4619-BA85-DFA1F91F19D1}" type="pres">
      <dgm:prSet presAssocID="{53649559-DDFE-483E-9A46-14662CCD0FB1}" presName="parentText" presStyleLbl="alignNode1" presStyleIdx="2" presStyleCnt="3">
        <dgm:presLayoutVars>
          <dgm:chMax val="1"/>
          <dgm:bulletEnabled/>
        </dgm:presLayoutVars>
      </dgm:prSet>
      <dgm:spPr/>
    </dgm:pt>
    <dgm:pt modelId="{D6E06639-06E4-409C-8477-ED871BEA6BD4}" type="pres">
      <dgm:prSet presAssocID="{53649559-DDFE-483E-9A46-14662CCD0FB1}" presName="descendantText" presStyleLbl="alignAccFollowNode1" presStyleIdx="2" presStyleCnt="3">
        <dgm:presLayoutVars>
          <dgm:bulletEnabled/>
        </dgm:presLayoutVars>
      </dgm:prSet>
      <dgm:spPr/>
    </dgm:pt>
  </dgm:ptLst>
  <dgm:cxnLst>
    <dgm:cxn modelId="{A9DDE102-CCB9-4916-A94C-3E87D0964E11}" type="presOf" srcId="{3A3D0F16-AF2C-4555-9594-58F3086D41DE}" destId="{4B331DD6-8178-494C-B4BE-B7FB5532C65C}" srcOrd="0" destOrd="0" presId="urn:microsoft.com/office/officeart/2016/7/layout/VerticalSolidActionList"/>
    <dgm:cxn modelId="{16C48C03-E2F1-4AB5-9715-68BEAD7B70E6}" type="presOf" srcId="{BDC752EB-DB5E-4CD9-BA97-52C6491819F1}" destId="{DFC569C3-C86F-4545-AB3C-673047233301}" srcOrd="0" destOrd="0" presId="urn:microsoft.com/office/officeart/2016/7/layout/VerticalSolidActionList"/>
    <dgm:cxn modelId="{4CB7E40A-9FBF-41B3-B7DD-86680B4A86AA}" type="presOf" srcId="{FEAB59C7-EA3A-4E3B-9858-17908A8A0F05}" destId="{E2765943-E65F-4E53-9A3B-7B81B76269D0}" srcOrd="0" destOrd="0" presId="urn:microsoft.com/office/officeart/2016/7/layout/VerticalSolidActionList"/>
    <dgm:cxn modelId="{8FEDBF14-B3CD-44D1-9306-1C30CCB876B9}" type="presOf" srcId="{FE4B07EC-84A3-4286-B7C6-C8A74E183C87}" destId="{665E85F7-33A8-411A-A326-AE2900BBA4C4}" srcOrd="0" destOrd="2" presId="urn:microsoft.com/office/officeart/2016/7/layout/VerticalSolidActionList"/>
    <dgm:cxn modelId="{54E14923-43C1-4135-9F52-595DA9F4B402}" srcId="{3A3D0F16-AF2C-4555-9594-58F3086D41DE}" destId="{BDC752EB-DB5E-4CD9-BA97-52C6491819F1}" srcOrd="0" destOrd="0" parTransId="{F09C80BA-A12D-4170-BA75-9E294135B37B}" sibTransId="{2C96CA52-4110-42D0-AFDE-D29AFEF09231}"/>
    <dgm:cxn modelId="{411E632B-B129-4087-A37E-61AC10D5FB98}" srcId="{33BA5400-EDA6-4988-99DF-8C11D77952FD}" destId="{AD11B55B-20BA-40AF-A955-BD9CFE4791A1}" srcOrd="1" destOrd="0" parTransId="{81FE0E18-C532-4793-94C3-CD4C357EE104}" sibTransId="{AE0189AD-F506-44DD-B05B-28D80C67031D}"/>
    <dgm:cxn modelId="{9B23755C-FC32-4E7F-A0D5-E10801913C04}" type="presOf" srcId="{53649559-DDFE-483E-9A46-14662CCD0FB1}" destId="{99B1EDDE-D583-4619-BA85-DFA1F91F19D1}" srcOrd="0" destOrd="0" presId="urn:microsoft.com/office/officeart/2016/7/layout/VerticalSolidActionList"/>
    <dgm:cxn modelId="{4D84755C-C376-4396-ABCB-2FBCE2F5D5FA}" type="presOf" srcId="{6DC4B5BA-12D5-4FA7-BDF4-DEA95716C004}" destId="{D6E06639-06E4-409C-8477-ED871BEA6BD4}" srcOrd="0" destOrd="0" presId="urn:microsoft.com/office/officeart/2016/7/layout/VerticalSolidActionList"/>
    <dgm:cxn modelId="{7A16565C-3A79-440A-A7E1-E8E4E65A871F}" srcId="{FEAB59C7-EA3A-4E3B-9858-17908A8A0F05}" destId="{3FD5C915-9BB7-474F-B020-56575EC64CB5}" srcOrd="0" destOrd="0" parTransId="{FA761938-CA97-4272-ABBB-E7BBFC1CAB71}" sibTransId="{99F9BF23-7BB1-4820-9AE2-7285ED2ADD58}"/>
    <dgm:cxn modelId="{30D78758-97F1-4E7D-B5CC-3D5AFE4AFEC0}" type="presOf" srcId="{AD11B55B-20BA-40AF-A955-BD9CFE4791A1}" destId="{0B9A1728-F1FA-4AFC-B65D-ECA7A087D09A}" srcOrd="0" destOrd="2" presId="urn:microsoft.com/office/officeart/2016/7/layout/VerticalSolidActionList"/>
    <dgm:cxn modelId="{A12D2B5A-75CE-4C1C-9A48-523A19BBCF8C}" srcId="{53649559-DDFE-483E-9A46-14662CCD0FB1}" destId="{6DC4B5BA-12D5-4FA7-BDF4-DEA95716C004}" srcOrd="0" destOrd="0" parTransId="{322044B1-6B54-4D60-8DB0-88DB5B9C14F7}" sibTransId="{DDA6252D-A145-42EC-A5D7-AD8AF39ED11B}"/>
    <dgm:cxn modelId="{2673A282-06E7-43E3-874F-B79C84C0CDFB}" type="presOf" srcId="{33BA5400-EDA6-4988-99DF-8C11D77952FD}" destId="{0B9A1728-F1FA-4AFC-B65D-ECA7A087D09A}" srcOrd="0" destOrd="0" presId="urn:microsoft.com/office/officeart/2016/7/layout/VerticalSolidActionList"/>
    <dgm:cxn modelId="{B99F2B91-5D51-419E-AE58-A01053AD6CAE}" type="presOf" srcId="{3FD5C915-9BB7-474F-B020-56575EC64CB5}" destId="{665E85F7-33A8-411A-A326-AE2900BBA4C4}" srcOrd="0" destOrd="0" presId="urn:microsoft.com/office/officeart/2016/7/layout/VerticalSolidActionList"/>
    <dgm:cxn modelId="{79954B92-6280-489E-8ADB-061783ED8A55}" srcId="{6DC4B5BA-12D5-4FA7-BDF4-DEA95716C004}" destId="{FC6E2D6A-71B0-4796-9529-8549D15BA34C}" srcOrd="0" destOrd="0" parTransId="{7CBC1C24-061F-407D-BB5C-3DBC57EA1B45}" sibTransId="{37045282-3F10-4CDD-B94E-ABB27230149F}"/>
    <dgm:cxn modelId="{9F471598-96CB-47B4-93A3-77B5A32BC615}" type="presOf" srcId="{72BAA999-5640-493E-BD35-81A3096814CD}" destId="{0B9A1728-F1FA-4AFC-B65D-ECA7A087D09A}" srcOrd="0" destOrd="1" presId="urn:microsoft.com/office/officeart/2016/7/layout/VerticalSolidActionList"/>
    <dgm:cxn modelId="{44CE2D9C-D462-4727-A0F4-91F83B6AE550}" type="presOf" srcId="{1B03094B-3B85-4858-945C-BD92F26A1E5E}" destId="{665E85F7-33A8-411A-A326-AE2900BBA4C4}" srcOrd="0" destOrd="1" presId="urn:microsoft.com/office/officeart/2016/7/layout/VerticalSolidActionList"/>
    <dgm:cxn modelId="{43B50FAC-1192-4684-A07A-FBC4C8A1F73F}" srcId="{3A3D0F16-AF2C-4555-9594-58F3086D41DE}" destId="{53649559-DDFE-483E-9A46-14662CCD0FB1}" srcOrd="2" destOrd="0" parTransId="{12B70157-0AF4-45AE-99DE-C4CA0517633C}" sibTransId="{D4FD851D-3D7A-4711-A92F-C29DD5D69F6A}"/>
    <dgm:cxn modelId="{885267BC-9A5F-4419-A469-010489C1EEBE}" type="presOf" srcId="{FC6E2D6A-71B0-4796-9529-8549D15BA34C}" destId="{D6E06639-06E4-409C-8477-ED871BEA6BD4}" srcOrd="0" destOrd="1" presId="urn:microsoft.com/office/officeart/2016/7/layout/VerticalSolidActionList"/>
    <dgm:cxn modelId="{011E8FC1-A0E1-4104-AC67-9AE2833218F4}" srcId="{3FD5C915-9BB7-474F-B020-56575EC64CB5}" destId="{1B03094B-3B85-4858-945C-BD92F26A1E5E}" srcOrd="0" destOrd="0" parTransId="{1CC81B00-40D2-4037-B000-E1306159EE51}" sibTransId="{BD4D8BC3-1212-4602-8D24-FB86F2567210}"/>
    <dgm:cxn modelId="{BD7706C7-811B-4280-AB5F-FA3D3FD89D56}" srcId="{3A3D0F16-AF2C-4555-9594-58F3086D41DE}" destId="{FEAB59C7-EA3A-4E3B-9858-17908A8A0F05}" srcOrd="1" destOrd="0" parTransId="{4393B997-86C9-45E3-A93F-D96F2B995695}" sibTransId="{D116F28E-3CA2-4B14-84B2-983AF68B7386}"/>
    <dgm:cxn modelId="{E79E30E7-9A7A-410B-B01E-31F4FDF41787}" srcId="{BDC752EB-DB5E-4CD9-BA97-52C6491819F1}" destId="{33BA5400-EDA6-4988-99DF-8C11D77952FD}" srcOrd="0" destOrd="0" parTransId="{7C43D5E6-C5A2-421A-85DB-D8A8C062A28B}" sibTransId="{7B546DFF-ABAA-409B-9E9C-0700675172A9}"/>
    <dgm:cxn modelId="{93DFD9F5-D937-42A7-B952-2B890782B7B8}" srcId="{33BA5400-EDA6-4988-99DF-8C11D77952FD}" destId="{72BAA999-5640-493E-BD35-81A3096814CD}" srcOrd="0" destOrd="0" parTransId="{A362066D-CFF3-40C8-A720-1CDA69B8C83B}" sibTransId="{2075F73F-33B8-4F09-B841-00653B81E557}"/>
    <dgm:cxn modelId="{B68DB7F7-CF06-408E-B187-4B095D59AA0B}" srcId="{3FD5C915-9BB7-474F-B020-56575EC64CB5}" destId="{FE4B07EC-84A3-4286-B7C6-C8A74E183C87}" srcOrd="1" destOrd="0" parTransId="{EC67A2C3-163B-4BA6-AF57-BFF48F1D84DE}" sibTransId="{B59C9B8B-90DD-42FC-87C9-6C0749B099DC}"/>
    <dgm:cxn modelId="{81612622-D36C-4F84-AAC1-81A1C4799580}" type="presParOf" srcId="{4B331DD6-8178-494C-B4BE-B7FB5532C65C}" destId="{CB429555-F805-4C34-8D18-B27E410EE5A2}" srcOrd="0" destOrd="0" presId="urn:microsoft.com/office/officeart/2016/7/layout/VerticalSolidActionList"/>
    <dgm:cxn modelId="{E4A02B23-DAFB-4A10-85C1-CD837EFCB7ED}" type="presParOf" srcId="{CB429555-F805-4C34-8D18-B27E410EE5A2}" destId="{DFC569C3-C86F-4545-AB3C-673047233301}" srcOrd="0" destOrd="0" presId="urn:microsoft.com/office/officeart/2016/7/layout/VerticalSolidActionList"/>
    <dgm:cxn modelId="{8E2A3A97-A620-403A-8129-CCF242265B2C}" type="presParOf" srcId="{CB429555-F805-4C34-8D18-B27E410EE5A2}" destId="{0B9A1728-F1FA-4AFC-B65D-ECA7A087D09A}" srcOrd="1" destOrd="0" presId="urn:microsoft.com/office/officeart/2016/7/layout/VerticalSolidActionList"/>
    <dgm:cxn modelId="{4E0B7BCB-3922-4B42-AE20-4A248962EFFB}" type="presParOf" srcId="{4B331DD6-8178-494C-B4BE-B7FB5532C65C}" destId="{BE585E94-BAB5-40A2-BD5F-5E56B257B540}" srcOrd="1" destOrd="0" presId="urn:microsoft.com/office/officeart/2016/7/layout/VerticalSolidActionList"/>
    <dgm:cxn modelId="{BB3B2C74-62DC-4386-A028-5CDDF93DE5B2}" type="presParOf" srcId="{4B331DD6-8178-494C-B4BE-B7FB5532C65C}" destId="{D09D60A7-E469-421C-80E9-3B3C75358B23}" srcOrd="2" destOrd="0" presId="urn:microsoft.com/office/officeart/2016/7/layout/VerticalSolidActionList"/>
    <dgm:cxn modelId="{30D81E53-7EC5-4497-AE14-5EF368874A51}" type="presParOf" srcId="{D09D60A7-E469-421C-80E9-3B3C75358B23}" destId="{E2765943-E65F-4E53-9A3B-7B81B76269D0}" srcOrd="0" destOrd="0" presId="urn:microsoft.com/office/officeart/2016/7/layout/VerticalSolidActionList"/>
    <dgm:cxn modelId="{28A61FE9-42FA-4E3A-8DD7-AF89F936A797}" type="presParOf" srcId="{D09D60A7-E469-421C-80E9-3B3C75358B23}" destId="{665E85F7-33A8-411A-A326-AE2900BBA4C4}" srcOrd="1" destOrd="0" presId="urn:microsoft.com/office/officeart/2016/7/layout/VerticalSolidActionList"/>
    <dgm:cxn modelId="{61153971-CF36-42D3-A2FD-048E17D8D8C2}" type="presParOf" srcId="{4B331DD6-8178-494C-B4BE-B7FB5532C65C}" destId="{29C2BB87-05A5-4B7C-AE8C-5E9C5BE83E69}" srcOrd="3" destOrd="0" presId="urn:microsoft.com/office/officeart/2016/7/layout/VerticalSolidActionList"/>
    <dgm:cxn modelId="{DC495CB4-6142-4E5B-A357-4E16EB605915}" type="presParOf" srcId="{4B331DD6-8178-494C-B4BE-B7FB5532C65C}" destId="{AD674BDF-1C5B-4B42-837D-4B84834F6D85}" srcOrd="4" destOrd="0" presId="urn:microsoft.com/office/officeart/2016/7/layout/VerticalSolidActionList"/>
    <dgm:cxn modelId="{80C028F5-F783-4680-A0A9-22EAAEAFD2A2}" type="presParOf" srcId="{AD674BDF-1C5B-4B42-837D-4B84834F6D85}" destId="{99B1EDDE-D583-4619-BA85-DFA1F91F19D1}" srcOrd="0" destOrd="0" presId="urn:microsoft.com/office/officeart/2016/7/layout/VerticalSolidActionList"/>
    <dgm:cxn modelId="{9683A780-1F33-4133-BBB3-58D9C9F9DAA4}" type="presParOf" srcId="{AD674BDF-1C5B-4B42-837D-4B84834F6D85}" destId="{D6E06639-06E4-409C-8477-ED871BEA6BD4}"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DD6E5F-2D29-4EEA-806E-E4CA13A0FA68}">
      <dsp:nvSpPr>
        <dsp:cNvPr id="0" name=""/>
        <dsp:cNvSpPr/>
      </dsp:nvSpPr>
      <dsp:spPr>
        <a:xfrm>
          <a:off x="0" y="65372"/>
          <a:ext cx="6367912" cy="151039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The Middle East and North Africa (MENA) region is </a:t>
          </a:r>
          <a:r>
            <a:rPr lang="en-US" sz="2700" u="none" kern="1200" dirty="0"/>
            <a:t>still in crisis</a:t>
          </a:r>
        </a:p>
      </dsp:txBody>
      <dsp:txXfrm>
        <a:off x="73731" y="139103"/>
        <a:ext cx="6220450" cy="1362934"/>
      </dsp:txXfrm>
    </dsp:sp>
    <dsp:sp modelId="{D96F5C80-F371-4600-9BE9-3C3039E06725}">
      <dsp:nvSpPr>
        <dsp:cNvPr id="0" name=""/>
        <dsp:cNvSpPr/>
      </dsp:nvSpPr>
      <dsp:spPr>
        <a:xfrm>
          <a:off x="0" y="1653529"/>
          <a:ext cx="6367912" cy="1510396"/>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MENA countries face a </a:t>
          </a:r>
          <a:r>
            <a:rPr lang="en-US" sz="2700" u="none" kern="1200" dirty="0"/>
            <a:t>balancing act</a:t>
          </a:r>
          <a:r>
            <a:rPr lang="en-US" sz="2700" u="sng" kern="1200" dirty="0"/>
            <a:t> </a:t>
          </a:r>
          <a:r>
            <a:rPr lang="en-US" sz="2700" kern="1200" dirty="0"/>
            <a:t>between short-term needs and long-run risks of public debt</a:t>
          </a:r>
        </a:p>
      </dsp:txBody>
      <dsp:txXfrm>
        <a:off x="73731" y="1727260"/>
        <a:ext cx="6220450" cy="1362934"/>
      </dsp:txXfrm>
    </dsp:sp>
    <dsp:sp modelId="{0E66F634-82D9-4910-9E9D-359C01088179}">
      <dsp:nvSpPr>
        <dsp:cNvPr id="0" name=""/>
        <dsp:cNvSpPr/>
      </dsp:nvSpPr>
      <dsp:spPr>
        <a:xfrm>
          <a:off x="0" y="3241686"/>
          <a:ext cx="6367912" cy="1510396"/>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Tough choices: </a:t>
          </a:r>
          <a:r>
            <a:rPr lang="en-US" sz="2700" kern="1200" dirty="0"/>
            <a:t>public expenditure priorities depend on the phase of the recovery</a:t>
          </a:r>
        </a:p>
      </dsp:txBody>
      <dsp:txXfrm>
        <a:off x="73731" y="3315417"/>
        <a:ext cx="6220450" cy="1362934"/>
      </dsp:txXfrm>
    </dsp:sp>
    <dsp:sp modelId="{0D2D3FB6-6FCB-436E-AB5D-219E55D5915C}">
      <dsp:nvSpPr>
        <dsp:cNvPr id="0" name=""/>
        <dsp:cNvSpPr/>
      </dsp:nvSpPr>
      <dsp:spPr>
        <a:xfrm>
          <a:off x="0" y="4829843"/>
          <a:ext cx="6367912" cy="1510396"/>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Sunlight can help! </a:t>
          </a:r>
          <a:r>
            <a:rPr lang="en-US" sz="2700" kern="1200" dirty="0"/>
            <a:t>Transparency can help chart a path to lasting recovery for MENA</a:t>
          </a:r>
        </a:p>
      </dsp:txBody>
      <dsp:txXfrm>
        <a:off x="73731" y="4903574"/>
        <a:ext cx="6220450" cy="13629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B891-F357-46F4-9B3B-5A1FAD10338C}">
      <dsp:nvSpPr>
        <dsp:cNvPr id="0" name=""/>
        <dsp:cNvSpPr/>
      </dsp:nvSpPr>
      <dsp:spPr>
        <a:xfrm>
          <a:off x="0" y="136045"/>
          <a:ext cx="6367912" cy="14880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A Region Still In Crisis</a:t>
          </a:r>
          <a:r>
            <a:rPr lang="en-US" sz="2100" kern="1200" dirty="0"/>
            <a:t>: Quantifies the socio-economic pain</a:t>
          </a:r>
        </a:p>
      </dsp:txBody>
      <dsp:txXfrm>
        <a:off x="72639" y="208684"/>
        <a:ext cx="6222634" cy="1342742"/>
      </dsp:txXfrm>
    </dsp:sp>
    <dsp:sp modelId="{0CB6004F-D074-49DB-ADFA-3BF18BB52CB1}">
      <dsp:nvSpPr>
        <dsp:cNvPr id="0" name=""/>
        <dsp:cNvSpPr/>
      </dsp:nvSpPr>
      <dsp:spPr>
        <a:xfrm>
          <a:off x="0" y="1684545"/>
          <a:ext cx="6367912" cy="14880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Walking the Debt Tightrope</a:t>
          </a:r>
          <a:r>
            <a:rPr lang="en-US" sz="2100" kern="1200" dirty="0"/>
            <a:t>: Articulates the tensions between immediate socio-economic needs and long-run risks in a region that already had high levels of debt in 2019</a:t>
          </a:r>
        </a:p>
      </dsp:txBody>
      <dsp:txXfrm>
        <a:off x="72639" y="1757184"/>
        <a:ext cx="6222634" cy="1342742"/>
      </dsp:txXfrm>
    </dsp:sp>
    <dsp:sp modelId="{B2AF7659-42A0-4D9B-914F-EB8D8F53052D}">
      <dsp:nvSpPr>
        <dsp:cNvPr id="0" name=""/>
        <dsp:cNvSpPr/>
      </dsp:nvSpPr>
      <dsp:spPr>
        <a:xfrm>
          <a:off x="0" y="3233046"/>
          <a:ext cx="6367912" cy="14880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Tough Choices ahead</a:t>
          </a:r>
          <a:r>
            <a:rPr lang="en-US" sz="2100" kern="1200" dirty="0"/>
            <a:t>: Discusses priorities </a:t>
          </a:r>
          <a:r>
            <a:rPr lang="en-US" sz="2100" u="sng" kern="1200" dirty="0"/>
            <a:t>during </a:t>
          </a:r>
          <a:r>
            <a:rPr lang="en-US" sz="2100" kern="1200" dirty="0"/>
            <a:t>the pandemic, </a:t>
          </a:r>
          <a:r>
            <a:rPr lang="en-US" sz="2100" u="sng" kern="1200" dirty="0"/>
            <a:t>after </a:t>
          </a:r>
          <a:r>
            <a:rPr lang="en-US" sz="2100" kern="1200" dirty="0"/>
            <a:t>the pandemic, and </a:t>
          </a:r>
          <a:r>
            <a:rPr lang="en-US" sz="2100" u="sng" kern="1200" dirty="0"/>
            <a:t>beyond</a:t>
          </a:r>
          <a:endParaRPr lang="en-US" sz="2100" kern="1200" dirty="0"/>
        </a:p>
      </dsp:txBody>
      <dsp:txXfrm>
        <a:off x="72639" y="3305685"/>
        <a:ext cx="6222634" cy="1342742"/>
      </dsp:txXfrm>
    </dsp:sp>
    <dsp:sp modelId="{4F1BF5D5-3EC4-46A9-A9BD-274664B9C165}">
      <dsp:nvSpPr>
        <dsp:cNvPr id="0" name=""/>
        <dsp:cNvSpPr/>
      </dsp:nvSpPr>
      <dsp:spPr>
        <a:xfrm>
          <a:off x="0" y="4781547"/>
          <a:ext cx="6367912" cy="14880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a:t>Sunlight Can Help</a:t>
          </a:r>
          <a:r>
            <a:rPr lang="en-US" sz="2100" kern="1200"/>
            <a:t>: Highlights the role of institutions, especially transparency, in charting a path to recovery for the Middle East and North Africa</a:t>
          </a:r>
        </a:p>
      </dsp:txBody>
      <dsp:txXfrm>
        <a:off x="72639" y="4854186"/>
        <a:ext cx="6222634" cy="134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9A1728-F1FA-4AFC-B65D-ECA7A087D09A}">
      <dsp:nvSpPr>
        <dsp:cNvPr id="0" name=""/>
        <dsp:cNvSpPr/>
      </dsp:nvSpPr>
      <dsp:spPr>
        <a:xfrm>
          <a:off x="1273582" y="2001"/>
          <a:ext cx="5094330" cy="205179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11200">
            <a:lnSpc>
              <a:spcPct val="90000"/>
            </a:lnSpc>
            <a:spcBef>
              <a:spcPct val="0"/>
            </a:spcBef>
            <a:spcAft>
              <a:spcPct val="35000"/>
            </a:spcAft>
            <a:buNone/>
          </a:pPr>
          <a:r>
            <a:rPr lang="en-US" sz="1600" i="1" kern="1200"/>
            <a:t>Reduce costs, accelerate recovery</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Public health surveillance and transparency can reduce costs of the pandemic.</a:t>
          </a:r>
        </a:p>
      </dsp:txBody>
      <dsp:txXfrm>
        <a:off x="1273582" y="2001"/>
        <a:ext cx="5094330" cy="2051797"/>
      </dsp:txXfrm>
    </dsp:sp>
    <dsp:sp modelId="{DFC569C3-C86F-4545-AB3C-673047233301}">
      <dsp:nvSpPr>
        <dsp:cNvPr id="0" name=""/>
        <dsp:cNvSpPr/>
      </dsp:nvSpPr>
      <dsp:spPr>
        <a:xfrm>
          <a:off x="0" y="2001"/>
          <a:ext cx="1273582" cy="205179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During the pandemic</a:t>
          </a:r>
        </a:p>
      </dsp:txBody>
      <dsp:txXfrm>
        <a:off x="0" y="2001"/>
        <a:ext cx="1273582" cy="2051797"/>
      </dsp:txXfrm>
    </dsp:sp>
    <dsp:sp modelId="{665E85F7-33A8-411A-A326-AE2900BBA4C4}">
      <dsp:nvSpPr>
        <dsp:cNvPr id="0" name=""/>
        <dsp:cNvSpPr/>
      </dsp:nvSpPr>
      <dsp:spPr>
        <a:xfrm>
          <a:off x="1273582" y="2176907"/>
          <a:ext cx="5094330" cy="205179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55650">
            <a:lnSpc>
              <a:spcPct val="90000"/>
            </a:lnSpc>
            <a:spcBef>
              <a:spcPct val="0"/>
            </a:spcBef>
            <a:spcAft>
              <a:spcPct val="35000"/>
            </a:spcAft>
            <a:buNone/>
          </a:pPr>
          <a:r>
            <a:rPr lang="en-US" sz="1700" i="1" kern="1200" dirty="0"/>
            <a:t>Raise investment’s impact</a:t>
          </a:r>
        </a:p>
        <a:p>
          <a:pPr marL="114300" lvl="1" indent="-114300" algn="l" defTabSz="622300">
            <a:lnSpc>
              <a:spcPct val="90000"/>
            </a:lnSpc>
            <a:spcBef>
              <a:spcPct val="0"/>
            </a:spcBef>
            <a:spcAft>
              <a:spcPct val="15000"/>
            </a:spcAft>
            <a:buChar char="•"/>
          </a:pPr>
          <a:r>
            <a:rPr lang="en-US" sz="1400" kern="1200" dirty="0"/>
            <a:t>Transparency in public investment decisions can raise its impact on economic activity (GDP)</a:t>
          </a:r>
          <a:endParaRPr lang="en-US" sz="1300" kern="1200" dirty="0"/>
        </a:p>
        <a:p>
          <a:pPr marL="114300" lvl="1" indent="-114300" algn="l" defTabSz="622300">
            <a:lnSpc>
              <a:spcPct val="90000"/>
            </a:lnSpc>
            <a:spcBef>
              <a:spcPct val="0"/>
            </a:spcBef>
            <a:spcAft>
              <a:spcPct val="15000"/>
            </a:spcAft>
            <a:buChar char="•"/>
          </a:pPr>
          <a:r>
            <a:rPr lang="en-US" sz="1400" kern="1200" dirty="0"/>
            <a:t>Public health surveillance and transparency can accelerate the post-pandemic rebound (e.g., tourism; hospitality industries).</a:t>
          </a:r>
        </a:p>
      </dsp:txBody>
      <dsp:txXfrm>
        <a:off x="1273582" y="2176907"/>
        <a:ext cx="5094330" cy="2051797"/>
      </dsp:txXfrm>
    </dsp:sp>
    <dsp:sp modelId="{E2765943-E65F-4E53-9A3B-7B81B76269D0}">
      <dsp:nvSpPr>
        <dsp:cNvPr id="0" name=""/>
        <dsp:cNvSpPr/>
      </dsp:nvSpPr>
      <dsp:spPr>
        <a:xfrm>
          <a:off x="0" y="2176907"/>
          <a:ext cx="1273582" cy="205179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As the pandemic subsides</a:t>
          </a:r>
        </a:p>
      </dsp:txBody>
      <dsp:txXfrm>
        <a:off x="0" y="2176907"/>
        <a:ext cx="1273582" cy="2051797"/>
      </dsp:txXfrm>
    </dsp:sp>
    <dsp:sp modelId="{D6E06639-06E4-409C-8477-ED871BEA6BD4}">
      <dsp:nvSpPr>
        <dsp:cNvPr id="0" name=""/>
        <dsp:cNvSpPr/>
      </dsp:nvSpPr>
      <dsp:spPr>
        <a:xfrm>
          <a:off x="1273582" y="4351813"/>
          <a:ext cx="5094330" cy="205179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800100">
            <a:lnSpc>
              <a:spcPct val="90000"/>
            </a:lnSpc>
            <a:spcBef>
              <a:spcPct val="0"/>
            </a:spcBef>
            <a:spcAft>
              <a:spcPct val="35000"/>
            </a:spcAft>
            <a:buNone/>
          </a:pPr>
          <a:r>
            <a:rPr lang="en-US" sz="1800" i="1" kern="1200"/>
            <a:t>Reduce costs, reduce risk</a:t>
          </a:r>
        </a:p>
        <a:p>
          <a:pPr marL="114300" lvl="1" indent="-114300" algn="l" defTabSz="622300">
            <a:lnSpc>
              <a:spcPct val="90000"/>
            </a:lnSpc>
            <a:spcBef>
              <a:spcPct val="0"/>
            </a:spcBef>
            <a:spcAft>
              <a:spcPct val="15000"/>
            </a:spcAft>
            <a:buChar char="•"/>
          </a:pPr>
          <a:r>
            <a:rPr lang="en-US" sz="1400" kern="1200"/>
            <a:t>Transparency can reduce borrowing costs. Good governance can reduce the risks of debt distress.</a:t>
          </a:r>
        </a:p>
      </dsp:txBody>
      <dsp:txXfrm>
        <a:off x="1273582" y="4351813"/>
        <a:ext cx="5094330" cy="2051797"/>
      </dsp:txXfrm>
    </dsp:sp>
    <dsp:sp modelId="{99B1EDDE-D583-4619-BA85-DFA1F91F19D1}">
      <dsp:nvSpPr>
        <dsp:cNvPr id="0" name=""/>
        <dsp:cNvSpPr/>
      </dsp:nvSpPr>
      <dsp:spPr>
        <a:xfrm>
          <a:off x="0" y="4351813"/>
          <a:ext cx="1273582" cy="205179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After the pandemic</a:t>
          </a:r>
        </a:p>
      </dsp:txBody>
      <dsp:txXfrm>
        <a:off x="0" y="4351813"/>
        <a:ext cx="1273582" cy="20517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per capita level - </a:t>
          </a:r>
          <a:r>
            <a:rPr lang="en-US" sz="1400" b="1" dirty="0"/>
            <a:t>MENA</a:t>
          </a:r>
        </a:p>
      </cdr:txBody>
    </cdr:sp>
  </cdr:relSizeAnchor>
  <cdr:relSizeAnchor xmlns:cdr="http://schemas.openxmlformats.org/drawingml/2006/chartDrawing">
    <cdr:from>
      <cdr:x>0.84479</cdr:x>
      <cdr:y>0.44667</cdr:y>
    </cdr:from>
    <cdr:to>
      <cdr:x>1</cdr:x>
      <cdr:y>0.54272</cdr:y>
    </cdr:to>
    <cdr:sp macro="" textlink="">
      <cdr:nvSpPr>
        <cdr:cNvPr id="3" name="TextBox 6">
          <a:extLst xmlns:a="http://schemas.openxmlformats.org/drawingml/2006/main">
            <a:ext uri="{FF2B5EF4-FFF2-40B4-BE49-F238E27FC236}">
              <a16:creationId xmlns:a16="http://schemas.microsoft.com/office/drawing/2014/main" id="{6E3F0EB0-2398-4B72-97CF-D4BF8C775E6B}"/>
            </a:ext>
          </a:extLst>
        </cdr:cNvPr>
        <cdr:cNvSpPr txBox="1"/>
      </cdr:nvSpPr>
      <cdr:spPr>
        <a:xfrm xmlns:a="http://schemas.openxmlformats.org/drawingml/2006/main">
          <a:off x="3629028" y="1717569"/>
          <a:ext cx="666747"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en-US" sz="1800" dirty="0">
              <a:solidFill>
                <a:srgbClr val="FF0000"/>
              </a:solidFill>
            </a:rPr>
            <a:t>7.0%</a:t>
          </a:r>
        </a:p>
      </cdr:txBody>
    </cdr:sp>
  </cdr:relSizeAnchor>
  <cdr:relSizeAnchor xmlns:cdr="http://schemas.openxmlformats.org/drawingml/2006/chartDrawing">
    <cdr:from>
      <cdr:x>0.85145</cdr:x>
      <cdr:y>0.37938</cdr:y>
    </cdr:from>
    <cdr:to>
      <cdr:x>0.85145</cdr:x>
      <cdr:y>0.55772</cdr:y>
    </cdr:to>
    <cdr:cxnSp macro="">
      <cdr:nvCxnSpPr>
        <cdr:cNvPr id="4" name="Straight Arrow Connector 3">
          <a:extLst xmlns:a="http://schemas.openxmlformats.org/drawingml/2006/main">
            <a:ext uri="{FF2B5EF4-FFF2-40B4-BE49-F238E27FC236}">
              <a16:creationId xmlns:a16="http://schemas.microsoft.com/office/drawing/2014/main" id="{3B2314C3-6391-4666-A0A0-309B011A0A5E}"/>
            </a:ext>
          </a:extLst>
        </cdr:cNvPr>
        <cdr:cNvCxnSpPr/>
      </cdr:nvCxnSpPr>
      <cdr:spPr>
        <a:xfrm xmlns:a="http://schemas.openxmlformats.org/drawingml/2006/main">
          <a:off x="3657653" y="1458832"/>
          <a:ext cx="0" cy="685773"/>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level-</a:t>
          </a:r>
          <a:r>
            <a:rPr lang="en-US" sz="1400" b="1" dirty="0"/>
            <a:t> MENA</a:t>
          </a:r>
        </a:p>
      </cdr:txBody>
    </cdr:sp>
  </cdr:relSizeAnchor>
  <cdr:relSizeAnchor xmlns:cdr="http://schemas.openxmlformats.org/drawingml/2006/chartDrawing">
    <cdr:from>
      <cdr:x>0.8415</cdr:x>
      <cdr:y>0.31509</cdr:y>
    </cdr:from>
    <cdr:to>
      <cdr:x>0.99671</cdr:x>
      <cdr:y>0.40756</cdr:y>
    </cdr:to>
    <cdr:sp macro="" textlink="">
      <cdr:nvSpPr>
        <cdr:cNvPr id="3" name="TextBox 6">
          <a:extLst xmlns:a="http://schemas.openxmlformats.org/drawingml/2006/main">
            <a:ext uri="{FF2B5EF4-FFF2-40B4-BE49-F238E27FC236}">
              <a16:creationId xmlns:a16="http://schemas.microsoft.com/office/drawing/2014/main" id="{19620901-91DD-48F9-985B-6E44E6504231}"/>
            </a:ext>
          </a:extLst>
        </cdr:cNvPr>
        <cdr:cNvSpPr txBox="1"/>
      </cdr:nvSpPr>
      <cdr:spPr>
        <a:xfrm xmlns:a="http://schemas.openxmlformats.org/drawingml/2006/main">
          <a:off x="3614898" y="1258481"/>
          <a:ext cx="666750"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dirty="0">
              <a:solidFill>
                <a:srgbClr val="FF0000"/>
              </a:solidFill>
            </a:rPr>
            <a:t>7.2%</a:t>
          </a:r>
        </a:p>
      </cdr:txBody>
    </cdr:sp>
  </cdr:relSizeAnchor>
  <cdr:relSizeAnchor xmlns:cdr="http://schemas.openxmlformats.org/drawingml/2006/chartDrawing">
    <cdr:from>
      <cdr:x>0.83417</cdr:x>
      <cdr:y>0.2794</cdr:y>
    </cdr:from>
    <cdr:to>
      <cdr:x>0.83417</cdr:x>
      <cdr:y>0.4511</cdr:y>
    </cdr:to>
    <cdr:cxnSp macro="">
      <cdr:nvCxnSpPr>
        <cdr:cNvPr id="4" name="Straight Arrow Connector 3">
          <a:extLst xmlns:a="http://schemas.openxmlformats.org/drawingml/2006/main">
            <a:ext uri="{FF2B5EF4-FFF2-40B4-BE49-F238E27FC236}">
              <a16:creationId xmlns:a16="http://schemas.microsoft.com/office/drawing/2014/main" id="{BE70F63A-6447-4C1E-AE94-F3AA7D169B84}"/>
            </a:ext>
          </a:extLst>
        </cdr:cNvPr>
        <cdr:cNvCxnSpPr/>
      </cdr:nvCxnSpPr>
      <cdr:spPr>
        <a:xfrm xmlns:a="http://schemas.openxmlformats.org/drawingml/2006/main">
          <a:off x="3583393" y="1115919"/>
          <a:ext cx="0" cy="685800"/>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A: MENA</a:t>
          </a:r>
        </a:p>
      </cdr:txBody>
    </cdr:sp>
  </cdr:relSizeAnchor>
</c:userShapes>
</file>

<file path=ppt/drawings/drawing4.xml><?xml version="1.0" encoding="utf-8"?>
<c:userShapes xmlns:c="http://schemas.openxmlformats.org/drawingml/2006/chart">
  <cdr:relSizeAnchor xmlns:cdr="http://schemas.openxmlformats.org/drawingml/2006/chartDrawing">
    <cdr:from>
      <cdr:x>0.08802</cdr:x>
      <cdr:y>0</cdr:y>
    </cdr:from>
    <cdr:to>
      <cdr:x>0.94138</cdr:x>
      <cdr:y>0.07194</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257541" y="0"/>
          <a:ext cx="2497016" cy="29600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B: MENA Country Groups</a:t>
          </a:r>
        </a:p>
      </cdr:txBody>
    </cdr:sp>
  </cdr:relSizeAnchor>
</c:userShapes>
</file>

<file path=ppt/drawings/drawing5.xml><?xml version="1.0" encoding="utf-8"?>
<c:userShapes xmlns:c="http://schemas.openxmlformats.org/drawingml/2006/chart">
  <cdr:relSizeAnchor xmlns:cdr="http://schemas.openxmlformats.org/drawingml/2006/chartDrawing">
    <cdr:from>
      <cdr:x>0</cdr:x>
      <cdr:y>0.81653</cdr:y>
    </cdr:from>
    <cdr:to>
      <cdr:x>1</cdr:x>
      <cdr:y>1</cdr:y>
    </cdr:to>
    <cdr:sp macro="" textlink="">
      <cdr:nvSpPr>
        <cdr:cNvPr id="4" name="TextBox 3">
          <a:extLst xmlns:a="http://schemas.openxmlformats.org/drawingml/2006/main">
            <a:ext uri="{FF2B5EF4-FFF2-40B4-BE49-F238E27FC236}">
              <a16:creationId xmlns:a16="http://schemas.microsoft.com/office/drawing/2014/main" id="{2A63A459-9966-4CFF-9112-DF10CA8D8FDE}"/>
            </a:ext>
          </a:extLst>
        </cdr:cNvPr>
        <cdr:cNvSpPr txBox="1"/>
      </cdr:nvSpPr>
      <cdr:spPr>
        <a:xfrm xmlns:a="http://schemas.openxmlformats.org/drawingml/2006/main">
          <a:off x="0" y="3857625"/>
          <a:ext cx="6167439" cy="8667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p>
      </cdr:txBody>
    </cdr:sp>
  </cdr:relSizeAnchor>
</c:userShapes>
</file>

<file path=ppt/drawings/drawing6.xml><?xml version="1.0" encoding="utf-8"?>
<c:userShapes xmlns:c="http://schemas.openxmlformats.org/drawingml/2006/chart">
  <cdr:relSizeAnchor xmlns:cdr="http://schemas.openxmlformats.org/drawingml/2006/chartDrawing">
    <cdr:from>
      <cdr:x>0.4981</cdr:x>
      <cdr:y>0</cdr:y>
    </cdr:from>
    <cdr:to>
      <cdr:x>0.5038</cdr:x>
      <cdr:y>0.76174</cdr:y>
    </cdr:to>
    <cdr:cxnSp macro="">
      <cdr:nvCxnSpPr>
        <cdr:cNvPr id="3" name="Straight Connector 2">
          <a:extLst xmlns:a="http://schemas.openxmlformats.org/drawingml/2006/main">
            <a:ext uri="{FF2B5EF4-FFF2-40B4-BE49-F238E27FC236}">
              <a16:creationId xmlns:a16="http://schemas.microsoft.com/office/drawing/2014/main" id="{413F15E9-10C3-4989-90D7-9CF81FAA91CC}"/>
            </a:ext>
          </a:extLst>
        </cdr:cNvPr>
        <cdr:cNvCxnSpPr/>
      </cdr:nvCxnSpPr>
      <cdr:spPr>
        <a:xfrm xmlns:a="http://schemas.openxmlformats.org/drawingml/2006/main" flipH="1">
          <a:off x="2495550" y="0"/>
          <a:ext cx="28575" cy="2162175"/>
        </a:xfrm>
        <a:prstGeom xmlns:a="http://schemas.openxmlformats.org/drawingml/2006/main" prst="line">
          <a:avLst/>
        </a:prstGeom>
        <a:ln xmlns:a="http://schemas.openxmlformats.org/drawingml/2006/main" w="19050">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0.17708</cdr:x>
      <cdr:y>0.01042</cdr:y>
    </cdr:from>
    <cdr:to>
      <cdr:x>0.86875</cdr:x>
      <cdr:y>0.06514</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1052493" y="65520"/>
          <a:ext cx="4111010" cy="34405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dirty="0">
              <a:solidFill>
                <a:sysClr val="windowText" lastClr="000000"/>
              </a:solidFill>
            </a:rPr>
            <a:t>Panel A: Difference in GDP</a:t>
          </a:r>
          <a:r>
            <a:rPr lang="en-US" sz="1100" b="1" baseline="0" dirty="0">
              <a:solidFill>
                <a:sysClr val="windowText" lastClr="000000"/>
              </a:solidFill>
            </a:rPr>
            <a:t> Growth (percentage)</a:t>
          </a:r>
          <a:endParaRPr lang="en-US" sz="1100" b="1" dirty="0">
            <a:solidFill>
              <a:sysClr val="windowText" lastClr="000000"/>
            </a:solidFill>
          </a:endParaRPr>
        </a:p>
      </cdr:txBody>
    </cdr:sp>
  </cdr:relSizeAnchor>
  <cdr:relSizeAnchor xmlns:cdr="http://schemas.openxmlformats.org/drawingml/2006/chartDrawing">
    <cdr:from>
      <cdr:x>0</cdr:x>
      <cdr:y>0.66958</cdr:y>
    </cdr:from>
    <cdr:to>
      <cdr:x>1</cdr:x>
      <cdr:y>0.99252</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2914650"/>
          <a:ext cx="5438775" cy="14057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effectLst/>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0.17708</cdr:x>
      <cdr:y>0.01042</cdr:y>
    </cdr:from>
    <cdr:to>
      <cdr:x>0.86875</cdr:x>
      <cdr:y>0.13889</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809625" y="28575"/>
          <a:ext cx="3162300" cy="3524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a:solidFill>
                <a:sysClr val="windowText" lastClr="000000"/>
              </a:solidFill>
            </a:rPr>
            <a:t>Panel B: Difference in Governance (score)</a:t>
          </a:r>
        </a:p>
      </cdr:txBody>
    </cdr:sp>
  </cdr:relSizeAnchor>
  <cdr:relSizeAnchor xmlns:cdr="http://schemas.openxmlformats.org/drawingml/2006/chartDrawing">
    <cdr:from>
      <cdr:x>0</cdr:x>
      <cdr:y>0.65567</cdr:y>
    </cdr:from>
    <cdr:to>
      <cdr:x>1</cdr:x>
      <cdr:y>1</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3028950"/>
          <a:ext cx="5943600" cy="1590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marL="0" marR="0" lvl="0" indent="0" defTabSz="914400" eaLnBrk="1" fontAlgn="auto" latinLnBrk="0" hangingPunct="1">
            <a:lnSpc>
              <a:spcPct val="100000"/>
            </a:lnSpc>
            <a:spcBef>
              <a:spcPts val="0"/>
            </a:spcBef>
            <a:spcAft>
              <a:spcPts val="0"/>
            </a:spcAft>
            <a:buClrTx/>
            <a:buSzTx/>
            <a:buFontTx/>
            <a:buNone/>
            <a:tabLst/>
            <a:defRPr/>
          </a:pPr>
          <a:endParaRPr lang="en-US" sz="1000">
            <a:effectLs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30F53-2CC1-4A92-9044-EA0DFE640481}" type="datetimeFigureOut">
              <a:rPr lang="en-US" smtClean="0"/>
              <a:t>5/29/2021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92BB6-533F-41D9-970B-734BC0E321AA}" type="slidenum">
              <a:rPr lang="en-US" smtClean="0"/>
              <a:t>‹#›</a:t>
            </a:fld>
            <a:endParaRPr lang="en-US"/>
          </a:p>
        </p:txBody>
      </p:sp>
    </p:spTree>
    <p:extLst>
      <p:ext uri="{BB962C8B-B14F-4D97-AF65-F5344CB8AC3E}">
        <p14:creationId xmlns:p14="http://schemas.microsoft.com/office/powerpoint/2010/main" val="998668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Roberta, for the very kind introduction. Good morning, good afternoon, and good evening. </a:t>
            </a:r>
          </a:p>
          <a:p>
            <a:r>
              <a:rPr lang="en-US" dirty="0"/>
              <a:t>This is my great honor and pleasure to be here, jointly with Ha, on behalf of the MENA Economic Update team, to present to you our semi-annual flagship report MENA Economic Update, April 2021. </a:t>
            </a:r>
          </a:p>
          <a:p>
            <a:r>
              <a:rPr lang="en-US" dirty="0"/>
              <a:t>Please allow me to start with a big thank you to the team.</a:t>
            </a:r>
          </a:p>
        </p:txBody>
      </p:sp>
      <p:sp>
        <p:nvSpPr>
          <p:cNvPr id="4" name="Slide Number Placeholder 3"/>
          <p:cNvSpPr>
            <a:spLocks noGrp="1"/>
          </p:cNvSpPr>
          <p:nvPr>
            <p:ph type="sldNum" sz="quarter" idx="5"/>
          </p:nvPr>
        </p:nvSpPr>
        <p:spPr/>
        <p:txBody>
          <a:bodyPr/>
          <a:lstStyle/>
          <a:p>
            <a:fld id="{47792BB6-533F-41D9-970B-734BC0E321AA}" type="slidenum">
              <a:rPr lang="en-US" smtClean="0"/>
              <a:t>1</a:t>
            </a:fld>
            <a:endParaRPr lang="en-US"/>
          </a:p>
        </p:txBody>
      </p:sp>
    </p:spTree>
    <p:extLst>
      <p:ext uri="{BB962C8B-B14F-4D97-AF65-F5344CB8AC3E}">
        <p14:creationId xmlns:p14="http://schemas.microsoft.com/office/powerpoint/2010/main" val="3578170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thank the team, Roberta, Daniel, Ha, Asif, Claudio, Sultan, for their incredibly hard work in this production.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Daniel for his intellectual leadership.</a:t>
            </a:r>
          </a:p>
          <a:p>
            <a:r>
              <a:rPr lang="en-US" dirty="0"/>
              <a:t>We want to thank Roberta, our chief economist, for her push for the institutions and transparency angle</a:t>
            </a:r>
          </a:p>
        </p:txBody>
      </p:sp>
      <p:sp>
        <p:nvSpPr>
          <p:cNvPr id="4" name="Slide Number Placeholder 3"/>
          <p:cNvSpPr>
            <a:spLocks noGrp="1"/>
          </p:cNvSpPr>
          <p:nvPr>
            <p:ph type="sldNum" sz="quarter" idx="5"/>
          </p:nvPr>
        </p:nvSpPr>
        <p:spPr/>
        <p:txBody>
          <a:bodyPr/>
          <a:lstStyle/>
          <a:p>
            <a:fld id="{47792BB6-533F-41D9-970B-734BC0E321AA}" type="slidenum">
              <a:rPr lang="en-US" smtClean="0"/>
              <a:t>2</a:t>
            </a:fld>
            <a:endParaRPr lang="en-US"/>
          </a:p>
        </p:txBody>
      </p:sp>
    </p:spTree>
    <p:extLst>
      <p:ext uri="{BB962C8B-B14F-4D97-AF65-F5344CB8AC3E}">
        <p14:creationId xmlns:p14="http://schemas.microsoft.com/office/powerpoint/2010/main" val="1916800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probably already see from the title: </a:t>
            </a:r>
            <a:r>
              <a:rPr lang="en-CA" sz="1200" dirty="0"/>
              <a:t>Living with debt: how institutions can chart a path to recovery in the middle east and north Africa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that this edition includes not only an update of the Economic Situation of the region, but also some reflections of the role of fiscal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our main findings of the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year ago, the first cases of COVID-19 hit the MENA region. One year later, the region remains in a crisis.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pandemic is forcing economies in the MENA region to borrow a lot. While addressing the immediate concerns of the disaster relief, MENA countries need to be aware of the tension </a:t>
            </a:r>
            <a:r>
              <a:rPr lang="en-US" dirty="0"/>
              <a:t>between short-term needs and long-run risks of public debt, and a balancing act between the two would be essential.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Thus countries are facing touch choices, and public expenditure priorities depend on the phase of the recovery.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emphasis that, in every stage of the recovery, transparency can help chart a path to lasting recovery for MENA.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Borrowing a sentence from our president David </a:t>
            </a:r>
            <a:r>
              <a:rPr lang="en-US" dirty="0" err="1"/>
              <a:t>Malpass</a:t>
            </a:r>
            <a:r>
              <a:rPr lang="en-US" dirty="0"/>
              <a:t>, sunlight is truly the best remedy.</a:t>
            </a:r>
          </a:p>
        </p:txBody>
      </p:sp>
      <p:sp>
        <p:nvSpPr>
          <p:cNvPr id="4" name="Slide Number Placeholder 3"/>
          <p:cNvSpPr>
            <a:spLocks noGrp="1"/>
          </p:cNvSpPr>
          <p:nvPr>
            <p:ph type="sldNum" sz="quarter" idx="5"/>
          </p:nvPr>
        </p:nvSpPr>
        <p:spPr/>
        <p:txBody>
          <a:bodyPr/>
          <a:lstStyle/>
          <a:p>
            <a:fld id="{47792BB6-533F-41D9-970B-734BC0E321AA}" type="slidenum">
              <a:rPr lang="en-US" smtClean="0"/>
              <a:t>3</a:t>
            </a:fld>
            <a:endParaRPr lang="en-US"/>
          </a:p>
        </p:txBody>
      </p:sp>
    </p:spTree>
    <p:extLst>
      <p:ext uri="{BB962C8B-B14F-4D97-AF65-F5344CB8AC3E}">
        <p14:creationId xmlns:p14="http://schemas.microsoft.com/office/powerpoint/2010/main" val="3958332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MENA is still in crisis from an economic point of view. </a:t>
            </a:r>
          </a:p>
          <a:p>
            <a:r>
              <a:rPr lang="en-US" dirty="0"/>
              <a:t>The LHS panel is a comparison of growth in GDP levels. And the RHS is a comparison of growth in GDP per capita levels.</a:t>
            </a:r>
          </a:p>
          <a:p>
            <a:r>
              <a:rPr lang="en-US" dirty="0"/>
              <a:t>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end of 2021 GDP level will be 7.2 percentage points below where it was predicted to be in a no-pandemic world. This gap of 7.2 percentage points is equivalent to 227 billion dollars.</a:t>
            </a:r>
          </a:p>
          <a:p>
            <a:endParaRPr lang="en-US" dirty="0"/>
          </a:p>
          <a:p>
            <a:r>
              <a:rPr lang="en-US" dirty="0"/>
              <a:t>This drop results from a GDP contraction in 2020, compared to a positive growth predicted before pandemic. Add up to that, a slower forecasted growth for 2021.</a:t>
            </a:r>
          </a:p>
          <a:p>
            <a:endParaRPr lang="en-US" dirty="0"/>
          </a:p>
          <a:p>
            <a:endParaRPr lang="en-US" dirty="0"/>
          </a:p>
          <a:p>
            <a:r>
              <a:rPr lang="en-US" dirty="0"/>
              <a:t>This counterfactual comparison is even sharper if we look at GDP per capita levels, which is a better measure for living standards. </a:t>
            </a:r>
          </a:p>
          <a:p>
            <a:r>
              <a:rPr lang="en-US" dirty="0"/>
              <a:t>By the end of 2021, GDP per capita level will be 7 percentage points below where it was predicted to be in a no-pandemic world. More importantly, even with the positive growth in 2021, by end of 2021, the level of GDP per capita will still be 5% lower than its level back in 2019.</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4</a:t>
            </a:fld>
            <a:endParaRPr lang="en-US"/>
          </a:p>
        </p:txBody>
      </p:sp>
    </p:spTree>
    <p:extLst>
      <p:ext uri="{BB962C8B-B14F-4D97-AF65-F5344CB8AC3E}">
        <p14:creationId xmlns:p14="http://schemas.microsoft.com/office/powerpoint/2010/main" val="3654587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 zoom in the loss in terms of GDP per capita, by decomposing MENA into three countries groups, t</a:t>
            </a:r>
            <a:r>
              <a:rPr lang="en-US" sz="1200" b="0" i="0" u="none" kern="1200" dirty="0">
                <a:solidFill>
                  <a:schemeClr val="tx1"/>
                </a:solidFill>
                <a:effectLst/>
                <a:latin typeface="+mn-lt"/>
                <a:ea typeface="+mn-ea"/>
                <a:cs typeface="+mn-cs"/>
              </a:rPr>
              <a:t>hen the biggest loss, compared to pre-pandemic forecast, would come from Developing oil importers (represented by red lines), followed by GCC (Gulf Cooperation Council countries, represented by blue lines), and other oil exporters (represented by gold lines). </a:t>
            </a:r>
          </a:p>
          <a:p>
            <a:endParaRPr lang="en-US" dirty="0"/>
          </a:p>
          <a:p>
            <a:r>
              <a:rPr lang="en-US" dirty="0"/>
              <a:t>Again, 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kern="1200" dirty="0">
              <a:solidFill>
                <a:schemeClr val="tx1"/>
              </a:solidFill>
              <a:effectLst/>
              <a:latin typeface="+mn-lt"/>
              <a:ea typeface="+mn-ea"/>
              <a:cs typeface="+mn-cs"/>
            </a:endParaRPr>
          </a:p>
          <a:p>
            <a:r>
              <a:rPr lang="en-US" dirty="0"/>
              <a:t>The region’s oil importing countries entered 2020 with the highest public debt. By the end of 2021, their GDP per capita will be 8.6 percentage points below where it could have been in a no-pandemic world, comparing the red dotted line and the red solid line.</a:t>
            </a:r>
          </a:p>
          <a:p>
            <a:endParaRPr lang="en-US" dirty="0"/>
          </a:p>
          <a:p>
            <a:r>
              <a:rPr lang="en-US" dirty="0"/>
              <a:t>This drop results from a GDP per capita contraction in 2020 and a slight recovery in 2021, compared to a 3% growth in both years in a no-pandemic world.</a:t>
            </a:r>
          </a:p>
          <a:p>
            <a:endParaRPr lang="en-US" dirty="0"/>
          </a:p>
          <a:p>
            <a:r>
              <a:rPr lang="en-US" sz="1200" b="0" i="0" u="none" kern="1200" dirty="0">
                <a:solidFill>
                  <a:schemeClr val="tx1"/>
                </a:solidFill>
                <a:effectLst/>
                <a:latin typeface="+mn-lt"/>
                <a:ea typeface="+mn-ea"/>
                <a:cs typeface="+mn-cs"/>
              </a:rPr>
              <a:t>Last but not least from this chart, none of the country groups can return to its 2019 level by the end of 2021.</a:t>
            </a:r>
          </a:p>
        </p:txBody>
      </p:sp>
      <p:sp>
        <p:nvSpPr>
          <p:cNvPr id="4" name="Slide Number Placeholder 3"/>
          <p:cNvSpPr>
            <a:spLocks noGrp="1"/>
          </p:cNvSpPr>
          <p:nvPr>
            <p:ph type="sldNum" sz="quarter" idx="5"/>
          </p:nvPr>
        </p:nvSpPr>
        <p:spPr/>
        <p:txBody>
          <a:bodyPr/>
          <a:lstStyle/>
          <a:p>
            <a:fld id="{47792BB6-533F-41D9-970B-734BC0E321AA}" type="slidenum">
              <a:rPr lang="en-US" smtClean="0"/>
              <a:t>5</a:t>
            </a:fld>
            <a:endParaRPr lang="en-US"/>
          </a:p>
        </p:txBody>
      </p:sp>
    </p:spTree>
    <p:extLst>
      <p:ext uri="{BB962C8B-B14F-4D97-AF65-F5344CB8AC3E}">
        <p14:creationId xmlns:p14="http://schemas.microsoft.com/office/powerpoint/2010/main" val="130183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Because of that, poverty is rising in the region.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this chart, the black line represent the estimated headcount of poverty (i.e. those making less than $5.50 per day) in a no-pandemic world. And the redline is the estimated poverty headcount based on latest GDP forecasts.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number of poor people in the region is expected to increase from 176 million in 2019 to 192 million people by the end of 2021. This is an extra 14 million people falling into poverty following the pandemic, all of whom wouldn’t have been in poverty if not hit by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Noted that this forecast provides only a lower threshold, because it assumes that every household is equally affected. Unfortunately, the effect of Covid‐19 is not equal to the population, and the poorer side of the population suffers most from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7792BB6-533F-41D9-970B-734BC0E321AA}" type="slidenum">
              <a:rPr lang="en-US" smtClean="0"/>
              <a:t>6</a:t>
            </a:fld>
            <a:endParaRPr lang="en-US"/>
          </a:p>
        </p:txBody>
      </p:sp>
    </p:spTree>
    <p:extLst>
      <p:ext uri="{BB962C8B-B14F-4D97-AF65-F5344CB8AC3E}">
        <p14:creationId xmlns:p14="http://schemas.microsoft.com/office/powerpoint/2010/main" val="1855427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many aspects where inequality is in the rise, lies in the food price inflation. </a:t>
            </a:r>
          </a:p>
          <a:p>
            <a:r>
              <a:rPr lang="en-US" dirty="0"/>
              <a:t>In this chart, the horizonal axis represents countries in the MENA region, and the vertical axis represent different foods, such as rice, bread, tomatoes, etc. So each little square represent one food in one country. If the price is red, that means the food price is more than 20% compared to a year ago. </a:t>
            </a:r>
          </a:p>
          <a:p>
            <a:r>
              <a:rPr lang="en-US" dirty="0"/>
              <a:t>The country that’s most worrisome in this chart is Lebanon, where prices are almost all more than 20% more expensive, compared to a year ago, and some are more than 100% more expensive.</a:t>
            </a:r>
          </a:p>
          <a:p>
            <a:r>
              <a:rPr lang="en-US" dirty="0"/>
              <a:t>Syria, Yemen, Djibouti, Iran are also on the hot spot. Even in Morocco, prices for fruits and vegetables (oranges; lettuce) are more than 20% higher compared to a year ago.</a:t>
            </a:r>
          </a:p>
        </p:txBody>
      </p:sp>
      <p:sp>
        <p:nvSpPr>
          <p:cNvPr id="4" name="Slide Number Placeholder 3"/>
          <p:cNvSpPr>
            <a:spLocks noGrp="1"/>
          </p:cNvSpPr>
          <p:nvPr>
            <p:ph type="sldNum" sz="quarter" idx="5"/>
          </p:nvPr>
        </p:nvSpPr>
        <p:spPr/>
        <p:txBody>
          <a:bodyPr/>
          <a:lstStyle/>
          <a:p>
            <a:fld id="{47792BB6-533F-41D9-970B-734BC0E321AA}" type="slidenum">
              <a:rPr lang="en-US" smtClean="0"/>
              <a:t>7</a:t>
            </a:fld>
            <a:endParaRPr lang="en-US"/>
          </a:p>
        </p:txBody>
      </p:sp>
    </p:spTree>
    <p:extLst>
      <p:ext uri="{BB962C8B-B14F-4D97-AF65-F5344CB8AC3E}">
        <p14:creationId xmlns:p14="http://schemas.microsoft.com/office/powerpoint/2010/main" val="314163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MENA remains in the crisis, countries are walking the tight rope of rising public debt.</a:t>
            </a:r>
          </a:p>
          <a:p>
            <a:r>
              <a:rPr lang="en-US" dirty="0"/>
              <a:t>The blue bars in this chart represent median public debt for each of the MENA country groups, the three bars on the left represent situations in 2019, and the three bars on the right represent median public debt in 2020.</a:t>
            </a:r>
          </a:p>
          <a:p>
            <a:r>
              <a:rPr lang="en-US" dirty="0"/>
              <a:t>The yellow diamonds represent world median public debt of the corresponding income group. MENA high income countries (i.e. GCC) are compared with world median of high-income countries, and MENA Middle-income oil exporters and oil importers are compared with world median of middle-income countries.</a:t>
            </a:r>
          </a:p>
          <a:p>
            <a:endParaRPr lang="en-US" dirty="0"/>
          </a:p>
          <a:p>
            <a:endParaRPr lang="en-US" dirty="0"/>
          </a:p>
          <a:p>
            <a:r>
              <a:rPr lang="en-US" dirty="0"/>
              <a:t>We could already see a global increase in public debt, when all three yellow diamonds moved higher in 2020 compared to 2019.</a:t>
            </a:r>
          </a:p>
          <a:p>
            <a:endParaRPr lang="en-US" dirty="0"/>
          </a:p>
          <a:p>
            <a:r>
              <a:rPr lang="en-US" dirty="0"/>
              <a:t>And MENA is no exception. Most worrisome are MENA oil importers that are highlighted with a red box, who entered 2020 with highest public debt. </a:t>
            </a:r>
          </a:p>
          <a:p>
            <a:r>
              <a:rPr lang="en-US" dirty="0"/>
              <a:t>During the pandemic, public debt in middle-income oil importers have increased from 72 to almost 90, high above the debt level of a typical world middle-income country.</a:t>
            </a:r>
          </a:p>
          <a:p>
            <a:r>
              <a:rPr lang="en-US" dirty="0"/>
              <a:t>MENA middle-income oil exporters had also accumulated debt, and have passed its peers in the middle income group.</a:t>
            </a:r>
          </a:p>
          <a:p>
            <a:endParaRPr lang="en-US" dirty="0"/>
          </a:p>
          <a:p>
            <a:r>
              <a:rPr lang="en-US" dirty="0"/>
              <a:t>For these countries, making decision about fiscal expenditure would be walking the tight rope. </a:t>
            </a:r>
          </a:p>
          <a:p>
            <a:endParaRPr lang="en-US" dirty="0"/>
          </a:p>
          <a:p>
            <a:r>
              <a:rPr lang="en-US" dirty="0"/>
              <a:t>My colleague Ha, will walk you through the details of this tight rope. </a:t>
            </a:r>
            <a:r>
              <a:rPr lang="en-US" dirty="0">
                <a:sym typeface="Wingdings" panose="05000000000000000000" pitchFamily="2" charset="2"/>
              </a:rPr>
              <a:t></a:t>
            </a:r>
          </a:p>
          <a:p>
            <a:endParaRPr lang="en-US" dirty="0"/>
          </a:p>
          <a:p>
            <a:r>
              <a:rPr lang="en-US" dirty="0"/>
              <a:t>-----------------------------------------------------------------------------------------------------</a:t>
            </a:r>
          </a:p>
          <a:p>
            <a:r>
              <a:rPr lang="en-US" dirty="0"/>
              <a:t>Debt/GDP is rising because of a combinations of factors:</a:t>
            </a:r>
          </a:p>
          <a:p>
            <a:endParaRPr lang="en-US" dirty="0"/>
          </a:p>
          <a:p>
            <a:r>
              <a:rPr lang="en-US" dirty="0"/>
              <a:t> --</a:t>
            </a:r>
            <a:r>
              <a:rPr lang="en-US" i="1" dirty="0"/>
              <a:t>negative GDP growth </a:t>
            </a:r>
            <a:r>
              <a:rPr lang="en-US" dirty="0"/>
              <a:t>in majority of countries, but most notably, Iraq (-11.9% in 2020); Tunisia (-8.8%); Morocco (-7%). Three exceptions (Iran: 1.7%; Egypt: 3.6% and Djibouti: 0.5%).</a:t>
            </a:r>
          </a:p>
          <a:p>
            <a:endParaRPr lang="en-US" dirty="0"/>
          </a:p>
          <a:p>
            <a:r>
              <a:rPr lang="en-US" dirty="0"/>
              <a:t>and </a:t>
            </a:r>
            <a:r>
              <a:rPr lang="en-US" i="1" dirty="0"/>
              <a:t>rising debt</a:t>
            </a:r>
            <a:r>
              <a:rPr lang="en-US" dirty="0"/>
              <a:t>. This in turn is due to: </a:t>
            </a:r>
          </a:p>
          <a:p>
            <a:endParaRPr lang="en-US" dirty="0"/>
          </a:p>
          <a:p>
            <a:pPr marL="228600" indent="-228600">
              <a:buAutoNum type="arabicPeriod"/>
            </a:pPr>
            <a:r>
              <a:rPr lang="en-US" dirty="0"/>
              <a:t>primary deficits, which were the driving force in many oil exporters, largest in Libya (45% of GDP in 2020), but also GCC countries (e.g. Kuwait 25%, Oman: 14%; Bahrain: 12%).</a:t>
            </a:r>
          </a:p>
          <a:p>
            <a:pPr marL="0" indent="0">
              <a:buNone/>
            </a:pPr>
            <a:r>
              <a:rPr lang="en-US" dirty="0"/>
              <a:t>	a. Primary deficits were mainly due to drop in revenues: for oil exporters (Iraq: -41% drop in real revenue in 2020 compared to 2019; </a:t>
            </a:r>
            <a:r>
              <a:rPr lang="en-US" dirty="0" err="1"/>
              <a:t>Lybia</a:t>
            </a:r>
            <a:r>
              <a:rPr lang="en-US" dirty="0"/>
              <a:t> (-60%); UAE (-31%); Kuwait (-29%) and other GCC countries with similar magnitude); but also for oil importers, e.g., Tunisia (-6.1%); Morocco (-6.9%)</a:t>
            </a:r>
          </a:p>
          <a:p>
            <a:pPr marL="0" indent="0">
              <a:buNone/>
            </a:pPr>
            <a:r>
              <a:rPr lang="en-US" dirty="0"/>
              <a:t>	b. and in some cases, large countercyclical increases in spending, e.g., in Tunisia (real primary expenditure in 2020 was up 13% compared to 2019), Morocco (+7%). Note that many others also put together stimulus packages as well (e.g. Bahrain 4% of GDP and then partially extended; UAE: ~3% of GDP; Saudi Arabia: ~3% of GDP) although their primary expenditure did not increase as much as Tunisia and Morocco.</a:t>
            </a:r>
          </a:p>
          <a:p>
            <a:pPr marL="0" indent="0">
              <a:buNone/>
            </a:pPr>
            <a:endParaRPr lang="en-US" dirty="0"/>
          </a:p>
          <a:p>
            <a:r>
              <a:rPr lang="en-US" dirty="0"/>
              <a:t>For example, the fiscal packages for Tunisia put together were around 2.3% of GDP (announced in March 2020 covering both 2020 and 2021), consists a combination of transfers, support to firms and sectors such as tourism in the form of interest rate subsidy and support to unemployed and self-employed (IMF)</a:t>
            </a:r>
          </a:p>
          <a:p>
            <a:r>
              <a:rPr lang="en-US" dirty="0"/>
              <a:t>Morocco created a special fund in early 2020 (3% of GDP) for health spending, defer social contribution, unemployment support, tax deferral, also support to informal workers (IMF).</a:t>
            </a:r>
          </a:p>
          <a:p>
            <a:endParaRPr lang="en-US" dirty="0"/>
          </a:p>
          <a:p>
            <a:r>
              <a:rPr lang="en-US" dirty="0"/>
              <a:t>By comparison,  high income country like the US, the combined fiscal packages were much larger (11%+4% and most recent in 2021, 9% ~25% of GDP); Germany (20% of GDP as of December 2020); Japan (42% as of Dec 2020); Australia (16%)  (https://time.com/5923840/us-pandemic-relief-bill-december/) </a:t>
            </a:r>
          </a:p>
          <a:p>
            <a:endParaRPr lang="en-US" dirty="0"/>
          </a:p>
          <a:p>
            <a:r>
              <a:rPr lang="en-US" dirty="0"/>
              <a:t>Other middle-income countries’ fiscal packages are usually &lt;10% (Mexico ~1%; China: 5% of GDP; India: 8%; Brazil: 10%; Vietnam: 3.6%; Indonesia: 3.8%). On average, e</a:t>
            </a:r>
            <a:r>
              <a:rPr lang="en-US" sz="1200" kern="1200" dirty="0">
                <a:solidFill>
                  <a:schemeClr val="tx1"/>
                </a:solidFill>
                <a:effectLst/>
                <a:latin typeface="+mn-lt"/>
                <a:ea typeface="+mn-ea"/>
                <a:cs typeface="+mn-cs"/>
              </a:rPr>
              <a:t>merging markets and middle-income economies’ (EMMIEs) deployed all instruments for the fiscal response, with about 3.4 percent of GDP in expenditure and revenue measures and 2.5 percent of GDP in support through other instruments. </a:t>
            </a:r>
            <a:endParaRPr lang="en-US" dirty="0"/>
          </a:p>
          <a:p>
            <a:endParaRPr lang="en-US" dirty="0"/>
          </a:p>
          <a:p>
            <a:r>
              <a:rPr lang="en-US" dirty="0"/>
              <a:t>2. Interest payments  </a:t>
            </a:r>
          </a:p>
          <a:p>
            <a:r>
              <a:rPr lang="en-US" dirty="0"/>
              <a:t>In some countries (Egypt), interest payments were around 10% of GDP in 2020. However, note that debt-GDP ratio in Egypt slightly declined (from 90% in 2019 to 87.5% in 2020), due to positive growth and primary balance.</a:t>
            </a:r>
          </a:p>
          <a:p>
            <a:endParaRPr lang="en-US" dirty="0"/>
          </a:p>
          <a:p>
            <a:r>
              <a:rPr lang="en-US" dirty="0"/>
              <a:t>These increases in public debt overlay on already worryingly high debt levels in MIC oil importers (for 2019 LB: 171% +; TN: 72% +; Egypt 90% flat;  JO: 97% +) --- the MIC oil exporter IRAQ from 48% to 69%, </a:t>
            </a:r>
            <a:r>
              <a:rPr lang="en-US" dirty="0" err="1"/>
              <a:t>Lybia</a:t>
            </a:r>
            <a:r>
              <a:rPr lang="en-US" dirty="0"/>
              <a:t> from 49% to 137% (two factors: GDP drop 30%, and primary deficits (45% of GDP) due to drop in oil exports and oil revenue.</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8</a:t>
            </a:fld>
            <a:endParaRPr lang="en-US"/>
          </a:p>
        </p:txBody>
      </p:sp>
    </p:spTree>
    <p:extLst>
      <p:ext uri="{BB962C8B-B14F-4D97-AF65-F5344CB8AC3E}">
        <p14:creationId xmlns:p14="http://schemas.microsoft.com/office/powerpoint/2010/main" val="2775704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9</a:t>
            </a:fld>
            <a:endParaRPr lang="en-US"/>
          </a:p>
        </p:txBody>
      </p:sp>
    </p:spTree>
    <p:extLst>
      <p:ext uri="{BB962C8B-B14F-4D97-AF65-F5344CB8AC3E}">
        <p14:creationId xmlns:p14="http://schemas.microsoft.com/office/powerpoint/2010/main" val="2831662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a:t>
            </a:r>
          </a:p>
          <a:p>
            <a:pPr marL="291179" indent="-291179">
              <a:buFont typeface="Arial" panose="020B0604020202020204" pitchFamily="34" charset="0"/>
              <a:buChar char="•"/>
            </a:pPr>
            <a:r>
              <a:rPr lang="en-US" dirty="0"/>
              <a:t>Disaster Relief: Support firms and households </a:t>
            </a:r>
          </a:p>
          <a:p>
            <a:pPr marL="291179" indent="-291179">
              <a:buFont typeface="Arial" panose="020B0604020202020204" pitchFamily="34" charset="0"/>
              <a:buChar char="•"/>
            </a:pPr>
            <a:r>
              <a:rPr lang="en-US" dirty="0"/>
              <a:t>Public Health Spending</a:t>
            </a:r>
          </a:p>
          <a:p>
            <a:pPr marL="291179" indent="-291179">
              <a:buFont typeface="Arial" panose="020B0604020202020204" pitchFamily="34" charset="0"/>
              <a:buChar char="•"/>
            </a:pPr>
            <a:endParaRPr lang="en-US" dirty="0"/>
          </a:p>
          <a:p>
            <a:pPr marL="291179" indent="-291179">
              <a:buFont typeface="Arial" panose="020B0604020202020204" pitchFamily="34" charset="0"/>
              <a:buChar char="•"/>
            </a:pPr>
            <a:endParaRPr lang="en-US" dirty="0"/>
          </a:p>
          <a:p>
            <a:r>
              <a:rPr lang="en-US" dirty="0"/>
              <a:t>Negative:</a:t>
            </a:r>
          </a:p>
          <a:p>
            <a:pPr marL="291179" indent="-291179">
              <a:buFont typeface="Arial" panose="020B0604020202020204" pitchFamily="34" charset="0"/>
              <a:buChar char="•"/>
            </a:pPr>
            <a:r>
              <a:rPr lang="en-US" dirty="0"/>
              <a:t>Crowding out of private investment (as </a:t>
            </a:r>
            <a:r>
              <a:rPr lang="en-US" i="1" dirty="0"/>
              <a:t>interest rates</a:t>
            </a:r>
            <a:r>
              <a:rPr lang="en-US" dirty="0"/>
              <a:t> rise)</a:t>
            </a:r>
          </a:p>
          <a:p>
            <a:pPr marL="291179" indent="-291179">
              <a:buFont typeface="Arial" panose="020B0604020202020204" pitchFamily="34" charset="0"/>
              <a:buChar char="•"/>
            </a:pPr>
            <a:r>
              <a:rPr lang="en-US" dirty="0"/>
              <a:t>Crowding out of public investment as interest payments rise</a:t>
            </a:r>
          </a:p>
          <a:p>
            <a:pPr marL="291179" indent="-291179">
              <a:buFont typeface="Arial" panose="020B0604020202020204" pitchFamily="34" charset="0"/>
              <a:buChar char="•"/>
            </a:pPr>
            <a:r>
              <a:rPr lang="en-US" dirty="0"/>
              <a:t>Macroeconomic vulnerability, rollover risk and likelihood of costly debt crises</a:t>
            </a:r>
          </a:p>
          <a:p>
            <a:endParaRPr lang="en-US" dirty="0"/>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571670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is based on over 300 episodes of severe natural disasters, with estimated reconstruction needs of at least 1% of GDP. The data cover episodes of natural disasters during 1960-2019. Sample is limited to developing economies. </a:t>
            </a:r>
          </a:p>
        </p:txBody>
      </p:sp>
      <p:sp>
        <p:nvSpPr>
          <p:cNvPr id="4" name="Slide Number Placeholder 3"/>
          <p:cNvSpPr>
            <a:spLocks noGrp="1"/>
          </p:cNvSpPr>
          <p:nvPr>
            <p:ph type="sldNum" sz="quarter" idx="5"/>
          </p:nvPr>
        </p:nvSpPr>
        <p:spPr/>
        <p:txBody>
          <a:bodyPr/>
          <a:lstStyle/>
          <a:p>
            <a:fld id="{47792BB6-533F-41D9-970B-734BC0E321AA}" type="slidenum">
              <a:rPr lang="en-US" smtClean="0"/>
              <a:t>11</a:t>
            </a:fld>
            <a:endParaRPr lang="en-US"/>
          </a:p>
        </p:txBody>
      </p:sp>
    </p:spTree>
    <p:extLst>
      <p:ext uri="{BB962C8B-B14F-4D97-AF65-F5344CB8AC3E}">
        <p14:creationId xmlns:p14="http://schemas.microsoft.com/office/powerpoint/2010/main" val="29156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12</a:t>
            </a:fld>
            <a:endParaRPr lang="en-US"/>
          </a:p>
        </p:txBody>
      </p:sp>
    </p:spTree>
    <p:extLst>
      <p:ext uri="{BB962C8B-B14F-4D97-AF65-F5344CB8AC3E}">
        <p14:creationId xmlns:p14="http://schemas.microsoft.com/office/powerpoint/2010/main" val="369672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973299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Pent-up demand: demand for goods and services are unusually strong</a:t>
            </a:r>
          </a:p>
        </p:txBody>
      </p:sp>
      <p:sp>
        <p:nvSpPr>
          <p:cNvPr id="4" name="Slide Number Placeholder 3"/>
          <p:cNvSpPr>
            <a:spLocks noGrp="1"/>
          </p:cNvSpPr>
          <p:nvPr>
            <p:ph type="sldNum" sz="quarter" idx="5"/>
          </p:nvPr>
        </p:nvSpPr>
        <p:spPr/>
        <p:txBody>
          <a:bodyPr/>
          <a:lstStyle/>
          <a:p>
            <a:fld id="{47792BB6-533F-41D9-970B-734BC0E321AA}" type="slidenum">
              <a:rPr lang="en-US" smtClean="0"/>
              <a:t>14</a:t>
            </a:fld>
            <a:endParaRPr lang="en-US"/>
          </a:p>
        </p:txBody>
      </p:sp>
    </p:spTree>
    <p:extLst>
      <p:ext uri="{BB962C8B-B14F-4D97-AF65-F5344CB8AC3E}">
        <p14:creationId xmlns:p14="http://schemas.microsoft.com/office/powerpoint/2010/main" val="543960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Episodes of debt distress = episodes of debt restructuring, both “pre-emptive” and “defaults”. </a:t>
            </a:r>
          </a:p>
        </p:txBody>
      </p:sp>
      <p:sp>
        <p:nvSpPr>
          <p:cNvPr id="4" name="Slide Number Placeholder 3"/>
          <p:cNvSpPr>
            <a:spLocks noGrp="1"/>
          </p:cNvSpPr>
          <p:nvPr>
            <p:ph type="sldNum" sz="quarter" idx="5"/>
          </p:nvPr>
        </p:nvSpPr>
        <p:spPr/>
        <p:txBody>
          <a:bodyPr/>
          <a:lstStyle/>
          <a:p>
            <a:fld id="{47792BB6-533F-41D9-970B-734BC0E321AA}" type="slidenum">
              <a:rPr lang="en-US" smtClean="0"/>
              <a:t>16</a:t>
            </a:fld>
            <a:endParaRPr lang="en-US"/>
          </a:p>
        </p:txBody>
      </p:sp>
    </p:spTree>
    <p:extLst>
      <p:ext uri="{BB962C8B-B14F-4D97-AF65-F5344CB8AC3E}">
        <p14:creationId xmlns:p14="http://schemas.microsoft.com/office/powerpoint/2010/main" val="416088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19</a:t>
            </a:fld>
            <a:endParaRPr lang="en-US"/>
          </a:p>
        </p:txBody>
      </p:sp>
    </p:spTree>
    <p:extLst>
      <p:ext uri="{BB962C8B-B14F-4D97-AF65-F5344CB8AC3E}">
        <p14:creationId xmlns:p14="http://schemas.microsoft.com/office/powerpoint/2010/main" val="1220473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20</a:t>
            </a:fld>
            <a:endParaRPr lang="en-US"/>
          </a:p>
        </p:txBody>
      </p:sp>
    </p:spTree>
    <p:extLst>
      <p:ext uri="{BB962C8B-B14F-4D97-AF65-F5344CB8AC3E}">
        <p14:creationId xmlns:p14="http://schemas.microsoft.com/office/powerpoint/2010/main" val="73918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6D80-AC63-4EB9-B878-0C6243325D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27DA14-50AC-4520-B999-F3A4F92A9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E6F951-06C5-4B5D-A336-8AF4D83265A9}"/>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492126E-7DF3-4AFC-9A8F-497A6F134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8484C-C9BE-4D67-BA32-97CD416C196D}"/>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690878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E764-7784-4DD1-BB29-99D6E12676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10E11-E08E-4A6C-A293-2E38A6E17C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8737E-001B-497E-B7E4-4BAABD6C25E0}"/>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039A4D29-20D8-424F-844E-2E995453C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90C78-7F2A-4BD5-930B-AAB323B82646}"/>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9912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A51F-870B-48C1-B3F0-6E8012156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371E26-3307-4B0E-98F7-AD6C23AE3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BB4B3-0B4B-48DD-ABDF-43E9259FAB88}"/>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68A4C4E4-35A6-49DF-9E04-8E80BD9A13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F80E63-91C8-430F-BFEB-4B1C44089EC9}"/>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223708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1766-2D86-4DC3-BBB5-5F15B7EC5B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6DD5-17F3-4E1F-B7EA-099C3AFC1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A85C7E-BF89-4A92-86DC-120C5580DF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9A782-95AA-4716-859C-EAB65FE2FF93}"/>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533867BE-D471-4C5B-8AD6-205581EE5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93F95E-035B-4D77-AE65-8783A84E3C68}"/>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85096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59E4-6DDA-4FD3-9E1A-32DA7437B0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A9AE8-FD2E-4315-9CC4-AD4390D80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D0A50-CF53-4AE9-B8BB-1755D2A8F3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F4500C-6818-458C-8756-DDE518F4E0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D82D34-C207-4823-96F3-F8A67A0124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9202F-AAD9-4C3E-B76F-ADEA74ADA34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8" name="Footer Placeholder 7">
            <a:extLst>
              <a:ext uri="{FF2B5EF4-FFF2-40B4-BE49-F238E27FC236}">
                <a16:creationId xmlns:a16="http://schemas.microsoft.com/office/drawing/2014/main" id="{D93706F5-861D-4A22-85A5-EE07D082D6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8D8E1B-1602-4DFE-96F7-7CD5CE3CA4A7}"/>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889813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C55F-0675-4FED-A57A-B7969BC95C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751D2D-FBFC-4800-9D71-0FEFDD9D100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4" name="Footer Placeholder 3">
            <a:extLst>
              <a:ext uri="{FF2B5EF4-FFF2-40B4-BE49-F238E27FC236}">
                <a16:creationId xmlns:a16="http://schemas.microsoft.com/office/drawing/2014/main" id="{CE33143F-8CCA-4B3A-9925-D4C971EF79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5DB134-84DF-47B8-87FE-880D5C0469A0}"/>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411579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402B-444B-446B-AB36-B50DC6A521E7}"/>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3" name="Footer Placeholder 2">
            <a:extLst>
              <a:ext uri="{FF2B5EF4-FFF2-40B4-BE49-F238E27FC236}">
                <a16:creationId xmlns:a16="http://schemas.microsoft.com/office/drawing/2014/main" id="{C05A272E-FB1C-4A8C-9C7D-F0C3F3109C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0FA3F8-4ED0-4A2F-B100-5FA3BE4F60B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55112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BF20-75EE-4BA2-9E0B-DCACA18E6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013423-0CC6-4926-8792-9EFA4D29F8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912676-16F4-4D33-9B1F-80CFF4752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9FB2E-F034-4DD4-B4C5-BA2C33B49D6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700E10C0-8480-42CD-A8C4-CC2064DAA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672E6-582D-48FD-84E6-618771384D25}"/>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09913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FD169-2A5D-43D0-B483-B8242784C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F0CA0F-285F-477C-8884-88E35323A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2D4FD7-F769-4281-9551-6743D9652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349C0F-A15F-45AC-9F83-0F3F6CA5FDE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86927047-E306-4440-A019-78391C0A5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053C5-DF09-4C01-8419-856728AF5E2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14651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3380-FC59-47C0-83CE-A271F28C55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4E5CB2-89FA-44F8-9856-4D91399C0E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A52B07-4C06-4377-A8DC-B7AFD8EB250D}"/>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11B84CD-410F-4C09-ABC5-5AB5E864E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141815-AB1E-4982-B123-3065B248A6C1}"/>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6432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52F038-8883-487D-A3B6-12EFC9ACA2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5D04A-60DE-4A69-BEC2-369648CAA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3B895-C2D1-402C-B676-9A343A422A71}"/>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9B5B33D-7C05-4741-817C-F0794C56E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E8F48-593B-42C0-B81B-1032D017CCDF}"/>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871848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3001513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ENA Banner Green">
    <p:spTree>
      <p:nvGrpSpPr>
        <p:cNvPr id="1" name=""/>
        <p:cNvGrpSpPr/>
        <p:nvPr/>
      </p:nvGrpSpPr>
      <p:grpSpPr>
        <a:xfrm>
          <a:off x="0" y="0"/>
          <a:ext cx="0" cy="0"/>
          <a:chOff x="0" y="0"/>
          <a:chExt cx="0" cy="0"/>
        </a:xfrm>
      </p:grpSpPr>
      <p:pic>
        <p:nvPicPr>
          <p:cNvPr id="8" name="Picture 7" descr="A picture containing text, laser&#10;&#10;Description automatically generated">
            <a:extLst>
              <a:ext uri="{FF2B5EF4-FFF2-40B4-BE49-F238E27FC236}">
                <a16:creationId xmlns:a16="http://schemas.microsoft.com/office/drawing/2014/main" id="{EEDA9265-5A85-482F-A19E-07D90E057C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194626"/>
            <a:ext cx="12192000" cy="2468747"/>
          </a:xfrm>
          <a:prstGeom prst="rect">
            <a:avLst/>
          </a:prstGeom>
        </p:spPr>
      </p:pic>
      <p:sp>
        <p:nvSpPr>
          <p:cNvPr id="11" name="Text Placeholder 9">
            <a:extLst>
              <a:ext uri="{FF2B5EF4-FFF2-40B4-BE49-F238E27FC236}">
                <a16:creationId xmlns:a16="http://schemas.microsoft.com/office/drawing/2014/main" id="{C4F35587-E46B-4F51-BE64-91552515EB62}"/>
              </a:ext>
            </a:extLst>
          </p:cNvPr>
          <p:cNvSpPr>
            <a:spLocks noGrp="1"/>
          </p:cNvSpPr>
          <p:nvPr>
            <p:ph type="body" sz="quarter" idx="10"/>
          </p:nvPr>
        </p:nvSpPr>
        <p:spPr>
          <a:xfrm>
            <a:off x="3657600" y="2590800"/>
            <a:ext cx="7962900" cy="1651000"/>
          </a:xfrm>
          <a:prstGeom prst="rect">
            <a:avLst/>
          </a:prstGeom>
        </p:spPr>
        <p:txBody>
          <a:bodyPr/>
          <a:lstStyle>
            <a:lvl1pPr marL="0" indent="0">
              <a:buNone/>
              <a:defRPr sz="5400" b="1" cap="all" baseline="0">
                <a:solidFill>
                  <a:schemeClr val="bg1"/>
                </a:solidFill>
                <a:latin typeface="D-DIN" panose="020B0504030202030204" pitchFamily="34" charset="0"/>
              </a:defRPr>
            </a:lvl1pPr>
            <a:lvl2pPr>
              <a:defRPr>
                <a:solidFill>
                  <a:schemeClr val="bg1"/>
                </a:solidFill>
                <a:latin typeface="D-DIN" panose="020B0504030202030204" pitchFamily="34" charset="0"/>
              </a:defRPr>
            </a:lvl2pPr>
            <a:lvl3pPr>
              <a:defRPr>
                <a:solidFill>
                  <a:schemeClr val="bg1"/>
                </a:solidFill>
                <a:latin typeface="D-DIN" panose="020B0504030202030204" pitchFamily="34" charset="0"/>
              </a:defRPr>
            </a:lvl3pPr>
            <a:lvl4pPr>
              <a:defRPr>
                <a:solidFill>
                  <a:schemeClr val="bg1"/>
                </a:solidFill>
                <a:latin typeface="D-DIN" panose="020B0504030202030204" pitchFamily="34" charset="0"/>
              </a:defRPr>
            </a:lvl4pPr>
            <a:lvl5pPr>
              <a:defRPr>
                <a:solidFill>
                  <a:schemeClr val="bg1"/>
                </a:solidFill>
                <a:latin typeface="D-DIN" panose="020B0504030202030204" pitchFamily="34" charset="0"/>
              </a:defRPr>
            </a:lvl5pPr>
          </a:lstStyle>
          <a:p>
            <a:pPr lvl="0"/>
            <a:r>
              <a:rPr lang="en-US"/>
              <a:t>Click to edit Master text styles</a:t>
            </a:r>
          </a:p>
        </p:txBody>
      </p:sp>
    </p:spTree>
    <p:extLst>
      <p:ext uri="{BB962C8B-B14F-4D97-AF65-F5344CB8AC3E}">
        <p14:creationId xmlns:p14="http://schemas.microsoft.com/office/powerpoint/2010/main" val="337726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6CF27-DF4A-4B95-9013-941968021B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EFC637-AF36-4E6E-BEC2-9EF73CA6BC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387F4-B91B-4EF7-A24F-16ECD3A23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C5D149C-CDF5-4D73-9DCC-9BDDE9C75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D58DC1-9A64-41CE-A01A-2617A2ED0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EFA63-E5B4-4C2C-B6C3-FFA0DCD77FC0}" type="slidenum">
              <a:rPr lang="en-US" smtClean="0"/>
              <a:t>‹#›</a:t>
            </a:fld>
            <a:endParaRPr lang="en-US"/>
          </a:p>
        </p:txBody>
      </p:sp>
    </p:spTree>
    <p:extLst>
      <p:ext uri="{BB962C8B-B14F-4D97-AF65-F5344CB8AC3E}">
        <p14:creationId xmlns:p14="http://schemas.microsoft.com/office/powerpoint/2010/main" val="25202103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4" r:id="rId12"/>
    <p:sldLayoutId id="214748370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7FE6B-772A-4BF7-B363-A1801DC0ADFA}"/>
              </a:ext>
            </a:extLst>
          </p:cNvPr>
          <p:cNvSpPr>
            <a:spLocks noGrp="1"/>
          </p:cNvSpPr>
          <p:nvPr>
            <p:ph type="body" sz="quarter" idx="10"/>
          </p:nvPr>
        </p:nvSpPr>
        <p:spPr/>
        <p:txBody>
          <a:bodyPr/>
          <a:lstStyle/>
          <a:p>
            <a:pPr algn="ctr"/>
            <a:r>
              <a:rPr lang="en-CA" sz="1600" dirty="0"/>
              <a:t>Mise à jour économique MENA - Avril 2021</a:t>
            </a:r>
          </a:p>
          <a:p>
            <a:pPr algn="ctr"/>
            <a:r>
              <a:rPr lang="en-CA" sz="2800" dirty="0"/>
              <a:t>Vivre avec la dette : comment les institutions peuvent tracer une voie vers la reprise au Moyen-Orient et en Afrique du Nord</a:t>
            </a:r>
          </a:p>
        </p:txBody>
      </p:sp>
    </p:spTree>
    <p:extLst>
      <p:ext uri="{BB962C8B-B14F-4D97-AF65-F5344CB8AC3E}">
        <p14:creationId xmlns:p14="http://schemas.microsoft.com/office/powerpoint/2010/main" val="98508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1EE4-E02A-4B40-9C4D-CA1C72C0533B}"/>
              </a:ext>
            </a:extLst>
          </p:cNvPr>
          <p:cNvSpPr>
            <a:spLocks noGrp="1"/>
          </p:cNvSpPr>
          <p:nvPr>
            <p:ph type="title"/>
          </p:nvPr>
        </p:nvSpPr>
        <p:spPr>
          <a:xfrm>
            <a:off x="838200" y="365126"/>
            <a:ext cx="10515600" cy="948454"/>
          </a:xfrm>
        </p:spPr>
        <p:txBody>
          <a:bodyPr/>
          <a:lstStyle/>
          <a:p>
            <a:r>
              <a:rPr lang="en-US" b="1" dirty="0"/>
              <a:t>Auteurs</a:t>
            </a:r>
          </a:p>
        </p:txBody>
      </p:sp>
      <p:pic>
        <p:nvPicPr>
          <p:cNvPr id="1026" name="Picture 20">
            <a:extLst>
              <a:ext uri="{FF2B5EF4-FFF2-40B4-BE49-F238E27FC236}">
                <a16:creationId xmlns:a16="http://schemas.microsoft.com/office/drawing/2014/main" id="{B859C672-2C44-4BA6-9910-F8598ADAD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376" y="2730721"/>
            <a:ext cx="1035382"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C67D2300-3E90-47E3-8F0A-CD079D938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511" y="3950155"/>
            <a:ext cx="1051560" cy="105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C5EC66E-011C-42CA-8204-C700A4C29C42}"/>
              </a:ext>
            </a:extLst>
          </p:cNvPr>
          <p:cNvSpPr/>
          <p:nvPr/>
        </p:nvSpPr>
        <p:spPr>
          <a:xfrm>
            <a:off x="2049449" y="1619323"/>
            <a:ext cx="3807913"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Roberta Gatti</a:t>
            </a:r>
          </a:p>
          <a:p>
            <a: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t>Économiste en chef, Moyen-Orient et Afrique du Nord, Banque mondiale</a:t>
            </a:r>
            <a:endParaRPr lang="en-US" sz="1400" dirty="0"/>
          </a:p>
        </p:txBody>
      </p:sp>
      <p:sp>
        <p:nvSpPr>
          <p:cNvPr id="5" name="Rectangle 4">
            <a:extLst>
              <a:ext uri="{FF2B5EF4-FFF2-40B4-BE49-F238E27FC236}">
                <a16:creationId xmlns:a16="http://schemas.microsoft.com/office/drawing/2014/main" id="{7B0E5445-683E-4387-9424-D05B1C191B88}"/>
              </a:ext>
            </a:extLst>
          </p:cNvPr>
          <p:cNvSpPr/>
          <p:nvPr/>
        </p:nvSpPr>
        <p:spPr>
          <a:xfrm>
            <a:off x="7291705" y="1547957"/>
            <a:ext cx="4625613" cy="738664"/>
          </a:xfrm>
          <a:prstGeom prst="rect">
            <a:avLst/>
          </a:prstGeom>
        </p:spPr>
        <p:txBody>
          <a:bodyPr wrap="square">
            <a:spAutoFit/>
          </a:bodyPr>
          <a:lstStyle/>
          <a:p>
            <a:r>
              <a:rPr lang="en-US" sz="1400"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DANIEL LEDERMAN</a:t>
            </a:r>
          </a:p>
          <a:p>
            <a:r>
              <a:rPr lang="en-US" sz="1400" dirty="0">
                <a:latin typeface="Bahnschrift" panose="020B0502040204020203" pitchFamily="34" charset="0"/>
                <a:ea typeface="DengXian" panose="02010600030101010101" pitchFamily="2" charset="-122"/>
                <a:cs typeface="Calibri" panose="020F0502020204030204" pitchFamily="34" charset="0"/>
              </a:rPr>
              <a:t>Économiste en chef adjoint, Moyen-Orient et Afrique du Nord, Banque mondiale </a:t>
            </a:r>
            <a: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t> </a:t>
            </a:r>
            <a:endParaRPr lang="en-US" sz="1400" dirty="0"/>
          </a:p>
        </p:txBody>
      </p:sp>
      <p:sp>
        <p:nvSpPr>
          <p:cNvPr id="6" name="Rectangle 5">
            <a:extLst>
              <a:ext uri="{FF2B5EF4-FFF2-40B4-BE49-F238E27FC236}">
                <a16:creationId xmlns:a16="http://schemas.microsoft.com/office/drawing/2014/main" id="{819134D8-C278-47F4-A693-6CE13DA2DECC}"/>
              </a:ext>
            </a:extLst>
          </p:cNvPr>
          <p:cNvSpPr/>
          <p:nvPr/>
        </p:nvSpPr>
        <p:spPr>
          <a:xfrm>
            <a:off x="1915885" y="2812165"/>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ha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minh</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nguyen</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Économiste senior, Bureau de l'économiste en chef, Moyen-Orient et Afrique du Nord, Banque mondiale</a:t>
            </a:r>
            <a:endParaRPr lang="en-US" sz="1400" dirty="0"/>
          </a:p>
        </p:txBody>
      </p:sp>
      <p:pic>
        <p:nvPicPr>
          <p:cNvPr id="1031" name="Picture 7" descr="Asif Islam's picture">
            <a:extLst>
              <a:ext uri="{FF2B5EF4-FFF2-40B4-BE49-F238E27FC236}">
                <a16:creationId xmlns:a16="http://schemas.microsoft.com/office/drawing/2014/main" id="{B099F863-645E-4919-A450-538AD47C2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6933" y="2733927"/>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993575B5-2A6E-4CE8-AECB-A84964D63DAF}"/>
              </a:ext>
            </a:extLst>
          </p:cNvPr>
          <p:cNvSpPr/>
          <p:nvPr/>
        </p:nvSpPr>
        <p:spPr>
          <a:xfrm>
            <a:off x="7178493" y="2877284"/>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Asif Islam</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Économiste senior, Bureau de l'économiste en chef, Moyen-Orient et Afrique du Nord, Banque mondiale</a:t>
            </a:r>
            <a:endParaRPr lang="en-US" sz="1400" dirty="0"/>
          </a:p>
        </p:txBody>
      </p:sp>
      <p:sp>
        <p:nvSpPr>
          <p:cNvPr id="7" name="Rectangle 6">
            <a:extLst>
              <a:ext uri="{FF2B5EF4-FFF2-40B4-BE49-F238E27FC236}">
                <a16:creationId xmlns:a16="http://schemas.microsoft.com/office/drawing/2014/main" id="{5F44FE37-5FFB-4BB4-98F7-5B02F6DDB6DF}"/>
              </a:ext>
            </a:extLst>
          </p:cNvPr>
          <p:cNvSpPr/>
          <p:nvPr/>
        </p:nvSpPr>
        <p:spPr>
          <a:xfrm>
            <a:off x="1915885" y="3881325"/>
            <a:ext cx="3866606" cy="738664"/>
          </a:xfrm>
          <a:prstGeom prst="rect">
            <a:avLst/>
          </a:prstGeom>
        </p:spPr>
        <p:txBody>
          <a:bodyPr wrap="square">
            <a:spAutoFit/>
          </a:bodyPr>
          <a:lstStyle/>
          <a:p>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rachel</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yuting</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fan</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Économiste, Bureau de l'économiste en chef, Moyen-Orient et Afrique du Nord, Banque mondiale</a:t>
            </a:r>
            <a:endParaRPr lang="en-US" sz="1400" dirty="0"/>
          </a:p>
        </p:txBody>
      </p:sp>
      <p:pic>
        <p:nvPicPr>
          <p:cNvPr id="1033" name="Picture 9" descr="Image">
            <a:extLst>
              <a:ext uri="{FF2B5EF4-FFF2-40B4-BE49-F238E27FC236}">
                <a16:creationId xmlns:a16="http://schemas.microsoft.com/office/drawing/2014/main" id="{FB1CFA70-AD78-404D-8F65-B45176AFFB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6933" y="3958583"/>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C0CDA3DE-2E92-487D-B50D-FD0C1E7759A1}"/>
              </a:ext>
            </a:extLst>
          </p:cNvPr>
          <p:cNvSpPr/>
          <p:nvPr/>
        </p:nvSpPr>
        <p:spPr>
          <a:xfrm>
            <a:off x="7178493" y="4096769"/>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Claudio Rojas</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Consultant, Bureau de l'économiste en chef, Moyen-Orient et Afrique du Nord, Banque mondiale</a:t>
            </a:r>
            <a:endParaRPr lang="en-US" sz="1400" dirty="0"/>
          </a:p>
        </p:txBody>
      </p:sp>
      <p:pic>
        <p:nvPicPr>
          <p:cNvPr id="1035" name="Picture 11" descr="Sultan Alturki, Ph.D.">
            <a:extLst>
              <a:ext uri="{FF2B5EF4-FFF2-40B4-BE49-F238E27FC236}">
                <a16:creationId xmlns:a16="http://schemas.microsoft.com/office/drawing/2014/main" id="{1349BF3F-B40F-41D8-BDB4-E3413E7D55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280" y="5211661"/>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0CC0E6B4-86C8-48B1-87F0-83ABAF458F23}"/>
              </a:ext>
            </a:extLst>
          </p:cNvPr>
          <p:cNvSpPr/>
          <p:nvPr/>
        </p:nvSpPr>
        <p:spPr>
          <a:xfrm>
            <a:off x="1924840" y="5376547"/>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Sultan Alturki</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Consultant, Bureau de l'économiste en chef, Moyen-Orient et Afrique du Nord, Banque mondiale</a:t>
            </a:r>
            <a:endParaRPr lang="en-US" sz="1400" dirty="0"/>
          </a:p>
        </p:txBody>
      </p:sp>
      <p:pic>
        <p:nvPicPr>
          <p:cNvPr id="1037" name="Picture 13" descr="Image">
            <a:extLst>
              <a:ext uri="{FF2B5EF4-FFF2-40B4-BE49-F238E27FC236}">
                <a16:creationId xmlns:a16="http://schemas.microsoft.com/office/drawing/2014/main" id="{6D229B9F-18CC-4034-99A7-081CDE799A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7090" y="1481453"/>
            <a:ext cx="10477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F192DE54-0457-40DA-8B5D-890C8B7C356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934" t="2006" r="21208" b="53502"/>
          <a:stretch/>
        </p:blipFill>
        <p:spPr bwMode="auto">
          <a:xfrm>
            <a:off x="6106581" y="1430285"/>
            <a:ext cx="1051560" cy="103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639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4"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86D0F4FB-7E05-4645-BF84-6B108CB765C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Principaux résultats</a:t>
            </a:r>
          </a:p>
        </p:txBody>
      </p:sp>
      <p:graphicFrame>
        <p:nvGraphicFramePr>
          <p:cNvPr id="5" name="Content Placeholder 2">
            <a:extLst>
              <a:ext uri="{FF2B5EF4-FFF2-40B4-BE49-F238E27FC236}">
                <a16:creationId xmlns:a16="http://schemas.microsoft.com/office/drawing/2014/main" id="{690D5FDA-D6ED-4268-923E-DA117D021B03}"/>
              </a:ext>
            </a:extLst>
          </p:cNvPr>
          <p:cNvGraphicFramePr>
            <a:graphicFrameLocks noGrp="1"/>
          </p:cNvGraphicFramePr>
          <p:nvPr>
            <p:ph idx="1"/>
            <p:extLst>
              <p:ext uri="{D42A27DB-BD31-4B8C-83A1-F6EECF244321}">
                <p14:modId xmlns:p14="http://schemas.microsoft.com/office/powerpoint/2010/main" val="166165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737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786985761"/>
              </p:ext>
            </p:extLst>
          </p:nvPr>
        </p:nvGraphicFramePr>
        <p:xfrm>
          <a:off x="6603198" y="1627281"/>
          <a:ext cx="4295775" cy="384528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1">
            <a:extLst>
              <a:ext uri="{FF2B5EF4-FFF2-40B4-BE49-F238E27FC236}">
                <a16:creationId xmlns:a16="http://schemas.microsoft.com/office/drawing/2014/main" id="{DBF3886C-A3FA-4B71-B0F4-F6A72485CA6B}"/>
              </a:ext>
            </a:extLst>
          </p:cNvPr>
          <p:cNvSpPr>
            <a:spLocks noGrp="1"/>
          </p:cNvSpPr>
          <p:nvPr>
            <p:ph type="body" sz="quarter" idx="10"/>
          </p:nvPr>
        </p:nvSpPr>
        <p:spPr>
          <a:xfrm>
            <a:off x="323528" y="615956"/>
            <a:ext cx="11573197" cy="724247"/>
          </a:xfrm>
        </p:spPr>
        <p:txBody>
          <a:bodyPr>
            <a:normAutofit/>
          </a:bodyPr>
          <a:lstStyle/>
          <a:p>
            <a:r>
              <a:rPr lang="en-US" sz="4400">
                <a:solidFill>
                  <a:schemeClr val="accent6">
                    <a:lumMod val="50000"/>
                  </a:schemeClr>
                </a:solidFill>
              </a:rPr>
              <a:t>Une région encore en crise : pertes durables de PIB</a:t>
            </a:r>
          </a:p>
        </p:txBody>
      </p:sp>
      <p:graphicFrame>
        <p:nvGraphicFramePr>
          <p:cNvPr id="3" name="Chart 2">
            <a:extLst>
              <a:ext uri="{FF2B5EF4-FFF2-40B4-BE49-F238E27FC236}">
                <a16:creationId xmlns:a16="http://schemas.microsoft.com/office/drawing/2014/main" id="{9CBC18ED-0CCD-4896-B453-04A7C4F8E56A}"/>
              </a:ext>
            </a:extLst>
          </p:cNvPr>
          <p:cNvGraphicFramePr/>
          <p:nvPr>
            <p:extLst>
              <p:ext uri="{D42A27DB-BD31-4B8C-83A1-F6EECF244321}">
                <p14:modId xmlns:p14="http://schemas.microsoft.com/office/powerpoint/2010/main" val="4196070741"/>
              </p:ext>
            </p:extLst>
          </p:nvPr>
        </p:nvGraphicFramePr>
        <p:xfrm>
          <a:off x="1814352" y="1627281"/>
          <a:ext cx="4295775" cy="3994019"/>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Straight Connector 6">
            <a:extLst>
              <a:ext uri="{FF2B5EF4-FFF2-40B4-BE49-F238E27FC236}">
                <a16:creationId xmlns:a16="http://schemas.microsoft.com/office/drawing/2014/main" id="{1DD2C138-BCA2-4411-85B9-C8546C7BB543}"/>
              </a:ext>
            </a:extLst>
          </p:cNvPr>
          <p:cNvCxnSpPr/>
          <p:nvPr/>
        </p:nvCxnSpPr>
        <p:spPr>
          <a:xfrm>
            <a:off x="2226365" y="3313043"/>
            <a:ext cx="386963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DF4AAC-AE46-4CCC-AA07-52E9942A36CA}"/>
              </a:ext>
            </a:extLst>
          </p:cNvPr>
          <p:cNvSpPr txBox="1"/>
          <p:nvPr/>
        </p:nvSpPr>
        <p:spPr>
          <a:xfrm>
            <a:off x="408793" y="5442049"/>
            <a:ext cx="11374414" cy="1323439"/>
          </a:xfrm>
          <a:prstGeom prst="rect">
            <a:avLst/>
          </a:prstGeom>
          <a:noFill/>
        </p:spPr>
        <p:txBody>
          <a:bodyPr wrap="square" rtlCol="0">
            <a:spAutoFit/>
          </a:bodyPr>
          <a:lstStyle/>
          <a:p>
            <a:pPr algn="just"/>
            <a:r>
              <a:rPr lang="en-GB" sz="2000" dirty="0"/>
              <a:t>D'ici 2021, l'économie régionale devrait se situer 7,2 points de pourcentage en dessous du niveau de PIB « sans pandémie », soit l'équivalent de </a:t>
            </a:r>
            <a:r>
              <a:rPr lang="en-GB" sz="2000" dirty="0">
                <a:solidFill>
                  <a:srgbClr val="FF0000"/>
                </a:solidFill>
              </a:rPr>
              <a:t>227 </a:t>
            </a:r>
            <a:r>
              <a:rPr lang="en-GB" sz="2000" dirty="0"/>
              <a:t>milliards de dollars ; </a:t>
            </a:r>
            <a:r>
              <a:rPr lang="en-GB" sz="2000" dirty="0">
                <a:solidFill>
                  <a:srgbClr val="FF0000"/>
                </a:solidFill>
              </a:rPr>
              <a:t>le PIB par habitant </a:t>
            </a:r>
            <a:r>
              <a:rPr lang="en-GB" sz="2000" dirty="0"/>
              <a:t>(indicateur du niveau de développement qui détermine la pauvreté) restera </a:t>
            </a:r>
            <a:r>
              <a:rPr lang="en-GB" sz="2000" dirty="0">
                <a:solidFill>
                  <a:srgbClr val="FF0000"/>
                </a:solidFill>
              </a:rPr>
              <a:t>inférieur au niveau de 2019 d'environ 5 %</a:t>
            </a:r>
            <a:endParaRPr lang="en-US" sz="2000" dirty="0">
              <a:solidFill>
                <a:srgbClr val="FF0000"/>
              </a:solidFill>
              <a:latin typeface="Calibri" panose="020F0502020204030204" pitchFamily="34" charset="0"/>
            </a:endParaRPr>
          </a:p>
          <a:p>
            <a:pPr algn="just"/>
            <a:endParaRPr lang="en-US" sz="2000" dirty="0"/>
          </a:p>
        </p:txBody>
      </p:sp>
      <p:cxnSp>
        <p:nvCxnSpPr>
          <p:cNvPr id="8" name="Straight Connector 7">
            <a:extLst>
              <a:ext uri="{FF2B5EF4-FFF2-40B4-BE49-F238E27FC236}">
                <a16:creationId xmlns:a16="http://schemas.microsoft.com/office/drawing/2014/main" id="{C940EF00-9239-4C31-8D03-BCB742AB3821}"/>
              </a:ext>
            </a:extLst>
          </p:cNvPr>
          <p:cNvCxnSpPr>
            <a:cxnSpLocks/>
          </p:cNvCxnSpPr>
          <p:nvPr/>
        </p:nvCxnSpPr>
        <p:spPr>
          <a:xfrm>
            <a:off x="6983913" y="3303867"/>
            <a:ext cx="363719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26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715090-2DD7-43DE-9355-52B701B403E3}"/>
              </a:ext>
            </a:extLst>
          </p:cNvPr>
          <p:cNvSpPr>
            <a:spLocks noGrp="1"/>
          </p:cNvSpPr>
          <p:nvPr>
            <p:ph type="body" sz="quarter" idx="10"/>
          </p:nvPr>
        </p:nvSpPr>
        <p:spPr/>
        <p:txBody>
          <a:bodyPr>
            <a:normAutofit/>
          </a:bodyPr>
          <a:lstStyle/>
          <a:p>
            <a:r>
              <a:rPr lang="en-US" sz="3600" dirty="0">
                <a:solidFill>
                  <a:schemeClr val="accent6">
                    <a:lumMod val="50000"/>
                  </a:schemeClr>
                </a:solidFill>
              </a:rPr>
              <a:t>Une région encore en crise : pertes de PIB par habitant</a:t>
            </a:r>
          </a:p>
        </p:txBody>
      </p:sp>
      <p:sp>
        <p:nvSpPr>
          <p:cNvPr id="5" name="Rectangle 4">
            <a:extLst>
              <a:ext uri="{FF2B5EF4-FFF2-40B4-BE49-F238E27FC236}">
                <a16:creationId xmlns:a16="http://schemas.microsoft.com/office/drawing/2014/main" id="{90E8733A-7A89-4BB1-B25D-D7DDAE24AC3F}"/>
              </a:ext>
            </a:extLst>
          </p:cNvPr>
          <p:cNvSpPr/>
          <p:nvPr/>
        </p:nvSpPr>
        <p:spPr>
          <a:xfrm>
            <a:off x="1009650" y="5413244"/>
            <a:ext cx="10382250" cy="676467"/>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Source : Banque mondiale, </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Macro and Poverty Outlook</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(avril 2021 et octobre 2019) et calculs du personnel de la Banque mondiale.</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Note : Les lignes en pointillés indiquent les niveaux prévisionnels de PIB par habitant dans le scénario contrefactuel sans pandémie (sur la base des prévisions de PIB par habitant d'octobre 2019). Les lignes continues indiquent les niveaux prévisionnels de PIB par habitant dans le scénario avec pandémie (sur la base des prévisions de PIB par habitant d'avril 2021).</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5378120B-9D93-4E80-B5D9-D1A813847AC3}"/>
              </a:ext>
            </a:extLst>
          </p:cNvPr>
          <p:cNvSpPr/>
          <p:nvPr/>
        </p:nvSpPr>
        <p:spPr>
          <a:xfrm>
            <a:off x="8905862" y="1142998"/>
            <a:ext cx="3059612" cy="2092881"/>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Calibri"/>
                <a:cs typeface="Calibri"/>
              </a:rPr>
              <a:t>Pertes</a:t>
            </a:r>
            <a:r>
              <a:rPr kumimoji="0" lang="en-US" sz="1800" b="1" i="0" u="none" strike="noStrike" kern="1200" cap="none" spc="0" normalizeH="0" baseline="0" noProof="0" dirty="0">
                <a:ln>
                  <a:noFill/>
                </a:ln>
                <a:effectLst/>
                <a:uLnTx/>
                <a:uFillTx/>
                <a:latin typeface="Calibri"/>
                <a:cs typeface="Calibri"/>
              </a:rPr>
              <a:t> d'ici 2021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a:cs typeface="Calibri"/>
              </a:rPr>
              <a:t>MENA : 7,0%</a:t>
            </a:r>
            <a:endParaRPr lang="en-US" sz="1400" b="1" i="0" u="none" strike="noStrike" kern="1200" cap="none" spc="0" normalizeH="0" baseline="0" noProof="0" dirty="0">
              <a:ln>
                <a:noFill/>
              </a:ln>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333FF"/>
                </a:solidFill>
                <a:effectLst/>
                <a:uLnTx/>
                <a:uFillTx/>
                <a:latin typeface="Calibri"/>
                <a:cs typeface="Calibri"/>
              </a:rPr>
              <a:t>CCG : 7,3%</a:t>
            </a:r>
            <a:endParaRPr lang="en-US" sz="1400" b="1" i="0" u="none" strike="noStrike" kern="1200" cap="none" spc="0" normalizeH="0" baseline="0" noProof="0" dirty="0">
              <a:ln>
                <a:noFill/>
              </a:ln>
              <a:solidFill>
                <a:srgbClr val="3333FF"/>
              </a:solidFill>
              <a:effectLst/>
              <a:uLnTx/>
              <a:uFillTx/>
              <a:latin typeface="Calibri"/>
              <a:cs typeface="Calibri"/>
            </a:endParaRPr>
          </a:p>
          <a:p>
            <a:pPr>
              <a:defRPr/>
            </a:pPr>
            <a:endParaRPr lang="en-US" sz="1400" b="1" dirty="0">
              <a:solidFill>
                <a:srgbClr val="F3B500"/>
              </a:solidFill>
              <a:latin typeface="Calibri"/>
              <a:cs typeface="Calibri"/>
            </a:endParaRPr>
          </a:p>
          <a:p>
            <a:pPr>
              <a:defRPr/>
            </a:pPr>
            <a:r>
              <a:rPr lang="en-US" sz="1400" b="1" dirty="0">
                <a:solidFill>
                  <a:srgbClr val="F3B500"/>
                </a:solidFill>
                <a:latin typeface="Calibri"/>
                <a:cs typeface="Calibri"/>
              </a:rPr>
              <a:t>Exportateurs de pétrole à revenu intermédiaire</a:t>
            </a:r>
            <a:r>
              <a:rPr kumimoji="0" lang="en-US" sz="1400" b="1" i="0" u="none" strike="noStrike" kern="1200" cap="none" spc="0" normalizeH="0" baseline="0" noProof="0" dirty="0">
                <a:ln>
                  <a:noFill/>
                </a:ln>
                <a:solidFill>
                  <a:srgbClr val="F3B500"/>
                </a:solidFill>
                <a:effectLst/>
                <a:uLnTx/>
                <a:uFillTx/>
                <a:latin typeface="Calibri"/>
                <a:cs typeface="Calibri"/>
              </a:rPr>
              <a:t> : 4,6 %</a:t>
            </a:r>
            <a:endParaRPr lang="en-US" sz="1400" b="1" i="0" u="none" strike="noStrike" kern="1200" cap="none" spc="0" normalizeH="0" baseline="0" noProof="0" dirty="0">
              <a:ln>
                <a:noFill/>
              </a:ln>
              <a:solidFill>
                <a:srgbClr val="F3B500"/>
              </a:solidFill>
              <a:effectLst/>
              <a:uLnTx/>
              <a:uFillTx/>
              <a:latin typeface="Calibri"/>
              <a:cs typeface="Calibri"/>
            </a:endParaRPr>
          </a:p>
          <a:p>
            <a:pPr>
              <a:defRPr/>
            </a:pPr>
            <a:endParaRPr lang="en-US" sz="1400" b="1" dirty="0">
              <a:latin typeface="Calibri"/>
              <a:cs typeface="Calibri"/>
            </a:endParaRPr>
          </a:p>
          <a:p>
            <a:pPr>
              <a:defRPr/>
            </a:pPr>
            <a:r>
              <a:rPr lang="en-US" sz="1400" b="1" dirty="0">
                <a:solidFill>
                  <a:srgbClr val="FF0000"/>
                </a:solidFill>
                <a:latin typeface="Calibri"/>
                <a:cs typeface="Calibri"/>
              </a:rPr>
              <a:t>Importateurs de pétrole à revenu intermédiaire</a:t>
            </a:r>
            <a:r>
              <a:rPr kumimoji="0" lang="en-US" sz="1400" b="1" u="none" strike="noStrike" kern="1200" cap="none" spc="0" normalizeH="0" baseline="0" noProof="0" dirty="0">
                <a:ln>
                  <a:noFill/>
                </a:ln>
                <a:solidFill>
                  <a:srgbClr val="FF0000"/>
                </a:solidFill>
                <a:effectLst/>
                <a:uLnTx/>
                <a:uFillTx/>
                <a:latin typeface="Calibri"/>
                <a:cs typeface="Calibri"/>
              </a:rPr>
              <a:t> : </a:t>
            </a:r>
            <a:r>
              <a:rPr lang="en-US" sz="1400" b="1" dirty="0">
                <a:solidFill>
                  <a:srgbClr val="FF0000"/>
                </a:solidFill>
                <a:latin typeface="Calibri"/>
                <a:cs typeface="Calibri"/>
              </a:rPr>
              <a:t>8,6</a:t>
            </a:r>
            <a:r>
              <a:rPr kumimoji="0" lang="en-US" sz="1400" b="1" u="none" strike="noStrike" kern="1200" cap="none" spc="0" normalizeH="0" baseline="0" noProof="0" dirty="0">
                <a:ln>
                  <a:noFill/>
                </a:ln>
                <a:solidFill>
                  <a:srgbClr val="FF0000"/>
                </a:solidFill>
                <a:effectLst/>
                <a:uLnTx/>
                <a:uFillTx/>
                <a:latin typeface="Calibri"/>
                <a:cs typeface="Calibri"/>
              </a:rPr>
              <a:t> %</a:t>
            </a:r>
            <a:endParaRPr lang="en-US" sz="1400" b="1" u="none" strike="noStrike" kern="1200" cap="none" spc="0" normalizeH="0" baseline="0" noProof="0" dirty="0">
              <a:ln>
                <a:noFill/>
              </a:ln>
              <a:solidFill>
                <a:srgbClr val="FF0000"/>
              </a:solidFill>
              <a:effectLst/>
              <a:uLnTx/>
              <a:uFillTx/>
              <a:latin typeface="Calibri" panose="020F0502020204030204" pitchFamily="34" charset="0"/>
              <a:cs typeface="Calibri"/>
            </a:endParaRPr>
          </a:p>
        </p:txBody>
      </p:sp>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51734779"/>
              </p:ext>
            </p:extLst>
          </p:nvPr>
        </p:nvGraphicFramePr>
        <p:xfrm>
          <a:off x="1280013" y="1181100"/>
          <a:ext cx="2926080"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9BB88AFC-0FDD-4D80-A82E-F69212A5C0A7}"/>
              </a:ext>
            </a:extLst>
          </p:cNvPr>
          <p:cNvGraphicFramePr>
            <a:graphicFrameLocks/>
          </p:cNvGraphicFramePr>
          <p:nvPr>
            <p:extLst>
              <p:ext uri="{D42A27DB-BD31-4B8C-83A1-F6EECF244321}">
                <p14:modId xmlns:p14="http://schemas.microsoft.com/office/powerpoint/2010/main" val="2526975853"/>
              </p:ext>
            </p:extLst>
          </p:nvPr>
        </p:nvGraphicFramePr>
        <p:xfrm>
          <a:off x="4959228" y="1181100"/>
          <a:ext cx="2926080" cy="42321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352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A4F677-CFFB-4133-8356-006EA710E02D}"/>
              </a:ext>
            </a:extLst>
          </p:cNvPr>
          <p:cNvSpPr>
            <a:spLocks noGrp="1"/>
          </p:cNvSpPr>
          <p:nvPr>
            <p:ph type="body" sz="quarter" idx="10"/>
          </p:nvPr>
        </p:nvSpPr>
        <p:spPr/>
        <p:txBody>
          <a:bodyPr>
            <a:normAutofit fontScale="77500" lnSpcReduction="20000"/>
          </a:bodyPr>
          <a:lstStyle/>
          <a:p>
            <a:r>
              <a:rPr lang="en-US" sz="4000">
                <a:solidFill>
                  <a:schemeClr val="accent6">
                    <a:lumMod val="50000"/>
                  </a:schemeClr>
                </a:solidFill>
              </a:rPr>
              <a:t>Une région encore en crise : estimations prudentes de millions de nouveaux pauvres</a:t>
            </a:r>
          </a:p>
        </p:txBody>
      </p:sp>
      <p:graphicFrame>
        <p:nvGraphicFramePr>
          <p:cNvPr id="7" name="Chart 6">
            <a:extLst>
              <a:ext uri="{FF2B5EF4-FFF2-40B4-BE49-F238E27FC236}">
                <a16:creationId xmlns:a16="http://schemas.microsoft.com/office/drawing/2014/main" id="{0F4ABC40-7069-4724-BDE7-91154B88CC8C}"/>
              </a:ext>
            </a:extLst>
          </p:cNvPr>
          <p:cNvGraphicFramePr>
            <a:graphicFrameLocks/>
          </p:cNvGraphicFramePr>
          <p:nvPr>
            <p:extLst>
              <p:ext uri="{D42A27DB-BD31-4B8C-83A1-F6EECF244321}">
                <p14:modId xmlns:p14="http://schemas.microsoft.com/office/powerpoint/2010/main" val="129289878"/>
              </p:ext>
            </p:extLst>
          </p:nvPr>
        </p:nvGraphicFramePr>
        <p:xfrm>
          <a:off x="2252870" y="1231510"/>
          <a:ext cx="7315200" cy="4862912"/>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Arrow Connector 7">
            <a:extLst>
              <a:ext uri="{FF2B5EF4-FFF2-40B4-BE49-F238E27FC236}">
                <a16:creationId xmlns:a16="http://schemas.microsoft.com/office/drawing/2014/main" id="{3AB6CEDE-7B1F-40BE-9672-1D762AC302A2}"/>
              </a:ext>
            </a:extLst>
          </p:cNvPr>
          <p:cNvCxnSpPr/>
          <p:nvPr/>
        </p:nvCxnSpPr>
        <p:spPr>
          <a:xfrm>
            <a:off x="9727096" y="2759765"/>
            <a:ext cx="0" cy="1338469"/>
          </a:xfrm>
          <a:prstGeom prst="straightConnector1">
            <a:avLst/>
          </a:prstGeom>
          <a:ln>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8F46531-5F7E-46F1-A114-E3DBDC8D98C2}"/>
              </a:ext>
            </a:extLst>
          </p:cNvPr>
          <p:cNvSpPr txBox="1"/>
          <p:nvPr/>
        </p:nvSpPr>
        <p:spPr>
          <a:xfrm>
            <a:off x="10031895" y="3127513"/>
            <a:ext cx="1285461" cy="369332"/>
          </a:xfrm>
          <a:prstGeom prst="rect">
            <a:avLst/>
          </a:prstGeom>
          <a:noFill/>
        </p:spPr>
        <p:txBody>
          <a:bodyPr wrap="square" rtlCol="0">
            <a:spAutoFit/>
          </a:bodyPr>
          <a:lstStyle/>
          <a:p>
            <a:r>
              <a:rPr lang="en-US"/>
              <a:t>14,2 millions</a:t>
            </a:r>
          </a:p>
        </p:txBody>
      </p:sp>
    </p:spTree>
    <p:extLst>
      <p:ext uri="{BB962C8B-B14F-4D97-AF65-F5344CB8AC3E}">
        <p14:creationId xmlns:p14="http://schemas.microsoft.com/office/powerpoint/2010/main" val="424066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2FBD6A-2BAE-439D-8BBE-887912214A44}"/>
              </a:ext>
            </a:extLst>
          </p:cNvPr>
          <p:cNvSpPr>
            <a:spLocks noGrp="1"/>
          </p:cNvSpPr>
          <p:nvPr>
            <p:ph type="title"/>
          </p:nvPr>
        </p:nvSpPr>
        <p:spPr>
          <a:xfrm>
            <a:off x="603938" y="640081"/>
            <a:ext cx="2608655" cy="5257799"/>
          </a:xfrm>
        </p:spPr>
        <p:txBody>
          <a:bodyPr>
            <a:normAutofit/>
          </a:bodyPr>
          <a:lstStyle/>
          <a:p>
            <a:r>
              <a:rPr lang="en-US" sz="3600">
                <a:solidFill>
                  <a:srgbClr val="2C2C2C"/>
                </a:solidFill>
              </a:rPr>
              <a:t>Une région toujours en crise : </a:t>
            </a:r>
            <a:br>
              <a:rPr lang="en-US" sz="3600">
                <a:solidFill>
                  <a:srgbClr val="2C2C2C"/>
                </a:solidFill>
              </a:rPr>
            </a:br>
            <a:br>
              <a:rPr lang="en-US" sz="3600">
                <a:solidFill>
                  <a:srgbClr val="2C2C2C"/>
                </a:solidFill>
              </a:rPr>
            </a:br>
            <a:r>
              <a:rPr lang="en-US" sz="3600">
                <a:solidFill>
                  <a:srgbClr val="2C2C2C"/>
                </a:solidFill>
              </a:rPr>
              <a:t>Inflation des prix alimentaires régressive</a:t>
            </a:r>
            <a:br>
              <a:rPr lang="en-US" sz="3600">
                <a:solidFill>
                  <a:srgbClr val="2C2C2C"/>
                </a:solidFill>
              </a:rPr>
            </a:br>
            <a:br>
              <a:rPr lang="en-US" sz="3600">
                <a:solidFill>
                  <a:srgbClr val="2C2C2C"/>
                </a:solidFill>
              </a:rPr>
            </a:br>
            <a:r>
              <a:rPr lang="en-US" sz="2000" b="1">
                <a:solidFill>
                  <a:srgbClr val="2C2C2C"/>
                </a:solidFill>
              </a:rPr>
              <a:t>Février 2020 – mars 2021</a:t>
            </a:r>
            <a:endParaRPr lang="en-US" sz="3600" b="1">
              <a:solidFill>
                <a:srgbClr val="2C2C2C"/>
              </a:solidFill>
            </a:endParaRPr>
          </a:p>
        </p:txBody>
      </p:sp>
      <p:sp>
        <p:nvSpPr>
          <p:cNvPr id="29"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DC83F48-BDF8-4A4B-B8D7-D7B20E12A800}"/>
              </a:ext>
            </a:extLst>
          </p:cNvPr>
          <p:cNvPicPr/>
          <p:nvPr/>
        </p:nvPicPr>
        <p:blipFill rotWithShape="1">
          <a:blip r:embed="rId3" cstate="print">
            <a:extLst>
              <a:ext uri="{28A0092B-C50C-407E-A947-70E740481C1C}">
                <a14:useLocalDpi xmlns:a14="http://schemas.microsoft.com/office/drawing/2010/main" val="0"/>
              </a:ext>
            </a:extLst>
          </a:blip>
          <a:srcRect r="697" b="14"/>
          <a:stretch/>
        </p:blipFill>
        <p:spPr bwMode="auto">
          <a:xfrm>
            <a:off x="4062964" y="942538"/>
            <a:ext cx="7163222" cy="4808332"/>
          </a:xfrm>
          <a:prstGeom prst="rect">
            <a:avLst/>
          </a:prstGeom>
          <a:noFill/>
          <a:effectLst/>
        </p:spPr>
      </p:pic>
    </p:spTree>
    <p:extLst>
      <p:ext uri="{BB962C8B-B14F-4D97-AF65-F5344CB8AC3E}">
        <p14:creationId xmlns:p14="http://schemas.microsoft.com/office/powerpoint/2010/main" val="214390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6652D8-86A3-4EF7-8605-147F7AED729D}"/>
              </a:ext>
            </a:extLst>
          </p:cNvPr>
          <p:cNvSpPr>
            <a:spLocks noGrp="1"/>
          </p:cNvSpPr>
          <p:nvPr>
            <p:ph type="body" sz="quarter" idx="10"/>
          </p:nvPr>
        </p:nvSpPr>
        <p:spPr/>
        <p:txBody>
          <a:bodyPr>
            <a:normAutofit/>
          </a:bodyPr>
          <a:lstStyle/>
          <a:p>
            <a:r>
              <a:rPr lang="en-US" sz="4000">
                <a:solidFill>
                  <a:schemeClr val="accent6">
                    <a:lumMod val="50000"/>
                  </a:schemeClr>
                </a:solidFill>
              </a:rPr>
              <a:t>L'équilibre précaire d'une dette publique croissante</a:t>
            </a:r>
          </a:p>
        </p:txBody>
      </p:sp>
      <p:sp>
        <p:nvSpPr>
          <p:cNvPr id="4" name="Rectangle 3">
            <a:extLst>
              <a:ext uri="{FF2B5EF4-FFF2-40B4-BE49-F238E27FC236}">
                <a16:creationId xmlns:a16="http://schemas.microsoft.com/office/drawing/2014/main" id="{D71FFDEF-E2A0-446C-BDAC-8D07FEBAB98A}"/>
              </a:ext>
            </a:extLst>
          </p:cNvPr>
          <p:cNvSpPr/>
          <p:nvPr/>
        </p:nvSpPr>
        <p:spPr>
          <a:xfrm>
            <a:off x="1153353" y="5573094"/>
            <a:ext cx="8667750" cy="874085"/>
          </a:xfrm>
          <a:prstGeom prst="rect">
            <a:avLst/>
          </a:prstGeom>
        </p:spPr>
        <p:txBody>
          <a:bodyPr wrap="square">
            <a:spAutoFit/>
          </a:bodyPr>
          <a:lstStyle/>
          <a:p>
            <a:pPr>
              <a:lnSpc>
                <a:spcPct val="107000"/>
              </a:lnSpc>
            </a:pPr>
            <a:r>
              <a:rPr lang="en-US" sz="1200">
                <a:latin typeface="Calibri" panose="020F0502020204030204" pitchFamily="34" charset="0"/>
                <a:ea typeface="Calibri" panose="020F0502020204030204" pitchFamily="34" charset="0"/>
                <a:cs typeface="Calibri" panose="020F0502020204030204" pitchFamily="34" charset="0"/>
              </a:rPr>
              <a:t>Source : Banque mondiale, </a:t>
            </a:r>
            <a:r>
              <a:rPr lang="en-US" sz="1200" i="1">
                <a:latin typeface="Calibri" panose="020F0502020204030204" pitchFamily="34" charset="0"/>
                <a:ea typeface="Calibri" panose="020F0502020204030204" pitchFamily="34" charset="0"/>
                <a:cs typeface="Calibri" panose="020F0502020204030204" pitchFamily="34" charset="0"/>
              </a:rPr>
              <a:t>Macro and Poverty Outlook</a:t>
            </a:r>
            <a:r>
              <a:rPr lang="en-US" sz="1200">
                <a:latin typeface="Calibri" panose="020F0502020204030204" pitchFamily="34" charset="0"/>
                <a:ea typeface="Calibri" panose="020F0502020204030204" pitchFamily="34" charset="0"/>
                <a:cs typeface="Calibri" panose="020F0502020204030204" pitchFamily="34" charset="0"/>
              </a:rPr>
              <a:t> </a:t>
            </a:r>
            <a:r>
              <a:rPr lang="en-US" sz="1200" i="1">
                <a:latin typeface="Calibri" panose="020F0502020204030204" pitchFamily="34" charset="0"/>
                <a:ea typeface="Calibri" panose="020F0502020204030204" pitchFamily="34" charset="0"/>
                <a:cs typeface="Calibri" panose="020F0502020204030204" pitchFamily="34" charset="0"/>
              </a:rPr>
              <a:t>(avril 2021)</a:t>
            </a:r>
            <a:endParaRPr lang="en-US" sz="1600">
              <a:latin typeface="Calibri" panose="020F0502020204030204" pitchFamily="34" charset="0"/>
              <a:ea typeface="Calibri" panose="020F0502020204030204" pitchFamily="34" charset="0"/>
              <a:cs typeface="Arial" panose="020B0604020202020204" pitchFamily="34" charset="0"/>
            </a:endParaRPr>
          </a:p>
          <a:p>
            <a:pPr>
              <a:lnSpc>
                <a:spcPct val="107000"/>
              </a:lnSpc>
            </a:pPr>
            <a:r>
              <a:rPr lang="en-US" sz="1200">
                <a:latin typeface="Calibri" panose="020F0502020204030204" pitchFamily="34" charset="0"/>
                <a:ea typeface="Calibri" panose="020F0502020204030204" pitchFamily="34" charset="0"/>
                <a:cs typeface="Calibri" panose="020F0502020204030204" pitchFamily="34" charset="0"/>
              </a:rPr>
              <a:t>Note : Les groupes de pays sont représentés par la valeur médiane du groupe. Les barres indiquent la dette médiane des groupes de pays MENA. Les losanges indiquent la dette médiane des groupes de revenu mondiaux correspondants. Les données sur la dette ne sont généralement pas disponibles pour les pays MENA à faible revenu (Yémen et Syrie). Le groupe à revenu élevé dans les PPM est limité aux seuls pays couverts par la Banque mondiale.</a:t>
            </a:r>
            <a:endParaRPr lang="en-US" sz="1600">
              <a:effectLst/>
              <a:latin typeface="Calibri" panose="020F0502020204030204" pitchFamily="34" charset="0"/>
              <a:ea typeface="Calibri" panose="020F050202020403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C15A88E8-DA76-490E-8B0B-E8B820AC1568}"/>
              </a:ext>
            </a:extLst>
          </p:cNvPr>
          <p:cNvGrpSpPr/>
          <p:nvPr/>
        </p:nvGrpSpPr>
        <p:grpSpPr>
          <a:xfrm>
            <a:off x="1374913" y="1284906"/>
            <a:ext cx="5943600" cy="3790950"/>
            <a:chOff x="3124200" y="1123950"/>
            <a:chExt cx="5943600" cy="3790950"/>
          </a:xfrm>
        </p:grpSpPr>
        <p:graphicFrame>
          <p:nvGraphicFramePr>
            <p:cNvPr id="3" name="Chart 2">
              <a:extLst>
                <a:ext uri="{FF2B5EF4-FFF2-40B4-BE49-F238E27FC236}">
                  <a16:creationId xmlns:a16="http://schemas.microsoft.com/office/drawing/2014/main" id="{B6A91162-CB5A-6240-9245-A864AB930BB8}"/>
                </a:ext>
              </a:extLst>
            </p:cNvPr>
            <p:cNvGraphicFramePr/>
            <p:nvPr>
              <p:extLst>
                <p:ext uri="{D42A27DB-BD31-4B8C-83A1-F6EECF244321}">
                  <p14:modId xmlns:p14="http://schemas.microsoft.com/office/powerpoint/2010/main" val="3328265334"/>
                </p:ext>
              </p:extLst>
            </p:nvPr>
          </p:nvGraphicFramePr>
          <p:xfrm>
            <a:off x="3124200" y="1123950"/>
            <a:ext cx="5943600" cy="3790950"/>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Connector 5">
              <a:extLst>
                <a:ext uri="{FF2B5EF4-FFF2-40B4-BE49-F238E27FC236}">
                  <a16:creationId xmlns:a16="http://schemas.microsoft.com/office/drawing/2014/main" id="{754A2214-6D47-448C-89B5-997F1FEFB921}"/>
                </a:ext>
              </a:extLst>
            </p:cNvPr>
            <p:cNvCxnSpPr/>
            <p:nvPr/>
          </p:nvCxnSpPr>
          <p:spPr>
            <a:xfrm flipV="1">
              <a:off x="6268278" y="1749287"/>
              <a:ext cx="0" cy="2438400"/>
            </a:xfrm>
            <a:prstGeom prst="line">
              <a:avLst/>
            </a:prstGeom>
            <a:ln w="25400">
              <a:prstDash val="sysDot"/>
            </a:ln>
          </p:spPr>
          <p:style>
            <a:lnRef idx="1">
              <a:schemeClr val="dk1"/>
            </a:lnRef>
            <a:fillRef idx="0">
              <a:schemeClr val="dk1"/>
            </a:fillRef>
            <a:effectRef idx="0">
              <a:schemeClr val="dk1"/>
            </a:effectRef>
            <a:fontRef idx="minor">
              <a:schemeClr val="tx1"/>
            </a:fontRef>
          </p:style>
        </p:cxnSp>
      </p:grpSp>
      <p:sp>
        <p:nvSpPr>
          <p:cNvPr id="8" name="TextBox 7">
            <a:extLst>
              <a:ext uri="{FF2B5EF4-FFF2-40B4-BE49-F238E27FC236}">
                <a16:creationId xmlns:a16="http://schemas.microsoft.com/office/drawing/2014/main" id="{236468AB-7930-4721-87B7-168F8D097098}"/>
              </a:ext>
            </a:extLst>
          </p:cNvPr>
          <p:cNvSpPr txBox="1"/>
          <p:nvPr/>
        </p:nvSpPr>
        <p:spPr>
          <a:xfrm>
            <a:off x="8534400" y="2167012"/>
            <a:ext cx="2676939" cy="1200329"/>
          </a:xfrm>
          <a:prstGeom prst="rect">
            <a:avLst/>
          </a:prstGeom>
          <a:noFill/>
          <a:ln w="25400">
            <a:solidFill>
              <a:srgbClr val="FF0000"/>
            </a:solidFill>
          </a:ln>
        </p:spPr>
        <p:txBody>
          <a:bodyPr wrap="square" rtlCol="0">
            <a:spAutoFit/>
          </a:bodyPr>
          <a:lstStyle/>
          <a:p>
            <a:r>
              <a:rPr lang="en-US"/>
              <a:t>L'équilibre est le plus difficile à maintenir parmi les économies importatrices de pétrole à revenu intermédiaire de la région MENA. </a:t>
            </a:r>
          </a:p>
        </p:txBody>
      </p:sp>
    </p:spTree>
    <p:extLst>
      <p:ext uri="{BB962C8B-B14F-4D97-AF65-F5344CB8AC3E}">
        <p14:creationId xmlns:p14="http://schemas.microsoft.com/office/powerpoint/2010/main" val="86147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9"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BFA37D1-30D1-47C5-9E58-FF154E05647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Le présent rapport</a:t>
            </a:r>
          </a:p>
        </p:txBody>
      </p:sp>
      <p:graphicFrame>
        <p:nvGraphicFramePr>
          <p:cNvPr id="7" name="Content Placeholder 4">
            <a:extLst>
              <a:ext uri="{FF2B5EF4-FFF2-40B4-BE49-F238E27FC236}">
                <a16:creationId xmlns:a16="http://schemas.microsoft.com/office/drawing/2014/main" id="{4FE4F1DC-0D88-487E-8ECB-A2BF5C478845}"/>
              </a:ext>
            </a:extLst>
          </p:cNvPr>
          <p:cNvGraphicFramePr>
            <a:graphicFrameLocks noGrp="1"/>
          </p:cNvGraphicFramePr>
          <p:nvPr>
            <p:ph idx="1"/>
            <p:extLst>
              <p:ext uri="{D42A27DB-BD31-4B8C-83A1-F6EECF244321}">
                <p14:modId xmlns:p14="http://schemas.microsoft.com/office/powerpoint/2010/main" val="51915224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954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er 5">
            <a:extLst>
              <a:ext uri="{FF2B5EF4-FFF2-40B4-BE49-F238E27FC236}">
                <a16:creationId xmlns:a16="http://schemas.microsoft.com/office/drawing/2014/main" id="{C9C4074C-4505-4CE8-A760-08964CC50F04}"/>
              </a:ext>
            </a:extLst>
          </p:cNvPr>
          <p:cNvSpPr/>
          <p:nvPr/>
        </p:nvSpPr>
        <p:spPr>
          <a:xfrm>
            <a:off x="4547627" y="5694022"/>
            <a:ext cx="1518214" cy="658190"/>
          </a:xfrm>
          <a:prstGeom prst="can">
            <a:avLst>
              <a:gd name="adj" fmla="val 50000"/>
            </a:avLst>
          </a:prstGeom>
          <a:solidFill>
            <a:schemeClr val="tx1">
              <a:lumMod val="65000"/>
              <a:lumOff val="3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394ACD-998C-4E50-BA1F-A3D5122DDFAE}"/>
              </a:ext>
            </a:extLst>
          </p:cNvPr>
          <p:cNvSpPr>
            <a:spLocks noGrp="1"/>
          </p:cNvSpPr>
          <p:nvPr>
            <p:ph type="title"/>
          </p:nvPr>
        </p:nvSpPr>
        <p:spPr>
          <a:xfrm>
            <a:off x="838200" y="98425"/>
            <a:ext cx="10515600" cy="1401683"/>
          </a:xfrm>
        </p:spPr>
        <p:txBody>
          <a:bodyPr>
            <a:noAutofit/>
          </a:bodyPr>
          <a:lstStyle/>
          <a:p>
            <a:pPr algn="ctr"/>
            <a:r>
              <a:rPr lang="en-US" sz="2800" dirty="0">
                <a:solidFill>
                  <a:schemeClr val="accent6">
                    <a:lumMod val="50000"/>
                  </a:schemeClr>
                </a:solidFill>
              </a:rPr>
              <a:t>Sur le fil de la dette :</a:t>
            </a:r>
            <a:br>
              <a:rPr lang="en-US" sz="2800" dirty="0">
                <a:solidFill>
                  <a:schemeClr val="accent6">
                    <a:lumMod val="50000"/>
                  </a:schemeClr>
                </a:solidFill>
              </a:rPr>
            </a:br>
            <a:r>
              <a:rPr lang="en-US" sz="2800" dirty="0">
                <a:solidFill>
                  <a:schemeClr val="accent6">
                    <a:lumMod val="50000"/>
                  </a:schemeClr>
                </a:solidFill>
              </a:rPr>
              <a:t>Tension entre les besoins à court terme et les coûts à long terme de la dette publique</a:t>
            </a:r>
          </a:p>
        </p:txBody>
      </p:sp>
      <p:sp>
        <p:nvSpPr>
          <p:cNvPr id="5" name="Cylinder 4">
            <a:extLst>
              <a:ext uri="{FF2B5EF4-FFF2-40B4-BE49-F238E27FC236}">
                <a16:creationId xmlns:a16="http://schemas.microsoft.com/office/drawing/2014/main" id="{4FFB838A-E3FD-4585-AE46-E107C725C462}"/>
              </a:ext>
            </a:extLst>
          </p:cNvPr>
          <p:cNvSpPr/>
          <p:nvPr/>
        </p:nvSpPr>
        <p:spPr>
          <a:xfrm>
            <a:off x="5111905" y="2075604"/>
            <a:ext cx="347241" cy="3769612"/>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ylinder 6">
            <a:extLst>
              <a:ext uri="{FF2B5EF4-FFF2-40B4-BE49-F238E27FC236}">
                <a16:creationId xmlns:a16="http://schemas.microsoft.com/office/drawing/2014/main" id="{B1191802-FB77-4A34-9894-520D4F38F589}"/>
              </a:ext>
            </a:extLst>
          </p:cNvPr>
          <p:cNvSpPr/>
          <p:nvPr/>
        </p:nvSpPr>
        <p:spPr>
          <a:xfrm rot="16825689" flipH="1">
            <a:off x="5249271" y="936985"/>
            <a:ext cx="183741" cy="3511957"/>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Isosceles Triangle 8">
            <a:extLst>
              <a:ext uri="{FF2B5EF4-FFF2-40B4-BE49-F238E27FC236}">
                <a16:creationId xmlns:a16="http://schemas.microsoft.com/office/drawing/2014/main" id="{A3D196BC-6BFB-448B-A6AC-E317A8B0916B}"/>
              </a:ext>
            </a:extLst>
          </p:cNvPr>
          <p:cNvSpPr/>
          <p:nvPr/>
        </p:nvSpPr>
        <p:spPr>
          <a:xfrm>
            <a:off x="6454349" y="2992784"/>
            <a:ext cx="1207008" cy="1728216"/>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F27CE214-6196-494F-A892-33C9EA9EC783}"/>
              </a:ext>
            </a:extLst>
          </p:cNvPr>
          <p:cNvSpPr/>
          <p:nvPr/>
        </p:nvSpPr>
        <p:spPr>
          <a:xfrm>
            <a:off x="6440083" y="4110963"/>
            <a:ext cx="1280160" cy="1097280"/>
          </a:xfrm>
          <a:prstGeom prst="ellipse">
            <a:avLst/>
          </a:prstGeom>
          <a:solidFill>
            <a:schemeClr val="accent2"/>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Isosceles Triangle 9">
            <a:extLst>
              <a:ext uri="{FF2B5EF4-FFF2-40B4-BE49-F238E27FC236}">
                <a16:creationId xmlns:a16="http://schemas.microsoft.com/office/drawing/2014/main" id="{548792C1-4522-4187-B239-9EC0034BE205}"/>
              </a:ext>
            </a:extLst>
          </p:cNvPr>
          <p:cNvSpPr/>
          <p:nvPr/>
        </p:nvSpPr>
        <p:spPr>
          <a:xfrm>
            <a:off x="3001668" y="2383235"/>
            <a:ext cx="1210851" cy="1727823"/>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0C7296EC-0DA5-4958-A85B-42401221C675}"/>
              </a:ext>
            </a:extLst>
          </p:cNvPr>
          <p:cNvSpPr/>
          <p:nvPr/>
        </p:nvSpPr>
        <p:spPr>
          <a:xfrm>
            <a:off x="2982121" y="3494602"/>
            <a:ext cx="1280160" cy="1097280"/>
          </a:xfrm>
          <a:prstGeom prst="ellipse">
            <a:avLst/>
          </a:prstGeom>
          <a:solidFill>
            <a:srgbClr val="4472C4"/>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19DC177A-3550-4F67-BEB3-4389FB613495}"/>
              </a:ext>
            </a:extLst>
          </p:cNvPr>
          <p:cNvSpPr/>
          <p:nvPr/>
        </p:nvSpPr>
        <p:spPr>
          <a:xfrm>
            <a:off x="4998560" y="2383235"/>
            <a:ext cx="647212" cy="658190"/>
          </a:xfrm>
          <a:prstGeom prst="ellipse">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EDF4CF2-1B37-47E3-AFA8-8E2A1DC4945B}"/>
              </a:ext>
            </a:extLst>
          </p:cNvPr>
          <p:cNvSpPr/>
          <p:nvPr/>
        </p:nvSpPr>
        <p:spPr>
          <a:xfrm>
            <a:off x="3490542" y="2252750"/>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D3FF54C-D1C5-4B14-8D78-AA0C70FAEB1E}"/>
              </a:ext>
            </a:extLst>
          </p:cNvPr>
          <p:cNvSpPr/>
          <p:nvPr/>
        </p:nvSpPr>
        <p:spPr>
          <a:xfrm>
            <a:off x="6933074" y="2891338"/>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3396B90-B644-4B82-A058-8F6E8C8AEAA6}"/>
              </a:ext>
            </a:extLst>
          </p:cNvPr>
          <p:cNvSpPr/>
          <p:nvPr/>
        </p:nvSpPr>
        <p:spPr>
          <a:xfrm>
            <a:off x="479523" y="4761664"/>
            <a:ext cx="3461409"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srgbClr val="4472C4"/>
                </a:solidFill>
                <a:effectLst/>
                <a:uLnTx/>
                <a:uFillTx/>
                <a:latin typeface="Calibri" panose="020F0502020204030204"/>
                <a:ea typeface="+mn-ea"/>
                <a:cs typeface="+mn-cs"/>
              </a:rPr>
              <a:t>Besoins à court terme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Aide d'urgence : soutien aux entreprises et aux ménages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Dépenses de santé publique</a:t>
            </a:r>
          </a:p>
        </p:txBody>
      </p:sp>
      <p:sp>
        <p:nvSpPr>
          <p:cNvPr id="16" name="Rectangle 15">
            <a:extLst>
              <a:ext uri="{FF2B5EF4-FFF2-40B4-BE49-F238E27FC236}">
                <a16:creationId xmlns:a16="http://schemas.microsoft.com/office/drawing/2014/main" id="{41D7FCD7-6112-4748-B9FE-565A4A779744}"/>
              </a:ext>
            </a:extLst>
          </p:cNvPr>
          <p:cNvSpPr/>
          <p:nvPr/>
        </p:nvSpPr>
        <p:spPr>
          <a:xfrm>
            <a:off x="7893323" y="2138155"/>
            <a:ext cx="4083840" cy="25545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Risques à long terme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Éviction de l'investissement privé </a:t>
            </a:r>
            <a:r>
              <a:rPr kumimoji="0" lang="en-US" sz="2000" b="0" u="none" strike="noStrike" kern="1200" cap="none" spc="0" normalizeH="0" baseline="0" noProof="0" dirty="0">
                <a:ln>
                  <a:noFill/>
                </a:ln>
                <a:solidFill>
                  <a:prstClr val="black"/>
                </a:solidFill>
                <a:effectLst/>
                <a:uLnTx/>
                <a:uFillTx/>
                <a:latin typeface="Calibri" panose="020F0502020204030204"/>
                <a:ea typeface="+mn-ea"/>
                <a:cs typeface="+mn-cs"/>
              </a:rPr>
              <a:t>(à mesure que le taux d'intérêt augmente)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Éviction de l'investissement public avec la hausse des charges d'intérêts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Vulnérabilité macroéconomique, risque de refinancement et probabilité de crises d'endettement coûteuses</a:t>
            </a:r>
          </a:p>
        </p:txBody>
      </p:sp>
    </p:spTree>
    <p:extLst>
      <p:ext uri="{BB962C8B-B14F-4D97-AF65-F5344CB8AC3E}">
        <p14:creationId xmlns:p14="http://schemas.microsoft.com/office/powerpoint/2010/main" val="190920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60AB6-FCAF-41DB-A89A-A5722A56138D}"/>
              </a:ext>
            </a:extLst>
          </p:cNvPr>
          <p:cNvSpPr>
            <a:spLocks noGrp="1"/>
          </p:cNvSpPr>
          <p:nvPr>
            <p:ph type="title"/>
          </p:nvPr>
        </p:nvSpPr>
        <p:spPr>
          <a:xfrm>
            <a:off x="838200" y="365126"/>
            <a:ext cx="10515600" cy="1070270"/>
          </a:xfrm>
        </p:spPr>
        <p:txBody>
          <a:bodyPr>
            <a:normAutofit/>
          </a:bodyPr>
          <a:lstStyle/>
          <a:p>
            <a:pPr algn="ctr"/>
            <a:r>
              <a:rPr lang="en-US" sz="2800" dirty="0">
                <a:solidFill>
                  <a:schemeClr val="accent6">
                    <a:lumMod val="50000"/>
                  </a:schemeClr>
                </a:solidFill>
              </a:rPr>
              <a:t>Sur le fil de la dette </a:t>
            </a:r>
            <a:br>
              <a:rPr lang="en-US" sz="2800" dirty="0">
                <a:solidFill>
                  <a:schemeClr val="accent6">
                    <a:lumMod val="50000"/>
                  </a:schemeClr>
                </a:solidFill>
              </a:rPr>
            </a:br>
            <a:r>
              <a:rPr lang="en-US" sz="2800" dirty="0">
                <a:solidFill>
                  <a:schemeClr val="accent6">
                    <a:lumMod val="50000"/>
                  </a:schemeClr>
                </a:solidFill>
              </a:rPr>
              <a:t>Besoins à court terme de la dette publique : leçons tirées de la gestion des catastrophes</a:t>
            </a:r>
          </a:p>
        </p:txBody>
      </p:sp>
      <p:graphicFrame>
        <p:nvGraphicFramePr>
          <p:cNvPr id="4" name="Content Placeholder 3">
            <a:extLst>
              <a:ext uri="{FF2B5EF4-FFF2-40B4-BE49-F238E27FC236}">
                <a16:creationId xmlns:a16="http://schemas.microsoft.com/office/drawing/2014/main" id="{A7404428-83C8-3249-84A4-FA2068F89C88}"/>
              </a:ext>
            </a:extLst>
          </p:cNvPr>
          <p:cNvGraphicFramePr>
            <a:graphicFrameLocks noGrp="1"/>
          </p:cNvGraphicFramePr>
          <p:nvPr>
            <p:ph idx="1"/>
          </p:nvPr>
        </p:nvGraphicFramePr>
        <p:xfrm>
          <a:off x="1048605" y="1811911"/>
          <a:ext cx="695894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B6676DFA-8BB3-44D0-95CE-495C330CB370}"/>
              </a:ext>
            </a:extLst>
          </p:cNvPr>
          <p:cNvSpPr txBox="1"/>
          <p:nvPr/>
        </p:nvSpPr>
        <p:spPr>
          <a:xfrm>
            <a:off x="8073806" y="1915932"/>
            <a:ext cx="3723861" cy="3139321"/>
          </a:xfrm>
          <a:prstGeom prst="rect">
            <a:avLst/>
          </a:prstGeom>
          <a:noFill/>
          <a:ln w="25400">
            <a:solidFill>
              <a:srgbClr val="FF0000"/>
            </a:solidFill>
          </a:ln>
        </p:spPr>
        <p:txBody>
          <a:bodyPr wrap="square" rtlCol="0">
            <a:spAutoFit/>
          </a:bodyPr>
          <a:lstStyle/>
          <a:p>
            <a:r>
              <a:rPr lang="en-US" u="sng" dirty="0"/>
              <a:t>Données historiques</a:t>
            </a:r>
            <a:r>
              <a:rPr lang="en-US" dirty="0"/>
              <a:t> :</a:t>
            </a:r>
          </a:p>
          <a:p>
            <a:endParaRPr lang="en-US" dirty="0"/>
          </a:p>
          <a:p>
            <a:r>
              <a:rPr lang="en-US" dirty="0"/>
              <a:t>Pendant les catastrophes et immédiatement après, la dette croît plus vite (2%) dans les économies sinistrées que dans le groupe de contrôle (économies-années sans catastrophe)</a:t>
            </a:r>
          </a:p>
          <a:p>
            <a:endParaRPr lang="en-US" dirty="0"/>
          </a:p>
          <a:p>
            <a:r>
              <a:rPr lang="en-US" dirty="0"/>
              <a:t>La croissance s'effondre durant la catastrophe mais se redresse dans son sillage par rapport au groupe de contrôle.</a:t>
            </a:r>
          </a:p>
        </p:txBody>
      </p:sp>
    </p:spTree>
    <p:extLst>
      <p:ext uri="{BB962C8B-B14F-4D97-AF65-F5344CB8AC3E}">
        <p14:creationId xmlns:p14="http://schemas.microsoft.com/office/powerpoint/2010/main" val="28765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4FFD-5615-4761-9989-37BDC9B722A5}"/>
              </a:ext>
            </a:extLst>
          </p:cNvPr>
          <p:cNvSpPr>
            <a:spLocks noGrp="1"/>
          </p:cNvSpPr>
          <p:nvPr>
            <p:ph type="title"/>
          </p:nvPr>
        </p:nvSpPr>
        <p:spPr>
          <a:xfrm>
            <a:off x="838200" y="202272"/>
            <a:ext cx="10515600" cy="1149467"/>
          </a:xfrm>
        </p:spPr>
        <p:txBody>
          <a:bodyPr>
            <a:noAutofit/>
          </a:bodyPr>
          <a:lstStyle/>
          <a:p>
            <a:pPr algn="ctr"/>
            <a:r>
              <a:rPr lang="en-US" sz="2800" dirty="0">
                <a:solidFill>
                  <a:schemeClr val="accent6">
                    <a:lumMod val="50000"/>
                  </a:schemeClr>
                </a:solidFill>
              </a:rPr>
              <a:t>Sur le fil de la dette : risques à long terme de la dette publique</a:t>
            </a:r>
            <a:br>
              <a:rPr lang="en-US" sz="2800" dirty="0">
                <a:solidFill>
                  <a:schemeClr val="accent6">
                    <a:lumMod val="50000"/>
                  </a:schemeClr>
                </a:solidFill>
              </a:rPr>
            </a:br>
            <a:r>
              <a:rPr lang="en-US" sz="2400" dirty="0">
                <a:solidFill>
                  <a:schemeClr val="accent6">
                    <a:lumMod val="50000"/>
                  </a:schemeClr>
                </a:solidFill>
              </a:rPr>
              <a:t>Lien entre dette publique élevée et faible croissance durant 2000-2019</a:t>
            </a:r>
          </a:p>
        </p:txBody>
      </p:sp>
      <p:sp>
        <p:nvSpPr>
          <p:cNvPr id="5" name="Rectangle 4">
            <a:extLst>
              <a:ext uri="{FF2B5EF4-FFF2-40B4-BE49-F238E27FC236}">
                <a16:creationId xmlns:a16="http://schemas.microsoft.com/office/drawing/2014/main" id="{BBF63EDC-A02F-4309-AFDA-5238FD41C566}"/>
              </a:ext>
            </a:extLst>
          </p:cNvPr>
          <p:cNvSpPr/>
          <p:nvPr/>
        </p:nvSpPr>
        <p:spPr>
          <a:xfrm>
            <a:off x="1448791" y="1602117"/>
            <a:ext cx="9905009" cy="344069"/>
          </a:xfrm>
          <a:prstGeom prst="rect">
            <a:avLst/>
          </a:prstGeom>
        </p:spPr>
        <p:txBody>
          <a:bodyPr wrap="square">
            <a:spAutoFit/>
          </a:bodyPr>
          <a:lstStyle/>
          <a:p>
            <a:pPr lvl="0">
              <a:lnSpc>
                <a:spcPct val="107000"/>
              </a:lnSpc>
              <a:defRPr/>
            </a:pPr>
            <a:r>
              <a:rPr lang="en-US" sz="1600" b="1"/>
              <a:t>Croissance annuelle médiane par habitant durant 2000-2019 selon les pays classés par niveau de dette de l'administration centrale en 2000</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F6971A4-7CB8-42E8-96F5-284E31406A96}"/>
              </a:ext>
            </a:extLst>
          </p:cNvPr>
          <p:cNvPicPr>
            <a:picLocks noChangeAspect="1"/>
          </p:cNvPicPr>
          <p:nvPr/>
        </p:nvPicPr>
        <p:blipFill>
          <a:blip r:embed="rId3"/>
          <a:stretch>
            <a:fillRect/>
          </a:stretch>
        </p:blipFill>
        <p:spPr>
          <a:xfrm>
            <a:off x="1785377" y="2068101"/>
            <a:ext cx="9231835" cy="4017200"/>
          </a:xfrm>
          <a:prstGeom prst="rect">
            <a:avLst/>
          </a:prstGeom>
        </p:spPr>
      </p:pic>
    </p:spTree>
    <p:extLst>
      <p:ext uri="{BB962C8B-B14F-4D97-AF65-F5344CB8AC3E}">
        <p14:creationId xmlns:p14="http://schemas.microsoft.com/office/powerpoint/2010/main" val="3299668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12307-1F19-4B66-8464-CF4D32DC5FC0}"/>
              </a:ext>
            </a:extLst>
          </p:cNvPr>
          <p:cNvSpPr>
            <a:spLocks noGrp="1"/>
          </p:cNvSpPr>
          <p:nvPr>
            <p:ph type="title"/>
          </p:nvPr>
        </p:nvSpPr>
        <p:spPr>
          <a:xfrm>
            <a:off x="583911" y="496910"/>
            <a:ext cx="11122572" cy="965095"/>
          </a:xfrm>
        </p:spPr>
        <p:txBody>
          <a:bodyPr>
            <a:noAutofit/>
          </a:bodyPr>
          <a:lstStyle/>
          <a:p>
            <a:pPr marL="457200" lvl="1" algn="ctr"/>
            <a:r>
              <a:rPr lang="en-US" sz="3600" dirty="0">
                <a:solidFill>
                  <a:schemeClr val="accent6">
                    <a:lumMod val="50000"/>
                  </a:schemeClr>
                </a:solidFill>
                <a:latin typeface="+mj-lt"/>
              </a:rPr>
              <a:t>Priorités </a:t>
            </a:r>
            <a:r>
              <a:rPr lang="en-US" sz="3600" u="sng" dirty="0">
                <a:solidFill>
                  <a:schemeClr val="accent6">
                    <a:lumMod val="50000"/>
                  </a:schemeClr>
                </a:solidFill>
                <a:latin typeface="+mj-lt"/>
              </a:rPr>
              <a:t>durant</a:t>
            </a:r>
            <a:r>
              <a:rPr lang="en-US" sz="3600" dirty="0">
                <a:solidFill>
                  <a:schemeClr val="accent6">
                    <a:lumMod val="50000"/>
                  </a:schemeClr>
                </a:solidFill>
                <a:latin typeface="+mj-lt"/>
              </a:rPr>
              <a:t> la pandémie :</a:t>
            </a:r>
            <a:br>
              <a:rPr lang="en-US" sz="3600" dirty="0">
                <a:solidFill>
                  <a:schemeClr val="accent6">
                    <a:lumMod val="50000"/>
                  </a:schemeClr>
                </a:solidFill>
                <a:latin typeface="+mj-lt"/>
              </a:rPr>
            </a:br>
            <a:r>
              <a:rPr lang="en-US" sz="3600" dirty="0">
                <a:solidFill>
                  <a:schemeClr val="accent6">
                    <a:lumMod val="50000"/>
                  </a:schemeClr>
                </a:solidFill>
                <a:latin typeface="+mj-lt"/>
              </a:rPr>
              <a:t>Dépenses publiques pour la gestion des catastrophes et la santé publique</a:t>
            </a:r>
          </a:p>
        </p:txBody>
      </p:sp>
      <p:sp>
        <p:nvSpPr>
          <p:cNvPr id="3" name="Content Placeholder 2">
            <a:extLst>
              <a:ext uri="{FF2B5EF4-FFF2-40B4-BE49-F238E27FC236}">
                <a16:creationId xmlns:a16="http://schemas.microsoft.com/office/drawing/2014/main" id="{27898683-EFFB-4D7A-B4B5-D55649099B39}"/>
              </a:ext>
            </a:extLst>
          </p:cNvPr>
          <p:cNvSpPr>
            <a:spLocks noGrp="1"/>
          </p:cNvSpPr>
          <p:nvPr>
            <p:ph idx="1"/>
          </p:nvPr>
        </p:nvSpPr>
        <p:spPr>
          <a:xfrm>
            <a:off x="929629" y="1766788"/>
            <a:ext cx="5257800" cy="4579390"/>
          </a:xfrm>
        </p:spPr>
        <p:txBody>
          <a:bodyPr vert="horz" lIns="91440" tIns="45720" rIns="91440" bIns="45720" rtlCol="0" anchor="t">
            <a:noAutofit/>
          </a:bodyPr>
          <a:lstStyle/>
          <a:p>
            <a:r>
              <a:rPr lang="en-US" sz="2400" i="1" dirty="0"/>
              <a:t>Durant la pandémie : </a:t>
            </a:r>
            <a:r>
              <a:rPr lang="en-US" sz="2400" dirty="0"/>
              <a:t>gestion des catastrophes, soutien aux ménages et aux entreprises</a:t>
            </a:r>
          </a:p>
          <a:p>
            <a:pPr lvl="1"/>
            <a:r>
              <a:rPr lang="en-US" sz="2000" dirty="0"/>
              <a:t>La stimulation de la demande globale pourrait avoir peu d'effet sur le PIB (le « multiplicateur budgétaire ») si le risque lié à la Covid-19 persiste </a:t>
            </a:r>
            <a:endParaRPr lang="en-US" sz="2000" dirty="0">
              <a:cs typeface="Calibri"/>
            </a:endParaRPr>
          </a:p>
          <a:p>
            <a:r>
              <a:rPr lang="en-US" sz="2400" dirty="0"/>
              <a:t>Investissement dans la santé publique pour sauver des vies et générer des gains à long terme</a:t>
            </a:r>
            <a:endParaRPr lang="en-US" sz="2400" dirty="0">
              <a:cs typeface="Calibri" panose="020F0502020204030204"/>
            </a:endParaRPr>
          </a:p>
          <a:p>
            <a:pPr lvl="1"/>
            <a:r>
              <a:rPr lang="en-US" sz="2000" dirty="0"/>
              <a:t>Surveillance épidémiologique et transparence des données</a:t>
            </a:r>
          </a:p>
          <a:p>
            <a:pPr lvl="1"/>
            <a:r>
              <a:rPr lang="en-US" sz="2000" dirty="0"/>
              <a:t>Tests et traçage des contacts</a:t>
            </a:r>
            <a:endParaRPr lang="en-US" sz="2000" dirty="0">
              <a:cs typeface="Calibri"/>
            </a:endParaRPr>
          </a:p>
          <a:p>
            <a:pPr lvl="1"/>
            <a:r>
              <a:rPr lang="en-US" sz="2000" dirty="0"/>
              <a:t>Campagnes de vaccination</a:t>
            </a:r>
          </a:p>
          <a:p>
            <a:pPr lvl="1"/>
            <a:endParaRPr lang="en-US" sz="2000" dirty="0"/>
          </a:p>
          <a:p>
            <a:pPr lvl="1">
              <a:buFont typeface="Wingdings" panose="05000000000000000000" pitchFamily="2" charset="2"/>
              <a:buChar char="Ø"/>
            </a:pPr>
            <a:r>
              <a:rPr lang="en-US" sz="2000" dirty="0">
                <a:cs typeface="Calibri"/>
              </a:rPr>
              <a:t>Peut également réduire les coûts économiques de la pandémie</a:t>
            </a:r>
          </a:p>
          <a:p>
            <a:pPr marL="0" indent="0">
              <a:buNone/>
            </a:pPr>
            <a:endParaRPr lang="en-US" sz="2400" dirty="0"/>
          </a:p>
          <a:p>
            <a:endParaRPr lang="en-US" sz="2400" dirty="0"/>
          </a:p>
        </p:txBody>
      </p:sp>
      <p:grpSp>
        <p:nvGrpSpPr>
          <p:cNvPr id="4" name="Group 3">
            <a:extLst>
              <a:ext uri="{FF2B5EF4-FFF2-40B4-BE49-F238E27FC236}">
                <a16:creationId xmlns:a16="http://schemas.microsoft.com/office/drawing/2014/main" id="{D9C8C1BC-0CE5-4A29-A55A-130F761AB3D0}"/>
              </a:ext>
            </a:extLst>
          </p:cNvPr>
          <p:cNvGrpSpPr/>
          <p:nvPr/>
        </p:nvGrpSpPr>
        <p:grpSpPr>
          <a:xfrm>
            <a:off x="6451069" y="1716440"/>
            <a:ext cx="5095890" cy="3759327"/>
            <a:chOff x="6451068" y="1330221"/>
            <a:chExt cx="5341655" cy="3999896"/>
          </a:xfrm>
        </p:grpSpPr>
        <p:sp>
          <p:nvSpPr>
            <p:cNvPr id="5" name="Rectangle 4">
              <a:extLst>
                <a:ext uri="{FF2B5EF4-FFF2-40B4-BE49-F238E27FC236}">
                  <a16:creationId xmlns:a16="http://schemas.microsoft.com/office/drawing/2014/main" id="{AEB6B073-B8DA-43A7-BE47-186B675AF4C7}"/>
                </a:ext>
              </a:extLst>
            </p:cNvPr>
            <p:cNvSpPr/>
            <p:nvPr/>
          </p:nvSpPr>
          <p:spPr>
            <a:xfrm>
              <a:off x="6451068" y="1330221"/>
              <a:ext cx="5341655"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Corrélation partielle entre les taux de positivité aux tests et la révision à la baisse du PIB</a:t>
              </a:r>
            </a:p>
          </p:txBody>
        </p:sp>
        <p:pic>
          <p:nvPicPr>
            <p:cNvPr id="8" name="Picture 7">
              <a:extLst>
                <a:ext uri="{FF2B5EF4-FFF2-40B4-BE49-F238E27FC236}">
                  <a16:creationId xmlns:a16="http://schemas.microsoft.com/office/drawing/2014/main" id="{20F43699-43B6-43D9-958F-DEA4435152C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9064" y="1672517"/>
              <a:ext cx="4665662" cy="3657600"/>
            </a:xfrm>
            <a:prstGeom prst="rect">
              <a:avLst/>
            </a:prstGeom>
            <a:noFill/>
            <a:ln>
              <a:noFill/>
            </a:ln>
          </p:spPr>
        </p:pic>
      </p:grpSp>
      <p:sp>
        <p:nvSpPr>
          <p:cNvPr id="6" name="Rectangle 5">
            <a:extLst>
              <a:ext uri="{FF2B5EF4-FFF2-40B4-BE49-F238E27FC236}">
                <a16:creationId xmlns:a16="http://schemas.microsoft.com/office/drawing/2014/main" id="{E2B52C8A-7600-4A9A-AADA-9F40E9459539}"/>
              </a:ext>
            </a:extLst>
          </p:cNvPr>
          <p:cNvSpPr/>
          <p:nvPr/>
        </p:nvSpPr>
        <p:spPr>
          <a:xfrm>
            <a:off x="6073895" y="5670627"/>
            <a:ext cx="6096000" cy="974882"/>
          </a:xfrm>
          <a:prstGeom prst="rect">
            <a:avLst/>
          </a:prstGeom>
        </p:spPr>
        <p:txBody>
          <a:bodyPr>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Sources : FMI,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 Economic Outlook</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a:t>
            </a:r>
            <a:r>
              <a:rPr kumimoji="0" lang="en-US" sz="900" b="0" i="1"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Worldometer</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Université Johns Hopkins ; Banque mondiale,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 Development Indicators</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et calculs du personnel de la Banque mondiale.</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 : La figure présente la corrélation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partielle</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entre les révisions de croissance pour 2020 entre octobre 2020 et octobre 2019 et le taux de positivité à la Covid-19 (au 31 décembre 2020). Le taux de positivité correspond au nombre de cas de Covid-19 en pourcentage du nombre total de tests. Les autres variables explicatives comprennent le logarithme du PIB par habitant en 2019 (en dollars américains), la valeur totale des échanges commerciaux en pourcentage du PIB en 2019 (en %), le nombre de jours écoulés depuis le premier cas positif jusqu'au 30 novembre 2020, et le tourisme en pourcentage des exportations en 2018.</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355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F587-EC9D-4B03-B8C7-2324F113AFE4}"/>
              </a:ext>
            </a:extLst>
          </p:cNvPr>
          <p:cNvSpPr>
            <a:spLocks noGrp="1"/>
          </p:cNvSpPr>
          <p:nvPr>
            <p:ph type="title"/>
          </p:nvPr>
        </p:nvSpPr>
        <p:spPr>
          <a:xfrm>
            <a:off x="838200" y="365125"/>
            <a:ext cx="10515600" cy="963945"/>
          </a:xfrm>
        </p:spPr>
        <p:txBody>
          <a:bodyPr>
            <a:normAutofit/>
          </a:bodyPr>
          <a:lstStyle/>
          <a:p>
            <a:pPr algn="ctr"/>
            <a:r>
              <a:rPr lang="en-US" sz="3600" dirty="0">
                <a:solidFill>
                  <a:schemeClr val="accent6">
                    <a:lumMod val="50000"/>
                  </a:schemeClr>
                </a:solidFill>
              </a:rPr>
              <a:t>Priorités </a:t>
            </a:r>
            <a:r>
              <a:rPr lang="en-US" sz="3600" u="sng" dirty="0">
                <a:solidFill>
                  <a:schemeClr val="accent6">
                    <a:lumMod val="50000"/>
                  </a:schemeClr>
                </a:solidFill>
              </a:rPr>
              <a:t>à mesure que la pandémie s'atténue</a:t>
            </a:r>
            <a:endParaRPr lang="en-US" sz="3600" u="sng" dirty="0"/>
          </a:p>
        </p:txBody>
      </p:sp>
      <p:graphicFrame>
        <p:nvGraphicFramePr>
          <p:cNvPr id="4" name="Table 4">
            <a:extLst>
              <a:ext uri="{FF2B5EF4-FFF2-40B4-BE49-F238E27FC236}">
                <a16:creationId xmlns:a16="http://schemas.microsoft.com/office/drawing/2014/main" id="{93EF1C9F-3EC7-4364-A2F7-177601DF5479}"/>
              </a:ext>
            </a:extLst>
          </p:cNvPr>
          <p:cNvGraphicFramePr>
            <a:graphicFrameLocks noGrp="1"/>
          </p:cNvGraphicFramePr>
          <p:nvPr/>
        </p:nvGraphicFramePr>
        <p:xfrm>
          <a:off x="1647536" y="1578452"/>
          <a:ext cx="9134764" cy="4053840"/>
        </p:xfrm>
        <a:graphic>
          <a:graphicData uri="http://schemas.openxmlformats.org/drawingml/2006/table">
            <a:tbl>
              <a:tblPr firstRow="1" bandRow="1">
                <a:tableStyleId>{5C22544A-7EE6-4342-B048-85BDC9FD1C3A}</a:tableStyleId>
              </a:tblPr>
              <a:tblGrid>
                <a:gridCol w="4567382">
                  <a:extLst>
                    <a:ext uri="{9D8B030D-6E8A-4147-A177-3AD203B41FA5}">
                      <a16:colId xmlns:a16="http://schemas.microsoft.com/office/drawing/2014/main" val="943116979"/>
                    </a:ext>
                  </a:extLst>
                </a:gridCol>
                <a:gridCol w="4567382">
                  <a:extLst>
                    <a:ext uri="{9D8B030D-6E8A-4147-A177-3AD203B41FA5}">
                      <a16:colId xmlns:a16="http://schemas.microsoft.com/office/drawing/2014/main" val="1953876702"/>
                    </a:ext>
                  </a:extLst>
                </a:gridCol>
              </a:tblGrid>
              <a:tr h="584799">
                <a:tc>
                  <a:txBody>
                    <a:bodyPr/>
                    <a:lstStyle/>
                    <a:p>
                      <a:r>
                        <a:rPr lang="en-US" sz="2000" b="0" dirty="0">
                          <a:solidFill>
                            <a:schemeClr val="accent6">
                              <a:lumMod val="75000"/>
                            </a:schemeClr>
                          </a:solidFill>
                        </a:rPr>
                        <a:t>Factors that reduce the need and efficacy of traditional fiscal stimulus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2000" b="0" dirty="0">
                          <a:solidFill>
                            <a:schemeClr val="accent6">
                              <a:lumMod val="75000"/>
                            </a:schemeClr>
                          </a:solidFill>
                        </a:rPr>
                        <a:t>Potential benefits of (targeted) stimulus – healing economic scars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46973237"/>
                  </a:ext>
                </a:extLst>
              </a:tr>
              <a:tr h="3227690">
                <a:tc>
                  <a:txBody>
                    <a:bodyPr/>
                    <a:lstStyle/>
                    <a:p>
                      <a:pPr marL="457200" indent="-457200">
                        <a:buFont typeface="+mj-lt"/>
                        <a:buAutoNum type="arabicPeriod"/>
                      </a:pPr>
                      <a:r>
                        <a:rPr lang="en-US" sz="2000" dirty="0">
                          <a:solidFill>
                            <a:schemeClr val="tx1"/>
                          </a:solidFill>
                        </a:rPr>
                        <a:t>“Pent-up demand” can raise GDP without fiscal stimulus  </a:t>
                      </a:r>
                    </a:p>
                    <a:p>
                      <a:pPr marL="914400" lvl="1" indent="-457200">
                        <a:buFont typeface="Arial" panose="020B0604020202020204" pitchFamily="34" charset="0"/>
                        <a:buChar char="•"/>
                      </a:pPr>
                      <a:r>
                        <a:rPr lang="en-US" sz="1800" dirty="0">
                          <a:solidFill>
                            <a:schemeClr val="tx1"/>
                          </a:solidFill>
                        </a:rPr>
                        <a:t>If consumers (e.g., foreign tourists) believe that the pandemic is over </a:t>
                      </a:r>
                    </a:p>
                    <a:p>
                      <a:pPr marL="457200" indent="-457200">
                        <a:buFont typeface="+mj-lt"/>
                        <a:buAutoNum type="arabicPeriod"/>
                      </a:pPr>
                      <a:r>
                        <a:rPr lang="en-US" sz="2000" dirty="0">
                          <a:solidFill>
                            <a:schemeClr val="tx1"/>
                          </a:solidFill>
                        </a:rPr>
                        <a:t>High debt has been associated with low fiscal multipliers (Huidrom et al., 2020)</a:t>
                      </a:r>
                    </a:p>
                    <a:p>
                      <a:pPr marL="457200" indent="-457200">
                        <a:buFont typeface="+mj-lt"/>
                        <a:buAutoNum type="arabicPeriod"/>
                      </a:pPr>
                      <a:r>
                        <a:rPr lang="en-US" sz="2000" dirty="0">
                          <a:solidFill>
                            <a:schemeClr val="tx1"/>
                          </a:solidFill>
                        </a:rPr>
                        <a:t>Fiscal multiplier of public investment is low when governance is poor (Izquierdo et al., 2019)</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mj-lt"/>
                        <a:buAutoNum type="arabicPeriod"/>
                      </a:pPr>
                      <a:r>
                        <a:rPr lang="en-US" sz="2000" dirty="0">
                          <a:solidFill>
                            <a:schemeClr val="tx1"/>
                          </a:solidFill>
                        </a:rPr>
                        <a:t>Financial constraints prevent enterprise re-entry </a:t>
                      </a:r>
                    </a:p>
                    <a:p>
                      <a:pPr marL="342900" indent="-342900">
                        <a:buFont typeface="+mj-lt"/>
                        <a:buAutoNum type="arabicPeriod"/>
                      </a:pPr>
                      <a:r>
                        <a:rPr lang="en-US" sz="2000" dirty="0">
                          <a:solidFill>
                            <a:schemeClr val="tx1"/>
                          </a:solidFill>
                        </a:rPr>
                        <a:t>Scarring of idled workers, particularly the young entering the labor force</a:t>
                      </a:r>
                    </a:p>
                    <a:p>
                      <a:pPr marL="342900" indent="-342900">
                        <a:buFont typeface="+mj-lt"/>
                        <a:buAutoNum type="arabicPeriod"/>
                      </a:pPr>
                      <a:r>
                        <a:rPr lang="en-US" sz="2000" dirty="0">
                          <a:solidFill>
                            <a:schemeClr val="tx1"/>
                          </a:solidFill>
                        </a:rPr>
                        <a:t>Support schools to recover lost human capital</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8315287"/>
                  </a:ext>
                </a:extLst>
              </a:tr>
            </a:tbl>
          </a:graphicData>
        </a:graphic>
      </p:graphicFrame>
    </p:spTree>
    <p:extLst>
      <p:ext uri="{BB962C8B-B14F-4D97-AF65-F5344CB8AC3E}">
        <p14:creationId xmlns:p14="http://schemas.microsoft.com/office/powerpoint/2010/main" val="349745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008A-C402-4263-AE56-EC4C608487F6}"/>
              </a:ext>
            </a:extLst>
          </p:cNvPr>
          <p:cNvSpPr>
            <a:spLocks noGrp="1"/>
          </p:cNvSpPr>
          <p:nvPr>
            <p:ph type="title"/>
          </p:nvPr>
        </p:nvSpPr>
        <p:spPr>
          <a:xfrm>
            <a:off x="838200" y="365125"/>
            <a:ext cx="10515600" cy="921415"/>
          </a:xfrm>
        </p:spPr>
        <p:txBody>
          <a:bodyPr>
            <a:normAutofit/>
          </a:bodyPr>
          <a:lstStyle/>
          <a:p>
            <a:pPr algn="ctr"/>
            <a:r>
              <a:rPr lang="en-US" sz="3200" dirty="0">
                <a:solidFill>
                  <a:schemeClr val="accent6">
                    <a:lumMod val="50000"/>
                  </a:schemeClr>
                </a:solidFill>
              </a:rPr>
              <a:t>Atténuer les coûts de la dette publique </a:t>
            </a:r>
            <a:r>
              <a:rPr lang="en-US" sz="3200" u="sng" dirty="0">
                <a:solidFill>
                  <a:schemeClr val="accent6">
                    <a:lumMod val="50000"/>
                  </a:schemeClr>
                </a:solidFill>
              </a:rPr>
              <a:t>après</a:t>
            </a:r>
            <a:r>
              <a:rPr lang="en-US" sz="3200" dirty="0">
                <a:solidFill>
                  <a:schemeClr val="accent6">
                    <a:lumMod val="50000"/>
                  </a:schemeClr>
                </a:solidFill>
              </a:rPr>
              <a:t> la pandémie</a:t>
            </a:r>
          </a:p>
        </p:txBody>
      </p:sp>
      <p:sp>
        <p:nvSpPr>
          <p:cNvPr id="3" name="Content Placeholder 2">
            <a:extLst>
              <a:ext uri="{FF2B5EF4-FFF2-40B4-BE49-F238E27FC236}">
                <a16:creationId xmlns:a16="http://schemas.microsoft.com/office/drawing/2014/main" id="{79CFE54A-6E50-4441-AA7D-636D083DB899}"/>
              </a:ext>
            </a:extLst>
          </p:cNvPr>
          <p:cNvSpPr>
            <a:spLocks noGrp="1"/>
          </p:cNvSpPr>
          <p:nvPr>
            <p:ph idx="1"/>
          </p:nvPr>
        </p:nvSpPr>
        <p:spPr>
          <a:xfrm>
            <a:off x="838200" y="1594884"/>
            <a:ext cx="10515600" cy="4582079"/>
          </a:xfrm>
        </p:spPr>
        <p:txBody>
          <a:bodyPr/>
          <a:lstStyle/>
          <a:p>
            <a:r>
              <a:rPr lang="en-US" dirty="0"/>
              <a:t>Refinancer la dette arrivant à échéance à des conditions plus favorables en améliorant la transparence des rapports sur la dette</a:t>
            </a:r>
          </a:p>
          <a:p>
            <a:endParaRPr lang="en-US" dirty="0"/>
          </a:p>
          <a:p>
            <a:r>
              <a:rPr lang="en-US" dirty="0"/>
              <a:t>Améliorer les institutions : les pays endettés sont plus susceptibles d'entrer dans des périodes de détresse d'endettement coûteuses lorsqu'ils connaissent une faible croissance et une gouvernance défaillante. </a:t>
            </a:r>
          </a:p>
          <a:p>
            <a:endParaRPr lang="en-US" dirty="0"/>
          </a:p>
        </p:txBody>
      </p:sp>
    </p:spTree>
    <p:extLst>
      <p:ext uri="{BB962C8B-B14F-4D97-AF65-F5344CB8AC3E}">
        <p14:creationId xmlns:p14="http://schemas.microsoft.com/office/powerpoint/2010/main" val="416095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C29A6-99A5-46B7-8755-B8C4B909D3D4}"/>
              </a:ext>
            </a:extLst>
          </p:cNvPr>
          <p:cNvSpPr>
            <a:spLocks noGrp="1"/>
          </p:cNvSpPr>
          <p:nvPr>
            <p:ph type="title"/>
          </p:nvPr>
        </p:nvSpPr>
        <p:spPr/>
        <p:txBody>
          <a:bodyPr>
            <a:normAutofit/>
          </a:bodyPr>
          <a:lstStyle/>
          <a:p>
            <a:pPr algn="ctr"/>
            <a:r>
              <a:rPr lang="en-US" sz="3200" dirty="0">
                <a:solidFill>
                  <a:schemeClr val="accent6">
                    <a:lumMod val="50000"/>
                  </a:schemeClr>
                </a:solidFill>
              </a:rPr>
              <a:t>La bonne gouvernance peut aider : </a:t>
            </a:r>
            <a:br>
              <a:rPr lang="en-US" sz="3200" dirty="0">
                <a:solidFill>
                  <a:schemeClr val="accent6">
                    <a:lumMod val="50000"/>
                  </a:schemeClr>
                </a:solidFill>
              </a:rPr>
            </a:br>
            <a:r>
              <a:rPr lang="en-US" sz="3200" dirty="0">
                <a:solidFill>
                  <a:schemeClr val="accent6">
                    <a:lumMod val="50000"/>
                  </a:schemeClr>
                </a:solidFill>
              </a:rPr>
              <a:t>Enseignements tirés des épisodes de surendettement</a:t>
            </a:r>
          </a:p>
        </p:txBody>
      </p:sp>
      <p:graphicFrame>
        <p:nvGraphicFramePr>
          <p:cNvPr id="4" name="Content Placeholder 3">
            <a:extLst>
              <a:ext uri="{FF2B5EF4-FFF2-40B4-BE49-F238E27FC236}">
                <a16:creationId xmlns:a16="http://schemas.microsoft.com/office/drawing/2014/main" id="{3848A625-3D1D-4E4C-AE46-1F2A533035AA}"/>
              </a:ext>
            </a:extLst>
          </p:cNvPr>
          <p:cNvGraphicFramePr>
            <a:graphicFrameLocks noGrp="1"/>
          </p:cNvGraphicFramePr>
          <p:nvPr>
            <p:ph idx="1"/>
          </p:nvPr>
        </p:nvGraphicFramePr>
        <p:xfrm>
          <a:off x="838200" y="1825625"/>
          <a:ext cx="4826330" cy="43513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8902B8B8-EA53-4657-BD16-60F1C5167435}"/>
              </a:ext>
            </a:extLst>
          </p:cNvPr>
          <p:cNvGraphicFramePr/>
          <p:nvPr/>
        </p:nvGraphicFramePr>
        <p:xfrm>
          <a:off x="6096000" y="1942583"/>
          <a:ext cx="5470337" cy="38290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3A80956D-812C-4E4D-89FD-9EEF10359171}"/>
              </a:ext>
            </a:extLst>
          </p:cNvPr>
          <p:cNvSpPr/>
          <p:nvPr/>
        </p:nvSpPr>
        <p:spPr>
          <a:xfrm>
            <a:off x="1319645" y="6023528"/>
            <a:ext cx="9434946" cy="265457"/>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 : Groupe de contrôle = pays en développement</a:t>
            </a:r>
            <a:r>
              <a:rPr lang="en-US" sz="1100" i="1" dirty="0">
                <a:solidFill>
                  <a:prstClr val="black"/>
                </a:solidFill>
                <a:latin typeface="Calibri" panose="020F0502020204030204" pitchFamily="34" charset="0"/>
                <a:ea typeface="Calibri" panose="020F0502020204030204" pitchFamily="34" charset="0"/>
                <a:cs typeface="Calibri" panose="020F0502020204030204" pitchFamily="34" charset="0"/>
              </a:rPr>
              <a:t>s sans épisodes de surendettement (restructuration de la dette)</a:t>
            </a:r>
            <a:endParaRPr kumimoji="0" lang="en-US" sz="1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9026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8"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2" name="Freeform: Shape 31">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912DCED-A9C1-40AC-871C-C2E44D01EDD5}"/>
              </a:ext>
            </a:extLst>
          </p:cNvPr>
          <p:cNvSpPr>
            <a:spLocks noGrp="1"/>
          </p:cNvSpPr>
          <p:nvPr>
            <p:ph type="title"/>
          </p:nvPr>
        </p:nvSpPr>
        <p:spPr>
          <a:xfrm>
            <a:off x="786385" y="841248"/>
            <a:ext cx="3515244" cy="5340097"/>
          </a:xfrm>
        </p:spPr>
        <p:txBody>
          <a:bodyPr anchor="ctr">
            <a:normAutofit/>
          </a:bodyPr>
          <a:lstStyle/>
          <a:p>
            <a:r>
              <a:rPr lang="en-US" sz="4000">
                <a:solidFill>
                  <a:schemeClr val="bg1"/>
                </a:solidFill>
              </a:rPr>
              <a:t>Tracer la voie vers une reprise durable :</a:t>
            </a:r>
            <a:br>
              <a:rPr lang="en-US" sz="4000">
                <a:solidFill>
                  <a:schemeClr val="bg1"/>
                </a:solidFill>
              </a:rPr>
            </a:br>
            <a:br>
              <a:rPr lang="en-US" sz="4000">
                <a:solidFill>
                  <a:schemeClr val="bg1"/>
                </a:solidFill>
              </a:rPr>
            </a:br>
            <a:r>
              <a:rPr lang="en-US" sz="4000">
                <a:solidFill>
                  <a:schemeClr val="bg1"/>
                </a:solidFill>
              </a:rPr>
              <a:t>La transparence peut aider ! </a:t>
            </a:r>
          </a:p>
        </p:txBody>
      </p:sp>
      <p:graphicFrame>
        <p:nvGraphicFramePr>
          <p:cNvPr id="21" name="Content Placeholder 2">
            <a:extLst>
              <a:ext uri="{FF2B5EF4-FFF2-40B4-BE49-F238E27FC236}">
                <a16:creationId xmlns:a16="http://schemas.microsoft.com/office/drawing/2014/main" id="{EE35DB09-5421-4F1F-A269-E6A2A733E147}"/>
              </a:ext>
            </a:extLst>
          </p:cNvPr>
          <p:cNvGraphicFramePr/>
          <p:nvPr>
            <p:extLst>
              <p:ext uri="{D42A27DB-BD31-4B8C-83A1-F6EECF244321}">
                <p14:modId xmlns:p14="http://schemas.microsoft.com/office/powerpoint/2010/main" val="2917362338"/>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0493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4019DB5-FB67-4726-9C0F-732B660E4DD6}"/>
              </a:ext>
            </a:extLst>
          </p:cNvPr>
          <p:cNvSpPr>
            <a:spLocks noGrp="1"/>
          </p:cNvSpPr>
          <p:nvPr>
            <p:ph type="title"/>
          </p:nvPr>
        </p:nvSpPr>
        <p:spPr>
          <a:xfrm>
            <a:off x="3215729" y="1764407"/>
            <a:ext cx="5760846" cy="2310312"/>
          </a:xfrm>
        </p:spPr>
        <p:txBody>
          <a:bodyPr vert="horz" lIns="91440" tIns="45720" rIns="91440" bIns="45720" rtlCol="0" anchor="b">
            <a:normAutofit/>
          </a:bodyPr>
          <a:lstStyle/>
          <a:p>
            <a:pPr algn="ctr"/>
            <a:r>
              <a:rPr lang="en-US" sz="6600" b="1" kern="1200">
                <a:solidFill>
                  <a:schemeClr val="tx2"/>
                </a:solidFill>
                <a:latin typeface="+mj-lt"/>
                <a:ea typeface="+mj-ea"/>
                <a:cs typeface="+mj-cs"/>
              </a:rPr>
              <a:t>MERCI !</a:t>
            </a:r>
          </a:p>
        </p:txBody>
      </p:sp>
    </p:spTree>
    <p:extLst>
      <p:ext uri="{BB962C8B-B14F-4D97-AF65-F5344CB8AC3E}">
        <p14:creationId xmlns:p14="http://schemas.microsoft.com/office/powerpoint/2010/main" val="276946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a:solidFill>
                  <a:schemeClr val="accent6">
                    <a:lumMod val="75000"/>
                  </a:schemeClr>
                </a:solidFill>
              </a:rPr>
              <a:t>Tableau B1 en annexe : Prévisions de la Banque mondiale en matière de croissance, de compte courant et de compte budgétaire</a:t>
            </a:r>
            <a:endParaRPr lang="en-US"/>
          </a:p>
        </p:txBody>
      </p:sp>
      <p:pic>
        <p:nvPicPr>
          <p:cNvPr id="3" name="Picture 2">
            <a:extLst>
              <a:ext uri="{FF2B5EF4-FFF2-40B4-BE49-F238E27FC236}">
                <a16:creationId xmlns:a16="http://schemas.microsoft.com/office/drawing/2014/main" id="{8162E021-6368-4FD1-83CB-50F3DE5C643D}"/>
              </a:ext>
            </a:extLst>
          </p:cNvPr>
          <p:cNvPicPr>
            <a:picLocks noChangeAspect="1"/>
          </p:cNvPicPr>
          <p:nvPr/>
        </p:nvPicPr>
        <p:blipFill>
          <a:blip r:embed="rId3"/>
          <a:stretch>
            <a:fillRect/>
          </a:stretch>
        </p:blipFill>
        <p:spPr>
          <a:xfrm>
            <a:off x="1261699" y="1276350"/>
            <a:ext cx="9668601" cy="5353050"/>
          </a:xfrm>
          <a:prstGeom prst="rect">
            <a:avLst/>
          </a:prstGeom>
        </p:spPr>
      </p:pic>
    </p:spTree>
    <p:extLst>
      <p:ext uri="{BB962C8B-B14F-4D97-AF65-F5344CB8AC3E}">
        <p14:creationId xmlns:p14="http://schemas.microsoft.com/office/powerpoint/2010/main" val="336837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dirty="0">
                <a:solidFill>
                  <a:schemeClr val="accent6">
                    <a:lumMod val="75000"/>
                  </a:schemeClr>
                </a:solidFill>
              </a:rPr>
              <a:t>Tableau B2 en annexe, volet B (entre avril 2021 et octobre 2020) :</a:t>
            </a:r>
            <a:endParaRPr lang="en-US" dirty="0"/>
          </a:p>
        </p:txBody>
      </p:sp>
      <p:pic>
        <p:nvPicPr>
          <p:cNvPr id="5" name="Picture 4">
            <a:extLst>
              <a:ext uri="{FF2B5EF4-FFF2-40B4-BE49-F238E27FC236}">
                <a16:creationId xmlns:a16="http://schemas.microsoft.com/office/drawing/2014/main" id="{1BE89F56-BC52-4404-B7B2-73BDC00FF274}"/>
              </a:ext>
            </a:extLst>
          </p:cNvPr>
          <p:cNvPicPr>
            <a:picLocks noChangeAspect="1"/>
          </p:cNvPicPr>
          <p:nvPr/>
        </p:nvPicPr>
        <p:blipFill>
          <a:blip r:embed="rId3"/>
          <a:stretch>
            <a:fillRect/>
          </a:stretch>
        </p:blipFill>
        <p:spPr>
          <a:xfrm>
            <a:off x="2149079" y="1514763"/>
            <a:ext cx="7893842" cy="4235209"/>
          </a:xfrm>
          <a:prstGeom prst="rect">
            <a:avLst/>
          </a:prstGeom>
        </p:spPr>
      </p:pic>
    </p:spTree>
    <p:extLst>
      <p:ext uri="{BB962C8B-B14F-4D97-AF65-F5344CB8AC3E}">
        <p14:creationId xmlns:p14="http://schemas.microsoft.com/office/powerpoint/2010/main" val="2176262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1DB0-E629-4DFE-8344-08CAAA662983}"/>
              </a:ext>
            </a:extLst>
          </p:cNvPr>
          <p:cNvSpPr>
            <a:spLocks noGrp="1"/>
          </p:cNvSpPr>
          <p:nvPr>
            <p:ph type="title"/>
          </p:nvPr>
        </p:nvSpPr>
        <p:spPr>
          <a:xfrm>
            <a:off x="838200" y="365126"/>
            <a:ext cx="10515600" cy="768350"/>
          </a:xfrm>
        </p:spPr>
        <p:txBody>
          <a:bodyPr>
            <a:normAutofit/>
          </a:bodyPr>
          <a:lstStyle/>
          <a:p>
            <a:pPr algn="ctr"/>
            <a:r>
              <a:rPr lang="en-US" sz="3600">
                <a:solidFill>
                  <a:schemeClr val="accent6">
                    <a:lumMod val="75000"/>
                  </a:schemeClr>
                </a:solidFill>
              </a:rPr>
              <a:t>Tableau B3 en annexe : Aperçu de la dette MENA</a:t>
            </a:r>
            <a:endParaRPr lang="en-US" sz="3600"/>
          </a:p>
        </p:txBody>
      </p:sp>
      <p:pic>
        <p:nvPicPr>
          <p:cNvPr id="4" name="Picture 3">
            <a:extLst>
              <a:ext uri="{FF2B5EF4-FFF2-40B4-BE49-F238E27FC236}">
                <a16:creationId xmlns:a16="http://schemas.microsoft.com/office/drawing/2014/main" id="{10918BEE-4799-4D7A-B285-13F21208414E}"/>
              </a:ext>
            </a:extLst>
          </p:cNvPr>
          <p:cNvPicPr>
            <a:picLocks noChangeAspect="1"/>
          </p:cNvPicPr>
          <p:nvPr/>
        </p:nvPicPr>
        <p:blipFill>
          <a:blip r:embed="rId2"/>
          <a:stretch>
            <a:fillRect/>
          </a:stretch>
        </p:blipFill>
        <p:spPr>
          <a:xfrm>
            <a:off x="1890712" y="1042987"/>
            <a:ext cx="8410575" cy="5610225"/>
          </a:xfrm>
          <a:prstGeom prst="rect">
            <a:avLst/>
          </a:prstGeom>
        </p:spPr>
      </p:pic>
    </p:spTree>
    <p:extLst>
      <p:ext uri="{BB962C8B-B14F-4D97-AF65-F5344CB8AC3E}">
        <p14:creationId xmlns:p14="http://schemas.microsoft.com/office/powerpoint/2010/main" val="808308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2292-4DE5-4537-A9BF-B193C01F8D37}"/>
              </a:ext>
            </a:extLst>
          </p:cNvPr>
          <p:cNvSpPr>
            <a:spLocks noGrp="1"/>
          </p:cNvSpPr>
          <p:nvPr>
            <p:ph type="title"/>
          </p:nvPr>
        </p:nvSpPr>
        <p:spPr>
          <a:xfrm>
            <a:off x="838200" y="365125"/>
            <a:ext cx="10515600" cy="892175"/>
          </a:xfrm>
        </p:spPr>
        <p:txBody>
          <a:bodyPr>
            <a:normAutofit/>
          </a:bodyPr>
          <a:lstStyle/>
          <a:p>
            <a:pPr algn="ctr"/>
            <a:r>
              <a:rPr lang="en-US" sz="3200">
                <a:solidFill>
                  <a:schemeClr val="accent6">
                    <a:lumMod val="75000"/>
                  </a:schemeClr>
                </a:solidFill>
              </a:rPr>
              <a:t>Tableau B4 en annexe : Caractéristiques des économies MENA</a:t>
            </a:r>
            <a:endParaRPr lang="en-US" sz="3200"/>
          </a:p>
        </p:txBody>
      </p:sp>
      <p:pic>
        <p:nvPicPr>
          <p:cNvPr id="4" name="Picture 3">
            <a:extLst>
              <a:ext uri="{FF2B5EF4-FFF2-40B4-BE49-F238E27FC236}">
                <a16:creationId xmlns:a16="http://schemas.microsoft.com/office/drawing/2014/main" id="{EF75CDE9-A22F-465C-A710-8F65C409D948}"/>
              </a:ext>
            </a:extLst>
          </p:cNvPr>
          <p:cNvPicPr>
            <a:picLocks noChangeAspect="1"/>
          </p:cNvPicPr>
          <p:nvPr/>
        </p:nvPicPr>
        <p:blipFill>
          <a:blip r:embed="rId2"/>
          <a:stretch>
            <a:fillRect/>
          </a:stretch>
        </p:blipFill>
        <p:spPr>
          <a:xfrm>
            <a:off x="1924050" y="1176337"/>
            <a:ext cx="8343900" cy="5572125"/>
          </a:xfrm>
          <a:prstGeom prst="rect">
            <a:avLst/>
          </a:prstGeom>
        </p:spPr>
      </p:pic>
    </p:spTree>
    <p:extLst>
      <p:ext uri="{BB962C8B-B14F-4D97-AF65-F5344CB8AC3E}">
        <p14:creationId xmlns:p14="http://schemas.microsoft.com/office/powerpoint/2010/main" val="220374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739</TotalTime>
  <Words>3542</Words>
  <Application>Microsoft Office PowerPoint</Application>
  <PresentationFormat>Widescreen</PresentationFormat>
  <Paragraphs>238</Paragraphs>
  <Slides>22</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vt:lpstr>
      <vt:lpstr>Calibri</vt:lpstr>
      <vt:lpstr>Calibri Light</vt:lpstr>
      <vt:lpstr>D-DIN</vt:lpstr>
      <vt:lpstr>Wingdings</vt:lpstr>
      <vt:lpstr>Office Theme</vt:lpstr>
      <vt:lpstr>PowerPoint Presentation</vt:lpstr>
      <vt:lpstr>Authors</vt:lpstr>
      <vt:lpstr>Main Findings</vt:lpstr>
      <vt:lpstr>PowerPoint Presentation</vt:lpstr>
      <vt:lpstr>PowerPoint Presentation</vt:lpstr>
      <vt:lpstr>PowerPoint Presentation</vt:lpstr>
      <vt:lpstr>A Region Still In Crisis:   Regressive Food-Price Inflation  Feb 2020-March 2021</vt:lpstr>
      <vt:lpstr>PowerPoint Presentation</vt:lpstr>
      <vt:lpstr>This Report</vt:lpstr>
      <vt:lpstr>Walking the Debt Tightrope: Tension between Short-term Needs and Long-term Costs of Public Debt</vt:lpstr>
      <vt:lpstr>Walking The Debt Tightrope  Short-term Needs of Public Debt: Lessons From Disaster Relief</vt:lpstr>
      <vt:lpstr>Walking the Debt Tightrope: Long-term Risks of Public Debt Association between High Public Debt and Low Growth during 2000-2019</vt:lpstr>
      <vt:lpstr>Priorities during the Pandemic: Public Spending for Disaster Relief and Public Health</vt:lpstr>
      <vt:lpstr>Priorities as the Pandemic Subsides</vt:lpstr>
      <vt:lpstr>Mitigating the Costs of Public Debt after the Pandemic</vt:lpstr>
      <vt:lpstr>Good Governance Can Help:  Evidence from Episodes of Debt Distress</vt:lpstr>
      <vt:lpstr>Charting a Path to a Lasting Recovery:  Sunlight Can Help! </vt:lpstr>
      <vt:lpstr>THANK YOU!</vt:lpstr>
      <vt:lpstr>Appendix Table B1: World Bank’s Growth, Current Account and Fiscal Account Forecasts</vt:lpstr>
      <vt:lpstr>Appendix Table B2 Panel B (Between April 2021 and October 2020):</vt:lpstr>
      <vt:lpstr>Appendix Table B3: Overview of MENA’s debt</vt:lpstr>
      <vt:lpstr>Appendix Table B4: Characteristics of MENA’s Economies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Haytham Abushaban</dc:creator>
  <cp:lastModifiedBy>Heran Getachew Negatu</cp:lastModifiedBy>
  <cp:revision>4</cp:revision>
  <dcterms:created xsi:type="dcterms:W3CDTF">2020-09-11T01:06:37Z</dcterms:created>
  <dcterms:modified xsi:type="dcterms:W3CDTF">2021-05-30T01:10:53Z</dcterms:modified>
</cp:coreProperties>
</file>