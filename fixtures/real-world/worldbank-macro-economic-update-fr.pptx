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2.xml" ContentType="application/vnd.openxmlformats-officedocument.drawingml.chartshapes+xml"/>
  <Override PartName="/ppt/notesSlides/notesSlide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drawings/drawing3.xml" ContentType="application/vnd.openxmlformats-officedocument.drawingml.chartshapes+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4.xml" ContentType="application/vnd.openxmlformats-officedocument.drawingml.chartshapes+xml"/>
  <Override PartName="/ppt/notesSlides/notesSlide6.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theme/themeOverride1.xml" ContentType="application/vnd.openxmlformats-officedocument.themeOverr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drawings/drawing5.xml" ContentType="application/vnd.openxmlformats-officedocument.drawingml.chartshapes+xml"/>
  <Override PartName="/ppt/notesSlides/notesSlide9.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drawings/drawing6.xml" ContentType="application/vnd.openxmlformats-officedocument.drawingml.chartshape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drawings/drawing7.xml" ContentType="application/vnd.openxmlformats-officedocument.drawingml.chartshapes+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drawings/drawing8.xml" ContentType="application/vnd.openxmlformats-officedocument.drawingml.chartshapes+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2">
  <p:sldMasterIdLst>
    <p:sldMasterId id="2147483691" r:id="rId1"/>
  </p:sldMasterIdLst>
  <p:notesMasterIdLst>
    <p:notesMasterId r:id="rId24"/>
  </p:notesMasterIdLst>
  <p:sldIdLst>
    <p:sldId id="256" r:id="rId2"/>
    <p:sldId id="365" r:id="rId3"/>
    <p:sldId id="358" r:id="rId4"/>
    <p:sldId id="350" r:id="rId5"/>
    <p:sldId id="363" r:id="rId6"/>
    <p:sldId id="326" r:id="rId7"/>
    <p:sldId id="359" r:id="rId8"/>
    <p:sldId id="360" r:id="rId9"/>
    <p:sldId id="330" r:id="rId10"/>
    <p:sldId id="362" r:id="rId11"/>
    <p:sldId id="351" r:id="rId12"/>
    <p:sldId id="352" r:id="rId13"/>
    <p:sldId id="321" r:id="rId14"/>
    <p:sldId id="354" r:id="rId15"/>
    <p:sldId id="355" r:id="rId16"/>
    <p:sldId id="356" r:id="rId17"/>
    <p:sldId id="357" r:id="rId18"/>
    <p:sldId id="341" r:id="rId19"/>
    <p:sldId id="342" r:id="rId20"/>
    <p:sldId id="364" r:id="rId21"/>
    <p:sldId id="343" r:id="rId22"/>
    <p:sldId id="344"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oberta V. Gatti" initials="RVG" lastIdx="5" clrIdx="0">
    <p:extLst>
      <p:ext uri="{19B8F6BF-5375-455C-9EA6-DF929625EA0E}">
        <p15:presenceInfo xmlns:p15="http://schemas.microsoft.com/office/powerpoint/2012/main" userId="S::rgatti@worldbank.org::4669a211-9409-462c-a5ba-744e608e5075" providerId="AD"/>
      </p:ext>
    </p:extLst>
  </p:cmAuthor>
  <p:cmAuthor id="2" name="Daniel Lederman" initials="DL" lastIdx="3" clrIdx="1">
    <p:extLst>
      <p:ext uri="{19B8F6BF-5375-455C-9EA6-DF929625EA0E}">
        <p15:presenceInfo xmlns:p15="http://schemas.microsoft.com/office/powerpoint/2012/main" userId="S::dlederman@worldbank.org::1717aa51-3143-4b6e-925f-5e4be8b8c4a8" providerId="AD"/>
      </p:ext>
    </p:extLst>
  </p:cmAuthor>
  <p:cmAuthor id="3" name="Rachel Yuting Fan" initials="RF" lastIdx="1" clrIdx="2">
    <p:extLst>
      <p:ext uri="{19B8F6BF-5375-455C-9EA6-DF929625EA0E}">
        <p15:presenceInfo xmlns:p15="http://schemas.microsoft.com/office/powerpoint/2012/main" userId="S::yfan3@worldbank.org::66e14fa4-6725-4ae8-b1dc-83dd4e77b6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B500"/>
    <a:srgbClr val="3333FF"/>
    <a:srgbClr val="ED7D31"/>
    <a:srgbClr val="CB605D"/>
    <a:srgbClr val="2F5597"/>
    <a:srgbClr val="196491"/>
    <a:srgbClr val="4472C4"/>
    <a:srgbClr val="19A5BE"/>
    <a:srgbClr val="0587AF"/>
    <a:srgbClr val="3E76C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77D7A0-5EF6-4CD7-8DCD-B950BE6510C8}" v="287" dt="2021-04-13T21:46:32.608"/>
    <p1510:client id="{FEB0873D-DF27-44DD-8110-6D0DD2789106}" v="63" dt="2021-04-14T20:43:29.20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3372" autoAdjust="0"/>
  </p:normalViewPr>
  <p:slideViewPr>
    <p:cSldViewPr snapToGrid="0">
      <p:cViewPr varScale="1">
        <p:scale>
          <a:sx n="62" d="100"/>
          <a:sy n="62" d="100"/>
        </p:scale>
        <p:origin x="80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5/10/relationships/revisionInfo" Target="revisionInfo.xml"/></Relationships>
</file>

<file path=ppt/charts/_rels/chart1.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References/OtherMacro/GDP%20Growth%20Forecasts%20and%20Comparison/MEU/Chart_8lines_GDPloss_October2019_vs_April2021_forMEU-PC4437319.xlsx" TargetMode="Externa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Annual%20Meetings/Oct%202019/MEU/MEU%20April%202021/Heba/March%2016/Remaining%20charts/Figure%20I.2%20GDP%20Levels%20Forecasts.xlsx" TargetMode="Externa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References/OtherMacro/GDP%20Growth%20Forecasts%20and%20Comparison/MEU/Chart_8lines_GDPloss_October2019_vs_April2021_forMEU-PC4437319.xlsx" TargetMode="Externa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chartUserShapes" Target="../drawings/drawing3.xml"/></Relationships>
</file>

<file path=ppt/charts/_rels/chart4.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References/OtherMacro/GDP%20Growth%20Forecasts%20and%20Comparison/MEU/Chart_8lines_GDPloss_October2019_vs_April2021_forMEU-PC4437319.xlsx" TargetMode="Externa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4.xml"/></Relationships>
</file>

<file path=ppt/charts/_rels/chart5.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oleObject" Target="https://worldbankgroup-my.sharepoint.com/personal/dlederman_worldbank_org/Documents/MNACE/Macro/MNA%20Regional%20projection%20SM2021.xlsx" TargetMode="External"/></Relationships>
</file>

<file path=ppt/charts/_rels/chart6.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Annual%20Meetings/Oct%202019/MEU/MEU%20April%202021/Heba/March%2025/charts%20and%20tables/Figure%20I.6.xlsx" TargetMode="External"/><Relationship Id="rId2" Type="http://schemas.microsoft.com/office/2011/relationships/chartColorStyle" Target="colors6.xml"/><Relationship Id="rId1" Type="http://schemas.microsoft.com/office/2011/relationships/chartStyle" Target="style6.xml"/><Relationship Id="rId4" Type="http://schemas.openxmlformats.org/officeDocument/2006/relationships/chartUserShapes" Target="../drawings/drawing5.xml"/></Relationships>
</file>

<file path=ppt/charts/_rels/chart7.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Annual%20Meetings/Oct%202019/MEU/MEU%20April%202021/Charts/Debt%20and%20Growth%20around%20the%20onset%20of%20ND%20-%20Charts%20in%20Excel%20-%20Feb%2015%202021.xlsx" TargetMode="External"/><Relationship Id="rId2" Type="http://schemas.microsoft.com/office/2011/relationships/chartColorStyle" Target="colors7.xml"/><Relationship Id="rId1" Type="http://schemas.microsoft.com/office/2011/relationships/chartStyle" Target="style7.xml"/><Relationship Id="rId4" Type="http://schemas.openxmlformats.org/officeDocument/2006/relationships/chartUserShapes" Target="../drawings/drawing6.xml"/></Relationships>
</file>

<file path=ppt/charts/_rels/chart8.xml.rels><?xml version="1.0" encoding="UTF-8" standalone="yes"?>
<Relationships xmlns="http://schemas.openxmlformats.org/package/2006/relationships"><Relationship Id="rId3" Type="http://schemas.openxmlformats.org/officeDocument/2006/relationships/oleObject" Target="file:///C:\Users\wb354016\AppData\Local\Microsoft\Windows\INetCache\Content.Outlook\Z8LRJ54I\Chart_GDP_WGI_comparison_restructurings_MENA_forMEU_clean.xlsx" TargetMode="External"/><Relationship Id="rId2" Type="http://schemas.microsoft.com/office/2011/relationships/chartColorStyle" Target="colors8.xml"/><Relationship Id="rId1" Type="http://schemas.microsoft.com/office/2011/relationships/chartStyle" Target="style8.xml"/><Relationship Id="rId4" Type="http://schemas.openxmlformats.org/officeDocument/2006/relationships/chartUserShapes" Target="../drawings/drawing7.xml"/></Relationships>
</file>

<file path=ppt/charts/_rels/chart9.xml.rels><?xml version="1.0" encoding="UTF-8" standalone="yes"?>
<Relationships xmlns="http://schemas.openxmlformats.org/package/2006/relationships"><Relationship Id="rId3" Type="http://schemas.openxmlformats.org/officeDocument/2006/relationships/oleObject" Target="file:///C:\Users\wb354016\AppData\Local\Microsoft\Windows\INetCache\Content.Outlook\Z8LRJ54I\Chart_GDP_WGI_comparison_restructurings_MENA_forMEU_clean.xlsx" TargetMode="External"/><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chartUserShapes" Target="../drawings/drawing8.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3135365933921281E-2"/>
          <c:y val="0.11268079599780198"/>
          <c:w val="0.90074412597077791"/>
          <c:h val="0.64741019330936822"/>
        </c:manualLayout>
      </c:layout>
      <c:lineChart>
        <c:grouping val="standard"/>
        <c:varyColors val="0"/>
        <c:ser>
          <c:idx val="1"/>
          <c:order val="0"/>
          <c:tx>
            <c:strRef>
              <c:f>'Chart_GDPPC (2)'!$C$23</c:f>
              <c:strCache>
                <c:ptCount val="1"/>
                <c:pt idx="0">
                  <c:v>MENA(Pandemic)</c:v>
                </c:pt>
              </c:strCache>
            </c:strRef>
          </c:tx>
          <c:spPr>
            <a:ln w="28575" cap="rnd">
              <a:solidFill>
                <a:schemeClr val="tx1"/>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(2)'!$H$23:$J$23</c:f>
              <c:numCache>
                <c:formatCode>0.00</c:formatCode>
                <c:ptCount val="3"/>
                <c:pt idx="0" formatCode="General">
                  <c:v>1</c:v>
                </c:pt>
                <c:pt idx="1">
                  <c:v>0.94741969999999998</c:v>
                </c:pt>
                <c:pt idx="2">
                  <c:v>0.95267323697846995</c:v>
                </c:pt>
              </c:numCache>
            </c:numRef>
          </c:val>
          <c:smooth val="0"/>
          <c:extLst>
            <c:ext xmlns:c16="http://schemas.microsoft.com/office/drawing/2014/chart" uri="{C3380CC4-5D6E-409C-BE32-E72D297353CC}">
              <c16:uniqueId val="{00000000-6BAB-4F75-B55F-1AC2B8DF0E5E}"/>
            </c:ext>
          </c:extLst>
        </c:ser>
        <c:ser>
          <c:idx val="0"/>
          <c:order val="1"/>
          <c:tx>
            <c:strRef>
              <c:f>'Chart_GDPPC (2)'!$C$22</c:f>
              <c:strCache>
                <c:ptCount val="1"/>
                <c:pt idx="0">
                  <c:v>MENA(No Pandemic)</c:v>
                </c:pt>
              </c:strCache>
            </c:strRef>
          </c:tx>
          <c:spPr>
            <a:ln w="28575" cap="rnd">
              <a:solidFill>
                <a:schemeClr val="tx1"/>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(2)'!$H$22:$J$22</c:f>
              <c:numCache>
                <c:formatCode>0.00</c:formatCode>
                <c:ptCount val="3"/>
                <c:pt idx="0" formatCode="General">
                  <c:v>1</c:v>
                </c:pt>
                <c:pt idx="1">
                  <c:v>1.0097753</c:v>
                </c:pt>
                <c:pt idx="2">
                  <c:v>1.0228132157410101</c:v>
                </c:pt>
              </c:numCache>
            </c:numRef>
          </c:val>
          <c:smooth val="0"/>
          <c:extLst>
            <c:ext xmlns:c16="http://schemas.microsoft.com/office/drawing/2014/chart" uri="{C3380CC4-5D6E-409C-BE32-E72D297353CC}">
              <c16:uniqueId val="{00000001-6BAB-4F75-B55F-1AC2B8DF0E5E}"/>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0"/>
          <c:y val="0.80797450540248195"/>
          <c:w val="1"/>
          <c:h val="0.192025494597518"/>
        </c:manualLayout>
      </c:layout>
      <c:overlay val="0"/>
      <c:spPr>
        <a:noFill/>
        <a:ln>
          <a:noFill/>
        </a:ln>
        <a:effectLst/>
      </c:spPr>
      <c:txPr>
        <a:bodyPr rot="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200">
          <a:solidFill>
            <a:sysClr val="windowText" lastClr="000000"/>
          </a:solidFill>
        </a:defRPr>
      </a:pPr>
      <a:endParaRPr lang="en-US"/>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825811407720377E-2"/>
          <c:y val="0.12710355158550823"/>
          <c:w val="0.90074412597077791"/>
          <c:h val="0.59066819772528434"/>
        </c:manualLayout>
      </c:layout>
      <c:lineChart>
        <c:grouping val="standard"/>
        <c:varyColors val="0"/>
        <c:ser>
          <c:idx val="1"/>
          <c:order val="0"/>
          <c:tx>
            <c:strRef>
              <c:f>Chart!$C$12</c:f>
              <c:strCache>
                <c:ptCount val="1"/>
                <c:pt idx="0">
                  <c:v>MENA (Pandemic)</c:v>
                </c:pt>
              </c:strCache>
            </c:strRef>
          </c:tx>
          <c:spPr>
            <a:ln w="28575" cap="rnd">
              <a:solidFill>
                <a:schemeClr val="tx1">
                  <a:lumMod val="85000"/>
                  <a:lumOff val="15000"/>
                </a:schemeClr>
              </a:solidFill>
              <a:prstDash val="solid"/>
              <a:round/>
            </a:ln>
            <a:effectLst/>
          </c:spPr>
          <c:marker>
            <c:symbol val="none"/>
          </c:marker>
          <c:cat>
            <c:numRef>
              <c:f>Chart!$D$2:$F$2</c:f>
              <c:numCache>
                <c:formatCode>General</c:formatCode>
                <c:ptCount val="3"/>
                <c:pt idx="0">
                  <c:v>2019</c:v>
                </c:pt>
                <c:pt idx="1">
                  <c:v>2020</c:v>
                </c:pt>
                <c:pt idx="2">
                  <c:v>2021</c:v>
                </c:pt>
              </c:numCache>
            </c:numRef>
          </c:cat>
          <c:val>
            <c:numRef>
              <c:f>Chart!$D$12:$F$12</c:f>
              <c:numCache>
                <c:formatCode>0.00</c:formatCode>
                <c:ptCount val="3"/>
                <c:pt idx="0" formatCode="General">
                  <c:v>1</c:v>
                </c:pt>
                <c:pt idx="1">
                  <c:v>0.96171929121017452</c:v>
                </c:pt>
                <c:pt idx="2">
                  <c:v>0.98323631076857831</c:v>
                </c:pt>
              </c:numCache>
            </c:numRef>
          </c:val>
          <c:smooth val="0"/>
          <c:extLst>
            <c:ext xmlns:c16="http://schemas.microsoft.com/office/drawing/2014/chart" uri="{C3380CC4-5D6E-409C-BE32-E72D297353CC}">
              <c16:uniqueId val="{00000000-2B98-4321-B705-84ACEF110239}"/>
            </c:ext>
          </c:extLst>
        </c:ser>
        <c:ser>
          <c:idx val="0"/>
          <c:order val="1"/>
          <c:tx>
            <c:strRef>
              <c:f>Chart!$C$11</c:f>
              <c:strCache>
                <c:ptCount val="1"/>
                <c:pt idx="0">
                  <c:v>MENA (No Pandemic)</c:v>
                </c:pt>
              </c:strCache>
            </c:strRef>
          </c:tx>
          <c:spPr>
            <a:ln w="28575" cap="rnd">
              <a:solidFill>
                <a:schemeClr val="tx1">
                  <a:lumMod val="85000"/>
                  <a:lumOff val="15000"/>
                </a:schemeClr>
              </a:solidFill>
              <a:prstDash val="sysDot"/>
              <a:round/>
            </a:ln>
            <a:effectLst/>
          </c:spPr>
          <c:marker>
            <c:symbol val="none"/>
          </c:marker>
          <c:cat>
            <c:numRef>
              <c:f>Chart!$D$2:$F$2</c:f>
              <c:numCache>
                <c:formatCode>General</c:formatCode>
                <c:ptCount val="3"/>
                <c:pt idx="0">
                  <c:v>2019</c:v>
                </c:pt>
                <c:pt idx="1">
                  <c:v>2020</c:v>
                </c:pt>
                <c:pt idx="2">
                  <c:v>2021</c:v>
                </c:pt>
              </c:numCache>
            </c:numRef>
          </c:cat>
          <c:val>
            <c:numRef>
              <c:f>Chart!$D$11:$F$11</c:f>
              <c:numCache>
                <c:formatCode>0.00</c:formatCode>
                <c:ptCount val="3"/>
                <c:pt idx="0" formatCode="General">
                  <c:v>1</c:v>
                </c:pt>
                <c:pt idx="1">
                  <c:v>1.0261292386054992</c:v>
                </c:pt>
                <c:pt idx="2">
                  <c:v>1.0556341166000847</c:v>
                </c:pt>
              </c:numCache>
            </c:numRef>
          </c:val>
          <c:smooth val="0"/>
          <c:extLst>
            <c:ext xmlns:c16="http://schemas.microsoft.com/office/drawing/2014/chart" uri="{C3380CC4-5D6E-409C-BE32-E72D297353CC}">
              <c16:uniqueId val="{00000001-2B98-4321-B705-84ACEF110239}"/>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8.5735402808573544E-2"/>
          <c:y val="0.83392292325099115"/>
          <c:w val="0.82657494864139769"/>
          <c:h val="5.9435120363723865E-2"/>
        </c:manualLayout>
      </c:layout>
      <c:overlay val="0"/>
      <c:spPr>
        <a:noFill/>
        <a:ln>
          <a:noFill/>
        </a:ln>
        <a:effectLst/>
      </c:spPr>
      <c:txPr>
        <a:bodyPr rot="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200">
          <a:solidFill>
            <a:sysClr val="windowText" lastClr="000000"/>
          </a:solidFill>
        </a:defRPr>
      </a:pPr>
      <a:endParaRPr lang="en-US"/>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3135365933921281E-2"/>
          <c:y val="7.3047759724273756E-2"/>
          <c:w val="0.90074412597077791"/>
          <c:h val="0.67052931529792159"/>
        </c:manualLayout>
      </c:layout>
      <c:lineChart>
        <c:grouping val="standard"/>
        <c:varyColors val="0"/>
        <c:ser>
          <c:idx val="1"/>
          <c:order val="0"/>
          <c:tx>
            <c:strRef>
              <c:f>'Chart_GDPPC (2)'!$C$23</c:f>
              <c:strCache>
                <c:ptCount val="1"/>
                <c:pt idx="0">
                  <c:v>MENA(Pandemic)</c:v>
                </c:pt>
              </c:strCache>
            </c:strRef>
          </c:tx>
          <c:spPr>
            <a:ln w="28575" cap="rnd">
              <a:solidFill>
                <a:schemeClr val="tx1"/>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(2)'!$H$23:$J$23</c:f>
              <c:numCache>
                <c:formatCode>0.00</c:formatCode>
                <c:ptCount val="3"/>
                <c:pt idx="0" formatCode="General">
                  <c:v>1</c:v>
                </c:pt>
                <c:pt idx="1">
                  <c:v>0.94741969999999998</c:v>
                </c:pt>
                <c:pt idx="2">
                  <c:v>0.95267323697846995</c:v>
                </c:pt>
              </c:numCache>
            </c:numRef>
          </c:val>
          <c:smooth val="0"/>
          <c:extLst>
            <c:ext xmlns:c16="http://schemas.microsoft.com/office/drawing/2014/chart" uri="{C3380CC4-5D6E-409C-BE32-E72D297353CC}">
              <c16:uniqueId val="{00000000-E083-4420-80D3-F6A015A0B9F9}"/>
            </c:ext>
          </c:extLst>
        </c:ser>
        <c:ser>
          <c:idx val="0"/>
          <c:order val="1"/>
          <c:tx>
            <c:strRef>
              <c:f>'Chart_GDPPC (2)'!$C$22</c:f>
              <c:strCache>
                <c:ptCount val="1"/>
                <c:pt idx="0">
                  <c:v>MENA(No Pandemic)</c:v>
                </c:pt>
              </c:strCache>
            </c:strRef>
          </c:tx>
          <c:spPr>
            <a:ln w="28575" cap="rnd">
              <a:solidFill>
                <a:schemeClr val="tx1"/>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(2)'!$H$22:$J$22</c:f>
              <c:numCache>
                <c:formatCode>0.00</c:formatCode>
                <c:ptCount val="3"/>
                <c:pt idx="0" formatCode="General">
                  <c:v>1</c:v>
                </c:pt>
                <c:pt idx="1">
                  <c:v>1.0097753</c:v>
                </c:pt>
                <c:pt idx="2">
                  <c:v>1.0228132157410101</c:v>
                </c:pt>
              </c:numCache>
            </c:numRef>
          </c:val>
          <c:smooth val="0"/>
          <c:extLst>
            <c:ext xmlns:c16="http://schemas.microsoft.com/office/drawing/2014/chart" uri="{C3380CC4-5D6E-409C-BE32-E72D297353CC}">
              <c16:uniqueId val="{00000001-E083-4420-80D3-F6A015A0B9F9}"/>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0"/>
          <c:y val="0.80797450540248195"/>
          <c:w val="1"/>
          <c:h val="0.192025494597518"/>
        </c:manualLayout>
      </c:layout>
      <c:overlay val="0"/>
      <c:spPr>
        <a:noFill/>
        <a:ln>
          <a:noFill/>
        </a:ln>
        <a:effectLst/>
      </c:spPr>
      <c:txPr>
        <a:bodyPr rot="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050">
          <a:solidFill>
            <a:sysClr val="windowText" lastClr="000000"/>
          </a:solidFill>
        </a:defRPr>
      </a:pPr>
      <a:endParaRPr lang="en-US"/>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3135365933921281E-2"/>
          <c:y val="7.3047759724273756E-2"/>
          <c:w val="0.90074412597077791"/>
          <c:h val="0.64952350392614244"/>
        </c:manualLayout>
      </c:layout>
      <c:lineChart>
        <c:grouping val="standard"/>
        <c:varyColors val="0"/>
        <c:ser>
          <c:idx val="3"/>
          <c:order val="0"/>
          <c:tx>
            <c:strRef>
              <c:f>'Chart_GDPPC (2)'!$C$17</c:f>
              <c:strCache>
                <c:ptCount val="1"/>
                <c:pt idx="0">
                  <c:v>GCC (Pandemic)</c:v>
                </c:pt>
              </c:strCache>
            </c:strRef>
          </c:tx>
          <c:spPr>
            <a:ln w="28575" cap="rnd">
              <a:solidFill>
                <a:srgbClr val="0000FF"/>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(2)'!$H$17:$J$17</c:f>
              <c:numCache>
                <c:formatCode>0.00</c:formatCode>
                <c:ptCount val="3"/>
                <c:pt idx="0" formatCode="General">
                  <c:v>1</c:v>
                </c:pt>
                <c:pt idx="1">
                  <c:v>0.93650959999999994</c:v>
                </c:pt>
                <c:pt idx="2">
                  <c:v>0.94243882957951997</c:v>
                </c:pt>
              </c:numCache>
            </c:numRef>
          </c:val>
          <c:smooth val="0"/>
          <c:extLst>
            <c:ext xmlns:c16="http://schemas.microsoft.com/office/drawing/2014/chart" uri="{C3380CC4-5D6E-409C-BE32-E72D297353CC}">
              <c16:uniqueId val="{00000000-3664-4EFC-8F32-30FED89B15B1}"/>
            </c:ext>
          </c:extLst>
        </c:ser>
        <c:ser>
          <c:idx val="0"/>
          <c:order val="1"/>
          <c:tx>
            <c:strRef>
              <c:f>'Chart_GDPPC (2)'!$C$14</c:f>
              <c:strCache>
                <c:ptCount val="1"/>
                <c:pt idx="0">
                  <c:v>GCC(No Pandemic)</c:v>
                </c:pt>
              </c:strCache>
            </c:strRef>
          </c:tx>
          <c:spPr>
            <a:ln w="28575" cap="rnd">
              <a:solidFill>
                <a:srgbClr val="0000FF"/>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(2)'!$H$14:$J$14</c:f>
              <c:numCache>
                <c:formatCode>0.00</c:formatCode>
                <c:ptCount val="3"/>
                <c:pt idx="0" formatCode="General">
                  <c:v>1</c:v>
                </c:pt>
                <c:pt idx="1">
                  <c:v>1.0044674</c:v>
                </c:pt>
                <c:pt idx="2">
                  <c:v>1.0149573543984201</c:v>
                </c:pt>
              </c:numCache>
            </c:numRef>
          </c:val>
          <c:smooth val="0"/>
          <c:extLst>
            <c:ext xmlns:c16="http://schemas.microsoft.com/office/drawing/2014/chart" uri="{C3380CC4-5D6E-409C-BE32-E72D297353CC}">
              <c16:uniqueId val="{00000001-3664-4EFC-8F32-30FED89B15B1}"/>
            </c:ext>
          </c:extLst>
        </c:ser>
        <c:ser>
          <c:idx val="4"/>
          <c:order val="2"/>
          <c:tx>
            <c:strRef>
              <c:f>'Chart_GDPPC (2)'!$C$18</c:f>
              <c:strCache>
                <c:ptCount val="1"/>
                <c:pt idx="0">
                  <c:v>Developing Oil Exporters(Pandemic)</c:v>
                </c:pt>
              </c:strCache>
            </c:strRef>
          </c:tx>
          <c:spPr>
            <a:ln w="28575" cap="rnd">
              <a:solidFill>
                <a:srgbClr val="FFC000"/>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(2)'!$H$18:$J$18</c:f>
              <c:numCache>
                <c:formatCode>0.00</c:formatCode>
                <c:ptCount val="3"/>
                <c:pt idx="0" formatCode="General">
                  <c:v>1</c:v>
                </c:pt>
                <c:pt idx="1">
                  <c:v>0.94933089999999998</c:v>
                </c:pt>
                <c:pt idx="2">
                  <c:v>0.95489739666524009</c:v>
                </c:pt>
              </c:numCache>
            </c:numRef>
          </c:val>
          <c:smooth val="0"/>
          <c:extLst>
            <c:ext xmlns:c16="http://schemas.microsoft.com/office/drawing/2014/chart" uri="{C3380CC4-5D6E-409C-BE32-E72D297353CC}">
              <c16:uniqueId val="{00000002-3664-4EFC-8F32-30FED89B15B1}"/>
            </c:ext>
          </c:extLst>
        </c:ser>
        <c:ser>
          <c:idx val="1"/>
          <c:order val="3"/>
          <c:tx>
            <c:strRef>
              <c:f>'Chart_GDPPC (2)'!$C$15</c:f>
              <c:strCache>
                <c:ptCount val="1"/>
                <c:pt idx="0">
                  <c:v>Developing Oil Exporters(No Pandemic)</c:v>
                </c:pt>
              </c:strCache>
            </c:strRef>
          </c:tx>
          <c:spPr>
            <a:ln w="28575" cap="rnd">
              <a:solidFill>
                <a:schemeClr val="accent2"/>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(2)'!$H$15:$J$15</c:f>
              <c:numCache>
                <c:formatCode>0.00</c:formatCode>
                <c:ptCount val="3"/>
                <c:pt idx="0" formatCode="General">
                  <c:v>1</c:v>
                </c:pt>
                <c:pt idx="1">
                  <c:v>1.0011833999999999</c:v>
                </c:pt>
                <c:pt idx="2">
                  <c:v>1.0013826354966</c:v>
                </c:pt>
              </c:numCache>
            </c:numRef>
          </c:val>
          <c:smooth val="0"/>
          <c:extLst>
            <c:ext xmlns:c16="http://schemas.microsoft.com/office/drawing/2014/chart" uri="{C3380CC4-5D6E-409C-BE32-E72D297353CC}">
              <c16:uniqueId val="{00000003-3664-4EFC-8F32-30FED89B15B1}"/>
            </c:ext>
          </c:extLst>
        </c:ser>
        <c:ser>
          <c:idx val="5"/>
          <c:order val="4"/>
          <c:tx>
            <c:strRef>
              <c:f>'Chart_GDPPC (2)'!$C$19</c:f>
              <c:strCache>
                <c:ptCount val="1"/>
                <c:pt idx="0">
                  <c:v>Developing Oil Importers(Pandemic)</c:v>
                </c:pt>
              </c:strCache>
            </c:strRef>
          </c:tx>
          <c:spPr>
            <a:ln w="28575" cap="rnd">
              <a:solidFill>
                <a:srgbClr val="FF0000"/>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(2)'!$H$19:$J$19</c:f>
              <c:numCache>
                <c:formatCode>0.00</c:formatCode>
                <c:ptCount val="3"/>
                <c:pt idx="0" formatCode="General">
                  <c:v>1</c:v>
                </c:pt>
                <c:pt idx="1">
                  <c:v>0.96993750000000001</c:v>
                </c:pt>
                <c:pt idx="2">
                  <c:v>0.97470115404375002</c:v>
                </c:pt>
              </c:numCache>
            </c:numRef>
          </c:val>
          <c:smooth val="0"/>
          <c:extLst>
            <c:ext xmlns:c16="http://schemas.microsoft.com/office/drawing/2014/chart" uri="{C3380CC4-5D6E-409C-BE32-E72D297353CC}">
              <c16:uniqueId val="{00000004-3664-4EFC-8F32-30FED89B15B1}"/>
            </c:ext>
          </c:extLst>
        </c:ser>
        <c:ser>
          <c:idx val="2"/>
          <c:order val="5"/>
          <c:tx>
            <c:strRef>
              <c:f>'Chart_GDPPC (2)'!$C$16</c:f>
              <c:strCache>
                <c:ptCount val="1"/>
                <c:pt idx="0">
                  <c:v>Developing Oil Importers(No Pandemic)</c:v>
                </c:pt>
              </c:strCache>
            </c:strRef>
          </c:tx>
          <c:spPr>
            <a:ln w="28575" cap="rnd">
              <a:solidFill>
                <a:srgbClr val="FF0000"/>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(2)'!$H$16:$J$16</c:f>
              <c:numCache>
                <c:formatCode>0.00</c:formatCode>
                <c:ptCount val="3"/>
                <c:pt idx="0" formatCode="General">
                  <c:v>1</c:v>
                </c:pt>
                <c:pt idx="1">
                  <c:v>1.028662</c:v>
                </c:pt>
                <c:pt idx="2">
                  <c:v>1.0608815454315998</c:v>
                </c:pt>
              </c:numCache>
            </c:numRef>
          </c:val>
          <c:smooth val="0"/>
          <c:extLst>
            <c:ext xmlns:c16="http://schemas.microsoft.com/office/drawing/2014/chart" uri="{C3380CC4-5D6E-409C-BE32-E72D297353CC}">
              <c16:uniqueId val="{00000005-3664-4EFC-8F32-30FED89B15B1}"/>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0"/>
          <c:y val="0.77196428098854863"/>
          <c:w val="1"/>
          <c:h val="0.22803571901145139"/>
        </c:manualLayout>
      </c:layout>
      <c:overlay val="0"/>
      <c:spPr>
        <a:noFill/>
        <a:ln>
          <a:noFill/>
        </a:ln>
        <a:effectLst/>
      </c:spPr>
      <c:txPr>
        <a:bodyPr rot="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050">
          <a:solidFill>
            <a:sysClr val="windowText" lastClr="000000"/>
          </a:solidFill>
        </a:defRPr>
      </a:pPr>
      <a:endParaRPr lang="en-US"/>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2160" b="0" i="0" u="none" strike="noStrike" kern="1200" spc="0" baseline="0">
                <a:solidFill>
                  <a:schemeClr val="tx1">
                    <a:lumMod val="65000"/>
                    <a:lumOff val="35000"/>
                  </a:schemeClr>
                </a:solidFill>
                <a:latin typeface="+mn-lt"/>
                <a:ea typeface="+mn-ea"/>
                <a:cs typeface="+mn-cs"/>
              </a:defRPr>
            </a:pPr>
            <a:r>
              <a:rPr lang="en-US"/>
              <a:t>Projected Poverty (below $5.5/day)</a:t>
            </a:r>
          </a:p>
        </c:rich>
      </c:tx>
      <c:overlay val="0"/>
      <c:spPr>
        <a:noFill/>
        <a:ln>
          <a:noFill/>
        </a:ln>
        <a:effectLst/>
      </c:spPr>
      <c:txPr>
        <a:bodyPr rot="0" spcFirstLastPara="1" vertOverflow="ellipsis" vert="horz" wrap="square" anchor="ctr" anchorCtr="1"/>
        <a:lstStyle/>
        <a:p>
          <a:pPr>
            <a:defRPr sz="216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1"/>
          <c:order val="0"/>
          <c:tx>
            <c:strRef>
              <c:f>'MNA Number of Poor MPO SM2021'!$B$2</c:f>
              <c:strCache>
                <c:ptCount val="1"/>
                <c:pt idx="0">
                  <c:v>Without Covid Crisis</c:v>
                </c:pt>
              </c:strCache>
            </c:strRef>
          </c:tx>
          <c:spPr>
            <a:ln w="25400" cap="rnd">
              <a:solidFill>
                <a:schemeClr val="tx2"/>
              </a:solidFill>
              <a:round/>
            </a:ln>
            <a:effectLst/>
          </c:spPr>
          <c:marker>
            <c:symbol val="none"/>
          </c:marker>
          <c:dLbls>
            <c:dLbl>
              <c:idx val="2"/>
              <c:layout>
                <c:manualLayout>
                  <c:x val="-7.7881619937694704E-3"/>
                  <c:y val="-3.728155795814484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FEC-478C-9269-649AA0538A1E}"/>
                </c:ext>
              </c:extLst>
            </c:dLbl>
            <c:numFmt formatCode="#,##0.0" sourceLinked="0"/>
            <c:spPr>
              <a:noFill/>
              <a:ln>
                <a:noFill/>
              </a:ln>
              <a:effectLst/>
            </c:spPr>
            <c:txPr>
              <a:bodyPr rot="0" spcFirstLastPara="1" vertOverflow="ellipsis" vert="horz" wrap="square" anchor="ctr" anchorCtr="1"/>
              <a:lstStyle/>
              <a:p>
                <a:pPr>
                  <a:defRPr sz="18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'MNA Number of Poor MPO SM2021'!$A$14:$A$16</c:f>
              <c:numCache>
                <c:formatCode>0</c:formatCode>
                <c:ptCount val="3"/>
                <c:pt idx="0">
                  <c:v>2019</c:v>
                </c:pt>
                <c:pt idx="1">
                  <c:v>2020</c:v>
                </c:pt>
                <c:pt idx="2">
                  <c:v>2021</c:v>
                </c:pt>
              </c:numCache>
            </c:numRef>
          </c:cat>
          <c:val>
            <c:numRef>
              <c:f>'MNA Number of Poor MPO SM2021'!$B$14:$B$16</c:f>
              <c:numCache>
                <c:formatCode>0</c:formatCode>
                <c:ptCount val="3"/>
                <c:pt idx="0">
                  <c:v>176</c:v>
                </c:pt>
                <c:pt idx="1">
                  <c:v>177.05680000000001</c:v>
                </c:pt>
                <c:pt idx="2">
                  <c:v>177.77209999999999</c:v>
                </c:pt>
              </c:numCache>
            </c:numRef>
          </c:val>
          <c:smooth val="0"/>
          <c:extLst>
            <c:ext xmlns:c16="http://schemas.microsoft.com/office/drawing/2014/chart" uri="{C3380CC4-5D6E-409C-BE32-E72D297353CC}">
              <c16:uniqueId val="{00000001-4283-4B1E-B7E2-8C24C3A405BD}"/>
            </c:ext>
          </c:extLst>
        </c:ser>
        <c:ser>
          <c:idx val="2"/>
          <c:order val="1"/>
          <c:tx>
            <c:strRef>
              <c:f>'MNA Number of Poor MPO SM2021'!$C$2</c:f>
              <c:strCache>
                <c:ptCount val="1"/>
                <c:pt idx="0">
                  <c:v>Apr-21</c:v>
                </c:pt>
              </c:strCache>
            </c:strRef>
          </c:tx>
          <c:spPr>
            <a:ln w="28575" cap="rnd">
              <a:solidFill>
                <a:srgbClr val="FF0000"/>
              </a:solidFill>
              <a:round/>
            </a:ln>
            <a:effectLst/>
          </c:spPr>
          <c:marker>
            <c:symbol val="none"/>
          </c:marker>
          <c:dLbls>
            <c:dLbl>
              <c:idx val="2"/>
              <c:layout>
                <c:manualLayout>
                  <c:x val="0"/>
                  <c:y val="5.126214219244916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FEC-478C-9269-649AA0538A1E}"/>
                </c:ext>
              </c:extLst>
            </c:dLbl>
            <c:numFmt formatCode="#,##0.0" sourceLinked="0"/>
            <c:spPr>
              <a:noFill/>
              <a:ln>
                <a:noFill/>
              </a:ln>
              <a:effectLst/>
            </c:spPr>
            <c:txPr>
              <a:bodyPr rot="0" spcFirstLastPara="1" vertOverflow="ellipsis" vert="horz" wrap="square" anchor="ctr" anchorCtr="1"/>
              <a:lstStyle/>
              <a:p>
                <a:pPr>
                  <a:defRPr sz="18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'MNA Number of Poor MPO SM2021'!$A$14:$A$16</c:f>
              <c:numCache>
                <c:formatCode>0</c:formatCode>
                <c:ptCount val="3"/>
                <c:pt idx="0">
                  <c:v>2019</c:v>
                </c:pt>
                <c:pt idx="1">
                  <c:v>2020</c:v>
                </c:pt>
                <c:pt idx="2">
                  <c:v>2021</c:v>
                </c:pt>
              </c:numCache>
            </c:numRef>
          </c:cat>
          <c:val>
            <c:numRef>
              <c:f>'MNA Number of Poor MPO SM2021'!$C$14:$C$16</c:f>
              <c:numCache>
                <c:formatCode>0</c:formatCode>
                <c:ptCount val="3"/>
                <c:pt idx="0">
                  <c:v>176</c:v>
                </c:pt>
                <c:pt idx="1">
                  <c:v>189.38800000000001</c:v>
                </c:pt>
                <c:pt idx="2">
                  <c:v>192</c:v>
                </c:pt>
              </c:numCache>
            </c:numRef>
          </c:val>
          <c:smooth val="0"/>
          <c:extLst>
            <c:ext xmlns:c16="http://schemas.microsoft.com/office/drawing/2014/chart" uri="{C3380CC4-5D6E-409C-BE32-E72D297353CC}">
              <c16:uniqueId val="{00000003-4283-4B1E-B7E2-8C24C3A405BD}"/>
            </c:ext>
          </c:extLst>
        </c:ser>
        <c:dLbls>
          <c:showLegendKey val="0"/>
          <c:showVal val="0"/>
          <c:showCatName val="0"/>
          <c:showSerName val="0"/>
          <c:showPercent val="0"/>
          <c:showBubbleSize val="0"/>
        </c:dLbls>
        <c:smooth val="0"/>
        <c:axId val="2073196911"/>
        <c:axId val="2084462927"/>
      </c:lineChart>
      <c:catAx>
        <c:axId val="2073196911"/>
        <c:scaling>
          <c:orientation val="minMax"/>
        </c:scaling>
        <c:delete val="0"/>
        <c:axPos val="b"/>
        <c:numFmt formatCode="0"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crossAx val="2084462927"/>
        <c:crosses val="autoZero"/>
        <c:auto val="1"/>
        <c:lblAlgn val="ctr"/>
        <c:lblOffset val="100"/>
        <c:noMultiLvlLbl val="0"/>
      </c:catAx>
      <c:valAx>
        <c:axId val="2084462927"/>
        <c:scaling>
          <c:orientation val="minMax"/>
          <c:max val="200"/>
          <c:min val="17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r>
                  <a:rPr lang="en-US"/>
                  <a:t>Number of poor people</a:t>
                </a:r>
              </a:p>
              <a:p>
                <a:pPr>
                  <a:defRPr/>
                </a:pPr>
                <a:r>
                  <a:rPr lang="en-US"/>
                  <a:t> (millions) </a:t>
                </a:r>
              </a:p>
            </c:rich>
          </c:tx>
          <c:overlay val="0"/>
          <c:spPr>
            <a:noFill/>
            <a:ln>
              <a:noFill/>
            </a:ln>
            <a:effectLst/>
          </c:spPr>
          <c:txPr>
            <a:bodyPr rot="-54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title>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crossAx val="2073196911"/>
        <c:crosses val="autoZero"/>
        <c:crossBetween val="midCat"/>
      </c:valAx>
      <c:spPr>
        <a:noFill/>
        <a:ln>
          <a:noFill/>
        </a:ln>
        <a:effectLst/>
      </c:spPr>
    </c:plotArea>
    <c:legend>
      <c:legendPos val="b"/>
      <c:overlay val="0"/>
      <c:spPr>
        <a:noFill/>
        <a:ln>
          <a:noFill/>
        </a:ln>
        <a:effectLst/>
      </c:spPr>
      <c:txPr>
        <a:bodyPr rot="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800"/>
      </a:pPr>
      <a:endParaRPr lang="en-US"/>
    </a:p>
  </c:txPr>
  <c:externalData r:id="rId4">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2716668973258148E-2"/>
          <c:y val="4.858627550588434E-2"/>
          <c:w val="0.88837722506045158"/>
          <c:h val="0.7594238911090887"/>
        </c:manualLayout>
      </c:layout>
      <c:barChart>
        <c:barDir val="col"/>
        <c:grouping val="clustered"/>
        <c:varyColors val="0"/>
        <c:ser>
          <c:idx val="0"/>
          <c:order val="0"/>
          <c:tx>
            <c:strRef>
              <c:f>'Updated chart'!$C$4</c:f>
              <c:strCache>
                <c:ptCount val="1"/>
                <c:pt idx="0">
                  <c:v>MENA</c:v>
                </c:pt>
              </c:strCache>
            </c:strRef>
          </c:tx>
          <c:spPr>
            <a:solidFill>
              <a:schemeClr val="accent1"/>
            </a:solidFill>
            <a:ln>
              <a:noFill/>
            </a:ln>
            <a:effectLst/>
          </c:spPr>
          <c:invertIfNegative val="0"/>
          <c:dPt>
            <c:idx val="2"/>
            <c:invertIfNegative val="0"/>
            <c:bubble3D val="0"/>
            <c:spPr>
              <a:solidFill>
                <a:schemeClr val="accent1"/>
              </a:solidFill>
              <a:ln w="22225">
                <a:solidFill>
                  <a:srgbClr val="FF0000"/>
                </a:solidFill>
              </a:ln>
              <a:effectLst/>
            </c:spPr>
            <c:extLst>
              <c:ext xmlns:c16="http://schemas.microsoft.com/office/drawing/2014/chart" uri="{C3380CC4-5D6E-409C-BE32-E72D297353CC}">
                <c16:uniqueId val="{00000001-F870-4F4B-BA66-43254CD5C9D7}"/>
              </c:ext>
            </c:extLst>
          </c:dPt>
          <c:dPt>
            <c:idx val="5"/>
            <c:invertIfNegative val="0"/>
            <c:bubble3D val="0"/>
            <c:spPr>
              <a:solidFill>
                <a:schemeClr val="accent1"/>
              </a:solidFill>
              <a:ln w="19050">
                <a:solidFill>
                  <a:srgbClr val="FF0000"/>
                </a:solidFill>
              </a:ln>
              <a:effectLst/>
            </c:spPr>
            <c:extLst>
              <c:ext xmlns:c16="http://schemas.microsoft.com/office/drawing/2014/chart" uri="{C3380CC4-5D6E-409C-BE32-E72D297353CC}">
                <c16:uniqueId val="{00000000-F870-4F4B-BA66-43254CD5C9D7}"/>
              </c:ext>
            </c:extLst>
          </c:dPt>
          <c:cat>
            <c:multiLvlStrRef>
              <c:f>'Updated chart'!$A$5:$B$10</c:f>
              <c:multiLvlStrCache>
                <c:ptCount val="6"/>
                <c:lvl>
                  <c:pt idx="0">
                    <c:v>High income</c:v>
                  </c:pt>
                  <c:pt idx="1">
                    <c:v>Middle-income oil exporters</c:v>
                  </c:pt>
                  <c:pt idx="2">
                    <c:v>Middle-income oil importers</c:v>
                  </c:pt>
                  <c:pt idx="3">
                    <c:v>High income</c:v>
                  </c:pt>
                  <c:pt idx="4">
                    <c:v>Middle-income oil exporters</c:v>
                  </c:pt>
                  <c:pt idx="5">
                    <c:v>Middle-income oil importers</c:v>
                  </c:pt>
                </c:lvl>
                <c:lvl>
                  <c:pt idx="0">
                    <c:v>2019</c:v>
                  </c:pt>
                  <c:pt idx="3">
                    <c:v>2020</c:v>
                  </c:pt>
                </c:lvl>
              </c:multiLvlStrCache>
            </c:multiLvlStrRef>
          </c:cat>
          <c:val>
            <c:numRef>
              <c:f>'Updated chart'!$C$5:$C$10</c:f>
              <c:numCache>
                <c:formatCode>0.0</c:formatCode>
                <c:ptCount val="6"/>
                <c:pt idx="0">
                  <c:v>40.064999999999998</c:v>
                </c:pt>
                <c:pt idx="1">
                  <c:v>48.02</c:v>
                </c:pt>
                <c:pt idx="2">
                  <c:v>71.790000000000006</c:v>
                </c:pt>
                <c:pt idx="3">
                  <c:v>48.435000000000002</c:v>
                </c:pt>
                <c:pt idx="4">
                  <c:v>68.275000000000006</c:v>
                </c:pt>
                <c:pt idx="5">
                  <c:v>87.17</c:v>
                </c:pt>
              </c:numCache>
            </c:numRef>
          </c:val>
          <c:extLst>
            <c:ext xmlns:c16="http://schemas.microsoft.com/office/drawing/2014/chart" uri="{C3380CC4-5D6E-409C-BE32-E72D297353CC}">
              <c16:uniqueId val="{00000000-35F5-43DC-9A95-3E399FCEB07A}"/>
            </c:ext>
          </c:extLst>
        </c:ser>
        <c:dLbls>
          <c:showLegendKey val="0"/>
          <c:showVal val="0"/>
          <c:showCatName val="0"/>
          <c:showSerName val="0"/>
          <c:showPercent val="0"/>
          <c:showBubbleSize val="0"/>
        </c:dLbls>
        <c:gapWidth val="219"/>
        <c:overlap val="-27"/>
        <c:axId val="1607758176"/>
        <c:axId val="1050194784"/>
      </c:barChart>
      <c:lineChart>
        <c:grouping val="stacked"/>
        <c:varyColors val="0"/>
        <c:ser>
          <c:idx val="1"/>
          <c:order val="1"/>
          <c:tx>
            <c:strRef>
              <c:f>'Updated chart'!$D$4</c:f>
              <c:strCache>
                <c:ptCount val="1"/>
                <c:pt idx="0">
                  <c:v>World</c:v>
                </c:pt>
              </c:strCache>
            </c:strRef>
          </c:tx>
          <c:spPr>
            <a:ln w="28575" cap="rnd">
              <a:noFill/>
              <a:round/>
            </a:ln>
            <a:effectLst/>
          </c:spPr>
          <c:marker>
            <c:symbol val="diamond"/>
            <c:size val="10"/>
            <c:spPr>
              <a:solidFill>
                <a:srgbClr val="FFC000"/>
              </a:solidFill>
              <a:ln w="9525">
                <a:noFill/>
              </a:ln>
              <a:effectLst/>
            </c:spPr>
          </c:marker>
          <c:cat>
            <c:multiLvlStrRef>
              <c:f>'Updated chart'!$A$5:$B$10</c:f>
              <c:multiLvlStrCache>
                <c:ptCount val="6"/>
                <c:lvl>
                  <c:pt idx="0">
                    <c:v>High income</c:v>
                  </c:pt>
                  <c:pt idx="1">
                    <c:v>Middle-income oil exporters</c:v>
                  </c:pt>
                  <c:pt idx="2">
                    <c:v>Middle-income oil importers</c:v>
                  </c:pt>
                  <c:pt idx="3">
                    <c:v>High income</c:v>
                  </c:pt>
                  <c:pt idx="4">
                    <c:v>Middle-income oil exporters</c:v>
                  </c:pt>
                  <c:pt idx="5">
                    <c:v>Middle-income oil importers</c:v>
                  </c:pt>
                </c:lvl>
                <c:lvl>
                  <c:pt idx="0">
                    <c:v>2019</c:v>
                  </c:pt>
                  <c:pt idx="3">
                    <c:v>2020</c:v>
                  </c:pt>
                </c:lvl>
              </c:multiLvlStrCache>
            </c:multiLvlStrRef>
          </c:cat>
          <c:val>
            <c:numRef>
              <c:f>'Updated chart'!$D$5:$D$10</c:f>
              <c:numCache>
                <c:formatCode>0.0</c:formatCode>
                <c:ptCount val="6"/>
                <c:pt idx="0">
                  <c:v>56.88</c:v>
                </c:pt>
                <c:pt idx="1">
                  <c:v>51.5</c:v>
                </c:pt>
                <c:pt idx="2">
                  <c:v>51.5</c:v>
                </c:pt>
                <c:pt idx="3">
                  <c:v>65.34</c:v>
                </c:pt>
                <c:pt idx="4">
                  <c:v>64.94</c:v>
                </c:pt>
                <c:pt idx="5">
                  <c:v>64.94</c:v>
                </c:pt>
              </c:numCache>
            </c:numRef>
          </c:val>
          <c:smooth val="0"/>
          <c:extLst>
            <c:ext xmlns:c16="http://schemas.microsoft.com/office/drawing/2014/chart" uri="{C3380CC4-5D6E-409C-BE32-E72D297353CC}">
              <c16:uniqueId val="{00000001-35F5-43DC-9A95-3E399FCEB07A}"/>
            </c:ext>
          </c:extLst>
        </c:ser>
        <c:dLbls>
          <c:showLegendKey val="0"/>
          <c:showVal val="0"/>
          <c:showCatName val="0"/>
          <c:showSerName val="0"/>
          <c:showPercent val="0"/>
          <c:showBubbleSize val="0"/>
        </c:dLbls>
        <c:marker val="1"/>
        <c:smooth val="0"/>
        <c:axId val="1607758176"/>
        <c:axId val="1050194784"/>
      </c:lineChart>
      <c:catAx>
        <c:axId val="16077581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050194784"/>
        <c:crosses val="autoZero"/>
        <c:auto val="1"/>
        <c:lblAlgn val="ctr"/>
        <c:lblOffset val="100"/>
        <c:noMultiLvlLbl val="0"/>
      </c:catAx>
      <c:valAx>
        <c:axId val="1050194784"/>
        <c:scaling>
          <c:orientation val="minMax"/>
          <c:max val="90"/>
          <c:min val="3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r>
                  <a:rPr lang="en-US"/>
                  <a:t>percent of GDP</a:t>
                </a:r>
              </a:p>
            </c:rich>
          </c:tx>
          <c:overlay val="0"/>
          <c:spPr>
            <a:noFill/>
            <a:ln>
              <a:noFill/>
            </a:ln>
            <a:effectLst/>
          </c:spPr>
          <c:txPr>
            <a:bodyPr rot="-54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title>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607758176"/>
        <c:crosses val="autoZero"/>
        <c:crossBetween val="between"/>
        <c:majorUnit val="10"/>
      </c:valAx>
      <c:spPr>
        <a:noFill/>
        <a:ln>
          <a:noFill/>
        </a:ln>
        <a:effectLst/>
      </c:spPr>
    </c:plotArea>
    <c:legend>
      <c:legendPos val="b"/>
      <c:layout>
        <c:manualLayout>
          <c:xMode val="edge"/>
          <c:yMode val="edge"/>
          <c:x val="0.42397564764738338"/>
          <c:y val="9.0603039539412414E-2"/>
          <c:w val="0.19802725247870306"/>
          <c:h val="5.1870078740157477E-2"/>
        </c:manualLayout>
      </c:layout>
      <c:overlay val="0"/>
      <c:spPr>
        <a:noFill/>
        <a:ln>
          <a:noFill/>
        </a:ln>
        <a:effectLst/>
      </c:spPr>
      <c:txPr>
        <a:bodyPr rot="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100">
          <a:solidFill>
            <a:sysClr val="windowText" lastClr="000000"/>
          </a:solidFill>
        </a:defRPr>
      </a:pPr>
      <a:endParaRPr lang="en-US"/>
    </a:p>
  </c:txPr>
  <c:externalData r:id="rId3">
    <c:autoUpdate val="0"/>
  </c:externalData>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v>Public debt growth, annual %</c:v>
          </c:tx>
          <c:spPr>
            <a:ln w="38100" cap="rnd">
              <a:solidFill>
                <a:schemeClr val="accent1"/>
              </a:solidFill>
              <a:round/>
            </a:ln>
            <a:effectLst/>
          </c:spPr>
          <c:marker>
            <c:symbol val="none"/>
          </c:marker>
          <c:cat>
            <c:strRef>
              <c:f>'Debt and growth around ND'!$A$6:$A$12</c:f>
              <c:strCache>
                <c:ptCount val="7"/>
                <c:pt idx="0">
                  <c:v>-3</c:v>
                </c:pt>
                <c:pt idx="1">
                  <c:v>-2</c:v>
                </c:pt>
                <c:pt idx="2">
                  <c:v>-1</c:v>
                </c:pt>
                <c:pt idx="3">
                  <c:v>t=0</c:v>
                </c:pt>
                <c:pt idx="4">
                  <c:v>1</c:v>
                </c:pt>
                <c:pt idx="5">
                  <c:v>2</c:v>
                </c:pt>
                <c:pt idx="6">
                  <c:v>3</c:v>
                </c:pt>
              </c:strCache>
            </c:strRef>
          </c:cat>
          <c:val>
            <c:numRef>
              <c:f>'Debt and growth around ND'!$B$6:$B$12</c:f>
              <c:numCache>
                <c:formatCode>General</c:formatCode>
                <c:ptCount val="7"/>
                <c:pt idx="0">
                  <c:v>1.5039039999999999</c:v>
                </c:pt>
                <c:pt idx="1">
                  <c:v>1.5404850000000001</c:v>
                </c:pt>
                <c:pt idx="2">
                  <c:v>-9.6194500000000002E-2</c:v>
                </c:pt>
                <c:pt idx="3">
                  <c:v>2.1170059999999999</c:v>
                </c:pt>
                <c:pt idx="4">
                  <c:v>2.8611559999999998</c:v>
                </c:pt>
                <c:pt idx="5">
                  <c:v>2.1736270000000002</c:v>
                </c:pt>
                <c:pt idx="6">
                  <c:v>3.0054970000000001</c:v>
                </c:pt>
              </c:numCache>
            </c:numRef>
          </c:val>
          <c:smooth val="0"/>
          <c:extLst>
            <c:ext xmlns:c16="http://schemas.microsoft.com/office/drawing/2014/chart" uri="{C3380CC4-5D6E-409C-BE32-E72D297353CC}">
              <c16:uniqueId val="{00000000-8BCE-4A79-9946-A1127268D8C2}"/>
            </c:ext>
          </c:extLst>
        </c:ser>
        <c:dLbls>
          <c:showLegendKey val="0"/>
          <c:showVal val="0"/>
          <c:showCatName val="0"/>
          <c:showSerName val="0"/>
          <c:showPercent val="0"/>
          <c:showBubbleSize val="0"/>
        </c:dLbls>
        <c:marker val="1"/>
        <c:smooth val="0"/>
        <c:axId val="1709305471"/>
        <c:axId val="1709473311"/>
      </c:lineChart>
      <c:lineChart>
        <c:grouping val="standard"/>
        <c:varyColors val="0"/>
        <c:ser>
          <c:idx val="1"/>
          <c:order val="1"/>
          <c:tx>
            <c:v>GDP growth, annual % (RHS)</c:v>
          </c:tx>
          <c:spPr>
            <a:ln w="38100" cap="rnd">
              <a:solidFill>
                <a:schemeClr val="accent2"/>
              </a:solidFill>
              <a:round/>
            </a:ln>
            <a:effectLst/>
          </c:spPr>
          <c:marker>
            <c:symbol val="none"/>
          </c:marker>
          <c:val>
            <c:numRef>
              <c:f>'Debt and growth around ND'!$K$6:$K$12</c:f>
              <c:numCache>
                <c:formatCode>General</c:formatCode>
                <c:ptCount val="7"/>
                <c:pt idx="0">
                  <c:v>0.34509000000000001</c:v>
                </c:pt>
                <c:pt idx="1">
                  <c:v>-0.46748010000000001</c:v>
                </c:pt>
                <c:pt idx="2">
                  <c:v>5.9531800000000003E-2</c:v>
                </c:pt>
                <c:pt idx="3">
                  <c:v>-1.2658739999999999</c:v>
                </c:pt>
                <c:pt idx="4">
                  <c:v>0.8953776</c:v>
                </c:pt>
                <c:pt idx="5">
                  <c:v>0.83357159999999997</c:v>
                </c:pt>
                <c:pt idx="6">
                  <c:v>0.38140819999999998</c:v>
                </c:pt>
              </c:numCache>
            </c:numRef>
          </c:val>
          <c:smooth val="0"/>
          <c:extLst>
            <c:ext xmlns:c16="http://schemas.microsoft.com/office/drawing/2014/chart" uri="{C3380CC4-5D6E-409C-BE32-E72D297353CC}">
              <c16:uniqueId val="{00000001-8BCE-4A79-9946-A1127268D8C2}"/>
            </c:ext>
          </c:extLst>
        </c:ser>
        <c:dLbls>
          <c:showLegendKey val="0"/>
          <c:showVal val="0"/>
          <c:showCatName val="0"/>
          <c:showSerName val="0"/>
          <c:showPercent val="0"/>
          <c:showBubbleSize val="0"/>
        </c:dLbls>
        <c:marker val="1"/>
        <c:smooth val="0"/>
        <c:axId val="1739304079"/>
        <c:axId val="1738977855"/>
      </c:lineChart>
      <c:catAx>
        <c:axId val="1709305471"/>
        <c:scaling>
          <c:orientation val="minMax"/>
        </c:scaling>
        <c:delete val="0"/>
        <c:axPos val="b"/>
        <c:title>
          <c:tx>
            <c:rich>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r>
                  <a:rPr lang="en-US" sz="1400"/>
                  <a:t>Timeline around</a:t>
                </a:r>
                <a:r>
                  <a:rPr lang="en-US" sz="1400" baseline="0"/>
                  <a:t> a large natural disaster, years</a:t>
                </a:r>
                <a:endParaRPr lang="en-US" sz="1400"/>
              </a:p>
            </c:rich>
          </c:tx>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cross"/>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709473311"/>
        <c:crosses val="autoZero"/>
        <c:auto val="1"/>
        <c:lblAlgn val="ctr"/>
        <c:lblOffset val="100"/>
        <c:noMultiLvlLbl val="0"/>
      </c:catAx>
      <c:valAx>
        <c:axId val="1709473311"/>
        <c:scaling>
          <c:orientation val="minMax"/>
          <c:max val="4"/>
          <c:min val="-2"/>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r>
                  <a:rPr lang="en-US" sz="1400"/>
                  <a:t>Public debt growth, annual %</a:t>
                </a:r>
              </a:p>
            </c:rich>
          </c:tx>
          <c:overlay val="0"/>
          <c:spPr>
            <a:noFill/>
            <a:ln>
              <a:noFill/>
            </a:ln>
            <a:effectLst/>
          </c:spPr>
          <c:txPr>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crossAx val="1709305471"/>
        <c:crossesAt val="1"/>
        <c:crossBetween val="between"/>
      </c:valAx>
      <c:valAx>
        <c:axId val="1738977855"/>
        <c:scaling>
          <c:orientation val="minMax"/>
          <c:max val="4"/>
          <c:min val="-2"/>
        </c:scaling>
        <c:delete val="0"/>
        <c:axPos val="r"/>
        <c:title>
          <c:tx>
            <c:rich>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r>
                  <a:rPr lang="en-US" sz="1400"/>
                  <a:t>GDP growth, annual %</a:t>
                </a:r>
              </a:p>
            </c:rich>
          </c:tx>
          <c:overlay val="0"/>
          <c:spPr>
            <a:noFill/>
            <a:ln>
              <a:noFill/>
            </a:ln>
            <a:effectLst/>
          </c:spPr>
          <c:txPr>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crossAx val="1739304079"/>
        <c:crosses val="max"/>
        <c:crossBetween val="between"/>
        <c:majorUnit val="1"/>
      </c:valAx>
      <c:catAx>
        <c:axId val="1739304079"/>
        <c:scaling>
          <c:orientation val="minMax"/>
        </c:scaling>
        <c:delete val="1"/>
        <c:axPos val="b"/>
        <c:majorTickMark val="none"/>
        <c:minorTickMark val="none"/>
        <c:tickLblPos val="nextTo"/>
        <c:crossAx val="1738977855"/>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400"/>
      </a:pPr>
      <a:endParaRPr lang="en-US"/>
    </a:p>
  </c:txPr>
  <c:externalData r:id="rId3">
    <c:autoUpdate val="0"/>
  </c:externalData>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7386046874330844E-2"/>
          <c:y val="0.1030504196755347"/>
          <c:w val="0.9171607069692761"/>
          <c:h val="0.5904744701514798"/>
        </c:manualLayout>
      </c:layout>
      <c:barChart>
        <c:barDir val="col"/>
        <c:grouping val="clustered"/>
        <c:varyColors val="0"/>
        <c:ser>
          <c:idx val="0"/>
          <c:order val="0"/>
          <c:spPr>
            <a:solidFill>
              <a:schemeClr val="accent1"/>
            </a:solidFill>
            <a:ln>
              <a:noFill/>
            </a:ln>
            <a:effectLst/>
          </c:spPr>
          <c:invertIfNegative val="0"/>
          <c:dPt>
            <c:idx val="2"/>
            <c:invertIfNegative val="0"/>
            <c:bubble3D val="0"/>
            <c:spPr>
              <a:solidFill>
                <a:srgbClr val="ED7D31"/>
              </a:solidFill>
              <a:ln>
                <a:noFill/>
              </a:ln>
              <a:effectLst/>
            </c:spPr>
            <c:extLst>
              <c:ext xmlns:c16="http://schemas.microsoft.com/office/drawing/2014/chart" uri="{C3380CC4-5D6E-409C-BE32-E72D297353CC}">
                <c16:uniqueId val="{00000001-21AD-4551-83AD-A1F56CC8E8AA}"/>
              </c:ext>
            </c:extLst>
          </c:dPt>
          <c:dPt>
            <c:idx val="3"/>
            <c:invertIfNegative val="0"/>
            <c:bubble3D val="0"/>
            <c:spPr>
              <a:solidFill>
                <a:srgbClr val="ED7D31"/>
              </a:solidFill>
              <a:ln>
                <a:noFill/>
              </a:ln>
              <a:effectLst/>
            </c:spPr>
            <c:extLst>
              <c:ext xmlns:c16="http://schemas.microsoft.com/office/drawing/2014/chart" uri="{C3380CC4-5D6E-409C-BE32-E72D297353CC}">
                <c16:uniqueId val="{00000003-21AD-4551-83AD-A1F56CC8E8AA}"/>
              </c:ext>
            </c:extLst>
          </c:dPt>
          <c:dPt>
            <c:idx val="4"/>
            <c:invertIfNegative val="0"/>
            <c:bubble3D val="0"/>
            <c:spPr>
              <a:solidFill>
                <a:srgbClr val="C00000"/>
              </a:solidFill>
              <a:ln>
                <a:noFill/>
              </a:ln>
              <a:effectLst/>
            </c:spPr>
            <c:extLst>
              <c:ext xmlns:c16="http://schemas.microsoft.com/office/drawing/2014/chart" uri="{C3380CC4-5D6E-409C-BE32-E72D297353CC}">
                <c16:uniqueId val="{00000005-21AD-4551-83AD-A1F56CC8E8AA}"/>
              </c:ext>
            </c:extLst>
          </c:dPt>
          <c:cat>
            <c:strRef>
              <c:f>GDP_WGI_restructuring_MENA_MEAN!$A$18:$A$22</c:f>
              <c:strCache>
                <c:ptCount val="5"/>
                <c:pt idx="0">
                  <c:v>Countries that defaulted minus the control group</c:v>
                </c:pt>
                <c:pt idx="1">
                  <c:v>Countries that preemptively restructured minus the countrol group</c:v>
                </c:pt>
                <c:pt idx="2">
                  <c:v>MENA middle income minus the control group</c:v>
                </c:pt>
                <c:pt idx="3">
                  <c:v>MENA middle-income oil importers minus the control group</c:v>
                </c:pt>
                <c:pt idx="4">
                  <c:v>Lebanon minus the control group</c:v>
                </c:pt>
              </c:strCache>
            </c:strRef>
          </c:cat>
          <c:val>
            <c:numRef>
              <c:f>GDP_WGI_restructuring_MENA_MEAN!$B$18:$B$22</c:f>
              <c:numCache>
                <c:formatCode>General</c:formatCode>
                <c:ptCount val="5"/>
                <c:pt idx="0">
                  <c:v>-2.2000000000000002</c:v>
                </c:pt>
                <c:pt idx="1">
                  <c:v>-2.8</c:v>
                </c:pt>
                <c:pt idx="2" formatCode="0.0">
                  <c:v>-1.1000000000000001</c:v>
                </c:pt>
                <c:pt idx="3" formatCode="0.0">
                  <c:v>-0.89999999999999991</c:v>
                </c:pt>
                <c:pt idx="4" formatCode="0.0">
                  <c:v>-4.53</c:v>
                </c:pt>
              </c:numCache>
            </c:numRef>
          </c:val>
          <c:extLst>
            <c:ext xmlns:c16="http://schemas.microsoft.com/office/drawing/2014/chart" uri="{C3380CC4-5D6E-409C-BE32-E72D297353CC}">
              <c16:uniqueId val="{00000006-21AD-4551-83AD-A1F56CC8E8AA}"/>
            </c:ext>
          </c:extLst>
        </c:ser>
        <c:dLbls>
          <c:showLegendKey val="0"/>
          <c:showVal val="0"/>
          <c:showCatName val="0"/>
          <c:showSerName val="0"/>
          <c:showPercent val="0"/>
          <c:showBubbleSize val="0"/>
        </c:dLbls>
        <c:gapWidth val="219"/>
        <c:overlap val="-27"/>
        <c:axId val="1760812415"/>
        <c:axId val="1628521007"/>
      </c:barChart>
      <c:catAx>
        <c:axId val="1760812415"/>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628521007"/>
        <c:crosses val="autoZero"/>
        <c:auto val="1"/>
        <c:lblAlgn val="ctr"/>
        <c:lblOffset val="100"/>
        <c:noMultiLvlLbl val="0"/>
      </c:catAx>
      <c:valAx>
        <c:axId val="16285210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760812415"/>
        <c:crosses val="autoZero"/>
        <c:crossBetween val="between"/>
        <c:majorUnit val="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100">
          <a:solidFill>
            <a:sysClr val="windowText" lastClr="000000"/>
          </a:solidFill>
        </a:defRPr>
      </a:pPr>
      <a:endParaRPr lang="en-US"/>
    </a:p>
  </c:txPr>
  <c:externalData r:id="rId3">
    <c:autoUpdate val="0"/>
  </c:externalData>
  <c:userShapes r:id="rId4"/>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3937318324869835"/>
          <c:y val="9.4976903629199125E-2"/>
          <c:w val="0.8028636683326662"/>
          <c:h val="0.66176821711719025"/>
        </c:manualLayout>
      </c:layout>
      <c:barChart>
        <c:barDir val="col"/>
        <c:grouping val="clustered"/>
        <c:varyColors val="0"/>
        <c:ser>
          <c:idx val="0"/>
          <c:order val="0"/>
          <c:spPr>
            <a:solidFill>
              <a:schemeClr val="accent1"/>
            </a:solidFill>
            <a:ln>
              <a:noFill/>
            </a:ln>
            <a:effectLst/>
          </c:spPr>
          <c:invertIfNegative val="0"/>
          <c:dPt>
            <c:idx val="2"/>
            <c:invertIfNegative val="0"/>
            <c:bubble3D val="0"/>
            <c:spPr>
              <a:solidFill>
                <a:srgbClr val="ED7D31"/>
              </a:solidFill>
              <a:ln>
                <a:noFill/>
              </a:ln>
              <a:effectLst/>
            </c:spPr>
            <c:extLst>
              <c:ext xmlns:c16="http://schemas.microsoft.com/office/drawing/2014/chart" uri="{C3380CC4-5D6E-409C-BE32-E72D297353CC}">
                <c16:uniqueId val="{00000001-3391-466D-A183-A0B1EC0BC0CB}"/>
              </c:ext>
            </c:extLst>
          </c:dPt>
          <c:dPt>
            <c:idx val="3"/>
            <c:invertIfNegative val="0"/>
            <c:bubble3D val="0"/>
            <c:spPr>
              <a:solidFill>
                <a:srgbClr val="ED7D31"/>
              </a:solidFill>
              <a:ln>
                <a:noFill/>
              </a:ln>
              <a:effectLst/>
            </c:spPr>
            <c:extLst>
              <c:ext xmlns:c16="http://schemas.microsoft.com/office/drawing/2014/chart" uri="{C3380CC4-5D6E-409C-BE32-E72D297353CC}">
                <c16:uniqueId val="{00000003-3391-466D-A183-A0B1EC0BC0CB}"/>
              </c:ext>
            </c:extLst>
          </c:dPt>
          <c:dPt>
            <c:idx val="4"/>
            <c:invertIfNegative val="0"/>
            <c:bubble3D val="0"/>
            <c:spPr>
              <a:solidFill>
                <a:srgbClr val="C00000"/>
              </a:solidFill>
              <a:ln>
                <a:noFill/>
              </a:ln>
              <a:effectLst/>
            </c:spPr>
            <c:extLst>
              <c:ext xmlns:c16="http://schemas.microsoft.com/office/drawing/2014/chart" uri="{C3380CC4-5D6E-409C-BE32-E72D297353CC}">
                <c16:uniqueId val="{00000005-3391-466D-A183-A0B1EC0BC0CB}"/>
              </c:ext>
            </c:extLst>
          </c:dPt>
          <c:cat>
            <c:strRef>
              <c:f>GDP_WGI_restructuring_MENA_MEAN!$A$18:$A$22</c:f>
              <c:strCache>
                <c:ptCount val="5"/>
                <c:pt idx="0">
                  <c:v>Countries that defaulted minus the control group</c:v>
                </c:pt>
                <c:pt idx="1">
                  <c:v>Countries that preemptively restructured minus the countrol group</c:v>
                </c:pt>
                <c:pt idx="2">
                  <c:v>MENA middle income minus the control group</c:v>
                </c:pt>
                <c:pt idx="3">
                  <c:v>MENA middle-income oil importers minus the control group</c:v>
                </c:pt>
                <c:pt idx="4">
                  <c:v>Lebanon minus the control group</c:v>
                </c:pt>
              </c:strCache>
            </c:strRef>
          </c:cat>
          <c:val>
            <c:numRef>
              <c:f>GDP_WGI_restructuring_MENA_MEAN!$E$18:$E$22</c:f>
              <c:numCache>
                <c:formatCode>General</c:formatCode>
                <c:ptCount val="5"/>
                <c:pt idx="0">
                  <c:v>-0.21000000000000002</c:v>
                </c:pt>
                <c:pt idx="1">
                  <c:v>-9.9999999999999978E-2</c:v>
                </c:pt>
                <c:pt idx="2" formatCode="0.00">
                  <c:v>-0.38999999999999996</c:v>
                </c:pt>
                <c:pt idx="3" formatCode="0.00">
                  <c:v>-4.9999999999999989E-2</c:v>
                </c:pt>
                <c:pt idx="4" formatCode="0.00">
                  <c:v>-0.23999999999999994</c:v>
                </c:pt>
              </c:numCache>
            </c:numRef>
          </c:val>
          <c:extLst>
            <c:ext xmlns:c16="http://schemas.microsoft.com/office/drawing/2014/chart" uri="{C3380CC4-5D6E-409C-BE32-E72D297353CC}">
              <c16:uniqueId val="{00000006-3391-466D-A183-A0B1EC0BC0CB}"/>
            </c:ext>
          </c:extLst>
        </c:ser>
        <c:dLbls>
          <c:showLegendKey val="0"/>
          <c:showVal val="0"/>
          <c:showCatName val="0"/>
          <c:showSerName val="0"/>
          <c:showPercent val="0"/>
          <c:showBubbleSize val="0"/>
        </c:dLbls>
        <c:gapWidth val="219"/>
        <c:overlap val="-27"/>
        <c:axId val="1760812415"/>
        <c:axId val="1628521007"/>
      </c:barChart>
      <c:catAx>
        <c:axId val="1760812415"/>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628521007"/>
        <c:crosses val="autoZero"/>
        <c:auto val="1"/>
        <c:lblAlgn val="ctr"/>
        <c:lblOffset val="100"/>
        <c:noMultiLvlLbl val="0"/>
      </c:catAx>
      <c:valAx>
        <c:axId val="16285210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760812415"/>
        <c:crosses val="autoZero"/>
        <c:crossBetween val="between"/>
        <c:majorUnit val="0.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100">
          <a:solidFill>
            <a:sysClr val="windowText" lastClr="000000"/>
          </a:solidFill>
        </a:defRPr>
      </a:pPr>
      <a:endParaRPr lang="en-US"/>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9AF68A6-0B27-43CB-8248-7DE9D2A6B37F}" type="doc">
      <dgm:prSet loTypeId="urn:microsoft.com/office/officeart/2005/8/layout/vList2" loCatId="list" qsTypeId="urn:microsoft.com/office/officeart/2005/8/quickstyle/simple1" qsCatId="simple" csTypeId="urn:microsoft.com/office/officeart/2005/8/colors/colorful5" csCatId="colorful" phldr="1"/>
      <dgm:spPr/>
      <dgm:t>
        <a:bodyPr/>
        <a:lstStyle/>
        <a:p>
          <a:endParaRPr lang="en-US"/>
        </a:p>
      </dgm:t>
    </dgm:pt>
    <dgm:pt modelId="{92587851-84A6-4568-8B08-6D51B703929C}">
      <dgm:prSet/>
      <dgm:spPr/>
      <dgm:t>
        <a:bodyPr/>
        <a:lstStyle/>
        <a:p>
          <a:r>
            <a:rPr lang="en-US" dirty="0"/>
            <a:t>The Middle East and North Africa (MENA) region is </a:t>
          </a:r>
          <a:r>
            <a:rPr lang="en-US" u="none" dirty="0"/>
            <a:t>still in crisis</a:t>
          </a:r>
        </a:p>
      </dgm:t>
    </dgm:pt>
    <dgm:pt modelId="{158163CE-1CC2-4E07-91E1-F1E920181DA2}" type="parTrans" cxnId="{9CCD2E21-3DE8-471D-B56F-284DFA48EB27}">
      <dgm:prSet/>
      <dgm:spPr/>
      <dgm:t>
        <a:bodyPr/>
        <a:lstStyle/>
        <a:p>
          <a:endParaRPr lang="en-US"/>
        </a:p>
      </dgm:t>
    </dgm:pt>
    <dgm:pt modelId="{9AB93057-3B02-4624-A372-BABB57384CEE}" type="sibTrans" cxnId="{9CCD2E21-3DE8-471D-B56F-284DFA48EB27}">
      <dgm:prSet/>
      <dgm:spPr/>
      <dgm:t>
        <a:bodyPr/>
        <a:lstStyle/>
        <a:p>
          <a:endParaRPr lang="en-US"/>
        </a:p>
      </dgm:t>
    </dgm:pt>
    <dgm:pt modelId="{B566D669-E864-40BE-BBAD-6A9D3D2DABC6}">
      <dgm:prSet/>
      <dgm:spPr/>
      <dgm:t>
        <a:bodyPr/>
        <a:lstStyle/>
        <a:p>
          <a:r>
            <a:rPr lang="en-US" dirty="0"/>
            <a:t>MENA countries face a </a:t>
          </a:r>
          <a:r>
            <a:rPr lang="en-US" u="none" dirty="0"/>
            <a:t>balancing act</a:t>
          </a:r>
          <a:r>
            <a:rPr lang="en-US" u="sng" dirty="0"/>
            <a:t> </a:t>
          </a:r>
          <a:r>
            <a:rPr lang="en-US" dirty="0"/>
            <a:t>between short-term needs and long-run risks of public debt</a:t>
          </a:r>
        </a:p>
      </dgm:t>
    </dgm:pt>
    <dgm:pt modelId="{04DEE1FA-25C0-4979-8FD8-C981B3D6CC74}" type="parTrans" cxnId="{4609355E-DCFD-431F-8CC1-FB31EAE75BC0}">
      <dgm:prSet/>
      <dgm:spPr/>
      <dgm:t>
        <a:bodyPr/>
        <a:lstStyle/>
        <a:p>
          <a:endParaRPr lang="en-US"/>
        </a:p>
      </dgm:t>
    </dgm:pt>
    <dgm:pt modelId="{E346FFF0-7AF4-4E4F-B340-091D5C363448}" type="sibTrans" cxnId="{4609355E-DCFD-431F-8CC1-FB31EAE75BC0}">
      <dgm:prSet/>
      <dgm:spPr/>
      <dgm:t>
        <a:bodyPr/>
        <a:lstStyle/>
        <a:p>
          <a:endParaRPr lang="en-US"/>
        </a:p>
      </dgm:t>
    </dgm:pt>
    <dgm:pt modelId="{800BF91D-A7D3-4C12-8ABB-CE46794FE386}">
      <dgm:prSet/>
      <dgm:spPr/>
      <dgm:t>
        <a:bodyPr/>
        <a:lstStyle/>
        <a:p>
          <a:r>
            <a:rPr lang="en-US" u="none" dirty="0"/>
            <a:t>Tough choices: </a:t>
          </a:r>
          <a:r>
            <a:rPr lang="en-US" dirty="0"/>
            <a:t>public expenditure priorities depend on the phase of the recovery</a:t>
          </a:r>
        </a:p>
      </dgm:t>
    </dgm:pt>
    <dgm:pt modelId="{DFF8B1CE-E8A4-4B0B-A8FF-C245E725248B}" type="parTrans" cxnId="{58091BB7-55F8-4752-ADD2-31F552EED30F}">
      <dgm:prSet/>
      <dgm:spPr/>
      <dgm:t>
        <a:bodyPr/>
        <a:lstStyle/>
        <a:p>
          <a:endParaRPr lang="en-US"/>
        </a:p>
      </dgm:t>
    </dgm:pt>
    <dgm:pt modelId="{9F80A130-9DA6-4E99-A4DC-FDE934631737}" type="sibTrans" cxnId="{58091BB7-55F8-4752-ADD2-31F552EED30F}">
      <dgm:prSet/>
      <dgm:spPr/>
      <dgm:t>
        <a:bodyPr/>
        <a:lstStyle/>
        <a:p>
          <a:endParaRPr lang="en-US"/>
        </a:p>
      </dgm:t>
    </dgm:pt>
    <dgm:pt modelId="{BA17275F-FFF3-42A7-91C5-A224E05D7148}">
      <dgm:prSet/>
      <dgm:spPr/>
      <dgm:t>
        <a:bodyPr/>
        <a:lstStyle/>
        <a:p>
          <a:r>
            <a:rPr lang="en-US" u="none" dirty="0"/>
            <a:t>Sunlight can help! </a:t>
          </a:r>
          <a:r>
            <a:rPr lang="en-US" dirty="0"/>
            <a:t>Transparency can help chart a path to lasting recovery for MENA</a:t>
          </a:r>
        </a:p>
      </dgm:t>
    </dgm:pt>
    <dgm:pt modelId="{9BD5A230-AF43-43F2-AE0A-7DF6020B3793}" type="parTrans" cxnId="{52E76714-6C08-4B67-B702-AB99A10D83BF}">
      <dgm:prSet/>
      <dgm:spPr/>
      <dgm:t>
        <a:bodyPr/>
        <a:lstStyle/>
        <a:p>
          <a:endParaRPr lang="en-US"/>
        </a:p>
      </dgm:t>
    </dgm:pt>
    <dgm:pt modelId="{096742C5-5D05-417C-B9C9-95A3D5E2E157}" type="sibTrans" cxnId="{52E76714-6C08-4B67-B702-AB99A10D83BF}">
      <dgm:prSet/>
      <dgm:spPr/>
      <dgm:t>
        <a:bodyPr/>
        <a:lstStyle/>
        <a:p>
          <a:endParaRPr lang="en-US"/>
        </a:p>
      </dgm:t>
    </dgm:pt>
    <dgm:pt modelId="{01F55391-EB55-4A2C-BC05-DE44CB54F36D}" type="pres">
      <dgm:prSet presAssocID="{D9AF68A6-0B27-43CB-8248-7DE9D2A6B37F}" presName="linear" presStyleCnt="0">
        <dgm:presLayoutVars>
          <dgm:animLvl val="lvl"/>
          <dgm:resizeHandles val="exact"/>
        </dgm:presLayoutVars>
      </dgm:prSet>
      <dgm:spPr/>
    </dgm:pt>
    <dgm:pt modelId="{14DD6E5F-2D29-4EEA-806E-E4CA13A0FA68}" type="pres">
      <dgm:prSet presAssocID="{92587851-84A6-4568-8B08-6D51B703929C}" presName="parentText" presStyleLbl="node1" presStyleIdx="0" presStyleCnt="4">
        <dgm:presLayoutVars>
          <dgm:chMax val="0"/>
          <dgm:bulletEnabled val="1"/>
        </dgm:presLayoutVars>
      </dgm:prSet>
      <dgm:spPr/>
    </dgm:pt>
    <dgm:pt modelId="{614DEC94-457F-4CAB-84FE-85EF0C2C53BA}" type="pres">
      <dgm:prSet presAssocID="{9AB93057-3B02-4624-A372-BABB57384CEE}" presName="spacer" presStyleCnt="0"/>
      <dgm:spPr/>
    </dgm:pt>
    <dgm:pt modelId="{D96F5C80-F371-4600-9BE9-3C3039E06725}" type="pres">
      <dgm:prSet presAssocID="{B566D669-E864-40BE-BBAD-6A9D3D2DABC6}" presName="parentText" presStyleLbl="node1" presStyleIdx="1" presStyleCnt="4">
        <dgm:presLayoutVars>
          <dgm:chMax val="0"/>
          <dgm:bulletEnabled val="1"/>
        </dgm:presLayoutVars>
      </dgm:prSet>
      <dgm:spPr/>
    </dgm:pt>
    <dgm:pt modelId="{FFC1CF6B-102E-4A3E-B647-00EB6F6B21CE}" type="pres">
      <dgm:prSet presAssocID="{E346FFF0-7AF4-4E4F-B340-091D5C363448}" presName="spacer" presStyleCnt="0"/>
      <dgm:spPr/>
    </dgm:pt>
    <dgm:pt modelId="{0E66F634-82D9-4910-9E9D-359C01088179}" type="pres">
      <dgm:prSet presAssocID="{800BF91D-A7D3-4C12-8ABB-CE46794FE386}" presName="parentText" presStyleLbl="node1" presStyleIdx="2" presStyleCnt="4">
        <dgm:presLayoutVars>
          <dgm:chMax val="0"/>
          <dgm:bulletEnabled val="1"/>
        </dgm:presLayoutVars>
      </dgm:prSet>
      <dgm:spPr/>
    </dgm:pt>
    <dgm:pt modelId="{F242B828-0BCB-492F-8D42-50F8C091A677}" type="pres">
      <dgm:prSet presAssocID="{9F80A130-9DA6-4E99-A4DC-FDE934631737}" presName="spacer" presStyleCnt="0"/>
      <dgm:spPr/>
    </dgm:pt>
    <dgm:pt modelId="{0D2D3FB6-6FCB-436E-AB5D-219E55D5915C}" type="pres">
      <dgm:prSet presAssocID="{BA17275F-FFF3-42A7-91C5-A224E05D7148}" presName="parentText" presStyleLbl="node1" presStyleIdx="3" presStyleCnt="4">
        <dgm:presLayoutVars>
          <dgm:chMax val="0"/>
          <dgm:bulletEnabled val="1"/>
        </dgm:presLayoutVars>
      </dgm:prSet>
      <dgm:spPr/>
    </dgm:pt>
  </dgm:ptLst>
  <dgm:cxnLst>
    <dgm:cxn modelId="{52E76714-6C08-4B67-B702-AB99A10D83BF}" srcId="{D9AF68A6-0B27-43CB-8248-7DE9D2A6B37F}" destId="{BA17275F-FFF3-42A7-91C5-A224E05D7148}" srcOrd="3" destOrd="0" parTransId="{9BD5A230-AF43-43F2-AE0A-7DF6020B3793}" sibTransId="{096742C5-5D05-417C-B9C9-95A3D5E2E157}"/>
    <dgm:cxn modelId="{9CCD2E21-3DE8-471D-B56F-284DFA48EB27}" srcId="{D9AF68A6-0B27-43CB-8248-7DE9D2A6B37F}" destId="{92587851-84A6-4568-8B08-6D51B703929C}" srcOrd="0" destOrd="0" parTransId="{158163CE-1CC2-4E07-91E1-F1E920181DA2}" sibTransId="{9AB93057-3B02-4624-A372-BABB57384CEE}"/>
    <dgm:cxn modelId="{4609355E-DCFD-431F-8CC1-FB31EAE75BC0}" srcId="{D9AF68A6-0B27-43CB-8248-7DE9D2A6B37F}" destId="{B566D669-E864-40BE-BBAD-6A9D3D2DABC6}" srcOrd="1" destOrd="0" parTransId="{04DEE1FA-25C0-4979-8FD8-C981B3D6CC74}" sibTransId="{E346FFF0-7AF4-4E4F-B340-091D5C363448}"/>
    <dgm:cxn modelId="{229AB950-B528-4949-A7C9-A806045B33EA}" type="presOf" srcId="{D9AF68A6-0B27-43CB-8248-7DE9D2A6B37F}" destId="{01F55391-EB55-4A2C-BC05-DE44CB54F36D}" srcOrd="0" destOrd="0" presId="urn:microsoft.com/office/officeart/2005/8/layout/vList2"/>
    <dgm:cxn modelId="{C4298591-0588-44D0-BF0C-AED6CA8A4C9E}" type="presOf" srcId="{B566D669-E864-40BE-BBAD-6A9D3D2DABC6}" destId="{D96F5C80-F371-4600-9BE9-3C3039E06725}" srcOrd="0" destOrd="0" presId="urn:microsoft.com/office/officeart/2005/8/layout/vList2"/>
    <dgm:cxn modelId="{58091BB7-55F8-4752-ADD2-31F552EED30F}" srcId="{D9AF68A6-0B27-43CB-8248-7DE9D2A6B37F}" destId="{800BF91D-A7D3-4C12-8ABB-CE46794FE386}" srcOrd="2" destOrd="0" parTransId="{DFF8B1CE-E8A4-4B0B-A8FF-C245E725248B}" sibTransId="{9F80A130-9DA6-4E99-A4DC-FDE934631737}"/>
    <dgm:cxn modelId="{BC4B4BB9-F27A-4D98-A5A0-3DEC08665362}" type="presOf" srcId="{BA17275F-FFF3-42A7-91C5-A224E05D7148}" destId="{0D2D3FB6-6FCB-436E-AB5D-219E55D5915C}" srcOrd="0" destOrd="0" presId="urn:microsoft.com/office/officeart/2005/8/layout/vList2"/>
    <dgm:cxn modelId="{C2636EB9-3D14-45FB-BEF4-4C959A87D05A}" type="presOf" srcId="{800BF91D-A7D3-4C12-8ABB-CE46794FE386}" destId="{0E66F634-82D9-4910-9E9D-359C01088179}" srcOrd="0" destOrd="0" presId="urn:microsoft.com/office/officeart/2005/8/layout/vList2"/>
    <dgm:cxn modelId="{E37D85FD-7DF3-4E5F-9E59-1B719CB6F69F}" type="presOf" srcId="{92587851-84A6-4568-8B08-6D51B703929C}" destId="{14DD6E5F-2D29-4EEA-806E-E4CA13A0FA68}" srcOrd="0" destOrd="0" presId="urn:microsoft.com/office/officeart/2005/8/layout/vList2"/>
    <dgm:cxn modelId="{1287E5E4-DABF-4563-849E-5FB28D3D93B8}" type="presParOf" srcId="{01F55391-EB55-4A2C-BC05-DE44CB54F36D}" destId="{14DD6E5F-2D29-4EEA-806E-E4CA13A0FA68}" srcOrd="0" destOrd="0" presId="urn:microsoft.com/office/officeart/2005/8/layout/vList2"/>
    <dgm:cxn modelId="{BD7B71BA-CA10-45BF-B9AB-D3F8EE8691A5}" type="presParOf" srcId="{01F55391-EB55-4A2C-BC05-DE44CB54F36D}" destId="{614DEC94-457F-4CAB-84FE-85EF0C2C53BA}" srcOrd="1" destOrd="0" presId="urn:microsoft.com/office/officeart/2005/8/layout/vList2"/>
    <dgm:cxn modelId="{127AD47B-FB85-4C35-A738-9CFCA9C18583}" type="presParOf" srcId="{01F55391-EB55-4A2C-BC05-DE44CB54F36D}" destId="{D96F5C80-F371-4600-9BE9-3C3039E06725}" srcOrd="2" destOrd="0" presId="urn:microsoft.com/office/officeart/2005/8/layout/vList2"/>
    <dgm:cxn modelId="{828BFBF1-5C99-4E40-8C78-F1843EA94C79}" type="presParOf" srcId="{01F55391-EB55-4A2C-BC05-DE44CB54F36D}" destId="{FFC1CF6B-102E-4A3E-B647-00EB6F6B21CE}" srcOrd="3" destOrd="0" presId="urn:microsoft.com/office/officeart/2005/8/layout/vList2"/>
    <dgm:cxn modelId="{FFF7B6C1-4473-4C84-A249-F5E301C3E6FE}" type="presParOf" srcId="{01F55391-EB55-4A2C-BC05-DE44CB54F36D}" destId="{0E66F634-82D9-4910-9E9D-359C01088179}" srcOrd="4" destOrd="0" presId="urn:microsoft.com/office/officeart/2005/8/layout/vList2"/>
    <dgm:cxn modelId="{E2B25B95-A3E9-4535-8D87-F8BAB423A57E}" type="presParOf" srcId="{01F55391-EB55-4A2C-BC05-DE44CB54F36D}" destId="{F242B828-0BCB-492F-8D42-50F8C091A677}" srcOrd="5" destOrd="0" presId="urn:microsoft.com/office/officeart/2005/8/layout/vList2"/>
    <dgm:cxn modelId="{840DB4DE-75CD-4047-B24D-7F9E55F5D07E}" type="presParOf" srcId="{01F55391-EB55-4A2C-BC05-DE44CB54F36D}" destId="{0D2D3FB6-6FCB-436E-AB5D-219E55D5915C}"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E453A1C-C013-45A0-9AC4-08B27B746158}" type="doc">
      <dgm:prSet loTypeId="urn:microsoft.com/office/officeart/2005/8/layout/vList2" loCatId="list" qsTypeId="urn:microsoft.com/office/officeart/2005/8/quickstyle/simple1" qsCatId="simple" csTypeId="urn:microsoft.com/office/officeart/2005/8/colors/colorful2" csCatId="colorful" phldr="1"/>
      <dgm:spPr/>
      <dgm:t>
        <a:bodyPr/>
        <a:lstStyle/>
        <a:p>
          <a:endParaRPr lang="en-US"/>
        </a:p>
      </dgm:t>
    </dgm:pt>
    <dgm:pt modelId="{478A85BF-ED1B-4739-AFE0-FF57B8BCD15D}">
      <dgm:prSet/>
      <dgm:spPr/>
      <dgm:t>
        <a:bodyPr/>
        <a:lstStyle/>
        <a:p>
          <a:r>
            <a:rPr lang="en-US" b="1" u="sng" dirty="0"/>
            <a:t>A Region Still In Crisis</a:t>
          </a:r>
          <a:r>
            <a:rPr lang="en-US" dirty="0"/>
            <a:t>: Quantifies the socio-economic pain</a:t>
          </a:r>
        </a:p>
      </dgm:t>
    </dgm:pt>
    <dgm:pt modelId="{8985A238-BC72-4756-815E-1124DAA28DD1}" type="parTrans" cxnId="{567F8EB1-A2A6-43C0-8538-42380A2B87B9}">
      <dgm:prSet/>
      <dgm:spPr/>
      <dgm:t>
        <a:bodyPr/>
        <a:lstStyle/>
        <a:p>
          <a:endParaRPr lang="en-US"/>
        </a:p>
      </dgm:t>
    </dgm:pt>
    <dgm:pt modelId="{6C333D1B-138F-480B-911E-C4CF462C0E94}" type="sibTrans" cxnId="{567F8EB1-A2A6-43C0-8538-42380A2B87B9}">
      <dgm:prSet/>
      <dgm:spPr/>
      <dgm:t>
        <a:bodyPr/>
        <a:lstStyle/>
        <a:p>
          <a:endParaRPr lang="en-US"/>
        </a:p>
      </dgm:t>
    </dgm:pt>
    <dgm:pt modelId="{B6A1EA96-B89A-4059-BD88-22A6CDE7F103}">
      <dgm:prSet/>
      <dgm:spPr/>
      <dgm:t>
        <a:bodyPr/>
        <a:lstStyle/>
        <a:p>
          <a:r>
            <a:rPr lang="en-US" b="1" u="sng" dirty="0"/>
            <a:t>Walking the Debt Tightrope</a:t>
          </a:r>
          <a:r>
            <a:rPr lang="en-US" dirty="0"/>
            <a:t>: Articulates the tensions between immediate socio-economic needs and long-run risks in a region that already had high levels of debt in 2019</a:t>
          </a:r>
        </a:p>
      </dgm:t>
    </dgm:pt>
    <dgm:pt modelId="{83614294-7ACF-46FC-AE5F-ADE8DFAB9F74}" type="parTrans" cxnId="{A51B6882-8B10-431A-A70A-0288624BCE4B}">
      <dgm:prSet/>
      <dgm:spPr/>
      <dgm:t>
        <a:bodyPr/>
        <a:lstStyle/>
        <a:p>
          <a:endParaRPr lang="en-US"/>
        </a:p>
      </dgm:t>
    </dgm:pt>
    <dgm:pt modelId="{D7782144-EB6D-4F0E-9F9D-B8B8D03863CD}" type="sibTrans" cxnId="{A51B6882-8B10-431A-A70A-0288624BCE4B}">
      <dgm:prSet/>
      <dgm:spPr/>
      <dgm:t>
        <a:bodyPr/>
        <a:lstStyle/>
        <a:p>
          <a:endParaRPr lang="en-US"/>
        </a:p>
      </dgm:t>
    </dgm:pt>
    <dgm:pt modelId="{0549E55A-F15A-4E72-9305-3058778A67F1}">
      <dgm:prSet/>
      <dgm:spPr/>
      <dgm:t>
        <a:bodyPr/>
        <a:lstStyle/>
        <a:p>
          <a:r>
            <a:rPr lang="en-US" b="1" u="sng" dirty="0"/>
            <a:t>Tough Choices ahead</a:t>
          </a:r>
          <a:r>
            <a:rPr lang="en-US" dirty="0"/>
            <a:t>: Discusses priorities </a:t>
          </a:r>
          <a:r>
            <a:rPr lang="en-US" u="sng" dirty="0"/>
            <a:t>during </a:t>
          </a:r>
          <a:r>
            <a:rPr lang="en-US" dirty="0"/>
            <a:t>the pandemic, </a:t>
          </a:r>
          <a:r>
            <a:rPr lang="en-US" u="sng" dirty="0"/>
            <a:t>after </a:t>
          </a:r>
          <a:r>
            <a:rPr lang="en-US" dirty="0"/>
            <a:t>the pandemic, and </a:t>
          </a:r>
          <a:r>
            <a:rPr lang="en-US" u="sng" dirty="0"/>
            <a:t>beyond</a:t>
          </a:r>
          <a:endParaRPr lang="en-US" dirty="0"/>
        </a:p>
      </dgm:t>
    </dgm:pt>
    <dgm:pt modelId="{31EBDD61-DD4F-48EF-B6EF-A7E08F43F5AB}" type="parTrans" cxnId="{4B3D0E2C-F67A-4EDC-947B-3F5AB14BFE1C}">
      <dgm:prSet/>
      <dgm:spPr/>
      <dgm:t>
        <a:bodyPr/>
        <a:lstStyle/>
        <a:p>
          <a:endParaRPr lang="en-US"/>
        </a:p>
      </dgm:t>
    </dgm:pt>
    <dgm:pt modelId="{15894171-49E8-4E86-96F9-D85C78B434FA}" type="sibTrans" cxnId="{4B3D0E2C-F67A-4EDC-947B-3F5AB14BFE1C}">
      <dgm:prSet/>
      <dgm:spPr/>
      <dgm:t>
        <a:bodyPr/>
        <a:lstStyle/>
        <a:p>
          <a:endParaRPr lang="en-US"/>
        </a:p>
      </dgm:t>
    </dgm:pt>
    <dgm:pt modelId="{470E7B5F-D031-419A-8E4C-0A128392953F}">
      <dgm:prSet/>
      <dgm:spPr/>
      <dgm:t>
        <a:bodyPr/>
        <a:lstStyle/>
        <a:p>
          <a:r>
            <a:rPr lang="en-US" b="1" u="sng"/>
            <a:t>Sunlight Can Help</a:t>
          </a:r>
          <a:r>
            <a:rPr lang="en-US"/>
            <a:t>: Highlights the role of institutions, especially transparency, in charting a path to recovery for the Middle East and North Africa</a:t>
          </a:r>
        </a:p>
      </dgm:t>
    </dgm:pt>
    <dgm:pt modelId="{5344519F-2818-4265-83D3-3C4F2536129A}" type="parTrans" cxnId="{8A0B5E4A-C93D-4B42-A56B-A5B965B3E152}">
      <dgm:prSet/>
      <dgm:spPr/>
      <dgm:t>
        <a:bodyPr/>
        <a:lstStyle/>
        <a:p>
          <a:endParaRPr lang="en-US"/>
        </a:p>
      </dgm:t>
    </dgm:pt>
    <dgm:pt modelId="{CEFECD7D-282C-4C05-BF33-E452350E853E}" type="sibTrans" cxnId="{8A0B5E4A-C93D-4B42-A56B-A5B965B3E152}">
      <dgm:prSet/>
      <dgm:spPr/>
      <dgm:t>
        <a:bodyPr/>
        <a:lstStyle/>
        <a:p>
          <a:endParaRPr lang="en-US"/>
        </a:p>
      </dgm:t>
    </dgm:pt>
    <dgm:pt modelId="{10D41824-E2E0-4A40-BFA0-315DC363E98D}" type="pres">
      <dgm:prSet presAssocID="{4E453A1C-C013-45A0-9AC4-08B27B746158}" presName="linear" presStyleCnt="0">
        <dgm:presLayoutVars>
          <dgm:animLvl val="lvl"/>
          <dgm:resizeHandles val="exact"/>
        </dgm:presLayoutVars>
      </dgm:prSet>
      <dgm:spPr/>
    </dgm:pt>
    <dgm:pt modelId="{6DCCB891-F357-46F4-9B3B-5A1FAD10338C}" type="pres">
      <dgm:prSet presAssocID="{478A85BF-ED1B-4739-AFE0-FF57B8BCD15D}" presName="parentText" presStyleLbl="node1" presStyleIdx="0" presStyleCnt="4">
        <dgm:presLayoutVars>
          <dgm:chMax val="0"/>
          <dgm:bulletEnabled val="1"/>
        </dgm:presLayoutVars>
      </dgm:prSet>
      <dgm:spPr/>
    </dgm:pt>
    <dgm:pt modelId="{A33B56D8-FB7B-452E-BA6B-9633FA9FE910}" type="pres">
      <dgm:prSet presAssocID="{6C333D1B-138F-480B-911E-C4CF462C0E94}" presName="spacer" presStyleCnt="0"/>
      <dgm:spPr/>
    </dgm:pt>
    <dgm:pt modelId="{0CB6004F-D074-49DB-ADFA-3BF18BB52CB1}" type="pres">
      <dgm:prSet presAssocID="{B6A1EA96-B89A-4059-BD88-22A6CDE7F103}" presName="parentText" presStyleLbl="node1" presStyleIdx="1" presStyleCnt="4">
        <dgm:presLayoutVars>
          <dgm:chMax val="0"/>
          <dgm:bulletEnabled val="1"/>
        </dgm:presLayoutVars>
      </dgm:prSet>
      <dgm:spPr/>
    </dgm:pt>
    <dgm:pt modelId="{C3AE512B-CA52-4BE7-AB40-F806EA6D959C}" type="pres">
      <dgm:prSet presAssocID="{D7782144-EB6D-4F0E-9F9D-B8B8D03863CD}" presName="spacer" presStyleCnt="0"/>
      <dgm:spPr/>
    </dgm:pt>
    <dgm:pt modelId="{B2AF7659-42A0-4D9B-914F-EB8D8F53052D}" type="pres">
      <dgm:prSet presAssocID="{0549E55A-F15A-4E72-9305-3058778A67F1}" presName="parentText" presStyleLbl="node1" presStyleIdx="2" presStyleCnt="4">
        <dgm:presLayoutVars>
          <dgm:chMax val="0"/>
          <dgm:bulletEnabled val="1"/>
        </dgm:presLayoutVars>
      </dgm:prSet>
      <dgm:spPr/>
    </dgm:pt>
    <dgm:pt modelId="{BCD91F1D-16EA-4D57-9D52-8E43730C93ED}" type="pres">
      <dgm:prSet presAssocID="{15894171-49E8-4E86-96F9-D85C78B434FA}" presName="spacer" presStyleCnt="0"/>
      <dgm:spPr/>
    </dgm:pt>
    <dgm:pt modelId="{4F1BF5D5-3EC4-46A9-A9BD-274664B9C165}" type="pres">
      <dgm:prSet presAssocID="{470E7B5F-D031-419A-8E4C-0A128392953F}" presName="parentText" presStyleLbl="node1" presStyleIdx="3" presStyleCnt="4">
        <dgm:presLayoutVars>
          <dgm:chMax val="0"/>
          <dgm:bulletEnabled val="1"/>
        </dgm:presLayoutVars>
      </dgm:prSet>
      <dgm:spPr/>
    </dgm:pt>
  </dgm:ptLst>
  <dgm:cxnLst>
    <dgm:cxn modelId="{B49A6107-BF4E-4BF6-B54E-6B57343DF58F}" type="presOf" srcId="{0549E55A-F15A-4E72-9305-3058778A67F1}" destId="{B2AF7659-42A0-4D9B-914F-EB8D8F53052D}" srcOrd="0" destOrd="0" presId="urn:microsoft.com/office/officeart/2005/8/layout/vList2"/>
    <dgm:cxn modelId="{9BDDE40A-EDA1-420B-8C60-ADAB3864F1D7}" type="presOf" srcId="{B6A1EA96-B89A-4059-BD88-22A6CDE7F103}" destId="{0CB6004F-D074-49DB-ADFA-3BF18BB52CB1}" srcOrd="0" destOrd="0" presId="urn:microsoft.com/office/officeart/2005/8/layout/vList2"/>
    <dgm:cxn modelId="{4B3D0E2C-F67A-4EDC-947B-3F5AB14BFE1C}" srcId="{4E453A1C-C013-45A0-9AC4-08B27B746158}" destId="{0549E55A-F15A-4E72-9305-3058778A67F1}" srcOrd="2" destOrd="0" parTransId="{31EBDD61-DD4F-48EF-B6EF-A7E08F43F5AB}" sibTransId="{15894171-49E8-4E86-96F9-D85C78B434FA}"/>
    <dgm:cxn modelId="{B6ECD22C-5E2B-4F99-9F07-6C21C170978E}" type="presOf" srcId="{478A85BF-ED1B-4739-AFE0-FF57B8BCD15D}" destId="{6DCCB891-F357-46F4-9B3B-5A1FAD10338C}" srcOrd="0" destOrd="0" presId="urn:microsoft.com/office/officeart/2005/8/layout/vList2"/>
    <dgm:cxn modelId="{8A0B5E4A-C93D-4B42-A56B-A5B965B3E152}" srcId="{4E453A1C-C013-45A0-9AC4-08B27B746158}" destId="{470E7B5F-D031-419A-8E4C-0A128392953F}" srcOrd="3" destOrd="0" parTransId="{5344519F-2818-4265-83D3-3C4F2536129A}" sibTransId="{CEFECD7D-282C-4C05-BF33-E452350E853E}"/>
    <dgm:cxn modelId="{C234C375-6DD6-4326-ADD1-640F6CB605DA}" type="presOf" srcId="{470E7B5F-D031-419A-8E4C-0A128392953F}" destId="{4F1BF5D5-3EC4-46A9-A9BD-274664B9C165}" srcOrd="0" destOrd="0" presId="urn:microsoft.com/office/officeart/2005/8/layout/vList2"/>
    <dgm:cxn modelId="{A51B6882-8B10-431A-A70A-0288624BCE4B}" srcId="{4E453A1C-C013-45A0-9AC4-08B27B746158}" destId="{B6A1EA96-B89A-4059-BD88-22A6CDE7F103}" srcOrd="1" destOrd="0" parTransId="{83614294-7ACF-46FC-AE5F-ADE8DFAB9F74}" sibTransId="{D7782144-EB6D-4F0E-9F9D-B8B8D03863CD}"/>
    <dgm:cxn modelId="{567F8EB1-A2A6-43C0-8538-42380A2B87B9}" srcId="{4E453A1C-C013-45A0-9AC4-08B27B746158}" destId="{478A85BF-ED1B-4739-AFE0-FF57B8BCD15D}" srcOrd="0" destOrd="0" parTransId="{8985A238-BC72-4756-815E-1124DAA28DD1}" sibTransId="{6C333D1B-138F-480B-911E-C4CF462C0E94}"/>
    <dgm:cxn modelId="{247BB1C7-1AE1-47BF-AD0A-D79FE5272B5F}" type="presOf" srcId="{4E453A1C-C013-45A0-9AC4-08B27B746158}" destId="{10D41824-E2E0-4A40-BFA0-315DC363E98D}" srcOrd="0" destOrd="0" presId="urn:microsoft.com/office/officeart/2005/8/layout/vList2"/>
    <dgm:cxn modelId="{A0B0154E-F761-4E18-9201-5F3DE6B1E6E1}" type="presParOf" srcId="{10D41824-E2E0-4A40-BFA0-315DC363E98D}" destId="{6DCCB891-F357-46F4-9B3B-5A1FAD10338C}" srcOrd="0" destOrd="0" presId="urn:microsoft.com/office/officeart/2005/8/layout/vList2"/>
    <dgm:cxn modelId="{4E3E8A43-ACB6-4F2A-AC9F-5192C261212B}" type="presParOf" srcId="{10D41824-E2E0-4A40-BFA0-315DC363E98D}" destId="{A33B56D8-FB7B-452E-BA6B-9633FA9FE910}" srcOrd="1" destOrd="0" presId="urn:microsoft.com/office/officeart/2005/8/layout/vList2"/>
    <dgm:cxn modelId="{EC643C13-FAB9-460C-801E-A68BF9B37CD1}" type="presParOf" srcId="{10D41824-E2E0-4A40-BFA0-315DC363E98D}" destId="{0CB6004F-D074-49DB-ADFA-3BF18BB52CB1}" srcOrd="2" destOrd="0" presId="urn:microsoft.com/office/officeart/2005/8/layout/vList2"/>
    <dgm:cxn modelId="{7ACCBAD9-EF29-4753-B034-E94DAA85A5E1}" type="presParOf" srcId="{10D41824-E2E0-4A40-BFA0-315DC363E98D}" destId="{C3AE512B-CA52-4BE7-AB40-F806EA6D959C}" srcOrd="3" destOrd="0" presId="urn:microsoft.com/office/officeart/2005/8/layout/vList2"/>
    <dgm:cxn modelId="{C5AEB76C-4477-4D92-9E49-EF5AA4F0A0FA}" type="presParOf" srcId="{10D41824-E2E0-4A40-BFA0-315DC363E98D}" destId="{B2AF7659-42A0-4D9B-914F-EB8D8F53052D}" srcOrd="4" destOrd="0" presId="urn:microsoft.com/office/officeart/2005/8/layout/vList2"/>
    <dgm:cxn modelId="{B923671E-ED76-4A4B-85D4-C902CB9ED378}" type="presParOf" srcId="{10D41824-E2E0-4A40-BFA0-315DC363E98D}" destId="{BCD91F1D-16EA-4D57-9D52-8E43730C93ED}" srcOrd="5" destOrd="0" presId="urn:microsoft.com/office/officeart/2005/8/layout/vList2"/>
    <dgm:cxn modelId="{CE6626B9-87A9-48A6-883D-B077170B7D31}" type="presParOf" srcId="{10D41824-E2E0-4A40-BFA0-315DC363E98D}" destId="{4F1BF5D5-3EC4-46A9-A9BD-274664B9C165}"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A3D0F16-AF2C-4555-9594-58F3086D41DE}" type="doc">
      <dgm:prSet loTypeId="urn:microsoft.com/office/officeart/2016/7/layout/VerticalSolidActionList" loCatId="List" qsTypeId="urn:microsoft.com/office/officeart/2005/8/quickstyle/simple1" qsCatId="simple" csTypeId="urn:microsoft.com/office/officeart/2005/8/colors/colorful1" csCatId="colorful" phldr="1"/>
      <dgm:spPr/>
      <dgm:t>
        <a:bodyPr/>
        <a:lstStyle/>
        <a:p>
          <a:endParaRPr lang="en-US"/>
        </a:p>
      </dgm:t>
    </dgm:pt>
    <dgm:pt modelId="{BDC752EB-DB5E-4CD9-BA97-52C6491819F1}">
      <dgm:prSet/>
      <dgm:spPr/>
      <dgm:t>
        <a:bodyPr/>
        <a:lstStyle/>
        <a:p>
          <a:r>
            <a:rPr lang="en-US"/>
            <a:t>During the pandemic</a:t>
          </a:r>
        </a:p>
      </dgm:t>
    </dgm:pt>
    <dgm:pt modelId="{F09C80BA-A12D-4170-BA75-9E294135B37B}" type="parTrans" cxnId="{54E14923-43C1-4135-9F52-595DA9F4B402}">
      <dgm:prSet/>
      <dgm:spPr/>
      <dgm:t>
        <a:bodyPr/>
        <a:lstStyle/>
        <a:p>
          <a:endParaRPr lang="en-US"/>
        </a:p>
      </dgm:t>
    </dgm:pt>
    <dgm:pt modelId="{2C96CA52-4110-42D0-AFDE-D29AFEF09231}" type="sibTrans" cxnId="{54E14923-43C1-4135-9F52-595DA9F4B402}">
      <dgm:prSet/>
      <dgm:spPr/>
      <dgm:t>
        <a:bodyPr/>
        <a:lstStyle/>
        <a:p>
          <a:endParaRPr lang="en-US"/>
        </a:p>
      </dgm:t>
    </dgm:pt>
    <dgm:pt modelId="{33BA5400-EDA6-4988-99DF-8C11D77952FD}">
      <dgm:prSet/>
      <dgm:spPr/>
      <dgm:t>
        <a:bodyPr/>
        <a:lstStyle/>
        <a:p>
          <a:pPr>
            <a:buNone/>
          </a:pPr>
          <a:r>
            <a:rPr lang="en-US" sz="1600" i="1"/>
            <a:t>Reduce costs, accelerate recovery</a:t>
          </a:r>
        </a:p>
      </dgm:t>
    </dgm:pt>
    <dgm:pt modelId="{7C43D5E6-C5A2-421A-85DB-D8A8C062A28B}" type="parTrans" cxnId="{E79E30E7-9A7A-410B-B01E-31F4FDF41787}">
      <dgm:prSet/>
      <dgm:spPr/>
      <dgm:t>
        <a:bodyPr/>
        <a:lstStyle/>
        <a:p>
          <a:endParaRPr lang="en-US"/>
        </a:p>
      </dgm:t>
    </dgm:pt>
    <dgm:pt modelId="{7B546DFF-ABAA-409B-9E9C-0700675172A9}" type="sibTrans" cxnId="{E79E30E7-9A7A-410B-B01E-31F4FDF41787}">
      <dgm:prSet/>
      <dgm:spPr/>
      <dgm:t>
        <a:bodyPr/>
        <a:lstStyle/>
        <a:p>
          <a:endParaRPr lang="en-US"/>
        </a:p>
      </dgm:t>
    </dgm:pt>
    <dgm:pt modelId="{AD11B55B-20BA-40AF-A955-BD9CFE4791A1}">
      <dgm:prSet custT="1"/>
      <dgm:spPr/>
      <dgm:t>
        <a:bodyPr/>
        <a:lstStyle/>
        <a:p>
          <a:pPr>
            <a:buFont typeface="Arial" panose="020B0604020202020204" pitchFamily="34" charset="0"/>
            <a:buChar char="•"/>
          </a:pPr>
          <a:r>
            <a:rPr lang="en-US" sz="1400" dirty="0"/>
            <a:t>Public health surveillance and transparency can reduce costs of the pandemic.</a:t>
          </a:r>
        </a:p>
      </dgm:t>
    </dgm:pt>
    <dgm:pt modelId="{81FE0E18-C532-4793-94C3-CD4C357EE104}" type="parTrans" cxnId="{411E632B-B129-4087-A37E-61AC10D5FB98}">
      <dgm:prSet/>
      <dgm:spPr/>
      <dgm:t>
        <a:bodyPr/>
        <a:lstStyle/>
        <a:p>
          <a:endParaRPr lang="en-US"/>
        </a:p>
      </dgm:t>
    </dgm:pt>
    <dgm:pt modelId="{AE0189AD-F506-44DD-B05B-28D80C67031D}" type="sibTrans" cxnId="{411E632B-B129-4087-A37E-61AC10D5FB98}">
      <dgm:prSet/>
      <dgm:spPr/>
      <dgm:t>
        <a:bodyPr/>
        <a:lstStyle/>
        <a:p>
          <a:endParaRPr lang="en-US"/>
        </a:p>
      </dgm:t>
    </dgm:pt>
    <dgm:pt modelId="{FEAB59C7-EA3A-4E3B-9858-17908A8A0F05}">
      <dgm:prSet/>
      <dgm:spPr/>
      <dgm:t>
        <a:bodyPr/>
        <a:lstStyle/>
        <a:p>
          <a:r>
            <a:rPr lang="en-US"/>
            <a:t>As the pandemic subsides</a:t>
          </a:r>
        </a:p>
      </dgm:t>
    </dgm:pt>
    <dgm:pt modelId="{4393B997-86C9-45E3-A93F-D96F2B995695}" type="parTrans" cxnId="{BD7706C7-811B-4280-AB5F-FA3D3FD89D56}">
      <dgm:prSet/>
      <dgm:spPr/>
      <dgm:t>
        <a:bodyPr/>
        <a:lstStyle/>
        <a:p>
          <a:endParaRPr lang="en-US"/>
        </a:p>
      </dgm:t>
    </dgm:pt>
    <dgm:pt modelId="{D116F28E-3CA2-4B14-84B2-983AF68B7386}" type="sibTrans" cxnId="{BD7706C7-811B-4280-AB5F-FA3D3FD89D56}">
      <dgm:prSet/>
      <dgm:spPr/>
      <dgm:t>
        <a:bodyPr/>
        <a:lstStyle/>
        <a:p>
          <a:endParaRPr lang="en-US"/>
        </a:p>
      </dgm:t>
    </dgm:pt>
    <dgm:pt modelId="{3FD5C915-9BB7-474F-B020-56575EC64CB5}">
      <dgm:prSet/>
      <dgm:spPr/>
      <dgm:t>
        <a:bodyPr/>
        <a:lstStyle/>
        <a:p>
          <a:r>
            <a:rPr lang="en-US" sz="1700" i="1" dirty="0"/>
            <a:t>Raise investment’s impact</a:t>
          </a:r>
        </a:p>
      </dgm:t>
    </dgm:pt>
    <dgm:pt modelId="{FA761938-CA97-4272-ABBB-E7BBFC1CAB71}" type="parTrans" cxnId="{7A16565C-3A79-440A-A7E1-E8E4E65A871F}">
      <dgm:prSet/>
      <dgm:spPr/>
      <dgm:t>
        <a:bodyPr/>
        <a:lstStyle/>
        <a:p>
          <a:endParaRPr lang="en-US"/>
        </a:p>
      </dgm:t>
    </dgm:pt>
    <dgm:pt modelId="{99F9BF23-7BB1-4820-9AE2-7285ED2ADD58}" type="sibTrans" cxnId="{7A16565C-3A79-440A-A7E1-E8E4E65A871F}">
      <dgm:prSet/>
      <dgm:spPr/>
      <dgm:t>
        <a:bodyPr/>
        <a:lstStyle/>
        <a:p>
          <a:endParaRPr lang="en-US"/>
        </a:p>
      </dgm:t>
    </dgm:pt>
    <dgm:pt modelId="{53649559-DDFE-483E-9A46-14662CCD0FB1}">
      <dgm:prSet/>
      <dgm:spPr/>
      <dgm:t>
        <a:bodyPr/>
        <a:lstStyle/>
        <a:p>
          <a:r>
            <a:rPr lang="en-US"/>
            <a:t>After the pandemic</a:t>
          </a:r>
        </a:p>
      </dgm:t>
    </dgm:pt>
    <dgm:pt modelId="{12B70157-0AF4-45AE-99DE-C4CA0517633C}" type="parTrans" cxnId="{43B50FAC-1192-4684-A07A-FBC4C8A1F73F}">
      <dgm:prSet/>
      <dgm:spPr/>
      <dgm:t>
        <a:bodyPr/>
        <a:lstStyle/>
        <a:p>
          <a:endParaRPr lang="en-US"/>
        </a:p>
      </dgm:t>
    </dgm:pt>
    <dgm:pt modelId="{D4FD851D-3D7A-4711-A92F-C29DD5D69F6A}" type="sibTrans" cxnId="{43B50FAC-1192-4684-A07A-FBC4C8A1F73F}">
      <dgm:prSet/>
      <dgm:spPr/>
      <dgm:t>
        <a:bodyPr/>
        <a:lstStyle/>
        <a:p>
          <a:endParaRPr lang="en-US"/>
        </a:p>
      </dgm:t>
    </dgm:pt>
    <dgm:pt modelId="{6DC4B5BA-12D5-4FA7-BDF4-DEA95716C004}">
      <dgm:prSet/>
      <dgm:spPr/>
      <dgm:t>
        <a:bodyPr/>
        <a:lstStyle/>
        <a:p>
          <a:r>
            <a:rPr lang="en-US" i="1"/>
            <a:t>Reduce costs, reduce risk</a:t>
          </a:r>
        </a:p>
      </dgm:t>
    </dgm:pt>
    <dgm:pt modelId="{322044B1-6B54-4D60-8DB0-88DB5B9C14F7}" type="parTrans" cxnId="{A12D2B5A-75CE-4C1C-9A48-523A19BBCF8C}">
      <dgm:prSet/>
      <dgm:spPr/>
      <dgm:t>
        <a:bodyPr/>
        <a:lstStyle/>
        <a:p>
          <a:endParaRPr lang="en-US"/>
        </a:p>
      </dgm:t>
    </dgm:pt>
    <dgm:pt modelId="{DDA6252D-A145-42EC-A5D7-AD8AF39ED11B}" type="sibTrans" cxnId="{A12D2B5A-75CE-4C1C-9A48-523A19BBCF8C}">
      <dgm:prSet/>
      <dgm:spPr/>
      <dgm:t>
        <a:bodyPr/>
        <a:lstStyle/>
        <a:p>
          <a:endParaRPr lang="en-US"/>
        </a:p>
      </dgm:t>
    </dgm:pt>
    <dgm:pt modelId="{FC6E2D6A-71B0-4796-9529-8549D15BA34C}">
      <dgm:prSet/>
      <dgm:spPr/>
      <dgm:t>
        <a:bodyPr/>
        <a:lstStyle/>
        <a:p>
          <a:r>
            <a:rPr lang="en-US"/>
            <a:t>Transparency can reduce borrowing costs. Good governance can reduce the risks of debt distress.</a:t>
          </a:r>
        </a:p>
      </dgm:t>
    </dgm:pt>
    <dgm:pt modelId="{7CBC1C24-061F-407D-BB5C-3DBC57EA1B45}" type="parTrans" cxnId="{79954B92-6280-489E-8ADB-061783ED8A55}">
      <dgm:prSet/>
      <dgm:spPr/>
      <dgm:t>
        <a:bodyPr/>
        <a:lstStyle/>
        <a:p>
          <a:endParaRPr lang="en-US"/>
        </a:p>
      </dgm:t>
    </dgm:pt>
    <dgm:pt modelId="{37045282-3F10-4CDD-B94E-ABB27230149F}" type="sibTrans" cxnId="{79954B92-6280-489E-8ADB-061783ED8A55}">
      <dgm:prSet/>
      <dgm:spPr/>
      <dgm:t>
        <a:bodyPr/>
        <a:lstStyle/>
        <a:p>
          <a:endParaRPr lang="en-US"/>
        </a:p>
      </dgm:t>
    </dgm:pt>
    <dgm:pt modelId="{72BAA999-5640-493E-BD35-81A3096814CD}">
      <dgm:prSet/>
      <dgm:spPr/>
      <dgm:t>
        <a:bodyPr/>
        <a:lstStyle/>
        <a:p>
          <a:pPr>
            <a:buFont typeface="Arial" panose="020B0604020202020204" pitchFamily="34" charset="0"/>
            <a:buChar char="•"/>
          </a:pPr>
          <a:endParaRPr lang="en-US" sz="1200"/>
        </a:p>
      </dgm:t>
    </dgm:pt>
    <dgm:pt modelId="{A362066D-CFF3-40C8-A720-1CDA69B8C83B}" type="parTrans" cxnId="{93DFD9F5-D937-42A7-B952-2B890782B7B8}">
      <dgm:prSet/>
      <dgm:spPr/>
      <dgm:t>
        <a:bodyPr/>
        <a:lstStyle/>
        <a:p>
          <a:endParaRPr lang="en-US"/>
        </a:p>
      </dgm:t>
    </dgm:pt>
    <dgm:pt modelId="{2075F73F-33B8-4F09-B841-00653B81E557}" type="sibTrans" cxnId="{93DFD9F5-D937-42A7-B952-2B890782B7B8}">
      <dgm:prSet/>
      <dgm:spPr/>
      <dgm:t>
        <a:bodyPr/>
        <a:lstStyle/>
        <a:p>
          <a:endParaRPr lang="en-US"/>
        </a:p>
      </dgm:t>
    </dgm:pt>
    <dgm:pt modelId="{1B03094B-3B85-4858-945C-BD92F26A1E5E}">
      <dgm:prSet custT="1"/>
      <dgm:spPr/>
      <dgm:t>
        <a:bodyPr/>
        <a:lstStyle/>
        <a:p>
          <a:r>
            <a:rPr lang="en-US" sz="1400" dirty="0"/>
            <a:t>Transparency in public investment decisions can raise its impact on economic activity (GDP)</a:t>
          </a:r>
          <a:endParaRPr lang="en-US" sz="1300" dirty="0"/>
        </a:p>
      </dgm:t>
    </dgm:pt>
    <dgm:pt modelId="{1CC81B00-40D2-4037-B000-E1306159EE51}" type="parTrans" cxnId="{011E8FC1-A0E1-4104-AC67-9AE2833218F4}">
      <dgm:prSet/>
      <dgm:spPr/>
      <dgm:t>
        <a:bodyPr/>
        <a:lstStyle/>
        <a:p>
          <a:endParaRPr lang="en-US"/>
        </a:p>
      </dgm:t>
    </dgm:pt>
    <dgm:pt modelId="{BD4D8BC3-1212-4602-8D24-FB86F2567210}" type="sibTrans" cxnId="{011E8FC1-A0E1-4104-AC67-9AE2833218F4}">
      <dgm:prSet/>
      <dgm:spPr/>
      <dgm:t>
        <a:bodyPr/>
        <a:lstStyle/>
        <a:p>
          <a:endParaRPr lang="en-US"/>
        </a:p>
      </dgm:t>
    </dgm:pt>
    <dgm:pt modelId="{FE4B07EC-84A3-4286-B7C6-C8A74E183C87}">
      <dgm:prSet custT="1"/>
      <dgm:spPr/>
      <dgm:t>
        <a:bodyPr/>
        <a:lstStyle/>
        <a:p>
          <a:r>
            <a:rPr lang="en-US" sz="1400" dirty="0"/>
            <a:t>Public health surveillance and transparency can accelerate the post-pandemic rebound (e.g., tourism; hospitality industries).</a:t>
          </a:r>
        </a:p>
      </dgm:t>
    </dgm:pt>
    <dgm:pt modelId="{EC67A2C3-163B-4BA6-AF57-BFF48F1D84DE}" type="parTrans" cxnId="{B68DB7F7-CF06-408E-B187-4B095D59AA0B}">
      <dgm:prSet/>
      <dgm:spPr/>
      <dgm:t>
        <a:bodyPr/>
        <a:lstStyle/>
        <a:p>
          <a:endParaRPr lang="en-US"/>
        </a:p>
      </dgm:t>
    </dgm:pt>
    <dgm:pt modelId="{B59C9B8B-90DD-42FC-87C9-6C0749B099DC}" type="sibTrans" cxnId="{B68DB7F7-CF06-408E-B187-4B095D59AA0B}">
      <dgm:prSet/>
      <dgm:spPr/>
      <dgm:t>
        <a:bodyPr/>
        <a:lstStyle/>
        <a:p>
          <a:endParaRPr lang="en-US"/>
        </a:p>
      </dgm:t>
    </dgm:pt>
    <dgm:pt modelId="{4B331DD6-8178-494C-B4BE-B7FB5532C65C}" type="pres">
      <dgm:prSet presAssocID="{3A3D0F16-AF2C-4555-9594-58F3086D41DE}" presName="Name0" presStyleCnt="0">
        <dgm:presLayoutVars>
          <dgm:dir/>
          <dgm:animLvl val="lvl"/>
          <dgm:resizeHandles val="exact"/>
        </dgm:presLayoutVars>
      </dgm:prSet>
      <dgm:spPr/>
    </dgm:pt>
    <dgm:pt modelId="{CB429555-F805-4C34-8D18-B27E410EE5A2}" type="pres">
      <dgm:prSet presAssocID="{BDC752EB-DB5E-4CD9-BA97-52C6491819F1}" presName="linNode" presStyleCnt="0"/>
      <dgm:spPr/>
    </dgm:pt>
    <dgm:pt modelId="{DFC569C3-C86F-4545-AB3C-673047233301}" type="pres">
      <dgm:prSet presAssocID="{BDC752EB-DB5E-4CD9-BA97-52C6491819F1}" presName="parentText" presStyleLbl="alignNode1" presStyleIdx="0" presStyleCnt="3">
        <dgm:presLayoutVars>
          <dgm:chMax val="1"/>
          <dgm:bulletEnabled/>
        </dgm:presLayoutVars>
      </dgm:prSet>
      <dgm:spPr/>
    </dgm:pt>
    <dgm:pt modelId="{0B9A1728-F1FA-4AFC-B65D-ECA7A087D09A}" type="pres">
      <dgm:prSet presAssocID="{BDC752EB-DB5E-4CD9-BA97-52C6491819F1}" presName="descendantText" presStyleLbl="alignAccFollowNode1" presStyleIdx="0" presStyleCnt="3">
        <dgm:presLayoutVars>
          <dgm:bulletEnabled/>
        </dgm:presLayoutVars>
      </dgm:prSet>
      <dgm:spPr/>
    </dgm:pt>
    <dgm:pt modelId="{BE585E94-BAB5-40A2-BD5F-5E56B257B540}" type="pres">
      <dgm:prSet presAssocID="{2C96CA52-4110-42D0-AFDE-D29AFEF09231}" presName="sp" presStyleCnt="0"/>
      <dgm:spPr/>
    </dgm:pt>
    <dgm:pt modelId="{D09D60A7-E469-421C-80E9-3B3C75358B23}" type="pres">
      <dgm:prSet presAssocID="{FEAB59C7-EA3A-4E3B-9858-17908A8A0F05}" presName="linNode" presStyleCnt="0"/>
      <dgm:spPr/>
    </dgm:pt>
    <dgm:pt modelId="{E2765943-E65F-4E53-9A3B-7B81B76269D0}" type="pres">
      <dgm:prSet presAssocID="{FEAB59C7-EA3A-4E3B-9858-17908A8A0F05}" presName="parentText" presStyleLbl="alignNode1" presStyleIdx="1" presStyleCnt="3">
        <dgm:presLayoutVars>
          <dgm:chMax val="1"/>
          <dgm:bulletEnabled/>
        </dgm:presLayoutVars>
      </dgm:prSet>
      <dgm:spPr/>
    </dgm:pt>
    <dgm:pt modelId="{665E85F7-33A8-411A-A326-AE2900BBA4C4}" type="pres">
      <dgm:prSet presAssocID="{FEAB59C7-EA3A-4E3B-9858-17908A8A0F05}" presName="descendantText" presStyleLbl="alignAccFollowNode1" presStyleIdx="1" presStyleCnt="3">
        <dgm:presLayoutVars>
          <dgm:bulletEnabled/>
        </dgm:presLayoutVars>
      </dgm:prSet>
      <dgm:spPr/>
    </dgm:pt>
    <dgm:pt modelId="{29C2BB87-05A5-4B7C-AE8C-5E9C5BE83E69}" type="pres">
      <dgm:prSet presAssocID="{D116F28E-3CA2-4B14-84B2-983AF68B7386}" presName="sp" presStyleCnt="0"/>
      <dgm:spPr/>
    </dgm:pt>
    <dgm:pt modelId="{AD674BDF-1C5B-4B42-837D-4B84834F6D85}" type="pres">
      <dgm:prSet presAssocID="{53649559-DDFE-483E-9A46-14662CCD0FB1}" presName="linNode" presStyleCnt="0"/>
      <dgm:spPr/>
    </dgm:pt>
    <dgm:pt modelId="{99B1EDDE-D583-4619-BA85-DFA1F91F19D1}" type="pres">
      <dgm:prSet presAssocID="{53649559-DDFE-483E-9A46-14662CCD0FB1}" presName="parentText" presStyleLbl="alignNode1" presStyleIdx="2" presStyleCnt="3">
        <dgm:presLayoutVars>
          <dgm:chMax val="1"/>
          <dgm:bulletEnabled/>
        </dgm:presLayoutVars>
      </dgm:prSet>
      <dgm:spPr/>
    </dgm:pt>
    <dgm:pt modelId="{D6E06639-06E4-409C-8477-ED871BEA6BD4}" type="pres">
      <dgm:prSet presAssocID="{53649559-DDFE-483E-9A46-14662CCD0FB1}" presName="descendantText" presStyleLbl="alignAccFollowNode1" presStyleIdx="2" presStyleCnt="3">
        <dgm:presLayoutVars>
          <dgm:bulletEnabled/>
        </dgm:presLayoutVars>
      </dgm:prSet>
      <dgm:spPr/>
    </dgm:pt>
  </dgm:ptLst>
  <dgm:cxnLst>
    <dgm:cxn modelId="{A9DDE102-CCB9-4916-A94C-3E87D0964E11}" type="presOf" srcId="{3A3D0F16-AF2C-4555-9594-58F3086D41DE}" destId="{4B331DD6-8178-494C-B4BE-B7FB5532C65C}" srcOrd="0" destOrd="0" presId="urn:microsoft.com/office/officeart/2016/7/layout/VerticalSolidActionList"/>
    <dgm:cxn modelId="{16C48C03-E2F1-4AB5-9715-68BEAD7B70E6}" type="presOf" srcId="{BDC752EB-DB5E-4CD9-BA97-52C6491819F1}" destId="{DFC569C3-C86F-4545-AB3C-673047233301}" srcOrd="0" destOrd="0" presId="urn:microsoft.com/office/officeart/2016/7/layout/VerticalSolidActionList"/>
    <dgm:cxn modelId="{4CB7E40A-9FBF-41B3-B7DD-86680B4A86AA}" type="presOf" srcId="{FEAB59C7-EA3A-4E3B-9858-17908A8A0F05}" destId="{E2765943-E65F-4E53-9A3B-7B81B76269D0}" srcOrd="0" destOrd="0" presId="urn:microsoft.com/office/officeart/2016/7/layout/VerticalSolidActionList"/>
    <dgm:cxn modelId="{8FEDBF14-B3CD-44D1-9306-1C30CCB876B9}" type="presOf" srcId="{FE4B07EC-84A3-4286-B7C6-C8A74E183C87}" destId="{665E85F7-33A8-411A-A326-AE2900BBA4C4}" srcOrd="0" destOrd="2" presId="urn:microsoft.com/office/officeart/2016/7/layout/VerticalSolidActionList"/>
    <dgm:cxn modelId="{54E14923-43C1-4135-9F52-595DA9F4B402}" srcId="{3A3D0F16-AF2C-4555-9594-58F3086D41DE}" destId="{BDC752EB-DB5E-4CD9-BA97-52C6491819F1}" srcOrd="0" destOrd="0" parTransId="{F09C80BA-A12D-4170-BA75-9E294135B37B}" sibTransId="{2C96CA52-4110-42D0-AFDE-D29AFEF09231}"/>
    <dgm:cxn modelId="{411E632B-B129-4087-A37E-61AC10D5FB98}" srcId="{33BA5400-EDA6-4988-99DF-8C11D77952FD}" destId="{AD11B55B-20BA-40AF-A955-BD9CFE4791A1}" srcOrd="1" destOrd="0" parTransId="{81FE0E18-C532-4793-94C3-CD4C357EE104}" sibTransId="{AE0189AD-F506-44DD-B05B-28D80C67031D}"/>
    <dgm:cxn modelId="{9B23755C-FC32-4E7F-A0D5-E10801913C04}" type="presOf" srcId="{53649559-DDFE-483E-9A46-14662CCD0FB1}" destId="{99B1EDDE-D583-4619-BA85-DFA1F91F19D1}" srcOrd="0" destOrd="0" presId="urn:microsoft.com/office/officeart/2016/7/layout/VerticalSolidActionList"/>
    <dgm:cxn modelId="{4D84755C-C376-4396-ABCB-2FBCE2F5D5FA}" type="presOf" srcId="{6DC4B5BA-12D5-4FA7-BDF4-DEA95716C004}" destId="{D6E06639-06E4-409C-8477-ED871BEA6BD4}" srcOrd="0" destOrd="0" presId="urn:microsoft.com/office/officeart/2016/7/layout/VerticalSolidActionList"/>
    <dgm:cxn modelId="{7A16565C-3A79-440A-A7E1-E8E4E65A871F}" srcId="{FEAB59C7-EA3A-4E3B-9858-17908A8A0F05}" destId="{3FD5C915-9BB7-474F-B020-56575EC64CB5}" srcOrd="0" destOrd="0" parTransId="{FA761938-CA97-4272-ABBB-E7BBFC1CAB71}" sibTransId="{99F9BF23-7BB1-4820-9AE2-7285ED2ADD58}"/>
    <dgm:cxn modelId="{30D78758-97F1-4E7D-B5CC-3D5AFE4AFEC0}" type="presOf" srcId="{AD11B55B-20BA-40AF-A955-BD9CFE4791A1}" destId="{0B9A1728-F1FA-4AFC-B65D-ECA7A087D09A}" srcOrd="0" destOrd="2" presId="urn:microsoft.com/office/officeart/2016/7/layout/VerticalSolidActionList"/>
    <dgm:cxn modelId="{A12D2B5A-75CE-4C1C-9A48-523A19BBCF8C}" srcId="{53649559-DDFE-483E-9A46-14662CCD0FB1}" destId="{6DC4B5BA-12D5-4FA7-BDF4-DEA95716C004}" srcOrd="0" destOrd="0" parTransId="{322044B1-6B54-4D60-8DB0-88DB5B9C14F7}" sibTransId="{DDA6252D-A145-42EC-A5D7-AD8AF39ED11B}"/>
    <dgm:cxn modelId="{2673A282-06E7-43E3-874F-B79C84C0CDFB}" type="presOf" srcId="{33BA5400-EDA6-4988-99DF-8C11D77952FD}" destId="{0B9A1728-F1FA-4AFC-B65D-ECA7A087D09A}" srcOrd="0" destOrd="0" presId="urn:microsoft.com/office/officeart/2016/7/layout/VerticalSolidActionList"/>
    <dgm:cxn modelId="{B99F2B91-5D51-419E-AE58-A01053AD6CAE}" type="presOf" srcId="{3FD5C915-9BB7-474F-B020-56575EC64CB5}" destId="{665E85F7-33A8-411A-A326-AE2900BBA4C4}" srcOrd="0" destOrd="0" presId="urn:microsoft.com/office/officeart/2016/7/layout/VerticalSolidActionList"/>
    <dgm:cxn modelId="{79954B92-6280-489E-8ADB-061783ED8A55}" srcId="{6DC4B5BA-12D5-4FA7-BDF4-DEA95716C004}" destId="{FC6E2D6A-71B0-4796-9529-8549D15BA34C}" srcOrd="0" destOrd="0" parTransId="{7CBC1C24-061F-407D-BB5C-3DBC57EA1B45}" sibTransId="{37045282-3F10-4CDD-B94E-ABB27230149F}"/>
    <dgm:cxn modelId="{9F471598-96CB-47B4-93A3-77B5A32BC615}" type="presOf" srcId="{72BAA999-5640-493E-BD35-81A3096814CD}" destId="{0B9A1728-F1FA-4AFC-B65D-ECA7A087D09A}" srcOrd="0" destOrd="1" presId="urn:microsoft.com/office/officeart/2016/7/layout/VerticalSolidActionList"/>
    <dgm:cxn modelId="{44CE2D9C-D462-4727-A0F4-91F83B6AE550}" type="presOf" srcId="{1B03094B-3B85-4858-945C-BD92F26A1E5E}" destId="{665E85F7-33A8-411A-A326-AE2900BBA4C4}" srcOrd="0" destOrd="1" presId="urn:microsoft.com/office/officeart/2016/7/layout/VerticalSolidActionList"/>
    <dgm:cxn modelId="{43B50FAC-1192-4684-A07A-FBC4C8A1F73F}" srcId="{3A3D0F16-AF2C-4555-9594-58F3086D41DE}" destId="{53649559-DDFE-483E-9A46-14662CCD0FB1}" srcOrd="2" destOrd="0" parTransId="{12B70157-0AF4-45AE-99DE-C4CA0517633C}" sibTransId="{D4FD851D-3D7A-4711-A92F-C29DD5D69F6A}"/>
    <dgm:cxn modelId="{885267BC-9A5F-4419-A469-010489C1EEBE}" type="presOf" srcId="{FC6E2D6A-71B0-4796-9529-8549D15BA34C}" destId="{D6E06639-06E4-409C-8477-ED871BEA6BD4}" srcOrd="0" destOrd="1" presId="urn:microsoft.com/office/officeart/2016/7/layout/VerticalSolidActionList"/>
    <dgm:cxn modelId="{011E8FC1-A0E1-4104-AC67-9AE2833218F4}" srcId="{3FD5C915-9BB7-474F-B020-56575EC64CB5}" destId="{1B03094B-3B85-4858-945C-BD92F26A1E5E}" srcOrd="0" destOrd="0" parTransId="{1CC81B00-40D2-4037-B000-E1306159EE51}" sibTransId="{BD4D8BC3-1212-4602-8D24-FB86F2567210}"/>
    <dgm:cxn modelId="{BD7706C7-811B-4280-AB5F-FA3D3FD89D56}" srcId="{3A3D0F16-AF2C-4555-9594-58F3086D41DE}" destId="{FEAB59C7-EA3A-4E3B-9858-17908A8A0F05}" srcOrd="1" destOrd="0" parTransId="{4393B997-86C9-45E3-A93F-D96F2B995695}" sibTransId="{D116F28E-3CA2-4B14-84B2-983AF68B7386}"/>
    <dgm:cxn modelId="{E79E30E7-9A7A-410B-B01E-31F4FDF41787}" srcId="{BDC752EB-DB5E-4CD9-BA97-52C6491819F1}" destId="{33BA5400-EDA6-4988-99DF-8C11D77952FD}" srcOrd="0" destOrd="0" parTransId="{7C43D5E6-C5A2-421A-85DB-D8A8C062A28B}" sibTransId="{7B546DFF-ABAA-409B-9E9C-0700675172A9}"/>
    <dgm:cxn modelId="{93DFD9F5-D937-42A7-B952-2B890782B7B8}" srcId="{33BA5400-EDA6-4988-99DF-8C11D77952FD}" destId="{72BAA999-5640-493E-BD35-81A3096814CD}" srcOrd="0" destOrd="0" parTransId="{A362066D-CFF3-40C8-A720-1CDA69B8C83B}" sibTransId="{2075F73F-33B8-4F09-B841-00653B81E557}"/>
    <dgm:cxn modelId="{B68DB7F7-CF06-408E-B187-4B095D59AA0B}" srcId="{3FD5C915-9BB7-474F-B020-56575EC64CB5}" destId="{FE4B07EC-84A3-4286-B7C6-C8A74E183C87}" srcOrd="1" destOrd="0" parTransId="{EC67A2C3-163B-4BA6-AF57-BFF48F1D84DE}" sibTransId="{B59C9B8B-90DD-42FC-87C9-6C0749B099DC}"/>
    <dgm:cxn modelId="{81612622-D36C-4F84-AAC1-81A1C4799580}" type="presParOf" srcId="{4B331DD6-8178-494C-B4BE-B7FB5532C65C}" destId="{CB429555-F805-4C34-8D18-B27E410EE5A2}" srcOrd="0" destOrd="0" presId="urn:microsoft.com/office/officeart/2016/7/layout/VerticalSolidActionList"/>
    <dgm:cxn modelId="{E4A02B23-DAFB-4A10-85C1-CD837EFCB7ED}" type="presParOf" srcId="{CB429555-F805-4C34-8D18-B27E410EE5A2}" destId="{DFC569C3-C86F-4545-AB3C-673047233301}" srcOrd="0" destOrd="0" presId="urn:microsoft.com/office/officeart/2016/7/layout/VerticalSolidActionList"/>
    <dgm:cxn modelId="{8E2A3A97-A620-403A-8129-CCF242265B2C}" type="presParOf" srcId="{CB429555-F805-4C34-8D18-B27E410EE5A2}" destId="{0B9A1728-F1FA-4AFC-B65D-ECA7A087D09A}" srcOrd="1" destOrd="0" presId="urn:microsoft.com/office/officeart/2016/7/layout/VerticalSolidActionList"/>
    <dgm:cxn modelId="{4E0B7BCB-3922-4B42-AE20-4A248962EFFB}" type="presParOf" srcId="{4B331DD6-8178-494C-B4BE-B7FB5532C65C}" destId="{BE585E94-BAB5-40A2-BD5F-5E56B257B540}" srcOrd="1" destOrd="0" presId="urn:microsoft.com/office/officeart/2016/7/layout/VerticalSolidActionList"/>
    <dgm:cxn modelId="{BB3B2C74-62DC-4386-A028-5CDDF93DE5B2}" type="presParOf" srcId="{4B331DD6-8178-494C-B4BE-B7FB5532C65C}" destId="{D09D60A7-E469-421C-80E9-3B3C75358B23}" srcOrd="2" destOrd="0" presId="urn:microsoft.com/office/officeart/2016/7/layout/VerticalSolidActionList"/>
    <dgm:cxn modelId="{30D81E53-7EC5-4497-AE14-5EF368874A51}" type="presParOf" srcId="{D09D60A7-E469-421C-80E9-3B3C75358B23}" destId="{E2765943-E65F-4E53-9A3B-7B81B76269D0}" srcOrd="0" destOrd="0" presId="urn:microsoft.com/office/officeart/2016/7/layout/VerticalSolidActionList"/>
    <dgm:cxn modelId="{28A61FE9-42FA-4E3A-8DD7-AF89F936A797}" type="presParOf" srcId="{D09D60A7-E469-421C-80E9-3B3C75358B23}" destId="{665E85F7-33A8-411A-A326-AE2900BBA4C4}" srcOrd="1" destOrd="0" presId="urn:microsoft.com/office/officeart/2016/7/layout/VerticalSolidActionList"/>
    <dgm:cxn modelId="{61153971-CF36-42D3-A2FD-048E17D8D8C2}" type="presParOf" srcId="{4B331DD6-8178-494C-B4BE-B7FB5532C65C}" destId="{29C2BB87-05A5-4B7C-AE8C-5E9C5BE83E69}" srcOrd="3" destOrd="0" presId="urn:microsoft.com/office/officeart/2016/7/layout/VerticalSolidActionList"/>
    <dgm:cxn modelId="{DC495CB4-6142-4E5B-A357-4E16EB605915}" type="presParOf" srcId="{4B331DD6-8178-494C-B4BE-B7FB5532C65C}" destId="{AD674BDF-1C5B-4B42-837D-4B84834F6D85}" srcOrd="4" destOrd="0" presId="urn:microsoft.com/office/officeart/2016/7/layout/VerticalSolidActionList"/>
    <dgm:cxn modelId="{80C028F5-F783-4680-A0A9-22EAAEAFD2A2}" type="presParOf" srcId="{AD674BDF-1C5B-4B42-837D-4B84834F6D85}" destId="{99B1EDDE-D583-4619-BA85-DFA1F91F19D1}" srcOrd="0" destOrd="0" presId="urn:microsoft.com/office/officeart/2016/7/layout/VerticalSolidActionList"/>
    <dgm:cxn modelId="{9683A780-1F33-4133-BBB3-58D9C9F9DAA4}" type="presParOf" srcId="{AD674BDF-1C5B-4B42-837D-4B84834F6D85}" destId="{D6E06639-06E4-409C-8477-ED871BEA6BD4}" srcOrd="1" destOrd="0" presId="urn:microsoft.com/office/officeart/2016/7/layout/VerticalSolidAc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DD6E5F-2D29-4EEA-806E-E4CA13A0FA68}">
      <dsp:nvSpPr>
        <dsp:cNvPr id="0" name=""/>
        <dsp:cNvSpPr/>
      </dsp:nvSpPr>
      <dsp:spPr>
        <a:xfrm>
          <a:off x="0" y="65372"/>
          <a:ext cx="6367912" cy="1510396"/>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The Middle East and North Africa (MENA) region is </a:t>
          </a:r>
          <a:r>
            <a:rPr lang="en-US" sz="2700" u="none" kern="1200" dirty="0"/>
            <a:t>still in crisis</a:t>
          </a:r>
        </a:p>
      </dsp:txBody>
      <dsp:txXfrm>
        <a:off x="73731" y="139103"/>
        <a:ext cx="6220450" cy="1362934"/>
      </dsp:txXfrm>
    </dsp:sp>
    <dsp:sp modelId="{D96F5C80-F371-4600-9BE9-3C3039E06725}">
      <dsp:nvSpPr>
        <dsp:cNvPr id="0" name=""/>
        <dsp:cNvSpPr/>
      </dsp:nvSpPr>
      <dsp:spPr>
        <a:xfrm>
          <a:off x="0" y="1653529"/>
          <a:ext cx="6367912" cy="1510396"/>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MENA countries face a </a:t>
          </a:r>
          <a:r>
            <a:rPr lang="en-US" sz="2700" u="none" kern="1200" dirty="0"/>
            <a:t>balancing act</a:t>
          </a:r>
          <a:r>
            <a:rPr lang="en-US" sz="2700" u="sng" kern="1200" dirty="0"/>
            <a:t> </a:t>
          </a:r>
          <a:r>
            <a:rPr lang="en-US" sz="2700" kern="1200" dirty="0"/>
            <a:t>between short-term needs and long-run risks of public debt</a:t>
          </a:r>
        </a:p>
      </dsp:txBody>
      <dsp:txXfrm>
        <a:off x="73731" y="1727260"/>
        <a:ext cx="6220450" cy="1362934"/>
      </dsp:txXfrm>
    </dsp:sp>
    <dsp:sp modelId="{0E66F634-82D9-4910-9E9D-359C01088179}">
      <dsp:nvSpPr>
        <dsp:cNvPr id="0" name=""/>
        <dsp:cNvSpPr/>
      </dsp:nvSpPr>
      <dsp:spPr>
        <a:xfrm>
          <a:off x="0" y="3241686"/>
          <a:ext cx="6367912" cy="1510396"/>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u="none" kern="1200" dirty="0"/>
            <a:t>Tough choices: </a:t>
          </a:r>
          <a:r>
            <a:rPr lang="en-US" sz="2700" kern="1200" dirty="0"/>
            <a:t>public expenditure priorities depend on the phase of the recovery</a:t>
          </a:r>
        </a:p>
      </dsp:txBody>
      <dsp:txXfrm>
        <a:off x="73731" y="3315417"/>
        <a:ext cx="6220450" cy="1362934"/>
      </dsp:txXfrm>
    </dsp:sp>
    <dsp:sp modelId="{0D2D3FB6-6FCB-436E-AB5D-219E55D5915C}">
      <dsp:nvSpPr>
        <dsp:cNvPr id="0" name=""/>
        <dsp:cNvSpPr/>
      </dsp:nvSpPr>
      <dsp:spPr>
        <a:xfrm>
          <a:off x="0" y="4829843"/>
          <a:ext cx="6367912" cy="1510396"/>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u="none" kern="1200" dirty="0"/>
            <a:t>Sunlight can help! </a:t>
          </a:r>
          <a:r>
            <a:rPr lang="en-US" sz="2700" kern="1200" dirty="0"/>
            <a:t>Transparency can help chart a path to lasting recovery for MENA</a:t>
          </a:r>
        </a:p>
      </dsp:txBody>
      <dsp:txXfrm>
        <a:off x="73731" y="4903574"/>
        <a:ext cx="6220450" cy="136293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DCCB891-F357-46F4-9B3B-5A1FAD10338C}">
      <dsp:nvSpPr>
        <dsp:cNvPr id="0" name=""/>
        <dsp:cNvSpPr/>
      </dsp:nvSpPr>
      <dsp:spPr>
        <a:xfrm>
          <a:off x="0" y="136045"/>
          <a:ext cx="6367912" cy="148802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dirty="0"/>
            <a:t>A Region Still In Crisis</a:t>
          </a:r>
          <a:r>
            <a:rPr lang="en-US" sz="2100" kern="1200" dirty="0"/>
            <a:t>: Quantifies the socio-economic pain</a:t>
          </a:r>
        </a:p>
      </dsp:txBody>
      <dsp:txXfrm>
        <a:off x="72639" y="208684"/>
        <a:ext cx="6222634" cy="1342742"/>
      </dsp:txXfrm>
    </dsp:sp>
    <dsp:sp modelId="{0CB6004F-D074-49DB-ADFA-3BF18BB52CB1}">
      <dsp:nvSpPr>
        <dsp:cNvPr id="0" name=""/>
        <dsp:cNvSpPr/>
      </dsp:nvSpPr>
      <dsp:spPr>
        <a:xfrm>
          <a:off x="0" y="1684545"/>
          <a:ext cx="6367912" cy="1488020"/>
        </a:xfrm>
        <a:prstGeom prst="roundRect">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dirty="0"/>
            <a:t>Walking the Debt Tightrope</a:t>
          </a:r>
          <a:r>
            <a:rPr lang="en-US" sz="2100" kern="1200" dirty="0"/>
            <a:t>: Articulates the tensions between immediate socio-economic needs and long-run risks in a region that already had high levels of debt in 2019</a:t>
          </a:r>
        </a:p>
      </dsp:txBody>
      <dsp:txXfrm>
        <a:off x="72639" y="1757184"/>
        <a:ext cx="6222634" cy="1342742"/>
      </dsp:txXfrm>
    </dsp:sp>
    <dsp:sp modelId="{B2AF7659-42A0-4D9B-914F-EB8D8F53052D}">
      <dsp:nvSpPr>
        <dsp:cNvPr id="0" name=""/>
        <dsp:cNvSpPr/>
      </dsp:nvSpPr>
      <dsp:spPr>
        <a:xfrm>
          <a:off x="0" y="3233046"/>
          <a:ext cx="6367912" cy="1488020"/>
        </a:xfrm>
        <a:prstGeom prst="roundRect">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dirty="0"/>
            <a:t>Tough Choices ahead</a:t>
          </a:r>
          <a:r>
            <a:rPr lang="en-US" sz="2100" kern="1200" dirty="0"/>
            <a:t>: Discusses priorities </a:t>
          </a:r>
          <a:r>
            <a:rPr lang="en-US" sz="2100" u="sng" kern="1200" dirty="0"/>
            <a:t>during </a:t>
          </a:r>
          <a:r>
            <a:rPr lang="en-US" sz="2100" kern="1200" dirty="0"/>
            <a:t>the pandemic, </a:t>
          </a:r>
          <a:r>
            <a:rPr lang="en-US" sz="2100" u="sng" kern="1200" dirty="0"/>
            <a:t>after </a:t>
          </a:r>
          <a:r>
            <a:rPr lang="en-US" sz="2100" kern="1200" dirty="0"/>
            <a:t>the pandemic, and </a:t>
          </a:r>
          <a:r>
            <a:rPr lang="en-US" sz="2100" u="sng" kern="1200" dirty="0"/>
            <a:t>beyond</a:t>
          </a:r>
          <a:endParaRPr lang="en-US" sz="2100" kern="1200" dirty="0"/>
        </a:p>
      </dsp:txBody>
      <dsp:txXfrm>
        <a:off x="72639" y="3305685"/>
        <a:ext cx="6222634" cy="1342742"/>
      </dsp:txXfrm>
    </dsp:sp>
    <dsp:sp modelId="{4F1BF5D5-3EC4-46A9-A9BD-274664B9C165}">
      <dsp:nvSpPr>
        <dsp:cNvPr id="0" name=""/>
        <dsp:cNvSpPr/>
      </dsp:nvSpPr>
      <dsp:spPr>
        <a:xfrm>
          <a:off x="0" y="4781547"/>
          <a:ext cx="6367912" cy="1488020"/>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a:t>Sunlight Can Help</a:t>
          </a:r>
          <a:r>
            <a:rPr lang="en-US" sz="2100" kern="1200"/>
            <a:t>: Highlights the role of institutions, especially transparency, in charting a path to recovery for the Middle East and North Africa</a:t>
          </a:r>
        </a:p>
      </dsp:txBody>
      <dsp:txXfrm>
        <a:off x="72639" y="4854186"/>
        <a:ext cx="6222634" cy="134274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B9A1728-F1FA-4AFC-B65D-ECA7A087D09A}">
      <dsp:nvSpPr>
        <dsp:cNvPr id="0" name=""/>
        <dsp:cNvSpPr/>
      </dsp:nvSpPr>
      <dsp:spPr>
        <a:xfrm>
          <a:off x="1273582" y="2001"/>
          <a:ext cx="5094330" cy="2051797"/>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8844" tIns="521157" rIns="98844" bIns="521157" numCol="1" spcCol="1270" anchor="t" anchorCtr="0">
          <a:noAutofit/>
        </a:bodyPr>
        <a:lstStyle/>
        <a:p>
          <a:pPr marL="0" lvl="0" indent="0" algn="l" defTabSz="711200">
            <a:lnSpc>
              <a:spcPct val="90000"/>
            </a:lnSpc>
            <a:spcBef>
              <a:spcPct val="0"/>
            </a:spcBef>
            <a:spcAft>
              <a:spcPct val="35000"/>
            </a:spcAft>
            <a:buNone/>
          </a:pPr>
          <a:r>
            <a:rPr lang="en-US" sz="1600" i="1" kern="1200"/>
            <a:t>Reduce costs, accelerate recovery</a:t>
          </a:r>
        </a:p>
        <a:p>
          <a:pPr marL="114300" lvl="1" indent="-114300" algn="l" defTabSz="533400">
            <a:lnSpc>
              <a:spcPct val="90000"/>
            </a:lnSpc>
            <a:spcBef>
              <a:spcPct val="0"/>
            </a:spcBef>
            <a:spcAft>
              <a:spcPct val="15000"/>
            </a:spcAft>
            <a:buFont typeface="Arial" panose="020B0604020202020204" pitchFamily="34" charset="0"/>
            <a:buChar char="•"/>
          </a:pPr>
          <a:endParaRPr lang="en-US" sz="1200" kern="1200"/>
        </a:p>
        <a:p>
          <a:pPr marL="114300" lvl="1" indent="-114300" algn="l" defTabSz="622300">
            <a:lnSpc>
              <a:spcPct val="90000"/>
            </a:lnSpc>
            <a:spcBef>
              <a:spcPct val="0"/>
            </a:spcBef>
            <a:spcAft>
              <a:spcPct val="15000"/>
            </a:spcAft>
            <a:buFont typeface="Arial" panose="020B0604020202020204" pitchFamily="34" charset="0"/>
            <a:buChar char="•"/>
          </a:pPr>
          <a:r>
            <a:rPr lang="en-US" sz="1400" kern="1200" dirty="0"/>
            <a:t>Public health surveillance and transparency can reduce costs of the pandemic.</a:t>
          </a:r>
        </a:p>
      </dsp:txBody>
      <dsp:txXfrm>
        <a:off x="1273582" y="2001"/>
        <a:ext cx="5094330" cy="2051797"/>
      </dsp:txXfrm>
    </dsp:sp>
    <dsp:sp modelId="{DFC569C3-C86F-4545-AB3C-673047233301}">
      <dsp:nvSpPr>
        <dsp:cNvPr id="0" name=""/>
        <dsp:cNvSpPr/>
      </dsp:nvSpPr>
      <dsp:spPr>
        <a:xfrm>
          <a:off x="0" y="2001"/>
          <a:ext cx="1273582" cy="2051797"/>
        </a:xfrm>
        <a:prstGeom prst="rect">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7394" tIns="202672" rIns="67394" bIns="202672" numCol="1" spcCol="1270" anchor="ctr" anchorCtr="0">
          <a:noAutofit/>
        </a:bodyPr>
        <a:lstStyle/>
        <a:p>
          <a:pPr marL="0" lvl="0" indent="0" algn="ctr" defTabSz="977900">
            <a:lnSpc>
              <a:spcPct val="90000"/>
            </a:lnSpc>
            <a:spcBef>
              <a:spcPct val="0"/>
            </a:spcBef>
            <a:spcAft>
              <a:spcPct val="35000"/>
            </a:spcAft>
            <a:buNone/>
          </a:pPr>
          <a:r>
            <a:rPr lang="en-US" sz="2200" kern="1200"/>
            <a:t>During the pandemic</a:t>
          </a:r>
        </a:p>
      </dsp:txBody>
      <dsp:txXfrm>
        <a:off x="0" y="2001"/>
        <a:ext cx="1273582" cy="2051797"/>
      </dsp:txXfrm>
    </dsp:sp>
    <dsp:sp modelId="{665E85F7-33A8-411A-A326-AE2900BBA4C4}">
      <dsp:nvSpPr>
        <dsp:cNvPr id="0" name=""/>
        <dsp:cNvSpPr/>
      </dsp:nvSpPr>
      <dsp:spPr>
        <a:xfrm>
          <a:off x="1273582" y="2176907"/>
          <a:ext cx="5094330" cy="2051797"/>
        </a:xfrm>
        <a:prstGeom prst="rect">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8844" tIns="521157" rIns="98844" bIns="521157" numCol="1" spcCol="1270" anchor="t" anchorCtr="0">
          <a:noAutofit/>
        </a:bodyPr>
        <a:lstStyle/>
        <a:p>
          <a:pPr marL="0" lvl="0" indent="0" algn="l" defTabSz="755650">
            <a:lnSpc>
              <a:spcPct val="90000"/>
            </a:lnSpc>
            <a:spcBef>
              <a:spcPct val="0"/>
            </a:spcBef>
            <a:spcAft>
              <a:spcPct val="35000"/>
            </a:spcAft>
            <a:buNone/>
          </a:pPr>
          <a:r>
            <a:rPr lang="en-US" sz="1700" i="1" kern="1200" dirty="0"/>
            <a:t>Raise investment’s impact</a:t>
          </a:r>
        </a:p>
        <a:p>
          <a:pPr marL="114300" lvl="1" indent="-114300" algn="l" defTabSz="622300">
            <a:lnSpc>
              <a:spcPct val="90000"/>
            </a:lnSpc>
            <a:spcBef>
              <a:spcPct val="0"/>
            </a:spcBef>
            <a:spcAft>
              <a:spcPct val="15000"/>
            </a:spcAft>
            <a:buChar char="•"/>
          </a:pPr>
          <a:r>
            <a:rPr lang="en-US" sz="1400" kern="1200" dirty="0"/>
            <a:t>Transparency in public investment decisions can raise its impact on economic activity (GDP)</a:t>
          </a:r>
          <a:endParaRPr lang="en-US" sz="1300" kern="1200" dirty="0"/>
        </a:p>
        <a:p>
          <a:pPr marL="114300" lvl="1" indent="-114300" algn="l" defTabSz="622300">
            <a:lnSpc>
              <a:spcPct val="90000"/>
            </a:lnSpc>
            <a:spcBef>
              <a:spcPct val="0"/>
            </a:spcBef>
            <a:spcAft>
              <a:spcPct val="15000"/>
            </a:spcAft>
            <a:buChar char="•"/>
          </a:pPr>
          <a:r>
            <a:rPr lang="en-US" sz="1400" kern="1200" dirty="0"/>
            <a:t>Public health surveillance and transparency can accelerate the post-pandemic rebound (e.g., tourism; hospitality industries).</a:t>
          </a:r>
        </a:p>
      </dsp:txBody>
      <dsp:txXfrm>
        <a:off x="1273582" y="2176907"/>
        <a:ext cx="5094330" cy="2051797"/>
      </dsp:txXfrm>
    </dsp:sp>
    <dsp:sp modelId="{E2765943-E65F-4E53-9A3B-7B81B76269D0}">
      <dsp:nvSpPr>
        <dsp:cNvPr id="0" name=""/>
        <dsp:cNvSpPr/>
      </dsp:nvSpPr>
      <dsp:spPr>
        <a:xfrm>
          <a:off x="0" y="2176907"/>
          <a:ext cx="1273582" cy="2051797"/>
        </a:xfrm>
        <a:prstGeom prst="rect">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7394" tIns="202672" rIns="67394" bIns="202672" numCol="1" spcCol="1270" anchor="ctr" anchorCtr="0">
          <a:noAutofit/>
        </a:bodyPr>
        <a:lstStyle/>
        <a:p>
          <a:pPr marL="0" lvl="0" indent="0" algn="ctr" defTabSz="977900">
            <a:lnSpc>
              <a:spcPct val="90000"/>
            </a:lnSpc>
            <a:spcBef>
              <a:spcPct val="0"/>
            </a:spcBef>
            <a:spcAft>
              <a:spcPct val="35000"/>
            </a:spcAft>
            <a:buNone/>
          </a:pPr>
          <a:r>
            <a:rPr lang="en-US" sz="2200" kern="1200"/>
            <a:t>As the pandemic subsides</a:t>
          </a:r>
        </a:p>
      </dsp:txBody>
      <dsp:txXfrm>
        <a:off x="0" y="2176907"/>
        <a:ext cx="1273582" cy="2051797"/>
      </dsp:txXfrm>
    </dsp:sp>
    <dsp:sp modelId="{D6E06639-06E4-409C-8477-ED871BEA6BD4}">
      <dsp:nvSpPr>
        <dsp:cNvPr id="0" name=""/>
        <dsp:cNvSpPr/>
      </dsp:nvSpPr>
      <dsp:spPr>
        <a:xfrm>
          <a:off x="1273582" y="4351813"/>
          <a:ext cx="5094330" cy="2051797"/>
        </a:xfrm>
        <a:prstGeom prst="rect">
          <a:avLst/>
        </a:prstGeom>
        <a:solidFill>
          <a:schemeClr val="accent4">
            <a:tint val="40000"/>
            <a:alpha val="90000"/>
            <a:hueOff val="0"/>
            <a:satOff val="0"/>
            <a:lumOff val="0"/>
            <a:alphaOff val="0"/>
          </a:schemeClr>
        </a:solidFill>
        <a:ln w="1270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8844" tIns="521157" rIns="98844" bIns="521157" numCol="1" spcCol="1270" anchor="t" anchorCtr="0">
          <a:noAutofit/>
        </a:bodyPr>
        <a:lstStyle/>
        <a:p>
          <a:pPr marL="0" lvl="0" indent="0" algn="l" defTabSz="800100">
            <a:lnSpc>
              <a:spcPct val="90000"/>
            </a:lnSpc>
            <a:spcBef>
              <a:spcPct val="0"/>
            </a:spcBef>
            <a:spcAft>
              <a:spcPct val="35000"/>
            </a:spcAft>
            <a:buNone/>
          </a:pPr>
          <a:r>
            <a:rPr lang="en-US" sz="1800" i="1" kern="1200"/>
            <a:t>Reduce costs, reduce risk</a:t>
          </a:r>
        </a:p>
        <a:p>
          <a:pPr marL="114300" lvl="1" indent="-114300" algn="l" defTabSz="622300">
            <a:lnSpc>
              <a:spcPct val="90000"/>
            </a:lnSpc>
            <a:spcBef>
              <a:spcPct val="0"/>
            </a:spcBef>
            <a:spcAft>
              <a:spcPct val="15000"/>
            </a:spcAft>
            <a:buChar char="•"/>
          </a:pPr>
          <a:r>
            <a:rPr lang="en-US" sz="1400" kern="1200"/>
            <a:t>Transparency can reduce borrowing costs. Good governance can reduce the risks of debt distress.</a:t>
          </a:r>
        </a:p>
      </dsp:txBody>
      <dsp:txXfrm>
        <a:off x="1273582" y="4351813"/>
        <a:ext cx="5094330" cy="2051797"/>
      </dsp:txXfrm>
    </dsp:sp>
    <dsp:sp modelId="{99B1EDDE-D583-4619-BA85-DFA1F91F19D1}">
      <dsp:nvSpPr>
        <dsp:cNvPr id="0" name=""/>
        <dsp:cNvSpPr/>
      </dsp:nvSpPr>
      <dsp:spPr>
        <a:xfrm>
          <a:off x="0" y="4351813"/>
          <a:ext cx="1273582" cy="2051797"/>
        </a:xfrm>
        <a:prstGeom prst="rect">
          <a:avLst/>
        </a:prstGeom>
        <a:solidFill>
          <a:schemeClr val="accent4">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7394" tIns="202672" rIns="67394" bIns="202672" numCol="1" spcCol="1270" anchor="ctr" anchorCtr="0">
          <a:noAutofit/>
        </a:bodyPr>
        <a:lstStyle/>
        <a:p>
          <a:pPr marL="0" lvl="0" indent="0" algn="ctr" defTabSz="977900">
            <a:lnSpc>
              <a:spcPct val="90000"/>
            </a:lnSpc>
            <a:spcBef>
              <a:spcPct val="0"/>
            </a:spcBef>
            <a:spcAft>
              <a:spcPct val="35000"/>
            </a:spcAft>
            <a:buNone/>
          </a:pPr>
          <a:r>
            <a:rPr lang="en-US" sz="2200" kern="1200"/>
            <a:t>After the pandemic</a:t>
          </a:r>
        </a:p>
      </dsp:txBody>
      <dsp:txXfrm>
        <a:off x="0" y="4351813"/>
        <a:ext cx="1273582" cy="2051797"/>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16/7/layout/VerticalSolidActionList">
  <dgm:title val="Vertical Solid Action List"/>
  <dgm:desc val="Use to show non-sequential or grouped lists of information. Works well with large amounts of text. All text has the same level of emphasis, and direction is not implied."/>
  <dgm:catLst>
    <dgm:cat type="list"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 modelId="5">
          <dgm:prSet phldr="1"/>
        </dgm:pt>
        <dgm:pt modelId="51">
          <dgm:prSet phldr="1"/>
        </dgm:pt>
      </dgm:ptLst>
      <dgm:cxnLst>
        <dgm:cxn modelId="4" srcId="0" destId="1" srcOrd="0" destOrd="0"/>
        <dgm:cxn modelId="5" srcId="0" destId="2" srcOrd="1" destOrd="0"/>
        <dgm:cxn modelId="6" srcId="0" destId="3" srcOrd="2" destOrd="0"/>
        <dgm:cxn modelId="7" srcId="0" destId="4" srcOrd="3" destOrd="0"/>
        <dgm:cxn modelId="8" srcId="0" destId="5" srcOrd="4" destOrd="0"/>
        <dgm:cxn modelId="13" srcId="1" destId="11" srcOrd="0" destOrd="0"/>
        <dgm:cxn modelId="23" srcId="2" destId="21" srcOrd="0" destOrd="0"/>
        <dgm:cxn modelId="33" srcId="3" destId="31" srcOrd="0" destOrd="0"/>
        <dgm:cxn modelId="43" srcId="4" destId="41" srcOrd="0" destOrd="0"/>
        <dgm:cxn modelId="53" srcId="5" destId="5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6"/>
      <dgm:constr type="primFontSz" for="des" forName="parentText" op="equ" val="28"/>
      <dgm:constr type="primFontSz" for="des" forName="descendantText" refType="primFontSz" refFor="des" refForName="parentText" op="lte" fact="0.82"/>
      <dgm:constr type="primFontSz" for="des" forName="parentText" refType="primFontSz" refFor="des" refForName="descendantText" op="lte" fact="1.25"/>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2"/>
          <dgm:constr type="w" for="ch" forName="descendantText" refType="w" fact="0.8"/>
          <dgm:constr type="h" for="ch" forName="parentText" refType="h"/>
          <dgm:constr type="h" for="ch" forName="descendantText" refType="h" refFor="ch" refForName="parentText"/>
        </dgm:constrLst>
        <dgm:ruleLst/>
        <dgm:layoutNode name="parentText" styleLbl="alignNode1">
          <dgm:varLst>
            <dgm:chMax val="1"/>
            <dgm:bulletEnabled/>
          </dgm:varLst>
          <dgm:alg type="tx"/>
          <dgm:shape xmlns:r="http://schemas.openxmlformats.org/officeDocument/2006/relationships" type="rect" r:blip="" zOrderOff="3">
            <dgm:adjLst/>
          </dgm:shape>
          <dgm:presOf axis="self" ptType="node"/>
          <dgm:constrLst>
            <dgm:constr type="tMarg" refType="h" fact="0.28"/>
            <dgm:constr type="bMarg" refType="h" fact="0.28"/>
            <dgm:constr type="lMarg" refType="w" fact="0.15"/>
            <dgm:constr type="rMarg" refType="w" fact="0.15"/>
          </dgm:constrLst>
          <dgm:ruleLst>
            <dgm:rule type="primFontSz" val="15" fact="NaN" max="NaN"/>
          </dgm:ruleLst>
        </dgm:layoutNode>
        <dgm:layoutNode name="descendantText" styleLbl="alignAccFollowNode1">
          <dgm:varLst>
            <dgm:bulletEnabled/>
          </dgm:varLst>
          <dgm:alg type="tx">
            <dgm:param type="stBulletLvl" val="0"/>
            <dgm:param type="parTxLTRAlign" val="l"/>
            <dgm:param type="shpTxLTRAlignCh" val="l"/>
            <dgm:param type="parTxRTLAlign" val="r"/>
            <dgm:param type="shpTxRTLAlignCh" val="r"/>
          </dgm:alg>
          <dgm:choose name="Name10">
            <dgm:if name="Name11" func="var" arg="dir" op="equ" val="norm">
              <dgm:shape xmlns:r="http://schemas.openxmlformats.org/officeDocument/2006/relationships" type="rect" r:blip="">
                <dgm:adjLst/>
              </dgm:shape>
            </dgm:if>
            <dgm:else name="Name12">
              <dgm:shape xmlns:r="http://schemas.openxmlformats.org/officeDocument/2006/relationships" type="rect" r:blip="">
                <dgm:adjLst/>
              </dgm:shape>
            </dgm:else>
          </dgm:choose>
          <dgm:presOf axis="des" ptType="node"/>
          <dgm:constrLst>
            <dgm:constr type="primFontSz" val="24"/>
            <dgm:constr type="lMarg" refType="w" fact="0.055"/>
            <dgm:constr type="rMarg" refType="w" fact="0.055"/>
            <dgm:constr type="tMarg" refType="h" fact="0.72"/>
            <dgm:constr type="bMarg" refType="h" fact="0.72"/>
          </dgm:constrLst>
          <dgm:ruleLst>
            <dgm:rule type="primFontSz" val="11" fact="NaN" max="NaN"/>
          </dgm:ruleLst>
        </dgm:layoutNod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0.18611</cdr:x>
      <cdr:y>0</cdr:y>
    </cdr:from>
    <cdr:to>
      <cdr:x>0.8504</cdr:x>
      <cdr:y>0.05908</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995363" y="0"/>
          <a:ext cx="3552825" cy="381000"/>
        </a:xfrm>
        <a:prstGeom xmlns:a="http://schemas.openxmlformats.org/drawingml/2006/main" prst="rect">
          <a:avLst/>
        </a:prstGeom>
        <a:solidFill xmlns:a="http://schemas.openxmlformats.org/drawingml/2006/main">
          <a:sysClr val="window" lastClr="FFFFFF"/>
        </a:solidFill>
      </cdr:spPr>
      <cdr:txBody>
        <a:bodyPr xmlns:a="http://schemas.openxmlformats.org/drawingml/2006/main" vertOverflow="clip" wrap="square" rtlCol="0"/>
        <a:lstStyle xmlns:a="http://schemas.openxmlformats.org/drawingml/2006/main"/>
        <a:p xmlns:a="http://schemas.openxmlformats.org/drawingml/2006/main">
          <a:pPr algn="ctr"/>
          <a:r>
            <a:rPr lang="en-US" sz="1400" b="1" dirty="0"/>
            <a:t>GDP </a:t>
          </a:r>
          <a:r>
            <a:rPr lang="en-US" sz="1400" b="1" i="1" dirty="0">
              <a:solidFill>
                <a:schemeClr val="accent1"/>
              </a:solidFill>
            </a:rPr>
            <a:t>per capita level - </a:t>
          </a:r>
          <a:r>
            <a:rPr lang="en-US" sz="1400" b="1" dirty="0"/>
            <a:t>MENA</a:t>
          </a:r>
        </a:p>
      </cdr:txBody>
    </cdr:sp>
  </cdr:relSizeAnchor>
  <cdr:relSizeAnchor xmlns:cdr="http://schemas.openxmlformats.org/drawingml/2006/chartDrawing">
    <cdr:from>
      <cdr:x>0.84479</cdr:x>
      <cdr:y>0.44667</cdr:y>
    </cdr:from>
    <cdr:to>
      <cdr:x>1</cdr:x>
      <cdr:y>0.54272</cdr:y>
    </cdr:to>
    <cdr:sp macro="" textlink="">
      <cdr:nvSpPr>
        <cdr:cNvPr id="3" name="TextBox 6">
          <a:extLst xmlns:a="http://schemas.openxmlformats.org/drawingml/2006/main">
            <a:ext uri="{FF2B5EF4-FFF2-40B4-BE49-F238E27FC236}">
              <a16:creationId xmlns:a16="http://schemas.microsoft.com/office/drawing/2014/main" id="{6E3F0EB0-2398-4B72-97CF-D4BF8C775E6B}"/>
            </a:ext>
          </a:extLst>
        </cdr:cNvPr>
        <cdr:cNvSpPr txBox="1"/>
      </cdr:nvSpPr>
      <cdr:spPr>
        <a:xfrm xmlns:a="http://schemas.openxmlformats.org/drawingml/2006/main">
          <a:off x="3629028" y="1717569"/>
          <a:ext cx="666747" cy="369332"/>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r"/>
          <a:r>
            <a:rPr lang="en-US" sz="1800" dirty="0">
              <a:solidFill>
                <a:srgbClr val="FF0000"/>
              </a:solidFill>
            </a:rPr>
            <a:t>7.0%</a:t>
          </a:r>
        </a:p>
      </cdr:txBody>
    </cdr:sp>
  </cdr:relSizeAnchor>
  <cdr:relSizeAnchor xmlns:cdr="http://schemas.openxmlformats.org/drawingml/2006/chartDrawing">
    <cdr:from>
      <cdr:x>0.85145</cdr:x>
      <cdr:y>0.37938</cdr:y>
    </cdr:from>
    <cdr:to>
      <cdr:x>0.85145</cdr:x>
      <cdr:y>0.55772</cdr:y>
    </cdr:to>
    <cdr:cxnSp macro="">
      <cdr:nvCxnSpPr>
        <cdr:cNvPr id="4" name="Straight Arrow Connector 3">
          <a:extLst xmlns:a="http://schemas.openxmlformats.org/drawingml/2006/main">
            <a:ext uri="{FF2B5EF4-FFF2-40B4-BE49-F238E27FC236}">
              <a16:creationId xmlns:a16="http://schemas.microsoft.com/office/drawing/2014/main" id="{3B2314C3-6391-4666-A0A0-309B011A0A5E}"/>
            </a:ext>
          </a:extLst>
        </cdr:cNvPr>
        <cdr:cNvCxnSpPr/>
      </cdr:nvCxnSpPr>
      <cdr:spPr>
        <a:xfrm xmlns:a="http://schemas.openxmlformats.org/drawingml/2006/main">
          <a:off x="3657653" y="1458832"/>
          <a:ext cx="0" cy="685773"/>
        </a:xfrm>
        <a:prstGeom xmlns:a="http://schemas.openxmlformats.org/drawingml/2006/main" prst="straightConnector1">
          <a:avLst/>
        </a:prstGeom>
        <a:ln xmlns:a="http://schemas.openxmlformats.org/drawingml/2006/main" w="28575">
          <a:solidFill>
            <a:srgbClr val="FF0000"/>
          </a:solidFill>
          <a:headEnd type="triangle"/>
          <a:tailEnd type="triangle"/>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2.xml><?xml version="1.0" encoding="utf-8"?>
<c:userShapes xmlns:c="http://schemas.openxmlformats.org/drawingml/2006/chart">
  <cdr:relSizeAnchor xmlns:cdr="http://schemas.openxmlformats.org/drawingml/2006/chartDrawing">
    <cdr:from>
      <cdr:x>0.18611</cdr:x>
      <cdr:y>0</cdr:y>
    </cdr:from>
    <cdr:to>
      <cdr:x>0.8504</cdr:x>
      <cdr:y>0.05908</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995363" y="0"/>
          <a:ext cx="3552825" cy="381000"/>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400" b="1" dirty="0"/>
            <a:t>GDP </a:t>
          </a:r>
          <a:r>
            <a:rPr lang="en-US" sz="1400" b="1" i="1" dirty="0">
              <a:solidFill>
                <a:schemeClr val="accent1"/>
              </a:solidFill>
            </a:rPr>
            <a:t>level-</a:t>
          </a:r>
          <a:r>
            <a:rPr lang="en-US" sz="1400" b="1" dirty="0"/>
            <a:t> MENA</a:t>
          </a:r>
        </a:p>
      </cdr:txBody>
    </cdr:sp>
  </cdr:relSizeAnchor>
  <cdr:relSizeAnchor xmlns:cdr="http://schemas.openxmlformats.org/drawingml/2006/chartDrawing">
    <cdr:from>
      <cdr:x>0.8415</cdr:x>
      <cdr:y>0.31509</cdr:y>
    </cdr:from>
    <cdr:to>
      <cdr:x>0.99671</cdr:x>
      <cdr:y>0.40756</cdr:y>
    </cdr:to>
    <cdr:sp macro="" textlink="">
      <cdr:nvSpPr>
        <cdr:cNvPr id="3" name="TextBox 6">
          <a:extLst xmlns:a="http://schemas.openxmlformats.org/drawingml/2006/main">
            <a:ext uri="{FF2B5EF4-FFF2-40B4-BE49-F238E27FC236}">
              <a16:creationId xmlns:a16="http://schemas.microsoft.com/office/drawing/2014/main" id="{19620901-91DD-48F9-985B-6E44E6504231}"/>
            </a:ext>
          </a:extLst>
        </cdr:cNvPr>
        <cdr:cNvSpPr txBox="1"/>
      </cdr:nvSpPr>
      <cdr:spPr>
        <a:xfrm xmlns:a="http://schemas.openxmlformats.org/drawingml/2006/main">
          <a:off x="3614898" y="1258481"/>
          <a:ext cx="666750" cy="369332"/>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r>
            <a:rPr lang="en-US" dirty="0">
              <a:solidFill>
                <a:srgbClr val="FF0000"/>
              </a:solidFill>
            </a:rPr>
            <a:t>7.2%</a:t>
          </a:r>
        </a:p>
      </cdr:txBody>
    </cdr:sp>
  </cdr:relSizeAnchor>
  <cdr:relSizeAnchor xmlns:cdr="http://schemas.openxmlformats.org/drawingml/2006/chartDrawing">
    <cdr:from>
      <cdr:x>0.83417</cdr:x>
      <cdr:y>0.2794</cdr:y>
    </cdr:from>
    <cdr:to>
      <cdr:x>0.83417</cdr:x>
      <cdr:y>0.4511</cdr:y>
    </cdr:to>
    <cdr:cxnSp macro="">
      <cdr:nvCxnSpPr>
        <cdr:cNvPr id="4" name="Straight Arrow Connector 3">
          <a:extLst xmlns:a="http://schemas.openxmlformats.org/drawingml/2006/main">
            <a:ext uri="{FF2B5EF4-FFF2-40B4-BE49-F238E27FC236}">
              <a16:creationId xmlns:a16="http://schemas.microsoft.com/office/drawing/2014/main" id="{BE70F63A-6447-4C1E-AE94-F3AA7D169B84}"/>
            </a:ext>
          </a:extLst>
        </cdr:cNvPr>
        <cdr:cNvCxnSpPr/>
      </cdr:nvCxnSpPr>
      <cdr:spPr>
        <a:xfrm xmlns:a="http://schemas.openxmlformats.org/drawingml/2006/main">
          <a:off x="3583393" y="1115919"/>
          <a:ext cx="0" cy="685800"/>
        </a:xfrm>
        <a:prstGeom xmlns:a="http://schemas.openxmlformats.org/drawingml/2006/main" prst="straightConnector1">
          <a:avLst/>
        </a:prstGeom>
        <a:ln xmlns:a="http://schemas.openxmlformats.org/drawingml/2006/main" w="28575">
          <a:solidFill>
            <a:srgbClr val="FF0000"/>
          </a:solidFill>
          <a:headEnd type="triangle"/>
          <a:tailEnd type="triangle"/>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3.xml><?xml version="1.0" encoding="utf-8"?>
<c:userShapes xmlns:c="http://schemas.openxmlformats.org/drawingml/2006/chart">
  <cdr:relSizeAnchor xmlns:cdr="http://schemas.openxmlformats.org/drawingml/2006/chartDrawing">
    <cdr:from>
      <cdr:x>0.18611</cdr:x>
      <cdr:y>0</cdr:y>
    </cdr:from>
    <cdr:to>
      <cdr:x>0.8504</cdr:x>
      <cdr:y>0.05908</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995363" y="0"/>
          <a:ext cx="3552825" cy="381000"/>
        </a:xfrm>
        <a:prstGeom xmlns:a="http://schemas.openxmlformats.org/drawingml/2006/main" prst="rect">
          <a:avLst/>
        </a:prstGeom>
        <a:solidFill xmlns:a="http://schemas.openxmlformats.org/drawingml/2006/main">
          <a:sysClr val="window" lastClr="FFFFFF"/>
        </a:solidFill>
      </cdr:spPr>
      <cdr:txBody>
        <a:bodyPr xmlns:a="http://schemas.openxmlformats.org/drawingml/2006/main" vertOverflow="clip" wrap="square" rtlCol="0"/>
        <a:lstStyle xmlns:a="http://schemas.openxmlformats.org/drawingml/2006/main"/>
        <a:p xmlns:a="http://schemas.openxmlformats.org/drawingml/2006/main">
          <a:pPr algn="ctr"/>
          <a:r>
            <a:rPr lang="en-US" sz="1200" b="1" dirty="0"/>
            <a:t>Panel A: MENA</a:t>
          </a:r>
        </a:p>
      </cdr:txBody>
    </cdr:sp>
  </cdr:relSizeAnchor>
</c:userShapes>
</file>

<file path=ppt/drawings/drawing4.xml><?xml version="1.0" encoding="utf-8"?>
<c:userShapes xmlns:c="http://schemas.openxmlformats.org/drawingml/2006/chart">
  <cdr:relSizeAnchor xmlns:cdr="http://schemas.openxmlformats.org/drawingml/2006/chartDrawing">
    <cdr:from>
      <cdr:x>0.08802</cdr:x>
      <cdr:y>0</cdr:y>
    </cdr:from>
    <cdr:to>
      <cdr:x>0.94138</cdr:x>
      <cdr:y>0.07194</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257541" y="0"/>
          <a:ext cx="2497016" cy="296008"/>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200" b="1" dirty="0"/>
            <a:t>Panel B: MENA Country Groups</a:t>
          </a:r>
        </a:p>
      </cdr:txBody>
    </cdr:sp>
  </cdr:relSizeAnchor>
</c:userShapes>
</file>

<file path=ppt/drawings/drawing5.xml><?xml version="1.0" encoding="utf-8"?>
<c:userShapes xmlns:c="http://schemas.openxmlformats.org/drawingml/2006/chart">
  <cdr:relSizeAnchor xmlns:cdr="http://schemas.openxmlformats.org/drawingml/2006/chartDrawing">
    <cdr:from>
      <cdr:x>0</cdr:x>
      <cdr:y>0.81653</cdr:y>
    </cdr:from>
    <cdr:to>
      <cdr:x>1</cdr:x>
      <cdr:y>1</cdr:y>
    </cdr:to>
    <cdr:sp macro="" textlink="">
      <cdr:nvSpPr>
        <cdr:cNvPr id="4" name="TextBox 3">
          <a:extLst xmlns:a="http://schemas.openxmlformats.org/drawingml/2006/main">
            <a:ext uri="{FF2B5EF4-FFF2-40B4-BE49-F238E27FC236}">
              <a16:creationId xmlns:a16="http://schemas.microsoft.com/office/drawing/2014/main" id="{2A63A459-9966-4CFF-9112-DF10CA8D8FDE}"/>
            </a:ext>
          </a:extLst>
        </cdr:cNvPr>
        <cdr:cNvSpPr txBox="1"/>
      </cdr:nvSpPr>
      <cdr:spPr>
        <a:xfrm xmlns:a="http://schemas.openxmlformats.org/drawingml/2006/main">
          <a:off x="0" y="3857625"/>
          <a:ext cx="6167439" cy="86677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000"/>
        </a:p>
      </cdr:txBody>
    </cdr:sp>
  </cdr:relSizeAnchor>
</c:userShapes>
</file>

<file path=ppt/drawings/drawing6.xml><?xml version="1.0" encoding="utf-8"?>
<c:userShapes xmlns:c="http://schemas.openxmlformats.org/drawingml/2006/chart">
  <cdr:relSizeAnchor xmlns:cdr="http://schemas.openxmlformats.org/drawingml/2006/chartDrawing">
    <cdr:from>
      <cdr:x>0.4981</cdr:x>
      <cdr:y>0</cdr:y>
    </cdr:from>
    <cdr:to>
      <cdr:x>0.5038</cdr:x>
      <cdr:y>0.76174</cdr:y>
    </cdr:to>
    <cdr:cxnSp macro="">
      <cdr:nvCxnSpPr>
        <cdr:cNvPr id="3" name="Straight Connector 2">
          <a:extLst xmlns:a="http://schemas.openxmlformats.org/drawingml/2006/main">
            <a:ext uri="{FF2B5EF4-FFF2-40B4-BE49-F238E27FC236}">
              <a16:creationId xmlns:a16="http://schemas.microsoft.com/office/drawing/2014/main" id="{413F15E9-10C3-4989-90D7-9CF81FAA91CC}"/>
            </a:ext>
          </a:extLst>
        </cdr:cNvPr>
        <cdr:cNvCxnSpPr/>
      </cdr:nvCxnSpPr>
      <cdr:spPr>
        <a:xfrm xmlns:a="http://schemas.openxmlformats.org/drawingml/2006/main" flipH="1">
          <a:off x="2495550" y="0"/>
          <a:ext cx="28575" cy="2162175"/>
        </a:xfrm>
        <a:prstGeom xmlns:a="http://schemas.openxmlformats.org/drawingml/2006/main" prst="line">
          <a:avLst/>
        </a:prstGeom>
        <a:ln xmlns:a="http://schemas.openxmlformats.org/drawingml/2006/main" w="19050">
          <a:solidFill>
            <a:schemeClr val="tx1"/>
          </a:solidFill>
          <a:prstDash val="dash"/>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7.xml><?xml version="1.0" encoding="utf-8"?>
<c:userShapes xmlns:c="http://schemas.openxmlformats.org/drawingml/2006/chart">
  <cdr:relSizeAnchor xmlns:cdr="http://schemas.openxmlformats.org/drawingml/2006/chartDrawing">
    <cdr:from>
      <cdr:x>0.17708</cdr:x>
      <cdr:y>0.01042</cdr:y>
    </cdr:from>
    <cdr:to>
      <cdr:x>0.86875</cdr:x>
      <cdr:y>0.06514</cdr:y>
    </cdr:to>
    <cdr:sp macro="" textlink="">
      <cdr:nvSpPr>
        <cdr:cNvPr id="2" name="TextBox 1">
          <a:extLst xmlns:a="http://schemas.openxmlformats.org/drawingml/2006/main">
            <a:ext uri="{FF2B5EF4-FFF2-40B4-BE49-F238E27FC236}">
              <a16:creationId xmlns:a16="http://schemas.microsoft.com/office/drawing/2014/main" id="{284B09DB-C7B7-4060-BFBC-3237AC01DDFB}"/>
            </a:ext>
          </a:extLst>
        </cdr:cNvPr>
        <cdr:cNvSpPr txBox="1"/>
      </cdr:nvSpPr>
      <cdr:spPr>
        <a:xfrm xmlns:a="http://schemas.openxmlformats.org/drawingml/2006/main">
          <a:off x="1052493" y="65520"/>
          <a:ext cx="4111010" cy="344056"/>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100" b="1" dirty="0">
              <a:solidFill>
                <a:sysClr val="windowText" lastClr="000000"/>
              </a:solidFill>
            </a:rPr>
            <a:t>Panel A: Difference in GDP</a:t>
          </a:r>
          <a:r>
            <a:rPr lang="en-US" sz="1100" b="1" baseline="0" dirty="0">
              <a:solidFill>
                <a:sysClr val="windowText" lastClr="000000"/>
              </a:solidFill>
            </a:rPr>
            <a:t> Growth (percentage)</a:t>
          </a:r>
          <a:endParaRPr lang="en-US" sz="1100" b="1" dirty="0">
            <a:solidFill>
              <a:sysClr val="windowText" lastClr="000000"/>
            </a:solidFill>
          </a:endParaRPr>
        </a:p>
      </cdr:txBody>
    </cdr:sp>
  </cdr:relSizeAnchor>
  <cdr:relSizeAnchor xmlns:cdr="http://schemas.openxmlformats.org/drawingml/2006/chartDrawing">
    <cdr:from>
      <cdr:x>0</cdr:x>
      <cdr:y>0.66958</cdr:y>
    </cdr:from>
    <cdr:to>
      <cdr:x>1</cdr:x>
      <cdr:y>0.99252</cdr:y>
    </cdr:to>
    <cdr:sp macro="" textlink="">
      <cdr:nvSpPr>
        <cdr:cNvPr id="3" name="TextBox 2">
          <a:extLst xmlns:a="http://schemas.openxmlformats.org/drawingml/2006/main">
            <a:ext uri="{FF2B5EF4-FFF2-40B4-BE49-F238E27FC236}">
              <a16:creationId xmlns:a16="http://schemas.microsoft.com/office/drawing/2014/main" id="{99C8B98F-4337-4394-86D1-79F6259274D2}"/>
            </a:ext>
          </a:extLst>
        </cdr:cNvPr>
        <cdr:cNvSpPr txBox="1"/>
      </cdr:nvSpPr>
      <cdr:spPr>
        <a:xfrm xmlns:a="http://schemas.openxmlformats.org/drawingml/2006/main">
          <a:off x="0" y="2914650"/>
          <a:ext cx="5438775" cy="140571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000">
            <a:effectLst/>
          </a:endParaRPr>
        </a:p>
      </cdr:txBody>
    </cdr:sp>
  </cdr:relSizeAnchor>
</c:userShapes>
</file>

<file path=ppt/drawings/drawing8.xml><?xml version="1.0" encoding="utf-8"?>
<c:userShapes xmlns:c="http://schemas.openxmlformats.org/drawingml/2006/chart">
  <cdr:relSizeAnchor xmlns:cdr="http://schemas.openxmlformats.org/drawingml/2006/chartDrawing">
    <cdr:from>
      <cdr:x>0.17708</cdr:x>
      <cdr:y>0.01042</cdr:y>
    </cdr:from>
    <cdr:to>
      <cdr:x>0.86875</cdr:x>
      <cdr:y>0.13889</cdr:y>
    </cdr:to>
    <cdr:sp macro="" textlink="">
      <cdr:nvSpPr>
        <cdr:cNvPr id="2" name="TextBox 1">
          <a:extLst xmlns:a="http://schemas.openxmlformats.org/drawingml/2006/main">
            <a:ext uri="{FF2B5EF4-FFF2-40B4-BE49-F238E27FC236}">
              <a16:creationId xmlns:a16="http://schemas.microsoft.com/office/drawing/2014/main" id="{284B09DB-C7B7-4060-BFBC-3237AC01DDFB}"/>
            </a:ext>
          </a:extLst>
        </cdr:cNvPr>
        <cdr:cNvSpPr txBox="1"/>
      </cdr:nvSpPr>
      <cdr:spPr>
        <a:xfrm xmlns:a="http://schemas.openxmlformats.org/drawingml/2006/main">
          <a:off x="809625" y="28575"/>
          <a:ext cx="3162300" cy="35242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100" b="1">
              <a:solidFill>
                <a:sysClr val="windowText" lastClr="000000"/>
              </a:solidFill>
            </a:rPr>
            <a:t>Panel B: Difference in Governance (score)</a:t>
          </a:r>
        </a:p>
      </cdr:txBody>
    </cdr:sp>
  </cdr:relSizeAnchor>
  <cdr:relSizeAnchor xmlns:cdr="http://schemas.openxmlformats.org/drawingml/2006/chartDrawing">
    <cdr:from>
      <cdr:x>0</cdr:x>
      <cdr:y>0.65567</cdr:y>
    </cdr:from>
    <cdr:to>
      <cdr:x>1</cdr:x>
      <cdr:y>1</cdr:y>
    </cdr:to>
    <cdr:sp macro="" textlink="">
      <cdr:nvSpPr>
        <cdr:cNvPr id="3" name="TextBox 2">
          <a:extLst xmlns:a="http://schemas.openxmlformats.org/drawingml/2006/main">
            <a:ext uri="{FF2B5EF4-FFF2-40B4-BE49-F238E27FC236}">
              <a16:creationId xmlns:a16="http://schemas.microsoft.com/office/drawing/2014/main" id="{99C8B98F-4337-4394-86D1-79F6259274D2}"/>
            </a:ext>
          </a:extLst>
        </cdr:cNvPr>
        <cdr:cNvSpPr txBox="1"/>
      </cdr:nvSpPr>
      <cdr:spPr>
        <a:xfrm xmlns:a="http://schemas.openxmlformats.org/drawingml/2006/main">
          <a:off x="0" y="3028950"/>
          <a:ext cx="5943600" cy="159067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marL="0" marR="0" lvl="0" indent="0" defTabSz="914400" eaLnBrk="1" fontAlgn="auto" latinLnBrk="0" hangingPunct="1">
            <a:lnSpc>
              <a:spcPct val="100000"/>
            </a:lnSpc>
            <a:spcBef>
              <a:spcPts val="0"/>
            </a:spcBef>
            <a:spcAft>
              <a:spcPts val="0"/>
            </a:spcAft>
            <a:buClrTx/>
            <a:buSzTx/>
            <a:buFontTx/>
            <a:buNone/>
            <a:tabLst/>
            <a:defRPr/>
          </a:pPr>
          <a:endParaRPr lang="en-US" sz="1000">
            <a:effectLst/>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230F53-2CC1-4A92-9044-EA0DFE640481}" type="datetimeFigureOut">
              <a:rPr lang="en-US" smtClean="0"/>
              <a:t>5/29/2021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792BB6-533F-41D9-970B-734BC0E321AA}" type="slidenum">
              <a:rPr lang="en-US" smtClean="0"/>
              <a:t>‹#›</a:t>
            </a:fld>
            <a:endParaRPr lang="en-US"/>
          </a:p>
        </p:txBody>
      </p:sp>
    </p:spTree>
    <p:extLst>
      <p:ext uri="{BB962C8B-B14F-4D97-AF65-F5344CB8AC3E}">
        <p14:creationId xmlns:p14="http://schemas.microsoft.com/office/powerpoint/2010/main" val="9986683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very much Roberta, for the very kind introduction. Good morning, good afternoon, and good evening. </a:t>
            </a:r>
          </a:p>
          <a:p>
            <a:r>
              <a:rPr lang="en-US" dirty="0"/>
              <a:t>This is my great honor and pleasure to be here, jointly with Ha, on behalf of the MENA Economic Update team, to present to you our semi-annual flagship report MENA Economic Update, April 2021. </a:t>
            </a:r>
          </a:p>
          <a:p>
            <a:r>
              <a:rPr lang="en-US" dirty="0"/>
              <a:t>Please allow me to start with a big thank you to the team.</a:t>
            </a:r>
          </a:p>
        </p:txBody>
      </p:sp>
      <p:sp>
        <p:nvSpPr>
          <p:cNvPr id="4" name="Slide Number Placeholder 3"/>
          <p:cNvSpPr>
            <a:spLocks noGrp="1"/>
          </p:cNvSpPr>
          <p:nvPr>
            <p:ph type="sldNum" sz="quarter" idx="5"/>
          </p:nvPr>
        </p:nvSpPr>
        <p:spPr/>
        <p:txBody>
          <a:bodyPr/>
          <a:lstStyle/>
          <a:p>
            <a:fld id="{47792BB6-533F-41D9-970B-734BC0E321AA}" type="slidenum">
              <a:rPr lang="en-US" smtClean="0"/>
              <a:t>1</a:t>
            </a:fld>
            <a:endParaRPr lang="en-US"/>
          </a:p>
        </p:txBody>
      </p:sp>
    </p:spTree>
    <p:extLst>
      <p:ext uri="{BB962C8B-B14F-4D97-AF65-F5344CB8AC3E}">
        <p14:creationId xmlns:p14="http://schemas.microsoft.com/office/powerpoint/2010/main" val="35781700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want to thank the team, Roberta, Daniel, Ha, Asif, Claudio, Sultan, for their incredibly hard work in this production.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Thank Daniel for his intellectual leadership.</a:t>
            </a:r>
          </a:p>
          <a:p>
            <a:r>
              <a:rPr lang="en-US" dirty="0"/>
              <a:t>We want to thank Roberta, our chief economist, for her push for the institutions and transparency angle</a:t>
            </a:r>
          </a:p>
        </p:txBody>
      </p:sp>
      <p:sp>
        <p:nvSpPr>
          <p:cNvPr id="4" name="Slide Number Placeholder 3"/>
          <p:cNvSpPr>
            <a:spLocks noGrp="1"/>
          </p:cNvSpPr>
          <p:nvPr>
            <p:ph type="sldNum" sz="quarter" idx="5"/>
          </p:nvPr>
        </p:nvSpPr>
        <p:spPr/>
        <p:txBody>
          <a:bodyPr/>
          <a:lstStyle/>
          <a:p>
            <a:fld id="{47792BB6-533F-41D9-970B-734BC0E321AA}" type="slidenum">
              <a:rPr lang="en-US" smtClean="0"/>
              <a:t>2</a:t>
            </a:fld>
            <a:endParaRPr lang="en-US"/>
          </a:p>
        </p:txBody>
      </p:sp>
    </p:spTree>
    <p:extLst>
      <p:ext uri="{BB962C8B-B14F-4D97-AF65-F5344CB8AC3E}">
        <p14:creationId xmlns:p14="http://schemas.microsoft.com/office/powerpoint/2010/main" val="19168009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You can probably already see from the title: </a:t>
            </a:r>
            <a:r>
              <a:rPr lang="en-CA" sz="1200" dirty="0"/>
              <a:t>Living with debt: how institutions can chart a path to recovery in the middle east and north Africa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that this edition includes not only an update of the Economic Situation of the region, but also some reflections of the role of fiscal policy.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 is our main findings of the report: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One year ago, the first cases of COVID-19 hit the MENA region. One year later, the region remains in a crisis.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The pandemic is forcing economies in the MENA region to borrow a lot. While addressing the immediate concerns of the disaster relief, MENA countries need to be aware of the tension </a:t>
            </a:r>
            <a:r>
              <a:rPr lang="en-US" dirty="0"/>
              <a:t>between short-term needs and long-run risks of public debt, and a balancing act between the two would be essential.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Thus countries are facing touch choices, and public expenditure priorities depend on the phase of the recovery.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want to emphasis that, in every stage of the recovery, transparency can help chart a path to lasting recovery for MENA.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Borrowing a sentence from our president David </a:t>
            </a:r>
            <a:r>
              <a:rPr lang="en-US" dirty="0" err="1"/>
              <a:t>Malpass</a:t>
            </a:r>
            <a:r>
              <a:rPr lang="en-US" dirty="0"/>
              <a:t>, sunlight is truly the best remedy.</a:t>
            </a:r>
          </a:p>
        </p:txBody>
      </p:sp>
      <p:sp>
        <p:nvSpPr>
          <p:cNvPr id="4" name="Slide Number Placeholder 3"/>
          <p:cNvSpPr>
            <a:spLocks noGrp="1"/>
          </p:cNvSpPr>
          <p:nvPr>
            <p:ph type="sldNum" sz="quarter" idx="5"/>
          </p:nvPr>
        </p:nvSpPr>
        <p:spPr/>
        <p:txBody>
          <a:bodyPr/>
          <a:lstStyle/>
          <a:p>
            <a:fld id="{47792BB6-533F-41D9-970B-734BC0E321AA}" type="slidenum">
              <a:rPr lang="en-US" smtClean="0"/>
              <a:t>3</a:t>
            </a:fld>
            <a:endParaRPr lang="en-US"/>
          </a:p>
        </p:txBody>
      </p:sp>
    </p:spTree>
    <p:extLst>
      <p:ext uri="{BB962C8B-B14F-4D97-AF65-F5344CB8AC3E}">
        <p14:creationId xmlns:p14="http://schemas.microsoft.com/office/powerpoint/2010/main" val="39583324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MENA is still in crisis from an economic point of view. </a:t>
            </a:r>
          </a:p>
          <a:p>
            <a:r>
              <a:rPr lang="en-US" dirty="0"/>
              <a:t>The LHS panel is a comparison of growth in GDP levels. And the RHS is a comparison of growth in GDP per capita levels.</a:t>
            </a:r>
          </a:p>
          <a:p>
            <a:r>
              <a:rPr lang="en-US" dirty="0"/>
              <a:t>In both charts, the dotted lines represent the forecasts in a no-pandemic world, which is represented by MPO forecast in October 2019.</a:t>
            </a:r>
          </a:p>
          <a:p>
            <a:r>
              <a:rPr lang="en-US" dirty="0"/>
              <a:t>And the solid lines represent the latest forecast, one year into the pandemic, which is represented by MPO forecast in April 2021.</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By end of 2021 GDP level will be 7.2 percentage points below where it was predicted to be in a no-pandemic world. This gap of 7.2 percentage points is equivalent to 227 billion dollars.</a:t>
            </a:r>
          </a:p>
          <a:p>
            <a:endParaRPr lang="en-US" dirty="0"/>
          </a:p>
          <a:p>
            <a:r>
              <a:rPr lang="en-US" dirty="0"/>
              <a:t>This drop results from a GDP contraction in 2020, compared to a positive growth predicted before pandemic. Add up to that, a slower forecasted growth for 2021.</a:t>
            </a:r>
          </a:p>
          <a:p>
            <a:endParaRPr lang="en-US" dirty="0"/>
          </a:p>
          <a:p>
            <a:endParaRPr lang="en-US" dirty="0"/>
          </a:p>
          <a:p>
            <a:r>
              <a:rPr lang="en-US" dirty="0"/>
              <a:t>This counterfactual comparison is even sharper if we look at GDP per capita levels, which is a better measure for living standards. </a:t>
            </a:r>
          </a:p>
          <a:p>
            <a:r>
              <a:rPr lang="en-US" dirty="0"/>
              <a:t>By the end of 2021, GDP per capita level will be 7 percentage points below where it was predicted to be in a no-pandemic world. More importantly, even with the positive growth in 2021, by end of 2021, the level of GDP per capita will still be 5% lower than its level back in 2019.</a:t>
            </a:r>
          </a:p>
          <a:p>
            <a:endParaRPr lang="en-US" dirty="0"/>
          </a:p>
        </p:txBody>
      </p:sp>
      <p:sp>
        <p:nvSpPr>
          <p:cNvPr id="4" name="Slide Number Placeholder 3"/>
          <p:cNvSpPr>
            <a:spLocks noGrp="1"/>
          </p:cNvSpPr>
          <p:nvPr>
            <p:ph type="sldNum" sz="quarter" idx="5"/>
          </p:nvPr>
        </p:nvSpPr>
        <p:spPr/>
        <p:txBody>
          <a:bodyPr/>
          <a:lstStyle/>
          <a:p>
            <a:fld id="{47792BB6-533F-41D9-970B-734BC0E321AA}" type="slidenum">
              <a:rPr lang="en-US" smtClean="0"/>
              <a:t>4</a:t>
            </a:fld>
            <a:endParaRPr lang="en-US"/>
          </a:p>
        </p:txBody>
      </p:sp>
    </p:spTree>
    <p:extLst>
      <p:ext uri="{BB962C8B-B14F-4D97-AF65-F5344CB8AC3E}">
        <p14:creationId xmlns:p14="http://schemas.microsoft.com/office/powerpoint/2010/main" val="36545871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we zoom in the loss in terms of GDP per capita, by decomposing MENA into three countries groups, t</a:t>
            </a:r>
            <a:r>
              <a:rPr lang="en-US" sz="1200" b="0" i="0" u="none" kern="1200" dirty="0">
                <a:solidFill>
                  <a:schemeClr val="tx1"/>
                </a:solidFill>
                <a:effectLst/>
                <a:latin typeface="+mn-lt"/>
                <a:ea typeface="+mn-ea"/>
                <a:cs typeface="+mn-cs"/>
              </a:rPr>
              <a:t>hen the biggest loss, compared to pre-pandemic forecast, would come from Developing oil importers (represented by red lines), followed by GCC (Gulf Cooperation Council countries, represented by blue lines), and other oil exporters (represented by gold lines). </a:t>
            </a:r>
          </a:p>
          <a:p>
            <a:endParaRPr lang="en-US" dirty="0"/>
          </a:p>
          <a:p>
            <a:r>
              <a:rPr lang="en-US" dirty="0"/>
              <a:t>Again, in both charts, the dotted lines represent the forecasts in a no-pandemic world, which is represented by MPO forecast in October 2019.</a:t>
            </a:r>
          </a:p>
          <a:p>
            <a:r>
              <a:rPr lang="en-US" dirty="0"/>
              <a:t>And the solid lines represent the latest forecast, one year into the pandemic, which is represented by MPO forecast in April 2021.</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kern="1200" dirty="0">
              <a:solidFill>
                <a:schemeClr val="tx1"/>
              </a:solidFill>
              <a:effectLst/>
              <a:latin typeface="+mn-lt"/>
              <a:ea typeface="+mn-ea"/>
              <a:cs typeface="+mn-cs"/>
            </a:endParaRPr>
          </a:p>
          <a:p>
            <a:r>
              <a:rPr lang="en-US" dirty="0"/>
              <a:t>The region’s oil importing countries entered 2020 with the highest public debt. By the end of 2021, their GDP per capita will be 8.6 percentage points below where it could have been in a no-pandemic world, comparing the red dotted line and the red solid line.</a:t>
            </a:r>
          </a:p>
          <a:p>
            <a:endParaRPr lang="en-US" dirty="0"/>
          </a:p>
          <a:p>
            <a:r>
              <a:rPr lang="en-US" dirty="0"/>
              <a:t>This drop results from a GDP per capita contraction in 2020 and a slight recovery in 2021, compared to a 3% growth in both years in a no-pandemic world.</a:t>
            </a:r>
          </a:p>
          <a:p>
            <a:endParaRPr lang="en-US" dirty="0"/>
          </a:p>
          <a:p>
            <a:r>
              <a:rPr lang="en-US" sz="1200" b="0" i="0" u="none" kern="1200" dirty="0">
                <a:solidFill>
                  <a:schemeClr val="tx1"/>
                </a:solidFill>
                <a:effectLst/>
                <a:latin typeface="+mn-lt"/>
                <a:ea typeface="+mn-ea"/>
                <a:cs typeface="+mn-cs"/>
              </a:rPr>
              <a:t>Last but not least from this chart, none of the country groups can return to its 2019 level by the end of 2021.</a:t>
            </a:r>
          </a:p>
        </p:txBody>
      </p:sp>
      <p:sp>
        <p:nvSpPr>
          <p:cNvPr id="4" name="Slide Number Placeholder 3"/>
          <p:cNvSpPr>
            <a:spLocks noGrp="1"/>
          </p:cNvSpPr>
          <p:nvPr>
            <p:ph type="sldNum" sz="quarter" idx="5"/>
          </p:nvPr>
        </p:nvSpPr>
        <p:spPr/>
        <p:txBody>
          <a:bodyPr/>
          <a:lstStyle/>
          <a:p>
            <a:fld id="{47792BB6-533F-41D9-970B-734BC0E321AA}" type="slidenum">
              <a:rPr lang="en-US" smtClean="0"/>
              <a:t>5</a:t>
            </a:fld>
            <a:endParaRPr lang="en-US"/>
          </a:p>
        </p:txBody>
      </p:sp>
    </p:spTree>
    <p:extLst>
      <p:ext uri="{BB962C8B-B14F-4D97-AF65-F5344CB8AC3E}">
        <p14:creationId xmlns:p14="http://schemas.microsoft.com/office/powerpoint/2010/main" val="13018310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Because of that, poverty is rising in the region.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In this chart, the black line represent the estimated headcount of poverty (i.e. those making less than $5.50 per day) in a no-pandemic world. And the redline is the estimated poverty headcount based on latest GDP forecasts.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The number of poor people in the region is expected to increase from 176 million in 2019 to 192 million people by the end of 2021. This is an extra 14 million people falling into poverty following the pandemic, all of whom wouldn’t have been in poverty if not hit by the pandemic.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Noted that this forecast provides only a lower threshold, because it assumes that every household is equally affected. Unfortunately, the effect of Covid‐19 is not equal to the population, and the poorer side of the population suffers most from the pandemic.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p:txBody>
      </p:sp>
      <p:sp>
        <p:nvSpPr>
          <p:cNvPr id="4" name="Slide Number Placeholder 3"/>
          <p:cNvSpPr>
            <a:spLocks noGrp="1"/>
          </p:cNvSpPr>
          <p:nvPr>
            <p:ph type="sldNum" sz="quarter" idx="5"/>
          </p:nvPr>
        </p:nvSpPr>
        <p:spPr/>
        <p:txBody>
          <a:bodyPr/>
          <a:lstStyle/>
          <a:p>
            <a:fld id="{47792BB6-533F-41D9-970B-734BC0E321AA}" type="slidenum">
              <a:rPr lang="en-US" smtClean="0"/>
              <a:t>6</a:t>
            </a:fld>
            <a:endParaRPr lang="en-US"/>
          </a:p>
        </p:txBody>
      </p:sp>
    </p:spTree>
    <p:extLst>
      <p:ext uri="{BB962C8B-B14F-4D97-AF65-F5344CB8AC3E}">
        <p14:creationId xmlns:p14="http://schemas.microsoft.com/office/powerpoint/2010/main" val="18554274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many aspects where inequality is in the rise, lies in the food price inflation. </a:t>
            </a:r>
          </a:p>
          <a:p>
            <a:r>
              <a:rPr lang="en-US" dirty="0"/>
              <a:t>In this chart, the horizonal axis represents countries in the MENA region, and the vertical axis represent different foods, such as rice, bread, tomatoes, etc. So each little square represent one food in one country. If the price is red, that means the food price is more than 20% compared to a year ago. </a:t>
            </a:r>
          </a:p>
          <a:p>
            <a:r>
              <a:rPr lang="en-US" dirty="0"/>
              <a:t>The country that’s most worrisome in this chart is Lebanon, where prices are almost all more than 20% more expensive, compared to a year ago, and some are more than 100% more expensive.</a:t>
            </a:r>
          </a:p>
          <a:p>
            <a:r>
              <a:rPr lang="en-US" dirty="0"/>
              <a:t>Syria, Yemen, Djibouti, Iran are also on the hot spot. Even in Morocco, prices for fruits and vegetables (oranges; lettuce) are more than 20% higher compared to a year ago.</a:t>
            </a:r>
          </a:p>
        </p:txBody>
      </p:sp>
      <p:sp>
        <p:nvSpPr>
          <p:cNvPr id="4" name="Slide Number Placeholder 3"/>
          <p:cNvSpPr>
            <a:spLocks noGrp="1"/>
          </p:cNvSpPr>
          <p:nvPr>
            <p:ph type="sldNum" sz="quarter" idx="5"/>
          </p:nvPr>
        </p:nvSpPr>
        <p:spPr/>
        <p:txBody>
          <a:bodyPr/>
          <a:lstStyle/>
          <a:p>
            <a:fld id="{47792BB6-533F-41D9-970B-734BC0E321AA}" type="slidenum">
              <a:rPr lang="en-US" smtClean="0"/>
              <a:t>7</a:t>
            </a:fld>
            <a:endParaRPr lang="en-US"/>
          </a:p>
        </p:txBody>
      </p:sp>
    </p:spTree>
    <p:extLst>
      <p:ext uri="{BB962C8B-B14F-4D97-AF65-F5344CB8AC3E}">
        <p14:creationId xmlns:p14="http://schemas.microsoft.com/office/powerpoint/2010/main" val="31416364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MENA remains in the crisis, countries are walking the tight rope of rising public debt.</a:t>
            </a:r>
          </a:p>
          <a:p>
            <a:r>
              <a:rPr lang="en-US" dirty="0"/>
              <a:t>The blue bars in this chart represent median public debt for each of the MENA country groups, the three bars on the left represent situations in 2019, and the three bars on the right represent median public debt in 2020.</a:t>
            </a:r>
          </a:p>
          <a:p>
            <a:r>
              <a:rPr lang="en-US" dirty="0"/>
              <a:t>The yellow diamonds represent world median public debt of the corresponding income group. MENA high income countries (i.e. GCC) are compared with world median of high-income countries, and MENA Middle-income oil exporters and oil importers are compared with world median of middle-income countries.</a:t>
            </a:r>
          </a:p>
          <a:p>
            <a:endParaRPr lang="en-US" dirty="0"/>
          </a:p>
          <a:p>
            <a:endParaRPr lang="en-US" dirty="0"/>
          </a:p>
          <a:p>
            <a:r>
              <a:rPr lang="en-US" dirty="0"/>
              <a:t>We could already see a global increase in public debt, when all three yellow diamonds moved higher in 2020 compared to 2019.</a:t>
            </a:r>
          </a:p>
          <a:p>
            <a:endParaRPr lang="en-US" dirty="0"/>
          </a:p>
          <a:p>
            <a:r>
              <a:rPr lang="en-US" dirty="0"/>
              <a:t>And MENA is no exception. Most worrisome are MENA oil importers that are highlighted with a red box, who entered 2020 with highest public debt. </a:t>
            </a:r>
          </a:p>
          <a:p>
            <a:r>
              <a:rPr lang="en-US" dirty="0"/>
              <a:t>During the pandemic, public debt in middle-income oil importers have increased from 72 to almost 90, high above the debt level of a typical world middle-income country.</a:t>
            </a:r>
          </a:p>
          <a:p>
            <a:r>
              <a:rPr lang="en-US" dirty="0"/>
              <a:t>MENA middle-income oil exporters had also accumulated debt, and have passed its peers in the middle income group.</a:t>
            </a:r>
          </a:p>
          <a:p>
            <a:endParaRPr lang="en-US" dirty="0"/>
          </a:p>
          <a:p>
            <a:r>
              <a:rPr lang="en-US" dirty="0"/>
              <a:t>For these countries, making decision about fiscal expenditure would be walking the tight rope. </a:t>
            </a:r>
          </a:p>
          <a:p>
            <a:endParaRPr lang="en-US" dirty="0"/>
          </a:p>
          <a:p>
            <a:r>
              <a:rPr lang="en-US" dirty="0"/>
              <a:t>My colleague Ha, will walk you through the details of this tight rope. </a:t>
            </a:r>
            <a:r>
              <a:rPr lang="en-US" dirty="0">
                <a:sym typeface="Wingdings" panose="05000000000000000000" pitchFamily="2" charset="2"/>
              </a:rPr>
              <a:t></a:t>
            </a:r>
          </a:p>
          <a:p>
            <a:endParaRPr lang="en-US" dirty="0"/>
          </a:p>
          <a:p>
            <a:r>
              <a:rPr lang="en-US" dirty="0"/>
              <a:t>-----------------------------------------------------------------------------------------------------</a:t>
            </a:r>
          </a:p>
          <a:p>
            <a:r>
              <a:rPr lang="en-US" dirty="0"/>
              <a:t>Debt/GDP is rising because of a combinations of factors:</a:t>
            </a:r>
          </a:p>
          <a:p>
            <a:endParaRPr lang="en-US" dirty="0"/>
          </a:p>
          <a:p>
            <a:r>
              <a:rPr lang="en-US" dirty="0"/>
              <a:t> --</a:t>
            </a:r>
            <a:r>
              <a:rPr lang="en-US" i="1" dirty="0"/>
              <a:t>negative GDP growth </a:t>
            </a:r>
            <a:r>
              <a:rPr lang="en-US" dirty="0"/>
              <a:t>in majority of countries, but most notably, Iraq (-11.9% in 2020); Tunisia (-8.8%); Morocco (-7%). Three exceptions (Iran: 1.7%; Egypt: 3.6% and Djibouti: 0.5%).</a:t>
            </a:r>
          </a:p>
          <a:p>
            <a:endParaRPr lang="en-US" dirty="0"/>
          </a:p>
          <a:p>
            <a:r>
              <a:rPr lang="en-US" dirty="0"/>
              <a:t>and </a:t>
            </a:r>
            <a:r>
              <a:rPr lang="en-US" i="1" dirty="0"/>
              <a:t>rising debt</a:t>
            </a:r>
            <a:r>
              <a:rPr lang="en-US" dirty="0"/>
              <a:t>. This in turn is due to: </a:t>
            </a:r>
          </a:p>
          <a:p>
            <a:endParaRPr lang="en-US" dirty="0"/>
          </a:p>
          <a:p>
            <a:pPr marL="228600" indent="-228600">
              <a:buAutoNum type="arabicPeriod"/>
            </a:pPr>
            <a:r>
              <a:rPr lang="en-US" dirty="0"/>
              <a:t>primary deficits, which were the driving force in many oil exporters, largest in Libya (45% of GDP in 2020), but also GCC countries (e.g. Kuwait 25%, Oman: 14%; Bahrain: 12%).</a:t>
            </a:r>
          </a:p>
          <a:p>
            <a:pPr marL="0" indent="0">
              <a:buNone/>
            </a:pPr>
            <a:r>
              <a:rPr lang="en-US" dirty="0"/>
              <a:t>	a. Primary deficits were mainly due to drop in revenues: for oil exporters (Iraq: -41% drop in real revenue in 2020 compared to 2019; </a:t>
            </a:r>
            <a:r>
              <a:rPr lang="en-US" dirty="0" err="1"/>
              <a:t>Lybia</a:t>
            </a:r>
            <a:r>
              <a:rPr lang="en-US" dirty="0"/>
              <a:t> (-60%); UAE (-31%); Kuwait (-29%) and other GCC countries with similar magnitude); but also for oil importers, e.g., Tunisia (-6.1%); Morocco (-6.9%)</a:t>
            </a:r>
          </a:p>
          <a:p>
            <a:pPr marL="0" indent="0">
              <a:buNone/>
            </a:pPr>
            <a:r>
              <a:rPr lang="en-US" dirty="0"/>
              <a:t>	b. and in some cases, large countercyclical increases in spending, e.g., in Tunisia (real primary expenditure in 2020 was up 13% compared to 2019), Morocco (+7%). Note that many others also put together stimulus packages as well (e.g. Bahrain 4% of GDP and then partially extended; UAE: ~3% of GDP; Saudi Arabia: ~3% of GDP) although their primary expenditure did not increase as much as Tunisia and Morocco.</a:t>
            </a:r>
          </a:p>
          <a:p>
            <a:pPr marL="0" indent="0">
              <a:buNone/>
            </a:pPr>
            <a:endParaRPr lang="en-US" dirty="0"/>
          </a:p>
          <a:p>
            <a:r>
              <a:rPr lang="en-US" dirty="0"/>
              <a:t>For example, the fiscal packages for Tunisia put together were around 2.3% of GDP (announced in March 2020 covering both 2020 and 2021), consists a combination of transfers, support to firms and sectors such as tourism in the form of interest rate subsidy and support to unemployed and self-employed (IMF)</a:t>
            </a:r>
          </a:p>
          <a:p>
            <a:r>
              <a:rPr lang="en-US" dirty="0"/>
              <a:t>Morocco created a special fund in early 2020 (3% of GDP) for health spending, defer social contribution, unemployment support, tax deferral, also support to informal workers (IMF).</a:t>
            </a:r>
          </a:p>
          <a:p>
            <a:endParaRPr lang="en-US" dirty="0"/>
          </a:p>
          <a:p>
            <a:r>
              <a:rPr lang="en-US" dirty="0"/>
              <a:t>By comparison,  high income country like the US, the combined fiscal packages were much larger (11%+4% and most recent in 2021, 9% ~25% of GDP); Germany (20% of GDP as of December 2020); Japan (42% as of Dec 2020); Australia (16%)  (https://time.com/5923840/us-pandemic-relief-bill-december/) </a:t>
            </a:r>
          </a:p>
          <a:p>
            <a:endParaRPr lang="en-US" dirty="0"/>
          </a:p>
          <a:p>
            <a:r>
              <a:rPr lang="en-US" dirty="0"/>
              <a:t>Other middle-income countries’ fiscal packages are usually &lt;10% (Mexico ~1%; China: 5% of GDP; India: 8%; Brazil: 10%; Vietnam: 3.6%; Indonesia: 3.8%). On average, e</a:t>
            </a:r>
            <a:r>
              <a:rPr lang="en-US" sz="1200" kern="1200" dirty="0">
                <a:solidFill>
                  <a:schemeClr val="tx1"/>
                </a:solidFill>
                <a:effectLst/>
                <a:latin typeface="+mn-lt"/>
                <a:ea typeface="+mn-ea"/>
                <a:cs typeface="+mn-cs"/>
              </a:rPr>
              <a:t>merging markets and middle-income economies’ (EMMIEs) deployed all instruments for the fiscal response, with about 3.4 percent of GDP in expenditure and revenue measures and 2.5 percent of GDP in support through other instruments. </a:t>
            </a:r>
            <a:endParaRPr lang="en-US" dirty="0"/>
          </a:p>
          <a:p>
            <a:endParaRPr lang="en-US" dirty="0"/>
          </a:p>
          <a:p>
            <a:r>
              <a:rPr lang="en-US" dirty="0"/>
              <a:t>2. Interest payments  </a:t>
            </a:r>
          </a:p>
          <a:p>
            <a:r>
              <a:rPr lang="en-US" dirty="0"/>
              <a:t>In some countries (Egypt), interest payments were around 10% of GDP in 2020. However, note that debt-GDP ratio in Egypt slightly declined (from 90% in 2019 to 87.5% in 2020), due to positive growth and primary balance.</a:t>
            </a:r>
          </a:p>
          <a:p>
            <a:endParaRPr lang="en-US" dirty="0"/>
          </a:p>
          <a:p>
            <a:r>
              <a:rPr lang="en-US" dirty="0"/>
              <a:t>These increases in public debt overlay on already worryingly high debt levels in MIC oil importers (for 2019 LB: 171% +; TN: 72% +; Egypt 90% flat;  JO: 97% +) --- the MIC oil exporter IRAQ from 48% to 69%, </a:t>
            </a:r>
            <a:r>
              <a:rPr lang="en-US" dirty="0" err="1"/>
              <a:t>Lybia</a:t>
            </a:r>
            <a:r>
              <a:rPr lang="en-US" dirty="0"/>
              <a:t> from 49% to 137% (two factors: GDP drop 30%, and primary deficits (45% of GDP) due to drop in oil exports and oil revenue.</a:t>
            </a:r>
          </a:p>
          <a:p>
            <a:endParaRPr lang="en-US" dirty="0"/>
          </a:p>
        </p:txBody>
      </p:sp>
      <p:sp>
        <p:nvSpPr>
          <p:cNvPr id="4" name="Slide Number Placeholder 3"/>
          <p:cNvSpPr>
            <a:spLocks noGrp="1"/>
          </p:cNvSpPr>
          <p:nvPr>
            <p:ph type="sldNum" sz="quarter" idx="5"/>
          </p:nvPr>
        </p:nvSpPr>
        <p:spPr/>
        <p:txBody>
          <a:bodyPr/>
          <a:lstStyle/>
          <a:p>
            <a:fld id="{47792BB6-533F-41D9-970B-734BC0E321AA}" type="slidenum">
              <a:rPr lang="en-US" smtClean="0"/>
              <a:t>8</a:t>
            </a:fld>
            <a:endParaRPr lang="en-US"/>
          </a:p>
        </p:txBody>
      </p:sp>
    </p:spTree>
    <p:extLst>
      <p:ext uri="{BB962C8B-B14F-4D97-AF65-F5344CB8AC3E}">
        <p14:creationId xmlns:p14="http://schemas.microsoft.com/office/powerpoint/2010/main" val="27757041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7792BB6-533F-41D9-970B-734BC0E321AA}" type="slidenum">
              <a:rPr lang="en-US" smtClean="0"/>
              <a:t>9</a:t>
            </a:fld>
            <a:endParaRPr lang="en-US"/>
          </a:p>
        </p:txBody>
      </p:sp>
    </p:spTree>
    <p:extLst>
      <p:ext uri="{BB962C8B-B14F-4D97-AF65-F5344CB8AC3E}">
        <p14:creationId xmlns:p14="http://schemas.microsoft.com/office/powerpoint/2010/main" val="28316624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Positive:</a:t>
            </a:r>
          </a:p>
          <a:p>
            <a:pPr marL="291179" indent="-291179">
              <a:buFont typeface="Arial" panose="020B0604020202020204" pitchFamily="34" charset="0"/>
              <a:buChar char="•"/>
            </a:pPr>
            <a:r>
              <a:rPr lang="en-US" dirty="0"/>
              <a:t>Disaster Relief: Support firms and households </a:t>
            </a:r>
          </a:p>
          <a:p>
            <a:pPr marL="291179" indent="-291179">
              <a:buFont typeface="Arial" panose="020B0604020202020204" pitchFamily="34" charset="0"/>
              <a:buChar char="•"/>
            </a:pPr>
            <a:r>
              <a:rPr lang="en-US" dirty="0"/>
              <a:t>Public Health Spending</a:t>
            </a:r>
          </a:p>
          <a:p>
            <a:pPr marL="291179" indent="-291179">
              <a:buFont typeface="Arial" panose="020B0604020202020204" pitchFamily="34" charset="0"/>
              <a:buChar char="•"/>
            </a:pPr>
            <a:endParaRPr lang="en-US" dirty="0"/>
          </a:p>
          <a:p>
            <a:pPr marL="291179" indent="-291179">
              <a:buFont typeface="Arial" panose="020B0604020202020204" pitchFamily="34" charset="0"/>
              <a:buChar char="•"/>
            </a:pPr>
            <a:endParaRPr lang="en-US" dirty="0"/>
          </a:p>
          <a:p>
            <a:r>
              <a:rPr lang="en-US" dirty="0"/>
              <a:t>Negative:</a:t>
            </a:r>
          </a:p>
          <a:p>
            <a:pPr marL="291179" indent="-291179">
              <a:buFont typeface="Arial" panose="020B0604020202020204" pitchFamily="34" charset="0"/>
              <a:buChar char="•"/>
            </a:pPr>
            <a:r>
              <a:rPr lang="en-US" dirty="0"/>
              <a:t>Crowding out of private investment (as </a:t>
            </a:r>
            <a:r>
              <a:rPr lang="en-US" i="1" dirty="0"/>
              <a:t>interest rates</a:t>
            </a:r>
            <a:r>
              <a:rPr lang="en-US" dirty="0"/>
              <a:t> rise)</a:t>
            </a:r>
          </a:p>
          <a:p>
            <a:pPr marL="291179" indent="-291179">
              <a:buFont typeface="Arial" panose="020B0604020202020204" pitchFamily="34" charset="0"/>
              <a:buChar char="•"/>
            </a:pPr>
            <a:r>
              <a:rPr lang="en-US" dirty="0"/>
              <a:t>Crowding out of public investment as interest payments rise</a:t>
            </a:r>
          </a:p>
          <a:p>
            <a:pPr marL="291179" indent="-291179">
              <a:buFont typeface="Arial" panose="020B0604020202020204" pitchFamily="34" charset="0"/>
              <a:buChar char="•"/>
            </a:pPr>
            <a:r>
              <a:rPr lang="en-US" dirty="0"/>
              <a:t>Macroeconomic vulnerability, rollover risk and likelihood of costly debt crises</a:t>
            </a:r>
          </a:p>
          <a:p>
            <a:endParaRPr lang="en-US" dirty="0"/>
          </a:p>
        </p:txBody>
      </p:sp>
      <p:sp>
        <p:nvSpPr>
          <p:cNvPr id="4" name="Slide Number Placeholder 3"/>
          <p:cNvSpPr>
            <a:spLocks noGrp="1"/>
          </p:cNvSpPr>
          <p:nvPr>
            <p:ph type="sldNum" sz="quarter" idx="5"/>
          </p:nvPr>
        </p:nvSpPr>
        <p:spPr/>
        <p:txBody>
          <a:bodyPr/>
          <a:lstStyle/>
          <a:p>
            <a:pPr defTabSz="931774">
              <a:defRPr/>
            </a:pPr>
            <a:fld id="{E0E189EF-7028-4E7C-A2E2-A7CAFB6B339E}" type="slidenum">
              <a:rPr lang="en-US">
                <a:solidFill>
                  <a:prstClr val="black"/>
                </a:solidFill>
                <a:latin typeface="Calibri" panose="020F0502020204030204"/>
              </a:rPr>
              <a:pPr defTabSz="931774">
                <a:defRPr/>
              </a:pPr>
              <a:t>10</a:t>
            </a:fld>
            <a:endParaRPr lang="en-US">
              <a:solidFill>
                <a:prstClr val="black"/>
              </a:solidFill>
              <a:latin typeface="Calibri" panose="020F0502020204030204"/>
            </a:endParaRPr>
          </a:p>
        </p:txBody>
      </p:sp>
    </p:spTree>
    <p:extLst>
      <p:ext uri="{BB962C8B-B14F-4D97-AF65-F5344CB8AC3E}">
        <p14:creationId xmlns:p14="http://schemas.microsoft.com/office/powerpoint/2010/main" val="5716701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Evidence is based on over 300 episodes of severe natural disasters, with estimated reconstruction needs of at least 1% of GDP. The data cover episodes of natural disasters during 1960-2019. Sample is limited to developing economies. </a:t>
            </a:r>
          </a:p>
        </p:txBody>
      </p:sp>
      <p:sp>
        <p:nvSpPr>
          <p:cNvPr id="4" name="Slide Number Placeholder 3"/>
          <p:cNvSpPr>
            <a:spLocks noGrp="1"/>
          </p:cNvSpPr>
          <p:nvPr>
            <p:ph type="sldNum" sz="quarter" idx="5"/>
          </p:nvPr>
        </p:nvSpPr>
        <p:spPr/>
        <p:txBody>
          <a:bodyPr/>
          <a:lstStyle/>
          <a:p>
            <a:fld id="{47792BB6-533F-41D9-970B-734BC0E321AA}" type="slidenum">
              <a:rPr lang="en-US" smtClean="0"/>
              <a:t>11</a:t>
            </a:fld>
            <a:endParaRPr lang="en-US"/>
          </a:p>
        </p:txBody>
      </p:sp>
    </p:spTree>
    <p:extLst>
      <p:ext uri="{BB962C8B-B14F-4D97-AF65-F5344CB8AC3E}">
        <p14:creationId xmlns:p14="http://schemas.microsoft.com/office/powerpoint/2010/main" val="2915680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7792BB6-533F-41D9-970B-734BC0E321AA}" type="slidenum">
              <a:rPr lang="en-US" smtClean="0"/>
              <a:t>12</a:t>
            </a:fld>
            <a:endParaRPr lang="en-US"/>
          </a:p>
        </p:txBody>
      </p:sp>
    </p:spTree>
    <p:extLst>
      <p:ext uri="{BB962C8B-B14F-4D97-AF65-F5344CB8AC3E}">
        <p14:creationId xmlns:p14="http://schemas.microsoft.com/office/powerpoint/2010/main" val="3696723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defTabSz="931774">
              <a:defRPr/>
            </a:pPr>
            <a:fld id="{E0E189EF-7028-4E7C-A2E2-A7CAFB6B339E}" type="slidenum">
              <a:rPr lang="en-US">
                <a:solidFill>
                  <a:prstClr val="black"/>
                </a:solidFill>
                <a:latin typeface="Calibri" panose="020F0502020204030204"/>
              </a:rPr>
              <a:pPr defTabSz="931774">
                <a:defRPr/>
              </a:pPr>
              <a:t>13</a:t>
            </a:fld>
            <a:endParaRPr lang="en-US">
              <a:solidFill>
                <a:prstClr val="black"/>
              </a:solidFill>
              <a:latin typeface="Calibri" panose="020F0502020204030204"/>
            </a:endParaRPr>
          </a:p>
        </p:txBody>
      </p:sp>
    </p:spTree>
    <p:extLst>
      <p:ext uri="{BB962C8B-B14F-4D97-AF65-F5344CB8AC3E}">
        <p14:creationId xmlns:p14="http://schemas.microsoft.com/office/powerpoint/2010/main" val="9732993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Pent-up demand: demand for goods and services are unusually strong</a:t>
            </a:r>
          </a:p>
        </p:txBody>
      </p:sp>
      <p:sp>
        <p:nvSpPr>
          <p:cNvPr id="4" name="Slide Number Placeholder 3"/>
          <p:cNvSpPr>
            <a:spLocks noGrp="1"/>
          </p:cNvSpPr>
          <p:nvPr>
            <p:ph type="sldNum" sz="quarter" idx="5"/>
          </p:nvPr>
        </p:nvSpPr>
        <p:spPr/>
        <p:txBody>
          <a:bodyPr/>
          <a:lstStyle/>
          <a:p>
            <a:fld id="{47792BB6-533F-41D9-970B-734BC0E321AA}" type="slidenum">
              <a:rPr lang="en-US" smtClean="0"/>
              <a:t>14</a:t>
            </a:fld>
            <a:endParaRPr lang="en-US"/>
          </a:p>
        </p:txBody>
      </p:sp>
    </p:spTree>
    <p:extLst>
      <p:ext uri="{BB962C8B-B14F-4D97-AF65-F5344CB8AC3E}">
        <p14:creationId xmlns:p14="http://schemas.microsoft.com/office/powerpoint/2010/main" val="5439603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Episodes of debt distress = episodes of debt restructuring, both “pre-emptive” and “defaults”. </a:t>
            </a:r>
          </a:p>
        </p:txBody>
      </p:sp>
      <p:sp>
        <p:nvSpPr>
          <p:cNvPr id="4" name="Slide Number Placeholder 3"/>
          <p:cNvSpPr>
            <a:spLocks noGrp="1"/>
          </p:cNvSpPr>
          <p:nvPr>
            <p:ph type="sldNum" sz="quarter" idx="5"/>
          </p:nvPr>
        </p:nvSpPr>
        <p:spPr/>
        <p:txBody>
          <a:bodyPr/>
          <a:lstStyle/>
          <a:p>
            <a:fld id="{47792BB6-533F-41D9-970B-734BC0E321AA}" type="slidenum">
              <a:rPr lang="en-US" smtClean="0"/>
              <a:t>16</a:t>
            </a:fld>
            <a:endParaRPr lang="en-US"/>
          </a:p>
        </p:txBody>
      </p:sp>
    </p:spTree>
    <p:extLst>
      <p:ext uri="{BB962C8B-B14F-4D97-AF65-F5344CB8AC3E}">
        <p14:creationId xmlns:p14="http://schemas.microsoft.com/office/powerpoint/2010/main" val="41608870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7792BB6-533F-41D9-970B-734BC0E321AA}" type="slidenum">
              <a:rPr lang="en-US" smtClean="0"/>
              <a:t>19</a:t>
            </a:fld>
            <a:endParaRPr lang="en-US"/>
          </a:p>
        </p:txBody>
      </p:sp>
    </p:spTree>
    <p:extLst>
      <p:ext uri="{BB962C8B-B14F-4D97-AF65-F5344CB8AC3E}">
        <p14:creationId xmlns:p14="http://schemas.microsoft.com/office/powerpoint/2010/main" val="12204739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7792BB6-533F-41D9-970B-734BC0E321AA}" type="slidenum">
              <a:rPr lang="en-US" smtClean="0"/>
              <a:t>20</a:t>
            </a:fld>
            <a:endParaRPr lang="en-US"/>
          </a:p>
        </p:txBody>
      </p:sp>
    </p:spTree>
    <p:extLst>
      <p:ext uri="{BB962C8B-B14F-4D97-AF65-F5344CB8AC3E}">
        <p14:creationId xmlns:p14="http://schemas.microsoft.com/office/powerpoint/2010/main" val="7391845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26D80-AC63-4EB9-B878-0C6243325D9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927DA14-50AC-4520-B999-F3A4F92A92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0E6F951-06C5-4B5D-A336-8AF4D83265A9}"/>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8492126E-7DF3-4AFC-9A8F-497A6F13442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B8484C-C9BE-4D67-BA32-97CD416C196D}"/>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36908783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0E764-7784-4DD1-BB29-99D6E126768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3E10E11-E08E-4A6C-A293-2E38A6E17C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E8737E-001B-497E-B7E4-4BAABD6C25E0}"/>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039A4D29-20D8-424F-844E-2E995453C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290C78-7F2A-4BD5-930B-AAB323B82646}"/>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99124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0A51F-870B-48C1-B3F0-6E801215610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5371E26-3307-4B0E-98F7-AD6C23AE35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34BB4B3-0B4B-48DD-ABDF-43E9259FAB88}"/>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68A4C4E4-35A6-49DF-9E04-8E80BD9A13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F80E63-91C8-430F-BFEB-4B1C44089EC9}"/>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2237089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A01766-2D86-4DC3-BBB5-5F15B7EC5B9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1076DD5-17F3-4E1F-B7EA-099C3AFC153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3A85C7E-BF89-4A92-86DC-120C5580DF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BC9A782-95AA-4716-859C-EAB65FE2FF93}"/>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6" name="Footer Placeholder 5">
            <a:extLst>
              <a:ext uri="{FF2B5EF4-FFF2-40B4-BE49-F238E27FC236}">
                <a16:creationId xmlns:a16="http://schemas.microsoft.com/office/drawing/2014/main" id="{533867BE-D471-4C5B-8AD6-205581EE54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93F95E-035B-4D77-AE65-8783A84E3C68}"/>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8509611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FF59E4-6DDA-4FD3-9E1A-32DA7437B09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8EA9AE8-FD2E-4315-9CC4-AD4390D80B2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9D0A50-CF53-4AE9-B8BB-1755D2A8F3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7F4500C-6818-458C-8756-DDE518F4E03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3D82D34-C207-4823-96F3-F8A67A0124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C59202F-AAD9-4C3E-B76F-ADEA74ADA342}"/>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8" name="Footer Placeholder 7">
            <a:extLst>
              <a:ext uri="{FF2B5EF4-FFF2-40B4-BE49-F238E27FC236}">
                <a16:creationId xmlns:a16="http://schemas.microsoft.com/office/drawing/2014/main" id="{D93706F5-861D-4A22-85A5-EE07D082D62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98D8E1B-1602-4DFE-96F7-7CD5CE3CA4A7}"/>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3889813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DC55F-0675-4FED-A57A-B7969BC95CF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C751D2D-FBFC-4800-9D71-0FEFDD9D1005}"/>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4" name="Footer Placeholder 3">
            <a:extLst>
              <a:ext uri="{FF2B5EF4-FFF2-40B4-BE49-F238E27FC236}">
                <a16:creationId xmlns:a16="http://schemas.microsoft.com/office/drawing/2014/main" id="{CE33143F-8CCA-4B3A-9925-D4C971EF79F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E5DB134-84DF-47B8-87FE-880D5C0469A0}"/>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41157986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B2402B-444B-446B-AB36-B50DC6A521E7}"/>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3" name="Footer Placeholder 2">
            <a:extLst>
              <a:ext uri="{FF2B5EF4-FFF2-40B4-BE49-F238E27FC236}">
                <a16:creationId xmlns:a16="http://schemas.microsoft.com/office/drawing/2014/main" id="{C05A272E-FB1C-4A8C-9C7D-F0C3F3109C1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F0FA3F8-4ED0-4A2F-B100-5FA3BE4F60BE}"/>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5551120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EBBF20-75EE-4BA2-9E0B-DCACA18E6C0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B013423-0CC6-4926-8792-9EFA4D29F85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0912676-16F4-4D33-9B1F-80CFF47524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89FB2E-F034-4DD4-B4C5-BA2C33B49D62}"/>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6" name="Footer Placeholder 5">
            <a:extLst>
              <a:ext uri="{FF2B5EF4-FFF2-40B4-BE49-F238E27FC236}">
                <a16:creationId xmlns:a16="http://schemas.microsoft.com/office/drawing/2014/main" id="{700E10C0-8480-42CD-A8C4-CC2064DAA1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33672E6-582D-48FD-84E6-618771384D25}"/>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10991344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FFD169-2A5D-43D0-B483-B8242784C92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3F0CA0F-285F-477C-8884-88E35323A0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D2D4FD7-F769-4281-9551-6743D9652C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8349C0F-A15F-45AC-9F83-0F3F6CA5FDE5}"/>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6" name="Footer Placeholder 5">
            <a:extLst>
              <a:ext uri="{FF2B5EF4-FFF2-40B4-BE49-F238E27FC236}">
                <a16:creationId xmlns:a16="http://schemas.microsoft.com/office/drawing/2014/main" id="{86927047-E306-4440-A019-78391C0A50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C7053C5-DF09-4C01-8419-856728AF5E2E}"/>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1146517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0C3380-FC59-47C0-83CE-A271F28C55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54E5CB2-89FA-44F8-9856-4D91399C0ED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A52B07-4C06-4377-A8DC-B7AFD8EB250D}"/>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811B84CD-410F-4C09-ABC5-5AB5E864ED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141815-AB1E-4982-B123-3065B248A6C1}"/>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5643228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E52F038-8883-487D-A3B6-12EFC9ACA24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405D04A-60DE-4A69-BEC2-369648CAA8E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BA3B895-C2D1-402C-B676-9A343A422A71}"/>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19B5B33D-7C05-4741-817C-F0794C56E9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0E8F48-593B-42C0-B81B-1032D017CCDF}"/>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18718481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ents slide layout">
    <p:spTree>
      <p:nvGrpSpPr>
        <p:cNvPr id="1" name=""/>
        <p:cNvGrpSpPr/>
        <p:nvPr/>
      </p:nvGrpSpPr>
      <p:grpSpPr>
        <a:xfrm>
          <a:off x="0" y="0"/>
          <a:ext cx="0" cy="0"/>
          <a:chOff x="0" y="0"/>
          <a:chExt cx="0" cy="0"/>
        </a:xfrm>
      </p:grpSpPr>
      <p:sp>
        <p:nvSpPr>
          <p:cNvPr id="2" name="Text Placeholder 9">
            <a:extLst>
              <a:ext uri="{FF2B5EF4-FFF2-40B4-BE49-F238E27FC236}">
                <a16:creationId xmlns:a16="http://schemas.microsoft.com/office/drawing/2014/main" id="{23DE32A5-6181-4C51-AD5C-3F1A448478A1}"/>
              </a:ext>
            </a:extLst>
          </p:cNvPr>
          <p:cNvSpPr>
            <a:spLocks noGrp="1"/>
          </p:cNvSpPr>
          <p:nvPr>
            <p:ph type="body" sz="quarter" idx="10" hasCustomPrompt="1"/>
          </p:nvPr>
        </p:nvSpPr>
        <p:spPr>
          <a:xfrm>
            <a:off x="323529" y="339509"/>
            <a:ext cx="11573197" cy="724247"/>
          </a:xfrm>
          <a:prstGeom prst="rect">
            <a:avLst/>
          </a:prstGeom>
        </p:spPr>
        <p:txBody>
          <a:bodyPr anchor="ctr"/>
          <a:lstStyle>
            <a:lvl1pPr marL="0" indent="0" algn="ctr">
              <a:buNone/>
              <a:defRPr sz="5400" b="0" baseline="0">
                <a:solidFill>
                  <a:schemeClr val="tx1">
                    <a:lumMod val="85000"/>
                    <a:lumOff val="15000"/>
                  </a:schemeClr>
                </a:solidFill>
                <a:latin typeface="+mj-lt"/>
                <a:cs typeface="Arial" pitchFamily="34" charset="0"/>
              </a:defRPr>
            </a:lvl1pPr>
          </a:lstStyle>
          <a:p>
            <a:pPr lvl="0"/>
            <a:r>
              <a:rPr lang="en-US" altLang="ko-KR"/>
              <a:t>BASIC LAYOUT</a:t>
            </a:r>
          </a:p>
        </p:txBody>
      </p:sp>
    </p:spTree>
    <p:extLst>
      <p:ext uri="{BB962C8B-B14F-4D97-AF65-F5344CB8AC3E}">
        <p14:creationId xmlns:p14="http://schemas.microsoft.com/office/powerpoint/2010/main" val="30015138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MENA Banner Green">
    <p:spTree>
      <p:nvGrpSpPr>
        <p:cNvPr id="1" name=""/>
        <p:cNvGrpSpPr/>
        <p:nvPr/>
      </p:nvGrpSpPr>
      <p:grpSpPr>
        <a:xfrm>
          <a:off x="0" y="0"/>
          <a:ext cx="0" cy="0"/>
          <a:chOff x="0" y="0"/>
          <a:chExt cx="0" cy="0"/>
        </a:xfrm>
      </p:grpSpPr>
      <p:pic>
        <p:nvPicPr>
          <p:cNvPr id="8" name="Picture 7" descr="A picture containing text, laser&#10;&#10;Description automatically generated">
            <a:extLst>
              <a:ext uri="{FF2B5EF4-FFF2-40B4-BE49-F238E27FC236}">
                <a16:creationId xmlns:a16="http://schemas.microsoft.com/office/drawing/2014/main" id="{EEDA9265-5A85-482F-A19E-07D90E057CF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2194626"/>
            <a:ext cx="12192000" cy="2468747"/>
          </a:xfrm>
          <a:prstGeom prst="rect">
            <a:avLst/>
          </a:prstGeom>
        </p:spPr>
      </p:pic>
      <p:sp>
        <p:nvSpPr>
          <p:cNvPr id="11" name="Text Placeholder 9">
            <a:extLst>
              <a:ext uri="{FF2B5EF4-FFF2-40B4-BE49-F238E27FC236}">
                <a16:creationId xmlns:a16="http://schemas.microsoft.com/office/drawing/2014/main" id="{C4F35587-E46B-4F51-BE64-91552515EB62}"/>
              </a:ext>
            </a:extLst>
          </p:cNvPr>
          <p:cNvSpPr>
            <a:spLocks noGrp="1"/>
          </p:cNvSpPr>
          <p:nvPr>
            <p:ph type="body" sz="quarter" idx="10"/>
          </p:nvPr>
        </p:nvSpPr>
        <p:spPr>
          <a:xfrm>
            <a:off x="3657600" y="2590800"/>
            <a:ext cx="7962900" cy="1651000"/>
          </a:xfrm>
          <a:prstGeom prst="rect">
            <a:avLst/>
          </a:prstGeom>
        </p:spPr>
        <p:txBody>
          <a:bodyPr/>
          <a:lstStyle>
            <a:lvl1pPr marL="0" indent="0">
              <a:buNone/>
              <a:defRPr sz="5400" b="1" cap="all" baseline="0">
                <a:solidFill>
                  <a:schemeClr val="bg1"/>
                </a:solidFill>
                <a:latin typeface="D-DIN" panose="020B0504030202030204" pitchFamily="34" charset="0"/>
              </a:defRPr>
            </a:lvl1pPr>
            <a:lvl2pPr>
              <a:defRPr>
                <a:solidFill>
                  <a:schemeClr val="bg1"/>
                </a:solidFill>
                <a:latin typeface="D-DIN" panose="020B0504030202030204" pitchFamily="34" charset="0"/>
              </a:defRPr>
            </a:lvl2pPr>
            <a:lvl3pPr>
              <a:defRPr>
                <a:solidFill>
                  <a:schemeClr val="bg1"/>
                </a:solidFill>
                <a:latin typeface="D-DIN" panose="020B0504030202030204" pitchFamily="34" charset="0"/>
              </a:defRPr>
            </a:lvl3pPr>
            <a:lvl4pPr>
              <a:defRPr>
                <a:solidFill>
                  <a:schemeClr val="bg1"/>
                </a:solidFill>
                <a:latin typeface="D-DIN" panose="020B0504030202030204" pitchFamily="34" charset="0"/>
              </a:defRPr>
            </a:lvl4pPr>
            <a:lvl5pPr>
              <a:defRPr>
                <a:solidFill>
                  <a:schemeClr val="bg1"/>
                </a:solidFill>
                <a:latin typeface="D-DIN" panose="020B0504030202030204" pitchFamily="34" charset="0"/>
              </a:defRPr>
            </a:lvl5pPr>
          </a:lstStyle>
          <a:p>
            <a:pPr lvl="0"/>
            <a:r>
              <a:rPr lang="en-US"/>
              <a:t>Click to edit Master text styles</a:t>
            </a:r>
          </a:p>
        </p:txBody>
      </p:sp>
    </p:spTree>
    <p:extLst>
      <p:ext uri="{BB962C8B-B14F-4D97-AF65-F5344CB8AC3E}">
        <p14:creationId xmlns:p14="http://schemas.microsoft.com/office/powerpoint/2010/main" val="3377267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06CF27-DF4A-4B95-9013-941968021B7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4EFC637-AF36-4E6E-BEC2-9EF73CA6BC0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6387F4-B91B-4EF7-A24F-16ECD3A2389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1C5D149C-CDF5-4D73-9DCC-9BDDE9C759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BD58DC1-9A64-41CE-A01A-2617A2ED0B8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4BEFA63-E5B4-4C2C-B6C3-FFA0DCD77FC0}" type="slidenum">
              <a:rPr lang="en-US" smtClean="0"/>
              <a:t>‹#›</a:t>
            </a:fld>
            <a:endParaRPr lang="en-US"/>
          </a:p>
        </p:txBody>
      </p:sp>
    </p:spTree>
    <p:extLst>
      <p:ext uri="{BB962C8B-B14F-4D97-AF65-F5344CB8AC3E}">
        <p14:creationId xmlns:p14="http://schemas.microsoft.com/office/powerpoint/2010/main" val="252021037"/>
      </p:ext>
    </p:extLst>
  </p:cSld>
  <p:clrMap bg1="lt1" tx1="dk1" bg2="lt2" tx2="dk2" accent1="accent1" accent2="accent2" accent3="accent3" accent4="accent4" accent5="accent5" accent6="accent6" hlink="hlink" folHlink="folHlink"/>
  <p:sldLayoutIdLst>
    <p:sldLayoutId id="2147483692" r:id="rId1"/>
    <p:sldLayoutId id="2147483693" r:id="rId2"/>
    <p:sldLayoutId id="2147483694" r:id="rId3"/>
    <p:sldLayoutId id="2147483695" r:id="rId4"/>
    <p:sldLayoutId id="2147483696" r:id="rId5"/>
    <p:sldLayoutId id="2147483697" r:id="rId6"/>
    <p:sldLayoutId id="2147483698" r:id="rId7"/>
    <p:sldLayoutId id="2147483699" r:id="rId8"/>
    <p:sldLayoutId id="2147483700" r:id="rId9"/>
    <p:sldLayoutId id="2147483701" r:id="rId10"/>
    <p:sldLayoutId id="2147483702" r:id="rId11"/>
    <p:sldLayoutId id="2147483704" r:id="rId12"/>
    <p:sldLayoutId id="2147483705"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2.jpeg"/><Relationship Id="rId7" Type="http://schemas.openxmlformats.org/officeDocument/2006/relationships/image" Target="../media/image6.jpe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jpeg"/><Relationship Id="rId5" Type="http://schemas.openxmlformats.org/officeDocument/2006/relationships/image" Target="../media/image4.png"/><Relationship Id="rId4" Type="http://schemas.openxmlformats.org/officeDocument/2006/relationships/image" Target="../media/image3.jpeg"/><Relationship Id="rId9" Type="http://schemas.openxmlformats.org/officeDocument/2006/relationships/image" Target="../media/image8.jpeg"/></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chart" Target="../charts/chart2.xm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chart" Target="../charts/chart4.xml"/></Relationships>
</file>

<file path=ppt/slides/_rels/slide6.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chart" Target="../charts/chart9.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A47FE6B-772A-4BF7-B363-A1801DC0ADFA}"/>
              </a:ext>
            </a:extLst>
          </p:cNvPr>
          <p:cNvSpPr>
            <a:spLocks noGrp="1"/>
          </p:cNvSpPr>
          <p:nvPr>
            <p:ph type="body" sz="quarter" idx="10"/>
          </p:nvPr>
        </p:nvSpPr>
        <p:spPr/>
        <p:txBody>
          <a:bodyPr/>
          <a:lstStyle/>
          <a:p>
            <a:r>
              <a:rPr lang="en-CA" sz="1600" dirty="0"/>
              <a:t>Mise à jour économique MENA – avril 2021</a:t>
            </a:r>
          </a:p>
          <a:p>
            <a:r>
              <a:rPr lang="en-CA" sz="1600" dirty="0"/>
              <a:t>Vivre avec la dette : comment les institutions peuvent tracer une voie vers la reprise au Moyen-Orient et en Afrique du Nord</a:t>
            </a:r>
          </a:p>
        </p:txBody>
      </p:sp>
    </p:spTree>
    <p:extLst>
      <p:ext uri="{BB962C8B-B14F-4D97-AF65-F5344CB8AC3E}">
        <p14:creationId xmlns:p14="http://schemas.microsoft.com/office/powerpoint/2010/main" val="9850886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281EE4-E02A-4B40-9C4D-CA1C72C0533B}"/>
              </a:ext>
            </a:extLst>
          </p:cNvPr>
          <p:cNvSpPr>
            <a:spLocks noGrp="1"/>
          </p:cNvSpPr>
          <p:nvPr>
            <p:ph type="title"/>
          </p:nvPr>
        </p:nvSpPr>
        <p:spPr>
          <a:xfrm>
            <a:off x="838200" y="365126"/>
            <a:ext cx="10515600" cy="948454"/>
          </a:xfrm>
        </p:spPr>
        <p:txBody>
          <a:bodyPr/>
          <a:lstStyle/>
          <a:p>
            <a:r>
              <a:rPr lang="en-US" b="1" dirty="0"/>
              <a:t>Auteurs</a:t>
            </a:r>
          </a:p>
        </p:txBody>
      </p:sp>
      <p:pic>
        <p:nvPicPr>
          <p:cNvPr id="1026" name="Picture 20">
            <a:extLst>
              <a:ext uri="{FF2B5EF4-FFF2-40B4-BE49-F238E27FC236}">
                <a16:creationId xmlns:a16="http://schemas.microsoft.com/office/drawing/2014/main" id="{B859C672-2C44-4BA6-9910-F8598ADADD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8376" y="2730721"/>
            <a:ext cx="1035382" cy="1051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7" name="Picture 3">
            <a:extLst>
              <a:ext uri="{FF2B5EF4-FFF2-40B4-BE49-F238E27FC236}">
                <a16:creationId xmlns:a16="http://schemas.microsoft.com/office/drawing/2014/main" id="{C67D2300-3E90-47E3-8F0A-CD079D9387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0511" y="3950155"/>
            <a:ext cx="1051560" cy="1059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3">
            <a:extLst>
              <a:ext uri="{FF2B5EF4-FFF2-40B4-BE49-F238E27FC236}">
                <a16:creationId xmlns:a16="http://schemas.microsoft.com/office/drawing/2014/main" id="{CC5EC66E-011C-42CA-8204-C700A4C29C42}"/>
              </a:ext>
            </a:extLst>
          </p:cNvPr>
          <p:cNvSpPr/>
          <p:nvPr/>
        </p:nvSpPr>
        <p:spPr>
          <a:xfrm>
            <a:off x="2049449" y="1619323"/>
            <a:ext cx="3807913"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Roberta Gatti</a:t>
            </a:r>
          </a:p>
          <a:p>
            <a:r>
              <a:rPr lang="en-US" sz="1400" cap="all"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Économiste en chef, Moyen-Orient et Afrique du Nord, La Banque mondiale</a:t>
            </a:r>
          </a:p>
        </p:txBody>
      </p:sp>
      <p:sp>
        <p:nvSpPr>
          <p:cNvPr id="5" name="Rectangle 4">
            <a:extLst>
              <a:ext uri="{FF2B5EF4-FFF2-40B4-BE49-F238E27FC236}">
                <a16:creationId xmlns:a16="http://schemas.microsoft.com/office/drawing/2014/main" id="{7B0E5445-683E-4387-9424-D05B1C191B88}"/>
              </a:ext>
            </a:extLst>
          </p:cNvPr>
          <p:cNvSpPr/>
          <p:nvPr/>
        </p:nvSpPr>
        <p:spPr>
          <a:xfrm>
            <a:off x="7291705" y="1547957"/>
            <a:ext cx="4625613" cy="738664"/>
          </a:xfrm>
          <a:prstGeom prst="rect">
            <a:avLst/>
          </a:prstGeom>
        </p:spPr>
        <p:txBody>
          <a:bodyPr wrap="square">
            <a:spAutoFit/>
          </a:bodyPr>
          <a:lstStyle/>
          <a:p>
            <a:r>
              <a:rPr lang="en-US" sz="1400"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DANIEL LEDERMAN</a:t>
            </a:r>
          </a:p>
          <a:p>
            <a:r>
              <a:rPr lang="en-US" sz="1400"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Économiste en chef adjoint, Moyen-Orient et Afrique du Nord, La Banque mondiale </a:t>
            </a:r>
          </a:p>
        </p:txBody>
      </p:sp>
      <p:sp>
        <p:nvSpPr>
          <p:cNvPr id="6" name="Rectangle 5">
            <a:extLst>
              <a:ext uri="{FF2B5EF4-FFF2-40B4-BE49-F238E27FC236}">
                <a16:creationId xmlns:a16="http://schemas.microsoft.com/office/drawing/2014/main" id="{819134D8-C278-47F4-A693-6CE13DA2DECC}"/>
              </a:ext>
            </a:extLst>
          </p:cNvPr>
          <p:cNvSpPr/>
          <p:nvPr/>
        </p:nvSpPr>
        <p:spPr>
          <a:xfrm>
            <a:off x="1915885" y="2812165"/>
            <a:ext cx="4040777"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ha minh nguyen</a:t>
            </a:r>
          </a:p>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Économiste principal, Bureau de l’économiste en chef, Moyen-Orient et Afrique du Nord, La Banque mondiale</a:t>
            </a:r>
          </a:p>
        </p:txBody>
      </p:sp>
      <p:pic>
        <p:nvPicPr>
          <p:cNvPr id="1031" name="Picture 7" descr="Asif Islam's picture">
            <a:extLst>
              <a:ext uri="{FF2B5EF4-FFF2-40B4-BE49-F238E27FC236}">
                <a16:creationId xmlns:a16="http://schemas.microsoft.com/office/drawing/2014/main" id="{B099F863-645E-4919-A450-538AD47C2FD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26933" y="2733927"/>
            <a:ext cx="1051560" cy="105156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993575B5-2A6E-4CE8-AECB-A84964D63DAF}"/>
              </a:ext>
            </a:extLst>
          </p:cNvPr>
          <p:cNvSpPr/>
          <p:nvPr/>
        </p:nvSpPr>
        <p:spPr>
          <a:xfrm>
            <a:off x="7178493" y="2877284"/>
            <a:ext cx="4040777"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Asif Islam</a:t>
            </a:r>
          </a:p>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Économiste principal, Bureau de l’économiste en chef, Moyen-Orient et Afrique du Nord, La Banque mondiale</a:t>
            </a:r>
          </a:p>
        </p:txBody>
      </p:sp>
      <p:sp>
        <p:nvSpPr>
          <p:cNvPr id="7" name="Rectangle 6">
            <a:extLst>
              <a:ext uri="{FF2B5EF4-FFF2-40B4-BE49-F238E27FC236}">
                <a16:creationId xmlns:a16="http://schemas.microsoft.com/office/drawing/2014/main" id="{5F44FE37-5FFB-4BB4-98F7-5B02F6DDB6DF}"/>
              </a:ext>
            </a:extLst>
          </p:cNvPr>
          <p:cNvSpPr/>
          <p:nvPr/>
        </p:nvSpPr>
        <p:spPr>
          <a:xfrm>
            <a:off x="1915885" y="3881325"/>
            <a:ext cx="3866606" cy="738664"/>
          </a:xfrm>
          <a:prstGeom prst="rect">
            <a:avLst/>
          </a:prstGeom>
        </p:spPr>
        <p:txBody>
          <a:bodyPr wrap="square">
            <a:spAutoFit/>
          </a:bodyPr>
          <a:lstStyle/>
          <a:p>
            <a:r>
              <a:rPr lang="en-US" sz="1400" cap="all" dirty="0" err="1">
                <a:solidFill>
                  <a:srgbClr val="000000"/>
                </a:solidFill>
                <a:latin typeface="Bahnschrift" panose="020B0502040204020203" pitchFamily="34" charset="0"/>
                <a:ea typeface="DengXian" panose="02010600030101010101" pitchFamily="2" charset="-122"/>
                <a:cs typeface="Calibri" panose="020F0502020204030204" pitchFamily="34" charset="0"/>
              </a:rPr>
              <a:t>rachel yuting fan</a:t>
            </a:r>
          </a:p>
          <a:p>
            <a:r>
              <a:rPr lang="en-US" sz="1400" cap="all" dirty="0" err="1">
                <a:solidFill>
                  <a:srgbClr val="000000"/>
                </a:solidFill>
                <a:latin typeface="Bahnschrift" panose="020B0502040204020203" pitchFamily="34" charset="0"/>
                <a:ea typeface="DengXian" panose="02010600030101010101" pitchFamily="2" charset="-122"/>
                <a:cs typeface="Calibri" panose="020F0502020204030204" pitchFamily="34" charset="0"/>
              </a:rPr>
              <a:t>Économiste, Bureau de l’économiste en chef, Moyen-Orient et Afrique du Nord, La Banque mondiale</a:t>
            </a:r>
          </a:p>
        </p:txBody>
      </p:sp>
      <p:pic>
        <p:nvPicPr>
          <p:cNvPr id="1033" name="Picture 9" descr="Image">
            <a:extLst>
              <a:ext uri="{FF2B5EF4-FFF2-40B4-BE49-F238E27FC236}">
                <a16:creationId xmlns:a16="http://schemas.microsoft.com/office/drawing/2014/main" id="{FB1CFA70-AD78-404D-8F65-B45176AFFB0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126933" y="3958583"/>
            <a:ext cx="1051560" cy="1051560"/>
          </a:xfrm>
          <a:prstGeom prst="rect">
            <a:avLst/>
          </a:prstGeom>
          <a:noFill/>
          <a:extLst>
            <a:ext uri="{909E8E84-426E-40DD-AFC4-6F175D3DCCD1}">
              <a14:hiddenFill xmlns:a14="http://schemas.microsoft.com/office/drawing/2010/main">
                <a:solidFill>
                  <a:srgbClr val="FFFFFF"/>
                </a:solidFill>
              </a14:hiddenFill>
            </a:ext>
          </a:extLst>
        </p:spPr>
      </p:pic>
      <p:sp>
        <p:nvSpPr>
          <p:cNvPr id="15" name="Rectangle 14">
            <a:extLst>
              <a:ext uri="{FF2B5EF4-FFF2-40B4-BE49-F238E27FC236}">
                <a16:creationId xmlns:a16="http://schemas.microsoft.com/office/drawing/2014/main" id="{C0CDA3DE-2E92-487D-B50D-FD0C1E7759A1}"/>
              </a:ext>
            </a:extLst>
          </p:cNvPr>
          <p:cNvSpPr/>
          <p:nvPr/>
        </p:nvSpPr>
        <p:spPr>
          <a:xfrm>
            <a:off x="7178493" y="4096769"/>
            <a:ext cx="3866606"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Claudio Rojas</a:t>
            </a:r>
          </a:p>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Consultant, Bureau de l’économiste en chef, Moyen-Orient et Afrique du Nord, La Banque mondiale</a:t>
            </a:r>
          </a:p>
        </p:txBody>
      </p:sp>
      <p:pic>
        <p:nvPicPr>
          <p:cNvPr id="1035" name="Picture 11" descr="Sultan Alturki, Ph.D.">
            <a:extLst>
              <a:ext uri="{FF2B5EF4-FFF2-40B4-BE49-F238E27FC236}">
                <a16:creationId xmlns:a16="http://schemas.microsoft.com/office/drawing/2014/main" id="{1349BF3F-B40F-41D8-BDB4-E3413E7D55B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73280" y="5211661"/>
            <a:ext cx="1051560" cy="1051560"/>
          </a:xfrm>
          <a:prstGeom prst="rect">
            <a:avLst/>
          </a:prstGeom>
          <a:noFill/>
          <a:extLst>
            <a:ext uri="{909E8E84-426E-40DD-AFC4-6F175D3DCCD1}">
              <a14:hiddenFill xmlns:a14="http://schemas.microsoft.com/office/drawing/2010/main">
                <a:solidFill>
                  <a:srgbClr val="FFFFFF"/>
                </a:solidFill>
              </a14:hiddenFill>
            </a:ext>
          </a:extLst>
        </p:spPr>
      </p:pic>
      <p:sp>
        <p:nvSpPr>
          <p:cNvPr id="17" name="Rectangle 16">
            <a:extLst>
              <a:ext uri="{FF2B5EF4-FFF2-40B4-BE49-F238E27FC236}">
                <a16:creationId xmlns:a16="http://schemas.microsoft.com/office/drawing/2014/main" id="{0CC0E6B4-86C8-48B1-87F0-83ABAF458F23}"/>
              </a:ext>
            </a:extLst>
          </p:cNvPr>
          <p:cNvSpPr/>
          <p:nvPr/>
        </p:nvSpPr>
        <p:spPr>
          <a:xfrm>
            <a:off x="1924840" y="5376547"/>
            <a:ext cx="3866606"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Sultan Alturki</a:t>
            </a:r>
          </a:p>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Consultant, Bureau de l’économiste en chef, Moyen-Orient et Afrique du Nord, La Banque mondiale</a:t>
            </a:r>
          </a:p>
        </p:txBody>
      </p:sp>
      <p:pic>
        <p:nvPicPr>
          <p:cNvPr id="1037" name="Picture 13" descr="Image">
            <a:extLst>
              <a:ext uri="{FF2B5EF4-FFF2-40B4-BE49-F238E27FC236}">
                <a16:creationId xmlns:a16="http://schemas.microsoft.com/office/drawing/2014/main" id="{6D229B9F-18CC-4034-99A7-081CDE799AC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77090" y="1481453"/>
            <a:ext cx="1047750" cy="1047750"/>
          </a:xfrm>
          <a:prstGeom prst="rect">
            <a:avLst/>
          </a:prstGeom>
          <a:noFill/>
          <a:extLst>
            <a:ext uri="{909E8E84-426E-40DD-AFC4-6F175D3DCCD1}">
              <a14:hiddenFill xmlns:a14="http://schemas.microsoft.com/office/drawing/2010/main">
                <a:solidFill>
                  <a:srgbClr val="FFFFFF"/>
                </a:solidFill>
              </a14:hiddenFill>
            </a:ext>
          </a:extLst>
        </p:spPr>
      </p:pic>
      <p:pic>
        <p:nvPicPr>
          <p:cNvPr id="1039" name="Picture 15">
            <a:extLst>
              <a:ext uri="{FF2B5EF4-FFF2-40B4-BE49-F238E27FC236}">
                <a16:creationId xmlns:a16="http://schemas.microsoft.com/office/drawing/2014/main" id="{F192DE54-0457-40DA-8B5D-890C8B7C3562}"/>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15934" t="2006" r="21208" b="53502"/>
          <a:stretch/>
        </p:blipFill>
        <p:spPr bwMode="auto">
          <a:xfrm>
            <a:off x="6106581" y="1430285"/>
            <a:ext cx="1051560" cy="10315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56390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14"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8" name="Freeform: Shape 17">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86D0F4FB-7E05-4645-BF84-6B108CB765C8}"/>
              </a:ext>
            </a:extLst>
          </p:cNvPr>
          <p:cNvSpPr>
            <a:spLocks noGrp="1"/>
          </p:cNvSpPr>
          <p:nvPr>
            <p:ph type="title"/>
          </p:nvPr>
        </p:nvSpPr>
        <p:spPr>
          <a:xfrm>
            <a:off x="786385" y="841248"/>
            <a:ext cx="3515244" cy="5340097"/>
          </a:xfrm>
        </p:spPr>
        <p:txBody>
          <a:bodyPr anchor="ctr">
            <a:normAutofit/>
          </a:bodyPr>
          <a:lstStyle/>
          <a:p>
            <a:r>
              <a:rPr lang="en-US" sz="4800">
                <a:solidFill>
                  <a:schemeClr val="bg1"/>
                </a:solidFill>
              </a:rPr>
              <a:t>Principaux résultats</a:t>
            </a:r>
          </a:p>
        </p:txBody>
      </p:sp>
      <p:graphicFrame>
        <p:nvGraphicFramePr>
          <p:cNvPr id="5" name="Content Placeholder 2">
            <a:extLst>
              <a:ext uri="{FF2B5EF4-FFF2-40B4-BE49-F238E27FC236}">
                <a16:creationId xmlns:a16="http://schemas.microsoft.com/office/drawing/2014/main" id="{690D5FDA-D6ED-4268-923E-DA117D021B03}"/>
              </a:ext>
            </a:extLst>
          </p:cNvPr>
          <p:cNvGraphicFramePr>
            <a:graphicFrameLocks noGrp="1"/>
          </p:cNvGraphicFramePr>
          <p:nvPr>
            <p:ph idx="1"/>
            <p:extLst>
              <p:ext uri="{D42A27DB-BD31-4B8C-83A1-F6EECF244321}">
                <p14:modId xmlns:p14="http://schemas.microsoft.com/office/powerpoint/2010/main" val="1661654"/>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573749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Chart 8">
            <a:extLst>
              <a:ext uri="{FF2B5EF4-FFF2-40B4-BE49-F238E27FC236}">
                <a16:creationId xmlns:a16="http://schemas.microsoft.com/office/drawing/2014/main" id="{2EF258E1-700C-4749-B5ED-EF35BBDAC1F5}"/>
              </a:ext>
            </a:extLst>
          </p:cNvPr>
          <p:cNvGraphicFramePr>
            <a:graphicFrameLocks/>
          </p:cNvGraphicFramePr>
          <p:nvPr>
            <p:extLst>
              <p:ext uri="{D42A27DB-BD31-4B8C-83A1-F6EECF244321}">
                <p14:modId xmlns:p14="http://schemas.microsoft.com/office/powerpoint/2010/main" val="3786985761"/>
              </p:ext>
            </p:extLst>
          </p:nvPr>
        </p:nvGraphicFramePr>
        <p:xfrm>
          <a:off x="6603198" y="1627281"/>
          <a:ext cx="4295775" cy="3845287"/>
        </p:xfrm>
        <a:graphic>
          <a:graphicData uri="http://schemas.openxmlformats.org/drawingml/2006/chart">
            <c:chart xmlns:c="http://schemas.openxmlformats.org/drawingml/2006/chart" xmlns:r="http://schemas.openxmlformats.org/officeDocument/2006/relationships" r:id="rId3"/>
          </a:graphicData>
        </a:graphic>
      </p:graphicFrame>
      <p:sp>
        <p:nvSpPr>
          <p:cNvPr id="2" name="Text Placeholder 1">
            <a:extLst>
              <a:ext uri="{FF2B5EF4-FFF2-40B4-BE49-F238E27FC236}">
                <a16:creationId xmlns:a16="http://schemas.microsoft.com/office/drawing/2014/main" id="{DBF3886C-A3FA-4B71-B0F4-F6A72485CA6B}"/>
              </a:ext>
            </a:extLst>
          </p:cNvPr>
          <p:cNvSpPr>
            <a:spLocks noGrp="1"/>
          </p:cNvSpPr>
          <p:nvPr>
            <p:ph type="body" sz="quarter" idx="10"/>
          </p:nvPr>
        </p:nvSpPr>
        <p:spPr>
          <a:xfrm>
            <a:off x="323528" y="615956"/>
            <a:ext cx="11573197" cy="724247"/>
          </a:xfrm>
        </p:spPr>
        <p:txBody>
          <a:bodyPr>
            <a:normAutofit/>
          </a:bodyPr>
          <a:lstStyle/>
          <a:p>
            <a:r>
              <a:rPr lang="en-US" sz="4400">
                <a:solidFill>
                  <a:schemeClr val="accent6">
                    <a:lumMod val="50000"/>
                  </a:schemeClr>
                </a:solidFill>
              </a:rPr>
              <a:t>Une région toujours en crise : des pertes durables du PIB</a:t>
            </a:r>
          </a:p>
        </p:txBody>
      </p:sp>
      <p:graphicFrame>
        <p:nvGraphicFramePr>
          <p:cNvPr id="3" name="Chart 2">
            <a:extLst>
              <a:ext uri="{FF2B5EF4-FFF2-40B4-BE49-F238E27FC236}">
                <a16:creationId xmlns:a16="http://schemas.microsoft.com/office/drawing/2014/main" id="{9CBC18ED-0CCD-4896-B453-04A7C4F8E56A}"/>
              </a:ext>
            </a:extLst>
          </p:cNvPr>
          <p:cNvGraphicFramePr/>
          <p:nvPr>
            <p:extLst>
              <p:ext uri="{D42A27DB-BD31-4B8C-83A1-F6EECF244321}">
                <p14:modId xmlns:p14="http://schemas.microsoft.com/office/powerpoint/2010/main" val="4196070741"/>
              </p:ext>
            </p:extLst>
          </p:nvPr>
        </p:nvGraphicFramePr>
        <p:xfrm>
          <a:off x="1814352" y="1627281"/>
          <a:ext cx="4295775" cy="3994019"/>
        </p:xfrm>
        <a:graphic>
          <a:graphicData uri="http://schemas.openxmlformats.org/drawingml/2006/chart">
            <c:chart xmlns:c="http://schemas.openxmlformats.org/drawingml/2006/chart" xmlns:r="http://schemas.openxmlformats.org/officeDocument/2006/relationships" r:id="rId4"/>
          </a:graphicData>
        </a:graphic>
      </p:graphicFrame>
      <p:cxnSp>
        <p:nvCxnSpPr>
          <p:cNvPr id="7" name="Straight Connector 6">
            <a:extLst>
              <a:ext uri="{FF2B5EF4-FFF2-40B4-BE49-F238E27FC236}">
                <a16:creationId xmlns:a16="http://schemas.microsoft.com/office/drawing/2014/main" id="{1DD2C138-BCA2-4411-85B9-C8546C7BB543}"/>
              </a:ext>
            </a:extLst>
          </p:cNvPr>
          <p:cNvCxnSpPr/>
          <p:nvPr/>
        </p:nvCxnSpPr>
        <p:spPr>
          <a:xfrm>
            <a:off x="2226365" y="3313043"/>
            <a:ext cx="3869635" cy="0"/>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0DF4AAC-AE46-4CCC-AA07-52E9942A36CA}"/>
              </a:ext>
            </a:extLst>
          </p:cNvPr>
          <p:cNvSpPr txBox="1"/>
          <p:nvPr/>
        </p:nvSpPr>
        <p:spPr>
          <a:xfrm>
            <a:off x="408793" y="5442049"/>
            <a:ext cx="11374414" cy="1323439"/>
          </a:xfrm>
          <a:prstGeom prst="rect">
            <a:avLst/>
          </a:prstGeom>
          <a:noFill/>
        </p:spPr>
        <p:txBody>
          <a:bodyPr wrap="square" rtlCol="0">
            <a:spAutoFit/>
          </a:bodyPr>
          <a:lstStyle/>
          <a:p>
            <a:r>
              <a:rPr lang="en-GB" sz="2000" dirty="0"/>
              <a:t>D’ici 2021, l’économie régionale devrait se situer 7,2 points de pourcentage en dessous du niveau de PIB « sans pandémie », soit l’équivalent de 227 milliards de dollars ; le PIB par habitant (un indicateur du niveau de développement qui détermine la pauvreté) restera inférieur d’environ 5 % au niveau de 2019</a:t>
            </a:r>
          </a:p>
          <a:p>
            <a:r>
              <a:rPr lang="en-GB" sz="2000" dirty="0"/>
              <a:t/>
            </a:r>
          </a:p>
        </p:txBody>
      </p:sp>
      <p:cxnSp>
        <p:nvCxnSpPr>
          <p:cNvPr id="8" name="Straight Connector 7">
            <a:extLst>
              <a:ext uri="{FF2B5EF4-FFF2-40B4-BE49-F238E27FC236}">
                <a16:creationId xmlns:a16="http://schemas.microsoft.com/office/drawing/2014/main" id="{C940EF00-9239-4C31-8D03-BCB742AB3821}"/>
              </a:ext>
            </a:extLst>
          </p:cNvPr>
          <p:cNvCxnSpPr>
            <a:cxnSpLocks/>
          </p:cNvCxnSpPr>
          <p:nvPr/>
        </p:nvCxnSpPr>
        <p:spPr>
          <a:xfrm>
            <a:off x="6983913" y="3303867"/>
            <a:ext cx="3637195" cy="0"/>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2264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715090-2DD7-43DE-9355-52B701B403E3}"/>
              </a:ext>
            </a:extLst>
          </p:cNvPr>
          <p:cNvSpPr>
            <a:spLocks noGrp="1"/>
          </p:cNvSpPr>
          <p:nvPr>
            <p:ph type="body" sz="quarter" idx="10"/>
          </p:nvPr>
        </p:nvSpPr>
        <p:spPr/>
        <p:txBody>
          <a:bodyPr>
            <a:normAutofit/>
          </a:bodyPr>
          <a:lstStyle/>
          <a:p>
            <a:r>
              <a:rPr lang="en-US" sz="3600" dirty="0">
                <a:solidFill>
                  <a:schemeClr val="accent6">
                    <a:lumMod val="50000"/>
                  </a:schemeClr>
                </a:solidFill>
              </a:rPr>
              <a:t>Une région toujours en crise : pertes de PIB par habitant</a:t>
            </a:r>
          </a:p>
        </p:txBody>
      </p:sp>
      <p:sp>
        <p:nvSpPr>
          <p:cNvPr id="5" name="Rectangle 4">
            <a:extLst>
              <a:ext uri="{FF2B5EF4-FFF2-40B4-BE49-F238E27FC236}">
                <a16:creationId xmlns:a16="http://schemas.microsoft.com/office/drawing/2014/main" id="{90E8733A-7A89-4BB1-B25D-D7DDAE24AC3F}"/>
              </a:ext>
            </a:extLst>
          </p:cNvPr>
          <p:cNvSpPr/>
          <p:nvPr/>
        </p:nvSpPr>
        <p:spPr>
          <a:xfrm>
            <a:off x="1009650" y="5413244"/>
            <a:ext cx="10382250" cy="676467"/>
          </a:xfrm>
          <a:prstGeom prst="rect">
            <a:avLst/>
          </a:prstGeom>
        </p:spPr>
        <p:txBody>
          <a:bodyPr wrap="square">
            <a:spAutoFit/>
          </a:bodyPr>
          <a:lstStyle/>
          <a:p>
            <a:r>
              <a:rPr kumimoji="0" 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rPr>
              <a:t>Source : Banque mondiale, Macro and Poverty Outlook (avril 2021 et octobre 2019) et calculs des services de la Banque mondiale.</a:t>
            </a:r>
          </a:p>
          <a:p>
            <a:r>
              <a:rPr kumimoji="0" 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rPr>
              <a:t>Note : Les lignes pointillées indiquent les niveaux de PIB par habitant prévus dans le scénario contrefactuel sans pandémie (sur la base des prévisions de PIB par habitant d’octobre 2019). Les lignes pleines indiquent les niveaux de PIB par habitant prévus dans le scénario de pandémie (sur la base des prévisions de PIB par habitant d’avril 2021).</a:t>
            </a:r>
          </a:p>
        </p:txBody>
      </p:sp>
      <p:sp>
        <p:nvSpPr>
          <p:cNvPr id="6" name="Rectangle 5">
            <a:extLst>
              <a:ext uri="{FF2B5EF4-FFF2-40B4-BE49-F238E27FC236}">
                <a16:creationId xmlns:a16="http://schemas.microsoft.com/office/drawing/2014/main" id="{5378120B-9D93-4E80-B5D9-D1A813847AC3}"/>
              </a:ext>
            </a:extLst>
          </p:cNvPr>
          <p:cNvSpPr/>
          <p:nvPr/>
        </p:nvSpPr>
        <p:spPr>
          <a:xfrm>
            <a:off x="8905862" y="1142998"/>
            <a:ext cx="3059612" cy="2092881"/>
          </a:xfrm>
          <a:prstGeom prst="rect">
            <a:avLst/>
          </a:prstGeom>
        </p:spPr>
        <p:txBody>
          <a:bodyPr wrap="square" lIns="91440" tIns="45720" rIns="91440" bIns="45720" anchor="t">
            <a:spAutoFit/>
          </a:bodyPr>
          <a:lstStyle/>
          <a:p>
            <a:r>
              <a:rPr lang="en-US" b="1" dirty="0">
                <a:latin typeface="Calibri"/>
                <a:cs typeface="Calibri"/>
              </a:rPr>
              <a:t>Pertes d’ici 2021 :</a:t>
            </a:r>
          </a:p>
          <a:p>
            <a:r>
              <a:rPr lang="en-US" b="1" dirty="0">
                <a:latin typeface="Calibri"/>
                <a:cs typeface="Calibri"/>
              </a:rPr>
              <a:t/>
            </a:r>
          </a:p>
          <a:p>
            <a:r>
              <a:rPr lang="en-US" b="1" dirty="0">
                <a:latin typeface="Calibri"/>
                <a:cs typeface="Calibri"/>
              </a:rPr>
              <a:t>MENA : 7,0 %</a:t>
            </a:r>
          </a:p>
          <a:p>
            <a:r>
              <a:rPr lang="en-US" b="1" dirty="0">
                <a:latin typeface="Calibri"/>
                <a:cs typeface="Calibri"/>
              </a:rPr>
              <a:t/>
            </a:r>
          </a:p>
          <a:p>
            <a:r>
              <a:rPr lang="en-US" b="1" dirty="0">
                <a:latin typeface="Calibri"/>
                <a:cs typeface="Calibri"/>
              </a:rPr>
              <a:t>GCC : 7,3 %</a:t>
            </a:r>
          </a:p>
          <a:p>
            <a:r>
              <a:rPr lang="en-US" b="1" dirty="0">
                <a:latin typeface="Calibri"/>
                <a:cs typeface="Calibri"/>
              </a:rPr>
              <a:t/>
            </a:r>
          </a:p>
          <a:p>
            <a:r>
              <a:rPr lang="en-US" b="1" dirty="0">
                <a:latin typeface="Calibri"/>
                <a:cs typeface="Calibri"/>
              </a:rPr>
              <a:t>Exportateurs de pétrole à revenu intermédiaire : 4,6 %</a:t>
            </a:r>
          </a:p>
          <a:p>
            <a:r>
              <a:rPr lang="en-US" b="1" dirty="0">
                <a:latin typeface="Calibri"/>
                <a:cs typeface="Calibri"/>
              </a:rPr>
              <a:t/>
            </a:r>
          </a:p>
          <a:p>
            <a:r>
              <a:rPr lang="en-US" b="1" dirty="0">
                <a:latin typeface="Calibri"/>
                <a:cs typeface="Calibri"/>
              </a:rPr>
              <a:t>Importateurs de pétrole à revenu intermédiaire : 8,6 %</a:t>
            </a:r>
          </a:p>
        </p:txBody>
      </p:sp>
      <p:graphicFrame>
        <p:nvGraphicFramePr>
          <p:cNvPr id="9" name="Chart 8">
            <a:extLst>
              <a:ext uri="{FF2B5EF4-FFF2-40B4-BE49-F238E27FC236}">
                <a16:creationId xmlns:a16="http://schemas.microsoft.com/office/drawing/2014/main" id="{2EF258E1-700C-4749-B5ED-EF35BBDAC1F5}"/>
              </a:ext>
            </a:extLst>
          </p:cNvPr>
          <p:cNvGraphicFramePr>
            <a:graphicFrameLocks/>
          </p:cNvGraphicFramePr>
          <p:nvPr>
            <p:extLst>
              <p:ext uri="{D42A27DB-BD31-4B8C-83A1-F6EECF244321}">
                <p14:modId xmlns:p14="http://schemas.microsoft.com/office/powerpoint/2010/main" val="351734779"/>
              </p:ext>
            </p:extLst>
          </p:nvPr>
        </p:nvGraphicFramePr>
        <p:xfrm>
          <a:off x="1280013" y="1181100"/>
          <a:ext cx="2926080" cy="41148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9BB88AFC-0FDD-4D80-A82E-F69212A5C0A7}"/>
              </a:ext>
            </a:extLst>
          </p:cNvPr>
          <p:cNvGraphicFramePr>
            <a:graphicFrameLocks/>
          </p:cNvGraphicFramePr>
          <p:nvPr>
            <p:extLst>
              <p:ext uri="{D42A27DB-BD31-4B8C-83A1-F6EECF244321}">
                <p14:modId xmlns:p14="http://schemas.microsoft.com/office/powerpoint/2010/main" val="2526975853"/>
              </p:ext>
            </p:extLst>
          </p:nvPr>
        </p:nvGraphicFramePr>
        <p:xfrm>
          <a:off x="4959228" y="1181100"/>
          <a:ext cx="2926080" cy="4232144"/>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7635259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7A4F677-CFFB-4133-8356-006EA710E02D}"/>
              </a:ext>
            </a:extLst>
          </p:cNvPr>
          <p:cNvSpPr>
            <a:spLocks noGrp="1"/>
          </p:cNvSpPr>
          <p:nvPr>
            <p:ph type="body" sz="quarter" idx="10"/>
          </p:nvPr>
        </p:nvSpPr>
        <p:spPr/>
        <p:txBody>
          <a:bodyPr>
            <a:normAutofit fontScale="77500" lnSpcReduction="20000"/>
          </a:bodyPr>
          <a:lstStyle/>
          <a:p>
            <a:r>
              <a:rPr lang="en-US" sz="4000">
                <a:solidFill>
                  <a:schemeClr val="accent6">
                    <a:lumMod val="50000"/>
                  </a:schemeClr>
                </a:solidFill>
              </a:rPr>
              <a:t>Une région toujours en crise : des estimations prudentes de millions de nouveaux pauvres</a:t>
            </a:r>
          </a:p>
        </p:txBody>
      </p:sp>
      <p:graphicFrame>
        <p:nvGraphicFramePr>
          <p:cNvPr id="7" name="Chart 6">
            <a:extLst>
              <a:ext uri="{FF2B5EF4-FFF2-40B4-BE49-F238E27FC236}">
                <a16:creationId xmlns:a16="http://schemas.microsoft.com/office/drawing/2014/main" id="{0F4ABC40-7069-4724-BDE7-91154B88CC8C}"/>
              </a:ext>
            </a:extLst>
          </p:cNvPr>
          <p:cNvGraphicFramePr>
            <a:graphicFrameLocks/>
          </p:cNvGraphicFramePr>
          <p:nvPr>
            <p:extLst>
              <p:ext uri="{D42A27DB-BD31-4B8C-83A1-F6EECF244321}">
                <p14:modId xmlns:p14="http://schemas.microsoft.com/office/powerpoint/2010/main" val="129289878"/>
              </p:ext>
            </p:extLst>
          </p:nvPr>
        </p:nvGraphicFramePr>
        <p:xfrm>
          <a:off x="2252870" y="1231510"/>
          <a:ext cx="7315200" cy="4862912"/>
        </p:xfrm>
        <a:graphic>
          <a:graphicData uri="http://schemas.openxmlformats.org/drawingml/2006/chart">
            <c:chart xmlns:c="http://schemas.openxmlformats.org/drawingml/2006/chart" xmlns:r="http://schemas.openxmlformats.org/officeDocument/2006/relationships" r:id="rId3"/>
          </a:graphicData>
        </a:graphic>
      </p:graphicFrame>
      <p:cxnSp>
        <p:nvCxnSpPr>
          <p:cNvPr id="8" name="Straight Arrow Connector 7">
            <a:extLst>
              <a:ext uri="{FF2B5EF4-FFF2-40B4-BE49-F238E27FC236}">
                <a16:creationId xmlns:a16="http://schemas.microsoft.com/office/drawing/2014/main" id="{3AB6CEDE-7B1F-40BE-9672-1D762AC302A2}"/>
              </a:ext>
            </a:extLst>
          </p:cNvPr>
          <p:cNvCxnSpPr/>
          <p:nvPr/>
        </p:nvCxnSpPr>
        <p:spPr>
          <a:xfrm>
            <a:off x="9727096" y="2759765"/>
            <a:ext cx="0" cy="1338469"/>
          </a:xfrm>
          <a:prstGeom prst="straightConnector1">
            <a:avLst/>
          </a:prstGeom>
          <a:ln>
            <a:solidFill>
              <a:srgbClr val="FF0000"/>
            </a:solidFill>
            <a:headEnd type="triangle"/>
            <a:tailEnd type="triangle"/>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E8F46531-5F7E-46F1-A114-E3DBDC8D98C2}"/>
              </a:ext>
            </a:extLst>
          </p:cNvPr>
          <p:cNvSpPr txBox="1"/>
          <p:nvPr/>
        </p:nvSpPr>
        <p:spPr>
          <a:xfrm>
            <a:off x="10031895" y="3127513"/>
            <a:ext cx="1285461" cy="369332"/>
          </a:xfrm>
          <a:prstGeom prst="rect">
            <a:avLst/>
          </a:prstGeom>
          <a:noFill/>
        </p:spPr>
        <p:txBody>
          <a:bodyPr wrap="square" rtlCol="0">
            <a:spAutoFit/>
          </a:bodyPr>
          <a:lstStyle/>
          <a:p>
            <a:r>
              <a:rPr lang="en-US"/>
              <a:t>14,2 millions</a:t>
            </a:r>
          </a:p>
        </p:txBody>
      </p:sp>
    </p:spTree>
    <p:extLst>
      <p:ext uri="{BB962C8B-B14F-4D97-AF65-F5344CB8AC3E}">
        <p14:creationId xmlns:p14="http://schemas.microsoft.com/office/powerpoint/2010/main" val="42406656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BEE73255-8084-4DF9-BB0B-15EAC92E2C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82FBD6A-2BAE-439D-8BBE-887912214A44}"/>
              </a:ext>
            </a:extLst>
          </p:cNvPr>
          <p:cNvSpPr>
            <a:spLocks noGrp="1"/>
          </p:cNvSpPr>
          <p:nvPr>
            <p:ph type="title"/>
          </p:nvPr>
        </p:nvSpPr>
        <p:spPr>
          <a:xfrm>
            <a:off x="603938" y="640081"/>
            <a:ext cx="2608655" cy="5257799"/>
          </a:xfrm>
        </p:spPr>
        <p:txBody>
          <a:bodyPr>
            <a:normAutofit/>
          </a:bodyPr>
          <a:lstStyle/>
          <a:p>
            <a:r>
              <a:rPr lang="en-US" sz="3600">
                <a:solidFill>
                  <a:srgbClr val="2C2C2C"/>
                </a:solidFill>
              </a:rPr>
              <a:t>Une région toujours en crise : inflation régressive des prix alimentaires</a:t>
            </a:r>
          </a:p>
          <a:p>
            <a:r>
              <a:rPr lang="en-US" sz="3600">
                <a:solidFill>
                  <a:srgbClr val="2C2C2C"/>
                </a:solidFill>
              </a:rPr>
              <a:t>févr. 2020 – mars 2021</a:t>
            </a:r>
          </a:p>
        </p:txBody>
      </p:sp>
      <p:sp>
        <p:nvSpPr>
          <p:cNvPr id="29" name="Rounded Rectangle 9">
            <a:extLst>
              <a:ext uri="{FF2B5EF4-FFF2-40B4-BE49-F238E27FC236}">
                <a16:creationId xmlns:a16="http://schemas.microsoft.com/office/drawing/2014/main" id="{67048353-8981-459A-9BC6-9711CE462E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80067" y="484632"/>
            <a:ext cx="8129016" cy="5724144"/>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5DC83F48-BDF8-4A4B-B8D7-D7B20E12A800}"/>
              </a:ext>
            </a:extLst>
          </p:cNvPr>
          <p:cNvPicPr/>
          <p:nvPr/>
        </p:nvPicPr>
        <p:blipFill rotWithShape="1">
          <a:blip r:embed="rId3" cstate="print">
            <a:extLst>
              <a:ext uri="{28A0092B-C50C-407E-A947-70E740481C1C}">
                <a14:useLocalDpi xmlns:a14="http://schemas.microsoft.com/office/drawing/2010/main" val="0"/>
              </a:ext>
            </a:extLst>
          </a:blip>
          <a:srcRect r="697" b="14"/>
          <a:stretch/>
        </p:blipFill>
        <p:spPr bwMode="auto">
          <a:xfrm>
            <a:off x="4062964" y="942538"/>
            <a:ext cx="7163222" cy="4808332"/>
          </a:xfrm>
          <a:prstGeom prst="rect">
            <a:avLst/>
          </a:prstGeom>
          <a:noFill/>
          <a:effectLst/>
        </p:spPr>
      </p:pic>
    </p:spTree>
    <p:extLst>
      <p:ext uri="{BB962C8B-B14F-4D97-AF65-F5344CB8AC3E}">
        <p14:creationId xmlns:p14="http://schemas.microsoft.com/office/powerpoint/2010/main" val="21439008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C6652D8-86A3-4EF7-8605-147F7AED729D}"/>
              </a:ext>
            </a:extLst>
          </p:cNvPr>
          <p:cNvSpPr>
            <a:spLocks noGrp="1"/>
          </p:cNvSpPr>
          <p:nvPr>
            <p:ph type="body" sz="quarter" idx="10"/>
          </p:nvPr>
        </p:nvSpPr>
        <p:spPr/>
        <p:txBody>
          <a:bodyPr>
            <a:normAutofit/>
          </a:bodyPr>
          <a:lstStyle/>
          <a:p>
            <a:r>
              <a:rPr lang="en-US" sz="4000">
                <a:solidFill>
                  <a:schemeClr val="accent6">
                    <a:lumMod val="50000"/>
                  </a:schemeClr>
                </a:solidFill>
              </a:rPr>
              <a:t>Sur la corde raide de la dette publique croissante</a:t>
            </a:r>
          </a:p>
        </p:txBody>
      </p:sp>
      <p:sp>
        <p:nvSpPr>
          <p:cNvPr id="4" name="Rectangle 3">
            <a:extLst>
              <a:ext uri="{FF2B5EF4-FFF2-40B4-BE49-F238E27FC236}">
                <a16:creationId xmlns:a16="http://schemas.microsoft.com/office/drawing/2014/main" id="{D71FFDEF-E2A0-446C-BDAC-8D07FEBAB98A}"/>
              </a:ext>
            </a:extLst>
          </p:cNvPr>
          <p:cNvSpPr/>
          <p:nvPr/>
        </p:nvSpPr>
        <p:spPr>
          <a:xfrm>
            <a:off x="1153353" y="5573094"/>
            <a:ext cx="8667750" cy="874085"/>
          </a:xfrm>
          <a:prstGeom prst="rect">
            <a:avLst/>
          </a:prstGeom>
        </p:spPr>
        <p:txBody>
          <a:bodyPr wrap="square">
            <a:spAutoFit/>
          </a:bodyPr>
          <a:lstStyle/>
          <a:p>
            <a:r>
              <a:rPr lang="en-US" sz="1200">
                <a:latin typeface="Calibri" panose="020F0502020204030204" pitchFamily="34" charset="0"/>
                <a:ea typeface="Calibri" panose="020F0502020204030204" pitchFamily="34" charset="0"/>
                <a:cs typeface="Calibri" panose="020F0502020204030204" pitchFamily="34" charset="0"/>
              </a:rPr>
              <a:t>Source : Banque mondiale, Macro and Poverty Outlook (avril 2021)</a:t>
            </a:r>
          </a:p>
          <a:p>
            <a:r>
              <a:rPr lang="en-US" sz="1200">
                <a:latin typeface="Calibri" panose="020F0502020204030204" pitchFamily="34" charset="0"/>
                <a:ea typeface="Calibri" panose="020F0502020204030204" pitchFamily="34" charset="0"/>
                <a:cs typeface="Calibri" panose="020F0502020204030204" pitchFamily="34" charset="0"/>
              </a:rPr>
              <a:t>Note : Les groupes de pays sont représentés par l’observation médiane du groupe. Les barres indiquent la dette médiane des groupes de pays MENA. Les losanges indiquent la dette médiane des groupes de revenu mondiaux correspondants. Les données sur la dette ne sont généralement pas disponibles pour les pays MENA à faible revenu (Yémen et Syrie). Le groupe à revenu élevé dans le MPO se limite aux seuls pays couverts par la Banque mondiale.</a:t>
            </a:r>
          </a:p>
        </p:txBody>
      </p:sp>
      <p:grpSp>
        <p:nvGrpSpPr>
          <p:cNvPr id="7" name="Group 6">
            <a:extLst>
              <a:ext uri="{FF2B5EF4-FFF2-40B4-BE49-F238E27FC236}">
                <a16:creationId xmlns:a16="http://schemas.microsoft.com/office/drawing/2014/main" id="{C15A88E8-DA76-490E-8B0B-E8B820AC1568}"/>
              </a:ext>
            </a:extLst>
          </p:cNvPr>
          <p:cNvGrpSpPr/>
          <p:nvPr/>
        </p:nvGrpSpPr>
        <p:grpSpPr>
          <a:xfrm>
            <a:off x="1374913" y="1284906"/>
            <a:ext cx="5943600" cy="3790950"/>
            <a:chOff x="3124200" y="1123950"/>
            <a:chExt cx="5943600" cy="3790950"/>
          </a:xfrm>
        </p:grpSpPr>
        <p:graphicFrame>
          <p:nvGraphicFramePr>
            <p:cNvPr id="3" name="Chart 2">
              <a:extLst>
                <a:ext uri="{FF2B5EF4-FFF2-40B4-BE49-F238E27FC236}">
                  <a16:creationId xmlns:a16="http://schemas.microsoft.com/office/drawing/2014/main" id="{B6A91162-CB5A-6240-9245-A864AB930BB8}"/>
                </a:ext>
              </a:extLst>
            </p:cNvPr>
            <p:cNvGraphicFramePr/>
            <p:nvPr>
              <p:extLst>
                <p:ext uri="{D42A27DB-BD31-4B8C-83A1-F6EECF244321}">
                  <p14:modId xmlns:p14="http://schemas.microsoft.com/office/powerpoint/2010/main" val="3328265334"/>
                </p:ext>
              </p:extLst>
            </p:nvPr>
          </p:nvGraphicFramePr>
          <p:xfrm>
            <a:off x="3124200" y="1123950"/>
            <a:ext cx="5943600" cy="3790950"/>
          </p:xfrm>
          <a:graphic>
            <a:graphicData uri="http://schemas.openxmlformats.org/drawingml/2006/chart">
              <c:chart xmlns:c="http://schemas.openxmlformats.org/drawingml/2006/chart" xmlns:r="http://schemas.openxmlformats.org/officeDocument/2006/relationships" r:id="rId3"/>
            </a:graphicData>
          </a:graphic>
        </p:graphicFrame>
        <p:cxnSp>
          <p:nvCxnSpPr>
            <p:cNvPr id="6" name="Straight Connector 5">
              <a:extLst>
                <a:ext uri="{FF2B5EF4-FFF2-40B4-BE49-F238E27FC236}">
                  <a16:creationId xmlns:a16="http://schemas.microsoft.com/office/drawing/2014/main" id="{754A2214-6D47-448C-89B5-997F1FEFB921}"/>
                </a:ext>
              </a:extLst>
            </p:cNvPr>
            <p:cNvCxnSpPr/>
            <p:nvPr/>
          </p:nvCxnSpPr>
          <p:spPr>
            <a:xfrm flipV="1">
              <a:off x="6268278" y="1749287"/>
              <a:ext cx="0" cy="2438400"/>
            </a:xfrm>
            <a:prstGeom prst="line">
              <a:avLst/>
            </a:prstGeom>
            <a:ln w="25400">
              <a:prstDash val="sysDot"/>
            </a:ln>
          </p:spPr>
          <p:style>
            <a:lnRef idx="1">
              <a:schemeClr val="dk1"/>
            </a:lnRef>
            <a:fillRef idx="0">
              <a:schemeClr val="dk1"/>
            </a:fillRef>
            <a:effectRef idx="0">
              <a:schemeClr val="dk1"/>
            </a:effectRef>
            <a:fontRef idx="minor">
              <a:schemeClr val="tx1"/>
            </a:fontRef>
          </p:style>
        </p:cxnSp>
      </p:grpSp>
      <p:sp>
        <p:nvSpPr>
          <p:cNvPr id="8" name="TextBox 7">
            <a:extLst>
              <a:ext uri="{FF2B5EF4-FFF2-40B4-BE49-F238E27FC236}">
                <a16:creationId xmlns:a16="http://schemas.microsoft.com/office/drawing/2014/main" id="{236468AB-7930-4721-87B7-168F8D097098}"/>
              </a:ext>
            </a:extLst>
          </p:cNvPr>
          <p:cNvSpPr txBox="1"/>
          <p:nvPr/>
        </p:nvSpPr>
        <p:spPr>
          <a:xfrm>
            <a:off x="8534400" y="2167012"/>
            <a:ext cx="2676939" cy="1200329"/>
          </a:xfrm>
          <a:prstGeom prst="rect">
            <a:avLst/>
          </a:prstGeom>
          <a:noFill/>
          <a:ln w="25400">
            <a:solidFill>
              <a:srgbClr val="FF0000"/>
            </a:solidFill>
          </a:ln>
        </p:spPr>
        <p:txBody>
          <a:bodyPr wrap="square" rtlCol="0">
            <a:spAutoFit/>
          </a:bodyPr>
          <a:lstStyle/>
          <a:p>
            <a:r>
              <a:rPr lang="en-US"/>
              <a:t>L’exercice d’équilibre est le plus difficile parmi les économies importatrices de pétrole à revenu intermédiaire de la région MENA. </a:t>
            </a:r>
          </a:p>
        </p:txBody>
      </p:sp>
    </p:spTree>
    <p:extLst>
      <p:ext uri="{BB962C8B-B14F-4D97-AF65-F5344CB8AC3E}">
        <p14:creationId xmlns:p14="http://schemas.microsoft.com/office/powerpoint/2010/main" val="8614788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9"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0" name="Freeform: Shape 19">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5" name="Freeform: Shape 24">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6" name="Freeform: Shape 25">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CBFA37D1-30D1-47C5-9E58-FF154E056478}"/>
              </a:ext>
            </a:extLst>
          </p:cNvPr>
          <p:cNvSpPr>
            <a:spLocks noGrp="1"/>
          </p:cNvSpPr>
          <p:nvPr>
            <p:ph type="title"/>
          </p:nvPr>
        </p:nvSpPr>
        <p:spPr>
          <a:xfrm>
            <a:off x="786385" y="841248"/>
            <a:ext cx="3515244" cy="5340097"/>
          </a:xfrm>
        </p:spPr>
        <p:txBody>
          <a:bodyPr anchor="ctr">
            <a:normAutofit/>
          </a:bodyPr>
          <a:lstStyle/>
          <a:p>
            <a:r>
              <a:rPr lang="en-US" sz="4800">
                <a:solidFill>
                  <a:schemeClr val="bg1"/>
                </a:solidFill>
              </a:rPr>
              <a:t>Ce rapport</a:t>
            </a:r>
          </a:p>
        </p:txBody>
      </p:sp>
      <p:graphicFrame>
        <p:nvGraphicFramePr>
          <p:cNvPr id="7" name="Content Placeholder 4">
            <a:extLst>
              <a:ext uri="{FF2B5EF4-FFF2-40B4-BE49-F238E27FC236}">
                <a16:creationId xmlns:a16="http://schemas.microsoft.com/office/drawing/2014/main" id="{4FE4F1DC-0D88-487E-8ECB-A2BF5C478845}"/>
              </a:ext>
            </a:extLst>
          </p:cNvPr>
          <p:cNvGraphicFramePr>
            <a:graphicFrameLocks noGrp="1"/>
          </p:cNvGraphicFramePr>
          <p:nvPr>
            <p:ph idx="1"/>
            <p:extLst>
              <p:ext uri="{D42A27DB-BD31-4B8C-83A1-F6EECF244321}">
                <p14:modId xmlns:p14="http://schemas.microsoft.com/office/powerpoint/2010/main" val="519152244"/>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98954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ylinder 5">
            <a:extLst>
              <a:ext uri="{FF2B5EF4-FFF2-40B4-BE49-F238E27FC236}">
                <a16:creationId xmlns:a16="http://schemas.microsoft.com/office/drawing/2014/main" id="{C9C4074C-4505-4CE8-A760-08964CC50F04}"/>
              </a:ext>
            </a:extLst>
          </p:cNvPr>
          <p:cNvSpPr/>
          <p:nvPr/>
        </p:nvSpPr>
        <p:spPr>
          <a:xfrm>
            <a:off x="4547627" y="5694022"/>
            <a:ext cx="1518214" cy="658190"/>
          </a:xfrm>
          <a:prstGeom prst="can">
            <a:avLst>
              <a:gd name="adj" fmla="val 50000"/>
            </a:avLst>
          </a:prstGeom>
          <a:solidFill>
            <a:schemeClr val="tx1">
              <a:lumMod val="65000"/>
              <a:lumOff val="35000"/>
            </a:schemeClr>
          </a:solidFill>
          <a:ln>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A394ACD-998C-4E50-BA1F-A3D5122DDFAE}"/>
              </a:ext>
            </a:extLst>
          </p:cNvPr>
          <p:cNvSpPr>
            <a:spLocks noGrp="1"/>
          </p:cNvSpPr>
          <p:nvPr>
            <p:ph type="title"/>
          </p:nvPr>
        </p:nvSpPr>
        <p:spPr>
          <a:xfrm>
            <a:off x="838200" y="98425"/>
            <a:ext cx="10515600" cy="1401683"/>
          </a:xfrm>
        </p:spPr>
        <p:txBody>
          <a:bodyPr>
            <a:noAutofit/>
          </a:bodyPr>
          <a:lstStyle/>
          <a:p>
            <a:r>
              <a:rPr lang="en-US" sz="2800" dirty="0">
                <a:solidFill>
                  <a:schemeClr val="accent6">
                    <a:lumMod val="50000"/>
                  </a:schemeClr>
                </a:solidFill>
              </a:rPr>
              <a:t>Sur la corde raide de la dette :</a:t>
            </a:r>
          </a:p>
          <a:p>
            <a:r>
              <a:rPr lang="en-US" sz="2800" dirty="0">
                <a:solidFill>
                  <a:schemeClr val="accent6">
                    <a:lumMod val="50000"/>
                  </a:schemeClr>
                </a:solidFill>
              </a:rPr>
              <a:t>Tension entre les besoins à court terme et les coûts à long terme de la dette publique</a:t>
            </a:r>
          </a:p>
        </p:txBody>
      </p:sp>
      <p:sp>
        <p:nvSpPr>
          <p:cNvPr id="5" name="Cylinder 4">
            <a:extLst>
              <a:ext uri="{FF2B5EF4-FFF2-40B4-BE49-F238E27FC236}">
                <a16:creationId xmlns:a16="http://schemas.microsoft.com/office/drawing/2014/main" id="{4FFB838A-E3FD-4585-AE46-E107C725C462}"/>
              </a:ext>
            </a:extLst>
          </p:cNvPr>
          <p:cNvSpPr/>
          <p:nvPr/>
        </p:nvSpPr>
        <p:spPr>
          <a:xfrm>
            <a:off x="5111905" y="2075604"/>
            <a:ext cx="347241" cy="3769612"/>
          </a:xfrm>
          <a:prstGeom prst="can">
            <a:avLst/>
          </a:prstGeom>
          <a:gradFill flip="none" rotWithShape="1">
            <a:gsLst>
              <a:gs pos="3000">
                <a:schemeClr val="bg1">
                  <a:lumMod val="50000"/>
                </a:schemeClr>
              </a:gs>
              <a:gs pos="49000">
                <a:schemeClr val="bg1"/>
              </a:gs>
              <a:gs pos="100000">
                <a:schemeClr val="bg1">
                  <a:lumMod val="75000"/>
                </a:schemeClr>
              </a:gs>
            </a:gsLst>
            <a:lin ang="0" scaled="1"/>
            <a:tileRect/>
          </a:gradFill>
          <a:ln>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Cylinder 6">
            <a:extLst>
              <a:ext uri="{FF2B5EF4-FFF2-40B4-BE49-F238E27FC236}">
                <a16:creationId xmlns:a16="http://schemas.microsoft.com/office/drawing/2014/main" id="{B1191802-FB77-4A34-9894-520D4F38F589}"/>
              </a:ext>
            </a:extLst>
          </p:cNvPr>
          <p:cNvSpPr/>
          <p:nvPr/>
        </p:nvSpPr>
        <p:spPr>
          <a:xfrm rot="16825689" flipH="1">
            <a:off x="5249271" y="936985"/>
            <a:ext cx="183741" cy="3511957"/>
          </a:xfrm>
          <a:prstGeom prst="can">
            <a:avLst/>
          </a:prstGeom>
          <a:gradFill flip="none" rotWithShape="1">
            <a:gsLst>
              <a:gs pos="3000">
                <a:schemeClr val="bg1">
                  <a:lumMod val="50000"/>
                </a:schemeClr>
              </a:gs>
              <a:gs pos="49000">
                <a:schemeClr val="bg1"/>
              </a:gs>
              <a:gs pos="100000">
                <a:schemeClr val="bg1">
                  <a:lumMod val="75000"/>
                </a:schemeClr>
              </a:gs>
            </a:gsLst>
            <a:lin ang="0" scaled="1"/>
            <a:tileRect/>
          </a:gradFill>
          <a:ln>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Isosceles Triangle 8">
            <a:extLst>
              <a:ext uri="{FF2B5EF4-FFF2-40B4-BE49-F238E27FC236}">
                <a16:creationId xmlns:a16="http://schemas.microsoft.com/office/drawing/2014/main" id="{A3D196BC-6BFB-448B-A6AC-E317A8B0916B}"/>
              </a:ext>
            </a:extLst>
          </p:cNvPr>
          <p:cNvSpPr/>
          <p:nvPr/>
        </p:nvSpPr>
        <p:spPr>
          <a:xfrm>
            <a:off x="6454349" y="2992784"/>
            <a:ext cx="1207008" cy="1728216"/>
          </a:xfrm>
          <a:prstGeom prst="triangle">
            <a:avLst/>
          </a:prstGeom>
          <a:noFill/>
          <a:ln w="3810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Oval 7">
            <a:extLst>
              <a:ext uri="{FF2B5EF4-FFF2-40B4-BE49-F238E27FC236}">
                <a16:creationId xmlns:a16="http://schemas.microsoft.com/office/drawing/2014/main" id="{F27CE214-6196-494F-A892-33C9EA9EC783}"/>
              </a:ext>
            </a:extLst>
          </p:cNvPr>
          <p:cNvSpPr/>
          <p:nvPr/>
        </p:nvSpPr>
        <p:spPr>
          <a:xfrm>
            <a:off x="6440083" y="4110963"/>
            <a:ext cx="1280160" cy="1097280"/>
          </a:xfrm>
          <a:prstGeom prst="ellipse">
            <a:avLst/>
          </a:prstGeom>
          <a:solidFill>
            <a:schemeClr val="accent2"/>
          </a:solidFill>
          <a:ln>
            <a:noFill/>
          </a:ln>
          <a:scene3d>
            <a:camera prst="perspectiveRelaxed">
              <a:rot lat="17073593" lon="0" rev="0"/>
            </a:camera>
            <a:lightRig rig="threePt" dir="t"/>
          </a:scene3d>
          <a:sp3d>
            <a:bevelT w="114300" h="317500" prst="slope"/>
            <a:bevelB w="635000" h="317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Isosceles Triangle 9">
            <a:extLst>
              <a:ext uri="{FF2B5EF4-FFF2-40B4-BE49-F238E27FC236}">
                <a16:creationId xmlns:a16="http://schemas.microsoft.com/office/drawing/2014/main" id="{548792C1-4522-4187-B239-9EC0034BE205}"/>
              </a:ext>
            </a:extLst>
          </p:cNvPr>
          <p:cNvSpPr/>
          <p:nvPr/>
        </p:nvSpPr>
        <p:spPr>
          <a:xfrm>
            <a:off x="3001668" y="2383235"/>
            <a:ext cx="1210851" cy="1727823"/>
          </a:xfrm>
          <a:prstGeom prst="triangle">
            <a:avLst/>
          </a:prstGeom>
          <a:noFill/>
          <a:ln w="3810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Oval 10">
            <a:extLst>
              <a:ext uri="{FF2B5EF4-FFF2-40B4-BE49-F238E27FC236}">
                <a16:creationId xmlns:a16="http://schemas.microsoft.com/office/drawing/2014/main" id="{0C7296EC-0DA5-4958-A85B-42401221C675}"/>
              </a:ext>
            </a:extLst>
          </p:cNvPr>
          <p:cNvSpPr/>
          <p:nvPr/>
        </p:nvSpPr>
        <p:spPr>
          <a:xfrm>
            <a:off x="2982121" y="3494602"/>
            <a:ext cx="1280160" cy="1097280"/>
          </a:xfrm>
          <a:prstGeom prst="ellipse">
            <a:avLst/>
          </a:prstGeom>
          <a:solidFill>
            <a:srgbClr val="4472C4"/>
          </a:solidFill>
          <a:ln>
            <a:noFill/>
          </a:ln>
          <a:scene3d>
            <a:camera prst="perspectiveRelaxed">
              <a:rot lat="17073593" lon="0" rev="0"/>
            </a:camera>
            <a:lightRig rig="threePt" dir="t"/>
          </a:scene3d>
          <a:sp3d>
            <a:bevelT w="114300" h="317500" prst="slope"/>
            <a:bevelB w="635000" h="317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Oval 11">
            <a:extLst>
              <a:ext uri="{FF2B5EF4-FFF2-40B4-BE49-F238E27FC236}">
                <a16:creationId xmlns:a16="http://schemas.microsoft.com/office/drawing/2014/main" id="{19DC177A-3550-4F67-BEB3-4389FB613495}"/>
              </a:ext>
            </a:extLst>
          </p:cNvPr>
          <p:cNvSpPr/>
          <p:nvPr/>
        </p:nvSpPr>
        <p:spPr>
          <a:xfrm>
            <a:off x="4998560" y="2383235"/>
            <a:ext cx="647212" cy="658190"/>
          </a:xfrm>
          <a:prstGeom prst="ellipse">
            <a:avLst/>
          </a:prstGeom>
          <a:solidFill>
            <a:schemeClr val="bg1">
              <a:lumMod val="75000"/>
            </a:schemeClr>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Oval 12">
            <a:extLst>
              <a:ext uri="{FF2B5EF4-FFF2-40B4-BE49-F238E27FC236}">
                <a16:creationId xmlns:a16="http://schemas.microsoft.com/office/drawing/2014/main" id="{CEDF4CF2-1B37-47E3-AFA8-8E2A1DC4945B}"/>
              </a:ext>
            </a:extLst>
          </p:cNvPr>
          <p:cNvSpPr/>
          <p:nvPr/>
        </p:nvSpPr>
        <p:spPr>
          <a:xfrm>
            <a:off x="3490542" y="2252750"/>
            <a:ext cx="260433" cy="272907"/>
          </a:xfrm>
          <a:prstGeom prst="ellipse">
            <a:avLst/>
          </a:prstGeom>
          <a:solidFill>
            <a:schemeClr val="bg1">
              <a:lumMod val="50000"/>
            </a:schemeClr>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Oval 13">
            <a:extLst>
              <a:ext uri="{FF2B5EF4-FFF2-40B4-BE49-F238E27FC236}">
                <a16:creationId xmlns:a16="http://schemas.microsoft.com/office/drawing/2014/main" id="{FD3FF54C-D1C5-4B14-8D78-AA0C70FAEB1E}"/>
              </a:ext>
            </a:extLst>
          </p:cNvPr>
          <p:cNvSpPr/>
          <p:nvPr/>
        </p:nvSpPr>
        <p:spPr>
          <a:xfrm>
            <a:off x="6933074" y="2891338"/>
            <a:ext cx="260433" cy="272907"/>
          </a:xfrm>
          <a:prstGeom prst="ellipse">
            <a:avLst/>
          </a:prstGeom>
          <a:solidFill>
            <a:schemeClr val="bg1">
              <a:lumMod val="50000"/>
            </a:schemeClr>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33396B90-B644-4B82-A058-8F6E8C8AEAA6}"/>
              </a:ext>
            </a:extLst>
          </p:cNvPr>
          <p:cNvSpPr/>
          <p:nvPr/>
        </p:nvSpPr>
        <p:spPr>
          <a:xfrm>
            <a:off x="479523" y="4761664"/>
            <a:ext cx="3461409" cy="1323439"/>
          </a:xfrm>
          <a:prstGeom prst="rect">
            <a:avLst/>
          </a:prstGeom>
        </p:spPr>
        <p:txBody>
          <a:bodyPr wrap="square">
            <a:spAutoFit/>
          </a:bodyPr>
          <a:lstStyle/>
          <a:p>
            <a:r>
              <a:rPr kumimoji="0" lang="en-US" sz="2000" b="1" i="1" u="none" strike="noStrike" kern="1200" cap="none" spc="0" normalizeH="0" baseline="0" noProof="0" dirty="0">
                <a:ln>
                  <a:noFill/>
                </a:ln>
                <a:solidFill>
                  <a:srgbClr val="4472C4"/>
                </a:solidFill>
                <a:effectLst/>
                <a:uLnTx/>
                <a:uFillTx/>
                <a:latin typeface="Calibri" panose="020F0502020204030204"/>
                <a:ea typeface="+mn-ea"/>
                <a:cs typeface="+mn-cs"/>
              </a:rPr>
              <a:t>Besoins à court terme</a:t>
            </a:r>
          </a:p>
          <a:p>
            <a:r>
              <a:rPr kumimoji="0" lang="en-US" sz="2000" b="1" i="1" u="none" strike="noStrike" kern="1200" cap="none" spc="0" normalizeH="0" baseline="0" noProof="0" dirty="0">
                <a:ln>
                  <a:noFill/>
                </a:ln>
                <a:solidFill>
                  <a:srgbClr val="4472C4"/>
                </a:solidFill>
                <a:effectLst/>
                <a:uLnTx/>
                <a:uFillTx/>
                <a:latin typeface="Calibri" panose="020F0502020204030204"/>
                <a:ea typeface="+mn-ea"/>
                <a:cs typeface="+mn-cs"/>
              </a:rPr>
              <a:t>Aide en cas de catastrophe : soutien aux entreprises et aux ménages </a:t>
            </a:r>
          </a:p>
          <a:p>
            <a:r>
              <a:rPr kumimoji="0" lang="en-US" sz="2000" b="1" i="1" u="none" strike="noStrike" kern="1200" cap="none" spc="0" normalizeH="0" baseline="0" noProof="0" dirty="0">
                <a:ln>
                  <a:noFill/>
                </a:ln>
                <a:solidFill>
                  <a:srgbClr val="4472C4"/>
                </a:solidFill>
                <a:effectLst/>
                <a:uLnTx/>
                <a:uFillTx/>
                <a:latin typeface="Calibri" panose="020F0502020204030204"/>
                <a:ea typeface="+mn-ea"/>
                <a:cs typeface="+mn-cs"/>
              </a:rPr>
              <a:t>Dépenses de santé publique</a:t>
            </a:r>
          </a:p>
        </p:txBody>
      </p:sp>
      <p:sp>
        <p:nvSpPr>
          <p:cNvPr id="16" name="Rectangle 15">
            <a:extLst>
              <a:ext uri="{FF2B5EF4-FFF2-40B4-BE49-F238E27FC236}">
                <a16:creationId xmlns:a16="http://schemas.microsoft.com/office/drawing/2014/main" id="{41D7FCD7-6112-4748-B9FE-565A4A779744}"/>
              </a:ext>
            </a:extLst>
          </p:cNvPr>
          <p:cNvSpPr/>
          <p:nvPr/>
        </p:nvSpPr>
        <p:spPr>
          <a:xfrm>
            <a:off x="7893323" y="2138155"/>
            <a:ext cx="4083840" cy="2554545"/>
          </a:xfrm>
          <a:prstGeom prst="rect">
            <a:avLst/>
          </a:prstGeom>
        </p:spPr>
        <p:txBody>
          <a:bodyPr wrap="square">
            <a:spAutoFit/>
          </a:bodyPr>
          <a:lstStyle/>
          <a:p>
            <a:r>
              <a:rPr kumimoji="0" lang="en-US" sz="2000" b="1" i="1" u="none" strike="noStrike" kern="1200" cap="none" spc="0" normalizeH="0" baseline="0" noProof="0" dirty="0">
                <a:ln>
                  <a:noFill/>
                </a:ln>
                <a:solidFill>
                  <a:srgbClr val="ED7D31"/>
                </a:solidFill>
                <a:effectLst/>
                <a:uLnTx/>
                <a:uFillTx/>
                <a:latin typeface="Calibri" panose="020F0502020204030204"/>
                <a:ea typeface="+mn-ea"/>
                <a:cs typeface="+mn-cs"/>
              </a:rPr>
              <a:t>Risques à long terme</a:t>
            </a:r>
          </a:p>
          <a:p>
            <a:r>
              <a:rPr kumimoji="0" lang="en-US" sz="2000" b="1" i="1" u="none" strike="noStrike" kern="1200" cap="none" spc="0" normalizeH="0" baseline="0" noProof="0" dirty="0">
                <a:ln>
                  <a:noFill/>
                </a:ln>
                <a:solidFill>
                  <a:srgbClr val="ED7D31"/>
                </a:solidFill>
                <a:effectLst/>
                <a:uLnTx/>
                <a:uFillTx/>
                <a:latin typeface="Calibri" panose="020F0502020204030204"/>
                <a:ea typeface="+mn-ea"/>
                <a:cs typeface="+mn-cs"/>
              </a:rPr>
              <a:t>Éviction de l’investissement privé (à mesure que les taux d’intérêt augmentent)</a:t>
            </a:r>
          </a:p>
          <a:p>
            <a:r>
              <a:rPr kumimoji="0" lang="en-US" sz="2000" b="1" i="1" u="none" strike="noStrike" kern="1200" cap="none" spc="0" normalizeH="0" baseline="0" noProof="0" dirty="0">
                <a:ln>
                  <a:noFill/>
                </a:ln>
                <a:solidFill>
                  <a:srgbClr val="ED7D31"/>
                </a:solidFill>
                <a:effectLst/>
                <a:uLnTx/>
                <a:uFillTx/>
                <a:latin typeface="Calibri" panose="020F0502020204030204"/>
                <a:ea typeface="+mn-ea"/>
                <a:cs typeface="+mn-cs"/>
              </a:rPr>
              <a:t>Éviction de l’investissement public à mesure que les paiements d’intérêts augmentent</a:t>
            </a:r>
          </a:p>
          <a:p>
            <a:r>
              <a:rPr kumimoji="0" lang="en-US" sz="2000" b="1" i="1" u="none" strike="noStrike" kern="1200" cap="none" spc="0" normalizeH="0" baseline="0" noProof="0" dirty="0">
                <a:ln>
                  <a:noFill/>
                </a:ln>
                <a:solidFill>
                  <a:srgbClr val="ED7D31"/>
                </a:solidFill>
                <a:effectLst/>
                <a:uLnTx/>
                <a:uFillTx/>
                <a:latin typeface="Calibri" panose="020F0502020204030204"/>
                <a:ea typeface="+mn-ea"/>
                <a:cs typeface="+mn-cs"/>
              </a:rPr>
              <a:t>Vulnérabilité macroéconomique, risque de refinancement et probabilité de crises de la dette coûteuses</a:t>
            </a:r>
          </a:p>
        </p:txBody>
      </p:sp>
    </p:spTree>
    <p:extLst>
      <p:ext uri="{BB962C8B-B14F-4D97-AF65-F5344CB8AC3E}">
        <p14:creationId xmlns:p14="http://schemas.microsoft.com/office/powerpoint/2010/main" val="19092070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60AB6-FCAF-41DB-A89A-A5722A56138D}"/>
              </a:ext>
            </a:extLst>
          </p:cNvPr>
          <p:cNvSpPr>
            <a:spLocks noGrp="1"/>
          </p:cNvSpPr>
          <p:nvPr>
            <p:ph type="title"/>
          </p:nvPr>
        </p:nvSpPr>
        <p:spPr>
          <a:xfrm>
            <a:off x="838200" y="365126"/>
            <a:ext cx="10515600" cy="1070270"/>
          </a:xfrm>
        </p:spPr>
        <p:txBody>
          <a:bodyPr>
            <a:normAutofit/>
          </a:bodyPr>
          <a:lstStyle/>
          <a:p>
            <a:r>
              <a:rPr lang="en-US" sz="2800" dirty="0">
                <a:solidFill>
                  <a:schemeClr val="accent6">
                    <a:lumMod val="50000"/>
                  </a:schemeClr>
                </a:solidFill>
              </a:rPr>
              <a:t>Sur la corde raide de la dette – Besoins à court terme de la dette publique : leçons de l’aide en cas de catastrophe</a:t>
            </a:r>
          </a:p>
        </p:txBody>
      </p:sp>
      <p:graphicFrame>
        <p:nvGraphicFramePr>
          <p:cNvPr id="4" name="Content Placeholder 3">
            <a:extLst>
              <a:ext uri="{FF2B5EF4-FFF2-40B4-BE49-F238E27FC236}">
                <a16:creationId xmlns:a16="http://schemas.microsoft.com/office/drawing/2014/main" id="{A7404428-83C8-3249-84A4-FA2068F89C88}"/>
              </a:ext>
            </a:extLst>
          </p:cNvPr>
          <p:cNvGraphicFramePr>
            <a:graphicFrameLocks noGrp="1"/>
          </p:cNvGraphicFramePr>
          <p:nvPr>
            <p:ph idx="1"/>
          </p:nvPr>
        </p:nvGraphicFramePr>
        <p:xfrm>
          <a:off x="1048605" y="1811911"/>
          <a:ext cx="6958940" cy="4351338"/>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B6676DFA-8BB3-44D0-95CE-495C330CB370}"/>
              </a:ext>
            </a:extLst>
          </p:cNvPr>
          <p:cNvSpPr txBox="1"/>
          <p:nvPr/>
        </p:nvSpPr>
        <p:spPr>
          <a:xfrm>
            <a:off x="8073806" y="1915932"/>
            <a:ext cx="3723861" cy="3139321"/>
          </a:xfrm>
          <a:prstGeom prst="rect">
            <a:avLst/>
          </a:prstGeom>
          <a:noFill/>
          <a:ln w="25400">
            <a:solidFill>
              <a:srgbClr val="FF0000"/>
            </a:solidFill>
          </a:ln>
        </p:spPr>
        <p:txBody>
          <a:bodyPr wrap="square" rtlCol="0">
            <a:spAutoFit/>
          </a:bodyPr>
          <a:lstStyle/>
          <a:p>
            <a:r>
              <a:rPr lang="en-US" u="sng" dirty="0"/>
              <a:t>Données historiques :</a:t>
            </a:r>
          </a:p>
          <a:p>
            <a:r>
              <a:rPr lang="en-US" u="sng" dirty="0"/>
              <a:t/>
            </a:r>
          </a:p>
          <a:p>
            <a:r>
              <a:rPr lang="en-US" u="sng" dirty="0"/>
              <a:t>Pendant et immédiatement après les catastrophes, la dette croît plus vite (2 %) dans les économies sinistrées que dans le groupe témoin (années-économies sans catastrophe)</a:t>
            </a:r>
          </a:p>
          <a:p>
            <a:r>
              <a:rPr lang="en-US" u="sng" dirty="0"/>
              <a:t/>
            </a:r>
          </a:p>
          <a:p>
            <a:r>
              <a:rPr lang="en-US" u="sng" dirty="0"/>
              <a:t>La croissance s’effondre pendant la catastrophe mais se redresse par la suite par rapport au groupe témoin.</a:t>
            </a:r>
          </a:p>
        </p:txBody>
      </p:sp>
    </p:spTree>
    <p:extLst>
      <p:ext uri="{BB962C8B-B14F-4D97-AF65-F5344CB8AC3E}">
        <p14:creationId xmlns:p14="http://schemas.microsoft.com/office/powerpoint/2010/main" val="2876507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34FFD-5615-4761-9989-37BDC9B722A5}"/>
              </a:ext>
            </a:extLst>
          </p:cNvPr>
          <p:cNvSpPr>
            <a:spLocks noGrp="1"/>
          </p:cNvSpPr>
          <p:nvPr>
            <p:ph type="title"/>
          </p:nvPr>
        </p:nvSpPr>
        <p:spPr>
          <a:xfrm>
            <a:off x="838200" y="202272"/>
            <a:ext cx="10515600" cy="1149467"/>
          </a:xfrm>
        </p:spPr>
        <p:txBody>
          <a:bodyPr>
            <a:noAutofit/>
          </a:bodyPr>
          <a:lstStyle/>
          <a:p>
            <a:r>
              <a:rPr lang="en-US" sz="2800" dirty="0">
                <a:solidFill>
                  <a:schemeClr val="accent6">
                    <a:lumMod val="50000"/>
                  </a:schemeClr>
                </a:solidFill>
              </a:rPr>
              <a:t>Sur la corde raide de la dette : risques à long terme de la dette publique</a:t>
            </a:r>
          </a:p>
          <a:p>
            <a:r>
              <a:rPr lang="en-US" sz="2800" dirty="0">
                <a:solidFill>
                  <a:schemeClr val="accent6">
                    <a:lumMod val="50000"/>
                  </a:schemeClr>
                </a:solidFill>
              </a:rPr>
              <a:t>Lien entre une dette publique élevée et une faible croissance sur la période 2000-2019</a:t>
            </a:r>
          </a:p>
        </p:txBody>
      </p:sp>
      <p:sp>
        <p:nvSpPr>
          <p:cNvPr id="5" name="Rectangle 4">
            <a:extLst>
              <a:ext uri="{FF2B5EF4-FFF2-40B4-BE49-F238E27FC236}">
                <a16:creationId xmlns:a16="http://schemas.microsoft.com/office/drawing/2014/main" id="{BBF63EDC-A02F-4309-AFDA-5238FD41C566}"/>
              </a:ext>
            </a:extLst>
          </p:cNvPr>
          <p:cNvSpPr/>
          <p:nvPr/>
        </p:nvSpPr>
        <p:spPr>
          <a:xfrm>
            <a:off x="1448791" y="1602117"/>
            <a:ext cx="9905009" cy="344069"/>
          </a:xfrm>
          <a:prstGeom prst="rect">
            <a:avLst/>
          </a:prstGeom>
        </p:spPr>
        <p:txBody>
          <a:bodyPr wrap="square">
            <a:spAutoFit/>
          </a:bodyPr>
          <a:lstStyle/>
          <a:p>
            <a:r>
              <a:rPr lang="en-US" sz="1600" b="1"/>
              <a:t>Croissance annuelle médiane par habitant sur 2000-2019 selon les pays classés par dette de l’administration centrale en 2000</a:t>
            </a:r>
          </a:p>
        </p:txBody>
      </p:sp>
      <p:pic>
        <p:nvPicPr>
          <p:cNvPr id="8" name="Picture 7">
            <a:extLst>
              <a:ext uri="{FF2B5EF4-FFF2-40B4-BE49-F238E27FC236}">
                <a16:creationId xmlns:a16="http://schemas.microsoft.com/office/drawing/2014/main" id="{6F6971A4-7CB8-42E8-96F5-284E31406A96}"/>
              </a:ext>
            </a:extLst>
          </p:cNvPr>
          <p:cNvPicPr>
            <a:picLocks noChangeAspect="1"/>
          </p:cNvPicPr>
          <p:nvPr/>
        </p:nvPicPr>
        <p:blipFill>
          <a:blip r:embed="rId3"/>
          <a:stretch>
            <a:fillRect/>
          </a:stretch>
        </p:blipFill>
        <p:spPr>
          <a:xfrm>
            <a:off x="1785377" y="2068101"/>
            <a:ext cx="9231835" cy="4017200"/>
          </a:xfrm>
          <a:prstGeom prst="rect">
            <a:avLst/>
          </a:prstGeom>
        </p:spPr>
      </p:pic>
    </p:spTree>
    <p:extLst>
      <p:ext uri="{BB962C8B-B14F-4D97-AF65-F5344CB8AC3E}">
        <p14:creationId xmlns:p14="http://schemas.microsoft.com/office/powerpoint/2010/main" val="32996685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F12307-1F19-4B66-8464-CF4D32DC5FC0}"/>
              </a:ext>
            </a:extLst>
          </p:cNvPr>
          <p:cNvSpPr>
            <a:spLocks noGrp="1"/>
          </p:cNvSpPr>
          <p:nvPr>
            <p:ph type="title"/>
          </p:nvPr>
        </p:nvSpPr>
        <p:spPr>
          <a:xfrm>
            <a:off x="583911" y="496910"/>
            <a:ext cx="11122572" cy="965095"/>
          </a:xfrm>
        </p:spPr>
        <p:txBody>
          <a:bodyPr>
            <a:noAutofit/>
          </a:bodyPr>
          <a:lstStyle/>
          <a:p>
            <a:r>
              <a:rPr lang="en-US" sz="3600" dirty="0">
                <a:solidFill>
                  <a:schemeClr val="accent6">
                    <a:lumMod val="50000"/>
                  </a:schemeClr>
                </a:solidFill>
                <a:latin typeface="+mj-lt"/>
              </a:rPr>
              <a:t>Priorités pendant la pandémie :</a:t>
            </a:r>
          </a:p>
          <a:p>
            <a:r>
              <a:rPr lang="en-US" sz="3600" dirty="0">
                <a:solidFill>
                  <a:schemeClr val="accent6">
                    <a:lumMod val="50000"/>
                  </a:schemeClr>
                </a:solidFill>
                <a:latin typeface="+mj-lt"/>
              </a:rPr>
              <a:t>Dépenses publiques pour l’aide en cas de catastrophe et la santé publique</a:t>
            </a:r>
          </a:p>
        </p:txBody>
      </p:sp>
      <p:sp>
        <p:nvSpPr>
          <p:cNvPr id="3" name="Content Placeholder 2">
            <a:extLst>
              <a:ext uri="{FF2B5EF4-FFF2-40B4-BE49-F238E27FC236}">
                <a16:creationId xmlns:a16="http://schemas.microsoft.com/office/drawing/2014/main" id="{27898683-EFFB-4D7A-B4B5-D55649099B39}"/>
              </a:ext>
            </a:extLst>
          </p:cNvPr>
          <p:cNvSpPr>
            <a:spLocks noGrp="1"/>
          </p:cNvSpPr>
          <p:nvPr>
            <p:ph idx="1"/>
          </p:nvPr>
        </p:nvSpPr>
        <p:spPr>
          <a:xfrm>
            <a:off x="929629" y="1766788"/>
            <a:ext cx="5257800" cy="4579390"/>
          </a:xfrm>
        </p:spPr>
        <p:txBody>
          <a:bodyPr vert="horz" lIns="91440" tIns="45720" rIns="91440" bIns="45720" rtlCol="0" anchor="t">
            <a:noAutofit/>
          </a:bodyPr>
          <a:lstStyle/>
          <a:p>
            <a:r>
              <a:rPr lang="en-US" sz="2400" i="1" dirty="0"/>
              <a:t>Pendant la pandémie : aide en cas de catastrophe, soutien aux ménages et aux entreprises</a:t>
            </a:r>
          </a:p>
          <a:p>
            <a:r>
              <a:rPr lang="en-US" sz="2400" i="1" dirty="0"/>
              <a:t>La stimulation de la demande globale pourrait avoir peu d’effet sur le PIB (le « multiplicateur budgétaire ») si le risque de Covid-19 persiste </a:t>
            </a:r>
          </a:p>
          <a:p>
            <a:r>
              <a:rPr lang="en-US" sz="2400" i="1" dirty="0"/>
              <a:t>Investir dans la santé publique pour sauver des vies et générer des gains à long terme</a:t>
            </a:r>
          </a:p>
          <a:p>
            <a:r>
              <a:rPr lang="en-US" sz="2400" i="1" dirty="0"/>
              <a:t>Surveillance des maladies et transparence des données</a:t>
            </a:r>
          </a:p>
          <a:p>
            <a:r>
              <a:rPr lang="en-US" sz="2400" i="1" dirty="0"/>
              <a:t>Dépistage et recherche des contacts</a:t>
            </a:r>
          </a:p>
          <a:p>
            <a:r>
              <a:rPr lang="en-US" sz="2400" i="1" dirty="0"/>
              <a:t>Campagnes de vaccination</a:t>
            </a:r>
          </a:p>
          <a:p>
            <a:r>
              <a:rPr lang="en-US" sz="2400" i="1" dirty="0"/>
              <a:t/>
            </a:r>
          </a:p>
          <a:p>
            <a:r>
              <a:rPr lang="en-US" sz="2400" i="1" dirty="0"/>
              <a:t>Peut également réduire les coûts économiques de la pandémie</a:t>
            </a:r>
          </a:p>
          <a:p>
            <a:r>
              <a:rPr lang="en-US" sz="2400" i="1" dirty="0"/>
              <a:t/>
            </a:r>
          </a:p>
          <a:p>
            <a:r>
              <a:rPr lang="en-US" sz="2400" i="1" dirty="0"/>
              <a:t/>
            </a:r>
          </a:p>
        </p:txBody>
      </p:sp>
      <p:grpSp>
        <p:nvGrpSpPr>
          <p:cNvPr id="4" name="Group 3">
            <a:extLst>
              <a:ext uri="{FF2B5EF4-FFF2-40B4-BE49-F238E27FC236}">
                <a16:creationId xmlns:a16="http://schemas.microsoft.com/office/drawing/2014/main" id="{D9C8C1BC-0CE5-4A29-A55A-130F761AB3D0}"/>
              </a:ext>
            </a:extLst>
          </p:cNvPr>
          <p:cNvGrpSpPr/>
          <p:nvPr/>
        </p:nvGrpSpPr>
        <p:grpSpPr>
          <a:xfrm>
            <a:off x="6451069" y="1716440"/>
            <a:ext cx="5095890" cy="3759327"/>
            <a:chOff x="6451068" y="1330221"/>
            <a:chExt cx="5341655" cy="3999896"/>
          </a:xfrm>
        </p:grpSpPr>
        <p:sp>
          <p:nvSpPr>
            <p:cNvPr id="5" name="Rectangle 4">
              <a:extLst>
                <a:ext uri="{FF2B5EF4-FFF2-40B4-BE49-F238E27FC236}">
                  <a16:creationId xmlns:a16="http://schemas.microsoft.com/office/drawing/2014/main" id="{AEB6B073-B8DA-43A7-BE47-186B675AF4C7}"/>
                </a:ext>
              </a:extLst>
            </p:cNvPr>
            <p:cNvSpPr/>
            <p:nvPr/>
          </p:nvSpPr>
          <p:spPr>
            <a:xfrm>
              <a:off x="6451068" y="1330221"/>
              <a:ext cx="5341655" cy="307777"/>
            </a:xfrm>
            <a:prstGeom prst="rect">
              <a:avLst/>
            </a:prstGeom>
          </p:spPr>
          <p:txBody>
            <a:bodyPr wrap="none">
              <a:spAutoFit/>
            </a:bodyPr>
            <a:lstStyle/>
            <a:p>
              <a:r>
                <a:rPr kumimoji="0" lang="en-US" sz="1400" b="1" i="0" u="none" strike="noStrike" kern="1200" cap="none" spc="0" normalizeH="0" baseline="0" noProof="0">
                  <a:ln>
                    <a:noFill/>
                  </a:ln>
                  <a:solidFill>
                    <a:prstClr val="black"/>
                  </a:solidFill>
                  <a:effectLst/>
                  <a:uLnTx/>
                  <a:uFillTx/>
                  <a:latin typeface="Calibri" panose="020F0502020204030204"/>
                  <a:ea typeface="+mn-ea"/>
                  <a:cs typeface="+mn-cs"/>
                </a:rPr>
                <a:t>Corrélation partielle entre les taux de positivité des tests et la révision à la baisse du PIB</a:t>
              </a:r>
            </a:p>
          </p:txBody>
        </p:sp>
        <p:pic>
          <p:nvPicPr>
            <p:cNvPr id="8" name="Picture 7">
              <a:extLst>
                <a:ext uri="{FF2B5EF4-FFF2-40B4-BE49-F238E27FC236}">
                  <a16:creationId xmlns:a16="http://schemas.microsoft.com/office/drawing/2014/main" id="{20F43699-43B6-43D9-958F-DEA4435152CB}"/>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89064" y="1672517"/>
              <a:ext cx="4665662" cy="3657600"/>
            </a:xfrm>
            <a:prstGeom prst="rect">
              <a:avLst/>
            </a:prstGeom>
            <a:noFill/>
            <a:ln>
              <a:noFill/>
            </a:ln>
          </p:spPr>
        </p:pic>
      </p:grpSp>
      <p:sp>
        <p:nvSpPr>
          <p:cNvPr id="6" name="Rectangle 5">
            <a:extLst>
              <a:ext uri="{FF2B5EF4-FFF2-40B4-BE49-F238E27FC236}">
                <a16:creationId xmlns:a16="http://schemas.microsoft.com/office/drawing/2014/main" id="{E2B52C8A-7600-4A9A-AADA-9F40E9459539}"/>
              </a:ext>
            </a:extLst>
          </p:cNvPr>
          <p:cNvSpPr/>
          <p:nvPr/>
        </p:nvSpPr>
        <p:spPr>
          <a:xfrm>
            <a:off x="6073895" y="5670627"/>
            <a:ext cx="6096000" cy="974882"/>
          </a:xfrm>
          <a:prstGeom prst="rect">
            <a:avLst/>
          </a:prstGeom>
        </p:spPr>
        <p:txBody>
          <a:bodyPr>
            <a:spAutoFit/>
          </a:bodyPr>
          <a:lstStyle/>
          <a:p>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Sources : FMI, World Economic Outlook ; Worldometer ; Université Johns Hopkins ; Banque mondiale, World Development Indicators ; et calculs des services de la Banque mondiale.</a:t>
            </a:r>
          </a:p>
          <a:p>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Note : La figure montre la corrélation partielle entre les ajustements de croissance de 2020 (entre octobre 2020 et octobre 2019) et le taux de positivité à la Covid-19 (à décembre 2020). Le taux de positivité correspond au nombre de cas de Covid-19 en pourcentage du nombre total de tests. Les autres variables explicatives comprennent le logarithme du PIB par habitant en 2019 (en dollars américains), la valeur totale des échanges rapportée au PIB en 2019 (en pourcentage), le nombre de jours écoulés depuis le premier cas positif jusqu’au 30 novembre 2020, et le tourisme en pourcentage des exportations en 2018.</a:t>
            </a:r>
          </a:p>
        </p:txBody>
      </p:sp>
    </p:spTree>
    <p:extLst>
      <p:ext uri="{BB962C8B-B14F-4D97-AF65-F5344CB8AC3E}">
        <p14:creationId xmlns:p14="http://schemas.microsoft.com/office/powerpoint/2010/main" val="2835570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67F587-EC9D-4B03-B8C7-2324F113AFE4}"/>
              </a:ext>
            </a:extLst>
          </p:cNvPr>
          <p:cNvSpPr>
            <a:spLocks noGrp="1"/>
          </p:cNvSpPr>
          <p:nvPr>
            <p:ph type="title"/>
          </p:nvPr>
        </p:nvSpPr>
        <p:spPr>
          <a:xfrm>
            <a:off x="838200" y="365125"/>
            <a:ext cx="10515600" cy="963945"/>
          </a:xfrm>
        </p:spPr>
        <p:txBody>
          <a:bodyPr>
            <a:normAutofit/>
          </a:bodyPr>
          <a:lstStyle/>
          <a:p>
            <a:r>
              <a:rPr lang="en-US" sz="3600" dirty="0">
                <a:solidFill>
                  <a:schemeClr val="accent6">
                    <a:lumMod val="50000"/>
                  </a:schemeClr>
                </a:solidFill>
              </a:rPr>
              <a:t>Priorités à mesure que la pandémie reflue</a:t>
            </a:r>
          </a:p>
        </p:txBody>
      </p:sp>
      <p:graphicFrame>
        <p:nvGraphicFramePr>
          <p:cNvPr id="4" name="Table 4">
            <a:extLst>
              <a:ext uri="{FF2B5EF4-FFF2-40B4-BE49-F238E27FC236}">
                <a16:creationId xmlns:a16="http://schemas.microsoft.com/office/drawing/2014/main" id="{93EF1C9F-3EC7-4364-A2F7-177601DF5479}"/>
              </a:ext>
            </a:extLst>
          </p:cNvPr>
          <p:cNvGraphicFramePr>
            <a:graphicFrameLocks noGrp="1"/>
          </p:cNvGraphicFramePr>
          <p:nvPr/>
        </p:nvGraphicFramePr>
        <p:xfrm>
          <a:off x="1647536" y="1578452"/>
          <a:ext cx="9134764" cy="4053840"/>
        </p:xfrm>
        <a:graphic>
          <a:graphicData uri="http://schemas.openxmlformats.org/drawingml/2006/table">
            <a:tbl>
              <a:tblPr firstRow="1" bandRow="1">
                <a:tableStyleId>{5C22544A-7EE6-4342-B048-85BDC9FD1C3A}</a:tableStyleId>
              </a:tblPr>
              <a:tblGrid>
                <a:gridCol w="4567382">
                  <a:extLst>
                    <a:ext uri="{9D8B030D-6E8A-4147-A177-3AD203B41FA5}">
                      <a16:colId xmlns:a16="http://schemas.microsoft.com/office/drawing/2014/main" val="943116979"/>
                    </a:ext>
                  </a:extLst>
                </a:gridCol>
                <a:gridCol w="4567382">
                  <a:extLst>
                    <a:ext uri="{9D8B030D-6E8A-4147-A177-3AD203B41FA5}">
                      <a16:colId xmlns:a16="http://schemas.microsoft.com/office/drawing/2014/main" val="1953876702"/>
                    </a:ext>
                  </a:extLst>
                </a:gridCol>
              </a:tblGrid>
              <a:tr h="584799">
                <a:tc>
                  <a:txBody>
                    <a:bodyPr/>
                    <a:lstStyle/>
                    <a:p>
                      <a:r>
                        <a:rPr lang="en-US" sz="2000" b="0" dirty="0">
                          <a:solidFill>
                            <a:schemeClr val="accent6">
                              <a:lumMod val="75000"/>
                            </a:schemeClr>
                          </a:solidFill>
                        </a:rPr>
                        <a:t>Factors that reduce the need and efficacy of traditional fiscal stimulus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0000"/>
                        <a:lumOff val="80000"/>
                      </a:schemeClr>
                    </a:solidFill>
                  </a:tcPr>
                </a:tc>
                <a:tc>
                  <a:txBody>
                    <a:bodyPr/>
                    <a:lstStyle/>
                    <a:p>
                      <a:r>
                        <a:rPr lang="en-US" sz="2000" b="0" dirty="0">
                          <a:solidFill>
                            <a:schemeClr val="accent6">
                              <a:lumMod val="75000"/>
                            </a:schemeClr>
                          </a:solidFill>
                        </a:rPr>
                        <a:t>Potential benefits of (targeted) stimulus – healing economic scars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0000"/>
                        <a:lumOff val="80000"/>
                      </a:schemeClr>
                    </a:solidFill>
                  </a:tcPr>
                </a:tc>
                <a:extLst>
                  <a:ext uri="{0D108BD9-81ED-4DB2-BD59-A6C34878D82A}">
                    <a16:rowId xmlns:a16="http://schemas.microsoft.com/office/drawing/2014/main" val="846973237"/>
                  </a:ext>
                </a:extLst>
              </a:tr>
              <a:tr h="3227690">
                <a:tc>
                  <a:txBody>
                    <a:bodyPr/>
                    <a:lstStyle/>
                    <a:p>
                      <a:pPr marL="457200" indent="-457200">
                        <a:buFont typeface="+mj-lt"/>
                        <a:buAutoNum type="arabicPeriod"/>
                      </a:pPr>
                      <a:r>
                        <a:rPr lang="en-US" sz="2000" dirty="0">
                          <a:solidFill>
                            <a:schemeClr val="tx1"/>
                          </a:solidFill>
                        </a:rPr>
                        <a:t>“Pent-up demand” can raise GDP without fiscal stimulus  </a:t>
                      </a:r>
                    </a:p>
                    <a:p>
                      <a:pPr marL="914400" lvl="1" indent="-457200">
                        <a:buFont typeface="Arial" panose="020B0604020202020204" pitchFamily="34" charset="0"/>
                        <a:buChar char="•"/>
                      </a:pPr>
                      <a:r>
                        <a:rPr lang="en-US" sz="1800" dirty="0">
                          <a:solidFill>
                            <a:schemeClr val="tx1"/>
                          </a:solidFill>
                        </a:rPr>
                        <a:t>If consumers (e.g., foreign tourists) believe that the pandemic is over </a:t>
                      </a:r>
                    </a:p>
                    <a:p>
                      <a:pPr marL="457200" indent="-457200">
                        <a:buFont typeface="+mj-lt"/>
                        <a:buAutoNum type="arabicPeriod"/>
                      </a:pPr>
                      <a:r>
                        <a:rPr lang="en-US" sz="2000" dirty="0">
                          <a:solidFill>
                            <a:schemeClr val="tx1"/>
                          </a:solidFill>
                        </a:rPr>
                        <a:t>High debt has been associated with low fiscal multipliers (Huidrom et al., 2020)</a:t>
                      </a:r>
                    </a:p>
                    <a:p>
                      <a:pPr marL="457200" indent="-457200">
                        <a:buFont typeface="+mj-lt"/>
                        <a:buAutoNum type="arabicPeriod"/>
                      </a:pPr>
                      <a:r>
                        <a:rPr lang="en-US" sz="2000" dirty="0">
                          <a:solidFill>
                            <a:schemeClr val="tx1"/>
                          </a:solidFill>
                        </a:rPr>
                        <a:t>Fiscal multiplier of public investment is low when governance is poor (Izquierdo et al., 2019)</a:t>
                      </a:r>
                    </a:p>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342900" indent="-342900">
                        <a:buFont typeface="+mj-lt"/>
                        <a:buAutoNum type="arabicPeriod"/>
                      </a:pPr>
                      <a:r>
                        <a:rPr lang="en-US" sz="2000" dirty="0">
                          <a:solidFill>
                            <a:schemeClr val="tx1"/>
                          </a:solidFill>
                        </a:rPr>
                        <a:t>Financial constraints prevent enterprise re-entry </a:t>
                      </a:r>
                    </a:p>
                    <a:p>
                      <a:pPr marL="342900" indent="-342900">
                        <a:buFont typeface="+mj-lt"/>
                        <a:buAutoNum type="arabicPeriod"/>
                      </a:pPr>
                      <a:r>
                        <a:rPr lang="en-US" sz="2000" dirty="0">
                          <a:solidFill>
                            <a:schemeClr val="tx1"/>
                          </a:solidFill>
                        </a:rPr>
                        <a:t>Scarring of idled workers, particularly the young entering the labor force</a:t>
                      </a:r>
                    </a:p>
                    <a:p>
                      <a:pPr marL="342900" indent="-342900">
                        <a:buFont typeface="+mj-lt"/>
                        <a:buAutoNum type="arabicPeriod"/>
                      </a:pPr>
                      <a:r>
                        <a:rPr lang="en-US" sz="2000" dirty="0">
                          <a:solidFill>
                            <a:schemeClr val="tx1"/>
                          </a:solidFill>
                        </a:rPr>
                        <a:t>Support schools to recover lost human capital</a:t>
                      </a:r>
                    </a:p>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78315287"/>
                  </a:ext>
                </a:extLst>
              </a:tr>
            </a:tbl>
          </a:graphicData>
        </a:graphic>
      </p:graphicFrame>
    </p:spTree>
    <p:extLst>
      <p:ext uri="{BB962C8B-B14F-4D97-AF65-F5344CB8AC3E}">
        <p14:creationId xmlns:p14="http://schemas.microsoft.com/office/powerpoint/2010/main" val="34974514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F008A-C402-4263-AE56-EC4C608487F6}"/>
              </a:ext>
            </a:extLst>
          </p:cNvPr>
          <p:cNvSpPr>
            <a:spLocks noGrp="1"/>
          </p:cNvSpPr>
          <p:nvPr>
            <p:ph type="title"/>
          </p:nvPr>
        </p:nvSpPr>
        <p:spPr>
          <a:xfrm>
            <a:off x="838200" y="365125"/>
            <a:ext cx="10515600" cy="921415"/>
          </a:xfrm>
        </p:spPr>
        <p:txBody>
          <a:bodyPr>
            <a:normAutofit/>
          </a:bodyPr>
          <a:lstStyle/>
          <a:p>
            <a:r>
              <a:rPr lang="en-US" sz="3200" dirty="0">
                <a:solidFill>
                  <a:schemeClr val="accent6">
                    <a:lumMod val="50000"/>
                  </a:schemeClr>
                </a:solidFill>
              </a:rPr>
              <a:t>Atténuer les coûts de la dette publique après la pandémie</a:t>
            </a:r>
          </a:p>
        </p:txBody>
      </p:sp>
      <p:sp>
        <p:nvSpPr>
          <p:cNvPr id="3" name="Content Placeholder 2">
            <a:extLst>
              <a:ext uri="{FF2B5EF4-FFF2-40B4-BE49-F238E27FC236}">
                <a16:creationId xmlns:a16="http://schemas.microsoft.com/office/drawing/2014/main" id="{79CFE54A-6E50-4441-AA7D-636D083DB899}"/>
              </a:ext>
            </a:extLst>
          </p:cNvPr>
          <p:cNvSpPr>
            <a:spLocks noGrp="1"/>
          </p:cNvSpPr>
          <p:nvPr>
            <p:ph idx="1"/>
          </p:nvPr>
        </p:nvSpPr>
        <p:spPr>
          <a:xfrm>
            <a:off x="838200" y="1594884"/>
            <a:ext cx="10515600" cy="4582079"/>
          </a:xfrm>
        </p:spPr>
        <p:txBody>
          <a:bodyPr/>
          <a:lstStyle/>
          <a:p>
            <a:r>
              <a:rPr lang="en-US" dirty="0"/>
              <a:t>Refinancer la dette arrivant à échéance à des conditions plus favorables en renforçant la transparence de la déclaration de la dette</a:t>
            </a:r>
          </a:p>
          <a:p>
            <a:r>
              <a:rPr lang="en-US" dirty="0"/>
              <a:t/>
            </a:r>
          </a:p>
          <a:p>
            <a:r>
              <a:rPr lang="en-US" dirty="0"/>
              <a:t>Améliorer les institutions : les pays endettés sont plus susceptibles de connaître des périodes coûteuses de surendettement lorsqu’ils enregistrent une faible croissance et une gouvernance défaillante. </a:t>
            </a:r>
          </a:p>
          <a:p>
            <a:r>
              <a:rPr lang="en-US" dirty="0"/>
              <a:t/>
            </a:r>
          </a:p>
        </p:txBody>
      </p:sp>
    </p:spTree>
    <p:extLst>
      <p:ext uri="{BB962C8B-B14F-4D97-AF65-F5344CB8AC3E}">
        <p14:creationId xmlns:p14="http://schemas.microsoft.com/office/powerpoint/2010/main" val="41609512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6C29A6-99A5-46B7-8755-B8C4B909D3D4}"/>
              </a:ext>
            </a:extLst>
          </p:cNvPr>
          <p:cNvSpPr>
            <a:spLocks noGrp="1"/>
          </p:cNvSpPr>
          <p:nvPr>
            <p:ph type="title"/>
          </p:nvPr>
        </p:nvSpPr>
        <p:spPr/>
        <p:txBody>
          <a:bodyPr>
            <a:normAutofit/>
          </a:bodyPr>
          <a:lstStyle/>
          <a:p>
            <a:r>
              <a:rPr lang="en-US" sz="3200" dirty="0">
                <a:solidFill>
                  <a:schemeClr val="accent6">
                    <a:lumMod val="50000"/>
                  </a:schemeClr>
                </a:solidFill>
              </a:rPr>
              <a:t>Une bonne gouvernance peut aider : enseignements tirés des épisodes de surendettement</a:t>
            </a:r>
          </a:p>
        </p:txBody>
      </p:sp>
      <p:graphicFrame>
        <p:nvGraphicFramePr>
          <p:cNvPr id="4" name="Content Placeholder 3">
            <a:extLst>
              <a:ext uri="{FF2B5EF4-FFF2-40B4-BE49-F238E27FC236}">
                <a16:creationId xmlns:a16="http://schemas.microsoft.com/office/drawing/2014/main" id="{3848A625-3D1D-4E4C-AE46-1F2A533035AA}"/>
              </a:ext>
            </a:extLst>
          </p:cNvPr>
          <p:cNvGraphicFramePr>
            <a:graphicFrameLocks noGrp="1"/>
          </p:cNvGraphicFramePr>
          <p:nvPr>
            <p:ph idx="1"/>
          </p:nvPr>
        </p:nvGraphicFramePr>
        <p:xfrm>
          <a:off x="838200" y="1825625"/>
          <a:ext cx="4826330" cy="435133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4">
            <a:extLst>
              <a:ext uri="{FF2B5EF4-FFF2-40B4-BE49-F238E27FC236}">
                <a16:creationId xmlns:a16="http://schemas.microsoft.com/office/drawing/2014/main" id="{8902B8B8-EA53-4657-BD16-60F1C5167435}"/>
              </a:ext>
            </a:extLst>
          </p:cNvPr>
          <p:cNvGraphicFramePr/>
          <p:nvPr/>
        </p:nvGraphicFramePr>
        <p:xfrm>
          <a:off x="6096000" y="1942583"/>
          <a:ext cx="5470337" cy="3829050"/>
        </p:xfrm>
        <a:graphic>
          <a:graphicData uri="http://schemas.openxmlformats.org/drawingml/2006/chart">
            <c:chart xmlns:c="http://schemas.openxmlformats.org/drawingml/2006/chart" xmlns:r="http://schemas.openxmlformats.org/officeDocument/2006/relationships" r:id="rId4"/>
          </a:graphicData>
        </a:graphic>
      </p:graphicFrame>
      <p:sp>
        <p:nvSpPr>
          <p:cNvPr id="6" name="Rectangle 5">
            <a:extLst>
              <a:ext uri="{FF2B5EF4-FFF2-40B4-BE49-F238E27FC236}">
                <a16:creationId xmlns:a16="http://schemas.microsoft.com/office/drawing/2014/main" id="{3A80956D-812C-4E4D-89FD-9EEF10359171}"/>
              </a:ext>
            </a:extLst>
          </p:cNvPr>
          <p:cNvSpPr/>
          <p:nvPr/>
        </p:nvSpPr>
        <p:spPr>
          <a:xfrm>
            <a:off x="1319645" y="6023528"/>
            <a:ext cx="9434946" cy="265457"/>
          </a:xfrm>
          <a:prstGeom prst="rect">
            <a:avLst/>
          </a:prstGeom>
        </p:spPr>
        <p:txBody>
          <a:bodyPr wrap="square">
            <a:spAutoFit/>
          </a:bodyPr>
          <a:lstStyle/>
          <a:p>
            <a:r>
              <a:rPr kumimoji="0" lang="en-US" sz="1100" b="0" i="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Note : Groupe témoin = pays en développement sans épisodes de surendettement (restructuration de la dette)</a:t>
            </a:r>
          </a:p>
        </p:txBody>
      </p:sp>
    </p:spTree>
    <p:extLst>
      <p:ext uri="{BB962C8B-B14F-4D97-AF65-F5344CB8AC3E}">
        <p14:creationId xmlns:p14="http://schemas.microsoft.com/office/powerpoint/2010/main" val="1590269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28"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 name="Group 30">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32" name="Freeform: Shape 31">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3" name="Freeform: Shape 32">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4" name="Freeform: Shape 33">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5" name="Freeform: Shape 34">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6" name="Freeform: Shape 35">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7" name="Freeform: Shape 36">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8" name="Freeform: Shape 37">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B912DCED-A9C1-40AC-871C-C2E44D01EDD5}"/>
              </a:ext>
            </a:extLst>
          </p:cNvPr>
          <p:cNvSpPr>
            <a:spLocks noGrp="1"/>
          </p:cNvSpPr>
          <p:nvPr>
            <p:ph type="title"/>
          </p:nvPr>
        </p:nvSpPr>
        <p:spPr>
          <a:xfrm>
            <a:off x="786385" y="841248"/>
            <a:ext cx="3515244" cy="5340097"/>
          </a:xfrm>
        </p:spPr>
        <p:txBody>
          <a:bodyPr anchor="ctr">
            <a:normAutofit/>
          </a:bodyPr>
          <a:lstStyle/>
          <a:p>
            <a:r>
              <a:rPr lang="en-US" sz="4000">
                <a:solidFill>
                  <a:schemeClr val="bg1"/>
                </a:solidFill>
              </a:rPr>
              <a:t>Tracer une voie vers une reprise durable :</a:t>
            </a:r>
          </a:p>
          <a:p>
            <a:r>
              <a:rPr lang="en-US" sz="4000">
                <a:solidFill>
                  <a:schemeClr val="bg1"/>
                </a:solidFill>
              </a:rPr>
              <a:t>La transparence peut aider ! </a:t>
            </a:r>
          </a:p>
        </p:txBody>
      </p:sp>
      <p:graphicFrame>
        <p:nvGraphicFramePr>
          <p:cNvPr id="21" name="Content Placeholder 2">
            <a:extLst>
              <a:ext uri="{FF2B5EF4-FFF2-40B4-BE49-F238E27FC236}">
                <a16:creationId xmlns:a16="http://schemas.microsoft.com/office/drawing/2014/main" id="{EE35DB09-5421-4F1F-A269-E6A2A733E147}"/>
              </a:ext>
            </a:extLst>
          </p:cNvPr>
          <p:cNvGraphicFramePr/>
          <p:nvPr>
            <p:extLst>
              <p:ext uri="{D42A27DB-BD31-4B8C-83A1-F6EECF244321}">
                <p14:modId xmlns:p14="http://schemas.microsoft.com/office/powerpoint/2010/main" val="2917362338"/>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204931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A8DB9CD9-59B1-4D73-BC4C-98796A48EF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874A6A9-41FF-4E33-AFA8-F9F81436A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721D730E-1F97-4071-B143-B05E6D2599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19" name="Freeform: Shape 18">
              <a:extLst>
                <a:ext uri="{FF2B5EF4-FFF2-40B4-BE49-F238E27FC236}">
                  <a16:creationId xmlns:a16="http://schemas.microsoft.com/office/drawing/2014/main" id="{B3849C6A-9EE5-4604-8EAE-DD4796B79D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Freeform: Shape 19">
              <a:extLst>
                <a:ext uri="{FF2B5EF4-FFF2-40B4-BE49-F238E27FC236}">
                  <a16:creationId xmlns:a16="http://schemas.microsoft.com/office/drawing/2014/main" id="{308677BE-069B-4A4D-8732-E26B6EF56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1" name="Freeform: Shape 20">
              <a:extLst>
                <a:ext uri="{FF2B5EF4-FFF2-40B4-BE49-F238E27FC236}">
                  <a16:creationId xmlns:a16="http://schemas.microsoft.com/office/drawing/2014/main" id="{9A9A575B-DD07-4388-963B-0AF3FDDCF3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Freeform: Shape 21">
              <a:extLst>
                <a:ext uri="{FF2B5EF4-FFF2-40B4-BE49-F238E27FC236}">
                  <a16:creationId xmlns:a16="http://schemas.microsoft.com/office/drawing/2014/main" id="{D55285E4-21EB-4EC1-AB8E-36E881E89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Freeform: Shape 22">
              <a:extLst>
                <a:ext uri="{FF2B5EF4-FFF2-40B4-BE49-F238E27FC236}">
                  <a16:creationId xmlns:a16="http://schemas.microsoft.com/office/drawing/2014/main" id="{6A0C77B5-3FAA-4D4F-9555-89D7516088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sp>
          <p:nvSpPr>
            <p:cNvPr id="24" name="Freeform: Shape 23">
              <a:extLst>
                <a:ext uri="{FF2B5EF4-FFF2-40B4-BE49-F238E27FC236}">
                  <a16:creationId xmlns:a16="http://schemas.microsoft.com/office/drawing/2014/main" id="{5F0C96D1-A8B7-4C8E-9997-D823FD1591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5" name="Freeform: Shape 24">
              <a:extLst>
                <a:ext uri="{FF2B5EF4-FFF2-40B4-BE49-F238E27FC236}">
                  <a16:creationId xmlns:a16="http://schemas.microsoft.com/office/drawing/2014/main" id="{DA46556D-445B-4CD0-87A0-02A30BD1B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Title 1">
            <a:extLst>
              <a:ext uri="{FF2B5EF4-FFF2-40B4-BE49-F238E27FC236}">
                <a16:creationId xmlns:a16="http://schemas.microsoft.com/office/drawing/2014/main" id="{54019DB5-FB67-4726-9C0F-732B660E4DD6}"/>
              </a:ext>
            </a:extLst>
          </p:cNvPr>
          <p:cNvSpPr>
            <a:spLocks noGrp="1"/>
          </p:cNvSpPr>
          <p:nvPr>
            <p:ph type="title"/>
          </p:nvPr>
        </p:nvSpPr>
        <p:spPr>
          <a:xfrm>
            <a:off x="3215729" y="1764407"/>
            <a:ext cx="5760846" cy="2310312"/>
          </a:xfrm>
        </p:spPr>
        <p:txBody>
          <a:bodyPr vert="horz" lIns="91440" tIns="45720" rIns="91440" bIns="45720" rtlCol="0" anchor="b">
            <a:normAutofit/>
          </a:bodyPr>
          <a:lstStyle/>
          <a:p>
            <a:r>
              <a:rPr lang="en-US" sz="6600" b="1" kern="1200">
                <a:solidFill>
                  <a:schemeClr val="tx2"/>
                </a:solidFill>
                <a:latin typeface="+mj-lt"/>
                <a:ea typeface="+mj-ea"/>
                <a:cs typeface="+mj-cs"/>
              </a:rPr>
              <a:t>MERCI !</a:t>
            </a:r>
          </a:p>
        </p:txBody>
      </p:sp>
    </p:spTree>
    <p:extLst>
      <p:ext uri="{BB962C8B-B14F-4D97-AF65-F5344CB8AC3E}">
        <p14:creationId xmlns:p14="http://schemas.microsoft.com/office/powerpoint/2010/main" val="2769461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90DA8-8842-46AF-BC9A-2712342971D8}"/>
              </a:ext>
            </a:extLst>
          </p:cNvPr>
          <p:cNvSpPr>
            <a:spLocks noGrp="1"/>
          </p:cNvSpPr>
          <p:nvPr>
            <p:ph type="title"/>
          </p:nvPr>
        </p:nvSpPr>
        <p:spPr>
          <a:xfrm>
            <a:off x="838200" y="365125"/>
            <a:ext cx="10515600" cy="911225"/>
          </a:xfrm>
        </p:spPr>
        <p:txBody>
          <a:bodyPr>
            <a:normAutofit fontScale="90000"/>
          </a:bodyPr>
          <a:lstStyle/>
          <a:p>
            <a:r>
              <a:rPr lang="en-US" sz="3100">
                <a:solidFill>
                  <a:schemeClr val="accent6">
                    <a:lumMod val="75000"/>
                  </a:schemeClr>
                </a:solidFill>
              </a:rPr>
              <a:t>Tableau B1 de l’annexe : prévisions de la Banque mondiale concernant la croissance, le compte courant et le compte budgétaire</a:t>
            </a:r>
          </a:p>
        </p:txBody>
      </p:sp>
      <p:pic>
        <p:nvPicPr>
          <p:cNvPr id="3" name="Picture 2">
            <a:extLst>
              <a:ext uri="{FF2B5EF4-FFF2-40B4-BE49-F238E27FC236}">
                <a16:creationId xmlns:a16="http://schemas.microsoft.com/office/drawing/2014/main" id="{8162E021-6368-4FD1-83CB-50F3DE5C643D}"/>
              </a:ext>
            </a:extLst>
          </p:cNvPr>
          <p:cNvPicPr>
            <a:picLocks noChangeAspect="1"/>
          </p:cNvPicPr>
          <p:nvPr/>
        </p:nvPicPr>
        <p:blipFill>
          <a:blip r:embed="rId3"/>
          <a:stretch>
            <a:fillRect/>
          </a:stretch>
        </p:blipFill>
        <p:spPr>
          <a:xfrm>
            <a:off x="1261699" y="1276350"/>
            <a:ext cx="9668601" cy="5353050"/>
          </a:xfrm>
          <a:prstGeom prst="rect">
            <a:avLst/>
          </a:prstGeom>
        </p:spPr>
      </p:pic>
    </p:spTree>
    <p:extLst>
      <p:ext uri="{BB962C8B-B14F-4D97-AF65-F5344CB8AC3E}">
        <p14:creationId xmlns:p14="http://schemas.microsoft.com/office/powerpoint/2010/main" val="33683780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90DA8-8842-46AF-BC9A-2712342971D8}"/>
              </a:ext>
            </a:extLst>
          </p:cNvPr>
          <p:cNvSpPr>
            <a:spLocks noGrp="1"/>
          </p:cNvSpPr>
          <p:nvPr>
            <p:ph type="title"/>
          </p:nvPr>
        </p:nvSpPr>
        <p:spPr>
          <a:xfrm>
            <a:off x="838200" y="365125"/>
            <a:ext cx="10515600" cy="911225"/>
          </a:xfrm>
        </p:spPr>
        <p:txBody>
          <a:bodyPr>
            <a:normAutofit fontScale="90000"/>
          </a:bodyPr>
          <a:lstStyle/>
          <a:p>
            <a:r>
              <a:rPr lang="en-US" sz="3100" dirty="0">
                <a:solidFill>
                  <a:schemeClr val="accent6">
                    <a:lumMod val="75000"/>
                  </a:schemeClr>
                </a:solidFill>
              </a:rPr>
              <a:t>Tableau B2 de l’annexe, panneau B (entre avril 2021 et octobre 2020) :</a:t>
            </a:r>
          </a:p>
        </p:txBody>
      </p:sp>
      <p:pic>
        <p:nvPicPr>
          <p:cNvPr id="5" name="Picture 4">
            <a:extLst>
              <a:ext uri="{FF2B5EF4-FFF2-40B4-BE49-F238E27FC236}">
                <a16:creationId xmlns:a16="http://schemas.microsoft.com/office/drawing/2014/main" id="{1BE89F56-BC52-4404-B7B2-73BDC00FF274}"/>
              </a:ext>
            </a:extLst>
          </p:cNvPr>
          <p:cNvPicPr>
            <a:picLocks noChangeAspect="1"/>
          </p:cNvPicPr>
          <p:nvPr/>
        </p:nvPicPr>
        <p:blipFill>
          <a:blip r:embed="rId3"/>
          <a:stretch>
            <a:fillRect/>
          </a:stretch>
        </p:blipFill>
        <p:spPr>
          <a:xfrm>
            <a:off x="2149079" y="1514763"/>
            <a:ext cx="7893842" cy="4235209"/>
          </a:xfrm>
          <a:prstGeom prst="rect">
            <a:avLst/>
          </a:prstGeom>
        </p:spPr>
      </p:pic>
    </p:spTree>
    <p:extLst>
      <p:ext uri="{BB962C8B-B14F-4D97-AF65-F5344CB8AC3E}">
        <p14:creationId xmlns:p14="http://schemas.microsoft.com/office/powerpoint/2010/main" val="21762621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71DB0-E629-4DFE-8344-08CAAA662983}"/>
              </a:ext>
            </a:extLst>
          </p:cNvPr>
          <p:cNvSpPr>
            <a:spLocks noGrp="1"/>
          </p:cNvSpPr>
          <p:nvPr>
            <p:ph type="title"/>
          </p:nvPr>
        </p:nvSpPr>
        <p:spPr>
          <a:xfrm>
            <a:off x="838200" y="365126"/>
            <a:ext cx="10515600" cy="768350"/>
          </a:xfrm>
        </p:spPr>
        <p:txBody>
          <a:bodyPr>
            <a:normAutofit/>
          </a:bodyPr>
          <a:lstStyle/>
          <a:p>
            <a:pPr algn="ctr"/>
            <a:r>
              <a:rPr lang="en-US" sz="3600">
                <a:solidFill>
                  <a:schemeClr val="accent6">
                    <a:lumMod val="75000"/>
                  </a:schemeClr>
                </a:solidFill>
              </a:rPr>
              <a:t>Appendix Table B3: Overview of MENA’s debt</a:t>
            </a:r>
            <a:endParaRPr lang="en-US" sz="3600"/>
          </a:p>
        </p:txBody>
      </p:sp>
      <p:pic>
        <p:nvPicPr>
          <p:cNvPr id="4" name="Picture 3">
            <a:extLst>
              <a:ext uri="{FF2B5EF4-FFF2-40B4-BE49-F238E27FC236}">
                <a16:creationId xmlns:a16="http://schemas.microsoft.com/office/drawing/2014/main" id="{10918BEE-4799-4D7A-B285-13F21208414E}"/>
              </a:ext>
            </a:extLst>
          </p:cNvPr>
          <p:cNvPicPr>
            <a:picLocks noChangeAspect="1"/>
          </p:cNvPicPr>
          <p:nvPr/>
        </p:nvPicPr>
        <p:blipFill>
          <a:blip r:embed="rId2"/>
          <a:stretch>
            <a:fillRect/>
          </a:stretch>
        </p:blipFill>
        <p:spPr>
          <a:xfrm>
            <a:off x="1890712" y="1042987"/>
            <a:ext cx="8410575" cy="5610225"/>
          </a:xfrm>
          <a:prstGeom prst="rect">
            <a:avLst/>
          </a:prstGeom>
        </p:spPr>
      </p:pic>
    </p:spTree>
    <p:extLst>
      <p:ext uri="{BB962C8B-B14F-4D97-AF65-F5344CB8AC3E}">
        <p14:creationId xmlns:p14="http://schemas.microsoft.com/office/powerpoint/2010/main" val="8083086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752292-4DE5-4537-A9BF-B193C01F8D37}"/>
              </a:ext>
            </a:extLst>
          </p:cNvPr>
          <p:cNvSpPr>
            <a:spLocks noGrp="1"/>
          </p:cNvSpPr>
          <p:nvPr>
            <p:ph type="title"/>
          </p:nvPr>
        </p:nvSpPr>
        <p:spPr>
          <a:xfrm>
            <a:off x="838200" y="365125"/>
            <a:ext cx="10515600" cy="892175"/>
          </a:xfrm>
        </p:spPr>
        <p:txBody>
          <a:bodyPr>
            <a:normAutofit/>
          </a:bodyPr>
          <a:lstStyle/>
          <a:p>
            <a:pPr algn="ctr"/>
            <a:r>
              <a:rPr lang="en-US" sz="3200">
                <a:solidFill>
                  <a:schemeClr val="accent6">
                    <a:lumMod val="75000"/>
                  </a:schemeClr>
                </a:solidFill>
              </a:rPr>
              <a:t>Appendix Table B4: Characteristics of MENA’s Economies</a:t>
            </a:r>
            <a:endParaRPr lang="en-US" sz="3200"/>
          </a:p>
        </p:txBody>
      </p:sp>
      <p:pic>
        <p:nvPicPr>
          <p:cNvPr id="4" name="Picture 3">
            <a:extLst>
              <a:ext uri="{FF2B5EF4-FFF2-40B4-BE49-F238E27FC236}">
                <a16:creationId xmlns:a16="http://schemas.microsoft.com/office/drawing/2014/main" id="{EF75CDE9-A22F-465C-A710-8F65C409D948}"/>
              </a:ext>
            </a:extLst>
          </p:cNvPr>
          <p:cNvPicPr>
            <a:picLocks noChangeAspect="1"/>
          </p:cNvPicPr>
          <p:nvPr/>
        </p:nvPicPr>
        <p:blipFill>
          <a:blip r:embed="rId2"/>
          <a:stretch>
            <a:fillRect/>
          </a:stretch>
        </p:blipFill>
        <p:spPr>
          <a:xfrm>
            <a:off x="1924050" y="1176337"/>
            <a:ext cx="8343900" cy="5572125"/>
          </a:xfrm>
          <a:prstGeom prst="rect">
            <a:avLst/>
          </a:prstGeom>
        </p:spPr>
      </p:pic>
    </p:spTree>
    <p:extLst>
      <p:ext uri="{BB962C8B-B14F-4D97-AF65-F5344CB8AC3E}">
        <p14:creationId xmlns:p14="http://schemas.microsoft.com/office/powerpoint/2010/main" val="22037459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emplate/>
  <TotalTime>739</TotalTime>
  <Words>3542</Words>
  <Application>Microsoft Office PowerPoint</Application>
  <PresentationFormat>Widescreen</PresentationFormat>
  <Paragraphs>238</Paragraphs>
  <Slides>22</Slides>
  <Notes>17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Arial</vt:lpstr>
      <vt:lpstr>Bahnschrift</vt:lpstr>
      <vt:lpstr>Calibri</vt:lpstr>
      <vt:lpstr>Calibri Light</vt:lpstr>
      <vt:lpstr>D-DIN</vt:lpstr>
      <vt:lpstr>Wingdings</vt:lpstr>
      <vt:lpstr>Office Theme</vt:lpstr>
      <vt:lpstr>PowerPoint Presentation</vt:lpstr>
      <vt:lpstr>Authors</vt:lpstr>
      <vt:lpstr>Main Findings</vt:lpstr>
      <vt:lpstr>PowerPoint Presentation</vt:lpstr>
      <vt:lpstr>PowerPoint Presentation</vt:lpstr>
      <vt:lpstr>PowerPoint Presentation</vt:lpstr>
      <vt:lpstr>A Region Still In Crisis:   Regressive Food-Price Inflation  Feb 2020-March 2021</vt:lpstr>
      <vt:lpstr>PowerPoint Presentation</vt:lpstr>
      <vt:lpstr>This Report</vt:lpstr>
      <vt:lpstr>Walking the Debt Tightrope: Tension between Short-term Needs and Long-term Costs of Public Debt</vt:lpstr>
      <vt:lpstr>Walking The Debt Tightrope  Short-term Needs of Public Debt: Lessons From Disaster Relief</vt:lpstr>
      <vt:lpstr>Walking the Debt Tightrope: Long-term Risks of Public Debt Association between High Public Debt and Low Growth during 2000-2019</vt:lpstr>
      <vt:lpstr>Priorities during the Pandemic: Public Spending for Disaster Relief and Public Health</vt:lpstr>
      <vt:lpstr>Priorities as the Pandemic Subsides</vt:lpstr>
      <vt:lpstr>Mitigating the Costs of Public Debt after the Pandemic</vt:lpstr>
      <vt:lpstr>Good Governance Can Help:  Evidence from Episodes of Debt Distress</vt:lpstr>
      <vt:lpstr>Charting a Path to a Lasting Recovery:  Sunlight Can Help! </vt:lpstr>
      <vt:lpstr>THANK YOU!</vt:lpstr>
      <vt:lpstr>Appendix Table B1: World Bank’s Growth, Current Account and Fiscal Account Forecasts</vt:lpstr>
      <vt:lpstr>Appendix Table B2 Panel B (Between April 2021 and October 2020):</vt:lpstr>
      <vt:lpstr>Appendix Table B3: Overview of MENA’s debt</vt:lpstr>
      <vt:lpstr>Appendix Table B4: Characteristics of MENA’s Economies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Haytham Abushaban</dc:creator>
  <cp:lastModifiedBy>Heran Getachew Negatu</cp:lastModifiedBy>
  <cp:revision>4</cp:revision>
  <dcterms:created xsi:type="dcterms:W3CDTF">2020-09-11T01:06:37Z</dcterms:created>
  <dcterms:modified xsi:type="dcterms:W3CDTF">2021-05-30T01:10:53Z</dcterms:modified>
</cp:coreProperties>
</file>