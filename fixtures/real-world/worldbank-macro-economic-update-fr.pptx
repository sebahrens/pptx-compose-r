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Pauvreté projetée (moins de 5,5 $/jour)</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Nombre de personnes pauvres</a:t>
                </a:r>
              </a:p>
              <a:p>
                <a:pPr>
                  <a:defRPr/>
                </a:pPr>
                <a:r>
                  <a:rPr lang="en-US"/>
                  <a:t> (en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pourcentage du PIB</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Chronologie autour</a:t>
                </a:r>
                <a:r>
                  <a:rPr lang="en-US" sz="1400" baseline="0"/>
                  <a:t> d’une grande catastrophe naturelle, en années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Croissance de la dette publique, % annuel</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Croissance du PIB, % annuel</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La région Moyen-Orient et Afrique du Nord (MENA) est </a:t>
          </a:r>
          <a:r>
            <a:rPr lang="en-US" u="none" dirty="0"/>
            <a:t>toujours en crise</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Les pays de la région MENA font face à un </a:t>
          </a:r>
          <a:r>
            <a:rPr lang="en-US" u="none" dirty="0"/>
            <a:t>exercice d’équilibre</a:t>
          </a:r>
          <a:r>
            <a:rPr lang="en-US" u="sng" dirty="0"/>
            <a:t> </a:t>
          </a:r>
          <a:r>
            <a:rPr lang="en-US" dirty="0"/>
            <a:t>entre les besoins à court terme et les risques à long terme de la dette publique</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Choix difficiles : </a:t>
          </a:r>
          <a:r>
            <a:rPr lang="en-US" dirty="0"/>
            <a:t>les priorités des dépenses publiques dépendent de la phase de la reprise</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La transparence peut aider ! </a:t>
          </a:r>
          <a:r>
            <a:rPr lang="en-US" dirty="0"/>
            <a:t>La transparence peut contribuer à tracer une voie vers une reprise durable pour la région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Une région toujours en crise</a:t>
          </a:r>
          <a:r>
            <a:rPr lang="en-US" dirty="0"/>
            <a:t> : quantifie la souffrance socioéconomique</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L’exercice d’équilibre de la dette</a:t>
          </a:r>
          <a:r>
            <a:rPr lang="en-US" dirty="0"/>
            <a:t> : expose les tensions entre les besoins socioéconomiques immédiats et les risques à long terme dans une région qui présentait déjà des niveaux élevés de dette en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Des choix difficiles à venir</a:t>
          </a:r>
          <a:r>
            <a:rPr lang="en-US" dirty="0"/>
            <a:t> : examine les priorités </a:t>
          </a:r>
          <a:r>
            <a:rPr lang="en-US" u="sng" dirty="0"/>
            <a:t>pendant </a:t>
          </a:r>
          <a:r>
            <a:rPr lang="en-US" dirty="0"/>
            <a:t>la pandémie, </a:t>
          </a:r>
          <a:r>
            <a:rPr lang="en-US" u="sng" dirty="0"/>
            <a:t>après </a:t>
          </a:r>
          <a:r>
            <a:rPr lang="en-US" dirty="0"/>
            <a:t>la pandémie, et </a:t>
          </a:r>
          <a:r>
            <a:rPr lang="en-US" u="sng" dirty="0"/>
            <a:t>au-delà</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La transparence peut aider</a:t>
          </a:r>
          <a:r>
            <a:rPr lang="en-US"/>
            <a:t> : met en évidence le rôle des institutions, en particulier de la transparence, pour tracer une voie vers la reprise au Moyen-Orient et en Afrique du Nord</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Pendant la pandémie</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Réduire les coûts, accélérer la reprise</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La surveillance de la santé publique et la transparence peuvent réduire les coûts de la pandémie.</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À mesure que la pandémie s’atténue</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Accroître l’impact de l’investissement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Après la pandémie</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Réduire les coûts, réduire le risque</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La transparence peut réduire les coûts d’emprunt. Une bonne gouvernance peut réduire les risques de surendettement.</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La transparence dans les décisions d’investissement public peut accroître son impact sur l’activité économique (PIB)</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La surveillance de la santé publique et la transparence peuvent accélérer le rebond post-pandémique (par ex. tourisme, hôtellerie-restauration).</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La région Moyen-Orient et Afrique du Nord (MENA) est </a:t>
          </a:r>
          <a:r>
            <a:rPr lang="en-US" sz="2700" u="none" kern="1200" dirty="0"/>
            <a:t>toujours en crise</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Les pays de la région MENA font face à un </a:t>
          </a:r>
          <a:r>
            <a:rPr lang="en-US" sz="2700" u="none" kern="1200" dirty="0"/>
            <a:t>exercice d’équilibre</a:t>
          </a:r>
          <a:r>
            <a:rPr lang="en-US" sz="2700" u="sng" kern="1200" dirty="0"/>
            <a:t> </a:t>
          </a:r>
          <a:r>
            <a:rPr lang="en-US" sz="2700" kern="1200" dirty="0"/>
            <a:t>entre les besoins à court terme et les risques à long terme de la dette publique</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Choix difficiles : </a:t>
          </a:r>
          <a:r>
            <a:rPr lang="en-US" sz="2700" kern="1200" dirty="0"/>
            <a:t>les priorités des dépenses publiques dépendent de la phase de la reprise</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La transparence peut aider ! </a:t>
          </a:r>
          <a:r>
            <a:rPr lang="en-US" sz="2700" kern="1200" dirty="0"/>
            <a:t>La transparence peut contribuer à tracer une voie vers une reprise durable pour la région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Une région toujours en crise</a:t>
          </a:r>
          <a:r>
            <a:rPr lang="en-US" sz="2100" kern="1200" dirty="0"/>
            <a:t> : quantifie la souffrance socioéconomique</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L’exercice d’équilibre de la dette</a:t>
          </a:r>
          <a:r>
            <a:rPr lang="en-US" sz="2100" kern="1200" dirty="0"/>
            <a:t> : expose les tensions entre les besoins socioéconomiques immédiats et les risques à long terme dans une région qui présentait déjà des niveaux élevés de dette en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Des choix difficiles à venir</a:t>
          </a:r>
          <a:r>
            <a:rPr lang="en-US" sz="2100" kern="1200" dirty="0"/>
            <a:t> : examine les priorités </a:t>
          </a:r>
          <a:r>
            <a:rPr lang="en-US" sz="2100" u="sng" kern="1200" dirty="0"/>
            <a:t>pendant </a:t>
          </a:r>
          <a:r>
            <a:rPr lang="en-US" sz="2100" kern="1200" dirty="0"/>
            <a:t>la pandémie, </a:t>
          </a:r>
          <a:r>
            <a:rPr lang="en-US" sz="2100" u="sng" kern="1200" dirty="0"/>
            <a:t>après </a:t>
          </a:r>
          <a:r>
            <a:rPr lang="en-US" sz="2100" kern="1200" dirty="0"/>
            <a:t>la pandémie, et </a:t>
          </a:r>
          <a:r>
            <a:rPr lang="en-US" sz="2100" u="sng" kern="1200" dirty="0"/>
            <a:t>au-delà</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La transparence peut aider</a:t>
          </a:r>
          <a:r>
            <a:rPr lang="en-US" sz="2100" kern="1200"/>
            <a:t> : met en évidence le rôle des institutions, en particulier de la transparence, pour tracer une voie vers la reprise au Moyen-Orient et en Afrique du Nord</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Pendant la pandémie</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Réduire les coûts, accélérer la reprise</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La surveillance de la santé publique et la transparence peuvent réduire les coûts de la pandémie.</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À mesure que la pandémie s’atténue</a:t>
          </a:r>
        </a:p>
        <a:p>
          <a:pPr marL="114300" lvl="1" indent="-114300" algn="l" defTabSz="622300">
            <a:lnSpc>
              <a:spcPct val="90000"/>
            </a:lnSpc>
            <a:spcBef>
              <a:spcPct val="0"/>
            </a:spcBef>
            <a:spcAft>
              <a:spcPct val="15000"/>
            </a:spcAft>
            <a:buChar char="•"/>
          </a:pPr>
          <a:r>
            <a:rPr lang="en-US" sz="1400" kern="1200" dirty="0"/>
            <a:t>Accroître l’impact de l’investissement</a:t>
          </a:r>
          <a:endParaRPr lang="en-US" sz="1300" kern="1200" dirty="0"/>
        </a:p>
        <a:p>
          <a:pPr marL="114300" lvl="1" indent="-114300" algn="l" defTabSz="622300">
            <a:lnSpc>
              <a:spcPct val="90000"/>
            </a:lnSpc>
            <a:spcBef>
              <a:spcPct val="0"/>
            </a:spcBef>
            <a:spcAft>
              <a:spcPct val="15000"/>
            </a:spcAft>
            <a:buChar char="•"/>
          </a:pPr>
          <a:r>
            <a:rPr lang="en-US" sz="1400" kern="1200" dirty="0"/>
            <a:t>Après la pandémie</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Réduire les coûts, réduire le risque</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La transparence peut réduire les coûts d’emprunt. Une bonne gouvernance peut réduire les risques de surendettement.</a:t>
          </a:r>
        </a:p>
        <a:p>
          <a:pPr marL="114300" lvl="1" indent="-114300" algn="l" defTabSz="622300">
            <a:lnSpc>
              <a:spcPct val="90000"/>
            </a:lnSpc>
            <a:spcBef>
              <a:spcPct val="0"/>
            </a:spcBef>
            <a:spcAft>
              <a:spcPct val="15000"/>
            </a:spcAft>
            <a:buChar char="•"/>
          </a:pPr>
          <a:r>
            <a:rPr lang="en-US" sz="1400" kern="1200"/>
            <a:t>La transparence dans les décisions d’investissement public peut accroître son impact sur l’activité économique (PIB)</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La surveillance de la santé publique et la transparence peuvent accélérer le rebond post-pandémique (par ex. tourisme, hôtellerie-restauration).</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r>
              <a:rPr lang="en-CA" sz="1600" dirty="0"/>
              <a:t>Mise à jour économique MENA – avril 2021</a:t>
            </a:r>
          </a:p>
          <a:p>
            <a:r>
              <a:rPr lang="en-CA" sz="1600" dirty="0"/>
              <a:t>Vivre avec la dette : comment les institutions peuvent tracer une voie vers la reprise au Moyen-Orient et en Afrique du Nord</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Auteurs</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Moyen-Orient et Afrique du Nord, Banque mondiale</a:t>
            </a:r>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adjoint, Moyen-Orient et Afrique du Nord, Banque mondiale</a:t>
            </a:r>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minh nguyenÉconomiste principal, Bureau de l’économiste en chef, Moyen-Orient et Afrique du Nord, Banque mondiale</a:t>
            </a:r>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IslamÉconomiste principal, Bureau de l’économiste en chef, Moyen-Orient et Afrique du Nord, Banque mondiale</a:t>
            </a:r>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 yuting fanÉconomiste, Bureau de l’économiste en chef, Moyen-Orient et Afrique du Nord, Banque mondiale</a:t>
            </a:r>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RojasConsultant, Bureau de l’économiste en chef, Moyen-Orient et Afrique du Nord, Banque mondiale</a:t>
            </a:r>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AlturkiConsultant, Bureau de l’économiste en chef, Moyen-Orient et Afrique du Nord, Banque mondiale</a:t>
            </a:r>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Principales conclusions</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Une région toujours en crise : pertes durables de PIB</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r>
              <a:rPr lang="en-GB" sz="2000" dirty="0"/>
              <a:t>D’ici 2021, l’économie régionale devrait se situer 7,2 points de pourcentage en dessous du niveau de PIB « sans pandémie », soit l’équivalent de 227 milliards de dollars ; le PIB par habitant (un indicateur du niveau de développement qui détermine la pauvreté) restera encore inférieur d’environ 5 % au niveau de 2019</a:t>
            </a:r>
          </a:p>
          <a:p>
            <a:r>
              <a:rPr lang="en-GB" sz="2000" dirty="0"/>
              <a:t/>
            </a:r>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Une région toujours en crise : pertes de PIB par habitant</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Source : Banque mondiale, Macro and Poverty Outlook (avril 2021 et octobre 2019) et calculs des services de la Banque mondiale.</a:t>
            </a:r>
          </a:p>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Note : Les lignes pointillées indiquent les niveaux prévus de PIB par habitant dans le cas contrefactuel d’absence de pandémie (sur la base des prévisions de PIB par habitant d’octobre 2019). Les lignes continues indiquent les niveaux prévus de PIB par habitant dans le cas de la pandémie (sur la base des prévisions de PIB par habitant d’avril 2021).</a:t>
            </a: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r>
              <a:rPr lang="en-US" b="1" dirty="0">
                <a:latin typeface="Calibri"/>
                <a:cs typeface="Calibri"/>
              </a:rPr>
              <a:t>Pertes d’ici 2021 :</a:t>
            </a:r>
          </a:p>
          <a:p>
            <a:r>
              <a:rPr lang="en-US" b="1" dirty="0">
                <a:latin typeface="Calibri"/>
                <a:cs typeface="Calibri"/>
              </a:rPr>
              <a:t/>
            </a:r>
          </a:p>
          <a:p>
            <a:r>
              <a:rPr lang="en-US" b="1" dirty="0">
                <a:latin typeface="Calibri"/>
                <a:cs typeface="Calibri"/>
              </a:rPr>
              <a:t>MENA : 7,0 %</a:t>
            </a:r>
          </a:p>
          <a:p>
            <a:r>
              <a:rPr lang="en-US" b="1" dirty="0">
                <a:latin typeface="Calibri"/>
                <a:cs typeface="Calibri"/>
              </a:rPr>
              <a:t/>
            </a:r>
          </a:p>
          <a:p>
            <a:r>
              <a:rPr lang="en-US" b="1" dirty="0">
                <a:latin typeface="Calibri"/>
                <a:cs typeface="Calibri"/>
              </a:rPr>
              <a:t>CCG : 7,3 %</a:t>
            </a:r>
          </a:p>
          <a:p>
            <a:r>
              <a:rPr lang="en-US" b="1" dirty="0">
                <a:latin typeface="Calibri"/>
                <a:cs typeface="Calibri"/>
              </a:rPr>
              <a:t/>
            </a:r>
          </a:p>
          <a:p>
            <a:r>
              <a:rPr lang="en-US" b="1" dirty="0">
                <a:latin typeface="Calibri"/>
                <a:cs typeface="Calibri"/>
              </a:rPr>
              <a:t>Exportateurs de pétrole à revenu intermédiaire : 4,6 %</a:t>
            </a:r>
          </a:p>
          <a:p>
            <a:r>
              <a:rPr lang="en-US" b="1" dirty="0">
                <a:latin typeface="Calibri"/>
                <a:cs typeface="Calibri"/>
              </a:rPr>
              <a:t/>
            </a:r>
          </a:p>
          <a:p>
            <a:r>
              <a:rPr lang="en-US" b="1" dirty="0">
                <a:latin typeface="Calibri"/>
                <a:cs typeface="Calibri"/>
              </a:rPr>
              <a:t>Importateurs de pétrole à revenu intermédiaire : 8,6 %</a:t>
            </a: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Une région toujours en crise : estimations prudentes de millions de nouveaux pauvres</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millions</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Une région toujours en crise : inflation régressive des prix alimentairesfévr. 2020 – mars 2021</a:t>
            </a: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L’exercice d’équilibre face à la hausse de la dette publique</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r>
              <a:rPr lang="en-US" sz="1200">
                <a:latin typeface="Calibri" panose="020F0502020204030204" pitchFamily="34" charset="0"/>
                <a:ea typeface="Calibri" panose="020F0502020204030204" pitchFamily="34" charset="0"/>
                <a:cs typeface="Calibri" panose="020F0502020204030204" pitchFamily="34" charset="0"/>
              </a:rPr>
              <a:t>Source : Banque mondiale, Macro and Poverty Outlook (avril 2021)</a:t>
            </a:r>
          </a:p>
          <a:p>
            <a:r>
              <a:rPr lang="en-US" sz="1200">
                <a:latin typeface="Calibri" panose="020F0502020204030204" pitchFamily="34" charset="0"/>
                <a:ea typeface="Calibri" panose="020F0502020204030204" pitchFamily="34" charset="0"/>
                <a:cs typeface="Calibri" panose="020F0502020204030204" pitchFamily="34" charset="0"/>
              </a:rPr>
              <a:t>Note : Les groupes de pays sont représentés par l’observation médiane du groupe. Les barres indiquent la dette médiane des groupes de pays MENA. Les losanges indiquent la dette médiane des groupes de revenu correspondants à l’échelle mondiale. Les données sur la dette ne sont généralement pas disponibles pour les pays MENA à faible revenu (Yémen et Syrie). Dans le MPO, le groupe à revenu élevé se limite aux seuls pays couverts par la Banque mondiale.</a:t>
            </a: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L’exercice d’équilibre est le plus difficile parmi les économies importatrices de pétrole à revenu intermédiaire de la région MENA.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Ce rapport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r>
              <a:rPr lang="en-US" sz="2800" dirty="0">
                <a:solidFill>
                  <a:schemeClr val="accent6">
                    <a:lumMod val="50000"/>
                  </a:schemeClr>
                </a:solidFill>
              </a:rPr>
              <a:t>L’exercice d’équilibre de la dette :tension entre les besoins à court terme et les coûts à long terme de la dette publique</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Besoins à court terme</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Aide en cas de catastrophe : soutien aux entreprises et aux ménages</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Dépenses de santé publique</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Risques à long terme</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privé (à mesure que les taux d’intérêt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public à mesure que les paiements d’intérêts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Vulnérabilité macroéconomique, risque de refinancement et probabilité de crises de la dette coûteuses</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r>
              <a:rPr lang="en-US" sz="2800" dirty="0">
                <a:solidFill>
                  <a:schemeClr val="accent6">
                    <a:lumMod val="50000"/>
                  </a:schemeClr>
                </a:solidFill>
              </a:rPr>
              <a:t>L’exercice d’équilibre de la dette – Besoins à court terme de la dette publique : enseignements tirés de l’aide en cas de catastrophe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Données historiques :</a:t>
            </a:r>
          </a:p>
          <a:p>
            <a:r>
              <a:rPr lang="en-US" u="sng" dirty="0"/>
              <a:t/>
            </a:r>
          </a:p>
          <a:p>
            <a:r>
              <a:rPr lang="en-US" u="sng" dirty="0"/>
              <a:t>Pendant et immédiatement après les catastrophes, la dette croît plus vite (2 %) dans les économies touchées que dans le groupe témoin (années-économies sans catastrophe)</a:t>
            </a:r>
          </a:p>
          <a:p>
            <a:r>
              <a:rPr lang="en-US" u="sng" dirty="0"/>
              <a:t/>
            </a:r>
          </a:p>
          <a:p>
            <a:r>
              <a:rPr lang="en-US" u="sng" dirty="0"/>
              <a:t>La croissance chute pendant la catastrophe mais se redresse par la suite par rapport au groupe témoin.</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r>
              <a:rPr lang="en-US" sz="2800" dirty="0">
                <a:solidFill>
                  <a:schemeClr val="accent6">
                    <a:lumMod val="50000"/>
                  </a:schemeClr>
                </a:solidFill>
              </a:rPr>
              <a:t>L’exercice d’équilibre de la dette : risques à long terme de la dette publiqueAssociation entre une dette publique élevée et une faible croissance sur la période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r>
              <a:rPr lang="en-US" sz="1600" b="1"/>
              <a:t>Croissance annuelle médiane par habitant sur la période 2000-2019 selon les pays classés par dette de l’administration centrale en 2000</a:t>
            </a: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r>
              <a:rPr lang="en-US" sz="3600" dirty="0">
                <a:solidFill>
                  <a:schemeClr val="accent6">
                    <a:lumMod val="50000"/>
                  </a:schemeClr>
                </a:solidFill>
                <a:latin typeface="+mj-lt"/>
              </a:rPr>
              <a:t>Priorités pendant la pandémie :dépenses publiques pour l’aide en cas de catastrophe et la santé publique</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Pendant la pandémie : aide en cas de catastrophe, soutien aux ménages et aux entreprises</a:t>
            </a:r>
          </a:p>
          <a:p>
            <a:r>
              <a:rPr lang="en-US" sz="2400" i="1" dirty="0"/>
              <a:t>La stimulation de la demande globale pourrait avoir peu d’effet sur le PIB (le « multiplicateur budgétaire ») si le risque de Covid-19 persiste</a:t>
            </a:r>
          </a:p>
          <a:p>
            <a:r>
              <a:rPr lang="en-US" sz="2400" i="1" dirty="0"/>
              <a:t>Investir dans la santé publique pour sauver des vies et générer des gains à long terme</a:t>
            </a:r>
          </a:p>
          <a:p>
            <a:r>
              <a:rPr lang="en-US" sz="2400" i="1" dirty="0"/>
              <a:t>Surveillance des maladies et transparence des données</a:t>
            </a:r>
          </a:p>
          <a:p>
            <a:r>
              <a:rPr lang="en-US" sz="2400" i="1" dirty="0"/>
              <a:t>Dépistage et recherche des contacts</a:t>
            </a:r>
          </a:p>
          <a:p>
            <a:r>
              <a:rPr lang="en-US" sz="2400" i="1" dirty="0"/>
              <a:t>Campagnes de vaccination</a:t>
            </a:r>
          </a:p>
          <a:p>
            <a:r>
              <a:rPr lang="en-US" sz="2400" i="1" dirty="0"/>
              <a:t/>
            </a:r>
          </a:p>
          <a:p>
            <a:r>
              <a:rPr lang="en-US" sz="2400" i="1" dirty="0"/>
              <a:t>Peut aussi réduire les coûts économiques de la pandémie</a:t>
            </a:r>
          </a:p>
          <a:p>
            <a:r>
              <a:rPr lang="en-US" sz="2400" i="1" dirty="0"/>
              <a:t/>
            </a:r>
          </a:p>
          <a:p>
            <a:r>
              <a:rPr lang="en-US" sz="2400" i="1" dirty="0"/>
              <a:t/>
            </a:r>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Corrélation partielle entre les taux de positivité des tests et la révision à la baisse du PIB</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Sources : FMI, World Economic Outlook ; Worldometer ; Johns Hopkins University ; Banque mondiale, World Development Indicators ; et calculs des services de la Banque mondiale.</a:t>
            </a:r>
          </a:p>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La figure montre la corrélation partielle entre les ajustements de croissance pour 2020 entre octobre 2020 et octobre 2019 et le taux de positivité au Covid-19 (au mois de décembre 2020). Le taux de positivité correspond au nombre de cas de Covid-19 en pourcentage du nombre total de tests. Les autres variables explicatives comprennent le logarithme du PIB par habitant en 2019 (en dollars américains), la valeur totale des échanges commerciaux dans le PIB en 2019 (en pourcentage), le nombre de jours écoulés depuis le premier cas positif jusqu’au 30 novembre 2020, et le tourisme en pourcentage des exportations en 2018.</a:t>
            </a: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r>
              <a:rPr lang="en-US" sz="3600" dirty="0">
                <a:solidFill>
                  <a:schemeClr val="accent6">
                    <a:lumMod val="50000"/>
                  </a:schemeClr>
                </a:solidFill>
              </a:rPr>
              <a:t>Priorités à mesure que la pandémie s’atténue</a:t>
            </a:r>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Facteurs qui réduisent le besoin et l'efficacité des mesures de relance budgétaire traditionnelles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Avantages potentiels d'une relance (ciblée) – cicatrisation des séquelles économiques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La « demande refoulée » peut accroître le PIB sans relance budgétaire  Si les consommateurs (par ex. les touristes étrangers) estiment que la pandémie est terminée Un endettement élevé a été associé à de faibles multiplicateurs budgétaires (Huidrom et al., 2020)Le multiplicateur budgétaire de l'investissement public est faible lorsque la gouvernance est défaillante (Izquierdo et al., 2019)</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Les contraintes financières empêchent la réinsertion des entreprises Séquelles des travailleurs inactifs, en particulier les jeunes entrant sur le marché du travail Soutenir les écoles pour récupérer le capital humain perdu</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r>
              <a:rPr lang="en-US" sz="3200" dirty="0">
                <a:solidFill>
                  <a:schemeClr val="accent6">
                    <a:lumMod val="50000"/>
                  </a:schemeClr>
                </a:solidFill>
              </a:rPr>
              <a:t>Atténuer les coûts de la dette publique après la pandémie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Refinancer la dette arrivant à échéance à des conditions plus favorables en améliorant la transparence de la communication sur la dette</a:t>
            </a:r>
          </a:p>
          <a:p>
            <a:r>
              <a:rPr lang="en-US" dirty="0"/>
              <a:t/>
            </a:r>
          </a:p>
          <a:p>
            <a:r>
              <a:rPr lang="en-US" dirty="0"/>
              <a:t>Améliorer les institutions : les pays endettés sont plus susceptibles d’entrer dans des périodes coûteuses de surendettement lorsqu’ils connaissent une faible croissance et une gouvernance défaillante.</a:t>
            </a:r>
          </a:p>
          <a:p>
            <a:r>
              <a:rPr lang="en-US" dirty="0"/>
              <a:t/>
            </a:r>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r>
              <a:rPr lang="en-US" sz="3200" dirty="0">
                <a:solidFill>
                  <a:schemeClr val="accent6">
                    <a:lumMod val="50000"/>
                  </a:schemeClr>
                </a:solidFill>
              </a:rPr>
              <a:t>Une bonne gouvernance peut aider : données issues d’épisodes de surendettement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Groupe témoin = pays en développement sans épisodes de surendettement (restructuration de la dette)</a:t>
            </a: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Tracer une voie vers une reprise durable :la transparence peut aider !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r>
              <a:rPr lang="en-US" sz="6600" b="1" kern="1200">
                <a:solidFill>
                  <a:schemeClr val="tx2"/>
                </a:solidFill>
                <a:latin typeface="+mj-lt"/>
                <a:ea typeface="+mj-ea"/>
                <a:cs typeface="+mj-cs"/>
              </a:rPr>
              <a:t>MERCI !</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Annexe Tableau B1 : prévisions de la Banque mondiale en matière de croissance, de compte courant et de comptes budgétaires</a:t>
            </a:r>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Annexe Tableau B2 Volet B (entre avril 2021 et octobre 2020) :</a:t>
            </a:r>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r>
              <a:rPr lang="en-US" sz="3600">
                <a:solidFill>
                  <a:schemeClr val="accent6">
                    <a:lumMod val="75000"/>
                  </a:schemeClr>
                </a:solidFill>
              </a:rPr>
              <a:t>Annexe Tableau B3 : aperçu de la dette de la région MENA</a:t>
            </a:r>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r>
              <a:rPr lang="en-US" sz="3200">
                <a:solidFill>
                  <a:schemeClr val="accent6">
                    <a:lumMod val="75000"/>
                  </a:schemeClr>
                </a:solidFill>
              </a:rPr>
              <a:t>Annexe Tableau B4 : caractéristiques des économies de la région MENA</a:t>
            </a:r>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