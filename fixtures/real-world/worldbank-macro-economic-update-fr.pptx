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Projected Poverty (below $5.5/day)</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Number of poor people</a:t>
                </a:r>
              </a:p>
              <a:p>
                <a:pPr>
                  <a:defRPr/>
                </a:pPr>
                <a:r>
                  <a:rPr lang="en-US"/>
                  <a:t> (millions)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percent of GDP</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Timeline around</a:t>
                </a:r>
                <a:r>
                  <a:rPr lang="en-US" sz="1400" baseline="0"/>
                  <a:t> a large natural disaster, years</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Public debt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GDP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The Middle East and North Africa (MENA) region is </a:t>
          </a:r>
          <a:r>
            <a:rPr lang="en-US" u="none" dirty="0"/>
            <a:t>still in crisis</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MENA countries face a </a:t>
          </a:r>
          <a:r>
            <a:rPr lang="en-US" u="none" dirty="0"/>
            <a:t>balancing act</a:t>
          </a:r>
          <a:r>
            <a:rPr lang="en-US" u="sng" dirty="0"/>
            <a:t> </a:t>
          </a:r>
          <a:r>
            <a:rPr lang="en-US" dirty="0"/>
            <a:t>between short-term needs and long-run risks of public debt</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Tough choices: </a:t>
          </a:r>
          <a:r>
            <a:rPr lang="en-US" dirty="0"/>
            <a:t>public expenditure priorities depend on the phase of the recovery</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Sunlight can help! </a:t>
          </a:r>
          <a:r>
            <a:rPr lang="en-US" dirty="0"/>
            <a:t>Transparency can help chart a path to lasting recovery for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A Region Still In Crisis</a:t>
          </a:r>
          <a:r>
            <a:rPr lang="en-US" dirty="0"/>
            <a:t>: Quantifies the socio-economic pain</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Walking the Debt Tightrope</a:t>
          </a:r>
          <a:r>
            <a:rPr lang="en-US" dirty="0"/>
            <a:t>: Articulates the tensions between immediate socio-economic needs and long-run risks in a region that already had high levels of debt in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Tough Choices ahead</a:t>
          </a:r>
          <a:r>
            <a:rPr lang="en-US" dirty="0"/>
            <a:t>: Discusses priorities </a:t>
          </a:r>
          <a:r>
            <a:rPr lang="en-US" u="sng" dirty="0"/>
            <a:t>during </a:t>
          </a:r>
          <a:r>
            <a:rPr lang="en-US" dirty="0"/>
            <a:t>the pandemic, </a:t>
          </a:r>
          <a:r>
            <a:rPr lang="en-US" u="sng" dirty="0"/>
            <a:t>after </a:t>
          </a:r>
          <a:r>
            <a:rPr lang="en-US" dirty="0"/>
            <a:t>the pandemic, and </a:t>
          </a:r>
          <a:r>
            <a:rPr lang="en-US" u="sng" dirty="0"/>
            <a:t>beyond</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Sunlight Can Help</a:t>
          </a:r>
          <a:r>
            <a:rPr lang="en-US"/>
            <a:t>: Highlights the role of institutions, especially transparency, in charting a path to recovery for the Middle East and North Africa</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During the pandemic</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Reduce costs, accelerate recovery</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Public health surveillance and transparency can reduce costs of the pandemic.</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As the pandemic subsides</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Raise investment’s impact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After the pandemic</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Reduce costs, reduce risk</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Transparency can reduce borrowing costs. Good governance can reduce the risks of debt distress.</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Transparency in public investment decisions can raise its impact on economic activity (GDP)</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Public health surveillance and transparency can accelerate the post-pandemic rebound (e.g., tourism; hospitality industries).</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The Middle East and North Africa (MENA) region is </a:t>
          </a:r>
          <a:r>
            <a:rPr lang="en-US" sz="2700" u="none" kern="1200" dirty="0"/>
            <a:t>still in crisis</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MENA countries face a </a:t>
          </a:r>
          <a:r>
            <a:rPr lang="en-US" sz="2700" u="none" kern="1200" dirty="0"/>
            <a:t>balancing act</a:t>
          </a:r>
          <a:r>
            <a:rPr lang="en-US" sz="2700" u="sng" kern="1200" dirty="0"/>
            <a:t> </a:t>
          </a:r>
          <a:r>
            <a:rPr lang="en-US" sz="2700" kern="1200" dirty="0"/>
            <a:t>between short-term needs and long-run risks of public debt</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Tough choices: </a:t>
          </a:r>
          <a:r>
            <a:rPr lang="en-US" sz="2700" kern="1200" dirty="0"/>
            <a:t>public expenditure priorities depend on the phase of the recovery</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Sunlight can help! </a:t>
          </a:r>
          <a:r>
            <a:rPr lang="en-US" sz="2700" kern="1200" dirty="0"/>
            <a:t>Transparency can help chart a path to lasting recovery for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A Region Still In Crisis</a:t>
          </a:r>
          <a:r>
            <a:rPr lang="en-US" sz="2100" kern="1200" dirty="0"/>
            <a:t>: Quantifies the socio-economic pain</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Walking the Debt Tightrope</a:t>
          </a:r>
          <a:r>
            <a:rPr lang="en-US" sz="2100" kern="1200" dirty="0"/>
            <a:t>: Articulates the tensions between immediate socio-economic needs and long-run risks in a region that already had high levels of debt in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Tough Choices ahead</a:t>
          </a:r>
          <a:r>
            <a:rPr lang="en-US" sz="2100" kern="1200" dirty="0"/>
            <a:t>: Discusses priorities </a:t>
          </a:r>
          <a:r>
            <a:rPr lang="en-US" sz="2100" u="sng" kern="1200" dirty="0"/>
            <a:t>during </a:t>
          </a:r>
          <a:r>
            <a:rPr lang="en-US" sz="2100" kern="1200" dirty="0"/>
            <a:t>the pandemic, </a:t>
          </a:r>
          <a:r>
            <a:rPr lang="en-US" sz="2100" u="sng" kern="1200" dirty="0"/>
            <a:t>after </a:t>
          </a:r>
          <a:r>
            <a:rPr lang="en-US" sz="2100" kern="1200" dirty="0"/>
            <a:t>the pandemic, and </a:t>
          </a:r>
          <a:r>
            <a:rPr lang="en-US" sz="2100" u="sng" kern="1200" dirty="0"/>
            <a:t>beyond</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Sunlight Can Help</a:t>
          </a:r>
          <a:r>
            <a:rPr lang="en-US" sz="2100" kern="1200"/>
            <a:t>: Highlights the role of institutions, especially transparency, in charting a path to recovery for the Middle East and North Africa</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Reduce costs, accelerate recovery</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Public health surveillance and transparency can reduce costs of the pandemic.</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During the pandemic</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Raise investment’s impact</a:t>
          </a:r>
        </a:p>
        <a:p>
          <a:pPr marL="114300" lvl="1" indent="-114300" algn="l" defTabSz="622300">
            <a:lnSpc>
              <a:spcPct val="90000"/>
            </a:lnSpc>
            <a:spcBef>
              <a:spcPct val="0"/>
            </a:spcBef>
            <a:spcAft>
              <a:spcPct val="15000"/>
            </a:spcAft>
            <a:buChar char="•"/>
          </a:pPr>
          <a:r>
            <a:rPr lang="en-US" sz="1400" kern="1200" dirty="0"/>
            <a:t>Transparency in public investment decisions can raise its impact on economic activity (GDP)</a:t>
          </a:r>
          <a:endParaRPr lang="en-US" sz="1300" kern="1200" dirty="0"/>
        </a:p>
        <a:p>
          <a:pPr marL="114300" lvl="1" indent="-114300" algn="l" defTabSz="622300">
            <a:lnSpc>
              <a:spcPct val="90000"/>
            </a:lnSpc>
            <a:spcBef>
              <a:spcPct val="0"/>
            </a:spcBef>
            <a:spcAft>
              <a:spcPct val="15000"/>
            </a:spcAft>
            <a:buChar char="•"/>
          </a:pPr>
          <a:r>
            <a:rPr lang="en-US" sz="1400" kern="1200" dirty="0"/>
            <a:t>Public health surveillance and transparency can accelerate the post-pandemic rebound (e.g., tourism; hospitality industries).</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As the pandemic subsides</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Reduce costs, reduce risk</a:t>
          </a:r>
        </a:p>
        <a:p>
          <a:pPr marL="114300" lvl="1" indent="-114300" algn="l" defTabSz="622300">
            <a:lnSpc>
              <a:spcPct val="90000"/>
            </a:lnSpc>
            <a:spcBef>
              <a:spcPct val="0"/>
            </a:spcBef>
            <a:spcAft>
              <a:spcPct val="15000"/>
            </a:spcAft>
            <a:buChar char="•"/>
          </a:pPr>
          <a:r>
            <a:rPr lang="en-US" sz="1400" kern="1200"/>
            <a:t>Transparency can reduce borrowing costs. Good governance can reduce the risks of debt distress.</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After the pandemic</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pPr algn="ctr"/>
            <a:r>
              <a:rPr lang="en-CA" sz="1600" dirty="0"/>
              <a:t>Mise à jour économique MENA - Avril 2021</a:t>
            </a:r>
          </a:p>
          <a:p>
            <a:pPr algn="ctr"/>
            <a:r>
              <a:rPr lang="en-CA" sz="2800" dirty="0"/>
              <a:t>Vivre avec la dette : comment les institutions peuvent tracer une voie vers la reprise au Moyen-Orient et en Afrique du Nord</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Auteurs</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t>Économiste en chef, Moyen-Orient et Afrique du Nord, Banque mondiale</a:t>
            </a:r>
            <a:endParaRPr lang="en-US" sz="1400" dirty="0"/>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latin typeface="Bahnschrift" panose="020B0502040204020203" pitchFamily="34" charset="0"/>
                <a:ea typeface="DengXian" panose="02010600030101010101" pitchFamily="2" charset="-122"/>
                <a:cs typeface="Calibri" panose="020F0502020204030204" pitchFamily="34" charset="0"/>
              </a:rPr>
              <a:t>Économiste en chef adjoint, Moyen-Orient et Afrique du Nord, Banque mondiale </a:t>
            </a:r>
            <a: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t> </a:t>
            </a:r>
            <a:endParaRPr lang="en-US" sz="1400" dirty="0"/>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minh</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nguyen</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Économiste senior, Bureau de l'économiste en chef, Moyen-Orient et Afrique du Nord, Banque mondiale</a:t>
            </a:r>
            <a:endParaRPr lang="en-US" sz="1400" dirty="0"/>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Économiste senior, Bureau de l'économiste en chef, Moyen-Orient et Afrique du Nord, Banque mondiale</a:t>
            </a:r>
            <a:endParaRPr lang="en-US" sz="1400" dirty="0"/>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a:t>
            </a:r>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yuting</a:t>
            </a:r>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 fan</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Économiste, Bureau de l'économiste en chef, Moyen-Orient et Afrique du Nord, Banque mondiale</a:t>
            </a:r>
            <a:endParaRPr lang="en-US" sz="1400" dirty="0"/>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Consultant, Bureau de l'économiste en chef, Moyen-Orient et Afrique du Nord, Banque mondiale</a:t>
            </a:r>
            <a:endParaRPr lang="en-US" sz="1400" dirty="0"/>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a:t>
            </a:r>
            <a:br>
              <a:rPr lang="en-US" sz="1400" dirty="0">
                <a:solidFill>
                  <a:srgbClr val="404040"/>
                </a:solidFill>
                <a:latin typeface="Bahnschrift" panose="020B0502040204020203" pitchFamily="34" charset="0"/>
                <a:ea typeface="DengXian" panose="02010600030101010101" pitchFamily="2" charset="-122"/>
                <a:cs typeface="Calibri" panose="020F0502020204030204" pitchFamily="34" charset="0"/>
              </a:rPr>
            </a:br>
            <a:r>
              <a:rPr lang="en-US" sz="1400" dirty="0">
                <a:latin typeface="Bahnschrift" panose="020B0502040204020203" pitchFamily="34" charset="0"/>
                <a:ea typeface="DengXian" panose="02010600030101010101" pitchFamily="2" charset="-122"/>
                <a:cs typeface="Calibri" panose="020F0502020204030204" pitchFamily="34" charset="0"/>
              </a:rPr>
              <a:t>Consultant, Bureau de l'économiste en chef, Moyen-Orient et Afrique du Nord, Banque mondiale</a:t>
            </a:r>
            <a:endParaRPr lang="en-US" sz="1400" dirty="0"/>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Principaux résultats</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Une région encore en crise : pertes durables de PIB</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pPr algn="just"/>
            <a:r>
              <a:rPr lang="en-GB" sz="2000" dirty="0"/>
              <a:t>D'ici 2021, l'économie régionale devrait se situer 7,2 points de pourcentage en dessous du niveau de PIB « sans pandémie », soit l'équivalent de </a:t>
            </a:r>
            <a:r>
              <a:rPr lang="en-GB" sz="2000" dirty="0">
                <a:solidFill>
                  <a:srgbClr val="FF0000"/>
                </a:solidFill>
              </a:rPr>
              <a:t>227 </a:t>
            </a:r>
            <a:r>
              <a:rPr lang="en-GB" sz="2000" dirty="0"/>
              <a:t>milliards de dollars ; </a:t>
            </a:r>
            <a:r>
              <a:rPr lang="en-GB" sz="2000" dirty="0">
                <a:solidFill>
                  <a:srgbClr val="FF0000"/>
                </a:solidFill>
              </a:rPr>
              <a:t>le PIB par habitant </a:t>
            </a:r>
            <a:r>
              <a:rPr lang="en-GB" sz="2000" dirty="0"/>
              <a:t>(indicateur du niveau de développement qui détermine la pauvreté) restera </a:t>
            </a:r>
            <a:r>
              <a:rPr lang="en-GB" sz="2000" dirty="0">
                <a:solidFill>
                  <a:srgbClr val="FF0000"/>
                </a:solidFill>
              </a:rPr>
              <a:t>inférieur au niveau de 2019 d'environ 5 %</a:t>
            </a:r>
            <a:endParaRPr lang="en-US" sz="2000" dirty="0">
              <a:solidFill>
                <a:srgbClr val="FF0000"/>
              </a:solidFill>
              <a:latin typeface="Calibri" panose="020F0502020204030204" pitchFamily="34" charset="0"/>
            </a:endParaRPr>
          </a:p>
          <a:p>
            <a:pPr algn="just"/>
            <a:endParaRPr lang="en-US" sz="2000" dirty="0"/>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Une région encore en crise : pertes de PIB par habitant</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Source : Banque mondiale, </a:t>
            </a:r>
            <a:r>
              <a:rPr kumimoji="0" lang="en-US" sz="12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Macro and Poverty Outlook</a:t>
            </a: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 (avril 2021 et octobre 2019) et calculs du personnel de la Banque mondiale.</a:t>
            </a:r>
            <a:endPar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Note : Les lignes en pointillés indiquent les niveaux prévisionnels de PIB par habitant dans le scénario contrefactuel sans pandémie (sur la base des prévisions de PIB par habitant d'octobre 2019). Les lignes continues indiquent les niveaux prévisionnels de PIB par habitant dans le scénario avec pandémie (sur la base des prévisions de PIB par habitant d'avril 2021).</a:t>
            </a:r>
            <a:endParaRPr kumimoji="0" lang="en-US" sz="16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Calibri"/>
                <a:cs typeface="Calibri"/>
              </a:rPr>
              <a:t>Pertes</a:t>
            </a:r>
            <a:r>
              <a:rPr kumimoji="0" lang="en-US" sz="1800" b="1" i="0" u="none" strike="noStrike" kern="1200" cap="none" spc="0" normalizeH="0" baseline="0" noProof="0" dirty="0">
                <a:ln>
                  <a:noFill/>
                </a:ln>
                <a:effectLst/>
                <a:uLnTx/>
                <a:uFillTx/>
                <a:latin typeface="Calibri"/>
                <a:cs typeface="Calibri"/>
              </a:rPr>
              <a:t> d'ici 2021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alibri" panose="020F050202020403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effectLst/>
                <a:uLnTx/>
                <a:uFillTx/>
                <a:latin typeface="Calibri"/>
                <a:cs typeface="Calibri"/>
              </a:rPr>
              <a:t>MENA : 7,0%</a:t>
            </a:r>
            <a:endParaRPr lang="en-US" sz="1400" b="1" i="0" u="none" strike="noStrike" kern="1200" cap="none" spc="0" normalizeH="0" baseline="0" noProof="0" dirty="0">
              <a:ln>
                <a:noFill/>
              </a:ln>
              <a:effectLst/>
              <a:uLnTx/>
              <a:uFillTx/>
              <a:latin typeface="Calibri"/>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alibri" panose="020F050202020403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FF"/>
                </a:solidFill>
                <a:effectLst/>
                <a:uLnTx/>
                <a:uFillTx/>
                <a:latin typeface="Calibri"/>
                <a:cs typeface="Calibri"/>
              </a:rPr>
              <a:t>CCG : 7,3%</a:t>
            </a:r>
            <a:endParaRPr lang="en-US" sz="1400" b="1" i="0" u="none" strike="noStrike" kern="1200" cap="none" spc="0" normalizeH="0" baseline="0" noProof="0" dirty="0">
              <a:ln>
                <a:noFill/>
              </a:ln>
              <a:solidFill>
                <a:srgbClr val="3333FF"/>
              </a:solidFill>
              <a:effectLst/>
              <a:uLnTx/>
              <a:uFillTx/>
              <a:latin typeface="Calibri"/>
              <a:cs typeface="Calibri"/>
            </a:endParaRPr>
          </a:p>
          <a:p>
            <a:pPr>
              <a:defRPr/>
            </a:pPr>
            <a:endParaRPr lang="en-US" sz="1400" b="1" dirty="0">
              <a:solidFill>
                <a:srgbClr val="F3B500"/>
              </a:solidFill>
              <a:latin typeface="Calibri"/>
              <a:cs typeface="Calibri"/>
            </a:endParaRPr>
          </a:p>
          <a:p>
            <a:pPr>
              <a:defRPr/>
            </a:pPr>
            <a:r>
              <a:rPr lang="en-US" sz="1400" b="1" dirty="0">
                <a:solidFill>
                  <a:srgbClr val="F3B500"/>
                </a:solidFill>
                <a:latin typeface="Calibri"/>
                <a:cs typeface="Calibri"/>
              </a:rPr>
              <a:t>Exportateurs de pétrole à revenu intermédiaire</a:t>
            </a:r>
            <a:r>
              <a:rPr kumimoji="0" lang="en-US" sz="1400" b="1" i="0" u="none" strike="noStrike" kern="1200" cap="none" spc="0" normalizeH="0" baseline="0" noProof="0" dirty="0">
                <a:ln>
                  <a:noFill/>
                </a:ln>
                <a:solidFill>
                  <a:srgbClr val="F3B500"/>
                </a:solidFill>
                <a:effectLst/>
                <a:uLnTx/>
                <a:uFillTx/>
                <a:latin typeface="Calibri"/>
                <a:cs typeface="Calibri"/>
              </a:rPr>
              <a:t> : 4,6 %</a:t>
            </a:r>
            <a:endParaRPr lang="en-US" sz="1400" b="1" i="0" u="none" strike="noStrike" kern="1200" cap="none" spc="0" normalizeH="0" baseline="0" noProof="0" dirty="0">
              <a:ln>
                <a:noFill/>
              </a:ln>
              <a:solidFill>
                <a:srgbClr val="F3B500"/>
              </a:solidFill>
              <a:effectLst/>
              <a:uLnTx/>
              <a:uFillTx/>
              <a:latin typeface="Calibri"/>
              <a:cs typeface="Calibri"/>
            </a:endParaRPr>
          </a:p>
          <a:p>
            <a:pPr>
              <a:defRPr/>
            </a:pPr>
            <a:endParaRPr lang="en-US" sz="1400" b="1" dirty="0">
              <a:latin typeface="Calibri"/>
              <a:cs typeface="Calibri"/>
            </a:endParaRPr>
          </a:p>
          <a:p>
            <a:pPr>
              <a:defRPr/>
            </a:pPr>
            <a:r>
              <a:rPr lang="en-US" sz="1400" b="1" dirty="0">
                <a:solidFill>
                  <a:srgbClr val="FF0000"/>
                </a:solidFill>
                <a:latin typeface="Calibri"/>
                <a:cs typeface="Calibri"/>
              </a:rPr>
              <a:t>Importateurs de pétrole à revenu intermédiaire</a:t>
            </a:r>
            <a:r>
              <a:rPr kumimoji="0" lang="en-US" sz="1400" b="1" u="none" strike="noStrike" kern="1200" cap="none" spc="0" normalizeH="0" baseline="0" noProof="0" dirty="0">
                <a:ln>
                  <a:noFill/>
                </a:ln>
                <a:solidFill>
                  <a:srgbClr val="FF0000"/>
                </a:solidFill>
                <a:effectLst/>
                <a:uLnTx/>
                <a:uFillTx/>
                <a:latin typeface="Calibri"/>
                <a:cs typeface="Calibri"/>
              </a:rPr>
              <a:t> : </a:t>
            </a:r>
            <a:r>
              <a:rPr lang="en-US" sz="1400" b="1" dirty="0">
                <a:solidFill>
                  <a:srgbClr val="FF0000"/>
                </a:solidFill>
                <a:latin typeface="Calibri"/>
                <a:cs typeface="Calibri"/>
              </a:rPr>
              <a:t>8,6</a:t>
            </a:r>
            <a:r>
              <a:rPr kumimoji="0" lang="en-US" sz="1400" b="1" u="none" strike="noStrike" kern="1200" cap="none" spc="0" normalizeH="0" baseline="0" noProof="0" dirty="0">
                <a:ln>
                  <a:noFill/>
                </a:ln>
                <a:solidFill>
                  <a:srgbClr val="FF0000"/>
                </a:solidFill>
                <a:effectLst/>
                <a:uLnTx/>
                <a:uFillTx/>
                <a:latin typeface="Calibri"/>
                <a:cs typeface="Calibri"/>
              </a:rPr>
              <a:t> %</a:t>
            </a:r>
            <a:endParaRPr lang="en-US" sz="1400" b="1" u="none" strike="noStrike" kern="1200" cap="none" spc="0" normalizeH="0" baseline="0" noProof="0" dirty="0">
              <a:ln>
                <a:noFill/>
              </a:ln>
              <a:solidFill>
                <a:srgbClr val="FF0000"/>
              </a:solidFill>
              <a:effectLst/>
              <a:uLnTx/>
              <a:uFillTx/>
              <a:latin typeface="Calibri" panose="020F0502020204030204" pitchFamily="34" charset="0"/>
              <a:cs typeface="Calibri"/>
            </a:endParaRP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Une région encore en crise : estimations prudentes de millions de nouveaux pauvres</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millions</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Une région toujours en crise : </a:t>
            </a:r>
            <a:br>
              <a:rPr lang="en-US" sz="3600">
                <a:solidFill>
                  <a:srgbClr val="2C2C2C"/>
                </a:solidFill>
              </a:rPr>
            </a:br>
            <a:br>
              <a:rPr lang="en-US" sz="3600">
                <a:solidFill>
                  <a:srgbClr val="2C2C2C"/>
                </a:solidFill>
              </a:rPr>
            </a:br>
            <a:r>
              <a:rPr lang="en-US" sz="3600">
                <a:solidFill>
                  <a:srgbClr val="2C2C2C"/>
                </a:solidFill>
              </a:rPr>
              <a:t>Inflation des prix alimentaires régressive</a:t>
            </a:r>
            <a:br>
              <a:rPr lang="en-US" sz="3600">
                <a:solidFill>
                  <a:srgbClr val="2C2C2C"/>
                </a:solidFill>
              </a:rPr>
            </a:br>
            <a:br>
              <a:rPr lang="en-US" sz="3600">
                <a:solidFill>
                  <a:srgbClr val="2C2C2C"/>
                </a:solidFill>
              </a:rPr>
            </a:br>
            <a:r>
              <a:rPr lang="en-US" sz="2000" b="1">
                <a:solidFill>
                  <a:srgbClr val="2C2C2C"/>
                </a:solidFill>
              </a:rPr>
              <a:t>Février 2020 – mars 2021</a:t>
            </a:r>
            <a:endParaRPr lang="en-US" sz="3600" b="1">
              <a:solidFill>
                <a:srgbClr val="2C2C2C"/>
              </a:solidFill>
            </a:endParaRP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L'équilibre précaire d'une dette publique croissante</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pPr>
              <a:lnSpc>
                <a:spcPct val="107000"/>
              </a:lnSpc>
            </a:pPr>
            <a:r>
              <a:rPr lang="en-US" sz="1200">
                <a:latin typeface="Calibri" panose="020F0502020204030204" pitchFamily="34" charset="0"/>
                <a:ea typeface="Calibri" panose="020F0502020204030204" pitchFamily="34" charset="0"/>
                <a:cs typeface="Calibri" panose="020F0502020204030204" pitchFamily="34" charset="0"/>
              </a:rPr>
              <a:t>Source : Banque mondiale, </a:t>
            </a:r>
            <a:r>
              <a:rPr lang="en-US" sz="1200" i="1">
                <a:latin typeface="Calibri" panose="020F0502020204030204" pitchFamily="34" charset="0"/>
                <a:ea typeface="Calibri" panose="020F0502020204030204" pitchFamily="34" charset="0"/>
                <a:cs typeface="Calibri" panose="020F0502020204030204" pitchFamily="34" charset="0"/>
              </a:rPr>
              <a:t>Macro and Poverty Outlook</a:t>
            </a:r>
            <a:r>
              <a:rPr lang="en-US" sz="1200">
                <a:latin typeface="Calibri" panose="020F0502020204030204" pitchFamily="34" charset="0"/>
                <a:ea typeface="Calibri" panose="020F0502020204030204" pitchFamily="34" charset="0"/>
                <a:cs typeface="Calibri" panose="020F0502020204030204" pitchFamily="34" charset="0"/>
              </a:rPr>
              <a:t> </a:t>
            </a:r>
            <a:r>
              <a:rPr lang="en-US" sz="1200" i="1">
                <a:latin typeface="Calibri" panose="020F0502020204030204" pitchFamily="34" charset="0"/>
                <a:ea typeface="Calibri" panose="020F0502020204030204" pitchFamily="34" charset="0"/>
                <a:cs typeface="Calibri" panose="020F0502020204030204" pitchFamily="34" charset="0"/>
              </a:rPr>
              <a:t>(avril 2021)</a:t>
            </a:r>
            <a:endParaRPr lang="en-US" sz="1600">
              <a:latin typeface="Calibri" panose="020F0502020204030204" pitchFamily="34" charset="0"/>
              <a:ea typeface="Calibri" panose="020F0502020204030204" pitchFamily="34" charset="0"/>
              <a:cs typeface="Arial" panose="020B0604020202020204" pitchFamily="34" charset="0"/>
            </a:endParaRPr>
          </a:p>
          <a:p>
            <a:pPr>
              <a:lnSpc>
                <a:spcPct val="107000"/>
              </a:lnSpc>
            </a:pPr>
            <a:r>
              <a:rPr lang="en-US" sz="1200">
                <a:latin typeface="Calibri" panose="020F0502020204030204" pitchFamily="34" charset="0"/>
                <a:ea typeface="Calibri" panose="020F0502020204030204" pitchFamily="34" charset="0"/>
                <a:cs typeface="Calibri" panose="020F0502020204030204" pitchFamily="34" charset="0"/>
              </a:rPr>
              <a:t>Note : Les groupes de pays sont représentés par la valeur médiane du groupe. Les barres indiquent la dette médiane des groupes de pays MENA. Les losanges indiquent la dette médiane des groupes de revenu mondiaux correspondants. Les données sur la dette ne sont généralement pas disponibles pour les pays MENA à faible revenu (Yémen et Syrie). Le groupe à revenu élevé dans les PPM est limité aux seuls pays couverts par la Banque mondiale.</a:t>
            </a:r>
            <a:endParaRPr lang="en-US" sz="1600">
              <a:effectLst/>
              <a:latin typeface="Calibri" panose="020F0502020204030204" pitchFamily="34" charset="0"/>
              <a:ea typeface="Calibri" panose="020F050202020403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L'équilibre est le plus difficile à maintenir parmi les économies importatrices de pétrole à revenu intermédiaire de la région MENA.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Le présent rapport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pPr algn="ctr"/>
            <a:r>
              <a:rPr lang="en-US" sz="2800" dirty="0">
                <a:solidFill>
                  <a:schemeClr val="accent6">
                    <a:lumMod val="50000"/>
                  </a:schemeClr>
                </a:solidFill>
              </a:rPr>
              <a:t>Sur le fil de la dette :</a:t>
            </a:r>
            <a:br>
              <a:rPr lang="en-US" sz="2800" dirty="0">
                <a:solidFill>
                  <a:schemeClr val="accent6">
                    <a:lumMod val="50000"/>
                  </a:schemeClr>
                </a:solidFill>
              </a:rPr>
            </a:br>
            <a:r>
              <a:rPr lang="en-US" sz="2800" dirty="0">
                <a:solidFill>
                  <a:schemeClr val="accent6">
                    <a:lumMod val="50000"/>
                  </a:schemeClr>
                </a:solidFill>
              </a:rPr>
              <a:t>Tension entre les besoins à court terme et les coûts à long terme de la dette publique</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Besoins à court terme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Aide d'urgence : soutien aux entreprises et aux ménages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Dépenses de santé publique</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Risques à long terme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Éviction de l'investissement privé </a:t>
            </a:r>
            <a:r>
              <a:rPr kumimoji="0" lang="en-US" sz="2000" b="0" u="none" strike="noStrike" kern="1200" cap="none" spc="0" normalizeH="0" baseline="0" noProof="0" dirty="0">
                <a:ln>
                  <a:noFill/>
                </a:ln>
                <a:solidFill>
                  <a:prstClr val="black"/>
                </a:solidFill>
                <a:effectLst/>
                <a:uLnTx/>
                <a:uFillTx/>
                <a:latin typeface="Calibri" panose="020F0502020204030204"/>
                <a:ea typeface="+mn-ea"/>
                <a:cs typeface="+mn-cs"/>
              </a:rPr>
              <a:t>(à mesure que le taux d'intérêt augmente)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Éviction de l'investissement public avec la hausse des charges d'intérêts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Vulnérabilité macroéconomique, risque de refinancement et probabilité de crises d'endettement coûteuses</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pPr algn="ctr"/>
            <a:r>
              <a:rPr lang="en-US" sz="2800" dirty="0">
                <a:solidFill>
                  <a:schemeClr val="accent6">
                    <a:lumMod val="50000"/>
                  </a:schemeClr>
                </a:solidFill>
              </a:rPr>
              <a:t>Sur le fil de la dette </a:t>
            </a:r>
            <a:br>
              <a:rPr lang="en-US" sz="2800" dirty="0">
                <a:solidFill>
                  <a:schemeClr val="accent6">
                    <a:lumMod val="50000"/>
                  </a:schemeClr>
                </a:solidFill>
              </a:rPr>
            </a:br>
            <a:r>
              <a:rPr lang="en-US" sz="2800" dirty="0">
                <a:solidFill>
                  <a:schemeClr val="accent6">
                    <a:lumMod val="50000"/>
                  </a:schemeClr>
                </a:solidFill>
              </a:rPr>
              <a:t>Besoins à court terme de la dette publique : leçons tirées de la gestion des catastrophes</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Données historiques</a:t>
            </a:r>
            <a:r>
              <a:rPr lang="en-US" dirty="0"/>
              <a:t> :</a:t>
            </a:r>
          </a:p>
          <a:p>
            <a:endParaRPr lang="en-US" dirty="0"/>
          </a:p>
          <a:p>
            <a:r>
              <a:rPr lang="en-US" dirty="0"/>
              <a:t>Pendant les catastrophes et immédiatement après, la dette croît plus vite (2%) dans les économies sinistrées que dans le groupe de contrôle (économies-années sans catastrophe)</a:t>
            </a:r>
          </a:p>
          <a:p>
            <a:endParaRPr lang="en-US" dirty="0"/>
          </a:p>
          <a:p>
            <a:r>
              <a:rPr lang="en-US" dirty="0"/>
              <a:t>La croissance s'effondre durant la catastrophe mais se redresse dans son sillage par rapport au groupe de contrôle.</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pPr algn="ctr"/>
            <a:r>
              <a:rPr lang="en-US" sz="2800" dirty="0">
                <a:solidFill>
                  <a:schemeClr val="accent6">
                    <a:lumMod val="50000"/>
                  </a:schemeClr>
                </a:solidFill>
              </a:rPr>
              <a:t>Sur le fil de la dette : risques à long terme de la dette publique</a:t>
            </a:r>
            <a:br>
              <a:rPr lang="en-US" sz="2800" dirty="0">
                <a:solidFill>
                  <a:schemeClr val="accent6">
                    <a:lumMod val="50000"/>
                  </a:schemeClr>
                </a:solidFill>
              </a:rPr>
            </a:br>
            <a:r>
              <a:rPr lang="en-US" sz="2400" dirty="0">
                <a:solidFill>
                  <a:schemeClr val="accent6">
                    <a:lumMod val="50000"/>
                  </a:schemeClr>
                </a:solidFill>
              </a:rPr>
              <a:t>Lien entre dette publique élevée et faible croissance durant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pPr lvl="0">
              <a:lnSpc>
                <a:spcPct val="107000"/>
              </a:lnSpc>
              <a:defRPr/>
            </a:pPr>
            <a:r>
              <a:rPr lang="en-US" sz="1600" b="1"/>
              <a:t>Croissance annuelle médiane par habitant durant 2000-2019 selon les pays classés par niveau de dette de l'administration centrale en 2000</a:t>
            </a:r>
            <a:endParaRPr kumimoji="0" lang="en-US" sz="1400" b="0" i="0" u="none" strike="noStrike" kern="1200" cap="none" spc="0" normalizeH="0" baseline="0" noProof="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pPr marL="457200" lvl="1" algn="ctr"/>
            <a:r>
              <a:rPr lang="en-US" sz="3600" dirty="0">
                <a:solidFill>
                  <a:schemeClr val="accent6">
                    <a:lumMod val="50000"/>
                  </a:schemeClr>
                </a:solidFill>
                <a:latin typeface="+mj-lt"/>
              </a:rPr>
              <a:t>Priorités </a:t>
            </a:r>
            <a:r>
              <a:rPr lang="en-US" sz="3600" u="sng" dirty="0">
                <a:solidFill>
                  <a:schemeClr val="accent6">
                    <a:lumMod val="50000"/>
                  </a:schemeClr>
                </a:solidFill>
                <a:latin typeface="+mj-lt"/>
              </a:rPr>
              <a:t>durant</a:t>
            </a:r>
            <a:r>
              <a:rPr lang="en-US" sz="3600" dirty="0">
                <a:solidFill>
                  <a:schemeClr val="accent6">
                    <a:lumMod val="50000"/>
                  </a:schemeClr>
                </a:solidFill>
                <a:latin typeface="+mj-lt"/>
              </a:rPr>
              <a:t> la pandémie :</a:t>
            </a:r>
            <a:br>
              <a:rPr lang="en-US" sz="3600" dirty="0">
                <a:solidFill>
                  <a:schemeClr val="accent6">
                    <a:lumMod val="50000"/>
                  </a:schemeClr>
                </a:solidFill>
                <a:latin typeface="+mj-lt"/>
              </a:rPr>
            </a:br>
            <a:r>
              <a:rPr lang="en-US" sz="3600" dirty="0">
                <a:solidFill>
                  <a:schemeClr val="accent6">
                    <a:lumMod val="50000"/>
                  </a:schemeClr>
                </a:solidFill>
                <a:latin typeface="+mj-lt"/>
              </a:rPr>
              <a:t>Dépenses publiques pour la gestion des catastrophes et la santé publique</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Durant la pandémie : </a:t>
            </a:r>
            <a:r>
              <a:rPr lang="en-US" sz="2400" dirty="0"/>
              <a:t>gestion des catastrophes, soutien aux ménages et aux entreprises</a:t>
            </a:r>
          </a:p>
          <a:p>
            <a:pPr lvl="1"/>
            <a:r>
              <a:rPr lang="en-US" sz="2000" dirty="0"/>
              <a:t>La stimulation de la demande globale pourrait avoir peu d'effet sur le PIB (le « multiplicateur budgétaire ») si le risque lié à la Covid-19 persiste </a:t>
            </a:r>
            <a:endParaRPr lang="en-US" sz="2000" dirty="0">
              <a:cs typeface="Calibri"/>
            </a:endParaRPr>
          </a:p>
          <a:p>
            <a:r>
              <a:rPr lang="en-US" sz="2400" dirty="0"/>
              <a:t>Investissement dans la santé publique pour sauver des vies et générer des gains à long terme</a:t>
            </a:r>
            <a:endParaRPr lang="en-US" sz="2400" dirty="0">
              <a:cs typeface="Calibri" panose="020F0502020204030204"/>
            </a:endParaRPr>
          </a:p>
          <a:p>
            <a:pPr lvl="1"/>
            <a:r>
              <a:rPr lang="en-US" sz="2000" dirty="0"/>
              <a:t>Surveillance épidémiologique et transparence des données</a:t>
            </a:r>
          </a:p>
          <a:p>
            <a:pPr lvl="1"/>
            <a:r>
              <a:rPr lang="en-US" sz="2000" dirty="0"/>
              <a:t>Tests et traçage des contacts</a:t>
            </a:r>
            <a:endParaRPr lang="en-US" sz="2000" dirty="0">
              <a:cs typeface="Calibri"/>
            </a:endParaRPr>
          </a:p>
          <a:p>
            <a:pPr lvl="1"/>
            <a:r>
              <a:rPr lang="en-US" sz="2000" dirty="0"/>
              <a:t>Campagnes de vaccination</a:t>
            </a:r>
          </a:p>
          <a:p>
            <a:pPr lvl="1"/>
            <a:endParaRPr lang="en-US" sz="2000" dirty="0"/>
          </a:p>
          <a:p>
            <a:pPr lvl="1">
              <a:buFont typeface="Wingdings" panose="05000000000000000000" pitchFamily="2" charset="2"/>
              <a:buChar char="Ø"/>
            </a:pPr>
            <a:r>
              <a:rPr lang="en-US" sz="2000" dirty="0">
                <a:cs typeface="Calibri"/>
              </a:rPr>
              <a:t>Peut également réduire les coûts économiques de la pandémie</a:t>
            </a:r>
          </a:p>
          <a:p>
            <a:pPr marL="0" indent="0">
              <a:buNone/>
            </a:pPr>
            <a:endParaRPr lang="en-US" sz="2400" dirty="0"/>
          </a:p>
          <a:p>
            <a:endParaRPr lang="en-US" sz="2400" dirty="0"/>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Corrélation partielle entre les taux de positivité aux tests et la révision à la baisse du PIB</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Sources : FMI,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 Economic Outlook</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 </a:t>
            </a:r>
            <a:r>
              <a:rPr kumimoji="0" lang="en-US" sz="900" b="0" i="1" u="none" strike="noStrike" kern="1200" cap="none" spc="0" normalizeH="0" baseline="0" noProof="0" dirty="0" err="1">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Worldometer</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 Université Johns Hopkins ; Banque mondiale,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World Development Indicators</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 et calculs du personnel de la Banque mondiale.</a:t>
            </a:r>
            <a:endParaRPr kumimoji="0" lang="en-US" sz="105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La figure présente la corrélation </a:t>
            </a:r>
            <a:r>
              <a:rPr kumimoji="0" lang="en-US" sz="9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partielle</a:t>
            </a:r>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entre les révisions de croissance pour 2020 entre octobre 2020 et octobre 2019 et le taux de positivité à la Covid-19 (au 31 décembre 2020). Le taux de positivité correspond au nombre de cas de Covid-19 en pourcentage du nombre total de tests. Les autres variables explicatives comprennent le logarithme du PIB par habitant en 2019 (en dollars américains), la valeur totale des échanges commerciaux en pourcentage du PIB en 2019 (en %), le nombre de jours écoulés depuis le premier cas positif jusqu'au 30 novembre 2020, et le tourisme en pourcentage des exportations en 2018.</a:t>
            </a:r>
            <a:endParaRPr kumimoji="0" lang="en-US" sz="105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pPr algn="ctr"/>
            <a:r>
              <a:rPr lang="en-US" sz="3600" dirty="0">
                <a:solidFill>
                  <a:schemeClr val="accent6">
                    <a:lumMod val="50000"/>
                  </a:schemeClr>
                </a:solidFill>
              </a:rPr>
              <a:t>Priorités </a:t>
            </a:r>
            <a:r>
              <a:rPr lang="en-US" sz="3600" u="sng" dirty="0">
                <a:solidFill>
                  <a:schemeClr val="accent6">
                    <a:lumMod val="50000"/>
                  </a:schemeClr>
                </a:solidFill>
              </a:rPr>
              <a:t>à mesure que la pandémie s'atténue</a:t>
            </a:r>
            <a:endParaRPr lang="en-US" sz="3600" u="sng" dirty="0"/>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Factors that reduce the need and efficacy of traditional fiscal stimulus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Potential benefits of (targeted) stimulus – healing economic scars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“Pent-up demand” can raise GDP without fiscal stimulus  </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Financial constraints prevent enterprise re-entry </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pPr algn="ctr"/>
            <a:r>
              <a:rPr lang="en-US" sz="3200" dirty="0">
                <a:solidFill>
                  <a:schemeClr val="accent6">
                    <a:lumMod val="50000"/>
                  </a:schemeClr>
                </a:solidFill>
              </a:rPr>
              <a:t>Atténuer les coûts de la dette publique </a:t>
            </a:r>
            <a:r>
              <a:rPr lang="en-US" sz="3200" u="sng" dirty="0">
                <a:solidFill>
                  <a:schemeClr val="accent6">
                    <a:lumMod val="50000"/>
                  </a:schemeClr>
                </a:solidFill>
              </a:rPr>
              <a:t>après</a:t>
            </a:r>
            <a:r>
              <a:rPr lang="en-US" sz="3200" dirty="0">
                <a:solidFill>
                  <a:schemeClr val="accent6">
                    <a:lumMod val="50000"/>
                  </a:schemeClr>
                </a:solidFill>
              </a:rPr>
              <a:t> la pandémie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Refinancer la dette arrivant à échéance à des conditions plus favorables en améliorant la transparence des rapports sur la dette</a:t>
            </a:r>
          </a:p>
          <a:p>
            <a:endParaRPr lang="en-US" dirty="0"/>
          </a:p>
          <a:p>
            <a:r>
              <a:rPr lang="en-US" dirty="0"/>
              <a:t>Améliorer les institutions : les pays endettés sont plus susceptibles d'entrer dans des périodes de détresse d'endettement coûteuses lorsqu'ils connaissent une faible croissance et une gouvernance défaillante. </a:t>
            </a:r>
          </a:p>
          <a:p>
            <a:endParaRPr lang="en-US" dirty="0"/>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pPr algn="ctr"/>
            <a:r>
              <a:rPr lang="en-US" sz="3200" dirty="0">
                <a:solidFill>
                  <a:schemeClr val="accent6">
                    <a:lumMod val="50000"/>
                  </a:schemeClr>
                </a:solidFill>
              </a:rPr>
              <a:t>La bonne gouvernance peut aider : </a:t>
            </a:r>
            <a:br>
              <a:rPr lang="en-US" sz="3200" dirty="0">
                <a:solidFill>
                  <a:schemeClr val="accent6">
                    <a:lumMod val="50000"/>
                  </a:schemeClr>
                </a:solidFill>
              </a:rPr>
            </a:br>
            <a:r>
              <a:rPr lang="en-US" sz="3200" dirty="0">
                <a:solidFill>
                  <a:schemeClr val="accent6">
                    <a:lumMod val="50000"/>
                  </a:schemeClr>
                </a:solidFill>
              </a:rPr>
              <a:t>Enseignements tirés des épisodes de surendettement</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pPr marL="0" marR="0" lvl="0" indent="0" algn="l" defTabSz="914400" rtl="0" eaLnBrk="1" fontAlgn="auto" latinLnBrk="0" hangingPunct="1">
              <a:lnSpc>
                <a:spcPct val="107000"/>
              </a:lnSpc>
              <a:spcBef>
                <a:spcPts val="0"/>
              </a:spcBef>
              <a:spcAft>
                <a:spcPts val="0"/>
              </a:spcAft>
              <a:buClrTx/>
              <a:buSzTx/>
              <a:buFontTx/>
              <a:buNone/>
              <a:tabLst/>
              <a:defRPr/>
            </a:pPr>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Groupe de contrôle = pays en développement</a:t>
            </a:r>
            <a:r>
              <a:rPr lang="en-US" sz="1100" i="1" dirty="0">
                <a:solidFill>
                  <a:prstClr val="black"/>
                </a:solidFill>
                <a:latin typeface="Calibri" panose="020F0502020204030204" pitchFamily="34" charset="0"/>
                <a:ea typeface="Calibri" panose="020F0502020204030204" pitchFamily="34" charset="0"/>
                <a:cs typeface="Calibri" panose="020F0502020204030204" pitchFamily="34" charset="0"/>
              </a:rPr>
              <a:t>s sans épisodes de surendettement (restructuration de la dette)</a:t>
            </a:r>
            <a:endParaRPr kumimoji="0" lang="en-US" sz="14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Tracer la voie vers une reprise durable :</a:t>
            </a:r>
            <a:br>
              <a:rPr lang="en-US" sz="4000">
                <a:solidFill>
                  <a:schemeClr val="bg1"/>
                </a:solidFill>
              </a:rPr>
            </a:br>
            <a:br>
              <a:rPr lang="en-US" sz="4000">
                <a:solidFill>
                  <a:schemeClr val="bg1"/>
                </a:solidFill>
              </a:rPr>
            </a:br>
            <a:r>
              <a:rPr lang="en-US" sz="4000">
                <a:solidFill>
                  <a:schemeClr val="bg1"/>
                </a:solidFill>
              </a:rPr>
              <a:t>La transparence peut aider !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6600" b="1" kern="1200">
                <a:solidFill>
                  <a:schemeClr val="tx2"/>
                </a:solidFill>
                <a:latin typeface="+mj-lt"/>
                <a:ea typeface="+mj-ea"/>
                <a:cs typeface="+mj-cs"/>
              </a:rPr>
              <a:t>MERCI !</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Tableau B1 en annexe : Prévisions de la Banque mondiale en matière de croissance, de compte courant et de compte budgétaire</a:t>
            </a:r>
            <a:endParaRPr lang="en-US"/>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Tableau B2 en annexe, volet B (entre avril 2021 et octobre 2020) :</a:t>
            </a:r>
            <a:endParaRPr lang="en-US" dirty="0"/>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pPr algn="ctr"/>
            <a:r>
              <a:rPr lang="en-US" sz="3600">
                <a:solidFill>
                  <a:schemeClr val="accent6">
                    <a:lumMod val="75000"/>
                  </a:schemeClr>
                </a:solidFill>
              </a:rPr>
              <a:t>Tableau B3 en annexe : Aperçu de la dette MENA</a:t>
            </a:r>
            <a:endParaRPr lang="en-US" sz="3600"/>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pPr algn="ctr"/>
            <a:r>
              <a:rPr lang="en-US" sz="3200">
                <a:solidFill>
                  <a:schemeClr val="accent6">
                    <a:lumMod val="75000"/>
                  </a:schemeClr>
                </a:solidFill>
              </a:rPr>
              <a:t>Tableau B4 en annexe : Caractéristiques des économies MENA</a:t>
            </a:r>
            <a:endParaRPr lang="en-US" sz="3200"/>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