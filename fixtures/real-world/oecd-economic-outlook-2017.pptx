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drawings/drawing1.xml" ContentType="application/vnd.openxmlformats-officedocument.drawingml.chartshapes+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7"/>
    <p:sldMasterId id="2147483665" r:id="rId8"/>
  </p:sldMasterIdLst>
  <p:notesMasterIdLst>
    <p:notesMasterId r:id="rId32"/>
  </p:notesMasterIdLst>
  <p:handoutMasterIdLst>
    <p:handoutMasterId r:id="rId33"/>
  </p:handoutMasterIdLst>
  <p:sldIdLst>
    <p:sldId id="458" r:id="rId9"/>
    <p:sldId id="506" r:id="rId10"/>
    <p:sldId id="446" r:id="rId11"/>
    <p:sldId id="507" r:id="rId12"/>
    <p:sldId id="373" r:id="rId13"/>
    <p:sldId id="388" r:id="rId14"/>
    <p:sldId id="472" r:id="rId15"/>
    <p:sldId id="498" r:id="rId16"/>
    <p:sldId id="466" r:id="rId17"/>
    <p:sldId id="483" r:id="rId18"/>
    <p:sldId id="502" r:id="rId19"/>
    <p:sldId id="484" r:id="rId20"/>
    <p:sldId id="487" r:id="rId21"/>
    <p:sldId id="509" r:id="rId22"/>
    <p:sldId id="488" r:id="rId23"/>
    <p:sldId id="491" r:id="rId24"/>
    <p:sldId id="492" r:id="rId25"/>
    <p:sldId id="501" r:id="rId26"/>
    <p:sldId id="508" r:id="rId27"/>
    <p:sldId id="500" r:id="rId28"/>
    <p:sldId id="505" r:id="rId29"/>
    <p:sldId id="496" r:id="rId30"/>
    <p:sldId id="495" r:id="rId31"/>
  </p:sldIdLst>
  <p:sldSz cx="9144000" cy="6858000" type="screen4x3"/>
  <p:notesSz cx="6794500" cy="9906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NARD Geoff" initials="BG" lastIdx="1" clrIdx="0"/>
  <p:cmAuthor id="1" name="DAUDE Christian" initials="DC" lastIdx="3" clrIdx="1"/>
  <p:cmAuthor id="2" name="MANN Catherine" initials="MC" lastIdx="107" clrIdx="2"/>
  <p:cmAuthor id="3" name="WITHERIDGE William" initials="WW" lastIdx="2" clrIdx="3"/>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11" autoAdjust="0"/>
    <p:restoredTop sz="83195" autoAdjust="0"/>
  </p:normalViewPr>
  <p:slideViewPr>
    <p:cSldViewPr>
      <p:cViewPr varScale="1">
        <p:scale>
          <a:sx n="62" d="100"/>
          <a:sy n="62" d="100"/>
        </p:scale>
        <p:origin x="-522" y="-72"/>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2.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 Type="http://schemas.openxmlformats.org/officeDocument/2006/relationships/customXml" Target="../customXml/item3.xml"/><Relationship Id="rId21" Type="http://schemas.openxmlformats.org/officeDocument/2006/relationships/slide" Target="slides/slide13.xml"/><Relationship Id="rId34" Type="http://schemas.openxmlformats.org/officeDocument/2006/relationships/commentAuthors" Target="commentAuthors.xml"/><Relationship Id="rId7" Type="http://schemas.openxmlformats.org/officeDocument/2006/relationships/slideMaster" Target="slideMasters/slideMaster1.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customXml" Target="../customXml/item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viewProps" Target="viewProps.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chartUserShapes" Target="../drawings/drawing1.xml"/><Relationship Id="rId2" Type="http://schemas.openxmlformats.org/officeDocument/2006/relationships/package" Target="../embeddings/Microsoft_Excel_Worksheet1.xlsx"/><Relationship Id="rId1" Type="http://schemas.openxmlformats.org/officeDocument/2006/relationships/themeOverride" Target="../theme/themeOverride1.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0.15427148522105391"/>
          <c:y val="0.17538240984763967"/>
          <c:w val="0.61754314733538818"/>
          <c:h val="0.76463774677036001"/>
        </c:manualLayout>
      </c:layout>
      <c:doughnutChart>
        <c:varyColors val="1"/>
        <c:ser>
          <c:idx val="0"/>
          <c:order val="0"/>
          <c:tx>
            <c:strRef>
              <c:f>'Fig_Box2.1 (2)'!$B$60</c:f>
              <c:strCache>
                <c:ptCount val="1"/>
                <c:pt idx="0">
                  <c:v>1995</c:v>
                </c:pt>
              </c:strCache>
            </c:strRef>
          </c:tx>
          <c:spPr>
            <a:ln w="15875">
              <a:solidFill>
                <a:sysClr val="window" lastClr="FFFFFF"/>
              </a:solidFill>
            </a:ln>
          </c:spPr>
          <c:dPt>
            <c:idx val="0"/>
            <c:bubble3D val="0"/>
            <c:spPr>
              <a:solidFill>
                <a:srgbClr val="0070C0"/>
              </a:solidFill>
              <a:ln w="15875">
                <a:solidFill>
                  <a:sysClr val="window" lastClr="FFFFFF"/>
                </a:solidFill>
              </a:ln>
            </c:spPr>
          </c:dPt>
          <c:dPt>
            <c:idx val="1"/>
            <c:bubble3D val="0"/>
            <c:spPr>
              <a:solidFill>
                <a:schemeClr val="bg1">
                  <a:lumMod val="75000"/>
                </a:schemeClr>
              </a:solidFill>
              <a:ln w="15875">
                <a:solidFill>
                  <a:sysClr val="window" lastClr="FFFFFF"/>
                </a:solidFill>
              </a:ln>
            </c:spPr>
          </c:dPt>
          <c:dPt>
            <c:idx val="2"/>
            <c:bubble3D val="0"/>
            <c:spPr>
              <a:solidFill>
                <a:srgbClr val="FF0000"/>
              </a:solidFill>
              <a:ln w="15875">
                <a:solidFill>
                  <a:sysClr val="window" lastClr="FFFFFF"/>
                </a:solidFill>
              </a:ln>
            </c:spPr>
          </c:dPt>
          <c:dPt>
            <c:idx val="3"/>
            <c:bubble3D val="0"/>
            <c:spPr>
              <a:solidFill>
                <a:srgbClr val="92D050"/>
              </a:solidFill>
              <a:ln w="15875">
                <a:solidFill>
                  <a:sysClr val="window" lastClr="FFFFFF"/>
                </a:solidFill>
              </a:ln>
            </c:spPr>
          </c:dPt>
          <c:cat>
            <c:strRef>
              <c:f>'Fig_Box2.1 (2)'!$C$59:$F$59</c:f>
              <c:strCache>
                <c:ptCount val="4"/>
                <c:pt idx="0">
                  <c:v>OECD</c:v>
                </c:pt>
                <c:pt idx="1">
                  <c:v>Rest of the World</c:v>
                </c:pt>
                <c:pt idx="2">
                  <c:v>China</c:v>
                </c:pt>
                <c:pt idx="3">
                  <c:v>Dynamic Asian Economies</c:v>
                </c:pt>
              </c:strCache>
            </c:strRef>
          </c:cat>
          <c:val>
            <c:numRef>
              <c:f>'Fig_Box2.1 (2)'!$C$60:$F$60</c:f>
              <c:numCache>
                <c:formatCode>0.0</c:formatCode>
                <c:ptCount val="4"/>
                <c:pt idx="0">
                  <c:v>80.230707297010113</c:v>
                </c:pt>
                <c:pt idx="1">
                  <c:v>7.5734855128691745</c:v>
                </c:pt>
                <c:pt idx="2">
                  <c:v>3.1770058938197119</c:v>
                </c:pt>
                <c:pt idx="3">
                  <c:v>9.018801296300996</c:v>
                </c:pt>
              </c:numCache>
            </c:numRef>
          </c:val>
        </c:ser>
        <c:ser>
          <c:idx val="1"/>
          <c:order val="1"/>
          <c:tx>
            <c:strRef>
              <c:f>'Fig_Box2.1 (2)'!$B$61</c:f>
              <c:strCache>
                <c:ptCount val="1"/>
                <c:pt idx="0">
                  <c:v>2015</c:v>
                </c:pt>
              </c:strCache>
            </c:strRef>
          </c:tx>
          <c:spPr>
            <a:ln w="15875">
              <a:solidFill>
                <a:sysClr val="window" lastClr="FFFFFF"/>
              </a:solidFill>
            </a:ln>
          </c:spPr>
          <c:dPt>
            <c:idx val="0"/>
            <c:bubble3D val="0"/>
            <c:spPr>
              <a:solidFill>
                <a:srgbClr val="0070C0"/>
              </a:solidFill>
              <a:ln w="15875">
                <a:solidFill>
                  <a:sysClr val="window" lastClr="FFFFFF"/>
                </a:solidFill>
              </a:ln>
            </c:spPr>
          </c:dPt>
          <c:dPt>
            <c:idx val="1"/>
            <c:bubble3D val="0"/>
            <c:spPr>
              <a:solidFill>
                <a:schemeClr val="bg1">
                  <a:lumMod val="75000"/>
                </a:schemeClr>
              </a:solidFill>
              <a:ln w="15875">
                <a:solidFill>
                  <a:sysClr val="window" lastClr="FFFFFF"/>
                </a:solidFill>
              </a:ln>
            </c:spPr>
          </c:dPt>
          <c:dPt>
            <c:idx val="2"/>
            <c:bubble3D val="0"/>
            <c:spPr>
              <a:solidFill>
                <a:srgbClr val="FF0000"/>
              </a:solidFill>
              <a:ln w="15875">
                <a:solidFill>
                  <a:sysClr val="window" lastClr="FFFFFF"/>
                </a:solidFill>
              </a:ln>
            </c:spPr>
          </c:dPt>
          <c:dPt>
            <c:idx val="3"/>
            <c:bubble3D val="0"/>
            <c:spPr>
              <a:solidFill>
                <a:srgbClr val="92D050"/>
              </a:solidFill>
              <a:ln w="15875">
                <a:solidFill>
                  <a:sysClr val="window" lastClr="FFFFFF"/>
                </a:solidFill>
              </a:ln>
            </c:spPr>
          </c:dPt>
          <c:cat>
            <c:strRef>
              <c:f>'Fig_Box2.1 (2)'!$C$59:$F$59</c:f>
              <c:strCache>
                <c:ptCount val="4"/>
                <c:pt idx="0">
                  <c:v>OECD</c:v>
                </c:pt>
                <c:pt idx="1">
                  <c:v>Rest of the World</c:v>
                </c:pt>
                <c:pt idx="2">
                  <c:v>China</c:v>
                </c:pt>
                <c:pt idx="3">
                  <c:v>Dynamic Asian Economies</c:v>
                </c:pt>
              </c:strCache>
            </c:strRef>
          </c:cat>
          <c:val>
            <c:numRef>
              <c:f>'Fig_Box2.1 (2)'!$C$61:$F$61</c:f>
              <c:numCache>
                <c:formatCode>0.0</c:formatCode>
                <c:ptCount val="4"/>
                <c:pt idx="0">
                  <c:v>58.966807674477685</c:v>
                </c:pt>
                <c:pt idx="1">
                  <c:v>15.817864048220123</c:v>
                </c:pt>
                <c:pt idx="2">
                  <c:v>14.204026643070442</c:v>
                </c:pt>
                <c:pt idx="3">
                  <c:v>11.011301634231749</c:v>
                </c:pt>
              </c:numCache>
            </c:numRef>
          </c:val>
        </c:ser>
        <c:dLbls>
          <c:showLegendKey val="0"/>
          <c:showVal val="0"/>
          <c:showCatName val="0"/>
          <c:showSerName val="0"/>
          <c:showPercent val="0"/>
          <c:showBubbleSize val="0"/>
          <c:showLeaderLines val="1"/>
        </c:dLbls>
        <c:firstSliceAng val="0"/>
        <c:holeSize val="45"/>
      </c:doughnutChart>
    </c:plotArea>
    <c:legend>
      <c:legendPos val="r"/>
      <c:layout>
        <c:manualLayout>
          <c:xMode val="edge"/>
          <c:yMode val="edge"/>
          <c:x val="0.16163083765236153"/>
          <c:y val="2.5926369060130319E-2"/>
          <c:w val="0.65144258559475843"/>
          <c:h val="0.1274077187990105"/>
        </c:manualLayout>
      </c:layout>
      <c:overlay val="0"/>
      <c:spPr>
        <a:ln w="6350"/>
      </c:spPr>
      <c:txPr>
        <a:bodyPr/>
        <a:lstStyle/>
        <a:p>
          <a:pPr>
            <a:defRPr b="1"/>
          </a:pPr>
          <a:endParaRPr lang="en-US"/>
        </a:p>
      </c:txPr>
    </c:legend>
    <c:plotVisOnly val="1"/>
    <c:dispBlanksAs val="gap"/>
    <c:showDLblsOverMax val="0"/>
  </c:chart>
  <c:spPr>
    <a:ln>
      <a:noFill/>
    </a:ln>
  </c:spPr>
  <c:txPr>
    <a:bodyPr/>
    <a:lstStyle/>
    <a:p>
      <a:pPr>
        <a:defRPr sz="1200">
          <a:latin typeface="Arial Narrow" panose="020B0606020202030204" pitchFamily="34" charset="0"/>
        </a:defRPr>
      </a:pPr>
      <a:endParaRPr lang="en-US"/>
    </a:p>
  </c:txPr>
  <c:externalData r:id="rId2">
    <c:autoUpdate val="0"/>
  </c:externalData>
  <c:userShapes r:id="rId3"/>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12AE3AD-150C-4556-B9F3-C5AFE07518A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GB"/>
        </a:p>
      </dgm:t>
    </dgm:pt>
    <dgm:pt modelId="{28AA58F6-D958-4B10-9359-D08D4D103B97}">
      <dgm:prSet/>
      <dgm:spPr/>
      <dgm:t>
        <a:bodyPr/>
        <a:lstStyle/>
        <a:p>
          <a:r>
            <a:rPr lang="en-GB" dirty="0" smtClean="0">
              <a:latin typeface="Calibri" panose="020F0502020204030204" pitchFamily="34" charset="0"/>
            </a:rPr>
            <a:t>Global growth expected to pick-up modestly </a:t>
          </a:r>
          <a:r>
            <a:rPr lang="en-GB" smtClean="0">
              <a:latin typeface="Calibri" panose="020F0502020204030204" pitchFamily="34" charset="0"/>
            </a:rPr>
            <a:t>with upside </a:t>
          </a:r>
          <a:r>
            <a:rPr lang="en-GB" dirty="0" smtClean="0">
              <a:latin typeface="Calibri" panose="020F0502020204030204" pitchFamily="34" charset="0"/>
            </a:rPr>
            <a:t>risks</a:t>
          </a:r>
        </a:p>
      </dgm:t>
    </dgm:pt>
    <dgm:pt modelId="{60C608F0-860E-4FC1-AB6C-6A893EFA9FC9}" type="parTrans" cxnId="{7FC4F6B6-7333-499E-8799-51F96AA60B84}">
      <dgm:prSet/>
      <dgm:spPr/>
      <dgm:t>
        <a:bodyPr/>
        <a:lstStyle/>
        <a:p>
          <a:endParaRPr lang="en-GB">
            <a:latin typeface="Calibri" panose="020F0502020204030204" pitchFamily="34" charset="0"/>
          </a:endParaRPr>
        </a:p>
      </dgm:t>
    </dgm:pt>
    <dgm:pt modelId="{3083AE86-D778-4F5F-B1B6-4FB7AC7CBD51}" type="sibTrans" cxnId="{7FC4F6B6-7333-499E-8799-51F96AA60B84}">
      <dgm:prSet/>
      <dgm:spPr/>
      <dgm:t>
        <a:bodyPr/>
        <a:lstStyle/>
        <a:p>
          <a:endParaRPr lang="en-GB">
            <a:latin typeface="Calibri" panose="020F0502020204030204" pitchFamily="34" charset="0"/>
          </a:endParaRPr>
        </a:p>
      </dgm:t>
    </dgm:pt>
    <dgm:pt modelId="{0BD4BFF3-A846-4400-9B4D-1ECC79EBA5F8}">
      <dgm:prSet/>
      <dgm:spPr/>
      <dgm:t>
        <a:bodyPr/>
        <a:lstStyle/>
        <a:p>
          <a:r>
            <a:rPr lang="en-GB" dirty="0" smtClean="0">
              <a:latin typeface="Calibri" panose="020F0502020204030204" pitchFamily="34" charset="0"/>
            </a:rPr>
            <a:t>More needs to be done to share the gains from structural trends and trade</a:t>
          </a:r>
        </a:p>
      </dgm:t>
    </dgm:pt>
    <dgm:pt modelId="{225C00EA-9FEF-41B6-9C4F-92549965D946}" type="parTrans" cxnId="{6D09A9A1-FFEA-4EA9-A2E8-55285F8C0196}">
      <dgm:prSet/>
      <dgm:spPr/>
      <dgm:t>
        <a:bodyPr/>
        <a:lstStyle/>
        <a:p>
          <a:endParaRPr lang="en-GB">
            <a:latin typeface="Calibri" panose="020F0502020204030204" pitchFamily="34" charset="0"/>
          </a:endParaRPr>
        </a:p>
      </dgm:t>
    </dgm:pt>
    <dgm:pt modelId="{203F14AC-C7A5-4E5E-9CBB-DE0F7A356B5A}" type="sibTrans" cxnId="{6D09A9A1-FFEA-4EA9-A2E8-55285F8C0196}">
      <dgm:prSet/>
      <dgm:spPr/>
      <dgm:t>
        <a:bodyPr/>
        <a:lstStyle/>
        <a:p>
          <a:endParaRPr lang="en-GB">
            <a:latin typeface="Calibri" panose="020F0502020204030204" pitchFamily="34" charset="0"/>
          </a:endParaRPr>
        </a:p>
      </dgm:t>
    </dgm:pt>
    <dgm:pt modelId="{806919CF-651B-46A9-9F55-6A28278294E6}">
      <dgm:prSet/>
      <dgm:spPr/>
      <dgm:t>
        <a:bodyPr/>
        <a:lstStyle/>
        <a:p>
          <a:r>
            <a:rPr lang="en-GB" dirty="0" smtClean="0">
              <a:latin typeface="Calibri" panose="020F0502020204030204" pitchFamily="34" charset="0"/>
            </a:rPr>
            <a:t>An integrated policy approach is needed to make globalisation work for all</a:t>
          </a:r>
        </a:p>
      </dgm:t>
    </dgm:pt>
    <dgm:pt modelId="{C176557D-E82E-4F64-8195-4FBA10DCA65F}" type="parTrans" cxnId="{3315629A-CE00-4EA6-A505-92EEC82995D3}">
      <dgm:prSet/>
      <dgm:spPr/>
      <dgm:t>
        <a:bodyPr/>
        <a:lstStyle/>
        <a:p>
          <a:endParaRPr lang="en-GB">
            <a:latin typeface="Calibri" panose="020F0502020204030204" pitchFamily="34" charset="0"/>
          </a:endParaRPr>
        </a:p>
      </dgm:t>
    </dgm:pt>
    <dgm:pt modelId="{504D45A1-33A0-469C-9F96-5CCFAF0F31C8}" type="sibTrans" cxnId="{3315629A-CE00-4EA6-A505-92EEC82995D3}">
      <dgm:prSet/>
      <dgm:spPr/>
      <dgm:t>
        <a:bodyPr/>
        <a:lstStyle/>
        <a:p>
          <a:endParaRPr lang="en-GB">
            <a:latin typeface="Calibri" panose="020F0502020204030204" pitchFamily="34" charset="0"/>
          </a:endParaRPr>
        </a:p>
      </dgm:t>
    </dgm:pt>
    <dgm:pt modelId="{31CEF85D-C803-49E2-87B0-F5EDAD345FC9}">
      <dgm:prSet/>
      <dgm:spPr/>
      <dgm:t>
        <a:bodyPr/>
        <a:lstStyle/>
        <a:p>
          <a:r>
            <a:rPr lang="en-GB" dirty="0" smtClean="0">
              <a:solidFill>
                <a:schemeClr val="bg2">
                  <a:lumMod val="10000"/>
                </a:schemeClr>
              </a:solidFill>
              <a:latin typeface="Calibri" panose="020F0502020204030204" pitchFamily="34" charset="0"/>
            </a:rPr>
            <a:t>Changes to technology, consumer preferences and trade are occurring simultaneously</a:t>
          </a:r>
        </a:p>
      </dgm:t>
    </dgm:pt>
    <dgm:pt modelId="{F5240D1C-9F1F-45CB-A124-96F539746542}" type="parTrans" cxnId="{D679395B-FE98-42B9-BBBC-D1097520053F}">
      <dgm:prSet/>
      <dgm:spPr/>
      <dgm:t>
        <a:bodyPr/>
        <a:lstStyle/>
        <a:p>
          <a:endParaRPr lang="en-GB">
            <a:latin typeface="Calibri" panose="020F0502020204030204" pitchFamily="34" charset="0"/>
          </a:endParaRPr>
        </a:p>
      </dgm:t>
    </dgm:pt>
    <dgm:pt modelId="{240024B0-F397-4B79-9323-A7BF70B621A9}" type="sibTrans" cxnId="{D679395B-FE98-42B9-BBBC-D1097520053F}">
      <dgm:prSet/>
      <dgm:spPr/>
      <dgm:t>
        <a:bodyPr/>
        <a:lstStyle/>
        <a:p>
          <a:endParaRPr lang="en-GB">
            <a:latin typeface="Calibri" panose="020F0502020204030204" pitchFamily="34" charset="0"/>
          </a:endParaRPr>
        </a:p>
      </dgm:t>
    </dgm:pt>
    <dgm:pt modelId="{2723B6F0-42E6-4D85-ABC3-0B993B034402}">
      <dgm:prSet/>
      <dgm:spPr/>
      <dgm:t>
        <a:bodyPr/>
        <a:lstStyle/>
        <a:p>
          <a:pPr eaLnBrk="1" latinLnBrk="0"/>
          <a:r>
            <a:rPr lang="en-GB" dirty="0" smtClean="0">
              <a:solidFill>
                <a:schemeClr val="bg2">
                  <a:lumMod val="10000"/>
                </a:schemeClr>
              </a:solidFill>
              <a:latin typeface="Calibri" panose="020F0502020204030204" pitchFamily="34" charset="0"/>
            </a:rPr>
            <a:t>A more level playing field for the international system</a:t>
          </a:r>
        </a:p>
      </dgm:t>
    </dgm:pt>
    <dgm:pt modelId="{289978A5-92C7-40F5-BD7A-00AECC89F112}" type="parTrans" cxnId="{53C87B82-B0AB-49B4-8189-CF168536BEE3}">
      <dgm:prSet/>
      <dgm:spPr/>
      <dgm:t>
        <a:bodyPr/>
        <a:lstStyle/>
        <a:p>
          <a:endParaRPr lang="en-GB">
            <a:latin typeface="Calibri" panose="020F0502020204030204" pitchFamily="34" charset="0"/>
          </a:endParaRPr>
        </a:p>
      </dgm:t>
    </dgm:pt>
    <dgm:pt modelId="{51C7EF5C-A804-4B27-AC82-9BD6EE906EB9}" type="sibTrans" cxnId="{53C87B82-B0AB-49B4-8189-CF168536BEE3}">
      <dgm:prSet/>
      <dgm:spPr/>
      <dgm:t>
        <a:bodyPr/>
        <a:lstStyle/>
        <a:p>
          <a:endParaRPr lang="en-GB">
            <a:latin typeface="Calibri" panose="020F0502020204030204" pitchFamily="34" charset="0"/>
          </a:endParaRPr>
        </a:p>
      </dgm:t>
    </dgm:pt>
    <dgm:pt modelId="{5547A09F-9281-4926-AFA4-01F6C5E99E46}">
      <dgm:prSet/>
      <dgm:spPr/>
      <dgm:t>
        <a:bodyPr/>
        <a:lstStyle/>
        <a:p>
          <a:r>
            <a:rPr lang="en-GB" dirty="0" smtClean="0">
              <a:solidFill>
                <a:schemeClr val="bg2">
                  <a:lumMod val="10000"/>
                </a:schemeClr>
              </a:solidFill>
              <a:latin typeface="Calibri" panose="020F0502020204030204" pitchFamily="34" charset="0"/>
            </a:rPr>
            <a:t>Confidence is increasing and investment and trade are picking up from low levels</a:t>
          </a:r>
        </a:p>
      </dgm:t>
    </dgm:pt>
    <dgm:pt modelId="{F3ACEA60-3461-4AC3-BB5D-893E4B822BE9}" type="parTrans" cxnId="{C2BEBCDC-03B2-4D84-A49C-A63F131785DD}">
      <dgm:prSet/>
      <dgm:spPr/>
      <dgm:t>
        <a:bodyPr/>
        <a:lstStyle/>
        <a:p>
          <a:endParaRPr lang="en-GB">
            <a:latin typeface="Calibri" panose="020F0502020204030204" pitchFamily="34" charset="0"/>
          </a:endParaRPr>
        </a:p>
      </dgm:t>
    </dgm:pt>
    <dgm:pt modelId="{F76B773A-F1BB-45AE-853C-30C972F6D272}" type="sibTrans" cxnId="{C2BEBCDC-03B2-4D84-A49C-A63F131785DD}">
      <dgm:prSet/>
      <dgm:spPr/>
      <dgm:t>
        <a:bodyPr/>
        <a:lstStyle/>
        <a:p>
          <a:endParaRPr lang="en-GB">
            <a:latin typeface="Calibri" panose="020F0502020204030204" pitchFamily="34" charset="0"/>
          </a:endParaRPr>
        </a:p>
      </dgm:t>
    </dgm:pt>
    <dgm:pt modelId="{ABFAF83A-6C73-47F6-896E-A9BD27B48A39}">
      <dgm:prSet/>
      <dgm:spPr/>
      <dgm:t>
        <a:bodyPr/>
        <a:lstStyle/>
        <a:p>
          <a:r>
            <a:rPr lang="en-GB" dirty="0" smtClean="0">
              <a:solidFill>
                <a:schemeClr val="bg2">
                  <a:lumMod val="10000"/>
                </a:schemeClr>
              </a:solidFill>
              <a:latin typeface="Calibri" panose="020F0502020204030204" pitchFamily="34" charset="0"/>
            </a:rPr>
            <a:t>Signs of rising demand for high-tech goods and investment to upgrade capital</a:t>
          </a:r>
        </a:p>
      </dgm:t>
    </dgm:pt>
    <dgm:pt modelId="{A75B0344-DEA6-4F23-B9A2-5187C1B55793}" type="parTrans" cxnId="{FEC8D880-A663-402B-A787-3C914236B237}">
      <dgm:prSet/>
      <dgm:spPr/>
      <dgm:t>
        <a:bodyPr/>
        <a:lstStyle/>
        <a:p>
          <a:endParaRPr lang="en-GB">
            <a:latin typeface="Calibri" panose="020F0502020204030204" pitchFamily="34" charset="0"/>
          </a:endParaRPr>
        </a:p>
      </dgm:t>
    </dgm:pt>
    <dgm:pt modelId="{94733AA1-8077-4264-929A-A4870403E5DA}" type="sibTrans" cxnId="{FEC8D880-A663-402B-A787-3C914236B237}">
      <dgm:prSet/>
      <dgm:spPr/>
      <dgm:t>
        <a:bodyPr/>
        <a:lstStyle/>
        <a:p>
          <a:endParaRPr lang="en-GB">
            <a:latin typeface="Calibri" panose="020F0502020204030204" pitchFamily="34" charset="0"/>
          </a:endParaRPr>
        </a:p>
      </dgm:t>
    </dgm:pt>
    <dgm:pt modelId="{596912E9-CAED-4E0C-A5E9-871A9237F95F}">
      <dgm:prSet/>
      <dgm:spPr/>
      <dgm:t>
        <a:bodyPr/>
        <a:lstStyle/>
        <a:p>
          <a:pPr eaLnBrk="1" latinLnBrk="0"/>
          <a:r>
            <a:rPr lang="en-GB" dirty="0" smtClean="0">
              <a:solidFill>
                <a:schemeClr val="bg2">
                  <a:lumMod val="10000"/>
                </a:schemeClr>
              </a:solidFill>
              <a:latin typeface="Calibri" panose="020F0502020204030204" pitchFamily="34" charset="0"/>
            </a:rPr>
            <a:t>Domestic reforms to boost competition, job creation, skills and innovation</a:t>
          </a:r>
        </a:p>
      </dgm:t>
    </dgm:pt>
    <dgm:pt modelId="{E08425F1-88FC-4C62-8AFB-FB401A12C4F8}" type="parTrans" cxnId="{2B09D2B6-5D01-444A-A4FA-190A0096ED59}">
      <dgm:prSet/>
      <dgm:spPr/>
      <dgm:t>
        <a:bodyPr/>
        <a:lstStyle/>
        <a:p>
          <a:endParaRPr lang="en-GB">
            <a:latin typeface="Calibri" panose="020F0502020204030204" pitchFamily="34" charset="0"/>
          </a:endParaRPr>
        </a:p>
      </dgm:t>
    </dgm:pt>
    <dgm:pt modelId="{44FC58D6-B872-4528-BD0F-539ABBFB23E9}" type="sibTrans" cxnId="{2B09D2B6-5D01-444A-A4FA-190A0096ED59}">
      <dgm:prSet/>
      <dgm:spPr/>
      <dgm:t>
        <a:bodyPr/>
        <a:lstStyle/>
        <a:p>
          <a:endParaRPr lang="en-GB">
            <a:latin typeface="Calibri" panose="020F0502020204030204" pitchFamily="34" charset="0"/>
          </a:endParaRPr>
        </a:p>
      </dgm:t>
    </dgm:pt>
    <dgm:pt modelId="{41E053C8-D301-4D12-AD77-7EE97ECC131D}">
      <dgm:prSet/>
      <dgm:spPr/>
      <dgm:t>
        <a:bodyPr/>
        <a:lstStyle/>
        <a:p>
          <a:r>
            <a:rPr lang="en-GB" dirty="0" smtClean="0">
              <a:latin typeface="Calibri" panose="020F0502020204030204" pitchFamily="34" charset="0"/>
            </a:rPr>
            <a:t>Productivity and wage growth remain subdued; financial stability risks persist</a:t>
          </a:r>
        </a:p>
      </dgm:t>
    </dgm:pt>
    <dgm:pt modelId="{E94A589A-0C85-450C-AE1A-FBF4CE0F2A81}" type="parTrans" cxnId="{B0B2F67A-EBA5-48F4-A6DC-6B545647974D}">
      <dgm:prSet/>
      <dgm:spPr/>
      <dgm:t>
        <a:bodyPr/>
        <a:lstStyle/>
        <a:p>
          <a:endParaRPr lang="en-GB">
            <a:latin typeface="Calibri" panose="020F0502020204030204" pitchFamily="34" charset="0"/>
          </a:endParaRPr>
        </a:p>
      </dgm:t>
    </dgm:pt>
    <dgm:pt modelId="{9D04F1D8-B208-4490-A62E-6562FDAC00FC}" type="sibTrans" cxnId="{B0B2F67A-EBA5-48F4-A6DC-6B545647974D}">
      <dgm:prSet/>
      <dgm:spPr/>
      <dgm:t>
        <a:bodyPr/>
        <a:lstStyle/>
        <a:p>
          <a:endParaRPr lang="en-GB">
            <a:latin typeface="Calibri" panose="020F0502020204030204" pitchFamily="34" charset="0"/>
          </a:endParaRPr>
        </a:p>
      </dgm:t>
    </dgm:pt>
    <dgm:pt modelId="{553FD138-D451-4870-97BF-70183F97EA30}">
      <dgm:prSet/>
      <dgm:spPr/>
      <dgm:t>
        <a:bodyPr/>
        <a:lstStyle/>
        <a:p>
          <a:r>
            <a:rPr lang="en-GB" dirty="0" smtClean="0">
              <a:solidFill>
                <a:schemeClr val="bg2">
                  <a:lumMod val="10000"/>
                </a:schemeClr>
              </a:solidFill>
              <a:latin typeface="Calibri" panose="020F0502020204030204" pitchFamily="34" charset="0"/>
            </a:rPr>
            <a:t>Job losses from shifts in activity are concentrated in manufacturing and specific regions</a:t>
          </a:r>
        </a:p>
      </dgm:t>
    </dgm:pt>
    <dgm:pt modelId="{43E28135-AFF9-4B2C-B41B-8023F9E19884}" type="parTrans" cxnId="{33F34D4D-844B-4309-91F1-2D71039CC08C}">
      <dgm:prSet/>
      <dgm:spPr/>
      <dgm:t>
        <a:bodyPr/>
        <a:lstStyle/>
        <a:p>
          <a:endParaRPr lang="en-GB">
            <a:latin typeface="Calibri" panose="020F0502020204030204" pitchFamily="34" charset="0"/>
          </a:endParaRPr>
        </a:p>
      </dgm:t>
    </dgm:pt>
    <dgm:pt modelId="{077F97B1-32C2-453B-AA07-7A8F7DC75B28}" type="sibTrans" cxnId="{33F34D4D-844B-4309-91F1-2D71039CC08C}">
      <dgm:prSet/>
      <dgm:spPr/>
      <dgm:t>
        <a:bodyPr/>
        <a:lstStyle/>
        <a:p>
          <a:endParaRPr lang="en-GB">
            <a:latin typeface="Calibri" panose="020F0502020204030204" pitchFamily="34" charset="0"/>
          </a:endParaRPr>
        </a:p>
      </dgm:t>
    </dgm:pt>
    <dgm:pt modelId="{3BDA06C9-41F1-4324-B47B-FD9322F22076}">
      <dgm:prSet/>
      <dgm:spPr/>
      <dgm:t>
        <a:bodyPr/>
        <a:lstStyle/>
        <a:p>
          <a:r>
            <a:rPr lang="en-US" dirty="0" smtClean="0">
              <a:solidFill>
                <a:schemeClr val="bg2">
                  <a:lumMod val="10000"/>
                </a:schemeClr>
              </a:solidFill>
              <a:latin typeface="Calibri" panose="020F0502020204030204" pitchFamily="34" charset="0"/>
            </a:rPr>
            <a:t>Growth is broad based; recovery in commodity producers helps the modest global upturn</a:t>
          </a:r>
          <a:endParaRPr lang="en-GB" dirty="0" smtClean="0">
            <a:solidFill>
              <a:schemeClr val="bg2">
                <a:lumMod val="10000"/>
              </a:schemeClr>
            </a:solidFill>
            <a:latin typeface="Calibri" panose="020F0502020204030204" pitchFamily="34" charset="0"/>
          </a:endParaRPr>
        </a:p>
      </dgm:t>
    </dgm:pt>
    <dgm:pt modelId="{68A95A56-5757-4B67-8390-A31F0B0037F9}" type="parTrans" cxnId="{43479365-8FA3-41F5-B10E-1E225A4D5723}">
      <dgm:prSet/>
      <dgm:spPr/>
      <dgm:t>
        <a:bodyPr/>
        <a:lstStyle/>
        <a:p>
          <a:endParaRPr lang="en-GB">
            <a:latin typeface="Calibri" panose="020F0502020204030204" pitchFamily="34" charset="0"/>
          </a:endParaRPr>
        </a:p>
      </dgm:t>
    </dgm:pt>
    <dgm:pt modelId="{9FC0B700-BAC5-444B-A109-D6595B3DE849}" type="sibTrans" cxnId="{43479365-8FA3-41F5-B10E-1E225A4D5723}">
      <dgm:prSet/>
      <dgm:spPr/>
      <dgm:t>
        <a:bodyPr/>
        <a:lstStyle/>
        <a:p>
          <a:endParaRPr lang="en-GB">
            <a:latin typeface="Calibri" panose="020F0502020204030204" pitchFamily="34" charset="0"/>
          </a:endParaRPr>
        </a:p>
      </dgm:t>
    </dgm:pt>
    <dgm:pt modelId="{94526619-ADE9-4975-A209-1206B2423C38}">
      <dgm:prSet/>
      <dgm:spPr/>
      <dgm:t>
        <a:bodyPr/>
        <a:lstStyle/>
        <a:p>
          <a:r>
            <a:rPr lang="en-GB" dirty="0" smtClean="0">
              <a:solidFill>
                <a:schemeClr val="bg2">
                  <a:lumMod val="10000"/>
                </a:schemeClr>
              </a:solidFill>
              <a:latin typeface="Calibri" panose="020F0502020204030204" pitchFamily="34" charset="0"/>
            </a:rPr>
            <a:t>Headline employment indicators are improving but labour markets have not recovered</a:t>
          </a:r>
        </a:p>
      </dgm:t>
    </dgm:pt>
    <dgm:pt modelId="{56BF7F1D-70AF-401A-A4BE-6C616B75B134}" type="parTrans" cxnId="{705B9F36-B466-4E78-9711-00BA06938028}">
      <dgm:prSet/>
      <dgm:spPr/>
      <dgm:t>
        <a:bodyPr/>
        <a:lstStyle/>
        <a:p>
          <a:endParaRPr lang="en-GB">
            <a:latin typeface="Calibri" panose="020F0502020204030204" pitchFamily="34" charset="0"/>
          </a:endParaRPr>
        </a:p>
      </dgm:t>
    </dgm:pt>
    <dgm:pt modelId="{EFF9F49E-5A2F-409F-8A4C-43657ADA0126}" type="sibTrans" cxnId="{705B9F36-B466-4E78-9711-00BA06938028}">
      <dgm:prSet/>
      <dgm:spPr/>
      <dgm:t>
        <a:bodyPr/>
        <a:lstStyle/>
        <a:p>
          <a:endParaRPr lang="en-GB">
            <a:latin typeface="Calibri" panose="020F0502020204030204" pitchFamily="34" charset="0"/>
          </a:endParaRPr>
        </a:p>
      </dgm:t>
    </dgm:pt>
    <dgm:pt modelId="{1E9D3748-E159-4EC9-8912-7AFB54D896E8}">
      <dgm:prSet/>
      <dgm:spPr/>
      <dgm:t>
        <a:bodyPr/>
        <a:lstStyle/>
        <a:p>
          <a:r>
            <a:rPr lang="en-US" dirty="0" smtClean="0">
              <a:solidFill>
                <a:schemeClr val="bg2">
                  <a:lumMod val="10000"/>
                </a:schemeClr>
              </a:solidFill>
              <a:latin typeface="Calibri" panose="020F0502020204030204" pitchFamily="34" charset="0"/>
            </a:rPr>
            <a:t>Financial risks from high and rising credit growth, house price increases, interest rate gaps</a:t>
          </a:r>
          <a:endParaRPr lang="en-GB" dirty="0" smtClean="0">
            <a:solidFill>
              <a:schemeClr val="bg2">
                <a:lumMod val="10000"/>
              </a:schemeClr>
            </a:solidFill>
            <a:latin typeface="Calibri" panose="020F0502020204030204" pitchFamily="34" charset="0"/>
          </a:endParaRPr>
        </a:p>
      </dgm:t>
    </dgm:pt>
    <dgm:pt modelId="{20B72C64-47B4-49ED-84C2-031F7AD8C095}" type="parTrans" cxnId="{67B238D7-40B4-47DC-A939-F18AE00B00B1}">
      <dgm:prSet/>
      <dgm:spPr/>
      <dgm:t>
        <a:bodyPr/>
        <a:lstStyle/>
        <a:p>
          <a:endParaRPr lang="en-GB">
            <a:latin typeface="Calibri" panose="020F0502020204030204" pitchFamily="34" charset="0"/>
          </a:endParaRPr>
        </a:p>
      </dgm:t>
    </dgm:pt>
    <dgm:pt modelId="{3B8DAD5D-0ECD-4585-9ADC-D9FCE88A6641}" type="sibTrans" cxnId="{67B238D7-40B4-47DC-A939-F18AE00B00B1}">
      <dgm:prSet/>
      <dgm:spPr/>
      <dgm:t>
        <a:bodyPr/>
        <a:lstStyle/>
        <a:p>
          <a:endParaRPr lang="en-GB">
            <a:latin typeface="Calibri" panose="020F0502020204030204" pitchFamily="34" charset="0"/>
          </a:endParaRPr>
        </a:p>
      </dgm:t>
    </dgm:pt>
    <dgm:pt modelId="{DCA8D2F6-0512-4BE3-8D00-0CD39364103D}">
      <dgm:prSet/>
      <dgm:spPr/>
      <dgm:t>
        <a:bodyPr/>
        <a:lstStyle/>
        <a:p>
          <a:pPr eaLnBrk="1" latinLnBrk="0"/>
          <a:r>
            <a:rPr lang="en-GB" dirty="0" smtClean="0">
              <a:solidFill>
                <a:schemeClr val="bg2">
                  <a:lumMod val="10000"/>
                </a:schemeClr>
              </a:solidFill>
              <a:latin typeface="Calibri" panose="020F0502020204030204" pitchFamily="34" charset="0"/>
            </a:rPr>
            <a:t>Targeted policies to help people who are left behind seize new opportunities</a:t>
          </a:r>
        </a:p>
      </dgm:t>
    </dgm:pt>
    <dgm:pt modelId="{E552743C-E71B-4861-972C-080EFB24BCDA}" type="parTrans" cxnId="{D21F9AFA-1F40-4590-873F-0B7900DE8CA3}">
      <dgm:prSet/>
      <dgm:spPr/>
      <dgm:t>
        <a:bodyPr/>
        <a:lstStyle/>
        <a:p>
          <a:endParaRPr lang="en-GB"/>
        </a:p>
      </dgm:t>
    </dgm:pt>
    <dgm:pt modelId="{20A6B2AA-6C1B-4381-A526-3AD302301D65}" type="sibTrans" cxnId="{D21F9AFA-1F40-4590-873F-0B7900DE8CA3}">
      <dgm:prSet/>
      <dgm:spPr/>
      <dgm:t>
        <a:bodyPr/>
        <a:lstStyle/>
        <a:p>
          <a:endParaRPr lang="en-GB"/>
        </a:p>
      </dgm:t>
    </dgm:pt>
    <dgm:pt modelId="{2E9BD066-5772-45B3-AF70-8A7A03272818}" type="pres">
      <dgm:prSet presAssocID="{312AE3AD-150C-4556-B9F3-C5AFE07518AD}" presName="linear" presStyleCnt="0">
        <dgm:presLayoutVars>
          <dgm:animLvl val="lvl"/>
          <dgm:resizeHandles val="exact"/>
        </dgm:presLayoutVars>
      </dgm:prSet>
      <dgm:spPr/>
      <dgm:t>
        <a:bodyPr/>
        <a:lstStyle/>
        <a:p>
          <a:endParaRPr lang="en-GB"/>
        </a:p>
      </dgm:t>
    </dgm:pt>
    <dgm:pt modelId="{B71E4610-9C7F-4FC1-B45C-3246453F732B}" type="pres">
      <dgm:prSet presAssocID="{28AA58F6-D958-4B10-9359-D08D4D103B97}" presName="parentText" presStyleLbl="node1" presStyleIdx="0" presStyleCnt="4" custScaleY="119926">
        <dgm:presLayoutVars>
          <dgm:chMax val="0"/>
          <dgm:bulletEnabled val="1"/>
        </dgm:presLayoutVars>
      </dgm:prSet>
      <dgm:spPr/>
      <dgm:t>
        <a:bodyPr/>
        <a:lstStyle/>
        <a:p>
          <a:endParaRPr lang="en-GB"/>
        </a:p>
      </dgm:t>
    </dgm:pt>
    <dgm:pt modelId="{59778523-FD02-412B-8EED-12620C0515E9}" type="pres">
      <dgm:prSet presAssocID="{28AA58F6-D958-4B10-9359-D08D4D103B97}" presName="childText" presStyleLbl="revTx" presStyleIdx="0" presStyleCnt="4">
        <dgm:presLayoutVars>
          <dgm:bulletEnabled val="1"/>
        </dgm:presLayoutVars>
      </dgm:prSet>
      <dgm:spPr/>
      <dgm:t>
        <a:bodyPr/>
        <a:lstStyle/>
        <a:p>
          <a:endParaRPr lang="en-GB"/>
        </a:p>
      </dgm:t>
    </dgm:pt>
    <dgm:pt modelId="{86CD86FE-BCDD-4F86-8258-550D41ABF992}" type="pres">
      <dgm:prSet presAssocID="{41E053C8-D301-4D12-AD77-7EE97ECC131D}" presName="parentText" presStyleLbl="node1" presStyleIdx="1" presStyleCnt="4" custScaleY="112620">
        <dgm:presLayoutVars>
          <dgm:chMax val="0"/>
          <dgm:bulletEnabled val="1"/>
        </dgm:presLayoutVars>
      </dgm:prSet>
      <dgm:spPr/>
      <dgm:t>
        <a:bodyPr/>
        <a:lstStyle/>
        <a:p>
          <a:endParaRPr lang="en-GB"/>
        </a:p>
      </dgm:t>
    </dgm:pt>
    <dgm:pt modelId="{4D106606-0D66-4779-A085-E8266C34AB2A}" type="pres">
      <dgm:prSet presAssocID="{41E053C8-D301-4D12-AD77-7EE97ECC131D}" presName="childText" presStyleLbl="revTx" presStyleIdx="1" presStyleCnt="4">
        <dgm:presLayoutVars>
          <dgm:bulletEnabled val="1"/>
        </dgm:presLayoutVars>
      </dgm:prSet>
      <dgm:spPr/>
      <dgm:t>
        <a:bodyPr/>
        <a:lstStyle/>
        <a:p>
          <a:endParaRPr lang="en-GB"/>
        </a:p>
      </dgm:t>
    </dgm:pt>
    <dgm:pt modelId="{9CFD6359-D6AA-429D-ADFE-D05F20309091}" type="pres">
      <dgm:prSet presAssocID="{0BD4BFF3-A846-4400-9B4D-1ECC79EBA5F8}" presName="parentText" presStyleLbl="node1" presStyleIdx="2" presStyleCnt="4" custScaleY="121626" custLinFactNeighborY="3088">
        <dgm:presLayoutVars>
          <dgm:chMax val="0"/>
          <dgm:bulletEnabled val="1"/>
        </dgm:presLayoutVars>
      </dgm:prSet>
      <dgm:spPr/>
      <dgm:t>
        <a:bodyPr/>
        <a:lstStyle/>
        <a:p>
          <a:endParaRPr lang="en-GB"/>
        </a:p>
      </dgm:t>
    </dgm:pt>
    <dgm:pt modelId="{E865CCEF-EA47-42BC-ABAD-CF3E5C00DE2D}" type="pres">
      <dgm:prSet presAssocID="{0BD4BFF3-A846-4400-9B4D-1ECC79EBA5F8}" presName="childText" presStyleLbl="revTx" presStyleIdx="2" presStyleCnt="4" custLinFactNeighborY="3530">
        <dgm:presLayoutVars>
          <dgm:bulletEnabled val="1"/>
        </dgm:presLayoutVars>
      </dgm:prSet>
      <dgm:spPr/>
      <dgm:t>
        <a:bodyPr/>
        <a:lstStyle/>
        <a:p>
          <a:endParaRPr lang="en-GB"/>
        </a:p>
      </dgm:t>
    </dgm:pt>
    <dgm:pt modelId="{2B45D7B7-0834-4D13-8778-0BFAB98C78C2}" type="pres">
      <dgm:prSet presAssocID="{806919CF-651B-46A9-9F55-6A28278294E6}" presName="parentText" presStyleLbl="node1" presStyleIdx="3" presStyleCnt="4" custScaleY="114973" custLinFactNeighborY="2046">
        <dgm:presLayoutVars>
          <dgm:chMax val="0"/>
          <dgm:bulletEnabled val="1"/>
        </dgm:presLayoutVars>
      </dgm:prSet>
      <dgm:spPr/>
      <dgm:t>
        <a:bodyPr/>
        <a:lstStyle/>
        <a:p>
          <a:endParaRPr lang="en-GB"/>
        </a:p>
      </dgm:t>
    </dgm:pt>
    <dgm:pt modelId="{466AD614-18F8-4250-8704-A12C186A2560}" type="pres">
      <dgm:prSet presAssocID="{806919CF-651B-46A9-9F55-6A28278294E6}" presName="childText" presStyleLbl="revTx" presStyleIdx="3" presStyleCnt="4" custLinFactNeighborY="3530">
        <dgm:presLayoutVars>
          <dgm:bulletEnabled val="1"/>
        </dgm:presLayoutVars>
      </dgm:prSet>
      <dgm:spPr/>
      <dgm:t>
        <a:bodyPr/>
        <a:lstStyle/>
        <a:p>
          <a:endParaRPr lang="en-GB"/>
        </a:p>
      </dgm:t>
    </dgm:pt>
  </dgm:ptLst>
  <dgm:cxnLst>
    <dgm:cxn modelId="{F590CECD-2BFA-4266-B254-A6B09807B58B}" type="presOf" srcId="{312AE3AD-150C-4556-B9F3-C5AFE07518AD}" destId="{2E9BD066-5772-45B3-AF70-8A7A03272818}" srcOrd="0" destOrd="0" presId="urn:microsoft.com/office/officeart/2005/8/layout/vList2"/>
    <dgm:cxn modelId="{603FDC0A-637D-4E78-B428-8D08C3E15A4C}" type="presOf" srcId="{28AA58F6-D958-4B10-9359-D08D4D103B97}" destId="{B71E4610-9C7F-4FC1-B45C-3246453F732B}" srcOrd="0" destOrd="0" presId="urn:microsoft.com/office/officeart/2005/8/layout/vList2"/>
    <dgm:cxn modelId="{E64A65F2-6B56-4204-A648-9FD888184D20}" type="presOf" srcId="{0BD4BFF3-A846-4400-9B4D-1ECC79EBA5F8}" destId="{9CFD6359-D6AA-429D-ADFE-D05F20309091}" srcOrd="0" destOrd="0" presId="urn:microsoft.com/office/officeart/2005/8/layout/vList2"/>
    <dgm:cxn modelId="{9462F653-2C88-47FC-B583-152A4B02B81A}" type="presOf" srcId="{553FD138-D451-4870-97BF-70183F97EA30}" destId="{E865CCEF-EA47-42BC-ABAD-CF3E5C00DE2D}" srcOrd="0" destOrd="1" presId="urn:microsoft.com/office/officeart/2005/8/layout/vList2"/>
    <dgm:cxn modelId="{22616761-6D3E-4F0D-BFB4-BA0190F21668}" type="presOf" srcId="{41E053C8-D301-4D12-AD77-7EE97ECC131D}" destId="{86CD86FE-BCDD-4F86-8258-550D41ABF992}" srcOrd="0" destOrd="0" presId="urn:microsoft.com/office/officeart/2005/8/layout/vList2"/>
    <dgm:cxn modelId="{56DCEC49-4C78-46A2-8DDF-3A9F8D6C4D56}" type="presOf" srcId="{94526619-ADE9-4975-A209-1206B2423C38}" destId="{4D106606-0D66-4779-A085-E8266C34AB2A}" srcOrd="0" destOrd="0" presId="urn:microsoft.com/office/officeart/2005/8/layout/vList2"/>
    <dgm:cxn modelId="{B0B2F67A-EBA5-48F4-A6DC-6B545647974D}" srcId="{312AE3AD-150C-4556-B9F3-C5AFE07518AD}" destId="{41E053C8-D301-4D12-AD77-7EE97ECC131D}" srcOrd="1" destOrd="0" parTransId="{E94A589A-0C85-450C-AE1A-FBF4CE0F2A81}" sibTransId="{9D04F1D8-B208-4490-A62E-6562FDAC00FC}"/>
    <dgm:cxn modelId="{D7E958C7-D684-4AB9-9C24-CB1C5BCFFBFA}" type="presOf" srcId="{3BDA06C9-41F1-4324-B47B-FD9322F22076}" destId="{59778523-FD02-412B-8EED-12620C0515E9}" srcOrd="0" destOrd="1" presId="urn:microsoft.com/office/officeart/2005/8/layout/vList2"/>
    <dgm:cxn modelId="{FEC8D880-A663-402B-A787-3C914236B237}" srcId="{28AA58F6-D958-4B10-9359-D08D4D103B97}" destId="{ABFAF83A-6C73-47F6-896E-A9BD27B48A39}" srcOrd="2" destOrd="0" parTransId="{A75B0344-DEA6-4F23-B9A2-5187C1B55793}" sibTransId="{94733AA1-8077-4264-929A-A4870403E5DA}"/>
    <dgm:cxn modelId="{E454A417-3B26-4064-AA44-E1A3E095A938}" type="presOf" srcId="{DCA8D2F6-0512-4BE3-8D00-0CD39364103D}" destId="{466AD614-18F8-4250-8704-A12C186A2560}" srcOrd="0" destOrd="2" presId="urn:microsoft.com/office/officeart/2005/8/layout/vList2"/>
    <dgm:cxn modelId="{B27A379C-FD63-4C1A-89DC-8BCCFEE7E8C4}" type="presOf" srcId="{596912E9-CAED-4E0C-A5E9-871A9237F95F}" destId="{466AD614-18F8-4250-8704-A12C186A2560}" srcOrd="0" destOrd="1" presId="urn:microsoft.com/office/officeart/2005/8/layout/vList2"/>
    <dgm:cxn modelId="{2B09D2B6-5D01-444A-A4FA-190A0096ED59}" srcId="{806919CF-651B-46A9-9F55-6A28278294E6}" destId="{596912E9-CAED-4E0C-A5E9-871A9237F95F}" srcOrd="1" destOrd="0" parTransId="{E08425F1-88FC-4C62-8AFB-FB401A12C4F8}" sibTransId="{44FC58D6-B872-4528-BD0F-539ABBFB23E9}"/>
    <dgm:cxn modelId="{33F34D4D-844B-4309-91F1-2D71039CC08C}" srcId="{0BD4BFF3-A846-4400-9B4D-1ECC79EBA5F8}" destId="{553FD138-D451-4870-97BF-70183F97EA30}" srcOrd="1" destOrd="0" parTransId="{43E28135-AFF9-4B2C-B41B-8023F9E19884}" sibTransId="{077F97B1-32C2-453B-AA07-7A8F7DC75B28}"/>
    <dgm:cxn modelId="{5302161C-846A-4FDA-9CDD-C3F3F1210388}" type="presOf" srcId="{806919CF-651B-46A9-9F55-6A28278294E6}" destId="{2B45D7B7-0834-4D13-8778-0BFAB98C78C2}" srcOrd="0" destOrd="0" presId="urn:microsoft.com/office/officeart/2005/8/layout/vList2"/>
    <dgm:cxn modelId="{7FC4F6B6-7333-499E-8799-51F96AA60B84}" srcId="{312AE3AD-150C-4556-B9F3-C5AFE07518AD}" destId="{28AA58F6-D958-4B10-9359-D08D4D103B97}" srcOrd="0" destOrd="0" parTransId="{60C608F0-860E-4FC1-AB6C-6A893EFA9FC9}" sibTransId="{3083AE86-D778-4F5F-B1B6-4FB7AC7CBD51}"/>
    <dgm:cxn modelId="{FB3611A6-B48D-4A54-9E4F-F3AA4FA9ABAB}" type="presOf" srcId="{2723B6F0-42E6-4D85-ABC3-0B993B034402}" destId="{466AD614-18F8-4250-8704-A12C186A2560}" srcOrd="0" destOrd="0" presId="urn:microsoft.com/office/officeart/2005/8/layout/vList2"/>
    <dgm:cxn modelId="{6D09A9A1-FFEA-4EA9-A2E8-55285F8C0196}" srcId="{312AE3AD-150C-4556-B9F3-C5AFE07518AD}" destId="{0BD4BFF3-A846-4400-9B4D-1ECC79EBA5F8}" srcOrd="2" destOrd="0" parTransId="{225C00EA-9FEF-41B6-9C4F-92549965D946}" sibTransId="{203F14AC-C7A5-4E5E-9CBB-DE0F7A356B5A}"/>
    <dgm:cxn modelId="{D21F9AFA-1F40-4590-873F-0B7900DE8CA3}" srcId="{806919CF-651B-46A9-9F55-6A28278294E6}" destId="{DCA8D2F6-0512-4BE3-8D00-0CD39364103D}" srcOrd="2" destOrd="0" parTransId="{E552743C-E71B-4861-972C-080EFB24BCDA}" sibTransId="{20A6B2AA-6C1B-4381-A526-3AD302301D65}"/>
    <dgm:cxn modelId="{53C87B82-B0AB-49B4-8189-CF168536BEE3}" srcId="{806919CF-651B-46A9-9F55-6A28278294E6}" destId="{2723B6F0-42E6-4D85-ABC3-0B993B034402}" srcOrd="0" destOrd="0" parTransId="{289978A5-92C7-40F5-BD7A-00AECC89F112}" sibTransId="{51C7EF5C-A804-4B27-AC82-9BD6EE906EB9}"/>
    <dgm:cxn modelId="{22EA297E-C433-43DE-A9F8-57D4D82CB461}" type="presOf" srcId="{1E9D3748-E159-4EC9-8912-7AFB54D896E8}" destId="{4D106606-0D66-4779-A085-E8266C34AB2A}" srcOrd="0" destOrd="1" presId="urn:microsoft.com/office/officeart/2005/8/layout/vList2"/>
    <dgm:cxn modelId="{705B9F36-B466-4E78-9711-00BA06938028}" srcId="{41E053C8-D301-4D12-AD77-7EE97ECC131D}" destId="{94526619-ADE9-4975-A209-1206B2423C38}" srcOrd="0" destOrd="0" parTransId="{56BF7F1D-70AF-401A-A4BE-6C616B75B134}" sibTransId="{EFF9F49E-5A2F-409F-8A4C-43657ADA0126}"/>
    <dgm:cxn modelId="{3315629A-CE00-4EA6-A505-92EEC82995D3}" srcId="{312AE3AD-150C-4556-B9F3-C5AFE07518AD}" destId="{806919CF-651B-46A9-9F55-6A28278294E6}" srcOrd="3" destOrd="0" parTransId="{C176557D-E82E-4F64-8195-4FBA10DCA65F}" sibTransId="{504D45A1-33A0-469C-9F96-5CCFAF0F31C8}"/>
    <dgm:cxn modelId="{DB292FF2-CC4D-4050-9997-4883B8C5E792}" type="presOf" srcId="{ABFAF83A-6C73-47F6-896E-A9BD27B48A39}" destId="{59778523-FD02-412B-8EED-12620C0515E9}" srcOrd="0" destOrd="2" presId="urn:microsoft.com/office/officeart/2005/8/layout/vList2"/>
    <dgm:cxn modelId="{12AB3E7D-BD2B-4B16-B4C5-1D6AD6FD6A99}" type="presOf" srcId="{5547A09F-9281-4926-AFA4-01F6C5E99E46}" destId="{59778523-FD02-412B-8EED-12620C0515E9}" srcOrd="0" destOrd="0" presId="urn:microsoft.com/office/officeart/2005/8/layout/vList2"/>
    <dgm:cxn modelId="{43479365-8FA3-41F5-B10E-1E225A4D5723}" srcId="{28AA58F6-D958-4B10-9359-D08D4D103B97}" destId="{3BDA06C9-41F1-4324-B47B-FD9322F22076}" srcOrd="1" destOrd="0" parTransId="{68A95A56-5757-4B67-8390-A31F0B0037F9}" sibTransId="{9FC0B700-BAC5-444B-A109-D6595B3DE849}"/>
    <dgm:cxn modelId="{67B238D7-40B4-47DC-A939-F18AE00B00B1}" srcId="{41E053C8-D301-4D12-AD77-7EE97ECC131D}" destId="{1E9D3748-E159-4EC9-8912-7AFB54D896E8}" srcOrd="1" destOrd="0" parTransId="{20B72C64-47B4-49ED-84C2-031F7AD8C095}" sibTransId="{3B8DAD5D-0ECD-4585-9ADC-D9FCE88A6641}"/>
    <dgm:cxn modelId="{D679395B-FE98-42B9-BBBC-D1097520053F}" srcId="{0BD4BFF3-A846-4400-9B4D-1ECC79EBA5F8}" destId="{31CEF85D-C803-49E2-87B0-F5EDAD345FC9}" srcOrd="0" destOrd="0" parTransId="{F5240D1C-9F1F-45CB-A124-96F539746542}" sibTransId="{240024B0-F397-4B79-9323-A7BF70B621A9}"/>
    <dgm:cxn modelId="{C2BEBCDC-03B2-4D84-A49C-A63F131785DD}" srcId="{28AA58F6-D958-4B10-9359-D08D4D103B97}" destId="{5547A09F-9281-4926-AFA4-01F6C5E99E46}" srcOrd="0" destOrd="0" parTransId="{F3ACEA60-3461-4AC3-BB5D-893E4B822BE9}" sibTransId="{F76B773A-F1BB-45AE-853C-30C972F6D272}"/>
    <dgm:cxn modelId="{3BE347DC-11F6-4A9D-93A7-2379018EBE6B}" type="presOf" srcId="{31CEF85D-C803-49E2-87B0-F5EDAD345FC9}" destId="{E865CCEF-EA47-42BC-ABAD-CF3E5C00DE2D}" srcOrd="0" destOrd="0" presId="urn:microsoft.com/office/officeart/2005/8/layout/vList2"/>
    <dgm:cxn modelId="{FDD43C9A-C0FF-4A65-9C2D-DD5EBFDCF51C}" type="presParOf" srcId="{2E9BD066-5772-45B3-AF70-8A7A03272818}" destId="{B71E4610-9C7F-4FC1-B45C-3246453F732B}" srcOrd="0" destOrd="0" presId="urn:microsoft.com/office/officeart/2005/8/layout/vList2"/>
    <dgm:cxn modelId="{2FABFBCD-C1D7-4148-9241-B06601E9DFE8}" type="presParOf" srcId="{2E9BD066-5772-45B3-AF70-8A7A03272818}" destId="{59778523-FD02-412B-8EED-12620C0515E9}" srcOrd="1" destOrd="0" presId="urn:microsoft.com/office/officeart/2005/8/layout/vList2"/>
    <dgm:cxn modelId="{E372AA16-7338-42E3-BD01-DD58D02C24FA}" type="presParOf" srcId="{2E9BD066-5772-45B3-AF70-8A7A03272818}" destId="{86CD86FE-BCDD-4F86-8258-550D41ABF992}" srcOrd="2" destOrd="0" presId="urn:microsoft.com/office/officeart/2005/8/layout/vList2"/>
    <dgm:cxn modelId="{E518DEB3-03BF-477A-A095-349AA6454BB3}" type="presParOf" srcId="{2E9BD066-5772-45B3-AF70-8A7A03272818}" destId="{4D106606-0D66-4779-A085-E8266C34AB2A}" srcOrd="3" destOrd="0" presId="urn:microsoft.com/office/officeart/2005/8/layout/vList2"/>
    <dgm:cxn modelId="{A693E904-7D2E-4E5D-929D-BA4909CE4DE9}" type="presParOf" srcId="{2E9BD066-5772-45B3-AF70-8A7A03272818}" destId="{9CFD6359-D6AA-429D-ADFE-D05F20309091}" srcOrd="4" destOrd="0" presId="urn:microsoft.com/office/officeart/2005/8/layout/vList2"/>
    <dgm:cxn modelId="{8CEFDE8B-B995-44A2-BF6C-7A588C8CDCDC}" type="presParOf" srcId="{2E9BD066-5772-45B3-AF70-8A7A03272818}" destId="{E865CCEF-EA47-42BC-ABAD-CF3E5C00DE2D}" srcOrd="5" destOrd="0" presId="urn:microsoft.com/office/officeart/2005/8/layout/vList2"/>
    <dgm:cxn modelId="{5DB977C2-0720-479E-92EB-2C9B2BF3C0B3}" type="presParOf" srcId="{2E9BD066-5772-45B3-AF70-8A7A03272818}" destId="{2B45D7B7-0834-4D13-8778-0BFAB98C78C2}" srcOrd="6" destOrd="0" presId="urn:microsoft.com/office/officeart/2005/8/layout/vList2"/>
    <dgm:cxn modelId="{B49B4D58-995B-42D1-BCBE-C90913265EDD}" type="presParOf" srcId="{2E9BD066-5772-45B3-AF70-8A7A03272818}" destId="{466AD614-18F8-4250-8704-A12C186A2560}" srcOrd="7"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12AE3AD-150C-4556-B9F3-C5AFE07518A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GB"/>
        </a:p>
      </dgm:t>
    </dgm:pt>
    <dgm:pt modelId="{28AA58F6-D958-4B10-9359-D08D4D103B97}">
      <dgm:prSet custT="1"/>
      <dgm:spPr/>
      <dgm:t>
        <a:bodyPr/>
        <a:lstStyle/>
        <a:p>
          <a:r>
            <a:rPr lang="en-GB" sz="2000" dirty="0" smtClean="0">
              <a:latin typeface="Calibri" panose="020F0502020204030204" pitchFamily="34" charset="0"/>
            </a:rPr>
            <a:t>Actions to improve the international environment:</a:t>
          </a:r>
        </a:p>
      </dgm:t>
    </dgm:pt>
    <dgm:pt modelId="{60C608F0-860E-4FC1-AB6C-6A893EFA9FC9}" type="parTrans" cxnId="{7FC4F6B6-7333-499E-8799-51F96AA60B84}">
      <dgm:prSet/>
      <dgm:spPr/>
      <dgm:t>
        <a:bodyPr/>
        <a:lstStyle/>
        <a:p>
          <a:endParaRPr lang="en-GB">
            <a:latin typeface="Calibri" panose="020F0502020204030204" pitchFamily="34" charset="0"/>
          </a:endParaRPr>
        </a:p>
      </dgm:t>
    </dgm:pt>
    <dgm:pt modelId="{3083AE86-D778-4F5F-B1B6-4FB7AC7CBD51}" type="sibTrans" cxnId="{7FC4F6B6-7333-499E-8799-51F96AA60B84}">
      <dgm:prSet/>
      <dgm:spPr/>
      <dgm:t>
        <a:bodyPr/>
        <a:lstStyle/>
        <a:p>
          <a:endParaRPr lang="en-GB">
            <a:latin typeface="Calibri" panose="020F0502020204030204" pitchFamily="34" charset="0"/>
          </a:endParaRPr>
        </a:p>
      </dgm:t>
    </dgm:pt>
    <dgm:pt modelId="{31FDEDA6-66D9-439F-8F48-7D1A3D83CB2C}">
      <dgm:prSet custT="1"/>
      <dgm:spPr/>
      <dgm:t>
        <a:bodyPr/>
        <a:lstStyle/>
        <a:p>
          <a:r>
            <a:rPr lang="en-GB" sz="1800" dirty="0" smtClean="0">
              <a:solidFill>
                <a:schemeClr val="bg2">
                  <a:lumMod val="10000"/>
                </a:schemeClr>
              </a:solidFill>
              <a:latin typeface="Calibri" panose="020F0502020204030204" pitchFamily="34" charset="0"/>
            </a:rPr>
            <a:t>Preserve institutions and standards, such as for labour and environmental protection</a:t>
          </a:r>
        </a:p>
      </dgm:t>
    </dgm:pt>
    <dgm:pt modelId="{09E8ADEA-8958-4BC9-B0A6-4BBA6912F297}" type="parTrans" cxnId="{9687FBD7-5570-4EE1-AD8C-0827D8FDFD8B}">
      <dgm:prSet/>
      <dgm:spPr/>
      <dgm:t>
        <a:bodyPr/>
        <a:lstStyle/>
        <a:p>
          <a:endParaRPr lang="en-GB">
            <a:latin typeface="Calibri" panose="020F0502020204030204" pitchFamily="34" charset="0"/>
          </a:endParaRPr>
        </a:p>
      </dgm:t>
    </dgm:pt>
    <dgm:pt modelId="{6D1C52CF-60AE-4EC8-BD3C-432DCD6C2CBF}" type="sibTrans" cxnId="{9687FBD7-5570-4EE1-AD8C-0827D8FDFD8B}">
      <dgm:prSet/>
      <dgm:spPr/>
      <dgm:t>
        <a:bodyPr/>
        <a:lstStyle/>
        <a:p>
          <a:endParaRPr lang="en-GB">
            <a:latin typeface="Calibri" panose="020F0502020204030204" pitchFamily="34" charset="0"/>
          </a:endParaRPr>
        </a:p>
      </dgm:t>
    </dgm:pt>
    <dgm:pt modelId="{5547A09F-9281-4926-AFA4-01F6C5E99E46}">
      <dgm:prSet custT="1"/>
      <dgm:spPr/>
      <dgm:t>
        <a:bodyPr/>
        <a:lstStyle/>
        <a:p>
          <a:r>
            <a:rPr lang="en-GB" sz="1800" dirty="0" smtClean="0">
              <a:solidFill>
                <a:schemeClr val="bg2">
                  <a:lumMod val="10000"/>
                </a:schemeClr>
              </a:solidFill>
              <a:latin typeface="Calibri" panose="020F0502020204030204" pitchFamily="34" charset="0"/>
            </a:rPr>
            <a:t>Pursue open markets for cross-border trade and investment</a:t>
          </a:r>
        </a:p>
      </dgm:t>
    </dgm:pt>
    <dgm:pt modelId="{F3ACEA60-3461-4AC3-BB5D-893E4B822BE9}" type="parTrans" cxnId="{C2BEBCDC-03B2-4D84-A49C-A63F131785DD}">
      <dgm:prSet/>
      <dgm:spPr/>
      <dgm:t>
        <a:bodyPr/>
        <a:lstStyle/>
        <a:p>
          <a:endParaRPr lang="en-GB">
            <a:latin typeface="Calibri" panose="020F0502020204030204" pitchFamily="34" charset="0"/>
          </a:endParaRPr>
        </a:p>
      </dgm:t>
    </dgm:pt>
    <dgm:pt modelId="{F76B773A-F1BB-45AE-853C-30C972F6D272}" type="sibTrans" cxnId="{C2BEBCDC-03B2-4D84-A49C-A63F131785DD}">
      <dgm:prSet/>
      <dgm:spPr/>
      <dgm:t>
        <a:bodyPr/>
        <a:lstStyle/>
        <a:p>
          <a:endParaRPr lang="en-GB">
            <a:latin typeface="Calibri" panose="020F0502020204030204" pitchFamily="34" charset="0"/>
          </a:endParaRPr>
        </a:p>
      </dgm:t>
    </dgm:pt>
    <dgm:pt modelId="{ABFAF83A-6C73-47F6-896E-A9BD27B48A39}">
      <dgm:prSet custT="1"/>
      <dgm:spPr/>
      <dgm:t>
        <a:bodyPr/>
        <a:lstStyle/>
        <a:p>
          <a:r>
            <a:rPr lang="en-GB" sz="1800" dirty="0" smtClean="0">
              <a:solidFill>
                <a:schemeClr val="bg2">
                  <a:lumMod val="10000"/>
                </a:schemeClr>
              </a:solidFill>
              <a:latin typeface="Calibri" panose="020F0502020204030204" pitchFamily="34" charset="0"/>
            </a:rPr>
            <a:t>Promote multilateral cooperation, e.g. on tax base erosion and profit shifting and competition policy</a:t>
          </a:r>
        </a:p>
      </dgm:t>
    </dgm:pt>
    <dgm:pt modelId="{A75B0344-DEA6-4F23-B9A2-5187C1B55793}" type="parTrans" cxnId="{FEC8D880-A663-402B-A787-3C914236B237}">
      <dgm:prSet/>
      <dgm:spPr/>
      <dgm:t>
        <a:bodyPr/>
        <a:lstStyle/>
        <a:p>
          <a:endParaRPr lang="en-GB">
            <a:latin typeface="Calibri" panose="020F0502020204030204" pitchFamily="34" charset="0"/>
          </a:endParaRPr>
        </a:p>
      </dgm:t>
    </dgm:pt>
    <dgm:pt modelId="{94733AA1-8077-4264-929A-A4870403E5DA}" type="sibTrans" cxnId="{FEC8D880-A663-402B-A787-3C914236B237}">
      <dgm:prSet/>
      <dgm:spPr/>
      <dgm:t>
        <a:bodyPr/>
        <a:lstStyle/>
        <a:p>
          <a:endParaRPr lang="en-GB">
            <a:latin typeface="Calibri" panose="020F0502020204030204" pitchFamily="34" charset="0"/>
          </a:endParaRPr>
        </a:p>
      </dgm:t>
    </dgm:pt>
    <dgm:pt modelId="{41E053C8-D301-4D12-AD77-7EE97ECC131D}">
      <dgm:prSet custT="1"/>
      <dgm:spPr/>
      <dgm:t>
        <a:bodyPr/>
        <a:lstStyle/>
        <a:p>
          <a:r>
            <a:rPr lang="en-GB" sz="1800" dirty="0" smtClean="0">
              <a:solidFill>
                <a:schemeClr val="bg2">
                  <a:lumMod val="10000"/>
                </a:schemeClr>
              </a:solidFill>
              <a:latin typeface="Calibri" panose="020F0502020204030204" pitchFamily="34" charset="0"/>
            </a:rPr>
            <a:t>Combat corruption, illicit trade and counterfeiting</a:t>
          </a:r>
        </a:p>
      </dgm:t>
    </dgm:pt>
    <dgm:pt modelId="{E94A589A-0C85-450C-AE1A-FBF4CE0F2A81}" type="parTrans" cxnId="{B0B2F67A-EBA5-48F4-A6DC-6B545647974D}">
      <dgm:prSet/>
      <dgm:spPr/>
      <dgm:t>
        <a:bodyPr/>
        <a:lstStyle/>
        <a:p>
          <a:endParaRPr lang="en-GB">
            <a:latin typeface="Calibri" panose="020F0502020204030204" pitchFamily="34" charset="0"/>
          </a:endParaRPr>
        </a:p>
      </dgm:t>
    </dgm:pt>
    <dgm:pt modelId="{9D04F1D8-B208-4490-A62E-6562FDAC00FC}" type="sibTrans" cxnId="{B0B2F67A-EBA5-48F4-A6DC-6B545647974D}">
      <dgm:prSet/>
      <dgm:spPr/>
      <dgm:t>
        <a:bodyPr/>
        <a:lstStyle/>
        <a:p>
          <a:endParaRPr lang="en-GB">
            <a:latin typeface="Calibri" panose="020F0502020204030204" pitchFamily="34" charset="0"/>
          </a:endParaRPr>
        </a:p>
      </dgm:t>
    </dgm:pt>
    <dgm:pt modelId="{D97F0E23-3469-49AA-8515-E38E0361369C}">
      <dgm:prSet custT="1"/>
      <dgm:spPr/>
      <dgm:t>
        <a:bodyPr/>
        <a:lstStyle/>
        <a:p>
          <a:endParaRPr lang="en-GB" sz="1800" dirty="0" smtClean="0">
            <a:solidFill>
              <a:schemeClr val="bg2">
                <a:lumMod val="10000"/>
              </a:schemeClr>
            </a:solidFill>
            <a:latin typeface="Calibri" panose="020F0502020204030204" pitchFamily="34" charset="0"/>
          </a:endParaRPr>
        </a:p>
      </dgm:t>
    </dgm:pt>
    <dgm:pt modelId="{6AA93C07-A878-4E1C-B974-8C08B510F320}" type="parTrans" cxnId="{ED097170-7D59-4F12-B292-86D74F524A55}">
      <dgm:prSet/>
      <dgm:spPr/>
      <dgm:t>
        <a:bodyPr/>
        <a:lstStyle/>
        <a:p>
          <a:endParaRPr lang="en-GB"/>
        </a:p>
      </dgm:t>
    </dgm:pt>
    <dgm:pt modelId="{C75C3C01-3CE1-4166-B916-4528E996C518}" type="sibTrans" cxnId="{ED097170-7D59-4F12-B292-86D74F524A55}">
      <dgm:prSet/>
      <dgm:spPr/>
      <dgm:t>
        <a:bodyPr/>
        <a:lstStyle/>
        <a:p>
          <a:endParaRPr lang="en-GB"/>
        </a:p>
      </dgm:t>
    </dgm:pt>
    <dgm:pt modelId="{7475AEAB-06AB-45E2-98CA-E2D0B86B0492}">
      <dgm:prSet custT="1"/>
      <dgm:spPr/>
      <dgm:t>
        <a:bodyPr/>
        <a:lstStyle/>
        <a:p>
          <a:endParaRPr lang="en-GB" sz="1800" dirty="0" smtClean="0">
            <a:solidFill>
              <a:schemeClr val="bg2">
                <a:lumMod val="10000"/>
              </a:schemeClr>
            </a:solidFill>
            <a:latin typeface="Calibri" panose="020F0502020204030204" pitchFamily="34" charset="0"/>
          </a:endParaRPr>
        </a:p>
      </dgm:t>
    </dgm:pt>
    <dgm:pt modelId="{66F03EFE-FA69-4CD3-BAA2-63E4651E3CE8}" type="parTrans" cxnId="{B0152A11-1F3E-4872-B78E-1413879CBBAB}">
      <dgm:prSet/>
      <dgm:spPr/>
      <dgm:t>
        <a:bodyPr/>
        <a:lstStyle/>
        <a:p>
          <a:endParaRPr lang="en-GB"/>
        </a:p>
      </dgm:t>
    </dgm:pt>
    <dgm:pt modelId="{10D2B5B8-D750-4282-B55A-26440552C0DA}" type="sibTrans" cxnId="{B0152A11-1F3E-4872-B78E-1413879CBBAB}">
      <dgm:prSet/>
      <dgm:spPr/>
      <dgm:t>
        <a:bodyPr/>
        <a:lstStyle/>
        <a:p>
          <a:endParaRPr lang="en-GB"/>
        </a:p>
      </dgm:t>
    </dgm:pt>
    <dgm:pt modelId="{3F646720-912F-4FB0-9C2E-579D95BB3C0E}">
      <dgm:prSet custT="1"/>
      <dgm:spPr/>
      <dgm:t>
        <a:bodyPr/>
        <a:lstStyle/>
        <a:p>
          <a:endParaRPr lang="en-GB" sz="1800" dirty="0" smtClean="0">
            <a:solidFill>
              <a:schemeClr val="bg2">
                <a:lumMod val="10000"/>
              </a:schemeClr>
            </a:solidFill>
            <a:latin typeface="Calibri" panose="020F0502020204030204" pitchFamily="34" charset="0"/>
          </a:endParaRPr>
        </a:p>
      </dgm:t>
    </dgm:pt>
    <dgm:pt modelId="{571E85A4-9ADF-4A1D-B6FB-2E10710F6424}" type="parTrans" cxnId="{9F9A79EC-6936-4CEB-9252-ADB6E1AE11AF}">
      <dgm:prSet/>
      <dgm:spPr/>
      <dgm:t>
        <a:bodyPr/>
        <a:lstStyle/>
        <a:p>
          <a:endParaRPr lang="en-GB"/>
        </a:p>
      </dgm:t>
    </dgm:pt>
    <dgm:pt modelId="{7AFE8B06-89EC-464A-8376-E7AF0C8DD4E5}" type="sibTrans" cxnId="{9F9A79EC-6936-4CEB-9252-ADB6E1AE11AF}">
      <dgm:prSet/>
      <dgm:spPr/>
      <dgm:t>
        <a:bodyPr/>
        <a:lstStyle/>
        <a:p>
          <a:endParaRPr lang="en-GB"/>
        </a:p>
      </dgm:t>
    </dgm:pt>
    <dgm:pt modelId="{2E9BD066-5772-45B3-AF70-8A7A03272818}" type="pres">
      <dgm:prSet presAssocID="{312AE3AD-150C-4556-B9F3-C5AFE07518AD}" presName="linear" presStyleCnt="0">
        <dgm:presLayoutVars>
          <dgm:animLvl val="lvl"/>
          <dgm:resizeHandles val="exact"/>
        </dgm:presLayoutVars>
      </dgm:prSet>
      <dgm:spPr/>
      <dgm:t>
        <a:bodyPr/>
        <a:lstStyle/>
        <a:p>
          <a:endParaRPr lang="en-GB"/>
        </a:p>
      </dgm:t>
    </dgm:pt>
    <dgm:pt modelId="{B71E4610-9C7F-4FC1-B45C-3246453F732B}" type="pres">
      <dgm:prSet presAssocID="{28AA58F6-D958-4B10-9359-D08D4D103B97}" presName="parentText" presStyleLbl="node1" presStyleIdx="0" presStyleCnt="1" custScaleY="63997" custLinFactNeighborY="-6367">
        <dgm:presLayoutVars>
          <dgm:chMax val="0"/>
          <dgm:bulletEnabled val="1"/>
        </dgm:presLayoutVars>
      </dgm:prSet>
      <dgm:spPr/>
      <dgm:t>
        <a:bodyPr/>
        <a:lstStyle/>
        <a:p>
          <a:endParaRPr lang="en-GB"/>
        </a:p>
      </dgm:t>
    </dgm:pt>
    <dgm:pt modelId="{59778523-FD02-412B-8EED-12620C0515E9}" type="pres">
      <dgm:prSet presAssocID="{28AA58F6-D958-4B10-9359-D08D4D103B97}" presName="childText" presStyleLbl="revTx" presStyleIdx="0" presStyleCnt="1" custScaleY="111489" custLinFactNeighborY="299">
        <dgm:presLayoutVars>
          <dgm:bulletEnabled val="1"/>
        </dgm:presLayoutVars>
      </dgm:prSet>
      <dgm:spPr/>
      <dgm:t>
        <a:bodyPr/>
        <a:lstStyle/>
        <a:p>
          <a:endParaRPr lang="en-GB"/>
        </a:p>
      </dgm:t>
    </dgm:pt>
  </dgm:ptLst>
  <dgm:cxnLst>
    <dgm:cxn modelId="{F6B25572-DB7F-415D-AF92-A43376E886A7}" type="presOf" srcId="{312AE3AD-150C-4556-B9F3-C5AFE07518AD}" destId="{2E9BD066-5772-45B3-AF70-8A7A03272818}" srcOrd="0" destOrd="0" presId="urn:microsoft.com/office/officeart/2005/8/layout/vList2"/>
    <dgm:cxn modelId="{36A437BC-6EDE-4303-A6D1-648012887460}" type="presOf" srcId="{7475AEAB-06AB-45E2-98CA-E2D0B86B0492}" destId="{59778523-FD02-412B-8EED-12620C0515E9}" srcOrd="0" destOrd="3" presId="urn:microsoft.com/office/officeart/2005/8/layout/vList2"/>
    <dgm:cxn modelId="{FD87779F-13BD-4EB3-806B-EFD57224520E}" type="presOf" srcId="{D97F0E23-3469-49AA-8515-E38E0361369C}" destId="{59778523-FD02-412B-8EED-12620C0515E9}" srcOrd="0" destOrd="1" presId="urn:microsoft.com/office/officeart/2005/8/layout/vList2"/>
    <dgm:cxn modelId="{C2BEBCDC-03B2-4D84-A49C-A63F131785DD}" srcId="{28AA58F6-D958-4B10-9359-D08D4D103B97}" destId="{5547A09F-9281-4926-AFA4-01F6C5E99E46}" srcOrd="0" destOrd="0" parTransId="{F3ACEA60-3461-4AC3-BB5D-893E4B822BE9}" sibTransId="{F76B773A-F1BB-45AE-853C-30C972F6D272}"/>
    <dgm:cxn modelId="{9F9A79EC-6936-4CEB-9252-ADB6E1AE11AF}" srcId="{28AA58F6-D958-4B10-9359-D08D4D103B97}" destId="{3F646720-912F-4FB0-9C2E-579D95BB3C0E}" srcOrd="5" destOrd="0" parTransId="{571E85A4-9ADF-4A1D-B6FB-2E10710F6424}" sibTransId="{7AFE8B06-89EC-464A-8376-E7AF0C8DD4E5}"/>
    <dgm:cxn modelId="{7FC4F6B6-7333-499E-8799-51F96AA60B84}" srcId="{312AE3AD-150C-4556-B9F3-C5AFE07518AD}" destId="{28AA58F6-D958-4B10-9359-D08D4D103B97}" srcOrd="0" destOrd="0" parTransId="{60C608F0-860E-4FC1-AB6C-6A893EFA9FC9}" sibTransId="{3083AE86-D778-4F5F-B1B6-4FB7AC7CBD51}"/>
    <dgm:cxn modelId="{B0152A11-1F3E-4872-B78E-1413879CBBAB}" srcId="{28AA58F6-D958-4B10-9359-D08D4D103B97}" destId="{7475AEAB-06AB-45E2-98CA-E2D0B86B0492}" srcOrd="3" destOrd="0" parTransId="{66F03EFE-FA69-4CD3-BAA2-63E4651E3CE8}" sibTransId="{10D2B5B8-D750-4282-B55A-26440552C0DA}"/>
    <dgm:cxn modelId="{5BA1823F-2135-46BA-AE99-EB8EF3E4522C}" type="presOf" srcId="{5547A09F-9281-4926-AFA4-01F6C5E99E46}" destId="{59778523-FD02-412B-8EED-12620C0515E9}" srcOrd="0" destOrd="0" presId="urn:microsoft.com/office/officeart/2005/8/layout/vList2"/>
    <dgm:cxn modelId="{9687FBD7-5570-4EE1-AD8C-0827D8FDFD8B}" srcId="{28AA58F6-D958-4B10-9359-D08D4D103B97}" destId="{31FDEDA6-66D9-439F-8F48-7D1A3D83CB2C}" srcOrd="2" destOrd="0" parTransId="{09E8ADEA-8958-4BC9-B0A6-4BBA6912F297}" sibTransId="{6D1C52CF-60AE-4EC8-BD3C-432DCD6C2CBF}"/>
    <dgm:cxn modelId="{7DCA2CC4-0A7D-43E4-B28B-3481C2FDAEDD}" type="presOf" srcId="{28AA58F6-D958-4B10-9359-D08D4D103B97}" destId="{B71E4610-9C7F-4FC1-B45C-3246453F732B}" srcOrd="0" destOrd="0" presId="urn:microsoft.com/office/officeart/2005/8/layout/vList2"/>
    <dgm:cxn modelId="{243CB387-1595-4467-BFEC-296652B1AC9B}" type="presOf" srcId="{31FDEDA6-66D9-439F-8F48-7D1A3D83CB2C}" destId="{59778523-FD02-412B-8EED-12620C0515E9}" srcOrd="0" destOrd="2" presId="urn:microsoft.com/office/officeart/2005/8/layout/vList2"/>
    <dgm:cxn modelId="{FEC8D880-A663-402B-A787-3C914236B237}" srcId="{28AA58F6-D958-4B10-9359-D08D4D103B97}" destId="{ABFAF83A-6C73-47F6-896E-A9BD27B48A39}" srcOrd="4" destOrd="0" parTransId="{A75B0344-DEA6-4F23-B9A2-5187C1B55793}" sibTransId="{94733AA1-8077-4264-929A-A4870403E5DA}"/>
    <dgm:cxn modelId="{9121E131-06A3-4D6D-9831-53334D27134B}" type="presOf" srcId="{3F646720-912F-4FB0-9C2E-579D95BB3C0E}" destId="{59778523-FD02-412B-8EED-12620C0515E9}" srcOrd="0" destOrd="5" presId="urn:microsoft.com/office/officeart/2005/8/layout/vList2"/>
    <dgm:cxn modelId="{3449CAFA-5480-46E9-A105-1E7FBF18FA42}" type="presOf" srcId="{ABFAF83A-6C73-47F6-896E-A9BD27B48A39}" destId="{59778523-FD02-412B-8EED-12620C0515E9}" srcOrd="0" destOrd="4" presId="urn:microsoft.com/office/officeart/2005/8/layout/vList2"/>
    <dgm:cxn modelId="{B0B2F67A-EBA5-48F4-A6DC-6B545647974D}" srcId="{28AA58F6-D958-4B10-9359-D08D4D103B97}" destId="{41E053C8-D301-4D12-AD77-7EE97ECC131D}" srcOrd="6" destOrd="0" parTransId="{E94A589A-0C85-450C-AE1A-FBF4CE0F2A81}" sibTransId="{9D04F1D8-B208-4490-A62E-6562FDAC00FC}"/>
    <dgm:cxn modelId="{ED097170-7D59-4F12-B292-86D74F524A55}" srcId="{28AA58F6-D958-4B10-9359-D08D4D103B97}" destId="{D97F0E23-3469-49AA-8515-E38E0361369C}" srcOrd="1" destOrd="0" parTransId="{6AA93C07-A878-4E1C-B974-8C08B510F320}" sibTransId="{C75C3C01-3CE1-4166-B916-4528E996C518}"/>
    <dgm:cxn modelId="{69363588-FB2C-42E2-90AB-819EEE464C0B}" type="presOf" srcId="{41E053C8-D301-4D12-AD77-7EE97ECC131D}" destId="{59778523-FD02-412B-8EED-12620C0515E9}" srcOrd="0" destOrd="6" presId="urn:microsoft.com/office/officeart/2005/8/layout/vList2"/>
    <dgm:cxn modelId="{19731FE0-04E1-4335-8190-F4F8766BCB4D}" type="presParOf" srcId="{2E9BD066-5772-45B3-AF70-8A7A03272818}" destId="{B71E4610-9C7F-4FC1-B45C-3246453F732B}" srcOrd="0" destOrd="0" presId="urn:microsoft.com/office/officeart/2005/8/layout/vList2"/>
    <dgm:cxn modelId="{86869DF5-4922-48FF-9D9F-1330D993A69D}" type="presParOf" srcId="{2E9BD066-5772-45B3-AF70-8A7A03272818}" destId="{59778523-FD02-412B-8EED-12620C0515E9}"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DACCB16-A97F-4AE7-BD91-9707F88F1702}" type="doc">
      <dgm:prSet loTypeId="urn:microsoft.com/office/officeart/2005/8/layout/pyramid4" loCatId="relationship" qsTypeId="urn:microsoft.com/office/officeart/2005/8/quickstyle/simple1" qsCatId="simple" csTypeId="urn:microsoft.com/office/officeart/2005/8/colors/accent1_2" csCatId="accent1" phldr="1"/>
      <dgm:spPr/>
      <dgm:t>
        <a:bodyPr/>
        <a:lstStyle/>
        <a:p>
          <a:endParaRPr lang="en-GB"/>
        </a:p>
      </dgm:t>
    </dgm:pt>
    <dgm:pt modelId="{894ED217-942A-4E2E-9CE7-D7FE3BFFED54}">
      <dgm:prSet custT="1"/>
      <dgm:spPr/>
      <dgm:t>
        <a:bodyPr anchor="t"/>
        <a:lstStyle/>
        <a:p>
          <a:r>
            <a:rPr lang="en-GB" sz="1600" b="1" dirty="0" smtClean="0">
              <a:latin typeface="Calibri" panose="020F0502020204030204" pitchFamily="34" charset="0"/>
            </a:rPr>
            <a:t>Make the international system fairer and work better</a:t>
          </a:r>
          <a:endParaRPr lang="en-GB" sz="1600" b="1" dirty="0">
            <a:latin typeface="Calibri" panose="020F0502020204030204" pitchFamily="34" charset="0"/>
          </a:endParaRPr>
        </a:p>
      </dgm:t>
    </dgm:pt>
    <dgm:pt modelId="{0E31CBB5-35C9-4F7F-88A8-446173ADC26A}" type="parTrans" cxnId="{F0D27D8E-B81D-403E-8C56-1E6F8F2547EC}">
      <dgm:prSet/>
      <dgm:spPr/>
      <dgm:t>
        <a:bodyPr/>
        <a:lstStyle/>
        <a:p>
          <a:endParaRPr lang="en-GB" sz="1400" b="1">
            <a:latin typeface="Calibri" panose="020F0502020204030204" pitchFamily="34" charset="0"/>
          </a:endParaRPr>
        </a:p>
      </dgm:t>
    </dgm:pt>
    <dgm:pt modelId="{3FE477C9-D35F-4B5A-B4FA-1D112311BBDE}" type="sibTrans" cxnId="{F0D27D8E-B81D-403E-8C56-1E6F8F2547EC}">
      <dgm:prSet/>
      <dgm:spPr/>
      <dgm:t>
        <a:bodyPr/>
        <a:lstStyle/>
        <a:p>
          <a:endParaRPr lang="en-GB" sz="1400" b="1">
            <a:latin typeface="Calibri" panose="020F0502020204030204" pitchFamily="34" charset="0"/>
          </a:endParaRPr>
        </a:p>
      </dgm:t>
    </dgm:pt>
    <dgm:pt modelId="{CFDC4C17-B4A3-402B-8DD0-B7E7A1CE2665}">
      <dgm:prSet phldrT="[Text]" custT="1"/>
      <dgm:spPr/>
      <dgm:t>
        <a:bodyPr/>
        <a:lstStyle/>
        <a:p>
          <a:r>
            <a:rPr lang="en-GB" sz="1600" b="1" dirty="0" smtClean="0">
              <a:solidFill>
                <a:schemeClr val="bg1"/>
              </a:solidFill>
              <a:latin typeface="Calibri" panose="020F0502020204030204" pitchFamily="34" charset="0"/>
            </a:rPr>
            <a:t>Policies to encourage new firms, innovation &amp; job creation</a:t>
          </a:r>
          <a:endParaRPr lang="en-GB" sz="1600" b="1" dirty="0">
            <a:solidFill>
              <a:schemeClr val="bg1"/>
            </a:solidFill>
            <a:latin typeface="Calibri" panose="020F0502020204030204" pitchFamily="34" charset="0"/>
          </a:endParaRPr>
        </a:p>
      </dgm:t>
    </dgm:pt>
    <dgm:pt modelId="{5E3008B7-8F69-4F0C-AD1E-C70E0305C062}" type="parTrans" cxnId="{EDB180D3-2027-459B-AED8-79F8E30CD0EB}">
      <dgm:prSet/>
      <dgm:spPr/>
      <dgm:t>
        <a:bodyPr/>
        <a:lstStyle/>
        <a:p>
          <a:endParaRPr lang="en-GB" sz="1400" b="1">
            <a:latin typeface="Calibri" panose="020F0502020204030204" pitchFamily="34" charset="0"/>
          </a:endParaRPr>
        </a:p>
      </dgm:t>
    </dgm:pt>
    <dgm:pt modelId="{0DA15BDD-8C02-4177-B987-23C4D332A976}" type="sibTrans" cxnId="{EDB180D3-2027-459B-AED8-79F8E30CD0EB}">
      <dgm:prSet/>
      <dgm:spPr/>
      <dgm:t>
        <a:bodyPr/>
        <a:lstStyle/>
        <a:p>
          <a:endParaRPr lang="en-GB" sz="1400" b="1">
            <a:latin typeface="Calibri" panose="020F0502020204030204" pitchFamily="34" charset="0"/>
          </a:endParaRPr>
        </a:p>
      </dgm:t>
    </dgm:pt>
    <dgm:pt modelId="{938A20E0-2977-41EA-BD98-C22B2E5B2A5C}">
      <dgm:prSet phldrT="[Text]" custT="1"/>
      <dgm:spPr/>
      <dgm:t>
        <a:bodyPr/>
        <a:lstStyle/>
        <a:p>
          <a:r>
            <a:rPr lang="en-GB" sz="1600" b="1" dirty="0" smtClean="0">
              <a:latin typeface="Calibri" panose="020F0502020204030204" pitchFamily="34" charset="0"/>
            </a:rPr>
            <a:t>Targeted policies to help people seize new </a:t>
          </a:r>
          <a:r>
            <a:rPr lang="en-GB" sz="1550" b="1" dirty="0" smtClean="0">
              <a:latin typeface="Calibri" panose="020F0502020204030204" pitchFamily="34" charset="0"/>
            </a:rPr>
            <a:t>opportunities</a:t>
          </a:r>
          <a:endParaRPr lang="en-GB" sz="1550" b="1" dirty="0">
            <a:latin typeface="Calibri" panose="020F0502020204030204" pitchFamily="34" charset="0"/>
          </a:endParaRPr>
        </a:p>
      </dgm:t>
    </dgm:pt>
    <dgm:pt modelId="{0724CEDD-2C28-4658-91FF-9AADEAC20DD3}" type="parTrans" cxnId="{D4BBC0C8-3B8A-4ABB-9224-8C6D2347C86B}">
      <dgm:prSet/>
      <dgm:spPr/>
      <dgm:t>
        <a:bodyPr/>
        <a:lstStyle/>
        <a:p>
          <a:endParaRPr lang="en-GB"/>
        </a:p>
      </dgm:t>
    </dgm:pt>
    <dgm:pt modelId="{F477D234-8611-43C6-8163-0E3AD3EA84A6}" type="sibTrans" cxnId="{D4BBC0C8-3B8A-4ABB-9224-8C6D2347C86B}">
      <dgm:prSet/>
      <dgm:spPr/>
      <dgm:t>
        <a:bodyPr/>
        <a:lstStyle/>
        <a:p>
          <a:endParaRPr lang="en-GB"/>
        </a:p>
      </dgm:t>
    </dgm:pt>
    <dgm:pt modelId="{08F48176-C6C2-4E03-A868-8265352F91FF}">
      <dgm:prSet phldrT="[Text]" custT="1"/>
      <dgm:spPr>
        <a:solidFill>
          <a:schemeClr val="accent1">
            <a:lumMod val="40000"/>
            <a:lumOff val="60000"/>
          </a:schemeClr>
        </a:solidFill>
      </dgm:spPr>
      <dgm:t>
        <a:bodyPr/>
        <a:lstStyle/>
        <a:p>
          <a:endParaRPr lang="en-GB" sz="1400" b="1" dirty="0">
            <a:latin typeface="Calibri" panose="020F0502020204030204" pitchFamily="34" charset="0"/>
          </a:endParaRPr>
        </a:p>
      </dgm:t>
    </dgm:pt>
    <dgm:pt modelId="{CFDC7288-346A-4AB1-B045-24CD3680CA50}" type="parTrans" cxnId="{7295D42E-8537-48D4-8280-2B827F8891B2}">
      <dgm:prSet/>
      <dgm:spPr/>
      <dgm:t>
        <a:bodyPr/>
        <a:lstStyle/>
        <a:p>
          <a:endParaRPr lang="en-GB"/>
        </a:p>
      </dgm:t>
    </dgm:pt>
    <dgm:pt modelId="{03A1E7B4-79BC-4E8F-83BA-259BF6086CCB}" type="sibTrans" cxnId="{7295D42E-8537-48D4-8280-2B827F8891B2}">
      <dgm:prSet/>
      <dgm:spPr/>
      <dgm:t>
        <a:bodyPr/>
        <a:lstStyle/>
        <a:p>
          <a:endParaRPr lang="en-GB"/>
        </a:p>
      </dgm:t>
    </dgm:pt>
    <dgm:pt modelId="{C7C00932-50D6-4289-BB7C-788D8094F781}" type="pres">
      <dgm:prSet presAssocID="{DDACCB16-A97F-4AE7-BD91-9707F88F1702}" presName="compositeShape" presStyleCnt="0">
        <dgm:presLayoutVars>
          <dgm:chMax val="9"/>
          <dgm:dir/>
          <dgm:resizeHandles val="exact"/>
        </dgm:presLayoutVars>
      </dgm:prSet>
      <dgm:spPr/>
      <dgm:t>
        <a:bodyPr/>
        <a:lstStyle/>
        <a:p>
          <a:endParaRPr lang="en-GB"/>
        </a:p>
      </dgm:t>
    </dgm:pt>
    <dgm:pt modelId="{6CE2A82E-78D8-4AA1-9997-FA861DC45FCE}" type="pres">
      <dgm:prSet presAssocID="{DDACCB16-A97F-4AE7-BD91-9707F88F1702}" presName="triangle1" presStyleLbl="node1" presStyleIdx="0" presStyleCnt="4">
        <dgm:presLayoutVars>
          <dgm:bulletEnabled val="1"/>
        </dgm:presLayoutVars>
      </dgm:prSet>
      <dgm:spPr/>
      <dgm:t>
        <a:bodyPr/>
        <a:lstStyle/>
        <a:p>
          <a:endParaRPr lang="en-GB"/>
        </a:p>
      </dgm:t>
    </dgm:pt>
    <dgm:pt modelId="{402A8876-6D7F-4D19-8F3D-9BE49D0BE090}" type="pres">
      <dgm:prSet presAssocID="{DDACCB16-A97F-4AE7-BD91-9707F88F1702}" presName="triangle2" presStyleLbl="node1" presStyleIdx="1" presStyleCnt="4">
        <dgm:presLayoutVars>
          <dgm:bulletEnabled val="1"/>
        </dgm:presLayoutVars>
      </dgm:prSet>
      <dgm:spPr/>
      <dgm:t>
        <a:bodyPr/>
        <a:lstStyle/>
        <a:p>
          <a:endParaRPr lang="en-GB"/>
        </a:p>
      </dgm:t>
    </dgm:pt>
    <dgm:pt modelId="{345CFC21-535E-4D1D-A1B2-2506225BE7BD}" type="pres">
      <dgm:prSet presAssocID="{DDACCB16-A97F-4AE7-BD91-9707F88F1702}" presName="triangle3" presStyleLbl="node1" presStyleIdx="2" presStyleCnt="4">
        <dgm:presLayoutVars>
          <dgm:bulletEnabled val="1"/>
        </dgm:presLayoutVars>
      </dgm:prSet>
      <dgm:spPr/>
      <dgm:t>
        <a:bodyPr/>
        <a:lstStyle/>
        <a:p>
          <a:endParaRPr lang="en-GB"/>
        </a:p>
      </dgm:t>
    </dgm:pt>
    <dgm:pt modelId="{9C8B428A-02B9-4336-8CE1-BA240C7BD6D4}" type="pres">
      <dgm:prSet presAssocID="{DDACCB16-A97F-4AE7-BD91-9707F88F1702}" presName="triangle4" presStyleLbl="node1" presStyleIdx="3" presStyleCnt="4">
        <dgm:presLayoutVars>
          <dgm:bulletEnabled val="1"/>
        </dgm:presLayoutVars>
      </dgm:prSet>
      <dgm:spPr/>
      <dgm:t>
        <a:bodyPr/>
        <a:lstStyle/>
        <a:p>
          <a:endParaRPr lang="en-GB"/>
        </a:p>
      </dgm:t>
    </dgm:pt>
  </dgm:ptLst>
  <dgm:cxnLst>
    <dgm:cxn modelId="{C4E21589-0A0C-48C9-B778-CA55B1A17848}" type="presOf" srcId="{938A20E0-2977-41EA-BD98-C22B2E5B2A5C}" destId="{9C8B428A-02B9-4336-8CE1-BA240C7BD6D4}" srcOrd="0" destOrd="0" presId="urn:microsoft.com/office/officeart/2005/8/layout/pyramid4"/>
    <dgm:cxn modelId="{7295D42E-8537-48D4-8280-2B827F8891B2}" srcId="{DDACCB16-A97F-4AE7-BD91-9707F88F1702}" destId="{08F48176-C6C2-4E03-A868-8265352F91FF}" srcOrd="2" destOrd="0" parTransId="{CFDC7288-346A-4AB1-B045-24CD3680CA50}" sibTransId="{03A1E7B4-79BC-4E8F-83BA-259BF6086CCB}"/>
    <dgm:cxn modelId="{D4BBC0C8-3B8A-4ABB-9224-8C6D2347C86B}" srcId="{DDACCB16-A97F-4AE7-BD91-9707F88F1702}" destId="{938A20E0-2977-41EA-BD98-C22B2E5B2A5C}" srcOrd="3" destOrd="0" parTransId="{0724CEDD-2C28-4658-91FF-9AADEAC20DD3}" sibTransId="{F477D234-8611-43C6-8163-0E3AD3EA84A6}"/>
    <dgm:cxn modelId="{EDB180D3-2027-459B-AED8-79F8E30CD0EB}" srcId="{DDACCB16-A97F-4AE7-BD91-9707F88F1702}" destId="{CFDC4C17-B4A3-402B-8DD0-B7E7A1CE2665}" srcOrd="1" destOrd="0" parTransId="{5E3008B7-8F69-4F0C-AD1E-C70E0305C062}" sibTransId="{0DA15BDD-8C02-4177-B987-23C4D332A976}"/>
    <dgm:cxn modelId="{8AEA0CC2-1A97-4516-B0FE-0A92F82ECF2F}" type="presOf" srcId="{894ED217-942A-4E2E-9CE7-D7FE3BFFED54}" destId="{6CE2A82E-78D8-4AA1-9997-FA861DC45FCE}" srcOrd="0" destOrd="0" presId="urn:microsoft.com/office/officeart/2005/8/layout/pyramid4"/>
    <dgm:cxn modelId="{193CDDFD-E7C3-47D4-8B82-48CB95C956BE}" type="presOf" srcId="{CFDC4C17-B4A3-402B-8DD0-B7E7A1CE2665}" destId="{402A8876-6D7F-4D19-8F3D-9BE49D0BE090}" srcOrd="0" destOrd="0" presId="urn:microsoft.com/office/officeart/2005/8/layout/pyramid4"/>
    <dgm:cxn modelId="{6F9879C7-9ED7-45E2-93CC-873BFAB3AF38}" type="presOf" srcId="{08F48176-C6C2-4E03-A868-8265352F91FF}" destId="{345CFC21-535E-4D1D-A1B2-2506225BE7BD}" srcOrd="0" destOrd="0" presId="urn:microsoft.com/office/officeart/2005/8/layout/pyramid4"/>
    <dgm:cxn modelId="{CB3666E2-A1F7-4796-82DA-D105236E0E37}" type="presOf" srcId="{DDACCB16-A97F-4AE7-BD91-9707F88F1702}" destId="{C7C00932-50D6-4289-BB7C-788D8094F781}" srcOrd="0" destOrd="0" presId="urn:microsoft.com/office/officeart/2005/8/layout/pyramid4"/>
    <dgm:cxn modelId="{F0D27D8E-B81D-403E-8C56-1E6F8F2547EC}" srcId="{DDACCB16-A97F-4AE7-BD91-9707F88F1702}" destId="{894ED217-942A-4E2E-9CE7-D7FE3BFFED54}" srcOrd="0" destOrd="0" parTransId="{0E31CBB5-35C9-4F7F-88A8-446173ADC26A}" sibTransId="{3FE477C9-D35F-4B5A-B4FA-1D112311BBDE}"/>
    <dgm:cxn modelId="{F7F37DB8-C702-4688-9BAE-D5B022B7DC6B}" type="presParOf" srcId="{C7C00932-50D6-4289-BB7C-788D8094F781}" destId="{6CE2A82E-78D8-4AA1-9997-FA861DC45FCE}" srcOrd="0" destOrd="0" presId="urn:microsoft.com/office/officeart/2005/8/layout/pyramid4"/>
    <dgm:cxn modelId="{C2F11204-8B2C-42B1-9FE6-D174D0E4BB47}" type="presParOf" srcId="{C7C00932-50D6-4289-BB7C-788D8094F781}" destId="{402A8876-6D7F-4D19-8F3D-9BE49D0BE090}" srcOrd="1" destOrd="0" presId="urn:microsoft.com/office/officeart/2005/8/layout/pyramid4"/>
    <dgm:cxn modelId="{2E40B099-69DF-4C47-8846-8D236B48D11B}" type="presParOf" srcId="{C7C00932-50D6-4289-BB7C-788D8094F781}" destId="{345CFC21-535E-4D1D-A1B2-2506225BE7BD}" srcOrd="2" destOrd="0" presId="urn:microsoft.com/office/officeart/2005/8/layout/pyramid4"/>
    <dgm:cxn modelId="{C1777866-08B9-4250-8F6E-7BFA19C541A0}" type="presParOf" srcId="{C7C00932-50D6-4289-BB7C-788D8094F781}" destId="{9C8B428A-02B9-4336-8CE1-BA240C7BD6D4}" srcOrd="3" destOrd="0" presId="urn:microsoft.com/office/officeart/2005/8/layout/pyramid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1E4610-9C7F-4FC1-B45C-3246453F732B}">
      <dsp:nvSpPr>
        <dsp:cNvPr id="0" name=""/>
        <dsp:cNvSpPr/>
      </dsp:nvSpPr>
      <dsp:spPr>
        <a:xfrm>
          <a:off x="0" y="220817"/>
          <a:ext cx="8280920" cy="57528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GB" sz="2000" kern="1200" dirty="0" smtClean="0">
              <a:latin typeface="Calibri" panose="020F0502020204030204" pitchFamily="34" charset="0"/>
            </a:rPr>
            <a:t>Global growth expected to pick-up modestly </a:t>
          </a:r>
          <a:r>
            <a:rPr lang="en-GB" sz="2000" kern="1200" smtClean="0">
              <a:latin typeface="Calibri" panose="020F0502020204030204" pitchFamily="34" charset="0"/>
            </a:rPr>
            <a:t>with upside </a:t>
          </a:r>
          <a:r>
            <a:rPr lang="en-GB" sz="2000" kern="1200" dirty="0" smtClean="0">
              <a:latin typeface="Calibri" panose="020F0502020204030204" pitchFamily="34" charset="0"/>
            </a:rPr>
            <a:t>risks</a:t>
          </a:r>
        </a:p>
      </dsp:txBody>
      <dsp:txXfrm>
        <a:off x="28083" y="248900"/>
        <a:ext cx="8224754" cy="519119"/>
      </dsp:txXfrm>
    </dsp:sp>
    <dsp:sp modelId="{59778523-FD02-412B-8EED-12620C0515E9}">
      <dsp:nvSpPr>
        <dsp:cNvPr id="0" name=""/>
        <dsp:cNvSpPr/>
      </dsp:nvSpPr>
      <dsp:spPr>
        <a:xfrm>
          <a:off x="0" y="796102"/>
          <a:ext cx="8280920" cy="82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2919" tIns="25400" rIns="142240" bIns="25400" numCol="1" spcCol="1270" anchor="t" anchorCtr="0">
          <a:noAutofit/>
        </a:bodyPr>
        <a:lstStyle/>
        <a:p>
          <a:pPr marL="171450" lvl="1" indent="-171450" algn="l" defTabSz="711200">
            <a:lnSpc>
              <a:spcPct val="90000"/>
            </a:lnSpc>
            <a:spcBef>
              <a:spcPct val="0"/>
            </a:spcBef>
            <a:spcAft>
              <a:spcPct val="20000"/>
            </a:spcAft>
            <a:buChar char="••"/>
          </a:pPr>
          <a:r>
            <a:rPr lang="en-GB" sz="1600" kern="1200" dirty="0" smtClean="0">
              <a:solidFill>
                <a:schemeClr val="bg2">
                  <a:lumMod val="10000"/>
                </a:schemeClr>
              </a:solidFill>
              <a:latin typeface="Calibri" panose="020F0502020204030204" pitchFamily="34" charset="0"/>
            </a:rPr>
            <a:t>Confidence is increasing and investment and trade are picking up from low levels</a:t>
          </a:r>
        </a:p>
        <a:p>
          <a:pPr marL="171450" lvl="1" indent="-171450" algn="l" defTabSz="711200">
            <a:lnSpc>
              <a:spcPct val="90000"/>
            </a:lnSpc>
            <a:spcBef>
              <a:spcPct val="0"/>
            </a:spcBef>
            <a:spcAft>
              <a:spcPct val="20000"/>
            </a:spcAft>
            <a:buChar char="••"/>
          </a:pPr>
          <a:r>
            <a:rPr lang="en-US" sz="1600" kern="1200" dirty="0" smtClean="0">
              <a:solidFill>
                <a:schemeClr val="bg2">
                  <a:lumMod val="10000"/>
                </a:schemeClr>
              </a:solidFill>
              <a:latin typeface="Calibri" panose="020F0502020204030204" pitchFamily="34" charset="0"/>
            </a:rPr>
            <a:t>Growth is broad based; recovery in commodity producers helps the modest global upturn</a:t>
          </a:r>
          <a:endParaRPr lang="en-GB" sz="1600" kern="1200" dirty="0" smtClean="0">
            <a:solidFill>
              <a:schemeClr val="bg2">
                <a:lumMod val="10000"/>
              </a:schemeClr>
            </a:solidFill>
            <a:latin typeface="Calibri" panose="020F0502020204030204" pitchFamily="34" charset="0"/>
          </a:endParaRPr>
        </a:p>
        <a:p>
          <a:pPr marL="171450" lvl="1" indent="-171450" algn="l" defTabSz="711200">
            <a:lnSpc>
              <a:spcPct val="90000"/>
            </a:lnSpc>
            <a:spcBef>
              <a:spcPct val="0"/>
            </a:spcBef>
            <a:spcAft>
              <a:spcPct val="20000"/>
            </a:spcAft>
            <a:buChar char="••"/>
          </a:pPr>
          <a:r>
            <a:rPr lang="en-GB" sz="1600" kern="1200" dirty="0" smtClean="0">
              <a:solidFill>
                <a:schemeClr val="bg2">
                  <a:lumMod val="10000"/>
                </a:schemeClr>
              </a:solidFill>
              <a:latin typeface="Calibri" panose="020F0502020204030204" pitchFamily="34" charset="0"/>
            </a:rPr>
            <a:t>Signs of rising demand for high-tech goods and investment to upgrade capital</a:t>
          </a:r>
        </a:p>
      </dsp:txBody>
      <dsp:txXfrm>
        <a:off x="0" y="796102"/>
        <a:ext cx="8280920" cy="828000"/>
      </dsp:txXfrm>
    </dsp:sp>
    <dsp:sp modelId="{86CD86FE-BCDD-4F86-8258-550D41ABF992}">
      <dsp:nvSpPr>
        <dsp:cNvPr id="0" name=""/>
        <dsp:cNvSpPr/>
      </dsp:nvSpPr>
      <dsp:spPr>
        <a:xfrm>
          <a:off x="0" y="1624102"/>
          <a:ext cx="8280920" cy="540238"/>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GB" sz="2000" kern="1200" dirty="0" smtClean="0">
              <a:latin typeface="Calibri" panose="020F0502020204030204" pitchFamily="34" charset="0"/>
            </a:rPr>
            <a:t>Productivity and wage growth remain subdued; financial stability risks persist</a:t>
          </a:r>
        </a:p>
      </dsp:txBody>
      <dsp:txXfrm>
        <a:off x="26372" y="1650474"/>
        <a:ext cx="8228176" cy="487494"/>
      </dsp:txXfrm>
    </dsp:sp>
    <dsp:sp modelId="{4D106606-0D66-4779-A085-E8266C34AB2A}">
      <dsp:nvSpPr>
        <dsp:cNvPr id="0" name=""/>
        <dsp:cNvSpPr/>
      </dsp:nvSpPr>
      <dsp:spPr>
        <a:xfrm>
          <a:off x="0" y="2164340"/>
          <a:ext cx="8280920" cy="5485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2919" tIns="25400" rIns="142240" bIns="25400" numCol="1" spcCol="1270" anchor="t" anchorCtr="0">
          <a:noAutofit/>
        </a:bodyPr>
        <a:lstStyle/>
        <a:p>
          <a:pPr marL="171450" lvl="1" indent="-171450" algn="l" defTabSz="711200">
            <a:lnSpc>
              <a:spcPct val="90000"/>
            </a:lnSpc>
            <a:spcBef>
              <a:spcPct val="0"/>
            </a:spcBef>
            <a:spcAft>
              <a:spcPct val="20000"/>
            </a:spcAft>
            <a:buChar char="••"/>
          </a:pPr>
          <a:r>
            <a:rPr lang="en-GB" sz="1600" kern="1200" dirty="0" smtClean="0">
              <a:solidFill>
                <a:schemeClr val="bg2">
                  <a:lumMod val="10000"/>
                </a:schemeClr>
              </a:solidFill>
              <a:latin typeface="Calibri" panose="020F0502020204030204" pitchFamily="34" charset="0"/>
            </a:rPr>
            <a:t>Headline employment indicators are improving but labour markets have not recovered</a:t>
          </a:r>
        </a:p>
        <a:p>
          <a:pPr marL="171450" lvl="1" indent="-171450" algn="l" defTabSz="711200">
            <a:lnSpc>
              <a:spcPct val="90000"/>
            </a:lnSpc>
            <a:spcBef>
              <a:spcPct val="0"/>
            </a:spcBef>
            <a:spcAft>
              <a:spcPct val="20000"/>
            </a:spcAft>
            <a:buChar char="••"/>
          </a:pPr>
          <a:r>
            <a:rPr lang="en-US" sz="1600" kern="1200" dirty="0" smtClean="0">
              <a:solidFill>
                <a:schemeClr val="bg2">
                  <a:lumMod val="10000"/>
                </a:schemeClr>
              </a:solidFill>
              <a:latin typeface="Calibri" panose="020F0502020204030204" pitchFamily="34" charset="0"/>
            </a:rPr>
            <a:t>Financial risks from high and rising credit growth, house price increases, interest rate gaps</a:t>
          </a:r>
          <a:endParaRPr lang="en-GB" sz="1600" kern="1200" dirty="0" smtClean="0">
            <a:solidFill>
              <a:schemeClr val="bg2">
                <a:lumMod val="10000"/>
              </a:schemeClr>
            </a:solidFill>
            <a:latin typeface="Calibri" panose="020F0502020204030204" pitchFamily="34" charset="0"/>
          </a:endParaRPr>
        </a:p>
      </dsp:txBody>
      <dsp:txXfrm>
        <a:off x="0" y="2164340"/>
        <a:ext cx="8280920" cy="548550"/>
      </dsp:txXfrm>
    </dsp:sp>
    <dsp:sp modelId="{9CFD6359-D6AA-429D-ADFE-D05F20309091}">
      <dsp:nvSpPr>
        <dsp:cNvPr id="0" name=""/>
        <dsp:cNvSpPr/>
      </dsp:nvSpPr>
      <dsp:spPr>
        <a:xfrm>
          <a:off x="0" y="2729830"/>
          <a:ext cx="8280920" cy="58343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GB" sz="2000" kern="1200" dirty="0" smtClean="0">
              <a:latin typeface="Calibri" panose="020F0502020204030204" pitchFamily="34" charset="0"/>
            </a:rPr>
            <a:t>More needs to be done to share the gains from structural trends and trade</a:t>
          </a:r>
        </a:p>
      </dsp:txBody>
      <dsp:txXfrm>
        <a:off x="28481" y="2758311"/>
        <a:ext cx="8223958" cy="526477"/>
      </dsp:txXfrm>
    </dsp:sp>
    <dsp:sp modelId="{E865CCEF-EA47-42BC-ABAD-CF3E5C00DE2D}">
      <dsp:nvSpPr>
        <dsp:cNvPr id="0" name=""/>
        <dsp:cNvSpPr/>
      </dsp:nvSpPr>
      <dsp:spPr>
        <a:xfrm>
          <a:off x="0" y="3313264"/>
          <a:ext cx="8280920" cy="5485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2919" tIns="25400" rIns="142240" bIns="25400" numCol="1" spcCol="1270" anchor="t" anchorCtr="0">
          <a:noAutofit/>
        </a:bodyPr>
        <a:lstStyle/>
        <a:p>
          <a:pPr marL="171450" lvl="1" indent="-171450" algn="l" defTabSz="711200">
            <a:lnSpc>
              <a:spcPct val="90000"/>
            </a:lnSpc>
            <a:spcBef>
              <a:spcPct val="0"/>
            </a:spcBef>
            <a:spcAft>
              <a:spcPct val="20000"/>
            </a:spcAft>
            <a:buChar char="••"/>
          </a:pPr>
          <a:r>
            <a:rPr lang="en-GB" sz="1600" kern="1200" dirty="0" smtClean="0">
              <a:solidFill>
                <a:schemeClr val="bg2">
                  <a:lumMod val="10000"/>
                </a:schemeClr>
              </a:solidFill>
              <a:latin typeface="Calibri" panose="020F0502020204030204" pitchFamily="34" charset="0"/>
            </a:rPr>
            <a:t>Changes to technology, consumer preferences and trade are occurring simultaneously</a:t>
          </a:r>
        </a:p>
        <a:p>
          <a:pPr marL="171450" lvl="1" indent="-171450" algn="l" defTabSz="711200">
            <a:lnSpc>
              <a:spcPct val="90000"/>
            </a:lnSpc>
            <a:spcBef>
              <a:spcPct val="0"/>
            </a:spcBef>
            <a:spcAft>
              <a:spcPct val="20000"/>
            </a:spcAft>
            <a:buChar char="••"/>
          </a:pPr>
          <a:r>
            <a:rPr lang="en-GB" sz="1600" kern="1200" dirty="0" smtClean="0">
              <a:solidFill>
                <a:schemeClr val="bg2">
                  <a:lumMod val="10000"/>
                </a:schemeClr>
              </a:solidFill>
              <a:latin typeface="Calibri" panose="020F0502020204030204" pitchFamily="34" charset="0"/>
            </a:rPr>
            <a:t>Job losses from shifts in activity are concentrated in manufacturing and specific regions</a:t>
          </a:r>
        </a:p>
      </dsp:txBody>
      <dsp:txXfrm>
        <a:off x="0" y="3313264"/>
        <a:ext cx="8280920" cy="548550"/>
      </dsp:txXfrm>
    </dsp:sp>
    <dsp:sp modelId="{2B45D7B7-0834-4D13-8778-0BFAB98C78C2}">
      <dsp:nvSpPr>
        <dsp:cNvPr id="0" name=""/>
        <dsp:cNvSpPr/>
      </dsp:nvSpPr>
      <dsp:spPr>
        <a:xfrm>
          <a:off x="0" y="3861821"/>
          <a:ext cx="8280920" cy="55152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GB" sz="2000" kern="1200" dirty="0" smtClean="0">
              <a:latin typeface="Calibri" panose="020F0502020204030204" pitchFamily="34" charset="0"/>
            </a:rPr>
            <a:t>An integrated policy approach is needed to make globalisation work for all</a:t>
          </a:r>
        </a:p>
      </dsp:txBody>
      <dsp:txXfrm>
        <a:off x="26923" y="3888744"/>
        <a:ext cx="8227074" cy="497679"/>
      </dsp:txXfrm>
    </dsp:sp>
    <dsp:sp modelId="{466AD614-18F8-4250-8704-A12C186A2560}">
      <dsp:nvSpPr>
        <dsp:cNvPr id="0" name=""/>
        <dsp:cNvSpPr/>
      </dsp:nvSpPr>
      <dsp:spPr>
        <a:xfrm>
          <a:off x="0" y="4413339"/>
          <a:ext cx="8280920" cy="82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2919" tIns="25400" rIns="142240" bIns="25400" numCol="1" spcCol="1270" anchor="t" anchorCtr="0">
          <a:noAutofit/>
        </a:bodyPr>
        <a:lstStyle/>
        <a:p>
          <a:pPr marL="171450" lvl="1" indent="-171450" algn="l" defTabSz="711200" eaLnBrk="1" latinLnBrk="0">
            <a:lnSpc>
              <a:spcPct val="90000"/>
            </a:lnSpc>
            <a:spcBef>
              <a:spcPct val="0"/>
            </a:spcBef>
            <a:spcAft>
              <a:spcPct val="20000"/>
            </a:spcAft>
            <a:buChar char="••"/>
          </a:pPr>
          <a:r>
            <a:rPr lang="en-GB" sz="1600" kern="1200" dirty="0" smtClean="0">
              <a:solidFill>
                <a:schemeClr val="bg2">
                  <a:lumMod val="10000"/>
                </a:schemeClr>
              </a:solidFill>
              <a:latin typeface="Calibri" panose="020F0502020204030204" pitchFamily="34" charset="0"/>
            </a:rPr>
            <a:t>A more level playing field for the international system</a:t>
          </a:r>
        </a:p>
        <a:p>
          <a:pPr marL="171450" lvl="1" indent="-171450" algn="l" defTabSz="711200" eaLnBrk="1" latinLnBrk="0">
            <a:lnSpc>
              <a:spcPct val="90000"/>
            </a:lnSpc>
            <a:spcBef>
              <a:spcPct val="0"/>
            </a:spcBef>
            <a:spcAft>
              <a:spcPct val="20000"/>
            </a:spcAft>
            <a:buChar char="••"/>
          </a:pPr>
          <a:r>
            <a:rPr lang="en-GB" sz="1600" kern="1200" dirty="0" smtClean="0">
              <a:solidFill>
                <a:schemeClr val="bg2">
                  <a:lumMod val="10000"/>
                </a:schemeClr>
              </a:solidFill>
              <a:latin typeface="Calibri" panose="020F0502020204030204" pitchFamily="34" charset="0"/>
            </a:rPr>
            <a:t>Domestic reforms to boost competition, job creation, skills and innovation</a:t>
          </a:r>
        </a:p>
        <a:p>
          <a:pPr marL="171450" lvl="1" indent="-171450" algn="l" defTabSz="711200" eaLnBrk="1" latinLnBrk="0">
            <a:lnSpc>
              <a:spcPct val="90000"/>
            </a:lnSpc>
            <a:spcBef>
              <a:spcPct val="0"/>
            </a:spcBef>
            <a:spcAft>
              <a:spcPct val="20000"/>
            </a:spcAft>
            <a:buChar char="••"/>
          </a:pPr>
          <a:r>
            <a:rPr lang="en-GB" sz="1600" kern="1200" dirty="0" smtClean="0">
              <a:solidFill>
                <a:schemeClr val="bg2">
                  <a:lumMod val="10000"/>
                </a:schemeClr>
              </a:solidFill>
              <a:latin typeface="Calibri" panose="020F0502020204030204" pitchFamily="34" charset="0"/>
            </a:rPr>
            <a:t>Targeted policies to help people who are left behind seize new opportunities</a:t>
          </a:r>
        </a:p>
      </dsp:txBody>
      <dsp:txXfrm>
        <a:off x="0" y="4413339"/>
        <a:ext cx="8280920" cy="828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pyramid4">
  <dgm:title val=""/>
  <dgm:desc val=""/>
  <dgm:catLst>
    <dgm:cat type="pyramid" pri="4000"/>
    <dgm:cat type="relationship" pri="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useDef="1">
    <dgm:dataModel>
      <dgm:ptLst/>
      <dgm:bg/>
      <dgm:whole/>
    </dgm:dataModel>
  </dgm:styleData>
  <dgm:clrData useDef="1">
    <dgm:dataModel>
      <dgm:ptLst/>
      <dgm:bg/>
      <dgm:whole/>
    </dgm:dataModel>
  </dgm:clrData>
  <dgm:layoutNode name="compositeShape">
    <dgm:varLst>
      <dgm:chMax val="9"/>
      <dgm:dir/>
      <dgm:resizeHandles val="exact"/>
    </dgm:varLst>
    <dgm:alg type="composite">
      <dgm:param type="ar" val="1"/>
    </dgm:alg>
    <dgm:shape xmlns:r="http://schemas.openxmlformats.org/officeDocument/2006/relationships" r:blip="">
      <dgm:adjLst/>
    </dgm:shape>
    <dgm:presOf/>
    <dgm:choose name="Name0">
      <dgm:if name="Name1" axis="ch" ptType="node" func="cnt" op="lte" val="4">
        <dgm:choose name="Name2">
          <dgm:if name="Name3" axis="ch" ptType="node" func="cnt" op="equ" val="1">
            <dgm:constrLst>
              <dgm:constr type="primFontSz" for="ch" ptType="node" op="equ" val="65"/>
              <dgm:constr type="t" for="ch" forName="triangle1"/>
              <dgm:constr type="l" for="ch" forName="triangle1"/>
              <dgm:constr type="h" for="ch" forName="triangle1" refType="h"/>
              <dgm:constr type="w" for="ch" forName="triangle1" refType="h"/>
            </dgm:constrLst>
          </dgm:if>
          <dgm:else name="Name4">
            <dgm:constrLst>
              <dgm:constr type="primFontSz" for="ch" ptType="node" op="equ" val="65"/>
              <dgm:constr type="t" for="ch" forName="triangle1"/>
              <dgm:constr type="l" for="ch" forName="triangle1" refType="h" fact="0.25"/>
              <dgm:constr type="h" for="ch" forName="triangle1" refType="h" fact="0.5"/>
              <dgm:constr type="w" for="ch" forName="triangle1" refType="h" fact="0.5"/>
              <dgm:constr type="t" for="ch" forName="triangle2" refType="h" fact="0.5"/>
              <dgm:constr type="l" for="ch" forName="triangle2"/>
              <dgm:constr type="h" for="ch" forName="triangle2" refType="h" fact="0.5"/>
              <dgm:constr type="w" for="ch" forName="triangle2" refType="h" fact="0.5"/>
              <dgm:constr type="t" for="ch" forName="triangle3" refType="h" fact="0.5"/>
              <dgm:constr type="l" for="ch" forName="triangle3" refType="h" fact="0.25"/>
              <dgm:constr type="h" for="ch" forName="triangle3" refType="h" fact="0.5"/>
              <dgm:constr type="w" for="ch" forName="triangle3" refType="h" fact="0.5"/>
              <dgm:constr type="t" for="ch" forName="triangle4" refType="h" fact="0.5"/>
              <dgm:constr type="l" for="ch" forName="triangle4" refType="h" fact="0.5"/>
              <dgm:constr type="h" for="ch" forName="triangle4" refType="h" fact="0.5"/>
              <dgm:constr type="w" for="ch" forName="triangle4" refType="h" fact="0.5"/>
            </dgm:constrLst>
          </dgm:else>
        </dgm:choose>
      </dgm:if>
      <dgm:else name="Name5">
        <dgm:constrLst>
          <dgm:constr type="primFontSz" for="ch" ptType="node" op="equ" val="65"/>
          <dgm:constr type="t" for="ch" forName="triangle1"/>
          <dgm:constr type="l" for="ch" forName="triangle1" refType="h" fact="0.33"/>
          <dgm:constr type="h" for="ch" forName="triangle1" refType="h" fact="0.33"/>
          <dgm:constr type="w" for="ch" forName="triangle1" refType="h" fact="0.33"/>
          <dgm:constr type="t" for="ch" forName="triangle2" refType="h" fact="0.33"/>
          <dgm:constr type="l" for="ch" forName="triangle2" refType="h" fact="0.165"/>
          <dgm:constr type="h" for="ch" forName="triangle2" refType="h" fact="0.33"/>
          <dgm:constr type="w" for="ch" forName="triangle2" refType="h" fact="0.33"/>
          <dgm:constr type="t" for="ch" forName="triangle3" refType="h" fact="0.33"/>
          <dgm:constr type="l" for="ch" forName="triangle3" refType="h" fact="0.33"/>
          <dgm:constr type="h" for="ch" forName="triangle3" refType="h" fact="0.33"/>
          <dgm:constr type="w" for="ch" forName="triangle3" refType="h" fact="0.33"/>
          <dgm:constr type="t" for="ch" forName="triangle4" refType="h" fact="0.33"/>
          <dgm:constr type="l" for="ch" forName="triangle4" refType="h" fact="0.495"/>
          <dgm:constr type="h" for="ch" forName="triangle4" refType="h" fact="0.33"/>
          <dgm:constr type="w" for="ch" forName="triangle4" refType="h" fact="0.33"/>
          <dgm:constr type="t" for="ch" forName="triangle5" refType="h" fact="0.66"/>
          <dgm:constr type="l" for="ch" forName="triangle5"/>
          <dgm:constr type="h" for="ch" forName="triangle5" refType="h" fact="0.33"/>
          <dgm:constr type="w" for="ch" forName="triangle5" refType="h" fact="0.33"/>
          <dgm:constr type="t" for="ch" forName="triangle6" refType="h" fact="0.66"/>
          <dgm:constr type="l" for="ch" forName="triangle6" refType="h" fact="0.165"/>
          <dgm:constr type="h" for="ch" forName="triangle6" refType="h" fact="0.33"/>
          <dgm:constr type="w" for="ch" forName="triangle6" refType="h" fact="0.33"/>
          <dgm:constr type="t" for="ch" forName="triangle7" refType="h" fact="0.66"/>
          <dgm:constr type="l" for="ch" forName="triangle7" refType="h" fact="0.33"/>
          <dgm:constr type="h" for="ch" forName="triangle7" refType="h" fact="0.33"/>
          <dgm:constr type="w" for="ch" forName="triangle7" refType="h" fact="0.33"/>
          <dgm:constr type="t" for="ch" forName="triangle8" refType="h" fact="0.66"/>
          <dgm:constr type="l" for="ch" forName="triangle8" refType="h" fact="0.495"/>
          <dgm:constr type="h" for="ch" forName="triangle8" refType="h" fact="0.33"/>
          <dgm:constr type="w" for="ch" forName="triangle8" refType="h" fact="0.33"/>
          <dgm:constr type="t" for="ch" forName="triangle9" refType="h" fact="0.66"/>
          <dgm:constr type="l" for="ch" forName="triangle9" refType="h" fact="0.66"/>
          <dgm:constr type="h" for="ch" forName="triangle9" refType="h" fact="0.33"/>
          <dgm:constr type="w" for="ch" forName="triangle9" refType="h" fact="0.33"/>
        </dgm:constrLst>
      </dgm:else>
    </dgm:choose>
    <dgm:ruleLst/>
    <dgm:choose name="Name6">
      <dgm:if name="Name7" axis="ch" ptType="node" func="cnt" op="gte" val="1">
        <dgm:layoutNode name="triangle1" styleLbl="node1">
          <dgm:varLst>
            <dgm:bulletEnabled val="1"/>
          </dgm:varLst>
          <dgm:alg type="tx">
            <dgm:param type="txAnchorVertCh" val="mid"/>
          </dgm:alg>
          <dgm:shape xmlns:r="http://schemas.openxmlformats.org/officeDocument/2006/relationships" type="triangle"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8"/>
    </dgm:choose>
    <dgm:choose name="Name9">
      <dgm:if name="Name10" axis="ch" ptType="node" func="cnt" op="gte" val="2">
        <dgm:layoutNode name="triangle2" styleLbl="node1">
          <dgm:varLst>
            <dgm:bulletEnabled val="1"/>
          </dgm:varLst>
          <dgm:alg type="tx">
            <dgm:param type="txAnchorVertCh" val="mid"/>
          </dgm:alg>
          <dgm:shape xmlns:r="http://schemas.openxmlformats.org/officeDocument/2006/relationships" type="triangle" r:blip="">
            <dgm:adjLst/>
          </dgm:shape>
          <dgm:choose name="Name11">
            <dgm:if name="Name12" func="var" arg="dir" op="equ" val="norm">
              <dgm:presOf axis="ch desOrSelf" ptType="node node" st="2 1" cnt="1 0"/>
            </dgm:if>
            <dgm:else name="Name13">
              <dgm:presOf axis="ch desOrSelf" ptType="node node" st="4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3" styleLbl="node1">
          <dgm:varLst>
            <dgm:bulletEnabled val="1"/>
          </dgm:varLst>
          <dgm:alg type="tx">
            <dgm:param type="txAnchorVertCh" val="mid"/>
          </dgm:alg>
          <dgm:shape xmlns:r="http://schemas.openxmlformats.org/officeDocument/2006/relationships" rot="180" type="triangle"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4" styleLbl="node1">
          <dgm:varLst>
            <dgm:bulletEnabled val="1"/>
          </dgm:varLst>
          <dgm:alg type="tx">
            <dgm:param type="txAnchorVertCh" val="mid"/>
          </dgm:alg>
          <dgm:shape xmlns:r="http://schemas.openxmlformats.org/officeDocument/2006/relationships" type="triangle" r:blip="">
            <dgm:adjLst/>
          </dgm:shape>
          <dgm:choose name="Name14">
            <dgm:if name="Name15" func="var" arg="dir" op="equ" val="norm">
              <dgm:presOf axis="ch desOrSelf" ptType="node node" st="4 1" cnt="1 0"/>
            </dgm:if>
            <dgm:else name="Name16">
              <dgm:presOf axis="ch desOrSelf" ptType="node node" st="2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7"/>
    </dgm:choose>
    <dgm:choose name="Name18">
      <dgm:if name="Name19" axis="ch" ptType="node" func="cnt" op="gte" val="5">
        <dgm:layoutNode name="triangle5" styleLbl="node1">
          <dgm:varLst>
            <dgm:bulletEnabled val="1"/>
          </dgm:varLst>
          <dgm:alg type="tx">
            <dgm:param type="txAnchorVertCh" val="mid"/>
          </dgm:alg>
          <dgm:shape xmlns:r="http://schemas.openxmlformats.org/officeDocument/2006/relationships" type="triangle" r:blip="">
            <dgm:adjLst/>
          </dgm:shape>
          <dgm:choose name="Name20">
            <dgm:if name="Name21" func="var" arg="dir" op="equ" val="norm">
              <dgm:presOf axis="ch desOrSelf" ptType="node node" st="5 1" cnt="1 0"/>
            </dgm:if>
            <dgm:else name="Name22">
              <dgm:presOf axis="ch desOrSelf" ptType="node node" st="9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6" styleLbl="node1">
          <dgm:varLst>
            <dgm:bulletEnabled val="1"/>
          </dgm:varLst>
          <dgm:alg type="tx">
            <dgm:param type="txAnchorVertCh" val="mid"/>
          </dgm:alg>
          <dgm:shape xmlns:r="http://schemas.openxmlformats.org/officeDocument/2006/relationships" rot="180" type="triangle" r:blip="">
            <dgm:adjLst/>
          </dgm:shape>
          <dgm:choose name="Name23">
            <dgm:if name="Name24" func="var" arg="dir" op="equ" val="norm">
              <dgm:presOf axis="ch desOrSelf" ptType="node node" st="6 1" cnt="1 0"/>
            </dgm:if>
            <dgm:else name="Name25">
              <dgm:presOf axis="ch desOrSelf" ptType="node node" st="8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7" styleLbl="node1">
          <dgm:varLst>
            <dgm:bulletEnabled val="1"/>
          </dgm:varLst>
          <dgm:alg type="tx">
            <dgm:param type="txAnchorVertCh" val="mid"/>
          </dgm:alg>
          <dgm:shape xmlns:r="http://schemas.openxmlformats.org/officeDocument/2006/relationships" type="triangle" r:blip="">
            <dgm:adjLst/>
          </dgm:shape>
          <dgm:presOf axis="ch desOrSelf" ptType="node node" st="7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8" styleLbl="node1">
          <dgm:varLst>
            <dgm:bulletEnabled val="1"/>
          </dgm:varLst>
          <dgm:alg type="tx">
            <dgm:param type="txAnchorVertCh" val="mid"/>
          </dgm:alg>
          <dgm:shape xmlns:r="http://schemas.openxmlformats.org/officeDocument/2006/relationships" rot="180" type="triangle" r:blip="">
            <dgm:adjLst/>
          </dgm:shape>
          <dgm:choose name="Name26">
            <dgm:if name="Name27" func="var" arg="dir" op="equ" val="norm">
              <dgm:presOf axis="ch desOrSelf" ptType="node node" st="8 1" cnt="1 0"/>
            </dgm:if>
            <dgm:else name="Name28">
              <dgm:presOf axis="ch desOrSelf" ptType="node node" st="6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9" styleLbl="node1">
          <dgm:varLst>
            <dgm:bulletEnabled val="1"/>
          </dgm:varLst>
          <dgm:alg type="tx">
            <dgm:param type="txAnchorVertCh" val="mid"/>
          </dgm:alg>
          <dgm:shape xmlns:r="http://schemas.openxmlformats.org/officeDocument/2006/relationships" type="triangle" r:blip="">
            <dgm:adjLst/>
          </dgm:shape>
          <dgm:choose name="Name29">
            <dgm:if name="Name30" func="var" arg="dir" op="equ" val="norm">
              <dgm:presOf axis="ch desOrSelf" ptType="node node" st="9 1" cnt="1 0"/>
            </dgm:if>
            <dgm:else name="Name31">
              <dgm:presOf axis="ch desOrSelf" ptType="node node" st="5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2"/>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0.31343</cdr:x>
      <cdr:y>0.51006</cdr:y>
    </cdr:from>
    <cdr:to>
      <cdr:x>0.46102</cdr:x>
      <cdr:y>0.59425</cdr:y>
    </cdr:to>
    <cdr:sp macro="" textlink="">
      <cdr:nvSpPr>
        <cdr:cNvPr id="2" name="TextBox 1"/>
        <cdr:cNvSpPr txBox="1"/>
      </cdr:nvSpPr>
      <cdr:spPr>
        <a:xfrm xmlns:a="http://schemas.openxmlformats.org/drawingml/2006/main">
          <a:off x="1800200" y="2366005"/>
          <a:ext cx="847695" cy="39053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GB" sz="1400" b="1" dirty="0">
              <a:latin typeface="Arial Narrow" panose="020B0606020202030204" pitchFamily="34" charset="0"/>
            </a:rPr>
            <a:t>1995</a:t>
          </a:r>
        </a:p>
      </cdr:txBody>
    </cdr:sp>
  </cdr:relSizeAnchor>
  <cdr:relSizeAnchor xmlns:cdr="http://schemas.openxmlformats.org/drawingml/2006/chartDrawing">
    <cdr:from>
      <cdr:x>0.08138</cdr:x>
      <cdr:y>0.44963</cdr:y>
    </cdr:from>
    <cdr:to>
      <cdr:x>0.22897</cdr:x>
      <cdr:y>0.53382</cdr:y>
    </cdr:to>
    <cdr:sp macro="" textlink="">
      <cdr:nvSpPr>
        <cdr:cNvPr id="3" name="TextBox 1"/>
        <cdr:cNvSpPr txBox="1"/>
      </cdr:nvSpPr>
      <cdr:spPr>
        <a:xfrm xmlns:a="http://schemas.openxmlformats.org/drawingml/2006/main">
          <a:off x="467440" y="2085676"/>
          <a:ext cx="847694" cy="390530"/>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GB" sz="1400" b="1" dirty="0">
              <a:latin typeface="Arial Narrow" panose="020B0606020202030204" pitchFamily="34" charset="0"/>
            </a:rPr>
            <a:t>2015</a:t>
          </a: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44283" cy="495300"/>
          </a:xfrm>
          <a:prstGeom prst="rect">
            <a:avLst/>
          </a:prstGeom>
        </p:spPr>
        <p:txBody>
          <a:bodyPr vert="horz" lIns="91430" tIns="45715" rIns="91430" bIns="45715" rtlCol="0"/>
          <a:lstStyle>
            <a:lvl1pPr algn="l">
              <a:defRPr sz="1200"/>
            </a:lvl1pPr>
          </a:lstStyle>
          <a:p>
            <a:endParaRPr lang="en-GB" dirty="0"/>
          </a:p>
        </p:txBody>
      </p:sp>
      <p:sp>
        <p:nvSpPr>
          <p:cNvPr id="3" name="Date Placeholder 2"/>
          <p:cNvSpPr>
            <a:spLocks noGrp="1"/>
          </p:cNvSpPr>
          <p:nvPr>
            <p:ph type="dt" sz="quarter" idx="1"/>
          </p:nvPr>
        </p:nvSpPr>
        <p:spPr>
          <a:xfrm>
            <a:off x="3848646" y="0"/>
            <a:ext cx="2944283" cy="495300"/>
          </a:xfrm>
          <a:prstGeom prst="rect">
            <a:avLst/>
          </a:prstGeom>
        </p:spPr>
        <p:txBody>
          <a:bodyPr vert="horz" lIns="91430" tIns="45715" rIns="91430" bIns="45715" rtlCol="0"/>
          <a:lstStyle>
            <a:lvl1pPr algn="r">
              <a:defRPr sz="1200"/>
            </a:lvl1pPr>
          </a:lstStyle>
          <a:p>
            <a:fld id="{D9BDB2A1-31CB-4309-9FC4-15F940A51174}" type="datetimeFigureOut">
              <a:rPr lang="en-GB" smtClean="0"/>
              <a:t>07/06/2017</a:t>
            </a:fld>
            <a:endParaRPr lang="en-GB" dirty="0"/>
          </a:p>
        </p:txBody>
      </p:sp>
      <p:sp>
        <p:nvSpPr>
          <p:cNvPr id="4" name="Footer Placeholder 3"/>
          <p:cNvSpPr>
            <a:spLocks noGrp="1"/>
          </p:cNvSpPr>
          <p:nvPr>
            <p:ph type="ftr" sz="quarter" idx="2"/>
          </p:nvPr>
        </p:nvSpPr>
        <p:spPr>
          <a:xfrm>
            <a:off x="1" y="9408981"/>
            <a:ext cx="2944283" cy="495300"/>
          </a:xfrm>
          <a:prstGeom prst="rect">
            <a:avLst/>
          </a:prstGeom>
        </p:spPr>
        <p:txBody>
          <a:bodyPr vert="horz" lIns="91430" tIns="45715" rIns="91430" bIns="45715" rtlCol="0" anchor="b"/>
          <a:lstStyle>
            <a:lvl1pPr algn="l">
              <a:defRPr sz="1200"/>
            </a:lvl1pPr>
          </a:lstStyle>
          <a:p>
            <a:endParaRPr lang="en-GB" dirty="0"/>
          </a:p>
        </p:txBody>
      </p:sp>
      <p:sp>
        <p:nvSpPr>
          <p:cNvPr id="5" name="Slide Number Placeholder 4"/>
          <p:cNvSpPr>
            <a:spLocks noGrp="1"/>
          </p:cNvSpPr>
          <p:nvPr>
            <p:ph type="sldNum" sz="quarter" idx="3"/>
          </p:nvPr>
        </p:nvSpPr>
        <p:spPr>
          <a:xfrm>
            <a:off x="3848646" y="9408981"/>
            <a:ext cx="2944283" cy="495300"/>
          </a:xfrm>
          <a:prstGeom prst="rect">
            <a:avLst/>
          </a:prstGeom>
        </p:spPr>
        <p:txBody>
          <a:bodyPr vert="horz" lIns="91430" tIns="45715" rIns="91430" bIns="45715" rtlCol="0" anchor="b"/>
          <a:lstStyle>
            <a:lvl1pPr algn="r">
              <a:defRPr sz="1200"/>
            </a:lvl1pPr>
          </a:lstStyle>
          <a:p>
            <a:fld id="{86D14058-FEED-42C8-A090-E45E1EA0FF49}" type="slidenum">
              <a:rPr lang="en-GB" smtClean="0"/>
              <a:t>‹#›</a:t>
            </a:fld>
            <a:endParaRPr lang="en-GB" dirty="0"/>
          </a:p>
        </p:txBody>
      </p:sp>
    </p:spTree>
    <p:extLst>
      <p:ext uri="{BB962C8B-B14F-4D97-AF65-F5344CB8AC3E}">
        <p14:creationId xmlns:p14="http://schemas.microsoft.com/office/powerpoint/2010/main" val="235789286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44283" cy="495300"/>
          </a:xfrm>
          <a:prstGeom prst="rect">
            <a:avLst/>
          </a:prstGeom>
        </p:spPr>
        <p:txBody>
          <a:bodyPr vert="horz" lIns="91430" tIns="45715" rIns="91430" bIns="45715" rtlCol="0"/>
          <a:lstStyle>
            <a:lvl1pPr algn="l">
              <a:defRPr sz="1200"/>
            </a:lvl1pPr>
          </a:lstStyle>
          <a:p>
            <a:endParaRPr lang="en-GB" dirty="0"/>
          </a:p>
        </p:txBody>
      </p:sp>
      <p:sp>
        <p:nvSpPr>
          <p:cNvPr id="3" name="Date Placeholder 2"/>
          <p:cNvSpPr>
            <a:spLocks noGrp="1"/>
          </p:cNvSpPr>
          <p:nvPr>
            <p:ph type="dt" idx="1"/>
          </p:nvPr>
        </p:nvSpPr>
        <p:spPr>
          <a:xfrm>
            <a:off x="3848646" y="0"/>
            <a:ext cx="2944283" cy="495300"/>
          </a:xfrm>
          <a:prstGeom prst="rect">
            <a:avLst/>
          </a:prstGeom>
        </p:spPr>
        <p:txBody>
          <a:bodyPr vert="horz" lIns="91430" tIns="45715" rIns="91430" bIns="45715" rtlCol="0"/>
          <a:lstStyle>
            <a:lvl1pPr algn="r">
              <a:defRPr sz="1200"/>
            </a:lvl1pPr>
          </a:lstStyle>
          <a:p>
            <a:fld id="{389BBE68-B43C-4550-BAC8-3342CCEE016F}" type="datetimeFigureOut">
              <a:rPr lang="en-GB" smtClean="0"/>
              <a:t>07/06/2017</a:t>
            </a:fld>
            <a:endParaRPr lang="en-GB" dirty="0"/>
          </a:p>
        </p:txBody>
      </p:sp>
      <p:sp>
        <p:nvSpPr>
          <p:cNvPr id="4" name="Slide Image Placeholder 3"/>
          <p:cNvSpPr>
            <a:spLocks noGrp="1" noRot="1" noChangeAspect="1"/>
          </p:cNvSpPr>
          <p:nvPr>
            <p:ph type="sldImg" idx="2"/>
          </p:nvPr>
        </p:nvSpPr>
        <p:spPr>
          <a:xfrm>
            <a:off x="920750" y="742950"/>
            <a:ext cx="4953000" cy="3714750"/>
          </a:xfrm>
          <a:prstGeom prst="rect">
            <a:avLst/>
          </a:prstGeom>
          <a:noFill/>
          <a:ln w="12700">
            <a:solidFill>
              <a:prstClr val="black"/>
            </a:solidFill>
          </a:ln>
        </p:spPr>
        <p:txBody>
          <a:bodyPr vert="horz" lIns="91430" tIns="45715" rIns="91430" bIns="45715" rtlCol="0" anchor="ctr"/>
          <a:lstStyle/>
          <a:p>
            <a:endParaRPr lang="en-GB" dirty="0"/>
          </a:p>
        </p:txBody>
      </p:sp>
      <p:sp>
        <p:nvSpPr>
          <p:cNvPr id="5" name="Notes Placeholder 4"/>
          <p:cNvSpPr>
            <a:spLocks noGrp="1"/>
          </p:cNvSpPr>
          <p:nvPr>
            <p:ph type="body" sz="quarter" idx="3"/>
          </p:nvPr>
        </p:nvSpPr>
        <p:spPr>
          <a:xfrm>
            <a:off x="679450" y="4705351"/>
            <a:ext cx="5435600" cy="4457700"/>
          </a:xfrm>
          <a:prstGeom prst="rect">
            <a:avLst/>
          </a:prstGeom>
        </p:spPr>
        <p:txBody>
          <a:bodyPr vert="horz" lIns="91430" tIns="45715" rIns="91430" bIns="45715"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1" y="9408981"/>
            <a:ext cx="2944283" cy="495300"/>
          </a:xfrm>
          <a:prstGeom prst="rect">
            <a:avLst/>
          </a:prstGeom>
        </p:spPr>
        <p:txBody>
          <a:bodyPr vert="horz" lIns="91430" tIns="45715" rIns="91430" bIns="45715"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48646" y="9408981"/>
            <a:ext cx="2944283" cy="495300"/>
          </a:xfrm>
          <a:prstGeom prst="rect">
            <a:avLst/>
          </a:prstGeom>
        </p:spPr>
        <p:txBody>
          <a:bodyPr vert="horz" lIns="91430" tIns="45715" rIns="91430" bIns="45715" rtlCol="0" anchor="b"/>
          <a:lstStyle>
            <a:lvl1pPr algn="r">
              <a:defRPr sz="1200"/>
            </a:lvl1pPr>
          </a:lstStyle>
          <a:p>
            <a:fld id="{E245DB49-244C-4016-9CFF-C17A45AE8B60}" type="slidenum">
              <a:rPr lang="en-GB" smtClean="0"/>
              <a:t>‹#›</a:t>
            </a:fld>
            <a:endParaRPr lang="en-GB" dirty="0"/>
          </a:p>
        </p:txBody>
      </p:sp>
    </p:spTree>
    <p:extLst>
      <p:ext uri="{BB962C8B-B14F-4D97-AF65-F5344CB8AC3E}">
        <p14:creationId xmlns:p14="http://schemas.microsoft.com/office/powerpoint/2010/main" val="20101825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p>
            <a:fld id="{9C364824-19B6-448E-82B5-5EBA0DE3DC29}" type="slidenum">
              <a:rPr lang="en-US" smtClean="0">
                <a:solidFill>
                  <a:prstClr val="black"/>
                </a:solidFill>
              </a:rPr>
              <a:pPr/>
              <a:t>1</a:t>
            </a:fld>
            <a:endParaRPr lang="en-US" dirty="0" smtClean="0">
              <a:solidFill>
                <a:prstClr val="black"/>
              </a:solidFill>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p:spPr>
        <p:txBody>
          <a:bodyPr/>
          <a:lstStyle/>
          <a:p>
            <a:pPr eaLnBrk="1" hangingPunct="1"/>
            <a:endParaRPr lang="en-US" dirty="0" smtClean="0">
              <a:latin typeface="Helvetica 65 Medium"/>
              <a:cs typeface="Arial" pitchFamily="34" charset="0"/>
            </a:endParaRPr>
          </a:p>
        </p:txBody>
      </p:sp>
    </p:spTree>
    <p:extLst>
      <p:ext uri="{BB962C8B-B14F-4D97-AF65-F5344CB8AC3E}">
        <p14:creationId xmlns:p14="http://schemas.microsoft.com/office/powerpoint/2010/main" val="15029351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p>
            <a:fld id="{320BD554-BD7E-4943-A37F-0C0EF73F2870}" type="slidenum">
              <a:rPr lang="en-US" smtClean="0"/>
              <a:pPr/>
              <a:t>2</a:t>
            </a:fld>
            <a:endParaRPr lang="en-US" dirty="0" smtClean="0"/>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p:spPr>
        <p:txBody>
          <a:bodyPr/>
          <a:lstStyle/>
          <a:p>
            <a:pPr eaLnBrk="1" hangingPunct="1"/>
            <a:endParaRPr lang="en-US" dirty="0" smtClean="0">
              <a:latin typeface="Helvetica 65 Medium"/>
              <a:cs typeface="Arial" pitchFamily="34" charset="0"/>
            </a:endParaRPr>
          </a:p>
        </p:txBody>
      </p:sp>
    </p:spTree>
    <p:extLst>
      <p:ext uri="{BB962C8B-B14F-4D97-AF65-F5344CB8AC3E}">
        <p14:creationId xmlns:p14="http://schemas.microsoft.com/office/powerpoint/2010/main" val="939521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E245DB49-244C-4016-9CFF-C17A45AE8B60}" type="slidenum">
              <a:rPr lang="en-GB" smtClean="0"/>
              <a:t>3</a:t>
            </a:fld>
            <a:endParaRPr lang="en-GB" dirty="0"/>
          </a:p>
        </p:txBody>
      </p:sp>
    </p:spTree>
    <p:extLst>
      <p:ext uri="{BB962C8B-B14F-4D97-AF65-F5344CB8AC3E}">
        <p14:creationId xmlns:p14="http://schemas.microsoft.com/office/powerpoint/2010/main" val="961948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E245DB49-244C-4016-9CFF-C17A45AE8B60}" type="slidenum">
              <a:rPr lang="en-GB" smtClean="0"/>
              <a:t>4</a:t>
            </a:fld>
            <a:endParaRPr lang="en-GB" dirty="0"/>
          </a:p>
        </p:txBody>
      </p:sp>
    </p:spTree>
    <p:extLst>
      <p:ext uri="{BB962C8B-B14F-4D97-AF65-F5344CB8AC3E}">
        <p14:creationId xmlns:p14="http://schemas.microsoft.com/office/powerpoint/2010/main" val="961948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E245DB49-244C-4016-9CFF-C17A45AE8B60}" type="slidenum">
              <a:rPr lang="en-GB" smtClean="0"/>
              <a:t>5</a:t>
            </a:fld>
            <a:endParaRPr lang="en-GB" dirty="0"/>
          </a:p>
        </p:txBody>
      </p:sp>
    </p:spTree>
    <p:extLst>
      <p:ext uri="{BB962C8B-B14F-4D97-AF65-F5344CB8AC3E}">
        <p14:creationId xmlns:p14="http://schemas.microsoft.com/office/powerpoint/2010/main" val="961948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p>
            <a:fld id="{320BD554-BD7E-4943-A37F-0C0EF73F2870}" type="slidenum">
              <a:rPr lang="en-US" smtClean="0"/>
              <a:pPr/>
              <a:t>6</a:t>
            </a:fld>
            <a:endParaRPr lang="en-US" dirty="0" smtClean="0"/>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p:spPr>
        <p:txBody>
          <a:bodyPr/>
          <a:lstStyle/>
          <a:p>
            <a:pPr eaLnBrk="1" hangingPunct="1"/>
            <a:endParaRPr lang="en-US" dirty="0" smtClean="0">
              <a:latin typeface="Helvetica 65 Medium"/>
              <a:cs typeface="Arial" pitchFamily="34" charset="0"/>
            </a:endParaRPr>
          </a:p>
        </p:txBody>
      </p:sp>
    </p:spTree>
    <p:extLst>
      <p:ext uri="{BB962C8B-B14F-4D97-AF65-F5344CB8AC3E}">
        <p14:creationId xmlns:p14="http://schemas.microsoft.com/office/powerpoint/2010/main" val="721122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p>
            <a:fld id="{320BD554-BD7E-4943-A37F-0C0EF73F2870}" type="slidenum">
              <a:rPr lang="en-US" smtClean="0"/>
              <a:pPr/>
              <a:t>7</a:t>
            </a:fld>
            <a:endParaRPr lang="en-US" dirty="0" smtClean="0"/>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p:spPr>
        <p:txBody>
          <a:bodyPr/>
          <a:lstStyle/>
          <a:p>
            <a:pPr eaLnBrk="1" hangingPunct="1"/>
            <a:endParaRPr lang="en-US" dirty="0" smtClean="0">
              <a:latin typeface="Helvetica 65 Medium"/>
              <a:cs typeface="Arial" pitchFamily="34" charset="0"/>
            </a:endParaRPr>
          </a:p>
        </p:txBody>
      </p:sp>
    </p:spTree>
    <p:extLst>
      <p:ext uri="{BB962C8B-B14F-4D97-AF65-F5344CB8AC3E}">
        <p14:creationId xmlns:p14="http://schemas.microsoft.com/office/powerpoint/2010/main" val="721122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p>
            <a:fld id="{320BD554-BD7E-4943-A37F-0C0EF73F2870}" type="slidenum">
              <a:rPr lang="en-US" smtClean="0"/>
              <a:pPr/>
              <a:t>8</a:t>
            </a:fld>
            <a:endParaRPr lang="en-US" dirty="0" smtClean="0"/>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p:spPr>
        <p:txBody>
          <a:bodyPr/>
          <a:lstStyle/>
          <a:p>
            <a:pPr eaLnBrk="1" hangingPunct="1"/>
            <a:endParaRPr lang="en-US" dirty="0" smtClean="0">
              <a:latin typeface="Helvetica 65 Medium"/>
              <a:cs typeface="Arial" pitchFamily="34" charset="0"/>
            </a:endParaRPr>
          </a:p>
        </p:txBody>
      </p:sp>
    </p:spTree>
    <p:extLst>
      <p:ext uri="{BB962C8B-B14F-4D97-AF65-F5344CB8AC3E}">
        <p14:creationId xmlns:p14="http://schemas.microsoft.com/office/powerpoint/2010/main" val="721122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p>
            <a:fld id="{320BD554-BD7E-4943-A37F-0C0EF73F2870}" type="slidenum">
              <a:rPr lang="en-US" smtClean="0"/>
              <a:pPr/>
              <a:t>12</a:t>
            </a:fld>
            <a:endParaRPr lang="en-US" dirty="0" smtClean="0"/>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p:spPr>
        <p:txBody>
          <a:bodyPr/>
          <a:lstStyle/>
          <a:p>
            <a:pPr eaLnBrk="1" hangingPunct="1"/>
            <a:endParaRPr lang="en-US" dirty="0" smtClean="0">
              <a:latin typeface="Helvetica 65 Medium"/>
              <a:cs typeface="Arial" pitchFamily="34" charset="0"/>
            </a:endParaRPr>
          </a:p>
        </p:txBody>
      </p:sp>
    </p:spTree>
    <p:extLst>
      <p:ext uri="{BB962C8B-B14F-4D97-AF65-F5344CB8AC3E}">
        <p14:creationId xmlns:p14="http://schemas.microsoft.com/office/powerpoint/2010/main" val="21340287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p>
            <a:fld id="{320BD554-BD7E-4943-A37F-0C0EF73F2870}" type="slidenum">
              <a:rPr lang="en-US" smtClean="0"/>
              <a:pPr/>
              <a:t>19</a:t>
            </a:fld>
            <a:endParaRPr lang="en-US" dirty="0" smtClean="0"/>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p:spPr>
        <p:txBody>
          <a:bodyPr/>
          <a:lstStyle/>
          <a:p>
            <a:pPr eaLnBrk="1" hangingPunct="1"/>
            <a:endParaRPr lang="en-US" dirty="0" smtClean="0">
              <a:latin typeface="Helvetica 65 Medium"/>
              <a:cs typeface="Arial" pitchFamily="34" charset="0"/>
            </a:endParaRPr>
          </a:p>
        </p:txBody>
      </p:sp>
    </p:spTree>
    <p:extLst>
      <p:ext uri="{BB962C8B-B14F-4D97-AF65-F5344CB8AC3E}">
        <p14:creationId xmlns:p14="http://schemas.microsoft.com/office/powerpoint/2010/main" val="21340287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p>
            <a:fld id="{320BD554-BD7E-4943-A37F-0C0EF73F2870}" type="slidenum">
              <a:rPr lang="en-US" smtClean="0"/>
              <a:pPr/>
              <a:t>22</a:t>
            </a:fld>
            <a:endParaRPr lang="en-US" dirty="0" smtClean="0"/>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p:spPr>
        <p:txBody>
          <a:bodyPr/>
          <a:lstStyle/>
          <a:p>
            <a:pPr eaLnBrk="1" hangingPunct="1"/>
            <a:endParaRPr lang="en-US" dirty="0" smtClean="0">
              <a:latin typeface="Helvetica 65 Medium"/>
              <a:cs typeface="Arial" pitchFamily="34" charset="0"/>
            </a:endParaRPr>
          </a:p>
        </p:txBody>
      </p:sp>
    </p:spTree>
    <p:extLst>
      <p:ext uri="{BB962C8B-B14F-4D97-AF65-F5344CB8AC3E}">
        <p14:creationId xmlns:p14="http://schemas.microsoft.com/office/powerpoint/2010/main" val="721122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p>
            <a:fld id="{320BD554-BD7E-4943-A37F-0C0EF73F2870}" type="slidenum">
              <a:rPr lang="en-US" smtClean="0"/>
              <a:pPr/>
              <a:t>23</a:t>
            </a:fld>
            <a:endParaRPr lang="en-US" dirty="0" smtClean="0"/>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p:spPr>
        <p:txBody>
          <a:bodyPr/>
          <a:lstStyle/>
          <a:p>
            <a:pPr eaLnBrk="1" hangingPunct="1"/>
            <a:endParaRPr lang="en-US" dirty="0" smtClean="0">
              <a:latin typeface="Helvetica 65 Medium"/>
              <a:cs typeface="Arial" pitchFamily="34" charset="0"/>
            </a:endParaRPr>
          </a:p>
        </p:txBody>
      </p:sp>
    </p:spTree>
    <p:extLst>
      <p:ext uri="{BB962C8B-B14F-4D97-AF65-F5344CB8AC3E}">
        <p14:creationId xmlns:p14="http://schemas.microsoft.com/office/powerpoint/2010/main" val="7211229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38" name="Image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16000" y="2628508"/>
            <a:ext cx="2628000" cy="4229631"/>
          </a:xfrm>
          <a:prstGeom prst="rect">
            <a:avLst/>
          </a:prstGeom>
        </p:spPr>
      </p:pic>
      <p:pic>
        <p:nvPicPr>
          <p:cNvPr id="36" name="Imag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0800000">
            <a:off x="0" y="508"/>
            <a:ext cx="2628000" cy="4229631"/>
          </a:xfrm>
          <a:prstGeom prst="rect">
            <a:avLst/>
          </a:prstGeom>
        </p:spPr>
      </p:pic>
      <p:sp>
        <p:nvSpPr>
          <p:cNvPr id="8" name="Title 7"/>
          <p:cNvSpPr>
            <a:spLocks noGrp="1"/>
          </p:cNvSpPr>
          <p:nvPr>
            <p:ph type="ctrTitle" hasCustomPrompt="1"/>
          </p:nvPr>
        </p:nvSpPr>
        <p:spPr>
          <a:xfrm>
            <a:off x="1368000" y="2480400"/>
            <a:ext cx="6300000" cy="1267200"/>
          </a:xfrm>
          <a:prstGeom prst="rect">
            <a:avLst/>
          </a:prstGeom>
        </p:spPr>
        <p:txBody>
          <a:bodyPr lIns="90000" rIns="90000" anchor="b">
            <a:spAutoFit/>
          </a:bodyPr>
          <a:lstStyle>
            <a:lvl1pPr>
              <a:lnSpc>
                <a:spcPts val="4500"/>
              </a:lnSpc>
              <a:defRPr sz="4500" cap="all" baseline="0">
                <a:solidFill>
                  <a:schemeClr val="bg1"/>
                </a:solidFill>
              </a:defRPr>
            </a:lvl1pPr>
          </a:lstStyle>
          <a:p>
            <a:r>
              <a:rPr kumimoji="0" lang="en-US" dirty="0" smtClean="0"/>
              <a:t>Click to edit Presentation title</a:t>
            </a:r>
            <a:endParaRPr kumimoji="0" lang="en-US" dirty="0"/>
          </a:p>
        </p:txBody>
      </p:sp>
      <p:sp>
        <p:nvSpPr>
          <p:cNvPr id="9" name="Subtitle 8"/>
          <p:cNvSpPr>
            <a:spLocks noGrp="1"/>
          </p:cNvSpPr>
          <p:nvPr>
            <p:ph type="subTitle" idx="1" hasCustomPrompt="1"/>
          </p:nvPr>
        </p:nvSpPr>
        <p:spPr>
          <a:xfrm>
            <a:off x="1368000" y="3805200"/>
            <a:ext cx="6300000" cy="352800"/>
          </a:xfrm>
        </p:spPr>
        <p:txBody>
          <a:bodyPr lIns="90000" rIns="90000">
            <a:spAutoFit/>
          </a:bodyPr>
          <a:lstStyle>
            <a:lvl1pPr marL="0" indent="0" algn="l">
              <a:lnSpc>
                <a:spcPts val="2000"/>
              </a:lnSpc>
              <a:spcBef>
                <a:spcPts val="0"/>
              </a:spcBef>
              <a:buNone/>
              <a:defRPr sz="1800" baseline="0">
                <a:solidFill>
                  <a:schemeClr val="bg1"/>
                </a:solidFill>
                <a:latin typeface="+mj-l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dirty="0" smtClean="0"/>
              <a:t>Click to </a:t>
            </a:r>
            <a:r>
              <a:rPr kumimoji="0" lang="fr-FR" dirty="0" err="1" smtClean="0"/>
              <a:t>edit</a:t>
            </a:r>
            <a:r>
              <a:rPr kumimoji="0" lang="fr-FR" dirty="0" smtClean="0"/>
              <a:t> </a:t>
            </a:r>
            <a:r>
              <a:rPr kumimoji="0" lang="fr-FR" dirty="0" err="1" smtClean="0"/>
              <a:t>Subtitle</a:t>
            </a:r>
            <a:endParaRPr kumimoji="0" lang="en-US" dirty="0"/>
          </a:p>
        </p:txBody>
      </p:sp>
      <p:pic>
        <p:nvPicPr>
          <p:cNvPr id="37" name="Image 11"/>
          <p:cNvPicPr>
            <a:picLocks noChangeAspect="1"/>
          </p:cNvPicPr>
          <p:nvPr/>
        </p:nvPicPr>
        <p:blipFill>
          <a:blip r:embed="rId3" cstate="print"/>
          <a:stretch>
            <a:fillRect/>
          </a:stretch>
        </p:blipFill>
        <p:spPr>
          <a:xfrm>
            <a:off x="511200" y="432000"/>
            <a:ext cx="692307" cy="1440000"/>
          </a:xfrm>
          <a:prstGeom prst="rect">
            <a:avLst/>
          </a:prstGeom>
        </p:spPr>
      </p:pic>
      <p:sp>
        <p:nvSpPr>
          <p:cNvPr id="12" name="Date Placeholder 3"/>
          <p:cNvSpPr>
            <a:spLocks noGrp="1"/>
          </p:cNvSpPr>
          <p:nvPr>
            <p:ph type="dt" sz="half" idx="2"/>
          </p:nvPr>
        </p:nvSpPr>
        <p:spPr>
          <a:xfrm>
            <a:off x="403200" y="6411600"/>
            <a:ext cx="900000" cy="244800"/>
          </a:xfrm>
          <a:prstGeom prst="rect">
            <a:avLst/>
          </a:prstGeom>
        </p:spPr>
        <p:txBody>
          <a:bodyPr vert="horz" lIns="91440" tIns="45720" rIns="91440" bIns="45720" rtlCol="0" anchor="t" anchorCtr="0"/>
          <a:lstStyle>
            <a:lvl1pPr algn="l">
              <a:defRPr sz="1000" baseline="0">
                <a:solidFill>
                  <a:schemeClr val="bg1"/>
                </a:solidFill>
                <a:latin typeface="Arial"/>
              </a:defRPr>
            </a:lvl1pPr>
          </a:lstStyle>
          <a:p>
            <a:fld id="{768535E4-3955-413F-9D3C-D9DDE1963FF9}" type="datetime1">
              <a:rPr lang="en-GB" smtClean="0"/>
              <a:t>07/06/2017</a:t>
            </a:fld>
            <a:endParaRPr lang="en-GB" dirty="0"/>
          </a:p>
        </p:txBody>
      </p:sp>
      <p:sp>
        <p:nvSpPr>
          <p:cNvPr id="13" name="Footer Placeholder 4"/>
          <p:cNvSpPr>
            <a:spLocks noGrp="1"/>
          </p:cNvSpPr>
          <p:nvPr>
            <p:ph type="ftr" sz="quarter" idx="3"/>
          </p:nvPr>
        </p:nvSpPr>
        <p:spPr>
          <a:xfrm>
            <a:off x="1368000" y="6411600"/>
            <a:ext cx="4680000" cy="244800"/>
          </a:xfrm>
          <a:prstGeom prst="rect">
            <a:avLst/>
          </a:prstGeom>
        </p:spPr>
        <p:txBody>
          <a:bodyPr vert="horz" lIns="91440" tIns="45720" rIns="91440" bIns="45720" rtlCol="0" anchor="t" anchorCtr="0"/>
          <a:lstStyle>
            <a:lvl1pPr algn="l">
              <a:defRPr sz="1000" kern="1200" baseline="0">
                <a:solidFill>
                  <a:schemeClr val="bg1"/>
                </a:solidFill>
                <a:latin typeface="Arial"/>
              </a:defRPr>
            </a:lvl1pPr>
          </a:lstStyle>
          <a:p>
            <a:endParaRPr lang="en-GB" dirty="0"/>
          </a:p>
        </p:txBody>
      </p:sp>
      <p:pic>
        <p:nvPicPr>
          <p:cNvPr id="10" name="Imag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164000" y="6055200"/>
            <a:ext cx="1742400" cy="578821"/>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eaLnBrk="1" latinLnBrk="0" hangingPunct="1">
              <a:defRPr/>
            </a:lvl1pPr>
            <a:lvl2pPr eaLnBrk="1" latinLnBrk="0" hangingPunct="1">
              <a:defRPr/>
            </a:lvl2pPr>
            <a:lvl3pPr eaLnBrk="1" latinLnBrk="0" hangingPunct="1">
              <a:defRPr/>
            </a:lvl3pPr>
            <a:lvl4pPr eaLnBrk="1" latinLnBrk="0" hangingPunct="1">
              <a:defRPr/>
            </a:lvl4pPr>
            <a:lvl5pPr eaLnBrk="1" latinLnBrk="0" hangingPunct="1">
              <a:defRPr/>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dirty="0"/>
          </a:p>
        </p:txBody>
      </p:sp>
      <p:sp>
        <p:nvSpPr>
          <p:cNvPr id="8" name="Date Placeholder 3"/>
          <p:cNvSpPr>
            <a:spLocks noGrp="1"/>
          </p:cNvSpPr>
          <p:nvPr>
            <p:ph type="dt" sz="half" idx="2"/>
          </p:nvPr>
        </p:nvSpPr>
        <p:spPr>
          <a:xfrm>
            <a:off x="403200" y="6411600"/>
            <a:ext cx="900000" cy="244800"/>
          </a:xfrm>
          <a:prstGeom prst="rect">
            <a:avLst/>
          </a:prstGeom>
        </p:spPr>
        <p:txBody>
          <a:bodyPr vert="horz" lIns="91440" tIns="45720" rIns="91440" bIns="45720" rtlCol="0" anchor="t" anchorCtr="0"/>
          <a:lstStyle>
            <a:lvl1pPr algn="l">
              <a:defRPr sz="1000" baseline="0">
                <a:solidFill>
                  <a:srgbClr val="727272"/>
                </a:solidFill>
                <a:latin typeface="Arial"/>
              </a:defRPr>
            </a:lvl1pPr>
          </a:lstStyle>
          <a:p>
            <a:fld id="{998C901B-E87E-45FE-B420-65379E6BC032}" type="datetime1">
              <a:rPr lang="en-GB" smtClean="0"/>
              <a:t>07/06/2017</a:t>
            </a:fld>
            <a:endParaRPr lang="en-GB" dirty="0"/>
          </a:p>
        </p:txBody>
      </p:sp>
      <p:sp>
        <p:nvSpPr>
          <p:cNvPr id="9" name="Footer Placeholder 4"/>
          <p:cNvSpPr>
            <a:spLocks noGrp="1"/>
          </p:cNvSpPr>
          <p:nvPr>
            <p:ph type="ftr" sz="quarter" idx="3"/>
          </p:nvPr>
        </p:nvSpPr>
        <p:spPr>
          <a:xfrm>
            <a:off x="1368000" y="6411600"/>
            <a:ext cx="4680000" cy="244800"/>
          </a:xfrm>
          <a:prstGeom prst="rect">
            <a:avLst/>
          </a:prstGeom>
        </p:spPr>
        <p:txBody>
          <a:bodyPr vert="horz" lIns="91440" tIns="45720" rIns="91440" bIns="45720" rtlCol="0" anchor="t" anchorCtr="0"/>
          <a:lstStyle>
            <a:lvl1pPr algn="l">
              <a:defRPr sz="1000" kern="1200" baseline="0">
                <a:solidFill>
                  <a:srgbClr val="727272"/>
                </a:solidFill>
                <a:latin typeface="Arial"/>
              </a:defRPr>
            </a:lvl1pPr>
          </a:lstStyle>
          <a:p>
            <a:endParaRPr lang="en-GB" dirty="0"/>
          </a:p>
        </p:txBody>
      </p:sp>
      <p:sp>
        <p:nvSpPr>
          <p:cNvPr id="10" name="Slide Number Placeholder 5"/>
          <p:cNvSpPr>
            <a:spLocks noGrp="1"/>
          </p:cNvSpPr>
          <p:nvPr>
            <p:ph type="sldNum" sz="quarter" idx="4"/>
          </p:nvPr>
        </p:nvSpPr>
        <p:spPr>
          <a:xfrm>
            <a:off x="8640000" y="6411600"/>
            <a:ext cx="342000" cy="244800"/>
          </a:xfrm>
          <a:prstGeom prst="rect">
            <a:avLst/>
          </a:prstGeom>
        </p:spPr>
        <p:txBody>
          <a:bodyPr vert="horz" wrap="none" lIns="91440" tIns="45720" rIns="91440" bIns="45720" rtlCol="0" anchor="t" anchorCtr="0"/>
          <a:lstStyle>
            <a:lvl1pPr algn="r">
              <a:defRPr sz="1000" baseline="0">
                <a:solidFill>
                  <a:schemeClr val="bg1"/>
                </a:solidFill>
                <a:latin typeface="Arial"/>
              </a:defRPr>
            </a:lvl1pPr>
          </a:lstStyle>
          <a:p>
            <a:fld id="{FCE284C4-5ED1-4D6C-B7CC-2049C3062C5E}" type="slidenum">
              <a:rPr lang="en-GB" smtClean="0"/>
              <a:t>‹#›</a:t>
            </a:fld>
            <a:endParaRPr lang="en-GB" dirty="0"/>
          </a:p>
        </p:txBody>
      </p:sp>
      <p:sp>
        <p:nvSpPr>
          <p:cNvPr id="11" name="Title Placeholder 1"/>
          <p:cNvSpPr>
            <a:spLocks noGrp="1"/>
          </p:cNvSpPr>
          <p:nvPr>
            <p:ph type="title" hasCustomPrompt="1"/>
          </p:nvPr>
        </p:nvSpPr>
        <p:spPr>
          <a:xfrm>
            <a:off x="1080000" y="237600"/>
            <a:ext cx="7416000" cy="1022400"/>
          </a:xfrm>
          <a:prstGeom prst="rect">
            <a:avLst/>
          </a:prstGeom>
        </p:spPr>
        <p:txBody>
          <a:bodyPr vert="horz" lIns="91440" tIns="45720" rIns="91440" bIns="45720" rtlCol="0" anchor="ctr">
            <a:noAutofit/>
          </a:bodyPr>
          <a:lstStyle>
            <a:lvl1pPr>
              <a:defRPr/>
            </a:lvl1pPr>
          </a:lstStyle>
          <a:p>
            <a:r>
              <a:rPr lang="en-US" dirty="0" smtClean="0"/>
              <a:t>Click to edit Slide title</a:t>
            </a:r>
            <a:br>
              <a:rPr lang="en-US" dirty="0" smtClean="0"/>
            </a:br>
            <a:r>
              <a:rPr lang="en-US" dirty="0" smtClean="0"/>
              <a:t>Slide title can be extended to two lines</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7" name="Image 6"/>
          <p:cNvPicPr>
            <a:picLocks noChangeAspect="1"/>
          </p:cNvPicPr>
          <p:nvPr/>
        </p:nvPicPr>
        <p:blipFill>
          <a:blip r:embed="rId2" cstate="print"/>
          <a:stretch>
            <a:fillRect/>
          </a:stretch>
        </p:blipFill>
        <p:spPr>
          <a:xfrm>
            <a:off x="8193600" y="5328000"/>
            <a:ext cx="950407" cy="1530000"/>
          </a:xfrm>
          <a:prstGeom prst="rect">
            <a:avLst/>
          </a:prstGeom>
        </p:spPr>
      </p:pic>
      <p:pic>
        <p:nvPicPr>
          <p:cNvPr id="8" name="Image 7"/>
          <p:cNvPicPr>
            <a:picLocks noChangeAspect="1"/>
          </p:cNvPicPr>
          <p:nvPr/>
        </p:nvPicPr>
        <p:blipFill>
          <a:blip r:embed="rId3" cstate="print"/>
          <a:stretch>
            <a:fillRect/>
          </a:stretch>
        </p:blipFill>
        <p:spPr>
          <a:xfrm>
            <a:off x="579600" y="468000"/>
            <a:ext cx="692308" cy="1440000"/>
          </a:xfrm>
          <a:prstGeom prst="rect">
            <a:avLst/>
          </a:prstGeom>
        </p:spPr>
      </p:pic>
      <p:sp>
        <p:nvSpPr>
          <p:cNvPr id="9" name="Title 1"/>
          <p:cNvSpPr>
            <a:spLocks noGrp="1"/>
          </p:cNvSpPr>
          <p:nvPr>
            <p:ph type="title" hasCustomPrompt="1"/>
          </p:nvPr>
        </p:nvSpPr>
        <p:spPr>
          <a:xfrm>
            <a:off x="1260000" y="2928144"/>
            <a:ext cx="6624000" cy="1041311"/>
          </a:xfrm>
        </p:spPr>
        <p:txBody>
          <a:bodyPr anchor="ctr" anchorCtr="0">
            <a:spAutoFit/>
          </a:bodyPr>
          <a:lstStyle>
            <a:lvl1pPr algn="ctr">
              <a:lnSpc>
                <a:spcPts val="3700"/>
              </a:lnSpc>
              <a:defRPr sz="3700" b="0" i="0" cap="all" baseline="0">
                <a:solidFill>
                  <a:schemeClr val="bg1"/>
                </a:solidFill>
              </a:defRPr>
            </a:lvl1pPr>
          </a:lstStyle>
          <a:p>
            <a:r>
              <a:rPr lang="en-US" dirty="0" smtClean="0"/>
              <a:t>Click to edit Section Header title</a:t>
            </a:r>
            <a:endParaRPr lang="en-US" dirty="0"/>
          </a:p>
        </p:txBody>
      </p:sp>
      <p:sp>
        <p:nvSpPr>
          <p:cNvPr id="10" name="Date Placeholder 3"/>
          <p:cNvSpPr>
            <a:spLocks noGrp="1"/>
          </p:cNvSpPr>
          <p:nvPr>
            <p:ph type="dt" sz="half" idx="2"/>
          </p:nvPr>
        </p:nvSpPr>
        <p:spPr>
          <a:xfrm>
            <a:off x="403200" y="6411600"/>
            <a:ext cx="900000" cy="244800"/>
          </a:xfrm>
          <a:prstGeom prst="rect">
            <a:avLst/>
          </a:prstGeom>
        </p:spPr>
        <p:txBody>
          <a:bodyPr vert="horz" lIns="91440" tIns="45720" rIns="91440" bIns="45720" rtlCol="0" anchor="t" anchorCtr="0"/>
          <a:lstStyle>
            <a:lvl1pPr algn="l">
              <a:defRPr sz="1000" baseline="0">
                <a:solidFill>
                  <a:schemeClr val="bg1"/>
                </a:solidFill>
                <a:latin typeface="Arial"/>
              </a:defRPr>
            </a:lvl1pPr>
          </a:lstStyle>
          <a:p>
            <a:fld id="{A2B785B9-06B0-42D9-9A9B-49D01274C45E}" type="datetime1">
              <a:rPr lang="en-GB" smtClean="0"/>
              <a:t>07/06/2017</a:t>
            </a:fld>
            <a:endParaRPr lang="en-GB" dirty="0"/>
          </a:p>
        </p:txBody>
      </p:sp>
      <p:sp>
        <p:nvSpPr>
          <p:cNvPr id="11" name="Footer Placeholder 4"/>
          <p:cNvSpPr>
            <a:spLocks noGrp="1"/>
          </p:cNvSpPr>
          <p:nvPr>
            <p:ph type="ftr" sz="quarter" idx="3"/>
          </p:nvPr>
        </p:nvSpPr>
        <p:spPr>
          <a:xfrm>
            <a:off x="1368000" y="6411600"/>
            <a:ext cx="4680000" cy="244800"/>
          </a:xfrm>
          <a:prstGeom prst="rect">
            <a:avLst/>
          </a:prstGeom>
        </p:spPr>
        <p:txBody>
          <a:bodyPr vert="horz" lIns="91440" tIns="45720" rIns="91440" bIns="45720" rtlCol="0" anchor="t" anchorCtr="0"/>
          <a:lstStyle>
            <a:lvl1pPr algn="l">
              <a:defRPr sz="1000" kern="1200" baseline="0">
                <a:solidFill>
                  <a:schemeClr val="bg1"/>
                </a:solidFill>
                <a:latin typeface="Arial"/>
              </a:defRPr>
            </a:lvl1pPr>
          </a:lstStyle>
          <a:p>
            <a:endParaRPr lang="en-GB" dirty="0"/>
          </a:p>
        </p:txBody>
      </p:sp>
      <p:sp>
        <p:nvSpPr>
          <p:cNvPr id="12" name="Slide Number Placeholder 5"/>
          <p:cNvSpPr>
            <a:spLocks noGrp="1"/>
          </p:cNvSpPr>
          <p:nvPr>
            <p:ph type="sldNum" sz="quarter" idx="4"/>
          </p:nvPr>
        </p:nvSpPr>
        <p:spPr>
          <a:xfrm>
            <a:off x="8640000" y="6411600"/>
            <a:ext cx="342000" cy="244800"/>
          </a:xfrm>
          <a:prstGeom prst="rect">
            <a:avLst/>
          </a:prstGeom>
        </p:spPr>
        <p:txBody>
          <a:bodyPr vert="horz" wrap="none" lIns="91440" tIns="45720" rIns="91440" bIns="45720" rtlCol="0" anchor="t" anchorCtr="0"/>
          <a:lstStyle>
            <a:lvl1pPr algn="r">
              <a:defRPr sz="1000" baseline="0">
                <a:solidFill>
                  <a:schemeClr val="tx2"/>
                </a:solidFill>
                <a:latin typeface="Arial"/>
              </a:defRPr>
            </a:lvl1pPr>
          </a:lstStyle>
          <a:p>
            <a:fld id="{FCE284C4-5ED1-4D6C-B7CC-2049C3062C5E}" type="slidenum">
              <a:rPr lang="en-GB" smtClean="0"/>
              <a:t>‹#›</a:t>
            </a:fld>
            <a:endParaRPr lang="en-GB"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32FEDD-5D26-4597-93F8-43A13583B74D}" type="datetime1">
              <a:rPr lang="en-GB" smtClean="0"/>
              <a:t>07/06/2017</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FCE284C4-5ED1-4D6C-B7CC-2049C3062C5E}" type="slidenum">
              <a:rPr lang="en-GB" smtClean="0"/>
              <a:t>‹#›</a:t>
            </a:fld>
            <a:endParaRPr lang="en-GB" dirty="0"/>
          </a:p>
        </p:txBody>
      </p:sp>
    </p:spTree>
    <p:extLst>
      <p:ext uri="{BB962C8B-B14F-4D97-AF65-F5344CB8AC3E}">
        <p14:creationId xmlns:p14="http://schemas.microsoft.com/office/powerpoint/2010/main" val="409363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tx2"/>
        </a:solidFill>
        <a:effectLst/>
      </p:bgPr>
    </p:bg>
    <p:spTree>
      <p:nvGrpSpPr>
        <p:cNvPr id="1" name=""/>
        <p:cNvGrpSpPr/>
        <p:nvPr/>
      </p:nvGrpSpPr>
      <p:grpSpPr>
        <a:xfrm>
          <a:off x="0" y="0"/>
          <a:ext cx="0" cy="0"/>
          <a:chOff x="0" y="0"/>
          <a:chExt cx="0" cy="0"/>
        </a:xfrm>
      </p:grpSpPr>
      <p:pic>
        <p:nvPicPr>
          <p:cNvPr id="38" name="Image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16000" y="2628508"/>
            <a:ext cx="2628000" cy="4229631"/>
          </a:xfrm>
          <a:prstGeom prst="rect">
            <a:avLst/>
          </a:prstGeom>
        </p:spPr>
      </p:pic>
      <p:pic>
        <p:nvPicPr>
          <p:cNvPr id="36" name="Imag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0800000">
            <a:off x="0" y="508"/>
            <a:ext cx="2628000" cy="4229631"/>
          </a:xfrm>
          <a:prstGeom prst="rect">
            <a:avLst/>
          </a:prstGeom>
        </p:spPr>
      </p:pic>
      <p:sp>
        <p:nvSpPr>
          <p:cNvPr id="8" name="Title 7"/>
          <p:cNvSpPr>
            <a:spLocks noGrp="1"/>
          </p:cNvSpPr>
          <p:nvPr>
            <p:ph type="ctrTitle" hasCustomPrompt="1"/>
          </p:nvPr>
        </p:nvSpPr>
        <p:spPr>
          <a:xfrm>
            <a:off x="1368000" y="2480400"/>
            <a:ext cx="6300000" cy="1267200"/>
          </a:xfrm>
          <a:prstGeom prst="rect">
            <a:avLst/>
          </a:prstGeom>
        </p:spPr>
        <p:txBody>
          <a:bodyPr lIns="90000" rIns="90000" anchor="b">
            <a:spAutoFit/>
          </a:bodyPr>
          <a:lstStyle>
            <a:lvl1pPr>
              <a:lnSpc>
                <a:spcPts val="4500"/>
              </a:lnSpc>
              <a:defRPr sz="4500" cap="all" baseline="0">
                <a:solidFill>
                  <a:schemeClr val="bg1"/>
                </a:solidFill>
              </a:defRPr>
            </a:lvl1pPr>
          </a:lstStyle>
          <a:p>
            <a:r>
              <a:rPr kumimoji="0" lang="en-US" dirty="0" smtClean="0"/>
              <a:t>Click to edit Presentation title</a:t>
            </a:r>
            <a:endParaRPr kumimoji="0" lang="en-US" dirty="0"/>
          </a:p>
        </p:txBody>
      </p:sp>
      <p:sp>
        <p:nvSpPr>
          <p:cNvPr id="9" name="Subtitle 8"/>
          <p:cNvSpPr>
            <a:spLocks noGrp="1"/>
          </p:cNvSpPr>
          <p:nvPr>
            <p:ph type="subTitle" idx="1" hasCustomPrompt="1"/>
          </p:nvPr>
        </p:nvSpPr>
        <p:spPr>
          <a:xfrm>
            <a:off x="1368000" y="3805200"/>
            <a:ext cx="6300000" cy="352800"/>
          </a:xfrm>
        </p:spPr>
        <p:txBody>
          <a:bodyPr lIns="90000" rIns="90000">
            <a:spAutoFit/>
          </a:bodyPr>
          <a:lstStyle>
            <a:lvl1pPr marL="0" indent="0" algn="l">
              <a:lnSpc>
                <a:spcPts val="2000"/>
              </a:lnSpc>
              <a:spcBef>
                <a:spcPts val="0"/>
              </a:spcBef>
              <a:buNone/>
              <a:defRPr sz="1800" baseline="0">
                <a:solidFill>
                  <a:schemeClr val="bg1"/>
                </a:solidFill>
                <a:latin typeface="+mj-l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dirty="0" smtClean="0"/>
              <a:t>Click to </a:t>
            </a:r>
            <a:r>
              <a:rPr kumimoji="0" lang="fr-FR" dirty="0" err="1" smtClean="0"/>
              <a:t>edit</a:t>
            </a:r>
            <a:r>
              <a:rPr kumimoji="0" lang="fr-FR" dirty="0" smtClean="0"/>
              <a:t> </a:t>
            </a:r>
            <a:r>
              <a:rPr kumimoji="0" lang="fr-FR" dirty="0" err="1" smtClean="0"/>
              <a:t>Subtitle</a:t>
            </a:r>
            <a:endParaRPr kumimoji="0" lang="en-US" dirty="0"/>
          </a:p>
        </p:txBody>
      </p:sp>
      <p:pic>
        <p:nvPicPr>
          <p:cNvPr id="37" name="Image 11"/>
          <p:cNvPicPr>
            <a:picLocks noChangeAspect="1"/>
          </p:cNvPicPr>
          <p:nvPr/>
        </p:nvPicPr>
        <p:blipFill>
          <a:blip r:embed="rId3" cstate="print"/>
          <a:stretch>
            <a:fillRect/>
          </a:stretch>
        </p:blipFill>
        <p:spPr>
          <a:xfrm>
            <a:off x="511200" y="432000"/>
            <a:ext cx="692307" cy="1440000"/>
          </a:xfrm>
          <a:prstGeom prst="rect">
            <a:avLst/>
          </a:prstGeom>
        </p:spPr>
      </p:pic>
      <p:sp>
        <p:nvSpPr>
          <p:cNvPr id="12" name="Date Placeholder 3"/>
          <p:cNvSpPr>
            <a:spLocks noGrp="1"/>
          </p:cNvSpPr>
          <p:nvPr>
            <p:ph type="dt" sz="half" idx="2"/>
          </p:nvPr>
        </p:nvSpPr>
        <p:spPr>
          <a:xfrm>
            <a:off x="403200" y="6411600"/>
            <a:ext cx="900000" cy="244800"/>
          </a:xfrm>
          <a:prstGeom prst="rect">
            <a:avLst/>
          </a:prstGeom>
        </p:spPr>
        <p:txBody>
          <a:bodyPr vert="horz" lIns="91440" tIns="45720" rIns="91440" bIns="45720" rtlCol="0" anchor="t" anchorCtr="0"/>
          <a:lstStyle>
            <a:lvl1pPr algn="l">
              <a:defRPr sz="1000" baseline="0">
                <a:solidFill>
                  <a:schemeClr val="bg1"/>
                </a:solidFill>
                <a:latin typeface="Arial"/>
              </a:defRPr>
            </a:lvl1pPr>
          </a:lstStyle>
          <a:p>
            <a:fld id="{768535E4-3955-413F-9D3C-D9DDE1963FF9}" type="datetime1">
              <a:rPr lang="en-GB" smtClean="0">
                <a:solidFill>
                  <a:prstClr val="white"/>
                </a:solidFill>
              </a:rPr>
              <a:pPr/>
              <a:t>07/06/2017</a:t>
            </a:fld>
            <a:endParaRPr lang="en-GB" dirty="0">
              <a:solidFill>
                <a:prstClr val="white"/>
              </a:solidFill>
            </a:endParaRPr>
          </a:p>
        </p:txBody>
      </p:sp>
      <p:sp>
        <p:nvSpPr>
          <p:cNvPr id="13" name="Footer Placeholder 4"/>
          <p:cNvSpPr>
            <a:spLocks noGrp="1"/>
          </p:cNvSpPr>
          <p:nvPr>
            <p:ph type="ftr" sz="quarter" idx="3"/>
          </p:nvPr>
        </p:nvSpPr>
        <p:spPr>
          <a:xfrm>
            <a:off x="1368000" y="6411600"/>
            <a:ext cx="4680000" cy="244800"/>
          </a:xfrm>
          <a:prstGeom prst="rect">
            <a:avLst/>
          </a:prstGeom>
        </p:spPr>
        <p:txBody>
          <a:bodyPr vert="horz" lIns="91440" tIns="45720" rIns="91440" bIns="45720" rtlCol="0" anchor="t" anchorCtr="0"/>
          <a:lstStyle>
            <a:lvl1pPr algn="l">
              <a:defRPr sz="1000" kern="1200" baseline="0">
                <a:solidFill>
                  <a:schemeClr val="bg1"/>
                </a:solidFill>
                <a:latin typeface="Arial"/>
              </a:defRPr>
            </a:lvl1pPr>
          </a:lstStyle>
          <a:p>
            <a:endParaRPr lang="en-GB" dirty="0">
              <a:solidFill>
                <a:prstClr val="white"/>
              </a:solidFill>
            </a:endParaRPr>
          </a:p>
        </p:txBody>
      </p:sp>
      <p:pic>
        <p:nvPicPr>
          <p:cNvPr id="10" name="Imag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164000" y="6055200"/>
            <a:ext cx="1742400" cy="578821"/>
          </a:xfrm>
          <a:prstGeom prst="rect">
            <a:avLst/>
          </a:prstGeom>
        </p:spPr>
      </p:pic>
    </p:spTree>
    <p:extLst>
      <p:ext uri="{BB962C8B-B14F-4D97-AF65-F5344CB8AC3E}">
        <p14:creationId xmlns:p14="http://schemas.microsoft.com/office/powerpoint/2010/main" val="3187463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eaLnBrk="1" latinLnBrk="0" hangingPunct="1">
              <a:defRPr/>
            </a:lvl1pPr>
            <a:lvl2pPr eaLnBrk="1" latinLnBrk="0" hangingPunct="1">
              <a:defRPr/>
            </a:lvl2pPr>
            <a:lvl3pPr eaLnBrk="1" latinLnBrk="0" hangingPunct="1">
              <a:defRPr/>
            </a:lvl3pPr>
            <a:lvl4pPr eaLnBrk="1" latinLnBrk="0" hangingPunct="1">
              <a:defRPr/>
            </a:lvl4pPr>
            <a:lvl5pPr eaLnBrk="1" latinLnBrk="0" hangingPunct="1">
              <a:defRPr/>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dirty="0"/>
          </a:p>
        </p:txBody>
      </p:sp>
      <p:sp>
        <p:nvSpPr>
          <p:cNvPr id="8" name="Date Placeholder 3"/>
          <p:cNvSpPr>
            <a:spLocks noGrp="1"/>
          </p:cNvSpPr>
          <p:nvPr>
            <p:ph type="dt" sz="half" idx="2"/>
          </p:nvPr>
        </p:nvSpPr>
        <p:spPr>
          <a:xfrm>
            <a:off x="403200" y="6411600"/>
            <a:ext cx="900000" cy="244800"/>
          </a:xfrm>
          <a:prstGeom prst="rect">
            <a:avLst/>
          </a:prstGeom>
        </p:spPr>
        <p:txBody>
          <a:bodyPr vert="horz" lIns="91440" tIns="45720" rIns="91440" bIns="45720" rtlCol="0" anchor="t" anchorCtr="0"/>
          <a:lstStyle>
            <a:lvl1pPr algn="l">
              <a:defRPr sz="1000" baseline="0">
                <a:solidFill>
                  <a:srgbClr val="727272"/>
                </a:solidFill>
                <a:latin typeface="Arial"/>
              </a:defRPr>
            </a:lvl1pPr>
          </a:lstStyle>
          <a:p>
            <a:fld id="{998C901B-E87E-45FE-B420-65379E6BC032}" type="datetime1">
              <a:rPr lang="en-GB" smtClean="0"/>
              <a:pPr/>
              <a:t>07/06/2017</a:t>
            </a:fld>
            <a:endParaRPr lang="en-GB" dirty="0"/>
          </a:p>
        </p:txBody>
      </p:sp>
      <p:sp>
        <p:nvSpPr>
          <p:cNvPr id="9" name="Footer Placeholder 4"/>
          <p:cNvSpPr>
            <a:spLocks noGrp="1"/>
          </p:cNvSpPr>
          <p:nvPr>
            <p:ph type="ftr" sz="quarter" idx="3"/>
          </p:nvPr>
        </p:nvSpPr>
        <p:spPr>
          <a:xfrm>
            <a:off x="1368000" y="6411600"/>
            <a:ext cx="4680000" cy="244800"/>
          </a:xfrm>
          <a:prstGeom prst="rect">
            <a:avLst/>
          </a:prstGeom>
        </p:spPr>
        <p:txBody>
          <a:bodyPr vert="horz" lIns="91440" tIns="45720" rIns="91440" bIns="45720" rtlCol="0" anchor="t" anchorCtr="0"/>
          <a:lstStyle>
            <a:lvl1pPr algn="l">
              <a:defRPr sz="1000" kern="1200" baseline="0">
                <a:solidFill>
                  <a:srgbClr val="727272"/>
                </a:solidFill>
                <a:latin typeface="Arial"/>
              </a:defRPr>
            </a:lvl1pPr>
          </a:lstStyle>
          <a:p>
            <a:endParaRPr lang="en-GB" dirty="0"/>
          </a:p>
        </p:txBody>
      </p:sp>
      <p:sp>
        <p:nvSpPr>
          <p:cNvPr id="10" name="Slide Number Placeholder 5"/>
          <p:cNvSpPr>
            <a:spLocks noGrp="1"/>
          </p:cNvSpPr>
          <p:nvPr>
            <p:ph type="sldNum" sz="quarter" idx="4"/>
          </p:nvPr>
        </p:nvSpPr>
        <p:spPr>
          <a:xfrm>
            <a:off x="8640000" y="6411600"/>
            <a:ext cx="342000" cy="244800"/>
          </a:xfrm>
          <a:prstGeom prst="rect">
            <a:avLst/>
          </a:prstGeom>
        </p:spPr>
        <p:txBody>
          <a:bodyPr vert="horz" wrap="none" lIns="91440" tIns="45720" rIns="91440" bIns="45720" rtlCol="0" anchor="t" anchorCtr="0"/>
          <a:lstStyle>
            <a:lvl1pPr algn="r">
              <a:defRPr sz="1000" baseline="0">
                <a:solidFill>
                  <a:schemeClr val="bg1"/>
                </a:solidFill>
                <a:latin typeface="Arial"/>
              </a:defRPr>
            </a:lvl1pPr>
          </a:lstStyle>
          <a:p>
            <a:fld id="{FCE284C4-5ED1-4D6C-B7CC-2049C3062C5E}" type="slidenum">
              <a:rPr lang="en-GB" smtClean="0">
                <a:solidFill>
                  <a:prstClr val="white"/>
                </a:solidFill>
              </a:rPr>
              <a:pPr/>
              <a:t>‹#›</a:t>
            </a:fld>
            <a:endParaRPr lang="en-GB" dirty="0">
              <a:solidFill>
                <a:prstClr val="white"/>
              </a:solidFill>
            </a:endParaRPr>
          </a:p>
        </p:txBody>
      </p:sp>
      <p:sp>
        <p:nvSpPr>
          <p:cNvPr id="11" name="Title Placeholder 1"/>
          <p:cNvSpPr>
            <a:spLocks noGrp="1"/>
          </p:cNvSpPr>
          <p:nvPr>
            <p:ph type="title" hasCustomPrompt="1"/>
          </p:nvPr>
        </p:nvSpPr>
        <p:spPr>
          <a:xfrm>
            <a:off x="1080000" y="237600"/>
            <a:ext cx="7416000" cy="1022400"/>
          </a:xfrm>
          <a:prstGeom prst="rect">
            <a:avLst/>
          </a:prstGeom>
        </p:spPr>
        <p:txBody>
          <a:bodyPr vert="horz" lIns="91440" tIns="45720" rIns="91440" bIns="45720" rtlCol="0" anchor="ctr">
            <a:noAutofit/>
          </a:bodyPr>
          <a:lstStyle>
            <a:lvl1pPr>
              <a:defRPr/>
            </a:lvl1pPr>
          </a:lstStyle>
          <a:p>
            <a:r>
              <a:rPr lang="en-US" dirty="0" smtClean="0"/>
              <a:t>Click to edit Slide title</a:t>
            </a:r>
            <a:br>
              <a:rPr lang="en-US" dirty="0" smtClean="0"/>
            </a:br>
            <a:r>
              <a:rPr lang="en-US" dirty="0" smtClean="0"/>
              <a:t>Slide title can be extended to two lines</a:t>
            </a:r>
            <a:endParaRPr lang="en-US" dirty="0"/>
          </a:p>
        </p:txBody>
      </p:sp>
    </p:spTree>
    <p:extLst>
      <p:ext uri="{BB962C8B-B14F-4D97-AF65-F5344CB8AC3E}">
        <p14:creationId xmlns:p14="http://schemas.microsoft.com/office/powerpoint/2010/main" val="2436075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chemeClr val="tx1"/>
        </a:solidFill>
        <a:effectLst/>
      </p:bgPr>
    </p:bg>
    <p:spTree>
      <p:nvGrpSpPr>
        <p:cNvPr id="1" name=""/>
        <p:cNvGrpSpPr/>
        <p:nvPr/>
      </p:nvGrpSpPr>
      <p:grpSpPr>
        <a:xfrm>
          <a:off x="0" y="0"/>
          <a:ext cx="0" cy="0"/>
          <a:chOff x="0" y="0"/>
          <a:chExt cx="0" cy="0"/>
        </a:xfrm>
      </p:grpSpPr>
      <p:pic>
        <p:nvPicPr>
          <p:cNvPr id="7" name="Image 6"/>
          <p:cNvPicPr>
            <a:picLocks noChangeAspect="1"/>
          </p:cNvPicPr>
          <p:nvPr/>
        </p:nvPicPr>
        <p:blipFill>
          <a:blip r:embed="rId2" cstate="print"/>
          <a:stretch>
            <a:fillRect/>
          </a:stretch>
        </p:blipFill>
        <p:spPr>
          <a:xfrm>
            <a:off x="8193600" y="5328000"/>
            <a:ext cx="950407" cy="1530000"/>
          </a:xfrm>
          <a:prstGeom prst="rect">
            <a:avLst/>
          </a:prstGeom>
        </p:spPr>
      </p:pic>
      <p:pic>
        <p:nvPicPr>
          <p:cNvPr id="8" name="Image 7"/>
          <p:cNvPicPr>
            <a:picLocks noChangeAspect="1"/>
          </p:cNvPicPr>
          <p:nvPr/>
        </p:nvPicPr>
        <p:blipFill>
          <a:blip r:embed="rId3" cstate="print"/>
          <a:stretch>
            <a:fillRect/>
          </a:stretch>
        </p:blipFill>
        <p:spPr>
          <a:xfrm>
            <a:off x="579600" y="468000"/>
            <a:ext cx="692308" cy="1440000"/>
          </a:xfrm>
          <a:prstGeom prst="rect">
            <a:avLst/>
          </a:prstGeom>
        </p:spPr>
      </p:pic>
      <p:sp>
        <p:nvSpPr>
          <p:cNvPr id="9" name="Title 1"/>
          <p:cNvSpPr>
            <a:spLocks noGrp="1"/>
          </p:cNvSpPr>
          <p:nvPr>
            <p:ph type="title" hasCustomPrompt="1"/>
          </p:nvPr>
        </p:nvSpPr>
        <p:spPr>
          <a:xfrm>
            <a:off x="1260000" y="2928144"/>
            <a:ext cx="6624000" cy="1041311"/>
          </a:xfrm>
        </p:spPr>
        <p:txBody>
          <a:bodyPr anchor="ctr" anchorCtr="0">
            <a:spAutoFit/>
          </a:bodyPr>
          <a:lstStyle>
            <a:lvl1pPr algn="ctr">
              <a:lnSpc>
                <a:spcPts val="3700"/>
              </a:lnSpc>
              <a:defRPr sz="3700" b="0" i="0" cap="all" baseline="0">
                <a:solidFill>
                  <a:schemeClr val="bg1"/>
                </a:solidFill>
              </a:defRPr>
            </a:lvl1pPr>
          </a:lstStyle>
          <a:p>
            <a:r>
              <a:rPr lang="en-US" dirty="0" smtClean="0"/>
              <a:t>Click to edit Section Header title</a:t>
            </a:r>
            <a:endParaRPr lang="en-US" dirty="0"/>
          </a:p>
        </p:txBody>
      </p:sp>
      <p:sp>
        <p:nvSpPr>
          <p:cNvPr id="10" name="Date Placeholder 3"/>
          <p:cNvSpPr>
            <a:spLocks noGrp="1"/>
          </p:cNvSpPr>
          <p:nvPr>
            <p:ph type="dt" sz="half" idx="2"/>
          </p:nvPr>
        </p:nvSpPr>
        <p:spPr>
          <a:xfrm>
            <a:off x="403200" y="6411600"/>
            <a:ext cx="900000" cy="244800"/>
          </a:xfrm>
          <a:prstGeom prst="rect">
            <a:avLst/>
          </a:prstGeom>
        </p:spPr>
        <p:txBody>
          <a:bodyPr vert="horz" lIns="91440" tIns="45720" rIns="91440" bIns="45720" rtlCol="0" anchor="t" anchorCtr="0"/>
          <a:lstStyle>
            <a:lvl1pPr algn="l">
              <a:defRPr sz="1000" baseline="0">
                <a:solidFill>
                  <a:schemeClr val="bg1"/>
                </a:solidFill>
                <a:latin typeface="Arial"/>
              </a:defRPr>
            </a:lvl1pPr>
          </a:lstStyle>
          <a:p>
            <a:fld id="{A2B785B9-06B0-42D9-9A9B-49D01274C45E}" type="datetime1">
              <a:rPr lang="en-GB" smtClean="0">
                <a:solidFill>
                  <a:prstClr val="white"/>
                </a:solidFill>
              </a:rPr>
              <a:pPr/>
              <a:t>07/06/2017</a:t>
            </a:fld>
            <a:endParaRPr lang="en-GB" dirty="0">
              <a:solidFill>
                <a:prstClr val="white"/>
              </a:solidFill>
            </a:endParaRPr>
          </a:p>
        </p:txBody>
      </p:sp>
      <p:sp>
        <p:nvSpPr>
          <p:cNvPr id="11" name="Footer Placeholder 4"/>
          <p:cNvSpPr>
            <a:spLocks noGrp="1"/>
          </p:cNvSpPr>
          <p:nvPr>
            <p:ph type="ftr" sz="quarter" idx="3"/>
          </p:nvPr>
        </p:nvSpPr>
        <p:spPr>
          <a:xfrm>
            <a:off x="1368000" y="6411600"/>
            <a:ext cx="4680000" cy="244800"/>
          </a:xfrm>
          <a:prstGeom prst="rect">
            <a:avLst/>
          </a:prstGeom>
        </p:spPr>
        <p:txBody>
          <a:bodyPr vert="horz" lIns="91440" tIns="45720" rIns="91440" bIns="45720" rtlCol="0" anchor="t" anchorCtr="0"/>
          <a:lstStyle>
            <a:lvl1pPr algn="l">
              <a:defRPr sz="1000" kern="1200" baseline="0">
                <a:solidFill>
                  <a:schemeClr val="bg1"/>
                </a:solidFill>
                <a:latin typeface="Arial"/>
              </a:defRPr>
            </a:lvl1pPr>
          </a:lstStyle>
          <a:p>
            <a:endParaRPr lang="en-GB" dirty="0">
              <a:solidFill>
                <a:prstClr val="white"/>
              </a:solidFill>
            </a:endParaRPr>
          </a:p>
        </p:txBody>
      </p:sp>
      <p:sp>
        <p:nvSpPr>
          <p:cNvPr id="12" name="Slide Number Placeholder 5"/>
          <p:cNvSpPr>
            <a:spLocks noGrp="1"/>
          </p:cNvSpPr>
          <p:nvPr>
            <p:ph type="sldNum" sz="quarter" idx="4"/>
          </p:nvPr>
        </p:nvSpPr>
        <p:spPr>
          <a:xfrm>
            <a:off x="8640000" y="6411600"/>
            <a:ext cx="342000" cy="244800"/>
          </a:xfrm>
          <a:prstGeom prst="rect">
            <a:avLst/>
          </a:prstGeom>
        </p:spPr>
        <p:txBody>
          <a:bodyPr vert="horz" wrap="none" lIns="91440" tIns="45720" rIns="91440" bIns="45720" rtlCol="0" anchor="t" anchorCtr="0"/>
          <a:lstStyle>
            <a:lvl1pPr algn="r">
              <a:defRPr sz="1000" baseline="0">
                <a:solidFill>
                  <a:schemeClr val="tx2"/>
                </a:solidFill>
                <a:latin typeface="Arial"/>
              </a:defRPr>
            </a:lvl1pPr>
          </a:lstStyle>
          <a:p>
            <a:fld id="{FCE284C4-5ED1-4D6C-B7CC-2049C3062C5E}" type="slidenum">
              <a:rPr lang="en-GB" smtClean="0">
                <a:solidFill>
                  <a:srgbClr val="006299"/>
                </a:solidFill>
              </a:rPr>
              <a:pPr/>
              <a:t>‹#›</a:t>
            </a:fld>
            <a:endParaRPr lang="en-GB" dirty="0">
              <a:solidFill>
                <a:srgbClr val="006299"/>
              </a:solidFill>
            </a:endParaRPr>
          </a:p>
        </p:txBody>
      </p:sp>
    </p:spTree>
    <p:extLst>
      <p:ext uri="{BB962C8B-B14F-4D97-AF65-F5344CB8AC3E}">
        <p14:creationId xmlns:p14="http://schemas.microsoft.com/office/powerpoint/2010/main" val="2915752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32FEDD-5D26-4597-93F8-43A13583B74D}" type="datetime1">
              <a:rPr lang="en-GB" smtClean="0"/>
              <a:pPr/>
              <a:t>07/06/2017</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FCE284C4-5ED1-4D6C-B7CC-2049C3062C5E}" type="slidenum">
              <a:rPr lang="en-GB" smtClean="0">
                <a:solidFill>
                  <a:prstClr val="white"/>
                </a:solidFill>
              </a:rPr>
              <a:pPr/>
              <a:t>‹#›</a:t>
            </a:fld>
            <a:endParaRPr lang="en-GB" dirty="0">
              <a:solidFill>
                <a:prstClr val="white"/>
              </a:solidFill>
            </a:endParaRPr>
          </a:p>
        </p:txBody>
      </p:sp>
    </p:spTree>
    <p:extLst>
      <p:ext uri="{BB962C8B-B14F-4D97-AF65-F5344CB8AC3E}">
        <p14:creationId xmlns:p14="http://schemas.microsoft.com/office/powerpoint/2010/main" val="1154682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Titre et contenu">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lvl1pPr eaLnBrk="1" latinLnBrk="0" hangingPunct="1">
              <a:defRPr/>
            </a:lvl1pPr>
            <a:lvl2pPr eaLnBrk="1" latinLnBrk="0" hangingPunct="1">
              <a:defRPr/>
            </a:lvl2pPr>
            <a:lvl3pPr eaLnBrk="1" latinLnBrk="0" hangingPunct="1">
              <a:defRPr/>
            </a:lvl3pPr>
            <a:lvl4pPr eaLnBrk="1" latinLnBrk="0" hangingPunct="1">
              <a:defRPr/>
            </a:lvl4pPr>
            <a:lvl5pPr eaLnBrk="1" latinLnBrk="0" hangingPunct="1">
              <a:defRPr/>
            </a:lvl5pPr>
          </a:lstStyle>
          <a:p>
            <a:pPr lvl="0" eaLnBrk="1" latinLnBrk="0" hangingPunct="1"/>
            <a:r>
              <a:rPr lang="fr-FR" dirty="0" smtClean="0"/>
              <a:t>Cliquez pour modifier les styles du texte du masque</a:t>
            </a:r>
            <a:endParaRPr lang="en-US" dirty="0" smtClean="0"/>
          </a:p>
          <a:p>
            <a:pPr lvl="1" eaLnBrk="1" latinLnBrk="0" hangingPunct="1"/>
            <a:r>
              <a:rPr lang="en-US" dirty="0" err="1" smtClean="0"/>
              <a:t>Deuxième</a:t>
            </a:r>
            <a:r>
              <a:rPr lang="en-US" dirty="0" smtClean="0"/>
              <a:t> </a:t>
            </a:r>
            <a:r>
              <a:rPr lang="en-US" dirty="0" err="1" smtClean="0"/>
              <a:t>niveau</a:t>
            </a:r>
            <a:endParaRPr lang="en-US" dirty="0" smtClean="0"/>
          </a:p>
          <a:p>
            <a:pPr lvl="2" eaLnBrk="1" latinLnBrk="0" hangingPunct="1"/>
            <a:r>
              <a:rPr lang="en-US" dirty="0" err="1" smtClean="0"/>
              <a:t>Troisième</a:t>
            </a:r>
            <a:r>
              <a:rPr lang="en-US" dirty="0" smtClean="0"/>
              <a:t> </a:t>
            </a:r>
            <a:r>
              <a:rPr lang="en-US" dirty="0" err="1" smtClean="0"/>
              <a:t>niveau</a:t>
            </a:r>
            <a:endParaRPr lang="en-US" dirty="0" smtClean="0"/>
          </a:p>
          <a:p>
            <a:pPr lvl="3" eaLnBrk="1" latinLnBrk="0" hangingPunct="1"/>
            <a:r>
              <a:rPr lang="en-US" dirty="0" err="1" smtClean="0"/>
              <a:t>Quatrième</a:t>
            </a:r>
            <a:r>
              <a:rPr lang="en-US" dirty="0" smtClean="0"/>
              <a:t> </a:t>
            </a:r>
            <a:r>
              <a:rPr lang="en-US" dirty="0" err="1" smtClean="0"/>
              <a:t>niveau</a:t>
            </a:r>
            <a:endParaRPr lang="en-US" dirty="0" smtClean="0"/>
          </a:p>
          <a:p>
            <a:pPr lvl="4" eaLnBrk="1" latinLnBrk="0" hangingPunct="1"/>
            <a:r>
              <a:rPr lang="en-US" dirty="0" err="1" smtClean="0"/>
              <a:t>Cinquième</a:t>
            </a:r>
            <a:r>
              <a:rPr lang="en-US" dirty="0" smtClean="0"/>
              <a:t> </a:t>
            </a:r>
            <a:r>
              <a:rPr lang="en-US" dirty="0" err="1" smtClean="0"/>
              <a:t>niveau</a:t>
            </a:r>
            <a:endParaRPr kumimoji="0" lang="en-US" dirty="0"/>
          </a:p>
        </p:txBody>
      </p:sp>
      <p:sp>
        <p:nvSpPr>
          <p:cNvPr id="8" name="Date Placeholder 3"/>
          <p:cNvSpPr>
            <a:spLocks noGrp="1"/>
          </p:cNvSpPr>
          <p:nvPr>
            <p:ph type="dt" sz="half" idx="2"/>
          </p:nvPr>
        </p:nvSpPr>
        <p:spPr>
          <a:xfrm>
            <a:off x="403200" y="6411600"/>
            <a:ext cx="900000" cy="244800"/>
          </a:xfrm>
          <a:prstGeom prst="rect">
            <a:avLst/>
          </a:prstGeom>
        </p:spPr>
        <p:txBody>
          <a:bodyPr vert="horz" lIns="91440" tIns="45720" rIns="91440" bIns="45720" rtlCol="0" anchor="t" anchorCtr="0"/>
          <a:lstStyle>
            <a:lvl1pPr algn="l">
              <a:defRPr sz="1000" baseline="0">
                <a:solidFill>
                  <a:srgbClr val="727272"/>
                </a:solidFill>
                <a:latin typeface="Arial"/>
              </a:defRPr>
            </a:lvl1pPr>
          </a:lstStyle>
          <a:p>
            <a:endParaRPr lang="en-US" dirty="0"/>
          </a:p>
        </p:txBody>
      </p:sp>
      <p:sp>
        <p:nvSpPr>
          <p:cNvPr id="9" name="Footer Placeholder 4"/>
          <p:cNvSpPr>
            <a:spLocks noGrp="1"/>
          </p:cNvSpPr>
          <p:nvPr>
            <p:ph type="ftr" sz="quarter" idx="3"/>
          </p:nvPr>
        </p:nvSpPr>
        <p:spPr>
          <a:xfrm>
            <a:off x="1368000" y="6411600"/>
            <a:ext cx="4680000" cy="244800"/>
          </a:xfrm>
          <a:prstGeom prst="rect">
            <a:avLst/>
          </a:prstGeom>
        </p:spPr>
        <p:txBody>
          <a:bodyPr vert="horz" lIns="91440" tIns="45720" rIns="91440" bIns="45720" rtlCol="0" anchor="t" anchorCtr="0"/>
          <a:lstStyle>
            <a:lvl1pPr algn="l">
              <a:defRPr sz="1000" kern="1200" baseline="0">
                <a:solidFill>
                  <a:srgbClr val="727272"/>
                </a:solidFill>
                <a:latin typeface="Arial"/>
              </a:defRPr>
            </a:lvl1pPr>
          </a:lstStyle>
          <a:p>
            <a:endParaRPr lang="en-US" dirty="0"/>
          </a:p>
        </p:txBody>
      </p:sp>
      <p:sp>
        <p:nvSpPr>
          <p:cNvPr id="10" name="Slide Number Placeholder 5"/>
          <p:cNvSpPr>
            <a:spLocks noGrp="1"/>
          </p:cNvSpPr>
          <p:nvPr>
            <p:ph type="sldNum" sz="quarter" idx="4"/>
          </p:nvPr>
        </p:nvSpPr>
        <p:spPr>
          <a:xfrm>
            <a:off x="8640000" y="6411600"/>
            <a:ext cx="342000" cy="244800"/>
          </a:xfrm>
          <a:prstGeom prst="rect">
            <a:avLst/>
          </a:prstGeom>
        </p:spPr>
        <p:txBody>
          <a:bodyPr vert="horz" wrap="none" lIns="91440" tIns="45720" rIns="91440" bIns="45720" rtlCol="0" anchor="t" anchorCtr="0"/>
          <a:lstStyle>
            <a:lvl1pPr algn="r">
              <a:defRPr sz="1000" baseline="0">
                <a:solidFill>
                  <a:schemeClr val="bg1"/>
                </a:solidFill>
                <a:latin typeface="Arial"/>
              </a:defRPr>
            </a:lvl1pPr>
          </a:lstStyle>
          <a:p>
            <a:fld id="{58A3AF47-B4FA-4D1F-8A11-2DCF56C6D06A}" type="slidenum">
              <a:rPr lang="en-US" smtClean="0">
                <a:solidFill>
                  <a:prstClr val="white"/>
                </a:solidFill>
              </a:rPr>
              <a:pPr/>
              <a:t>‹#›</a:t>
            </a:fld>
            <a:endParaRPr lang="en-US" dirty="0">
              <a:solidFill>
                <a:prstClr val="white"/>
              </a:solidFill>
            </a:endParaRPr>
          </a:p>
        </p:txBody>
      </p:sp>
      <p:sp>
        <p:nvSpPr>
          <p:cNvPr id="11" name="Title Placeholder 1"/>
          <p:cNvSpPr>
            <a:spLocks noGrp="1"/>
          </p:cNvSpPr>
          <p:nvPr>
            <p:ph type="title" hasCustomPrompt="1"/>
          </p:nvPr>
        </p:nvSpPr>
        <p:spPr>
          <a:xfrm>
            <a:off x="1080000" y="237600"/>
            <a:ext cx="7416000" cy="1022400"/>
          </a:xfrm>
          <a:prstGeom prst="rect">
            <a:avLst/>
          </a:prstGeom>
        </p:spPr>
        <p:txBody>
          <a:bodyPr vert="horz" lIns="91440" tIns="45720" rIns="91440" bIns="45720" rtlCol="0" anchor="ctr">
            <a:noAutofit/>
          </a:bodyPr>
          <a:lstStyle/>
          <a:p>
            <a:r>
              <a:rPr lang="fr-FR" dirty="0" smtClean="0"/>
              <a:t>Cliquez pour modifier le titre</a:t>
            </a:r>
            <a:br>
              <a:rPr lang="fr-FR" dirty="0" smtClean="0"/>
            </a:br>
            <a:r>
              <a:rPr lang="fr-FR" dirty="0" smtClean="0"/>
              <a:t>Le titre peut-être étendu sur deux lignes</a:t>
            </a:r>
            <a:endParaRPr lang="en-US" dirty="0"/>
          </a:p>
        </p:txBody>
      </p:sp>
    </p:spTree>
    <p:extLst>
      <p:ext uri="{BB962C8B-B14F-4D97-AF65-F5344CB8AC3E}">
        <p14:creationId xmlns:p14="http://schemas.microsoft.com/office/powerpoint/2010/main" val="185499054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slideLayout" Target="../slideLayouts/slideLayout7.xml"/><Relationship Id="rId7" Type="http://schemas.openxmlformats.org/officeDocument/2006/relationships/image" Target="../media/image2.png"/><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theme" Target="../theme/theme2.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0"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193600" y="5328184"/>
            <a:ext cx="950407" cy="1529631"/>
          </a:xfrm>
          <a:prstGeom prst="rect">
            <a:avLst/>
          </a:prstGeom>
        </p:spPr>
      </p:pic>
      <p:sp>
        <p:nvSpPr>
          <p:cNvPr id="21" name="Rectangle 20"/>
          <p:cNvSpPr/>
          <p:nvPr/>
        </p:nvSpPr>
        <p:spPr bwMode="auto">
          <a:xfrm>
            <a:off x="504000" y="1306800"/>
            <a:ext cx="8154000" cy="0"/>
          </a:xfrm>
          <a:prstGeom prst="rect">
            <a:avLst/>
          </a:prstGeom>
          <a:noFill/>
          <a:ln w="6350" cap="flat" cmpd="sng" algn="ctr">
            <a:solidFill>
              <a:srgbClr val="727272"/>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fr-FR" sz="2000" b="0" i="0" u="none" strike="noStrike" cap="none" normalizeH="0" baseline="0" dirty="0" smtClean="0">
              <a:ln>
                <a:noFill/>
              </a:ln>
              <a:solidFill>
                <a:schemeClr val="tx1"/>
              </a:solidFill>
              <a:effectLst/>
              <a:latin typeface="Helvetica 65 Medium" pitchFamily="34" charset="0"/>
            </a:endParaRPr>
          </a:p>
        </p:txBody>
      </p:sp>
      <p:pic>
        <p:nvPicPr>
          <p:cNvPr id="24" name="Image 7"/>
          <p:cNvPicPr>
            <a:picLocks noChangeAspect="1"/>
          </p:cNvPicPr>
          <p:nvPr/>
        </p:nvPicPr>
        <p:blipFill>
          <a:blip r:embed="rId7" cstate="print"/>
          <a:stretch>
            <a:fillRect/>
          </a:stretch>
        </p:blipFill>
        <p:spPr>
          <a:xfrm>
            <a:off x="500400" y="288000"/>
            <a:ext cx="458653" cy="954000"/>
          </a:xfrm>
          <a:prstGeom prst="rect">
            <a:avLst/>
          </a:prstGeom>
        </p:spPr>
      </p:pic>
      <p:sp>
        <p:nvSpPr>
          <p:cNvPr id="13" name="Text Placeholder 12"/>
          <p:cNvSpPr>
            <a:spLocks noGrp="1"/>
          </p:cNvSpPr>
          <p:nvPr>
            <p:ph type="body" idx="1"/>
          </p:nvPr>
        </p:nvSpPr>
        <p:spPr>
          <a:xfrm>
            <a:off x="468000" y="1602000"/>
            <a:ext cx="8218800" cy="452520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dirty="0"/>
          </a:p>
        </p:txBody>
      </p:sp>
      <p:sp>
        <p:nvSpPr>
          <p:cNvPr id="25" name="Title Placeholder 1"/>
          <p:cNvSpPr>
            <a:spLocks noGrp="1"/>
          </p:cNvSpPr>
          <p:nvPr>
            <p:ph type="title"/>
          </p:nvPr>
        </p:nvSpPr>
        <p:spPr>
          <a:xfrm>
            <a:off x="1080000" y="237600"/>
            <a:ext cx="7416000" cy="1022400"/>
          </a:xfrm>
          <a:prstGeom prst="rect">
            <a:avLst/>
          </a:prstGeom>
        </p:spPr>
        <p:txBody>
          <a:bodyPr vert="horz" lIns="91440" tIns="45720" rIns="91440" bIns="45720" rtlCol="0" anchor="ctr">
            <a:noAutofit/>
          </a:bodyPr>
          <a:lstStyle/>
          <a:p>
            <a:r>
              <a:rPr lang="en-US" dirty="0" smtClean="0"/>
              <a:t>Click to edit Slide title</a:t>
            </a:r>
            <a:br>
              <a:rPr lang="en-US" dirty="0" smtClean="0"/>
            </a:br>
            <a:r>
              <a:rPr lang="en-US" dirty="0" smtClean="0"/>
              <a:t>Slide title can be extended to two lines</a:t>
            </a:r>
            <a:endParaRPr lang="en-US" dirty="0"/>
          </a:p>
        </p:txBody>
      </p:sp>
      <p:sp>
        <p:nvSpPr>
          <p:cNvPr id="26" name="Date Placeholder 3"/>
          <p:cNvSpPr>
            <a:spLocks noGrp="1"/>
          </p:cNvSpPr>
          <p:nvPr>
            <p:ph type="dt" sz="half" idx="2"/>
          </p:nvPr>
        </p:nvSpPr>
        <p:spPr>
          <a:xfrm>
            <a:off x="403200" y="6411600"/>
            <a:ext cx="900000" cy="244800"/>
          </a:xfrm>
          <a:prstGeom prst="rect">
            <a:avLst/>
          </a:prstGeom>
        </p:spPr>
        <p:txBody>
          <a:bodyPr vert="horz" lIns="91440" tIns="45720" rIns="91440" bIns="45720" rtlCol="0" anchor="t" anchorCtr="0"/>
          <a:lstStyle>
            <a:lvl1pPr algn="l">
              <a:defRPr sz="1000" baseline="0">
                <a:solidFill>
                  <a:srgbClr val="727272"/>
                </a:solidFill>
                <a:latin typeface="Arial"/>
              </a:defRPr>
            </a:lvl1pPr>
          </a:lstStyle>
          <a:p>
            <a:fld id="{B8370864-E9EA-44BF-8598-F5589D64693F}" type="datetime1">
              <a:rPr lang="en-GB" smtClean="0"/>
              <a:t>07/06/2017</a:t>
            </a:fld>
            <a:endParaRPr lang="en-GB" dirty="0"/>
          </a:p>
        </p:txBody>
      </p:sp>
      <p:sp>
        <p:nvSpPr>
          <p:cNvPr id="27" name="Footer Placeholder 4"/>
          <p:cNvSpPr>
            <a:spLocks noGrp="1"/>
          </p:cNvSpPr>
          <p:nvPr>
            <p:ph type="ftr" sz="quarter" idx="3"/>
          </p:nvPr>
        </p:nvSpPr>
        <p:spPr>
          <a:xfrm>
            <a:off x="1368000" y="6411600"/>
            <a:ext cx="4680000" cy="244800"/>
          </a:xfrm>
          <a:prstGeom prst="rect">
            <a:avLst/>
          </a:prstGeom>
        </p:spPr>
        <p:txBody>
          <a:bodyPr vert="horz" lIns="91440" tIns="45720" rIns="91440" bIns="45720" rtlCol="0" anchor="t" anchorCtr="0"/>
          <a:lstStyle>
            <a:lvl1pPr algn="l">
              <a:defRPr sz="1000" kern="1200" baseline="0">
                <a:solidFill>
                  <a:srgbClr val="727272"/>
                </a:solidFill>
                <a:latin typeface="Arial"/>
              </a:defRPr>
            </a:lvl1pPr>
          </a:lstStyle>
          <a:p>
            <a:endParaRPr lang="en-GB" dirty="0"/>
          </a:p>
        </p:txBody>
      </p:sp>
      <p:sp>
        <p:nvSpPr>
          <p:cNvPr id="41" name="Slide Number Placeholder 5"/>
          <p:cNvSpPr>
            <a:spLocks noGrp="1"/>
          </p:cNvSpPr>
          <p:nvPr>
            <p:ph type="sldNum" sz="quarter" idx="4"/>
          </p:nvPr>
        </p:nvSpPr>
        <p:spPr>
          <a:xfrm>
            <a:off x="8640000" y="6411600"/>
            <a:ext cx="342000" cy="244800"/>
          </a:xfrm>
          <a:prstGeom prst="rect">
            <a:avLst/>
          </a:prstGeom>
        </p:spPr>
        <p:txBody>
          <a:bodyPr vert="horz" wrap="none" lIns="91440" tIns="45720" rIns="91440" bIns="45720" rtlCol="0" anchor="t" anchorCtr="0"/>
          <a:lstStyle>
            <a:lvl1pPr algn="r">
              <a:defRPr sz="1000" baseline="0">
                <a:solidFill>
                  <a:schemeClr val="bg1"/>
                </a:solidFill>
                <a:latin typeface="Arial"/>
              </a:defRPr>
            </a:lvl1pPr>
          </a:lstStyle>
          <a:p>
            <a:fld id="{FCE284C4-5ED1-4D6C-B7CC-2049C3062C5E}" type="slidenum">
              <a:rPr lang="en-GB" smtClean="0"/>
              <a:t>‹#›</a:t>
            </a:fld>
            <a:endParaRPr lang="en-GB"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hf hdr="0" ftr="0" dt="0"/>
  <p:txStyles>
    <p:titleStyle>
      <a:lvl1pPr algn="l" rtl="0" eaLnBrk="1" latinLnBrk="0" hangingPunct="1">
        <a:spcBef>
          <a:spcPct val="0"/>
        </a:spcBef>
        <a:buNone/>
        <a:defRPr kumimoji="0" sz="3200" kern="1200">
          <a:solidFill>
            <a:schemeClr val="tx1"/>
          </a:solidFill>
          <a:latin typeface="+mj-lt"/>
          <a:ea typeface="+mj-ea"/>
          <a:cs typeface="+mj-cs"/>
        </a:defRPr>
      </a:lvl1pPr>
    </p:titleStyle>
    <p:bodyStyle>
      <a:lvl1pPr marL="342000" indent="-342000" algn="l" rtl="0" eaLnBrk="1" latinLnBrk="0" hangingPunct="1">
        <a:spcBef>
          <a:spcPts val="768"/>
        </a:spcBef>
        <a:buClr>
          <a:schemeClr val="tx1"/>
        </a:buClr>
        <a:buFont typeface="Arial" pitchFamily="34" charset="0"/>
        <a:buChar char="•"/>
        <a:defRPr kumimoji="0" sz="3200" kern="1200">
          <a:solidFill>
            <a:schemeClr val="tx1"/>
          </a:solidFill>
          <a:latin typeface="+mn-lt"/>
          <a:ea typeface="+mn-ea"/>
          <a:cs typeface="+mn-cs"/>
        </a:defRPr>
      </a:lvl1pPr>
      <a:lvl2pPr marL="741600" indent="-284400" algn="l" rtl="0" eaLnBrk="1" latinLnBrk="0" hangingPunct="1">
        <a:spcBef>
          <a:spcPts val="672"/>
        </a:spcBef>
        <a:buClr>
          <a:schemeClr val="tx1"/>
        </a:buClr>
        <a:buFont typeface="Arial" pitchFamily="34" charset="0"/>
        <a:buChar char="–"/>
        <a:defRPr kumimoji="0" sz="2800" kern="1200">
          <a:solidFill>
            <a:schemeClr val="tx1"/>
          </a:solidFill>
          <a:latin typeface="+mn-lt"/>
          <a:ea typeface="+mn-ea"/>
          <a:cs typeface="+mn-cs"/>
        </a:defRPr>
      </a:lvl2pPr>
      <a:lvl3pPr marL="1144800" indent="-230400" algn="l" rtl="0" eaLnBrk="1" latinLnBrk="0" hangingPunct="1">
        <a:spcBef>
          <a:spcPts val="576"/>
        </a:spcBef>
        <a:buClr>
          <a:schemeClr val="tx1"/>
        </a:buClr>
        <a:buFont typeface="Arial" pitchFamily="34" charset="0"/>
        <a:buChar char="•"/>
        <a:defRPr kumimoji="0" sz="2400" kern="1200">
          <a:solidFill>
            <a:schemeClr val="tx1"/>
          </a:solidFill>
          <a:latin typeface="+mn-lt"/>
          <a:ea typeface="+mn-ea"/>
          <a:cs typeface="+mn-cs"/>
        </a:defRPr>
      </a:lvl3pPr>
      <a:lvl4pPr marL="1602000" indent="-230400" algn="l" rtl="0" eaLnBrk="1" latinLnBrk="0" hangingPunct="1">
        <a:spcBef>
          <a:spcPts val="480"/>
        </a:spcBef>
        <a:buClr>
          <a:schemeClr val="tx1"/>
        </a:buClr>
        <a:buFont typeface="Arial" pitchFamily="34" charset="0"/>
        <a:buChar char="–"/>
        <a:defRPr kumimoji="0" sz="2000" kern="1200">
          <a:solidFill>
            <a:schemeClr val="tx1"/>
          </a:solidFill>
          <a:latin typeface="+mn-lt"/>
          <a:ea typeface="+mn-ea"/>
          <a:cs typeface="+mn-cs"/>
        </a:defRPr>
      </a:lvl4pPr>
      <a:lvl5pPr marL="2059200" indent="-230400" algn="l" rtl="0" eaLnBrk="1" latinLnBrk="0" hangingPunct="1">
        <a:spcBef>
          <a:spcPts val="480"/>
        </a:spcBef>
        <a:buClr>
          <a:schemeClr val="tx1"/>
        </a:buClr>
        <a:buFont typeface="Arial" pitchFamily="34" charset="0"/>
        <a:buChar char="»"/>
        <a:defRPr kumimoji="0" sz="2000" kern="1200">
          <a:solidFill>
            <a:schemeClr val="tx1"/>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0" name="Image 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193600" y="5328184"/>
            <a:ext cx="950407" cy="1529631"/>
          </a:xfrm>
          <a:prstGeom prst="rect">
            <a:avLst/>
          </a:prstGeom>
        </p:spPr>
      </p:pic>
      <p:sp>
        <p:nvSpPr>
          <p:cNvPr id="21" name="Rectangle 20"/>
          <p:cNvSpPr/>
          <p:nvPr/>
        </p:nvSpPr>
        <p:spPr bwMode="auto">
          <a:xfrm>
            <a:off x="504000" y="1306800"/>
            <a:ext cx="8154000" cy="0"/>
          </a:xfrm>
          <a:prstGeom prst="rect">
            <a:avLst/>
          </a:prstGeom>
          <a:noFill/>
          <a:ln w="6350" cap="flat" cmpd="sng" algn="ctr">
            <a:solidFill>
              <a:srgbClr val="727272"/>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eaLnBrk="0" fontAlgn="base" hangingPunct="0">
              <a:spcBef>
                <a:spcPct val="0"/>
              </a:spcBef>
              <a:spcAft>
                <a:spcPct val="0"/>
              </a:spcAft>
            </a:pPr>
            <a:endParaRPr lang="fr-FR" sz="2000" dirty="0" smtClean="0">
              <a:solidFill>
                <a:srgbClr val="727272"/>
              </a:solidFill>
              <a:latin typeface="Helvetica 65 Medium" pitchFamily="34" charset="0"/>
            </a:endParaRPr>
          </a:p>
        </p:txBody>
      </p:sp>
      <p:pic>
        <p:nvPicPr>
          <p:cNvPr id="24" name="Image 7"/>
          <p:cNvPicPr>
            <a:picLocks noChangeAspect="1"/>
          </p:cNvPicPr>
          <p:nvPr/>
        </p:nvPicPr>
        <p:blipFill>
          <a:blip r:embed="rId8" cstate="print"/>
          <a:stretch>
            <a:fillRect/>
          </a:stretch>
        </p:blipFill>
        <p:spPr>
          <a:xfrm>
            <a:off x="500400" y="288000"/>
            <a:ext cx="458653" cy="954000"/>
          </a:xfrm>
          <a:prstGeom prst="rect">
            <a:avLst/>
          </a:prstGeom>
        </p:spPr>
      </p:pic>
      <p:sp>
        <p:nvSpPr>
          <p:cNvPr id="13" name="Text Placeholder 12"/>
          <p:cNvSpPr>
            <a:spLocks noGrp="1"/>
          </p:cNvSpPr>
          <p:nvPr>
            <p:ph type="body" idx="1"/>
          </p:nvPr>
        </p:nvSpPr>
        <p:spPr>
          <a:xfrm>
            <a:off x="468000" y="1602000"/>
            <a:ext cx="8218800" cy="452520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dirty="0"/>
          </a:p>
        </p:txBody>
      </p:sp>
      <p:sp>
        <p:nvSpPr>
          <p:cNvPr id="25" name="Title Placeholder 1"/>
          <p:cNvSpPr>
            <a:spLocks noGrp="1"/>
          </p:cNvSpPr>
          <p:nvPr>
            <p:ph type="title"/>
          </p:nvPr>
        </p:nvSpPr>
        <p:spPr>
          <a:xfrm>
            <a:off x="1080000" y="237600"/>
            <a:ext cx="7416000" cy="1022400"/>
          </a:xfrm>
          <a:prstGeom prst="rect">
            <a:avLst/>
          </a:prstGeom>
        </p:spPr>
        <p:txBody>
          <a:bodyPr vert="horz" lIns="91440" tIns="45720" rIns="91440" bIns="45720" rtlCol="0" anchor="ctr">
            <a:noAutofit/>
          </a:bodyPr>
          <a:lstStyle/>
          <a:p>
            <a:r>
              <a:rPr lang="en-US" dirty="0" smtClean="0"/>
              <a:t>Click to edit Slide title</a:t>
            </a:r>
            <a:br>
              <a:rPr lang="en-US" dirty="0" smtClean="0"/>
            </a:br>
            <a:r>
              <a:rPr lang="en-US" dirty="0" smtClean="0"/>
              <a:t>Slide title can be extended to two lines</a:t>
            </a:r>
            <a:endParaRPr lang="en-US" dirty="0"/>
          </a:p>
        </p:txBody>
      </p:sp>
      <p:sp>
        <p:nvSpPr>
          <p:cNvPr id="26" name="Date Placeholder 3"/>
          <p:cNvSpPr>
            <a:spLocks noGrp="1"/>
          </p:cNvSpPr>
          <p:nvPr>
            <p:ph type="dt" sz="half" idx="2"/>
          </p:nvPr>
        </p:nvSpPr>
        <p:spPr>
          <a:xfrm>
            <a:off x="403200" y="6411600"/>
            <a:ext cx="900000" cy="244800"/>
          </a:xfrm>
          <a:prstGeom prst="rect">
            <a:avLst/>
          </a:prstGeom>
        </p:spPr>
        <p:txBody>
          <a:bodyPr vert="horz" lIns="91440" tIns="45720" rIns="91440" bIns="45720" rtlCol="0" anchor="t" anchorCtr="0"/>
          <a:lstStyle>
            <a:lvl1pPr algn="l">
              <a:defRPr sz="1000" baseline="0">
                <a:solidFill>
                  <a:srgbClr val="727272"/>
                </a:solidFill>
                <a:latin typeface="Arial"/>
              </a:defRPr>
            </a:lvl1pPr>
          </a:lstStyle>
          <a:p>
            <a:fld id="{B8370864-E9EA-44BF-8598-F5589D64693F}" type="datetime1">
              <a:rPr lang="en-GB" smtClean="0"/>
              <a:pPr/>
              <a:t>07/06/2017</a:t>
            </a:fld>
            <a:endParaRPr lang="en-GB" dirty="0"/>
          </a:p>
        </p:txBody>
      </p:sp>
      <p:sp>
        <p:nvSpPr>
          <p:cNvPr id="27" name="Footer Placeholder 4"/>
          <p:cNvSpPr>
            <a:spLocks noGrp="1"/>
          </p:cNvSpPr>
          <p:nvPr>
            <p:ph type="ftr" sz="quarter" idx="3"/>
          </p:nvPr>
        </p:nvSpPr>
        <p:spPr>
          <a:xfrm>
            <a:off x="1368000" y="6411600"/>
            <a:ext cx="4680000" cy="244800"/>
          </a:xfrm>
          <a:prstGeom prst="rect">
            <a:avLst/>
          </a:prstGeom>
        </p:spPr>
        <p:txBody>
          <a:bodyPr vert="horz" lIns="91440" tIns="45720" rIns="91440" bIns="45720" rtlCol="0" anchor="t" anchorCtr="0"/>
          <a:lstStyle>
            <a:lvl1pPr algn="l">
              <a:defRPr sz="1000" kern="1200" baseline="0">
                <a:solidFill>
                  <a:srgbClr val="727272"/>
                </a:solidFill>
                <a:latin typeface="Arial"/>
              </a:defRPr>
            </a:lvl1pPr>
          </a:lstStyle>
          <a:p>
            <a:endParaRPr lang="en-GB" dirty="0"/>
          </a:p>
        </p:txBody>
      </p:sp>
      <p:sp>
        <p:nvSpPr>
          <p:cNvPr id="41" name="Slide Number Placeholder 5"/>
          <p:cNvSpPr>
            <a:spLocks noGrp="1"/>
          </p:cNvSpPr>
          <p:nvPr>
            <p:ph type="sldNum" sz="quarter" idx="4"/>
          </p:nvPr>
        </p:nvSpPr>
        <p:spPr>
          <a:xfrm>
            <a:off x="8640000" y="6411600"/>
            <a:ext cx="342000" cy="244800"/>
          </a:xfrm>
          <a:prstGeom prst="rect">
            <a:avLst/>
          </a:prstGeom>
        </p:spPr>
        <p:txBody>
          <a:bodyPr vert="horz" wrap="none" lIns="91440" tIns="45720" rIns="91440" bIns="45720" rtlCol="0" anchor="t" anchorCtr="0"/>
          <a:lstStyle>
            <a:lvl1pPr algn="r">
              <a:defRPr sz="1000" baseline="0">
                <a:solidFill>
                  <a:schemeClr val="bg1"/>
                </a:solidFill>
                <a:latin typeface="Arial"/>
              </a:defRPr>
            </a:lvl1pPr>
          </a:lstStyle>
          <a:p>
            <a:fld id="{FCE284C4-5ED1-4D6C-B7CC-2049C3062C5E}" type="slidenum">
              <a:rPr lang="en-GB" smtClean="0">
                <a:solidFill>
                  <a:prstClr val="white"/>
                </a:solidFill>
              </a:rPr>
              <a:pPr/>
              <a:t>‹#›</a:t>
            </a:fld>
            <a:endParaRPr lang="en-GB" dirty="0">
              <a:solidFill>
                <a:prstClr val="white"/>
              </a:solidFill>
            </a:endParaRPr>
          </a:p>
        </p:txBody>
      </p:sp>
    </p:spTree>
    <p:extLst>
      <p:ext uri="{BB962C8B-B14F-4D97-AF65-F5344CB8AC3E}">
        <p14:creationId xmlns:p14="http://schemas.microsoft.com/office/powerpoint/2010/main" val="3699918942"/>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Lst>
  <p:hf hdr="0" ftr="0" dt="0"/>
  <p:txStyles>
    <p:titleStyle>
      <a:lvl1pPr algn="l" rtl="0" eaLnBrk="1" latinLnBrk="0" hangingPunct="1">
        <a:spcBef>
          <a:spcPct val="0"/>
        </a:spcBef>
        <a:buNone/>
        <a:defRPr kumimoji="0" sz="3200" kern="1200">
          <a:solidFill>
            <a:schemeClr val="tx1"/>
          </a:solidFill>
          <a:latin typeface="+mj-lt"/>
          <a:ea typeface="+mj-ea"/>
          <a:cs typeface="+mj-cs"/>
        </a:defRPr>
      </a:lvl1pPr>
    </p:titleStyle>
    <p:bodyStyle>
      <a:lvl1pPr marL="342000" indent="-342000" algn="l" rtl="0" eaLnBrk="1" latinLnBrk="0" hangingPunct="1">
        <a:spcBef>
          <a:spcPts val="768"/>
        </a:spcBef>
        <a:buClr>
          <a:schemeClr val="tx1"/>
        </a:buClr>
        <a:buFont typeface="Arial" pitchFamily="34" charset="0"/>
        <a:buChar char="•"/>
        <a:defRPr kumimoji="0" sz="3200" kern="1200">
          <a:solidFill>
            <a:schemeClr val="tx1"/>
          </a:solidFill>
          <a:latin typeface="+mn-lt"/>
          <a:ea typeface="+mn-ea"/>
          <a:cs typeface="+mn-cs"/>
        </a:defRPr>
      </a:lvl1pPr>
      <a:lvl2pPr marL="741600" indent="-284400" algn="l" rtl="0" eaLnBrk="1" latinLnBrk="0" hangingPunct="1">
        <a:spcBef>
          <a:spcPts val="672"/>
        </a:spcBef>
        <a:buClr>
          <a:schemeClr val="tx1"/>
        </a:buClr>
        <a:buFont typeface="Arial" pitchFamily="34" charset="0"/>
        <a:buChar char="–"/>
        <a:defRPr kumimoji="0" sz="2800" kern="1200">
          <a:solidFill>
            <a:schemeClr val="tx1"/>
          </a:solidFill>
          <a:latin typeface="+mn-lt"/>
          <a:ea typeface="+mn-ea"/>
          <a:cs typeface="+mn-cs"/>
        </a:defRPr>
      </a:lvl2pPr>
      <a:lvl3pPr marL="1144800" indent="-230400" algn="l" rtl="0" eaLnBrk="1" latinLnBrk="0" hangingPunct="1">
        <a:spcBef>
          <a:spcPts val="576"/>
        </a:spcBef>
        <a:buClr>
          <a:schemeClr val="tx1"/>
        </a:buClr>
        <a:buFont typeface="Arial" pitchFamily="34" charset="0"/>
        <a:buChar char="•"/>
        <a:defRPr kumimoji="0" sz="2400" kern="1200">
          <a:solidFill>
            <a:schemeClr val="tx1"/>
          </a:solidFill>
          <a:latin typeface="+mn-lt"/>
          <a:ea typeface="+mn-ea"/>
          <a:cs typeface="+mn-cs"/>
        </a:defRPr>
      </a:lvl3pPr>
      <a:lvl4pPr marL="1602000" indent="-230400" algn="l" rtl="0" eaLnBrk="1" latinLnBrk="0" hangingPunct="1">
        <a:spcBef>
          <a:spcPts val="480"/>
        </a:spcBef>
        <a:buClr>
          <a:schemeClr val="tx1"/>
        </a:buClr>
        <a:buFont typeface="Arial" pitchFamily="34" charset="0"/>
        <a:buChar char="–"/>
        <a:defRPr kumimoji="0" sz="2000" kern="1200">
          <a:solidFill>
            <a:schemeClr val="tx1"/>
          </a:solidFill>
          <a:latin typeface="+mn-lt"/>
          <a:ea typeface="+mn-ea"/>
          <a:cs typeface="+mn-cs"/>
        </a:defRPr>
      </a:lvl4pPr>
      <a:lvl5pPr marL="2059200" indent="-230400" algn="l" rtl="0" eaLnBrk="1" latinLnBrk="0" hangingPunct="1">
        <a:spcBef>
          <a:spcPts val="480"/>
        </a:spcBef>
        <a:buClr>
          <a:schemeClr val="tx1"/>
        </a:buClr>
        <a:buFont typeface="Arial" pitchFamily="34" charset="0"/>
        <a:buChar char="»"/>
        <a:defRPr kumimoji="0" sz="2000" kern="1200">
          <a:solidFill>
            <a:schemeClr val="tx1"/>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0.png"/><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65760" y="1052736"/>
            <a:ext cx="8019526" cy="2400657"/>
          </a:xfrm>
          <a:prstGeom prst="rect">
            <a:avLst/>
          </a:prstGeom>
          <a:noFill/>
        </p:spPr>
        <p:txBody>
          <a:bodyPr wrap="square" rtlCol="0">
            <a:spAutoFit/>
          </a:bodyPr>
          <a:lstStyle/>
          <a:p>
            <a:pPr algn="ctr"/>
            <a:r>
              <a:rPr lang="en-GB" sz="3400" b="1" dirty="0" smtClean="0">
                <a:solidFill>
                  <a:prstClr val="white"/>
                </a:solidFill>
                <a:latin typeface="Arial"/>
              </a:rPr>
              <a:t/>
            </a:r>
            <a:br>
              <a:rPr lang="en-GB" sz="3400" b="1" dirty="0" smtClean="0">
                <a:solidFill>
                  <a:prstClr val="white"/>
                </a:solidFill>
                <a:latin typeface="Arial"/>
              </a:rPr>
            </a:br>
            <a:r>
              <a:rPr lang="en-GB" sz="3600" b="1" dirty="0" smtClean="0">
                <a:solidFill>
                  <a:prstClr val="white"/>
                </a:solidFill>
                <a:latin typeface="Arial"/>
              </a:rPr>
              <a:t>OECD ECONOMIC OUTLOOK</a:t>
            </a:r>
            <a:r>
              <a:rPr lang="en-GB" sz="3400" b="1" dirty="0" smtClean="0">
                <a:solidFill>
                  <a:prstClr val="white"/>
                </a:solidFill>
                <a:latin typeface="Arial"/>
              </a:rPr>
              <a:t/>
            </a:r>
            <a:br>
              <a:rPr lang="en-GB" sz="3400" b="1" dirty="0" smtClean="0">
                <a:solidFill>
                  <a:prstClr val="white"/>
                </a:solidFill>
                <a:latin typeface="Arial"/>
              </a:rPr>
            </a:br>
            <a:endParaRPr lang="en-US" sz="3600" i="1" dirty="0" smtClean="0">
              <a:solidFill>
                <a:prstClr val="white"/>
              </a:solidFill>
              <a:latin typeface="Arial"/>
            </a:endParaRPr>
          </a:p>
          <a:p>
            <a:pPr algn="ctr"/>
            <a:r>
              <a:rPr lang="en-US" sz="4400" i="1" dirty="0" smtClean="0">
                <a:solidFill>
                  <a:prstClr val="white"/>
                </a:solidFill>
                <a:latin typeface="Arial"/>
              </a:rPr>
              <a:t>Better, but not good enough</a:t>
            </a:r>
            <a:endParaRPr lang="en-US" sz="4400" i="1" dirty="0">
              <a:solidFill>
                <a:prstClr val="white"/>
              </a:solidFill>
              <a:latin typeface="Arial"/>
            </a:endParaRPr>
          </a:p>
        </p:txBody>
      </p:sp>
      <p:sp>
        <p:nvSpPr>
          <p:cNvPr id="6" name="TextBox 5"/>
          <p:cNvSpPr txBox="1"/>
          <p:nvPr/>
        </p:nvSpPr>
        <p:spPr>
          <a:xfrm>
            <a:off x="755576" y="6169422"/>
            <a:ext cx="5616624" cy="584775"/>
          </a:xfrm>
          <a:prstGeom prst="rect">
            <a:avLst/>
          </a:prstGeom>
          <a:noFill/>
        </p:spPr>
        <p:txBody>
          <a:bodyPr wrap="square" rtlCol="0">
            <a:spAutoFit/>
          </a:bodyPr>
          <a:lstStyle/>
          <a:p>
            <a:r>
              <a:rPr lang="en-GB" sz="1600" dirty="0" smtClean="0">
                <a:solidFill>
                  <a:prstClr val="white"/>
                </a:solidFill>
                <a:latin typeface="Arial"/>
              </a:rPr>
              <a:t>www.oecd.org/economy/economicoutlook.htm</a:t>
            </a:r>
          </a:p>
          <a:p>
            <a:r>
              <a:rPr lang="en-GB" sz="1600" dirty="0" smtClean="0">
                <a:solidFill>
                  <a:prstClr val="white"/>
                </a:solidFill>
                <a:latin typeface="Arial"/>
              </a:rPr>
              <a:t>ECOSCOPE blog: oecdecoscope.wordpress.com</a:t>
            </a:r>
            <a:endParaRPr lang="en-GB" sz="1600" dirty="0">
              <a:solidFill>
                <a:prstClr val="white"/>
              </a:solidFill>
              <a:latin typeface="Arial"/>
            </a:endParaRPr>
          </a:p>
        </p:txBody>
      </p:sp>
      <p:sp>
        <p:nvSpPr>
          <p:cNvPr id="8" name="Rectangle 5"/>
          <p:cNvSpPr txBox="1">
            <a:spLocks noChangeArrowheads="1"/>
          </p:cNvSpPr>
          <p:nvPr/>
        </p:nvSpPr>
        <p:spPr bwMode="auto">
          <a:xfrm>
            <a:off x="80554" y="2564904"/>
            <a:ext cx="8974666" cy="2471913"/>
          </a:xfrm>
          <a:prstGeom prst="rect">
            <a:avLst/>
          </a:prstGeom>
          <a:noFill/>
          <a:ln w="9525">
            <a:noFill/>
            <a:miter lim="800000"/>
            <a:headEnd/>
            <a:tailEnd/>
          </a:ln>
        </p:spPr>
        <p:txBody>
          <a:bodyPr/>
          <a:lstStyle/>
          <a:p>
            <a:pPr lvl="0" algn="ctr" eaLnBrk="0" hangingPunct="0">
              <a:defRPr/>
            </a:pPr>
            <a:r>
              <a:rPr lang="en-GB" sz="2800" b="1" dirty="0" smtClean="0">
                <a:solidFill>
                  <a:srgbClr val="898989"/>
                </a:solidFill>
                <a:latin typeface="+mn-lt"/>
                <a:cs typeface="+mn-cs"/>
              </a:rPr>
              <a:t> </a:t>
            </a:r>
            <a:r>
              <a:rPr lang="en-US" b="1" dirty="0" smtClean="0">
                <a:solidFill>
                  <a:schemeClr val="bg1"/>
                </a:solidFill>
                <a:latin typeface="+mj-lt"/>
                <a:cs typeface="+mn-cs"/>
              </a:rPr>
              <a:t/>
            </a:r>
            <a:br>
              <a:rPr lang="en-US" b="1" dirty="0" smtClean="0">
                <a:solidFill>
                  <a:schemeClr val="bg1"/>
                </a:solidFill>
                <a:latin typeface="+mj-lt"/>
                <a:cs typeface="+mn-cs"/>
              </a:rPr>
            </a:br>
            <a:r>
              <a:rPr lang="en-GB" b="1" dirty="0" smtClean="0">
                <a:solidFill>
                  <a:schemeClr val="bg1"/>
                </a:solidFill>
                <a:latin typeface="+mj-lt"/>
                <a:cs typeface="+mn-cs"/>
              </a:rPr>
              <a:t/>
            </a:r>
            <a:br>
              <a:rPr lang="en-GB" b="1" dirty="0" smtClean="0">
                <a:solidFill>
                  <a:schemeClr val="bg1"/>
                </a:solidFill>
                <a:latin typeface="+mj-lt"/>
                <a:cs typeface="+mn-cs"/>
              </a:rPr>
            </a:br>
            <a:endParaRPr lang="en-GB" b="1" dirty="0" smtClean="0">
              <a:solidFill>
                <a:schemeClr val="bg1"/>
              </a:solidFill>
              <a:latin typeface="+mj-lt"/>
              <a:cs typeface="+mn-cs"/>
            </a:endParaRPr>
          </a:p>
          <a:p>
            <a:pPr lvl="0" algn="ctr" eaLnBrk="0" hangingPunct="0">
              <a:defRPr/>
            </a:pPr>
            <a:r>
              <a:rPr lang="en-GB" b="1" dirty="0" smtClean="0">
                <a:solidFill>
                  <a:schemeClr val="bg1"/>
                </a:solidFill>
                <a:latin typeface="+mj-lt"/>
                <a:cs typeface="+mn-cs"/>
              </a:rPr>
              <a:t/>
            </a:r>
            <a:br>
              <a:rPr lang="en-GB" b="1" dirty="0" smtClean="0">
                <a:solidFill>
                  <a:schemeClr val="bg1"/>
                </a:solidFill>
                <a:latin typeface="+mj-lt"/>
                <a:cs typeface="+mn-cs"/>
              </a:rPr>
            </a:br>
            <a:endParaRPr lang="en-GB" sz="800" b="1" dirty="0" smtClean="0">
              <a:solidFill>
                <a:schemeClr val="tx2">
                  <a:lumMod val="40000"/>
                  <a:lumOff val="60000"/>
                </a:schemeClr>
              </a:solidFill>
              <a:latin typeface="+mj-lt"/>
              <a:cs typeface="+mn-cs"/>
            </a:endParaRPr>
          </a:p>
          <a:p>
            <a:pPr algn="ctr" eaLnBrk="0" hangingPunct="0">
              <a:spcBef>
                <a:spcPts val="0"/>
              </a:spcBef>
              <a:defRPr/>
            </a:pPr>
            <a:r>
              <a:rPr lang="en-GB" sz="2600" b="1" dirty="0" smtClean="0">
                <a:solidFill>
                  <a:schemeClr val="tx2">
                    <a:lumMod val="40000"/>
                    <a:lumOff val="60000"/>
                  </a:schemeClr>
                </a:solidFill>
                <a:latin typeface="+mj-lt"/>
                <a:cs typeface="+mn-cs"/>
              </a:rPr>
              <a:t>Catherine L. Mann</a:t>
            </a:r>
          </a:p>
          <a:p>
            <a:pPr algn="ctr" eaLnBrk="0" hangingPunct="0">
              <a:spcBef>
                <a:spcPts val="0"/>
              </a:spcBef>
              <a:defRPr/>
            </a:pPr>
            <a:r>
              <a:rPr lang="en-GB" sz="2200" b="1" dirty="0" smtClean="0">
                <a:solidFill>
                  <a:schemeClr val="tx2">
                    <a:lumMod val="40000"/>
                    <a:lumOff val="60000"/>
                  </a:schemeClr>
                </a:solidFill>
                <a:latin typeface="+mj-lt"/>
                <a:cs typeface="+mn-cs"/>
              </a:rPr>
              <a:t>OECD Chief </a:t>
            </a:r>
            <a:r>
              <a:rPr lang="en-GB" sz="2200" b="1" dirty="0">
                <a:solidFill>
                  <a:schemeClr val="tx2">
                    <a:lumMod val="40000"/>
                    <a:lumOff val="60000"/>
                  </a:schemeClr>
                </a:solidFill>
                <a:latin typeface="+mj-lt"/>
                <a:cs typeface="+mn-cs"/>
              </a:rPr>
              <a:t>Economist</a:t>
            </a:r>
          </a:p>
        </p:txBody>
      </p:sp>
      <p:sp>
        <p:nvSpPr>
          <p:cNvPr id="9" name="Rectangle 5"/>
          <p:cNvSpPr txBox="1">
            <a:spLocks noChangeArrowheads="1"/>
          </p:cNvSpPr>
          <p:nvPr/>
        </p:nvSpPr>
        <p:spPr bwMode="auto">
          <a:xfrm>
            <a:off x="107188" y="5066925"/>
            <a:ext cx="8974666" cy="827549"/>
          </a:xfrm>
          <a:prstGeom prst="rect">
            <a:avLst/>
          </a:prstGeom>
          <a:noFill/>
          <a:ln w="9525">
            <a:noFill/>
            <a:miter lim="800000"/>
            <a:headEnd/>
            <a:tailEnd/>
          </a:ln>
        </p:spPr>
        <p:txBody>
          <a:bodyPr/>
          <a:lstStyle/>
          <a:p>
            <a:pPr lvl="0" algn="ctr" eaLnBrk="0" hangingPunct="0">
              <a:defRPr/>
            </a:pPr>
            <a:r>
              <a:rPr lang="en-GB" sz="2800" b="1" dirty="0" smtClean="0">
                <a:solidFill>
                  <a:srgbClr val="898989"/>
                </a:solidFill>
                <a:latin typeface="+mn-lt"/>
                <a:cs typeface="+mn-cs"/>
              </a:rPr>
              <a:t> </a:t>
            </a:r>
            <a:r>
              <a:rPr lang="en-US" b="1" dirty="0" smtClean="0">
                <a:solidFill>
                  <a:schemeClr val="bg1"/>
                </a:solidFill>
                <a:latin typeface="+mj-lt"/>
                <a:cs typeface="+mn-cs"/>
              </a:rPr>
              <a:t>7 June 2017</a:t>
            </a:r>
            <a:br>
              <a:rPr lang="en-US" b="1" dirty="0" smtClean="0">
                <a:solidFill>
                  <a:schemeClr val="bg1"/>
                </a:solidFill>
                <a:latin typeface="+mj-lt"/>
                <a:cs typeface="+mn-cs"/>
              </a:rPr>
            </a:br>
            <a:r>
              <a:rPr lang="en-US" b="1" dirty="0" smtClean="0">
                <a:solidFill>
                  <a:schemeClr val="bg1"/>
                </a:solidFill>
                <a:latin typeface="+mj-lt"/>
                <a:cs typeface="+mn-cs"/>
              </a:rPr>
              <a:t>Paris</a:t>
            </a:r>
            <a:r>
              <a:rPr lang="en-GB" b="1" dirty="0" smtClean="0">
                <a:solidFill>
                  <a:schemeClr val="bg1"/>
                </a:solidFill>
                <a:latin typeface="+mj-lt"/>
                <a:cs typeface="+mn-cs"/>
              </a:rPr>
              <a:t/>
            </a:r>
            <a:br>
              <a:rPr lang="en-GB" b="1" dirty="0" smtClean="0">
                <a:solidFill>
                  <a:schemeClr val="bg1"/>
                </a:solidFill>
                <a:latin typeface="+mj-lt"/>
                <a:cs typeface="+mn-cs"/>
              </a:rPr>
            </a:br>
            <a:endParaRPr lang="en-GB" sz="2200" b="1" dirty="0">
              <a:solidFill>
                <a:schemeClr val="tx2">
                  <a:lumMod val="40000"/>
                  <a:lumOff val="60000"/>
                </a:schemeClr>
              </a:solidFill>
              <a:latin typeface="+mj-lt"/>
              <a:cs typeface="+mn-cs"/>
            </a:endParaRPr>
          </a:p>
        </p:txBody>
      </p:sp>
    </p:spTree>
    <p:extLst>
      <p:ext uri="{BB962C8B-B14F-4D97-AF65-F5344CB8AC3E}">
        <p14:creationId xmlns:p14="http://schemas.microsoft.com/office/powerpoint/2010/main" val="229304807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73415" y="476672"/>
            <a:ext cx="7366001" cy="523220"/>
          </a:xfrm>
          <a:prstGeom prst="rect">
            <a:avLst/>
          </a:prstGeom>
        </p:spPr>
        <p:txBody>
          <a:bodyPr wrap="square">
            <a:spAutoFit/>
          </a:bodyPr>
          <a:lstStyle/>
          <a:p>
            <a:pPr algn="ctr">
              <a:defRPr/>
            </a:pPr>
            <a:r>
              <a:rPr lang="en-GB" sz="2800" b="1" dirty="0" smtClean="0">
                <a:solidFill>
                  <a:schemeClr val="tx2"/>
                </a:solidFill>
                <a:latin typeface="+mj-lt"/>
              </a:rPr>
              <a:t>Key messages</a:t>
            </a:r>
            <a:endParaRPr lang="en-GB" sz="2800" b="1" dirty="0">
              <a:solidFill>
                <a:schemeClr val="tx2"/>
              </a:solidFill>
              <a:latin typeface="+mj-lt"/>
            </a:endParaRPr>
          </a:p>
        </p:txBody>
      </p:sp>
      <p:sp>
        <p:nvSpPr>
          <p:cNvPr id="2" name="Slide Number Placeholder 1"/>
          <p:cNvSpPr>
            <a:spLocks noGrp="1"/>
          </p:cNvSpPr>
          <p:nvPr>
            <p:ph type="sldNum" sz="quarter" idx="12"/>
          </p:nvPr>
        </p:nvSpPr>
        <p:spPr/>
        <p:txBody>
          <a:bodyPr/>
          <a:lstStyle/>
          <a:p>
            <a:fld id="{FCE284C4-5ED1-4D6C-B7CC-2049C3062C5E}" type="slidenum">
              <a:rPr lang="en-GB" smtClean="0"/>
              <a:t>2</a:t>
            </a:fld>
            <a:endParaRPr lang="en-GB" dirty="0"/>
          </a:p>
        </p:txBody>
      </p:sp>
      <p:graphicFrame>
        <p:nvGraphicFramePr>
          <p:cNvPr id="9" name="Diagram 8"/>
          <p:cNvGraphicFramePr/>
          <p:nvPr>
            <p:extLst>
              <p:ext uri="{D42A27DB-BD31-4B8C-83A1-F6EECF244321}">
                <p14:modId xmlns:p14="http://schemas.microsoft.com/office/powerpoint/2010/main" val="2103504004"/>
              </p:ext>
            </p:extLst>
          </p:nvPr>
        </p:nvGraphicFramePr>
        <p:xfrm>
          <a:off x="459000" y="1260370"/>
          <a:ext cx="8280920" cy="54452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3186841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ain.oecd.org\sdataECO\Units\FRONTOFFICE\Economic Outlooks\EO101\Data and charts\PPT_Figs_E\E_Handout_Fig_Global_Growth_1_2P_P2CL.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9586" y="1540823"/>
            <a:ext cx="8085074" cy="518145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725330" y="260648"/>
            <a:ext cx="8378047" cy="954107"/>
          </a:xfrm>
          <a:prstGeom prst="rect">
            <a:avLst/>
          </a:prstGeom>
        </p:spPr>
        <p:txBody>
          <a:bodyPr wrap="square">
            <a:spAutoFit/>
          </a:bodyPr>
          <a:lstStyle/>
          <a:p>
            <a:pPr algn="ctr">
              <a:defRPr/>
            </a:pPr>
            <a:r>
              <a:rPr lang="en-GB" sz="2800" b="1" dirty="0" smtClean="0">
                <a:solidFill>
                  <a:schemeClr val="tx2"/>
                </a:solidFill>
                <a:latin typeface="+mj-lt"/>
              </a:rPr>
              <a:t>Global GDP growth should pick up modestly </a:t>
            </a:r>
          </a:p>
          <a:p>
            <a:pPr algn="ctr">
              <a:defRPr/>
            </a:pPr>
            <a:r>
              <a:rPr lang="en-GB" sz="2800" b="1" dirty="0" smtClean="0">
                <a:solidFill>
                  <a:schemeClr val="tx2"/>
                </a:solidFill>
                <a:latin typeface="+mj-lt"/>
              </a:rPr>
              <a:t>but remains below historical norms</a:t>
            </a:r>
            <a:endParaRPr lang="en-GB" sz="2800" b="1" dirty="0">
              <a:solidFill>
                <a:schemeClr val="tx2"/>
              </a:solidFill>
              <a:latin typeface="+mj-lt"/>
            </a:endParaRPr>
          </a:p>
        </p:txBody>
      </p:sp>
      <p:sp>
        <p:nvSpPr>
          <p:cNvPr id="11" name="Slide Number Placeholder 10"/>
          <p:cNvSpPr>
            <a:spLocks noGrp="1"/>
          </p:cNvSpPr>
          <p:nvPr>
            <p:ph type="sldNum" sz="quarter" idx="12"/>
          </p:nvPr>
        </p:nvSpPr>
        <p:spPr/>
        <p:txBody>
          <a:bodyPr/>
          <a:lstStyle/>
          <a:p>
            <a:fld id="{FCE284C4-5ED1-4D6C-B7CC-2049C3062C5E}" type="slidenum">
              <a:rPr lang="en-GB" smtClean="0"/>
              <a:t>3</a:t>
            </a:fld>
            <a:endParaRPr lang="en-GB" dirty="0"/>
          </a:p>
        </p:txBody>
      </p:sp>
      <p:sp>
        <p:nvSpPr>
          <p:cNvPr id="13" name="TextBox 12"/>
          <p:cNvSpPr txBox="1"/>
          <p:nvPr/>
        </p:nvSpPr>
        <p:spPr>
          <a:xfrm>
            <a:off x="589585" y="6211669"/>
            <a:ext cx="8495040" cy="646331"/>
          </a:xfrm>
          <a:prstGeom prst="rect">
            <a:avLst/>
          </a:prstGeom>
          <a:noFill/>
        </p:spPr>
        <p:txBody>
          <a:bodyPr wrap="square" rtlCol="0">
            <a:spAutoFit/>
          </a:bodyPr>
          <a:lstStyle/>
          <a:p>
            <a:r>
              <a:rPr lang="en-US" sz="1200" dirty="0" smtClean="0">
                <a:solidFill>
                  <a:schemeClr val="bg2">
                    <a:lumMod val="10000"/>
                  </a:schemeClr>
                </a:solidFill>
                <a:latin typeface="Calibri" panose="020F0502020204030204" pitchFamily="34" charset="0"/>
              </a:rPr>
              <a:t/>
            </a:r>
            <a:br>
              <a:rPr lang="en-US" sz="1200" dirty="0" smtClean="0">
                <a:solidFill>
                  <a:schemeClr val="bg2">
                    <a:lumMod val="10000"/>
                  </a:schemeClr>
                </a:solidFill>
                <a:latin typeface="Calibri" panose="020F0502020204030204" pitchFamily="34" charset="0"/>
              </a:rPr>
            </a:br>
            <a:r>
              <a:rPr lang="en-US" sz="1200" dirty="0" smtClean="0">
                <a:solidFill>
                  <a:schemeClr val="bg2">
                    <a:lumMod val="10000"/>
                  </a:schemeClr>
                </a:solidFill>
                <a:latin typeface="Calibri" panose="020F0502020204030204" pitchFamily="34" charset="0"/>
              </a:rPr>
              <a:t/>
            </a:r>
            <a:br>
              <a:rPr lang="en-US" sz="1200" dirty="0" smtClean="0">
                <a:solidFill>
                  <a:schemeClr val="bg2">
                    <a:lumMod val="10000"/>
                  </a:schemeClr>
                </a:solidFill>
                <a:latin typeface="Calibri" panose="020F0502020204030204" pitchFamily="34" charset="0"/>
              </a:rPr>
            </a:br>
            <a:r>
              <a:rPr lang="en-US" sz="1200" dirty="0" smtClean="0">
                <a:solidFill>
                  <a:schemeClr val="bg2">
                    <a:lumMod val="10000"/>
                  </a:schemeClr>
                </a:solidFill>
                <a:latin typeface="Calibri" panose="020F0502020204030204" pitchFamily="34" charset="0"/>
              </a:rPr>
              <a:t>Source</a:t>
            </a:r>
            <a:r>
              <a:rPr lang="en-US" sz="1200" dirty="0">
                <a:solidFill>
                  <a:schemeClr val="bg2">
                    <a:lumMod val="10000"/>
                  </a:schemeClr>
                </a:solidFill>
                <a:latin typeface="Calibri" panose="020F0502020204030204" pitchFamily="34" charset="0"/>
              </a:rPr>
              <a:t>: OECD </a:t>
            </a:r>
            <a:r>
              <a:rPr lang="en-US" sz="1200" dirty="0" smtClean="0">
                <a:solidFill>
                  <a:schemeClr val="bg2">
                    <a:lumMod val="10000"/>
                  </a:schemeClr>
                </a:solidFill>
                <a:latin typeface="Calibri" panose="020F0502020204030204" pitchFamily="34" charset="0"/>
              </a:rPr>
              <a:t>June </a:t>
            </a:r>
            <a:r>
              <a:rPr lang="en-US" sz="1200" dirty="0">
                <a:solidFill>
                  <a:schemeClr val="bg2">
                    <a:lumMod val="10000"/>
                  </a:schemeClr>
                </a:solidFill>
                <a:latin typeface="Calibri" panose="020F0502020204030204" pitchFamily="34" charset="0"/>
              </a:rPr>
              <a:t>2017 </a:t>
            </a:r>
            <a:r>
              <a:rPr lang="en-US" sz="1200" dirty="0" smtClean="0">
                <a:solidFill>
                  <a:schemeClr val="bg2">
                    <a:lumMod val="10000"/>
                  </a:schemeClr>
                </a:solidFill>
                <a:latin typeface="Calibri" panose="020F0502020204030204" pitchFamily="34" charset="0"/>
              </a:rPr>
              <a:t>Economic Outlook database.</a:t>
            </a:r>
            <a:endParaRPr lang="en-GB" sz="1200" dirty="0">
              <a:solidFill>
                <a:schemeClr val="bg2">
                  <a:lumMod val="10000"/>
                </a:schemeClr>
              </a:solidFill>
              <a:latin typeface="Calibri" panose="020F0502020204030204" pitchFamily="34" charset="0"/>
            </a:endParaRPr>
          </a:p>
        </p:txBody>
      </p:sp>
      <p:sp>
        <p:nvSpPr>
          <p:cNvPr id="21" name="TextBox 20"/>
          <p:cNvSpPr txBox="1"/>
          <p:nvPr/>
        </p:nvSpPr>
        <p:spPr>
          <a:xfrm>
            <a:off x="2507887" y="1340768"/>
            <a:ext cx="4248472" cy="400110"/>
          </a:xfrm>
          <a:prstGeom prst="rect">
            <a:avLst/>
          </a:prstGeom>
          <a:noFill/>
        </p:spPr>
        <p:txBody>
          <a:bodyPr wrap="square" rtlCol="0">
            <a:spAutoFit/>
          </a:bodyPr>
          <a:lstStyle/>
          <a:p>
            <a:pPr algn="ctr"/>
            <a:r>
              <a:rPr lang="en-US" sz="2000" b="1" dirty="0" smtClean="0">
                <a:solidFill>
                  <a:schemeClr val="bg2">
                    <a:lumMod val="10000"/>
                  </a:schemeClr>
                </a:solidFill>
                <a:latin typeface="Calibri" pitchFamily="34" charset="0"/>
              </a:rPr>
              <a:t>Global GDP growth</a:t>
            </a:r>
          </a:p>
        </p:txBody>
      </p:sp>
    </p:spTree>
    <p:extLst>
      <p:ext uri="{BB962C8B-B14F-4D97-AF65-F5344CB8AC3E}">
        <p14:creationId xmlns:p14="http://schemas.microsoft.com/office/powerpoint/2010/main" val="18878458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main.oecd.org\sdataECO\Units\FRONTOFFICE\Economic Outlooks\EO101\Data and charts\PPT_Figs_E\E_Handout_Fig_GDPV_CAP_1_2P_P2CL.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72" y="1700808"/>
            <a:ext cx="4592546" cy="475252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694508" y="240100"/>
            <a:ext cx="8378047" cy="954107"/>
          </a:xfrm>
          <a:prstGeom prst="rect">
            <a:avLst/>
          </a:prstGeom>
        </p:spPr>
        <p:txBody>
          <a:bodyPr wrap="square">
            <a:spAutoFit/>
          </a:bodyPr>
          <a:lstStyle/>
          <a:p>
            <a:pPr algn="ctr">
              <a:defRPr/>
            </a:pPr>
            <a:r>
              <a:rPr lang="en-GB" sz="2800" b="1" dirty="0" smtClean="0">
                <a:solidFill>
                  <a:schemeClr val="tx2"/>
                </a:solidFill>
                <a:latin typeface="+mj-lt"/>
              </a:rPr>
              <a:t>GDP growth per person is below history </a:t>
            </a:r>
          </a:p>
          <a:p>
            <a:pPr algn="ctr">
              <a:defRPr/>
            </a:pPr>
            <a:r>
              <a:rPr lang="en-GB" sz="2800" b="1" dirty="0" smtClean="0">
                <a:solidFill>
                  <a:schemeClr val="tx2"/>
                </a:solidFill>
                <a:latin typeface="+mj-lt"/>
              </a:rPr>
              <a:t>and income inequality continues to rise</a:t>
            </a:r>
            <a:endParaRPr lang="en-GB" sz="2800" b="1" dirty="0">
              <a:solidFill>
                <a:schemeClr val="tx2"/>
              </a:solidFill>
              <a:latin typeface="+mj-lt"/>
            </a:endParaRPr>
          </a:p>
        </p:txBody>
      </p:sp>
      <p:sp>
        <p:nvSpPr>
          <p:cNvPr id="11" name="Slide Number Placeholder 10"/>
          <p:cNvSpPr>
            <a:spLocks noGrp="1"/>
          </p:cNvSpPr>
          <p:nvPr>
            <p:ph type="sldNum" sz="quarter" idx="12"/>
          </p:nvPr>
        </p:nvSpPr>
        <p:spPr/>
        <p:txBody>
          <a:bodyPr/>
          <a:lstStyle/>
          <a:p>
            <a:fld id="{FCE284C4-5ED1-4D6C-B7CC-2049C3062C5E}" type="slidenum">
              <a:rPr lang="en-GB" smtClean="0"/>
              <a:t>4</a:t>
            </a:fld>
            <a:endParaRPr lang="en-GB" dirty="0"/>
          </a:p>
        </p:txBody>
      </p:sp>
      <p:sp>
        <p:nvSpPr>
          <p:cNvPr id="15" name="TextBox 14"/>
          <p:cNvSpPr txBox="1"/>
          <p:nvPr/>
        </p:nvSpPr>
        <p:spPr>
          <a:xfrm>
            <a:off x="134557" y="1307502"/>
            <a:ext cx="4248472" cy="584775"/>
          </a:xfrm>
          <a:prstGeom prst="rect">
            <a:avLst/>
          </a:prstGeom>
          <a:noFill/>
        </p:spPr>
        <p:txBody>
          <a:bodyPr wrap="square" rtlCol="0">
            <a:spAutoFit/>
          </a:bodyPr>
          <a:lstStyle/>
          <a:p>
            <a:pPr algn="ctr"/>
            <a:r>
              <a:rPr lang="en-US" sz="2000" b="1" dirty="0" smtClean="0">
                <a:solidFill>
                  <a:schemeClr val="bg2">
                    <a:lumMod val="10000"/>
                  </a:schemeClr>
                </a:solidFill>
                <a:latin typeface="Calibri" pitchFamily="34" charset="0"/>
              </a:rPr>
              <a:t>GDP growth per person</a:t>
            </a:r>
          </a:p>
          <a:p>
            <a:pPr lvl="0" algn="ctr"/>
            <a:r>
              <a:rPr lang="en-US" sz="1200" i="1" dirty="0">
                <a:solidFill>
                  <a:srgbClr val="E6E6E6">
                    <a:lumMod val="10000"/>
                  </a:srgbClr>
                </a:solidFill>
                <a:latin typeface="Calibri" pitchFamily="34" charset="0"/>
              </a:rPr>
              <a:t>Horizontal lines are averages for </a:t>
            </a:r>
            <a:r>
              <a:rPr lang="en-US" sz="1200" i="1" dirty="0" smtClean="0">
                <a:solidFill>
                  <a:srgbClr val="E6E6E6">
                    <a:lumMod val="10000"/>
                  </a:srgbClr>
                </a:solidFill>
                <a:latin typeface="Calibri" pitchFamily="34" charset="0"/>
              </a:rPr>
              <a:t>1987-2007</a:t>
            </a:r>
            <a:endParaRPr lang="en-US" sz="1200" i="1" dirty="0">
              <a:solidFill>
                <a:srgbClr val="E6E6E6">
                  <a:lumMod val="10000"/>
                </a:srgbClr>
              </a:solidFill>
              <a:latin typeface="Calibri" pitchFamily="34" charset="0"/>
            </a:endParaRPr>
          </a:p>
        </p:txBody>
      </p:sp>
      <p:sp>
        <p:nvSpPr>
          <p:cNvPr id="12" name="TextBox 11"/>
          <p:cNvSpPr txBox="1"/>
          <p:nvPr/>
        </p:nvSpPr>
        <p:spPr>
          <a:xfrm>
            <a:off x="4256058" y="1302256"/>
            <a:ext cx="5063780" cy="584775"/>
          </a:xfrm>
          <a:prstGeom prst="rect">
            <a:avLst/>
          </a:prstGeom>
          <a:noFill/>
        </p:spPr>
        <p:txBody>
          <a:bodyPr wrap="square" rtlCol="0">
            <a:spAutoFit/>
          </a:bodyPr>
          <a:lstStyle/>
          <a:p>
            <a:pPr lvl="0" algn="ctr"/>
            <a:r>
              <a:rPr lang="en-US" sz="2000" b="1" dirty="0" smtClean="0">
                <a:solidFill>
                  <a:schemeClr val="bg2">
                    <a:lumMod val="10000"/>
                  </a:schemeClr>
                </a:solidFill>
                <a:latin typeface="Calibri" pitchFamily="34" charset="0"/>
              </a:rPr>
              <a:t>Income inequality is rising in the OECD</a:t>
            </a:r>
            <a:r>
              <a:rPr lang="en-US" b="1" dirty="0" smtClean="0">
                <a:solidFill>
                  <a:schemeClr val="bg2">
                    <a:lumMod val="10000"/>
                  </a:schemeClr>
                </a:solidFill>
                <a:latin typeface="Calibri" pitchFamily="34" charset="0"/>
              </a:rPr>
              <a:t> </a:t>
            </a:r>
            <a:br>
              <a:rPr lang="en-US" b="1" dirty="0" smtClean="0">
                <a:solidFill>
                  <a:schemeClr val="bg2">
                    <a:lumMod val="10000"/>
                  </a:schemeClr>
                </a:solidFill>
                <a:latin typeface="Calibri" pitchFamily="34" charset="0"/>
              </a:rPr>
            </a:br>
            <a:r>
              <a:rPr lang="en-US" sz="1200" i="1" dirty="0" smtClean="0">
                <a:solidFill>
                  <a:schemeClr val="bg2">
                    <a:lumMod val="10000"/>
                  </a:schemeClr>
                </a:solidFill>
                <a:latin typeface="Calibri" pitchFamily="34" charset="0"/>
              </a:rPr>
              <a:t>Real household </a:t>
            </a:r>
            <a:r>
              <a:rPr lang="en-US" sz="1200" i="1" dirty="0">
                <a:solidFill>
                  <a:schemeClr val="bg2">
                    <a:lumMod val="10000"/>
                  </a:schemeClr>
                </a:solidFill>
                <a:latin typeface="Calibri" pitchFamily="34" charset="0"/>
              </a:rPr>
              <a:t>disposable </a:t>
            </a:r>
            <a:r>
              <a:rPr lang="en-US" sz="1200" i="1" dirty="0" smtClean="0">
                <a:solidFill>
                  <a:schemeClr val="bg2">
                    <a:lumMod val="10000"/>
                  </a:schemeClr>
                </a:solidFill>
                <a:latin typeface="Calibri" pitchFamily="34" charset="0"/>
              </a:rPr>
              <a:t>income, total population</a:t>
            </a:r>
            <a:endParaRPr lang="en-US" sz="1200" i="1" dirty="0">
              <a:solidFill>
                <a:schemeClr val="bg2">
                  <a:lumMod val="10000"/>
                </a:schemeClr>
              </a:solidFill>
              <a:latin typeface="Calibri" pitchFamily="34" charset="0"/>
            </a:endParaRPr>
          </a:p>
        </p:txBody>
      </p:sp>
      <p:pic>
        <p:nvPicPr>
          <p:cNvPr id="8194" name="Picture 2" descr="\\main.oecd.org\sdataECO\Units\FRONTOFFICE\Economic Outlooks\EO101\Data and charts\PPT_Figs_E\E_Handout_Fig_inequality_1_2P_P2CL.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82274" y="1887031"/>
            <a:ext cx="4541651" cy="482351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461547" y="6396335"/>
            <a:ext cx="8641830" cy="461665"/>
          </a:xfrm>
          <a:prstGeom prst="rect">
            <a:avLst/>
          </a:prstGeom>
          <a:noFill/>
        </p:spPr>
        <p:txBody>
          <a:bodyPr wrap="square" rtlCol="0">
            <a:spAutoFit/>
          </a:bodyPr>
          <a:lstStyle/>
          <a:p>
            <a:r>
              <a:rPr lang="en-US" sz="1200" dirty="0">
                <a:solidFill>
                  <a:schemeClr val="bg2">
                    <a:lumMod val="10000"/>
                  </a:schemeClr>
                </a:solidFill>
                <a:latin typeface="Calibri" panose="020F0502020204030204" pitchFamily="34" charset="0"/>
              </a:rPr>
              <a:t>Note: </a:t>
            </a:r>
            <a:r>
              <a:rPr lang="en-US" sz="1200" dirty="0" smtClean="0">
                <a:solidFill>
                  <a:schemeClr val="bg2">
                    <a:lumMod val="10000"/>
                  </a:schemeClr>
                </a:solidFill>
                <a:latin typeface="Calibri" panose="020F0502020204030204" pitchFamily="34" charset="0"/>
              </a:rPr>
              <a:t>RHS is the </a:t>
            </a:r>
            <a:r>
              <a:rPr lang="en-US" sz="1200" dirty="0">
                <a:solidFill>
                  <a:schemeClr val="bg2">
                    <a:lumMod val="10000"/>
                  </a:schemeClr>
                </a:solidFill>
                <a:latin typeface="Calibri" panose="020F0502020204030204" pitchFamily="34" charset="0"/>
              </a:rPr>
              <a:t>unweighted average of </a:t>
            </a:r>
            <a:r>
              <a:rPr lang="en-US" sz="1200" dirty="0" smtClean="0">
                <a:solidFill>
                  <a:schemeClr val="bg2">
                    <a:lumMod val="10000"/>
                  </a:schemeClr>
                </a:solidFill>
                <a:latin typeface="Calibri" panose="020F0502020204030204" pitchFamily="34" charset="0"/>
              </a:rPr>
              <a:t>17 OECD countries.</a:t>
            </a:r>
          </a:p>
          <a:p>
            <a:r>
              <a:rPr lang="en-US" sz="1200" dirty="0">
                <a:solidFill>
                  <a:schemeClr val="bg2">
                    <a:lumMod val="10000"/>
                  </a:schemeClr>
                </a:solidFill>
                <a:latin typeface="Calibri" panose="020F0502020204030204" pitchFamily="34" charset="0"/>
              </a:rPr>
              <a:t>Source: OECD June 2017 Economic Outlook </a:t>
            </a:r>
            <a:r>
              <a:rPr lang="en-US" sz="1200" dirty="0" smtClean="0">
                <a:solidFill>
                  <a:schemeClr val="bg2">
                    <a:lumMod val="10000"/>
                  </a:schemeClr>
                </a:solidFill>
                <a:latin typeface="Calibri" panose="020F0502020204030204" pitchFamily="34" charset="0"/>
              </a:rPr>
              <a:t>database; </a:t>
            </a:r>
            <a:r>
              <a:rPr lang="en-US" sz="1200" dirty="0">
                <a:solidFill>
                  <a:schemeClr val="bg2">
                    <a:lumMod val="10000"/>
                  </a:schemeClr>
                </a:solidFill>
                <a:latin typeface="Calibri" panose="020F0502020204030204" pitchFamily="34" charset="0"/>
              </a:rPr>
              <a:t>and </a:t>
            </a:r>
            <a:r>
              <a:rPr lang="en-US" sz="1200" dirty="0" smtClean="0">
                <a:solidFill>
                  <a:schemeClr val="bg2">
                    <a:lumMod val="10000"/>
                  </a:schemeClr>
                </a:solidFill>
                <a:latin typeface="Calibri" panose="020F0502020204030204" pitchFamily="34" charset="0"/>
              </a:rPr>
              <a:t>OECD </a:t>
            </a:r>
            <a:r>
              <a:rPr lang="en-US" sz="1200" dirty="0">
                <a:solidFill>
                  <a:schemeClr val="bg2">
                    <a:lumMod val="10000"/>
                  </a:schemeClr>
                </a:solidFill>
                <a:latin typeface="Calibri" panose="020F0502020204030204" pitchFamily="34" charset="0"/>
              </a:rPr>
              <a:t>Income Distribution database.</a:t>
            </a:r>
          </a:p>
        </p:txBody>
      </p:sp>
    </p:spTree>
    <p:extLst>
      <p:ext uri="{BB962C8B-B14F-4D97-AF65-F5344CB8AC3E}">
        <p14:creationId xmlns:p14="http://schemas.microsoft.com/office/powerpoint/2010/main" val="1622819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37669" y="442666"/>
            <a:ext cx="8378047" cy="523220"/>
          </a:xfrm>
          <a:prstGeom prst="rect">
            <a:avLst/>
          </a:prstGeom>
        </p:spPr>
        <p:txBody>
          <a:bodyPr wrap="square">
            <a:spAutoFit/>
          </a:bodyPr>
          <a:lstStyle/>
          <a:p>
            <a:pPr algn="ctr">
              <a:defRPr/>
            </a:pPr>
            <a:r>
              <a:rPr lang="en-GB" sz="2800" b="1" dirty="0" smtClean="0">
                <a:solidFill>
                  <a:schemeClr val="tx2"/>
                </a:solidFill>
                <a:latin typeface="+mj-lt"/>
              </a:rPr>
              <a:t>OECD Economic Outlook Projections</a:t>
            </a:r>
            <a:endParaRPr lang="en-GB" sz="2800" b="1" dirty="0">
              <a:solidFill>
                <a:schemeClr val="tx2"/>
              </a:solidFill>
              <a:latin typeface="+mj-lt"/>
            </a:endParaRPr>
          </a:p>
        </p:txBody>
      </p:sp>
      <p:sp>
        <p:nvSpPr>
          <p:cNvPr id="11" name="Slide Number Placeholder 10"/>
          <p:cNvSpPr>
            <a:spLocks noGrp="1"/>
          </p:cNvSpPr>
          <p:nvPr>
            <p:ph type="sldNum" sz="quarter" idx="12"/>
          </p:nvPr>
        </p:nvSpPr>
        <p:spPr/>
        <p:txBody>
          <a:bodyPr/>
          <a:lstStyle/>
          <a:p>
            <a:fld id="{FCE284C4-5ED1-4D6C-B7CC-2049C3062C5E}" type="slidenum">
              <a:rPr lang="en-GB" smtClean="0"/>
              <a:t>5</a:t>
            </a:fld>
            <a:endParaRPr lang="en-GB" dirty="0"/>
          </a:p>
        </p:txBody>
      </p:sp>
      <p:sp>
        <p:nvSpPr>
          <p:cNvPr id="6" name="TextBox 5"/>
          <p:cNvSpPr txBox="1"/>
          <p:nvPr/>
        </p:nvSpPr>
        <p:spPr>
          <a:xfrm>
            <a:off x="529723" y="1286395"/>
            <a:ext cx="8136904" cy="584775"/>
          </a:xfrm>
          <a:prstGeom prst="rect">
            <a:avLst/>
          </a:prstGeom>
          <a:noFill/>
        </p:spPr>
        <p:txBody>
          <a:bodyPr wrap="square" rtlCol="0">
            <a:spAutoFit/>
          </a:bodyPr>
          <a:lstStyle/>
          <a:p>
            <a:pPr algn="ctr"/>
            <a:r>
              <a:rPr lang="en-GB" sz="2000" b="1" dirty="0" smtClean="0">
                <a:solidFill>
                  <a:schemeClr val="bg2">
                    <a:lumMod val="10000"/>
                  </a:schemeClr>
                </a:solidFill>
                <a:latin typeface="Calibri" pitchFamily="34" charset="0"/>
              </a:rPr>
              <a:t>Real GDP growth</a:t>
            </a:r>
          </a:p>
          <a:p>
            <a:pPr algn="ctr"/>
            <a:r>
              <a:rPr lang="en-GB" sz="1200" i="1" dirty="0" smtClean="0">
                <a:solidFill>
                  <a:schemeClr val="bg2">
                    <a:lumMod val="10000"/>
                  </a:schemeClr>
                </a:solidFill>
                <a:latin typeface="Calibri" pitchFamily="34" charset="0"/>
              </a:rPr>
              <a:t>Year-on-year, %</a:t>
            </a:r>
          </a:p>
        </p:txBody>
      </p:sp>
      <p:sp>
        <p:nvSpPr>
          <p:cNvPr id="7" name="TextBox 6"/>
          <p:cNvSpPr txBox="1"/>
          <p:nvPr/>
        </p:nvSpPr>
        <p:spPr>
          <a:xfrm>
            <a:off x="1426363" y="5834281"/>
            <a:ext cx="8738087" cy="1015663"/>
          </a:xfrm>
          <a:prstGeom prst="rect">
            <a:avLst/>
          </a:prstGeom>
          <a:noFill/>
        </p:spPr>
        <p:txBody>
          <a:bodyPr wrap="square" rtlCol="0">
            <a:spAutoFit/>
          </a:bodyPr>
          <a:lstStyle/>
          <a:p>
            <a:r>
              <a:rPr lang="en-US" sz="1200" dirty="0" smtClean="0">
                <a:solidFill>
                  <a:schemeClr val="bg2">
                    <a:lumMod val="10000"/>
                  </a:schemeClr>
                </a:solidFill>
                <a:latin typeface="Calibri" panose="020F0502020204030204" pitchFamily="34" charset="0"/>
              </a:rPr>
              <a:t/>
            </a:r>
            <a:br>
              <a:rPr lang="en-US" sz="1200" dirty="0" smtClean="0">
                <a:solidFill>
                  <a:schemeClr val="bg2">
                    <a:lumMod val="10000"/>
                  </a:schemeClr>
                </a:solidFill>
                <a:latin typeface="Calibri" panose="020F0502020204030204" pitchFamily="34" charset="0"/>
              </a:rPr>
            </a:br>
            <a:r>
              <a:rPr lang="en-US" sz="1200" dirty="0" smtClean="0">
                <a:solidFill>
                  <a:schemeClr val="bg2">
                    <a:lumMod val="10000"/>
                  </a:schemeClr>
                </a:solidFill>
                <a:latin typeface="Calibri" panose="020F0502020204030204" pitchFamily="34" charset="0"/>
              </a:rPr>
              <a:t>Note: Difference </a:t>
            </a:r>
            <a:r>
              <a:rPr lang="en-US" sz="1200" dirty="0">
                <a:solidFill>
                  <a:schemeClr val="bg2">
                    <a:lumMod val="10000"/>
                  </a:schemeClr>
                </a:solidFill>
                <a:latin typeface="Calibri" panose="020F0502020204030204" pitchFamily="34" charset="0"/>
              </a:rPr>
              <a:t>in percentage points based on rounded figures. </a:t>
            </a:r>
            <a:endParaRPr lang="en-US" sz="1200" dirty="0" smtClean="0">
              <a:solidFill>
                <a:schemeClr val="bg2">
                  <a:lumMod val="10000"/>
                </a:schemeClr>
              </a:solidFill>
              <a:latin typeface="Calibri" panose="020F0502020204030204" pitchFamily="34" charset="0"/>
            </a:endParaRPr>
          </a:p>
          <a:p>
            <a:r>
              <a:rPr lang="en-US" sz="1200" dirty="0" smtClean="0">
                <a:solidFill>
                  <a:schemeClr val="bg2">
                    <a:lumMod val="10000"/>
                  </a:schemeClr>
                </a:solidFill>
                <a:latin typeface="Calibri" panose="020F0502020204030204" pitchFamily="34" charset="0"/>
              </a:rPr>
              <a:t>1. With growth in Ireland in 2015 computed using gross value added at constant prices excluding</a:t>
            </a:r>
            <a:br>
              <a:rPr lang="en-US" sz="1200" dirty="0" smtClean="0">
                <a:solidFill>
                  <a:schemeClr val="bg2">
                    <a:lumMod val="10000"/>
                  </a:schemeClr>
                </a:solidFill>
                <a:latin typeface="Calibri" panose="020F0502020204030204" pitchFamily="34" charset="0"/>
              </a:rPr>
            </a:br>
            <a:r>
              <a:rPr lang="en-US" sz="1200" dirty="0" smtClean="0">
                <a:solidFill>
                  <a:schemeClr val="bg2">
                    <a:lumMod val="10000"/>
                  </a:schemeClr>
                </a:solidFill>
                <a:latin typeface="Calibri" panose="020F0502020204030204" pitchFamily="34" charset="0"/>
              </a:rPr>
              <a:t>foreign-owned multinational enterprise dominated sectors.</a:t>
            </a:r>
          </a:p>
          <a:p>
            <a:r>
              <a:rPr lang="en-US" sz="1200" dirty="0" smtClean="0">
                <a:solidFill>
                  <a:schemeClr val="bg2">
                    <a:lumMod val="10000"/>
                  </a:schemeClr>
                </a:solidFill>
                <a:latin typeface="Calibri" panose="020F0502020204030204" pitchFamily="34" charset="0"/>
              </a:rPr>
              <a:t>2. Fiscal </a:t>
            </a:r>
            <a:r>
              <a:rPr lang="en-US" sz="1200" dirty="0">
                <a:solidFill>
                  <a:schemeClr val="bg2">
                    <a:lumMod val="10000"/>
                  </a:schemeClr>
                </a:solidFill>
                <a:latin typeface="Calibri" panose="020F0502020204030204" pitchFamily="34" charset="0"/>
              </a:rPr>
              <a:t>years starting in April</a:t>
            </a:r>
            <a:r>
              <a:rPr lang="en-US" sz="1200" dirty="0" smtClean="0">
                <a:solidFill>
                  <a:schemeClr val="bg2">
                    <a:lumMod val="10000"/>
                  </a:schemeClr>
                </a:solidFill>
                <a:latin typeface="Calibri" panose="020F0502020204030204" pitchFamily="34" charset="0"/>
              </a:rPr>
              <a:t>.</a:t>
            </a:r>
          </a:p>
        </p:txBody>
      </p:sp>
      <p:pic>
        <p:nvPicPr>
          <p:cNvPr id="8" name="Picture 7"/>
          <p:cNvPicPr/>
          <p:nvPr/>
        </p:nvPicPr>
        <p:blipFill>
          <a:blip r:embed="rId3">
            <a:extLst>
              <a:ext uri="{28A0092B-C50C-407E-A947-70E740481C1C}">
                <a14:useLocalDpi xmlns:a14="http://schemas.microsoft.com/office/drawing/2010/main" val="0"/>
              </a:ext>
            </a:extLst>
          </a:blip>
          <a:srcRect/>
          <a:stretch>
            <a:fillRect/>
          </a:stretch>
        </p:blipFill>
        <p:spPr bwMode="auto">
          <a:xfrm>
            <a:off x="1383292" y="1834981"/>
            <a:ext cx="6213044" cy="4222126"/>
          </a:xfrm>
          <a:prstGeom prst="rect">
            <a:avLst/>
          </a:prstGeom>
          <a:noFill/>
          <a:ln>
            <a:noFill/>
          </a:ln>
        </p:spPr>
      </p:pic>
    </p:spTree>
    <p:extLst>
      <p:ext uri="{BB962C8B-B14F-4D97-AF65-F5344CB8AC3E}">
        <p14:creationId xmlns:p14="http://schemas.microsoft.com/office/powerpoint/2010/main" val="127252702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3" descr="\\main.oecd.org\sdataECO\Units\FRONTOFFICE\Economic Outlooks\EO101\Data and charts\PPT_Figs_E\E_Handout_Fig_Confidence_indicators_1_2P_P2CL.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512" y="1598788"/>
            <a:ext cx="4678679" cy="4844184"/>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main.oecd.org\sdataECO\Units\FRONTOFFICE\Economic Outlooks\EO101\Data and charts\Figs_E\E_Handout_Fig_Confidence_indicators_rolling_1_2P_P2CL.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77716" y="1598788"/>
            <a:ext cx="4697106" cy="484418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798860" y="260648"/>
            <a:ext cx="7920880" cy="954107"/>
          </a:xfrm>
          <a:prstGeom prst="rect">
            <a:avLst/>
          </a:prstGeom>
        </p:spPr>
        <p:txBody>
          <a:bodyPr wrap="square">
            <a:spAutoFit/>
          </a:bodyPr>
          <a:lstStyle/>
          <a:p>
            <a:pPr algn="ctr">
              <a:defRPr/>
            </a:pPr>
            <a:r>
              <a:rPr lang="en-US" sz="2800" b="1" dirty="0" smtClean="0">
                <a:solidFill>
                  <a:schemeClr val="tx2"/>
                </a:solidFill>
                <a:latin typeface="+mj-lt"/>
              </a:rPr>
              <a:t>Confidence indicators point to pick-up,</a:t>
            </a:r>
            <a:br>
              <a:rPr lang="en-US" sz="2800" b="1" dirty="0" smtClean="0">
                <a:solidFill>
                  <a:schemeClr val="tx2"/>
                </a:solidFill>
                <a:latin typeface="+mj-lt"/>
              </a:rPr>
            </a:br>
            <a:r>
              <a:rPr lang="en-US" sz="2800" b="1" dirty="0" smtClean="0">
                <a:solidFill>
                  <a:schemeClr val="tx2"/>
                </a:solidFill>
                <a:latin typeface="+mj-lt"/>
              </a:rPr>
              <a:t>but they have become less reliable</a:t>
            </a:r>
          </a:p>
        </p:txBody>
      </p:sp>
      <p:sp>
        <p:nvSpPr>
          <p:cNvPr id="7" name="Slide Number Placeholder 6"/>
          <p:cNvSpPr>
            <a:spLocks noGrp="1"/>
          </p:cNvSpPr>
          <p:nvPr>
            <p:ph type="sldNum" sz="quarter" idx="12"/>
          </p:nvPr>
        </p:nvSpPr>
        <p:spPr/>
        <p:txBody>
          <a:bodyPr/>
          <a:lstStyle/>
          <a:p>
            <a:fld id="{FCE284C4-5ED1-4D6C-B7CC-2049C3062C5E}" type="slidenum">
              <a:rPr lang="en-GB" smtClean="0"/>
              <a:t>6</a:t>
            </a:fld>
            <a:endParaRPr lang="en-GB" dirty="0"/>
          </a:p>
        </p:txBody>
      </p:sp>
      <p:sp>
        <p:nvSpPr>
          <p:cNvPr id="10" name="TextBox 9"/>
          <p:cNvSpPr txBox="1"/>
          <p:nvPr/>
        </p:nvSpPr>
        <p:spPr>
          <a:xfrm>
            <a:off x="-333763" y="1306400"/>
            <a:ext cx="5202324" cy="584775"/>
          </a:xfrm>
          <a:prstGeom prst="rect">
            <a:avLst/>
          </a:prstGeom>
          <a:noFill/>
        </p:spPr>
        <p:txBody>
          <a:bodyPr wrap="square" rtlCol="0">
            <a:spAutoFit/>
          </a:bodyPr>
          <a:lstStyle/>
          <a:p>
            <a:pPr algn="ctr"/>
            <a:r>
              <a:rPr lang="en-GB" sz="2000" b="1" dirty="0" smtClean="0">
                <a:solidFill>
                  <a:schemeClr val="bg2">
                    <a:lumMod val="10000"/>
                  </a:schemeClr>
                </a:solidFill>
                <a:latin typeface="Calibri" pitchFamily="34" charset="0"/>
              </a:rPr>
              <a:t>Consumer and business confidence</a:t>
            </a:r>
            <a:br>
              <a:rPr lang="en-GB" sz="2000" b="1" dirty="0" smtClean="0">
                <a:solidFill>
                  <a:schemeClr val="bg2">
                    <a:lumMod val="10000"/>
                  </a:schemeClr>
                </a:solidFill>
                <a:latin typeface="Calibri" pitchFamily="34" charset="0"/>
              </a:rPr>
            </a:br>
            <a:r>
              <a:rPr lang="en-GB" sz="1200" i="1" dirty="0">
                <a:solidFill>
                  <a:srgbClr val="E6E6E6">
                    <a:lumMod val="10000"/>
                  </a:srgbClr>
                </a:solidFill>
                <a:latin typeface="Calibri" pitchFamily="34" charset="0"/>
              </a:rPr>
              <a:t>OECD and </a:t>
            </a:r>
            <a:r>
              <a:rPr lang="en-GB" sz="1200" i="1" dirty="0" smtClean="0">
                <a:solidFill>
                  <a:srgbClr val="E6E6E6">
                    <a:lumMod val="10000"/>
                  </a:srgbClr>
                </a:solidFill>
                <a:latin typeface="Calibri" pitchFamily="34" charset="0"/>
              </a:rPr>
              <a:t>BRIICS, Index</a:t>
            </a:r>
            <a:endParaRPr lang="en-GB" sz="2000" baseline="30000" dirty="0">
              <a:solidFill>
                <a:schemeClr val="bg2">
                  <a:lumMod val="10000"/>
                </a:schemeClr>
              </a:solidFill>
              <a:latin typeface="Calibri" pitchFamily="34" charset="0"/>
            </a:endParaRPr>
          </a:p>
        </p:txBody>
      </p:sp>
      <p:sp>
        <p:nvSpPr>
          <p:cNvPr id="12" name="TextBox 11"/>
          <p:cNvSpPr txBox="1"/>
          <p:nvPr/>
        </p:nvSpPr>
        <p:spPr>
          <a:xfrm>
            <a:off x="171736" y="6211669"/>
            <a:ext cx="8438329" cy="646331"/>
          </a:xfrm>
          <a:prstGeom prst="rect">
            <a:avLst/>
          </a:prstGeom>
          <a:noFill/>
        </p:spPr>
        <p:txBody>
          <a:bodyPr wrap="square" rtlCol="0">
            <a:spAutoFit/>
          </a:bodyPr>
          <a:lstStyle/>
          <a:p>
            <a:r>
              <a:rPr lang="en-US" sz="1200" dirty="0">
                <a:solidFill>
                  <a:schemeClr val="bg2">
                    <a:lumMod val="10000"/>
                  </a:schemeClr>
                </a:solidFill>
                <a:latin typeface="Calibri" panose="020F0502020204030204" pitchFamily="34" charset="0"/>
              </a:rPr>
              <a:t>Note: Confidence indices are GDP PPP weighted averages of </a:t>
            </a:r>
            <a:r>
              <a:rPr lang="en-US" sz="1200" dirty="0" smtClean="0">
                <a:solidFill>
                  <a:schemeClr val="bg2">
                    <a:lumMod val="10000"/>
                  </a:schemeClr>
                </a:solidFill>
                <a:latin typeface="Calibri" panose="020F0502020204030204" pitchFamily="34" charset="0"/>
              </a:rPr>
              <a:t>individual country standardised series where long-term average = 100. </a:t>
            </a:r>
            <a:br>
              <a:rPr lang="en-US" sz="1200" dirty="0" smtClean="0">
                <a:solidFill>
                  <a:schemeClr val="bg2">
                    <a:lumMod val="10000"/>
                  </a:schemeClr>
                </a:solidFill>
                <a:latin typeface="Calibri" panose="020F0502020204030204" pitchFamily="34" charset="0"/>
              </a:rPr>
            </a:br>
            <a:r>
              <a:rPr lang="en-US" sz="1200" dirty="0" smtClean="0">
                <a:solidFill>
                  <a:schemeClr val="bg2">
                    <a:lumMod val="10000"/>
                  </a:schemeClr>
                </a:solidFill>
                <a:latin typeface="Calibri" panose="020F0502020204030204" pitchFamily="34" charset="0"/>
              </a:rPr>
              <a:t>Consumer </a:t>
            </a:r>
            <a:r>
              <a:rPr lang="en-US" sz="1200" dirty="0">
                <a:solidFill>
                  <a:schemeClr val="bg2">
                    <a:lumMod val="10000"/>
                  </a:schemeClr>
                </a:solidFill>
                <a:latin typeface="Calibri" panose="020F0502020204030204" pitchFamily="34" charset="0"/>
              </a:rPr>
              <a:t>confidence </a:t>
            </a:r>
            <a:r>
              <a:rPr lang="en-US" sz="1200" dirty="0" smtClean="0">
                <a:solidFill>
                  <a:schemeClr val="bg2">
                    <a:lumMod val="10000"/>
                  </a:schemeClr>
                </a:solidFill>
                <a:latin typeface="Calibri" panose="020F0502020204030204" pitchFamily="34" charset="0"/>
              </a:rPr>
              <a:t>correlation </a:t>
            </a:r>
            <a:r>
              <a:rPr lang="en-US" sz="1200" dirty="0">
                <a:solidFill>
                  <a:schemeClr val="bg2">
                    <a:lumMod val="10000"/>
                  </a:schemeClr>
                </a:solidFill>
                <a:latin typeface="Calibri" panose="020F0502020204030204" pitchFamily="34" charset="0"/>
              </a:rPr>
              <a:t>with global retail sales </a:t>
            </a:r>
            <a:r>
              <a:rPr lang="en-US" sz="1200" dirty="0" smtClean="0">
                <a:solidFill>
                  <a:schemeClr val="bg2">
                    <a:lumMod val="10000"/>
                  </a:schemeClr>
                </a:solidFill>
                <a:latin typeface="Calibri" panose="020F0502020204030204" pitchFamily="34" charset="0"/>
              </a:rPr>
              <a:t>growth and </a:t>
            </a:r>
            <a:r>
              <a:rPr lang="en-US" sz="1200" dirty="0">
                <a:solidFill>
                  <a:schemeClr val="bg2">
                    <a:lumMod val="10000"/>
                  </a:schemeClr>
                </a:solidFill>
                <a:latin typeface="Calibri" panose="020F0502020204030204" pitchFamily="34" charset="0"/>
              </a:rPr>
              <a:t>b</a:t>
            </a:r>
            <a:r>
              <a:rPr lang="en-US" sz="1200" dirty="0" smtClean="0">
                <a:solidFill>
                  <a:schemeClr val="bg2">
                    <a:lumMod val="10000"/>
                  </a:schemeClr>
                </a:solidFill>
                <a:latin typeface="Calibri" panose="020F0502020204030204" pitchFamily="34" charset="0"/>
              </a:rPr>
              <a:t>usiness </a:t>
            </a:r>
            <a:r>
              <a:rPr lang="en-US" sz="1200" dirty="0">
                <a:solidFill>
                  <a:schemeClr val="bg2">
                    <a:lumMod val="10000"/>
                  </a:schemeClr>
                </a:solidFill>
                <a:latin typeface="Calibri" panose="020F0502020204030204" pitchFamily="34" charset="0"/>
              </a:rPr>
              <a:t>confidence </a:t>
            </a:r>
            <a:r>
              <a:rPr lang="en-US" sz="1200" dirty="0" smtClean="0">
                <a:solidFill>
                  <a:schemeClr val="bg2">
                    <a:lumMod val="10000"/>
                  </a:schemeClr>
                </a:solidFill>
                <a:latin typeface="Calibri" panose="020F0502020204030204" pitchFamily="34" charset="0"/>
              </a:rPr>
              <a:t>with global </a:t>
            </a:r>
            <a:r>
              <a:rPr lang="en-US" sz="1200" dirty="0">
                <a:solidFill>
                  <a:schemeClr val="bg2">
                    <a:lumMod val="10000"/>
                  </a:schemeClr>
                </a:solidFill>
                <a:latin typeface="Calibri" panose="020F0502020204030204" pitchFamily="34" charset="0"/>
              </a:rPr>
              <a:t>industrial production </a:t>
            </a:r>
            <a:r>
              <a:rPr lang="en-US" sz="1200" dirty="0" smtClean="0">
                <a:solidFill>
                  <a:schemeClr val="bg2">
                    <a:lumMod val="10000"/>
                  </a:schemeClr>
                </a:solidFill>
                <a:latin typeface="Calibri" panose="020F0502020204030204" pitchFamily="34" charset="0"/>
              </a:rPr>
              <a:t>growth.</a:t>
            </a:r>
          </a:p>
          <a:p>
            <a:r>
              <a:rPr lang="en-US" sz="1200" dirty="0" smtClean="0">
                <a:solidFill>
                  <a:schemeClr val="bg2">
                    <a:lumMod val="10000"/>
                  </a:schemeClr>
                </a:solidFill>
                <a:latin typeface="Calibri" panose="020F0502020204030204" pitchFamily="34" charset="0"/>
              </a:rPr>
              <a:t>Source: OECD </a:t>
            </a:r>
            <a:r>
              <a:rPr lang="en-US" sz="1200" dirty="0">
                <a:solidFill>
                  <a:schemeClr val="bg2">
                    <a:lumMod val="10000"/>
                  </a:schemeClr>
                </a:solidFill>
                <a:latin typeface="Calibri" panose="020F0502020204030204" pitchFamily="34" charset="0"/>
              </a:rPr>
              <a:t>Main Economic Indicators database; </a:t>
            </a:r>
            <a:r>
              <a:rPr lang="en-US" sz="1200" dirty="0" smtClean="0">
                <a:solidFill>
                  <a:schemeClr val="bg2">
                    <a:lumMod val="10000"/>
                  </a:schemeClr>
                </a:solidFill>
                <a:latin typeface="Calibri" panose="020F0502020204030204" pitchFamily="34" charset="0"/>
              </a:rPr>
              <a:t>and </a:t>
            </a:r>
            <a:r>
              <a:rPr lang="en-US" sz="1200" dirty="0">
                <a:solidFill>
                  <a:schemeClr val="bg2">
                    <a:lumMod val="10000"/>
                  </a:schemeClr>
                </a:solidFill>
                <a:latin typeface="Calibri" panose="020F0502020204030204" pitchFamily="34" charset="0"/>
              </a:rPr>
              <a:t>OECD calculations.</a:t>
            </a:r>
            <a:endParaRPr lang="en-US" sz="1200" dirty="0" smtClean="0">
              <a:solidFill>
                <a:schemeClr val="bg2">
                  <a:lumMod val="10000"/>
                </a:schemeClr>
              </a:solidFill>
              <a:latin typeface="Calibri" panose="020F0502020204030204" pitchFamily="34" charset="0"/>
            </a:endParaRPr>
          </a:p>
        </p:txBody>
      </p:sp>
      <p:sp>
        <p:nvSpPr>
          <p:cNvPr id="8" name="TextBox 7"/>
          <p:cNvSpPr txBox="1"/>
          <p:nvPr/>
        </p:nvSpPr>
        <p:spPr>
          <a:xfrm>
            <a:off x="4139952" y="1306401"/>
            <a:ext cx="5202324" cy="584775"/>
          </a:xfrm>
          <a:prstGeom prst="rect">
            <a:avLst/>
          </a:prstGeom>
          <a:noFill/>
        </p:spPr>
        <p:txBody>
          <a:bodyPr wrap="square" rtlCol="0">
            <a:spAutoFit/>
          </a:bodyPr>
          <a:lstStyle/>
          <a:p>
            <a:pPr algn="ctr"/>
            <a:r>
              <a:rPr lang="en-GB" sz="2000" b="1" dirty="0" smtClean="0">
                <a:solidFill>
                  <a:schemeClr val="bg2">
                    <a:lumMod val="10000"/>
                  </a:schemeClr>
                </a:solidFill>
                <a:latin typeface="Calibri" pitchFamily="34" charset="0"/>
              </a:rPr>
              <a:t>Performance of confidence indicators</a:t>
            </a:r>
          </a:p>
          <a:p>
            <a:pPr algn="ctr"/>
            <a:r>
              <a:rPr lang="en-GB" sz="1200" i="1" dirty="0">
                <a:solidFill>
                  <a:srgbClr val="E6E6E6">
                    <a:lumMod val="10000"/>
                  </a:srgbClr>
                </a:solidFill>
                <a:latin typeface="Calibri" pitchFamily="34" charset="0"/>
              </a:rPr>
              <a:t>OECD and </a:t>
            </a:r>
            <a:r>
              <a:rPr lang="en-GB" sz="1200" i="1" dirty="0" smtClean="0">
                <a:solidFill>
                  <a:srgbClr val="E6E6E6">
                    <a:lumMod val="10000"/>
                  </a:srgbClr>
                </a:solidFill>
                <a:latin typeface="Calibri" pitchFamily="34" charset="0"/>
              </a:rPr>
              <a:t>BRIICS, 5-year correlation with activity</a:t>
            </a:r>
            <a:endParaRPr lang="en-GB" sz="2000" baseline="30000" dirty="0">
              <a:solidFill>
                <a:schemeClr val="bg2">
                  <a:lumMod val="10000"/>
                </a:schemeClr>
              </a:solidFill>
              <a:latin typeface="Calibri" pitchFamily="34" charset="0"/>
            </a:endParaRPr>
          </a:p>
        </p:txBody>
      </p:sp>
    </p:spTree>
    <p:extLst>
      <p:ext uri="{BB962C8B-B14F-4D97-AF65-F5344CB8AC3E}">
        <p14:creationId xmlns:p14="http://schemas.microsoft.com/office/powerpoint/2010/main" val="25831687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main.oecd.org\sdataECO\Units\FRONTOFFICE\Economic Outlooks\EO101\Data and charts\PPT_Figs_E\E_Handout_Fig_High_tech_1_2P_P2CL.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02732" y="1604989"/>
            <a:ext cx="4537260" cy="4571490"/>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descr="\\main.oecd.org\sdataECO\Units\FRONTOFFICE\Economic Outlooks\EO101\Data and charts\PPT_Figs_E\E_Handout_Fig_Fig_Productive_Capital_Stock_1_2P_P2CL.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573" y="1604989"/>
            <a:ext cx="4475419" cy="457149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802183" y="233427"/>
            <a:ext cx="8235069" cy="923330"/>
          </a:xfrm>
          <a:prstGeom prst="rect">
            <a:avLst/>
          </a:prstGeom>
        </p:spPr>
        <p:txBody>
          <a:bodyPr wrap="square">
            <a:spAutoFit/>
          </a:bodyPr>
          <a:lstStyle/>
          <a:p>
            <a:pPr algn="ctr">
              <a:defRPr/>
            </a:pPr>
            <a:r>
              <a:rPr lang="en-US" sz="2700" b="1" dirty="0" smtClean="0">
                <a:solidFill>
                  <a:schemeClr val="tx2"/>
                </a:solidFill>
                <a:latin typeface="+mj-lt"/>
              </a:rPr>
              <a:t>Investment is increasing but capital stock is old </a:t>
            </a:r>
            <a:r>
              <a:rPr lang="en-US" sz="2700" b="1" dirty="0">
                <a:solidFill>
                  <a:schemeClr val="tx2"/>
                </a:solidFill>
                <a:latin typeface="+mj-lt"/>
              </a:rPr>
              <a:t>P</a:t>
            </a:r>
            <a:r>
              <a:rPr lang="en-US" sz="2700" b="1" dirty="0" smtClean="0">
                <a:solidFill>
                  <a:schemeClr val="tx2"/>
                </a:solidFill>
                <a:latin typeface="+mj-lt"/>
              </a:rPr>
              <a:t>otential upside from technology upgrading</a:t>
            </a:r>
          </a:p>
        </p:txBody>
      </p:sp>
      <p:sp>
        <p:nvSpPr>
          <p:cNvPr id="7" name="Slide Number Placeholder 6"/>
          <p:cNvSpPr>
            <a:spLocks noGrp="1"/>
          </p:cNvSpPr>
          <p:nvPr>
            <p:ph type="sldNum" sz="quarter" idx="12"/>
          </p:nvPr>
        </p:nvSpPr>
        <p:spPr/>
        <p:txBody>
          <a:bodyPr/>
          <a:lstStyle/>
          <a:p>
            <a:fld id="{FCE284C4-5ED1-4D6C-B7CC-2049C3062C5E}" type="slidenum">
              <a:rPr lang="en-GB" smtClean="0"/>
              <a:t>7</a:t>
            </a:fld>
            <a:endParaRPr lang="en-GB" dirty="0"/>
          </a:p>
        </p:txBody>
      </p:sp>
      <p:sp>
        <p:nvSpPr>
          <p:cNvPr id="11" name="TextBox 10"/>
          <p:cNvSpPr txBox="1"/>
          <p:nvPr/>
        </p:nvSpPr>
        <p:spPr>
          <a:xfrm>
            <a:off x="99037" y="5966214"/>
            <a:ext cx="8496944" cy="900246"/>
          </a:xfrm>
          <a:prstGeom prst="rect">
            <a:avLst/>
          </a:prstGeom>
          <a:noFill/>
        </p:spPr>
        <p:txBody>
          <a:bodyPr wrap="square" rtlCol="0">
            <a:spAutoFit/>
          </a:bodyPr>
          <a:lstStyle/>
          <a:p>
            <a:r>
              <a:rPr lang="en-US" sz="1050" dirty="0" smtClean="0">
                <a:solidFill>
                  <a:schemeClr val="bg2">
                    <a:lumMod val="10000"/>
                  </a:schemeClr>
                </a:solidFill>
                <a:latin typeface="Calibri" panose="020F0502020204030204" pitchFamily="34" charset="0"/>
              </a:rPr>
              <a:t>Note</a:t>
            </a:r>
            <a:r>
              <a:rPr lang="en-US" sz="1050" dirty="0">
                <a:solidFill>
                  <a:schemeClr val="bg2">
                    <a:lumMod val="10000"/>
                  </a:schemeClr>
                </a:solidFill>
                <a:latin typeface="Calibri" panose="020F0502020204030204" pitchFamily="34" charset="0"/>
              </a:rPr>
              <a:t>: </a:t>
            </a:r>
            <a:r>
              <a:rPr lang="en-US" sz="1050" dirty="0" smtClean="0">
                <a:solidFill>
                  <a:schemeClr val="bg2">
                    <a:lumMod val="10000"/>
                  </a:schemeClr>
                </a:solidFill>
                <a:latin typeface="Calibri" panose="020F0502020204030204" pitchFamily="34" charset="0"/>
              </a:rPr>
              <a:t>Global </a:t>
            </a:r>
            <a:r>
              <a:rPr lang="en-US" sz="1050" dirty="0">
                <a:solidFill>
                  <a:schemeClr val="bg2">
                    <a:lumMod val="10000"/>
                  </a:schemeClr>
                </a:solidFill>
                <a:latin typeface="Calibri" panose="020F0502020204030204" pitchFamily="34" charset="0"/>
              </a:rPr>
              <a:t>semi-conductor billings in nominal US dollars. </a:t>
            </a:r>
            <a:r>
              <a:rPr lang="en-US" sz="1050" dirty="0" smtClean="0">
                <a:solidFill>
                  <a:schemeClr val="bg2">
                    <a:lumMod val="10000"/>
                  </a:schemeClr>
                </a:solidFill>
                <a:latin typeface="Calibri" panose="020F0502020204030204" pitchFamily="34" charset="0"/>
              </a:rPr>
              <a:t>Major advanced computer </a:t>
            </a:r>
            <a:r>
              <a:rPr lang="en-US" sz="1050" dirty="0">
                <a:solidFill>
                  <a:schemeClr val="bg2">
                    <a:lumMod val="10000"/>
                  </a:schemeClr>
                </a:solidFill>
                <a:latin typeface="Calibri" panose="020F0502020204030204" pitchFamily="34" charset="0"/>
              </a:rPr>
              <a:t>and electronics output is a weighted average of production of computer and electronic products </a:t>
            </a:r>
            <a:r>
              <a:rPr lang="en-US" sz="1050" dirty="0" smtClean="0">
                <a:solidFill>
                  <a:schemeClr val="bg2">
                    <a:lumMod val="10000"/>
                  </a:schemeClr>
                </a:solidFill>
                <a:latin typeface="Calibri" panose="020F0502020204030204" pitchFamily="34" charset="0"/>
              </a:rPr>
              <a:t>for the United States, </a:t>
            </a:r>
            <a:r>
              <a:rPr lang="en-US" sz="1050" dirty="0">
                <a:solidFill>
                  <a:schemeClr val="bg2">
                    <a:lumMod val="10000"/>
                  </a:schemeClr>
                </a:solidFill>
                <a:latin typeface="Calibri" panose="020F0502020204030204" pitchFamily="34" charset="0"/>
              </a:rPr>
              <a:t>output of computer, </a:t>
            </a:r>
            <a:r>
              <a:rPr lang="en-US" sz="1050" dirty="0" smtClean="0">
                <a:solidFill>
                  <a:schemeClr val="bg2">
                    <a:lumMod val="10000"/>
                  </a:schemeClr>
                </a:solidFill>
                <a:latin typeface="Calibri" panose="020F0502020204030204" pitchFamily="34" charset="0"/>
              </a:rPr>
              <a:t>electronic </a:t>
            </a:r>
            <a:r>
              <a:rPr lang="en-US" sz="1050" dirty="0">
                <a:solidFill>
                  <a:schemeClr val="bg2">
                    <a:lumMod val="10000"/>
                  </a:schemeClr>
                </a:solidFill>
                <a:latin typeface="Calibri" panose="020F0502020204030204" pitchFamily="34" charset="0"/>
              </a:rPr>
              <a:t>and optical </a:t>
            </a:r>
            <a:r>
              <a:rPr lang="en-US" sz="1050" dirty="0" smtClean="0">
                <a:solidFill>
                  <a:schemeClr val="bg2">
                    <a:lumMod val="10000"/>
                  </a:schemeClr>
                </a:solidFill>
                <a:latin typeface="Calibri" panose="020F0502020204030204" pitchFamily="34" charset="0"/>
              </a:rPr>
              <a:t>products for Germany, </a:t>
            </a:r>
            <a:r>
              <a:rPr lang="en-US" sz="1050" dirty="0">
                <a:solidFill>
                  <a:schemeClr val="bg2">
                    <a:lumMod val="10000"/>
                  </a:schemeClr>
                </a:solidFill>
                <a:latin typeface="Calibri" panose="020F0502020204030204" pitchFamily="34" charset="0"/>
              </a:rPr>
              <a:t>and production of information and communications electronics equipment plus electronic parts and devices </a:t>
            </a:r>
            <a:r>
              <a:rPr lang="en-US" sz="1050" dirty="0" smtClean="0">
                <a:solidFill>
                  <a:schemeClr val="bg2">
                    <a:lumMod val="10000"/>
                  </a:schemeClr>
                </a:solidFill>
                <a:latin typeface="Calibri" panose="020F0502020204030204" pitchFamily="34" charset="0"/>
              </a:rPr>
              <a:t>for Japan.</a:t>
            </a:r>
            <a:br>
              <a:rPr lang="en-US" sz="1050" dirty="0" smtClean="0">
                <a:solidFill>
                  <a:schemeClr val="bg2">
                    <a:lumMod val="10000"/>
                  </a:schemeClr>
                </a:solidFill>
                <a:latin typeface="Calibri" panose="020F0502020204030204" pitchFamily="34" charset="0"/>
              </a:rPr>
            </a:br>
            <a:r>
              <a:rPr lang="en-US" sz="1050" dirty="0" smtClean="0">
                <a:solidFill>
                  <a:schemeClr val="bg2">
                    <a:lumMod val="10000"/>
                  </a:schemeClr>
                </a:solidFill>
                <a:latin typeface="Calibri" panose="020F0502020204030204" pitchFamily="34" charset="0"/>
              </a:rPr>
              <a:t>Source: OECD June 2017 Economic Outlook database</a:t>
            </a:r>
            <a:r>
              <a:rPr lang="en-US" sz="1050" dirty="0">
                <a:solidFill>
                  <a:schemeClr val="bg2">
                    <a:lumMod val="10000"/>
                  </a:schemeClr>
                </a:solidFill>
                <a:latin typeface="Calibri" panose="020F0502020204030204" pitchFamily="34" charset="0"/>
              </a:rPr>
              <a:t>; World Semi-Conductor Statistics; Eurostat; Board of Governors of the Federal Reserve System; </a:t>
            </a:r>
            <a:r>
              <a:rPr lang="en-US" sz="1050" dirty="0" smtClean="0">
                <a:solidFill>
                  <a:schemeClr val="bg2">
                    <a:lumMod val="10000"/>
                  </a:schemeClr>
                </a:solidFill>
                <a:latin typeface="Calibri" panose="020F0502020204030204" pitchFamily="34" charset="0"/>
              </a:rPr>
              <a:t>Japan Ministry </a:t>
            </a:r>
            <a:r>
              <a:rPr lang="en-US" sz="1050" dirty="0">
                <a:solidFill>
                  <a:schemeClr val="bg2">
                    <a:lumMod val="10000"/>
                  </a:schemeClr>
                </a:solidFill>
                <a:latin typeface="Calibri" panose="020F0502020204030204" pitchFamily="34" charset="0"/>
              </a:rPr>
              <a:t>of Economy, Trade and </a:t>
            </a:r>
            <a:r>
              <a:rPr lang="en-US" sz="1050" dirty="0" smtClean="0">
                <a:solidFill>
                  <a:schemeClr val="bg2">
                    <a:lumMod val="10000"/>
                  </a:schemeClr>
                </a:solidFill>
                <a:latin typeface="Calibri" panose="020F0502020204030204" pitchFamily="34" charset="0"/>
              </a:rPr>
              <a:t>Industry; </a:t>
            </a:r>
            <a:r>
              <a:rPr lang="en-US" sz="1050" dirty="0">
                <a:solidFill>
                  <a:schemeClr val="bg2">
                    <a:lumMod val="10000"/>
                  </a:schemeClr>
                </a:solidFill>
                <a:latin typeface="Calibri" panose="020F0502020204030204" pitchFamily="34" charset="0"/>
              </a:rPr>
              <a:t>and OECD calculations</a:t>
            </a:r>
            <a:r>
              <a:rPr lang="en-US" sz="1050" dirty="0" smtClean="0">
                <a:solidFill>
                  <a:schemeClr val="bg2">
                    <a:lumMod val="10000"/>
                  </a:schemeClr>
                </a:solidFill>
                <a:latin typeface="Calibri" panose="020F0502020204030204" pitchFamily="34" charset="0"/>
              </a:rPr>
              <a:t>.</a:t>
            </a:r>
          </a:p>
        </p:txBody>
      </p:sp>
      <p:sp>
        <p:nvSpPr>
          <p:cNvPr id="9" name="TextBox 8"/>
          <p:cNvSpPr txBox="1"/>
          <p:nvPr/>
        </p:nvSpPr>
        <p:spPr>
          <a:xfrm>
            <a:off x="4165430" y="1281780"/>
            <a:ext cx="5202324" cy="605294"/>
          </a:xfrm>
          <a:prstGeom prst="rect">
            <a:avLst/>
          </a:prstGeom>
          <a:noFill/>
        </p:spPr>
        <p:txBody>
          <a:bodyPr wrap="square" rtlCol="0">
            <a:spAutoFit/>
          </a:bodyPr>
          <a:lstStyle/>
          <a:p>
            <a:pPr algn="ctr"/>
            <a:r>
              <a:rPr lang="en-GB" sz="2000" b="1" dirty="0" smtClean="0">
                <a:solidFill>
                  <a:schemeClr val="bg2">
                    <a:lumMod val="10000"/>
                  </a:schemeClr>
                </a:solidFill>
                <a:latin typeface="Calibri" pitchFamily="34" charset="0"/>
              </a:rPr>
              <a:t>High tech products</a:t>
            </a:r>
            <a:br>
              <a:rPr lang="en-GB" sz="2000" b="1" dirty="0" smtClean="0">
                <a:solidFill>
                  <a:schemeClr val="bg2">
                    <a:lumMod val="10000"/>
                  </a:schemeClr>
                </a:solidFill>
                <a:latin typeface="Calibri" pitchFamily="34" charset="0"/>
              </a:rPr>
            </a:br>
            <a:endParaRPr lang="en-GB" sz="2000" baseline="30000" dirty="0">
              <a:solidFill>
                <a:schemeClr val="bg2">
                  <a:lumMod val="10000"/>
                </a:schemeClr>
              </a:solidFill>
              <a:latin typeface="Calibri" pitchFamily="34" charset="0"/>
            </a:endParaRPr>
          </a:p>
        </p:txBody>
      </p:sp>
      <p:sp>
        <p:nvSpPr>
          <p:cNvPr id="8" name="TextBox 7"/>
          <p:cNvSpPr txBox="1"/>
          <p:nvPr/>
        </p:nvSpPr>
        <p:spPr>
          <a:xfrm>
            <a:off x="-563133" y="1281780"/>
            <a:ext cx="5650830" cy="400110"/>
          </a:xfrm>
          <a:prstGeom prst="rect">
            <a:avLst/>
          </a:prstGeom>
          <a:noFill/>
        </p:spPr>
        <p:txBody>
          <a:bodyPr wrap="square" rtlCol="0">
            <a:spAutoFit/>
          </a:bodyPr>
          <a:lstStyle/>
          <a:p>
            <a:pPr algn="ctr"/>
            <a:r>
              <a:rPr lang="en-US" sz="2000" b="1" dirty="0" smtClean="0">
                <a:solidFill>
                  <a:schemeClr val="bg2">
                    <a:lumMod val="10000"/>
                  </a:schemeClr>
                </a:solidFill>
                <a:latin typeface="Calibri" pitchFamily="34" charset="0"/>
              </a:rPr>
              <a:t>Productive capital stock growth</a:t>
            </a:r>
          </a:p>
        </p:txBody>
      </p:sp>
    </p:spTree>
    <p:extLst>
      <p:ext uri="{BB962C8B-B14F-4D97-AF65-F5344CB8AC3E}">
        <p14:creationId xmlns:p14="http://schemas.microsoft.com/office/powerpoint/2010/main" val="94290143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descr="\\main.oecd.org\sdataECO\Units\FRONTOFFICE\Economic Outlooks\EO101\Data and charts\PPT_Figs_E\E_Handout_Fig_China_Investment_1_2P_P2CL.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08104" y="1772816"/>
            <a:ext cx="3611416" cy="4710689"/>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main.oecd.org\sdataECO\Units\FRONTOFFICE\Economic Outlooks\EO101\Data and charts\PPT_Figs_E\E_Handout_Fig_World_Trade_contributions_1_2P_P2CL.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676" y="1443800"/>
            <a:ext cx="5482702" cy="508651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777992" y="250359"/>
            <a:ext cx="8136904" cy="954107"/>
          </a:xfrm>
          <a:prstGeom prst="rect">
            <a:avLst/>
          </a:prstGeom>
        </p:spPr>
        <p:txBody>
          <a:bodyPr wrap="square">
            <a:spAutoFit/>
          </a:bodyPr>
          <a:lstStyle/>
          <a:p>
            <a:pPr algn="ctr">
              <a:defRPr/>
            </a:pPr>
            <a:r>
              <a:rPr lang="en-US" sz="2800" b="1" dirty="0">
                <a:solidFill>
                  <a:schemeClr val="tx2"/>
                </a:solidFill>
                <a:latin typeface="+mj-lt"/>
              </a:rPr>
              <a:t>Global trade has recovered recently with important support from </a:t>
            </a:r>
            <a:r>
              <a:rPr lang="en-US" sz="2800" b="1" dirty="0" smtClean="0">
                <a:solidFill>
                  <a:schemeClr val="tx2"/>
                </a:solidFill>
                <a:latin typeface="+mj-lt"/>
              </a:rPr>
              <a:t>stimulus in China</a:t>
            </a:r>
          </a:p>
        </p:txBody>
      </p:sp>
      <p:sp>
        <p:nvSpPr>
          <p:cNvPr id="7" name="Slide Number Placeholder 6"/>
          <p:cNvSpPr>
            <a:spLocks noGrp="1"/>
          </p:cNvSpPr>
          <p:nvPr>
            <p:ph type="sldNum" sz="quarter" idx="12"/>
          </p:nvPr>
        </p:nvSpPr>
        <p:spPr/>
        <p:txBody>
          <a:bodyPr/>
          <a:lstStyle/>
          <a:p>
            <a:fld id="{FCE284C4-5ED1-4D6C-B7CC-2049C3062C5E}" type="slidenum">
              <a:rPr lang="en-GB" smtClean="0"/>
              <a:t>8</a:t>
            </a:fld>
            <a:endParaRPr lang="en-GB" dirty="0"/>
          </a:p>
        </p:txBody>
      </p:sp>
      <p:sp>
        <p:nvSpPr>
          <p:cNvPr id="10" name="TextBox 9"/>
          <p:cNvSpPr txBox="1"/>
          <p:nvPr/>
        </p:nvSpPr>
        <p:spPr>
          <a:xfrm>
            <a:off x="201595" y="1278732"/>
            <a:ext cx="5202324" cy="605294"/>
          </a:xfrm>
          <a:prstGeom prst="rect">
            <a:avLst/>
          </a:prstGeom>
          <a:noFill/>
        </p:spPr>
        <p:txBody>
          <a:bodyPr wrap="square" rtlCol="0">
            <a:spAutoFit/>
          </a:bodyPr>
          <a:lstStyle/>
          <a:p>
            <a:pPr algn="ctr"/>
            <a:r>
              <a:rPr lang="en-GB" sz="2000" b="1" dirty="0" smtClean="0">
                <a:solidFill>
                  <a:schemeClr val="bg2">
                    <a:lumMod val="10000"/>
                  </a:schemeClr>
                </a:solidFill>
                <a:latin typeface="Calibri" pitchFamily="34" charset="0"/>
              </a:rPr>
              <a:t>Contributions to world trade growth</a:t>
            </a:r>
            <a:br>
              <a:rPr lang="en-GB" sz="2000" b="1" dirty="0" smtClean="0">
                <a:solidFill>
                  <a:schemeClr val="bg2">
                    <a:lumMod val="10000"/>
                  </a:schemeClr>
                </a:solidFill>
                <a:latin typeface="Calibri" pitchFamily="34" charset="0"/>
              </a:rPr>
            </a:br>
            <a:endParaRPr lang="en-GB" sz="2000" baseline="30000" dirty="0">
              <a:solidFill>
                <a:schemeClr val="bg2">
                  <a:lumMod val="10000"/>
                </a:schemeClr>
              </a:solidFill>
              <a:latin typeface="Calibri" pitchFamily="34" charset="0"/>
            </a:endParaRPr>
          </a:p>
        </p:txBody>
      </p:sp>
      <p:sp>
        <p:nvSpPr>
          <p:cNvPr id="11" name="TextBox 10"/>
          <p:cNvSpPr txBox="1"/>
          <p:nvPr/>
        </p:nvSpPr>
        <p:spPr>
          <a:xfrm>
            <a:off x="323528" y="6068006"/>
            <a:ext cx="8136904" cy="830997"/>
          </a:xfrm>
          <a:prstGeom prst="rect">
            <a:avLst/>
          </a:prstGeom>
          <a:noFill/>
        </p:spPr>
        <p:txBody>
          <a:bodyPr wrap="square" rtlCol="0">
            <a:spAutoFit/>
          </a:bodyPr>
          <a:lstStyle/>
          <a:p>
            <a:r>
              <a:rPr lang="en-US" sz="1200" dirty="0" smtClean="0">
                <a:solidFill>
                  <a:schemeClr val="bg2">
                    <a:lumMod val="10000"/>
                  </a:schemeClr>
                </a:solidFill>
                <a:latin typeface="Calibri" panose="020F0502020204030204" pitchFamily="34" charset="0"/>
              </a:rPr>
              <a:t/>
            </a:r>
            <a:br>
              <a:rPr lang="en-US" sz="1200" dirty="0" smtClean="0">
                <a:solidFill>
                  <a:schemeClr val="bg2">
                    <a:lumMod val="10000"/>
                  </a:schemeClr>
                </a:solidFill>
                <a:latin typeface="Calibri" panose="020F0502020204030204" pitchFamily="34" charset="0"/>
              </a:rPr>
            </a:br>
            <a:r>
              <a:rPr lang="en-US" sz="1200" dirty="0" smtClean="0">
                <a:solidFill>
                  <a:schemeClr val="bg2">
                    <a:lumMod val="10000"/>
                  </a:schemeClr>
                </a:solidFill>
                <a:latin typeface="Calibri" panose="020F0502020204030204" pitchFamily="34" charset="0"/>
              </a:rPr>
              <a:t>Note: Commodity producers includes Argentina, Australia, Brazil, Chile, Colombia, Norway, New Zealand, Russia, Saudi Arabia, South Africa and other oil producing countries.</a:t>
            </a:r>
            <a:br>
              <a:rPr lang="en-US" sz="1200" dirty="0" smtClean="0">
                <a:solidFill>
                  <a:schemeClr val="bg2">
                    <a:lumMod val="10000"/>
                  </a:schemeClr>
                </a:solidFill>
                <a:latin typeface="Calibri" panose="020F0502020204030204" pitchFamily="34" charset="0"/>
              </a:rPr>
            </a:br>
            <a:r>
              <a:rPr lang="en-US" sz="1200" dirty="0" smtClean="0">
                <a:solidFill>
                  <a:schemeClr val="bg2">
                    <a:lumMod val="10000"/>
                  </a:schemeClr>
                </a:solidFill>
                <a:latin typeface="Calibri" panose="020F0502020204030204" pitchFamily="34" charset="0"/>
              </a:rPr>
              <a:t>Source: OECD June 2017 Economic Outlook database</a:t>
            </a:r>
            <a:r>
              <a:rPr lang="en-US" sz="1200" dirty="0">
                <a:solidFill>
                  <a:schemeClr val="bg2">
                    <a:lumMod val="10000"/>
                  </a:schemeClr>
                </a:solidFill>
                <a:latin typeface="Calibri" panose="020F0502020204030204" pitchFamily="34" charset="0"/>
              </a:rPr>
              <a:t>; </a:t>
            </a:r>
            <a:r>
              <a:rPr lang="en-US" sz="1200" dirty="0" smtClean="0">
                <a:solidFill>
                  <a:schemeClr val="bg2">
                    <a:lumMod val="10000"/>
                  </a:schemeClr>
                </a:solidFill>
                <a:latin typeface="Calibri" panose="020F0502020204030204" pitchFamily="34" charset="0"/>
              </a:rPr>
              <a:t>and National </a:t>
            </a:r>
            <a:r>
              <a:rPr lang="en-US" sz="1200" dirty="0">
                <a:solidFill>
                  <a:schemeClr val="bg2">
                    <a:lumMod val="10000"/>
                  </a:schemeClr>
                </a:solidFill>
                <a:latin typeface="Calibri" panose="020F0502020204030204" pitchFamily="34" charset="0"/>
              </a:rPr>
              <a:t>Bureau of Statistics of </a:t>
            </a:r>
            <a:r>
              <a:rPr lang="en-US" sz="1200" dirty="0" smtClean="0">
                <a:solidFill>
                  <a:schemeClr val="bg2">
                    <a:lumMod val="10000"/>
                  </a:schemeClr>
                </a:solidFill>
                <a:latin typeface="Calibri" panose="020F0502020204030204" pitchFamily="34" charset="0"/>
              </a:rPr>
              <a:t>China.</a:t>
            </a:r>
          </a:p>
        </p:txBody>
      </p:sp>
      <p:sp>
        <p:nvSpPr>
          <p:cNvPr id="9" name="TextBox 8"/>
          <p:cNvSpPr txBox="1"/>
          <p:nvPr/>
        </p:nvSpPr>
        <p:spPr>
          <a:xfrm>
            <a:off x="4514444" y="1239593"/>
            <a:ext cx="5650830" cy="707886"/>
          </a:xfrm>
          <a:prstGeom prst="rect">
            <a:avLst/>
          </a:prstGeom>
          <a:noFill/>
        </p:spPr>
        <p:txBody>
          <a:bodyPr wrap="square" rtlCol="0">
            <a:spAutoFit/>
          </a:bodyPr>
          <a:lstStyle/>
          <a:p>
            <a:pPr algn="ctr"/>
            <a:r>
              <a:rPr lang="en-US" sz="2000" b="1" dirty="0" smtClean="0">
                <a:solidFill>
                  <a:schemeClr val="bg2">
                    <a:lumMod val="10000"/>
                  </a:schemeClr>
                </a:solidFill>
                <a:latin typeface="Calibri" pitchFamily="34" charset="0"/>
              </a:rPr>
              <a:t>China nominal fixed </a:t>
            </a:r>
            <a:br>
              <a:rPr lang="en-US" sz="2000" b="1" dirty="0" smtClean="0">
                <a:solidFill>
                  <a:schemeClr val="bg2">
                    <a:lumMod val="10000"/>
                  </a:schemeClr>
                </a:solidFill>
                <a:latin typeface="Calibri" pitchFamily="34" charset="0"/>
              </a:rPr>
            </a:br>
            <a:r>
              <a:rPr lang="en-US" sz="2000" b="1" dirty="0" smtClean="0">
                <a:solidFill>
                  <a:schemeClr val="bg2">
                    <a:lumMod val="10000"/>
                  </a:schemeClr>
                </a:solidFill>
                <a:latin typeface="Calibri" pitchFamily="34" charset="0"/>
              </a:rPr>
              <a:t>asset investment</a:t>
            </a:r>
          </a:p>
        </p:txBody>
      </p:sp>
    </p:spTree>
    <p:extLst>
      <p:ext uri="{BB962C8B-B14F-4D97-AF65-F5344CB8AC3E}">
        <p14:creationId xmlns:p14="http://schemas.microsoft.com/office/powerpoint/2010/main" val="392195535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descr="\\main.oecd.org\sdataECO\Units\FRONTOFFICE\Economic Outlooks\EO101\Data and charts\PPT_Figs_E\E_Handout_Fig_Real_Wage_1_2P_P2CL.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99992" y="1614391"/>
            <a:ext cx="4644008" cy="4781945"/>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main.oecd.org\sdataECO\Units\FRONTOFFICE\Economic Outlooks\EO101\Data and charts\PPT_Figs_E\E_Handout_Fig_Employment_1_2P_P2CL.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986" y="1614392"/>
            <a:ext cx="4477006" cy="4781944"/>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fld id="{FCE284C4-5ED1-4D6C-B7CC-2049C3062C5E}" type="slidenum">
              <a:rPr lang="en-GB" smtClean="0"/>
              <a:t>9</a:t>
            </a:fld>
            <a:endParaRPr lang="en-GB" dirty="0"/>
          </a:p>
        </p:txBody>
      </p:sp>
      <p:sp>
        <p:nvSpPr>
          <p:cNvPr id="4" name="Rectangle 3"/>
          <p:cNvSpPr/>
          <p:nvPr/>
        </p:nvSpPr>
        <p:spPr>
          <a:xfrm>
            <a:off x="651603" y="224152"/>
            <a:ext cx="8378047" cy="954107"/>
          </a:xfrm>
          <a:prstGeom prst="rect">
            <a:avLst/>
          </a:prstGeom>
        </p:spPr>
        <p:txBody>
          <a:bodyPr wrap="square">
            <a:spAutoFit/>
          </a:bodyPr>
          <a:lstStyle/>
          <a:p>
            <a:pPr algn="ctr">
              <a:defRPr/>
            </a:pPr>
            <a:r>
              <a:rPr lang="en-US" sz="2800" b="1" dirty="0" smtClean="0">
                <a:solidFill>
                  <a:schemeClr val="tx2"/>
                </a:solidFill>
                <a:latin typeface="+mj-lt"/>
              </a:rPr>
              <a:t>Labour market recovery is incomplete </a:t>
            </a:r>
            <a:br>
              <a:rPr lang="en-US" sz="2800" b="1" dirty="0" smtClean="0">
                <a:solidFill>
                  <a:schemeClr val="tx2"/>
                </a:solidFill>
                <a:latin typeface="+mj-lt"/>
              </a:rPr>
            </a:br>
            <a:r>
              <a:rPr lang="en-US" sz="2800" b="1" dirty="0" smtClean="0">
                <a:solidFill>
                  <a:schemeClr val="tx2"/>
                </a:solidFill>
                <a:latin typeface="+mj-lt"/>
              </a:rPr>
              <a:t>and real wage growth remains sluggish</a:t>
            </a:r>
            <a:endParaRPr lang="en-GB" sz="2800" b="1" dirty="0">
              <a:solidFill>
                <a:schemeClr val="tx2"/>
              </a:solidFill>
              <a:latin typeface="+mj-lt"/>
            </a:endParaRPr>
          </a:p>
        </p:txBody>
      </p:sp>
      <p:sp>
        <p:nvSpPr>
          <p:cNvPr id="16" name="TextBox 15"/>
          <p:cNvSpPr txBox="1"/>
          <p:nvPr/>
        </p:nvSpPr>
        <p:spPr>
          <a:xfrm>
            <a:off x="-296731" y="1322004"/>
            <a:ext cx="5063780" cy="584775"/>
          </a:xfrm>
          <a:prstGeom prst="rect">
            <a:avLst/>
          </a:prstGeom>
          <a:noFill/>
        </p:spPr>
        <p:txBody>
          <a:bodyPr wrap="square" rtlCol="0">
            <a:spAutoFit/>
          </a:bodyPr>
          <a:lstStyle/>
          <a:p>
            <a:pPr lvl="0" algn="ctr"/>
            <a:r>
              <a:rPr lang="en-US" sz="2000" b="1" dirty="0" smtClean="0">
                <a:solidFill>
                  <a:schemeClr val="bg2">
                    <a:lumMod val="10000"/>
                  </a:schemeClr>
                </a:solidFill>
                <a:latin typeface="Calibri" pitchFamily="34" charset="0"/>
              </a:rPr>
              <a:t>Unemployment and underemployment</a:t>
            </a:r>
            <a:br>
              <a:rPr lang="en-US" sz="2000" b="1" dirty="0" smtClean="0">
                <a:solidFill>
                  <a:schemeClr val="bg2">
                    <a:lumMod val="10000"/>
                  </a:schemeClr>
                </a:solidFill>
                <a:latin typeface="Calibri" pitchFamily="34" charset="0"/>
              </a:rPr>
            </a:br>
            <a:r>
              <a:rPr lang="en-US" sz="1200" i="1" dirty="0" smtClean="0">
                <a:solidFill>
                  <a:schemeClr val="bg2">
                    <a:lumMod val="10000"/>
                  </a:schemeClr>
                </a:solidFill>
                <a:latin typeface="Calibri" pitchFamily="34" charset="0"/>
              </a:rPr>
              <a:t>OECD, share of labour force</a:t>
            </a:r>
            <a:endParaRPr lang="en-US" sz="1200" i="1" dirty="0">
              <a:solidFill>
                <a:schemeClr val="bg2">
                  <a:lumMod val="10000"/>
                </a:schemeClr>
              </a:solidFill>
              <a:latin typeface="Calibri" pitchFamily="34" charset="0"/>
            </a:endParaRPr>
          </a:p>
        </p:txBody>
      </p:sp>
      <p:sp>
        <p:nvSpPr>
          <p:cNvPr id="11" name="TextBox 10"/>
          <p:cNvSpPr txBox="1"/>
          <p:nvPr/>
        </p:nvSpPr>
        <p:spPr>
          <a:xfrm>
            <a:off x="305640" y="6207203"/>
            <a:ext cx="8280920" cy="646331"/>
          </a:xfrm>
          <a:prstGeom prst="rect">
            <a:avLst/>
          </a:prstGeom>
          <a:noFill/>
        </p:spPr>
        <p:txBody>
          <a:bodyPr wrap="square" rtlCol="0">
            <a:spAutoFit/>
          </a:bodyPr>
          <a:lstStyle/>
          <a:p>
            <a:r>
              <a:rPr lang="en-US" sz="1200" dirty="0">
                <a:solidFill>
                  <a:schemeClr val="bg2">
                    <a:lumMod val="10000"/>
                  </a:schemeClr>
                </a:solidFill>
                <a:latin typeface="Calibri" panose="020F0502020204030204" pitchFamily="34" charset="0"/>
              </a:rPr>
              <a:t>Note: </a:t>
            </a:r>
            <a:r>
              <a:rPr lang="en-US" sz="1200" dirty="0" smtClean="0">
                <a:solidFill>
                  <a:schemeClr val="bg2">
                    <a:lumMod val="10000"/>
                  </a:schemeClr>
                </a:solidFill>
                <a:latin typeface="Calibri" panose="020F0502020204030204" pitchFamily="34" charset="0"/>
              </a:rPr>
              <a:t>Real wages measured as </a:t>
            </a:r>
            <a:r>
              <a:rPr lang="en-US" sz="1200" dirty="0">
                <a:solidFill>
                  <a:schemeClr val="bg2">
                    <a:lumMod val="10000"/>
                  </a:schemeClr>
                </a:solidFill>
                <a:latin typeface="Calibri" panose="020F0502020204030204" pitchFamily="34" charset="0"/>
              </a:rPr>
              <a:t>labour compensation per employee </a:t>
            </a:r>
            <a:r>
              <a:rPr lang="en-US" sz="1200" dirty="0" smtClean="0">
                <a:solidFill>
                  <a:schemeClr val="bg2">
                    <a:lumMod val="10000"/>
                  </a:schemeClr>
                </a:solidFill>
                <a:latin typeface="Calibri" panose="020F0502020204030204" pitchFamily="34" charset="0"/>
              </a:rPr>
              <a:t>adjusted </a:t>
            </a:r>
            <a:r>
              <a:rPr lang="en-US" sz="1200" dirty="0">
                <a:solidFill>
                  <a:schemeClr val="bg2">
                    <a:lumMod val="10000"/>
                  </a:schemeClr>
                </a:solidFill>
                <a:latin typeface="Calibri" panose="020F0502020204030204" pitchFamily="34" charset="0"/>
              </a:rPr>
              <a:t>for </a:t>
            </a:r>
            <a:r>
              <a:rPr lang="en-US" sz="1200" dirty="0" smtClean="0">
                <a:solidFill>
                  <a:schemeClr val="bg2">
                    <a:lumMod val="10000"/>
                  </a:schemeClr>
                </a:solidFill>
                <a:latin typeface="Calibri" panose="020F0502020204030204" pitchFamily="34" charset="0"/>
              </a:rPr>
              <a:t>the GDP </a:t>
            </a:r>
            <a:r>
              <a:rPr lang="en-US" sz="1200" dirty="0">
                <a:solidFill>
                  <a:schemeClr val="bg2">
                    <a:lumMod val="10000"/>
                  </a:schemeClr>
                </a:solidFill>
                <a:latin typeface="Calibri" panose="020F0502020204030204" pitchFamily="34" charset="0"/>
              </a:rPr>
              <a:t>deflator.</a:t>
            </a:r>
            <a:br>
              <a:rPr lang="en-US" sz="1200" dirty="0">
                <a:solidFill>
                  <a:schemeClr val="bg2">
                    <a:lumMod val="10000"/>
                  </a:schemeClr>
                </a:solidFill>
                <a:latin typeface="Calibri" panose="020F0502020204030204" pitchFamily="34" charset="0"/>
              </a:rPr>
            </a:br>
            <a:r>
              <a:rPr lang="en-US" sz="1200" dirty="0">
                <a:solidFill>
                  <a:schemeClr val="bg2">
                    <a:lumMod val="10000"/>
                  </a:schemeClr>
                </a:solidFill>
                <a:latin typeface="Calibri" panose="020F0502020204030204" pitchFamily="34" charset="0"/>
              </a:rPr>
              <a:t>Source: OECD June 2017 Economic Outlook database; OECD Employment database; US Bureau of Labor Statistics; Eurostat; and Japan Statistics Bureau.</a:t>
            </a:r>
            <a:endParaRPr lang="en-US" sz="1200" dirty="0" smtClean="0">
              <a:solidFill>
                <a:schemeClr val="bg2">
                  <a:lumMod val="10000"/>
                </a:schemeClr>
              </a:solidFill>
              <a:latin typeface="Calibri" panose="020F0502020204030204" pitchFamily="34" charset="0"/>
            </a:endParaRPr>
          </a:p>
        </p:txBody>
      </p:sp>
      <p:sp>
        <p:nvSpPr>
          <p:cNvPr id="8" name="TextBox 7"/>
          <p:cNvSpPr txBox="1"/>
          <p:nvPr/>
        </p:nvSpPr>
        <p:spPr>
          <a:xfrm>
            <a:off x="4282712" y="1313126"/>
            <a:ext cx="5063780" cy="584775"/>
          </a:xfrm>
          <a:prstGeom prst="rect">
            <a:avLst/>
          </a:prstGeom>
          <a:noFill/>
        </p:spPr>
        <p:txBody>
          <a:bodyPr wrap="square" rtlCol="0">
            <a:spAutoFit/>
          </a:bodyPr>
          <a:lstStyle/>
          <a:p>
            <a:pPr lvl="0" algn="ctr"/>
            <a:r>
              <a:rPr lang="en-US" sz="2000" b="1" dirty="0" smtClean="0">
                <a:solidFill>
                  <a:schemeClr val="bg2">
                    <a:lumMod val="10000"/>
                  </a:schemeClr>
                </a:solidFill>
                <a:latin typeface="Calibri" pitchFamily="34" charset="0"/>
              </a:rPr>
              <a:t>Real wage growth</a:t>
            </a:r>
          </a:p>
          <a:p>
            <a:pPr lvl="0" algn="ctr"/>
            <a:r>
              <a:rPr lang="en-US" sz="1200" i="1" dirty="0" smtClean="0">
                <a:solidFill>
                  <a:srgbClr val="E6E6E6">
                    <a:lumMod val="10000"/>
                  </a:srgbClr>
                </a:solidFill>
                <a:latin typeface="Calibri" pitchFamily="34" charset="0"/>
              </a:rPr>
              <a:t>Horizontal lines are averages for 1987-2007</a:t>
            </a:r>
            <a:endParaRPr lang="en-US" sz="1200" i="1" dirty="0">
              <a:solidFill>
                <a:schemeClr val="bg2">
                  <a:lumMod val="10000"/>
                </a:schemeClr>
              </a:solidFill>
              <a:latin typeface="Calibri" pitchFamily="34" charset="0"/>
            </a:endParaRPr>
          </a:p>
        </p:txBody>
      </p:sp>
    </p:spTree>
    <p:extLst>
      <p:ext uri="{BB962C8B-B14F-4D97-AF65-F5344CB8AC3E}">
        <p14:creationId xmlns:p14="http://schemas.microsoft.com/office/powerpoint/2010/main" val="248761124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3" descr="\\main.oecd.org\sdataECO\Units\FRONTOFFICE\Economic Outlooks\EO101\Data and charts\PPT_Figs_E\E_Handout_Fig_House_Rent_Ratios_1_2P_P2CL.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44009" y="1578082"/>
            <a:ext cx="4436444" cy="4820180"/>
          </a:xfrm>
          <a:prstGeom prst="rect">
            <a:avLst/>
          </a:prstGeom>
          <a:noFill/>
          <a:extLst>
            <a:ext uri="{909E8E84-426E-40DD-AFC4-6F175D3DCCD1}">
              <a14:hiddenFill xmlns:a14="http://schemas.microsoft.com/office/drawing/2010/main">
                <a:solidFill>
                  <a:srgbClr val="FFFFFF"/>
                </a:solidFill>
              </a14:hiddenFill>
            </a:ext>
          </a:extLst>
        </p:spPr>
      </p:pic>
      <p:pic>
        <p:nvPicPr>
          <p:cNvPr id="6146" name="Picture 2" descr="\\main.oecd.org\sdataECO\Units\FRONTOFFICE\Economic Outlooks\EO101\Data and charts\PPT_Figs_E\E_Handout_Fig_Private_credit_1_2P_P2CL.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739" y="1576536"/>
            <a:ext cx="4619269" cy="487680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fld id="{FCE284C4-5ED1-4D6C-B7CC-2049C3062C5E}" type="slidenum">
              <a:rPr lang="en-GB" smtClean="0"/>
              <a:t>10</a:t>
            </a:fld>
            <a:endParaRPr lang="en-GB" dirty="0"/>
          </a:p>
        </p:txBody>
      </p:sp>
      <p:sp>
        <p:nvSpPr>
          <p:cNvPr id="4" name="Rectangle 3"/>
          <p:cNvSpPr/>
          <p:nvPr/>
        </p:nvSpPr>
        <p:spPr>
          <a:xfrm>
            <a:off x="736273" y="224152"/>
            <a:ext cx="8378047" cy="954107"/>
          </a:xfrm>
          <a:prstGeom prst="rect">
            <a:avLst/>
          </a:prstGeom>
        </p:spPr>
        <p:txBody>
          <a:bodyPr wrap="square">
            <a:spAutoFit/>
          </a:bodyPr>
          <a:lstStyle/>
          <a:p>
            <a:pPr algn="ctr">
              <a:defRPr/>
            </a:pPr>
            <a:r>
              <a:rPr lang="en-US" sz="2800" b="1" dirty="0" smtClean="0">
                <a:solidFill>
                  <a:schemeClr val="tx2"/>
                </a:solidFill>
                <a:latin typeface="+mj-lt"/>
              </a:rPr>
              <a:t>Rising private credit in EMEs and </a:t>
            </a:r>
            <a:br>
              <a:rPr lang="en-US" sz="2800" b="1" dirty="0" smtClean="0">
                <a:solidFill>
                  <a:schemeClr val="tx2"/>
                </a:solidFill>
                <a:latin typeface="+mj-lt"/>
              </a:rPr>
            </a:br>
            <a:r>
              <a:rPr lang="en-US" sz="2800" b="1" dirty="0" smtClean="0">
                <a:solidFill>
                  <a:schemeClr val="tx2"/>
                </a:solidFill>
                <a:latin typeface="+mj-lt"/>
              </a:rPr>
              <a:t>housing market risks in advanced economies</a:t>
            </a:r>
            <a:endParaRPr lang="en-GB" sz="2800" b="1" dirty="0">
              <a:solidFill>
                <a:schemeClr val="tx2"/>
              </a:solidFill>
              <a:latin typeface="+mj-lt"/>
            </a:endParaRPr>
          </a:p>
        </p:txBody>
      </p:sp>
      <p:sp>
        <p:nvSpPr>
          <p:cNvPr id="10" name="TextBox 9"/>
          <p:cNvSpPr txBox="1"/>
          <p:nvPr/>
        </p:nvSpPr>
        <p:spPr>
          <a:xfrm>
            <a:off x="249870" y="6210405"/>
            <a:ext cx="8378047" cy="646331"/>
          </a:xfrm>
          <a:prstGeom prst="rect">
            <a:avLst/>
          </a:prstGeom>
          <a:noFill/>
        </p:spPr>
        <p:txBody>
          <a:bodyPr wrap="square" rtlCol="0">
            <a:spAutoFit/>
          </a:bodyPr>
          <a:lstStyle/>
          <a:p>
            <a:r>
              <a:rPr lang="en-US" sz="1200" dirty="0" smtClean="0">
                <a:solidFill>
                  <a:schemeClr val="bg2">
                    <a:lumMod val="10000"/>
                  </a:schemeClr>
                </a:solidFill>
                <a:latin typeface="Calibri" panose="020F0502020204030204" pitchFamily="34" charset="0"/>
              </a:rPr>
              <a:t>Note: EMEs excluding China is an unweighted average of ratios for Argentina, Brazil, Colombia</a:t>
            </a:r>
            <a:r>
              <a:rPr lang="en-US" sz="1200" dirty="0">
                <a:solidFill>
                  <a:schemeClr val="bg2">
                    <a:lumMod val="10000"/>
                  </a:schemeClr>
                </a:solidFill>
                <a:latin typeface="Calibri" panose="020F0502020204030204" pitchFamily="34" charset="0"/>
              </a:rPr>
              <a:t>, India, Indonesia, Mexico, Russia, Malaysia, </a:t>
            </a:r>
            <a:r>
              <a:rPr lang="en-US" sz="1200" dirty="0" smtClean="0">
                <a:solidFill>
                  <a:schemeClr val="bg2">
                    <a:lumMod val="10000"/>
                  </a:schemeClr>
                </a:solidFill>
                <a:latin typeface="Calibri" panose="020F0502020204030204" pitchFamily="34" charset="0"/>
              </a:rPr>
              <a:t>South </a:t>
            </a:r>
            <a:r>
              <a:rPr lang="en-US" sz="1200" dirty="0">
                <a:solidFill>
                  <a:schemeClr val="bg2">
                    <a:lumMod val="10000"/>
                  </a:schemeClr>
                </a:solidFill>
                <a:latin typeface="Calibri" panose="020F0502020204030204" pitchFamily="34" charset="0"/>
              </a:rPr>
              <a:t>Africa and Turkey.</a:t>
            </a:r>
            <a:br>
              <a:rPr lang="en-US" sz="1200" dirty="0">
                <a:solidFill>
                  <a:schemeClr val="bg2">
                    <a:lumMod val="10000"/>
                  </a:schemeClr>
                </a:solidFill>
                <a:latin typeface="Calibri" panose="020F0502020204030204" pitchFamily="34" charset="0"/>
              </a:rPr>
            </a:br>
            <a:r>
              <a:rPr lang="en-US" sz="1200" dirty="0" smtClean="0">
                <a:solidFill>
                  <a:schemeClr val="bg2">
                    <a:lumMod val="10000"/>
                  </a:schemeClr>
                </a:solidFill>
                <a:latin typeface="Calibri" panose="020F0502020204030204" pitchFamily="34" charset="0"/>
              </a:rPr>
              <a:t>Source</a:t>
            </a:r>
            <a:r>
              <a:rPr lang="en-US" sz="1200" dirty="0">
                <a:solidFill>
                  <a:schemeClr val="bg2">
                    <a:lumMod val="10000"/>
                  </a:schemeClr>
                </a:solidFill>
                <a:latin typeface="Calibri" panose="020F0502020204030204" pitchFamily="34" charset="0"/>
              </a:rPr>
              <a:t>: </a:t>
            </a:r>
            <a:r>
              <a:rPr lang="en-US" sz="1200" dirty="0" smtClean="0">
                <a:solidFill>
                  <a:schemeClr val="bg2">
                    <a:lumMod val="10000"/>
                  </a:schemeClr>
                </a:solidFill>
                <a:latin typeface="Calibri" panose="020F0502020204030204" pitchFamily="34" charset="0"/>
              </a:rPr>
              <a:t>BIS; </a:t>
            </a:r>
            <a:r>
              <a:rPr lang="en-US" sz="1200" dirty="0">
                <a:solidFill>
                  <a:schemeClr val="bg2">
                    <a:lumMod val="10000"/>
                  </a:schemeClr>
                </a:solidFill>
                <a:latin typeface="Calibri" panose="020F0502020204030204" pitchFamily="34" charset="0"/>
              </a:rPr>
              <a:t>OECD Analytical House Price </a:t>
            </a:r>
            <a:r>
              <a:rPr lang="en-US" sz="1200" dirty="0" smtClean="0">
                <a:solidFill>
                  <a:schemeClr val="bg2">
                    <a:lumMod val="10000"/>
                  </a:schemeClr>
                </a:solidFill>
                <a:latin typeface="Calibri" panose="020F0502020204030204" pitchFamily="34" charset="0"/>
              </a:rPr>
              <a:t>database; and </a:t>
            </a:r>
            <a:r>
              <a:rPr lang="en-US" sz="1200" dirty="0">
                <a:solidFill>
                  <a:schemeClr val="bg2">
                    <a:lumMod val="10000"/>
                  </a:schemeClr>
                </a:solidFill>
                <a:latin typeface="Calibri" panose="020F0502020204030204" pitchFamily="34" charset="0"/>
              </a:rPr>
              <a:t>OECD calculations.</a:t>
            </a:r>
            <a:endParaRPr lang="en-US" sz="1200" dirty="0" smtClean="0">
              <a:solidFill>
                <a:schemeClr val="bg2">
                  <a:lumMod val="10000"/>
                </a:schemeClr>
              </a:solidFill>
              <a:latin typeface="Calibri" panose="020F0502020204030204" pitchFamily="34" charset="0"/>
            </a:endParaRPr>
          </a:p>
        </p:txBody>
      </p:sp>
      <p:sp>
        <p:nvSpPr>
          <p:cNvPr id="12" name="Rectangle 11"/>
          <p:cNvSpPr/>
          <p:nvPr/>
        </p:nvSpPr>
        <p:spPr>
          <a:xfrm>
            <a:off x="323528" y="1268760"/>
            <a:ext cx="3771930" cy="615553"/>
          </a:xfrm>
          <a:prstGeom prst="rect">
            <a:avLst/>
          </a:prstGeom>
        </p:spPr>
        <p:txBody>
          <a:bodyPr wrap="none">
            <a:spAutoFit/>
          </a:bodyPr>
          <a:lstStyle/>
          <a:p>
            <a:pPr algn="ctr"/>
            <a:r>
              <a:rPr lang="en-GB" sz="2000" b="1" dirty="0" smtClean="0">
                <a:solidFill>
                  <a:schemeClr val="bg2">
                    <a:lumMod val="10000"/>
                  </a:schemeClr>
                </a:solidFill>
                <a:latin typeface="Calibri" pitchFamily="34" charset="0"/>
              </a:rPr>
              <a:t>Private non-financial sector credit</a:t>
            </a:r>
          </a:p>
          <a:p>
            <a:pPr algn="ctr"/>
            <a:endParaRPr lang="en-GB" sz="1400" i="1" dirty="0" smtClean="0">
              <a:solidFill>
                <a:schemeClr val="bg2">
                  <a:lumMod val="10000"/>
                </a:schemeClr>
              </a:solidFill>
              <a:latin typeface="Calibri" pitchFamily="34" charset="0"/>
            </a:endParaRPr>
          </a:p>
        </p:txBody>
      </p:sp>
      <p:sp>
        <p:nvSpPr>
          <p:cNvPr id="13" name="Rectangle 12"/>
          <p:cNvSpPr/>
          <p:nvPr/>
        </p:nvSpPr>
        <p:spPr>
          <a:xfrm>
            <a:off x="5416096" y="1268760"/>
            <a:ext cx="2820259" cy="584775"/>
          </a:xfrm>
          <a:prstGeom prst="rect">
            <a:avLst/>
          </a:prstGeom>
        </p:spPr>
        <p:txBody>
          <a:bodyPr wrap="none">
            <a:spAutoFit/>
          </a:bodyPr>
          <a:lstStyle/>
          <a:p>
            <a:pPr algn="ctr"/>
            <a:r>
              <a:rPr lang="en-GB" sz="2000" b="1" dirty="0" smtClean="0">
                <a:solidFill>
                  <a:schemeClr val="bg2">
                    <a:lumMod val="10000"/>
                  </a:schemeClr>
                </a:solidFill>
                <a:latin typeface="Calibri" pitchFamily="34" charset="0"/>
              </a:rPr>
              <a:t>House price-to-rent ratio</a:t>
            </a:r>
          </a:p>
          <a:p>
            <a:pPr lvl="0" algn="ctr"/>
            <a:r>
              <a:rPr lang="en-US" sz="1200" i="1" dirty="0" smtClean="0">
                <a:solidFill>
                  <a:srgbClr val="E6E6E6">
                    <a:lumMod val="10000"/>
                  </a:srgbClr>
                </a:solidFill>
                <a:latin typeface="Calibri" pitchFamily="34" charset="0"/>
              </a:rPr>
              <a:t>Average since 1980 = 100</a:t>
            </a:r>
            <a:endParaRPr lang="en-US" sz="1200" i="1" dirty="0">
              <a:solidFill>
                <a:srgbClr val="E6E6E6">
                  <a:lumMod val="10000"/>
                </a:srgbClr>
              </a:solidFill>
              <a:latin typeface="Calibri" pitchFamily="34" charset="0"/>
            </a:endParaRPr>
          </a:p>
        </p:txBody>
      </p:sp>
    </p:spTree>
    <p:extLst>
      <p:ext uri="{BB962C8B-B14F-4D97-AF65-F5344CB8AC3E}">
        <p14:creationId xmlns:p14="http://schemas.microsoft.com/office/powerpoint/2010/main" val="407572881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main.oecd.org\sdataECO\Units\FRONTOFFICE\Economic Outlooks\EO101\Data and charts\PPT_Figs_E\E_Handout_Fig_Core_inflation_2005_1_2P_P2CL.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56" y="1536187"/>
            <a:ext cx="4524044" cy="5133171"/>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fld id="{FCE284C4-5ED1-4D6C-B7CC-2049C3062C5E}" type="slidenum">
              <a:rPr lang="en-GB" smtClean="0"/>
              <a:t>11</a:t>
            </a:fld>
            <a:endParaRPr lang="en-GB" dirty="0"/>
          </a:p>
        </p:txBody>
      </p:sp>
      <p:sp>
        <p:nvSpPr>
          <p:cNvPr id="4" name="Rectangle 3"/>
          <p:cNvSpPr/>
          <p:nvPr/>
        </p:nvSpPr>
        <p:spPr>
          <a:xfrm>
            <a:off x="797998" y="241893"/>
            <a:ext cx="8378047" cy="954107"/>
          </a:xfrm>
          <a:prstGeom prst="rect">
            <a:avLst/>
          </a:prstGeom>
        </p:spPr>
        <p:txBody>
          <a:bodyPr wrap="square">
            <a:spAutoFit/>
          </a:bodyPr>
          <a:lstStyle/>
          <a:p>
            <a:pPr algn="ctr">
              <a:defRPr/>
            </a:pPr>
            <a:r>
              <a:rPr lang="en-US" sz="2800" b="1" dirty="0" smtClean="0">
                <a:solidFill>
                  <a:schemeClr val="tx2"/>
                </a:solidFill>
                <a:latin typeface="+mj-lt"/>
              </a:rPr>
              <a:t>Inflation generally below objectives; potential interest rate divergence creates </a:t>
            </a:r>
            <a:r>
              <a:rPr lang="en-US" sz="2800" b="1" dirty="0">
                <a:solidFill>
                  <a:schemeClr val="tx2"/>
                </a:solidFill>
                <a:latin typeface="+mj-lt"/>
              </a:rPr>
              <a:t>financial </a:t>
            </a:r>
            <a:r>
              <a:rPr lang="en-US" sz="2800" b="1" dirty="0" smtClean="0">
                <a:solidFill>
                  <a:schemeClr val="tx2"/>
                </a:solidFill>
                <a:latin typeface="+mj-lt"/>
              </a:rPr>
              <a:t>risks</a:t>
            </a:r>
            <a:endParaRPr lang="en-GB" sz="2800" b="1" dirty="0">
              <a:solidFill>
                <a:schemeClr val="tx2"/>
              </a:solidFill>
              <a:latin typeface="+mj-lt"/>
            </a:endParaRPr>
          </a:p>
        </p:txBody>
      </p:sp>
      <p:sp>
        <p:nvSpPr>
          <p:cNvPr id="5" name="TextBox 4"/>
          <p:cNvSpPr txBox="1"/>
          <p:nvPr/>
        </p:nvSpPr>
        <p:spPr>
          <a:xfrm>
            <a:off x="-66286" y="1319510"/>
            <a:ext cx="4824536" cy="523220"/>
          </a:xfrm>
          <a:prstGeom prst="rect">
            <a:avLst/>
          </a:prstGeom>
          <a:noFill/>
        </p:spPr>
        <p:txBody>
          <a:bodyPr wrap="square" rtlCol="0">
            <a:spAutoFit/>
          </a:bodyPr>
          <a:lstStyle/>
          <a:p>
            <a:pPr algn="ctr"/>
            <a:r>
              <a:rPr lang="en-US" sz="2000" b="1" dirty="0" smtClean="0">
                <a:solidFill>
                  <a:schemeClr val="bg2">
                    <a:lumMod val="10000"/>
                  </a:schemeClr>
                </a:solidFill>
                <a:latin typeface="Calibri" pitchFamily="34" charset="0"/>
              </a:rPr>
              <a:t>Core inflation</a:t>
            </a:r>
            <a:br>
              <a:rPr lang="en-US" sz="2000" b="1" dirty="0" smtClean="0">
                <a:solidFill>
                  <a:schemeClr val="bg2">
                    <a:lumMod val="10000"/>
                  </a:schemeClr>
                </a:solidFill>
                <a:latin typeface="Calibri" pitchFamily="34" charset="0"/>
              </a:rPr>
            </a:br>
            <a:endParaRPr lang="en-GB" sz="1200" i="1" baseline="30000" dirty="0">
              <a:solidFill>
                <a:schemeClr val="bg2">
                  <a:lumMod val="10000"/>
                </a:schemeClr>
              </a:solidFill>
              <a:latin typeface="Calibri" pitchFamily="34" charset="0"/>
            </a:endParaRPr>
          </a:p>
        </p:txBody>
      </p:sp>
      <p:sp>
        <p:nvSpPr>
          <p:cNvPr id="7" name="TextBox 6"/>
          <p:cNvSpPr txBox="1"/>
          <p:nvPr/>
        </p:nvSpPr>
        <p:spPr>
          <a:xfrm>
            <a:off x="161255" y="6042154"/>
            <a:ext cx="8352930" cy="830997"/>
          </a:xfrm>
          <a:prstGeom prst="rect">
            <a:avLst/>
          </a:prstGeom>
          <a:noFill/>
        </p:spPr>
        <p:txBody>
          <a:bodyPr wrap="square" rtlCol="0">
            <a:spAutoFit/>
          </a:bodyPr>
          <a:lstStyle/>
          <a:p>
            <a:r>
              <a:rPr lang="en-GB" sz="1200" dirty="0" smtClean="0">
                <a:solidFill>
                  <a:schemeClr val="bg2">
                    <a:lumMod val="10000"/>
                  </a:schemeClr>
                </a:solidFill>
                <a:latin typeface="Calibri" panose="020F0502020204030204" pitchFamily="34" charset="0"/>
              </a:rPr>
              <a:t/>
            </a:r>
            <a:br>
              <a:rPr lang="en-GB" sz="1200" dirty="0" smtClean="0">
                <a:solidFill>
                  <a:schemeClr val="bg2">
                    <a:lumMod val="10000"/>
                  </a:schemeClr>
                </a:solidFill>
                <a:latin typeface="Calibri" panose="020F0502020204030204" pitchFamily="34" charset="0"/>
              </a:rPr>
            </a:br>
            <a:r>
              <a:rPr lang="en-GB" sz="1200" dirty="0" smtClean="0">
                <a:solidFill>
                  <a:schemeClr val="bg2">
                    <a:lumMod val="10000"/>
                  </a:schemeClr>
                </a:solidFill>
                <a:latin typeface="Calibri" panose="020F0502020204030204" pitchFamily="34" charset="0"/>
              </a:rPr>
              <a:t/>
            </a:r>
            <a:br>
              <a:rPr lang="en-GB" sz="1200" dirty="0" smtClean="0">
                <a:solidFill>
                  <a:schemeClr val="bg2">
                    <a:lumMod val="10000"/>
                  </a:schemeClr>
                </a:solidFill>
                <a:latin typeface="Calibri" panose="020F0502020204030204" pitchFamily="34" charset="0"/>
              </a:rPr>
            </a:br>
            <a:r>
              <a:rPr lang="en-GB" sz="1200" dirty="0" smtClean="0">
                <a:solidFill>
                  <a:schemeClr val="bg2">
                    <a:lumMod val="10000"/>
                  </a:schemeClr>
                </a:solidFill>
                <a:latin typeface="Calibri" panose="020F0502020204030204" pitchFamily="34" charset="0"/>
              </a:rPr>
              <a:t>Note: Core inflation for Japan adjusted for the impact of consumption tax increases.</a:t>
            </a:r>
            <a:br>
              <a:rPr lang="en-GB" sz="1200" dirty="0" smtClean="0">
                <a:solidFill>
                  <a:schemeClr val="bg2">
                    <a:lumMod val="10000"/>
                  </a:schemeClr>
                </a:solidFill>
                <a:latin typeface="Calibri" panose="020F0502020204030204" pitchFamily="34" charset="0"/>
              </a:rPr>
            </a:br>
            <a:r>
              <a:rPr lang="en-GB" sz="1200" dirty="0" smtClean="0">
                <a:solidFill>
                  <a:schemeClr val="bg2">
                    <a:lumMod val="10000"/>
                  </a:schemeClr>
                </a:solidFill>
                <a:latin typeface="Calibri" panose="020F0502020204030204" pitchFamily="34" charset="0"/>
              </a:rPr>
              <a:t>Source: </a:t>
            </a:r>
            <a:r>
              <a:rPr lang="en-US" sz="1200" dirty="0" smtClean="0">
                <a:solidFill>
                  <a:schemeClr val="bg2">
                    <a:lumMod val="10000"/>
                  </a:schemeClr>
                </a:solidFill>
                <a:latin typeface="Calibri" panose="020F0502020204030204" pitchFamily="34" charset="0"/>
              </a:rPr>
              <a:t>OECD June 2017 Economic Outlook database; Bloomberg; and OECD calculations.</a:t>
            </a:r>
            <a:endParaRPr lang="en-GB" sz="1200" dirty="0">
              <a:solidFill>
                <a:schemeClr val="bg2">
                  <a:lumMod val="10000"/>
                </a:schemeClr>
              </a:solidFill>
              <a:latin typeface="Calibri" panose="020F0502020204030204" pitchFamily="34" charset="0"/>
            </a:endParaRPr>
          </a:p>
        </p:txBody>
      </p:sp>
      <p:pic>
        <p:nvPicPr>
          <p:cNvPr id="7171" name="Picture 3" descr="\\main.oecd.org\sdataECO\Units\FRONTOFFICE\Economic Outlooks\EO101\Data and charts\PPT_Figs_E\E_Handout_Fig_IR_expected_1_2P_P2CL.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7985" y="1772816"/>
            <a:ext cx="4659328" cy="489654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4337720" y="1245618"/>
            <a:ext cx="4824536" cy="1015663"/>
          </a:xfrm>
          <a:prstGeom prst="rect">
            <a:avLst/>
          </a:prstGeom>
          <a:noFill/>
        </p:spPr>
        <p:txBody>
          <a:bodyPr wrap="square" rtlCol="0">
            <a:spAutoFit/>
          </a:bodyPr>
          <a:lstStyle/>
          <a:p>
            <a:pPr algn="ctr"/>
            <a:r>
              <a:rPr lang="en-US" sz="2000" b="1" dirty="0" smtClean="0">
                <a:solidFill>
                  <a:schemeClr val="bg2">
                    <a:lumMod val="10000"/>
                  </a:schemeClr>
                </a:solidFill>
                <a:latin typeface="Calibri" pitchFamily="34" charset="0"/>
              </a:rPr>
              <a:t>Market-based expectations of</a:t>
            </a:r>
            <a:br>
              <a:rPr lang="en-US" sz="2000" b="1" dirty="0" smtClean="0">
                <a:solidFill>
                  <a:schemeClr val="bg2">
                    <a:lumMod val="10000"/>
                  </a:schemeClr>
                </a:solidFill>
                <a:latin typeface="Calibri" pitchFamily="34" charset="0"/>
              </a:rPr>
            </a:br>
            <a:r>
              <a:rPr lang="en-US" sz="2000" b="1" dirty="0" smtClean="0">
                <a:solidFill>
                  <a:schemeClr val="bg2">
                    <a:lumMod val="10000"/>
                  </a:schemeClr>
                </a:solidFill>
                <a:latin typeface="Calibri" pitchFamily="34" charset="0"/>
              </a:rPr>
              <a:t>overnight interest rates</a:t>
            </a:r>
          </a:p>
          <a:p>
            <a:pPr algn="ctr"/>
            <a:r>
              <a:rPr lang="en-US" sz="1200" i="1" dirty="0" smtClean="0">
                <a:solidFill>
                  <a:schemeClr val="bg2">
                    <a:lumMod val="10000"/>
                  </a:schemeClr>
                </a:solidFill>
                <a:latin typeface="Calibri" pitchFamily="34" charset="0"/>
              </a:rPr>
              <a:t>15-day moving average</a:t>
            </a:r>
            <a:r>
              <a:rPr lang="en-US" sz="1200" i="1" dirty="0">
                <a:solidFill>
                  <a:schemeClr val="bg2">
                    <a:lumMod val="10000"/>
                  </a:schemeClr>
                </a:solidFill>
                <a:latin typeface="Calibri" pitchFamily="34" charset="0"/>
              </a:rPr>
              <a:t/>
            </a:r>
            <a:br>
              <a:rPr lang="en-US" sz="1200" i="1" dirty="0">
                <a:solidFill>
                  <a:schemeClr val="bg2">
                    <a:lumMod val="10000"/>
                  </a:schemeClr>
                </a:solidFill>
                <a:latin typeface="Calibri" pitchFamily="34" charset="0"/>
              </a:rPr>
            </a:br>
            <a:endParaRPr lang="en-GB" sz="1200" i="1" baseline="30000" dirty="0">
              <a:solidFill>
                <a:schemeClr val="bg2">
                  <a:lumMod val="10000"/>
                </a:schemeClr>
              </a:solidFill>
              <a:latin typeface="Calibri" pitchFamily="34" charset="0"/>
            </a:endParaRPr>
          </a:p>
        </p:txBody>
      </p:sp>
      <p:cxnSp>
        <p:nvCxnSpPr>
          <p:cNvPr id="9" name="Straight Arrow Connector 8"/>
          <p:cNvCxnSpPr/>
          <p:nvPr/>
        </p:nvCxnSpPr>
        <p:spPr>
          <a:xfrm>
            <a:off x="8524459" y="4848612"/>
            <a:ext cx="0" cy="720080"/>
          </a:xfrm>
          <a:prstGeom prst="straightConnector1">
            <a:avLst/>
          </a:prstGeom>
          <a:ln w="22225">
            <a:solidFill>
              <a:schemeClr val="bg2">
                <a:lumMod val="10000"/>
              </a:schemeClr>
            </a:solidFill>
            <a:headEnd type="arrow"/>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41678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FCE284C4-5ED1-4D6C-B7CC-2049C3062C5E}" type="slidenum">
              <a:rPr lang="en-GB" smtClean="0"/>
              <a:t>12</a:t>
            </a:fld>
            <a:endParaRPr lang="en-GB" dirty="0"/>
          </a:p>
        </p:txBody>
      </p:sp>
      <p:sp>
        <p:nvSpPr>
          <p:cNvPr id="9" name="Rectangle 8"/>
          <p:cNvSpPr/>
          <p:nvPr/>
        </p:nvSpPr>
        <p:spPr>
          <a:xfrm>
            <a:off x="333802" y="2554540"/>
            <a:ext cx="8568952" cy="1323439"/>
          </a:xfrm>
          <a:prstGeom prst="rect">
            <a:avLst/>
          </a:prstGeom>
        </p:spPr>
        <p:txBody>
          <a:bodyPr wrap="square">
            <a:spAutoFit/>
          </a:bodyPr>
          <a:lstStyle/>
          <a:p>
            <a:pPr algn="ctr">
              <a:defRPr/>
            </a:pPr>
            <a:r>
              <a:rPr lang="en-US" sz="4000" b="1" dirty="0" smtClean="0">
                <a:solidFill>
                  <a:schemeClr val="tx2"/>
                </a:solidFill>
                <a:latin typeface="+mj-lt"/>
              </a:rPr>
              <a:t>Diagnosing the challenge </a:t>
            </a:r>
          </a:p>
          <a:p>
            <a:pPr algn="ctr">
              <a:defRPr/>
            </a:pPr>
            <a:r>
              <a:rPr lang="en-US" sz="4000" b="1" dirty="0" smtClean="0">
                <a:solidFill>
                  <a:schemeClr val="tx2"/>
                </a:solidFill>
                <a:latin typeface="+mj-lt"/>
              </a:rPr>
              <a:t>of structural trends </a:t>
            </a:r>
          </a:p>
        </p:txBody>
      </p:sp>
    </p:spTree>
    <p:extLst>
      <p:ext uri="{BB962C8B-B14F-4D97-AF65-F5344CB8AC3E}">
        <p14:creationId xmlns:p14="http://schemas.microsoft.com/office/powerpoint/2010/main" val="198832779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main.oecd.org\sdataECO\Units\FRONTOFFICE\Economic Outlooks\EO101\Data and charts\PPT_Figs_E\E_Handout_Fig_Trade_by_type_1_2P_P2CL.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99993" y="1674697"/>
            <a:ext cx="4608512" cy="4634623"/>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4"/>
          </p:nvPr>
        </p:nvSpPr>
        <p:spPr/>
        <p:txBody>
          <a:bodyPr/>
          <a:lstStyle/>
          <a:p>
            <a:fld id="{FCE284C4-5ED1-4D6C-B7CC-2049C3062C5E}" type="slidenum">
              <a:rPr lang="en-GB" smtClean="0"/>
              <a:t>13</a:t>
            </a:fld>
            <a:endParaRPr lang="en-GB" dirty="0"/>
          </a:p>
        </p:txBody>
      </p:sp>
      <p:sp>
        <p:nvSpPr>
          <p:cNvPr id="11" name="Rectangle 10"/>
          <p:cNvSpPr/>
          <p:nvPr/>
        </p:nvSpPr>
        <p:spPr>
          <a:xfrm>
            <a:off x="638751" y="457533"/>
            <a:ext cx="8640960" cy="523220"/>
          </a:xfrm>
          <a:prstGeom prst="rect">
            <a:avLst/>
          </a:prstGeom>
        </p:spPr>
        <p:txBody>
          <a:bodyPr wrap="square">
            <a:spAutoFit/>
          </a:bodyPr>
          <a:lstStyle/>
          <a:p>
            <a:pPr algn="ctr">
              <a:defRPr/>
            </a:pPr>
            <a:r>
              <a:rPr lang="en-US" sz="2800" b="1" dirty="0" smtClean="0">
                <a:solidFill>
                  <a:schemeClr val="tx2"/>
                </a:solidFill>
                <a:latin typeface="+mj-lt"/>
              </a:rPr>
              <a:t>Trade specialisation and patterns have shifted</a:t>
            </a:r>
          </a:p>
        </p:txBody>
      </p:sp>
      <p:sp>
        <p:nvSpPr>
          <p:cNvPr id="8" name="TextBox 7"/>
          <p:cNvSpPr txBox="1"/>
          <p:nvPr/>
        </p:nvSpPr>
        <p:spPr>
          <a:xfrm>
            <a:off x="-180528" y="1268050"/>
            <a:ext cx="5063780" cy="584775"/>
          </a:xfrm>
          <a:prstGeom prst="rect">
            <a:avLst/>
          </a:prstGeom>
          <a:noFill/>
        </p:spPr>
        <p:txBody>
          <a:bodyPr wrap="square" rtlCol="0">
            <a:spAutoFit/>
          </a:bodyPr>
          <a:lstStyle/>
          <a:p>
            <a:pPr lvl="0" algn="ctr"/>
            <a:r>
              <a:rPr lang="en-US" sz="2000" b="1" dirty="0">
                <a:solidFill>
                  <a:schemeClr val="bg2">
                    <a:lumMod val="10000"/>
                  </a:schemeClr>
                </a:solidFill>
                <a:latin typeface="Calibri" pitchFamily="34" charset="0"/>
              </a:rPr>
              <a:t>W</a:t>
            </a:r>
            <a:r>
              <a:rPr lang="en-US" sz="2000" b="1" dirty="0" smtClean="0">
                <a:solidFill>
                  <a:schemeClr val="bg2">
                    <a:lumMod val="10000"/>
                  </a:schemeClr>
                </a:solidFill>
                <a:latin typeface="Calibri" pitchFamily="34" charset="0"/>
              </a:rPr>
              <a:t>orld goods trade</a:t>
            </a:r>
            <a:endParaRPr lang="en-US" sz="2000" b="1" dirty="0">
              <a:solidFill>
                <a:schemeClr val="bg2">
                  <a:lumMod val="10000"/>
                </a:schemeClr>
              </a:solidFill>
              <a:latin typeface="Calibri" pitchFamily="34" charset="0"/>
            </a:endParaRPr>
          </a:p>
          <a:p>
            <a:pPr lvl="0" algn="ctr"/>
            <a:r>
              <a:rPr lang="en-US" sz="1200" i="1" dirty="0">
                <a:solidFill>
                  <a:schemeClr val="bg2">
                    <a:lumMod val="10000"/>
                  </a:schemeClr>
                </a:solidFill>
                <a:latin typeface="Calibri" pitchFamily="34" charset="0"/>
              </a:rPr>
              <a:t>Share of world </a:t>
            </a:r>
            <a:r>
              <a:rPr lang="en-US" sz="1200" i="1">
                <a:solidFill>
                  <a:schemeClr val="bg2">
                    <a:lumMod val="10000"/>
                  </a:schemeClr>
                </a:solidFill>
                <a:latin typeface="Calibri" pitchFamily="34" charset="0"/>
              </a:rPr>
              <a:t>goods </a:t>
            </a:r>
            <a:r>
              <a:rPr lang="en-US" sz="1200" i="1" smtClean="0">
                <a:solidFill>
                  <a:schemeClr val="bg2">
                    <a:lumMod val="10000"/>
                  </a:schemeClr>
                </a:solidFill>
                <a:latin typeface="Calibri" pitchFamily="34" charset="0"/>
              </a:rPr>
              <a:t>exports, </a:t>
            </a:r>
            <a:r>
              <a:rPr lang="en-US" sz="1200" i="1" dirty="0" smtClean="0">
                <a:solidFill>
                  <a:schemeClr val="bg2">
                    <a:lumMod val="10000"/>
                  </a:schemeClr>
                </a:solidFill>
                <a:latin typeface="Calibri" pitchFamily="34" charset="0"/>
              </a:rPr>
              <a:t>volumes</a:t>
            </a:r>
            <a:endParaRPr lang="en-US" sz="1200" i="1" dirty="0">
              <a:solidFill>
                <a:schemeClr val="bg2">
                  <a:lumMod val="10000"/>
                </a:schemeClr>
              </a:solidFill>
              <a:latin typeface="Calibri" pitchFamily="34" charset="0"/>
            </a:endParaRPr>
          </a:p>
        </p:txBody>
      </p:sp>
      <p:sp>
        <p:nvSpPr>
          <p:cNvPr id="15" name="TextBox 14"/>
          <p:cNvSpPr txBox="1"/>
          <p:nvPr/>
        </p:nvSpPr>
        <p:spPr>
          <a:xfrm>
            <a:off x="4386149" y="1264791"/>
            <a:ext cx="4836199" cy="892552"/>
          </a:xfrm>
          <a:prstGeom prst="rect">
            <a:avLst/>
          </a:prstGeom>
          <a:noFill/>
        </p:spPr>
        <p:txBody>
          <a:bodyPr wrap="square" rtlCol="0">
            <a:spAutoFit/>
          </a:bodyPr>
          <a:lstStyle/>
          <a:p>
            <a:pPr lvl="0" algn="ctr"/>
            <a:r>
              <a:rPr lang="en-US" sz="2000" b="1" dirty="0" smtClean="0">
                <a:solidFill>
                  <a:schemeClr val="bg2">
                    <a:lumMod val="10000"/>
                  </a:schemeClr>
                </a:solidFill>
                <a:latin typeface="Calibri" pitchFamily="34" charset="0"/>
              </a:rPr>
              <a:t>World trade by type</a:t>
            </a:r>
          </a:p>
          <a:p>
            <a:pPr lvl="0" algn="ctr"/>
            <a:r>
              <a:rPr lang="en-US" sz="1200" i="1" dirty="0" smtClean="0">
                <a:solidFill>
                  <a:srgbClr val="E6E6E6">
                    <a:lumMod val="10000"/>
                  </a:srgbClr>
                </a:solidFill>
                <a:latin typeface="Calibri" pitchFamily="34" charset="0"/>
              </a:rPr>
              <a:t>Exports, values</a:t>
            </a:r>
            <a:endParaRPr lang="en-US" sz="1200" i="1" dirty="0">
              <a:solidFill>
                <a:srgbClr val="E6E6E6">
                  <a:lumMod val="10000"/>
                </a:srgbClr>
              </a:solidFill>
              <a:latin typeface="Calibri" pitchFamily="34" charset="0"/>
            </a:endParaRPr>
          </a:p>
          <a:p>
            <a:pPr lvl="0" algn="ctr"/>
            <a:endParaRPr lang="en-US" sz="2000" b="1" dirty="0" smtClean="0">
              <a:solidFill>
                <a:schemeClr val="bg2">
                  <a:lumMod val="10000"/>
                </a:schemeClr>
              </a:solidFill>
              <a:latin typeface="Calibri" pitchFamily="34" charset="0"/>
            </a:endParaRPr>
          </a:p>
        </p:txBody>
      </p:sp>
      <p:graphicFrame>
        <p:nvGraphicFramePr>
          <p:cNvPr id="14" name="Chart 13"/>
          <p:cNvGraphicFramePr>
            <a:graphicFrameLocks/>
          </p:cNvGraphicFramePr>
          <p:nvPr>
            <p:extLst>
              <p:ext uri="{D42A27DB-BD31-4B8C-83A1-F6EECF244321}">
                <p14:modId xmlns:p14="http://schemas.microsoft.com/office/powerpoint/2010/main" val="3083796744"/>
              </p:ext>
            </p:extLst>
          </p:nvPr>
        </p:nvGraphicFramePr>
        <p:xfrm>
          <a:off x="-252536" y="1711067"/>
          <a:ext cx="5743576" cy="4638675"/>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p:cNvSpPr txBox="1"/>
          <p:nvPr/>
        </p:nvSpPr>
        <p:spPr>
          <a:xfrm>
            <a:off x="323528" y="6112036"/>
            <a:ext cx="8208912" cy="769441"/>
          </a:xfrm>
          <a:prstGeom prst="rect">
            <a:avLst/>
          </a:prstGeom>
          <a:noFill/>
        </p:spPr>
        <p:txBody>
          <a:bodyPr wrap="square" rtlCol="0">
            <a:spAutoFit/>
          </a:bodyPr>
          <a:lstStyle/>
          <a:p>
            <a:r>
              <a:rPr lang="en-GB" sz="1100" dirty="0" smtClean="0">
                <a:solidFill>
                  <a:srgbClr val="171717"/>
                </a:solidFill>
                <a:latin typeface="Calibri" panose="020F0502020204030204" pitchFamily="34" charset="0"/>
              </a:rPr>
              <a:t>Note:</a:t>
            </a:r>
            <a:r>
              <a:rPr lang="en-GB" sz="1100" i="1" dirty="0" smtClean="0">
                <a:solidFill>
                  <a:srgbClr val="171717"/>
                </a:solidFill>
                <a:latin typeface="Calibri" panose="020F0502020204030204" pitchFamily="34" charset="0"/>
              </a:rPr>
              <a:t> </a:t>
            </a:r>
            <a:r>
              <a:rPr lang="en-GB" sz="1100" dirty="0" smtClean="0">
                <a:solidFill>
                  <a:srgbClr val="171717"/>
                </a:solidFill>
                <a:latin typeface="Calibri" panose="020F0502020204030204" pitchFamily="34" charset="0"/>
              </a:rPr>
              <a:t>LHS – </a:t>
            </a:r>
            <a:r>
              <a:rPr lang="en-GB" sz="1100" dirty="0">
                <a:solidFill>
                  <a:srgbClr val="171717"/>
                </a:solidFill>
                <a:latin typeface="Calibri" panose="020F0502020204030204" pitchFamily="34" charset="0"/>
              </a:rPr>
              <a:t>Dynamic Asian Economies includes Malaysia, the Philippines, Singapore, Thailand, Vietnam, Chinese Taipei and Hong Kong</a:t>
            </a:r>
            <a:r>
              <a:rPr lang="en-GB" sz="1100" dirty="0" smtClean="0">
                <a:solidFill>
                  <a:srgbClr val="171717"/>
                </a:solidFill>
                <a:latin typeface="Calibri" panose="020F0502020204030204" pitchFamily="34" charset="0"/>
              </a:rPr>
              <a:t>.</a:t>
            </a:r>
            <a:r>
              <a:rPr lang="en-US" sz="1100" dirty="0" smtClean="0">
                <a:solidFill>
                  <a:srgbClr val="171717"/>
                </a:solidFill>
                <a:latin typeface="Calibri" panose="020F0502020204030204" pitchFamily="34" charset="0"/>
              </a:rPr>
              <a:t/>
            </a:r>
            <a:br>
              <a:rPr lang="en-US" sz="1100" dirty="0" smtClean="0">
                <a:solidFill>
                  <a:srgbClr val="171717"/>
                </a:solidFill>
                <a:latin typeface="Calibri" panose="020F0502020204030204" pitchFamily="34" charset="0"/>
              </a:rPr>
            </a:br>
            <a:r>
              <a:rPr lang="en-US" sz="1100" dirty="0" smtClean="0">
                <a:solidFill>
                  <a:srgbClr val="171717"/>
                </a:solidFill>
                <a:latin typeface="Calibri" panose="020F0502020204030204" pitchFamily="34" charset="0"/>
              </a:rPr>
              <a:t>RHS – Business </a:t>
            </a:r>
            <a:r>
              <a:rPr lang="en-US" sz="1100" dirty="0">
                <a:solidFill>
                  <a:srgbClr val="171717"/>
                </a:solidFill>
                <a:latin typeface="Calibri" panose="020F0502020204030204" pitchFamily="34" charset="0"/>
              </a:rPr>
              <a:t>services </a:t>
            </a:r>
            <a:r>
              <a:rPr lang="en-US" sz="1100" dirty="0" smtClean="0">
                <a:solidFill>
                  <a:srgbClr val="171717"/>
                </a:solidFill>
                <a:latin typeface="Calibri" panose="020F0502020204030204" pitchFamily="34" charset="0"/>
              </a:rPr>
              <a:t>includes R&amp;D, ICT, real estate and other business activities. Financial services includes financial intermediation, insurance, pension funding and other financial activities. </a:t>
            </a:r>
            <a:endParaRPr lang="en-GB" sz="1100" dirty="0" smtClean="0">
              <a:solidFill>
                <a:srgbClr val="171717"/>
              </a:solidFill>
              <a:latin typeface="Calibri" panose="020F0502020204030204" pitchFamily="34" charset="0"/>
            </a:endParaRPr>
          </a:p>
          <a:p>
            <a:r>
              <a:rPr lang="en-GB" sz="1100" dirty="0" smtClean="0">
                <a:solidFill>
                  <a:srgbClr val="171717"/>
                </a:solidFill>
                <a:latin typeface="Calibri" panose="020F0502020204030204" pitchFamily="34" charset="0"/>
              </a:rPr>
              <a:t>Source</a:t>
            </a:r>
            <a:r>
              <a:rPr lang="en-GB" sz="1100" dirty="0">
                <a:solidFill>
                  <a:srgbClr val="171717"/>
                </a:solidFill>
                <a:latin typeface="Calibri" panose="020F0502020204030204" pitchFamily="34" charset="0"/>
              </a:rPr>
              <a:t>:</a:t>
            </a:r>
            <a:r>
              <a:rPr lang="en-US" sz="1100" i="1" dirty="0">
                <a:solidFill>
                  <a:srgbClr val="171717"/>
                </a:solidFill>
                <a:latin typeface="Calibri" panose="020F0502020204030204" pitchFamily="34" charset="0"/>
              </a:rPr>
              <a:t> </a:t>
            </a:r>
            <a:r>
              <a:rPr lang="en-US" sz="1100" dirty="0" smtClean="0">
                <a:solidFill>
                  <a:srgbClr val="171717"/>
                </a:solidFill>
                <a:latin typeface="Calibri" panose="020F0502020204030204" pitchFamily="34" charset="0"/>
              </a:rPr>
              <a:t>OECD-WTO Trade in Value Added (TiVA) database</a:t>
            </a:r>
            <a:r>
              <a:rPr lang="en-US" sz="1100" dirty="0">
                <a:solidFill>
                  <a:srgbClr val="171717"/>
                </a:solidFill>
                <a:latin typeface="Calibri" panose="020F0502020204030204" pitchFamily="34" charset="0"/>
              </a:rPr>
              <a:t>; UN </a:t>
            </a:r>
            <a:r>
              <a:rPr lang="en-US" sz="1100" dirty="0" smtClean="0">
                <a:solidFill>
                  <a:srgbClr val="171717"/>
                </a:solidFill>
                <a:latin typeface="Calibri" panose="020F0502020204030204" pitchFamily="34" charset="0"/>
              </a:rPr>
              <a:t>Comtrade database; and </a:t>
            </a:r>
            <a:r>
              <a:rPr lang="en-US" sz="1100" dirty="0">
                <a:solidFill>
                  <a:srgbClr val="171717"/>
                </a:solidFill>
                <a:latin typeface="Calibri" panose="020F0502020204030204" pitchFamily="34" charset="0"/>
              </a:rPr>
              <a:t>OECD calculations.</a:t>
            </a:r>
            <a:endParaRPr lang="en-GB" sz="1100" dirty="0">
              <a:solidFill>
                <a:srgbClr val="171717"/>
              </a:solidFill>
              <a:latin typeface="Calibri" panose="020F0502020204030204" pitchFamily="34" charset="0"/>
            </a:endParaRPr>
          </a:p>
        </p:txBody>
      </p:sp>
    </p:spTree>
    <p:extLst>
      <p:ext uri="{BB962C8B-B14F-4D97-AF65-F5344CB8AC3E}">
        <p14:creationId xmlns:p14="http://schemas.microsoft.com/office/powerpoint/2010/main" val="94895087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main.oecd.org\sdataECO\Units\FRONTOFFICE\Economic Outlooks\EO101\Data and charts\PPT_Figs_E\E_Handout_Fig_Job_polarisation_1_2P_P2CL.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1286" y="1519894"/>
            <a:ext cx="7920880" cy="480909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4"/>
          </p:nvPr>
        </p:nvSpPr>
        <p:spPr/>
        <p:txBody>
          <a:bodyPr/>
          <a:lstStyle/>
          <a:p>
            <a:fld id="{FCE284C4-5ED1-4D6C-B7CC-2049C3062C5E}" type="slidenum">
              <a:rPr lang="en-GB" smtClean="0"/>
              <a:t>14</a:t>
            </a:fld>
            <a:endParaRPr lang="en-GB" dirty="0"/>
          </a:p>
        </p:txBody>
      </p:sp>
      <p:sp>
        <p:nvSpPr>
          <p:cNvPr id="4" name="Title 3"/>
          <p:cNvSpPr>
            <a:spLocks noGrp="1"/>
          </p:cNvSpPr>
          <p:nvPr>
            <p:ph type="title"/>
          </p:nvPr>
        </p:nvSpPr>
        <p:spPr>
          <a:xfrm>
            <a:off x="837687" y="188640"/>
            <a:ext cx="7416000" cy="1022400"/>
          </a:xfrm>
        </p:spPr>
        <p:txBody>
          <a:bodyPr/>
          <a:lstStyle/>
          <a:p>
            <a:pPr algn="ctr">
              <a:defRPr/>
            </a:pPr>
            <a:r>
              <a:rPr lang="en-US" sz="2800" b="1" dirty="0" smtClean="0">
                <a:solidFill>
                  <a:schemeClr val="tx2"/>
                </a:solidFill>
              </a:rPr>
              <a:t>Job losses have centred on </a:t>
            </a:r>
            <a:br>
              <a:rPr lang="en-US" sz="2800" b="1" dirty="0" smtClean="0">
                <a:solidFill>
                  <a:schemeClr val="tx2"/>
                </a:solidFill>
              </a:rPr>
            </a:br>
            <a:r>
              <a:rPr lang="en-US" sz="2800" b="1" dirty="0" smtClean="0">
                <a:solidFill>
                  <a:schemeClr val="tx2"/>
                </a:solidFill>
              </a:rPr>
              <a:t>people with mid-level skills</a:t>
            </a:r>
            <a:endParaRPr lang="en-GB" sz="2800" b="1" dirty="0">
              <a:solidFill>
                <a:schemeClr val="tx2"/>
              </a:solidFill>
            </a:endParaRPr>
          </a:p>
        </p:txBody>
      </p:sp>
      <p:sp>
        <p:nvSpPr>
          <p:cNvPr id="9" name="TextBox 8"/>
          <p:cNvSpPr txBox="1"/>
          <p:nvPr/>
        </p:nvSpPr>
        <p:spPr>
          <a:xfrm>
            <a:off x="782187" y="6242491"/>
            <a:ext cx="8208912" cy="646331"/>
          </a:xfrm>
          <a:prstGeom prst="rect">
            <a:avLst/>
          </a:prstGeom>
          <a:noFill/>
        </p:spPr>
        <p:txBody>
          <a:bodyPr wrap="square" rtlCol="0">
            <a:spAutoFit/>
          </a:bodyPr>
          <a:lstStyle/>
          <a:p>
            <a:r>
              <a:rPr lang="en-GB" sz="1200" dirty="0" smtClean="0">
                <a:solidFill>
                  <a:srgbClr val="171717"/>
                </a:solidFill>
                <a:latin typeface="Calibri" panose="020F0502020204030204" pitchFamily="34" charset="0"/>
              </a:rPr>
              <a:t>Note: OECD is the unweighted average of 24 countries. For Japan 1995-2010.</a:t>
            </a:r>
          </a:p>
          <a:p>
            <a:r>
              <a:rPr lang="en-GB" sz="1200" dirty="0" smtClean="0">
                <a:solidFill>
                  <a:srgbClr val="171717"/>
                </a:solidFill>
                <a:latin typeface="Calibri" panose="020F0502020204030204" pitchFamily="34" charset="0"/>
              </a:rPr>
              <a:t>Source</a:t>
            </a:r>
            <a:r>
              <a:rPr lang="en-GB" sz="1200" dirty="0">
                <a:solidFill>
                  <a:srgbClr val="171717"/>
                </a:solidFill>
                <a:latin typeface="Calibri" panose="020F0502020204030204" pitchFamily="34" charset="0"/>
              </a:rPr>
              <a:t>:</a:t>
            </a:r>
            <a:r>
              <a:rPr lang="en-US" sz="1200" dirty="0">
                <a:solidFill>
                  <a:srgbClr val="171717"/>
                </a:solidFill>
                <a:latin typeface="Calibri" panose="020F0502020204030204" pitchFamily="34" charset="0"/>
              </a:rPr>
              <a:t> </a:t>
            </a:r>
            <a:r>
              <a:rPr lang="en-US" sz="1200" dirty="0" smtClean="0">
                <a:solidFill>
                  <a:srgbClr val="171717"/>
                </a:solidFill>
                <a:latin typeface="Calibri" panose="020F0502020204030204" pitchFamily="34" charset="0"/>
              </a:rPr>
              <a:t>OECD Employment Outlook 2017; European Union Labour </a:t>
            </a:r>
            <a:r>
              <a:rPr lang="en-US" sz="1200" dirty="0">
                <a:solidFill>
                  <a:srgbClr val="171717"/>
                </a:solidFill>
                <a:latin typeface="Calibri" panose="020F0502020204030204" pitchFamily="34" charset="0"/>
              </a:rPr>
              <a:t>Force </a:t>
            </a:r>
            <a:r>
              <a:rPr lang="en-US" sz="1200" dirty="0" smtClean="0">
                <a:solidFill>
                  <a:srgbClr val="171717"/>
                </a:solidFill>
                <a:latin typeface="Calibri" panose="020F0502020204030204" pitchFamily="34" charset="0"/>
              </a:rPr>
              <a:t>Survey; Labour </a:t>
            </a:r>
            <a:r>
              <a:rPr lang="en-US" sz="1200" dirty="0">
                <a:solidFill>
                  <a:srgbClr val="171717"/>
                </a:solidFill>
                <a:latin typeface="Calibri" panose="020F0502020204030204" pitchFamily="34" charset="0"/>
              </a:rPr>
              <a:t>force surveys for </a:t>
            </a:r>
            <a:r>
              <a:rPr lang="en-US" sz="1200" dirty="0" smtClean="0">
                <a:solidFill>
                  <a:srgbClr val="171717"/>
                </a:solidFill>
                <a:latin typeface="Calibri" panose="020F0502020204030204" pitchFamily="34" charset="0"/>
              </a:rPr>
              <a:t>Canada, </a:t>
            </a:r>
            <a:r>
              <a:rPr lang="en-US" sz="1200" dirty="0">
                <a:solidFill>
                  <a:srgbClr val="171717"/>
                </a:solidFill>
                <a:latin typeface="Calibri" panose="020F0502020204030204" pitchFamily="34" charset="0"/>
              </a:rPr>
              <a:t>Japan </a:t>
            </a:r>
            <a:r>
              <a:rPr lang="en-US" sz="1200" dirty="0" smtClean="0">
                <a:solidFill>
                  <a:srgbClr val="171717"/>
                </a:solidFill>
                <a:latin typeface="Calibri" panose="020F0502020204030204" pitchFamily="34" charset="0"/>
              </a:rPr>
              <a:t/>
            </a:r>
            <a:br>
              <a:rPr lang="en-US" sz="1200" dirty="0" smtClean="0">
                <a:solidFill>
                  <a:srgbClr val="171717"/>
                </a:solidFill>
                <a:latin typeface="Calibri" panose="020F0502020204030204" pitchFamily="34" charset="0"/>
              </a:rPr>
            </a:br>
            <a:r>
              <a:rPr lang="en-US" sz="1200" dirty="0" smtClean="0">
                <a:solidFill>
                  <a:srgbClr val="171717"/>
                </a:solidFill>
                <a:latin typeface="Calibri" panose="020F0502020204030204" pitchFamily="34" charset="0"/>
              </a:rPr>
              <a:t>and </a:t>
            </a:r>
            <a:r>
              <a:rPr lang="en-US" sz="1200" dirty="0">
                <a:solidFill>
                  <a:srgbClr val="171717"/>
                </a:solidFill>
                <a:latin typeface="Calibri" panose="020F0502020204030204" pitchFamily="34" charset="0"/>
              </a:rPr>
              <a:t>the United </a:t>
            </a:r>
            <a:r>
              <a:rPr lang="en-US" sz="1200" dirty="0" smtClean="0">
                <a:solidFill>
                  <a:srgbClr val="171717"/>
                </a:solidFill>
                <a:latin typeface="Calibri" panose="020F0502020204030204" pitchFamily="34" charset="0"/>
              </a:rPr>
              <a:t>States</a:t>
            </a:r>
            <a:r>
              <a:rPr lang="en-US" sz="1200" dirty="0">
                <a:solidFill>
                  <a:srgbClr val="171717"/>
                </a:solidFill>
                <a:latin typeface="Calibri" panose="020F0502020204030204" pitchFamily="34" charset="0"/>
              </a:rPr>
              <a:t>; and OECD calculations.</a:t>
            </a:r>
            <a:endParaRPr lang="en-GB" sz="1200" dirty="0">
              <a:solidFill>
                <a:srgbClr val="171717"/>
              </a:solidFill>
              <a:latin typeface="Calibri" panose="020F0502020204030204" pitchFamily="34" charset="0"/>
            </a:endParaRPr>
          </a:p>
        </p:txBody>
      </p:sp>
      <p:sp>
        <p:nvSpPr>
          <p:cNvPr id="10" name="TextBox 9"/>
          <p:cNvSpPr txBox="1"/>
          <p:nvPr/>
        </p:nvSpPr>
        <p:spPr>
          <a:xfrm>
            <a:off x="1213354" y="1276185"/>
            <a:ext cx="6696744" cy="584775"/>
          </a:xfrm>
          <a:prstGeom prst="rect">
            <a:avLst/>
          </a:prstGeom>
          <a:noFill/>
        </p:spPr>
        <p:txBody>
          <a:bodyPr wrap="square" rtlCol="0">
            <a:spAutoFit/>
          </a:bodyPr>
          <a:lstStyle/>
          <a:p>
            <a:pPr lvl="0" algn="ctr"/>
            <a:r>
              <a:rPr lang="en-US" sz="2000" b="1" dirty="0" smtClean="0">
                <a:solidFill>
                  <a:schemeClr val="bg2">
                    <a:lumMod val="10000"/>
                  </a:schemeClr>
                </a:solidFill>
                <a:latin typeface="Calibri" pitchFamily="34" charset="0"/>
              </a:rPr>
              <a:t>Job polarisation by country</a:t>
            </a:r>
          </a:p>
          <a:p>
            <a:pPr algn="ctr"/>
            <a:r>
              <a:rPr lang="en-US" sz="1200" i="1" dirty="0">
                <a:solidFill>
                  <a:srgbClr val="000000"/>
                </a:solidFill>
                <a:latin typeface="Calibri" panose="020F0502020204030204" pitchFamily="34" charset="0"/>
              </a:rPr>
              <a:t>Change </a:t>
            </a:r>
            <a:r>
              <a:rPr lang="en-US" sz="1200" i="1" dirty="0" smtClean="0">
                <a:solidFill>
                  <a:srgbClr val="000000"/>
                </a:solidFill>
                <a:latin typeface="Calibri" panose="020F0502020204030204" pitchFamily="34" charset="0"/>
              </a:rPr>
              <a:t>in share </a:t>
            </a:r>
            <a:r>
              <a:rPr lang="en-US" sz="1200" i="1" dirty="0">
                <a:solidFill>
                  <a:srgbClr val="000000"/>
                </a:solidFill>
                <a:latin typeface="Calibri" panose="020F0502020204030204" pitchFamily="34" charset="0"/>
              </a:rPr>
              <a:t>of total </a:t>
            </a:r>
            <a:r>
              <a:rPr lang="en-US" sz="1200" i="1" dirty="0" smtClean="0">
                <a:solidFill>
                  <a:srgbClr val="000000"/>
                </a:solidFill>
                <a:latin typeface="Calibri" panose="020F0502020204030204" pitchFamily="34" charset="0"/>
              </a:rPr>
              <a:t>employment by </a:t>
            </a:r>
            <a:r>
              <a:rPr lang="en-US" sz="1200" i="1" dirty="0">
                <a:solidFill>
                  <a:srgbClr val="000000"/>
                </a:solidFill>
                <a:latin typeface="Calibri" panose="020F0502020204030204" pitchFamily="34" charset="0"/>
              </a:rPr>
              <a:t>skill </a:t>
            </a:r>
            <a:r>
              <a:rPr lang="en-US" sz="1200" i="1" dirty="0" smtClean="0">
                <a:solidFill>
                  <a:srgbClr val="000000"/>
                </a:solidFill>
                <a:latin typeface="Calibri" panose="020F0502020204030204" pitchFamily="34" charset="0"/>
              </a:rPr>
              <a:t>level, 1995-2015</a:t>
            </a:r>
            <a:endParaRPr lang="en-US" sz="1200" i="1" dirty="0">
              <a:solidFill>
                <a:schemeClr val="bg2">
                  <a:lumMod val="10000"/>
                </a:schemeClr>
              </a:solidFill>
              <a:latin typeface="Calibri" pitchFamily="34" charset="0"/>
            </a:endParaRPr>
          </a:p>
        </p:txBody>
      </p:sp>
      <p:sp>
        <p:nvSpPr>
          <p:cNvPr id="8" name="Rectangle 7"/>
          <p:cNvSpPr/>
          <p:nvPr/>
        </p:nvSpPr>
        <p:spPr>
          <a:xfrm rot="10800000">
            <a:off x="4983498" y="2726899"/>
            <a:ext cx="853824" cy="3334601"/>
          </a:xfrm>
          <a:prstGeom prst="rect">
            <a:avLst/>
          </a:prstGeom>
          <a:noFill/>
          <a:ln w="38100">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80398364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main.oecd.org\sdataECO\Units\FRONTOFFICE\Economic Outlooks\EO101\Data and charts\PPT_Figs_E\E_Handout_Fig_Export_complexity_1_2P_P2CL.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6710" y="1587614"/>
            <a:ext cx="8055276" cy="4799135"/>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4"/>
          </p:nvPr>
        </p:nvSpPr>
        <p:spPr/>
        <p:txBody>
          <a:bodyPr/>
          <a:lstStyle/>
          <a:p>
            <a:fld id="{FCE284C4-5ED1-4D6C-B7CC-2049C3062C5E}" type="slidenum">
              <a:rPr lang="en-GB" smtClean="0"/>
              <a:t>15</a:t>
            </a:fld>
            <a:endParaRPr lang="en-GB" dirty="0"/>
          </a:p>
        </p:txBody>
      </p:sp>
      <p:sp>
        <p:nvSpPr>
          <p:cNvPr id="7" name="Rectangle 6"/>
          <p:cNvSpPr/>
          <p:nvPr/>
        </p:nvSpPr>
        <p:spPr>
          <a:xfrm>
            <a:off x="576709" y="242718"/>
            <a:ext cx="8640960" cy="954107"/>
          </a:xfrm>
          <a:prstGeom prst="rect">
            <a:avLst/>
          </a:prstGeom>
        </p:spPr>
        <p:txBody>
          <a:bodyPr wrap="square">
            <a:spAutoFit/>
          </a:bodyPr>
          <a:lstStyle/>
          <a:p>
            <a:pPr algn="ctr">
              <a:defRPr/>
            </a:pPr>
            <a:r>
              <a:rPr lang="en-US" sz="2800" b="1" dirty="0">
                <a:solidFill>
                  <a:schemeClr val="tx2"/>
                </a:solidFill>
                <a:latin typeface="+mj-lt"/>
              </a:rPr>
              <a:t>Advanced economies have moved up the </a:t>
            </a:r>
            <a:r>
              <a:rPr lang="en-US" sz="2800" b="1" dirty="0" smtClean="0">
                <a:solidFill>
                  <a:schemeClr val="tx2"/>
                </a:solidFill>
                <a:latin typeface="+mj-lt"/>
              </a:rPr>
              <a:t/>
            </a:r>
            <a:br>
              <a:rPr lang="en-US" sz="2800" b="1" dirty="0" smtClean="0">
                <a:solidFill>
                  <a:schemeClr val="tx2"/>
                </a:solidFill>
                <a:latin typeface="+mj-lt"/>
              </a:rPr>
            </a:br>
            <a:r>
              <a:rPr lang="en-US" sz="2800" b="1" dirty="0" smtClean="0">
                <a:solidFill>
                  <a:schemeClr val="tx2"/>
                </a:solidFill>
                <a:latin typeface="+mj-lt"/>
              </a:rPr>
              <a:t>value </a:t>
            </a:r>
            <a:r>
              <a:rPr lang="en-US" sz="2800" b="1" dirty="0">
                <a:solidFill>
                  <a:schemeClr val="tx2"/>
                </a:solidFill>
                <a:latin typeface="+mj-lt"/>
              </a:rPr>
              <a:t>chain, but EMEs are moving up too</a:t>
            </a:r>
            <a:endParaRPr lang="en-GB" sz="2800" b="1" dirty="0">
              <a:solidFill>
                <a:schemeClr val="tx2"/>
              </a:solidFill>
              <a:latin typeface="+mj-lt"/>
            </a:endParaRPr>
          </a:p>
        </p:txBody>
      </p:sp>
      <p:sp>
        <p:nvSpPr>
          <p:cNvPr id="11" name="TextBox 10"/>
          <p:cNvSpPr txBox="1"/>
          <p:nvPr/>
        </p:nvSpPr>
        <p:spPr>
          <a:xfrm>
            <a:off x="187979" y="6130595"/>
            <a:ext cx="8444006" cy="769441"/>
          </a:xfrm>
          <a:prstGeom prst="rect">
            <a:avLst/>
          </a:prstGeom>
          <a:noFill/>
        </p:spPr>
        <p:txBody>
          <a:bodyPr wrap="square" rtlCol="0">
            <a:spAutoFit/>
          </a:bodyPr>
          <a:lstStyle/>
          <a:p>
            <a:r>
              <a:rPr lang="en-GB" sz="1100" dirty="0" smtClean="0">
                <a:solidFill>
                  <a:srgbClr val="171717"/>
                </a:solidFill>
                <a:latin typeface="Calibri" panose="020F0502020204030204" pitchFamily="34" charset="0"/>
              </a:rPr>
              <a:t>Note: In nominal terms. Least complex is the 1</a:t>
            </a:r>
            <a:r>
              <a:rPr lang="en-GB" sz="1100" baseline="30000" dirty="0" smtClean="0">
                <a:solidFill>
                  <a:srgbClr val="171717"/>
                </a:solidFill>
                <a:latin typeface="Calibri" panose="020F0502020204030204" pitchFamily="34" charset="0"/>
              </a:rPr>
              <a:t>st</a:t>
            </a:r>
            <a:r>
              <a:rPr lang="en-GB" sz="1100" dirty="0" smtClean="0">
                <a:solidFill>
                  <a:srgbClr val="171717"/>
                </a:solidFill>
                <a:latin typeface="Calibri" panose="020F0502020204030204" pitchFamily="34" charset="0"/>
              </a:rPr>
              <a:t> </a:t>
            </a:r>
            <a:r>
              <a:rPr lang="en-GB" sz="1100" dirty="0">
                <a:solidFill>
                  <a:srgbClr val="171717"/>
                </a:solidFill>
                <a:latin typeface="Calibri" panose="020F0502020204030204" pitchFamily="34" charset="0"/>
              </a:rPr>
              <a:t>q</a:t>
            </a:r>
            <a:r>
              <a:rPr lang="en-GB" sz="1100" dirty="0" smtClean="0">
                <a:solidFill>
                  <a:srgbClr val="171717"/>
                </a:solidFill>
                <a:latin typeface="Calibri" panose="020F0502020204030204" pitchFamily="34" charset="0"/>
              </a:rPr>
              <a:t>uartile of products by complexity (e.g. crayons), most </a:t>
            </a:r>
            <a:r>
              <a:rPr lang="en-GB" sz="1100" dirty="0">
                <a:solidFill>
                  <a:srgbClr val="171717"/>
                </a:solidFill>
                <a:latin typeface="Calibri" panose="020F0502020204030204" pitchFamily="34" charset="0"/>
              </a:rPr>
              <a:t>complex </a:t>
            </a:r>
            <a:r>
              <a:rPr lang="en-GB" sz="1100" dirty="0" smtClean="0">
                <a:solidFill>
                  <a:srgbClr val="171717"/>
                </a:solidFill>
                <a:latin typeface="Calibri" panose="020F0502020204030204" pitchFamily="34" charset="0"/>
              </a:rPr>
              <a:t>is the 4</a:t>
            </a:r>
            <a:r>
              <a:rPr lang="en-GB" sz="1100" baseline="30000" dirty="0" smtClean="0">
                <a:solidFill>
                  <a:srgbClr val="171717"/>
                </a:solidFill>
                <a:latin typeface="Calibri" panose="020F0502020204030204" pitchFamily="34" charset="0"/>
              </a:rPr>
              <a:t>th</a:t>
            </a:r>
            <a:r>
              <a:rPr lang="en-GB" sz="1100" dirty="0" smtClean="0">
                <a:solidFill>
                  <a:srgbClr val="171717"/>
                </a:solidFill>
                <a:latin typeface="Calibri" panose="020F0502020204030204" pitchFamily="34" charset="0"/>
              </a:rPr>
              <a:t> quartile (e.g. medical equipment), excluding major commodities. Dynamic Asian Economies includes </a:t>
            </a:r>
            <a:r>
              <a:rPr lang="en-US" sz="1100" dirty="0" smtClean="0">
                <a:solidFill>
                  <a:srgbClr val="171717"/>
                </a:solidFill>
                <a:latin typeface="Calibri" panose="020F0502020204030204" pitchFamily="34" charset="0"/>
              </a:rPr>
              <a:t>Malaysia</a:t>
            </a:r>
            <a:r>
              <a:rPr lang="en-US" sz="1100" dirty="0">
                <a:solidFill>
                  <a:srgbClr val="171717"/>
                </a:solidFill>
                <a:latin typeface="Calibri" panose="020F0502020204030204" pitchFamily="34" charset="0"/>
              </a:rPr>
              <a:t>, the Philippines, Singapore, </a:t>
            </a:r>
            <a:r>
              <a:rPr lang="en-US" sz="1100" dirty="0" smtClean="0">
                <a:solidFill>
                  <a:srgbClr val="171717"/>
                </a:solidFill>
                <a:latin typeface="Calibri" panose="020F0502020204030204" pitchFamily="34" charset="0"/>
              </a:rPr>
              <a:t>Thailand, Vietnam</a:t>
            </a:r>
            <a:r>
              <a:rPr lang="en-US" sz="1100" dirty="0">
                <a:solidFill>
                  <a:srgbClr val="171717"/>
                </a:solidFill>
                <a:latin typeface="Calibri" panose="020F0502020204030204" pitchFamily="34" charset="0"/>
              </a:rPr>
              <a:t>, Chinese </a:t>
            </a:r>
            <a:r>
              <a:rPr lang="en-US" sz="1100" dirty="0" smtClean="0">
                <a:solidFill>
                  <a:srgbClr val="171717"/>
                </a:solidFill>
                <a:latin typeface="Calibri" panose="020F0502020204030204" pitchFamily="34" charset="0"/>
              </a:rPr>
              <a:t>Taipei and </a:t>
            </a:r>
            <a:r>
              <a:rPr lang="en-US" sz="1100" dirty="0">
                <a:solidFill>
                  <a:srgbClr val="171717"/>
                </a:solidFill>
                <a:latin typeface="Calibri" panose="020F0502020204030204" pitchFamily="34" charset="0"/>
              </a:rPr>
              <a:t>Hong </a:t>
            </a:r>
            <a:r>
              <a:rPr lang="en-US" sz="1100" dirty="0" smtClean="0">
                <a:solidFill>
                  <a:srgbClr val="171717"/>
                </a:solidFill>
                <a:latin typeface="Calibri" panose="020F0502020204030204" pitchFamily="34" charset="0"/>
              </a:rPr>
              <a:t>Kong. Europe is the unweighted average of the Czech Republic, France, Germany, Ireland, Italy, Poland, Portugal and the UK.</a:t>
            </a:r>
            <a:endParaRPr lang="en-GB" sz="1100" dirty="0" smtClean="0">
              <a:solidFill>
                <a:srgbClr val="171717"/>
              </a:solidFill>
              <a:latin typeface="Calibri" panose="020F0502020204030204" pitchFamily="34" charset="0"/>
            </a:endParaRPr>
          </a:p>
          <a:p>
            <a:r>
              <a:rPr lang="en-GB" sz="1100" dirty="0" smtClean="0">
                <a:solidFill>
                  <a:srgbClr val="171717"/>
                </a:solidFill>
                <a:latin typeface="Calibri" panose="020F0502020204030204" pitchFamily="34" charset="0"/>
              </a:rPr>
              <a:t>Source</a:t>
            </a:r>
            <a:r>
              <a:rPr lang="en-GB" sz="1100" dirty="0">
                <a:solidFill>
                  <a:srgbClr val="171717"/>
                </a:solidFill>
                <a:latin typeface="Calibri" panose="020F0502020204030204" pitchFamily="34" charset="0"/>
              </a:rPr>
              <a:t>:</a:t>
            </a:r>
            <a:r>
              <a:rPr lang="en-US" sz="1100" i="1" dirty="0">
                <a:solidFill>
                  <a:srgbClr val="171717"/>
                </a:solidFill>
                <a:latin typeface="Calibri" panose="020F0502020204030204" pitchFamily="34" charset="0"/>
              </a:rPr>
              <a:t> </a:t>
            </a:r>
            <a:r>
              <a:rPr lang="en-US" sz="1100" dirty="0" smtClean="0">
                <a:solidFill>
                  <a:srgbClr val="171717"/>
                </a:solidFill>
                <a:latin typeface="Calibri" panose="020F0502020204030204" pitchFamily="34" charset="0"/>
              </a:rPr>
              <a:t>UN Comtrade database; and OECD calculations.</a:t>
            </a:r>
            <a:endParaRPr lang="en-GB" sz="1100" dirty="0">
              <a:solidFill>
                <a:srgbClr val="171717"/>
              </a:solidFill>
              <a:latin typeface="Calibri" panose="020F0502020204030204" pitchFamily="34" charset="0"/>
            </a:endParaRPr>
          </a:p>
        </p:txBody>
      </p:sp>
      <p:cxnSp>
        <p:nvCxnSpPr>
          <p:cNvPr id="4" name="Straight Connector 3"/>
          <p:cNvCxnSpPr/>
          <p:nvPr/>
        </p:nvCxnSpPr>
        <p:spPr>
          <a:xfrm>
            <a:off x="3887766" y="2174042"/>
            <a:ext cx="0" cy="3744506"/>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267744" y="1265431"/>
            <a:ext cx="4536504" cy="400110"/>
          </a:xfrm>
          <a:prstGeom prst="rect">
            <a:avLst/>
          </a:prstGeom>
          <a:noFill/>
        </p:spPr>
        <p:txBody>
          <a:bodyPr wrap="square" rtlCol="0">
            <a:spAutoFit/>
          </a:bodyPr>
          <a:lstStyle/>
          <a:p>
            <a:pPr lvl="0" algn="ctr"/>
            <a:r>
              <a:rPr lang="en-US" sz="2000" b="1" dirty="0" smtClean="0">
                <a:solidFill>
                  <a:schemeClr val="bg2">
                    <a:lumMod val="10000"/>
                  </a:schemeClr>
                </a:solidFill>
                <a:latin typeface="Calibri" pitchFamily="34" charset="0"/>
              </a:rPr>
              <a:t>Share of export </a:t>
            </a:r>
            <a:r>
              <a:rPr lang="en-US" sz="2000" b="1" dirty="0">
                <a:solidFill>
                  <a:schemeClr val="bg2">
                    <a:lumMod val="10000"/>
                  </a:schemeClr>
                </a:solidFill>
                <a:latin typeface="Calibri" pitchFamily="34" charset="0"/>
              </a:rPr>
              <a:t>goods by </a:t>
            </a:r>
            <a:r>
              <a:rPr lang="en-US" sz="2000" b="1" dirty="0" smtClean="0">
                <a:solidFill>
                  <a:schemeClr val="bg2">
                    <a:lumMod val="10000"/>
                  </a:schemeClr>
                </a:solidFill>
                <a:latin typeface="Calibri" pitchFamily="34" charset="0"/>
              </a:rPr>
              <a:t>complexity</a:t>
            </a:r>
          </a:p>
        </p:txBody>
      </p:sp>
    </p:spTree>
    <p:extLst>
      <p:ext uri="{BB962C8B-B14F-4D97-AF65-F5344CB8AC3E}">
        <p14:creationId xmlns:p14="http://schemas.microsoft.com/office/powerpoint/2010/main" val="54893769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Witheridge_W\AppData\Local\Microsoft\Windows\Temporary Internet Files\Content.Outlook\4375M1S6\E_Handout_Fig_Factors_Manuf_1_2P_P2CL.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8452" y="1592450"/>
            <a:ext cx="8546943" cy="466606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4"/>
          </p:nvPr>
        </p:nvSpPr>
        <p:spPr/>
        <p:txBody>
          <a:bodyPr/>
          <a:lstStyle/>
          <a:p>
            <a:fld id="{FCE284C4-5ED1-4D6C-B7CC-2049C3062C5E}" type="slidenum">
              <a:rPr lang="en-GB" smtClean="0"/>
              <a:t>16</a:t>
            </a:fld>
            <a:endParaRPr lang="en-GB" dirty="0"/>
          </a:p>
        </p:txBody>
      </p:sp>
      <p:sp>
        <p:nvSpPr>
          <p:cNvPr id="4" name="Title 3"/>
          <p:cNvSpPr>
            <a:spLocks noGrp="1"/>
          </p:cNvSpPr>
          <p:nvPr>
            <p:ph type="title"/>
          </p:nvPr>
        </p:nvSpPr>
        <p:spPr>
          <a:xfrm>
            <a:off x="772213" y="188640"/>
            <a:ext cx="8352928" cy="1022400"/>
          </a:xfrm>
        </p:spPr>
        <p:txBody>
          <a:bodyPr/>
          <a:lstStyle/>
          <a:p>
            <a:pPr algn="ctr"/>
            <a:r>
              <a:rPr lang="en-GB" sz="2800" b="1" dirty="0" smtClean="0">
                <a:solidFill>
                  <a:schemeClr val="tx2"/>
                </a:solidFill>
                <a:ea typeface="+mn-ea"/>
                <a:cs typeface="+mn-cs"/>
              </a:rPr>
              <a:t>Manufacturing job losses and role for </a:t>
            </a:r>
            <a:br>
              <a:rPr lang="en-GB" sz="2800" b="1" dirty="0" smtClean="0">
                <a:solidFill>
                  <a:schemeClr val="tx2"/>
                </a:solidFill>
                <a:ea typeface="+mn-ea"/>
                <a:cs typeface="+mn-cs"/>
              </a:rPr>
            </a:br>
            <a:r>
              <a:rPr lang="en-GB" sz="2800" b="1" dirty="0" smtClean="0">
                <a:solidFill>
                  <a:schemeClr val="tx2"/>
                </a:solidFill>
                <a:ea typeface="+mn-ea"/>
                <a:cs typeface="+mn-cs"/>
              </a:rPr>
              <a:t>Technology &amp; Consumer Preferences vs Trade</a:t>
            </a:r>
            <a:endParaRPr lang="en-GB" sz="2800" b="1" dirty="0">
              <a:solidFill>
                <a:schemeClr val="tx2"/>
              </a:solidFill>
              <a:ea typeface="+mn-ea"/>
              <a:cs typeface="+mn-cs"/>
            </a:endParaRPr>
          </a:p>
        </p:txBody>
      </p:sp>
      <p:sp>
        <p:nvSpPr>
          <p:cNvPr id="9" name="TextBox 8"/>
          <p:cNvSpPr txBox="1"/>
          <p:nvPr/>
        </p:nvSpPr>
        <p:spPr>
          <a:xfrm>
            <a:off x="755576" y="6088558"/>
            <a:ext cx="7992888" cy="769441"/>
          </a:xfrm>
          <a:prstGeom prst="rect">
            <a:avLst/>
          </a:prstGeom>
          <a:noFill/>
        </p:spPr>
        <p:txBody>
          <a:bodyPr wrap="square" rtlCol="0">
            <a:spAutoFit/>
          </a:bodyPr>
          <a:lstStyle/>
          <a:p>
            <a:r>
              <a:rPr lang="en-GB" sz="1100" dirty="0" smtClean="0">
                <a:solidFill>
                  <a:srgbClr val="171717"/>
                </a:solidFill>
                <a:latin typeface="Calibri" panose="020F0502020204030204" pitchFamily="34" charset="0"/>
              </a:rPr>
              <a:t/>
            </a:r>
            <a:br>
              <a:rPr lang="en-GB" sz="1100" dirty="0" smtClean="0">
                <a:solidFill>
                  <a:srgbClr val="171717"/>
                </a:solidFill>
                <a:latin typeface="Calibri" panose="020F0502020204030204" pitchFamily="34" charset="0"/>
              </a:rPr>
            </a:br>
            <a:r>
              <a:rPr lang="en-GB" sz="1100" dirty="0" smtClean="0">
                <a:solidFill>
                  <a:srgbClr val="171717"/>
                </a:solidFill>
                <a:latin typeface="Calibri" panose="020F0502020204030204" pitchFamily="34" charset="0"/>
              </a:rPr>
              <a:t>Note: </a:t>
            </a:r>
            <a:r>
              <a:rPr lang="en-US" sz="1100" dirty="0" smtClean="0">
                <a:solidFill>
                  <a:srgbClr val="171717"/>
                </a:solidFill>
                <a:latin typeface="Calibri" panose="020F0502020204030204" pitchFamily="34" charset="0"/>
              </a:rPr>
              <a:t>Decomposition </a:t>
            </a:r>
            <a:r>
              <a:rPr lang="en-US" sz="1100" dirty="0">
                <a:solidFill>
                  <a:srgbClr val="171717"/>
                </a:solidFill>
                <a:latin typeface="Calibri" panose="020F0502020204030204" pitchFamily="34" charset="0"/>
              </a:rPr>
              <a:t>based on </a:t>
            </a:r>
            <a:r>
              <a:rPr lang="en-US" sz="1100" dirty="0" smtClean="0">
                <a:solidFill>
                  <a:srgbClr val="171717"/>
                </a:solidFill>
                <a:latin typeface="Calibri" panose="020F0502020204030204" pitchFamily="34" charset="0"/>
              </a:rPr>
              <a:t>regression estimation. Each factor is based on the change over the period. Technology and consumer preferences include ICT and machinery investment, changes in the manufacturing consumption share and time specific effects.</a:t>
            </a:r>
            <a:endParaRPr lang="en-GB" sz="1100" dirty="0" smtClean="0">
              <a:solidFill>
                <a:srgbClr val="171717"/>
              </a:solidFill>
              <a:latin typeface="Calibri" panose="020F0502020204030204" pitchFamily="34" charset="0"/>
            </a:endParaRPr>
          </a:p>
          <a:p>
            <a:r>
              <a:rPr lang="en-GB" sz="1100" dirty="0" smtClean="0">
                <a:solidFill>
                  <a:srgbClr val="171717"/>
                </a:solidFill>
                <a:latin typeface="Calibri" panose="020F0502020204030204" pitchFamily="34" charset="0"/>
              </a:rPr>
              <a:t>Source</a:t>
            </a:r>
            <a:r>
              <a:rPr lang="en-GB" sz="1100" dirty="0">
                <a:solidFill>
                  <a:srgbClr val="171717"/>
                </a:solidFill>
                <a:latin typeface="Calibri" panose="020F0502020204030204" pitchFamily="34" charset="0"/>
              </a:rPr>
              <a:t>:</a:t>
            </a:r>
            <a:r>
              <a:rPr lang="en-US" sz="1100" dirty="0">
                <a:solidFill>
                  <a:srgbClr val="171717"/>
                </a:solidFill>
                <a:latin typeface="Calibri" panose="020F0502020204030204" pitchFamily="34" charset="0"/>
              </a:rPr>
              <a:t> </a:t>
            </a:r>
            <a:r>
              <a:rPr lang="en-US" sz="1100" dirty="0" smtClean="0">
                <a:solidFill>
                  <a:srgbClr val="171717"/>
                </a:solidFill>
                <a:latin typeface="Calibri" panose="020F0502020204030204" pitchFamily="34" charset="0"/>
              </a:rPr>
              <a:t>OECD Economic Outlook database; STAN database; and OECD calculations.</a:t>
            </a:r>
            <a:endParaRPr lang="en-GB" sz="1100" dirty="0">
              <a:solidFill>
                <a:srgbClr val="171717"/>
              </a:solidFill>
              <a:latin typeface="Calibri" panose="020F0502020204030204" pitchFamily="34" charset="0"/>
            </a:endParaRPr>
          </a:p>
        </p:txBody>
      </p:sp>
      <p:sp>
        <p:nvSpPr>
          <p:cNvPr id="7" name="TextBox 6"/>
          <p:cNvSpPr txBox="1"/>
          <p:nvPr/>
        </p:nvSpPr>
        <p:spPr>
          <a:xfrm>
            <a:off x="1149484" y="1289593"/>
            <a:ext cx="6696744" cy="584775"/>
          </a:xfrm>
          <a:prstGeom prst="rect">
            <a:avLst/>
          </a:prstGeom>
          <a:noFill/>
        </p:spPr>
        <p:txBody>
          <a:bodyPr wrap="square" rtlCol="0">
            <a:spAutoFit/>
          </a:bodyPr>
          <a:lstStyle/>
          <a:p>
            <a:pPr lvl="0" algn="ctr"/>
            <a:r>
              <a:rPr lang="en-US" sz="2000" b="1" dirty="0" smtClean="0">
                <a:solidFill>
                  <a:schemeClr val="bg2">
                    <a:lumMod val="10000"/>
                  </a:schemeClr>
                </a:solidFill>
                <a:latin typeface="Calibri" pitchFamily="34" charset="0"/>
              </a:rPr>
              <a:t>Factors explaining the decline in manufacturing jobs</a:t>
            </a:r>
          </a:p>
          <a:p>
            <a:pPr lvl="0" algn="ctr"/>
            <a:r>
              <a:rPr lang="en-US" sz="1200" i="1" dirty="0" smtClean="0">
                <a:solidFill>
                  <a:srgbClr val="000000"/>
                </a:solidFill>
                <a:latin typeface="Calibri" panose="020F0502020204030204" pitchFamily="34" charset="0"/>
              </a:rPr>
              <a:t>Change </a:t>
            </a:r>
            <a:r>
              <a:rPr lang="en-US" sz="1200" i="1" dirty="0">
                <a:solidFill>
                  <a:srgbClr val="000000"/>
                </a:solidFill>
                <a:latin typeface="Calibri" panose="020F0502020204030204" pitchFamily="34" charset="0"/>
              </a:rPr>
              <a:t>in </a:t>
            </a:r>
            <a:r>
              <a:rPr lang="en-US" sz="1200" i="1" dirty="0" smtClean="0">
                <a:solidFill>
                  <a:srgbClr val="000000"/>
                </a:solidFill>
                <a:latin typeface="Calibri" panose="020F0502020204030204" pitchFamily="34" charset="0"/>
              </a:rPr>
              <a:t>share </a:t>
            </a:r>
            <a:r>
              <a:rPr lang="en-US" sz="1200" i="1" dirty="0">
                <a:solidFill>
                  <a:srgbClr val="000000"/>
                </a:solidFill>
                <a:latin typeface="Calibri" panose="020F0502020204030204" pitchFamily="34" charset="0"/>
              </a:rPr>
              <a:t>of </a:t>
            </a:r>
            <a:r>
              <a:rPr lang="en-US" sz="1200" i="1" dirty="0" smtClean="0">
                <a:solidFill>
                  <a:srgbClr val="000000"/>
                </a:solidFill>
                <a:latin typeface="Calibri" panose="020F0502020204030204" pitchFamily="34" charset="0"/>
              </a:rPr>
              <a:t>total employment, </a:t>
            </a:r>
            <a:r>
              <a:rPr lang="en-US" sz="1200" i="1" dirty="0">
                <a:solidFill>
                  <a:srgbClr val="000000"/>
                </a:solidFill>
                <a:latin typeface="Calibri" panose="020F0502020204030204" pitchFamily="34" charset="0"/>
              </a:rPr>
              <a:t>annual </a:t>
            </a:r>
            <a:r>
              <a:rPr lang="en-US" sz="1200" i="1" dirty="0" smtClean="0">
                <a:solidFill>
                  <a:srgbClr val="000000"/>
                </a:solidFill>
                <a:latin typeface="Calibri" panose="020F0502020204030204" pitchFamily="34" charset="0"/>
              </a:rPr>
              <a:t>average 1990-2008</a:t>
            </a:r>
            <a:endParaRPr lang="en-US" sz="1200" i="1" dirty="0">
              <a:solidFill>
                <a:schemeClr val="bg2">
                  <a:lumMod val="10000"/>
                </a:schemeClr>
              </a:solidFill>
              <a:latin typeface="Calibri" pitchFamily="34" charset="0"/>
            </a:endParaRPr>
          </a:p>
        </p:txBody>
      </p:sp>
    </p:spTree>
    <p:extLst>
      <p:ext uri="{BB962C8B-B14F-4D97-AF65-F5344CB8AC3E}">
        <p14:creationId xmlns:p14="http://schemas.microsoft.com/office/powerpoint/2010/main" val="23621851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main.oecd.org\sdataECO\Units\FRONTOFFICE\Economic Outlooks\EO101\Data and charts\PPT_Figs_E\E_Handout_Fig_Geographical_concentration_1_2P_P2CL.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7324" y="1536187"/>
            <a:ext cx="7551099" cy="4654273"/>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4"/>
          </p:nvPr>
        </p:nvSpPr>
        <p:spPr/>
        <p:txBody>
          <a:bodyPr/>
          <a:lstStyle/>
          <a:p>
            <a:fld id="{FCE284C4-5ED1-4D6C-B7CC-2049C3062C5E}" type="slidenum">
              <a:rPr lang="en-GB" smtClean="0"/>
              <a:t>17</a:t>
            </a:fld>
            <a:endParaRPr lang="en-GB" dirty="0"/>
          </a:p>
        </p:txBody>
      </p:sp>
      <p:sp>
        <p:nvSpPr>
          <p:cNvPr id="4" name="Title 3"/>
          <p:cNvSpPr>
            <a:spLocks noGrp="1"/>
          </p:cNvSpPr>
          <p:nvPr>
            <p:ph type="title"/>
          </p:nvPr>
        </p:nvSpPr>
        <p:spPr>
          <a:xfrm>
            <a:off x="1080000" y="194269"/>
            <a:ext cx="7416000" cy="1022400"/>
          </a:xfrm>
        </p:spPr>
        <p:txBody>
          <a:bodyPr/>
          <a:lstStyle/>
          <a:p>
            <a:pPr algn="ctr">
              <a:defRPr/>
            </a:pPr>
            <a:r>
              <a:rPr lang="en-US" sz="2800" b="1" dirty="0" smtClean="0">
                <a:solidFill>
                  <a:schemeClr val="tx2"/>
                </a:solidFill>
              </a:rPr>
              <a:t>Decline in manufacturing matters because activity is </a:t>
            </a:r>
            <a:r>
              <a:rPr lang="en-US" sz="2800" b="1" dirty="0">
                <a:solidFill>
                  <a:schemeClr val="tx2"/>
                </a:solidFill>
              </a:rPr>
              <a:t>regionally </a:t>
            </a:r>
            <a:r>
              <a:rPr lang="en-US" sz="2800" b="1" dirty="0" smtClean="0">
                <a:solidFill>
                  <a:schemeClr val="tx2"/>
                </a:solidFill>
              </a:rPr>
              <a:t>concentrated</a:t>
            </a:r>
            <a:endParaRPr lang="en-GB" sz="2800" b="1" dirty="0">
              <a:solidFill>
                <a:schemeClr val="tx2"/>
              </a:solidFill>
            </a:endParaRPr>
          </a:p>
        </p:txBody>
      </p:sp>
      <p:sp>
        <p:nvSpPr>
          <p:cNvPr id="6" name="TextBox 5"/>
          <p:cNvSpPr txBox="1"/>
          <p:nvPr/>
        </p:nvSpPr>
        <p:spPr>
          <a:xfrm>
            <a:off x="1620652" y="1269371"/>
            <a:ext cx="5832648" cy="584775"/>
          </a:xfrm>
          <a:prstGeom prst="rect">
            <a:avLst/>
          </a:prstGeom>
          <a:noFill/>
        </p:spPr>
        <p:txBody>
          <a:bodyPr wrap="square" rtlCol="0">
            <a:spAutoFit/>
          </a:bodyPr>
          <a:lstStyle/>
          <a:p>
            <a:pPr lvl="0" algn="ctr"/>
            <a:r>
              <a:rPr lang="en-US" sz="2000" b="1" dirty="0" smtClean="0">
                <a:solidFill>
                  <a:schemeClr val="bg2">
                    <a:lumMod val="10000"/>
                  </a:schemeClr>
                </a:solidFill>
                <a:latin typeface="Calibri" pitchFamily="34" charset="0"/>
              </a:rPr>
              <a:t>Geographic concentration index by sector</a:t>
            </a:r>
          </a:p>
          <a:p>
            <a:pPr lvl="0" algn="ctr"/>
            <a:r>
              <a:rPr lang="en-US" sz="1200" i="1" dirty="0">
                <a:solidFill>
                  <a:schemeClr val="bg2">
                    <a:lumMod val="10000"/>
                  </a:schemeClr>
                </a:solidFill>
                <a:latin typeface="Calibri" pitchFamily="34" charset="0"/>
              </a:rPr>
              <a:t>Average from 2000 to 2015 or latest</a:t>
            </a:r>
          </a:p>
        </p:txBody>
      </p:sp>
      <p:sp>
        <p:nvSpPr>
          <p:cNvPr id="7" name="TextBox 6"/>
          <p:cNvSpPr txBox="1"/>
          <p:nvPr/>
        </p:nvSpPr>
        <p:spPr>
          <a:xfrm>
            <a:off x="73637" y="5991622"/>
            <a:ext cx="8435360" cy="900246"/>
          </a:xfrm>
          <a:prstGeom prst="rect">
            <a:avLst/>
          </a:prstGeom>
          <a:noFill/>
        </p:spPr>
        <p:txBody>
          <a:bodyPr wrap="square" rtlCol="0">
            <a:spAutoFit/>
          </a:bodyPr>
          <a:lstStyle/>
          <a:p>
            <a:r>
              <a:rPr lang="en-US" sz="1050" dirty="0">
                <a:solidFill>
                  <a:srgbClr val="171717"/>
                </a:solidFill>
                <a:latin typeface="Calibri" panose="020F0502020204030204" pitchFamily="34" charset="0"/>
              </a:rPr>
              <a:t>Note: “Distributive trades” includes distributive trade, repairs, transportation and storage, accommodation and food service activities. </a:t>
            </a:r>
            <a:r>
              <a:rPr lang="en-US" sz="1050" dirty="0" smtClean="0">
                <a:solidFill>
                  <a:srgbClr val="171717"/>
                </a:solidFill>
                <a:latin typeface="Calibri" panose="020F0502020204030204" pitchFamily="34" charset="0"/>
              </a:rPr>
              <a:t>Index measures </a:t>
            </a:r>
            <a:r>
              <a:rPr lang="en-US" sz="1050" dirty="0">
                <a:solidFill>
                  <a:srgbClr val="171717"/>
                </a:solidFill>
                <a:latin typeface="Calibri" panose="020F0502020204030204" pitchFamily="34" charset="0"/>
              </a:rPr>
              <a:t>the extent to which </a:t>
            </a:r>
            <a:r>
              <a:rPr lang="en-US" sz="1050" dirty="0" smtClean="0">
                <a:solidFill>
                  <a:srgbClr val="171717"/>
                </a:solidFill>
                <a:latin typeface="Calibri" panose="020F0502020204030204" pitchFamily="34" charset="0"/>
              </a:rPr>
              <a:t>employment is </a:t>
            </a:r>
            <a:r>
              <a:rPr lang="en-US" sz="1050" dirty="0">
                <a:solidFill>
                  <a:srgbClr val="171717"/>
                </a:solidFill>
                <a:latin typeface="Calibri" panose="020F0502020204030204" pitchFamily="34" charset="0"/>
              </a:rPr>
              <a:t>concentrated in particular regions, varying between 0 (no </a:t>
            </a:r>
            <a:r>
              <a:rPr lang="en-US" sz="1050" dirty="0" smtClean="0">
                <a:solidFill>
                  <a:srgbClr val="171717"/>
                </a:solidFill>
                <a:latin typeface="Calibri" panose="020F0502020204030204" pitchFamily="34" charset="0"/>
              </a:rPr>
              <a:t>concentration, where all </a:t>
            </a:r>
            <a:r>
              <a:rPr lang="en-US" sz="1050" dirty="0">
                <a:solidFill>
                  <a:srgbClr val="171717"/>
                </a:solidFill>
                <a:latin typeface="Calibri" panose="020F0502020204030204" pitchFamily="34" charset="0"/>
              </a:rPr>
              <a:t>regions of a country have the same manufacturing employment </a:t>
            </a:r>
            <a:r>
              <a:rPr lang="en-US" sz="1050" dirty="0" smtClean="0">
                <a:solidFill>
                  <a:srgbClr val="171717"/>
                </a:solidFill>
                <a:latin typeface="Calibri" panose="020F0502020204030204" pitchFamily="34" charset="0"/>
              </a:rPr>
              <a:t>rate) </a:t>
            </a:r>
            <a:r>
              <a:rPr lang="en-US" sz="1050" dirty="0">
                <a:solidFill>
                  <a:srgbClr val="171717"/>
                </a:solidFill>
                <a:latin typeface="Calibri" panose="020F0502020204030204" pitchFamily="34" charset="0"/>
              </a:rPr>
              <a:t>and </a:t>
            </a:r>
            <a:r>
              <a:rPr lang="en-US" sz="1050" dirty="0" smtClean="0">
                <a:solidFill>
                  <a:srgbClr val="171717"/>
                </a:solidFill>
                <a:latin typeface="Calibri" panose="020F0502020204030204" pitchFamily="34" charset="0"/>
              </a:rPr>
              <a:t>100 </a:t>
            </a:r>
            <a:r>
              <a:rPr lang="en-US" sz="1050" dirty="0">
                <a:solidFill>
                  <a:srgbClr val="171717"/>
                </a:solidFill>
                <a:latin typeface="Calibri" panose="020F0502020204030204" pitchFamily="34" charset="0"/>
              </a:rPr>
              <a:t>(maximum </a:t>
            </a:r>
            <a:r>
              <a:rPr lang="en-US" sz="1050" dirty="0" smtClean="0">
                <a:solidFill>
                  <a:srgbClr val="171717"/>
                </a:solidFill>
                <a:latin typeface="Calibri" panose="020F0502020204030204" pitchFamily="34" charset="0"/>
              </a:rPr>
              <a:t>concentration, where all </a:t>
            </a:r>
            <a:r>
              <a:rPr lang="en-US" sz="1050" dirty="0">
                <a:solidFill>
                  <a:srgbClr val="171717"/>
                </a:solidFill>
                <a:latin typeface="Calibri" panose="020F0502020204030204" pitchFamily="34" charset="0"/>
              </a:rPr>
              <a:t>manufacturing employment is concentrated in the smallest region</a:t>
            </a:r>
            <a:r>
              <a:rPr lang="en-US" sz="1050" dirty="0" smtClean="0">
                <a:solidFill>
                  <a:srgbClr val="171717"/>
                </a:solidFill>
                <a:latin typeface="Calibri" panose="020F0502020204030204" pitchFamily="34" charset="0"/>
              </a:rPr>
              <a:t>). The index incorporates the size of the region and is based on OECD </a:t>
            </a:r>
            <a:r>
              <a:rPr lang="en-US" sz="1050" dirty="0">
                <a:solidFill>
                  <a:srgbClr val="171717"/>
                </a:solidFill>
                <a:latin typeface="Calibri" panose="020F0502020204030204" pitchFamily="34" charset="0"/>
              </a:rPr>
              <a:t>(2003</a:t>
            </a:r>
            <a:r>
              <a:rPr lang="en-US" sz="1050" dirty="0" smtClean="0">
                <a:solidFill>
                  <a:srgbClr val="171717"/>
                </a:solidFill>
                <a:latin typeface="Calibri" panose="020F0502020204030204" pitchFamily="34" charset="0"/>
              </a:rPr>
              <a:t>) </a:t>
            </a:r>
            <a:r>
              <a:rPr lang="en-US" sz="1050" dirty="0">
                <a:solidFill>
                  <a:srgbClr val="171717"/>
                </a:solidFill>
                <a:latin typeface="Calibri" panose="020F0502020204030204" pitchFamily="34" charset="0"/>
              </a:rPr>
              <a:t>“Geographic Concentration and Territorial Disparity in OECD Countries</a:t>
            </a:r>
            <a:r>
              <a:rPr lang="en-US" sz="1050" dirty="0" smtClean="0">
                <a:solidFill>
                  <a:srgbClr val="171717"/>
                </a:solidFill>
                <a:latin typeface="Calibri" panose="020F0502020204030204" pitchFamily="34" charset="0"/>
              </a:rPr>
              <a:t>”. </a:t>
            </a:r>
            <a:br>
              <a:rPr lang="en-US" sz="1050" dirty="0" smtClean="0">
                <a:solidFill>
                  <a:srgbClr val="171717"/>
                </a:solidFill>
                <a:latin typeface="Calibri" panose="020F0502020204030204" pitchFamily="34" charset="0"/>
              </a:rPr>
            </a:br>
            <a:r>
              <a:rPr lang="en-GB" sz="1050" dirty="0" smtClean="0">
                <a:solidFill>
                  <a:srgbClr val="171717"/>
                </a:solidFill>
                <a:latin typeface="Calibri" panose="020F0502020204030204" pitchFamily="34" charset="0"/>
              </a:rPr>
              <a:t>Source:</a:t>
            </a:r>
            <a:r>
              <a:rPr lang="en-US" sz="1050" i="1" dirty="0" smtClean="0">
                <a:solidFill>
                  <a:srgbClr val="171717"/>
                </a:solidFill>
                <a:latin typeface="Calibri" panose="020F0502020204030204" pitchFamily="34" charset="0"/>
              </a:rPr>
              <a:t> </a:t>
            </a:r>
            <a:r>
              <a:rPr lang="en-US" sz="1050" dirty="0">
                <a:solidFill>
                  <a:srgbClr val="171717"/>
                </a:solidFill>
                <a:latin typeface="Calibri" panose="020F0502020204030204" pitchFamily="34" charset="0"/>
              </a:rPr>
              <a:t>OECD Regional </a:t>
            </a:r>
            <a:r>
              <a:rPr lang="en-US" sz="1050" dirty="0" smtClean="0">
                <a:solidFill>
                  <a:srgbClr val="171717"/>
                </a:solidFill>
                <a:latin typeface="Calibri" panose="020F0502020204030204" pitchFamily="34" charset="0"/>
              </a:rPr>
              <a:t>database; </a:t>
            </a:r>
            <a:r>
              <a:rPr lang="en-US" sz="1050" dirty="0">
                <a:solidFill>
                  <a:srgbClr val="171717"/>
                </a:solidFill>
                <a:latin typeface="Calibri" panose="020F0502020204030204" pitchFamily="34" charset="0"/>
              </a:rPr>
              <a:t>and OECD calculations</a:t>
            </a:r>
            <a:r>
              <a:rPr lang="en-US" sz="1050" dirty="0" smtClean="0">
                <a:solidFill>
                  <a:srgbClr val="171717"/>
                </a:solidFill>
                <a:latin typeface="Calibri" panose="020F0502020204030204" pitchFamily="34" charset="0"/>
              </a:rPr>
              <a:t>.</a:t>
            </a:r>
            <a:endParaRPr lang="en-GB" sz="1050" dirty="0">
              <a:solidFill>
                <a:srgbClr val="171717"/>
              </a:solidFill>
              <a:latin typeface="Calibri" panose="020F0502020204030204" pitchFamily="34" charset="0"/>
            </a:endParaRPr>
          </a:p>
        </p:txBody>
      </p:sp>
      <p:cxnSp>
        <p:nvCxnSpPr>
          <p:cNvPr id="8" name="Straight Arrow Connector 7"/>
          <p:cNvCxnSpPr/>
          <p:nvPr/>
        </p:nvCxnSpPr>
        <p:spPr>
          <a:xfrm flipV="1">
            <a:off x="6129959" y="2518348"/>
            <a:ext cx="0" cy="948264"/>
          </a:xfrm>
          <a:prstGeom prst="straightConnector1">
            <a:avLst/>
          </a:prstGeom>
          <a:ln w="12700">
            <a:solidFill>
              <a:schemeClr val="bg2">
                <a:lumMod val="10000"/>
              </a:schemeClr>
            </a:solidFill>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5982487" y="2704622"/>
            <a:ext cx="1345891" cy="523220"/>
          </a:xfrm>
          <a:prstGeom prst="rect">
            <a:avLst/>
          </a:prstGeom>
          <a:noFill/>
        </p:spPr>
        <p:txBody>
          <a:bodyPr wrap="square" rtlCol="0">
            <a:spAutoFit/>
          </a:bodyPr>
          <a:lstStyle/>
          <a:p>
            <a:pPr algn="ctr"/>
            <a:r>
              <a:rPr lang="en-GB" sz="1400" b="1" dirty="0" smtClean="0">
                <a:solidFill>
                  <a:schemeClr val="bg2">
                    <a:lumMod val="10000"/>
                  </a:schemeClr>
                </a:solidFill>
                <a:latin typeface="Calibri" panose="020F0502020204030204" pitchFamily="34" charset="0"/>
              </a:rPr>
              <a:t>More concentrated</a:t>
            </a:r>
            <a:endParaRPr lang="en-GB" sz="1400" b="1" dirty="0">
              <a:solidFill>
                <a:schemeClr val="bg2">
                  <a:lumMod val="10000"/>
                </a:schemeClr>
              </a:solidFill>
              <a:latin typeface="Calibri" panose="020F0502020204030204" pitchFamily="34" charset="0"/>
            </a:endParaRPr>
          </a:p>
        </p:txBody>
      </p:sp>
    </p:spTree>
    <p:extLst>
      <p:ext uri="{BB962C8B-B14F-4D97-AF65-F5344CB8AC3E}">
        <p14:creationId xmlns:p14="http://schemas.microsoft.com/office/powerpoint/2010/main" val="193903858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main.oecd.org\sdataECO\Units\FRONTOFFICE\Economic Outlooks\EO101\Data and charts\PPT_Figs_E\E_Handout_Fig_Manufacturing_1_2P_P2CL.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1600" y="1484744"/>
            <a:ext cx="8387061" cy="501143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4"/>
          </p:nvPr>
        </p:nvSpPr>
        <p:spPr/>
        <p:txBody>
          <a:bodyPr/>
          <a:lstStyle/>
          <a:p>
            <a:fld id="{FCE284C4-5ED1-4D6C-B7CC-2049C3062C5E}" type="slidenum">
              <a:rPr lang="en-GB" smtClean="0"/>
              <a:t>18</a:t>
            </a:fld>
            <a:endParaRPr lang="en-GB" dirty="0"/>
          </a:p>
        </p:txBody>
      </p:sp>
      <p:sp>
        <p:nvSpPr>
          <p:cNvPr id="4" name="Title 3"/>
          <p:cNvSpPr>
            <a:spLocks noGrp="1"/>
          </p:cNvSpPr>
          <p:nvPr>
            <p:ph type="title"/>
          </p:nvPr>
        </p:nvSpPr>
        <p:spPr>
          <a:xfrm>
            <a:off x="1009408" y="188640"/>
            <a:ext cx="7632024" cy="1022400"/>
          </a:xfrm>
        </p:spPr>
        <p:txBody>
          <a:bodyPr/>
          <a:lstStyle/>
          <a:p>
            <a:pPr algn="ctr"/>
            <a:r>
              <a:rPr lang="en-US" sz="2800" b="1" dirty="0" smtClean="0">
                <a:solidFill>
                  <a:schemeClr val="tx2"/>
                </a:solidFill>
              </a:rPr>
              <a:t>Countries with larger falls in manufacturing jobs have increased regional inequality</a:t>
            </a:r>
            <a:endParaRPr lang="en-US" sz="2800" b="1" dirty="0">
              <a:solidFill>
                <a:schemeClr val="tx2"/>
              </a:solidFill>
            </a:endParaRPr>
          </a:p>
        </p:txBody>
      </p:sp>
      <p:sp>
        <p:nvSpPr>
          <p:cNvPr id="6" name="TextBox 5"/>
          <p:cNvSpPr txBox="1"/>
          <p:nvPr/>
        </p:nvSpPr>
        <p:spPr>
          <a:xfrm>
            <a:off x="1065079" y="6411722"/>
            <a:ext cx="8208912" cy="461665"/>
          </a:xfrm>
          <a:prstGeom prst="rect">
            <a:avLst/>
          </a:prstGeom>
          <a:noFill/>
        </p:spPr>
        <p:txBody>
          <a:bodyPr wrap="square" rtlCol="0">
            <a:spAutoFit/>
          </a:bodyPr>
          <a:lstStyle/>
          <a:p>
            <a:r>
              <a:rPr lang="en-GB" sz="1200" dirty="0" smtClean="0">
                <a:solidFill>
                  <a:srgbClr val="171717"/>
                </a:solidFill>
                <a:latin typeface="Calibri" panose="020F0502020204030204" pitchFamily="34" charset="0"/>
              </a:rPr>
              <a:t/>
            </a:r>
            <a:br>
              <a:rPr lang="en-GB" sz="1200" dirty="0" smtClean="0">
                <a:solidFill>
                  <a:srgbClr val="171717"/>
                </a:solidFill>
                <a:latin typeface="Calibri" panose="020F0502020204030204" pitchFamily="34" charset="0"/>
              </a:rPr>
            </a:br>
            <a:r>
              <a:rPr lang="en-GB" sz="1200" dirty="0" smtClean="0">
                <a:solidFill>
                  <a:srgbClr val="171717"/>
                </a:solidFill>
                <a:latin typeface="Calibri" panose="020F0502020204030204" pitchFamily="34" charset="0"/>
              </a:rPr>
              <a:t>Source:</a:t>
            </a:r>
            <a:r>
              <a:rPr lang="en-US" sz="1200" i="1" dirty="0" smtClean="0">
                <a:solidFill>
                  <a:srgbClr val="171717"/>
                </a:solidFill>
                <a:latin typeface="Calibri" panose="020F0502020204030204" pitchFamily="34" charset="0"/>
              </a:rPr>
              <a:t> </a:t>
            </a:r>
            <a:r>
              <a:rPr lang="en-US" sz="1200" dirty="0" smtClean="0">
                <a:solidFill>
                  <a:srgbClr val="171717"/>
                </a:solidFill>
                <a:latin typeface="Calibri" panose="020F0502020204030204" pitchFamily="34" charset="0"/>
              </a:rPr>
              <a:t>OECD Regional database; and OECD calculations.</a:t>
            </a:r>
            <a:endParaRPr lang="en-GB" sz="1200" dirty="0">
              <a:solidFill>
                <a:srgbClr val="171717"/>
              </a:solidFill>
              <a:latin typeface="Calibri" panose="020F0502020204030204" pitchFamily="34" charset="0"/>
            </a:endParaRPr>
          </a:p>
        </p:txBody>
      </p:sp>
      <p:sp>
        <p:nvSpPr>
          <p:cNvPr id="18" name="TextBox 17"/>
          <p:cNvSpPr txBox="1"/>
          <p:nvPr/>
        </p:nvSpPr>
        <p:spPr>
          <a:xfrm>
            <a:off x="3777136" y="1312302"/>
            <a:ext cx="5832648" cy="492443"/>
          </a:xfrm>
          <a:prstGeom prst="rect">
            <a:avLst/>
          </a:prstGeom>
          <a:noFill/>
        </p:spPr>
        <p:txBody>
          <a:bodyPr wrap="square" rtlCol="0">
            <a:spAutoFit/>
          </a:bodyPr>
          <a:lstStyle/>
          <a:p>
            <a:pPr lvl="0" algn="ctr"/>
            <a:r>
              <a:rPr lang="en-US" sz="1400" b="1" dirty="0" smtClean="0">
                <a:solidFill>
                  <a:schemeClr val="bg2">
                    <a:lumMod val="10000"/>
                  </a:schemeClr>
                </a:solidFill>
                <a:latin typeface="Calibri" pitchFamily="34" charset="0"/>
              </a:rPr>
              <a:t>Change in </a:t>
            </a:r>
            <a:r>
              <a:rPr lang="en-US" sz="1400" b="1" dirty="0">
                <a:solidFill>
                  <a:schemeClr val="bg2">
                    <a:lumMod val="10000"/>
                  </a:schemeClr>
                </a:solidFill>
                <a:latin typeface="Calibri" pitchFamily="34" charset="0"/>
              </a:rPr>
              <a:t>average income inequality </a:t>
            </a:r>
            <a:r>
              <a:rPr lang="en-US" sz="1400" b="1" dirty="0" smtClean="0">
                <a:solidFill>
                  <a:schemeClr val="bg2">
                    <a:lumMod val="10000"/>
                  </a:schemeClr>
                </a:solidFill>
                <a:latin typeface="Calibri" pitchFamily="34" charset="0"/>
              </a:rPr>
              <a:t>across regions</a:t>
            </a:r>
            <a:r>
              <a:rPr lang="en-US" sz="1400" dirty="0" smtClean="0">
                <a:solidFill>
                  <a:schemeClr val="bg2">
                    <a:lumMod val="10000"/>
                  </a:schemeClr>
                </a:solidFill>
                <a:latin typeface="Calibri" pitchFamily="34" charset="0"/>
              </a:rPr>
              <a:t/>
            </a:r>
            <a:br>
              <a:rPr lang="en-US" sz="1400" dirty="0" smtClean="0">
                <a:solidFill>
                  <a:schemeClr val="bg2">
                    <a:lumMod val="10000"/>
                  </a:schemeClr>
                </a:solidFill>
                <a:latin typeface="Calibri" pitchFamily="34" charset="0"/>
              </a:rPr>
            </a:br>
            <a:r>
              <a:rPr lang="en-US" sz="1200" i="1" dirty="0" smtClean="0">
                <a:solidFill>
                  <a:schemeClr val="bg2">
                    <a:lumMod val="10000"/>
                  </a:schemeClr>
                </a:solidFill>
                <a:latin typeface="Calibri" pitchFamily="34" charset="0"/>
              </a:rPr>
              <a:t>2000 to 2015 or latest, 90:50 percentiles ratio, </a:t>
            </a:r>
            <a:r>
              <a:rPr lang="en-US" sz="1200" i="1" dirty="0">
                <a:solidFill>
                  <a:schemeClr val="bg2">
                    <a:lumMod val="10000"/>
                  </a:schemeClr>
                </a:solidFill>
                <a:latin typeface="Calibri" pitchFamily="34" charset="0"/>
              </a:rPr>
              <a:t>% </a:t>
            </a:r>
            <a:r>
              <a:rPr lang="en-US" sz="1200" i="1" dirty="0" smtClean="0">
                <a:solidFill>
                  <a:schemeClr val="bg2">
                    <a:lumMod val="10000"/>
                  </a:schemeClr>
                </a:solidFill>
                <a:latin typeface="Calibri" pitchFamily="34" charset="0"/>
              </a:rPr>
              <a:t>pts</a:t>
            </a:r>
            <a:endParaRPr lang="en-US" sz="1400" i="1" dirty="0" smtClean="0">
              <a:solidFill>
                <a:schemeClr val="bg2">
                  <a:lumMod val="10000"/>
                </a:schemeClr>
              </a:solidFill>
              <a:latin typeface="Calibri" pitchFamily="34" charset="0"/>
            </a:endParaRPr>
          </a:p>
        </p:txBody>
      </p:sp>
      <p:sp>
        <p:nvSpPr>
          <p:cNvPr id="19" name="TextBox 18"/>
          <p:cNvSpPr txBox="1"/>
          <p:nvPr/>
        </p:nvSpPr>
        <p:spPr>
          <a:xfrm>
            <a:off x="3344003" y="6093934"/>
            <a:ext cx="6316577" cy="492443"/>
          </a:xfrm>
          <a:prstGeom prst="rect">
            <a:avLst/>
          </a:prstGeom>
          <a:noFill/>
        </p:spPr>
        <p:txBody>
          <a:bodyPr wrap="square" rtlCol="0">
            <a:spAutoFit/>
          </a:bodyPr>
          <a:lstStyle/>
          <a:p>
            <a:pPr lvl="0" algn="ctr"/>
            <a:r>
              <a:rPr lang="en-US" sz="1400" b="1" dirty="0" smtClean="0">
                <a:solidFill>
                  <a:schemeClr val="bg2">
                    <a:lumMod val="10000"/>
                  </a:schemeClr>
                </a:solidFill>
                <a:latin typeface="Calibri" pitchFamily="34" charset="0"/>
              </a:rPr>
              <a:t>Change in national manufacturing employment rate</a:t>
            </a:r>
            <a:r>
              <a:rPr lang="en-US" sz="1400" dirty="0" smtClean="0">
                <a:solidFill>
                  <a:schemeClr val="bg2">
                    <a:lumMod val="10000"/>
                  </a:schemeClr>
                </a:solidFill>
                <a:latin typeface="Calibri" pitchFamily="34" charset="0"/>
              </a:rPr>
              <a:t/>
            </a:r>
            <a:br>
              <a:rPr lang="en-US" sz="1400" dirty="0" smtClean="0">
                <a:solidFill>
                  <a:schemeClr val="bg2">
                    <a:lumMod val="10000"/>
                  </a:schemeClr>
                </a:solidFill>
                <a:latin typeface="Calibri" pitchFamily="34" charset="0"/>
              </a:rPr>
            </a:br>
            <a:r>
              <a:rPr lang="en-US" sz="1200" i="1" dirty="0">
                <a:solidFill>
                  <a:schemeClr val="bg2">
                    <a:lumMod val="10000"/>
                  </a:schemeClr>
                </a:solidFill>
                <a:latin typeface="Calibri" pitchFamily="34" charset="0"/>
              </a:rPr>
              <a:t>2000 to 2015 or </a:t>
            </a:r>
            <a:r>
              <a:rPr lang="en-US" sz="1200" i="1" dirty="0" smtClean="0">
                <a:solidFill>
                  <a:schemeClr val="bg2">
                    <a:lumMod val="10000"/>
                  </a:schemeClr>
                </a:solidFill>
                <a:latin typeface="Calibri" pitchFamily="34" charset="0"/>
              </a:rPr>
              <a:t>latest, % pts</a:t>
            </a:r>
            <a:endParaRPr lang="en-US" sz="1400" i="1" dirty="0" smtClean="0">
              <a:solidFill>
                <a:schemeClr val="bg2">
                  <a:lumMod val="10000"/>
                </a:schemeClr>
              </a:solidFill>
              <a:latin typeface="Calibri" pitchFamily="34" charset="0"/>
            </a:endParaRPr>
          </a:p>
        </p:txBody>
      </p:sp>
      <p:cxnSp>
        <p:nvCxnSpPr>
          <p:cNvPr id="20" name="Straight Arrow Connector 19"/>
          <p:cNvCxnSpPr/>
          <p:nvPr/>
        </p:nvCxnSpPr>
        <p:spPr>
          <a:xfrm flipV="1">
            <a:off x="1403759" y="2239070"/>
            <a:ext cx="0" cy="1296144"/>
          </a:xfrm>
          <a:prstGeom prst="straightConnector1">
            <a:avLst/>
          </a:prstGeom>
          <a:ln w="12700">
            <a:solidFill>
              <a:schemeClr val="bg2">
                <a:lumMod val="10000"/>
              </a:schemeClr>
            </a:solidFill>
            <a:tailEnd type="arrow"/>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1" y="2485347"/>
            <a:ext cx="1455962" cy="738664"/>
          </a:xfrm>
          <a:prstGeom prst="rect">
            <a:avLst/>
          </a:prstGeom>
          <a:noFill/>
        </p:spPr>
        <p:txBody>
          <a:bodyPr wrap="square" rtlCol="0">
            <a:spAutoFit/>
          </a:bodyPr>
          <a:lstStyle/>
          <a:p>
            <a:pPr algn="ctr"/>
            <a:r>
              <a:rPr lang="en-US" sz="1400" b="1" dirty="0">
                <a:solidFill>
                  <a:schemeClr val="bg2">
                    <a:lumMod val="10000"/>
                  </a:schemeClr>
                </a:solidFill>
                <a:latin typeface="Calibri" panose="020F0502020204030204" pitchFamily="34" charset="0"/>
              </a:rPr>
              <a:t>Widening dispersion of regional incomes</a:t>
            </a:r>
            <a:endParaRPr lang="en-GB" sz="1400" b="1" dirty="0">
              <a:solidFill>
                <a:schemeClr val="bg2">
                  <a:lumMod val="10000"/>
                </a:schemeClr>
              </a:solidFill>
              <a:latin typeface="Calibri" panose="020F0502020204030204" pitchFamily="34" charset="0"/>
            </a:endParaRPr>
          </a:p>
        </p:txBody>
      </p:sp>
      <p:sp>
        <p:nvSpPr>
          <p:cNvPr id="22" name="TextBox 21"/>
          <p:cNvSpPr txBox="1"/>
          <p:nvPr/>
        </p:nvSpPr>
        <p:spPr>
          <a:xfrm>
            <a:off x="1344490" y="5273326"/>
            <a:ext cx="2343700" cy="523220"/>
          </a:xfrm>
          <a:prstGeom prst="rect">
            <a:avLst/>
          </a:prstGeom>
          <a:noFill/>
        </p:spPr>
        <p:txBody>
          <a:bodyPr wrap="square" rtlCol="0">
            <a:spAutoFit/>
          </a:bodyPr>
          <a:lstStyle/>
          <a:p>
            <a:pPr algn="ctr"/>
            <a:r>
              <a:rPr lang="en-GB" sz="1400" b="1" dirty="0" smtClean="0">
                <a:solidFill>
                  <a:schemeClr val="bg2">
                    <a:lumMod val="10000"/>
                  </a:schemeClr>
                </a:solidFill>
                <a:latin typeface="Calibri" panose="020F0502020204030204" pitchFamily="34" charset="0"/>
              </a:rPr>
              <a:t>Fall in share of</a:t>
            </a:r>
            <a:br>
              <a:rPr lang="en-GB" sz="1400" b="1" dirty="0" smtClean="0">
                <a:solidFill>
                  <a:schemeClr val="bg2">
                    <a:lumMod val="10000"/>
                  </a:schemeClr>
                </a:solidFill>
                <a:latin typeface="Calibri" panose="020F0502020204030204" pitchFamily="34" charset="0"/>
              </a:rPr>
            </a:br>
            <a:r>
              <a:rPr lang="en-GB" sz="1400" b="1" dirty="0" smtClean="0">
                <a:solidFill>
                  <a:schemeClr val="bg2">
                    <a:lumMod val="10000"/>
                  </a:schemeClr>
                </a:solidFill>
                <a:latin typeface="Calibri" panose="020F0502020204030204" pitchFamily="34" charset="0"/>
              </a:rPr>
              <a:t>manufacturing jobs</a:t>
            </a:r>
            <a:endParaRPr lang="en-GB" sz="1400" b="1" dirty="0">
              <a:solidFill>
                <a:schemeClr val="bg2">
                  <a:lumMod val="10000"/>
                </a:schemeClr>
              </a:solidFill>
              <a:latin typeface="Calibri" panose="020F0502020204030204" pitchFamily="34" charset="0"/>
            </a:endParaRPr>
          </a:p>
        </p:txBody>
      </p:sp>
      <p:cxnSp>
        <p:nvCxnSpPr>
          <p:cNvPr id="23" name="Straight Arrow Connector 22"/>
          <p:cNvCxnSpPr/>
          <p:nvPr/>
        </p:nvCxnSpPr>
        <p:spPr>
          <a:xfrm flipH="1">
            <a:off x="1803890" y="5244298"/>
            <a:ext cx="1440160" cy="0"/>
          </a:xfrm>
          <a:prstGeom prst="straightConnector1">
            <a:avLst/>
          </a:prstGeom>
          <a:ln w="12700">
            <a:solidFill>
              <a:schemeClr val="bg2">
                <a:lumMod val="10000"/>
              </a:schemeClr>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857102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FCE284C4-5ED1-4D6C-B7CC-2049C3062C5E}" type="slidenum">
              <a:rPr lang="en-GB" smtClean="0"/>
              <a:t>19</a:t>
            </a:fld>
            <a:endParaRPr lang="en-GB" dirty="0"/>
          </a:p>
        </p:txBody>
      </p:sp>
      <p:sp>
        <p:nvSpPr>
          <p:cNvPr id="9" name="Rectangle 8"/>
          <p:cNvSpPr/>
          <p:nvPr/>
        </p:nvSpPr>
        <p:spPr>
          <a:xfrm>
            <a:off x="323528" y="2492896"/>
            <a:ext cx="8568952" cy="2554545"/>
          </a:xfrm>
          <a:prstGeom prst="rect">
            <a:avLst/>
          </a:prstGeom>
        </p:spPr>
        <p:txBody>
          <a:bodyPr wrap="square">
            <a:spAutoFit/>
          </a:bodyPr>
          <a:lstStyle/>
          <a:p>
            <a:pPr lvl="0" algn="ctr">
              <a:defRPr/>
            </a:pPr>
            <a:r>
              <a:rPr lang="en-US" sz="4000" b="1" dirty="0" smtClean="0">
                <a:solidFill>
                  <a:srgbClr val="006299"/>
                </a:solidFill>
                <a:latin typeface="Arial"/>
              </a:rPr>
              <a:t>An </a:t>
            </a:r>
            <a:r>
              <a:rPr lang="en-US" sz="4000" b="1" dirty="0">
                <a:solidFill>
                  <a:srgbClr val="006299"/>
                </a:solidFill>
                <a:latin typeface="Arial"/>
              </a:rPr>
              <a:t>integrated </a:t>
            </a:r>
            <a:r>
              <a:rPr lang="en-US" sz="4000" b="1" dirty="0" smtClean="0">
                <a:solidFill>
                  <a:srgbClr val="006299"/>
                </a:solidFill>
                <a:latin typeface="Arial"/>
              </a:rPr>
              <a:t>policy approach </a:t>
            </a:r>
            <a:br>
              <a:rPr lang="en-US" sz="4000" b="1" dirty="0" smtClean="0">
                <a:solidFill>
                  <a:srgbClr val="006299"/>
                </a:solidFill>
                <a:latin typeface="Arial"/>
              </a:rPr>
            </a:br>
            <a:r>
              <a:rPr lang="en-US" sz="4000" b="1" dirty="0" smtClean="0">
                <a:solidFill>
                  <a:srgbClr val="006299"/>
                </a:solidFill>
                <a:latin typeface="Arial"/>
              </a:rPr>
              <a:t>is </a:t>
            </a:r>
            <a:r>
              <a:rPr lang="en-US" sz="4000" b="1" dirty="0">
                <a:solidFill>
                  <a:srgbClr val="006299"/>
                </a:solidFill>
                <a:latin typeface="Arial"/>
              </a:rPr>
              <a:t>needed </a:t>
            </a:r>
            <a:r>
              <a:rPr lang="en-US" sz="4000" b="1" dirty="0" smtClean="0">
                <a:solidFill>
                  <a:srgbClr val="006299"/>
                </a:solidFill>
                <a:latin typeface="Arial"/>
              </a:rPr>
              <a:t>to respond to </a:t>
            </a:r>
            <a:br>
              <a:rPr lang="en-US" sz="4000" b="1" dirty="0" smtClean="0">
                <a:solidFill>
                  <a:srgbClr val="006299"/>
                </a:solidFill>
                <a:latin typeface="Arial"/>
              </a:rPr>
            </a:br>
            <a:r>
              <a:rPr lang="en-US" sz="4000" b="1" dirty="0" smtClean="0">
                <a:solidFill>
                  <a:srgbClr val="006299"/>
                </a:solidFill>
                <a:latin typeface="Arial"/>
              </a:rPr>
              <a:t>structural trends and make </a:t>
            </a:r>
            <a:br>
              <a:rPr lang="en-US" sz="4000" b="1" dirty="0" smtClean="0">
                <a:solidFill>
                  <a:srgbClr val="006299"/>
                </a:solidFill>
                <a:latin typeface="Arial"/>
              </a:rPr>
            </a:br>
            <a:r>
              <a:rPr lang="en-US" sz="4000" b="1" dirty="0" smtClean="0">
                <a:solidFill>
                  <a:srgbClr val="006299"/>
                </a:solidFill>
                <a:latin typeface="Arial"/>
              </a:rPr>
              <a:t>globalisation </a:t>
            </a:r>
            <a:r>
              <a:rPr lang="en-US" sz="4000" b="1" dirty="0">
                <a:solidFill>
                  <a:srgbClr val="006299"/>
                </a:solidFill>
                <a:latin typeface="Arial"/>
              </a:rPr>
              <a:t>work for all</a:t>
            </a:r>
          </a:p>
        </p:txBody>
      </p:sp>
    </p:spTree>
    <p:extLst>
      <p:ext uri="{BB962C8B-B14F-4D97-AF65-F5344CB8AC3E}">
        <p14:creationId xmlns:p14="http://schemas.microsoft.com/office/powerpoint/2010/main" val="341896841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main.oecd.org\sdataECO\Units\FRONTOFFICE\Economic Outlooks\EO101\Data and charts\PPT_Figs_E\E_Handout_Fig_GfG_Reforms_Trade_1_2P_P2CL.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2466" y="1803122"/>
            <a:ext cx="4277184" cy="4938246"/>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fld id="{FCE284C4-5ED1-4D6C-B7CC-2049C3062C5E}" type="slidenum">
              <a:rPr lang="en-GB" smtClean="0"/>
              <a:t>20</a:t>
            </a:fld>
            <a:endParaRPr lang="en-GB" dirty="0"/>
          </a:p>
        </p:txBody>
      </p:sp>
      <p:sp>
        <p:nvSpPr>
          <p:cNvPr id="4" name="Rectangle 3"/>
          <p:cNvSpPr/>
          <p:nvPr/>
        </p:nvSpPr>
        <p:spPr>
          <a:xfrm>
            <a:off x="539552" y="246721"/>
            <a:ext cx="8509760" cy="954107"/>
          </a:xfrm>
          <a:prstGeom prst="rect">
            <a:avLst/>
          </a:prstGeom>
        </p:spPr>
        <p:txBody>
          <a:bodyPr wrap="square">
            <a:spAutoFit/>
          </a:bodyPr>
          <a:lstStyle/>
          <a:p>
            <a:pPr lvl="0" algn="ctr"/>
            <a:r>
              <a:rPr lang="en-GB" sz="2800" b="1" dirty="0">
                <a:solidFill>
                  <a:srgbClr val="006299"/>
                </a:solidFill>
                <a:latin typeface="Arial"/>
              </a:rPr>
              <a:t>Make the international system work </a:t>
            </a:r>
            <a:r>
              <a:rPr lang="en-GB" sz="2800" b="1" dirty="0" smtClean="0">
                <a:solidFill>
                  <a:srgbClr val="006299"/>
                </a:solidFill>
                <a:latin typeface="Arial"/>
              </a:rPr>
              <a:t>better,</a:t>
            </a:r>
            <a:br>
              <a:rPr lang="en-GB" sz="2800" b="1" dirty="0" smtClean="0">
                <a:solidFill>
                  <a:srgbClr val="006299"/>
                </a:solidFill>
                <a:latin typeface="Arial"/>
              </a:rPr>
            </a:br>
            <a:r>
              <a:rPr lang="en-GB" sz="2800" b="1" dirty="0" smtClean="0">
                <a:solidFill>
                  <a:srgbClr val="006299"/>
                </a:solidFill>
                <a:latin typeface="Arial"/>
              </a:rPr>
              <a:t>and </a:t>
            </a:r>
            <a:r>
              <a:rPr lang="en-GB" sz="2800" b="1" dirty="0">
                <a:solidFill>
                  <a:srgbClr val="006299"/>
                </a:solidFill>
                <a:latin typeface="Arial"/>
              </a:rPr>
              <a:t>create a more level playing field</a:t>
            </a:r>
          </a:p>
        </p:txBody>
      </p:sp>
      <p:graphicFrame>
        <p:nvGraphicFramePr>
          <p:cNvPr id="16" name="Diagram 15"/>
          <p:cNvGraphicFramePr/>
          <p:nvPr>
            <p:extLst>
              <p:ext uri="{D42A27DB-BD31-4B8C-83A1-F6EECF244321}">
                <p14:modId xmlns:p14="http://schemas.microsoft.com/office/powerpoint/2010/main" val="2048557882"/>
              </p:ext>
            </p:extLst>
          </p:nvPr>
        </p:nvGraphicFramePr>
        <p:xfrm>
          <a:off x="4499992" y="1628800"/>
          <a:ext cx="4536504" cy="4896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TextBox 11"/>
          <p:cNvSpPr txBox="1"/>
          <p:nvPr/>
        </p:nvSpPr>
        <p:spPr>
          <a:xfrm>
            <a:off x="298439" y="6442502"/>
            <a:ext cx="4248472" cy="415498"/>
          </a:xfrm>
          <a:prstGeom prst="rect">
            <a:avLst/>
          </a:prstGeom>
          <a:noFill/>
        </p:spPr>
        <p:txBody>
          <a:bodyPr wrap="square" rtlCol="0">
            <a:spAutoFit/>
          </a:bodyPr>
          <a:lstStyle/>
          <a:p>
            <a:r>
              <a:rPr lang="en-GB" sz="1050" dirty="0" smtClean="0">
                <a:solidFill>
                  <a:schemeClr val="bg2">
                    <a:lumMod val="10000"/>
                  </a:schemeClr>
                </a:solidFill>
                <a:latin typeface="Calibri" panose="020F0502020204030204" pitchFamily="34" charset="0"/>
              </a:rPr>
              <a:t>Note: includes all OECD and BRIICS countries, the EU and Colombia.</a:t>
            </a:r>
          </a:p>
          <a:p>
            <a:r>
              <a:rPr lang="en-GB" sz="1050" dirty="0" smtClean="0">
                <a:solidFill>
                  <a:schemeClr val="bg2">
                    <a:lumMod val="10000"/>
                  </a:schemeClr>
                </a:solidFill>
                <a:latin typeface="Calibri" panose="020F0502020204030204" pitchFamily="34" charset="0"/>
              </a:rPr>
              <a:t>Source: OECD </a:t>
            </a:r>
            <a:r>
              <a:rPr lang="en-GB" sz="1050" i="1" dirty="0" smtClean="0">
                <a:solidFill>
                  <a:schemeClr val="bg2">
                    <a:lumMod val="10000"/>
                  </a:schemeClr>
                </a:solidFill>
                <a:latin typeface="Calibri" panose="020F0502020204030204" pitchFamily="34" charset="0"/>
              </a:rPr>
              <a:t>Going for Growth </a:t>
            </a:r>
            <a:r>
              <a:rPr lang="en-GB" sz="1050" dirty="0" smtClean="0">
                <a:solidFill>
                  <a:schemeClr val="bg2">
                    <a:lumMod val="10000"/>
                  </a:schemeClr>
                </a:solidFill>
                <a:latin typeface="Calibri" panose="020F0502020204030204" pitchFamily="34" charset="0"/>
              </a:rPr>
              <a:t>2017</a:t>
            </a:r>
            <a:endParaRPr lang="en-GB" sz="1050" dirty="0">
              <a:solidFill>
                <a:schemeClr val="bg2">
                  <a:lumMod val="10000"/>
                </a:schemeClr>
              </a:solidFill>
              <a:latin typeface="Calibri" panose="020F0502020204030204" pitchFamily="34" charset="0"/>
            </a:endParaRPr>
          </a:p>
        </p:txBody>
      </p:sp>
      <p:sp>
        <p:nvSpPr>
          <p:cNvPr id="10" name="TextBox 9"/>
          <p:cNvSpPr txBox="1"/>
          <p:nvPr/>
        </p:nvSpPr>
        <p:spPr>
          <a:xfrm>
            <a:off x="-244002" y="1323915"/>
            <a:ext cx="4824536" cy="769441"/>
          </a:xfrm>
          <a:prstGeom prst="rect">
            <a:avLst/>
          </a:prstGeom>
          <a:noFill/>
        </p:spPr>
        <p:txBody>
          <a:bodyPr wrap="square" rtlCol="0">
            <a:spAutoFit/>
          </a:bodyPr>
          <a:lstStyle/>
          <a:p>
            <a:pPr lvl="0" algn="ctr"/>
            <a:r>
              <a:rPr lang="en-US" sz="1600" b="1" dirty="0">
                <a:solidFill>
                  <a:schemeClr val="bg2">
                    <a:lumMod val="10000"/>
                  </a:schemeClr>
                </a:solidFill>
                <a:latin typeface="Calibri" pitchFamily="34" charset="0"/>
              </a:rPr>
              <a:t>Actions in response to OECD </a:t>
            </a:r>
            <a:r>
              <a:rPr lang="en-US" sz="1600" b="1" i="1" dirty="0">
                <a:solidFill>
                  <a:schemeClr val="bg2">
                    <a:lumMod val="10000"/>
                  </a:schemeClr>
                </a:solidFill>
                <a:latin typeface="Calibri" pitchFamily="34" charset="0"/>
              </a:rPr>
              <a:t>Going for Growth </a:t>
            </a:r>
            <a:r>
              <a:rPr lang="en-US" sz="1600" b="1" dirty="0" smtClean="0">
                <a:solidFill>
                  <a:schemeClr val="bg2">
                    <a:lumMod val="10000"/>
                  </a:schemeClr>
                </a:solidFill>
                <a:latin typeface="Calibri" pitchFamily="34" charset="0"/>
              </a:rPr>
              <a:t>recommendations</a:t>
            </a:r>
            <a:br>
              <a:rPr lang="en-US" sz="1600" b="1" dirty="0" smtClean="0">
                <a:solidFill>
                  <a:schemeClr val="bg2">
                    <a:lumMod val="10000"/>
                  </a:schemeClr>
                </a:solidFill>
                <a:latin typeface="Calibri" pitchFamily="34" charset="0"/>
              </a:rPr>
            </a:br>
            <a:r>
              <a:rPr lang="en-US" sz="1200" i="1" dirty="0" smtClean="0">
                <a:solidFill>
                  <a:schemeClr val="bg2">
                    <a:lumMod val="10000"/>
                  </a:schemeClr>
                </a:solidFill>
                <a:latin typeface="Calibri" pitchFamily="34" charset="0"/>
              </a:rPr>
              <a:t>Number of reforms, 2015-16</a:t>
            </a:r>
            <a:endParaRPr lang="en-US" sz="1200" i="1" dirty="0">
              <a:solidFill>
                <a:schemeClr val="bg2">
                  <a:lumMod val="10000"/>
                </a:schemeClr>
              </a:solidFill>
              <a:latin typeface="Calibri" pitchFamily="34" charset="0"/>
            </a:endParaRPr>
          </a:p>
        </p:txBody>
      </p:sp>
    </p:spTree>
    <p:extLst>
      <p:ext uri="{BB962C8B-B14F-4D97-AF65-F5344CB8AC3E}">
        <p14:creationId xmlns:p14="http://schemas.microsoft.com/office/powerpoint/2010/main" val="54626207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main.oecd.org\sdataECO\Units\FRONTOFFICE\Economic Outlooks\EO101\Data and charts\PPT_Figs_E\E_Handout_Fig_GfG_Reforms_Others_1_2P_P2CL.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504" y="1635074"/>
            <a:ext cx="8957618" cy="489027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fld id="{FCE284C4-5ED1-4D6C-B7CC-2049C3062C5E}" type="slidenum">
              <a:rPr lang="en-GB" smtClean="0"/>
              <a:t>21</a:t>
            </a:fld>
            <a:endParaRPr lang="en-GB" dirty="0"/>
          </a:p>
        </p:txBody>
      </p:sp>
      <p:sp>
        <p:nvSpPr>
          <p:cNvPr id="4" name="Rectangle 3"/>
          <p:cNvSpPr/>
          <p:nvPr/>
        </p:nvSpPr>
        <p:spPr>
          <a:xfrm>
            <a:off x="467544" y="221321"/>
            <a:ext cx="8509760" cy="954107"/>
          </a:xfrm>
          <a:prstGeom prst="rect">
            <a:avLst/>
          </a:prstGeom>
        </p:spPr>
        <p:txBody>
          <a:bodyPr wrap="square">
            <a:spAutoFit/>
          </a:bodyPr>
          <a:lstStyle/>
          <a:p>
            <a:pPr algn="ctr">
              <a:defRPr/>
            </a:pPr>
            <a:r>
              <a:rPr lang="en-US" sz="2800" b="1" dirty="0" smtClean="0">
                <a:solidFill>
                  <a:schemeClr val="tx2"/>
                </a:solidFill>
                <a:latin typeface="+mj-lt"/>
              </a:rPr>
              <a:t>Implement domestic reform packages</a:t>
            </a:r>
            <a:br>
              <a:rPr lang="en-US" sz="2800" b="1" dirty="0" smtClean="0">
                <a:solidFill>
                  <a:schemeClr val="tx2"/>
                </a:solidFill>
                <a:latin typeface="+mj-lt"/>
              </a:rPr>
            </a:br>
            <a:r>
              <a:rPr lang="en-US" sz="2800" b="1" dirty="0" smtClean="0">
                <a:solidFill>
                  <a:schemeClr val="tx2"/>
                </a:solidFill>
                <a:latin typeface="+mj-lt"/>
              </a:rPr>
              <a:t>to strengthen inclusive growth</a:t>
            </a:r>
            <a:endParaRPr lang="en-GB" sz="2800" b="1" dirty="0">
              <a:solidFill>
                <a:schemeClr val="tx2"/>
              </a:solidFill>
              <a:latin typeface="+mj-lt"/>
            </a:endParaRPr>
          </a:p>
        </p:txBody>
      </p:sp>
      <p:sp>
        <p:nvSpPr>
          <p:cNvPr id="8" name="TextBox 7"/>
          <p:cNvSpPr txBox="1"/>
          <p:nvPr/>
        </p:nvSpPr>
        <p:spPr>
          <a:xfrm>
            <a:off x="886272" y="1315367"/>
            <a:ext cx="7327056" cy="338554"/>
          </a:xfrm>
          <a:prstGeom prst="rect">
            <a:avLst/>
          </a:prstGeom>
          <a:noFill/>
        </p:spPr>
        <p:txBody>
          <a:bodyPr wrap="square" rtlCol="0">
            <a:spAutoFit/>
          </a:bodyPr>
          <a:lstStyle/>
          <a:p>
            <a:pPr lvl="0" algn="ctr"/>
            <a:r>
              <a:rPr lang="en-US" sz="1600" b="1" dirty="0">
                <a:solidFill>
                  <a:schemeClr val="bg2">
                    <a:lumMod val="10000"/>
                  </a:schemeClr>
                </a:solidFill>
                <a:latin typeface="Calibri" pitchFamily="34" charset="0"/>
              </a:rPr>
              <a:t>Actions in response to OECD </a:t>
            </a:r>
            <a:r>
              <a:rPr lang="en-US" sz="1600" b="1" i="1" dirty="0">
                <a:solidFill>
                  <a:schemeClr val="bg2">
                    <a:lumMod val="10000"/>
                  </a:schemeClr>
                </a:solidFill>
                <a:latin typeface="Calibri" pitchFamily="34" charset="0"/>
              </a:rPr>
              <a:t>Going for Growth </a:t>
            </a:r>
            <a:r>
              <a:rPr lang="en-US" sz="1600" b="1" dirty="0" smtClean="0">
                <a:solidFill>
                  <a:schemeClr val="bg2">
                    <a:lumMod val="10000"/>
                  </a:schemeClr>
                </a:solidFill>
                <a:latin typeface="Calibri" pitchFamily="34" charset="0"/>
              </a:rPr>
              <a:t>recommendations</a:t>
            </a:r>
            <a:endParaRPr lang="en-US" sz="1600" b="1" dirty="0">
              <a:solidFill>
                <a:schemeClr val="bg2">
                  <a:lumMod val="10000"/>
                </a:schemeClr>
              </a:solidFill>
              <a:latin typeface="Calibri" pitchFamily="34" charset="0"/>
            </a:endParaRPr>
          </a:p>
        </p:txBody>
      </p:sp>
      <p:sp>
        <p:nvSpPr>
          <p:cNvPr id="9" name="TextBox 8"/>
          <p:cNvSpPr txBox="1"/>
          <p:nvPr/>
        </p:nvSpPr>
        <p:spPr>
          <a:xfrm>
            <a:off x="755576" y="6441871"/>
            <a:ext cx="4248472" cy="415498"/>
          </a:xfrm>
          <a:prstGeom prst="rect">
            <a:avLst/>
          </a:prstGeom>
          <a:noFill/>
        </p:spPr>
        <p:txBody>
          <a:bodyPr wrap="square" rtlCol="0">
            <a:spAutoFit/>
          </a:bodyPr>
          <a:lstStyle/>
          <a:p>
            <a:r>
              <a:rPr lang="en-GB" sz="1050" dirty="0" smtClean="0">
                <a:solidFill>
                  <a:schemeClr val="bg2">
                    <a:lumMod val="10000"/>
                  </a:schemeClr>
                </a:solidFill>
                <a:latin typeface="Calibri" panose="020F0502020204030204" pitchFamily="34" charset="0"/>
              </a:rPr>
              <a:t>Note: includes all OECD and BRIICS countries, the EU and Colombia.</a:t>
            </a:r>
          </a:p>
          <a:p>
            <a:r>
              <a:rPr lang="en-GB" sz="1050" dirty="0" smtClean="0">
                <a:solidFill>
                  <a:schemeClr val="bg2">
                    <a:lumMod val="10000"/>
                  </a:schemeClr>
                </a:solidFill>
                <a:latin typeface="Calibri" panose="020F0502020204030204" pitchFamily="34" charset="0"/>
              </a:rPr>
              <a:t>Source: OECD </a:t>
            </a:r>
            <a:r>
              <a:rPr lang="en-GB" sz="1050" i="1" dirty="0" smtClean="0">
                <a:solidFill>
                  <a:schemeClr val="bg2">
                    <a:lumMod val="10000"/>
                  </a:schemeClr>
                </a:solidFill>
                <a:latin typeface="Calibri" panose="020F0502020204030204" pitchFamily="34" charset="0"/>
              </a:rPr>
              <a:t>Going for Growth </a:t>
            </a:r>
            <a:r>
              <a:rPr lang="en-GB" sz="1050" dirty="0" smtClean="0">
                <a:solidFill>
                  <a:schemeClr val="bg2">
                    <a:lumMod val="10000"/>
                  </a:schemeClr>
                </a:solidFill>
                <a:latin typeface="Calibri" panose="020F0502020204030204" pitchFamily="34" charset="0"/>
              </a:rPr>
              <a:t>2017</a:t>
            </a:r>
            <a:endParaRPr lang="en-GB" sz="1050" dirty="0">
              <a:solidFill>
                <a:schemeClr val="bg2">
                  <a:lumMod val="10000"/>
                </a:schemeClr>
              </a:solidFill>
              <a:latin typeface="Calibri" panose="020F0502020204030204" pitchFamily="34" charset="0"/>
            </a:endParaRPr>
          </a:p>
        </p:txBody>
      </p:sp>
    </p:spTree>
    <p:extLst>
      <p:ext uri="{BB962C8B-B14F-4D97-AF65-F5344CB8AC3E}">
        <p14:creationId xmlns:p14="http://schemas.microsoft.com/office/powerpoint/2010/main" val="34472661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27584" y="243713"/>
            <a:ext cx="7920880" cy="954107"/>
          </a:xfrm>
          <a:prstGeom prst="rect">
            <a:avLst/>
          </a:prstGeom>
        </p:spPr>
        <p:txBody>
          <a:bodyPr wrap="square">
            <a:spAutoFit/>
          </a:bodyPr>
          <a:lstStyle/>
          <a:p>
            <a:pPr algn="ctr">
              <a:defRPr/>
            </a:pPr>
            <a:r>
              <a:rPr lang="en-US" sz="2800" b="1" dirty="0" smtClean="0">
                <a:solidFill>
                  <a:schemeClr val="tx2"/>
                </a:solidFill>
                <a:latin typeface="+mj-lt"/>
              </a:rPr>
              <a:t> Help people and displaced workers </a:t>
            </a:r>
            <a:br>
              <a:rPr lang="en-US" sz="2800" b="1" dirty="0" smtClean="0">
                <a:solidFill>
                  <a:schemeClr val="tx2"/>
                </a:solidFill>
                <a:latin typeface="+mj-lt"/>
              </a:rPr>
            </a:br>
            <a:r>
              <a:rPr lang="en-US" sz="2800" b="1" dirty="0" smtClean="0">
                <a:solidFill>
                  <a:schemeClr val="tx2"/>
                </a:solidFill>
                <a:latin typeface="+mj-lt"/>
              </a:rPr>
              <a:t>to adapt and take new opportunities</a:t>
            </a:r>
          </a:p>
        </p:txBody>
      </p:sp>
      <p:sp>
        <p:nvSpPr>
          <p:cNvPr id="7" name="Slide Number Placeholder 6"/>
          <p:cNvSpPr>
            <a:spLocks noGrp="1"/>
          </p:cNvSpPr>
          <p:nvPr>
            <p:ph type="sldNum" sz="quarter" idx="12"/>
          </p:nvPr>
        </p:nvSpPr>
        <p:spPr/>
        <p:txBody>
          <a:bodyPr/>
          <a:lstStyle/>
          <a:p>
            <a:fld id="{FCE284C4-5ED1-4D6C-B7CC-2049C3062C5E}" type="slidenum">
              <a:rPr lang="en-GB" smtClean="0"/>
              <a:t>22</a:t>
            </a:fld>
            <a:endParaRPr lang="en-GB" dirty="0"/>
          </a:p>
        </p:txBody>
      </p:sp>
      <p:sp>
        <p:nvSpPr>
          <p:cNvPr id="6" name="TextBox 5"/>
          <p:cNvSpPr txBox="1"/>
          <p:nvPr/>
        </p:nvSpPr>
        <p:spPr>
          <a:xfrm>
            <a:off x="792229" y="6396335"/>
            <a:ext cx="7297353" cy="461665"/>
          </a:xfrm>
          <a:prstGeom prst="rect">
            <a:avLst/>
          </a:prstGeom>
          <a:noFill/>
        </p:spPr>
        <p:txBody>
          <a:bodyPr wrap="square" rtlCol="0">
            <a:spAutoFit/>
          </a:bodyPr>
          <a:lstStyle/>
          <a:p>
            <a:endParaRPr lang="en-US" sz="1200" dirty="0" smtClean="0">
              <a:solidFill>
                <a:schemeClr val="bg2">
                  <a:lumMod val="10000"/>
                </a:schemeClr>
              </a:solidFill>
              <a:latin typeface="Calibri" panose="020F0502020204030204" pitchFamily="34" charset="0"/>
            </a:endParaRPr>
          </a:p>
          <a:p>
            <a:r>
              <a:rPr lang="en-GB" sz="1200" dirty="0" smtClean="0">
                <a:solidFill>
                  <a:schemeClr val="bg2">
                    <a:lumMod val="10000"/>
                  </a:schemeClr>
                </a:solidFill>
                <a:latin typeface="Calibri" panose="020F0502020204030204" pitchFamily="34" charset="0"/>
              </a:rPr>
              <a:t>Source: </a:t>
            </a:r>
            <a:r>
              <a:rPr lang="en-US" sz="1200" dirty="0" smtClean="0">
                <a:solidFill>
                  <a:schemeClr val="bg2">
                    <a:lumMod val="10000"/>
                  </a:schemeClr>
                </a:solidFill>
                <a:latin typeface="Calibri" panose="020F0502020204030204" pitchFamily="34" charset="0"/>
              </a:rPr>
              <a:t>OECD </a:t>
            </a:r>
            <a:r>
              <a:rPr lang="en-US" sz="1200" i="1" dirty="0" smtClean="0">
                <a:solidFill>
                  <a:schemeClr val="bg2">
                    <a:lumMod val="10000"/>
                  </a:schemeClr>
                </a:solidFill>
                <a:latin typeface="Calibri" panose="020F0502020204030204" pitchFamily="34" charset="0"/>
              </a:rPr>
              <a:t>Going for Growth </a:t>
            </a:r>
            <a:r>
              <a:rPr lang="en-US" sz="1200" dirty="0" smtClean="0">
                <a:solidFill>
                  <a:schemeClr val="bg2">
                    <a:lumMod val="10000"/>
                  </a:schemeClr>
                </a:solidFill>
                <a:latin typeface="Calibri" panose="020F0502020204030204" pitchFamily="34" charset="0"/>
              </a:rPr>
              <a:t>2017.</a:t>
            </a:r>
            <a:endParaRPr lang="en-GB" sz="1200" dirty="0">
              <a:solidFill>
                <a:schemeClr val="bg2">
                  <a:lumMod val="10000"/>
                </a:schemeClr>
              </a:solidFill>
              <a:latin typeface="Calibri" panose="020F050202020403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501722210"/>
              </p:ext>
            </p:extLst>
          </p:nvPr>
        </p:nvGraphicFramePr>
        <p:xfrm>
          <a:off x="738565" y="1412772"/>
          <a:ext cx="7937892" cy="5036646"/>
        </p:xfrm>
        <a:graphic>
          <a:graphicData uri="http://schemas.openxmlformats.org/drawingml/2006/table">
            <a:tbl>
              <a:tblPr/>
              <a:tblGrid>
                <a:gridCol w="661491"/>
                <a:gridCol w="661491"/>
                <a:gridCol w="661491"/>
                <a:gridCol w="661491"/>
                <a:gridCol w="661491"/>
                <a:gridCol w="661491"/>
                <a:gridCol w="661491"/>
                <a:gridCol w="661491"/>
                <a:gridCol w="661491"/>
                <a:gridCol w="661491"/>
                <a:gridCol w="661491"/>
                <a:gridCol w="661491"/>
              </a:tblGrid>
              <a:tr h="383161">
                <a:tc gridSpan="7">
                  <a:txBody>
                    <a:bodyPr/>
                    <a:lstStyle/>
                    <a:p>
                      <a:pPr algn="l" rtl="0" fontAlgn="t"/>
                      <a:r>
                        <a:rPr lang="en-GB" sz="1600" b="0" i="1" u="none" strike="noStrike" dirty="0">
                          <a:solidFill>
                            <a:srgbClr val="171717"/>
                          </a:solidFill>
                          <a:effectLst/>
                          <a:latin typeface="Calibri"/>
                        </a:rPr>
                        <a:t> </a:t>
                      </a:r>
                    </a:p>
                  </a:txBody>
                  <a:tcPr marL="9525" marR="9525" marT="9525" marB="0">
                    <a:lnL>
                      <a:noFill/>
                    </a:lnL>
                    <a:lnR>
                      <a:noFill/>
                    </a:lnR>
                    <a:lnT>
                      <a:noFill/>
                    </a:lnT>
                    <a:lnB>
                      <a:noFill/>
                    </a:lnB>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gridSpan="4">
                  <a:txBody>
                    <a:bodyPr/>
                    <a:lstStyle/>
                    <a:p>
                      <a:pPr marL="0" algn="ctr" rtl="0" eaLnBrk="1" fontAlgn="ctr" latinLnBrk="0" hangingPunct="1"/>
                      <a:r>
                        <a:rPr kumimoji="0" lang="en-GB" sz="1400" b="1" i="0" u="none" strike="noStrike" kern="1200" dirty="0">
                          <a:solidFill>
                            <a:srgbClr val="171717"/>
                          </a:solidFill>
                          <a:effectLst/>
                          <a:latin typeface="Calibri"/>
                          <a:ea typeface="+mn-ea"/>
                          <a:cs typeface="+mn-cs"/>
                        </a:rPr>
                        <a:t>Countries with </a:t>
                      </a:r>
                      <a:r>
                        <a:rPr kumimoji="0" lang="en-GB" sz="1400" b="1" i="0" u="none" strike="noStrike" kern="1200" dirty="0" smtClean="0">
                          <a:solidFill>
                            <a:srgbClr val="171717"/>
                          </a:solidFill>
                          <a:effectLst/>
                          <a:latin typeface="Calibri"/>
                          <a:ea typeface="+mn-ea"/>
                          <a:cs typeface="+mn-cs"/>
                        </a:rPr>
                        <a:t>OECD</a:t>
                      </a:r>
                      <a:r>
                        <a:rPr kumimoji="0" lang="en-GB" sz="1400" b="1" i="0" u="none" strike="noStrike" kern="1200" baseline="0" dirty="0" smtClean="0">
                          <a:solidFill>
                            <a:srgbClr val="171717"/>
                          </a:solidFill>
                          <a:effectLst/>
                          <a:latin typeface="Calibri"/>
                          <a:ea typeface="+mn-ea"/>
                          <a:cs typeface="+mn-cs"/>
                        </a:rPr>
                        <a:t> </a:t>
                      </a:r>
                      <a:br>
                        <a:rPr kumimoji="0" lang="en-GB" sz="1400" b="1" i="0" u="none" strike="noStrike" kern="1200" baseline="0" dirty="0" smtClean="0">
                          <a:solidFill>
                            <a:srgbClr val="171717"/>
                          </a:solidFill>
                          <a:effectLst/>
                          <a:latin typeface="Calibri"/>
                          <a:ea typeface="+mn-ea"/>
                          <a:cs typeface="+mn-cs"/>
                        </a:rPr>
                      </a:br>
                      <a:r>
                        <a:rPr kumimoji="0" lang="en-GB" sz="1400" b="1" i="1" u="none" strike="noStrike" kern="1200" baseline="0" dirty="0" smtClean="0">
                          <a:solidFill>
                            <a:srgbClr val="171717"/>
                          </a:solidFill>
                          <a:effectLst/>
                          <a:latin typeface="Calibri"/>
                          <a:ea typeface="+mn-ea"/>
                          <a:cs typeface="+mn-cs"/>
                        </a:rPr>
                        <a:t>Going for Growth </a:t>
                      </a:r>
                      <a:r>
                        <a:rPr kumimoji="0" lang="en-GB" sz="1400" b="1" i="0" u="none" strike="noStrike" kern="1200" dirty="0" smtClean="0">
                          <a:solidFill>
                            <a:srgbClr val="171717"/>
                          </a:solidFill>
                          <a:effectLst/>
                          <a:latin typeface="Calibri"/>
                          <a:ea typeface="+mn-ea"/>
                          <a:cs typeface="+mn-cs"/>
                        </a:rPr>
                        <a:t>reform</a:t>
                      </a:r>
                      <a:r>
                        <a:rPr kumimoji="0" lang="en-GB" sz="1400" b="1" i="0" u="none" strike="noStrike" kern="1200" baseline="0" dirty="0" smtClean="0">
                          <a:solidFill>
                            <a:srgbClr val="171717"/>
                          </a:solidFill>
                          <a:effectLst/>
                          <a:latin typeface="Calibri"/>
                          <a:ea typeface="+mn-ea"/>
                          <a:cs typeface="+mn-cs"/>
                        </a:rPr>
                        <a:t> </a:t>
                      </a:r>
                      <a:r>
                        <a:rPr kumimoji="0" lang="en-GB" sz="1400" b="1" i="0" u="none" strike="noStrike" kern="1200" dirty="0" smtClean="0">
                          <a:solidFill>
                            <a:srgbClr val="171717"/>
                          </a:solidFill>
                          <a:effectLst/>
                          <a:latin typeface="Calibri"/>
                          <a:ea typeface="+mn-ea"/>
                          <a:cs typeface="+mn-cs"/>
                        </a:rPr>
                        <a:t>priority </a:t>
                      </a:r>
                      <a:endParaRPr kumimoji="0" lang="en-GB" sz="1400" b="1" i="0" u="none" strike="noStrike" kern="1200" dirty="0">
                        <a:solidFill>
                          <a:srgbClr val="171717"/>
                        </a:solidFill>
                        <a:effectLst/>
                        <a:latin typeface="Calibri"/>
                        <a:ea typeface="+mn-ea"/>
                        <a:cs typeface="+mn-cs"/>
                      </a:endParaRPr>
                    </a:p>
                  </a:txBody>
                  <a:tcPr marL="9525" marR="9525" marT="9525" marB="0" anchor="ctr">
                    <a:lnL>
                      <a:noFill/>
                    </a:lnL>
                    <a:lnR>
                      <a:noFill/>
                    </a:lnR>
                    <a:lnT>
                      <a:noFill/>
                    </a:lnT>
                    <a:lnB w="12700" cap="flat" cmpd="sng" algn="ctr">
                      <a:solidFill>
                        <a:schemeClr val="bg2">
                          <a:lumMod val="10000"/>
                        </a:schemeClr>
                      </a:solidFill>
                      <a:prstDash val="solid"/>
                      <a:round/>
                      <a:headEnd type="none" w="med" len="med"/>
                      <a:tailEnd type="none" w="med" len="med"/>
                    </a:lnB>
                  </a:tcPr>
                </a:tc>
                <a:tc hMerge="1">
                  <a:txBody>
                    <a:bodyPr/>
                    <a:lstStyle/>
                    <a:p>
                      <a:endParaRPr lang="en-GB"/>
                    </a:p>
                  </a:txBody>
                  <a:tcPr/>
                </a:tc>
                <a:tc hMerge="1">
                  <a:txBody>
                    <a:bodyPr/>
                    <a:lstStyle/>
                    <a:p>
                      <a:endParaRPr lang="en-GB"/>
                    </a:p>
                  </a:txBody>
                  <a:tcPr/>
                </a:tc>
                <a:tc hMerge="1">
                  <a:txBody>
                    <a:bodyPr/>
                    <a:lstStyle/>
                    <a:p>
                      <a:endParaRPr lang="en-GB"/>
                    </a:p>
                  </a:txBody>
                  <a:tcPr/>
                </a:tc>
                <a:tc rowSpan="2">
                  <a:txBody>
                    <a:bodyPr/>
                    <a:lstStyle/>
                    <a:p>
                      <a:pPr algn="l" fontAlgn="ctr"/>
                      <a:endParaRPr lang="en-GB" sz="1800" b="0" i="0" u="none" strike="noStrike" dirty="0">
                        <a:solidFill>
                          <a:srgbClr val="000000"/>
                        </a:solidFill>
                        <a:effectLst/>
                        <a:latin typeface="Arial"/>
                      </a:endParaRPr>
                    </a:p>
                  </a:txBody>
                  <a:tcPr marL="9525" marR="9525" marT="9525" marB="0" anchor="ctr">
                    <a:lnL>
                      <a:noFill/>
                    </a:lnL>
                    <a:lnR>
                      <a:noFill/>
                    </a:lnR>
                    <a:lnT>
                      <a:noFill/>
                    </a:lnT>
                    <a:lnB w="12700" cap="flat" cmpd="sng" algn="ctr">
                      <a:noFill/>
                      <a:prstDash val="solid"/>
                      <a:round/>
                      <a:headEnd type="none" w="med" len="med"/>
                      <a:tailEnd type="none" w="med" len="med"/>
                    </a:lnB>
                  </a:tcPr>
                </a:tc>
              </a:tr>
              <a:tr h="395521">
                <a:tc gridSpan="7">
                  <a:txBody>
                    <a:bodyPr/>
                    <a:lstStyle/>
                    <a:p>
                      <a:pPr algn="l" rtl="0" fontAlgn="ctr"/>
                      <a:r>
                        <a:rPr kumimoji="0" lang="en-GB" sz="1800" b="1" kern="1200" dirty="0" smtClean="0">
                          <a:solidFill>
                            <a:srgbClr val="17B917"/>
                          </a:solidFill>
                          <a:latin typeface="Calibri" panose="020F0502020204030204" pitchFamily="34" charset="0"/>
                          <a:ea typeface="+mn-ea"/>
                          <a:cs typeface="+mn-cs"/>
                        </a:rPr>
                        <a:t>Help laid-off</a:t>
                      </a:r>
                      <a:r>
                        <a:rPr kumimoji="0" lang="en-GB" sz="1800" b="1" kern="1200" baseline="0" dirty="0" smtClean="0">
                          <a:solidFill>
                            <a:srgbClr val="17B917"/>
                          </a:solidFill>
                          <a:latin typeface="Calibri" panose="020F0502020204030204" pitchFamily="34" charset="0"/>
                          <a:ea typeface="+mn-ea"/>
                          <a:cs typeface="+mn-cs"/>
                        </a:rPr>
                        <a:t> workers to find a new job</a:t>
                      </a:r>
                      <a:endParaRPr lang="en-GB" sz="1800" b="1" i="0" u="none" strike="noStrike" dirty="0">
                        <a:solidFill>
                          <a:srgbClr val="171717"/>
                        </a:solidFill>
                        <a:effectLst/>
                        <a:latin typeface="Calibri"/>
                      </a:endParaRPr>
                    </a:p>
                  </a:txBody>
                  <a:tcPr marL="9525" marR="9525" marT="9525" marB="0" anchor="ctr">
                    <a:lnL>
                      <a:noFill/>
                    </a:lnL>
                    <a:lnR>
                      <a:noFill/>
                    </a:lnR>
                    <a:lnT>
                      <a:noFill/>
                    </a:lnT>
                    <a:lnB>
                      <a:noFill/>
                    </a:lnB>
                  </a:tcPr>
                </a:tc>
                <a:tc hMerge="1">
                  <a:txBody>
                    <a:bodyPr/>
                    <a:lstStyle/>
                    <a:p>
                      <a:pPr algn="l" rtl="0" fontAlgn="ctr"/>
                      <a:endParaRPr lang="en-GB" sz="1600" b="1" i="0" u="none" strike="noStrike" dirty="0">
                        <a:solidFill>
                          <a:srgbClr val="171717"/>
                        </a:solidFill>
                        <a:effectLst/>
                        <a:latin typeface="Calibri"/>
                      </a:endParaRPr>
                    </a:p>
                  </a:txBody>
                  <a:tcPr marL="9525" marR="9525" marT="9525" marB="0" anchor="ctr">
                    <a:lnL>
                      <a:noFill/>
                    </a:lnL>
                    <a:lnR>
                      <a:noFill/>
                    </a:lnR>
                    <a:lnT>
                      <a:noFill/>
                    </a:lnT>
                    <a:lnB>
                      <a:noFill/>
                    </a:lnB>
                  </a:tcPr>
                </a:tc>
                <a:tc hMerge="1">
                  <a:txBody>
                    <a:bodyPr/>
                    <a:lstStyle/>
                    <a:p>
                      <a:pPr algn="l" rtl="0" fontAlgn="ctr"/>
                      <a:endParaRPr lang="en-GB" sz="1600" b="1" i="0" u="none" strike="noStrike" dirty="0">
                        <a:solidFill>
                          <a:srgbClr val="171717"/>
                        </a:solidFill>
                        <a:effectLst/>
                        <a:latin typeface="Calibri"/>
                      </a:endParaRPr>
                    </a:p>
                  </a:txBody>
                  <a:tcPr marL="9525" marR="9525" marT="9525" marB="0" anchor="ctr">
                    <a:lnL>
                      <a:noFill/>
                    </a:lnL>
                    <a:lnR>
                      <a:noFill/>
                    </a:lnR>
                    <a:lnT>
                      <a:noFill/>
                    </a:lnT>
                    <a:lnB>
                      <a:noFill/>
                    </a:lnB>
                  </a:tcPr>
                </a:tc>
                <a:tc hMerge="1">
                  <a:txBody>
                    <a:bodyPr/>
                    <a:lstStyle/>
                    <a:p>
                      <a:pPr algn="l" rtl="0" fontAlgn="ctr"/>
                      <a:endParaRPr lang="en-GB" sz="1600" b="1" i="0" u="none" strike="noStrike" dirty="0">
                        <a:solidFill>
                          <a:srgbClr val="171717"/>
                        </a:solidFill>
                        <a:effectLst/>
                        <a:latin typeface="Calibri"/>
                      </a:endParaRPr>
                    </a:p>
                  </a:txBody>
                  <a:tcPr marL="9525" marR="9525" marT="9525" marB="0" anchor="ctr">
                    <a:lnL>
                      <a:noFill/>
                    </a:lnL>
                    <a:lnR>
                      <a:noFill/>
                    </a:lnR>
                    <a:lnT>
                      <a:noFill/>
                    </a:lnT>
                    <a:lnB>
                      <a:noFill/>
                    </a:lnB>
                  </a:tcPr>
                </a:tc>
                <a:tc hMerge="1">
                  <a:txBody>
                    <a:bodyPr/>
                    <a:lstStyle/>
                    <a:p>
                      <a:pPr algn="l" rtl="0" fontAlgn="ctr"/>
                      <a:endParaRPr lang="en-GB" sz="1600" b="1" i="0" u="none" strike="noStrike" dirty="0">
                        <a:solidFill>
                          <a:srgbClr val="171717"/>
                        </a:solidFill>
                        <a:effectLst/>
                        <a:latin typeface="Calibri"/>
                      </a:endParaRPr>
                    </a:p>
                  </a:txBody>
                  <a:tcPr marL="9525" marR="9525" marT="9525" marB="0" anchor="ctr">
                    <a:lnL>
                      <a:noFill/>
                    </a:lnL>
                    <a:lnR>
                      <a:noFill/>
                    </a:lnR>
                    <a:lnT>
                      <a:noFill/>
                    </a:lnT>
                    <a:lnB>
                      <a:noFill/>
                    </a:lnB>
                  </a:tcPr>
                </a:tc>
                <a:tc hMerge="1">
                  <a:txBody>
                    <a:bodyPr/>
                    <a:lstStyle/>
                    <a:p>
                      <a:pPr algn="l" rtl="0" fontAlgn="ctr"/>
                      <a:endParaRPr lang="en-GB" sz="1600" b="1" i="0" u="none" strike="noStrike" dirty="0">
                        <a:solidFill>
                          <a:srgbClr val="171717"/>
                        </a:solidFill>
                        <a:effectLst/>
                        <a:latin typeface="Calibri"/>
                      </a:endParaRPr>
                    </a:p>
                  </a:txBody>
                  <a:tcPr marL="9525" marR="9525" marT="9525" marB="0" anchor="ctr">
                    <a:lnL>
                      <a:noFill/>
                    </a:lnL>
                    <a:lnR>
                      <a:noFill/>
                    </a:lnR>
                    <a:lnT>
                      <a:noFill/>
                    </a:lnT>
                    <a:lnB>
                      <a:noFill/>
                    </a:lnB>
                  </a:tcPr>
                </a:tc>
                <a:tc hMerge="1">
                  <a:txBody>
                    <a:bodyPr/>
                    <a:lstStyle/>
                    <a:p>
                      <a:pPr algn="l" rtl="0" fontAlgn="ctr"/>
                      <a:endParaRPr lang="en-GB" sz="1600" b="1" i="0" u="none" strike="noStrike" dirty="0">
                        <a:solidFill>
                          <a:srgbClr val="171717"/>
                        </a:solidFill>
                        <a:effectLst/>
                        <a:latin typeface="Calibri"/>
                      </a:endParaRPr>
                    </a:p>
                  </a:txBody>
                  <a:tcPr marL="9525" marR="9525" marT="9525" marB="0" anchor="ctr">
                    <a:lnL>
                      <a:noFill/>
                    </a:lnL>
                    <a:lnR>
                      <a:noFill/>
                    </a:lnR>
                    <a:lnT>
                      <a:noFill/>
                    </a:lnT>
                    <a:lnB>
                      <a:noFill/>
                    </a:lnB>
                  </a:tcPr>
                </a:tc>
                <a:tc>
                  <a:txBody>
                    <a:bodyPr/>
                    <a:lstStyle/>
                    <a:p>
                      <a:pPr algn="ctr" rtl="0" fontAlgn="ctr"/>
                      <a:r>
                        <a:rPr lang="en-GB" sz="1400" b="1" i="0" u="none" strike="noStrike" dirty="0">
                          <a:solidFill>
                            <a:srgbClr val="171717"/>
                          </a:solidFill>
                          <a:effectLst/>
                          <a:latin typeface="Arial Narrow"/>
                        </a:rPr>
                        <a:t> </a:t>
                      </a:r>
                    </a:p>
                  </a:txBody>
                  <a:tcPr marL="9525" marR="9525" marT="9525" marB="0" anchor="ctr">
                    <a:lnL>
                      <a:noFill/>
                    </a:lnL>
                    <a:lnR>
                      <a:noFill/>
                    </a:lnR>
                    <a:lnT w="12700" cap="flat" cmpd="sng" algn="ctr">
                      <a:solidFill>
                        <a:schemeClr val="bg2">
                          <a:lumMod val="10000"/>
                        </a:schemeClr>
                      </a:solidFill>
                      <a:prstDash val="solid"/>
                      <a:round/>
                      <a:headEnd type="none" w="med" len="med"/>
                      <a:tailEnd type="none" w="med" len="med"/>
                    </a:lnT>
                    <a:lnB w="12700" cap="flat" cmpd="sng" algn="ctr">
                      <a:solidFill>
                        <a:srgbClr val="171717"/>
                      </a:solidFill>
                      <a:prstDash val="solid"/>
                      <a:round/>
                      <a:headEnd type="none" w="med" len="med"/>
                      <a:tailEnd type="none" w="med" len="med"/>
                    </a:lnB>
                    <a:solidFill>
                      <a:srgbClr val="FFFFFF"/>
                    </a:solidFill>
                  </a:tcPr>
                </a:tc>
                <a:tc>
                  <a:txBody>
                    <a:bodyPr/>
                    <a:lstStyle/>
                    <a:p>
                      <a:pPr algn="ctr" rtl="0" fontAlgn="ctr"/>
                      <a:r>
                        <a:rPr lang="en-GB" sz="1400" b="1" i="0" u="none" strike="noStrike" dirty="0">
                          <a:solidFill>
                            <a:srgbClr val="171717"/>
                          </a:solidFill>
                          <a:effectLst/>
                          <a:latin typeface="Arial Narrow"/>
                        </a:rPr>
                        <a:t> </a:t>
                      </a:r>
                    </a:p>
                  </a:txBody>
                  <a:tcPr marL="9525" marR="9525" marT="9525" marB="0" anchor="ctr">
                    <a:lnL>
                      <a:noFill/>
                    </a:lnL>
                    <a:lnR>
                      <a:noFill/>
                    </a:lnR>
                    <a:lnT w="12700" cap="flat" cmpd="sng" algn="ctr">
                      <a:solidFill>
                        <a:schemeClr val="bg2">
                          <a:lumMod val="10000"/>
                        </a:schemeClr>
                      </a:solidFill>
                      <a:prstDash val="solid"/>
                      <a:round/>
                      <a:headEnd type="none" w="med" len="med"/>
                      <a:tailEnd type="none" w="med" len="med"/>
                    </a:lnT>
                    <a:lnB w="12700" cap="flat" cmpd="sng" algn="ctr">
                      <a:solidFill>
                        <a:srgbClr val="171717"/>
                      </a:solidFill>
                      <a:prstDash val="solid"/>
                      <a:round/>
                      <a:headEnd type="none" w="med" len="med"/>
                      <a:tailEnd type="none" w="med" len="med"/>
                    </a:lnB>
                    <a:solidFill>
                      <a:srgbClr val="FFFFFF"/>
                    </a:solidFill>
                  </a:tcPr>
                </a:tc>
                <a:tc>
                  <a:txBody>
                    <a:bodyPr/>
                    <a:lstStyle/>
                    <a:p>
                      <a:pPr algn="ctr" rtl="0" fontAlgn="ctr"/>
                      <a:r>
                        <a:rPr lang="en-GB" sz="1400" b="1" i="0" u="none" strike="noStrike" dirty="0">
                          <a:solidFill>
                            <a:srgbClr val="171717"/>
                          </a:solidFill>
                          <a:effectLst/>
                          <a:latin typeface="Arial Narrow"/>
                        </a:rPr>
                        <a:t> </a:t>
                      </a:r>
                    </a:p>
                  </a:txBody>
                  <a:tcPr marL="9525" marR="9525" marT="9525" marB="0" anchor="ctr">
                    <a:lnL>
                      <a:noFill/>
                    </a:lnL>
                    <a:lnR>
                      <a:noFill/>
                    </a:lnR>
                    <a:lnT w="12700" cap="flat" cmpd="sng" algn="ctr">
                      <a:solidFill>
                        <a:schemeClr val="bg2">
                          <a:lumMod val="10000"/>
                        </a:schemeClr>
                      </a:solidFill>
                      <a:prstDash val="solid"/>
                      <a:round/>
                      <a:headEnd type="none" w="med" len="med"/>
                      <a:tailEnd type="none" w="med" len="med"/>
                    </a:lnT>
                    <a:lnB w="12700" cap="flat" cmpd="sng" algn="ctr">
                      <a:solidFill>
                        <a:srgbClr val="171717"/>
                      </a:solidFill>
                      <a:prstDash val="solid"/>
                      <a:round/>
                      <a:headEnd type="none" w="med" len="med"/>
                      <a:tailEnd type="none" w="med" len="med"/>
                    </a:lnB>
                    <a:solidFill>
                      <a:srgbClr val="FFFFFF"/>
                    </a:solidFill>
                  </a:tcPr>
                </a:tc>
                <a:tc>
                  <a:txBody>
                    <a:bodyPr/>
                    <a:lstStyle/>
                    <a:p>
                      <a:pPr algn="ctr" rtl="0" fontAlgn="ctr"/>
                      <a:r>
                        <a:rPr lang="en-GB" sz="1400" b="1" i="0" u="none" strike="noStrike" dirty="0">
                          <a:solidFill>
                            <a:srgbClr val="171717"/>
                          </a:solidFill>
                          <a:effectLst/>
                          <a:latin typeface="Arial Narrow"/>
                        </a:rPr>
                        <a:t> </a:t>
                      </a:r>
                    </a:p>
                  </a:txBody>
                  <a:tcPr marL="9525" marR="9525" marT="9525" marB="0" anchor="ctr">
                    <a:lnL>
                      <a:noFill/>
                    </a:lnL>
                    <a:lnR>
                      <a:noFill/>
                    </a:lnR>
                    <a:lnT w="12700" cap="flat" cmpd="sng" algn="ctr">
                      <a:solidFill>
                        <a:schemeClr val="bg2">
                          <a:lumMod val="10000"/>
                        </a:schemeClr>
                      </a:solidFill>
                      <a:prstDash val="solid"/>
                      <a:round/>
                      <a:headEnd type="none" w="med" len="med"/>
                      <a:tailEnd type="none" w="med" len="med"/>
                    </a:lnT>
                    <a:lnB w="12700" cap="flat" cmpd="sng" algn="ctr">
                      <a:solidFill>
                        <a:srgbClr val="171717"/>
                      </a:solidFill>
                      <a:prstDash val="solid"/>
                      <a:round/>
                      <a:headEnd type="none" w="med" len="med"/>
                      <a:tailEnd type="none" w="med" len="med"/>
                    </a:lnB>
                    <a:solidFill>
                      <a:srgbClr val="FFFFFF"/>
                    </a:solidFill>
                  </a:tcPr>
                </a:tc>
                <a:tc vMerge="1">
                  <a:txBody>
                    <a:bodyPr/>
                    <a:lstStyle/>
                    <a:p>
                      <a:pPr algn="l" fontAlgn="ctr"/>
                      <a:endParaRPr lang="en-GB" sz="1800" b="0" i="0" u="none" strike="noStrike" dirty="0">
                        <a:solidFill>
                          <a:srgbClr val="000000"/>
                        </a:solidFill>
                        <a:effectLst/>
                        <a:latin typeface="Arial"/>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a:noFill/>
                    </a:lnB>
                  </a:tcPr>
                </a:tc>
              </a:tr>
              <a:tr h="766321">
                <a:tc gridSpan="7">
                  <a:txBody>
                    <a:bodyPr/>
                    <a:lstStyle/>
                    <a:p>
                      <a:pPr algn="l" rtl="0" fontAlgn="ctr"/>
                      <a:r>
                        <a:rPr lang="en-US" sz="1600" b="1" i="0" u="none" strike="noStrike" dirty="0" smtClean="0">
                          <a:solidFill>
                            <a:schemeClr val="bg2">
                              <a:lumMod val="10000"/>
                            </a:schemeClr>
                          </a:solidFill>
                          <a:effectLst/>
                          <a:latin typeface="Calibri"/>
                        </a:rPr>
                        <a:t>Increase the scope and efficiency of active labour market policies</a:t>
                      </a:r>
                    </a:p>
                  </a:txBody>
                  <a:tcPr marL="9525" marR="9525" marT="9525" marB="0" anchor="ctr">
                    <a:lnL>
                      <a:noFill/>
                    </a:lnL>
                    <a:lnR w="12700" cap="flat" cmpd="sng" algn="ctr">
                      <a:solidFill>
                        <a:srgbClr val="171717"/>
                      </a:solidFill>
                      <a:prstDash val="solid"/>
                      <a:round/>
                      <a:headEnd type="none" w="med" len="med"/>
                      <a:tailEnd type="none" w="med" len="med"/>
                    </a:lnR>
                    <a:lnT>
                      <a:noFill/>
                    </a:lnT>
                    <a:lnB>
                      <a:noFill/>
                    </a:lnB>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gridSpan="4">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GB" sz="1400" b="1" kern="1200" dirty="0" smtClean="0">
                          <a:solidFill>
                            <a:schemeClr val="bg2">
                              <a:lumMod val="10000"/>
                            </a:schemeClr>
                          </a:solidFill>
                          <a:latin typeface="Arial Narrow" panose="020B0606020202030204" pitchFamily="34" charset="0"/>
                          <a:ea typeface="+mn-ea"/>
                          <a:cs typeface="+mn-cs"/>
                        </a:rPr>
                        <a:t>ARG ESP EST GBR GRC ISR ITA JPN LTU LUX LVA NLD SVN SVK USA ZAF</a:t>
                      </a:r>
                      <a:endParaRPr kumimoji="0" lang="en-GB" sz="1400" b="1" kern="1200" dirty="0">
                        <a:solidFill>
                          <a:schemeClr val="bg2">
                            <a:lumMod val="10000"/>
                          </a:schemeClr>
                        </a:solidFill>
                        <a:latin typeface="Arial Narrow" panose="020B0606020202030204" pitchFamily="34" charset="0"/>
                        <a:ea typeface="+mn-ea"/>
                        <a:cs typeface="+mn-cs"/>
                      </a:endParaRPr>
                    </a:p>
                  </a:txBody>
                  <a:tcPr marL="9525" marR="9525" marT="9525" marB="0" anchor="ctr">
                    <a:lnL w="12700" cap="flat" cmpd="sng" algn="ctr">
                      <a:solidFill>
                        <a:srgbClr val="171717"/>
                      </a:solidFill>
                      <a:prstDash val="solid"/>
                      <a:round/>
                      <a:headEnd type="none" w="med" len="med"/>
                      <a:tailEnd type="none" w="med" len="med"/>
                    </a:lnL>
                    <a:lnR w="12700" cap="flat" cmpd="sng" algn="ctr">
                      <a:solidFill>
                        <a:srgbClr val="171717"/>
                      </a:solidFill>
                      <a:prstDash val="solid"/>
                      <a:round/>
                      <a:headEnd type="none" w="med" len="med"/>
                      <a:tailEnd type="none" w="med" len="med"/>
                    </a:lnR>
                    <a:lnT w="12700" cap="flat" cmpd="sng" algn="ctr">
                      <a:solidFill>
                        <a:srgbClr val="171717"/>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solidFill>
                      <a:srgbClr val="FFFFFF"/>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ctr"/>
                      <a:endParaRPr lang="en-GB" sz="1800" b="0" i="0" u="none" strike="noStrike" dirty="0">
                        <a:solidFill>
                          <a:srgbClr val="000000"/>
                        </a:solidFill>
                        <a:effectLst/>
                        <a:latin typeface="Arial"/>
                      </a:endParaRPr>
                    </a:p>
                  </a:txBody>
                  <a:tcPr marL="9525" marR="9525" marT="9525" marB="0" anchor="ctr">
                    <a:lnL w="12700" cap="flat" cmpd="sng" algn="ctr">
                      <a:solidFill>
                        <a:srgbClr val="171717"/>
                      </a:solidFill>
                      <a:prstDash val="solid"/>
                      <a:round/>
                      <a:headEnd type="none" w="med" len="med"/>
                      <a:tailEnd type="none" w="med" len="med"/>
                    </a:lnL>
                    <a:lnR>
                      <a:noFill/>
                    </a:lnR>
                    <a:lnT>
                      <a:noFill/>
                    </a:lnT>
                    <a:lnB>
                      <a:noFill/>
                    </a:lnB>
                  </a:tcPr>
                </a:tc>
              </a:tr>
              <a:tr h="395521">
                <a:tc>
                  <a:txBody>
                    <a:bodyPr/>
                    <a:lstStyle/>
                    <a:p>
                      <a:pPr algn="l" fontAlgn="ctr"/>
                      <a:endParaRPr lang="en-GB" sz="1800" b="0" i="0" u="none" strike="noStrike" dirty="0">
                        <a:solidFill>
                          <a:srgbClr val="000000"/>
                        </a:solidFill>
                        <a:effectLst/>
                        <a:latin typeface="Arial"/>
                      </a:endParaRPr>
                    </a:p>
                  </a:txBody>
                  <a:tcPr marL="9525" marR="9525" marT="9525" marB="0" anchor="ctr">
                    <a:lnL>
                      <a:noFill/>
                    </a:lnL>
                    <a:lnR>
                      <a:noFill/>
                    </a:lnR>
                    <a:lnT>
                      <a:noFill/>
                    </a:lnT>
                    <a:lnB>
                      <a:noFill/>
                    </a:lnB>
                  </a:tcPr>
                </a:tc>
                <a:tc>
                  <a:txBody>
                    <a:bodyPr/>
                    <a:lstStyle/>
                    <a:p>
                      <a:pPr algn="l" fontAlgn="ctr"/>
                      <a:endParaRPr lang="en-GB" sz="1800" b="0" i="0" u="none" strike="noStrike" dirty="0">
                        <a:solidFill>
                          <a:srgbClr val="000000"/>
                        </a:solidFill>
                        <a:effectLst/>
                        <a:latin typeface="Arial"/>
                      </a:endParaRPr>
                    </a:p>
                  </a:txBody>
                  <a:tcPr marL="9525" marR="9525" marT="9525" marB="0" anchor="ctr">
                    <a:lnL>
                      <a:noFill/>
                    </a:lnL>
                    <a:lnR>
                      <a:noFill/>
                    </a:lnR>
                    <a:lnT>
                      <a:noFill/>
                    </a:lnT>
                    <a:lnB>
                      <a:noFill/>
                    </a:lnB>
                  </a:tcPr>
                </a:tc>
                <a:tc>
                  <a:txBody>
                    <a:bodyPr/>
                    <a:lstStyle/>
                    <a:p>
                      <a:pPr algn="l" fontAlgn="ctr"/>
                      <a:endParaRPr lang="en-GB" sz="1800" b="0" i="0" u="none" strike="noStrike" dirty="0">
                        <a:solidFill>
                          <a:srgbClr val="000000"/>
                        </a:solidFill>
                        <a:effectLst/>
                        <a:latin typeface="Arial"/>
                      </a:endParaRPr>
                    </a:p>
                  </a:txBody>
                  <a:tcPr marL="9525" marR="9525" marT="9525" marB="0" anchor="ctr">
                    <a:lnL>
                      <a:noFill/>
                    </a:lnL>
                    <a:lnR>
                      <a:noFill/>
                    </a:lnR>
                    <a:lnT>
                      <a:noFill/>
                    </a:lnT>
                    <a:lnB>
                      <a:noFill/>
                    </a:lnB>
                  </a:tcPr>
                </a:tc>
                <a:tc>
                  <a:txBody>
                    <a:bodyPr/>
                    <a:lstStyle/>
                    <a:p>
                      <a:pPr algn="l" fontAlgn="ctr"/>
                      <a:endParaRPr lang="en-GB" sz="1800" b="0" i="0" u="none" strike="noStrike" dirty="0">
                        <a:solidFill>
                          <a:srgbClr val="000000"/>
                        </a:solidFill>
                        <a:effectLst/>
                        <a:latin typeface="Arial"/>
                      </a:endParaRPr>
                    </a:p>
                  </a:txBody>
                  <a:tcPr marL="9525" marR="9525" marT="9525" marB="0" anchor="ctr">
                    <a:lnL>
                      <a:noFill/>
                    </a:lnL>
                    <a:lnR>
                      <a:noFill/>
                    </a:lnR>
                    <a:lnT>
                      <a:noFill/>
                    </a:lnT>
                    <a:lnB>
                      <a:noFill/>
                    </a:lnB>
                  </a:tcPr>
                </a:tc>
                <a:tc>
                  <a:txBody>
                    <a:bodyPr/>
                    <a:lstStyle/>
                    <a:p>
                      <a:pPr algn="l" fontAlgn="ctr"/>
                      <a:endParaRPr lang="en-GB" sz="1800" b="0" i="0" u="none" strike="noStrike" dirty="0">
                        <a:solidFill>
                          <a:srgbClr val="000000"/>
                        </a:solidFill>
                        <a:effectLst/>
                        <a:latin typeface="Arial"/>
                      </a:endParaRPr>
                    </a:p>
                  </a:txBody>
                  <a:tcPr marL="9525" marR="9525" marT="9525" marB="0" anchor="ctr">
                    <a:lnL>
                      <a:noFill/>
                    </a:lnL>
                    <a:lnR>
                      <a:noFill/>
                    </a:lnR>
                    <a:lnT>
                      <a:noFill/>
                    </a:lnT>
                    <a:lnB>
                      <a:noFill/>
                    </a:lnB>
                  </a:tcPr>
                </a:tc>
                <a:tc>
                  <a:txBody>
                    <a:bodyPr/>
                    <a:lstStyle/>
                    <a:p>
                      <a:pPr algn="l" fontAlgn="ctr"/>
                      <a:endParaRPr lang="en-GB" sz="1800" b="0" i="0" u="none" strike="noStrike" dirty="0">
                        <a:solidFill>
                          <a:srgbClr val="000000"/>
                        </a:solidFill>
                        <a:effectLst/>
                        <a:latin typeface="Arial"/>
                      </a:endParaRPr>
                    </a:p>
                  </a:txBody>
                  <a:tcPr marL="9525" marR="9525" marT="9525" marB="0" anchor="ctr">
                    <a:lnL>
                      <a:noFill/>
                    </a:lnL>
                    <a:lnR>
                      <a:noFill/>
                    </a:lnR>
                    <a:lnT>
                      <a:noFill/>
                    </a:lnT>
                    <a:lnB>
                      <a:noFill/>
                    </a:lnB>
                  </a:tcPr>
                </a:tc>
                <a:tc>
                  <a:txBody>
                    <a:bodyPr/>
                    <a:lstStyle/>
                    <a:p>
                      <a:pPr algn="ctr" rtl="0" fontAlgn="ctr"/>
                      <a:endParaRPr lang="en-GB" sz="1400" b="0" i="0" u="none" strike="noStrike" dirty="0">
                        <a:solidFill>
                          <a:srgbClr val="171717"/>
                        </a:solidFill>
                        <a:effectLst/>
                        <a:latin typeface="Calibri"/>
                      </a:endParaRPr>
                    </a:p>
                  </a:txBody>
                  <a:tcPr marL="9525" marR="9525" marT="9525" marB="0" anchor="ctr">
                    <a:lnL>
                      <a:noFill/>
                    </a:lnL>
                    <a:lnR>
                      <a:noFill/>
                    </a:lnR>
                    <a:lnT>
                      <a:noFill/>
                    </a:lnT>
                    <a:lnB>
                      <a:noFill/>
                    </a:lnB>
                  </a:tcPr>
                </a:tc>
                <a:tc>
                  <a:txBody>
                    <a:bodyPr/>
                    <a:lstStyle/>
                    <a:p>
                      <a:pPr algn="ctr" fontAlgn="ctr"/>
                      <a:r>
                        <a:rPr lang="en-GB" sz="1800" b="0" i="0" u="none" strike="noStrike" dirty="0">
                          <a:solidFill>
                            <a:srgbClr val="000000"/>
                          </a:solidFill>
                          <a:effectLst/>
                          <a:latin typeface="Arial"/>
                        </a:rPr>
                        <a:t> </a:t>
                      </a:r>
                    </a:p>
                  </a:txBody>
                  <a:tcPr marL="9525" marR="9525" marT="9525" marB="0" anchor="ctr">
                    <a:lnL>
                      <a:noFill/>
                    </a:lnL>
                    <a:lnR>
                      <a:noFill/>
                    </a:lnR>
                    <a:lnT w="12700" cap="flat" cmpd="sng" algn="ctr">
                      <a:solidFill>
                        <a:schemeClr val="bg2">
                          <a:lumMod val="10000"/>
                        </a:schemeClr>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GB" sz="1800" b="0" i="0" u="none" strike="noStrike" dirty="0">
                          <a:solidFill>
                            <a:srgbClr val="000000"/>
                          </a:solidFill>
                          <a:effectLst/>
                          <a:latin typeface="Arial"/>
                        </a:rPr>
                        <a:t> </a:t>
                      </a:r>
                    </a:p>
                  </a:txBody>
                  <a:tcPr marL="9525" marR="9525" marT="9525" marB="0" anchor="ctr">
                    <a:lnL>
                      <a:noFill/>
                    </a:lnL>
                    <a:lnR>
                      <a:noFill/>
                    </a:lnR>
                    <a:lnT w="12700" cap="flat" cmpd="sng" algn="ctr">
                      <a:solidFill>
                        <a:schemeClr val="bg2">
                          <a:lumMod val="10000"/>
                        </a:schemeClr>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GB" sz="1800" b="0" i="0" u="none" strike="noStrike" dirty="0">
                          <a:solidFill>
                            <a:srgbClr val="000000"/>
                          </a:solidFill>
                          <a:effectLst/>
                          <a:latin typeface="Arial"/>
                        </a:rPr>
                        <a:t> </a:t>
                      </a:r>
                    </a:p>
                  </a:txBody>
                  <a:tcPr marL="9525" marR="9525" marT="9525" marB="0" anchor="ctr">
                    <a:lnL>
                      <a:noFill/>
                    </a:lnL>
                    <a:lnR>
                      <a:noFill/>
                    </a:lnR>
                    <a:lnT w="12700" cap="flat" cmpd="sng" algn="ctr">
                      <a:solidFill>
                        <a:schemeClr val="bg2">
                          <a:lumMod val="10000"/>
                        </a:schemeClr>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GB" sz="1800" b="0" i="0" u="none" strike="noStrike" dirty="0">
                          <a:solidFill>
                            <a:srgbClr val="000000"/>
                          </a:solidFill>
                          <a:effectLst/>
                          <a:latin typeface="Arial"/>
                        </a:rPr>
                        <a:t> </a:t>
                      </a:r>
                    </a:p>
                  </a:txBody>
                  <a:tcPr marL="9525" marR="9525" marT="9525" marB="0" anchor="ctr">
                    <a:lnL>
                      <a:noFill/>
                    </a:lnL>
                    <a:lnR>
                      <a:noFill/>
                    </a:lnR>
                    <a:lnT w="12700" cap="flat" cmpd="sng" algn="ctr">
                      <a:solidFill>
                        <a:schemeClr val="bg2">
                          <a:lumMod val="10000"/>
                        </a:schemeClr>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GB" sz="1800" b="0" i="0" u="none" strike="noStrike" dirty="0">
                        <a:solidFill>
                          <a:srgbClr val="000000"/>
                        </a:solidFill>
                        <a:effectLst/>
                        <a:latin typeface="Arial"/>
                      </a:endParaRPr>
                    </a:p>
                  </a:txBody>
                  <a:tcPr marL="9525" marR="9525" marT="9525" marB="0" anchor="ctr">
                    <a:lnL>
                      <a:noFill/>
                    </a:lnL>
                    <a:lnR>
                      <a:noFill/>
                    </a:lnR>
                    <a:lnT>
                      <a:noFill/>
                    </a:lnT>
                    <a:lnB>
                      <a:noFill/>
                    </a:lnB>
                  </a:tcPr>
                </a:tc>
              </a:tr>
              <a:tr h="645193">
                <a:tc gridSpan="7">
                  <a:txBody>
                    <a:bodyPr/>
                    <a:lstStyle/>
                    <a:p>
                      <a:pPr algn="l" rtl="0" fontAlgn="ctr"/>
                      <a:r>
                        <a:rPr lang="en-US" sz="1600" b="1" i="0" u="none" strike="noStrike" dirty="0" smtClean="0">
                          <a:solidFill>
                            <a:schemeClr val="bg2">
                              <a:lumMod val="10000"/>
                            </a:schemeClr>
                          </a:solidFill>
                          <a:effectLst/>
                          <a:latin typeface="Calibri"/>
                        </a:rPr>
                        <a:t>Boost job creation by reducing the tax wedge on </a:t>
                      </a:r>
                      <a:br>
                        <a:rPr lang="en-US" sz="1600" b="1" i="0" u="none" strike="noStrike" dirty="0" smtClean="0">
                          <a:solidFill>
                            <a:schemeClr val="bg2">
                              <a:lumMod val="10000"/>
                            </a:schemeClr>
                          </a:solidFill>
                          <a:effectLst/>
                          <a:latin typeface="Calibri"/>
                        </a:rPr>
                      </a:br>
                      <a:r>
                        <a:rPr lang="en-US" sz="1600" b="1" i="0" u="none" strike="noStrike" dirty="0" smtClean="0">
                          <a:solidFill>
                            <a:schemeClr val="bg2">
                              <a:lumMod val="10000"/>
                            </a:schemeClr>
                          </a:solidFill>
                          <a:effectLst/>
                          <a:latin typeface="Calibri"/>
                        </a:rPr>
                        <a:t>low-skilled workers </a:t>
                      </a:r>
                    </a:p>
                  </a:txBody>
                  <a:tcPr marL="9525" marR="9525" marT="9525" marB="0" anchor="ctr">
                    <a:lnL>
                      <a:noFill/>
                    </a:lnL>
                    <a:lnR w="12700" cap="flat" cmpd="sng" algn="ctr">
                      <a:solidFill>
                        <a:schemeClr val="bg2">
                          <a:lumMod val="10000"/>
                        </a:schemeClr>
                      </a:solidFill>
                      <a:prstDash val="solid"/>
                      <a:round/>
                      <a:headEnd type="none" w="med" len="med"/>
                      <a:tailEnd type="none" w="med" len="med"/>
                    </a:lnR>
                    <a:lnT>
                      <a:noFill/>
                    </a:lnT>
                    <a:lnB>
                      <a:noFill/>
                    </a:lnB>
                  </a:tcPr>
                </a:tc>
                <a:tc hMerge="1">
                  <a:txBody>
                    <a:bodyPr/>
                    <a:lstStyle/>
                    <a:p>
                      <a:endParaRPr lang="en-GB"/>
                    </a:p>
                  </a:txBody>
                  <a:tcPr>
                    <a:lnL>
                      <a:noFill/>
                    </a:lnL>
                    <a:lnR>
                      <a:noFill/>
                    </a:lnR>
                    <a:lnT>
                      <a:noFill/>
                    </a:lnT>
                    <a:lnB>
                      <a:noFill/>
                    </a:lnB>
                  </a:tcPr>
                </a:tc>
                <a:tc hMerge="1">
                  <a:txBody>
                    <a:bodyPr/>
                    <a:lstStyle/>
                    <a:p>
                      <a:endParaRPr lang="en-GB"/>
                    </a:p>
                  </a:txBody>
                  <a:tcPr>
                    <a:lnL>
                      <a:noFill/>
                    </a:lnL>
                    <a:lnR>
                      <a:noFill/>
                    </a:lnR>
                    <a:lnT>
                      <a:noFill/>
                    </a:lnT>
                    <a:lnB>
                      <a:noFill/>
                    </a:lnB>
                  </a:tcPr>
                </a:tc>
                <a:tc hMerge="1">
                  <a:txBody>
                    <a:bodyPr/>
                    <a:lstStyle/>
                    <a:p>
                      <a:endParaRPr lang="en-GB"/>
                    </a:p>
                  </a:txBody>
                  <a:tcPr>
                    <a:lnL>
                      <a:noFill/>
                    </a:lnL>
                    <a:lnR>
                      <a:noFill/>
                    </a:lnR>
                    <a:lnT>
                      <a:noFill/>
                    </a:lnT>
                    <a:lnB>
                      <a:noFill/>
                    </a:lnB>
                  </a:tcPr>
                </a:tc>
                <a:tc hMerge="1">
                  <a:txBody>
                    <a:bodyPr/>
                    <a:lstStyle/>
                    <a:p>
                      <a:endParaRPr lang="en-GB"/>
                    </a:p>
                  </a:txBody>
                  <a:tcPr>
                    <a:lnL>
                      <a:noFill/>
                    </a:lnL>
                    <a:lnR>
                      <a:noFill/>
                    </a:lnR>
                    <a:lnT>
                      <a:noFill/>
                    </a:lnT>
                    <a:lnB>
                      <a:noFill/>
                    </a:lnB>
                  </a:tcPr>
                </a:tc>
                <a:tc hMerge="1">
                  <a:txBody>
                    <a:bodyPr/>
                    <a:lstStyle/>
                    <a:p>
                      <a:endParaRPr lang="en-GB"/>
                    </a:p>
                  </a:txBody>
                  <a:tcPr>
                    <a:lnL>
                      <a:noFill/>
                    </a:lnL>
                    <a:lnR>
                      <a:noFill/>
                    </a:lnR>
                    <a:lnT>
                      <a:noFill/>
                    </a:lnT>
                    <a:lnB>
                      <a:noFill/>
                    </a:lnB>
                  </a:tcPr>
                </a:tc>
                <a:tc hMerge="1">
                  <a:txBody>
                    <a:bodyPr/>
                    <a:lstStyle/>
                    <a:p>
                      <a:endParaRPr lang="en-GB"/>
                    </a:p>
                  </a:txBody>
                  <a:tcPr>
                    <a:lnL>
                      <a:noFill/>
                    </a:lnL>
                    <a:lnR>
                      <a:noFill/>
                    </a:lnR>
                    <a:lnT>
                      <a:noFill/>
                    </a:lnT>
                    <a:lnB>
                      <a:noFill/>
                    </a:lnB>
                  </a:tcPr>
                </a:tc>
                <a:tc gridSpan="4">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kumimoji="0" lang="en-GB" sz="1400" b="1" kern="1200" dirty="0" smtClean="0">
                          <a:solidFill>
                            <a:schemeClr val="bg2">
                              <a:lumMod val="10000"/>
                            </a:schemeClr>
                          </a:solidFill>
                          <a:latin typeface="Arial Narrow" panose="020B0606020202030204" pitchFamily="34" charset="0"/>
                          <a:ea typeface="+mn-ea"/>
                          <a:cs typeface="+mn-cs"/>
                        </a:rPr>
                        <a:t>BEL DEU ESP EST HUN </a:t>
                      </a:r>
                      <a:br>
                        <a:rPr kumimoji="0" lang="en-GB" sz="1400" b="1" kern="1200" dirty="0" smtClean="0">
                          <a:solidFill>
                            <a:schemeClr val="bg2">
                              <a:lumMod val="10000"/>
                            </a:schemeClr>
                          </a:solidFill>
                          <a:latin typeface="Arial Narrow" panose="020B0606020202030204" pitchFamily="34" charset="0"/>
                          <a:ea typeface="+mn-ea"/>
                          <a:cs typeface="+mn-cs"/>
                        </a:rPr>
                      </a:br>
                      <a:r>
                        <a:rPr kumimoji="0" lang="en-GB" sz="1400" b="1" kern="1200" dirty="0" smtClean="0">
                          <a:solidFill>
                            <a:schemeClr val="bg2">
                              <a:lumMod val="10000"/>
                            </a:schemeClr>
                          </a:solidFill>
                          <a:latin typeface="Arial Narrow" panose="020B0606020202030204" pitchFamily="34" charset="0"/>
                          <a:ea typeface="+mn-ea"/>
                          <a:cs typeface="+mn-cs"/>
                        </a:rPr>
                        <a:t>ITA LVA NLD POL TUR</a:t>
                      </a:r>
                      <a:endParaRPr kumimoji="0" lang="en-GB" sz="1400" b="1" kern="1200" dirty="0">
                        <a:solidFill>
                          <a:schemeClr val="bg2">
                            <a:lumMod val="10000"/>
                          </a:schemeClr>
                        </a:solidFill>
                        <a:latin typeface="Arial Narrow" panose="020B0606020202030204" pitchFamily="34" charset="0"/>
                        <a:ea typeface="+mn-ea"/>
                        <a:cs typeface="+mn-cs"/>
                      </a:endParaRPr>
                    </a:p>
                  </a:txBody>
                  <a:tcPr marL="9525" marR="9525" marT="9525" marB="0" anchor="ctr">
                    <a:lnL w="12700" cap="flat" cmpd="sng" algn="ctr">
                      <a:solidFill>
                        <a:schemeClr val="bg2">
                          <a:lumMod val="10000"/>
                        </a:schemeClr>
                      </a:solidFill>
                      <a:prstDash val="solid"/>
                      <a:round/>
                      <a:headEnd type="none" w="med" len="med"/>
                      <a:tailEnd type="none" w="med" len="med"/>
                    </a:lnL>
                    <a:lnR w="12700" cap="flat" cmpd="sng" algn="ctr">
                      <a:solidFill>
                        <a:schemeClr val="bg2">
                          <a:lumMod val="10000"/>
                        </a:schemeClr>
                      </a:solidFill>
                      <a:prstDash val="solid"/>
                      <a:round/>
                      <a:headEnd type="none" w="med" len="med"/>
                      <a:tailEnd type="none" w="med" len="med"/>
                    </a:lnR>
                    <a:lnT w="12700" cap="flat" cmpd="sng" algn="ctr">
                      <a:solidFill>
                        <a:schemeClr val="bg2">
                          <a:lumMod val="10000"/>
                        </a:schemeClr>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GB"/>
                    </a:p>
                  </a:txBody>
                  <a:tcP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GB"/>
                    </a:p>
                  </a:txBody>
                  <a:tcP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GB"/>
                    </a:p>
                  </a:txBody>
                  <a:tcP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endParaRPr lang="en-GB" sz="1800" b="0" i="0" u="none" strike="noStrike" dirty="0">
                        <a:solidFill>
                          <a:srgbClr val="000000"/>
                        </a:solidFill>
                        <a:effectLst/>
                        <a:latin typeface="Arial"/>
                      </a:endParaRPr>
                    </a:p>
                  </a:txBody>
                  <a:tcPr marL="9525" marR="9525" marT="9525" marB="0" anchor="ctr">
                    <a:lnL w="12700" cap="flat" cmpd="sng" algn="ctr">
                      <a:solidFill>
                        <a:schemeClr val="bg2">
                          <a:lumMod val="10000"/>
                        </a:schemeClr>
                      </a:solidFill>
                      <a:prstDash val="solid"/>
                      <a:round/>
                      <a:headEnd type="none" w="med" len="med"/>
                      <a:tailEnd type="none" w="med" len="med"/>
                    </a:lnL>
                    <a:lnR>
                      <a:noFill/>
                    </a:lnR>
                    <a:lnT>
                      <a:noFill/>
                    </a:lnT>
                    <a:lnB>
                      <a:noFill/>
                    </a:lnB>
                  </a:tcPr>
                </a:tc>
              </a:tr>
              <a:tr h="395521">
                <a:tc gridSpan="6">
                  <a:txBody>
                    <a:bodyPr/>
                    <a:lstStyle/>
                    <a:p>
                      <a:pPr algn="l" fontAlgn="ctr"/>
                      <a:endParaRPr lang="en-GB" sz="18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gridSpan="6">
                  <a:txBody>
                    <a:bodyPr/>
                    <a:lstStyle/>
                    <a:p>
                      <a:pPr algn="ctr" rtl="0" fontAlgn="ctr"/>
                      <a:endParaRPr lang="en-GB" sz="1400" b="0" i="0" u="none" strike="noStrike" dirty="0">
                        <a:solidFill>
                          <a:srgbClr val="171717"/>
                        </a:solidFill>
                        <a:effectLst/>
                        <a:latin typeface="Calibri"/>
                      </a:endParaRPr>
                    </a:p>
                  </a:txBody>
                  <a:tcPr marL="9525" marR="9525" marT="9525" marB="0" anchor="ctr">
                    <a:lnL>
                      <a:noFill/>
                    </a:lnL>
                    <a:lnR>
                      <a:noFill/>
                    </a:lnR>
                    <a:lnT>
                      <a:noFill/>
                    </a:lnT>
                    <a:lnB>
                      <a:noFill/>
                    </a:lnB>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r>
              <a:tr h="395521">
                <a:tc gridSpan="6">
                  <a:txBody>
                    <a:bodyPr/>
                    <a:lstStyle/>
                    <a:p>
                      <a:pPr algn="l" fontAlgn="ctr"/>
                      <a:r>
                        <a:rPr kumimoji="0" lang="en-GB" b="1" kern="1200" dirty="0" smtClean="0">
                          <a:solidFill>
                            <a:srgbClr val="17B917"/>
                          </a:solidFill>
                          <a:latin typeface="Calibri" panose="020F0502020204030204" pitchFamily="34" charset="0"/>
                          <a:ea typeface="+mn-ea"/>
                          <a:cs typeface="+mn-cs"/>
                        </a:rPr>
                        <a:t>Better prepare</a:t>
                      </a:r>
                      <a:r>
                        <a:rPr kumimoji="0" lang="en-GB" b="1" kern="1200" baseline="0" dirty="0" smtClean="0">
                          <a:solidFill>
                            <a:srgbClr val="17B917"/>
                          </a:solidFill>
                          <a:latin typeface="Calibri" panose="020F0502020204030204" pitchFamily="34" charset="0"/>
                          <a:ea typeface="+mn-ea"/>
                          <a:cs typeface="+mn-cs"/>
                        </a:rPr>
                        <a:t> people</a:t>
                      </a:r>
                      <a:r>
                        <a:rPr kumimoji="0" lang="en-GB" b="1" kern="1200" dirty="0" smtClean="0">
                          <a:solidFill>
                            <a:srgbClr val="17B917"/>
                          </a:solidFill>
                          <a:latin typeface="Calibri" panose="020F0502020204030204" pitchFamily="34" charset="0"/>
                          <a:ea typeface="+mn-ea"/>
                          <a:cs typeface="+mn-cs"/>
                        </a:rPr>
                        <a:t> for work</a:t>
                      </a:r>
                      <a:endParaRPr lang="en-GB" sz="18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c hMerge="1">
                  <a:txBody>
                    <a:bodyPr/>
                    <a:lstStyle/>
                    <a:p>
                      <a:endParaRPr lang="en-GB"/>
                    </a:p>
                  </a:txBody>
                  <a:tcPr>
                    <a:lnL>
                      <a:noFill/>
                    </a:lnL>
                    <a:lnR>
                      <a:noFill/>
                    </a:lnR>
                    <a:lnT>
                      <a:noFill/>
                    </a:lnT>
                    <a:lnB>
                      <a:noFill/>
                    </a:lnB>
                  </a:tcPr>
                </a:tc>
                <a:tc hMerge="1">
                  <a:txBody>
                    <a:bodyPr/>
                    <a:lstStyle/>
                    <a:p>
                      <a:endParaRPr lang="en-GB"/>
                    </a:p>
                  </a:txBody>
                  <a:tcPr>
                    <a:lnL>
                      <a:noFill/>
                    </a:lnL>
                    <a:lnR>
                      <a:noFill/>
                    </a:lnR>
                    <a:lnT>
                      <a:noFill/>
                    </a:lnT>
                    <a:lnB>
                      <a:noFill/>
                    </a:lnB>
                  </a:tcPr>
                </a:tc>
                <a:tc hMerge="1">
                  <a:txBody>
                    <a:bodyPr/>
                    <a:lstStyle/>
                    <a:p>
                      <a:endParaRPr lang="en-GB"/>
                    </a:p>
                  </a:txBody>
                  <a:tcPr>
                    <a:lnL>
                      <a:noFill/>
                    </a:lnL>
                    <a:lnR>
                      <a:noFill/>
                    </a:lnR>
                    <a:lnT>
                      <a:noFill/>
                    </a:lnT>
                    <a:lnB>
                      <a:noFill/>
                    </a:lnB>
                  </a:tcPr>
                </a:tc>
                <a:tc hMerge="1">
                  <a:txBody>
                    <a:bodyPr/>
                    <a:lstStyle/>
                    <a:p>
                      <a:endParaRPr lang="en-GB"/>
                    </a:p>
                  </a:txBody>
                  <a:tcPr>
                    <a:lnL>
                      <a:noFill/>
                    </a:lnL>
                    <a:lnR>
                      <a:noFill/>
                    </a:lnR>
                    <a:lnT>
                      <a:noFill/>
                    </a:lnT>
                    <a:lnB>
                      <a:noFill/>
                    </a:lnB>
                  </a:tcPr>
                </a:tc>
                <a:tc hMerge="1">
                  <a:txBody>
                    <a:bodyPr/>
                    <a:lstStyle/>
                    <a:p>
                      <a:endParaRPr lang="en-GB"/>
                    </a:p>
                  </a:txBody>
                  <a:tcPr>
                    <a:lnL>
                      <a:noFill/>
                    </a:lnL>
                    <a:lnR>
                      <a:noFill/>
                    </a:lnR>
                    <a:lnT>
                      <a:noFill/>
                    </a:lnT>
                    <a:lnB>
                      <a:noFill/>
                    </a:lnB>
                  </a:tcPr>
                </a:tc>
                <a:tc gridSpan="6">
                  <a:txBody>
                    <a:bodyPr/>
                    <a:lstStyle/>
                    <a:p>
                      <a:pPr algn="ctr" rtl="0" fontAlgn="ctr"/>
                      <a:endParaRPr lang="en-GB" sz="1400" b="0" i="0" u="none" strike="noStrike" dirty="0">
                        <a:solidFill>
                          <a:srgbClr val="171717"/>
                        </a:solidFill>
                        <a:effectLst/>
                        <a:latin typeface="Calibri"/>
                      </a:endParaRPr>
                    </a:p>
                  </a:txBody>
                  <a:tcPr marL="9525" marR="9525" marT="9525" marB="0" anchor="ctr">
                    <a:lnL>
                      <a:noFill/>
                    </a:lnL>
                    <a:lnR>
                      <a:noFill/>
                    </a:lnR>
                    <a:lnT>
                      <a:noFill/>
                    </a:lnT>
                    <a:lnB>
                      <a:noFill/>
                    </a:lnB>
                  </a:tcPr>
                </a:tc>
                <a:tc hMerge="1">
                  <a:txBody>
                    <a:bodyPr/>
                    <a:lstStyle/>
                    <a:p>
                      <a:endParaRPr lang="en-GB"/>
                    </a:p>
                  </a:txBody>
                  <a:tcPr>
                    <a:lnL>
                      <a:noFill/>
                    </a:lnL>
                    <a:lnR>
                      <a:noFill/>
                    </a:lnR>
                    <a:lnT w="12700" cap="flat" cmpd="sng" algn="ctr">
                      <a:solidFill>
                        <a:schemeClr val="bg2">
                          <a:lumMod val="10000"/>
                        </a:schemeClr>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GB"/>
                    </a:p>
                  </a:txBody>
                  <a:tcPr>
                    <a:lnL>
                      <a:noFill/>
                    </a:lnL>
                    <a:lnR>
                      <a:noFill/>
                    </a:lnR>
                    <a:lnT w="12700" cap="flat" cmpd="sng" algn="ctr">
                      <a:solidFill>
                        <a:schemeClr val="bg2">
                          <a:lumMod val="10000"/>
                        </a:schemeClr>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GB"/>
                    </a:p>
                  </a:txBody>
                  <a:tcPr>
                    <a:lnL>
                      <a:noFill/>
                    </a:lnL>
                    <a:lnR>
                      <a:noFill/>
                    </a:lnR>
                    <a:lnT w="12700" cap="flat" cmpd="sng" algn="ctr">
                      <a:solidFill>
                        <a:schemeClr val="bg2">
                          <a:lumMod val="10000"/>
                        </a:schemeClr>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GB"/>
                    </a:p>
                  </a:txBody>
                  <a:tcPr>
                    <a:lnL>
                      <a:noFill/>
                    </a:lnL>
                    <a:lnR>
                      <a:noFill/>
                    </a:lnR>
                    <a:lnT w="12700" cap="flat" cmpd="sng" algn="ctr">
                      <a:solidFill>
                        <a:schemeClr val="bg2">
                          <a:lumMod val="10000"/>
                        </a:schemeClr>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GB"/>
                    </a:p>
                  </a:txBody>
                  <a:tcPr>
                    <a:lnL>
                      <a:noFill/>
                    </a:lnL>
                    <a:lnR>
                      <a:noFill/>
                    </a:lnR>
                    <a:lnT>
                      <a:noFill/>
                    </a:lnT>
                    <a:lnB>
                      <a:noFill/>
                    </a:lnB>
                  </a:tcPr>
                </a:tc>
              </a:tr>
              <a:tr h="645193">
                <a:tc gridSpan="7">
                  <a:txBody>
                    <a:bodyPr/>
                    <a:lstStyle/>
                    <a:p>
                      <a:pPr algn="l" rtl="0" fontAlgn="ctr"/>
                      <a:r>
                        <a:rPr lang="en-US" sz="1600" b="1" i="0" u="none" strike="noStrike" dirty="0" smtClean="0">
                          <a:solidFill>
                            <a:srgbClr val="171717"/>
                          </a:solidFill>
                          <a:effectLst/>
                          <a:latin typeface="Calibri"/>
                        </a:rPr>
                        <a:t>Expand and improve vocational training </a:t>
                      </a:r>
                      <a:br>
                        <a:rPr lang="en-US" sz="1600" b="1" i="0" u="none" strike="noStrike" dirty="0" smtClean="0">
                          <a:solidFill>
                            <a:srgbClr val="171717"/>
                          </a:solidFill>
                          <a:effectLst/>
                          <a:latin typeface="Calibri"/>
                        </a:rPr>
                      </a:br>
                      <a:r>
                        <a:rPr lang="en-US" sz="1600" b="1" i="0" u="none" strike="noStrike" dirty="0" smtClean="0">
                          <a:solidFill>
                            <a:srgbClr val="171717"/>
                          </a:solidFill>
                          <a:effectLst/>
                          <a:latin typeface="Calibri"/>
                        </a:rPr>
                        <a:t>and education</a:t>
                      </a:r>
                      <a:endParaRPr lang="en-US" sz="1600" b="1" i="0" u="none" strike="noStrike" dirty="0">
                        <a:solidFill>
                          <a:srgbClr val="171717"/>
                        </a:solidFill>
                        <a:effectLst/>
                        <a:latin typeface="Calibri"/>
                      </a:endParaRPr>
                    </a:p>
                  </a:txBody>
                  <a:tcPr marL="9525" marR="9525" marT="9525" marB="0" anchor="ctr">
                    <a:lnL>
                      <a:noFill/>
                    </a:lnL>
                    <a:lnR w="12700" cap="flat" cmpd="sng" algn="ctr">
                      <a:solidFill>
                        <a:schemeClr val="bg2">
                          <a:lumMod val="10000"/>
                        </a:schemeClr>
                      </a:solidFill>
                      <a:prstDash val="solid"/>
                      <a:round/>
                      <a:headEnd type="none" w="med" len="med"/>
                      <a:tailEnd type="none" w="med" len="med"/>
                    </a:lnR>
                    <a:lnT>
                      <a:noFill/>
                    </a:lnT>
                    <a:lnB>
                      <a:noFill/>
                    </a:lnB>
                  </a:tcPr>
                </a:tc>
                <a:tc hMerge="1">
                  <a:txBody>
                    <a:bodyPr/>
                    <a:lstStyle/>
                    <a:p>
                      <a:endParaRPr lang="en-GB"/>
                    </a:p>
                  </a:txBody>
                  <a:tcPr>
                    <a:lnL>
                      <a:noFill/>
                    </a:lnL>
                    <a:lnR>
                      <a:noFill/>
                    </a:lnR>
                    <a:lnT>
                      <a:noFill/>
                    </a:lnT>
                    <a:lnB>
                      <a:noFill/>
                    </a:lnB>
                  </a:tcPr>
                </a:tc>
                <a:tc hMerge="1">
                  <a:txBody>
                    <a:bodyPr/>
                    <a:lstStyle/>
                    <a:p>
                      <a:endParaRPr lang="en-GB"/>
                    </a:p>
                  </a:txBody>
                  <a:tcPr>
                    <a:lnL>
                      <a:noFill/>
                    </a:lnL>
                    <a:lnR>
                      <a:noFill/>
                    </a:lnR>
                    <a:lnT>
                      <a:noFill/>
                    </a:lnT>
                    <a:lnB>
                      <a:noFill/>
                    </a:lnB>
                  </a:tcPr>
                </a:tc>
                <a:tc hMerge="1">
                  <a:txBody>
                    <a:bodyPr/>
                    <a:lstStyle/>
                    <a:p>
                      <a:endParaRPr lang="en-GB"/>
                    </a:p>
                  </a:txBody>
                  <a:tcPr>
                    <a:lnL>
                      <a:noFill/>
                    </a:lnL>
                    <a:lnR>
                      <a:noFill/>
                    </a:lnR>
                    <a:lnT>
                      <a:noFill/>
                    </a:lnT>
                    <a:lnB>
                      <a:noFill/>
                    </a:lnB>
                  </a:tcPr>
                </a:tc>
                <a:tc hMerge="1">
                  <a:txBody>
                    <a:bodyPr/>
                    <a:lstStyle/>
                    <a:p>
                      <a:endParaRPr lang="en-GB"/>
                    </a:p>
                  </a:txBody>
                  <a:tcPr>
                    <a:lnL>
                      <a:noFill/>
                    </a:lnL>
                    <a:lnR>
                      <a:noFill/>
                    </a:lnR>
                    <a:lnT>
                      <a:noFill/>
                    </a:lnT>
                    <a:lnB>
                      <a:noFill/>
                    </a:lnB>
                  </a:tcPr>
                </a:tc>
                <a:tc hMerge="1">
                  <a:txBody>
                    <a:bodyPr/>
                    <a:lstStyle/>
                    <a:p>
                      <a:endParaRPr lang="en-GB"/>
                    </a:p>
                  </a:txBody>
                  <a:tcPr>
                    <a:lnL>
                      <a:noFill/>
                    </a:lnL>
                    <a:lnR>
                      <a:noFill/>
                    </a:lnR>
                    <a:lnT>
                      <a:noFill/>
                    </a:lnT>
                    <a:lnB>
                      <a:noFill/>
                    </a:lnB>
                  </a:tcPr>
                </a:tc>
                <a:tc hMerge="1">
                  <a:txBody>
                    <a:bodyPr/>
                    <a:lstStyle/>
                    <a:p>
                      <a:endParaRPr lang="en-GB"/>
                    </a:p>
                  </a:txBody>
                  <a:tcPr>
                    <a:lnL>
                      <a:noFill/>
                    </a:lnL>
                    <a:lnR>
                      <a:noFill/>
                    </a:lnR>
                    <a:lnT>
                      <a:noFill/>
                    </a:lnT>
                    <a:lnB>
                      <a:noFill/>
                    </a:lnB>
                  </a:tcPr>
                </a:tc>
                <a:tc gridSpan="4">
                  <a:txBody>
                    <a:bodyPr/>
                    <a:lstStyle/>
                    <a:p>
                      <a:pPr algn="ctr" rtl="0" fontAlgn="ctr"/>
                      <a:r>
                        <a:rPr lang="en-GB" sz="1400" b="1" i="0" u="none" strike="noStrike" dirty="0" smtClean="0">
                          <a:solidFill>
                            <a:srgbClr val="171717"/>
                          </a:solidFill>
                          <a:effectLst/>
                          <a:latin typeface="Arial Narrow"/>
                        </a:rPr>
                        <a:t>ARG BRA CHN DNK ESP EST FRA GBR GRC IND POL PRT TUR ZAF</a:t>
                      </a:r>
                      <a:endParaRPr lang="en-GB" sz="1400" b="1" i="0" u="none" strike="noStrike" dirty="0">
                        <a:solidFill>
                          <a:srgbClr val="171717"/>
                        </a:solidFill>
                        <a:effectLst/>
                        <a:latin typeface="Arial Narrow"/>
                      </a:endParaRPr>
                    </a:p>
                  </a:txBody>
                  <a:tcPr marL="9525" marR="9525" marT="9525" marB="0" anchor="ctr">
                    <a:lnL w="12700" cap="flat" cmpd="sng" algn="ctr">
                      <a:solidFill>
                        <a:schemeClr val="bg2">
                          <a:lumMod val="10000"/>
                        </a:schemeClr>
                      </a:solidFill>
                      <a:prstDash val="solid"/>
                      <a:round/>
                      <a:headEnd type="none" w="med" len="med"/>
                      <a:tailEnd type="none" w="med" len="med"/>
                    </a:lnL>
                    <a:lnR w="12700" cap="flat" cmpd="sng" algn="ctr">
                      <a:solidFill>
                        <a:schemeClr val="bg2">
                          <a:lumMod val="10000"/>
                        </a:schemeClr>
                      </a:solidFill>
                      <a:prstDash val="solid"/>
                      <a:round/>
                      <a:headEnd type="none" w="med" len="med"/>
                      <a:tailEnd type="none" w="med" len="med"/>
                    </a:lnR>
                    <a:lnT w="12700" cap="flat" cmpd="sng" algn="ctr">
                      <a:solidFill>
                        <a:schemeClr val="bg2">
                          <a:lumMod val="10000"/>
                        </a:schemeClr>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GB"/>
                    </a:p>
                  </a:txBody>
                  <a:tcPr>
                    <a:lnL>
                      <a:noFill/>
                    </a:lnL>
                    <a:lnR>
                      <a:noFill/>
                    </a:lnR>
                    <a:lnT w="12700" cap="flat" cmpd="sng" algn="ctr">
                      <a:solidFill>
                        <a:schemeClr val="bg2">
                          <a:lumMod val="10000"/>
                        </a:schemeClr>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GB"/>
                    </a:p>
                  </a:txBody>
                  <a:tcPr>
                    <a:lnL>
                      <a:noFill/>
                    </a:lnL>
                    <a:lnR>
                      <a:noFill/>
                    </a:lnR>
                    <a:lnT w="12700" cap="flat" cmpd="sng" algn="ctr">
                      <a:solidFill>
                        <a:schemeClr val="bg2">
                          <a:lumMod val="10000"/>
                        </a:schemeClr>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GB"/>
                    </a:p>
                  </a:txBody>
                  <a:tcPr>
                    <a:lnL>
                      <a:noFill/>
                    </a:lnL>
                    <a:lnR>
                      <a:noFill/>
                    </a:lnR>
                    <a:lnT w="12700" cap="flat" cmpd="sng" algn="ctr">
                      <a:solidFill>
                        <a:schemeClr val="bg2">
                          <a:lumMod val="10000"/>
                        </a:schemeClr>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endParaRPr lang="en-GB" sz="1400" b="1" i="0" u="none" strike="noStrike" dirty="0">
                        <a:solidFill>
                          <a:srgbClr val="171717"/>
                        </a:solidFill>
                        <a:effectLst/>
                        <a:latin typeface="Arial Narrow"/>
                      </a:endParaRPr>
                    </a:p>
                  </a:txBody>
                  <a:tcPr marL="9525" marR="9525" marT="9525" marB="0" anchor="ctr">
                    <a:lnL w="12700" cap="flat" cmpd="sng" algn="ctr">
                      <a:solidFill>
                        <a:schemeClr val="bg2">
                          <a:lumMod val="10000"/>
                        </a:schemeClr>
                      </a:solidFill>
                      <a:prstDash val="solid"/>
                      <a:round/>
                      <a:headEnd type="none" w="med" len="med"/>
                      <a:tailEnd type="none" w="med" len="med"/>
                    </a:lnL>
                    <a:lnR>
                      <a:noFill/>
                    </a:lnR>
                    <a:lnT>
                      <a:noFill/>
                    </a:lnT>
                    <a:lnB>
                      <a:noFill/>
                    </a:lnB>
                  </a:tcPr>
                </a:tc>
              </a:tr>
              <a:tr h="395521">
                <a:tc gridSpan="6">
                  <a:txBody>
                    <a:bodyPr/>
                    <a:lstStyle/>
                    <a:p>
                      <a:pPr marL="0" marR="0" indent="0" algn="l" defTabSz="914400" rtl="0" eaLnBrk="1" fontAlgn="ctr" latinLnBrk="0" hangingPunct="1">
                        <a:lnSpc>
                          <a:spcPct val="100000"/>
                        </a:lnSpc>
                        <a:spcBef>
                          <a:spcPts val="0"/>
                        </a:spcBef>
                        <a:spcAft>
                          <a:spcPts val="0"/>
                        </a:spcAft>
                        <a:buClrTx/>
                        <a:buSzTx/>
                        <a:buFontTx/>
                        <a:buNone/>
                        <a:tabLst/>
                        <a:defRPr/>
                      </a:pPr>
                      <a:endParaRPr lang="en-GB" sz="1800" b="0" i="0" u="none" strike="noStrike" dirty="0" smtClean="0">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c hMerge="1">
                  <a:txBody>
                    <a:bodyPr/>
                    <a:lstStyle/>
                    <a:p>
                      <a:endParaRPr lang="en-GB"/>
                    </a:p>
                  </a:txBody>
                  <a:tcPr>
                    <a:lnL>
                      <a:noFill/>
                    </a:lnL>
                    <a:lnR>
                      <a:noFill/>
                    </a:lnR>
                    <a:lnT>
                      <a:noFill/>
                    </a:lnT>
                    <a:lnB>
                      <a:noFill/>
                    </a:lnB>
                  </a:tcPr>
                </a:tc>
                <a:tc hMerge="1">
                  <a:txBody>
                    <a:bodyPr/>
                    <a:lstStyle/>
                    <a:p>
                      <a:endParaRPr lang="en-GB"/>
                    </a:p>
                  </a:txBody>
                  <a:tcPr>
                    <a:lnL>
                      <a:noFill/>
                    </a:lnL>
                    <a:lnR>
                      <a:noFill/>
                    </a:lnR>
                    <a:lnT>
                      <a:noFill/>
                    </a:lnT>
                    <a:lnB>
                      <a:noFill/>
                    </a:lnB>
                  </a:tcPr>
                </a:tc>
                <a:tc hMerge="1">
                  <a:txBody>
                    <a:bodyPr/>
                    <a:lstStyle/>
                    <a:p>
                      <a:endParaRPr lang="en-GB"/>
                    </a:p>
                  </a:txBody>
                  <a:tcPr>
                    <a:lnL>
                      <a:noFill/>
                    </a:lnL>
                    <a:lnR>
                      <a:noFill/>
                    </a:lnR>
                    <a:lnT>
                      <a:noFill/>
                    </a:lnT>
                    <a:lnB>
                      <a:noFill/>
                    </a:lnB>
                  </a:tcPr>
                </a:tc>
                <a:tc hMerge="1">
                  <a:txBody>
                    <a:bodyPr/>
                    <a:lstStyle/>
                    <a:p>
                      <a:endParaRPr lang="en-GB"/>
                    </a:p>
                  </a:txBody>
                  <a:tcPr>
                    <a:lnL>
                      <a:noFill/>
                    </a:lnL>
                    <a:lnR>
                      <a:noFill/>
                    </a:lnR>
                    <a:lnT>
                      <a:noFill/>
                    </a:lnT>
                    <a:lnB>
                      <a:noFill/>
                    </a:lnB>
                  </a:tcPr>
                </a:tc>
                <a:tc hMerge="1">
                  <a:txBody>
                    <a:bodyPr/>
                    <a:lstStyle/>
                    <a:p>
                      <a:endParaRPr lang="en-GB"/>
                    </a:p>
                  </a:txBody>
                  <a:tcPr>
                    <a:lnL>
                      <a:noFill/>
                    </a:lnL>
                    <a:lnR>
                      <a:noFill/>
                    </a:lnR>
                    <a:lnT>
                      <a:noFill/>
                    </a:lnT>
                    <a:lnB>
                      <a:noFill/>
                    </a:lnB>
                  </a:tcPr>
                </a:tc>
                <a:tc>
                  <a:txBody>
                    <a:bodyPr/>
                    <a:lstStyle/>
                    <a:p>
                      <a:pPr algn="l" fontAlgn="ctr"/>
                      <a:endParaRPr lang="en-GB" sz="1800" b="0" i="0" u="none" strike="noStrike" dirty="0">
                        <a:solidFill>
                          <a:srgbClr val="000000"/>
                        </a:solidFill>
                        <a:effectLst/>
                        <a:latin typeface="Arial"/>
                      </a:endParaRPr>
                    </a:p>
                  </a:txBody>
                  <a:tcPr marL="9525" marR="9525" marT="9525" marB="0" anchor="ctr">
                    <a:lnL>
                      <a:noFill/>
                    </a:lnL>
                    <a:lnR>
                      <a:noFill/>
                    </a:lnR>
                    <a:lnT>
                      <a:noFill/>
                    </a:lnT>
                    <a:lnB>
                      <a:noFill/>
                    </a:lnB>
                  </a:tcPr>
                </a:tc>
                <a:tc>
                  <a:txBody>
                    <a:bodyPr/>
                    <a:lstStyle/>
                    <a:p>
                      <a:pPr algn="ctr" rtl="0" fontAlgn="ctr"/>
                      <a:r>
                        <a:rPr lang="en-GB" sz="1400" b="1" i="0" u="none" strike="noStrike" dirty="0">
                          <a:solidFill>
                            <a:srgbClr val="171717"/>
                          </a:solidFill>
                          <a:effectLst/>
                          <a:latin typeface="Arial Narrow"/>
                        </a:rPr>
                        <a:t> </a:t>
                      </a:r>
                    </a:p>
                  </a:txBody>
                  <a:tcPr marL="9525" marR="9525" marT="9525" marB="0" anchor="ctr">
                    <a:lnL>
                      <a:noFill/>
                    </a:lnL>
                    <a:lnR>
                      <a:noFill/>
                    </a:lnR>
                    <a:lnT w="12700" cap="flat" cmpd="sng" algn="ctr">
                      <a:solidFill>
                        <a:schemeClr val="bg2">
                          <a:lumMod val="10000"/>
                        </a:schemeClr>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en-GB" sz="1400" b="1" i="0" u="none" strike="noStrike" dirty="0">
                          <a:solidFill>
                            <a:srgbClr val="171717"/>
                          </a:solidFill>
                          <a:effectLst/>
                          <a:latin typeface="Arial Narrow"/>
                        </a:rPr>
                        <a:t> </a:t>
                      </a:r>
                    </a:p>
                  </a:txBody>
                  <a:tcPr marL="9525" marR="9525" marT="9525" marB="0" anchor="ctr">
                    <a:lnL>
                      <a:noFill/>
                    </a:lnL>
                    <a:lnR>
                      <a:noFill/>
                    </a:lnR>
                    <a:lnT w="12700" cap="flat" cmpd="sng" algn="ctr">
                      <a:solidFill>
                        <a:schemeClr val="bg2">
                          <a:lumMod val="10000"/>
                        </a:schemeClr>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en-GB" sz="1400" b="1" i="0" u="none" strike="noStrike" dirty="0">
                          <a:solidFill>
                            <a:srgbClr val="171717"/>
                          </a:solidFill>
                          <a:effectLst/>
                          <a:latin typeface="Arial Narrow"/>
                        </a:rPr>
                        <a:t> </a:t>
                      </a:r>
                    </a:p>
                  </a:txBody>
                  <a:tcPr marL="9525" marR="9525" marT="9525" marB="0" anchor="ctr">
                    <a:lnL>
                      <a:noFill/>
                    </a:lnL>
                    <a:lnR>
                      <a:noFill/>
                    </a:lnR>
                    <a:lnT w="12700" cap="flat" cmpd="sng" algn="ctr">
                      <a:solidFill>
                        <a:schemeClr val="bg2">
                          <a:lumMod val="10000"/>
                        </a:schemeClr>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en-GB" sz="1400" b="1" i="0" u="none" strike="noStrike" dirty="0">
                          <a:solidFill>
                            <a:srgbClr val="171717"/>
                          </a:solidFill>
                          <a:effectLst/>
                          <a:latin typeface="Arial Narrow"/>
                        </a:rPr>
                        <a:t> </a:t>
                      </a:r>
                    </a:p>
                  </a:txBody>
                  <a:tcPr marL="9525" marR="9525" marT="9525" marB="0" anchor="ctr">
                    <a:lnL>
                      <a:noFill/>
                    </a:lnL>
                    <a:lnR>
                      <a:noFill/>
                    </a:lnR>
                    <a:lnT w="12700" cap="flat" cmpd="sng" algn="ctr">
                      <a:solidFill>
                        <a:schemeClr val="bg2">
                          <a:lumMod val="10000"/>
                        </a:schemeClr>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endParaRPr lang="en-GB" sz="1800" b="0" i="0" u="none" strike="noStrike" dirty="0">
                        <a:solidFill>
                          <a:srgbClr val="000000"/>
                        </a:solidFill>
                        <a:effectLst/>
                        <a:latin typeface="Arial"/>
                      </a:endParaRPr>
                    </a:p>
                  </a:txBody>
                  <a:tcPr marL="9525" marR="9525" marT="9525" marB="0" anchor="ctr">
                    <a:lnL>
                      <a:noFill/>
                    </a:lnL>
                    <a:lnR>
                      <a:noFill/>
                    </a:lnR>
                    <a:lnT>
                      <a:noFill/>
                    </a:lnT>
                    <a:lnB>
                      <a:noFill/>
                    </a:lnB>
                  </a:tcPr>
                </a:tc>
              </a:tr>
              <a:tr h="566089">
                <a:tc gridSpan="7">
                  <a:txBody>
                    <a:bodyPr/>
                    <a:lstStyle/>
                    <a:p>
                      <a:pPr algn="l" rtl="0" fontAlgn="ctr"/>
                      <a:r>
                        <a:rPr lang="en-US" sz="1600" b="1" i="0" u="none" strike="noStrike" dirty="0" smtClean="0">
                          <a:solidFill>
                            <a:srgbClr val="171717"/>
                          </a:solidFill>
                          <a:effectLst/>
                          <a:latin typeface="Calibri"/>
                        </a:rPr>
                        <a:t>Allocate education</a:t>
                      </a:r>
                      <a:r>
                        <a:rPr lang="en-US" sz="1600" b="1" i="0" u="none" strike="noStrike" baseline="0" dirty="0" smtClean="0">
                          <a:solidFill>
                            <a:srgbClr val="171717"/>
                          </a:solidFill>
                          <a:effectLst/>
                          <a:latin typeface="Calibri"/>
                        </a:rPr>
                        <a:t> </a:t>
                      </a:r>
                      <a:r>
                        <a:rPr lang="en-US" sz="1600" b="1" i="0" u="none" strike="noStrike" dirty="0" smtClean="0">
                          <a:solidFill>
                            <a:srgbClr val="171717"/>
                          </a:solidFill>
                          <a:effectLst/>
                          <a:latin typeface="Calibri"/>
                        </a:rPr>
                        <a:t>resources more equitably </a:t>
                      </a:r>
                      <a:endParaRPr lang="en-US" sz="1600" b="1" i="0" u="none" strike="noStrike" dirty="0">
                        <a:solidFill>
                          <a:srgbClr val="171717"/>
                        </a:solidFill>
                        <a:effectLst/>
                        <a:latin typeface="Calibri"/>
                      </a:endParaRPr>
                    </a:p>
                  </a:txBody>
                  <a:tcPr marL="9525" marR="9525" marT="9525" marB="0" anchor="ctr">
                    <a:lnL>
                      <a:noFill/>
                    </a:lnL>
                    <a:lnR w="12700" cap="flat" cmpd="sng" algn="ctr">
                      <a:solidFill>
                        <a:schemeClr val="bg2">
                          <a:lumMod val="10000"/>
                        </a:schemeClr>
                      </a:solidFill>
                      <a:prstDash val="solid"/>
                      <a:round/>
                      <a:headEnd type="none" w="med" len="med"/>
                      <a:tailEnd type="none" w="med" len="med"/>
                    </a:lnR>
                    <a:lnT>
                      <a:noFill/>
                    </a:lnT>
                    <a:lnB>
                      <a:noFill/>
                    </a:lnB>
                  </a:tcPr>
                </a:tc>
                <a:tc hMerge="1">
                  <a:txBody>
                    <a:bodyPr/>
                    <a:lstStyle/>
                    <a:p>
                      <a:endParaRPr lang="en-GB"/>
                    </a:p>
                  </a:txBody>
                  <a:tcPr>
                    <a:lnL>
                      <a:noFill/>
                    </a:lnL>
                    <a:lnR>
                      <a:noFill/>
                    </a:lnR>
                    <a:lnT>
                      <a:noFill/>
                    </a:lnT>
                    <a:lnB>
                      <a:noFill/>
                    </a:lnB>
                  </a:tcPr>
                </a:tc>
                <a:tc hMerge="1">
                  <a:txBody>
                    <a:bodyPr/>
                    <a:lstStyle/>
                    <a:p>
                      <a:endParaRPr lang="en-GB"/>
                    </a:p>
                  </a:txBody>
                  <a:tcPr>
                    <a:lnL>
                      <a:noFill/>
                    </a:lnL>
                    <a:lnR>
                      <a:noFill/>
                    </a:lnR>
                    <a:lnT>
                      <a:noFill/>
                    </a:lnT>
                    <a:lnB>
                      <a:noFill/>
                    </a:lnB>
                  </a:tcPr>
                </a:tc>
                <a:tc hMerge="1">
                  <a:txBody>
                    <a:bodyPr/>
                    <a:lstStyle/>
                    <a:p>
                      <a:endParaRPr lang="en-GB"/>
                    </a:p>
                  </a:txBody>
                  <a:tcPr>
                    <a:lnL>
                      <a:noFill/>
                    </a:lnL>
                    <a:lnR>
                      <a:noFill/>
                    </a:lnR>
                    <a:lnT>
                      <a:noFill/>
                    </a:lnT>
                    <a:lnB>
                      <a:noFill/>
                    </a:lnB>
                  </a:tcPr>
                </a:tc>
                <a:tc hMerge="1">
                  <a:txBody>
                    <a:bodyPr/>
                    <a:lstStyle/>
                    <a:p>
                      <a:endParaRPr lang="en-GB"/>
                    </a:p>
                  </a:txBody>
                  <a:tcPr>
                    <a:lnL>
                      <a:noFill/>
                    </a:lnL>
                    <a:lnR>
                      <a:noFill/>
                    </a:lnR>
                    <a:lnT>
                      <a:noFill/>
                    </a:lnT>
                    <a:lnB>
                      <a:noFill/>
                    </a:lnB>
                  </a:tcPr>
                </a:tc>
                <a:tc hMerge="1">
                  <a:txBody>
                    <a:bodyPr/>
                    <a:lstStyle/>
                    <a:p>
                      <a:endParaRPr lang="en-GB"/>
                    </a:p>
                  </a:txBody>
                  <a:tcPr>
                    <a:lnL>
                      <a:noFill/>
                    </a:lnL>
                    <a:lnR>
                      <a:noFill/>
                    </a:lnR>
                    <a:lnT>
                      <a:noFill/>
                    </a:lnT>
                    <a:lnB>
                      <a:noFill/>
                    </a:lnB>
                  </a:tcPr>
                </a:tc>
                <a:tc hMerge="1">
                  <a:txBody>
                    <a:bodyPr/>
                    <a:lstStyle/>
                    <a:p>
                      <a:endParaRPr lang="en-GB" dirty="0"/>
                    </a:p>
                  </a:txBody>
                  <a:tcPr>
                    <a:lnL>
                      <a:noFill/>
                    </a:lnL>
                    <a:lnR>
                      <a:noFill/>
                    </a:lnR>
                    <a:lnT>
                      <a:noFill/>
                    </a:lnT>
                    <a:lnB>
                      <a:noFill/>
                    </a:lnB>
                  </a:tcPr>
                </a:tc>
                <a:tc gridSpan="4">
                  <a:txBody>
                    <a:bodyPr/>
                    <a:lstStyle/>
                    <a:p>
                      <a:pPr algn="ctr" rtl="0" fontAlgn="ctr"/>
                      <a:r>
                        <a:rPr lang="en-GB" sz="1400" b="1" i="0" u="none" strike="noStrike" dirty="0" smtClean="0">
                          <a:solidFill>
                            <a:srgbClr val="171717"/>
                          </a:solidFill>
                          <a:effectLst/>
                          <a:latin typeface="Arial Narrow"/>
                        </a:rPr>
                        <a:t>CRI CZE DEU DNK FRA HUN </a:t>
                      </a:r>
                      <a:br>
                        <a:rPr lang="en-GB" sz="1400" b="1" i="0" u="none" strike="noStrike" dirty="0" smtClean="0">
                          <a:solidFill>
                            <a:srgbClr val="171717"/>
                          </a:solidFill>
                          <a:effectLst/>
                          <a:latin typeface="Arial Narrow"/>
                        </a:rPr>
                      </a:br>
                      <a:r>
                        <a:rPr lang="en-GB" sz="1400" b="1" i="0" u="none" strike="noStrike" dirty="0" smtClean="0">
                          <a:solidFill>
                            <a:srgbClr val="171717"/>
                          </a:solidFill>
                          <a:effectLst/>
                          <a:latin typeface="Arial Narrow"/>
                        </a:rPr>
                        <a:t>NZL POL PRT SWE USA</a:t>
                      </a:r>
                      <a:endParaRPr lang="en-GB" sz="1400" b="1" i="0" u="none" strike="noStrike" dirty="0">
                        <a:solidFill>
                          <a:srgbClr val="171717"/>
                        </a:solidFill>
                        <a:effectLst/>
                        <a:latin typeface="Arial Narrow"/>
                      </a:endParaRPr>
                    </a:p>
                  </a:txBody>
                  <a:tcPr marL="9525" marR="9525" marT="9525" marB="0" anchor="ctr">
                    <a:lnL w="12700" cap="flat" cmpd="sng" algn="ctr">
                      <a:solidFill>
                        <a:schemeClr val="bg2">
                          <a:lumMod val="10000"/>
                        </a:schemeClr>
                      </a:solidFill>
                      <a:prstDash val="solid"/>
                      <a:round/>
                      <a:headEnd type="none" w="med" len="med"/>
                      <a:tailEnd type="none" w="med" len="med"/>
                    </a:lnL>
                    <a:lnR w="12700" cap="flat" cmpd="sng" algn="ctr">
                      <a:solidFill>
                        <a:schemeClr val="bg2">
                          <a:lumMod val="10000"/>
                        </a:schemeClr>
                      </a:solidFill>
                      <a:prstDash val="solid"/>
                      <a:round/>
                      <a:headEnd type="none" w="med" len="med"/>
                      <a:tailEnd type="none" w="med" len="med"/>
                    </a:lnR>
                    <a:lnT w="12700" cap="flat" cmpd="sng" algn="ctr">
                      <a:solidFill>
                        <a:schemeClr val="bg2">
                          <a:lumMod val="10000"/>
                        </a:schemeClr>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GB"/>
                    </a:p>
                  </a:txBody>
                  <a:tcPr>
                    <a:lnL>
                      <a:noFill/>
                    </a:lnL>
                    <a:lnR>
                      <a:noFill/>
                    </a:lnR>
                    <a:lnT w="12700" cap="flat" cmpd="sng" algn="ctr">
                      <a:solidFill>
                        <a:schemeClr val="bg2">
                          <a:lumMod val="1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GB"/>
                    </a:p>
                  </a:txBody>
                  <a:tcPr>
                    <a:lnL>
                      <a:noFill/>
                    </a:lnL>
                    <a:lnR>
                      <a:noFill/>
                    </a:lnR>
                    <a:lnT w="12700" cap="flat" cmpd="sng" algn="ctr">
                      <a:solidFill>
                        <a:schemeClr val="bg2">
                          <a:lumMod val="1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GB"/>
                    </a:p>
                  </a:txBody>
                  <a:tcPr>
                    <a:lnL>
                      <a:noFill/>
                    </a:lnL>
                    <a:lnR>
                      <a:noFill/>
                    </a:lnR>
                    <a:lnT w="12700" cap="flat" cmpd="sng" algn="ctr">
                      <a:solidFill>
                        <a:schemeClr val="bg2">
                          <a:lumMod val="1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endParaRPr lang="en-GB" sz="1800" b="0" i="0" u="none" strike="noStrike" dirty="0">
                        <a:solidFill>
                          <a:srgbClr val="000000"/>
                        </a:solidFill>
                        <a:effectLst/>
                        <a:latin typeface="Arial"/>
                      </a:endParaRPr>
                    </a:p>
                  </a:txBody>
                  <a:tcPr marL="9525" marR="9525" marT="9525" marB="0" anchor="ctr">
                    <a:lnL w="12700" cap="flat" cmpd="sng" algn="ctr">
                      <a:solidFill>
                        <a:schemeClr val="bg2">
                          <a:lumMod val="10000"/>
                        </a:schemeClr>
                      </a:solidFill>
                      <a:prstDash val="solid"/>
                      <a:round/>
                      <a:headEnd type="none" w="med" len="med"/>
                      <a:tailEnd type="none" w="med" len="med"/>
                    </a:lnL>
                    <a:lnR>
                      <a:noFill/>
                    </a:lnR>
                    <a:lnT>
                      <a:noFill/>
                    </a:lnT>
                    <a:lnB>
                      <a:noFill/>
                    </a:lnB>
                  </a:tcPr>
                </a:tc>
              </a:tr>
            </a:tbl>
          </a:graphicData>
        </a:graphic>
      </p:graphicFrame>
    </p:spTree>
    <p:extLst>
      <p:ext uri="{BB962C8B-B14F-4D97-AF65-F5344CB8AC3E}">
        <p14:creationId xmlns:p14="http://schemas.microsoft.com/office/powerpoint/2010/main" val="58372801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83568" y="238255"/>
            <a:ext cx="7920880" cy="954107"/>
          </a:xfrm>
          <a:prstGeom prst="rect">
            <a:avLst/>
          </a:prstGeom>
        </p:spPr>
        <p:txBody>
          <a:bodyPr wrap="square">
            <a:spAutoFit/>
          </a:bodyPr>
          <a:lstStyle/>
          <a:p>
            <a:pPr lvl="0" algn="ctr">
              <a:defRPr/>
            </a:pPr>
            <a:r>
              <a:rPr lang="en-US" sz="2800" b="1" dirty="0" smtClean="0">
                <a:solidFill>
                  <a:srgbClr val="006299"/>
                </a:solidFill>
                <a:latin typeface="Arial"/>
              </a:rPr>
              <a:t>Act to strengthen inclusive growth and </a:t>
            </a:r>
            <a:br>
              <a:rPr lang="en-US" sz="2800" b="1" dirty="0" smtClean="0">
                <a:solidFill>
                  <a:srgbClr val="006299"/>
                </a:solidFill>
                <a:latin typeface="Arial"/>
              </a:rPr>
            </a:br>
            <a:r>
              <a:rPr lang="en-US" sz="2800" b="1" dirty="0" smtClean="0">
                <a:solidFill>
                  <a:srgbClr val="006299"/>
                </a:solidFill>
                <a:latin typeface="Arial"/>
              </a:rPr>
              <a:t>make globalisation work for all</a:t>
            </a:r>
            <a:endParaRPr lang="en-US" sz="2800" b="1" dirty="0">
              <a:solidFill>
                <a:srgbClr val="006299"/>
              </a:solidFill>
              <a:latin typeface="Arial"/>
            </a:endParaRPr>
          </a:p>
        </p:txBody>
      </p:sp>
      <p:sp>
        <p:nvSpPr>
          <p:cNvPr id="7" name="Slide Number Placeholder 6"/>
          <p:cNvSpPr>
            <a:spLocks noGrp="1"/>
          </p:cNvSpPr>
          <p:nvPr>
            <p:ph type="sldNum" sz="quarter" idx="12"/>
          </p:nvPr>
        </p:nvSpPr>
        <p:spPr/>
        <p:txBody>
          <a:bodyPr/>
          <a:lstStyle/>
          <a:p>
            <a:fld id="{FCE284C4-5ED1-4D6C-B7CC-2049C3062C5E}" type="slidenum">
              <a:rPr lang="en-GB" smtClean="0"/>
              <a:t>23</a:t>
            </a:fld>
            <a:endParaRPr lang="en-GB" dirty="0"/>
          </a:p>
        </p:txBody>
      </p:sp>
      <p:graphicFrame>
        <p:nvGraphicFramePr>
          <p:cNvPr id="5" name="Diagram 4"/>
          <p:cNvGraphicFramePr/>
          <p:nvPr>
            <p:extLst>
              <p:ext uri="{D42A27DB-BD31-4B8C-83A1-F6EECF244321}">
                <p14:modId xmlns:p14="http://schemas.microsoft.com/office/powerpoint/2010/main" val="2357626800"/>
              </p:ext>
            </p:extLst>
          </p:nvPr>
        </p:nvGraphicFramePr>
        <p:xfrm>
          <a:off x="539552" y="1412776"/>
          <a:ext cx="8208912" cy="50405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p:cNvSpPr txBox="1"/>
          <p:nvPr/>
        </p:nvSpPr>
        <p:spPr>
          <a:xfrm>
            <a:off x="827584" y="2564904"/>
            <a:ext cx="2664296" cy="400110"/>
          </a:xfrm>
          <a:prstGeom prst="rect">
            <a:avLst/>
          </a:prstGeom>
          <a:noFill/>
        </p:spPr>
        <p:txBody>
          <a:bodyPr wrap="square" rtlCol="0">
            <a:spAutoFit/>
          </a:bodyPr>
          <a:lstStyle/>
          <a:p>
            <a:pPr lvl="0"/>
            <a:r>
              <a:rPr lang="en-US" sz="2000" b="1" dirty="0" smtClean="0">
                <a:solidFill>
                  <a:schemeClr val="bg2">
                    <a:lumMod val="10000"/>
                  </a:schemeClr>
                </a:solidFill>
                <a:latin typeface="Calibri" pitchFamily="34" charset="0"/>
              </a:rPr>
              <a:t>International policies</a:t>
            </a:r>
          </a:p>
        </p:txBody>
      </p:sp>
      <p:sp>
        <p:nvSpPr>
          <p:cNvPr id="8" name="TextBox 7"/>
          <p:cNvSpPr txBox="1"/>
          <p:nvPr/>
        </p:nvSpPr>
        <p:spPr>
          <a:xfrm>
            <a:off x="395536" y="5063698"/>
            <a:ext cx="2664296" cy="400110"/>
          </a:xfrm>
          <a:prstGeom prst="rect">
            <a:avLst/>
          </a:prstGeom>
          <a:noFill/>
        </p:spPr>
        <p:txBody>
          <a:bodyPr wrap="square" rtlCol="0">
            <a:spAutoFit/>
          </a:bodyPr>
          <a:lstStyle/>
          <a:p>
            <a:pPr lvl="0"/>
            <a:r>
              <a:rPr lang="en-US" sz="2000" b="1" dirty="0" smtClean="0">
                <a:solidFill>
                  <a:schemeClr val="bg2">
                    <a:lumMod val="10000"/>
                  </a:schemeClr>
                </a:solidFill>
                <a:latin typeface="Calibri" pitchFamily="34" charset="0"/>
              </a:rPr>
              <a:t>Domestic policies</a:t>
            </a:r>
          </a:p>
        </p:txBody>
      </p:sp>
    </p:spTree>
    <p:extLst>
      <p:ext uri="{BB962C8B-B14F-4D97-AF65-F5344CB8AC3E}">
        <p14:creationId xmlns:p14="http://schemas.microsoft.com/office/powerpoint/2010/main" val="167307139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ECD_English_white">
  <a:themeElements>
    <a:clrScheme name="OECD white">
      <a:dk1>
        <a:srgbClr val="727272"/>
      </a:dk1>
      <a:lt1>
        <a:sysClr val="window" lastClr="FFFFFF"/>
      </a:lt1>
      <a:dk2>
        <a:srgbClr val="006299"/>
      </a:dk2>
      <a:lt2>
        <a:srgbClr val="E6E6E6"/>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ECD">
      <a:majorFont>
        <a:latin typeface="Arial"/>
        <a:ea typeface=""/>
        <a:cs typeface=""/>
      </a:majorFont>
      <a:minorFont>
        <a:latin typeface="Georgia"/>
        <a:ea typeface=""/>
        <a:cs typeface=""/>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1_OECD_English_white">
  <a:themeElements>
    <a:clrScheme name="OECD white">
      <a:dk1>
        <a:srgbClr val="727272"/>
      </a:dk1>
      <a:lt1>
        <a:sysClr val="window" lastClr="FFFFFF"/>
      </a:lt1>
      <a:dk2>
        <a:srgbClr val="006299"/>
      </a:dk2>
      <a:lt2>
        <a:srgbClr val="E6E6E6"/>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ECD">
      <a:majorFont>
        <a:latin typeface="Arial"/>
        <a:ea typeface=""/>
        <a:cs typeface=""/>
      </a:majorFont>
      <a:minorFont>
        <a:latin typeface="Georgia"/>
        <a:ea typeface=""/>
        <a:cs typeface=""/>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item1.xml><?xml version="1.0" encoding="utf-8"?>
<ct:contentTypeSchema xmlns:ct="http://schemas.microsoft.com/office/2006/metadata/contentType" xmlns:ma="http://schemas.microsoft.com/office/2006/metadata/properties/metaAttributes" ct:_="" ma:_="" ma:contentTypeName="Working Document" ma:contentTypeID="0x0101008B4DD370EC31429186F3AD49F0D3098F00D44DBCB9EB4F45278CB5C9765BE5299500A4858B360C6A491AA753F8BCA47AA91000293773D153AD3C41920164F348570E54" ma:contentTypeVersion="509" ma:contentTypeDescription="Create a new document." ma:contentTypeScope="" ma:versionID="c4c89322ac7d9f1996d365e3690382e3">
  <xsd:schema xmlns:xsd="http://www.w3.org/2001/XMLSchema" xmlns:xs="http://www.w3.org/2001/XMLSchema" xmlns:p="http://schemas.microsoft.com/office/2006/metadata/properties" xmlns:ns1="http://schemas.microsoft.com/sharepoint/v3" xmlns:ns2="54c4cd27-f286-408f-9ce0-33c1e0f3ab39" xmlns:ns3="464847da-6e18-4144-8ad5-5857903e06b6" xmlns:ns4="b028c3f4-2795-4946-841c-2e1644b148e5" xmlns:ns5="c9f238dd-bb73-4aef-a7a5-d644ad823e52" xmlns:ns6="ca82dde9-3436-4d3d-bddd-d31447390034" xmlns:ns7="http://schemas.microsoft.com/sharepoint/v4" targetNamespace="http://schemas.microsoft.com/office/2006/metadata/properties" ma:root="true" ma:fieldsID="2df2112354f40aebef67c0cef3c00b8d" ns1:_="" ns2:_="" ns3:_="" ns4:_="" ns5:_="" ns6:_="" ns7:_="">
    <xsd:import namespace="http://schemas.microsoft.com/sharepoint/v3"/>
    <xsd:import namespace="54c4cd27-f286-408f-9ce0-33c1e0f3ab39"/>
    <xsd:import namespace="464847da-6e18-4144-8ad5-5857903e06b6"/>
    <xsd:import namespace="b028c3f4-2795-4946-841c-2e1644b148e5"/>
    <xsd:import namespace="c9f238dd-bb73-4aef-a7a5-d644ad823e52"/>
    <xsd:import namespace="ca82dde9-3436-4d3d-bddd-d31447390034"/>
    <xsd:import namespace="http://schemas.microsoft.com/sharepoint/v4"/>
    <xsd:element name="properties">
      <xsd:complexType>
        <xsd:sequence>
          <xsd:element name="documentManagement">
            <xsd:complexType>
              <xsd:all>
                <xsd:element ref="ns2:OECDKimStatus" minOccurs="0"/>
                <xsd:element ref="ns4:OECDProjectLookup"/>
                <xsd:element ref="ns3:_dlc_DocId" minOccurs="0"/>
                <xsd:element ref="ns3:_dlc_DocIdUrl" minOccurs="0"/>
                <xsd:element ref="ns4:OECDProjectManager" minOccurs="0"/>
                <xsd:element ref="ns4:OECDProjectMembers" minOccurs="0"/>
                <xsd:element ref="ns4:OECDTagsCache" minOccurs="0"/>
                <xsd:element ref="ns4:OECDPinnedBy" minOccurs="0"/>
                <xsd:element ref="ns5:eShareCountryTaxHTField0" minOccurs="0"/>
                <xsd:element ref="ns5:eShareTopicTaxHTField0" minOccurs="0"/>
                <xsd:element ref="ns5:eShareKeywordsTaxHTField0" minOccurs="0"/>
                <xsd:element ref="ns5:eShareCommitteeTaxHTField0" minOccurs="0"/>
                <xsd:element ref="ns5:eSharePWBTaxHTField0" minOccurs="0"/>
                <xsd:element ref="ns6:TaxCatchAll" minOccurs="0"/>
                <xsd:element ref="ns7:IconOverlay" minOccurs="0"/>
                <xsd:element ref="ns4:OECDMainProject" minOccurs="0"/>
                <xsd:element ref="ns2:OECDKimProvenance" minOccurs="0"/>
                <xsd:element ref="ns1:DocumentSetDescription" minOccurs="0"/>
                <xsd:element ref="ns3:OECDExpirationDate" minOccurs="0"/>
                <xsd:element ref="ns6:TaxCatchAllLabel" minOccurs="0"/>
                <xsd:element ref="ns2:OECDDocumentType" minOccurs="0"/>
                <xsd:element ref="ns2:OECDKimBussinessContext" minOccurs="0"/>
                <xsd:element ref="ns4:Project_x003A_ID1" minOccurs="0"/>
                <xsd:element ref="ns4:Project_x003a_Project_x0020_status" minOccurs="0"/>
                <xsd:element ref="ns4:Project_x003a_ID" minOccurs="0"/>
                <xsd:element ref="ns3:_dlc_DocIdPersistId" minOccurs="0"/>
                <xsd:element ref="ns3:bc65155f859f476689f41d2e239f3b65" minOccurs="0"/>
                <xsd:element ref="ns4:k521ff600dac4d78b40e1e44ce493525" minOccurs="0"/>
                <xsd:element ref="ns4:d6c688cd0ee448e4bbaea66e1be015fd" minOccurs="0"/>
                <xsd:element ref="ns4:g2112f02a3d4495984eca02be0a4d37c" minOccurs="0"/>
                <xsd:element ref="ns4:h8a48b2c364f47209a9f385904d38df5"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DocumentSetDescription" ma:index="33" nillable="true" ma:displayName="Description" ma:description="A description of the Document Set" ma:internalName="DocumentSetDescription" ma:readOnly="fals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4c4cd27-f286-408f-9ce0-33c1e0f3ab39" elementFormDefault="qualified">
    <xsd:import namespace="http://schemas.microsoft.com/office/2006/documentManagement/types"/>
    <xsd:import namespace="http://schemas.microsoft.com/office/infopath/2007/PartnerControls"/>
    <xsd:element name="OECDKimStatus" ma:index="7" nillable="true" ma:displayName="Kim status" ma:default="Draft" ma:description="" ma:format="Dropdown" ma:hidden="true" ma:internalName="OECDKimStatus">
      <xsd:simpleType>
        <xsd:restriction base="dms:Choice">
          <xsd:enumeration value="Draft"/>
          <xsd:enumeration value="Final"/>
        </xsd:restriction>
      </xsd:simpleType>
    </xsd:element>
    <xsd:element name="OECDKimProvenance" ma:index="30" nillable="true" ma:displayName="Kim provenance" ma:description="" ma:hidden="true" ma:internalName="OECDKimProvenance">
      <xsd:simpleType>
        <xsd:restriction base="dms:Text"/>
      </xsd:simpleType>
    </xsd:element>
    <xsd:element name="OECDDocumentType" ma:index="36" nillable="true" ma:displayName="Document Type" ma:description="" ma:hidden="true" ma:internalName="OECDDocumentType" ma:readOnly="false">
      <xsd:simpleType>
        <xsd:restriction base="dms:Text"/>
      </xsd:simpleType>
    </xsd:element>
    <xsd:element name="OECDKimBussinessContext" ma:index="37" nillable="true" ma:displayName="Kim business context" ma:description="" ma:hidden="true" ma:internalName="OECDKimBussinessContext">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64847da-6e18-4144-8ad5-5857903e06b6" elementFormDefault="qualified">
    <xsd:import namespace="http://schemas.microsoft.com/office/2006/documentManagement/types"/>
    <xsd:import namespace="http://schemas.microsoft.com/office/infopath/2007/PartnerControls"/>
    <xsd:element name="_dlc_DocId" ma:index="14" nillable="true" ma:displayName="Document ID" ma:description="" ma:hidden="true" ma:internalName="_dlc_DocId" ma:readOnly="true">
      <xsd:simpleType>
        <xsd:restriction base="dms:Text"/>
      </xsd:simpleType>
    </xsd:element>
    <xsd:element name="_dlc_DocIdUrl" ma:index="15" nillable="true" ma:displayName="Document ID" ma:description=""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OECDExpirationDate" ma:index="34" nillable="true" ma:displayName="Highlights" ma:default="" ma:description="" ma:format="DateOnly" ma:indexed="true" ma:internalName="OECDExpirationDate">
      <xsd:simpleType>
        <xsd:restriction base="dms:DateTime"/>
      </xsd:simpleType>
    </xsd:element>
    <xsd:element name="_dlc_DocIdPersistId" ma:index="42" nillable="true" ma:displayName="Persist ID" ma:description="Keep ID on add." ma:hidden="true" ma:internalName="_dlc_DocIdPersistId" ma:readOnly="true">
      <xsd:simpleType>
        <xsd:restriction base="dms:Boolean"/>
      </xsd:simpleType>
    </xsd:element>
    <xsd:element name="bc65155f859f476689f41d2e239f3b65" ma:index="43" nillable="true" ma:taxonomy="true" ma:internalName="bc65155f859f476689f41d2e239f3b65" ma:taxonomyFieldName="OECDHorizontalProjects" ma:displayName="Horizontal project" ma:default="" ma:fieldId="bc65155f-859f-4766-89f4-1d2e239f3b65" ma:taxonomyMulti="true" ma:sspId="27ec883c-a62c-444f-a935-fcddb579e39d" ma:termSetId="d3ca0e0e-65f9-44bf-9d98-5271504f6d61"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b028c3f4-2795-4946-841c-2e1644b148e5" elementFormDefault="qualified">
    <xsd:import namespace="http://schemas.microsoft.com/office/2006/documentManagement/types"/>
    <xsd:import namespace="http://schemas.microsoft.com/office/infopath/2007/PartnerControls"/>
    <xsd:element name="OECDProjectLookup" ma:index="8" ma:displayName="Project" ma:indexed="true" ma:list="8fd64a43-52c7-4b87-a931-a975dc3d108c" ma:internalName="OECDProjectLookup" ma:readOnly="false" ma:showField="OECDShortProjectName" ma:web="b028c3f4-2795-4946-841c-2e1644b148e5">
      <xsd:simpleType>
        <xsd:restriction base="dms:Unknown"/>
      </xsd:simpleType>
    </xsd:element>
    <xsd:element name="OECDProjectManager" ma:index="16" nillable="true" ma:displayName="Project manager" ma:description="" ma:hidden="true" ma:indexed="true" ma:internalName="OECDProjectManage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OECDProjectMembers" ma:index="17" nillable="true" ma:displayName="Project members" ma:description="" ma:hidden="true" ma:internalName="OECDProjectMembers" ma:readOnly="fals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OECDTagsCache" ma:index="19" nillable="true" ma:displayName="Tags cache" ma:description="" ma:hidden="true" ma:internalName="OECDTagsCache">
      <xsd:simpleType>
        <xsd:restriction base="dms:Note">
          <xsd:maxLength value="255"/>
        </xsd:restriction>
      </xsd:simpleType>
    </xsd:element>
    <xsd:element name="OECDPinnedBy" ma:index="20" nillable="true" ma:displayName="Pinned by" ma:description="" ma:hidden="true" ma:internalName="OECDPinnedBy">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OECDMainProject" ma:index="29" nillable="true" ma:displayName="Main project" ma:description="" ma:hidden="true" ma:list="8fd64a43-52c7-4b87-a931-a975dc3d108c" ma:internalName="OECDMainProject" ma:readOnly="false" ma:showField="OECDShortProjectName" ma:web="b028c3f4-2795-4946-841c-2e1644b148e5">
      <xsd:simpleType>
        <xsd:restriction base="dms:Unknown"/>
      </xsd:simpleType>
    </xsd:element>
    <xsd:element name="Project_x003A_ID1" ma:index="39" nillable="true" ma:displayName="Project:ID" ma:list="8fd64a43-52c7-4b87-a931-a975dc3d108c" ma:internalName="Project_x003A_ID1" ma:readOnly="true" ma:showField="ID" ma:web="b028c3f4-2795-4946-841c-2e1644b148e5">
      <xsd:simpleType>
        <xsd:restriction base="dms:Lookup"/>
      </xsd:simpleType>
    </xsd:element>
    <xsd:element name="Project_x003a_Project_x0020_status" ma:index="40" nillable="true" ma:displayName="Project:Project status" ma:hidden="true" ma:list="8fd64a43-52c7-4b87-a931-a975dc3d108c" ma:internalName="Project_x003A_Project_x0020_status" ma:readOnly="true" ma:showField="OECDProjectStatus" ma:web="b028c3f4-2795-4946-841c-2e1644b148e5">
      <xsd:simpleType>
        <xsd:restriction base="dms:Lookup"/>
      </xsd:simpleType>
    </xsd:element>
    <xsd:element name="Project_x003a_ID" ma:index="41" nillable="true" ma:displayName="Project:ID" ma:hidden="true" ma:list="8fd64a43-52c7-4b87-a931-a975dc3d108c" ma:internalName="Project_x003A_ID" ma:readOnly="true" ma:showField="ID" ma:web="b028c3f4-2795-4946-841c-2e1644b148e5">
      <xsd:simpleType>
        <xsd:restriction base="dms:Lookup"/>
      </xsd:simpleType>
    </xsd:element>
    <xsd:element name="k521ff600dac4d78b40e1e44ce493525" ma:index="44" nillable="true" ma:taxonomy="true" ma:internalName="k521ff600dac4d78b40e1e44ce493525" ma:taxonomyFieldName="OECDProjectOwnerStructure" ma:displayName="Project owner" ma:indexed="true" ma:readOnly="false" ma:default="" ma:fieldId="4521ff60-0dac-4d78-b40e-1e44ce493525" ma:sspId="27ec883c-a62c-444f-a935-fcddb579e39d" ma:termSetId="aeec4dcb-19ee-4bc0-941f-681845b568c9" ma:anchorId="00000000-0000-0000-0000-000000000000" ma:open="false" ma:isKeyword="false">
      <xsd:complexType>
        <xsd:sequence>
          <xsd:element ref="pc:Terms" minOccurs="0" maxOccurs="1"/>
        </xsd:sequence>
      </xsd:complexType>
    </xsd:element>
    <xsd:element name="d6c688cd0ee448e4bbaea66e1be015fd" ma:index="45" nillable="true" ma:displayName="Project partners_0" ma:hidden="true" ma:internalName="d6c688cd0ee448e4bbaea66e1be015fd">
      <xsd:simpleType>
        <xsd:restriction base="dms:Note"/>
      </xsd:simpleType>
    </xsd:element>
    <xsd:element name="g2112f02a3d4495984eca02be0a4d37c" ma:index="46" nillable="true" ma:displayName="Deliverable partners_0" ma:hidden="true" ma:internalName="g2112f02a3d4495984eca02be0a4d37c">
      <xsd:simpleType>
        <xsd:restriction base="dms:Note"/>
      </xsd:simpleType>
    </xsd:element>
    <xsd:element name="h8a48b2c364f47209a9f385904d38df5" ma:index="47" nillable="true" ma:displayName="Deliverable owner_0" ma:hidden="true" ma:internalName="h8a48b2c364f47209a9f385904d38df5">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9f238dd-bb73-4aef-a7a5-d644ad823e52" elementFormDefault="qualified">
    <xsd:import namespace="http://schemas.microsoft.com/office/2006/documentManagement/types"/>
    <xsd:import namespace="http://schemas.microsoft.com/office/infopath/2007/PartnerControls"/>
    <xsd:element name="eShareCountryTaxHTField0" ma:index="22" nillable="true" ma:displayName="eShareCountry_0" ma:description="" ma:hidden="true" ma:internalName="eShareCountryTaxHTField0">
      <xsd:simpleType>
        <xsd:restriction base="dms:Note"/>
      </xsd:simpleType>
    </xsd:element>
    <xsd:element name="eShareTopicTaxHTField0" ma:index="23" nillable="true" ma:displayName="eShareTopic_0" ma:description="" ma:hidden="true" ma:internalName="eShareTopicTaxHTField0">
      <xsd:simpleType>
        <xsd:restriction base="dms:Note"/>
      </xsd:simpleType>
    </xsd:element>
    <xsd:element name="eShareKeywordsTaxHTField0" ma:index="24" nillable="true" ma:displayName="eShareKeywords_0" ma:description="" ma:hidden="true" ma:internalName="eShareKeywordsTaxHTField0">
      <xsd:simpleType>
        <xsd:restriction base="dms:Note"/>
      </xsd:simpleType>
    </xsd:element>
    <xsd:element name="eShareCommitteeTaxHTField0" ma:index="25" nillable="true" ma:displayName="eShareCommittee_0" ma:description="" ma:hidden="true" ma:internalName="eShareCommitteeTaxHTField0">
      <xsd:simpleType>
        <xsd:restriction base="dms:Note"/>
      </xsd:simpleType>
    </xsd:element>
    <xsd:element name="eSharePWBTaxHTField0" ma:index="26" nillable="true" ma:displayName="eSharePWB_0" ma:description="" ma:hidden="true" ma:internalName="eSharePWBTaxHTField0">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a82dde9-3436-4d3d-bddd-d31447390034" elementFormDefault="qualified">
    <xsd:import namespace="http://schemas.microsoft.com/office/2006/documentManagement/types"/>
    <xsd:import namespace="http://schemas.microsoft.com/office/infopath/2007/PartnerControls"/>
    <xsd:element name="TaxCatchAll" ma:index="27" nillable="true" ma:displayName="Taxonomy Catch All Column" ma:hidden="true" ma:list="{f238c0b0-3384-41ab-af60-ab39d110a44d}" ma:internalName="TaxCatchAll" ma:showField="CatchAllData" ma:web="464847da-6e18-4144-8ad5-5857903e06b6">
      <xsd:complexType>
        <xsd:complexContent>
          <xsd:extension base="dms:MultiChoiceLookup">
            <xsd:sequence>
              <xsd:element name="Value" type="dms:Lookup" maxOccurs="unbounded" minOccurs="0" nillable="true"/>
            </xsd:sequence>
          </xsd:extension>
        </xsd:complexContent>
      </xsd:complexType>
    </xsd:element>
    <xsd:element name="TaxCatchAllLabel" ma:index="35" nillable="true" ma:displayName="Taxonomy Catch All Column1" ma:hidden="true" ma:list="{f238c0b0-3384-41ab-af60-ab39d110a44d}" ma:internalName="TaxCatchAllLabel" ma:readOnly="true" ma:showField="CatchAllDataLabel" ma:web="464847da-6e18-4144-8ad5-5857903e06b6">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28"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0" ma:displayName="Content Type"/>
        <xsd:element ref="dc:title" minOccurs="0" maxOccurs="1" ma:index="0"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CtFieldPriority xmlns="http://www.oecd.org/eshare/projectsentre/CtFieldPriority/" xmlns:i="http://www.w3.org/2001/XMLSchema-instance" NameSpaceURI="http://www.oecd.org/eshare/projectsentre/CtFieldPriority/">
  <PriorityFields xmlns:a="http://schemas.microsoft.com/2003/10/Serialization/Arrays">
    <a:string>Title</a:string>
    <a:string>FileLeafRef</a:string>
    <a:string>OECDCountry</a:string>
    <a:string>OECDTopic</a:string>
    <a:string>OECDKeywords</a:string>
  </PriorityFields>
</CtFieldPriority>
</file>

<file path=customXml/item3.xml><?xml version="1.0" encoding="utf-8"?>
<?mso-contentType ?>
<spe:Receivers xmlns:spe="http://schemas.microsoft.com/sharepoint/events"/>
</file>

<file path=customXml/item4.xml><?xml version="1.0" encoding="utf-8"?>
<?mso-contentType ?>
<SharedContentType xmlns="Microsoft.SharePoint.Taxonomy.ContentTypeSync" SourceId="27ec883c-a62c-444f-a935-fcddb579e39d" ContentTypeId="0x0101008B4DD370EC31429186F3AD49F0D3098F00D44DBCB9EB4F45278CB5C9765BE52995" PreviousValue="false"/>
</file>

<file path=customXml/item5.xml><?xml version="1.0" encoding="utf-8"?>
<p:properties xmlns:p="http://schemas.microsoft.com/office/2006/metadata/properties" xmlns:xsi="http://www.w3.org/2001/XMLSchema-instance" xmlns:pc="http://schemas.microsoft.com/office/infopath/2007/PartnerControls">
  <documentManagement>
    <bc65155f859f476689f41d2e239f3b65 xmlns="464847da-6e18-4144-8ad5-5857903e06b6">
      <Terms xmlns="http://schemas.microsoft.com/office/infopath/2007/PartnerControls"/>
    </bc65155f859f476689f41d2e239f3b65>
    <OECDProjectLookup xmlns="b028c3f4-2795-4946-841c-2e1644b148e5">34</OECDProjectLookup>
    <OECDKimBussinessContext xmlns="54c4cd27-f286-408f-9ce0-33c1e0f3ab39" xsi:nil="true"/>
    <eSharePWBTaxHTField0 xmlns="c9f238dd-bb73-4aef-a7a5-d644ad823e52">(n/a)|3adabb5f-45b7-4a20-bdde-219e8d9477af</eSharePWBTaxHTField0>
    <IconOverlay xmlns="http://schemas.microsoft.com/sharepoint/v4" xsi:nil="true"/>
    <DocumentSetDescription xmlns="http://schemas.microsoft.com/sharepoint/v3" xsi:nil="true"/>
    <OECDPinnedBy xmlns="b028c3f4-2795-4946-841c-2e1644b148e5">
      <UserInfo>
        <DisplayName/>
        <AccountId xsi:nil="true"/>
        <AccountType/>
      </UserInfo>
    </OECDPinnedBy>
    <OECDExpirationDate xmlns="464847da-6e18-4144-8ad5-5857903e06b6" xsi:nil="true"/>
    <g2112f02a3d4495984eca02be0a4d37c xmlns="b028c3f4-2795-4946-841c-2e1644b148e5" xsi:nil="true"/>
    <OECDDocumentType xmlns="54c4cd27-f286-408f-9ce0-33c1e0f3ab39" xsi:nil="true"/>
    <d6c688cd0ee448e4bbaea66e1be015fd xmlns="b028c3f4-2795-4946-841c-2e1644b148e5" xsi:nil="true"/>
    <OECDTagsCache xmlns="b028c3f4-2795-4946-841c-2e1644b148e5" xsi:nil="true"/>
    <eShareCommitteeTaxHTField0 xmlns="c9f238dd-bb73-4aef-a7a5-d644ad823e52" xsi:nil="true"/>
    <OECDProjectManager xmlns="b028c3f4-2795-4946-841c-2e1644b148e5">
      <UserInfo>
        <DisplayName/>
        <AccountId>774</AccountId>
        <AccountType/>
      </UserInfo>
    </OECDProjectManager>
    <OECDKimProvenance xmlns="54c4cd27-f286-408f-9ce0-33c1e0f3ab39" xsi:nil="true"/>
    <OECDMainProject xmlns="b028c3f4-2795-4946-841c-2e1644b148e5" xsi:nil="true"/>
    <k521ff600dac4d78b40e1e44ce493525 xmlns="b028c3f4-2795-4946-841c-2e1644b148e5">
      <Terms xmlns="http://schemas.microsoft.com/office/infopath/2007/PartnerControls">
        <TermInfo xmlns="http://schemas.microsoft.com/office/infopath/2007/PartnerControls">
          <TermName xmlns="http://schemas.microsoft.com/office/infopath/2007/PartnerControls">ECO/FO</TermName>
          <TermId xmlns="http://schemas.microsoft.com/office/infopath/2007/PartnerControls">0421869f-dd6d-4a57-aa68-f68dc47925ad</TermId>
        </TermInfo>
      </Terms>
    </k521ff600dac4d78b40e1e44ce493525>
    <OECDKimStatus xmlns="54c4cd27-f286-408f-9ce0-33c1e0f3ab39">Draft</OECDKimStatus>
    <eShareCountryTaxHTField0 xmlns="c9f238dd-bb73-4aef-a7a5-d644ad823e52" xsi:nil="true"/>
    <eShareTopicTaxHTField0 xmlns="c9f238dd-bb73-4aef-a7a5-d644ad823e52">Economic growth|9eba0011-22c6-4045-a791-62556867fb22</eShareTopicTaxHTField0>
    <eShareKeywordsTaxHTField0 xmlns="c9f238dd-bb73-4aef-a7a5-d644ad823e52">Economic Outlook|a9443a1a-b32f-49f3-97a5-13870ae66f90</eShareKeywordsTaxHTField0>
    <OECDProjectMembers xmlns="b028c3f4-2795-4946-841c-2e1644b148e5">
      <UserInfo>
        <DisplayName>MANN Catherine, ECO</DisplayName>
        <AccountId>774</AccountId>
        <AccountType/>
      </UserInfo>
      <UserInfo>
        <DisplayName>GUICHARD Stéphanie, ECO</DisplayName>
        <AccountId>229</AccountId>
        <AccountType/>
      </UserInfo>
      <UserInfo>
        <DisplayName>BARNES Sebastian, ECO</DisplayName>
        <AccountId>116</AccountId>
        <AccountType/>
      </UserInfo>
      <UserInfo>
        <DisplayName>BARNARD Geoff, ECO</DisplayName>
        <AccountId>142</AccountId>
        <AccountType/>
      </UserInfo>
      <UserInfo>
        <DisplayName>ELGHADAB Penny, ECO</DisplayName>
        <AccountId>83</AccountId>
        <AccountType/>
      </UserInfo>
      <UserInfo>
        <DisplayName>PURTELL Susan, ECO</DisplayName>
        <AccountId>71</AccountId>
        <AccountType/>
      </UserInfo>
      <UserInfo>
        <DisplayName>MENKYNA Fusako, ECO</DisplayName>
        <AccountId>478</AccountId>
        <AccountType/>
      </UserInfo>
      <UserInfo>
        <DisplayName>STOKLE Wendy, ECO</DisplayName>
        <AccountId>65</AccountId>
        <AccountType/>
      </UserInfo>
    </OECDProjectMembers>
    <TaxCatchAll xmlns="ca82dde9-3436-4d3d-bddd-d31447390034">
      <Value>43</Value>
      <Value>314</Value>
      <Value>399</Value>
      <Value>407</Value>
    </TaxCatchAll>
    <h8a48b2c364f47209a9f385904d38df5 xmlns="b028c3f4-2795-4946-841c-2e1644b148e5" xsi:nil="true"/>
  </documentManagement>
</p:properties>
</file>

<file path=customXml/item6.xml><?xml version="1.0" encoding="utf-8"?>
<?mso-contentType ?>
<FormTemplates xmlns="http://schemas.microsoft.com/sharepoint/v3/contenttype/forms">
  <Display>OECDListFormCollapsible</Display>
  <Edit>OECDListFormCollapsible</Edit>
  <New>OECDListFormCollapsible</New>
</FormTemplates>
</file>

<file path=customXml/itemProps1.xml><?xml version="1.0" encoding="utf-8"?>
<ds:datastoreItem xmlns:ds="http://schemas.openxmlformats.org/officeDocument/2006/customXml" ds:itemID="{4991A6FE-5E0A-4F82-A1EC-3DDFDB13A2F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54c4cd27-f286-408f-9ce0-33c1e0f3ab39"/>
    <ds:schemaRef ds:uri="464847da-6e18-4144-8ad5-5857903e06b6"/>
    <ds:schemaRef ds:uri="b028c3f4-2795-4946-841c-2e1644b148e5"/>
    <ds:schemaRef ds:uri="c9f238dd-bb73-4aef-a7a5-d644ad823e52"/>
    <ds:schemaRef ds:uri="ca82dde9-3436-4d3d-bddd-d31447390034"/>
    <ds:schemaRef ds:uri="http://schemas.microsoft.com/sharepoint/v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57D3AFC-6D8E-4A5F-8C17-C5F4174B9291}">
  <ds:schemaRefs>
    <ds:schemaRef ds:uri="http://www.oecd.org/eshare/projectsentre/CtFieldPriority/"/>
    <ds:schemaRef ds:uri="http://schemas.microsoft.com/2003/10/Serialization/Arrays"/>
  </ds:schemaRefs>
</ds:datastoreItem>
</file>

<file path=customXml/itemProps3.xml><?xml version="1.0" encoding="utf-8"?>
<ds:datastoreItem xmlns:ds="http://schemas.openxmlformats.org/officeDocument/2006/customXml" ds:itemID="{BFE38C3E-D15A-4F60-97F7-250E70E1EA31}">
  <ds:schemaRefs>
    <ds:schemaRef ds:uri="http://schemas.microsoft.com/sharepoint/events"/>
  </ds:schemaRefs>
</ds:datastoreItem>
</file>

<file path=customXml/itemProps4.xml><?xml version="1.0" encoding="utf-8"?>
<ds:datastoreItem xmlns:ds="http://schemas.openxmlformats.org/officeDocument/2006/customXml" ds:itemID="{FD206EC9-3D5A-4486-AF89-FC69493CBCE0}">
  <ds:schemaRefs>
    <ds:schemaRef ds:uri="Microsoft.SharePoint.Taxonomy.ContentTypeSync"/>
  </ds:schemaRefs>
</ds:datastoreItem>
</file>

<file path=customXml/itemProps5.xml><?xml version="1.0" encoding="utf-8"?>
<ds:datastoreItem xmlns:ds="http://schemas.openxmlformats.org/officeDocument/2006/customXml" ds:itemID="{C09397EE-C9A3-4290-85EF-2ACE6E5A9E27}">
  <ds:schemaRefs>
    <ds:schemaRef ds:uri="http://schemas.microsoft.com/office/2006/documentManagement/types"/>
    <ds:schemaRef ds:uri="http://schemas.microsoft.com/office/infopath/2007/PartnerControls"/>
    <ds:schemaRef ds:uri="http://schemas.openxmlformats.org/package/2006/metadata/core-properties"/>
    <ds:schemaRef ds:uri="54c4cd27-f286-408f-9ce0-33c1e0f3ab39"/>
    <ds:schemaRef ds:uri="http://schemas.microsoft.com/office/2006/metadata/properties"/>
    <ds:schemaRef ds:uri="http://purl.org/dc/elements/1.1/"/>
    <ds:schemaRef ds:uri="464847da-6e18-4144-8ad5-5857903e06b6"/>
    <ds:schemaRef ds:uri="b028c3f4-2795-4946-841c-2e1644b148e5"/>
    <ds:schemaRef ds:uri="http://schemas.microsoft.com/sharepoint/v4"/>
    <ds:schemaRef ds:uri="ca82dde9-3436-4d3d-bddd-d31447390034"/>
    <ds:schemaRef ds:uri="http://www.w3.org/XML/1998/namespace"/>
    <ds:schemaRef ds:uri="http://purl.org/dc/terms/"/>
    <ds:schemaRef ds:uri="c9f238dd-bb73-4aef-a7a5-d644ad823e52"/>
    <ds:schemaRef ds:uri="http://schemas.microsoft.com/sharepoint/v3"/>
    <ds:schemaRef ds:uri="http://purl.org/dc/dcmitype/"/>
  </ds:schemaRefs>
</ds:datastoreItem>
</file>

<file path=customXml/itemProps6.xml><?xml version="1.0" encoding="utf-8"?>
<ds:datastoreItem xmlns:ds="http://schemas.openxmlformats.org/officeDocument/2006/customXml" ds:itemID="{003DD83D-4AB0-4B12-ADA5-F949E8BC24F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OECD_English_white</Template>
  <TotalTime>29205</TotalTime>
  <Words>1189</Words>
  <Application>Microsoft Office PowerPoint</Application>
  <PresentationFormat>On-screen Show (4:3)</PresentationFormat>
  <Paragraphs>187</Paragraphs>
  <Slides>23</Slides>
  <Notes>12</Notes>
  <HiddenSlides>0</HiddenSlides>
  <MMClips>0</MMClips>
  <ScaleCrop>false</ScaleCrop>
  <HeadingPairs>
    <vt:vector size="4" baseType="variant">
      <vt:variant>
        <vt:lpstr>Theme</vt:lpstr>
      </vt:variant>
      <vt:variant>
        <vt:i4>2</vt:i4>
      </vt:variant>
      <vt:variant>
        <vt:lpstr>Slide Titles</vt:lpstr>
      </vt:variant>
      <vt:variant>
        <vt:i4>23</vt:i4>
      </vt:variant>
    </vt:vector>
  </HeadingPairs>
  <TitlesOfParts>
    <vt:vector size="25" baseType="lpstr">
      <vt:lpstr>OECD_English_white</vt:lpstr>
      <vt:lpstr>1_OECD_English_white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Job losses have centred on  people with mid-level skills</vt:lpstr>
      <vt:lpstr>PowerPoint Presentation</vt:lpstr>
      <vt:lpstr>Manufacturing job losses and role for  Technology &amp; Consumer Preferences vs Trade</vt:lpstr>
      <vt:lpstr>Decline in manufacturing matters because activity is regionally concentrated</vt:lpstr>
      <vt:lpstr>Countries with larger falls in manufacturing jobs have increased regional inequality</vt:lpstr>
      <vt:lpstr>PowerPoint Presentation</vt:lpstr>
      <vt:lpstr>PowerPoint Presentation</vt:lpstr>
      <vt:lpstr>PowerPoint Presentation</vt:lpstr>
      <vt:lpstr>PowerPoint Presentation</vt:lpstr>
      <vt:lpstr>PowerPoint Presentation</vt:lpstr>
    </vt:vector>
  </TitlesOfParts>
  <Company>OECD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MENKYNA Fusako</dc:creator>
  <cp:lastModifiedBy>ELGHADAB Penny</cp:lastModifiedBy>
  <cp:revision>1565</cp:revision>
  <cp:lastPrinted>2017-06-02T15:04:18Z</cp:lastPrinted>
  <dcterms:created xsi:type="dcterms:W3CDTF">2015-02-27T14:51:11Z</dcterms:created>
  <dcterms:modified xsi:type="dcterms:W3CDTF">2017-06-07T07:23:31Z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0x0101008B4DD370EC31429186F3AD49F0D3098F00D44DBCB9EB4F45278CB5C9765BE5299500A4858B360C6A491AA753F8BCA47AA91000293773D153AD3C41920164F348570E54</vt:lpwstr>
  </property>
  <property fmtid="{D5CDD505-2E9C-101B-9397-08002B2CF9AE}" pid="3" name="OECDProjectOwnerStructure">
    <vt:lpwstr>407;#ECO/FO|0421869f-dd6d-4a57-aa68-f68dc47925ad</vt:lpwstr>
  </property>
  <property fmtid="{D5CDD505-2E9C-101B-9397-08002B2CF9AE}" pid="4" name="OECDProjectPageLink">
    <vt:lpwstr>8830</vt:lpwstr>
  </property>
  <property fmtid="{D5CDD505-2E9C-101B-9397-08002B2CF9AE}" pid="5" name="OECDCountry">
    <vt:lpwstr/>
  </property>
  <property fmtid="{D5CDD505-2E9C-101B-9397-08002B2CF9AE}" pid="6" name="OECDTopic">
    <vt:lpwstr>399;#Economic growth|9eba0011-22c6-4045-a791-62556867fb22</vt:lpwstr>
  </property>
  <property fmtid="{D5CDD505-2E9C-101B-9397-08002B2CF9AE}" pid="7" name="OECDCommittee">
    <vt:lpwstr/>
  </property>
  <property fmtid="{D5CDD505-2E9C-101B-9397-08002B2CF9AE}" pid="8" name="OECDProjectPartnersStructure">
    <vt:lpwstr/>
  </property>
  <property fmtid="{D5CDD505-2E9C-101B-9397-08002B2CF9AE}" pid="9" name="OECDPWB">
    <vt:lpwstr>43;#(n/a)|3adabb5f-45b7-4a20-bdde-219e8d9477af</vt:lpwstr>
  </property>
  <property fmtid="{D5CDD505-2E9C-101B-9397-08002B2CF9AE}" pid="10" name="OECDKeywords">
    <vt:lpwstr>314;#Economic Outlook|a9443a1a-b32f-49f3-97a5-13870ae66f90</vt:lpwstr>
  </property>
  <property fmtid="{D5CDD505-2E9C-101B-9397-08002B2CF9AE}" pid="11" name="eShareOrganisationTaxHTField0">
    <vt:lpwstr/>
  </property>
  <property fmtid="{D5CDD505-2E9C-101B-9397-08002B2CF9AE}" pid="12" name="OECDHorizontalProjects">
    <vt:lpwstr/>
  </property>
  <property fmtid="{D5CDD505-2E9C-101B-9397-08002B2CF9AE}" pid="13" name="OECDProject">
    <vt:lpwstr/>
  </property>
  <property fmtid="{D5CDD505-2E9C-101B-9397-08002B2CF9AE}" pid="14" name="d0b6f6ac229144c2899590f0436d9385">
    <vt:lpwstr/>
  </property>
  <property fmtid="{D5CDD505-2E9C-101B-9397-08002B2CF9AE}" pid="15" name="OECDOrganisation">
    <vt:lpwstr/>
  </property>
</Properties>
</file>