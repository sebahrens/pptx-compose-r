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ppt/notesSlides/notesSlide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2.xml" ContentType="application/vnd.openxmlformats-officedocument.drawingml.chartshape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1.xml" ContentType="application/vnd.openxmlformats-officedocument.themeOverr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48" r:id="rId1"/>
  </p:sldMasterIdLst>
  <p:notesMasterIdLst>
    <p:notesMasterId r:id="rId28"/>
  </p:notesMasterIdLst>
  <p:handoutMasterIdLst>
    <p:handoutMasterId r:id="rId29"/>
  </p:handoutMasterIdLst>
  <p:sldIdLst>
    <p:sldId id="2134804413" r:id="rId2"/>
    <p:sldId id="2134804414" r:id="rId3"/>
    <p:sldId id="2134804408" r:id="rId4"/>
    <p:sldId id="2134804409" r:id="rId5"/>
    <p:sldId id="2134804395" r:id="rId6"/>
    <p:sldId id="2134804398" r:id="rId7"/>
    <p:sldId id="2134804378" r:id="rId8"/>
    <p:sldId id="2134804389" r:id="rId9"/>
    <p:sldId id="2134804410" r:id="rId10"/>
    <p:sldId id="2134804405" r:id="rId11"/>
    <p:sldId id="2134804412" r:id="rId12"/>
    <p:sldId id="2134804396" r:id="rId13"/>
    <p:sldId id="2134804387" r:id="rId14"/>
    <p:sldId id="2134804411" r:id="rId15"/>
    <p:sldId id="2134804355" r:id="rId16"/>
    <p:sldId id="2134804360" r:id="rId17"/>
    <p:sldId id="1438" r:id="rId18"/>
    <p:sldId id="2134804385" r:id="rId19"/>
    <p:sldId id="1424" r:id="rId20"/>
    <p:sldId id="2134804388" r:id="rId21"/>
    <p:sldId id="2134804390" r:id="rId22"/>
    <p:sldId id="2134804316" r:id="rId23"/>
    <p:sldId id="2134804403" r:id="rId24"/>
    <p:sldId id="2134804402" r:id="rId25"/>
    <p:sldId id="2134804404" r:id="rId26"/>
    <p:sldId id="2134804354" r:id="rId27"/>
  </p:sldIdLst>
  <p:sldSz cx="12192000" cy="6858000"/>
  <p:notesSz cx="6797675" cy="9926638"/>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4D27BEB-33D4-576E-988A-32969632F6C9}" name="Neelam Nizar Verjee" initials="NV" userId="S::nverjee@worldbank.org::e1d5fb58-5d01-4929-9734-88be1983e7e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ulo Guilherme Correa" initials="PGC" lastIdx="0" clrIdx="0">
    <p:extLst>
      <p:ext uri="{19B8F6BF-5375-455C-9EA6-DF929625EA0E}">
        <p15:presenceInfo xmlns:p15="http://schemas.microsoft.com/office/powerpoint/2012/main" userId="S::pcorrea@worldbank.org::870f2a1b-8f05-43bf-bddb-3b63d1bf3b8a" providerId="AD"/>
      </p:ext>
    </p:extLst>
  </p:cmAuthor>
  <p:cmAuthor id="2" name="Fernanda Ailina Pedro Massarongo Chivulele" initials="FAPMC" lastIdx="3" clrIdx="1">
    <p:extLst>
      <p:ext uri="{19B8F6BF-5375-455C-9EA6-DF929625EA0E}">
        <p15:presenceInfo xmlns:p15="http://schemas.microsoft.com/office/powerpoint/2012/main" userId="S::fmassarongochivu@worldbank.org::e7ac58eb-e9b2-4ac1-8c7e-c4290564e50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734829-6AEE-448D-92E1-3217DCE0D28A}" v="60" dt="2022-06-06T14:09:33.8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36" autoAdjust="0"/>
    <p:restoredTop sz="93239" autoAdjust="0"/>
  </p:normalViewPr>
  <p:slideViewPr>
    <p:cSldViewPr snapToGrid="0">
      <p:cViewPr varScale="1">
        <p:scale>
          <a:sx n="89" d="100"/>
          <a:sy n="89" d="100"/>
        </p:scale>
        <p:origin x="1410" y="96"/>
      </p:cViewPr>
      <p:guideLst/>
    </p:cSldViewPr>
  </p:slideViewPr>
  <p:notesTextViewPr>
    <p:cViewPr>
      <p:scale>
        <a:sx n="3" d="2"/>
        <a:sy n="3" d="2"/>
      </p:scale>
      <p:origin x="0" y="0"/>
    </p:cViewPr>
  </p:notesTextViewPr>
  <p:notesViewPr>
    <p:cSldViewPr snapToGrid="0">
      <p:cViewPr varScale="1">
        <p:scale>
          <a:sx n="44" d="100"/>
          <a:sy n="44" d="100"/>
        </p:scale>
        <p:origin x="2852" y="2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38"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o Guilherme Correa" userId="870f2a1b-8f05-43bf-bddb-3b63d1bf3b8a" providerId="ADAL" clId="{3A734829-6AEE-448D-92E1-3217DCE0D28A}"/>
    <pc:docChg chg="undo custSel modSld">
      <pc:chgData name="Paulo Guilherme Correa" userId="870f2a1b-8f05-43bf-bddb-3b63d1bf3b8a" providerId="ADAL" clId="{3A734829-6AEE-448D-92E1-3217DCE0D28A}" dt="2022-06-07T12:24:07.435" v="376" actId="6549"/>
      <pc:docMkLst>
        <pc:docMk/>
      </pc:docMkLst>
      <pc:sldChg chg="modSp mod">
        <pc:chgData name="Paulo Guilherme Correa" userId="870f2a1b-8f05-43bf-bddb-3b63d1bf3b8a" providerId="ADAL" clId="{3A734829-6AEE-448D-92E1-3217DCE0D28A}" dt="2022-06-06T14:12:56.755" v="201" actId="1076"/>
        <pc:sldMkLst>
          <pc:docMk/>
          <pc:sldMk cId="164693797" sldId="1438"/>
        </pc:sldMkLst>
        <pc:spChg chg="mod">
          <ac:chgData name="Paulo Guilherme Correa" userId="870f2a1b-8f05-43bf-bddb-3b63d1bf3b8a" providerId="ADAL" clId="{3A734829-6AEE-448D-92E1-3217DCE0D28A}" dt="2022-06-06T14:12:56.755" v="201" actId="1076"/>
          <ac:spMkLst>
            <pc:docMk/>
            <pc:sldMk cId="164693797" sldId="1438"/>
            <ac:spMk id="34" creationId="{02498E19-A5E1-4FF3-8593-77DDFB633840}"/>
          </ac:spMkLst>
        </pc:spChg>
      </pc:sldChg>
      <pc:sldChg chg="modSp mod">
        <pc:chgData name="Paulo Guilherme Correa" userId="870f2a1b-8f05-43bf-bddb-3b63d1bf3b8a" providerId="ADAL" clId="{3A734829-6AEE-448D-92E1-3217DCE0D28A}" dt="2022-06-06T14:19:32.002" v="276" actId="1076"/>
        <pc:sldMkLst>
          <pc:docMk/>
          <pc:sldMk cId="228573786" sldId="2134804316"/>
        </pc:sldMkLst>
        <pc:spChg chg="mod">
          <ac:chgData name="Paulo Guilherme Correa" userId="870f2a1b-8f05-43bf-bddb-3b63d1bf3b8a" providerId="ADAL" clId="{3A734829-6AEE-448D-92E1-3217DCE0D28A}" dt="2022-06-06T14:19:32.002" v="276" actId="1076"/>
          <ac:spMkLst>
            <pc:docMk/>
            <pc:sldMk cId="228573786" sldId="2134804316"/>
            <ac:spMk id="9" creationId="{EF7E496C-CAB6-4016-A81A-D54963B89A2D}"/>
          </ac:spMkLst>
        </pc:spChg>
      </pc:sldChg>
      <pc:sldChg chg="modSp mod">
        <pc:chgData name="Paulo Guilherme Correa" userId="870f2a1b-8f05-43bf-bddb-3b63d1bf3b8a" providerId="ADAL" clId="{3A734829-6AEE-448D-92E1-3217DCE0D28A}" dt="2022-06-06T13:53:06.682" v="143" actId="113"/>
        <pc:sldMkLst>
          <pc:docMk/>
          <pc:sldMk cId="2098239625" sldId="2134804378"/>
        </pc:sldMkLst>
        <pc:spChg chg="mod">
          <ac:chgData name="Paulo Guilherme Correa" userId="870f2a1b-8f05-43bf-bddb-3b63d1bf3b8a" providerId="ADAL" clId="{3A734829-6AEE-448D-92E1-3217DCE0D28A}" dt="2022-06-06T13:53:06.682" v="143" actId="113"/>
          <ac:spMkLst>
            <pc:docMk/>
            <pc:sldMk cId="2098239625" sldId="2134804378"/>
            <ac:spMk id="7" creationId="{FF5C214D-5EAE-4BCF-B630-4930BE12178E}"/>
          </ac:spMkLst>
        </pc:spChg>
      </pc:sldChg>
      <pc:sldChg chg="modSp mod">
        <pc:chgData name="Paulo Guilherme Correa" userId="870f2a1b-8f05-43bf-bddb-3b63d1bf3b8a" providerId="ADAL" clId="{3A734829-6AEE-448D-92E1-3217DCE0D28A}" dt="2022-06-06T14:13:35.381" v="206" actId="5793"/>
        <pc:sldMkLst>
          <pc:docMk/>
          <pc:sldMk cId="2480337501" sldId="2134804385"/>
        </pc:sldMkLst>
        <pc:spChg chg="mod">
          <ac:chgData name="Paulo Guilherme Correa" userId="870f2a1b-8f05-43bf-bddb-3b63d1bf3b8a" providerId="ADAL" clId="{3A734829-6AEE-448D-92E1-3217DCE0D28A}" dt="2022-06-06T14:13:35.381" v="206" actId="5793"/>
          <ac:spMkLst>
            <pc:docMk/>
            <pc:sldMk cId="2480337501" sldId="2134804385"/>
            <ac:spMk id="3" creationId="{D4328182-DCAC-44BE-B53C-25FEF02C2D3B}"/>
          </ac:spMkLst>
        </pc:spChg>
      </pc:sldChg>
      <pc:sldChg chg="modSp mod">
        <pc:chgData name="Paulo Guilherme Correa" userId="870f2a1b-8f05-43bf-bddb-3b63d1bf3b8a" providerId="ADAL" clId="{3A734829-6AEE-448D-92E1-3217DCE0D28A}" dt="2022-06-07T12:24:07.435" v="376" actId="6549"/>
        <pc:sldMkLst>
          <pc:docMk/>
          <pc:sldMk cId="1591212298" sldId="2134804387"/>
        </pc:sldMkLst>
        <pc:spChg chg="mod">
          <ac:chgData name="Paulo Guilherme Correa" userId="870f2a1b-8f05-43bf-bddb-3b63d1bf3b8a" providerId="ADAL" clId="{3A734829-6AEE-448D-92E1-3217DCE0D28A}" dt="2022-06-07T12:24:07.435" v="376" actId="6549"/>
          <ac:spMkLst>
            <pc:docMk/>
            <pc:sldMk cId="1591212298" sldId="2134804387"/>
            <ac:spMk id="3" creationId="{43620D38-256E-4067-AE12-400CAF4C9E44}"/>
          </ac:spMkLst>
        </pc:spChg>
      </pc:sldChg>
      <pc:sldChg chg="modSp mod">
        <pc:chgData name="Paulo Guilherme Correa" userId="870f2a1b-8f05-43bf-bddb-3b63d1bf3b8a" providerId="ADAL" clId="{3A734829-6AEE-448D-92E1-3217DCE0D28A}" dt="2022-06-06T14:17:26.813" v="214" actId="1076"/>
        <pc:sldMkLst>
          <pc:docMk/>
          <pc:sldMk cId="3822225861" sldId="2134804388"/>
        </pc:sldMkLst>
        <pc:spChg chg="mod">
          <ac:chgData name="Paulo Guilherme Correa" userId="870f2a1b-8f05-43bf-bddb-3b63d1bf3b8a" providerId="ADAL" clId="{3A734829-6AEE-448D-92E1-3217DCE0D28A}" dt="2022-06-06T14:17:23.377" v="213" actId="1076"/>
          <ac:spMkLst>
            <pc:docMk/>
            <pc:sldMk cId="3822225861" sldId="2134804388"/>
            <ac:spMk id="2" creationId="{23A3676B-4603-455B-9BA6-AAFD3FF0ACAB}"/>
          </ac:spMkLst>
        </pc:spChg>
        <pc:spChg chg="mod">
          <ac:chgData name="Paulo Guilherme Correa" userId="870f2a1b-8f05-43bf-bddb-3b63d1bf3b8a" providerId="ADAL" clId="{3A734829-6AEE-448D-92E1-3217DCE0D28A}" dt="2022-06-06T14:17:26.813" v="214" actId="1076"/>
          <ac:spMkLst>
            <pc:docMk/>
            <pc:sldMk cId="3822225861" sldId="2134804388"/>
            <ac:spMk id="3" creationId="{95DD31EA-D262-4017-A859-112A4B3C2A17}"/>
          </ac:spMkLst>
        </pc:spChg>
      </pc:sldChg>
      <pc:sldChg chg="modSp mod">
        <pc:chgData name="Paulo Guilherme Correa" userId="870f2a1b-8f05-43bf-bddb-3b63d1bf3b8a" providerId="ADAL" clId="{3A734829-6AEE-448D-92E1-3217DCE0D28A}" dt="2022-06-06T13:55:15.945" v="149" actId="20577"/>
        <pc:sldMkLst>
          <pc:docMk/>
          <pc:sldMk cId="3355522750" sldId="2134804389"/>
        </pc:sldMkLst>
        <pc:spChg chg="mod">
          <ac:chgData name="Paulo Guilherme Correa" userId="870f2a1b-8f05-43bf-bddb-3b63d1bf3b8a" providerId="ADAL" clId="{3A734829-6AEE-448D-92E1-3217DCE0D28A}" dt="2022-06-06T13:55:15.945" v="149" actId="20577"/>
          <ac:spMkLst>
            <pc:docMk/>
            <pc:sldMk cId="3355522750" sldId="2134804389"/>
            <ac:spMk id="6" creationId="{113BE710-35E0-4B80-8E28-6785528D3EDB}"/>
          </ac:spMkLst>
        </pc:spChg>
      </pc:sldChg>
      <pc:sldChg chg="modSp mod">
        <pc:chgData name="Paulo Guilherme Correa" userId="870f2a1b-8f05-43bf-bddb-3b63d1bf3b8a" providerId="ADAL" clId="{3A734829-6AEE-448D-92E1-3217DCE0D28A}" dt="2022-06-06T14:18:19.701" v="222" actId="20577"/>
        <pc:sldMkLst>
          <pc:docMk/>
          <pc:sldMk cId="1963031688" sldId="2134804390"/>
        </pc:sldMkLst>
        <pc:spChg chg="mod">
          <ac:chgData name="Paulo Guilherme Correa" userId="870f2a1b-8f05-43bf-bddb-3b63d1bf3b8a" providerId="ADAL" clId="{3A734829-6AEE-448D-92E1-3217DCE0D28A}" dt="2022-06-06T14:17:35.081" v="215" actId="1076"/>
          <ac:spMkLst>
            <pc:docMk/>
            <pc:sldMk cId="1963031688" sldId="2134804390"/>
            <ac:spMk id="2" creationId="{31E02326-9E63-4DF0-AF0D-21FCFEC54D28}"/>
          </ac:spMkLst>
        </pc:spChg>
        <pc:spChg chg="mod">
          <ac:chgData name="Paulo Guilherme Correa" userId="870f2a1b-8f05-43bf-bddb-3b63d1bf3b8a" providerId="ADAL" clId="{3A734829-6AEE-448D-92E1-3217DCE0D28A}" dt="2022-06-06T14:18:19.701" v="222" actId="20577"/>
          <ac:spMkLst>
            <pc:docMk/>
            <pc:sldMk cId="1963031688" sldId="2134804390"/>
            <ac:spMk id="3" creationId="{CB65E0F7-FCC9-4A64-911C-50F2460F3EEB}"/>
          </ac:spMkLst>
        </pc:spChg>
      </pc:sldChg>
      <pc:sldChg chg="modSp mod">
        <pc:chgData name="Paulo Guilherme Correa" userId="870f2a1b-8f05-43bf-bddb-3b63d1bf3b8a" providerId="ADAL" clId="{3A734829-6AEE-448D-92E1-3217DCE0D28A}" dt="2022-06-06T13:53:34.707" v="145" actId="27918"/>
        <pc:sldMkLst>
          <pc:docMk/>
          <pc:sldMk cId="279434536" sldId="2134804395"/>
        </pc:sldMkLst>
        <pc:spChg chg="mod">
          <ac:chgData name="Paulo Guilherme Correa" userId="870f2a1b-8f05-43bf-bddb-3b63d1bf3b8a" providerId="ADAL" clId="{3A734829-6AEE-448D-92E1-3217DCE0D28A}" dt="2022-06-06T13:48:58.446" v="93" actId="20577"/>
          <ac:spMkLst>
            <pc:docMk/>
            <pc:sldMk cId="279434536" sldId="2134804395"/>
            <ac:spMk id="7" creationId="{FF5C214D-5EAE-4BCF-B630-4930BE12178E}"/>
          </ac:spMkLst>
        </pc:spChg>
        <pc:graphicFrameChg chg="mod">
          <ac:chgData name="Paulo Guilherme Correa" userId="870f2a1b-8f05-43bf-bddb-3b63d1bf3b8a" providerId="ADAL" clId="{3A734829-6AEE-448D-92E1-3217DCE0D28A}" dt="2022-06-06T13:52:04.079" v="139" actId="20577"/>
          <ac:graphicFrameMkLst>
            <pc:docMk/>
            <pc:sldMk cId="279434536" sldId="2134804395"/>
            <ac:graphicFrameMk id="9" creationId="{410C8409-F0C1-4A06-B33B-032AB030B33D}"/>
          </ac:graphicFrameMkLst>
        </pc:graphicFrameChg>
        <pc:graphicFrameChg chg="mod">
          <ac:chgData name="Paulo Guilherme Correa" userId="870f2a1b-8f05-43bf-bddb-3b63d1bf3b8a" providerId="ADAL" clId="{3A734829-6AEE-448D-92E1-3217DCE0D28A}" dt="2022-06-06T13:51:51.318" v="100" actId="20577"/>
          <ac:graphicFrameMkLst>
            <pc:docMk/>
            <pc:sldMk cId="279434536" sldId="2134804395"/>
            <ac:graphicFrameMk id="11" creationId="{C72742A9-AFDE-48B8-85B0-5CF91FC7EC7A}"/>
          </ac:graphicFrameMkLst>
        </pc:graphicFrameChg>
      </pc:sldChg>
      <pc:sldChg chg="modSp mod">
        <pc:chgData name="Paulo Guilherme Correa" userId="870f2a1b-8f05-43bf-bddb-3b63d1bf3b8a" providerId="ADAL" clId="{3A734829-6AEE-448D-92E1-3217DCE0D28A}" dt="2022-06-06T14:10:39.028" v="200" actId="1076"/>
        <pc:sldMkLst>
          <pc:docMk/>
          <pc:sldMk cId="893228102" sldId="2134804396"/>
        </pc:sldMkLst>
        <pc:spChg chg="mod">
          <ac:chgData name="Paulo Guilherme Correa" userId="870f2a1b-8f05-43bf-bddb-3b63d1bf3b8a" providerId="ADAL" clId="{3A734829-6AEE-448D-92E1-3217DCE0D28A}" dt="2022-06-06T14:10:34.407" v="198" actId="14100"/>
          <ac:spMkLst>
            <pc:docMk/>
            <pc:sldMk cId="893228102" sldId="2134804396"/>
            <ac:spMk id="3" creationId="{D13B107D-9314-4019-A8AC-8BDA69837A5E}"/>
          </ac:spMkLst>
        </pc:spChg>
        <pc:spChg chg="mod">
          <ac:chgData name="Paulo Guilherme Correa" userId="870f2a1b-8f05-43bf-bddb-3b63d1bf3b8a" providerId="ADAL" clId="{3A734829-6AEE-448D-92E1-3217DCE0D28A}" dt="2022-06-06T14:10:39.028" v="200" actId="1076"/>
          <ac:spMkLst>
            <pc:docMk/>
            <pc:sldMk cId="893228102" sldId="2134804396"/>
            <ac:spMk id="9" creationId="{6122B999-DE86-4BC0-AC20-DE5BD83111C8}"/>
          </ac:spMkLst>
        </pc:spChg>
        <pc:graphicFrameChg chg="mod modGraphic">
          <ac:chgData name="Paulo Guilherme Correa" userId="870f2a1b-8f05-43bf-bddb-3b63d1bf3b8a" providerId="ADAL" clId="{3A734829-6AEE-448D-92E1-3217DCE0D28A}" dt="2022-06-06T14:10:37.211" v="199" actId="14100"/>
          <ac:graphicFrameMkLst>
            <pc:docMk/>
            <pc:sldMk cId="893228102" sldId="2134804396"/>
            <ac:graphicFrameMk id="7" creationId="{32DB655D-42A7-4817-899F-7D22316FD394}"/>
          </ac:graphicFrameMkLst>
        </pc:graphicFrameChg>
      </pc:sldChg>
      <pc:sldChg chg="modSp">
        <pc:chgData name="Paulo Guilherme Correa" userId="870f2a1b-8f05-43bf-bddb-3b63d1bf3b8a" providerId="ADAL" clId="{3A734829-6AEE-448D-92E1-3217DCE0D28A}" dt="2022-06-06T13:52:33.621" v="141" actId="14100"/>
        <pc:sldMkLst>
          <pc:docMk/>
          <pc:sldMk cId="1570841410" sldId="2134804398"/>
        </pc:sldMkLst>
        <pc:graphicFrameChg chg="mod">
          <ac:chgData name="Paulo Guilherme Correa" userId="870f2a1b-8f05-43bf-bddb-3b63d1bf3b8a" providerId="ADAL" clId="{3A734829-6AEE-448D-92E1-3217DCE0D28A}" dt="2022-06-06T13:52:33.621" v="141" actId="14100"/>
          <ac:graphicFrameMkLst>
            <pc:docMk/>
            <pc:sldMk cId="1570841410" sldId="2134804398"/>
            <ac:graphicFrameMk id="5" creationId="{C9A68FB0-9030-48F4-90BB-6738D978B96B}"/>
          </ac:graphicFrameMkLst>
        </pc:graphicFrameChg>
        <pc:graphicFrameChg chg="mod">
          <ac:chgData name="Paulo Guilherme Correa" userId="870f2a1b-8f05-43bf-bddb-3b63d1bf3b8a" providerId="ADAL" clId="{3A734829-6AEE-448D-92E1-3217DCE0D28A}" dt="2022-06-06T13:52:31.181" v="140" actId="14100"/>
          <ac:graphicFrameMkLst>
            <pc:docMk/>
            <pc:sldMk cId="1570841410" sldId="2134804398"/>
            <ac:graphicFrameMk id="7" creationId="{CD771C82-20D9-438B-98BF-9F1AA3BE667C}"/>
          </ac:graphicFrameMkLst>
        </pc:graphicFrameChg>
      </pc:sldChg>
      <pc:sldChg chg="modSp mod modNotesTx">
        <pc:chgData name="Paulo Guilherme Correa" userId="870f2a1b-8f05-43bf-bddb-3b63d1bf3b8a" providerId="ADAL" clId="{3A734829-6AEE-448D-92E1-3217DCE0D28A}" dt="2022-06-06T14:20:11.608" v="279" actId="20577"/>
        <pc:sldMkLst>
          <pc:docMk/>
          <pc:sldMk cId="336790590" sldId="2134804402"/>
        </pc:sldMkLst>
        <pc:spChg chg="mod">
          <ac:chgData name="Paulo Guilherme Correa" userId="870f2a1b-8f05-43bf-bddb-3b63d1bf3b8a" providerId="ADAL" clId="{3A734829-6AEE-448D-92E1-3217DCE0D28A}" dt="2022-06-06T14:20:07.989" v="278" actId="20577"/>
          <ac:spMkLst>
            <pc:docMk/>
            <pc:sldMk cId="336790590" sldId="2134804402"/>
            <ac:spMk id="3" creationId="{2D9E4DBD-86F0-4B7F-911F-E98F78863434}"/>
          </ac:spMkLst>
        </pc:spChg>
      </pc:sldChg>
      <pc:sldChg chg="modSp mod">
        <pc:chgData name="Paulo Guilherme Correa" userId="870f2a1b-8f05-43bf-bddb-3b63d1bf3b8a" providerId="ADAL" clId="{3A734829-6AEE-448D-92E1-3217DCE0D28A}" dt="2022-06-06T14:19:56.615" v="277" actId="20577"/>
        <pc:sldMkLst>
          <pc:docMk/>
          <pc:sldMk cId="1294046964" sldId="2134804403"/>
        </pc:sldMkLst>
        <pc:spChg chg="mod">
          <ac:chgData name="Paulo Guilherme Correa" userId="870f2a1b-8f05-43bf-bddb-3b63d1bf3b8a" providerId="ADAL" clId="{3A734829-6AEE-448D-92E1-3217DCE0D28A}" dt="2022-06-06T14:19:56.615" v="277" actId="20577"/>
          <ac:spMkLst>
            <pc:docMk/>
            <pc:sldMk cId="1294046964" sldId="2134804403"/>
            <ac:spMk id="3" creationId="{0AAF4E04-EEC2-485A-878B-D07B4647ED1C}"/>
          </ac:spMkLst>
        </pc:spChg>
      </pc:sldChg>
      <pc:sldChg chg="modNotesTx">
        <pc:chgData name="Paulo Guilherme Correa" userId="870f2a1b-8f05-43bf-bddb-3b63d1bf3b8a" providerId="ADAL" clId="{3A734829-6AEE-448D-92E1-3217DCE0D28A}" dt="2022-06-06T14:20:28.606" v="280" actId="20577"/>
        <pc:sldMkLst>
          <pc:docMk/>
          <pc:sldMk cId="502533941" sldId="2134804404"/>
        </pc:sldMkLst>
      </pc:sldChg>
      <pc:sldChg chg="modSp mod">
        <pc:chgData name="Paulo Guilherme Correa" userId="870f2a1b-8f05-43bf-bddb-3b63d1bf3b8a" providerId="ADAL" clId="{3A734829-6AEE-448D-92E1-3217DCE0D28A}" dt="2022-06-06T13:55:37.735" v="150" actId="113"/>
        <pc:sldMkLst>
          <pc:docMk/>
          <pc:sldMk cId="1765248067" sldId="2134804405"/>
        </pc:sldMkLst>
        <pc:spChg chg="mod">
          <ac:chgData name="Paulo Guilherme Correa" userId="870f2a1b-8f05-43bf-bddb-3b63d1bf3b8a" providerId="ADAL" clId="{3A734829-6AEE-448D-92E1-3217DCE0D28A}" dt="2022-06-06T13:55:37.735" v="150" actId="113"/>
          <ac:spMkLst>
            <pc:docMk/>
            <pc:sldMk cId="1765248067" sldId="2134804405"/>
            <ac:spMk id="3" creationId="{AD41F2BB-97F4-4383-8764-F002A22E027D}"/>
          </ac:spMkLst>
        </pc:spChg>
      </pc:sldChg>
      <pc:sldChg chg="modSp mod">
        <pc:chgData name="Paulo Guilherme Correa" userId="870f2a1b-8f05-43bf-bddb-3b63d1bf3b8a" providerId="ADAL" clId="{3A734829-6AEE-448D-92E1-3217DCE0D28A}" dt="2022-06-06T13:56:40.231" v="158" actId="20577"/>
        <pc:sldMkLst>
          <pc:docMk/>
          <pc:sldMk cId="1828922060" sldId="2134804409"/>
        </pc:sldMkLst>
        <pc:spChg chg="mod">
          <ac:chgData name="Paulo Guilherme Correa" userId="870f2a1b-8f05-43bf-bddb-3b63d1bf3b8a" providerId="ADAL" clId="{3A734829-6AEE-448D-92E1-3217DCE0D28A}" dt="2022-06-06T13:56:40.231" v="158" actId="20577"/>
          <ac:spMkLst>
            <pc:docMk/>
            <pc:sldMk cId="1828922060" sldId="2134804409"/>
            <ac:spMk id="3" creationId="{A71C13BF-78D7-4831-B2B9-0342F47476B7}"/>
          </ac:spMkLst>
        </pc:spChg>
      </pc:sldChg>
      <pc:sldChg chg="modSp mod">
        <pc:chgData name="Paulo Guilherme Correa" userId="870f2a1b-8f05-43bf-bddb-3b63d1bf3b8a" providerId="ADAL" clId="{3A734829-6AEE-448D-92E1-3217DCE0D28A}" dt="2022-06-06T13:57:55.044" v="159" actId="20577"/>
        <pc:sldMkLst>
          <pc:docMk/>
          <pc:sldMk cId="3817913634" sldId="2134804410"/>
        </pc:sldMkLst>
        <pc:spChg chg="mod">
          <ac:chgData name="Paulo Guilherme Correa" userId="870f2a1b-8f05-43bf-bddb-3b63d1bf3b8a" providerId="ADAL" clId="{3A734829-6AEE-448D-92E1-3217DCE0D28A}" dt="2022-06-06T13:57:55.044" v="159" actId="20577"/>
          <ac:spMkLst>
            <pc:docMk/>
            <pc:sldMk cId="3817913634" sldId="2134804410"/>
            <ac:spMk id="3" creationId="{A71C13BF-78D7-4831-B2B9-0342F47476B7}"/>
          </ac:spMkLst>
        </pc:spChg>
      </pc:sldChg>
      <pc:sldChg chg="modSp mod">
        <pc:chgData name="Paulo Guilherme Correa" userId="870f2a1b-8f05-43bf-bddb-3b63d1bf3b8a" providerId="ADAL" clId="{3A734829-6AEE-448D-92E1-3217DCE0D28A}" dt="2022-06-06T13:58:00.042" v="160" actId="20577"/>
        <pc:sldMkLst>
          <pc:docMk/>
          <pc:sldMk cId="1566909184" sldId="2134804411"/>
        </pc:sldMkLst>
        <pc:spChg chg="mod">
          <ac:chgData name="Paulo Guilherme Correa" userId="870f2a1b-8f05-43bf-bddb-3b63d1bf3b8a" providerId="ADAL" clId="{3A734829-6AEE-448D-92E1-3217DCE0D28A}" dt="2022-06-06T13:58:00.042" v="160" actId="20577"/>
          <ac:spMkLst>
            <pc:docMk/>
            <pc:sldMk cId="1566909184" sldId="2134804411"/>
            <ac:spMk id="3" creationId="{A71C13BF-78D7-4831-B2B9-0342F47476B7}"/>
          </ac:spMkLst>
        </pc:spChg>
      </pc:sldChg>
      <pc:sldChg chg="modSp mod">
        <pc:chgData name="Paulo Guilherme Correa" userId="870f2a1b-8f05-43bf-bddb-3b63d1bf3b8a" providerId="ADAL" clId="{3A734829-6AEE-448D-92E1-3217DCE0D28A}" dt="2022-06-06T14:09:56.134" v="194" actId="14100"/>
        <pc:sldMkLst>
          <pc:docMk/>
          <pc:sldMk cId="594525742" sldId="2134804412"/>
        </pc:sldMkLst>
        <pc:spChg chg="mod">
          <ac:chgData name="Paulo Guilherme Correa" userId="870f2a1b-8f05-43bf-bddb-3b63d1bf3b8a" providerId="ADAL" clId="{3A734829-6AEE-448D-92E1-3217DCE0D28A}" dt="2022-06-06T14:09:56.134" v="194" actId="14100"/>
          <ac:spMkLst>
            <pc:docMk/>
            <pc:sldMk cId="594525742" sldId="2134804412"/>
            <ac:spMk id="3" creationId="{AD41F2BB-97F4-4383-8764-F002A22E027D}"/>
          </ac:spMkLst>
        </pc:spChg>
        <pc:spChg chg="mod">
          <ac:chgData name="Paulo Guilherme Correa" userId="870f2a1b-8f05-43bf-bddb-3b63d1bf3b8a" providerId="ADAL" clId="{3A734829-6AEE-448D-92E1-3217DCE0D28A}" dt="2022-06-06T14:09:30.434" v="192" actId="1076"/>
          <ac:spMkLst>
            <pc:docMk/>
            <pc:sldMk cId="594525742" sldId="2134804412"/>
            <ac:spMk id="10" creationId="{2F08AA56-3BA1-41C9-8EC2-A2B8C5546FC8}"/>
          </ac:spMkLst>
        </pc:spChg>
        <pc:graphicFrameChg chg="mod">
          <ac:chgData name="Paulo Guilherme Correa" userId="870f2a1b-8f05-43bf-bddb-3b63d1bf3b8a" providerId="ADAL" clId="{3A734829-6AEE-448D-92E1-3217DCE0D28A}" dt="2022-06-06T14:09:33.848" v="193"/>
          <ac:graphicFrameMkLst>
            <pc:docMk/>
            <pc:sldMk cId="594525742" sldId="2134804412"/>
            <ac:graphicFrameMk id="9" creationId="{A5499A8E-A137-4699-BE3A-E5C6193DB181}"/>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wb208545\AppData\Local\Microsoft\Windows\INetCache\Content.Outlook\6T69VSB3\WEO_Data.xls.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_rels/chart3.xml.rels><?xml version="1.0" encoding="UTF-8" standalone="yes"?>
<Relationships xmlns="http://schemas.openxmlformats.org/package/2006/relationships"><Relationship Id="rId3" Type="http://schemas.openxmlformats.org/officeDocument/2006/relationships/oleObject" Target="../embeddings/oleObject1.bin"/><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embeddings/oleObject2.bin"/><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2.xml"/></Relationships>
</file>

<file path=ppt/charts/_rels/chart5.xml.rels><?xml version="1.0" encoding="UTF-8" standalone="yes"?>
<Relationships xmlns="http://schemas.openxmlformats.org/package/2006/relationships"><Relationship Id="rId3" Type="http://schemas.openxmlformats.org/officeDocument/2006/relationships/oleObject" Target="../embeddings/oleObject3.bin"/><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embeddings/oleObject4.bin"/><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embeddings/oleObject5.bin"/><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embeddings/oleObject6.bin"/><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package" Target="../embeddings/Microsoft_Excel_Worksheet1.xlsx"/></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embeddings/oleObject7.bin"/></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050" b="1" i="0" u="none" strike="noStrike" kern="1200" spc="0" baseline="0" dirty="0" smtClean="0">
                <a:solidFill>
                  <a:schemeClr val="tx1"/>
                </a:solidFill>
                <a:latin typeface="Arial" panose="020B0604020202020204" pitchFamily="34" charset="0"/>
                <a:ea typeface="+mn-ea"/>
                <a:cs typeface="Arial" panose="020B0604020202020204" pitchFamily="34" charset="0"/>
              </a:defRPr>
            </a:pPr>
            <a:r>
              <a:rPr lang="en-US" sz="1050" b="1" i="0" u="none" strike="noStrike" kern="1200" spc="0" baseline="0" dirty="0">
                <a:solidFill>
                  <a:schemeClr val="tx1"/>
                </a:solidFill>
                <a:latin typeface="Arial" panose="020B0604020202020204" pitchFamily="34" charset="0"/>
                <a:ea typeface="+mn-ea"/>
                <a:cs typeface="Arial" panose="020B0604020202020204" pitchFamily="34" charset="0"/>
              </a:rPr>
              <a:t>Armutsraten und Gesamtzahl der Armen </a:t>
            </a:r>
          </a:p>
        </c:rich>
      </c:tx>
      <c:layout>
        <c:manualLayout>
          <c:xMode val="edge"/>
          <c:yMode val="edge"/>
          <c:x val="9.1588992193222724E-2"/>
          <c:y val="0"/>
        </c:manualLayout>
      </c:layout>
      <c:overlay val="0"/>
      <c:spPr>
        <a:noFill/>
        <a:ln>
          <a:noFill/>
        </a:ln>
        <a:effectLst/>
      </c:spPr>
      <c:txPr>
        <a:bodyPr rot="0" spcFirstLastPara="1" vertOverflow="ellipsis" vert="horz" wrap="square" anchor="ctr" anchorCtr="1"/>
        <a:lstStyle/>
        <a:p>
          <a:pPr>
            <a:defRPr lang="en-US" sz="1050" b="1" i="0" u="none" strike="noStrike" kern="1200" spc="0" baseline="0" dirty="0" smtClean="0">
              <a:solidFill>
                <a:schemeClr val="tx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0.13577741126953724"/>
          <c:y val="0.15256668497833117"/>
          <c:w val="0.68613505237520989"/>
          <c:h val="0.63899570693198227"/>
        </c:manualLayout>
      </c:layout>
      <c:lineChart>
        <c:grouping val="standard"/>
        <c:varyColors val="0"/>
        <c:ser>
          <c:idx val="6"/>
          <c:order val="0"/>
          <c:tx>
            <c:strRef>
              <c:f>chart!$I$28</c:f>
              <c:strCache>
                <c:ptCount val="1"/>
                <c:pt idx="0">
                  <c:v>Taxa International de pobreza (Eixo Esq)</c:v>
                </c:pt>
              </c:strCache>
            </c:strRef>
          </c:tx>
          <c:spPr>
            <a:ln w="25400" cap="rnd">
              <a:solidFill>
                <a:srgbClr val="7A6563"/>
              </a:solidFill>
              <a:round/>
            </a:ln>
            <a:effectLst/>
          </c:spPr>
          <c:marker>
            <c:symbol val="none"/>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chart!$AO$4:$AO$20</c:f>
              <c:numCache>
                <c:formatCode>General</c:formatCode>
                <c:ptCount val="17"/>
                <c:pt idx="0">
                  <c:v>#N/A</c:v>
                </c:pt>
                <c:pt idx="1">
                  <c:v>#N/A</c:v>
                </c:pt>
                <c:pt idx="2">
                  <c:v>#N/A</c:v>
                </c:pt>
                <c:pt idx="3">
                  <c:v>69.65290274427916</c:v>
                </c:pt>
                <c:pt idx="4">
                  <c:v>#N/A</c:v>
                </c:pt>
                <c:pt idx="5">
                  <c:v>#N/A</c:v>
                </c:pt>
                <c:pt idx="6">
                  <c:v>#N/A</c:v>
                </c:pt>
                <c:pt idx="7">
                  <c:v>#N/A</c:v>
                </c:pt>
                <c:pt idx="8">
                  <c:v>#N/A</c:v>
                </c:pt>
                <c:pt idx="9">
                  <c:v>63.680985966479739</c:v>
                </c:pt>
                <c:pt idx="10">
                  <c:v>#N/A</c:v>
                </c:pt>
                <c:pt idx="11">
                  <c:v>#N/A</c:v>
                </c:pt>
                <c:pt idx="12">
                  <c:v>#N/A</c:v>
                </c:pt>
                <c:pt idx="13">
                  <c:v>#N/A</c:v>
                </c:pt>
                <c:pt idx="14">
                  <c:v>#N/A</c:v>
                </c:pt>
                <c:pt idx="15">
                  <c:v>#N/A</c:v>
                </c:pt>
                <c:pt idx="16">
                  <c:v>#N/A</c:v>
                </c:pt>
              </c:numCache>
            </c:numRef>
          </c:val>
          <c:smooth val="1"/>
          <c:extLst>
            <c:ext xmlns:c16="http://schemas.microsoft.com/office/drawing/2014/chart" uri="{C3380CC4-5D6E-409C-BE32-E72D297353CC}">
              <c16:uniqueId val="{00000000-640A-45DA-9777-4CBE0359EE15}"/>
            </c:ext>
          </c:extLst>
        </c:ser>
        <c:ser>
          <c:idx val="7"/>
          <c:order val="1"/>
          <c:tx>
            <c:strRef>
              <c:f>chart!$K$28</c:f>
              <c:strCache>
                <c:ptCount val="1"/>
                <c:pt idx="0">
                  <c:v>Upper middle-income pov. rate</c:v>
                </c:pt>
              </c:strCache>
            </c:strRef>
          </c:tx>
          <c:spPr>
            <a:ln w="25400" cap="rnd">
              <a:solidFill>
                <a:srgbClr val="CACAAA"/>
              </a:solidFill>
              <a:round/>
            </a:ln>
            <a:effectLst/>
          </c:spPr>
          <c:marker>
            <c:symbol val="circle"/>
            <c:size val="5"/>
            <c:spPr>
              <a:solidFill>
                <a:srgbClr val="CACAAA"/>
              </a:solidFill>
              <a:ln w="12700">
                <a:solidFill>
                  <a:srgbClr val="CACAAA"/>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chart!$AQ$4:$AQ$23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1"/>
          <c:extLst>
            <c:ext xmlns:c16="http://schemas.microsoft.com/office/drawing/2014/chart" uri="{C3380CC4-5D6E-409C-BE32-E72D297353CC}">
              <c16:uniqueId val="{00000001-640A-45DA-9777-4CBE0359EE15}"/>
            </c:ext>
          </c:extLst>
        </c:ser>
        <c:ser>
          <c:idx val="11"/>
          <c:order val="3"/>
          <c:tx>
            <c:strRef>
              <c:f>chart!$BK$3</c:f>
              <c:strCache>
                <c:ptCount val="1"/>
                <c:pt idx="0">
                  <c:v>IPR0*</c:v>
                </c:pt>
              </c:strCache>
            </c:strRef>
          </c:tx>
          <c:spPr>
            <a:ln w="25400" cap="rnd">
              <a:solidFill>
                <a:srgbClr val="7A6563"/>
              </a:solidFill>
              <a:prstDash val="solid"/>
              <a:round/>
            </a:ln>
            <a:effectLst/>
          </c:spPr>
          <c:marker>
            <c:symbol val="none"/>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chart!$BK$4:$BK$20</c:f>
              <c:numCache>
                <c:formatCode>General</c:formatCode>
                <c:ptCount val="17"/>
                <c:pt idx="0">
                  <c:v>#N/A</c:v>
                </c:pt>
                <c:pt idx="1">
                  <c:v>#N/A</c:v>
                </c:pt>
                <c:pt idx="2">
                  <c:v>#N/A</c:v>
                </c:pt>
                <c:pt idx="3">
                  <c:v>#N/A</c:v>
                </c:pt>
                <c:pt idx="4">
                  <c:v>#N/A</c:v>
                </c:pt>
                <c:pt idx="5">
                  <c:v>#N/A</c:v>
                </c:pt>
                <c:pt idx="6">
                  <c:v>#N/A</c:v>
                </c:pt>
                <c:pt idx="7">
                  <c:v>#N/A</c:v>
                </c:pt>
                <c:pt idx="8">
                  <c:v>#N/A</c:v>
                </c:pt>
                <c:pt idx="9">
                  <c:v>63.680985966479739</c:v>
                </c:pt>
                <c:pt idx="10">
                  <c:v>62.419725833929739</c:v>
                </c:pt>
                <c:pt idx="11">
                  <c:v>62.116122417403098</c:v>
                </c:pt>
                <c:pt idx="12">
                  <c:v>61.801116062157107</c:v>
                </c:pt>
                <c:pt idx="13">
                  <c:v>61.646681282770558</c:v>
                </c:pt>
                <c:pt idx="14">
                  <c:v>61.85320075671347</c:v>
                </c:pt>
                <c:pt idx="15">
                  <c:v>63.266051265540213</c:v>
                </c:pt>
                <c:pt idx="16">
                  <c:v>63.514261170090229</c:v>
                </c:pt>
              </c:numCache>
            </c:numRef>
          </c:val>
          <c:smooth val="1"/>
          <c:extLst>
            <c:ext xmlns:c16="http://schemas.microsoft.com/office/drawing/2014/chart" uri="{C3380CC4-5D6E-409C-BE32-E72D297353CC}">
              <c16:uniqueId val="{00000002-640A-45DA-9777-4CBE0359EE15}"/>
            </c:ext>
          </c:extLst>
        </c:ser>
        <c:ser>
          <c:idx val="1"/>
          <c:order val="5"/>
          <c:tx>
            <c:strRef>
              <c:f>chart!$BM$3</c:f>
              <c:strCache>
                <c:ptCount val="1"/>
                <c:pt idx="0">
                  <c:v>UMPR0*</c:v>
                </c:pt>
              </c:strCache>
            </c:strRef>
          </c:tx>
          <c:spPr>
            <a:ln w="25400" cap="rnd">
              <a:solidFill>
                <a:srgbClr val="CACAAA"/>
              </a:solidFill>
              <a:prstDash val="sysDot"/>
              <a:round/>
            </a:ln>
            <a:effectLst/>
          </c:spPr>
          <c:marker>
            <c:symbol val="circle"/>
            <c:size val="5"/>
            <c:spPr>
              <a:solidFill>
                <a:srgbClr val="CACAAA"/>
              </a:solidFill>
              <a:ln w="12700">
                <a:solidFill>
                  <a:srgbClr val="CACAAA"/>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chart!$BM$4:$BM$23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1"/>
          <c:extLst>
            <c:ext xmlns:c16="http://schemas.microsoft.com/office/drawing/2014/chart" uri="{C3380CC4-5D6E-409C-BE32-E72D297353CC}">
              <c16:uniqueId val="{00000003-640A-45DA-9777-4CBE0359EE15}"/>
            </c:ext>
          </c:extLst>
        </c:ser>
        <c:ser>
          <c:idx val="2"/>
          <c:order val="6"/>
          <c:tx>
            <c:strRef>
              <c:f>chart!$AR$3</c:f>
              <c:strCache>
                <c:ptCount val="1"/>
                <c:pt idx="0">
                  <c:v>IPL1</c:v>
                </c:pt>
              </c:strCache>
            </c:strRef>
          </c:tx>
          <c:spPr>
            <a:ln w="25400" cap="rnd">
              <a:solidFill>
                <a:schemeClr val="accent3"/>
              </a:solidFill>
              <a:round/>
            </a:ln>
            <a:effectLst/>
          </c:spPr>
          <c:marker>
            <c:symbol val="circle"/>
            <c:size val="5"/>
            <c:spPr>
              <a:solidFill>
                <a:srgbClr val="7A6563"/>
              </a:solidFill>
              <a:ln w="12700">
                <a:solidFill>
                  <a:schemeClr val="accent3"/>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chart!$AR$4:$AR$23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4-640A-45DA-9777-4CBE0359EE15}"/>
            </c:ext>
          </c:extLst>
        </c:ser>
        <c:ser>
          <c:idx val="4"/>
          <c:order val="7"/>
          <c:tx>
            <c:strRef>
              <c:f>chart!$AS$3</c:f>
              <c:strCache>
                <c:ptCount val="1"/>
                <c:pt idx="0">
                  <c:v>LMIC1</c:v>
                </c:pt>
              </c:strCache>
            </c:strRef>
          </c:tx>
          <c:spPr>
            <a:ln w="25400" cap="rnd">
              <a:solidFill>
                <a:schemeClr val="accent2"/>
              </a:solidFill>
              <a:round/>
            </a:ln>
            <a:effectLst/>
          </c:spPr>
          <c:marker>
            <c:symbol val="none"/>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chart!$AS$4:$AS$23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5-640A-45DA-9777-4CBE0359EE15}"/>
            </c:ext>
          </c:extLst>
        </c:ser>
        <c:ser>
          <c:idx val="5"/>
          <c:order val="8"/>
          <c:tx>
            <c:strRef>
              <c:f>chart!$AT$3</c:f>
              <c:strCache>
                <c:ptCount val="1"/>
                <c:pt idx="0">
                  <c:v>UMIC1</c:v>
                </c:pt>
              </c:strCache>
            </c:strRef>
          </c:tx>
          <c:spPr>
            <a:ln w="25400" cap="rnd">
              <a:solidFill>
                <a:srgbClr val="CACAAA"/>
              </a:solidFill>
              <a:round/>
            </a:ln>
            <a:effectLst/>
          </c:spPr>
          <c:marker>
            <c:symbol val="circle"/>
            <c:size val="5"/>
            <c:spPr>
              <a:solidFill>
                <a:srgbClr val="CACAAA"/>
              </a:solidFill>
              <a:ln w="12700">
                <a:solidFill>
                  <a:srgbClr val="CACAAA"/>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chart!$AT$4:$AT$23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6-640A-45DA-9777-4CBE0359EE15}"/>
            </c:ext>
          </c:extLst>
        </c:ser>
        <c:ser>
          <c:idx val="10"/>
          <c:order val="9"/>
          <c:tx>
            <c:strRef>
              <c:f>chart!$AU$3</c:f>
              <c:strCache>
                <c:ptCount val="1"/>
                <c:pt idx="0">
                  <c:v>IPL2</c:v>
                </c:pt>
              </c:strCache>
            </c:strRef>
          </c:tx>
          <c:spPr>
            <a:ln w="25400" cap="rnd">
              <a:solidFill>
                <a:srgbClr val="7A6563"/>
              </a:solidFill>
              <a:round/>
            </a:ln>
            <a:effectLst/>
          </c:spPr>
          <c:marker>
            <c:symbol val="circle"/>
            <c:size val="5"/>
            <c:spPr>
              <a:solidFill>
                <a:srgbClr val="7A6563"/>
              </a:solidFill>
              <a:ln w="12700">
                <a:solidFill>
                  <a:srgbClr val="7A6563"/>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chart!$AU$4:$AU$23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7-640A-45DA-9777-4CBE0359EE15}"/>
            </c:ext>
          </c:extLst>
        </c:ser>
        <c:ser>
          <c:idx val="12"/>
          <c:order val="10"/>
          <c:tx>
            <c:strRef>
              <c:f>chart!$AV$3</c:f>
              <c:strCache>
                <c:ptCount val="1"/>
                <c:pt idx="0">
                  <c:v>LMIC2</c:v>
                </c:pt>
              </c:strCache>
            </c:strRef>
          </c:tx>
          <c:spPr>
            <a:ln w="25400" cap="rnd">
              <a:solidFill>
                <a:srgbClr val="DE6E4B"/>
              </a:solidFill>
              <a:round/>
            </a:ln>
            <a:effectLst/>
          </c:spPr>
          <c:marker>
            <c:symbol val="circle"/>
            <c:size val="5"/>
            <c:spPr>
              <a:solidFill>
                <a:srgbClr val="DE6E4B"/>
              </a:solidFill>
              <a:ln w="12700">
                <a:solidFill>
                  <a:srgbClr val="DE6E4B"/>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chart!$AV$4:$AV$23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8-640A-45DA-9777-4CBE0359EE15}"/>
            </c:ext>
          </c:extLst>
        </c:ser>
        <c:ser>
          <c:idx val="13"/>
          <c:order val="11"/>
          <c:tx>
            <c:strRef>
              <c:f>chart!$AW$3</c:f>
              <c:strCache>
                <c:ptCount val="1"/>
                <c:pt idx="0">
                  <c:v>UMIC2</c:v>
                </c:pt>
              </c:strCache>
            </c:strRef>
          </c:tx>
          <c:spPr>
            <a:ln w="25400" cap="rnd">
              <a:solidFill>
                <a:schemeClr val="accent4"/>
              </a:solidFill>
              <a:round/>
            </a:ln>
            <a:effectLst/>
          </c:spPr>
          <c:marker>
            <c:symbol val="circle"/>
            <c:size val="5"/>
            <c:spPr>
              <a:solidFill>
                <a:srgbClr val="CACAAA"/>
              </a:solidFill>
              <a:ln w="12700">
                <a:solidFill>
                  <a:srgbClr val="CACAAA"/>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chart!$AW$4:$AW$23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9-640A-45DA-9777-4CBE0359EE15}"/>
            </c:ext>
          </c:extLst>
        </c:ser>
        <c:ser>
          <c:idx val="14"/>
          <c:order val="12"/>
          <c:tx>
            <c:strRef>
              <c:f>chart!$AX$3</c:f>
              <c:strCache>
                <c:ptCount val="1"/>
                <c:pt idx="0">
                  <c:v>IPL3</c:v>
                </c:pt>
              </c:strCache>
            </c:strRef>
          </c:tx>
          <c:spPr>
            <a:ln w="25400" cap="rnd">
              <a:solidFill>
                <a:srgbClr val="7A6563"/>
              </a:solidFill>
              <a:round/>
            </a:ln>
            <a:effectLst/>
          </c:spPr>
          <c:marker>
            <c:symbol val="circle"/>
            <c:size val="5"/>
            <c:spPr>
              <a:solidFill>
                <a:srgbClr val="7A6563"/>
              </a:solidFill>
              <a:ln w="12700">
                <a:solidFill>
                  <a:srgbClr val="7A6563"/>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chart!$AX$4:$AX$23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A-640A-45DA-9777-4CBE0359EE15}"/>
            </c:ext>
          </c:extLst>
        </c:ser>
        <c:ser>
          <c:idx val="15"/>
          <c:order val="13"/>
          <c:tx>
            <c:strRef>
              <c:f>chart!$AY$3</c:f>
              <c:strCache>
                <c:ptCount val="1"/>
                <c:pt idx="0">
                  <c:v>LMIC3</c:v>
                </c:pt>
              </c:strCache>
            </c:strRef>
          </c:tx>
          <c:spPr>
            <a:ln w="25400" cap="rnd">
              <a:solidFill>
                <a:srgbClr val="DE6E4B"/>
              </a:solidFill>
              <a:round/>
            </a:ln>
            <a:effectLst/>
          </c:spPr>
          <c:marker>
            <c:symbol val="circle"/>
            <c:size val="5"/>
            <c:spPr>
              <a:solidFill>
                <a:srgbClr val="DE6E4B"/>
              </a:solidFill>
              <a:ln w="12700">
                <a:solidFill>
                  <a:srgbClr val="DE6E4B"/>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chart!$AY$4:$AY$23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B-640A-45DA-9777-4CBE0359EE15}"/>
            </c:ext>
          </c:extLst>
        </c:ser>
        <c:ser>
          <c:idx val="16"/>
          <c:order val="14"/>
          <c:tx>
            <c:strRef>
              <c:f>chart!$AZ$3</c:f>
              <c:strCache>
                <c:ptCount val="1"/>
                <c:pt idx="0">
                  <c:v>UMIC3</c:v>
                </c:pt>
              </c:strCache>
            </c:strRef>
          </c:tx>
          <c:spPr>
            <a:ln w="25400" cap="rnd">
              <a:solidFill>
                <a:schemeClr val="accent4"/>
              </a:solidFill>
              <a:round/>
            </a:ln>
            <a:effectLst/>
          </c:spPr>
          <c:marker>
            <c:symbol val="circle"/>
            <c:size val="5"/>
            <c:spPr>
              <a:solidFill>
                <a:schemeClr val="accent4"/>
              </a:solidFill>
              <a:ln w="12700">
                <a:solidFill>
                  <a:schemeClr val="accent4"/>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chart!$AZ$4:$AZ$23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C-640A-45DA-9777-4CBE0359EE15}"/>
            </c:ext>
          </c:extLst>
        </c:ser>
        <c:ser>
          <c:idx val="17"/>
          <c:order val="15"/>
          <c:tx>
            <c:strRef>
              <c:f>chart!$BA$3</c:f>
              <c:strCache>
                <c:ptCount val="1"/>
                <c:pt idx="0">
                  <c:v>IPL4</c:v>
                </c:pt>
              </c:strCache>
            </c:strRef>
          </c:tx>
          <c:spPr>
            <a:ln w="25400" cap="rnd">
              <a:solidFill>
                <a:srgbClr val="7A6563"/>
              </a:solidFill>
              <a:round/>
            </a:ln>
            <a:effectLst/>
          </c:spPr>
          <c:marker>
            <c:symbol val="circle"/>
            <c:size val="5"/>
            <c:spPr>
              <a:solidFill>
                <a:srgbClr val="7A6563"/>
              </a:solidFill>
              <a:ln w="12700">
                <a:solidFill>
                  <a:srgbClr val="7A6563"/>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chart!$BA$4:$BA$23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D-640A-45DA-9777-4CBE0359EE15}"/>
            </c:ext>
          </c:extLst>
        </c:ser>
        <c:ser>
          <c:idx val="18"/>
          <c:order val="16"/>
          <c:tx>
            <c:strRef>
              <c:f>chart!$BB$3</c:f>
              <c:strCache>
                <c:ptCount val="1"/>
                <c:pt idx="0">
                  <c:v>LMIC4</c:v>
                </c:pt>
              </c:strCache>
            </c:strRef>
          </c:tx>
          <c:spPr>
            <a:ln w="25400" cap="rnd">
              <a:solidFill>
                <a:srgbClr val="DE6E4B"/>
              </a:solidFill>
              <a:round/>
            </a:ln>
            <a:effectLst/>
          </c:spPr>
          <c:marker>
            <c:symbol val="circle"/>
            <c:size val="5"/>
            <c:spPr>
              <a:solidFill>
                <a:schemeClr val="accent2">
                  <a:alpha val="99000"/>
                </a:schemeClr>
              </a:solidFill>
              <a:ln w="12700">
                <a:solidFill>
                  <a:srgbClr val="DE6E4B"/>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chart!$BB$4:$BB$23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E-640A-45DA-9777-4CBE0359EE15}"/>
            </c:ext>
          </c:extLst>
        </c:ser>
        <c:ser>
          <c:idx val="19"/>
          <c:order val="17"/>
          <c:tx>
            <c:strRef>
              <c:f>chart!$BC$3</c:f>
              <c:strCache>
                <c:ptCount val="1"/>
                <c:pt idx="0">
                  <c:v>UMIC4</c:v>
                </c:pt>
              </c:strCache>
            </c:strRef>
          </c:tx>
          <c:spPr>
            <a:ln w="25400" cap="rnd">
              <a:solidFill>
                <a:srgbClr val="CACAAA"/>
              </a:solidFill>
              <a:round/>
            </a:ln>
            <a:effectLst/>
          </c:spPr>
          <c:marker>
            <c:symbol val="circle"/>
            <c:size val="5"/>
            <c:spPr>
              <a:solidFill>
                <a:schemeClr val="accent4"/>
              </a:solidFill>
              <a:ln w="12700">
                <a:solidFill>
                  <a:schemeClr val="accent4"/>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chart!$BC$4:$BC$23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F-640A-45DA-9777-4CBE0359EE15}"/>
            </c:ext>
          </c:extLst>
        </c:ser>
        <c:ser>
          <c:idx val="20"/>
          <c:order val="18"/>
          <c:tx>
            <c:strRef>
              <c:f>chart!$BD$3</c:f>
              <c:strCache>
                <c:ptCount val="1"/>
                <c:pt idx="0">
                  <c:v>IPL5</c:v>
                </c:pt>
              </c:strCache>
            </c:strRef>
          </c:tx>
          <c:spPr>
            <a:ln w="25400" cap="rnd">
              <a:solidFill>
                <a:srgbClr val="7A6563"/>
              </a:solidFill>
              <a:round/>
            </a:ln>
            <a:effectLst/>
          </c:spPr>
          <c:marker>
            <c:symbol val="circle"/>
            <c:size val="5"/>
            <c:spPr>
              <a:solidFill>
                <a:srgbClr val="7A6563"/>
              </a:solidFill>
              <a:ln w="12700">
                <a:solidFill>
                  <a:srgbClr val="7A6563"/>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chart!$BD$4:$BD$23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10-640A-45DA-9777-4CBE0359EE15}"/>
            </c:ext>
          </c:extLst>
        </c:ser>
        <c:ser>
          <c:idx val="21"/>
          <c:order val="19"/>
          <c:tx>
            <c:strRef>
              <c:f>chart!$BE$3</c:f>
              <c:strCache>
                <c:ptCount val="1"/>
                <c:pt idx="0">
                  <c:v>LMIC5</c:v>
                </c:pt>
              </c:strCache>
            </c:strRef>
          </c:tx>
          <c:spPr>
            <a:ln w="25400" cap="rnd">
              <a:solidFill>
                <a:srgbClr val="DE6E4B"/>
              </a:solidFill>
              <a:round/>
            </a:ln>
            <a:effectLst/>
          </c:spPr>
          <c:marker>
            <c:symbol val="circle"/>
            <c:size val="5"/>
            <c:spPr>
              <a:solidFill>
                <a:schemeClr val="accent2"/>
              </a:solidFill>
              <a:ln w="12700">
                <a:solidFill>
                  <a:srgbClr val="DE6E4B"/>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chart!$BE$4:$BE$23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11-640A-45DA-9777-4CBE0359EE15}"/>
            </c:ext>
          </c:extLst>
        </c:ser>
        <c:ser>
          <c:idx val="22"/>
          <c:order val="20"/>
          <c:tx>
            <c:strRef>
              <c:f>chart!$BF$3</c:f>
              <c:strCache>
                <c:ptCount val="1"/>
                <c:pt idx="0">
                  <c:v>UMIC5</c:v>
                </c:pt>
              </c:strCache>
            </c:strRef>
          </c:tx>
          <c:spPr>
            <a:ln w="25400" cap="rnd">
              <a:solidFill>
                <a:srgbClr val="CACAAA"/>
              </a:solidFill>
              <a:round/>
            </a:ln>
            <a:effectLst/>
          </c:spPr>
          <c:marker>
            <c:symbol val="circle"/>
            <c:size val="5"/>
            <c:spPr>
              <a:solidFill>
                <a:srgbClr val="CACAAA"/>
              </a:solidFill>
              <a:ln w="12700">
                <a:solidFill>
                  <a:schemeClr val="accent4"/>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chart!$BF$4:$BF$23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12-640A-45DA-9777-4CBE0359EE15}"/>
            </c:ext>
          </c:extLst>
        </c:ser>
        <c:dLbls>
          <c:showLegendKey val="0"/>
          <c:showVal val="0"/>
          <c:showCatName val="0"/>
          <c:showSerName val="0"/>
          <c:showPercent val="0"/>
          <c:showBubbleSize val="0"/>
        </c:dLbls>
        <c:marker val="1"/>
        <c:smooth val="0"/>
        <c:axId val="347074904"/>
        <c:axId val="347075296"/>
      </c:lineChart>
      <c:lineChart>
        <c:grouping val="standard"/>
        <c:varyColors val="0"/>
        <c:ser>
          <c:idx val="9"/>
          <c:order val="4"/>
          <c:tx>
            <c:strRef>
              <c:f>chart!$F$3</c:f>
              <c:strCache>
                <c:ptCount val="1"/>
                <c:pt idx="0">
                  <c:v>Numero de Pobres (Eixo Dto)</c:v>
                </c:pt>
              </c:strCache>
            </c:strRef>
          </c:tx>
          <c:spPr>
            <a:ln w="28575" cap="rnd">
              <a:solidFill>
                <a:schemeClr val="accent4">
                  <a:lumMod val="60000"/>
                </a:schemeClr>
              </a:solidFill>
              <a:round/>
            </a:ln>
            <a:effectLst/>
          </c:spPr>
          <c:marker>
            <c:symbol val="none"/>
          </c:marker>
          <c:dPt>
            <c:idx val="0"/>
            <c:marker>
              <c:symbol val="none"/>
            </c:marker>
            <c:bubble3D val="0"/>
            <c:spPr>
              <a:ln w="28575" cap="rnd">
                <a:solidFill>
                  <a:srgbClr val="7A6563"/>
                </a:solidFill>
                <a:round/>
              </a:ln>
              <a:effectLst/>
            </c:spPr>
            <c:extLst>
              <c:ext xmlns:c16="http://schemas.microsoft.com/office/drawing/2014/chart" uri="{C3380CC4-5D6E-409C-BE32-E72D297353CC}">
                <c16:uniqueId val="{00000014-640A-45DA-9777-4CBE0359EE15}"/>
              </c:ext>
            </c:extLst>
          </c:dPt>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chart!$F$4:$F$20</c:f>
              <c:numCache>
                <c:formatCode>General</c:formatCode>
                <c:ptCount val="17"/>
                <c:pt idx="3">
                  <c:v>20000000</c:v>
                </c:pt>
                <c:pt idx="9">
                  <c:v>16739287.975513671</c:v>
                </c:pt>
                <c:pt idx="10">
                  <c:v>16879544.456932545</c:v>
                </c:pt>
                <c:pt idx="11">
                  <c:v>17286882.147430629</c:v>
                </c:pt>
                <c:pt idx="12">
                  <c:v>17705407.925265193</c:v>
                </c:pt>
                <c:pt idx="13">
                  <c:v>18183398.974682286</c:v>
                </c:pt>
                <c:pt idx="14">
                  <c:v>18798840.547084846</c:v>
                </c:pt>
                <c:pt idx="15">
                  <c:v>19735766.389045063</c:v>
                </c:pt>
                <c:pt idx="16">
                  <c:v>20328952.032127716</c:v>
                </c:pt>
              </c:numCache>
            </c:numRef>
          </c:val>
          <c:smooth val="1"/>
          <c:extLst>
            <c:ext xmlns:c16="http://schemas.microsoft.com/office/drawing/2014/chart" uri="{C3380CC4-5D6E-409C-BE32-E72D297353CC}">
              <c16:uniqueId val="{00000015-640A-45DA-9777-4CBE0359EE15}"/>
            </c:ext>
          </c:extLst>
        </c:ser>
        <c:ser>
          <c:idx val="23"/>
          <c:order val="21"/>
          <c:tx>
            <c:strRef>
              <c:f>chart!$BG$3</c:f>
              <c:strCache>
                <c:ptCount val="1"/>
                <c:pt idx="0">
                  <c:v>IPL6</c:v>
                </c:pt>
              </c:strCache>
            </c:strRef>
          </c:tx>
          <c:spPr>
            <a:ln w="28575" cap="rnd">
              <a:solidFill>
                <a:schemeClr val="accent6">
                  <a:lumMod val="80000"/>
                </a:schemeClr>
              </a:solidFill>
              <a:round/>
            </a:ln>
            <a:effectLst/>
          </c:spPr>
          <c:marker>
            <c:symbol val="circle"/>
            <c:size val="5"/>
            <c:spPr>
              <a:solidFill>
                <a:schemeClr val="accent6">
                  <a:lumMod val="80000"/>
                </a:schemeClr>
              </a:solidFill>
              <a:ln w="9525">
                <a:solidFill>
                  <a:schemeClr val="accent6">
                    <a:lumMod val="80000"/>
                  </a:schemeClr>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chart!$BG$4:$BG$23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16-640A-45DA-9777-4CBE0359EE15}"/>
            </c:ext>
          </c:extLst>
        </c:ser>
        <c:ser>
          <c:idx val="24"/>
          <c:order val="22"/>
          <c:tx>
            <c:strRef>
              <c:f>chart!$BH$3</c:f>
              <c:strCache>
                <c:ptCount val="1"/>
                <c:pt idx="0">
                  <c:v>LMIC6</c:v>
                </c:pt>
              </c:strCache>
            </c:strRef>
          </c:tx>
          <c:spPr>
            <a:ln w="28575" cap="rnd">
              <a:solidFill>
                <a:schemeClr val="accent1">
                  <a:lumMod val="60000"/>
                  <a:lumOff val="40000"/>
                </a:schemeClr>
              </a:solidFill>
              <a:round/>
            </a:ln>
            <a:effectLst/>
          </c:spPr>
          <c:marker>
            <c:symbol val="circle"/>
            <c:size val="5"/>
            <c:spPr>
              <a:solidFill>
                <a:schemeClr val="accent1">
                  <a:lumMod val="60000"/>
                  <a:lumOff val="40000"/>
                </a:schemeClr>
              </a:solidFill>
              <a:ln w="9525">
                <a:solidFill>
                  <a:schemeClr val="accent1">
                    <a:lumMod val="60000"/>
                    <a:lumOff val="40000"/>
                  </a:schemeClr>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chart!$BH$4:$BH$23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17-640A-45DA-9777-4CBE0359EE15}"/>
            </c:ext>
          </c:extLst>
        </c:ser>
        <c:ser>
          <c:idx val="25"/>
          <c:order val="23"/>
          <c:tx>
            <c:strRef>
              <c:f>chart!$BI$3</c:f>
              <c:strCache>
                <c:ptCount val="1"/>
                <c:pt idx="0">
                  <c:v>UMIC6</c:v>
                </c:pt>
              </c:strCache>
            </c:strRef>
          </c:tx>
          <c:spPr>
            <a:ln w="28575" cap="rnd">
              <a:solidFill>
                <a:schemeClr val="accent2">
                  <a:lumMod val="60000"/>
                  <a:lumOff val="40000"/>
                </a:schemeClr>
              </a:solidFill>
              <a:round/>
            </a:ln>
            <a:effectLst/>
          </c:spPr>
          <c:marker>
            <c:symbol val="circle"/>
            <c:size val="5"/>
            <c:spPr>
              <a:solidFill>
                <a:schemeClr val="accent2">
                  <a:lumMod val="60000"/>
                  <a:lumOff val="40000"/>
                </a:schemeClr>
              </a:solidFill>
              <a:ln w="9525">
                <a:solidFill>
                  <a:schemeClr val="accent2">
                    <a:lumMod val="60000"/>
                    <a:lumOff val="40000"/>
                  </a:schemeClr>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chart!$BI$4:$BI$23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18-640A-45DA-9777-4CBE0359EE15}"/>
            </c:ext>
          </c:extLst>
        </c:ser>
        <c:dLbls>
          <c:showLegendKey val="0"/>
          <c:showVal val="0"/>
          <c:showCatName val="0"/>
          <c:showSerName val="0"/>
          <c:showPercent val="0"/>
          <c:showBubbleSize val="0"/>
        </c:dLbls>
        <c:marker val="1"/>
        <c:smooth val="0"/>
        <c:axId val="347076080"/>
        <c:axId val="347075688"/>
        <c:extLst>
          <c:ext xmlns:c15="http://schemas.microsoft.com/office/drawing/2012/chart" uri="{02D57815-91ED-43cb-92C2-25804820EDAC}">
            <c15:filteredLineSeries>
              <c15:ser>
                <c:idx val="3"/>
                <c:order val="2"/>
                <c:tx>
                  <c:strRef>
                    <c:extLst>
                      <c:ext uri="{02D57815-91ED-43cb-92C2-25804820EDAC}">
                        <c15:formulaRef>
                          <c15:sqref>chart!$BJ$3</c15:sqref>
                        </c15:formulaRef>
                      </c:ext>
                    </c:extLst>
                    <c:strCache>
                      <c:ptCount val="1"/>
                      <c:pt idx="0">
                        <c:v>GDP pc</c:v>
                      </c:pt>
                    </c:strCache>
                  </c:strRef>
                </c:tx>
                <c:spPr>
                  <a:ln w="25400" cap="rnd">
                    <a:solidFill>
                      <a:srgbClr val="7FD1B9">
                        <a:alpha val="93000"/>
                      </a:srgbClr>
                    </a:solidFill>
                    <a:prstDash val="sysDot"/>
                    <a:round/>
                  </a:ln>
                  <a:effectLst/>
                </c:spPr>
                <c:marker>
                  <c:symbol val="circle"/>
                  <c:size val="5"/>
                  <c:spPr>
                    <a:solidFill>
                      <a:srgbClr val="7FD1B9"/>
                    </a:solidFill>
                    <a:ln w="12700">
                      <a:solidFill>
                        <a:srgbClr val="7FD1B9"/>
                      </a:solidFill>
                      <a:prstDash val="solid"/>
                    </a:ln>
                    <a:effectLst/>
                  </c:spPr>
                </c:marker>
                <c:cat>
                  <c:numRef>
                    <c:extLst>
                      <c:ext uri="{02D57815-91ED-43cb-92C2-25804820EDAC}">
                        <c15:formulaRef>
                          <c15:sqref>chart!$AM$4:$AM$20</c15:sqref>
                        </c15:formulaRef>
                      </c:ext>
                    </c:extLst>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extLst>
                      <c:ext uri="{02D57815-91ED-43cb-92C2-25804820EDAC}">
                        <c15:formulaRef>
                          <c15:sqref>chart!$BJ$4:$BJ$20</c15:sqref>
                        </c15:formulaRef>
                      </c:ext>
                    </c:extLst>
                    <c:numCache>
                      <c:formatCode>General</c:formatCode>
                      <c:ptCount val="17"/>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21213.024724533054</c:v>
                      </c:pt>
                    </c:numCache>
                  </c:numRef>
                </c:val>
                <c:smooth val="1"/>
                <c:extLst>
                  <c:ext xmlns:c16="http://schemas.microsoft.com/office/drawing/2014/chart" uri="{C3380CC4-5D6E-409C-BE32-E72D297353CC}">
                    <c16:uniqueId val="{00000019-640A-45DA-9777-4CBE0359EE15}"/>
                  </c:ext>
                </c:extLst>
              </c15:ser>
            </c15:filteredLineSeries>
          </c:ext>
        </c:extLst>
      </c:lineChart>
      <c:dateAx>
        <c:axId val="347074904"/>
        <c:scaling>
          <c:orientation val="minMax"/>
        </c:scaling>
        <c:delete val="0"/>
        <c:axPos val="b"/>
        <c:numFmt formatCode="0" sourceLinked="1"/>
        <c:majorTickMark val="out"/>
        <c:minorTickMark val="out"/>
        <c:tickLblPos val="low"/>
        <c:spPr>
          <a:noFill/>
          <a:ln w="12700" cap="flat" cmpd="sng" algn="ctr">
            <a:solidFill>
              <a:srgbClr val="CCCCCC"/>
            </a:solidFill>
            <a:round/>
          </a:ln>
          <a:effectLst/>
        </c:spPr>
        <c:txPr>
          <a:bodyPr rot="0" spcFirstLastPara="1" vertOverflow="ellipsis" wrap="square" anchor="ctr" anchorCtr="1"/>
          <a:lstStyle/>
          <a:p>
            <a:pPr>
              <a:defRPr lang="en-US" sz="800" b="0" i="0" u="none" strike="noStrike" kern="1200" baseline="0">
                <a:solidFill>
                  <a:sysClr val="windowText" lastClr="000000"/>
                </a:solidFill>
                <a:latin typeface="+mn-lt"/>
                <a:ea typeface="+mn-ea"/>
                <a:cs typeface="+mn-cs"/>
              </a:defRPr>
            </a:pPr>
            <a:endParaRPr lang="en-US"/>
          </a:p>
        </c:txPr>
        <c:crossAx val="347075296"/>
        <c:crosses val="autoZero"/>
        <c:auto val="0"/>
        <c:lblOffset val="100"/>
        <c:baseTimeUnit val="days"/>
      </c:dateAx>
      <c:valAx>
        <c:axId val="347075296"/>
        <c:scaling>
          <c:orientation val="minMax"/>
        </c:scaling>
        <c:delete val="0"/>
        <c:axPos val="l"/>
        <c:title>
          <c:tx>
            <c:rich>
              <a:bodyPr rot="-5400000" spcFirstLastPara="1" vertOverflow="ellipsis" vert="horz" wrap="square" anchor="ctr" anchorCtr="1"/>
              <a:lstStyle/>
              <a:p>
                <a:pPr>
                  <a:defRPr lang="en-US" sz="800" b="0" i="0" u="none" strike="noStrike" kern="1200" baseline="0">
                    <a:solidFill>
                      <a:sysClr val="windowText" lastClr="000000"/>
                    </a:solidFill>
                    <a:latin typeface="+mn-lt"/>
                    <a:ea typeface="+mn-ea"/>
                    <a:cs typeface="+mn-cs"/>
                  </a:defRPr>
                </a:pPr>
                <a:r>
                  <a:rPr lang="en-US"/>
                  <a:t>Armutsrate (%)</a:t>
                </a:r>
              </a:p>
            </c:rich>
          </c:tx>
          <c:layout>
            <c:manualLayout>
              <c:xMode val="edge"/>
              <c:yMode val="edge"/>
              <c:x val="6.3636471116786065E-3"/>
              <c:y val="0.25779602162132836"/>
            </c:manualLayout>
          </c:layout>
          <c:overlay val="0"/>
          <c:spPr>
            <a:noFill/>
            <a:ln>
              <a:noFill/>
            </a:ln>
            <a:effectLst/>
          </c:spPr>
          <c:txPr>
            <a:bodyPr rot="-5400000" spcFirstLastPara="1" vertOverflow="ellipsis" vert="horz" wrap="square" anchor="ctr" anchorCtr="1"/>
            <a:lstStyle/>
            <a:p>
              <a:pPr>
                <a:defRPr lang="en-US" sz="800" b="0" i="0" u="none" strike="noStrike" kern="1200" baseline="0">
                  <a:solidFill>
                    <a:sysClr val="windowText" lastClr="000000"/>
                  </a:solidFill>
                  <a:latin typeface="+mn-lt"/>
                  <a:ea typeface="+mn-ea"/>
                  <a:cs typeface="+mn-cs"/>
                </a:defRPr>
              </a:pPr>
              <a:endParaRPr lang="en-US"/>
            </a:p>
          </c:txPr>
        </c:title>
        <c:numFmt formatCode="0" sourceLinked="0"/>
        <c:majorTickMark val="out"/>
        <c:minorTickMark val="none"/>
        <c:tickLblPos val="nextTo"/>
        <c:spPr>
          <a:noFill/>
          <a:ln w="12700">
            <a:solidFill>
              <a:srgbClr val="CCCCCC"/>
            </a:solidFill>
          </a:ln>
          <a:effectLst/>
        </c:spPr>
        <c:txPr>
          <a:bodyPr rot="-60000000" spcFirstLastPara="1" vertOverflow="ellipsis" vert="horz" wrap="square" anchor="ctr" anchorCtr="1"/>
          <a:lstStyle/>
          <a:p>
            <a:pPr>
              <a:defRPr lang="en-US" sz="800" b="0" i="0" u="none" strike="noStrike" kern="1200" baseline="0">
                <a:solidFill>
                  <a:sysClr val="windowText" lastClr="000000"/>
                </a:solidFill>
                <a:latin typeface="+mn-lt"/>
                <a:ea typeface="+mn-ea"/>
                <a:cs typeface="+mn-cs"/>
              </a:defRPr>
            </a:pPr>
            <a:endParaRPr lang="en-US"/>
          </a:p>
        </c:txPr>
        <c:crossAx val="347074904"/>
        <c:crosses val="autoZero"/>
        <c:crossBetween val="between"/>
      </c:valAx>
      <c:valAx>
        <c:axId val="347075688"/>
        <c:scaling>
          <c:orientation val="minMax"/>
        </c:scaling>
        <c:delete val="0"/>
        <c:axPos val="r"/>
        <c:title>
          <c:tx>
            <c:rich>
              <a:bodyPr rot="-5400000" spcFirstLastPara="1" vertOverflow="ellipsis" vert="horz" wrap="square" anchor="ctr" anchorCtr="1"/>
              <a:lstStyle/>
              <a:p>
                <a:pPr>
                  <a:defRPr lang="en-US" sz="800" b="0" i="0" u="none" strike="noStrike" kern="1200" baseline="0">
                    <a:solidFill>
                      <a:sysClr val="windowText" lastClr="000000"/>
                    </a:solidFill>
                    <a:latin typeface="+mn-lt"/>
                    <a:ea typeface="+mn-ea"/>
                    <a:cs typeface="+mn-cs"/>
                  </a:defRPr>
                </a:pPr>
                <a:r>
                  <a:rPr lang="en-US" dirty="0" err="1"/>
                  <a:t>Zahl</a:t>
                </a:r>
                <a:r>
                  <a:rPr lang="en-US" dirty="0"/>
                  <a:t> der </a:t>
                </a:r>
                <a:r>
                  <a:rPr lang="en-US" dirty="0" err="1"/>
                  <a:t>Armen</a:t>
                </a:r>
                <a:r>
                  <a:rPr lang="en-US" dirty="0"/>
                  <a:t> 
</a:t>
                </a:r>
              </a:p>
            </c:rich>
          </c:tx>
          <c:layout>
            <c:manualLayout>
              <c:xMode val="edge"/>
              <c:yMode val="edge"/>
              <c:x val="0.91475491239270756"/>
              <c:y val="0.24633427604495176"/>
            </c:manualLayout>
          </c:layout>
          <c:overlay val="0"/>
          <c:spPr>
            <a:noFill/>
            <a:ln>
              <a:noFill/>
            </a:ln>
            <a:effectLst/>
          </c:spPr>
          <c:txPr>
            <a:bodyPr rot="-5400000" spcFirstLastPara="1" vertOverflow="ellipsis" vert="horz" wrap="square" anchor="ctr" anchorCtr="1"/>
            <a:lstStyle/>
            <a:p>
              <a:pPr>
                <a:defRPr lang="en-US" sz="800" b="0" i="0" u="none" strike="noStrike" kern="1200" baseline="0">
                  <a:solidFill>
                    <a:sysClr val="windowText" lastClr="000000"/>
                  </a:solidFill>
                  <a:latin typeface="+mn-lt"/>
                  <a:ea typeface="+mn-ea"/>
                  <a:cs typeface="+mn-cs"/>
                </a:defRPr>
              </a:pPr>
              <a:endParaRPr lang="en-US"/>
            </a:p>
          </c:txPr>
        </c:title>
        <c:numFmt formatCode="#,##0" sourceLinked="0"/>
        <c:majorTickMark val="out"/>
        <c:minorTickMark val="none"/>
        <c:tickLblPos val="nextTo"/>
        <c:spPr>
          <a:noFill/>
          <a:ln w="12700">
            <a:solidFill>
              <a:srgbClr val="CCCCCC"/>
            </a:solidFill>
          </a:ln>
          <a:effectLst/>
        </c:spPr>
        <c:txPr>
          <a:bodyPr rot="-60000000" spcFirstLastPara="1" vertOverflow="ellipsis" vert="horz" wrap="square" anchor="ctr" anchorCtr="1"/>
          <a:lstStyle/>
          <a:p>
            <a:pPr>
              <a:defRPr lang="en-US" sz="800" b="0" i="0" u="none" strike="noStrike" kern="1200" baseline="0">
                <a:solidFill>
                  <a:sysClr val="windowText" lastClr="000000"/>
                </a:solidFill>
                <a:latin typeface="+mn-lt"/>
                <a:ea typeface="+mn-ea"/>
                <a:cs typeface="+mn-cs"/>
              </a:defRPr>
            </a:pPr>
            <a:endParaRPr lang="en-US"/>
          </a:p>
        </c:txPr>
        <c:crossAx val="347076080"/>
        <c:crosses val="max"/>
        <c:crossBetween val="between"/>
        <c:dispUnits>
          <c:builtInUnit val="millions"/>
          <c:dispUnitsLbl>
            <c:layout>
              <c:manualLayout>
                <c:xMode val="edge"/>
                <c:yMode val="edge"/>
                <c:x val="0.87551902295996786"/>
                <c:y val="0.36789829565877907"/>
              </c:manualLayout>
            </c:layout>
            <c:spPr>
              <a:noFill/>
              <a:ln>
                <a:noFill/>
              </a:ln>
              <a:effectLst/>
            </c:spPr>
            <c:txPr>
              <a:bodyPr rot="-5400000" spcFirstLastPara="1" vertOverflow="ellipsis" vert="horz" wrap="square" anchor="ctr" anchorCtr="1"/>
              <a:lstStyle/>
              <a:p>
                <a:pPr>
                  <a:defRPr lang="en-US" sz="800" b="0" i="0" u="none" strike="noStrike" kern="1200" baseline="0" smtClean="0">
                    <a:solidFill>
                      <a:sysClr val="windowText" lastClr="000000"/>
                    </a:solidFill>
                    <a:latin typeface="+mn-lt"/>
                    <a:ea typeface="+mn-ea"/>
                    <a:cs typeface="+mn-cs"/>
                  </a:defRPr>
                </a:pPr>
                <a:endParaRPr lang="en-US"/>
              </a:p>
            </c:txPr>
          </c:dispUnitsLbl>
        </c:dispUnits>
      </c:valAx>
      <c:dateAx>
        <c:axId val="347076080"/>
        <c:scaling>
          <c:orientation val="minMax"/>
        </c:scaling>
        <c:delete val="1"/>
        <c:axPos val="b"/>
        <c:numFmt formatCode="0" sourceLinked="1"/>
        <c:majorTickMark val="out"/>
        <c:minorTickMark val="none"/>
        <c:tickLblPos val="nextTo"/>
        <c:crossAx val="347075688"/>
        <c:crosses val="autoZero"/>
        <c:auto val="0"/>
        <c:lblOffset val="100"/>
        <c:baseTimeUnit val="days"/>
      </c:dateAx>
      <c:spPr>
        <a:noFill/>
        <a:ln w="25400">
          <a:noFill/>
        </a:ln>
        <a:effectLst/>
      </c:spPr>
    </c:plotArea>
    <c:legend>
      <c:legendPos val="b"/>
      <c:legendEntry>
        <c:idx val="1"/>
        <c:delete val="1"/>
      </c:legendEntry>
      <c:legendEntry>
        <c:idx val="2"/>
        <c:delete val="1"/>
      </c:legendEntry>
      <c:legendEntry>
        <c:idx val="3"/>
        <c:delete val="1"/>
      </c:legendEntry>
      <c:legendEntry>
        <c:idx val="4"/>
        <c:delete val="1"/>
      </c:legendEntry>
      <c:legendEntry>
        <c:idx val="5"/>
        <c:delete val="1"/>
      </c:legendEntry>
      <c:legendEntry>
        <c:idx val="6"/>
        <c:delete val="1"/>
      </c:legendEntry>
      <c:legendEntry>
        <c:idx val="7"/>
        <c:delete val="1"/>
      </c:legendEntry>
      <c:legendEntry>
        <c:idx val="8"/>
        <c:delete val="1"/>
      </c:legendEntry>
      <c:legendEntry>
        <c:idx val="9"/>
        <c:delete val="1"/>
      </c:legendEntry>
      <c:legendEntry>
        <c:idx val="10"/>
        <c:delete val="1"/>
      </c:legendEntry>
      <c:legendEntry>
        <c:idx val="11"/>
        <c:delete val="1"/>
      </c:legendEntry>
      <c:legendEntry>
        <c:idx val="12"/>
        <c:delete val="1"/>
      </c:legendEntry>
      <c:legendEntry>
        <c:idx val="13"/>
        <c:delete val="1"/>
      </c:legendEntry>
      <c:legendEntry>
        <c:idx val="14"/>
        <c:delete val="1"/>
      </c:legendEntry>
      <c:legendEntry>
        <c:idx val="15"/>
        <c:delete val="1"/>
      </c:legendEntry>
      <c:legendEntry>
        <c:idx val="16"/>
        <c:delete val="1"/>
      </c:legendEntry>
      <c:legendEntry>
        <c:idx val="17"/>
        <c:delete val="1"/>
      </c:legendEntry>
      <c:legendEntry>
        <c:idx val="18"/>
        <c:delete val="1"/>
      </c:legendEntry>
      <c:legendEntry>
        <c:idx val="20"/>
        <c:delete val="1"/>
      </c:legendEntry>
      <c:legendEntry>
        <c:idx val="21"/>
        <c:delete val="1"/>
      </c:legendEntry>
      <c:legendEntry>
        <c:idx val="22"/>
        <c:delete val="1"/>
      </c:legendEntry>
      <c:layout>
        <c:manualLayout>
          <c:xMode val="edge"/>
          <c:yMode val="edge"/>
          <c:x val="8.7589051368578939E-3"/>
          <c:y val="0.89981913318527473"/>
          <c:w val="0.98538595561786746"/>
          <c:h val="0.10018078803884993"/>
        </c:manualLayout>
      </c:layout>
      <c:overlay val="0"/>
      <c:spPr>
        <a:noFill/>
        <a:ln>
          <a:noFill/>
        </a:ln>
        <a:effectLst/>
      </c:spPr>
      <c:txPr>
        <a:bodyPr rot="0" spcFirstLastPara="1" vertOverflow="ellipsis" vert="horz" wrap="square" anchor="ctr" anchorCtr="1"/>
        <a:lstStyle/>
        <a:p>
          <a:pPr>
            <a:defRPr lang="en-US" sz="750" b="0" i="0" u="none" strike="noStrike" kern="1200" baseline="0">
              <a:solidFill>
                <a:sysClr val="windowText" lastClr="000000"/>
              </a:solidFill>
              <a:latin typeface="+mn-lt"/>
              <a:ea typeface="+mn-ea"/>
              <a:cs typeface="+mn-cs"/>
            </a:defRPr>
          </a:pPr>
          <a:endParaRPr lang="en-US"/>
        </a:p>
      </c:txPr>
    </c:legend>
    <c:plotVisOnly val="1"/>
    <c:dispBlanksAs val="span"/>
    <c:showDLblsOverMax val="0"/>
  </c:chart>
  <c:spPr>
    <a:noFill/>
    <a:ln w="9525" cap="flat" cmpd="sng" algn="ctr">
      <a:noFill/>
      <a:round/>
    </a:ln>
    <a:effectLst/>
  </c:spPr>
  <c:txPr>
    <a:bodyPr/>
    <a:lstStyle/>
    <a:p>
      <a:pPr algn="ctr">
        <a:defRPr lang="en-US" sz="800" b="0" i="0" u="none" strike="noStrike" kern="1200" baseline="0">
          <a:solidFill>
            <a:sysClr val="windowText" lastClr="000000"/>
          </a:solidFill>
          <a:latin typeface="+mn-lt"/>
          <a:ea typeface="+mn-ea"/>
          <a:cs typeface="+mn-cs"/>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sz="960" b="1" i="0" u="none" strike="noStrike" kern="1200" spc="0" baseline="0">
                <a:solidFill>
                  <a:schemeClr val="tx1"/>
                </a:solidFill>
                <a:latin typeface="Arial" panose="020B0604020202020204" pitchFamily="34" charset="0"/>
                <a:ea typeface="+mn-ea"/>
                <a:cs typeface="Arial" panose="020B0604020202020204" pitchFamily="34" charset="0"/>
              </a:defRPr>
            </a:pPr>
            <a:r>
              <a:rPr lang="en-US" b="1" dirty="0"/>
              <a:t>Nominales BIP pro Kopf (1998 - 2021) </a:t>
            </a:r>
          </a:p>
        </c:rich>
      </c:tx>
      <c:layout>
        <c:manualLayout>
          <c:xMode val="edge"/>
          <c:yMode val="edge"/>
          <c:x val="0.17644002269986522"/>
          <c:y val="4.0669274383337742E-2"/>
        </c:manualLayout>
      </c:layout>
      <c:overlay val="0"/>
      <c:spPr>
        <a:noFill/>
        <a:ln>
          <a:noFill/>
        </a:ln>
        <a:effectLst/>
      </c:spPr>
      <c:txPr>
        <a:bodyPr rot="0" spcFirstLastPara="1" vertOverflow="ellipsis" vert="horz" wrap="square" anchor="ctr" anchorCtr="1"/>
        <a:lstStyle/>
        <a:p>
          <a:pPr algn="ctr" rtl="0">
            <a:defRPr sz="960" b="1" i="0" u="none" strike="noStrike" kern="1200" spc="0" baseline="0">
              <a:solidFill>
                <a:schemeClr val="tx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0.15397849761091456"/>
          <c:y val="0.18604658792650919"/>
          <c:w val="0.79448656181298138"/>
          <c:h val="0.61513204744755745"/>
        </c:manualLayout>
      </c:layout>
      <c:lineChart>
        <c:grouping val="standard"/>
        <c:varyColors val="0"/>
        <c:ser>
          <c:idx val="0"/>
          <c:order val="0"/>
          <c:spPr>
            <a:ln w="22225" cap="rnd">
              <a:solidFill>
                <a:schemeClr val="accent1"/>
              </a:solidFill>
              <a:round/>
            </a:ln>
            <a:effectLst/>
          </c:spPr>
          <c:marker>
            <c:symbol val="none"/>
          </c:marker>
          <c:trendline>
            <c:spPr>
              <a:ln w="38100" cap="rnd">
                <a:solidFill>
                  <a:schemeClr val="accent1"/>
                </a:solidFill>
                <a:prstDash val="sysDot"/>
              </a:ln>
              <a:effectLst/>
            </c:spPr>
            <c:trendlineType val="linear"/>
            <c:dispRSqr val="0"/>
            <c:dispEq val="0"/>
          </c:trendline>
          <c:cat>
            <c:numRef>
              <c:f>WEO_Data!$N$1:$AK$1</c:f>
              <c:numCache>
                <c:formatCode>General</c:formatCode>
                <c:ptCount val="24"/>
                <c:pt idx="0">
                  <c:v>1998</c:v>
                </c:pt>
                <c:pt idx="1">
                  <c:v>1999</c:v>
                </c:pt>
                <c:pt idx="2">
                  <c:v>2000</c:v>
                </c:pt>
                <c:pt idx="3">
                  <c:v>2001</c:v>
                </c:pt>
                <c:pt idx="4">
                  <c:v>2002</c:v>
                </c:pt>
                <c:pt idx="5">
                  <c:v>2003</c:v>
                </c:pt>
                <c:pt idx="6">
                  <c:v>2004</c:v>
                </c:pt>
                <c:pt idx="7">
                  <c:v>2005</c:v>
                </c:pt>
                <c:pt idx="8">
                  <c:v>2006</c:v>
                </c:pt>
                <c:pt idx="9">
                  <c:v>2007</c:v>
                </c:pt>
                <c:pt idx="10">
                  <c:v>2008</c:v>
                </c:pt>
                <c:pt idx="11">
                  <c:v>2009</c:v>
                </c:pt>
                <c:pt idx="12">
                  <c:v>2010</c:v>
                </c:pt>
                <c:pt idx="13">
                  <c:v>2011</c:v>
                </c:pt>
                <c:pt idx="14">
                  <c:v>2012</c:v>
                </c:pt>
                <c:pt idx="15">
                  <c:v>2013</c:v>
                </c:pt>
                <c:pt idx="16">
                  <c:v>2014</c:v>
                </c:pt>
                <c:pt idx="17">
                  <c:v>2015</c:v>
                </c:pt>
                <c:pt idx="18">
                  <c:v>2016</c:v>
                </c:pt>
                <c:pt idx="19">
                  <c:v>2017</c:v>
                </c:pt>
                <c:pt idx="20">
                  <c:v>2018</c:v>
                </c:pt>
                <c:pt idx="21">
                  <c:v>2019</c:v>
                </c:pt>
                <c:pt idx="22">
                  <c:v>2020</c:v>
                </c:pt>
                <c:pt idx="23">
                  <c:v>2021</c:v>
                </c:pt>
              </c:numCache>
            </c:numRef>
          </c:cat>
          <c:val>
            <c:numRef>
              <c:f>WEO_Data!$N$2:$AK$2</c:f>
              <c:numCache>
                <c:formatCode>0</c:formatCode>
                <c:ptCount val="24"/>
                <c:pt idx="0">
                  <c:v>313.06400000000002</c:v>
                </c:pt>
                <c:pt idx="1">
                  <c:v>346.57400000000001</c:v>
                </c:pt>
                <c:pt idx="2">
                  <c:v>319.358</c:v>
                </c:pt>
                <c:pt idx="3">
                  <c:v>296.26799999999997</c:v>
                </c:pt>
                <c:pt idx="4">
                  <c:v>302.54599999999999</c:v>
                </c:pt>
                <c:pt idx="5">
                  <c:v>326.07499999999999</c:v>
                </c:pt>
                <c:pt idx="6">
                  <c:v>383.27</c:v>
                </c:pt>
                <c:pt idx="7">
                  <c:v>416.81099999999998</c:v>
                </c:pt>
                <c:pt idx="8">
                  <c:v>435.334</c:v>
                </c:pt>
                <c:pt idx="9">
                  <c:v>482.19799999999998</c:v>
                </c:pt>
                <c:pt idx="10">
                  <c:v>563.649</c:v>
                </c:pt>
                <c:pt idx="11">
                  <c:v>520.40300000000002</c:v>
                </c:pt>
                <c:pt idx="12">
                  <c:v>471.904</c:v>
                </c:pt>
                <c:pt idx="13">
                  <c:v>594.58600000000001</c:v>
                </c:pt>
                <c:pt idx="14">
                  <c:v>657.64499999999998</c:v>
                </c:pt>
                <c:pt idx="15">
                  <c:v>664.07799999999997</c:v>
                </c:pt>
                <c:pt idx="16">
                  <c:v>673.96900000000005</c:v>
                </c:pt>
                <c:pt idx="17">
                  <c:v>589.86</c:v>
                </c:pt>
                <c:pt idx="18">
                  <c:v>428.92700000000002</c:v>
                </c:pt>
                <c:pt idx="19">
                  <c:v>461.41500000000002</c:v>
                </c:pt>
                <c:pt idx="20">
                  <c:v>503.30200000000002</c:v>
                </c:pt>
                <c:pt idx="21">
                  <c:v>506.81700000000001</c:v>
                </c:pt>
                <c:pt idx="22">
                  <c:v>448.84399999999999</c:v>
                </c:pt>
                <c:pt idx="23">
                  <c:v>492.27300000000002</c:v>
                </c:pt>
              </c:numCache>
            </c:numRef>
          </c:val>
          <c:smooth val="0"/>
          <c:extLst>
            <c:ext xmlns:c16="http://schemas.microsoft.com/office/drawing/2014/chart" uri="{C3380CC4-5D6E-409C-BE32-E72D297353CC}">
              <c16:uniqueId val="{00000001-B8A7-4445-9761-209A75DFFF5E}"/>
            </c:ext>
          </c:extLst>
        </c:ser>
        <c:dLbls>
          <c:showLegendKey val="0"/>
          <c:showVal val="0"/>
          <c:showCatName val="0"/>
          <c:showSerName val="0"/>
          <c:showPercent val="0"/>
          <c:showBubbleSize val="0"/>
        </c:dLbls>
        <c:smooth val="0"/>
        <c:axId val="1373882991"/>
        <c:axId val="1373882575"/>
      </c:lineChart>
      <c:catAx>
        <c:axId val="13738829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373882575"/>
        <c:crosses val="autoZero"/>
        <c:auto val="1"/>
        <c:lblAlgn val="ctr"/>
        <c:lblOffset val="100"/>
        <c:noMultiLvlLbl val="0"/>
      </c:catAx>
      <c:valAx>
        <c:axId val="1373882575"/>
        <c:scaling>
          <c:orientation val="minMax"/>
          <c:max val="800"/>
          <c:min val="2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r>
                  <a:rPr lang="en-US"/>
                  <a:t>USD</a:t>
                </a:r>
              </a:p>
            </c:rich>
          </c:tx>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373882991"/>
        <c:crossesAt val="1"/>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800">
          <a:solidFill>
            <a:schemeClr val="tx1"/>
          </a:solidFill>
          <a:latin typeface="Arial" panose="020B0604020202020204" pitchFamily="34" charset="0"/>
          <a:cs typeface="Arial" panose="020B0604020202020204" pitchFamily="34" charset="0"/>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mn-lt"/>
                <a:ea typeface="+mn-ea"/>
                <a:cs typeface="+mn-cs"/>
              </a:defRPr>
            </a:pPr>
            <a:r>
              <a:rPr lang="en-US" sz="1000" b="1" dirty="0"/>
              <a:t>Ghana</a:t>
            </a:r>
          </a:p>
        </c:rich>
      </c:tx>
      <c:layout>
        <c:manualLayout>
          <c:xMode val="edge"/>
          <c:yMode val="edge"/>
          <c:x val="0.43990959463400414"/>
          <c:y val="2.9845391074027772E-2"/>
        </c:manualLayout>
      </c:layout>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16055159049439793"/>
          <c:y val="0.14632725436291447"/>
          <c:w val="0.81699165217111958"/>
          <c:h val="0.64778554555626755"/>
        </c:manualLayout>
      </c:layout>
      <c:lineChart>
        <c:grouping val="standard"/>
        <c:varyColors val="0"/>
        <c:ser>
          <c:idx val="0"/>
          <c:order val="0"/>
          <c:tx>
            <c:strRef>
              <c:f>'Employment other countries'!$B$8</c:f>
              <c:strCache>
                <c:ptCount val="1"/>
                <c:pt idx="0">
                  <c:v>Agriculture</c:v>
                </c:pt>
              </c:strCache>
            </c:strRef>
          </c:tx>
          <c:spPr>
            <a:ln w="28575" cap="rnd">
              <a:solidFill>
                <a:schemeClr val="accent1"/>
              </a:solidFill>
              <a:round/>
            </a:ln>
            <a:effectLst/>
          </c:spPr>
          <c:marker>
            <c:symbol val="none"/>
          </c:marker>
          <c:cat>
            <c:strRef>
              <c:f>'Employment other countries'!$C$4:$AE$4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 other countries'!$C$8:$AE$8</c:f>
              <c:numCache>
                <c:formatCode>0</c:formatCode>
                <c:ptCount val="29"/>
                <c:pt idx="0">
                  <c:v>57.119998931884801</c:v>
                </c:pt>
                <c:pt idx="1">
                  <c:v>56.939998626708999</c:v>
                </c:pt>
                <c:pt idx="2">
                  <c:v>56.680000305175803</c:v>
                </c:pt>
                <c:pt idx="3">
                  <c:v>56.490001678466797</c:v>
                </c:pt>
                <c:pt idx="4">
                  <c:v>56.240001678466797</c:v>
                </c:pt>
                <c:pt idx="5">
                  <c:v>55.970001220703097</c:v>
                </c:pt>
                <c:pt idx="6">
                  <c:v>55.659999847412102</c:v>
                </c:pt>
                <c:pt idx="7">
                  <c:v>55.299999237060497</c:v>
                </c:pt>
                <c:pt idx="8">
                  <c:v>54.950000762939503</c:v>
                </c:pt>
                <c:pt idx="9">
                  <c:v>55.029998779296903</c:v>
                </c:pt>
                <c:pt idx="10">
                  <c:v>55.099998474121101</c:v>
                </c:pt>
                <c:pt idx="11">
                  <c:v>55.119998931884801</c:v>
                </c:pt>
                <c:pt idx="12">
                  <c:v>55.099998474121101</c:v>
                </c:pt>
                <c:pt idx="13">
                  <c:v>55.049999237060497</c:v>
                </c:pt>
                <c:pt idx="14">
                  <c:v>54.959999084472699</c:v>
                </c:pt>
                <c:pt idx="15">
                  <c:v>54.930000305175803</c:v>
                </c:pt>
                <c:pt idx="16">
                  <c:v>53.939998626708999</c:v>
                </c:pt>
                <c:pt idx="17">
                  <c:v>52.630001068115199</c:v>
                </c:pt>
                <c:pt idx="18">
                  <c:v>51.509998321533203</c:v>
                </c:pt>
                <c:pt idx="19">
                  <c:v>50.110000610351598</c:v>
                </c:pt>
                <c:pt idx="20">
                  <c:v>48.360000610351598</c:v>
                </c:pt>
                <c:pt idx="21">
                  <c:v>46.849998474121101</c:v>
                </c:pt>
                <c:pt idx="22">
                  <c:v>45.380001068115199</c:v>
                </c:pt>
                <c:pt idx="23">
                  <c:v>40.409999847412102</c:v>
                </c:pt>
                <c:pt idx="24">
                  <c:v>35.180000305175803</c:v>
                </c:pt>
                <c:pt idx="25">
                  <c:v>33.889999389648402</c:v>
                </c:pt>
                <c:pt idx="26">
                  <c:v>32.569999694824197</c:v>
                </c:pt>
                <c:pt idx="27">
                  <c:v>31.049999237060501</c:v>
                </c:pt>
                <c:pt idx="28">
                  <c:v>29.75</c:v>
                </c:pt>
              </c:numCache>
            </c:numRef>
          </c:val>
          <c:smooth val="0"/>
          <c:extLst>
            <c:ext xmlns:c16="http://schemas.microsoft.com/office/drawing/2014/chart" uri="{C3380CC4-5D6E-409C-BE32-E72D297353CC}">
              <c16:uniqueId val="{00000000-D36D-44E7-9431-96E9731FE797}"/>
            </c:ext>
          </c:extLst>
        </c:ser>
        <c:ser>
          <c:idx val="1"/>
          <c:order val="1"/>
          <c:tx>
            <c:strRef>
              <c:f>'Employment other countries'!$B$9</c:f>
              <c:strCache>
                <c:ptCount val="1"/>
                <c:pt idx="0">
                  <c:v>Industry</c:v>
                </c:pt>
              </c:strCache>
            </c:strRef>
          </c:tx>
          <c:spPr>
            <a:ln w="28575" cap="rnd">
              <a:solidFill>
                <a:schemeClr val="tx2"/>
              </a:solidFill>
              <a:round/>
            </a:ln>
            <a:effectLst/>
          </c:spPr>
          <c:marker>
            <c:symbol val="none"/>
          </c:marker>
          <c:cat>
            <c:strRef>
              <c:f>'Employment other countries'!$C$4:$AE$4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 other countries'!$C$9:$AE$9</c:f>
              <c:numCache>
                <c:formatCode>0</c:formatCode>
                <c:ptCount val="29"/>
                <c:pt idx="0">
                  <c:v>14.0100002288818</c:v>
                </c:pt>
                <c:pt idx="1">
                  <c:v>14</c:v>
                </c:pt>
                <c:pt idx="2">
                  <c:v>14.060000419616699</c:v>
                </c:pt>
                <c:pt idx="3">
                  <c:v>14.0299997329712</c:v>
                </c:pt>
                <c:pt idx="4">
                  <c:v>14.0100002288818</c:v>
                </c:pt>
                <c:pt idx="5">
                  <c:v>13.9700002670288</c:v>
                </c:pt>
                <c:pt idx="6">
                  <c:v>13.9799995422363</c:v>
                </c:pt>
                <c:pt idx="7">
                  <c:v>13.9700002670288</c:v>
                </c:pt>
                <c:pt idx="8">
                  <c:v>13.9899997711182</c:v>
                </c:pt>
                <c:pt idx="9">
                  <c:v>14</c:v>
                </c:pt>
                <c:pt idx="10">
                  <c:v>14.0100002288818</c:v>
                </c:pt>
                <c:pt idx="11">
                  <c:v>14.039999961853001</c:v>
                </c:pt>
                <c:pt idx="12">
                  <c:v>14.069999694824199</c:v>
                </c:pt>
                <c:pt idx="13">
                  <c:v>14.1099996566772</c:v>
                </c:pt>
                <c:pt idx="14">
                  <c:v>14.180000305175801</c:v>
                </c:pt>
                <c:pt idx="15">
                  <c:v>14.2299995422363</c:v>
                </c:pt>
                <c:pt idx="16">
                  <c:v>14.069999694824199</c:v>
                </c:pt>
                <c:pt idx="17">
                  <c:v>13.949999809265099</c:v>
                </c:pt>
                <c:pt idx="18">
                  <c:v>13.8699998855591</c:v>
                </c:pt>
                <c:pt idx="19">
                  <c:v>13.9099998474121</c:v>
                </c:pt>
                <c:pt idx="20">
                  <c:v>13.9799995422363</c:v>
                </c:pt>
                <c:pt idx="21">
                  <c:v>14</c:v>
                </c:pt>
                <c:pt idx="22">
                  <c:v>14.069999694824199</c:v>
                </c:pt>
                <c:pt idx="23">
                  <c:v>16.200000762939499</c:v>
                </c:pt>
                <c:pt idx="24">
                  <c:v>18.690000534057599</c:v>
                </c:pt>
                <c:pt idx="25">
                  <c:v>19.129999160766602</c:v>
                </c:pt>
                <c:pt idx="26">
                  <c:v>19.620000839233398</c:v>
                </c:pt>
                <c:pt idx="27">
                  <c:v>20.469999313354499</c:v>
                </c:pt>
                <c:pt idx="28">
                  <c:v>21.049999237060501</c:v>
                </c:pt>
              </c:numCache>
            </c:numRef>
          </c:val>
          <c:smooth val="0"/>
          <c:extLst>
            <c:ext xmlns:c16="http://schemas.microsoft.com/office/drawing/2014/chart" uri="{C3380CC4-5D6E-409C-BE32-E72D297353CC}">
              <c16:uniqueId val="{00000001-D36D-44E7-9431-96E9731FE797}"/>
            </c:ext>
          </c:extLst>
        </c:ser>
        <c:ser>
          <c:idx val="2"/>
          <c:order val="2"/>
          <c:tx>
            <c:strRef>
              <c:f>'Employment other countries'!$B$10</c:f>
              <c:strCache>
                <c:ptCount val="1"/>
                <c:pt idx="0">
                  <c:v>Services</c:v>
                </c:pt>
              </c:strCache>
            </c:strRef>
          </c:tx>
          <c:spPr>
            <a:ln w="28575" cap="rnd">
              <a:solidFill>
                <a:schemeClr val="accent3"/>
              </a:solidFill>
              <a:round/>
            </a:ln>
            <a:effectLst/>
          </c:spPr>
          <c:marker>
            <c:symbol val="none"/>
          </c:marker>
          <c:cat>
            <c:strRef>
              <c:f>'Employment other countries'!$C$4:$AE$4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 other countries'!$C$10:$AE$10</c:f>
              <c:numCache>
                <c:formatCode>0</c:formatCode>
                <c:ptCount val="29"/>
                <c:pt idx="0">
                  <c:v>28.870000839233398</c:v>
                </c:pt>
                <c:pt idx="1">
                  <c:v>29.059999465942401</c:v>
                </c:pt>
                <c:pt idx="2">
                  <c:v>29.2600002288818</c:v>
                </c:pt>
                <c:pt idx="3">
                  <c:v>29.4799995422363</c:v>
                </c:pt>
                <c:pt idx="4">
                  <c:v>29.75</c:v>
                </c:pt>
                <c:pt idx="5">
                  <c:v>30.059999465942401</c:v>
                </c:pt>
                <c:pt idx="6">
                  <c:v>30.360000610351602</c:v>
                </c:pt>
                <c:pt idx="7">
                  <c:v>30.7299995422363</c:v>
                </c:pt>
                <c:pt idx="8">
                  <c:v>31.069999694824201</c:v>
                </c:pt>
                <c:pt idx="9">
                  <c:v>30.969999313354499</c:v>
                </c:pt>
                <c:pt idx="10">
                  <c:v>30.899999618530298</c:v>
                </c:pt>
                <c:pt idx="11">
                  <c:v>30.850000381469702</c:v>
                </c:pt>
                <c:pt idx="12">
                  <c:v>30.840000152587901</c:v>
                </c:pt>
                <c:pt idx="13">
                  <c:v>30.850000381469702</c:v>
                </c:pt>
                <c:pt idx="14">
                  <c:v>30.860000610351602</c:v>
                </c:pt>
                <c:pt idx="15">
                  <c:v>30.840000152587901</c:v>
                </c:pt>
                <c:pt idx="16">
                  <c:v>31.9899997711182</c:v>
                </c:pt>
                <c:pt idx="17">
                  <c:v>33.419998168945298</c:v>
                </c:pt>
                <c:pt idx="18">
                  <c:v>34.619998931884801</c:v>
                </c:pt>
                <c:pt idx="19">
                  <c:v>35.9799995422363</c:v>
                </c:pt>
                <c:pt idx="20">
                  <c:v>37.650001525878899</c:v>
                </c:pt>
                <c:pt idx="21">
                  <c:v>39.150001525878899</c:v>
                </c:pt>
                <c:pt idx="22">
                  <c:v>40.549999237060497</c:v>
                </c:pt>
                <c:pt idx="23">
                  <c:v>43.389999389648402</c:v>
                </c:pt>
                <c:pt idx="24">
                  <c:v>46.139999389648402</c:v>
                </c:pt>
                <c:pt idx="25">
                  <c:v>46.9799995422363</c:v>
                </c:pt>
                <c:pt idx="26">
                  <c:v>47.810001373291001</c:v>
                </c:pt>
                <c:pt idx="27">
                  <c:v>48.4799995422363</c:v>
                </c:pt>
                <c:pt idx="28">
                  <c:v>49.209999084472699</c:v>
                </c:pt>
              </c:numCache>
            </c:numRef>
          </c:val>
          <c:smooth val="0"/>
          <c:extLst>
            <c:ext xmlns:c16="http://schemas.microsoft.com/office/drawing/2014/chart" uri="{C3380CC4-5D6E-409C-BE32-E72D297353CC}">
              <c16:uniqueId val="{00000002-D36D-44E7-9431-96E9731FE797}"/>
            </c:ext>
          </c:extLst>
        </c:ser>
        <c:dLbls>
          <c:showLegendKey val="0"/>
          <c:showVal val="0"/>
          <c:showCatName val="0"/>
          <c:showSerName val="0"/>
          <c:showPercent val="0"/>
          <c:showBubbleSize val="0"/>
        </c:dLbls>
        <c:smooth val="0"/>
        <c:axId val="1659466655"/>
        <c:axId val="1617463791"/>
      </c:lineChart>
      <c:catAx>
        <c:axId val="16594666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617463791"/>
        <c:crosses val="autoZero"/>
        <c:auto val="1"/>
        <c:lblAlgn val="ctr"/>
        <c:lblOffset val="100"/>
        <c:noMultiLvlLbl val="0"/>
      </c:catAx>
      <c:valAx>
        <c:axId val="161746379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659466655"/>
        <c:crosses val="autoZero"/>
        <c:crossBetween val="between"/>
      </c:valAx>
      <c:spPr>
        <a:noFill/>
        <a:ln>
          <a:noFill/>
        </a:ln>
        <a:effectLst/>
      </c:spPr>
    </c:plotArea>
    <c:legend>
      <c:legendPos val="b"/>
      <c:layout>
        <c:manualLayout>
          <c:xMode val="edge"/>
          <c:yMode val="edge"/>
          <c:x val="6.9645900648737782E-2"/>
          <c:y val="0.28320246191586995"/>
          <c:w val="0.67092812956675563"/>
          <c:h val="0.14006104428834462"/>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solidFill>
            <a:schemeClr val="tx1"/>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250039424352364"/>
          <c:y val="5.3898434823404499E-2"/>
          <c:w val="0.80134246431326561"/>
          <c:h val="0.73563982139795736"/>
        </c:manualLayout>
      </c:layout>
      <c:lineChart>
        <c:grouping val="standard"/>
        <c:varyColors val="0"/>
        <c:ser>
          <c:idx val="0"/>
          <c:order val="0"/>
          <c:tx>
            <c:strRef>
              <c:f>'Employment other countries'!$B$17</c:f>
              <c:strCache>
                <c:ptCount val="1"/>
                <c:pt idx="0">
                  <c:v>Agriculture</c:v>
                </c:pt>
              </c:strCache>
            </c:strRef>
          </c:tx>
          <c:spPr>
            <a:ln w="28575" cap="rnd">
              <a:solidFill>
                <a:schemeClr val="accent1"/>
              </a:solidFill>
              <a:round/>
            </a:ln>
            <a:effectLst/>
          </c:spPr>
          <c:marker>
            <c:symbol val="none"/>
          </c:marker>
          <c:cat>
            <c:strRef>
              <c:f>'Employment other countries'!$C$4:$AE$4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 other countries'!$C$17:$AE$17</c:f>
              <c:numCache>
                <c:formatCode>0</c:formatCode>
                <c:ptCount val="29"/>
                <c:pt idx="0">
                  <c:v>70.879997253417997</c:v>
                </c:pt>
                <c:pt idx="1">
                  <c:v>69.809997558593807</c:v>
                </c:pt>
                <c:pt idx="2">
                  <c:v>68.779998779296903</c:v>
                </c:pt>
                <c:pt idx="3">
                  <c:v>67.819999694824205</c:v>
                </c:pt>
                <c:pt idx="4">
                  <c:v>66.970001220703097</c:v>
                </c:pt>
                <c:pt idx="5">
                  <c:v>66.309997558593807</c:v>
                </c:pt>
                <c:pt idx="6">
                  <c:v>65.279998779296903</c:v>
                </c:pt>
                <c:pt idx="7">
                  <c:v>64.769996643066406</c:v>
                </c:pt>
                <c:pt idx="8">
                  <c:v>64.989997863769503</c:v>
                </c:pt>
                <c:pt idx="9">
                  <c:v>65.25</c:v>
                </c:pt>
                <c:pt idx="10">
                  <c:v>63.990001678466797</c:v>
                </c:pt>
                <c:pt idx="11">
                  <c:v>62.040000915527301</c:v>
                </c:pt>
                <c:pt idx="12">
                  <c:v>59.680000305175803</c:v>
                </c:pt>
                <c:pt idx="13">
                  <c:v>57.900001525878899</c:v>
                </c:pt>
                <c:pt idx="14">
                  <c:v>54.830001831054702</c:v>
                </c:pt>
                <c:pt idx="15">
                  <c:v>51.669998168945298</c:v>
                </c:pt>
                <c:pt idx="16">
                  <c:v>49.279998779296903</c:v>
                </c:pt>
                <c:pt idx="17">
                  <c:v>48.619998931884801</c:v>
                </c:pt>
                <c:pt idx="18">
                  <c:v>47.549999237060497</c:v>
                </c:pt>
                <c:pt idx="19">
                  <c:v>48.709999084472699</c:v>
                </c:pt>
                <c:pt idx="20">
                  <c:v>48.310001373291001</c:v>
                </c:pt>
                <c:pt idx="21">
                  <c:v>47.369998931884801</c:v>
                </c:pt>
                <c:pt idx="22">
                  <c:v>46.810001373291001</c:v>
                </c:pt>
                <c:pt idx="23">
                  <c:v>46.340000152587898</c:v>
                </c:pt>
                <c:pt idx="24">
                  <c:v>44.0200004577637</c:v>
                </c:pt>
                <c:pt idx="25">
                  <c:v>41.869998931884801</c:v>
                </c:pt>
                <c:pt idx="26">
                  <c:v>40.159999847412102</c:v>
                </c:pt>
                <c:pt idx="27">
                  <c:v>38.700000762939503</c:v>
                </c:pt>
                <c:pt idx="28">
                  <c:v>37.220001220703097</c:v>
                </c:pt>
              </c:numCache>
            </c:numRef>
          </c:val>
          <c:smooth val="0"/>
          <c:extLst>
            <c:ext xmlns:c16="http://schemas.microsoft.com/office/drawing/2014/chart" uri="{C3380CC4-5D6E-409C-BE32-E72D297353CC}">
              <c16:uniqueId val="{00000000-846F-46D3-AEDC-D7A1A13074D5}"/>
            </c:ext>
          </c:extLst>
        </c:ser>
        <c:ser>
          <c:idx val="1"/>
          <c:order val="1"/>
          <c:tx>
            <c:strRef>
              <c:f>'Employment other countries'!$B$18</c:f>
              <c:strCache>
                <c:ptCount val="1"/>
                <c:pt idx="0">
                  <c:v>Industry</c:v>
                </c:pt>
              </c:strCache>
            </c:strRef>
          </c:tx>
          <c:spPr>
            <a:ln w="28575" cap="rnd">
              <a:solidFill>
                <a:schemeClr val="tx2"/>
              </a:solidFill>
              <a:round/>
            </a:ln>
            <a:effectLst/>
          </c:spPr>
          <c:marker>
            <c:symbol val="none"/>
          </c:marker>
          <c:cat>
            <c:strRef>
              <c:f>'Employment other countries'!$C$4:$AE$4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 other countries'!$C$18:$AE$18</c:f>
              <c:numCache>
                <c:formatCode>0</c:formatCode>
                <c:ptCount val="29"/>
                <c:pt idx="0">
                  <c:v>10.1199998855591</c:v>
                </c:pt>
                <c:pt idx="1">
                  <c:v>10.579999923706101</c:v>
                </c:pt>
                <c:pt idx="2">
                  <c:v>11.0900001525879</c:v>
                </c:pt>
                <c:pt idx="3">
                  <c:v>11.4700002670288</c:v>
                </c:pt>
                <c:pt idx="4">
                  <c:v>11.819999694824199</c:v>
                </c:pt>
                <c:pt idx="5">
                  <c:v>12.25</c:v>
                </c:pt>
                <c:pt idx="6">
                  <c:v>12.680000305175801</c:v>
                </c:pt>
                <c:pt idx="7">
                  <c:v>11.579999923706101</c:v>
                </c:pt>
                <c:pt idx="8">
                  <c:v>11.9899997711182</c:v>
                </c:pt>
                <c:pt idx="9">
                  <c:v>12.439999580383301</c:v>
                </c:pt>
                <c:pt idx="10">
                  <c:v>13.8999996185303</c:v>
                </c:pt>
                <c:pt idx="11">
                  <c:v>14.699999809265099</c:v>
                </c:pt>
                <c:pt idx="12">
                  <c:v>16.409999847412099</c:v>
                </c:pt>
                <c:pt idx="13">
                  <c:v>17.350000381469702</c:v>
                </c:pt>
                <c:pt idx="14">
                  <c:v>18.7399997711182</c:v>
                </c:pt>
                <c:pt idx="15">
                  <c:v>20.190000534057599</c:v>
                </c:pt>
                <c:pt idx="16">
                  <c:v>20.389999389648398</c:v>
                </c:pt>
                <c:pt idx="17">
                  <c:v>21</c:v>
                </c:pt>
                <c:pt idx="18">
                  <c:v>21.850000381469702</c:v>
                </c:pt>
                <c:pt idx="19">
                  <c:v>21.680000305175799</c:v>
                </c:pt>
                <c:pt idx="20">
                  <c:v>21.280000686645501</c:v>
                </c:pt>
                <c:pt idx="21">
                  <c:v>21.190000534057599</c:v>
                </c:pt>
                <c:pt idx="22">
                  <c:v>21.180000305175799</c:v>
                </c:pt>
                <c:pt idx="23">
                  <c:v>21.450000762939499</c:v>
                </c:pt>
                <c:pt idx="24">
                  <c:v>22.7399997711182</c:v>
                </c:pt>
                <c:pt idx="25">
                  <c:v>24.7600002288818</c:v>
                </c:pt>
                <c:pt idx="26">
                  <c:v>25.780000686645501</c:v>
                </c:pt>
                <c:pt idx="27">
                  <c:v>26.639999389648398</c:v>
                </c:pt>
                <c:pt idx="28">
                  <c:v>27.440000534057599</c:v>
                </c:pt>
              </c:numCache>
            </c:numRef>
          </c:val>
          <c:smooth val="0"/>
          <c:extLst>
            <c:ext xmlns:c16="http://schemas.microsoft.com/office/drawing/2014/chart" uri="{C3380CC4-5D6E-409C-BE32-E72D297353CC}">
              <c16:uniqueId val="{00000001-846F-46D3-AEDC-D7A1A13074D5}"/>
            </c:ext>
          </c:extLst>
        </c:ser>
        <c:ser>
          <c:idx val="2"/>
          <c:order val="2"/>
          <c:tx>
            <c:strRef>
              <c:f>'Employment other countries'!$B$19</c:f>
              <c:strCache>
                <c:ptCount val="1"/>
                <c:pt idx="0">
                  <c:v>Services</c:v>
                </c:pt>
              </c:strCache>
            </c:strRef>
          </c:tx>
          <c:spPr>
            <a:ln w="28575" cap="rnd">
              <a:solidFill>
                <a:schemeClr val="accent3"/>
              </a:solidFill>
              <a:round/>
            </a:ln>
            <a:effectLst/>
          </c:spPr>
          <c:marker>
            <c:symbol val="none"/>
          </c:marker>
          <c:cat>
            <c:strRef>
              <c:f>'Employment other countries'!$C$4:$AE$4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 other countries'!$C$19:$AE$19</c:f>
              <c:numCache>
                <c:formatCode>0</c:formatCode>
                <c:ptCount val="29"/>
                <c:pt idx="0">
                  <c:v>19</c:v>
                </c:pt>
                <c:pt idx="1">
                  <c:v>19.620000839233398</c:v>
                </c:pt>
                <c:pt idx="2">
                  <c:v>20.129999160766602</c:v>
                </c:pt>
                <c:pt idx="3">
                  <c:v>20.709999084472699</c:v>
                </c:pt>
                <c:pt idx="4">
                  <c:v>21.219999313354499</c:v>
                </c:pt>
                <c:pt idx="5">
                  <c:v>21.440000534057599</c:v>
                </c:pt>
                <c:pt idx="6">
                  <c:v>22.040000915527301</c:v>
                </c:pt>
                <c:pt idx="7">
                  <c:v>23.649999618530298</c:v>
                </c:pt>
                <c:pt idx="8">
                  <c:v>23.0200004577637</c:v>
                </c:pt>
                <c:pt idx="9">
                  <c:v>22.309999465942401</c:v>
                </c:pt>
                <c:pt idx="10">
                  <c:v>22.110000610351602</c:v>
                </c:pt>
                <c:pt idx="11">
                  <c:v>23.2600002288818</c:v>
                </c:pt>
                <c:pt idx="12">
                  <c:v>23.909999847412099</c:v>
                </c:pt>
                <c:pt idx="13">
                  <c:v>24.75</c:v>
                </c:pt>
                <c:pt idx="14">
                  <c:v>26.440000534057599</c:v>
                </c:pt>
                <c:pt idx="15">
                  <c:v>28.149999618530298</c:v>
                </c:pt>
                <c:pt idx="16">
                  <c:v>30.329999923706101</c:v>
                </c:pt>
                <c:pt idx="17">
                  <c:v>30.379999160766602</c:v>
                </c:pt>
                <c:pt idx="18">
                  <c:v>30.600000381469702</c:v>
                </c:pt>
                <c:pt idx="19">
                  <c:v>29.610000610351602</c:v>
                </c:pt>
                <c:pt idx="20">
                  <c:v>30.409999847412099</c:v>
                </c:pt>
                <c:pt idx="21">
                  <c:v>31.440000534057599</c:v>
                </c:pt>
                <c:pt idx="22">
                  <c:v>32</c:v>
                </c:pt>
                <c:pt idx="23">
                  <c:v>32.220001220703097</c:v>
                </c:pt>
                <c:pt idx="24">
                  <c:v>33.240001678466797</c:v>
                </c:pt>
                <c:pt idx="25">
                  <c:v>33.369998931884801</c:v>
                </c:pt>
                <c:pt idx="26">
                  <c:v>34.069999694824197</c:v>
                </c:pt>
                <c:pt idx="27">
                  <c:v>34.659999847412102</c:v>
                </c:pt>
                <c:pt idx="28">
                  <c:v>35.340000152587898</c:v>
                </c:pt>
              </c:numCache>
            </c:numRef>
          </c:val>
          <c:smooth val="0"/>
          <c:extLst>
            <c:ext xmlns:c16="http://schemas.microsoft.com/office/drawing/2014/chart" uri="{C3380CC4-5D6E-409C-BE32-E72D297353CC}">
              <c16:uniqueId val="{00000002-846F-46D3-AEDC-D7A1A13074D5}"/>
            </c:ext>
          </c:extLst>
        </c:ser>
        <c:dLbls>
          <c:showLegendKey val="0"/>
          <c:showVal val="0"/>
          <c:showCatName val="0"/>
          <c:showSerName val="0"/>
          <c:showPercent val="0"/>
          <c:showBubbleSize val="0"/>
        </c:dLbls>
        <c:smooth val="0"/>
        <c:axId val="1672639951"/>
        <c:axId val="1678579311"/>
      </c:lineChart>
      <c:catAx>
        <c:axId val="16726399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678579311"/>
        <c:crosses val="autoZero"/>
        <c:auto val="1"/>
        <c:lblAlgn val="ctr"/>
        <c:lblOffset val="100"/>
        <c:noMultiLvlLbl val="0"/>
      </c:catAx>
      <c:valAx>
        <c:axId val="167857931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672639951"/>
        <c:crosses val="autoZero"/>
        <c:crossBetween val="between"/>
      </c:valAx>
      <c:spPr>
        <a:noFill/>
        <a:ln>
          <a:noFill/>
        </a:ln>
        <a:effectLst/>
      </c:spPr>
    </c:plotArea>
    <c:legend>
      <c:legendPos val="b"/>
      <c:layout>
        <c:manualLayout>
          <c:xMode val="edge"/>
          <c:yMode val="edge"/>
          <c:x val="3.6296923858670921E-2"/>
          <c:y val="0.35244715098352108"/>
          <c:w val="0.47782195117767134"/>
          <c:h val="0.16682884302942511"/>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800">
          <a:solidFill>
            <a:schemeClr val="tx1"/>
          </a:solidFill>
        </a:defRPr>
      </a:pPr>
      <a:endParaRPr lang="en-US"/>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60" b="0" i="0" u="none" strike="noStrike" kern="1200" spc="0" baseline="0">
                <a:solidFill>
                  <a:schemeClr val="tx1"/>
                </a:solidFill>
                <a:latin typeface="+mn-lt"/>
                <a:ea typeface="+mn-ea"/>
                <a:cs typeface="+mn-cs"/>
              </a:defRPr>
            </a:pPr>
            <a:r>
              <a:rPr lang="en-US" sz="1000" b="1" dirty="0"/>
              <a:t>Mosambik</a:t>
            </a:r>
          </a:p>
        </c:rich>
      </c:tx>
      <c:layout>
        <c:manualLayout>
          <c:xMode val="edge"/>
          <c:yMode val="edge"/>
          <c:x val="0.34561719958354936"/>
          <c:y val="1.6252761496656221E-2"/>
        </c:manualLayout>
      </c:layout>
      <c:overlay val="0"/>
      <c:spPr>
        <a:noFill/>
        <a:ln>
          <a:noFill/>
        </a:ln>
        <a:effectLst/>
      </c:spPr>
      <c:txPr>
        <a:bodyPr rot="0" spcFirstLastPara="1" vertOverflow="ellipsis" vert="horz" wrap="square" anchor="ctr" anchorCtr="1"/>
        <a:lstStyle/>
        <a:p>
          <a:pPr>
            <a:defRPr sz="96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11987652152304404"/>
          <c:y val="8.8635095751140841E-2"/>
          <c:w val="0.8202694075860858"/>
          <c:h val="0.70460925273463015"/>
        </c:manualLayout>
      </c:layout>
      <c:lineChart>
        <c:grouping val="standard"/>
        <c:varyColors val="0"/>
        <c:ser>
          <c:idx val="0"/>
          <c:order val="0"/>
          <c:tx>
            <c:strRef>
              <c:f>Employment!$B$8</c:f>
              <c:strCache>
                <c:ptCount val="1"/>
                <c:pt idx="0">
                  <c:v>Agriculture </c:v>
                </c:pt>
              </c:strCache>
            </c:strRef>
          </c:tx>
          <c:spPr>
            <a:ln w="28575" cap="rnd">
              <a:solidFill>
                <a:schemeClr val="accent1"/>
              </a:solidFill>
              <a:round/>
            </a:ln>
            <a:effectLst/>
          </c:spPr>
          <c:marker>
            <c:symbol val="none"/>
          </c:marker>
          <c:cat>
            <c:strRef>
              <c:f>Employment!$C$4:$AE$4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Employment!$C$8:$AE$8</c:f>
              <c:numCache>
                <c:formatCode>0</c:formatCode>
                <c:ptCount val="29"/>
                <c:pt idx="0">
                  <c:v>84.430000305175795</c:v>
                </c:pt>
                <c:pt idx="1">
                  <c:v>84.540000915527301</c:v>
                </c:pt>
                <c:pt idx="2">
                  <c:v>84.360000610351605</c:v>
                </c:pt>
                <c:pt idx="3">
                  <c:v>84.230003356933594</c:v>
                </c:pt>
                <c:pt idx="4">
                  <c:v>84.160003662109403</c:v>
                </c:pt>
                <c:pt idx="5">
                  <c:v>83.819999694824205</c:v>
                </c:pt>
                <c:pt idx="6">
                  <c:v>83.419998168945298</c:v>
                </c:pt>
                <c:pt idx="7">
                  <c:v>82.970001220703097</c:v>
                </c:pt>
                <c:pt idx="8">
                  <c:v>82.410003662109403</c:v>
                </c:pt>
                <c:pt idx="9">
                  <c:v>82.220001220703097</c:v>
                </c:pt>
                <c:pt idx="10">
                  <c:v>81.519996643066406</c:v>
                </c:pt>
                <c:pt idx="11">
                  <c:v>80.949996948242202</c:v>
                </c:pt>
                <c:pt idx="12">
                  <c:v>80.470001220703097</c:v>
                </c:pt>
                <c:pt idx="13">
                  <c:v>79.980003356933594</c:v>
                </c:pt>
                <c:pt idx="14">
                  <c:v>79.510002136230497</c:v>
                </c:pt>
                <c:pt idx="15">
                  <c:v>78.860000610351605</c:v>
                </c:pt>
                <c:pt idx="16">
                  <c:v>78.260002136230497</c:v>
                </c:pt>
                <c:pt idx="17">
                  <c:v>77.650001525878906</c:v>
                </c:pt>
                <c:pt idx="18">
                  <c:v>77.050003051757798</c:v>
                </c:pt>
                <c:pt idx="19">
                  <c:v>76.389999389648395</c:v>
                </c:pt>
                <c:pt idx="20">
                  <c:v>75.629997253417997</c:v>
                </c:pt>
                <c:pt idx="21">
                  <c:v>74.849998474121094</c:v>
                </c:pt>
                <c:pt idx="22">
                  <c:v>74.019996643066406</c:v>
                </c:pt>
                <c:pt idx="23">
                  <c:v>73.120002746582003</c:v>
                </c:pt>
                <c:pt idx="24">
                  <c:v>72.120002746582003</c:v>
                </c:pt>
                <c:pt idx="25">
                  <c:v>71.559997558593807</c:v>
                </c:pt>
                <c:pt idx="26">
                  <c:v>71.059997558593807</c:v>
                </c:pt>
                <c:pt idx="27">
                  <c:v>70.589996337890597</c:v>
                </c:pt>
                <c:pt idx="28">
                  <c:v>70.220001220703097</c:v>
                </c:pt>
              </c:numCache>
            </c:numRef>
          </c:val>
          <c:smooth val="0"/>
          <c:extLst>
            <c:ext xmlns:c16="http://schemas.microsoft.com/office/drawing/2014/chart" uri="{C3380CC4-5D6E-409C-BE32-E72D297353CC}">
              <c16:uniqueId val="{00000000-50D6-49F2-97EA-7AB7A7CC293B}"/>
            </c:ext>
          </c:extLst>
        </c:ser>
        <c:ser>
          <c:idx val="1"/>
          <c:order val="1"/>
          <c:tx>
            <c:strRef>
              <c:f>Employment!$B$9</c:f>
              <c:strCache>
                <c:ptCount val="1"/>
                <c:pt idx="0">
                  <c:v>Industry</c:v>
                </c:pt>
              </c:strCache>
            </c:strRef>
          </c:tx>
          <c:spPr>
            <a:ln w="28575" cap="rnd">
              <a:solidFill>
                <a:schemeClr val="tx1"/>
              </a:solidFill>
              <a:round/>
            </a:ln>
            <a:effectLst/>
          </c:spPr>
          <c:marker>
            <c:symbol val="none"/>
          </c:marker>
          <c:cat>
            <c:strRef>
              <c:f>Employment!$C$4:$AE$4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Employment!$C$9:$AE$9</c:f>
              <c:numCache>
                <c:formatCode>0</c:formatCode>
                <c:ptCount val="29"/>
                <c:pt idx="0">
                  <c:v>2.5</c:v>
                </c:pt>
                <c:pt idx="1">
                  <c:v>2.5099999904632599</c:v>
                </c:pt>
                <c:pt idx="2">
                  <c:v>2.5199999809265101</c:v>
                </c:pt>
                <c:pt idx="3">
                  <c:v>2.53999996185303</c:v>
                </c:pt>
                <c:pt idx="4">
                  <c:v>2.5599999427795401</c:v>
                </c:pt>
                <c:pt idx="5">
                  <c:v>2.6099998950958301</c:v>
                </c:pt>
                <c:pt idx="6">
                  <c:v>2.6800000667571999</c:v>
                </c:pt>
                <c:pt idx="7">
                  <c:v>2.7599999904632599</c:v>
                </c:pt>
                <c:pt idx="8">
                  <c:v>2.8499999046325701</c:v>
                </c:pt>
                <c:pt idx="9">
                  <c:v>2.9500000476837198</c:v>
                </c:pt>
                <c:pt idx="10">
                  <c:v>3.0999999046325701</c:v>
                </c:pt>
                <c:pt idx="11">
                  <c:v>3.2300000190734899</c:v>
                </c:pt>
                <c:pt idx="12">
                  <c:v>3.3900001049041699</c:v>
                </c:pt>
                <c:pt idx="13">
                  <c:v>3.6099998950958301</c:v>
                </c:pt>
                <c:pt idx="14">
                  <c:v>3.8399999141693102</c:v>
                </c:pt>
                <c:pt idx="15">
                  <c:v>4.1100001335143999</c:v>
                </c:pt>
                <c:pt idx="16">
                  <c:v>4.3800001144409197</c:v>
                </c:pt>
                <c:pt idx="17">
                  <c:v>4.6799998283386204</c:v>
                </c:pt>
                <c:pt idx="18">
                  <c:v>5</c:v>
                </c:pt>
                <c:pt idx="19">
                  <c:v>5.3600001335143999</c:v>
                </c:pt>
                <c:pt idx="20">
                  <c:v>5.7600002288818404</c:v>
                </c:pt>
                <c:pt idx="21">
                  <c:v>6.1799998283386204</c:v>
                </c:pt>
                <c:pt idx="22">
                  <c:v>6.6500000953674299</c:v>
                </c:pt>
                <c:pt idx="23">
                  <c:v>7.1500000953674299</c:v>
                </c:pt>
                <c:pt idx="24">
                  <c:v>7.75</c:v>
                </c:pt>
                <c:pt idx="25">
                  <c:v>8.0299997329711896</c:v>
                </c:pt>
                <c:pt idx="26">
                  <c:v>8.25</c:v>
                </c:pt>
                <c:pt idx="27">
                  <c:v>8.4499998092651403</c:v>
                </c:pt>
                <c:pt idx="28">
                  <c:v>8.5900001525878906</c:v>
                </c:pt>
              </c:numCache>
            </c:numRef>
          </c:val>
          <c:smooth val="0"/>
          <c:extLst>
            <c:ext xmlns:c16="http://schemas.microsoft.com/office/drawing/2014/chart" uri="{C3380CC4-5D6E-409C-BE32-E72D297353CC}">
              <c16:uniqueId val="{00000001-50D6-49F2-97EA-7AB7A7CC293B}"/>
            </c:ext>
          </c:extLst>
        </c:ser>
        <c:ser>
          <c:idx val="2"/>
          <c:order val="2"/>
          <c:tx>
            <c:strRef>
              <c:f>Employment!$B$10</c:f>
              <c:strCache>
                <c:ptCount val="1"/>
                <c:pt idx="0">
                  <c:v>Services</c:v>
                </c:pt>
              </c:strCache>
            </c:strRef>
          </c:tx>
          <c:spPr>
            <a:ln w="28575" cap="rnd">
              <a:solidFill>
                <a:schemeClr val="accent3"/>
              </a:solidFill>
              <a:round/>
            </a:ln>
            <a:effectLst/>
          </c:spPr>
          <c:marker>
            <c:symbol val="none"/>
          </c:marker>
          <c:cat>
            <c:strRef>
              <c:f>Employment!$C$4:$AE$4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Employment!$C$10:$AE$10</c:f>
              <c:numCache>
                <c:formatCode>0</c:formatCode>
                <c:ptCount val="29"/>
                <c:pt idx="0">
                  <c:v>13.069999694824199</c:v>
                </c:pt>
                <c:pt idx="1">
                  <c:v>12.960000038146999</c:v>
                </c:pt>
                <c:pt idx="2">
                  <c:v>13.1199998855591</c:v>
                </c:pt>
                <c:pt idx="3">
                  <c:v>13.2299995422363</c:v>
                </c:pt>
                <c:pt idx="4">
                  <c:v>13.2799997329712</c:v>
                </c:pt>
                <c:pt idx="5">
                  <c:v>13.560000419616699</c:v>
                </c:pt>
                <c:pt idx="6">
                  <c:v>13.9099998474121</c:v>
                </c:pt>
                <c:pt idx="7">
                  <c:v>14.2700004577637</c:v>
                </c:pt>
                <c:pt idx="8">
                  <c:v>14.7399997711182</c:v>
                </c:pt>
                <c:pt idx="9">
                  <c:v>14.829999923706101</c:v>
                </c:pt>
                <c:pt idx="10">
                  <c:v>15.3800001144409</c:v>
                </c:pt>
                <c:pt idx="11">
                  <c:v>15.819999694824199</c:v>
                </c:pt>
                <c:pt idx="12">
                  <c:v>16.139999389648398</c:v>
                </c:pt>
                <c:pt idx="13">
                  <c:v>16.409999847412099</c:v>
                </c:pt>
                <c:pt idx="14">
                  <c:v>16.649999618530298</c:v>
                </c:pt>
                <c:pt idx="15">
                  <c:v>17.030000686645501</c:v>
                </c:pt>
                <c:pt idx="16">
                  <c:v>17.360000610351602</c:v>
                </c:pt>
                <c:pt idx="17">
                  <c:v>17.670000076293899</c:v>
                </c:pt>
                <c:pt idx="18">
                  <c:v>17.950000762939499</c:v>
                </c:pt>
                <c:pt idx="19">
                  <c:v>18.25</c:v>
                </c:pt>
                <c:pt idx="20">
                  <c:v>18.610000610351602</c:v>
                </c:pt>
                <c:pt idx="21">
                  <c:v>18.969999313354499</c:v>
                </c:pt>
                <c:pt idx="22">
                  <c:v>19.340000152587901</c:v>
                </c:pt>
                <c:pt idx="23">
                  <c:v>19.7399997711182</c:v>
                </c:pt>
                <c:pt idx="24">
                  <c:v>20.139999389648398</c:v>
                </c:pt>
                <c:pt idx="25">
                  <c:v>20.409999847412099</c:v>
                </c:pt>
                <c:pt idx="26">
                  <c:v>20.700000762939499</c:v>
                </c:pt>
                <c:pt idx="27">
                  <c:v>20.959999084472699</c:v>
                </c:pt>
                <c:pt idx="28">
                  <c:v>21.190000534057599</c:v>
                </c:pt>
              </c:numCache>
            </c:numRef>
          </c:val>
          <c:smooth val="0"/>
          <c:extLst>
            <c:ext xmlns:c16="http://schemas.microsoft.com/office/drawing/2014/chart" uri="{C3380CC4-5D6E-409C-BE32-E72D297353CC}">
              <c16:uniqueId val="{00000002-50D6-49F2-97EA-7AB7A7CC293B}"/>
            </c:ext>
          </c:extLst>
        </c:ser>
        <c:dLbls>
          <c:showLegendKey val="0"/>
          <c:showVal val="0"/>
          <c:showCatName val="0"/>
          <c:showSerName val="0"/>
          <c:showPercent val="0"/>
          <c:showBubbleSize val="0"/>
        </c:dLbls>
        <c:smooth val="0"/>
        <c:axId val="1564359999"/>
        <c:axId val="1577186079"/>
      </c:lineChart>
      <c:catAx>
        <c:axId val="15643599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577186079"/>
        <c:crosses val="autoZero"/>
        <c:auto val="1"/>
        <c:lblAlgn val="ctr"/>
        <c:lblOffset val="100"/>
        <c:noMultiLvlLbl val="0"/>
      </c:catAx>
      <c:valAx>
        <c:axId val="1577186079"/>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564359999"/>
        <c:crosses val="autoZero"/>
        <c:crossBetween val="between"/>
      </c:valAx>
      <c:spPr>
        <a:noFill/>
        <a:ln>
          <a:noFill/>
        </a:ln>
        <a:effectLst/>
      </c:spPr>
    </c:plotArea>
    <c:legend>
      <c:legendPos val="b"/>
      <c:layout>
        <c:manualLayout>
          <c:xMode val="edge"/>
          <c:yMode val="edge"/>
          <c:x val="0.15338409004245912"/>
          <c:y val="0.33700968895635741"/>
          <c:w val="0.37763719949785995"/>
          <c:h val="0.18051951475362046"/>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800">
          <a:solidFill>
            <a:schemeClr val="tx1"/>
          </a:solidFil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60" b="1" i="0" u="none" strike="noStrike" kern="1200" spc="0" baseline="0">
                <a:solidFill>
                  <a:schemeClr val="tx1"/>
                </a:solidFill>
                <a:latin typeface="+mn-lt"/>
                <a:ea typeface="+mn-ea"/>
                <a:cs typeface="+mn-cs"/>
              </a:defRPr>
            </a:pPr>
            <a:r>
              <a:rPr lang="pt-PT" b="1" dirty="0"/>
              <a:t>Reales BIP-Wachstum (Milliarden Meticais )</a:t>
            </a:r>
          </a:p>
        </c:rich>
      </c:tx>
      <c:layout>
        <c:manualLayout>
          <c:xMode val="edge"/>
          <c:yMode val="edge"/>
          <c:x val="0.18621016122984627"/>
          <c:y val="3.6745406824146981E-2"/>
        </c:manualLayout>
      </c:layout>
      <c:overlay val="0"/>
      <c:spPr>
        <a:noFill/>
        <a:ln>
          <a:noFill/>
        </a:ln>
        <a:effectLst/>
      </c:spPr>
      <c:txPr>
        <a:bodyPr rot="0" spcFirstLastPara="1" vertOverflow="ellipsis" vert="horz" wrap="square" anchor="ctr" anchorCtr="1"/>
        <a:lstStyle/>
        <a:p>
          <a:pPr>
            <a:defRPr sz="96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15345988001499813"/>
          <c:y val="0.21031062062124123"/>
          <c:w val="0.79876580574008049"/>
          <c:h val="0.44322648645297291"/>
        </c:manualLayout>
      </c:layout>
      <c:lineChart>
        <c:grouping val="standard"/>
        <c:varyColors val="0"/>
        <c:ser>
          <c:idx val="0"/>
          <c:order val="0"/>
          <c:tx>
            <c:strRef>
              <c:f>'Macro indicators_Scenarios'!$B$3</c:f>
              <c:strCache>
                <c:ptCount val="1"/>
                <c:pt idx="0">
                  <c:v>GDP without LNG</c:v>
                </c:pt>
              </c:strCache>
            </c:strRef>
          </c:tx>
          <c:spPr>
            <a:ln w="28575" cap="rnd">
              <a:solidFill>
                <a:schemeClr val="accent1"/>
              </a:solidFill>
              <a:round/>
            </a:ln>
            <a:effectLst/>
          </c:spPr>
          <c:marker>
            <c:symbol val="none"/>
          </c:marker>
          <c:cat>
            <c:numRef>
              <c:f>'Macro indicators_Scenarios'!$C$2:$AG$2</c:f>
              <c:numCache>
                <c:formatCode>General</c:formatCode>
                <c:ptCount val="16"/>
                <c:pt idx="0">
                  <c:v>2018</c:v>
                </c:pt>
                <c:pt idx="1">
                  <c:v>2019</c:v>
                </c:pt>
                <c:pt idx="2">
                  <c:v>2020</c:v>
                </c:pt>
                <c:pt idx="3">
                  <c:v>2021</c:v>
                </c:pt>
                <c:pt idx="4">
                  <c:v>2022</c:v>
                </c:pt>
                <c:pt idx="5">
                  <c:v>2023</c:v>
                </c:pt>
                <c:pt idx="6">
                  <c:v>2024</c:v>
                </c:pt>
                <c:pt idx="7">
                  <c:v>2025</c:v>
                </c:pt>
                <c:pt idx="8">
                  <c:v>2026</c:v>
                </c:pt>
                <c:pt idx="9">
                  <c:v>2027</c:v>
                </c:pt>
                <c:pt idx="10">
                  <c:v>2028</c:v>
                </c:pt>
                <c:pt idx="11">
                  <c:v>2029</c:v>
                </c:pt>
                <c:pt idx="12">
                  <c:v>2030</c:v>
                </c:pt>
                <c:pt idx="13">
                  <c:v>2031</c:v>
                </c:pt>
                <c:pt idx="14">
                  <c:v>2032</c:v>
                </c:pt>
                <c:pt idx="15">
                  <c:v>2033</c:v>
                </c:pt>
              </c:numCache>
              <c:extLst/>
            </c:numRef>
          </c:cat>
          <c:val>
            <c:numRef>
              <c:f>'Macro indicators_Scenarios'!$C$3:$AG$3</c:f>
              <c:numCache>
                <c:formatCode>_(* #,##0_);_(* \(#,##0\);_(* "-"??_);_(@_)</c:formatCode>
                <c:ptCount val="16"/>
                <c:pt idx="0">
                  <c:v>660475.90047073364</c:v>
                </c:pt>
                <c:pt idx="1">
                  <c:v>675557.9517326355</c:v>
                </c:pt>
                <c:pt idx="2">
                  <c:v>679855.21094950335</c:v>
                </c:pt>
                <c:pt idx="3">
                  <c:v>699792.46552849095</c:v>
                </c:pt>
                <c:pt idx="4">
                  <c:v>722394.96930213703</c:v>
                </c:pt>
                <c:pt idx="5">
                  <c:v>747645.22392207873</c:v>
                </c:pt>
                <c:pt idx="6">
                  <c:v>773869.86768189236</c:v>
                </c:pt>
                <c:pt idx="7">
                  <c:v>796277.69076249679</c:v>
                </c:pt>
                <c:pt idx="8">
                  <c:v>819431.35840654687</c:v>
                </c:pt>
                <c:pt idx="9">
                  <c:v>843358.06269267004</c:v>
                </c:pt>
                <c:pt idx="10">
                  <c:v>868086.05315755727</c:v>
                </c:pt>
                <c:pt idx="11">
                  <c:v>893644.67997541185</c:v>
                </c:pt>
                <c:pt idx="12">
                  <c:v>920064.4389692574</c:v>
                </c:pt>
                <c:pt idx="13">
                  <c:v>947377.01853422867</c:v>
                </c:pt>
                <c:pt idx="14">
                  <c:v>975615.34855655301</c:v>
                </c:pt>
                <c:pt idx="15">
                  <c:v>1004813.651415695</c:v>
                </c:pt>
              </c:numCache>
              <c:extLst/>
            </c:numRef>
          </c:val>
          <c:smooth val="0"/>
          <c:extLst>
            <c:ext xmlns:c16="http://schemas.microsoft.com/office/drawing/2014/chart" uri="{C3380CC4-5D6E-409C-BE32-E72D297353CC}">
              <c16:uniqueId val="{00000000-33DC-4EC3-BFEC-76EBA48B8139}"/>
            </c:ext>
          </c:extLst>
        </c:ser>
        <c:ser>
          <c:idx val="2"/>
          <c:order val="2"/>
          <c:tx>
            <c:v>GDP with LNG</c:v>
          </c:tx>
          <c:spPr>
            <a:ln w="28575" cap="rnd">
              <a:solidFill>
                <a:schemeClr val="accent3"/>
              </a:solidFill>
              <a:round/>
            </a:ln>
            <a:effectLst/>
          </c:spPr>
          <c:marker>
            <c:symbol val="none"/>
          </c:marker>
          <c:cat>
            <c:numRef>
              <c:f>'Macro indicators_Scenarios'!$C$2:$AG$2</c:f>
              <c:numCache>
                <c:formatCode>General</c:formatCode>
                <c:ptCount val="16"/>
                <c:pt idx="0">
                  <c:v>2018</c:v>
                </c:pt>
                <c:pt idx="1">
                  <c:v>2019</c:v>
                </c:pt>
                <c:pt idx="2">
                  <c:v>2020</c:v>
                </c:pt>
                <c:pt idx="3">
                  <c:v>2021</c:v>
                </c:pt>
                <c:pt idx="4">
                  <c:v>2022</c:v>
                </c:pt>
                <c:pt idx="5">
                  <c:v>2023</c:v>
                </c:pt>
                <c:pt idx="6">
                  <c:v>2024</c:v>
                </c:pt>
                <c:pt idx="7">
                  <c:v>2025</c:v>
                </c:pt>
                <c:pt idx="8">
                  <c:v>2026</c:v>
                </c:pt>
                <c:pt idx="9">
                  <c:v>2027</c:v>
                </c:pt>
                <c:pt idx="10">
                  <c:v>2028</c:v>
                </c:pt>
                <c:pt idx="11">
                  <c:v>2029</c:v>
                </c:pt>
                <c:pt idx="12">
                  <c:v>2030</c:v>
                </c:pt>
                <c:pt idx="13">
                  <c:v>2031</c:v>
                </c:pt>
                <c:pt idx="14">
                  <c:v>2032</c:v>
                </c:pt>
                <c:pt idx="15">
                  <c:v>2033</c:v>
                </c:pt>
              </c:numCache>
              <c:extLst/>
            </c:numRef>
          </c:cat>
          <c:val>
            <c:numRef>
              <c:f>'Macro indicators_Scenarios'!$C$5:$AG$5</c:f>
              <c:numCache>
                <c:formatCode>_(* #,##0_);_(* \(#,##0\);_(* "-"??_);_(@_)</c:formatCode>
                <c:ptCount val="16"/>
                <c:pt idx="0">
                  <c:v>667202.64812743722</c:v>
                </c:pt>
                <c:pt idx="1">
                  <c:v>684896.98289692053</c:v>
                </c:pt>
                <c:pt idx="2">
                  <c:v>691351.01319641795</c:v>
                </c:pt>
                <c:pt idx="3">
                  <c:v>735977.67333207279</c:v>
                </c:pt>
                <c:pt idx="4">
                  <c:v>799816.10440437438</c:v>
                </c:pt>
                <c:pt idx="5">
                  <c:v>911872.33640954609</c:v>
                </c:pt>
                <c:pt idx="6">
                  <c:v>927827.61688503972</c:v>
                </c:pt>
                <c:pt idx="7">
                  <c:v>1061913.5705534103</c:v>
                </c:pt>
                <c:pt idx="8">
                  <c:v>1527397.0913652813</c:v>
                </c:pt>
                <c:pt idx="9">
                  <c:v>1516893.6062039351</c:v>
                </c:pt>
                <c:pt idx="10">
                  <c:v>1521839.679317337</c:v>
                </c:pt>
                <c:pt idx="11">
                  <c:v>1521573.9598987373</c:v>
                </c:pt>
                <c:pt idx="12">
                  <c:v>1541022.7038377482</c:v>
                </c:pt>
                <c:pt idx="13">
                  <c:v>1581134.5253437296</c:v>
                </c:pt>
                <c:pt idx="14">
                  <c:v>1611586.7276827712</c:v>
                </c:pt>
                <c:pt idx="15">
                  <c:v>1639868.4636517013</c:v>
                </c:pt>
              </c:numCache>
              <c:extLst/>
            </c:numRef>
          </c:val>
          <c:smooth val="0"/>
          <c:extLst>
            <c:ext xmlns:c16="http://schemas.microsoft.com/office/drawing/2014/chart" uri="{C3380CC4-5D6E-409C-BE32-E72D297353CC}">
              <c16:uniqueId val="{00000001-33DC-4EC3-BFEC-76EBA48B8139}"/>
            </c:ext>
          </c:extLst>
        </c:ser>
        <c:ser>
          <c:idx val="3"/>
          <c:order val="3"/>
          <c:tx>
            <c:v>GDP with LNG - Mamba delay</c:v>
          </c:tx>
          <c:spPr>
            <a:ln w="28575" cap="rnd">
              <a:solidFill>
                <a:schemeClr val="accent4"/>
              </a:solidFill>
              <a:prstDash val="sysDash"/>
              <a:round/>
            </a:ln>
            <a:effectLst/>
          </c:spPr>
          <c:marker>
            <c:symbol val="none"/>
          </c:marker>
          <c:cat>
            <c:numRef>
              <c:f>'Macro indicators_Scenarios'!$C$2:$AG$2</c:f>
              <c:numCache>
                <c:formatCode>General</c:formatCode>
                <c:ptCount val="16"/>
                <c:pt idx="0">
                  <c:v>2018</c:v>
                </c:pt>
                <c:pt idx="1">
                  <c:v>2019</c:v>
                </c:pt>
                <c:pt idx="2">
                  <c:v>2020</c:v>
                </c:pt>
                <c:pt idx="3">
                  <c:v>2021</c:v>
                </c:pt>
                <c:pt idx="4">
                  <c:v>2022</c:v>
                </c:pt>
                <c:pt idx="5">
                  <c:v>2023</c:v>
                </c:pt>
                <c:pt idx="6">
                  <c:v>2024</c:v>
                </c:pt>
                <c:pt idx="7">
                  <c:v>2025</c:v>
                </c:pt>
                <c:pt idx="8">
                  <c:v>2026</c:v>
                </c:pt>
                <c:pt idx="9">
                  <c:v>2027</c:v>
                </c:pt>
                <c:pt idx="10">
                  <c:v>2028</c:v>
                </c:pt>
                <c:pt idx="11">
                  <c:v>2029</c:v>
                </c:pt>
                <c:pt idx="12">
                  <c:v>2030</c:v>
                </c:pt>
                <c:pt idx="13">
                  <c:v>2031</c:v>
                </c:pt>
                <c:pt idx="14">
                  <c:v>2032</c:v>
                </c:pt>
                <c:pt idx="15">
                  <c:v>2033</c:v>
                </c:pt>
              </c:numCache>
              <c:extLst/>
            </c:numRef>
          </c:cat>
          <c:val>
            <c:numRef>
              <c:f>'Macro indicators_Scenarios'!$C$6:$AG$6</c:f>
              <c:numCache>
                <c:formatCode>_(* #,##0_);_(* \(#,##0\);_(* "-"??_);_(@_)</c:formatCode>
                <c:ptCount val="16"/>
                <c:pt idx="0">
                  <c:v>667202.64812743722</c:v>
                </c:pt>
                <c:pt idx="1">
                  <c:v>684896.98289692053</c:v>
                </c:pt>
                <c:pt idx="2">
                  <c:v>691351.01319641795</c:v>
                </c:pt>
                <c:pt idx="3">
                  <c:v>727073.64339029393</c:v>
                </c:pt>
                <c:pt idx="4">
                  <c:v>767797.57798569114</c:v>
                </c:pt>
                <c:pt idx="5">
                  <c:v>880541.93433574308</c:v>
                </c:pt>
                <c:pt idx="6">
                  <c:v>872232.83024711441</c:v>
                </c:pt>
                <c:pt idx="7">
                  <c:v>1035971.187115716</c:v>
                </c:pt>
                <c:pt idx="8">
                  <c:v>1207572.6599682651</c:v>
                </c:pt>
                <c:pt idx="9">
                  <c:v>1214101.3863621061</c:v>
                </c:pt>
                <c:pt idx="10">
                  <c:v>1249210.3729032476</c:v>
                </c:pt>
                <c:pt idx="11">
                  <c:v>1251093.6093817996</c:v>
                </c:pt>
                <c:pt idx="12">
                  <c:v>1565372.3291573955</c:v>
                </c:pt>
                <c:pt idx="13">
                  <c:v>1592234.8416456962</c:v>
                </c:pt>
                <c:pt idx="14">
                  <c:v>1620540.5582557167</c:v>
                </c:pt>
                <c:pt idx="15">
                  <c:v>1641181.3359769424</c:v>
                </c:pt>
              </c:numCache>
              <c:extLst/>
            </c:numRef>
          </c:val>
          <c:smooth val="0"/>
          <c:extLst>
            <c:ext xmlns:c16="http://schemas.microsoft.com/office/drawing/2014/chart" uri="{C3380CC4-5D6E-409C-BE32-E72D297353CC}">
              <c16:uniqueId val="{00000002-33DC-4EC3-BFEC-76EBA48B8139}"/>
            </c:ext>
          </c:extLst>
        </c:ser>
        <c:dLbls>
          <c:showLegendKey val="0"/>
          <c:showVal val="0"/>
          <c:showCatName val="0"/>
          <c:showSerName val="0"/>
          <c:showPercent val="0"/>
          <c:showBubbleSize val="0"/>
        </c:dLbls>
        <c:smooth val="0"/>
        <c:axId val="72501183"/>
        <c:axId val="66742943"/>
        <c:extLst>
          <c:ext xmlns:c15="http://schemas.microsoft.com/office/drawing/2012/chart" uri="{02D57815-91ED-43cb-92C2-25804820EDAC}">
            <c15:filteredLineSeries>
              <c15:ser>
                <c:idx val="1"/>
                <c:order val="1"/>
                <c:tx>
                  <c:strRef>
                    <c:extLst>
                      <c:ext uri="{02D57815-91ED-43cb-92C2-25804820EDAC}">
                        <c15:formulaRef>
                          <c15:sqref>'Macro indicators_Scenarios'!$B$4</c15:sqref>
                        </c15:formulaRef>
                      </c:ext>
                    </c:extLst>
                    <c:strCache>
                      <c:ptCount val="1"/>
                      <c:pt idx="0">
                        <c:v>GDP with LNG Pre-COVID</c:v>
                      </c:pt>
                    </c:strCache>
                  </c:strRef>
                </c:tx>
                <c:spPr>
                  <a:ln w="28575" cap="rnd">
                    <a:solidFill>
                      <a:schemeClr val="accent2"/>
                    </a:solidFill>
                    <a:round/>
                  </a:ln>
                  <a:effectLst/>
                </c:spPr>
                <c:marker>
                  <c:symbol val="none"/>
                </c:marker>
                <c:cat>
                  <c:numRef>
                    <c:extLst>
                      <c:ext uri="{02D57815-91ED-43cb-92C2-25804820EDAC}">
                        <c15:formulaRef>
                          <c15:sqref>'Macro indicators_Scenarios'!$C$2:$AG$2</c15:sqref>
                        </c15:formulaRef>
                      </c:ext>
                    </c:extLst>
                    <c:numCache>
                      <c:formatCode>General</c:formatCode>
                      <c:ptCount val="16"/>
                      <c:pt idx="0">
                        <c:v>2018</c:v>
                      </c:pt>
                      <c:pt idx="1">
                        <c:v>2019</c:v>
                      </c:pt>
                      <c:pt idx="2">
                        <c:v>2020</c:v>
                      </c:pt>
                      <c:pt idx="3">
                        <c:v>2021</c:v>
                      </c:pt>
                      <c:pt idx="4">
                        <c:v>2022</c:v>
                      </c:pt>
                      <c:pt idx="5">
                        <c:v>2023</c:v>
                      </c:pt>
                      <c:pt idx="6">
                        <c:v>2024</c:v>
                      </c:pt>
                      <c:pt idx="7">
                        <c:v>2025</c:v>
                      </c:pt>
                      <c:pt idx="8">
                        <c:v>2026</c:v>
                      </c:pt>
                      <c:pt idx="9">
                        <c:v>2027</c:v>
                      </c:pt>
                      <c:pt idx="10">
                        <c:v>2028</c:v>
                      </c:pt>
                      <c:pt idx="11">
                        <c:v>2029</c:v>
                      </c:pt>
                      <c:pt idx="12">
                        <c:v>2030</c:v>
                      </c:pt>
                      <c:pt idx="13">
                        <c:v>2031</c:v>
                      </c:pt>
                      <c:pt idx="14">
                        <c:v>2032</c:v>
                      </c:pt>
                      <c:pt idx="15">
                        <c:v>2033</c:v>
                      </c:pt>
                    </c:numCache>
                  </c:numRef>
                </c:cat>
                <c:val>
                  <c:numRef>
                    <c:extLst>
                      <c:ext uri="{02D57815-91ED-43cb-92C2-25804820EDAC}">
                        <c15:formulaRef>
                          <c15:sqref>'Macro indicators_Scenarios'!$C$4:$AG$4</c15:sqref>
                        </c15:formulaRef>
                      </c:ext>
                    </c:extLst>
                    <c:numCache>
                      <c:formatCode>_(* #,##0_);_(* \(#,##0\);_(* "-"??_);_(@_)</c:formatCode>
                      <c:ptCount val="16"/>
                      <c:pt idx="0">
                        <c:v>667199.75511004566</c:v>
                      </c:pt>
                      <c:pt idx="1">
                        <c:v>684895.15477170597</c:v>
                      </c:pt>
                      <c:pt idx="2">
                        <c:v>720458.98792401014</c:v>
                      </c:pt>
                      <c:pt idx="3">
                        <c:v>756565.08953939297</c:v>
                      </c:pt>
                      <c:pt idx="4">
                        <c:v>832960.58518370823</c:v>
                      </c:pt>
                      <c:pt idx="5">
                        <c:v>919791.69441168127</c:v>
                      </c:pt>
                      <c:pt idx="6">
                        <c:v>1228800.8313534469</c:v>
                      </c:pt>
                      <c:pt idx="7">
                        <c:v>1573236.7894078775</c:v>
                      </c:pt>
                      <c:pt idx="8">
                        <c:v>1553619.4291697955</c:v>
                      </c:pt>
                      <c:pt idx="9">
                        <c:v>1548872.2185857981</c:v>
                      </c:pt>
                      <c:pt idx="10">
                        <c:v>1534978.8077910193</c:v>
                      </c:pt>
                      <c:pt idx="11">
                        <c:v>1534382.4698318117</c:v>
                      </c:pt>
                      <c:pt idx="12">
                        <c:v>1542867.291493779</c:v>
                      </c:pt>
                      <c:pt idx="13">
                        <c:v>1583065.7893440635</c:v>
                      </c:pt>
                      <c:pt idx="14">
                        <c:v>1613555.8373746022</c:v>
                      </c:pt>
                      <c:pt idx="15">
                        <c:v>1641860.4071525927</c:v>
                      </c:pt>
                    </c:numCache>
                  </c:numRef>
                </c:val>
                <c:smooth val="0"/>
                <c:extLst>
                  <c:ext xmlns:c16="http://schemas.microsoft.com/office/drawing/2014/chart" uri="{C3380CC4-5D6E-409C-BE32-E72D297353CC}">
                    <c16:uniqueId val="{00000003-33DC-4EC3-BFEC-76EBA48B8139}"/>
                  </c:ext>
                </c:extLst>
              </c15:ser>
            </c15:filteredLineSeries>
          </c:ext>
        </c:extLst>
      </c:lineChart>
      <c:catAx>
        <c:axId val="725011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66742943"/>
        <c:crosses val="autoZero"/>
        <c:auto val="1"/>
        <c:lblAlgn val="ctr"/>
        <c:lblOffset val="100"/>
        <c:noMultiLvlLbl val="0"/>
      </c:catAx>
      <c:valAx>
        <c:axId val="66742943"/>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72501183"/>
        <c:crosses val="autoZero"/>
        <c:crossBetween val="between"/>
        <c:majorUnit val="300000"/>
        <c:dispUnits>
          <c:builtInUnit val="thousands"/>
        </c:dispUnits>
      </c:valAx>
      <c:spPr>
        <a:noFill/>
        <a:ln>
          <a:noFill/>
        </a:ln>
        <a:effectLst/>
      </c:spPr>
    </c:plotArea>
    <c:legend>
      <c:legendPos val="b"/>
      <c:layout>
        <c:manualLayout>
          <c:xMode val="edge"/>
          <c:yMode val="edge"/>
          <c:x val="2.2952456675814536E-2"/>
          <c:y val="0.86273037931651109"/>
          <c:w val="0.97581061324989082"/>
          <c:h val="0.13726962068348894"/>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800">
          <a:solidFill>
            <a:schemeClr val="tx1"/>
          </a:solidFill>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000" b="1" i="0" u="none" strike="noStrike" kern="1200" cap="none" spc="20" baseline="0" smtClean="0">
                <a:solidFill>
                  <a:schemeClr val="tx1"/>
                </a:solidFill>
                <a:latin typeface="+mn-lt"/>
                <a:ea typeface="+mn-ea"/>
                <a:cs typeface="+mn-cs"/>
              </a:defRPr>
            </a:pPr>
            <a:r>
              <a:rPr lang="en-US" sz="1000" b="1"/>
              <a:t>Gesamtbestand der öffentlichen Schulden (% des BIP)</a:t>
            </a:r>
          </a:p>
        </c:rich>
      </c:tx>
      <c:layout>
        <c:manualLayout>
          <c:xMode val="edge"/>
          <c:yMode val="edge"/>
          <c:x val="0.15155321867661278"/>
          <c:y val="2.5839083546709229E-2"/>
        </c:manualLayout>
      </c:layout>
      <c:overlay val="0"/>
      <c:spPr>
        <a:noFill/>
        <a:ln>
          <a:noFill/>
        </a:ln>
        <a:effectLst/>
      </c:spPr>
      <c:txPr>
        <a:bodyPr rot="0" spcFirstLastPara="1" vertOverflow="ellipsis" vert="horz" wrap="square" anchor="ctr" anchorCtr="1"/>
        <a:lstStyle/>
        <a:p>
          <a:pPr>
            <a:defRPr lang="en-US" sz="1000" b="1" i="0" u="none" strike="noStrike" kern="1200" cap="none" spc="20" baseline="0" smtClean="0">
              <a:solidFill>
                <a:schemeClr val="tx1"/>
              </a:solidFill>
              <a:latin typeface="+mn-lt"/>
              <a:ea typeface="+mn-ea"/>
              <a:cs typeface="+mn-cs"/>
            </a:defRPr>
          </a:pPr>
          <a:endParaRPr lang="en-US"/>
        </a:p>
      </c:txPr>
    </c:title>
    <c:autoTitleDeleted val="0"/>
    <c:plotArea>
      <c:layout>
        <c:manualLayout>
          <c:layoutTarget val="inner"/>
          <c:xMode val="edge"/>
          <c:yMode val="edge"/>
          <c:x val="0.15113678224432472"/>
          <c:y val="0.16278381868933051"/>
          <c:w val="0.82167766303641088"/>
          <c:h val="0.62774109326877991"/>
        </c:manualLayout>
      </c:layout>
      <c:lineChart>
        <c:grouping val="standard"/>
        <c:varyColors val="0"/>
        <c:ser>
          <c:idx val="0"/>
          <c:order val="0"/>
          <c:spPr>
            <a:ln w="28575" cap="rnd" cmpd="sng" algn="ctr">
              <a:solidFill>
                <a:schemeClr val="accent1"/>
              </a:solidFill>
              <a:round/>
            </a:ln>
            <a:effectLst/>
          </c:spPr>
          <c:marker>
            <c:symbol val="none"/>
          </c:marker>
          <c:cat>
            <c:numRef>
              <c:f>Sheet1!$C$4:$C$25</c:f>
              <c:numCache>
                <c:formatCode>General</c:formatCode>
                <c:ptCount val="22"/>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numCache>
            </c:numRef>
          </c:cat>
          <c:val>
            <c:numRef>
              <c:f>Sheet1!$D$4:$D$25</c:f>
              <c:numCache>
                <c:formatCode>0%</c:formatCode>
                <c:ptCount val="22"/>
                <c:pt idx="0">
                  <c:v>1.01</c:v>
                </c:pt>
                <c:pt idx="1">
                  <c:v>0.92</c:v>
                </c:pt>
                <c:pt idx="2">
                  <c:v>0.63</c:v>
                </c:pt>
                <c:pt idx="3">
                  <c:v>0.62</c:v>
                </c:pt>
                <c:pt idx="4">
                  <c:v>0.57999999999999996</c:v>
                </c:pt>
                <c:pt idx="5">
                  <c:v>0.54</c:v>
                </c:pt>
                <c:pt idx="6">
                  <c:v>0.35</c:v>
                </c:pt>
                <c:pt idx="7">
                  <c:v>0.31</c:v>
                </c:pt>
                <c:pt idx="8">
                  <c:v>0.28999999999999998</c:v>
                </c:pt>
                <c:pt idx="9">
                  <c:v>0.35</c:v>
                </c:pt>
                <c:pt idx="10">
                  <c:v>0.36</c:v>
                </c:pt>
                <c:pt idx="11">
                  <c:v>0.31</c:v>
                </c:pt>
                <c:pt idx="12">
                  <c:v>0.31</c:v>
                </c:pt>
                <c:pt idx="13">
                  <c:v>0.44</c:v>
                </c:pt>
                <c:pt idx="14">
                  <c:v>0.54</c:v>
                </c:pt>
                <c:pt idx="15">
                  <c:v>0.66</c:v>
                </c:pt>
                <c:pt idx="16">
                  <c:v>0.91</c:v>
                </c:pt>
                <c:pt idx="17">
                  <c:v>0.94</c:v>
                </c:pt>
                <c:pt idx="18">
                  <c:v>0.97</c:v>
                </c:pt>
                <c:pt idx="19">
                  <c:v>1.01</c:v>
                </c:pt>
                <c:pt idx="20">
                  <c:v>1.3</c:v>
                </c:pt>
                <c:pt idx="21">
                  <c:v>1.2</c:v>
                </c:pt>
              </c:numCache>
            </c:numRef>
          </c:val>
          <c:smooth val="0"/>
          <c:extLst>
            <c:ext xmlns:c16="http://schemas.microsoft.com/office/drawing/2014/chart" uri="{C3380CC4-5D6E-409C-BE32-E72D297353CC}">
              <c16:uniqueId val="{00000000-BFD7-46F0-B4AA-84090A1EFD14}"/>
            </c:ext>
          </c:extLst>
        </c:ser>
        <c:dLbls>
          <c:showLegendKey val="0"/>
          <c:showVal val="0"/>
          <c:showCatName val="0"/>
          <c:showSerName val="0"/>
          <c:showPercent val="0"/>
          <c:showBubbleSize val="0"/>
        </c:dLbls>
        <c:dropLines>
          <c:spPr>
            <a:ln w="9525" cap="flat" cmpd="sng" algn="ctr">
              <a:solidFill>
                <a:schemeClr val="dk1">
                  <a:lumMod val="35000"/>
                  <a:lumOff val="65000"/>
                  <a:alpha val="33000"/>
                </a:schemeClr>
              </a:solidFill>
              <a:round/>
            </a:ln>
            <a:effectLst/>
          </c:spPr>
        </c:dropLines>
        <c:smooth val="0"/>
        <c:axId val="589083823"/>
        <c:axId val="589091727"/>
      </c:lineChart>
      <c:catAx>
        <c:axId val="589083823"/>
        <c:scaling>
          <c:orientation val="minMax"/>
        </c:scaling>
        <c:delete val="0"/>
        <c:axPos val="b"/>
        <c:numFmt formatCode="General" sourceLinked="1"/>
        <c:majorTickMark val="none"/>
        <c:minorTickMark val="none"/>
        <c:tickLblPos val="nextTo"/>
        <c:spPr>
          <a:noFill/>
          <a:ln w="9525" cap="flat" cmpd="sng" algn="ctr">
            <a:solidFill>
              <a:schemeClr val="bg1">
                <a:lumMod val="50000"/>
              </a:schemeClr>
            </a:solidFill>
            <a:round/>
          </a:ln>
          <a:effectLst/>
        </c:spPr>
        <c:txPr>
          <a:bodyPr rot="-5400000" spcFirstLastPara="1" vertOverflow="ellipsis" wrap="square" anchor="ctr" anchorCtr="1"/>
          <a:lstStyle/>
          <a:p>
            <a:pPr>
              <a:defRPr sz="900" b="0" i="0" u="none" strike="noStrike" kern="1200" spc="20" baseline="0">
                <a:solidFill>
                  <a:schemeClr val="tx1"/>
                </a:solidFill>
                <a:latin typeface="+mn-lt"/>
                <a:ea typeface="+mn-ea"/>
                <a:cs typeface="+mn-cs"/>
              </a:defRPr>
            </a:pPr>
            <a:endParaRPr lang="en-US"/>
          </a:p>
        </c:txPr>
        <c:crossAx val="589091727"/>
        <c:crosses val="autoZero"/>
        <c:auto val="1"/>
        <c:lblAlgn val="ctr"/>
        <c:lblOffset val="100"/>
        <c:noMultiLvlLbl val="0"/>
      </c:catAx>
      <c:valAx>
        <c:axId val="589091727"/>
        <c:scaling>
          <c:orientation val="minMax"/>
        </c:scaling>
        <c:delete val="0"/>
        <c:axPos val="l"/>
        <c:numFmt formatCode="0%" sourceLinked="1"/>
        <c:majorTickMark val="none"/>
        <c:minorTickMark val="none"/>
        <c:tickLblPos val="nextTo"/>
        <c:spPr>
          <a:noFill/>
          <a:ln>
            <a:solidFill>
              <a:schemeClr val="bg1">
                <a:lumMod val="50000"/>
              </a:schemeClr>
            </a:solidFill>
          </a:ln>
          <a:effectLst/>
        </c:spPr>
        <c:txPr>
          <a:bodyPr rot="-60000000" spcFirstLastPara="1" vertOverflow="ellipsis" vert="horz" wrap="square" anchor="ctr" anchorCtr="1"/>
          <a:lstStyle/>
          <a:p>
            <a:pPr>
              <a:defRPr sz="900" b="0" i="0" u="none" strike="noStrike" kern="1200" spc="20" baseline="0">
                <a:solidFill>
                  <a:schemeClr val="tx1"/>
                </a:solidFill>
                <a:latin typeface="+mn-lt"/>
                <a:ea typeface="+mn-ea"/>
                <a:cs typeface="+mn-cs"/>
              </a:defRPr>
            </a:pPr>
            <a:endParaRPr lang="en-US"/>
          </a:p>
        </c:txPr>
        <c:crossAx val="589083823"/>
        <c:crosses val="autoZero"/>
        <c:crossBetween val="between"/>
      </c:valAx>
      <c:spPr>
        <a:gradFill>
          <a:gsLst>
            <a:gs pos="100000">
              <a:schemeClr val="lt1">
                <a:lumMod val="95000"/>
              </a:schemeClr>
            </a:gs>
            <a:gs pos="0">
              <a:schemeClr val="lt1"/>
            </a:gs>
          </a:gsLst>
          <a:lin ang="5400000" scaled="0"/>
        </a:gra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a:noFill/>
    </a:ln>
    <a:effectLst/>
  </c:spPr>
  <c:txPr>
    <a:bodyPr/>
    <a:lstStyle/>
    <a:p>
      <a:pPr>
        <a:defRPr>
          <a:solidFill>
            <a:schemeClr val="tx1"/>
          </a:solidFill>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050" b="1" i="0" u="none" strike="noStrike" kern="1200" spc="0" baseline="0" smtClean="0">
                <a:solidFill>
                  <a:schemeClr val="tx1"/>
                </a:solidFill>
                <a:latin typeface="Arial" panose="020B0604020202020204" pitchFamily="34" charset="0"/>
                <a:ea typeface="+mn-ea"/>
                <a:cs typeface="Arial" panose="020B0604020202020204" pitchFamily="34" charset="0"/>
              </a:defRPr>
            </a:pPr>
            <a:r>
              <a:rPr lang="en-US" sz="1050" b="1"/>
              <a:t>Jährliches BIP-Wachstum</a:t>
            </a:r>
          </a:p>
        </c:rich>
      </c:tx>
      <c:overlay val="0"/>
      <c:spPr>
        <a:noFill/>
        <a:ln>
          <a:noFill/>
        </a:ln>
        <a:effectLst/>
      </c:spPr>
      <c:txPr>
        <a:bodyPr rot="0" spcFirstLastPara="1" vertOverflow="ellipsis" vert="horz" wrap="square" anchor="ctr" anchorCtr="1"/>
        <a:lstStyle/>
        <a:p>
          <a:pPr>
            <a:defRPr lang="en-US" sz="1050" b="1" i="0" u="none" strike="noStrike" kern="1200" spc="0" baseline="0" smtClean="0">
              <a:solidFill>
                <a:schemeClr val="tx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0.12561156006814939"/>
          <c:y val="7.4553701620630755E-2"/>
          <c:w val="0.84049277541421585"/>
          <c:h val="0.74201818522684659"/>
        </c:manualLayout>
      </c:layout>
      <c:barChart>
        <c:barDir val="col"/>
        <c:grouping val="stacked"/>
        <c:varyColors val="0"/>
        <c:ser>
          <c:idx val="0"/>
          <c:order val="0"/>
          <c:tx>
            <c:strRef>
              <c:f>'GDP Data'!$A$2</c:f>
              <c:strCache>
                <c:ptCount val="1"/>
                <c:pt idx="0">
                  <c:v>Mozambique</c:v>
                </c:pt>
              </c:strCache>
            </c:strRef>
          </c:tx>
          <c:spPr>
            <a:solidFill>
              <a:schemeClr val="accent1"/>
            </a:solidFill>
            <a:ln>
              <a:noFill/>
            </a:ln>
            <a:effectLst/>
          </c:spPr>
          <c:invertIfNegative val="0"/>
          <c:cat>
            <c:numRef>
              <c:f>'GDP Data'!$B$1:$AH$1</c:f>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f>'GDP Data'!$B$2:$AH$2</c:f>
              <c:numCache>
                <c:formatCode>0.0</c:formatCode>
                <c:ptCount val="30"/>
                <c:pt idx="0">
                  <c:v>4.9254512574701721</c:v>
                </c:pt>
                <c:pt idx="1">
                  <c:v>-6.1247154506177992</c:v>
                </c:pt>
                <c:pt idx="2">
                  <c:v>10.598529673232136</c:v>
                </c:pt>
                <c:pt idx="3">
                  <c:v>6.5333964579059227</c:v>
                </c:pt>
                <c:pt idx="4">
                  <c:v>2.2597571775733911</c:v>
                </c:pt>
                <c:pt idx="5">
                  <c:v>11.202519603498004</c:v>
                </c:pt>
                <c:pt idx="6">
                  <c:v>11.301068648208897</c:v>
                </c:pt>
                <c:pt idx="7">
                  <c:v>9.9312519493834941</c:v>
                </c:pt>
                <c:pt idx="8">
                  <c:v>11.698523715901189</c:v>
                </c:pt>
                <c:pt idx="9">
                  <c:v>1.1803007889161563</c:v>
                </c:pt>
                <c:pt idx="10">
                  <c:v>12.086874401640998</c:v>
                </c:pt>
                <c:pt idx="11">
                  <c:v>9.2910518852059596</c:v>
                </c:pt>
                <c:pt idx="12">
                  <c:v>6.8785328719577592</c:v>
                </c:pt>
                <c:pt idx="13">
                  <c:v>7.9164078363794204</c:v>
                </c:pt>
                <c:pt idx="14">
                  <c:v>6.6459082805728968</c:v>
                </c:pt>
                <c:pt idx="15">
                  <c:v>9.6943740917428585</c:v>
                </c:pt>
                <c:pt idx="16">
                  <c:v>7.7297462424837988</c:v>
                </c:pt>
                <c:pt idx="17">
                  <c:v>7.3177553239303705</c:v>
                </c:pt>
                <c:pt idx="18">
                  <c:v>6.3181972324890268</c:v>
                </c:pt>
                <c:pt idx="19">
                  <c:v>6.5023531151979057</c:v>
                </c:pt>
                <c:pt idx="20">
                  <c:v>7.4173843155939068</c:v>
                </c:pt>
                <c:pt idx="21">
                  <c:v>7.2584392525877774</c:v>
                </c:pt>
                <c:pt idx="22">
                  <c:v>6.9636071348707134</c:v>
                </c:pt>
                <c:pt idx="23">
                  <c:v>7.3985127971386362</c:v>
                </c:pt>
                <c:pt idx="24">
                  <c:v>6.7232787803581857</c:v>
                </c:pt>
                <c:pt idx="25">
                  <c:v>3.824214319211876</c:v>
                </c:pt>
                <c:pt idx="26">
                  <c:v>3.7413175931256433</c:v>
                </c:pt>
                <c:pt idx="27">
                  <c:v>3.4438138397146218</c:v>
                </c:pt>
                <c:pt idx="28">
                  <c:v>2.2835972030121496</c:v>
                </c:pt>
                <c:pt idx="29">
                  <c:v>-1.3</c:v>
                </c:pt>
              </c:numCache>
            </c:numRef>
          </c:val>
          <c:extLst>
            <c:ext xmlns:c16="http://schemas.microsoft.com/office/drawing/2014/chart" uri="{C3380CC4-5D6E-409C-BE32-E72D297353CC}">
              <c16:uniqueId val="{00000000-32C8-4B9C-9781-65A3F23583AD}"/>
            </c:ext>
          </c:extLst>
        </c:ser>
        <c:dLbls>
          <c:showLegendKey val="0"/>
          <c:showVal val="0"/>
          <c:showCatName val="0"/>
          <c:showSerName val="0"/>
          <c:showPercent val="0"/>
          <c:showBubbleSize val="0"/>
        </c:dLbls>
        <c:gapWidth val="150"/>
        <c:overlap val="100"/>
        <c:axId val="430087344"/>
        <c:axId val="418464864"/>
      </c:barChart>
      <c:lineChart>
        <c:grouping val="standard"/>
        <c:varyColors val="0"/>
        <c:ser>
          <c:idx val="2"/>
          <c:order val="2"/>
          <c:tx>
            <c:strRef>
              <c:f>'GDP Data'!$A$4</c:f>
              <c:strCache>
                <c:ptCount val="1"/>
                <c:pt idx="0">
                  <c:v>Sub-Saharan Africa</c:v>
                </c:pt>
              </c:strCache>
            </c:strRef>
          </c:tx>
          <c:spPr>
            <a:ln w="28575" cap="rnd">
              <a:solidFill>
                <a:srgbClr val="FF0000"/>
              </a:solidFill>
              <a:round/>
            </a:ln>
            <a:effectLst/>
          </c:spPr>
          <c:marker>
            <c:symbol val="none"/>
          </c:marker>
          <c:cat>
            <c:numRef>
              <c:f>'GDP Data'!$B$1:$AH$1</c:f>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f>'GDP Data'!$B$4:$AH$4</c:f>
              <c:numCache>
                <c:formatCode>0.0</c:formatCode>
                <c:ptCount val="30"/>
                <c:pt idx="0">
                  <c:v>0.37883973567581108</c:v>
                </c:pt>
                <c:pt idx="1">
                  <c:v>-0.34210021494052967</c:v>
                </c:pt>
                <c:pt idx="2">
                  <c:v>-0.88323080146508914</c:v>
                </c:pt>
                <c:pt idx="3">
                  <c:v>1.186235421797349</c:v>
                </c:pt>
                <c:pt idx="4">
                  <c:v>3.4115738971970018</c:v>
                </c:pt>
                <c:pt idx="5">
                  <c:v>5.1003801502508992</c:v>
                </c:pt>
                <c:pt idx="6">
                  <c:v>3.5540577440119847</c:v>
                </c:pt>
                <c:pt idx="7">
                  <c:v>2.3845140034811152</c:v>
                </c:pt>
                <c:pt idx="8">
                  <c:v>2.1796272126436236</c:v>
                </c:pt>
                <c:pt idx="9">
                  <c:v>3.4623029555638283</c:v>
                </c:pt>
                <c:pt idx="10">
                  <c:v>4.2500935219682106</c:v>
                </c:pt>
                <c:pt idx="11">
                  <c:v>6.3555425809505834</c:v>
                </c:pt>
                <c:pt idx="12">
                  <c:v>4.2395920720278042</c:v>
                </c:pt>
                <c:pt idx="13">
                  <c:v>6.5072095757116273</c:v>
                </c:pt>
                <c:pt idx="14">
                  <c:v>6.1976801925190728</c:v>
                </c:pt>
                <c:pt idx="15">
                  <c:v>6.166762311186929</c:v>
                </c:pt>
                <c:pt idx="16">
                  <c:v>6.4878003693707598</c:v>
                </c:pt>
                <c:pt idx="17">
                  <c:v>5.3479010146539849</c:v>
                </c:pt>
                <c:pt idx="18">
                  <c:v>3.0969394445383074</c:v>
                </c:pt>
                <c:pt idx="19">
                  <c:v>5.5767645236600032</c:v>
                </c:pt>
                <c:pt idx="20">
                  <c:v>4.4834682454876429</c:v>
                </c:pt>
                <c:pt idx="21">
                  <c:v>4.125614017036483</c:v>
                </c:pt>
                <c:pt idx="22">
                  <c:v>4.956723738830604</c:v>
                </c:pt>
                <c:pt idx="23">
                  <c:v>4.6561904621861885</c:v>
                </c:pt>
                <c:pt idx="24">
                  <c:v>2.7809778929204469</c:v>
                </c:pt>
                <c:pt idx="25">
                  <c:v>1.1611996609763224</c:v>
                </c:pt>
                <c:pt idx="26">
                  <c:v>2.3809231937332669</c:v>
                </c:pt>
                <c:pt idx="27">
                  <c:v>2.3865132187756615</c:v>
                </c:pt>
                <c:pt idx="28">
                  <c:v>2.2874659639174837</c:v>
                </c:pt>
                <c:pt idx="29">
                  <c:v>0</c:v>
                </c:pt>
              </c:numCache>
            </c:numRef>
          </c:val>
          <c:smooth val="0"/>
          <c:extLst>
            <c:ext xmlns:c16="http://schemas.microsoft.com/office/drawing/2014/chart" uri="{C3380CC4-5D6E-409C-BE32-E72D297353CC}">
              <c16:uniqueId val="{00000001-32C8-4B9C-9781-65A3F23583AD}"/>
            </c:ext>
          </c:extLst>
        </c:ser>
        <c:ser>
          <c:idx val="3"/>
          <c:order val="3"/>
          <c:tx>
            <c:strRef>
              <c:f>'GDP Data'!$A$5</c:f>
              <c:strCache>
                <c:ptCount val="1"/>
                <c:pt idx="0">
                  <c:v>Low income Countries</c:v>
                </c:pt>
              </c:strCache>
              <c:extLst xmlns:c15="http://schemas.microsoft.com/office/drawing/2012/chart"/>
            </c:strRef>
          </c:tx>
          <c:spPr>
            <a:ln w="28575" cap="rnd">
              <a:solidFill>
                <a:srgbClr val="FFC000"/>
              </a:solidFill>
              <a:round/>
            </a:ln>
            <a:effectLst/>
          </c:spPr>
          <c:marker>
            <c:symbol val="none"/>
          </c:marker>
          <c:cat>
            <c:numRef>
              <c:f>'GDP Data'!$B$1:$AH$1</c:f>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extLst xmlns:c15="http://schemas.microsoft.com/office/drawing/2012/chart"/>
            </c:numRef>
          </c:cat>
          <c:val>
            <c:numRef>
              <c:f>'GDP Data'!$B$5:$AH$5</c:f>
              <c:numCache>
                <c:formatCode>0.0</c:formatCode>
                <c:ptCount val="30"/>
                <c:pt idx="0">
                  <c:v>0.46610201196423873</c:v>
                </c:pt>
                <c:pt idx="1">
                  <c:v>-2.5622172190570609</c:v>
                </c:pt>
                <c:pt idx="2">
                  <c:v>-0.46058909177104113</c:v>
                </c:pt>
                <c:pt idx="3">
                  <c:v>-0.62152950096505322</c:v>
                </c:pt>
                <c:pt idx="4">
                  <c:v>4.8424186162719991</c:v>
                </c:pt>
                <c:pt idx="5">
                  <c:v>4.79145154443232</c:v>
                </c:pt>
                <c:pt idx="6">
                  <c:v>4.5441332533684857</c:v>
                </c:pt>
                <c:pt idx="7">
                  <c:v>3.4255924500228332</c:v>
                </c:pt>
                <c:pt idx="8">
                  <c:v>3.271331525716036</c:v>
                </c:pt>
                <c:pt idx="9">
                  <c:v>2.7615965506397657</c:v>
                </c:pt>
                <c:pt idx="10">
                  <c:v>5.0630202587021529</c:v>
                </c:pt>
                <c:pt idx="11">
                  <c:v>4.2195534200164957</c:v>
                </c:pt>
                <c:pt idx="12">
                  <c:v>5.1450848633310073</c:v>
                </c:pt>
                <c:pt idx="13">
                  <c:v>5.6692216703239922</c:v>
                </c:pt>
                <c:pt idx="14">
                  <c:v>6.926637043446874</c:v>
                </c:pt>
                <c:pt idx="15">
                  <c:v>6.5677149666268662</c:v>
                </c:pt>
                <c:pt idx="16">
                  <c:v>7.5218876511437429</c:v>
                </c:pt>
                <c:pt idx="17">
                  <c:v>6.4622496107546539</c:v>
                </c:pt>
                <c:pt idx="18">
                  <c:v>5.0813603224052031</c:v>
                </c:pt>
                <c:pt idx="19">
                  <c:v>6.4681324061609047</c:v>
                </c:pt>
                <c:pt idx="20">
                  <c:v>2.2386091573524283</c:v>
                </c:pt>
                <c:pt idx="21">
                  <c:v>2.6863512373343639</c:v>
                </c:pt>
                <c:pt idx="22">
                  <c:v>5.6411238766425242</c:v>
                </c:pt>
                <c:pt idx="23">
                  <c:v>5.0582523079691271</c:v>
                </c:pt>
                <c:pt idx="24">
                  <c:v>2.0452917285648056</c:v>
                </c:pt>
                <c:pt idx="25">
                  <c:v>3.8426693172219757</c:v>
                </c:pt>
                <c:pt idx="26">
                  <c:v>3.7100744799314356</c:v>
                </c:pt>
                <c:pt idx="27">
                  <c:v>3.6897573827344985</c:v>
                </c:pt>
                <c:pt idx="28">
                  <c:v>3.9553191234186897</c:v>
                </c:pt>
                <c:pt idx="29">
                  <c:v>0</c:v>
                </c:pt>
              </c:numCache>
              <c:extLst xmlns:c15="http://schemas.microsoft.com/office/drawing/2012/chart"/>
            </c:numRef>
          </c:val>
          <c:smooth val="0"/>
          <c:extLst xmlns:c15="http://schemas.microsoft.com/office/drawing/2012/chart">
            <c:ext xmlns:c16="http://schemas.microsoft.com/office/drawing/2014/chart" uri="{C3380CC4-5D6E-409C-BE32-E72D297353CC}">
              <c16:uniqueId val="{00000002-32C8-4B9C-9781-65A3F23583AD}"/>
            </c:ext>
          </c:extLst>
        </c:ser>
        <c:dLbls>
          <c:showLegendKey val="0"/>
          <c:showVal val="0"/>
          <c:showCatName val="0"/>
          <c:showSerName val="0"/>
          <c:showPercent val="0"/>
          <c:showBubbleSize val="0"/>
        </c:dLbls>
        <c:marker val="1"/>
        <c:smooth val="0"/>
        <c:axId val="430087344"/>
        <c:axId val="418464864"/>
        <c:extLst>
          <c:ext xmlns:c15="http://schemas.microsoft.com/office/drawing/2012/chart" uri="{02D57815-91ED-43cb-92C2-25804820EDAC}">
            <c15:filteredLineSeries>
              <c15:ser>
                <c:idx val="1"/>
                <c:order val="1"/>
                <c:tx>
                  <c:strRef>
                    <c:extLst>
                      <c:ext uri="{02D57815-91ED-43cb-92C2-25804820EDAC}">
                        <c15:formulaRef>
                          <c15:sqref>'GDP Data'!$A$3</c15:sqref>
                        </c15:formulaRef>
                      </c:ext>
                    </c:extLst>
                    <c:strCache>
                      <c:ptCount val="1"/>
                      <c:pt idx="0">
                        <c:v>Sub-Saharan Africa (excluding high income)</c:v>
                      </c:pt>
                    </c:strCache>
                  </c:strRef>
                </c:tx>
                <c:spPr>
                  <a:ln w="28575" cap="rnd">
                    <a:solidFill>
                      <a:schemeClr val="accent2"/>
                    </a:solidFill>
                    <a:round/>
                  </a:ln>
                  <a:effectLst/>
                </c:spPr>
                <c:marker>
                  <c:symbol val="none"/>
                </c:marker>
                <c:cat>
                  <c:numRef>
                    <c:extLst>
                      <c:ext uri="{02D57815-91ED-43cb-92C2-25804820EDAC}">
                        <c15:formulaRef>
                          <c15:sqref>'GDP Data'!$B$1:$AH$1</c15:sqref>
                        </c15:formulaRef>
                      </c:ext>
                    </c:extLst>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extLst>
                      <c:ext uri="{02D57815-91ED-43cb-92C2-25804820EDAC}">
                        <c15:formulaRef>
                          <c15:sqref>'GDP Data'!$B$3:$AH$3</c15:sqref>
                        </c15:formulaRef>
                      </c:ext>
                    </c:extLst>
                    <c:numCache>
                      <c:formatCode>0.0</c:formatCode>
                      <c:ptCount val="30"/>
                      <c:pt idx="0">
                        <c:v>0.35177860941561789</c:v>
                      </c:pt>
                      <c:pt idx="1">
                        <c:v>-0.39250751376161475</c:v>
                      </c:pt>
                      <c:pt idx="2">
                        <c:v>-0.93059726057983028</c:v>
                      </c:pt>
                      <c:pt idx="3">
                        <c:v>1.1665730900453752</c:v>
                      </c:pt>
                      <c:pt idx="4">
                        <c:v>3.4089368628595196</c:v>
                      </c:pt>
                      <c:pt idx="5">
                        <c:v>5.0968469193424681</c:v>
                      </c:pt>
                      <c:pt idx="6">
                        <c:v>3.5302962491116148</c:v>
                      </c:pt>
                      <c:pt idx="7">
                        <c:v>2.3500220050314908</c:v>
                      </c:pt>
                      <c:pt idx="8">
                        <c:v>2.1764651836701177</c:v>
                      </c:pt>
                      <c:pt idx="9">
                        <c:v>3.4259149656741954</c:v>
                      </c:pt>
                      <c:pt idx="10">
                        <c:v>4.2642323365023742</c:v>
                      </c:pt>
                      <c:pt idx="11">
                        <c:v>6.4000567760049876</c:v>
                      </c:pt>
                      <c:pt idx="12">
                        <c:v>4.2351236053207231</c:v>
                      </c:pt>
                      <c:pt idx="13">
                        <c:v>6.5324267926606865</c:v>
                      </c:pt>
                      <c:pt idx="14">
                        <c:v>6.2308050711682057</c:v>
                      </c:pt>
                      <c:pt idx="15">
                        <c:v>6.1742490477868728</c:v>
                      </c:pt>
                      <c:pt idx="16">
                        <c:v>6.4904819674471952</c:v>
                      </c:pt>
                      <c:pt idx="17">
                        <c:v>5.3536320106479849</c:v>
                      </c:pt>
                      <c:pt idx="18">
                        <c:v>3.0984284704204157</c:v>
                      </c:pt>
                      <c:pt idx="19">
                        <c:v>5.5853941368519031</c:v>
                      </c:pt>
                      <c:pt idx="20">
                        <c:v>4.4840248030612031</c:v>
                      </c:pt>
                      <c:pt idx="21">
                        <c:v>4.1323229779213619</c:v>
                      </c:pt>
                      <c:pt idx="22">
                        <c:v>4.9675673969261851</c:v>
                      </c:pt>
                      <c:pt idx="23">
                        <c:v>4.6628240369170015</c:v>
                      </c:pt>
                      <c:pt idx="24">
                        <c:v>2.7739463169666152</c:v>
                      </c:pt>
                      <c:pt idx="25">
                        <c:v>1.1394618211281227</c:v>
                      </c:pt>
                      <c:pt idx="26">
                        <c:v>2.3688308266620766</c:v>
                      </c:pt>
                      <c:pt idx="27">
                        <c:v>2.375180383196934</c:v>
                      </c:pt>
                      <c:pt idx="28">
                        <c:v>2.2795647607438667</c:v>
                      </c:pt>
                      <c:pt idx="29">
                        <c:v>0</c:v>
                      </c:pt>
                    </c:numCache>
                  </c:numRef>
                </c:val>
                <c:smooth val="0"/>
                <c:extLst>
                  <c:ext xmlns:c16="http://schemas.microsoft.com/office/drawing/2014/chart" uri="{C3380CC4-5D6E-409C-BE32-E72D297353CC}">
                    <c16:uniqueId val="{00000003-32C8-4B9C-9781-65A3F23583AD}"/>
                  </c:ext>
                </c:extLst>
              </c15:ser>
            </c15:filteredLineSeries>
            <c15:filteredLineSeries>
              <c15:ser>
                <c:idx val="4"/>
                <c:order val="4"/>
                <c:tx>
                  <c:strRef>
                    <c:extLst xmlns:c15="http://schemas.microsoft.com/office/drawing/2012/chart">
                      <c:ext xmlns:c15="http://schemas.microsoft.com/office/drawing/2012/chart" uri="{02D57815-91ED-43cb-92C2-25804820EDAC}">
                        <c15:formulaRef>
                          <c15:sqref>'GDP Data'!$A$6</c15:sqref>
                        </c15:formulaRef>
                      </c:ext>
                    </c:extLst>
                    <c:strCache>
                      <c:ptCount val="1"/>
                      <c:pt idx="0">
                        <c:v>Tanzania</c:v>
                      </c:pt>
                    </c:strCache>
                  </c:strRef>
                </c:tx>
                <c:spPr>
                  <a:ln w="28575" cap="rnd">
                    <a:solidFill>
                      <a:schemeClr val="accent5"/>
                    </a:solidFill>
                    <a:round/>
                  </a:ln>
                  <a:effectLst/>
                </c:spPr>
                <c:marker>
                  <c:symbol val="none"/>
                </c:marker>
                <c:cat>
                  <c:numRef>
                    <c:extLst xmlns:c15="http://schemas.microsoft.com/office/drawing/2012/chart">
                      <c:ext xmlns:c15="http://schemas.microsoft.com/office/drawing/2012/chart" uri="{02D57815-91ED-43cb-92C2-25804820EDAC}">
                        <c15:formulaRef>
                          <c15:sqref>'GDP Data'!$B$1:$AH$1</c15:sqref>
                        </c15:formulaRef>
                      </c:ext>
                    </c:extLst>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extLst xmlns:c15="http://schemas.microsoft.com/office/drawing/2012/chart">
                      <c:ext xmlns:c15="http://schemas.microsoft.com/office/drawing/2012/chart" uri="{02D57815-91ED-43cb-92C2-25804820EDAC}">
                        <c15:formulaRef>
                          <c15:sqref>'GDP Data'!$B$6:$AH$6</c15:sqref>
                        </c15:formulaRef>
                      </c:ext>
                    </c:extLst>
                    <c:numCache>
                      <c:formatCode>General</c:formatCode>
                      <c:ptCount val="30"/>
                      <c:pt idx="0">
                        <c:v>2.0719882112220773</c:v>
                      </c:pt>
                      <c:pt idx="1">
                        <c:v>0.58432213408326561</c:v>
                      </c:pt>
                      <c:pt idx="2">
                        <c:v>1.2058008083940308</c:v>
                      </c:pt>
                      <c:pt idx="3">
                        <c:v>1.567661765625644</c:v>
                      </c:pt>
                      <c:pt idx="4">
                        <c:v>3.5699118684430005</c:v>
                      </c:pt>
                      <c:pt idx="5">
                        <c:v>4.544366801874375</c:v>
                      </c:pt>
                      <c:pt idx="6">
                        <c:v>3.5252781913522426</c:v>
                      </c:pt>
                      <c:pt idx="7">
                        <c:v>3.7085115960772299</c:v>
                      </c:pt>
                      <c:pt idx="8">
                        <c:v>4.8638637551705131</c:v>
                      </c:pt>
                      <c:pt idx="9">
                        <c:v>4.5207846348832135</c:v>
                      </c:pt>
                      <c:pt idx="10">
                        <c:v>6.0708082884781618</c:v>
                      </c:pt>
                      <c:pt idx="11">
                        <c:v>7.0931949835368613</c:v>
                      </c:pt>
                      <c:pt idx="12">
                        <c:v>6.6727898290831433</c:v>
                      </c:pt>
                      <c:pt idx="13">
                        <c:v>7.5038146604771612</c:v>
                      </c:pt>
                      <c:pt idx="14">
                        <c:v>7.4763192578229223</c:v>
                      </c:pt>
                      <c:pt idx="15">
                        <c:v>6.5322213903017001</c:v>
                      </c:pt>
                      <c:pt idx="16">
                        <c:v>6.7685352018066283</c:v>
                      </c:pt>
                      <c:pt idx="17">
                        <c:v>5.6864168597641935</c:v>
                      </c:pt>
                      <c:pt idx="18">
                        <c:v>5.2691052479185316</c:v>
                      </c:pt>
                      <c:pt idx="19">
                        <c:v>6.336523427474944</c:v>
                      </c:pt>
                      <c:pt idx="20">
                        <c:v>7.6721554349938401</c:v>
                      </c:pt>
                      <c:pt idx="21">
                        <c:v>4.500153559821257</c:v>
                      </c:pt>
                      <c:pt idx="22">
                        <c:v>6.781585600653159</c:v>
                      </c:pt>
                      <c:pt idx="23">
                        <c:v>6.7324618683248332</c:v>
                      </c:pt>
                      <c:pt idx="24">
                        <c:v>6.1606287740668222</c:v>
                      </c:pt>
                      <c:pt idx="25">
                        <c:v>6.8671161964455081</c:v>
                      </c:pt>
                      <c:pt idx="26">
                        <c:v>6.7856801140519849</c:v>
                      </c:pt>
                      <c:pt idx="27">
                        <c:v>5.4449676318963469</c:v>
                      </c:pt>
                      <c:pt idx="28">
                        <c:v>5.7913713763207113</c:v>
                      </c:pt>
                      <c:pt idx="29">
                        <c:v>0</c:v>
                      </c:pt>
                    </c:numCache>
                  </c:numRef>
                </c:val>
                <c:smooth val="0"/>
                <c:extLst xmlns:c15="http://schemas.microsoft.com/office/drawing/2012/chart">
                  <c:ext xmlns:c16="http://schemas.microsoft.com/office/drawing/2014/chart" uri="{C3380CC4-5D6E-409C-BE32-E72D297353CC}">
                    <c16:uniqueId val="{00000004-32C8-4B9C-9781-65A3F23583AD}"/>
                  </c:ext>
                </c:extLst>
              </c15:ser>
            </c15:filteredLineSeries>
            <c15:filteredLineSeries>
              <c15:ser>
                <c:idx val="5"/>
                <c:order val="5"/>
                <c:tx>
                  <c:strRef>
                    <c:extLst xmlns:c15="http://schemas.microsoft.com/office/drawing/2012/chart">
                      <c:ext xmlns:c15="http://schemas.microsoft.com/office/drawing/2012/chart" uri="{02D57815-91ED-43cb-92C2-25804820EDAC}">
                        <c15:formulaRef>
                          <c15:sqref>'GDP Data'!$A$7</c15:sqref>
                        </c15:formulaRef>
                      </c:ext>
                    </c:extLst>
                    <c:strCache>
                      <c:ptCount val="1"/>
                      <c:pt idx="0">
                        <c:v>Uganda</c:v>
                      </c:pt>
                    </c:strCache>
                  </c:strRef>
                </c:tx>
                <c:spPr>
                  <a:ln w="28575" cap="rnd">
                    <a:solidFill>
                      <a:schemeClr val="accent6"/>
                    </a:solidFill>
                    <a:round/>
                  </a:ln>
                  <a:effectLst/>
                </c:spPr>
                <c:marker>
                  <c:symbol val="none"/>
                </c:marker>
                <c:cat>
                  <c:numRef>
                    <c:extLst xmlns:c15="http://schemas.microsoft.com/office/drawing/2012/chart">
                      <c:ext xmlns:c15="http://schemas.microsoft.com/office/drawing/2012/chart" uri="{02D57815-91ED-43cb-92C2-25804820EDAC}">
                        <c15:formulaRef>
                          <c15:sqref>'GDP Data'!$B$1:$AH$1</c15:sqref>
                        </c15:formulaRef>
                      </c:ext>
                    </c:extLst>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extLst xmlns:c15="http://schemas.microsoft.com/office/drawing/2012/chart">
                      <c:ext xmlns:c15="http://schemas.microsoft.com/office/drawing/2012/chart" uri="{02D57815-91ED-43cb-92C2-25804820EDAC}">
                        <c15:formulaRef>
                          <c15:sqref>'GDP Data'!$B$7:$AH$7</c15:sqref>
                        </c15:formulaRef>
                      </c:ext>
                    </c:extLst>
                    <c:numCache>
                      <c:formatCode>General</c:formatCode>
                      <c:ptCount val="30"/>
                      <c:pt idx="0">
                        <c:v>5.5540954958915876</c:v>
                      </c:pt>
                      <c:pt idx="1">
                        <c:v>3.4183568915428566</c:v>
                      </c:pt>
                      <c:pt idx="2">
                        <c:v>8.3262925203511315</c:v>
                      </c:pt>
                      <c:pt idx="3">
                        <c:v>6.4036357435314812</c:v>
                      </c:pt>
                      <c:pt idx="4">
                        <c:v>11.523243807939451</c:v>
                      </c:pt>
                      <c:pt idx="5">
                        <c:v>9.0721145821438967</c:v>
                      </c:pt>
                      <c:pt idx="6">
                        <c:v>5.1000018634794912</c:v>
                      </c:pt>
                      <c:pt idx="7">
                        <c:v>4.9052654838678507</c:v>
                      </c:pt>
                      <c:pt idx="8">
                        <c:v>8.0539483766469857</c:v>
                      </c:pt>
                      <c:pt idx="9">
                        <c:v>3.1419073382414524</c:v>
                      </c:pt>
                      <c:pt idx="10">
                        <c:v>5.1836611264320993</c:v>
                      </c:pt>
                      <c:pt idx="11">
                        <c:v>8.7326857639324231</c:v>
                      </c:pt>
                      <c:pt idx="12">
                        <c:v>6.4732586714905267</c:v>
                      </c:pt>
                      <c:pt idx="13">
                        <c:v>6.807233344186443</c:v>
                      </c:pt>
                      <c:pt idx="14">
                        <c:v>6.3325651162993353</c:v>
                      </c:pt>
                      <c:pt idx="15">
                        <c:v>10.784744386125155</c:v>
                      </c:pt>
                      <c:pt idx="16">
                        <c:v>8.4124259655278451</c:v>
                      </c:pt>
                      <c:pt idx="17">
                        <c:v>8.7087519013216337</c:v>
                      </c:pt>
                      <c:pt idx="18">
                        <c:v>6.8015173480652038</c:v>
                      </c:pt>
                      <c:pt idx="19">
                        <c:v>5.637611637931343</c:v>
                      </c:pt>
                      <c:pt idx="20">
                        <c:v>9.3916554929118519</c:v>
                      </c:pt>
                      <c:pt idx="21">
                        <c:v>3.8374556059260954</c:v>
                      </c:pt>
                      <c:pt idx="22">
                        <c:v>3.5869058263615869</c:v>
                      </c:pt>
                      <c:pt idx="23">
                        <c:v>5.1063073242765284</c:v>
                      </c:pt>
                      <c:pt idx="24">
                        <c:v>5.1878598625543617</c:v>
                      </c:pt>
                      <c:pt idx="25">
                        <c:v>4.7810002914464746</c:v>
                      </c:pt>
                      <c:pt idx="26">
                        <c:v>3.8091290293244242</c:v>
                      </c:pt>
                      <c:pt idx="27">
                        <c:v>6.1626191390034819</c:v>
                      </c:pt>
                      <c:pt idx="28">
                        <c:v>6.8033268132823537</c:v>
                      </c:pt>
                      <c:pt idx="29">
                        <c:v>0</c:v>
                      </c:pt>
                    </c:numCache>
                  </c:numRef>
                </c:val>
                <c:smooth val="0"/>
                <c:extLst xmlns:c15="http://schemas.microsoft.com/office/drawing/2012/chart">
                  <c:ext xmlns:c16="http://schemas.microsoft.com/office/drawing/2014/chart" uri="{C3380CC4-5D6E-409C-BE32-E72D297353CC}">
                    <c16:uniqueId val="{00000005-32C8-4B9C-9781-65A3F23583AD}"/>
                  </c:ext>
                </c:extLst>
              </c15:ser>
            </c15:filteredLineSeries>
            <c15:filteredLineSeries>
              <c15:ser>
                <c:idx val="6"/>
                <c:order val="6"/>
                <c:tx>
                  <c:strRef>
                    <c:extLst xmlns:c15="http://schemas.microsoft.com/office/drawing/2012/chart">
                      <c:ext xmlns:c15="http://schemas.microsoft.com/office/drawing/2012/chart" uri="{02D57815-91ED-43cb-92C2-25804820EDAC}">
                        <c15:formulaRef>
                          <c15:sqref>'GDP Data'!$A$8</c15:sqref>
                        </c15:formulaRef>
                      </c:ext>
                    </c:extLst>
                    <c:strCache>
                      <c:ptCount val="1"/>
                      <c:pt idx="0">
                        <c:v>Malawi</c:v>
                      </c:pt>
                    </c:strCache>
                  </c:strRef>
                </c:tx>
                <c:spPr>
                  <a:ln w="28575" cap="rnd">
                    <a:solidFill>
                      <a:schemeClr val="accent1">
                        <a:lumMod val="60000"/>
                      </a:schemeClr>
                    </a:solidFill>
                    <a:round/>
                  </a:ln>
                  <a:effectLst/>
                </c:spPr>
                <c:marker>
                  <c:symbol val="none"/>
                </c:marker>
                <c:cat>
                  <c:numRef>
                    <c:extLst xmlns:c15="http://schemas.microsoft.com/office/drawing/2012/chart">
                      <c:ext xmlns:c15="http://schemas.microsoft.com/office/drawing/2012/chart" uri="{02D57815-91ED-43cb-92C2-25804820EDAC}">
                        <c15:formulaRef>
                          <c15:sqref>'GDP Data'!$B$1:$AH$1</c15:sqref>
                        </c15:formulaRef>
                      </c:ext>
                    </c:extLst>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extLst xmlns:c15="http://schemas.microsoft.com/office/drawing/2012/chart">
                      <c:ext xmlns:c15="http://schemas.microsoft.com/office/drawing/2012/chart" uri="{02D57815-91ED-43cb-92C2-25804820EDAC}">
                        <c15:formulaRef>
                          <c15:sqref>'GDP Data'!$B$8:$AH$8</c15:sqref>
                        </c15:formulaRef>
                      </c:ext>
                    </c:extLst>
                    <c:numCache>
                      <c:formatCode>General</c:formatCode>
                      <c:ptCount val="30"/>
                      <c:pt idx="0">
                        <c:v>8.7302318286141372</c:v>
                      </c:pt>
                      <c:pt idx="1">
                        <c:v>-7.332978135323188</c:v>
                      </c:pt>
                      <c:pt idx="2">
                        <c:v>9.6918402678066258</c:v>
                      </c:pt>
                      <c:pt idx="3">
                        <c:v>-10.240181733893522</c:v>
                      </c:pt>
                      <c:pt idx="4">
                        <c:v>16.728817592001505</c:v>
                      </c:pt>
                      <c:pt idx="5">
                        <c:v>7.3166815111922432</c:v>
                      </c:pt>
                      <c:pt idx="6">
                        <c:v>3.7924190989626823</c:v>
                      </c:pt>
                      <c:pt idx="7">
                        <c:v>3.895253629637125</c:v>
                      </c:pt>
                      <c:pt idx="8">
                        <c:v>3.0422780913400089</c:v>
                      </c:pt>
                      <c:pt idx="9">
                        <c:v>1.5760778373466593</c:v>
                      </c:pt>
                      <c:pt idx="10">
                        <c:v>-4.9749638464944042</c:v>
                      </c:pt>
                      <c:pt idx="11">
                        <c:v>1.7000000136307563</c:v>
                      </c:pt>
                      <c:pt idx="12">
                        <c:v>5.7056394374716035</c:v>
                      </c:pt>
                      <c:pt idx="13">
                        <c:v>5.4204976936605505</c:v>
                      </c:pt>
                      <c:pt idx="14">
                        <c:v>3.2687258275752953</c:v>
                      </c:pt>
                      <c:pt idx="15">
                        <c:v>4.6999999920261075</c:v>
                      </c:pt>
                      <c:pt idx="16">
                        <c:v>9.6000000026081835</c:v>
                      </c:pt>
                      <c:pt idx="17">
                        <c:v>7.6397367741039233</c:v>
                      </c:pt>
                      <c:pt idx="18">
                        <c:v>8.3281102762457522</c:v>
                      </c:pt>
                      <c:pt idx="19">
                        <c:v>6.8740656350095435</c:v>
                      </c:pt>
                      <c:pt idx="20">
                        <c:v>4.8540551089832178</c:v>
                      </c:pt>
                      <c:pt idx="21">
                        <c:v>1.8857995073186657</c:v>
                      </c:pt>
                      <c:pt idx="22">
                        <c:v>5.1999999983554943</c:v>
                      </c:pt>
                      <c:pt idx="23">
                        <c:v>5.7000000037720895</c:v>
                      </c:pt>
                      <c:pt idx="24">
                        <c:v>2.7999999990033331</c:v>
                      </c:pt>
                      <c:pt idx="25">
                        <c:v>2.4840406264186754</c:v>
                      </c:pt>
                      <c:pt idx="26">
                        <c:v>4.0000305165304155</c:v>
                      </c:pt>
                      <c:pt idx="27">
                        <c:v>3.1700032203733031</c:v>
                      </c:pt>
                      <c:pt idx="28">
                        <c:v>4.3692389907521658</c:v>
                      </c:pt>
                      <c:pt idx="29">
                        <c:v>0</c:v>
                      </c:pt>
                    </c:numCache>
                  </c:numRef>
                </c:val>
                <c:smooth val="0"/>
                <c:extLst xmlns:c15="http://schemas.microsoft.com/office/drawing/2012/chart">
                  <c:ext xmlns:c16="http://schemas.microsoft.com/office/drawing/2014/chart" uri="{C3380CC4-5D6E-409C-BE32-E72D297353CC}">
                    <c16:uniqueId val="{00000006-32C8-4B9C-9781-65A3F23583AD}"/>
                  </c:ext>
                </c:extLst>
              </c15:ser>
            </c15:filteredLineSeries>
            <c15:filteredLineSeries>
              <c15:ser>
                <c:idx val="7"/>
                <c:order val="7"/>
                <c:tx>
                  <c:strRef>
                    <c:extLst xmlns:c15="http://schemas.microsoft.com/office/drawing/2012/chart">
                      <c:ext xmlns:c15="http://schemas.microsoft.com/office/drawing/2012/chart" uri="{02D57815-91ED-43cb-92C2-25804820EDAC}">
                        <c15:formulaRef>
                          <c15:sqref>'GDP Data'!$A$9</c15:sqref>
                        </c15:formulaRef>
                      </c:ext>
                    </c:extLst>
                    <c:strCache>
                      <c:ptCount val="1"/>
                      <c:pt idx="0">
                        <c:v>Angola</c:v>
                      </c:pt>
                    </c:strCache>
                  </c:strRef>
                </c:tx>
                <c:spPr>
                  <a:ln w="28575" cap="rnd">
                    <a:solidFill>
                      <a:schemeClr val="accent2">
                        <a:lumMod val="60000"/>
                      </a:schemeClr>
                    </a:solidFill>
                    <a:round/>
                  </a:ln>
                  <a:effectLst/>
                </c:spPr>
                <c:marker>
                  <c:symbol val="none"/>
                </c:marker>
                <c:cat>
                  <c:numRef>
                    <c:extLst xmlns:c15="http://schemas.microsoft.com/office/drawing/2012/chart">
                      <c:ext xmlns:c15="http://schemas.microsoft.com/office/drawing/2012/chart" uri="{02D57815-91ED-43cb-92C2-25804820EDAC}">
                        <c15:formulaRef>
                          <c15:sqref>'GDP Data'!$B$1:$AH$1</c15:sqref>
                        </c15:formulaRef>
                      </c:ext>
                    </c:extLst>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extLst xmlns:c15="http://schemas.microsoft.com/office/drawing/2012/chart">
                      <c:ext xmlns:c15="http://schemas.microsoft.com/office/drawing/2012/chart" uri="{02D57815-91ED-43cb-92C2-25804820EDAC}">
                        <c15:formulaRef>
                          <c15:sqref>'GDP Data'!$B$9:$AH$9</c15:sqref>
                        </c15:formulaRef>
                      </c:ext>
                    </c:extLst>
                    <c:numCache>
                      <c:formatCode>General</c:formatCode>
                      <c:ptCount val="30"/>
                      <c:pt idx="0">
                        <c:v>0.99135930146087503</c:v>
                      </c:pt>
                      <c:pt idx="1">
                        <c:v>-5.8382807331314126</c:v>
                      </c:pt>
                      <c:pt idx="2">
                        <c:v>-23.983417442057799</c:v>
                      </c:pt>
                      <c:pt idx="3">
                        <c:v>1.3393634364799141</c:v>
                      </c:pt>
                      <c:pt idx="4">
                        <c:v>15.000000028863369</c:v>
                      </c:pt>
                      <c:pt idx="5">
                        <c:v>13.544369755102565</c:v>
                      </c:pt>
                      <c:pt idx="6">
                        <c:v>7.2742773546037256</c:v>
                      </c:pt>
                      <c:pt idx="7">
                        <c:v>4.6911464509355199</c:v>
                      </c:pt>
                      <c:pt idx="8">
                        <c:v>2.1814897184045776</c:v>
                      </c:pt>
                      <c:pt idx="9">
                        <c:v>3.0546242343078518</c:v>
                      </c:pt>
                      <c:pt idx="10">
                        <c:v>4.2059985561950981</c:v>
                      </c:pt>
                      <c:pt idx="11">
                        <c:v>13.665686523023155</c:v>
                      </c:pt>
                      <c:pt idx="12">
                        <c:v>2.9898500103955286</c:v>
                      </c:pt>
                      <c:pt idx="13">
                        <c:v>10.952861768710264</c:v>
                      </c:pt>
                      <c:pt idx="14">
                        <c:v>15.028915317530192</c:v>
                      </c:pt>
                      <c:pt idx="15">
                        <c:v>11.547683178163254</c:v>
                      </c:pt>
                      <c:pt idx="16">
                        <c:v>14.010018242632796</c:v>
                      </c:pt>
                      <c:pt idx="17">
                        <c:v>11.166138330361377</c:v>
                      </c:pt>
                      <c:pt idx="18">
                        <c:v>0.858712615098284</c:v>
                      </c:pt>
                      <c:pt idx="19">
                        <c:v>4.4039325434376053</c:v>
                      </c:pt>
                      <c:pt idx="20">
                        <c:v>3.4719763445402378</c:v>
                      </c:pt>
                      <c:pt idx="21">
                        <c:v>8.5421876426537153</c:v>
                      </c:pt>
                      <c:pt idx="22">
                        <c:v>4.9545446463618674</c:v>
                      </c:pt>
                      <c:pt idx="23">
                        <c:v>4.8226275683899615</c:v>
                      </c:pt>
                      <c:pt idx="24">
                        <c:v>0.94357156132500108</c:v>
                      </c:pt>
                      <c:pt idx="25">
                        <c:v>-2.5800496440493248</c:v>
                      </c:pt>
                      <c:pt idx="26">
                        <c:v>-0.14721294108575478</c:v>
                      </c:pt>
                      <c:pt idx="27">
                        <c:v>-2.0036297273020125</c:v>
                      </c:pt>
                      <c:pt idx="28">
                        <c:v>-0.62464431770689544</c:v>
                      </c:pt>
                      <c:pt idx="29">
                        <c:v>0</c:v>
                      </c:pt>
                    </c:numCache>
                  </c:numRef>
                </c:val>
                <c:smooth val="0"/>
                <c:extLst xmlns:c15="http://schemas.microsoft.com/office/drawing/2012/chart">
                  <c:ext xmlns:c16="http://schemas.microsoft.com/office/drawing/2014/chart" uri="{C3380CC4-5D6E-409C-BE32-E72D297353CC}">
                    <c16:uniqueId val="{00000007-32C8-4B9C-9781-65A3F23583AD}"/>
                  </c:ext>
                </c:extLst>
              </c15:ser>
            </c15:filteredLineSeries>
            <c15:filteredLineSeries>
              <c15:ser>
                <c:idx val="8"/>
                <c:order val="8"/>
                <c:tx>
                  <c:strRef>
                    <c:extLst xmlns:c15="http://schemas.microsoft.com/office/drawing/2012/chart">
                      <c:ext xmlns:c15="http://schemas.microsoft.com/office/drawing/2012/chart" uri="{02D57815-91ED-43cb-92C2-25804820EDAC}">
                        <c15:formulaRef>
                          <c15:sqref>'GDP Data'!$A$10</c15:sqref>
                        </c15:formulaRef>
                      </c:ext>
                    </c:extLst>
                    <c:strCache>
                      <c:ptCount val="1"/>
                      <c:pt idx="0">
                        <c:v>Botswana</c:v>
                      </c:pt>
                    </c:strCache>
                  </c:strRef>
                </c:tx>
                <c:spPr>
                  <a:ln w="28575" cap="rnd">
                    <a:solidFill>
                      <a:schemeClr val="accent3">
                        <a:lumMod val="60000"/>
                      </a:schemeClr>
                    </a:solidFill>
                    <a:round/>
                  </a:ln>
                  <a:effectLst/>
                </c:spPr>
                <c:marker>
                  <c:symbol val="none"/>
                </c:marker>
                <c:cat>
                  <c:numRef>
                    <c:extLst xmlns:c15="http://schemas.microsoft.com/office/drawing/2012/chart">
                      <c:ext xmlns:c15="http://schemas.microsoft.com/office/drawing/2012/chart" uri="{02D57815-91ED-43cb-92C2-25804820EDAC}">
                        <c15:formulaRef>
                          <c15:sqref>'GDP Data'!$B$1:$AH$1</c15:sqref>
                        </c15:formulaRef>
                      </c:ext>
                    </c:extLst>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extLst xmlns:c15="http://schemas.microsoft.com/office/drawing/2012/chart">
                      <c:ext xmlns:c15="http://schemas.microsoft.com/office/drawing/2012/chart" uri="{02D57815-91ED-43cb-92C2-25804820EDAC}">
                        <c15:formulaRef>
                          <c15:sqref>'GDP Data'!$B$10:$AH$10</c15:sqref>
                        </c15:formulaRef>
                      </c:ext>
                    </c:extLst>
                    <c:numCache>
                      <c:formatCode>General</c:formatCode>
                      <c:ptCount val="30"/>
                      <c:pt idx="0">
                        <c:v>7.4587091123188003</c:v>
                      </c:pt>
                      <c:pt idx="1">
                        <c:v>2.9170703069254245</c:v>
                      </c:pt>
                      <c:pt idx="2">
                        <c:v>1.9161071417014313</c:v>
                      </c:pt>
                      <c:pt idx="3">
                        <c:v>3.6279160209385708</c:v>
                      </c:pt>
                      <c:pt idx="4">
                        <c:v>7.03041026074564</c:v>
                      </c:pt>
                      <c:pt idx="5">
                        <c:v>5.8298000784227497</c:v>
                      </c:pt>
                      <c:pt idx="6">
                        <c:v>8.3258908984286535</c:v>
                      </c:pt>
                      <c:pt idx="7">
                        <c:v>0.44366348033824465</c:v>
                      </c:pt>
                      <c:pt idx="8">
                        <c:v>9.667240741511975</c:v>
                      </c:pt>
                      <c:pt idx="9">
                        <c:v>1.9876958543875389</c:v>
                      </c:pt>
                      <c:pt idx="10">
                        <c:v>0.25057386672273196</c:v>
                      </c:pt>
                      <c:pt idx="11">
                        <c:v>6.069530867650144</c:v>
                      </c:pt>
                      <c:pt idx="12">
                        <c:v>4.625894791915556</c:v>
                      </c:pt>
                      <c:pt idx="13">
                        <c:v>2.70582173663567</c:v>
                      </c:pt>
                      <c:pt idx="14">
                        <c:v>4.5566456573284455</c:v>
                      </c:pt>
                      <c:pt idx="15">
                        <c:v>8.3638710689572662</c:v>
                      </c:pt>
                      <c:pt idx="16">
                        <c:v>8.2767637934696836</c:v>
                      </c:pt>
                      <c:pt idx="17">
                        <c:v>6.2454373629087883</c:v>
                      </c:pt>
                      <c:pt idx="18">
                        <c:v>-7.652310202534764</c:v>
                      </c:pt>
                      <c:pt idx="19">
                        <c:v>8.5636307922088974</c:v>
                      </c:pt>
                      <c:pt idx="20">
                        <c:v>6.0483614546898821</c:v>
                      </c:pt>
                      <c:pt idx="21">
                        <c:v>4.456144470595774</c:v>
                      </c:pt>
                      <c:pt idx="22">
                        <c:v>11.343396971349677</c:v>
                      </c:pt>
                      <c:pt idx="23">
                        <c:v>4.1492622552040217</c:v>
                      </c:pt>
                      <c:pt idx="24">
                        <c:v>-1.6979354267597415</c:v>
                      </c:pt>
                      <c:pt idx="25">
                        <c:v>4.3037674480267469</c:v>
                      </c:pt>
                      <c:pt idx="26">
                        <c:v>2.9039977321092749</c:v>
                      </c:pt>
                      <c:pt idx="27">
                        <c:v>4.47883655345764</c:v>
                      </c:pt>
                      <c:pt idx="28">
                        <c:v>2.9661256478123335</c:v>
                      </c:pt>
                      <c:pt idx="29">
                        <c:v>0</c:v>
                      </c:pt>
                    </c:numCache>
                  </c:numRef>
                </c:val>
                <c:smooth val="0"/>
                <c:extLst xmlns:c15="http://schemas.microsoft.com/office/drawing/2012/chart">
                  <c:ext xmlns:c16="http://schemas.microsoft.com/office/drawing/2014/chart" uri="{C3380CC4-5D6E-409C-BE32-E72D297353CC}">
                    <c16:uniqueId val="{00000008-32C8-4B9C-9781-65A3F23583AD}"/>
                  </c:ext>
                </c:extLst>
              </c15:ser>
            </c15:filteredLineSeries>
            <c15:filteredLineSeries>
              <c15:ser>
                <c:idx val="9"/>
                <c:order val="9"/>
                <c:tx>
                  <c:strRef>
                    <c:extLst xmlns:c15="http://schemas.microsoft.com/office/drawing/2012/chart">
                      <c:ext xmlns:c15="http://schemas.microsoft.com/office/drawing/2012/chart" uri="{02D57815-91ED-43cb-92C2-25804820EDAC}">
                        <c15:formulaRef>
                          <c15:sqref>'GDP Data'!$A$11</c15:sqref>
                        </c15:formulaRef>
                      </c:ext>
                    </c:extLst>
                    <c:strCache>
                      <c:ptCount val="1"/>
                      <c:pt idx="0">
                        <c:v>Zimbabwe</c:v>
                      </c:pt>
                    </c:strCache>
                  </c:strRef>
                </c:tx>
                <c:spPr>
                  <a:ln w="28575" cap="rnd">
                    <a:solidFill>
                      <a:schemeClr val="accent4">
                        <a:lumMod val="60000"/>
                      </a:schemeClr>
                    </a:solidFill>
                    <a:round/>
                  </a:ln>
                  <a:effectLst/>
                </c:spPr>
                <c:marker>
                  <c:symbol val="none"/>
                </c:marker>
                <c:cat>
                  <c:numRef>
                    <c:extLst xmlns:c15="http://schemas.microsoft.com/office/drawing/2012/chart">
                      <c:ext xmlns:c15="http://schemas.microsoft.com/office/drawing/2012/chart" uri="{02D57815-91ED-43cb-92C2-25804820EDAC}">
                        <c15:formulaRef>
                          <c15:sqref>'GDP Data'!$B$1:$AH$1</c15:sqref>
                        </c15:formulaRef>
                      </c:ext>
                    </c:extLst>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extLst xmlns:c15="http://schemas.microsoft.com/office/drawing/2012/chart">
                      <c:ext xmlns:c15="http://schemas.microsoft.com/office/drawing/2012/chart" uri="{02D57815-91ED-43cb-92C2-25804820EDAC}">
                        <c15:formulaRef>
                          <c15:sqref>'GDP Data'!$B$11:$AH$11</c15:sqref>
                        </c15:formulaRef>
                      </c:ext>
                    </c:extLst>
                    <c:numCache>
                      <c:formatCode>General</c:formatCode>
                      <c:ptCount val="30"/>
                      <c:pt idx="0">
                        <c:v>5.5317823960983219</c:v>
                      </c:pt>
                      <c:pt idx="1">
                        <c:v>-9.0155700862609223</c:v>
                      </c:pt>
                      <c:pt idx="2">
                        <c:v>1.0514586257693423</c:v>
                      </c:pt>
                      <c:pt idx="3">
                        <c:v>9.2351988610601694</c:v>
                      </c:pt>
                      <c:pt idx="4">
                        <c:v>0.15802565144909408</c:v>
                      </c:pt>
                      <c:pt idx="5">
                        <c:v>10.360696769806481</c:v>
                      </c:pt>
                      <c:pt idx="6">
                        <c:v>2.6805941737397774</c:v>
                      </c:pt>
                      <c:pt idx="7">
                        <c:v>2.88521180627896</c:v>
                      </c:pt>
                      <c:pt idx="8">
                        <c:v>-0.81782101628289183</c:v>
                      </c:pt>
                      <c:pt idx="9">
                        <c:v>-3.0591897618037933</c:v>
                      </c:pt>
                      <c:pt idx="10">
                        <c:v>1.4396153844897555</c:v>
                      </c:pt>
                      <c:pt idx="11">
                        <c:v>-8.894023633042849</c:v>
                      </c:pt>
                      <c:pt idx="12">
                        <c:v>-16.995074694026187</c:v>
                      </c:pt>
                      <c:pt idx="13">
                        <c:v>-5.8075380553470808</c:v>
                      </c:pt>
                      <c:pt idx="14">
                        <c:v>-5.7110836797259878</c:v>
                      </c:pt>
                      <c:pt idx="15">
                        <c:v>-3.4614951923160646</c:v>
                      </c:pt>
                      <c:pt idx="16">
                        <c:v>-3.6533268588292032</c:v>
                      </c:pt>
                      <c:pt idx="17">
                        <c:v>-17.668946285205351</c:v>
                      </c:pt>
                      <c:pt idx="18">
                        <c:v>12.019559926898538</c:v>
                      </c:pt>
                      <c:pt idx="19">
                        <c:v>19.675323142464492</c:v>
                      </c:pt>
                      <c:pt idx="20">
                        <c:v>14.19391295721617</c:v>
                      </c:pt>
                      <c:pt idx="21">
                        <c:v>16.665428768467862</c:v>
                      </c:pt>
                      <c:pt idx="22">
                        <c:v>1.989492762072075</c:v>
                      </c:pt>
                      <c:pt idx="23">
                        <c:v>2.3769293269800329</c:v>
                      </c:pt>
                      <c:pt idx="24">
                        <c:v>1.7798727034029866</c:v>
                      </c:pt>
                      <c:pt idx="25">
                        <c:v>0.75586925093060131</c:v>
                      </c:pt>
                      <c:pt idx="26">
                        <c:v>4.7040353905471335</c:v>
                      </c:pt>
                      <c:pt idx="27">
                        <c:v>4.8296735910921171</c:v>
                      </c:pt>
                      <c:pt idx="28">
                        <c:v>-8.1000001988609256</c:v>
                      </c:pt>
                      <c:pt idx="29">
                        <c:v>0</c:v>
                      </c:pt>
                    </c:numCache>
                  </c:numRef>
                </c:val>
                <c:smooth val="0"/>
                <c:extLst xmlns:c15="http://schemas.microsoft.com/office/drawing/2012/chart">
                  <c:ext xmlns:c16="http://schemas.microsoft.com/office/drawing/2014/chart" uri="{C3380CC4-5D6E-409C-BE32-E72D297353CC}">
                    <c16:uniqueId val="{00000009-32C8-4B9C-9781-65A3F23583AD}"/>
                  </c:ext>
                </c:extLst>
              </c15:ser>
            </c15:filteredLineSeries>
          </c:ext>
        </c:extLst>
      </c:lineChart>
      <c:catAx>
        <c:axId val="430087344"/>
        <c:scaling>
          <c:orientation val="minMax"/>
        </c:scaling>
        <c:delete val="0"/>
        <c:axPos val="b"/>
        <c:numFmt formatCode="General" sourceLinked="1"/>
        <c:majorTickMark val="none"/>
        <c:minorTickMark val="none"/>
        <c:tickLblPos val="nextTo"/>
        <c:spPr>
          <a:noFill/>
          <a:ln w="9525" cap="flat" cmpd="sng" algn="ctr">
            <a:solidFill>
              <a:schemeClr val="bg1">
                <a:lumMod val="50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418464864"/>
        <c:crosses val="autoZero"/>
        <c:auto val="1"/>
        <c:lblAlgn val="ctr"/>
        <c:lblOffset val="100"/>
        <c:noMultiLvlLbl val="0"/>
      </c:catAx>
      <c:valAx>
        <c:axId val="418464864"/>
        <c:scaling>
          <c:orientation val="minMax"/>
          <c:min val="-5"/>
        </c:scaling>
        <c:delete val="0"/>
        <c:axPos val="l"/>
        <c:title>
          <c:tx>
            <c:rich>
              <a:bodyPr rot="-54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r>
                  <a:rPr lang="en-US" dirty="0"/>
                  <a:t>%</a:t>
                </a:r>
              </a:p>
            </c:rich>
          </c:tx>
          <c:layout>
            <c:manualLayout>
              <c:xMode val="edge"/>
              <c:yMode val="edge"/>
              <c:x val="7.9715775659621492E-3"/>
              <c:y val="0.3174504228638087"/>
            </c:manualLayout>
          </c:layout>
          <c:overlay val="0"/>
          <c:spPr>
            <a:noFill/>
            <a:ln>
              <a:noFill/>
            </a:ln>
            <a:effectLst/>
          </c:spPr>
          <c:txPr>
            <a:bodyPr rot="-54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title>
        <c:numFmt formatCode="0" sourceLinked="0"/>
        <c:majorTickMark val="none"/>
        <c:minorTickMark val="none"/>
        <c:tickLblPos val="nextTo"/>
        <c:spPr>
          <a:noFill/>
          <a:ln>
            <a:solidFill>
              <a:schemeClr val="bg1">
                <a:lumMod val="50000"/>
              </a:schemeClr>
            </a:solidFill>
          </a:ln>
          <a:effectLst/>
        </c:spPr>
        <c:txPr>
          <a:bodyPr rot="-600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430087344"/>
        <c:crosses val="autoZero"/>
        <c:crossBetween val="between"/>
      </c:valAx>
      <c:spPr>
        <a:noFill/>
        <a:ln>
          <a:noFill/>
        </a:ln>
        <a:effectLst/>
      </c:spPr>
    </c:plotArea>
    <c:legend>
      <c:legendPos val="b"/>
      <c:layout>
        <c:manualLayout>
          <c:xMode val="edge"/>
          <c:yMode val="edge"/>
          <c:x val="2.6107256584187628E-2"/>
          <c:y val="0.85991303325890256"/>
          <c:w val="0.93030644492575854"/>
          <c:h val="0.1342338792374394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900">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1" i="0" u="none" strike="noStrike" kern="1200" baseline="0">
                <a:solidFill>
                  <a:schemeClr val="tx2"/>
                </a:solidFill>
                <a:latin typeface="+mn-lt"/>
                <a:ea typeface="+mn-ea"/>
                <a:cs typeface="+mn-cs"/>
              </a:defRPr>
            </a:pPr>
            <a:r>
              <a:rPr lang="pt-BR" sz="1200" dirty="0"/>
              <a:t>Jährliches BIP-Wachstum – Prognose</a:t>
            </a:r>
            <a:endParaRPr lang="en-US" sz="1200" dirty="0"/>
          </a:p>
        </c:rich>
      </c:tx>
      <c:overlay val="0"/>
      <c:spPr>
        <a:noFill/>
        <a:ln>
          <a:noFill/>
        </a:ln>
        <a:effectLst/>
      </c:spPr>
      <c:txPr>
        <a:bodyPr rot="0" spcFirstLastPara="1" vertOverflow="ellipsis" vert="horz" wrap="square" anchor="ctr" anchorCtr="1"/>
        <a:lstStyle/>
        <a:p>
          <a:pPr>
            <a:defRPr sz="1200" b="1" i="0" u="none" strike="noStrike" kern="1200" baseline="0">
              <a:solidFill>
                <a:schemeClr val="tx2"/>
              </a:solidFill>
              <a:latin typeface="+mn-lt"/>
              <a:ea typeface="+mn-ea"/>
              <a:cs typeface="+mn-cs"/>
            </a:defRPr>
          </a:pPr>
          <a:endParaRPr lang="en-US"/>
        </a:p>
      </c:txPr>
    </c:title>
    <c:autoTitleDeleted val="0"/>
    <c:plotArea>
      <c:layout/>
      <c:lineChart>
        <c:grouping val="standard"/>
        <c:varyColors val="0"/>
        <c:ser>
          <c:idx val="0"/>
          <c:order val="0"/>
          <c:tx>
            <c:strRef>
              <c:f>'https://worldbankgroup.sharepoint.com/sites/MZMPMFiles/Shared Documents/Operations/MTI/Economic monitoring/Mozambique Economic Framework/2022/[20220319 Mozambique Macro Framework_Baseline_Grants Adjusted_Simulationfor Mathew-PCDJFVRY33.xlsx]Select Econ and Financial CPF'!$A$7</c:f>
              <c:strCache>
                <c:ptCount val="1"/>
                <c:pt idx="0">
                  <c:v>GDP at constant prices</c:v>
                </c:pt>
              </c:strCache>
            </c:strRef>
          </c:tx>
          <c:spPr>
            <a:ln w="31750" cap="rnd">
              <a:solidFill>
                <a:schemeClr val="accent1"/>
              </a:solidFill>
              <a:round/>
            </a:ln>
            <a:effectLst/>
          </c:spPr>
          <c:marker>
            <c:symbol val="none"/>
          </c:marker>
          <c:cat>
            <c:strRef>
              <c:f>'[1]Select Econ and Financial CPF'!$B$2:$M$2</c:f>
              <c:strCache>
                <c:ptCount val="12"/>
                <c:pt idx="0">
                  <c:v>2016</c:v>
                </c:pt>
                <c:pt idx="1">
                  <c:v>2017</c:v>
                </c:pt>
                <c:pt idx="2">
                  <c:v>2018</c:v>
                </c:pt>
                <c:pt idx="3">
                  <c:v>2019</c:v>
                </c:pt>
                <c:pt idx="4">
                  <c:v>2020</c:v>
                </c:pt>
                <c:pt idx="5">
                  <c:v>2021</c:v>
                </c:pt>
                <c:pt idx="6">
                  <c:v>2022 </c:v>
                </c:pt>
                <c:pt idx="7">
                  <c:v>2023</c:v>
                </c:pt>
                <c:pt idx="8">
                  <c:v>2024</c:v>
                </c:pt>
                <c:pt idx="9">
                  <c:v>2025</c:v>
                </c:pt>
                <c:pt idx="10">
                  <c:v>2026</c:v>
                </c:pt>
                <c:pt idx="11">
                  <c:v>2027</c:v>
                </c:pt>
              </c:strCache>
            </c:strRef>
          </c:cat>
          <c:val>
            <c:numRef>
              <c:f>'[1]Select Econ and Financial CPF'!$B$7:$M$7</c:f>
              <c:numCache>
                <c:formatCode>General</c:formatCode>
                <c:ptCount val="12"/>
                <c:pt idx="0">
                  <c:v>3.8242063698648243</c:v>
                </c:pt>
                <c:pt idx="1">
                  <c:v>3.7413190418151165</c:v>
                </c:pt>
                <c:pt idx="2">
                  <c:v>3.4438156642854656</c:v>
                </c:pt>
                <c:pt idx="3">
                  <c:v>2.2927369306402268</c:v>
                </c:pt>
                <c:pt idx="4">
                  <c:v>-1.2127911653609935</c:v>
                </c:pt>
                <c:pt idx="5">
                  <c:v>2.2273631917444803</c:v>
                </c:pt>
                <c:pt idx="6">
                  <c:v>3.646451938635864</c:v>
                </c:pt>
                <c:pt idx="7">
                  <c:v>5.3539020373436941</c:v>
                </c:pt>
                <c:pt idx="8">
                  <c:v>7.3939917866207905</c:v>
                </c:pt>
                <c:pt idx="9">
                  <c:v>5.3650699212903552</c:v>
                </c:pt>
                <c:pt idx="10">
                  <c:v>13</c:v>
                </c:pt>
                <c:pt idx="11">
                  <c:v>10</c:v>
                </c:pt>
              </c:numCache>
            </c:numRef>
          </c:val>
          <c:smooth val="0"/>
          <c:extLst>
            <c:ext xmlns:c16="http://schemas.microsoft.com/office/drawing/2014/chart" uri="{C3380CC4-5D6E-409C-BE32-E72D297353CC}">
              <c16:uniqueId val="{00000000-C692-41DF-B099-32B405B7F08C}"/>
            </c:ext>
          </c:extLst>
        </c:ser>
        <c:ser>
          <c:idx val="1"/>
          <c:order val="1"/>
          <c:tx>
            <c:strRef>
              <c:f>'https://worldbankgroup.sharepoint.com/sites/MZMPMFiles/Shared Documents/Operations/MTI/Economic monitoring/Mozambique Economic Framework/2022/[20220319 Mozambique Macro Framework_Baseline_Grants Adjusted_Simulationfor Mathew-PCDJFVRY33.xlsx]Select Econ and Financial CPF'!$A$8</c:f>
              <c:strCache>
                <c:ptCount val="1"/>
                <c:pt idx="0">
                  <c:v>GDP at constant prices, ex. extractive sector</c:v>
                </c:pt>
              </c:strCache>
            </c:strRef>
          </c:tx>
          <c:spPr>
            <a:ln w="31750" cap="rnd">
              <a:solidFill>
                <a:schemeClr val="accent2"/>
              </a:solidFill>
              <a:round/>
            </a:ln>
            <a:effectLst/>
          </c:spPr>
          <c:marker>
            <c:symbol val="none"/>
          </c:marker>
          <c:cat>
            <c:strRef>
              <c:f>'[1]Select Econ and Financial CPF'!$B$2:$M$2</c:f>
              <c:strCache>
                <c:ptCount val="12"/>
                <c:pt idx="0">
                  <c:v>2016</c:v>
                </c:pt>
                <c:pt idx="1">
                  <c:v>2017</c:v>
                </c:pt>
                <c:pt idx="2">
                  <c:v>2018</c:v>
                </c:pt>
                <c:pt idx="3">
                  <c:v>2019</c:v>
                </c:pt>
                <c:pt idx="4">
                  <c:v>2020</c:v>
                </c:pt>
                <c:pt idx="5">
                  <c:v>2021</c:v>
                </c:pt>
                <c:pt idx="6">
                  <c:v>2022 </c:v>
                </c:pt>
                <c:pt idx="7">
                  <c:v>2023</c:v>
                </c:pt>
                <c:pt idx="8">
                  <c:v>2024</c:v>
                </c:pt>
                <c:pt idx="9">
                  <c:v>2025</c:v>
                </c:pt>
                <c:pt idx="10">
                  <c:v>2026</c:v>
                </c:pt>
                <c:pt idx="11">
                  <c:v>2027</c:v>
                </c:pt>
              </c:strCache>
            </c:strRef>
          </c:cat>
          <c:val>
            <c:numRef>
              <c:f>'[1]Select Econ and Financial CPF'!$B$8:$M$8</c:f>
              <c:numCache>
                <c:formatCode>General</c:formatCode>
                <c:ptCount val="12"/>
                <c:pt idx="0">
                  <c:v>3.0764137800959017</c:v>
                </c:pt>
                <c:pt idx="1">
                  <c:v>1.5367224174446528</c:v>
                </c:pt>
                <c:pt idx="2">
                  <c:v>2.6433189826118717</c:v>
                </c:pt>
                <c:pt idx="3">
                  <c:v>2.5357585148552655</c:v>
                </c:pt>
                <c:pt idx="4">
                  <c:v>-0.22592321687047412</c:v>
                </c:pt>
                <c:pt idx="5">
                  <c:v>2.2897791388444686</c:v>
                </c:pt>
                <c:pt idx="6">
                  <c:v>2.846451938635858</c:v>
                </c:pt>
                <c:pt idx="7">
                  <c:v>4.2789020373437019</c:v>
                </c:pt>
                <c:pt idx="8">
                  <c:v>3.5064917866207876</c:v>
                </c:pt>
                <c:pt idx="9">
                  <c:v>0.12989013857533069</c:v>
                </c:pt>
                <c:pt idx="10">
                  <c:v>2.6384279875132735</c:v>
                </c:pt>
                <c:pt idx="11">
                  <c:v>2.0916033042364641</c:v>
                </c:pt>
              </c:numCache>
            </c:numRef>
          </c:val>
          <c:smooth val="0"/>
          <c:extLst>
            <c:ext xmlns:c16="http://schemas.microsoft.com/office/drawing/2014/chart" uri="{C3380CC4-5D6E-409C-BE32-E72D297353CC}">
              <c16:uniqueId val="{00000001-C692-41DF-B099-32B405B7F08C}"/>
            </c:ext>
          </c:extLst>
        </c:ser>
        <c:dLbls>
          <c:showLegendKey val="0"/>
          <c:showVal val="0"/>
          <c:showCatName val="0"/>
          <c:showSerName val="0"/>
          <c:showPercent val="0"/>
          <c:showBubbleSize val="0"/>
        </c:dLbls>
        <c:smooth val="0"/>
        <c:axId val="588589392"/>
        <c:axId val="588586896"/>
      </c:lineChart>
      <c:catAx>
        <c:axId val="588589392"/>
        <c:scaling>
          <c:orientation val="minMax"/>
        </c:scaling>
        <c:delete val="0"/>
        <c:axPos val="b"/>
        <c:numFmt formatCode="General" sourceLinked="1"/>
        <c:majorTickMark val="out"/>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588586896"/>
        <c:crosses val="autoZero"/>
        <c:auto val="1"/>
        <c:lblAlgn val="ctr"/>
        <c:lblOffset val="100"/>
        <c:noMultiLvlLbl val="0"/>
      </c:catAx>
      <c:valAx>
        <c:axId val="588586896"/>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5885893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pt-BR" sz="1000" b="0" i="0" u="none" strike="noStrike" kern="1200" cap="all" baseline="0" smtClean="0">
                <a:solidFill>
                  <a:schemeClr val="tx1"/>
                </a:solidFill>
                <a:latin typeface="+mj-lt"/>
                <a:ea typeface="+mn-ea"/>
                <a:cs typeface="+mn-cs"/>
              </a:defRPr>
            </a:pPr>
            <a:r>
              <a:rPr lang="en-US" sz="1000" b="1" dirty="0">
                <a:solidFill>
                  <a:schemeClr val="tx1"/>
                </a:solidFill>
                <a:latin typeface="+mj-lt"/>
              </a:rPr>
              <a:t>Finanzierungs</a:t>
            </a:r>
            <a:r>
              <a:rPr lang="en-US" sz="1000" b="1" baseline="0" dirty="0">
                <a:solidFill>
                  <a:schemeClr val="tx1"/>
                </a:solidFill>
                <a:latin typeface="+mj-lt"/>
              </a:rPr>
              <a:t> </a:t>
            </a:r>
            <a:r>
              <a:rPr lang="en-US" sz="1000" b="1" dirty="0">
                <a:solidFill>
                  <a:schemeClr val="tx1"/>
                </a:solidFill>
                <a:latin typeface="+mj-lt"/>
              </a:rPr>
              <a:t>ziele</a:t>
            </a:r>
            <a:r>
              <a:rPr lang="en-US" sz="1000" b="1" baseline="0" dirty="0">
                <a:solidFill>
                  <a:schemeClr val="tx1"/>
                </a:solidFill>
                <a:latin typeface="+mj-lt"/>
              </a:rPr>
              <a:t>  </a:t>
            </a:r>
            <a:r>
              <a:rPr lang="en-US" sz="1000" b="1" dirty="0">
                <a:solidFill>
                  <a:schemeClr val="tx1"/>
                </a:solidFill>
                <a:latin typeface="+mj-lt"/>
              </a:rPr>
              <a:t>im CPF-Zeitraum HJ17-21 (% der Gesamtzusagen)</a:t>
            </a:r>
            <a:r>
              <a:rPr lang="pt-BR" sz="1000" b="0" dirty="0">
                <a:solidFill>
                  <a:schemeClr val="tx1"/>
                </a:solidFill>
                <a:latin typeface="+mj-lt"/>
              </a:rPr>
              <a:t>
</a:t>
            </a:r>
          </a:p>
        </c:rich>
      </c:tx>
      <c:layout>
        <c:manualLayout>
          <c:xMode val="edge"/>
          <c:yMode val="edge"/>
          <c:x val="0.19834392431471143"/>
          <c:y val="0"/>
        </c:manualLayout>
      </c:layout>
      <c:overlay val="0"/>
      <c:spPr>
        <a:noFill/>
        <a:ln>
          <a:noFill/>
        </a:ln>
        <a:effectLst/>
      </c:spPr>
      <c:txPr>
        <a:bodyPr rot="0" spcFirstLastPara="1" vertOverflow="ellipsis" vert="horz" wrap="square" anchor="ctr" anchorCtr="1"/>
        <a:lstStyle/>
        <a:p>
          <a:pPr>
            <a:defRPr lang="pt-BR" sz="1000" b="0" i="0" u="none" strike="noStrike" kern="1200" cap="all" baseline="0" smtClean="0">
              <a:solidFill>
                <a:schemeClr val="tx1"/>
              </a:solidFill>
              <a:latin typeface="+mj-lt"/>
              <a:ea typeface="+mn-ea"/>
              <a:cs typeface="+mn-cs"/>
            </a:defRPr>
          </a:pPr>
          <a:endParaRPr lang="en-US"/>
        </a:p>
      </c:txPr>
    </c:title>
    <c:autoTitleDeleted val="0"/>
    <c:plotArea>
      <c:layout/>
      <c:pieChart>
        <c:varyColors val="1"/>
        <c:ser>
          <c:idx val="0"/>
          <c:order val="0"/>
          <c:tx>
            <c:strRef>
              <c:f>'Portfolio by CPF objective'!$E$67</c:f>
              <c:strCache>
                <c:ptCount val="1"/>
                <c:pt idx="0">
                  <c:v>Percentage of total portfolio (%)</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F231-4CE8-A179-C3BE7835BECE}"/>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F231-4CE8-A179-C3BE7835BECE}"/>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F231-4CE8-A179-C3BE7835BECE}"/>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F231-4CE8-A179-C3BE7835BECE}"/>
              </c:ext>
            </c:extLst>
          </c:dPt>
          <c:dPt>
            <c:idx val="4"/>
            <c:bubble3D val="0"/>
            <c:spPr>
              <a:solidFill>
                <a:schemeClr val="accent5"/>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9-F231-4CE8-A179-C3BE7835BECE}"/>
              </c:ext>
            </c:extLst>
          </c:dPt>
          <c:dPt>
            <c:idx val="5"/>
            <c:bubble3D val="0"/>
            <c:spPr>
              <a:solidFill>
                <a:schemeClr val="accent6"/>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B-F231-4CE8-A179-C3BE7835BECE}"/>
              </c:ext>
            </c:extLst>
          </c:dPt>
          <c:dPt>
            <c:idx val="6"/>
            <c:bubble3D val="0"/>
            <c:spPr>
              <a:solidFill>
                <a:schemeClr val="accent1">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D-F231-4CE8-A179-C3BE7835BECE}"/>
              </c:ext>
            </c:extLst>
          </c:dPt>
          <c:dPt>
            <c:idx val="7"/>
            <c:bubble3D val="0"/>
            <c:spPr>
              <a:solidFill>
                <a:schemeClr val="accent2">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F-F231-4CE8-A179-C3BE7835BECE}"/>
              </c:ext>
            </c:extLst>
          </c:dPt>
          <c:dPt>
            <c:idx val="8"/>
            <c:bubble3D val="0"/>
            <c:spPr>
              <a:solidFill>
                <a:schemeClr val="accent3">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1-F231-4CE8-A179-C3BE7835BECE}"/>
              </c:ext>
            </c:extLst>
          </c:dPt>
          <c:dLbls>
            <c:dLbl>
              <c:idx val="0"/>
              <c:layout>
                <c:manualLayout>
                  <c:x val="9.6456841018841805E-2"/>
                  <c:y val="6.9453703458823249E-2"/>
                </c:manualLayout>
              </c:layout>
              <c:tx>
                <c:rich>
                  <a:bodyPr rot="0" spcFirstLastPara="1" vertOverflow="ellipsis" vert="horz" wrap="square" lIns="38100" tIns="19050" rIns="38100" bIns="19050" anchor="ctr" anchorCtr="1">
                    <a:spAutoFit/>
                  </a:bodyPr>
                  <a:lstStyle/>
                  <a:p>
                    <a:pPr>
                      <a:defRPr lang="pt-BR" sz="1000" b="1" i="0" u="none" strike="noStrike" kern="1200" spc="0" baseline="0" smtClean="0">
                        <a:solidFill>
                          <a:schemeClr val="accent1"/>
                        </a:solidFill>
                        <a:latin typeface="+mn-lt"/>
                        <a:ea typeface="+mn-ea"/>
                        <a:cs typeface="+mn-cs"/>
                      </a:defRPr>
                    </a:pPr>
                    <a:r>
                      <a:rPr lang="en-US"/>
                      <a:t>1: Verbessertes Wirtschaftsmanagement, 6,6 %</a:t>
                    </a:r>
                    <a:endParaRPr lang="en-US" baseline="0"/>
                  </a:p>
                </c:rich>
              </c:tx>
              <c:spPr>
                <a:noFill/>
                <a:ln>
                  <a:noFill/>
                </a:ln>
                <a:effectLst/>
              </c:spPr>
              <c:txPr>
                <a:bodyPr rot="0" spcFirstLastPara="1" vertOverflow="ellipsis" vert="horz" wrap="square" lIns="38100" tIns="19050" rIns="38100" bIns="19050" anchor="ctr" anchorCtr="1">
                  <a:spAutoFit/>
                </a:bodyPr>
                <a:lstStyle/>
                <a:p>
                  <a:pPr>
                    <a:defRPr lang="pt-BR"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F231-4CE8-A179-C3BE7835BECE}"/>
                </c:ext>
              </c:extLst>
            </c:dLbl>
            <c:dLbl>
              <c:idx val="1"/>
              <c:layout>
                <c:manualLayout>
                  <c:x val="0"/>
                  <c:y val="-2.5714285714285766E-2"/>
                </c:manualLayout>
              </c:layout>
              <c:tx>
                <c:rich>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r>
                      <a:rPr lang="en-US"/>
                      <a:t>2: Steigerung des landwirtschaftlichen Wachstums, 30,2 %</a:t>
                    </a:r>
                    <a:endParaRPr lang="en-US" baseline="0"/>
                  </a:p>
                </c:rich>
              </c:tx>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F231-4CE8-A179-C3BE7835BECE}"/>
                </c:ext>
              </c:extLst>
            </c:dLbl>
            <c:dLbl>
              <c:idx val="2"/>
              <c:layout>
                <c:manualLayout>
                  <c:x val="8.6556169429097468E-2"/>
                  <c:y val="-0.11714285714285724"/>
                </c:manualLayout>
              </c:layout>
              <c:tx>
                <c:rich>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r>
                      <a:rPr lang="en-US"/>
                      <a:t>3: Verbesserung des Geschäftsumfelds zur Schaffung von Arbeitsplätzen, 3,5 %</a:t>
                    </a:r>
                    <a:endParaRPr lang="en-US" baseline="0"/>
                  </a:p>
                </c:rich>
              </c:tx>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F231-4CE8-A179-C3BE7835BECE}"/>
                </c:ext>
              </c:extLst>
            </c:dLbl>
            <c:dLbl>
              <c:idx val="3"/>
              <c:layout>
                <c:manualLayout>
                  <c:x val="-1.7631260185855847E-2"/>
                  <c:y val="0"/>
                </c:manualLayout>
              </c:layout>
              <c:tx>
                <c:rich>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r>
                      <a:rPr lang="en-US"/>
                      <a:t>4: Zugang ausweiten und Zuverlässigkeit der Stromversorgung verbessern, 8,0 %</a:t>
                    </a:r>
                    <a:endParaRPr lang="en-US" baseline="0"/>
                  </a:p>
                </c:rich>
              </c:tx>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F231-4CE8-A179-C3BE7835BECE}"/>
                </c:ext>
              </c:extLst>
            </c:dLbl>
            <c:dLbl>
              <c:idx val="4"/>
              <c:layout>
                <c:manualLayout>
                  <c:x val="1.8416206261510096E-2"/>
                  <c:y val="2.8571428571428571E-3"/>
                </c:manualLayout>
              </c:layout>
              <c:tx>
                <c:rich>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r>
                      <a:rPr lang="en-US"/>
                      <a:t>5: Verbesserung der Qualifikationsbasis, 13,8 %</a:t>
                    </a:r>
                    <a:endParaRPr lang="en-US" baseline="0"/>
                  </a:p>
                </c:rich>
              </c:tx>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F231-4CE8-A179-C3BE7835BECE}"/>
                </c:ext>
              </c:extLst>
            </c:dLbl>
            <c:dLbl>
              <c:idx val="5"/>
              <c:layout>
                <c:manualLayout>
                  <c:x val="-4.9723756906077346E-2"/>
                  <c:y val="1.4285714285714181E-2"/>
                </c:manualLayout>
              </c:layout>
              <c:tx>
                <c:rich>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r>
                      <a:rPr lang="en-US"/>
                      <a:t>6: Verbesserung der Bereitstellung des Gesundheitsdienstes, 2,8 %</a:t>
                    </a:r>
                    <a:endParaRPr lang="en-US" baseline="0"/>
                  </a:p>
                </c:rich>
              </c:tx>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F231-4CE8-A179-C3BE7835BECE}"/>
                </c:ext>
              </c:extLst>
            </c:dLbl>
            <c:dLbl>
              <c:idx val="6"/>
              <c:layout>
                <c:manualLayout>
                  <c:x val="-2.0257826887661159E-2"/>
                  <c:y val="-3.4285714285714392E-2"/>
                </c:manualLayout>
              </c:layout>
              <c:tx>
                <c:rich>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r>
                      <a:rPr lang="en-US"/>
                      <a:t>7: Verbesserung des Zugangs zu Wasser und Sanitärversorgung, 6,6 %</a:t>
                    </a:r>
                    <a:endParaRPr lang="en-US" baseline="0"/>
                  </a:p>
                </c:rich>
              </c:tx>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F231-4CE8-A179-C3BE7835BECE}"/>
                </c:ext>
              </c:extLst>
            </c:dLbl>
            <c:dLbl>
              <c:idx val="7"/>
              <c:layout>
                <c:manualLayout>
                  <c:x val="-5.5248618784530384E-3"/>
                  <c:y val="2.5714285714285766E-2"/>
                </c:manualLayout>
              </c:layout>
              <c:tx>
                <c:rich>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r>
                      <a:rPr lang="en-US"/>
                      <a:t>8: Unterstützung für Erholung und Resilienz, 21,1 %</a:t>
                    </a:r>
                    <a:endParaRPr lang="en-US" baseline="0"/>
                  </a:p>
                </c:rich>
              </c:tx>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F231-4CE8-A179-C3BE7835BECE}"/>
                </c:ext>
              </c:extLst>
            </c:dLbl>
            <c:dLbl>
              <c:idx val="8"/>
              <c:layout>
                <c:manualLayout>
                  <c:x val="-0.15086687138108701"/>
                  <c:y val="6.0153447834029011E-2"/>
                </c:manualLayout>
              </c:layout>
              <c:tx>
                <c:rich>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r>
                      <a:rPr lang="en-US" dirty="0"/>
                      <a:t>9: Förderung inklusiver Urbanisierung und Dezentralisierung, 7,5 %</a:t>
                    </a:r>
                    <a:endParaRPr lang="en-US" baseline="0" dirty="0"/>
                  </a:p>
                </c:rich>
              </c:tx>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F231-4CE8-A179-C3BE7835BECE}"/>
                </c:ext>
              </c:extLst>
            </c:dLbl>
            <c:spPr>
              <a:noFill/>
              <a:ln>
                <a:noFill/>
              </a:ln>
              <a:effectLst/>
            </c:spPr>
            <c:dLblPos val="outEnd"/>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'Portfolio by CPF objective'!$B$68:$B$76</c:f>
              <c:strCache>
                <c:ptCount val="9"/>
                <c:pt idx="0">
                  <c:v>1: Improved Economic Management</c:v>
                </c:pt>
                <c:pt idx="1">
                  <c:v>2: Increasing Agricultural Growth</c:v>
                </c:pt>
                <c:pt idx="2">
                  <c:v>3: Improving the Business Environment for Job Creation</c:v>
                </c:pt>
                <c:pt idx="3">
                  <c:v>4: Expand Access and Improved Reliability of Electricity</c:v>
                </c:pt>
                <c:pt idx="4">
                  <c:v>5: Enhancing the Skills Base</c:v>
                </c:pt>
                <c:pt idx="5">
                  <c:v>6: Improving Health Service Delivery</c:v>
                </c:pt>
                <c:pt idx="6">
                  <c:v>7: Improving Access to Water and Sanitation</c:v>
                </c:pt>
                <c:pt idx="7">
                  <c:v>8: Supporting Recovery and Resilience</c:v>
                </c:pt>
                <c:pt idx="8">
                  <c:v>9: Promoting Inclusive Urbanization and Decentralization </c:v>
                </c:pt>
              </c:strCache>
            </c:strRef>
          </c:cat>
          <c:val>
            <c:numRef>
              <c:f>'Portfolio by CPF objective'!$E$68:$E$76</c:f>
              <c:numCache>
                <c:formatCode>0.0%</c:formatCode>
                <c:ptCount val="9"/>
                <c:pt idx="0">
                  <c:v>6.5664420252289621E-2</c:v>
                </c:pt>
                <c:pt idx="1">
                  <c:v>0.30240193537238641</c:v>
                </c:pt>
                <c:pt idx="2">
                  <c:v>3.4560221185415588E-2</c:v>
                </c:pt>
                <c:pt idx="3">
                  <c:v>8.0179713150164159E-2</c:v>
                </c:pt>
                <c:pt idx="4">
                  <c:v>0.13754968031795403</c:v>
                </c:pt>
                <c:pt idx="5">
                  <c:v>2.7648176948332468E-2</c:v>
                </c:pt>
                <c:pt idx="6">
                  <c:v>6.5664420252289621E-2</c:v>
                </c:pt>
                <c:pt idx="7">
                  <c:v>0.21133575254881631</c:v>
                </c:pt>
                <c:pt idx="8">
                  <c:v>7.499567997235182E-2</c:v>
                </c:pt>
              </c:numCache>
            </c:numRef>
          </c:val>
          <c:extLst>
            <c:ext xmlns:c16="http://schemas.microsoft.com/office/drawing/2014/chart" uri="{C3380CC4-5D6E-409C-BE32-E72D297353CC}">
              <c16:uniqueId val="{00000012-F231-4CE8-A179-C3BE7835BECE}"/>
            </c:ext>
          </c:extLst>
        </c:ser>
        <c:dLbls>
          <c:dLblPos val="outEnd"/>
          <c:showLegendKey val="0"/>
          <c:showVal val="0"/>
          <c:showCatName val="1"/>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smtClean="0">
                <a:solidFill>
                  <a:schemeClr val="tx1">
                    <a:lumMod val="65000"/>
                    <a:lumOff val="35000"/>
                  </a:schemeClr>
                </a:solidFill>
                <a:latin typeface="+mn-lt"/>
                <a:ea typeface="+mn-ea"/>
                <a:cs typeface="+mn-cs"/>
              </a:defRPr>
            </a:pPr>
            <a:r>
              <a:rPr lang="en-US" dirty="0">
                <a:solidFill>
                  <a:schemeClr val="tx1"/>
                </a:solidFill>
              </a:rPr>
              <a:t>% der gesamten nicht ausgezahlten Mittel</a:t>
            </a:r>
            <a:r>
              <a:rPr lang="en-US" dirty="0"/>
              <a:t>*
</a:t>
            </a:r>
          </a:p>
        </c:rich>
      </c:tx>
      <c:overlay val="0"/>
      <c:spPr>
        <a:noFill/>
        <a:ln>
          <a:noFill/>
        </a:ln>
        <a:effectLst/>
      </c:spPr>
      <c:txPr>
        <a:bodyPr rot="0" spcFirstLastPara="1" vertOverflow="ellipsis" vert="horz" wrap="square" anchor="ctr" anchorCtr="1"/>
        <a:lstStyle/>
        <a:p>
          <a:pPr>
            <a:defRPr lang="en-US" sz="1400" b="0" i="0" u="none" strike="noStrike" kern="1200" spc="0" baseline="0" smtClean="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Sheet1!$E$61</c:f>
              <c:strCache>
                <c:ptCount val="1"/>
                <c:pt idx="0">
                  <c:v>% of total undisbursed</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385-4D10-B6BF-629B6787E96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385-4D10-B6BF-629B6787E96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385-4D10-B6BF-629B6787E96B}"/>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385-4D10-B6BF-629B6787E96B}"/>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Sheet1!$D$62:$D$65</c:f>
              <c:strCache>
                <c:ptCount val="4"/>
                <c:pt idx="0">
                  <c:v>EFI</c:v>
                </c:pt>
                <c:pt idx="1">
                  <c:v>SD</c:v>
                </c:pt>
                <c:pt idx="2">
                  <c:v>HD</c:v>
                </c:pt>
                <c:pt idx="3">
                  <c:v>INFRA</c:v>
                </c:pt>
              </c:strCache>
            </c:strRef>
          </c:cat>
          <c:val>
            <c:numRef>
              <c:f>Sheet1!$E$62:$E$65</c:f>
              <c:numCache>
                <c:formatCode>0%</c:formatCode>
                <c:ptCount val="4"/>
                <c:pt idx="0">
                  <c:v>0.16586350447836506</c:v>
                </c:pt>
                <c:pt idx="1">
                  <c:v>0.36288633783272367</c:v>
                </c:pt>
                <c:pt idx="2">
                  <c:v>0.17613220638324714</c:v>
                </c:pt>
                <c:pt idx="3">
                  <c:v>0.29511795130566415</c:v>
                </c:pt>
              </c:numCache>
            </c:numRef>
          </c:val>
          <c:extLst>
            <c:ext xmlns:c16="http://schemas.microsoft.com/office/drawing/2014/chart" uri="{C3380CC4-5D6E-409C-BE32-E72D297353CC}">
              <c16:uniqueId val="{00000008-C385-4D10-B6BF-629B6787E96B}"/>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900"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65000"/>
        <a:lumOff val="3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400"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900" kern="1200" spc="20" baseline="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31">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10.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0.13219</cdr:x>
      <cdr:y>0.19764</cdr:y>
    </cdr:from>
    <cdr:to>
      <cdr:x>0.93841</cdr:x>
      <cdr:y>0.80236</cdr:y>
    </cdr:to>
    <cdr:cxnSp macro="">
      <cdr:nvCxnSpPr>
        <cdr:cNvPr id="2" name="Straight Connector 1">
          <a:extLst xmlns:a="http://schemas.openxmlformats.org/drawingml/2006/main">
            <a:ext uri="{FF2B5EF4-FFF2-40B4-BE49-F238E27FC236}">
              <a16:creationId xmlns:a16="http://schemas.microsoft.com/office/drawing/2014/main" id="{8F7742B3-C0C8-46D0-B264-E366980DD992}"/>
            </a:ext>
          </a:extLst>
        </cdr:cNvPr>
        <cdr:cNvCxnSpPr>
          <a:cxnSpLocks xmlns:a="http://schemas.openxmlformats.org/drawingml/2006/main"/>
        </cdr:cNvCxnSpPr>
      </cdr:nvCxnSpPr>
      <cdr:spPr>
        <a:xfrm xmlns:a="http://schemas.openxmlformats.org/drawingml/2006/main" flipV="1">
          <a:off x="1349376" y="1276350"/>
          <a:ext cx="8229600" cy="3905250"/>
        </a:xfrm>
        <a:prstGeom xmlns:a="http://schemas.openxmlformats.org/drawingml/2006/main" prst="line">
          <a:avLst/>
        </a:prstGeom>
        <a:ln xmlns:a="http://schemas.openxmlformats.org/drawingml/2006/main">
          <a:prstDash val="sysDot"/>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2.xml><?xml version="1.0" encoding="utf-8"?>
<c:userShapes xmlns:c="http://schemas.openxmlformats.org/drawingml/2006/chart">
  <cdr:relSizeAnchor xmlns:cdr="http://schemas.openxmlformats.org/drawingml/2006/chartDrawing">
    <cdr:from>
      <cdr:x>0.2203</cdr:x>
      <cdr:y>0.12788</cdr:y>
    </cdr:from>
    <cdr:to>
      <cdr:x>1</cdr:x>
      <cdr:y>0.25321</cdr:y>
    </cdr:to>
    <cdr:sp macro="" textlink="">
      <cdr:nvSpPr>
        <cdr:cNvPr id="2" name="TextBox 14">
          <a:extLst xmlns:a="http://schemas.openxmlformats.org/drawingml/2006/main">
            <a:ext uri="{FF2B5EF4-FFF2-40B4-BE49-F238E27FC236}">
              <a16:creationId xmlns:a16="http://schemas.microsoft.com/office/drawing/2014/main" id="{7440E17E-E14A-4B80-B9C9-4A77A8EEC8BA}"/>
            </a:ext>
          </a:extLst>
        </cdr:cNvPr>
        <cdr:cNvSpPr txBox="1"/>
      </cdr:nvSpPr>
      <cdr:spPr>
        <a:xfrm xmlns:a="http://schemas.openxmlformats.org/drawingml/2006/main">
          <a:off x="568999" y="234213"/>
          <a:ext cx="2013838" cy="229558"/>
        </a:xfrm>
        <a:prstGeom xmlns:a="http://schemas.openxmlformats.org/drawingml/2006/main" prst="rect">
          <a:avLst/>
        </a:prstGeom>
        <a:noFill xmlns:a="http://schemas.openxmlformats.org/drawingml/2006/main"/>
      </cdr:spPr>
      <cdr:txBody>
        <a:bodyPr xmlns:a="http://schemas.openxmlformats.org/drawingml/2006/main" wrap="square">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rtl="0">
            <a:defRPr sz="1080" b="1" i="0" u="none" strike="noStrike" kern="1200" spc="0" baseline="0">
              <a:solidFill>
                <a:prstClr val="black"/>
              </a:solidFill>
              <a:latin typeface="+mn-lt"/>
              <a:ea typeface="+mn-ea"/>
              <a:cs typeface="+mn-cs"/>
            </a:defRPr>
          </a:pPr>
          <a:r>
            <a:rPr lang="en-US" b="1" dirty="0"/>
            <a:t>Vietnam</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3AA1D7-AF98-455A-9A7A-8CFEE420734F}"/>
              </a:ext>
            </a:extLst>
          </p:cNvPr>
          <p:cNvSpPr>
            <a:spLocks noGrp="1"/>
          </p:cNvSpPr>
          <p:nvPr>
            <p:ph type="hdr" sz="quarter"/>
          </p:nvPr>
        </p:nvSpPr>
        <p:spPr>
          <a:xfrm>
            <a:off x="3" y="0"/>
            <a:ext cx="2946247" cy="498329"/>
          </a:xfrm>
          <a:prstGeom prst="rect">
            <a:avLst/>
          </a:prstGeom>
        </p:spPr>
        <p:txBody>
          <a:bodyPr vert="horz" lIns="91426" tIns="45713" rIns="91426" bIns="45713" rtlCol="0"/>
          <a:lstStyle>
            <a:lvl1pPr algn="l">
              <a:defRPr sz="1200"/>
            </a:lvl1pPr>
          </a:lstStyle>
          <a:p>
            <a:endParaRPr lang="en-US" dirty="0"/>
          </a:p>
        </p:txBody>
      </p:sp>
      <p:sp>
        <p:nvSpPr>
          <p:cNvPr id="3" name="Date Placeholder 2">
            <a:extLst>
              <a:ext uri="{FF2B5EF4-FFF2-40B4-BE49-F238E27FC236}">
                <a16:creationId xmlns:a16="http://schemas.microsoft.com/office/drawing/2014/main" id="{7D7A5696-9A19-4628-ACCA-A3DCFF8AD72B}"/>
              </a:ext>
            </a:extLst>
          </p:cNvPr>
          <p:cNvSpPr>
            <a:spLocks noGrp="1"/>
          </p:cNvSpPr>
          <p:nvPr>
            <p:ph type="dt" sz="quarter" idx="1"/>
          </p:nvPr>
        </p:nvSpPr>
        <p:spPr>
          <a:xfrm>
            <a:off x="3849828" y="0"/>
            <a:ext cx="2946246" cy="498329"/>
          </a:xfrm>
          <a:prstGeom prst="rect">
            <a:avLst/>
          </a:prstGeom>
        </p:spPr>
        <p:txBody>
          <a:bodyPr vert="horz" lIns="91426" tIns="45713" rIns="91426" bIns="45713" rtlCol="0"/>
          <a:lstStyle>
            <a:lvl1pPr algn="r">
              <a:defRPr sz="1200"/>
            </a:lvl1pPr>
          </a:lstStyle>
          <a:p>
            <a:fld id="{DC49F002-5576-4460-9897-0CD73B752ACD}" type="datetimeFigureOut">
              <a:rPr lang="en-US" smtClean="0"/>
              <a:t>6/7/2022</a:t>
            </a:fld>
            <a:endParaRPr lang="en-US" dirty="0"/>
          </a:p>
        </p:txBody>
      </p:sp>
      <p:sp>
        <p:nvSpPr>
          <p:cNvPr id="4" name="Footer Placeholder 3">
            <a:extLst>
              <a:ext uri="{FF2B5EF4-FFF2-40B4-BE49-F238E27FC236}">
                <a16:creationId xmlns:a16="http://schemas.microsoft.com/office/drawing/2014/main" id="{36BD86EA-268B-482F-9959-54B027B8231D}"/>
              </a:ext>
            </a:extLst>
          </p:cNvPr>
          <p:cNvSpPr>
            <a:spLocks noGrp="1"/>
          </p:cNvSpPr>
          <p:nvPr>
            <p:ph type="ftr" sz="quarter" idx="2"/>
          </p:nvPr>
        </p:nvSpPr>
        <p:spPr>
          <a:xfrm>
            <a:off x="3" y="9428309"/>
            <a:ext cx="2946247" cy="498329"/>
          </a:xfrm>
          <a:prstGeom prst="rect">
            <a:avLst/>
          </a:prstGeom>
        </p:spPr>
        <p:txBody>
          <a:bodyPr vert="horz" lIns="91426" tIns="45713" rIns="91426" bIns="45713"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8A1EB5-E0E2-42AC-B9BD-422D4B599A14}"/>
              </a:ext>
            </a:extLst>
          </p:cNvPr>
          <p:cNvSpPr>
            <a:spLocks noGrp="1"/>
          </p:cNvSpPr>
          <p:nvPr>
            <p:ph type="sldNum" sz="quarter" idx="3"/>
          </p:nvPr>
        </p:nvSpPr>
        <p:spPr>
          <a:xfrm>
            <a:off x="3849828" y="9428309"/>
            <a:ext cx="2946246" cy="498329"/>
          </a:xfrm>
          <a:prstGeom prst="rect">
            <a:avLst/>
          </a:prstGeom>
        </p:spPr>
        <p:txBody>
          <a:bodyPr vert="horz" lIns="91426" tIns="45713" rIns="91426" bIns="45713" rtlCol="0" anchor="b"/>
          <a:lstStyle>
            <a:lvl1pPr algn="r">
              <a:defRPr sz="1200"/>
            </a:lvl1pPr>
          </a:lstStyle>
          <a:p>
            <a:fld id="{084BD0F0-B3B8-4DBD-B975-A67D569A062B}" type="slidenum">
              <a:rPr lang="en-US" smtClean="0"/>
              <a:t>‹#›</a:t>
            </a:fld>
            <a:endParaRPr lang="en-US" dirty="0"/>
          </a:p>
        </p:txBody>
      </p:sp>
    </p:spTree>
    <p:extLst>
      <p:ext uri="{BB962C8B-B14F-4D97-AF65-F5344CB8AC3E}">
        <p14:creationId xmlns:p14="http://schemas.microsoft.com/office/powerpoint/2010/main" val="13730640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5"/>
            <a:ext cx="2945659" cy="498053"/>
          </a:xfrm>
          <a:prstGeom prst="rect">
            <a:avLst/>
          </a:prstGeom>
        </p:spPr>
        <p:txBody>
          <a:bodyPr vert="horz" lIns="91426" tIns="45713" rIns="91426" bIns="45713" rtlCol="0"/>
          <a:lstStyle>
            <a:lvl1pPr algn="l">
              <a:defRPr sz="1200"/>
            </a:lvl1pPr>
          </a:lstStyle>
          <a:p>
            <a:endParaRPr lang="en-US" dirty="0"/>
          </a:p>
        </p:txBody>
      </p:sp>
      <p:sp>
        <p:nvSpPr>
          <p:cNvPr id="3" name="Date Placeholder 2"/>
          <p:cNvSpPr>
            <a:spLocks noGrp="1"/>
          </p:cNvSpPr>
          <p:nvPr>
            <p:ph type="dt" idx="1"/>
          </p:nvPr>
        </p:nvSpPr>
        <p:spPr>
          <a:xfrm>
            <a:off x="3850445" y="5"/>
            <a:ext cx="2945659" cy="498053"/>
          </a:xfrm>
          <a:prstGeom prst="rect">
            <a:avLst/>
          </a:prstGeom>
        </p:spPr>
        <p:txBody>
          <a:bodyPr vert="horz" lIns="91426" tIns="45713" rIns="91426" bIns="45713" rtlCol="0"/>
          <a:lstStyle>
            <a:lvl1pPr algn="r">
              <a:defRPr sz="1200"/>
            </a:lvl1pPr>
          </a:lstStyle>
          <a:p>
            <a:fld id="{055B727A-A6C2-43F7-B160-2402E4C3B09C}" type="datetimeFigureOut">
              <a:rPr lang="en-US" smtClean="0"/>
              <a:t>6/7/2022</a:t>
            </a:fld>
            <a:endParaRPr lang="en-US" dirty="0"/>
          </a:p>
        </p:txBody>
      </p:sp>
      <p:sp>
        <p:nvSpPr>
          <p:cNvPr id="4" name="Slide Image Placeholder 3"/>
          <p:cNvSpPr>
            <a:spLocks noGrp="1" noRot="1" noChangeAspect="1"/>
          </p:cNvSpPr>
          <p:nvPr>
            <p:ph type="sldImg" idx="2"/>
          </p:nvPr>
        </p:nvSpPr>
        <p:spPr>
          <a:xfrm>
            <a:off x="422275" y="1239838"/>
            <a:ext cx="5953125" cy="3349625"/>
          </a:xfrm>
          <a:prstGeom prst="rect">
            <a:avLst/>
          </a:prstGeom>
          <a:noFill/>
          <a:ln w="12700">
            <a:solidFill>
              <a:prstClr val="black"/>
            </a:solidFill>
          </a:ln>
        </p:spPr>
      </p:sp>
      <p:sp>
        <p:nvSpPr>
          <p:cNvPr id="5" name="Notes Placeholder 4"/>
          <p:cNvSpPr>
            <a:spLocks noGrp="1"/>
          </p:cNvSpPr>
          <p:nvPr>
            <p:ph type="body" sz="quarter" idx="3"/>
          </p:nvPr>
        </p:nvSpPr>
        <p:spPr>
          <a:xfrm>
            <a:off x="679768" y="4777202"/>
            <a:ext cx="5438140" cy="3908614"/>
          </a:xfrm>
          <a:prstGeom prst="rect">
            <a:avLst/>
          </a:prstGeom>
        </p:spPr>
        <p:txBody>
          <a:bodyPr vert="horz" lIns="91426" tIns="45713" rIns="91426" bIns="4571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4" y="9428589"/>
            <a:ext cx="2945659" cy="498053"/>
          </a:xfrm>
          <a:prstGeom prst="rect">
            <a:avLst/>
          </a:prstGeom>
        </p:spPr>
        <p:txBody>
          <a:bodyPr vert="horz" lIns="91426" tIns="45713" rIns="91426" bIns="45713"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50445" y="9428589"/>
            <a:ext cx="2945659" cy="498053"/>
          </a:xfrm>
          <a:prstGeom prst="rect">
            <a:avLst/>
          </a:prstGeom>
        </p:spPr>
        <p:txBody>
          <a:bodyPr vert="horz" lIns="91426" tIns="45713" rIns="91426" bIns="45713" rtlCol="0" anchor="b"/>
          <a:lstStyle>
            <a:lvl1pPr algn="r">
              <a:defRPr sz="1200"/>
            </a:lvl1pPr>
          </a:lstStyle>
          <a:p>
            <a:fld id="{959ACFB9-F186-49C5-BAAE-4F331520327C}" type="slidenum">
              <a:rPr lang="en-US" smtClean="0"/>
              <a:t>‹#›</a:t>
            </a:fld>
            <a:endParaRPr lang="en-US" dirty="0"/>
          </a:p>
        </p:txBody>
      </p:sp>
    </p:spTree>
    <p:extLst>
      <p:ext uri="{BB962C8B-B14F-4D97-AF65-F5344CB8AC3E}">
        <p14:creationId xmlns:p14="http://schemas.microsoft.com/office/powerpoint/2010/main" val="3140668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9ACFB9-F186-49C5-BAAE-4F331520327C}" type="slidenum">
              <a:rPr lang="en-US" smtClean="0"/>
              <a:t>6</a:t>
            </a:fld>
            <a:endParaRPr lang="en-US" dirty="0"/>
          </a:p>
        </p:txBody>
      </p:sp>
    </p:spTree>
    <p:extLst>
      <p:ext uri="{BB962C8B-B14F-4D97-AF65-F5344CB8AC3E}">
        <p14:creationId xmlns:p14="http://schemas.microsoft.com/office/powerpoint/2010/main" val="30885995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4259">
              <a:defRPr/>
            </a:pPr>
            <a:r>
              <a:rPr lang="pt" dirty="0">
                <a:highlight>
                  <a:srgbClr val="000000">
                    <a:alpha val="0"/>
                  </a:srgbClr>
                </a:highlight>
                <a:latin typeface="Calibri"/>
              </a:rPr>
              <a:t>Desde o terceiro trimestre de 2021, o governo moçambicano tem vindo a rever a Estratégia Nacional de Desenvolvimento (ENDE) para 2015-2030.</a:t>
            </a:r>
          </a:p>
          <a:p>
            <a:pPr defTabSz="914259">
              <a:defRPr/>
            </a:pPr>
            <a:endParaRPr lang="en-US" dirty="0">
              <a:latin typeface="Calibri" pitchFamily="34" charset="0"/>
            </a:endParaRPr>
          </a:p>
          <a:p>
            <a:pPr algn="just" defTabSz="914259">
              <a:lnSpc>
                <a:spcPct val="90000"/>
              </a:lnSpc>
              <a:defRPr/>
            </a:pPr>
            <a:r>
              <a:rPr lang="pt" b="1" dirty="0">
                <a:solidFill>
                  <a:srgbClr val="000000"/>
                </a:solidFill>
                <a:highlight>
                  <a:srgbClr val="000000">
                    <a:alpha val="0"/>
                  </a:srgbClr>
                </a:highlight>
                <a:latin typeface="Calibri"/>
                <a:ea typeface="Times New Roman"/>
              </a:rPr>
              <a:t>O actual plano de desenvolvimento quinquenal é moldado em torno de três prioridades principais, três pilares e temas transversais. </a:t>
            </a:r>
          </a:p>
          <a:p>
            <a:pPr algn="just">
              <a:spcBef>
                <a:spcPts val="600"/>
              </a:spcBef>
              <a:defRPr/>
            </a:pPr>
            <a:r>
              <a:rPr lang="pt" dirty="0">
                <a:solidFill>
                  <a:srgbClr val="000000"/>
                </a:solidFill>
                <a:highlight>
                  <a:srgbClr val="000000">
                    <a:alpha val="0"/>
                  </a:srgbClr>
                </a:highlight>
                <a:latin typeface="Calibri"/>
                <a:ea typeface="Times New Roman"/>
              </a:rPr>
              <a:t>O PQG 2020 - 2024 é orientado por três prioridades: (i) crescimento económico, produtividade, e criação de emprego; (ii) desenvolvimento do capital humano e justiça social; e (iii) gestão sustentável dos recursos naturais e ambientais. </a:t>
            </a:r>
          </a:p>
          <a:p>
            <a:pPr algn="just">
              <a:spcBef>
                <a:spcPts val="600"/>
              </a:spcBef>
              <a:defRPr/>
            </a:pPr>
            <a:r>
              <a:rPr lang="pt" dirty="0">
                <a:solidFill>
                  <a:srgbClr val="000000"/>
                </a:solidFill>
                <a:highlight>
                  <a:srgbClr val="000000">
                    <a:alpha val="0"/>
                  </a:srgbClr>
                </a:highlight>
                <a:latin typeface="Calibri"/>
                <a:ea typeface="Times New Roman"/>
              </a:rPr>
              <a:t>Além disso, o programa é sustentado por três pilares: (i) democracia e coesão social, (ii) boa governação e descentralização; e (iii) cooperação internacional. </a:t>
            </a:r>
          </a:p>
          <a:p>
            <a:pPr algn="just">
              <a:spcBef>
                <a:spcPts val="600"/>
              </a:spcBef>
              <a:defRPr/>
            </a:pPr>
            <a:r>
              <a:rPr lang="pt" dirty="0">
                <a:solidFill>
                  <a:srgbClr val="000000"/>
                </a:solidFill>
                <a:highlight>
                  <a:srgbClr val="000000">
                    <a:alpha val="0"/>
                  </a:srgbClr>
                </a:highlight>
                <a:latin typeface="Calibri"/>
                <a:ea typeface="Times New Roman"/>
              </a:rPr>
              <a:t>Por último, o PQG 2020-2024 presta especial atenção aos temas transversais: (a) jovens, mulheres e antigos combatentes; b) habitação e emprego; e c) agricultura, industrialização, e turismo como centrais para a modernização da economia. </a:t>
            </a:r>
          </a:p>
          <a:p>
            <a:pPr algn="just">
              <a:spcBef>
                <a:spcPts val="600"/>
              </a:spcBef>
              <a:defRPr/>
            </a:pPr>
            <a:r>
              <a:rPr lang="pt" dirty="0">
                <a:solidFill>
                  <a:srgbClr val="000000"/>
                </a:solidFill>
                <a:highlight>
                  <a:srgbClr val="000000">
                    <a:alpha val="0"/>
                  </a:srgbClr>
                </a:highlight>
                <a:latin typeface="Calibri"/>
                <a:ea typeface="Times New Roman"/>
              </a:rPr>
              <a:t>O Programa também articula, os objectivos de alcançar o acesso universal até 2030 e o posicionamento de Moçambique como um centro regional de electricidade. </a:t>
            </a:r>
          </a:p>
          <a:p>
            <a:pPr algn="just">
              <a:spcBef>
                <a:spcPts val="600"/>
              </a:spcBef>
              <a:defRPr/>
            </a:pPr>
            <a:endParaRPr lang="en-US" dirty="0">
              <a:solidFill>
                <a:prstClr val="black"/>
              </a:solidFill>
              <a:latin typeface="Calibri" pitchFamily="34" charset="0"/>
              <a:ea typeface="Times New Roman" panose="02020603050405020304" pitchFamily="18" charset="0"/>
            </a:endParaRPr>
          </a:p>
          <a:p>
            <a:pPr algn="just" rtl="0">
              <a:lnSpc>
                <a:spcPct val="90000"/>
              </a:lnSpc>
              <a:defRPr/>
            </a:pPr>
            <a:r>
              <a:rPr lang="pt" b="1" dirty="0">
                <a:highlight>
                  <a:srgbClr val="000000">
                    <a:alpha val="0"/>
                  </a:srgbClr>
                </a:highlight>
                <a:latin typeface="Calibri"/>
                <a:cs typeface="Calibri"/>
              </a:rPr>
              <a:t>O Governo desenvolveu uma Estratégia de Prevenção de Conflitos e Violência, como parte do processo de assegurar a elegibilidade para a Alocação de Prevenção e Resiliência (PRA, Prevention and Resilience Allocation) ao abrigo do IDA19.</a:t>
            </a:r>
            <a:endParaRPr lang="en-US" dirty="0">
              <a:latin typeface="Calibri"/>
              <a:cs typeface="Calibri"/>
            </a:endParaRPr>
          </a:p>
          <a:p>
            <a:pPr algn="just">
              <a:lnSpc>
                <a:spcPct val="90000"/>
              </a:lnSpc>
              <a:defRPr/>
            </a:pPr>
            <a:endParaRPr lang="en-US" dirty="0">
              <a:solidFill>
                <a:prstClr val="black"/>
              </a:solidFill>
              <a:latin typeface="Calibri" pitchFamily="34" charset="0"/>
            </a:endParaRPr>
          </a:p>
          <a:p>
            <a:pPr marL="285706" indent="-285706" algn="just">
              <a:lnSpc>
                <a:spcPct val="90000"/>
              </a:lnSpc>
              <a:buFont typeface="Arial" panose="020B0604020202020204" pitchFamily="34" charset="0"/>
              <a:buChar char="•"/>
              <a:defRPr/>
            </a:pPr>
            <a:r>
              <a:rPr lang="pt" dirty="0">
                <a:highlight>
                  <a:srgbClr val="000000">
                    <a:alpha val="0"/>
                  </a:srgbClr>
                </a:highlight>
                <a:latin typeface="Calibri"/>
                <a:cs typeface="Calibri"/>
              </a:rPr>
              <a:t>O objectivo desta Estratégia era delinear uma abordagem para o desenvolvimento da coesão nacional, abordando ao mesmo tempo algumas das principais queixas que têm estado no centro dos surtos e da recorrência de conflitos desde a independência. </a:t>
            </a:r>
            <a:endParaRPr lang="en-US" dirty="0">
              <a:latin typeface="Calibri" pitchFamily="34" charset="0"/>
              <a:cs typeface="Calibri"/>
            </a:endParaRPr>
          </a:p>
          <a:p>
            <a:pPr marL="285706" indent="-285706" algn="just">
              <a:lnSpc>
                <a:spcPct val="90000"/>
              </a:lnSpc>
              <a:buFont typeface="Arial" panose="020B0604020202020204" pitchFamily="34" charset="0"/>
              <a:buChar char="•"/>
              <a:defRPr/>
            </a:pPr>
            <a:endParaRPr lang="en-US" dirty="0">
              <a:solidFill>
                <a:prstClr val="black"/>
              </a:solidFill>
              <a:latin typeface="Calibri" panose="020F0502020204030204" pitchFamily="34" charset="0"/>
            </a:endParaRPr>
          </a:p>
          <a:p>
            <a:pPr marL="285706" indent="-285706" algn="just">
              <a:lnSpc>
                <a:spcPct val="90000"/>
              </a:lnSpc>
              <a:buFont typeface="Arial" panose="020B0604020202020204" pitchFamily="34" charset="0"/>
              <a:buChar char="•"/>
              <a:defRPr/>
            </a:pPr>
            <a:r>
              <a:rPr lang="pt" dirty="0">
                <a:highlight>
                  <a:srgbClr val="000000">
                    <a:alpha val="0"/>
                  </a:srgbClr>
                </a:highlight>
                <a:latin typeface="Calibri"/>
                <a:cs typeface="Calibri"/>
              </a:rPr>
              <a:t>Associado a esta Estratégia, o Governo também articulou um quadro de monitoria para a prevenção e a resiliência, compreendendo uma série de marcos que decorrem entre o AF21 e o AF23 que procuram abordar os principais desafios da fragilidade em todo o país. </a:t>
            </a:r>
            <a:endParaRPr lang="en-US" dirty="0">
              <a:latin typeface="Calibri" panose="020F0502020204030204" pitchFamily="34" charset="0"/>
              <a:cs typeface="Calibri"/>
            </a:endParaRPr>
          </a:p>
          <a:p>
            <a:pPr marL="285706" indent="-285706" algn="just">
              <a:lnSpc>
                <a:spcPct val="90000"/>
              </a:lnSpc>
              <a:buFont typeface="Arial" panose="020B0604020202020204" pitchFamily="34" charset="0"/>
              <a:buChar char="•"/>
              <a:defRPr/>
            </a:pPr>
            <a:endParaRPr lang="en-US" dirty="0">
              <a:solidFill>
                <a:prstClr val="black"/>
              </a:solidFill>
              <a:latin typeface="Calibri" panose="020F0502020204030204" pitchFamily="34" charset="0"/>
            </a:endParaRPr>
          </a:p>
          <a:p>
            <a:pPr marL="285706" indent="-285706" algn="just">
              <a:lnSpc>
                <a:spcPct val="90000"/>
              </a:lnSpc>
              <a:buFont typeface="Arial" panose="020B0604020202020204" pitchFamily="34" charset="0"/>
              <a:buChar char="•"/>
              <a:defRPr/>
            </a:pPr>
            <a:r>
              <a:rPr lang="pt" dirty="0">
                <a:highlight>
                  <a:srgbClr val="000000">
                    <a:alpha val="0"/>
                  </a:srgbClr>
                </a:highlight>
                <a:latin typeface="Calibri"/>
                <a:cs typeface="Calibri"/>
              </a:rPr>
              <a:t>Moçambique tornou-se o terceiro país a assegurar a elegibilidade para a PRA em Março de 2021, o que permitiu ao Governo ter acesso a um reforço do financiamento para evitar o início, a recorrência e a escalada de conflitos violentos. </a:t>
            </a:r>
          </a:p>
          <a:p>
            <a:pPr algn="just">
              <a:lnSpc>
                <a:spcPct val="90000"/>
              </a:lnSpc>
              <a:defRPr/>
            </a:pPr>
            <a:endParaRPr lang="en-US" dirty="0">
              <a:latin typeface="Calibri" panose="020F0502020204030204"/>
              <a:cs typeface="Calibri"/>
            </a:endParaRPr>
          </a:p>
          <a:p>
            <a:pPr marL="285706" indent="-285706" algn="just">
              <a:lnSpc>
                <a:spcPct val="90000"/>
              </a:lnSpc>
              <a:buFont typeface="Arial" panose="020B0604020202020204" pitchFamily="34" charset="0"/>
              <a:buChar char="•"/>
              <a:defRPr/>
            </a:pPr>
            <a:r>
              <a:rPr lang="pt" dirty="0">
                <a:highlight>
                  <a:srgbClr val="000000">
                    <a:alpha val="0"/>
                  </a:srgbClr>
                </a:highlight>
                <a:latin typeface="Calibri"/>
                <a:cs typeface="Calibri"/>
              </a:rPr>
              <a:t>Como parte do diálogo em torno da PRA o Governo solicitou apoio para a formulação da sua Estratégia Integrada de Desenvolvimento e Resiliência para o Norte.</a:t>
            </a:r>
          </a:p>
          <a:p>
            <a:pPr algn="just">
              <a:spcBef>
                <a:spcPts val="600"/>
              </a:spcBef>
              <a:defRPr/>
            </a:pPr>
            <a:endParaRPr lang="en-US" dirty="0">
              <a:solidFill>
                <a:prstClr val="black"/>
              </a:solidFill>
              <a:latin typeface="Calibri" panose="020F0502020204030204" pitchFamily="34" charset="0"/>
              <a:ea typeface="Times New Roman" panose="02020603050405020304" pitchFamily="18" charset="0"/>
            </a:endParaRPr>
          </a:p>
          <a:p>
            <a:pPr defTabSz="914259">
              <a:defRPr/>
            </a:pPr>
            <a:endParaRPr lang="en-US" dirty="0">
              <a:latin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959ACFB9-F186-49C5-BAAE-4F331520327C}" type="slidenum">
              <a:rPr lang="en-US" smtClean="0"/>
              <a:t>15</a:t>
            </a:fld>
            <a:endParaRPr lang="en-US"/>
          </a:p>
        </p:txBody>
      </p:sp>
    </p:spTree>
    <p:extLst>
      <p:ext uri="{BB962C8B-B14F-4D97-AF65-F5344CB8AC3E}">
        <p14:creationId xmlns:p14="http://schemas.microsoft.com/office/powerpoint/2010/main" val="2571206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959ACFB9-F186-49C5-BAAE-4F331520327C}" type="slidenum">
              <a:rPr lang="en-US" smtClean="0"/>
              <a:t>23</a:t>
            </a:fld>
            <a:endParaRPr lang="en-US"/>
          </a:p>
        </p:txBody>
      </p:sp>
    </p:spTree>
    <p:extLst>
      <p:ext uri="{BB962C8B-B14F-4D97-AF65-F5344CB8AC3E}">
        <p14:creationId xmlns:p14="http://schemas.microsoft.com/office/powerpoint/2010/main" val="14115616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nSpc>
                <a:spcPct val="10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pt-BR" dirty="0"/>
          </a:p>
        </p:txBody>
      </p:sp>
      <p:sp>
        <p:nvSpPr>
          <p:cNvPr id="4" name="Slide Number Placeholder 3"/>
          <p:cNvSpPr>
            <a:spLocks noGrp="1"/>
          </p:cNvSpPr>
          <p:nvPr>
            <p:ph type="sldNum" sz="quarter" idx="5"/>
          </p:nvPr>
        </p:nvSpPr>
        <p:spPr/>
        <p:txBody>
          <a:bodyPr/>
          <a:lstStyle/>
          <a:p>
            <a:fld id="{959ACFB9-F186-49C5-BAAE-4F331520327C}" type="slidenum">
              <a:rPr lang="en-US" smtClean="0"/>
              <a:t>24</a:t>
            </a:fld>
            <a:endParaRPr lang="en-US"/>
          </a:p>
        </p:txBody>
      </p:sp>
    </p:spTree>
    <p:extLst>
      <p:ext uri="{BB962C8B-B14F-4D97-AF65-F5344CB8AC3E}">
        <p14:creationId xmlns:p14="http://schemas.microsoft.com/office/powerpoint/2010/main" val="1496593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959ACFB9-F186-49C5-BAAE-4F331520327C}" type="slidenum">
              <a:rPr lang="en-US" smtClean="0"/>
              <a:t>25</a:t>
            </a:fld>
            <a:endParaRPr lang="en-US"/>
          </a:p>
        </p:txBody>
      </p:sp>
    </p:spTree>
    <p:extLst>
      <p:ext uri="{BB962C8B-B14F-4D97-AF65-F5344CB8AC3E}">
        <p14:creationId xmlns:p14="http://schemas.microsoft.com/office/powerpoint/2010/main" val="1610400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A0981-943C-4992-B149-9C63154546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135F9E7-E9BF-4016-B324-B6A646CDAF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38B3994-86FB-4F29-9C45-09B27D9BF43F}"/>
              </a:ext>
            </a:extLst>
          </p:cNvPr>
          <p:cNvSpPr>
            <a:spLocks noGrp="1"/>
          </p:cNvSpPr>
          <p:nvPr>
            <p:ph type="dt" sz="half" idx="10"/>
          </p:nvPr>
        </p:nvSpPr>
        <p:spPr/>
        <p:txBody>
          <a:bodyPr/>
          <a:lstStyle/>
          <a:p>
            <a:r>
              <a:rPr lang="en-US"/>
              <a:t>3/1/2022</a:t>
            </a:r>
            <a:endParaRPr lang="en-US" dirty="0"/>
          </a:p>
        </p:txBody>
      </p:sp>
      <p:sp>
        <p:nvSpPr>
          <p:cNvPr id="5" name="Footer Placeholder 4">
            <a:extLst>
              <a:ext uri="{FF2B5EF4-FFF2-40B4-BE49-F238E27FC236}">
                <a16:creationId xmlns:a16="http://schemas.microsoft.com/office/drawing/2014/main" id="{35F1EF73-4840-48FC-9630-B433A9F908A2}"/>
              </a:ext>
            </a:extLst>
          </p:cNvPr>
          <p:cNvSpPr>
            <a:spLocks noGrp="1"/>
          </p:cNvSpPr>
          <p:nvPr>
            <p:ph type="ftr" sz="quarter" idx="11"/>
          </p:nvPr>
        </p:nvSpPr>
        <p:spPr/>
        <p:txBody>
          <a:bodyPr/>
          <a:lstStyle/>
          <a:p>
            <a:r>
              <a:rPr lang="en-US"/>
              <a:t>CPF 2023-2027. Public Version. Maputo, May 2022.</a:t>
            </a:r>
            <a:endParaRPr lang="en-US" dirty="0"/>
          </a:p>
        </p:txBody>
      </p:sp>
      <p:sp>
        <p:nvSpPr>
          <p:cNvPr id="6" name="Slide Number Placeholder 5">
            <a:extLst>
              <a:ext uri="{FF2B5EF4-FFF2-40B4-BE49-F238E27FC236}">
                <a16:creationId xmlns:a16="http://schemas.microsoft.com/office/drawing/2014/main" id="{D4EFB3C5-81C6-4829-BAC3-420F2F492BEA}"/>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267712704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E4F2B-05FF-445D-98BD-7B90CF93E0FC}"/>
              </a:ext>
            </a:extLst>
          </p:cNvPr>
          <p:cNvSpPr>
            <a:spLocks noGrp="1"/>
          </p:cNvSpPr>
          <p:nvPr>
            <p:ph type="title"/>
          </p:nvPr>
        </p:nvSpPr>
        <p:spPr/>
        <p:txBody>
          <a:bodyPr>
            <a:normAutofit/>
          </a:bodyPr>
          <a:lstStyle>
            <a:lvl1pPr>
              <a:defRPr lang="en-US" sz="2300" b="1" kern="1200">
                <a:solidFill>
                  <a:schemeClr val="accent1">
                    <a:lumMod val="75000"/>
                  </a:schemeClr>
                </a:solidFill>
                <a:latin typeface="Arial"/>
                <a:ea typeface="+mj-ea"/>
                <a:cs typeface="Arial"/>
              </a:defRPr>
            </a:lvl1pPr>
          </a:lstStyle>
          <a:p>
            <a:r>
              <a:rPr lang="en-US"/>
              <a:t>Click to edit Master title style</a:t>
            </a:r>
          </a:p>
        </p:txBody>
      </p:sp>
      <p:sp>
        <p:nvSpPr>
          <p:cNvPr id="3" name="Content Placeholder 2">
            <a:extLst>
              <a:ext uri="{FF2B5EF4-FFF2-40B4-BE49-F238E27FC236}">
                <a16:creationId xmlns:a16="http://schemas.microsoft.com/office/drawing/2014/main" id="{BB87B212-47F3-4A5B-A949-19A7F167572C}"/>
              </a:ext>
            </a:extLst>
          </p:cNvPr>
          <p:cNvSpPr>
            <a:spLocks noGrp="1"/>
          </p:cNvSpPr>
          <p:nvPr>
            <p:ph idx="1"/>
          </p:nvPr>
        </p:nvSpPr>
        <p:spPr/>
        <p:txBody>
          <a:bodyPr/>
          <a:lstStyle>
            <a:lvl1pPr>
              <a:defRPr lang="en-US" sz="1400" kern="1200">
                <a:solidFill>
                  <a:schemeClr val="tx1"/>
                </a:solidFill>
                <a:latin typeface="Arial" panose="020B0604020202020204" pitchFamily="34" charset="0"/>
                <a:ea typeface="+mn-ea"/>
                <a:cs typeface="Arial" panose="020B0604020202020204" pitchFamily="34" charset="0"/>
              </a:defRPr>
            </a:lvl1pPr>
            <a:lvl2pPr marL="228600" indent="-228600">
              <a:defRPr sz="1200">
                <a:latin typeface="Arial" panose="020B0604020202020204" pitchFamily="34" charset="0"/>
                <a:cs typeface="Arial" panose="020B0604020202020204" pitchFamily="34" charset="0"/>
              </a:defRPr>
            </a:lvl2pPr>
            <a:lvl3pPr marL="228600" indent="-228600">
              <a:defRPr sz="1100">
                <a:latin typeface="Arial" panose="020B0604020202020204" pitchFamily="34" charset="0"/>
                <a:cs typeface="Arial" panose="020B0604020202020204" pitchFamily="34" charset="0"/>
              </a:defRPr>
            </a:lvl3pPr>
          </a:lstStyle>
          <a:p>
            <a:pPr lvl="0"/>
            <a:r>
              <a:rPr lang="en-US"/>
              <a:t>Click to edit Master text styles</a:t>
            </a:r>
          </a:p>
          <a:p>
            <a:pPr marL="228600" marR="0" lvl="0" indent="-228600" algn="l" defTabSz="914400" rtl="0" eaLnBrk="1" fontAlgn="auto" latinLnBrk="0" hangingPunct="1">
              <a:lnSpc>
                <a:spcPct val="90000"/>
              </a:lnSpc>
              <a:spcBef>
                <a:spcPts val="1000"/>
              </a:spcBef>
              <a:spcAft>
                <a:spcPct val="0"/>
              </a:spcAft>
              <a:buClrTx/>
              <a:buSzTx/>
              <a:buFont typeface="Arial" panose="020B0604020202020204" pitchFamily="34" charset="0"/>
              <a:buChar char="•"/>
              <a:defRPr/>
            </a:pPr>
            <a:r>
              <a:rPr lang="en-US"/>
              <a:t>Second level</a:t>
            </a:r>
            <a:r>
              <a:rPr lang="en-US" b="1" i="0">
                <a:solidFill>
                  <a:srgbClr val="030303"/>
                </a:solidFill>
                <a:effectLst/>
                <a:latin typeface="YouTube Sans"/>
              </a:rPr>
              <a:t> owerPoint: Changing the font of all slides at once</a:t>
            </a:r>
          </a:p>
          <a:p>
            <a:pPr marL="228600" lvl="0" indent="-228600" algn="l" defTabSz="914400" rtl="0" eaLnBrk="1" latinLnBrk="0" hangingPunct="1">
              <a:lnSpc>
                <a:spcPct val="90000"/>
              </a:lnSpc>
              <a:spcBef>
                <a:spcPts val="1000"/>
              </a:spcBef>
              <a:buFont typeface="Arial" panose="020B0604020202020204" pitchFamily="34" charset="0"/>
              <a:buChar char="•"/>
            </a:pPr>
            <a:endParaRPr lang="en-US"/>
          </a:p>
          <a:p>
            <a:pPr marL="228600" lvl="0" indent="-228600" algn="l" defTabSz="914400" rtl="0" eaLnBrk="1" latinLnBrk="0" hangingPunct="1">
              <a:lnSpc>
                <a:spcPct val="90000"/>
              </a:lnSpc>
              <a:spcBef>
                <a:spcPts val="1000"/>
              </a:spcBef>
              <a:buFont typeface="Arial" panose="020B0604020202020204" pitchFamily="34" charset="0"/>
              <a:buChar char="•"/>
            </a:pPr>
            <a:r>
              <a:rPr lang="en-US"/>
              <a:t>Third level</a:t>
            </a:r>
          </a:p>
        </p:txBody>
      </p:sp>
      <p:sp>
        <p:nvSpPr>
          <p:cNvPr id="4" name="Date Placeholder 3">
            <a:extLst>
              <a:ext uri="{FF2B5EF4-FFF2-40B4-BE49-F238E27FC236}">
                <a16:creationId xmlns:a16="http://schemas.microsoft.com/office/drawing/2014/main" id="{6CC95B8F-D1C2-401F-BD84-8DDECCBA8092}"/>
              </a:ext>
            </a:extLst>
          </p:cNvPr>
          <p:cNvSpPr>
            <a:spLocks noGrp="1"/>
          </p:cNvSpPr>
          <p:nvPr>
            <p:ph type="dt" sz="half" idx="10"/>
          </p:nvPr>
        </p:nvSpPr>
        <p:spPr/>
        <p:txBody>
          <a:bodyPr/>
          <a:lstStyle/>
          <a:p>
            <a:r>
              <a:rPr lang="en-US"/>
              <a:t>3/1/2022</a:t>
            </a:r>
            <a:endParaRPr lang="en-US" dirty="0"/>
          </a:p>
        </p:txBody>
      </p:sp>
      <p:sp>
        <p:nvSpPr>
          <p:cNvPr id="5" name="Footer Placeholder 4">
            <a:extLst>
              <a:ext uri="{FF2B5EF4-FFF2-40B4-BE49-F238E27FC236}">
                <a16:creationId xmlns:a16="http://schemas.microsoft.com/office/drawing/2014/main" id="{3367B9EA-B7E1-4EF8-A46E-2E8CFE0B0FC8}"/>
              </a:ext>
            </a:extLst>
          </p:cNvPr>
          <p:cNvSpPr>
            <a:spLocks noGrp="1"/>
          </p:cNvSpPr>
          <p:nvPr>
            <p:ph type="ftr" sz="quarter" idx="11"/>
          </p:nvPr>
        </p:nvSpPr>
        <p:spPr/>
        <p:txBody>
          <a:bodyPr/>
          <a:lstStyle/>
          <a:p>
            <a:r>
              <a:rPr lang="en-US"/>
              <a:t>CPF 2023-2027. Public Version. Maputo, May 2022.</a:t>
            </a:r>
            <a:endParaRPr lang="en-US" dirty="0"/>
          </a:p>
        </p:txBody>
      </p:sp>
      <p:sp>
        <p:nvSpPr>
          <p:cNvPr id="6" name="Slide Number Placeholder 5">
            <a:extLst>
              <a:ext uri="{FF2B5EF4-FFF2-40B4-BE49-F238E27FC236}">
                <a16:creationId xmlns:a16="http://schemas.microsoft.com/office/drawing/2014/main" id="{A8183F10-E48C-4566-BC2B-FF2F486A6998}"/>
              </a:ext>
            </a:extLst>
          </p:cNvPr>
          <p:cNvSpPr>
            <a:spLocks noGrp="1"/>
          </p:cNvSpPr>
          <p:nvPr>
            <p:ph type="sldNum" sz="quarter" idx="12"/>
          </p:nvPr>
        </p:nvSpPr>
        <p:spPr/>
        <p:txBody>
          <a:bodyPr/>
          <a:lstStyle>
            <a:lvl1pPr>
              <a:defRPr sz="1200"/>
            </a:lvl1pPr>
          </a:lstStyle>
          <a:p>
            <a:fld id="{B8473C9A-9E91-4025-B5E2-D7B202510636}" type="slidenum">
              <a:rPr lang="en-US" smtClean="0"/>
              <a:t>‹#›</a:t>
            </a:fld>
            <a:endParaRPr lang="en-US" dirty="0"/>
          </a:p>
        </p:txBody>
      </p:sp>
    </p:spTree>
    <p:extLst>
      <p:ext uri="{BB962C8B-B14F-4D97-AF65-F5344CB8AC3E}">
        <p14:creationId xmlns:p14="http://schemas.microsoft.com/office/powerpoint/2010/main" val="394048727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04923-E02C-4624-A21A-65B68F28C343}"/>
              </a:ext>
            </a:extLst>
          </p:cNvPr>
          <p:cNvSpPr>
            <a:spLocks noGrp="1"/>
          </p:cNvSpPr>
          <p:nvPr>
            <p:ph type="title"/>
          </p:nvPr>
        </p:nvSpPr>
        <p:spPr>
          <a:xfrm>
            <a:off x="831850" y="1709738"/>
            <a:ext cx="10515600" cy="2852737"/>
          </a:xfrm>
        </p:spPr>
        <p:txBody>
          <a:bodyPr anchor="ctr" anchorCtr="0"/>
          <a:lstStyle>
            <a:lvl1pPr algn="ctr">
              <a:defRPr sz="6000"/>
            </a:lvl1pPr>
          </a:lstStyle>
          <a:p>
            <a:r>
              <a:rPr lang="en-US"/>
              <a:t>Click to edit Master title style</a:t>
            </a:r>
          </a:p>
        </p:txBody>
      </p:sp>
      <p:sp>
        <p:nvSpPr>
          <p:cNvPr id="3" name="Text Placeholder 2">
            <a:extLst>
              <a:ext uri="{FF2B5EF4-FFF2-40B4-BE49-F238E27FC236}">
                <a16:creationId xmlns:a16="http://schemas.microsoft.com/office/drawing/2014/main" id="{9DAE0A33-1BB3-4E42-B621-A472B874EA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76DB44-0DB5-40B5-BA14-1EDA86A4D24B}"/>
              </a:ext>
            </a:extLst>
          </p:cNvPr>
          <p:cNvSpPr>
            <a:spLocks noGrp="1"/>
          </p:cNvSpPr>
          <p:nvPr>
            <p:ph type="dt" sz="half" idx="10"/>
          </p:nvPr>
        </p:nvSpPr>
        <p:spPr/>
        <p:txBody>
          <a:bodyPr/>
          <a:lstStyle/>
          <a:p>
            <a:r>
              <a:rPr lang="en-US"/>
              <a:t>3/1/2022</a:t>
            </a:r>
            <a:endParaRPr lang="en-US" dirty="0"/>
          </a:p>
        </p:txBody>
      </p:sp>
      <p:sp>
        <p:nvSpPr>
          <p:cNvPr id="5" name="Footer Placeholder 4">
            <a:extLst>
              <a:ext uri="{FF2B5EF4-FFF2-40B4-BE49-F238E27FC236}">
                <a16:creationId xmlns:a16="http://schemas.microsoft.com/office/drawing/2014/main" id="{55AA5C62-6202-4358-AC75-4E0415B24F7B}"/>
              </a:ext>
            </a:extLst>
          </p:cNvPr>
          <p:cNvSpPr>
            <a:spLocks noGrp="1"/>
          </p:cNvSpPr>
          <p:nvPr>
            <p:ph type="ftr" sz="quarter" idx="11"/>
          </p:nvPr>
        </p:nvSpPr>
        <p:spPr/>
        <p:txBody>
          <a:bodyPr/>
          <a:lstStyle/>
          <a:p>
            <a:r>
              <a:rPr lang="en-US"/>
              <a:t>CPF 2023-2027. Public Version. Maputo, May 2022.</a:t>
            </a:r>
            <a:endParaRPr lang="en-US" dirty="0"/>
          </a:p>
        </p:txBody>
      </p:sp>
      <p:sp>
        <p:nvSpPr>
          <p:cNvPr id="6" name="Slide Number Placeholder 5">
            <a:extLst>
              <a:ext uri="{FF2B5EF4-FFF2-40B4-BE49-F238E27FC236}">
                <a16:creationId xmlns:a16="http://schemas.microsoft.com/office/drawing/2014/main" id="{DED24AA5-8997-4524-A317-F3333E4AAC4B}"/>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353839300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D9D26-49ED-4CF7-B672-8637E4AD5E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43621A-9D07-4DF4-9D5A-48B41E7955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B0EFF8-B574-4682-B3A9-AA6161FFE7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9C375E7-1F3E-4EF7-B071-48DF4593E1E2}"/>
              </a:ext>
            </a:extLst>
          </p:cNvPr>
          <p:cNvSpPr>
            <a:spLocks noGrp="1"/>
          </p:cNvSpPr>
          <p:nvPr>
            <p:ph type="dt" sz="half" idx="10"/>
          </p:nvPr>
        </p:nvSpPr>
        <p:spPr/>
        <p:txBody>
          <a:bodyPr/>
          <a:lstStyle/>
          <a:p>
            <a:r>
              <a:rPr lang="en-US"/>
              <a:t>3/1/2022</a:t>
            </a:r>
            <a:endParaRPr lang="en-US" dirty="0"/>
          </a:p>
        </p:txBody>
      </p:sp>
      <p:sp>
        <p:nvSpPr>
          <p:cNvPr id="6" name="Footer Placeholder 5">
            <a:extLst>
              <a:ext uri="{FF2B5EF4-FFF2-40B4-BE49-F238E27FC236}">
                <a16:creationId xmlns:a16="http://schemas.microsoft.com/office/drawing/2014/main" id="{A8096E2A-D6F0-42E1-93F5-D99EDE9CF8F7}"/>
              </a:ext>
            </a:extLst>
          </p:cNvPr>
          <p:cNvSpPr>
            <a:spLocks noGrp="1"/>
          </p:cNvSpPr>
          <p:nvPr>
            <p:ph type="ftr" sz="quarter" idx="11"/>
          </p:nvPr>
        </p:nvSpPr>
        <p:spPr/>
        <p:txBody>
          <a:bodyPr/>
          <a:lstStyle/>
          <a:p>
            <a:r>
              <a:rPr lang="en-US"/>
              <a:t>CPF 2023-2027. Public Version. Maputo, May 2022.</a:t>
            </a:r>
            <a:endParaRPr lang="en-US" dirty="0"/>
          </a:p>
        </p:txBody>
      </p:sp>
      <p:sp>
        <p:nvSpPr>
          <p:cNvPr id="7" name="Slide Number Placeholder 6">
            <a:extLst>
              <a:ext uri="{FF2B5EF4-FFF2-40B4-BE49-F238E27FC236}">
                <a16:creationId xmlns:a16="http://schemas.microsoft.com/office/drawing/2014/main" id="{F3C9BC91-D20F-4D2A-ACDC-D462531E7E32}"/>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133866311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CCE41-EFB1-46F9-8C61-340395BFD3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886AD4D-5D04-485B-BBDF-BC3CA5A179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C38865-AD92-4EF6-8AC6-2D3C28823F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1AF0F8-46DF-422B-8C36-DFEB6BFB41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F8E853-9A78-4653-AF85-F954C3714E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91138F-1A14-4A55-8651-B0A6BBE21A45}"/>
              </a:ext>
            </a:extLst>
          </p:cNvPr>
          <p:cNvSpPr>
            <a:spLocks noGrp="1"/>
          </p:cNvSpPr>
          <p:nvPr>
            <p:ph type="dt" sz="half" idx="10"/>
          </p:nvPr>
        </p:nvSpPr>
        <p:spPr/>
        <p:txBody>
          <a:bodyPr/>
          <a:lstStyle/>
          <a:p>
            <a:r>
              <a:rPr lang="en-US"/>
              <a:t>3/1/2022</a:t>
            </a:r>
            <a:endParaRPr lang="en-US" dirty="0"/>
          </a:p>
        </p:txBody>
      </p:sp>
      <p:sp>
        <p:nvSpPr>
          <p:cNvPr id="8" name="Footer Placeholder 7">
            <a:extLst>
              <a:ext uri="{FF2B5EF4-FFF2-40B4-BE49-F238E27FC236}">
                <a16:creationId xmlns:a16="http://schemas.microsoft.com/office/drawing/2014/main" id="{6E29D1E1-3806-4AFD-A62F-2206BB742E6A}"/>
              </a:ext>
            </a:extLst>
          </p:cNvPr>
          <p:cNvSpPr>
            <a:spLocks noGrp="1"/>
          </p:cNvSpPr>
          <p:nvPr>
            <p:ph type="ftr" sz="quarter" idx="11"/>
          </p:nvPr>
        </p:nvSpPr>
        <p:spPr/>
        <p:txBody>
          <a:bodyPr/>
          <a:lstStyle/>
          <a:p>
            <a:r>
              <a:rPr lang="en-US"/>
              <a:t>CPF 2023-2027. Public Version. Maputo, May 2022.</a:t>
            </a:r>
            <a:endParaRPr lang="en-US" dirty="0"/>
          </a:p>
        </p:txBody>
      </p:sp>
      <p:sp>
        <p:nvSpPr>
          <p:cNvPr id="9" name="Slide Number Placeholder 8">
            <a:extLst>
              <a:ext uri="{FF2B5EF4-FFF2-40B4-BE49-F238E27FC236}">
                <a16:creationId xmlns:a16="http://schemas.microsoft.com/office/drawing/2014/main" id="{A5E3FB99-8FE9-4D09-8A4F-12CF1277B750}"/>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3128242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1D9C5-5AA6-4565-BCC7-41B79AC8DB9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C5F545B-A0EE-43AE-A42B-5A8CB9C82F1A}"/>
              </a:ext>
            </a:extLst>
          </p:cNvPr>
          <p:cNvSpPr>
            <a:spLocks noGrp="1"/>
          </p:cNvSpPr>
          <p:nvPr>
            <p:ph type="dt" sz="half" idx="10"/>
          </p:nvPr>
        </p:nvSpPr>
        <p:spPr/>
        <p:txBody>
          <a:bodyPr/>
          <a:lstStyle/>
          <a:p>
            <a:r>
              <a:rPr lang="en-US"/>
              <a:t>3/1/2022</a:t>
            </a:r>
            <a:endParaRPr lang="en-US" dirty="0"/>
          </a:p>
        </p:txBody>
      </p:sp>
      <p:sp>
        <p:nvSpPr>
          <p:cNvPr id="4" name="Footer Placeholder 3">
            <a:extLst>
              <a:ext uri="{FF2B5EF4-FFF2-40B4-BE49-F238E27FC236}">
                <a16:creationId xmlns:a16="http://schemas.microsoft.com/office/drawing/2014/main" id="{107FCC15-8266-4DE3-B290-D16AFE7F7167}"/>
              </a:ext>
            </a:extLst>
          </p:cNvPr>
          <p:cNvSpPr>
            <a:spLocks noGrp="1"/>
          </p:cNvSpPr>
          <p:nvPr>
            <p:ph type="ftr" sz="quarter" idx="11"/>
          </p:nvPr>
        </p:nvSpPr>
        <p:spPr/>
        <p:txBody>
          <a:bodyPr/>
          <a:lstStyle/>
          <a:p>
            <a:r>
              <a:rPr lang="en-US"/>
              <a:t>CPF 2023-2027. Public Version. Maputo, May 2022.</a:t>
            </a:r>
            <a:endParaRPr lang="en-US" dirty="0"/>
          </a:p>
        </p:txBody>
      </p:sp>
      <p:sp>
        <p:nvSpPr>
          <p:cNvPr id="5" name="Slide Number Placeholder 4">
            <a:extLst>
              <a:ext uri="{FF2B5EF4-FFF2-40B4-BE49-F238E27FC236}">
                <a16:creationId xmlns:a16="http://schemas.microsoft.com/office/drawing/2014/main" id="{CEFA89CF-916B-4108-9529-CE8B895436F5}"/>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68770266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218153-E68F-4442-824A-844A7D495AA3}"/>
              </a:ext>
            </a:extLst>
          </p:cNvPr>
          <p:cNvSpPr>
            <a:spLocks noGrp="1"/>
          </p:cNvSpPr>
          <p:nvPr>
            <p:ph type="dt" sz="half" idx="10"/>
          </p:nvPr>
        </p:nvSpPr>
        <p:spPr/>
        <p:txBody>
          <a:bodyPr/>
          <a:lstStyle/>
          <a:p>
            <a:r>
              <a:rPr lang="en-US"/>
              <a:t>3/1/2022</a:t>
            </a:r>
            <a:endParaRPr lang="en-US" dirty="0"/>
          </a:p>
        </p:txBody>
      </p:sp>
      <p:sp>
        <p:nvSpPr>
          <p:cNvPr id="3" name="Footer Placeholder 2">
            <a:extLst>
              <a:ext uri="{FF2B5EF4-FFF2-40B4-BE49-F238E27FC236}">
                <a16:creationId xmlns:a16="http://schemas.microsoft.com/office/drawing/2014/main" id="{03F8DE74-6A59-4828-A8A1-BCE6E8201FF0}"/>
              </a:ext>
            </a:extLst>
          </p:cNvPr>
          <p:cNvSpPr>
            <a:spLocks noGrp="1"/>
          </p:cNvSpPr>
          <p:nvPr>
            <p:ph type="ftr" sz="quarter" idx="11"/>
          </p:nvPr>
        </p:nvSpPr>
        <p:spPr/>
        <p:txBody>
          <a:bodyPr/>
          <a:lstStyle/>
          <a:p>
            <a:r>
              <a:rPr lang="en-US"/>
              <a:t>CPF 2023-2027. Public Version. Maputo, May 2022.</a:t>
            </a:r>
            <a:endParaRPr lang="en-US" dirty="0"/>
          </a:p>
        </p:txBody>
      </p:sp>
      <p:sp>
        <p:nvSpPr>
          <p:cNvPr id="4" name="Slide Number Placeholder 3">
            <a:extLst>
              <a:ext uri="{FF2B5EF4-FFF2-40B4-BE49-F238E27FC236}">
                <a16:creationId xmlns:a16="http://schemas.microsoft.com/office/drawing/2014/main" id="{B5D5FB75-E157-4016-BB05-C4EA32485B45}"/>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413313575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2A399-BC8D-4019-ADD6-FABA8E1DB5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BD1820-8456-48C2-89AE-2E5C2597A5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E4EECB-192E-4E2F-BF38-CF293360E8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DBDF5D-D784-48F1-81D7-0C79EF1FCD50}"/>
              </a:ext>
            </a:extLst>
          </p:cNvPr>
          <p:cNvSpPr>
            <a:spLocks noGrp="1"/>
          </p:cNvSpPr>
          <p:nvPr>
            <p:ph type="dt" sz="half" idx="10"/>
          </p:nvPr>
        </p:nvSpPr>
        <p:spPr/>
        <p:txBody>
          <a:bodyPr/>
          <a:lstStyle/>
          <a:p>
            <a:r>
              <a:rPr lang="en-US"/>
              <a:t>3/1/2022</a:t>
            </a:r>
            <a:endParaRPr lang="en-US" dirty="0"/>
          </a:p>
        </p:txBody>
      </p:sp>
      <p:sp>
        <p:nvSpPr>
          <p:cNvPr id="6" name="Footer Placeholder 5">
            <a:extLst>
              <a:ext uri="{FF2B5EF4-FFF2-40B4-BE49-F238E27FC236}">
                <a16:creationId xmlns:a16="http://schemas.microsoft.com/office/drawing/2014/main" id="{F2EDED05-F5A3-4456-AAE2-C3FC42BF1B84}"/>
              </a:ext>
            </a:extLst>
          </p:cNvPr>
          <p:cNvSpPr>
            <a:spLocks noGrp="1"/>
          </p:cNvSpPr>
          <p:nvPr>
            <p:ph type="ftr" sz="quarter" idx="11"/>
          </p:nvPr>
        </p:nvSpPr>
        <p:spPr/>
        <p:txBody>
          <a:bodyPr/>
          <a:lstStyle/>
          <a:p>
            <a:r>
              <a:rPr lang="en-US"/>
              <a:t>CPF 2023-2027. Public Version. Maputo, May 2022.</a:t>
            </a:r>
            <a:endParaRPr lang="en-US" dirty="0"/>
          </a:p>
        </p:txBody>
      </p:sp>
      <p:sp>
        <p:nvSpPr>
          <p:cNvPr id="7" name="Slide Number Placeholder 6">
            <a:extLst>
              <a:ext uri="{FF2B5EF4-FFF2-40B4-BE49-F238E27FC236}">
                <a16:creationId xmlns:a16="http://schemas.microsoft.com/office/drawing/2014/main" id="{BD739283-FA12-4D86-B3B8-162D2AD6EE1C}"/>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329764393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14276-E124-4822-AE88-D4627D1FF0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908839D-E988-4BD9-8192-034C390DB7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BB006194-79AA-47B5-B06A-1D26087D97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FA16CA-0CE4-4B33-9522-59AE6B24FD4C}"/>
              </a:ext>
            </a:extLst>
          </p:cNvPr>
          <p:cNvSpPr>
            <a:spLocks noGrp="1"/>
          </p:cNvSpPr>
          <p:nvPr>
            <p:ph type="dt" sz="half" idx="10"/>
          </p:nvPr>
        </p:nvSpPr>
        <p:spPr/>
        <p:txBody>
          <a:bodyPr/>
          <a:lstStyle/>
          <a:p>
            <a:r>
              <a:rPr lang="en-US"/>
              <a:t>3/1/2022</a:t>
            </a:r>
            <a:endParaRPr lang="en-US" dirty="0"/>
          </a:p>
        </p:txBody>
      </p:sp>
      <p:sp>
        <p:nvSpPr>
          <p:cNvPr id="6" name="Footer Placeholder 5">
            <a:extLst>
              <a:ext uri="{FF2B5EF4-FFF2-40B4-BE49-F238E27FC236}">
                <a16:creationId xmlns:a16="http://schemas.microsoft.com/office/drawing/2014/main" id="{057DB9C9-06CA-4D74-A969-385FA95945E0}"/>
              </a:ext>
            </a:extLst>
          </p:cNvPr>
          <p:cNvSpPr>
            <a:spLocks noGrp="1"/>
          </p:cNvSpPr>
          <p:nvPr>
            <p:ph type="ftr" sz="quarter" idx="11"/>
          </p:nvPr>
        </p:nvSpPr>
        <p:spPr/>
        <p:txBody>
          <a:bodyPr/>
          <a:lstStyle/>
          <a:p>
            <a:r>
              <a:rPr lang="en-US"/>
              <a:t>CPF 2023-2027. Public Version. Maputo, May 2022.</a:t>
            </a:r>
            <a:endParaRPr lang="en-US" dirty="0"/>
          </a:p>
        </p:txBody>
      </p:sp>
      <p:sp>
        <p:nvSpPr>
          <p:cNvPr id="7" name="Slide Number Placeholder 6">
            <a:extLst>
              <a:ext uri="{FF2B5EF4-FFF2-40B4-BE49-F238E27FC236}">
                <a16:creationId xmlns:a16="http://schemas.microsoft.com/office/drawing/2014/main" id="{674B40EA-325A-4083-BC00-E020C278AFB4}"/>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231898936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EEE8B-52C8-4D0E-9B59-100CC319455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AFB71DF-8F2E-41E0-90D8-F0867FCE59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336933-965A-42BF-BC5E-F5270FB08831}"/>
              </a:ext>
            </a:extLst>
          </p:cNvPr>
          <p:cNvSpPr>
            <a:spLocks noGrp="1"/>
          </p:cNvSpPr>
          <p:nvPr>
            <p:ph type="dt" sz="half" idx="10"/>
          </p:nvPr>
        </p:nvSpPr>
        <p:spPr/>
        <p:txBody>
          <a:bodyPr/>
          <a:lstStyle/>
          <a:p>
            <a:r>
              <a:rPr lang="en-US"/>
              <a:t>3/1/2022</a:t>
            </a:r>
            <a:endParaRPr lang="en-US" dirty="0"/>
          </a:p>
        </p:txBody>
      </p:sp>
      <p:sp>
        <p:nvSpPr>
          <p:cNvPr id="5" name="Footer Placeholder 4">
            <a:extLst>
              <a:ext uri="{FF2B5EF4-FFF2-40B4-BE49-F238E27FC236}">
                <a16:creationId xmlns:a16="http://schemas.microsoft.com/office/drawing/2014/main" id="{D213B8D8-22A8-44DA-8D39-16D2B387B4FE}"/>
              </a:ext>
            </a:extLst>
          </p:cNvPr>
          <p:cNvSpPr>
            <a:spLocks noGrp="1"/>
          </p:cNvSpPr>
          <p:nvPr>
            <p:ph type="ftr" sz="quarter" idx="11"/>
          </p:nvPr>
        </p:nvSpPr>
        <p:spPr/>
        <p:txBody>
          <a:bodyPr/>
          <a:lstStyle/>
          <a:p>
            <a:r>
              <a:rPr lang="en-US"/>
              <a:t>CPF 2023-2027. Public Version. Maputo, May 2022.</a:t>
            </a:r>
            <a:endParaRPr lang="en-US" dirty="0"/>
          </a:p>
        </p:txBody>
      </p:sp>
      <p:sp>
        <p:nvSpPr>
          <p:cNvPr id="6" name="Slide Number Placeholder 5">
            <a:extLst>
              <a:ext uri="{FF2B5EF4-FFF2-40B4-BE49-F238E27FC236}">
                <a16:creationId xmlns:a16="http://schemas.microsoft.com/office/drawing/2014/main" id="{3FF45202-30E5-4A59-9E8B-E9D32D0495AE}"/>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77789596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64F7B4-623F-4251-A5D4-87BCB8B300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D21CC42-BF23-435E-A17B-32B1994D03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80AC62-88AB-4CA1-9BF0-D64BDEF499A4}"/>
              </a:ext>
            </a:extLst>
          </p:cNvPr>
          <p:cNvSpPr>
            <a:spLocks noGrp="1"/>
          </p:cNvSpPr>
          <p:nvPr>
            <p:ph type="dt" sz="half" idx="10"/>
          </p:nvPr>
        </p:nvSpPr>
        <p:spPr/>
        <p:txBody>
          <a:bodyPr/>
          <a:lstStyle/>
          <a:p>
            <a:r>
              <a:rPr lang="en-US"/>
              <a:t>3/1/2022</a:t>
            </a:r>
            <a:endParaRPr lang="en-US" dirty="0"/>
          </a:p>
        </p:txBody>
      </p:sp>
      <p:sp>
        <p:nvSpPr>
          <p:cNvPr id="5" name="Footer Placeholder 4">
            <a:extLst>
              <a:ext uri="{FF2B5EF4-FFF2-40B4-BE49-F238E27FC236}">
                <a16:creationId xmlns:a16="http://schemas.microsoft.com/office/drawing/2014/main" id="{ED5A17B2-9369-455E-AE27-CABD90682E99}"/>
              </a:ext>
            </a:extLst>
          </p:cNvPr>
          <p:cNvSpPr>
            <a:spLocks noGrp="1"/>
          </p:cNvSpPr>
          <p:nvPr>
            <p:ph type="ftr" sz="quarter" idx="11"/>
          </p:nvPr>
        </p:nvSpPr>
        <p:spPr/>
        <p:txBody>
          <a:bodyPr/>
          <a:lstStyle/>
          <a:p>
            <a:r>
              <a:rPr lang="en-US"/>
              <a:t>CPF 2023-2027. Public Version. Maputo, May 2022.</a:t>
            </a:r>
            <a:endParaRPr lang="en-US" dirty="0"/>
          </a:p>
        </p:txBody>
      </p:sp>
      <p:sp>
        <p:nvSpPr>
          <p:cNvPr id="6" name="Slide Number Placeholder 5">
            <a:extLst>
              <a:ext uri="{FF2B5EF4-FFF2-40B4-BE49-F238E27FC236}">
                <a16:creationId xmlns:a16="http://schemas.microsoft.com/office/drawing/2014/main" id="{301464D7-E0B8-4E56-A956-7D67DF7B9E01}"/>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275345037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B8478B-5CB2-4010-9BAD-DDE1B57B6D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1844C9-7239-4961-887C-AC146B867F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F53078-3A3C-4896-826A-FFAB738737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3/1/2022</a:t>
            </a:r>
            <a:endParaRPr lang="en-US" dirty="0"/>
          </a:p>
        </p:txBody>
      </p:sp>
      <p:sp>
        <p:nvSpPr>
          <p:cNvPr id="5" name="Footer Placeholder 4">
            <a:extLst>
              <a:ext uri="{FF2B5EF4-FFF2-40B4-BE49-F238E27FC236}">
                <a16:creationId xmlns:a16="http://schemas.microsoft.com/office/drawing/2014/main" id="{4D59D87B-A001-4556-86DF-10D2F25F20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CPF 2023-2027. Public Version. Maputo, May 2022.</a:t>
            </a:r>
            <a:endParaRPr lang="en-US" dirty="0"/>
          </a:p>
        </p:txBody>
      </p:sp>
      <p:sp>
        <p:nvSpPr>
          <p:cNvPr id="6" name="Slide Number Placeholder 5">
            <a:extLst>
              <a:ext uri="{FF2B5EF4-FFF2-40B4-BE49-F238E27FC236}">
                <a16:creationId xmlns:a16="http://schemas.microsoft.com/office/drawing/2014/main" id="{1634FC28-C244-49C3-A074-6C1DE31C99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473C9A-9E91-4025-B5E2-D7B202510636}" type="slidenum">
              <a:rPr lang="en-US" smtClean="0"/>
              <a:t>‹#›</a:t>
            </a:fld>
            <a:endParaRPr lang="en-US" dirty="0"/>
          </a:p>
        </p:txBody>
      </p:sp>
    </p:spTree>
    <p:extLst>
      <p:ext uri="{BB962C8B-B14F-4D97-AF65-F5344CB8AC3E}">
        <p14:creationId xmlns:p14="http://schemas.microsoft.com/office/powerpoint/2010/main" val="12715432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hdr="0" dt="0"/>
  <p:txStyles>
    <p:titleStyle>
      <a:lvl1pPr algn="l" defTabSz="914400" rtl="0" eaLnBrk="1" latinLnBrk="0" hangingPunct="1">
        <a:lnSpc>
          <a:spcPct val="90000"/>
        </a:lnSpc>
        <a:spcBef>
          <a:spcPct val="0"/>
        </a:spcBef>
        <a:buNone/>
        <a:defRPr sz="2400" kern="1200">
          <a:solidFill>
            <a:schemeClr val="accent1">
              <a:lumMod val="75000"/>
            </a:schemeClr>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chart" Target="../charts/chart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slideLayout" Target="../slideLayouts/slideLayout2.xml"/><Relationship Id="rId1" Type="http://schemas.openxmlformats.org/officeDocument/2006/relationships/themeOverride" Target="../theme/themeOverride3.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D45F1-E8F8-426E-8AF3-E6EF0913E3A5}"/>
              </a:ext>
            </a:extLst>
          </p:cNvPr>
          <p:cNvSpPr>
            <a:spLocks noGrp="1"/>
          </p:cNvSpPr>
          <p:nvPr>
            <p:ph type="ctrTitle"/>
          </p:nvPr>
        </p:nvSpPr>
        <p:spPr>
          <a:xfrm>
            <a:off x="1933672" y="2558409"/>
            <a:ext cx="8969172" cy="2876985"/>
          </a:xfrm>
        </p:spPr>
        <p:txBody>
          <a:bodyPr anchor="ctr">
            <a:noAutofit/>
          </a:bodyPr>
          <a:lstStyle/>
          <a:p>
            <a:r>
              <a:rPr lang="en-US" sz="3600" b="1" dirty="0">
                <a:latin typeface="Times New Roman" panose="02020603050405020304" pitchFamily="18" charset="0"/>
                <a:cs typeface="Times New Roman" panose="02020603050405020304" pitchFamily="18" charset="0"/>
              </a:rPr>
              <a:t>Weltbankgruppe (WBG) Mosambik: Country Partnership Framework (CPF) 2023-2027 Zusammenfassung des Konzeptpapiers Öffentliche Fassung  Maputo, Mai 2022</a:t>
            </a:r>
          </a:p>
        </p:txBody>
      </p:sp>
      <p:pic>
        <p:nvPicPr>
          <p:cNvPr id="4" name="Picture 3">
            <a:extLst>
              <a:ext uri="{FF2B5EF4-FFF2-40B4-BE49-F238E27FC236}">
                <a16:creationId xmlns:a16="http://schemas.microsoft.com/office/drawing/2014/main" id="{2E96012B-60E5-41DF-BE81-115A7F0F5D0E}"/>
              </a:ext>
            </a:extLst>
          </p:cNvPr>
          <p:cNvPicPr>
            <a:picLocks noChangeAspect="1"/>
          </p:cNvPicPr>
          <p:nvPr/>
        </p:nvPicPr>
        <p:blipFill>
          <a:blip r:embed="rId2"/>
          <a:stretch>
            <a:fillRect/>
          </a:stretch>
        </p:blipFill>
        <p:spPr>
          <a:xfrm>
            <a:off x="827106" y="1944052"/>
            <a:ext cx="1352550" cy="1114425"/>
          </a:xfrm>
          <a:prstGeom prst="rect">
            <a:avLst/>
          </a:prstGeom>
        </p:spPr>
      </p:pic>
      <p:pic>
        <p:nvPicPr>
          <p:cNvPr id="6" name="Picture 5">
            <a:extLst>
              <a:ext uri="{FF2B5EF4-FFF2-40B4-BE49-F238E27FC236}">
                <a16:creationId xmlns:a16="http://schemas.microsoft.com/office/drawing/2014/main" id="{303B5CDB-EA56-4525-A8DA-73F7F88B8A77}"/>
              </a:ext>
            </a:extLst>
          </p:cNvPr>
          <p:cNvPicPr>
            <a:picLocks noChangeAspect="1"/>
          </p:cNvPicPr>
          <p:nvPr/>
        </p:nvPicPr>
        <p:blipFill>
          <a:blip r:embed="rId3"/>
          <a:stretch>
            <a:fillRect/>
          </a:stretch>
        </p:blipFill>
        <p:spPr>
          <a:xfrm>
            <a:off x="712806" y="3406352"/>
            <a:ext cx="1466850" cy="1181100"/>
          </a:xfrm>
          <a:prstGeom prst="rect">
            <a:avLst/>
          </a:prstGeom>
        </p:spPr>
      </p:pic>
      <p:pic>
        <p:nvPicPr>
          <p:cNvPr id="9" name="Picture 8">
            <a:extLst>
              <a:ext uri="{FF2B5EF4-FFF2-40B4-BE49-F238E27FC236}">
                <a16:creationId xmlns:a16="http://schemas.microsoft.com/office/drawing/2014/main" id="{7A855204-D46C-4DCB-85FD-454B26A9C91E}"/>
              </a:ext>
            </a:extLst>
          </p:cNvPr>
          <p:cNvPicPr>
            <a:picLocks noChangeAspect="1"/>
          </p:cNvPicPr>
          <p:nvPr/>
        </p:nvPicPr>
        <p:blipFill>
          <a:blip r:embed="rId4"/>
          <a:stretch>
            <a:fillRect/>
          </a:stretch>
        </p:blipFill>
        <p:spPr>
          <a:xfrm>
            <a:off x="808345" y="4587452"/>
            <a:ext cx="1257300" cy="1400175"/>
          </a:xfrm>
          <a:prstGeom prst="rect">
            <a:avLst/>
          </a:prstGeom>
        </p:spPr>
      </p:pic>
      <p:pic>
        <p:nvPicPr>
          <p:cNvPr id="11" name="Picture 10">
            <a:extLst>
              <a:ext uri="{FF2B5EF4-FFF2-40B4-BE49-F238E27FC236}">
                <a16:creationId xmlns:a16="http://schemas.microsoft.com/office/drawing/2014/main" id="{AEC0D9E3-C5B8-4B1E-8087-056D82A4FC9C}"/>
              </a:ext>
            </a:extLst>
          </p:cNvPr>
          <p:cNvPicPr>
            <a:picLocks noChangeAspect="1"/>
          </p:cNvPicPr>
          <p:nvPr/>
        </p:nvPicPr>
        <p:blipFill>
          <a:blip r:embed="rId5"/>
          <a:stretch>
            <a:fillRect/>
          </a:stretch>
        </p:blipFill>
        <p:spPr>
          <a:xfrm>
            <a:off x="827106" y="710732"/>
            <a:ext cx="1200150" cy="1133475"/>
          </a:xfrm>
          <a:prstGeom prst="rect">
            <a:avLst/>
          </a:prstGeom>
        </p:spPr>
      </p:pic>
    </p:spTree>
    <p:extLst>
      <p:ext uri="{BB962C8B-B14F-4D97-AF65-F5344CB8AC3E}">
        <p14:creationId xmlns:p14="http://schemas.microsoft.com/office/powerpoint/2010/main" val="3156487675"/>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90289-7D55-41E3-8ECB-E9F924A19E96}"/>
              </a:ext>
            </a:extLst>
          </p:cNvPr>
          <p:cNvSpPr>
            <a:spLocks noGrp="1"/>
          </p:cNvSpPr>
          <p:nvPr>
            <p:ph type="title"/>
          </p:nvPr>
        </p:nvSpPr>
        <p:spPr/>
        <p:txBody>
          <a:bodyPr>
            <a:normAutofit/>
          </a:bodyPr>
          <a:lstStyle/>
          <a:p>
            <a:r>
              <a:rPr lang="en-US" dirty="0"/>
              <a:t>Einleitung: Was ist der CPF, warum die Konsultationen und welche Erwartungen bestehen</a:t>
            </a:r>
          </a:p>
        </p:txBody>
      </p:sp>
      <p:sp>
        <p:nvSpPr>
          <p:cNvPr id="3" name="Content Placeholder 2">
            <a:extLst>
              <a:ext uri="{FF2B5EF4-FFF2-40B4-BE49-F238E27FC236}">
                <a16:creationId xmlns:a16="http://schemas.microsoft.com/office/drawing/2014/main" id="{D9688905-696E-4501-8134-4A2E66E94513}"/>
              </a:ext>
            </a:extLst>
          </p:cNvPr>
          <p:cNvSpPr>
            <a:spLocks noGrp="1"/>
          </p:cNvSpPr>
          <p:nvPr>
            <p:ph idx="1"/>
          </p:nvPr>
        </p:nvSpPr>
        <p:spPr>
          <a:xfrm>
            <a:off x="838200" y="1549101"/>
            <a:ext cx="10515600" cy="4627862"/>
          </a:xfrm>
        </p:spPr>
        <p:txBody>
          <a:bodyPr>
            <a:normAutofit/>
          </a:bodyPr>
          <a:lstStyle/>
          <a:p>
            <a:r>
              <a:rPr lang="en-US" dirty="0"/>
              <a:t>Der Country Partnership Framework (CPF) für Mosambik ist das Leitinstrument der Unterstützung der Weltbankgruppe (WBG), einschließlich IFC und MIGA, für Mosambik bei der Verfolgung seiner Entwicklungsziele.</a:t>
            </a:r>
          </a:p>
          <a:p>
            <a:r>
              <a:rPr lang="en-US" dirty="0"/>
              <a:t>Der CPF legt die Ziele und erwarteten Ergebnisse der Partnerschaft zwischen der WBG und der Regierung Mosambiks über einen Zeitraum (4-5 Jahre) hinweg fest.</a:t>
            </a:r>
          </a:p>
          <a:p>
            <a:r>
              <a:rPr lang="en-US" dirty="0"/>
              <a:t>Der CPF beruht auf folgenden Elementen: (i) den durch die Entwicklungspläne des Landes festgelegten Prioritäten (PQG, ENDE usw.); (ii) einem Systematic Country Diagnostic (SCD) der Weltbank sowie weiteren erstellten Analysen und Erkenntnissen; (iii) den Lehren aus der Umsetzung früherer Strategien (CLR) und den komparativen Vorteilen der Weltbank.</a:t>
            </a:r>
          </a:p>
          <a:p>
            <a:r>
              <a:rPr lang="en-US" dirty="0"/>
              <a:t>Der Schwerpunkt der Arbeit der WBG liegt auf der Beseitigung extremer Armut und der Verringerung von Ungleichheit.</a:t>
            </a:r>
          </a:p>
          <a:p>
            <a:r>
              <a:rPr lang="en-US" dirty="0"/>
              <a:t>Derzeit erarbeitet die WBG einen aktualisierten CPF für den Zeitraum der Haushaltsjahre 23-27. </a:t>
            </a:r>
          </a:p>
          <a:p>
            <a:r>
              <a:rPr lang="en-US" dirty="0"/>
              <a:t>Der neue CPF legt die vorläufigen Bestrebungen und Ziele für die Partnerschaft mit Mosambik für die nächsten 5 Jahre dar. </a:t>
            </a:r>
          </a:p>
          <a:p>
            <a:r>
              <a:rPr lang="en-US" dirty="0"/>
              <a:t>Dieses Dokument enthält eine Zusammenfassung des Konzeptpapiers zum CPF mit dem Ziel, Beiträge zu folgenden Fragen einzuholen:</a:t>
            </a:r>
          </a:p>
          <a:p>
            <a:r>
              <a:rPr lang="en-US" dirty="0"/>
              <a:t>Vertiefung der Diskussion zu jeder Säule der Strategie und ihren Zielen.</a:t>
            </a:r>
          </a:p>
          <a:p>
            <a:r>
              <a:rPr lang="en-US" dirty="0"/>
              <a:t>Festlegung von Prioritäten und Instrumenten (einschließlich Finanzierung) unter Berücksichtigung des spezifischen Entwicklungskontexts und der Herausforderungen.</a:t>
            </a:r>
          </a:p>
          <a:p>
            <a:r>
              <a:rPr lang="en-US" dirty="0"/>
              <a:t>Festlegung von Mechanismen zur Überwachung des CPF (Indikatoren)</a:t>
            </a:r>
          </a:p>
        </p:txBody>
      </p:sp>
      <p:sp>
        <p:nvSpPr>
          <p:cNvPr id="4" name="Footer Placeholder 3">
            <a:extLst>
              <a:ext uri="{FF2B5EF4-FFF2-40B4-BE49-F238E27FC236}">
                <a16:creationId xmlns:a16="http://schemas.microsoft.com/office/drawing/2014/main" id="{478EA24B-3077-4E29-A782-8ABABF70C5CF}"/>
              </a:ext>
            </a:extLst>
          </p:cNvPr>
          <p:cNvSpPr>
            <a:spLocks noGrp="1"/>
          </p:cNvSpPr>
          <p:nvPr>
            <p:ph type="ftr" sz="quarter" idx="11"/>
          </p:nvPr>
        </p:nvSpPr>
        <p:spPr/>
        <p:txBody>
          <a:bodyPr/>
          <a:lstStyle/>
          <a:p>
            <a:r>
              <a:rPr lang="en-US"/>
              <a:t>CPF 2023-2027. Öffentliche Fassung. Maputo, Mai 2022.</a:t>
            </a:r>
          </a:p>
        </p:txBody>
      </p:sp>
      <p:sp>
        <p:nvSpPr>
          <p:cNvPr id="5" name="Slide Number Placeholder 4">
            <a:extLst>
              <a:ext uri="{FF2B5EF4-FFF2-40B4-BE49-F238E27FC236}">
                <a16:creationId xmlns:a16="http://schemas.microsoft.com/office/drawing/2014/main" id="{789BF642-FDE3-42E2-AB0F-94576DDD9EF4}"/>
              </a:ext>
            </a:extLst>
          </p:cNvPr>
          <p:cNvSpPr>
            <a:spLocks noGrp="1"/>
          </p:cNvSpPr>
          <p:nvPr>
            <p:ph type="sldNum" sz="quarter" idx="12"/>
          </p:nvPr>
        </p:nvSpPr>
        <p:spPr/>
        <p:txBody>
          <a:bodyPr/>
          <a:lstStyle/>
          <a:p>
            <a:fld id="{B8473C9A-9E91-4025-B5E2-D7B202510636}" type="slidenum">
              <a:rPr lang="en-US" smtClean="0"/>
              <a:t>2</a:t>
            </a:fld>
            <a:endParaRPr lang="en-US" dirty="0"/>
          </a:p>
        </p:txBody>
      </p:sp>
    </p:spTree>
    <p:extLst>
      <p:ext uri="{BB962C8B-B14F-4D97-AF65-F5344CB8AC3E}">
        <p14:creationId xmlns:p14="http://schemas.microsoft.com/office/powerpoint/2010/main" val="216634312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8BF6E-3F48-4133-BFA3-5A80DFDCB4E2}"/>
              </a:ext>
            </a:extLst>
          </p:cNvPr>
          <p:cNvSpPr>
            <a:spLocks noGrp="1"/>
          </p:cNvSpPr>
          <p:nvPr>
            <p:ph type="title"/>
          </p:nvPr>
        </p:nvSpPr>
        <p:spPr>
          <a:xfrm>
            <a:off x="763623" y="527128"/>
            <a:ext cx="10515600" cy="1325563"/>
          </a:xfrm>
        </p:spPr>
        <p:txBody>
          <a:bodyPr>
            <a:noAutofit/>
          </a:bodyPr>
          <a:lstStyle/>
          <a:p>
            <a:r>
              <a:rPr lang="en-US" sz="4000" dirty="0"/>
              <a:t>Aufbau der Präsentation
</a:t>
            </a:r>
          </a:p>
          <a:p>
            <a:r>
              <a:rPr lang="en-US" sz="4000" dirty="0"/>
              <a:t/>
            </a:r>
          </a:p>
        </p:txBody>
      </p:sp>
      <p:sp>
        <p:nvSpPr>
          <p:cNvPr id="3" name="Content Placeholder 2">
            <a:extLst>
              <a:ext uri="{FF2B5EF4-FFF2-40B4-BE49-F238E27FC236}">
                <a16:creationId xmlns:a16="http://schemas.microsoft.com/office/drawing/2014/main" id="{A71C13BF-78D7-4831-B2B9-0342F47476B7}"/>
              </a:ext>
            </a:extLst>
          </p:cNvPr>
          <p:cNvSpPr>
            <a:spLocks noGrp="1"/>
          </p:cNvSpPr>
          <p:nvPr>
            <p:ph idx="1"/>
          </p:nvPr>
        </p:nvSpPr>
        <p:spPr>
          <a:xfrm>
            <a:off x="342731" y="2187277"/>
            <a:ext cx="11357385" cy="4648256"/>
          </a:xfrm>
        </p:spPr>
        <p:txBody>
          <a:bodyPr>
            <a:noAutofit/>
          </a:bodyPr>
          <a:lstStyle/>
          <a:p>
            <a:r>
              <a:rPr lang="en-US" sz="3200" b="1" dirty="0"/>
              <a:t>Sicht der Weltbankgruppe auf die wichtigsten strategischen Herausforderungen des Landes   
</a:t>
            </a:r>
          </a:p>
          <a:p>
            <a:r>
              <a:rPr lang="en-US" sz="3200" b="1" dirty="0"/>
              <a:t>Wichtigste Lehren aus dem vorherigen CPF (2017-2021)
</a:t>
            </a:r>
          </a:p>
          <a:p>
            <a:r>
              <a:rPr lang="en-US" sz="3200" b="1" dirty="0"/>
              <a:t>Erster Vorschlag für den CPF 2023-2027</a:t>
            </a:r>
          </a:p>
        </p:txBody>
      </p:sp>
      <p:sp>
        <p:nvSpPr>
          <p:cNvPr id="7" name="Footer Placeholder 6">
            <a:extLst>
              <a:ext uri="{FF2B5EF4-FFF2-40B4-BE49-F238E27FC236}">
                <a16:creationId xmlns:a16="http://schemas.microsoft.com/office/drawing/2014/main" id="{5A8D5BC3-36C6-44D5-8F65-39323B859A56}"/>
              </a:ext>
            </a:extLst>
          </p:cNvPr>
          <p:cNvSpPr>
            <a:spLocks noGrp="1"/>
          </p:cNvSpPr>
          <p:nvPr>
            <p:ph type="ftr" sz="quarter" idx="11"/>
          </p:nvPr>
        </p:nvSpPr>
        <p:spPr/>
        <p:txBody>
          <a:bodyPr/>
          <a:lstStyle/>
          <a:p>
            <a:r>
              <a:rPr lang="en-US"/>
              <a:t>CPF 2023-2027. Öffentliche Fassung. Maputo, Mai 2022.</a:t>
            </a:r>
          </a:p>
        </p:txBody>
      </p:sp>
      <p:sp>
        <p:nvSpPr>
          <p:cNvPr id="8" name="Slide Number Placeholder 7">
            <a:extLst>
              <a:ext uri="{FF2B5EF4-FFF2-40B4-BE49-F238E27FC236}">
                <a16:creationId xmlns:a16="http://schemas.microsoft.com/office/drawing/2014/main" id="{71478635-062B-4B7C-8ED3-5DABD8F8816D}"/>
              </a:ext>
            </a:extLst>
          </p:cNvPr>
          <p:cNvSpPr>
            <a:spLocks noGrp="1"/>
          </p:cNvSpPr>
          <p:nvPr>
            <p:ph type="sldNum" sz="quarter" idx="12"/>
          </p:nvPr>
        </p:nvSpPr>
        <p:spPr/>
        <p:txBody>
          <a:bodyPr/>
          <a:lstStyle/>
          <a:p>
            <a:fld id="{B8473C9A-9E91-4025-B5E2-D7B202510636}" type="slidenum">
              <a:rPr lang="en-US" smtClean="0"/>
              <a:t>3</a:t>
            </a:fld>
            <a:endParaRPr lang="en-US" dirty="0"/>
          </a:p>
        </p:txBody>
      </p:sp>
      <p:pic>
        <p:nvPicPr>
          <p:cNvPr id="4" name="Picture 3">
            <a:extLst>
              <a:ext uri="{FF2B5EF4-FFF2-40B4-BE49-F238E27FC236}">
                <a16:creationId xmlns:a16="http://schemas.microsoft.com/office/drawing/2014/main" id="{BD132FF2-B2A1-4911-8DA1-958860068B65}"/>
              </a:ext>
            </a:extLst>
          </p:cNvPr>
          <p:cNvPicPr>
            <a:picLocks noChangeAspect="1"/>
          </p:cNvPicPr>
          <p:nvPr/>
        </p:nvPicPr>
        <p:blipFill>
          <a:blip r:embed="rId2"/>
          <a:stretch>
            <a:fillRect/>
          </a:stretch>
        </p:blipFill>
        <p:spPr>
          <a:xfrm>
            <a:off x="342731" y="365570"/>
            <a:ext cx="2809141" cy="559716"/>
          </a:xfrm>
          <a:prstGeom prst="rect">
            <a:avLst/>
          </a:prstGeom>
        </p:spPr>
      </p:pic>
    </p:spTree>
    <p:extLst>
      <p:ext uri="{BB962C8B-B14F-4D97-AF65-F5344CB8AC3E}">
        <p14:creationId xmlns:p14="http://schemas.microsoft.com/office/powerpoint/2010/main" val="92722981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8BF6E-3F48-4133-BFA3-5A80DFDCB4E2}"/>
              </a:ext>
            </a:extLst>
          </p:cNvPr>
          <p:cNvSpPr>
            <a:spLocks noGrp="1"/>
          </p:cNvSpPr>
          <p:nvPr>
            <p:ph type="title"/>
          </p:nvPr>
        </p:nvSpPr>
        <p:spPr>
          <a:xfrm>
            <a:off x="838200" y="747656"/>
            <a:ext cx="10515600" cy="1325563"/>
          </a:xfrm>
        </p:spPr>
        <p:txBody>
          <a:bodyPr>
            <a:noAutofit/>
          </a:bodyPr>
          <a:lstStyle/>
          <a:p>
            <a:r>
              <a:rPr lang="en-US" sz="4000" dirty="0"/>
              <a:t>Aufbau der Präsentation
</a:t>
            </a:r>
          </a:p>
          <a:p>
            <a:r>
              <a:rPr lang="en-US" sz="4000" dirty="0"/>
              <a:t/>
            </a:r>
          </a:p>
        </p:txBody>
      </p:sp>
      <p:sp>
        <p:nvSpPr>
          <p:cNvPr id="3" name="Content Placeholder 2">
            <a:extLst>
              <a:ext uri="{FF2B5EF4-FFF2-40B4-BE49-F238E27FC236}">
                <a16:creationId xmlns:a16="http://schemas.microsoft.com/office/drawing/2014/main" id="{A71C13BF-78D7-4831-B2B9-0342F47476B7}"/>
              </a:ext>
            </a:extLst>
          </p:cNvPr>
          <p:cNvSpPr>
            <a:spLocks noGrp="1"/>
          </p:cNvSpPr>
          <p:nvPr>
            <p:ph idx="1"/>
          </p:nvPr>
        </p:nvSpPr>
        <p:spPr>
          <a:xfrm>
            <a:off x="417307" y="2073219"/>
            <a:ext cx="11357385" cy="4648256"/>
          </a:xfrm>
        </p:spPr>
        <p:txBody>
          <a:bodyPr>
            <a:noAutofit/>
          </a:bodyPr>
          <a:lstStyle/>
          <a:p>
            <a:r>
              <a:rPr lang="en-US" sz="3200" b="1" dirty="0"/>
              <a:t>Sicht der Weltbankgruppe auf die wichtigsten strategischen Herausforderungen des Landes   
</a:t>
            </a:r>
          </a:p>
          <a:p>
            <a:r>
              <a:rPr lang="en-US" sz="3200" b="1" dirty="0"/>
              <a:t>Wichtigste Lehren aus dem vorherigen CPF (2017-2021) 
</a:t>
            </a:r>
          </a:p>
          <a:p>
            <a:r>
              <a:rPr lang="en-US" sz="3200" b="1" dirty="0"/>
              <a:t>Erster Vorschlag für den CPF 2023-2027</a:t>
            </a:r>
          </a:p>
        </p:txBody>
      </p:sp>
      <p:sp>
        <p:nvSpPr>
          <p:cNvPr id="7" name="Footer Placeholder 6">
            <a:extLst>
              <a:ext uri="{FF2B5EF4-FFF2-40B4-BE49-F238E27FC236}">
                <a16:creationId xmlns:a16="http://schemas.microsoft.com/office/drawing/2014/main" id="{5EDF98AD-ADCD-4758-AAE6-443CAF4DC2F9}"/>
              </a:ext>
            </a:extLst>
          </p:cNvPr>
          <p:cNvSpPr>
            <a:spLocks noGrp="1"/>
          </p:cNvSpPr>
          <p:nvPr>
            <p:ph type="ftr" sz="quarter" idx="11"/>
          </p:nvPr>
        </p:nvSpPr>
        <p:spPr/>
        <p:txBody>
          <a:bodyPr/>
          <a:lstStyle/>
          <a:p>
            <a:r>
              <a:rPr lang="en-US"/>
              <a:t>CPF 2023-2027. Öffentliche Fassung. Maputo, Mai 2022.</a:t>
            </a:r>
          </a:p>
        </p:txBody>
      </p:sp>
      <p:sp>
        <p:nvSpPr>
          <p:cNvPr id="8" name="Slide Number Placeholder 7">
            <a:extLst>
              <a:ext uri="{FF2B5EF4-FFF2-40B4-BE49-F238E27FC236}">
                <a16:creationId xmlns:a16="http://schemas.microsoft.com/office/drawing/2014/main" id="{382C3AA1-90AF-49C0-92C0-FFB37AB72625}"/>
              </a:ext>
            </a:extLst>
          </p:cNvPr>
          <p:cNvSpPr>
            <a:spLocks noGrp="1"/>
          </p:cNvSpPr>
          <p:nvPr>
            <p:ph type="sldNum" sz="quarter" idx="12"/>
          </p:nvPr>
        </p:nvSpPr>
        <p:spPr/>
        <p:txBody>
          <a:bodyPr/>
          <a:lstStyle/>
          <a:p>
            <a:fld id="{B8473C9A-9E91-4025-B5E2-D7B202510636}" type="slidenum">
              <a:rPr lang="en-US" smtClean="0"/>
              <a:t>4</a:t>
            </a:fld>
            <a:endParaRPr lang="en-US" dirty="0"/>
          </a:p>
        </p:txBody>
      </p:sp>
      <p:pic>
        <p:nvPicPr>
          <p:cNvPr id="6" name="Picture 5">
            <a:extLst>
              <a:ext uri="{FF2B5EF4-FFF2-40B4-BE49-F238E27FC236}">
                <a16:creationId xmlns:a16="http://schemas.microsoft.com/office/drawing/2014/main" id="{B50684B2-DFCC-454F-BF34-FF297E1A6047}"/>
              </a:ext>
            </a:extLst>
          </p:cNvPr>
          <p:cNvPicPr>
            <a:picLocks noChangeAspect="1"/>
          </p:cNvPicPr>
          <p:nvPr/>
        </p:nvPicPr>
        <p:blipFill>
          <a:blip r:embed="rId2"/>
          <a:stretch>
            <a:fillRect/>
          </a:stretch>
        </p:blipFill>
        <p:spPr>
          <a:xfrm>
            <a:off x="517218" y="586097"/>
            <a:ext cx="2521846" cy="502473"/>
          </a:xfrm>
          <a:prstGeom prst="rect">
            <a:avLst/>
          </a:prstGeom>
        </p:spPr>
      </p:pic>
    </p:spTree>
    <p:extLst>
      <p:ext uri="{BB962C8B-B14F-4D97-AF65-F5344CB8AC3E}">
        <p14:creationId xmlns:p14="http://schemas.microsoft.com/office/powerpoint/2010/main" val="182892206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4B562-863E-411E-8C8D-327DA3E88280}"/>
              </a:ext>
            </a:extLst>
          </p:cNvPr>
          <p:cNvSpPr>
            <a:spLocks noGrp="1"/>
          </p:cNvSpPr>
          <p:nvPr>
            <p:ph type="title"/>
          </p:nvPr>
        </p:nvSpPr>
        <p:spPr>
          <a:xfrm>
            <a:off x="2458581" y="149854"/>
            <a:ext cx="11053131" cy="547685"/>
          </a:xfrm>
        </p:spPr>
        <p:txBody>
          <a:bodyPr>
            <a:noAutofit/>
          </a:bodyPr>
          <a:lstStyle/>
          <a:p>
            <a:r>
              <a:rPr lang="pt" sz="2400" b="1" i="0" u="none" strike="noStrike" dirty="0">
                <a:highlight>
                  <a:srgbClr val="000000">
                    <a:alpha val="0"/>
                  </a:srgbClr>
                </a:highlight>
                <a:latin typeface="Arial"/>
              </a:rPr>
              <a:t>Länderkontext: Entwicklungsherausforderungen und -chancen</a:t>
            </a:r>
          </a:p>
        </p:txBody>
      </p:sp>
      <p:sp>
        <p:nvSpPr>
          <p:cNvPr id="7" name="Content Placeholder 6">
            <a:extLst>
              <a:ext uri="{FF2B5EF4-FFF2-40B4-BE49-F238E27FC236}">
                <a16:creationId xmlns:a16="http://schemas.microsoft.com/office/drawing/2014/main" id="{FF5C214D-5EAE-4BCF-B630-4930BE12178E}"/>
              </a:ext>
            </a:extLst>
          </p:cNvPr>
          <p:cNvSpPr>
            <a:spLocks noGrp="1"/>
          </p:cNvSpPr>
          <p:nvPr>
            <p:ph idx="1"/>
          </p:nvPr>
        </p:nvSpPr>
        <p:spPr>
          <a:xfrm>
            <a:off x="154086" y="750686"/>
            <a:ext cx="11594969" cy="5854702"/>
          </a:xfrm>
        </p:spPr>
        <p:txBody>
          <a:bodyPr>
            <a:noAutofit/>
          </a:bodyPr>
          <a:lstStyle/>
          <a:p>
            <a:r>
              <a:rPr lang="en-US" sz="1600" b="1" i="0" u="none" strike="noStrike" dirty="0">
                <a:highlight>
                  <a:srgbClr val="000000">
                    <a:alpha val="0"/>
                  </a:srgbClr>
                </a:highlight>
                <a:latin typeface="Arial"/>
                <a:ea typeface="Calibri"/>
                <a:cs typeface="Times New Roman"/>
              </a:rPr>
              <a:t/>
            </a:r>
          </a:p>
          <a:p>
            <a:r>
              <a:rPr lang="en-US" sz="1600" b="1" i="0" u="none" strike="noStrike" dirty="0">
                <a:highlight>
                  <a:srgbClr val="000000">
                    <a:alpha val="0"/>
                  </a:srgbClr>
                </a:highlight>
                <a:latin typeface="Arial"/>
                <a:ea typeface="Calibri"/>
                <a:cs typeface="Times New Roman"/>
              </a:rPr>
              <a:t>Entwicklungskontext. Mosambik ist trotz seiner umfangreichen natürlichen Ressourcen und seiner günstigen Lage nach wie vor ein Land mit niedrigem Einkommen (LIC). Der Großteil der Bevölkerung lebt in extremer Armut, die Ungleichheit ist hoch, der Index des Humankapitals gehört zu den niedrigsten der Welt und die Fruchtbarkeitsraten sind vergleichsweise hoch. </a:t>
            </a:r>
          </a:p>
          <a:p>
            <a:r>
              <a:rPr lang="en-US" sz="1600" b="1" i="0" u="none" strike="noStrike" dirty="0">
                <a:highlight>
                  <a:srgbClr val="000000">
                    <a:alpha val="0"/>
                  </a:srgbClr>
                </a:highlight>
                <a:latin typeface="Arial"/>
                <a:ea typeface="Calibri"/>
                <a:cs typeface="Times New Roman"/>
              </a:rPr>
              <a:t>Diese Entwicklungsherausforderungen werden durch strukturelle Fragilität und eine hohe Anfälligkeit gegenüber Klima- und Gesundheitsrisiken verschärft – darunter zuletzt zwei schwere Wirbelstürme im Jahr 2019 und die Covid-19-Pandemie.</a:t>
            </a:r>
          </a:p>
          <a:p>
            <a:r>
              <a:rPr lang="en-US" sz="1600" b="1" i="0" u="none" strike="noStrike" dirty="0">
                <a:highlight>
                  <a:srgbClr val="000000">
                    <a:alpha val="0"/>
                  </a:srgbClr>
                </a:highlight>
                <a:latin typeface="Arial"/>
                <a:ea typeface="Calibri"/>
                <a:cs typeface="Times New Roman"/>
              </a:rPr>
              <a:t>Strukturelle Fragilität. Die tief verwurzelte Fragilität Mosambiks resultiert aus der Schwäche seiner Institutionen, die auf historische und geografische Ursachen zurückgeht und sich in wiederkehrenden Konflikt- und Gewaltzyklen manifestiert hat. Ungleichheit und Armut verstärken die Fragilität und werden zugleich durch sie verstärkt. Der Aufstand in Cabo Delgado ist die jüngste Erscheinungsform dieser Fragilität.</a:t>
            </a:r>
          </a:p>
          <a:p>
            <a:r>
              <a:rPr lang="en-US" sz="1600" b="1" i="0" u="none" strike="noStrike" dirty="0">
                <a:highlight>
                  <a:srgbClr val="000000">
                    <a:alpha val="0"/>
                  </a:srgbClr>
                </a:highlight>
                <a:latin typeface="Arial"/>
                <a:ea typeface="Calibri"/>
                <a:cs typeface="Times New Roman"/>
              </a:rPr>
              <a:t/>
            </a:r>
          </a:p>
        </p:txBody>
      </p:sp>
      <p:grpSp>
        <p:nvGrpSpPr>
          <p:cNvPr id="5" name="Group 4">
            <a:extLst>
              <a:ext uri="{FF2B5EF4-FFF2-40B4-BE49-F238E27FC236}">
                <a16:creationId xmlns:a16="http://schemas.microsoft.com/office/drawing/2014/main" id="{4F3625D2-207D-4F4B-B47F-3D62A9AD09EB}"/>
              </a:ext>
            </a:extLst>
          </p:cNvPr>
          <p:cNvGrpSpPr/>
          <p:nvPr/>
        </p:nvGrpSpPr>
        <p:grpSpPr>
          <a:xfrm>
            <a:off x="8218978" y="3597004"/>
            <a:ext cx="3588997" cy="2886437"/>
            <a:chOff x="6541789" y="2100492"/>
            <a:chExt cx="5157813" cy="3995469"/>
          </a:xfrm>
        </p:grpSpPr>
        <p:pic>
          <p:nvPicPr>
            <p:cNvPr id="6" name="Picture 5">
              <a:extLst>
                <a:ext uri="{FF2B5EF4-FFF2-40B4-BE49-F238E27FC236}">
                  <a16:creationId xmlns:a16="http://schemas.microsoft.com/office/drawing/2014/main" id="{EF694F57-C4AC-4B52-8F4B-F21947EC0700}"/>
                </a:ext>
              </a:extLst>
            </p:cNvPr>
            <p:cNvPicPr>
              <a:picLocks noChangeAspect="1"/>
            </p:cNvPicPr>
            <p:nvPr/>
          </p:nvPicPr>
          <p:blipFill>
            <a:blip r:embed="rId2">
              <a:duotone>
                <a:schemeClr val="accent1">
                  <a:shade val="45000"/>
                  <a:satMod val="135000"/>
                </a:schemeClr>
                <a:prstClr val="white"/>
              </a:duotone>
            </a:blip>
            <a:stretch>
              <a:fillRect/>
            </a:stretch>
          </p:blipFill>
          <p:spPr>
            <a:xfrm>
              <a:off x="6541789" y="2100492"/>
              <a:ext cx="5065909" cy="3558448"/>
            </a:xfrm>
            <a:prstGeom prst="rect">
              <a:avLst/>
            </a:prstGeom>
          </p:spPr>
        </p:pic>
        <p:sp>
          <p:nvSpPr>
            <p:cNvPr id="8" name="TextBox 7">
              <a:extLst>
                <a:ext uri="{FF2B5EF4-FFF2-40B4-BE49-F238E27FC236}">
                  <a16:creationId xmlns:a16="http://schemas.microsoft.com/office/drawing/2014/main" id="{79A74CF3-3D80-4298-B0F9-7653E146BF38}"/>
                </a:ext>
              </a:extLst>
            </p:cNvPr>
            <p:cNvSpPr txBox="1"/>
            <p:nvPr/>
          </p:nvSpPr>
          <p:spPr>
            <a:xfrm>
              <a:off x="6672238" y="5751940"/>
              <a:ext cx="5027364" cy="344021"/>
            </a:xfrm>
            <a:prstGeom prst="rect">
              <a:avLst/>
            </a:prstGeom>
            <a:noFill/>
          </p:spPr>
          <p:txBody>
            <a:bodyPr wrap="square">
              <a:spAutoFit/>
            </a:bodyPr>
            <a:lstStyle/>
            <a:p>
              <a:pPr marL="0" marR="0" algn="just">
                <a:lnSpc>
                  <a:spcPct val="106000"/>
                </a:lnSpc>
                <a:spcBef>
                  <a:spcPts val="0"/>
                </a:spcBef>
                <a:spcAft>
                  <a:spcPts val="0"/>
                </a:spcAft>
              </a:pP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p:txBody>
        </p:sp>
      </p:grpSp>
      <p:graphicFrame>
        <p:nvGraphicFramePr>
          <p:cNvPr id="9" name="Chart 8">
            <a:extLst>
              <a:ext uri="{FF2B5EF4-FFF2-40B4-BE49-F238E27FC236}">
                <a16:creationId xmlns:a16="http://schemas.microsoft.com/office/drawing/2014/main" id="{410C8409-F0C1-4A06-B33B-032AB030B33D}"/>
              </a:ext>
            </a:extLst>
          </p:cNvPr>
          <p:cNvGraphicFramePr>
            <a:graphicFrameLocks/>
          </p:cNvGraphicFramePr>
          <p:nvPr>
            <p:extLst>
              <p:ext uri="{D42A27DB-BD31-4B8C-83A1-F6EECF244321}">
                <p14:modId xmlns:p14="http://schemas.microsoft.com/office/powerpoint/2010/main" val="3770359055"/>
              </p:ext>
            </p:extLst>
          </p:nvPr>
        </p:nvGraphicFramePr>
        <p:xfrm>
          <a:off x="4512313" y="3690055"/>
          <a:ext cx="3687713" cy="264202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C72742A9-AFDE-48B8-85B0-5CF91FC7EC7A}"/>
              </a:ext>
            </a:extLst>
          </p:cNvPr>
          <p:cNvGraphicFramePr>
            <a:graphicFrameLocks/>
          </p:cNvGraphicFramePr>
          <p:nvPr>
            <p:extLst>
              <p:ext uri="{D42A27DB-BD31-4B8C-83A1-F6EECF244321}">
                <p14:modId xmlns:p14="http://schemas.microsoft.com/office/powerpoint/2010/main" val="2896171518"/>
              </p:ext>
            </p:extLst>
          </p:nvPr>
        </p:nvGraphicFramePr>
        <p:xfrm>
          <a:off x="154086" y="3536403"/>
          <a:ext cx="4134513" cy="2753250"/>
        </p:xfrm>
        <a:graphic>
          <a:graphicData uri="http://schemas.openxmlformats.org/drawingml/2006/chart">
            <c:chart xmlns:c="http://schemas.openxmlformats.org/drawingml/2006/chart" xmlns:r="http://schemas.openxmlformats.org/officeDocument/2006/relationships" r:id="rId4"/>
          </a:graphicData>
        </a:graphic>
      </p:graphicFrame>
      <p:sp>
        <p:nvSpPr>
          <p:cNvPr id="12" name="Footer Placeholder 11">
            <a:extLst>
              <a:ext uri="{FF2B5EF4-FFF2-40B4-BE49-F238E27FC236}">
                <a16:creationId xmlns:a16="http://schemas.microsoft.com/office/drawing/2014/main" id="{6EA1F737-8F98-48C5-8192-5697092CD6C1}"/>
              </a:ext>
            </a:extLst>
          </p:cNvPr>
          <p:cNvSpPr>
            <a:spLocks noGrp="1"/>
          </p:cNvSpPr>
          <p:nvPr>
            <p:ph type="ftr" sz="quarter" idx="11"/>
          </p:nvPr>
        </p:nvSpPr>
        <p:spPr/>
        <p:txBody>
          <a:bodyPr/>
          <a:lstStyle/>
          <a:p>
            <a:r>
              <a:rPr lang="en-US"/>
              <a:t>CPF 2023-2027. Öffentliche Fassung. Maputo, Mai 2022.</a:t>
            </a:r>
          </a:p>
        </p:txBody>
      </p:sp>
      <p:sp>
        <p:nvSpPr>
          <p:cNvPr id="13" name="Slide Number Placeholder 12">
            <a:extLst>
              <a:ext uri="{FF2B5EF4-FFF2-40B4-BE49-F238E27FC236}">
                <a16:creationId xmlns:a16="http://schemas.microsoft.com/office/drawing/2014/main" id="{1EFCE3CB-231A-40FF-B856-B69577BA0C88}"/>
              </a:ext>
            </a:extLst>
          </p:cNvPr>
          <p:cNvSpPr>
            <a:spLocks noGrp="1"/>
          </p:cNvSpPr>
          <p:nvPr>
            <p:ph type="sldNum" sz="quarter" idx="12"/>
          </p:nvPr>
        </p:nvSpPr>
        <p:spPr/>
        <p:txBody>
          <a:bodyPr/>
          <a:lstStyle/>
          <a:p>
            <a:fld id="{B8473C9A-9E91-4025-B5E2-D7B202510636}" type="slidenum">
              <a:rPr lang="en-US" smtClean="0"/>
              <a:t>5</a:t>
            </a:fld>
            <a:endParaRPr lang="en-US" dirty="0"/>
          </a:p>
        </p:txBody>
      </p:sp>
      <p:pic>
        <p:nvPicPr>
          <p:cNvPr id="10" name="Picture 9">
            <a:extLst>
              <a:ext uri="{FF2B5EF4-FFF2-40B4-BE49-F238E27FC236}">
                <a16:creationId xmlns:a16="http://schemas.microsoft.com/office/drawing/2014/main" id="{E74DA3C4-F2F7-4345-8A1B-D7D3601FB5A9}"/>
              </a:ext>
            </a:extLst>
          </p:cNvPr>
          <p:cNvPicPr>
            <a:picLocks noChangeAspect="1"/>
          </p:cNvPicPr>
          <p:nvPr/>
        </p:nvPicPr>
        <p:blipFill>
          <a:blip r:embed="rId5"/>
          <a:stretch>
            <a:fillRect/>
          </a:stretch>
        </p:blipFill>
        <p:spPr>
          <a:xfrm>
            <a:off x="462789" y="262138"/>
            <a:ext cx="1995792" cy="397658"/>
          </a:xfrm>
          <a:prstGeom prst="rect">
            <a:avLst/>
          </a:prstGeom>
        </p:spPr>
      </p:pic>
    </p:spTree>
    <p:extLst>
      <p:ext uri="{BB962C8B-B14F-4D97-AF65-F5344CB8AC3E}">
        <p14:creationId xmlns:p14="http://schemas.microsoft.com/office/powerpoint/2010/main" val="27943453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DF05D-5034-4DC6-A334-0DEA65804A79}"/>
              </a:ext>
            </a:extLst>
          </p:cNvPr>
          <p:cNvSpPr>
            <a:spLocks noGrp="1"/>
          </p:cNvSpPr>
          <p:nvPr>
            <p:ph type="title"/>
          </p:nvPr>
        </p:nvSpPr>
        <p:spPr>
          <a:xfrm>
            <a:off x="2531857" y="74189"/>
            <a:ext cx="10515600" cy="720725"/>
          </a:xfrm>
        </p:spPr>
        <p:txBody>
          <a:bodyPr>
            <a:normAutofit/>
          </a:bodyPr>
          <a:lstStyle/>
          <a:p>
            <a:r>
              <a:rPr lang="pt" sz="2400" b="1" i="0" u="none" strike="noStrike" dirty="0">
                <a:highlight>
                  <a:srgbClr val="000000">
                    <a:alpha val="0"/>
                  </a:srgbClr>
                </a:highlight>
                <a:latin typeface="Arial"/>
              </a:rPr>
              <a:t>Länderkontext: Entwicklungsherausforderungen und -chancen</a:t>
            </a:r>
          </a:p>
        </p:txBody>
      </p:sp>
      <p:sp>
        <p:nvSpPr>
          <p:cNvPr id="3" name="Content Placeholder 2">
            <a:extLst>
              <a:ext uri="{FF2B5EF4-FFF2-40B4-BE49-F238E27FC236}">
                <a16:creationId xmlns:a16="http://schemas.microsoft.com/office/drawing/2014/main" id="{281EBEE0-492E-419C-8FAD-FE8529FC3CD2}"/>
              </a:ext>
            </a:extLst>
          </p:cNvPr>
          <p:cNvSpPr>
            <a:spLocks noGrp="1"/>
          </p:cNvSpPr>
          <p:nvPr>
            <p:ph idx="1"/>
          </p:nvPr>
        </p:nvSpPr>
        <p:spPr>
          <a:xfrm>
            <a:off x="466725" y="928120"/>
            <a:ext cx="5343525" cy="2062730"/>
          </a:xfrm>
        </p:spPr>
        <p:txBody>
          <a:bodyPr>
            <a:normAutofit/>
          </a:bodyPr>
          <a:lstStyle/>
          <a:p>
            <a:r>
              <a:rPr lang="en-US" sz="1500" b="1" dirty="0">
                <a:latin typeface="Arial"/>
                <a:cs typeface="Times New Roman"/>
              </a:rPr>
              <a:t>Sehr begrenzter wirtschaftlicher und räumlicher Wandel in den vergangenen Jahrzehnten. Bis 2019 arbeiteten noch rund 70,1 % der Erwerbstätigen in der (Subsistenz-)Landwirtschaft. Der räumliche Wandel hat in jüngster Zeit zugenommen, doch rund 60 % der Bevölkerung leben weiterhin in ländlichen Gebieten – ein Hinweis auf einen langsamen Migrationsprozess trotz des erheblichen Einkommensgefälles zwischen Land und Stadt.</a:t>
            </a:r>
          </a:p>
          <a:p>
            <a:r>
              <a:rPr lang="en-US" sz="1500" b="1" dirty="0">
                <a:latin typeface="Arial"/>
                <a:cs typeface="Times New Roman"/>
              </a:rPr>
              <a:t/>
            </a:r>
          </a:p>
        </p:txBody>
      </p:sp>
      <p:graphicFrame>
        <p:nvGraphicFramePr>
          <p:cNvPr id="5" name="Chart 4">
            <a:extLst>
              <a:ext uri="{FF2B5EF4-FFF2-40B4-BE49-F238E27FC236}">
                <a16:creationId xmlns:a16="http://schemas.microsoft.com/office/drawing/2014/main" id="{C9A68FB0-9030-48F4-90BB-6738D978B96B}"/>
              </a:ext>
            </a:extLst>
          </p:cNvPr>
          <p:cNvGraphicFramePr>
            <a:graphicFrameLocks/>
          </p:cNvGraphicFramePr>
          <p:nvPr>
            <p:extLst>
              <p:ext uri="{D42A27DB-BD31-4B8C-83A1-F6EECF244321}">
                <p14:modId xmlns:p14="http://schemas.microsoft.com/office/powerpoint/2010/main" val="1471947526"/>
              </p:ext>
            </p:extLst>
          </p:nvPr>
        </p:nvGraphicFramePr>
        <p:xfrm>
          <a:off x="3138487" y="2623264"/>
          <a:ext cx="2331720" cy="240055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ontent Placeholder 3">
            <a:extLst>
              <a:ext uri="{FF2B5EF4-FFF2-40B4-BE49-F238E27FC236}">
                <a16:creationId xmlns:a16="http://schemas.microsoft.com/office/drawing/2014/main" id="{589B26A9-2176-422F-B50B-B5ACA70F2700}"/>
              </a:ext>
            </a:extLst>
          </p:cNvPr>
          <p:cNvGraphicFramePr>
            <a:graphicFrameLocks/>
          </p:cNvGraphicFramePr>
          <p:nvPr>
            <p:extLst>
              <p:ext uri="{D42A27DB-BD31-4B8C-83A1-F6EECF244321}">
                <p14:modId xmlns:p14="http://schemas.microsoft.com/office/powerpoint/2010/main" val="1271775604"/>
              </p:ext>
            </p:extLst>
          </p:nvPr>
        </p:nvGraphicFramePr>
        <p:xfrm>
          <a:off x="690353" y="4819200"/>
          <a:ext cx="2582837" cy="183155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6">
            <a:extLst>
              <a:ext uri="{FF2B5EF4-FFF2-40B4-BE49-F238E27FC236}">
                <a16:creationId xmlns:a16="http://schemas.microsoft.com/office/drawing/2014/main" id="{CD771C82-20D9-438B-98BF-9F1AA3BE667C}"/>
              </a:ext>
            </a:extLst>
          </p:cNvPr>
          <p:cNvGraphicFramePr>
            <a:graphicFrameLocks/>
          </p:cNvGraphicFramePr>
          <p:nvPr>
            <p:extLst>
              <p:ext uri="{D42A27DB-BD31-4B8C-83A1-F6EECF244321}">
                <p14:modId xmlns:p14="http://schemas.microsoft.com/office/powerpoint/2010/main" val="2249426108"/>
              </p:ext>
            </p:extLst>
          </p:nvPr>
        </p:nvGraphicFramePr>
        <p:xfrm>
          <a:off x="653430" y="2724477"/>
          <a:ext cx="2334010" cy="2210157"/>
        </p:xfrm>
        <a:graphic>
          <a:graphicData uri="http://schemas.openxmlformats.org/drawingml/2006/chart">
            <c:chart xmlns:c="http://schemas.openxmlformats.org/drawingml/2006/chart" xmlns:r="http://schemas.openxmlformats.org/officeDocument/2006/relationships" r:id="rId5"/>
          </a:graphicData>
        </a:graphic>
      </p:graphicFrame>
      <p:sp>
        <p:nvSpPr>
          <p:cNvPr id="8" name="Content Placeholder 2">
            <a:extLst>
              <a:ext uri="{FF2B5EF4-FFF2-40B4-BE49-F238E27FC236}">
                <a16:creationId xmlns:a16="http://schemas.microsoft.com/office/drawing/2014/main" id="{D4AF8D4F-8551-458C-8226-39194518EAB1}"/>
              </a:ext>
            </a:extLst>
          </p:cNvPr>
          <p:cNvSpPr txBox="1">
            <a:spLocks/>
          </p:cNvSpPr>
          <p:nvPr/>
        </p:nvSpPr>
        <p:spPr>
          <a:xfrm>
            <a:off x="6096000" y="928120"/>
            <a:ext cx="53435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1400" kern="1200">
                <a:solidFill>
                  <a:schemeClr val="tx1"/>
                </a:solidFill>
                <a:latin typeface="Arial" panose="020B0604020202020204" pitchFamily="34" charset="0"/>
                <a:ea typeface="+mn-ea"/>
                <a:cs typeface="Arial" panose="020B0604020202020204" pitchFamily="34" charset="0"/>
              </a:defRPr>
            </a:lvl1pPr>
            <a:lvl2pPr marL="2286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2286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b="1" dirty="0">
                <a:highlight>
                  <a:srgbClr val="000000">
                    <a:alpha val="0"/>
                  </a:srgbClr>
                </a:highlight>
                <a:latin typeface="Arial"/>
                <a:ea typeface="Calibri"/>
                <a:cs typeface="Times New Roman"/>
              </a:rPr>
              <a:t>Das Aufkommen von Erdgas eröffnet eine Chance für den wirtschaftlichen Wandel, doch dieser wird nicht automatisch eintreten. In einem optimistischen Szenario könnte das reale BIP bis 2033 um das 1,63-Fache höher liegen, und selbst bei einer Verzögerung der Umsetzung des Mamba-Projekts läge das reale BIP um 60 % höher als ohne LNG-Produktion. Dadurch steigt das BIP pro Kopf bis 2033 auf nahezu 1.000 USD (gegenüber geschätzten 485 USD im Jahr 2020).</a:t>
            </a:r>
          </a:p>
        </p:txBody>
      </p:sp>
      <p:graphicFrame>
        <p:nvGraphicFramePr>
          <p:cNvPr id="9" name="Chart 8">
            <a:extLst>
              <a:ext uri="{FF2B5EF4-FFF2-40B4-BE49-F238E27FC236}">
                <a16:creationId xmlns:a16="http://schemas.microsoft.com/office/drawing/2014/main" id="{B945B5D1-6043-4EC3-814D-734603086A64}"/>
              </a:ext>
            </a:extLst>
          </p:cNvPr>
          <p:cNvGraphicFramePr/>
          <p:nvPr>
            <p:extLst>
              <p:ext uri="{D42A27DB-BD31-4B8C-83A1-F6EECF244321}">
                <p14:modId xmlns:p14="http://schemas.microsoft.com/office/powerpoint/2010/main" val="3449040667"/>
              </p:ext>
            </p:extLst>
          </p:nvPr>
        </p:nvGraphicFramePr>
        <p:xfrm>
          <a:off x="6575947" y="3161433"/>
          <a:ext cx="4601247" cy="3099517"/>
        </p:xfrm>
        <a:graphic>
          <a:graphicData uri="http://schemas.openxmlformats.org/drawingml/2006/chart">
            <c:chart xmlns:c="http://schemas.openxmlformats.org/drawingml/2006/chart" xmlns:r="http://schemas.openxmlformats.org/officeDocument/2006/relationships" r:id="rId6"/>
          </a:graphicData>
        </a:graphic>
      </p:graphicFrame>
      <p:sp>
        <p:nvSpPr>
          <p:cNvPr id="12" name="Footer Placeholder 11">
            <a:extLst>
              <a:ext uri="{FF2B5EF4-FFF2-40B4-BE49-F238E27FC236}">
                <a16:creationId xmlns:a16="http://schemas.microsoft.com/office/drawing/2014/main" id="{73A9F09F-4CEE-491F-BBC7-7BD60569AFEF}"/>
              </a:ext>
            </a:extLst>
          </p:cNvPr>
          <p:cNvSpPr>
            <a:spLocks noGrp="1"/>
          </p:cNvSpPr>
          <p:nvPr>
            <p:ph type="ftr" sz="quarter" idx="11"/>
          </p:nvPr>
        </p:nvSpPr>
        <p:spPr/>
        <p:txBody>
          <a:bodyPr/>
          <a:lstStyle/>
          <a:p>
            <a:r>
              <a:rPr lang="en-US"/>
              <a:t>CPF 2023-2027. Öffentliche Fassung. Maputo, Mai 2022.</a:t>
            </a:r>
          </a:p>
        </p:txBody>
      </p:sp>
      <p:sp>
        <p:nvSpPr>
          <p:cNvPr id="13" name="Slide Number Placeholder 12">
            <a:extLst>
              <a:ext uri="{FF2B5EF4-FFF2-40B4-BE49-F238E27FC236}">
                <a16:creationId xmlns:a16="http://schemas.microsoft.com/office/drawing/2014/main" id="{2EC9E5E6-1F15-44BC-9EAF-EF7E1CD44E46}"/>
              </a:ext>
            </a:extLst>
          </p:cNvPr>
          <p:cNvSpPr>
            <a:spLocks noGrp="1"/>
          </p:cNvSpPr>
          <p:nvPr>
            <p:ph type="sldNum" sz="quarter" idx="12"/>
          </p:nvPr>
        </p:nvSpPr>
        <p:spPr/>
        <p:txBody>
          <a:bodyPr/>
          <a:lstStyle/>
          <a:p>
            <a:fld id="{B8473C9A-9E91-4025-B5E2-D7B202510636}" type="slidenum">
              <a:rPr lang="en-US" smtClean="0"/>
              <a:t>6</a:t>
            </a:fld>
            <a:endParaRPr lang="en-US" dirty="0"/>
          </a:p>
        </p:txBody>
      </p:sp>
      <p:pic>
        <p:nvPicPr>
          <p:cNvPr id="4" name="Picture 3">
            <a:extLst>
              <a:ext uri="{FF2B5EF4-FFF2-40B4-BE49-F238E27FC236}">
                <a16:creationId xmlns:a16="http://schemas.microsoft.com/office/drawing/2014/main" id="{E0A0AE54-87D8-42E6-8DE7-271AD90217CA}"/>
              </a:ext>
            </a:extLst>
          </p:cNvPr>
          <p:cNvPicPr>
            <a:picLocks noChangeAspect="1"/>
          </p:cNvPicPr>
          <p:nvPr/>
        </p:nvPicPr>
        <p:blipFill>
          <a:blip r:embed="rId7"/>
          <a:stretch>
            <a:fillRect/>
          </a:stretch>
        </p:blipFill>
        <p:spPr>
          <a:xfrm>
            <a:off x="82631" y="202883"/>
            <a:ext cx="2316681" cy="463336"/>
          </a:xfrm>
          <a:prstGeom prst="rect">
            <a:avLst/>
          </a:prstGeom>
        </p:spPr>
      </p:pic>
    </p:spTree>
    <p:extLst>
      <p:ext uri="{BB962C8B-B14F-4D97-AF65-F5344CB8AC3E}">
        <p14:creationId xmlns:p14="http://schemas.microsoft.com/office/powerpoint/2010/main" val="157084141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4B562-863E-411E-8C8D-327DA3E88280}"/>
              </a:ext>
            </a:extLst>
          </p:cNvPr>
          <p:cNvSpPr>
            <a:spLocks noGrp="1"/>
          </p:cNvSpPr>
          <p:nvPr>
            <p:ph type="title"/>
          </p:nvPr>
        </p:nvSpPr>
        <p:spPr>
          <a:xfrm>
            <a:off x="2550928" y="102307"/>
            <a:ext cx="11053131" cy="547685"/>
          </a:xfrm>
        </p:spPr>
        <p:txBody>
          <a:bodyPr>
            <a:noAutofit/>
          </a:bodyPr>
          <a:lstStyle/>
          <a:p>
            <a:r>
              <a:rPr lang="en-US" sz="2400" b="1" i="0" u="none" strike="noStrike" dirty="0">
                <a:highlight>
                  <a:srgbClr val="000000">
                    <a:alpha val="0"/>
                  </a:srgbClr>
                </a:highlight>
                <a:latin typeface="Arial"/>
              </a:rPr>
              <a:t>Länderkontext: Entwicklungsherausforderungen und -chancen</a:t>
            </a:r>
          </a:p>
        </p:txBody>
      </p:sp>
      <p:sp>
        <p:nvSpPr>
          <p:cNvPr id="7" name="Content Placeholder 6">
            <a:extLst>
              <a:ext uri="{FF2B5EF4-FFF2-40B4-BE49-F238E27FC236}">
                <a16:creationId xmlns:a16="http://schemas.microsoft.com/office/drawing/2014/main" id="{FF5C214D-5EAE-4BCF-B630-4930BE12178E}"/>
              </a:ext>
            </a:extLst>
          </p:cNvPr>
          <p:cNvSpPr>
            <a:spLocks noGrp="1"/>
          </p:cNvSpPr>
          <p:nvPr>
            <p:ph idx="1"/>
          </p:nvPr>
        </p:nvSpPr>
        <p:spPr>
          <a:xfrm>
            <a:off x="298515" y="717938"/>
            <a:ext cx="11594969" cy="5570466"/>
          </a:xfrm>
        </p:spPr>
        <p:txBody>
          <a:bodyPr>
            <a:noAutofit/>
          </a:bodyPr>
          <a:lstStyle/>
          <a:p>
            <a:r>
              <a:rPr lang="en-US" sz="1600" b="1" i="0" u="none" strike="noStrike" dirty="0">
                <a:highlight>
                  <a:srgbClr val="000000">
                    <a:alpha val="0"/>
                  </a:srgbClr>
                </a:highlight>
                <a:latin typeface="Arial"/>
                <a:ea typeface="Calibri"/>
                <a:cs typeface="Times New Roman"/>
              </a:rPr>
              <a:t>Jüngste wirtschaftliche Entwicklungen. Die kurzfristige makroökonomische Lage ist stabil, doch das Wachstum ist in den letzten Jahren ins Stocken geraten. Das Land weist ein hohes Risiko der Überschuldung auf, doch die Schuldenlast wird vorausschauend als tragfähig eingestuft, wenn potenzielle LNG-Einnahmen berücksichtigt werden.</a:t>
            </a:r>
          </a:p>
          <a:p>
            <a:r>
              <a:rPr lang="en-US" sz="1600" b="1" i="0" u="none" strike="noStrike" dirty="0">
                <a:highlight>
                  <a:srgbClr val="000000">
                    <a:alpha val="0"/>
                  </a:srgbClr>
                </a:highlight>
                <a:latin typeface="Arial"/>
                <a:ea typeface="Calibri"/>
                <a:cs typeface="Times New Roman"/>
              </a:rPr>
              <a:t>	Die mittel- und langfristigen Wachstumsaussichten sind positiv, unterliegen jedoch erheblichen Risiken, darunter eine neue 	Covid-19-Welle, neue Klimaschocks, das Wiederaufflammen des Konflikts im Norden und die Auswirkungen des Krieges in der 	Ukraine.</a:t>
            </a:r>
          </a:p>
          <a:p>
            <a:r>
              <a:rPr lang="en-US" sz="1600" b="1" i="0" u="none" strike="noStrike" dirty="0">
                <a:highlight>
                  <a:srgbClr val="000000">
                    <a:alpha val="0"/>
                  </a:srgbClr>
                </a:highlight>
                <a:latin typeface="Arial"/>
                <a:ea typeface="Calibri"/>
                <a:cs typeface="Times New Roman"/>
              </a:rPr>
              <a:t>	Die makroökonomischen Risiken und ihre Auswirkungen auf die Armut sind beträchtlich (Inflation, Zinssatz, Haushaltsdruck und 	Ausweitung des Handelsbilanzdefizits). Die Auswirkungen auf die Armut werden direkt (Lebensmittel- und Kraftstoffpreise) und indirekt 	(Schaffung von Arbeitsplätzen) sein, dürften sich jedoch auf städtische und ländliche Gebiete sowie auf 	unterschiedliche Armutsniveaus verschieden auswirken.	</a:t>
            </a:r>
          </a:p>
          <a:p>
            <a:r>
              <a:rPr lang="en-US" sz="1600" b="1" i="0" u="none" strike="noStrike" dirty="0">
                <a:highlight>
                  <a:srgbClr val="000000">
                    <a:alpha val="0"/>
                  </a:srgbClr>
                </a:highlight>
                <a:latin typeface="Arial"/>
                <a:ea typeface="Calibri"/>
                <a:cs typeface="Times New Roman"/>
              </a:rPr>
              <a:t/>
            </a:r>
          </a:p>
        </p:txBody>
      </p:sp>
      <p:graphicFrame>
        <p:nvGraphicFramePr>
          <p:cNvPr id="5" name="Chart 4">
            <a:extLst>
              <a:ext uri="{FF2B5EF4-FFF2-40B4-BE49-F238E27FC236}">
                <a16:creationId xmlns:a16="http://schemas.microsoft.com/office/drawing/2014/main" id="{3D41A04A-4887-4AD2-B706-BBE0CC35588A}"/>
              </a:ext>
            </a:extLst>
          </p:cNvPr>
          <p:cNvGraphicFramePr>
            <a:graphicFrameLocks/>
          </p:cNvGraphicFramePr>
          <p:nvPr>
            <p:extLst>
              <p:ext uri="{D42A27DB-BD31-4B8C-83A1-F6EECF244321}">
                <p14:modId xmlns:p14="http://schemas.microsoft.com/office/powerpoint/2010/main" val="3151101138"/>
              </p:ext>
            </p:extLst>
          </p:nvPr>
        </p:nvGraphicFramePr>
        <p:xfrm>
          <a:off x="4231634" y="3503171"/>
          <a:ext cx="3474720" cy="263900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F2CE7B03-3D15-45B4-B378-C6A4BB74DD36}"/>
              </a:ext>
            </a:extLst>
          </p:cNvPr>
          <p:cNvGraphicFramePr/>
          <p:nvPr>
            <p:extLst>
              <p:ext uri="{D42A27DB-BD31-4B8C-83A1-F6EECF244321}">
                <p14:modId xmlns:p14="http://schemas.microsoft.com/office/powerpoint/2010/main" val="411118899"/>
              </p:ext>
            </p:extLst>
          </p:nvPr>
        </p:nvGraphicFramePr>
        <p:xfrm>
          <a:off x="442429" y="3641656"/>
          <a:ext cx="3474720" cy="250570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5B25FF02-534B-44B0-808F-BC53F910134C}"/>
              </a:ext>
            </a:extLst>
          </p:cNvPr>
          <p:cNvGraphicFramePr>
            <a:graphicFrameLocks/>
          </p:cNvGraphicFramePr>
          <p:nvPr>
            <p:extLst>
              <p:ext uri="{D42A27DB-BD31-4B8C-83A1-F6EECF244321}">
                <p14:modId xmlns:p14="http://schemas.microsoft.com/office/powerpoint/2010/main" val="1247624014"/>
              </p:ext>
            </p:extLst>
          </p:nvPr>
        </p:nvGraphicFramePr>
        <p:xfrm>
          <a:off x="8274853" y="3429000"/>
          <a:ext cx="3149854" cy="2773496"/>
        </p:xfrm>
        <a:graphic>
          <a:graphicData uri="http://schemas.openxmlformats.org/drawingml/2006/chart">
            <c:chart xmlns:c="http://schemas.openxmlformats.org/drawingml/2006/chart" xmlns:r="http://schemas.openxmlformats.org/officeDocument/2006/relationships" r:id="rId4"/>
          </a:graphicData>
        </a:graphic>
      </p:graphicFrame>
      <p:sp>
        <p:nvSpPr>
          <p:cNvPr id="11" name="Footer Placeholder 10">
            <a:extLst>
              <a:ext uri="{FF2B5EF4-FFF2-40B4-BE49-F238E27FC236}">
                <a16:creationId xmlns:a16="http://schemas.microsoft.com/office/drawing/2014/main" id="{5BAE0BB4-F29E-449A-990E-1183D83444ED}"/>
              </a:ext>
            </a:extLst>
          </p:cNvPr>
          <p:cNvSpPr>
            <a:spLocks noGrp="1"/>
          </p:cNvSpPr>
          <p:nvPr>
            <p:ph type="ftr" sz="quarter" idx="11"/>
          </p:nvPr>
        </p:nvSpPr>
        <p:spPr/>
        <p:txBody>
          <a:bodyPr/>
          <a:lstStyle/>
          <a:p>
            <a:r>
              <a:rPr lang="en-US"/>
              <a:t>CPF 2023-2027. Öffentliche Fassung. Maputo, Mai 2022.</a:t>
            </a:r>
          </a:p>
        </p:txBody>
      </p:sp>
      <p:sp>
        <p:nvSpPr>
          <p:cNvPr id="12" name="Slide Number Placeholder 11">
            <a:extLst>
              <a:ext uri="{FF2B5EF4-FFF2-40B4-BE49-F238E27FC236}">
                <a16:creationId xmlns:a16="http://schemas.microsoft.com/office/drawing/2014/main" id="{BF81D8F4-0773-4704-86D5-9D8A927D0707}"/>
              </a:ext>
            </a:extLst>
          </p:cNvPr>
          <p:cNvSpPr>
            <a:spLocks noGrp="1"/>
          </p:cNvSpPr>
          <p:nvPr>
            <p:ph type="sldNum" sz="quarter" idx="12"/>
          </p:nvPr>
        </p:nvSpPr>
        <p:spPr/>
        <p:txBody>
          <a:bodyPr/>
          <a:lstStyle/>
          <a:p>
            <a:fld id="{B8473C9A-9E91-4025-B5E2-D7B202510636}" type="slidenum">
              <a:rPr lang="en-US" smtClean="0"/>
              <a:t>7</a:t>
            </a:fld>
            <a:endParaRPr lang="en-US" dirty="0"/>
          </a:p>
        </p:txBody>
      </p:sp>
      <p:pic>
        <p:nvPicPr>
          <p:cNvPr id="3" name="Picture 2">
            <a:extLst>
              <a:ext uri="{FF2B5EF4-FFF2-40B4-BE49-F238E27FC236}">
                <a16:creationId xmlns:a16="http://schemas.microsoft.com/office/drawing/2014/main" id="{17C60831-09AB-497C-8558-6E05650896B0}"/>
              </a:ext>
            </a:extLst>
          </p:cNvPr>
          <p:cNvPicPr>
            <a:picLocks noChangeAspect="1"/>
          </p:cNvPicPr>
          <p:nvPr/>
        </p:nvPicPr>
        <p:blipFill>
          <a:blip r:embed="rId5"/>
          <a:stretch>
            <a:fillRect/>
          </a:stretch>
        </p:blipFill>
        <p:spPr>
          <a:xfrm>
            <a:off x="104401" y="89392"/>
            <a:ext cx="2316681" cy="463336"/>
          </a:xfrm>
          <a:prstGeom prst="rect">
            <a:avLst/>
          </a:prstGeom>
        </p:spPr>
      </p:pic>
    </p:spTree>
    <p:extLst>
      <p:ext uri="{BB962C8B-B14F-4D97-AF65-F5344CB8AC3E}">
        <p14:creationId xmlns:p14="http://schemas.microsoft.com/office/powerpoint/2010/main" val="209823962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A676C-DAD8-44C2-9338-EA1C8E264E64}"/>
              </a:ext>
            </a:extLst>
          </p:cNvPr>
          <p:cNvSpPr>
            <a:spLocks noGrp="1"/>
          </p:cNvSpPr>
          <p:nvPr>
            <p:ph type="title"/>
          </p:nvPr>
        </p:nvSpPr>
        <p:spPr>
          <a:xfrm>
            <a:off x="2689720" y="340605"/>
            <a:ext cx="9094385" cy="701675"/>
          </a:xfrm>
        </p:spPr>
        <p:txBody>
          <a:bodyPr>
            <a:noAutofit/>
          </a:bodyPr>
          <a:lstStyle/>
          <a:p>
            <a:r>
              <a:rPr lang="en-US" b="1" i="0" u="none" strike="noStrike" dirty="0">
                <a:highlight>
                  <a:srgbClr val="000000">
                    <a:alpha val="0"/>
                  </a:srgbClr>
                </a:highlight>
                <a:latin typeface="Arial"/>
              </a:rPr>
              <a:t>Systematic Country Diagnostic (SCD) der Weltbank und Empfehlungen – Zusammenfassung</a:t>
            </a:r>
          </a:p>
        </p:txBody>
      </p:sp>
      <p:sp>
        <p:nvSpPr>
          <p:cNvPr id="3" name="Content Placeholder 2">
            <a:extLst>
              <a:ext uri="{FF2B5EF4-FFF2-40B4-BE49-F238E27FC236}">
                <a16:creationId xmlns:a16="http://schemas.microsoft.com/office/drawing/2014/main" id="{BD23C6FE-0CFA-4E2B-A31B-8491CCC3C067}"/>
              </a:ext>
            </a:extLst>
          </p:cNvPr>
          <p:cNvSpPr>
            <a:spLocks noGrp="1"/>
          </p:cNvSpPr>
          <p:nvPr>
            <p:ph idx="1"/>
          </p:nvPr>
        </p:nvSpPr>
        <p:spPr>
          <a:xfrm>
            <a:off x="536986" y="1259226"/>
            <a:ext cx="5738870" cy="5267955"/>
          </a:xfrm>
        </p:spPr>
        <p:txBody>
          <a:bodyPr>
            <a:noAutofit/>
          </a:bodyPr>
          <a:lstStyle/>
          <a:p>
            <a:r>
              <a:rPr lang="en-US" sz="1700" b="0" i="0" u="none" strike="noStrike" dirty="0">
                <a:highlight>
                  <a:srgbClr val="000000">
                    <a:alpha val="0"/>
                  </a:srgbClr>
                </a:highlight>
                <a:latin typeface="Arial"/>
              </a:rPr>
              <a:t>Die Aktualisierung des SCD für Mosambik kam zu dem Schluss, dass die wichtigsten Herausforderungen des Landes insgesamt gegenüber der vorherigen Diagnose (2016) unverändert geblieben sind.</a:t>
            </a:r>
          </a:p>
          <a:p>
            <a:r>
              <a:rPr lang="en-US" sz="1700" b="0" i="0" u="none" strike="noStrike" dirty="0">
                <a:highlight>
                  <a:srgbClr val="000000">
                    <a:alpha val="0"/>
                  </a:srgbClr>
                </a:highlight>
                <a:latin typeface="Arial"/>
              </a:rPr>
              <a:t>Um die Entwicklung zu beschleunigen, muss Mosambik auf einen stärker inklusiven, nachhaltigen und resilienten Entwicklungspfad (GRID) umsteigen.</a:t>
            </a:r>
          </a:p>
          <a:p>
            <a:r>
              <a:rPr lang="en-US" sz="1700" b="0" i="0" u="none" strike="noStrike" dirty="0">
                <a:highlight>
                  <a:srgbClr val="000000">
                    <a:alpha val="0"/>
                  </a:srgbClr>
                </a:highlight>
                <a:latin typeface="Arial"/>
              </a:rPr>
              <a:t>Beschleunigtes Wachstum ist wichtig, doch das Modell muss überarbeitet werden, um es inklusiver zu gestalten. Dies erfordert einen beschleunigten Strukturwandel, höhere und bessere Investitionen in die Bevölkerung sowie eine Reform der zentralen Institutionen zur Verbesserung der Effizienz und der Regierungsführung – wodurch die Reaktionsfähigkeit des Landes auf Klima- und Gesundheitsrisiken sowie die Prävention von Konflikten und Gewalt verbessert werden.</a:t>
            </a:r>
          </a:p>
          <a:p>
            <a:r>
              <a:rPr lang="en-US" sz="1700" b="0" i="0" u="none" strike="noStrike" dirty="0">
                <a:highlight>
                  <a:srgbClr val="000000">
                    <a:alpha val="0"/>
                  </a:srgbClr>
                </a:highlight>
                <a:latin typeface="Arial"/>
              </a:rPr>
              <a:t>Die zur Erreichung dieser Ziele erforderlichen Reformen und Politiken wurden in der SCD-Aktualisierung auf Grundlage aktueller WBG-Studien ermittelt.</a:t>
            </a:r>
          </a:p>
        </p:txBody>
      </p:sp>
      <p:pic>
        <p:nvPicPr>
          <p:cNvPr id="5" name="Content Placeholder 6">
            <a:extLst>
              <a:ext uri="{FF2B5EF4-FFF2-40B4-BE49-F238E27FC236}">
                <a16:creationId xmlns:a16="http://schemas.microsoft.com/office/drawing/2014/main" id="{283EB72C-05AB-42AE-8FAE-631966134AA5}"/>
              </a:ext>
            </a:extLst>
          </p:cNvPr>
          <p:cNvPicPr>
            <a:picLocks/>
          </p:cNvPicPr>
          <p:nvPr/>
        </p:nvPicPr>
        <p:blipFill rotWithShape="1">
          <a:blip r:embed="rId2">
            <a:extLst>
              <a:ext uri="{28A0092B-C50C-407E-A947-70E740481C1C}">
                <a14:useLocalDpi xmlns:a14="http://schemas.microsoft.com/office/drawing/2010/main" val="0"/>
              </a:ext>
            </a:extLst>
          </a:blip>
          <a:srcRect l="6213" t="2555" r="5327"/>
          <a:stretch/>
        </p:blipFill>
        <p:spPr bwMode="auto">
          <a:xfrm>
            <a:off x="6462659" y="1602641"/>
            <a:ext cx="5192355" cy="4924157"/>
          </a:xfrm>
          <a:prstGeom prst="rect">
            <a:avLst/>
          </a:prstGeom>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113BE710-35E0-4B80-8E28-6785528D3EDB}"/>
              </a:ext>
            </a:extLst>
          </p:cNvPr>
          <p:cNvSpPr txBox="1">
            <a:spLocks/>
          </p:cNvSpPr>
          <p:nvPr/>
        </p:nvSpPr>
        <p:spPr>
          <a:xfrm>
            <a:off x="6702014" y="1081353"/>
            <a:ext cx="4953000" cy="7016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2300" b="1" kern="1200">
                <a:solidFill>
                  <a:schemeClr val="accent1">
                    <a:lumMod val="75000"/>
                  </a:schemeClr>
                </a:solidFill>
                <a:latin typeface="Arial"/>
                <a:ea typeface="+mj-ea"/>
                <a:cs typeface="Arial"/>
              </a:defRPr>
            </a:lvl1pPr>
          </a:lstStyle>
          <a:p>
            <a:r>
              <a:rPr lang="en-US" sz="1050" dirty="0"/>
              <a:t>Systematic Country Diagnostic (SCD) der Weltbank gemäß den 2016 festgelegten Zielen
</a:t>
            </a:r>
          </a:p>
          <a:p>
            <a:r>
              <a:rPr lang="en-US" sz="1050" dirty="0"/>
              <a:t/>
            </a:r>
          </a:p>
        </p:txBody>
      </p:sp>
      <p:sp>
        <p:nvSpPr>
          <p:cNvPr id="9" name="Footer Placeholder 8">
            <a:extLst>
              <a:ext uri="{FF2B5EF4-FFF2-40B4-BE49-F238E27FC236}">
                <a16:creationId xmlns:a16="http://schemas.microsoft.com/office/drawing/2014/main" id="{DAC65E50-89AB-4177-9273-DB727ADF80FD}"/>
              </a:ext>
            </a:extLst>
          </p:cNvPr>
          <p:cNvSpPr>
            <a:spLocks noGrp="1"/>
          </p:cNvSpPr>
          <p:nvPr>
            <p:ph type="ftr" sz="quarter" idx="11"/>
          </p:nvPr>
        </p:nvSpPr>
        <p:spPr/>
        <p:txBody>
          <a:bodyPr/>
          <a:lstStyle/>
          <a:p>
            <a:r>
              <a:rPr lang="en-US"/>
              <a:t>CPF 2023-2027. Öffentliche Fassung. Maputo, Mai 2022.</a:t>
            </a:r>
          </a:p>
        </p:txBody>
      </p:sp>
      <p:sp>
        <p:nvSpPr>
          <p:cNvPr id="10" name="Slide Number Placeholder 9">
            <a:extLst>
              <a:ext uri="{FF2B5EF4-FFF2-40B4-BE49-F238E27FC236}">
                <a16:creationId xmlns:a16="http://schemas.microsoft.com/office/drawing/2014/main" id="{445B123D-B40D-4386-B9CF-E9BAAC87872E}"/>
              </a:ext>
            </a:extLst>
          </p:cNvPr>
          <p:cNvSpPr>
            <a:spLocks noGrp="1"/>
          </p:cNvSpPr>
          <p:nvPr>
            <p:ph type="sldNum" sz="quarter" idx="12"/>
          </p:nvPr>
        </p:nvSpPr>
        <p:spPr/>
        <p:txBody>
          <a:bodyPr/>
          <a:lstStyle/>
          <a:p>
            <a:fld id="{B8473C9A-9E91-4025-B5E2-D7B202510636}" type="slidenum">
              <a:rPr lang="en-US" smtClean="0"/>
              <a:t>8</a:t>
            </a:fld>
            <a:endParaRPr lang="en-US" dirty="0"/>
          </a:p>
        </p:txBody>
      </p:sp>
      <p:pic>
        <p:nvPicPr>
          <p:cNvPr id="4" name="Picture 3">
            <a:extLst>
              <a:ext uri="{FF2B5EF4-FFF2-40B4-BE49-F238E27FC236}">
                <a16:creationId xmlns:a16="http://schemas.microsoft.com/office/drawing/2014/main" id="{C7949A21-272C-4FC9-8A3B-5DD99DD162F7}"/>
              </a:ext>
            </a:extLst>
          </p:cNvPr>
          <p:cNvPicPr>
            <a:picLocks noChangeAspect="1"/>
          </p:cNvPicPr>
          <p:nvPr/>
        </p:nvPicPr>
        <p:blipFill>
          <a:blip r:embed="rId3"/>
          <a:stretch>
            <a:fillRect/>
          </a:stretch>
        </p:blipFill>
        <p:spPr>
          <a:xfrm>
            <a:off x="536986" y="228106"/>
            <a:ext cx="2316681" cy="463336"/>
          </a:xfrm>
          <a:prstGeom prst="rect">
            <a:avLst/>
          </a:prstGeom>
        </p:spPr>
      </p:pic>
    </p:spTree>
    <p:extLst>
      <p:ext uri="{BB962C8B-B14F-4D97-AF65-F5344CB8AC3E}">
        <p14:creationId xmlns:p14="http://schemas.microsoft.com/office/powerpoint/2010/main" val="335552275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8BF6E-3F48-4133-BFA3-5A80DFDCB4E2}"/>
              </a:ext>
            </a:extLst>
          </p:cNvPr>
          <p:cNvSpPr>
            <a:spLocks noGrp="1"/>
          </p:cNvSpPr>
          <p:nvPr>
            <p:ph type="title"/>
          </p:nvPr>
        </p:nvSpPr>
        <p:spPr>
          <a:xfrm>
            <a:off x="967292" y="250925"/>
            <a:ext cx="10515600" cy="1325563"/>
          </a:xfrm>
        </p:spPr>
        <p:txBody>
          <a:bodyPr>
            <a:noAutofit/>
          </a:bodyPr>
          <a:lstStyle/>
          <a:p>
            <a:r>
              <a:rPr lang="en-US" sz="4000" dirty="0"/>
              <a:t>Aufbau der Präsentation
</a:t>
            </a:r>
          </a:p>
          <a:p>
            <a:r>
              <a:rPr lang="en-US" sz="4000" dirty="0"/>
              <a:t/>
            </a:r>
          </a:p>
        </p:txBody>
      </p:sp>
      <p:sp>
        <p:nvSpPr>
          <p:cNvPr id="3" name="Content Placeholder 2">
            <a:extLst>
              <a:ext uri="{FF2B5EF4-FFF2-40B4-BE49-F238E27FC236}">
                <a16:creationId xmlns:a16="http://schemas.microsoft.com/office/drawing/2014/main" id="{A71C13BF-78D7-4831-B2B9-0342F47476B7}"/>
              </a:ext>
            </a:extLst>
          </p:cNvPr>
          <p:cNvSpPr>
            <a:spLocks noGrp="1"/>
          </p:cNvSpPr>
          <p:nvPr>
            <p:ph idx="1"/>
          </p:nvPr>
        </p:nvSpPr>
        <p:spPr>
          <a:xfrm>
            <a:off x="217843" y="1462089"/>
            <a:ext cx="11357385" cy="4648256"/>
          </a:xfrm>
        </p:spPr>
        <p:txBody>
          <a:bodyPr>
            <a:noAutofit/>
          </a:bodyPr>
          <a:lstStyle/>
          <a:p>
            <a:r>
              <a:rPr lang="en-US" sz="3200" b="1" dirty="0">
                <a:solidFill>
                  <a:schemeClr val="bg2">
                    <a:lumMod val="90000"/>
                  </a:schemeClr>
                </a:solidFill>
              </a:rPr>
              <a:t>Sicht der Weltbankgruppe auf die wichtigsten strategischen Herausforderungen des Landes   
</a:t>
            </a:r>
          </a:p>
          <a:p>
            <a:r>
              <a:rPr lang="en-US" sz="3200" b="1" dirty="0">
                <a:solidFill>
                  <a:schemeClr val="bg2">
                    <a:lumMod val="90000"/>
                  </a:schemeClr>
                </a:solidFill>
              </a:rPr>
              <a:t>Wichtigste Lehren aus dem vorherigen CPF (2017-2021)</a:t>
            </a:r>
          </a:p>
          <a:p>
            <a:r>
              <a:rPr lang="en-US" sz="3200" b="1" dirty="0">
                <a:solidFill>
                  <a:schemeClr val="bg2">
                    <a:lumMod val="90000"/>
                  </a:schemeClr>
                </a:solidFill>
              </a:rPr>
              <a:t>Erster Vorschlag für den CPF 2023-2027</a:t>
            </a:r>
          </a:p>
          <a:p>
            <a:r>
              <a:rPr lang="en-US" sz="3200" b="1" dirty="0">
                <a:solidFill>
                  <a:schemeClr val="bg2">
                    <a:lumMod val="90000"/>
                  </a:schemeClr>
                </a:solidFill>
              </a:rPr>
              <a:t/>
            </a:r>
          </a:p>
        </p:txBody>
      </p:sp>
      <p:sp>
        <p:nvSpPr>
          <p:cNvPr id="7" name="Footer Placeholder 6">
            <a:extLst>
              <a:ext uri="{FF2B5EF4-FFF2-40B4-BE49-F238E27FC236}">
                <a16:creationId xmlns:a16="http://schemas.microsoft.com/office/drawing/2014/main" id="{64BAC93B-91C7-4C10-A50E-D811EFA7120E}"/>
              </a:ext>
            </a:extLst>
          </p:cNvPr>
          <p:cNvSpPr>
            <a:spLocks noGrp="1"/>
          </p:cNvSpPr>
          <p:nvPr>
            <p:ph type="ftr" sz="quarter" idx="11"/>
          </p:nvPr>
        </p:nvSpPr>
        <p:spPr/>
        <p:txBody>
          <a:bodyPr/>
          <a:lstStyle/>
          <a:p>
            <a:r>
              <a:rPr lang="en-US"/>
              <a:t>CPF 2023-2027. Öffentliche Fassung. Maputo, Mai 2022.</a:t>
            </a:r>
          </a:p>
        </p:txBody>
      </p:sp>
      <p:sp>
        <p:nvSpPr>
          <p:cNvPr id="8" name="Slide Number Placeholder 7">
            <a:extLst>
              <a:ext uri="{FF2B5EF4-FFF2-40B4-BE49-F238E27FC236}">
                <a16:creationId xmlns:a16="http://schemas.microsoft.com/office/drawing/2014/main" id="{C7FE97E1-662E-4A4B-9785-3AB102713595}"/>
              </a:ext>
            </a:extLst>
          </p:cNvPr>
          <p:cNvSpPr>
            <a:spLocks noGrp="1"/>
          </p:cNvSpPr>
          <p:nvPr>
            <p:ph type="sldNum" sz="quarter" idx="12"/>
          </p:nvPr>
        </p:nvSpPr>
        <p:spPr/>
        <p:txBody>
          <a:bodyPr/>
          <a:lstStyle/>
          <a:p>
            <a:fld id="{B8473C9A-9E91-4025-B5E2-D7B202510636}" type="slidenum">
              <a:rPr lang="en-US" smtClean="0"/>
              <a:t>9</a:t>
            </a:fld>
            <a:endParaRPr lang="en-US" dirty="0"/>
          </a:p>
        </p:txBody>
      </p:sp>
      <p:pic>
        <p:nvPicPr>
          <p:cNvPr id="4" name="Picture 3">
            <a:extLst>
              <a:ext uri="{FF2B5EF4-FFF2-40B4-BE49-F238E27FC236}">
                <a16:creationId xmlns:a16="http://schemas.microsoft.com/office/drawing/2014/main" id="{39D2B0C9-56D1-42EE-9614-AB89754E7CB6}"/>
              </a:ext>
            </a:extLst>
          </p:cNvPr>
          <p:cNvPicPr>
            <a:picLocks noChangeAspect="1"/>
          </p:cNvPicPr>
          <p:nvPr/>
        </p:nvPicPr>
        <p:blipFill>
          <a:blip r:embed="rId2"/>
          <a:stretch>
            <a:fillRect/>
          </a:stretch>
        </p:blipFill>
        <p:spPr>
          <a:xfrm>
            <a:off x="365659" y="393171"/>
            <a:ext cx="2316681" cy="463336"/>
          </a:xfrm>
          <a:prstGeom prst="rect">
            <a:avLst/>
          </a:prstGeom>
        </p:spPr>
      </p:pic>
    </p:spTree>
    <p:extLst>
      <p:ext uri="{BB962C8B-B14F-4D97-AF65-F5344CB8AC3E}">
        <p14:creationId xmlns:p14="http://schemas.microsoft.com/office/powerpoint/2010/main" val="381791363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E39DA-BD7E-4AD0-924F-E915A4271702}"/>
              </a:ext>
            </a:extLst>
          </p:cNvPr>
          <p:cNvSpPr>
            <a:spLocks noGrp="1"/>
          </p:cNvSpPr>
          <p:nvPr>
            <p:ph type="title"/>
          </p:nvPr>
        </p:nvSpPr>
        <p:spPr>
          <a:xfrm>
            <a:off x="3259566" y="-20638"/>
            <a:ext cx="7998983" cy="1325563"/>
          </a:xfrm>
        </p:spPr>
        <p:txBody>
          <a:bodyPr>
            <a:normAutofit/>
          </a:bodyPr>
          <a:lstStyle/>
          <a:p>
            <a:r>
              <a:rPr lang="en-US" sz="2400" dirty="0"/>
              <a:t>CPF HJ2017-2021: Wesentliche Merkmale</a:t>
            </a:r>
          </a:p>
        </p:txBody>
      </p:sp>
      <p:sp>
        <p:nvSpPr>
          <p:cNvPr id="3" name="Content Placeholder 2">
            <a:extLst>
              <a:ext uri="{FF2B5EF4-FFF2-40B4-BE49-F238E27FC236}">
                <a16:creationId xmlns:a16="http://schemas.microsoft.com/office/drawing/2014/main" id="{AD41F2BB-97F4-4383-8764-F002A22E027D}"/>
              </a:ext>
            </a:extLst>
          </p:cNvPr>
          <p:cNvSpPr>
            <a:spLocks noGrp="1"/>
          </p:cNvSpPr>
          <p:nvPr>
            <p:ph idx="1"/>
          </p:nvPr>
        </p:nvSpPr>
        <p:spPr>
          <a:xfrm>
            <a:off x="300387" y="1171352"/>
            <a:ext cx="5735623" cy="5283236"/>
          </a:xfrm>
        </p:spPr>
        <p:txBody>
          <a:bodyPr>
            <a:noAutofit/>
          </a:bodyPr>
          <a:lstStyle/>
          <a:p>
            <a:r>
              <a:rPr lang="en-US" dirty="0">
                <a:latin typeface="+mn-lt"/>
              </a:rPr>
              <a:t>Ein Kontext, in dem das rasche Wachstum der Vorjahre zum Erliegen gekommen war. Die Erkenntnis, dass die Wirkung des Wachstums auf die Armutsbekämpfung geringer als nötig ausgefallen war.</a:t>
            </a:r>
          </a:p>
          <a:p>
            <a:r>
              <a:rPr lang="en-US" dirty="0">
                <a:latin typeface="+mn-lt"/>
              </a:rPr>
              <a:t/>
            </a:r>
          </a:p>
          <a:p>
            <a:r>
              <a:rPr lang="en-US" dirty="0">
                <a:latin typeface="+mn-lt"/>
              </a:rPr>
              <a:t>Der Schock der versteckten Schulden untergrub das Vertrauen in das Land und verringerte die Investitionen.</a:t>
            </a:r>
          </a:p>
          <a:p>
            <a:r>
              <a:rPr lang="en-US" dirty="0">
                <a:latin typeface="+mn-lt"/>
              </a:rPr>
              <a:t/>
            </a:r>
          </a:p>
          <a:p>
            <a:r>
              <a:rPr lang="en-US" dirty="0">
                <a:latin typeface="+mn-lt"/>
              </a:rPr>
              <a:t>Der CPF HJ17-HJ21 hatte das übergeordnete Ziel, Mosambik dabei zu helfen, „inklusives Wachstum durch die Förderung von Beschäftigung und die nachhaltige Steigerung der Produktivität zu erreichen“.</a:t>
            </a:r>
          </a:p>
          <a:p>
            <a:r>
              <a:rPr lang="en-US" dirty="0">
                <a:latin typeface="+mn-lt"/>
              </a:rPr>
              <a:t/>
            </a:r>
          </a:p>
          <a:p>
            <a:r>
              <a:rPr lang="en-US" dirty="0">
                <a:latin typeface="+mn-lt"/>
              </a:rPr>
              <a:t>Das Programm hatte 3 Schwerpunktbereiche: (i) Förderung diversifizierten Wachstums und gesteigerter Produktivität, (ii) Investitionen in Humankapital und (iii) Stärkung von Nachhaltigkeit und Resilienz.</a:t>
            </a:r>
          </a:p>
          <a:p>
            <a:r>
              <a:rPr lang="en-US" dirty="0">
                <a:latin typeface="+mn-lt"/>
              </a:rPr>
              <a:t/>
            </a:r>
          </a:p>
          <a:p>
            <a:r>
              <a:rPr lang="en-US" dirty="0">
                <a:latin typeface="+mn-lt"/>
              </a:rPr>
              <a:t>Das Portfolio der Weltbank wuchs von anfänglich 1,6 Mrd. US$ auf rund 2,9 Mrd. US$ an Zusagen über den gesamten CPF-Zeitraum.</a:t>
            </a:r>
          </a:p>
          <a:p>
            <a:r>
              <a:rPr lang="en-US" dirty="0">
                <a:latin typeface="+mn-lt"/>
              </a:rPr>
              <a:t/>
            </a:r>
          </a:p>
          <a:p>
            <a:r>
              <a:rPr lang="en-US" dirty="0">
                <a:latin typeface="+mn-lt"/>
              </a:rPr>
              <a:t>Zusätzlich: 700 Mio. US$ für die Prävention von Konflikten und Gewalt (HJ 2022) über die</a:t>
            </a:r>
          </a:p>
          <a:p>
            <a:r>
              <a:rPr lang="en-US" dirty="0">
                <a:latin typeface="+mn-lt"/>
              </a:rPr>
              <a:t/>
            </a:r>
          </a:p>
          <a:p>
            <a:r>
              <a:rPr lang="en-US" dirty="0">
                <a:latin typeface="+mn-lt"/>
              </a:rPr>
              <a:t>Investitionen von IFC und MIGA im Privatsektor mit Schwerpunkt auf transformativen Projekten zur Schaffung von Arbeitsplätzen und zur Armutsbekämpfung.</a:t>
            </a:r>
          </a:p>
        </p:txBody>
      </p:sp>
      <p:pic>
        <p:nvPicPr>
          <p:cNvPr id="11" name="Picture 10">
            <a:extLst>
              <a:ext uri="{FF2B5EF4-FFF2-40B4-BE49-F238E27FC236}">
                <a16:creationId xmlns:a16="http://schemas.microsoft.com/office/drawing/2014/main" id="{90336BA4-DAFB-496E-BA23-FD9499BC806B}"/>
              </a:ext>
            </a:extLst>
          </p:cNvPr>
          <p:cNvPicPr>
            <a:picLocks noChangeAspect="1"/>
          </p:cNvPicPr>
          <p:nvPr/>
        </p:nvPicPr>
        <p:blipFill>
          <a:blip r:embed="rId2"/>
          <a:stretch>
            <a:fillRect/>
          </a:stretch>
        </p:blipFill>
        <p:spPr>
          <a:xfrm>
            <a:off x="6036010" y="992982"/>
            <a:ext cx="5942634" cy="5144804"/>
          </a:xfrm>
          <a:prstGeom prst="rect">
            <a:avLst/>
          </a:prstGeom>
        </p:spPr>
      </p:pic>
      <p:sp>
        <p:nvSpPr>
          <p:cNvPr id="5" name="Rectangle 4">
            <a:extLst>
              <a:ext uri="{FF2B5EF4-FFF2-40B4-BE49-F238E27FC236}">
                <a16:creationId xmlns:a16="http://schemas.microsoft.com/office/drawing/2014/main" id="{EBE7ADC5-130D-44E2-A535-813420EF7862}"/>
              </a:ext>
            </a:extLst>
          </p:cNvPr>
          <p:cNvSpPr/>
          <p:nvPr/>
        </p:nvSpPr>
        <p:spPr>
          <a:xfrm>
            <a:off x="7551867" y="992981"/>
            <a:ext cx="645459" cy="4270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ooter Placeholder 12">
            <a:extLst>
              <a:ext uri="{FF2B5EF4-FFF2-40B4-BE49-F238E27FC236}">
                <a16:creationId xmlns:a16="http://schemas.microsoft.com/office/drawing/2014/main" id="{B32BD148-6C39-46D7-BA00-253237AE35AE}"/>
              </a:ext>
            </a:extLst>
          </p:cNvPr>
          <p:cNvSpPr>
            <a:spLocks noGrp="1"/>
          </p:cNvSpPr>
          <p:nvPr>
            <p:ph type="ftr" sz="quarter" idx="11"/>
          </p:nvPr>
        </p:nvSpPr>
        <p:spPr/>
        <p:txBody>
          <a:bodyPr/>
          <a:lstStyle/>
          <a:p>
            <a:r>
              <a:rPr lang="en-US"/>
              <a:t>CPF 2023-2027. Öffentliche Fassung. Maputo, Mai 2022.</a:t>
            </a:r>
          </a:p>
        </p:txBody>
      </p:sp>
      <p:pic>
        <p:nvPicPr>
          <p:cNvPr id="4" name="Picture 3">
            <a:extLst>
              <a:ext uri="{FF2B5EF4-FFF2-40B4-BE49-F238E27FC236}">
                <a16:creationId xmlns:a16="http://schemas.microsoft.com/office/drawing/2014/main" id="{3534EC23-E592-4B24-A636-726B7F88939A}"/>
              </a:ext>
            </a:extLst>
          </p:cNvPr>
          <p:cNvPicPr>
            <a:picLocks noChangeAspect="1"/>
          </p:cNvPicPr>
          <p:nvPr/>
        </p:nvPicPr>
        <p:blipFill>
          <a:blip r:embed="rId3"/>
          <a:stretch>
            <a:fillRect/>
          </a:stretch>
        </p:blipFill>
        <p:spPr>
          <a:xfrm>
            <a:off x="222790" y="343689"/>
            <a:ext cx="2316681" cy="463336"/>
          </a:xfrm>
          <a:prstGeom prst="rect">
            <a:avLst/>
          </a:prstGeom>
        </p:spPr>
      </p:pic>
      <p:sp>
        <p:nvSpPr>
          <p:cNvPr id="6" name="Slide Number Placeholder 5">
            <a:extLst>
              <a:ext uri="{FF2B5EF4-FFF2-40B4-BE49-F238E27FC236}">
                <a16:creationId xmlns:a16="http://schemas.microsoft.com/office/drawing/2014/main" id="{9A2C55B6-CA07-4ECE-B7AD-6DC69A70C6AD}"/>
              </a:ext>
            </a:extLst>
          </p:cNvPr>
          <p:cNvSpPr>
            <a:spLocks noGrp="1"/>
          </p:cNvSpPr>
          <p:nvPr>
            <p:ph type="sldNum" sz="quarter" idx="12"/>
          </p:nvPr>
        </p:nvSpPr>
        <p:spPr/>
        <p:txBody>
          <a:bodyPr/>
          <a:lstStyle/>
          <a:p>
            <a:fld id="{B8473C9A-9E91-4025-B5E2-D7B202510636}" type="slidenum">
              <a:rPr lang="en-US" smtClean="0"/>
              <a:t>10</a:t>
            </a:fld>
            <a:endParaRPr lang="en-US" dirty="0"/>
          </a:p>
        </p:txBody>
      </p:sp>
    </p:spTree>
    <p:extLst>
      <p:ext uri="{BB962C8B-B14F-4D97-AF65-F5344CB8AC3E}">
        <p14:creationId xmlns:p14="http://schemas.microsoft.com/office/powerpoint/2010/main" val="176524806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E39DA-BD7E-4AD0-924F-E915A4271702}"/>
              </a:ext>
            </a:extLst>
          </p:cNvPr>
          <p:cNvSpPr>
            <a:spLocks noGrp="1"/>
          </p:cNvSpPr>
          <p:nvPr>
            <p:ph type="title"/>
          </p:nvPr>
        </p:nvSpPr>
        <p:spPr>
          <a:xfrm>
            <a:off x="2657811" y="-255665"/>
            <a:ext cx="10515600" cy="1325563"/>
          </a:xfrm>
        </p:spPr>
        <p:txBody>
          <a:bodyPr>
            <a:normAutofit/>
          </a:bodyPr>
          <a:lstStyle/>
          <a:p>
            <a:r>
              <a:rPr lang="en-US" sz="2400" dirty="0"/>
              <a:t>CPF HJ2017-2021: Wesentliche Merkmale</a:t>
            </a:r>
          </a:p>
        </p:txBody>
      </p:sp>
      <p:sp>
        <p:nvSpPr>
          <p:cNvPr id="3" name="Content Placeholder 2">
            <a:extLst>
              <a:ext uri="{FF2B5EF4-FFF2-40B4-BE49-F238E27FC236}">
                <a16:creationId xmlns:a16="http://schemas.microsoft.com/office/drawing/2014/main" id="{AD41F2BB-97F4-4383-8764-F002A22E027D}"/>
              </a:ext>
            </a:extLst>
          </p:cNvPr>
          <p:cNvSpPr>
            <a:spLocks noGrp="1"/>
          </p:cNvSpPr>
          <p:nvPr>
            <p:ph idx="1"/>
          </p:nvPr>
        </p:nvSpPr>
        <p:spPr>
          <a:xfrm>
            <a:off x="490296" y="992981"/>
            <a:ext cx="6341966" cy="5544790"/>
          </a:xfrm>
        </p:spPr>
        <p:txBody>
          <a:bodyPr>
            <a:noAutofit/>
          </a:bodyPr>
          <a:lstStyle/>
          <a:p>
            <a:r>
              <a:rPr lang="en-US" sz="1400" b="1" dirty="0"/>
              <a:t/>
            </a:r>
          </a:p>
          <a:p>
            <a:r>
              <a:rPr lang="en-US" sz="1400" b="1" dirty="0"/>
              <a:t>Fokus auf Regionen und Sektoren, in denen sich die Armen konzentrieren. </a:t>
            </a:r>
          </a:p>
          <a:p>
            <a:r>
              <a:rPr lang="en-US" sz="1400" b="1" dirty="0"/>
              <a:t>Subsistenzlandwirtschaftliche Vorhaben sollen von 6 % im vorherigen CPF auf 20 % steigen.</a:t>
            </a:r>
          </a:p>
          <a:p>
            <a:r>
              <a:rPr lang="en-US" sz="1400" b="1" dirty="0"/>
              <a:t>Rund 30 % des Portfolios entfielen auf die Landwirtschaft und ländliche Gebiete (gegenüber 6 % im vorherigen Zyklus).</a:t>
            </a:r>
          </a:p>
          <a:p>
            <a:r>
              <a:rPr lang="en-US" sz="1400" b="1" dirty="0"/>
              <a:t>Ein großer Teil der Mittel war Investitionen in die Infrastruktur gewidmet, insbesondere in ländlichen Gebieten und im Wiederaufbau nach Wirbelstürmen.</a:t>
            </a:r>
          </a:p>
          <a:p>
            <a:r>
              <a:rPr lang="en-US" sz="1400" b="1" dirty="0"/>
              <a:t>Einführung eines integrativen Ansatzes, der Investitionen in Infrastruktur und sozialen Schutz bündelt.</a:t>
            </a:r>
          </a:p>
          <a:p>
            <a:r>
              <a:rPr lang="en-US" sz="1400" b="1" dirty="0"/>
              <a:t>Priorisierung der Reaktionen auf Cabo Delgado (HJ 2022).</a:t>
            </a:r>
          </a:p>
          <a:p>
            <a:r>
              <a:rPr lang="en-US" sz="1400" b="1" dirty="0"/>
              <a:t>Fokus auf die Verbesserung der Fähigkeit zum makroökonomischen Management, insbesondere des Schuldenmanagements, der Haushaltsrisiken und der öffentlichen Investitionen.</a:t>
            </a:r>
          </a:p>
          <a:p>
            <a:r>
              <a:rPr lang="en-US" sz="1400" b="1" dirty="0"/>
              <a:t>Der vorherige CPF maß Studien große Priorität bei, die ein besseres Verständnis der Herausforderungen des Landes ermöglichen sollten, etwa die Diagnose des Privatsektors des Landes, das Wirtschaftsmemorandum des Landes, die Stadtüberprüfung und die Diagnose der ländlichen Einkommen, unter anderem. </a:t>
            </a:r>
          </a:p>
          <a:p>
            <a:r>
              <a:rPr lang="en-US" sz="1400" b="1" dirty="0"/>
              <a:t>Eine Studie zu den Auswirkungen des Klimawandels (CCDR), eine Aktualisierung der Armutsstudie (Poverty Assessment) und eine detaillierte Analyse der Geschlechterfrage (Gender Assessment) sind in Arbeit.</a:t>
            </a:r>
          </a:p>
          <a:p>
            <a:r>
              <a:rPr lang="en-US" sz="1400" b="1" dirty="0"/>
              <a:t/>
            </a:r>
          </a:p>
          <a:p>
            <a:r>
              <a:rPr lang="en-US" sz="1400" b="1" dirty="0"/>
              <a:t/>
            </a:r>
          </a:p>
          <a:p>
            <a:r>
              <a:rPr lang="en-US" sz="1400" b="1" dirty="0"/>
              <a:t/>
            </a:r>
          </a:p>
        </p:txBody>
      </p:sp>
      <p:graphicFrame>
        <p:nvGraphicFramePr>
          <p:cNvPr id="9" name="Chart 8">
            <a:extLst>
              <a:ext uri="{FF2B5EF4-FFF2-40B4-BE49-F238E27FC236}">
                <a16:creationId xmlns:a16="http://schemas.microsoft.com/office/drawing/2014/main" id="{A5499A8E-A137-4699-BE3A-E5C6193DB181}"/>
              </a:ext>
            </a:extLst>
          </p:cNvPr>
          <p:cNvGraphicFramePr>
            <a:graphicFrameLocks/>
          </p:cNvGraphicFramePr>
          <p:nvPr>
            <p:extLst>
              <p:ext uri="{D42A27DB-BD31-4B8C-83A1-F6EECF244321}">
                <p14:modId xmlns:p14="http://schemas.microsoft.com/office/powerpoint/2010/main" val="1040687743"/>
              </p:ext>
            </p:extLst>
          </p:nvPr>
        </p:nvGraphicFramePr>
        <p:xfrm>
          <a:off x="7088146" y="1290918"/>
          <a:ext cx="4836977" cy="4311557"/>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1">
            <a:extLst>
              <a:ext uri="{FF2B5EF4-FFF2-40B4-BE49-F238E27FC236}">
                <a16:creationId xmlns:a16="http://schemas.microsoft.com/office/drawing/2014/main" id="{2F08AA56-3BA1-41C9-8EC2-A2B8C5546FC8}"/>
              </a:ext>
            </a:extLst>
          </p:cNvPr>
          <p:cNvSpPr txBox="1">
            <a:spLocks/>
          </p:cNvSpPr>
          <p:nvPr/>
        </p:nvSpPr>
        <p:spPr>
          <a:xfrm>
            <a:off x="8513782" y="887892"/>
            <a:ext cx="2467370" cy="8060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2300" b="1" kern="1200">
                <a:solidFill>
                  <a:schemeClr val="accent1">
                    <a:lumMod val="75000"/>
                  </a:schemeClr>
                </a:solidFill>
                <a:latin typeface="Arial"/>
                <a:ea typeface="+mj-ea"/>
                <a:cs typeface="Arial"/>
              </a:defRPr>
            </a:lvl1pPr>
          </a:lstStyle>
          <a:p>
            <a:r>
              <a:rPr lang="pt-BR" sz="1000" cap="all" dirty="0">
                <a:solidFill>
                  <a:schemeClr val="tx1"/>
                </a:solidFill>
                <a:latin typeface="+mj-lt"/>
                <a:ea typeface="+mn-ea"/>
                <a:cs typeface="+mn-cs"/>
              </a:rPr>
              <a:t>Endgültige Mittelzuweisung
</a:t>
            </a:r>
          </a:p>
          <a:p>
            <a:r>
              <a:rPr lang="pt-BR" sz="1000" cap="all" dirty="0">
                <a:solidFill>
                  <a:schemeClr val="tx1"/>
                </a:solidFill>
                <a:latin typeface="+mj-lt"/>
                <a:ea typeface="+mn-ea"/>
                <a:cs typeface="+mn-cs"/>
              </a:rPr>
              <a:t/>
            </a:r>
          </a:p>
        </p:txBody>
      </p:sp>
      <p:sp>
        <p:nvSpPr>
          <p:cNvPr id="7" name="Footer Placeholder 6">
            <a:extLst>
              <a:ext uri="{FF2B5EF4-FFF2-40B4-BE49-F238E27FC236}">
                <a16:creationId xmlns:a16="http://schemas.microsoft.com/office/drawing/2014/main" id="{AF70A6BA-9FEE-4FF3-9D26-0762E13834EE}"/>
              </a:ext>
            </a:extLst>
          </p:cNvPr>
          <p:cNvSpPr>
            <a:spLocks noGrp="1"/>
          </p:cNvSpPr>
          <p:nvPr>
            <p:ph type="ftr" sz="quarter" idx="11"/>
          </p:nvPr>
        </p:nvSpPr>
        <p:spPr>
          <a:xfrm>
            <a:off x="4038600" y="6557048"/>
            <a:ext cx="4114800" cy="365125"/>
          </a:xfrm>
        </p:spPr>
        <p:txBody>
          <a:bodyPr/>
          <a:lstStyle/>
          <a:p>
            <a:r>
              <a:rPr lang="en-US"/>
              <a:t>CPF 2023-2027. Öffentliche Fassung. Maputo, Mai 2022.</a:t>
            </a:r>
          </a:p>
        </p:txBody>
      </p:sp>
      <p:sp>
        <p:nvSpPr>
          <p:cNvPr id="8" name="Slide Number Placeholder 7">
            <a:extLst>
              <a:ext uri="{FF2B5EF4-FFF2-40B4-BE49-F238E27FC236}">
                <a16:creationId xmlns:a16="http://schemas.microsoft.com/office/drawing/2014/main" id="{CCD3979E-F30D-4DBB-BFB4-CA06FA9C5C4E}"/>
              </a:ext>
            </a:extLst>
          </p:cNvPr>
          <p:cNvSpPr>
            <a:spLocks noGrp="1"/>
          </p:cNvSpPr>
          <p:nvPr>
            <p:ph type="sldNum" sz="quarter" idx="12"/>
          </p:nvPr>
        </p:nvSpPr>
        <p:spPr/>
        <p:txBody>
          <a:bodyPr/>
          <a:lstStyle/>
          <a:p>
            <a:fld id="{B8473C9A-9E91-4025-B5E2-D7B202510636}" type="slidenum">
              <a:rPr lang="en-US" smtClean="0"/>
              <a:t>11</a:t>
            </a:fld>
            <a:endParaRPr lang="en-US" dirty="0"/>
          </a:p>
        </p:txBody>
      </p:sp>
      <p:pic>
        <p:nvPicPr>
          <p:cNvPr id="4" name="Picture 3">
            <a:extLst>
              <a:ext uri="{FF2B5EF4-FFF2-40B4-BE49-F238E27FC236}">
                <a16:creationId xmlns:a16="http://schemas.microsoft.com/office/drawing/2014/main" id="{BDFFB0C1-E31A-47B0-BD50-98DAE498F8F0}"/>
              </a:ext>
            </a:extLst>
          </p:cNvPr>
          <p:cNvPicPr>
            <a:picLocks noChangeAspect="1"/>
          </p:cNvPicPr>
          <p:nvPr/>
        </p:nvPicPr>
        <p:blipFill>
          <a:blip r:embed="rId3"/>
          <a:stretch>
            <a:fillRect/>
          </a:stretch>
        </p:blipFill>
        <p:spPr>
          <a:xfrm>
            <a:off x="281614" y="320229"/>
            <a:ext cx="2316681" cy="463336"/>
          </a:xfrm>
          <a:prstGeom prst="rect">
            <a:avLst/>
          </a:prstGeom>
        </p:spPr>
      </p:pic>
    </p:spTree>
    <p:extLst>
      <p:ext uri="{BB962C8B-B14F-4D97-AF65-F5344CB8AC3E}">
        <p14:creationId xmlns:p14="http://schemas.microsoft.com/office/powerpoint/2010/main" val="59452574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267A4-0F4F-479B-832F-37F8FDAE666F}"/>
              </a:ext>
            </a:extLst>
          </p:cNvPr>
          <p:cNvSpPr>
            <a:spLocks noGrp="1"/>
          </p:cNvSpPr>
          <p:nvPr>
            <p:ph type="title"/>
          </p:nvPr>
        </p:nvSpPr>
        <p:spPr>
          <a:xfrm>
            <a:off x="3743661" y="-22415"/>
            <a:ext cx="7448214" cy="815975"/>
          </a:xfrm>
        </p:spPr>
        <p:txBody>
          <a:bodyPr>
            <a:normAutofit/>
          </a:bodyPr>
          <a:lstStyle/>
          <a:p>
            <a:r>
              <a:rPr lang="en-US" sz="2400" dirty="0"/>
              <a:t>CPF HJ2017-2021: Ergebnisse 
</a:t>
            </a:r>
          </a:p>
          <a:p>
            <a:r>
              <a:rPr lang="en-US" sz="2400" dirty="0"/>
              <a:t/>
            </a:r>
          </a:p>
        </p:txBody>
      </p:sp>
      <p:sp>
        <p:nvSpPr>
          <p:cNvPr id="3" name="Content Placeholder 2">
            <a:extLst>
              <a:ext uri="{FF2B5EF4-FFF2-40B4-BE49-F238E27FC236}">
                <a16:creationId xmlns:a16="http://schemas.microsoft.com/office/drawing/2014/main" id="{D13B107D-9314-4019-A8AC-8BDA69837A5E}"/>
              </a:ext>
            </a:extLst>
          </p:cNvPr>
          <p:cNvSpPr>
            <a:spLocks noGrp="1"/>
          </p:cNvSpPr>
          <p:nvPr>
            <p:ph idx="1"/>
          </p:nvPr>
        </p:nvSpPr>
        <p:spPr>
          <a:xfrm>
            <a:off x="676274" y="754918"/>
            <a:ext cx="10677525" cy="4995863"/>
          </a:xfrm>
        </p:spPr>
        <p:txBody>
          <a:bodyPr/>
          <a:lstStyle/>
          <a:p>
            <a:r>
              <a:rPr lang="en-US" sz="1400" b="0" i="0" u="none" strike="noStrike" dirty="0">
                <a:highlight>
                  <a:srgbClr val="000000">
                    <a:alpha val="0"/>
                  </a:srgbClr>
                </a:highlight>
                <a:latin typeface="Arial"/>
              </a:rPr>
              <a:t>Der CPF HJ17-HJ21 wurde in einem ungünstigen wirtschaftlichen Kontext erarbeitet und umgesetzt. Dennoch verlief die Umsetzung mäßig zufriedenstellend.</a:t>
            </a:r>
          </a:p>
          <a:p>
            <a:r>
              <a:rPr lang="en-US" sz="1400" b="0" i="0" u="none" strike="noStrike" dirty="0">
                <a:highlight>
                  <a:srgbClr val="000000">
                    <a:alpha val="0"/>
                  </a:srgbClr>
                </a:highlight>
                <a:latin typeface="Arial"/>
              </a:rPr>
              <a:t>Der CPF erreichte eines seiner neun strategischen Ziele (SO) zu 100 %; sechs wurden weitgehend erreicht und zwei „teilweise erreicht“.</a:t>
            </a:r>
          </a:p>
        </p:txBody>
      </p:sp>
      <p:graphicFrame>
        <p:nvGraphicFramePr>
          <p:cNvPr id="7" name="Table 6">
            <a:extLst>
              <a:ext uri="{FF2B5EF4-FFF2-40B4-BE49-F238E27FC236}">
                <a16:creationId xmlns:a16="http://schemas.microsoft.com/office/drawing/2014/main" id="{32DB655D-42A7-4817-899F-7D22316FD394}"/>
              </a:ext>
            </a:extLst>
          </p:cNvPr>
          <p:cNvGraphicFramePr>
            <a:graphicFrameLocks noGrp="1"/>
          </p:cNvGraphicFramePr>
          <p:nvPr>
            <p:extLst>
              <p:ext uri="{D42A27DB-BD31-4B8C-83A1-F6EECF244321}">
                <p14:modId xmlns:p14="http://schemas.microsoft.com/office/powerpoint/2010/main" val="3011176160"/>
              </p:ext>
            </p:extLst>
          </p:nvPr>
        </p:nvGraphicFramePr>
        <p:xfrm>
          <a:off x="676275" y="1721224"/>
          <a:ext cx="10677524" cy="4276751"/>
        </p:xfrm>
        <a:graphic>
          <a:graphicData uri="http://schemas.openxmlformats.org/drawingml/2006/table">
            <a:tbl>
              <a:tblPr firstRow="1" firstCol="1" bandRow="1"/>
              <a:tblGrid>
                <a:gridCol w="1427558">
                  <a:extLst>
                    <a:ext uri="{9D8B030D-6E8A-4147-A177-3AD203B41FA5}">
                      <a16:colId xmlns:a16="http://schemas.microsoft.com/office/drawing/2014/main" val="3118927508"/>
                    </a:ext>
                  </a:extLst>
                </a:gridCol>
                <a:gridCol w="6525977">
                  <a:extLst>
                    <a:ext uri="{9D8B030D-6E8A-4147-A177-3AD203B41FA5}">
                      <a16:colId xmlns:a16="http://schemas.microsoft.com/office/drawing/2014/main" val="1649127289"/>
                    </a:ext>
                  </a:extLst>
                </a:gridCol>
                <a:gridCol w="2553741">
                  <a:extLst>
                    <a:ext uri="{9D8B030D-6E8A-4147-A177-3AD203B41FA5}">
                      <a16:colId xmlns:a16="http://schemas.microsoft.com/office/drawing/2014/main" val="3918980264"/>
                    </a:ext>
                  </a:extLst>
                </a:gridCol>
                <a:gridCol w="170248">
                  <a:extLst>
                    <a:ext uri="{9D8B030D-6E8A-4147-A177-3AD203B41FA5}">
                      <a16:colId xmlns:a16="http://schemas.microsoft.com/office/drawing/2014/main" val="2105357082"/>
                    </a:ext>
                  </a:extLst>
                </a:gridCol>
              </a:tblGrid>
              <a:tr h="251795">
                <a:tc gridSpan="2">
                  <a:txBody>
                    <a:bodyPr/>
                    <a:lstStyle/>
                    <a:p>
                      <a:pPr marL="0" marR="0" algn="ctr">
                        <a:lnSpc>
                          <a:spcPct val="107000"/>
                        </a:lnSpc>
                        <a:spcBef>
                          <a:spcPts val="0"/>
                        </a:spcBef>
                        <a:spcAft>
                          <a:spcPts val="0"/>
                        </a:spcAft>
                      </a:pPr>
                      <a:r>
                        <a:rPr lang="pt-BR" sz="1300" b="1" dirty="0">
                          <a:solidFill>
                            <a:srgbClr val="000000"/>
                          </a:solidFill>
                          <a:effectLst/>
                          <a:latin typeface="+mn-lt"/>
                          <a:ea typeface="Times New Roman" panose="02020603050405020304" pitchFamily="18" charset="0"/>
                          <a:cs typeface="Times New Roman" panose="02020603050405020304" pitchFamily="18" charset="0"/>
                        </a:rPr>
                        <a:t>Focus Area /Strategic Objective</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dirty="0"/>
                    </a:p>
                  </a:txBody>
                  <a:tcPr/>
                </a:tc>
                <a:tc>
                  <a:txBody>
                    <a:bodyPr/>
                    <a:lstStyle/>
                    <a:p>
                      <a:pPr marL="0" marR="0" algn="ctr">
                        <a:lnSpc>
                          <a:spcPct val="107000"/>
                        </a:lnSpc>
                        <a:spcBef>
                          <a:spcPts val="0"/>
                        </a:spcBef>
                        <a:spcAft>
                          <a:spcPts val="0"/>
                        </a:spcAft>
                      </a:pPr>
                      <a:r>
                        <a:rPr lang="pt-BR" sz="1300" b="1" dirty="0">
                          <a:solidFill>
                            <a:srgbClr val="000000"/>
                          </a:solidFill>
                          <a:effectLst/>
                          <a:latin typeface="+mn-lt"/>
                          <a:ea typeface="Times New Roman" panose="02020603050405020304" pitchFamily="18" charset="0"/>
                          <a:cs typeface="Times New Roman" panose="02020603050405020304" pitchFamily="18" charset="0"/>
                        </a:rPr>
                        <a:t>Klassifizierung</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236956950"/>
                  </a:ext>
                </a:extLst>
              </a:tr>
              <a:tr h="251795">
                <a:tc>
                  <a:txBody>
                    <a:bodyPr/>
                    <a:lstStyle/>
                    <a:p>
                      <a:pPr marL="0" marR="0" algn="l">
                        <a:lnSpc>
                          <a:spcPct val="107000"/>
                        </a:lnSpc>
                        <a:spcBef>
                          <a:spcPts val="0"/>
                        </a:spcBef>
                        <a:spcAft>
                          <a:spcPts val="0"/>
                        </a:spcAft>
                      </a:pPr>
                      <a:r>
                        <a:rPr lang="en-US" sz="1300" dirty="0">
                          <a:solidFill>
                            <a:srgbClr val="FFFFFF"/>
                          </a:solidFill>
                          <a:effectLst/>
                          <a:latin typeface="+mn-lt"/>
                          <a:ea typeface="Times New Roman" panose="02020603050405020304" pitchFamily="18" charset="0"/>
                          <a:cs typeface="Times New Roman" panose="02020603050405020304" pitchFamily="18" charset="0"/>
                        </a:rPr>
                        <a:t>Schwerpunktbereich 1: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gridSpan="3">
                  <a:txBody>
                    <a:bodyPr/>
                    <a:lstStyle/>
                    <a:p>
                      <a:pPr marL="0" marR="0" algn="l">
                        <a:lnSpc>
                          <a:spcPct val="107000"/>
                        </a:lnSpc>
                        <a:spcBef>
                          <a:spcPts val="0"/>
                        </a:spcBef>
                        <a:spcAft>
                          <a:spcPts val="0"/>
                        </a:spcAft>
                      </a:pPr>
                      <a:r>
                        <a:rPr lang="en-US" sz="1300" dirty="0">
                          <a:solidFill>
                            <a:srgbClr val="FFFFFF"/>
                          </a:solidFill>
                          <a:effectLst/>
                          <a:latin typeface="+mn-lt"/>
                          <a:ea typeface="Times New Roman" panose="02020603050405020304" pitchFamily="18" charset="0"/>
                          <a:cs typeface="Times New Roman" panose="02020603050405020304" pitchFamily="18" charset="0"/>
                        </a:rPr>
                        <a:t>Promote diversified growth and enhanced productivity – Moderately Satisfactory</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50130769"/>
                  </a:ext>
                </a:extLst>
              </a:tr>
              <a:tr h="351623">
                <a:tc gridSpan="2">
                  <a:txBody>
                    <a:bodyPr/>
                    <a:lstStyle/>
                    <a:p>
                      <a:pPr marL="0" marR="0" algn="l">
                        <a:lnSpc>
                          <a:spcPct val="70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Objective 1: Improved economic management</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l">
                        <a:lnSpc>
                          <a:spcPct val="70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Größtenteils erreicht </a:t>
                      </a:r>
                      <a:br/>
                      <a:r>
                        <a:rPr lang="en-US" sz="1300" dirty="0">
                          <a:solidFill>
                            <a:srgbClr val="000000"/>
                          </a:solidFill>
                          <a:effectLst/>
                          <a:latin typeface="+mn-lt"/>
                          <a:ea typeface="Times New Roman" panose="02020603050405020304" pitchFamily="18" charset="0"/>
                          <a:cs typeface="Times New Roman" panose="02020603050405020304" pitchFamily="18" charset="0"/>
                        </a:rPr>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093988670"/>
                  </a:ext>
                </a:extLst>
              </a:tr>
              <a:tr h="556526">
                <a:tc gridSpan="2">
                  <a:txBody>
                    <a:bodyPr/>
                    <a:lstStyle/>
                    <a:p>
                      <a:pPr marL="0" marR="0" algn="l">
                        <a:lnSpc>
                          <a:spcPct val="70000"/>
                        </a:lnSpc>
                        <a:spcBef>
                          <a:spcPts val="0"/>
                        </a:spcBef>
                        <a:spcAft>
                          <a:spcPts val="0"/>
                        </a:spcAft>
                      </a:pPr>
                      <a:r>
                        <a:rPr lang="en-US" sz="1300" dirty="0">
                          <a:effectLst/>
                          <a:latin typeface="+mn-lt"/>
                          <a:ea typeface="Times New Roman" panose="02020603050405020304" pitchFamily="18" charset="0"/>
                          <a:cs typeface="Times New Roman" panose="02020603050405020304" pitchFamily="18" charset="0"/>
                        </a:rPr>
                        <a:t>Objective 2: Increase in Agricultural Income and Increase in Land Security</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l">
                        <a:lnSpc>
                          <a:spcPct val="70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Größtenteils erreicht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2878411351"/>
                  </a:ext>
                </a:extLst>
              </a:tr>
              <a:tr h="351623">
                <a:tc gridSpan="2">
                  <a:txBody>
                    <a:bodyPr/>
                    <a:lstStyle/>
                    <a:p>
                      <a:pPr marL="0" marR="0" algn="l">
                        <a:lnSpc>
                          <a:spcPct val="70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Objective 3: Improve the Business Environment for Job Creation</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l">
                        <a:lnSpc>
                          <a:spcPct val="70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Teilweise erreicht </a:t>
                      </a:r>
                      <a:br/>
                      <a:r>
                        <a:rPr lang="en-US" sz="1300" dirty="0">
                          <a:solidFill>
                            <a:srgbClr val="000000"/>
                          </a:solidFill>
                          <a:effectLst/>
                          <a:latin typeface="+mn-lt"/>
                          <a:ea typeface="Times New Roman" panose="02020603050405020304" pitchFamily="18" charset="0"/>
                          <a:cs typeface="Times New Roman" panose="02020603050405020304" pitchFamily="18" charset="0"/>
                        </a:rPr>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2422386611"/>
                  </a:ext>
                </a:extLst>
              </a:tr>
              <a:tr h="298667">
                <a:tc gridSpan="2">
                  <a:txBody>
                    <a:bodyPr/>
                    <a:lstStyle/>
                    <a:p>
                      <a:pPr marL="0" marR="0" algn="l">
                        <a:lnSpc>
                          <a:spcPct val="70000"/>
                        </a:lnSpc>
                        <a:spcBef>
                          <a:spcPts val="0"/>
                        </a:spcBef>
                        <a:spcAft>
                          <a:spcPts val="0"/>
                        </a:spcAft>
                      </a:pPr>
                      <a:r>
                        <a:rPr lang="en-US" sz="1300" b="1" dirty="0">
                          <a:solidFill>
                            <a:srgbClr val="000000"/>
                          </a:solidFill>
                          <a:effectLst/>
                          <a:latin typeface="+mn-lt"/>
                          <a:ea typeface="Times New Roman" panose="02020603050405020304" pitchFamily="18" charset="0"/>
                          <a:cs typeface="Times New Roman" panose="02020603050405020304" pitchFamily="18" charset="0"/>
                        </a:rPr>
                        <a:t>Objective 4: Expand Access and Improve Electricity Reliability</a:t>
                      </a:r>
                      <a:endParaRPr lang="en-US" sz="1300" b="1"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l">
                        <a:lnSpc>
                          <a:spcPct val="70000"/>
                        </a:lnSpc>
                        <a:spcBef>
                          <a:spcPts val="0"/>
                        </a:spcBef>
                        <a:spcAft>
                          <a:spcPts val="0"/>
                        </a:spcAft>
                      </a:pPr>
                      <a:r>
                        <a:rPr lang="en-US" sz="1300" kern="1200" dirty="0">
                          <a:solidFill>
                            <a:srgbClr val="000000"/>
                          </a:solidFill>
                          <a:effectLst/>
                          <a:latin typeface="+mn-lt"/>
                          <a:ea typeface="Times New Roman" panose="02020603050405020304" pitchFamily="18" charset="0"/>
                          <a:cs typeface="Times New Roman" panose="02020603050405020304" pitchFamily="18" charset="0"/>
                        </a:rPr>
                        <a:t>Erreicht </a:t>
                      </a:r>
                      <a:br/>
                      <a:r>
                        <a:rPr lang="en-US" sz="1300" kern="1200" dirty="0">
                          <a:solidFill>
                            <a:srgbClr val="000000"/>
                          </a:solidFill>
                          <a:effectLst/>
                          <a:latin typeface="+mn-lt"/>
                          <a:ea typeface="Times New Roman" panose="02020603050405020304" pitchFamily="18" charset="0"/>
                          <a:cs typeface="Times New Roman" panose="02020603050405020304" pitchFamily="18" charset="0"/>
                        </a:rPr>
                        <a:t/>
                      </a:r>
                      <a:r>
                        <a:rPr lang="en-US" sz="1300" dirty="0">
                          <a:solidFill>
                            <a:srgbClr val="000000"/>
                          </a:solidFill>
                          <a:effectLst/>
                          <a:latin typeface="+mn-lt"/>
                          <a:ea typeface="Times New Roman" panose="02020603050405020304" pitchFamily="18" charset="0"/>
                          <a:cs typeface="Times New Roman" panose="02020603050405020304" pitchFamily="18" charset="0"/>
                        </a:rPr>
                        <a:t>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1201050771"/>
                  </a:ext>
                </a:extLst>
              </a:tr>
              <a:tr h="209486">
                <a:tc>
                  <a:txBody>
                    <a:bodyPr/>
                    <a:lstStyle/>
                    <a:p>
                      <a:pPr marL="0" marR="0" algn="l">
                        <a:lnSpc>
                          <a:spcPct val="107000"/>
                        </a:lnSpc>
                        <a:spcBef>
                          <a:spcPts val="0"/>
                        </a:spcBef>
                        <a:spcAft>
                          <a:spcPts val="0"/>
                        </a:spcAft>
                      </a:pPr>
                      <a:r>
                        <a:rPr lang="en-US" sz="1300" dirty="0">
                          <a:solidFill>
                            <a:srgbClr val="FFFFFF"/>
                          </a:solidFill>
                          <a:effectLst/>
                          <a:latin typeface="+mn-lt"/>
                          <a:ea typeface="Times New Roman" panose="02020603050405020304" pitchFamily="18" charset="0"/>
                          <a:cs typeface="Times New Roman" panose="02020603050405020304" pitchFamily="18" charset="0"/>
                        </a:rPr>
                        <a:t>Schwerpunktbereich 2: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l">
                        <a:lnSpc>
                          <a:spcPct val="107000"/>
                        </a:lnSpc>
                        <a:spcBef>
                          <a:spcPts val="0"/>
                        </a:spcBef>
                        <a:spcAft>
                          <a:spcPts val="0"/>
                        </a:spcAft>
                      </a:pPr>
                      <a:r>
                        <a:rPr lang="en-US" sz="1300" dirty="0">
                          <a:solidFill>
                            <a:srgbClr val="FFFFFF"/>
                          </a:solidFill>
                          <a:effectLst/>
                          <a:latin typeface="+mn-lt"/>
                          <a:ea typeface="Times New Roman" panose="02020603050405020304" pitchFamily="18" charset="0"/>
                          <a:cs typeface="Times New Roman" panose="02020603050405020304" pitchFamily="18" charset="0"/>
                        </a:rPr>
                        <a:t>Investitionen in das Humankapital – Mäßig zufriedenstellend</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163830" marR="0" algn="l">
                        <a:lnSpc>
                          <a:spcPct val="107000"/>
                        </a:lnSpc>
                        <a:spcBef>
                          <a:spcPts val="0"/>
                        </a:spcBef>
                        <a:spcAft>
                          <a:spcPts val="0"/>
                        </a:spcAft>
                      </a:pPr>
                      <a:r>
                        <a:rPr lang="en-US" sz="1300" dirty="0">
                          <a:solidFill>
                            <a:srgbClr val="FFFFFF"/>
                          </a:solidFill>
                          <a:effectLst/>
                          <a:latin typeface="+mn-lt"/>
                          <a:ea typeface="Times New Roman" panose="02020603050405020304" pitchFamily="18" charset="0"/>
                          <a:cs typeface="Times New Roman" panose="02020603050405020304" pitchFamily="18" charset="0"/>
                        </a:rPr>
                        <a:t>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1638501185"/>
                  </a:ext>
                </a:extLst>
              </a:tr>
              <a:tr h="251795">
                <a:tc gridSpan="2">
                  <a:txBody>
                    <a:bodyPr/>
                    <a:lstStyle/>
                    <a:p>
                      <a:pPr marL="0" marR="0" algn="l">
                        <a:lnSpc>
                          <a:spcPct val="107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Objective 5: Improve the Competency Base</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l">
                        <a:lnSpc>
                          <a:spcPct val="107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Größtenteils erreicht</a:t>
                      </a:r>
                      <a:r>
                        <a:rPr lang="en-US" sz="1300" dirty="0" err="1">
                          <a:solidFill>
                            <a:srgbClr val="000000"/>
                          </a:solidFill>
                          <a:effectLst/>
                          <a:latin typeface="+mn-lt"/>
                          <a:ea typeface="Times New Roman" panose="02020603050405020304" pitchFamily="18" charset="0"/>
                          <a:cs typeface="Times New Roman" panose="02020603050405020304" pitchFamily="18" charset="0"/>
                        </a:rPr>
                        <a:t>acheived</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2071956371"/>
                  </a:ext>
                </a:extLst>
              </a:tr>
              <a:tr h="334803">
                <a:tc gridSpan="2">
                  <a:txBody>
                    <a:bodyPr/>
                    <a:lstStyle/>
                    <a:p>
                      <a:pPr marL="0" marR="0" algn="l">
                        <a:lnSpc>
                          <a:spcPct val="107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Objective 6: Improve Health Service Delivery</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l">
                        <a:lnSpc>
                          <a:spcPct val="107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Größtenteils erreicht</a:t>
                      </a:r>
                      <a:r>
                        <a:rPr lang="en-US" sz="1300" dirty="0" err="1">
                          <a:solidFill>
                            <a:srgbClr val="000000"/>
                          </a:solidFill>
                          <a:effectLst/>
                          <a:latin typeface="+mn-lt"/>
                          <a:ea typeface="Times New Roman" panose="02020603050405020304" pitchFamily="18" charset="0"/>
                          <a:cs typeface="Times New Roman" panose="02020603050405020304" pitchFamily="18" charset="0"/>
                        </a:rPr>
                        <a:t>acheived</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1159681145"/>
                  </a:ext>
                </a:extLst>
              </a:tr>
              <a:tr h="328322">
                <a:tc gridSpan="2">
                  <a:txBody>
                    <a:bodyPr/>
                    <a:lstStyle/>
                    <a:p>
                      <a:pPr marL="0" marR="0" algn="l">
                        <a:lnSpc>
                          <a:spcPct val="107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Objective 7: Improve Access to Water and Sanitation</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l">
                        <a:lnSpc>
                          <a:spcPct val="107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Größtenteils erreicht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2866303018"/>
                  </a:ext>
                </a:extLst>
              </a:tr>
              <a:tr h="343363">
                <a:tc>
                  <a:txBody>
                    <a:bodyPr/>
                    <a:lstStyle/>
                    <a:p>
                      <a:pPr marL="0" marR="0" algn="l">
                        <a:lnSpc>
                          <a:spcPct val="107000"/>
                        </a:lnSpc>
                        <a:spcBef>
                          <a:spcPts val="0"/>
                        </a:spcBef>
                        <a:spcAft>
                          <a:spcPts val="0"/>
                        </a:spcAft>
                      </a:pPr>
                      <a:r>
                        <a:rPr lang="en-US" sz="1300" dirty="0">
                          <a:solidFill>
                            <a:srgbClr val="FFFFFF"/>
                          </a:solidFill>
                          <a:effectLst/>
                          <a:latin typeface="+mn-lt"/>
                          <a:ea typeface="Times New Roman" panose="02020603050405020304" pitchFamily="18" charset="0"/>
                          <a:cs typeface="Times New Roman" panose="02020603050405020304" pitchFamily="18" charset="0"/>
                        </a:rPr>
                        <a:t>Schwerpunktbereich 3: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gridSpan="3">
                  <a:txBody>
                    <a:bodyPr/>
                    <a:lstStyle/>
                    <a:p>
                      <a:pPr marL="163830" marR="0" algn="l">
                        <a:lnSpc>
                          <a:spcPct val="107000"/>
                        </a:lnSpc>
                        <a:spcBef>
                          <a:spcPts val="0"/>
                        </a:spcBef>
                        <a:spcAft>
                          <a:spcPts val="0"/>
                        </a:spcAft>
                      </a:pPr>
                      <a:r>
                        <a:rPr lang="en-US" sz="1300" dirty="0">
                          <a:solidFill>
                            <a:srgbClr val="FFFFFF"/>
                          </a:solidFill>
                          <a:effectLst/>
                          <a:latin typeface="+mn-lt"/>
                          <a:ea typeface="Times New Roman" panose="02020603050405020304" pitchFamily="18" charset="0"/>
                          <a:cs typeface="Times New Roman" panose="02020603050405020304" pitchFamily="18" charset="0"/>
                        </a:rPr>
                        <a:t>Strengthening Sustainability and Resilience - Moderately Satisfactory</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07405816"/>
                  </a:ext>
                </a:extLst>
              </a:tr>
              <a:tr h="395330">
                <a:tc gridSpan="2">
                  <a:txBody>
                    <a:bodyPr/>
                    <a:lstStyle/>
                    <a:p>
                      <a:pPr marL="0" marR="0" algn="l">
                        <a:lnSpc>
                          <a:spcPct val="70000"/>
                        </a:lnSpc>
                        <a:spcBef>
                          <a:spcPts val="0"/>
                        </a:spcBef>
                        <a:spcAft>
                          <a:spcPts val="0"/>
                        </a:spcAft>
                      </a:pPr>
                      <a:r>
                        <a:rPr lang="en-US" sz="1300" b="1" dirty="0">
                          <a:solidFill>
                            <a:srgbClr val="000000"/>
                          </a:solidFill>
                          <a:effectLst/>
                          <a:latin typeface="+mn-lt"/>
                          <a:ea typeface="Times New Roman" panose="02020603050405020304" pitchFamily="18" charset="0"/>
                          <a:cs typeface="Times New Roman" panose="02020603050405020304" pitchFamily="18" charset="0"/>
                        </a:rPr>
                        <a:t>Objective 8: Support for Recovery and Resilience</a:t>
                      </a:r>
                      <a:endParaRPr lang="en-US" sz="1300" b="1"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just">
                        <a:lnSpc>
                          <a:spcPct val="70000"/>
                        </a:lnSpc>
                        <a:spcBef>
                          <a:spcPts val="0"/>
                        </a:spcBef>
                        <a:spcAft>
                          <a:spcPts val="0"/>
                        </a:spcAft>
                      </a:pPr>
                      <a:r>
                        <a:rPr lang="en-US" sz="1300" dirty="0">
                          <a:effectLst/>
                          <a:latin typeface="+mn-lt"/>
                          <a:ea typeface="Times New Roman" panose="02020603050405020304" pitchFamily="18" charset="0"/>
                          <a:cs typeface="Times New Roman" panose="02020603050405020304" pitchFamily="18" charset="0"/>
                        </a:rPr>
                        <a:t>Größtenteils erreicht </a:t>
                      </a:r>
                      <a:br/>
                      <a:r>
                        <a:rPr lang="en-US" sz="1300" dirty="0">
                          <a:effectLst/>
                          <a:latin typeface="+mn-lt"/>
                          <a:ea typeface="Times New Roman" panose="02020603050405020304" pitchFamily="18" charset="0"/>
                          <a:cs typeface="Times New Roman" panose="02020603050405020304" pitchFamily="18" charset="0"/>
                        </a:rPr>
                        <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492229537"/>
                  </a:ext>
                </a:extLst>
              </a:tr>
              <a:tr h="351623">
                <a:tc gridSpan="2">
                  <a:txBody>
                    <a:bodyPr/>
                    <a:lstStyle/>
                    <a:p>
                      <a:pPr marL="0" marR="0" algn="l">
                        <a:lnSpc>
                          <a:spcPct val="70000"/>
                        </a:lnSpc>
                        <a:spcBef>
                          <a:spcPts val="0"/>
                        </a:spcBef>
                        <a:spcAft>
                          <a:spcPts val="0"/>
                        </a:spcAft>
                      </a:pPr>
                      <a:r>
                        <a:rPr lang="pt-BR" sz="1300" dirty="0">
                          <a:solidFill>
                            <a:srgbClr val="000000"/>
                          </a:solidFill>
                          <a:effectLst/>
                          <a:latin typeface="+mn-lt"/>
                          <a:ea typeface="Times New Roman" panose="02020603050405020304" pitchFamily="18" charset="0"/>
                          <a:cs typeface="Times New Roman" panose="02020603050405020304" pitchFamily="18" charset="0"/>
                        </a:rPr>
                        <a:t>Objective9: </a:t>
                      </a:r>
                      <a:r>
                        <a:rPr lang="en-US" sz="1300" dirty="0">
                          <a:solidFill>
                            <a:srgbClr val="000000"/>
                          </a:solidFill>
                          <a:effectLst/>
                          <a:latin typeface="+mn-lt"/>
                          <a:ea typeface="Times New Roman" panose="02020603050405020304" pitchFamily="18" charset="0"/>
                          <a:cs typeface="Times New Roman" panose="02020603050405020304" pitchFamily="18" charset="0"/>
                        </a:rPr>
                        <a:t>Promote Inclusive Urbanization and Decentralization</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l">
                        <a:lnSpc>
                          <a:spcPct val="70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Teilweise erreicht </a:t>
                      </a:r>
                      <a:br/>
                      <a:r>
                        <a:rPr lang="en-US" sz="1300" dirty="0">
                          <a:solidFill>
                            <a:srgbClr val="000000"/>
                          </a:solidFill>
                          <a:effectLst/>
                          <a:latin typeface="+mn-lt"/>
                          <a:ea typeface="Times New Roman" panose="02020603050405020304" pitchFamily="18" charset="0"/>
                          <a:cs typeface="Times New Roman" panose="02020603050405020304" pitchFamily="18" charset="0"/>
                        </a:rPr>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dirty="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1212770644"/>
                  </a:ext>
                </a:extLst>
              </a:tr>
            </a:tbl>
          </a:graphicData>
        </a:graphic>
      </p:graphicFrame>
      <p:sp>
        <p:nvSpPr>
          <p:cNvPr id="9" name="TextBox 8">
            <a:extLst>
              <a:ext uri="{FF2B5EF4-FFF2-40B4-BE49-F238E27FC236}">
                <a16:creationId xmlns:a16="http://schemas.microsoft.com/office/drawing/2014/main" id="{6122B999-DE86-4BC0-AC20-DE5BD83111C8}"/>
              </a:ext>
            </a:extLst>
          </p:cNvPr>
          <p:cNvSpPr txBox="1"/>
          <p:nvPr/>
        </p:nvSpPr>
        <p:spPr>
          <a:xfrm>
            <a:off x="534297" y="5932887"/>
            <a:ext cx="10981428" cy="430887"/>
          </a:xfrm>
          <a:prstGeom prst="rect">
            <a:avLst/>
          </a:prstGeom>
          <a:noFill/>
        </p:spPr>
        <p:txBody>
          <a:bodyPr wrap="square">
            <a:spAutoFit/>
          </a:bodyPr>
          <a:lstStyle/>
          <a:p>
            <a:r>
              <a:rPr lang="en-US" sz="1100" i="1" dirty="0">
                <a:latin typeface="+mj-lt"/>
              </a:rPr>
              <a:t>Die Einstufung der Ziele folgt den Kategorien „erreicht“, „weitgehend erreicht“, „teilweise erreicht“ und „nicht erreicht“, abhängig vom Grad der Erreichung der Indikatoren und vom Vorliegen qualitativer Belege.</a:t>
            </a:r>
          </a:p>
        </p:txBody>
      </p:sp>
      <p:sp>
        <p:nvSpPr>
          <p:cNvPr id="11" name="Footer Placeholder 10">
            <a:extLst>
              <a:ext uri="{FF2B5EF4-FFF2-40B4-BE49-F238E27FC236}">
                <a16:creationId xmlns:a16="http://schemas.microsoft.com/office/drawing/2014/main" id="{49100E84-E54D-4FC1-B0A7-C901995EB704}"/>
              </a:ext>
            </a:extLst>
          </p:cNvPr>
          <p:cNvSpPr>
            <a:spLocks noGrp="1"/>
          </p:cNvSpPr>
          <p:nvPr>
            <p:ph type="ftr" sz="quarter" idx="11"/>
          </p:nvPr>
        </p:nvSpPr>
        <p:spPr/>
        <p:txBody>
          <a:bodyPr/>
          <a:lstStyle/>
          <a:p>
            <a:r>
              <a:rPr lang="en-US"/>
              <a:t>CPF 2023-2027. Öffentliche Fassung. Maputo, Mai 2022.</a:t>
            </a:r>
          </a:p>
        </p:txBody>
      </p:sp>
      <p:sp>
        <p:nvSpPr>
          <p:cNvPr id="12" name="Slide Number Placeholder 11">
            <a:extLst>
              <a:ext uri="{FF2B5EF4-FFF2-40B4-BE49-F238E27FC236}">
                <a16:creationId xmlns:a16="http://schemas.microsoft.com/office/drawing/2014/main" id="{DCA6AA61-52B4-4F2B-A9A8-A05E87711509}"/>
              </a:ext>
            </a:extLst>
          </p:cNvPr>
          <p:cNvSpPr>
            <a:spLocks noGrp="1"/>
          </p:cNvSpPr>
          <p:nvPr>
            <p:ph type="sldNum" sz="quarter" idx="12"/>
          </p:nvPr>
        </p:nvSpPr>
        <p:spPr/>
        <p:txBody>
          <a:bodyPr/>
          <a:lstStyle/>
          <a:p>
            <a:fld id="{B8473C9A-9E91-4025-B5E2-D7B202510636}" type="slidenum">
              <a:rPr lang="en-US" smtClean="0"/>
              <a:t>12</a:t>
            </a:fld>
            <a:endParaRPr lang="en-US" dirty="0"/>
          </a:p>
        </p:txBody>
      </p:sp>
      <p:pic>
        <p:nvPicPr>
          <p:cNvPr id="4" name="Picture 3">
            <a:extLst>
              <a:ext uri="{FF2B5EF4-FFF2-40B4-BE49-F238E27FC236}">
                <a16:creationId xmlns:a16="http://schemas.microsoft.com/office/drawing/2014/main" id="{2398D764-93B7-4422-BA17-F14E0FDF98F1}"/>
              </a:ext>
            </a:extLst>
          </p:cNvPr>
          <p:cNvPicPr>
            <a:picLocks noChangeAspect="1"/>
          </p:cNvPicPr>
          <p:nvPr/>
        </p:nvPicPr>
        <p:blipFill>
          <a:blip r:embed="rId2"/>
          <a:stretch>
            <a:fillRect/>
          </a:stretch>
        </p:blipFill>
        <p:spPr>
          <a:xfrm>
            <a:off x="534297" y="123148"/>
            <a:ext cx="2316681" cy="463336"/>
          </a:xfrm>
          <a:prstGeom prst="rect">
            <a:avLst/>
          </a:prstGeom>
        </p:spPr>
      </p:pic>
    </p:spTree>
    <p:extLst>
      <p:ext uri="{BB962C8B-B14F-4D97-AF65-F5344CB8AC3E}">
        <p14:creationId xmlns:p14="http://schemas.microsoft.com/office/powerpoint/2010/main" val="89322810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5D587-1EC5-4652-83A4-1E754AF01E64}"/>
              </a:ext>
            </a:extLst>
          </p:cNvPr>
          <p:cNvSpPr>
            <a:spLocks noGrp="1"/>
          </p:cNvSpPr>
          <p:nvPr>
            <p:ph type="title"/>
          </p:nvPr>
        </p:nvSpPr>
        <p:spPr>
          <a:xfrm>
            <a:off x="3238724" y="165474"/>
            <a:ext cx="10515600" cy="813680"/>
          </a:xfrm>
        </p:spPr>
        <p:txBody>
          <a:bodyPr>
            <a:noAutofit/>
          </a:bodyPr>
          <a:lstStyle/>
          <a:p>
            <a:r>
              <a:rPr lang="en-US" sz="2400" dirty="0"/>
              <a:t>CPF HJ2017-2021: Gewonnene Erkenntnisse
</a:t>
            </a:r>
          </a:p>
          <a:p>
            <a:r>
              <a:rPr lang="en-US" sz="2400" dirty="0"/>
              <a:t/>
            </a:r>
          </a:p>
        </p:txBody>
      </p:sp>
      <p:sp>
        <p:nvSpPr>
          <p:cNvPr id="3" name="Content Placeholder 2">
            <a:extLst>
              <a:ext uri="{FF2B5EF4-FFF2-40B4-BE49-F238E27FC236}">
                <a16:creationId xmlns:a16="http://schemas.microsoft.com/office/drawing/2014/main" id="{43620D38-256E-4067-AE12-400CAF4C9E44}"/>
              </a:ext>
            </a:extLst>
          </p:cNvPr>
          <p:cNvSpPr>
            <a:spLocks noGrp="1"/>
          </p:cNvSpPr>
          <p:nvPr>
            <p:ph idx="1"/>
          </p:nvPr>
        </p:nvSpPr>
        <p:spPr>
          <a:xfrm>
            <a:off x="838200" y="980501"/>
            <a:ext cx="10515600" cy="5640635"/>
          </a:xfrm>
        </p:spPr>
        <p:txBody>
          <a:bodyPr>
            <a:noAutofit/>
          </a:bodyPr>
          <a:lstStyle/>
          <a:p>
            <a:r>
              <a:rPr lang="en-US" b="1" dirty="0">
                <a:highlight>
                  <a:srgbClr val="000000">
                    <a:alpha val="0"/>
                  </a:srgbClr>
                </a:highlight>
              </a:rPr>
              <a:t>Bedeutung einer soliden Ausrichtung an den Zielen der Regierung, des Einsatzes zusätzlicher Mittel, der Nutzung einer Reihe von Finanzierungsinstrumenten und weiterer Aspekte (zusätzliche Finanzierung).</a:t>
            </a:r>
          </a:p>
          <a:p>
            <a:r>
              <a:rPr lang="en-US" b="1" dirty="0">
                <a:highlight>
                  <a:srgbClr val="000000">
                    <a:alpha val="0"/>
                  </a:srgbClr>
                </a:highlight>
              </a:rPr>
              <a:t>	Flexibilität, um das Programm rasch an sich verändernde Gegebenheiten und neue Regierungsprioritäten anzupassen.</a:t>
            </a:r>
          </a:p>
          <a:p>
            <a:r>
              <a:rPr lang="en-US" b="1" dirty="0">
                <a:highlight>
                  <a:srgbClr val="000000">
                    <a:alpha val="0"/>
                  </a:srgbClr>
                </a:highlight>
              </a:rPr>
              <a:t>Kontinuierliche Unterstützung bei Krisenreaktion, Vorsorge und Prävention, wie der frühere CPF-Schwerpunkt auf Erholung und Resilienz zeigt – wobei die WBG ihre technische Expertise und ihre Fähigkeit zur Ressourcenmobilisierung nutzte, um die Reaktionskapazitäten zu erhöhen und in Prävention zu investieren. </a:t>
            </a:r>
          </a:p>
          <a:p>
            <a:r>
              <a:rPr lang="en-US" b="1" dirty="0">
                <a:highlight>
                  <a:srgbClr val="000000">
                    <a:alpha val="0"/>
                  </a:srgbClr>
                </a:highlight>
              </a:rPr>
              <a:t>Armut und Landwirtschaft. Obwohl die Unterstützung der landwirtschaftlichen Produktivität und der ländlichen Entwicklung bis zu 30 Prozent der gesamten Mittelzuweisung der Weltbank ausmacht, scheint sie nur geringfügig zur Steigerung der aggregierten landwirtschaftlichen Produktivität und damit zur Armutsbekämpfung beigetragen zu haben.</a:t>
            </a:r>
          </a:p>
          <a:p>
            <a:r>
              <a:rPr lang="en-US" b="1" dirty="0">
                <a:highlight>
                  <a:srgbClr val="000000">
                    <a:alpha val="0"/>
                  </a:srgbClr>
                </a:highlight>
              </a:rPr>
              <a:t>Ein erneuter Fokus auf institutionelle Stärkung und Wirtschaftsreformen könnte die Wirkung des künftigen CPF erhöhen; dies würde die Rückkehr zu Haushaltsunterstützungsoperationen in Kombination mit technischer Hilfe und Studien beinhalten – bei Bedarf ergänzt durch weitere Finanzierungsinstrumente.</a:t>
            </a:r>
          </a:p>
        </p:txBody>
      </p:sp>
      <p:sp>
        <p:nvSpPr>
          <p:cNvPr id="7" name="Footer Placeholder 6">
            <a:extLst>
              <a:ext uri="{FF2B5EF4-FFF2-40B4-BE49-F238E27FC236}">
                <a16:creationId xmlns:a16="http://schemas.microsoft.com/office/drawing/2014/main" id="{EA26D24A-3B7F-448D-A0A9-325CA054BE8D}"/>
              </a:ext>
            </a:extLst>
          </p:cNvPr>
          <p:cNvSpPr>
            <a:spLocks noGrp="1"/>
          </p:cNvSpPr>
          <p:nvPr>
            <p:ph type="ftr" sz="quarter" idx="11"/>
          </p:nvPr>
        </p:nvSpPr>
        <p:spPr/>
        <p:txBody>
          <a:bodyPr/>
          <a:lstStyle/>
          <a:p>
            <a:r>
              <a:rPr lang="en-US"/>
              <a:t>CPF 2023-2027. Öffentliche Fassung. Maputo, Mai 2022.</a:t>
            </a:r>
          </a:p>
        </p:txBody>
      </p:sp>
      <p:sp>
        <p:nvSpPr>
          <p:cNvPr id="8" name="Slide Number Placeholder 7">
            <a:extLst>
              <a:ext uri="{FF2B5EF4-FFF2-40B4-BE49-F238E27FC236}">
                <a16:creationId xmlns:a16="http://schemas.microsoft.com/office/drawing/2014/main" id="{49CB3C9C-220F-4711-ADCB-DE773403F0D2}"/>
              </a:ext>
            </a:extLst>
          </p:cNvPr>
          <p:cNvSpPr>
            <a:spLocks noGrp="1"/>
          </p:cNvSpPr>
          <p:nvPr>
            <p:ph type="sldNum" sz="quarter" idx="12"/>
          </p:nvPr>
        </p:nvSpPr>
        <p:spPr/>
        <p:txBody>
          <a:bodyPr/>
          <a:lstStyle/>
          <a:p>
            <a:fld id="{B8473C9A-9E91-4025-B5E2-D7B202510636}" type="slidenum">
              <a:rPr lang="en-US" smtClean="0"/>
              <a:t>13</a:t>
            </a:fld>
            <a:endParaRPr lang="en-US" dirty="0"/>
          </a:p>
        </p:txBody>
      </p:sp>
      <p:pic>
        <p:nvPicPr>
          <p:cNvPr id="4" name="Picture 3">
            <a:extLst>
              <a:ext uri="{FF2B5EF4-FFF2-40B4-BE49-F238E27FC236}">
                <a16:creationId xmlns:a16="http://schemas.microsoft.com/office/drawing/2014/main" id="{CE072EBA-EE85-483D-962C-E95907C911AA}"/>
              </a:ext>
            </a:extLst>
          </p:cNvPr>
          <p:cNvPicPr>
            <a:picLocks noChangeAspect="1"/>
          </p:cNvPicPr>
          <p:nvPr/>
        </p:nvPicPr>
        <p:blipFill>
          <a:blip r:embed="rId2"/>
          <a:stretch>
            <a:fillRect/>
          </a:stretch>
        </p:blipFill>
        <p:spPr>
          <a:xfrm>
            <a:off x="441859" y="236864"/>
            <a:ext cx="2316681" cy="463336"/>
          </a:xfrm>
          <a:prstGeom prst="rect">
            <a:avLst/>
          </a:prstGeom>
        </p:spPr>
      </p:pic>
    </p:spTree>
    <p:extLst>
      <p:ext uri="{BB962C8B-B14F-4D97-AF65-F5344CB8AC3E}">
        <p14:creationId xmlns:p14="http://schemas.microsoft.com/office/powerpoint/2010/main" val="159121229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8BF6E-3F48-4133-BFA3-5A80DFDCB4E2}"/>
              </a:ext>
            </a:extLst>
          </p:cNvPr>
          <p:cNvSpPr>
            <a:spLocks noGrp="1"/>
          </p:cNvSpPr>
          <p:nvPr>
            <p:ph type="title"/>
          </p:nvPr>
        </p:nvSpPr>
        <p:spPr>
          <a:xfrm>
            <a:off x="838200" y="136525"/>
            <a:ext cx="10515600" cy="1325563"/>
          </a:xfrm>
        </p:spPr>
        <p:txBody>
          <a:bodyPr>
            <a:noAutofit/>
          </a:bodyPr>
          <a:lstStyle/>
          <a:p>
            <a:r>
              <a:rPr lang="en-US" sz="4000" dirty="0"/>
              <a:t>Aufbau der Präsentation
</a:t>
            </a:r>
          </a:p>
          <a:p>
            <a:r>
              <a:rPr lang="en-US" sz="4000" dirty="0"/>
              <a:t/>
            </a:r>
          </a:p>
        </p:txBody>
      </p:sp>
      <p:sp>
        <p:nvSpPr>
          <p:cNvPr id="3" name="Content Placeholder 2">
            <a:extLst>
              <a:ext uri="{FF2B5EF4-FFF2-40B4-BE49-F238E27FC236}">
                <a16:creationId xmlns:a16="http://schemas.microsoft.com/office/drawing/2014/main" id="{A71C13BF-78D7-4831-B2B9-0342F47476B7}"/>
              </a:ext>
            </a:extLst>
          </p:cNvPr>
          <p:cNvSpPr>
            <a:spLocks noGrp="1"/>
          </p:cNvSpPr>
          <p:nvPr>
            <p:ph idx="1"/>
          </p:nvPr>
        </p:nvSpPr>
        <p:spPr>
          <a:xfrm>
            <a:off x="217843" y="1462089"/>
            <a:ext cx="11357385" cy="4648256"/>
          </a:xfrm>
        </p:spPr>
        <p:txBody>
          <a:bodyPr>
            <a:noAutofit/>
          </a:bodyPr>
          <a:lstStyle/>
          <a:p>
            <a:r>
              <a:rPr lang="en-US" sz="3200" b="1" dirty="0">
                <a:solidFill>
                  <a:schemeClr val="bg2">
                    <a:lumMod val="90000"/>
                  </a:schemeClr>
                </a:solidFill>
              </a:rPr>
              <a:t>Sicht der Weltbankgruppe auf die wichtigsten strategischen Herausforderungen des Landes   
</a:t>
            </a:r>
          </a:p>
          <a:p>
            <a:r>
              <a:rPr lang="en-US" sz="3200" b="1" dirty="0">
                <a:solidFill>
                  <a:schemeClr val="bg2">
                    <a:lumMod val="90000"/>
                  </a:schemeClr>
                </a:solidFill>
              </a:rPr>
              <a:t>Wichtigste Lehren aus dem vorherigen CPF (2017-2021)</a:t>
            </a:r>
          </a:p>
          <a:p>
            <a:r>
              <a:rPr lang="en-US" sz="3200" b="1" dirty="0">
                <a:solidFill>
                  <a:schemeClr val="bg2">
                    <a:lumMod val="90000"/>
                  </a:schemeClr>
                </a:solidFill>
              </a:rPr>
              <a:t>Erster Vorschlag für den CPF 2023-2027</a:t>
            </a:r>
          </a:p>
        </p:txBody>
      </p:sp>
      <p:sp>
        <p:nvSpPr>
          <p:cNvPr id="7" name="Footer Placeholder 6">
            <a:extLst>
              <a:ext uri="{FF2B5EF4-FFF2-40B4-BE49-F238E27FC236}">
                <a16:creationId xmlns:a16="http://schemas.microsoft.com/office/drawing/2014/main" id="{7A6A430E-5458-416E-A9AB-A23A8820A72E}"/>
              </a:ext>
            </a:extLst>
          </p:cNvPr>
          <p:cNvSpPr>
            <a:spLocks noGrp="1"/>
          </p:cNvSpPr>
          <p:nvPr>
            <p:ph type="ftr" sz="quarter" idx="11"/>
          </p:nvPr>
        </p:nvSpPr>
        <p:spPr/>
        <p:txBody>
          <a:bodyPr/>
          <a:lstStyle/>
          <a:p>
            <a:r>
              <a:rPr lang="en-US"/>
              <a:t>CPF 2023-2027. Öffentliche Fassung. Maputo, Mai 2022.</a:t>
            </a:r>
          </a:p>
        </p:txBody>
      </p:sp>
      <p:sp>
        <p:nvSpPr>
          <p:cNvPr id="8" name="Slide Number Placeholder 7">
            <a:extLst>
              <a:ext uri="{FF2B5EF4-FFF2-40B4-BE49-F238E27FC236}">
                <a16:creationId xmlns:a16="http://schemas.microsoft.com/office/drawing/2014/main" id="{4D9E7C67-67A0-4D86-94F9-54FE0825882C}"/>
              </a:ext>
            </a:extLst>
          </p:cNvPr>
          <p:cNvSpPr>
            <a:spLocks noGrp="1"/>
          </p:cNvSpPr>
          <p:nvPr>
            <p:ph type="sldNum" sz="quarter" idx="12"/>
          </p:nvPr>
        </p:nvSpPr>
        <p:spPr/>
        <p:txBody>
          <a:bodyPr/>
          <a:lstStyle/>
          <a:p>
            <a:fld id="{B8473C9A-9E91-4025-B5E2-D7B202510636}" type="slidenum">
              <a:rPr lang="en-US" smtClean="0"/>
              <a:t>14</a:t>
            </a:fld>
            <a:endParaRPr lang="en-US" dirty="0"/>
          </a:p>
        </p:txBody>
      </p:sp>
      <p:pic>
        <p:nvPicPr>
          <p:cNvPr id="4" name="Picture 3">
            <a:extLst>
              <a:ext uri="{FF2B5EF4-FFF2-40B4-BE49-F238E27FC236}">
                <a16:creationId xmlns:a16="http://schemas.microsoft.com/office/drawing/2014/main" id="{B1281B00-F5BC-4B51-A637-214484886365}"/>
              </a:ext>
            </a:extLst>
          </p:cNvPr>
          <p:cNvPicPr>
            <a:picLocks noChangeAspect="1"/>
          </p:cNvPicPr>
          <p:nvPr/>
        </p:nvPicPr>
        <p:blipFill>
          <a:blip r:embed="rId2"/>
          <a:stretch>
            <a:fillRect/>
          </a:stretch>
        </p:blipFill>
        <p:spPr>
          <a:xfrm>
            <a:off x="217843" y="284319"/>
            <a:ext cx="2316681" cy="463336"/>
          </a:xfrm>
          <a:prstGeom prst="rect">
            <a:avLst/>
          </a:prstGeom>
        </p:spPr>
      </p:pic>
    </p:spTree>
    <p:extLst>
      <p:ext uri="{BB962C8B-B14F-4D97-AF65-F5344CB8AC3E}">
        <p14:creationId xmlns:p14="http://schemas.microsoft.com/office/powerpoint/2010/main" val="156690918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FB915-6269-468D-BE41-290933A67848}"/>
              </a:ext>
            </a:extLst>
          </p:cNvPr>
          <p:cNvSpPr>
            <a:spLocks noGrp="1"/>
          </p:cNvSpPr>
          <p:nvPr>
            <p:ph type="title"/>
          </p:nvPr>
        </p:nvSpPr>
        <p:spPr>
          <a:xfrm>
            <a:off x="210151" y="117383"/>
            <a:ext cx="11674365" cy="974115"/>
          </a:xfrm>
        </p:spPr>
        <p:txBody>
          <a:bodyPr>
            <a:noAutofit/>
          </a:bodyPr>
          <a:lstStyle/>
          <a:p>
            <a:r>
              <a:rPr lang="en-US" sz="2400" b="1" i="0" u="none" strike="noStrike" dirty="0">
                <a:highlight>
                  <a:srgbClr val="000000">
                    <a:alpha val="0"/>
                  </a:srgbClr>
                </a:highlight>
                <a:latin typeface="Arial"/>
              </a:rPr>
              <a:t>Regierungsprogramm und mittelfristige Strategie (1-2)</a:t>
            </a:r>
          </a:p>
        </p:txBody>
      </p:sp>
      <p:sp>
        <p:nvSpPr>
          <p:cNvPr id="3" name="Content Placeholder 2">
            <a:extLst>
              <a:ext uri="{FF2B5EF4-FFF2-40B4-BE49-F238E27FC236}">
                <a16:creationId xmlns:a16="http://schemas.microsoft.com/office/drawing/2014/main" id="{AB67758D-AD88-4CBF-86DB-74D79CEE14E6}"/>
              </a:ext>
            </a:extLst>
          </p:cNvPr>
          <p:cNvSpPr>
            <a:spLocks noGrp="1"/>
          </p:cNvSpPr>
          <p:nvPr>
            <p:ph idx="1"/>
          </p:nvPr>
        </p:nvSpPr>
        <p:spPr>
          <a:xfrm>
            <a:off x="2885431" y="920048"/>
            <a:ext cx="9096418" cy="5436302"/>
          </a:xfrm>
        </p:spPr>
        <p:txBody>
          <a:bodyPr>
            <a:noAutofit/>
          </a:bodyPr>
          <a:lstStyle/>
          <a:p>
            <a:r>
              <a:rPr lang="en-US" sz="1400" b="1" i="0" u="none" strike="noStrike" dirty="0">
                <a:highlight>
                  <a:srgbClr val="000000">
                    <a:alpha val="0"/>
                  </a:srgbClr>
                </a:highlight>
                <a:latin typeface="Arial"/>
              </a:rPr>
              <a:t>Die Regierung Mosambiks erarbeitet eine Nationale Entwicklungsstrategie (ENDE) für 2015-2030. Auf Grundlage des in dieser Strategie festgelegten Rahmens legt die Regierung anschließend sektorale und territoriale Entwicklungspläne fest; die entsprechenden Fünfjahrespläne; das mittelfristige Haushaltsszenario sowie den Sozial-, Wirtschafts- und Staatshaushaltsplan.</a:t>
            </a:r>
          </a:p>
          <a:p>
            <a:r>
              <a:rPr lang="en-US" sz="1400" b="1" i="0" u="none" strike="noStrike" dirty="0">
                <a:highlight>
                  <a:srgbClr val="000000">
                    <a:alpha val="0"/>
                  </a:srgbClr>
                </a:highlight>
                <a:latin typeface="Arial"/>
              </a:rPr>
              <a:t>ENDE: 2022-2042. Vision: „Anhebung des Lebensstandards der Bevölkerung durch den strukturellen Wandel der Wirtschaft von einer Primärwirtschaft zu einer industrialisierten und dienstleistungsorientierten Wirtschaft“. Neue vorgeschlagene Schwerpunktbereiche: (i) wirtschaftlicher Wandel, (ii) sozialer Wandel, (iii) Regierungsführung und (iv) Umwelt und Kreislaufwirtschaft.</a:t>
            </a:r>
          </a:p>
          <a:p>
            <a:r>
              <a:rPr lang="en-US" sz="1400" b="1" i="0" u="none" strike="noStrike" dirty="0">
                <a:highlight>
                  <a:srgbClr val="000000">
                    <a:alpha val="0"/>
                  </a:srgbClr>
                </a:highlight>
                <a:latin typeface="Arial"/>
              </a:rPr>
              <a:t>Das Fünfjahresprogramm der Regierung (PQG) 2020-2024 wird auch 2023-24 der wichtigste Leitfaden für staatliche Interventionen und Strategien bleiben. Ein neues PQG soll nach den nationalen Wahlen 2024 ausgearbeitet werden. Die Regierung hat im Rahmen des Prozesses zur Sicherstellung der Berechtigung für die Prevention and Resilience Allocation (PRA) im Rahmen von IDA19 eine Strategie zur Prävention von Konflikten und Gewalt entwickelt.</a:t>
            </a:r>
          </a:p>
          <a:p>
            <a:r>
              <a:rPr lang="en-US" sz="1400" b="1" i="0" u="none" strike="noStrike" dirty="0">
                <a:highlight>
                  <a:srgbClr val="000000">
                    <a:alpha val="0"/>
                  </a:srgbClr>
                </a:highlight>
                <a:latin typeface="Arial"/>
              </a:rPr>
              <a:t>Die Regierung verfügt zudem über eine solide Strategie für den Energiesektor. Die Energiestrategie für den Zeitraum 2015-2024 zielt darauf ab: (i) die Infrastruktur und die Energieerzeugung für lokale Märkte sowie die Energieexporte (Gas und Strom) zu steigern; (ii) den lokalen Zugang zu Strom von 25 Prozent im Jahr 2015 auf 62 Prozent bis Ende 2024 auszuweiten, was der wirtschaftlichen und sozialen Entwicklung des Landes einen erheblichen Schub verleihen dürfte.</a:t>
            </a:r>
          </a:p>
          <a:p>
            <a:r>
              <a:rPr lang="en-US" sz="1400" b="1" i="0" u="none" strike="noStrike" dirty="0">
                <a:highlight>
                  <a:srgbClr val="000000">
                    <a:alpha val="0"/>
                  </a:srgbClr>
                </a:highlight>
                <a:latin typeface="Arial"/>
              </a:rPr>
              <a:t>Die Regierung verabschiedete die Nationale Strategie zur Anpassung an den Klimawandel und zu dessen Eindämmung, die den gesamtpolitischen Rahmen für eine klimaresiliente Planung und Entwicklung vorgibt. Die laufende Überarbeitung der ENDE bietet die Gelegenheit, den Klimawandel in die Entwicklungsstrategie zu integrieren.</a:t>
            </a:r>
          </a:p>
          <a:p>
            <a:r>
              <a:rPr lang="en-US" sz="1400" b="1" i="0" u="none" strike="noStrike" dirty="0">
                <a:highlight>
                  <a:srgbClr val="000000">
                    <a:alpha val="0"/>
                  </a:srgbClr>
                </a:highlight>
                <a:latin typeface="Arial"/>
              </a:rPr>
              <a:t/>
            </a:r>
          </a:p>
          <a:p>
            <a:r>
              <a:rPr lang="en-US" sz="1400" b="1" i="0" u="none" strike="noStrike" dirty="0">
                <a:highlight>
                  <a:srgbClr val="000000">
                    <a:alpha val="0"/>
                  </a:srgbClr>
                </a:highlight>
                <a:latin typeface="Arial"/>
              </a:rPr>
              <a:t/>
            </a:r>
          </a:p>
        </p:txBody>
      </p:sp>
      <p:sp>
        <p:nvSpPr>
          <p:cNvPr id="13" name="TextBox 12">
            <a:extLst>
              <a:ext uri="{FF2B5EF4-FFF2-40B4-BE49-F238E27FC236}">
                <a16:creationId xmlns:a16="http://schemas.microsoft.com/office/drawing/2014/main" id="{275A71C0-DD1F-4344-896E-1E6D79421314}"/>
              </a:ext>
            </a:extLst>
          </p:cNvPr>
          <p:cNvSpPr txBox="1"/>
          <p:nvPr/>
        </p:nvSpPr>
        <p:spPr>
          <a:xfrm>
            <a:off x="421936" y="1091498"/>
            <a:ext cx="2251710" cy="830997"/>
          </a:xfrm>
          <a:prstGeom prst="rect">
            <a:avLst/>
          </a:prstGeom>
          <a:noFill/>
        </p:spPr>
        <p:txBody>
          <a:bodyPr wrap="square">
            <a:noAutofit/>
          </a:bodyPr>
          <a:lstStyle/>
          <a:p>
            <a:r>
              <a:rPr lang="en-US" sz="1600" b="1" i="0" u="none" strike="noStrike">
                <a:highlight>
                  <a:srgbClr val="000000">
                    <a:alpha val="0"/>
                  </a:srgbClr>
                </a:highlight>
                <a:latin typeface="Arial"/>
                <a:ea typeface="Times New Roman"/>
              </a:rPr>
              <a:t>Strategischer Planungsrahmen Mosambiks</a:t>
            </a:r>
          </a:p>
        </p:txBody>
      </p:sp>
      <p:sp>
        <p:nvSpPr>
          <p:cNvPr id="7" name="Footer Placeholder 6">
            <a:extLst>
              <a:ext uri="{FF2B5EF4-FFF2-40B4-BE49-F238E27FC236}">
                <a16:creationId xmlns:a16="http://schemas.microsoft.com/office/drawing/2014/main" id="{3C07539B-E0FF-42CA-B8A4-65A60A9256F0}"/>
              </a:ext>
            </a:extLst>
          </p:cNvPr>
          <p:cNvSpPr>
            <a:spLocks noGrp="1"/>
          </p:cNvSpPr>
          <p:nvPr>
            <p:ph type="ftr" sz="quarter" idx="11"/>
          </p:nvPr>
        </p:nvSpPr>
        <p:spPr/>
        <p:txBody>
          <a:bodyPr/>
          <a:lstStyle/>
          <a:p>
            <a:r>
              <a:rPr lang="en-US"/>
              <a:t>CPF 2023-2027. Öffentliche Fassung. Maputo, Mai 2022.</a:t>
            </a:r>
          </a:p>
        </p:txBody>
      </p:sp>
      <p:sp>
        <p:nvSpPr>
          <p:cNvPr id="8" name="Slide Number Placeholder 7">
            <a:extLst>
              <a:ext uri="{FF2B5EF4-FFF2-40B4-BE49-F238E27FC236}">
                <a16:creationId xmlns:a16="http://schemas.microsoft.com/office/drawing/2014/main" id="{08206547-D93E-4655-9380-0A7EF5A3B216}"/>
              </a:ext>
            </a:extLst>
          </p:cNvPr>
          <p:cNvSpPr>
            <a:spLocks noGrp="1"/>
          </p:cNvSpPr>
          <p:nvPr>
            <p:ph type="sldNum" sz="quarter" idx="12"/>
          </p:nvPr>
        </p:nvSpPr>
        <p:spPr/>
        <p:txBody>
          <a:bodyPr/>
          <a:lstStyle/>
          <a:p>
            <a:fld id="{B8473C9A-9E91-4025-B5E2-D7B202510636}" type="slidenum">
              <a:rPr lang="en-US" smtClean="0"/>
              <a:t>15</a:t>
            </a:fld>
            <a:endParaRPr lang="en-US" dirty="0"/>
          </a:p>
        </p:txBody>
      </p:sp>
      <p:pic>
        <p:nvPicPr>
          <p:cNvPr id="5" name="Picture 4">
            <a:extLst>
              <a:ext uri="{FF2B5EF4-FFF2-40B4-BE49-F238E27FC236}">
                <a16:creationId xmlns:a16="http://schemas.microsoft.com/office/drawing/2014/main" id="{B154BE3C-E233-49B7-A33C-58E1AF92F8FF}"/>
              </a:ext>
            </a:extLst>
          </p:cNvPr>
          <p:cNvPicPr>
            <a:picLocks noChangeAspect="1"/>
          </p:cNvPicPr>
          <p:nvPr/>
        </p:nvPicPr>
        <p:blipFill>
          <a:blip r:embed="rId3"/>
          <a:stretch>
            <a:fillRect/>
          </a:stretch>
        </p:blipFill>
        <p:spPr>
          <a:xfrm>
            <a:off x="275447" y="1922495"/>
            <a:ext cx="2609984" cy="1371670"/>
          </a:xfrm>
          <a:prstGeom prst="rect">
            <a:avLst/>
          </a:prstGeom>
        </p:spPr>
      </p:pic>
      <p:pic>
        <p:nvPicPr>
          <p:cNvPr id="6" name="Picture 5">
            <a:extLst>
              <a:ext uri="{FF2B5EF4-FFF2-40B4-BE49-F238E27FC236}">
                <a16:creationId xmlns:a16="http://schemas.microsoft.com/office/drawing/2014/main" id="{82A4F521-947E-4F41-8989-A9E808E1FB24}"/>
              </a:ext>
            </a:extLst>
          </p:cNvPr>
          <p:cNvPicPr>
            <a:picLocks noChangeAspect="1"/>
          </p:cNvPicPr>
          <p:nvPr/>
        </p:nvPicPr>
        <p:blipFill>
          <a:blip r:embed="rId4"/>
          <a:stretch>
            <a:fillRect/>
          </a:stretch>
        </p:blipFill>
        <p:spPr>
          <a:xfrm>
            <a:off x="581456" y="2695170"/>
            <a:ext cx="1943200" cy="1028753"/>
          </a:xfrm>
          <a:prstGeom prst="rect">
            <a:avLst/>
          </a:prstGeom>
        </p:spPr>
      </p:pic>
      <p:pic>
        <p:nvPicPr>
          <p:cNvPr id="9" name="Picture 8">
            <a:extLst>
              <a:ext uri="{FF2B5EF4-FFF2-40B4-BE49-F238E27FC236}">
                <a16:creationId xmlns:a16="http://schemas.microsoft.com/office/drawing/2014/main" id="{93473CB6-38EC-401B-8248-CA013BA9AD4B}"/>
              </a:ext>
            </a:extLst>
          </p:cNvPr>
          <p:cNvPicPr>
            <a:picLocks noChangeAspect="1"/>
          </p:cNvPicPr>
          <p:nvPr/>
        </p:nvPicPr>
        <p:blipFill>
          <a:blip r:embed="rId5"/>
          <a:stretch>
            <a:fillRect/>
          </a:stretch>
        </p:blipFill>
        <p:spPr>
          <a:xfrm>
            <a:off x="842905" y="3416946"/>
            <a:ext cx="1409772" cy="914447"/>
          </a:xfrm>
          <a:prstGeom prst="rect">
            <a:avLst/>
          </a:prstGeom>
        </p:spPr>
      </p:pic>
      <p:pic>
        <p:nvPicPr>
          <p:cNvPr id="12" name="Picture 11">
            <a:extLst>
              <a:ext uri="{FF2B5EF4-FFF2-40B4-BE49-F238E27FC236}">
                <a16:creationId xmlns:a16="http://schemas.microsoft.com/office/drawing/2014/main" id="{695A486F-A69A-4D7E-9A13-4053BA05D168}"/>
              </a:ext>
            </a:extLst>
          </p:cNvPr>
          <p:cNvPicPr>
            <a:picLocks noChangeAspect="1"/>
          </p:cNvPicPr>
          <p:nvPr/>
        </p:nvPicPr>
        <p:blipFill>
          <a:blip r:embed="rId6"/>
          <a:stretch>
            <a:fillRect/>
          </a:stretch>
        </p:blipFill>
        <p:spPr>
          <a:xfrm>
            <a:off x="961282" y="4068498"/>
            <a:ext cx="1238314" cy="704886"/>
          </a:xfrm>
          <a:prstGeom prst="rect">
            <a:avLst/>
          </a:prstGeom>
        </p:spPr>
      </p:pic>
      <p:pic>
        <p:nvPicPr>
          <p:cNvPr id="14" name="Picture 13">
            <a:extLst>
              <a:ext uri="{FF2B5EF4-FFF2-40B4-BE49-F238E27FC236}">
                <a16:creationId xmlns:a16="http://schemas.microsoft.com/office/drawing/2014/main" id="{3AD427A3-5513-40A2-8EB4-47A749B68E50}"/>
              </a:ext>
            </a:extLst>
          </p:cNvPr>
          <p:cNvPicPr>
            <a:picLocks noChangeAspect="1"/>
          </p:cNvPicPr>
          <p:nvPr/>
        </p:nvPicPr>
        <p:blipFill>
          <a:blip r:embed="rId7"/>
          <a:stretch>
            <a:fillRect/>
          </a:stretch>
        </p:blipFill>
        <p:spPr>
          <a:xfrm>
            <a:off x="961282" y="4575006"/>
            <a:ext cx="1085906" cy="1085906"/>
          </a:xfrm>
          <a:prstGeom prst="rect">
            <a:avLst/>
          </a:prstGeom>
        </p:spPr>
      </p:pic>
      <p:pic>
        <p:nvPicPr>
          <p:cNvPr id="15" name="Picture 14">
            <a:extLst>
              <a:ext uri="{FF2B5EF4-FFF2-40B4-BE49-F238E27FC236}">
                <a16:creationId xmlns:a16="http://schemas.microsoft.com/office/drawing/2014/main" id="{60585D39-674F-4998-BCCE-060C6E065B1D}"/>
              </a:ext>
            </a:extLst>
          </p:cNvPr>
          <p:cNvPicPr>
            <a:picLocks noChangeAspect="1"/>
          </p:cNvPicPr>
          <p:nvPr/>
        </p:nvPicPr>
        <p:blipFill>
          <a:blip r:embed="rId8"/>
          <a:stretch>
            <a:fillRect/>
          </a:stretch>
        </p:blipFill>
        <p:spPr>
          <a:xfrm>
            <a:off x="389450" y="198404"/>
            <a:ext cx="2316681" cy="463336"/>
          </a:xfrm>
          <a:prstGeom prst="rect">
            <a:avLst/>
          </a:prstGeom>
        </p:spPr>
      </p:pic>
    </p:spTree>
    <p:extLst>
      <p:ext uri="{BB962C8B-B14F-4D97-AF65-F5344CB8AC3E}">
        <p14:creationId xmlns:p14="http://schemas.microsoft.com/office/powerpoint/2010/main" val="269148502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0905DBB9-16CF-4238-810E-D8E86FC842AF}"/>
              </a:ext>
            </a:extLst>
          </p:cNvPr>
          <p:cNvSpPr txBox="1"/>
          <p:nvPr/>
        </p:nvSpPr>
        <p:spPr>
          <a:xfrm>
            <a:off x="342901" y="803128"/>
            <a:ext cx="11527970" cy="555322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i="0" u="none" strike="noStrike" dirty="0">
                <a:highlight>
                  <a:srgbClr val="000000">
                    <a:alpha val="0"/>
                  </a:srgbClr>
                </a:highlight>
                <a:latin typeface="Arial"/>
              </a:rPr>
              <a:t>Die Regierung hat zudem im Zuge der Krise um die versteckten Schulden von 2016 einen ehrgeizigen Plan zur Verbesserung der Regierungsführung angenommen, der auf dem Diagnosebericht zu Transparenz, Regierungsführung und Korruption beruht.</a:t>
            </a:r>
          </a:p>
          <a:p>
            <a:r>
              <a:rPr lang="en-US" sz="1400" b="1" i="0" u="none" strike="noStrike" dirty="0">
                <a:highlight>
                  <a:srgbClr val="000000">
                    <a:alpha val="0"/>
                  </a:srgbClr>
                </a:highlight>
                <a:latin typeface="Arial"/>
              </a:rPr>
              <a:t>Die Behörden ergriffen mehrere Maßnahmen zur Begrenzung der öffentlichen Ausgaben. Ein solides Programm zur Haushaltskonsolidierung verringerte das Primärdefizit zwischen 2015 und 2018 von 6 % auf 2 % des BIP und hatte die öffentliche Verschuldung auf einen abnehmenden Pfad gebracht.</a:t>
            </a:r>
          </a:p>
          <a:p>
            <a:r>
              <a:rPr lang="en-US" sz="1400" b="1" i="0" u="none" strike="noStrike" dirty="0">
                <a:highlight>
                  <a:srgbClr val="000000">
                    <a:alpha val="0"/>
                  </a:srgbClr>
                </a:highlight>
                <a:latin typeface="Arial"/>
              </a:rPr>
              <a:t>Die Aufsicht über die öffentlichen Unternehmen wurde gestärkt. Nur das Ministerium für Wirtschaft und Finanzen darf im Namen der Regierung Garantien unterzeichnen, sofern diese unterhalb der vom Parlament im jährlichen Haushaltsgesetz genehmigten Obergrenze liegen. 2018 wurde auch die Governance öffentlicher Unternehmen durch ein neues Gesetz für öffentliche Unternehmen gestärkt.</a:t>
            </a:r>
          </a:p>
          <a:p>
            <a:r>
              <a:rPr lang="en-US" sz="1400" b="1" i="0" u="none" strike="noStrike" dirty="0">
                <a:highlight>
                  <a:srgbClr val="000000">
                    <a:alpha val="0"/>
                  </a:srgbClr>
                </a:highlight>
                <a:latin typeface="Arial"/>
              </a:rPr>
              <a:t>Bei der haushaltspolitischen Transparenz wurden erhebliche Fortschritte erzielt, mit der regelmäßigen Veröffentlichung von Erklärungen zu Haushaltsrisiken und umfassenden Berichten über die Schulden im Zusammenhang mit öffentlichen Unternehmen und LNG.</a:t>
            </a:r>
          </a:p>
          <a:p>
            <a:r>
              <a:rPr lang="en-US" sz="1400" b="1" i="0" u="none" strike="noStrike" dirty="0">
                <a:highlight>
                  <a:srgbClr val="000000">
                    <a:alpha val="0"/>
                  </a:srgbClr>
                </a:highlight>
                <a:latin typeface="Arial"/>
              </a:rPr>
              <a:t>2020 wurde ein neues umfassendes Gesetz über die öffentlichen Finanzen verabschiedet, das öffentliche Unternehmen und subnationale Regierungen in das Haushaltssystem integriert.</a:t>
            </a:r>
          </a:p>
          <a:p>
            <a:r>
              <a:rPr lang="en-US" sz="1400" b="1" i="0" u="none" strike="noStrike" dirty="0">
                <a:highlight>
                  <a:srgbClr val="000000">
                    <a:alpha val="0"/>
                  </a:srgbClr>
                </a:highlight>
                <a:latin typeface="Arial"/>
              </a:rPr>
              <a:t>Seit 2010 wurden klima- und katastrophenbezogene politische Maßnahmen umgesetzt.</a:t>
            </a:r>
          </a:p>
          <a:p>
            <a:r>
              <a:rPr lang="en-US" sz="1400" b="1" i="0" u="none" strike="noStrike" dirty="0">
                <a:highlight>
                  <a:srgbClr val="000000">
                    <a:alpha val="0"/>
                  </a:srgbClr>
                </a:highlight>
                <a:latin typeface="Arial"/>
              </a:rPr>
              <a:t>Die Regierung verabschiedete die Nationale Strategie zur Anpassung an den Klimawandel und zu dessen Eindämmung, die den gesamtpolitischen Rahmen für eine klimaresiliente Planung und Entwicklung vorgibt.</a:t>
            </a:r>
          </a:p>
          <a:p>
            <a:r>
              <a:rPr lang="en-US" sz="1400" b="1" i="0" u="none" strike="noStrike" dirty="0">
                <a:highlight>
                  <a:srgbClr val="000000">
                    <a:alpha val="0"/>
                  </a:srgbClr>
                </a:highlight>
                <a:latin typeface="Arial"/>
              </a:rPr>
              <a:t>Es wurde ein umfassendes Nationales Programm für das Katastrophenrisikomanagement verabschiedet, um die resiliente Entwicklung Mosambiks durch Katastrophenprävention, -vorsorge, -reaktion und -erholung zu fördern sowie das Katastrophenrisikomanagement (DRM) in die öffentlichen Finanzen, Investitionen und Entwicklungsplanung in allen Sektoren zu integrieren.</a:t>
            </a:r>
          </a:p>
          <a:p>
            <a:r>
              <a:rPr lang="en-US" sz="1400" b="1" i="0" u="none" strike="noStrike" dirty="0">
                <a:highlight>
                  <a:srgbClr val="000000">
                    <a:alpha val="0"/>
                  </a:srgbClr>
                </a:highlight>
                <a:latin typeface="Arial"/>
              </a:rPr>
              <a:t>Ein wichtiger Meilenstein dieses Programms war die Einrichtung, Kapitalisierung und Operationalisierung eines Nationalen Fonds für das Katastrophenmanagement sowie die Verabschiedung und Anwendung neuer Normen im Hinblick auf die Klimaresilienz in Schlüsselsektoren (Bildung, Verkehr).</a:t>
            </a:r>
          </a:p>
          <a:p>
            <a:r>
              <a:rPr lang="en-US" sz="1400" b="1" i="0" u="none" strike="noStrike" dirty="0">
                <a:highlight>
                  <a:srgbClr val="000000">
                    <a:alpha val="0"/>
                  </a:srgbClr>
                </a:highlight>
                <a:latin typeface="Arial"/>
              </a:rPr>
              <a:t/>
            </a:r>
          </a:p>
          <a:p>
            <a:r>
              <a:rPr lang="en-US" sz="1400" b="1" i="0" u="none" strike="noStrike" dirty="0">
                <a:highlight>
                  <a:srgbClr val="000000">
                    <a:alpha val="0"/>
                  </a:srgbClr>
                </a:highlight>
                <a:latin typeface="Arial"/>
              </a:rPr>
              <a:t/>
            </a:r>
          </a:p>
        </p:txBody>
      </p:sp>
      <p:sp>
        <p:nvSpPr>
          <p:cNvPr id="7" name="Title 1">
            <a:extLst>
              <a:ext uri="{FF2B5EF4-FFF2-40B4-BE49-F238E27FC236}">
                <a16:creationId xmlns:a16="http://schemas.microsoft.com/office/drawing/2014/main" id="{7E1960F2-7C30-42B1-8F7A-3F07757B68C5}"/>
              </a:ext>
            </a:extLst>
          </p:cNvPr>
          <p:cNvSpPr txBox="1"/>
          <p:nvPr/>
        </p:nvSpPr>
        <p:spPr>
          <a:xfrm>
            <a:off x="2366682" y="266915"/>
            <a:ext cx="9825318" cy="711292"/>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rgbClr val="2F5597"/>
                </a:solidFill>
              </a:rPr>
              <a:t>Regierungsprogramm und mittelfristige Strategie (1-2)
</a:t>
            </a:r>
          </a:p>
          <a:p>
            <a:r>
              <a:rPr lang="en-US" sz="2400" b="1" dirty="0">
                <a:solidFill>
                  <a:srgbClr val="2F5597"/>
                </a:solidFill>
              </a:rPr>
              <a:t/>
            </a:r>
          </a:p>
        </p:txBody>
      </p:sp>
      <p:sp>
        <p:nvSpPr>
          <p:cNvPr id="6" name="Footer Placeholder 5">
            <a:extLst>
              <a:ext uri="{FF2B5EF4-FFF2-40B4-BE49-F238E27FC236}">
                <a16:creationId xmlns:a16="http://schemas.microsoft.com/office/drawing/2014/main" id="{EADDD79C-C7B6-4A6E-97AF-8DB4ECD26A8E}"/>
              </a:ext>
            </a:extLst>
          </p:cNvPr>
          <p:cNvSpPr>
            <a:spLocks noGrp="1"/>
          </p:cNvSpPr>
          <p:nvPr>
            <p:ph type="ftr" sz="quarter" idx="11"/>
          </p:nvPr>
        </p:nvSpPr>
        <p:spPr>
          <a:xfrm>
            <a:off x="3978729" y="6591085"/>
            <a:ext cx="4114800" cy="365125"/>
          </a:xfrm>
        </p:spPr>
        <p:txBody>
          <a:bodyPr/>
          <a:lstStyle/>
          <a:p>
            <a:r>
              <a:rPr lang="en-US"/>
              <a:t>CPF 2023-2027. Öffentliche Fassung. Maputo, Mai 2022.</a:t>
            </a:r>
          </a:p>
        </p:txBody>
      </p:sp>
      <p:sp>
        <p:nvSpPr>
          <p:cNvPr id="8" name="Slide Number Placeholder 7">
            <a:extLst>
              <a:ext uri="{FF2B5EF4-FFF2-40B4-BE49-F238E27FC236}">
                <a16:creationId xmlns:a16="http://schemas.microsoft.com/office/drawing/2014/main" id="{BCD46C9F-CCE9-4530-9958-DCC0E2E66395}"/>
              </a:ext>
            </a:extLst>
          </p:cNvPr>
          <p:cNvSpPr>
            <a:spLocks noGrp="1"/>
          </p:cNvSpPr>
          <p:nvPr>
            <p:ph type="sldNum" sz="quarter" idx="12"/>
          </p:nvPr>
        </p:nvSpPr>
        <p:spPr/>
        <p:txBody>
          <a:bodyPr/>
          <a:lstStyle/>
          <a:p>
            <a:fld id="{B8473C9A-9E91-4025-B5E2-D7B202510636}" type="slidenum">
              <a:rPr lang="en-US" smtClean="0"/>
              <a:t>16</a:t>
            </a:fld>
            <a:endParaRPr lang="en-US" dirty="0"/>
          </a:p>
        </p:txBody>
      </p:sp>
      <p:pic>
        <p:nvPicPr>
          <p:cNvPr id="2" name="Picture 1">
            <a:extLst>
              <a:ext uri="{FF2B5EF4-FFF2-40B4-BE49-F238E27FC236}">
                <a16:creationId xmlns:a16="http://schemas.microsoft.com/office/drawing/2014/main" id="{2EDC6EAF-1287-40CD-82FF-60AD0D1CE264}"/>
              </a:ext>
            </a:extLst>
          </p:cNvPr>
          <p:cNvPicPr>
            <a:picLocks noChangeAspect="1"/>
          </p:cNvPicPr>
          <p:nvPr/>
        </p:nvPicPr>
        <p:blipFill>
          <a:blip r:embed="rId2"/>
          <a:stretch>
            <a:fillRect/>
          </a:stretch>
        </p:blipFill>
        <p:spPr>
          <a:xfrm>
            <a:off x="342901" y="206335"/>
            <a:ext cx="2316681" cy="463336"/>
          </a:xfrm>
          <a:prstGeom prst="rect">
            <a:avLst/>
          </a:prstGeom>
        </p:spPr>
      </p:pic>
    </p:spTree>
    <p:extLst>
      <p:ext uri="{BB962C8B-B14F-4D97-AF65-F5344CB8AC3E}">
        <p14:creationId xmlns:p14="http://schemas.microsoft.com/office/powerpoint/2010/main" val="338102573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a:extLst>
              <a:ext uri="{FF2B5EF4-FFF2-40B4-BE49-F238E27FC236}">
                <a16:creationId xmlns:a16="http://schemas.microsoft.com/office/drawing/2014/main" id="{F5759940-B30E-472A-AF4F-173A4D4CA100}"/>
              </a:ext>
            </a:extLst>
          </p:cNvPr>
          <p:cNvGrpSpPr/>
          <p:nvPr/>
        </p:nvGrpSpPr>
        <p:grpSpPr>
          <a:xfrm>
            <a:off x="6902048" y="3026892"/>
            <a:ext cx="5049327" cy="3339205"/>
            <a:chOff x="-3167528" y="-865701"/>
            <a:chExt cx="7897716" cy="2630133"/>
          </a:xfrm>
        </p:grpSpPr>
        <p:sp>
          <p:nvSpPr>
            <p:cNvPr id="41" name="TextBox 20">
              <a:extLst>
                <a:ext uri="{FF2B5EF4-FFF2-40B4-BE49-F238E27FC236}">
                  <a16:creationId xmlns:a16="http://schemas.microsoft.com/office/drawing/2014/main" id="{48A3B9E8-0F2B-4E8C-A956-776C8184EC2E}"/>
                </a:ext>
              </a:extLst>
            </p:cNvPr>
            <p:cNvSpPr txBox="1"/>
            <p:nvPr/>
          </p:nvSpPr>
          <p:spPr>
            <a:xfrm>
              <a:off x="-3167528" y="-865701"/>
              <a:ext cx="7842229" cy="678778"/>
            </a:xfrm>
            <a:prstGeom prst="rect">
              <a:avLst/>
            </a:prstGeom>
            <a:solidFill>
              <a:srgbClr val="002060"/>
            </a:solidFill>
          </p:spPr>
          <p:txBody>
            <a:bodyPr wrap="square" rtlCol="0">
              <a:spAutoFit/>
            </a:bodyPr>
            <a:lstStyle/>
            <a:p>
              <a:r>
                <a:rPr kumimoji="0" lang="en-US" sz="1600" b="1" i="0" u="none" strike="noStrike" kern="1200" cap="none" spc="0" normalizeH="0" baseline="0" noProof="0" dirty="0">
                  <a:ln>
                    <a:noFill/>
                  </a:ln>
                  <a:solidFill>
                    <a:prstClr val="white"/>
                  </a:solidFill>
                  <a:effectLst/>
                  <a:uLnTx/>
                  <a:uFillTx/>
                  <a:latin typeface="Calibri" panose="020F0502020204030204" pitchFamily="34" charset="0"/>
                  <a:ea typeface="Times New Roman" panose="02020603050405020304" pitchFamily="18" charset="0"/>
                  <a:cs typeface="Times New Roman" panose="02020603050405020304" pitchFamily="18" charset="0"/>
                </a:rPr>
                <a:t>HLO3. Verbesserung des Humankapitals und Stärkung der Frauen</a:t>
              </a:r>
            </a:p>
            <a:p>
              <a:r>
                <a:rPr kumimoji="0" lang="en-US" sz="1600" b="1" i="0" u="none" strike="noStrike" kern="1200" cap="none" spc="0" normalizeH="0" baseline="0" noProof="0" dirty="0">
                  <a:ln>
                    <a:noFill/>
                  </a:ln>
                  <a:solidFill>
                    <a:prstClr val="white"/>
                  </a:solidFill>
                  <a:effectLst/>
                  <a:uLnTx/>
                  <a:uFillTx/>
                  <a:latin typeface="Calibri" panose="020F0502020204030204" pitchFamily="34" charset="0"/>
                  <a:ea typeface="Times New Roman" panose="02020603050405020304" pitchFamily="18" charset="0"/>
                  <a:cs typeface="Times New Roman" panose="02020603050405020304" pitchFamily="18" charset="0"/>
                </a:rPr>
                <a:t/>
              </a:r>
            </a:p>
            <a:p>
              <a:r>
                <a:rPr kumimoji="0" lang="en-US" sz="1600" b="1" i="0" u="none" strike="noStrike" kern="1200" cap="none" spc="0" normalizeH="0" baseline="0" noProof="0" dirty="0">
                  <a:ln>
                    <a:noFill/>
                  </a:ln>
                  <a:solidFill>
                    <a:prstClr val="white"/>
                  </a:solidFill>
                  <a:effectLst/>
                  <a:uLnTx/>
                  <a:uFillTx/>
                  <a:latin typeface="Calibri" panose="020F0502020204030204" pitchFamily="34" charset="0"/>
                  <a:ea typeface="Times New Roman" panose="02020603050405020304" pitchFamily="18" charset="0"/>
                  <a:cs typeface="Times New Roman" panose="02020603050405020304" pitchFamily="18" charset="0"/>
                </a:rPr>
                <a:t/>
              </a:r>
            </a:p>
          </p:txBody>
        </p:sp>
        <p:sp>
          <p:nvSpPr>
            <p:cNvPr id="42" name="TextBox 27">
              <a:extLst>
                <a:ext uri="{FF2B5EF4-FFF2-40B4-BE49-F238E27FC236}">
                  <a16:creationId xmlns:a16="http://schemas.microsoft.com/office/drawing/2014/main" id="{0592111B-E078-4582-B08D-1779B5DA9631}"/>
                </a:ext>
              </a:extLst>
            </p:cNvPr>
            <p:cNvSpPr txBox="1"/>
            <p:nvPr/>
          </p:nvSpPr>
          <p:spPr>
            <a:xfrm>
              <a:off x="2350242" y="-12591"/>
              <a:ext cx="2379946" cy="1769673"/>
            </a:xfrm>
            <a:prstGeom prst="rect">
              <a:avLst/>
            </a:prstGeom>
            <a:solidFill>
              <a:srgbClr val="00B0F0"/>
            </a:solidFill>
          </p:spPr>
          <p:txBody>
            <a:bodyPr wrap="square" rtlCol="0">
              <a:spAutoFit/>
            </a:bodyPr>
            <a:lstStyle/>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Ziel 9:</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Verbesserter Zugang zu Diensten zur Vermeidung von Teenagerschwangerschaften und zur Förderung der wirtschaftlichen Teilhabe von Frauen</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r>
            </a:p>
          </p:txBody>
        </p:sp>
        <p:sp>
          <p:nvSpPr>
            <p:cNvPr id="43" name="TextBox 28">
              <a:extLst>
                <a:ext uri="{FF2B5EF4-FFF2-40B4-BE49-F238E27FC236}">
                  <a16:creationId xmlns:a16="http://schemas.microsoft.com/office/drawing/2014/main" id="{A9A137C2-4A53-41CC-909B-078D228AAFE8}"/>
                </a:ext>
              </a:extLst>
            </p:cNvPr>
            <p:cNvSpPr txBox="1"/>
            <p:nvPr/>
          </p:nvSpPr>
          <p:spPr>
            <a:xfrm>
              <a:off x="-450438" y="-5241"/>
              <a:ext cx="2590533" cy="1769672"/>
            </a:xfrm>
            <a:prstGeom prst="rect">
              <a:avLst/>
            </a:prstGeom>
            <a:solidFill>
              <a:srgbClr val="00B0F0"/>
            </a:solidFill>
          </p:spPr>
          <p:txBody>
            <a:bodyPr wrap="square" rtlCol="0">
              <a:spAutoFit/>
            </a:bodyPr>
            <a:lstStyle/>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Ziel 8:</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Steigerung der Effizienz und der wirksamen Abdeckung integrierter und nachhaltiger Sozialdienste</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r>
            </a:p>
          </p:txBody>
        </p:sp>
        <p:sp>
          <p:nvSpPr>
            <p:cNvPr id="44" name="TextBox 33">
              <a:extLst>
                <a:ext uri="{FF2B5EF4-FFF2-40B4-BE49-F238E27FC236}">
                  <a16:creationId xmlns:a16="http://schemas.microsoft.com/office/drawing/2014/main" id="{8FCE60F2-7AAD-469F-99FA-A7907C1C8144}"/>
                </a:ext>
              </a:extLst>
            </p:cNvPr>
            <p:cNvSpPr txBox="1"/>
            <p:nvPr/>
          </p:nvSpPr>
          <p:spPr>
            <a:xfrm>
              <a:off x="-3121845" y="-5241"/>
              <a:ext cx="2461261" cy="1769673"/>
            </a:xfrm>
            <a:prstGeom prst="rect">
              <a:avLst/>
            </a:prstGeom>
            <a:solidFill>
              <a:srgbClr val="00B0F0"/>
            </a:solidFill>
          </p:spPr>
          <p:txBody>
            <a:bodyPr wrap="square" rtlCol="0">
              <a:spAutoFit/>
            </a:bodyPr>
            <a:lstStyle/>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Ziel 7:</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Verbesserung zentraler Ergebnisse in den Bereichen Gesundheit und Bildung</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r>
            </a:p>
          </p:txBody>
        </p:sp>
      </p:grpSp>
      <p:sp>
        <p:nvSpPr>
          <p:cNvPr id="48" name="TextBox 20">
            <a:extLst>
              <a:ext uri="{FF2B5EF4-FFF2-40B4-BE49-F238E27FC236}">
                <a16:creationId xmlns:a16="http://schemas.microsoft.com/office/drawing/2014/main" id="{61DD58FA-691C-40D4-A443-0BF04F16BDA4}"/>
              </a:ext>
            </a:extLst>
          </p:cNvPr>
          <p:cNvSpPr txBox="1"/>
          <p:nvPr/>
        </p:nvSpPr>
        <p:spPr>
          <a:xfrm>
            <a:off x="367495" y="829071"/>
            <a:ext cx="11530224" cy="646331"/>
          </a:xfrm>
          <a:prstGeom prst="rect">
            <a:avLst/>
          </a:prstGeom>
          <a:solidFill>
            <a:srgbClr val="002060"/>
          </a:solidFill>
        </p:spPr>
        <p:txBody>
          <a:bodyPr wrap="square" rtlCol="0">
            <a:spAutoFit/>
          </a:bodyPr>
          <a:lstStyle/>
          <a:p>
            <a:r>
              <a:rPr lang="en-US"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HLO 1: Inklusivere Institutionen
</a:t>
            </a:r>
          </a:p>
          <a:p>
            <a:r>
              <a:rPr lang="en-US"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r>
          </a:p>
        </p:txBody>
      </p:sp>
      <p:sp>
        <p:nvSpPr>
          <p:cNvPr id="50" name="TextBox 28">
            <a:extLst>
              <a:ext uri="{FF2B5EF4-FFF2-40B4-BE49-F238E27FC236}">
                <a16:creationId xmlns:a16="http://schemas.microsoft.com/office/drawing/2014/main" id="{6DCAB71F-0043-4348-B2CA-13ED368C292D}"/>
              </a:ext>
            </a:extLst>
          </p:cNvPr>
          <p:cNvSpPr txBox="1"/>
          <p:nvPr/>
        </p:nvSpPr>
        <p:spPr>
          <a:xfrm>
            <a:off x="4081340" y="1524409"/>
            <a:ext cx="4029319" cy="1169551"/>
          </a:xfrm>
          <a:prstGeom prst="rect">
            <a:avLst/>
          </a:prstGeom>
          <a:solidFill>
            <a:srgbClr val="00B0F0"/>
          </a:solidFill>
        </p:spPr>
        <p:txBody>
          <a:bodyPr wrap="square" rtlCol="0">
            <a:spAutoFit/>
          </a:bodyPr>
          <a:lstStyle/>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Ziel 2:</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Steigerung der Wirksamkeit des öffentlichen Sektors für eine bessere und nachhaltigere Leistungserbringung</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und gerechtere politische Maßnahmen</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r>
          </a:p>
        </p:txBody>
      </p:sp>
      <p:sp>
        <p:nvSpPr>
          <p:cNvPr id="51" name="TextBox 33">
            <a:extLst>
              <a:ext uri="{FF2B5EF4-FFF2-40B4-BE49-F238E27FC236}">
                <a16:creationId xmlns:a16="http://schemas.microsoft.com/office/drawing/2014/main" id="{07CF0438-65B6-4F90-A587-44EFFB9C0EBB}"/>
              </a:ext>
            </a:extLst>
          </p:cNvPr>
          <p:cNvSpPr txBox="1"/>
          <p:nvPr/>
        </p:nvSpPr>
        <p:spPr>
          <a:xfrm>
            <a:off x="367495" y="1515609"/>
            <a:ext cx="3665451" cy="1169551"/>
          </a:xfrm>
          <a:prstGeom prst="rect">
            <a:avLst/>
          </a:prstGeom>
          <a:solidFill>
            <a:srgbClr val="00B0F0"/>
          </a:solidFill>
        </p:spPr>
        <p:txBody>
          <a:bodyPr wrap="square" rtlCol="0">
            <a:spAutoFit/>
          </a:bodyPr>
          <a:lstStyle/>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Ziel 1:</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Verbesserung des Wirtschaftsmanagements zur nachhaltigen und resilienten Schaffung von Arbeitsplätzen, für bessere Ausgabenfähigkeit und geringeres Staatsrisiko
</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r>
          </a:p>
        </p:txBody>
      </p:sp>
      <p:grpSp>
        <p:nvGrpSpPr>
          <p:cNvPr id="55" name="Group 54">
            <a:extLst>
              <a:ext uri="{FF2B5EF4-FFF2-40B4-BE49-F238E27FC236}">
                <a16:creationId xmlns:a16="http://schemas.microsoft.com/office/drawing/2014/main" id="{640C48EE-017A-4A83-A3F5-13D2C23B3CD6}"/>
              </a:ext>
            </a:extLst>
          </p:cNvPr>
          <p:cNvGrpSpPr/>
          <p:nvPr/>
        </p:nvGrpSpPr>
        <p:grpSpPr>
          <a:xfrm>
            <a:off x="294281" y="3949567"/>
            <a:ext cx="3180023" cy="2677656"/>
            <a:chOff x="-9838606" y="1606149"/>
            <a:chExt cx="4973915" cy="2023367"/>
          </a:xfrm>
        </p:grpSpPr>
        <p:sp>
          <p:nvSpPr>
            <p:cNvPr id="58" name="TextBox 28">
              <a:extLst>
                <a:ext uri="{FF2B5EF4-FFF2-40B4-BE49-F238E27FC236}">
                  <a16:creationId xmlns:a16="http://schemas.microsoft.com/office/drawing/2014/main" id="{7A7D9AE5-C3BD-4177-85EE-8BE5CFD01A0D}"/>
                </a:ext>
              </a:extLst>
            </p:cNvPr>
            <p:cNvSpPr txBox="1"/>
            <p:nvPr/>
          </p:nvSpPr>
          <p:spPr>
            <a:xfrm>
              <a:off x="-7246575" y="1606149"/>
              <a:ext cx="2381884" cy="2023367"/>
            </a:xfrm>
            <a:prstGeom prst="rect">
              <a:avLst/>
            </a:prstGeom>
            <a:solidFill>
              <a:srgbClr val="00B0F0"/>
            </a:solidFill>
          </p:spPr>
          <p:txBody>
            <a:bodyPr wrap="square" rtlCol="0">
              <a:spAutoFit/>
            </a:bodyPr>
            <a:lstStyle/>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CPF-Ziel 5:</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Förderung des Produktivitätswachstums in ausgewählten arbeitsintensiven Branchen
</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r>
            </a:p>
          </p:txBody>
        </p:sp>
        <p:sp>
          <p:nvSpPr>
            <p:cNvPr id="59" name="TextBox 33">
              <a:extLst>
                <a:ext uri="{FF2B5EF4-FFF2-40B4-BE49-F238E27FC236}">
                  <a16:creationId xmlns:a16="http://schemas.microsoft.com/office/drawing/2014/main" id="{A9F25950-3269-4593-8FC9-BE603435FFB8}"/>
                </a:ext>
              </a:extLst>
            </p:cNvPr>
            <p:cNvSpPr txBox="1"/>
            <p:nvPr/>
          </p:nvSpPr>
          <p:spPr>
            <a:xfrm>
              <a:off x="-9838606" y="1606149"/>
              <a:ext cx="2381884" cy="2023367"/>
            </a:xfrm>
            <a:prstGeom prst="rect">
              <a:avLst/>
            </a:prstGeom>
            <a:solidFill>
              <a:srgbClr val="00B0F0"/>
            </a:solidFill>
          </p:spPr>
          <p:txBody>
            <a:bodyPr wrap="square" rtlCol="0">
              <a:spAutoFit/>
            </a:bodyPr>
            <a:lstStyle/>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Ziel 4:</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Nachhaltiges Wachstum ausgewählter Sektoren natürlicher Ressourcen ermöglichen, die regionale und globale komparative Vorteile nutzen
</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r>
            </a:p>
          </p:txBody>
        </p:sp>
      </p:grpSp>
      <p:sp>
        <p:nvSpPr>
          <p:cNvPr id="28" name="TextBox 20">
            <a:extLst>
              <a:ext uri="{FF2B5EF4-FFF2-40B4-BE49-F238E27FC236}">
                <a16:creationId xmlns:a16="http://schemas.microsoft.com/office/drawing/2014/main" id="{11125F59-7817-4321-BD2E-A1252531A912}"/>
              </a:ext>
            </a:extLst>
          </p:cNvPr>
          <p:cNvSpPr txBox="1"/>
          <p:nvPr/>
        </p:nvSpPr>
        <p:spPr>
          <a:xfrm>
            <a:off x="294281" y="2980869"/>
            <a:ext cx="5010043" cy="830997"/>
          </a:xfrm>
          <a:prstGeom prst="rect">
            <a:avLst/>
          </a:prstGeom>
          <a:solidFill>
            <a:srgbClr val="002060"/>
          </a:solidFill>
        </p:spPr>
        <p:txBody>
          <a:bodyPr wrap="square" rtlCol="0">
            <a:spAutoFit/>
          </a:bodyPr>
          <a:lstStyle/>
          <a:p>
            <a:r>
              <a:rPr lang="en-US"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HLO2: Steigerung der inklusiven Schaffung von Arbeitsplätzen</a:t>
            </a:r>
          </a:p>
          <a:p>
            <a:r>
              <a:rPr lang="en-US"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t>
            </a:r>
          </a:p>
          <a:p>
            <a:r>
              <a:rPr lang="en-US"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r>
          </a:p>
        </p:txBody>
      </p:sp>
      <p:sp>
        <p:nvSpPr>
          <p:cNvPr id="34" name="TextBox 33">
            <a:extLst>
              <a:ext uri="{FF2B5EF4-FFF2-40B4-BE49-F238E27FC236}">
                <a16:creationId xmlns:a16="http://schemas.microsoft.com/office/drawing/2014/main" id="{02498E19-A5E1-4FF3-8593-77DDFB633840}"/>
              </a:ext>
            </a:extLst>
          </p:cNvPr>
          <p:cNvSpPr txBox="1"/>
          <p:nvPr/>
        </p:nvSpPr>
        <p:spPr>
          <a:xfrm>
            <a:off x="8190125" y="1532767"/>
            <a:ext cx="3725775" cy="1169551"/>
          </a:xfrm>
          <a:prstGeom prst="rect">
            <a:avLst/>
          </a:prstGeom>
          <a:solidFill>
            <a:srgbClr val="00B0F0"/>
          </a:solidFill>
        </p:spPr>
        <p:txBody>
          <a:bodyPr wrap="square" rtlCol="0">
            <a:spAutoFit/>
          </a:bodyPr>
          <a:lstStyle/>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Ziel 3:</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Stärkung der Koordination, der Politik und der Kapazitäten für eine bessere Vorsorge und Reaktion auf Naturkatastrophen, Pandemien und andere mehrdimensionale Schocks</a:t>
            </a:r>
          </a:p>
        </p:txBody>
      </p:sp>
      <p:sp>
        <p:nvSpPr>
          <p:cNvPr id="35" name="TextBox 34">
            <a:extLst>
              <a:ext uri="{FF2B5EF4-FFF2-40B4-BE49-F238E27FC236}">
                <a16:creationId xmlns:a16="http://schemas.microsoft.com/office/drawing/2014/main" id="{A9BC120A-2D09-4578-9211-2DC58272B03D}"/>
              </a:ext>
            </a:extLst>
          </p:cNvPr>
          <p:cNvSpPr txBox="1"/>
          <p:nvPr/>
        </p:nvSpPr>
        <p:spPr>
          <a:xfrm>
            <a:off x="3633722" y="3949567"/>
            <a:ext cx="1656232" cy="2677656"/>
          </a:xfrm>
          <a:prstGeom prst="rect">
            <a:avLst/>
          </a:prstGeom>
          <a:solidFill>
            <a:srgbClr val="00B0F0"/>
          </a:solidFill>
        </p:spPr>
        <p:txBody>
          <a:bodyPr wrap="square" rtlCol="0">
            <a:spAutoFit/>
          </a:bodyPr>
          <a:lstStyle/>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Ziel 6:</a:t>
            </a:r>
          </a:p>
          <a:p>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Ausweitung erschwinglicher, zuverlässiger und klimaresilienter Dienste für den Zugang der am stärksten Benachteiligten und Beschleunigung einer nachhaltigen Urbanisierung und wirtschaftlichen Agglomeration</a:t>
            </a:r>
          </a:p>
        </p:txBody>
      </p:sp>
      <p:sp>
        <p:nvSpPr>
          <p:cNvPr id="19" name="Title 1">
            <a:extLst>
              <a:ext uri="{FF2B5EF4-FFF2-40B4-BE49-F238E27FC236}">
                <a16:creationId xmlns:a16="http://schemas.microsoft.com/office/drawing/2014/main" id="{0E673E36-BCC7-485A-B2E2-9DE06668B038}"/>
              </a:ext>
            </a:extLst>
          </p:cNvPr>
          <p:cNvSpPr txBox="1">
            <a:spLocks/>
          </p:cNvSpPr>
          <p:nvPr/>
        </p:nvSpPr>
        <p:spPr>
          <a:xfrm>
            <a:off x="367495" y="154262"/>
            <a:ext cx="10515600" cy="315912"/>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accent1">
                    <a:lumMod val="75000"/>
                  </a:schemeClr>
                </a:solidFill>
                <a:latin typeface="Arial" panose="020B0604020202020204" pitchFamily="34" charset="0"/>
                <a:ea typeface="+mj-ea"/>
                <a:cs typeface="Arial" panose="020B0604020202020204" pitchFamily="34" charset="0"/>
              </a:defRPr>
            </a:lvl1pPr>
          </a:lstStyle>
          <a:p>
            <a:r>
              <a:rPr lang="en-US" b="1" dirty="0">
                <a:latin typeface="Arial"/>
                <a:cs typeface="Times New Roman"/>
              </a:rPr>
              <a:t/>
            </a:r>
          </a:p>
          <a:p>
            <a:r>
              <a:rPr lang="en-US" b="1" dirty="0">
                <a:latin typeface="Arial"/>
                <a:cs typeface="Times New Roman"/>
              </a:rPr>
              <a:t>CPF 2023-2027: Bestrebungen und Ziele
</a:t>
            </a:r>
          </a:p>
          <a:p>
            <a:r>
              <a:rPr lang="en-US" b="1" dirty="0">
                <a:latin typeface="Arial"/>
                <a:cs typeface="Times New Roman"/>
              </a:rPr>
              <a:t/>
            </a:r>
          </a:p>
        </p:txBody>
      </p:sp>
      <p:sp>
        <p:nvSpPr>
          <p:cNvPr id="6" name="Footer Placeholder 5">
            <a:extLst>
              <a:ext uri="{FF2B5EF4-FFF2-40B4-BE49-F238E27FC236}">
                <a16:creationId xmlns:a16="http://schemas.microsoft.com/office/drawing/2014/main" id="{E9D66B6B-A600-4FC2-B12C-788AB7A08DAE}"/>
              </a:ext>
            </a:extLst>
          </p:cNvPr>
          <p:cNvSpPr>
            <a:spLocks noGrp="1"/>
          </p:cNvSpPr>
          <p:nvPr>
            <p:ph type="ftr" sz="quarter" idx="11"/>
          </p:nvPr>
        </p:nvSpPr>
        <p:spPr>
          <a:xfrm>
            <a:off x="4495800" y="6627223"/>
            <a:ext cx="4114800" cy="365125"/>
          </a:xfrm>
        </p:spPr>
        <p:txBody>
          <a:bodyPr/>
          <a:lstStyle/>
          <a:p>
            <a:r>
              <a:rPr lang="en-US"/>
              <a:t>CPF 2023-2027. Öffentliche Fassung. Maputo, Mai 2022.</a:t>
            </a:r>
          </a:p>
        </p:txBody>
      </p:sp>
      <p:sp>
        <p:nvSpPr>
          <p:cNvPr id="7" name="Slide Number Placeholder 6">
            <a:extLst>
              <a:ext uri="{FF2B5EF4-FFF2-40B4-BE49-F238E27FC236}">
                <a16:creationId xmlns:a16="http://schemas.microsoft.com/office/drawing/2014/main" id="{F7F5C800-7776-4432-9E55-C18FBDC68D15}"/>
              </a:ext>
            </a:extLst>
          </p:cNvPr>
          <p:cNvSpPr>
            <a:spLocks noGrp="1"/>
          </p:cNvSpPr>
          <p:nvPr>
            <p:ph type="sldNum" sz="quarter" idx="12"/>
          </p:nvPr>
        </p:nvSpPr>
        <p:spPr/>
        <p:txBody>
          <a:bodyPr/>
          <a:lstStyle/>
          <a:p>
            <a:fld id="{B8473C9A-9E91-4025-B5E2-D7B202510636}" type="slidenum">
              <a:rPr lang="en-US" smtClean="0"/>
              <a:t>17</a:t>
            </a:fld>
            <a:endParaRPr lang="en-US" dirty="0"/>
          </a:p>
        </p:txBody>
      </p:sp>
      <p:pic>
        <p:nvPicPr>
          <p:cNvPr id="2" name="Picture 1">
            <a:extLst>
              <a:ext uri="{FF2B5EF4-FFF2-40B4-BE49-F238E27FC236}">
                <a16:creationId xmlns:a16="http://schemas.microsoft.com/office/drawing/2014/main" id="{7EA3193B-CD46-4350-99F0-6608A5D56148}"/>
              </a:ext>
            </a:extLst>
          </p:cNvPr>
          <p:cNvPicPr>
            <a:picLocks noChangeAspect="1"/>
          </p:cNvPicPr>
          <p:nvPr/>
        </p:nvPicPr>
        <p:blipFill>
          <a:blip r:embed="rId2"/>
          <a:stretch>
            <a:fillRect/>
          </a:stretch>
        </p:blipFill>
        <p:spPr>
          <a:xfrm>
            <a:off x="150564" y="113964"/>
            <a:ext cx="2316681" cy="463336"/>
          </a:xfrm>
          <a:prstGeom prst="rect">
            <a:avLst/>
          </a:prstGeom>
        </p:spPr>
      </p:pic>
    </p:spTree>
    <p:extLst>
      <p:ext uri="{BB962C8B-B14F-4D97-AF65-F5344CB8AC3E}">
        <p14:creationId xmlns:p14="http://schemas.microsoft.com/office/powerpoint/2010/main" val="16469379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328182-DCAC-44BE-B53C-25FEF02C2D3B}"/>
              </a:ext>
            </a:extLst>
          </p:cNvPr>
          <p:cNvSpPr>
            <a:spLocks noGrp="1"/>
          </p:cNvSpPr>
          <p:nvPr>
            <p:ph idx="1"/>
          </p:nvPr>
        </p:nvSpPr>
        <p:spPr>
          <a:xfrm>
            <a:off x="398205" y="1215594"/>
            <a:ext cx="11567711" cy="5856585"/>
          </a:xfrm>
        </p:spPr>
        <p:txBody>
          <a:bodyPr>
            <a:noAutofit/>
          </a:bodyPr>
          <a:lstStyle/>
          <a:p>
            <a:r>
              <a:rPr lang="en-US" sz="1600" b="0" i="0" u="none" strike="noStrike" dirty="0">
                <a:latin typeface="Arial"/>
                <a:cs typeface="Times New Roman"/>
              </a:rPr>
              <a:t>Im Einklang mit den Erkenntnissen des CLR, den Empfehlungen der SCD-Aktualisierung und den Regierungszielen, wie sie im Fünfjahresplan 2020-24 und in der laufenden Überarbeitung der nationalen Entwicklungsstrategie dargelegt sind, soll der vorgeschlagene CPF für HJ2023-2027 dazu beitragen, Mosambiks Übergang zu einem grüneren, resilienteren und inklusiveren Wachstumspfad zu fördern.</a:t>
            </a:r>
          </a:p>
          <a:p>
            <a:r>
              <a:rPr lang="en-US" sz="1600" b="0" i="0" u="none" strike="noStrike" dirty="0">
                <a:latin typeface="Arial"/>
                <a:cs typeface="Times New Roman"/>
              </a:rPr>
              <a:t/>
            </a:r>
          </a:p>
          <a:p>
            <a:r>
              <a:rPr lang="en-US" sz="1600" b="0" i="0" u="none" strike="noStrike" dirty="0">
                <a:latin typeface="Arial"/>
                <a:cs typeface="Times New Roman"/>
              </a:rPr>
              <a:t>Zu diesem Zweck wird der CPF staatliche Reformen und Investitionen unterstützen, die zu folgenden übergeordneten Ergebnissen beitragen können:</a:t>
            </a:r>
          </a:p>
          <a:p>
            <a:r>
              <a:rPr lang="en-US" sz="1600" b="0" i="0" u="none" strike="noStrike" dirty="0">
                <a:latin typeface="Arial"/>
                <a:cs typeface="Times New Roman"/>
              </a:rPr>
              <a:t>Ergebnis 1: Inklusivere Institutionen durch (i) ein verbessertes makroökonomisches Wirtschaftsmanagement für bessere Ausgabenfähigkeit und geringeres Staatsrisiko; (ii) Steigerung der Wirksamkeit des öffentlichen Sektors; und (iii) Stärkung der Vorsorge und Reaktion auf mehrdimensionale Schocks.</a:t>
            </a:r>
          </a:p>
          <a:p>
            <a:r>
              <a:rPr lang="en-US" sz="1600" b="0" i="0" u="none" strike="noStrike" dirty="0">
                <a:latin typeface="Arial"/>
                <a:cs typeface="Times New Roman"/>
              </a:rPr>
              <a:t>Ergebnis 2: Verstärkte inklusive Schaffung von Arbeitsplätzen (Beschleunigung des Strukturwandels), was wiederum (i) die Ermöglichung nachhaltigen Wachstums in ausgewählten Sektoren natürlicher Ressourcen; (ii) die Förderung des Produktivitätswachstums in ausgewählten intensiven Branchen; und (iii) den Ausbau von Infrastruktur- und Urbanisierungsdiensten erfordert.</a:t>
            </a:r>
          </a:p>
          <a:p>
            <a:r>
              <a:rPr lang="en-US" sz="1600" b="0" i="0" u="none" strike="noStrike" dirty="0">
                <a:latin typeface="Arial"/>
                <a:cs typeface="Times New Roman"/>
              </a:rPr>
              <a:t>Ergebnis 3: Verbesserung der Humankapitalbildung und Stärkung der Frauen durch (i) bessere Ergebnisse in Gesundheit und Bildung; (ii) eine effizientere und wirksamere Abdeckung integrierter und nachhaltiger Sozialdienste; und (iii) einen besseren Zugang zu Diensten zur Vermeidung von Teenagerschwangerschaften und zur Förderung der wirtschaftlichen Teilhabe von Frauen.</a:t>
            </a:r>
          </a:p>
        </p:txBody>
      </p:sp>
      <p:sp>
        <p:nvSpPr>
          <p:cNvPr id="5" name="Title 1">
            <a:extLst>
              <a:ext uri="{FF2B5EF4-FFF2-40B4-BE49-F238E27FC236}">
                <a16:creationId xmlns:a16="http://schemas.microsoft.com/office/drawing/2014/main" id="{4B231BE4-1971-4CE5-AEE8-9DE02D918533}"/>
              </a:ext>
            </a:extLst>
          </p:cNvPr>
          <p:cNvSpPr txBox="1">
            <a:spLocks/>
          </p:cNvSpPr>
          <p:nvPr/>
        </p:nvSpPr>
        <p:spPr>
          <a:xfrm>
            <a:off x="557995" y="183853"/>
            <a:ext cx="11899360" cy="315912"/>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accent1">
                    <a:lumMod val="75000"/>
                  </a:schemeClr>
                </a:solidFill>
                <a:latin typeface="Arial" panose="020B0604020202020204" pitchFamily="34" charset="0"/>
                <a:ea typeface="+mj-ea"/>
                <a:cs typeface="Arial" panose="020B0604020202020204" pitchFamily="34" charset="0"/>
              </a:defRPr>
            </a:lvl1pPr>
          </a:lstStyle>
          <a:p>
            <a:r>
              <a:rPr lang="en-US" b="1" dirty="0">
                <a:latin typeface="Arial"/>
                <a:cs typeface="Times New Roman"/>
              </a:rPr>
              <a:t/>
            </a:r>
          </a:p>
          <a:p>
            <a:r>
              <a:rPr lang="en-US" b="1" dirty="0">
                <a:latin typeface="Arial"/>
                <a:cs typeface="Times New Roman"/>
              </a:rPr>
              <a:t>CPF-Vorschlag 2023-2027: Ziele und Bestrebungen  
</a:t>
            </a:r>
          </a:p>
          <a:p>
            <a:r>
              <a:rPr lang="en-US" b="1" dirty="0">
                <a:latin typeface="Arial"/>
                <a:cs typeface="Times New Roman"/>
              </a:rPr>
              <a:t/>
            </a:r>
          </a:p>
        </p:txBody>
      </p:sp>
      <p:sp>
        <p:nvSpPr>
          <p:cNvPr id="7" name="Footer Placeholder 6">
            <a:extLst>
              <a:ext uri="{FF2B5EF4-FFF2-40B4-BE49-F238E27FC236}">
                <a16:creationId xmlns:a16="http://schemas.microsoft.com/office/drawing/2014/main" id="{C6694D3A-16E4-4B4F-81CE-0521DA87762F}"/>
              </a:ext>
            </a:extLst>
          </p:cNvPr>
          <p:cNvSpPr>
            <a:spLocks noGrp="1"/>
          </p:cNvSpPr>
          <p:nvPr>
            <p:ph type="ftr" sz="quarter" idx="11"/>
          </p:nvPr>
        </p:nvSpPr>
        <p:spPr/>
        <p:txBody>
          <a:bodyPr/>
          <a:lstStyle/>
          <a:p>
            <a:r>
              <a:rPr lang="en-US"/>
              <a:t>CPF 2023-2027. Öffentliche Fassung. Maputo, Mai 2022.</a:t>
            </a:r>
          </a:p>
        </p:txBody>
      </p:sp>
      <p:sp>
        <p:nvSpPr>
          <p:cNvPr id="8" name="Slide Number Placeholder 7">
            <a:extLst>
              <a:ext uri="{FF2B5EF4-FFF2-40B4-BE49-F238E27FC236}">
                <a16:creationId xmlns:a16="http://schemas.microsoft.com/office/drawing/2014/main" id="{E5D60ABE-C9A0-48B5-9F37-61CF9EDB2909}"/>
              </a:ext>
            </a:extLst>
          </p:cNvPr>
          <p:cNvSpPr>
            <a:spLocks noGrp="1"/>
          </p:cNvSpPr>
          <p:nvPr>
            <p:ph type="sldNum" sz="quarter" idx="12"/>
          </p:nvPr>
        </p:nvSpPr>
        <p:spPr/>
        <p:txBody>
          <a:bodyPr/>
          <a:lstStyle/>
          <a:p>
            <a:fld id="{B8473C9A-9E91-4025-B5E2-D7B202510636}" type="slidenum">
              <a:rPr lang="en-US" smtClean="0"/>
              <a:t>18</a:t>
            </a:fld>
            <a:endParaRPr lang="en-US" dirty="0"/>
          </a:p>
        </p:txBody>
      </p:sp>
      <p:pic>
        <p:nvPicPr>
          <p:cNvPr id="2" name="Picture 1">
            <a:extLst>
              <a:ext uri="{FF2B5EF4-FFF2-40B4-BE49-F238E27FC236}">
                <a16:creationId xmlns:a16="http://schemas.microsoft.com/office/drawing/2014/main" id="{11D92885-4A44-4A01-9CF0-BB87C0F89DF1}"/>
              </a:ext>
            </a:extLst>
          </p:cNvPr>
          <p:cNvPicPr>
            <a:picLocks noChangeAspect="1"/>
          </p:cNvPicPr>
          <p:nvPr/>
        </p:nvPicPr>
        <p:blipFill>
          <a:blip r:embed="rId2"/>
          <a:stretch>
            <a:fillRect/>
          </a:stretch>
        </p:blipFill>
        <p:spPr>
          <a:xfrm>
            <a:off x="159744" y="195328"/>
            <a:ext cx="2316681" cy="463336"/>
          </a:xfrm>
          <a:prstGeom prst="rect">
            <a:avLst/>
          </a:prstGeom>
        </p:spPr>
      </p:pic>
    </p:spTree>
    <p:extLst>
      <p:ext uri="{BB962C8B-B14F-4D97-AF65-F5344CB8AC3E}">
        <p14:creationId xmlns:p14="http://schemas.microsoft.com/office/powerpoint/2010/main" val="248033750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 Box 101">
            <a:extLst>
              <a:ext uri="{FF2B5EF4-FFF2-40B4-BE49-F238E27FC236}">
                <a16:creationId xmlns:a16="http://schemas.microsoft.com/office/drawing/2014/main" id="{67A4BA36-F678-40DF-B41E-24EC39261E03}"/>
              </a:ext>
            </a:extLst>
          </p:cNvPr>
          <p:cNvSpPr txBox="1"/>
          <p:nvPr/>
        </p:nvSpPr>
        <p:spPr>
          <a:xfrm>
            <a:off x="1628064" y="3840380"/>
            <a:ext cx="1655078" cy="1469998"/>
          </a:xfrm>
          <a:prstGeom prst="rect">
            <a:avLst/>
          </a:prstGeom>
          <a:solidFill>
            <a:schemeClr val="bg1"/>
          </a:solidFill>
          <a:ln w="6350">
            <a:solidFill>
              <a:prstClr val="black"/>
            </a:solidFill>
            <a:prstDash val="dash"/>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spcBef>
                <a:spcPct val="0"/>
              </a:spcBef>
              <a:spcAft>
                <a:spcPct val="0"/>
              </a:spcAft>
            </a:pPr>
            <a:r>
              <a:rPr lang="en-US" sz="90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200">
              <a:effectLst/>
              <a:latin typeface="Calibri" pitchFamily="34" charset="0"/>
              <a:ea typeface="Times New Roman" panose="02020603050405020304" pitchFamily="18" charset="0"/>
              <a:cs typeface="Times New Roman" panose="02020603050405020304" pitchFamily="18" charset="0"/>
            </a:endParaRPr>
          </a:p>
        </p:txBody>
      </p:sp>
      <p:sp>
        <p:nvSpPr>
          <p:cNvPr id="39" name="Text Box 108">
            <a:extLst>
              <a:ext uri="{FF2B5EF4-FFF2-40B4-BE49-F238E27FC236}">
                <a16:creationId xmlns:a16="http://schemas.microsoft.com/office/drawing/2014/main" id="{D880BB68-451F-426C-9D42-1B37F6EA4CE3}"/>
              </a:ext>
            </a:extLst>
          </p:cNvPr>
          <p:cNvSpPr txBox="1">
            <a:spLocks noChangeArrowheads="1"/>
          </p:cNvSpPr>
          <p:nvPr/>
        </p:nvSpPr>
        <p:spPr bwMode="auto">
          <a:xfrm>
            <a:off x="1689028" y="621010"/>
            <a:ext cx="1487794" cy="561967"/>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r>
              <a:rPr lang="en-US" sz="1000" b="1">
                <a:solidFill>
                  <a:srgbClr val="000000"/>
                </a:solidFill>
                <a:latin typeface="Calibri"/>
                <a:ea typeface="Times New Roman"/>
                <a:cs typeface="Times New Roman"/>
              </a:rPr>
              <a:t>REGIERUNGsprogramme
</a:t>
            </a:r>
          </a:p>
          <a:p>
            <a:r>
              <a:rPr lang="en-US" sz="1000" b="1">
                <a:solidFill>
                  <a:srgbClr val="000000"/>
                </a:solidFill>
                <a:latin typeface="Calibri"/>
                <a:ea typeface="Times New Roman"/>
                <a:cs typeface="Times New Roman"/>
              </a:rPr>
              <a:t>(ENDE-Säulen)
</a:t>
            </a:r>
          </a:p>
          <a:p>
            <a:r>
              <a:rPr lang="en-US" sz="1000" b="1">
                <a:solidFill>
                  <a:srgbClr val="000000"/>
                </a:solidFill>
                <a:latin typeface="Calibri"/>
                <a:ea typeface="Times New Roman"/>
                <a:cs typeface="Times New Roman"/>
              </a:rPr>
              <a:t/>
            </a:r>
          </a:p>
        </p:txBody>
      </p:sp>
      <p:sp>
        <p:nvSpPr>
          <p:cNvPr id="40" name="Text Box 98">
            <a:extLst>
              <a:ext uri="{FF2B5EF4-FFF2-40B4-BE49-F238E27FC236}">
                <a16:creationId xmlns:a16="http://schemas.microsoft.com/office/drawing/2014/main" id="{EA5287A0-920D-4491-8462-CB8149A79B30}"/>
              </a:ext>
            </a:extLst>
          </p:cNvPr>
          <p:cNvSpPr txBox="1">
            <a:spLocks noChangeArrowheads="1"/>
          </p:cNvSpPr>
          <p:nvPr/>
        </p:nvSpPr>
        <p:spPr bwMode="auto">
          <a:xfrm>
            <a:off x="1723407" y="5785622"/>
            <a:ext cx="1547010" cy="451368"/>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r>
              <a:rPr lang="en-US" altLang="zh-CN" sz="900" b="1" dirty="0">
                <a:latin typeface="Calibri" panose="020F0502020204030204" pitchFamily="34" charset="0"/>
                <a:ea typeface="Times New Roman" panose="02020603050405020304" pitchFamily="18" charset="0"/>
                <a:cs typeface="Times New Roman" panose="02020603050405020304" pitchFamily="18" charset="0"/>
              </a:rPr>
              <a:t> 
</a:t>
            </a:r>
          </a:p>
          <a:p>
            <a:r>
              <a:rPr lang="en-US" altLang="zh-CN" sz="900" b="1" dirty="0">
                <a:latin typeface="Calibri" panose="020F0502020204030204" pitchFamily="34" charset="0"/>
                <a:ea typeface="Times New Roman" panose="02020603050405020304" pitchFamily="18" charset="0"/>
                <a:cs typeface="Times New Roman" panose="02020603050405020304" pitchFamily="18" charset="0"/>
              </a:rPr>
              <a:t>Sozialer Wandel
</a:t>
            </a:r>
          </a:p>
          <a:p>
            <a:r>
              <a:rPr lang="en-US" altLang="zh-CN" sz="900" b="1" dirty="0">
                <a:latin typeface="Calibri" panose="020F0502020204030204" pitchFamily="34" charset="0"/>
                <a:ea typeface="Times New Roman" panose="02020603050405020304" pitchFamily="18" charset="0"/>
                <a:cs typeface="Times New Roman" panose="02020603050405020304" pitchFamily="18" charset="0"/>
              </a:rPr>
              <a:t/>
            </a:r>
          </a:p>
        </p:txBody>
      </p:sp>
      <p:sp>
        <p:nvSpPr>
          <p:cNvPr id="41" name="Text Box 105">
            <a:extLst>
              <a:ext uri="{FF2B5EF4-FFF2-40B4-BE49-F238E27FC236}">
                <a16:creationId xmlns:a16="http://schemas.microsoft.com/office/drawing/2014/main" id="{C65457A2-F255-48B1-BBEE-C8A6E6CECFA3}"/>
              </a:ext>
            </a:extLst>
          </p:cNvPr>
          <p:cNvSpPr txBox="1">
            <a:spLocks noChangeArrowheads="1"/>
          </p:cNvSpPr>
          <p:nvPr/>
        </p:nvSpPr>
        <p:spPr bwMode="auto">
          <a:xfrm>
            <a:off x="1737562" y="3983520"/>
            <a:ext cx="1487794" cy="458264"/>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r>
              <a:rPr lang="en-US" altLang="zh-CN" sz="900" b="1" dirty="0">
                <a:latin typeface="Calibri" pitchFamily="34" charset="0"/>
                <a:ea typeface="Times New Roman" panose="02020603050405020304" pitchFamily="18" charset="0"/>
                <a:cs typeface="Times New Roman" panose="02020603050405020304" pitchFamily="18" charset="0"/>
              </a:rPr>
              <a:t>
</a:t>
            </a:r>
          </a:p>
          <a:p>
            <a:r>
              <a:rPr lang="en-US" altLang="zh-CN" sz="900" b="1" dirty="0">
                <a:latin typeface="Calibri" pitchFamily="34" charset="0"/>
                <a:ea typeface="Times New Roman" panose="02020603050405020304" pitchFamily="18" charset="0"/>
                <a:cs typeface="Times New Roman" panose="02020603050405020304" pitchFamily="18" charset="0"/>
              </a:rPr>
              <a:t>Wirtschaftlicher Wandel
</a:t>
            </a:r>
          </a:p>
          <a:p>
            <a:r>
              <a:rPr lang="en-US" altLang="zh-CN" sz="900" b="1" dirty="0">
                <a:latin typeface="Calibri" pitchFamily="34" charset="0"/>
                <a:ea typeface="Times New Roman" panose="02020603050405020304" pitchFamily="18" charset="0"/>
                <a:cs typeface="Times New Roman" panose="02020603050405020304" pitchFamily="18" charset="0"/>
              </a:rPr>
              <a:t/>
            </a:r>
          </a:p>
        </p:txBody>
      </p:sp>
      <p:sp>
        <p:nvSpPr>
          <p:cNvPr id="42" name="Text Box 104">
            <a:extLst>
              <a:ext uri="{FF2B5EF4-FFF2-40B4-BE49-F238E27FC236}">
                <a16:creationId xmlns:a16="http://schemas.microsoft.com/office/drawing/2014/main" id="{510FCC56-B892-48A2-8B7D-98EABBE3CF2F}"/>
              </a:ext>
            </a:extLst>
          </p:cNvPr>
          <p:cNvSpPr txBox="1">
            <a:spLocks noChangeArrowheads="1"/>
          </p:cNvSpPr>
          <p:nvPr/>
        </p:nvSpPr>
        <p:spPr bwMode="auto">
          <a:xfrm>
            <a:off x="1701756" y="1780978"/>
            <a:ext cx="1487794" cy="561967"/>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r>
              <a:rPr lang="en-US" altLang="zh-CN" sz="900" b="1" dirty="0">
                <a:latin typeface="Calibri" panose="020F0502020204030204" pitchFamily="34" charset="0"/>
                <a:ea typeface="Times New Roman" panose="02020603050405020304" pitchFamily="18" charset="0"/>
                <a:cs typeface="Times New Roman" panose="02020603050405020304" pitchFamily="18" charset="0"/>
              </a:rPr>
              <a:t>
</a:t>
            </a:r>
          </a:p>
          <a:p>
            <a:r>
              <a:rPr lang="en-US" altLang="zh-CN" sz="900" b="1" dirty="0">
                <a:latin typeface="Calibri" panose="020F0502020204030204" pitchFamily="34" charset="0"/>
                <a:ea typeface="Times New Roman" panose="02020603050405020304" pitchFamily="18" charset="0"/>
                <a:cs typeface="Times New Roman" panose="02020603050405020304" pitchFamily="18" charset="0"/>
              </a:rPr>
              <a:t>Regierungsführung
</a:t>
            </a:r>
          </a:p>
          <a:p>
            <a:r>
              <a:rPr lang="en-US" altLang="zh-CN" sz="900" b="1" dirty="0">
                <a:latin typeface="Calibri" panose="020F0502020204030204" pitchFamily="34" charset="0"/>
                <a:ea typeface="Times New Roman" panose="02020603050405020304" pitchFamily="18" charset="0"/>
                <a:cs typeface="Times New Roman" panose="02020603050405020304" pitchFamily="18" charset="0"/>
              </a:rPr>
              <a:t/>
            </a:r>
          </a:p>
        </p:txBody>
      </p:sp>
      <p:sp>
        <p:nvSpPr>
          <p:cNvPr id="43" name="Text Box 106">
            <a:extLst>
              <a:ext uri="{FF2B5EF4-FFF2-40B4-BE49-F238E27FC236}">
                <a16:creationId xmlns:a16="http://schemas.microsoft.com/office/drawing/2014/main" id="{5961C23B-B674-4B10-9F36-54A5C208B615}"/>
              </a:ext>
            </a:extLst>
          </p:cNvPr>
          <p:cNvSpPr txBox="1">
            <a:spLocks noChangeArrowheads="1"/>
          </p:cNvSpPr>
          <p:nvPr/>
        </p:nvSpPr>
        <p:spPr bwMode="auto">
          <a:xfrm>
            <a:off x="1715652" y="4573488"/>
            <a:ext cx="1487794" cy="508000"/>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r>
              <a:rPr lang="en-US" sz="900" b="1" dirty="0">
                <a:solidFill>
                  <a:srgbClr val="000000"/>
                </a:solidFill>
                <a:latin typeface="Calibri"/>
                <a:ea typeface="Times New Roman"/>
                <a:cs typeface="Times New Roman"/>
              </a:rPr>
              <a:t> Umwelt/Natürliche Ressourcen (Kreislaufwirtschaft)
</a:t>
            </a:r>
          </a:p>
          <a:p>
            <a:r>
              <a:rPr lang="en-US" sz="900" b="1" dirty="0">
                <a:solidFill>
                  <a:srgbClr val="000000"/>
                </a:solidFill>
                <a:latin typeface="Calibri"/>
                <a:ea typeface="Times New Roman"/>
                <a:cs typeface="Times New Roman"/>
              </a:rPr>
              <a:t/>
            </a:r>
          </a:p>
        </p:txBody>
      </p:sp>
      <p:sp>
        <p:nvSpPr>
          <p:cNvPr id="44" name="Text Box 107">
            <a:extLst>
              <a:ext uri="{FF2B5EF4-FFF2-40B4-BE49-F238E27FC236}">
                <a16:creationId xmlns:a16="http://schemas.microsoft.com/office/drawing/2014/main" id="{E6A1E2E5-0BF7-45AD-9F1D-92118FA6438F}"/>
              </a:ext>
            </a:extLst>
          </p:cNvPr>
          <p:cNvSpPr txBox="1">
            <a:spLocks noChangeArrowheads="1"/>
          </p:cNvSpPr>
          <p:nvPr/>
        </p:nvSpPr>
        <p:spPr bwMode="auto">
          <a:xfrm>
            <a:off x="3473057" y="500153"/>
            <a:ext cx="2008892" cy="370445"/>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r>
              <a:rPr kumimoji="0" lang="pt" sz="900" b="1" i="0" u="none" strike="noStrike" cap="none" normalizeH="0" baseline="0" dirty="0">
                <a:solidFill>
                  <a:srgbClr val="000000"/>
                </a:solidFill>
                <a:highlight>
                  <a:srgbClr val="000000">
                    <a:alpha val="0"/>
                  </a:srgbClr>
                </a:highlight>
                <a:latin typeface="Calibri"/>
                <a:ea typeface="Times New Roman"/>
                <a:cs typeface="Times New Roman"/>
              </a:rPr>
              <a:t>PRIORITÄTEN DER AKTUALISIERUNG DES SCD DER WELTBANK </a:t>
            </a:r>
          </a:p>
        </p:txBody>
      </p:sp>
      <p:sp>
        <p:nvSpPr>
          <p:cNvPr id="45" name="Text Box 102">
            <a:extLst>
              <a:ext uri="{FF2B5EF4-FFF2-40B4-BE49-F238E27FC236}">
                <a16:creationId xmlns:a16="http://schemas.microsoft.com/office/drawing/2014/main" id="{37F53BF3-9C92-442B-8A9B-85DFBF303E13}"/>
              </a:ext>
            </a:extLst>
          </p:cNvPr>
          <p:cNvSpPr txBox="1">
            <a:spLocks noChangeArrowheads="1"/>
          </p:cNvSpPr>
          <p:nvPr/>
        </p:nvSpPr>
        <p:spPr bwMode="auto">
          <a:xfrm>
            <a:off x="5873624" y="516380"/>
            <a:ext cx="2315458" cy="410865"/>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r>
              <a:rPr kumimoji="0" lang="pt" sz="1000" b="1" i="0" u="none" strike="noStrike" cap="none" normalizeH="0" baseline="0" dirty="0">
                <a:solidFill>
                  <a:srgbClr val="000000"/>
                </a:solidFill>
                <a:highlight>
                  <a:srgbClr val="000000">
                    <a:alpha val="0"/>
                  </a:srgbClr>
                </a:highlight>
                <a:latin typeface="Calibri"/>
                <a:ea typeface="Times New Roman"/>
                <a:cs typeface="Times New Roman"/>
              </a:rPr>
              <a:t>ZIELE DES CPF DER WBG</a:t>
            </a:r>
          </a:p>
        </p:txBody>
      </p:sp>
      <p:sp>
        <p:nvSpPr>
          <p:cNvPr id="46" name="Text Box 86">
            <a:extLst>
              <a:ext uri="{FF2B5EF4-FFF2-40B4-BE49-F238E27FC236}">
                <a16:creationId xmlns:a16="http://schemas.microsoft.com/office/drawing/2014/main" id="{A79229F4-4E13-47DF-B0B6-A443023CE6D5}"/>
              </a:ext>
            </a:extLst>
          </p:cNvPr>
          <p:cNvSpPr txBox="1">
            <a:spLocks noChangeArrowheads="1"/>
          </p:cNvSpPr>
          <p:nvPr/>
        </p:nvSpPr>
        <p:spPr bwMode="auto">
          <a:xfrm>
            <a:off x="8643949" y="557913"/>
            <a:ext cx="1378820" cy="369332"/>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r>
              <a:rPr lang="en-US" sz="1000" b="1" dirty="0">
                <a:solidFill>
                  <a:srgbClr val="000000"/>
                </a:solidFill>
                <a:latin typeface="Calibri"/>
                <a:ea typeface="Times New Roman"/>
                <a:cs typeface="Times New Roman"/>
              </a:rPr>
              <a:t>ÜBERGEORDNETE ZIELE (HLO)
</a:t>
            </a:r>
          </a:p>
          <a:p>
            <a:r>
              <a:rPr lang="en-US" sz="1000" b="1" dirty="0">
                <a:solidFill>
                  <a:srgbClr val="000000"/>
                </a:solidFill>
                <a:latin typeface="Calibri"/>
                <a:ea typeface="Times New Roman"/>
                <a:cs typeface="Times New Roman"/>
              </a:rPr>
              <a:t/>
            </a:r>
          </a:p>
        </p:txBody>
      </p:sp>
      <p:sp>
        <p:nvSpPr>
          <p:cNvPr id="47" name="Text Box 90">
            <a:extLst>
              <a:ext uri="{FF2B5EF4-FFF2-40B4-BE49-F238E27FC236}">
                <a16:creationId xmlns:a16="http://schemas.microsoft.com/office/drawing/2014/main" id="{82398FA7-E5D3-44D7-A639-37FF35396638}"/>
              </a:ext>
            </a:extLst>
          </p:cNvPr>
          <p:cNvSpPr txBox="1">
            <a:spLocks noChangeArrowheads="1"/>
          </p:cNvSpPr>
          <p:nvPr/>
        </p:nvSpPr>
        <p:spPr bwMode="auto">
          <a:xfrm>
            <a:off x="8731922" y="2676998"/>
            <a:ext cx="1228725" cy="1784350"/>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r>
              <a:rPr lang="en-US" sz="900" dirty="0">
                <a:solidFill>
                  <a:srgbClr val="000000"/>
                </a:solidFill>
                <a:latin typeface="Calibri"/>
                <a:ea typeface="Times New Roman"/>
                <a:cs typeface="Times New Roman"/>
              </a:rPr>
              <a:t/>
            </a:r>
          </a:p>
          <a:p>
            <a:r>
              <a:rPr lang="en-US" sz="900" dirty="0">
                <a:solidFill>
                  <a:srgbClr val="000000"/>
                </a:solidFill>
                <a:latin typeface="Calibri"/>
                <a:ea typeface="Times New Roman"/>
                <a:cs typeface="Times New Roman"/>
              </a:rPr>
              <a:t>HLO 2: Steigerung der inklusiven Schaffung von Arbeitsplätzen
</a:t>
            </a:r>
          </a:p>
          <a:p>
            <a:r>
              <a:rPr lang="en-US" sz="900" dirty="0">
                <a:solidFill>
                  <a:srgbClr val="000000"/>
                </a:solidFill>
                <a:latin typeface="Calibri"/>
                <a:ea typeface="Times New Roman"/>
                <a:cs typeface="Times New Roman"/>
              </a:rPr>
              <a:t/>
            </a:r>
          </a:p>
          <a:p>
            <a:r>
              <a:rPr lang="en-US" sz="900" dirty="0">
                <a:solidFill>
                  <a:srgbClr val="000000"/>
                </a:solidFill>
                <a:latin typeface="Calibri"/>
                <a:ea typeface="Times New Roman"/>
                <a:cs typeface="Times New Roman"/>
              </a:rPr>
              <a:t/>
            </a:r>
          </a:p>
        </p:txBody>
      </p:sp>
      <p:sp>
        <p:nvSpPr>
          <p:cNvPr id="48" name="Text Box 89">
            <a:extLst>
              <a:ext uri="{FF2B5EF4-FFF2-40B4-BE49-F238E27FC236}">
                <a16:creationId xmlns:a16="http://schemas.microsoft.com/office/drawing/2014/main" id="{1BA8E8A2-B286-49EC-AD72-B7F8B644098E}"/>
              </a:ext>
            </a:extLst>
          </p:cNvPr>
          <p:cNvSpPr txBox="1">
            <a:spLocks noChangeArrowheads="1"/>
          </p:cNvSpPr>
          <p:nvPr/>
        </p:nvSpPr>
        <p:spPr bwMode="auto">
          <a:xfrm>
            <a:off x="8751614" y="4565163"/>
            <a:ext cx="1245010" cy="1791188"/>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r>
              <a:rPr lang="en-US" sz="900" dirty="0">
                <a:solidFill>
                  <a:srgbClr val="000000"/>
                </a:solidFill>
                <a:latin typeface="Calibri"/>
                <a:ea typeface="Times New Roman"/>
                <a:cs typeface="Times New Roman"/>
              </a:rPr>
              <a:t>HLO3: Verbesserung des Humankapitals und Stärkung der Frauen
</a:t>
            </a:r>
          </a:p>
          <a:p>
            <a:r>
              <a:rPr lang="en-US" sz="900" dirty="0">
                <a:solidFill>
                  <a:srgbClr val="000000"/>
                </a:solidFill>
                <a:latin typeface="Calibri"/>
                <a:ea typeface="Times New Roman"/>
                <a:cs typeface="Times New Roman"/>
              </a:rPr>
              <a:t/>
            </a:r>
          </a:p>
          <a:p>
            <a:r>
              <a:rPr lang="en-US" sz="900" dirty="0">
                <a:solidFill>
                  <a:srgbClr val="000000"/>
                </a:solidFill>
                <a:latin typeface="Calibri"/>
                <a:ea typeface="Times New Roman"/>
                <a:cs typeface="Times New Roman"/>
              </a:rPr>
              <a:t/>
            </a:r>
          </a:p>
          <a:p>
            <a:r>
              <a:rPr lang="en-US" sz="900" dirty="0">
                <a:solidFill>
                  <a:srgbClr val="000000"/>
                </a:solidFill>
                <a:latin typeface="Calibri"/>
                <a:ea typeface="Times New Roman"/>
                <a:cs typeface="Times New Roman"/>
              </a:rPr>
              <a:t/>
            </a:r>
          </a:p>
        </p:txBody>
      </p:sp>
      <p:sp>
        <p:nvSpPr>
          <p:cNvPr id="49" name="Text Box 87">
            <a:extLst>
              <a:ext uri="{FF2B5EF4-FFF2-40B4-BE49-F238E27FC236}">
                <a16:creationId xmlns:a16="http://schemas.microsoft.com/office/drawing/2014/main" id="{EB613E97-5EF1-4040-8C44-108B0C84469B}"/>
              </a:ext>
            </a:extLst>
          </p:cNvPr>
          <p:cNvSpPr txBox="1">
            <a:spLocks noChangeArrowheads="1"/>
          </p:cNvSpPr>
          <p:nvPr/>
        </p:nvSpPr>
        <p:spPr bwMode="auto">
          <a:xfrm>
            <a:off x="8730879" y="985005"/>
            <a:ext cx="1217885" cy="1577135"/>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r>
              <a:rPr lang="en-US" sz="900" dirty="0">
                <a:solidFill>
                  <a:srgbClr val="000000"/>
                </a:solidFill>
                <a:latin typeface="Calibri"/>
                <a:ea typeface="Times New Roman"/>
                <a:cs typeface="Times New Roman"/>
              </a:rPr>
              <a:t/>
            </a:r>
          </a:p>
          <a:p>
            <a:r>
              <a:rPr lang="en-US" sz="900" dirty="0">
                <a:solidFill>
                  <a:srgbClr val="000000"/>
                </a:solidFill>
                <a:latin typeface="Calibri"/>
                <a:ea typeface="Times New Roman"/>
                <a:cs typeface="Times New Roman"/>
              </a:rPr>
              <a:t>HLO 1: Inklusive Institutionen
</a:t>
            </a:r>
          </a:p>
          <a:p>
            <a:r>
              <a:rPr lang="en-US" sz="900" dirty="0">
                <a:solidFill>
                  <a:srgbClr val="000000"/>
                </a:solidFill>
                <a:latin typeface="Calibri"/>
                <a:ea typeface="Times New Roman"/>
                <a:cs typeface="Times New Roman"/>
              </a:rPr>
              <a:t/>
            </a:r>
          </a:p>
          <a:p>
            <a:r>
              <a:rPr lang="en-US" sz="900" dirty="0">
                <a:solidFill>
                  <a:srgbClr val="000000"/>
                </a:solidFill>
                <a:latin typeface="Calibri"/>
                <a:ea typeface="Times New Roman"/>
                <a:cs typeface="Times New Roman"/>
              </a:rPr>
              <a:t/>
            </a:r>
          </a:p>
        </p:txBody>
      </p:sp>
      <p:sp>
        <p:nvSpPr>
          <p:cNvPr id="50" name="Text Box 78">
            <a:extLst>
              <a:ext uri="{FF2B5EF4-FFF2-40B4-BE49-F238E27FC236}">
                <a16:creationId xmlns:a16="http://schemas.microsoft.com/office/drawing/2014/main" id="{26218C6F-E2B8-47F3-AB8A-41F3A5B8937B}"/>
              </a:ext>
            </a:extLst>
          </p:cNvPr>
          <p:cNvSpPr txBox="1">
            <a:spLocks noChangeArrowheads="1"/>
          </p:cNvSpPr>
          <p:nvPr/>
        </p:nvSpPr>
        <p:spPr bwMode="auto">
          <a:xfrm>
            <a:off x="3476341" y="950870"/>
            <a:ext cx="1985206" cy="766959"/>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r>
              <a:rPr lang="en-US" sz="900" dirty="0">
                <a:solidFill>
                  <a:srgbClr val="000000"/>
                </a:solidFill>
                <a:latin typeface="Calibri"/>
                <a:ea typeface="Times New Roman"/>
                <a:cs typeface="Times New Roman"/>
              </a:rPr>
              <a:t>Eine hohe Schuldenlast, ein fragiler makrofiskalischer Rahmen und weitere ungünstige Risiken setzen die Wirtschaft makroökonomischer Instabilität aus und untergraben das Vertrauen der Investoren.</a:t>
            </a:r>
          </a:p>
          <a:p>
            <a:r>
              <a:rPr lang="en-US" sz="900" dirty="0">
                <a:solidFill>
                  <a:srgbClr val="000000"/>
                </a:solidFill>
                <a:latin typeface="Calibri"/>
                <a:ea typeface="Times New Roman"/>
                <a:cs typeface="Times New Roman"/>
              </a:rPr>
              <a:t/>
            </a:r>
          </a:p>
        </p:txBody>
      </p:sp>
      <p:sp>
        <p:nvSpPr>
          <p:cNvPr id="51" name="Text Box 79">
            <a:extLst>
              <a:ext uri="{FF2B5EF4-FFF2-40B4-BE49-F238E27FC236}">
                <a16:creationId xmlns:a16="http://schemas.microsoft.com/office/drawing/2014/main" id="{A00457DF-E278-4418-AF56-D23781F3E4F1}"/>
              </a:ext>
            </a:extLst>
          </p:cNvPr>
          <p:cNvSpPr txBox="1">
            <a:spLocks noChangeArrowheads="1"/>
          </p:cNvSpPr>
          <p:nvPr/>
        </p:nvSpPr>
        <p:spPr bwMode="auto">
          <a:xfrm>
            <a:off x="3483879" y="2879630"/>
            <a:ext cx="2020094" cy="650875"/>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r>
              <a:rPr lang="en-US" sz="900" dirty="0">
                <a:solidFill>
                  <a:srgbClr val="000000"/>
                </a:solidFill>
                <a:latin typeface="Calibri"/>
                <a:ea typeface="Times New Roman"/>
                <a:cs typeface="Times New Roman"/>
              </a:rPr>
              <a:t>Ein langsamer, unausgewogener und unzureichend finanzierter Dezentralisierungsprozess erschwert die Übertragung von Befugnissen an die lokalen Regierungen.
</a:t>
            </a:r>
          </a:p>
          <a:p>
            <a:r>
              <a:rPr lang="en-US" sz="900" dirty="0">
                <a:solidFill>
                  <a:srgbClr val="000000"/>
                </a:solidFill>
                <a:latin typeface="Calibri"/>
                <a:ea typeface="Times New Roman"/>
                <a:cs typeface="Times New Roman"/>
              </a:rPr>
              <a:t/>
            </a:r>
          </a:p>
        </p:txBody>
      </p:sp>
      <p:sp>
        <p:nvSpPr>
          <p:cNvPr id="52" name="Text Box 103">
            <a:extLst>
              <a:ext uri="{FF2B5EF4-FFF2-40B4-BE49-F238E27FC236}">
                <a16:creationId xmlns:a16="http://schemas.microsoft.com/office/drawing/2014/main" id="{DCC56B25-B63F-4588-A26A-6E4BD0B39749}"/>
              </a:ext>
            </a:extLst>
          </p:cNvPr>
          <p:cNvSpPr txBox="1">
            <a:spLocks noChangeArrowheads="1"/>
          </p:cNvSpPr>
          <p:nvPr/>
        </p:nvSpPr>
        <p:spPr bwMode="auto">
          <a:xfrm>
            <a:off x="5908040" y="1016226"/>
            <a:ext cx="2296354" cy="1942731"/>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r>
              <a:rPr lang="en-US" sz="900" dirty="0">
                <a:solidFill>
                  <a:srgbClr val="000000"/>
                </a:solidFill>
                <a:latin typeface="Calibri"/>
                <a:ea typeface="Times New Roman"/>
                <a:cs typeface="Times New Roman"/>
              </a:rPr>
              <a:t>1. Verbesserung des Wirtschaftsmanagements zur Schaffung nachhaltiger und resilienter Arbeitsplätze, für eine bessere Ausführungsfähigkeit und ein geringeres Staatsrisiko
</a:t>
            </a:r>
          </a:p>
          <a:p>
            <a:r>
              <a:rPr lang="en-US" sz="900" dirty="0">
                <a:solidFill>
                  <a:srgbClr val="000000"/>
                </a:solidFill>
                <a:latin typeface="Calibri"/>
                <a:ea typeface="Times New Roman"/>
                <a:cs typeface="Times New Roman"/>
              </a:rPr>
              <a:t>2. Steigerung der Wirksamkeit des öffentlichen Sektors für eine inklusive und transparente Leistungserbringung und nachhaltigere, resilientere und gerechtere politische Maßnahmen 
</a:t>
            </a:r>
          </a:p>
          <a:p>
            <a:r>
              <a:rPr lang="en-US" sz="900" dirty="0">
                <a:solidFill>
                  <a:srgbClr val="000000"/>
                </a:solidFill>
                <a:latin typeface="Calibri"/>
                <a:ea typeface="Times New Roman"/>
                <a:cs typeface="Times New Roman"/>
              </a:rPr>
              <a:t>3. Stärkung der Koordination, der Politik und der Kapazitäten für eine bessere Vorsorge und Reaktion auf Naturkatastrophen, Katastrophen und andere mehrdimensionale Schocks
</a:t>
            </a:r>
          </a:p>
          <a:p>
            <a:r>
              <a:rPr lang="en-US" sz="900" dirty="0">
                <a:solidFill>
                  <a:srgbClr val="000000"/>
                </a:solidFill>
                <a:latin typeface="Calibri"/>
                <a:ea typeface="Times New Roman"/>
                <a:cs typeface="Times New Roman"/>
              </a:rPr>
              <a:t/>
            </a:r>
          </a:p>
        </p:txBody>
      </p:sp>
      <p:sp>
        <p:nvSpPr>
          <p:cNvPr id="53" name="Text Box 97">
            <a:extLst>
              <a:ext uri="{FF2B5EF4-FFF2-40B4-BE49-F238E27FC236}">
                <a16:creationId xmlns:a16="http://schemas.microsoft.com/office/drawing/2014/main" id="{53F47CE3-06C6-4A6F-A118-A959D8740BD4}"/>
              </a:ext>
            </a:extLst>
          </p:cNvPr>
          <p:cNvSpPr txBox="1">
            <a:spLocks noChangeArrowheads="1"/>
          </p:cNvSpPr>
          <p:nvPr/>
        </p:nvSpPr>
        <p:spPr bwMode="auto">
          <a:xfrm>
            <a:off x="5902449" y="5105628"/>
            <a:ext cx="2265505" cy="1318554"/>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r>
              <a:rPr lang="en-US" sz="900" dirty="0">
                <a:solidFill>
                  <a:srgbClr val="000000"/>
                </a:solidFill>
                <a:latin typeface="Calibri"/>
                <a:ea typeface="Times New Roman"/>
                <a:cs typeface="Times New Roman"/>
              </a:rPr>
              <a:t>7. Nachhaltige Verbesserung zentraler Ergebnisse in den Bereichen Gesundheit und Bildung
</a:t>
            </a:r>
          </a:p>
          <a:p>
            <a:r>
              <a:rPr lang="en-US" sz="900" dirty="0">
                <a:solidFill>
                  <a:srgbClr val="000000"/>
                </a:solidFill>
                <a:latin typeface="Calibri"/>
                <a:ea typeface="Times New Roman"/>
                <a:cs typeface="Times New Roman"/>
              </a:rPr>
              <a:t>8. Steigerung der Effizienz und der wirksamen Abdeckung integrierter und nachhaltiger Sozialdienste
</a:t>
            </a:r>
          </a:p>
          <a:p>
            <a:r>
              <a:rPr lang="en-US" sz="900" dirty="0">
                <a:solidFill>
                  <a:srgbClr val="000000"/>
                </a:solidFill>
                <a:latin typeface="Calibri"/>
                <a:ea typeface="Times New Roman"/>
                <a:cs typeface="Times New Roman"/>
              </a:rPr>
              <a:t>9. Verbesserung des Zugangs zu Diensten zur Vermeidung von Teenagerschwangerschaften und zur Förderung der Teilhabe von Frauen 
</a:t>
            </a:r>
          </a:p>
          <a:p>
            <a:r>
              <a:rPr lang="en-US" sz="900" dirty="0">
                <a:solidFill>
                  <a:srgbClr val="000000"/>
                </a:solidFill>
                <a:latin typeface="Calibri"/>
                <a:ea typeface="Times New Roman"/>
                <a:cs typeface="Times New Roman"/>
              </a:rPr>
              <a:t/>
            </a:r>
          </a:p>
        </p:txBody>
      </p:sp>
      <p:sp>
        <p:nvSpPr>
          <p:cNvPr id="54" name="Text Box 99">
            <a:extLst>
              <a:ext uri="{FF2B5EF4-FFF2-40B4-BE49-F238E27FC236}">
                <a16:creationId xmlns:a16="http://schemas.microsoft.com/office/drawing/2014/main" id="{CC38D241-29A8-4D06-871B-D72391375300}"/>
              </a:ext>
            </a:extLst>
          </p:cNvPr>
          <p:cNvSpPr txBox="1">
            <a:spLocks noChangeArrowheads="1"/>
          </p:cNvSpPr>
          <p:nvPr/>
        </p:nvSpPr>
        <p:spPr bwMode="auto">
          <a:xfrm>
            <a:off x="10751963" y="2104449"/>
            <a:ext cx="561779" cy="3471862"/>
          </a:xfrm>
          <a:prstGeom prst="rect">
            <a:avLst/>
          </a:prstGeom>
          <a:solidFill>
            <a:srgbClr val="FFFFFF"/>
          </a:solidFill>
          <a:ln w="6350">
            <a:solidFill>
              <a:srgbClr val="000000"/>
            </a:solidFill>
            <a:miter lim="800000"/>
          </a:ln>
        </p:spPr>
        <p:txBody>
          <a:bodyPr vert="vert270" wrap="square" lIns="91440" tIns="45720" rIns="91440" bIns="45720" numCol="1" anchor="t" anchorCtr="0" compatLnSpc="1">
            <a:prstTxWarp prst="textNoShape">
              <a:avLst/>
            </a:prstTxWarp>
            <a:noAutofit/>
          </a:bodyPr>
          <a:lstStyle/>
          <a:p>
            <a:r>
              <a:rPr lang="en-US" sz="1000" b="1" dirty="0">
                <a:solidFill>
                  <a:srgbClr val="000000"/>
                </a:solidFill>
                <a:latin typeface="Calibri"/>
                <a:ea typeface="Times New Roman"/>
                <a:cs typeface="Times New Roman"/>
              </a:rPr>
              <a:t>Die zwei Kernziele der Weltbank (im Kontext von Fragilität, Konflikt und Gewalt)</a:t>
            </a:r>
          </a:p>
        </p:txBody>
      </p:sp>
      <p:sp>
        <p:nvSpPr>
          <p:cNvPr id="55" name="Text Box 100">
            <a:extLst>
              <a:ext uri="{FF2B5EF4-FFF2-40B4-BE49-F238E27FC236}">
                <a16:creationId xmlns:a16="http://schemas.microsoft.com/office/drawing/2014/main" id="{6DC054EA-390C-4274-A3B4-61AE519AFF93}"/>
              </a:ext>
            </a:extLst>
          </p:cNvPr>
          <p:cNvSpPr txBox="1">
            <a:spLocks noChangeArrowheads="1"/>
          </p:cNvSpPr>
          <p:nvPr/>
        </p:nvSpPr>
        <p:spPr bwMode="auto">
          <a:xfrm>
            <a:off x="5890371" y="3060927"/>
            <a:ext cx="2296353" cy="1942731"/>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r>
              <a:rPr lang="en-US" sz="900" dirty="0">
                <a:solidFill>
                  <a:srgbClr val="000000"/>
                </a:solidFill>
                <a:latin typeface="Calibri"/>
                <a:ea typeface="Times New Roman"/>
                <a:cs typeface="Times New Roman"/>
              </a:rPr>
              <a:t>4. Nachhaltiges Wachstum ausgewählter Sektoren natürlicher Ressourcen durch Nutzung regionaler und globaler komparativer Vorteile ermöglichen
</a:t>
            </a:r>
          </a:p>
          <a:p>
            <a:r>
              <a:rPr lang="en-US" sz="900" dirty="0">
                <a:solidFill>
                  <a:srgbClr val="000000"/>
                </a:solidFill>
                <a:latin typeface="Calibri"/>
                <a:ea typeface="Times New Roman"/>
                <a:cs typeface="Times New Roman"/>
              </a:rPr>
              <a:t>5. Förderung des Produktivitätswachstums in ausgewählten arbeitsintensiven Branchen 
</a:t>
            </a:r>
          </a:p>
          <a:p>
            <a:r>
              <a:rPr lang="en-US" sz="900" dirty="0">
                <a:solidFill>
                  <a:srgbClr val="000000"/>
                </a:solidFill>
                <a:latin typeface="Calibri"/>
                <a:ea typeface="Times New Roman"/>
                <a:cs typeface="Times New Roman"/>
              </a:rPr>
              <a:t>6. Ausweitung erschwinglicher, zuverlässiger und klimaresilienter Dienste, um den Zugang der am stärksten Benachteiligten zu verbessern sowie eine nachhaltige Urbanisierung und wirtschaftliche Agglomeration zu stärken
</a:t>
            </a:r>
          </a:p>
          <a:p>
            <a:r>
              <a:rPr lang="en-US" sz="900" dirty="0">
                <a:solidFill>
                  <a:srgbClr val="000000"/>
                </a:solidFill>
                <a:latin typeface="Calibri"/>
                <a:ea typeface="Times New Roman"/>
                <a:cs typeface="Times New Roman"/>
              </a:rPr>
              <a:t/>
            </a:r>
          </a:p>
        </p:txBody>
      </p:sp>
      <p:sp>
        <p:nvSpPr>
          <p:cNvPr id="57" name="Text Box 77">
            <a:extLst>
              <a:ext uri="{FF2B5EF4-FFF2-40B4-BE49-F238E27FC236}">
                <a16:creationId xmlns:a16="http://schemas.microsoft.com/office/drawing/2014/main" id="{6A5089EA-F723-4FD1-838A-0D3BD4FEB79A}"/>
              </a:ext>
            </a:extLst>
          </p:cNvPr>
          <p:cNvSpPr txBox="1">
            <a:spLocks noChangeArrowheads="1"/>
          </p:cNvSpPr>
          <p:nvPr/>
        </p:nvSpPr>
        <p:spPr bwMode="auto">
          <a:xfrm>
            <a:off x="3473057" y="1798101"/>
            <a:ext cx="2016001" cy="1017953"/>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r>
              <a:rPr lang="en-US" sz="900" dirty="0">
                <a:solidFill>
                  <a:srgbClr val="000000"/>
                </a:solidFill>
                <a:latin typeface="Calibri"/>
                <a:ea typeface="Times New Roman"/>
                <a:cs typeface="Times New Roman"/>
              </a:rPr>
              <a:t>Mangelnde Transparenz, ein schwaches Datenumfeld sowie unzureichende Aufsicht und Rechenschaftspflicht im öffentlichen Finanzmanagement und bei staatseigenen Unternehmen untergraben die Effizienz und Wirksamkeit der öffentlichen Mittel.</a:t>
            </a:r>
          </a:p>
          <a:p>
            <a:r>
              <a:rPr lang="en-US" sz="900" dirty="0">
                <a:solidFill>
                  <a:srgbClr val="000000"/>
                </a:solidFill>
                <a:latin typeface="Calibri"/>
                <a:ea typeface="Times New Roman"/>
                <a:cs typeface="Times New Roman"/>
              </a:rPr>
              <a:t/>
            </a:r>
          </a:p>
        </p:txBody>
      </p:sp>
      <p:sp>
        <p:nvSpPr>
          <p:cNvPr id="58" name="Text Box 81">
            <a:extLst>
              <a:ext uri="{FF2B5EF4-FFF2-40B4-BE49-F238E27FC236}">
                <a16:creationId xmlns:a16="http://schemas.microsoft.com/office/drawing/2014/main" id="{89AF3C58-1D52-43BE-BD43-B1B4B9388F1D}"/>
              </a:ext>
            </a:extLst>
          </p:cNvPr>
          <p:cNvSpPr txBox="1">
            <a:spLocks noChangeArrowheads="1"/>
          </p:cNvSpPr>
          <p:nvPr/>
        </p:nvSpPr>
        <p:spPr bwMode="auto">
          <a:xfrm>
            <a:off x="3483879" y="3760745"/>
            <a:ext cx="2008891" cy="681038"/>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r>
              <a:rPr lang="en-US" sz="900" dirty="0">
                <a:solidFill>
                  <a:srgbClr val="000000"/>
                </a:solidFill>
                <a:latin typeface="Calibri"/>
                <a:ea typeface="Times New Roman"/>
                <a:cs typeface="Times New Roman"/>
              </a:rPr>
              <a:t>Die für das Wachstum des Privatsektors, die Diversifizierung und die Schaffung von Arbeitsplätzen entscheidenden Rahmenbedingungen bei Ausbildung, Regulierung und Märkten sind unterentwickelt.
</a:t>
            </a:r>
          </a:p>
          <a:p>
            <a:r>
              <a:rPr lang="en-US" sz="900" dirty="0">
                <a:solidFill>
                  <a:srgbClr val="000000"/>
                </a:solidFill>
                <a:latin typeface="Calibri"/>
                <a:ea typeface="Times New Roman"/>
                <a:cs typeface="Times New Roman"/>
              </a:rPr>
              <a:t/>
            </a:r>
          </a:p>
        </p:txBody>
      </p:sp>
      <p:sp>
        <p:nvSpPr>
          <p:cNvPr id="59" name="Text Box 80">
            <a:extLst>
              <a:ext uri="{FF2B5EF4-FFF2-40B4-BE49-F238E27FC236}">
                <a16:creationId xmlns:a16="http://schemas.microsoft.com/office/drawing/2014/main" id="{9D0FC625-5B93-4F5D-8146-D81344F7F31C}"/>
              </a:ext>
            </a:extLst>
          </p:cNvPr>
          <p:cNvSpPr txBox="1">
            <a:spLocks noChangeArrowheads="1"/>
          </p:cNvSpPr>
          <p:nvPr/>
        </p:nvSpPr>
        <p:spPr bwMode="auto">
          <a:xfrm>
            <a:off x="3476341" y="4532866"/>
            <a:ext cx="2008892" cy="690562"/>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r>
              <a:rPr lang="en-US" sz="900" dirty="0">
                <a:solidFill>
                  <a:srgbClr val="000000"/>
                </a:solidFill>
                <a:latin typeface="Calibri"/>
                <a:ea typeface="Times New Roman"/>
                <a:cs typeface="Times New Roman"/>
              </a:rPr>
              <a:t>Versagen in zentralen Märkten, teils politisch bedingt, beeinträchtigt Produktivität, Vermarktung und Risikomanagement.</a:t>
            </a:r>
          </a:p>
          <a:p>
            <a:r>
              <a:rPr lang="en-US" sz="900" dirty="0">
                <a:solidFill>
                  <a:srgbClr val="000000"/>
                </a:solidFill>
                <a:latin typeface="Calibri"/>
                <a:ea typeface="Times New Roman"/>
                <a:cs typeface="Times New Roman"/>
              </a:rPr>
              <a:t/>
            </a:r>
          </a:p>
        </p:txBody>
      </p:sp>
      <p:sp>
        <p:nvSpPr>
          <p:cNvPr id="60" name="Text Box 82">
            <a:extLst>
              <a:ext uri="{FF2B5EF4-FFF2-40B4-BE49-F238E27FC236}">
                <a16:creationId xmlns:a16="http://schemas.microsoft.com/office/drawing/2014/main" id="{1080C6B7-4DA5-4A14-8AF1-82F56116F321}"/>
              </a:ext>
            </a:extLst>
          </p:cNvPr>
          <p:cNvSpPr txBox="1">
            <a:spLocks noChangeArrowheads="1"/>
          </p:cNvSpPr>
          <p:nvPr/>
        </p:nvSpPr>
        <p:spPr bwMode="auto">
          <a:xfrm>
            <a:off x="3483878" y="5528860"/>
            <a:ext cx="2002521" cy="899160"/>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r>
              <a:rPr lang="en-US" sz="900" dirty="0">
                <a:solidFill>
                  <a:srgbClr val="000000"/>
                </a:solidFill>
                <a:latin typeface="Calibri"/>
                <a:ea typeface="Times New Roman"/>
                <a:cs typeface="Times New Roman"/>
              </a:rPr>
              <a:t>Beschränkte Haftung und leistungsbezogene Anreize sowie mangelhafte institutionelle Koordination begrenzen die Wirksamkeit und Effizienz der Leistungserbringung und der Bildung von Humankapital.</a:t>
            </a:r>
          </a:p>
          <a:p>
            <a:r>
              <a:rPr lang="en-US" sz="900" dirty="0">
                <a:solidFill>
                  <a:srgbClr val="000000"/>
                </a:solidFill>
                <a:latin typeface="Calibri"/>
                <a:ea typeface="Times New Roman"/>
                <a:cs typeface="Times New Roman"/>
              </a:rPr>
              <a:t/>
            </a:r>
          </a:p>
        </p:txBody>
      </p:sp>
      <p:sp>
        <p:nvSpPr>
          <p:cNvPr id="62" name="Right Arrow 23">
            <a:extLst>
              <a:ext uri="{FF2B5EF4-FFF2-40B4-BE49-F238E27FC236}">
                <a16:creationId xmlns:a16="http://schemas.microsoft.com/office/drawing/2014/main" id="{F7B8CA4A-EE30-47E3-B96F-AAF1B6C4697F}"/>
              </a:ext>
            </a:extLst>
          </p:cNvPr>
          <p:cNvSpPr/>
          <p:nvPr/>
        </p:nvSpPr>
        <p:spPr>
          <a:xfrm>
            <a:off x="8345501" y="3798099"/>
            <a:ext cx="298447" cy="185420"/>
          </a:xfrm>
          <a:prstGeom prst="rightArrow">
            <a:avLst/>
          </a:prstGeom>
          <a:solidFill>
            <a:srgbClr val="4472C4"/>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63" name="Right Arrow 23">
            <a:extLst>
              <a:ext uri="{FF2B5EF4-FFF2-40B4-BE49-F238E27FC236}">
                <a16:creationId xmlns:a16="http://schemas.microsoft.com/office/drawing/2014/main" id="{807A0D66-CC7C-4916-A863-58A2936E001D}"/>
              </a:ext>
            </a:extLst>
          </p:cNvPr>
          <p:cNvSpPr/>
          <p:nvPr/>
        </p:nvSpPr>
        <p:spPr>
          <a:xfrm>
            <a:off x="8318413" y="1679133"/>
            <a:ext cx="298447" cy="185420"/>
          </a:xfrm>
          <a:prstGeom prst="rightArrow">
            <a:avLst/>
          </a:prstGeom>
          <a:solidFill>
            <a:srgbClr val="4472C4"/>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64" name="Right Brace 63">
            <a:extLst>
              <a:ext uri="{FF2B5EF4-FFF2-40B4-BE49-F238E27FC236}">
                <a16:creationId xmlns:a16="http://schemas.microsoft.com/office/drawing/2014/main" id="{AD63B931-3E8E-4C11-B57C-F8A9FAD3BFA0}"/>
              </a:ext>
            </a:extLst>
          </p:cNvPr>
          <p:cNvSpPr/>
          <p:nvPr/>
        </p:nvSpPr>
        <p:spPr>
          <a:xfrm>
            <a:off x="9975578" y="1009196"/>
            <a:ext cx="795153" cy="5622290"/>
          </a:xfrm>
          <a:prstGeom prst="rightBrace">
            <a:avLst>
              <a:gd name="adj1" fmla="val 0"/>
              <a:gd name="adj2" fmla="val 48780"/>
            </a:avLst>
          </a:prstGeom>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65" name="Right Arrow 23">
            <a:extLst>
              <a:ext uri="{FF2B5EF4-FFF2-40B4-BE49-F238E27FC236}">
                <a16:creationId xmlns:a16="http://schemas.microsoft.com/office/drawing/2014/main" id="{E176EB49-8380-4BF9-B5CD-94A2BBD3D968}"/>
              </a:ext>
            </a:extLst>
          </p:cNvPr>
          <p:cNvSpPr/>
          <p:nvPr/>
        </p:nvSpPr>
        <p:spPr>
          <a:xfrm>
            <a:off x="8312093" y="5566932"/>
            <a:ext cx="298447" cy="185420"/>
          </a:xfrm>
          <a:prstGeom prst="rightArrow">
            <a:avLst/>
          </a:prstGeom>
          <a:solidFill>
            <a:srgbClr val="4472C4"/>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66" name="Right Brace 65">
            <a:extLst>
              <a:ext uri="{FF2B5EF4-FFF2-40B4-BE49-F238E27FC236}">
                <a16:creationId xmlns:a16="http://schemas.microsoft.com/office/drawing/2014/main" id="{9BD27318-54AE-44F0-B8A0-1D07DE47F16A}"/>
              </a:ext>
            </a:extLst>
          </p:cNvPr>
          <p:cNvSpPr/>
          <p:nvPr/>
        </p:nvSpPr>
        <p:spPr>
          <a:xfrm>
            <a:off x="5541669" y="918522"/>
            <a:ext cx="322443" cy="2598945"/>
          </a:xfrm>
          <a:prstGeom prst="rightBrace">
            <a:avLst>
              <a:gd name="adj1" fmla="val 0"/>
              <a:gd name="adj2" fmla="val 50000"/>
            </a:avLst>
          </a:prstGeom>
          <a:noFill/>
          <a:ln w="6350" cap="flat" cmpd="sng" algn="ctr">
            <a:solidFill>
              <a:srgbClr val="4472C4"/>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67" name="Right Brace 66">
            <a:extLst>
              <a:ext uri="{FF2B5EF4-FFF2-40B4-BE49-F238E27FC236}">
                <a16:creationId xmlns:a16="http://schemas.microsoft.com/office/drawing/2014/main" id="{17BA87D7-AAFC-4A88-88D7-39B35CF00A45}"/>
              </a:ext>
            </a:extLst>
          </p:cNvPr>
          <p:cNvSpPr/>
          <p:nvPr/>
        </p:nvSpPr>
        <p:spPr>
          <a:xfrm>
            <a:off x="5554535" y="3753428"/>
            <a:ext cx="278613" cy="1469999"/>
          </a:xfrm>
          <a:prstGeom prst="rightBrace">
            <a:avLst>
              <a:gd name="adj1" fmla="val 0"/>
              <a:gd name="adj2" fmla="val 37200"/>
            </a:avLst>
          </a:prstGeom>
          <a:noFill/>
          <a:ln w="6350" cap="flat" cmpd="sng" algn="ctr">
            <a:solidFill>
              <a:srgbClr val="4472C4"/>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68" name="Right Brace 67">
            <a:extLst>
              <a:ext uri="{FF2B5EF4-FFF2-40B4-BE49-F238E27FC236}">
                <a16:creationId xmlns:a16="http://schemas.microsoft.com/office/drawing/2014/main" id="{485910CA-A043-4F81-B5DB-931EE68D20BA}"/>
              </a:ext>
            </a:extLst>
          </p:cNvPr>
          <p:cNvSpPr/>
          <p:nvPr/>
        </p:nvSpPr>
        <p:spPr>
          <a:xfrm>
            <a:off x="5541669" y="5566932"/>
            <a:ext cx="360982" cy="857250"/>
          </a:xfrm>
          <a:prstGeom prst="rightBrace">
            <a:avLst>
              <a:gd name="adj1" fmla="val 0"/>
              <a:gd name="adj2" fmla="val 37200"/>
            </a:avLst>
          </a:prstGeom>
          <a:noFill/>
          <a:ln w="6350" cap="flat" cmpd="sng" algn="ctr">
            <a:solidFill>
              <a:srgbClr val="4472C4"/>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75" name="Rectangle 120">
            <a:extLst>
              <a:ext uri="{FF2B5EF4-FFF2-40B4-BE49-F238E27FC236}">
                <a16:creationId xmlns:a16="http://schemas.microsoft.com/office/drawing/2014/main" id="{B4C827BB-E166-4720-BAE3-E8852D546BA4}"/>
              </a:ext>
            </a:extLst>
          </p:cNvPr>
          <p:cNvSpPr>
            <a:spLocks noChangeArrowheads="1"/>
          </p:cNvSpPr>
          <p:nvPr/>
        </p:nvSpPr>
        <p:spPr bwMode="auto">
          <a:xfrm>
            <a:off x="-843300" y="2883334"/>
            <a:ext cx="1136940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p>
            <a:endParaRPr lang="en-US" dirty="0"/>
          </a:p>
        </p:txBody>
      </p:sp>
      <p:sp>
        <p:nvSpPr>
          <p:cNvPr id="82" name="TextBox 81">
            <a:extLst>
              <a:ext uri="{FF2B5EF4-FFF2-40B4-BE49-F238E27FC236}">
                <a16:creationId xmlns:a16="http://schemas.microsoft.com/office/drawing/2014/main" id="{435911EA-4749-40E7-B920-CA8554FC37D6}"/>
              </a:ext>
            </a:extLst>
          </p:cNvPr>
          <p:cNvSpPr txBox="1"/>
          <p:nvPr/>
        </p:nvSpPr>
        <p:spPr>
          <a:xfrm>
            <a:off x="262384" y="38488"/>
            <a:ext cx="11141528" cy="461665"/>
          </a:xfrm>
          <a:prstGeom prst="rect">
            <a:avLst/>
          </a:prstGeom>
          <a:noFill/>
        </p:spPr>
        <p:txBody>
          <a:bodyPr wrap="square">
            <a:noAutofit/>
          </a:bodyPr>
          <a:lstStyle/>
          <a:p>
            <a:r>
              <a:rPr lang="en-US" sz="2300" b="1" dirty="0">
                <a:solidFill>
                  <a:srgbClr val="2F5597"/>
                </a:solidFill>
                <a:ea typeface="+mj-ea"/>
              </a:rPr>
              <a:t>Regierungsprogramm, SCD-Prioritäten und CPF 2023-2027</a:t>
            </a:r>
          </a:p>
        </p:txBody>
      </p:sp>
      <p:sp>
        <p:nvSpPr>
          <p:cNvPr id="33" name="Text Box 86">
            <a:extLst>
              <a:ext uri="{FF2B5EF4-FFF2-40B4-BE49-F238E27FC236}">
                <a16:creationId xmlns:a16="http://schemas.microsoft.com/office/drawing/2014/main" id="{3E71666A-E496-4F48-9C63-1C4953AF4D3C}"/>
              </a:ext>
            </a:extLst>
          </p:cNvPr>
          <p:cNvSpPr txBox="1">
            <a:spLocks noChangeArrowheads="1"/>
          </p:cNvSpPr>
          <p:nvPr/>
        </p:nvSpPr>
        <p:spPr bwMode="auto">
          <a:xfrm>
            <a:off x="10251894" y="582104"/>
            <a:ext cx="1378820" cy="369332"/>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r>
              <a:rPr kumimoji="0" lang="pt" sz="1200" b="1" i="0" u="none" strike="noStrike" cap="none" normalizeH="0" baseline="0" dirty="0">
                <a:solidFill>
                  <a:srgbClr val="000000"/>
                </a:solidFill>
                <a:highlight>
                  <a:srgbClr val="000000">
                    <a:alpha val="0"/>
                  </a:srgbClr>
                </a:highlight>
                <a:latin typeface="Calibri"/>
                <a:ea typeface="Times New Roman"/>
                <a:cs typeface="Times New Roman"/>
              </a:rPr>
              <a:t>WIRKUNG </a:t>
            </a:r>
          </a:p>
        </p:txBody>
      </p:sp>
      <p:sp>
        <p:nvSpPr>
          <p:cNvPr id="5" name="Footer Placeholder 4">
            <a:extLst>
              <a:ext uri="{FF2B5EF4-FFF2-40B4-BE49-F238E27FC236}">
                <a16:creationId xmlns:a16="http://schemas.microsoft.com/office/drawing/2014/main" id="{3426EFB2-C29A-47AE-B735-FDA626614932}"/>
              </a:ext>
            </a:extLst>
          </p:cNvPr>
          <p:cNvSpPr>
            <a:spLocks noGrp="1"/>
          </p:cNvSpPr>
          <p:nvPr>
            <p:ph type="ftr" sz="quarter" idx="11"/>
          </p:nvPr>
        </p:nvSpPr>
        <p:spPr>
          <a:xfrm>
            <a:off x="4037499" y="6485618"/>
            <a:ext cx="4114800" cy="365125"/>
          </a:xfrm>
        </p:spPr>
        <p:txBody>
          <a:bodyPr/>
          <a:lstStyle/>
          <a:p>
            <a:r>
              <a:rPr lang="en-US"/>
              <a:t>CPF 2023-2027. Öffentliche Fassung. Maputo, Mai 2022.</a:t>
            </a:r>
          </a:p>
        </p:txBody>
      </p:sp>
      <p:sp>
        <p:nvSpPr>
          <p:cNvPr id="6" name="Slide Number Placeholder 5">
            <a:extLst>
              <a:ext uri="{FF2B5EF4-FFF2-40B4-BE49-F238E27FC236}">
                <a16:creationId xmlns:a16="http://schemas.microsoft.com/office/drawing/2014/main" id="{209C3A3E-73B2-4CAB-BCDC-283C09B7A996}"/>
              </a:ext>
            </a:extLst>
          </p:cNvPr>
          <p:cNvSpPr>
            <a:spLocks noGrp="1"/>
          </p:cNvSpPr>
          <p:nvPr>
            <p:ph type="sldNum" sz="quarter" idx="12"/>
          </p:nvPr>
        </p:nvSpPr>
        <p:spPr/>
        <p:txBody>
          <a:bodyPr/>
          <a:lstStyle/>
          <a:p>
            <a:fld id="{B8473C9A-9E91-4025-B5E2-D7B202510636}" type="slidenum">
              <a:rPr lang="en-US" smtClean="0"/>
              <a:t>19</a:t>
            </a:fld>
            <a:endParaRPr lang="en-US" dirty="0"/>
          </a:p>
        </p:txBody>
      </p:sp>
      <p:graphicFrame>
        <p:nvGraphicFramePr>
          <p:cNvPr id="2" name="Table 2">
            <a:extLst>
              <a:ext uri="{FF2B5EF4-FFF2-40B4-BE49-F238E27FC236}">
                <a16:creationId xmlns:a16="http://schemas.microsoft.com/office/drawing/2014/main" id="{1C2F015B-084F-4D5A-AFF8-CBC5391288D9}"/>
              </a:ext>
            </a:extLst>
          </p:cNvPr>
          <p:cNvGraphicFramePr>
            <a:graphicFrameLocks noGrp="1"/>
          </p:cNvGraphicFramePr>
          <p:nvPr>
            <p:extLst>
              <p:ext uri="{D42A27DB-BD31-4B8C-83A1-F6EECF244321}">
                <p14:modId xmlns:p14="http://schemas.microsoft.com/office/powerpoint/2010/main" val="1381787384"/>
              </p:ext>
            </p:extLst>
          </p:nvPr>
        </p:nvGraphicFramePr>
        <p:xfrm>
          <a:off x="5862279" y="494314"/>
          <a:ext cx="2366680" cy="432931"/>
        </p:xfrm>
        <a:graphic>
          <a:graphicData uri="http://schemas.openxmlformats.org/drawingml/2006/table">
            <a:tbl>
              <a:tblPr firstRow="1" bandRow="1">
                <a:tableStyleId>{5C22544A-7EE6-4342-B048-85BDC9FD1C3A}</a:tableStyleId>
              </a:tblPr>
              <a:tblGrid>
                <a:gridCol w="2366680">
                  <a:extLst>
                    <a:ext uri="{9D8B030D-6E8A-4147-A177-3AD203B41FA5}">
                      <a16:colId xmlns:a16="http://schemas.microsoft.com/office/drawing/2014/main" val="3780125749"/>
                    </a:ext>
                  </a:extLst>
                </a:gridCol>
              </a:tblGrid>
              <a:tr h="432931">
                <a:tc>
                  <a:txBody>
                    <a:bodyPr/>
                    <a:lstStyle/>
                    <a:p>
                      <a:pPr algn="ctr"/>
                      <a:r>
                        <a:rPr lang="en-US" sz="900" dirty="0"/>
                        <a:t>WBG CPF-Ziele </a:t>
                      </a:r>
                    </a:p>
                  </a:txBody>
                  <a:tcPr/>
                </a:tc>
                <a:extLst>
                  <a:ext uri="{0D108BD9-81ED-4DB2-BD59-A6C34878D82A}">
                    <a16:rowId xmlns:a16="http://schemas.microsoft.com/office/drawing/2014/main" val="4082223956"/>
                  </a:ext>
                </a:extLst>
              </a:tr>
            </a:tbl>
          </a:graphicData>
        </a:graphic>
      </p:graphicFrame>
      <p:graphicFrame>
        <p:nvGraphicFramePr>
          <p:cNvPr id="3" name="Table 3">
            <a:extLst>
              <a:ext uri="{FF2B5EF4-FFF2-40B4-BE49-F238E27FC236}">
                <a16:creationId xmlns:a16="http://schemas.microsoft.com/office/drawing/2014/main" id="{5152482C-7E96-4C99-AE17-9509514AE1B3}"/>
              </a:ext>
            </a:extLst>
          </p:cNvPr>
          <p:cNvGraphicFramePr>
            <a:graphicFrameLocks noGrp="1"/>
          </p:cNvGraphicFramePr>
          <p:nvPr>
            <p:extLst>
              <p:ext uri="{D42A27DB-BD31-4B8C-83A1-F6EECF244321}">
                <p14:modId xmlns:p14="http://schemas.microsoft.com/office/powerpoint/2010/main" val="2921258018"/>
              </p:ext>
            </p:extLst>
          </p:nvPr>
        </p:nvGraphicFramePr>
        <p:xfrm>
          <a:off x="3348429" y="493305"/>
          <a:ext cx="2284725" cy="457200"/>
        </p:xfrm>
        <a:graphic>
          <a:graphicData uri="http://schemas.openxmlformats.org/drawingml/2006/table">
            <a:tbl>
              <a:tblPr firstRow="1" bandRow="1">
                <a:tableStyleId>{5C22544A-7EE6-4342-B048-85BDC9FD1C3A}</a:tableStyleId>
              </a:tblPr>
              <a:tblGrid>
                <a:gridCol w="2284725">
                  <a:extLst>
                    <a:ext uri="{9D8B030D-6E8A-4147-A177-3AD203B41FA5}">
                      <a16:colId xmlns:a16="http://schemas.microsoft.com/office/drawing/2014/main" val="566056220"/>
                    </a:ext>
                  </a:extLst>
                </a:gridCol>
              </a:tblGrid>
              <a:tr h="457200">
                <a:tc>
                  <a:txBody>
                    <a:bodyPr/>
                    <a:lstStyle/>
                    <a:p>
                      <a:pPr algn="ctr"/>
                      <a:r>
                        <a:rPr lang="en-US" sz="900" dirty="0"/>
                        <a:t>WBG SCD-Prioritäten </a:t>
                      </a:r>
                    </a:p>
                  </a:txBody>
                  <a:tcPr/>
                </a:tc>
                <a:extLst>
                  <a:ext uri="{0D108BD9-81ED-4DB2-BD59-A6C34878D82A}">
                    <a16:rowId xmlns:a16="http://schemas.microsoft.com/office/drawing/2014/main" val="3967305129"/>
                  </a:ext>
                </a:extLst>
              </a:tr>
            </a:tbl>
          </a:graphicData>
        </a:graphic>
      </p:graphicFrame>
      <p:pic>
        <p:nvPicPr>
          <p:cNvPr id="4" name="Picture 3">
            <a:extLst>
              <a:ext uri="{FF2B5EF4-FFF2-40B4-BE49-F238E27FC236}">
                <a16:creationId xmlns:a16="http://schemas.microsoft.com/office/drawing/2014/main" id="{52416E96-0776-48B0-B21E-A364D77FC888}"/>
              </a:ext>
            </a:extLst>
          </p:cNvPr>
          <p:cNvPicPr>
            <a:picLocks noChangeAspect="1"/>
          </p:cNvPicPr>
          <p:nvPr/>
        </p:nvPicPr>
        <p:blipFill>
          <a:blip r:embed="rId2"/>
          <a:stretch>
            <a:fillRect/>
          </a:stretch>
        </p:blipFill>
        <p:spPr>
          <a:xfrm>
            <a:off x="262384" y="103568"/>
            <a:ext cx="2316681" cy="463336"/>
          </a:xfrm>
          <a:prstGeom prst="rect">
            <a:avLst/>
          </a:prstGeom>
        </p:spPr>
      </p:pic>
    </p:spTree>
    <p:extLst>
      <p:ext uri="{BB962C8B-B14F-4D97-AF65-F5344CB8AC3E}">
        <p14:creationId xmlns:p14="http://schemas.microsoft.com/office/powerpoint/2010/main" val="1068890068"/>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676B-4603-455B-9BA6-AAFD3FF0ACAB}"/>
              </a:ext>
            </a:extLst>
          </p:cNvPr>
          <p:cNvSpPr>
            <a:spLocks noGrp="1"/>
          </p:cNvSpPr>
          <p:nvPr>
            <p:ph type="title"/>
          </p:nvPr>
        </p:nvSpPr>
        <p:spPr>
          <a:xfrm>
            <a:off x="838200" y="229481"/>
            <a:ext cx="10515600" cy="922299"/>
          </a:xfrm>
        </p:spPr>
        <p:txBody>
          <a:bodyPr>
            <a:noAutofit/>
          </a:bodyPr>
          <a:lstStyle/>
          <a:p>
            <a:r>
              <a:rPr lang="en-US" sz="2400" dirty="0"/>
              <a:t>Umsetzung des CPF 2023-2027: Priorisierung
</a:t>
            </a:r>
          </a:p>
          <a:p>
            <a:r>
              <a:rPr lang="en-US" sz="2400" dirty="0"/>
              <a:t/>
            </a:r>
          </a:p>
        </p:txBody>
      </p:sp>
      <p:sp>
        <p:nvSpPr>
          <p:cNvPr id="3" name="Content Placeholder 2">
            <a:extLst>
              <a:ext uri="{FF2B5EF4-FFF2-40B4-BE49-F238E27FC236}">
                <a16:creationId xmlns:a16="http://schemas.microsoft.com/office/drawing/2014/main" id="{95DD31EA-D262-4017-A859-112A4B3C2A17}"/>
              </a:ext>
            </a:extLst>
          </p:cNvPr>
          <p:cNvSpPr>
            <a:spLocks noGrp="1"/>
          </p:cNvSpPr>
          <p:nvPr>
            <p:ph idx="1"/>
          </p:nvPr>
        </p:nvSpPr>
        <p:spPr>
          <a:xfrm>
            <a:off x="838200" y="1568672"/>
            <a:ext cx="10515600" cy="4700703"/>
          </a:xfrm>
        </p:spPr>
        <p:txBody>
          <a:bodyPr>
            <a:noAutofit/>
          </a:bodyPr>
          <a:lstStyle/>
          <a:p>
            <a:r>
              <a:rPr lang="en-US" sz="1600" b="1" i="0" u="none" strike="noStrike" dirty="0">
                <a:highlight>
                  <a:srgbClr val="000000">
                    <a:alpha val="0"/>
                  </a:srgbClr>
                </a:highlight>
                <a:latin typeface="Arial"/>
              </a:rPr>
              <a:t>In den nächsten 12 bis 24 Monaten wird der CPF Reformen und Investitionen priorisieren, die die Wachstumsaussichten des Landes schützen können. Mittelfristig wird der CPF einige transformative Reformen und Investitionen priorisieren, die ein grüneres und inklusiveres Wachstum anstoßen könnten.</a:t>
            </a:r>
          </a:p>
          <a:p>
            <a:r>
              <a:rPr lang="en-US" sz="1600" b="1" i="0" u="none" strike="noStrike" dirty="0">
                <a:highlight>
                  <a:srgbClr val="000000">
                    <a:alpha val="0"/>
                  </a:srgbClr>
                </a:highlight>
                <a:latin typeface="Arial"/>
              </a:rPr>
              <a:t>Um dem Gegenwind einer herausfordernden Weltwirtschaft zu begegnen, wird der CPF Aktivitäten priorisieren, die die makroökonomische Stabilität weiter sichern, die Vorsorge gegen Klimaschocks verbessern und Stabilität und Sicherheit im Norden gewährleisten, wobei der Fokus auf Krisenprävention, -reaktion und Resilienz auf Grundlage der Prevention and Resilience Allocation erhalten bleibt.</a:t>
            </a:r>
          </a:p>
          <a:p>
            <a:r>
              <a:rPr lang="en-US" sz="1600" b="1" i="0" u="none" strike="noStrike" dirty="0">
                <a:highlight>
                  <a:srgbClr val="000000">
                    <a:alpha val="0"/>
                  </a:srgbClr>
                </a:highlight>
                <a:latin typeface="Arial"/>
              </a:rPr>
              <a:t>Der CPF wird der Regierung außerdem helfen, zusätzliche private Investitionen und potenzielle Produktivitätsgewinne freizusetzen, die das Wirtschaftswachstum und die Inklusion kurzfristig beschleunigen können.</a:t>
            </a:r>
          </a:p>
          <a:p>
            <a:r>
              <a:rPr lang="en-US" sz="1600" b="1" i="0" u="none" strike="noStrike" dirty="0">
                <a:highlight>
                  <a:srgbClr val="000000">
                    <a:alpha val="0"/>
                  </a:srgbClr>
                </a:highlight>
                <a:latin typeface="Arial"/>
              </a:rPr>
              <a:t>Um ein grüneres und inklusiveres Wachstum zu entfalten, wird der CPF Aktivitäten priorisieren, die (i) die Nutzung einer natürlichen Ressource bei gleichzeitiger Stärkung des Ressourcenmanagements ermöglichen – wodurch das Land schrittweise auf einen kohlenstoffarmen Pfad geführt wird (Einbeziehung der Empfehlung des in Kürze erscheinenden Berichts über Klimawandel und Entwicklung) – und (ii) den Prozess des strukturellen (wirtschaftlichen und räumlichen) Wandels beschleunigen, namentlich durch die Modernisierung der Landwirtschaft und ein besseres Management des Urbanisierungsprozesses.</a:t>
            </a:r>
          </a:p>
        </p:txBody>
      </p:sp>
      <p:sp>
        <p:nvSpPr>
          <p:cNvPr id="7" name="Footer Placeholder 6">
            <a:extLst>
              <a:ext uri="{FF2B5EF4-FFF2-40B4-BE49-F238E27FC236}">
                <a16:creationId xmlns:a16="http://schemas.microsoft.com/office/drawing/2014/main" id="{A33C755C-B279-42BF-B058-8A1E73B24E63}"/>
              </a:ext>
            </a:extLst>
          </p:cNvPr>
          <p:cNvSpPr>
            <a:spLocks noGrp="1"/>
          </p:cNvSpPr>
          <p:nvPr>
            <p:ph type="ftr" sz="quarter" idx="11"/>
          </p:nvPr>
        </p:nvSpPr>
        <p:spPr/>
        <p:txBody>
          <a:bodyPr/>
          <a:lstStyle/>
          <a:p>
            <a:r>
              <a:rPr lang="en-US"/>
              <a:t>CPF 2023-2027. Öffentliche Fassung. Maputo, Mai 2022.</a:t>
            </a:r>
          </a:p>
        </p:txBody>
      </p:sp>
      <p:sp>
        <p:nvSpPr>
          <p:cNvPr id="8" name="Slide Number Placeholder 7">
            <a:extLst>
              <a:ext uri="{FF2B5EF4-FFF2-40B4-BE49-F238E27FC236}">
                <a16:creationId xmlns:a16="http://schemas.microsoft.com/office/drawing/2014/main" id="{B051C23C-5BC7-4AE8-9AFF-BBE32842FF8B}"/>
              </a:ext>
            </a:extLst>
          </p:cNvPr>
          <p:cNvSpPr>
            <a:spLocks noGrp="1"/>
          </p:cNvSpPr>
          <p:nvPr>
            <p:ph type="sldNum" sz="quarter" idx="12"/>
          </p:nvPr>
        </p:nvSpPr>
        <p:spPr/>
        <p:txBody>
          <a:bodyPr/>
          <a:lstStyle/>
          <a:p>
            <a:fld id="{B8473C9A-9E91-4025-B5E2-D7B202510636}" type="slidenum">
              <a:rPr lang="en-US" smtClean="0"/>
              <a:t>20</a:t>
            </a:fld>
            <a:endParaRPr lang="en-US" dirty="0"/>
          </a:p>
        </p:txBody>
      </p:sp>
      <p:pic>
        <p:nvPicPr>
          <p:cNvPr id="4" name="Picture 3">
            <a:extLst>
              <a:ext uri="{FF2B5EF4-FFF2-40B4-BE49-F238E27FC236}">
                <a16:creationId xmlns:a16="http://schemas.microsoft.com/office/drawing/2014/main" id="{39A1D7FE-ED6A-414B-A3D8-9F7D4FC8C4AF}"/>
              </a:ext>
            </a:extLst>
          </p:cNvPr>
          <p:cNvPicPr>
            <a:picLocks noChangeAspect="1"/>
          </p:cNvPicPr>
          <p:nvPr/>
        </p:nvPicPr>
        <p:blipFill>
          <a:blip r:embed="rId2"/>
          <a:stretch>
            <a:fillRect/>
          </a:stretch>
        </p:blipFill>
        <p:spPr>
          <a:xfrm>
            <a:off x="245916" y="229481"/>
            <a:ext cx="2316681" cy="463336"/>
          </a:xfrm>
          <a:prstGeom prst="rect">
            <a:avLst/>
          </a:prstGeom>
        </p:spPr>
      </p:pic>
    </p:spTree>
    <p:extLst>
      <p:ext uri="{BB962C8B-B14F-4D97-AF65-F5344CB8AC3E}">
        <p14:creationId xmlns:p14="http://schemas.microsoft.com/office/powerpoint/2010/main" val="382222586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02326-9E63-4DF0-AF0D-21FCFEC54D28}"/>
              </a:ext>
            </a:extLst>
          </p:cNvPr>
          <p:cNvSpPr>
            <a:spLocks noGrp="1"/>
          </p:cNvSpPr>
          <p:nvPr>
            <p:ph type="title"/>
          </p:nvPr>
        </p:nvSpPr>
        <p:spPr>
          <a:xfrm>
            <a:off x="838200" y="482493"/>
            <a:ext cx="10515600" cy="674333"/>
          </a:xfrm>
        </p:spPr>
        <p:txBody>
          <a:bodyPr>
            <a:noAutofit/>
          </a:bodyPr>
          <a:lstStyle/>
          <a:p>
            <a:r>
              <a:rPr lang="en-US" sz="2400" dirty="0"/>
              <a:t>Umsetzung des CPF 2023-2027: Priorisierung
</a:t>
            </a:r>
          </a:p>
          <a:p>
            <a:r>
              <a:rPr lang="en-US" sz="2400" dirty="0"/>
              <a:t/>
            </a:r>
          </a:p>
        </p:txBody>
      </p:sp>
      <p:sp>
        <p:nvSpPr>
          <p:cNvPr id="3" name="Content Placeholder 2">
            <a:extLst>
              <a:ext uri="{FF2B5EF4-FFF2-40B4-BE49-F238E27FC236}">
                <a16:creationId xmlns:a16="http://schemas.microsoft.com/office/drawing/2014/main" id="{CB65E0F7-FCC9-4A64-911C-50F2460F3EEB}"/>
              </a:ext>
            </a:extLst>
          </p:cNvPr>
          <p:cNvSpPr>
            <a:spLocks noGrp="1"/>
          </p:cNvSpPr>
          <p:nvPr>
            <p:ph idx="1"/>
          </p:nvPr>
        </p:nvSpPr>
        <p:spPr>
          <a:xfrm>
            <a:off x="668878" y="1012489"/>
            <a:ext cx="10515600" cy="4351338"/>
          </a:xfrm>
        </p:spPr>
        <p:txBody>
          <a:bodyPr>
            <a:noAutofit/>
          </a:bodyPr>
          <a:lstStyle/>
          <a:p>
            <a:r>
              <a:rPr lang="en-US" sz="1600" b="0" i="0" u="none" strike="noStrike" dirty="0">
                <a:highlight>
                  <a:srgbClr val="000000">
                    <a:alpha val="0"/>
                  </a:srgbClr>
                </a:highlight>
                <a:latin typeface="Arial"/>
              </a:rPr>
              <a:t>Die Reformen werden die Branchen priorisieren, die die IFC im Rahmen ihrer Strategie HJ22-26 ermittelt hat, um die Mobilisierung von privatem Kapital zu maximieren. Die endgültigen Prioritäten werden jedoch auf Grundlage weiterer Konsultationen mit der Regierung gewählt.</a:t>
            </a:r>
          </a:p>
          <a:p>
            <a:r>
              <a:rPr lang="en-US" sz="1600" b="0" i="0" u="none" strike="noStrike" dirty="0">
                <a:highlight>
                  <a:srgbClr val="000000">
                    <a:alpha val="0"/>
                  </a:srgbClr>
                </a:highlight>
                <a:latin typeface="Arial"/>
              </a:rPr>
              <a:t>Die Verpflichtungen des Landes zu Zielen und Reformen für die Prävention von Konflikten und Gewalt (PRA) bilden eine der Grundlagen des nächsten CPF.</a:t>
            </a:r>
          </a:p>
          <a:p>
            <a:r>
              <a:rPr lang="en-US" sz="1600" b="0" i="0" u="none" strike="noStrike" dirty="0">
                <a:highlight>
                  <a:srgbClr val="000000">
                    <a:alpha val="0"/>
                  </a:srgbClr>
                </a:highlight>
                <a:latin typeface="Arial"/>
              </a:rPr>
              <a:t>Ergänzend zum derzeitigen, nicht ausgezahlten Portfolio wird die vorgeschlagene Projektpipeline die Haushaltsunterstützung erneut betonen – mit einer möglichen Reihe von drei Development Policy Operations (DPO), die geprüft werden.</a:t>
            </a:r>
          </a:p>
          <a:p>
            <a:r>
              <a:rPr lang="en-US" sz="1600" b="0" i="0" u="none" strike="noStrike" dirty="0">
                <a:highlight>
                  <a:srgbClr val="000000">
                    <a:alpha val="0"/>
                  </a:srgbClr>
                </a:highlight>
                <a:latin typeface="Arial"/>
              </a:rPr>
              <a:t>Dieser Schwerpunkt baut auf (i) dem erneuten Interesse an Regierungsreformen und (ii) der jüngsten Vereinbarung zwischen dem IWF und der Regierung im Rahmen der Extended Credit Facility (ECF) für 2022-2025 auf.</a:t>
            </a:r>
          </a:p>
          <a:p>
            <a:r>
              <a:rPr lang="en-US" sz="1600" b="0" i="0" u="none" strike="noStrike" dirty="0">
                <a:highlight>
                  <a:srgbClr val="000000">
                    <a:alpha val="0"/>
                  </a:srgbClr>
                </a:highlight>
                <a:latin typeface="Arial"/>
              </a:rPr>
              <a:t>Der neue CPF wird zudem räumlich definierte Operationen verstärken.</a:t>
            </a:r>
          </a:p>
          <a:p>
            <a:r>
              <a:rPr lang="en-US" sz="1600" b="0" i="0" u="none" strike="noStrike" dirty="0">
                <a:highlight>
                  <a:srgbClr val="000000">
                    <a:alpha val="0"/>
                  </a:srgbClr>
                </a:highlight>
                <a:latin typeface="Arial"/>
              </a:rPr>
              <a:t>Während der Umsetzung des CPF werden Anstrengungen unternommen, das Portfolio der Weltbank effizient umzusetzen.</a:t>
            </a:r>
          </a:p>
          <a:p>
            <a:r>
              <a:rPr lang="en-US" sz="1600" b="0" i="0" u="none" strike="noStrike" dirty="0">
                <a:highlight>
                  <a:srgbClr val="000000">
                    <a:alpha val="0"/>
                  </a:srgbClr>
                </a:highlight>
                <a:latin typeface="Arial"/>
              </a:rPr>
              <a:t>Der neue CPF wird darauf hinwirken, eine geringere Anzahl von Projekten mit höherem Wert und sektorübergreifenden Zielen zu priorisieren.</a:t>
            </a:r>
          </a:p>
          <a:p>
            <a:r>
              <a:rPr lang="en-US" sz="1600" b="0" i="0" u="none" strike="noStrike" dirty="0">
                <a:highlight>
                  <a:srgbClr val="000000">
                    <a:alpha val="0"/>
                  </a:srgbClr>
                </a:highlight>
                <a:latin typeface="Arial"/>
              </a:rPr>
              <a:t>Relevante (querschnittliche) Themen werden unter anderem Klima, Geschlechtergerechtigkeit, Bürgerbeteiligung und öffentlich-private Zusammenarbeit sein.</a:t>
            </a:r>
          </a:p>
          <a:p>
            <a:r>
              <a:rPr lang="en-US" sz="1600" b="0" i="0" u="none" strike="noStrike" dirty="0">
                <a:highlight>
                  <a:srgbClr val="000000">
                    <a:alpha val="0"/>
                  </a:srgbClr>
                </a:highlight>
                <a:latin typeface="Arial"/>
              </a:rPr>
              <a:t> Der CPF wird zudem die Chancen berücksichtigen, die sich durch regionale Handelsabkommen eröffnen, insbesondere das Afrikanische Kontinentale Freihandelsabkommen.</a:t>
            </a:r>
          </a:p>
        </p:txBody>
      </p:sp>
      <p:sp>
        <p:nvSpPr>
          <p:cNvPr id="7" name="Footer Placeholder 6">
            <a:extLst>
              <a:ext uri="{FF2B5EF4-FFF2-40B4-BE49-F238E27FC236}">
                <a16:creationId xmlns:a16="http://schemas.microsoft.com/office/drawing/2014/main" id="{C5C0DE30-DEC6-46C6-9FC7-8A106AADC3D2}"/>
              </a:ext>
            </a:extLst>
          </p:cNvPr>
          <p:cNvSpPr>
            <a:spLocks noGrp="1"/>
          </p:cNvSpPr>
          <p:nvPr>
            <p:ph type="ftr" sz="quarter" idx="11"/>
          </p:nvPr>
        </p:nvSpPr>
        <p:spPr/>
        <p:txBody>
          <a:bodyPr/>
          <a:lstStyle/>
          <a:p>
            <a:r>
              <a:rPr lang="en-US"/>
              <a:t>CPF 2023-2027. Öffentliche Fassung. Maputo, Mai 2022.</a:t>
            </a:r>
          </a:p>
        </p:txBody>
      </p:sp>
      <p:sp>
        <p:nvSpPr>
          <p:cNvPr id="8" name="Slide Number Placeholder 7">
            <a:extLst>
              <a:ext uri="{FF2B5EF4-FFF2-40B4-BE49-F238E27FC236}">
                <a16:creationId xmlns:a16="http://schemas.microsoft.com/office/drawing/2014/main" id="{A47F46B3-9248-4F35-A216-8D81D0B745B8}"/>
              </a:ext>
            </a:extLst>
          </p:cNvPr>
          <p:cNvSpPr>
            <a:spLocks noGrp="1"/>
          </p:cNvSpPr>
          <p:nvPr>
            <p:ph type="sldNum" sz="quarter" idx="12"/>
          </p:nvPr>
        </p:nvSpPr>
        <p:spPr/>
        <p:txBody>
          <a:bodyPr/>
          <a:lstStyle/>
          <a:p>
            <a:fld id="{B8473C9A-9E91-4025-B5E2-D7B202510636}" type="slidenum">
              <a:rPr lang="en-US" smtClean="0"/>
              <a:t>21</a:t>
            </a:fld>
            <a:endParaRPr lang="en-US" dirty="0"/>
          </a:p>
        </p:txBody>
      </p:sp>
      <p:pic>
        <p:nvPicPr>
          <p:cNvPr id="4" name="Picture 3">
            <a:extLst>
              <a:ext uri="{FF2B5EF4-FFF2-40B4-BE49-F238E27FC236}">
                <a16:creationId xmlns:a16="http://schemas.microsoft.com/office/drawing/2014/main" id="{04754607-0E7F-4AE3-8261-F3B7D4568D6A}"/>
              </a:ext>
            </a:extLst>
          </p:cNvPr>
          <p:cNvPicPr>
            <a:picLocks noChangeAspect="1"/>
          </p:cNvPicPr>
          <p:nvPr/>
        </p:nvPicPr>
        <p:blipFill>
          <a:blip r:embed="rId2"/>
          <a:stretch>
            <a:fillRect/>
          </a:stretch>
        </p:blipFill>
        <p:spPr>
          <a:xfrm>
            <a:off x="213259" y="163494"/>
            <a:ext cx="2316681" cy="463336"/>
          </a:xfrm>
          <a:prstGeom prst="rect">
            <a:avLst/>
          </a:prstGeom>
        </p:spPr>
      </p:pic>
    </p:spTree>
    <p:extLst>
      <p:ext uri="{BB962C8B-B14F-4D97-AF65-F5344CB8AC3E}">
        <p14:creationId xmlns:p14="http://schemas.microsoft.com/office/powerpoint/2010/main" val="196303168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5D60C23-4EAA-4BE3-827F-B4843990E7B3}"/>
              </a:ext>
            </a:extLst>
          </p:cNvPr>
          <p:cNvSpPr txBox="1"/>
          <p:nvPr/>
        </p:nvSpPr>
        <p:spPr>
          <a:xfrm>
            <a:off x="8880804" y="4780312"/>
            <a:ext cx="2355192" cy="430887"/>
          </a:xfrm>
          <a:prstGeom prst="rect">
            <a:avLst/>
          </a:prstGeom>
          <a:noFill/>
        </p:spPr>
        <p:txBody>
          <a:bodyPr wrap="square">
            <a:spAutoFit/>
          </a:bodyPr>
          <a:lstStyle/>
          <a:p>
            <a:r>
              <a:rPr kumimoji="0" lang="en-US" sz="1100" b="0" i="1" u="none" strike="noStrike" kern="1200" cap="none" spc="0" normalizeH="0" baseline="0" noProof="0" dirty="0">
                <a:ln>
                  <a:noFill/>
                </a:ln>
                <a:solidFill>
                  <a:prstClr val="black"/>
                </a:solidFill>
                <a:effectLst/>
                <a:uLnTx/>
                <a:uFillTx/>
                <a:latin typeface="Calibri" panose="020F0502020204030204"/>
                <a:ea typeface="+mn-ea"/>
                <a:cs typeface="+mn-cs"/>
              </a:rPr>
              <a:t>(*) Unter der Annahme der Ausführung der HJ22-Pipeline. Näherungswerte </a:t>
            </a:r>
          </a:p>
        </p:txBody>
      </p:sp>
      <p:sp>
        <p:nvSpPr>
          <p:cNvPr id="9" name="Content Placeholder 2">
            <a:extLst>
              <a:ext uri="{FF2B5EF4-FFF2-40B4-BE49-F238E27FC236}">
                <a16:creationId xmlns:a16="http://schemas.microsoft.com/office/drawing/2014/main" id="{EF7E496C-CAB6-4016-A81A-D54963B89A2D}"/>
              </a:ext>
            </a:extLst>
          </p:cNvPr>
          <p:cNvSpPr txBox="1">
            <a:spLocks/>
          </p:cNvSpPr>
          <p:nvPr/>
        </p:nvSpPr>
        <p:spPr>
          <a:xfrm>
            <a:off x="426138" y="1496144"/>
            <a:ext cx="7460451" cy="37150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solidFill>
                  <a:prstClr val="black"/>
                </a:solidFill>
                <a:latin typeface="Arial" panose="020B0604020202020204" pitchFamily="34" charset="0"/>
                <a:cs typeface="Arial" panose="020B0604020202020204" pitchFamily="34" charset="0"/>
              </a:rPr>
              <a:t>Der neue CPF wird ein Portfolio von 34 Projekten übernehmen (Stand 22. Februar) mit einem Gesamtvolumen von rund 4,1 Mrd. US$, von denen 74 % noch nicht ausgezahlt waren (Stand 22. Februar).</a:t>
            </a:r>
          </a:p>
          <a:p>
            <a:r>
              <a:rPr lang="en-US" sz="1600" dirty="0">
                <a:solidFill>
                  <a:prstClr val="black"/>
                </a:solidFill>
                <a:latin typeface="Arial" panose="020B0604020202020204" pitchFamily="34" charset="0"/>
                <a:cs typeface="Arial" panose="020B0604020202020204" pitchFamily="34" charset="0"/>
              </a:rPr>
              <a:t>15 Projekte (rund 30 % des derzeitigen Portfolios, entsprechend 1,4 Mrd. US$) haben ein Enddatum vor Januar 2025 (Hälfte des CPF-Zyklus).</a:t>
            </a:r>
          </a:p>
          <a:p>
            <a:r>
              <a:rPr lang="en-US" sz="1600" dirty="0">
                <a:solidFill>
                  <a:prstClr val="black"/>
                </a:solidFill>
                <a:latin typeface="Arial" panose="020B0604020202020204" pitchFamily="34" charset="0"/>
                <a:cs typeface="Arial" panose="020B0604020202020204" pitchFamily="34" charset="0"/>
              </a:rPr>
              <a:t>Rund 66 Prozent der gesamten nicht ausgezahlten Mittel entfallen auf die Sektoren Nachhaltige Entwicklung (SD) und Infrastruktur (INFRA).</a:t>
            </a:r>
          </a:p>
          <a:p>
            <a:r>
              <a:rPr lang="en-US" sz="1600" dirty="0">
                <a:solidFill>
                  <a:prstClr val="black"/>
                </a:solidFill>
                <a:latin typeface="Arial" panose="020B0604020202020204" pitchFamily="34" charset="0"/>
                <a:cs typeface="Arial" panose="020B0604020202020204" pitchFamily="34" charset="0"/>
              </a:rPr>
              <a:t>Neue IDA PBA (geschätzt): 1,7 Mrd. US$</a:t>
            </a:r>
          </a:p>
          <a:p>
            <a:r>
              <a:rPr lang="en-US" sz="1600" dirty="0">
                <a:solidFill>
                  <a:prstClr val="black"/>
                </a:solidFill>
                <a:latin typeface="Arial" panose="020B0604020202020204" pitchFamily="34" charset="0"/>
                <a:cs typeface="Arial" panose="020B0604020202020204" pitchFamily="34" charset="0"/>
              </a:rPr>
              <a:t>IDA – PRA-Fenster (potenziell): 700 Mio. US$ (IDA-20)</a:t>
            </a:r>
          </a:p>
          <a:p>
            <a:r>
              <a:rPr lang="en-US" sz="1600" dirty="0">
                <a:solidFill>
                  <a:prstClr val="black"/>
                </a:solidFill>
                <a:latin typeface="Arial" panose="020B0604020202020204" pitchFamily="34" charset="0"/>
                <a:cs typeface="Arial" panose="020B0604020202020204" pitchFamily="34" charset="0"/>
              </a:rPr>
              <a:t>IFC-Investitionen: Die IFC-Strategie sieht Investitionen von bis zu 923 Mrd. US$ (optimistischeres Szenario) vor. </a:t>
            </a:r>
          </a:p>
          <a:p>
            <a:r>
              <a:rPr lang="en-US" sz="1600" dirty="0">
                <a:solidFill>
                  <a:prstClr val="black"/>
                </a:solidFill>
                <a:latin typeface="Arial" panose="020B0604020202020204" pitchFamily="34" charset="0"/>
                <a:cs typeface="Arial" panose="020B0604020202020204" pitchFamily="34" charset="0"/>
              </a:rPr>
              <a:t/>
            </a:r>
          </a:p>
          <a:p>
            <a:r>
              <a:rPr lang="en-US" sz="1600" dirty="0">
                <a:solidFill>
                  <a:prstClr val="black"/>
                </a:solidFill>
                <a:latin typeface="Arial" panose="020B0604020202020204" pitchFamily="34" charset="0"/>
                <a:cs typeface="Arial" panose="020B0604020202020204" pitchFamily="34" charset="0"/>
              </a:rPr>
              <a:t/>
            </a:r>
          </a:p>
        </p:txBody>
      </p:sp>
      <p:sp>
        <p:nvSpPr>
          <p:cNvPr id="16" name="Title 1">
            <a:extLst>
              <a:ext uri="{FF2B5EF4-FFF2-40B4-BE49-F238E27FC236}">
                <a16:creationId xmlns:a16="http://schemas.microsoft.com/office/drawing/2014/main" id="{FD72820B-0641-4C78-B07B-4B4F61ABAE47}"/>
              </a:ext>
            </a:extLst>
          </p:cNvPr>
          <p:cNvSpPr>
            <a:spLocks noGrp="1"/>
          </p:cNvSpPr>
          <p:nvPr>
            <p:ph type="title"/>
          </p:nvPr>
        </p:nvSpPr>
        <p:spPr>
          <a:xfrm>
            <a:off x="676274" y="195177"/>
            <a:ext cx="10515600" cy="717550"/>
          </a:xfrm>
        </p:spPr>
        <p:txBody>
          <a:bodyPr>
            <a:normAutofit fontScale="90000"/>
          </a:bodyPr>
          <a:lstStyle/>
          <a:p>
            <a:r>
              <a:rPr lang="en-US" sz="2400" dirty="0"/>
              <a:t>Potenziell verfügbare Mittel 
</a:t>
            </a:r>
          </a:p>
          <a:p>
            <a:r>
              <a:rPr lang="en-US" sz="2400" dirty="0"/>
              <a:t/>
            </a:r>
          </a:p>
        </p:txBody>
      </p:sp>
      <p:graphicFrame>
        <p:nvGraphicFramePr>
          <p:cNvPr id="13" name="Chart 12">
            <a:extLst>
              <a:ext uri="{FF2B5EF4-FFF2-40B4-BE49-F238E27FC236}">
                <a16:creationId xmlns:a16="http://schemas.microsoft.com/office/drawing/2014/main" id="{43D818A6-8DA6-4E48-8705-2DD87F03BCBD}"/>
              </a:ext>
            </a:extLst>
          </p:cNvPr>
          <p:cNvGraphicFramePr>
            <a:graphicFrameLocks/>
          </p:cNvGraphicFramePr>
          <p:nvPr>
            <p:extLst>
              <p:ext uri="{D42A27DB-BD31-4B8C-83A1-F6EECF244321}">
                <p14:modId xmlns:p14="http://schemas.microsoft.com/office/powerpoint/2010/main" val="2190897355"/>
              </p:ext>
            </p:extLst>
          </p:nvPr>
        </p:nvGraphicFramePr>
        <p:xfrm>
          <a:off x="7839075" y="931863"/>
          <a:ext cx="4019550" cy="3565073"/>
        </p:xfrm>
        <a:graphic>
          <a:graphicData uri="http://schemas.openxmlformats.org/drawingml/2006/chart">
            <c:chart xmlns:c="http://schemas.openxmlformats.org/drawingml/2006/chart" xmlns:r="http://schemas.openxmlformats.org/officeDocument/2006/relationships" r:id="rId3"/>
          </a:graphicData>
        </a:graphic>
      </p:graphicFrame>
      <p:sp>
        <p:nvSpPr>
          <p:cNvPr id="6" name="Footer Placeholder 5">
            <a:extLst>
              <a:ext uri="{FF2B5EF4-FFF2-40B4-BE49-F238E27FC236}">
                <a16:creationId xmlns:a16="http://schemas.microsoft.com/office/drawing/2014/main" id="{3B730F81-412E-4CD4-8242-B4D118CB1F2C}"/>
              </a:ext>
            </a:extLst>
          </p:cNvPr>
          <p:cNvSpPr>
            <a:spLocks noGrp="1"/>
          </p:cNvSpPr>
          <p:nvPr>
            <p:ph type="ftr" sz="quarter" idx="11"/>
          </p:nvPr>
        </p:nvSpPr>
        <p:spPr>
          <a:xfrm>
            <a:off x="3581401" y="5920922"/>
            <a:ext cx="4114800" cy="365125"/>
          </a:xfrm>
        </p:spPr>
        <p:txBody>
          <a:bodyPr/>
          <a:lstStyle/>
          <a:p>
            <a:r>
              <a:rPr lang="en-US"/>
              <a:t>CPF 2023-2027. Öffentliche Fassung. Maputo, Mai 2022.</a:t>
            </a:r>
          </a:p>
        </p:txBody>
      </p:sp>
      <p:sp>
        <p:nvSpPr>
          <p:cNvPr id="7" name="Slide Number Placeholder 6">
            <a:extLst>
              <a:ext uri="{FF2B5EF4-FFF2-40B4-BE49-F238E27FC236}">
                <a16:creationId xmlns:a16="http://schemas.microsoft.com/office/drawing/2014/main" id="{14466471-119E-4F6D-AB99-1533AE3B4EB8}"/>
              </a:ext>
            </a:extLst>
          </p:cNvPr>
          <p:cNvSpPr>
            <a:spLocks noGrp="1"/>
          </p:cNvSpPr>
          <p:nvPr>
            <p:ph type="sldNum" sz="quarter" idx="12"/>
          </p:nvPr>
        </p:nvSpPr>
        <p:spPr/>
        <p:txBody>
          <a:bodyPr/>
          <a:lstStyle/>
          <a:p>
            <a:fld id="{B8473C9A-9E91-4025-B5E2-D7B202510636}" type="slidenum">
              <a:rPr lang="en-US" smtClean="0"/>
              <a:t>22</a:t>
            </a:fld>
            <a:endParaRPr lang="en-US" dirty="0"/>
          </a:p>
        </p:txBody>
      </p:sp>
      <p:pic>
        <p:nvPicPr>
          <p:cNvPr id="2" name="Picture 1">
            <a:extLst>
              <a:ext uri="{FF2B5EF4-FFF2-40B4-BE49-F238E27FC236}">
                <a16:creationId xmlns:a16="http://schemas.microsoft.com/office/drawing/2014/main" id="{23BF31A8-AA25-4A78-B99A-C6890A445C11}"/>
              </a:ext>
            </a:extLst>
          </p:cNvPr>
          <p:cNvPicPr>
            <a:picLocks noChangeAspect="1"/>
          </p:cNvPicPr>
          <p:nvPr/>
        </p:nvPicPr>
        <p:blipFill>
          <a:blip r:embed="rId4"/>
          <a:stretch>
            <a:fillRect/>
          </a:stretch>
        </p:blipFill>
        <p:spPr>
          <a:xfrm>
            <a:off x="676274" y="176041"/>
            <a:ext cx="2316681" cy="463336"/>
          </a:xfrm>
          <a:prstGeom prst="rect">
            <a:avLst/>
          </a:prstGeom>
        </p:spPr>
      </p:pic>
    </p:spTree>
    <p:extLst>
      <p:ext uri="{BB962C8B-B14F-4D97-AF65-F5344CB8AC3E}">
        <p14:creationId xmlns:p14="http://schemas.microsoft.com/office/powerpoint/2010/main" val="228573786"/>
      </p:ext>
    </p:extLst>
  </p:cSld>
  <p:clrMapOvr>
    <a:overrideClrMapping bg1="lt1" tx1="dk1" bg2="lt2" tx2="dk2" accent1="accent1" accent2="accent2" accent3="accent3" accent4="accent4" accent5="accent5" accent6="accent6" hlink="hlink" folHlink="folHlink"/>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73C1A-F33C-43DA-8F19-DDC23E574DBE}"/>
              </a:ext>
            </a:extLst>
          </p:cNvPr>
          <p:cNvSpPr>
            <a:spLocks noGrp="1"/>
          </p:cNvSpPr>
          <p:nvPr>
            <p:ph type="title"/>
          </p:nvPr>
        </p:nvSpPr>
        <p:spPr/>
        <p:txBody>
          <a:bodyPr/>
          <a:lstStyle/>
          <a:p>
            <a:r>
              <a:rPr lang="en-US" dirty="0"/>
              <a:t>HLO 1: Inklusivere Institutionen
</a:t>
            </a:r>
          </a:p>
          <a:p>
            <a:r>
              <a:rPr lang="en-US" dirty="0"/>
              <a:t/>
            </a:r>
          </a:p>
        </p:txBody>
      </p:sp>
      <p:sp>
        <p:nvSpPr>
          <p:cNvPr id="3" name="Content Placeholder 2">
            <a:extLst>
              <a:ext uri="{FF2B5EF4-FFF2-40B4-BE49-F238E27FC236}">
                <a16:creationId xmlns:a16="http://schemas.microsoft.com/office/drawing/2014/main" id="{0AAF4E04-EEC2-485A-878B-D07B4647ED1C}"/>
              </a:ext>
            </a:extLst>
          </p:cNvPr>
          <p:cNvSpPr>
            <a:spLocks noGrp="1"/>
          </p:cNvSpPr>
          <p:nvPr>
            <p:ph idx="1"/>
          </p:nvPr>
        </p:nvSpPr>
        <p:spPr>
          <a:xfrm>
            <a:off x="838200" y="1438032"/>
            <a:ext cx="10515600" cy="4918318"/>
          </a:xfrm>
        </p:spPr>
        <p:txBody>
          <a:bodyPr>
            <a:noAutofit/>
          </a:bodyPr>
          <a:lstStyle/>
          <a:p>
            <a:r>
              <a:rPr lang="en-US" sz="1600" b="1" kern="1200" dirty="0">
                <a:solidFill>
                  <a:schemeClr val="accent1">
                    <a:lumMod val="50000"/>
                  </a:schemeClr>
                </a:solidFill>
                <a:effectLst/>
                <a:ea typeface="Times New Roman" panose="02020603050405020304" pitchFamily="18" charset="0"/>
              </a:rPr>
              <a:t>Ziel 1: Verbesserung des makroökonomischen Managements, um eine resiliente und nachhaltige Schaffung von Arbeitsplätzen zu erleichtern, die Kapazität für produktive Investitionen (öffentlich und privat) zu erhöhen und das Staatsrisiko zu verringern.</a:t>
            </a:r>
          </a:p>
          <a:p>
            <a:r>
              <a:rPr lang="en-US" sz="1600" b="1" kern="1200" dirty="0">
                <a:solidFill>
                  <a:schemeClr val="accent1">
                    <a:lumMod val="50000"/>
                  </a:schemeClr>
                </a:solidFill>
                <a:effectLst/>
                <a:ea typeface="Times New Roman" panose="02020603050405020304" pitchFamily="18" charset="0"/>
              </a:rPr>
              <a:t/>
            </a:r>
          </a:p>
          <a:p>
            <a:r>
              <a:rPr lang="en-US" sz="1600" b="1" kern="1200" dirty="0">
                <a:solidFill>
                  <a:schemeClr val="accent1">
                    <a:lumMod val="50000"/>
                  </a:schemeClr>
                </a:solidFill>
                <a:effectLst/>
                <a:ea typeface="Times New Roman" panose="02020603050405020304" pitchFamily="18" charset="0"/>
              </a:rPr>
              <a:t>Ziel 2: Steigerung der Wirksamkeit des öffentlichen Sektors zur Verbesserung der Qualität, Nachhaltigkeit und Gerechtigkeit der öffentlichen Politik. Schwerpunkt auf:</a:t>
            </a:r>
          </a:p>
          <a:p>
            <a:r>
              <a:rPr lang="en-US" sz="1600" b="1" kern="1200" dirty="0">
                <a:solidFill>
                  <a:schemeClr val="accent1">
                    <a:lumMod val="50000"/>
                  </a:schemeClr>
                </a:solidFill>
                <a:effectLst/>
                <a:ea typeface="Times New Roman" panose="02020603050405020304" pitchFamily="18" charset="0"/>
              </a:rPr>
              <a:t>Kernfunktionen des Staates – etwa der Verbesserung des Finanzmanagements (PFM) und des öffentlichen Beschaffungswesens;</a:t>
            </a:r>
          </a:p>
          <a:p>
            <a:r>
              <a:rPr lang="en-US" sz="1600" b="1" kern="1200" dirty="0">
                <a:solidFill>
                  <a:schemeClr val="accent1">
                    <a:lumMod val="50000"/>
                  </a:schemeClr>
                </a:solidFill>
                <a:effectLst/>
                <a:ea typeface="Times New Roman" panose="02020603050405020304" pitchFamily="18" charset="0"/>
              </a:rPr>
              <a:t>Stärkung der Bürgerbeteiligung und der externen Kontrolle;</a:t>
            </a:r>
          </a:p>
          <a:p>
            <a:r>
              <a:rPr lang="en-US" sz="1600" b="1" kern="1200" dirty="0">
                <a:solidFill>
                  <a:schemeClr val="accent1">
                    <a:lumMod val="50000"/>
                  </a:schemeClr>
                </a:solidFill>
                <a:effectLst/>
                <a:ea typeface="Times New Roman" panose="02020603050405020304" pitchFamily="18" charset="0"/>
              </a:rPr>
              <a:t>operative Dezentralisierung der Ausgaben für Gesundheit und Bildung.</a:t>
            </a:r>
          </a:p>
          <a:p>
            <a:r>
              <a:rPr lang="en-US" sz="1600" b="1" kern="1200" dirty="0">
                <a:solidFill>
                  <a:schemeClr val="accent1">
                    <a:lumMod val="50000"/>
                  </a:schemeClr>
                </a:solidFill>
                <a:effectLst/>
                <a:ea typeface="Times New Roman" panose="02020603050405020304" pitchFamily="18" charset="0"/>
              </a:rPr>
              <a:t>Ein Schwerpunkt wird zudem auf der Erhöhung der Transparenz und des Zugangs zu Informationen liegen.</a:t>
            </a:r>
          </a:p>
          <a:p>
            <a:r>
              <a:rPr lang="en-US" sz="1600" b="1" kern="1200" dirty="0">
                <a:solidFill>
                  <a:schemeClr val="accent1">
                    <a:lumMod val="50000"/>
                  </a:schemeClr>
                </a:solidFill>
                <a:effectLst/>
                <a:ea typeface="Times New Roman" panose="02020603050405020304" pitchFamily="18" charset="0"/>
              </a:rPr>
              <a:t/>
            </a:r>
          </a:p>
          <a:p>
            <a:r>
              <a:rPr lang="en-US" sz="1600" b="1" kern="1200" dirty="0">
                <a:solidFill>
                  <a:schemeClr val="accent1">
                    <a:lumMod val="50000"/>
                  </a:schemeClr>
                </a:solidFill>
                <a:effectLst/>
                <a:ea typeface="Times New Roman" panose="02020603050405020304" pitchFamily="18" charset="0"/>
              </a:rPr>
              <a:t>Ziel 3: Stärkung der politischen Koordination sowie der Vorsorge- und Reaktionsfähigkeit der Regierung gegenüber Naturkatastrophen und anderen mehrdimensionalen Schocks. Das Katastrophenrisikomanagement (DRM) war ein Bereich mit beispielhaften Ergebnissen im vergangenen CPF. Ein stärkerer Schwerpunkt auf Prävention/Vorsorge wird vorgeschlagen, insbesondere im Hinblick auf die Risiken von Konflikten und Gewalt.</a:t>
            </a:r>
          </a:p>
          <a:p>
            <a:r>
              <a:rPr lang="en-US" sz="1600" b="1" kern="1200" dirty="0">
                <a:solidFill>
                  <a:schemeClr val="accent1">
                    <a:lumMod val="50000"/>
                  </a:schemeClr>
                </a:solidFill>
                <a:effectLst/>
                <a:ea typeface="Times New Roman" panose="02020603050405020304" pitchFamily="18" charset="0"/>
              </a:rPr>
              <a:t/>
            </a:r>
          </a:p>
          <a:p>
            <a:r>
              <a:rPr lang="en-US" sz="1600" b="1" kern="1200" dirty="0">
                <a:solidFill>
                  <a:schemeClr val="accent1">
                    <a:lumMod val="50000"/>
                  </a:schemeClr>
                </a:solidFill>
                <a:effectLst/>
                <a:ea typeface="Times New Roman" panose="02020603050405020304" pitchFamily="18" charset="0"/>
              </a:rPr>
              <a:t/>
            </a:r>
          </a:p>
          <a:p>
            <a:r>
              <a:rPr lang="en-US" sz="1600" b="1" kern="1200" dirty="0">
                <a:solidFill>
                  <a:schemeClr val="accent1">
                    <a:lumMod val="50000"/>
                  </a:schemeClr>
                </a:solidFill>
                <a:effectLst/>
                <a:ea typeface="Times New Roman" panose="02020603050405020304" pitchFamily="18" charset="0"/>
              </a:rPr>
              <a:t/>
            </a:r>
          </a:p>
          <a:p>
            <a:r>
              <a:rPr lang="en-US" sz="1600" b="1" kern="1200" dirty="0">
                <a:solidFill>
                  <a:schemeClr val="accent1">
                    <a:lumMod val="50000"/>
                  </a:schemeClr>
                </a:solidFill>
                <a:effectLst/>
                <a:ea typeface="Times New Roman" panose="02020603050405020304" pitchFamily="18" charset="0"/>
              </a:rPr>
              <a:t/>
            </a:r>
          </a:p>
          <a:p>
            <a:r>
              <a:rPr lang="en-US" sz="1600" b="1" kern="1200" dirty="0">
                <a:solidFill>
                  <a:schemeClr val="accent1">
                    <a:lumMod val="50000"/>
                  </a:schemeClr>
                </a:solidFill>
                <a:effectLst/>
                <a:ea typeface="Times New Roman" panose="02020603050405020304" pitchFamily="18" charset="0"/>
              </a:rPr>
              <a:t/>
            </a:r>
          </a:p>
        </p:txBody>
      </p:sp>
      <p:sp>
        <p:nvSpPr>
          <p:cNvPr id="7" name="Footer Placeholder 6">
            <a:extLst>
              <a:ext uri="{FF2B5EF4-FFF2-40B4-BE49-F238E27FC236}">
                <a16:creationId xmlns:a16="http://schemas.microsoft.com/office/drawing/2014/main" id="{57D7A019-3AE6-49C3-97A9-030D351C2B3C}"/>
              </a:ext>
            </a:extLst>
          </p:cNvPr>
          <p:cNvSpPr>
            <a:spLocks noGrp="1"/>
          </p:cNvSpPr>
          <p:nvPr>
            <p:ph type="ftr" sz="quarter" idx="11"/>
          </p:nvPr>
        </p:nvSpPr>
        <p:spPr/>
        <p:txBody>
          <a:bodyPr/>
          <a:lstStyle/>
          <a:p>
            <a:r>
              <a:rPr lang="en-US"/>
              <a:t>CPF 2023-2027. Öffentliche Fassung. Maputo, Mai 2022.</a:t>
            </a:r>
          </a:p>
        </p:txBody>
      </p:sp>
      <p:sp>
        <p:nvSpPr>
          <p:cNvPr id="8" name="Slide Number Placeholder 7">
            <a:extLst>
              <a:ext uri="{FF2B5EF4-FFF2-40B4-BE49-F238E27FC236}">
                <a16:creationId xmlns:a16="http://schemas.microsoft.com/office/drawing/2014/main" id="{E808550B-56D7-415A-8CC6-F671D44F6CB5}"/>
              </a:ext>
            </a:extLst>
          </p:cNvPr>
          <p:cNvSpPr>
            <a:spLocks noGrp="1"/>
          </p:cNvSpPr>
          <p:nvPr>
            <p:ph type="sldNum" sz="quarter" idx="12"/>
          </p:nvPr>
        </p:nvSpPr>
        <p:spPr/>
        <p:txBody>
          <a:bodyPr/>
          <a:lstStyle/>
          <a:p>
            <a:fld id="{B8473C9A-9E91-4025-B5E2-D7B202510636}" type="slidenum">
              <a:rPr lang="en-US" smtClean="0"/>
              <a:t>23</a:t>
            </a:fld>
            <a:endParaRPr lang="en-US" dirty="0"/>
          </a:p>
        </p:txBody>
      </p:sp>
      <p:pic>
        <p:nvPicPr>
          <p:cNvPr id="4" name="Picture 3">
            <a:extLst>
              <a:ext uri="{FF2B5EF4-FFF2-40B4-BE49-F238E27FC236}">
                <a16:creationId xmlns:a16="http://schemas.microsoft.com/office/drawing/2014/main" id="{F26FCB00-B725-46EA-9B65-E447CA3C6A3B}"/>
              </a:ext>
            </a:extLst>
          </p:cNvPr>
          <p:cNvPicPr>
            <a:picLocks noChangeAspect="1"/>
          </p:cNvPicPr>
          <p:nvPr/>
        </p:nvPicPr>
        <p:blipFill>
          <a:blip r:embed="rId3"/>
          <a:stretch>
            <a:fillRect/>
          </a:stretch>
        </p:blipFill>
        <p:spPr>
          <a:xfrm>
            <a:off x="838200" y="365125"/>
            <a:ext cx="2316681" cy="463336"/>
          </a:xfrm>
          <a:prstGeom prst="rect">
            <a:avLst/>
          </a:prstGeom>
        </p:spPr>
      </p:pic>
    </p:spTree>
    <p:extLst>
      <p:ext uri="{BB962C8B-B14F-4D97-AF65-F5344CB8AC3E}">
        <p14:creationId xmlns:p14="http://schemas.microsoft.com/office/powerpoint/2010/main" val="129404696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E99CA-4701-471B-B315-854A3422944A}"/>
              </a:ext>
            </a:extLst>
          </p:cNvPr>
          <p:cNvSpPr>
            <a:spLocks noGrp="1"/>
          </p:cNvSpPr>
          <p:nvPr>
            <p:ph type="title"/>
          </p:nvPr>
        </p:nvSpPr>
        <p:spPr>
          <a:xfrm>
            <a:off x="838200" y="365125"/>
            <a:ext cx="10515600" cy="1036862"/>
          </a:xfrm>
        </p:spPr>
        <p:txBody>
          <a:bodyPr/>
          <a:lstStyle/>
          <a:p>
            <a:r>
              <a:rPr lang="en-US" dirty="0"/>
              <a:t>HLO 2: Steigerung der inklusiven Schaffung von Arbeitsplätzen</a:t>
            </a:r>
          </a:p>
        </p:txBody>
      </p:sp>
      <p:sp>
        <p:nvSpPr>
          <p:cNvPr id="3" name="Content Placeholder 2">
            <a:extLst>
              <a:ext uri="{FF2B5EF4-FFF2-40B4-BE49-F238E27FC236}">
                <a16:creationId xmlns:a16="http://schemas.microsoft.com/office/drawing/2014/main" id="{2D9E4DBD-86F0-4B7F-911F-E98F78863434}"/>
              </a:ext>
            </a:extLst>
          </p:cNvPr>
          <p:cNvSpPr>
            <a:spLocks noGrp="1"/>
          </p:cNvSpPr>
          <p:nvPr>
            <p:ph idx="1"/>
          </p:nvPr>
        </p:nvSpPr>
        <p:spPr>
          <a:xfrm>
            <a:off x="430306" y="1131205"/>
            <a:ext cx="11564470" cy="5097473"/>
          </a:xfrm>
        </p:spPr>
        <p:txBody>
          <a:bodyPr>
            <a:noAutofit/>
          </a:bodyPr>
          <a:lstStyle/>
          <a:p>
            <a:r>
              <a:rPr lang="en-US" sz="1600" b="1" dirty="0">
                <a:solidFill>
                  <a:schemeClr val="accent1">
                    <a:lumMod val="75000"/>
                  </a:schemeClr>
                </a:solidFill>
                <a:latin typeface="+mn-lt"/>
                <a:cs typeface="Calibri" panose="020F0502020204030204" pitchFamily="34" charset="0"/>
              </a:rPr>
              <a:t>Ziel 4: Nachhaltiges Wachstum ausgewählter Sektoren natürlicher Ressourcen ermöglichen und dabei regionale und globale komparative Vorteile nutzen. Drei Zwischenziele: 
</a:t>
            </a:r>
          </a:p>
          <a:p>
            <a:r>
              <a:rPr lang="en-US" sz="1600" b="1" dirty="0">
                <a:solidFill>
                  <a:schemeClr val="accent1">
                    <a:lumMod val="75000"/>
                  </a:schemeClr>
                </a:solidFill>
                <a:latin typeface="+mn-lt"/>
                <a:cs typeface="Calibri" panose="020F0502020204030204" pitchFamily="34" charset="0"/>
              </a:rPr>
              <a:t>Stärkung der Nachhaltigkeit von Investitionen in den Erdgas- und Bergbausektoren, indem die negativen externen Effekte des Sektors angegangen und die positiven Folgewirkungen genutzt werden
</a:t>
            </a:r>
          </a:p>
          <a:p>
            <a:r>
              <a:rPr lang="en-US" sz="1600" b="1" dirty="0">
                <a:solidFill>
                  <a:schemeClr val="accent1">
                    <a:lumMod val="75000"/>
                  </a:schemeClr>
                </a:solidFill>
                <a:latin typeface="+mn-lt"/>
                <a:cs typeface="Calibri" panose="020F0502020204030204" pitchFamily="34" charset="0"/>
              </a:rPr>
              <a:t>Steigerung der landwirtschaftlichen Produktivität 
</a:t>
            </a:r>
          </a:p>
          <a:p>
            <a:r>
              <a:rPr lang="en-US" sz="1600" b="1" dirty="0">
                <a:solidFill>
                  <a:schemeClr val="accent1">
                    <a:lumMod val="75000"/>
                  </a:schemeClr>
                </a:solidFill>
                <a:latin typeface="+mn-lt"/>
                <a:cs typeface="Calibri" panose="020F0502020204030204" pitchFamily="34" charset="0"/>
              </a:rPr>
              <a:t>Stärkung des Managements natürlicher Ressourcen und Freisetzung privater Investitionen im grünen Sektor, einschließlich Ökotourismus, Fischerei und Forstwirtschaft</a:t>
            </a:r>
          </a:p>
          <a:p>
            <a:r>
              <a:rPr lang="en-US" sz="1600" b="1" dirty="0">
                <a:solidFill>
                  <a:schemeClr val="accent1">
                    <a:lumMod val="75000"/>
                  </a:schemeClr>
                </a:solidFill>
                <a:latin typeface="+mn-lt"/>
                <a:cs typeface="Calibri" panose="020F0502020204030204" pitchFamily="34" charset="0"/>
              </a:rPr>
              <a:t/>
            </a:r>
          </a:p>
          <a:p>
            <a:r>
              <a:rPr lang="en-US" sz="1600" b="1" dirty="0">
                <a:solidFill>
                  <a:schemeClr val="accent1">
                    <a:lumMod val="75000"/>
                  </a:schemeClr>
                </a:solidFill>
                <a:latin typeface="+mn-lt"/>
                <a:cs typeface="Calibri" panose="020F0502020204030204" pitchFamily="34" charset="0"/>
              </a:rPr>
              <a:t>Ziel 5: Förderung des Produktivitätswachstums in ausgewählten arbeitsintensiven Branchen. Wie? Dienstleistungen, KMU, grüne und blaue Wirtschaft; sektoraler und territorialer Fokus; Maximierung der Folgewirkungen von Großprojekten, unter anderem rund um Verkehrskorridore, und Informalität (politische Erprobung und Wirkungsbewertung).</a:t>
            </a:r>
          </a:p>
          <a:p>
            <a:r>
              <a:rPr lang="en-US" sz="1600" b="1" dirty="0">
                <a:solidFill>
                  <a:schemeClr val="accent1">
                    <a:lumMod val="75000"/>
                  </a:schemeClr>
                </a:solidFill>
                <a:latin typeface="+mn-lt"/>
                <a:cs typeface="Calibri" panose="020F0502020204030204" pitchFamily="34" charset="0"/>
              </a:rPr>
              <a:t>
</a:t>
            </a:r>
          </a:p>
          <a:p>
            <a:r>
              <a:rPr lang="en-US" sz="1600" b="1" dirty="0">
                <a:solidFill>
                  <a:schemeClr val="accent1">
                    <a:lumMod val="75000"/>
                  </a:schemeClr>
                </a:solidFill>
                <a:latin typeface="+mn-lt"/>
                <a:cs typeface="Calibri" panose="020F0502020204030204" pitchFamily="34" charset="0"/>
              </a:rPr>
              <a:t>Ziel 6: Ausweitung erschwinglicher, zuverlässiger und klimaresilienter Dienste, um den Zugang der Armen zu verbessern sowie eine nachhaltige Urbanisierung und wirtschaftliche Agglomeration zu fördern. 
</a:t>
            </a:r>
          </a:p>
          <a:p>
            <a:r>
              <a:rPr lang="en-US" sz="1600" b="1" dirty="0">
                <a:solidFill>
                  <a:schemeClr val="accent1">
                    <a:lumMod val="75000"/>
                  </a:schemeClr>
                </a:solidFill>
                <a:latin typeface="+mn-lt"/>
                <a:cs typeface="Calibri" panose="020F0502020204030204" pitchFamily="34" charset="0"/>
              </a:rPr>
              <a:t>Während das bestehende Portfolio weiterhin Infrastrukturinvestitionen in ländlichen Gebieten finanziert, werden neue Aktivitäten Infrastrukturinvestitionen betonen, die das Wachstum unterstützen können, unter anderem in den Bereichen digitale Wirtschaft und Straßen. 
</a:t>
            </a:r>
          </a:p>
          <a:p>
            <a:r>
              <a:rPr lang="en-US" sz="1600" b="1" dirty="0">
                <a:solidFill>
                  <a:schemeClr val="accent1">
                    <a:lumMod val="75000"/>
                  </a:schemeClr>
                </a:solidFill>
                <a:latin typeface="+mn-lt"/>
                <a:cs typeface="Calibri" panose="020F0502020204030204" pitchFamily="34" charset="0"/>
              </a:rPr>
              <a:t/>
            </a:r>
          </a:p>
          <a:p>
            <a:r>
              <a:rPr lang="en-US" sz="1600" b="1" dirty="0">
                <a:solidFill>
                  <a:schemeClr val="accent1">
                    <a:lumMod val="75000"/>
                  </a:schemeClr>
                </a:solidFill>
                <a:latin typeface="+mn-lt"/>
                <a:cs typeface="Calibri" panose="020F0502020204030204" pitchFamily="34" charset="0"/>
              </a:rPr>
              <a:t>Der nächste CPF wird der Fähigkeit der Regierung Vorrang einräumen, den Urbanisierungsprozess so zu steuern, dass eine Land-Stadt-Migration ermöglicht wird. Trotz einiger positiver Erfolge im vorherigen CPF-Zyklus beurteilte der SCD den Prozess des Urbanisierungsmanagements als stagnierend. </a:t>
            </a:r>
          </a:p>
        </p:txBody>
      </p:sp>
      <p:sp>
        <p:nvSpPr>
          <p:cNvPr id="7" name="Footer Placeholder 6">
            <a:extLst>
              <a:ext uri="{FF2B5EF4-FFF2-40B4-BE49-F238E27FC236}">
                <a16:creationId xmlns:a16="http://schemas.microsoft.com/office/drawing/2014/main" id="{41635F35-5505-4957-B463-781A6222E420}"/>
              </a:ext>
            </a:extLst>
          </p:cNvPr>
          <p:cNvSpPr>
            <a:spLocks noGrp="1"/>
          </p:cNvSpPr>
          <p:nvPr>
            <p:ph type="ftr" sz="quarter" idx="11"/>
          </p:nvPr>
        </p:nvSpPr>
        <p:spPr/>
        <p:txBody>
          <a:bodyPr/>
          <a:lstStyle/>
          <a:p>
            <a:r>
              <a:rPr lang="en-US"/>
              <a:t>CPF 2023-2027. Öffentliche Fassung. Maputo, Mai 2022.</a:t>
            </a:r>
          </a:p>
        </p:txBody>
      </p:sp>
      <p:sp>
        <p:nvSpPr>
          <p:cNvPr id="8" name="Slide Number Placeholder 7">
            <a:extLst>
              <a:ext uri="{FF2B5EF4-FFF2-40B4-BE49-F238E27FC236}">
                <a16:creationId xmlns:a16="http://schemas.microsoft.com/office/drawing/2014/main" id="{3F38001A-DA6B-488C-A464-0037CCFAE83C}"/>
              </a:ext>
            </a:extLst>
          </p:cNvPr>
          <p:cNvSpPr>
            <a:spLocks noGrp="1"/>
          </p:cNvSpPr>
          <p:nvPr>
            <p:ph type="sldNum" sz="quarter" idx="12"/>
          </p:nvPr>
        </p:nvSpPr>
        <p:spPr/>
        <p:txBody>
          <a:bodyPr/>
          <a:lstStyle/>
          <a:p>
            <a:fld id="{B8473C9A-9E91-4025-B5E2-D7B202510636}" type="slidenum">
              <a:rPr lang="en-US" smtClean="0"/>
              <a:t>24</a:t>
            </a:fld>
            <a:endParaRPr lang="en-US" dirty="0"/>
          </a:p>
        </p:txBody>
      </p:sp>
      <p:pic>
        <p:nvPicPr>
          <p:cNvPr id="4" name="Picture 3">
            <a:extLst>
              <a:ext uri="{FF2B5EF4-FFF2-40B4-BE49-F238E27FC236}">
                <a16:creationId xmlns:a16="http://schemas.microsoft.com/office/drawing/2014/main" id="{2011BC4A-1F14-4C1E-8CCE-B1DBAAC5B4BB}"/>
              </a:ext>
            </a:extLst>
          </p:cNvPr>
          <p:cNvPicPr>
            <a:picLocks noChangeAspect="1"/>
          </p:cNvPicPr>
          <p:nvPr/>
        </p:nvPicPr>
        <p:blipFill>
          <a:blip r:embed="rId3"/>
          <a:stretch>
            <a:fillRect/>
          </a:stretch>
        </p:blipFill>
        <p:spPr>
          <a:xfrm>
            <a:off x="430306" y="165986"/>
            <a:ext cx="2316681" cy="463336"/>
          </a:xfrm>
          <a:prstGeom prst="rect">
            <a:avLst/>
          </a:prstGeom>
        </p:spPr>
      </p:pic>
    </p:spTree>
    <p:extLst>
      <p:ext uri="{BB962C8B-B14F-4D97-AF65-F5344CB8AC3E}">
        <p14:creationId xmlns:p14="http://schemas.microsoft.com/office/powerpoint/2010/main" val="33679059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A10FE-8054-40F6-8E7D-D8D483647B55}"/>
              </a:ext>
            </a:extLst>
          </p:cNvPr>
          <p:cNvSpPr>
            <a:spLocks noGrp="1"/>
          </p:cNvSpPr>
          <p:nvPr>
            <p:ph type="title"/>
          </p:nvPr>
        </p:nvSpPr>
        <p:spPr/>
        <p:txBody>
          <a:bodyPr/>
          <a:lstStyle/>
          <a:p>
            <a:r>
              <a:rPr lang="en-US" dirty="0"/>
              <a:t>HLO 3: Verbesserung des Humankapitals und Stärkung der Frauen </a:t>
            </a:r>
          </a:p>
        </p:txBody>
      </p:sp>
      <p:sp>
        <p:nvSpPr>
          <p:cNvPr id="3" name="Content Placeholder 2">
            <a:extLst>
              <a:ext uri="{FF2B5EF4-FFF2-40B4-BE49-F238E27FC236}">
                <a16:creationId xmlns:a16="http://schemas.microsoft.com/office/drawing/2014/main" id="{00A5A4FC-2740-42EE-8E12-6101A40FDE38}"/>
              </a:ext>
            </a:extLst>
          </p:cNvPr>
          <p:cNvSpPr>
            <a:spLocks noGrp="1"/>
          </p:cNvSpPr>
          <p:nvPr>
            <p:ph idx="1"/>
          </p:nvPr>
        </p:nvSpPr>
        <p:spPr>
          <a:xfrm>
            <a:off x="838200" y="1301675"/>
            <a:ext cx="10515600" cy="4875288"/>
          </a:xfrm>
        </p:spPr>
        <p:txBody>
          <a:bodyPr>
            <a:normAutofit lnSpcReduction="10000"/>
          </a:bodyPr>
          <a:lstStyle/>
          <a:p>
            <a:r>
              <a:rPr lang="en-US" sz="1600" b="1" dirty="0">
                <a:solidFill>
                  <a:schemeClr val="accent1">
                    <a:lumMod val="75000"/>
                  </a:schemeClr>
                </a:solidFill>
                <a:latin typeface="+mn-lt"/>
                <a:cs typeface="Calibri" panose="020F0502020204030204" pitchFamily="34" charset="0"/>
              </a:rPr>
              <a:t>Ziel 7: Verbesserung der wichtigsten Ergebnisse in Bildung und Gesundheit. Förderung fiskalisch nachhaltiger Investitionen in Humankapital, mit Schwerpunkt auf der Erhöhung des Kosten-Nutzen-Verhältnisses der öffentlichen Ausgaben zur Verbesserung der wichtigsten Ergebnisse in Gesundheit und Bildung. Ein begrenzter Dezentralisierungsprozess beeinträchtigt die Wirksamkeit der Erbringung von Gesundheits- und Bildungsdiensten.</a:t>
            </a:r>
          </a:p>
          <a:p>
            <a:r>
              <a:rPr lang="en-US" sz="1600" b="1" dirty="0">
                <a:solidFill>
                  <a:schemeClr val="accent1">
                    <a:lumMod val="75000"/>
                  </a:schemeClr>
                </a:solidFill>
                <a:latin typeface="+mn-lt"/>
                <a:cs typeface="Calibri" panose="020F0502020204030204" pitchFamily="34" charset="0"/>
              </a:rPr>
              <a:t>Ziel 8: Steigerung der Ausgabeneffizienz und der wirksamen Abdeckung integrierter Sozialdienste. 
</a:t>
            </a:r>
          </a:p>
          <a:p>
            <a:r>
              <a:rPr lang="en-US" sz="1600" b="1" dirty="0">
                <a:solidFill>
                  <a:schemeClr val="accent1">
                    <a:lumMod val="75000"/>
                  </a:schemeClr>
                </a:solidFill>
                <a:latin typeface="+mn-lt"/>
                <a:cs typeface="Calibri" panose="020F0502020204030204" pitchFamily="34" charset="0"/>
              </a:rPr>
              <a:t>Die nächste Sozialschutzkommission wird den Fokus der Programme des sozialen Schutzes verstärken, um das Kosten-Nutzen-Verhältnis zu verbessern, unter anderem durch die Förderung der Konsolidierung der Sozialpolitik, die Sicherstellung von Mechanismen und Verbindungen zu Beschäftigung und Teilhabe am Arbeitsmarkt sowie die Unterstützung einer nationalen, schockempfindlichen Strategie für den sozialen Schutz. 
</a:t>
            </a:r>
          </a:p>
          <a:p>
            <a:r>
              <a:rPr lang="en-US" sz="1600" b="1" dirty="0">
                <a:solidFill>
                  <a:schemeClr val="accent1">
                    <a:lumMod val="75000"/>
                  </a:schemeClr>
                </a:solidFill>
                <a:latin typeface="+mn-lt"/>
                <a:cs typeface="Calibri" panose="020F0502020204030204" pitchFamily="34" charset="0"/>
              </a:rPr>
              <a:t>Das Hauptziel besteht darin, eine fiskalisch nachhaltige Struktur für die Integration der Sozialpolitik zur Bildung von Humankapital und zur Verringerung extremer Armut zu schaffen und zugleich Frauen zu stärken und die Resilienz gegenüber Schocks zu gewährleisten.
</a:t>
            </a:r>
          </a:p>
          <a:p>
            <a:r>
              <a:rPr lang="en-US" sz="1600" b="1" dirty="0">
                <a:solidFill>
                  <a:schemeClr val="accent1">
                    <a:lumMod val="75000"/>
                  </a:schemeClr>
                </a:solidFill>
                <a:latin typeface="+mn-lt"/>
                <a:cs typeface="Calibri" panose="020F0502020204030204" pitchFamily="34" charset="0"/>
              </a:rPr>
              <a:t>Ziel 9: Verbesserung des Zugangs zu Diensten zur Vermeidung von Teenagerschwangerschaften und zur Förderung der wirtschaftlichen Teilhabe von Frauen.
</a:t>
            </a:r>
          </a:p>
          <a:p>
            <a:r>
              <a:rPr lang="en-US" sz="1600" b="1" dirty="0">
                <a:solidFill>
                  <a:schemeClr val="accent1">
                    <a:lumMod val="75000"/>
                  </a:schemeClr>
                </a:solidFill>
                <a:latin typeface="+mn-lt"/>
                <a:cs typeface="Calibri" panose="020F0502020204030204" pitchFamily="34" charset="0"/>
              </a:rPr>
              <a:t>Mosambik weist die vierthöchste Fruchtbarkeitsrate bei Jugendlichen und die zehnthöchste Rate an Kinderheirat weltweit auf, und diese Raten steigen, statt zu sinken, was zu den geringen Qualifikationen und der niedrigen Produktivität von Frauen in </a:t>
            </a:r>
          </a:p>
        </p:txBody>
      </p:sp>
      <p:sp>
        <p:nvSpPr>
          <p:cNvPr id="7" name="Footer Placeholder 6">
            <a:extLst>
              <a:ext uri="{FF2B5EF4-FFF2-40B4-BE49-F238E27FC236}">
                <a16:creationId xmlns:a16="http://schemas.microsoft.com/office/drawing/2014/main" id="{126C6B1E-1C18-488F-AC4A-85F26E37D61F}"/>
              </a:ext>
            </a:extLst>
          </p:cNvPr>
          <p:cNvSpPr>
            <a:spLocks noGrp="1"/>
          </p:cNvSpPr>
          <p:nvPr>
            <p:ph type="ftr" sz="quarter" idx="11"/>
          </p:nvPr>
        </p:nvSpPr>
        <p:spPr>
          <a:xfrm>
            <a:off x="3794760" y="5972901"/>
            <a:ext cx="4114800" cy="365125"/>
          </a:xfrm>
        </p:spPr>
        <p:txBody>
          <a:bodyPr/>
          <a:lstStyle/>
          <a:p>
            <a:r>
              <a:rPr lang="en-US"/>
              <a:t>CPF 2023-2027. Öffentliche Fassung. Maputo, Mai 2022.</a:t>
            </a:r>
          </a:p>
        </p:txBody>
      </p:sp>
      <p:sp>
        <p:nvSpPr>
          <p:cNvPr id="8" name="Slide Number Placeholder 7">
            <a:extLst>
              <a:ext uri="{FF2B5EF4-FFF2-40B4-BE49-F238E27FC236}">
                <a16:creationId xmlns:a16="http://schemas.microsoft.com/office/drawing/2014/main" id="{84467695-3A8C-4A22-AEDD-992486ED255C}"/>
              </a:ext>
            </a:extLst>
          </p:cNvPr>
          <p:cNvSpPr>
            <a:spLocks noGrp="1"/>
          </p:cNvSpPr>
          <p:nvPr>
            <p:ph type="sldNum" sz="quarter" idx="12"/>
          </p:nvPr>
        </p:nvSpPr>
        <p:spPr/>
        <p:txBody>
          <a:bodyPr/>
          <a:lstStyle/>
          <a:p>
            <a:fld id="{B8473C9A-9E91-4025-B5E2-D7B202510636}" type="slidenum">
              <a:rPr lang="en-US" smtClean="0"/>
              <a:t>25</a:t>
            </a:fld>
            <a:endParaRPr lang="en-US" dirty="0"/>
          </a:p>
        </p:txBody>
      </p:sp>
      <p:pic>
        <p:nvPicPr>
          <p:cNvPr id="4" name="Picture 3">
            <a:extLst>
              <a:ext uri="{FF2B5EF4-FFF2-40B4-BE49-F238E27FC236}">
                <a16:creationId xmlns:a16="http://schemas.microsoft.com/office/drawing/2014/main" id="{158F71C0-494B-4195-962A-80957CD687E2}"/>
              </a:ext>
            </a:extLst>
          </p:cNvPr>
          <p:cNvPicPr>
            <a:picLocks noChangeAspect="1"/>
          </p:cNvPicPr>
          <p:nvPr/>
        </p:nvPicPr>
        <p:blipFill>
          <a:blip r:embed="rId3"/>
          <a:stretch>
            <a:fillRect/>
          </a:stretch>
        </p:blipFill>
        <p:spPr>
          <a:xfrm>
            <a:off x="572488" y="217701"/>
            <a:ext cx="2316681" cy="463336"/>
          </a:xfrm>
          <a:prstGeom prst="rect">
            <a:avLst/>
          </a:prstGeom>
        </p:spPr>
      </p:pic>
    </p:spTree>
    <p:extLst>
      <p:ext uri="{BB962C8B-B14F-4D97-AF65-F5344CB8AC3E}">
        <p14:creationId xmlns:p14="http://schemas.microsoft.com/office/powerpoint/2010/main" val="50253394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33A49-979B-4F05-870B-CD45EDB79FB7}"/>
              </a:ext>
            </a:extLst>
          </p:cNvPr>
          <p:cNvSpPr>
            <a:spLocks noGrp="1"/>
          </p:cNvSpPr>
          <p:nvPr>
            <p:ph type="title"/>
          </p:nvPr>
        </p:nvSpPr>
        <p:spPr/>
        <p:txBody>
          <a:bodyPr>
            <a:noAutofit/>
          </a:bodyPr>
          <a:lstStyle/>
          <a:p>
            <a:r>
              <a:rPr lang="en-US" sz="3200" b="1" dirty="0">
                <a:solidFill>
                  <a:srgbClr val="203864"/>
                </a:solidFill>
                <a:latin typeface="Arial"/>
              </a:rPr>
              <a:t>Vielen Dank!</a:t>
            </a:r>
          </a:p>
        </p:txBody>
      </p:sp>
      <p:sp>
        <p:nvSpPr>
          <p:cNvPr id="3" name="Footer Placeholder 2">
            <a:extLst>
              <a:ext uri="{FF2B5EF4-FFF2-40B4-BE49-F238E27FC236}">
                <a16:creationId xmlns:a16="http://schemas.microsoft.com/office/drawing/2014/main" id="{F3371D7B-4997-4238-A35F-5554E8330F27}"/>
              </a:ext>
            </a:extLst>
          </p:cNvPr>
          <p:cNvSpPr>
            <a:spLocks noGrp="1"/>
          </p:cNvSpPr>
          <p:nvPr>
            <p:ph type="ftr" sz="quarter" idx="11"/>
          </p:nvPr>
        </p:nvSpPr>
        <p:spPr/>
        <p:txBody>
          <a:bodyPr/>
          <a:lstStyle/>
          <a:p>
            <a:r>
              <a:rPr lang="en-US"/>
              <a:t>CPF 2023-2027. Öffentliche Fassung. Maputo, Mai 2022.</a:t>
            </a:r>
          </a:p>
        </p:txBody>
      </p:sp>
      <p:sp>
        <p:nvSpPr>
          <p:cNvPr id="4" name="Slide Number Placeholder 3">
            <a:extLst>
              <a:ext uri="{FF2B5EF4-FFF2-40B4-BE49-F238E27FC236}">
                <a16:creationId xmlns:a16="http://schemas.microsoft.com/office/drawing/2014/main" id="{FDB7C57F-15A8-4EA1-92A6-4596F96579F2}"/>
              </a:ext>
            </a:extLst>
          </p:cNvPr>
          <p:cNvSpPr>
            <a:spLocks noGrp="1"/>
          </p:cNvSpPr>
          <p:nvPr>
            <p:ph type="sldNum" sz="quarter" idx="12"/>
          </p:nvPr>
        </p:nvSpPr>
        <p:spPr/>
        <p:txBody>
          <a:bodyPr/>
          <a:lstStyle/>
          <a:p>
            <a:fld id="{B8473C9A-9E91-4025-B5E2-D7B202510636}" type="slidenum">
              <a:rPr lang="en-US" smtClean="0"/>
              <a:t>26</a:t>
            </a:fld>
            <a:endParaRPr lang="en-US" dirty="0"/>
          </a:p>
        </p:txBody>
      </p:sp>
    </p:spTree>
    <p:extLst>
      <p:ext uri="{BB962C8B-B14F-4D97-AF65-F5344CB8AC3E}">
        <p14:creationId xmlns:p14="http://schemas.microsoft.com/office/powerpoint/2010/main" val="376825688"/>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3.1.12"/>
  <p:tag name="AS_OS" val="Unix 4.14.225.169"/>
  <p:tag name="AS_RELEASE_DATE" val="2020.03.14"/>
  <p:tag name="AS_TITLE" val="Aspose.Slides for .NET Standard 2.0"/>
  <p:tag name="AS_VERSION" val="20.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PF">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9414</TotalTime>
  <Words>5422</Words>
  <Application>Microsoft Office PowerPoint</Application>
  <PresentationFormat>Widescreen</PresentationFormat>
  <Paragraphs>342</Paragraphs>
  <Slides>26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Times New Roman</vt:lpstr>
      <vt:lpstr>YouTube Sans</vt:lpstr>
      <vt:lpstr>Office Theme</vt:lpstr>
      <vt:lpstr>World Bank Group (WBG)   Mozambique: Country Partnership Framework (CPF) 2023-2027   Concept Note Summary   Public Version    Maputo, May 2022  </vt:lpstr>
      <vt:lpstr>Introduction: What is the CPF, why the consultations and what are the expectations</vt:lpstr>
      <vt:lpstr>Presentation structure
</vt:lpstr>
      <vt:lpstr>Presentation structure
</vt:lpstr>
      <vt:lpstr> Country Context: Development Challanges and Opportunities</vt:lpstr>
      <vt:lpstr>Country Context: Development Challanges and Opportunities</vt:lpstr>
      <vt:lpstr>Country Context: Development Challenges and Opportunities</vt:lpstr>
      <vt:lpstr>World Bank Systematic Country Diagnostic (SCD) and Recommendations- Summary</vt:lpstr>
      <vt:lpstr>Presentation structure
</vt:lpstr>
      <vt:lpstr>CPF AF2017-2021: Main Features</vt:lpstr>
      <vt:lpstr>  CPF AF2017-2021: Main Features</vt:lpstr>
      <vt:lpstr>CPF AF2017-2021: Results 
</vt:lpstr>
      <vt:lpstr>CPF FY2017-2021: Lessons Learned
</vt:lpstr>
      <vt:lpstr>Presentation structure
</vt:lpstr>
      <vt:lpstr>Government Program and Medium-Term Strategy (1-2)</vt:lpstr>
      <vt:lpstr>PowerPoint Presentation</vt:lpstr>
      <vt:lpstr>PowerPoint Presentation</vt:lpstr>
      <vt:lpstr>PowerPoint Presentation</vt:lpstr>
      <vt:lpstr>PowerPoint Presentation</vt:lpstr>
      <vt:lpstr>   Implementation of CPF 2023-2027: Prioritization
</vt:lpstr>
      <vt:lpstr>CPF Implementation 2023-2027: Prioritization
</vt:lpstr>
      <vt:lpstr>Potentially available resources 
</vt:lpstr>
      <vt:lpstr>HLO 1: More inclusive institutions
</vt:lpstr>
      <vt:lpstr>HLO 2: Increasing inclusive job creation </vt:lpstr>
      <vt:lpstr>HLO 3: Improving Human Capital and Women's Empowerment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Paulo Guilherme Correa</dc:creator>
  <cp:lastModifiedBy>Paulo Guilherme Correa</cp:lastModifiedBy>
  <cp:revision>86</cp:revision>
  <cp:lastPrinted>2022-05-26T16:13:25Z</cp:lastPrinted>
  <dcterms:created xsi:type="dcterms:W3CDTF">2022-02-23T20:10:42Z</dcterms:created>
  <dcterms:modified xsi:type="dcterms:W3CDTF">2022-06-07T12:24:10Z</dcterms:modified>
</cp:coreProperties>
</file>