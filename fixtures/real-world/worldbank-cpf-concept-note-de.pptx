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1.xml" ContentType="application/vnd.openxmlformats-officedocument.drawingml.chartshapes+xml"/>
  <Override PartName="/ppt/notesSlides/notesSlide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2.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theme/themeOverride1.xml" ContentType="application/vnd.openxmlformats-officedocument.themeOverrid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theme/themeOverride2.xml" ContentType="application/vnd.openxmlformats-officedocument.themeOverride+xml"/>
  <Override PartName="/ppt/notesSlides/notesSlide2.xml" ContentType="application/vnd.openxmlformats-officedocument.presentationml.notesSlide+xml"/>
  <Override PartName="/ppt/theme/themeOverride3.xml" ContentType="application/vnd.openxmlformats-officedocument.themeOverrid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648" r:id="rId1"/>
  </p:sldMasterIdLst>
  <p:notesMasterIdLst>
    <p:notesMasterId r:id="rId28"/>
  </p:notesMasterIdLst>
  <p:handoutMasterIdLst>
    <p:handoutMasterId r:id="rId29"/>
  </p:handoutMasterIdLst>
  <p:sldIdLst>
    <p:sldId id="2134804413" r:id="rId2"/>
    <p:sldId id="2134804414" r:id="rId3"/>
    <p:sldId id="2134804408" r:id="rId4"/>
    <p:sldId id="2134804409" r:id="rId5"/>
    <p:sldId id="2134804395" r:id="rId6"/>
    <p:sldId id="2134804398" r:id="rId7"/>
    <p:sldId id="2134804378" r:id="rId8"/>
    <p:sldId id="2134804389" r:id="rId9"/>
    <p:sldId id="2134804410" r:id="rId10"/>
    <p:sldId id="2134804405" r:id="rId11"/>
    <p:sldId id="2134804412" r:id="rId12"/>
    <p:sldId id="2134804396" r:id="rId13"/>
    <p:sldId id="2134804387" r:id="rId14"/>
    <p:sldId id="2134804411" r:id="rId15"/>
    <p:sldId id="2134804355" r:id="rId16"/>
    <p:sldId id="2134804360" r:id="rId17"/>
    <p:sldId id="1438" r:id="rId18"/>
    <p:sldId id="2134804385" r:id="rId19"/>
    <p:sldId id="1424" r:id="rId20"/>
    <p:sldId id="2134804388" r:id="rId21"/>
    <p:sldId id="2134804390" r:id="rId22"/>
    <p:sldId id="2134804316" r:id="rId23"/>
    <p:sldId id="2134804403" r:id="rId24"/>
    <p:sldId id="2134804402" r:id="rId25"/>
    <p:sldId id="2134804404" r:id="rId26"/>
    <p:sldId id="2134804354" r:id="rId27"/>
  </p:sldIdLst>
  <p:sldSz cx="12192000" cy="6858000"/>
  <p:notesSz cx="6797675" cy="9926638"/>
  <p:custDataLst>
    <p:tags r:id="rId3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4D27BEB-33D4-576E-988A-32969632F6C9}" name="Neelam Nizar Verjee" initials="NV" userId="S::nverjee@worldbank.org::e1d5fb58-5d01-4929-9734-88be1983e7e5"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Paulo Guilherme Correa" initials="PGC" lastIdx="0" clrIdx="0">
    <p:extLst>
      <p:ext uri="{19B8F6BF-5375-455C-9EA6-DF929625EA0E}">
        <p15:presenceInfo xmlns:p15="http://schemas.microsoft.com/office/powerpoint/2012/main" userId="S::pcorrea@worldbank.org::870f2a1b-8f05-43bf-bddb-3b63d1bf3b8a" providerId="AD"/>
      </p:ext>
    </p:extLst>
  </p:cmAuthor>
  <p:cmAuthor id="2" name="Fernanda Ailina Pedro Massarongo Chivulele" initials="FAPMC" lastIdx="3" clrIdx="1">
    <p:extLst>
      <p:ext uri="{19B8F6BF-5375-455C-9EA6-DF929625EA0E}">
        <p15:presenceInfo xmlns:p15="http://schemas.microsoft.com/office/powerpoint/2012/main" userId="S::fmassarongochivu@worldbank.org::e7ac58eb-e9b2-4ac1-8c7e-c4290564e50d"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A734829-6AEE-448D-92E1-3217DCE0D28A}" v="60" dt="2022-06-06T14:09:33.84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36" autoAdjust="0"/>
    <p:restoredTop sz="93239" autoAdjust="0"/>
  </p:normalViewPr>
  <p:slideViewPr>
    <p:cSldViewPr snapToGrid="0">
      <p:cViewPr varScale="1">
        <p:scale>
          <a:sx n="89" d="100"/>
          <a:sy n="89" d="100"/>
        </p:scale>
        <p:origin x="1410" y="96"/>
      </p:cViewPr>
      <p:guideLst/>
    </p:cSldViewPr>
  </p:slideViewPr>
  <p:notesTextViewPr>
    <p:cViewPr>
      <p:scale>
        <a:sx n="3" d="2"/>
        <a:sy n="3" d="2"/>
      </p:scale>
      <p:origin x="0" y="0"/>
    </p:cViewPr>
  </p:notesTextViewPr>
  <p:notesViewPr>
    <p:cSldViewPr snapToGrid="0">
      <p:cViewPr varScale="1">
        <p:scale>
          <a:sx n="44" d="100"/>
          <a:sy n="44" d="100"/>
        </p:scale>
        <p:origin x="2852" y="2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ags" Target="tags/tag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ulo Guilherme Correa" userId="870f2a1b-8f05-43bf-bddb-3b63d1bf3b8a" providerId="ADAL" clId="{3A734829-6AEE-448D-92E1-3217DCE0D28A}"/>
    <pc:docChg chg="undo custSel modSld">
      <pc:chgData name="Paulo Guilherme Correa" userId="870f2a1b-8f05-43bf-bddb-3b63d1bf3b8a" providerId="ADAL" clId="{3A734829-6AEE-448D-92E1-3217DCE0D28A}" dt="2022-06-07T12:24:07.435" v="376" actId="6549"/>
      <pc:docMkLst>
        <pc:docMk/>
      </pc:docMkLst>
      <pc:sldChg chg="modSp mod">
        <pc:chgData name="Paulo Guilherme Correa" userId="870f2a1b-8f05-43bf-bddb-3b63d1bf3b8a" providerId="ADAL" clId="{3A734829-6AEE-448D-92E1-3217DCE0D28A}" dt="2022-06-06T14:12:56.755" v="201" actId="1076"/>
        <pc:sldMkLst>
          <pc:docMk/>
          <pc:sldMk cId="164693797" sldId="1438"/>
        </pc:sldMkLst>
        <pc:spChg chg="mod">
          <ac:chgData name="Paulo Guilherme Correa" userId="870f2a1b-8f05-43bf-bddb-3b63d1bf3b8a" providerId="ADAL" clId="{3A734829-6AEE-448D-92E1-3217DCE0D28A}" dt="2022-06-06T14:12:56.755" v="201" actId="1076"/>
          <ac:spMkLst>
            <pc:docMk/>
            <pc:sldMk cId="164693797" sldId="1438"/>
            <ac:spMk id="34" creationId="{02498E19-A5E1-4FF3-8593-77DDFB633840}"/>
          </ac:spMkLst>
        </pc:spChg>
      </pc:sldChg>
      <pc:sldChg chg="modSp mod">
        <pc:chgData name="Paulo Guilherme Correa" userId="870f2a1b-8f05-43bf-bddb-3b63d1bf3b8a" providerId="ADAL" clId="{3A734829-6AEE-448D-92E1-3217DCE0D28A}" dt="2022-06-06T14:19:32.002" v="276" actId="1076"/>
        <pc:sldMkLst>
          <pc:docMk/>
          <pc:sldMk cId="228573786" sldId="2134804316"/>
        </pc:sldMkLst>
        <pc:spChg chg="mod">
          <ac:chgData name="Paulo Guilherme Correa" userId="870f2a1b-8f05-43bf-bddb-3b63d1bf3b8a" providerId="ADAL" clId="{3A734829-6AEE-448D-92E1-3217DCE0D28A}" dt="2022-06-06T14:19:32.002" v="276" actId="1076"/>
          <ac:spMkLst>
            <pc:docMk/>
            <pc:sldMk cId="228573786" sldId="2134804316"/>
            <ac:spMk id="9" creationId="{EF7E496C-CAB6-4016-A81A-D54963B89A2D}"/>
          </ac:spMkLst>
        </pc:spChg>
      </pc:sldChg>
      <pc:sldChg chg="modSp mod">
        <pc:chgData name="Paulo Guilherme Correa" userId="870f2a1b-8f05-43bf-bddb-3b63d1bf3b8a" providerId="ADAL" clId="{3A734829-6AEE-448D-92E1-3217DCE0D28A}" dt="2022-06-06T13:53:06.682" v="143" actId="113"/>
        <pc:sldMkLst>
          <pc:docMk/>
          <pc:sldMk cId="2098239625" sldId="2134804378"/>
        </pc:sldMkLst>
        <pc:spChg chg="mod">
          <ac:chgData name="Paulo Guilherme Correa" userId="870f2a1b-8f05-43bf-bddb-3b63d1bf3b8a" providerId="ADAL" clId="{3A734829-6AEE-448D-92E1-3217DCE0D28A}" dt="2022-06-06T13:53:06.682" v="143" actId="113"/>
          <ac:spMkLst>
            <pc:docMk/>
            <pc:sldMk cId="2098239625" sldId="2134804378"/>
            <ac:spMk id="7" creationId="{FF5C214D-5EAE-4BCF-B630-4930BE12178E}"/>
          </ac:spMkLst>
        </pc:spChg>
      </pc:sldChg>
      <pc:sldChg chg="modSp mod">
        <pc:chgData name="Paulo Guilherme Correa" userId="870f2a1b-8f05-43bf-bddb-3b63d1bf3b8a" providerId="ADAL" clId="{3A734829-6AEE-448D-92E1-3217DCE0D28A}" dt="2022-06-06T14:13:35.381" v="206" actId="5793"/>
        <pc:sldMkLst>
          <pc:docMk/>
          <pc:sldMk cId="2480337501" sldId="2134804385"/>
        </pc:sldMkLst>
        <pc:spChg chg="mod">
          <ac:chgData name="Paulo Guilherme Correa" userId="870f2a1b-8f05-43bf-bddb-3b63d1bf3b8a" providerId="ADAL" clId="{3A734829-6AEE-448D-92E1-3217DCE0D28A}" dt="2022-06-06T14:13:35.381" v="206" actId="5793"/>
          <ac:spMkLst>
            <pc:docMk/>
            <pc:sldMk cId="2480337501" sldId="2134804385"/>
            <ac:spMk id="3" creationId="{D4328182-DCAC-44BE-B53C-25FEF02C2D3B}"/>
          </ac:spMkLst>
        </pc:spChg>
      </pc:sldChg>
      <pc:sldChg chg="modSp mod">
        <pc:chgData name="Paulo Guilherme Correa" userId="870f2a1b-8f05-43bf-bddb-3b63d1bf3b8a" providerId="ADAL" clId="{3A734829-6AEE-448D-92E1-3217DCE0D28A}" dt="2022-06-07T12:24:07.435" v="376" actId="6549"/>
        <pc:sldMkLst>
          <pc:docMk/>
          <pc:sldMk cId="1591212298" sldId="2134804387"/>
        </pc:sldMkLst>
        <pc:spChg chg="mod">
          <ac:chgData name="Paulo Guilherme Correa" userId="870f2a1b-8f05-43bf-bddb-3b63d1bf3b8a" providerId="ADAL" clId="{3A734829-6AEE-448D-92E1-3217DCE0D28A}" dt="2022-06-07T12:24:07.435" v="376" actId="6549"/>
          <ac:spMkLst>
            <pc:docMk/>
            <pc:sldMk cId="1591212298" sldId="2134804387"/>
            <ac:spMk id="3" creationId="{43620D38-256E-4067-AE12-400CAF4C9E44}"/>
          </ac:spMkLst>
        </pc:spChg>
      </pc:sldChg>
      <pc:sldChg chg="modSp mod">
        <pc:chgData name="Paulo Guilherme Correa" userId="870f2a1b-8f05-43bf-bddb-3b63d1bf3b8a" providerId="ADAL" clId="{3A734829-6AEE-448D-92E1-3217DCE0D28A}" dt="2022-06-06T14:17:26.813" v="214" actId="1076"/>
        <pc:sldMkLst>
          <pc:docMk/>
          <pc:sldMk cId="3822225861" sldId="2134804388"/>
        </pc:sldMkLst>
        <pc:spChg chg="mod">
          <ac:chgData name="Paulo Guilherme Correa" userId="870f2a1b-8f05-43bf-bddb-3b63d1bf3b8a" providerId="ADAL" clId="{3A734829-6AEE-448D-92E1-3217DCE0D28A}" dt="2022-06-06T14:17:23.377" v="213" actId="1076"/>
          <ac:spMkLst>
            <pc:docMk/>
            <pc:sldMk cId="3822225861" sldId="2134804388"/>
            <ac:spMk id="2" creationId="{23A3676B-4603-455B-9BA6-AAFD3FF0ACAB}"/>
          </ac:spMkLst>
        </pc:spChg>
        <pc:spChg chg="mod">
          <ac:chgData name="Paulo Guilherme Correa" userId="870f2a1b-8f05-43bf-bddb-3b63d1bf3b8a" providerId="ADAL" clId="{3A734829-6AEE-448D-92E1-3217DCE0D28A}" dt="2022-06-06T14:17:26.813" v="214" actId="1076"/>
          <ac:spMkLst>
            <pc:docMk/>
            <pc:sldMk cId="3822225861" sldId="2134804388"/>
            <ac:spMk id="3" creationId="{95DD31EA-D262-4017-A859-112A4B3C2A17}"/>
          </ac:spMkLst>
        </pc:spChg>
      </pc:sldChg>
      <pc:sldChg chg="modSp mod">
        <pc:chgData name="Paulo Guilherme Correa" userId="870f2a1b-8f05-43bf-bddb-3b63d1bf3b8a" providerId="ADAL" clId="{3A734829-6AEE-448D-92E1-3217DCE0D28A}" dt="2022-06-06T13:55:15.945" v="149" actId="20577"/>
        <pc:sldMkLst>
          <pc:docMk/>
          <pc:sldMk cId="3355522750" sldId="2134804389"/>
        </pc:sldMkLst>
        <pc:spChg chg="mod">
          <ac:chgData name="Paulo Guilherme Correa" userId="870f2a1b-8f05-43bf-bddb-3b63d1bf3b8a" providerId="ADAL" clId="{3A734829-6AEE-448D-92E1-3217DCE0D28A}" dt="2022-06-06T13:55:15.945" v="149" actId="20577"/>
          <ac:spMkLst>
            <pc:docMk/>
            <pc:sldMk cId="3355522750" sldId="2134804389"/>
            <ac:spMk id="6" creationId="{113BE710-35E0-4B80-8E28-6785528D3EDB}"/>
          </ac:spMkLst>
        </pc:spChg>
      </pc:sldChg>
      <pc:sldChg chg="modSp mod">
        <pc:chgData name="Paulo Guilherme Correa" userId="870f2a1b-8f05-43bf-bddb-3b63d1bf3b8a" providerId="ADAL" clId="{3A734829-6AEE-448D-92E1-3217DCE0D28A}" dt="2022-06-06T14:18:19.701" v="222" actId="20577"/>
        <pc:sldMkLst>
          <pc:docMk/>
          <pc:sldMk cId="1963031688" sldId="2134804390"/>
        </pc:sldMkLst>
        <pc:spChg chg="mod">
          <ac:chgData name="Paulo Guilherme Correa" userId="870f2a1b-8f05-43bf-bddb-3b63d1bf3b8a" providerId="ADAL" clId="{3A734829-6AEE-448D-92E1-3217DCE0D28A}" dt="2022-06-06T14:17:35.081" v="215" actId="1076"/>
          <ac:spMkLst>
            <pc:docMk/>
            <pc:sldMk cId="1963031688" sldId="2134804390"/>
            <ac:spMk id="2" creationId="{31E02326-9E63-4DF0-AF0D-21FCFEC54D28}"/>
          </ac:spMkLst>
        </pc:spChg>
        <pc:spChg chg="mod">
          <ac:chgData name="Paulo Guilherme Correa" userId="870f2a1b-8f05-43bf-bddb-3b63d1bf3b8a" providerId="ADAL" clId="{3A734829-6AEE-448D-92E1-3217DCE0D28A}" dt="2022-06-06T14:18:19.701" v="222" actId="20577"/>
          <ac:spMkLst>
            <pc:docMk/>
            <pc:sldMk cId="1963031688" sldId="2134804390"/>
            <ac:spMk id="3" creationId="{CB65E0F7-FCC9-4A64-911C-50F2460F3EEB}"/>
          </ac:spMkLst>
        </pc:spChg>
      </pc:sldChg>
      <pc:sldChg chg="modSp mod">
        <pc:chgData name="Paulo Guilherme Correa" userId="870f2a1b-8f05-43bf-bddb-3b63d1bf3b8a" providerId="ADAL" clId="{3A734829-6AEE-448D-92E1-3217DCE0D28A}" dt="2022-06-06T13:53:34.707" v="145" actId="27918"/>
        <pc:sldMkLst>
          <pc:docMk/>
          <pc:sldMk cId="279434536" sldId="2134804395"/>
        </pc:sldMkLst>
        <pc:spChg chg="mod">
          <ac:chgData name="Paulo Guilherme Correa" userId="870f2a1b-8f05-43bf-bddb-3b63d1bf3b8a" providerId="ADAL" clId="{3A734829-6AEE-448D-92E1-3217DCE0D28A}" dt="2022-06-06T13:48:58.446" v="93" actId="20577"/>
          <ac:spMkLst>
            <pc:docMk/>
            <pc:sldMk cId="279434536" sldId="2134804395"/>
            <ac:spMk id="7" creationId="{FF5C214D-5EAE-4BCF-B630-4930BE12178E}"/>
          </ac:spMkLst>
        </pc:spChg>
        <pc:graphicFrameChg chg="mod">
          <ac:chgData name="Paulo Guilherme Correa" userId="870f2a1b-8f05-43bf-bddb-3b63d1bf3b8a" providerId="ADAL" clId="{3A734829-6AEE-448D-92E1-3217DCE0D28A}" dt="2022-06-06T13:52:04.079" v="139" actId="20577"/>
          <ac:graphicFrameMkLst>
            <pc:docMk/>
            <pc:sldMk cId="279434536" sldId="2134804395"/>
            <ac:graphicFrameMk id="9" creationId="{410C8409-F0C1-4A06-B33B-032AB030B33D}"/>
          </ac:graphicFrameMkLst>
        </pc:graphicFrameChg>
        <pc:graphicFrameChg chg="mod">
          <ac:chgData name="Paulo Guilherme Correa" userId="870f2a1b-8f05-43bf-bddb-3b63d1bf3b8a" providerId="ADAL" clId="{3A734829-6AEE-448D-92E1-3217DCE0D28A}" dt="2022-06-06T13:51:51.318" v="100" actId="20577"/>
          <ac:graphicFrameMkLst>
            <pc:docMk/>
            <pc:sldMk cId="279434536" sldId="2134804395"/>
            <ac:graphicFrameMk id="11" creationId="{C72742A9-AFDE-48B8-85B0-5CF91FC7EC7A}"/>
          </ac:graphicFrameMkLst>
        </pc:graphicFrameChg>
      </pc:sldChg>
      <pc:sldChg chg="modSp mod">
        <pc:chgData name="Paulo Guilherme Correa" userId="870f2a1b-8f05-43bf-bddb-3b63d1bf3b8a" providerId="ADAL" clId="{3A734829-6AEE-448D-92E1-3217DCE0D28A}" dt="2022-06-06T14:10:39.028" v="200" actId="1076"/>
        <pc:sldMkLst>
          <pc:docMk/>
          <pc:sldMk cId="893228102" sldId="2134804396"/>
        </pc:sldMkLst>
        <pc:spChg chg="mod">
          <ac:chgData name="Paulo Guilherme Correa" userId="870f2a1b-8f05-43bf-bddb-3b63d1bf3b8a" providerId="ADAL" clId="{3A734829-6AEE-448D-92E1-3217DCE0D28A}" dt="2022-06-06T14:10:34.407" v="198" actId="14100"/>
          <ac:spMkLst>
            <pc:docMk/>
            <pc:sldMk cId="893228102" sldId="2134804396"/>
            <ac:spMk id="3" creationId="{D13B107D-9314-4019-A8AC-8BDA69837A5E}"/>
          </ac:spMkLst>
        </pc:spChg>
        <pc:spChg chg="mod">
          <ac:chgData name="Paulo Guilherme Correa" userId="870f2a1b-8f05-43bf-bddb-3b63d1bf3b8a" providerId="ADAL" clId="{3A734829-6AEE-448D-92E1-3217DCE0D28A}" dt="2022-06-06T14:10:39.028" v="200" actId="1076"/>
          <ac:spMkLst>
            <pc:docMk/>
            <pc:sldMk cId="893228102" sldId="2134804396"/>
            <ac:spMk id="9" creationId="{6122B999-DE86-4BC0-AC20-DE5BD83111C8}"/>
          </ac:spMkLst>
        </pc:spChg>
        <pc:graphicFrameChg chg="mod modGraphic">
          <ac:chgData name="Paulo Guilherme Correa" userId="870f2a1b-8f05-43bf-bddb-3b63d1bf3b8a" providerId="ADAL" clId="{3A734829-6AEE-448D-92E1-3217DCE0D28A}" dt="2022-06-06T14:10:37.211" v="199" actId="14100"/>
          <ac:graphicFrameMkLst>
            <pc:docMk/>
            <pc:sldMk cId="893228102" sldId="2134804396"/>
            <ac:graphicFrameMk id="7" creationId="{32DB655D-42A7-4817-899F-7D22316FD394}"/>
          </ac:graphicFrameMkLst>
        </pc:graphicFrameChg>
      </pc:sldChg>
      <pc:sldChg chg="modSp">
        <pc:chgData name="Paulo Guilherme Correa" userId="870f2a1b-8f05-43bf-bddb-3b63d1bf3b8a" providerId="ADAL" clId="{3A734829-6AEE-448D-92E1-3217DCE0D28A}" dt="2022-06-06T13:52:33.621" v="141" actId="14100"/>
        <pc:sldMkLst>
          <pc:docMk/>
          <pc:sldMk cId="1570841410" sldId="2134804398"/>
        </pc:sldMkLst>
        <pc:graphicFrameChg chg="mod">
          <ac:chgData name="Paulo Guilherme Correa" userId="870f2a1b-8f05-43bf-bddb-3b63d1bf3b8a" providerId="ADAL" clId="{3A734829-6AEE-448D-92E1-3217DCE0D28A}" dt="2022-06-06T13:52:33.621" v="141" actId="14100"/>
          <ac:graphicFrameMkLst>
            <pc:docMk/>
            <pc:sldMk cId="1570841410" sldId="2134804398"/>
            <ac:graphicFrameMk id="5" creationId="{C9A68FB0-9030-48F4-90BB-6738D978B96B}"/>
          </ac:graphicFrameMkLst>
        </pc:graphicFrameChg>
        <pc:graphicFrameChg chg="mod">
          <ac:chgData name="Paulo Guilherme Correa" userId="870f2a1b-8f05-43bf-bddb-3b63d1bf3b8a" providerId="ADAL" clId="{3A734829-6AEE-448D-92E1-3217DCE0D28A}" dt="2022-06-06T13:52:31.181" v="140" actId="14100"/>
          <ac:graphicFrameMkLst>
            <pc:docMk/>
            <pc:sldMk cId="1570841410" sldId="2134804398"/>
            <ac:graphicFrameMk id="7" creationId="{CD771C82-20D9-438B-98BF-9F1AA3BE667C}"/>
          </ac:graphicFrameMkLst>
        </pc:graphicFrameChg>
      </pc:sldChg>
      <pc:sldChg chg="modSp mod modNotesTx">
        <pc:chgData name="Paulo Guilherme Correa" userId="870f2a1b-8f05-43bf-bddb-3b63d1bf3b8a" providerId="ADAL" clId="{3A734829-6AEE-448D-92E1-3217DCE0D28A}" dt="2022-06-06T14:20:11.608" v="279" actId="20577"/>
        <pc:sldMkLst>
          <pc:docMk/>
          <pc:sldMk cId="336790590" sldId="2134804402"/>
        </pc:sldMkLst>
        <pc:spChg chg="mod">
          <ac:chgData name="Paulo Guilherme Correa" userId="870f2a1b-8f05-43bf-bddb-3b63d1bf3b8a" providerId="ADAL" clId="{3A734829-6AEE-448D-92E1-3217DCE0D28A}" dt="2022-06-06T14:20:07.989" v="278" actId="20577"/>
          <ac:spMkLst>
            <pc:docMk/>
            <pc:sldMk cId="336790590" sldId="2134804402"/>
            <ac:spMk id="3" creationId="{2D9E4DBD-86F0-4B7F-911F-E98F78863434}"/>
          </ac:spMkLst>
        </pc:spChg>
      </pc:sldChg>
      <pc:sldChg chg="modSp mod">
        <pc:chgData name="Paulo Guilherme Correa" userId="870f2a1b-8f05-43bf-bddb-3b63d1bf3b8a" providerId="ADAL" clId="{3A734829-6AEE-448D-92E1-3217DCE0D28A}" dt="2022-06-06T14:19:56.615" v="277" actId="20577"/>
        <pc:sldMkLst>
          <pc:docMk/>
          <pc:sldMk cId="1294046964" sldId="2134804403"/>
        </pc:sldMkLst>
        <pc:spChg chg="mod">
          <ac:chgData name="Paulo Guilherme Correa" userId="870f2a1b-8f05-43bf-bddb-3b63d1bf3b8a" providerId="ADAL" clId="{3A734829-6AEE-448D-92E1-3217DCE0D28A}" dt="2022-06-06T14:19:56.615" v="277" actId="20577"/>
          <ac:spMkLst>
            <pc:docMk/>
            <pc:sldMk cId="1294046964" sldId="2134804403"/>
            <ac:spMk id="3" creationId="{0AAF4E04-EEC2-485A-878B-D07B4647ED1C}"/>
          </ac:spMkLst>
        </pc:spChg>
      </pc:sldChg>
      <pc:sldChg chg="modNotesTx">
        <pc:chgData name="Paulo Guilherme Correa" userId="870f2a1b-8f05-43bf-bddb-3b63d1bf3b8a" providerId="ADAL" clId="{3A734829-6AEE-448D-92E1-3217DCE0D28A}" dt="2022-06-06T14:20:28.606" v="280" actId="20577"/>
        <pc:sldMkLst>
          <pc:docMk/>
          <pc:sldMk cId="502533941" sldId="2134804404"/>
        </pc:sldMkLst>
      </pc:sldChg>
      <pc:sldChg chg="modSp mod">
        <pc:chgData name="Paulo Guilherme Correa" userId="870f2a1b-8f05-43bf-bddb-3b63d1bf3b8a" providerId="ADAL" clId="{3A734829-6AEE-448D-92E1-3217DCE0D28A}" dt="2022-06-06T13:55:37.735" v="150" actId="113"/>
        <pc:sldMkLst>
          <pc:docMk/>
          <pc:sldMk cId="1765248067" sldId="2134804405"/>
        </pc:sldMkLst>
        <pc:spChg chg="mod">
          <ac:chgData name="Paulo Guilherme Correa" userId="870f2a1b-8f05-43bf-bddb-3b63d1bf3b8a" providerId="ADAL" clId="{3A734829-6AEE-448D-92E1-3217DCE0D28A}" dt="2022-06-06T13:55:37.735" v="150" actId="113"/>
          <ac:spMkLst>
            <pc:docMk/>
            <pc:sldMk cId="1765248067" sldId="2134804405"/>
            <ac:spMk id="3" creationId="{AD41F2BB-97F4-4383-8764-F002A22E027D}"/>
          </ac:spMkLst>
        </pc:spChg>
      </pc:sldChg>
      <pc:sldChg chg="modSp mod">
        <pc:chgData name="Paulo Guilherme Correa" userId="870f2a1b-8f05-43bf-bddb-3b63d1bf3b8a" providerId="ADAL" clId="{3A734829-6AEE-448D-92E1-3217DCE0D28A}" dt="2022-06-06T13:56:40.231" v="158" actId="20577"/>
        <pc:sldMkLst>
          <pc:docMk/>
          <pc:sldMk cId="1828922060" sldId="2134804409"/>
        </pc:sldMkLst>
        <pc:spChg chg="mod">
          <ac:chgData name="Paulo Guilherme Correa" userId="870f2a1b-8f05-43bf-bddb-3b63d1bf3b8a" providerId="ADAL" clId="{3A734829-6AEE-448D-92E1-3217DCE0D28A}" dt="2022-06-06T13:56:40.231" v="158" actId="20577"/>
          <ac:spMkLst>
            <pc:docMk/>
            <pc:sldMk cId="1828922060" sldId="2134804409"/>
            <ac:spMk id="3" creationId="{A71C13BF-78D7-4831-B2B9-0342F47476B7}"/>
          </ac:spMkLst>
        </pc:spChg>
      </pc:sldChg>
      <pc:sldChg chg="modSp mod">
        <pc:chgData name="Paulo Guilherme Correa" userId="870f2a1b-8f05-43bf-bddb-3b63d1bf3b8a" providerId="ADAL" clId="{3A734829-6AEE-448D-92E1-3217DCE0D28A}" dt="2022-06-06T13:57:55.044" v="159" actId="20577"/>
        <pc:sldMkLst>
          <pc:docMk/>
          <pc:sldMk cId="3817913634" sldId="2134804410"/>
        </pc:sldMkLst>
        <pc:spChg chg="mod">
          <ac:chgData name="Paulo Guilherme Correa" userId="870f2a1b-8f05-43bf-bddb-3b63d1bf3b8a" providerId="ADAL" clId="{3A734829-6AEE-448D-92E1-3217DCE0D28A}" dt="2022-06-06T13:57:55.044" v="159" actId="20577"/>
          <ac:spMkLst>
            <pc:docMk/>
            <pc:sldMk cId="3817913634" sldId="2134804410"/>
            <ac:spMk id="3" creationId="{A71C13BF-78D7-4831-B2B9-0342F47476B7}"/>
          </ac:spMkLst>
        </pc:spChg>
      </pc:sldChg>
      <pc:sldChg chg="modSp mod">
        <pc:chgData name="Paulo Guilherme Correa" userId="870f2a1b-8f05-43bf-bddb-3b63d1bf3b8a" providerId="ADAL" clId="{3A734829-6AEE-448D-92E1-3217DCE0D28A}" dt="2022-06-06T13:58:00.042" v="160" actId="20577"/>
        <pc:sldMkLst>
          <pc:docMk/>
          <pc:sldMk cId="1566909184" sldId="2134804411"/>
        </pc:sldMkLst>
        <pc:spChg chg="mod">
          <ac:chgData name="Paulo Guilherme Correa" userId="870f2a1b-8f05-43bf-bddb-3b63d1bf3b8a" providerId="ADAL" clId="{3A734829-6AEE-448D-92E1-3217DCE0D28A}" dt="2022-06-06T13:58:00.042" v="160" actId="20577"/>
          <ac:spMkLst>
            <pc:docMk/>
            <pc:sldMk cId="1566909184" sldId="2134804411"/>
            <ac:spMk id="3" creationId="{A71C13BF-78D7-4831-B2B9-0342F47476B7}"/>
          </ac:spMkLst>
        </pc:spChg>
      </pc:sldChg>
      <pc:sldChg chg="modSp mod">
        <pc:chgData name="Paulo Guilherme Correa" userId="870f2a1b-8f05-43bf-bddb-3b63d1bf3b8a" providerId="ADAL" clId="{3A734829-6AEE-448D-92E1-3217DCE0D28A}" dt="2022-06-06T14:09:56.134" v="194" actId="14100"/>
        <pc:sldMkLst>
          <pc:docMk/>
          <pc:sldMk cId="594525742" sldId="2134804412"/>
        </pc:sldMkLst>
        <pc:spChg chg="mod">
          <ac:chgData name="Paulo Guilherme Correa" userId="870f2a1b-8f05-43bf-bddb-3b63d1bf3b8a" providerId="ADAL" clId="{3A734829-6AEE-448D-92E1-3217DCE0D28A}" dt="2022-06-06T14:09:56.134" v="194" actId="14100"/>
          <ac:spMkLst>
            <pc:docMk/>
            <pc:sldMk cId="594525742" sldId="2134804412"/>
            <ac:spMk id="3" creationId="{AD41F2BB-97F4-4383-8764-F002A22E027D}"/>
          </ac:spMkLst>
        </pc:spChg>
        <pc:spChg chg="mod">
          <ac:chgData name="Paulo Guilherme Correa" userId="870f2a1b-8f05-43bf-bddb-3b63d1bf3b8a" providerId="ADAL" clId="{3A734829-6AEE-448D-92E1-3217DCE0D28A}" dt="2022-06-06T14:09:30.434" v="192" actId="1076"/>
          <ac:spMkLst>
            <pc:docMk/>
            <pc:sldMk cId="594525742" sldId="2134804412"/>
            <ac:spMk id="10" creationId="{2F08AA56-3BA1-41C9-8EC2-A2B8C5546FC8}"/>
          </ac:spMkLst>
        </pc:spChg>
        <pc:graphicFrameChg chg="mod">
          <ac:chgData name="Paulo Guilherme Correa" userId="870f2a1b-8f05-43bf-bddb-3b63d1bf3b8a" providerId="ADAL" clId="{3A734829-6AEE-448D-92E1-3217DCE0D28A}" dt="2022-06-06T14:09:33.848" v="193"/>
          <ac:graphicFrameMkLst>
            <pc:docMk/>
            <pc:sldMk cId="594525742" sldId="2134804412"/>
            <ac:graphicFrameMk id="9" creationId="{A5499A8E-A137-4699-BE3A-E5C6193DB181}"/>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wb208545\AppData\Local\Microsoft\Windows\INetCache\Content.Outlook\6T69VSB3\WEO_Data.xls.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3" Type="http://schemas.openxmlformats.org/officeDocument/2006/relationships/oleObject" Target="../embeddings/oleObject1.bin"/><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embeddings/oleObject2.bin"/><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3" Type="http://schemas.openxmlformats.org/officeDocument/2006/relationships/oleObject" Target="../embeddings/oleObject3.bin"/><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embeddings/oleObject4.bin"/><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embeddings/oleObject5.bin"/><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embeddings/oleObject6.bin"/><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package" Target="../embeddings/Microsoft_Excel_Worksheet1.xlsx"/></Relationships>
</file>

<file path=ppt/charts/_rels/chart10.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oleObject" Target="../embeddings/oleObject7.bin"/></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11.xml"/><Relationship Id="rId1" Type="http://schemas.microsoft.com/office/2011/relationships/chartStyle" Target="style1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050" b="1" i="0" u="none" strike="noStrike" kern="1200" spc="0" baseline="0" dirty="0" smtClean="0">
                <a:solidFill>
                  <a:schemeClr val="tx1"/>
                </a:solidFill>
                <a:latin typeface="Arial" panose="020B0604020202020204" pitchFamily="34" charset="0"/>
                <a:ea typeface="+mn-ea"/>
                <a:cs typeface="Arial" panose="020B0604020202020204" pitchFamily="34" charset="0"/>
              </a:defRPr>
            </a:pPr>
            <a:r>
              <a:rPr lang="en-US" sz="1050" b="1" i="0" u="none" strike="noStrike" kern="1200" spc="0" baseline="0" dirty="0">
                <a:solidFill>
                  <a:schemeClr val="tx1"/>
                </a:solidFill>
                <a:latin typeface="Arial" panose="020B0604020202020204" pitchFamily="34" charset="0"/>
                <a:ea typeface="+mn-ea"/>
                <a:cs typeface="Arial" panose="020B0604020202020204" pitchFamily="34" charset="0"/>
              </a:rPr>
              <a:t>DE: Poverty rates and total number of poor </a:t>
            </a:r>
          </a:p>
        </c:rich>
      </c:tx>
      <c:layout>
        <c:manualLayout>
          <c:xMode val="edge"/>
          <c:yMode val="edge"/>
          <c:x val="9.1588992193222724E-2"/>
          <c:y val="0"/>
        </c:manualLayout>
      </c:layout>
      <c:overlay val="0"/>
      <c:spPr>
        <a:noFill/>
        <a:ln>
          <a:noFill/>
        </a:ln>
        <a:effectLst/>
      </c:spPr>
      <c:txPr>
        <a:bodyPr rot="0" spcFirstLastPara="1" vertOverflow="ellipsis" vert="horz" wrap="square" anchor="ctr" anchorCtr="1"/>
        <a:lstStyle/>
        <a:p>
          <a:pPr>
            <a:defRPr lang="en-US" sz="1050" b="1" i="0" u="none" strike="noStrike" kern="1200" spc="0" baseline="0" dirty="0" smtClean="0">
              <a:solidFill>
                <a:schemeClr val="tx1"/>
              </a:solidFill>
              <a:latin typeface="Arial" panose="020B0604020202020204" pitchFamily="34" charset="0"/>
              <a:ea typeface="+mn-ea"/>
              <a:cs typeface="Arial" panose="020B0604020202020204" pitchFamily="34" charset="0"/>
            </a:defRPr>
          </a:pPr>
          <a:endParaRPr lang="en-US"/>
        </a:p>
      </c:txPr>
    </c:title>
    <c:autoTitleDeleted val="0"/>
    <c:plotArea>
      <c:layout>
        <c:manualLayout>
          <c:layoutTarget val="inner"/>
          <c:xMode val="edge"/>
          <c:yMode val="edge"/>
          <c:x val="0.13577741126953724"/>
          <c:y val="0.15256668497833117"/>
          <c:w val="0.68613505237520989"/>
          <c:h val="0.63899570693198227"/>
        </c:manualLayout>
      </c:layout>
      <c:lineChart>
        <c:grouping val="standard"/>
        <c:varyColors val="0"/>
        <c:ser>
          <c:idx val="6"/>
          <c:order val="0"/>
          <c:tx>
            <c:strRef>
              <c:f>chart!$I$28</c:f>
              <c:strCache>
                <c:ptCount val="1"/>
                <c:pt idx="0">
                  <c:v>Taxa International de pobreza (Eixo Esq)</c:v>
                </c:pt>
              </c:strCache>
            </c:strRef>
          </c:tx>
          <c:spPr>
            <a:ln w="25400" cap="rnd">
              <a:solidFill>
                <a:srgbClr val="7A6563"/>
              </a:solidFill>
              <a:round/>
            </a:ln>
            <a:effectLst/>
          </c:spPr>
          <c:marker>
            <c:symbol val="none"/>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chart!$AO$4:$AO$20</c:f>
              <c:numCache>
                <c:formatCode>General</c:formatCode>
                <c:ptCount val="17"/>
                <c:pt idx="0">
                  <c:v>#N/A</c:v>
                </c:pt>
                <c:pt idx="1">
                  <c:v>#N/A</c:v>
                </c:pt>
                <c:pt idx="2">
                  <c:v>#N/A</c:v>
                </c:pt>
                <c:pt idx="3">
                  <c:v>69.65290274427916</c:v>
                </c:pt>
                <c:pt idx="4">
                  <c:v>#N/A</c:v>
                </c:pt>
                <c:pt idx="5">
                  <c:v>#N/A</c:v>
                </c:pt>
                <c:pt idx="6">
                  <c:v>#N/A</c:v>
                </c:pt>
                <c:pt idx="7">
                  <c:v>#N/A</c:v>
                </c:pt>
                <c:pt idx="8">
                  <c:v>#N/A</c:v>
                </c:pt>
                <c:pt idx="9">
                  <c:v>63.680985966479739</c:v>
                </c:pt>
                <c:pt idx="10">
                  <c:v>#N/A</c:v>
                </c:pt>
                <c:pt idx="11">
                  <c:v>#N/A</c:v>
                </c:pt>
                <c:pt idx="12">
                  <c:v>#N/A</c:v>
                </c:pt>
                <c:pt idx="13">
                  <c:v>#N/A</c:v>
                </c:pt>
                <c:pt idx="14">
                  <c:v>#N/A</c:v>
                </c:pt>
                <c:pt idx="15">
                  <c:v>#N/A</c:v>
                </c:pt>
                <c:pt idx="16">
                  <c:v>#N/A</c:v>
                </c:pt>
              </c:numCache>
            </c:numRef>
          </c:val>
          <c:smooth val="1"/>
          <c:extLst>
            <c:ext xmlns:c16="http://schemas.microsoft.com/office/drawing/2014/chart" uri="{C3380CC4-5D6E-409C-BE32-E72D297353CC}">
              <c16:uniqueId val="{00000000-640A-45DA-9777-4CBE0359EE15}"/>
            </c:ext>
          </c:extLst>
        </c:ser>
        <c:ser>
          <c:idx val="7"/>
          <c:order val="1"/>
          <c:tx>
            <c:strRef>
              <c:f>chart!$K$28</c:f>
              <c:strCache>
                <c:ptCount val="1"/>
                <c:pt idx="0">
                  <c:v>Upper middle-income pov. rate</c:v>
                </c:pt>
              </c:strCache>
            </c:strRef>
          </c:tx>
          <c:spPr>
            <a:ln w="25400" cap="rnd">
              <a:solidFill>
                <a:srgbClr val="CACAAA"/>
              </a:solidFill>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chart!$AQ$4:$AQ$23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1"/>
          <c:extLst>
            <c:ext xmlns:c16="http://schemas.microsoft.com/office/drawing/2014/chart" uri="{C3380CC4-5D6E-409C-BE32-E72D297353CC}">
              <c16:uniqueId val="{00000001-640A-45DA-9777-4CBE0359EE15}"/>
            </c:ext>
          </c:extLst>
        </c:ser>
        <c:ser>
          <c:idx val="11"/>
          <c:order val="3"/>
          <c:tx>
            <c:strRef>
              <c:f>chart!$BK$3</c:f>
              <c:strCache>
                <c:ptCount val="1"/>
                <c:pt idx="0">
                  <c:v>IPR0*</c:v>
                </c:pt>
              </c:strCache>
            </c:strRef>
          </c:tx>
          <c:spPr>
            <a:ln w="25400" cap="rnd">
              <a:solidFill>
                <a:srgbClr val="7A6563"/>
              </a:solidFill>
              <a:prstDash val="solid"/>
              <a:round/>
            </a:ln>
            <a:effectLst/>
          </c:spPr>
          <c:marker>
            <c:symbol val="none"/>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chart!$BK$4:$BK$20</c:f>
              <c:numCache>
                <c:formatCode>General</c:formatCode>
                <c:ptCount val="17"/>
                <c:pt idx="0">
                  <c:v>#N/A</c:v>
                </c:pt>
                <c:pt idx="1">
                  <c:v>#N/A</c:v>
                </c:pt>
                <c:pt idx="2">
                  <c:v>#N/A</c:v>
                </c:pt>
                <c:pt idx="3">
                  <c:v>#N/A</c:v>
                </c:pt>
                <c:pt idx="4">
                  <c:v>#N/A</c:v>
                </c:pt>
                <c:pt idx="5">
                  <c:v>#N/A</c:v>
                </c:pt>
                <c:pt idx="6">
                  <c:v>#N/A</c:v>
                </c:pt>
                <c:pt idx="7">
                  <c:v>#N/A</c:v>
                </c:pt>
                <c:pt idx="8">
                  <c:v>#N/A</c:v>
                </c:pt>
                <c:pt idx="9">
                  <c:v>63.680985966479739</c:v>
                </c:pt>
                <c:pt idx="10">
                  <c:v>62.419725833929739</c:v>
                </c:pt>
                <c:pt idx="11">
                  <c:v>62.116122417403098</c:v>
                </c:pt>
                <c:pt idx="12">
                  <c:v>61.801116062157107</c:v>
                </c:pt>
                <c:pt idx="13">
                  <c:v>61.646681282770558</c:v>
                </c:pt>
                <c:pt idx="14">
                  <c:v>61.85320075671347</c:v>
                </c:pt>
                <c:pt idx="15">
                  <c:v>63.266051265540213</c:v>
                </c:pt>
                <c:pt idx="16">
                  <c:v>63.514261170090229</c:v>
                </c:pt>
              </c:numCache>
            </c:numRef>
          </c:val>
          <c:smooth val="1"/>
          <c:extLst>
            <c:ext xmlns:c16="http://schemas.microsoft.com/office/drawing/2014/chart" uri="{C3380CC4-5D6E-409C-BE32-E72D297353CC}">
              <c16:uniqueId val="{00000002-640A-45DA-9777-4CBE0359EE15}"/>
            </c:ext>
          </c:extLst>
        </c:ser>
        <c:ser>
          <c:idx val="1"/>
          <c:order val="5"/>
          <c:tx>
            <c:strRef>
              <c:f>chart!$BM$3</c:f>
              <c:strCache>
                <c:ptCount val="1"/>
                <c:pt idx="0">
                  <c:v>UMPR0*</c:v>
                </c:pt>
              </c:strCache>
            </c:strRef>
          </c:tx>
          <c:spPr>
            <a:ln w="25400" cap="rnd">
              <a:solidFill>
                <a:srgbClr val="CACAAA"/>
              </a:solidFill>
              <a:prstDash val="sysDot"/>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chart!$BM$4:$BM$23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1"/>
          <c:extLst>
            <c:ext xmlns:c16="http://schemas.microsoft.com/office/drawing/2014/chart" uri="{C3380CC4-5D6E-409C-BE32-E72D297353CC}">
              <c16:uniqueId val="{00000003-640A-45DA-9777-4CBE0359EE15}"/>
            </c:ext>
          </c:extLst>
        </c:ser>
        <c:ser>
          <c:idx val="2"/>
          <c:order val="6"/>
          <c:tx>
            <c:strRef>
              <c:f>chart!$AR$3</c:f>
              <c:strCache>
                <c:ptCount val="1"/>
                <c:pt idx="0">
                  <c:v>IPL1</c:v>
                </c:pt>
              </c:strCache>
            </c:strRef>
          </c:tx>
          <c:spPr>
            <a:ln w="25400" cap="rnd">
              <a:solidFill>
                <a:schemeClr val="accent3"/>
              </a:solidFill>
              <a:round/>
            </a:ln>
            <a:effectLst/>
          </c:spPr>
          <c:marker>
            <c:symbol val="circle"/>
            <c:size val="5"/>
            <c:spPr>
              <a:solidFill>
                <a:srgbClr val="7A6563"/>
              </a:solidFill>
              <a:ln w="12700">
                <a:solidFill>
                  <a:schemeClr val="accent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chart!$AR$4:$AR$23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4-640A-45DA-9777-4CBE0359EE15}"/>
            </c:ext>
          </c:extLst>
        </c:ser>
        <c:ser>
          <c:idx val="4"/>
          <c:order val="7"/>
          <c:tx>
            <c:strRef>
              <c:f>chart!$AS$3</c:f>
              <c:strCache>
                <c:ptCount val="1"/>
                <c:pt idx="0">
                  <c:v>LMIC1</c:v>
                </c:pt>
              </c:strCache>
            </c:strRef>
          </c:tx>
          <c:spPr>
            <a:ln w="25400" cap="rnd">
              <a:solidFill>
                <a:schemeClr val="accent2"/>
              </a:solidFill>
              <a:round/>
            </a:ln>
            <a:effectLst/>
          </c:spPr>
          <c:marker>
            <c:symbol val="none"/>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chart!$AS$4:$AS$23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5-640A-45DA-9777-4CBE0359EE15}"/>
            </c:ext>
          </c:extLst>
        </c:ser>
        <c:ser>
          <c:idx val="5"/>
          <c:order val="8"/>
          <c:tx>
            <c:strRef>
              <c:f>chart!$AT$3</c:f>
              <c:strCache>
                <c:ptCount val="1"/>
                <c:pt idx="0">
                  <c:v>UMIC1</c:v>
                </c:pt>
              </c:strCache>
            </c:strRef>
          </c:tx>
          <c:spPr>
            <a:ln w="25400" cap="rnd">
              <a:solidFill>
                <a:srgbClr val="CACAAA"/>
              </a:solidFill>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chart!$AT$4:$AT$23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6-640A-45DA-9777-4CBE0359EE15}"/>
            </c:ext>
          </c:extLst>
        </c:ser>
        <c:ser>
          <c:idx val="10"/>
          <c:order val="9"/>
          <c:tx>
            <c:strRef>
              <c:f>chart!$AU$3</c:f>
              <c:strCache>
                <c:ptCount val="1"/>
                <c:pt idx="0">
                  <c:v>IPL2</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chart!$AU$4:$AU$23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7-640A-45DA-9777-4CBE0359EE15}"/>
            </c:ext>
          </c:extLst>
        </c:ser>
        <c:ser>
          <c:idx val="12"/>
          <c:order val="10"/>
          <c:tx>
            <c:strRef>
              <c:f>chart!$AV$3</c:f>
              <c:strCache>
                <c:ptCount val="1"/>
                <c:pt idx="0">
                  <c:v>LMIC2</c:v>
                </c:pt>
              </c:strCache>
            </c:strRef>
          </c:tx>
          <c:spPr>
            <a:ln w="25400" cap="rnd">
              <a:solidFill>
                <a:srgbClr val="DE6E4B"/>
              </a:solidFill>
              <a:round/>
            </a:ln>
            <a:effectLst/>
          </c:spPr>
          <c:marker>
            <c:symbol val="circle"/>
            <c:size val="5"/>
            <c:spPr>
              <a:solidFill>
                <a:srgbClr val="DE6E4B"/>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chart!$AV$4:$AV$23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8-640A-45DA-9777-4CBE0359EE15}"/>
            </c:ext>
          </c:extLst>
        </c:ser>
        <c:ser>
          <c:idx val="13"/>
          <c:order val="11"/>
          <c:tx>
            <c:strRef>
              <c:f>chart!$AW$3</c:f>
              <c:strCache>
                <c:ptCount val="1"/>
                <c:pt idx="0">
                  <c:v>UMIC2</c:v>
                </c:pt>
              </c:strCache>
            </c:strRef>
          </c:tx>
          <c:spPr>
            <a:ln w="25400" cap="rnd">
              <a:solidFill>
                <a:schemeClr val="accent4"/>
              </a:solidFill>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chart!$AW$4:$AW$23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9-640A-45DA-9777-4CBE0359EE15}"/>
            </c:ext>
          </c:extLst>
        </c:ser>
        <c:ser>
          <c:idx val="14"/>
          <c:order val="12"/>
          <c:tx>
            <c:strRef>
              <c:f>chart!$AX$3</c:f>
              <c:strCache>
                <c:ptCount val="1"/>
                <c:pt idx="0">
                  <c:v>IPL3</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chart!$AX$4:$AX$23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A-640A-45DA-9777-4CBE0359EE15}"/>
            </c:ext>
          </c:extLst>
        </c:ser>
        <c:ser>
          <c:idx val="15"/>
          <c:order val="13"/>
          <c:tx>
            <c:strRef>
              <c:f>chart!$AY$3</c:f>
              <c:strCache>
                <c:ptCount val="1"/>
                <c:pt idx="0">
                  <c:v>LMIC3</c:v>
                </c:pt>
              </c:strCache>
            </c:strRef>
          </c:tx>
          <c:spPr>
            <a:ln w="25400" cap="rnd">
              <a:solidFill>
                <a:srgbClr val="DE6E4B"/>
              </a:solidFill>
              <a:round/>
            </a:ln>
            <a:effectLst/>
          </c:spPr>
          <c:marker>
            <c:symbol val="circle"/>
            <c:size val="5"/>
            <c:spPr>
              <a:solidFill>
                <a:srgbClr val="DE6E4B"/>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chart!$AY$4:$AY$23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B-640A-45DA-9777-4CBE0359EE15}"/>
            </c:ext>
          </c:extLst>
        </c:ser>
        <c:ser>
          <c:idx val="16"/>
          <c:order val="14"/>
          <c:tx>
            <c:strRef>
              <c:f>chart!$AZ$3</c:f>
              <c:strCache>
                <c:ptCount val="1"/>
                <c:pt idx="0">
                  <c:v>UMIC3</c:v>
                </c:pt>
              </c:strCache>
            </c:strRef>
          </c:tx>
          <c:spPr>
            <a:ln w="25400" cap="rnd">
              <a:solidFill>
                <a:schemeClr val="accent4"/>
              </a:solidFill>
              <a:round/>
            </a:ln>
            <a:effectLst/>
          </c:spPr>
          <c:marker>
            <c:symbol val="circle"/>
            <c:size val="5"/>
            <c:spPr>
              <a:solidFill>
                <a:schemeClr val="accent4"/>
              </a:solidFill>
              <a:ln w="12700">
                <a:solidFill>
                  <a:schemeClr val="accent4"/>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chart!$AZ$4:$AZ$23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C-640A-45DA-9777-4CBE0359EE15}"/>
            </c:ext>
          </c:extLst>
        </c:ser>
        <c:ser>
          <c:idx val="17"/>
          <c:order val="15"/>
          <c:tx>
            <c:strRef>
              <c:f>chart!$BA$3</c:f>
              <c:strCache>
                <c:ptCount val="1"/>
                <c:pt idx="0">
                  <c:v>IPL4</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chart!$BA$4:$BA$23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D-640A-45DA-9777-4CBE0359EE15}"/>
            </c:ext>
          </c:extLst>
        </c:ser>
        <c:ser>
          <c:idx val="18"/>
          <c:order val="16"/>
          <c:tx>
            <c:strRef>
              <c:f>chart!$BB$3</c:f>
              <c:strCache>
                <c:ptCount val="1"/>
                <c:pt idx="0">
                  <c:v>LMIC4</c:v>
                </c:pt>
              </c:strCache>
            </c:strRef>
          </c:tx>
          <c:spPr>
            <a:ln w="25400" cap="rnd">
              <a:solidFill>
                <a:srgbClr val="DE6E4B"/>
              </a:solidFill>
              <a:round/>
            </a:ln>
            <a:effectLst/>
          </c:spPr>
          <c:marker>
            <c:symbol val="circle"/>
            <c:size val="5"/>
            <c:spPr>
              <a:solidFill>
                <a:schemeClr val="accent2">
                  <a:alpha val="99000"/>
                </a:schemeClr>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chart!$BB$4:$BB$23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E-640A-45DA-9777-4CBE0359EE15}"/>
            </c:ext>
          </c:extLst>
        </c:ser>
        <c:ser>
          <c:idx val="19"/>
          <c:order val="17"/>
          <c:tx>
            <c:strRef>
              <c:f>chart!$BC$3</c:f>
              <c:strCache>
                <c:ptCount val="1"/>
                <c:pt idx="0">
                  <c:v>UMIC4</c:v>
                </c:pt>
              </c:strCache>
            </c:strRef>
          </c:tx>
          <c:spPr>
            <a:ln w="25400" cap="rnd">
              <a:solidFill>
                <a:srgbClr val="CACAAA"/>
              </a:solidFill>
              <a:round/>
            </a:ln>
            <a:effectLst/>
          </c:spPr>
          <c:marker>
            <c:symbol val="circle"/>
            <c:size val="5"/>
            <c:spPr>
              <a:solidFill>
                <a:schemeClr val="accent4"/>
              </a:solidFill>
              <a:ln w="12700">
                <a:solidFill>
                  <a:schemeClr val="accent4"/>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chart!$BC$4:$BC$23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F-640A-45DA-9777-4CBE0359EE15}"/>
            </c:ext>
          </c:extLst>
        </c:ser>
        <c:ser>
          <c:idx val="20"/>
          <c:order val="18"/>
          <c:tx>
            <c:strRef>
              <c:f>chart!$BD$3</c:f>
              <c:strCache>
                <c:ptCount val="1"/>
                <c:pt idx="0">
                  <c:v>IPL5</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chart!$BD$4:$BD$23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0-640A-45DA-9777-4CBE0359EE15}"/>
            </c:ext>
          </c:extLst>
        </c:ser>
        <c:ser>
          <c:idx val="21"/>
          <c:order val="19"/>
          <c:tx>
            <c:strRef>
              <c:f>chart!$BE$3</c:f>
              <c:strCache>
                <c:ptCount val="1"/>
                <c:pt idx="0">
                  <c:v>LMIC5</c:v>
                </c:pt>
              </c:strCache>
            </c:strRef>
          </c:tx>
          <c:spPr>
            <a:ln w="25400" cap="rnd">
              <a:solidFill>
                <a:srgbClr val="DE6E4B"/>
              </a:solidFill>
              <a:round/>
            </a:ln>
            <a:effectLst/>
          </c:spPr>
          <c:marker>
            <c:symbol val="circle"/>
            <c:size val="5"/>
            <c:spPr>
              <a:solidFill>
                <a:schemeClr val="accent2"/>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chart!$BE$4:$BE$23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1-640A-45DA-9777-4CBE0359EE15}"/>
            </c:ext>
          </c:extLst>
        </c:ser>
        <c:ser>
          <c:idx val="22"/>
          <c:order val="20"/>
          <c:tx>
            <c:strRef>
              <c:f>chart!$BF$3</c:f>
              <c:strCache>
                <c:ptCount val="1"/>
                <c:pt idx="0">
                  <c:v>UMIC5</c:v>
                </c:pt>
              </c:strCache>
            </c:strRef>
          </c:tx>
          <c:spPr>
            <a:ln w="25400" cap="rnd">
              <a:solidFill>
                <a:srgbClr val="CACAAA"/>
              </a:solidFill>
              <a:round/>
            </a:ln>
            <a:effectLst/>
          </c:spPr>
          <c:marker>
            <c:symbol val="circle"/>
            <c:size val="5"/>
            <c:spPr>
              <a:solidFill>
                <a:srgbClr val="CACAAA"/>
              </a:solidFill>
              <a:ln w="12700">
                <a:solidFill>
                  <a:schemeClr val="accent4"/>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chart!$BF$4:$BF$23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2-640A-45DA-9777-4CBE0359EE15}"/>
            </c:ext>
          </c:extLst>
        </c:ser>
        <c:dLbls>
          <c:showLegendKey val="0"/>
          <c:showVal val="0"/>
          <c:showCatName val="0"/>
          <c:showSerName val="0"/>
          <c:showPercent val="0"/>
          <c:showBubbleSize val="0"/>
        </c:dLbls>
        <c:marker val="1"/>
        <c:smooth val="0"/>
        <c:axId val="347074904"/>
        <c:axId val="347075296"/>
      </c:lineChart>
      <c:lineChart>
        <c:grouping val="standard"/>
        <c:varyColors val="0"/>
        <c:ser>
          <c:idx val="9"/>
          <c:order val="4"/>
          <c:tx>
            <c:strRef>
              <c:f>chart!$F$3</c:f>
              <c:strCache>
                <c:ptCount val="1"/>
                <c:pt idx="0">
                  <c:v>Numero de Pobres (Eixo Dto)</c:v>
                </c:pt>
              </c:strCache>
            </c:strRef>
          </c:tx>
          <c:spPr>
            <a:ln w="28575" cap="rnd">
              <a:solidFill>
                <a:schemeClr val="accent4">
                  <a:lumMod val="60000"/>
                </a:schemeClr>
              </a:solidFill>
              <a:round/>
            </a:ln>
            <a:effectLst/>
          </c:spPr>
          <c:marker>
            <c:symbol val="none"/>
          </c:marker>
          <c:dPt>
            <c:idx val="0"/>
            <c:marker>
              <c:symbol val="none"/>
            </c:marker>
            <c:bubble3D val="0"/>
            <c:spPr>
              <a:ln w="28575" cap="rnd">
                <a:solidFill>
                  <a:srgbClr val="7A6563"/>
                </a:solidFill>
                <a:round/>
              </a:ln>
              <a:effectLst/>
            </c:spPr>
            <c:extLst>
              <c:ext xmlns:c16="http://schemas.microsoft.com/office/drawing/2014/chart" uri="{C3380CC4-5D6E-409C-BE32-E72D297353CC}">
                <c16:uniqueId val="{00000014-640A-45DA-9777-4CBE0359EE15}"/>
              </c:ext>
            </c:extLst>
          </c:dPt>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chart!$F$4:$F$20</c:f>
              <c:numCache>
                <c:formatCode>General</c:formatCode>
                <c:ptCount val="17"/>
                <c:pt idx="3">
                  <c:v>20000000</c:v>
                </c:pt>
                <c:pt idx="9">
                  <c:v>16739287.975513671</c:v>
                </c:pt>
                <c:pt idx="10">
                  <c:v>16879544.456932545</c:v>
                </c:pt>
                <c:pt idx="11">
                  <c:v>17286882.147430629</c:v>
                </c:pt>
                <c:pt idx="12">
                  <c:v>17705407.925265193</c:v>
                </c:pt>
                <c:pt idx="13">
                  <c:v>18183398.974682286</c:v>
                </c:pt>
                <c:pt idx="14">
                  <c:v>18798840.547084846</c:v>
                </c:pt>
                <c:pt idx="15">
                  <c:v>19735766.389045063</c:v>
                </c:pt>
                <c:pt idx="16">
                  <c:v>20328952.032127716</c:v>
                </c:pt>
              </c:numCache>
            </c:numRef>
          </c:val>
          <c:smooth val="1"/>
          <c:extLst>
            <c:ext xmlns:c16="http://schemas.microsoft.com/office/drawing/2014/chart" uri="{C3380CC4-5D6E-409C-BE32-E72D297353CC}">
              <c16:uniqueId val="{00000015-640A-45DA-9777-4CBE0359EE15}"/>
            </c:ext>
          </c:extLst>
        </c:ser>
        <c:ser>
          <c:idx val="23"/>
          <c:order val="21"/>
          <c:tx>
            <c:strRef>
              <c:f>chart!$BG$3</c:f>
              <c:strCache>
                <c:ptCount val="1"/>
                <c:pt idx="0">
                  <c:v>IPL6</c:v>
                </c:pt>
              </c:strCache>
            </c:strRef>
          </c:tx>
          <c:spPr>
            <a:ln w="28575" cap="rnd">
              <a:solidFill>
                <a:schemeClr val="accent6">
                  <a:lumMod val="80000"/>
                </a:schemeClr>
              </a:solidFill>
              <a:round/>
            </a:ln>
            <a:effectLst/>
          </c:spPr>
          <c:marker>
            <c:symbol val="circle"/>
            <c:size val="5"/>
            <c:spPr>
              <a:solidFill>
                <a:schemeClr val="accent6">
                  <a:lumMod val="80000"/>
                </a:schemeClr>
              </a:solidFill>
              <a:ln w="9525">
                <a:solidFill>
                  <a:schemeClr val="accent6">
                    <a:lumMod val="80000"/>
                  </a:schemeClr>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chart!$BG$4:$BG$23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6-640A-45DA-9777-4CBE0359EE15}"/>
            </c:ext>
          </c:extLst>
        </c:ser>
        <c:ser>
          <c:idx val="24"/>
          <c:order val="22"/>
          <c:tx>
            <c:strRef>
              <c:f>chart!$BH$3</c:f>
              <c:strCache>
                <c:ptCount val="1"/>
                <c:pt idx="0">
                  <c:v>LMIC6</c:v>
                </c:pt>
              </c:strCache>
            </c:strRef>
          </c:tx>
          <c:spPr>
            <a:ln w="28575" cap="rnd">
              <a:solidFill>
                <a:schemeClr val="accent1">
                  <a:lumMod val="60000"/>
                  <a:lumOff val="40000"/>
                </a:schemeClr>
              </a:solidFill>
              <a:round/>
            </a:ln>
            <a:effectLst/>
          </c:spPr>
          <c:marker>
            <c:symbol val="circle"/>
            <c:size val="5"/>
            <c:spPr>
              <a:solidFill>
                <a:schemeClr val="accent1">
                  <a:lumMod val="60000"/>
                  <a:lumOff val="40000"/>
                </a:schemeClr>
              </a:solidFill>
              <a:ln w="9525">
                <a:solidFill>
                  <a:schemeClr val="accent1">
                    <a:lumMod val="60000"/>
                    <a:lumOff val="40000"/>
                  </a:schemeClr>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chart!$BH$4:$BH$23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7-640A-45DA-9777-4CBE0359EE15}"/>
            </c:ext>
          </c:extLst>
        </c:ser>
        <c:ser>
          <c:idx val="25"/>
          <c:order val="23"/>
          <c:tx>
            <c:strRef>
              <c:f>chart!$BI$3</c:f>
              <c:strCache>
                <c:ptCount val="1"/>
                <c:pt idx="0">
                  <c:v>UMIC6</c:v>
                </c:pt>
              </c:strCache>
            </c:strRef>
          </c:tx>
          <c:spPr>
            <a:ln w="28575" cap="rnd">
              <a:solidFill>
                <a:schemeClr val="accent2">
                  <a:lumMod val="60000"/>
                  <a:lumOff val="40000"/>
                </a:schemeClr>
              </a:solidFill>
              <a:round/>
            </a:ln>
            <a:effectLst/>
          </c:spPr>
          <c:marker>
            <c:symbol val="circle"/>
            <c:size val="5"/>
            <c:spPr>
              <a:solidFill>
                <a:schemeClr val="accent2">
                  <a:lumMod val="60000"/>
                  <a:lumOff val="40000"/>
                </a:schemeClr>
              </a:solidFill>
              <a:ln w="9525">
                <a:solidFill>
                  <a:schemeClr val="accent2">
                    <a:lumMod val="60000"/>
                    <a:lumOff val="40000"/>
                  </a:schemeClr>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chart!$BI$4:$BI$23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8-640A-45DA-9777-4CBE0359EE15}"/>
            </c:ext>
          </c:extLst>
        </c:ser>
        <c:dLbls>
          <c:showLegendKey val="0"/>
          <c:showVal val="0"/>
          <c:showCatName val="0"/>
          <c:showSerName val="0"/>
          <c:showPercent val="0"/>
          <c:showBubbleSize val="0"/>
        </c:dLbls>
        <c:marker val="1"/>
        <c:smooth val="0"/>
        <c:axId val="347076080"/>
        <c:axId val="347075688"/>
        <c:extLst>
          <c:ext xmlns:c15="http://schemas.microsoft.com/office/drawing/2012/chart" uri="{02D57815-91ED-43cb-92C2-25804820EDAC}">
            <c15:filteredLineSeries>
              <c15:ser>
                <c:idx val="3"/>
                <c:order val="2"/>
                <c:tx>
                  <c:strRef>
                    <c:extLst>
                      <c:ext uri="{02D57815-91ED-43cb-92C2-25804820EDAC}">
                        <c15:formulaRef>
                          <c15:sqref>chart!$BJ$3</c15:sqref>
                        </c15:formulaRef>
                      </c:ext>
                    </c:extLst>
                    <c:strCache>
                      <c:ptCount val="1"/>
                      <c:pt idx="0">
                        <c:v>GDP pc</c:v>
                      </c:pt>
                    </c:strCache>
                  </c:strRef>
                </c:tx>
                <c:spPr>
                  <a:ln w="25400" cap="rnd">
                    <a:solidFill>
                      <a:srgbClr val="7FD1B9">
                        <a:alpha val="93000"/>
                      </a:srgbClr>
                    </a:solidFill>
                    <a:prstDash val="sysDot"/>
                    <a:round/>
                  </a:ln>
                  <a:effectLst/>
                </c:spPr>
                <c:marker>
                  <c:symbol val="circle"/>
                  <c:size val="5"/>
                  <c:spPr>
                    <a:solidFill>
                      <a:srgbClr val="7FD1B9"/>
                    </a:solidFill>
                    <a:ln w="12700">
                      <a:solidFill>
                        <a:srgbClr val="7FD1B9"/>
                      </a:solidFill>
                      <a:prstDash val="solid"/>
                    </a:ln>
                    <a:effectLst/>
                  </c:spPr>
                </c:marker>
                <c:cat>
                  <c:numRef>
                    <c:extLst>
                      <c:ext uri="{02D57815-91ED-43cb-92C2-25804820EDAC}">
                        <c15:formulaRef>
                          <c15:sqref>chart!$AM$4:$AM$20</c15:sqref>
                        </c15:formulaRef>
                      </c:ext>
                    </c:extLst>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extLst>
                      <c:ext uri="{02D57815-91ED-43cb-92C2-25804820EDAC}">
                        <c15:formulaRef>
                          <c15:sqref>chart!$BJ$4:$BJ$20</c15:sqref>
                        </c15:formulaRef>
                      </c:ext>
                    </c:extLst>
                    <c:numCache>
                      <c:formatCode>General</c:formatCode>
                      <c:ptCount val="17"/>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21213.024724533054</c:v>
                      </c:pt>
                    </c:numCache>
                  </c:numRef>
                </c:val>
                <c:smooth val="1"/>
                <c:extLst>
                  <c:ext xmlns:c16="http://schemas.microsoft.com/office/drawing/2014/chart" uri="{C3380CC4-5D6E-409C-BE32-E72D297353CC}">
                    <c16:uniqueId val="{00000019-640A-45DA-9777-4CBE0359EE15}"/>
                  </c:ext>
                </c:extLst>
              </c15:ser>
            </c15:filteredLineSeries>
          </c:ext>
        </c:extLst>
      </c:lineChart>
      <c:dateAx>
        <c:axId val="347074904"/>
        <c:scaling>
          <c:orientation val="minMax"/>
        </c:scaling>
        <c:delete val="0"/>
        <c:axPos val="b"/>
        <c:numFmt formatCode="0" sourceLinked="1"/>
        <c:majorTickMark val="out"/>
        <c:minorTickMark val="out"/>
        <c:tickLblPos val="low"/>
        <c:spPr>
          <a:noFill/>
          <a:ln w="12700" cap="flat" cmpd="sng" algn="ctr">
            <a:solidFill>
              <a:srgbClr val="CCCCCC"/>
            </a:solidFill>
            <a:round/>
          </a:ln>
          <a:effectLst/>
        </c:spPr>
        <c:txPr>
          <a:bodyPr rot="0" spcFirstLastPara="1" vertOverflow="ellipsis" wrap="square" anchor="ctr" anchorCtr="1"/>
          <a:lstStyle/>
          <a:p>
            <a:pPr>
              <a:defRPr lang="en-US" sz="800" b="0" i="0" u="none" strike="noStrike" kern="1200" baseline="0">
                <a:solidFill>
                  <a:sysClr val="windowText" lastClr="000000"/>
                </a:solidFill>
                <a:latin typeface="+mn-lt"/>
                <a:ea typeface="+mn-ea"/>
                <a:cs typeface="+mn-cs"/>
              </a:defRPr>
            </a:pPr>
            <a:endParaRPr lang="en-US"/>
          </a:p>
        </c:txPr>
        <c:crossAx val="347075296"/>
        <c:crosses val="autoZero"/>
        <c:auto val="0"/>
        <c:lblOffset val="100"/>
        <c:baseTimeUnit val="days"/>
      </c:dateAx>
      <c:valAx>
        <c:axId val="347075296"/>
        <c:scaling>
          <c:orientation val="minMax"/>
        </c:scaling>
        <c:delete val="0"/>
        <c:axPos val="l"/>
        <c:title>
          <c:tx>
            <c:rich>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r>
                  <a:rPr lang="en-US"/>
                  <a:t>DE: Taxa de Pobreza (%)</a:t>
                </a:r>
              </a:p>
            </c:rich>
          </c:tx>
          <c:layout>
            <c:manualLayout>
              <c:xMode val="edge"/>
              <c:yMode val="edge"/>
              <c:x val="6.3636471116786065E-3"/>
              <c:y val="0.25779602162132836"/>
            </c:manualLayout>
          </c:layout>
          <c:overlay val="0"/>
          <c:spPr>
            <a:noFill/>
            <a:ln>
              <a:noFill/>
            </a:ln>
            <a:effectLst/>
          </c:spPr>
          <c:txPr>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title>
        <c:numFmt formatCode="0" sourceLinked="0"/>
        <c:majorTickMark val="out"/>
        <c:minorTickMark val="none"/>
        <c:tickLblPos val="nextTo"/>
        <c:spPr>
          <a:noFill/>
          <a:ln w="12700">
            <a:solidFill>
              <a:srgbClr val="CCCCCC"/>
            </a:solidFill>
          </a:ln>
          <a:effectLst/>
        </c:spPr>
        <c:txPr>
          <a:bodyPr rot="-600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crossAx val="347074904"/>
        <c:crosses val="autoZero"/>
        <c:crossBetween val="between"/>
      </c:valAx>
      <c:valAx>
        <c:axId val="347075688"/>
        <c:scaling>
          <c:orientation val="minMax"/>
        </c:scaling>
        <c:delete val="0"/>
        <c:axPos val="r"/>
        <c:title>
          <c:tx>
            <c:rich>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r>
                  <a:rPr lang="en-US" dirty="0" err="1"/>
                  <a:t>DE: Número</a:t>
                </a:r>
                <a:r>
                  <a:rPr lang="en-US" dirty="0"/>
                  <a:t> de </a:t>
                </a:r>
                <a:r>
                  <a:rPr lang="en-US" dirty="0" err="1"/>
                  <a:t>DE: pobres</a:t>
                </a:r>
                <a:r>
                  <a:rPr lang="en-US" dirty="0"/>
                  <a:t> 
</a:t>
                </a:r>
              </a:p>
            </c:rich>
          </c:tx>
          <c:layout>
            <c:manualLayout>
              <c:xMode val="edge"/>
              <c:yMode val="edge"/>
              <c:x val="0.91475491239270756"/>
              <c:y val="0.24633427604495176"/>
            </c:manualLayout>
          </c:layout>
          <c:overlay val="0"/>
          <c:spPr>
            <a:noFill/>
            <a:ln>
              <a:noFill/>
            </a:ln>
            <a:effectLst/>
          </c:spPr>
          <c:txPr>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title>
        <c:numFmt formatCode="#,##0" sourceLinked="0"/>
        <c:majorTickMark val="out"/>
        <c:minorTickMark val="none"/>
        <c:tickLblPos val="nextTo"/>
        <c:spPr>
          <a:noFill/>
          <a:ln w="12700">
            <a:solidFill>
              <a:srgbClr val="CCCCCC"/>
            </a:solidFill>
          </a:ln>
          <a:effectLst/>
        </c:spPr>
        <c:txPr>
          <a:bodyPr rot="-600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crossAx val="347076080"/>
        <c:crosses val="max"/>
        <c:crossBetween val="between"/>
        <c:dispUnits>
          <c:builtInUnit val="millions"/>
          <c:dispUnitsLbl>
            <c:layout>
              <c:manualLayout>
                <c:xMode val="edge"/>
                <c:yMode val="edge"/>
                <c:x val="0.87551902295996786"/>
                <c:y val="0.36789829565877907"/>
              </c:manualLayout>
            </c:layout>
            <c:spPr>
              <a:noFill/>
              <a:ln>
                <a:noFill/>
              </a:ln>
              <a:effectLst/>
            </c:spPr>
            <c:txPr>
              <a:bodyPr rot="-5400000" spcFirstLastPara="1" vertOverflow="ellipsis" vert="horz" wrap="square" anchor="ctr" anchorCtr="1"/>
              <a:lstStyle/>
              <a:p>
                <a:pPr>
                  <a:defRPr lang="en-US" sz="800" b="0" i="0" u="none" strike="noStrike" kern="1200" baseline="0" smtClean="0">
                    <a:solidFill>
                      <a:sysClr val="windowText" lastClr="000000"/>
                    </a:solidFill>
                    <a:latin typeface="+mn-lt"/>
                    <a:ea typeface="+mn-ea"/>
                    <a:cs typeface="+mn-cs"/>
                  </a:defRPr>
                </a:pPr>
                <a:endParaRPr lang="en-US"/>
              </a:p>
            </c:txPr>
          </c:dispUnitsLbl>
        </c:dispUnits>
      </c:valAx>
      <c:dateAx>
        <c:axId val="347076080"/>
        <c:scaling>
          <c:orientation val="minMax"/>
        </c:scaling>
        <c:delete val="1"/>
        <c:axPos val="b"/>
        <c:numFmt formatCode="0" sourceLinked="1"/>
        <c:majorTickMark val="out"/>
        <c:minorTickMark val="none"/>
        <c:tickLblPos val="nextTo"/>
        <c:crossAx val="347075688"/>
        <c:crosses val="autoZero"/>
        <c:auto val="0"/>
        <c:lblOffset val="100"/>
        <c:baseTimeUnit val="days"/>
      </c:dateAx>
      <c:spPr>
        <a:noFill/>
        <a:ln w="25400">
          <a:noFill/>
        </a:ln>
        <a:effectLst/>
      </c:spPr>
    </c:plotArea>
    <c:legend>
      <c:legendPos val="b"/>
      <c:legendEntry>
        <c:idx val="1"/>
        <c:delete val="1"/>
      </c:legendEntry>
      <c:legendEntry>
        <c:idx val="2"/>
        <c:delete val="1"/>
      </c:legendEntry>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legendEntry>
        <c:idx val="9"/>
        <c:delete val="1"/>
      </c:legendEntry>
      <c:legendEntry>
        <c:idx val="10"/>
        <c:delete val="1"/>
      </c:legendEntry>
      <c:legendEntry>
        <c:idx val="11"/>
        <c:delete val="1"/>
      </c:legendEntry>
      <c:legendEntry>
        <c:idx val="12"/>
        <c:delete val="1"/>
      </c:legendEntry>
      <c:legendEntry>
        <c:idx val="13"/>
        <c:delete val="1"/>
      </c:legendEntry>
      <c:legendEntry>
        <c:idx val="14"/>
        <c:delete val="1"/>
      </c:legendEntry>
      <c:legendEntry>
        <c:idx val="15"/>
        <c:delete val="1"/>
      </c:legendEntry>
      <c:legendEntry>
        <c:idx val="16"/>
        <c:delete val="1"/>
      </c:legendEntry>
      <c:legendEntry>
        <c:idx val="17"/>
        <c:delete val="1"/>
      </c:legendEntry>
      <c:legendEntry>
        <c:idx val="18"/>
        <c:delete val="1"/>
      </c:legendEntry>
      <c:legendEntry>
        <c:idx val="20"/>
        <c:delete val="1"/>
      </c:legendEntry>
      <c:legendEntry>
        <c:idx val="21"/>
        <c:delete val="1"/>
      </c:legendEntry>
      <c:legendEntry>
        <c:idx val="22"/>
        <c:delete val="1"/>
      </c:legendEntry>
      <c:layout>
        <c:manualLayout>
          <c:xMode val="edge"/>
          <c:yMode val="edge"/>
          <c:x val="8.7589051368578939E-3"/>
          <c:y val="0.89981913318527473"/>
          <c:w val="0.98538595561786746"/>
          <c:h val="0.10018078803884993"/>
        </c:manualLayout>
      </c:layout>
      <c:overlay val="0"/>
      <c:spPr>
        <a:noFill/>
        <a:ln>
          <a:noFill/>
        </a:ln>
        <a:effectLst/>
      </c:spPr>
      <c:txPr>
        <a:bodyPr rot="0" spcFirstLastPara="1" vertOverflow="ellipsis" vert="horz" wrap="square" anchor="ctr" anchorCtr="1"/>
        <a:lstStyle/>
        <a:p>
          <a:pPr>
            <a:defRPr lang="en-US" sz="750" b="0" i="0" u="none" strike="noStrike" kern="1200" baseline="0">
              <a:solidFill>
                <a:sysClr val="windowText" lastClr="000000"/>
              </a:solidFill>
              <a:latin typeface="+mn-lt"/>
              <a:ea typeface="+mn-ea"/>
              <a:cs typeface="+mn-cs"/>
            </a:defRPr>
          </a:pPr>
          <a:endParaRPr lang="en-US"/>
        </a:p>
      </c:txPr>
    </c:legend>
    <c:plotVisOnly val="1"/>
    <c:dispBlanksAs val="span"/>
    <c:showDLblsOverMax val="0"/>
  </c:chart>
  <c:spPr>
    <a:noFill/>
    <a:ln w="9525" cap="flat" cmpd="sng" algn="ctr">
      <a:noFill/>
      <a:round/>
    </a:ln>
    <a:effectLst/>
  </c:spPr>
  <c:txPr>
    <a:bodyPr/>
    <a:lstStyle/>
    <a:p>
      <a:pPr algn="ctr">
        <a:defRPr lang="en-US" sz="800" b="0" i="0" u="none" strike="noStrike" kern="1200" baseline="0">
          <a:solidFill>
            <a:sysClr val="windowText" lastClr="000000"/>
          </a:solidFill>
          <a:latin typeface="+mn-lt"/>
          <a:ea typeface="+mn-ea"/>
          <a:cs typeface="+mn-cs"/>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rtl="0">
              <a:defRPr sz="960" b="1" i="0" u="none" strike="noStrike" kern="1200" spc="0" baseline="0">
                <a:solidFill>
                  <a:schemeClr val="tx1"/>
                </a:solidFill>
                <a:latin typeface="Arial" panose="020B0604020202020204" pitchFamily="34" charset="0"/>
                <a:ea typeface="+mn-ea"/>
                <a:cs typeface="Arial" panose="020B0604020202020204" pitchFamily="34" charset="0"/>
              </a:defRPr>
            </a:pPr>
            <a:r>
              <a:rPr lang="en-US" b="1" dirty="0"/>
              <a:t>DE: Nominal GDP per Capita (1998 - 2021) </a:t>
            </a:r>
          </a:p>
        </c:rich>
      </c:tx>
      <c:layout>
        <c:manualLayout>
          <c:xMode val="edge"/>
          <c:yMode val="edge"/>
          <c:x val="0.17644002269986522"/>
          <c:y val="4.0669274383337742E-2"/>
        </c:manualLayout>
      </c:layout>
      <c:overlay val="0"/>
      <c:spPr>
        <a:noFill/>
        <a:ln>
          <a:noFill/>
        </a:ln>
        <a:effectLst/>
      </c:spPr>
      <c:txPr>
        <a:bodyPr rot="0" spcFirstLastPara="1" vertOverflow="ellipsis" vert="horz" wrap="square" anchor="ctr" anchorCtr="1"/>
        <a:lstStyle/>
        <a:p>
          <a:pPr algn="ctr" rtl="0">
            <a:defRPr sz="960" b="1" i="0" u="none" strike="noStrike" kern="1200" spc="0" baseline="0">
              <a:solidFill>
                <a:schemeClr val="tx1"/>
              </a:solidFill>
              <a:latin typeface="Arial" panose="020B0604020202020204" pitchFamily="34" charset="0"/>
              <a:ea typeface="+mn-ea"/>
              <a:cs typeface="Arial" panose="020B0604020202020204" pitchFamily="34" charset="0"/>
            </a:defRPr>
          </a:pPr>
          <a:endParaRPr lang="en-US"/>
        </a:p>
      </c:txPr>
    </c:title>
    <c:autoTitleDeleted val="0"/>
    <c:plotArea>
      <c:layout>
        <c:manualLayout>
          <c:layoutTarget val="inner"/>
          <c:xMode val="edge"/>
          <c:yMode val="edge"/>
          <c:x val="0.15397849761091456"/>
          <c:y val="0.18604658792650919"/>
          <c:w val="0.79448656181298138"/>
          <c:h val="0.61513204744755745"/>
        </c:manualLayout>
      </c:layout>
      <c:lineChart>
        <c:grouping val="standard"/>
        <c:varyColors val="0"/>
        <c:ser>
          <c:idx val="0"/>
          <c:order val="0"/>
          <c:spPr>
            <a:ln w="22225" cap="rnd">
              <a:solidFill>
                <a:schemeClr val="accent1"/>
              </a:solidFill>
              <a:round/>
            </a:ln>
            <a:effectLst/>
          </c:spPr>
          <c:marker>
            <c:symbol val="none"/>
          </c:marker>
          <c:trendline>
            <c:spPr>
              <a:ln w="38100" cap="rnd">
                <a:solidFill>
                  <a:schemeClr val="accent1"/>
                </a:solidFill>
                <a:prstDash val="sysDot"/>
              </a:ln>
              <a:effectLst/>
            </c:spPr>
            <c:trendlineType val="linear"/>
            <c:dispRSqr val="0"/>
            <c:dispEq val="0"/>
          </c:trendline>
          <c:cat>
            <c:numRef>
              <c:f>WEO_Data!$N$1:$AK$1</c:f>
              <c:numCache>
                <c:formatCode>General</c:formatCode>
                <c:ptCount val="24"/>
                <c:pt idx="0">
                  <c:v>1998</c:v>
                </c:pt>
                <c:pt idx="1">
                  <c:v>1999</c:v>
                </c:pt>
                <c:pt idx="2">
                  <c:v>2000</c:v>
                </c:pt>
                <c:pt idx="3">
                  <c:v>2001</c:v>
                </c:pt>
                <c:pt idx="4">
                  <c:v>2002</c:v>
                </c:pt>
                <c:pt idx="5">
                  <c:v>2003</c:v>
                </c:pt>
                <c:pt idx="6">
                  <c:v>2004</c:v>
                </c:pt>
                <c:pt idx="7">
                  <c:v>2005</c:v>
                </c:pt>
                <c:pt idx="8">
                  <c:v>2006</c:v>
                </c:pt>
                <c:pt idx="9">
                  <c:v>2007</c:v>
                </c:pt>
                <c:pt idx="10">
                  <c:v>2008</c:v>
                </c:pt>
                <c:pt idx="11">
                  <c:v>2009</c:v>
                </c:pt>
                <c:pt idx="12">
                  <c:v>2010</c:v>
                </c:pt>
                <c:pt idx="13">
                  <c:v>2011</c:v>
                </c:pt>
                <c:pt idx="14">
                  <c:v>2012</c:v>
                </c:pt>
                <c:pt idx="15">
                  <c:v>2013</c:v>
                </c:pt>
                <c:pt idx="16">
                  <c:v>2014</c:v>
                </c:pt>
                <c:pt idx="17">
                  <c:v>2015</c:v>
                </c:pt>
                <c:pt idx="18">
                  <c:v>2016</c:v>
                </c:pt>
                <c:pt idx="19">
                  <c:v>2017</c:v>
                </c:pt>
                <c:pt idx="20">
                  <c:v>2018</c:v>
                </c:pt>
                <c:pt idx="21">
                  <c:v>2019</c:v>
                </c:pt>
                <c:pt idx="22">
                  <c:v>2020</c:v>
                </c:pt>
                <c:pt idx="23">
                  <c:v>2021</c:v>
                </c:pt>
              </c:numCache>
            </c:numRef>
          </c:cat>
          <c:val>
            <c:numRef>
              <c:f>WEO_Data!$N$2:$AK$2</c:f>
              <c:numCache>
                <c:formatCode>0</c:formatCode>
                <c:ptCount val="24"/>
                <c:pt idx="0">
                  <c:v>313.06400000000002</c:v>
                </c:pt>
                <c:pt idx="1">
                  <c:v>346.57400000000001</c:v>
                </c:pt>
                <c:pt idx="2">
                  <c:v>319.358</c:v>
                </c:pt>
                <c:pt idx="3">
                  <c:v>296.26799999999997</c:v>
                </c:pt>
                <c:pt idx="4">
                  <c:v>302.54599999999999</c:v>
                </c:pt>
                <c:pt idx="5">
                  <c:v>326.07499999999999</c:v>
                </c:pt>
                <c:pt idx="6">
                  <c:v>383.27</c:v>
                </c:pt>
                <c:pt idx="7">
                  <c:v>416.81099999999998</c:v>
                </c:pt>
                <c:pt idx="8">
                  <c:v>435.334</c:v>
                </c:pt>
                <c:pt idx="9">
                  <c:v>482.19799999999998</c:v>
                </c:pt>
                <c:pt idx="10">
                  <c:v>563.649</c:v>
                </c:pt>
                <c:pt idx="11">
                  <c:v>520.40300000000002</c:v>
                </c:pt>
                <c:pt idx="12">
                  <c:v>471.904</c:v>
                </c:pt>
                <c:pt idx="13">
                  <c:v>594.58600000000001</c:v>
                </c:pt>
                <c:pt idx="14">
                  <c:v>657.64499999999998</c:v>
                </c:pt>
                <c:pt idx="15">
                  <c:v>664.07799999999997</c:v>
                </c:pt>
                <c:pt idx="16">
                  <c:v>673.96900000000005</c:v>
                </c:pt>
                <c:pt idx="17">
                  <c:v>589.86</c:v>
                </c:pt>
                <c:pt idx="18">
                  <c:v>428.92700000000002</c:v>
                </c:pt>
                <c:pt idx="19">
                  <c:v>461.41500000000002</c:v>
                </c:pt>
                <c:pt idx="20">
                  <c:v>503.30200000000002</c:v>
                </c:pt>
                <c:pt idx="21">
                  <c:v>506.81700000000001</c:v>
                </c:pt>
                <c:pt idx="22">
                  <c:v>448.84399999999999</c:v>
                </c:pt>
                <c:pt idx="23">
                  <c:v>492.27300000000002</c:v>
                </c:pt>
              </c:numCache>
            </c:numRef>
          </c:val>
          <c:smooth val="0"/>
          <c:extLst>
            <c:ext xmlns:c16="http://schemas.microsoft.com/office/drawing/2014/chart" uri="{C3380CC4-5D6E-409C-BE32-E72D297353CC}">
              <c16:uniqueId val="{00000001-B8A7-4445-9761-209A75DFFF5E}"/>
            </c:ext>
          </c:extLst>
        </c:ser>
        <c:dLbls>
          <c:showLegendKey val="0"/>
          <c:showVal val="0"/>
          <c:showCatName val="0"/>
          <c:showSerName val="0"/>
          <c:showPercent val="0"/>
          <c:showBubbleSize val="0"/>
        </c:dLbls>
        <c:smooth val="0"/>
        <c:axId val="1373882991"/>
        <c:axId val="1373882575"/>
      </c:lineChart>
      <c:catAx>
        <c:axId val="137388299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1373882575"/>
        <c:crosses val="autoZero"/>
        <c:auto val="1"/>
        <c:lblAlgn val="ctr"/>
        <c:lblOffset val="100"/>
        <c:noMultiLvlLbl val="0"/>
      </c:catAx>
      <c:valAx>
        <c:axId val="1373882575"/>
        <c:scaling>
          <c:orientation val="minMax"/>
          <c:max val="800"/>
          <c:min val="20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r>
                  <a:rPr lang="en-US"/>
                  <a:t>DE: USD</a:t>
                </a:r>
              </a:p>
            </c:rich>
          </c:tx>
          <c:overlay val="0"/>
          <c:spPr>
            <a:noFill/>
            <a:ln>
              <a:noFill/>
            </a:ln>
            <a:effectLst/>
          </c:spPr>
          <c:txPr>
            <a:bodyPr rot="-54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1373882991"/>
        <c:crossesAt val="1"/>
        <c:crossBetween val="midCat"/>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800">
          <a:solidFill>
            <a:schemeClr val="tx1"/>
          </a:solidFill>
          <a:latin typeface="Arial" panose="020B0604020202020204" pitchFamily="34" charset="0"/>
          <a:cs typeface="Arial" panose="020B0604020202020204" pitchFamily="34" charset="0"/>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000" b="1" i="0" u="none" strike="noStrike" kern="1200" spc="0" baseline="0">
                <a:solidFill>
                  <a:schemeClr val="tx1"/>
                </a:solidFill>
                <a:latin typeface="+mn-lt"/>
                <a:ea typeface="+mn-ea"/>
                <a:cs typeface="+mn-cs"/>
              </a:defRPr>
            </a:pPr>
            <a:r>
              <a:rPr lang="en-US" sz="1000" b="1" dirty="0"/>
              <a:t>DE: Ghana</a:t>
            </a:r>
          </a:p>
        </c:rich>
      </c:tx>
      <c:layout>
        <c:manualLayout>
          <c:xMode val="edge"/>
          <c:yMode val="edge"/>
          <c:x val="0.43990959463400414"/>
          <c:y val="2.9845391074027772E-2"/>
        </c:manualLayout>
      </c:layout>
      <c:overlay val="0"/>
      <c:spPr>
        <a:noFill/>
        <a:ln>
          <a:noFill/>
        </a:ln>
        <a:effectLst/>
      </c:spPr>
      <c:txPr>
        <a:bodyPr rot="0" spcFirstLastPara="1" vertOverflow="ellipsis" vert="horz" wrap="square" anchor="ctr" anchorCtr="1"/>
        <a:lstStyle/>
        <a:p>
          <a:pPr>
            <a:defRPr sz="1000" b="1" i="0" u="none" strike="noStrike" kern="1200" spc="0" baseline="0">
              <a:solidFill>
                <a:schemeClr val="tx1"/>
              </a:solidFill>
              <a:latin typeface="+mn-lt"/>
              <a:ea typeface="+mn-ea"/>
              <a:cs typeface="+mn-cs"/>
            </a:defRPr>
          </a:pPr>
          <a:endParaRPr lang="en-US"/>
        </a:p>
      </c:txPr>
    </c:title>
    <c:autoTitleDeleted val="0"/>
    <c:plotArea>
      <c:layout>
        <c:manualLayout>
          <c:layoutTarget val="inner"/>
          <c:xMode val="edge"/>
          <c:yMode val="edge"/>
          <c:x val="0.16055159049439793"/>
          <c:y val="0.14632725436291447"/>
          <c:w val="0.81699165217111958"/>
          <c:h val="0.64778554555626755"/>
        </c:manualLayout>
      </c:layout>
      <c:lineChart>
        <c:grouping val="standard"/>
        <c:varyColors val="0"/>
        <c:ser>
          <c:idx val="0"/>
          <c:order val="0"/>
          <c:tx>
            <c:strRef>
              <c:f>'Employment other countries'!$B$8</c:f>
              <c:strCache>
                <c:ptCount val="1"/>
                <c:pt idx="0">
                  <c:v>Agriculture</c:v>
                </c:pt>
              </c:strCache>
            </c:strRef>
          </c:tx>
          <c:spPr>
            <a:ln w="28575" cap="rnd">
              <a:solidFill>
                <a:schemeClr val="accent1"/>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countries'!$C$8:$AE$8</c:f>
              <c:numCache>
                <c:formatCode>0</c:formatCode>
                <c:ptCount val="29"/>
                <c:pt idx="0">
                  <c:v>57.119998931884801</c:v>
                </c:pt>
                <c:pt idx="1">
                  <c:v>56.939998626708999</c:v>
                </c:pt>
                <c:pt idx="2">
                  <c:v>56.680000305175803</c:v>
                </c:pt>
                <c:pt idx="3">
                  <c:v>56.490001678466797</c:v>
                </c:pt>
                <c:pt idx="4">
                  <c:v>56.240001678466797</c:v>
                </c:pt>
                <c:pt idx="5">
                  <c:v>55.970001220703097</c:v>
                </c:pt>
                <c:pt idx="6">
                  <c:v>55.659999847412102</c:v>
                </c:pt>
                <c:pt idx="7">
                  <c:v>55.299999237060497</c:v>
                </c:pt>
                <c:pt idx="8">
                  <c:v>54.950000762939503</c:v>
                </c:pt>
                <c:pt idx="9">
                  <c:v>55.029998779296903</c:v>
                </c:pt>
                <c:pt idx="10">
                  <c:v>55.099998474121101</c:v>
                </c:pt>
                <c:pt idx="11">
                  <c:v>55.119998931884801</c:v>
                </c:pt>
                <c:pt idx="12">
                  <c:v>55.099998474121101</c:v>
                </c:pt>
                <c:pt idx="13">
                  <c:v>55.049999237060497</c:v>
                </c:pt>
                <c:pt idx="14">
                  <c:v>54.959999084472699</c:v>
                </c:pt>
                <c:pt idx="15">
                  <c:v>54.930000305175803</c:v>
                </c:pt>
                <c:pt idx="16">
                  <c:v>53.939998626708999</c:v>
                </c:pt>
                <c:pt idx="17">
                  <c:v>52.630001068115199</c:v>
                </c:pt>
                <c:pt idx="18">
                  <c:v>51.509998321533203</c:v>
                </c:pt>
                <c:pt idx="19">
                  <c:v>50.110000610351598</c:v>
                </c:pt>
                <c:pt idx="20">
                  <c:v>48.360000610351598</c:v>
                </c:pt>
                <c:pt idx="21">
                  <c:v>46.849998474121101</c:v>
                </c:pt>
                <c:pt idx="22">
                  <c:v>45.380001068115199</c:v>
                </c:pt>
                <c:pt idx="23">
                  <c:v>40.409999847412102</c:v>
                </c:pt>
                <c:pt idx="24">
                  <c:v>35.180000305175803</c:v>
                </c:pt>
                <c:pt idx="25">
                  <c:v>33.889999389648402</c:v>
                </c:pt>
                <c:pt idx="26">
                  <c:v>32.569999694824197</c:v>
                </c:pt>
                <c:pt idx="27">
                  <c:v>31.049999237060501</c:v>
                </c:pt>
                <c:pt idx="28">
                  <c:v>29.75</c:v>
                </c:pt>
              </c:numCache>
            </c:numRef>
          </c:val>
          <c:smooth val="0"/>
          <c:extLst>
            <c:ext xmlns:c16="http://schemas.microsoft.com/office/drawing/2014/chart" uri="{C3380CC4-5D6E-409C-BE32-E72D297353CC}">
              <c16:uniqueId val="{00000000-D36D-44E7-9431-96E9731FE797}"/>
            </c:ext>
          </c:extLst>
        </c:ser>
        <c:ser>
          <c:idx val="1"/>
          <c:order val="1"/>
          <c:tx>
            <c:strRef>
              <c:f>'Employment other countries'!$B$9</c:f>
              <c:strCache>
                <c:ptCount val="1"/>
                <c:pt idx="0">
                  <c:v>Industry</c:v>
                </c:pt>
              </c:strCache>
            </c:strRef>
          </c:tx>
          <c:spPr>
            <a:ln w="28575" cap="rnd">
              <a:solidFill>
                <a:schemeClr val="tx2"/>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countries'!$C$9:$AE$9</c:f>
              <c:numCache>
                <c:formatCode>0</c:formatCode>
                <c:ptCount val="29"/>
                <c:pt idx="0">
                  <c:v>14.0100002288818</c:v>
                </c:pt>
                <c:pt idx="1">
                  <c:v>14</c:v>
                </c:pt>
                <c:pt idx="2">
                  <c:v>14.060000419616699</c:v>
                </c:pt>
                <c:pt idx="3">
                  <c:v>14.0299997329712</c:v>
                </c:pt>
                <c:pt idx="4">
                  <c:v>14.0100002288818</c:v>
                </c:pt>
                <c:pt idx="5">
                  <c:v>13.9700002670288</c:v>
                </c:pt>
                <c:pt idx="6">
                  <c:v>13.9799995422363</c:v>
                </c:pt>
                <c:pt idx="7">
                  <c:v>13.9700002670288</c:v>
                </c:pt>
                <c:pt idx="8">
                  <c:v>13.9899997711182</c:v>
                </c:pt>
                <c:pt idx="9">
                  <c:v>14</c:v>
                </c:pt>
                <c:pt idx="10">
                  <c:v>14.0100002288818</c:v>
                </c:pt>
                <c:pt idx="11">
                  <c:v>14.039999961853001</c:v>
                </c:pt>
                <c:pt idx="12">
                  <c:v>14.069999694824199</c:v>
                </c:pt>
                <c:pt idx="13">
                  <c:v>14.1099996566772</c:v>
                </c:pt>
                <c:pt idx="14">
                  <c:v>14.180000305175801</c:v>
                </c:pt>
                <c:pt idx="15">
                  <c:v>14.2299995422363</c:v>
                </c:pt>
                <c:pt idx="16">
                  <c:v>14.069999694824199</c:v>
                </c:pt>
                <c:pt idx="17">
                  <c:v>13.949999809265099</c:v>
                </c:pt>
                <c:pt idx="18">
                  <c:v>13.8699998855591</c:v>
                </c:pt>
                <c:pt idx="19">
                  <c:v>13.9099998474121</c:v>
                </c:pt>
                <c:pt idx="20">
                  <c:v>13.9799995422363</c:v>
                </c:pt>
                <c:pt idx="21">
                  <c:v>14</c:v>
                </c:pt>
                <c:pt idx="22">
                  <c:v>14.069999694824199</c:v>
                </c:pt>
                <c:pt idx="23">
                  <c:v>16.200000762939499</c:v>
                </c:pt>
                <c:pt idx="24">
                  <c:v>18.690000534057599</c:v>
                </c:pt>
                <c:pt idx="25">
                  <c:v>19.129999160766602</c:v>
                </c:pt>
                <c:pt idx="26">
                  <c:v>19.620000839233398</c:v>
                </c:pt>
                <c:pt idx="27">
                  <c:v>20.469999313354499</c:v>
                </c:pt>
                <c:pt idx="28">
                  <c:v>21.049999237060501</c:v>
                </c:pt>
              </c:numCache>
            </c:numRef>
          </c:val>
          <c:smooth val="0"/>
          <c:extLst>
            <c:ext xmlns:c16="http://schemas.microsoft.com/office/drawing/2014/chart" uri="{C3380CC4-5D6E-409C-BE32-E72D297353CC}">
              <c16:uniqueId val="{00000001-D36D-44E7-9431-96E9731FE797}"/>
            </c:ext>
          </c:extLst>
        </c:ser>
        <c:ser>
          <c:idx val="2"/>
          <c:order val="2"/>
          <c:tx>
            <c:strRef>
              <c:f>'Employment other countries'!$B$10</c:f>
              <c:strCache>
                <c:ptCount val="1"/>
                <c:pt idx="0">
                  <c:v>Services</c:v>
                </c:pt>
              </c:strCache>
            </c:strRef>
          </c:tx>
          <c:spPr>
            <a:ln w="28575" cap="rnd">
              <a:solidFill>
                <a:schemeClr val="accent3"/>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countries'!$C$10:$AE$10</c:f>
              <c:numCache>
                <c:formatCode>0</c:formatCode>
                <c:ptCount val="29"/>
                <c:pt idx="0">
                  <c:v>28.870000839233398</c:v>
                </c:pt>
                <c:pt idx="1">
                  <c:v>29.059999465942401</c:v>
                </c:pt>
                <c:pt idx="2">
                  <c:v>29.2600002288818</c:v>
                </c:pt>
                <c:pt idx="3">
                  <c:v>29.4799995422363</c:v>
                </c:pt>
                <c:pt idx="4">
                  <c:v>29.75</c:v>
                </c:pt>
                <c:pt idx="5">
                  <c:v>30.059999465942401</c:v>
                </c:pt>
                <c:pt idx="6">
                  <c:v>30.360000610351602</c:v>
                </c:pt>
                <c:pt idx="7">
                  <c:v>30.7299995422363</c:v>
                </c:pt>
                <c:pt idx="8">
                  <c:v>31.069999694824201</c:v>
                </c:pt>
                <c:pt idx="9">
                  <c:v>30.969999313354499</c:v>
                </c:pt>
                <c:pt idx="10">
                  <c:v>30.899999618530298</c:v>
                </c:pt>
                <c:pt idx="11">
                  <c:v>30.850000381469702</c:v>
                </c:pt>
                <c:pt idx="12">
                  <c:v>30.840000152587901</c:v>
                </c:pt>
                <c:pt idx="13">
                  <c:v>30.850000381469702</c:v>
                </c:pt>
                <c:pt idx="14">
                  <c:v>30.860000610351602</c:v>
                </c:pt>
                <c:pt idx="15">
                  <c:v>30.840000152587901</c:v>
                </c:pt>
                <c:pt idx="16">
                  <c:v>31.9899997711182</c:v>
                </c:pt>
                <c:pt idx="17">
                  <c:v>33.419998168945298</c:v>
                </c:pt>
                <c:pt idx="18">
                  <c:v>34.619998931884801</c:v>
                </c:pt>
                <c:pt idx="19">
                  <c:v>35.9799995422363</c:v>
                </c:pt>
                <c:pt idx="20">
                  <c:v>37.650001525878899</c:v>
                </c:pt>
                <c:pt idx="21">
                  <c:v>39.150001525878899</c:v>
                </c:pt>
                <c:pt idx="22">
                  <c:v>40.549999237060497</c:v>
                </c:pt>
                <c:pt idx="23">
                  <c:v>43.389999389648402</c:v>
                </c:pt>
                <c:pt idx="24">
                  <c:v>46.139999389648402</c:v>
                </c:pt>
                <c:pt idx="25">
                  <c:v>46.9799995422363</c:v>
                </c:pt>
                <c:pt idx="26">
                  <c:v>47.810001373291001</c:v>
                </c:pt>
                <c:pt idx="27">
                  <c:v>48.4799995422363</c:v>
                </c:pt>
                <c:pt idx="28">
                  <c:v>49.209999084472699</c:v>
                </c:pt>
              </c:numCache>
            </c:numRef>
          </c:val>
          <c:smooth val="0"/>
          <c:extLst>
            <c:ext xmlns:c16="http://schemas.microsoft.com/office/drawing/2014/chart" uri="{C3380CC4-5D6E-409C-BE32-E72D297353CC}">
              <c16:uniqueId val="{00000002-D36D-44E7-9431-96E9731FE797}"/>
            </c:ext>
          </c:extLst>
        </c:ser>
        <c:dLbls>
          <c:showLegendKey val="0"/>
          <c:showVal val="0"/>
          <c:showCatName val="0"/>
          <c:showSerName val="0"/>
          <c:showPercent val="0"/>
          <c:showBubbleSize val="0"/>
        </c:dLbls>
        <c:smooth val="0"/>
        <c:axId val="1659466655"/>
        <c:axId val="1617463791"/>
      </c:lineChart>
      <c:catAx>
        <c:axId val="165946665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17463791"/>
        <c:crosses val="autoZero"/>
        <c:auto val="1"/>
        <c:lblAlgn val="ctr"/>
        <c:lblOffset val="100"/>
        <c:noMultiLvlLbl val="0"/>
      </c:catAx>
      <c:valAx>
        <c:axId val="161746379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59466655"/>
        <c:crosses val="autoZero"/>
        <c:crossBetween val="between"/>
      </c:valAx>
      <c:spPr>
        <a:noFill/>
        <a:ln>
          <a:noFill/>
        </a:ln>
        <a:effectLst/>
      </c:spPr>
    </c:plotArea>
    <c:legend>
      <c:legendPos val="b"/>
      <c:layout>
        <c:manualLayout>
          <c:xMode val="edge"/>
          <c:yMode val="edge"/>
          <c:x val="6.9645900648737782E-2"/>
          <c:y val="0.28320246191586995"/>
          <c:w val="0.67092812956675563"/>
          <c:h val="0.1400610442883446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900">
          <a:solidFill>
            <a:schemeClr val="tx1"/>
          </a:solidFill>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250039424352364"/>
          <c:y val="5.3898434823404499E-2"/>
          <c:w val="0.80134246431326561"/>
          <c:h val="0.73563982139795736"/>
        </c:manualLayout>
      </c:layout>
      <c:lineChart>
        <c:grouping val="standard"/>
        <c:varyColors val="0"/>
        <c:ser>
          <c:idx val="0"/>
          <c:order val="0"/>
          <c:tx>
            <c:strRef>
              <c:f>'Employment other countries'!$B$17</c:f>
              <c:strCache>
                <c:ptCount val="1"/>
                <c:pt idx="0">
                  <c:v>Agriculture</c:v>
                </c:pt>
              </c:strCache>
            </c:strRef>
          </c:tx>
          <c:spPr>
            <a:ln w="28575" cap="rnd">
              <a:solidFill>
                <a:schemeClr val="accent1"/>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countries'!$C$17:$AE$17</c:f>
              <c:numCache>
                <c:formatCode>0</c:formatCode>
                <c:ptCount val="29"/>
                <c:pt idx="0">
                  <c:v>70.879997253417997</c:v>
                </c:pt>
                <c:pt idx="1">
                  <c:v>69.809997558593807</c:v>
                </c:pt>
                <c:pt idx="2">
                  <c:v>68.779998779296903</c:v>
                </c:pt>
                <c:pt idx="3">
                  <c:v>67.819999694824205</c:v>
                </c:pt>
                <c:pt idx="4">
                  <c:v>66.970001220703097</c:v>
                </c:pt>
                <c:pt idx="5">
                  <c:v>66.309997558593807</c:v>
                </c:pt>
                <c:pt idx="6">
                  <c:v>65.279998779296903</c:v>
                </c:pt>
                <c:pt idx="7">
                  <c:v>64.769996643066406</c:v>
                </c:pt>
                <c:pt idx="8">
                  <c:v>64.989997863769503</c:v>
                </c:pt>
                <c:pt idx="9">
                  <c:v>65.25</c:v>
                </c:pt>
                <c:pt idx="10">
                  <c:v>63.990001678466797</c:v>
                </c:pt>
                <c:pt idx="11">
                  <c:v>62.040000915527301</c:v>
                </c:pt>
                <c:pt idx="12">
                  <c:v>59.680000305175803</c:v>
                </c:pt>
                <c:pt idx="13">
                  <c:v>57.900001525878899</c:v>
                </c:pt>
                <c:pt idx="14">
                  <c:v>54.830001831054702</c:v>
                </c:pt>
                <c:pt idx="15">
                  <c:v>51.669998168945298</c:v>
                </c:pt>
                <c:pt idx="16">
                  <c:v>49.279998779296903</c:v>
                </c:pt>
                <c:pt idx="17">
                  <c:v>48.619998931884801</c:v>
                </c:pt>
                <c:pt idx="18">
                  <c:v>47.549999237060497</c:v>
                </c:pt>
                <c:pt idx="19">
                  <c:v>48.709999084472699</c:v>
                </c:pt>
                <c:pt idx="20">
                  <c:v>48.310001373291001</c:v>
                </c:pt>
                <c:pt idx="21">
                  <c:v>47.369998931884801</c:v>
                </c:pt>
                <c:pt idx="22">
                  <c:v>46.810001373291001</c:v>
                </c:pt>
                <c:pt idx="23">
                  <c:v>46.340000152587898</c:v>
                </c:pt>
                <c:pt idx="24">
                  <c:v>44.0200004577637</c:v>
                </c:pt>
                <c:pt idx="25">
                  <c:v>41.869998931884801</c:v>
                </c:pt>
                <c:pt idx="26">
                  <c:v>40.159999847412102</c:v>
                </c:pt>
                <c:pt idx="27">
                  <c:v>38.700000762939503</c:v>
                </c:pt>
                <c:pt idx="28">
                  <c:v>37.220001220703097</c:v>
                </c:pt>
              </c:numCache>
            </c:numRef>
          </c:val>
          <c:smooth val="0"/>
          <c:extLst>
            <c:ext xmlns:c16="http://schemas.microsoft.com/office/drawing/2014/chart" uri="{C3380CC4-5D6E-409C-BE32-E72D297353CC}">
              <c16:uniqueId val="{00000000-846F-46D3-AEDC-D7A1A13074D5}"/>
            </c:ext>
          </c:extLst>
        </c:ser>
        <c:ser>
          <c:idx val="1"/>
          <c:order val="1"/>
          <c:tx>
            <c:strRef>
              <c:f>'Employment other countries'!$B$18</c:f>
              <c:strCache>
                <c:ptCount val="1"/>
                <c:pt idx="0">
                  <c:v>Industry</c:v>
                </c:pt>
              </c:strCache>
            </c:strRef>
          </c:tx>
          <c:spPr>
            <a:ln w="28575" cap="rnd">
              <a:solidFill>
                <a:schemeClr val="tx2"/>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countries'!$C$18:$AE$18</c:f>
              <c:numCache>
                <c:formatCode>0</c:formatCode>
                <c:ptCount val="29"/>
                <c:pt idx="0">
                  <c:v>10.1199998855591</c:v>
                </c:pt>
                <c:pt idx="1">
                  <c:v>10.579999923706101</c:v>
                </c:pt>
                <c:pt idx="2">
                  <c:v>11.0900001525879</c:v>
                </c:pt>
                <c:pt idx="3">
                  <c:v>11.4700002670288</c:v>
                </c:pt>
                <c:pt idx="4">
                  <c:v>11.819999694824199</c:v>
                </c:pt>
                <c:pt idx="5">
                  <c:v>12.25</c:v>
                </c:pt>
                <c:pt idx="6">
                  <c:v>12.680000305175801</c:v>
                </c:pt>
                <c:pt idx="7">
                  <c:v>11.579999923706101</c:v>
                </c:pt>
                <c:pt idx="8">
                  <c:v>11.9899997711182</c:v>
                </c:pt>
                <c:pt idx="9">
                  <c:v>12.439999580383301</c:v>
                </c:pt>
                <c:pt idx="10">
                  <c:v>13.8999996185303</c:v>
                </c:pt>
                <c:pt idx="11">
                  <c:v>14.699999809265099</c:v>
                </c:pt>
                <c:pt idx="12">
                  <c:v>16.409999847412099</c:v>
                </c:pt>
                <c:pt idx="13">
                  <c:v>17.350000381469702</c:v>
                </c:pt>
                <c:pt idx="14">
                  <c:v>18.7399997711182</c:v>
                </c:pt>
                <c:pt idx="15">
                  <c:v>20.190000534057599</c:v>
                </c:pt>
                <c:pt idx="16">
                  <c:v>20.389999389648398</c:v>
                </c:pt>
                <c:pt idx="17">
                  <c:v>21</c:v>
                </c:pt>
                <c:pt idx="18">
                  <c:v>21.850000381469702</c:v>
                </c:pt>
                <c:pt idx="19">
                  <c:v>21.680000305175799</c:v>
                </c:pt>
                <c:pt idx="20">
                  <c:v>21.280000686645501</c:v>
                </c:pt>
                <c:pt idx="21">
                  <c:v>21.190000534057599</c:v>
                </c:pt>
                <c:pt idx="22">
                  <c:v>21.180000305175799</c:v>
                </c:pt>
                <c:pt idx="23">
                  <c:v>21.450000762939499</c:v>
                </c:pt>
                <c:pt idx="24">
                  <c:v>22.7399997711182</c:v>
                </c:pt>
                <c:pt idx="25">
                  <c:v>24.7600002288818</c:v>
                </c:pt>
                <c:pt idx="26">
                  <c:v>25.780000686645501</c:v>
                </c:pt>
                <c:pt idx="27">
                  <c:v>26.639999389648398</c:v>
                </c:pt>
                <c:pt idx="28">
                  <c:v>27.440000534057599</c:v>
                </c:pt>
              </c:numCache>
            </c:numRef>
          </c:val>
          <c:smooth val="0"/>
          <c:extLst>
            <c:ext xmlns:c16="http://schemas.microsoft.com/office/drawing/2014/chart" uri="{C3380CC4-5D6E-409C-BE32-E72D297353CC}">
              <c16:uniqueId val="{00000001-846F-46D3-AEDC-D7A1A13074D5}"/>
            </c:ext>
          </c:extLst>
        </c:ser>
        <c:ser>
          <c:idx val="2"/>
          <c:order val="2"/>
          <c:tx>
            <c:strRef>
              <c:f>'Employment other countries'!$B$19</c:f>
              <c:strCache>
                <c:ptCount val="1"/>
                <c:pt idx="0">
                  <c:v>Services</c:v>
                </c:pt>
              </c:strCache>
            </c:strRef>
          </c:tx>
          <c:spPr>
            <a:ln w="28575" cap="rnd">
              <a:solidFill>
                <a:schemeClr val="accent3"/>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countries'!$C$19:$AE$19</c:f>
              <c:numCache>
                <c:formatCode>0</c:formatCode>
                <c:ptCount val="29"/>
                <c:pt idx="0">
                  <c:v>19</c:v>
                </c:pt>
                <c:pt idx="1">
                  <c:v>19.620000839233398</c:v>
                </c:pt>
                <c:pt idx="2">
                  <c:v>20.129999160766602</c:v>
                </c:pt>
                <c:pt idx="3">
                  <c:v>20.709999084472699</c:v>
                </c:pt>
                <c:pt idx="4">
                  <c:v>21.219999313354499</c:v>
                </c:pt>
                <c:pt idx="5">
                  <c:v>21.440000534057599</c:v>
                </c:pt>
                <c:pt idx="6">
                  <c:v>22.040000915527301</c:v>
                </c:pt>
                <c:pt idx="7">
                  <c:v>23.649999618530298</c:v>
                </c:pt>
                <c:pt idx="8">
                  <c:v>23.0200004577637</c:v>
                </c:pt>
                <c:pt idx="9">
                  <c:v>22.309999465942401</c:v>
                </c:pt>
                <c:pt idx="10">
                  <c:v>22.110000610351602</c:v>
                </c:pt>
                <c:pt idx="11">
                  <c:v>23.2600002288818</c:v>
                </c:pt>
                <c:pt idx="12">
                  <c:v>23.909999847412099</c:v>
                </c:pt>
                <c:pt idx="13">
                  <c:v>24.75</c:v>
                </c:pt>
                <c:pt idx="14">
                  <c:v>26.440000534057599</c:v>
                </c:pt>
                <c:pt idx="15">
                  <c:v>28.149999618530298</c:v>
                </c:pt>
                <c:pt idx="16">
                  <c:v>30.329999923706101</c:v>
                </c:pt>
                <c:pt idx="17">
                  <c:v>30.379999160766602</c:v>
                </c:pt>
                <c:pt idx="18">
                  <c:v>30.600000381469702</c:v>
                </c:pt>
                <c:pt idx="19">
                  <c:v>29.610000610351602</c:v>
                </c:pt>
                <c:pt idx="20">
                  <c:v>30.409999847412099</c:v>
                </c:pt>
                <c:pt idx="21">
                  <c:v>31.440000534057599</c:v>
                </c:pt>
                <c:pt idx="22">
                  <c:v>32</c:v>
                </c:pt>
                <c:pt idx="23">
                  <c:v>32.220001220703097</c:v>
                </c:pt>
                <c:pt idx="24">
                  <c:v>33.240001678466797</c:v>
                </c:pt>
                <c:pt idx="25">
                  <c:v>33.369998931884801</c:v>
                </c:pt>
                <c:pt idx="26">
                  <c:v>34.069999694824197</c:v>
                </c:pt>
                <c:pt idx="27">
                  <c:v>34.659999847412102</c:v>
                </c:pt>
                <c:pt idx="28">
                  <c:v>35.340000152587898</c:v>
                </c:pt>
              </c:numCache>
            </c:numRef>
          </c:val>
          <c:smooth val="0"/>
          <c:extLst>
            <c:ext xmlns:c16="http://schemas.microsoft.com/office/drawing/2014/chart" uri="{C3380CC4-5D6E-409C-BE32-E72D297353CC}">
              <c16:uniqueId val="{00000002-846F-46D3-AEDC-D7A1A13074D5}"/>
            </c:ext>
          </c:extLst>
        </c:ser>
        <c:dLbls>
          <c:showLegendKey val="0"/>
          <c:showVal val="0"/>
          <c:showCatName val="0"/>
          <c:showSerName val="0"/>
          <c:showPercent val="0"/>
          <c:showBubbleSize val="0"/>
        </c:dLbls>
        <c:smooth val="0"/>
        <c:axId val="1672639951"/>
        <c:axId val="1678579311"/>
      </c:lineChart>
      <c:catAx>
        <c:axId val="167263995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78579311"/>
        <c:crosses val="autoZero"/>
        <c:auto val="1"/>
        <c:lblAlgn val="ctr"/>
        <c:lblOffset val="100"/>
        <c:noMultiLvlLbl val="0"/>
      </c:catAx>
      <c:valAx>
        <c:axId val="167857931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72639951"/>
        <c:crosses val="autoZero"/>
        <c:crossBetween val="between"/>
      </c:valAx>
      <c:spPr>
        <a:noFill/>
        <a:ln>
          <a:noFill/>
        </a:ln>
        <a:effectLst/>
      </c:spPr>
    </c:plotArea>
    <c:legend>
      <c:legendPos val="b"/>
      <c:layout>
        <c:manualLayout>
          <c:xMode val="edge"/>
          <c:yMode val="edge"/>
          <c:x val="3.6296923858670921E-2"/>
          <c:y val="0.35244715098352108"/>
          <c:w val="0.47782195117767134"/>
          <c:h val="0.16682884302942511"/>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800">
          <a:solidFill>
            <a:schemeClr val="tx1"/>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960" b="0" i="0" u="none" strike="noStrike" kern="1200" spc="0" baseline="0">
                <a:solidFill>
                  <a:schemeClr val="tx1"/>
                </a:solidFill>
                <a:latin typeface="+mn-lt"/>
                <a:ea typeface="+mn-ea"/>
                <a:cs typeface="+mn-cs"/>
              </a:defRPr>
            </a:pPr>
            <a:r>
              <a:rPr lang="en-US" sz="1000" b="1" dirty="0"/>
              <a:t>DE: Mozambique</a:t>
            </a:r>
          </a:p>
        </c:rich>
      </c:tx>
      <c:layout>
        <c:manualLayout>
          <c:xMode val="edge"/>
          <c:yMode val="edge"/>
          <c:x val="0.34561719958354936"/>
          <c:y val="1.6252761496656221E-2"/>
        </c:manualLayout>
      </c:layout>
      <c:overlay val="0"/>
      <c:spPr>
        <a:noFill/>
        <a:ln>
          <a:noFill/>
        </a:ln>
        <a:effectLst/>
      </c:spPr>
      <c:txPr>
        <a:bodyPr rot="0" spcFirstLastPara="1" vertOverflow="ellipsis" vert="horz" wrap="square" anchor="ctr" anchorCtr="1"/>
        <a:lstStyle/>
        <a:p>
          <a:pPr>
            <a:defRPr sz="960" b="0" i="0" u="none" strike="noStrike" kern="1200" spc="0" baseline="0">
              <a:solidFill>
                <a:schemeClr val="tx1"/>
              </a:solidFill>
              <a:latin typeface="+mn-lt"/>
              <a:ea typeface="+mn-ea"/>
              <a:cs typeface="+mn-cs"/>
            </a:defRPr>
          </a:pPr>
          <a:endParaRPr lang="en-US"/>
        </a:p>
      </c:txPr>
    </c:title>
    <c:autoTitleDeleted val="0"/>
    <c:plotArea>
      <c:layout>
        <c:manualLayout>
          <c:layoutTarget val="inner"/>
          <c:xMode val="edge"/>
          <c:yMode val="edge"/>
          <c:x val="0.11987652152304404"/>
          <c:y val="8.8635095751140841E-2"/>
          <c:w val="0.8202694075860858"/>
          <c:h val="0.70460925273463015"/>
        </c:manualLayout>
      </c:layout>
      <c:lineChart>
        <c:grouping val="standard"/>
        <c:varyColors val="0"/>
        <c:ser>
          <c:idx val="0"/>
          <c:order val="0"/>
          <c:tx>
            <c:strRef>
              <c:f>Employment!$B$8</c:f>
              <c:strCache>
                <c:ptCount val="1"/>
                <c:pt idx="0">
                  <c:v>Agriculture </c:v>
                </c:pt>
              </c:strCache>
            </c:strRef>
          </c:tx>
          <c:spPr>
            <a:ln w="28575" cap="rnd">
              <a:solidFill>
                <a:schemeClr val="accent1"/>
              </a:solidFill>
              <a:round/>
            </a:ln>
            <a:effectLst/>
          </c:spPr>
          <c:marker>
            <c:symbol val="none"/>
          </c:marker>
          <c:cat>
            <c:strRef>
              <c:f>Employment!$C$4:$AE$4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Employment!$C$8:$AE$8</c:f>
              <c:numCache>
                <c:formatCode>0</c:formatCode>
                <c:ptCount val="29"/>
                <c:pt idx="0">
                  <c:v>84.430000305175795</c:v>
                </c:pt>
                <c:pt idx="1">
                  <c:v>84.540000915527301</c:v>
                </c:pt>
                <c:pt idx="2">
                  <c:v>84.360000610351605</c:v>
                </c:pt>
                <c:pt idx="3">
                  <c:v>84.230003356933594</c:v>
                </c:pt>
                <c:pt idx="4">
                  <c:v>84.160003662109403</c:v>
                </c:pt>
                <c:pt idx="5">
                  <c:v>83.819999694824205</c:v>
                </c:pt>
                <c:pt idx="6">
                  <c:v>83.419998168945298</c:v>
                </c:pt>
                <c:pt idx="7">
                  <c:v>82.970001220703097</c:v>
                </c:pt>
                <c:pt idx="8">
                  <c:v>82.410003662109403</c:v>
                </c:pt>
                <c:pt idx="9">
                  <c:v>82.220001220703097</c:v>
                </c:pt>
                <c:pt idx="10">
                  <c:v>81.519996643066406</c:v>
                </c:pt>
                <c:pt idx="11">
                  <c:v>80.949996948242202</c:v>
                </c:pt>
                <c:pt idx="12">
                  <c:v>80.470001220703097</c:v>
                </c:pt>
                <c:pt idx="13">
                  <c:v>79.980003356933594</c:v>
                </c:pt>
                <c:pt idx="14">
                  <c:v>79.510002136230497</c:v>
                </c:pt>
                <c:pt idx="15">
                  <c:v>78.860000610351605</c:v>
                </c:pt>
                <c:pt idx="16">
                  <c:v>78.260002136230497</c:v>
                </c:pt>
                <c:pt idx="17">
                  <c:v>77.650001525878906</c:v>
                </c:pt>
                <c:pt idx="18">
                  <c:v>77.050003051757798</c:v>
                </c:pt>
                <c:pt idx="19">
                  <c:v>76.389999389648395</c:v>
                </c:pt>
                <c:pt idx="20">
                  <c:v>75.629997253417997</c:v>
                </c:pt>
                <c:pt idx="21">
                  <c:v>74.849998474121094</c:v>
                </c:pt>
                <c:pt idx="22">
                  <c:v>74.019996643066406</c:v>
                </c:pt>
                <c:pt idx="23">
                  <c:v>73.120002746582003</c:v>
                </c:pt>
                <c:pt idx="24">
                  <c:v>72.120002746582003</c:v>
                </c:pt>
                <c:pt idx="25">
                  <c:v>71.559997558593807</c:v>
                </c:pt>
                <c:pt idx="26">
                  <c:v>71.059997558593807</c:v>
                </c:pt>
                <c:pt idx="27">
                  <c:v>70.589996337890597</c:v>
                </c:pt>
                <c:pt idx="28">
                  <c:v>70.220001220703097</c:v>
                </c:pt>
              </c:numCache>
            </c:numRef>
          </c:val>
          <c:smooth val="0"/>
          <c:extLst>
            <c:ext xmlns:c16="http://schemas.microsoft.com/office/drawing/2014/chart" uri="{C3380CC4-5D6E-409C-BE32-E72D297353CC}">
              <c16:uniqueId val="{00000000-50D6-49F2-97EA-7AB7A7CC293B}"/>
            </c:ext>
          </c:extLst>
        </c:ser>
        <c:ser>
          <c:idx val="1"/>
          <c:order val="1"/>
          <c:tx>
            <c:strRef>
              <c:f>Employment!$B$9</c:f>
              <c:strCache>
                <c:ptCount val="1"/>
                <c:pt idx="0">
                  <c:v>Industry</c:v>
                </c:pt>
              </c:strCache>
            </c:strRef>
          </c:tx>
          <c:spPr>
            <a:ln w="28575" cap="rnd">
              <a:solidFill>
                <a:schemeClr val="tx1"/>
              </a:solidFill>
              <a:round/>
            </a:ln>
            <a:effectLst/>
          </c:spPr>
          <c:marker>
            <c:symbol val="none"/>
          </c:marker>
          <c:cat>
            <c:strRef>
              <c:f>Employment!$C$4:$AE$4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Employment!$C$9:$AE$9</c:f>
              <c:numCache>
                <c:formatCode>0</c:formatCode>
                <c:ptCount val="29"/>
                <c:pt idx="0">
                  <c:v>2.5</c:v>
                </c:pt>
                <c:pt idx="1">
                  <c:v>2.5099999904632599</c:v>
                </c:pt>
                <c:pt idx="2">
                  <c:v>2.5199999809265101</c:v>
                </c:pt>
                <c:pt idx="3">
                  <c:v>2.53999996185303</c:v>
                </c:pt>
                <c:pt idx="4">
                  <c:v>2.5599999427795401</c:v>
                </c:pt>
                <c:pt idx="5">
                  <c:v>2.6099998950958301</c:v>
                </c:pt>
                <c:pt idx="6">
                  <c:v>2.6800000667571999</c:v>
                </c:pt>
                <c:pt idx="7">
                  <c:v>2.7599999904632599</c:v>
                </c:pt>
                <c:pt idx="8">
                  <c:v>2.8499999046325701</c:v>
                </c:pt>
                <c:pt idx="9">
                  <c:v>2.9500000476837198</c:v>
                </c:pt>
                <c:pt idx="10">
                  <c:v>3.0999999046325701</c:v>
                </c:pt>
                <c:pt idx="11">
                  <c:v>3.2300000190734899</c:v>
                </c:pt>
                <c:pt idx="12">
                  <c:v>3.3900001049041699</c:v>
                </c:pt>
                <c:pt idx="13">
                  <c:v>3.6099998950958301</c:v>
                </c:pt>
                <c:pt idx="14">
                  <c:v>3.8399999141693102</c:v>
                </c:pt>
                <c:pt idx="15">
                  <c:v>4.1100001335143999</c:v>
                </c:pt>
                <c:pt idx="16">
                  <c:v>4.3800001144409197</c:v>
                </c:pt>
                <c:pt idx="17">
                  <c:v>4.6799998283386204</c:v>
                </c:pt>
                <c:pt idx="18">
                  <c:v>5</c:v>
                </c:pt>
                <c:pt idx="19">
                  <c:v>5.3600001335143999</c:v>
                </c:pt>
                <c:pt idx="20">
                  <c:v>5.7600002288818404</c:v>
                </c:pt>
                <c:pt idx="21">
                  <c:v>6.1799998283386204</c:v>
                </c:pt>
                <c:pt idx="22">
                  <c:v>6.6500000953674299</c:v>
                </c:pt>
                <c:pt idx="23">
                  <c:v>7.1500000953674299</c:v>
                </c:pt>
                <c:pt idx="24">
                  <c:v>7.75</c:v>
                </c:pt>
                <c:pt idx="25">
                  <c:v>8.0299997329711896</c:v>
                </c:pt>
                <c:pt idx="26">
                  <c:v>8.25</c:v>
                </c:pt>
                <c:pt idx="27">
                  <c:v>8.4499998092651403</c:v>
                </c:pt>
                <c:pt idx="28">
                  <c:v>8.5900001525878906</c:v>
                </c:pt>
              </c:numCache>
            </c:numRef>
          </c:val>
          <c:smooth val="0"/>
          <c:extLst>
            <c:ext xmlns:c16="http://schemas.microsoft.com/office/drawing/2014/chart" uri="{C3380CC4-5D6E-409C-BE32-E72D297353CC}">
              <c16:uniqueId val="{00000001-50D6-49F2-97EA-7AB7A7CC293B}"/>
            </c:ext>
          </c:extLst>
        </c:ser>
        <c:ser>
          <c:idx val="2"/>
          <c:order val="2"/>
          <c:tx>
            <c:strRef>
              <c:f>Employment!$B$10</c:f>
              <c:strCache>
                <c:ptCount val="1"/>
                <c:pt idx="0">
                  <c:v>Services</c:v>
                </c:pt>
              </c:strCache>
            </c:strRef>
          </c:tx>
          <c:spPr>
            <a:ln w="28575" cap="rnd">
              <a:solidFill>
                <a:schemeClr val="accent3"/>
              </a:solidFill>
              <a:round/>
            </a:ln>
            <a:effectLst/>
          </c:spPr>
          <c:marker>
            <c:symbol val="none"/>
          </c:marker>
          <c:cat>
            <c:strRef>
              <c:f>Employment!$C$4:$AE$4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Employment!$C$10:$AE$10</c:f>
              <c:numCache>
                <c:formatCode>0</c:formatCode>
                <c:ptCount val="29"/>
                <c:pt idx="0">
                  <c:v>13.069999694824199</c:v>
                </c:pt>
                <c:pt idx="1">
                  <c:v>12.960000038146999</c:v>
                </c:pt>
                <c:pt idx="2">
                  <c:v>13.1199998855591</c:v>
                </c:pt>
                <c:pt idx="3">
                  <c:v>13.2299995422363</c:v>
                </c:pt>
                <c:pt idx="4">
                  <c:v>13.2799997329712</c:v>
                </c:pt>
                <c:pt idx="5">
                  <c:v>13.560000419616699</c:v>
                </c:pt>
                <c:pt idx="6">
                  <c:v>13.9099998474121</c:v>
                </c:pt>
                <c:pt idx="7">
                  <c:v>14.2700004577637</c:v>
                </c:pt>
                <c:pt idx="8">
                  <c:v>14.7399997711182</c:v>
                </c:pt>
                <c:pt idx="9">
                  <c:v>14.829999923706101</c:v>
                </c:pt>
                <c:pt idx="10">
                  <c:v>15.3800001144409</c:v>
                </c:pt>
                <c:pt idx="11">
                  <c:v>15.819999694824199</c:v>
                </c:pt>
                <c:pt idx="12">
                  <c:v>16.139999389648398</c:v>
                </c:pt>
                <c:pt idx="13">
                  <c:v>16.409999847412099</c:v>
                </c:pt>
                <c:pt idx="14">
                  <c:v>16.649999618530298</c:v>
                </c:pt>
                <c:pt idx="15">
                  <c:v>17.030000686645501</c:v>
                </c:pt>
                <c:pt idx="16">
                  <c:v>17.360000610351602</c:v>
                </c:pt>
                <c:pt idx="17">
                  <c:v>17.670000076293899</c:v>
                </c:pt>
                <c:pt idx="18">
                  <c:v>17.950000762939499</c:v>
                </c:pt>
                <c:pt idx="19">
                  <c:v>18.25</c:v>
                </c:pt>
                <c:pt idx="20">
                  <c:v>18.610000610351602</c:v>
                </c:pt>
                <c:pt idx="21">
                  <c:v>18.969999313354499</c:v>
                </c:pt>
                <c:pt idx="22">
                  <c:v>19.340000152587901</c:v>
                </c:pt>
                <c:pt idx="23">
                  <c:v>19.7399997711182</c:v>
                </c:pt>
                <c:pt idx="24">
                  <c:v>20.139999389648398</c:v>
                </c:pt>
                <c:pt idx="25">
                  <c:v>20.409999847412099</c:v>
                </c:pt>
                <c:pt idx="26">
                  <c:v>20.700000762939499</c:v>
                </c:pt>
                <c:pt idx="27">
                  <c:v>20.959999084472699</c:v>
                </c:pt>
                <c:pt idx="28">
                  <c:v>21.190000534057599</c:v>
                </c:pt>
              </c:numCache>
            </c:numRef>
          </c:val>
          <c:smooth val="0"/>
          <c:extLst>
            <c:ext xmlns:c16="http://schemas.microsoft.com/office/drawing/2014/chart" uri="{C3380CC4-5D6E-409C-BE32-E72D297353CC}">
              <c16:uniqueId val="{00000002-50D6-49F2-97EA-7AB7A7CC293B}"/>
            </c:ext>
          </c:extLst>
        </c:ser>
        <c:dLbls>
          <c:showLegendKey val="0"/>
          <c:showVal val="0"/>
          <c:showCatName val="0"/>
          <c:showSerName val="0"/>
          <c:showPercent val="0"/>
          <c:showBubbleSize val="0"/>
        </c:dLbls>
        <c:smooth val="0"/>
        <c:axId val="1564359999"/>
        <c:axId val="1577186079"/>
      </c:lineChart>
      <c:catAx>
        <c:axId val="156435999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577186079"/>
        <c:crosses val="autoZero"/>
        <c:auto val="1"/>
        <c:lblAlgn val="ctr"/>
        <c:lblOffset val="100"/>
        <c:noMultiLvlLbl val="0"/>
      </c:catAx>
      <c:valAx>
        <c:axId val="1577186079"/>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564359999"/>
        <c:crosses val="autoZero"/>
        <c:crossBetween val="between"/>
      </c:valAx>
      <c:spPr>
        <a:noFill/>
        <a:ln>
          <a:noFill/>
        </a:ln>
        <a:effectLst/>
      </c:spPr>
    </c:plotArea>
    <c:legend>
      <c:legendPos val="b"/>
      <c:layout>
        <c:manualLayout>
          <c:xMode val="edge"/>
          <c:yMode val="edge"/>
          <c:x val="0.15338409004245912"/>
          <c:y val="0.33700968895635741"/>
          <c:w val="0.37763719949785995"/>
          <c:h val="0.18051951475362046"/>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800">
          <a:solidFill>
            <a:schemeClr val="tx1"/>
          </a:solidFill>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960" b="1" i="0" u="none" strike="noStrike" kern="1200" spc="0" baseline="0">
                <a:solidFill>
                  <a:schemeClr val="tx1"/>
                </a:solidFill>
                <a:latin typeface="+mn-lt"/>
                <a:ea typeface="+mn-ea"/>
                <a:cs typeface="+mn-cs"/>
              </a:defRPr>
            </a:pPr>
            <a:r>
              <a:rPr lang="pt-PT" b="1" dirty="0"/>
              <a:t>DE: Crescimento Real do PIB (billion de Meticais )</a:t>
            </a:r>
          </a:p>
        </c:rich>
      </c:tx>
      <c:layout>
        <c:manualLayout>
          <c:xMode val="edge"/>
          <c:yMode val="edge"/>
          <c:x val="0.18621016122984627"/>
          <c:y val="3.6745406824146981E-2"/>
        </c:manualLayout>
      </c:layout>
      <c:overlay val="0"/>
      <c:spPr>
        <a:noFill/>
        <a:ln>
          <a:noFill/>
        </a:ln>
        <a:effectLst/>
      </c:spPr>
      <c:txPr>
        <a:bodyPr rot="0" spcFirstLastPara="1" vertOverflow="ellipsis" vert="horz" wrap="square" anchor="ctr" anchorCtr="1"/>
        <a:lstStyle/>
        <a:p>
          <a:pPr>
            <a:defRPr sz="960" b="1" i="0" u="none" strike="noStrike" kern="1200" spc="0" baseline="0">
              <a:solidFill>
                <a:schemeClr val="tx1"/>
              </a:solidFill>
              <a:latin typeface="+mn-lt"/>
              <a:ea typeface="+mn-ea"/>
              <a:cs typeface="+mn-cs"/>
            </a:defRPr>
          </a:pPr>
          <a:endParaRPr lang="en-US"/>
        </a:p>
      </c:txPr>
    </c:title>
    <c:autoTitleDeleted val="0"/>
    <c:plotArea>
      <c:layout>
        <c:manualLayout>
          <c:layoutTarget val="inner"/>
          <c:xMode val="edge"/>
          <c:yMode val="edge"/>
          <c:x val="0.15345988001499813"/>
          <c:y val="0.21031062062124123"/>
          <c:w val="0.79876580574008049"/>
          <c:h val="0.44322648645297291"/>
        </c:manualLayout>
      </c:layout>
      <c:lineChart>
        <c:grouping val="standard"/>
        <c:varyColors val="0"/>
        <c:ser>
          <c:idx val="0"/>
          <c:order val="0"/>
          <c:tx>
            <c:strRef>
              <c:f>'Macro indicators_Scenarios'!$B$3</c:f>
              <c:strCache>
                <c:ptCount val="1"/>
                <c:pt idx="0">
                  <c:v>GDP without LNG</c:v>
                </c:pt>
              </c:strCache>
            </c:strRef>
          </c:tx>
          <c:spPr>
            <a:ln w="28575" cap="rnd">
              <a:solidFill>
                <a:schemeClr val="accent1"/>
              </a:solidFill>
              <a:round/>
            </a:ln>
            <a:effectLst/>
          </c:spPr>
          <c:marker>
            <c:symbol val="none"/>
          </c:marker>
          <c:cat>
            <c:numRef>
              <c:f>'Macro indicators_Scenarios'!$C$2:$AG$2</c:f>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extLst/>
            </c:numRef>
          </c:cat>
          <c:val>
            <c:numRef>
              <c:f>'Macro indicators_Scenarios'!$C$3:$AG$3</c:f>
              <c:numCache>
                <c:formatCode>_(* #,##0_);_(* \(#,##0\);_(* "-"??_);_(@_)</c:formatCode>
                <c:ptCount val="16"/>
                <c:pt idx="0">
                  <c:v>660475.90047073364</c:v>
                </c:pt>
                <c:pt idx="1">
                  <c:v>675557.9517326355</c:v>
                </c:pt>
                <c:pt idx="2">
                  <c:v>679855.21094950335</c:v>
                </c:pt>
                <c:pt idx="3">
                  <c:v>699792.46552849095</c:v>
                </c:pt>
                <c:pt idx="4">
                  <c:v>722394.96930213703</c:v>
                </c:pt>
                <c:pt idx="5">
                  <c:v>747645.22392207873</c:v>
                </c:pt>
                <c:pt idx="6">
                  <c:v>773869.86768189236</c:v>
                </c:pt>
                <c:pt idx="7">
                  <c:v>796277.69076249679</c:v>
                </c:pt>
                <c:pt idx="8">
                  <c:v>819431.35840654687</c:v>
                </c:pt>
                <c:pt idx="9">
                  <c:v>843358.06269267004</c:v>
                </c:pt>
                <c:pt idx="10">
                  <c:v>868086.05315755727</c:v>
                </c:pt>
                <c:pt idx="11">
                  <c:v>893644.67997541185</c:v>
                </c:pt>
                <c:pt idx="12">
                  <c:v>920064.4389692574</c:v>
                </c:pt>
                <c:pt idx="13">
                  <c:v>947377.01853422867</c:v>
                </c:pt>
                <c:pt idx="14">
                  <c:v>975615.34855655301</c:v>
                </c:pt>
                <c:pt idx="15">
                  <c:v>1004813.651415695</c:v>
                </c:pt>
              </c:numCache>
              <c:extLst/>
            </c:numRef>
          </c:val>
          <c:smooth val="0"/>
          <c:extLst>
            <c:ext xmlns:c16="http://schemas.microsoft.com/office/drawing/2014/chart" uri="{C3380CC4-5D6E-409C-BE32-E72D297353CC}">
              <c16:uniqueId val="{00000000-33DC-4EC3-BFEC-76EBA48B8139}"/>
            </c:ext>
          </c:extLst>
        </c:ser>
        <c:ser>
          <c:idx val="2"/>
          <c:order val="2"/>
          <c:tx>
            <c:v>GDP with LNG</c:v>
          </c:tx>
          <c:spPr>
            <a:ln w="28575" cap="rnd">
              <a:solidFill>
                <a:schemeClr val="accent3"/>
              </a:solidFill>
              <a:round/>
            </a:ln>
            <a:effectLst/>
          </c:spPr>
          <c:marker>
            <c:symbol val="none"/>
          </c:marker>
          <c:cat>
            <c:numRef>
              <c:f>'Macro indicators_Scenarios'!$C$2:$AG$2</c:f>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extLst/>
            </c:numRef>
          </c:cat>
          <c:val>
            <c:numRef>
              <c:f>'Macro indicators_Scenarios'!$C$5:$AG$5</c:f>
              <c:numCache>
                <c:formatCode>_(* #,##0_);_(* \(#,##0\);_(* "-"??_);_(@_)</c:formatCode>
                <c:ptCount val="16"/>
                <c:pt idx="0">
                  <c:v>667202.64812743722</c:v>
                </c:pt>
                <c:pt idx="1">
                  <c:v>684896.98289692053</c:v>
                </c:pt>
                <c:pt idx="2">
                  <c:v>691351.01319641795</c:v>
                </c:pt>
                <c:pt idx="3">
                  <c:v>735977.67333207279</c:v>
                </c:pt>
                <c:pt idx="4">
                  <c:v>799816.10440437438</c:v>
                </c:pt>
                <c:pt idx="5">
                  <c:v>911872.33640954609</c:v>
                </c:pt>
                <c:pt idx="6">
                  <c:v>927827.61688503972</c:v>
                </c:pt>
                <c:pt idx="7">
                  <c:v>1061913.5705534103</c:v>
                </c:pt>
                <c:pt idx="8">
                  <c:v>1527397.0913652813</c:v>
                </c:pt>
                <c:pt idx="9">
                  <c:v>1516893.6062039351</c:v>
                </c:pt>
                <c:pt idx="10">
                  <c:v>1521839.679317337</c:v>
                </c:pt>
                <c:pt idx="11">
                  <c:v>1521573.9598987373</c:v>
                </c:pt>
                <c:pt idx="12">
                  <c:v>1541022.7038377482</c:v>
                </c:pt>
                <c:pt idx="13">
                  <c:v>1581134.5253437296</c:v>
                </c:pt>
                <c:pt idx="14">
                  <c:v>1611586.7276827712</c:v>
                </c:pt>
                <c:pt idx="15">
                  <c:v>1639868.4636517013</c:v>
                </c:pt>
              </c:numCache>
              <c:extLst/>
            </c:numRef>
          </c:val>
          <c:smooth val="0"/>
          <c:extLst>
            <c:ext xmlns:c16="http://schemas.microsoft.com/office/drawing/2014/chart" uri="{C3380CC4-5D6E-409C-BE32-E72D297353CC}">
              <c16:uniqueId val="{00000001-33DC-4EC3-BFEC-76EBA48B8139}"/>
            </c:ext>
          </c:extLst>
        </c:ser>
        <c:ser>
          <c:idx val="3"/>
          <c:order val="3"/>
          <c:tx>
            <c:v>GDP with LNG - Mamba delay</c:v>
          </c:tx>
          <c:spPr>
            <a:ln w="28575" cap="rnd">
              <a:solidFill>
                <a:schemeClr val="accent4"/>
              </a:solidFill>
              <a:prstDash val="sysDash"/>
              <a:round/>
            </a:ln>
            <a:effectLst/>
          </c:spPr>
          <c:marker>
            <c:symbol val="none"/>
          </c:marker>
          <c:cat>
            <c:numRef>
              <c:f>'Macro indicators_Scenarios'!$C$2:$AG$2</c:f>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extLst/>
            </c:numRef>
          </c:cat>
          <c:val>
            <c:numRef>
              <c:f>'Macro indicators_Scenarios'!$C$6:$AG$6</c:f>
              <c:numCache>
                <c:formatCode>_(* #,##0_);_(* \(#,##0\);_(* "-"??_);_(@_)</c:formatCode>
                <c:ptCount val="16"/>
                <c:pt idx="0">
                  <c:v>667202.64812743722</c:v>
                </c:pt>
                <c:pt idx="1">
                  <c:v>684896.98289692053</c:v>
                </c:pt>
                <c:pt idx="2">
                  <c:v>691351.01319641795</c:v>
                </c:pt>
                <c:pt idx="3">
                  <c:v>727073.64339029393</c:v>
                </c:pt>
                <c:pt idx="4">
                  <c:v>767797.57798569114</c:v>
                </c:pt>
                <c:pt idx="5">
                  <c:v>880541.93433574308</c:v>
                </c:pt>
                <c:pt idx="6">
                  <c:v>872232.83024711441</c:v>
                </c:pt>
                <c:pt idx="7">
                  <c:v>1035971.187115716</c:v>
                </c:pt>
                <c:pt idx="8">
                  <c:v>1207572.6599682651</c:v>
                </c:pt>
                <c:pt idx="9">
                  <c:v>1214101.3863621061</c:v>
                </c:pt>
                <c:pt idx="10">
                  <c:v>1249210.3729032476</c:v>
                </c:pt>
                <c:pt idx="11">
                  <c:v>1251093.6093817996</c:v>
                </c:pt>
                <c:pt idx="12">
                  <c:v>1565372.3291573955</c:v>
                </c:pt>
                <c:pt idx="13">
                  <c:v>1592234.8416456962</c:v>
                </c:pt>
                <c:pt idx="14">
                  <c:v>1620540.5582557167</c:v>
                </c:pt>
                <c:pt idx="15">
                  <c:v>1641181.3359769424</c:v>
                </c:pt>
              </c:numCache>
              <c:extLst/>
            </c:numRef>
          </c:val>
          <c:smooth val="0"/>
          <c:extLst>
            <c:ext xmlns:c16="http://schemas.microsoft.com/office/drawing/2014/chart" uri="{C3380CC4-5D6E-409C-BE32-E72D297353CC}">
              <c16:uniqueId val="{00000002-33DC-4EC3-BFEC-76EBA48B8139}"/>
            </c:ext>
          </c:extLst>
        </c:ser>
        <c:dLbls>
          <c:showLegendKey val="0"/>
          <c:showVal val="0"/>
          <c:showCatName val="0"/>
          <c:showSerName val="0"/>
          <c:showPercent val="0"/>
          <c:showBubbleSize val="0"/>
        </c:dLbls>
        <c:smooth val="0"/>
        <c:axId val="72501183"/>
        <c:axId val="66742943"/>
        <c:extLst>
          <c:ext xmlns:c15="http://schemas.microsoft.com/office/drawing/2012/chart" uri="{02D57815-91ED-43cb-92C2-25804820EDAC}">
            <c15:filteredLineSeries>
              <c15:ser>
                <c:idx val="1"/>
                <c:order val="1"/>
                <c:tx>
                  <c:strRef>
                    <c:extLst>
                      <c:ext uri="{02D57815-91ED-43cb-92C2-25804820EDAC}">
                        <c15:formulaRef>
                          <c15:sqref>'Macro indicators_Scenarios'!$B$4</c15:sqref>
                        </c15:formulaRef>
                      </c:ext>
                    </c:extLst>
                    <c:strCache>
                      <c:ptCount val="1"/>
                      <c:pt idx="0">
                        <c:v>GDP with LNG Pre-COVID</c:v>
                      </c:pt>
                    </c:strCache>
                  </c:strRef>
                </c:tx>
                <c:spPr>
                  <a:ln w="28575" cap="rnd">
                    <a:solidFill>
                      <a:schemeClr val="accent2"/>
                    </a:solidFill>
                    <a:round/>
                  </a:ln>
                  <a:effectLst/>
                </c:spPr>
                <c:marker>
                  <c:symbol val="none"/>
                </c:marker>
                <c:cat>
                  <c:numRef>
                    <c:extLst>
                      <c:ext uri="{02D57815-91ED-43cb-92C2-25804820EDAC}">
                        <c15:formulaRef>
                          <c15:sqref>'Macro indicators_Scenarios'!$C$2:$AG$2</c15:sqref>
                        </c15:formulaRef>
                      </c:ext>
                    </c:extLst>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numRef>
                </c:cat>
                <c:val>
                  <c:numRef>
                    <c:extLst>
                      <c:ext uri="{02D57815-91ED-43cb-92C2-25804820EDAC}">
                        <c15:formulaRef>
                          <c15:sqref>'Macro indicators_Scenarios'!$C$4:$AG$4</c15:sqref>
                        </c15:formulaRef>
                      </c:ext>
                    </c:extLst>
                    <c:numCache>
                      <c:formatCode>_(* #,##0_);_(* \(#,##0\);_(* "-"??_);_(@_)</c:formatCode>
                      <c:ptCount val="16"/>
                      <c:pt idx="0">
                        <c:v>667199.75511004566</c:v>
                      </c:pt>
                      <c:pt idx="1">
                        <c:v>684895.15477170597</c:v>
                      </c:pt>
                      <c:pt idx="2">
                        <c:v>720458.98792401014</c:v>
                      </c:pt>
                      <c:pt idx="3">
                        <c:v>756565.08953939297</c:v>
                      </c:pt>
                      <c:pt idx="4">
                        <c:v>832960.58518370823</c:v>
                      </c:pt>
                      <c:pt idx="5">
                        <c:v>919791.69441168127</c:v>
                      </c:pt>
                      <c:pt idx="6">
                        <c:v>1228800.8313534469</c:v>
                      </c:pt>
                      <c:pt idx="7">
                        <c:v>1573236.7894078775</c:v>
                      </c:pt>
                      <c:pt idx="8">
                        <c:v>1553619.4291697955</c:v>
                      </c:pt>
                      <c:pt idx="9">
                        <c:v>1548872.2185857981</c:v>
                      </c:pt>
                      <c:pt idx="10">
                        <c:v>1534978.8077910193</c:v>
                      </c:pt>
                      <c:pt idx="11">
                        <c:v>1534382.4698318117</c:v>
                      </c:pt>
                      <c:pt idx="12">
                        <c:v>1542867.291493779</c:v>
                      </c:pt>
                      <c:pt idx="13">
                        <c:v>1583065.7893440635</c:v>
                      </c:pt>
                      <c:pt idx="14">
                        <c:v>1613555.8373746022</c:v>
                      </c:pt>
                      <c:pt idx="15">
                        <c:v>1641860.4071525927</c:v>
                      </c:pt>
                    </c:numCache>
                  </c:numRef>
                </c:val>
                <c:smooth val="0"/>
                <c:extLst>
                  <c:ext xmlns:c16="http://schemas.microsoft.com/office/drawing/2014/chart" uri="{C3380CC4-5D6E-409C-BE32-E72D297353CC}">
                    <c16:uniqueId val="{00000003-33DC-4EC3-BFEC-76EBA48B8139}"/>
                  </c:ext>
                </c:extLst>
              </c15:ser>
            </c15:filteredLineSeries>
          </c:ext>
        </c:extLst>
      </c:lineChart>
      <c:catAx>
        <c:axId val="7250118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66742943"/>
        <c:crosses val="autoZero"/>
        <c:auto val="1"/>
        <c:lblAlgn val="ctr"/>
        <c:lblOffset val="100"/>
        <c:noMultiLvlLbl val="0"/>
      </c:catAx>
      <c:valAx>
        <c:axId val="66742943"/>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72501183"/>
        <c:crosses val="autoZero"/>
        <c:crossBetween val="between"/>
        <c:majorUnit val="300000"/>
        <c:dispUnits>
          <c:builtInUnit val="thousands"/>
        </c:dispUnits>
      </c:valAx>
      <c:spPr>
        <a:noFill/>
        <a:ln>
          <a:noFill/>
        </a:ln>
        <a:effectLst/>
      </c:spPr>
    </c:plotArea>
    <c:legend>
      <c:legendPos val="b"/>
      <c:layout>
        <c:manualLayout>
          <c:xMode val="edge"/>
          <c:yMode val="edge"/>
          <c:x val="2.2952456675814536E-2"/>
          <c:y val="0.86273037931651109"/>
          <c:w val="0.97581061324989082"/>
          <c:h val="0.13726962068348894"/>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800">
          <a:solidFill>
            <a:schemeClr val="tx1"/>
          </a:solidFill>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000" b="1" i="0" u="none" strike="noStrike" kern="1200" cap="none" spc="20" baseline="0" smtClean="0">
                <a:solidFill>
                  <a:schemeClr val="tx1"/>
                </a:solidFill>
                <a:latin typeface="+mn-lt"/>
                <a:ea typeface="+mn-ea"/>
                <a:cs typeface="+mn-cs"/>
              </a:defRPr>
            </a:pPr>
            <a:r>
              <a:rPr lang="en-US" sz="1000" b="1"/>
              <a:t>DE: Total Public Debt Stock (% GDP)</a:t>
            </a:r>
            <a:br/>
            <a:r>
              <a:rPr lang="en-US" sz="1000" b="1"/>
              <a:t/>
            </a:r>
            <a:br/>
            <a:r>
              <a:rPr lang="en-US" sz="1000" b="1"/>
              <a:t/>
            </a:r>
          </a:p>
        </c:rich>
      </c:tx>
      <c:layout>
        <c:manualLayout>
          <c:xMode val="edge"/>
          <c:yMode val="edge"/>
          <c:x val="0.15155321867661278"/>
          <c:y val="2.5839083546709229E-2"/>
        </c:manualLayout>
      </c:layout>
      <c:overlay val="0"/>
      <c:spPr>
        <a:noFill/>
        <a:ln>
          <a:noFill/>
        </a:ln>
        <a:effectLst/>
      </c:spPr>
      <c:txPr>
        <a:bodyPr rot="0" spcFirstLastPara="1" vertOverflow="ellipsis" vert="horz" wrap="square" anchor="ctr" anchorCtr="1"/>
        <a:lstStyle/>
        <a:p>
          <a:pPr>
            <a:defRPr lang="en-US" sz="1000" b="1" i="0" u="none" strike="noStrike" kern="1200" cap="none" spc="20" baseline="0" smtClean="0">
              <a:solidFill>
                <a:schemeClr val="tx1"/>
              </a:solidFill>
              <a:latin typeface="+mn-lt"/>
              <a:ea typeface="+mn-ea"/>
              <a:cs typeface="+mn-cs"/>
            </a:defRPr>
          </a:pPr>
          <a:endParaRPr lang="en-US"/>
        </a:p>
      </c:txPr>
    </c:title>
    <c:autoTitleDeleted val="0"/>
    <c:plotArea>
      <c:layout>
        <c:manualLayout>
          <c:layoutTarget val="inner"/>
          <c:xMode val="edge"/>
          <c:yMode val="edge"/>
          <c:x val="0.15113678224432472"/>
          <c:y val="0.16278381868933051"/>
          <c:w val="0.82167766303641088"/>
          <c:h val="0.62774109326877991"/>
        </c:manualLayout>
      </c:layout>
      <c:lineChart>
        <c:grouping val="standard"/>
        <c:varyColors val="0"/>
        <c:ser>
          <c:idx val="0"/>
          <c:order val="0"/>
          <c:spPr>
            <a:ln w="28575" cap="rnd" cmpd="sng" algn="ctr">
              <a:solidFill>
                <a:schemeClr val="accent1"/>
              </a:solidFill>
              <a:round/>
            </a:ln>
            <a:effectLst/>
          </c:spPr>
          <c:marker>
            <c:symbol val="none"/>
          </c:marker>
          <c:cat>
            <c:numRef>
              <c:f>Sheet1!$C$4:$C$25</c:f>
              <c:numCache>
                <c:formatCode>General</c:formatCode>
                <c:ptCount val="22"/>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numCache>
            </c:numRef>
          </c:cat>
          <c:val>
            <c:numRef>
              <c:f>Sheet1!$D$4:$D$25</c:f>
              <c:numCache>
                <c:formatCode>0%</c:formatCode>
                <c:ptCount val="22"/>
                <c:pt idx="0">
                  <c:v>1.01</c:v>
                </c:pt>
                <c:pt idx="1">
                  <c:v>0.92</c:v>
                </c:pt>
                <c:pt idx="2">
                  <c:v>0.63</c:v>
                </c:pt>
                <c:pt idx="3">
                  <c:v>0.62</c:v>
                </c:pt>
                <c:pt idx="4">
                  <c:v>0.57999999999999996</c:v>
                </c:pt>
                <c:pt idx="5">
                  <c:v>0.54</c:v>
                </c:pt>
                <c:pt idx="6">
                  <c:v>0.35</c:v>
                </c:pt>
                <c:pt idx="7">
                  <c:v>0.31</c:v>
                </c:pt>
                <c:pt idx="8">
                  <c:v>0.28999999999999998</c:v>
                </c:pt>
                <c:pt idx="9">
                  <c:v>0.35</c:v>
                </c:pt>
                <c:pt idx="10">
                  <c:v>0.36</c:v>
                </c:pt>
                <c:pt idx="11">
                  <c:v>0.31</c:v>
                </c:pt>
                <c:pt idx="12">
                  <c:v>0.31</c:v>
                </c:pt>
                <c:pt idx="13">
                  <c:v>0.44</c:v>
                </c:pt>
                <c:pt idx="14">
                  <c:v>0.54</c:v>
                </c:pt>
                <c:pt idx="15">
                  <c:v>0.66</c:v>
                </c:pt>
                <c:pt idx="16">
                  <c:v>0.91</c:v>
                </c:pt>
                <c:pt idx="17">
                  <c:v>0.94</c:v>
                </c:pt>
                <c:pt idx="18">
                  <c:v>0.97</c:v>
                </c:pt>
                <c:pt idx="19">
                  <c:v>1.01</c:v>
                </c:pt>
                <c:pt idx="20">
                  <c:v>1.3</c:v>
                </c:pt>
                <c:pt idx="21">
                  <c:v>1.2</c:v>
                </c:pt>
              </c:numCache>
            </c:numRef>
          </c:val>
          <c:smooth val="0"/>
          <c:extLst>
            <c:ext xmlns:c16="http://schemas.microsoft.com/office/drawing/2014/chart" uri="{C3380CC4-5D6E-409C-BE32-E72D297353CC}">
              <c16:uniqueId val="{00000000-BFD7-46F0-B4AA-84090A1EFD14}"/>
            </c:ext>
          </c:extLst>
        </c:ser>
        <c:dLbls>
          <c:showLegendKey val="0"/>
          <c:showVal val="0"/>
          <c:showCatName val="0"/>
          <c:showSerName val="0"/>
          <c:showPercent val="0"/>
          <c:showBubbleSize val="0"/>
        </c:dLbls>
        <c:dropLines>
          <c:spPr>
            <a:ln w="9525" cap="flat" cmpd="sng" algn="ctr">
              <a:solidFill>
                <a:schemeClr val="dk1">
                  <a:lumMod val="35000"/>
                  <a:lumOff val="65000"/>
                  <a:alpha val="33000"/>
                </a:schemeClr>
              </a:solidFill>
              <a:round/>
            </a:ln>
            <a:effectLst/>
          </c:spPr>
        </c:dropLines>
        <c:smooth val="0"/>
        <c:axId val="589083823"/>
        <c:axId val="589091727"/>
      </c:lineChart>
      <c:catAx>
        <c:axId val="589083823"/>
        <c:scaling>
          <c:orientation val="minMax"/>
        </c:scaling>
        <c:delete val="0"/>
        <c:axPos val="b"/>
        <c:numFmt formatCode="General" sourceLinked="1"/>
        <c:majorTickMark val="none"/>
        <c:minorTickMark val="none"/>
        <c:tickLblPos val="nextTo"/>
        <c:spPr>
          <a:noFill/>
          <a:ln w="9525" cap="flat" cmpd="sng" algn="ctr">
            <a:solidFill>
              <a:schemeClr val="bg1">
                <a:lumMod val="50000"/>
              </a:schemeClr>
            </a:solidFill>
            <a:round/>
          </a:ln>
          <a:effectLst/>
        </c:spPr>
        <c:txPr>
          <a:bodyPr rot="-5400000" spcFirstLastPara="1" vertOverflow="ellipsis" wrap="square" anchor="ctr" anchorCtr="1"/>
          <a:lstStyle/>
          <a:p>
            <a:pPr>
              <a:defRPr sz="900" b="0" i="0" u="none" strike="noStrike" kern="1200" spc="20" baseline="0">
                <a:solidFill>
                  <a:schemeClr val="tx1"/>
                </a:solidFill>
                <a:latin typeface="+mn-lt"/>
                <a:ea typeface="+mn-ea"/>
                <a:cs typeface="+mn-cs"/>
              </a:defRPr>
            </a:pPr>
            <a:endParaRPr lang="en-US"/>
          </a:p>
        </c:txPr>
        <c:crossAx val="589091727"/>
        <c:crosses val="autoZero"/>
        <c:auto val="1"/>
        <c:lblAlgn val="ctr"/>
        <c:lblOffset val="100"/>
        <c:noMultiLvlLbl val="0"/>
      </c:catAx>
      <c:valAx>
        <c:axId val="589091727"/>
        <c:scaling>
          <c:orientation val="minMax"/>
        </c:scaling>
        <c:delete val="0"/>
        <c:axPos val="l"/>
        <c:numFmt formatCode="0%" sourceLinked="1"/>
        <c:majorTickMark val="none"/>
        <c:minorTickMark val="none"/>
        <c:tickLblPos val="nextTo"/>
        <c:spPr>
          <a:noFill/>
          <a:ln>
            <a:solidFill>
              <a:schemeClr val="bg1">
                <a:lumMod val="50000"/>
              </a:schemeClr>
            </a:solidFill>
          </a:ln>
          <a:effectLst/>
        </c:spPr>
        <c:txPr>
          <a:bodyPr rot="-60000000" spcFirstLastPara="1" vertOverflow="ellipsis" vert="horz" wrap="square" anchor="ctr" anchorCtr="1"/>
          <a:lstStyle/>
          <a:p>
            <a:pPr>
              <a:defRPr sz="900" b="0" i="0" u="none" strike="noStrike" kern="1200" spc="20" baseline="0">
                <a:solidFill>
                  <a:schemeClr val="tx1"/>
                </a:solidFill>
                <a:latin typeface="+mn-lt"/>
                <a:ea typeface="+mn-ea"/>
                <a:cs typeface="+mn-cs"/>
              </a:defRPr>
            </a:pPr>
            <a:endParaRPr lang="en-US"/>
          </a:p>
        </c:txPr>
        <c:crossAx val="589083823"/>
        <c:crosses val="autoZero"/>
        <c:crossBetween val="between"/>
      </c:valAx>
      <c:spPr>
        <a:gradFill>
          <a:gsLst>
            <a:gs pos="100000">
              <a:schemeClr val="lt1">
                <a:lumMod val="95000"/>
              </a:schemeClr>
            </a:gs>
            <a:gs pos="0">
              <a:schemeClr val="lt1"/>
            </a:gs>
          </a:gsLst>
          <a:lin ang="5400000" scaled="0"/>
        </a:grad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lt1"/>
    </a:solidFill>
    <a:ln>
      <a:noFill/>
    </a:ln>
    <a:effectLst/>
  </c:spPr>
  <c:txPr>
    <a:bodyPr/>
    <a:lstStyle/>
    <a:p>
      <a:pPr>
        <a:defRPr>
          <a:solidFill>
            <a:schemeClr val="tx1"/>
          </a:solidFill>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050" b="1" i="0" u="none" strike="noStrike" kern="1200" spc="0" baseline="0" smtClean="0">
                <a:solidFill>
                  <a:schemeClr val="tx1"/>
                </a:solidFill>
                <a:latin typeface="Arial" panose="020B0604020202020204" pitchFamily="34" charset="0"/>
                <a:ea typeface="+mn-ea"/>
                <a:cs typeface="Arial" panose="020B0604020202020204" pitchFamily="34" charset="0"/>
              </a:defRPr>
            </a:pPr>
            <a:r>
              <a:rPr lang="en-US" sz="1050" b="1"/>
              <a:t>DE: Annual GDP Growth</a:t>
            </a:r>
            <a:br/>
            <a:r>
              <a:rPr lang="en-US" sz="1050" b="1"/>
              <a:t/>
            </a:r>
            <a:br/>
            <a:r>
              <a:rPr lang="en-US" sz="1050" b="1"/>
              <a:t/>
            </a:r>
          </a:p>
        </c:rich>
      </c:tx>
      <c:overlay val="0"/>
      <c:spPr>
        <a:noFill/>
        <a:ln>
          <a:noFill/>
        </a:ln>
        <a:effectLst/>
      </c:spPr>
      <c:txPr>
        <a:bodyPr rot="0" spcFirstLastPara="1" vertOverflow="ellipsis" vert="horz" wrap="square" anchor="ctr" anchorCtr="1"/>
        <a:lstStyle/>
        <a:p>
          <a:pPr>
            <a:defRPr lang="en-US" sz="1050" b="1" i="0" u="none" strike="noStrike" kern="1200" spc="0" baseline="0" smtClean="0">
              <a:solidFill>
                <a:schemeClr val="tx1"/>
              </a:solidFill>
              <a:latin typeface="Arial" panose="020B0604020202020204" pitchFamily="34" charset="0"/>
              <a:ea typeface="+mn-ea"/>
              <a:cs typeface="Arial" panose="020B0604020202020204" pitchFamily="34" charset="0"/>
            </a:defRPr>
          </a:pPr>
          <a:endParaRPr lang="en-US"/>
        </a:p>
      </c:txPr>
    </c:title>
    <c:autoTitleDeleted val="0"/>
    <c:plotArea>
      <c:layout>
        <c:manualLayout>
          <c:layoutTarget val="inner"/>
          <c:xMode val="edge"/>
          <c:yMode val="edge"/>
          <c:x val="0.12561156006814939"/>
          <c:y val="7.4553701620630755E-2"/>
          <c:w val="0.84049277541421585"/>
          <c:h val="0.74201818522684659"/>
        </c:manualLayout>
      </c:layout>
      <c:barChart>
        <c:barDir val="col"/>
        <c:grouping val="stacked"/>
        <c:varyColors val="0"/>
        <c:ser>
          <c:idx val="0"/>
          <c:order val="0"/>
          <c:tx>
            <c:strRef>
              <c:f>'GDP Data'!$A$2</c:f>
              <c:strCache>
                <c:ptCount val="1"/>
                <c:pt idx="0">
                  <c:v>Mozambique</c:v>
                </c:pt>
              </c:strCache>
            </c:strRef>
          </c:tx>
          <c:spPr>
            <a:solidFill>
              <a:schemeClr val="accent1"/>
            </a:solidFill>
            <a:ln>
              <a:noFill/>
            </a:ln>
            <a:effectLst/>
          </c:spPr>
          <c:invertIfNegative val="0"/>
          <c:cat>
            <c:numRef>
              <c:f>'GDP Data'!$B$1:$AH$1</c:f>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f>'GDP Data'!$B$2:$AH$2</c:f>
              <c:numCache>
                <c:formatCode>0.0</c:formatCode>
                <c:ptCount val="30"/>
                <c:pt idx="0">
                  <c:v>4.9254512574701721</c:v>
                </c:pt>
                <c:pt idx="1">
                  <c:v>-6.1247154506177992</c:v>
                </c:pt>
                <c:pt idx="2">
                  <c:v>10.598529673232136</c:v>
                </c:pt>
                <c:pt idx="3">
                  <c:v>6.5333964579059227</c:v>
                </c:pt>
                <c:pt idx="4">
                  <c:v>2.2597571775733911</c:v>
                </c:pt>
                <c:pt idx="5">
                  <c:v>11.202519603498004</c:v>
                </c:pt>
                <c:pt idx="6">
                  <c:v>11.301068648208897</c:v>
                </c:pt>
                <c:pt idx="7">
                  <c:v>9.9312519493834941</c:v>
                </c:pt>
                <c:pt idx="8">
                  <c:v>11.698523715901189</c:v>
                </c:pt>
                <c:pt idx="9">
                  <c:v>1.1803007889161563</c:v>
                </c:pt>
                <c:pt idx="10">
                  <c:v>12.086874401640998</c:v>
                </c:pt>
                <c:pt idx="11">
                  <c:v>9.2910518852059596</c:v>
                </c:pt>
                <c:pt idx="12">
                  <c:v>6.8785328719577592</c:v>
                </c:pt>
                <c:pt idx="13">
                  <c:v>7.9164078363794204</c:v>
                </c:pt>
                <c:pt idx="14">
                  <c:v>6.6459082805728968</c:v>
                </c:pt>
                <c:pt idx="15">
                  <c:v>9.6943740917428585</c:v>
                </c:pt>
                <c:pt idx="16">
                  <c:v>7.7297462424837988</c:v>
                </c:pt>
                <c:pt idx="17">
                  <c:v>7.3177553239303705</c:v>
                </c:pt>
                <c:pt idx="18">
                  <c:v>6.3181972324890268</c:v>
                </c:pt>
                <c:pt idx="19">
                  <c:v>6.5023531151979057</c:v>
                </c:pt>
                <c:pt idx="20">
                  <c:v>7.4173843155939068</c:v>
                </c:pt>
                <c:pt idx="21">
                  <c:v>7.2584392525877774</c:v>
                </c:pt>
                <c:pt idx="22">
                  <c:v>6.9636071348707134</c:v>
                </c:pt>
                <c:pt idx="23">
                  <c:v>7.3985127971386362</c:v>
                </c:pt>
                <c:pt idx="24">
                  <c:v>6.7232787803581857</c:v>
                </c:pt>
                <c:pt idx="25">
                  <c:v>3.824214319211876</c:v>
                </c:pt>
                <c:pt idx="26">
                  <c:v>3.7413175931256433</c:v>
                </c:pt>
                <c:pt idx="27">
                  <c:v>3.4438138397146218</c:v>
                </c:pt>
                <c:pt idx="28">
                  <c:v>2.2835972030121496</c:v>
                </c:pt>
                <c:pt idx="29">
                  <c:v>-1.3</c:v>
                </c:pt>
              </c:numCache>
            </c:numRef>
          </c:val>
          <c:extLst>
            <c:ext xmlns:c16="http://schemas.microsoft.com/office/drawing/2014/chart" uri="{C3380CC4-5D6E-409C-BE32-E72D297353CC}">
              <c16:uniqueId val="{00000000-32C8-4B9C-9781-65A3F23583AD}"/>
            </c:ext>
          </c:extLst>
        </c:ser>
        <c:dLbls>
          <c:showLegendKey val="0"/>
          <c:showVal val="0"/>
          <c:showCatName val="0"/>
          <c:showSerName val="0"/>
          <c:showPercent val="0"/>
          <c:showBubbleSize val="0"/>
        </c:dLbls>
        <c:gapWidth val="150"/>
        <c:overlap val="100"/>
        <c:axId val="430087344"/>
        <c:axId val="418464864"/>
      </c:barChart>
      <c:lineChart>
        <c:grouping val="standard"/>
        <c:varyColors val="0"/>
        <c:ser>
          <c:idx val="2"/>
          <c:order val="2"/>
          <c:tx>
            <c:strRef>
              <c:f>'GDP Data'!$A$4</c:f>
              <c:strCache>
                <c:ptCount val="1"/>
                <c:pt idx="0">
                  <c:v>Sub-Saharan Africa</c:v>
                </c:pt>
              </c:strCache>
            </c:strRef>
          </c:tx>
          <c:spPr>
            <a:ln w="28575" cap="rnd">
              <a:solidFill>
                <a:srgbClr val="FF0000"/>
              </a:solidFill>
              <a:round/>
            </a:ln>
            <a:effectLst/>
          </c:spPr>
          <c:marker>
            <c:symbol val="none"/>
          </c:marker>
          <c:cat>
            <c:numRef>
              <c:f>'GDP Data'!$B$1:$AH$1</c:f>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f>'GDP Data'!$B$4:$AH$4</c:f>
              <c:numCache>
                <c:formatCode>0.0</c:formatCode>
                <c:ptCount val="30"/>
                <c:pt idx="0">
                  <c:v>0.37883973567581108</c:v>
                </c:pt>
                <c:pt idx="1">
                  <c:v>-0.34210021494052967</c:v>
                </c:pt>
                <c:pt idx="2">
                  <c:v>-0.88323080146508914</c:v>
                </c:pt>
                <c:pt idx="3">
                  <c:v>1.186235421797349</c:v>
                </c:pt>
                <c:pt idx="4">
                  <c:v>3.4115738971970018</c:v>
                </c:pt>
                <c:pt idx="5">
                  <c:v>5.1003801502508992</c:v>
                </c:pt>
                <c:pt idx="6">
                  <c:v>3.5540577440119847</c:v>
                </c:pt>
                <c:pt idx="7">
                  <c:v>2.3845140034811152</c:v>
                </c:pt>
                <c:pt idx="8">
                  <c:v>2.1796272126436236</c:v>
                </c:pt>
                <c:pt idx="9">
                  <c:v>3.4623029555638283</c:v>
                </c:pt>
                <c:pt idx="10">
                  <c:v>4.2500935219682106</c:v>
                </c:pt>
                <c:pt idx="11">
                  <c:v>6.3555425809505834</c:v>
                </c:pt>
                <c:pt idx="12">
                  <c:v>4.2395920720278042</c:v>
                </c:pt>
                <c:pt idx="13">
                  <c:v>6.5072095757116273</c:v>
                </c:pt>
                <c:pt idx="14">
                  <c:v>6.1976801925190728</c:v>
                </c:pt>
                <c:pt idx="15">
                  <c:v>6.166762311186929</c:v>
                </c:pt>
                <c:pt idx="16">
                  <c:v>6.4878003693707598</c:v>
                </c:pt>
                <c:pt idx="17">
                  <c:v>5.3479010146539849</c:v>
                </c:pt>
                <c:pt idx="18">
                  <c:v>3.0969394445383074</c:v>
                </c:pt>
                <c:pt idx="19">
                  <c:v>5.5767645236600032</c:v>
                </c:pt>
                <c:pt idx="20">
                  <c:v>4.4834682454876429</c:v>
                </c:pt>
                <c:pt idx="21">
                  <c:v>4.125614017036483</c:v>
                </c:pt>
                <c:pt idx="22">
                  <c:v>4.956723738830604</c:v>
                </c:pt>
                <c:pt idx="23">
                  <c:v>4.6561904621861885</c:v>
                </c:pt>
                <c:pt idx="24">
                  <c:v>2.7809778929204469</c:v>
                </c:pt>
                <c:pt idx="25">
                  <c:v>1.1611996609763224</c:v>
                </c:pt>
                <c:pt idx="26">
                  <c:v>2.3809231937332669</c:v>
                </c:pt>
                <c:pt idx="27">
                  <c:v>2.3865132187756615</c:v>
                </c:pt>
                <c:pt idx="28">
                  <c:v>2.2874659639174837</c:v>
                </c:pt>
                <c:pt idx="29">
                  <c:v>0</c:v>
                </c:pt>
              </c:numCache>
            </c:numRef>
          </c:val>
          <c:smooth val="0"/>
          <c:extLst>
            <c:ext xmlns:c16="http://schemas.microsoft.com/office/drawing/2014/chart" uri="{C3380CC4-5D6E-409C-BE32-E72D297353CC}">
              <c16:uniqueId val="{00000001-32C8-4B9C-9781-65A3F23583AD}"/>
            </c:ext>
          </c:extLst>
        </c:ser>
        <c:ser>
          <c:idx val="3"/>
          <c:order val="3"/>
          <c:tx>
            <c:strRef>
              <c:f>'GDP Data'!$A$5</c:f>
              <c:strCache>
                <c:ptCount val="1"/>
                <c:pt idx="0">
                  <c:v>Low income Countries</c:v>
                </c:pt>
              </c:strCache>
              <c:extLst xmlns:c15="http://schemas.microsoft.com/office/drawing/2012/chart"/>
            </c:strRef>
          </c:tx>
          <c:spPr>
            <a:ln w="28575" cap="rnd">
              <a:solidFill>
                <a:srgbClr val="FFC000"/>
              </a:solidFill>
              <a:round/>
            </a:ln>
            <a:effectLst/>
          </c:spPr>
          <c:marker>
            <c:symbol val="none"/>
          </c:marker>
          <c:cat>
            <c:numRef>
              <c:f>'GDP Data'!$B$1:$AH$1</c:f>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extLst xmlns:c15="http://schemas.microsoft.com/office/drawing/2012/chart"/>
            </c:numRef>
          </c:cat>
          <c:val>
            <c:numRef>
              <c:f>'GDP Data'!$B$5:$AH$5</c:f>
              <c:numCache>
                <c:formatCode>0.0</c:formatCode>
                <c:ptCount val="30"/>
                <c:pt idx="0">
                  <c:v>0.46610201196423873</c:v>
                </c:pt>
                <c:pt idx="1">
                  <c:v>-2.5622172190570609</c:v>
                </c:pt>
                <c:pt idx="2">
                  <c:v>-0.46058909177104113</c:v>
                </c:pt>
                <c:pt idx="3">
                  <c:v>-0.62152950096505322</c:v>
                </c:pt>
                <c:pt idx="4">
                  <c:v>4.8424186162719991</c:v>
                </c:pt>
                <c:pt idx="5">
                  <c:v>4.79145154443232</c:v>
                </c:pt>
                <c:pt idx="6">
                  <c:v>4.5441332533684857</c:v>
                </c:pt>
                <c:pt idx="7">
                  <c:v>3.4255924500228332</c:v>
                </c:pt>
                <c:pt idx="8">
                  <c:v>3.271331525716036</c:v>
                </c:pt>
                <c:pt idx="9">
                  <c:v>2.7615965506397657</c:v>
                </c:pt>
                <c:pt idx="10">
                  <c:v>5.0630202587021529</c:v>
                </c:pt>
                <c:pt idx="11">
                  <c:v>4.2195534200164957</c:v>
                </c:pt>
                <c:pt idx="12">
                  <c:v>5.1450848633310073</c:v>
                </c:pt>
                <c:pt idx="13">
                  <c:v>5.6692216703239922</c:v>
                </c:pt>
                <c:pt idx="14">
                  <c:v>6.926637043446874</c:v>
                </c:pt>
                <c:pt idx="15">
                  <c:v>6.5677149666268662</c:v>
                </c:pt>
                <c:pt idx="16">
                  <c:v>7.5218876511437429</c:v>
                </c:pt>
                <c:pt idx="17">
                  <c:v>6.4622496107546539</c:v>
                </c:pt>
                <c:pt idx="18">
                  <c:v>5.0813603224052031</c:v>
                </c:pt>
                <c:pt idx="19">
                  <c:v>6.4681324061609047</c:v>
                </c:pt>
                <c:pt idx="20">
                  <c:v>2.2386091573524283</c:v>
                </c:pt>
                <c:pt idx="21">
                  <c:v>2.6863512373343639</c:v>
                </c:pt>
                <c:pt idx="22">
                  <c:v>5.6411238766425242</c:v>
                </c:pt>
                <c:pt idx="23">
                  <c:v>5.0582523079691271</c:v>
                </c:pt>
                <c:pt idx="24">
                  <c:v>2.0452917285648056</c:v>
                </c:pt>
                <c:pt idx="25">
                  <c:v>3.8426693172219757</c:v>
                </c:pt>
                <c:pt idx="26">
                  <c:v>3.7100744799314356</c:v>
                </c:pt>
                <c:pt idx="27">
                  <c:v>3.6897573827344985</c:v>
                </c:pt>
                <c:pt idx="28">
                  <c:v>3.9553191234186897</c:v>
                </c:pt>
                <c:pt idx="29">
                  <c:v>0</c:v>
                </c:pt>
              </c:numCache>
              <c:extLst xmlns:c15="http://schemas.microsoft.com/office/drawing/2012/chart"/>
            </c:numRef>
          </c:val>
          <c:smooth val="0"/>
          <c:extLst xmlns:c15="http://schemas.microsoft.com/office/drawing/2012/chart">
            <c:ext xmlns:c16="http://schemas.microsoft.com/office/drawing/2014/chart" uri="{C3380CC4-5D6E-409C-BE32-E72D297353CC}">
              <c16:uniqueId val="{00000002-32C8-4B9C-9781-65A3F23583AD}"/>
            </c:ext>
          </c:extLst>
        </c:ser>
        <c:dLbls>
          <c:showLegendKey val="0"/>
          <c:showVal val="0"/>
          <c:showCatName val="0"/>
          <c:showSerName val="0"/>
          <c:showPercent val="0"/>
          <c:showBubbleSize val="0"/>
        </c:dLbls>
        <c:marker val="1"/>
        <c:smooth val="0"/>
        <c:axId val="430087344"/>
        <c:axId val="418464864"/>
        <c:extLst>
          <c:ext xmlns:c15="http://schemas.microsoft.com/office/drawing/2012/chart" uri="{02D57815-91ED-43cb-92C2-25804820EDAC}">
            <c15:filteredLineSeries>
              <c15:ser>
                <c:idx val="1"/>
                <c:order val="1"/>
                <c:tx>
                  <c:strRef>
                    <c:extLst>
                      <c:ext uri="{02D57815-91ED-43cb-92C2-25804820EDAC}">
                        <c15:formulaRef>
                          <c15:sqref>'GDP Data'!$A$3</c15:sqref>
                        </c15:formulaRef>
                      </c:ext>
                    </c:extLst>
                    <c:strCache>
                      <c:ptCount val="1"/>
                      <c:pt idx="0">
                        <c:v>Sub-Saharan Africa (excluding high income)</c:v>
                      </c:pt>
                    </c:strCache>
                  </c:strRef>
                </c:tx>
                <c:spPr>
                  <a:ln w="28575" cap="rnd">
                    <a:solidFill>
                      <a:schemeClr val="accent2"/>
                    </a:solidFill>
                    <a:round/>
                  </a:ln>
                  <a:effectLst/>
                </c:spPr>
                <c:marker>
                  <c:symbol val="none"/>
                </c:marker>
                <c:cat>
                  <c:numRef>
                    <c:extLst>
                      <c:ex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c:ext uri="{02D57815-91ED-43cb-92C2-25804820EDAC}">
                        <c15:formulaRef>
                          <c15:sqref>'GDP Data'!$B$3:$AH$3</c15:sqref>
                        </c15:formulaRef>
                      </c:ext>
                    </c:extLst>
                    <c:numCache>
                      <c:formatCode>0.0</c:formatCode>
                      <c:ptCount val="30"/>
                      <c:pt idx="0">
                        <c:v>0.35177860941561789</c:v>
                      </c:pt>
                      <c:pt idx="1">
                        <c:v>-0.39250751376161475</c:v>
                      </c:pt>
                      <c:pt idx="2">
                        <c:v>-0.93059726057983028</c:v>
                      </c:pt>
                      <c:pt idx="3">
                        <c:v>1.1665730900453752</c:v>
                      </c:pt>
                      <c:pt idx="4">
                        <c:v>3.4089368628595196</c:v>
                      </c:pt>
                      <c:pt idx="5">
                        <c:v>5.0968469193424681</c:v>
                      </c:pt>
                      <c:pt idx="6">
                        <c:v>3.5302962491116148</c:v>
                      </c:pt>
                      <c:pt idx="7">
                        <c:v>2.3500220050314908</c:v>
                      </c:pt>
                      <c:pt idx="8">
                        <c:v>2.1764651836701177</c:v>
                      </c:pt>
                      <c:pt idx="9">
                        <c:v>3.4259149656741954</c:v>
                      </c:pt>
                      <c:pt idx="10">
                        <c:v>4.2642323365023742</c:v>
                      </c:pt>
                      <c:pt idx="11">
                        <c:v>6.4000567760049876</c:v>
                      </c:pt>
                      <c:pt idx="12">
                        <c:v>4.2351236053207231</c:v>
                      </c:pt>
                      <c:pt idx="13">
                        <c:v>6.5324267926606865</c:v>
                      </c:pt>
                      <c:pt idx="14">
                        <c:v>6.2308050711682057</c:v>
                      </c:pt>
                      <c:pt idx="15">
                        <c:v>6.1742490477868728</c:v>
                      </c:pt>
                      <c:pt idx="16">
                        <c:v>6.4904819674471952</c:v>
                      </c:pt>
                      <c:pt idx="17">
                        <c:v>5.3536320106479849</c:v>
                      </c:pt>
                      <c:pt idx="18">
                        <c:v>3.0984284704204157</c:v>
                      </c:pt>
                      <c:pt idx="19">
                        <c:v>5.5853941368519031</c:v>
                      </c:pt>
                      <c:pt idx="20">
                        <c:v>4.4840248030612031</c:v>
                      </c:pt>
                      <c:pt idx="21">
                        <c:v>4.1323229779213619</c:v>
                      </c:pt>
                      <c:pt idx="22">
                        <c:v>4.9675673969261851</c:v>
                      </c:pt>
                      <c:pt idx="23">
                        <c:v>4.6628240369170015</c:v>
                      </c:pt>
                      <c:pt idx="24">
                        <c:v>2.7739463169666152</c:v>
                      </c:pt>
                      <c:pt idx="25">
                        <c:v>1.1394618211281227</c:v>
                      </c:pt>
                      <c:pt idx="26">
                        <c:v>2.3688308266620766</c:v>
                      </c:pt>
                      <c:pt idx="27">
                        <c:v>2.375180383196934</c:v>
                      </c:pt>
                      <c:pt idx="28">
                        <c:v>2.2795647607438667</c:v>
                      </c:pt>
                      <c:pt idx="29">
                        <c:v>0</c:v>
                      </c:pt>
                    </c:numCache>
                  </c:numRef>
                </c:val>
                <c:smooth val="0"/>
                <c:extLst>
                  <c:ext xmlns:c16="http://schemas.microsoft.com/office/drawing/2014/chart" uri="{C3380CC4-5D6E-409C-BE32-E72D297353CC}">
                    <c16:uniqueId val="{00000003-32C8-4B9C-9781-65A3F23583AD}"/>
                  </c:ext>
                </c:extLst>
              </c15:ser>
            </c15:filteredLineSeries>
            <c15:filteredLineSeries>
              <c15:ser>
                <c:idx val="4"/>
                <c:order val="4"/>
                <c:tx>
                  <c:strRef>
                    <c:extLst xmlns:c15="http://schemas.microsoft.com/office/drawing/2012/chart">
                      <c:ext xmlns:c15="http://schemas.microsoft.com/office/drawing/2012/chart" uri="{02D57815-91ED-43cb-92C2-25804820EDAC}">
                        <c15:formulaRef>
                          <c15:sqref>'GDP Data'!$A$6</c15:sqref>
                        </c15:formulaRef>
                      </c:ext>
                    </c:extLst>
                    <c:strCache>
                      <c:ptCount val="1"/>
                      <c:pt idx="0">
                        <c:v>Tanzania</c:v>
                      </c:pt>
                    </c:strCache>
                  </c:strRef>
                </c:tx>
                <c:spPr>
                  <a:ln w="28575" cap="rnd">
                    <a:solidFill>
                      <a:schemeClr val="accent5"/>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Data'!$B$6:$AH$6</c15:sqref>
                        </c15:formulaRef>
                      </c:ext>
                    </c:extLst>
                    <c:numCache>
                      <c:formatCode>General</c:formatCode>
                      <c:ptCount val="30"/>
                      <c:pt idx="0">
                        <c:v>2.0719882112220773</c:v>
                      </c:pt>
                      <c:pt idx="1">
                        <c:v>0.58432213408326561</c:v>
                      </c:pt>
                      <c:pt idx="2">
                        <c:v>1.2058008083940308</c:v>
                      </c:pt>
                      <c:pt idx="3">
                        <c:v>1.567661765625644</c:v>
                      </c:pt>
                      <c:pt idx="4">
                        <c:v>3.5699118684430005</c:v>
                      </c:pt>
                      <c:pt idx="5">
                        <c:v>4.544366801874375</c:v>
                      </c:pt>
                      <c:pt idx="6">
                        <c:v>3.5252781913522426</c:v>
                      </c:pt>
                      <c:pt idx="7">
                        <c:v>3.7085115960772299</c:v>
                      </c:pt>
                      <c:pt idx="8">
                        <c:v>4.8638637551705131</c:v>
                      </c:pt>
                      <c:pt idx="9">
                        <c:v>4.5207846348832135</c:v>
                      </c:pt>
                      <c:pt idx="10">
                        <c:v>6.0708082884781618</c:v>
                      </c:pt>
                      <c:pt idx="11">
                        <c:v>7.0931949835368613</c:v>
                      </c:pt>
                      <c:pt idx="12">
                        <c:v>6.6727898290831433</c:v>
                      </c:pt>
                      <c:pt idx="13">
                        <c:v>7.5038146604771612</c:v>
                      </c:pt>
                      <c:pt idx="14">
                        <c:v>7.4763192578229223</c:v>
                      </c:pt>
                      <c:pt idx="15">
                        <c:v>6.5322213903017001</c:v>
                      </c:pt>
                      <c:pt idx="16">
                        <c:v>6.7685352018066283</c:v>
                      </c:pt>
                      <c:pt idx="17">
                        <c:v>5.6864168597641935</c:v>
                      </c:pt>
                      <c:pt idx="18">
                        <c:v>5.2691052479185316</c:v>
                      </c:pt>
                      <c:pt idx="19">
                        <c:v>6.336523427474944</c:v>
                      </c:pt>
                      <c:pt idx="20">
                        <c:v>7.6721554349938401</c:v>
                      </c:pt>
                      <c:pt idx="21">
                        <c:v>4.500153559821257</c:v>
                      </c:pt>
                      <c:pt idx="22">
                        <c:v>6.781585600653159</c:v>
                      </c:pt>
                      <c:pt idx="23">
                        <c:v>6.7324618683248332</c:v>
                      </c:pt>
                      <c:pt idx="24">
                        <c:v>6.1606287740668222</c:v>
                      </c:pt>
                      <c:pt idx="25">
                        <c:v>6.8671161964455081</c:v>
                      </c:pt>
                      <c:pt idx="26">
                        <c:v>6.7856801140519849</c:v>
                      </c:pt>
                      <c:pt idx="27">
                        <c:v>5.4449676318963469</c:v>
                      </c:pt>
                      <c:pt idx="28">
                        <c:v>5.7913713763207113</c:v>
                      </c:pt>
                      <c:pt idx="29">
                        <c:v>0</c:v>
                      </c:pt>
                    </c:numCache>
                  </c:numRef>
                </c:val>
                <c:smooth val="0"/>
                <c:extLst xmlns:c15="http://schemas.microsoft.com/office/drawing/2012/chart">
                  <c:ext xmlns:c16="http://schemas.microsoft.com/office/drawing/2014/chart" uri="{C3380CC4-5D6E-409C-BE32-E72D297353CC}">
                    <c16:uniqueId val="{00000004-32C8-4B9C-9781-65A3F23583AD}"/>
                  </c:ext>
                </c:extLst>
              </c15:ser>
            </c15:filteredLineSeries>
            <c15:filteredLineSeries>
              <c15:ser>
                <c:idx val="5"/>
                <c:order val="5"/>
                <c:tx>
                  <c:strRef>
                    <c:extLst xmlns:c15="http://schemas.microsoft.com/office/drawing/2012/chart">
                      <c:ext xmlns:c15="http://schemas.microsoft.com/office/drawing/2012/chart" uri="{02D57815-91ED-43cb-92C2-25804820EDAC}">
                        <c15:formulaRef>
                          <c15:sqref>'GDP Data'!$A$7</c15:sqref>
                        </c15:formulaRef>
                      </c:ext>
                    </c:extLst>
                    <c:strCache>
                      <c:ptCount val="1"/>
                      <c:pt idx="0">
                        <c:v>Uganda</c:v>
                      </c:pt>
                    </c:strCache>
                  </c:strRef>
                </c:tx>
                <c:spPr>
                  <a:ln w="28575" cap="rnd">
                    <a:solidFill>
                      <a:schemeClr val="accent6"/>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Data'!$B$7:$AH$7</c15:sqref>
                        </c15:formulaRef>
                      </c:ext>
                    </c:extLst>
                    <c:numCache>
                      <c:formatCode>General</c:formatCode>
                      <c:ptCount val="30"/>
                      <c:pt idx="0">
                        <c:v>5.5540954958915876</c:v>
                      </c:pt>
                      <c:pt idx="1">
                        <c:v>3.4183568915428566</c:v>
                      </c:pt>
                      <c:pt idx="2">
                        <c:v>8.3262925203511315</c:v>
                      </c:pt>
                      <c:pt idx="3">
                        <c:v>6.4036357435314812</c:v>
                      </c:pt>
                      <c:pt idx="4">
                        <c:v>11.523243807939451</c:v>
                      </c:pt>
                      <c:pt idx="5">
                        <c:v>9.0721145821438967</c:v>
                      </c:pt>
                      <c:pt idx="6">
                        <c:v>5.1000018634794912</c:v>
                      </c:pt>
                      <c:pt idx="7">
                        <c:v>4.9052654838678507</c:v>
                      </c:pt>
                      <c:pt idx="8">
                        <c:v>8.0539483766469857</c:v>
                      </c:pt>
                      <c:pt idx="9">
                        <c:v>3.1419073382414524</c:v>
                      </c:pt>
                      <c:pt idx="10">
                        <c:v>5.1836611264320993</c:v>
                      </c:pt>
                      <c:pt idx="11">
                        <c:v>8.7326857639324231</c:v>
                      </c:pt>
                      <c:pt idx="12">
                        <c:v>6.4732586714905267</c:v>
                      </c:pt>
                      <c:pt idx="13">
                        <c:v>6.807233344186443</c:v>
                      </c:pt>
                      <c:pt idx="14">
                        <c:v>6.3325651162993353</c:v>
                      </c:pt>
                      <c:pt idx="15">
                        <c:v>10.784744386125155</c:v>
                      </c:pt>
                      <c:pt idx="16">
                        <c:v>8.4124259655278451</c:v>
                      </c:pt>
                      <c:pt idx="17">
                        <c:v>8.7087519013216337</c:v>
                      </c:pt>
                      <c:pt idx="18">
                        <c:v>6.8015173480652038</c:v>
                      </c:pt>
                      <c:pt idx="19">
                        <c:v>5.637611637931343</c:v>
                      </c:pt>
                      <c:pt idx="20">
                        <c:v>9.3916554929118519</c:v>
                      </c:pt>
                      <c:pt idx="21">
                        <c:v>3.8374556059260954</c:v>
                      </c:pt>
                      <c:pt idx="22">
                        <c:v>3.5869058263615869</c:v>
                      </c:pt>
                      <c:pt idx="23">
                        <c:v>5.1063073242765284</c:v>
                      </c:pt>
                      <c:pt idx="24">
                        <c:v>5.1878598625543617</c:v>
                      </c:pt>
                      <c:pt idx="25">
                        <c:v>4.7810002914464746</c:v>
                      </c:pt>
                      <c:pt idx="26">
                        <c:v>3.8091290293244242</c:v>
                      </c:pt>
                      <c:pt idx="27">
                        <c:v>6.1626191390034819</c:v>
                      </c:pt>
                      <c:pt idx="28">
                        <c:v>6.8033268132823537</c:v>
                      </c:pt>
                      <c:pt idx="29">
                        <c:v>0</c:v>
                      </c:pt>
                    </c:numCache>
                  </c:numRef>
                </c:val>
                <c:smooth val="0"/>
                <c:extLst xmlns:c15="http://schemas.microsoft.com/office/drawing/2012/chart">
                  <c:ext xmlns:c16="http://schemas.microsoft.com/office/drawing/2014/chart" uri="{C3380CC4-5D6E-409C-BE32-E72D297353CC}">
                    <c16:uniqueId val="{00000005-32C8-4B9C-9781-65A3F23583AD}"/>
                  </c:ext>
                </c:extLst>
              </c15:ser>
            </c15:filteredLineSeries>
            <c15:filteredLineSeries>
              <c15:ser>
                <c:idx val="6"/>
                <c:order val="6"/>
                <c:tx>
                  <c:strRef>
                    <c:extLst xmlns:c15="http://schemas.microsoft.com/office/drawing/2012/chart">
                      <c:ext xmlns:c15="http://schemas.microsoft.com/office/drawing/2012/chart" uri="{02D57815-91ED-43cb-92C2-25804820EDAC}">
                        <c15:formulaRef>
                          <c15:sqref>'GDP Data'!$A$8</c15:sqref>
                        </c15:formulaRef>
                      </c:ext>
                    </c:extLst>
                    <c:strCache>
                      <c:ptCount val="1"/>
                      <c:pt idx="0">
                        <c:v>Malawi</c:v>
                      </c:pt>
                    </c:strCache>
                  </c:strRef>
                </c:tx>
                <c:spPr>
                  <a:ln w="28575" cap="rnd">
                    <a:solidFill>
                      <a:schemeClr val="accent1">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Data'!$B$8:$AH$8</c15:sqref>
                        </c15:formulaRef>
                      </c:ext>
                    </c:extLst>
                    <c:numCache>
                      <c:formatCode>General</c:formatCode>
                      <c:ptCount val="30"/>
                      <c:pt idx="0">
                        <c:v>8.7302318286141372</c:v>
                      </c:pt>
                      <c:pt idx="1">
                        <c:v>-7.332978135323188</c:v>
                      </c:pt>
                      <c:pt idx="2">
                        <c:v>9.6918402678066258</c:v>
                      </c:pt>
                      <c:pt idx="3">
                        <c:v>-10.240181733893522</c:v>
                      </c:pt>
                      <c:pt idx="4">
                        <c:v>16.728817592001505</c:v>
                      </c:pt>
                      <c:pt idx="5">
                        <c:v>7.3166815111922432</c:v>
                      </c:pt>
                      <c:pt idx="6">
                        <c:v>3.7924190989626823</c:v>
                      </c:pt>
                      <c:pt idx="7">
                        <c:v>3.895253629637125</c:v>
                      </c:pt>
                      <c:pt idx="8">
                        <c:v>3.0422780913400089</c:v>
                      </c:pt>
                      <c:pt idx="9">
                        <c:v>1.5760778373466593</c:v>
                      </c:pt>
                      <c:pt idx="10">
                        <c:v>-4.9749638464944042</c:v>
                      </c:pt>
                      <c:pt idx="11">
                        <c:v>1.7000000136307563</c:v>
                      </c:pt>
                      <c:pt idx="12">
                        <c:v>5.7056394374716035</c:v>
                      </c:pt>
                      <c:pt idx="13">
                        <c:v>5.4204976936605505</c:v>
                      </c:pt>
                      <c:pt idx="14">
                        <c:v>3.2687258275752953</c:v>
                      </c:pt>
                      <c:pt idx="15">
                        <c:v>4.6999999920261075</c:v>
                      </c:pt>
                      <c:pt idx="16">
                        <c:v>9.6000000026081835</c:v>
                      </c:pt>
                      <c:pt idx="17">
                        <c:v>7.6397367741039233</c:v>
                      </c:pt>
                      <c:pt idx="18">
                        <c:v>8.3281102762457522</c:v>
                      </c:pt>
                      <c:pt idx="19">
                        <c:v>6.8740656350095435</c:v>
                      </c:pt>
                      <c:pt idx="20">
                        <c:v>4.8540551089832178</c:v>
                      </c:pt>
                      <c:pt idx="21">
                        <c:v>1.8857995073186657</c:v>
                      </c:pt>
                      <c:pt idx="22">
                        <c:v>5.1999999983554943</c:v>
                      </c:pt>
                      <c:pt idx="23">
                        <c:v>5.7000000037720895</c:v>
                      </c:pt>
                      <c:pt idx="24">
                        <c:v>2.7999999990033331</c:v>
                      </c:pt>
                      <c:pt idx="25">
                        <c:v>2.4840406264186754</c:v>
                      </c:pt>
                      <c:pt idx="26">
                        <c:v>4.0000305165304155</c:v>
                      </c:pt>
                      <c:pt idx="27">
                        <c:v>3.1700032203733031</c:v>
                      </c:pt>
                      <c:pt idx="28">
                        <c:v>4.3692389907521658</c:v>
                      </c:pt>
                      <c:pt idx="29">
                        <c:v>0</c:v>
                      </c:pt>
                    </c:numCache>
                  </c:numRef>
                </c:val>
                <c:smooth val="0"/>
                <c:extLst xmlns:c15="http://schemas.microsoft.com/office/drawing/2012/chart">
                  <c:ext xmlns:c16="http://schemas.microsoft.com/office/drawing/2014/chart" uri="{C3380CC4-5D6E-409C-BE32-E72D297353CC}">
                    <c16:uniqueId val="{00000006-32C8-4B9C-9781-65A3F23583AD}"/>
                  </c:ext>
                </c:extLst>
              </c15:ser>
            </c15:filteredLineSeries>
            <c15:filteredLineSeries>
              <c15:ser>
                <c:idx val="7"/>
                <c:order val="7"/>
                <c:tx>
                  <c:strRef>
                    <c:extLst xmlns:c15="http://schemas.microsoft.com/office/drawing/2012/chart">
                      <c:ext xmlns:c15="http://schemas.microsoft.com/office/drawing/2012/chart" uri="{02D57815-91ED-43cb-92C2-25804820EDAC}">
                        <c15:formulaRef>
                          <c15:sqref>'GDP Data'!$A$9</c15:sqref>
                        </c15:formulaRef>
                      </c:ext>
                    </c:extLst>
                    <c:strCache>
                      <c:ptCount val="1"/>
                      <c:pt idx="0">
                        <c:v>Angola</c:v>
                      </c:pt>
                    </c:strCache>
                  </c:strRef>
                </c:tx>
                <c:spPr>
                  <a:ln w="28575" cap="rnd">
                    <a:solidFill>
                      <a:schemeClr val="accent2">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Data'!$B$9:$AH$9</c15:sqref>
                        </c15:formulaRef>
                      </c:ext>
                    </c:extLst>
                    <c:numCache>
                      <c:formatCode>General</c:formatCode>
                      <c:ptCount val="30"/>
                      <c:pt idx="0">
                        <c:v>0.99135930146087503</c:v>
                      </c:pt>
                      <c:pt idx="1">
                        <c:v>-5.8382807331314126</c:v>
                      </c:pt>
                      <c:pt idx="2">
                        <c:v>-23.983417442057799</c:v>
                      </c:pt>
                      <c:pt idx="3">
                        <c:v>1.3393634364799141</c:v>
                      </c:pt>
                      <c:pt idx="4">
                        <c:v>15.000000028863369</c:v>
                      </c:pt>
                      <c:pt idx="5">
                        <c:v>13.544369755102565</c:v>
                      </c:pt>
                      <c:pt idx="6">
                        <c:v>7.2742773546037256</c:v>
                      </c:pt>
                      <c:pt idx="7">
                        <c:v>4.6911464509355199</c:v>
                      </c:pt>
                      <c:pt idx="8">
                        <c:v>2.1814897184045776</c:v>
                      </c:pt>
                      <c:pt idx="9">
                        <c:v>3.0546242343078518</c:v>
                      </c:pt>
                      <c:pt idx="10">
                        <c:v>4.2059985561950981</c:v>
                      </c:pt>
                      <c:pt idx="11">
                        <c:v>13.665686523023155</c:v>
                      </c:pt>
                      <c:pt idx="12">
                        <c:v>2.9898500103955286</c:v>
                      </c:pt>
                      <c:pt idx="13">
                        <c:v>10.952861768710264</c:v>
                      </c:pt>
                      <c:pt idx="14">
                        <c:v>15.028915317530192</c:v>
                      </c:pt>
                      <c:pt idx="15">
                        <c:v>11.547683178163254</c:v>
                      </c:pt>
                      <c:pt idx="16">
                        <c:v>14.010018242632796</c:v>
                      </c:pt>
                      <c:pt idx="17">
                        <c:v>11.166138330361377</c:v>
                      </c:pt>
                      <c:pt idx="18">
                        <c:v>0.858712615098284</c:v>
                      </c:pt>
                      <c:pt idx="19">
                        <c:v>4.4039325434376053</c:v>
                      </c:pt>
                      <c:pt idx="20">
                        <c:v>3.4719763445402378</c:v>
                      </c:pt>
                      <c:pt idx="21">
                        <c:v>8.5421876426537153</c:v>
                      </c:pt>
                      <c:pt idx="22">
                        <c:v>4.9545446463618674</c:v>
                      </c:pt>
                      <c:pt idx="23">
                        <c:v>4.8226275683899615</c:v>
                      </c:pt>
                      <c:pt idx="24">
                        <c:v>0.94357156132500108</c:v>
                      </c:pt>
                      <c:pt idx="25">
                        <c:v>-2.5800496440493248</c:v>
                      </c:pt>
                      <c:pt idx="26">
                        <c:v>-0.14721294108575478</c:v>
                      </c:pt>
                      <c:pt idx="27">
                        <c:v>-2.0036297273020125</c:v>
                      </c:pt>
                      <c:pt idx="28">
                        <c:v>-0.62464431770689544</c:v>
                      </c:pt>
                      <c:pt idx="29">
                        <c:v>0</c:v>
                      </c:pt>
                    </c:numCache>
                  </c:numRef>
                </c:val>
                <c:smooth val="0"/>
                <c:extLst xmlns:c15="http://schemas.microsoft.com/office/drawing/2012/chart">
                  <c:ext xmlns:c16="http://schemas.microsoft.com/office/drawing/2014/chart" uri="{C3380CC4-5D6E-409C-BE32-E72D297353CC}">
                    <c16:uniqueId val="{00000007-32C8-4B9C-9781-65A3F23583AD}"/>
                  </c:ext>
                </c:extLst>
              </c15:ser>
            </c15:filteredLineSeries>
            <c15:filteredLineSeries>
              <c15:ser>
                <c:idx val="8"/>
                <c:order val="8"/>
                <c:tx>
                  <c:strRef>
                    <c:extLst xmlns:c15="http://schemas.microsoft.com/office/drawing/2012/chart">
                      <c:ext xmlns:c15="http://schemas.microsoft.com/office/drawing/2012/chart" uri="{02D57815-91ED-43cb-92C2-25804820EDAC}">
                        <c15:formulaRef>
                          <c15:sqref>'GDP Data'!$A$10</c15:sqref>
                        </c15:formulaRef>
                      </c:ext>
                    </c:extLst>
                    <c:strCache>
                      <c:ptCount val="1"/>
                      <c:pt idx="0">
                        <c:v>Botswana</c:v>
                      </c:pt>
                    </c:strCache>
                  </c:strRef>
                </c:tx>
                <c:spPr>
                  <a:ln w="28575" cap="rnd">
                    <a:solidFill>
                      <a:schemeClr val="accent3">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Data'!$B$10:$AH$10</c15:sqref>
                        </c15:formulaRef>
                      </c:ext>
                    </c:extLst>
                    <c:numCache>
                      <c:formatCode>General</c:formatCode>
                      <c:ptCount val="30"/>
                      <c:pt idx="0">
                        <c:v>7.4587091123188003</c:v>
                      </c:pt>
                      <c:pt idx="1">
                        <c:v>2.9170703069254245</c:v>
                      </c:pt>
                      <c:pt idx="2">
                        <c:v>1.9161071417014313</c:v>
                      </c:pt>
                      <c:pt idx="3">
                        <c:v>3.6279160209385708</c:v>
                      </c:pt>
                      <c:pt idx="4">
                        <c:v>7.03041026074564</c:v>
                      </c:pt>
                      <c:pt idx="5">
                        <c:v>5.8298000784227497</c:v>
                      </c:pt>
                      <c:pt idx="6">
                        <c:v>8.3258908984286535</c:v>
                      </c:pt>
                      <c:pt idx="7">
                        <c:v>0.44366348033824465</c:v>
                      </c:pt>
                      <c:pt idx="8">
                        <c:v>9.667240741511975</c:v>
                      </c:pt>
                      <c:pt idx="9">
                        <c:v>1.9876958543875389</c:v>
                      </c:pt>
                      <c:pt idx="10">
                        <c:v>0.25057386672273196</c:v>
                      </c:pt>
                      <c:pt idx="11">
                        <c:v>6.069530867650144</c:v>
                      </c:pt>
                      <c:pt idx="12">
                        <c:v>4.625894791915556</c:v>
                      </c:pt>
                      <c:pt idx="13">
                        <c:v>2.70582173663567</c:v>
                      </c:pt>
                      <c:pt idx="14">
                        <c:v>4.5566456573284455</c:v>
                      </c:pt>
                      <c:pt idx="15">
                        <c:v>8.3638710689572662</c:v>
                      </c:pt>
                      <c:pt idx="16">
                        <c:v>8.2767637934696836</c:v>
                      </c:pt>
                      <c:pt idx="17">
                        <c:v>6.2454373629087883</c:v>
                      </c:pt>
                      <c:pt idx="18">
                        <c:v>-7.652310202534764</c:v>
                      </c:pt>
                      <c:pt idx="19">
                        <c:v>8.5636307922088974</c:v>
                      </c:pt>
                      <c:pt idx="20">
                        <c:v>6.0483614546898821</c:v>
                      </c:pt>
                      <c:pt idx="21">
                        <c:v>4.456144470595774</c:v>
                      </c:pt>
                      <c:pt idx="22">
                        <c:v>11.343396971349677</c:v>
                      </c:pt>
                      <c:pt idx="23">
                        <c:v>4.1492622552040217</c:v>
                      </c:pt>
                      <c:pt idx="24">
                        <c:v>-1.6979354267597415</c:v>
                      </c:pt>
                      <c:pt idx="25">
                        <c:v>4.3037674480267469</c:v>
                      </c:pt>
                      <c:pt idx="26">
                        <c:v>2.9039977321092749</c:v>
                      </c:pt>
                      <c:pt idx="27">
                        <c:v>4.47883655345764</c:v>
                      </c:pt>
                      <c:pt idx="28">
                        <c:v>2.9661256478123335</c:v>
                      </c:pt>
                      <c:pt idx="29">
                        <c:v>0</c:v>
                      </c:pt>
                    </c:numCache>
                  </c:numRef>
                </c:val>
                <c:smooth val="0"/>
                <c:extLst xmlns:c15="http://schemas.microsoft.com/office/drawing/2012/chart">
                  <c:ext xmlns:c16="http://schemas.microsoft.com/office/drawing/2014/chart" uri="{C3380CC4-5D6E-409C-BE32-E72D297353CC}">
                    <c16:uniqueId val="{00000008-32C8-4B9C-9781-65A3F23583AD}"/>
                  </c:ext>
                </c:extLst>
              </c15:ser>
            </c15:filteredLineSeries>
            <c15:filteredLineSeries>
              <c15:ser>
                <c:idx val="9"/>
                <c:order val="9"/>
                <c:tx>
                  <c:strRef>
                    <c:extLst xmlns:c15="http://schemas.microsoft.com/office/drawing/2012/chart">
                      <c:ext xmlns:c15="http://schemas.microsoft.com/office/drawing/2012/chart" uri="{02D57815-91ED-43cb-92C2-25804820EDAC}">
                        <c15:formulaRef>
                          <c15:sqref>'GDP Data'!$A$11</c15:sqref>
                        </c15:formulaRef>
                      </c:ext>
                    </c:extLst>
                    <c:strCache>
                      <c:ptCount val="1"/>
                      <c:pt idx="0">
                        <c:v>Zimbabwe</c:v>
                      </c:pt>
                    </c:strCache>
                  </c:strRef>
                </c:tx>
                <c:spPr>
                  <a:ln w="28575" cap="rnd">
                    <a:solidFill>
                      <a:schemeClr val="accent4">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Data'!$B$11:$AH$11</c15:sqref>
                        </c15:formulaRef>
                      </c:ext>
                    </c:extLst>
                    <c:numCache>
                      <c:formatCode>General</c:formatCode>
                      <c:ptCount val="30"/>
                      <c:pt idx="0">
                        <c:v>5.5317823960983219</c:v>
                      </c:pt>
                      <c:pt idx="1">
                        <c:v>-9.0155700862609223</c:v>
                      </c:pt>
                      <c:pt idx="2">
                        <c:v>1.0514586257693423</c:v>
                      </c:pt>
                      <c:pt idx="3">
                        <c:v>9.2351988610601694</c:v>
                      </c:pt>
                      <c:pt idx="4">
                        <c:v>0.15802565144909408</c:v>
                      </c:pt>
                      <c:pt idx="5">
                        <c:v>10.360696769806481</c:v>
                      </c:pt>
                      <c:pt idx="6">
                        <c:v>2.6805941737397774</c:v>
                      </c:pt>
                      <c:pt idx="7">
                        <c:v>2.88521180627896</c:v>
                      </c:pt>
                      <c:pt idx="8">
                        <c:v>-0.81782101628289183</c:v>
                      </c:pt>
                      <c:pt idx="9">
                        <c:v>-3.0591897618037933</c:v>
                      </c:pt>
                      <c:pt idx="10">
                        <c:v>1.4396153844897555</c:v>
                      </c:pt>
                      <c:pt idx="11">
                        <c:v>-8.894023633042849</c:v>
                      </c:pt>
                      <c:pt idx="12">
                        <c:v>-16.995074694026187</c:v>
                      </c:pt>
                      <c:pt idx="13">
                        <c:v>-5.8075380553470808</c:v>
                      </c:pt>
                      <c:pt idx="14">
                        <c:v>-5.7110836797259878</c:v>
                      </c:pt>
                      <c:pt idx="15">
                        <c:v>-3.4614951923160646</c:v>
                      </c:pt>
                      <c:pt idx="16">
                        <c:v>-3.6533268588292032</c:v>
                      </c:pt>
                      <c:pt idx="17">
                        <c:v>-17.668946285205351</c:v>
                      </c:pt>
                      <c:pt idx="18">
                        <c:v>12.019559926898538</c:v>
                      </c:pt>
                      <c:pt idx="19">
                        <c:v>19.675323142464492</c:v>
                      </c:pt>
                      <c:pt idx="20">
                        <c:v>14.19391295721617</c:v>
                      </c:pt>
                      <c:pt idx="21">
                        <c:v>16.665428768467862</c:v>
                      </c:pt>
                      <c:pt idx="22">
                        <c:v>1.989492762072075</c:v>
                      </c:pt>
                      <c:pt idx="23">
                        <c:v>2.3769293269800329</c:v>
                      </c:pt>
                      <c:pt idx="24">
                        <c:v>1.7798727034029866</c:v>
                      </c:pt>
                      <c:pt idx="25">
                        <c:v>0.75586925093060131</c:v>
                      </c:pt>
                      <c:pt idx="26">
                        <c:v>4.7040353905471335</c:v>
                      </c:pt>
                      <c:pt idx="27">
                        <c:v>4.8296735910921171</c:v>
                      </c:pt>
                      <c:pt idx="28">
                        <c:v>-8.1000001988609256</c:v>
                      </c:pt>
                      <c:pt idx="29">
                        <c:v>0</c:v>
                      </c:pt>
                    </c:numCache>
                  </c:numRef>
                </c:val>
                <c:smooth val="0"/>
                <c:extLst xmlns:c15="http://schemas.microsoft.com/office/drawing/2012/chart">
                  <c:ext xmlns:c16="http://schemas.microsoft.com/office/drawing/2014/chart" uri="{C3380CC4-5D6E-409C-BE32-E72D297353CC}">
                    <c16:uniqueId val="{00000009-32C8-4B9C-9781-65A3F23583AD}"/>
                  </c:ext>
                </c:extLst>
              </c15:ser>
            </c15:filteredLineSeries>
          </c:ext>
        </c:extLst>
      </c:lineChart>
      <c:catAx>
        <c:axId val="430087344"/>
        <c:scaling>
          <c:orientation val="minMax"/>
        </c:scaling>
        <c:delete val="0"/>
        <c:axPos val="b"/>
        <c:numFmt formatCode="General" sourceLinked="1"/>
        <c:majorTickMark val="none"/>
        <c:minorTickMark val="none"/>
        <c:tickLblPos val="nextTo"/>
        <c:spPr>
          <a:noFill/>
          <a:ln w="9525" cap="flat" cmpd="sng" algn="ctr">
            <a:solidFill>
              <a:schemeClr val="bg1">
                <a:lumMod val="50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418464864"/>
        <c:crosses val="autoZero"/>
        <c:auto val="1"/>
        <c:lblAlgn val="ctr"/>
        <c:lblOffset val="100"/>
        <c:noMultiLvlLbl val="0"/>
      </c:catAx>
      <c:valAx>
        <c:axId val="418464864"/>
        <c:scaling>
          <c:orientation val="minMax"/>
          <c:min val="-5"/>
        </c:scaling>
        <c:delete val="0"/>
        <c:axPos val="l"/>
        <c:title>
          <c:tx>
            <c:rich>
              <a:bodyPr rot="-54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r>
                  <a:rPr lang="en-US" dirty="0"/>
                  <a:t>%</a:t>
                </a:r>
              </a:p>
            </c:rich>
          </c:tx>
          <c:layout>
            <c:manualLayout>
              <c:xMode val="edge"/>
              <c:yMode val="edge"/>
              <c:x val="7.9715775659621492E-3"/>
              <c:y val="0.3174504228638087"/>
            </c:manualLayout>
          </c:layout>
          <c:overlay val="0"/>
          <c:spPr>
            <a:noFill/>
            <a:ln>
              <a:noFill/>
            </a:ln>
            <a:effectLst/>
          </c:spPr>
          <c:txPr>
            <a:bodyPr rot="-54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title>
        <c:numFmt formatCode="0" sourceLinked="0"/>
        <c:majorTickMark val="none"/>
        <c:minorTickMark val="none"/>
        <c:tickLblPos val="nextTo"/>
        <c:spPr>
          <a:noFill/>
          <a:ln>
            <a:solidFill>
              <a:schemeClr val="bg1">
                <a:lumMod val="50000"/>
              </a:schemeClr>
            </a:solidFill>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430087344"/>
        <c:crosses val="autoZero"/>
        <c:crossBetween val="between"/>
      </c:valAx>
      <c:spPr>
        <a:noFill/>
        <a:ln>
          <a:noFill/>
        </a:ln>
        <a:effectLst/>
      </c:spPr>
    </c:plotArea>
    <c:legend>
      <c:legendPos val="b"/>
      <c:layout>
        <c:manualLayout>
          <c:xMode val="edge"/>
          <c:yMode val="edge"/>
          <c:x val="2.6107256584187628E-2"/>
          <c:y val="0.85991303325890256"/>
          <c:w val="0.93030644492575854"/>
          <c:h val="0.13423387923743949"/>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900">
          <a:solidFill>
            <a:schemeClr val="tx1"/>
          </a:solidFill>
          <a:latin typeface="Arial" panose="020B0604020202020204" pitchFamily="34" charset="0"/>
          <a:cs typeface="Arial" panose="020B0604020202020204" pitchFamily="34" charset="0"/>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200" b="1" i="0" u="none" strike="noStrike" kern="1200" baseline="0">
                <a:solidFill>
                  <a:schemeClr val="tx2"/>
                </a:solidFill>
                <a:latin typeface="+mn-lt"/>
                <a:ea typeface="+mn-ea"/>
                <a:cs typeface="+mn-cs"/>
              </a:defRPr>
            </a:pPr>
            <a:r>
              <a:rPr lang="pt-BR" sz="1200" dirty="0"/>
              <a:t>DE: Annual GDP Growth - Projected</a:t>
            </a:r>
            <a:br/>
            <a:r>
              <a:rPr lang="pt-BR" sz="1200" dirty="0"/>
              <a:t/>
            </a:r>
            <a:br/>
            <a:r>
              <a:rPr lang="pt-BR" sz="1200" dirty="0"/>
              <a:t/>
            </a:r>
            <a:endParaRPr lang="en-US" sz="1200" dirty="0"/>
          </a:p>
        </c:rich>
      </c:tx>
      <c:overlay val="0"/>
      <c:spPr>
        <a:noFill/>
        <a:ln>
          <a:noFill/>
        </a:ln>
        <a:effectLst/>
      </c:spPr>
      <c:txPr>
        <a:bodyPr rot="0" spcFirstLastPara="1" vertOverflow="ellipsis" vert="horz" wrap="square" anchor="ctr" anchorCtr="1"/>
        <a:lstStyle/>
        <a:p>
          <a:pPr>
            <a:defRPr sz="1200" b="1" i="0" u="none" strike="noStrike" kern="1200" baseline="0">
              <a:solidFill>
                <a:schemeClr val="tx2"/>
              </a:solidFill>
              <a:latin typeface="+mn-lt"/>
              <a:ea typeface="+mn-ea"/>
              <a:cs typeface="+mn-cs"/>
            </a:defRPr>
          </a:pPr>
          <a:endParaRPr lang="en-US"/>
        </a:p>
      </c:txPr>
    </c:title>
    <c:autoTitleDeleted val="0"/>
    <c:plotArea>
      <c:layout/>
      <c:lineChart>
        <c:grouping val="standard"/>
        <c:varyColors val="0"/>
        <c:ser>
          <c:idx val="0"/>
          <c:order val="0"/>
          <c:tx>
            <c:strRef>
              <c:f>'https://worldbankgroup.sharepoint.com/sites/MZMPMFiles/Shared Documents/Operations/MTI/Economic monitoring/Mozambique Economic Framework/2022/[20220319 Mozambique Macro Framework_Baseline_Grants Adjusted_Simulationfor Mathew-PCDJFVRY33.xlsx]Select Econ and Financial CPF'!$A$7</c:f>
              <c:strCache>
                <c:ptCount val="1"/>
                <c:pt idx="0">
                  <c:v>GDP at constant prices</c:v>
                </c:pt>
              </c:strCache>
            </c:strRef>
          </c:tx>
          <c:spPr>
            <a:ln w="31750" cap="rnd">
              <a:solidFill>
                <a:schemeClr val="accent1"/>
              </a:solidFill>
              <a:round/>
            </a:ln>
            <a:effectLst/>
          </c:spPr>
          <c:marker>
            <c:symbol val="none"/>
          </c:marker>
          <c:cat>
            <c:strRef>
              <c:f>'[1]Select Econ and Financial CPF'!$B$2:$M$2</c:f>
              <c:strCache>
                <c:ptCount val="12"/>
                <c:pt idx="0">
                  <c:v>2016</c:v>
                </c:pt>
                <c:pt idx="1">
                  <c:v>2017</c:v>
                </c:pt>
                <c:pt idx="2">
                  <c:v>2018</c:v>
                </c:pt>
                <c:pt idx="3">
                  <c:v>2019</c:v>
                </c:pt>
                <c:pt idx="4">
                  <c:v>2020</c:v>
                </c:pt>
                <c:pt idx="5">
                  <c:v>2021</c:v>
                </c:pt>
                <c:pt idx="6">
                  <c:v>2022 </c:v>
                </c:pt>
                <c:pt idx="7">
                  <c:v>2023</c:v>
                </c:pt>
                <c:pt idx="8">
                  <c:v>2024</c:v>
                </c:pt>
                <c:pt idx="9">
                  <c:v>2025</c:v>
                </c:pt>
                <c:pt idx="10">
                  <c:v>2026</c:v>
                </c:pt>
                <c:pt idx="11">
                  <c:v>2027</c:v>
                </c:pt>
              </c:strCache>
            </c:strRef>
          </c:cat>
          <c:val>
            <c:numRef>
              <c:f>'[1]Select Econ and Financial CPF'!$B$7:$M$7</c:f>
              <c:numCache>
                <c:formatCode>General</c:formatCode>
                <c:ptCount val="12"/>
                <c:pt idx="0">
                  <c:v>3.8242063698648243</c:v>
                </c:pt>
                <c:pt idx="1">
                  <c:v>3.7413190418151165</c:v>
                </c:pt>
                <c:pt idx="2">
                  <c:v>3.4438156642854656</c:v>
                </c:pt>
                <c:pt idx="3">
                  <c:v>2.2927369306402268</c:v>
                </c:pt>
                <c:pt idx="4">
                  <c:v>-1.2127911653609935</c:v>
                </c:pt>
                <c:pt idx="5">
                  <c:v>2.2273631917444803</c:v>
                </c:pt>
                <c:pt idx="6">
                  <c:v>3.646451938635864</c:v>
                </c:pt>
                <c:pt idx="7">
                  <c:v>5.3539020373436941</c:v>
                </c:pt>
                <c:pt idx="8">
                  <c:v>7.3939917866207905</c:v>
                </c:pt>
                <c:pt idx="9">
                  <c:v>5.3650699212903552</c:v>
                </c:pt>
                <c:pt idx="10">
                  <c:v>13</c:v>
                </c:pt>
                <c:pt idx="11">
                  <c:v>10</c:v>
                </c:pt>
              </c:numCache>
            </c:numRef>
          </c:val>
          <c:smooth val="0"/>
          <c:extLst>
            <c:ext xmlns:c16="http://schemas.microsoft.com/office/drawing/2014/chart" uri="{C3380CC4-5D6E-409C-BE32-E72D297353CC}">
              <c16:uniqueId val="{00000000-C692-41DF-B099-32B405B7F08C}"/>
            </c:ext>
          </c:extLst>
        </c:ser>
        <c:ser>
          <c:idx val="1"/>
          <c:order val="1"/>
          <c:tx>
            <c:strRef>
              <c:f>'https://worldbankgroup.sharepoint.com/sites/MZMPMFiles/Shared Documents/Operations/MTI/Economic monitoring/Mozambique Economic Framework/2022/[20220319 Mozambique Macro Framework_Baseline_Grants Adjusted_Simulationfor Mathew-PCDJFVRY33.xlsx]Select Econ and Financial CPF'!$A$8</c:f>
              <c:strCache>
                <c:ptCount val="1"/>
                <c:pt idx="0">
                  <c:v>GDP at constant prices, ex. extractive sector</c:v>
                </c:pt>
              </c:strCache>
            </c:strRef>
          </c:tx>
          <c:spPr>
            <a:ln w="31750" cap="rnd">
              <a:solidFill>
                <a:schemeClr val="accent2"/>
              </a:solidFill>
              <a:round/>
            </a:ln>
            <a:effectLst/>
          </c:spPr>
          <c:marker>
            <c:symbol val="none"/>
          </c:marker>
          <c:cat>
            <c:strRef>
              <c:f>'[1]Select Econ and Financial CPF'!$B$2:$M$2</c:f>
              <c:strCache>
                <c:ptCount val="12"/>
                <c:pt idx="0">
                  <c:v>2016</c:v>
                </c:pt>
                <c:pt idx="1">
                  <c:v>2017</c:v>
                </c:pt>
                <c:pt idx="2">
                  <c:v>2018</c:v>
                </c:pt>
                <c:pt idx="3">
                  <c:v>2019</c:v>
                </c:pt>
                <c:pt idx="4">
                  <c:v>2020</c:v>
                </c:pt>
                <c:pt idx="5">
                  <c:v>2021</c:v>
                </c:pt>
                <c:pt idx="6">
                  <c:v>2022 </c:v>
                </c:pt>
                <c:pt idx="7">
                  <c:v>2023</c:v>
                </c:pt>
                <c:pt idx="8">
                  <c:v>2024</c:v>
                </c:pt>
                <c:pt idx="9">
                  <c:v>2025</c:v>
                </c:pt>
                <c:pt idx="10">
                  <c:v>2026</c:v>
                </c:pt>
                <c:pt idx="11">
                  <c:v>2027</c:v>
                </c:pt>
              </c:strCache>
            </c:strRef>
          </c:cat>
          <c:val>
            <c:numRef>
              <c:f>'[1]Select Econ and Financial CPF'!$B$8:$M$8</c:f>
              <c:numCache>
                <c:formatCode>General</c:formatCode>
                <c:ptCount val="12"/>
                <c:pt idx="0">
                  <c:v>3.0764137800959017</c:v>
                </c:pt>
                <c:pt idx="1">
                  <c:v>1.5367224174446528</c:v>
                </c:pt>
                <c:pt idx="2">
                  <c:v>2.6433189826118717</c:v>
                </c:pt>
                <c:pt idx="3">
                  <c:v>2.5357585148552655</c:v>
                </c:pt>
                <c:pt idx="4">
                  <c:v>-0.22592321687047412</c:v>
                </c:pt>
                <c:pt idx="5">
                  <c:v>2.2897791388444686</c:v>
                </c:pt>
                <c:pt idx="6">
                  <c:v>2.846451938635858</c:v>
                </c:pt>
                <c:pt idx="7">
                  <c:v>4.2789020373437019</c:v>
                </c:pt>
                <c:pt idx="8">
                  <c:v>3.5064917866207876</c:v>
                </c:pt>
                <c:pt idx="9">
                  <c:v>0.12989013857533069</c:v>
                </c:pt>
                <c:pt idx="10">
                  <c:v>2.6384279875132735</c:v>
                </c:pt>
                <c:pt idx="11">
                  <c:v>2.0916033042364641</c:v>
                </c:pt>
              </c:numCache>
            </c:numRef>
          </c:val>
          <c:smooth val="0"/>
          <c:extLst>
            <c:ext xmlns:c16="http://schemas.microsoft.com/office/drawing/2014/chart" uri="{C3380CC4-5D6E-409C-BE32-E72D297353CC}">
              <c16:uniqueId val="{00000001-C692-41DF-B099-32B405B7F08C}"/>
            </c:ext>
          </c:extLst>
        </c:ser>
        <c:dLbls>
          <c:showLegendKey val="0"/>
          <c:showVal val="0"/>
          <c:showCatName val="0"/>
          <c:showSerName val="0"/>
          <c:showPercent val="0"/>
          <c:showBubbleSize val="0"/>
        </c:dLbls>
        <c:smooth val="0"/>
        <c:axId val="588589392"/>
        <c:axId val="588586896"/>
      </c:lineChart>
      <c:catAx>
        <c:axId val="588589392"/>
        <c:scaling>
          <c:orientation val="minMax"/>
        </c:scaling>
        <c:delete val="0"/>
        <c:axPos val="b"/>
        <c:numFmt formatCode="General" sourceLinked="1"/>
        <c:majorTickMark val="out"/>
        <c:minorTickMark val="none"/>
        <c:tickLblPos val="nextTo"/>
        <c:spPr>
          <a:noFill/>
          <a:ln w="9525" cap="flat" cmpd="sng" algn="ctr">
            <a:solidFill>
              <a:schemeClr val="tx2">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2"/>
                </a:solidFill>
                <a:latin typeface="+mn-lt"/>
                <a:ea typeface="+mn-ea"/>
                <a:cs typeface="+mn-cs"/>
              </a:defRPr>
            </a:pPr>
            <a:endParaRPr lang="en-US"/>
          </a:p>
        </c:txPr>
        <c:crossAx val="588586896"/>
        <c:crosses val="autoZero"/>
        <c:auto val="1"/>
        <c:lblAlgn val="ctr"/>
        <c:lblOffset val="100"/>
        <c:noMultiLvlLbl val="0"/>
      </c:catAx>
      <c:valAx>
        <c:axId val="588586896"/>
        <c:scaling>
          <c:orientation val="minMax"/>
        </c:scaling>
        <c:delete val="0"/>
        <c:axPos val="l"/>
        <c:majorGridlines>
          <c:spPr>
            <a:ln w="9525" cap="flat" cmpd="sng" algn="ctr">
              <a:solidFill>
                <a:schemeClr val="tx2">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mn-lt"/>
                <a:ea typeface="+mn-ea"/>
                <a:cs typeface="+mn-cs"/>
              </a:defRPr>
            </a:pPr>
            <a:endParaRPr lang="en-US"/>
          </a:p>
        </c:txPr>
        <c:crossAx val="58858939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2"/>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4">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lang="pt-BR" sz="1000" b="0" i="0" u="none" strike="noStrike" kern="1200" cap="all" baseline="0" smtClean="0">
                <a:solidFill>
                  <a:schemeClr val="tx1"/>
                </a:solidFill>
                <a:latin typeface="+mj-lt"/>
                <a:ea typeface="+mn-ea"/>
                <a:cs typeface="+mn-cs"/>
              </a:defRPr>
            </a:pPr>
            <a:r>
              <a:rPr lang="en-US" sz="1000" b="1" dirty="0">
                <a:solidFill>
                  <a:schemeClr val="tx1"/>
                </a:solidFill>
                <a:latin typeface="+mj-lt"/>
              </a:rPr>
              <a:t>DE: Funding</a:t>
            </a:r>
            <a:r>
              <a:rPr lang="en-US" sz="1000" b="1" baseline="0" dirty="0">
                <a:solidFill>
                  <a:schemeClr val="tx1"/>
                </a:solidFill>
                <a:latin typeface="+mj-lt"/>
              </a:rPr>
              <a:t> </a:t>
            </a:r>
            <a:r>
              <a:rPr lang="en-US" sz="1000" b="1" dirty="0">
                <a:solidFill>
                  <a:schemeClr val="tx1"/>
                </a:solidFill>
                <a:latin typeface="+mj-lt"/>
              </a:rPr>
              <a:t>DE: objectives</a:t>
            </a:r>
            <a:r>
              <a:rPr lang="en-US" sz="1000" b="1" baseline="0" dirty="0">
                <a:solidFill>
                  <a:schemeClr val="tx1"/>
                </a:solidFill>
                <a:latin typeface="+mj-lt"/>
              </a:rPr>
              <a:t>  </a:t>
            </a:r>
            <a:r>
              <a:rPr lang="en-US" sz="1000" b="1" dirty="0">
                <a:solidFill>
                  <a:schemeClr val="tx1"/>
                </a:solidFill>
                <a:latin typeface="+mj-lt"/>
              </a:rPr>
              <a:t>DE: in the FY17-21 CPF period (% of total commitments)</a:t>
            </a:r>
            <a:br/>
            <a:r>
              <a:rPr lang="en-US" sz="1000" b="1" dirty="0">
                <a:solidFill>
                  <a:schemeClr val="tx1"/>
                </a:solidFill>
                <a:latin typeface="+mj-lt"/>
              </a:rPr>
              <a:t/>
            </a:r>
            <a:br/>
            <a:r>
              <a:rPr lang="en-US" sz="1000" b="1" dirty="0">
                <a:solidFill>
                  <a:schemeClr val="tx1"/>
                </a:solidFill>
                <a:latin typeface="+mj-lt"/>
              </a:rPr>
              <a:t/>
            </a:r>
            <a:r>
              <a:rPr lang="pt-BR" sz="1000" b="0" dirty="0">
                <a:solidFill>
                  <a:schemeClr val="tx1"/>
                </a:solidFill>
                <a:latin typeface="+mj-lt"/>
              </a:rPr>
              <a:t>
</a:t>
            </a:r>
          </a:p>
        </c:rich>
      </c:tx>
      <c:layout>
        <c:manualLayout>
          <c:xMode val="edge"/>
          <c:yMode val="edge"/>
          <c:x val="0.19834392431471143"/>
          <c:y val="0"/>
        </c:manualLayout>
      </c:layout>
      <c:overlay val="0"/>
      <c:spPr>
        <a:noFill/>
        <a:ln>
          <a:noFill/>
        </a:ln>
        <a:effectLst/>
      </c:spPr>
      <c:txPr>
        <a:bodyPr rot="0" spcFirstLastPara="1" vertOverflow="ellipsis" vert="horz" wrap="square" anchor="ctr" anchorCtr="1"/>
        <a:lstStyle/>
        <a:p>
          <a:pPr>
            <a:defRPr lang="pt-BR" sz="1000" b="0" i="0" u="none" strike="noStrike" kern="1200" cap="all" baseline="0" smtClean="0">
              <a:solidFill>
                <a:schemeClr val="tx1"/>
              </a:solidFill>
              <a:latin typeface="+mj-lt"/>
              <a:ea typeface="+mn-ea"/>
              <a:cs typeface="+mn-cs"/>
            </a:defRPr>
          </a:pPr>
          <a:endParaRPr lang="en-US"/>
        </a:p>
      </c:txPr>
    </c:title>
    <c:autoTitleDeleted val="0"/>
    <c:plotArea>
      <c:layout/>
      <c:pieChart>
        <c:varyColors val="1"/>
        <c:ser>
          <c:idx val="0"/>
          <c:order val="0"/>
          <c:tx>
            <c:strRef>
              <c:f>'Portfolio by CPF objective'!$E$67</c:f>
              <c:strCache>
                <c:ptCount val="1"/>
                <c:pt idx="0">
                  <c:v>Percentage of total portfolio (%)</c:v>
                </c:pt>
              </c:strCache>
            </c:strRef>
          </c:tx>
          <c:dPt>
            <c:idx val="0"/>
            <c:bubble3D val="0"/>
            <c:spPr>
              <a:solidFill>
                <a:schemeClr val="accent1"/>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1-F231-4CE8-A179-C3BE7835BECE}"/>
              </c:ext>
            </c:extLst>
          </c:dPt>
          <c:dPt>
            <c:idx val="1"/>
            <c:bubble3D val="0"/>
            <c:spPr>
              <a:solidFill>
                <a:schemeClr val="accent2"/>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3-F231-4CE8-A179-C3BE7835BECE}"/>
              </c:ext>
            </c:extLst>
          </c:dPt>
          <c:dPt>
            <c:idx val="2"/>
            <c:bubble3D val="0"/>
            <c:spPr>
              <a:solidFill>
                <a:schemeClr val="accent3"/>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5-F231-4CE8-A179-C3BE7835BECE}"/>
              </c:ext>
            </c:extLst>
          </c:dPt>
          <c:dPt>
            <c:idx val="3"/>
            <c:bubble3D val="0"/>
            <c:spPr>
              <a:solidFill>
                <a:schemeClr val="accent4"/>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7-F231-4CE8-A179-C3BE7835BECE}"/>
              </c:ext>
            </c:extLst>
          </c:dPt>
          <c:dPt>
            <c:idx val="4"/>
            <c:bubble3D val="0"/>
            <c:spPr>
              <a:solidFill>
                <a:schemeClr val="accent5"/>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9-F231-4CE8-A179-C3BE7835BECE}"/>
              </c:ext>
            </c:extLst>
          </c:dPt>
          <c:dPt>
            <c:idx val="5"/>
            <c:bubble3D val="0"/>
            <c:spPr>
              <a:solidFill>
                <a:schemeClr val="accent6"/>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B-F231-4CE8-A179-C3BE7835BECE}"/>
              </c:ext>
            </c:extLst>
          </c:dPt>
          <c:dPt>
            <c:idx val="6"/>
            <c:bubble3D val="0"/>
            <c:spPr>
              <a:solidFill>
                <a:schemeClr val="accent1">
                  <a:lumMod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D-F231-4CE8-A179-C3BE7835BECE}"/>
              </c:ext>
            </c:extLst>
          </c:dPt>
          <c:dPt>
            <c:idx val="7"/>
            <c:bubble3D val="0"/>
            <c:spPr>
              <a:solidFill>
                <a:schemeClr val="accent2">
                  <a:lumMod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F-F231-4CE8-A179-C3BE7835BECE}"/>
              </c:ext>
            </c:extLst>
          </c:dPt>
          <c:dPt>
            <c:idx val="8"/>
            <c:bubble3D val="0"/>
            <c:spPr>
              <a:solidFill>
                <a:schemeClr val="accent3">
                  <a:lumMod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11-F231-4CE8-A179-C3BE7835BECE}"/>
              </c:ext>
            </c:extLst>
          </c:dPt>
          <c:dLbls>
            <c:dLbl>
              <c:idx val="0"/>
              <c:layout>
                <c:manualLayout>
                  <c:x val="9.6456841018841805E-2"/>
                  <c:y val="6.9453703458823249E-2"/>
                </c:manualLayout>
              </c:layout>
              <c:tx>
                <c:rich>
                  <a:bodyPr rot="0" spcFirstLastPara="1" vertOverflow="ellipsis" vert="horz" wrap="square" lIns="38100" tIns="19050" rIns="38100" bIns="19050" anchor="ctr" anchorCtr="1">
                    <a:spAutoFit/>
                  </a:bodyPr>
                  <a:lstStyle/>
                  <a:p>
                    <a:pPr>
                      <a:defRPr lang="pt-BR" sz="1000" b="1" i="0" u="none" strike="noStrike" kern="1200" spc="0" baseline="0" smtClean="0">
                        <a:solidFill>
                          <a:schemeClr val="accent1"/>
                        </a:solidFill>
                        <a:latin typeface="+mn-lt"/>
                        <a:ea typeface="+mn-ea"/>
                        <a:cs typeface="+mn-cs"/>
                      </a:defRPr>
                    </a:pPr>
                    <a:r>
                      <a:rPr lang="en-US"/>
                      <a:t>DE: 1: Improved economic management, 6.6%</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pt-BR"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F231-4CE8-A179-C3BE7835BECE}"/>
                </c:ext>
              </c:extLst>
            </c:dLbl>
            <c:dLbl>
              <c:idx val="1"/>
              <c:layout>
                <c:manualLayout>
                  <c:x val="0"/>
                  <c:y val="-2.5714285714285766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DE: 2: Increase in Agricultural Growth, 30.2%</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F231-4CE8-A179-C3BE7835BECE}"/>
                </c:ext>
              </c:extLst>
            </c:dLbl>
            <c:dLbl>
              <c:idx val="2"/>
              <c:layout>
                <c:manualLayout>
                  <c:x val="8.6556169429097468E-2"/>
                  <c:y val="-0.11714285714285724"/>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DE: 3: Improving the Business Environment for Job Creation, 3.5%</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F231-4CE8-A179-C3BE7835BECE}"/>
                </c:ext>
              </c:extLst>
            </c:dLbl>
            <c:dLbl>
              <c:idx val="3"/>
              <c:layout>
                <c:manualLayout>
                  <c:x val="-1.7631260185855847E-2"/>
                  <c:y val="0"/>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DE: 4: Expand access and improve electricity reliability, 8.0%</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F231-4CE8-A179-C3BE7835BECE}"/>
                </c:ext>
              </c:extLst>
            </c:dLbl>
            <c:dLbl>
              <c:idx val="4"/>
              <c:layout>
                <c:manualLayout>
                  <c:x val="1.8416206261510096E-2"/>
                  <c:y val="2.8571428571428571E-3"/>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DE: 5: Improve the Skills Base, 13.8%</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F231-4CE8-A179-C3BE7835BECE}"/>
                </c:ext>
              </c:extLst>
            </c:dLbl>
            <c:dLbl>
              <c:idx val="5"/>
              <c:layout>
                <c:manualLayout>
                  <c:x val="-4.9723756906077346E-2"/>
                  <c:y val="1.4285714285714181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DE: 6: Improving the provision of the Health Service, 2.8%</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F231-4CE8-A179-C3BE7835BECE}"/>
                </c:ext>
              </c:extLst>
            </c:dLbl>
            <c:dLbl>
              <c:idx val="6"/>
              <c:layout>
                <c:manualLayout>
                  <c:x val="-2.0257826887661159E-2"/>
                  <c:y val="-3.4285714285714392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DE: 7: Improving access to water and sanitation, 6.6%</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F231-4CE8-A179-C3BE7835BECE}"/>
                </c:ext>
              </c:extLst>
            </c:dLbl>
            <c:dLbl>
              <c:idx val="7"/>
              <c:layout>
                <c:manualLayout>
                  <c:x val="-5.5248618784530384E-3"/>
                  <c:y val="2.5714285714285766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DE: 8: Support for Recovery and Resilience, 21.1%</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F231-4CE8-A179-C3BE7835BECE}"/>
                </c:ext>
              </c:extLst>
            </c:dLbl>
            <c:dLbl>
              <c:idx val="8"/>
              <c:layout>
                <c:manualLayout>
                  <c:x val="-0.15086687138108701"/>
                  <c:y val="6.0153447834029011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dirty="0"/>
                      <a:t>DE: 9: Promoting Inclusive Urbanization and Decentralization7.5%</a:t>
                    </a:r>
                    <a:br/>
                    <a:r>
                      <a:rPr lang="en-US" dirty="0"/>
                      <a:t/>
                    </a:r>
                    <a:br/>
                    <a:r>
                      <a:rPr lang="en-US" dirty="0"/>
                      <a:t/>
                    </a:r>
                    <a:endParaRPr lang="en-US" baseline="0" dirty="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F231-4CE8-A179-C3BE7835BECE}"/>
                </c:ext>
              </c:extLst>
            </c:dLbl>
            <c:spPr>
              <a:noFill/>
              <a:ln>
                <a:noFill/>
              </a:ln>
              <a:effectLst/>
            </c:spPr>
            <c:dLblPos val="outEnd"/>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'Portfolio by CPF objective'!$B$68:$B$76</c:f>
              <c:strCache>
                <c:ptCount val="9"/>
                <c:pt idx="0">
                  <c:v>1: Improved Economic Management</c:v>
                </c:pt>
                <c:pt idx="1">
                  <c:v>2: Increasing Agricultural Growth</c:v>
                </c:pt>
                <c:pt idx="2">
                  <c:v>3: Improving the Business Environment for Job Creation</c:v>
                </c:pt>
                <c:pt idx="3">
                  <c:v>4: Expand Access and Improved Reliability of Electricity</c:v>
                </c:pt>
                <c:pt idx="4">
                  <c:v>5: Enhancing the Skills Base</c:v>
                </c:pt>
                <c:pt idx="5">
                  <c:v>6: Improving Health Service Delivery</c:v>
                </c:pt>
                <c:pt idx="6">
                  <c:v>7: Improving Access to Water and Sanitation</c:v>
                </c:pt>
                <c:pt idx="7">
                  <c:v>8: Supporting Recovery and Resilience</c:v>
                </c:pt>
                <c:pt idx="8">
                  <c:v>9: Promoting Inclusive Urbanization and Decentralization </c:v>
                </c:pt>
              </c:strCache>
            </c:strRef>
          </c:cat>
          <c:val>
            <c:numRef>
              <c:f>'Portfolio by CPF objective'!$E$68:$E$76</c:f>
              <c:numCache>
                <c:formatCode>0.0%</c:formatCode>
                <c:ptCount val="9"/>
                <c:pt idx="0">
                  <c:v>6.5664420252289621E-2</c:v>
                </c:pt>
                <c:pt idx="1">
                  <c:v>0.30240193537238641</c:v>
                </c:pt>
                <c:pt idx="2">
                  <c:v>3.4560221185415588E-2</c:v>
                </c:pt>
                <c:pt idx="3">
                  <c:v>8.0179713150164159E-2</c:v>
                </c:pt>
                <c:pt idx="4">
                  <c:v>0.13754968031795403</c:v>
                </c:pt>
                <c:pt idx="5">
                  <c:v>2.7648176948332468E-2</c:v>
                </c:pt>
                <c:pt idx="6">
                  <c:v>6.5664420252289621E-2</c:v>
                </c:pt>
                <c:pt idx="7">
                  <c:v>0.21133575254881631</c:v>
                </c:pt>
                <c:pt idx="8">
                  <c:v>7.499567997235182E-2</c:v>
                </c:pt>
              </c:numCache>
            </c:numRef>
          </c:val>
          <c:extLst>
            <c:ext xmlns:c16="http://schemas.microsoft.com/office/drawing/2014/chart" uri="{C3380CC4-5D6E-409C-BE32-E72D297353CC}">
              <c16:uniqueId val="{00000012-F231-4CE8-A179-C3BE7835BECE}"/>
            </c:ext>
          </c:extLst>
        </c:ser>
        <c:dLbls>
          <c:dLblPos val="outEnd"/>
          <c:showLegendKey val="0"/>
          <c:showVal val="0"/>
          <c:showCatName val="1"/>
          <c:showSerName val="0"/>
          <c:showPercent val="0"/>
          <c:showBubbleSize val="0"/>
          <c:showLeaderLines val="1"/>
        </c:dLbls>
        <c:firstSliceAng val="0"/>
      </c: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4">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400" b="0" i="0" u="none" strike="noStrike" kern="1200" spc="0" baseline="0" smtClean="0">
                <a:solidFill>
                  <a:schemeClr val="tx1">
                    <a:lumMod val="65000"/>
                    <a:lumOff val="35000"/>
                  </a:schemeClr>
                </a:solidFill>
                <a:latin typeface="+mn-lt"/>
                <a:ea typeface="+mn-ea"/>
                <a:cs typeface="+mn-cs"/>
              </a:defRPr>
            </a:pPr>
            <a:r>
              <a:rPr lang="en-US" dirty="0">
                <a:solidFill>
                  <a:schemeClr val="tx1"/>
                </a:solidFill>
              </a:rPr>
              <a:t>DE: % of total undisbursed funds</a:t>
            </a:r>
            <a:r>
              <a:rPr lang="en-US" dirty="0"/>
              <a:t>*</a:t>
            </a:r>
            <a:br/>
            <a:r>
              <a:rPr lang="en-US" dirty="0"/>
              <a:t/>
            </a:r>
            <a:br/>
            <a:r>
              <a:rPr lang="en-US" dirty="0"/>
              <a:t/>
            </a:r>
          </a:p>
        </c:rich>
      </c:tx>
      <c:overlay val="0"/>
      <c:spPr>
        <a:noFill/>
        <a:ln>
          <a:noFill/>
        </a:ln>
        <a:effectLst/>
      </c:spPr>
      <c:txPr>
        <a:bodyPr rot="0" spcFirstLastPara="1" vertOverflow="ellipsis" vert="horz" wrap="square" anchor="ctr" anchorCtr="1"/>
        <a:lstStyle/>
        <a:p>
          <a:pPr>
            <a:defRPr lang="en-US" sz="1400" b="0" i="0" u="none" strike="noStrike" kern="1200" spc="0" baseline="0" smtClean="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Sheet1!$E$61</c:f>
              <c:strCache>
                <c:ptCount val="1"/>
                <c:pt idx="0">
                  <c:v>% of total undisbursed</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C385-4D10-B6BF-629B6787E96B}"/>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C385-4D10-B6BF-629B6787E96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C385-4D10-B6BF-629B6787E96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C385-4D10-B6BF-629B6787E96B}"/>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Sheet1!$D$62:$D$65</c:f>
              <c:strCache>
                <c:ptCount val="4"/>
                <c:pt idx="0">
                  <c:v>EFI</c:v>
                </c:pt>
                <c:pt idx="1">
                  <c:v>SD</c:v>
                </c:pt>
                <c:pt idx="2">
                  <c:v>HD</c:v>
                </c:pt>
                <c:pt idx="3">
                  <c:v>INFRA</c:v>
                </c:pt>
              </c:strCache>
            </c:strRef>
          </c:cat>
          <c:val>
            <c:numRef>
              <c:f>Sheet1!$E$62:$E$65</c:f>
              <c:numCache>
                <c:formatCode>0%</c:formatCode>
                <c:ptCount val="4"/>
                <c:pt idx="0">
                  <c:v>0.16586350447836506</c:v>
                </c:pt>
                <c:pt idx="1">
                  <c:v>0.36288633783272367</c:v>
                </c:pt>
                <c:pt idx="2">
                  <c:v>0.17613220638324714</c:v>
                </c:pt>
                <c:pt idx="3">
                  <c:v>0.29511795130566415</c:v>
                </c:pt>
              </c:numCache>
            </c:numRef>
          </c:val>
          <c:extLst>
            <c:ext xmlns:c16="http://schemas.microsoft.com/office/drawing/2014/chart" uri="{C3380CC4-5D6E-409C-BE32-E72D297353CC}">
              <c16:uniqueId val="{00000008-C385-4D10-B6BF-629B6787E96B}"/>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30">
  <cs:axisTitle>
    <cs:lnRef idx="0"/>
    <cs:fillRef idx="0"/>
    <cs:effectRef idx="0"/>
    <cs:fontRef idx="minor">
      <a:schemeClr val="dk1">
        <a:lumMod val="65000"/>
        <a:lumOff val="35000"/>
      </a:schemeClr>
    </cs:fontRef>
    <cs:defRPr sz="900" kern="1200" cap="all"/>
  </cs:axisTitle>
  <cs:category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b="0" kern="1200" spc="20" baseline="0"/>
  </cs:categoryAxis>
  <cs:chartArea mods="allowNoLineOverride">
    <cs:lnRef idx="0"/>
    <cs:fillRef idx="0"/>
    <cs:effectRef idx="0"/>
    <cs:fontRef idx="minor">
      <a:schemeClr val="dk1"/>
    </cs:fontRef>
    <cs:spPr>
      <a:solidFill>
        <a:schemeClr val="lt1"/>
      </a:solidFill>
      <a:ln w="9525" cap="flat" cmpd="sng" algn="ctr">
        <a:solidFill>
          <a:schemeClr val="dk1">
            <a:lumMod val="15000"/>
            <a:lumOff val="85000"/>
          </a:schemeClr>
        </a:solidFill>
        <a:round/>
      </a:ln>
    </cs:spPr>
    <cs:defRPr sz="900" kern="1200"/>
  </cs:chartArea>
  <cs:dataLabel>
    <cs:lnRef idx="0"/>
    <cs:fillRef idx="0"/>
    <cs:effectRef idx="0"/>
    <cs:fontRef idx="minor">
      <a:schemeClr val="dk1">
        <a:lumMod val="65000"/>
        <a:lumOff val="3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3D>
  <cs:dataPointLine>
    <cs:lnRef idx="0">
      <cs:styleClr val="auto"/>
    </cs:lnRef>
    <cs:fillRef idx="0"/>
    <cs:effectRef idx="0"/>
    <cs:fontRef idx="minor">
      <a:schemeClr val="dk1"/>
    </cs:fontRef>
    <cs:spPr>
      <a:ln w="22225" cap="rnd" cmpd="sng" algn="ctr">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cap="flat" cmpd="sng" algn="ctr">
        <a:solidFill>
          <a:schemeClr val="phClr"/>
        </a:solidFill>
        <a:round/>
      </a:ln>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dk1">
            <a:lumMod val="65000"/>
            <a:lumOff val="35000"/>
          </a:schemeClr>
        </a:solidFill>
      </a:ln>
    </cs:spPr>
  </cs:downBar>
  <cs:dropLine>
    <cs:lnRef idx="0"/>
    <cs:fillRef idx="0"/>
    <cs:effectRef idx="0"/>
    <cs:fontRef idx="minor">
      <a:schemeClr val="dk1"/>
    </cs:fontRef>
    <cs:spPr>
      <a:ln w="9525" cap="flat" cmpd="sng" algn="ctr">
        <a:solidFill>
          <a:schemeClr val="dk1">
            <a:lumMod val="35000"/>
            <a:lumOff val="65000"/>
            <a:alpha val="33000"/>
          </a:schemeClr>
        </a:solidFill>
        <a:round/>
      </a:ln>
    </cs:spPr>
  </cs:dropLine>
  <cs:errorBar>
    <cs:lnRef idx="0"/>
    <cs:fillRef idx="0"/>
    <cs:effectRef idx="0"/>
    <cs:fontRef idx="minor">
      <a:schemeClr val="dk1"/>
    </cs:fontRef>
    <cs:spPr>
      <a:ln w="9525">
        <a:solidFill>
          <a:schemeClr val="dk1">
            <a:lumMod val="65000"/>
            <a:lumOff val="35000"/>
          </a:schemeClr>
        </a:solidFill>
      </a:ln>
    </cs:spPr>
  </cs:errorBar>
  <cs:floor>
    <cs:lnRef idx="0"/>
    <cs:fillRef idx="0"/>
    <cs:effectRef idx="0"/>
    <cs:fontRef idx="minor">
      <a:schemeClr val="dk1"/>
    </cs:fontRef>
  </cs:floor>
  <cs:gridlineMajor>
    <cs:lnRef idx="0"/>
    <cs:fillRef idx="0"/>
    <cs:effectRef idx="0"/>
    <cs:fontRef idx="minor">
      <a:schemeClr val="dk1"/>
    </cs:fontRef>
    <cs:spPr>
      <a:ln>
        <a:solidFill>
          <a:schemeClr val="dk1">
            <a:lumMod val="15000"/>
            <a:lumOff val="85000"/>
          </a:schemeClr>
        </a:solidFill>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35000"/>
            <a:lumOff val="65000"/>
          </a:schemeClr>
        </a:solidFill>
      </a:ln>
    </cs:spPr>
  </cs:hiLoLine>
  <cs:leaderLine>
    <cs:lnRef idx="0"/>
    <cs:fillRef idx="0"/>
    <cs:effectRef idx="0"/>
    <cs:fontRef idx="minor">
      <a:schemeClr val="dk1"/>
    </cs:fontRef>
    <cs:spPr>
      <a:ln w="9525">
        <a:solidFill>
          <a:schemeClr val="dk1">
            <a:lumMod val="35000"/>
            <a:lumOff val="65000"/>
          </a:schemeClr>
        </a:solidFill>
      </a:ln>
    </cs:spPr>
  </cs:leaderLine>
  <cs:legend>
    <cs:lnRef idx="0"/>
    <cs:fillRef idx="0"/>
    <cs:effectRef idx="0"/>
    <cs:fontRef idx="minor">
      <a:schemeClr val="dk1">
        <a:lumMod val="65000"/>
        <a:lumOff val="35000"/>
      </a:schemeClr>
    </cs:fontRef>
    <cs:defRPr sz="900" kern="1200"/>
  </cs:legend>
  <cs:plotArea>
    <cs:lnRef idx="0"/>
    <cs:fillRef idx="0"/>
    <cs:effectRef idx="0"/>
    <cs:fontRef idx="minor">
      <a:schemeClr val="dk1"/>
    </cs:fontRef>
    <cs:spPr>
      <a:gradFill>
        <a:gsLst>
          <a:gs pos="100000">
            <a:schemeClr val="lt1">
              <a:lumMod val="95000"/>
            </a:schemeClr>
          </a:gs>
          <a:gs pos="0">
            <a:schemeClr val="lt1"/>
          </a:gs>
        </a:gsLst>
        <a:lin ang="5400000" scaled="0"/>
      </a:gradFill>
    </cs:spPr>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kern="1200"/>
  </cs:seriesAxis>
  <cs:seriesLine>
    <cs:lnRef idx="0"/>
    <cs:fillRef idx="0"/>
    <cs:effectRef idx="0"/>
    <cs:fontRef idx="minor">
      <a:schemeClr val="dk1"/>
    </cs:fontRef>
    <cs:spPr>
      <a:ln w="9525">
        <a:solidFill>
          <a:schemeClr val="dk1">
            <a:lumMod val="35000"/>
            <a:lumOff val="65000"/>
          </a:schemeClr>
        </a:solidFill>
        <a:prstDash val="dash"/>
      </a:ln>
    </cs:spPr>
  </cs:seriesLine>
  <cs:title>
    <cs:lnRef idx="0"/>
    <cs:fillRef idx="0"/>
    <cs:effectRef idx="0"/>
    <cs:fontRef idx="minor">
      <a:schemeClr val="dk1">
        <a:lumMod val="50000"/>
        <a:lumOff val="50000"/>
      </a:schemeClr>
    </cs:fontRef>
    <cs:defRPr sz="1400" kern="1200" cap="none" spc="20" baseline="0"/>
  </cs:title>
  <cs:trendline>
    <cs:lnRef idx="0">
      <cs:styleClr val="auto"/>
    </cs:lnRef>
    <cs:fillRef idx="0"/>
    <cs:effectRef idx="0"/>
    <cs:fontRef idx="minor">
      <a:schemeClr val="dk1"/>
    </cs:fontRef>
    <cs:spPr>
      <a:ln w="9525" cap="rnd">
        <a:solidFill>
          <a:schemeClr val="phClr"/>
        </a:solidFill>
      </a:ln>
    </cs:spPr>
  </cs:trendline>
  <cs:trendlineLabel>
    <cs:lnRef idx="0"/>
    <cs:fillRef idx="0"/>
    <cs:effectRef idx="0"/>
    <cs:fontRef idx="minor">
      <a:schemeClr val="dk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65000"/>
        <a:lumOff val="35000"/>
      </a:schemeClr>
    </cs:fontRef>
    <cs:defRPr sz="900" kern="1200" spc="20" baseline="0"/>
  </cs:valueAxis>
  <cs:wall>
    <cs:lnRef idx="0"/>
    <cs:fillRef idx="0"/>
    <cs:effectRef idx="0"/>
    <cs:fontRef idx="minor">
      <a:schemeClr val="dk1"/>
    </cs:fontRef>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31">
  <cs:axisTitle>
    <cs:lnRef idx="0"/>
    <cs:fillRef idx="0"/>
    <cs:effectRef idx="0"/>
    <cs:fontRef idx="minor">
      <a:schemeClr val="tx2"/>
    </cs:fontRef>
    <cs:defRPr sz="900" b="1" kern="1200"/>
  </cs:axisTitle>
  <cs:categoryAxis>
    <cs:lnRef idx="0"/>
    <cs:fillRef idx="0"/>
    <cs:effectRef idx="0"/>
    <cs:fontRef idx="minor">
      <a:schemeClr val="tx2"/>
    </cs:fontRef>
    <cs:spPr>
      <a:ln w="9525" cap="flat" cmpd="sng" algn="ctr">
        <a:solidFill>
          <a:schemeClr val="tx2">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2">
            <a:lumMod val="15000"/>
            <a:lumOff val="85000"/>
          </a:schemeClr>
        </a:solidFill>
        <a:round/>
      </a:ln>
    </cs:spPr>
    <cs:defRPr sz="900" kern="1200"/>
  </cs:chartArea>
  <cs:dataLabel>
    <cs:lnRef idx="0"/>
    <cs:fillRef idx="0"/>
    <cs:effectRef idx="0"/>
    <cs:fontRef idx="minor">
      <a:schemeClr val="tx2"/>
    </cs:fontRef>
    <cs:defRPr sz="900" kern="1200"/>
  </cs:dataLabel>
  <cs:dataLabelCallout>
    <cs:lnRef idx="0"/>
    <cs:fillRef idx="0"/>
    <cs:effectRef idx="0"/>
    <cs:fontRef idx="minor">
      <a:schemeClr val="dk2">
        <a:lumMod val="7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2"/>
    <cs:fontRef idx="minor">
      <a:schemeClr val="tx2"/>
    </cs:fontRef>
  </cs:dataPoint>
  <cs:dataPoint3D>
    <cs:lnRef idx="0"/>
    <cs:fillRef idx="3">
      <cs:styleClr val="auto"/>
    </cs:fillRef>
    <cs:effectRef idx="2"/>
    <cs:fontRef idx="minor">
      <a:schemeClr val="tx2"/>
    </cs:fontRef>
  </cs:dataPoint3D>
  <cs:dataPointLine>
    <cs:lnRef idx="0">
      <cs:styleClr val="auto"/>
    </cs:lnRef>
    <cs:fillRef idx="3"/>
    <cs:effectRef idx="2"/>
    <cs:fontRef idx="minor">
      <a:schemeClr val="tx2"/>
    </cs:fontRef>
    <cs:spPr>
      <a:ln w="31750" cap="rnd">
        <a:solidFill>
          <a:schemeClr val="phClr"/>
        </a:solidFill>
        <a:round/>
      </a:ln>
    </cs:spPr>
  </cs:dataPointLine>
  <cs:dataPointMarker>
    <cs:lnRef idx="0"/>
    <cs:fillRef idx="3">
      <cs:styleClr val="auto"/>
    </cs:fillRef>
    <cs:effectRef idx="2"/>
    <cs:fontRef idx="minor">
      <a:schemeClr val="tx2"/>
    </cs:fontRef>
    <cs:spPr>
      <a:ln w="12700">
        <a:solidFill>
          <a:schemeClr val="lt2"/>
        </a:solidFill>
        <a:round/>
      </a:ln>
    </cs:spPr>
  </cs:dataPointMarker>
  <cs:dataPointMarkerLayout symbol="circle" size="6"/>
  <cs:dataPointWireframe>
    <cs:lnRef idx="0">
      <cs:styleClr val="auto"/>
    </cs:lnRef>
    <cs:fillRef idx="3"/>
    <cs:effectRef idx="2"/>
    <cs:fontRef idx="minor">
      <a:schemeClr val="tx2"/>
    </cs:fontRef>
    <cs:spPr>
      <a:ln w="9525" cap="rnd">
        <a:solidFill>
          <a:schemeClr val="phClr"/>
        </a:solidFill>
        <a:round/>
      </a:ln>
    </cs:spPr>
  </cs:dataPointWireframe>
  <cs:dataTable>
    <cs:lnRef idx="0"/>
    <cs:fillRef idx="0"/>
    <cs:effectRef idx="0"/>
    <cs:fontRef idx="minor">
      <a:schemeClr val="tx2"/>
    </cs:fontRef>
    <cs:spPr>
      <a:ln w="9525">
        <a:solidFill>
          <a:schemeClr val="tx2">
            <a:lumMod val="15000"/>
            <a:lumOff val="85000"/>
          </a:schemeClr>
        </a:solidFill>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2"/>
    </cs:fontRef>
    <cs:spPr>
      <a:ln w="9525">
        <a:solidFill>
          <a:schemeClr val="tx2">
            <a:lumMod val="60000"/>
            <a:lumOff val="40000"/>
          </a:schemeClr>
        </a:solidFill>
        <a:prstDash val="dash"/>
      </a:ln>
    </cs:spPr>
  </cs:dropLine>
  <cs:errorBar>
    <cs:lnRef idx="0"/>
    <cs:fillRef idx="0"/>
    <cs:effectRef idx="0"/>
    <cs:fontRef idx="minor">
      <a:schemeClr val="tx2"/>
    </cs:fontRef>
    <cs:spPr>
      <a:ln w="9525">
        <a:solidFill>
          <a:schemeClr val="tx2">
            <a:lumMod val="75000"/>
          </a:schemeClr>
        </a:solidFill>
        <a:round/>
      </a:ln>
    </cs:spPr>
  </cs:errorBar>
  <cs:floor>
    <cs:lnRef idx="0"/>
    <cs:fillRef idx="0"/>
    <cs:effectRef idx="0"/>
    <cs:fontRef idx="minor">
      <a:schemeClr val="tx2"/>
    </cs:fontRef>
  </cs:floor>
  <cs:gridlineMajor>
    <cs:lnRef idx="0"/>
    <cs:fillRef idx="0"/>
    <cs:effectRef idx="0"/>
    <cs:fontRef idx="minor">
      <a:schemeClr val="tx2"/>
    </cs:fontRef>
    <cs:spPr>
      <a:ln w="9525" cap="flat" cmpd="sng" algn="ctr">
        <a:solidFill>
          <a:schemeClr val="tx2">
            <a:lumMod val="15000"/>
            <a:lumOff val="85000"/>
          </a:schemeClr>
        </a:solidFill>
        <a:round/>
      </a:ln>
    </cs:spPr>
  </cs:gridlineMajor>
  <cs:gridlineMinor>
    <cs:lnRef idx="0"/>
    <cs:fillRef idx="0"/>
    <cs:effectRef idx="0"/>
    <cs:fontRef idx="minor">
      <a:schemeClr val="tx2"/>
    </cs:fontRef>
    <cs:spPr>
      <a:ln>
        <a:solidFill>
          <a:schemeClr val="tx2">
            <a:lumMod val="5000"/>
            <a:lumOff val="95000"/>
          </a:schemeClr>
        </a:solidFill>
      </a:ln>
    </cs:spPr>
  </cs:gridlineMinor>
  <cs:hiLoLine>
    <cs:lnRef idx="0"/>
    <cs:fillRef idx="0"/>
    <cs:effectRef idx="0"/>
    <cs:fontRef idx="minor">
      <a:schemeClr val="tx2"/>
    </cs:fontRef>
    <cs:spPr>
      <a:ln w="9525">
        <a:solidFill>
          <a:schemeClr val="tx2">
            <a:lumMod val="60000"/>
            <a:lumOff val="40000"/>
          </a:schemeClr>
        </a:solidFill>
        <a:prstDash val="dash"/>
      </a:ln>
    </cs:spPr>
  </cs:hiLoLine>
  <cs:leaderLine>
    <cs:lnRef idx="0"/>
    <cs:fillRef idx="0"/>
    <cs:effectRef idx="0"/>
    <cs:fontRef idx="minor">
      <a:schemeClr val="tx2"/>
    </cs:fontRef>
    <cs:spPr>
      <a:ln w="9525">
        <a:solidFill>
          <a:schemeClr val="tx2">
            <a:lumMod val="35000"/>
            <a:lumOff val="65000"/>
          </a:schemeClr>
        </a:solidFill>
      </a:ln>
    </cs:spPr>
  </cs:leaderLine>
  <cs:legend>
    <cs:lnRef idx="0"/>
    <cs:fillRef idx="0"/>
    <cs:effectRef idx="0"/>
    <cs:fontRef idx="minor">
      <a:schemeClr val="tx2"/>
    </cs:fontRef>
    <cs:defRPr sz="900" kern="1200"/>
  </cs:legend>
  <cs:plotArea>
    <cs:lnRef idx="0"/>
    <cs:fillRef idx="0"/>
    <cs:effectRef idx="0"/>
    <cs:fontRef idx="minor">
      <a:schemeClr val="tx2"/>
    </cs:fontRef>
  </cs:plotArea>
  <cs:plotArea3D>
    <cs:lnRef idx="0"/>
    <cs:fillRef idx="0"/>
    <cs:effectRef idx="0"/>
    <cs:fontRef idx="minor">
      <a:schemeClr val="tx2"/>
    </cs:fontRef>
  </cs:plotArea3D>
  <cs:seriesAxis>
    <cs:lnRef idx="0"/>
    <cs:fillRef idx="0"/>
    <cs:effectRef idx="0"/>
    <cs:fontRef idx="minor">
      <a:schemeClr val="tx2"/>
    </cs:fontRef>
    <cs:spPr>
      <a:ln w="9525" cap="flat" cmpd="sng" algn="ctr">
        <a:solidFill>
          <a:schemeClr val="tx2">
            <a:lumMod val="15000"/>
            <a:lumOff val="85000"/>
          </a:schemeClr>
        </a:solidFill>
        <a:round/>
      </a:ln>
    </cs:spPr>
    <cs:defRPr sz="900" kern="1200"/>
  </cs:seriesAxis>
  <cs:seriesLine>
    <cs:lnRef idx="0"/>
    <cs:fillRef idx="0"/>
    <cs:effectRef idx="0"/>
    <cs:fontRef idx="minor">
      <a:schemeClr val="tx2"/>
    </cs:fontRef>
    <cs:spPr>
      <a:ln w="9525">
        <a:solidFill>
          <a:schemeClr val="tx2">
            <a:lumMod val="60000"/>
            <a:lumOff val="40000"/>
          </a:schemeClr>
        </a:solidFill>
        <a:prstDash val="dash"/>
      </a:ln>
    </cs:spPr>
  </cs:seriesLine>
  <cs:title>
    <cs:lnRef idx="0"/>
    <cs:fillRef idx="0"/>
    <cs:effectRef idx="0"/>
    <cs:fontRef idx="minor">
      <a:schemeClr val="tx2"/>
    </cs:fontRef>
    <cs:defRPr sz="1600" b="1" kern="1200"/>
  </cs:title>
  <cs:trendline>
    <cs:lnRef idx="0">
      <cs:styleClr val="auto"/>
    </cs:lnRef>
    <cs:fillRef idx="0"/>
    <cs:effectRef idx="0"/>
    <cs:fontRef idx="minor">
      <a:schemeClr val="tx2"/>
    </cs:fontRef>
    <cs:spPr>
      <a:ln w="19050" cap="rnd">
        <a:solidFill>
          <a:schemeClr val="phClr"/>
        </a:solidFill>
        <a:prstDash val="sysDash"/>
      </a:ln>
    </cs:spPr>
  </cs:trendline>
  <cs:trendlineLabel>
    <cs:lnRef idx="0"/>
    <cs:fillRef idx="0"/>
    <cs:effectRef idx="0"/>
    <cs:fontRef idx="minor">
      <a:schemeClr val="tx2"/>
    </cs:fontRef>
    <cs:defRPr sz="900" kern="1200"/>
  </cs:trendlineLabel>
  <cs:upBar>
    <cs:lnRef idx="0"/>
    <cs:fillRef idx="0"/>
    <cs:effectRef idx="0"/>
    <cs:fontRef idx="minor">
      <a:schemeClr val="tx2"/>
    </cs:fontRef>
    <cs:spPr>
      <a:solidFill>
        <a:schemeClr val="lt1"/>
      </a:solidFill>
      <a:ln w="9525">
        <a:solidFill>
          <a:schemeClr val="tx1">
            <a:lumMod val="15000"/>
            <a:lumOff val="85000"/>
          </a:schemeClr>
        </a:solidFill>
      </a:ln>
    </cs:spPr>
  </cs:upBar>
  <cs:valueAxis>
    <cs:lnRef idx="0"/>
    <cs:fillRef idx="0"/>
    <cs:effectRef idx="0"/>
    <cs:fontRef idx="minor">
      <a:schemeClr val="tx2"/>
    </cs:fontRef>
    <cs:defRPr sz="900" kern="1200"/>
  </cs:valueAxis>
  <cs:wall>
    <cs:lnRef idx="0"/>
    <cs:fillRef idx="0"/>
    <cs:effectRef idx="0"/>
    <cs:fontRef idx="minor">
      <a:schemeClr val="tx2"/>
    </cs:fontRef>
  </cs:wall>
</cs:chartStyle>
</file>

<file path=ppt/charts/style10.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cs:styleClr val="auto"/>
    </cs:fontRef>
    <cs:defRPr sz="100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00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0.13219</cdr:x>
      <cdr:y>0.19764</cdr:y>
    </cdr:from>
    <cdr:to>
      <cdr:x>0.93841</cdr:x>
      <cdr:y>0.80236</cdr:y>
    </cdr:to>
    <cdr:cxnSp macro="">
      <cdr:nvCxnSpPr>
        <cdr:cNvPr id="2" name="Straight Connector 1">
          <a:extLst xmlns:a="http://schemas.openxmlformats.org/drawingml/2006/main">
            <a:ext uri="{FF2B5EF4-FFF2-40B4-BE49-F238E27FC236}">
              <a16:creationId xmlns:a16="http://schemas.microsoft.com/office/drawing/2014/main" id="{8F7742B3-C0C8-46D0-B264-E366980DD992}"/>
            </a:ext>
          </a:extLst>
        </cdr:cNvPr>
        <cdr:cNvCxnSpPr>
          <a:cxnSpLocks xmlns:a="http://schemas.openxmlformats.org/drawingml/2006/main"/>
        </cdr:cNvCxnSpPr>
      </cdr:nvCxnSpPr>
      <cdr:spPr>
        <a:xfrm xmlns:a="http://schemas.openxmlformats.org/drawingml/2006/main" flipV="1">
          <a:off x="1349376" y="1276350"/>
          <a:ext cx="8229600" cy="3905250"/>
        </a:xfrm>
        <a:prstGeom xmlns:a="http://schemas.openxmlformats.org/drawingml/2006/main" prst="line">
          <a:avLst/>
        </a:prstGeom>
        <a:ln xmlns:a="http://schemas.openxmlformats.org/drawingml/2006/main">
          <a:prstDash val="sysDot"/>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0.2203</cdr:x>
      <cdr:y>0.12788</cdr:y>
    </cdr:from>
    <cdr:to>
      <cdr:x>1</cdr:x>
      <cdr:y>0.25321</cdr:y>
    </cdr:to>
    <cdr:sp macro="" textlink="">
      <cdr:nvSpPr>
        <cdr:cNvPr id="2" name="TextBox 14">
          <a:extLst xmlns:a="http://schemas.openxmlformats.org/drawingml/2006/main">
            <a:ext uri="{FF2B5EF4-FFF2-40B4-BE49-F238E27FC236}">
              <a16:creationId xmlns:a16="http://schemas.microsoft.com/office/drawing/2014/main" id="{7440E17E-E14A-4B80-B9C9-4A77A8EEC8BA}"/>
            </a:ext>
          </a:extLst>
        </cdr:cNvPr>
        <cdr:cNvSpPr txBox="1"/>
      </cdr:nvSpPr>
      <cdr:spPr>
        <a:xfrm xmlns:a="http://schemas.openxmlformats.org/drawingml/2006/main">
          <a:off x="568999" y="234213"/>
          <a:ext cx="2013838" cy="229558"/>
        </a:xfrm>
        <a:prstGeom xmlns:a="http://schemas.openxmlformats.org/drawingml/2006/main" prst="rect">
          <a:avLst/>
        </a:prstGeom>
        <a:noFill xmlns:a="http://schemas.openxmlformats.org/drawingml/2006/main"/>
      </cdr:spPr>
      <cdr:txBody>
        <a:bodyPr xmlns:a="http://schemas.openxmlformats.org/drawingml/2006/main" wrap="square">
          <a:spAutoFit/>
        </a:bodyPr>
        <a:lstStyle xmlns:a="http://schemas.openxmlformats.org/drawingml/2006/main">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pPr algn="ctr" rtl="0">
            <a:defRPr sz="1080" b="1" i="0" u="none" strike="noStrike" kern="1200" spc="0" baseline="0">
              <a:solidFill>
                <a:prstClr val="black"/>
              </a:solidFill>
              <a:latin typeface="+mn-lt"/>
              <a:ea typeface="+mn-ea"/>
              <a:cs typeface="+mn-cs"/>
            </a:defRPr>
          </a:pPr>
          <a:r>
            <a:rPr lang="en-US" b="1" dirty="0"/>
            <a:t>Vietnam</a:t>
          </a: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73AA1D7-AF98-455A-9A7A-8CFEE420734F}"/>
              </a:ext>
            </a:extLst>
          </p:cNvPr>
          <p:cNvSpPr>
            <a:spLocks noGrp="1"/>
          </p:cNvSpPr>
          <p:nvPr>
            <p:ph type="hdr" sz="quarter"/>
          </p:nvPr>
        </p:nvSpPr>
        <p:spPr>
          <a:xfrm>
            <a:off x="3" y="0"/>
            <a:ext cx="2946247" cy="498329"/>
          </a:xfrm>
          <a:prstGeom prst="rect">
            <a:avLst/>
          </a:prstGeom>
        </p:spPr>
        <p:txBody>
          <a:bodyPr vert="horz" lIns="91426" tIns="45713" rIns="91426" bIns="45713" rtlCol="0"/>
          <a:lstStyle>
            <a:lvl1pPr algn="l">
              <a:defRPr sz="1200"/>
            </a:lvl1pPr>
          </a:lstStyle>
          <a:p>
            <a:endParaRPr lang="en-US" dirty="0"/>
          </a:p>
        </p:txBody>
      </p:sp>
      <p:sp>
        <p:nvSpPr>
          <p:cNvPr id="3" name="Date Placeholder 2">
            <a:extLst>
              <a:ext uri="{FF2B5EF4-FFF2-40B4-BE49-F238E27FC236}">
                <a16:creationId xmlns:a16="http://schemas.microsoft.com/office/drawing/2014/main" id="{7D7A5696-9A19-4628-ACCA-A3DCFF8AD72B}"/>
              </a:ext>
            </a:extLst>
          </p:cNvPr>
          <p:cNvSpPr>
            <a:spLocks noGrp="1"/>
          </p:cNvSpPr>
          <p:nvPr>
            <p:ph type="dt" sz="quarter" idx="1"/>
          </p:nvPr>
        </p:nvSpPr>
        <p:spPr>
          <a:xfrm>
            <a:off x="3849828" y="0"/>
            <a:ext cx="2946246" cy="498329"/>
          </a:xfrm>
          <a:prstGeom prst="rect">
            <a:avLst/>
          </a:prstGeom>
        </p:spPr>
        <p:txBody>
          <a:bodyPr vert="horz" lIns="91426" tIns="45713" rIns="91426" bIns="45713" rtlCol="0"/>
          <a:lstStyle>
            <a:lvl1pPr algn="r">
              <a:defRPr sz="1200"/>
            </a:lvl1pPr>
          </a:lstStyle>
          <a:p>
            <a:fld id="{DC49F002-5576-4460-9897-0CD73B752ACD}" type="datetimeFigureOut">
              <a:rPr lang="en-US" smtClean="0"/>
              <a:t>6/7/2022</a:t>
            </a:fld>
            <a:endParaRPr lang="en-US" dirty="0"/>
          </a:p>
        </p:txBody>
      </p:sp>
      <p:sp>
        <p:nvSpPr>
          <p:cNvPr id="4" name="Footer Placeholder 3">
            <a:extLst>
              <a:ext uri="{FF2B5EF4-FFF2-40B4-BE49-F238E27FC236}">
                <a16:creationId xmlns:a16="http://schemas.microsoft.com/office/drawing/2014/main" id="{36BD86EA-268B-482F-9959-54B027B8231D}"/>
              </a:ext>
            </a:extLst>
          </p:cNvPr>
          <p:cNvSpPr>
            <a:spLocks noGrp="1"/>
          </p:cNvSpPr>
          <p:nvPr>
            <p:ph type="ftr" sz="quarter" idx="2"/>
          </p:nvPr>
        </p:nvSpPr>
        <p:spPr>
          <a:xfrm>
            <a:off x="3" y="9428309"/>
            <a:ext cx="2946247" cy="498329"/>
          </a:xfrm>
          <a:prstGeom prst="rect">
            <a:avLst/>
          </a:prstGeom>
        </p:spPr>
        <p:txBody>
          <a:bodyPr vert="horz" lIns="91426" tIns="45713" rIns="91426" bIns="45713"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28A1EB5-E0E2-42AC-B9BD-422D4B599A14}"/>
              </a:ext>
            </a:extLst>
          </p:cNvPr>
          <p:cNvSpPr>
            <a:spLocks noGrp="1"/>
          </p:cNvSpPr>
          <p:nvPr>
            <p:ph type="sldNum" sz="quarter" idx="3"/>
          </p:nvPr>
        </p:nvSpPr>
        <p:spPr>
          <a:xfrm>
            <a:off x="3849828" y="9428309"/>
            <a:ext cx="2946246" cy="498329"/>
          </a:xfrm>
          <a:prstGeom prst="rect">
            <a:avLst/>
          </a:prstGeom>
        </p:spPr>
        <p:txBody>
          <a:bodyPr vert="horz" lIns="91426" tIns="45713" rIns="91426" bIns="45713" rtlCol="0" anchor="b"/>
          <a:lstStyle>
            <a:lvl1pPr algn="r">
              <a:defRPr sz="1200"/>
            </a:lvl1pPr>
          </a:lstStyle>
          <a:p>
            <a:fld id="{084BD0F0-B3B8-4DBD-B975-A67D569A062B}" type="slidenum">
              <a:rPr lang="en-US" smtClean="0"/>
              <a:t>‹#›</a:t>
            </a:fld>
            <a:endParaRPr lang="en-US" dirty="0"/>
          </a:p>
        </p:txBody>
      </p:sp>
    </p:spTree>
    <p:extLst>
      <p:ext uri="{BB962C8B-B14F-4D97-AF65-F5344CB8AC3E}">
        <p14:creationId xmlns:p14="http://schemas.microsoft.com/office/powerpoint/2010/main" val="137306400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 y="5"/>
            <a:ext cx="2945659" cy="498053"/>
          </a:xfrm>
          <a:prstGeom prst="rect">
            <a:avLst/>
          </a:prstGeom>
        </p:spPr>
        <p:txBody>
          <a:bodyPr vert="horz" lIns="91426" tIns="45713" rIns="91426" bIns="45713" rtlCol="0"/>
          <a:lstStyle>
            <a:lvl1pPr algn="l">
              <a:defRPr sz="1200"/>
            </a:lvl1pPr>
          </a:lstStyle>
          <a:p>
            <a:endParaRPr lang="en-US" dirty="0"/>
          </a:p>
        </p:txBody>
      </p:sp>
      <p:sp>
        <p:nvSpPr>
          <p:cNvPr id="3" name="Date Placeholder 2"/>
          <p:cNvSpPr>
            <a:spLocks noGrp="1"/>
          </p:cNvSpPr>
          <p:nvPr>
            <p:ph type="dt" idx="1"/>
          </p:nvPr>
        </p:nvSpPr>
        <p:spPr>
          <a:xfrm>
            <a:off x="3850445" y="5"/>
            <a:ext cx="2945659" cy="498053"/>
          </a:xfrm>
          <a:prstGeom prst="rect">
            <a:avLst/>
          </a:prstGeom>
        </p:spPr>
        <p:txBody>
          <a:bodyPr vert="horz" lIns="91426" tIns="45713" rIns="91426" bIns="45713" rtlCol="0"/>
          <a:lstStyle>
            <a:lvl1pPr algn="r">
              <a:defRPr sz="1200"/>
            </a:lvl1pPr>
          </a:lstStyle>
          <a:p>
            <a:fld id="{055B727A-A6C2-43F7-B160-2402E4C3B09C}" type="datetimeFigureOut">
              <a:rPr lang="en-US" smtClean="0"/>
              <a:t>6/7/2022</a:t>
            </a:fld>
            <a:endParaRPr lang="en-US" dirty="0"/>
          </a:p>
        </p:txBody>
      </p:sp>
      <p:sp>
        <p:nvSpPr>
          <p:cNvPr id="4" name="Slide Image Placeholder 3"/>
          <p:cNvSpPr>
            <a:spLocks noGrp="1" noRot="1" noChangeAspect="1"/>
          </p:cNvSpPr>
          <p:nvPr>
            <p:ph type="sldImg" idx="2"/>
          </p:nvPr>
        </p:nvSpPr>
        <p:spPr>
          <a:xfrm>
            <a:off x="422275" y="1239838"/>
            <a:ext cx="5953125" cy="3349625"/>
          </a:xfrm>
          <a:prstGeom prst="rect">
            <a:avLst/>
          </a:prstGeom>
          <a:noFill/>
          <a:ln w="12700">
            <a:solidFill>
              <a:prstClr val="black"/>
            </a:solidFill>
          </a:ln>
        </p:spPr>
      </p:sp>
      <p:sp>
        <p:nvSpPr>
          <p:cNvPr id="5" name="Notes Placeholder 4"/>
          <p:cNvSpPr>
            <a:spLocks noGrp="1"/>
          </p:cNvSpPr>
          <p:nvPr>
            <p:ph type="body" sz="quarter" idx="3"/>
          </p:nvPr>
        </p:nvSpPr>
        <p:spPr>
          <a:xfrm>
            <a:off x="679768" y="4777202"/>
            <a:ext cx="5438140" cy="3908614"/>
          </a:xfrm>
          <a:prstGeom prst="rect">
            <a:avLst/>
          </a:prstGeom>
        </p:spPr>
        <p:txBody>
          <a:bodyPr vert="horz" lIns="91426" tIns="45713" rIns="91426" bIns="45713"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 y="9428589"/>
            <a:ext cx="2945659" cy="498053"/>
          </a:xfrm>
          <a:prstGeom prst="rect">
            <a:avLst/>
          </a:prstGeom>
        </p:spPr>
        <p:txBody>
          <a:bodyPr vert="horz" lIns="91426" tIns="45713" rIns="91426" bIns="45713"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50445" y="9428589"/>
            <a:ext cx="2945659" cy="498053"/>
          </a:xfrm>
          <a:prstGeom prst="rect">
            <a:avLst/>
          </a:prstGeom>
        </p:spPr>
        <p:txBody>
          <a:bodyPr vert="horz" lIns="91426" tIns="45713" rIns="91426" bIns="45713" rtlCol="0" anchor="b"/>
          <a:lstStyle>
            <a:lvl1pPr algn="r">
              <a:defRPr sz="1200"/>
            </a:lvl1pPr>
          </a:lstStyle>
          <a:p>
            <a:fld id="{959ACFB9-F186-49C5-BAAE-4F331520327C}" type="slidenum">
              <a:rPr lang="en-US" smtClean="0"/>
              <a:t>‹#›</a:t>
            </a:fld>
            <a:endParaRPr lang="en-US" dirty="0"/>
          </a:p>
        </p:txBody>
      </p:sp>
    </p:spTree>
    <p:extLst>
      <p:ext uri="{BB962C8B-B14F-4D97-AF65-F5344CB8AC3E}">
        <p14:creationId xmlns:p14="http://schemas.microsoft.com/office/powerpoint/2010/main" val="31406685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59ACFB9-F186-49C5-BAAE-4F331520327C}" type="slidenum">
              <a:rPr lang="en-US" smtClean="0"/>
              <a:t>6</a:t>
            </a:fld>
            <a:endParaRPr lang="en-US" dirty="0"/>
          </a:p>
        </p:txBody>
      </p:sp>
    </p:spTree>
    <p:extLst>
      <p:ext uri="{BB962C8B-B14F-4D97-AF65-F5344CB8AC3E}">
        <p14:creationId xmlns:p14="http://schemas.microsoft.com/office/powerpoint/2010/main" val="30885995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14259">
              <a:defRPr/>
            </a:pPr>
            <a:r>
              <a:rPr lang="pt" dirty="0">
                <a:highlight>
                  <a:srgbClr val="000000">
                    <a:alpha val="0"/>
                  </a:srgbClr>
                </a:highlight>
                <a:latin typeface="Calibri"/>
              </a:rPr>
              <a:t>Desde o terceiro trimestre de 2021, o governo moçambicano tem vindo a rever a Estratégia Nacional de Desenvolvimento (ENDE) para 2015-2030.</a:t>
            </a:r>
          </a:p>
          <a:p>
            <a:pPr defTabSz="914259">
              <a:defRPr/>
            </a:pPr>
            <a:endParaRPr lang="en-US" dirty="0">
              <a:latin typeface="Calibri" pitchFamily="34" charset="0"/>
            </a:endParaRPr>
          </a:p>
          <a:p>
            <a:pPr algn="just" defTabSz="914259">
              <a:lnSpc>
                <a:spcPct val="90000"/>
              </a:lnSpc>
              <a:defRPr/>
            </a:pPr>
            <a:r>
              <a:rPr lang="pt" b="1" dirty="0">
                <a:solidFill>
                  <a:srgbClr val="000000"/>
                </a:solidFill>
                <a:highlight>
                  <a:srgbClr val="000000">
                    <a:alpha val="0"/>
                  </a:srgbClr>
                </a:highlight>
                <a:latin typeface="Calibri"/>
                <a:ea typeface="Times New Roman"/>
              </a:rPr>
              <a:t>O actual plano de desenvolvimento quinquenal é moldado em torno de três prioridades principais, três pilares e temas transversais. </a:t>
            </a:r>
          </a:p>
          <a:p>
            <a:pPr algn="just">
              <a:spcBef>
                <a:spcPts val="600"/>
              </a:spcBef>
              <a:defRPr/>
            </a:pPr>
            <a:r>
              <a:rPr lang="pt" dirty="0">
                <a:solidFill>
                  <a:srgbClr val="000000"/>
                </a:solidFill>
                <a:highlight>
                  <a:srgbClr val="000000">
                    <a:alpha val="0"/>
                  </a:srgbClr>
                </a:highlight>
                <a:latin typeface="Calibri"/>
                <a:ea typeface="Times New Roman"/>
              </a:rPr>
              <a:t>O PQG 2020 - 2024 é orientado por três prioridades: (i) crescimento económico, produtividade, e criação de emprego; (ii) desenvolvimento do capital humano e justiça social; e (iii) gestão sustentável dos recursos naturais e ambientais. </a:t>
            </a:r>
          </a:p>
          <a:p>
            <a:pPr algn="just">
              <a:spcBef>
                <a:spcPts val="600"/>
              </a:spcBef>
              <a:defRPr/>
            </a:pPr>
            <a:r>
              <a:rPr lang="pt" dirty="0">
                <a:solidFill>
                  <a:srgbClr val="000000"/>
                </a:solidFill>
                <a:highlight>
                  <a:srgbClr val="000000">
                    <a:alpha val="0"/>
                  </a:srgbClr>
                </a:highlight>
                <a:latin typeface="Calibri"/>
                <a:ea typeface="Times New Roman"/>
              </a:rPr>
              <a:t>Além disso, o programa é sustentado por três pilares: (i) democracia e coesão social, (ii) boa governação e descentralização; e (iii) cooperação internacional. </a:t>
            </a:r>
          </a:p>
          <a:p>
            <a:pPr algn="just">
              <a:spcBef>
                <a:spcPts val="600"/>
              </a:spcBef>
              <a:defRPr/>
            </a:pPr>
            <a:r>
              <a:rPr lang="pt" dirty="0">
                <a:solidFill>
                  <a:srgbClr val="000000"/>
                </a:solidFill>
                <a:highlight>
                  <a:srgbClr val="000000">
                    <a:alpha val="0"/>
                  </a:srgbClr>
                </a:highlight>
                <a:latin typeface="Calibri"/>
                <a:ea typeface="Times New Roman"/>
              </a:rPr>
              <a:t>Por último, o PQG 2020-2024 presta especial atenção aos temas transversais: (a) jovens, mulheres e antigos combatentes; b) habitação e emprego; e c) agricultura, industrialização, e turismo como centrais para a modernização da economia. </a:t>
            </a:r>
          </a:p>
          <a:p>
            <a:pPr algn="just">
              <a:spcBef>
                <a:spcPts val="600"/>
              </a:spcBef>
              <a:defRPr/>
            </a:pPr>
            <a:r>
              <a:rPr lang="pt" dirty="0">
                <a:solidFill>
                  <a:srgbClr val="000000"/>
                </a:solidFill>
                <a:highlight>
                  <a:srgbClr val="000000">
                    <a:alpha val="0"/>
                  </a:srgbClr>
                </a:highlight>
                <a:latin typeface="Calibri"/>
                <a:ea typeface="Times New Roman"/>
              </a:rPr>
              <a:t>O Programa também articula, os objectivos de alcançar o acesso universal até 2030 e o posicionamento de Moçambique como um centro regional de electricidade. </a:t>
            </a:r>
          </a:p>
          <a:p>
            <a:pPr algn="just">
              <a:spcBef>
                <a:spcPts val="600"/>
              </a:spcBef>
              <a:defRPr/>
            </a:pPr>
            <a:endParaRPr lang="en-US" dirty="0">
              <a:solidFill>
                <a:prstClr val="black"/>
              </a:solidFill>
              <a:latin typeface="Calibri" pitchFamily="34" charset="0"/>
              <a:ea typeface="Times New Roman" panose="02020603050405020304" pitchFamily="18" charset="0"/>
            </a:endParaRPr>
          </a:p>
          <a:p>
            <a:pPr algn="just" rtl="0">
              <a:lnSpc>
                <a:spcPct val="90000"/>
              </a:lnSpc>
              <a:defRPr/>
            </a:pPr>
            <a:r>
              <a:rPr lang="pt" b="1" dirty="0">
                <a:highlight>
                  <a:srgbClr val="000000">
                    <a:alpha val="0"/>
                  </a:srgbClr>
                </a:highlight>
                <a:latin typeface="Calibri"/>
                <a:cs typeface="Calibri"/>
              </a:rPr>
              <a:t>O Governo desenvolveu uma Estratégia de Prevenção de Conflitos e Violência, como parte do processo de assegurar a elegibilidade para a Alocação de Prevenção e Resiliência (PRA, Prevention and Resilience Allocation) ao abrigo do IDA19.</a:t>
            </a:r>
            <a:endParaRPr lang="en-US" dirty="0">
              <a:latin typeface="Calibri"/>
              <a:cs typeface="Calibri"/>
            </a:endParaRPr>
          </a:p>
          <a:p>
            <a:pPr algn="just">
              <a:lnSpc>
                <a:spcPct val="90000"/>
              </a:lnSpc>
              <a:defRPr/>
            </a:pPr>
            <a:endParaRPr lang="en-US" dirty="0">
              <a:solidFill>
                <a:prstClr val="black"/>
              </a:solidFill>
              <a:latin typeface="Calibri" pitchFamily="34" charset="0"/>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O objectivo desta Estratégia era delinear uma abordagem para o desenvolvimento da coesão nacional, abordando ao mesmo tempo algumas das principais queixas que têm estado no centro dos surtos e da recorrência de conflitos desde a independência. </a:t>
            </a:r>
            <a:endParaRPr lang="en-US" dirty="0">
              <a:latin typeface="Calibri" pitchFamily="34" charset="0"/>
              <a:cs typeface="Calibri"/>
            </a:endParaRPr>
          </a:p>
          <a:p>
            <a:pPr marL="285706" indent="-285706" algn="just">
              <a:lnSpc>
                <a:spcPct val="90000"/>
              </a:lnSpc>
              <a:buFont typeface="Arial" panose="020B0604020202020204" pitchFamily="34" charset="0"/>
              <a:buChar char="•"/>
              <a:defRPr/>
            </a:pPr>
            <a:endParaRPr lang="en-US" dirty="0">
              <a:solidFill>
                <a:prstClr val="black"/>
              </a:solidFill>
              <a:latin typeface="Calibri" panose="020F0502020204030204" pitchFamily="34" charset="0"/>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Associado a esta Estratégia, o Governo também articulou um quadro de monitoria para a prevenção e a resiliência, compreendendo uma série de marcos que decorrem entre o AF21 e o AF23 que procuram abordar os principais desafios da fragilidade em todo o país. </a:t>
            </a:r>
            <a:endParaRPr lang="en-US" dirty="0">
              <a:latin typeface="Calibri" panose="020F0502020204030204" pitchFamily="34" charset="0"/>
              <a:cs typeface="Calibri"/>
            </a:endParaRPr>
          </a:p>
          <a:p>
            <a:pPr marL="285706" indent="-285706" algn="just">
              <a:lnSpc>
                <a:spcPct val="90000"/>
              </a:lnSpc>
              <a:buFont typeface="Arial" panose="020B0604020202020204" pitchFamily="34" charset="0"/>
              <a:buChar char="•"/>
              <a:defRPr/>
            </a:pPr>
            <a:endParaRPr lang="en-US" dirty="0">
              <a:solidFill>
                <a:prstClr val="black"/>
              </a:solidFill>
              <a:latin typeface="Calibri" panose="020F0502020204030204" pitchFamily="34" charset="0"/>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Moçambique tornou-se o terceiro país a assegurar a elegibilidade para a PRA em Março de 2021, o que permitiu ao Governo ter acesso a um reforço do financiamento para evitar o início, a recorrência e a escalada de conflitos violentos. </a:t>
            </a:r>
          </a:p>
          <a:p>
            <a:pPr algn="just">
              <a:lnSpc>
                <a:spcPct val="90000"/>
              </a:lnSpc>
              <a:defRPr/>
            </a:pPr>
            <a:endParaRPr lang="en-US" dirty="0">
              <a:latin typeface="Calibri" panose="020F0502020204030204"/>
              <a:cs typeface="Calibri"/>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Como parte do diálogo em torno da PRA o Governo solicitou apoio para a formulação da sua Estratégia Integrada de Desenvolvimento e Resiliência para o Norte.</a:t>
            </a:r>
          </a:p>
          <a:p>
            <a:pPr algn="just">
              <a:spcBef>
                <a:spcPts val="600"/>
              </a:spcBef>
              <a:defRPr/>
            </a:pPr>
            <a:endParaRPr lang="en-US" dirty="0">
              <a:solidFill>
                <a:prstClr val="black"/>
              </a:solidFill>
              <a:latin typeface="Calibri" panose="020F0502020204030204" pitchFamily="34" charset="0"/>
              <a:ea typeface="Times New Roman" panose="02020603050405020304" pitchFamily="18" charset="0"/>
            </a:endParaRPr>
          </a:p>
          <a:p>
            <a:pPr defTabSz="914259">
              <a:defRPr/>
            </a:pPr>
            <a:endParaRPr lang="en-US" dirty="0">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959ACFB9-F186-49C5-BAAE-4F331520327C}" type="slidenum">
              <a:rPr lang="en-US" smtClean="0"/>
              <a:t>15</a:t>
            </a:fld>
            <a:endParaRPr lang="en-US"/>
          </a:p>
        </p:txBody>
      </p:sp>
    </p:spTree>
    <p:extLst>
      <p:ext uri="{BB962C8B-B14F-4D97-AF65-F5344CB8AC3E}">
        <p14:creationId xmlns:p14="http://schemas.microsoft.com/office/powerpoint/2010/main" val="2571206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959ACFB9-F186-49C5-BAAE-4F331520327C}" type="slidenum">
              <a:rPr lang="en-US" smtClean="0"/>
              <a:t>23</a:t>
            </a:fld>
            <a:endParaRPr lang="en-US"/>
          </a:p>
        </p:txBody>
      </p:sp>
    </p:spTree>
    <p:extLst>
      <p:ext uri="{BB962C8B-B14F-4D97-AF65-F5344CB8AC3E}">
        <p14:creationId xmlns:p14="http://schemas.microsoft.com/office/powerpoint/2010/main" val="14115616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nSpc>
                <a:spcPct val="100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pt-BR" dirty="0"/>
          </a:p>
        </p:txBody>
      </p:sp>
      <p:sp>
        <p:nvSpPr>
          <p:cNvPr id="4" name="Slide Number Placeholder 3"/>
          <p:cNvSpPr>
            <a:spLocks noGrp="1"/>
          </p:cNvSpPr>
          <p:nvPr>
            <p:ph type="sldNum" sz="quarter" idx="5"/>
          </p:nvPr>
        </p:nvSpPr>
        <p:spPr/>
        <p:txBody>
          <a:bodyPr/>
          <a:lstStyle/>
          <a:p>
            <a:fld id="{959ACFB9-F186-49C5-BAAE-4F331520327C}" type="slidenum">
              <a:rPr lang="en-US" smtClean="0"/>
              <a:t>24</a:t>
            </a:fld>
            <a:endParaRPr lang="en-US"/>
          </a:p>
        </p:txBody>
      </p:sp>
    </p:spTree>
    <p:extLst>
      <p:ext uri="{BB962C8B-B14F-4D97-AF65-F5344CB8AC3E}">
        <p14:creationId xmlns:p14="http://schemas.microsoft.com/office/powerpoint/2010/main" val="1496593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959ACFB9-F186-49C5-BAAE-4F331520327C}" type="slidenum">
              <a:rPr lang="en-US" smtClean="0"/>
              <a:t>25</a:t>
            </a:fld>
            <a:endParaRPr lang="en-US"/>
          </a:p>
        </p:txBody>
      </p:sp>
    </p:spTree>
    <p:extLst>
      <p:ext uri="{BB962C8B-B14F-4D97-AF65-F5344CB8AC3E}">
        <p14:creationId xmlns:p14="http://schemas.microsoft.com/office/powerpoint/2010/main" val="16104004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A0981-943C-4992-B149-9C63154546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135F9E7-E9BF-4016-B324-B6A646CDAF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38B3994-86FB-4F29-9C45-09B27D9BF43F}"/>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35F1EF73-4840-48FC-9630-B433A9F908A2}"/>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D4EFB3C5-81C6-4829-BAC3-420F2F492BEA}"/>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267712704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E4F2B-05FF-445D-98BD-7B90CF93E0FC}"/>
              </a:ext>
            </a:extLst>
          </p:cNvPr>
          <p:cNvSpPr>
            <a:spLocks noGrp="1"/>
          </p:cNvSpPr>
          <p:nvPr>
            <p:ph type="title"/>
          </p:nvPr>
        </p:nvSpPr>
        <p:spPr/>
        <p:txBody>
          <a:bodyPr>
            <a:normAutofit/>
          </a:bodyPr>
          <a:lstStyle>
            <a:lvl1pPr>
              <a:defRPr lang="en-US" sz="2300" b="1" kern="1200">
                <a:solidFill>
                  <a:schemeClr val="accent1">
                    <a:lumMod val="75000"/>
                  </a:schemeClr>
                </a:solidFill>
                <a:latin typeface="Arial"/>
                <a:ea typeface="+mj-ea"/>
                <a:cs typeface="Arial"/>
              </a:defRPr>
            </a:lvl1pPr>
          </a:lstStyle>
          <a:p>
            <a:r>
              <a:rPr lang="en-US"/>
              <a:t>Click to edit Master title style</a:t>
            </a:r>
          </a:p>
        </p:txBody>
      </p:sp>
      <p:sp>
        <p:nvSpPr>
          <p:cNvPr id="3" name="Content Placeholder 2">
            <a:extLst>
              <a:ext uri="{FF2B5EF4-FFF2-40B4-BE49-F238E27FC236}">
                <a16:creationId xmlns:a16="http://schemas.microsoft.com/office/drawing/2014/main" id="{BB87B212-47F3-4A5B-A949-19A7F167572C}"/>
              </a:ext>
            </a:extLst>
          </p:cNvPr>
          <p:cNvSpPr>
            <a:spLocks noGrp="1"/>
          </p:cNvSpPr>
          <p:nvPr>
            <p:ph idx="1"/>
          </p:nvPr>
        </p:nvSpPr>
        <p:spPr/>
        <p:txBody>
          <a:bodyPr/>
          <a:lstStyle>
            <a:lvl1pPr>
              <a:defRPr lang="en-US" sz="1400" kern="1200">
                <a:solidFill>
                  <a:schemeClr val="tx1"/>
                </a:solidFill>
                <a:latin typeface="Arial" panose="020B0604020202020204" pitchFamily="34" charset="0"/>
                <a:ea typeface="+mn-ea"/>
                <a:cs typeface="Arial" panose="020B0604020202020204" pitchFamily="34" charset="0"/>
              </a:defRPr>
            </a:lvl1pPr>
            <a:lvl2pPr marL="228600" indent="-228600">
              <a:defRPr sz="1200">
                <a:latin typeface="Arial" panose="020B0604020202020204" pitchFamily="34" charset="0"/>
                <a:cs typeface="Arial" panose="020B0604020202020204" pitchFamily="34" charset="0"/>
              </a:defRPr>
            </a:lvl2pPr>
            <a:lvl3pPr marL="228600" indent="-228600">
              <a:defRPr sz="1100">
                <a:latin typeface="Arial" panose="020B0604020202020204" pitchFamily="34" charset="0"/>
                <a:cs typeface="Arial" panose="020B0604020202020204" pitchFamily="34" charset="0"/>
              </a:defRPr>
            </a:lvl3pPr>
          </a:lstStyle>
          <a:p>
            <a:pPr lvl="0"/>
            <a:r>
              <a:rPr lang="en-US"/>
              <a:t>Click to edit Master text styles</a:t>
            </a:r>
          </a:p>
          <a:p>
            <a:pPr marL="228600" marR="0" lvl="0" indent="-228600" algn="l" defTabSz="914400" rtl="0" eaLnBrk="1" fontAlgn="auto" latinLnBrk="0" hangingPunct="1">
              <a:lnSpc>
                <a:spcPct val="90000"/>
              </a:lnSpc>
              <a:spcBef>
                <a:spcPts val="1000"/>
              </a:spcBef>
              <a:spcAft>
                <a:spcPct val="0"/>
              </a:spcAft>
              <a:buClrTx/>
              <a:buSzTx/>
              <a:buFont typeface="Arial" panose="020B0604020202020204" pitchFamily="34" charset="0"/>
              <a:buChar char="•"/>
              <a:defRPr/>
            </a:pPr>
            <a:r>
              <a:rPr lang="en-US"/>
              <a:t>Second level</a:t>
            </a:r>
            <a:r>
              <a:rPr lang="en-US" b="1" i="0">
                <a:solidFill>
                  <a:srgbClr val="030303"/>
                </a:solidFill>
                <a:effectLst/>
                <a:latin typeface="YouTube Sans"/>
              </a:rPr>
              <a:t> owerPoint: Changing the font of all slides at once</a:t>
            </a:r>
          </a:p>
          <a:p>
            <a:pPr marL="228600" lvl="0" indent="-228600" algn="l" defTabSz="914400" rtl="0" eaLnBrk="1" latinLnBrk="0" hangingPunct="1">
              <a:lnSpc>
                <a:spcPct val="90000"/>
              </a:lnSpc>
              <a:spcBef>
                <a:spcPts val="1000"/>
              </a:spcBef>
              <a:buFont typeface="Arial" panose="020B0604020202020204" pitchFamily="34" charset="0"/>
              <a:buChar char="•"/>
            </a:pPr>
            <a:endParaRPr lang="en-US"/>
          </a:p>
          <a:p>
            <a:pPr marL="228600" lvl="0" indent="-228600" algn="l" defTabSz="914400" rtl="0" eaLnBrk="1" latinLnBrk="0" hangingPunct="1">
              <a:lnSpc>
                <a:spcPct val="90000"/>
              </a:lnSpc>
              <a:spcBef>
                <a:spcPts val="1000"/>
              </a:spcBef>
              <a:buFont typeface="Arial" panose="020B0604020202020204" pitchFamily="34" charset="0"/>
              <a:buChar char="•"/>
            </a:pPr>
            <a:r>
              <a:rPr lang="en-US"/>
              <a:t>Third level</a:t>
            </a:r>
          </a:p>
        </p:txBody>
      </p:sp>
      <p:sp>
        <p:nvSpPr>
          <p:cNvPr id="4" name="Date Placeholder 3">
            <a:extLst>
              <a:ext uri="{FF2B5EF4-FFF2-40B4-BE49-F238E27FC236}">
                <a16:creationId xmlns:a16="http://schemas.microsoft.com/office/drawing/2014/main" id="{6CC95B8F-D1C2-401F-BD84-8DDECCBA8092}"/>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3367B9EA-B7E1-4EF8-A46E-2E8CFE0B0FC8}"/>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A8183F10-E48C-4566-BC2B-FF2F486A6998}"/>
              </a:ext>
            </a:extLst>
          </p:cNvPr>
          <p:cNvSpPr>
            <a:spLocks noGrp="1"/>
          </p:cNvSpPr>
          <p:nvPr>
            <p:ph type="sldNum" sz="quarter" idx="12"/>
          </p:nvPr>
        </p:nvSpPr>
        <p:spPr/>
        <p:txBody>
          <a:bodyPr/>
          <a:lstStyle>
            <a:lvl1pPr>
              <a:defRPr sz="1200"/>
            </a:lvl1pPr>
          </a:lstStyle>
          <a:p>
            <a:fld id="{B8473C9A-9E91-4025-B5E2-D7B202510636}" type="slidenum">
              <a:rPr lang="en-US" smtClean="0"/>
              <a:t>‹#›</a:t>
            </a:fld>
            <a:endParaRPr lang="en-US" dirty="0"/>
          </a:p>
        </p:txBody>
      </p:sp>
    </p:spTree>
    <p:extLst>
      <p:ext uri="{BB962C8B-B14F-4D97-AF65-F5344CB8AC3E}">
        <p14:creationId xmlns:p14="http://schemas.microsoft.com/office/powerpoint/2010/main" val="3940487273"/>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004923-E02C-4624-A21A-65B68F28C343}"/>
              </a:ext>
            </a:extLst>
          </p:cNvPr>
          <p:cNvSpPr>
            <a:spLocks noGrp="1"/>
          </p:cNvSpPr>
          <p:nvPr>
            <p:ph type="title"/>
          </p:nvPr>
        </p:nvSpPr>
        <p:spPr>
          <a:xfrm>
            <a:off x="831850" y="1709738"/>
            <a:ext cx="10515600" cy="2852737"/>
          </a:xfrm>
        </p:spPr>
        <p:txBody>
          <a:bodyPr anchor="ctr" anchorCtr="0"/>
          <a:lstStyle>
            <a:lvl1pPr algn="ctr">
              <a:defRPr sz="6000"/>
            </a:lvl1pPr>
          </a:lstStyle>
          <a:p>
            <a:r>
              <a:rPr lang="en-US"/>
              <a:t>Click to edit Master title style</a:t>
            </a:r>
          </a:p>
        </p:txBody>
      </p:sp>
      <p:sp>
        <p:nvSpPr>
          <p:cNvPr id="3" name="Text Placeholder 2">
            <a:extLst>
              <a:ext uri="{FF2B5EF4-FFF2-40B4-BE49-F238E27FC236}">
                <a16:creationId xmlns:a16="http://schemas.microsoft.com/office/drawing/2014/main" id="{9DAE0A33-1BB3-4E42-B621-A472B874EAD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76DB44-0DB5-40B5-BA14-1EDA86A4D24B}"/>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55AA5C62-6202-4358-AC75-4E0415B24F7B}"/>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DED24AA5-8997-4524-A317-F3333E4AAC4B}"/>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3538393001"/>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D9D26-49ED-4CF7-B672-8637E4AD5E6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43621A-9D07-4DF4-9D5A-48B41E7955E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2B0EFF8-B574-4682-B3A9-AA6161FFE7B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9C375E7-1F3E-4EF7-B071-48DF4593E1E2}"/>
              </a:ext>
            </a:extLst>
          </p:cNvPr>
          <p:cNvSpPr>
            <a:spLocks noGrp="1"/>
          </p:cNvSpPr>
          <p:nvPr>
            <p:ph type="dt" sz="half" idx="10"/>
          </p:nvPr>
        </p:nvSpPr>
        <p:spPr/>
        <p:txBody>
          <a:bodyPr/>
          <a:lstStyle/>
          <a:p>
            <a:r>
              <a:rPr lang="en-US"/>
              <a:t>3/1/2022</a:t>
            </a:r>
            <a:endParaRPr lang="en-US" dirty="0"/>
          </a:p>
        </p:txBody>
      </p:sp>
      <p:sp>
        <p:nvSpPr>
          <p:cNvPr id="6" name="Footer Placeholder 5">
            <a:extLst>
              <a:ext uri="{FF2B5EF4-FFF2-40B4-BE49-F238E27FC236}">
                <a16:creationId xmlns:a16="http://schemas.microsoft.com/office/drawing/2014/main" id="{A8096E2A-D6F0-42E1-93F5-D99EDE9CF8F7}"/>
              </a:ext>
            </a:extLst>
          </p:cNvPr>
          <p:cNvSpPr>
            <a:spLocks noGrp="1"/>
          </p:cNvSpPr>
          <p:nvPr>
            <p:ph type="ftr" sz="quarter" idx="11"/>
          </p:nvPr>
        </p:nvSpPr>
        <p:spPr/>
        <p:txBody>
          <a:bodyPr/>
          <a:lstStyle/>
          <a:p>
            <a:r>
              <a:rPr lang="en-US"/>
              <a:t>CPF 2023-2027. Public Version. Maputo, May 2022.</a:t>
            </a:r>
            <a:endParaRPr lang="en-US" dirty="0"/>
          </a:p>
        </p:txBody>
      </p:sp>
      <p:sp>
        <p:nvSpPr>
          <p:cNvPr id="7" name="Slide Number Placeholder 6">
            <a:extLst>
              <a:ext uri="{FF2B5EF4-FFF2-40B4-BE49-F238E27FC236}">
                <a16:creationId xmlns:a16="http://schemas.microsoft.com/office/drawing/2014/main" id="{F3C9BC91-D20F-4D2A-ACDC-D462531E7E32}"/>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1338663112"/>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5CCE41-EFB1-46F9-8C61-340395BFD3D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886AD4D-5D04-485B-BBDF-BC3CA5A179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2C38865-AD92-4EF6-8AC6-2D3C28823F1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51AF0F8-46DF-422B-8C36-DFEB6BFB41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F8E853-9A78-4653-AF85-F954C3714EB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91138F-1A14-4A55-8651-B0A6BBE21A45}"/>
              </a:ext>
            </a:extLst>
          </p:cNvPr>
          <p:cNvSpPr>
            <a:spLocks noGrp="1"/>
          </p:cNvSpPr>
          <p:nvPr>
            <p:ph type="dt" sz="half" idx="10"/>
          </p:nvPr>
        </p:nvSpPr>
        <p:spPr/>
        <p:txBody>
          <a:bodyPr/>
          <a:lstStyle/>
          <a:p>
            <a:r>
              <a:rPr lang="en-US"/>
              <a:t>3/1/2022</a:t>
            </a:r>
            <a:endParaRPr lang="en-US" dirty="0"/>
          </a:p>
        </p:txBody>
      </p:sp>
      <p:sp>
        <p:nvSpPr>
          <p:cNvPr id="8" name="Footer Placeholder 7">
            <a:extLst>
              <a:ext uri="{FF2B5EF4-FFF2-40B4-BE49-F238E27FC236}">
                <a16:creationId xmlns:a16="http://schemas.microsoft.com/office/drawing/2014/main" id="{6E29D1E1-3806-4AFD-A62F-2206BB742E6A}"/>
              </a:ext>
            </a:extLst>
          </p:cNvPr>
          <p:cNvSpPr>
            <a:spLocks noGrp="1"/>
          </p:cNvSpPr>
          <p:nvPr>
            <p:ph type="ftr" sz="quarter" idx="11"/>
          </p:nvPr>
        </p:nvSpPr>
        <p:spPr/>
        <p:txBody>
          <a:bodyPr/>
          <a:lstStyle/>
          <a:p>
            <a:r>
              <a:rPr lang="en-US"/>
              <a:t>CPF 2023-2027. Public Version. Maputo, May 2022.</a:t>
            </a:r>
            <a:endParaRPr lang="en-US" dirty="0"/>
          </a:p>
        </p:txBody>
      </p:sp>
      <p:sp>
        <p:nvSpPr>
          <p:cNvPr id="9" name="Slide Number Placeholder 8">
            <a:extLst>
              <a:ext uri="{FF2B5EF4-FFF2-40B4-BE49-F238E27FC236}">
                <a16:creationId xmlns:a16="http://schemas.microsoft.com/office/drawing/2014/main" id="{A5E3FB99-8FE9-4D09-8A4F-12CF1277B750}"/>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3128242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1D9C5-5AA6-4565-BCC7-41B79AC8DB9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C5F545B-A0EE-43AE-A42B-5A8CB9C82F1A}"/>
              </a:ext>
            </a:extLst>
          </p:cNvPr>
          <p:cNvSpPr>
            <a:spLocks noGrp="1"/>
          </p:cNvSpPr>
          <p:nvPr>
            <p:ph type="dt" sz="half" idx="10"/>
          </p:nvPr>
        </p:nvSpPr>
        <p:spPr/>
        <p:txBody>
          <a:bodyPr/>
          <a:lstStyle/>
          <a:p>
            <a:r>
              <a:rPr lang="en-US"/>
              <a:t>3/1/2022</a:t>
            </a:r>
            <a:endParaRPr lang="en-US" dirty="0"/>
          </a:p>
        </p:txBody>
      </p:sp>
      <p:sp>
        <p:nvSpPr>
          <p:cNvPr id="4" name="Footer Placeholder 3">
            <a:extLst>
              <a:ext uri="{FF2B5EF4-FFF2-40B4-BE49-F238E27FC236}">
                <a16:creationId xmlns:a16="http://schemas.microsoft.com/office/drawing/2014/main" id="{107FCC15-8266-4DE3-B290-D16AFE7F7167}"/>
              </a:ext>
            </a:extLst>
          </p:cNvPr>
          <p:cNvSpPr>
            <a:spLocks noGrp="1"/>
          </p:cNvSpPr>
          <p:nvPr>
            <p:ph type="ftr" sz="quarter" idx="11"/>
          </p:nvPr>
        </p:nvSpPr>
        <p:spPr/>
        <p:txBody>
          <a:bodyPr/>
          <a:lstStyle/>
          <a:p>
            <a:r>
              <a:rPr lang="en-US"/>
              <a:t>CPF 2023-2027. Public Version. Maputo, May 2022.</a:t>
            </a:r>
            <a:endParaRPr lang="en-US" dirty="0"/>
          </a:p>
        </p:txBody>
      </p:sp>
      <p:sp>
        <p:nvSpPr>
          <p:cNvPr id="5" name="Slide Number Placeholder 4">
            <a:extLst>
              <a:ext uri="{FF2B5EF4-FFF2-40B4-BE49-F238E27FC236}">
                <a16:creationId xmlns:a16="http://schemas.microsoft.com/office/drawing/2014/main" id="{CEFA89CF-916B-4108-9529-CE8B895436F5}"/>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68770266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D218153-E68F-4442-824A-844A7D495AA3}"/>
              </a:ext>
            </a:extLst>
          </p:cNvPr>
          <p:cNvSpPr>
            <a:spLocks noGrp="1"/>
          </p:cNvSpPr>
          <p:nvPr>
            <p:ph type="dt" sz="half" idx="10"/>
          </p:nvPr>
        </p:nvSpPr>
        <p:spPr/>
        <p:txBody>
          <a:bodyPr/>
          <a:lstStyle/>
          <a:p>
            <a:r>
              <a:rPr lang="en-US"/>
              <a:t>3/1/2022</a:t>
            </a:r>
            <a:endParaRPr lang="en-US" dirty="0"/>
          </a:p>
        </p:txBody>
      </p:sp>
      <p:sp>
        <p:nvSpPr>
          <p:cNvPr id="3" name="Footer Placeholder 2">
            <a:extLst>
              <a:ext uri="{FF2B5EF4-FFF2-40B4-BE49-F238E27FC236}">
                <a16:creationId xmlns:a16="http://schemas.microsoft.com/office/drawing/2014/main" id="{03F8DE74-6A59-4828-A8A1-BCE6E8201FF0}"/>
              </a:ext>
            </a:extLst>
          </p:cNvPr>
          <p:cNvSpPr>
            <a:spLocks noGrp="1"/>
          </p:cNvSpPr>
          <p:nvPr>
            <p:ph type="ftr" sz="quarter" idx="11"/>
          </p:nvPr>
        </p:nvSpPr>
        <p:spPr/>
        <p:txBody>
          <a:bodyPr/>
          <a:lstStyle/>
          <a:p>
            <a:r>
              <a:rPr lang="en-US"/>
              <a:t>CPF 2023-2027. Public Version. Maputo, May 2022.</a:t>
            </a:r>
            <a:endParaRPr lang="en-US" dirty="0"/>
          </a:p>
        </p:txBody>
      </p:sp>
      <p:sp>
        <p:nvSpPr>
          <p:cNvPr id="4" name="Slide Number Placeholder 3">
            <a:extLst>
              <a:ext uri="{FF2B5EF4-FFF2-40B4-BE49-F238E27FC236}">
                <a16:creationId xmlns:a16="http://schemas.microsoft.com/office/drawing/2014/main" id="{B5D5FB75-E157-4016-BB05-C4EA32485B45}"/>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4133135752"/>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2A399-BC8D-4019-ADD6-FABA8E1DB5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BD1820-8456-48C2-89AE-2E5C2597A5D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5E4EECB-192E-4E2F-BF38-CF293360E8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DBDF5D-D784-48F1-81D7-0C79EF1FCD50}"/>
              </a:ext>
            </a:extLst>
          </p:cNvPr>
          <p:cNvSpPr>
            <a:spLocks noGrp="1"/>
          </p:cNvSpPr>
          <p:nvPr>
            <p:ph type="dt" sz="half" idx="10"/>
          </p:nvPr>
        </p:nvSpPr>
        <p:spPr/>
        <p:txBody>
          <a:bodyPr/>
          <a:lstStyle/>
          <a:p>
            <a:r>
              <a:rPr lang="en-US"/>
              <a:t>3/1/2022</a:t>
            </a:r>
            <a:endParaRPr lang="en-US" dirty="0"/>
          </a:p>
        </p:txBody>
      </p:sp>
      <p:sp>
        <p:nvSpPr>
          <p:cNvPr id="6" name="Footer Placeholder 5">
            <a:extLst>
              <a:ext uri="{FF2B5EF4-FFF2-40B4-BE49-F238E27FC236}">
                <a16:creationId xmlns:a16="http://schemas.microsoft.com/office/drawing/2014/main" id="{F2EDED05-F5A3-4456-AAE2-C3FC42BF1B84}"/>
              </a:ext>
            </a:extLst>
          </p:cNvPr>
          <p:cNvSpPr>
            <a:spLocks noGrp="1"/>
          </p:cNvSpPr>
          <p:nvPr>
            <p:ph type="ftr" sz="quarter" idx="11"/>
          </p:nvPr>
        </p:nvSpPr>
        <p:spPr/>
        <p:txBody>
          <a:bodyPr/>
          <a:lstStyle/>
          <a:p>
            <a:r>
              <a:rPr lang="en-US"/>
              <a:t>CPF 2023-2027. Public Version. Maputo, May 2022.</a:t>
            </a:r>
            <a:endParaRPr lang="en-US" dirty="0"/>
          </a:p>
        </p:txBody>
      </p:sp>
      <p:sp>
        <p:nvSpPr>
          <p:cNvPr id="7" name="Slide Number Placeholder 6">
            <a:extLst>
              <a:ext uri="{FF2B5EF4-FFF2-40B4-BE49-F238E27FC236}">
                <a16:creationId xmlns:a16="http://schemas.microsoft.com/office/drawing/2014/main" id="{BD739283-FA12-4D86-B3B8-162D2AD6EE1C}"/>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3297643938"/>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14276-E124-4822-AE88-D4627D1FF09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908839D-E988-4BD9-8192-034C390DB79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BB006194-79AA-47B5-B06A-1D26087D97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FA16CA-0CE4-4B33-9522-59AE6B24FD4C}"/>
              </a:ext>
            </a:extLst>
          </p:cNvPr>
          <p:cNvSpPr>
            <a:spLocks noGrp="1"/>
          </p:cNvSpPr>
          <p:nvPr>
            <p:ph type="dt" sz="half" idx="10"/>
          </p:nvPr>
        </p:nvSpPr>
        <p:spPr/>
        <p:txBody>
          <a:bodyPr/>
          <a:lstStyle/>
          <a:p>
            <a:r>
              <a:rPr lang="en-US"/>
              <a:t>3/1/2022</a:t>
            </a:r>
            <a:endParaRPr lang="en-US" dirty="0"/>
          </a:p>
        </p:txBody>
      </p:sp>
      <p:sp>
        <p:nvSpPr>
          <p:cNvPr id="6" name="Footer Placeholder 5">
            <a:extLst>
              <a:ext uri="{FF2B5EF4-FFF2-40B4-BE49-F238E27FC236}">
                <a16:creationId xmlns:a16="http://schemas.microsoft.com/office/drawing/2014/main" id="{057DB9C9-06CA-4D74-A969-385FA95945E0}"/>
              </a:ext>
            </a:extLst>
          </p:cNvPr>
          <p:cNvSpPr>
            <a:spLocks noGrp="1"/>
          </p:cNvSpPr>
          <p:nvPr>
            <p:ph type="ftr" sz="quarter" idx="11"/>
          </p:nvPr>
        </p:nvSpPr>
        <p:spPr/>
        <p:txBody>
          <a:bodyPr/>
          <a:lstStyle/>
          <a:p>
            <a:r>
              <a:rPr lang="en-US"/>
              <a:t>CPF 2023-2027. Public Version. Maputo, May 2022.</a:t>
            </a:r>
            <a:endParaRPr lang="en-US" dirty="0"/>
          </a:p>
        </p:txBody>
      </p:sp>
      <p:sp>
        <p:nvSpPr>
          <p:cNvPr id="7" name="Slide Number Placeholder 6">
            <a:extLst>
              <a:ext uri="{FF2B5EF4-FFF2-40B4-BE49-F238E27FC236}">
                <a16:creationId xmlns:a16="http://schemas.microsoft.com/office/drawing/2014/main" id="{674B40EA-325A-4083-BC00-E020C278AFB4}"/>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2318989364"/>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EEE8B-52C8-4D0E-9B59-100CC319455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FB71DF-8F2E-41E0-90D8-F0867FCE591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336933-965A-42BF-BC5E-F5270FB08831}"/>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D213B8D8-22A8-44DA-8D39-16D2B387B4FE}"/>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3FF45202-30E5-4A59-9E8B-E9D32D0495AE}"/>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777895961"/>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A64F7B4-623F-4251-A5D4-87BCB8B300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D21CC42-BF23-435E-A17B-32B1994D038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80AC62-88AB-4CA1-9BF0-D64BDEF499A4}"/>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ED5A17B2-9369-455E-AE27-CABD90682E99}"/>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301464D7-E0B8-4E56-A956-7D67DF7B9E01}"/>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2753450378"/>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DB8478B-5CB2-4010-9BAD-DDE1B57B6D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1844C9-7239-4961-887C-AC146B867F6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F53078-3A3C-4896-826A-FFAB7387376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3/1/2022</a:t>
            </a:r>
            <a:endParaRPr lang="en-US" dirty="0"/>
          </a:p>
        </p:txBody>
      </p:sp>
      <p:sp>
        <p:nvSpPr>
          <p:cNvPr id="5" name="Footer Placeholder 4">
            <a:extLst>
              <a:ext uri="{FF2B5EF4-FFF2-40B4-BE49-F238E27FC236}">
                <a16:creationId xmlns:a16="http://schemas.microsoft.com/office/drawing/2014/main" id="{4D59D87B-A001-4556-86DF-10D2F25F20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1634FC28-C244-49C3-A074-6C1DE31C99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473C9A-9E91-4025-B5E2-D7B202510636}" type="slidenum">
              <a:rPr lang="en-US" smtClean="0"/>
              <a:t>‹#›</a:t>
            </a:fld>
            <a:endParaRPr lang="en-US" dirty="0"/>
          </a:p>
        </p:txBody>
      </p:sp>
    </p:spTree>
    <p:extLst>
      <p:ext uri="{BB962C8B-B14F-4D97-AF65-F5344CB8AC3E}">
        <p14:creationId xmlns:p14="http://schemas.microsoft.com/office/powerpoint/2010/main" val="12715432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hf hdr="0" dt="0"/>
  <p:txStyles>
    <p:titleStyle>
      <a:lvl1pPr algn="l" defTabSz="914400" rtl="0" eaLnBrk="1" latinLnBrk="0" hangingPunct="1">
        <a:lnSpc>
          <a:spcPct val="90000"/>
        </a:lnSpc>
        <a:spcBef>
          <a:spcPct val="0"/>
        </a:spcBef>
        <a:buNone/>
        <a:defRPr sz="2400" kern="1200">
          <a:solidFill>
            <a:schemeClr val="accent1">
              <a:lumMod val="75000"/>
            </a:schemeClr>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3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chart" Target="../charts/chart6.xml"/><Relationship Id="rId5" Type="http://schemas.openxmlformats.org/officeDocument/2006/relationships/chart" Target="../charts/chart5.xml"/><Relationship Id="rId4" Type="http://schemas.openxmlformats.org/officeDocument/2006/relationships/chart" Target="../charts/chart4.xml"/></Relationships>
</file>

<file path=ppt/slides/_rels/slide7.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chart" Target="../charts/chart9.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hart" Target="../charts/chart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slideLayout" Target="../slideLayouts/slideLayout2.xml"/><Relationship Id="rId1" Type="http://schemas.openxmlformats.org/officeDocument/2006/relationships/themeOverride" Target="../theme/themeOverride3.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D45F1-E8F8-426E-8AF3-E6EF0913E3A5}"/>
              </a:ext>
            </a:extLst>
          </p:cNvPr>
          <p:cNvSpPr>
            <a:spLocks noGrp="1"/>
          </p:cNvSpPr>
          <p:nvPr>
            <p:ph type="ctrTitle"/>
          </p:nvPr>
        </p:nvSpPr>
        <p:spPr>
          <a:xfrm>
            <a:off x="1933672" y="2558409"/>
            <a:ext cx="8969172" cy="2876985"/>
          </a:xfrm>
        </p:spPr>
        <p:txBody>
          <a:bodyPr anchor="ctr">
            <a:noAutofit/>
          </a:bodyPr>
          <a:lstStyle/>
          <a:p>
            <a:r>
              <a:rPr lang="en-US" sz="3600" b="1" dirty="0">
                <a:latin typeface="Times New Roman" panose="02020603050405020304" pitchFamily="18" charset="0"/>
                <a:cs typeface="Times New Roman" panose="02020603050405020304" pitchFamily="18" charset="0"/>
              </a:rPr>
              <a:t>Weltbankgruppe (WBG) </a:t>
            </a:r>
            <a:br>
              <a:rPr lang="pt" sz="3600" b="1" dirty="0">
                <a:highlight>
                  <a:srgbClr val="000000">
                    <a:alpha val="0"/>
                  </a:srgbClr>
                </a:highlight>
                <a:latin typeface="Times New Roman" panose="02020603050405020304" pitchFamily="18" charset="0"/>
                <a:cs typeface="Times New Roman" panose="02020603050405020304" pitchFamily="18" charset="0"/>
              </a:rPr>
            </a:br>
            <a:br>
              <a:rPr lang="pt" sz="3600" b="1" dirty="0">
                <a:highlight>
                  <a:srgbClr val="000000">
                    <a:alpha val="0"/>
                  </a:srgbClr>
                </a:highlight>
                <a:latin typeface="Times New Roman" panose="02020603050405020304" pitchFamily="18" charset="0"/>
                <a:cs typeface="Times New Roman" panose="02020603050405020304" pitchFamily="18" charset="0"/>
              </a:rPr>
            </a:br>
            <a:r>
              <a:rPr lang="en-US" sz="3600" b="1" dirty="0">
                <a:highlight>
                  <a:srgbClr val="000000">
                    <a:alpha val="0"/>
                  </a:srgbClr>
                </a:highlight>
                <a:latin typeface="Times New Roman" panose="02020603050405020304" pitchFamily="18" charset="0"/>
                <a:cs typeface="Times New Roman" panose="02020603050405020304" pitchFamily="18" charset="0"/>
              </a:rPr>
              <a:t>Mosambik: Länderpartnerschaftsrahmen (CPF) 2023-2027 </a:t>
            </a:r>
            <a:br>
              <a:rPr lang="en-US" sz="3600" b="1" dirty="0">
                <a:highlight>
                  <a:srgbClr val="000000">
                    <a:alpha val="0"/>
                  </a:srgbClr>
                </a:highlight>
                <a:latin typeface="Times New Roman" panose="02020603050405020304" pitchFamily="18" charset="0"/>
                <a:cs typeface="Times New Roman" panose="02020603050405020304" pitchFamily="18" charset="0"/>
              </a:rPr>
            </a:br>
            <a:br>
              <a:rPr lang="en-US" sz="3600" b="1" dirty="0">
                <a:highlight>
                  <a:srgbClr val="000000">
                    <a:alpha val="0"/>
                  </a:srgbClr>
                </a:highlight>
                <a:latin typeface="Times New Roman" panose="02020603050405020304" pitchFamily="18" charset="0"/>
                <a:cs typeface="Times New Roman" panose="02020603050405020304" pitchFamily="18" charset="0"/>
              </a:rPr>
            </a:br>
            <a:r>
              <a:rPr lang="en-US" sz="3600" b="1" dirty="0">
                <a:highlight>
                  <a:srgbClr val="000000">
                    <a:alpha val="0"/>
                  </a:srgbClr>
                </a:highlight>
                <a:latin typeface="Times New Roman" panose="02020603050405020304" pitchFamily="18" charset="0"/>
                <a:cs typeface="Times New Roman" panose="02020603050405020304" pitchFamily="18" charset="0"/>
              </a:rPr>
              <a:t>Zusammenfassung der Konzeptnotiz </a:t>
            </a:r>
            <a:br>
              <a:rPr lang="en-US" sz="3600" b="1" dirty="0">
                <a:highlight>
                  <a:srgbClr val="000000">
                    <a:alpha val="0"/>
                  </a:srgbClr>
                </a:highlight>
                <a:latin typeface="Times New Roman" panose="02020603050405020304" pitchFamily="18" charset="0"/>
                <a:cs typeface="Times New Roman" panose="02020603050405020304" pitchFamily="18" charset="0"/>
              </a:rPr>
            </a:br>
            <a:br>
              <a:rPr lang="en-US" sz="3600" b="1" dirty="0">
                <a:highlight>
                  <a:srgbClr val="000000">
                    <a:alpha val="0"/>
                  </a:srgbClr>
                </a:highlight>
                <a:latin typeface="Times New Roman" panose="02020603050405020304" pitchFamily="18" charset="0"/>
                <a:cs typeface="Times New Roman" panose="02020603050405020304" pitchFamily="18" charset="0"/>
              </a:rPr>
            </a:br>
            <a:r>
              <a:rPr lang="en-US" sz="3600" b="1" dirty="0">
                <a:highlight>
                  <a:srgbClr val="000000">
                    <a:alpha val="0"/>
                  </a:srgbClr>
                </a:highlight>
                <a:latin typeface="Times New Roman" panose="02020603050405020304" pitchFamily="18" charset="0"/>
                <a:cs typeface="Times New Roman" panose="02020603050405020304" pitchFamily="18" charset="0"/>
              </a:rPr>
              <a:t>Öffentliche Fassung  </a:t>
            </a:r>
            <a:br>
              <a:rPr lang="en-US" sz="3600" b="1" dirty="0">
                <a:highlight>
                  <a:srgbClr val="000000">
                    <a:alpha val="0"/>
                  </a:srgbClr>
                </a:highlight>
                <a:latin typeface="Times New Roman" panose="02020603050405020304" pitchFamily="18" charset="0"/>
                <a:cs typeface="Times New Roman" panose="02020603050405020304" pitchFamily="18" charset="0"/>
              </a:rPr>
            </a:br>
            <a:br>
              <a:rPr lang="en-US" sz="3600" b="1" dirty="0">
                <a:highlight>
                  <a:srgbClr val="000000">
                    <a:alpha val="0"/>
                  </a:srgbClr>
                </a:highlight>
                <a:latin typeface="Times New Roman" panose="02020603050405020304" pitchFamily="18" charset="0"/>
                <a:cs typeface="Times New Roman" panose="02020603050405020304" pitchFamily="18" charset="0"/>
              </a:rPr>
            </a:br>
            <a:r>
              <a:rPr lang="en-US" sz="3600" b="1" dirty="0">
                <a:highlight>
                  <a:srgbClr val="000000">
                    <a:alpha val="0"/>
                  </a:srgbClr>
                </a:highlight>
                <a:latin typeface="Times New Roman" panose="02020603050405020304" pitchFamily="18" charset="0"/>
                <a:cs typeface="Times New Roman" panose="02020603050405020304" pitchFamily="18" charset="0"/>
              </a:rPr>
              <a:t>Maputo, Mai 2022</a:t>
            </a:r>
            <a:br>
              <a:rPr lang="en-US" sz="3600" b="1" dirty="0">
                <a:highlight>
                  <a:srgbClr val="000000">
                    <a:alpha val="0"/>
                  </a:srgbClr>
                </a:highlight>
                <a:latin typeface="Times New Roman" panose="02020603050405020304" pitchFamily="18" charset="0"/>
                <a:cs typeface="Times New Roman" panose="02020603050405020304" pitchFamily="18" charset="0"/>
              </a:rPr>
            </a:br>
            <a:br>
              <a:rPr lang="pt" sz="3600" b="1" dirty="0">
                <a:highlight>
                  <a:srgbClr val="000000">
                    <a:alpha val="0"/>
                  </a:srgbClr>
                </a:highlight>
                <a:latin typeface="Times New Roman" panose="02020603050405020304" pitchFamily="18" charset="0"/>
                <a:cs typeface="Times New Roman" panose="02020603050405020304" pitchFamily="18" charset="0"/>
              </a:rPr>
            </a:br>
            <a:endParaRPr lang="en-US" sz="3600" b="1"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2E96012B-60E5-41DF-BE81-115A7F0F5D0E}"/>
              </a:ext>
            </a:extLst>
          </p:cNvPr>
          <p:cNvPicPr>
            <a:picLocks noChangeAspect="1"/>
          </p:cNvPicPr>
          <p:nvPr/>
        </p:nvPicPr>
        <p:blipFill>
          <a:blip r:embed="rId2"/>
          <a:stretch>
            <a:fillRect/>
          </a:stretch>
        </p:blipFill>
        <p:spPr>
          <a:xfrm>
            <a:off x="827106" y="1944052"/>
            <a:ext cx="1352550" cy="1114425"/>
          </a:xfrm>
          <a:prstGeom prst="rect">
            <a:avLst/>
          </a:prstGeom>
        </p:spPr>
      </p:pic>
      <p:pic>
        <p:nvPicPr>
          <p:cNvPr id="6" name="Picture 5">
            <a:extLst>
              <a:ext uri="{FF2B5EF4-FFF2-40B4-BE49-F238E27FC236}">
                <a16:creationId xmlns:a16="http://schemas.microsoft.com/office/drawing/2014/main" id="{303B5CDB-EA56-4525-A8DA-73F7F88B8A77}"/>
              </a:ext>
            </a:extLst>
          </p:cNvPr>
          <p:cNvPicPr>
            <a:picLocks noChangeAspect="1"/>
          </p:cNvPicPr>
          <p:nvPr/>
        </p:nvPicPr>
        <p:blipFill>
          <a:blip r:embed="rId3"/>
          <a:stretch>
            <a:fillRect/>
          </a:stretch>
        </p:blipFill>
        <p:spPr>
          <a:xfrm>
            <a:off x="712806" y="3406352"/>
            <a:ext cx="1466850" cy="1181100"/>
          </a:xfrm>
          <a:prstGeom prst="rect">
            <a:avLst/>
          </a:prstGeom>
        </p:spPr>
      </p:pic>
      <p:pic>
        <p:nvPicPr>
          <p:cNvPr id="9" name="Picture 8">
            <a:extLst>
              <a:ext uri="{FF2B5EF4-FFF2-40B4-BE49-F238E27FC236}">
                <a16:creationId xmlns:a16="http://schemas.microsoft.com/office/drawing/2014/main" id="{7A855204-D46C-4DCB-85FD-454B26A9C91E}"/>
              </a:ext>
            </a:extLst>
          </p:cNvPr>
          <p:cNvPicPr>
            <a:picLocks noChangeAspect="1"/>
          </p:cNvPicPr>
          <p:nvPr/>
        </p:nvPicPr>
        <p:blipFill>
          <a:blip r:embed="rId4"/>
          <a:stretch>
            <a:fillRect/>
          </a:stretch>
        </p:blipFill>
        <p:spPr>
          <a:xfrm>
            <a:off x="808345" y="4587452"/>
            <a:ext cx="1257300" cy="1400175"/>
          </a:xfrm>
          <a:prstGeom prst="rect">
            <a:avLst/>
          </a:prstGeom>
        </p:spPr>
      </p:pic>
      <p:pic>
        <p:nvPicPr>
          <p:cNvPr id="11" name="Picture 10">
            <a:extLst>
              <a:ext uri="{FF2B5EF4-FFF2-40B4-BE49-F238E27FC236}">
                <a16:creationId xmlns:a16="http://schemas.microsoft.com/office/drawing/2014/main" id="{AEC0D9E3-C5B8-4B1E-8087-056D82A4FC9C}"/>
              </a:ext>
            </a:extLst>
          </p:cNvPr>
          <p:cNvPicPr>
            <a:picLocks noChangeAspect="1"/>
          </p:cNvPicPr>
          <p:nvPr/>
        </p:nvPicPr>
        <p:blipFill>
          <a:blip r:embed="rId5"/>
          <a:stretch>
            <a:fillRect/>
          </a:stretch>
        </p:blipFill>
        <p:spPr>
          <a:xfrm>
            <a:off x="827106" y="710732"/>
            <a:ext cx="1200150" cy="1133475"/>
          </a:xfrm>
          <a:prstGeom prst="rect">
            <a:avLst/>
          </a:prstGeom>
        </p:spPr>
      </p:pic>
    </p:spTree>
    <p:extLst>
      <p:ext uri="{BB962C8B-B14F-4D97-AF65-F5344CB8AC3E}">
        <p14:creationId xmlns:p14="http://schemas.microsoft.com/office/powerpoint/2010/main" val="3156487675"/>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90289-7D55-41E3-8ECB-E9F924A19E96}"/>
              </a:ext>
            </a:extLst>
          </p:cNvPr>
          <p:cNvSpPr>
            <a:spLocks noGrp="1"/>
          </p:cNvSpPr>
          <p:nvPr>
            <p:ph type="title"/>
          </p:nvPr>
        </p:nvSpPr>
        <p:spPr/>
        <p:txBody>
          <a:bodyPr>
            <a:normAutofit/>
          </a:bodyPr>
          <a:lstStyle/>
          <a:p>
            <a:r>
              <a:rPr lang="en-US" dirty="0"/>
              <a:t>Einleitung: Was ist der CPF, warum die Konsultationen und was sind die Erwartungen</a:t>
            </a:r>
          </a:p>
        </p:txBody>
      </p:sp>
      <p:sp>
        <p:nvSpPr>
          <p:cNvPr id="3" name="Content Placeholder 2">
            <a:extLst>
              <a:ext uri="{FF2B5EF4-FFF2-40B4-BE49-F238E27FC236}">
                <a16:creationId xmlns:a16="http://schemas.microsoft.com/office/drawing/2014/main" id="{D9688905-696E-4501-8134-4A2E66E94513}"/>
              </a:ext>
            </a:extLst>
          </p:cNvPr>
          <p:cNvSpPr>
            <a:spLocks noGrp="1"/>
          </p:cNvSpPr>
          <p:nvPr>
            <p:ph idx="1"/>
          </p:nvPr>
        </p:nvSpPr>
        <p:spPr>
          <a:xfrm>
            <a:off x="838200" y="1549101"/>
            <a:ext cx="10515600" cy="4627862"/>
          </a:xfrm>
        </p:spPr>
        <p:txBody>
          <a:bodyPr>
            <a:normAutofit/>
          </a:bodyPr>
          <a:lstStyle/>
          <a:p>
            <a:r>
              <a:rPr lang="en-US" dirty="0"/>
              <a:t>Der Länder-Mosambik-Partnerschaftsrahmen (CPF) ist das Leitinstrument der Unterstützung der Weltbankgruppe (WBG), einschließlich IFC und MIGA, für Mosambik bei der Verfolgung seiner Entwicklungsziele.</a:t>
            </a:r>
          </a:p>
          <a:p>
            <a:r>
              <a:rPr lang="en-US" dirty="0"/>
              <a:t>Der CPF legt die Ziele und erwarteten Ergebnisse der Partnerschaft zwischen der WBG und der Regierung Mosambiks über einen bestimmten Zeitraum (4-5 Jahre) fest.</a:t>
            </a:r>
          </a:p>
          <a:p>
            <a:r>
              <a:rPr lang="en-US" dirty="0"/>
              <a:t>Der CPF basiert auf folgenden Elementen: (i) Den Prioritäten der nationalen Entwicklungspläne (PQG, ENDE, </a:t>
            </a:r>
            <a:r>
              <a:rPr lang="en-US" dirty="0" err="1"/>
              <a:t>usw</a:t>
            </a:r>
            <a:r>
              <a:rPr lang="en-US" dirty="0"/>
              <a:t>.); (ii) einer Systematischen Länderdiagnose (SCD) der Weltbank sowie weiteren Analysen und erarbeitetem Wissen; (iii) den Lehren aus der Umsetzung früherer Strategien (CLR) und den komparativen Vorteilen der Weltbank.</a:t>
            </a:r>
          </a:p>
          <a:p>
            <a:r>
              <a:rPr lang="en-US" dirty="0"/>
              <a:t>Der Schwerpunkt der Arbeit der WBG ist die Beseitigung extremer Armut und die Verringerung von Ungleichheit.</a:t>
            </a:r>
          </a:p>
          <a:p>
            <a:r>
              <a:rPr lang="en-US" dirty="0"/>
              <a:t>Derzeit bereitet die WBG einen aktualisierten CPF für den Zeitraum Geschäftsjahr 23-27 vor. </a:t>
            </a:r>
          </a:p>
          <a:p>
            <a:r>
              <a:rPr lang="en-US" dirty="0"/>
              <a:t>Der neue CPF legt die vorläufigen Bestrebungen und Ziele für die Partnerschaft mit Mosambik in den nächsten 5 Jahren fest. </a:t>
            </a:r>
          </a:p>
          <a:p>
            <a:r>
              <a:rPr lang="en-US" dirty="0"/>
              <a:t>Dieses Dokument präsentiert eine Zusammenfassung des Konzeptpapiers des CPF mit dem Ziel, Beiträge zu folgenden Themen zu erhalten:</a:t>
            </a:r>
          </a:p>
          <a:p>
            <a:pPr lvl="3">
              <a:lnSpc>
                <a:spcPct val="100000"/>
              </a:lnSpc>
              <a:spcBef>
                <a:spcPts val="1200"/>
              </a:spcBef>
            </a:pPr>
            <a:r>
              <a:rPr lang="en-US" sz="1400" b="1" dirty="0">
                <a:highlight>
                  <a:srgbClr val="000000">
                    <a:alpha val="0"/>
                  </a:srgbClr>
                </a:highlight>
                <a:latin typeface="Arial"/>
              </a:rPr>
              <a:t>Vertiefung der Diskussion über jeden Pfeiler der Strategie und seine Ziele.</a:t>
            </a:r>
          </a:p>
          <a:p>
            <a:pPr lvl="3">
              <a:lnSpc>
                <a:spcPct val="100000"/>
              </a:lnSpc>
              <a:spcBef>
                <a:spcPts val="1200"/>
              </a:spcBef>
            </a:pPr>
            <a:r>
              <a:rPr lang="en-US" sz="1400" b="1" dirty="0">
                <a:highlight>
                  <a:srgbClr val="000000">
                    <a:alpha val="0"/>
                  </a:srgbClr>
                </a:highlight>
                <a:latin typeface="Arial"/>
              </a:rPr>
              <a:t>Definition von Prioritäten und Instrumenten (einschließlich Finanzierung) unter Berücksichtigung des spezifischen Entwicklungskontexts und der Herausforderungen.</a:t>
            </a:r>
          </a:p>
          <a:p>
            <a:pPr lvl="3">
              <a:lnSpc>
                <a:spcPct val="100000"/>
              </a:lnSpc>
              <a:spcBef>
                <a:spcPts val="1200"/>
              </a:spcBef>
            </a:pPr>
            <a:r>
              <a:rPr lang="en-US" sz="1400" b="1" dirty="0">
                <a:highlight>
                  <a:srgbClr val="000000">
                    <a:alpha val="0"/>
                  </a:srgbClr>
                </a:highlight>
                <a:latin typeface="Arial"/>
              </a:rPr>
              <a:t>Definition von CPF-Überwachungsmechanismen (Indikatoren)</a:t>
            </a:r>
          </a:p>
        </p:txBody>
      </p:sp>
      <p:sp>
        <p:nvSpPr>
          <p:cNvPr id="4" name="Footer Placeholder 3">
            <a:extLst>
              <a:ext uri="{FF2B5EF4-FFF2-40B4-BE49-F238E27FC236}">
                <a16:creationId xmlns:a16="http://schemas.microsoft.com/office/drawing/2014/main" id="{478EA24B-3077-4E29-A782-8ABABF70C5CF}"/>
              </a:ext>
            </a:extLst>
          </p:cNvPr>
          <p:cNvSpPr>
            <a:spLocks noGrp="1"/>
          </p:cNvSpPr>
          <p:nvPr>
            <p:ph type="ftr" sz="quarter" idx="11"/>
          </p:nvPr>
        </p:nvSpPr>
        <p:spPr/>
        <p:txBody>
          <a:bodyPr/>
          <a:lstStyle/>
          <a:p>
            <a:r>
              <a:rPr lang="en-US"/>
              <a:t>CPF 2023-2027. Öffentliche Version. Maputo, Mai 2022.</a:t>
            </a:r>
            <a:endParaRPr lang="en-US" dirty="0"/>
          </a:p>
        </p:txBody>
      </p:sp>
      <p:sp>
        <p:nvSpPr>
          <p:cNvPr id="5" name="Slide Number Placeholder 4">
            <a:extLst>
              <a:ext uri="{FF2B5EF4-FFF2-40B4-BE49-F238E27FC236}">
                <a16:creationId xmlns:a16="http://schemas.microsoft.com/office/drawing/2014/main" id="{789BF642-FDE3-42E2-AB0F-94576DDD9EF4}"/>
              </a:ext>
            </a:extLst>
          </p:cNvPr>
          <p:cNvSpPr>
            <a:spLocks noGrp="1"/>
          </p:cNvSpPr>
          <p:nvPr>
            <p:ph type="sldNum" sz="quarter" idx="12"/>
          </p:nvPr>
        </p:nvSpPr>
        <p:spPr/>
        <p:txBody>
          <a:bodyPr/>
          <a:lstStyle/>
          <a:p>
            <a:fld id="{B8473C9A-9E91-4025-B5E2-D7B202510636}" type="slidenum">
              <a:rPr lang="en-US" smtClean="0"/>
              <a:t>2</a:t>
            </a:fld>
            <a:endParaRPr lang="en-US" dirty="0"/>
          </a:p>
        </p:txBody>
      </p:sp>
    </p:spTree>
    <p:extLst>
      <p:ext uri="{BB962C8B-B14F-4D97-AF65-F5344CB8AC3E}">
        <p14:creationId xmlns:p14="http://schemas.microsoft.com/office/powerpoint/2010/main" val="216634312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763623" y="527128"/>
            <a:ext cx="10515600" cy="1325563"/>
          </a:xfrm>
        </p:spPr>
        <p:txBody>
          <a:bodyPr>
            <a:noAutofit/>
          </a:bodyPr>
          <a:lstStyle/>
          <a:p>
            <a:pPr algn="ctr"/>
            <a:r>
              <a:rPr lang="en-US" sz="4000" dirty="0"/>
              <a:t>Präsentationsstruktur</a:t>
            </a:r>
            <a:br/>
            <a:r>
              <a:rPr lang="en-US" sz="4000" dirty="0"/>
              <a:t/>
            </a:r>
            <a:br/>
            <a:r>
              <a:rPr lang="en-US" sz="4000" dirty="0"/>
              <a:t/>
            </a:r>
            <a:endParaRPr lang="pt" sz="40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342731" y="2187277"/>
            <a:ext cx="11357385" cy="4648256"/>
          </a:xfrm>
        </p:spPr>
        <p:txBody>
          <a:bodyPr>
            <a:noAutofit/>
          </a:bodyPr>
          <a:lstStyle/>
          <a:p>
            <a:pPr marL="1371600" lvl="3" indent="-571500">
              <a:lnSpc>
                <a:spcPct val="100000"/>
              </a:lnSpc>
              <a:spcBef>
                <a:spcPts val="1200"/>
              </a:spcBef>
              <a:spcAft>
                <a:spcPts val="1200"/>
              </a:spcAft>
              <a:buFont typeface="+mj-lt"/>
              <a:buAutoNum type="romanUcPeriod"/>
            </a:pPr>
            <a:r>
              <a:rPr lang="en-US" sz="3200" b="1" dirty="0"/>
              <a:t>Einschätzung der Weltbankgruppe zu den wichtigsten strategischen Herausforderungen des Landes   </a:t>
            </a:r>
            <a:br/>
            <a:r>
              <a:rPr lang="en-US" sz="3200" b="1" dirty="0"/>
              <a:t>Hauptlehren aus dem vorherigen CPF (2017-2021)</a:t>
            </a:r>
            <a:br/>
            <a:r>
              <a:rPr lang="en-US" sz="3200" b="1" dirty="0"/>
              <a:t>Erster Vorschlag für den CPF 2023-2027</a:t>
            </a:r>
            <a:br/>
            <a:r>
              <a:rPr lang="en-US" sz="3200" b="1" dirty="0"/>
              <a:t/>
            </a:r>
            <a:br/>
            <a:r>
              <a:rPr lang="en-US" sz="3200" b="1" dirty="0"/>
              <a:t/>
            </a:r>
            <a:endParaRPr lang="pt" sz="3200" b="1" i="0" u="none" strike="noStrike"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5A8D5BC3-36C6-44D5-8F65-39323B859A56}"/>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71478635-062B-4B7C-8ED3-5DABD8F8816D}"/>
              </a:ext>
            </a:extLst>
          </p:cNvPr>
          <p:cNvSpPr>
            <a:spLocks noGrp="1"/>
          </p:cNvSpPr>
          <p:nvPr>
            <p:ph type="sldNum" sz="quarter" idx="12"/>
          </p:nvPr>
        </p:nvSpPr>
        <p:spPr/>
        <p:txBody>
          <a:bodyPr/>
          <a:lstStyle/>
          <a:p>
            <a:fld id="{B8473C9A-9E91-4025-B5E2-D7B202510636}" type="slidenum">
              <a:rPr lang="en-US" smtClean="0"/>
              <a:t>3</a:t>
            </a:fld>
            <a:endParaRPr lang="en-US" dirty="0"/>
          </a:p>
        </p:txBody>
      </p:sp>
      <p:pic>
        <p:nvPicPr>
          <p:cNvPr id="4" name="Picture 3">
            <a:extLst>
              <a:ext uri="{FF2B5EF4-FFF2-40B4-BE49-F238E27FC236}">
                <a16:creationId xmlns:a16="http://schemas.microsoft.com/office/drawing/2014/main" id="{BD132FF2-B2A1-4911-8DA1-958860068B65}"/>
              </a:ext>
            </a:extLst>
          </p:cNvPr>
          <p:cNvPicPr>
            <a:picLocks noChangeAspect="1"/>
          </p:cNvPicPr>
          <p:nvPr/>
        </p:nvPicPr>
        <p:blipFill>
          <a:blip r:embed="rId2"/>
          <a:stretch>
            <a:fillRect/>
          </a:stretch>
        </p:blipFill>
        <p:spPr>
          <a:xfrm>
            <a:off x="342731" y="365570"/>
            <a:ext cx="2809141" cy="559716"/>
          </a:xfrm>
          <a:prstGeom prst="rect">
            <a:avLst/>
          </a:prstGeom>
        </p:spPr>
      </p:pic>
    </p:spTree>
    <p:extLst>
      <p:ext uri="{BB962C8B-B14F-4D97-AF65-F5344CB8AC3E}">
        <p14:creationId xmlns:p14="http://schemas.microsoft.com/office/powerpoint/2010/main" val="927229812"/>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838200" y="747656"/>
            <a:ext cx="10515600" cy="1325563"/>
          </a:xfrm>
        </p:spPr>
        <p:txBody>
          <a:bodyPr>
            <a:noAutofit/>
          </a:bodyPr>
          <a:lstStyle/>
          <a:p>
            <a:pPr algn="ctr"/>
            <a:r>
              <a:rPr lang="en-US" sz="4000" dirty="0"/>
              <a:t>Präsentationsstruktur</a:t>
            </a:r>
            <a:br/>
            <a:r>
              <a:rPr lang="en-US" sz="4000" dirty="0"/>
              <a:t/>
            </a:r>
            <a:br/>
            <a:r>
              <a:rPr lang="en-US" sz="4000" dirty="0"/>
              <a:t/>
            </a:r>
            <a:endParaRPr lang="pt" sz="40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417307" y="2073219"/>
            <a:ext cx="11357385" cy="4648256"/>
          </a:xfrm>
        </p:spPr>
        <p:txBody>
          <a:bodyPr>
            <a:noAutofit/>
          </a:bodyPr>
          <a:lstStyle/>
          <a:p>
            <a:pPr marL="1371600" lvl="3" indent="-571500">
              <a:lnSpc>
                <a:spcPct val="100000"/>
              </a:lnSpc>
              <a:spcBef>
                <a:spcPts val="1200"/>
              </a:spcBef>
              <a:spcAft>
                <a:spcPts val="1200"/>
              </a:spcAft>
              <a:buFont typeface="+mj-lt"/>
              <a:buAutoNum type="romanUcPeriod"/>
            </a:pPr>
            <a:r>
              <a:rPr lang="en-US" sz="3200" b="1" dirty="0"/>
              <a:t>Sichtweise der Weltbankgruppe auf die wichtigsten strategischen Herausforderungen des Landes   </a:t>
            </a:r>
            <a:br/>
            <a:r>
              <a:rPr lang="en-US" sz="3200" b="1" dirty="0"/>
              <a:t>Wichtigste Lehren aus dem vorigen CPF (2017-2021) </a:t>
            </a:r>
            <a:br/>
            <a:r>
              <a:rPr lang="en-US" sz="3200" b="1" dirty="0"/>
              <a:t>Erster Vorschlag für den CPF 2023-2027</a:t>
            </a:r>
            <a:br/>
            <a:r>
              <a:rPr lang="en-US" sz="3200" b="1" dirty="0"/>
              <a:t/>
            </a:r>
            <a:br/>
            <a:r>
              <a:rPr lang="en-US" sz="3200" b="1" dirty="0"/>
              <a:t/>
            </a:r>
            <a:r>
              <a:rPr lang="en-US" sz="3200" b="1" dirty="0">
                <a:solidFill>
                  <a:schemeClr val="bg2">
                    <a:lumMod val="75000"/>
                  </a:schemeClr>
                </a:solidFill>
              </a:rPr>
              <a:t>Main lessons from the previous CPF (2017-2021) 
Initial Proposal for CPF 2023-2027</a:t>
            </a:r>
            <a:endParaRPr lang="pt" sz="3200" b="1" i="0" u="none" strike="noStrike" dirty="0">
              <a:solidFill>
                <a:schemeClr val="bg2">
                  <a:lumMod val="75000"/>
                </a:schemeClr>
              </a:solidFill>
              <a:highlight>
                <a:srgbClr val="000000">
                  <a:alpha val="0"/>
                </a:srgbClr>
              </a:highlight>
              <a:latin typeface="Arial"/>
            </a:endParaRPr>
          </a:p>
        </p:txBody>
      </p:sp>
      <p:sp>
        <p:nvSpPr>
          <p:cNvPr id="7" name="Footer Placeholder 6">
            <a:extLst>
              <a:ext uri="{FF2B5EF4-FFF2-40B4-BE49-F238E27FC236}">
                <a16:creationId xmlns:a16="http://schemas.microsoft.com/office/drawing/2014/main" id="{5EDF98AD-ADCD-4758-AAE6-443CAF4DC2F9}"/>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382C3AA1-90AF-49C0-92C0-FFB37AB72625}"/>
              </a:ext>
            </a:extLst>
          </p:cNvPr>
          <p:cNvSpPr>
            <a:spLocks noGrp="1"/>
          </p:cNvSpPr>
          <p:nvPr>
            <p:ph type="sldNum" sz="quarter" idx="12"/>
          </p:nvPr>
        </p:nvSpPr>
        <p:spPr/>
        <p:txBody>
          <a:bodyPr/>
          <a:lstStyle/>
          <a:p>
            <a:fld id="{B8473C9A-9E91-4025-B5E2-D7B202510636}" type="slidenum">
              <a:rPr lang="en-US" smtClean="0"/>
              <a:t>4</a:t>
            </a:fld>
            <a:endParaRPr lang="en-US" dirty="0"/>
          </a:p>
        </p:txBody>
      </p:sp>
      <p:pic>
        <p:nvPicPr>
          <p:cNvPr id="6" name="Picture 5">
            <a:extLst>
              <a:ext uri="{FF2B5EF4-FFF2-40B4-BE49-F238E27FC236}">
                <a16:creationId xmlns:a16="http://schemas.microsoft.com/office/drawing/2014/main" id="{B50684B2-DFCC-454F-BF34-FF297E1A6047}"/>
              </a:ext>
            </a:extLst>
          </p:cNvPr>
          <p:cNvPicPr>
            <a:picLocks noChangeAspect="1"/>
          </p:cNvPicPr>
          <p:nvPr/>
        </p:nvPicPr>
        <p:blipFill>
          <a:blip r:embed="rId2"/>
          <a:stretch>
            <a:fillRect/>
          </a:stretch>
        </p:blipFill>
        <p:spPr>
          <a:xfrm>
            <a:off x="517218" y="586097"/>
            <a:ext cx="2521846" cy="502473"/>
          </a:xfrm>
          <a:prstGeom prst="rect">
            <a:avLst/>
          </a:prstGeom>
        </p:spPr>
      </p:pic>
    </p:spTree>
    <p:extLst>
      <p:ext uri="{BB962C8B-B14F-4D97-AF65-F5344CB8AC3E}">
        <p14:creationId xmlns:p14="http://schemas.microsoft.com/office/powerpoint/2010/main" val="1828922060"/>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4B562-863E-411E-8C8D-327DA3E88280}"/>
              </a:ext>
            </a:extLst>
          </p:cNvPr>
          <p:cNvSpPr>
            <a:spLocks noGrp="1"/>
          </p:cNvSpPr>
          <p:nvPr>
            <p:ph type="title"/>
          </p:nvPr>
        </p:nvSpPr>
        <p:spPr>
          <a:xfrm>
            <a:off x="2458581" y="149854"/>
            <a:ext cx="11053131" cy="547685"/>
          </a:xfrm>
        </p:spPr>
        <p:txBody>
          <a:bodyPr>
            <a:noAutofit/>
          </a:bodyPr>
          <a:lstStyle/>
          <a:p>
            <a:pPr rtl="0"/>
            <a:br>
              <a:rPr lang="pt" sz="2400" b="1" i="0" u="none" strike="noStrike" dirty="0">
                <a:highlight>
                  <a:srgbClr val="000000">
                    <a:alpha val="0"/>
                  </a:srgbClr>
                </a:highlight>
                <a:latin typeface="Arial"/>
              </a:rPr>
            </a:br>
            <a:r>
              <a:rPr lang="pt" sz="2400" b="1" i="0" u="none" strike="noStrike" dirty="0">
                <a:highlight>
                  <a:srgbClr val="000000">
                    <a:alpha val="0"/>
                  </a:srgbClr>
                </a:highlight>
                <a:latin typeface="Arial"/>
              </a:rPr>
              <a:t>Länderkontext: </a:t>
            </a:r>
            <a:r>
              <a:rPr lang="pt" sz="2400" b="0" i="1" u="none" strike="noStrike" dirty="0">
                <a:highlight>
                  <a:srgbClr val="000000">
                    <a:alpha val="0"/>
                  </a:srgbClr>
                </a:highlight>
                <a:latin typeface="Arial"/>
              </a:rPr>
              <a:t>Entwicklungsherausforderungen und -chancen</a:t>
            </a:r>
            <a:endParaRPr lang="en-US" sz="2400" b="0" i="1" dirty="0"/>
          </a:p>
        </p:txBody>
      </p:sp>
      <p:sp>
        <p:nvSpPr>
          <p:cNvPr id="7" name="Content Placeholder 6">
            <a:extLst>
              <a:ext uri="{FF2B5EF4-FFF2-40B4-BE49-F238E27FC236}">
                <a16:creationId xmlns:a16="http://schemas.microsoft.com/office/drawing/2014/main" id="{FF5C214D-5EAE-4BCF-B630-4930BE12178E}"/>
              </a:ext>
            </a:extLst>
          </p:cNvPr>
          <p:cNvSpPr>
            <a:spLocks noGrp="1"/>
          </p:cNvSpPr>
          <p:nvPr>
            <p:ph idx="1"/>
          </p:nvPr>
        </p:nvSpPr>
        <p:spPr>
          <a:xfrm>
            <a:off x="154086" y="750686"/>
            <a:ext cx="11594969" cy="5854702"/>
          </a:xfrm>
        </p:spPr>
        <p:txBody>
          <a:bodyPr>
            <a:noAutofit/>
          </a:bodyPr>
          <a:lstStyle/>
          <a:p>
            <a:pPr marL="342900" indent="-342900" algn="just" rtl="0">
              <a:lnSpc>
                <a:spcPct val="100000"/>
              </a:lnSpc>
              <a:spcBef>
                <a:spcPct val="0"/>
              </a:spcBef>
              <a:spcAft>
                <a:spcPts val="600"/>
              </a:spcAft>
              <a:buFont typeface="+mj-lt"/>
              <a:buAutoNum type="arabicPeriod"/>
            </a:pPr>
            <a:endParaRPr lang="en-US" sz="1600" b="1" i="0" u="none" strike="noStrike" dirty="0">
              <a:highlight>
                <a:srgbClr val="000000">
                  <a:alpha val="0"/>
                </a:srgbClr>
              </a:highlight>
              <a:latin typeface="Arial"/>
              <a:ea typeface="Calibri"/>
              <a:cs typeface="Times New Roman"/>
            </a:endParaRPr>
          </a:p>
          <a:p>
            <a:pPr marL="342900" indent="-342900" algn="just" rtl="0">
              <a:lnSpc>
                <a:spcPct val="100000"/>
              </a:lnSpc>
              <a:spcBef>
                <a:spcPct val="0"/>
              </a:spcBef>
              <a:spcAft>
                <a:spcPts val="600"/>
              </a:spcAft>
              <a:buFont typeface="+mj-lt"/>
              <a:buAutoNum type="arabicPeriod"/>
            </a:pPr>
            <a:r>
              <a:rPr lang="en-US" sz="1600" b="1" i="0" u="none" strike="noStrike" dirty="0">
                <a:highlight>
                  <a:srgbClr val="000000">
                    <a:alpha val="0"/>
                  </a:srgbClr>
                </a:highlight>
                <a:latin typeface="Arial"/>
                <a:ea typeface="Calibri"/>
                <a:cs typeface="Times New Roman"/>
              </a:rPr>
              <a:t>Entwicklungskontext</a:t>
            </a:r>
            <a:r>
              <a:rPr lang="en-US" sz="1600" b="0" i="0" u="none" strike="noStrike" dirty="0">
                <a:highlight>
                  <a:srgbClr val="000000">
                    <a:alpha val="0"/>
                  </a:srgbClr>
                </a:highlight>
                <a:latin typeface="Arial"/>
                <a:ea typeface="Calibri"/>
                <a:cs typeface="Times New Roman"/>
              </a:rPr>
              <a:t>. Mosambik ist trotz seiner umfangreichen natürlichen Ressourcen und günstigen Lage nach wie vor ein Niedrigeinkommensland (LIC). </a:t>
            </a:r>
            <a:r>
              <a:rPr lang="en-US" sz="1600" b="1" i="0" u="none" strike="noStrike" dirty="0">
                <a:highlight>
                  <a:srgbClr val="000000">
                    <a:alpha val="0"/>
                  </a:srgbClr>
                </a:highlight>
                <a:latin typeface="Arial"/>
                <a:ea typeface="Calibri"/>
                <a:cs typeface="Times New Roman"/>
              </a:rPr>
              <a:t>Der Großteil der Bevölkerung lebt in extremer Armut, die Ungleichheit ist hoch</a:t>
            </a:r>
            <a:r>
              <a:rPr lang="en-US" sz="1600" b="0" i="0" u="none" strike="noStrike" dirty="0">
                <a:highlight>
                  <a:srgbClr val="000000">
                    <a:alpha val="0"/>
                  </a:srgbClr>
                </a:highlight>
                <a:latin typeface="Arial"/>
                <a:ea typeface="Calibri"/>
                <a:cs typeface="Times New Roman"/>
              </a:rPr>
              <a:t>, der Index des Humankapitals gehört zu den niedrigsten weltweit und die Geburtenraten sind vergleichsweise hoch. </a:t>
            </a:r>
          </a:p>
          <a:p>
            <a:pPr lvl="3" algn="just">
              <a:lnSpc>
                <a:spcPct val="100000"/>
              </a:lnSpc>
              <a:spcBef>
                <a:spcPct val="0"/>
              </a:spcBef>
              <a:spcAft>
                <a:spcPts val="1200"/>
              </a:spcAft>
            </a:pPr>
            <a:r>
              <a:rPr lang="en-US" sz="1600" dirty="0">
                <a:highlight>
                  <a:srgbClr val="000000">
                    <a:alpha val="0"/>
                  </a:srgbClr>
                </a:highlight>
                <a:latin typeface="Arial"/>
                <a:cs typeface="Times New Roman"/>
              </a:rPr>
              <a:t>Diese Entwicklungsherausforderungen werden durch strukturelle Fragilität und eine hohe Exposition gegenüber Klima- und Gesundheitsrisiken verschärft – darunter zuletzt zwei schwere Zyklone im Jahr 2019 und die Covid-19-Pandemie.</a:t>
            </a:r>
          </a:p>
          <a:p>
            <a:pPr marL="342900" indent="-342900" algn="just" rtl="0">
              <a:lnSpc>
                <a:spcPct val="100000"/>
              </a:lnSpc>
              <a:spcBef>
                <a:spcPct val="0"/>
              </a:spcBef>
              <a:spcAft>
                <a:spcPts val="600"/>
              </a:spcAft>
              <a:buFont typeface="+mj-lt"/>
              <a:buAutoNum type="arabicPeriod"/>
            </a:pPr>
            <a:r>
              <a:rPr lang="en-US" sz="1600" b="1" i="0" u="none" strike="noStrike" dirty="0">
                <a:highlight>
                  <a:srgbClr val="000000">
                    <a:alpha val="0"/>
                  </a:srgbClr>
                </a:highlight>
                <a:latin typeface="Arial"/>
                <a:ea typeface="Calibri"/>
                <a:cs typeface="Times New Roman"/>
              </a:rPr>
              <a:t>Strukturelle Fragilität. </a:t>
            </a:r>
            <a:r>
              <a:rPr lang="en-US" sz="1600" b="0" i="0" u="none" strike="noStrike" dirty="0">
                <a:highlight>
                  <a:srgbClr val="000000">
                    <a:alpha val="0"/>
                  </a:srgbClr>
                </a:highlight>
                <a:latin typeface="Arial"/>
                <a:ea typeface="Calibri"/>
                <a:cs typeface="Times New Roman"/>
              </a:rPr>
              <a:t>Mosambiks tief verwurzelte Fragilität geht auf die Schwäche seiner Institutionen zurück, die auf historische und geographische Ursachen zurückzuführen ist und sich in wiederkehrenden Zyklen von Konflikten und Gewalt manifestiert hat. Ungleichheit und Armut verstärken die Fragilität und werden durch sie verstärkt. Der Aufstand in Cabo Delgado ist die jüngste Manifestation dieser Fragilität.</a:t>
            </a:r>
            <a:endParaRPr lang="pt" sz="1600" b="0" i="0" u="none" strike="noStrike" dirty="0">
              <a:highlight>
                <a:srgbClr val="000000">
                  <a:alpha val="0"/>
                </a:srgbClr>
              </a:highlight>
              <a:latin typeface="Arial"/>
              <a:ea typeface="Calibri"/>
              <a:cs typeface="Times New Roman"/>
            </a:endParaRPr>
          </a:p>
          <a:p>
            <a:pPr marL="0" indent="0" algn="just">
              <a:lnSpc>
                <a:spcPct val="100000"/>
              </a:lnSpc>
              <a:spcBef>
                <a:spcPct val="0"/>
              </a:spcBef>
              <a:spcAft>
                <a:spcPts val="600"/>
              </a:spcAft>
              <a:buNone/>
            </a:pPr>
            <a:endParaRPr lang="en-US" sz="1100" dirty="0">
              <a:latin typeface="+mn-lt"/>
              <a:ea typeface="Calibri" panose="020F0502020204030204" pitchFamily="34" charset="0"/>
              <a:cs typeface="Times New Roman"/>
            </a:endParaRPr>
          </a:p>
        </p:txBody>
      </p:sp>
      <p:grpSp>
        <p:nvGrpSpPr>
          <p:cNvPr id="5" name="Group 4">
            <a:extLst>
              <a:ext uri="{FF2B5EF4-FFF2-40B4-BE49-F238E27FC236}">
                <a16:creationId xmlns:a16="http://schemas.microsoft.com/office/drawing/2014/main" id="{4F3625D2-207D-4F4B-B47F-3D62A9AD09EB}"/>
              </a:ext>
            </a:extLst>
          </p:cNvPr>
          <p:cNvGrpSpPr/>
          <p:nvPr/>
        </p:nvGrpSpPr>
        <p:grpSpPr>
          <a:xfrm>
            <a:off x="8218978" y="3597004"/>
            <a:ext cx="3588997" cy="2886437"/>
            <a:chOff x="6541789" y="2100492"/>
            <a:chExt cx="5157813" cy="3995469"/>
          </a:xfrm>
        </p:grpSpPr>
        <p:pic>
          <p:nvPicPr>
            <p:cNvPr id="6" name="Picture 5">
              <a:extLst>
                <a:ext uri="{FF2B5EF4-FFF2-40B4-BE49-F238E27FC236}">
                  <a16:creationId xmlns:a16="http://schemas.microsoft.com/office/drawing/2014/main" id="{EF694F57-C4AC-4B52-8F4B-F21947EC0700}"/>
                </a:ext>
              </a:extLst>
            </p:cNvPr>
            <p:cNvPicPr>
              <a:picLocks noChangeAspect="1"/>
            </p:cNvPicPr>
            <p:nvPr/>
          </p:nvPicPr>
          <p:blipFill>
            <a:blip r:embed="rId2">
              <a:duotone>
                <a:schemeClr val="accent1">
                  <a:shade val="45000"/>
                  <a:satMod val="135000"/>
                </a:schemeClr>
                <a:prstClr val="white"/>
              </a:duotone>
            </a:blip>
            <a:stretch>
              <a:fillRect/>
            </a:stretch>
          </p:blipFill>
          <p:spPr>
            <a:xfrm>
              <a:off x="6541789" y="2100492"/>
              <a:ext cx="5065909" cy="3558448"/>
            </a:xfrm>
            <a:prstGeom prst="rect">
              <a:avLst/>
            </a:prstGeom>
          </p:spPr>
        </p:pic>
        <p:sp>
          <p:nvSpPr>
            <p:cNvPr id="8" name="TextBox 7">
              <a:extLst>
                <a:ext uri="{FF2B5EF4-FFF2-40B4-BE49-F238E27FC236}">
                  <a16:creationId xmlns:a16="http://schemas.microsoft.com/office/drawing/2014/main" id="{79A74CF3-3D80-4298-B0F9-7653E146BF38}"/>
                </a:ext>
              </a:extLst>
            </p:cNvPr>
            <p:cNvSpPr txBox="1"/>
            <p:nvPr/>
          </p:nvSpPr>
          <p:spPr>
            <a:xfrm>
              <a:off x="6672238" y="5751940"/>
              <a:ext cx="5027364" cy="344021"/>
            </a:xfrm>
            <a:prstGeom prst="rect">
              <a:avLst/>
            </a:prstGeom>
            <a:noFill/>
          </p:spPr>
          <p:txBody>
            <a:bodyPr wrap="square">
              <a:spAutoFit/>
            </a:bodyPr>
            <a:lstStyle/>
            <a:p>
              <a:pPr marL="0" marR="0" algn="just">
                <a:lnSpc>
                  <a:spcPct val="106000"/>
                </a:lnSpc>
                <a:spcBef>
                  <a:spcPts val="0"/>
                </a:spcBef>
                <a:spcAft>
                  <a:spcPts val="0"/>
                </a:spcAft>
              </a:pPr>
              <a:endParaRPr lang="en-US" sz="1000" b="1" dirty="0">
                <a:effectLst/>
                <a:latin typeface="Calibri" panose="020F0502020204030204" pitchFamily="34" charset="0"/>
                <a:ea typeface="Calibri" panose="020F0502020204030204" pitchFamily="34" charset="0"/>
                <a:cs typeface="Times New Roman" panose="02020603050405020304" pitchFamily="18" charset="0"/>
              </a:endParaRPr>
            </a:p>
          </p:txBody>
        </p:sp>
      </p:grpSp>
      <p:graphicFrame>
        <p:nvGraphicFramePr>
          <p:cNvPr id="9" name="Chart 8">
            <a:extLst>
              <a:ext uri="{FF2B5EF4-FFF2-40B4-BE49-F238E27FC236}">
                <a16:creationId xmlns:a16="http://schemas.microsoft.com/office/drawing/2014/main" id="{410C8409-F0C1-4A06-B33B-032AB030B33D}"/>
              </a:ext>
            </a:extLst>
          </p:cNvPr>
          <p:cNvGraphicFramePr>
            <a:graphicFrameLocks/>
          </p:cNvGraphicFramePr>
          <p:nvPr>
            <p:extLst>
              <p:ext uri="{D42A27DB-BD31-4B8C-83A1-F6EECF244321}">
                <p14:modId xmlns:p14="http://schemas.microsoft.com/office/powerpoint/2010/main" val="3770359055"/>
              </p:ext>
            </p:extLst>
          </p:nvPr>
        </p:nvGraphicFramePr>
        <p:xfrm>
          <a:off x="4512313" y="3690055"/>
          <a:ext cx="3687713" cy="26420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0">
            <a:extLst>
              <a:ext uri="{FF2B5EF4-FFF2-40B4-BE49-F238E27FC236}">
                <a16:creationId xmlns:a16="http://schemas.microsoft.com/office/drawing/2014/main" id="{C72742A9-AFDE-48B8-85B0-5CF91FC7EC7A}"/>
              </a:ext>
            </a:extLst>
          </p:cNvPr>
          <p:cNvGraphicFramePr>
            <a:graphicFrameLocks/>
          </p:cNvGraphicFramePr>
          <p:nvPr>
            <p:extLst>
              <p:ext uri="{D42A27DB-BD31-4B8C-83A1-F6EECF244321}">
                <p14:modId xmlns:p14="http://schemas.microsoft.com/office/powerpoint/2010/main" val="2896171518"/>
              </p:ext>
            </p:extLst>
          </p:nvPr>
        </p:nvGraphicFramePr>
        <p:xfrm>
          <a:off x="154086" y="3536403"/>
          <a:ext cx="4134513" cy="2753250"/>
        </p:xfrm>
        <a:graphic>
          <a:graphicData uri="http://schemas.openxmlformats.org/drawingml/2006/chart">
            <c:chart xmlns:c="http://schemas.openxmlformats.org/drawingml/2006/chart" xmlns:r="http://schemas.openxmlformats.org/officeDocument/2006/relationships" r:id="rId4"/>
          </a:graphicData>
        </a:graphic>
      </p:graphicFrame>
      <p:sp>
        <p:nvSpPr>
          <p:cNvPr id="12" name="Footer Placeholder 11">
            <a:extLst>
              <a:ext uri="{FF2B5EF4-FFF2-40B4-BE49-F238E27FC236}">
                <a16:creationId xmlns:a16="http://schemas.microsoft.com/office/drawing/2014/main" id="{6EA1F737-8F98-48C5-8192-5697092CD6C1}"/>
              </a:ext>
            </a:extLst>
          </p:cNvPr>
          <p:cNvSpPr>
            <a:spLocks noGrp="1"/>
          </p:cNvSpPr>
          <p:nvPr>
            <p:ph type="ftr" sz="quarter" idx="11"/>
          </p:nvPr>
        </p:nvSpPr>
        <p:spPr/>
        <p:txBody>
          <a:bodyPr/>
          <a:lstStyle/>
          <a:p>
            <a:r>
              <a:rPr lang="en-US"/>
              <a:t>CPF 2023-2027. Öffentliche Version. Maputo, Mai 2022.</a:t>
            </a:r>
            <a:endParaRPr lang="en-US" dirty="0"/>
          </a:p>
        </p:txBody>
      </p:sp>
      <p:sp>
        <p:nvSpPr>
          <p:cNvPr id="13" name="Slide Number Placeholder 12">
            <a:extLst>
              <a:ext uri="{FF2B5EF4-FFF2-40B4-BE49-F238E27FC236}">
                <a16:creationId xmlns:a16="http://schemas.microsoft.com/office/drawing/2014/main" id="{1EFCE3CB-231A-40FF-B856-B69577BA0C88}"/>
              </a:ext>
            </a:extLst>
          </p:cNvPr>
          <p:cNvSpPr>
            <a:spLocks noGrp="1"/>
          </p:cNvSpPr>
          <p:nvPr>
            <p:ph type="sldNum" sz="quarter" idx="12"/>
          </p:nvPr>
        </p:nvSpPr>
        <p:spPr/>
        <p:txBody>
          <a:bodyPr/>
          <a:lstStyle/>
          <a:p>
            <a:fld id="{B8473C9A-9E91-4025-B5E2-D7B202510636}" type="slidenum">
              <a:rPr lang="en-US" smtClean="0"/>
              <a:t>5</a:t>
            </a:fld>
            <a:endParaRPr lang="en-US" dirty="0"/>
          </a:p>
        </p:txBody>
      </p:sp>
      <p:pic>
        <p:nvPicPr>
          <p:cNvPr id="10" name="Picture 9">
            <a:extLst>
              <a:ext uri="{FF2B5EF4-FFF2-40B4-BE49-F238E27FC236}">
                <a16:creationId xmlns:a16="http://schemas.microsoft.com/office/drawing/2014/main" id="{E74DA3C4-F2F7-4345-8A1B-D7D3601FB5A9}"/>
              </a:ext>
            </a:extLst>
          </p:cNvPr>
          <p:cNvPicPr>
            <a:picLocks noChangeAspect="1"/>
          </p:cNvPicPr>
          <p:nvPr/>
        </p:nvPicPr>
        <p:blipFill>
          <a:blip r:embed="rId5"/>
          <a:stretch>
            <a:fillRect/>
          </a:stretch>
        </p:blipFill>
        <p:spPr>
          <a:xfrm>
            <a:off x="462789" y="262138"/>
            <a:ext cx="1995792" cy="397658"/>
          </a:xfrm>
          <a:prstGeom prst="rect">
            <a:avLst/>
          </a:prstGeom>
        </p:spPr>
      </p:pic>
    </p:spTree>
    <p:extLst>
      <p:ext uri="{BB962C8B-B14F-4D97-AF65-F5344CB8AC3E}">
        <p14:creationId xmlns:p14="http://schemas.microsoft.com/office/powerpoint/2010/main" val="279434536"/>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DF05D-5034-4DC6-A334-0DEA65804A79}"/>
              </a:ext>
            </a:extLst>
          </p:cNvPr>
          <p:cNvSpPr>
            <a:spLocks noGrp="1"/>
          </p:cNvSpPr>
          <p:nvPr>
            <p:ph type="title"/>
          </p:nvPr>
        </p:nvSpPr>
        <p:spPr>
          <a:xfrm>
            <a:off x="2531857" y="74189"/>
            <a:ext cx="10515600" cy="720725"/>
          </a:xfrm>
        </p:spPr>
        <p:txBody>
          <a:bodyPr>
            <a:normAutofit/>
          </a:bodyPr>
          <a:lstStyle/>
          <a:p>
            <a:r>
              <a:rPr lang="pt" sz="2400" b="1" i="0" u="none" strike="noStrike" dirty="0">
                <a:highlight>
                  <a:srgbClr val="000000">
                    <a:alpha val="0"/>
                  </a:srgbClr>
                </a:highlight>
                <a:latin typeface="Arial"/>
              </a:rPr>
              <a:t>Länderkontext: Entwicklungsherausforderungen und Chancen</a:t>
            </a:r>
            <a:endParaRPr lang="en-US" sz="2400" dirty="0"/>
          </a:p>
        </p:txBody>
      </p:sp>
      <p:sp>
        <p:nvSpPr>
          <p:cNvPr id="3" name="Content Placeholder 2">
            <a:extLst>
              <a:ext uri="{FF2B5EF4-FFF2-40B4-BE49-F238E27FC236}">
                <a16:creationId xmlns:a16="http://schemas.microsoft.com/office/drawing/2014/main" id="{281EBEE0-492E-419C-8FAD-FE8529FC3CD2}"/>
              </a:ext>
            </a:extLst>
          </p:cNvPr>
          <p:cNvSpPr>
            <a:spLocks noGrp="1"/>
          </p:cNvSpPr>
          <p:nvPr>
            <p:ph idx="1"/>
          </p:nvPr>
        </p:nvSpPr>
        <p:spPr>
          <a:xfrm>
            <a:off x="466725" y="928120"/>
            <a:ext cx="5343525" cy="2062730"/>
          </a:xfrm>
        </p:spPr>
        <p:txBody>
          <a:bodyPr>
            <a:normAutofit/>
          </a:bodyPr>
          <a:lstStyle/>
          <a:p>
            <a:pPr marL="342900" indent="-342900" algn="just">
              <a:lnSpc>
                <a:spcPct val="100000"/>
              </a:lnSpc>
              <a:spcBef>
                <a:spcPts val="600"/>
              </a:spcBef>
              <a:spcAft>
                <a:spcPts val="600"/>
              </a:spcAft>
              <a:buFont typeface="+mj-lt"/>
              <a:buAutoNum type="arabicPeriod" startAt="3"/>
            </a:pPr>
            <a:r>
              <a:rPr lang="en-US" sz="1500" b="1" dirty="0">
                <a:latin typeface="Arial"/>
                <a:cs typeface="Times New Roman"/>
              </a:rPr>
              <a:t>Sehr begrenzte wirtschaftliche und räumliche Transformation in den letzten Jahrzehnten</a:t>
            </a:r>
            <a:r>
              <a:rPr lang="en-US" sz="1500" dirty="0">
                <a:latin typeface="Arial"/>
                <a:cs typeface="Times New Roman"/>
              </a:rPr>
              <a:t>. Bis 2019 waren etwa 70,1 % der Erwerbsbevölkerung noch in der Landwirtschaft (Subsistenz) tätig. Die räumliche Transformation hat sich zuletzt beschleunigt, aber rund 60 % der Bevölkerung lebt noch immer in ländlichen Gebieten – was trotz des erheblichen Einkommensgefälles zwischen Stadt und Land auf einen langsamen Migrationsprozess hindeutet.</a:t>
            </a:r>
            <a:endParaRPr lang="pt-BR" sz="1500" i="0" u="none" strike="noStrike" dirty="0">
              <a:latin typeface="Arial"/>
              <a:ea typeface="Calibri"/>
              <a:cs typeface="Times New Roman"/>
            </a:endParaRPr>
          </a:p>
          <a:p>
            <a:pPr marL="342900" indent="-342900" algn="just">
              <a:lnSpc>
                <a:spcPct val="100000"/>
              </a:lnSpc>
              <a:spcBef>
                <a:spcPts val="600"/>
              </a:spcBef>
              <a:spcAft>
                <a:spcPts val="600"/>
              </a:spcAft>
              <a:buFont typeface="+mj-lt"/>
              <a:buAutoNum type="arabicPeriod" startAt="3"/>
            </a:pPr>
            <a:endParaRPr lang="pt-BR" sz="1500" b="1" dirty="0">
              <a:latin typeface="Arial"/>
              <a:ea typeface="Calibri"/>
              <a:cs typeface="Times New Roman"/>
            </a:endParaRPr>
          </a:p>
        </p:txBody>
      </p:sp>
      <p:graphicFrame>
        <p:nvGraphicFramePr>
          <p:cNvPr id="5" name="Chart 4">
            <a:extLst>
              <a:ext uri="{FF2B5EF4-FFF2-40B4-BE49-F238E27FC236}">
                <a16:creationId xmlns:a16="http://schemas.microsoft.com/office/drawing/2014/main" id="{C9A68FB0-9030-48F4-90BB-6738D978B96B}"/>
              </a:ext>
            </a:extLst>
          </p:cNvPr>
          <p:cNvGraphicFramePr>
            <a:graphicFrameLocks/>
          </p:cNvGraphicFramePr>
          <p:nvPr>
            <p:extLst>
              <p:ext uri="{D42A27DB-BD31-4B8C-83A1-F6EECF244321}">
                <p14:modId xmlns:p14="http://schemas.microsoft.com/office/powerpoint/2010/main" val="1471947526"/>
              </p:ext>
            </p:extLst>
          </p:nvPr>
        </p:nvGraphicFramePr>
        <p:xfrm>
          <a:off x="3138487" y="2623264"/>
          <a:ext cx="2331720" cy="240055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ontent Placeholder 3">
            <a:extLst>
              <a:ext uri="{FF2B5EF4-FFF2-40B4-BE49-F238E27FC236}">
                <a16:creationId xmlns:a16="http://schemas.microsoft.com/office/drawing/2014/main" id="{589B26A9-2176-422F-B50B-B5ACA70F2700}"/>
              </a:ext>
            </a:extLst>
          </p:cNvPr>
          <p:cNvGraphicFramePr>
            <a:graphicFrameLocks/>
          </p:cNvGraphicFramePr>
          <p:nvPr>
            <p:extLst>
              <p:ext uri="{D42A27DB-BD31-4B8C-83A1-F6EECF244321}">
                <p14:modId xmlns:p14="http://schemas.microsoft.com/office/powerpoint/2010/main" val="1271775604"/>
              </p:ext>
            </p:extLst>
          </p:nvPr>
        </p:nvGraphicFramePr>
        <p:xfrm>
          <a:off x="690353" y="4819200"/>
          <a:ext cx="2582837" cy="183155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Chart 6">
            <a:extLst>
              <a:ext uri="{FF2B5EF4-FFF2-40B4-BE49-F238E27FC236}">
                <a16:creationId xmlns:a16="http://schemas.microsoft.com/office/drawing/2014/main" id="{CD771C82-20D9-438B-98BF-9F1AA3BE667C}"/>
              </a:ext>
            </a:extLst>
          </p:cNvPr>
          <p:cNvGraphicFramePr>
            <a:graphicFrameLocks/>
          </p:cNvGraphicFramePr>
          <p:nvPr>
            <p:extLst>
              <p:ext uri="{D42A27DB-BD31-4B8C-83A1-F6EECF244321}">
                <p14:modId xmlns:p14="http://schemas.microsoft.com/office/powerpoint/2010/main" val="2249426108"/>
              </p:ext>
            </p:extLst>
          </p:nvPr>
        </p:nvGraphicFramePr>
        <p:xfrm>
          <a:off x="653430" y="2724477"/>
          <a:ext cx="2334010" cy="2210157"/>
        </p:xfrm>
        <a:graphic>
          <a:graphicData uri="http://schemas.openxmlformats.org/drawingml/2006/chart">
            <c:chart xmlns:c="http://schemas.openxmlformats.org/drawingml/2006/chart" xmlns:r="http://schemas.openxmlformats.org/officeDocument/2006/relationships" r:id="rId5"/>
          </a:graphicData>
        </a:graphic>
      </p:graphicFrame>
      <p:sp>
        <p:nvSpPr>
          <p:cNvPr id="8" name="Content Placeholder 2">
            <a:extLst>
              <a:ext uri="{FF2B5EF4-FFF2-40B4-BE49-F238E27FC236}">
                <a16:creationId xmlns:a16="http://schemas.microsoft.com/office/drawing/2014/main" id="{D4AF8D4F-8551-458C-8226-39194518EAB1}"/>
              </a:ext>
            </a:extLst>
          </p:cNvPr>
          <p:cNvSpPr txBox="1">
            <a:spLocks/>
          </p:cNvSpPr>
          <p:nvPr/>
        </p:nvSpPr>
        <p:spPr>
          <a:xfrm>
            <a:off x="6096000" y="928120"/>
            <a:ext cx="5343525"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US" sz="1400" kern="1200">
                <a:solidFill>
                  <a:schemeClr val="tx1"/>
                </a:solidFill>
                <a:latin typeface="Arial" panose="020B0604020202020204" pitchFamily="34" charset="0"/>
                <a:ea typeface="+mn-ea"/>
                <a:cs typeface="Arial" panose="020B0604020202020204" pitchFamily="34" charset="0"/>
              </a:defRPr>
            </a:lvl1pPr>
            <a:lvl2pPr marL="2286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Arial" panose="020B0604020202020204" pitchFamily="34" charset="0"/>
                <a:ea typeface="+mn-ea"/>
                <a:cs typeface="Arial" panose="020B0604020202020204" pitchFamily="34" charset="0"/>
              </a:defRPr>
            </a:lvl2pPr>
            <a:lvl3pPr marL="228600" indent="-22860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gn="just">
              <a:lnSpc>
                <a:spcPct val="100000"/>
              </a:lnSpc>
              <a:spcBef>
                <a:spcPts val="600"/>
              </a:spcBef>
              <a:spcAft>
                <a:spcPts val="600"/>
              </a:spcAft>
              <a:buFont typeface="+mj-lt"/>
              <a:buAutoNum type="arabicPeriod" startAt="4"/>
            </a:pPr>
            <a:r>
              <a:rPr lang="en-US" sz="1500" b="1" dirty="0">
                <a:highlight>
                  <a:srgbClr val="000000">
                    <a:alpha val="0"/>
                  </a:srgbClr>
                </a:highlight>
                <a:latin typeface="Arial"/>
                <a:ea typeface="Calibri"/>
                <a:cs typeface="Times New Roman"/>
              </a:rPr>
              <a:t>Das Aufkommen des Erdgases bietet eine Chance zur wirtschaftlichen Transformation, aber diese wird nicht von selbst eintreten. </a:t>
            </a:r>
            <a:r>
              <a:rPr lang="en-US" sz="1500" dirty="0">
                <a:highlight>
                  <a:srgbClr val="000000">
                    <a:alpha val="0"/>
                  </a:srgbClr>
                </a:highlight>
                <a:latin typeface="Arial"/>
                <a:ea typeface="Calibri"/>
                <a:cs typeface="Times New Roman"/>
              </a:rPr>
              <a:t>Das reale BIP könnte bis 2033 in einem optimistischen Szenario 1,63-mal höher sein, und selbst bei Verzögerungen bei der Umsetzung des Mamba-Projekts wäre das reale BIP ohne LNG-Produktion um 60 % höher. Damit würde das BIP pro Kopf bis 2033 fast 1.000 USD erreichen (ausgehend von geschätzten 485 USD für 2020).</a:t>
            </a:r>
            <a:endParaRPr lang="pt-BR" sz="1500" dirty="0"/>
          </a:p>
        </p:txBody>
      </p:sp>
      <p:graphicFrame>
        <p:nvGraphicFramePr>
          <p:cNvPr id="9" name="Chart 8">
            <a:extLst>
              <a:ext uri="{FF2B5EF4-FFF2-40B4-BE49-F238E27FC236}">
                <a16:creationId xmlns:a16="http://schemas.microsoft.com/office/drawing/2014/main" id="{B945B5D1-6043-4EC3-814D-734603086A64}"/>
              </a:ext>
            </a:extLst>
          </p:cNvPr>
          <p:cNvGraphicFramePr/>
          <p:nvPr>
            <p:extLst>
              <p:ext uri="{D42A27DB-BD31-4B8C-83A1-F6EECF244321}">
                <p14:modId xmlns:p14="http://schemas.microsoft.com/office/powerpoint/2010/main" val="3449040667"/>
              </p:ext>
            </p:extLst>
          </p:nvPr>
        </p:nvGraphicFramePr>
        <p:xfrm>
          <a:off x="6575947" y="3161433"/>
          <a:ext cx="4601247" cy="3099517"/>
        </p:xfrm>
        <a:graphic>
          <a:graphicData uri="http://schemas.openxmlformats.org/drawingml/2006/chart">
            <c:chart xmlns:c="http://schemas.openxmlformats.org/drawingml/2006/chart" xmlns:r="http://schemas.openxmlformats.org/officeDocument/2006/relationships" r:id="rId6"/>
          </a:graphicData>
        </a:graphic>
      </p:graphicFrame>
      <p:sp>
        <p:nvSpPr>
          <p:cNvPr id="12" name="Footer Placeholder 11">
            <a:extLst>
              <a:ext uri="{FF2B5EF4-FFF2-40B4-BE49-F238E27FC236}">
                <a16:creationId xmlns:a16="http://schemas.microsoft.com/office/drawing/2014/main" id="{73A9F09F-4CEE-491F-BBC7-7BD60569AFEF}"/>
              </a:ext>
            </a:extLst>
          </p:cNvPr>
          <p:cNvSpPr>
            <a:spLocks noGrp="1"/>
          </p:cNvSpPr>
          <p:nvPr>
            <p:ph type="ftr" sz="quarter" idx="11"/>
          </p:nvPr>
        </p:nvSpPr>
        <p:spPr/>
        <p:txBody>
          <a:bodyPr/>
          <a:lstStyle/>
          <a:p>
            <a:r>
              <a:rPr lang="en-US"/>
              <a:t>CPF 2023-2027. Öffentliche Version. Maputo, Mai 2022.</a:t>
            </a:r>
            <a:endParaRPr lang="en-US" dirty="0"/>
          </a:p>
        </p:txBody>
      </p:sp>
      <p:sp>
        <p:nvSpPr>
          <p:cNvPr id="13" name="Slide Number Placeholder 12">
            <a:extLst>
              <a:ext uri="{FF2B5EF4-FFF2-40B4-BE49-F238E27FC236}">
                <a16:creationId xmlns:a16="http://schemas.microsoft.com/office/drawing/2014/main" id="{2EC9E5E6-1F15-44BC-9EAF-EF7E1CD44E46}"/>
              </a:ext>
            </a:extLst>
          </p:cNvPr>
          <p:cNvSpPr>
            <a:spLocks noGrp="1"/>
          </p:cNvSpPr>
          <p:nvPr>
            <p:ph type="sldNum" sz="quarter" idx="12"/>
          </p:nvPr>
        </p:nvSpPr>
        <p:spPr/>
        <p:txBody>
          <a:bodyPr/>
          <a:lstStyle/>
          <a:p>
            <a:fld id="{B8473C9A-9E91-4025-B5E2-D7B202510636}" type="slidenum">
              <a:rPr lang="en-US" smtClean="0"/>
              <a:t>6</a:t>
            </a:fld>
            <a:endParaRPr lang="en-US" dirty="0"/>
          </a:p>
        </p:txBody>
      </p:sp>
      <p:pic>
        <p:nvPicPr>
          <p:cNvPr id="4" name="Picture 3">
            <a:extLst>
              <a:ext uri="{FF2B5EF4-FFF2-40B4-BE49-F238E27FC236}">
                <a16:creationId xmlns:a16="http://schemas.microsoft.com/office/drawing/2014/main" id="{E0A0AE54-87D8-42E6-8DE7-271AD90217CA}"/>
              </a:ext>
            </a:extLst>
          </p:cNvPr>
          <p:cNvPicPr>
            <a:picLocks noChangeAspect="1"/>
          </p:cNvPicPr>
          <p:nvPr/>
        </p:nvPicPr>
        <p:blipFill>
          <a:blip r:embed="rId7"/>
          <a:stretch>
            <a:fillRect/>
          </a:stretch>
        </p:blipFill>
        <p:spPr>
          <a:xfrm>
            <a:off x="82631" y="202883"/>
            <a:ext cx="2316681" cy="463336"/>
          </a:xfrm>
          <a:prstGeom prst="rect">
            <a:avLst/>
          </a:prstGeom>
        </p:spPr>
      </p:pic>
    </p:spTree>
    <p:extLst>
      <p:ext uri="{BB962C8B-B14F-4D97-AF65-F5344CB8AC3E}">
        <p14:creationId xmlns:p14="http://schemas.microsoft.com/office/powerpoint/2010/main" val="1570841410"/>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4B562-863E-411E-8C8D-327DA3E88280}"/>
              </a:ext>
            </a:extLst>
          </p:cNvPr>
          <p:cNvSpPr>
            <a:spLocks noGrp="1"/>
          </p:cNvSpPr>
          <p:nvPr>
            <p:ph type="title"/>
          </p:nvPr>
        </p:nvSpPr>
        <p:spPr>
          <a:xfrm>
            <a:off x="2550928" y="102307"/>
            <a:ext cx="11053131" cy="547685"/>
          </a:xfrm>
        </p:spPr>
        <p:txBody>
          <a:bodyPr>
            <a:noAutofit/>
          </a:bodyPr>
          <a:lstStyle/>
          <a:p>
            <a:pPr rtl="0"/>
            <a:r>
              <a:rPr lang="en-US" sz="2400" b="1" i="0" u="none" strike="noStrike" dirty="0">
                <a:highlight>
                  <a:srgbClr val="000000">
                    <a:alpha val="0"/>
                  </a:srgbClr>
                </a:highlight>
                <a:latin typeface="Arial"/>
              </a:rPr>
              <a:t>Länderkontext: Entwicklungsherausforderungen und Chancen</a:t>
            </a:r>
            <a:endParaRPr lang="en-US" sz="2400" dirty="0"/>
          </a:p>
        </p:txBody>
      </p:sp>
      <p:sp>
        <p:nvSpPr>
          <p:cNvPr id="7" name="Content Placeholder 6">
            <a:extLst>
              <a:ext uri="{FF2B5EF4-FFF2-40B4-BE49-F238E27FC236}">
                <a16:creationId xmlns:a16="http://schemas.microsoft.com/office/drawing/2014/main" id="{FF5C214D-5EAE-4BCF-B630-4930BE12178E}"/>
              </a:ext>
            </a:extLst>
          </p:cNvPr>
          <p:cNvSpPr>
            <a:spLocks noGrp="1"/>
          </p:cNvSpPr>
          <p:nvPr>
            <p:ph idx="1"/>
          </p:nvPr>
        </p:nvSpPr>
        <p:spPr>
          <a:xfrm>
            <a:off x="298515" y="717938"/>
            <a:ext cx="11594969" cy="5570466"/>
          </a:xfrm>
        </p:spPr>
        <p:txBody>
          <a:bodyPr>
            <a:noAutofit/>
          </a:bodyPr>
          <a:lstStyle/>
          <a:p>
            <a:pPr marL="342900" indent="-342900" algn="just" rtl="0">
              <a:lnSpc>
                <a:spcPct val="100000"/>
              </a:lnSpc>
              <a:spcBef>
                <a:spcPct val="0"/>
              </a:spcBef>
              <a:spcAft>
                <a:spcPts val="600"/>
              </a:spcAft>
              <a:buFont typeface="+mj-lt"/>
              <a:buAutoNum type="arabicPeriod" startAt="5"/>
            </a:pPr>
            <a:r>
              <a:rPr lang="en-US" sz="1600" b="1" i="0" u="none" strike="noStrike" dirty="0">
                <a:highlight>
                  <a:srgbClr val="000000">
                    <a:alpha val="0"/>
                  </a:srgbClr>
                </a:highlight>
                <a:latin typeface="Arial"/>
                <a:ea typeface="Calibri"/>
                <a:cs typeface="Times New Roman"/>
              </a:rPr>
              <a:t>Jüngste wirtschaftliche Entwicklungen. </a:t>
            </a:r>
            <a:r>
              <a:rPr lang="en-US" sz="1600" i="0" u="none" strike="noStrike" dirty="0">
                <a:highlight>
                  <a:srgbClr val="000000">
                    <a:alpha val="0"/>
                  </a:srgbClr>
                </a:highlight>
                <a:latin typeface="Arial"/>
                <a:ea typeface="Calibri"/>
                <a:cs typeface="Times New Roman"/>
              </a:rPr>
              <a:t>Die kurzfristige makroökonomische Lage ist stabil, das Wachstum hat jedoch in den letzten Jahren stagniert. Das Land weist ein hohes Schuldenbelastungsrisiko auf, doch wird die Verschuldung unter Berücksichtigung potenzieller LNG-Einnahmen in einem vorausschauenden Sinne als tragfähig eingestuft.</a:t>
            </a:r>
          </a:p>
          <a:p>
            <a:pPr marL="0" indent="0" algn="just" rtl="0">
              <a:lnSpc>
                <a:spcPct val="100000"/>
              </a:lnSpc>
              <a:spcBef>
                <a:spcPct val="0"/>
              </a:spcBef>
              <a:spcAft>
                <a:spcPts val="600"/>
              </a:spcAft>
              <a:buNone/>
            </a:pPr>
            <a:r>
              <a:rPr lang="en-US" sz="1600" b="1" i="0" u="none" strike="noStrike" dirty="0">
                <a:highlight>
                  <a:srgbClr val="000000">
                    <a:alpha val="0"/>
                  </a:srgbClr>
                </a:highlight>
                <a:latin typeface="Arial"/>
                <a:ea typeface="Calibri"/>
                <a:cs typeface="Times New Roman"/>
              </a:rPr>
              <a:t>	Die mittel- und langfristigen Wachstumsaussichten sind positiv, unterliegen jedoch erheblichen Risiken</a:t>
            </a:r>
            <a:r>
              <a:rPr lang="en-US" sz="1600" i="0" u="none" strike="noStrike" dirty="0">
                <a:highlight>
                  <a:srgbClr val="000000">
                    <a:alpha val="0"/>
                  </a:srgbClr>
                </a:highlight>
                <a:latin typeface="Arial"/>
                <a:ea typeface="Calibri"/>
                <a:cs typeface="Times New Roman"/>
              </a:rPr>
              <a:t>, darunter eine neue 	Covid-19-Welle, neue Klimaschocks, ein Wiederaufflammen des Konflikts im Norden und die Auswirkungen des Krieges in der 	Ukraine.</a:t>
            </a:r>
          </a:p>
          <a:p>
            <a:pPr marL="0" indent="0" algn="just" rtl="0">
              <a:lnSpc>
                <a:spcPct val="100000"/>
              </a:lnSpc>
              <a:spcBef>
                <a:spcPct val="0"/>
              </a:spcBef>
              <a:spcAft>
                <a:spcPts val="600"/>
              </a:spcAft>
              <a:buNone/>
            </a:pPr>
            <a:r>
              <a:rPr lang="en-US" sz="1600" i="0" u="none" strike="noStrike" dirty="0">
                <a:highlight>
                  <a:srgbClr val="000000">
                    <a:alpha val="0"/>
                  </a:srgbClr>
                </a:highlight>
                <a:latin typeface="Arial"/>
                <a:ea typeface="Calibri"/>
                <a:cs typeface="Times New Roman"/>
              </a:rPr>
              <a:t>	</a:t>
            </a:r>
            <a:r>
              <a:rPr lang="en-US" sz="1600" b="1" i="0" u="none" strike="noStrike" dirty="0">
                <a:highlight>
                  <a:srgbClr val="000000">
                    <a:alpha val="0"/>
                  </a:srgbClr>
                </a:highlight>
                <a:latin typeface="Arial"/>
                <a:ea typeface="Calibri"/>
                <a:cs typeface="Times New Roman"/>
              </a:rPr>
              <a:t>Makroökonomische Risiken und Auswirkungen auf die Armut sind erheblich </a:t>
            </a:r>
            <a:r>
              <a:rPr lang="en-US" sz="1600" i="0" u="none" strike="noStrike" dirty="0">
                <a:highlight>
                  <a:srgbClr val="000000">
                    <a:alpha val="0"/>
                  </a:srgbClr>
                </a:highlight>
                <a:latin typeface="Arial"/>
                <a:ea typeface="Calibri"/>
                <a:cs typeface="Times New Roman"/>
              </a:rPr>
              <a:t>(Inflation, Zinssätze, fiskalischer Druck und 	Zunahme des Handelsbilanzdefizits). Die Auswirkungen auf die Armut werden direkt (Nahrungsmittel- und Kraftstoffpreise) und indirekt 	(Beschäftigungsschaffung) sein, aber es wird erwartet, dass sie sich in städtischen und ländlichen Gebieten sowie bei 	verschiedenen Armutsniveaus unterschiedlich auswirken.</a:t>
            </a:r>
            <a:r>
              <a:rPr lang="pt" sz="1600" dirty="0">
                <a:highlight>
                  <a:srgbClr val="000000">
                    <a:alpha val="0"/>
                  </a:srgbClr>
                </a:highlight>
                <a:latin typeface="Arial"/>
                <a:cs typeface="Times New Roman"/>
              </a:rPr>
              <a:t>	</a:t>
            </a:r>
            <a:endParaRPr lang="en-US" sz="1600" dirty="0">
              <a:highlight>
                <a:srgbClr val="000000">
                  <a:alpha val="0"/>
                </a:srgbClr>
              </a:highlight>
              <a:latin typeface="Arial"/>
              <a:cs typeface="Times New Roman"/>
            </a:endParaRPr>
          </a:p>
          <a:p>
            <a:pPr marL="0" indent="0" algn="just">
              <a:lnSpc>
                <a:spcPct val="100000"/>
              </a:lnSpc>
              <a:spcBef>
                <a:spcPct val="0"/>
              </a:spcBef>
              <a:spcAft>
                <a:spcPts val="600"/>
              </a:spcAft>
              <a:buNone/>
            </a:pPr>
            <a:endParaRPr lang="en-US" sz="1100" dirty="0">
              <a:latin typeface="+mn-lt"/>
              <a:ea typeface="Calibri" panose="020F0502020204030204" pitchFamily="34" charset="0"/>
              <a:cs typeface="Times New Roman"/>
            </a:endParaRPr>
          </a:p>
        </p:txBody>
      </p:sp>
      <p:graphicFrame>
        <p:nvGraphicFramePr>
          <p:cNvPr id="5" name="Chart 4">
            <a:extLst>
              <a:ext uri="{FF2B5EF4-FFF2-40B4-BE49-F238E27FC236}">
                <a16:creationId xmlns:a16="http://schemas.microsoft.com/office/drawing/2014/main" id="{3D41A04A-4887-4AD2-B706-BBE0CC35588A}"/>
              </a:ext>
            </a:extLst>
          </p:cNvPr>
          <p:cNvGraphicFramePr>
            <a:graphicFrameLocks/>
          </p:cNvGraphicFramePr>
          <p:nvPr>
            <p:extLst>
              <p:ext uri="{D42A27DB-BD31-4B8C-83A1-F6EECF244321}">
                <p14:modId xmlns:p14="http://schemas.microsoft.com/office/powerpoint/2010/main" val="3151101138"/>
              </p:ext>
            </p:extLst>
          </p:nvPr>
        </p:nvGraphicFramePr>
        <p:xfrm>
          <a:off x="4231634" y="3503171"/>
          <a:ext cx="3474720" cy="263900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Chart 5">
            <a:extLst>
              <a:ext uri="{FF2B5EF4-FFF2-40B4-BE49-F238E27FC236}">
                <a16:creationId xmlns:a16="http://schemas.microsoft.com/office/drawing/2014/main" id="{F2CE7B03-3D15-45B4-B378-C6A4BB74DD36}"/>
              </a:ext>
            </a:extLst>
          </p:cNvPr>
          <p:cNvGraphicFramePr/>
          <p:nvPr>
            <p:extLst>
              <p:ext uri="{D42A27DB-BD31-4B8C-83A1-F6EECF244321}">
                <p14:modId xmlns:p14="http://schemas.microsoft.com/office/powerpoint/2010/main" val="411118899"/>
              </p:ext>
            </p:extLst>
          </p:nvPr>
        </p:nvGraphicFramePr>
        <p:xfrm>
          <a:off x="442429" y="3641656"/>
          <a:ext cx="3474720" cy="250570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B25FF02-534B-44B0-808F-BC53F910134C}"/>
              </a:ext>
            </a:extLst>
          </p:cNvPr>
          <p:cNvGraphicFramePr>
            <a:graphicFrameLocks/>
          </p:cNvGraphicFramePr>
          <p:nvPr>
            <p:extLst>
              <p:ext uri="{D42A27DB-BD31-4B8C-83A1-F6EECF244321}">
                <p14:modId xmlns:p14="http://schemas.microsoft.com/office/powerpoint/2010/main" val="1247624014"/>
              </p:ext>
            </p:extLst>
          </p:nvPr>
        </p:nvGraphicFramePr>
        <p:xfrm>
          <a:off x="8274853" y="3429000"/>
          <a:ext cx="3149854" cy="2773496"/>
        </p:xfrm>
        <a:graphic>
          <a:graphicData uri="http://schemas.openxmlformats.org/drawingml/2006/chart">
            <c:chart xmlns:c="http://schemas.openxmlformats.org/drawingml/2006/chart" xmlns:r="http://schemas.openxmlformats.org/officeDocument/2006/relationships" r:id="rId4"/>
          </a:graphicData>
        </a:graphic>
      </p:graphicFrame>
      <p:sp>
        <p:nvSpPr>
          <p:cNvPr id="11" name="Footer Placeholder 10">
            <a:extLst>
              <a:ext uri="{FF2B5EF4-FFF2-40B4-BE49-F238E27FC236}">
                <a16:creationId xmlns:a16="http://schemas.microsoft.com/office/drawing/2014/main" id="{5BAE0BB4-F29E-449A-990E-1183D83444ED}"/>
              </a:ext>
            </a:extLst>
          </p:cNvPr>
          <p:cNvSpPr>
            <a:spLocks noGrp="1"/>
          </p:cNvSpPr>
          <p:nvPr>
            <p:ph type="ftr" sz="quarter" idx="11"/>
          </p:nvPr>
        </p:nvSpPr>
        <p:spPr/>
        <p:txBody>
          <a:bodyPr/>
          <a:lstStyle/>
          <a:p>
            <a:r>
              <a:rPr lang="en-US"/>
              <a:t>CPF 2023-2027. Öffentliche Version. Maputo, Mai 2022.</a:t>
            </a:r>
            <a:endParaRPr lang="en-US" dirty="0"/>
          </a:p>
        </p:txBody>
      </p:sp>
      <p:sp>
        <p:nvSpPr>
          <p:cNvPr id="12" name="Slide Number Placeholder 11">
            <a:extLst>
              <a:ext uri="{FF2B5EF4-FFF2-40B4-BE49-F238E27FC236}">
                <a16:creationId xmlns:a16="http://schemas.microsoft.com/office/drawing/2014/main" id="{BF81D8F4-0773-4704-86D5-9D8A927D0707}"/>
              </a:ext>
            </a:extLst>
          </p:cNvPr>
          <p:cNvSpPr>
            <a:spLocks noGrp="1"/>
          </p:cNvSpPr>
          <p:nvPr>
            <p:ph type="sldNum" sz="quarter" idx="12"/>
          </p:nvPr>
        </p:nvSpPr>
        <p:spPr/>
        <p:txBody>
          <a:bodyPr/>
          <a:lstStyle/>
          <a:p>
            <a:fld id="{B8473C9A-9E91-4025-B5E2-D7B202510636}" type="slidenum">
              <a:rPr lang="en-US" smtClean="0"/>
              <a:t>7</a:t>
            </a:fld>
            <a:endParaRPr lang="en-US" dirty="0"/>
          </a:p>
        </p:txBody>
      </p:sp>
      <p:pic>
        <p:nvPicPr>
          <p:cNvPr id="3" name="Picture 2">
            <a:extLst>
              <a:ext uri="{FF2B5EF4-FFF2-40B4-BE49-F238E27FC236}">
                <a16:creationId xmlns:a16="http://schemas.microsoft.com/office/drawing/2014/main" id="{17C60831-09AB-497C-8558-6E05650896B0}"/>
              </a:ext>
            </a:extLst>
          </p:cNvPr>
          <p:cNvPicPr>
            <a:picLocks noChangeAspect="1"/>
          </p:cNvPicPr>
          <p:nvPr/>
        </p:nvPicPr>
        <p:blipFill>
          <a:blip r:embed="rId5"/>
          <a:stretch>
            <a:fillRect/>
          </a:stretch>
        </p:blipFill>
        <p:spPr>
          <a:xfrm>
            <a:off x="104401" y="89392"/>
            <a:ext cx="2316681" cy="463336"/>
          </a:xfrm>
          <a:prstGeom prst="rect">
            <a:avLst/>
          </a:prstGeom>
        </p:spPr>
      </p:pic>
    </p:spTree>
    <p:extLst>
      <p:ext uri="{BB962C8B-B14F-4D97-AF65-F5344CB8AC3E}">
        <p14:creationId xmlns:p14="http://schemas.microsoft.com/office/powerpoint/2010/main" val="2098239625"/>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A676C-DAD8-44C2-9338-EA1C8E264E64}"/>
              </a:ext>
            </a:extLst>
          </p:cNvPr>
          <p:cNvSpPr>
            <a:spLocks noGrp="1"/>
          </p:cNvSpPr>
          <p:nvPr>
            <p:ph type="title"/>
          </p:nvPr>
        </p:nvSpPr>
        <p:spPr>
          <a:xfrm>
            <a:off x="2689720" y="340605"/>
            <a:ext cx="9094385" cy="701675"/>
          </a:xfrm>
        </p:spPr>
        <p:txBody>
          <a:bodyPr>
            <a:noAutofit/>
          </a:bodyPr>
          <a:lstStyle/>
          <a:p>
            <a:r>
              <a:rPr lang="en-US" b="1" i="0" u="none" strike="noStrike" dirty="0">
                <a:highlight>
                  <a:srgbClr val="000000">
                    <a:alpha val="0"/>
                  </a:srgbClr>
                </a:highlight>
                <a:latin typeface="Arial"/>
              </a:rPr>
              <a:t>Systematische Länderdiagnose (SCD) der Weltbank und Empfehlungen – Zusammenfassung</a:t>
            </a:r>
            <a:endParaRPr lang="en-US" dirty="0"/>
          </a:p>
        </p:txBody>
      </p:sp>
      <p:sp>
        <p:nvSpPr>
          <p:cNvPr id="3" name="Content Placeholder 2">
            <a:extLst>
              <a:ext uri="{FF2B5EF4-FFF2-40B4-BE49-F238E27FC236}">
                <a16:creationId xmlns:a16="http://schemas.microsoft.com/office/drawing/2014/main" id="{BD23C6FE-0CFA-4E2B-A31B-8491CCC3C067}"/>
              </a:ext>
            </a:extLst>
          </p:cNvPr>
          <p:cNvSpPr>
            <a:spLocks noGrp="1"/>
          </p:cNvSpPr>
          <p:nvPr>
            <p:ph idx="1"/>
          </p:nvPr>
        </p:nvSpPr>
        <p:spPr>
          <a:xfrm>
            <a:off x="536986" y="1259226"/>
            <a:ext cx="5738870" cy="5267955"/>
          </a:xfrm>
        </p:spPr>
        <p:txBody>
          <a:bodyPr>
            <a:noAutofit/>
          </a:bodyPr>
          <a:lstStyle/>
          <a:p>
            <a:pPr algn="just" rtl="0"/>
            <a:r>
              <a:rPr lang="en-US" sz="1700" b="0" i="0" u="none" strike="noStrike" dirty="0">
                <a:highlight>
                  <a:srgbClr val="000000">
                    <a:alpha val="0"/>
                  </a:srgbClr>
                </a:highlight>
                <a:latin typeface="Arial"/>
              </a:rPr>
              <a:t>Die Aktualisierung der SCD für Mosambik kam zu dem Schluss, dass die wichtigsten Herausforderungen des Landes insgesamt gegenüber der vorherigen Diagnose (2016) unverändert geblieben sind.</a:t>
            </a:r>
          </a:p>
          <a:p>
            <a:pPr algn="just" rtl="0"/>
            <a:r>
              <a:rPr lang="en-US" sz="1700" b="0" i="0" u="none" strike="noStrike" dirty="0">
                <a:highlight>
                  <a:srgbClr val="000000">
                    <a:alpha val="0"/>
                  </a:srgbClr>
                </a:highlight>
                <a:latin typeface="Arial"/>
              </a:rPr>
              <a:t>Um die Entwicklung zu beschleunigen, muss Mosambik auf einen inklusiveren, nachhaltigeren und widerstandsfähigeren Entwicklungspfad (GRID) übergehen.</a:t>
            </a:r>
          </a:p>
          <a:p>
            <a:pPr algn="just" rtl="0"/>
            <a:r>
              <a:rPr lang="en-US" sz="1700" b="1" i="0" u="none" strike="noStrike" dirty="0">
                <a:highlight>
                  <a:srgbClr val="000000">
                    <a:alpha val="0"/>
                  </a:srgbClr>
                </a:highlight>
                <a:latin typeface="Arial"/>
              </a:rPr>
              <a:t>Beschleunigtes Wachstum ist wichtig, es besteht jedoch die Notwendigkeit, das Modell inklusiver zu gestalten</a:t>
            </a:r>
            <a:r>
              <a:rPr lang="en-US" sz="1700" b="0" i="0" u="none" strike="noStrike" dirty="0">
                <a:highlight>
                  <a:srgbClr val="000000">
                    <a:alpha val="0"/>
                  </a:srgbClr>
                </a:highlight>
                <a:latin typeface="Arial"/>
              </a:rPr>
              <a:t>. Dies erfordert eine beschleunigte strukturelle Transformation, größere und bessere Investitionen in die Bevölkerung sowie eine Reform der zentralen Institutionen zur Verbesserung der Regierungseffizienz und -führung – mit einer verbesserten Reaktion des Landes auf Klima- und Gesundheitsrisiken sowie der Prävention von Konflikten und Gewalt.</a:t>
            </a:r>
          </a:p>
          <a:p>
            <a:pPr algn="just" rtl="0"/>
            <a:r>
              <a:rPr lang="en-US" sz="1700" b="0" i="0" u="none" strike="noStrike" dirty="0">
                <a:highlight>
                  <a:srgbClr val="000000">
                    <a:alpha val="0"/>
                  </a:srgbClr>
                </a:highlight>
                <a:latin typeface="Arial"/>
              </a:rPr>
              <a:t>Die zur Erreichung dieser Ziele erforderlichen Reformen und Maßnahmen wurden in der SCD-Aktualisierung auf der Grundlage aktueller WBG-Studien identifiziert.</a:t>
            </a:r>
            <a:endParaRPr lang="en-US" sz="1700" dirty="0"/>
          </a:p>
        </p:txBody>
      </p:sp>
      <p:pic>
        <p:nvPicPr>
          <p:cNvPr id="5" name="Content Placeholder 6">
            <a:extLst>
              <a:ext uri="{FF2B5EF4-FFF2-40B4-BE49-F238E27FC236}">
                <a16:creationId xmlns:a16="http://schemas.microsoft.com/office/drawing/2014/main" id="{283EB72C-05AB-42AE-8FAE-631966134AA5}"/>
              </a:ext>
            </a:extLst>
          </p:cNvPr>
          <p:cNvPicPr>
            <a:picLocks/>
          </p:cNvPicPr>
          <p:nvPr/>
        </p:nvPicPr>
        <p:blipFill rotWithShape="1">
          <a:blip r:embed="rId2">
            <a:extLst>
              <a:ext uri="{28A0092B-C50C-407E-A947-70E740481C1C}">
                <a14:useLocalDpi xmlns:a14="http://schemas.microsoft.com/office/drawing/2010/main" val="0"/>
              </a:ext>
            </a:extLst>
          </a:blip>
          <a:srcRect l="6213" t="2555" r="5327"/>
          <a:stretch/>
        </p:blipFill>
        <p:spPr bwMode="auto">
          <a:xfrm>
            <a:off x="6462659" y="1602641"/>
            <a:ext cx="5192355" cy="4924157"/>
          </a:xfrm>
          <a:prstGeom prst="rect">
            <a:avLst/>
          </a:prstGeom>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113BE710-35E0-4B80-8E28-6785528D3EDB}"/>
              </a:ext>
            </a:extLst>
          </p:cNvPr>
          <p:cNvSpPr txBox="1">
            <a:spLocks/>
          </p:cNvSpPr>
          <p:nvPr/>
        </p:nvSpPr>
        <p:spPr>
          <a:xfrm>
            <a:off x="6702014" y="1081353"/>
            <a:ext cx="4953000" cy="7016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2300" b="1" kern="1200">
                <a:solidFill>
                  <a:schemeClr val="accent1">
                    <a:lumMod val="75000"/>
                  </a:schemeClr>
                </a:solidFill>
                <a:latin typeface="Arial"/>
                <a:ea typeface="+mj-ea"/>
                <a:cs typeface="Arial"/>
              </a:defRPr>
            </a:lvl1pPr>
          </a:lstStyle>
          <a:p>
            <a:r>
              <a:rPr lang="en-US" sz="1050" dirty="0"/>
              <a:t>Systematische Länderdiagnose (SCD) der Weltbank gemäß den 2016 identifizierten Zielen</a:t>
            </a:r>
            <a:br/>
            <a:r>
              <a:rPr lang="en-US" sz="1050" dirty="0"/>
              <a:t/>
            </a:r>
            <a:br/>
            <a:r>
              <a:rPr lang="en-US" sz="1050" dirty="0"/>
              <a:t/>
            </a:r>
            <a:endParaRPr lang="pt-BR" sz="1050" dirty="0"/>
          </a:p>
        </p:txBody>
      </p:sp>
      <p:sp>
        <p:nvSpPr>
          <p:cNvPr id="9" name="Footer Placeholder 8">
            <a:extLst>
              <a:ext uri="{FF2B5EF4-FFF2-40B4-BE49-F238E27FC236}">
                <a16:creationId xmlns:a16="http://schemas.microsoft.com/office/drawing/2014/main" id="{DAC65E50-89AB-4177-9273-DB727ADF80FD}"/>
              </a:ext>
            </a:extLst>
          </p:cNvPr>
          <p:cNvSpPr>
            <a:spLocks noGrp="1"/>
          </p:cNvSpPr>
          <p:nvPr>
            <p:ph type="ftr" sz="quarter" idx="11"/>
          </p:nvPr>
        </p:nvSpPr>
        <p:spPr/>
        <p:txBody>
          <a:bodyPr/>
          <a:lstStyle/>
          <a:p>
            <a:r>
              <a:rPr lang="en-US"/>
              <a:t>CPF 2023-2027. Öffentliche Version. Maputo, Mai 2022.</a:t>
            </a:r>
            <a:endParaRPr lang="en-US" dirty="0"/>
          </a:p>
        </p:txBody>
      </p:sp>
      <p:sp>
        <p:nvSpPr>
          <p:cNvPr id="10" name="Slide Number Placeholder 9">
            <a:extLst>
              <a:ext uri="{FF2B5EF4-FFF2-40B4-BE49-F238E27FC236}">
                <a16:creationId xmlns:a16="http://schemas.microsoft.com/office/drawing/2014/main" id="{445B123D-B40D-4386-B9CF-E9BAAC87872E}"/>
              </a:ext>
            </a:extLst>
          </p:cNvPr>
          <p:cNvSpPr>
            <a:spLocks noGrp="1"/>
          </p:cNvSpPr>
          <p:nvPr>
            <p:ph type="sldNum" sz="quarter" idx="12"/>
          </p:nvPr>
        </p:nvSpPr>
        <p:spPr/>
        <p:txBody>
          <a:bodyPr/>
          <a:lstStyle/>
          <a:p>
            <a:fld id="{B8473C9A-9E91-4025-B5E2-D7B202510636}" type="slidenum">
              <a:rPr lang="en-US" smtClean="0"/>
              <a:t>8</a:t>
            </a:fld>
            <a:endParaRPr lang="en-US" dirty="0"/>
          </a:p>
        </p:txBody>
      </p:sp>
      <p:pic>
        <p:nvPicPr>
          <p:cNvPr id="4" name="Picture 3">
            <a:extLst>
              <a:ext uri="{FF2B5EF4-FFF2-40B4-BE49-F238E27FC236}">
                <a16:creationId xmlns:a16="http://schemas.microsoft.com/office/drawing/2014/main" id="{C7949A21-272C-4FC9-8A3B-5DD99DD162F7}"/>
              </a:ext>
            </a:extLst>
          </p:cNvPr>
          <p:cNvPicPr>
            <a:picLocks noChangeAspect="1"/>
          </p:cNvPicPr>
          <p:nvPr/>
        </p:nvPicPr>
        <p:blipFill>
          <a:blip r:embed="rId3"/>
          <a:stretch>
            <a:fillRect/>
          </a:stretch>
        </p:blipFill>
        <p:spPr>
          <a:xfrm>
            <a:off x="536986" y="228106"/>
            <a:ext cx="2316681" cy="463336"/>
          </a:xfrm>
          <a:prstGeom prst="rect">
            <a:avLst/>
          </a:prstGeom>
        </p:spPr>
      </p:pic>
    </p:spTree>
    <p:extLst>
      <p:ext uri="{BB962C8B-B14F-4D97-AF65-F5344CB8AC3E}">
        <p14:creationId xmlns:p14="http://schemas.microsoft.com/office/powerpoint/2010/main" val="3355522750"/>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967292" y="250925"/>
            <a:ext cx="10515600" cy="1325563"/>
          </a:xfrm>
        </p:spPr>
        <p:txBody>
          <a:bodyPr>
            <a:noAutofit/>
          </a:bodyPr>
          <a:lstStyle/>
          <a:p>
            <a:pPr algn="ctr"/>
            <a:r>
              <a:rPr lang="en-US" sz="4000" dirty="0"/>
              <a:t>Präsentationsstruktur</a:t>
            </a:r>
            <a:br/>
            <a:r>
              <a:rPr lang="en-US" sz="4000" dirty="0"/>
              <a:t/>
            </a:r>
            <a:br/>
            <a:r>
              <a:rPr lang="en-US" sz="4000" dirty="0"/>
              <a:t/>
            </a:r>
            <a:endParaRPr lang="pt" sz="40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217843" y="1462089"/>
            <a:ext cx="11357385" cy="4648256"/>
          </a:xfrm>
        </p:spPr>
        <p:txBody>
          <a:bodyPr>
            <a:noAutofit/>
          </a:bodyPr>
          <a:lstStyle/>
          <a:p>
            <a:pPr marL="1371600" lvl="3" indent="-571500">
              <a:lnSpc>
                <a:spcPct val="100000"/>
              </a:lnSpc>
              <a:spcBef>
                <a:spcPts val="1200"/>
              </a:spcBef>
              <a:spcAft>
                <a:spcPts val="1200"/>
              </a:spcAft>
              <a:buFont typeface="+mj-lt"/>
              <a:buAutoNum type="romanUcPeriod"/>
            </a:pPr>
            <a:r>
              <a:rPr lang="en-US" sz="3200" b="1" dirty="0">
                <a:solidFill>
                  <a:schemeClr val="bg2">
                    <a:lumMod val="90000"/>
                  </a:schemeClr>
                </a:solidFill>
              </a:rPr>
              <a:t>Sichtweise der Weltbankgruppe auf die wichtigsten strategischen Herausforderungen des Landes   </a:t>
            </a:r>
            <a:br/>
            <a:r>
              <a:rPr lang="en-US" sz="3200" b="1" dirty="0">
                <a:solidFill>
                  <a:schemeClr val="bg2">
                    <a:lumMod val="90000"/>
                  </a:schemeClr>
                </a:solidFill>
              </a:rPr>
              <a:t>Wichtigste Lehren aus dem vorigen CPF (2017-2021)</a:t>
            </a:r>
            <a:br/>
            <a:r>
              <a:rPr lang="en-US" sz="3200" b="1" dirty="0">
                <a:solidFill>
                  <a:schemeClr val="bg2">
                    <a:lumMod val="90000"/>
                  </a:schemeClr>
                </a:solidFill>
              </a:rPr>
              <a:t>Erster Vorschlag für den CPF 2023-2027</a:t>
            </a:r>
            <a:br/>
            <a:r>
              <a:rPr lang="en-US" sz="3200" b="1" dirty="0">
                <a:solidFill>
                  <a:schemeClr val="bg2">
                    <a:lumMod val="90000"/>
                  </a:schemeClr>
                </a:solidFill>
              </a:rPr>
              <a:t/>
            </a:r>
            <a:br/>
            <a:r>
              <a:rPr lang="en-US" sz="3200" b="1" dirty="0">
                <a:solidFill>
                  <a:schemeClr val="bg2">
                    <a:lumMod val="90000"/>
                  </a:schemeClr>
                </a:solidFill>
              </a:rPr>
              <a:t/>
            </a:r>
            <a:r>
              <a:rPr lang="en-US" sz="3200" b="1" dirty="0"/>
              <a:t>Main lessons from the previous CPF (2017-2021)
</a:t>
            </a:r>
            <a:r>
              <a:rPr lang="en-US" sz="3200" b="1" dirty="0">
                <a:solidFill>
                  <a:schemeClr val="bg2">
                    <a:lumMod val="90000"/>
                  </a:schemeClr>
                </a:solidFill>
              </a:rPr>
              <a:t>Initial Proposal for CPF 2023-2027</a:t>
            </a:r>
            <a:endParaRPr lang="pt-BR" sz="3200" b="1" i="0" u="none" strike="noStrike" dirty="0">
              <a:solidFill>
                <a:schemeClr val="bg2">
                  <a:lumMod val="90000"/>
                </a:schemeClr>
              </a:solidFill>
              <a:highlight>
                <a:srgbClr val="000000">
                  <a:alpha val="0"/>
                </a:srgbClr>
              </a:highlight>
              <a:latin typeface="Arial"/>
            </a:endParaRPr>
          </a:p>
          <a:p>
            <a:pPr marL="1143000" lvl="3" indent="0">
              <a:lnSpc>
                <a:spcPct val="100000"/>
              </a:lnSpc>
              <a:spcBef>
                <a:spcPts val="1200"/>
              </a:spcBef>
              <a:buNone/>
            </a:pPr>
            <a:endParaRPr lang="pt" sz="3200" b="1" i="0" u="none" strike="noStrike"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64BAC93B-91C7-4C10-A50E-D811EFA7120E}"/>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C7FE97E1-662E-4A4B-9785-3AB102713595}"/>
              </a:ext>
            </a:extLst>
          </p:cNvPr>
          <p:cNvSpPr>
            <a:spLocks noGrp="1"/>
          </p:cNvSpPr>
          <p:nvPr>
            <p:ph type="sldNum" sz="quarter" idx="12"/>
          </p:nvPr>
        </p:nvSpPr>
        <p:spPr/>
        <p:txBody>
          <a:bodyPr/>
          <a:lstStyle/>
          <a:p>
            <a:fld id="{B8473C9A-9E91-4025-B5E2-D7B202510636}" type="slidenum">
              <a:rPr lang="en-US" smtClean="0"/>
              <a:t>9</a:t>
            </a:fld>
            <a:endParaRPr lang="en-US" dirty="0"/>
          </a:p>
        </p:txBody>
      </p:sp>
      <p:pic>
        <p:nvPicPr>
          <p:cNvPr id="4" name="Picture 3">
            <a:extLst>
              <a:ext uri="{FF2B5EF4-FFF2-40B4-BE49-F238E27FC236}">
                <a16:creationId xmlns:a16="http://schemas.microsoft.com/office/drawing/2014/main" id="{39D2B0C9-56D1-42EE-9614-AB89754E7CB6}"/>
              </a:ext>
            </a:extLst>
          </p:cNvPr>
          <p:cNvPicPr>
            <a:picLocks noChangeAspect="1"/>
          </p:cNvPicPr>
          <p:nvPr/>
        </p:nvPicPr>
        <p:blipFill>
          <a:blip r:embed="rId2"/>
          <a:stretch>
            <a:fillRect/>
          </a:stretch>
        </p:blipFill>
        <p:spPr>
          <a:xfrm>
            <a:off x="365659" y="393171"/>
            <a:ext cx="2316681" cy="463336"/>
          </a:xfrm>
          <a:prstGeom prst="rect">
            <a:avLst/>
          </a:prstGeom>
        </p:spPr>
      </p:pic>
    </p:spTree>
    <p:extLst>
      <p:ext uri="{BB962C8B-B14F-4D97-AF65-F5344CB8AC3E}">
        <p14:creationId xmlns:p14="http://schemas.microsoft.com/office/powerpoint/2010/main" val="3817913634"/>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E39DA-BD7E-4AD0-924F-E915A4271702}"/>
              </a:ext>
            </a:extLst>
          </p:cNvPr>
          <p:cNvSpPr>
            <a:spLocks noGrp="1"/>
          </p:cNvSpPr>
          <p:nvPr>
            <p:ph type="title"/>
          </p:nvPr>
        </p:nvSpPr>
        <p:spPr>
          <a:xfrm>
            <a:off x="3259566" y="-20638"/>
            <a:ext cx="7998983" cy="1325563"/>
          </a:xfrm>
        </p:spPr>
        <p:txBody>
          <a:bodyPr>
            <a:normAutofit/>
          </a:bodyPr>
          <a:lstStyle/>
          <a:p>
            <a:r>
              <a:rPr lang="en-US" sz="2400" dirty="0"/>
              <a:t>CPF GJ2017-2021: Hauptmerkmale</a:t>
            </a:r>
            <a:endParaRPr lang="en-US" sz="2400" b="0" i="1" dirty="0"/>
          </a:p>
        </p:txBody>
      </p:sp>
      <p:sp>
        <p:nvSpPr>
          <p:cNvPr id="3" name="Content Placeholder 2">
            <a:extLst>
              <a:ext uri="{FF2B5EF4-FFF2-40B4-BE49-F238E27FC236}">
                <a16:creationId xmlns:a16="http://schemas.microsoft.com/office/drawing/2014/main" id="{AD41F2BB-97F4-4383-8764-F002A22E027D}"/>
              </a:ext>
            </a:extLst>
          </p:cNvPr>
          <p:cNvSpPr>
            <a:spLocks noGrp="1"/>
          </p:cNvSpPr>
          <p:nvPr>
            <p:ph idx="1"/>
          </p:nvPr>
        </p:nvSpPr>
        <p:spPr>
          <a:xfrm>
            <a:off x="300387" y="1171352"/>
            <a:ext cx="5735623" cy="5283236"/>
          </a:xfrm>
        </p:spPr>
        <p:txBody>
          <a:bodyPr>
            <a:noAutofit/>
          </a:bodyPr>
          <a:lstStyle/>
          <a:p>
            <a:pPr marL="0" algn="just">
              <a:spcBef>
                <a:spcPts val="0"/>
              </a:spcBef>
            </a:pPr>
            <a:r>
              <a:rPr lang="en-US" dirty="0">
                <a:latin typeface="+mn-lt"/>
              </a:rPr>
              <a:t>Ein Kontext, in dem das rasche Wachstum der Vorjahre zu Ende gegangen war. Das Verständnis, dass die Auswirkungen des Wachstums auf die Armutsreduzierung geringer als notwendig gewesen waren.</a:t>
            </a:r>
          </a:p>
          <a:p>
            <a:pPr marL="0" algn="just">
              <a:spcBef>
                <a:spcPts val="0"/>
              </a:spcBef>
            </a:pPr>
            <a:endParaRPr lang="en-US" dirty="0">
              <a:latin typeface="+mn-lt"/>
            </a:endParaRPr>
          </a:p>
          <a:p>
            <a:pPr marL="0" algn="just">
              <a:spcBef>
                <a:spcPts val="0"/>
              </a:spcBef>
            </a:pPr>
            <a:r>
              <a:rPr lang="en-US" dirty="0">
                <a:latin typeface="+mn-lt"/>
              </a:rPr>
              <a:t>Der Schock durch versteckte Schulden erschütterte das Vertrauen in das Land und verringerte die Investitionen.</a:t>
            </a:r>
          </a:p>
          <a:p>
            <a:pPr marL="0" algn="just">
              <a:spcBef>
                <a:spcPts val="0"/>
              </a:spcBef>
            </a:pPr>
            <a:endParaRPr lang="en-US" dirty="0">
              <a:latin typeface="+mn-lt"/>
            </a:endParaRPr>
          </a:p>
          <a:p>
            <a:pPr marL="0" algn="just">
              <a:spcBef>
                <a:spcPts val="0"/>
              </a:spcBef>
            </a:pPr>
            <a:r>
              <a:rPr lang="en-US" dirty="0">
                <a:latin typeface="+mn-lt"/>
              </a:rPr>
              <a:t>CPF AF17-GJ21 hatte das übergeordnete Ziel, Mosambik dabei zu helfen, „</a:t>
            </a:r>
            <a:r>
              <a:rPr lang="en-US" b="1" dirty="0">
                <a:latin typeface="+mn-lt"/>
              </a:rPr>
              <a:t>inklusives Wachstum durch Förderung der Beschäftigung und Verbesserung der Produktivität auf nachhaltige Weise zu erzielen</a:t>
            </a:r>
            <a:r>
              <a:rPr lang="en-US" dirty="0">
                <a:latin typeface="+mn-lt"/>
              </a:rPr>
              <a:t>“.</a:t>
            </a:r>
          </a:p>
          <a:p>
            <a:pPr marL="0" algn="just">
              <a:spcBef>
                <a:spcPts val="0"/>
              </a:spcBef>
            </a:pPr>
            <a:endParaRPr lang="en-US" dirty="0">
              <a:latin typeface="+mn-lt"/>
            </a:endParaRPr>
          </a:p>
          <a:p>
            <a:pPr marL="0" algn="just">
              <a:spcBef>
                <a:spcPts val="0"/>
              </a:spcBef>
            </a:pPr>
            <a:r>
              <a:rPr lang="en-US" dirty="0">
                <a:latin typeface="+mn-lt"/>
              </a:rPr>
              <a:t>Das Programm umfasste 3 Schwerpunktbereiche: (i) Förderung von diversifiziertem Wachstum und gesteigerter Produktivität, (ii) Investitionen in Humankapital und (iii) Stärkung von Nachhaltigkeit und Resilienz.</a:t>
            </a:r>
          </a:p>
          <a:p>
            <a:pPr marL="0" algn="just">
              <a:spcBef>
                <a:spcPts val="0"/>
              </a:spcBef>
            </a:pPr>
            <a:endParaRPr lang="en-US" dirty="0">
              <a:latin typeface="+mn-lt"/>
            </a:endParaRPr>
          </a:p>
          <a:p>
            <a:pPr marL="0" algn="just">
              <a:spcBef>
                <a:spcPts val="0"/>
              </a:spcBef>
            </a:pPr>
            <a:r>
              <a:rPr lang="en-US" dirty="0">
                <a:latin typeface="+mn-lt"/>
              </a:rPr>
              <a:t>Das Portfolio der Weltbank wuchs von anfänglich US$ 1,6 Mrd. auf etwa US$ 2,9 Mrd. an gebundenen Mitteln über den gesamten CPF-Zeitraum.</a:t>
            </a:r>
          </a:p>
          <a:p>
            <a:pPr marL="0" algn="just">
              <a:spcBef>
                <a:spcPts val="0"/>
              </a:spcBef>
            </a:pPr>
            <a:endParaRPr lang="en-US" dirty="0">
              <a:latin typeface="+mn-lt"/>
            </a:endParaRPr>
          </a:p>
          <a:p>
            <a:pPr marL="0" algn="just">
              <a:spcBef>
                <a:spcPts val="0"/>
              </a:spcBef>
            </a:pPr>
            <a:r>
              <a:rPr lang="en-US" dirty="0">
                <a:latin typeface="+mn-lt"/>
              </a:rPr>
              <a:t>Zusätzlich: US$ 700 Mio. für die Konflikt- und Gewaltprävention (GJ 2022) durch die</a:t>
            </a:r>
          </a:p>
          <a:p>
            <a:pPr marL="0" algn="just">
              <a:spcBef>
                <a:spcPts val="0"/>
              </a:spcBef>
            </a:pPr>
            <a:endParaRPr lang="en-US" dirty="0">
              <a:latin typeface="+mn-lt"/>
            </a:endParaRPr>
          </a:p>
          <a:p>
            <a:pPr marL="0" algn="just">
              <a:spcBef>
                <a:spcPts val="0"/>
              </a:spcBef>
            </a:pPr>
            <a:r>
              <a:rPr lang="en-US" dirty="0">
                <a:latin typeface="+mn-lt"/>
              </a:rPr>
              <a:t>IFC- und MIGA-Investitionen im Privatsektor konzentrierten sich auf transformative Projekte zur Schaffung von Arbeitsplätzen und Armutsreduzierung.</a:t>
            </a:r>
          </a:p>
        </p:txBody>
      </p:sp>
      <p:pic>
        <p:nvPicPr>
          <p:cNvPr id="11" name="Picture 10">
            <a:extLst>
              <a:ext uri="{FF2B5EF4-FFF2-40B4-BE49-F238E27FC236}">
                <a16:creationId xmlns:a16="http://schemas.microsoft.com/office/drawing/2014/main" id="{90336BA4-DAFB-496E-BA23-FD9499BC806B}"/>
              </a:ext>
            </a:extLst>
          </p:cNvPr>
          <p:cNvPicPr>
            <a:picLocks noChangeAspect="1"/>
          </p:cNvPicPr>
          <p:nvPr/>
        </p:nvPicPr>
        <p:blipFill>
          <a:blip r:embed="rId2"/>
          <a:stretch>
            <a:fillRect/>
          </a:stretch>
        </p:blipFill>
        <p:spPr>
          <a:xfrm>
            <a:off x="6036010" y="992982"/>
            <a:ext cx="5942634" cy="5144804"/>
          </a:xfrm>
          <a:prstGeom prst="rect">
            <a:avLst/>
          </a:prstGeom>
        </p:spPr>
      </p:pic>
      <p:sp>
        <p:nvSpPr>
          <p:cNvPr id="5" name="Rectangle 4">
            <a:extLst>
              <a:ext uri="{FF2B5EF4-FFF2-40B4-BE49-F238E27FC236}">
                <a16:creationId xmlns:a16="http://schemas.microsoft.com/office/drawing/2014/main" id="{EBE7ADC5-130D-44E2-A535-813420EF7862}"/>
              </a:ext>
            </a:extLst>
          </p:cNvPr>
          <p:cNvSpPr/>
          <p:nvPr/>
        </p:nvSpPr>
        <p:spPr>
          <a:xfrm>
            <a:off x="7551867" y="992981"/>
            <a:ext cx="645459" cy="4270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ooter Placeholder 12">
            <a:extLst>
              <a:ext uri="{FF2B5EF4-FFF2-40B4-BE49-F238E27FC236}">
                <a16:creationId xmlns:a16="http://schemas.microsoft.com/office/drawing/2014/main" id="{B32BD148-6C39-46D7-BA00-253237AE35AE}"/>
              </a:ext>
            </a:extLst>
          </p:cNvPr>
          <p:cNvSpPr>
            <a:spLocks noGrp="1"/>
          </p:cNvSpPr>
          <p:nvPr>
            <p:ph type="ftr" sz="quarter" idx="11"/>
          </p:nvPr>
        </p:nvSpPr>
        <p:spPr/>
        <p:txBody>
          <a:bodyPr/>
          <a:lstStyle/>
          <a:p>
            <a:r>
              <a:rPr lang="en-US"/>
              <a:t>CPF 2023-2027. Öffentliche Version. Maputo, Mai 2022.</a:t>
            </a:r>
            <a:endParaRPr lang="en-US" dirty="0"/>
          </a:p>
        </p:txBody>
      </p:sp>
      <p:pic>
        <p:nvPicPr>
          <p:cNvPr id="4" name="Picture 3">
            <a:extLst>
              <a:ext uri="{FF2B5EF4-FFF2-40B4-BE49-F238E27FC236}">
                <a16:creationId xmlns:a16="http://schemas.microsoft.com/office/drawing/2014/main" id="{3534EC23-E592-4B24-A636-726B7F88939A}"/>
              </a:ext>
            </a:extLst>
          </p:cNvPr>
          <p:cNvPicPr>
            <a:picLocks noChangeAspect="1"/>
          </p:cNvPicPr>
          <p:nvPr/>
        </p:nvPicPr>
        <p:blipFill>
          <a:blip r:embed="rId3"/>
          <a:stretch>
            <a:fillRect/>
          </a:stretch>
        </p:blipFill>
        <p:spPr>
          <a:xfrm>
            <a:off x="222790" y="343689"/>
            <a:ext cx="2316681" cy="463336"/>
          </a:xfrm>
          <a:prstGeom prst="rect">
            <a:avLst/>
          </a:prstGeom>
        </p:spPr>
      </p:pic>
      <p:sp>
        <p:nvSpPr>
          <p:cNvPr id="6" name="Slide Number Placeholder 5">
            <a:extLst>
              <a:ext uri="{FF2B5EF4-FFF2-40B4-BE49-F238E27FC236}">
                <a16:creationId xmlns:a16="http://schemas.microsoft.com/office/drawing/2014/main" id="{9A2C55B6-CA07-4ECE-B7AD-6DC69A70C6AD}"/>
              </a:ext>
            </a:extLst>
          </p:cNvPr>
          <p:cNvSpPr>
            <a:spLocks noGrp="1"/>
          </p:cNvSpPr>
          <p:nvPr>
            <p:ph type="sldNum" sz="quarter" idx="12"/>
          </p:nvPr>
        </p:nvSpPr>
        <p:spPr/>
        <p:txBody>
          <a:bodyPr/>
          <a:lstStyle/>
          <a:p>
            <a:fld id="{B8473C9A-9E91-4025-B5E2-D7B202510636}" type="slidenum">
              <a:rPr lang="en-US" smtClean="0"/>
              <a:t>10</a:t>
            </a:fld>
            <a:endParaRPr lang="en-US" dirty="0"/>
          </a:p>
        </p:txBody>
      </p:sp>
    </p:spTree>
    <p:extLst>
      <p:ext uri="{BB962C8B-B14F-4D97-AF65-F5344CB8AC3E}">
        <p14:creationId xmlns:p14="http://schemas.microsoft.com/office/powerpoint/2010/main" val="1765248067"/>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E39DA-BD7E-4AD0-924F-E915A4271702}"/>
              </a:ext>
            </a:extLst>
          </p:cNvPr>
          <p:cNvSpPr>
            <a:spLocks noGrp="1"/>
          </p:cNvSpPr>
          <p:nvPr>
            <p:ph type="title"/>
          </p:nvPr>
        </p:nvSpPr>
        <p:spPr>
          <a:xfrm>
            <a:off x="2657811" y="-255665"/>
            <a:ext cx="10515600" cy="1325563"/>
          </a:xfrm>
        </p:spPr>
        <p:txBody>
          <a:bodyPr>
            <a:normAutofit/>
          </a:bodyPr>
          <a:lstStyle/>
          <a:p>
            <a:br>
              <a:rPr lang="en-US" sz="2400" dirty="0"/>
            </a:br>
            <a:br>
              <a:rPr lang="en-US" sz="2400" dirty="0"/>
            </a:br>
            <a:r>
              <a:rPr lang="en-US" sz="2400" dirty="0"/>
              <a:t>CPF GJ2017-2021: Hauptmerkmale</a:t>
            </a:r>
            <a:endParaRPr lang="en-US" sz="2400" b="0" i="1" dirty="0"/>
          </a:p>
        </p:txBody>
      </p:sp>
      <p:sp>
        <p:nvSpPr>
          <p:cNvPr id="3" name="Content Placeholder 2">
            <a:extLst>
              <a:ext uri="{FF2B5EF4-FFF2-40B4-BE49-F238E27FC236}">
                <a16:creationId xmlns:a16="http://schemas.microsoft.com/office/drawing/2014/main" id="{AD41F2BB-97F4-4383-8764-F002A22E027D}"/>
              </a:ext>
            </a:extLst>
          </p:cNvPr>
          <p:cNvSpPr>
            <a:spLocks noGrp="1"/>
          </p:cNvSpPr>
          <p:nvPr>
            <p:ph idx="1"/>
          </p:nvPr>
        </p:nvSpPr>
        <p:spPr>
          <a:xfrm>
            <a:off x="490296" y="992981"/>
            <a:ext cx="6341966" cy="5544790"/>
          </a:xfrm>
        </p:spPr>
        <p:txBody>
          <a:bodyPr>
            <a:noAutofit/>
          </a:bodyPr>
          <a:lstStyle/>
          <a:p>
            <a:pPr algn="just"/>
            <a:endParaRPr lang="pt-BR" b="1" u="sng" dirty="0">
              <a:latin typeface="+mn-lt"/>
              <a:ea typeface="Times New Roman" panose="02020603050405020304" pitchFamily="18" charset="0"/>
              <a:cs typeface="Times New Roman" panose="02020603050405020304" pitchFamily="18" charset="0"/>
            </a:endParaRPr>
          </a:p>
          <a:p>
            <a:pPr lvl="2" algn="just"/>
            <a:r>
              <a:rPr lang="en-US" sz="1400" b="1" dirty="0"/>
              <a:t>Fokus auf Regionen und Sektoren, in denen die Armen konzentriert sind. </a:t>
            </a:r>
          </a:p>
          <a:p>
            <a:pPr marL="914400" lvl="3" indent="-365760" algn="just"/>
            <a:r>
              <a:rPr lang="en-US" sz="1300" dirty="0">
                <a:solidFill>
                  <a:srgbClr val="000000"/>
                </a:solidFill>
                <a:cs typeface="Calibri" panose="020F0502020204030204" pitchFamily="34" charset="0"/>
              </a:rPr>
              <a:t>Der Anteil der Subsistenzlandwirtschaft sollte von 6% im vorherigen CPF auf 20% steigen</a:t>
            </a:r>
          </a:p>
          <a:p>
            <a:pPr marL="914400" lvl="3" indent="-365760" algn="just"/>
            <a:r>
              <a:rPr lang="en-US" sz="1300" dirty="0">
                <a:solidFill>
                  <a:srgbClr val="000000"/>
                </a:solidFill>
                <a:cs typeface="Calibri" panose="020F0502020204030204" pitchFamily="34" charset="0"/>
              </a:rPr>
              <a:t>Etwa 30% des Portfolios flossen in Landwirtschaft und ländliche Gebiete (gegenüber 6% im vorherigen Zyklus)</a:t>
            </a:r>
            <a:endParaRPr lang="en-US" sz="1400" dirty="0"/>
          </a:p>
          <a:p>
            <a:pPr lvl="2" algn="just"/>
            <a:r>
              <a:rPr lang="en-US" sz="1400" dirty="0"/>
              <a:t>Ein Großteil der Ressourcen wurde für Investitionen in die Infrastruktur aufgewendet, insbesondere für den ländlichen Wiederaufbau und die Wiederherstellung nach Zyklonen.</a:t>
            </a:r>
          </a:p>
          <a:p>
            <a:pPr marL="914400" lvl="3" indent="-365760" algn="just"/>
            <a:r>
              <a:rPr lang="en-US" sz="1300" dirty="0">
                <a:solidFill>
                  <a:srgbClr val="000000"/>
                </a:solidFill>
                <a:cs typeface="Calibri" panose="020F0502020204030204" pitchFamily="34" charset="0"/>
              </a:rPr>
              <a:t>Übernahme eines integrativen Ansatzes, der Investitionen in Infrastruktur und sozialen Schutz bündelt.</a:t>
            </a:r>
          </a:p>
          <a:p>
            <a:pPr marL="914400" lvl="3" indent="-365760" algn="just"/>
            <a:r>
              <a:rPr lang="en-US" sz="1300" dirty="0">
                <a:solidFill>
                  <a:srgbClr val="000000"/>
                </a:solidFill>
                <a:cs typeface="Calibri" panose="020F0502020204030204" pitchFamily="34" charset="0"/>
              </a:rPr>
              <a:t>Priorisierung von Maßnahmen für Cabo Delgado (GJ 2022).</a:t>
            </a:r>
          </a:p>
          <a:p>
            <a:pPr lvl="2" algn="just"/>
            <a:r>
              <a:rPr lang="en-US" sz="1400" dirty="0"/>
              <a:t>Fokus auf die Verbesserung der makroökonomischen Managementkapazitäten, insbesondere im Schuldenmanagement, bei Fiskalrisiken und bei öffentlichen Investitionen.</a:t>
            </a:r>
          </a:p>
          <a:p>
            <a:pPr lvl="2" algn="just"/>
            <a:r>
              <a:rPr lang="en-US" sz="1400" dirty="0"/>
              <a:t>Der vorherige CPF legte großen Wert auf Studien, die ein besseres Verständnis der Herausforderungen des Landes ermöglichen sollten, wie die Privatsektor-Diagnose des Landes, das Country Economic Memorandum, die Stadtüberprüfung und die Diagnose ländlicher Einkommen, unter anderem. </a:t>
            </a:r>
          </a:p>
          <a:p>
            <a:pPr marL="914400" lvl="3" indent="-365760" algn="just"/>
            <a:r>
              <a:rPr lang="en-US" sz="1300" dirty="0">
                <a:solidFill>
                  <a:srgbClr val="000000"/>
                </a:solidFill>
                <a:cs typeface="Calibri" panose="020F0502020204030204" pitchFamily="34" charset="0"/>
              </a:rPr>
              <a:t>Eine Studie zu den Auswirkungen des Klimawandels (CCDR), eine Aktualisierung der Armutsstudie (Poverty Assessment) und eine detaillierte Analyse der Geschlechterproblematik (Gender Assessment) sind in Bearbeitung.</a:t>
            </a:r>
            <a:endParaRPr lang="pt" sz="1300" dirty="0">
              <a:solidFill>
                <a:srgbClr val="000000"/>
              </a:solidFill>
              <a:cs typeface="Calibri" panose="020F0502020204030204" pitchFamily="34" charset="0"/>
            </a:endParaRPr>
          </a:p>
          <a:p>
            <a:pPr marL="0" lvl="2" indent="0" algn="just">
              <a:buNone/>
            </a:pPr>
            <a:endParaRPr lang="en-US" sz="1400" dirty="0">
              <a:solidFill>
                <a:srgbClr val="000000"/>
              </a:solidFill>
              <a:ea typeface="Times New Roman" panose="02020603050405020304" pitchFamily="18" charset="0"/>
              <a:cs typeface="Times New Roman" panose="02020603050405020304" pitchFamily="18" charset="0"/>
            </a:endParaRPr>
          </a:p>
          <a:p>
            <a:pPr lvl="2" algn="just"/>
            <a:endParaRPr lang="en-US" sz="1400" dirty="0">
              <a:solidFill>
                <a:srgbClr val="000000"/>
              </a:solidFill>
              <a:cs typeface="Times New Roman" panose="02020603050405020304" pitchFamily="18" charset="0"/>
            </a:endParaRPr>
          </a:p>
          <a:p>
            <a:pPr algn="just"/>
            <a:endParaRPr lang="en-US" dirty="0">
              <a:latin typeface="+mn-lt"/>
            </a:endParaRPr>
          </a:p>
        </p:txBody>
      </p:sp>
      <p:graphicFrame>
        <p:nvGraphicFramePr>
          <p:cNvPr id="9" name="Chart 8">
            <a:extLst>
              <a:ext uri="{FF2B5EF4-FFF2-40B4-BE49-F238E27FC236}">
                <a16:creationId xmlns:a16="http://schemas.microsoft.com/office/drawing/2014/main" id="{A5499A8E-A137-4699-BE3A-E5C6193DB181}"/>
              </a:ext>
            </a:extLst>
          </p:cNvPr>
          <p:cNvGraphicFramePr>
            <a:graphicFrameLocks/>
          </p:cNvGraphicFramePr>
          <p:nvPr>
            <p:extLst>
              <p:ext uri="{D42A27DB-BD31-4B8C-83A1-F6EECF244321}">
                <p14:modId xmlns:p14="http://schemas.microsoft.com/office/powerpoint/2010/main" val="1040687743"/>
              </p:ext>
            </p:extLst>
          </p:nvPr>
        </p:nvGraphicFramePr>
        <p:xfrm>
          <a:off x="7088146" y="1290918"/>
          <a:ext cx="4836977" cy="4311557"/>
        </p:xfrm>
        <a:graphic>
          <a:graphicData uri="http://schemas.openxmlformats.org/drawingml/2006/chart">
            <c:chart xmlns:c="http://schemas.openxmlformats.org/drawingml/2006/chart" xmlns:r="http://schemas.openxmlformats.org/officeDocument/2006/relationships" r:id="rId2"/>
          </a:graphicData>
        </a:graphic>
      </p:graphicFrame>
      <p:sp>
        <p:nvSpPr>
          <p:cNvPr id="10" name="Title 1">
            <a:extLst>
              <a:ext uri="{FF2B5EF4-FFF2-40B4-BE49-F238E27FC236}">
                <a16:creationId xmlns:a16="http://schemas.microsoft.com/office/drawing/2014/main" id="{2F08AA56-3BA1-41C9-8EC2-A2B8C5546FC8}"/>
              </a:ext>
            </a:extLst>
          </p:cNvPr>
          <p:cNvSpPr txBox="1">
            <a:spLocks/>
          </p:cNvSpPr>
          <p:nvPr/>
        </p:nvSpPr>
        <p:spPr>
          <a:xfrm>
            <a:off x="8513782" y="887892"/>
            <a:ext cx="2467370" cy="8060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2300" b="1" kern="1200">
                <a:solidFill>
                  <a:schemeClr val="accent1">
                    <a:lumMod val="75000"/>
                  </a:schemeClr>
                </a:solidFill>
                <a:latin typeface="Arial"/>
                <a:ea typeface="+mj-ea"/>
                <a:cs typeface="Arial"/>
              </a:defRPr>
            </a:lvl1pPr>
          </a:lstStyle>
          <a:p>
            <a:r>
              <a:rPr lang="pt-BR" sz="1000" cap="all" dirty="0">
                <a:solidFill>
                  <a:schemeClr val="tx1"/>
                </a:solidFill>
                <a:latin typeface="+mj-lt"/>
                <a:ea typeface="+mn-ea"/>
                <a:cs typeface="+mn-cs"/>
              </a:rPr>
              <a:t>Endgültige Mittelzuweisung</a:t>
            </a:r>
            <a:br/>
            <a:r>
              <a:rPr lang="pt-BR" sz="1000" cap="all" dirty="0">
                <a:solidFill>
                  <a:schemeClr val="tx1"/>
                </a:solidFill>
                <a:latin typeface="+mj-lt"/>
                <a:ea typeface="+mn-ea"/>
                <a:cs typeface="+mn-cs"/>
              </a:rPr>
              <a:t/>
            </a:r>
            <a:br/>
            <a:r>
              <a:rPr lang="pt-BR" sz="1000" cap="all" dirty="0">
                <a:solidFill>
                  <a:schemeClr val="tx1"/>
                </a:solidFill>
                <a:latin typeface="+mj-lt"/>
                <a:ea typeface="+mn-ea"/>
                <a:cs typeface="+mn-cs"/>
              </a:rPr>
              <a:t/>
            </a:r>
            <a:endParaRPr lang="en-US" sz="1000" cap="all" dirty="0">
              <a:solidFill>
                <a:schemeClr val="tx1"/>
              </a:solidFill>
              <a:latin typeface="+mj-lt"/>
              <a:ea typeface="+mn-ea"/>
              <a:cs typeface="+mn-cs"/>
            </a:endParaRPr>
          </a:p>
        </p:txBody>
      </p:sp>
      <p:sp>
        <p:nvSpPr>
          <p:cNvPr id="7" name="Footer Placeholder 6">
            <a:extLst>
              <a:ext uri="{FF2B5EF4-FFF2-40B4-BE49-F238E27FC236}">
                <a16:creationId xmlns:a16="http://schemas.microsoft.com/office/drawing/2014/main" id="{AF70A6BA-9FEE-4FF3-9D26-0762E13834EE}"/>
              </a:ext>
            </a:extLst>
          </p:cNvPr>
          <p:cNvSpPr>
            <a:spLocks noGrp="1"/>
          </p:cNvSpPr>
          <p:nvPr>
            <p:ph type="ftr" sz="quarter" idx="11"/>
          </p:nvPr>
        </p:nvSpPr>
        <p:spPr>
          <a:xfrm>
            <a:off x="4038600" y="6557048"/>
            <a:ext cx="4114800" cy="365125"/>
          </a:xfrm>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CCD3979E-F30D-4DBB-BFB4-CA06FA9C5C4E}"/>
              </a:ext>
            </a:extLst>
          </p:cNvPr>
          <p:cNvSpPr>
            <a:spLocks noGrp="1"/>
          </p:cNvSpPr>
          <p:nvPr>
            <p:ph type="sldNum" sz="quarter" idx="12"/>
          </p:nvPr>
        </p:nvSpPr>
        <p:spPr/>
        <p:txBody>
          <a:bodyPr/>
          <a:lstStyle/>
          <a:p>
            <a:fld id="{B8473C9A-9E91-4025-B5E2-D7B202510636}" type="slidenum">
              <a:rPr lang="en-US" smtClean="0"/>
              <a:t>11</a:t>
            </a:fld>
            <a:endParaRPr lang="en-US" dirty="0"/>
          </a:p>
        </p:txBody>
      </p:sp>
      <p:pic>
        <p:nvPicPr>
          <p:cNvPr id="4" name="Picture 3">
            <a:extLst>
              <a:ext uri="{FF2B5EF4-FFF2-40B4-BE49-F238E27FC236}">
                <a16:creationId xmlns:a16="http://schemas.microsoft.com/office/drawing/2014/main" id="{BDFFB0C1-E31A-47B0-BD50-98DAE498F8F0}"/>
              </a:ext>
            </a:extLst>
          </p:cNvPr>
          <p:cNvPicPr>
            <a:picLocks noChangeAspect="1"/>
          </p:cNvPicPr>
          <p:nvPr/>
        </p:nvPicPr>
        <p:blipFill>
          <a:blip r:embed="rId3"/>
          <a:stretch>
            <a:fillRect/>
          </a:stretch>
        </p:blipFill>
        <p:spPr>
          <a:xfrm>
            <a:off x="281614" y="320229"/>
            <a:ext cx="2316681" cy="463336"/>
          </a:xfrm>
          <a:prstGeom prst="rect">
            <a:avLst/>
          </a:prstGeom>
        </p:spPr>
      </p:pic>
    </p:spTree>
    <p:extLst>
      <p:ext uri="{BB962C8B-B14F-4D97-AF65-F5344CB8AC3E}">
        <p14:creationId xmlns:p14="http://schemas.microsoft.com/office/powerpoint/2010/main" val="594525742"/>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267A4-0F4F-479B-832F-37F8FDAE666F}"/>
              </a:ext>
            </a:extLst>
          </p:cNvPr>
          <p:cNvSpPr>
            <a:spLocks noGrp="1"/>
          </p:cNvSpPr>
          <p:nvPr>
            <p:ph type="title"/>
          </p:nvPr>
        </p:nvSpPr>
        <p:spPr>
          <a:xfrm>
            <a:off x="3743661" y="-22415"/>
            <a:ext cx="7448214" cy="815975"/>
          </a:xfrm>
        </p:spPr>
        <p:txBody>
          <a:bodyPr>
            <a:normAutofit/>
          </a:bodyPr>
          <a:lstStyle/>
          <a:p>
            <a:r>
              <a:rPr lang="en-US" sz="2400" dirty="0"/>
              <a:t>CPF GJ2017-2021: Ergebnisse </a:t>
            </a:r>
            <a:br/>
            <a:r>
              <a:rPr lang="en-US" sz="2400" dirty="0"/>
              <a:t/>
            </a:r>
            <a:br/>
            <a:r>
              <a:rPr lang="en-US" sz="2400" dirty="0"/>
              <a:t/>
            </a:r>
            <a:endParaRPr lang="en-US" sz="2400" b="0" i="1" dirty="0"/>
          </a:p>
        </p:txBody>
      </p:sp>
      <p:sp>
        <p:nvSpPr>
          <p:cNvPr id="3" name="Content Placeholder 2">
            <a:extLst>
              <a:ext uri="{FF2B5EF4-FFF2-40B4-BE49-F238E27FC236}">
                <a16:creationId xmlns:a16="http://schemas.microsoft.com/office/drawing/2014/main" id="{D13B107D-9314-4019-A8AC-8BDA69837A5E}"/>
              </a:ext>
            </a:extLst>
          </p:cNvPr>
          <p:cNvSpPr>
            <a:spLocks noGrp="1"/>
          </p:cNvSpPr>
          <p:nvPr>
            <p:ph idx="1"/>
          </p:nvPr>
        </p:nvSpPr>
        <p:spPr>
          <a:xfrm>
            <a:off x="676274" y="754918"/>
            <a:ext cx="10677525" cy="4995863"/>
          </a:xfrm>
        </p:spPr>
        <p:txBody>
          <a:bodyPr/>
          <a:lstStyle/>
          <a:p>
            <a:pPr marL="0" indent="0" algn="just">
              <a:buNone/>
            </a:pPr>
            <a:r>
              <a:rPr lang="en-US" sz="1400" b="0" i="0" u="none" strike="noStrike" dirty="0">
                <a:highlight>
                  <a:srgbClr val="000000">
                    <a:alpha val="0"/>
                  </a:srgbClr>
                </a:highlight>
                <a:latin typeface="Arial"/>
              </a:rPr>
              <a:t>Der CPF - AF17-AF21 wurde in einem schwierigen wirtschaftlichen Umfeld vorbereitet und umgesetzt. Die Umsetzung war jedoch </a:t>
            </a:r>
            <a:r>
              <a:rPr lang="en-US" sz="1400" b="1" i="0" u="none" strike="noStrike" dirty="0">
                <a:highlight>
                  <a:srgbClr val="000000">
                    <a:alpha val="0"/>
                  </a:srgbClr>
                </a:highlight>
                <a:latin typeface="Arial"/>
              </a:rPr>
              <a:t>mäßig zufriedenstellend</a:t>
            </a:r>
            <a:r>
              <a:rPr lang="en-US" sz="1400" b="0" i="0" u="none" strike="noStrike" dirty="0">
                <a:highlight>
                  <a:srgbClr val="000000">
                    <a:alpha val="0"/>
                  </a:srgbClr>
                </a:highlight>
                <a:latin typeface="Arial"/>
              </a:rPr>
              <a:t>.</a:t>
            </a:r>
          </a:p>
          <a:p>
            <a:pPr marL="0" indent="0" algn="just">
              <a:buNone/>
            </a:pPr>
            <a:r>
              <a:rPr lang="en-US" sz="1400" b="0" i="0" u="none" strike="noStrike" dirty="0">
                <a:highlight>
                  <a:srgbClr val="000000">
                    <a:alpha val="0"/>
                  </a:srgbClr>
                </a:highlight>
                <a:latin typeface="Arial"/>
              </a:rPr>
              <a:t>Der CPF erreichte 100% eines seiner neun strategischen Ziele (SO); sechs wurden größtenteils erreicht und zwei wurden „teilweise erreicht“.</a:t>
            </a:r>
            <a:endParaRPr lang="en-US" dirty="0"/>
          </a:p>
        </p:txBody>
      </p:sp>
      <p:graphicFrame>
        <p:nvGraphicFramePr>
          <p:cNvPr id="7" name="Table 6">
            <a:extLst>
              <a:ext uri="{FF2B5EF4-FFF2-40B4-BE49-F238E27FC236}">
                <a16:creationId xmlns:a16="http://schemas.microsoft.com/office/drawing/2014/main" id="{32DB655D-42A7-4817-899F-7D22316FD394}"/>
              </a:ext>
            </a:extLst>
          </p:cNvPr>
          <p:cNvGraphicFramePr>
            <a:graphicFrameLocks noGrp="1"/>
          </p:cNvGraphicFramePr>
          <p:nvPr>
            <p:extLst>
              <p:ext uri="{D42A27DB-BD31-4B8C-83A1-F6EECF244321}">
                <p14:modId xmlns:p14="http://schemas.microsoft.com/office/powerpoint/2010/main" val="3011176160"/>
              </p:ext>
            </p:extLst>
          </p:nvPr>
        </p:nvGraphicFramePr>
        <p:xfrm>
          <a:off x="676275" y="1721224"/>
          <a:ext cx="10677524" cy="4276751"/>
        </p:xfrm>
        <a:graphic>
          <a:graphicData uri="http://schemas.openxmlformats.org/drawingml/2006/table">
            <a:tbl>
              <a:tblPr firstRow="1" firstCol="1" bandRow="1"/>
              <a:tblGrid>
                <a:gridCol w="1427558">
                  <a:extLst>
                    <a:ext uri="{9D8B030D-6E8A-4147-A177-3AD203B41FA5}">
                      <a16:colId xmlns:a16="http://schemas.microsoft.com/office/drawing/2014/main" val="3118927508"/>
                    </a:ext>
                  </a:extLst>
                </a:gridCol>
                <a:gridCol w="6525977">
                  <a:extLst>
                    <a:ext uri="{9D8B030D-6E8A-4147-A177-3AD203B41FA5}">
                      <a16:colId xmlns:a16="http://schemas.microsoft.com/office/drawing/2014/main" val="1649127289"/>
                    </a:ext>
                  </a:extLst>
                </a:gridCol>
                <a:gridCol w="2553741">
                  <a:extLst>
                    <a:ext uri="{9D8B030D-6E8A-4147-A177-3AD203B41FA5}">
                      <a16:colId xmlns:a16="http://schemas.microsoft.com/office/drawing/2014/main" val="3918980264"/>
                    </a:ext>
                  </a:extLst>
                </a:gridCol>
                <a:gridCol w="170248">
                  <a:extLst>
                    <a:ext uri="{9D8B030D-6E8A-4147-A177-3AD203B41FA5}">
                      <a16:colId xmlns:a16="http://schemas.microsoft.com/office/drawing/2014/main" val="2105357082"/>
                    </a:ext>
                  </a:extLst>
                </a:gridCol>
              </a:tblGrid>
              <a:tr h="251795">
                <a:tc gridSpan="2">
                  <a:txBody>
                    <a:bodyPr/>
                    <a:lstStyle/>
                    <a:p>
                      <a:pPr marL="0" marR="0" algn="ctr">
                        <a:lnSpc>
                          <a:spcPct val="107000"/>
                        </a:lnSpc>
                        <a:spcBef>
                          <a:spcPts val="0"/>
                        </a:spcBef>
                        <a:spcAft>
                          <a:spcPts val="0"/>
                        </a:spcAft>
                      </a:pPr>
                      <a:r>
                        <a:rPr lang="pt-BR" sz="1300" b="1" dirty="0">
                          <a:solidFill>
                            <a:srgbClr val="000000"/>
                          </a:solidFill>
                          <a:effectLst/>
                          <a:latin typeface="+mn-lt"/>
                          <a:ea typeface="Times New Roman" panose="02020603050405020304" pitchFamily="18" charset="0"/>
                          <a:cs typeface="Times New Roman" panose="02020603050405020304" pitchFamily="18" charset="0"/>
                        </a:rPr>
                        <a:t>Focus Area /Strategic Objective</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dirty="0"/>
                    </a:p>
                  </a:txBody>
                  <a:tcPr/>
                </a:tc>
                <a:tc>
                  <a:txBody>
                    <a:bodyPr/>
                    <a:lstStyle/>
                    <a:p>
                      <a:pPr marL="0" marR="0" algn="ctr">
                        <a:lnSpc>
                          <a:spcPct val="107000"/>
                        </a:lnSpc>
                        <a:spcBef>
                          <a:spcPts val="0"/>
                        </a:spcBef>
                        <a:spcAft>
                          <a:spcPts val="0"/>
                        </a:spcAft>
                      </a:pPr>
                      <a:r>
                        <a:rPr lang="pt-BR" sz="1300" b="1" dirty="0">
                          <a:solidFill>
                            <a:srgbClr val="000000"/>
                          </a:solidFill>
                          <a:effectLst/>
                          <a:latin typeface="+mn-lt"/>
                          <a:ea typeface="Times New Roman" panose="02020603050405020304" pitchFamily="18" charset="0"/>
                          <a:cs typeface="Times New Roman" panose="02020603050405020304" pitchFamily="18" charset="0"/>
                        </a:rPr>
                        <a:t>Classification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36956950"/>
                  </a:ext>
                </a:extLst>
              </a:tr>
              <a:tr h="251795">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Focus Area 1: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gridSpan="3">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Promote diversified growth and enhanced productivity – Moderately Satisfactory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350130769"/>
                  </a:ext>
                </a:extLst>
              </a:tr>
              <a:tr h="351623">
                <a:tc gridSpan="2">
                  <a:txBody>
                    <a:bodyPr/>
                    <a:lstStyle/>
                    <a:p>
                      <a:pPr marL="0" marR="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1: Improved economic management</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4093988670"/>
                  </a:ext>
                </a:extLst>
              </a:tr>
              <a:tr h="556526">
                <a:tc gridSpan="2">
                  <a:txBody>
                    <a:bodyPr/>
                    <a:lstStyle/>
                    <a:p>
                      <a:pPr marL="0" marR="0" algn="l">
                        <a:lnSpc>
                          <a:spcPct val="70000"/>
                        </a:lnSpc>
                        <a:spcBef>
                          <a:spcPts val="0"/>
                        </a:spcBef>
                        <a:spcAft>
                          <a:spcPts val="0"/>
                        </a:spcAft>
                      </a:pPr>
                      <a:r>
                        <a:rPr lang="en-US" sz="1300" dirty="0">
                          <a:effectLst/>
                          <a:latin typeface="+mn-lt"/>
                          <a:ea typeface="Times New Roman" panose="02020603050405020304" pitchFamily="18" charset="0"/>
                          <a:cs typeface="Times New Roman" panose="02020603050405020304" pitchFamily="18" charset="0"/>
                        </a:rPr>
                        <a:t>Objective 2: Increase in Agricultural Income and Increase in Land Security</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878411351"/>
                  </a:ext>
                </a:extLst>
              </a:tr>
              <a:tr h="351623">
                <a:tc gridSpan="2">
                  <a:txBody>
                    <a:bodyPr/>
                    <a:lstStyle/>
                    <a:p>
                      <a:pPr marL="0" marR="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3: Improve the Business Environment for Job Creation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Partially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422386611"/>
                  </a:ext>
                </a:extLst>
              </a:tr>
              <a:tr h="298667">
                <a:tc gridSpan="2">
                  <a:txBody>
                    <a:bodyPr/>
                    <a:lstStyle/>
                    <a:p>
                      <a:pPr marL="0" marR="0" algn="l">
                        <a:lnSpc>
                          <a:spcPct val="70000"/>
                        </a:lnSpc>
                        <a:spcBef>
                          <a:spcPts val="0"/>
                        </a:spcBef>
                        <a:spcAft>
                          <a:spcPts val="0"/>
                        </a:spcAft>
                      </a:pPr>
                      <a:r>
                        <a:rPr lang="en-US" sz="1300" b="1" dirty="0">
                          <a:solidFill>
                            <a:srgbClr val="000000"/>
                          </a:solidFill>
                          <a:effectLst/>
                          <a:latin typeface="+mn-lt"/>
                          <a:ea typeface="Times New Roman" panose="02020603050405020304" pitchFamily="18" charset="0"/>
                          <a:cs typeface="Times New Roman" panose="02020603050405020304" pitchFamily="18" charset="0"/>
                        </a:rPr>
                        <a:t>Objective 4: Expand Access and Improve Electricity Reliability</a:t>
                      </a:r>
                      <a:endParaRPr lang="en-US" sz="1300" b="1"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kern="1200" dirty="0">
                          <a:solidFill>
                            <a:srgbClr val="000000"/>
                          </a:solidFill>
                          <a:effectLst/>
                          <a:latin typeface="+mn-lt"/>
                          <a:ea typeface="Times New Roman" panose="02020603050405020304" pitchFamily="18" charset="0"/>
                          <a:cs typeface="Times New Roman" panose="02020603050405020304" pitchFamily="18" charset="0"/>
                        </a:rPr>
                        <a:t>Achieved </a:t>
                      </a:r>
                      <a:r>
                        <a:rPr lang="en-US" sz="1300" dirty="0">
                          <a:solidFill>
                            <a:srgbClr val="000000"/>
                          </a:solidFill>
                          <a:effectLst/>
                          <a:latin typeface="+mn-lt"/>
                          <a:ea typeface="Times New Roman" panose="02020603050405020304" pitchFamily="18" charset="0"/>
                          <a:cs typeface="Times New Roman" panose="02020603050405020304" pitchFamily="18" charset="0"/>
                        </a:rPr>
                        <a:t>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201050771"/>
                  </a:ext>
                </a:extLst>
              </a:tr>
              <a:tr h="209486">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Focus Area 2: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Investing in Human Capital – Moderately Satisfactory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a:txBody>
                    <a:bodyPr/>
                    <a:lstStyle/>
                    <a:p>
                      <a:pPr marL="16383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638501185"/>
                  </a:ext>
                </a:extLst>
              </a:tr>
              <a:tr h="251795">
                <a:tc gridSpan="2">
                  <a:txBody>
                    <a:bodyPr/>
                    <a:lstStyle/>
                    <a:p>
                      <a:pPr marL="0" marR="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5: Improve the Competency Base</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t>
                      </a:r>
                      <a:r>
                        <a:rPr lang="en-US" sz="1300" dirty="0" err="1">
                          <a:solidFill>
                            <a:srgbClr val="000000"/>
                          </a:solidFill>
                          <a:effectLst/>
                          <a:latin typeface="+mn-lt"/>
                          <a:ea typeface="Times New Roman" panose="02020603050405020304" pitchFamily="18" charset="0"/>
                          <a:cs typeface="Times New Roman" panose="02020603050405020304" pitchFamily="18" charset="0"/>
                        </a:rPr>
                        <a:t>acheived</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071956371"/>
                  </a:ext>
                </a:extLst>
              </a:tr>
              <a:tr h="334803">
                <a:tc gridSpan="2">
                  <a:txBody>
                    <a:bodyPr/>
                    <a:lstStyle/>
                    <a:p>
                      <a:pPr marL="0" marR="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6: Improve Health Service Delivery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t>
                      </a:r>
                      <a:r>
                        <a:rPr lang="en-US" sz="1300" dirty="0" err="1">
                          <a:solidFill>
                            <a:srgbClr val="000000"/>
                          </a:solidFill>
                          <a:effectLst/>
                          <a:latin typeface="+mn-lt"/>
                          <a:ea typeface="Times New Roman" panose="02020603050405020304" pitchFamily="18" charset="0"/>
                          <a:cs typeface="Times New Roman" panose="02020603050405020304" pitchFamily="18" charset="0"/>
                        </a:rPr>
                        <a:t>acheived</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159681145"/>
                  </a:ext>
                </a:extLst>
              </a:tr>
              <a:tr h="328322">
                <a:tc gridSpan="2">
                  <a:txBody>
                    <a:bodyPr/>
                    <a:lstStyle/>
                    <a:p>
                      <a:pPr marL="0" marR="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7: Improve Access to Water and Sanitation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866303018"/>
                  </a:ext>
                </a:extLst>
              </a:tr>
              <a:tr h="343363">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Focus Area 3: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gridSpan="3">
                  <a:txBody>
                    <a:bodyPr/>
                    <a:lstStyle/>
                    <a:p>
                      <a:pPr marL="16383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Strengthening Sustainability and Resilience - Moderately Satisfactory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507405816"/>
                  </a:ext>
                </a:extLst>
              </a:tr>
              <a:tr h="395330">
                <a:tc gridSpan="2">
                  <a:txBody>
                    <a:bodyPr/>
                    <a:lstStyle/>
                    <a:p>
                      <a:pPr marL="0" marR="0" algn="l">
                        <a:lnSpc>
                          <a:spcPct val="70000"/>
                        </a:lnSpc>
                        <a:spcBef>
                          <a:spcPts val="0"/>
                        </a:spcBef>
                        <a:spcAft>
                          <a:spcPts val="0"/>
                        </a:spcAft>
                      </a:pPr>
                      <a:r>
                        <a:rPr lang="en-US" sz="1300" b="1" dirty="0">
                          <a:solidFill>
                            <a:srgbClr val="000000"/>
                          </a:solidFill>
                          <a:effectLst/>
                          <a:latin typeface="+mn-lt"/>
                          <a:ea typeface="Times New Roman" panose="02020603050405020304" pitchFamily="18" charset="0"/>
                          <a:cs typeface="Times New Roman" panose="02020603050405020304" pitchFamily="18" charset="0"/>
                        </a:rPr>
                        <a:t>Objective 8: Support for Recovery and Resilience</a:t>
                      </a:r>
                      <a:endParaRPr lang="en-US" sz="1300" b="1"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just">
                        <a:lnSpc>
                          <a:spcPct val="70000"/>
                        </a:lnSpc>
                        <a:spcBef>
                          <a:spcPts val="0"/>
                        </a:spcBef>
                        <a:spcAft>
                          <a:spcPts val="0"/>
                        </a:spcAft>
                      </a:pPr>
                      <a:r>
                        <a:rPr lang="en-US" sz="1300" dirty="0">
                          <a:effectLst/>
                          <a:latin typeface="+mn-lt"/>
                          <a:ea typeface="Times New Roman" panose="02020603050405020304" pitchFamily="18" charset="0"/>
                          <a:cs typeface="Times New Roman" panose="02020603050405020304" pitchFamily="18" charset="0"/>
                        </a:rPr>
                        <a:t>Mostly achieved 
</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2492229537"/>
                  </a:ext>
                </a:extLst>
              </a:tr>
              <a:tr h="351623">
                <a:tc gridSpan="2">
                  <a:txBody>
                    <a:bodyPr/>
                    <a:lstStyle/>
                    <a:p>
                      <a:pPr marL="0" marR="0" algn="l">
                        <a:lnSpc>
                          <a:spcPct val="70000"/>
                        </a:lnSpc>
                        <a:spcBef>
                          <a:spcPts val="0"/>
                        </a:spcBef>
                        <a:spcAft>
                          <a:spcPts val="0"/>
                        </a:spcAft>
                      </a:pPr>
                      <a:r>
                        <a:rPr lang="pt-BR" sz="1300" dirty="0">
                          <a:solidFill>
                            <a:srgbClr val="000000"/>
                          </a:solidFill>
                          <a:effectLst/>
                          <a:latin typeface="+mn-lt"/>
                          <a:ea typeface="Times New Roman" panose="02020603050405020304" pitchFamily="18" charset="0"/>
                          <a:cs typeface="Times New Roman" panose="02020603050405020304" pitchFamily="18" charset="0"/>
                        </a:rPr>
                        <a:t>Objective9: </a:t>
                      </a:r>
                      <a:r>
                        <a:rPr lang="en-US" sz="1300" dirty="0">
                          <a:solidFill>
                            <a:srgbClr val="000000"/>
                          </a:solidFill>
                          <a:effectLst/>
                          <a:latin typeface="+mn-lt"/>
                          <a:ea typeface="Times New Roman" panose="02020603050405020304" pitchFamily="18" charset="0"/>
                          <a:cs typeface="Times New Roman" panose="02020603050405020304" pitchFamily="18" charset="0"/>
                        </a:rPr>
                        <a:t>Promote Inclusive Urbanization and Decentralization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Partially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dirty="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212770644"/>
                  </a:ext>
                </a:extLst>
              </a:tr>
            </a:tbl>
          </a:graphicData>
        </a:graphic>
      </p:graphicFrame>
      <p:sp>
        <p:nvSpPr>
          <p:cNvPr id="9" name="TextBox 8">
            <a:extLst>
              <a:ext uri="{FF2B5EF4-FFF2-40B4-BE49-F238E27FC236}">
                <a16:creationId xmlns:a16="http://schemas.microsoft.com/office/drawing/2014/main" id="{6122B999-DE86-4BC0-AC20-DE5BD83111C8}"/>
              </a:ext>
            </a:extLst>
          </p:cNvPr>
          <p:cNvSpPr txBox="1"/>
          <p:nvPr/>
        </p:nvSpPr>
        <p:spPr>
          <a:xfrm>
            <a:off x="534297" y="5932887"/>
            <a:ext cx="10981428" cy="430887"/>
          </a:xfrm>
          <a:prstGeom prst="rect">
            <a:avLst/>
          </a:prstGeom>
          <a:noFill/>
        </p:spPr>
        <p:txBody>
          <a:bodyPr wrap="square">
            <a:spAutoFit/>
          </a:bodyPr>
          <a:lstStyle/>
          <a:p>
            <a:pPr marL="0" indent="0">
              <a:buNone/>
            </a:pPr>
            <a:r>
              <a:rPr lang="en-US" sz="1100" i="1" dirty="0">
                <a:latin typeface="+mj-lt"/>
              </a:rPr>
              <a:t>Die Einstufung der Ziele folgt der Kategorie „erreicht“, „größtenteils erreicht“, „teilweise erreicht“ und „nicht erreicht“, abhängig vom Erreichungsgrad der Indikatoren und dem Vorhandensein qualitativer Belege.</a:t>
            </a:r>
          </a:p>
        </p:txBody>
      </p:sp>
      <p:sp>
        <p:nvSpPr>
          <p:cNvPr id="11" name="Footer Placeholder 10">
            <a:extLst>
              <a:ext uri="{FF2B5EF4-FFF2-40B4-BE49-F238E27FC236}">
                <a16:creationId xmlns:a16="http://schemas.microsoft.com/office/drawing/2014/main" id="{49100E84-E54D-4FC1-B0A7-C901995EB704}"/>
              </a:ext>
            </a:extLst>
          </p:cNvPr>
          <p:cNvSpPr>
            <a:spLocks noGrp="1"/>
          </p:cNvSpPr>
          <p:nvPr>
            <p:ph type="ftr" sz="quarter" idx="11"/>
          </p:nvPr>
        </p:nvSpPr>
        <p:spPr/>
        <p:txBody>
          <a:bodyPr/>
          <a:lstStyle/>
          <a:p>
            <a:r>
              <a:rPr lang="en-US"/>
              <a:t>CPF 2023-2027. Öffentliche Version. Maputo, Mai 2022.</a:t>
            </a:r>
            <a:endParaRPr lang="en-US" dirty="0"/>
          </a:p>
        </p:txBody>
      </p:sp>
      <p:sp>
        <p:nvSpPr>
          <p:cNvPr id="12" name="Slide Number Placeholder 11">
            <a:extLst>
              <a:ext uri="{FF2B5EF4-FFF2-40B4-BE49-F238E27FC236}">
                <a16:creationId xmlns:a16="http://schemas.microsoft.com/office/drawing/2014/main" id="{DCA6AA61-52B4-4F2B-A9A8-A05E87711509}"/>
              </a:ext>
            </a:extLst>
          </p:cNvPr>
          <p:cNvSpPr>
            <a:spLocks noGrp="1"/>
          </p:cNvSpPr>
          <p:nvPr>
            <p:ph type="sldNum" sz="quarter" idx="12"/>
          </p:nvPr>
        </p:nvSpPr>
        <p:spPr/>
        <p:txBody>
          <a:bodyPr/>
          <a:lstStyle/>
          <a:p>
            <a:fld id="{B8473C9A-9E91-4025-B5E2-D7B202510636}" type="slidenum">
              <a:rPr lang="en-US" smtClean="0"/>
              <a:t>12</a:t>
            </a:fld>
            <a:endParaRPr lang="en-US" dirty="0"/>
          </a:p>
        </p:txBody>
      </p:sp>
      <p:pic>
        <p:nvPicPr>
          <p:cNvPr id="4" name="Picture 3">
            <a:extLst>
              <a:ext uri="{FF2B5EF4-FFF2-40B4-BE49-F238E27FC236}">
                <a16:creationId xmlns:a16="http://schemas.microsoft.com/office/drawing/2014/main" id="{2398D764-93B7-4422-BA17-F14E0FDF98F1}"/>
              </a:ext>
            </a:extLst>
          </p:cNvPr>
          <p:cNvPicPr>
            <a:picLocks noChangeAspect="1"/>
          </p:cNvPicPr>
          <p:nvPr/>
        </p:nvPicPr>
        <p:blipFill>
          <a:blip r:embed="rId2"/>
          <a:stretch>
            <a:fillRect/>
          </a:stretch>
        </p:blipFill>
        <p:spPr>
          <a:xfrm>
            <a:off x="534297" y="123148"/>
            <a:ext cx="2316681" cy="463336"/>
          </a:xfrm>
          <a:prstGeom prst="rect">
            <a:avLst/>
          </a:prstGeom>
        </p:spPr>
      </p:pic>
    </p:spTree>
    <p:extLst>
      <p:ext uri="{BB962C8B-B14F-4D97-AF65-F5344CB8AC3E}">
        <p14:creationId xmlns:p14="http://schemas.microsoft.com/office/powerpoint/2010/main" val="893228102"/>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5D587-1EC5-4652-83A4-1E754AF01E64}"/>
              </a:ext>
            </a:extLst>
          </p:cNvPr>
          <p:cNvSpPr>
            <a:spLocks noGrp="1"/>
          </p:cNvSpPr>
          <p:nvPr>
            <p:ph type="title"/>
          </p:nvPr>
        </p:nvSpPr>
        <p:spPr>
          <a:xfrm>
            <a:off x="3238724" y="165474"/>
            <a:ext cx="10515600" cy="813680"/>
          </a:xfrm>
        </p:spPr>
        <p:txBody>
          <a:bodyPr>
            <a:noAutofit/>
          </a:bodyPr>
          <a:lstStyle/>
          <a:p>
            <a:r>
              <a:rPr lang="en-US" sz="2400" dirty="0"/>
              <a:t>CPF GJ2017-2021: Gelernte Lektionen</a:t>
            </a:r>
            <a:br/>
            <a:r>
              <a:rPr lang="en-US" sz="2400" dirty="0"/>
              <a:t/>
            </a:r>
            <a:br/>
            <a:r>
              <a:rPr lang="en-US" sz="2400" dirty="0"/>
              <a:t/>
            </a:r>
            <a:endParaRPr lang="pt" sz="24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43620D38-256E-4067-AE12-400CAF4C9E44}"/>
              </a:ext>
            </a:extLst>
          </p:cNvPr>
          <p:cNvSpPr>
            <a:spLocks noGrp="1"/>
          </p:cNvSpPr>
          <p:nvPr>
            <p:ph idx="1"/>
          </p:nvPr>
        </p:nvSpPr>
        <p:spPr>
          <a:xfrm>
            <a:off x="838200" y="980501"/>
            <a:ext cx="10515600" cy="5640635"/>
          </a:xfrm>
        </p:spPr>
        <p:txBody>
          <a:bodyPr>
            <a:noAutofit/>
          </a:bodyPr>
          <a:lstStyle/>
          <a:p>
            <a:pPr marL="365760" lvl="3" indent="-342900" algn="just">
              <a:spcBef>
                <a:spcPts val="1200"/>
              </a:spcBef>
              <a:buFont typeface="+mj-lt"/>
              <a:buAutoNum type="arabicPeriod"/>
            </a:pPr>
            <a:r>
              <a:rPr lang="en-US" b="1" dirty="0">
                <a:highlight>
                  <a:srgbClr val="000000">
                    <a:alpha val="0"/>
                  </a:srgbClr>
                </a:highlight>
              </a:rPr>
              <a:t>Bedeutung einer soliden Ausrichtung an den Regierungszielen, </a:t>
            </a:r>
            <a:r>
              <a:rPr lang="en-US" dirty="0">
                <a:highlight>
                  <a:srgbClr val="000000">
                    <a:alpha val="0"/>
                  </a:srgbClr>
                </a:highlight>
              </a:rPr>
              <a:t>der Nutzung zusätzlicher Ressourcen, der Verwendung einer Reihe von Finanzierungsinstrumenten und weiterer Maßnahmen (Zusatzfinanzierung).</a:t>
            </a:r>
          </a:p>
          <a:p>
            <a:pPr marL="365760" lvl="3" indent="0" algn="just">
              <a:spcBef>
                <a:spcPts val="1200"/>
              </a:spcBef>
              <a:buNone/>
            </a:pPr>
            <a:r>
              <a:rPr lang="pt" b="1" dirty="0">
                <a:highlight>
                  <a:srgbClr val="000000">
                    <a:alpha val="0"/>
                  </a:srgbClr>
                </a:highlight>
              </a:rPr>
              <a:t>	</a:t>
            </a:r>
            <a:r>
              <a:rPr lang="en-US" b="1" dirty="0">
                <a:highlight>
                  <a:srgbClr val="000000">
                    <a:alpha val="0"/>
                  </a:srgbClr>
                </a:highlight>
              </a:rPr>
              <a:t>Flexibilität</a:t>
            </a:r>
            <a:r>
              <a:rPr lang="en-US" dirty="0">
                <a:highlight>
                  <a:srgbClr val="000000">
                    <a:alpha val="0"/>
                  </a:srgbClr>
                </a:highlight>
              </a:rPr>
              <a:t>, das Programm schnell an veränderte Realitäten und neue Regierungsprioritäten anzupassen.</a:t>
            </a:r>
            <a:endParaRPr lang="pt" dirty="0">
              <a:highlight>
                <a:srgbClr val="000000">
                  <a:alpha val="0"/>
                </a:srgbClr>
              </a:highlight>
            </a:endParaRPr>
          </a:p>
          <a:p>
            <a:pPr marL="365760" lvl="3" indent="-342900" algn="just">
              <a:spcBef>
                <a:spcPts val="1200"/>
              </a:spcBef>
              <a:buFont typeface="+mj-lt"/>
              <a:buAutoNum type="arabicPeriod" startAt="2"/>
            </a:pPr>
            <a:r>
              <a:rPr lang="en-US" b="1" i="0" u="none" strike="noStrike" dirty="0">
                <a:highlight>
                  <a:srgbClr val="000000">
                    <a:alpha val="0"/>
                  </a:srgbClr>
                </a:highlight>
                <a:latin typeface="Arial"/>
              </a:rPr>
              <a:t>Fortgesetzte Unterstützung für die Krisenreaktion, </a:t>
            </a:r>
            <a:r>
              <a:rPr lang="en-US" i="0" u="none" strike="noStrike" dirty="0">
                <a:highlight>
                  <a:srgbClr val="000000">
                    <a:alpha val="0"/>
                  </a:srgbClr>
                </a:highlight>
                <a:latin typeface="Arial"/>
              </a:rPr>
              <a:t>Vorsorge und Prävention, wie durch den Schwerpunkt des vorigen CPF auf Erholung und Resilienz belegt – bei dem die WBG ihr technisches Fachwissen und ihre Ressourcenmobilisierungskapazität nutzte, um die Reaktionskapazitäten zu stärken und in die Prävention zu investieren .</a:t>
            </a:r>
            <a:r>
              <a:rPr lang="pt" i="0" u="none" strike="noStrike" dirty="0">
                <a:highlight>
                  <a:srgbClr val="000000">
                    <a:alpha val="0"/>
                  </a:srgbClr>
                </a:highlight>
                <a:latin typeface="Arial"/>
              </a:rPr>
              <a:t> </a:t>
            </a:r>
          </a:p>
          <a:p>
            <a:pPr marL="365760" lvl="3" indent="-342900" algn="just">
              <a:spcBef>
                <a:spcPts val="1200"/>
              </a:spcBef>
              <a:buFont typeface="+mj-lt"/>
              <a:buAutoNum type="arabicPeriod" startAt="2"/>
            </a:pPr>
            <a:r>
              <a:rPr lang="en-US" b="1" i="0" u="none" strike="noStrike" dirty="0">
                <a:highlight>
                  <a:srgbClr val="000000">
                    <a:alpha val="0"/>
                  </a:srgbClr>
                </a:highlight>
                <a:latin typeface="Arial"/>
              </a:rPr>
              <a:t>Armut und Landwirtschaft. </a:t>
            </a:r>
            <a:r>
              <a:rPr lang="en-US" i="0" u="none" strike="noStrike" dirty="0">
                <a:highlight>
                  <a:srgbClr val="000000">
                    <a:alpha val="0"/>
                  </a:srgbClr>
                </a:highlight>
                <a:latin typeface="Arial"/>
              </a:rPr>
              <a:t>Obwohl die Unterstützung für landwirtschaftliche Produktivität und ländliche Entwicklung bis zu 30 Prozent der gesamten finanziellen Mittelzuweisung der Weltbank ausmacht, scheint diese Unterstützung nur geringfügig zur Steigerung der gesamten landwirtschaftlichen Produktivität und damit</a:t>
            </a:r>
            <a:r>
              <a:rPr lang="en-US" i="0" u="none" strike="noStrike">
                <a:highlight>
                  <a:srgbClr val="000000">
                    <a:alpha val="0"/>
                  </a:srgbClr>
                </a:highlight>
                <a:latin typeface="Arial"/>
              </a:rPr>
              <a:t>, </a:t>
            </a:r>
            <a:r>
              <a:rPr lang="en-US">
                <a:highlight>
                  <a:srgbClr val="000000">
                    <a:alpha val="0"/>
                  </a:srgbClr>
                </a:highlight>
                <a:latin typeface="Arial"/>
              </a:rPr>
              <a:t>zur</a:t>
            </a:r>
            <a:r>
              <a:rPr lang="en-US" i="0" u="none" strike="noStrike">
                <a:highlight>
                  <a:srgbClr val="000000">
                    <a:alpha val="0"/>
                  </a:srgbClr>
                </a:highlight>
                <a:latin typeface="Arial"/>
              </a:rPr>
              <a:t> </a:t>
            </a:r>
            <a:r>
              <a:rPr lang="en-US" i="0" u="none" strike="noStrike" dirty="0">
                <a:highlight>
                  <a:srgbClr val="000000">
                    <a:alpha val="0"/>
                  </a:srgbClr>
                </a:highlight>
                <a:latin typeface="Arial"/>
              </a:rPr>
              <a:t>Armutsminderung beigetragen zu haben.</a:t>
            </a:r>
          </a:p>
          <a:p>
            <a:pPr marL="365760" lvl="3" indent="-342900" algn="just">
              <a:spcBef>
                <a:spcPts val="1200"/>
              </a:spcBef>
              <a:buFont typeface="+mj-lt"/>
              <a:buAutoNum type="arabicPeriod" startAt="2"/>
            </a:pPr>
            <a:r>
              <a:rPr lang="en-US" b="1" dirty="0"/>
              <a:t>Ein erneuerter Fokus auf institutionelle Stärkung und Wirtschaftsreformen </a:t>
            </a:r>
            <a:r>
              <a:rPr lang="en-US" dirty="0"/>
              <a:t>könnte die Wirkung des künftigen CPF erhöhen, was die Wiederaufnahme von Budgethilfeoperationen in Verbindung mit technischer Hilfe und Studien beinhalten würde – ergänzt durch andere Finanzierungsinstrumente, wenn nötig.</a:t>
            </a:r>
            <a:endParaRPr lang="en-US" sz="1700" dirty="0"/>
          </a:p>
        </p:txBody>
      </p:sp>
      <p:sp>
        <p:nvSpPr>
          <p:cNvPr id="7" name="Footer Placeholder 6">
            <a:extLst>
              <a:ext uri="{FF2B5EF4-FFF2-40B4-BE49-F238E27FC236}">
                <a16:creationId xmlns:a16="http://schemas.microsoft.com/office/drawing/2014/main" id="{EA26D24A-3B7F-448D-A0A9-325CA054BE8D}"/>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49CB3C9C-220F-4711-ADCB-DE773403F0D2}"/>
              </a:ext>
            </a:extLst>
          </p:cNvPr>
          <p:cNvSpPr>
            <a:spLocks noGrp="1"/>
          </p:cNvSpPr>
          <p:nvPr>
            <p:ph type="sldNum" sz="quarter" idx="12"/>
          </p:nvPr>
        </p:nvSpPr>
        <p:spPr/>
        <p:txBody>
          <a:bodyPr/>
          <a:lstStyle/>
          <a:p>
            <a:fld id="{B8473C9A-9E91-4025-B5E2-D7B202510636}" type="slidenum">
              <a:rPr lang="en-US" smtClean="0"/>
              <a:t>13</a:t>
            </a:fld>
            <a:endParaRPr lang="en-US" dirty="0"/>
          </a:p>
        </p:txBody>
      </p:sp>
      <p:pic>
        <p:nvPicPr>
          <p:cNvPr id="4" name="Picture 3">
            <a:extLst>
              <a:ext uri="{FF2B5EF4-FFF2-40B4-BE49-F238E27FC236}">
                <a16:creationId xmlns:a16="http://schemas.microsoft.com/office/drawing/2014/main" id="{CE072EBA-EE85-483D-962C-E95907C911AA}"/>
              </a:ext>
            </a:extLst>
          </p:cNvPr>
          <p:cNvPicPr>
            <a:picLocks noChangeAspect="1"/>
          </p:cNvPicPr>
          <p:nvPr/>
        </p:nvPicPr>
        <p:blipFill>
          <a:blip r:embed="rId2"/>
          <a:stretch>
            <a:fillRect/>
          </a:stretch>
        </p:blipFill>
        <p:spPr>
          <a:xfrm>
            <a:off x="441859" y="236864"/>
            <a:ext cx="2316681" cy="463336"/>
          </a:xfrm>
          <a:prstGeom prst="rect">
            <a:avLst/>
          </a:prstGeom>
        </p:spPr>
      </p:pic>
    </p:spTree>
    <p:extLst>
      <p:ext uri="{BB962C8B-B14F-4D97-AF65-F5344CB8AC3E}">
        <p14:creationId xmlns:p14="http://schemas.microsoft.com/office/powerpoint/2010/main" val="159121229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838200" y="136525"/>
            <a:ext cx="10515600" cy="1325563"/>
          </a:xfrm>
        </p:spPr>
        <p:txBody>
          <a:bodyPr>
            <a:noAutofit/>
          </a:bodyPr>
          <a:lstStyle/>
          <a:p>
            <a:pPr algn="ctr"/>
            <a:r>
              <a:rPr lang="en-US" sz="4000" dirty="0"/>
              <a:t>Präsentationsstruktur</a:t>
            </a:r>
            <a:br/>
            <a:r>
              <a:rPr lang="en-US" sz="4000" dirty="0"/>
              <a:t/>
            </a:r>
            <a:br/>
            <a:r>
              <a:rPr lang="en-US" sz="4000" dirty="0"/>
              <a:t/>
            </a:r>
            <a:endParaRPr lang="pt" sz="40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217843" y="1462089"/>
            <a:ext cx="11357385" cy="4648256"/>
          </a:xfrm>
        </p:spPr>
        <p:txBody>
          <a:bodyPr>
            <a:noAutofit/>
          </a:bodyPr>
          <a:lstStyle/>
          <a:p>
            <a:pPr marL="1371600" lvl="3" indent="-571500">
              <a:lnSpc>
                <a:spcPct val="100000"/>
              </a:lnSpc>
              <a:spcBef>
                <a:spcPts val="1200"/>
              </a:spcBef>
              <a:spcAft>
                <a:spcPts val="1200"/>
              </a:spcAft>
              <a:buFont typeface="+mj-lt"/>
              <a:buAutoNum type="romanUcPeriod"/>
            </a:pPr>
            <a:r>
              <a:rPr lang="en-US" sz="3200" b="1" dirty="0">
                <a:solidFill>
                  <a:schemeClr val="bg2">
                    <a:lumMod val="90000"/>
                  </a:schemeClr>
                </a:solidFill>
              </a:rPr>
              <a:t>Sichtweise der Weltbankgruppe auf die wichtigsten strategischen Herausforderungen des Landes   </a:t>
            </a:r>
            <a:br/>
            <a:r>
              <a:rPr lang="en-US" sz="3200" b="1" dirty="0">
                <a:solidFill>
                  <a:schemeClr val="bg2">
                    <a:lumMod val="90000"/>
                  </a:schemeClr>
                </a:solidFill>
              </a:rPr>
              <a:t>Wichtigste Lehren aus dem vorigen CPF (2017-2021</a:t>
            </a:r>
            <a:br/>
            <a:r>
              <a:rPr lang="en-US" sz="3200" b="1" dirty="0">
                <a:solidFill>
                  <a:schemeClr val="bg2">
                    <a:lumMod val="90000"/>
                  </a:schemeClr>
                </a:solidFill>
              </a:rPr>
              <a:t/>
            </a:r>
            <a:r>
              <a:rPr lang="pt-BR" sz="3200" b="1" i="0" u="none" strike="noStrike" dirty="0">
                <a:solidFill>
                  <a:schemeClr val="bg2">
                    <a:lumMod val="90000"/>
                  </a:schemeClr>
                </a:solidFill>
                <a:highlight>
                  <a:srgbClr val="000000">
                    <a:alpha val="0"/>
                  </a:srgbClr>
                </a:highlight>
                <a:latin typeface="Arial"/>
              </a:rPr>
              <a:t>)</a:t>
            </a:r>
          </a:p>
          <a:p>
            <a:pPr marL="1371600" lvl="3" indent="-571500">
              <a:lnSpc>
                <a:spcPct val="100000"/>
              </a:lnSpc>
              <a:spcBef>
                <a:spcPts val="1200"/>
              </a:spcBef>
              <a:spcAft>
                <a:spcPts val="1200"/>
              </a:spcAft>
              <a:buFont typeface="+mj-lt"/>
              <a:buAutoNum type="romanUcPeriod"/>
            </a:pPr>
            <a:r>
              <a:rPr lang="en-US" sz="3200" b="1" dirty="0"/>
              <a:t>Erster Vorschlag für den CPF 2023-2027</a:t>
            </a:r>
            <a:endParaRPr lang="pt" sz="3200" b="1" i="0" u="none" strike="noStrike"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7A6A430E-5458-416E-A9AB-A23A8820A72E}"/>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4D9E7C67-67A0-4D86-94F9-54FE0825882C}"/>
              </a:ext>
            </a:extLst>
          </p:cNvPr>
          <p:cNvSpPr>
            <a:spLocks noGrp="1"/>
          </p:cNvSpPr>
          <p:nvPr>
            <p:ph type="sldNum" sz="quarter" idx="12"/>
          </p:nvPr>
        </p:nvSpPr>
        <p:spPr/>
        <p:txBody>
          <a:bodyPr/>
          <a:lstStyle/>
          <a:p>
            <a:fld id="{B8473C9A-9E91-4025-B5E2-D7B202510636}" type="slidenum">
              <a:rPr lang="en-US" smtClean="0"/>
              <a:t>14</a:t>
            </a:fld>
            <a:endParaRPr lang="en-US" dirty="0"/>
          </a:p>
        </p:txBody>
      </p:sp>
      <p:pic>
        <p:nvPicPr>
          <p:cNvPr id="4" name="Picture 3">
            <a:extLst>
              <a:ext uri="{FF2B5EF4-FFF2-40B4-BE49-F238E27FC236}">
                <a16:creationId xmlns:a16="http://schemas.microsoft.com/office/drawing/2014/main" id="{B1281B00-F5BC-4B51-A637-214484886365}"/>
              </a:ext>
            </a:extLst>
          </p:cNvPr>
          <p:cNvPicPr>
            <a:picLocks noChangeAspect="1"/>
          </p:cNvPicPr>
          <p:nvPr/>
        </p:nvPicPr>
        <p:blipFill>
          <a:blip r:embed="rId2"/>
          <a:stretch>
            <a:fillRect/>
          </a:stretch>
        </p:blipFill>
        <p:spPr>
          <a:xfrm>
            <a:off x="217843" y="284319"/>
            <a:ext cx="2316681" cy="463336"/>
          </a:xfrm>
          <a:prstGeom prst="rect">
            <a:avLst/>
          </a:prstGeom>
        </p:spPr>
      </p:pic>
    </p:spTree>
    <p:extLst>
      <p:ext uri="{BB962C8B-B14F-4D97-AF65-F5344CB8AC3E}">
        <p14:creationId xmlns:p14="http://schemas.microsoft.com/office/powerpoint/2010/main" val="1566909184"/>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8FB915-6269-468D-BE41-290933A67848}"/>
              </a:ext>
            </a:extLst>
          </p:cNvPr>
          <p:cNvSpPr>
            <a:spLocks noGrp="1"/>
          </p:cNvSpPr>
          <p:nvPr>
            <p:ph type="title"/>
          </p:nvPr>
        </p:nvSpPr>
        <p:spPr>
          <a:xfrm>
            <a:off x="210151" y="117383"/>
            <a:ext cx="11674365" cy="974115"/>
          </a:xfrm>
        </p:spPr>
        <p:txBody>
          <a:bodyPr>
            <a:noAutofit/>
          </a:bodyPr>
          <a:lstStyle/>
          <a:p>
            <a:pPr algn="r" rtl="0"/>
            <a:r>
              <a:rPr lang="en-US" sz="2400" b="1" i="0" u="none" strike="noStrike" dirty="0">
                <a:highlight>
                  <a:srgbClr val="000000">
                    <a:alpha val="0"/>
                  </a:srgbClr>
                </a:highlight>
                <a:latin typeface="Arial"/>
              </a:rPr>
              <a:t>Regierungsprogramm und mittelfristige Strategie (1-2)</a:t>
            </a:r>
            <a:endParaRPr lang="pt" sz="2400" b="1" i="0"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B67758D-AD88-4CBF-86DB-74D79CEE14E6}"/>
              </a:ext>
            </a:extLst>
          </p:cNvPr>
          <p:cNvSpPr>
            <a:spLocks noGrp="1"/>
          </p:cNvSpPr>
          <p:nvPr>
            <p:ph idx="1"/>
          </p:nvPr>
        </p:nvSpPr>
        <p:spPr>
          <a:xfrm>
            <a:off x="2885431" y="920048"/>
            <a:ext cx="9096418" cy="5436302"/>
          </a:xfrm>
        </p:spPr>
        <p:txBody>
          <a:bodyPr>
            <a:noAutofit/>
          </a:bodyPr>
          <a:lstStyle/>
          <a:p>
            <a:pPr algn="just" rtl="0">
              <a:lnSpc>
                <a:spcPct val="100000"/>
              </a:lnSpc>
            </a:pPr>
            <a:r>
              <a:rPr lang="en-US" sz="1400" b="1" i="0" u="none" strike="noStrike" dirty="0">
                <a:highlight>
                  <a:srgbClr val="000000">
                    <a:alpha val="0"/>
                  </a:srgbClr>
                </a:highlight>
                <a:latin typeface="Arial"/>
              </a:rPr>
              <a:t>Die Regierung Mosambiks hat eine nationale Entwicklungsstrategie (ENDE) für 2015-2030 erarbeitet. </a:t>
            </a:r>
            <a:r>
              <a:rPr lang="en-US" sz="1400" i="0" u="none" strike="noStrike" dirty="0">
                <a:highlight>
                  <a:srgbClr val="000000">
                    <a:alpha val="0"/>
                  </a:srgbClr>
                </a:highlight>
                <a:latin typeface="Arial"/>
              </a:rPr>
              <a:t>Im Rahmen dieser Strategie legt die Regierung anschließend sektorale und territoriale Entwicklungspläne fest; die entsprechenden Fünfjahrespläne; das mittelfristige Finanzszenario sowie den Sozial-, Wirtschafts- und Staatshaushaltsplan.</a:t>
            </a:r>
          </a:p>
          <a:p>
            <a:pPr algn="just" rtl="0">
              <a:lnSpc>
                <a:spcPct val="100000"/>
              </a:lnSpc>
            </a:pPr>
            <a:r>
              <a:rPr lang="en-US" sz="1400" b="1" i="0" u="none" strike="noStrike" dirty="0">
                <a:highlight>
                  <a:srgbClr val="000000">
                    <a:alpha val="0"/>
                  </a:srgbClr>
                </a:highlight>
                <a:latin typeface="Arial"/>
              </a:rPr>
              <a:t>ENDE: 2022-2042. Vision: </a:t>
            </a:r>
            <a:r>
              <a:rPr lang="en-US" sz="1400" i="0" u="none" strike="noStrike" dirty="0">
                <a:highlight>
                  <a:srgbClr val="000000">
                    <a:alpha val="0"/>
                  </a:srgbClr>
                </a:highlight>
                <a:latin typeface="Arial"/>
              </a:rPr>
              <a:t>„Verbesserung des Lebensstandards der Bevölkerung durch strukturelle Transformation der Wirtschaft von einer Primärwirtschaft zu einer industrialisierten Dienstleistungswirtschaft.“ Neu vorgeschlagene Schwerpunktbereiche: (i) wirtschaftliche Transformation, (ii) soziale Transformation, (iii) Staatsführung sowie (iv) Umwelt und Kreislaufwirtschaft.</a:t>
            </a:r>
          </a:p>
          <a:p>
            <a:pPr algn="just" rtl="0">
              <a:lnSpc>
                <a:spcPct val="100000"/>
              </a:lnSpc>
            </a:pPr>
            <a:r>
              <a:rPr lang="en-US" sz="1400" b="1" i="0" u="none" strike="noStrike" dirty="0">
                <a:highlight>
                  <a:srgbClr val="000000">
                    <a:alpha val="0"/>
                  </a:srgbClr>
                </a:highlight>
                <a:latin typeface="Arial"/>
              </a:rPr>
              <a:t>Das Fünfjahresprogramm der Regierung (PQG) 2020-2024  </a:t>
            </a:r>
            <a:r>
              <a:rPr lang="en-US" sz="1400" i="0" u="none" strike="noStrike" dirty="0">
                <a:highlight>
                  <a:srgbClr val="000000">
                    <a:alpha val="0"/>
                  </a:srgbClr>
                </a:highlight>
                <a:latin typeface="Arial"/>
              </a:rPr>
              <a:t>wird weiterhin der wichtigste Leitfaden für staatliche Maßnahmen und Strategien in den Jahren 2023-24 sein. Nach den Nationalwahlen 2024 wird ein neues PQG erwartet. Die Regierung hat eine Strategie zur Konflikt- und Gewaltprävention als Teil des Prozesses entwickelt, um die Förderfähigkeit für die Prävention- und Resilienz-Zuweisung (PRA, Prevention and Resilience Allocation) im Rahmen der IDA19 sicherzustellen.</a:t>
            </a:r>
          </a:p>
          <a:p>
            <a:pPr marR="0" algn="just">
              <a:lnSpc>
                <a:spcPct val="100000"/>
              </a:lnSpc>
              <a:spcAft>
                <a:spcPct val="0"/>
              </a:spcAft>
            </a:pPr>
            <a:r>
              <a:rPr lang="en-US" b="1" dirty="0"/>
              <a:t>Die Regierung verfügt auch über eine robuste Strategie für den Energiesektor</a:t>
            </a:r>
            <a:r>
              <a:rPr lang="en-US" dirty="0"/>
              <a:t>. Die Energiestrategie für den Zeitraum 2015-2024 zielt darauf ab: (i) Infrastruktur und Energieerzeugung für lokale Märkte und Energieexporte (Gas und Strom) auszubauen. (ii) Den lokalen Zugang zu Elektrizität von 25 Prozent im Jahr 2015 auf 62 Prozent bis Ende 2024 zu erweitern, was der wirtschaftlichen und sozialen Entwicklung des Landes erheblichen Auftrieb verleihen soll.</a:t>
            </a:r>
          </a:p>
          <a:p>
            <a:pPr marR="0" algn="just">
              <a:lnSpc>
                <a:spcPct val="100000"/>
              </a:lnSpc>
              <a:spcAft>
                <a:spcPct val="0"/>
              </a:spcAft>
            </a:pPr>
            <a:r>
              <a:rPr lang="en-US" b="1" dirty="0"/>
              <a:t>Die Regierung hat die Nationale Strategie zur Anpassung an den Klimawandel und zur Minderung seiner Folgen verabschiedet</a:t>
            </a:r>
            <a:r>
              <a:rPr lang="en-US" dirty="0"/>
              <a:t>, die den übergeordneten politischen Rahmen für klimaresistente Planung und Entwicklung vorgibt. Die laufende Überarbeitung der ENDE bietet eine Gelegenheit, den Klimawandel in die Entwicklungsstrategie zu integrieren.</a:t>
            </a:r>
          </a:p>
          <a:p>
            <a:pPr marL="0" marR="0" algn="just">
              <a:lnSpc>
                <a:spcPct val="100000"/>
              </a:lnSpc>
              <a:spcBef>
                <a:spcPct val="0"/>
              </a:spcBef>
              <a:spcAft>
                <a:spcPct val="0"/>
              </a:spcAft>
            </a:pPr>
            <a:endParaRPr lang="en-US" dirty="0">
              <a:effectLst/>
              <a:ea typeface="Times New Roman" panose="02020603050405020304" pitchFamily="18" charset="0"/>
            </a:endParaRPr>
          </a:p>
          <a:p>
            <a:pPr>
              <a:lnSpc>
                <a:spcPct val="100000"/>
              </a:lnSpc>
            </a:pPr>
            <a:endParaRPr lang="en-US" dirty="0"/>
          </a:p>
        </p:txBody>
      </p:sp>
      <p:sp>
        <p:nvSpPr>
          <p:cNvPr id="13" name="TextBox 12">
            <a:extLst>
              <a:ext uri="{FF2B5EF4-FFF2-40B4-BE49-F238E27FC236}">
                <a16:creationId xmlns:a16="http://schemas.microsoft.com/office/drawing/2014/main" id="{275A71C0-DD1F-4344-896E-1E6D79421314}"/>
              </a:ext>
            </a:extLst>
          </p:cNvPr>
          <p:cNvSpPr txBox="1"/>
          <p:nvPr/>
        </p:nvSpPr>
        <p:spPr>
          <a:xfrm>
            <a:off x="421936" y="1091498"/>
            <a:ext cx="2251710" cy="830997"/>
          </a:xfrm>
          <a:prstGeom prst="rect">
            <a:avLst/>
          </a:prstGeom>
          <a:noFill/>
        </p:spPr>
        <p:txBody>
          <a:bodyPr wrap="square">
            <a:noAutofit/>
          </a:bodyPr>
          <a:lstStyle/>
          <a:p>
            <a:pPr algn="ctr" rtl="0"/>
            <a:r>
              <a:rPr lang="en-US" sz="1600" b="1" i="0" u="none" strike="noStrike">
                <a:highlight>
                  <a:srgbClr val="000000">
                    <a:alpha val="0"/>
                  </a:srgbClr>
                </a:highlight>
                <a:latin typeface="Arial"/>
                <a:ea typeface="Times New Roman"/>
              </a:rPr>
              <a:t>Strategischer Planungsrahmen Mosambiks</a:t>
            </a:r>
            <a:endParaRPr lang="en-US" sz="1600" b="1" dirty="0"/>
          </a:p>
        </p:txBody>
      </p:sp>
      <p:sp>
        <p:nvSpPr>
          <p:cNvPr id="7" name="Footer Placeholder 6">
            <a:extLst>
              <a:ext uri="{FF2B5EF4-FFF2-40B4-BE49-F238E27FC236}">
                <a16:creationId xmlns:a16="http://schemas.microsoft.com/office/drawing/2014/main" id="{3C07539B-E0FF-42CA-B8A4-65A60A9256F0}"/>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08206547-D93E-4655-9380-0A7EF5A3B216}"/>
              </a:ext>
            </a:extLst>
          </p:cNvPr>
          <p:cNvSpPr>
            <a:spLocks noGrp="1"/>
          </p:cNvSpPr>
          <p:nvPr>
            <p:ph type="sldNum" sz="quarter" idx="12"/>
          </p:nvPr>
        </p:nvSpPr>
        <p:spPr/>
        <p:txBody>
          <a:bodyPr/>
          <a:lstStyle/>
          <a:p>
            <a:fld id="{B8473C9A-9E91-4025-B5E2-D7B202510636}" type="slidenum">
              <a:rPr lang="en-US" smtClean="0"/>
              <a:t>15</a:t>
            </a:fld>
            <a:endParaRPr lang="en-US" dirty="0"/>
          </a:p>
        </p:txBody>
      </p:sp>
      <p:pic>
        <p:nvPicPr>
          <p:cNvPr id="5" name="Picture 4">
            <a:extLst>
              <a:ext uri="{FF2B5EF4-FFF2-40B4-BE49-F238E27FC236}">
                <a16:creationId xmlns:a16="http://schemas.microsoft.com/office/drawing/2014/main" id="{B154BE3C-E233-49B7-A33C-58E1AF92F8FF}"/>
              </a:ext>
            </a:extLst>
          </p:cNvPr>
          <p:cNvPicPr>
            <a:picLocks noChangeAspect="1"/>
          </p:cNvPicPr>
          <p:nvPr/>
        </p:nvPicPr>
        <p:blipFill>
          <a:blip r:embed="rId3"/>
          <a:stretch>
            <a:fillRect/>
          </a:stretch>
        </p:blipFill>
        <p:spPr>
          <a:xfrm>
            <a:off x="275447" y="1922495"/>
            <a:ext cx="2609984" cy="1371670"/>
          </a:xfrm>
          <a:prstGeom prst="rect">
            <a:avLst/>
          </a:prstGeom>
        </p:spPr>
      </p:pic>
      <p:pic>
        <p:nvPicPr>
          <p:cNvPr id="6" name="Picture 5">
            <a:extLst>
              <a:ext uri="{FF2B5EF4-FFF2-40B4-BE49-F238E27FC236}">
                <a16:creationId xmlns:a16="http://schemas.microsoft.com/office/drawing/2014/main" id="{82A4F521-947E-4F41-8989-A9E808E1FB24}"/>
              </a:ext>
            </a:extLst>
          </p:cNvPr>
          <p:cNvPicPr>
            <a:picLocks noChangeAspect="1"/>
          </p:cNvPicPr>
          <p:nvPr/>
        </p:nvPicPr>
        <p:blipFill>
          <a:blip r:embed="rId4"/>
          <a:stretch>
            <a:fillRect/>
          </a:stretch>
        </p:blipFill>
        <p:spPr>
          <a:xfrm>
            <a:off x="581456" y="2695170"/>
            <a:ext cx="1943200" cy="1028753"/>
          </a:xfrm>
          <a:prstGeom prst="rect">
            <a:avLst/>
          </a:prstGeom>
        </p:spPr>
      </p:pic>
      <p:pic>
        <p:nvPicPr>
          <p:cNvPr id="9" name="Picture 8">
            <a:extLst>
              <a:ext uri="{FF2B5EF4-FFF2-40B4-BE49-F238E27FC236}">
                <a16:creationId xmlns:a16="http://schemas.microsoft.com/office/drawing/2014/main" id="{93473CB6-38EC-401B-8248-CA013BA9AD4B}"/>
              </a:ext>
            </a:extLst>
          </p:cNvPr>
          <p:cNvPicPr>
            <a:picLocks noChangeAspect="1"/>
          </p:cNvPicPr>
          <p:nvPr/>
        </p:nvPicPr>
        <p:blipFill>
          <a:blip r:embed="rId5"/>
          <a:stretch>
            <a:fillRect/>
          </a:stretch>
        </p:blipFill>
        <p:spPr>
          <a:xfrm>
            <a:off x="842905" y="3416946"/>
            <a:ext cx="1409772" cy="914447"/>
          </a:xfrm>
          <a:prstGeom prst="rect">
            <a:avLst/>
          </a:prstGeom>
        </p:spPr>
      </p:pic>
      <p:pic>
        <p:nvPicPr>
          <p:cNvPr id="12" name="Picture 11">
            <a:extLst>
              <a:ext uri="{FF2B5EF4-FFF2-40B4-BE49-F238E27FC236}">
                <a16:creationId xmlns:a16="http://schemas.microsoft.com/office/drawing/2014/main" id="{695A486F-A69A-4D7E-9A13-4053BA05D168}"/>
              </a:ext>
            </a:extLst>
          </p:cNvPr>
          <p:cNvPicPr>
            <a:picLocks noChangeAspect="1"/>
          </p:cNvPicPr>
          <p:nvPr/>
        </p:nvPicPr>
        <p:blipFill>
          <a:blip r:embed="rId6"/>
          <a:stretch>
            <a:fillRect/>
          </a:stretch>
        </p:blipFill>
        <p:spPr>
          <a:xfrm>
            <a:off x="961282" y="4068498"/>
            <a:ext cx="1238314" cy="704886"/>
          </a:xfrm>
          <a:prstGeom prst="rect">
            <a:avLst/>
          </a:prstGeom>
        </p:spPr>
      </p:pic>
      <p:pic>
        <p:nvPicPr>
          <p:cNvPr id="14" name="Picture 13">
            <a:extLst>
              <a:ext uri="{FF2B5EF4-FFF2-40B4-BE49-F238E27FC236}">
                <a16:creationId xmlns:a16="http://schemas.microsoft.com/office/drawing/2014/main" id="{3AD427A3-5513-40A2-8EB4-47A749B68E50}"/>
              </a:ext>
            </a:extLst>
          </p:cNvPr>
          <p:cNvPicPr>
            <a:picLocks noChangeAspect="1"/>
          </p:cNvPicPr>
          <p:nvPr/>
        </p:nvPicPr>
        <p:blipFill>
          <a:blip r:embed="rId7"/>
          <a:stretch>
            <a:fillRect/>
          </a:stretch>
        </p:blipFill>
        <p:spPr>
          <a:xfrm>
            <a:off x="961282" y="4575006"/>
            <a:ext cx="1085906" cy="1085906"/>
          </a:xfrm>
          <a:prstGeom prst="rect">
            <a:avLst/>
          </a:prstGeom>
        </p:spPr>
      </p:pic>
      <p:pic>
        <p:nvPicPr>
          <p:cNvPr id="15" name="Picture 14">
            <a:extLst>
              <a:ext uri="{FF2B5EF4-FFF2-40B4-BE49-F238E27FC236}">
                <a16:creationId xmlns:a16="http://schemas.microsoft.com/office/drawing/2014/main" id="{60585D39-674F-4998-BCCE-060C6E065B1D}"/>
              </a:ext>
            </a:extLst>
          </p:cNvPr>
          <p:cNvPicPr>
            <a:picLocks noChangeAspect="1"/>
          </p:cNvPicPr>
          <p:nvPr/>
        </p:nvPicPr>
        <p:blipFill>
          <a:blip r:embed="rId8"/>
          <a:stretch>
            <a:fillRect/>
          </a:stretch>
        </p:blipFill>
        <p:spPr>
          <a:xfrm>
            <a:off x="389450" y="198404"/>
            <a:ext cx="2316681" cy="463336"/>
          </a:xfrm>
          <a:prstGeom prst="rect">
            <a:avLst/>
          </a:prstGeom>
        </p:spPr>
      </p:pic>
    </p:spTree>
    <p:extLst>
      <p:ext uri="{BB962C8B-B14F-4D97-AF65-F5344CB8AC3E}">
        <p14:creationId xmlns:p14="http://schemas.microsoft.com/office/powerpoint/2010/main" val="269148502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0905DBB9-16CF-4238-810E-D8E86FC842AF}"/>
              </a:ext>
            </a:extLst>
          </p:cNvPr>
          <p:cNvSpPr txBox="1"/>
          <p:nvPr/>
        </p:nvSpPr>
        <p:spPr>
          <a:xfrm>
            <a:off x="342901" y="803128"/>
            <a:ext cx="11527970" cy="555322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rtl="0">
              <a:lnSpc>
                <a:spcPct val="100000"/>
              </a:lnSpc>
              <a:spcAft>
                <a:spcPts val="800"/>
              </a:spcAft>
              <a:buNone/>
            </a:pPr>
            <a:r>
              <a:rPr lang="en-US" sz="1400" b="1" i="0" u="none" strike="noStrike" dirty="0">
                <a:highlight>
                  <a:srgbClr val="000000">
                    <a:alpha val="0"/>
                  </a:srgbClr>
                </a:highlight>
                <a:latin typeface="Arial"/>
              </a:rPr>
              <a:t>Die Regierung hat auch einen ehrgeizigen Plan zur Verbesserung der Governance auf der Grundlage des Diagnoseberichts zu Transparenz, Governance und Korruption im Nachgang der Krise der versteckten Schulden von 2016 verabschiedet.</a:t>
            </a:r>
          </a:p>
          <a:p>
            <a:pPr algn="just">
              <a:lnSpc>
                <a:spcPct val="100000"/>
              </a:lnSpc>
              <a:spcAft>
                <a:spcPts val="800"/>
              </a:spcAft>
            </a:pPr>
            <a:r>
              <a:rPr lang="en-US" sz="1400" i="0" u="none" strike="noStrike" dirty="0">
                <a:highlight>
                  <a:srgbClr val="000000">
                    <a:alpha val="0"/>
                  </a:srgbClr>
                </a:highlight>
                <a:latin typeface="Arial"/>
              </a:rPr>
              <a:t>Die Behörden ergriffen mehrere Maßnahmen zur Eindämmung der Staatsausgaben. Ein solides Haushaltskonsolidierungsprogramm reduzierte das Primärdefizit zwischen 2015 und 2018 von 6% auf 2% des BIP und hatte die Staatsverschuldung auf einen rückläufigen Pfad gebracht.</a:t>
            </a:r>
          </a:p>
          <a:p>
            <a:pPr algn="just">
              <a:lnSpc>
                <a:spcPct val="100000"/>
              </a:lnSpc>
              <a:spcAft>
                <a:spcPts val="800"/>
              </a:spcAft>
            </a:pPr>
            <a:r>
              <a:rPr lang="en-US" sz="1400" i="0" u="none" strike="noStrike" dirty="0">
                <a:highlight>
                  <a:srgbClr val="000000">
                    <a:alpha val="0"/>
                  </a:srgbClr>
                </a:highlight>
                <a:latin typeface="Arial"/>
              </a:rPr>
              <a:t>Die Aufsicht über Staatsunternehmen wurde gestärkt. Nur das Ministerium für Wirtschaft und Finanzen kann Garantien im Namen der Regierung unterzeichnen, sofern dies die vom Parlament im jährlichen Haushaltsgesetz genehmigte Obergrenze unterschreitet. Im Jahr 2018 wurde die Governance von Staatsunternehmen ebenfalls durch ein neues Gesetz für öffentliche Unternehmen gestärkt.</a:t>
            </a:r>
          </a:p>
          <a:p>
            <a:pPr algn="just">
              <a:lnSpc>
                <a:spcPct val="100000"/>
              </a:lnSpc>
              <a:spcAft>
                <a:spcPts val="800"/>
              </a:spcAft>
            </a:pPr>
            <a:r>
              <a:rPr lang="en-US" sz="1400" i="0" u="none" strike="noStrike" dirty="0">
                <a:highlight>
                  <a:srgbClr val="000000">
                    <a:alpha val="0"/>
                  </a:srgbClr>
                </a:highlight>
                <a:latin typeface="Arial"/>
              </a:rPr>
              <a:t>Es wurden erhebliche Fortschritte bei der fiskalischen Transparenz erzielt, mit der regelmäßigen Veröffentlichung von Fiskalrisikoberichten und umfassenden Berichten über schuldbezogene Staatsunternehmen und LNG.</a:t>
            </a:r>
          </a:p>
          <a:p>
            <a:pPr algn="just">
              <a:lnSpc>
                <a:spcPct val="100000"/>
              </a:lnSpc>
              <a:spcAft>
                <a:spcPts val="800"/>
              </a:spcAft>
            </a:pPr>
            <a:r>
              <a:rPr lang="en-US" sz="1400" i="0" u="none" strike="noStrike" dirty="0">
                <a:highlight>
                  <a:srgbClr val="000000">
                    <a:alpha val="0"/>
                  </a:srgbClr>
                </a:highlight>
                <a:latin typeface="Arial"/>
              </a:rPr>
              <a:t>Im Jahr 2020 wurde ein neues globales Öffentliches-Finanzmanagement-Gesetz verabschiedet, das Staatsunternehmen und subnationale Regierungen in das Haushaltssystem integriert.</a:t>
            </a:r>
          </a:p>
          <a:p>
            <a:pPr marL="0" indent="0" algn="just">
              <a:lnSpc>
                <a:spcPct val="110000"/>
              </a:lnSpc>
              <a:buNone/>
            </a:pPr>
            <a:r>
              <a:rPr lang="en-US" sz="1400" b="1" dirty="0"/>
              <a:t>Klima- und katastrophenbezogene politische Maßnahmen wurden seit 2010 umgesetzt</a:t>
            </a:r>
          </a:p>
          <a:p>
            <a:pPr algn="just">
              <a:lnSpc>
                <a:spcPct val="110000"/>
              </a:lnSpc>
            </a:pPr>
            <a:r>
              <a:rPr lang="en-US" sz="1400" dirty="0"/>
              <a:t>Die Regierung hat die Nationale Strategie zur Anpassung an den Klimawandel und zur Klimawandelmitigation verabschiedet, die den übergeordneten politischen Rahmen zur Steuerung einer klimaresilienten Planung und Entwicklung bietet.</a:t>
            </a:r>
          </a:p>
          <a:p>
            <a:pPr algn="just">
              <a:lnSpc>
                <a:spcPct val="110000"/>
              </a:lnSpc>
            </a:pPr>
            <a:r>
              <a:rPr lang="en-US" sz="1400" dirty="0"/>
              <a:t>Ein umfassendes Nationales Katastrophenrisikomanagementprogramm wurde verabschiedet, um Mosambiks resiliente Entwicklung durch Katastrophenprävention, -vorsorge, -reaktion und -wiederherstellung sowie durch die Integration von Katastrophenrisikomanagement (DRM) in öffentliche Finanzpolitiken, Investitionen und Entwicklungsplanung in allen Sektoren zu fördern.</a:t>
            </a:r>
          </a:p>
          <a:p>
            <a:pPr algn="just">
              <a:lnSpc>
                <a:spcPct val="110000"/>
              </a:lnSpc>
            </a:pPr>
            <a:r>
              <a:rPr lang="en-US" sz="1400" dirty="0"/>
              <a:t>Ein wesentlicher Meilenstein dieses Programms war die Einrichtung, Kapitalisierung und Operationalisierung eines Nationalen Katastrophenschutzfonds sowie die Einführung und Anwendung neuer Normen im Hinblick auf Klimaresilienz in Schlüsselsektoren (Bildung, Verkehr).</a:t>
            </a:r>
          </a:p>
          <a:p>
            <a:pPr marL="0" indent="0" algn="just">
              <a:lnSpc>
                <a:spcPct val="110000"/>
              </a:lnSpc>
              <a:buNone/>
            </a:pPr>
            <a:endParaRPr lang="en-US" sz="1400" dirty="0"/>
          </a:p>
          <a:p>
            <a:endParaRPr lang="en-US" sz="1400" dirty="0"/>
          </a:p>
        </p:txBody>
      </p:sp>
      <p:sp>
        <p:nvSpPr>
          <p:cNvPr id="7" name="Title 1">
            <a:extLst>
              <a:ext uri="{FF2B5EF4-FFF2-40B4-BE49-F238E27FC236}">
                <a16:creationId xmlns:a16="http://schemas.microsoft.com/office/drawing/2014/main" id="{7E1960F2-7C30-42B1-8F7A-3F07757B68C5}"/>
              </a:ext>
            </a:extLst>
          </p:cNvPr>
          <p:cNvSpPr txBox="1"/>
          <p:nvPr/>
        </p:nvSpPr>
        <p:spPr>
          <a:xfrm>
            <a:off x="2366682" y="266915"/>
            <a:ext cx="9825318" cy="711292"/>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rgbClr val="2F5597"/>
                </a:solidFill>
              </a:rPr>
              <a:t>Regierungsprogramm und mittelfristige Strategie (1-2)</a:t>
            </a:r>
            <a:br/>
            <a:r>
              <a:rPr lang="en-US" sz="2400" b="1" dirty="0">
                <a:solidFill>
                  <a:srgbClr val="2F5597"/>
                </a:solidFill>
              </a:rPr>
              <a:t/>
            </a:r>
            <a:br/>
            <a:r>
              <a:rPr lang="en-US" sz="2400" b="1" dirty="0">
                <a:solidFill>
                  <a:srgbClr val="2F5597"/>
                </a:solidFill>
              </a:rPr>
              <a:t/>
            </a:r>
            <a:endParaRPr lang="pt" sz="2400" b="1" i="0" u="none" strike="noStrike" dirty="0">
              <a:solidFill>
                <a:srgbClr val="2F5597"/>
              </a:solidFill>
              <a:highlight>
                <a:srgbClr val="000000">
                  <a:alpha val="0"/>
                </a:srgbClr>
              </a:highlight>
              <a:latin typeface="Arial"/>
              <a:cs typeface="Arial"/>
            </a:endParaRPr>
          </a:p>
        </p:txBody>
      </p:sp>
      <p:sp>
        <p:nvSpPr>
          <p:cNvPr id="6" name="Footer Placeholder 5">
            <a:extLst>
              <a:ext uri="{FF2B5EF4-FFF2-40B4-BE49-F238E27FC236}">
                <a16:creationId xmlns:a16="http://schemas.microsoft.com/office/drawing/2014/main" id="{EADDD79C-C7B6-4A6E-97AF-8DB4ECD26A8E}"/>
              </a:ext>
            </a:extLst>
          </p:cNvPr>
          <p:cNvSpPr>
            <a:spLocks noGrp="1"/>
          </p:cNvSpPr>
          <p:nvPr>
            <p:ph type="ftr" sz="quarter" idx="11"/>
          </p:nvPr>
        </p:nvSpPr>
        <p:spPr>
          <a:xfrm>
            <a:off x="3978729" y="6591085"/>
            <a:ext cx="4114800" cy="365125"/>
          </a:xfrm>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BCD46C9F-CCE9-4530-9958-DCC0E2E66395}"/>
              </a:ext>
            </a:extLst>
          </p:cNvPr>
          <p:cNvSpPr>
            <a:spLocks noGrp="1"/>
          </p:cNvSpPr>
          <p:nvPr>
            <p:ph type="sldNum" sz="quarter" idx="12"/>
          </p:nvPr>
        </p:nvSpPr>
        <p:spPr/>
        <p:txBody>
          <a:bodyPr/>
          <a:lstStyle/>
          <a:p>
            <a:fld id="{B8473C9A-9E91-4025-B5E2-D7B202510636}" type="slidenum">
              <a:rPr lang="en-US" smtClean="0"/>
              <a:t>16</a:t>
            </a:fld>
            <a:endParaRPr lang="en-US" dirty="0"/>
          </a:p>
        </p:txBody>
      </p:sp>
      <p:pic>
        <p:nvPicPr>
          <p:cNvPr id="2" name="Picture 1">
            <a:extLst>
              <a:ext uri="{FF2B5EF4-FFF2-40B4-BE49-F238E27FC236}">
                <a16:creationId xmlns:a16="http://schemas.microsoft.com/office/drawing/2014/main" id="{2EDC6EAF-1287-40CD-82FF-60AD0D1CE264}"/>
              </a:ext>
            </a:extLst>
          </p:cNvPr>
          <p:cNvPicPr>
            <a:picLocks noChangeAspect="1"/>
          </p:cNvPicPr>
          <p:nvPr/>
        </p:nvPicPr>
        <p:blipFill>
          <a:blip r:embed="rId2"/>
          <a:stretch>
            <a:fillRect/>
          </a:stretch>
        </p:blipFill>
        <p:spPr>
          <a:xfrm>
            <a:off x="342901" y="206335"/>
            <a:ext cx="2316681" cy="463336"/>
          </a:xfrm>
          <a:prstGeom prst="rect">
            <a:avLst/>
          </a:prstGeom>
        </p:spPr>
      </p:pic>
    </p:spTree>
    <p:extLst>
      <p:ext uri="{BB962C8B-B14F-4D97-AF65-F5344CB8AC3E}">
        <p14:creationId xmlns:p14="http://schemas.microsoft.com/office/powerpoint/2010/main" val="3381025737"/>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Group 39">
            <a:extLst>
              <a:ext uri="{FF2B5EF4-FFF2-40B4-BE49-F238E27FC236}">
                <a16:creationId xmlns:a16="http://schemas.microsoft.com/office/drawing/2014/main" id="{F5759940-B30E-472A-AF4F-173A4D4CA100}"/>
              </a:ext>
            </a:extLst>
          </p:cNvPr>
          <p:cNvGrpSpPr/>
          <p:nvPr/>
        </p:nvGrpSpPr>
        <p:grpSpPr>
          <a:xfrm>
            <a:off x="6902048" y="3026892"/>
            <a:ext cx="5049327" cy="3339205"/>
            <a:chOff x="-3167528" y="-865701"/>
            <a:chExt cx="7897716" cy="2630133"/>
          </a:xfrm>
        </p:grpSpPr>
        <p:sp>
          <p:nvSpPr>
            <p:cNvPr id="41" name="TextBox 20">
              <a:extLst>
                <a:ext uri="{FF2B5EF4-FFF2-40B4-BE49-F238E27FC236}">
                  <a16:creationId xmlns:a16="http://schemas.microsoft.com/office/drawing/2014/main" id="{48A3B9E8-0F2B-4E8C-A956-776C8184EC2E}"/>
                </a:ext>
              </a:extLst>
            </p:cNvPr>
            <p:cNvSpPr txBox="1"/>
            <p:nvPr/>
          </p:nvSpPr>
          <p:spPr>
            <a:xfrm>
              <a:off x="-3167528" y="-865701"/>
              <a:ext cx="7842229" cy="678778"/>
            </a:xfrm>
            <a:prstGeom prst="rect">
              <a:avLst/>
            </a:prstGeom>
            <a:solidFill>
              <a:srgbClr val="002060"/>
            </a:solidFill>
          </p:spPr>
          <p:txBody>
            <a:bodyPr wrap="square" rtlCol="0">
              <a:spAutoFit/>
            </a:bodyPr>
            <a:lstStyle/>
            <a:p>
              <a:pPr lvl="0" algn="ctr">
                <a:defRPr/>
              </a:pPr>
              <a:r>
                <a:rPr kumimoji="0" lang="en-US" sz="1600" b="1"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rPr>
                <a:t>HLO3. Verbesserung des Humankapitals und Stärkung der Stellung der Frau</a:t>
              </a:r>
            </a:p>
            <a:p>
              <a:pPr lvl="0" algn="ctr">
                <a:defRPr/>
              </a:pPr>
              <a:endParaRPr lang="en-US" sz="1600" b="1" dirty="0">
                <a:solidFill>
                  <a:prstClr val="white"/>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endParaRPr kumimoji="0" lang="en-US" sz="1800" b="1"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42" name="TextBox 27">
              <a:extLst>
                <a:ext uri="{FF2B5EF4-FFF2-40B4-BE49-F238E27FC236}">
                  <a16:creationId xmlns:a16="http://schemas.microsoft.com/office/drawing/2014/main" id="{0592111B-E078-4582-B08D-1779B5DA9631}"/>
                </a:ext>
              </a:extLst>
            </p:cNvPr>
            <p:cNvSpPr txBox="1"/>
            <p:nvPr/>
          </p:nvSpPr>
          <p:spPr>
            <a:xfrm>
              <a:off x="2350242" y="-12591"/>
              <a:ext cx="2379946" cy="1769673"/>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9:</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Verbesserter Zugang zu Dienstleistungen zur Verhütung von Teenagerschwangerschaften und Förderung der wirtschaftlichen Teilhabe von Frauen</a:t>
              </a:r>
            </a:p>
            <a:p>
              <a:pPr lvl="0" algn="ctr">
                <a:defRPr/>
              </a:pPr>
              <a:endParaRPr kumimoji="0" lang="en-US" sz="1400" b="1"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43" name="TextBox 28">
              <a:extLst>
                <a:ext uri="{FF2B5EF4-FFF2-40B4-BE49-F238E27FC236}">
                  <a16:creationId xmlns:a16="http://schemas.microsoft.com/office/drawing/2014/main" id="{A9A137C2-4A53-41CC-909B-078D228AAFE8}"/>
                </a:ext>
              </a:extLst>
            </p:cNvPr>
            <p:cNvSpPr txBox="1"/>
            <p:nvPr/>
          </p:nvSpPr>
          <p:spPr>
            <a:xfrm>
              <a:off x="-450438" y="-5241"/>
              <a:ext cx="2590533" cy="1769672"/>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8:</a:t>
              </a:r>
            </a:p>
            <a:p>
              <a:pPr lvl="0" algn="ctr">
                <a:defRPr/>
              </a:pPr>
              <a:endPar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Steigerung der Effizienz und effektiven Abdeckung integrierter und nachhaltiger sozialer Dienstleistungen</a:t>
              </a:r>
              <a:endParaRPr kumimoji="0" lang="en-US" sz="1400" b="1"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44" name="TextBox 33">
              <a:extLst>
                <a:ext uri="{FF2B5EF4-FFF2-40B4-BE49-F238E27FC236}">
                  <a16:creationId xmlns:a16="http://schemas.microsoft.com/office/drawing/2014/main" id="{8FCE60F2-7AAD-469F-99FA-A7907C1C8144}"/>
                </a:ext>
              </a:extLst>
            </p:cNvPr>
            <p:cNvSpPr txBox="1"/>
            <p:nvPr/>
          </p:nvSpPr>
          <p:spPr>
            <a:xfrm>
              <a:off x="-3121845" y="-5241"/>
              <a:ext cx="2461261" cy="1769673"/>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7:</a:t>
              </a:r>
            </a:p>
            <a:p>
              <a:pPr lvl="0" algn="ctr">
                <a:defRPr/>
              </a:pPr>
              <a:endPar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Verbesserung wichtiger Gesundheits- und Bildungsergebnisse</a:t>
              </a: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rPr>
                <a:t> </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Times New Roman" panose="02020603050405020304" pitchFamily="18" charset="0"/>
                <a:ea typeface="Times New Roman" panose="02020603050405020304" pitchFamily="18" charset="0"/>
                <a:cs typeface="+mn-cs"/>
              </a:endParaRPr>
            </a:p>
          </p:txBody>
        </p:sp>
      </p:grpSp>
      <p:sp>
        <p:nvSpPr>
          <p:cNvPr id="48" name="TextBox 20">
            <a:extLst>
              <a:ext uri="{FF2B5EF4-FFF2-40B4-BE49-F238E27FC236}">
                <a16:creationId xmlns:a16="http://schemas.microsoft.com/office/drawing/2014/main" id="{61DD58FA-691C-40D4-A443-0BF04F16BDA4}"/>
              </a:ext>
            </a:extLst>
          </p:cNvPr>
          <p:cNvSpPr txBox="1"/>
          <p:nvPr/>
        </p:nvSpPr>
        <p:spPr>
          <a:xfrm>
            <a:off x="367495" y="829071"/>
            <a:ext cx="11530224" cy="646331"/>
          </a:xfrm>
          <a:prstGeom prst="rect">
            <a:avLst/>
          </a:prstGeom>
          <a:solidFill>
            <a:srgbClr val="002060"/>
          </a:solidFill>
        </p:spPr>
        <p:txBody>
          <a:bodyPr wrap="square" rtlCol="0">
            <a:spAutoFit/>
          </a:bodyPr>
          <a:lstStyle/>
          <a:p>
            <a:pPr lvl="0" algn="ctr">
              <a:defRPr/>
            </a:pPr>
            <a:r>
              <a:rPr lang="en-US"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HLO 1: Inklusivere Institutionen</a:t>
            </a:r>
            <a:br/>
            <a:r>
              <a:rPr lang="en-US"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r>
              <a:rPr lang="pt-BR"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endParaRPr kumimoji="0" lang="en-US" sz="1200" b="0"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Calibri" panose="020F0502020204030204" pitchFamily="34" charset="0"/>
            </a:endParaRPr>
          </a:p>
        </p:txBody>
      </p:sp>
      <p:sp>
        <p:nvSpPr>
          <p:cNvPr id="50" name="TextBox 28">
            <a:extLst>
              <a:ext uri="{FF2B5EF4-FFF2-40B4-BE49-F238E27FC236}">
                <a16:creationId xmlns:a16="http://schemas.microsoft.com/office/drawing/2014/main" id="{6DCAB71F-0043-4348-B2CA-13ED368C292D}"/>
              </a:ext>
            </a:extLst>
          </p:cNvPr>
          <p:cNvSpPr txBox="1"/>
          <p:nvPr/>
        </p:nvSpPr>
        <p:spPr>
          <a:xfrm>
            <a:off x="4081340" y="1524409"/>
            <a:ext cx="4029319" cy="1169551"/>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2:</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Steigerung der Effektivität des öffentlichen Sektors für eine bessere und nachhaltigere Leistungserbringung</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und gerechtere Politiken</a:t>
            </a:r>
          </a:p>
          <a:p>
            <a:pPr lvl="0" algn="ctr">
              <a:defRPr/>
            </a:pP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51" name="TextBox 33">
            <a:extLst>
              <a:ext uri="{FF2B5EF4-FFF2-40B4-BE49-F238E27FC236}">
                <a16:creationId xmlns:a16="http://schemas.microsoft.com/office/drawing/2014/main" id="{07CF0438-65B6-4F90-A587-44EFFB9C0EBB}"/>
              </a:ext>
            </a:extLst>
          </p:cNvPr>
          <p:cNvSpPr txBox="1"/>
          <p:nvPr/>
        </p:nvSpPr>
        <p:spPr>
          <a:xfrm>
            <a:off x="367495" y="1515609"/>
            <a:ext cx="3665451" cy="1169551"/>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1:</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Verbesserung des Wirtschaftsmanagements für eine nachhaltige und resiliente Beschäftigungsschaffung, bessere Ausgabekapazität und geringeres Länderrisiko</a:t>
            </a:r>
            <a:b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r>
              <a:rPr lang="pt-BR"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endParaRPr kumimoji="0" lang="en-US" sz="1400" b="0" i="0" u="none" strike="noStrike" kern="1200" cap="none" spc="0" normalizeH="0" baseline="0" noProof="0" dirty="0">
              <a:ln>
                <a:noFill/>
              </a:ln>
              <a:solidFill>
                <a:prstClr val="black"/>
              </a:solidFill>
              <a:effectLst/>
              <a:uLnTx/>
              <a:uFillTx/>
              <a:latin typeface="Times New Roman" panose="02020603050405020304" pitchFamily="18" charset="0"/>
              <a:ea typeface="Times New Roman" panose="02020603050405020304" pitchFamily="18" charset="0"/>
              <a:cs typeface="+mn-cs"/>
            </a:endParaRPr>
          </a:p>
        </p:txBody>
      </p:sp>
      <p:grpSp>
        <p:nvGrpSpPr>
          <p:cNvPr id="55" name="Group 54">
            <a:extLst>
              <a:ext uri="{FF2B5EF4-FFF2-40B4-BE49-F238E27FC236}">
                <a16:creationId xmlns:a16="http://schemas.microsoft.com/office/drawing/2014/main" id="{640C48EE-017A-4A83-A3F5-13D2C23B3CD6}"/>
              </a:ext>
            </a:extLst>
          </p:cNvPr>
          <p:cNvGrpSpPr/>
          <p:nvPr/>
        </p:nvGrpSpPr>
        <p:grpSpPr>
          <a:xfrm>
            <a:off x="294281" y="3949567"/>
            <a:ext cx="3180023" cy="2677656"/>
            <a:chOff x="-9838606" y="1606149"/>
            <a:chExt cx="4973915" cy="2023367"/>
          </a:xfrm>
        </p:grpSpPr>
        <p:sp>
          <p:nvSpPr>
            <p:cNvPr id="58" name="TextBox 28">
              <a:extLst>
                <a:ext uri="{FF2B5EF4-FFF2-40B4-BE49-F238E27FC236}">
                  <a16:creationId xmlns:a16="http://schemas.microsoft.com/office/drawing/2014/main" id="{7A7D9AE5-C3BD-4177-85EE-8BE5CFD01A0D}"/>
                </a:ext>
              </a:extLst>
            </p:cNvPr>
            <p:cNvSpPr txBox="1"/>
            <p:nvPr/>
          </p:nvSpPr>
          <p:spPr>
            <a:xfrm>
              <a:off x="-7246575" y="1606149"/>
              <a:ext cx="2381884" cy="2023367"/>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CPF-Ziel 5:</a:t>
              </a:r>
            </a:p>
            <a:p>
              <a:pPr lvl="0" algn="ctr">
                <a:defRPr/>
              </a:pPr>
              <a:endPar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Förderung des Produktivitätswachstums in ausgewählten arbeitsintensiven Branchen</a:t>
              </a:r>
              <a:b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r>
                <a:rPr lang="pt-BR" sz="1400"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p>
            <a:p>
              <a:pPr lvl="0" algn="ctr">
                <a:defRPr/>
              </a:pPr>
              <a:endParaRPr kumimoji="0" lang="pt-BR" sz="140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endParaRPr kumimoji="0" lang="en-US" sz="140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59" name="TextBox 33">
              <a:extLst>
                <a:ext uri="{FF2B5EF4-FFF2-40B4-BE49-F238E27FC236}">
                  <a16:creationId xmlns:a16="http://schemas.microsoft.com/office/drawing/2014/main" id="{A9F25950-3269-4593-8FC9-BE603435FFB8}"/>
                </a:ext>
              </a:extLst>
            </p:cNvPr>
            <p:cNvSpPr txBox="1"/>
            <p:nvPr/>
          </p:nvSpPr>
          <p:spPr>
            <a:xfrm>
              <a:off x="-9838606" y="1606149"/>
              <a:ext cx="2381884" cy="2023367"/>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4:</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Ermöglichung eines nachhaltigen Wachstums ausgewählter Naturrohstoffsektoren, die regionale und globale komparative Vorteile ausschöpfen</a:t>
              </a:r>
              <a:b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r>
                <a:rPr lang="pt-BR" sz="1400"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endParaRPr kumimoji="0" lang="en-US" sz="1400" i="0" u="none" strike="noStrike" kern="1200" cap="none" spc="0" normalizeH="0" baseline="0" noProof="0" dirty="0">
                <a:ln>
                  <a:noFill/>
                </a:ln>
                <a:solidFill>
                  <a:prstClr val="white"/>
                </a:solidFill>
                <a:effectLst/>
                <a:uLnTx/>
                <a:uFillTx/>
                <a:latin typeface="Calibri" panose="020F0502020204030204"/>
                <a:ea typeface="Times New Roman" panose="02020603050405020304" pitchFamily="18" charset="0"/>
                <a:cs typeface="+mn-cs"/>
              </a:endParaRPr>
            </a:p>
          </p:txBody>
        </p:sp>
      </p:grpSp>
      <p:sp>
        <p:nvSpPr>
          <p:cNvPr id="28" name="TextBox 20">
            <a:extLst>
              <a:ext uri="{FF2B5EF4-FFF2-40B4-BE49-F238E27FC236}">
                <a16:creationId xmlns:a16="http://schemas.microsoft.com/office/drawing/2014/main" id="{11125F59-7817-4321-BD2E-A1252531A912}"/>
              </a:ext>
            </a:extLst>
          </p:cNvPr>
          <p:cNvSpPr txBox="1"/>
          <p:nvPr/>
        </p:nvSpPr>
        <p:spPr>
          <a:xfrm>
            <a:off x="294281" y="2980869"/>
            <a:ext cx="5010043" cy="830997"/>
          </a:xfrm>
          <a:prstGeom prst="rect">
            <a:avLst/>
          </a:prstGeom>
          <a:solidFill>
            <a:srgbClr val="002060"/>
          </a:solidFill>
        </p:spPr>
        <p:txBody>
          <a:bodyPr wrap="square" rtlCol="0">
            <a:spAutoFit/>
          </a:bodyPr>
          <a:lstStyle/>
          <a:p>
            <a:pPr lvl="0" algn="ctr">
              <a:defRPr/>
            </a:pPr>
            <a:r>
              <a:rPr lang="en-US"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HLO2: Zunahme inklusiver Beschäftigungsschaffung</a:t>
            </a:r>
            <a:endParaRPr lang="pt-BR"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r>
              <a:rPr lang="pt-BR"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endParaRPr kumimoji="0" lang="en-US" sz="1200" b="0"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lvl="0">
              <a:defRPr/>
            </a:pPr>
            <a:endParaRPr kumimoji="0" lang="en-US" sz="1200" b="0"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34" name="TextBox 33">
            <a:extLst>
              <a:ext uri="{FF2B5EF4-FFF2-40B4-BE49-F238E27FC236}">
                <a16:creationId xmlns:a16="http://schemas.microsoft.com/office/drawing/2014/main" id="{02498E19-A5E1-4FF3-8593-77DDFB633840}"/>
              </a:ext>
            </a:extLst>
          </p:cNvPr>
          <p:cNvSpPr txBox="1"/>
          <p:nvPr/>
        </p:nvSpPr>
        <p:spPr>
          <a:xfrm>
            <a:off x="8190125" y="1532767"/>
            <a:ext cx="3725775" cy="1169551"/>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3:</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Stärkung der Koordination, der Politiken und der Kapazitäten für eine bessere Vorbereitung und Reaktion auf Naturkatastrophen, Pandemien und andere multidimensionale Schocks</a:t>
            </a: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35" name="TextBox 34">
            <a:extLst>
              <a:ext uri="{FF2B5EF4-FFF2-40B4-BE49-F238E27FC236}">
                <a16:creationId xmlns:a16="http://schemas.microsoft.com/office/drawing/2014/main" id="{A9BC120A-2D09-4578-9211-2DC58272B03D}"/>
              </a:ext>
            </a:extLst>
          </p:cNvPr>
          <p:cNvSpPr txBox="1"/>
          <p:nvPr/>
        </p:nvSpPr>
        <p:spPr>
          <a:xfrm>
            <a:off x="3633722" y="3949567"/>
            <a:ext cx="1656232" cy="2677656"/>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Ziel 6:</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Ausweitung erschwinglicher, zuverlässiger und klimaresilienter Dienstleistungen für den Zugang der am stärksten benachteiligten Bevölkerung sowie Beschleunigung nachhaltiger Urbanisierung und wirtschaftlicher Agglomeration</a:t>
            </a:r>
            <a:endParaRPr kumimoji="0" lang="en-US" sz="1200" i="0" u="none" strike="noStrike" kern="1200" cap="none" spc="0" normalizeH="0" baseline="0" noProof="0" dirty="0">
              <a:ln>
                <a:noFill/>
              </a:ln>
              <a:solidFill>
                <a:prstClr val="black"/>
              </a:solidFill>
              <a:effectLst/>
              <a:uLnTx/>
              <a:uFillTx/>
              <a:latin typeface="Times New Roman" panose="02020603050405020304" pitchFamily="18" charset="0"/>
              <a:ea typeface="Times New Roman" panose="02020603050405020304" pitchFamily="18" charset="0"/>
              <a:cs typeface="+mn-cs"/>
            </a:endParaRPr>
          </a:p>
        </p:txBody>
      </p:sp>
      <p:sp>
        <p:nvSpPr>
          <p:cNvPr id="19" name="Title 1">
            <a:extLst>
              <a:ext uri="{FF2B5EF4-FFF2-40B4-BE49-F238E27FC236}">
                <a16:creationId xmlns:a16="http://schemas.microsoft.com/office/drawing/2014/main" id="{0E673E36-BCC7-485A-B2E2-9DE06668B038}"/>
              </a:ext>
            </a:extLst>
          </p:cNvPr>
          <p:cNvSpPr txBox="1">
            <a:spLocks/>
          </p:cNvSpPr>
          <p:nvPr/>
        </p:nvSpPr>
        <p:spPr>
          <a:xfrm>
            <a:off x="367495" y="154262"/>
            <a:ext cx="10515600" cy="315912"/>
          </a:xfrm>
          <a:prstGeom prst="rect">
            <a:avLst/>
          </a:prstGeom>
        </p:spPr>
        <p:txBody>
          <a:bodyPr>
            <a:noAutofit/>
          </a:bodyPr>
          <a:lstStyle>
            <a:lvl1pPr algn="l" defTabSz="914400" rtl="0" eaLnBrk="1" latinLnBrk="0" hangingPunct="1">
              <a:lnSpc>
                <a:spcPct val="90000"/>
              </a:lnSpc>
              <a:spcBef>
                <a:spcPct val="0"/>
              </a:spcBef>
              <a:buNone/>
              <a:defRPr sz="2400" kern="1200">
                <a:solidFill>
                  <a:schemeClr val="accent1">
                    <a:lumMod val="75000"/>
                  </a:schemeClr>
                </a:solidFill>
                <a:latin typeface="Arial" panose="020B0604020202020204" pitchFamily="34" charset="0"/>
                <a:ea typeface="+mj-ea"/>
                <a:cs typeface="Arial" panose="020B0604020202020204" pitchFamily="34" charset="0"/>
              </a:defRPr>
            </a:lvl1pPr>
          </a:lstStyle>
          <a:p>
            <a:pPr algn="ctr"/>
            <a:endParaRPr lang="en-US" b="1" dirty="0">
              <a:latin typeface="Arial"/>
              <a:cs typeface="Times New Roman"/>
            </a:endParaRPr>
          </a:p>
          <a:p>
            <a:pPr algn="ctr"/>
            <a:r>
              <a:rPr lang="en-US" b="1" dirty="0">
                <a:latin typeface="Arial"/>
                <a:cs typeface="Times New Roman"/>
              </a:rPr>
              <a:t>CPF 2023-2027: Bestrebungen und Ziele</a:t>
            </a:r>
            <a:br/>
            <a:r>
              <a:rPr lang="en-US" b="1" dirty="0">
                <a:latin typeface="Arial"/>
                <a:cs typeface="Times New Roman"/>
              </a:rPr>
              <a:t/>
            </a:r>
            <a:br/>
            <a:r>
              <a:rPr lang="en-US" b="1" dirty="0">
                <a:latin typeface="Arial"/>
                <a:cs typeface="Times New Roman"/>
              </a:rPr>
              <a:t/>
            </a:r>
            <a:endParaRPr lang="pt" i="1" dirty="0">
              <a:highlight>
                <a:srgbClr val="000000">
                  <a:alpha val="0"/>
                </a:srgbClr>
              </a:highlight>
              <a:latin typeface="Arial"/>
            </a:endParaRPr>
          </a:p>
        </p:txBody>
      </p:sp>
      <p:sp>
        <p:nvSpPr>
          <p:cNvPr id="6" name="Footer Placeholder 5">
            <a:extLst>
              <a:ext uri="{FF2B5EF4-FFF2-40B4-BE49-F238E27FC236}">
                <a16:creationId xmlns:a16="http://schemas.microsoft.com/office/drawing/2014/main" id="{E9D66B6B-A600-4FC2-B12C-788AB7A08DAE}"/>
              </a:ext>
            </a:extLst>
          </p:cNvPr>
          <p:cNvSpPr>
            <a:spLocks noGrp="1"/>
          </p:cNvSpPr>
          <p:nvPr>
            <p:ph type="ftr" sz="quarter" idx="11"/>
          </p:nvPr>
        </p:nvSpPr>
        <p:spPr>
          <a:xfrm>
            <a:off x="4495800" y="6627223"/>
            <a:ext cx="4114800" cy="365125"/>
          </a:xfrm>
        </p:spPr>
        <p:txBody>
          <a:bodyPr/>
          <a:lstStyle/>
          <a:p>
            <a:r>
              <a:rPr lang="en-US"/>
              <a:t>CPF 2023-2027. Öffentliche Version. Maputo, Mai 2022.</a:t>
            </a:r>
            <a:endParaRPr lang="en-US" dirty="0"/>
          </a:p>
        </p:txBody>
      </p:sp>
      <p:sp>
        <p:nvSpPr>
          <p:cNvPr id="7" name="Slide Number Placeholder 6">
            <a:extLst>
              <a:ext uri="{FF2B5EF4-FFF2-40B4-BE49-F238E27FC236}">
                <a16:creationId xmlns:a16="http://schemas.microsoft.com/office/drawing/2014/main" id="{F7F5C800-7776-4432-9E55-C18FBDC68D15}"/>
              </a:ext>
            </a:extLst>
          </p:cNvPr>
          <p:cNvSpPr>
            <a:spLocks noGrp="1"/>
          </p:cNvSpPr>
          <p:nvPr>
            <p:ph type="sldNum" sz="quarter" idx="12"/>
          </p:nvPr>
        </p:nvSpPr>
        <p:spPr/>
        <p:txBody>
          <a:bodyPr/>
          <a:lstStyle/>
          <a:p>
            <a:fld id="{B8473C9A-9E91-4025-B5E2-D7B202510636}" type="slidenum">
              <a:rPr lang="en-US" smtClean="0"/>
              <a:t>17</a:t>
            </a:fld>
            <a:endParaRPr lang="en-US" dirty="0"/>
          </a:p>
        </p:txBody>
      </p:sp>
      <p:pic>
        <p:nvPicPr>
          <p:cNvPr id="2" name="Picture 1">
            <a:extLst>
              <a:ext uri="{FF2B5EF4-FFF2-40B4-BE49-F238E27FC236}">
                <a16:creationId xmlns:a16="http://schemas.microsoft.com/office/drawing/2014/main" id="{7EA3193B-CD46-4350-99F0-6608A5D56148}"/>
              </a:ext>
            </a:extLst>
          </p:cNvPr>
          <p:cNvPicPr>
            <a:picLocks noChangeAspect="1"/>
          </p:cNvPicPr>
          <p:nvPr/>
        </p:nvPicPr>
        <p:blipFill>
          <a:blip r:embed="rId2"/>
          <a:stretch>
            <a:fillRect/>
          </a:stretch>
        </p:blipFill>
        <p:spPr>
          <a:xfrm>
            <a:off x="150564" y="113964"/>
            <a:ext cx="2316681" cy="463336"/>
          </a:xfrm>
          <a:prstGeom prst="rect">
            <a:avLst/>
          </a:prstGeom>
        </p:spPr>
      </p:pic>
    </p:spTree>
    <p:extLst>
      <p:ext uri="{BB962C8B-B14F-4D97-AF65-F5344CB8AC3E}">
        <p14:creationId xmlns:p14="http://schemas.microsoft.com/office/powerpoint/2010/main" val="164693797"/>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4328182-DCAC-44BE-B53C-25FEF02C2D3B}"/>
              </a:ext>
            </a:extLst>
          </p:cNvPr>
          <p:cNvSpPr>
            <a:spLocks noGrp="1"/>
          </p:cNvSpPr>
          <p:nvPr>
            <p:ph idx="1"/>
          </p:nvPr>
        </p:nvSpPr>
        <p:spPr>
          <a:xfrm>
            <a:off x="398205" y="1215594"/>
            <a:ext cx="11567711" cy="5856585"/>
          </a:xfrm>
        </p:spPr>
        <p:txBody>
          <a:bodyPr>
            <a:noAutofit/>
          </a:bodyPr>
          <a:lstStyle/>
          <a:p>
            <a:pPr marL="342900" indent="-342900" algn="just" rtl="0">
              <a:lnSpc>
                <a:spcPct val="100000"/>
              </a:lnSpc>
              <a:spcBef>
                <a:spcPct val="0"/>
              </a:spcBef>
              <a:spcAft>
                <a:spcPts val="600"/>
              </a:spcAft>
              <a:buFont typeface="+mj-lt"/>
              <a:buAutoNum type="arabicPeriod"/>
            </a:pPr>
            <a:r>
              <a:rPr lang="en-US" sz="1600" b="0" i="0" u="none" strike="noStrike" dirty="0">
                <a:latin typeface="Arial"/>
                <a:cs typeface="Times New Roman"/>
              </a:rPr>
              <a:t>Im Einklang mit den Lehren aus dem CLR, den Empfehlungen der aktualisierten SCD und den Regierungszielen aus dem Fünfjahresplan 2020-24 sowie der laufenden Überarbeitung der nationalen Entwicklungsstrategie zielt der vorgeschlagene CPF für GJ2023-2027 darauf ab, Mosambiks Übergang zu einem </a:t>
            </a:r>
            <a:r>
              <a:rPr lang="en-US" sz="1600" b="1" i="0" u="none" strike="noStrike" dirty="0">
                <a:latin typeface="Arial"/>
                <a:cs typeface="Times New Roman"/>
              </a:rPr>
              <a:t>grüneren,</a:t>
            </a:r>
            <a:r>
              <a:rPr lang="en-US" sz="1600" b="0" i="0" u="none" strike="noStrike" dirty="0">
                <a:latin typeface="Arial"/>
                <a:cs typeface="Times New Roman"/>
              </a:rPr>
              <a:t> </a:t>
            </a:r>
            <a:r>
              <a:rPr lang="en-US" sz="1600" b="1" i="0" u="none" strike="noStrike" dirty="0">
                <a:latin typeface="Arial"/>
                <a:cs typeface="Times New Roman"/>
              </a:rPr>
              <a:t>resilienteren und inklusiveren Wachstumspfad zu fördern.</a:t>
            </a:r>
          </a:p>
          <a:p>
            <a:pPr marL="342900" indent="-342900" algn="just" rtl="0">
              <a:lnSpc>
                <a:spcPct val="100000"/>
              </a:lnSpc>
              <a:spcBef>
                <a:spcPct val="0"/>
              </a:spcBef>
              <a:spcAft>
                <a:spcPts val="600"/>
              </a:spcAft>
              <a:buFont typeface="+mj-lt"/>
              <a:buAutoNum type="arabicPeriod"/>
            </a:pPr>
            <a:endParaRPr lang="en-US" sz="1600" b="1" dirty="0">
              <a:latin typeface="+mn-lt"/>
              <a:ea typeface="Calibri" panose="020F0502020204030204" pitchFamily="34" charset="0"/>
              <a:cs typeface="Times New Roman"/>
            </a:endParaRPr>
          </a:p>
          <a:p>
            <a:pPr marL="342900" indent="-342900" algn="just" rtl="0">
              <a:lnSpc>
                <a:spcPct val="100000"/>
              </a:lnSpc>
              <a:spcBef>
                <a:spcPct val="0"/>
              </a:spcBef>
              <a:spcAft>
                <a:spcPts val="600"/>
              </a:spcAft>
              <a:buFont typeface="+mj-lt"/>
              <a:buAutoNum type="arabicPeriod"/>
            </a:pPr>
            <a:r>
              <a:rPr lang="en-US" sz="1600" b="0" i="0" u="none" strike="noStrike" dirty="0">
                <a:highlight>
                  <a:srgbClr val="000000">
                    <a:alpha val="0"/>
                  </a:srgbClr>
                </a:highlight>
                <a:latin typeface="Arial"/>
                <a:ea typeface="Calibri"/>
                <a:cs typeface="Times New Roman"/>
              </a:rPr>
              <a:t>Zu diesem Zweck wird der CPF Regierungsreformen und -investitionen unterstützen, die zu folgenden übergeordneten Ergebnissen beitragen können:</a:t>
            </a:r>
          </a:p>
          <a:p>
            <a:pPr lvl="3" algn="just">
              <a:lnSpc>
                <a:spcPct val="100000"/>
              </a:lnSpc>
              <a:spcBef>
                <a:spcPct val="0"/>
              </a:spcBef>
              <a:spcAft>
                <a:spcPts val="600"/>
              </a:spcAft>
            </a:pPr>
            <a:r>
              <a:rPr lang="en-US" sz="1600" b="1" i="0" u="none" strike="noStrike" dirty="0">
                <a:highlight>
                  <a:srgbClr val="000000">
                    <a:alpha val="0"/>
                  </a:srgbClr>
                </a:highlight>
                <a:latin typeface="Arial"/>
                <a:ea typeface="Calibri"/>
                <a:cs typeface="Times New Roman"/>
              </a:rPr>
              <a:t>Ergebnis 1: Inklusivere Institutionen durch </a:t>
            </a:r>
            <a:r>
              <a:rPr lang="en-US" sz="1600" b="0" i="0" u="none" strike="noStrike" dirty="0">
                <a:highlight>
                  <a:srgbClr val="000000">
                    <a:alpha val="0"/>
                  </a:srgbClr>
                </a:highlight>
                <a:latin typeface="Arial"/>
                <a:ea typeface="Calibri"/>
                <a:cs typeface="Times New Roman"/>
              </a:rPr>
              <a:t>(i) verbessertes makroökonomisches Management für eine bessere Ausgabenkapazität und ein geringeres Staatsrisiko; (ii) Steigerung der Effizienz des öffentlichen Sektors; und (iii) Stärkung der Vorsorge und Reaktionsfähigkeit gegenüber mehrdimensionalen Schocks.</a:t>
            </a:r>
          </a:p>
          <a:p>
            <a:pPr lvl="3" algn="just">
              <a:lnSpc>
                <a:spcPct val="100000"/>
              </a:lnSpc>
              <a:spcBef>
                <a:spcPct val="0"/>
              </a:spcBef>
              <a:spcAft>
                <a:spcPts val="600"/>
              </a:spcAft>
            </a:pPr>
            <a:r>
              <a:rPr lang="en-US" sz="1600" b="1" i="0" u="none" strike="noStrike" dirty="0">
                <a:highlight>
                  <a:srgbClr val="000000">
                    <a:alpha val="0"/>
                  </a:srgbClr>
                </a:highlight>
                <a:latin typeface="Arial"/>
                <a:ea typeface="Calibri"/>
                <a:cs typeface="Times New Roman"/>
              </a:rPr>
              <a:t>Ergebnis 2: Verstärkte inklusive Beschäftigungsschaffung </a:t>
            </a:r>
            <a:r>
              <a:rPr lang="en-US" sz="1600" b="0" i="0" u="none" strike="noStrike" dirty="0">
                <a:highlight>
                  <a:srgbClr val="000000">
                    <a:alpha val="0"/>
                  </a:srgbClr>
                </a:highlight>
                <a:latin typeface="Arial"/>
                <a:ea typeface="Calibri"/>
                <a:cs typeface="Times New Roman"/>
              </a:rPr>
              <a:t>(Beschleunigung des strukturellen Transformationsprozesses), was wiederum erfordert: (i) nachhaltiges Wachstum in ausgewählten Sektoren natürlicher Ressourcen zu ermöglichen; (ii) Produktivitätswachstum in ausgewählten arbeitsintensiven Industrien zu fördern; und (iii) Ausbau von Infrastruktur- und Urbanisierungsdienstleistungen.</a:t>
            </a:r>
          </a:p>
          <a:p>
            <a:pPr lvl="3" algn="just">
              <a:lnSpc>
                <a:spcPct val="100000"/>
              </a:lnSpc>
              <a:spcBef>
                <a:spcPct val="0"/>
              </a:spcBef>
              <a:spcAft>
                <a:spcPts val="600"/>
              </a:spcAft>
            </a:pPr>
            <a:r>
              <a:rPr lang="en-US" sz="1600" b="1" i="0" u="none" strike="noStrike" dirty="0">
                <a:highlight>
                  <a:srgbClr val="000000">
                    <a:alpha val="0"/>
                  </a:srgbClr>
                </a:highlight>
                <a:latin typeface="Arial"/>
                <a:ea typeface="Calibri"/>
                <a:cs typeface="Times New Roman"/>
              </a:rPr>
              <a:t>Ergebnis 3: Verbesserung der Humankapitalakkumulation</a:t>
            </a:r>
            <a:r>
              <a:rPr lang="en-US" sz="1600" b="0" i="0" u="none" strike="noStrike" dirty="0">
                <a:highlight>
                  <a:srgbClr val="000000">
                    <a:alpha val="0"/>
                  </a:srgbClr>
                </a:highlight>
                <a:latin typeface="Arial"/>
                <a:ea typeface="Calibri"/>
                <a:cs typeface="Times New Roman"/>
              </a:rPr>
              <a:t> </a:t>
            </a:r>
            <a:r>
              <a:rPr lang="en-US" sz="1600" b="1" i="0" u="none" strike="noStrike" dirty="0">
                <a:highlight>
                  <a:srgbClr val="000000">
                    <a:alpha val="0"/>
                  </a:srgbClr>
                </a:highlight>
                <a:latin typeface="Arial"/>
                <a:ea typeface="Calibri"/>
                <a:cs typeface="Times New Roman"/>
              </a:rPr>
              <a:t>und der wirtschaftlichen Teilhabe von Frauen durch </a:t>
            </a:r>
            <a:r>
              <a:rPr lang="en-US" sz="1600" b="0" i="0" u="none" strike="noStrike" dirty="0">
                <a:highlight>
                  <a:srgbClr val="000000">
                    <a:alpha val="0"/>
                  </a:srgbClr>
                </a:highlight>
                <a:latin typeface="Arial"/>
                <a:ea typeface="Calibri"/>
                <a:cs typeface="Times New Roman"/>
              </a:rPr>
              <a:t>(i) bessere Gesundheits- und Bildungsergebnisse; (ii) eine effizientere und wirksamere Abdeckung integrierter und nachhaltiger Sozialdienste; und (iii) besseren Zugang zu Dienstleistungen zur Prävention von Teenagerschwangerschaften und zur Förderung der wirtschaftlichen Beteiligung von Frauen.</a:t>
            </a:r>
            <a:endParaRPr lang="en-US" sz="1600" dirty="0">
              <a:latin typeface="+mn-lt"/>
            </a:endParaRPr>
          </a:p>
        </p:txBody>
      </p:sp>
      <p:sp>
        <p:nvSpPr>
          <p:cNvPr id="5" name="Title 1">
            <a:extLst>
              <a:ext uri="{FF2B5EF4-FFF2-40B4-BE49-F238E27FC236}">
                <a16:creationId xmlns:a16="http://schemas.microsoft.com/office/drawing/2014/main" id="{4B231BE4-1971-4CE5-AEE8-9DE02D918533}"/>
              </a:ext>
            </a:extLst>
          </p:cNvPr>
          <p:cNvSpPr txBox="1">
            <a:spLocks/>
          </p:cNvSpPr>
          <p:nvPr/>
        </p:nvSpPr>
        <p:spPr>
          <a:xfrm>
            <a:off x="557995" y="183853"/>
            <a:ext cx="11899360" cy="315912"/>
          </a:xfrm>
          <a:prstGeom prst="rect">
            <a:avLst/>
          </a:prstGeom>
        </p:spPr>
        <p:txBody>
          <a:bodyPr>
            <a:noAutofit/>
          </a:bodyPr>
          <a:lstStyle>
            <a:lvl1pPr algn="l" defTabSz="914400" rtl="0" eaLnBrk="1" latinLnBrk="0" hangingPunct="1">
              <a:lnSpc>
                <a:spcPct val="90000"/>
              </a:lnSpc>
              <a:spcBef>
                <a:spcPct val="0"/>
              </a:spcBef>
              <a:buNone/>
              <a:defRPr sz="2400" kern="1200">
                <a:solidFill>
                  <a:schemeClr val="accent1">
                    <a:lumMod val="75000"/>
                  </a:schemeClr>
                </a:solidFill>
                <a:latin typeface="Arial" panose="020B0604020202020204" pitchFamily="34" charset="0"/>
                <a:ea typeface="+mj-ea"/>
                <a:cs typeface="Arial" panose="020B0604020202020204" pitchFamily="34" charset="0"/>
              </a:defRPr>
            </a:lvl1pPr>
          </a:lstStyle>
          <a:p>
            <a:pPr algn="ctr"/>
            <a:endParaRPr lang="en-US" b="1" dirty="0">
              <a:latin typeface="Arial"/>
              <a:cs typeface="Times New Roman"/>
            </a:endParaRPr>
          </a:p>
          <a:p>
            <a:pPr algn="ctr"/>
            <a:r>
              <a:rPr lang="en-US" b="1" dirty="0">
                <a:latin typeface="Arial"/>
                <a:cs typeface="Times New Roman"/>
              </a:rPr>
              <a:t>CPF-Vorschlag 2023-2027: Ziele und Bestrebungen  </a:t>
            </a:r>
            <a:br/>
            <a:r>
              <a:rPr lang="en-US" b="1" dirty="0">
                <a:latin typeface="Arial"/>
                <a:cs typeface="Times New Roman"/>
              </a:rPr>
              <a:t/>
            </a:r>
            <a:br/>
            <a:r>
              <a:rPr lang="en-US" b="1" dirty="0">
                <a:latin typeface="Arial"/>
                <a:cs typeface="Times New Roman"/>
              </a:rPr>
              <a:t/>
            </a:r>
            <a:endParaRPr lang="pt" sz="2000" i="1"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C6694D3A-16E4-4B4F-81CE-0521DA87762F}"/>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E5D60ABE-C9A0-48B5-9F37-61CF9EDB2909}"/>
              </a:ext>
            </a:extLst>
          </p:cNvPr>
          <p:cNvSpPr>
            <a:spLocks noGrp="1"/>
          </p:cNvSpPr>
          <p:nvPr>
            <p:ph type="sldNum" sz="quarter" idx="12"/>
          </p:nvPr>
        </p:nvSpPr>
        <p:spPr/>
        <p:txBody>
          <a:bodyPr/>
          <a:lstStyle/>
          <a:p>
            <a:fld id="{B8473C9A-9E91-4025-B5E2-D7B202510636}" type="slidenum">
              <a:rPr lang="en-US" smtClean="0"/>
              <a:t>18</a:t>
            </a:fld>
            <a:endParaRPr lang="en-US" dirty="0"/>
          </a:p>
        </p:txBody>
      </p:sp>
      <p:pic>
        <p:nvPicPr>
          <p:cNvPr id="2" name="Picture 1">
            <a:extLst>
              <a:ext uri="{FF2B5EF4-FFF2-40B4-BE49-F238E27FC236}">
                <a16:creationId xmlns:a16="http://schemas.microsoft.com/office/drawing/2014/main" id="{11D92885-4A44-4A01-9CF0-BB87C0F89DF1}"/>
              </a:ext>
            </a:extLst>
          </p:cNvPr>
          <p:cNvPicPr>
            <a:picLocks noChangeAspect="1"/>
          </p:cNvPicPr>
          <p:nvPr/>
        </p:nvPicPr>
        <p:blipFill>
          <a:blip r:embed="rId2"/>
          <a:stretch>
            <a:fillRect/>
          </a:stretch>
        </p:blipFill>
        <p:spPr>
          <a:xfrm>
            <a:off x="159744" y="195328"/>
            <a:ext cx="2316681" cy="463336"/>
          </a:xfrm>
          <a:prstGeom prst="rect">
            <a:avLst/>
          </a:prstGeom>
        </p:spPr>
      </p:pic>
    </p:spTree>
    <p:extLst>
      <p:ext uri="{BB962C8B-B14F-4D97-AF65-F5344CB8AC3E}">
        <p14:creationId xmlns:p14="http://schemas.microsoft.com/office/powerpoint/2010/main" val="248033750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Text Box 101">
            <a:extLst>
              <a:ext uri="{FF2B5EF4-FFF2-40B4-BE49-F238E27FC236}">
                <a16:creationId xmlns:a16="http://schemas.microsoft.com/office/drawing/2014/main" id="{67A4BA36-F678-40DF-B41E-24EC39261E03}"/>
              </a:ext>
            </a:extLst>
          </p:cNvPr>
          <p:cNvSpPr txBox="1"/>
          <p:nvPr/>
        </p:nvSpPr>
        <p:spPr>
          <a:xfrm>
            <a:off x="1628064" y="3840380"/>
            <a:ext cx="1655078" cy="1469998"/>
          </a:xfrm>
          <a:prstGeom prst="rect">
            <a:avLst/>
          </a:prstGeom>
          <a:solidFill>
            <a:schemeClr val="bg1"/>
          </a:solidFill>
          <a:ln w="6350">
            <a:solidFill>
              <a:prstClr val="black"/>
            </a:solidFill>
            <a:prstDash val="dash"/>
          </a:ln>
        </p:spPr>
        <p:txBody>
          <a:bodyPr rot="0" spcFirstLastPara="0" vert="horz" wrap="square" lIns="91440" tIns="45720" rIns="91440" bIns="45720" numCol="1" spcCol="0" rtlCol="0" fromWordArt="0" anchor="t" anchorCtr="0" forceAA="0" compatLnSpc="1">
            <a:prstTxWarp prst="textNoShape">
              <a:avLst/>
            </a:prstTxWarp>
            <a:noAutofit/>
          </a:bodyPr>
          <a:lstStyle/>
          <a:p>
            <a:pPr marL="0" marR="0">
              <a:spcBef>
                <a:spcPct val="0"/>
              </a:spcBef>
              <a:spcAft>
                <a:spcPct val="0"/>
              </a:spcAft>
            </a:pPr>
            <a:r>
              <a:rPr lang="en-US" sz="90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200">
              <a:effectLst/>
              <a:latin typeface="Calibri" pitchFamily="34" charset="0"/>
              <a:ea typeface="Times New Roman" panose="02020603050405020304" pitchFamily="18" charset="0"/>
              <a:cs typeface="Times New Roman" panose="02020603050405020304" pitchFamily="18" charset="0"/>
            </a:endParaRPr>
          </a:p>
        </p:txBody>
      </p:sp>
      <p:sp>
        <p:nvSpPr>
          <p:cNvPr id="39" name="Text Box 108">
            <a:extLst>
              <a:ext uri="{FF2B5EF4-FFF2-40B4-BE49-F238E27FC236}">
                <a16:creationId xmlns:a16="http://schemas.microsoft.com/office/drawing/2014/main" id="{D880BB68-451F-426C-9D42-1B37F6EA4CE3}"/>
              </a:ext>
            </a:extLst>
          </p:cNvPr>
          <p:cNvSpPr txBox="1">
            <a:spLocks noChangeArrowheads="1"/>
          </p:cNvSpPr>
          <p:nvPr/>
        </p:nvSpPr>
        <p:spPr bwMode="auto">
          <a:xfrm>
            <a:off x="1689028" y="621010"/>
            <a:ext cx="1487794" cy="561967"/>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1000" b="1">
                <a:solidFill>
                  <a:srgbClr val="000000"/>
                </a:solidFill>
                <a:latin typeface="Calibri"/>
                <a:ea typeface="Times New Roman"/>
                <a:cs typeface="Times New Roman"/>
              </a:rPr>
              <a:t>REGIERUNGSPROGRAMME</a:t>
            </a:r>
            <a:br/>
            <a:r>
              <a:rPr lang="en-US" sz="1000" b="1">
                <a:solidFill>
                  <a:srgbClr val="000000"/>
                </a:solidFill>
                <a:latin typeface="Calibri"/>
                <a:ea typeface="Times New Roman"/>
                <a:cs typeface="Times New Roman"/>
              </a:rPr>
              <a:t>(ENDE-Pfeiler)</a:t>
            </a:r>
            <a:br/>
            <a:r>
              <a:rPr lang="en-US" sz="1000" b="1">
                <a:solidFill>
                  <a:srgbClr val="000000"/>
                </a:solidFill>
                <a:latin typeface="Calibri"/>
                <a:ea typeface="Times New Roman"/>
                <a:cs typeface="Times New Roman"/>
              </a:rPr>
              <a:t/>
            </a:r>
            <a:br/>
            <a:r>
              <a:rPr lang="en-US" sz="1000" b="1">
                <a:solidFill>
                  <a:srgbClr val="000000"/>
                </a:solidFill>
                <a:latin typeface="Calibri"/>
                <a:ea typeface="Times New Roman"/>
                <a:cs typeface="Times New Roman"/>
              </a:rPr>
              <a:t/>
            </a:r>
            <a:br/>
            <a:r>
              <a:rPr lang="en-US" sz="1000" b="1">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0" name="Text Box 98">
            <a:extLst>
              <a:ext uri="{FF2B5EF4-FFF2-40B4-BE49-F238E27FC236}">
                <a16:creationId xmlns:a16="http://schemas.microsoft.com/office/drawing/2014/main" id="{EA5287A0-920D-4491-8462-CB8149A79B30}"/>
              </a:ext>
            </a:extLst>
          </p:cNvPr>
          <p:cNvSpPr txBox="1">
            <a:spLocks noChangeArrowheads="1"/>
          </p:cNvSpPr>
          <p:nvPr/>
        </p:nvSpPr>
        <p:spPr bwMode="auto">
          <a:xfrm>
            <a:off x="1723407" y="5785622"/>
            <a:ext cx="1547010" cy="451368"/>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Soziale Transformation</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1" name="Text Box 105">
            <a:extLst>
              <a:ext uri="{FF2B5EF4-FFF2-40B4-BE49-F238E27FC236}">
                <a16:creationId xmlns:a16="http://schemas.microsoft.com/office/drawing/2014/main" id="{C65457A2-F255-48B1-BBEE-C8A6E6CECFA3}"/>
              </a:ext>
            </a:extLst>
          </p:cNvPr>
          <p:cNvSpPr txBox="1">
            <a:spLocks noChangeArrowheads="1"/>
          </p:cNvSpPr>
          <p:nvPr/>
        </p:nvSpPr>
        <p:spPr bwMode="auto">
          <a:xfrm>
            <a:off x="1737562" y="3983520"/>
            <a:ext cx="1487794" cy="458264"/>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altLang="zh-CN" sz="900" b="1" dirty="0">
                <a:latin typeface="Calibri" pitchFamily="34" charset="0"/>
                <a:ea typeface="Times New Roman" panose="02020603050405020304" pitchFamily="18" charset="0"/>
                <a:cs typeface="Times New Roman" panose="02020603050405020304" pitchFamily="18" charset="0"/>
              </a:rPr>
              <a:t/>
            </a:r>
            <a:br/>
            <a:r>
              <a:rPr lang="en-US" altLang="zh-CN" sz="900" b="1" dirty="0">
                <a:latin typeface="Calibri" pitchFamily="34" charset="0"/>
                <a:ea typeface="Times New Roman" panose="02020603050405020304" pitchFamily="18" charset="0"/>
                <a:cs typeface="Times New Roman" panose="02020603050405020304" pitchFamily="18" charset="0"/>
              </a:rPr>
              <a:t>Wirtschaftliche Transformation</a:t>
            </a:r>
            <a:br/>
            <a:r>
              <a:rPr lang="en-US" altLang="zh-CN" sz="900" b="1" dirty="0">
                <a:latin typeface="Calibri" pitchFamily="34" charset="0"/>
                <a:ea typeface="Times New Roman" panose="02020603050405020304" pitchFamily="18" charset="0"/>
                <a:cs typeface="Times New Roman" panose="02020603050405020304" pitchFamily="18" charset="0"/>
              </a:rPr>
              <a:t/>
            </a:r>
            <a:br/>
            <a:r>
              <a:rPr lang="en-US" altLang="zh-CN" sz="900" b="1" dirty="0">
                <a:latin typeface="Calibri" pitchFamily="34" charset="0"/>
                <a:ea typeface="Times New Roman" panose="02020603050405020304" pitchFamily="18" charset="0"/>
                <a:cs typeface="Times New Roman" panose="02020603050405020304" pitchFamily="18" charset="0"/>
              </a:rPr>
              <a:t/>
            </a:r>
            <a:br/>
            <a:r>
              <a:rPr lang="en-US" altLang="zh-CN" sz="900" b="1" dirty="0">
                <a:latin typeface="Calibri" pitchFamily="34" charset="0"/>
                <a:ea typeface="Times New Roman" panose="02020603050405020304" pitchFamily="18" charset="0"/>
                <a:cs typeface="Times New Roman" panose="02020603050405020304" pitchFamily="18" charset="0"/>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2" name="Text Box 104">
            <a:extLst>
              <a:ext uri="{FF2B5EF4-FFF2-40B4-BE49-F238E27FC236}">
                <a16:creationId xmlns:a16="http://schemas.microsoft.com/office/drawing/2014/main" id="{510FCC56-B892-48A2-8B7D-98EABBE3CF2F}"/>
              </a:ext>
            </a:extLst>
          </p:cNvPr>
          <p:cNvSpPr txBox="1">
            <a:spLocks noChangeArrowheads="1"/>
          </p:cNvSpPr>
          <p:nvPr/>
        </p:nvSpPr>
        <p:spPr bwMode="auto">
          <a:xfrm>
            <a:off x="1701756" y="1780978"/>
            <a:ext cx="1487794" cy="561967"/>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Governance</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3" name="Text Box 106">
            <a:extLst>
              <a:ext uri="{FF2B5EF4-FFF2-40B4-BE49-F238E27FC236}">
                <a16:creationId xmlns:a16="http://schemas.microsoft.com/office/drawing/2014/main" id="{5961C23B-B674-4B10-9F36-54A5C208B615}"/>
              </a:ext>
            </a:extLst>
          </p:cNvPr>
          <p:cNvSpPr txBox="1">
            <a:spLocks noChangeArrowheads="1"/>
          </p:cNvSpPr>
          <p:nvPr/>
        </p:nvSpPr>
        <p:spPr bwMode="auto">
          <a:xfrm>
            <a:off x="1715652" y="4573488"/>
            <a:ext cx="1487794" cy="508000"/>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b="1" dirty="0">
                <a:solidFill>
                  <a:srgbClr val="000000"/>
                </a:solidFill>
                <a:latin typeface="Calibri"/>
                <a:ea typeface="Times New Roman"/>
                <a:cs typeface="Times New Roman"/>
              </a:rPr>
              <a:t> Umwelt/Natürliche Ressourcen (Kreislaufwirtschaft)</a:t>
            </a:r>
            <a:br/>
            <a:r>
              <a:rPr lang="en-US" sz="900" b="1" dirty="0">
                <a:solidFill>
                  <a:srgbClr val="000000"/>
                </a:solidFill>
                <a:latin typeface="Calibri"/>
                <a:ea typeface="Times New Roman"/>
                <a:cs typeface="Times New Roman"/>
              </a:rPr>
              <a:t/>
            </a:r>
            <a:br/>
            <a:r>
              <a:rPr lang="en-US" sz="900" b="1" dirty="0">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4" name="Text Box 107">
            <a:extLst>
              <a:ext uri="{FF2B5EF4-FFF2-40B4-BE49-F238E27FC236}">
                <a16:creationId xmlns:a16="http://schemas.microsoft.com/office/drawing/2014/main" id="{E6A1E2E5-0BF7-45AD-9F1D-92118FA6438F}"/>
              </a:ext>
            </a:extLst>
          </p:cNvPr>
          <p:cNvSpPr txBox="1">
            <a:spLocks noChangeArrowheads="1"/>
          </p:cNvSpPr>
          <p:nvPr/>
        </p:nvSpPr>
        <p:spPr bwMode="auto">
          <a:xfrm>
            <a:off x="3473057" y="500153"/>
            <a:ext cx="2008892" cy="370445"/>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r>
              <a:rPr kumimoji="0" lang="pt" sz="900" b="1" i="0" u="none" strike="noStrike" cap="none" normalizeH="0" baseline="0" dirty="0">
                <a:solidFill>
                  <a:srgbClr val="000000"/>
                </a:solidFill>
                <a:highlight>
                  <a:srgbClr val="000000">
                    <a:alpha val="0"/>
                  </a:srgbClr>
                </a:highlight>
                <a:latin typeface="Calibri"/>
                <a:ea typeface="Times New Roman"/>
                <a:cs typeface="Times New Roman"/>
              </a:rPr>
              <a:t>PRIORIDADES DA ACTUALIZAÇÃO DO SCB do BM </a:t>
            </a:r>
            <a:endParaRPr kumimoji="0" lang="en-US" altLang="zh-CN" sz="1600" b="0" i="0" u="none" strike="noStrike" cap="none" normalizeH="0" baseline="0" dirty="0">
              <a:ln>
                <a:noFill/>
              </a:ln>
              <a:solidFill>
                <a:schemeClr val="tx1"/>
              </a:solidFill>
              <a:effectLst/>
              <a:latin typeface="Arial" panose="020B0604020202020204" pitchFamily="34" charset="0"/>
            </a:endParaRPr>
          </a:p>
        </p:txBody>
      </p:sp>
      <p:sp>
        <p:nvSpPr>
          <p:cNvPr id="45" name="Text Box 102">
            <a:extLst>
              <a:ext uri="{FF2B5EF4-FFF2-40B4-BE49-F238E27FC236}">
                <a16:creationId xmlns:a16="http://schemas.microsoft.com/office/drawing/2014/main" id="{37F53BF3-9C92-442B-8A9B-85DFBF303E13}"/>
              </a:ext>
            </a:extLst>
          </p:cNvPr>
          <p:cNvSpPr txBox="1">
            <a:spLocks noChangeArrowheads="1"/>
          </p:cNvSpPr>
          <p:nvPr/>
        </p:nvSpPr>
        <p:spPr bwMode="auto">
          <a:xfrm>
            <a:off x="5873624" y="516380"/>
            <a:ext cx="2315458" cy="410865"/>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r>
              <a:rPr kumimoji="0" lang="pt" sz="1000" b="1" i="0" u="none" strike="noStrike" cap="none" normalizeH="0" baseline="0" dirty="0">
                <a:solidFill>
                  <a:srgbClr val="000000"/>
                </a:solidFill>
                <a:highlight>
                  <a:srgbClr val="000000">
                    <a:alpha val="0"/>
                  </a:srgbClr>
                </a:highlight>
                <a:latin typeface="Calibri"/>
                <a:ea typeface="Times New Roman"/>
                <a:cs typeface="Times New Roman"/>
              </a:rPr>
              <a:t>OBJECTIVOS DO CPF DO GBM</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6" name="Text Box 86">
            <a:extLst>
              <a:ext uri="{FF2B5EF4-FFF2-40B4-BE49-F238E27FC236}">
                <a16:creationId xmlns:a16="http://schemas.microsoft.com/office/drawing/2014/main" id="{A79229F4-4E13-47DF-B0B6-A443023CE6D5}"/>
              </a:ext>
            </a:extLst>
          </p:cNvPr>
          <p:cNvSpPr txBox="1">
            <a:spLocks noChangeArrowheads="1"/>
          </p:cNvSpPr>
          <p:nvPr/>
        </p:nvSpPr>
        <p:spPr bwMode="auto">
          <a:xfrm>
            <a:off x="8643949" y="557913"/>
            <a:ext cx="1378820" cy="369332"/>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1000" b="1" dirty="0">
                <a:solidFill>
                  <a:srgbClr val="000000"/>
                </a:solidFill>
                <a:latin typeface="Calibri"/>
                <a:ea typeface="Times New Roman"/>
                <a:cs typeface="Times New Roman"/>
              </a:rPr>
              <a:t>ÜBERGEORDNETE ZIELE (HLO)</a:t>
            </a:r>
            <a:br/>
            <a:r>
              <a:rPr lang="en-US" sz="1000" b="1" dirty="0">
                <a:solidFill>
                  <a:srgbClr val="000000"/>
                </a:solidFill>
                <a:latin typeface="Calibri"/>
                <a:ea typeface="Times New Roman"/>
                <a:cs typeface="Times New Roman"/>
              </a:rPr>
              <a:t/>
            </a:r>
            <a:br/>
            <a:r>
              <a:rPr lang="en-US" sz="1000" b="1" dirty="0">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7" name="Text Box 90">
            <a:extLst>
              <a:ext uri="{FF2B5EF4-FFF2-40B4-BE49-F238E27FC236}">
                <a16:creationId xmlns:a16="http://schemas.microsoft.com/office/drawing/2014/main" id="{82398FA7-E5D3-44D7-A639-37FF35396638}"/>
              </a:ext>
            </a:extLst>
          </p:cNvPr>
          <p:cNvSpPr txBox="1">
            <a:spLocks noChangeArrowheads="1"/>
          </p:cNvSpPr>
          <p:nvPr/>
        </p:nvSpPr>
        <p:spPr bwMode="auto">
          <a:xfrm>
            <a:off x="8731922" y="2676998"/>
            <a:ext cx="1228725" cy="1784350"/>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900" b="0" i="0" u="none" strike="noStrike" cap="none" normalizeH="0" baseline="0" dirty="0">
              <a:ln>
                <a:noFill/>
              </a:ln>
              <a:solidFill>
                <a:schemeClr val="tx1"/>
              </a:solidFill>
              <a:effectLst/>
              <a:latin typeface="Calibri" pitchFamily="34" charset="0"/>
              <a:ea typeface="Times New Roman" panose="02020603050405020304" pitchFamily="18" charset="0"/>
              <a:cs typeface="Times New Roman" panose="02020603050405020304" pitchFamily="18" charset="0"/>
            </a:endParaRPr>
          </a:p>
          <a:p>
            <a:pPr lvl="0" algn="ctr" eaLnBrk="0" fontAlgn="base" hangingPunct="0">
              <a:spcBef>
                <a:spcPct val="0"/>
              </a:spcBef>
              <a:spcAft>
                <a:spcPct val="0"/>
              </a:spcAft>
            </a:pPr>
            <a:r>
              <a:rPr lang="en-US" sz="900" dirty="0">
                <a:solidFill>
                  <a:srgbClr val="000000"/>
                </a:solidFill>
                <a:latin typeface="Calibri"/>
                <a:ea typeface="Times New Roman"/>
                <a:cs typeface="Times New Roman"/>
              </a:rPr>
              <a:t>HLO 2: Zunahme inklusiver Beschäftigungsschaffung</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900" b="0" i="1" u="none" strike="noStrike" cap="none" normalizeH="0" baseline="0" dirty="0">
              <a:ln>
                <a:noFill/>
              </a:ln>
              <a:solidFill>
                <a:schemeClr val="tx1"/>
              </a:solidFill>
              <a:effectLst/>
              <a:latin typeface="Calibri" pitchFamily="34" charset="0"/>
              <a:ea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8" name="Text Box 89">
            <a:extLst>
              <a:ext uri="{FF2B5EF4-FFF2-40B4-BE49-F238E27FC236}">
                <a16:creationId xmlns:a16="http://schemas.microsoft.com/office/drawing/2014/main" id="{1BA8E8A2-B286-49EC-AD72-B7F8B644098E}"/>
              </a:ext>
            </a:extLst>
          </p:cNvPr>
          <p:cNvSpPr txBox="1">
            <a:spLocks noChangeArrowheads="1"/>
          </p:cNvSpPr>
          <p:nvPr/>
        </p:nvSpPr>
        <p:spPr bwMode="auto">
          <a:xfrm>
            <a:off x="8751614" y="4565163"/>
            <a:ext cx="1245010" cy="1791188"/>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HLO3: Verbesserung des Humankapitals und Stärkung der Stellung der Frau</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900" b="0" i="1"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900" b="0" i="1"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pPr>
            <a:endParaRPr lang="en-US" altLang="zh-CN" sz="900" i="1" dirty="0">
              <a:latin typeface="Calibri" pitchFamily="34" charset="0"/>
              <a:ea typeface="Times New Roman" panose="02020603050405020304" pitchFamily="18" charset="0"/>
              <a:cs typeface="Times New Roman" panose="02020603050405020304" pitchFamily="18" charset="0"/>
            </a:endParaRPr>
          </a:p>
        </p:txBody>
      </p:sp>
      <p:sp>
        <p:nvSpPr>
          <p:cNvPr id="49" name="Text Box 87">
            <a:extLst>
              <a:ext uri="{FF2B5EF4-FFF2-40B4-BE49-F238E27FC236}">
                <a16:creationId xmlns:a16="http://schemas.microsoft.com/office/drawing/2014/main" id="{EB613E97-5EF1-4040-8C44-108B0C84469B}"/>
              </a:ext>
            </a:extLst>
          </p:cNvPr>
          <p:cNvSpPr txBox="1">
            <a:spLocks noChangeArrowheads="1"/>
          </p:cNvSpPr>
          <p:nvPr/>
        </p:nvSpPr>
        <p:spPr bwMode="auto">
          <a:xfrm>
            <a:off x="8730879" y="985005"/>
            <a:ext cx="1217885" cy="1577135"/>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9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endParaRPr>
          </a:p>
          <a:p>
            <a:pPr lvl="0" algn="ctr" eaLnBrk="0" fontAlgn="base" hangingPunct="0">
              <a:spcBef>
                <a:spcPct val="0"/>
              </a:spcBef>
              <a:spcAft>
                <a:spcPct val="0"/>
              </a:spcAft>
            </a:pPr>
            <a:r>
              <a:rPr lang="en-US" sz="900" dirty="0">
                <a:solidFill>
                  <a:srgbClr val="000000"/>
                </a:solidFill>
                <a:latin typeface="Calibri"/>
                <a:ea typeface="Times New Roman"/>
                <a:cs typeface="Times New Roman"/>
              </a:rPr>
              <a:t>HLO 1: Inklusive Institutionen</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900" b="0" i="1"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endParaRPr>
          </a:p>
          <a:p>
            <a:pPr algn="ctr" eaLnBrk="0" fontAlgn="base" hangingPunct="0">
              <a:spcBef>
                <a:spcPct val="0"/>
              </a:spcBef>
              <a:spcAft>
                <a:spcPct val="0"/>
              </a:spcAft>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0" name="Text Box 78">
            <a:extLst>
              <a:ext uri="{FF2B5EF4-FFF2-40B4-BE49-F238E27FC236}">
                <a16:creationId xmlns:a16="http://schemas.microsoft.com/office/drawing/2014/main" id="{26218C6F-E2B8-47F3-AB8A-41F3A5B8937B}"/>
              </a:ext>
            </a:extLst>
          </p:cNvPr>
          <p:cNvSpPr txBox="1">
            <a:spLocks noChangeArrowheads="1"/>
          </p:cNvSpPr>
          <p:nvPr/>
        </p:nvSpPr>
        <p:spPr bwMode="auto">
          <a:xfrm>
            <a:off x="3476341" y="950870"/>
            <a:ext cx="1985206" cy="766959"/>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Eine hohe Schuldenlast, ein fragiler makrofiskalischer Rahmen und andere ungünstige Risiken setzen die Wirtschaft makroökonomischer Instabilität aus und untergraben das Investorenvertrauen</a:t>
            </a:r>
            <a:r>
              <a:rPr kumimoji="0" lang="pt" sz="900" b="0" i="0" u="none" strike="noStrike" cap="none" normalizeH="0" baseline="0" dirty="0">
                <a:solidFill>
                  <a:srgbClr val="000000"/>
                </a:solidFill>
                <a:highlight>
                  <a:srgbClr val="000000">
                    <a:alpha val="0"/>
                  </a:srgbClr>
                </a:highlight>
                <a:latin typeface="Calibri"/>
                <a:ea typeface="Times New Roman"/>
                <a:cs typeface="Times New Roman"/>
              </a:rPr>
              <a:t>.</a:t>
            </a:r>
            <a:endParaRPr kumimoji="0" lang="en-US" altLang="zh-CN" sz="800" b="0" i="0" u="none" strike="noStrike" cap="none" normalizeH="0" baseline="0" dirty="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1" name="Text Box 79">
            <a:extLst>
              <a:ext uri="{FF2B5EF4-FFF2-40B4-BE49-F238E27FC236}">
                <a16:creationId xmlns:a16="http://schemas.microsoft.com/office/drawing/2014/main" id="{A00457DF-E278-4418-AF56-D23781F3E4F1}"/>
              </a:ext>
            </a:extLst>
          </p:cNvPr>
          <p:cNvSpPr txBox="1">
            <a:spLocks noChangeArrowheads="1"/>
          </p:cNvSpPr>
          <p:nvPr/>
        </p:nvSpPr>
        <p:spPr bwMode="auto">
          <a:xfrm>
            <a:off x="3483879" y="2879630"/>
            <a:ext cx="2020094" cy="650875"/>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Ein langsamer, unausgewogener und unfinanzierter Dezentralisierungsprozess erschwert die Übertragung von Befugnissen auf lokale Regierungen.</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2" name="Text Box 103">
            <a:extLst>
              <a:ext uri="{FF2B5EF4-FFF2-40B4-BE49-F238E27FC236}">
                <a16:creationId xmlns:a16="http://schemas.microsoft.com/office/drawing/2014/main" id="{DCC56B25-B63F-4588-A26A-6E4BD0B39749}"/>
              </a:ext>
            </a:extLst>
          </p:cNvPr>
          <p:cNvSpPr txBox="1">
            <a:spLocks noChangeArrowheads="1"/>
          </p:cNvSpPr>
          <p:nvPr/>
        </p:nvSpPr>
        <p:spPr bwMode="auto">
          <a:xfrm>
            <a:off x="5908040" y="1016226"/>
            <a:ext cx="2296354" cy="1942731"/>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1. Verbesserung des Wirtschaftsmanagements für die Schaffung nachhaltiger und resilienter Arbeitsplätze, bessere Umsetzungskapazität und geringeres Länderrisiko</a:t>
            </a:r>
            <a:br/>
            <a:r>
              <a:rPr lang="en-US" sz="900" dirty="0">
                <a:solidFill>
                  <a:srgbClr val="000000"/>
                </a:solidFill>
                <a:latin typeface="Calibri"/>
                <a:ea typeface="Times New Roman"/>
                <a:cs typeface="Times New Roman"/>
              </a:rPr>
              <a:t>2. Steigerung der Effektivität des öffentlichen Sektors für eine inklusive und transparente Leistungserbringung sowie nachhaltigere, resilientere und gerechtere Politiken </a:t>
            </a:r>
            <a:br/>
            <a:r>
              <a:rPr lang="en-US" sz="900" dirty="0">
                <a:solidFill>
                  <a:srgbClr val="000000"/>
                </a:solidFill>
                <a:latin typeface="Calibri"/>
                <a:ea typeface="Times New Roman"/>
                <a:cs typeface="Times New Roman"/>
              </a:rPr>
              <a:t>3. Stärkung der Koordination, der Politiken und der Kapazitäten für eine bessere Vorbereitung und Reaktion auf Naturkatastrophen, Katastrophen und andere multidimensionale Schocks</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3" name="Text Box 97">
            <a:extLst>
              <a:ext uri="{FF2B5EF4-FFF2-40B4-BE49-F238E27FC236}">
                <a16:creationId xmlns:a16="http://schemas.microsoft.com/office/drawing/2014/main" id="{53F47CE3-06C6-4A6F-A118-A959D8740BD4}"/>
              </a:ext>
            </a:extLst>
          </p:cNvPr>
          <p:cNvSpPr txBox="1">
            <a:spLocks noChangeArrowheads="1"/>
          </p:cNvSpPr>
          <p:nvPr/>
        </p:nvSpPr>
        <p:spPr bwMode="auto">
          <a:xfrm>
            <a:off x="5902449" y="5105628"/>
            <a:ext cx="2265505" cy="1318554"/>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7. Nachhaltige Verbesserung wichtiger Gesundheits- und Bildungsergebnisse</a:t>
            </a:r>
            <a:br/>
            <a:r>
              <a:rPr lang="en-US" sz="900" dirty="0">
                <a:solidFill>
                  <a:srgbClr val="000000"/>
                </a:solidFill>
                <a:latin typeface="Calibri"/>
                <a:ea typeface="Times New Roman"/>
                <a:cs typeface="Times New Roman"/>
              </a:rPr>
              <a:t>8. Steigerung der Effizienz und effektiven Abdeckung integrierter und nachhaltiger sozialer Dienstleistungen</a:t>
            </a:r>
            <a:br/>
            <a:r>
              <a:rPr lang="en-US" sz="900" dirty="0">
                <a:solidFill>
                  <a:srgbClr val="000000"/>
                </a:solidFill>
                <a:latin typeface="Calibri"/>
                <a:ea typeface="Times New Roman"/>
                <a:cs typeface="Times New Roman"/>
              </a:rPr>
              <a:t>9. Verbesserung des Zugangs zu Dienstleistungen zur Verhütung von Teenagerschwangerschaften und zur Förderung der Teilhabe von Frauen </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4" name="Text Box 99">
            <a:extLst>
              <a:ext uri="{FF2B5EF4-FFF2-40B4-BE49-F238E27FC236}">
                <a16:creationId xmlns:a16="http://schemas.microsoft.com/office/drawing/2014/main" id="{CC38D241-29A8-4D06-871B-D72391375300}"/>
              </a:ext>
            </a:extLst>
          </p:cNvPr>
          <p:cNvSpPr txBox="1">
            <a:spLocks noChangeArrowheads="1"/>
          </p:cNvSpPr>
          <p:nvPr/>
        </p:nvSpPr>
        <p:spPr bwMode="auto">
          <a:xfrm>
            <a:off x="10751963" y="2104449"/>
            <a:ext cx="561779" cy="3471862"/>
          </a:xfrm>
          <a:prstGeom prst="rect">
            <a:avLst/>
          </a:prstGeom>
          <a:solidFill>
            <a:srgbClr val="FFFFFF"/>
          </a:solidFill>
          <a:ln w="6350">
            <a:solidFill>
              <a:srgbClr val="000000"/>
            </a:solidFill>
            <a:miter lim="800000"/>
          </a:ln>
        </p:spPr>
        <p:txBody>
          <a:bodyPr vert="vert270"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1000" b="1" dirty="0">
                <a:solidFill>
                  <a:srgbClr val="000000"/>
                </a:solidFill>
                <a:latin typeface="Calibri"/>
                <a:ea typeface="Times New Roman"/>
                <a:cs typeface="Times New Roman"/>
              </a:rPr>
              <a:t>Die Doppelziele der Weltbank (im Kontext von </a:t>
            </a:r>
            <a:r>
              <a:rPr lang="en-US" sz="1000" i="1" dirty="0">
                <a:solidFill>
                  <a:srgbClr val="000000"/>
                </a:solidFill>
                <a:latin typeface="Calibri"/>
                <a:ea typeface="Times New Roman"/>
                <a:cs typeface="Times New Roman"/>
              </a:rPr>
              <a:t>Fragilität, Konflikt und Gewalt)</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5" name="Text Box 100">
            <a:extLst>
              <a:ext uri="{FF2B5EF4-FFF2-40B4-BE49-F238E27FC236}">
                <a16:creationId xmlns:a16="http://schemas.microsoft.com/office/drawing/2014/main" id="{6DC054EA-390C-4274-A3B4-61AE519AFF93}"/>
              </a:ext>
            </a:extLst>
          </p:cNvPr>
          <p:cNvSpPr txBox="1">
            <a:spLocks noChangeArrowheads="1"/>
          </p:cNvSpPr>
          <p:nvPr/>
        </p:nvSpPr>
        <p:spPr bwMode="auto">
          <a:xfrm>
            <a:off x="5890371" y="3060927"/>
            <a:ext cx="2296353" cy="1942731"/>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4. Ermöglichung eines nachhaltigen Wachstums ausgewählter Naturrohstoffsektoren durch Ausschöpfung regionaler und globaler komparativer Vorteile</a:t>
            </a:r>
            <a:br/>
            <a:r>
              <a:rPr lang="en-US" sz="900" dirty="0">
                <a:solidFill>
                  <a:srgbClr val="000000"/>
                </a:solidFill>
                <a:latin typeface="Calibri"/>
                <a:ea typeface="Times New Roman"/>
                <a:cs typeface="Times New Roman"/>
              </a:rPr>
              <a:t>5. Förderung des Produktivitätswachstums in ausgewählten arbeitsintensiven Branchen </a:t>
            </a:r>
            <a:br/>
            <a:r>
              <a:rPr lang="en-US" sz="900" dirty="0">
                <a:solidFill>
                  <a:srgbClr val="000000"/>
                </a:solidFill>
                <a:latin typeface="Calibri"/>
                <a:ea typeface="Times New Roman"/>
                <a:cs typeface="Times New Roman"/>
              </a:rPr>
              <a:t>6. Ausweitung zugänglicher, zuverlässiger und klimaresilienter Dienstleistungen zur Verbesserung des Zugangs für die am stärksten benachteiligten Bevölkerungsgruppen, Stärkung der nachhaltigen Urbanisierung und wirtschaftlichen Agglomeration</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7" name="Text Box 77">
            <a:extLst>
              <a:ext uri="{FF2B5EF4-FFF2-40B4-BE49-F238E27FC236}">
                <a16:creationId xmlns:a16="http://schemas.microsoft.com/office/drawing/2014/main" id="{6A5089EA-F723-4FD1-838A-0D3BD4FEB79A}"/>
              </a:ext>
            </a:extLst>
          </p:cNvPr>
          <p:cNvSpPr txBox="1">
            <a:spLocks noChangeArrowheads="1"/>
          </p:cNvSpPr>
          <p:nvPr/>
        </p:nvSpPr>
        <p:spPr bwMode="auto">
          <a:xfrm>
            <a:off x="3473057" y="1798101"/>
            <a:ext cx="2016001" cy="1017953"/>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Mangelnde Transparenz, ein schwaches Datenumfeld sowie unzureichende Aufsicht und Rechenschaftspflicht im öffentlichen Finanzmanagement und bei staatseigenen Unternehmen untergraben die Effizienz und Wirksamkeit öffentlicher Ressourcen </a:t>
            </a:r>
            <a:r>
              <a:rPr kumimoji="0" lang="pt" sz="900" b="0" i="0" u="none" strike="noStrike" cap="none" normalizeH="0" baseline="0" dirty="0">
                <a:solidFill>
                  <a:srgbClr val="000000"/>
                </a:solidFill>
                <a:highlight>
                  <a:srgbClr val="000000">
                    <a:alpha val="0"/>
                  </a:srgbClr>
                </a:highlight>
                <a:latin typeface="Calibri"/>
                <a:ea typeface="Times New Roman"/>
                <a:cs typeface="Times New Roman"/>
              </a:rPr>
              <a:t>.</a:t>
            </a:r>
            <a:endParaRPr kumimoji="0" lang="en-US" altLang="zh-CN" sz="800" b="0" i="0" u="none" strike="noStrike" cap="none" normalizeH="0" baseline="0" dirty="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8" name="Text Box 81">
            <a:extLst>
              <a:ext uri="{FF2B5EF4-FFF2-40B4-BE49-F238E27FC236}">
                <a16:creationId xmlns:a16="http://schemas.microsoft.com/office/drawing/2014/main" id="{89AF3C58-1D52-43BE-BD43-B1B4B9388F1D}"/>
              </a:ext>
            </a:extLst>
          </p:cNvPr>
          <p:cNvSpPr txBox="1">
            <a:spLocks noChangeArrowheads="1"/>
          </p:cNvSpPr>
          <p:nvPr/>
        </p:nvSpPr>
        <p:spPr bwMode="auto">
          <a:xfrm>
            <a:off x="3483879" y="3760745"/>
            <a:ext cx="2008891" cy="681038"/>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Die Bedingungen für Ausbildung, Regulierung und Märkte, die für das Wachstum, die Diversifizierung und die Beschäftigungsschaffung im Privatsektor entscheidend sind, sind unterentwickelt.</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9" name="Text Box 80">
            <a:extLst>
              <a:ext uri="{FF2B5EF4-FFF2-40B4-BE49-F238E27FC236}">
                <a16:creationId xmlns:a16="http://schemas.microsoft.com/office/drawing/2014/main" id="{9D0FC625-5B93-4F5D-8146-D81344F7F31C}"/>
              </a:ext>
            </a:extLst>
          </p:cNvPr>
          <p:cNvSpPr txBox="1">
            <a:spLocks noChangeArrowheads="1"/>
          </p:cNvSpPr>
          <p:nvPr/>
        </p:nvSpPr>
        <p:spPr bwMode="auto">
          <a:xfrm>
            <a:off x="3476341" y="4532866"/>
            <a:ext cx="2008892" cy="690562"/>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Versagen auf wichtigen Märkten, teilweise durch politische Rahmenbedingungen bedingt, beeinträchtigt Produktivität, Vermarktung und Risikomanagement</a:t>
            </a:r>
            <a:r>
              <a:rPr kumimoji="0" lang="pt" sz="900" b="0" i="0" u="none" strike="noStrike" cap="none" normalizeH="0" baseline="0" dirty="0">
                <a:solidFill>
                  <a:srgbClr val="000000"/>
                </a:solidFill>
                <a:highlight>
                  <a:srgbClr val="000000">
                    <a:alpha val="0"/>
                  </a:srgbClr>
                </a:highlight>
                <a:latin typeface="Calibri"/>
                <a:ea typeface="Times New Roman"/>
                <a:cs typeface="Times New Roman"/>
              </a:rPr>
              <a:t>.</a:t>
            </a:r>
            <a:endParaRPr kumimoji="0" lang="en-US" altLang="zh-CN" sz="800" b="0" i="0" u="none" strike="noStrike" cap="none" normalizeH="0" baseline="0" dirty="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60" name="Text Box 82">
            <a:extLst>
              <a:ext uri="{FF2B5EF4-FFF2-40B4-BE49-F238E27FC236}">
                <a16:creationId xmlns:a16="http://schemas.microsoft.com/office/drawing/2014/main" id="{1080C6B7-4DA5-4A14-8AF1-82F56116F321}"/>
              </a:ext>
            </a:extLst>
          </p:cNvPr>
          <p:cNvSpPr txBox="1">
            <a:spLocks noChangeArrowheads="1"/>
          </p:cNvSpPr>
          <p:nvPr/>
        </p:nvSpPr>
        <p:spPr bwMode="auto">
          <a:xfrm>
            <a:off x="3483878" y="5528860"/>
            <a:ext cx="2002521" cy="899160"/>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Begrenzte Haftung und leistungsbasierte Anreize sowie mangelnde institutionelle Koordination schränken die Wirksamkeit und Effizienz der Leistungserbringung und die Humankapitalbildung ein</a:t>
            </a:r>
            <a:r>
              <a:rPr kumimoji="0" lang="pt" sz="900" b="0" i="0" u="none" strike="noStrike" cap="none" normalizeH="0" baseline="0" dirty="0">
                <a:solidFill>
                  <a:srgbClr val="000000"/>
                </a:solidFill>
                <a:highlight>
                  <a:srgbClr val="000000">
                    <a:alpha val="0"/>
                  </a:srgbClr>
                </a:highlight>
                <a:latin typeface="Calibri"/>
                <a:ea typeface="Times New Roman"/>
                <a:cs typeface="Times New Roman"/>
              </a:rPr>
              <a:t>.</a:t>
            </a:r>
            <a:endParaRPr kumimoji="0" lang="en-US" altLang="zh-CN" sz="800" b="0" i="0" u="none" strike="noStrike" cap="none" normalizeH="0" baseline="0" dirty="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62" name="Right Arrow 23">
            <a:extLst>
              <a:ext uri="{FF2B5EF4-FFF2-40B4-BE49-F238E27FC236}">
                <a16:creationId xmlns:a16="http://schemas.microsoft.com/office/drawing/2014/main" id="{F7B8CA4A-EE30-47E3-B96F-AAF1B6C4697F}"/>
              </a:ext>
            </a:extLst>
          </p:cNvPr>
          <p:cNvSpPr/>
          <p:nvPr/>
        </p:nvSpPr>
        <p:spPr>
          <a:xfrm>
            <a:off x="8345501" y="3798099"/>
            <a:ext cx="298447" cy="185420"/>
          </a:xfrm>
          <a:prstGeom prst="rightArrow">
            <a:avLst/>
          </a:prstGeom>
          <a:solidFill>
            <a:srgbClr val="4472C4"/>
          </a:solidFill>
          <a:ln w="12700" cap="flat" cmpd="sng" algn="ctr">
            <a:solidFill>
              <a:srgbClr val="4472C4">
                <a:shade val="50000"/>
              </a:srgbClr>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3" name="Right Arrow 23">
            <a:extLst>
              <a:ext uri="{FF2B5EF4-FFF2-40B4-BE49-F238E27FC236}">
                <a16:creationId xmlns:a16="http://schemas.microsoft.com/office/drawing/2014/main" id="{807A0D66-CC7C-4916-A863-58A2936E001D}"/>
              </a:ext>
            </a:extLst>
          </p:cNvPr>
          <p:cNvSpPr/>
          <p:nvPr/>
        </p:nvSpPr>
        <p:spPr>
          <a:xfrm>
            <a:off x="8318413" y="1679133"/>
            <a:ext cx="298447" cy="185420"/>
          </a:xfrm>
          <a:prstGeom prst="rightArrow">
            <a:avLst/>
          </a:prstGeom>
          <a:solidFill>
            <a:srgbClr val="4472C4"/>
          </a:solidFill>
          <a:ln w="12700" cap="flat" cmpd="sng" algn="ctr">
            <a:solidFill>
              <a:srgbClr val="4472C4">
                <a:shade val="50000"/>
              </a:srgbClr>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4" name="Right Brace 63">
            <a:extLst>
              <a:ext uri="{FF2B5EF4-FFF2-40B4-BE49-F238E27FC236}">
                <a16:creationId xmlns:a16="http://schemas.microsoft.com/office/drawing/2014/main" id="{AD63B931-3E8E-4C11-B57C-F8A9FAD3BFA0}"/>
              </a:ext>
            </a:extLst>
          </p:cNvPr>
          <p:cNvSpPr/>
          <p:nvPr/>
        </p:nvSpPr>
        <p:spPr>
          <a:xfrm>
            <a:off x="9975578" y="1009196"/>
            <a:ext cx="795153" cy="5622290"/>
          </a:xfrm>
          <a:prstGeom prst="rightBrace">
            <a:avLst>
              <a:gd name="adj1" fmla="val 0"/>
              <a:gd name="adj2" fmla="val 48780"/>
            </a:avLst>
          </a:prstGeom>
        </p:spPr>
        <p:style>
          <a:lnRef idx="1">
            <a:schemeClr val="accent1"/>
          </a:lnRef>
          <a:fillRef idx="0">
            <a:schemeClr val="accent1"/>
          </a:fillRef>
          <a:effectRef idx="0">
            <a:schemeClr val="accent1"/>
          </a:effectRef>
          <a:fontRef idx="minor">
            <a:schemeClr val="tx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5" name="Right Arrow 23">
            <a:extLst>
              <a:ext uri="{FF2B5EF4-FFF2-40B4-BE49-F238E27FC236}">
                <a16:creationId xmlns:a16="http://schemas.microsoft.com/office/drawing/2014/main" id="{E176EB49-8380-4BF9-B5CD-94A2BBD3D968}"/>
              </a:ext>
            </a:extLst>
          </p:cNvPr>
          <p:cNvSpPr/>
          <p:nvPr/>
        </p:nvSpPr>
        <p:spPr>
          <a:xfrm>
            <a:off x="8312093" y="5566932"/>
            <a:ext cx="298447" cy="185420"/>
          </a:xfrm>
          <a:prstGeom prst="rightArrow">
            <a:avLst/>
          </a:prstGeom>
          <a:solidFill>
            <a:srgbClr val="4472C4"/>
          </a:solidFill>
          <a:ln w="12700" cap="flat" cmpd="sng" algn="ctr">
            <a:solidFill>
              <a:srgbClr val="4472C4">
                <a:shade val="50000"/>
              </a:srgbClr>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6" name="Right Brace 65">
            <a:extLst>
              <a:ext uri="{FF2B5EF4-FFF2-40B4-BE49-F238E27FC236}">
                <a16:creationId xmlns:a16="http://schemas.microsoft.com/office/drawing/2014/main" id="{9BD27318-54AE-44F0-B8A0-1D07DE47F16A}"/>
              </a:ext>
            </a:extLst>
          </p:cNvPr>
          <p:cNvSpPr/>
          <p:nvPr/>
        </p:nvSpPr>
        <p:spPr>
          <a:xfrm>
            <a:off x="5541669" y="918522"/>
            <a:ext cx="322443" cy="2598945"/>
          </a:xfrm>
          <a:prstGeom prst="rightBrace">
            <a:avLst>
              <a:gd name="adj1" fmla="val 0"/>
              <a:gd name="adj2" fmla="val 50000"/>
            </a:avLst>
          </a:prstGeom>
          <a:noFill/>
          <a:ln w="6350" cap="flat" cmpd="sng" algn="ctr">
            <a:solidFill>
              <a:srgbClr val="4472C4"/>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7" name="Right Brace 66">
            <a:extLst>
              <a:ext uri="{FF2B5EF4-FFF2-40B4-BE49-F238E27FC236}">
                <a16:creationId xmlns:a16="http://schemas.microsoft.com/office/drawing/2014/main" id="{17BA87D7-AAFC-4A88-88D7-39B35CF00A45}"/>
              </a:ext>
            </a:extLst>
          </p:cNvPr>
          <p:cNvSpPr/>
          <p:nvPr/>
        </p:nvSpPr>
        <p:spPr>
          <a:xfrm>
            <a:off x="5554535" y="3753428"/>
            <a:ext cx="278613" cy="1469999"/>
          </a:xfrm>
          <a:prstGeom prst="rightBrace">
            <a:avLst>
              <a:gd name="adj1" fmla="val 0"/>
              <a:gd name="adj2" fmla="val 37200"/>
            </a:avLst>
          </a:prstGeom>
          <a:noFill/>
          <a:ln w="6350" cap="flat" cmpd="sng" algn="ctr">
            <a:solidFill>
              <a:srgbClr val="4472C4"/>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8" name="Right Brace 67">
            <a:extLst>
              <a:ext uri="{FF2B5EF4-FFF2-40B4-BE49-F238E27FC236}">
                <a16:creationId xmlns:a16="http://schemas.microsoft.com/office/drawing/2014/main" id="{485910CA-A043-4F81-B5DB-931EE68D20BA}"/>
              </a:ext>
            </a:extLst>
          </p:cNvPr>
          <p:cNvSpPr/>
          <p:nvPr/>
        </p:nvSpPr>
        <p:spPr>
          <a:xfrm>
            <a:off x="5541669" y="5566932"/>
            <a:ext cx="360982" cy="857250"/>
          </a:xfrm>
          <a:prstGeom prst="rightBrace">
            <a:avLst>
              <a:gd name="adj1" fmla="val 0"/>
              <a:gd name="adj2" fmla="val 37200"/>
            </a:avLst>
          </a:prstGeom>
          <a:noFill/>
          <a:ln w="6350" cap="flat" cmpd="sng" algn="ctr">
            <a:solidFill>
              <a:srgbClr val="4472C4"/>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75" name="Rectangle 120">
            <a:extLst>
              <a:ext uri="{FF2B5EF4-FFF2-40B4-BE49-F238E27FC236}">
                <a16:creationId xmlns:a16="http://schemas.microsoft.com/office/drawing/2014/main" id="{B4C827BB-E166-4720-BAE3-E8852D546BA4}"/>
              </a:ext>
            </a:extLst>
          </p:cNvPr>
          <p:cNvSpPr>
            <a:spLocks noChangeArrowheads="1"/>
          </p:cNvSpPr>
          <p:nvPr/>
        </p:nvSpPr>
        <p:spPr bwMode="auto">
          <a:xfrm>
            <a:off x="-843300" y="2883334"/>
            <a:ext cx="11369407"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noAutofit/>
          </a:bodyPr>
          <a:lstStyle/>
          <a:p>
            <a:endParaRPr lang="en-US" dirty="0"/>
          </a:p>
        </p:txBody>
      </p:sp>
      <p:sp>
        <p:nvSpPr>
          <p:cNvPr id="82" name="TextBox 81">
            <a:extLst>
              <a:ext uri="{FF2B5EF4-FFF2-40B4-BE49-F238E27FC236}">
                <a16:creationId xmlns:a16="http://schemas.microsoft.com/office/drawing/2014/main" id="{435911EA-4749-40E7-B920-CA8554FC37D6}"/>
              </a:ext>
            </a:extLst>
          </p:cNvPr>
          <p:cNvSpPr txBox="1"/>
          <p:nvPr/>
        </p:nvSpPr>
        <p:spPr>
          <a:xfrm>
            <a:off x="262384" y="38488"/>
            <a:ext cx="11141528" cy="461665"/>
          </a:xfrm>
          <a:prstGeom prst="rect">
            <a:avLst/>
          </a:prstGeom>
          <a:noFill/>
        </p:spPr>
        <p:txBody>
          <a:bodyPr wrap="square">
            <a:noAutofit/>
          </a:bodyPr>
          <a:lstStyle/>
          <a:p>
            <a:pPr lvl="0" algn="r" eaLnBrk="0" fontAlgn="base" hangingPunct="0">
              <a:spcBef>
                <a:spcPct val="0"/>
              </a:spcBef>
              <a:spcAft>
                <a:spcPct val="0"/>
              </a:spcAft>
            </a:pPr>
            <a:r>
              <a:rPr lang="en-US" sz="2300" b="1" dirty="0">
                <a:solidFill>
                  <a:srgbClr val="2F5597"/>
                </a:solidFill>
                <a:ea typeface="+mj-ea"/>
              </a:rPr>
              <a:t>Regierungsprogramm, SCD-Prioritäten und CPF 2023-2027</a:t>
            </a:r>
            <a:endParaRPr lang="pt" sz="2300" b="1" i="0" u="none" strike="noStrike" dirty="0">
              <a:solidFill>
                <a:srgbClr val="2F5597"/>
              </a:solidFill>
              <a:highlight>
                <a:srgbClr val="000000">
                  <a:alpha val="0"/>
                </a:srgbClr>
              </a:highlight>
              <a:latin typeface="Arial"/>
              <a:ea typeface="+mj-ea"/>
              <a:cs typeface="Arial"/>
            </a:endParaRPr>
          </a:p>
        </p:txBody>
      </p:sp>
      <p:sp>
        <p:nvSpPr>
          <p:cNvPr id="33" name="Text Box 86">
            <a:extLst>
              <a:ext uri="{FF2B5EF4-FFF2-40B4-BE49-F238E27FC236}">
                <a16:creationId xmlns:a16="http://schemas.microsoft.com/office/drawing/2014/main" id="{3E71666A-E496-4F48-9C63-1C4953AF4D3C}"/>
              </a:ext>
            </a:extLst>
          </p:cNvPr>
          <p:cNvSpPr txBox="1">
            <a:spLocks noChangeArrowheads="1"/>
          </p:cNvSpPr>
          <p:nvPr/>
        </p:nvSpPr>
        <p:spPr bwMode="auto">
          <a:xfrm>
            <a:off x="10251894" y="582104"/>
            <a:ext cx="1378820" cy="369332"/>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r>
              <a:rPr kumimoji="0" lang="pt" sz="1200" b="1" i="0" u="none" strike="noStrike" cap="none" normalizeH="0" baseline="0" dirty="0">
                <a:solidFill>
                  <a:srgbClr val="000000"/>
                </a:solidFill>
                <a:highlight>
                  <a:srgbClr val="000000">
                    <a:alpha val="0"/>
                  </a:srgbClr>
                </a:highlight>
                <a:latin typeface="Calibri"/>
                <a:ea typeface="Times New Roman"/>
                <a:cs typeface="Times New Roman"/>
              </a:rPr>
              <a:t>WIRKUNG </a:t>
            </a:r>
            <a:r>
              <a:rPr kumimoji="0" lang="pt" sz="1000" b="1" i="0" u="none" strike="noStrike" cap="none" normalizeH="0" baseline="0" dirty="0">
                <a:solidFill>
                  <a:srgbClr val="000000"/>
                </a:solidFill>
                <a:highlight>
                  <a:srgbClr val="000000">
                    <a:alpha val="0"/>
                  </a:srgbClr>
                </a:highlight>
                <a:latin typeface="Calibri"/>
                <a:ea typeface="Times New Roman"/>
                <a:cs typeface="Times New Roman"/>
              </a:rPr>
              <a:t>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 name="Footer Placeholder 4">
            <a:extLst>
              <a:ext uri="{FF2B5EF4-FFF2-40B4-BE49-F238E27FC236}">
                <a16:creationId xmlns:a16="http://schemas.microsoft.com/office/drawing/2014/main" id="{3426EFB2-C29A-47AE-B735-FDA626614932}"/>
              </a:ext>
            </a:extLst>
          </p:cNvPr>
          <p:cNvSpPr>
            <a:spLocks noGrp="1"/>
          </p:cNvSpPr>
          <p:nvPr>
            <p:ph type="ftr" sz="quarter" idx="11"/>
          </p:nvPr>
        </p:nvSpPr>
        <p:spPr>
          <a:xfrm>
            <a:off x="4037499" y="6485618"/>
            <a:ext cx="4114800" cy="365125"/>
          </a:xfrm>
        </p:spPr>
        <p:txBody>
          <a:bodyPr/>
          <a:lstStyle/>
          <a:p>
            <a:r>
              <a:rPr lang="en-US"/>
              <a:t>CPF 2023-2027. Öffentliche Version. Maputo, Mai 2022.</a:t>
            </a:r>
            <a:endParaRPr lang="en-US" dirty="0"/>
          </a:p>
        </p:txBody>
      </p:sp>
      <p:sp>
        <p:nvSpPr>
          <p:cNvPr id="6" name="Slide Number Placeholder 5">
            <a:extLst>
              <a:ext uri="{FF2B5EF4-FFF2-40B4-BE49-F238E27FC236}">
                <a16:creationId xmlns:a16="http://schemas.microsoft.com/office/drawing/2014/main" id="{209C3A3E-73B2-4CAB-BCDC-283C09B7A996}"/>
              </a:ext>
            </a:extLst>
          </p:cNvPr>
          <p:cNvSpPr>
            <a:spLocks noGrp="1"/>
          </p:cNvSpPr>
          <p:nvPr>
            <p:ph type="sldNum" sz="quarter" idx="12"/>
          </p:nvPr>
        </p:nvSpPr>
        <p:spPr/>
        <p:txBody>
          <a:bodyPr/>
          <a:lstStyle/>
          <a:p>
            <a:fld id="{B8473C9A-9E91-4025-B5E2-D7B202510636}" type="slidenum">
              <a:rPr lang="en-US" smtClean="0"/>
              <a:t>19</a:t>
            </a:fld>
            <a:endParaRPr lang="en-US" dirty="0"/>
          </a:p>
        </p:txBody>
      </p:sp>
      <p:graphicFrame>
        <p:nvGraphicFramePr>
          <p:cNvPr id="2" name="Table 2">
            <a:extLst>
              <a:ext uri="{FF2B5EF4-FFF2-40B4-BE49-F238E27FC236}">
                <a16:creationId xmlns:a16="http://schemas.microsoft.com/office/drawing/2014/main" id="{1C2F015B-084F-4D5A-AFF8-CBC5391288D9}"/>
              </a:ext>
            </a:extLst>
          </p:cNvPr>
          <p:cNvGraphicFramePr>
            <a:graphicFrameLocks noGrp="1"/>
          </p:cNvGraphicFramePr>
          <p:nvPr>
            <p:extLst>
              <p:ext uri="{D42A27DB-BD31-4B8C-83A1-F6EECF244321}">
                <p14:modId xmlns:p14="http://schemas.microsoft.com/office/powerpoint/2010/main" val="1381787384"/>
              </p:ext>
            </p:extLst>
          </p:nvPr>
        </p:nvGraphicFramePr>
        <p:xfrm>
          <a:off x="5862279" y="494314"/>
          <a:ext cx="2366680" cy="432931"/>
        </p:xfrm>
        <a:graphic>
          <a:graphicData uri="http://schemas.openxmlformats.org/drawingml/2006/table">
            <a:tbl>
              <a:tblPr firstRow="1" bandRow="1">
                <a:tableStyleId>{5C22544A-7EE6-4342-B048-85BDC9FD1C3A}</a:tableStyleId>
              </a:tblPr>
              <a:tblGrid>
                <a:gridCol w="2366680">
                  <a:extLst>
                    <a:ext uri="{9D8B030D-6E8A-4147-A177-3AD203B41FA5}">
                      <a16:colId xmlns:a16="http://schemas.microsoft.com/office/drawing/2014/main" val="3780125749"/>
                    </a:ext>
                  </a:extLst>
                </a:gridCol>
              </a:tblGrid>
              <a:tr h="432931">
                <a:tc>
                  <a:txBody>
                    <a:bodyPr/>
                    <a:lstStyle/>
                    <a:p>
                      <a:pPr algn="ctr"/>
                      <a:r>
                        <a:rPr lang="en-US" sz="900" dirty="0"/>
                        <a:t>WBG CPF Objectives </a:t>
                      </a:r>
                    </a:p>
                  </a:txBody>
                  <a:tcPr/>
                </a:tc>
                <a:extLst>
                  <a:ext uri="{0D108BD9-81ED-4DB2-BD59-A6C34878D82A}">
                    <a16:rowId xmlns:a16="http://schemas.microsoft.com/office/drawing/2014/main" val="4082223956"/>
                  </a:ext>
                </a:extLst>
              </a:tr>
            </a:tbl>
          </a:graphicData>
        </a:graphic>
      </p:graphicFrame>
      <p:graphicFrame>
        <p:nvGraphicFramePr>
          <p:cNvPr id="3" name="Table 3">
            <a:extLst>
              <a:ext uri="{FF2B5EF4-FFF2-40B4-BE49-F238E27FC236}">
                <a16:creationId xmlns:a16="http://schemas.microsoft.com/office/drawing/2014/main" id="{5152482C-7E96-4C99-AE17-9509514AE1B3}"/>
              </a:ext>
            </a:extLst>
          </p:cNvPr>
          <p:cNvGraphicFramePr>
            <a:graphicFrameLocks noGrp="1"/>
          </p:cNvGraphicFramePr>
          <p:nvPr>
            <p:extLst>
              <p:ext uri="{D42A27DB-BD31-4B8C-83A1-F6EECF244321}">
                <p14:modId xmlns:p14="http://schemas.microsoft.com/office/powerpoint/2010/main" val="2921258018"/>
              </p:ext>
            </p:extLst>
          </p:nvPr>
        </p:nvGraphicFramePr>
        <p:xfrm>
          <a:off x="3348429" y="493305"/>
          <a:ext cx="2284725" cy="457200"/>
        </p:xfrm>
        <a:graphic>
          <a:graphicData uri="http://schemas.openxmlformats.org/drawingml/2006/table">
            <a:tbl>
              <a:tblPr firstRow="1" bandRow="1">
                <a:tableStyleId>{5C22544A-7EE6-4342-B048-85BDC9FD1C3A}</a:tableStyleId>
              </a:tblPr>
              <a:tblGrid>
                <a:gridCol w="2284725">
                  <a:extLst>
                    <a:ext uri="{9D8B030D-6E8A-4147-A177-3AD203B41FA5}">
                      <a16:colId xmlns:a16="http://schemas.microsoft.com/office/drawing/2014/main" val="566056220"/>
                    </a:ext>
                  </a:extLst>
                </a:gridCol>
              </a:tblGrid>
              <a:tr h="457200">
                <a:tc>
                  <a:txBody>
                    <a:bodyPr/>
                    <a:lstStyle/>
                    <a:p>
                      <a:pPr algn="ctr"/>
                      <a:r>
                        <a:rPr lang="en-US" sz="900" dirty="0"/>
                        <a:t>WBG SCD Priorities </a:t>
                      </a:r>
                    </a:p>
                  </a:txBody>
                  <a:tcPr/>
                </a:tc>
                <a:extLst>
                  <a:ext uri="{0D108BD9-81ED-4DB2-BD59-A6C34878D82A}">
                    <a16:rowId xmlns:a16="http://schemas.microsoft.com/office/drawing/2014/main" val="3967305129"/>
                  </a:ext>
                </a:extLst>
              </a:tr>
            </a:tbl>
          </a:graphicData>
        </a:graphic>
      </p:graphicFrame>
      <p:pic>
        <p:nvPicPr>
          <p:cNvPr id="4" name="Picture 3">
            <a:extLst>
              <a:ext uri="{FF2B5EF4-FFF2-40B4-BE49-F238E27FC236}">
                <a16:creationId xmlns:a16="http://schemas.microsoft.com/office/drawing/2014/main" id="{52416E96-0776-48B0-B21E-A364D77FC888}"/>
              </a:ext>
            </a:extLst>
          </p:cNvPr>
          <p:cNvPicPr>
            <a:picLocks noChangeAspect="1"/>
          </p:cNvPicPr>
          <p:nvPr/>
        </p:nvPicPr>
        <p:blipFill>
          <a:blip r:embed="rId2"/>
          <a:stretch>
            <a:fillRect/>
          </a:stretch>
        </p:blipFill>
        <p:spPr>
          <a:xfrm>
            <a:off x="262384" y="103568"/>
            <a:ext cx="2316681" cy="463336"/>
          </a:xfrm>
          <a:prstGeom prst="rect">
            <a:avLst/>
          </a:prstGeom>
        </p:spPr>
      </p:pic>
    </p:spTree>
    <p:extLst>
      <p:ext uri="{BB962C8B-B14F-4D97-AF65-F5344CB8AC3E}">
        <p14:creationId xmlns:p14="http://schemas.microsoft.com/office/powerpoint/2010/main" val="1068890068"/>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676B-4603-455B-9BA6-AAFD3FF0ACAB}"/>
              </a:ext>
            </a:extLst>
          </p:cNvPr>
          <p:cNvSpPr>
            <a:spLocks noGrp="1"/>
          </p:cNvSpPr>
          <p:nvPr>
            <p:ph type="title"/>
          </p:nvPr>
        </p:nvSpPr>
        <p:spPr>
          <a:xfrm>
            <a:off x="838200" y="229481"/>
            <a:ext cx="10515600" cy="922299"/>
          </a:xfrm>
        </p:spPr>
        <p:txBody>
          <a:bodyPr>
            <a:noAutofit/>
          </a:bodyPr>
          <a:lstStyle/>
          <a:p>
            <a:pPr algn="ctr"/>
            <a:br>
              <a:rPr lang="en-US" sz="2400" dirty="0"/>
            </a:br>
            <a:br>
              <a:rPr lang="en-US" sz="2400" dirty="0"/>
            </a:br>
            <a:br>
              <a:rPr lang="en-US" sz="2400" dirty="0"/>
            </a:br>
            <a:r>
              <a:rPr lang="en-US" sz="2400" dirty="0"/>
              <a:t>Umsetzung des CPF 2023-2027: Priorisierung</a:t>
            </a:r>
            <a:br/>
            <a:r>
              <a:rPr lang="en-US" sz="2400" dirty="0"/>
              <a:t/>
            </a:r>
            <a:br/>
            <a:r>
              <a:rPr lang="en-US" sz="2400" dirty="0"/>
              <a:t/>
            </a:r>
            <a:endParaRPr lang="pt" sz="24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95DD31EA-D262-4017-A859-112A4B3C2A17}"/>
              </a:ext>
            </a:extLst>
          </p:cNvPr>
          <p:cNvSpPr>
            <a:spLocks noGrp="1"/>
          </p:cNvSpPr>
          <p:nvPr>
            <p:ph idx="1"/>
          </p:nvPr>
        </p:nvSpPr>
        <p:spPr>
          <a:xfrm>
            <a:off x="838200" y="1568672"/>
            <a:ext cx="10515600" cy="4700703"/>
          </a:xfrm>
        </p:spPr>
        <p:txBody>
          <a:bodyPr>
            <a:noAutofit/>
          </a:bodyPr>
          <a:lstStyle/>
          <a:p>
            <a:pPr algn="just" rtl="0"/>
            <a:r>
              <a:rPr lang="en-US" sz="1600" b="1" i="0" u="none" strike="noStrike" dirty="0">
                <a:highlight>
                  <a:srgbClr val="000000">
                    <a:alpha val="0"/>
                  </a:srgbClr>
                </a:highlight>
                <a:latin typeface="Arial"/>
              </a:rPr>
              <a:t>In den nächsten 12 bis 24 Monaten wird der CPF Reformen und Investitionen priorisieren, die die Wachstumsaussichten des Landes schützen können.</a:t>
            </a:r>
            <a:r>
              <a:rPr lang="en-US" sz="1600" i="0" u="none" strike="noStrike" dirty="0">
                <a:highlight>
                  <a:srgbClr val="000000">
                    <a:alpha val="0"/>
                  </a:srgbClr>
                </a:highlight>
                <a:latin typeface="Arial"/>
              </a:rPr>
              <a:t> Mittelfristig wird der CPF einige transformative Reformen und Investitionen priorisieren, die ein grüneres und inklusiveres Wachstum auslösen könnten.</a:t>
            </a:r>
            <a:endParaRPr lang="en-US" sz="1600" b="1" i="0" u="none" strike="noStrike" dirty="0">
              <a:highlight>
                <a:srgbClr val="000000">
                  <a:alpha val="0"/>
                </a:srgbClr>
              </a:highlight>
              <a:latin typeface="Arial"/>
            </a:endParaRPr>
          </a:p>
          <a:p>
            <a:pPr algn="just" rtl="0"/>
            <a:r>
              <a:rPr lang="en-US" sz="1600" b="1" i="0" u="none" strike="noStrike" dirty="0">
                <a:highlight>
                  <a:srgbClr val="000000">
                    <a:alpha val="0"/>
                  </a:srgbClr>
                </a:highlight>
                <a:latin typeface="Arial"/>
              </a:rPr>
              <a:t>Um den Gegenwind der schwierigen globalen Wirtschaft abzufedern, wird der CPF Maßnahmen priorisieren, die die makroökonomische Stabilität weiter sichern, die Vorsorge für Klimaschocks verbessern </a:t>
            </a:r>
            <a:r>
              <a:rPr lang="en-US" sz="1600" i="0" u="none" strike="noStrike" dirty="0">
                <a:highlight>
                  <a:srgbClr val="000000">
                    <a:alpha val="0"/>
                  </a:srgbClr>
                </a:highlight>
                <a:latin typeface="Arial"/>
              </a:rPr>
              <a:t>und Stabilität und Sicherheit im Norden gewährleisten, während der Fokus auf Krisenprävention, -reaktion und Resilienz auf Basis der Prävention- und Resilienz-Zuweisung aufrechterhalten wird.</a:t>
            </a:r>
            <a:endParaRPr lang="en-US" sz="1600" b="1" i="0" u="none" strike="noStrike" dirty="0">
              <a:highlight>
                <a:srgbClr val="000000">
                  <a:alpha val="0"/>
                </a:srgbClr>
              </a:highlight>
              <a:latin typeface="Arial"/>
            </a:endParaRPr>
          </a:p>
          <a:p>
            <a:pPr algn="just" rtl="0"/>
            <a:r>
              <a:rPr lang="en-US" sz="1600" b="1" i="0" u="none" strike="noStrike" dirty="0">
                <a:highlight>
                  <a:srgbClr val="000000">
                    <a:alpha val="0"/>
                  </a:srgbClr>
                </a:highlight>
                <a:latin typeface="Arial"/>
              </a:rPr>
              <a:t>Der CPF wird der Regierung auch dabei helfen, zusätzliche private Investitionen zu erschließen </a:t>
            </a:r>
            <a:r>
              <a:rPr lang="en-US" sz="1600" i="0" u="none" strike="noStrike" dirty="0">
                <a:highlight>
                  <a:srgbClr val="000000">
                    <a:alpha val="0"/>
                  </a:srgbClr>
                </a:highlight>
                <a:latin typeface="Arial"/>
              </a:rPr>
              <a:t>und potenzielle Produktivitätsgewinne zu realisieren, die das Wirtschaftswachstum und die Inklusion kurzfristig beschleunigen können.</a:t>
            </a:r>
            <a:endParaRPr lang="en-US" sz="1600" b="1" i="0" u="none" strike="noStrike" dirty="0">
              <a:highlight>
                <a:srgbClr val="000000">
                  <a:alpha val="0"/>
                </a:srgbClr>
              </a:highlight>
              <a:latin typeface="Arial"/>
            </a:endParaRPr>
          </a:p>
          <a:p>
            <a:pPr algn="just" rtl="0"/>
            <a:r>
              <a:rPr lang="en-US" sz="1600" b="1" i="0" u="none" strike="noStrike" dirty="0">
                <a:highlight>
                  <a:srgbClr val="000000">
                    <a:alpha val="0"/>
                  </a:srgbClr>
                </a:highlight>
                <a:latin typeface="Arial"/>
              </a:rPr>
              <a:t>Um ein grüneres und inklusiveres Wachstum freizusetzen</a:t>
            </a:r>
            <a:r>
              <a:rPr lang="en-US" sz="1600" i="0" u="none" strike="noStrike" dirty="0">
                <a:highlight>
                  <a:srgbClr val="000000">
                    <a:alpha val="0"/>
                  </a:srgbClr>
                </a:highlight>
                <a:latin typeface="Arial"/>
              </a:rPr>
              <a:t>, wird der CPF Maßnahmen priorisieren, die (i) die Nutzung natürlicher Ressourcen ermöglichen und gleichzeitig das natürliche Ressourcenmanagement stärken – das Land schrittweise auf einen kohlenstoffarmen Entwicklungspfad lenken (unter Einbeziehung der Empfehlungen des Berichts zu Klimawandel und Entwicklung (demnächst zu veröffentlichen)) – und (ii) den Prozess der strukturellen (wirtschaftlichen und räumlichen) Transformation beschleunigen, insbesondere durch die Modernisierung der Landwirtschaft und ein besseres Management des Urbanisierungsprozesses.</a:t>
            </a:r>
            <a:endParaRPr lang="en-US" sz="1600" dirty="0"/>
          </a:p>
        </p:txBody>
      </p:sp>
      <p:sp>
        <p:nvSpPr>
          <p:cNvPr id="7" name="Footer Placeholder 6">
            <a:extLst>
              <a:ext uri="{FF2B5EF4-FFF2-40B4-BE49-F238E27FC236}">
                <a16:creationId xmlns:a16="http://schemas.microsoft.com/office/drawing/2014/main" id="{A33C755C-B279-42BF-B058-8A1E73B24E63}"/>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B051C23C-5BC7-4AE8-9AFF-BBE32842FF8B}"/>
              </a:ext>
            </a:extLst>
          </p:cNvPr>
          <p:cNvSpPr>
            <a:spLocks noGrp="1"/>
          </p:cNvSpPr>
          <p:nvPr>
            <p:ph type="sldNum" sz="quarter" idx="12"/>
          </p:nvPr>
        </p:nvSpPr>
        <p:spPr/>
        <p:txBody>
          <a:bodyPr/>
          <a:lstStyle/>
          <a:p>
            <a:fld id="{B8473C9A-9E91-4025-B5E2-D7B202510636}" type="slidenum">
              <a:rPr lang="en-US" smtClean="0"/>
              <a:t>20</a:t>
            </a:fld>
            <a:endParaRPr lang="en-US" dirty="0"/>
          </a:p>
        </p:txBody>
      </p:sp>
      <p:pic>
        <p:nvPicPr>
          <p:cNvPr id="4" name="Picture 3">
            <a:extLst>
              <a:ext uri="{FF2B5EF4-FFF2-40B4-BE49-F238E27FC236}">
                <a16:creationId xmlns:a16="http://schemas.microsoft.com/office/drawing/2014/main" id="{39A1D7FE-ED6A-414B-A3D8-9F7D4FC8C4AF}"/>
              </a:ext>
            </a:extLst>
          </p:cNvPr>
          <p:cNvPicPr>
            <a:picLocks noChangeAspect="1"/>
          </p:cNvPicPr>
          <p:nvPr/>
        </p:nvPicPr>
        <p:blipFill>
          <a:blip r:embed="rId2"/>
          <a:stretch>
            <a:fillRect/>
          </a:stretch>
        </p:blipFill>
        <p:spPr>
          <a:xfrm>
            <a:off x="245916" y="229481"/>
            <a:ext cx="2316681" cy="463336"/>
          </a:xfrm>
          <a:prstGeom prst="rect">
            <a:avLst/>
          </a:prstGeom>
        </p:spPr>
      </p:pic>
    </p:spTree>
    <p:extLst>
      <p:ext uri="{BB962C8B-B14F-4D97-AF65-F5344CB8AC3E}">
        <p14:creationId xmlns:p14="http://schemas.microsoft.com/office/powerpoint/2010/main" val="3822225861"/>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02326-9E63-4DF0-AF0D-21FCFEC54D28}"/>
              </a:ext>
            </a:extLst>
          </p:cNvPr>
          <p:cNvSpPr>
            <a:spLocks noGrp="1"/>
          </p:cNvSpPr>
          <p:nvPr>
            <p:ph type="title"/>
          </p:nvPr>
        </p:nvSpPr>
        <p:spPr>
          <a:xfrm>
            <a:off x="838200" y="482493"/>
            <a:ext cx="10515600" cy="674333"/>
          </a:xfrm>
        </p:spPr>
        <p:txBody>
          <a:bodyPr>
            <a:noAutofit/>
          </a:bodyPr>
          <a:lstStyle/>
          <a:p>
            <a:pPr algn="ctr"/>
            <a:r>
              <a:rPr lang="en-US" sz="2400" dirty="0"/>
              <a:t>CPF-Umsetzung 2023-2027: Priorisierung</a:t>
            </a:r>
            <a:br/>
            <a:r>
              <a:rPr lang="en-US" sz="2400" dirty="0"/>
              <a:t/>
            </a:r>
            <a:br/>
            <a:r>
              <a:rPr lang="en-US" sz="2400" dirty="0"/>
              <a:t/>
            </a:r>
            <a:endParaRPr lang="pt" sz="2400" b="1" i="0"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CB65E0F7-FCC9-4A64-911C-50F2460F3EEB}"/>
              </a:ext>
            </a:extLst>
          </p:cNvPr>
          <p:cNvSpPr>
            <a:spLocks noGrp="1"/>
          </p:cNvSpPr>
          <p:nvPr>
            <p:ph idx="1"/>
          </p:nvPr>
        </p:nvSpPr>
        <p:spPr>
          <a:xfrm>
            <a:off x="668878" y="1012489"/>
            <a:ext cx="10515600" cy="4351338"/>
          </a:xfrm>
        </p:spPr>
        <p:txBody>
          <a:bodyPr>
            <a:noAutofit/>
          </a:bodyPr>
          <a:lstStyle/>
          <a:p>
            <a:pPr algn="just" rtl="0"/>
            <a:r>
              <a:rPr lang="en-US" sz="1600" b="0" i="0" u="none" strike="noStrike" dirty="0">
                <a:highlight>
                  <a:srgbClr val="000000">
                    <a:alpha val="0"/>
                  </a:srgbClr>
                </a:highlight>
                <a:latin typeface="Arial"/>
              </a:rPr>
              <a:t>Die Reformen werden die von der IFC im Rahmen ihrer Strategie </a:t>
            </a:r>
            <a:r>
              <a:rPr lang="en-US" sz="1600" dirty="0">
                <a:highlight>
                  <a:srgbClr val="000000">
                    <a:alpha val="0"/>
                  </a:srgbClr>
                </a:highlight>
                <a:latin typeface="Arial"/>
              </a:rPr>
              <a:t>GJ</a:t>
            </a:r>
            <a:r>
              <a:rPr lang="en-US" sz="1600" b="0" i="0" u="none" strike="noStrike" dirty="0">
                <a:highlight>
                  <a:srgbClr val="000000">
                    <a:alpha val="0"/>
                  </a:srgbClr>
                </a:highlight>
                <a:latin typeface="Arial"/>
              </a:rPr>
              <a:t>22-26 identifizierten Branchen priorisieren, um die Mobilisierung von Privatkapital zu maximieren. Die endgültigen Prioritäten werden jedoch auf der Grundlage weiterer Konsultationen mit der Regierung festgelegt.</a:t>
            </a:r>
          </a:p>
          <a:p>
            <a:pPr algn="just" rtl="0"/>
            <a:r>
              <a:rPr lang="en-US" sz="1600" b="0" i="0" u="none" strike="noStrike" dirty="0">
                <a:highlight>
                  <a:srgbClr val="000000">
                    <a:alpha val="0"/>
                  </a:srgbClr>
                </a:highlight>
                <a:latin typeface="Arial"/>
              </a:rPr>
              <a:t>Die Verpflichtungen des Landes zu Zielen und Reformen für die </a:t>
            </a:r>
            <a:r>
              <a:rPr lang="en-US" sz="1600" b="1" i="0" u="none" strike="noStrike" dirty="0">
                <a:highlight>
                  <a:srgbClr val="000000">
                    <a:alpha val="0"/>
                  </a:srgbClr>
                </a:highlight>
                <a:latin typeface="Arial"/>
              </a:rPr>
              <a:t>Prävention von Konflikten und Gewalt </a:t>
            </a:r>
            <a:r>
              <a:rPr lang="en-US" sz="1600" b="0" i="0" u="none" strike="noStrike" dirty="0">
                <a:highlight>
                  <a:srgbClr val="000000">
                    <a:alpha val="0"/>
                  </a:srgbClr>
                </a:highlight>
                <a:latin typeface="Arial"/>
              </a:rPr>
              <a:t>(PRA) bilden eine der Grundlagen des nächsten CPF.</a:t>
            </a:r>
          </a:p>
          <a:p>
            <a:pPr algn="just" rtl="0"/>
            <a:r>
              <a:rPr lang="en-US" sz="1600" b="0" i="0" u="none" strike="noStrike" dirty="0">
                <a:highlight>
                  <a:srgbClr val="000000">
                    <a:alpha val="0"/>
                  </a:srgbClr>
                </a:highlight>
                <a:latin typeface="Arial"/>
              </a:rPr>
              <a:t>Als Ergänzung zum aktuellen nicht ausgezahlten Portfolio wird die vorgeschlagene Pipeline den Budgetsupport erneut betonen – mit einer möglichen Serie von drei Development Policy Operations (DPO) in Erwägung.</a:t>
            </a:r>
          </a:p>
          <a:p>
            <a:pPr algn="just" rtl="0"/>
            <a:r>
              <a:rPr lang="en-US" sz="1600" b="0" i="0" u="none" strike="noStrike" dirty="0">
                <a:highlight>
                  <a:srgbClr val="000000">
                    <a:alpha val="0"/>
                  </a:srgbClr>
                </a:highlight>
                <a:latin typeface="Arial"/>
              </a:rPr>
              <a:t>Diese Betonung baut auf (i) dem erneuerten Interesse der Regierung an Reformen und (ii) der jüngsten Vereinbarung zwischen dem IWF und der Regierung im Rahmen der Extended Credit Facility (ECF) für 2022-2025 auf.</a:t>
            </a:r>
          </a:p>
          <a:p>
            <a:pPr algn="just" rtl="0"/>
            <a:r>
              <a:rPr lang="en-US" sz="1600" b="0" i="0" u="none" strike="noStrike" dirty="0">
                <a:highlight>
                  <a:srgbClr val="000000">
                    <a:alpha val="0"/>
                  </a:srgbClr>
                </a:highlight>
                <a:latin typeface="Arial"/>
              </a:rPr>
              <a:t>Der neue CPF wird auch räumlich definierte Operationen stärken.</a:t>
            </a:r>
          </a:p>
          <a:p>
            <a:pPr algn="just" rtl="0"/>
            <a:r>
              <a:rPr lang="en-US" sz="1600" b="0" i="0" u="none" strike="noStrike" dirty="0">
                <a:highlight>
                  <a:srgbClr val="000000">
                    <a:alpha val="0"/>
                  </a:srgbClr>
                </a:highlight>
                <a:latin typeface="Arial"/>
              </a:rPr>
              <a:t>Während der Umsetzung des CPF werden Anstrengungen unternommen, um das Weltbankportfolio effizient umzusetzen</a:t>
            </a:r>
          </a:p>
          <a:p>
            <a:pPr algn="just" rtl="0"/>
            <a:r>
              <a:rPr lang="en-US" sz="1600" b="0" i="0" u="none" strike="noStrike" dirty="0">
                <a:highlight>
                  <a:srgbClr val="000000">
                    <a:alpha val="0"/>
                  </a:srgbClr>
                </a:highlight>
                <a:latin typeface="Arial"/>
              </a:rPr>
              <a:t>Der neue CPF wird darauf abzielen, eine geringere Anzahl von Projekten mit größerem Volumen und multisektoralen Zielen zu priorisieren.</a:t>
            </a:r>
          </a:p>
          <a:p>
            <a:pPr algn="just" rtl="0"/>
            <a:r>
              <a:rPr lang="en-US" sz="1600" b="0" i="0" u="none" strike="noStrike" dirty="0">
                <a:highlight>
                  <a:srgbClr val="000000">
                    <a:alpha val="0"/>
                  </a:srgbClr>
                </a:highlight>
                <a:latin typeface="Arial"/>
              </a:rPr>
              <a:t>Relevante (querschnittliche) Themen werden unter anderem Klima, Gender, Bürgerbeteiligung und öffentlich-private Zusammenarbeit sein.</a:t>
            </a:r>
          </a:p>
          <a:p>
            <a:pPr algn="just" rtl="0"/>
            <a:r>
              <a:rPr lang="en-US" sz="1600" b="0" i="0" u="none" strike="noStrike" dirty="0">
                <a:highlight>
                  <a:srgbClr val="000000">
                    <a:alpha val="0"/>
                  </a:srgbClr>
                </a:highlight>
                <a:latin typeface="Arial"/>
              </a:rPr>
              <a:t> Der CPF wird auch Chancen berücksichtigen, die durch regionale Handelsabkommen entstehen, insbesondere das </a:t>
            </a:r>
            <a:r>
              <a:rPr lang="pt" sz="1600" i="1" dirty="0">
                <a:highlight>
                  <a:srgbClr val="000000">
                    <a:alpha val="0"/>
                  </a:srgbClr>
                </a:highlight>
                <a:latin typeface="Arial"/>
              </a:rPr>
              <a:t>Afrikanische Kontinentale Freihandelsabkommen.</a:t>
            </a:r>
            <a:endParaRPr lang="pt" sz="1600" b="0" i="0" u="none" strike="noStrike"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C5C0DE30-DEC6-46C6-9FC7-8A106AADC3D2}"/>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A47F46B3-9248-4F35-A216-8D81D0B745B8}"/>
              </a:ext>
            </a:extLst>
          </p:cNvPr>
          <p:cNvSpPr>
            <a:spLocks noGrp="1"/>
          </p:cNvSpPr>
          <p:nvPr>
            <p:ph type="sldNum" sz="quarter" idx="12"/>
          </p:nvPr>
        </p:nvSpPr>
        <p:spPr/>
        <p:txBody>
          <a:bodyPr/>
          <a:lstStyle/>
          <a:p>
            <a:fld id="{B8473C9A-9E91-4025-B5E2-D7B202510636}" type="slidenum">
              <a:rPr lang="en-US" smtClean="0"/>
              <a:t>21</a:t>
            </a:fld>
            <a:endParaRPr lang="en-US" dirty="0"/>
          </a:p>
        </p:txBody>
      </p:sp>
      <p:pic>
        <p:nvPicPr>
          <p:cNvPr id="4" name="Picture 3">
            <a:extLst>
              <a:ext uri="{FF2B5EF4-FFF2-40B4-BE49-F238E27FC236}">
                <a16:creationId xmlns:a16="http://schemas.microsoft.com/office/drawing/2014/main" id="{04754607-0E7F-4AE3-8261-F3B7D4568D6A}"/>
              </a:ext>
            </a:extLst>
          </p:cNvPr>
          <p:cNvPicPr>
            <a:picLocks noChangeAspect="1"/>
          </p:cNvPicPr>
          <p:nvPr/>
        </p:nvPicPr>
        <p:blipFill>
          <a:blip r:embed="rId2"/>
          <a:stretch>
            <a:fillRect/>
          </a:stretch>
        </p:blipFill>
        <p:spPr>
          <a:xfrm>
            <a:off x="213259" y="163494"/>
            <a:ext cx="2316681" cy="463336"/>
          </a:xfrm>
          <a:prstGeom prst="rect">
            <a:avLst/>
          </a:prstGeom>
        </p:spPr>
      </p:pic>
    </p:spTree>
    <p:extLst>
      <p:ext uri="{BB962C8B-B14F-4D97-AF65-F5344CB8AC3E}">
        <p14:creationId xmlns:p14="http://schemas.microsoft.com/office/powerpoint/2010/main" val="1963031688"/>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5D60C23-4EAA-4BE3-827F-B4843990E7B3}"/>
              </a:ext>
            </a:extLst>
          </p:cNvPr>
          <p:cNvSpPr txBox="1"/>
          <p:nvPr/>
        </p:nvSpPr>
        <p:spPr>
          <a:xfrm>
            <a:off x="8880804" y="4780312"/>
            <a:ext cx="2355192" cy="430887"/>
          </a:xfrm>
          <a:prstGeom prst="rect">
            <a:avLst/>
          </a:prstGeom>
          <a:noFill/>
        </p:spPr>
        <p:txBody>
          <a:bodyPr wrap="square">
            <a:spAutoFit/>
          </a:bodyPr>
          <a:lstStyle/>
          <a:p>
            <a:pPr lvl="0">
              <a:defRPr/>
            </a:pPr>
            <a:r>
              <a:rPr kumimoji="0" lang="en-US" sz="1100" b="0" i="1" u="none" strike="noStrike" kern="1200" cap="none" spc="0" normalizeH="0" baseline="0" noProof="0" dirty="0">
                <a:ln>
                  <a:noFill/>
                </a:ln>
                <a:solidFill>
                  <a:prstClr val="black"/>
                </a:solidFill>
                <a:effectLst/>
                <a:uLnTx/>
                <a:uFillTx/>
                <a:latin typeface="Calibri" panose="020F0502020204030204"/>
                <a:ea typeface="+mn-ea"/>
                <a:cs typeface="+mn-cs"/>
              </a:rPr>
              <a:t>(*) </a:t>
            </a:r>
            <a:r>
              <a:rPr lang="en-US" sz="1100" i="1" dirty="0">
                <a:solidFill>
                  <a:prstClr val="black"/>
                </a:solidFill>
                <a:latin typeface="Calibri" panose="020F0502020204030204"/>
              </a:rPr>
              <a:t>Unter der Annahme der AF22-Pipeline-Ausführung. Ungefähre Werte </a:t>
            </a:r>
            <a:endParaRPr kumimoji="0" lang="en-US" sz="110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Content Placeholder 2">
            <a:extLst>
              <a:ext uri="{FF2B5EF4-FFF2-40B4-BE49-F238E27FC236}">
                <a16:creationId xmlns:a16="http://schemas.microsoft.com/office/drawing/2014/main" id="{EF7E496C-CAB6-4016-A81A-D54963B89A2D}"/>
              </a:ext>
            </a:extLst>
          </p:cNvPr>
          <p:cNvSpPr txBox="1">
            <a:spLocks/>
          </p:cNvSpPr>
          <p:nvPr/>
        </p:nvSpPr>
        <p:spPr>
          <a:xfrm>
            <a:off x="426138" y="1496144"/>
            <a:ext cx="7460451" cy="371505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lgn="just">
              <a:defRPr/>
            </a:pPr>
            <a:r>
              <a:rPr lang="en-US" sz="1600" dirty="0">
                <a:solidFill>
                  <a:prstClr val="black"/>
                </a:solidFill>
                <a:latin typeface="Arial" panose="020B0604020202020204" pitchFamily="34" charset="0"/>
                <a:cs typeface="Arial" panose="020B0604020202020204" pitchFamily="34" charset="0"/>
              </a:rPr>
              <a:t>Der neue CPF wird ein Portfolio von 34 Projekten übernehmen (Stand 22. Februar), mit einem Gesamtvolumen von rund 4,1 Mrd. USD, von denen </a:t>
            </a:r>
            <a:r>
              <a:rPr lang="en-US" sz="1600" dirty="0">
                <a:latin typeface="Arial" panose="020B0604020202020204" pitchFamily="34" charset="0"/>
                <a:cs typeface="Arial" panose="020B0604020202020204" pitchFamily="34" charset="0"/>
              </a:rPr>
              <a:t>74 % noch nicht ausgezahlt worden waren (Stand 22. Februar).</a:t>
            </a:r>
          </a:p>
          <a:p>
            <a:pPr lvl="0" algn="just">
              <a:defRPr/>
            </a:pPr>
            <a:r>
              <a:rPr lang="en-US" sz="1600" dirty="0">
                <a:solidFill>
                  <a:prstClr val="black"/>
                </a:solidFill>
                <a:latin typeface="Arial" panose="020B0604020202020204" pitchFamily="34" charset="0"/>
                <a:cs typeface="Arial" panose="020B0604020202020204" pitchFamily="34" charset="0"/>
              </a:rPr>
              <a:t>15 Projekte (etwa 30% des aktuellen Portfolios, entsprechend US$ 1,4 Mrd.) haben ein Enddatum vor Januar 2025 (Hälfte des CPF-Zyklus).</a:t>
            </a:r>
          </a:p>
          <a:p>
            <a:pPr lvl="0" algn="just">
              <a:defRPr/>
            </a:pPr>
            <a:r>
              <a:rPr lang="en-US" sz="1600" dirty="0">
                <a:solidFill>
                  <a:prstClr val="black"/>
                </a:solidFill>
                <a:latin typeface="Arial" panose="020B0604020202020204" pitchFamily="34" charset="0"/>
                <a:cs typeface="Arial" panose="020B0604020202020204" pitchFamily="34" charset="0"/>
              </a:rPr>
              <a:t>Etwa 66 Prozent der gesamten nicht ausgezahlten Mittel entfallen auf die Sektoren Nachhaltige Entwicklung (SD) und Infrastruktur (INFRA)</a:t>
            </a:r>
          </a:p>
          <a:p>
            <a:pPr lvl="0" algn="just">
              <a:defRPr/>
            </a:pPr>
            <a:r>
              <a:rPr lang="en-US" sz="1600" dirty="0">
                <a:solidFill>
                  <a:prstClr val="black"/>
                </a:solidFill>
                <a:latin typeface="Arial" panose="020B0604020202020204" pitchFamily="34" charset="0"/>
                <a:cs typeface="Arial" panose="020B0604020202020204" pitchFamily="34" charset="0"/>
              </a:rPr>
              <a:t>Neue IDA-PBA (geschätzt): US$ 1,7 Mrd.</a:t>
            </a:r>
          </a:p>
          <a:p>
            <a:pPr lvl="0" algn="just">
              <a:defRPr/>
            </a:pPr>
            <a:r>
              <a:rPr lang="en-US" sz="1600" dirty="0">
                <a:solidFill>
                  <a:prstClr val="black"/>
                </a:solidFill>
                <a:latin typeface="Arial" panose="020B0604020202020204" pitchFamily="34" charset="0"/>
                <a:cs typeface="Arial" panose="020B0604020202020204" pitchFamily="34" charset="0"/>
              </a:rPr>
              <a:t>IDA – PRA-Fenster (potenziell): US$ 700 Mio. (IDA-20)</a:t>
            </a:r>
          </a:p>
          <a:p>
            <a:pPr lvl="0" algn="just">
              <a:defRPr/>
            </a:pPr>
            <a:r>
              <a:rPr lang="en-US" sz="1600" dirty="0">
                <a:solidFill>
                  <a:prstClr val="black"/>
                </a:solidFill>
                <a:latin typeface="Arial" panose="020B0604020202020204" pitchFamily="34" charset="0"/>
                <a:cs typeface="Arial" panose="020B0604020202020204" pitchFamily="34" charset="0"/>
              </a:rPr>
              <a:t>IFC-Investitionen: Die IFC-Strategie plant Investitionen von bis zu US$ 923 Mrd. (optimistischeres Szenario) </a:t>
            </a:r>
          </a:p>
          <a:p>
            <a:pPr marL="0" lvl="0" indent="0" algn="just">
              <a:buNone/>
              <a:defRPr/>
            </a:pPr>
            <a:endPar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p>
            <a:pPr marL="228600" marR="0" lvl="0" indent="-228600" algn="just"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6" name="Title 1">
            <a:extLst>
              <a:ext uri="{FF2B5EF4-FFF2-40B4-BE49-F238E27FC236}">
                <a16:creationId xmlns:a16="http://schemas.microsoft.com/office/drawing/2014/main" id="{FD72820B-0641-4C78-B07B-4B4F61ABAE47}"/>
              </a:ext>
            </a:extLst>
          </p:cNvPr>
          <p:cNvSpPr>
            <a:spLocks noGrp="1"/>
          </p:cNvSpPr>
          <p:nvPr>
            <p:ph type="title"/>
          </p:nvPr>
        </p:nvSpPr>
        <p:spPr>
          <a:xfrm>
            <a:off x="676274" y="195177"/>
            <a:ext cx="10515600" cy="717550"/>
          </a:xfrm>
        </p:spPr>
        <p:txBody>
          <a:bodyPr>
            <a:normAutofit fontScale="90000"/>
          </a:bodyPr>
          <a:lstStyle/>
          <a:p>
            <a:pPr algn="ctr"/>
            <a:r>
              <a:rPr lang="en-US" sz="2400" dirty="0"/>
              <a:t>Potenziell verfügbare Ressourcen </a:t>
            </a:r>
            <a:br/>
            <a:r>
              <a:rPr lang="en-US" sz="2400" dirty="0"/>
              <a:t/>
            </a:r>
            <a:br/>
            <a:r>
              <a:rPr lang="en-US" sz="2400" dirty="0"/>
              <a:t/>
            </a:r>
          </a:p>
        </p:txBody>
      </p:sp>
      <p:graphicFrame>
        <p:nvGraphicFramePr>
          <p:cNvPr id="13" name="Chart 12">
            <a:extLst>
              <a:ext uri="{FF2B5EF4-FFF2-40B4-BE49-F238E27FC236}">
                <a16:creationId xmlns:a16="http://schemas.microsoft.com/office/drawing/2014/main" id="{43D818A6-8DA6-4E48-8705-2DD87F03BCBD}"/>
              </a:ext>
            </a:extLst>
          </p:cNvPr>
          <p:cNvGraphicFramePr>
            <a:graphicFrameLocks/>
          </p:cNvGraphicFramePr>
          <p:nvPr>
            <p:extLst>
              <p:ext uri="{D42A27DB-BD31-4B8C-83A1-F6EECF244321}">
                <p14:modId xmlns:p14="http://schemas.microsoft.com/office/powerpoint/2010/main" val="2190897355"/>
              </p:ext>
            </p:extLst>
          </p:nvPr>
        </p:nvGraphicFramePr>
        <p:xfrm>
          <a:off x="7839075" y="931863"/>
          <a:ext cx="4019550" cy="3565073"/>
        </p:xfrm>
        <a:graphic>
          <a:graphicData uri="http://schemas.openxmlformats.org/drawingml/2006/chart">
            <c:chart xmlns:c="http://schemas.openxmlformats.org/drawingml/2006/chart" xmlns:r="http://schemas.openxmlformats.org/officeDocument/2006/relationships" r:id="rId3"/>
          </a:graphicData>
        </a:graphic>
      </p:graphicFrame>
      <p:sp>
        <p:nvSpPr>
          <p:cNvPr id="6" name="Footer Placeholder 5">
            <a:extLst>
              <a:ext uri="{FF2B5EF4-FFF2-40B4-BE49-F238E27FC236}">
                <a16:creationId xmlns:a16="http://schemas.microsoft.com/office/drawing/2014/main" id="{3B730F81-412E-4CD4-8242-B4D118CB1F2C}"/>
              </a:ext>
            </a:extLst>
          </p:cNvPr>
          <p:cNvSpPr>
            <a:spLocks noGrp="1"/>
          </p:cNvSpPr>
          <p:nvPr>
            <p:ph type="ftr" sz="quarter" idx="11"/>
          </p:nvPr>
        </p:nvSpPr>
        <p:spPr>
          <a:xfrm>
            <a:off x="3581401" y="5920922"/>
            <a:ext cx="4114800" cy="365125"/>
          </a:xfrm>
        </p:spPr>
        <p:txBody>
          <a:bodyPr/>
          <a:lstStyle/>
          <a:p>
            <a:r>
              <a:rPr lang="en-US"/>
              <a:t>CPF 2023-2027. Öffentliche Version. Maputo, Mai 2022.</a:t>
            </a:r>
            <a:endParaRPr lang="en-US" dirty="0"/>
          </a:p>
        </p:txBody>
      </p:sp>
      <p:sp>
        <p:nvSpPr>
          <p:cNvPr id="7" name="Slide Number Placeholder 6">
            <a:extLst>
              <a:ext uri="{FF2B5EF4-FFF2-40B4-BE49-F238E27FC236}">
                <a16:creationId xmlns:a16="http://schemas.microsoft.com/office/drawing/2014/main" id="{14466471-119E-4F6D-AB99-1533AE3B4EB8}"/>
              </a:ext>
            </a:extLst>
          </p:cNvPr>
          <p:cNvSpPr>
            <a:spLocks noGrp="1"/>
          </p:cNvSpPr>
          <p:nvPr>
            <p:ph type="sldNum" sz="quarter" idx="12"/>
          </p:nvPr>
        </p:nvSpPr>
        <p:spPr/>
        <p:txBody>
          <a:bodyPr/>
          <a:lstStyle/>
          <a:p>
            <a:fld id="{B8473C9A-9E91-4025-B5E2-D7B202510636}" type="slidenum">
              <a:rPr lang="en-US" smtClean="0"/>
              <a:t>22</a:t>
            </a:fld>
            <a:endParaRPr lang="en-US" dirty="0"/>
          </a:p>
        </p:txBody>
      </p:sp>
      <p:pic>
        <p:nvPicPr>
          <p:cNvPr id="2" name="Picture 1">
            <a:extLst>
              <a:ext uri="{FF2B5EF4-FFF2-40B4-BE49-F238E27FC236}">
                <a16:creationId xmlns:a16="http://schemas.microsoft.com/office/drawing/2014/main" id="{23BF31A8-AA25-4A78-B99A-C6890A445C11}"/>
              </a:ext>
            </a:extLst>
          </p:cNvPr>
          <p:cNvPicPr>
            <a:picLocks noChangeAspect="1"/>
          </p:cNvPicPr>
          <p:nvPr/>
        </p:nvPicPr>
        <p:blipFill>
          <a:blip r:embed="rId4"/>
          <a:stretch>
            <a:fillRect/>
          </a:stretch>
        </p:blipFill>
        <p:spPr>
          <a:xfrm>
            <a:off x="676274" y="176041"/>
            <a:ext cx="2316681" cy="463336"/>
          </a:xfrm>
          <a:prstGeom prst="rect">
            <a:avLst/>
          </a:prstGeom>
        </p:spPr>
      </p:pic>
    </p:spTree>
    <p:extLst>
      <p:ext uri="{BB962C8B-B14F-4D97-AF65-F5344CB8AC3E}">
        <p14:creationId xmlns:p14="http://schemas.microsoft.com/office/powerpoint/2010/main" val="228573786"/>
      </p:ext>
    </p:extLst>
  </p:cSld>
  <p:clrMapOvr>
    <a:overrideClrMapping bg1="lt1" tx1="dk1" bg2="lt2" tx2="dk2" accent1="accent1" accent2="accent2" accent3="accent3" accent4="accent4" accent5="accent5" accent6="accent6" hlink="hlink" folHlink="folHlink"/>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73C1A-F33C-43DA-8F19-DDC23E574DBE}"/>
              </a:ext>
            </a:extLst>
          </p:cNvPr>
          <p:cNvSpPr>
            <a:spLocks noGrp="1"/>
          </p:cNvSpPr>
          <p:nvPr>
            <p:ph type="title"/>
          </p:nvPr>
        </p:nvSpPr>
        <p:spPr/>
        <p:txBody>
          <a:bodyPr/>
          <a:lstStyle/>
          <a:p>
            <a:pPr algn="ctr"/>
            <a:r>
              <a:rPr lang="en-US" dirty="0"/>
              <a:t>HLO 1: Inklusivere Institutionen</a:t>
            </a:r>
            <a:br/>
            <a:r>
              <a:rPr lang="en-US" dirty="0"/>
              <a:t/>
            </a:r>
            <a:br/>
            <a:r>
              <a:rPr lang="en-US" dirty="0"/>
              <a:t/>
            </a:r>
            <a:endParaRPr lang="pt-BR" dirty="0"/>
          </a:p>
        </p:txBody>
      </p:sp>
      <p:sp>
        <p:nvSpPr>
          <p:cNvPr id="3" name="Content Placeholder 2">
            <a:extLst>
              <a:ext uri="{FF2B5EF4-FFF2-40B4-BE49-F238E27FC236}">
                <a16:creationId xmlns:a16="http://schemas.microsoft.com/office/drawing/2014/main" id="{0AAF4E04-EEC2-485A-878B-D07B4647ED1C}"/>
              </a:ext>
            </a:extLst>
          </p:cNvPr>
          <p:cNvSpPr>
            <a:spLocks noGrp="1"/>
          </p:cNvSpPr>
          <p:nvPr>
            <p:ph idx="1"/>
          </p:nvPr>
        </p:nvSpPr>
        <p:spPr>
          <a:xfrm>
            <a:off x="838200" y="1438032"/>
            <a:ext cx="10515600" cy="4918318"/>
          </a:xfrm>
        </p:spPr>
        <p:txBody>
          <a:bodyPr>
            <a:noAutofit/>
          </a:bodyPr>
          <a:lstStyle/>
          <a:p>
            <a:pPr marL="0" marR="0" indent="0" algn="just">
              <a:lnSpc>
                <a:spcPct val="107000"/>
              </a:lnSpc>
              <a:spcBef>
                <a:spcPts val="600"/>
              </a:spcBef>
              <a:spcAft>
                <a:spcPts val="0"/>
              </a:spcAft>
              <a:buNone/>
            </a:pPr>
            <a:r>
              <a:rPr lang="en-US" sz="1600" b="1" kern="1200" dirty="0">
                <a:solidFill>
                  <a:schemeClr val="accent1">
                    <a:lumMod val="50000"/>
                  </a:schemeClr>
                </a:solidFill>
                <a:effectLst/>
                <a:ea typeface="Times New Roman" panose="02020603050405020304" pitchFamily="18" charset="0"/>
              </a:rPr>
              <a:t>Ziel 1: Verbesserung des makroökonomischen Managements </a:t>
            </a:r>
            <a:r>
              <a:rPr lang="en-US" sz="1600" kern="1200" dirty="0">
                <a:solidFill>
                  <a:srgbClr val="000000"/>
                </a:solidFill>
                <a:effectLst/>
                <a:ea typeface="Times New Roman" panose="02020603050405020304" pitchFamily="18" charset="0"/>
              </a:rPr>
              <a:t>zur Förderung einer resilienten und nachhaltigen Beschäftigungsschaffung, zur Erhöhung der produktiven Investitionskapazität (öffentlich und privat) und zur Senkung des Staatsrisikos.</a:t>
            </a:r>
          </a:p>
          <a:p>
            <a:pPr marL="0" marR="0" indent="0" algn="just">
              <a:lnSpc>
                <a:spcPct val="107000"/>
              </a:lnSpc>
              <a:spcBef>
                <a:spcPts val="600"/>
              </a:spcBef>
              <a:spcAft>
                <a:spcPts val="0"/>
              </a:spcAft>
              <a:buNone/>
            </a:pPr>
            <a:endParaRPr lang="en-US" sz="1600" kern="1200" dirty="0">
              <a:solidFill>
                <a:srgbClr val="000000"/>
              </a:solidFill>
              <a:effectLst/>
              <a:ea typeface="Times New Roman" panose="02020603050405020304" pitchFamily="18" charset="0"/>
            </a:endParaRPr>
          </a:p>
          <a:p>
            <a:pPr marL="0" marR="0" indent="0" algn="just">
              <a:lnSpc>
                <a:spcPct val="107000"/>
              </a:lnSpc>
              <a:spcBef>
                <a:spcPts val="600"/>
              </a:spcBef>
              <a:spcAft>
                <a:spcPts val="0"/>
              </a:spcAft>
              <a:buNone/>
            </a:pPr>
            <a:r>
              <a:rPr lang="en-US" sz="1600" b="1" kern="1200" dirty="0">
                <a:solidFill>
                  <a:schemeClr val="accent1">
                    <a:lumMod val="50000"/>
                  </a:schemeClr>
                </a:solidFill>
                <a:effectLst/>
                <a:ea typeface="Times New Roman" panose="02020603050405020304" pitchFamily="18" charset="0"/>
              </a:rPr>
              <a:t>Ziel 2: Steigerung der Effizienz des öffentlichen Sektors zur Verbesserung der Qualität, Nachhaltigkeit und Gerechtigkeit öffentlicher Politik. </a:t>
            </a:r>
            <a:r>
              <a:rPr lang="en-US" sz="1600" b="1" kern="1200" dirty="0">
                <a:solidFill>
                  <a:srgbClr val="000000"/>
                </a:solidFill>
                <a:effectLst/>
                <a:ea typeface="Times New Roman" panose="02020603050405020304" pitchFamily="18" charset="0"/>
              </a:rPr>
              <a:t>Schwerpunkt auf:</a:t>
            </a:r>
          </a:p>
          <a:p>
            <a:pPr algn="just">
              <a:lnSpc>
                <a:spcPct val="107000"/>
              </a:lnSpc>
              <a:spcBef>
                <a:spcPts val="600"/>
              </a:spcBef>
            </a:pPr>
            <a:r>
              <a:rPr lang="en-US" sz="1600" kern="1200" dirty="0">
                <a:solidFill>
                  <a:srgbClr val="000000"/>
                </a:solidFill>
                <a:effectLst/>
                <a:ea typeface="Times New Roman" panose="02020603050405020304" pitchFamily="18" charset="0"/>
              </a:rPr>
              <a:t>Grundfunktionen des Staates – wie Verbesserung des Finanzmanagements (PFM) und des öffentlichen Beschaffungswesens;</a:t>
            </a:r>
          </a:p>
          <a:p>
            <a:pPr algn="just">
              <a:lnSpc>
                <a:spcPct val="107000"/>
              </a:lnSpc>
              <a:spcBef>
                <a:spcPts val="600"/>
              </a:spcBef>
            </a:pPr>
            <a:r>
              <a:rPr lang="en-US" sz="1600" kern="1200" dirty="0">
                <a:solidFill>
                  <a:srgbClr val="000000"/>
                </a:solidFill>
                <a:effectLst/>
                <a:ea typeface="Times New Roman" panose="02020603050405020304" pitchFamily="18" charset="0"/>
              </a:rPr>
              <a:t>Stärkung der Bürgerbeteiligung und externen Kontrolle;</a:t>
            </a:r>
          </a:p>
          <a:p>
            <a:pPr algn="just">
              <a:lnSpc>
                <a:spcPct val="107000"/>
              </a:lnSpc>
              <a:spcBef>
                <a:spcPts val="600"/>
              </a:spcBef>
            </a:pPr>
            <a:r>
              <a:rPr lang="en-US" sz="1600" kern="1200" dirty="0">
                <a:solidFill>
                  <a:srgbClr val="000000"/>
                </a:solidFill>
                <a:effectLst/>
                <a:ea typeface="Times New Roman" panose="02020603050405020304" pitchFamily="18" charset="0"/>
              </a:rPr>
              <a:t>Operative Dezentralisierung der Ausgaben für Gesundheit und Bildung.</a:t>
            </a:r>
          </a:p>
          <a:p>
            <a:pPr algn="just">
              <a:lnSpc>
                <a:spcPct val="107000"/>
              </a:lnSpc>
              <a:spcBef>
                <a:spcPts val="600"/>
              </a:spcBef>
            </a:pPr>
            <a:r>
              <a:rPr lang="en-US" sz="1600" kern="1200" dirty="0">
                <a:solidFill>
                  <a:srgbClr val="000000"/>
                </a:solidFill>
                <a:effectLst/>
                <a:ea typeface="Times New Roman" panose="02020603050405020304" pitchFamily="18" charset="0"/>
              </a:rPr>
              <a:t>Es wird auch Wert auf die Erhöhung der Transparenz und des Zugangs zu Informationen gelegt.</a:t>
            </a:r>
          </a:p>
          <a:p>
            <a:pPr marL="0" marR="0" indent="0" algn="just">
              <a:lnSpc>
                <a:spcPct val="107000"/>
              </a:lnSpc>
              <a:spcBef>
                <a:spcPts val="600"/>
              </a:spcBef>
              <a:spcAft>
                <a:spcPts val="0"/>
              </a:spcAft>
              <a:buNone/>
            </a:pPr>
            <a:endParaRPr lang="en-US" sz="1600" b="1" dirty="0">
              <a:solidFill>
                <a:schemeClr val="accent1">
                  <a:lumMod val="50000"/>
                </a:schemeClr>
              </a:solidFill>
              <a:ea typeface="Times New Roman" panose="02020603050405020304" pitchFamily="18" charset="0"/>
            </a:endParaRPr>
          </a:p>
          <a:p>
            <a:pPr marL="0" marR="0" indent="0" algn="just">
              <a:lnSpc>
                <a:spcPct val="107000"/>
              </a:lnSpc>
              <a:spcBef>
                <a:spcPts val="600"/>
              </a:spcBef>
              <a:spcAft>
                <a:spcPts val="0"/>
              </a:spcAft>
              <a:buNone/>
            </a:pPr>
            <a:r>
              <a:rPr lang="en-US" sz="1600" b="1" dirty="0">
                <a:solidFill>
                  <a:schemeClr val="accent1">
                    <a:lumMod val="50000"/>
                  </a:schemeClr>
                </a:solidFill>
                <a:ea typeface="Times New Roman" panose="02020603050405020304" pitchFamily="18" charset="0"/>
              </a:rPr>
              <a:t>Ziel 3</a:t>
            </a:r>
            <a:r>
              <a:rPr lang="en-US" sz="1600" b="1" kern="1200" dirty="0">
                <a:solidFill>
                  <a:schemeClr val="accent1">
                    <a:lumMod val="50000"/>
                  </a:schemeClr>
                </a:solidFill>
                <a:effectLst/>
                <a:ea typeface="Times New Roman" panose="02020603050405020304" pitchFamily="18" charset="0"/>
              </a:rPr>
              <a:t>: Stärkung der Politikkoordinierung sowie der staatlichen Vorsorge- und Reaktionskapazität bei Naturkatastrophen und anderen mehrdimensionalen Schocks. </a:t>
            </a:r>
            <a:r>
              <a:rPr lang="en-US" sz="1600" kern="1200" dirty="0">
                <a:solidFill>
                  <a:srgbClr val="000000"/>
                </a:solidFill>
                <a:effectLst/>
                <a:ea typeface="Times New Roman" panose="02020603050405020304" pitchFamily="18" charset="0"/>
              </a:rPr>
              <a:t>Das Katastrophenrisikomanagement (DRM) war im vorigen CPF ein Bereich mit vorbildlichen Ergebnissen. Eine stärkere Betonung von Prävention/Vorsorge wird vorgeschlagen, insbesondere im Hinblick auf die Risiken von Konflikten und Gewalt.</a:t>
            </a:r>
            <a:endParaRPr lang="pt-BR" sz="1600" kern="1200" dirty="0">
              <a:solidFill>
                <a:srgbClr val="000000"/>
              </a:solidFill>
              <a:effectLst/>
              <a:ea typeface="Times New Roman" panose="02020603050405020304" pitchFamily="18" charset="0"/>
            </a:endParaRPr>
          </a:p>
          <a:p>
            <a:pPr marL="0" marR="0" indent="0">
              <a:lnSpc>
                <a:spcPct val="107000"/>
              </a:lnSpc>
              <a:spcBef>
                <a:spcPts val="0"/>
              </a:spcBef>
              <a:spcAft>
                <a:spcPts val="800"/>
              </a:spcAft>
              <a:buNone/>
            </a:pPr>
            <a:endParaRPr lang="pt-BR" sz="1600" kern="1200" dirty="0">
              <a:solidFill>
                <a:srgbClr val="000000"/>
              </a:solidFill>
              <a:effectLst/>
              <a:ea typeface="Times New Roman" panose="02020603050405020304" pitchFamily="18" charset="0"/>
            </a:endParaRPr>
          </a:p>
          <a:p>
            <a:pPr marL="0" marR="0" indent="0">
              <a:lnSpc>
                <a:spcPct val="107000"/>
              </a:lnSpc>
              <a:spcBef>
                <a:spcPts val="0"/>
              </a:spcBef>
              <a:spcAft>
                <a:spcPts val="800"/>
              </a:spcAft>
              <a:buNone/>
            </a:pPr>
            <a:endParaRPr lang="pt-BR" sz="1600" dirty="0">
              <a:solidFill>
                <a:srgbClr val="000000"/>
              </a:solidFill>
              <a:ea typeface="Calibri" panose="020F0502020204030204" pitchFamily="34" charset="0"/>
            </a:endParaRPr>
          </a:p>
          <a:p>
            <a:pPr marL="0" marR="0" indent="0">
              <a:lnSpc>
                <a:spcPct val="107000"/>
              </a:lnSpc>
              <a:spcBef>
                <a:spcPts val="0"/>
              </a:spcBef>
              <a:spcAft>
                <a:spcPts val="800"/>
              </a:spcAft>
              <a:buNone/>
            </a:pPr>
            <a:endParaRPr lang="en-US" sz="1600" dirty="0">
              <a:effectLst/>
              <a:ea typeface="Calibri" panose="020F0502020204030204" pitchFamily="34" charset="0"/>
            </a:endParaRPr>
          </a:p>
          <a:p>
            <a:pPr marL="0" indent="0" algn="just">
              <a:lnSpc>
                <a:spcPct val="100000"/>
              </a:lnSpc>
              <a:buNone/>
            </a:pPr>
            <a:endParaRPr lang="en-US" sz="1600" dirty="0"/>
          </a:p>
          <a:p>
            <a:endParaRPr lang="pt-BR" sz="1600" dirty="0"/>
          </a:p>
        </p:txBody>
      </p:sp>
      <p:sp>
        <p:nvSpPr>
          <p:cNvPr id="7" name="Footer Placeholder 6">
            <a:extLst>
              <a:ext uri="{FF2B5EF4-FFF2-40B4-BE49-F238E27FC236}">
                <a16:creationId xmlns:a16="http://schemas.microsoft.com/office/drawing/2014/main" id="{57D7A019-3AE6-49C3-97A9-030D351C2B3C}"/>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E808550B-56D7-415A-8CC6-F671D44F6CB5}"/>
              </a:ext>
            </a:extLst>
          </p:cNvPr>
          <p:cNvSpPr>
            <a:spLocks noGrp="1"/>
          </p:cNvSpPr>
          <p:nvPr>
            <p:ph type="sldNum" sz="quarter" idx="12"/>
          </p:nvPr>
        </p:nvSpPr>
        <p:spPr/>
        <p:txBody>
          <a:bodyPr/>
          <a:lstStyle/>
          <a:p>
            <a:fld id="{B8473C9A-9E91-4025-B5E2-D7B202510636}" type="slidenum">
              <a:rPr lang="en-US" smtClean="0"/>
              <a:t>23</a:t>
            </a:fld>
            <a:endParaRPr lang="en-US" dirty="0"/>
          </a:p>
        </p:txBody>
      </p:sp>
      <p:pic>
        <p:nvPicPr>
          <p:cNvPr id="4" name="Picture 3">
            <a:extLst>
              <a:ext uri="{FF2B5EF4-FFF2-40B4-BE49-F238E27FC236}">
                <a16:creationId xmlns:a16="http://schemas.microsoft.com/office/drawing/2014/main" id="{F26FCB00-B725-46EA-9B65-E447CA3C6A3B}"/>
              </a:ext>
            </a:extLst>
          </p:cNvPr>
          <p:cNvPicPr>
            <a:picLocks noChangeAspect="1"/>
          </p:cNvPicPr>
          <p:nvPr/>
        </p:nvPicPr>
        <p:blipFill>
          <a:blip r:embed="rId3"/>
          <a:stretch>
            <a:fillRect/>
          </a:stretch>
        </p:blipFill>
        <p:spPr>
          <a:xfrm>
            <a:off x="838200" y="365125"/>
            <a:ext cx="2316681" cy="463336"/>
          </a:xfrm>
          <a:prstGeom prst="rect">
            <a:avLst/>
          </a:prstGeom>
        </p:spPr>
      </p:pic>
    </p:spTree>
    <p:extLst>
      <p:ext uri="{BB962C8B-B14F-4D97-AF65-F5344CB8AC3E}">
        <p14:creationId xmlns:p14="http://schemas.microsoft.com/office/powerpoint/2010/main" val="1294046964"/>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E99CA-4701-471B-B315-854A3422944A}"/>
              </a:ext>
            </a:extLst>
          </p:cNvPr>
          <p:cNvSpPr>
            <a:spLocks noGrp="1"/>
          </p:cNvSpPr>
          <p:nvPr>
            <p:ph type="title"/>
          </p:nvPr>
        </p:nvSpPr>
        <p:spPr>
          <a:xfrm>
            <a:off x="838200" y="365125"/>
            <a:ext cx="10515600" cy="1036862"/>
          </a:xfrm>
        </p:spPr>
        <p:txBody>
          <a:bodyPr/>
          <a:lstStyle/>
          <a:p>
            <a:pPr algn="ctr"/>
            <a:r>
              <a:rPr lang="en-US" dirty="0"/>
              <a:t>HLO 2: Zunahme inklusiver Beschäftigungsschaffung</a:t>
            </a:r>
            <a:br>
              <a:rPr lang="pt-BR" dirty="0"/>
            </a:br>
            <a:endParaRPr lang="pt-BR" dirty="0"/>
          </a:p>
        </p:txBody>
      </p:sp>
      <p:sp>
        <p:nvSpPr>
          <p:cNvPr id="3" name="Content Placeholder 2">
            <a:extLst>
              <a:ext uri="{FF2B5EF4-FFF2-40B4-BE49-F238E27FC236}">
                <a16:creationId xmlns:a16="http://schemas.microsoft.com/office/drawing/2014/main" id="{2D9E4DBD-86F0-4B7F-911F-E98F78863434}"/>
              </a:ext>
            </a:extLst>
          </p:cNvPr>
          <p:cNvSpPr>
            <a:spLocks noGrp="1"/>
          </p:cNvSpPr>
          <p:nvPr>
            <p:ph idx="1"/>
          </p:nvPr>
        </p:nvSpPr>
        <p:spPr>
          <a:xfrm>
            <a:off x="430306" y="1131205"/>
            <a:ext cx="11564470" cy="5097473"/>
          </a:xfrm>
        </p:spPr>
        <p:txBody>
          <a:bodyPr>
            <a:noAutofit/>
          </a:bodyPr>
          <a:lstStyle/>
          <a:p>
            <a:pPr>
              <a:lnSpc>
                <a:spcPct val="100000"/>
              </a:lnSpc>
              <a:spcBef>
                <a:spcPts val="0"/>
              </a:spcBef>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b="1" dirty="0">
                <a:solidFill>
                  <a:schemeClr val="accent1">
                    <a:lumMod val="75000"/>
                  </a:schemeClr>
                </a:solidFill>
                <a:latin typeface="+mn-lt"/>
                <a:cs typeface="Calibri" panose="020F0502020204030204" pitchFamily="34" charset="0"/>
              </a:rPr>
              <a:t>Ziel 4: Nachhaltiges Wachstum ausgewählter Sektoren natürlicher Ressourcen ermöglichen und regionale sowie globale komparative Vorteile nutzen. Drei Zwischenziele: </a:t>
            </a:r>
            <a:r>
              <a:rPr lang="en-US" sz="1600" dirty="0">
                <a:solidFill>
                  <a:schemeClr val="accent1">
                    <a:lumMod val="75000"/>
                  </a:schemeClr>
                </a:solidFill>
                <a:latin typeface="+mn-lt"/>
                <a:cs typeface="Calibri" panose="020F0502020204030204" pitchFamily="34" charset="0"/>
              </a:rPr>
              <a:t>
</a:t>
            </a:r>
            <a:r>
              <a:rPr lang="en-US" sz="1600" dirty="0">
                <a:latin typeface="+mn-lt"/>
                <a:cs typeface="Calibri" panose="020F0502020204030204" pitchFamily="34" charset="0"/>
              </a:rPr>
              <a:t>Stärkung der Nachhaltigkeit von Investitionen in den Erdgas- und Bergbausektor durch Bewältigung negativer externer Effekte des Sektors und Nutzung positiver Rückwirkungen</a:t>
            </a:r>
            <a:br/>
            <a:r>
              <a:rPr lang="en-US" sz="1600" dirty="0">
                <a:latin typeface="+mn-lt"/>
                <a:cs typeface="Calibri" panose="020F0502020204030204" pitchFamily="34" charset="0"/>
              </a:rPr>
              <a:t>Steigerung der landwirtschaftlichen Produktivität </a:t>
            </a:r>
            <a:br/>
            <a:r>
              <a:rPr lang="en-US" sz="1600" dirty="0">
                <a:latin typeface="+mn-lt"/>
                <a:cs typeface="Calibri" panose="020F0502020204030204" pitchFamily="34" charset="0"/>
              </a:rPr>
              <a:t>Stärkung des Managements natürlicher Ressourcen und Freisetzung privater Investitionen im Grünsektor, einschließlich Ökotourismus, Fischerei und Forstwirtschaft</a:t>
            </a:r>
            <a:br/>
            <a:r>
              <a:rPr lang="en-US" sz="1600" dirty="0">
                <a:latin typeface="+mn-lt"/>
                <a:cs typeface="Calibri" panose="020F0502020204030204" pitchFamily="34" charset="0"/>
              </a:rPr>
              <a:t/>
            </a:r>
            <a:br/>
            <a:r>
              <a:rPr lang="en-US" sz="1600" dirty="0">
                <a:latin typeface="+mn-lt"/>
                <a:cs typeface="Calibri" panose="020F0502020204030204" pitchFamily="34" charset="0"/>
              </a:rPr>
              <a:t/>
            </a:r>
            <a:endParaRPr lang="en-US" sz="1600" b="1" dirty="0">
              <a:solidFill>
                <a:schemeClr val="accent1">
                  <a:lumMod val="75000"/>
                </a:schemeClr>
              </a:solidFill>
              <a:latin typeface="+mn-lt"/>
              <a:cs typeface="Calibri" panose="020F0502020204030204" pitchFamily="34" charset="0"/>
            </a:endParaRPr>
          </a:p>
          <a:p>
            <a:pPr marL="0" indent="0">
              <a:lnSpc>
                <a:spcPct val="100000"/>
              </a:lnSpc>
              <a:spcBef>
                <a:spcPts val="0"/>
              </a:spcBef>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600" dirty="0">
              <a:solidFill>
                <a:srgbClr val="202124"/>
              </a:solidFill>
              <a:latin typeface="+mn-lt"/>
              <a:cs typeface="Calibri" panose="020F0502020204030204" pitchFamily="34" charset="0"/>
            </a:endParaRPr>
          </a:p>
          <a:p>
            <a:pPr marL="0" indent="0">
              <a:lnSpc>
                <a:spcPct val="100000"/>
              </a:lnSpc>
              <a:spcBef>
                <a:spcPts val="0"/>
              </a:spcBef>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b="1" dirty="0">
                <a:solidFill>
                  <a:schemeClr val="accent1">
                    <a:lumMod val="75000"/>
                  </a:schemeClr>
                </a:solidFill>
                <a:latin typeface="+mn-lt"/>
                <a:cs typeface="Calibri" panose="020F0502020204030204" pitchFamily="34" charset="0"/>
              </a:rPr>
              <a:t>Ziel 5: Förderung des Produktivitätswachstums in ausgewählten arbeitsintensiven Branchen. </a:t>
            </a:r>
            <a:r>
              <a:rPr lang="en-US" sz="1600" dirty="0">
                <a:latin typeface="+mn-lt"/>
                <a:cs typeface="Calibri" panose="020F0502020204030204" pitchFamily="34" charset="0"/>
              </a:rPr>
              <a:t>Wie? Dienstleistungen, KMU, grüne und blaue Wirtschaft; sektoraler und territorialer Fokus; Maximierung der Rückwirkungen großer Projekte, auch entlang von Transportkorridoren, sowie Informalität (Politikexperimentierung und Wirkungsmessung).</a:t>
            </a:r>
          </a:p>
          <a:p>
            <a:pPr marL="0" indent="0">
              <a:lnSpc>
                <a:spcPct val="100000"/>
              </a:lnSpc>
              <a:spcBef>
                <a:spcPts val="0"/>
              </a:spcBef>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b="1" dirty="0">
                <a:solidFill>
                  <a:schemeClr val="accent1">
                    <a:lumMod val="75000"/>
                  </a:schemeClr>
                </a:solidFill>
                <a:latin typeface="+mn-lt"/>
                <a:cs typeface="Calibri" panose="020F0502020204030204" pitchFamily="34" charset="0"/>
              </a:rPr>
              <a:t/>
            </a:r>
            <a:br/>
            <a:r>
              <a:rPr lang="en-US" sz="1600" b="1" dirty="0">
                <a:solidFill>
                  <a:schemeClr val="accent1">
                    <a:lumMod val="75000"/>
                  </a:schemeClr>
                </a:solidFill>
                <a:latin typeface="+mn-lt"/>
                <a:cs typeface="Calibri" panose="020F0502020204030204" pitchFamily="34" charset="0"/>
              </a:rPr>
              <a:t>Während das bestehende Portfolio weiterhin Infrastrukturinvestitionen in ländlichen Gebieten finanziert, werden neue Maßnahmen auf Infrastrukturinvestitionen setzen, die Wachstum unterstützen können, unter anderem in den Bereichen Digitalwirtschaft und Straßen. </a:t>
            </a:r>
            <a:br/>
            <a:r>
              <a:rPr lang="en-US" sz="1600" b="1" dirty="0">
                <a:solidFill>
                  <a:schemeClr val="accent1">
                    <a:lumMod val="75000"/>
                  </a:schemeClr>
                </a:solidFill>
                <a:latin typeface="+mn-lt"/>
                <a:cs typeface="Calibri" panose="020F0502020204030204" pitchFamily="34" charset="0"/>
              </a:rPr>
              <a:t/>
            </a:r>
            <a:br/>
            <a:r>
              <a:rPr lang="en-US" sz="1600" b="1" dirty="0">
                <a:solidFill>
                  <a:schemeClr val="accent1">
                    <a:lumMod val="75000"/>
                  </a:schemeClr>
                </a:solidFill>
                <a:latin typeface="+mn-lt"/>
                <a:cs typeface="Calibri" panose="020F0502020204030204" pitchFamily="34" charset="0"/>
              </a:rPr>
              <a:t/>
            </a:r>
            <a:br/>
            <a:r>
              <a:rPr lang="en-US" sz="1600" b="1" dirty="0">
                <a:solidFill>
                  <a:schemeClr val="accent1">
                    <a:lumMod val="75000"/>
                  </a:schemeClr>
                </a:solidFill>
                <a:latin typeface="+mn-lt"/>
                <a:cs typeface="Calibri" panose="020F0502020204030204" pitchFamily="34" charset="0"/>
              </a:rPr>
              <a:t/>
            </a:r>
            <a:br/>
            <a:r>
              <a:rPr lang="en-US" sz="1600" b="1" dirty="0">
                <a:solidFill>
                  <a:schemeClr val="accent1">
                    <a:lumMod val="75000"/>
                  </a:schemeClr>
                </a:solidFill>
                <a:latin typeface="+mn-lt"/>
                <a:cs typeface="Calibri" panose="020F0502020204030204" pitchFamily="34" charset="0"/>
              </a:rPr>
              <a:t/>
            </a:r>
            <a:br/>
            <a:r>
              <a:rPr lang="en-US" sz="1600" b="1" dirty="0">
                <a:solidFill>
                  <a:schemeClr val="accent1">
                    <a:lumMod val="75000"/>
                  </a:schemeClr>
                </a:solidFill>
                <a:latin typeface="+mn-lt"/>
                <a:cs typeface="Calibri" panose="020F0502020204030204" pitchFamily="34" charset="0"/>
              </a:rPr>
              <a:t/>
            </a:r>
            <a:r>
              <a:rPr lang="en-US" sz="1600" dirty="0">
                <a:solidFill>
                  <a:srgbClr val="202124"/>
                </a:solidFill>
                <a:latin typeface="+mn-lt"/>
                <a:cs typeface="Calibri" panose="020F0502020204030204" pitchFamily="34" charset="0"/>
              </a:rPr>
              <a:t>While the existing portfolio continues to finance infrastructure investments in rural areas, new activities will emphasize infrastructure investments that can support growth, including in the areas of the digital economy and roads. 
</a:t>
            </a:r>
          </a:p>
          <a:p>
            <a:pPr>
              <a:lnSpc>
                <a:spcPct val="100000"/>
              </a:lnSpc>
              <a:spcBef>
                <a:spcPts val="0"/>
              </a:spcBef>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dirty="0">
                <a:solidFill>
                  <a:srgbClr val="202124"/>
                </a:solidFill>
                <a:latin typeface="+mn-lt"/>
                <a:cs typeface="Calibri" panose="020F0502020204030204" pitchFamily="34" charset="0"/>
              </a:rPr>
              <a:t>Der nächste CPF wird der Fähigkeit der Regierung Vorrang einräumen, den Urbanisierungsprozess so zu steuern, dass gleichzeitig Land-Stadt-Migration ermöglicht wird. Trotz einiger positiver Ergebnisse im vorigen </a:t>
            </a:r>
            <a:r>
              <a:rPr lang="en-US" sz="1600" dirty="0" err="1">
                <a:solidFill>
                  <a:srgbClr val="202124"/>
                </a:solidFill>
                <a:latin typeface="+mn-lt"/>
                <a:cs typeface="Calibri" panose="020F0502020204030204" pitchFamily="34" charset="0"/>
              </a:rPr>
              <a:t>CPF</a:t>
            </a:r>
            <a:r>
              <a:rPr lang="en-US" sz="1600" dirty="0">
                <a:solidFill>
                  <a:srgbClr val="202124"/>
                </a:solidFill>
                <a:latin typeface="+mn-lt"/>
                <a:cs typeface="Calibri" panose="020F0502020204030204" pitchFamily="34" charset="0"/>
              </a:rPr>
              <a:t>-Zyklus hat die SCD bewertet, dass der Prozess der Urbanisierungssteuerung stagniert. </a:t>
            </a:r>
            <a:endParaRPr lang="pt-BR" sz="1600" dirty="0">
              <a:solidFill>
                <a:srgbClr val="202124"/>
              </a:solidFill>
              <a:latin typeface="+mn-lt"/>
              <a:cs typeface="Calibri" panose="020F0502020204030204" pitchFamily="34" charset="0"/>
            </a:endParaRPr>
          </a:p>
        </p:txBody>
      </p:sp>
      <p:sp>
        <p:nvSpPr>
          <p:cNvPr id="7" name="Footer Placeholder 6">
            <a:extLst>
              <a:ext uri="{FF2B5EF4-FFF2-40B4-BE49-F238E27FC236}">
                <a16:creationId xmlns:a16="http://schemas.microsoft.com/office/drawing/2014/main" id="{41635F35-5505-4957-B463-781A6222E420}"/>
              </a:ext>
            </a:extLst>
          </p:cNvPr>
          <p:cNvSpPr>
            <a:spLocks noGrp="1"/>
          </p:cNvSpPr>
          <p:nvPr>
            <p:ph type="ftr" sz="quarter" idx="11"/>
          </p:nvPr>
        </p:nvSpPr>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3F38001A-DA6B-488C-A464-0037CCFAE83C}"/>
              </a:ext>
            </a:extLst>
          </p:cNvPr>
          <p:cNvSpPr>
            <a:spLocks noGrp="1"/>
          </p:cNvSpPr>
          <p:nvPr>
            <p:ph type="sldNum" sz="quarter" idx="12"/>
          </p:nvPr>
        </p:nvSpPr>
        <p:spPr/>
        <p:txBody>
          <a:bodyPr/>
          <a:lstStyle/>
          <a:p>
            <a:fld id="{B8473C9A-9E91-4025-B5E2-D7B202510636}" type="slidenum">
              <a:rPr lang="en-US" smtClean="0"/>
              <a:t>24</a:t>
            </a:fld>
            <a:endParaRPr lang="en-US" dirty="0"/>
          </a:p>
        </p:txBody>
      </p:sp>
      <p:pic>
        <p:nvPicPr>
          <p:cNvPr id="4" name="Picture 3">
            <a:extLst>
              <a:ext uri="{FF2B5EF4-FFF2-40B4-BE49-F238E27FC236}">
                <a16:creationId xmlns:a16="http://schemas.microsoft.com/office/drawing/2014/main" id="{2011BC4A-1F14-4C1E-8CCE-B1DBAAC5B4BB}"/>
              </a:ext>
            </a:extLst>
          </p:cNvPr>
          <p:cNvPicPr>
            <a:picLocks noChangeAspect="1"/>
          </p:cNvPicPr>
          <p:nvPr/>
        </p:nvPicPr>
        <p:blipFill>
          <a:blip r:embed="rId3"/>
          <a:stretch>
            <a:fillRect/>
          </a:stretch>
        </p:blipFill>
        <p:spPr>
          <a:xfrm>
            <a:off x="430306" y="165986"/>
            <a:ext cx="2316681" cy="463336"/>
          </a:xfrm>
          <a:prstGeom prst="rect">
            <a:avLst/>
          </a:prstGeom>
        </p:spPr>
      </p:pic>
    </p:spTree>
    <p:extLst>
      <p:ext uri="{BB962C8B-B14F-4D97-AF65-F5344CB8AC3E}">
        <p14:creationId xmlns:p14="http://schemas.microsoft.com/office/powerpoint/2010/main" val="336790590"/>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A10FE-8054-40F6-8E7D-D8D483647B55}"/>
              </a:ext>
            </a:extLst>
          </p:cNvPr>
          <p:cNvSpPr>
            <a:spLocks noGrp="1"/>
          </p:cNvSpPr>
          <p:nvPr>
            <p:ph type="title"/>
          </p:nvPr>
        </p:nvSpPr>
        <p:spPr/>
        <p:txBody>
          <a:bodyPr/>
          <a:lstStyle/>
          <a:p>
            <a:pPr algn="ctr"/>
            <a:r>
              <a:rPr lang="en-US" dirty="0"/>
              <a:t>HLO 3: Verbesserung des Humankapitals und Stärkung der Stellung der Frau </a:t>
            </a:r>
            <a:br>
              <a:rPr lang="pt-BR" dirty="0"/>
            </a:br>
            <a:endParaRPr lang="pt-BR" dirty="0"/>
          </a:p>
        </p:txBody>
      </p:sp>
      <p:sp>
        <p:nvSpPr>
          <p:cNvPr id="3" name="Content Placeholder 2">
            <a:extLst>
              <a:ext uri="{FF2B5EF4-FFF2-40B4-BE49-F238E27FC236}">
                <a16:creationId xmlns:a16="http://schemas.microsoft.com/office/drawing/2014/main" id="{00A5A4FC-2740-42EE-8E12-6101A40FDE38}"/>
              </a:ext>
            </a:extLst>
          </p:cNvPr>
          <p:cNvSpPr>
            <a:spLocks noGrp="1"/>
          </p:cNvSpPr>
          <p:nvPr>
            <p:ph idx="1"/>
          </p:nvPr>
        </p:nvSpPr>
        <p:spPr>
          <a:xfrm>
            <a:off x="838200" y="1301675"/>
            <a:ext cx="10515600" cy="4875288"/>
          </a:xfrm>
        </p:spPr>
        <p:txBody>
          <a:bodyPr>
            <a:normAutofit lnSpcReduction="10000"/>
          </a:bodyPr>
          <a:lstStyle/>
          <a:p>
            <a:pPr algn="just"/>
            <a:r>
              <a:rPr lang="en-US" sz="1600" b="1" dirty="0">
                <a:solidFill>
                  <a:schemeClr val="accent1">
                    <a:lumMod val="75000"/>
                  </a:schemeClr>
                </a:solidFill>
                <a:latin typeface="+mn-lt"/>
                <a:cs typeface="Calibri" panose="020F0502020204030204" pitchFamily="34" charset="0"/>
              </a:rPr>
              <a:t>Ziel 7: Verbesserung der wichtigsten Ergebnisse in Bildung und Gesundheit. </a:t>
            </a:r>
            <a:r>
              <a:rPr lang="en-US" sz="1600" dirty="0">
                <a:latin typeface="+mn-lt"/>
                <a:cs typeface="Calibri" panose="020F0502020204030204" pitchFamily="34" charset="0"/>
              </a:rPr>
              <a:t>Förderung fiskalisch nachhaltiger Investitionen in Humankapital, mit Schwerpunkt auf der Verbesserung des Kosten-Nutzen-Verhältnisses öffentlicher Ausgaben zur Verbesserung der wichtigsten Gesundheits- und Bildungsergebnisse. Ein begrenzter Dezentralisierungsprozess beeinträchtigt die Wirksamkeit der Bereitstellung von Gesundheits- und Bildungsdienstleistungen.</a:t>
            </a:r>
          </a:p>
          <a:p>
            <a:pPr algn="just"/>
            <a:r>
              <a:rPr lang="en-US" sz="1600" b="1" dirty="0">
                <a:solidFill>
                  <a:schemeClr val="accent1">
                    <a:lumMod val="75000"/>
                  </a:schemeClr>
                </a:solidFill>
                <a:latin typeface="+mn-lt"/>
                <a:cs typeface="Calibri" panose="020F0502020204030204" pitchFamily="34" charset="0"/>
              </a:rPr>
              <a:t>Ziel 8: Steigerung der Ausgabeneffizienz und effektiven Abdeckung integrierter Sozialdienste. </a:t>
            </a:r>
            <a:br/>
            <a:r>
              <a:rPr lang="en-US" sz="1600" b="1" dirty="0">
                <a:solidFill>
                  <a:schemeClr val="accent1">
                    <a:lumMod val="75000"/>
                  </a:schemeClr>
                </a:solidFill>
                <a:latin typeface="+mn-lt"/>
                <a:cs typeface="Calibri" panose="020F0502020204030204" pitchFamily="34" charset="0"/>
              </a:rPr>
              <a:t>Die nächste Sozialschutzkommission wird den Fokus der Sozialen Sicherungsprogramme stärken, um das Kosten-Nutzen-Verhältnis zu verbessern, einschließlich der Förderung der Konsolidierung der Sozialpolitik, der Sicherstellung von Grundversorgungsmechanismen sowie von Beschäftigungsverbindungen und Arbeitskräftebeteiligung und der Unterstützung einer nationalen schocksensitiven Sozialschutzstrategie. </a:t>
            </a:r>
            <a:br/>
            <a:r>
              <a:rPr lang="en-US" sz="1600" b="1" dirty="0">
                <a:solidFill>
                  <a:schemeClr val="accent1">
                    <a:lumMod val="75000"/>
                  </a:schemeClr>
                </a:solidFill>
                <a:latin typeface="+mn-lt"/>
                <a:cs typeface="Calibri" panose="020F0502020204030204" pitchFamily="34" charset="0"/>
              </a:rPr>
              <a:t/>
            </a:r>
            <a:br/>
            <a:r>
              <a:rPr lang="en-US" sz="1600" b="1" dirty="0">
                <a:solidFill>
                  <a:schemeClr val="accent1">
                    <a:lumMod val="75000"/>
                  </a:schemeClr>
                </a:solidFill>
                <a:latin typeface="+mn-lt"/>
                <a:cs typeface="Calibri" panose="020F0502020204030204" pitchFamily="34" charset="0"/>
              </a:rPr>
              <a:t>Mosambik hat die vierthöchste Geburtenrate bei Jugendlichen und die zehnthohe Rate von Kinderehen weltweit, und diese Raten steigen statt zu sinken, was zu geringen Qualifikationen und geringer Produktivität von Frauen auf dem </a:t>
            </a:r>
            <a:br/>
            <a:r>
              <a:rPr lang="en-US" sz="1600" b="1" dirty="0">
                <a:solidFill>
                  <a:schemeClr val="accent1">
                    <a:lumMod val="75000"/>
                  </a:schemeClr>
                </a:solidFill>
                <a:latin typeface="+mn-lt"/>
                <a:cs typeface="Calibri" panose="020F0502020204030204" pitchFamily="34" charset="0"/>
              </a:rPr>
              <a:t>Arbeits</a:t>
            </a:r>
            <a:br/>
            <a:r>
              <a:rPr lang="en-US" sz="1600" b="1" dirty="0">
                <a:solidFill>
                  <a:schemeClr val="accent1">
                    <a:lumMod val="75000"/>
                  </a:schemeClr>
                </a:solidFill>
                <a:latin typeface="+mn-lt"/>
                <a:cs typeface="Calibri" panose="020F0502020204030204" pitchFamily="34" charset="0"/>
              </a:rPr>
              <a:t>markt beiträgt.</a:t>
            </a:r>
            <a:br/>
            <a:r>
              <a:rPr lang="en-US" sz="1600" b="1" dirty="0">
                <a:solidFill>
                  <a:schemeClr val="accent1">
                    <a:lumMod val="75000"/>
                  </a:schemeClr>
                </a:solidFill>
                <a:latin typeface="+mn-lt"/>
                <a:cs typeface="Calibri" panose="020F0502020204030204" pitchFamily="34" charset="0"/>
              </a:rPr>
              <a:t/>
            </a:r>
            <a:br/>
            <a:r>
              <a:rPr lang="en-US" sz="1600" b="1" dirty="0">
                <a:solidFill>
                  <a:schemeClr val="accent1">
                    <a:lumMod val="75000"/>
                  </a:schemeClr>
                </a:solidFill>
                <a:latin typeface="+mn-lt"/>
                <a:cs typeface="Calibri" panose="020F0502020204030204" pitchFamily="34" charset="0"/>
              </a:rPr>
              <a:t>Der CPF wird sich auf Fragen der Kinderehe, Teenagerschwangerschaft und die Deckung des ungedeckten Bedarfs an Familienplanung, den Gymnasialbesuch von Mädchen und den Übergang in den Arbeitsmarkt konzentrieren – unter anderem. </a:t>
            </a:r>
            <a:br/>
            <a:r>
              <a:rPr lang="en-US" sz="1600" b="1" dirty="0">
                <a:solidFill>
                  <a:schemeClr val="accent1">
                    <a:lumMod val="75000"/>
                  </a:schemeClr>
                </a:solidFill>
                <a:latin typeface="+mn-lt"/>
                <a:cs typeface="Calibri" panose="020F0502020204030204" pitchFamily="34" charset="0"/>
              </a:rPr>
              <a:t/>
            </a:r>
            <a:r>
              <a:rPr lang="en-US" sz="1600" dirty="0">
                <a:latin typeface="+mn-lt"/>
                <a:cs typeface="Calibri" panose="020F0502020204030204" pitchFamily="34" charset="0"/>
              </a:rPr>
              <a:t>The next Social Security Commission will increase the focus of Social Protection programs to improve cost-benefit ratio, including encouraging the consolidation of social policies, ensuring undergraduate mechanisms and employment ties and participation in the workforce, and supporting a national shock-sensitive social protection strategy. 
The main objective is to create a fiscally sustainable structure for the integration of social policies for the accumulation of human capital and reduction of extreme poverty, while empowering women and ensuring resilience to shocks</a:t>
            </a:r>
            <a:r>
              <a:rPr lang="en-US" sz="1600" b="1" dirty="0">
                <a:solidFill>
                  <a:schemeClr val="accent1">
                    <a:lumMod val="75000"/>
                  </a:schemeClr>
                </a:solidFill>
                <a:latin typeface="+mn-lt"/>
                <a:cs typeface="Calibri" panose="020F0502020204030204" pitchFamily="34" charset="0"/>
              </a:rPr>
              <a:t>
Objective 9: To improve access to services to prevent teenage pregnancy and promote women's economic participation.
</a:t>
            </a:r>
            <a:r>
              <a:rPr lang="en-US" sz="1600" dirty="0">
                <a:latin typeface="+mn-lt"/>
                <a:cs typeface="Calibri" panose="020F0502020204030204" pitchFamily="34" charset="0"/>
              </a:rPr>
              <a:t>Mozambique has the fourth highest fertility rate in adolescence and the tenth highest rate of child marriage in the world and these rates are increasing and not decreasing, contributing to women's low skills and low productivity in the </a:t>
            </a:r>
            <a:r>
              <a:rPr lang="en-US" sz="1600" dirty="0" err="1">
                <a:latin typeface="+mn-lt"/>
                <a:cs typeface="Calibri" panose="020F0502020204030204" pitchFamily="34" charset="0"/>
              </a:rPr>
              <a:t>labour</a:t>
            </a:r>
            <a:r>
              <a:rPr lang="en-US" sz="1600" dirty="0">
                <a:latin typeface="+mn-lt"/>
                <a:cs typeface="Calibri" panose="020F0502020204030204" pitchFamily="34" charset="0"/>
              </a:rPr>
              <a:t> market.</a:t>
            </a:r>
            <a:r>
              <a:rPr lang="en-US" sz="1600" b="1" dirty="0">
                <a:solidFill>
                  <a:schemeClr val="accent1">
                    <a:lumMod val="75000"/>
                  </a:schemeClr>
                </a:solidFill>
                <a:latin typeface="+mn-lt"/>
                <a:cs typeface="Calibri" panose="020F0502020204030204" pitchFamily="34" charset="0"/>
              </a:rPr>
              <a:t>
</a:t>
            </a:r>
            <a:r>
              <a:rPr lang="en-US" sz="1600" dirty="0">
                <a:latin typeface="+mn-lt"/>
                <a:cs typeface="Calibri" panose="020F0502020204030204" pitchFamily="34" charset="0"/>
              </a:rPr>
              <a:t>The CPF will focus on issues of child marriage, teenage pregnancy and meeting unmet needs of family planning, girls' high school and the transition from the labor market – among others. </a:t>
            </a:r>
            <a:endParaRPr lang="pt-BR" sz="1600" dirty="0">
              <a:latin typeface="+mn-lt"/>
            </a:endParaRPr>
          </a:p>
        </p:txBody>
      </p:sp>
      <p:sp>
        <p:nvSpPr>
          <p:cNvPr id="7" name="Footer Placeholder 6">
            <a:extLst>
              <a:ext uri="{FF2B5EF4-FFF2-40B4-BE49-F238E27FC236}">
                <a16:creationId xmlns:a16="http://schemas.microsoft.com/office/drawing/2014/main" id="{126C6B1E-1C18-488F-AC4A-85F26E37D61F}"/>
              </a:ext>
            </a:extLst>
          </p:cNvPr>
          <p:cNvSpPr>
            <a:spLocks noGrp="1"/>
          </p:cNvSpPr>
          <p:nvPr>
            <p:ph type="ftr" sz="quarter" idx="11"/>
          </p:nvPr>
        </p:nvSpPr>
        <p:spPr>
          <a:xfrm>
            <a:off x="3794760" y="5972901"/>
            <a:ext cx="4114800" cy="365125"/>
          </a:xfrm>
        </p:spPr>
        <p:txBody>
          <a:bodyPr/>
          <a:lstStyle/>
          <a:p>
            <a:r>
              <a:rPr lang="en-US"/>
              <a:t>CPF 2023-2027. Öffentliche Version. Maputo, Mai 2022.</a:t>
            </a:r>
            <a:endParaRPr lang="en-US" dirty="0"/>
          </a:p>
        </p:txBody>
      </p:sp>
      <p:sp>
        <p:nvSpPr>
          <p:cNvPr id="8" name="Slide Number Placeholder 7">
            <a:extLst>
              <a:ext uri="{FF2B5EF4-FFF2-40B4-BE49-F238E27FC236}">
                <a16:creationId xmlns:a16="http://schemas.microsoft.com/office/drawing/2014/main" id="{84467695-3A8C-4A22-AEDD-992486ED255C}"/>
              </a:ext>
            </a:extLst>
          </p:cNvPr>
          <p:cNvSpPr>
            <a:spLocks noGrp="1"/>
          </p:cNvSpPr>
          <p:nvPr>
            <p:ph type="sldNum" sz="quarter" idx="12"/>
          </p:nvPr>
        </p:nvSpPr>
        <p:spPr/>
        <p:txBody>
          <a:bodyPr/>
          <a:lstStyle/>
          <a:p>
            <a:fld id="{B8473C9A-9E91-4025-B5E2-D7B202510636}" type="slidenum">
              <a:rPr lang="en-US" smtClean="0"/>
              <a:t>25</a:t>
            </a:fld>
            <a:endParaRPr lang="en-US" dirty="0"/>
          </a:p>
        </p:txBody>
      </p:sp>
      <p:pic>
        <p:nvPicPr>
          <p:cNvPr id="4" name="Picture 3">
            <a:extLst>
              <a:ext uri="{FF2B5EF4-FFF2-40B4-BE49-F238E27FC236}">
                <a16:creationId xmlns:a16="http://schemas.microsoft.com/office/drawing/2014/main" id="{158F71C0-494B-4195-962A-80957CD687E2}"/>
              </a:ext>
            </a:extLst>
          </p:cNvPr>
          <p:cNvPicPr>
            <a:picLocks noChangeAspect="1"/>
          </p:cNvPicPr>
          <p:nvPr/>
        </p:nvPicPr>
        <p:blipFill>
          <a:blip r:embed="rId3"/>
          <a:stretch>
            <a:fillRect/>
          </a:stretch>
        </p:blipFill>
        <p:spPr>
          <a:xfrm>
            <a:off x="572488" y="217701"/>
            <a:ext cx="2316681" cy="463336"/>
          </a:xfrm>
          <a:prstGeom prst="rect">
            <a:avLst/>
          </a:prstGeom>
        </p:spPr>
      </p:pic>
    </p:spTree>
    <p:extLst>
      <p:ext uri="{BB962C8B-B14F-4D97-AF65-F5344CB8AC3E}">
        <p14:creationId xmlns:p14="http://schemas.microsoft.com/office/powerpoint/2010/main" val="502533941"/>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33A49-979B-4F05-870B-CD45EDB79FB7}"/>
              </a:ext>
            </a:extLst>
          </p:cNvPr>
          <p:cNvSpPr>
            <a:spLocks noGrp="1"/>
          </p:cNvSpPr>
          <p:nvPr>
            <p:ph type="title"/>
          </p:nvPr>
        </p:nvSpPr>
        <p:spPr/>
        <p:txBody>
          <a:bodyPr>
            <a:noAutofit/>
          </a:bodyPr>
          <a:lstStyle/>
          <a:p>
            <a:r>
              <a:rPr lang="en-US" sz="3200" b="1" dirty="0">
                <a:solidFill>
                  <a:srgbClr val="203864"/>
                </a:solidFill>
                <a:latin typeface="Arial"/>
              </a:rPr>
              <a:t>Vielen Dank!</a:t>
            </a:r>
            <a:br>
              <a:rPr lang="pt" sz="3200" b="1" i="0" u="none" strike="noStrike" dirty="0">
                <a:solidFill>
                  <a:srgbClr val="203864"/>
                </a:solidFill>
                <a:highlight>
                  <a:srgbClr val="000000">
                    <a:alpha val="0"/>
                  </a:srgbClr>
                </a:highlight>
                <a:latin typeface="Arial"/>
              </a:rPr>
            </a:br>
            <a:endParaRPr lang="en-US" sz="3600" b="1" dirty="0">
              <a:solidFill>
                <a:schemeClr val="accent1">
                  <a:lumMod val="50000"/>
                </a:schemeClr>
              </a:solidFill>
              <a:latin typeface="Arial" panose="020B0604020202020204" pitchFamily="34" charset="0"/>
              <a:cs typeface="Arial" panose="020B0604020202020204" pitchFamily="34" charset="0"/>
            </a:endParaRPr>
          </a:p>
        </p:txBody>
      </p:sp>
      <p:sp>
        <p:nvSpPr>
          <p:cNvPr id="3" name="Footer Placeholder 2">
            <a:extLst>
              <a:ext uri="{FF2B5EF4-FFF2-40B4-BE49-F238E27FC236}">
                <a16:creationId xmlns:a16="http://schemas.microsoft.com/office/drawing/2014/main" id="{F3371D7B-4997-4238-A35F-5554E8330F27}"/>
              </a:ext>
            </a:extLst>
          </p:cNvPr>
          <p:cNvSpPr>
            <a:spLocks noGrp="1"/>
          </p:cNvSpPr>
          <p:nvPr>
            <p:ph type="ftr" sz="quarter" idx="11"/>
          </p:nvPr>
        </p:nvSpPr>
        <p:spPr/>
        <p:txBody>
          <a:bodyPr/>
          <a:lstStyle/>
          <a:p>
            <a:r>
              <a:rPr lang="en-US"/>
              <a:t>CPF 2023-2027. Öffentliche Version. Maputo, Mai 2022.</a:t>
            </a:r>
            <a:endParaRPr lang="en-US" dirty="0"/>
          </a:p>
        </p:txBody>
      </p:sp>
      <p:sp>
        <p:nvSpPr>
          <p:cNvPr id="4" name="Slide Number Placeholder 3">
            <a:extLst>
              <a:ext uri="{FF2B5EF4-FFF2-40B4-BE49-F238E27FC236}">
                <a16:creationId xmlns:a16="http://schemas.microsoft.com/office/drawing/2014/main" id="{FDB7C57F-15A8-4EA1-92A6-4596F96579F2}"/>
              </a:ext>
            </a:extLst>
          </p:cNvPr>
          <p:cNvSpPr>
            <a:spLocks noGrp="1"/>
          </p:cNvSpPr>
          <p:nvPr>
            <p:ph type="sldNum" sz="quarter" idx="12"/>
          </p:nvPr>
        </p:nvSpPr>
        <p:spPr/>
        <p:txBody>
          <a:bodyPr/>
          <a:lstStyle/>
          <a:p>
            <a:fld id="{B8473C9A-9E91-4025-B5E2-D7B202510636}" type="slidenum">
              <a:rPr lang="en-US" smtClean="0"/>
              <a:t>26</a:t>
            </a:fld>
            <a:endParaRPr lang="en-US" dirty="0"/>
          </a:p>
        </p:txBody>
      </p:sp>
    </p:spTree>
    <p:extLst>
      <p:ext uri="{BB962C8B-B14F-4D97-AF65-F5344CB8AC3E}">
        <p14:creationId xmlns:p14="http://schemas.microsoft.com/office/powerpoint/2010/main" val="376825688"/>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3.1.12"/>
  <p:tag name="AS_OS" val="Unix 4.14.225.169"/>
  <p:tag name="AS_RELEASE_DATE" val="2020.03.14"/>
  <p:tag name="AS_TITLE" val="Aspose.Slides for .NET Standard 2.0"/>
  <p:tag name="AS_VERSION" val="20.3"/>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PF">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rial"/>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rial"/>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rial"/>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rial"/>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otalTime>9414</TotalTime>
  <Words>5422</Words>
  <Application>Microsoft Office PowerPoint</Application>
  <PresentationFormat>Widescreen</PresentationFormat>
  <Paragraphs>342</Paragraphs>
  <Slides>26</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Arial</vt:lpstr>
      <vt:lpstr>Calibri</vt:lpstr>
      <vt:lpstr>Calibri Light</vt:lpstr>
      <vt:lpstr>Times New Roman</vt:lpstr>
      <vt:lpstr>YouTube Sans</vt:lpstr>
      <vt:lpstr>Office Theme</vt:lpstr>
      <vt:lpstr>World Bank Group (WBG)   Mozambique: Country Partnership Framework (CPF) 2023-2027   Concept Note Summary   Public Version    Maputo, May 2022  </vt:lpstr>
      <vt:lpstr>Introduction: What is the CPF, why the consultations and what are the expectations</vt:lpstr>
      <vt:lpstr>Presentation structure
</vt:lpstr>
      <vt:lpstr>Presentation structure
</vt:lpstr>
      <vt:lpstr> Country Context: Development Challanges and Opportunities</vt:lpstr>
      <vt:lpstr>Country Context: Development Challanges and Opportunities</vt:lpstr>
      <vt:lpstr>Country Context: Development Challenges and Opportunities</vt:lpstr>
      <vt:lpstr>World Bank Systematic Country Diagnostic (SCD) and Recommendations- Summary</vt:lpstr>
      <vt:lpstr>Presentation structure
</vt:lpstr>
      <vt:lpstr>CPF AF2017-2021: Main Features</vt:lpstr>
      <vt:lpstr>  CPF AF2017-2021: Main Features</vt:lpstr>
      <vt:lpstr>CPF AF2017-2021: Results 
</vt:lpstr>
      <vt:lpstr>CPF FY2017-2021: Lessons Learned
</vt:lpstr>
      <vt:lpstr>Presentation structure
</vt:lpstr>
      <vt:lpstr>Government Program and Medium-Term Strategy (1-2)</vt:lpstr>
      <vt:lpstr>PowerPoint Presentation</vt:lpstr>
      <vt:lpstr>PowerPoint Presentation</vt:lpstr>
      <vt:lpstr>PowerPoint Presentation</vt:lpstr>
      <vt:lpstr>PowerPoint Presentation</vt:lpstr>
      <vt:lpstr>   Implementation of CPF 2023-2027: Prioritization
</vt:lpstr>
      <vt:lpstr>CPF Implementation 2023-2027: Prioritization
</vt:lpstr>
      <vt:lpstr>Potentially available resources 
</vt:lpstr>
      <vt:lpstr>HLO 1: More inclusive institutions
</vt:lpstr>
      <vt:lpstr>HLO 2: Increasing inclusive job creation </vt:lpstr>
      <vt:lpstr>HLO 3: Improving Human Capital and Women's Empowerment  </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Paulo Guilherme Correa</dc:creator>
  <cp:lastModifiedBy>Paulo Guilherme Correa</cp:lastModifiedBy>
  <cp:revision>86</cp:revision>
  <cp:lastPrinted>2022-05-26T16:13:25Z</cp:lastPrinted>
  <dcterms:created xsi:type="dcterms:W3CDTF">2022-02-23T20:10:42Z</dcterms:created>
  <dcterms:modified xsi:type="dcterms:W3CDTF">2022-06-07T12:24:10Z</dcterms:modified>
</cp:coreProperties>
</file>