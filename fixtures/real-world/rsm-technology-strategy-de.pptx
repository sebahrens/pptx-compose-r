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Digital- und IT-Strategie</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ERP- und Buchhaltungssysteme</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IT-Risiko</a:t>
          </a:r>
          <a:br>
            <a:rPr lang="en-GB" sz="1100" b="1" smtClean="0">
              <a:latin typeface="Arial"/>
              <a:ea typeface="+mn-ea"/>
              <a:cs typeface="+mn-cs"/>
            </a:rPr>
          </a:br>
          <a:r>
            <a:rPr lang="en-GB" sz="1100" b="1" smtClean="0">
              <a:latin typeface="Arial"/>
              <a:ea typeface="+mn-ea"/>
              <a:cs typeface="+mn-cs"/>
            </a:rPr>
            <a:t>und</a:t>
          </a:r>
          <a:br>
            <a:rPr lang="en-GB" sz="1100" b="1" smtClean="0">
              <a:latin typeface="Arial"/>
              <a:ea typeface="+mn-ea"/>
              <a:cs typeface="+mn-cs"/>
            </a:rPr>
          </a:br>
          <a:r>
            <a:rPr lang="en-GB" sz="1100" b="1" smtClean="0">
              <a:latin typeface="Arial"/>
              <a:ea typeface="+mn-ea"/>
              <a:cs typeface="+mn-cs"/>
            </a:rPr>
            <a:t>Sicherheit</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IT-Resilienz</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Systemauswahl</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IT-Projektumsetzung</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Eine digitale Vision schaffen</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Klare Führung etablieren</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Eine Kultur der kontinuierlichen Verbesserung etablieren</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Feedback und Lernen sind in der digitalen Transformation entscheidend. Während sich die Organisation wandelt, ergeben sich neue Chancen, und es ist eine geeignete Kultur der kontinuierlichen Verbesserung erforderlich, in der die Mitarbeitenden neue Kompetenzen erwerben.</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Geeignete digitale Technologien auswählen</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Eine klare Vision dafür schaffen, wie digitale Technologie die Unternehmensstrategie der Organisation unterstützen und vorantreiben kann. Dies erfordert ein Verständnis des Potenzials neuer Technologien in Verbindung mit einer klar definierten Geschäftsstrategie.</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Damit die digitale Transformation gelingt, ist das volle Engagement des oberen Managements über alle Funktionen hinweg erforderlich. Daher muss es eine klare und abgestimmte Vision geben, die Abteilungsgrenzen überschreitet, mit einer klaren Sponsoringstruktur für digitale Initiativen.</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Unsere Erfahrung zeigt, dass der beste Ansatz für digitalen Wandel darin besteht, frühe Ideen nicht vorschnell zu verwerfen, um eine lange Liste digitaler Initiativen zu erstellen, die dann an der digitalen Vision gemessen werden können.</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Momentum aufbauen</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Keine Organisation kann alles auf einmal tun. Es ist entscheidend, bei der digitalen Transformation realistisch zu sein, mit schnellen Erfolgen zu beginnen und Momentum aufzubauen, um die Transformation voranzutreiben.</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Digital- und IT-Strategie</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und Buchhaltungssysteme</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IT-Risiko</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IT-Resilienz</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Systemauswahl</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IT-Projektumsetzung</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Eine digitale Vision schaffen</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Klare Führung etablieren</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Eine Kultur der kontinuierlichen Verbesserung etablieren</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Feedback und Lernen sind in der digitalen Transformation entscheidend. Während sich die Organisation wandelt, ergeben sich neue Chancen, und es ist eine geeignete Kultur der kontinuierlichen Verbesserung erforderlich, in der die Mitarbeitenden neue Kompetenzen erwerben.</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Geeignete digitale Technologien auswählen</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Eine klare Vision dafür schaffen, wie digitale Technologie die Unternehmensstrategie der Organisation unterstützen und vorantreiben kann. Dies erfordert ein Verständnis des Potenzials neuer Technologien in Verbindung mit einer klar definierten Geschäftsstrategie.</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Damit die digitale Transformation gelingt, ist das volle Engagement des oberen Managements über alle Funktionen hinweg erforderlich. Daher muss es eine klare und abgestimmte Vision geben, die Abteilungsgrenzen überschreitet, mit einer klaren Sponsoringstruktur für digitale Initiativen.</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Unsere Erfahrung zeigt, dass der beste Ansatz für digitalen Wandel darin besteht, frühe Ideen nicht vorschnell zu verwerfen, um eine lange Liste digitaler Initiativen zu erstellen, die dann an der digitalen Vision gemessen werden können.</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Momentum aufbauen</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Keine Organisation kann alles auf einmal tun. Es ist entscheidend, bei der digitalen Transformation realistisch zu sein, mit schnellen Erfolgen zu beginnen und Momentum aufzubauen, um die Transformation voranzutreiben.</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pPr lvl="0"/>
            <a:r>
              <a:rPr lang="en-US" sz="1000" b="1" dirty="0" smtClean="0">
                <a:solidFill>
                  <a:schemeClr val="accent1"/>
                </a:solidFill>
              </a:rPr>
              <a:t>Roger Lovis</a:t>
            </a:r>
          </a:p>
          <a:p>
            <a:pPr lvl="0"/>
            <a:r>
              <a:rPr lang="en-US" sz="1000" dirty="0" smtClean="0">
                <a:solidFill>
                  <a:schemeClr val="accent2"/>
                </a:solidFill>
              </a:rPr>
              <a:t>Partner, Technology Consulting</a:t>
            </a:r>
          </a:p>
          <a:p>
            <a:pPr lvl="0"/>
            <a:r>
              <a:rPr lang="en-US" sz="1000" dirty="0"/>
              <a:t>r</a:t>
            </a:r>
            <a:r>
              <a:rPr lang="en-US" sz="1000" dirty="0" smtClean="0">
                <a:solidFill>
                  <a:schemeClr val="accent2"/>
                </a:solidFill>
              </a:rPr>
              <a:t>oger.lovis@rsmuk.com</a:t>
            </a:r>
          </a:p>
          <a:p>
            <a:pPr lvl="0"/>
            <a:r>
              <a:rPr lang="en-US" sz="1000" dirty="0" smtClean="0">
                <a:solidFill>
                  <a:schemeClr val="accent2"/>
                </a:solidFill>
              </a:rPr>
              <a:t>T: (0)7976 855126</a:t>
            </a:r>
            <a:endParaRPr lang="en-US" sz="1000" dirty="0">
              <a:solidFill>
                <a:schemeClr val="accent2"/>
              </a:solidFill>
            </a:endParaRP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Was passiert da draußen?</a:t>
            </a:r>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r>
              <a:rPr lang="en-US" b="1" kern="0" dirty="0" smtClean="0">
                <a:latin typeface="Calibri"/>
              </a:rPr>
              <a:t>Big Data und Analytics</a:t>
            </a:r>
          </a:p>
        </p:txBody>
      </p:sp>
      <p:sp>
        <p:nvSpPr>
          <p:cNvPr id="79" name="TextBox 78"/>
          <p:cNvSpPr txBox="1"/>
          <p:nvPr/>
        </p:nvSpPr>
        <p:spPr>
          <a:xfrm>
            <a:off x="344670" y="2663210"/>
            <a:ext cx="1832510" cy="369332"/>
          </a:xfrm>
          <a:prstGeom prst="rect">
            <a:avLst/>
          </a:prstGeom>
          <a:noFill/>
        </p:spPr>
        <p:txBody>
          <a:bodyPr wrap="square" rtlCol="0">
            <a:spAutoFit/>
          </a:bodyPr>
          <a:lstStyle/>
          <a:p>
            <a:r>
              <a:rPr lang="en-US" b="1" kern="0" dirty="0" smtClean="0">
                <a:latin typeface="Calibri"/>
              </a:rPr>
              <a:t>Mobiles Arbeiten</a:t>
            </a:r>
          </a:p>
        </p:txBody>
      </p:sp>
      <p:sp>
        <p:nvSpPr>
          <p:cNvPr id="80" name="TextBox 79"/>
          <p:cNvSpPr txBox="1"/>
          <p:nvPr/>
        </p:nvSpPr>
        <p:spPr>
          <a:xfrm>
            <a:off x="6758879" y="793402"/>
            <a:ext cx="2133600" cy="369332"/>
          </a:xfrm>
          <a:prstGeom prst="rect">
            <a:avLst/>
          </a:prstGeom>
          <a:noFill/>
        </p:spPr>
        <p:txBody>
          <a:bodyPr wrap="square" rtlCol="0">
            <a:spAutoFit/>
          </a:bodyPr>
          <a:lstStyle/>
          <a:p>
            <a:r>
              <a:rPr lang="en-US" b="1" kern="0" dirty="0" smtClean="0">
                <a:latin typeface="Calibri"/>
              </a:rPr>
              <a:t>Die Cloud</a:t>
            </a:r>
          </a:p>
        </p:txBody>
      </p:sp>
      <p:sp>
        <p:nvSpPr>
          <p:cNvPr id="81" name="TextBox 80"/>
          <p:cNvSpPr txBox="1"/>
          <p:nvPr/>
        </p:nvSpPr>
        <p:spPr>
          <a:xfrm>
            <a:off x="7066842" y="2580896"/>
            <a:ext cx="1427651" cy="369332"/>
          </a:xfrm>
          <a:prstGeom prst="rect">
            <a:avLst/>
          </a:prstGeom>
          <a:noFill/>
        </p:spPr>
        <p:txBody>
          <a:bodyPr wrap="square" rtlCol="0">
            <a:spAutoFit/>
          </a:bodyPr>
          <a:lstStyle/>
          <a:p>
            <a:r>
              <a:rPr lang="en-US" b="1" kern="0" dirty="0" smtClean="0">
                <a:latin typeface="Calibri"/>
              </a:rPr>
              <a:t>Soziale Medien</a:t>
            </a: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Wie kann ich Technologie nutzen, um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den Service zu verbessern?</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Kosten zu steuern?</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den Betrieb zu kontrollieren?</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zusammenzuarbeiten?</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
            </a: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r>
              <a:rPr lang="en-US" b="1" kern="0" dirty="0" smtClean="0">
                <a:latin typeface="Calibri"/>
              </a:rPr>
              <a:t>Internet der Dinge</a:t>
            </a: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r>
              <a:rPr lang="en-US" b="1" kern="0" dirty="0" smtClean="0">
                <a:latin typeface="Calibri"/>
              </a:rPr>
              <a:t>Internet-Transaktionen</a:t>
            </a: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Zentrale Trends</a:t>
            </a:r>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Personalisierung</a:t>
            </a:r>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Automatisierung</a:t>
            </a:r>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Geschwindigkeit und Agilität</a:t>
            </a:r>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Skalierbarkeit</a:t>
            </a:r>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On-Premise vs. Cloud</a:t>
            </a:r>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Best-of-Breed vs. Einzelplattform-Lösung</a:t>
            </a:r>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Disruptoren</a:t>
            </a:r>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Zugänglichkeit – „einfache Bedienung“</a:t>
            </a:r>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Wie können digitale Werkzeuge meiner Organisation helfen, unsere Ziele zu erreichen?</a:t>
            </a:r>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IT-Strategie</a:t>
            </a:r>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 [digitale] Technologien wie soziale Medien, Mobilität und Datenanalyse sind keine Ziele, die es zu erreichen gilt … [sondern] sie sind Werkzeuge, um näher an die Kunden zu rücken, Mitarbeitende zu befähigen und interne Geschäftsprozesse zu transformieren.</a:t>
            </a:r>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sz="1400" b="1" dirty="0" err="1" smtClean="0">
                <a:solidFill>
                  <a:schemeClr val="bg1"/>
                </a:solidFill>
              </a:rPr>
              <a:t>Westman, Bonnie und McAfee, „Leading Digital: Turning Technology into Business Transformation“ (HBR, 2014)</a:t>
            </a: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Traditionelle Säulen der IT-Strategie</a:t>
            </a:r>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r>
                <a:rPr kumimoji="0" lang="en-US" sz="1200" b="1" i="0" u="none" strike="noStrike" kern="0" cap="none" spc="0" normalizeH="0" baseline="0" noProof="0" dirty="0">
                  <a:ln>
                    <a:noFill/>
                  </a:ln>
                  <a:solidFill>
                    <a:srgbClr val="FFFFFF">
                      <a:lumMod val="95000"/>
                    </a:srgbClr>
                  </a:solidFill>
                  <a:effectLst/>
                  <a:uLnTx/>
                  <a:uFillTx/>
                </a:rPr>
                <a:t>IT-Personal</a:t>
              </a:r>
            </a:p>
            <a:p>
              <a:r>
                <a:rPr kumimoji="0" lang="en-US" sz="1200" b="1" i="0" u="none" strike="noStrike" kern="0" cap="none" spc="0" normalizeH="0" baseline="0" noProof="0" dirty="0">
                  <a:ln>
                    <a:noFill/>
                  </a:ln>
                  <a:solidFill>
                    <a:srgbClr val="FFFFFF">
                      <a:lumMod val="95000"/>
                    </a:srgbClr>
                  </a:solidFill>
                  <a:effectLst/>
                  <a:uLnTx/>
                  <a:uFillTx/>
                </a:rPr>
                <a:t>und -Support</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Systeme, Daten</a:t>
              </a:r>
            </a:p>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und</a:t>
              </a:r>
            </a:p>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Infrastruktur</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r>
              <a:rPr kumimoji="0" lang="en-US" sz="1200" b="1" i="0" u="none" strike="noStrike" kern="0" cap="none" spc="0" normalizeH="0" baseline="0" noProof="0" dirty="0">
                <a:ln>
                  <a:noFill/>
                </a:ln>
                <a:solidFill>
                  <a:srgbClr val="FFFFFF">
                    <a:lumMod val="95000"/>
                  </a:srgbClr>
                </a:solidFill>
                <a:effectLst/>
                <a:uLnTx/>
                <a:uFillTx/>
              </a:rPr>
              <a:t>IT-</a:t>
            </a:r>
          </a:p>
          <a:p>
            <a:r>
              <a:rPr kumimoji="0" lang="en-US" sz="1200" b="1" i="0" u="none" strike="noStrike" kern="0" cap="none" spc="0" normalizeH="0" baseline="0" noProof="0" dirty="0">
                <a:ln>
                  <a:noFill/>
                </a:ln>
                <a:solidFill>
                  <a:srgbClr val="FFFFFF">
                    <a:lumMod val="95000"/>
                  </a:srgbClr>
                </a:solidFill>
                <a:effectLst/>
                <a:uLnTx/>
                <a:uFillTx/>
              </a:rPr>
              <a:t>Governance</a:t>
            </a: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IT-Projekte müssen auf die Unternehmensstrategie abgestimmt sein, die IT-Leistung sollte regelmäßig überwacht werden, und es sollte eine wirksame Kommunikation zwischen IT und Fachanwendern bestehen.</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IT-Personal und IT-Support müssen dem Bedarf angemessen sein, mit den erforderlichen Kompetenzen sowie Karrierepfaden und Bindungskonzepten für die Mitarbeitenden.</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IT-Systeme müssen für die Geschäftsanforderungen geeignet sein, Daten müssen gut verwaltet und zugänglich sein, und die Infrastruktur muss wirksam überwacht und gewartet werden.</a:t>
            </a:r>
          </a:p>
          <a:p>
            <a:r>
              <a:rPr kumimoji="0" lang="en-US" sz="1050" b="0" i="0" u="none" strike="noStrike" kern="0" cap="none" spc="0" normalizeH="0" baseline="0" noProof="0" dirty="0">
                <a:ln>
                  <a:noFill/>
                </a:ln>
                <a:effectLst/>
                <a:uLnTx/>
                <a:uFillTx/>
              </a:rPr>
              <a:t/>
            </a:r>
          </a:p>
          <a:p>
            <a:r>
              <a:rPr kumimoji="0" lang="en-US" sz="1050" b="0" i="0" u="none" strike="noStrike" kern="0" cap="none" spc="0" normalizeH="0" baseline="0" noProof="0" dirty="0">
                <a:ln>
                  <a:noFill/>
                </a:ln>
                <a:effectLst/>
                <a:uLnTx/>
                <a:uFillTx/>
              </a:rPr>
              <a:t/>
            </a: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Der Weg – die Entwicklung einer Digitalstrategie</a:t>
            </a:r>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Wie man digitale Transformation angeht</a:t>
            </a:r>
          </a:p>
        </p:txBody>
      </p:sp>
      <p:sp>
        <p:nvSpPr>
          <p:cNvPr id="3" name="Content Placeholder 2"/>
          <p:cNvSpPr>
            <a:spLocks noGrp="1"/>
          </p:cNvSpPr>
          <p:nvPr>
            <p:ph sz="quarter" idx="16"/>
          </p:nvPr>
        </p:nvSpPr>
        <p:spPr>
          <a:xfrm>
            <a:off x="251519" y="864809"/>
            <a:ext cx="6476827" cy="3527425"/>
          </a:xfrm>
        </p:spPr>
        <p:txBody>
          <a:bodyPr>
            <a:noAutofit/>
          </a:bodyPr>
          <a:lstStyle/>
          <a:p>
            <a:r>
              <a:rPr lang="en-US" sz="1200" b="1" dirty="0" smtClean="0"/>
              <a:t>Aus unserer Erfahrung mit digitaler Transformation sind die folgenden Faktoren entscheidend für den Erfolg:</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r>
              <a:rPr lang="en-GB" sz="2400" baseline="30000" dirty="0">
                <a:solidFill>
                  <a:schemeClr val="bg1"/>
                </a:solidFill>
              </a:rPr>
              <a:t>Zusammenarbeit. Verständnis. Ideen und Erkenntnisse.</a:t>
            </a: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 25 Farringdon Street London EC4A 4AB</a:t>
            </a:r>
          </a:p>
          <a:p>
            <a:r>
              <a:rPr lang="de-DE" sz="1100" dirty="0">
                <a:solidFill>
                  <a:srgbClr val="63666A"/>
                </a:solidFill>
              </a:rPr>
              <a:t/>
            </a:r>
          </a:p>
          <a:p>
            <a:r>
              <a:rPr lang="de-DE" sz="1100" dirty="0">
                <a:solidFill>
                  <a:srgbClr val="63666A"/>
                </a:solidFill>
              </a:rPr>
              <a:t>rsmuk.com</a:t>
            </a:r>
          </a:p>
          <a:p>
            <a:r>
              <a:rPr lang="de-DE" sz="1100" dirty="0">
                <a:solidFill>
                  <a:srgbClr val="63666A"/>
                </a:solidFill>
              </a:rPr>
              <a:t/>
            </a:r>
          </a:p>
          <a:p>
            <a:r>
              <a:rPr lang="de-DE" sz="1100" dirty="0">
                <a:solidFill>
                  <a:srgbClr val="63666A"/>
                </a:solidFill>
              </a:rPr>
              <a:t>Die Gruppe von Unternehmen und LLPs im Vereinigten Königreich, die unter dem Namen RSM firmieren, ist Mitglied des RSM-Netzwerks. RSM ist der Handelsname, der von den Mitgliedern des RSM-Netzwerks verwendet wird. Jedes Mitglied des RSM-Netzwerks ist eine unabhängige Wirtschaftsprüfungs- und Beratungsgesellschaft, die jeweils im eigenen Namen tätig ist. Das RSM-Netzwerk ist selbst keine eigenständige juristische Person gleich welcher Art in irgendeiner Rechtsordnung. Das RSM-Netzwerk wird von RSM International Limited verwaltet, einer in England und Wales registrierten Gesellschaft (Handelsregisternummer 4040598) mit Sitz in 11 Old Jewry, London EC2R 8DU. Die Marke und das Warenzeichen RSM sowie andere von den Mitgliedern des Netzwerks genutzte geistige Eigentumsrechte sind Eigentum der RSM International Association, einer Vereinigung nach Artikel 60 ff. des Schweizerischen Zivilgesetzbuchs mit Sitz in Zug.</a:t>
            </a:r>
          </a:p>
          <a:p>
            <a:r>
              <a:rPr lang="de-DE" sz="1100" dirty="0">
                <a:solidFill>
                  <a:srgbClr val="63666A"/>
                </a:solidFill>
              </a:rPr>
              <a:t/>
            </a:r>
          </a:p>
          <a:p>
            <a:r>
              <a:rPr lang="de-DE" sz="1100" dirty="0">
                <a:solidFill>
                  <a:srgbClr val="63666A"/>
                </a:solidFill>
              </a:rPr>
              <a:t>RSM UK Consulting LLP, RSM Corporate Finance LLP, RSM Restructuring Advisory LLP, RSM Risk Assurance Services LLP, RSM Tax and Advisory Services LLP, RSM UK Audit LLP und RSM UK Tax and Accounting Limited sind nicht nach dem Financial Services and Markets Act 2000 zugelassen, wir sind jedoch unter bestimmten Umständen in der Lage, ein begrenztes Spektrum an Anlagedienstleistungen anzubieten, da wir Mitglieder des Institute of Chartered Accountants in England and Wales sind. Wir können diese Anlagedienstleistungen erbringen, wenn sie ein untergeordneter Bestandteil der von uns beauftragten professionellen Dienstleistungen sind. Baker Tilly Creditor Services LLP ist von der Financial Conduct Authority für kreditbezogene regulierte Tätigkeiten zugelassen und wird von dieser beaufsichtigt. RSM Co (UK) Limited ist von der Financial Conduct Authority zugelassen und wird von dieser beaufsichtigt, um ein Spektrum von Anlagegeschäften durchzuführen. Obwohl alle Anstrengungen unternommen wurden, um die Richtigkeit sicherzustellen, sind die in dieser Mitteilung enthaltenen Informationen möglicherweise nicht vollständig, und Empfänger sollten nicht ohne professionelle Beratung darauf vertrauen.</a:t>
            </a:r>
          </a:p>
          <a:p>
            <a:r>
              <a:rPr lang="de-DE" sz="1100" dirty="0">
                <a:solidFill>
                  <a:srgbClr val="63666A"/>
                </a:solidFill>
              </a:rPr>
              <a:t/>
            </a:r>
          </a:p>
          <a:p>
            <a:r>
              <a:rPr lang="de-DE" sz="1100" dirty="0">
                <a:solidFill>
                  <a:srgbClr val="63666A"/>
                </a:solidFill>
              </a:rPr>
              <a:t>© 2016 RSM UK Group LLP, alle Rechte vorbehalten.</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